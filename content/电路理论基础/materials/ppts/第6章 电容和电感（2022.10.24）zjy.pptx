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wmf" ContentType="image/x-wmf"/>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theme/theme4.xml" ContentType="application/vnd.openxmlformats-officedocument.them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tags/tag3.xml" ContentType="application/vnd.openxmlformats-officedocument.presentationml.tags+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4" r:id="rId3"/>
  </p:sldMasterIdLst>
  <p:notesMasterIdLst>
    <p:notesMasterId r:id="rId96"/>
  </p:notesMasterIdLst>
  <p:sldIdLst>
    <p:sldId id="271" r:id="rId4"/>
    <p:sldId id="272" r:id="rId5"/>
    <p:sldId id="273" r:id="rId6"/>
    <p:sldId id="414" r:id="rId7"/>
    <p:sldId id="347" r:id="rId8"/>
    <p:sldId id="340" r:id="rId9"/>
    <p:sldId id="415" r:id="rId10"/>
    <p:sldId id="274" r:id="rId11"/>
    <p:sldId id="275" r:id="rId12"/>
    <p:sldId id="276" r:id="rId13"/>
    <p:sldId id="341" r:id="rId14"/>
    <p:sldId id="416" r:id="rId15"/>
    <p:sldId id="277" r:id="rId16"/>
    <p:sldId id="417" r:id="rId17"/>
    <p:sldId id="278" r:id="rId18"/>
    <p:sldId id="257" r:id="rId19"/>
    <p:sldId id="418" r:id="rId20"/>
    <p:sldId id="258" r:id="rId21"/>
    <p:sldId id="419" r:id="rId22"/>
    <p:sldId id="312" r:id="rId23"/>
    <p:sldId id="333" r:id="rId24"/>
    <p:sldId id="313" r:id="rId25"/>
    <p:sldId id="487" r:id="rId26"/>
    <p:sldId id="557" r:id="rId27"/>
    <p:sldId id="263" r:id="rId28"/>
    <p:sldId id="335" r:id="rId29"/>
    <p:sldId id="264" r:id="rId30"/>
    <p:sldId id="488" r:id="rId31"/>
    <p:sldId id="342" r:id="rId32"/>
    <p:sldId id="348" r:id="rId33"/>
    <p:sldId id="349" r:id="rId34"/>
    <p:sldId id="351" r:id="rId35"/>
    <p:sldId id="350" r:id="rId36"/>
    <p:sldId id="352" r:id="rId37"/>
    <p:sldId id="353" r:id="rId38"/>
    <p:sldId id="314" r:id="rId39"/>
    <p:sldId id="315" r:id="rId40"/>
    <p:sldId id="316" r:id="rId41"/>
    <p:sldId id="336" r:id="rId42"/>
    <p:sldId id="489" r:id="rId43"/>
    <p:sldId id="317" r:id="rId44"/>
    <p:sldId id="338" r:id="rId45"/>
    <p:sldId id="490" r:id="rId46"/>
    <p:sldId id="359" r:id="rId47"/>
    <p:sldId id="491" r:id="rId48"/>
    <p:sldId id="346" r:id="rId49"/>
    <p:sldId id="318" r:id="rId50"/>
    <p:sldId id="319" r:id="rId51"/>
    <p:sldId id="320" r:id="rId52"/>
    <p:sldId id="321" r:id="rId53"/>
    <p:sldId id="546" r:id="rId54"/>
    <p:sldId id="322" r:id="rId55"/>
    <p:sldId id="547" r:id="rId56"/>
    <p:sldId id="323" r:id="rId57"/>
    <p:sldId id="339" r:id="rId58"/>
    <p:sldId id="548" r:id="rId59"/>
    <p:sldId id="343" r:id="rId60"/>
    <p:sldId id="354" r:id="rId61"/>
    <p:sldId id="355" r:id="rId62"/>
    <p:sldId id="357" r:id="rId63"/>
    <p:sldId id="356" r:id="rId64"/>
    <p:sldId id="324" r:id="rId65"/>
    <p:sldId id="325" r:id="rId66"/>
    <p:sldId id="326" r:id="rId67"/>
    <p:sldId id="360" r:id="rId68"/>
    <p:sldId id="327" r:id="rId69"/>
    <p:sldId id="550" r:id="rId70"/>
    <p:sldId id="328" r:id="rId71"/>
    <p:sldId id="358" r:id="rId72"/>
    <p:sldId id="329" r:id="rId73"/>
    <p:sldId id="551" r:id="rId74"/>
    <p:sldId id="552" r:id="rId75"/>
    <p:sldId id="553" r:id="rId76"/>
    <p:sldId id="554" r:id="rId77"/>
    <p:sldId id="555" r:id="rId78"/>
    <p:sldId id="556" r:id="rId79"/>
    <p:sldId id="330" r:id="rId80"/>
    <p:sldId id="331" r:id="rId81"/>
    <p:sldId id="332" r:id="rId82"/>
    <p:sldId id="344" r:id="rId83"/>
    <p:sldId id="345" r:id="rId84"/>
    <p:sldId id="373" r:id="rId85"/>
    <p:sldId id="374" r:id="rId86"/>
    <p:sldId id="375" r:id="rId87"/>
    <p:sldId id="376" r:id="rId88"/>
    <p:sldId id="377" r:id="rId89"/>
    <p:sldId id="378" r:id="rId90"/>
    <p:sldId id="379" r:id="rId91"/>
    <p:sldId id="380" r:id="rId92"/>
    <p:sldId id="381" r:id="rId93"/>
    <p:sldId id="382" r:id="rId94"/>
    <p:sldId id="383" r:id="rId95"/>
  </p:sldIdLst>
  <p:sldSz cx="9144000" cy="6858000" type="screen4x3"/>
  <p:notesSz cx="6858000" cy="9144000"/>
  <p:custDataLst>
    <p:tags r:id="rId97"/>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rgbClr val="FF0000"/>
        </a:solidFill>
        <a:latin typeface="Arial" panose="020B0604020202020204" pitchFamily="34" charset="0"/>
        <a:ea typeface="宋体-18030" pitchFamily="49"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rgbClr val="FF0000"/>
        </a:solidFill>
        <a:latin typeface="Arial" panose="020B0604020202020204" pitchFamily="34" charset="0"/>
        <a:ea typeface="宋体-18030"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rgbClr val="FF0000"/>
        </a:solidFill>
        <a:latin typeface="Arial" panose="020B0604020202020204" pitchFamily="34" charset="0"/>
        <a:ea typeface="宋体-18030"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rgbClr val="FF0000"/>
        </a:solidFill>
        <a:latin typeface="Arial" panose="020B0604020202020204" pitchFamily="34" charset="0"/>
        <a:ea typeface="宋体-18030"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rgbClr val="FF0000"/>
        </a:solidFill>
        <a:latin typeface="Arial" panose="020B0604020202020204" pitchFamily="34" charset="0"/>
        <a:ea typeface="宋体-18030" pitchFamily="49"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rgbClr val="FF0000"/>
        </a:solidFill>
        <a:latin typeface="Arial" panose="020B0604020202020204" pitchFamily="34" charset="0"/>
        <a:ea typeface="宋体-18030" pitchFamily="49"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rgbClr val="FF0000"/>
        </a:solidFill>
        <a:latin typeface="Arial" panose="020B0604020202020204" pitchFamily="34" charset="0"/>
        <a:ea typeface="宋体-18030" pitchFamily="49"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rgbClr val="FF0000"/>
        </a:solidFill>
        <a:latin typeface="Arial" panose="020B0604020202020204" pitchFamily="34" charset="0"/>
        <a:ea typeface="宋体-18030" pitchFamily="49"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rgbClr val="FF0000"/>
        </a:solidFill>
        <a:latin typeface="Arial" panose="020B0604020202020204" pitchFamily="34" charset="0"/>
        <a:ea typeface="宋体-18030" pitchFamily="49" charset="-122"/>
        <a:cs typeface="+mn-cs"/>
      </a:defRPr>
    </a:lvl9pPr>
  </p:defaultTextStyle>
  <p:extLst>
    <p:ext uri="{EFAFB233-063F-42B5-8137-9DF3F51BA10A}">
      <p15:sldGuideLst xmlns:p15="http://schemas.microsoft.com/office/powerpoint/2012/main" xmlns="">
        <p15:guide id="1" orient="horz" pos="2198">
          <p15:clr>
            <a:srgbClr val="A4A3A4"/>
          </p15:clr>
        </p15:guide>
        <p15:guide id="2" pos="292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6703"/>
    <p:restoredTop sz="88388"/>
  </p:normalViewPr>
  <p:slideViewPr>
    <p:cSldViewPr showGuides="1">
      <p:cViewPr varScale="1">
        <p:scale>
          <a:sx n="100" d="100"/>
          <a:sy n="100" d="100"/>
        </p:scale>
        <p:origin x="-1944" y="-96"/>
      </p:cViewPr>
      <p:guideLst>
        <p:guide orient="horz" pos="2198"/>
        <p:guide pos="2925"/>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slide" Target="slides/slide81.xml"/><Relationship Id="rId89" Type="http://schemas.openxmlformats.org/officeDocument/2006/relationships/slide" Target="slides/slide86.xml"/><Relationship Id="rId97" Type="http://schemas.openxmlformats.org/officeDocument/2006/relationships/tags" Target="tags/tag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slide" Target="slides/slide84.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slide" Target="slides/slide9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100"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image" Target="../media/image44.wmf"/><Relationship Id="rId7" Type="http://schemas.openxmlformats.org/officeDocument/2006/relationships/image" Target="../media/image48.wmf"/><Relationship Id="rId2" Type="http://schemas.openxmlformats.org/officeDocument/2006/relationships/image" Target="../media/image43.wmf"/><Relationship Id="rId1" Type="http://schemas.openxmlformats.org/officeDocument/2006/relationships/image" Target="../media/image42.wmf"/><Relationship Id="rId6" Type="http://schemas.openxmlformats.org/officeDocument/2006/relationships/image" Target="../media/image47.wmf"/><Relationship Id="rId5" Type="http://schemas.openxmlformats.org/officeDocument/2006/relationships/image" Target="../media/image46.wmf"/><Relationship Id="rId10" Type="http://schemas.openxmlformats.org/officeDocument/2006/relationships/image" Target="../media/image51.wmf"/><Relationship Id="rId4" Type="http://schemas.openxmlformats.org/officeDocument/2006/relationships/image" Target="../media/image45.wmf"/><Relationship Id="rId9" Type="http://schemas.openxmlformats.org/officeDocument/2006/relationships/image" Target="../media/image5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5" Type="http://schemas.openxmlformats.org/officeDocument/2006/relationships/image" Target="../media/image56.wmf"/><Relationship Id="rId4" Type="http://schemas.openxmlformats.org/officeDocument/2006/relationships/image" Target="../media/image5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 Id="rId5" Type="http://schemas.openxmlformats.org/officeDocument/2006/relationships/image" Target="../media/image99.wmf"/><Relationship Id="rId4" Type="http://schemas.openxmlformats.org/officeDocument/2006/relationships/image" Target="../media/image98.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00.wmf"/><Relationship Id="rId1" Type="http://schemas.openxmlformats.org/officeDocument/2006/relationships/image" Target="../media/image96.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 Id="rId4" Type="http://schemas.openxmlformats.org/officeDocument/2006/relationships/image" Target="../media/image106.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 Id="rId4" Type="http://schemas.openxmlformats.org/officeDocument/2006/relationships/image" Target="../media/image119.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30.wmf"/><Relationship Id="rId1" Type="http://schemas.openxmlformats.org/officeDocument/2006/relationships/image" Target="../media/image129.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35.wmf"/><Relationship Id="rId7" Type="http://schemas.openxmlformats.org/officeDocument/2006/relationships/image" Target="../media/image139.wmf"/><Relationship Id="rId2" Type="http://schemas.openxmlformats.org/officeDocument/2006/relationships/image" Target="../media/image134.wmf"/><Relationship Id="rId1" Type="http://schemas.openxmlformats.org/officeDocument/2006/relationships/image" Target="../media/image133.wmf"/><Relationship Id="rId6" Type="http://schemas.openxmlformats.org/officeDocument/2006/relationships/image" Target="../media/image138.wmf"/><Relationship Id="rId5" Type="http://schemas.openxmlformats.org/officeDocument/2006/relationships/image" Target="../media/image137.wmf"/><Relationship Id="rId4" Type="http://schemas.openxmlformats.org/officeDocument/2006/relationships/image" Target="../media/image136.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42.wmf"/><Relationship Id="rId7" Type="http://schemas.openxmlformats.org/officeDocument/2006/relationships/image" Target="../media/image146.wmf"/><Relationship Id="rId2" Type="http://schemas.openxmlformats.org/officeDocument/2006/relationships/image" Target="../media/image141.wmf"/><Relationship Id="rId1" Type="http://schemas.openxmlformats.org/officeDocument/2006/relationships/image" Target="../media/image133.wmf"/><Relationship Id="rId6" Type="http://schemas.openxmlformats.org/officeDocument/2006/relationships/image" Target="../media/image145.wmf"/><Relationship Id="rId5" Type="http://schemas.openxmlformats.org/officeDocument/2006/relationships/image" Target="../media/image144.wmf"/><Relationship Id="rId4" Type="http://schemas.openxmlformats.org/officeDocument/2006/relationships/image" Target="../media/image143.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54.wmf"/><Relationship Id="rId3" Type="http://schemas.openxmlformats.org/officeDocument/2006/relationships/image" Target="../media/image149.wmf"/><Relationship Id="rId7" Type="http://schemas.openxmlformats.org/officeDocument/2006/relationships/image" Target="../media/image153.wmf"/><Relationship Id="rId2" Type="http://schemas.openxmlformats.org/officeDocument/2006/relationships/image" Target="../media/image148.wmf"/><Relationship Id="rId1" Type="http://schemas.openxmlformats.org/officeDocument/2006/relationships/image" Target="../media/image147.wmf"/><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50.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65.wmf"/><Relationship Id="rId1" Type="http://schemas.openxmlformats.org/officeDocument/2006/relationships/image" Target="../media/image164.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67.wmf"/><Relationship Id="rId1" Type="http://schemas.openxmlformats.org/officeDocument/2006/relationships/image" Target="../media/image16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FF0000"/>
              </a:solidFill>
              <a:effectLst/>
              <a:uLnTx/>
              <a:uFillTx/>
              <a:latin typeface="Arial" panose="020B0604020202020204" pitchFamily="34" charset="0"/>
              <a:ea typeface="宋体-18030" pitchFamily="49"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latin typeface="Arial" panose="020B0604020202020204" pitchFamily="34" charset="0"/>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36B4493D-DBB7-4CC2-9584-62D7AF06D1B5}" type="datetimeFigureOut">
              <a:rPr kumimoji="0" lang="en-US" sz="1200" b="0" i="0" u="none" strike="noStrike" kern="1200" cap="none" spc="0" normalizeH="0" baseline="0" noProof="0">
                <a:ln>
                  <a:noFill/>
                </a:ln>
                <a:solidFill>
                  <a:srgbClr val="FF0000"/>
                </a:solidFill>
                <a:effectLst/>
                <a:uLnTx/>
                <a:uFillTx/>
                <a:latin typeface="Arial" panose="020B0604020202020204" pitchFamily="34" charset="0"/>
                <a:ea typeface="宋体-18030" pitchFamily="49" charset="-122"/>
                <a:cs typeface="+mn-cs"/>
              </a:rPr>
              <a:pPr marL="0" marR="0" lvl="0" indent="0" algn="r" defTabSz="914400" rtl="0" eaLnBrk="0" fontAlgn="base" latinLnBrk="0" hangingPunct="0">
                <a:lnSpc>
                  <a:spcPct val="100000"/>
                </a:lnSpc>
                <a:spcBef>
                  <a:spcPct val="0"/>
                </a:spcBef>
                <a:spcAft>
                  <a:spcPct val="0"/>
                </a:spcAft>
                <a:buClrTx/>
                <a:buSzTx/>
                <a:buFontTx/>
                <a:buNone/>
                <a:defRPr/>
              </a:pPr>
              <a:t>10/24/2022</a:t>
            </a:fld>
            <a:endParaRPr kumimoji="0" lang="en-US" sz="1200" b="0" i="0" u="none" strike="noStrike" kern="1200" cap="none" spc="0" normalizeH="0" baseline="0" noProof="0">
              <a:ln>
                <a:noFill/>
              </a:ln>
              <a:solidFill>
                <a:srgbClr val="FF0000"/>
              </a:solidFill>
              <a:effectLst/>
              <a:uLnTx/>
              <a:uFillTx/>
              <a:latin typeface="Arial" panose="020B0604020202020204" pitchFamily="34" charset="0"/>
              <a:ea typeface="宋体-18030" pitchFamily="49"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FF0000"/>
              </a:solidFill>
              <a:effectLst/>
              <a:uLnTx/>
              <a:uFillTx/>
              <a:latin typeface="Arial" panose="020B0604020202020204" pitchFamily="34" charset="0"/>
              <a:ea typeface="宋体-18030" pitchFamily="49"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a:buNone/>
            </a:pPr>
            <a:fld id="{9A0DB2DC-4C9A-4742-B13C-FB6460FD3503}" type="slidenum">
              <a:rPr lang="en-US" altLang="zh-CN" sz="1200" dirty="0">
                <a:cs typeface="Arial" panose="020B0604020202020204" pitchFamily="34" charset="0"/>
              </a:rPr>
              <a:pPr lvl="0" algn="r">
                <a:buNone/>
              </a:pPr>
              <a:t>‹#›</a:t>
            </a:fld>
            <a:endParaRPr lang="en-US" altLang="zh-CN" sz="1200" dirty="0">
              <a:ea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ln>
            <a:solidFill>
              <a:srgbClr val="000000">
                <a:alpha val="100000"/>
              </a:srgbClr>
            </a:solidFill>
            <a:miter lim="800000"/>
          </a:ln>
        </p:spPr>
      </p:sp>
      <p:sp>
        <p:nvSpPr>
          <p:cNvPr id="2560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US" altLang="zh-CN" dirty="0"/>
          </a:p>
        </p:txBody>
      </p:sp>
      <p:sp>
        <p:nvSpPr>
          <p:cNvPr id="256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en-US" altLang="zh-CN" dirty="0">
                <a:solidFill>
                  <a:srgbClr val="FF0000"/>
                </a:solidFill>
                <a:latin typeface="Arial" panose="020B0604020202020204" pitchFamily="34" charset="0"/>
                <a:ea typeface="宋体-18030" pitchFamily="49" charset="-122"/>
              </a:rPr>
              <a:pPr lvl="0" algn="r">
                <a:spcBef>
                  <a:spcPct val="0"/>
                </a:spcBef>
              </a:pPr>
              <a:t>10</a:t>
            </a:fld>
            <a:endParaRPr lang="en-US" altLang="zh-CN" dirty="0">
              <a:solidFill>
                <a:srgbClr val="FF0000"/>
              </a:solidFill>
              <a:latin typeface="Arial" panose="020B0604020202020204" pitchFamily="34" charset="0"/>
              <a:ea typeface="宋体-18030"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a:solidFill>
              <a:srgbClr val="000000">
                <a:alpha val="100000"/>
              </a:srgbClr>
            </a:solidFill>
            <a:miter lim="800000"/>
          </a:ln>
        </p:spPr>
      </p:sp>
      <p:sp>
        <p:nvSpPr>
          <p:cNvPr id="31747" name="备注占位符 2"/>
          <p:cNvSpPr>
            <a:spLocks noGrp="1"/>
          </p:cNvSpPr>
          <p:nvPr>
            <p:ph type="body" idx="1"/>
          </p:nvPr>
        </p:nvSpPr>
        <p:spPr>
          <a:noFill/>
          <a:ln>
            <a:noFill/>
          </a:ln>
        </p:spPr>
        <p:txBody>
          <a:bodyPr wrap="square" lIns="91440" tIns="45720" rIns="91440" bIns="45720" anchor="t" anchorCtr="0"/>
          <a:lstStyle/>
          <a:p>
            <a:pPr lvl="0"/>
            <a:r>
              <a:rPr lang="en-US" altLang="zh-CN" dirty="0"/>
              <a:t>1</a:t>
            </a:r>
            <a:r>
              <a:rPr lang="zh-CN" altLang="en-US" dirty="0"/>
              <a:t>，交流电压，交流电流，动态</a:t>
            </a:r>
            <a:endParaRPr lang="en-US" altLang="zh-CN" dirty="0"/>
          </a:p>
          <a:p>
            <a:pPr lvl="0"/>
            <a:r>
              <a:rPr lang="en-US" altLang="zh-CN" dirty="0"/>
              <a:t>2</a:t>
            </a:r>
            <a:r>
              <a:rPr lang="zh-CN" altLang="en-US" dirty="0"/>
              <a:t>，</a:t>
            </a:r>
            <a:r>
              <a:rPr lang="en-US" altLang="zh-CN" dirty="0"/>
              <a:t>C</a:t>
            </a:r>
            <a:r>
              <a:rPr lang="zh-CN" altLang="en-US" dirty="0"/>
              <a:t>上的电流超前电压</a:t>
            </a:r>
            <a:r>
              <a:rPr lang="en-US" altLang="zh-CN" dirty="0"/>
              <a:t>90</a:t>
            </a:r>
            <a:r>
              <a:rPr lang="zh-CN" altLang="en-US" dirty="0"/>
              <a:t>度</a:t>
            </a:r>
            <a:endParaRPr lang="en-US" altLang="zh-CN" dirty="0"/>
          </a:p>
        </p:txBody>
      </p:sp>
      <p:sp>
        <p:nvSpPr>
          <p:cNvPr id="317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en-US" altLang="zh-CN" dirty="0">
                <a:solidFill>
                  <a:srgbClr val="FF0000"/>
                </a:solidFill>
                <a:latin typeface="Arial" panose="020B0604020202020204" pitchFamily="34" charset="0"/>
                <a:ea typeface="宋体-18030" pitchFamily="49" charset="-122"/>
              </a:rPr>
              <a:pPr lvl="0" algn="r">
                <a:spcBef>
                  <a:spcPct val="0"/>
                </a:spcBef>
              </a:pPr>
              <a:t>18</a:t>
            </a:fld>
            <a:endParaRPr lang="en-US" altLang="zh-CN" dirty="0">
              <a:solidFill>
                <a:srgbClr val="FF0000"/>
              </a:solidFill>
              <a:latin typeface="Arial" panose="020B0604020202020204" pitchFamily="34" charset="0"/>
              <a:ea typeface="宋体-18030" pitchFamily="49"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ln>
            <a:solidFill>
              <a:srgbClr val="000000">
                <a:alpha val="100000"/>
              </a:srgbClr>
            </a:solidFill>
            <a:miter lim="800000"/>
          </a:ln>
        </p:spPr>
      </p:sp>
      <p:sp>
        <p:nvSpPr>
          <p:cNvPr id="40963" name="备注占位符 2"/>
          <p:cNvSpPr>
            <a:spLocks noGrp="1"/>
          </p:cNvSpPr>
          <p:nvPr>
            <p:ph type="body" idx="1"/>
          </p:nvPr>
        </p:nvSpPr>
        <p:spPr>
          <a:noFill/>
          <a:ln>
            <a:noFill/>
          </a:ln>
        </p:spPr>
        <p:txBody>
          <a:bodyPr wrap="square" lIns="91440" tIns="45720" rIns="91440" bIns="45720" anchor="t" anchorCtr="0"/>
          <a:lstStyle/>
          <a:p>
            <a:pPr lvl="0"/>
            <a:r>
              <a:rPr lang="zh-CN" altLang="en-US" dirty="0"/>
              <a:t>注意不要忘了初始值。</a:t>
            </a:r>
          </a:p>
        </p:txBody>
      </p:sp>
      <p:sp>
        <p:nvSpPr>
          <p:cNvPr id="409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en-US" altLang="zh-CN" sz="1200" dirty="0">
                <a:cs typeface="Arial" panose="020B0604020202020204" pitchFamily="34" charset="0"/>
              </a:rPr>
              <a:pPr lvl="0" algn="r"/>
              <a:t>30</a:t>
            </a:fld>
            <a:endParaRPr lang="en-US" altLang="zh-CN" sz="1200" dirty="0">
              <a:ea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ln>
            <a:solidFill>
              <a:srgbClr val="000000">
                <a:alpha val="100000"/>
              </a:srgbClr>
            </a:solidFill>
            <a:miter lim="800000"/>
          </a:ln>
        </p:spPr>
      </p:sp>
      <p:sp>
        <p:nvSpPr>
          <p:cNvPr id="47107" name="备注占位符 2"/>
          <p:cNvSpPr>
            <a:spLocks noGrp="1"/>
          </p:cNvSpPr>
          <p:nvPr>
            <p:ph type="body" idx="1"/>
          </p:nvPr>
        </p:nvSpPr>
        <p:spPr>
          <a:noFill/>
          <a:ln>
            <a:noFill/>
          </a:ln>
        </p:spPr>
        <p:txBody>
          <a:bodyPr wrap="square" lIns="91440" tIns="45720" rIns="91440" bIns="45720" anchor="t" anchorCtr="0"/>
          <a:lstStyle/>
          <a:p>
            <a:pPr lvl="0"/>
            <a:r>
              <a:rPr lang="zh-CN" altLang="en-US" dirty="0"/>
              <a:t>运用你的想想像力！</a:t>
            </a:r>
          </a:p>
        </p:txBody>
      </p:sp>
      <p:sp>
        <p:nvSpPr>
          <p:cNvPr id="471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en-US" altLang="zh-CN" sz="1200" dirty="0">
                <a:cs typeface="Arial" panose="020B0604020202020204" pitchFamily="34" charset="0"/>
              </a:rPr>
              <a:pPr lvl="0" algn="r"/>
              <a:t>35</a:t>
            </a:fld>
            <a:endParaRPr lang="en-US" altLang="zh-CN" sz="1200" dirty="0">
              <a:ea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a:solidFill>
              <a:srgbClr val="000000">
                <a:alpha val="100000"/>
              </a:srgbClr>
            </a:solidFill>
            <a:miter lim="800000"/>
          </a:ln>
        </p:spPr>
      </p:sp>
      <p:sp>
        <p:nvSpPr>
          <p:cNvPr id="55299" name="备注占位符 2"/>
          <p:cNvSpPr>
            <a:spLocks noGrp="1"/>
          </p:cNvSpPr>
          <p:nvPr>
            <p:ph type="body" idx="1"/>
          </p:nvPr>
        </p:nvSpPr>
        <p:spPr>
          <a:noFill/>
          <a:ln>
            <a:noFill/>
          </a:ln>
        </p:spPr>
        <p:txBody>
          <a:bodyPr wrap="square" lIns="91440" tIns="45720" rIns="91440" bIns="45720" anchor="t" anchorCtr="0"/>
          <a:lstStyle/>
          <a:p>
            <a:pPr lvl="0"/>
            <a:r>
              <a:rPr lang="zh-CN" altLang="en-US" dirty="0"/>
              <a:t>理想电容与实际电容的差距！</a:t>
            </a:r>
          </a:p>
        </p:txBody>
      </p:sp>
      <p:sp>
        <p:nvSpPr>
          <p:cNvPr id="553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en-US" altLang="zh-CN" sz="1200" dirty="0">
                <a:cs typeface="Arial" panose="020B0604020202020204" pitchFamily="34" charset="0"/>
              </a:rPr>
              <a:pPr lvl="0" algn="r"/>
              <a:t>44</a:t>
            </a:fld>
            <a:endParaRPr lang="en-US" altLang="zh-CN" sz="1200" dirty="0">
              <a:ea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a:solidFill>
              <a:srgbClr val="000000">
                <a:alpha val="100000"/>
              </a:srgbClr>
            </a:solidFill>
            <a:miter lim="800000"/>
          </a:ln>
        </p:spPr>
      </p:sp>
      <p:sp>
        <p:nvSpPr>
          <p:cNvPr id="57347" name="备注占位符 2"/>
          <p:cNvSpPr>
            <a:spLocks noGrp="1"/>
          </p:cNvSpPr>
          <p:nvPr>
            <p:ph type="body" idx="1"/>
          </p:nvPr>
        </p:nvSpPr>
        <p:spPr>
          <a:noFill/>
          <a:ln>
            <a:noFill/>
          </a:ln>
        </p:spPr>
        <p:txBody>
          <a:bodyPr wrap="square" lIns="91440" tIns="45720" rIns="91440" bIns="45720" anchor="t" anchorCtr="0"/>
          <a:lstStyle/>
          <a:p>
            <a:pPr lvl="0"/>
            <a:r>
              <a:rPr lang="zh-CN" altLang="en-US" dirty="0"/>
              <a:t>式中</a:t>
            </a:r>
            <a:r>
              <a:rPr lang="en-US" altLang="zh-CN" dirty="0"/>
              <a:t>N</a:t>
            </a:r>
            <a:r>
              <a:rPr lang="zh-CN" altLang="en-US" dirty="0"/>
              <a:t>时匝数，</a:t>
            </a:r>
            <a:r>
              <a:rPr lang="en-US" altLang="zh-CN" dirty="0"/>
              <a:t>l</a:t>
            </a:r>
            <a:r>
              <a:rPr lang="zh-CN" altLang="en-US" dirty="0"/>
              <a:t>是长度，</a:t>
            </a:r>
            <a:r>
              <a:rPr lang="en-US" altLang="zh-CN" dirty="0"/>
              <a:t>A</a:t>
            </a:r>
            <a:r>
              <a:rPr lang="zh-CN" altLang="en-US" dirty="0"/>
              <a:t>是横截面积，</a:t>
            </a:r>
            <a:r>
              <a:rPr lang="en-US" altLang="zh-CN" dirty="0"/>
              <a:t>µ</a:t>
            </a:r>
            <a:r>
              <a:rPr lang="zh-CN" altLang="en-US" dirty="0"/>
              <a:t>是磁芯的磁导率</a:t>
            </a:r>
            <a:endParaRPr lang="en-US" altLang="zh-CN" dirty="0"/>
          </a:p>
        </p:txBody>
      </p:sp>
      <p:sp>
        <p:nvSpPr>
          <p:cNvPr id="57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en-US" altLang="zh-CN" dirty="0">
                <a:solidFill>
                  <a:srgbClr val="FF0000"/>
                </a:solidFill>
                <a:latin typeface="Arial" panose="020B0604020202020204" pitchFamily="34" charset="0"/>
                <a:ea typeface="宋体-18030" pitchFamily="49" charset="-122"/>
              </a:rPr>
              <a:pPr lvl="0" algn="r">
                <a:spcBef>
                  <a:spcPct val="0"/>
                </a:spcBef>
              </a:pPr>
              <a:t>46</a:t>
            </a:fld>
            <a:endParaRPr lang="en-US" altLang="zh-CN" dirty="0">
              <a:solidFill>
                <a:srgbClr val="FF0000"/>
              </a:solidFill>
              <a:latin typeface="Arial" panose="020B0604020202020204" pitchFamily="34" charset="0"/>
              <a:ea typeface="宋体-18030" pitchFamily="49"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a:solidFill>
              <a:srgbClr val="000000">
                <a:alpha val="100000"/>
              </a:srgbClr>
            </a:solidFill>
            <a:miter lim="800000"/>
          </a:ln>
        </p:spPr>
      </p:sp>
      <p:sp>
        <p:nvSpPr>
          <p:cNvPr id="59395" name="备注占位符 2"/>
          <p:cNvSpPr>
            <a:spLocks noGrp="1"/>
          </p:cNvSpPr>
          <p:nvPr>
            <p:ph type="body" idx="1"/>
          </p:nvPr>
        </p:nvSpPr>
        <p:spPr>
          <a:noFill/>
          <a:ln>
            <a:noFill/>
          </a:ln>
        </p:spPr>
        <p:txBody>
          <a:bodyPr wrap="square" lIns="91440" tIns="45720" rIns="91440" bIns="45720" anchor="t" anchorCtr="0"/>
          <a:lstStyle/>
          <a:p>
            <a:pPr lvl="0"/>
            <a:r>
              <a:rPr lang="zh-CN" altLang="en-US" dirty="0"/>
              <a:t>感应电动势</a:t>
            </a:r>
            <a:r>
              <a:rPr lang="en-US" altLang="zh-CN" dirty="0"/>
              <a:t>e=-d</a:t>
            </a:r>
            <a:r>
              <a:rPr lang="en-US" altLang="zh-CN" dirty="0">
                <a:sym typeface="Symbol" panose="05050102010706020507" pitchFamily="18" charset="2"/>
              </a:rPr>
              <a:t>/dt, </a:t>
            </a:r>
            <a:r>
              <a:rPr lang="zh-CN" altLang="en-US" dirty="0">
                <a:sym typeface="Symbol" panose="05050102010706020507" pitchFamily="18" charset="2"/>
              </a:rPr>
              <a:t>而</a:t>
            </a:r>
            <a:r>
              <a:rPr lang="en-US" altLang="zh-CN" dirty="0">
                <a:sym typeface="Symbol" panose="05050102010706020507" pitchFamily="18" charset="2"/>
              </a:rPr>
              <a:t>=L*I, </a:t>
            </a:r>
            <a:r>
              <a:rPr lang="zh-CN" altLang="en-US" dirty="0">
                <a:sym typeface="Symbol" panose="05050102010706020507" pitchFamily="18" charset="2"/>
              </a:rPr>
              <a:t>然后</a:t>
            </a:r>
            <a:r>
              <a:rPr lang="en-US" altLang="zh-CN" dirty="0">
                <a:sym typeface="Symbol" panose="05050102010706020507" pitchFamily="18" charset="2"/>
              </a:rPr>
              <a:t>V=-e,</a:t>
            </a:r>
            <a:r>
              <a:rPr lang="zh-CN" altLang="en-US" dirty="0">
                <a:sym typeface="Symbol" panose="05050102010706020507" pitchFamily="18" charset="2"/>
              </a:rPr>
              <a:t>所以可以推导出</a:t>
            </a:r>
            <a:r>
              <a:rPr lang="en-US" altLang="zh-CN" dirty="0">
                <a:sym typeface="Symbol" panose="05050102010706020507" pitchFamily="18" charset="2"/>
              </a:rPr>
              <a:t>V=L*di/dt</a:t>
            </a:r>
            <a:endParaRPr lang="en-US" altLang="zh-CN" dirty="0"/>
          </a:p>
        </p:txBody>
      </p:sp>
      <p:sp>
        <p:nvSpPr>
          <p:cNvPr id="593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en-US" altLang="zh-CN" dirty="0">
                <a:solidFill>
                  <a:srgbClr val="FF0000"/>
                </a:solidFill>
                <a:latin typeface="Arial" panose="020B0604020202020204" pitchFamily="34" charset="0"/>
                <a:ea typeface="宋体-18030" pitchFamily="49" charset="-122"/>
              </a:rPr>
              <a:pPr lvl="0" algn="r">
                <a:spcBef>
                  <a:spcPct val="0"/>
                </a:spcBef>
              </a:pPr>
              <a:t>47</a:t>
            </a:fld>
            <a:endParaRPr lang="en-US" altLang="zh-CN" dirty="0">
              <a:solidFill>
                <a:srgbClr val="FF0000"/>
              </a:solidFill>
              <a:latin typeface="Arial" panose="020B0604020202020204" pitchFamily="34" charset="0"/>
              <a:ea typeface="宋体-18030" pitchFamily="49"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a:solidFill>
              <a:srgbClr val="000000">
                <a:alpha val="100000"/>
              </a:srgbClr>
            </a:solidFill>
            <a:miter lim="800000"/>
          </a:ln>
        </p:spPr>
      </p:sp>
      <p:sp>
        <p:nvSpPr>
          <p:cNvPr id="62467"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US" altLang="zh-CN" dirty="0"/>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en-US" altLang="zh-CN" dirty="0">
                <a:solidFill>
                  <a:srgbClr val="FF0000"/>
                </a:solidFill>
                <a:latin typeface="Arial" panose="020B0604020202020204" pitchFamily="34" charset="0"/>
                <a:ea typeface="宋体-18030" pitchFamily="49" charset="-122"/>
              </a:rPr>
              <a:pPr lvl="0" algn="r">
                <a:spcBef>
                  <a:spcPct val="0"/>
                </a:spcBef>
              </a:pPr>
              <a:t>49</a:t>
            </a:fld>
            <a:endParaRPr lang="en-US" altLang="zh-CN" dirty="0">
              <a:solidFill>
                <a:srgbClr val="FF0000"/>
              </a:solidFill>
              <a:latin typeface="Arial" panose="020B0604020202020204" pitchFamily="34" charset="0"/>
              <a:ea typeface="宋体-18030" pitchFamily="49"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a:solidFill>
              <a:srgbClr val="000000">
                <a:alpha val="100000"/>
              </a:srgbClr>
            </a:solidFill>
            <a:miter lim="800000"/>
          </a:ln>
        </p:spPr>
      </p:sp>
      <p:sp>
        <p:nvSpPr>
          <p:cNvPr id="66563"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665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en-US" altLang="zh-CN" sz="1200" dirty="0">
                <a:cs typeface="Arial" panose="020B0604020202020204" pitchFamily="34" charset="0"/>
              </a:rPr>
              <a:pPr lvl="0" algn="r"/>
              <a:t>54</a:t>
            </a:fld>
            <a:endParaRPr lang="en-US" altLang="zh-CN" sz="1200" dirty="0">
              <a:ea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a:ln>
            <a:solidFill>
              <a:srgbClr val="000000">
                <a:alpha val="100000"/>
              </a:srgbClr>
            </a:solidFill>
            <a:miter lim="800000"/>
          </a:ln>
        </p:spPr>
      </p:sp>
      <p:sp>
        <p:nvSpPr>
          <p:cNvPr id="79875"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798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en-US" altLang="zh-CN" sz="1200" dirty="0">
                <a:cs typeface="Arial" panose="020B0604020202020204" pitchFamily="34" charset="0"/>
              </a:rPr>
              <a:pPr lvl="0" algn="r"/>
              <a:t>68</a:t>
            </a:fld>
            <a:endParaRPr lang="en-US" altLang="zh-CN" sz="1200" dirty="0">
              <a:ea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ln>
            <a:solidFill>
              <a:srgbClr val="000000">
                <a:alpha val="100000"/>
              </a:srgbClr>
            </a:solidFill>
            <a:miter lim="800000"/>
          </a:ln>
        </p:spPr>
      </p:sp>
      <p:sp>
        <p:nvSpPr>
          <p:cNvPr id="98307" name="备注占位符 2"/>
          <p:cNvSpPr>
            <a:spLocks noGrp="1"/>
          </p:cNvSpPr>
          <p:nvPr>
            <p:ph type="body" idx="1"/>
          </p:nvPr>
        </p:nvSpPr>
        <p:spPr>
          <a:noFill/>
          <a:ln>
            <a:noFill/>
          </a:ln>
        </p:spPr>
        <p:txBody>
          <a:bodyPr wrap="square" lIns="91440" tIns="45720" rIns="91440" bIns="45720" anchor="t" anchorCtr="0"/>
          <a:lstStyle/>
          <a:p>
            <a:pPr lvl="0"/>
            <a:r>
              <a:rPr lang="zh-CN" altLang="en-US" dirty="0"/>
              <a:t>这里为什么不能使用串联分压？因为</a:t>
            </a:r>
            <a:r>
              <a:rPr lang="en-US" altLang="zh-CN" dirty="0"/>
              <a:t>C1</a:t>
            </a:r>
            <a:r>
              <a:rPr lang="zh-CN" altLang="en-US" dirty="0"/>
              <a:t>何</a:t>
            </a:r>
            <a:r>
              <a:rPr lang="en-US" altLang="zh-CN" dirty="0"/>
              <a:t>C2</a:t>
            </a:r>
            <a:r>
              <a:rPr lang="zh-CN" altLang="en-US" dirty="0"/>
              <a:t>的初始电压不为</a:t>
            </a:r>
            <a:r>
              <a:rPr lang="en-US" altLang="zh-CN" dirty="0"/>
              <a:t>0</a:t>
            </a:r>
            <a:r>
              <a:rPr lang="zh-CN" altLang="en-US" dirty="0"/>
              <a:t>。</a:t>
            </a:r>
            <a:endParaRPr lang="en-US" altLang="zh-CN" dirty="0"/>
          </a:p>
        </p:txBody>
      </p:sp>
      <p:sp>
        <p:nvSpPr>
          <p:cNvPr id="983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en-US" altLang="zh-CN" dirty="0">
                <a:solidFill>
                  <a:srgbClr val="FF0000"/>
                </a:solidFill>
                <a:latin typeface="Arial" panose="020B0604020202020204" pitchFamily="34" charset="0"/>
                <a:ea typeface="宋体-18030" pitchFamily="49" charset="-122"/>
              </a:rPr>
              <a:pPr lvl="0" algn="r">
                <a:spcBef>
                  <a:spcPct val="0"/>
                </a:spcBef>
              </a:pPr>
              <a:t>91</a:t>
            </a:fld>
            <a:endParaRPr lang="en-US" altLang="zh-CN" dirty="0">
              <a:solidFill>
                <a:srgbClr val="FF0000"/>
              </a:solidFill>
              <a:latin typeface="Arial" panose="020B0604020202020204" pitchFamily="34" charset="0"/>
              <a:ea typeface="宋体-18030"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4098"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4106"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latin typeface="Arial Black" panose="020B0A04020102020204" pitchFamily="34" charset="0"/>
                <a:ea typeface="宋体" panose="02010600030101010101" pitchFamily="2" charset="-122"/>
              </a:rPr>
              <a:pPr algn="r" eaLnBrk="1" hangingPunct="1">
                <a:buNone/>
              </a:pPr>
              <a:t>‹#›</a:t>
            </a:fld>
            <a:endParaRPr lang="en-US" altLang="zh-CN" dirty="0">
              <a:latin typeface="Arial Black" panose="020B0A04020102020204" pitchFamily="34"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0005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8" name="日期占位符 7"/>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pPr lvl="0" eaLnBrk="1" hangingPunct="1">
                <a:buNone/>
              </a:pPr>
              <a:t>‹#›</a:t>
            </a:fld>
            <a:endParaRPr lang="en-US" altLang="zh-CN" dirty="0"/>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6"/>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7"/>
          <p:cNvSpPr>
            <a:spLocks noGrp="1"/>
          </p:cNvSpPr>
          <p:nvPr>
            <p:ph type="ftr" sz="quarter" idx="1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8"/>
          <p:cNvSpPr>
            <a:spLocks noGrp="1"/>
          </p:cNvSpPr>
          <p:nvPr>
            <p:ph type="sldNum" sz="quarter" idx="1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7" name="日期占位符 2"/>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3"/>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4"/>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7"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7" name="日期占位符 4"/>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6"/>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7" name="日期占位符 4"/>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6"/>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Arial" panose="020B0604020202020204" pitchFamily="34" charset="0"/>
                <a:ea typeface="宋体-18030" pitchFamily="49"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18030" pitchFamily="49" charset="-122"/>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a:buNone/>
            </a:pPr>
            <a:fld id="{9A0DB2DC-4C9A-4742-B13C-FB6460FD3503}" type="slidenum">
              <a:rPr lang="zh-CN" altLang="en-US" dirty="0">
                <a:cs typeface="Arial" panose="020B0604020202020204" pitchFamily="34" charset="0"/>
              </a:rPr>
              <a:pPr algn="r">
                <a:buNone/>
              </a:pPr>
              <a:t>‹#›</a:t>
            </a:fld>
            <a:endParaRPr lang="zh-CN" altLang="en-US" dirty="0">
              <a:ea typeface="Arial" panose="020B0604020202020204" pitchFamily="34" charset="0"/>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solidFill>
                  <a:schemeClr val="tx1"/>
                </a:solidFill>
                <a:latin typeface="Arial" panose="020B0604020202020204" pitchFamily="34"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chemeClr val="tx1"/>
                </a:solidFill>
                <a:latin typeface="Arial Black" panose="020B0A04020102020204" pitchFamily="34" charset="0"/>
                <a:ea typeface="宋体" panose="02010600030101010101" pitchFamily="2" charset="-122"/>
              </a:defRPr>
            </a:lvl1pPr>
          </a:lstStyle>
          <a:p>
            <a:pPr lvl="0" eaLnBrk="1" hangingPunct="1">
              <a:buNone/>
            </a:pPr>
            <a:fld id="{9A0DB2DC-4C9A-4742-B13C-FB6460FD3503}" type="slidenum">
              <a:rPr lang="en-US" altLang="zh-CN" dirty="0"/>
              <a:pPr lvl="0" eaLnBrk="1" hangingPunct="1">
                <a:buNone/>
              </a:pPr>
              <a:t>‹#›</a:t>
            </a:fld>
            <a:endParaRPr lang="en-US" altLang="zh-CN" dirty="0"/>
          </a:p>
        </p:txBody>
      </p:sp>
      <p:grpSp>
        <p:nvGrpSpPr>
          <p:cNvPr id="1028" name="Group 4"/>
          <p:cNvGrpSpPr/>
          <p:nvPr/>
        </p:nvGrpSpPr>
        <p:grpSpPr>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p:spPr>
          <p:txBody>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solidFill>
                  <a:schemeClr val="tx1"/>
                </a:solidFill>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2051" name="Rectangle 3"/>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294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solidFill>
                  <a:schemeClr val="tx1"/>
                </a:solidFill>
                <a:latin typeface="Arial" panose="020B0604020202020204" pitchFamily="34" charset="0"/>
                <a:ea typeface="+mn-ea"/>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C84B242-6B12-40D2-B00F-D0D3B7BD051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defRPr/>
              </a:pPr>
              <a:t>2022/10/24</a:t>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294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solidFill>
                  <a:schemeClr val="tx1"/>
                </a:solidFill>
                <a:latin typeface="Arial" panose="020B0604020202020204" pitchFamily="34" charset="0"/>
                <a:ea typeface="+mn-ea"/>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295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ea typeface="宋体" panose="02010600030101010101" pitchFamily="2" charset="-122"/>
              </a:defRPr>
            </a:lvl1pPr>
          </a:lstStyle>
          <a:p>
            <a:pPr lvl="0" eaLnBrk="1" hangingPunct="1">
              <a:buNone/>
            </a:pPr>
            <a:fld id="{9A0DB2DC-4C9A-4742-B13C-FB6460FD3503}" type="slidenum">
              <a:rPr lang="zh-CN" altLang="en-US" dirty="0">
                <a:latin typeface="Arial" panose="020B0604020202020204" pitchFamily="34" charset="0"/>
              </a:rPr>
              <a:pPr lvl="0" eaLnBrk="1" hangingPunct="1">
                <a:buNone/>
              </a:pPr>
              <a:t>‹#›</a:t>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628650" y="365125"/>
            <a:ext cx="7886700" cy="1325563"/>
          </a:xfrm>
          <a:prstGeom prst="rect">
            <a:avLst/>
          </a:prstGeom>
          <a:noFill/>
          <a:ln w="9525">
            <a:noFill/>
          </a:ln>
        </p:spPr>
        <p:txBody>
          <a:bodyPr anchor="ctr" anchorCtr="0"/>
          <a:lstStyle/>
          <a:p>
            <a:pPr lvl="0"/>
            <a:r>
              <a:rPr lang="zh-CN" altLang="en-US" dirty="0"/>
              <a:t>单击此处编辑母版标题样式</a:t>
            </a:r>
          </a:p>
        </p:txBody>
      </p:sp>
      <p:sp>
        <p:nvSpPr>
          <p:cNvPr id="3075" name="文本占位符 2"/>
          <p:cNvSpPr>
            <a:spLocks noGrp="1"/>
          </p:cNvSpPr>
          <p:nvPr>
            <p:ph type="body" idx="1"/>
          </p:nvPr>
        </p:nvSpPr>
        <p:spPr>
          <a:xfrm>
            <a:off x="628650" y="1825625"/>
            <a:ext cx="7886700" cy="4351338"/>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Calibri" panose="020F0502020204030204"/>
                <a:ea typeface="宋体" panose="02010600030101010101" pitchFamily="2" charset="-122"/>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Calibri" panose="020F0502020204030204"/>
                <a:ea typeface="宋体" panose="02010600030101010101" pitchFamily="2" charset="-122"/>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ea typeface="宋体" panose="02010600030101010101" pitchFamily="2" charset="-122"/>
              </a:defRPr>
            </a:lvl1pPr>
          </a:lstStyle>
          <a:p>
            <a:pPr lvl="0" eaLnBrk="1" hangingPunct="1">
              <a:buNone/>
            </a:pPr>
            <a:fld id="{9A0DB2DC-4C9A-4742-B13C-FB6460FD3503}" type="slidenum">
              <a:rPr lang="zh-CN" altLang="en-US" dirty="0"/>
              <a:pPr lvl="0" eaLnBrk="1" hangingPunct="1">
                <a:buNone/>
              </a:pPr>
              <a:t>‹#›</a:t>
            </a:fld>
            <a:endParaRPr lang="zh-CN" altLang="en-US" dirty="0"/>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6.v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9.v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5.bin"/><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oleObject" Target="../embeddings/oleObject16.bin"/></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26.png"/><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25.png"/><Relationship Id="rId5" Type="http://schemas.openxmlformats.org/officeDocument/2006/relationships/image" Target="../media/image29.jpeg"/><Relationship Id="rId4" Type="http://schemas.openxmlformats.org/officeDocument/2006/relationships/oleObject" Target="../embeddings/oleObject18.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4.v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3.png"/><Relationship Id="rId5" Type="http://schemas.openxmlformats.org/officeDocument/2006/relationships/oleObject" Target="../embeddings/oleObject20.bin"/><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notesSlide" Target="../notesSlides/notesSlide3.xml"/><Relationship Id="rId7" Type="http://schemas.openxmlformats.org/officeDocument/2006/relationships/oleObject" Target="../embeddings/oleObject24.bin"/><Relationship Id="rId2" Type="http://schemas.openxmlformats.org/officeDocument/2006/relationships/slideLayout" Target="../slideLayouts/slideLayout20.xml"/><Relationship Id="rId1" Type="http://schemas.openxmlformats.org/officeDocument/2006/relationships/vmlDrawing" Target="../drawings/vmlDrawing16.vml"/><Relationship Id="rId6" Type="http://schemas.openxmlformats.org/officeDocument/2006/relationships/oleObject" Target="../embeddings/oleObject23.bin"/><Relationship Id="rId5" Type="http://schemas.openxmlformats.org/officeDocument/2006/relationships/oleObject" Target="../embeddings/oleObject22.bin"/><Relationship Id="rId10" Type="http://schemas.openxmlformats.org/officeDocument/2006/relationships/image" Target="../media/image35.jpeg"/><Relationship Id="rId4" Type="http://schemas.openxmlformats.org/officeDocument/2006/relationships/oleObject" Target="../embeddings/oleObject21.bin"/><Relationship Id="rId9" Type="http://schemas.openxmlformats.org/officeDocument/2006/relationships/oleObject" Target="../embeddings/oleObject26.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oleObject" Target="../embeddings/oleObject36.bin"/><Relationship Id="rId3" Type="http://schemas.openxmlformats.org/officeDocument/2006/relationships/image" Target="../media/image35.jpeg"/><Relationship Id="rId7" Type="http://schemas.openxmlformats.org/officeDocument/2006/relationships/oleObject" Target="../embeddings/oleObject30.bin"/><Relationship Id="rId12" Type="http://schemas.openxmlformats.org/officeDocument/2006/relationships/oleObject" Target="../embeddings/oleObject35.bin"/><Relationship Id="rId2" Type="http://schemas.openxmlformats.org/officeDocument/2006/relationships/slideLayout" Target="../slideLayouts/slideLayout20.xml"/><Relationship Id="rId1" Type="http://schemas.openxmlformats.org/officeDocument/2006/relationships/vmlDrawing" Target="../drawings/vmlDrawing17.vml"/><Relationship Id="rId6" Type="http://schemas.openxmlformats.org/officeDocument/2006/relationships/oleObject" Target="../embeddings/oleObject29.bin"/><Relationship Id="rId11" Type="http://schemas.openxmlformats.org/officeDocument/2006/relationships/oleObject" Target="../embeddings/oleObject34.bin"/><Relationship Id="rId5" Type="http://schemas.openxmlformats.org/officeDocument/2006/relationships/oleObject" Target="../embeddings/oleObject28.bin"/><Relationship Id="rId10" Type="http://schemas.openxmlformats.org/officeDocument/2006/relationships/oleObject" Target="../embeddings/oleObject33.bin"/><Relationship Id="rId4" Type="http://schemas.openxmlformats.org/officeDocument/2006/relationships/oleObject" Target="../embeddings/oleObject27.bin"/><Relationship Id="rId9" Type="http://schemas.openxmlformats.org/officeDocument/2006/relationships/oleObject" Target="../embeddings/oleObject32.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7.bin"/><Relationship Id="rId7" Type="http://schemas.openxmlformats.org/officeDocument/2006/relationships/oleObject" Target="../embeddings/oleObject41.bin"/><Relationship Id="rId2" Type="http://schemas.openxmlformats.org/officeDocument/2006/relationships/slideLayout" Target="../slideLayouts/slideLayout20.xml"/><Relationship Id="rId1" Type="http://schemas.openxmlformats.org/officeDocument/2006/relationships/vmlDrawing" Target="../drawings/vmlDrawing18.vml"/><Relationship Id="rId6" Type="http://schemas.openxmlformats.org/officeDocument/2006/relationships/oleObject" Target="../embeddings/oleObject40.bin"/><Relationship Id="rId5" Type="http://schemas.openxmlformats.org/officeDocument/2006/relationships/oleObject" Target="../embeddings/oleObject39.bin"/><Relationship Id="rId4" Type="http://schemas.openxmlformats.org/officeDocument/2006/relationships/oleObject" Target="../embeddings/oleObject38.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oleObject" Target="../embeddings/oleObject43.bin"/></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5" Type="http://schemas.openxmlformats.org/officeDocument/2006/relationships/image" Target="../media/image35.jpeg"/><Relationship Id="rId4" Type="http://schemas.openxmlformats.org/officeDocument/2006/relationships/image" Target="../media/image61.png"/></Relationships>
</file>

<file path=ppt/slides/_rels/slide35.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20.vml"/></Relationships>
</file>

<file path=ppt/slides/_rels/slide3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64.png"/><Relationship Id="rId5" Type="http://schemas.openxmlformats.org/officeDocument/2006/relationships/oleObject" Target="../embeddings/oleObject47.bin"/><Relationship Id="rId4" Type="http://schemas.openxmlformats.org/officeDocument/2006/relationships/oleObject" Target="../embeddings/oleObject46.bin"/></Relationships>
</file>

<file path=ppt/slides/_rels/slide4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71.png"/></Relationships>
</file>

<file path=ppt/slides/_rels/slide4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vmlDrawing" Target="../drawings/vmlDrawing23.vml"/><Relationship Id="rId6" Type="http://schemas.openxmlformats.org/officeDocument/2006/relationships/image" Target="../media/image80.png"/><Relationship Id="rId5" Type="http://schemas.openxmlformats.org/officeDocument/2006/relationships/oleObject" Target="../embeddings/oleObject50.bin"/><Relationship Id="rId4" Type="http://schemas.openxmlformats.org/officeDocument/2006/relationships/oleObject" Target="../embeddings/oleObject49.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oleObject" Target="../embeddings/oleObject51.bin"/></Relationships>
</file>

<file path=ppt/slides/_rels/slide48.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oleObject" Target="../embeddings/oleObject52.bin"/><Relationship Id="rId7" Type="http://schemas.openxmlformats.org/officeDocument/2006/relationships/image" Target="../media/image86.png"/><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8.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90.png"/><Relationship Id="rId4" Type="http://schemas.openxmlformats.org/officeDocument/2006/relationships/oleObject" Target="../embeddings/oleObject53.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oleObject" Target="../embeddings/oleObject55.bin"/></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vmlDrawing" Target="../drawings/vmlDrawing28.vml"/><Relationship Id="rId5" Type="http://schemas.openxmlformats.org/officeDocument/2006/relationships/oleObject" Target="../embeddings/oleObject56.bin"/><Relationship Id="rId4" Type="http://schemas.openxmlformats.org/officeDocument/2006/relationships/image" Target="../media/image94.png"/></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7.bin"/><Relationship Id="rId7"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60.bin"/><Relationship Id="rId5" Type="http://schemas.openxmlformats.org/officeDocument/2006/relationships/oleObject" Target="../embeddings/oleObject59.bin"/><Relationship Id="rId4" Type="http://schemas.openxmlformats.org/officeDocument/2006/relationships/oleObject" Target="../embeddings/oleObject58.bin"/></Relationships>
</file>

<file path=ppt/slides/_rels/slide5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oleObject" Target="../embeddings/oleObject63.bin"/><Relationship Id="rId4" Type="http://schemas.openxmlformats.org/officeDocument/2006/relationships/oleObject" Target="../embeddings/oleObject62.bin"/></Relationships>
</file>

<file path=ppt/slides/_rels/slide5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oleObject" Target="../embeddings/oleObject64.bin"/><Relationship Id="rId7" Type="http://schemas.openxmlformats.org/officeDocument/2006/relationships/image" Target="../media/image107.png"/><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67.bin"/><Relationship Id="rId5" Type="http://schemas.openxmlformats.org/officeDocument/2006/relationships/oleObject" Target="../embeddings/oleObject66.bin"/><Relationship Id="rId4" Type="http://schemas.openxmlformats.org/officeDocument/2006/relationships/oleObject" Target="../embeddings/oleObject65.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09.png"/><Relationship Id="rId4" Type="http://schemas.openxmlformats.org/officeDocument/2006/relationships/image" Target="../media/image108.png"/></Relationships>
</file>

<file path=ppt/slides/_rels/slide57.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12.png"/><Relationship Id="rId5" Type="http://schemas.openxmlformats.org/officeDocument/2006/relationships/oleObject" Target="../embeddings/oleObject70.bin"/><Relationship Id="rId4" Type="http://schemas.openxmlformats.org/officeDocument/2006/relationships/oleObject" Target="../embeddings/oleObject69.bin"/></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oleObject" Target="../embeddings/oleObject74.bin"/><Relationship Id="rId5" Type="http://schemas.openxmlformats.org/officeDocument/2006/relationships/oleObject" Target="../embeddings/oleObject73.bin"/><Relationship Id="rId4" Type="http://schemas.openxmlformats.org/officeDocument/2006/relationships/oleObject" Target="../embeddings/oleObject72.bin"/></Relationships>
</file>

<file path=ppt/slides/_rels/slide6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7.xml"/><Relationship Id="rId5" Type="http://schemas.openxmlformats.org/officeDocument/2006/relationships/image" Target="../media/image112.png"/><Relationship Id="rId4" Type="http://schemas.openxmlformats.org/officeDocument/2006/relationships/image" Target="../media/image122.png"/></Relationships>
</file>

<file path=ppt/slides/_rels/slide61.x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34.v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35.v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36.vml"/></Relationships>
</file>

<file path=ppt/slides/_rels/slide6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slideLayout" Target="../slideLayouts/slideLayout7.xml"/><Relationship Id="rId1" Type="http://schemas.openxmlformats.org/officeDocument/2006/relationships/vmlDrawing" Target="../drawings/vmlDrawing37.vml"/><Relationship Id="rId5" Type="http://schemas.openxmlformats.org/officeDocument/2006/relationships/oleObject" Target="../embeddings/oleObject79.bin"/><Relationship Id="rId4" Type="http://schemas.openxmlformats.org/officeDocument/2006/relationships/oleObject" Target="../embeddings/oleObject78.bin"/></Relationships>
</file>

<file path=ppt/slides/_rels/slide6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84.bin"/><Relationship Id="rId3" Type="http://schemas.openxmlformats.org/officeDocument/2006/relationships/notesSlide" Target="../notesSlides/notesSlide10.xml"/><Relationship Id="rId7"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oleObject" Target="../embeddings/oleObject82.bin"/><Relationship Id="rId11" Type="http://schemas.openxmlformats.org/officeDocument/2006/relationships/image" Target="../media/image140.png"/><Relationship Id="rId5" Type="http://schemas.openxmlformats.org/officeDocument/2006/relationships/oleObject" Target="../embeddings/oleObject81.bin"/><Relationship Id="rId10" Type="http://schemas.openxmlformats.org/officeDocument/2006/relationships/oleObject" Target="../embeddings/oleObject86.bin"/><Relationship Id="rId4" Type="http://schemas.openxmlformats.org/officeDocument/2006/relationships/oleObject" Target="../embeddings/oleObject80.bin"/><Relationship Id="rId9" Type="http://schemas.openxmlformats.org/officeDocument/2006/relationships/oleObject" Target="../embeddings/oleObject85.bin"/></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92.bin"/><Relationship Id="rId3" Type="http://schemas.openxmlformats.org/officeDocument/2006/relationships/oleObject" Target="../embeddings/oleObject87.bin"/><Relationship Id="rId7" Type="http://schemas.openxmlformats.org/officeDocument/2006/relationships/oleObject" Target="../embeddings/oleObject91.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90.bin"/><Relationship Id="rId5" Type="http://schemas.openxmlformats.org/officeDocument/2006/relationships/oleObject" Target="../embeddings/oleObject89.bin"/><Relationship Id="rId4" Type="http://schemas.openxmlformats.org/officeDocument/2006/relationships/oleObject" Target="../embeddings/oleObject88.bin"/><Relationship Id="rId9" Type="http://schemas.openxmlformats.org/officeDocument/2006/relationships/oleObject" Target="../embeddings/oleObject93.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99.bin"/><Relationship Id="rId3" Type="http://schemas.openxmlformats.org/officeDocument/2006/relationships/oleObject" Target="../embeddings/oleObject94.bin"/><Relationship Id="rId7" Type="http://schemas.openxmlformats.org/officeDocument/2006/relationships/oleObject" Target="../embeddings/oleObject98.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97.bin"/><Relationship Id="rId5" Type="http://schemas.openxmlformats.org/officeDocument/2006/relationships/oleObject" Target="../embeddings/oleObject96.bin"/><Relationship Id="rId10" Type="http://schemas.openxmlformats.org/officeDocument/2006/relationships/oleObject" Target="../embeddings/oleObject101.bin"/><Relationship Id="rId4" Type="http://schemas.openxmlformats.org/officeDocument/2006/relationships/oleObject" Target="../embeddings/oleObject95.bin"/><Relationship Id="rId9" Type="http://schemas.openxmlformats.org/officeDocument/2006/relationships/oleObject" Target="../embeddings/oleObject100.bin"/></Relationships>
</file>

<file path=ppt/slides/_rels/slide7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7.xml"/><Relationship Id="rId4" Type="http://schemas.openxmlformats.org/officeDocument/2006/relationships/image" Target="../media/image157.png"/></Relationships>
</file>

<file path=ppt/slides/_rels/slide72.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4.xml"/><Relationship Id="rId1" Type="http://schemas.openxmlformats.org/officeDocument/2006/relationships/vmlDrawing" Target="../drawings/vmlDrawing41.vml"/><Relationship Id="rId4" Type="http://schemas.openxmlformats.org/officeDocument/2006/relationships/oleObject" Target="../embeddings/oleObject103.bin"/></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4.xml"/><Relationship Id="rId1" Type="http://schemas.openxmlformats.org/officeDocument/2006/relationships/vmlDrawing" Target="../drawings/vmlDrawing42.vml"/><Relationship Id="rId4" Type="http://schemas.openxmlformats.org/officeDocument/2006/relationships/oleObject" Target="../embeddings/oleObject105.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3" Type="http://schemas.openxmlformats.org/officeDocument/2006/relationships/image" Target="../media/image170.emf"/><Relationship Id="rId2" Type="http://schemas.openxmlformats.org/officeDocument/2006/relationships/image" Target="../media/image169.png"/><Relationship Id="rId1" Type="http://schemas.openxmlformats.org/officeDocument/2006/relationships/slideLayout" Target="../slideLayouts/slideLayout26.xml"/><Relationship Id="rId4" Type="http://schemas.openxmlformats.org/officeDocument/2006/relationships/image" Target="../media/image171.emf"/></Relationships>
</file>

<file path=ppt/slides/_rels/slide84.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31.xml"/></Relationships>
</file>

<file path=ppt/slides/_rels/slide85.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31.xml"/></Relationships>
</file>

<file path=ppt/slides/_rels/slide86.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31.xml"/></Relationships>
</file>

<file path=ppt/slides/_rels/slide87.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26.xml"/></Relationships>
</file>

<file path=ppt/slides/_rels/slide88.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26.xml"/></Relationships>
</file>

<file path=ppt/slides/_rels/slide8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slideLayout" Target="../slideLayouts/slideLayout31.xml"/></Relationships>
</file>

<file path=ppt/slides/_rels/slide90.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31.xml"/></Relationships>
</file>

<file path=ppt/slides/_rels/slide91.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11.xml"/><Relationship Id="rId1" Type="http://schemas.openxmlformats.org/officeDocument/2006/relationships/slideLayout" Target="../slideLayouts/slideLayout31.xml"/><Relationship Id="rId4" Type="http://schemas.openxmlformats.org/officeDocument/2006/relationships/image" Target="../media/image184.png"/></Relationships>
</file>

<file path=ppt/slides/_rels/slide92.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ctrTitle"/>
          </p:nvPr>
        </p:nvSpPr>
        <p:spPr>
          <a:xfrm>
            <a:off x="0" y="-206375"/>
            <a:ext cx="9144000" cy="2087563"/>
          </a:xfrm>
        </p:spPr>
        <p:txBody>
          <a:bodyPr vert="horz" wrap="square" lIns="91440" tIns="45720" rIns="91440" bIns="45720" anchor="ctr" anchorCtr="0"/>
          <a:lstStyle/>
          <a:p>
            <a:pPr eaLnBrk="1" hangingPunct="1">
              <a:buClrTx/>
              <a:buSzTx/>
              <a:buFontTx/>
            </a:pPr>
            <a:r>
              <a:rPr lang="zh-CN" altLang="en-US" b="1" dirty="0">
                <a:solidFill>
                  <a:schemeClr val="tx1"/>
                </a:solidFill>
                <a:latin typeface="+mj-lt"/>
                <a:ea typeface="+mj-ea"/>
                <a:cs typeface="+mj-cs"/>
              </a:rPr>
              <a:t>第六章</a:t>
            </a:r>
            <a:r>
              <a:rPr lang="en-US" altLang="zh-CN" b="1" dirty="0">
                <a:solidFill>
                  <a:schemeClr val="tx1"/>
                </a:solidFill>
                <a:latin typeface="+mj-lt"/>
                <a:ea typeface="+mj-ea"/>
                <a:cs typeface="+mj-cs"/>
              </a:rPr>
              <a:t/>
            </a:r>
            <a:br>
              <a:rPr lang="en-US" altLang="zh-CN" b="1" dirty="0">
                <a:solidFill>
                  <a:schemeClr val="tx1"/>
                </a:solidFill>
                <a:latin typeface="+mj-lt"/>
                <a:ea typeface="+mj-ea"/>
                <a:cs typeface="+mj-cs"/>
              </a:rPr>
            </a:br>
            <a:r>
              <a:rPr lang="en-US" altLang="zh-CN" b="1" dirty="0">
                <a:solidFill>
                  <a:schemeClr val="tx1"/>
                </a:solidFill>
                <a:latin typeface="+mj-lt"/>
                <a:ea typeface="+mj-ea"/>
                <a:cs typeface="+mj-cs"/>
              </a:rPr>
              <a:t>                 </a:t>
            </a:r>
            <a:r>
              <a:rPr lang="zh-CN" altLang="en-US" b="1" dirty="0">
                <a:solidFill>
                  <a:schemeClr val="tx1"/>
                </a:solidFill>
                <a:latin typeface="+mj-lt"/>
                <a:ea typeface="+mj-ea"/>
                <a:cs typeface="+mj-cs"/>
              </a:rPr>
              <a:t>电容和电感</a:t>
            </a:r>
            <a:endParaRPr lang="en-US" altLang="zh-CN" b="1" dirty="0">
              <a:solidFill>
                <a:srgbClr val="FFFFFF"/>
              </a:solidFill>
              <a:latin typeface="+mj-lt"/>
              <a:ea typeface="+mj-ea"/>
              <a:cs typeface="+mj-cs"/>
            </a:endParaRPr>
          </a:p>
        </p:txBody>
      </p:sp>
      <p:sp>
        <p:nvSpPr>
          <p:cNvPr id="17411" name="Rectangle 3"/>
          <p:cNvSpPr>
            <a:spLocks noGrp="1"/>
          </p:cNvSpPr>
          <p:nvPr>
            <p:ph type="subTitle" idx="1"/>
          </p:nvPr>
        </p:nvSpPr>
        <p:spPr>
          <a:xfrm>
            <a:off x="2843213" y="4267200"/>
            <a:ext cx="6148387" cy="1752600"/>
          </a:xfrm>
        </p:spPr>
        <p:txBody>
          <a:bodyPr vert="horz" wrap="square" lIns="91440" tIns="45720" rIns="91440" bIns="45720" anchor="t" anchorCtr="0"/>
          <a:lstStyle/>
          <a:p>
            <a:pPr eaLnBrk="1" hangingPunct="1">
              <a:buSzPct val="75000"/>
            </a:pPr>
            <a:r>
              <a:rPr lang="en-US" altLang="zh-CN" sz="3000" dirty="0">
                <a:latin typeface="+mn-lt"/>
                <a:ea typeface="+mn-ea"/>
                <a:cs typeface="+mn-cs"/>
              </a:rPr>
              <a:t>— Fundamentals of Electric Circuit</a:t>
            </a:r>
          </a:p>
          <a:p>
            <a:pPr eaLnBrk="1" hangingPunct="1">
              <a:buSzPct val="75000"/>
            </a:pPr>
            <a:r>
              <a:rPr lang="en-US" altLang="zh-CN" sz="3000" dirty="0">
                <a:latin typeface="+mn-lt"/>
                <a:ea typeface="+mn-ea"/>
                <a:cs typeface="+mn-cs"/>
              </a:rPr>
              <a:t>     </a:t>
            </a:r>
            <a:r>
              <a:rPr lang="zh-CN" altLang="en-US" sz="3000" dirty="0">
                <a:latin typeface="+mn-lt"/>
                <a:ea typeface="+mn-ea"/>
                <a:cs typeface="+mn-cs"/>
              </a:rPr>
              <a:t>　　　　　　　</a:t>
            </a:r>
            <a:r>
              <a:rPr lang="zh-CN" altLang="en-US" sz="4800" b="1" dirty="0">
                <a:latin typeface="+mn-lt"/>
                <a:ea typeface="+mn-ea"/>
                <a:cs typeface="+mn-cs"/>
              </a:rPr>
              <a:t>电路基础</a:t>
            </a:r>
          </a:p>
          <a:p>
            <a:pPr eaLnBrk="1" hangingPunct="1">
              <a:buSzPct val="75000"/>
            </a:pPr>
            <a:endParaRPr lang="en-US" altLang="zh-CN" sz="3000"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468313" y="692150"/>
            <a:ext cx="7921625" cy="1081088"/>
          </a:xfrm>
        </p:spPr>
        <p:txBody>
          <a:bodyPr vert="horz" wrap="square" lIns="91440" tIns="45720" rIns="91440" bIns="45720" anchor="ctr" anchorCtr="0"/>
          <a:lstStyle/>
          <a:p>
            <a:pPr eaLnBrk="1" hangingPunct="1"/>
            <a:r>
              <a:rPr lang="en-US" altLang="zh-CN" b="1" dirty="0">
                <a:solidFill>
                  <a:srgbClr val="0000FF"/>
                </a:solidFill>
                <a:latin typeface="Franklin Gothic Medium" panose="020B0603020102020204" pitchFamily="34" charset="0"/>
              </a:rPr>
              <a:t>6.1 </a:t>
            </a:r>
            <a:r>
              <a:rPr lang="zh-CN" altLang="en-US" b="1" dirty="0">
                <a:solidFill>
                  <a:srgbClr val="0000FF"/>
                </a:solidFill>
                <a:latin typeface="Franklin Gothic Medium" panose="020B0603020102020204" pitchFamily="34" charset="0"/>
              </a:rPr>
              <a:t>引言</a:t>
            </a:r>
            <a:endParaRPr lang="en-US" altLang="zh-CN" b="1" dirty="0">
              <a:solidFill>
                <a:srgbClr val="0000FF"/>
              </a:solidFill>
              <a:latin typeface="Franklin Gothic Medium" panose="020B0603020102020204" pitchFamily="34" charset="0"/>
            </a:endParaRPr>
          </a:p>
        </p:txBody>
      </p:sp>
      <p:sp>
        <p:nvSpPr>
          <p:cNvPr id="18435" name="Rectangle 3"/>
          <p:cNvSpPr>
            <a:spLocks noGrp="1"/>
          </p:cNvSpPr>
          <p:nvPr>
            <p:ph type="body" sz="half" idx="1"/>
          </p:nvPr>
        </p:nvSpPr>
        <p:spPr>
          <a:xfrm>
            <a:off x="395288" y="1989138"/>
            <a:ext cx="8569325" cy="4032250"/>
          </a:xfrm>
        </p:spPr>
        <p:txBody>
          <a:bodyPr vert="horz" wrap="square" lIns="91440" tIns="45720" rIns="91440" bIns="45720" anchor="t" anchorCtr="0"/>
          <a:lstStyle/>
          <a:p>
            <a:pPr eaLnBrk="1" hangingPunct="1">
              <a:buClr>
                <a:schemeClr val="bg2"/>
              </a:buClr>
              <a:buSzPct val="75000"/>
              <a:buFont typeface="Wingdings" panose="05000000000000000000" pitchFamily="2" charset="2"/>
            </a:pPr>
            <a:r>
              <a:rPr lang="zh-CN" altLang="en-US" sz="2800" b="1" dirty="0">
                <a:latin typeface="Times New Roman" panose="02020603050405020304" pitchFamily="18" charset="0"/>
              </a:rPr>
              <a:t>电容和电感被称为</a:t>
            </a:r>
            <a:r>
              <a:rPr lang="zh-CN" altLang="en-US" sz="2800" b="1" dirty="0">
                <a:solidFill>
                  <a:srgbClr val="FF0000"/>
                </a:solidFill>
                <a:latin typeface="Times New Roman" panose="02020603050405020304" pitchFamily="18" charset="0"/>
              </a:rPr>
              <a:t>储能</a:t>
            </a:r>
            <a:r>
              <a:rPr lang="zh-CN" altLang="en-US" sz="2800" b="1" dirty="0">
                <a:latin typeface="Times New Roman" panose="02020603050405020304" pitchFamily="18" charset="0"/>
              </a:rPr>
              <a:t>器件</a:t>
            </a:r>
            <a:endParaRPr lang="en-US" altLang="zh-CN" sz="2800" b="1" dirty="0">
              <a:latin typeface="Times New Roman" panose="02020603050405020304" pitchFamily="18" charset="0"/>
            </a:endParaRPr>
          </a:p>
          <a:p>
            <a:pPr eaLnBrk="1" hangingPunct="1">
              <a:buClr>
                <a:schemeClr val="bg2"/>
              </a:buClr>
              <a:buSzPct val="75000"/>
              <a:buFont typeface="Wingdings" panose="05000000000000000000" pitchFamily="2" charset="2"/>
            </a:pPr>
            <a:endParaRPr lang="en-US" altLang="zh-CN" sz="2800" b="1" dirty="0">
              <a:latin typeface="Times New Roman" panose="02020603050405020304" pitchFamily="18" charset="0"/>
            </a:endParaRPr>
          </a:p>
          <a:p>
            <a:pPr eaLnBrk="1" hangingPunct="1">
              <a:buClr>
                <a:schemeClr val="bg2"/>
              </a:buClr>
              <a:buSzPct val="75000"/>
              <a:buFont typeface="Wingdings" panose="05000000000000000000" pitchFamily="2" charset="2"/>
            </a:pPr>
            <a:r>
              <a:rPr lang="zh-CN" altLang="en-US" sz="2800" b="1" dirty="0">
                <a:latin typeface="Times New Roman" panose="02020603050405020304" pitchFamily="18" charset="0"/>
              </a:rPr>
              <a:t>与耗能且不可逆的电阻相比，电感或电容能够储存或释放能量（具有</a:t>
            </a:r>
            <a:r>
              <a:rPr lang="zh-CN" altLang="en-US" sz="2800" b="1" dirty="0">
                <a:solidFill>
                  <a:srgbClr val="FF0000"/>
                </a:solidFill>
                <a:latin typeface="Times New Roman" panose="02020603050405020304" pitchFamily="18" charset="0"/>
              </a:rPr>
              <a:t>记忆</a:t>
            </a:r>
            <a:r>
              <a:rPr lang="zh-CN" altLang="en-US" sz="2800" b="1" dirty="0">
                <a:latin typeface="Times New Roman" panose="02020603050405020304" pitchFamily="18" charset="0"/>
              </a:rPr>
              <a:t>功能）</a:t>
            </a:r>
            <a:endParaRPr lang="en-US" altLang="zh-CN" sz="2800" b="1" dirty="0">
              <a:latin typeface="Times New Roman" panose="02020603050405020304" pitchFamily="18" charset="0"/>
            </a:endParaRPr>
          </a:p>
          <a:p>
            <a:pPr eaLnBrk="1" hangingPunct="1">
              <a:buClr>
                <a:schemeClr val="bg2"/>
              </a:buClr>
              <a:buSzPct val="75000"/>
              <a:buFont typeface="Wingdings" panose="05000000000000000000" pitchFamily="2" charset="2"/>
            </a:pPr>
            <a:endParaRPr lang="en-US" altLang="zh-CN" sz="2800" b="1" dirty="0">
              <a:latin typeface="Times New Roman" panose="02020603050405020304" pitchFamily="18" charset="0"/>
            </a:endParaRPr>
          </a:p>
        </p:txBody>
      </p:sp>
      <p:graphicFrame>
        <p:nvGraphicFramePr>
          <p:cNvPr id="18436" name="Object 5"/>
          <p:cNvGraphicFramePr>
            <a:graphicFrameLocks noGrp="1" noChangeAspect="1"/>
          </p:cNvGraphicFramePr>
          <p:nvPr>
            <p:ph sz="quarter" idx="3"/>
          </p:nvPr>
        </p:nvGraphicFramePr>
        <p:xfrm>
          <a:off x="6491288" y="4602163"/>
          <a:ext cx="350837" cy="661987"/>
        </p:xfrm>
        <a:graphic>
          <a:graphicData uri="http://schemas.openxmlformats.org/presentationml/2006/ole">
            <p:oleObj spid="_x0000_s3082" r:id="rId3" imgW="114151" imgH="215619" progId="">
              <p:embed/>
            </p:oleObj>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8"/>
          <p:cNvGrpSpPr/>
          <p:nvPr/>
        </p:nvGrpSpPr>
        <p:grpSpPr>
          <a:xfrm>
            <a:off x="4929188" y="2454275"/>
            <a:ext cx="3508375" cy="3883025"/>
            <a:chOff x="4929187" y="2453737"/>
            <a:chExt cx="3507909" cy="3883518"/>
          </a:xfrm>
        </p:grpSpPr>
        <p:grpSp>
          <p:nvGrpSpPr>
            <p:cNvPr id="19512" name="Group 11"/>
            <p:cNvGrpSpPr/>
            <p:nvPr/>
          </p:nvGrpSpPr>
          <p:grpSpPr>
            <a:xfrm>
              <a:off x="4929187" y="2619375"/>
              <a:ext cx="3507909" cy="3717880"/>
              <a:chOff x="1306" y="469"/>
              <a:chExt cx="3133" cy="3375"/>
            </a:xfrm>
          </p:grpSpPr>
          <p:sp>
            <p:nvSpPr>
              <p:cNvPr id="19514" name="Freeform 12"/>
              <p:cNvSpPr/>
              <p:nvPr/>
            </p:nvSpPr>
            <p:spPr>
              <a:xfrm>
                <a:off x="2652" y="1579"/>
                <a:ext cx="25" cy="1823"/>
              </a:xfrm>
              <a:custGeom>
                <a:avLst/>
                <a:gdLst>
                  <a:gd name="txL" fmla="*/ 0 w 25"/>
                  <a:gd name="txT" fmla="*/ 0 h 1823"/>
                  <a:gd name="txR" fmla="*/ 25 w 25"/>
                  <a:gd name="txB" fmla="*/ 1823 h 1823"/>
                </a:gdLst>
                <a:ahLst/>
                <a:cxnLst>
                  <a:cxn ang="0">
                    <a:pos x="25" y="1823"/>
                  </a:cxn>
                  <a:cxn ang="0">
                    <a:pos x="0" y="0"/>
                  </a:cxn>
                  <a:cxn ang="0">
                    <a:pos x="25" y="1823"/>
                  </a:cxn>
                  <a:cxn ang="0">
                    <a:pos x="25" y="1823"/>
                  </a:cxn>
                </a:cxnLst>
                <a:rect l="txL" t="txT" r="txR" b="txB"/>
                <a:pathLst>
                  <a:path w="25" h="1823">
                    <a:moveTo>
                      <a:pt x="25" y="1823"/>
                    </a:moveTo>
                    <a:lnTo>
                      <a:pt x="0" y="0"/>
                    </a:lnTo>
                    <a:lnTo>
                      <a:pt x="25" y="182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15" name="Freeform 13"/>
              <p:cNvSpPr>
                <a:spLocks noEditPoints="1"/>
              </p:cNvSpPr>
              <p:nvPr/>
            </p:nvSpPr>
            <p:spPr>
              <a:xfrm>
                <a:off x="1647" y="892"/>
                <a:ext cx="1005" cy="687"/>
              </a:xfrm>
              <a:custGeom>
                <a:avLst/>
                <a:gdLst>
                  <a:gd name="txL" fmla="*/ 0 w 1005"/>
                  <a:gd name="txT" fmla="*/ 0 h 687"/>
                  <a:gd name="txR" fmla="*/ 1005 w 1005"/>
                  <a:gd name="txB" fmla="*/ 687 h 687"/>
                </a:gdLst>
                <a:ahLst/>
                <a:cxnLst>
                  <a:cxn ang="0">
                    <a:pos x="1005" y="687"/>
                  </a:cxn>
                  <a:cxn ang="0">
                    <a:pos x="0" y="0"/>
                  </a:cxn>
                  <a:cxn ang="0">
                    <a:pos x="1005" y="687"/>
                  </a:cxn>
                  <a:cxn ang="0">
                    <a:pos x="1005" y="687"/>
                  </a:cxn>
                  <a:cxn ang="0">
                    <a:pos x="1005" y="687"/>
                  </a:cxn>
                  <a:cxn ang="0">
                    <a:pos x="1005" y="687"/>
                  </a:cxn>
                  <a:cxn ang="0">
                    <a:pos x="1005" y="687"/>
                  </a:cxn>
                </a:cxnLst>
                <a:rect l="txL" t="txT" r="txR" b="txB"/>
                <a:pathLst>
                  <a:path w="1005" h="687">
                    <a:moveTo>
                      <a:pt x="1005" y="687"/>
                    </a:moveTo>
                    <a:lnTo>
                      <a:pt x="0" y="0"/>
                    </a:lnTo>
                    <a:lnTo>
                      <a:pt x="1005" y="687"/>
                    </a:lnTo>
                    <a:close/>
                    <a:moveTo>
                      <a:pt x="1005" y="687"/>
                    </a:moveTo>
                    <a:lnTo>
                      <a:pt x="1005" y="68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16" name="Freeform 14"/>
              <p:cNvSpPr>
                <a:spLocks noEditPoints="1"/>
              </p:cNvSpPr>
              <p:nvPr/>
            </p:nvSpPr>
            <p:spPr>
              <a:xfrm>
                <a:off x="1647" y="892"/>
                <a:ext cx="1" cy="1905"/>
              </a:xfrm>
              <a:custGeom>
                <a:avLst/>
                <a:gdLst>
                  <a:gd name="txL" fmla="*/ 0 w 1"/>
                  <a:gd name="txT" fmla="*/ 0 h 1905"/>
                  <a:gd name="txR" fmla="*/ 1 w 1"/>
                  <a:gd name="txB" fmla="*/ 1905 h 1905"/>
                </a:gdLst>
                <a:ahLst/>
                <a:cxnLst>
                  <a:cxn ang="0">
                    <a:pos x="0" y="0"/>
                  </a:cxn>
                  <a:cxn ang="0">
                    <a:pos x="0" y="1905"/>
                  </a:cxn>
                  <a:cxn ang="0">
                    <a:pos x="0" y="0"/>
                  </a:cxn>
                  <a:cxn ang="0">
                    <a:pos x="0" y="0"/>
                  </a:cxn>
                  <a:cxn ang="0">
                    <a:pos x="0" y="0"/>
                  </a:cxn>
                  <a:cxn ang="0">
                    <a:pos x="0" y="0"/>
                  </a:cxn>
                  <a:cxn ang="0">
                    <a:pos x="0" y="0"/>
                  </a:cxn>
                </a:cxnLst>
                <a:rect l="txL" t="txT" r="txR" b="txB"/>
                <a:pathLst>
                  <a:path w="1" h="1905">
                    <a:moveTo>
                      <a:pt x="0" y="0"/>
                    </a:moveTo>
                    <a:lnTo>
                      <a:pt x="0" y="1905"/>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17" name="Freeform 15"/>
              <p:cNvSpPr>
                <a:spLocks noEditPoints="1"/>
              </p:cNvSpPr>
              <p:nvPr/>
            </p:nvSpPr>
            <p:spPr>
              <a:xfrm>
                <a:off x="1647" y="2797"/>
                <a:ext cx="1030" cy="605"/>
              </a:xfrm>
              <a:custGeom>
                <a:avLst/>
                <a:gdLst>
                  <a:gd name="txL" fmla="*/ 0 w 1030"/>
                  <a:gd name="txT" fmla="*/ 0 h 605"/>
                  <a:gd name="txR" fmla="*/ 1030 w 1030"/>
                  <a:gd name="txB" fmla="*/ 605 h 605"/>
                </a:gdLst>
                <a:ahLst/>
                <a:cxnLst>
                  <a:cxn ang="0">
                    <a:pos x="0" y="0"/>
                  </a:cxn>
                  <a:cxn ang="0">
                    <a:pos x="1030" y="605"/>
                  </a:cxn>
                  <a:cxn ang="0">
                    <a:pos x="0" y="0"/>
                  </a:cxn>
                  <a:cxn ang="0">
                    <a:pos x="0" y="0"/>
                  </a:cxn>
                  <a:cxn ang="0">
                    <a:pos x="0" y="0"/>
                  </a:cxn>
                  <a:cxn ang="0">
                    <a:pos x="0" y="0"/>
                  </a:cxn>
                  <a:cxn ang="0">
                    <a:pos x="0" y="0"/>
                  </a:cxn>
                </a:cxnLst>
                <a:rect l="txL" t="txT" r="txR" b="txB"/>
                <a:pathLst>
                  <a:path w="1030" h="605">
                    <a:moveTo>
                      <a:pt x="0" y="0"/>
                    </a:moveTo>
                    <a:lnTo>
                      <a:pt x="1030" y="605"/>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18" name="Freeform 16"/>
              <p:cNvSpPr/>
              <p:nvPr/>
            </p:nvSpPr>
            <p:spPr>
              <a:xfrm>
                <a:off x="2677" y="3402"/>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19" name="Freeform 17"/>
              <p:cNvSpPr/>
              <p:nvPr/>
            </p:nvSpPr>
            <p:spPr>
              <a:xfrm>
                <a:off x="1849" y="665"/>
                <a:ext cx="285" cy="170"/>
              </a:xfrm>
              <a:custGeom>
                <a:avLst/>
                <a:gdLst>
                  <a:gd name="txL" fmla="*/ 0 w 285"/>
                  <a:gd name="txT" fmla="*/ 0 h 170"/>
                  <a:gd name="txR" fmla="*/ 285 w 285"/>
                  <a:gd name="txB" fmla="*/ 170 h 170"/>
                </a:gdLst>
                <a:ahLst/>
                <a:cxnLst>
                  <a:cxn ang="0">
                    <a:pos x="0" y="170"/>
                  </a:cxn>
                  <a:cxn ang="0">
                    <a:pos x="285" y="0"/>
                  </a:cxn>
                  <a:cxn ang="0">
                    <a:pos x="0" y="170"/>
                  </a:cxn>
                  <a:cxn ang="0">
                    <a:pos x="0" y="170"/>
                  </a:cxn>
                </a:cxnLst>
                <a:rect l="txL" t="txT" r="txR" b="txB"/>
                <a:pathLst>
                  <a:path w="285" h="170">
                    <a:moveTo>
                      <a:pt x="0" y="170"/>
                    </a:moveTo>
                    <a:lnTo>
                      <a:pt x="285" y="0"/>
                    </a:lnTo>
                    <a:lnTo>
                      <a:pt x="0" y="17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0" name="Freeform 18"/>
              <p:cNvSpPr/>
              <p:nvPr/>
            </p:nvSpPr>
            <p:spPr>
              <a:xfrm>
                <a:off x="1773" y="803"/>
                <a:ext cx="102" cy="76"/>
              </a:xfrm>
              <a:custGeom>
                <a:avLst/>
                <a:gdLst>
                  <a:gd name="txL" fmla="*/ 0 w 102"/>
                  <a:gd name="txT" fmla="*/ 0 h 76"/>
                  <a:gd name="txR" fmla="*/ 102 w 102"/>
                  <a:gd name="txB" fmla="*/ 76 h 76"/>
                </a:gdLst>
                <a:ahLst/>
                <a:cxnLst>
                  <a:cxn ang="0">
                    <a:pos x="102" y="51"/>
                  </a:cxn>
                  <a:cxn ang="0">
                    <a:pos x="0" y="76"/>
                  </a:cxn>
                  <a:cxn ang="0">
                    <a:pos x="76" y="0"/>
                  </a:cxn>
                  <a:cxn ang="0">
                    <a:pos x="102" y="51"/>
                  </a:cxn>
                  <a:cxn ang="0">
                    <a:pos x="102" y="51"/>
                  </a:cxn>
                </a:cxnLst>
                <a:rect l="txL" t="txT" r="txR" b="txB"/>
                <a:pathLst>
                  <a:path w="102" h="76">
                    <a:moveTo>
                      <a:pt x="102" y="51"/>
                    </a:moveTo>
                    <a:lnTo>
                      <a:pt x="0" y="76"/>
                    </a:lnTo>
                    <a:lnTo>
                      <a:pt x="76" y="0"/>
                    </a:lnTo>
                    <a:lnTo>
                      <a:pt x="102" y="5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1" name="Freeform 19"/>
              <p:cNvSpPr/>
              <p:nvPr/>
            </p:nvSpPr>
            <p:spPr>
              <a:xfrm>
                <a:off x="2778" y="1056"/>
                <a:ext cx="291" cy="176"/>
              </a:xfrm>
              <a:custGeom>
                <a:avLst/>
                <a:gdLst>
                  <a:gd name="txL" fmla="*/ 0 w 291"/>
                  <a:gd name="txT" fmla="*/ 0 h 176"/>
                  <a:gd name="txR" fmla="*/ 291 w 291"/>
                  <a:gd name="txB" fmla="*/ 176 h 176"/>
                </a:gdLst>
                <a:ahLst/>
                <a:cxnLst>
                  <a:cxn ang="0">
                    <a:pos x="0" y="176"/>
                  </a:cxn>
                  <a:cxn ang="0">
                    <a:pos x="291" y="0"/>
                  </a:cxn>
                  <a:cxn ang="0">
                    <a:pos x="0" y="176"/>
                  </a:cxn>
                  <a:cxn ang="0">
                    <a:pos x="0" y="176"/>
                  </a:cxn>
                </a:cxnLst>
                <a:rect l="txL" t="txT" r="txR" b="txB"/>
                <a:pathLst>
                  <a:path w="291" h="176">
                    <a:moveTo>
                      <a:pt x="0" y="176"/>
                    </a:moveTo>
                    <a:lnTo>
                      <a:pt x="291" y="0"/>
                    </a:lnTo>
                    <a:lnTo>
                      <a:pt x="0" y="17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2" name="Freeform 20"/>
              <p:cNvSpPr/>
              <p:nvPr/>
            </p:nvSpPr>
            <p:spPr>
              <a:xfrm>
                <a:off x="2708" y="1195"/>
                <a:ext cx="102" cy="75"/>
              </a:xfrm>
              <a:custGeom>
                <a:avLst/>
                <a:gdLst>
                  <a:gd name="txL" fmla="*/ 0 w 102"/>
                  <a:gd name="txT" fmla="*/ 0 h 75"/>
                  <a:gd name="txR" fmla="*/ 102 w 102"/>
                  <a:gd name="txB" fmla="*/ 75 h 75"/>
                </a:gdLst>
                <a:ahLst/>
                <a:cxnLst>
                  <a:cxn ang="0">
                    <a:pos x="102" y="50"/>
                  </a:cxn>
                  <a:cxn ang="0">
                    <a:pos x="0" y="75"/>
                  </a:cxn>
                  <a:cxn ang="0">
                    <a:pos x="76" y="0"/>
                  </a:cxn>
                  <a:cxn ang="0">
                    <a:pos x="102" y="50"/>
                  </a:cxn>
                  <a:cxn ang="0">
                    <a:pos x="102" y="50"/>
                  </a:cxn>
                </a:cxnLst>
                <a:rect l="txL" t="txT" r="txR" b="txB"/>
                <a:pathLst>
                  <a:path w="102" h="75">
                    <a:moveTo>
                      <a:pt x="102" y="50"/>
                    </a:moveTo>
                    <a:lnTo>
                      <a:pt x="0" y="75"/>
                    </a:lnTo>
                    <a:lnTo>
                      <a:pt x="76" y="0"/>
                    </a:lnTo>
                    <a:lnTo>
                      <a:pt x="102" y="5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3" name="Freeform 21"/>
              <p:cNvSpPr/>
              <p:nvPr/>
            </p:nvSpPr>
            <p:spPr>
              <a:xfrm>
                <a:off x="1685" y="892"/>
                <a:ext cx="1333" cy="2536"/>
              </a:xfrm>
              <a:custGeom>
                <a:avLst/>
                <a:gdLst>
                  <a:gd name="txL" fmla="*/ 0 w 1333"/>
                  <a:gd name="txT" fmla="*/ 0 h 2536"/>
                  <a:gd name="txR" fmla="*/ 1333 w 1333"/>
                  <a:gd name="txB" fmla="*/ 2536 h 2536"/>
                </a:gdLst>
                <a:ahLst/>
                <a:cxnLst>
                  <a:cxn ang="0">
                    <a:pos x="1333" y="2536"/>
                  </a:cxn>
                  <a:cxn ang="0">
                    <a:pos x="265" y="1905"/>
                  </a:cxn>
                  <a:cxn ang="0">
                    <a:pos x="265" y="0"/>
                  </a:cxn>
                  <a:cxn ang="0">
                    <a:pos x="0" y="0"/>
                  </a:cxn>
                  <a:cxn ang="0">
                    <a:pos x="0" y="1905"/>
                  </a:cxn>
                  <a:cxn ang="0">
                    <a:pos x="1074" y="2536"/>
                  </a:cxn>
                  <a:cxn ang="0">
                    <a:pos x="1333" y="2536"/>
                  </a:cxn>
                  <a:cxn ang="0">
                    <a:pos x="1333" y="2536"/>
                  </a:cxn>
                </a:cxnLst>
                <a:rect l="txL" t="txT" r="txR" b="txB"/>
                <a:pathLst>
                  <a:path w="1333" h="2536">
                    <a:moveTo>
                      <a:pt x="1333" y="2536"/>
                    </a:moveTo>
                    <a:lnTo>
                      <a:pt x="265" y="1905"/>
                    </a:lnTo>
                    <a:lnTo>
                      <a:pt x="265" y="0"/>
                    </a:lnTo>
                    <a:lnTo>
                      <a:pt x="0" y="0"/>
                    </a:lnTo>
                    <a:lnTo>
                      <a:pt x="0" y="1905"/>
                    </a:lnTo>
                    <a:lnTo>
                      <a:pt x="1074" y="2536"/>
                    </a:lnTo>
                    <a:lnTo>
                      <a:pt x="1333" y="2536"/>
                    </a:lnTo>
                    <a:close/>
                  </a:path>
                </a:pathLst>
              </a:custGeom>
              <a:solidFill>
                <a:schemeClr val="accent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4" name="Freeform 22"/>
              <p:cNvSpPr/>
              <p:nvPr/>
            </p:nvSpPr>
            <p:spPr>
              <a:xfrm>
                <a:off x="1950" y="2797"/>
                <a:ext cx="1068" cy="631"/>
              </a:xfrm>
              <a:custGeom>
                <a:avLst/>
                <a:gdLst>
                  <a:gd name="txL" fmla="*/ 0 w 1068"/>
                  <a:gd name="txT" fmla="*/ 0 h 631"/>
                  <a:gd name="txR" fmla="*/ 1068 w 1068"/>
                  <a:gd name="txB" fmla="*/ 631 h 631"/>
                </a:gdLst>
                <a:ahLst/>
                <a:cxnLst>
                  <a:cxn ang="0">
                    <a:pos x="1068" y="631"/>
                  </a:cxn>
                  <a:cxn ang="0">
                    <a:pos x="0" y="0"/>
                  </a:cxn>
                  <a:cxn ang="0">
                    <a:pos x="1068" y="631"/>
                  </a:cxn>
                  <a:cxn ang="0">
                    <a:pos x="1068" y="631"/>
                  </a:cxn>
                </a:cxnLst>
                <a:rect l="txL" t="txT" r="txR" b="txB"/>
                <a:pathLst>
                  <a:path w="1068" h="631">
                    <a:moveTo>
                      <a:pt x="1068" y="631"/>
                    </a:moveTo>
                    <a:lnTo>
                      <a:pt x="0" y="0"/>
                    </a:lnTo>
                    <a:lnTo>
                      <a:pt x="1068" y="63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5" name="Freeform 23"/>
              <p:cNvSpPr>
                <a:spLocks noEditPoints="1"/>
              </p:cNvSpPr>
              <p:nvPr/>
            </p:nvSpPr>
            <p:spPr>
              <a:xfrm>
                <a:off x="1950" y="892"/>
                <a:ext cx="1" cy="1905"/>
              </a:xfrm>
              <a:custGeom>
                <a:avLst/>
                <a:gdLst>
                  <a:gd name="txL" fmla="*/ 0 w 1"/>
                  <a:gd name="txT" fmla="*/ 0 h 1905"/>
                  <a:gd name="txR" fmla="*/ 1 w 1"/>
                  <a:gd name="txB" fmla="*/ 1905 h 1905"/>
                </a:gdLst>
                <a:ahLst/>
                <a:cxnLst>
                  <a:cxn ang="0">
                    <a:pos x="0" y="1905"/>
                  </a:cxn>
                  <a:cxn ang="0">
                    <a:pos x="0" y="0"/>
                  </a:cxn>
                  <a:cxn ang="0">
                    <a:pos x="0" y="1905"/>
                  </a:cxn>
                  <a:cxn ang="0">
                    <a:pos x="0" y="1905"/>
                  </a:cxn>
                  <a:cxn ang="0">
                    <a:pos x="0" y="1905"/>
                  </a:cxn>
                  <a:cxn ang="0">
                    <a:pos x="0" y="1905"/>
                  </a:cxn>
                  <a:cxn ang="0">
                    <a:pos x="0" y="1905"/>
                  </a:cxn>
                </a:cxnLst>
                <a:rect l="txL" t="txT" r="txR" b="txB"/>
                <a:pathLst>
                  <a:path w="1" h="1905">
                    <a:moveTo>
                      <a:pt x="0" y="1905"/>
                    </a:moveTo>
                    <a:lnTo>
                      <a:pt x="0" y="0"/>
                    </a:lnTo>
                    <a:lnTo>
                      <a:pt x="0" y="1905"/>
                    </a:lnTo>
                    <a:close/>
                    <a:moveTo>
                      <a:pt x="0" y="1905"/>
                    </a:moveTo>
                    <a:lnTo>
                      <a:pt x="0" y="190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6" name="Freeform 24"/>
              <p:cNvSpPr>
                <a:spLocks noEditPoints="1"/>
              </p:cNvSpPr>
              <p:nvPr/>
            </p:nvSpPr>
            <p:spPr>
              <a:xfrm>
                <a:off x="1685" y="892"/>
                <a:ext cx="265" cy="1"/>
              </a:xfrm>
              <a:custGeom>
                <a:avLst/>
                <a:gdLst>
                  <a:gd name="txL" fmla="*/ 0 w 265"/>
                  <a:gd name="txT" fmla="*/ 0 h 1"/>
                  <a:gd name="txR" fmla="*/ 265 w 265"/>
                  <a:gd name="txB" fmla="*/ 1 h 1"/>
                </a:gdLst>
                <a:ahLst/>
                <a:cxnLst>
                  <a:cxn ang="0">
                    <a:pos x="265" y="0"/>
                  </a:cxn>
                  <a:cxn ang="0">
                    <a:pos x="0" y="0"/>
                  </a:cxn>
                  <a:cxn ang="0">
                    <a:pos x="265" y="0"/>
                  </a:cxn>
                  <a:cxn ang="0">
                    <a:pos x="265" y="0"/>
                  </a:cxn>
                  <a:cxn ang="0">
                    <a:pos x="265" y="0"/>
                  </a:cxn>
                  <a:cxn ang="0">
                    <a:pos x="265" y="0"/>
                  </a:cxn>
                  <a:cxn ang="0">
                    <a:pos x="265" y="0"/>
                  </a:cxn>
                </a:cxnLst>
                <a:rect l="txL" t="txT" r="txR" b="txB"/>
                <a:pathLst>
                  <a:path w="265" h="1">
                    <a:moveTo>
                      <a:pt x="265" y="0"/>
                    </a:moveTo>
                    <a:lnTo>
                      <a:pt x="0" y="0"/>
                    </a:lnTo>
                    <a:lnTo>
                      <a:pt x="265" y="0"/>
                    </a:lnTo>
                    <a:close/>
                    <a:moveTo>
                      <a:pt x="265" y="0"/>
                    </a:moveTo>
                    <a:lnTo>
                      <a:pt x="265"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7" name="Freeform 25"/>
              <p:cNvSpPr>
                <a:spLocks noEditPoints="1"/>
              </p:cNvSpPr>
              <p:nvPr/>
            </p:nvSpPr>
            <p:spPr>
              <a:xfrm>
                <a:off x="1685" y="892"/>
                <a:ext cx="1" cy="1905"/>
              </a:xfrm>
              <a:custGeom>
                <a:avLst/>
                <a:gdLst>
                  <a:gd name="txL" fmla="*/ 0 w 1"/>
                  <a:gd name="txT" fmla="*/ 0 h 1905"/>
                  <a:gd name="txR" fmla="*/ 1 w 1"/>
                  <a:gd name="txB" fmla="*/ 1905 h 1905"/>
                </a:gdLst>
                <a:ahLst/>
                <a:cxnLst>
                  <a:cxn ang="0">
                    <a:pos x="0" y="0"/>
                  </a:cxn>
                  <a:cxn ang="0">
                    <a:pos x="0" y="1905"/>
                  </a:cxn>
                  <a:cxn ang="0">
                    <a:pos x="0" y="0"/>
                  </a:cxn>
                  <a:cxn ang="0">
                    <a:pos x="0" y="0"/>
                  </a:cxn>
                  <a:cxn ang="0">
                    <a:pos x="0" y="0"/>
                  </a:cxn>
                  <a:cxn ang="0">
                    <a:pos x="0" y="0"/>
                  </a:cxn>
                  <a:cxn ang="0">
                    <a:pos x="0" y="0"/>
                  </a:cxn>
                </a:cxnLst>
                <a:rect l="txL" t="txT" r="txR" b="txB"/>
                <a:pathLst>
                  <a:path w="1" h="1905">
                    <a:moveTo>
                      <a:pt x="0" y="0"/>
                    </a:moveTo>
                    <a:lnTo>
                      <a:pt x="0" y="1905"/>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8" name="Freeform 26"/>
              <p:cNvSpPr>
                <a:spLocks noEditPoints="1"/>
              </p:cNvSpPr>
              <p:nvPr/>
            </p:nvSpPr>
            <p:spPr>
              <a:xfrm>
                <a:off x="1685" y="2797"/>
                <a:ext cx="1074" cy="631"/>
              </a:xfrm>
              <a:custGeom>
                <a:avLst/>
                <a:gdLst>
                  <a:gd name="txL" fmla="*/ 0 w 1074"/>
                  <a:gd name="txT" fmla="*/ 0 h 631"/>
                  <a:gd name="txR" fmla="*/ 1074 w 1074"/>
                  <a:gd name="txB" fmla="*/ 631 h 631"/>
                </a:gdLst>
                <a:ahLst/>
                <a:cxnLst>
                  <a:cxn ang="0">
                    <a:pos x="0" y="0"/>
                  </a:cxn>
                  <a:cxn ang="0">
                    <a:pos x="1074" y="631"/>
                  </a:cxn>
                  <a:cxn ang="0">
                    <a:pos x="0" y="0"/>
                  </a:cxn>
                  <a:cxn ang="0">
                    <a:pos x="0" y="0"/>
                  </a:cxn>
                  <a:cxn ang="0">
                    <a:pos x="0" y="0"/>
                  </a:cxn>
                  <a:cxn ang="0">
                    <a:pos x="0" y="0"/>
                  </a:cxn>
                  <a:cxn ang="0">
                    <a:pos x="0" y="0"/>
                  </a:cxn>
                </a:cxnLst>
                <a:rect l="txL" t="txT" r="txR" b="txB"/>
                <a:pathLst>
                  <a:path w="1074" h="631">
                    <a:moveTo>
                      <a:pt x="0" y="0"/>
                    </a:moveTo>
                    <a:lnTo>
                      <a:pt x="1074" y="631"/>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29" name="Freeform 27"/>
              <p:cNvSpPr>
                <a:spLocks noEditPoints="1"/>
              </p:cNvSpPr>
              <p:nvPr/>
            </p:nvSpPr>
            <p:spPr>
              <a:xfrm>
                <a:off x="2759" y="3428"/>
                <a:ext cx="259" cy="1"/>
              </a:xfrm>
              <a:custGeom>
                <a:avLst/>
                <a:gdLst>
                  <a:gd name="txL" fmla="*/ 0 w 259"/>
                  <a:gd name="txT" fmla="*/ 0 h 1"/>
                  <a:gd name="txR" fmla="*/ 259 w 259"/>
                  <a:gd name="txB" fmla="*/ 1 h 1"/>
                </a:gdLst>
                <a:ahLst/>
                <a:cxnLst>
                  <a:cxn ang="0">
                    <a:pos x="0" y="0"/>
                  </a:cxn>
                  <a:cxn ang="0">
                    <a:pos x="259" y="0"/>
                  </a:cxn>
                  <a:cxn ang="0">
                    <a:pos x="0" y="0"/>
                  </a:cxn>
                  <a:cxn ang="0">
                    <a:pos x="0" y="0"/>
                  </a:cxn>
                  <a:cxn ang="0">
                    <a:pos x="0" y="0"/>
                  </a:cxn>
                  <a:cxn ang="0">
                    <a:pos x="0" y="0"/>
                  </a:cxn>
                  <a:cxn ang="0">
                    <a:pos x="0" y="0"/>
                  </a:cxn>
                </a:cxnLst>
                <a:rect l="txL" t="txT" r="txR" b="txB"/>
                <a:pathLst>
                  <a:path w="259" h="1">
                    <a:moveTo>
                      <a:pt x="0" y="0"/>
                    </a:moveTo>
                    <a:lnTo>
                      <a:pt x="259"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30" name="Freeform 28"/>
              <p:cNvSpPr/>
              <p:nvPr/>
            </p:nvSpPr>
            <p:spPr>
              <a:xfrm>
                <a:off x="3018" y="342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31" name="Line 29"/>
              <p:cNvSpPr/>
              <p:nvPr/>
            </p:nvSpPr>
            <p:spPr>
              <a:xfrm flipH="1">
                <a:off x="1685" y="2797"/>
                <a:ext cx="265" cy="1"/>
              </a:xfrm>
              <a:prstGeom prst="line">
                <a:avLst/>
              </a:prstGeom>
              <a:ln w="0" cap="flat" cmpd="sng">
                <a:solidFill>
                  <a:schemeClr val="tx1"/>
                </a:solidFill>
                <a:prstDash val="solid"/>
                <a:headEnd type="none" w="med" len="med"/>
                <a:tailEnd type="none" w="med" len="med"/>
              </a:ln>
            </p:spPr>
          </p:sp>
          <p:sp>
            <p:nvSpPr>
              <p:cNvPr id="19532" name="Freeform 30"/>
              <p:cNvSpPr/>
              <p:nvPr/>
            </p:nvSpPr>
            <p:spPr>
              <a:xfrm>
                <a:off x="1685" y="2797"/>
                <a:ext cx="265" cy="1"/>
              </a:xfrm>
              <a:custGeom>
                <a:avLst/>
                <a:gdLst>
                  <a:gd name="txL" fmla="*/ 0 w 265"/>
                  <a:gd name="txT" fmla="*/ 0 h 1"/>
                  <a:gd name="txR" fmla="*/ 265 w 265"/>
                  <a:gd name="txB" fmla="*/ 1 h 1"/>
                </a:gdLst>
                <a:ahLst/>
                <a:cxnLst>
                  <a:cxn ang="0">
                    <a:pos x="265" y="0"/>
                  </a:cxn>
                  <a:cxn ang="0">
                    <a:pos x="0" y="0"/>
                  </a:cxn>
                  <a:cxn ang="0">
                    <a:pos x="265" y="0"/>
                  </a:cxn>
                  <a:cxn ang="0">
                    <a:pos x="265" y="0"/>
                  </a:cxn>
                </a:cxnLst>
                <a:rect l="txL" t="txT" r="txR" b="txB"/>
                <a:pathLst>
                  <a:path w="265" h="1">
                    <a:moveTo>
                      <a:pt x="265" y="0"/>
                    </a:moveTo>
                    <a:lnTo>
                      <a:pt x="0" y="0"/>
                    </a:lnTo>
                    <a:lnTo>
                      <a:pt x="265"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33" name="Freeform 31"/>
              <p:cNvSpPr/>
              <p:nvPr/>
            </p:nvSpPr>
            <p:spPr>
              <a:xfrm>
                <a:off x="1950" y="892"/>
                <a:ext cx="1068" cy="2542"/>
              </a:xfrm>
              <a:custGeom>
                <a:avLst/>
                <a:gdLst>
                  <a:gd name="txL" fmla="*/ 0 w 1068"/>
                  <a:gd name="txT" fmla="*/ 0 h 2542"/>
                  <a:gd name="txR" fmla="*/ 1068 w 1068"/>
                  <a:gd name="txB" fmla="*/ 2542 h 2542"/>
                </a:gdLst>
                <a:ahLst/>
                <a:cxnLst>
                  <a:cxn ang="0">
                    <a:pos x="1068" y="2542"/>
                  </a:cxn>
                  <a:cxn ang="0">
                    <a:pos x="1068" y="631"/>
                  </a:cxn>
                  <a:cxn ang="0">
                    <a:pos x="0" y="0"/>
                  </a:cxn>
                  <a:cxn ang="0">
                    <a:pos x="0" y="1905"/>
                  </a:cxn>
                  <a:cxn ang="0">
                    <a:pos x="1068" y="2542"/>
                  </a:cxn>
                  <a:cxn ang="0">
                    <a:pos x="1068" y="2542"/>
                  </a:cxn>
                </a:cxnLst>
                <a:rect l="txL" t="txT" r="txR" b="txB"/>
                <a:pathLst>
                  <a:path w="1068" h="2542">
                    <a:moveTo>
                      <a:pt x="1068" y="2542"/>
                    </a:moveTo>
                    <a:lnTo>
                      <a:pt x="1068" y="631"/>
                    </a:lnTo>
                    <a:lnTo>
                      <a:pt x="0" y="0"/>
                    </a:lnTo>
                    <a:lnTo>
                      <a:pt x="0" y="1905"/>
                    </a:lnTo>
                    <a:lnTo>
                      <a:pt x="1068" y="2542"/>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34" name="Freeform 32"/>
              <p:cNvSpPr/>
              <p:nvPr/>
            </p:nvSpPr>
            <p:spPr>
              <a:xfrm>
                <a:off x="3018" y="1523"/>
                <a:ext cx="1" cy="1911"/>
              </a:xfrm>
              <a:custGeom>
                <a:avLst/>
                <a:gdLst>
                  <a:gd name="txL" fmla="*/ 0 w 1"/>
                  <a:gd name="txT" fmla="*/ 0 h 1911"/>
                  <a:gd name="txR" fmla="*/ 1 w 1"/>
                  <a:gd name="txB" fmla="*/ 1911 h 1911"/>
                </a:gdLst>
                <a:ahLst/>
                <a:cxnLst>
                  <a:cxn ang="0">
                    <a:pos x="0" y="1911"/>
                  </a:cxn>
                  <a:cxn ang="0">
                    <a:pos x="0" y="0"/>
                  </a:cxn>
                  <a:cxn ang="0">
                    <a:pos x="0" y="1911"/>
                  </a:cxn>
                  <a:cxn ang="0">
                    <a:pos x="0" y="1911"/>
                  </a:cxn>
                </a:cxnLst>
                <a:rect l="txL" t="txT" r="txR" b="txB"/>
                <a:pathLst>
                  <a:path w="1" h="1911">
                    <a:moveTo>
                      <a:pt x="0" y="1911"/>
                    </a:moveTo>
                    <a:lnTo>
                      <a:pt x="0" y="0"/>
                    </a:lnTo>
                    <a:lnTo>
                      <a:pt x="0" y="191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35" name="Freeform 33"/>
              <p:cNvSpPr>
                <a:spLocks noEditPoints="1"/>
              </p:cNvSpPr>
              <p:nvPr/>
            </p:nvSpPr>
            <p:spPr>
              <a:xfrm>
                <a:off x="1950" y="892"/>
                <a:ext cx="1068" cy="631"/>
              </a:xfrm>
              <a:custGeom>
                <a:avLst/>
                <a:gdLst>
                  <a:gd name="txL" fmla="*/ 0 w 1068"/>
                  <a:gd name="txT" fmla="*/ 0 h 631"/>
                  <a:gd name="txR" fmla="*/ 1068 w 1068"/>
                  <a:gd name="txB" fmla="*/ 631 h 631"/>
                </a:gdLst>
                <a:ahLst/>
                <a:cxnLst>
                  <a:cxn ang="0">
                    <a:pos x="1068" y="631"/>
                  </a:cxn>
                  <a:cxn ang="0">
                    <a:pos x="0" y="0"/>
                  </a:cxn>
                  <a:cxn ang="0">
                    <a:pos x="1068" y="631"/>
                  </a:cxn>
                  <a:cxn ang="0">
                    <a:pos x="1068" y="631"/>
                  </a:cxn>
                  <a:cxn ang="0">
                    <a:pos x="1068" y="631"/>
                  </a:cxn>
                  <a:cxn ang="0">
                    <a:pos x="1068" y="631"/>
                  </a:cxn>
                  <a:cxn ang="0">
                    <a:pos x="1068" y="631"/>
                  </a:cxn>
                </a:cxnLst>
                <a:rect l="txL" t="txT" r="txR" b="txB"/>
                <a:pathLst>
                  <a:path w="1068" h="631">
                    <a:moveTo>
                      <a:pt x="1068" y="631"/>
                    </a:moveTo>
                    <a:lnTo>
                      <a:pt x="0" y="0"/>
                    </a:lnTo>
                    <a:lnTo>
                      <a:pt x="1068" y="631"/>
                    </a:lnTo>
                    <a:close/>
                    <a:moveTo>
                      <a:pt x="1068" y="631"/>
                    </a:moveTo>
                    <a:lnTo>
                      <a:pt x="1068" y="63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36" name="Freeform 34"/>
              <p:cNvSpPr>
                <a:spLocks noEditPoints="1"/>
              </p:cNvSpPr>
              <p:nvPr/>
            </p:nvSpPr>
            <p:spPr>
              <a:xfrm>
                <a:off x="1950" y="892"/>
                <a:ext cx="1" cy="1905"/>
              </a:xfrm>
              <a:custGeom>
                <a:avLst/>
                <a:gdLst>
                  <a:gd name="txL" fmla="*/ 0 w 1"/>
                  <a:gd name="txT" fmla="*/ 0 h 1905"/>
                  <a:gd name="txR" fmla="*/ 1 w 1"/>
                  <a:gd name="txB" fmla="*/ 1905 h 1905"/>
                </a:gdLst>
                <a:ahLst/>
                <a:cxnLst>
                  <a:cxn ang="0">
                    <a:pos x="0" y="0"/>
                  </a:cxn>
                  <a:cxn ang="0">
                    <a:pos x="0" y="1905"/>
                  </a:cxn>
                  <a:cxn ang="0">
                    <a:pos x="0" y="0"/>
                  </a:cxn>
                  <a:cxn ang="0">
                    <a:pos x="0" y="0"/>
                  </a:cxn>
                  <a:cxn ang="0">
                    <a:pos x="0" y="0"/>
                  </a:cxn>
                  <a:cxn ang="0">
                    <a:pos x="0" y="0"/>
                  </a:cxn>
                  <a:cxn ang="0">
                    <a:pos x="0" y="0"/>
                  </a:cxn>
                </a:cxnLst>
                <a:rect l="txL" t="txT" r="txR" b="txB"/>
                <a:pathLst>
                  <a:path w="1" h="1905">
                    <a:moveTo>
                      <a:pt x="0" y="0"/>
                    </a:moveTo>
                    <a:lnTo>
                      <a:pt x="0" y="1905"/>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37" name="Freeform 35"/>
              <p:cNvSpPr>
                <a:spLocks noEditPoints="1"/>
              </p:cNvSpPr>
              <p:nvPr/>
            </p:nvSpPr>
            <p:spPr>
              <a:xfrm>
                <a:off x="1950" y="2797"/>
                <a:ext cx="1068" cy="637"/>
              </a:xfrm>
              <a:custGeom>
                <a:avLst/>
                <a:gdLst>
                  <a:gd name="txL" fmla="*/ 0 w 1068"/>
                  <a:gd name="txT" fmla="*/ 0 h 637"/>
                  <a:gd name="txR" fmla="*/ 1068 w 1068"/>
                  <a:gd name="txB" fmla="*/ 637 h 637"/>
                </a:gdLst>
                <a:ahLst/>
                <a:cxnLst>
                  <a:cxn ang="0">
                    <a:pos x="0" y="0"/>
                  </a:cxn>
                  <a:cxn ang="0">
                    <a:pos x="1068" y="637"/>
                  </a:cxn>
                  <a:cxn ang="0">
                    <a:pos x="0" y="0"/>
                  </a:cxn>
                  <a:cxn ang="0">
                    <a:pos x="0" y="0"/>
                  </a:cxn>
                  <a:cxn ang="0">
                    <a:pos x="0" y="0"/>
                  </a:cxn>
                  <a:cxn ang="0">
                    <a:pos x="0" y="0"/>
                  </a:cxn>
                  <a:cxn ang="0">
                    <a:pos x="0" y="0"/>
                  </a:cxn>
                </a:cxnLst>
                <a:rect l="txL" t="txT" r="txR" b="txB"/>
                <a:pathLst>
                  <a:path w="1068" h="637">
                    <a:moveTo>
                      <a:pt x="0" y="0"/>
                    </a:moveTo>
                    <a:lnTo>
                      <a:pt x="1068" y="637"/>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38" name="Freeform 36"/>
              <p:cNvSpPr/>
              <p:nvPr/>
            </p:nvSpPr>
            <p:spPr>
              <a:xfrm>
                <a:off x="3018" y="3434"/>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39" name="Freeform 37"/>
              <p:cNvSpPr/>
              <p:nvPr/>
            </p:nvSpPr>
            <p:spPr>
              <a:xfrm>
                <a:off x="1982" y="848"/>
                <a:ext cx="1150" cy="2624"/>
              </a:xfrm>
              <a:custGeom>
                <a:avLst/>
                <a:gdLst>
                  <a:gd name="txL" fmla="*/ 0 w 1150"/>
                  <a:gd name="txT" fmla="*/ 0 h 2624"/>
                  <a:gd name="txR" fmla="*/ 1150 w 1150"/>
                  <a:gd name="txB" fmla="*/ 2624 h 2624"/>
                </a:gdLst>
                <a:ahLst/>
                <a:cxnLst>
                  <a:cxn ang="0">
                    <a:pos x="1150" y="2624"/>
                  </a:cxn>
                  <a:cxn ang="0">
                    <a:pos x="1150" y="681"/>
                  </a:cxn>
                  <a:cxn ang="0">
                    <a:pos x="0" y="0"/>
                  </a:cxn>
                  <a:cxn ang="0">
                    <a:pos x="0" y="1942"/>
                  </a:cxn>
                  <a:cxn ang="0">
                    <a:pos x="1150" y="2624"/>
                  </a:cxn>
                  <a:cxn ang="0">
                    <a:pos x="1150" y="2624"/>
                  </a:cxn>
                </a:cxnLst>
                <a:rect l="txL" t="txT" r="txR" b="txB"/>
                <a:pathLst>
                  <a:path w="1150" h="2624">
                    <a:moveTo>
                      <a:pt x="1150" y="2624"/>
                    </a:moveTo>
                    <a:lnTo>
                      <a:pt x="1150" y="681"/>
                    </a:lnTo>
                    <a:lnTo>
                      <a:pt x="0" y="0"/>
                    </a:lnTo>
                    <a:lnTo>
                      <a:pt x="0" y="1942"/>
                    </a:lnTo>
                    <a:lnTo>
                      <a:pt x="1150" y="2624"/>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40" name="Freeform 38"/>
              <p:cNvSpPr/>
              <p:nvPr/>
            </p:nvSpPr>
            <p:spPr>
              <a:xfrm>
                <a:off x="3132" y="1529"/>
                <a:ext cx="1" cy="1943"/>
              </a:xfrm>
              <a:custGeom>
                <a:avLst/>
                <a:gdLst>
                  <a:gd name="txL" fmla="*/ 0 w 1"/>
                  <a:gd name="txT" fmla="*/ 0 h 1943"/>
                  <a:gd name="txR" fmla="*/ 1 w 1"/>
                  <a:gd name="txB" fmla="*/ 1943 h 1943"/>
                </a:gdLst>
                <a:ahLst/>
                <a:cxnLst>
                  <a:cxn ang="0">
                    <a:pos x="0" y="1943"/>
                  </a:cxn>
                  <a:cxn ang="0">
                    <a:pos x="0" y="0"/>
                  </a:cxn>
                  <a:cxn ang="0">
                    <a:pos x="0" y="1943"/>
                  </a:cxn>
                  <a:cxn ang="0">
                    <a:pos x="0" y="1943"/>
                  </a:cxn>
                </a:cxnLst>
                <a:rect l="txL" t="txT" r="txR" b="txB"/>
                <a:pathLst>
                  <a:path w="1" h="1943">
                    <a:moveTo>
                      <a:pt x="0" y="1943"/>
                    </a:moveTo>
                    <a:lnTo>
                      <a:pt x="0" y="0"/>
                    </a:lnTo>
                    <a:lnTo>
                      <a:pt x="0" y="194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41" name="Freeform 39"/>
              <p:cNvSpPr>
                <a:spLocks noEditPoints="1"/>
              </p:cNvSpPr>
              <p:nvPr/>
            </p:nvSpPr>
            <p:spPr>
              <a:xfrm>
                <a:off x="1982" y="848"/>
                <a:ext cx="1150" cy="681"/>
              </a:xfrm>
              <a:custGeom>
                <a:avLst/>
                <a:gdLst>
                  <a:gd name="txL" fmla="*/ 0 w 1150"/>
                  <a:gd name="txT" fmla="*/ 0 h 681"/>
                  <a:gd name="txR" fmla="*/ 1150 w 1150"/>
                  <a:gd name="txB" fmla="*/ 681 h 681"/>
                </a:gdLst>
                <a:ahLst/>
                <a:cxnLst>
                  <a:cxn ang="0">
                    <a:pos x="1150" y="681"/>
                  </a:cxn>
                  <a:cxn ang="0">
                    <a:pos x="0" y="0"/>
                  </a:cxn>
                  <a:cxn ang="0">
                    <a:pos x="1150" y="681"/>
                  </a:cxn>
                  <a:cxn ang="0">
                    <a:pos x="1150" y="681"/>
                  </a:cxn>
                  <a:cxn ang="0">
                    <a:pos x="1150" y="681"/>
                  </a:cxn>
                  <a:cxn ang="0">
                    <a:pos x="1150" y="681"/>
                  </a:cxn>
                  <a:cxn ang="0">
                    <a:pos x="1150" y="681"/>
                  </a:cxn>
                </a:cxnLst>
                <a:rect l="txL" t="txT" r="txR" b="txB"/>
                <a:pathLst>
                  <a:path w="1150" h="681">
                    <a:moveTo>
                      <a:pt x="1150" y="681"/>
                    </a:moveTo>
                    <a:lnTo>
                      <a:pt x="0" y="0"/>
                    </a:lnTo>
                    <a:lnTo>
                      <a:pt x="1150" y="681"/>
                    </a:lnTo>
                    <a:close/>
                    <a:moveTo>
                      <a:pt x="1150" y="681"/>
                    </a:moveTo>
                    <a:lnTo>
                      <a:pt x="1150" y="68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42" name="Freeform 40"/>
              <p:cNvSpPr>
                <a:spLocks noEditPoints="1"/>
              </p:cNvSpPr>
              <p:nvPr/>
            </p:nvSpPr>
            <p:spPr>
              <a:xfrm>
                <a:off x="1982" y="848"/>
                <a:ext cx="1" cy="1942"/>
              </a:xfrm>
              <a:custGeom>
                <a:avLst/>
                <a:gdLst>
                  <a:gd name="txL" fmla="*/ 0 w 1"/>
                  <a:gd name="txT" fmla="*/ 0 h 1942"/>
                  <a:gd name="txR" fmla="*/ 1 w 1"/>
                  <a:gd name="txB" fmla="*/ 1942 h 1942"/>
                </a:gdLst>
                <a:ahLst/>
                <a:cxnLst>
                  <a:cxn ang="0">
                    <a:pos x="0" y="0"/>
                  </a:cxn>
                  <a:cxn ang="0">
                    <a:pos x="0" y="1942"/>
                  </a:cxn>
                  <a:cxn ang="0">
                    <a:pos x="0" y="0"/>
                  </a:cxn>
                  <a:cxn ang="0">
                    <a:pos x="0" y="0"/>
                  </a:cxn>
                  <a:cxn ang="0">
                    <a:pos x="0" y="0"/>
                  </a:cxn>
                  <a:cxn ang="0">
                    <a:pos x="0" y="0"/>
                  </a:cxn>
                  <a:cxn ang="0">
                    <a:pos x="0" y="0"/>
                  </a:cxn>
                </a:cxnLst>
                <a:rect l="txL" t="txT" r="txR" b="txB"/>
                <a:pathLst>
                  <a:path w="1" h="1942">
                    <a:moveTo>
                      <a:pt x="0" y="0"/>
                    </a:moveTo>
                    <a:lnTo>
                      <a:pt x="0" y="194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43" name="Freeform 41"/>
              <p:cNvSpPr>
                <a:spLocks noEditPoints="1"/>
              </p:cNvSpPr>
              <p:nvPr/>
            </p:nvSpPr>
            <p:spPr>
              <a:xfrm>
                <a:off x="1982" y="2790"/>
                <a:ext cx="1150" cy="682"/>
              </a:xfrm>
              <a:custGeom>
                <a:avLst/>
                <a:gdLst>
                  <a:gd name="txL" fmla="*/ 0 w 1150"/>
                  <a:gd name="txT" fmla="*/ 0 h 682"/>
                  <a:gd name="txR" fmla="*/ 1150 w 1150"/>
                  <a:gd name="txB" fmla="*/ 682 h 682"/>
                </a:gdLst>
                <a:ahLst/>
                <a:cxnLst>
                  <a:cxn ang="0">
                    <a:pos x="0" y="0"/>
                  </a:cxn>
                  <a:cxn ang="0">
                    <a:pos x="1150" y="682"/>
                  </a:cxn>
                  <a:cxn ang="0">
                    <a:pos x="0" y="0"/>
                  </a:cxn>
                  <a:cxn ang="0">
                    <a:pos x="0" y="0"/>
                  </a:cxn>
                  <a:cxn ang="0">
                    <a:pos x="0" y="0"/>
                  </a:cxn>
                  <a:cxn ang="0">
                    <a:pos x="0" y="0"/>
                  </a:cxn>
                  <a:cxn ang="0">
                    <a:pos x="0" y="0"/>
                  </a:cxn>
                </a:cxnLst>
                <a:rect l="txL" t="txT" r="txR" b="txB"/>
                <a:pathLst>
                  <a:path w="1150" h="682">
                    <a:moveTo>
                      <a:pt x="0" y="0"/>
                    </a:moveTo>
                    <a:lnTo>
                      <a:pt x="1150" y="682"/>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44" name="Freeform 42"/>
              <p:cNvSpPr/>
              <p:nvPr/>
            </p:nvSpPr>
            <p:spPr>
              <a:xfrm>
                <a:off x="3132" y="3472"/>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45" name="Line 43"/>
              <p:cNvSpPr/>
              <p:nvPr/>
            </p:nvSpPr>
            <p:spPr>
              <a:xfrm>
                <a:off x="2677" y="3516"/>
                <a:ext cx="1" cy="221"/>
              </a:xfrm>
              <a:prstGeom prst="line">
                <a:avLst/>
              </a:prstGeom>
              <a:ln w="0" cap="flat" cmpd="sng">
                <a:solidFill>
                  <a:schemeClr val="tx1"/>
                </a:solidFill>
                <a:prstDash val="solid"/>
                <a:headEnd type="none" w="med" len="med"/>
                <a:tailEnd type="none" w="med" len="med"/>
              </a:ln>
            </p:spPr>
          </p:sp>
          <p:sp>
            <p:nvSpPr>
              <p:cNvPr id="19546" name="Freeform 44"/>
              <p:cNvSpPr/>
              <p:nvPr/>
            </p:nvSpPr>
            <p:spPr>
              <a:xfrm>
                <a:off x="2677" y="3516"/>
                <a:ext cx="1" cy="221"/>
              </a:xfrm>
              <a:custGeom>
                <a:avLst/>
                <a:gdLst>
                  <a:gd name="txL" fmla="*/ 0 w 1"/>
                  <a:gd name="txT" fmla="*/ 0 h 221"/>
                  <a:gd name="txR" fmla="*/ 1 w 1"/>
                  <a:gd name="txB" fmla="*/ 221 h 221"/>
                </a:gdLst>
                <a:ahLst/>
                <a:cxnLst>
                  <a:cxn ang="0">
                    <a:pos x="0" y="0"/>
                  </a:cxn>
                  <a:cxn ang="0">
                    <a:pos x="0" y="221"/>
                  </a:cxn>
                  <a:cxn ang="0">
                    <a:pos x="0" y="0"/>
                  </a:cxn>
                  <a:cxn ang="0">
                    <a:pos x="0" y="0"/>
                  </a:cxn>
                </a:cxnLst>
                <a:rect l="txL" t="txT" r="txR" b="txB"/>
                <a:pathLst>
                  <a:path w="1" h="221">
                    <a:moveTo>
                      <a:pt x="0" y="0"/>
                    </a:moveTo>
                    <a:lnTo>
                      <a:pt x="0" y="221"/>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47" name="Line 45"/>
              <p:cNvSpPr/>
              <p:nvPr/>
            </p:nvSpPr>
            <p:spPr>
              <a:xfrm flipV="1">
                <a:off x="3138" y="3516"/>
                <a:ext cx="1" cy="221"/>
              </a:xfrm>
              <a:prstGeom prst="line">
                <a:avLst/>
              </a:prstGeom>
              <a:ln w="0" cap="flat" cmpd="sng">
                <a:solidFill>
                  <a:schemeClr val="tx1"/>
                </a:solidFill>
                <a:prstDash val="solid"/>
                <a:headEnd type="none" w="med" len="med"/>
                <a:tailEnd type="none" w="med" len="med"/>
              </a:ln>
            </p:spPr>
          </p:sp>
          <p:sp>
            <p:nvSpPr>
              <p:cNvPr id="19548" name="Freeform 46"/>
              <p:cNvSpPr/>
              <p:nvPr/>
            </p:nvSpPr>
            <p:spPr>
              <a:xfrm>
                <a:off x="3138" y="3516"/>
                <a:ext cx="1" cy="221"/>
              </a:xfrm>
              <a:custGeom>
                <a:avLst/>
                <a:gdLst>
                  <a:gd name="txL" fmla="*/ 0 w 1"/>
                  <a:gd name="txT" fmla="*/ 0 h 221"/>
                  <a:gd name="txR" fmla="*/ 1 w 1"/>
                  <a:gd name="txB" fmla="*/ 221 h 221"/>
                </a:gdLst>
                <a:ahLst/>
                <a:cxnLst>
                  <a:cxn ang="0">
                    <a:pos x="0" y="221"/>
                  </a:cxn>
                  <a:cxn ang="0">
                    <a:pos x="0" y="0"/>
                  </a:cxn>
                  <a:cxn ang="0">
                    <a:pos x="0" y="221"/>
                  </a:cxn>
                  <a:cxn ang="0">
                    <a:pos x="0" y="221"/>
                  </a:cxn>
                </a:cxnLst>
                <a:rect l="txL" t="txT" r="txR" b="txB"/>
                <a:pathLst>
                  <a:path w="1" h="221">
                    <a:moveTo>
                      <a:pt x="0" y="221"/>
                    </a:moveTo>
                    <a:lnTo>
                      <a:pt x="0" y="0"/>
                    </a:lnTo>
                    <a:lnTo>
                      <a:pt x="0" y="22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49" name="Freeform 47"/>
              <p:cNvSpPr/>
              <p:nvPr/>
            </p:nvSpPr>
            <p:spPr>
              <a:xfrm>
                <a:off x="3568" y="2090"/>
                <a:ext cx="82" cy="82"/>
              </a:xfrm>
              <a:custGeom>
                <a:avLst/>
                <a:gdLst>
                  <a:gd name="txL" fmla="*/ 0 w 82"/>
                  <a:gd name="txT" fmla="*/ 0 h 82"/>
                  <a:gd name="txR" fmla="*/ 82 w 82"/>
                  <a:gd name="txB" fmla="*/ 82 h 82"/>
                </a:gdLst>
                <a:ahLst/>
                <a:cxnLst>
                  <a:cxn ang="0">
                    <a:pos x="44" y="82"/>
                  </a:cxn>
                  <a:cxn ang="0">
                    <a:pos x="56" y="82"/>
                  </a:cxn>
                  <a:cxn ang="0">
                    <a:pos x="69" y="70"/>
                  </a:cxn>
                  <a:cxn ang="0">
                    <a:pos x="82" y="57"/>
                  </a:cxn>
                  <a:cxn ang="0">
                    <a:pos x="82" y="44"/>
                  </a:cxn>
                  <a:cxn ang="0">
                    <a:pos x="82" y="25"/>
                  </a:cxn>
                  <a:cxn ang="0">
                    <a:pos x="69" y="13"/>
                  </a:cxn>
                  <a:cxn ang="0">
                    <a:pos x="56" y="7"/>
                  </a:cxn>
                  <a:cxn ang="0">
                    <a:pos x="44" y="0"/>
                  </a:cxn>
                  <a:cxn ang="0">
                    <a:pos x="25" y="7"/>
                  </a:cxn>
                  <a:cxn ang="0">
                    <a:pos x="12" y="13"/>
                  </a:cxn>
                  <a:cxn ang="0">
                    <a:pos x="6" y="25"/>
                  </a:cxn>
                  <a:cxn ang="0">
                    <a:pos x="0" y="44"/>
                  </a:cxn>
                  <a:cxn ang="0">
                    <a:pos x="6" y="57"/>
                  </a:cxn>
                  <a:cxn ang="0">
                    <a:pos x="12" y="70"/>
                  </a:cxn>
                  <a:cxn ang="0">
                    <a:pos x="25" y="82"/>
                  </a:cxn>
                  <a:cxn ang="0">
                    <a:pos x="44" y="82"/>
                  </a:cxn>
                  <a:cxn ang="0">
                    <a:pos x="44" y="82"/>
                  </a:cxn>
                </a:cxnLst>
                <a:rect l="txL" t="txT" r="txR" b="txB"/>
                <a:pathLst>
                  <a:path w="82" h="82">
                    <a:moveTo>
                      <a:pt x="44" y="82"/>
                    </a:moveTo>
                    <a:lnTo>
                      <a:pt x="56" y="82"/>
                    </a:lnTo>
                    <a:lnTo>
                      <a:pt x="69" y="70"/>
                    </a:lnTo>
                    <a:lnTo>
                      <a:pt x="82" y="57"/>
                    </a:lnTo>
                    <a:lnTo>
                      <a:pt x="82" y="44"/>
                    </a:lnTo>
                    <a:lnTo>
                      <a:pt x="82" y="25"/>
                    </a:lnTo>
                    <a:lnTo>
                      <a:pt x="69" y="13"/>
                    </a:lnTo>
                    <a:lnTo>
                      <a:pt x="56" y="7"/>
                    </a:lnTo>
                    <a:lnTo>
                      <a:pt x="44" y="0"/>
                    </a:lnTo>
                    <a:lnTo>
                      <a:pt x="25" y="7"/>
                    </a:lnTo>
                    <a:lnTo>
                      <a:pt x="12" y="13"/>
                    </a:lnTo>
                    <a:lnTo>
                      <a:pt x="6" y="25"/>
                    </a:lnTo>
                    <a:lnTo>
                      <a:pt x="0" y="44"/>
                    </a:lnTo>
                    <a:lnTo>
                      <a:pt x="6" y="57"/>
                    </a:lnTo>
                    <a:lnTo>
                      <a:pt x="12" y="70"/>
                    </a:lnTo>
                    <a:lnTo>
                      <a:pt x="25" y="82"/>
                    </a:lnTo>
                    <a:lnTo>
                      <a:pt x="44" y="8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0" name="Freeform 48"/>
              <p:cNvSpPr/>
              <p:nvPr/>
            </p:nvSpPr>
            <p:spPr>
              <a:xfrm>
                <a:off x="2595" y="2078"/>
                <a:ext cx="57" cy="107"/>
              </a:xfrm>
              <a:custGeom>
                <a:avLst/>
                <a:gdLst>
                  <a:gd name="txL" fmla="*/ 0 w 57"/>
                  <a:gd name="txT" fmla="*/ 0 h 107"/>
                  <a:gd name="txR" fmla="*/ 57 w 57"/>
                  <a:gd name="txB" fmla="*/ 107 h 107"/>
                </a:gdLst>
                <a:ahLst/>
                <a:cxnLst>
                  <a:cxn ang="0">
                    <a:pos x="44" y="107"/>
                  </a:cxn>
                  <a:cxn ang="0">
                    <a:pos x="50" y="101"/>
                  </a:cxn>
                  <a:cxn ang="0">
                    <a:pos x="57" y="82"/>
                  </a:cxn>
                  <a:cxn ang="0">
                    <a:pos x="57" y="37"/>
                  </a:cxn>
                  <a:cxn ang="0">
                    <a:pos x="44" y="19"/>
                  </a:cxn>
                  <a:cxn ang="0">
                    <a:pos x="38" y="6"/>
                  </a:cxn>
                  <a:cxn ang="0">
                    <a:pos x="25" y="0"/>
                  </a:cxn>
                  <a:cxn ang="0">
                    <a:pos x="12" y="0"/>
                  </a:cxn>
                  <a:cxn ang="0">
                    <a:pos x="6" y="6"/>
                  </a:cxn>
                  <a:cxn ang="0">
                    <a:pos x="0" y="25"/>
                  </a:cxn>
                  <a:cxn ang="0">
                    <a:pos x="0" y="44"/>
                  </a:cxn>
                  <a:cxn ang="0">
                    <a:pos x="6" y="69"/>
                  </a:cxn>
                  <a:cxn ang="0">
                    <a:pos x="12" y="88"/>
                  </a:cxn>
                  <a:cxn ang="0">
                    <a:pos x="25" y="101"/>
                  </a:cxn>
                  <a:cxn ang="0">
                    <a:pos x="31" y="107"/>
                  </a:cxn>
                  <a:cxn ang="0">
                    <a:pos x="44" y="107"/>
                  </a:cxn>
                  <a:cxn ang="0">
                    <a:pos x="44" y="107"/>
                  </a:cxn>
                </a:cxnLst>
                <a:rect l="txL" t="txT" r="txR" b="txB"/>
                <a:pathLst>
                  <a:path w="57" h="107">
                    <a:moveTo>
                      <a:pt x="44" y="107"/>
                    </a:moveTo>
                    <a:lnTo>
                      <a:pt x="50" y="101"/>
                    </a:lnTo>
                    <a:lnTo>
                      <a:pt x="57" y="82"/>
                    </a:lnTo>
                    <a:lnTo>
                      <a:pt x="57" y="37"/>
                    </a:lnTo>
                    <a:lnTo>
                      <a:pt x="44" y="19"/>
                    </a:lnTo>
                    <a:lnTo>
                      <a:pt x="38" y="6"/>
                    </a:lnTo>
                    <a:lnTo>
                      <a:pt x="25" y="0"/>
                    </a:lnTo>
                    <a:lnTo>
                      <a:pt x="12" y="0"/>
                    </a:lnTo>
                    <a:lnTo>
                      <a:pt x="6" y="6"/>
                    </a:lnTo>
                    <a:lnTo>
                      <a:pt x="0" y="25"/>
                    </a:lnTo>
                    <a:lnTo>
                      <a:pt x="0" y="44"/>
                    </a:lnTo>
                    <a:lnTo>
                      <a:pt x="6" y="69"/>
                    </a:lnTo>
                    <a:lnTo>
                      <a:pt x="12" y="88"/>
                    </a:lnTo>
                    <a:lnTo>
                      <a:pt x="25" y="101"/>
                    </a:lnTo>
                    <a:lnTo>
                      <a:pt x="31" y="107"/>
                    </a:lnTo>
                    <a:lnTo>
                      <a:pt x="44" y="10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1" name="Freeform 49"/>
              <p:cNvSpPr/>
              <p:nvPr/>
            </p:nvSpPr>
            <p:spPr>
              <a:xfrm>
                <a:off x="1382" y="2134"/>
                <a:ext cx="265" cy="1"/>
              </a:xfrm>
              <a:custGeom>
                <a:avLst/>
                <a:gdLst>
                  <a:gd name="txL" fmla="*/ 0 w 265"/>
                  <a:gd name="txT" fmla="*/ 0 h 1"/>
                  <a:gd name="txR" fmla="*/ 265 w 265"/>
                  <a:gd name="txB" fmla="*/ 1 h 1"/>
                </a:gdLst>
                <a:ahLst/>
                <a:cxnLst>
                  <a:cxn ang="0">
                    <a:pos x="0" y="0"/>
                  </a:cxn>
                  <a:cxn ang="0">
                    <a:pos x="265" y="0"/>
                  </a:cxn>
                  <a:cxn ang="0">
                    <a:pos x="0" y="0"/>
                  </a:cxn>
                  <a:cxn ang="0">
                    <a:pos x="0" y="0"/>
                  </a:cxn>
                </a:cxnLst>
                <a:rect l="txL" t="txT" r="txR" b="txB"/>
                <a:pathLst>
                  <a:path w="265" h="1">
                    <a:moveTo>
                      <a:pt x="0" y="0"/>
                    </a:moveTo>
                    <a:lnTo>
                      <a:pt x="265"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2" name="Freeform 50"/>
              <p:cNvSpPr/>
              <p:nvPr/>
            </p:nvSpPr>
            <p:spPr>
              <a:xfrm>
                <a:off x="2620" y="2134"/>
                <a:ext cx="992" cy="1"/>
              </a:xfrm>
              <a:custGeom>
                <a:avLst/>
                <a:gdLst>
                  <a:gd name="txL" fmla="*/ 0 w 992"/>
                  <a:gd name="txT" fmla="*/ 0 h 1"/>
                  <a:gd name="txR" fmla="*/ 992 w 992"/>
                  <a:gd name="txB" fmla="*/ 1 h 1"/>
                </a:gdLst>
                <a:ahLst/>
                <a:cxnLst>
                  <a:cxn ang="0">
                    <a:pos x="0" y="0"/>
                  </a:cxn>
                  <a:cxn ang="0">
                    <a:pos x="992" y="0"/>
                  </a:cxn>
                  <a:cxn ang="0">
                    <a:pos x="0" y="0"/>
                  </a:cxn>
                  <a:cxn ang="0">
                    <a:pos x="0" y="0"/>
                  </a:cxn>
                </a:cxnLst>
                <a:rect l="txL" t="txT" r="txR" b="txB"/>
                <a:pathLst>
                  <a:path w="992" h="1">
                    <a:moveTo>
                      <a:pt x="0" y="0"/>
                    </a:moveTo>
                    <a:lnTo>
                      <a:pt x="992"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3" name="Freeform 52"/>
              <p:cNvSpPr>
                <a:spLocks noEditPoints="1"/>
              </p:cNvSpPr>
              <p:nvPr/>
            </p:nvSpPr>
            <p:spPr>
              <a:xfrm>
                <a:off x="3315" y="1037"/>
                <a:ext cx="76" cy="88"/>
              </a:xfrm>
              <a:custGeom>
                <a:avLst/>
                <a:gdLst>
                  <a:gd name="txL" fmla="*/ 0 w 76"/>
                  <a:gd name="txT" fmla="*/ 0 h 88"/>
                  <a:gd name="txR" fmla="*/ 76 w 76"/>
                  <a:gd name="txB" fmla="*/ 88 h 88"/>
                </a:gdLst>
                <a:ahLst/>
                <a:cxnLst>
                  <a:cxn ang="0">
                    <a:pos x="76" y="57"/>
                  </a:cxn>
                  <a:cxn ang="0">
                    <a:pos x="63" y="69"/>
                  </a:cxn>
                  <a:cxn ang="0">
                    <a:pos x="44" y="76"/>
                  </a:cxn>
                  <a:cxn ang="0">
                    <a:pos x="38" y="76"/>
                  </a:cxn>
                  <a:cxn ang="0">
                    <a:pos x="25" y="69"/>
                  </a:cxn>
                  <a:cxn ang="0">
                    <a:pos x="19" y="57"/>
                  </a:cxn>
                  <a:cxn ang="0">
                    <a:pos x="13" y="31"/>
                  </a:cxn>
                  <a:cxn ang="0">
                    <a:pos x="76" y="31"/>
                  </a:cxn>
                  <a:cxn ang="0">
                    <a:pos x="76" y="19"/>
                  </a:cxn>
                  <a:cxn ang="0">
                    <a:pos x="63" y="6"/>
                  </a:cxn>
                  <a:cxn ang="0">
                    <a:pos x="38" y="0"/>
                  </a:cxn>
                  <a:cxn ang="0">
                    <a:pos x="25" y="0"/>
                  </a:cxn>
                  <a:cxn ang="0">
                    <a:pos x="13" y="6"/>
                  </a:cxn>
                  <a:cxn ang="0">
                    <a:pos x="6" y="19"/>
                  </a:cxn>
                  <a:cxn ang="0">
                    <a:pos x="0" y="44"/>
                  </a:cxn>
                  <a:cxn ang="0">
                    <a:pos x="0" y="63"/>
                  </a:cxn>
                  <a:cxn ang="0">
                    <a:pos x="13" y="76"/>
                  </a:cxn>
                  <a:cxn ang="0">
                    <a:pos x="38" y="88"/>
                  </a:cxn>
                  <a:cxn ang="0">
                    <a:pos x="57" y="82"/>
                  </a:cxn>
                  <a:cxn ang="0">
                    <a:pos x="69" y="76"/>
                  </a:cxn>
                  <a:cxn ang="0">
                    <a:pos x="76" y="63"/>
                  </a:cxn>
                  <a:cxn ang="0">
                    <a:pos x="76" y="57"/>
                  </a:cxn>
                  <a:cxn ang="0">
                    <a:pos x="76" y="57"/>
                  </a:cxn>
                  <a:cxn ang="0">
                    <a:pos x="13" y="25"/>
                  </a:cxn>
                  <a:cxn ang="0">
                    <a:pos x="25" y="12"/>
                  </a:cxn>
                  <a:cxn ang="0">
                    <a:pos x="38" y="6"/>
                  </a:cxn>
                  <a:cxn ang="0">
                    <a:pos x="50" y="12"/>
                  </a:cxn>
                  <a:cxn ang="0">
                    <a:pos x="57" y="25"/>
                  </a:cxn>
                  <a:cxn ang="0">
                    <a:pos x="13" y="25"/>
                  </a:cxn>
                </a:cxnLst>
                <a:rect l="txL" t="txT" r="txR" b="txB"/>
                <a:pathLst>
                  <a:path w="76" h="88">
                    <a:moveTo>
                      <a:pt x="76" y="57"/>
                    </a:moveTo>
                    <a:lnTo>
                      <a:pt x="63" y="69"/>
                    </a:lnTo>
                    <a:lnTo>
                      <a:pt x="44" y="76"/>
                    </a:lnTo>
                    <a:lnTo>
                      <a:pt x="38" y="76"/>
                    </a:lnTo>
                    <a:lnTo>
                      <a:pt x="25" y="69"/>
                    </a:lnTo>
                    <a:lnTo>
                      <a:pt x="19" y="57"/>
                    </a:lnTo>
                    <a:lnTo>
                      <a:pt x="13" y="31"/>
                    </a:lnTo>
                    <a:lnTo>
                      <a:pt x="76" y="31"/>
                    </a:lnTo>
                    <a:lnTo>
                      <a:pt x="76" y="19"/>
                    </a:lnTo>
                    <a:lnTo>
                      <a:pt x="63" y="6"/>
                    </a:lnTo>
                    <a:lnTo>
                      <a:pt x="38" y="0"/>
                    </a:lnTo>
                    <a:lnTo>
                      <a:pt x="25" y="0"/>
                    </a:lnTo>
                    <a:lnTo>
                      <a:pt x="13" y="6"/>
                    </a:lnTo>
                    <a:lnTo>
                      <a:pt x="6" y="19"/>
                    </a:lnTo>
                    <a:lnTo>
                      <a:pt x="0" y="44"/>
                    </a:lnTo>
                    <a:lnTo>
                      <a:pt x="0" y="63"/>
                    </a:lnTo>
                    <a:lnTo>
                      <a:pt x="13" y="76"/>
                    </a:lnTo>
                    <a:lnTo>
                      <a:pt x="38" y="88"/>
                    </a:lnTo>
                    <a:lnTo>
                      <a:pt x="57" y="82"/>
                    </a:lnTo>
                    <a:lnTo>
                      <a:pt x="69" y="76"/>
                    </a:lnTo>
                    <a:lnTo>
                      <a:pt x="76" y="63"/>
                    </a:lnTo>
                    <a:lnTo>
                      <a:pt x="76" y="57"/>
                    </a:lnTo>
                    <a:close/>
                    <a:moveTo>
                      <a:pt x="13" y="25"/>
                    </a:moveTo>
                    <a:lnTo>
                      <a:pt x="25" y="12"/>
                    </a:lnTo>
                    <a:lnTo>
                      <a:pt x="38" y="6"/>
                    </a:lnTo>
                    <a:lnTo>
                      <a:pt x="50" y="12"/>
                    </a:lnTo>
                    <a:lnTo>
                      <a:pt x="57" y="25"/>
                    </a:lnTo>
                    <a:lnTo>
                      <a:pt x="13"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4" name="Freeform 53"/>
              <p:cNvSpPr/>
              <p:nvPr/>
            </p:nvSpPr>
            <p:spPr>
              <a:xfrm>
                <a:off x="3403" y="1012"/>
                <a:ext cx="51" cy="113"/>
              </a:xfrm>
              <a:custGeom>
                <a:avLst/>
                <a:gdLst>
                  <a:gd name="txL" fmla="*/ 0 w 51"/>
                  <a:gd name="txT" fmla="*/ 0 h 113"/>
                  <a:gd name="txR" fmla="*/ 51 w 51"/>
                  <a:gd name="txB" fmla="*/ 113 h 113"/>
                </a:gdLst>
                <a:ahLst/>
                <a:cxnLst>
                  <a:cxn ang="0">
                    <a:pos x="45" y="25"/>
                  </a:cxn>
                  <a:cxn ang="0">
                    <a:pos x="26" y="25"/>
                  </a:cxn>
                  <a:cxn ang="0">
                    <a:pos x="26" y="0"/>
                  </a:cxn>
                  <a:cxn ang="0">
                    <a:pos x="26" y="0"/>
                  </a:cxn>
                  <a:cxn ang="0">
                    <a:pos x="19" y="12"/>
                  </a:cxn>
                  <a:cxn ang="0">
                    <a:pos x="7" y="19"/>
                  </a:cxn>
                  <a:cxn ang="0">
                    <a:pos x="0" y="25"/>
                  </a:cxn>
                  <a:cxn ang="0">
                    <a:pos x="0" y="31"/>
                  </a:cxn>
                  <a:cxn ang="0">
                    <a:pos x="0" y="31"/>
                  </a:cxn>
                  <a:cxn ang="0">
                    <a:pos x="7" y="31"/>
                  </a:cxn>
                  <a:cxn ang="0">
                    <a:pos x="7" y="88"/>
                  </a:cxn>
                  <a:cxn ang="0">
                    <a:pos x="13" y="107"/>
                  </a:cxn>
                  <a:cxn ang="0">
                    <a:pos x="26" y="113"/>
                  </a:cxn>
                  <a:cxn ang="0">
                    <a:pos x="38" y="107"/>
                  </a:cxn>
                  <a:cxn ang="0">
                    <a:pos x="51" y="101"/>
                  </a:cxn>
                  <a:cxn ang="0">
                    <a:pos x="45" y="94"/>
                  </a:cxn>
                  <a:cxn ang="0">
                    <a:pos x="45" y="101"/>
                  </a:cxn>
                  <a:cxn ang="0">
                    <a:pos x="38" y="107"/>
                  </a:cxn>
                  <a:cxn ang="0">
                    <a:pos x="26" y="101"/>
                  </a:cxn>
                  <a:cxn ang="0">
                    <a:pos x="26" y="88"/>
                  </a:cxn>
                  <a:cxn ang="0">
                    <a:pos x="26" y="31"/>
                  </a:cxn>
                  <a:cxn ang="0">
                    <a:pos x="45" y="31"/>
                  </a:cxn>
                  <a:cxn ang="0">
                    <a:pos x="45" y="25"/>
                  </a:cxn>
                </a:cxnLst>
                <a:rect l="txL" t="txT" r="txR" b="txB"/>
                <a:pathLst>
                  <a:path w="51" h="113">
                    <a:moveTo>
                      <a:pt x="45" y="25"/>
                    </a:moveTo>
                    <a:lnTo>
                      <a:pt x="26" y="25"/>
                    </a:lnTo>
                    <a:lnTo>
                      <a:pt x="26" y="0"/>
                    </a:lnTo>
                    <a:lnTo>
                      <a:pt x="19" y="12"/>
                    </a:lnTo>
                    <a:lnTo>
                      <a:pt x="7" y="19"/>
                    </a:lnTo>
                    <a:lnTo>
                      <a:pt x="0" y="25"/>
                    </a:lnTo>
                    <a:lnTo>
                      <a:pt x="0" y="31"/>
                    </a:lnTo>
                    <a:lnTo>
                      <a:pt x="7" y="31"/>
                    </a:lnTo>
                    <a:lnTo>
                      <a:pt x="7" y="88"/>
                    </a:lnTo>
                    <a:lnTo>
                      <a:pt x="13" y="107"/>
                    </a:lnTo>
                    <a:lnTo>
                      <a:pt x="26" y="113"/>
                    </a:lnTo>
                    <a:lnTo>
                      <a:pt x="38" y="107"/>
                    </a:lnTo>
                    <a:lnTo>
                      <a:pt x="51" y="101"/>
                    </a:lnTo>
                    <a:lnTo>
                      <a:pt x="45" y="94"/>
                    </a:lnTo>
                    <a:lnTo>
                      <a:pt x="45" y="101"/>
                    </a:lnTo>
                    <a:lnTo>
                      <a:pt x="38" y="107"/>
                    </a:lnTo>
                    <a:lnTo>
                      <a:pt x="26" y="101"/>
                    </a:lnTo>
                    <a:lnTo>
                      <a:pt x="26" y="88"/>
                    </a:lnTo>
                    <a:lnTo>
                      <a:pt x="26" y="31"/>
                    </a:lnTo>
                    <a:lnTo>
                      <a:pt x="45" y="31"/>
                    </a:lnTo>
                    <a:lnTo>
                      <a:pt x="45"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5" name="Freeform 54"/>
              <p:cNvSpPr>
                <a:spLocks noEditPoints="1"/>
              </p:cNvSpPr>
              <p:nvPr/>
            </p:nvSpPr>
            <p:spPr>
              <a:xfrm>
                <a:off x="3460" y="1037"/>
                <a:ext cx="82" cy="88"/>
              </a:xfrm>
              <a:custGeom>
                <a:avLst/>
                <a:gdLst>
                  <a:gd name="txL" fmla="*/ 0 w 82"/>
                  <a:gd name="txT" fmla="*/ 0 h 88"/>
                  <a:gd name="txR" fmla="*/ 82 w 82"/>
                  <a:gd name="txB" fmla="*/ 88 h 88"/>
                </a:gdLst>
                <a:ahLst/>
                <a:cxnLst>
                  <a:cxn ang="0">
                    <a:pos x="51" y="63"/>
                  </a:cxn>
                  <a:cxn ang="0">
                    <a:pos x="51" y="69"/>
                  </a:cxn>
                  <a:cxn ang="0">
                    <a:pos x="44" y="76"/>
                  </a:cxn>
                  <a:cxn ang="0">
                    <a:pos x="38" y="76"/>
                  </a:cxn>
                  <a:cxn ang="0">
                    <a:pos x="32" y="76"/>
                  </a:cxn>
                  <a:cxn ang="0">
                    <a:pos x="25" y="69"/>
                  </a:cxn>
                  <a:cxn ang="0">
                    <a:pos x="19" y="63"/>
                  </a:cxn>
                  <a:cxn ang="0">
                    <a:pos x="19" y="63"/>
                  </a:cxn>
                  <a:cxn ang="0">
                    <a:pos x="25" y="50"/>
                  </a:cxn>
                  <a:cxn ang="0">
                    <a:pos x="32" y="44"/>
                  </a:cxn>
                  <a:cxn ang="0">
                    <a:pos x="51" y="38"/>
                  </a:cxn>
                  <a:cxn ang="0">
                    <a:pos x="51" y="63"/>
                  </a:cxn>
                  <a:cxn ang="0">
                    <a:pos x="82" y="76"/>
                  </a:cxn>
                  <a:cxn ang="0">
                    <a:pos x="76" y="76"/>
                  </a:cxn>
                  <a:cxn ang="0">
                    <a:pos x="70" y="76"/>
                  </a:cxn>
                  <a:cxn ang="0">
                    <a:pos x="63" y="76"/>
                  </a:cxn>
                  <a:cxn ang="0">
                    <a:pos x="63" y="69"/>
                  </a:cxn>
                  <a:cxn ang="0">
                    <a:pos x="63" y="31"/>
                  </a:cxn>
                  <a:cxn ang="0">
                    <a:pos x="63" y="12"/>
                  </a:cxn>
                  <a:cxn ang="0">
                    <a:pos x="51" y="6"/>
                  </a:cxn>
                  <a:cxn ang="0">
                    <a:pos x="38" y="0"/>
                  </a:cxn>
                  <a:cxn ang="0">
                    <a:pos x="25" y="0"/>
                  </a:cxn>
                  <a:cxn ang="0">
                    <a:pos x="13" y="6"/>
                  </a:cxn>
                  <a:cxn ang="0">
                    <a:pos x="7" y="19"/>
                  </a:cxn>
                  <a:cxn ang="0">
                    <a:pos x="7" y="25"/>
                  </a:cxn>
                  <a:cxn ang="0">
                    <a:pos x="13" y="25"/>
                  </a:cxn>
                  <a:cxn ang="0">
                    <a:pos x="19" y="25"/>
                  </a:cxn>
                  <a:cxn ang="0">
                    <a:pos x="19" y="19"/>
                  </a:cxn>
                  <a:cxn ang="0">
                    <a:pos x="19" y="19"/>
                  </a:cxn>
                  <a:cxn ang="0">
                    <a:pos x="19" y="12"/>
                  </a:cxn>
                  <a:cxn ang="0">
                    <a:pos x="25" y="6"/>
                  </a:cxn>
                  <a:cxn ang="0">
                    <a:pos x="32" y="0"/>
                  </a:cxn>
                  <a:cxn ang="0">
                    <a:pos x="44" y="6"/>
                  </a:cxn>
                  <a:cxn ang="0">
                    <a:pos x="51" y="19"/>
                  </a:cxn>
                  <a:cxn ang="0">
                    <a:pos x="51" y="31"/>
                  </a:cxn>
                  <a:cxn ang="0">
                    <a:pos x="13" y="50"/>
                  </a:cxn>
                  <a:cxn ang="0">
                    <a:pos x="7" y="57"/>
                  </a:cxn>
                  <a:cxn ang="0">
                    <a:pos x="0" y="69"/>
                  </a:cxn>
                  <a:cxn ang="0">
                    <a:pos x="7" y="82"/>
                  </a:cxn>
                  <a:cxn ang="0">
                    <a:pos x="19" y="88"/>
                  </a:cxn>
                  <a:cxn ang="0">
                    <a:pos x="38" y="82"/>
                  </a:cxn>
                  <a:cxn ang="0">
                    <a:pos x="51" y="76"/>
                  </a:cxn>
                  <a:cxn ang="0">
                    <a:pos x="57" y="88"/>
                  </a:cxn>
                  <a:cxn ang="0">
                    <a:pos x="63" y="88"/>
                  </a:cxn>
                  <a:cxn ang="0">
                    <a:pos x="70" y="88"/>
                  </a:cxn>
                  <a:cxn ang="0">
                    <a:pos x="82" y="82"/>
                  </a:cxn>
                  <a:cxn ang="0">
                    <a:pos x="82" y="76"/>
                  </a:cxn>
                </a:cxnLst>
                <a:rect l="txL" t="txT" r="txR" b="txB"/>
                <a:pathLst>
                  <a:path w="82" h="88">
                    <a:moveTo>
                      <a:pt x="51" y="63"/>
                    </a:moveTo>
                    <a:lnTo>
                      <a:pt x="51" y="69"/>
                    </a:lnTo>
                    <a:lnTo>
                      <a:pt x="44" y="76"/>
                    </a:lnTo>
                    <a:lnTo>
                      <a:pt x="38" y="76"/>
                    </a:lnTo>
                    <a:lnTo>
                      <a:pt x="32" y="76"/>
                    </a:lnTo>
                    <a:lnTo>
                      <a:pt x="25" y="69"/>
                    </a:lnTo>
                    <a:lnTo>
                      <a:pt x="19" y="63"/>
                    </a:lnTo>
                    <a:lnTo>
                      <a:pt x="25" y="50"/>
                    </a:lnTo>
                    <a:lnTo>
                      <a:pt x="32" y="44"/>
                    </a:lnTo>
                    <a:lnTo>
                      <a:pt x="51" y="38"/>
                    </a:lnTo>
                    <a:lnTo>
                      <a:pt x="51" y="63"/>
                    </a:lnTo>
                    <a:close/>
                    <a:moveTo>
                      <a:pt x="82" y="76"/>
                    </a:moveTo>
                    <a:lnTo>
                      <a:pt x="76" y="76"/>
                    </a:lnTo>
                    <a:lnTo>
                      <a:pt x="70" y="76"/>
                    </a:lnTo>
                    <a:lnTo>
                      <a:pt x="63" y="76"/>
                    </a:lnTo>
                    <a:lnTo>
                      <a:pt x="63" y="69"/>
                    </a:lnTo>
                    <a:lnTo>
                      <a:pt x="63" y="31"/>
                    </a:lnTo>
                    <a:lnTo>
                      <a:pt x="63" y="12"/>
                    </a:lnTo>
                    <a:lnTo>
                      <a:pt x="51" y="6"/>
                    </a:lnTo>
                    <a:lnTo>
                      <a:pt x="38" y="0"/>
                    </a:lnTo>
                    <a:lnTo>
                      <a:pt x="25" y="0"/>
                    </a:lnTo>
                    <a:lnTo>
                      <a:pt x="13" y="6"/>
                    </a:lnTo>
                    <a:lnTo>
                      <a:pt x="7" y="19"/>
                    </a:lnTo>
                    <a:lnTo>
                      <a:pt x="7" y="25"/>
                    </a:lnTo>
                    <a:lnTo>
                      <a:pt x="13" y="25"/>
                    </a:lnTo>
                    <a:lnTo>
                      <a:pt x="19" y="25"/>
                    </a:lnTo>
                    <a:lnTo>
                      <a:pt x="19" y="19"/>
                    </a:lnTo>
                    <a:lnTo>
                      <a:pt x="19" y="12"/>
                    </a:lnTo>
                    <a:lnTo>
                      <a:pt x="25" y="6"/>
                    </a:lnTo>
                    <a:lnTo>
                      <a:pt x="32" y="0"/>
                    </a:lnTo>
                    <a:lnTo>
                      <a:pt x="44" y="6"/>
                    </a:lnTo>
                    <a:lnTo>
                      <a:pt x="51" y="19"/>
                    </a:lnTo>
                    <a:lnTo>
                      <a:pt x="51" y="31"/>
                    </a:lnTo>
                    <a:lnTo>
                      <a:pt x="13" y="50"/>
                    </a:lnTo>
                    <a:lnTo>
                      <a:pt x="7" y="57"/>
                    </a:lnTo>
                    <a:lnTo>
                      <a:pt x="0" y="69"/>
                    </a:lnTo>
                    <a:lnTo>
                      <a:pt x="7" y="82"/>
                    </a:lnTo>
                    <a:lnTo>
                      <a:pt x="19" y="88"/>
                    </a:lnTo>
                    <a:lnTo>
                      <a:pt x="38" y="82"/>
                    </a:lnTo>
                    <a:lnTo>
                      <a:pt x="51" y="76"/>
                    </a:lnTo>
                    <a:lnTo>
                      <a:pt x="57" y="88"/>
                    </a:lnTo>
                    <a:lnTo>
                      <a:pt x="63" y="88"/>
                    </a:lnTo>
                    <a:lnTo>
                      <a:pt x="70" y="88"/>
                    </a:lnTo>
                    <a:lnTo>
                      <a:pt x="82" y="82"/>
                    </a:lnTo>
                    <a:lnTo>
                      <a:pt x="82" y="7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6" name="Freeform 55"/>
              <p:cNvSpPr/>
              <p:nvPr/>
            </p:nvSpPr>
            <p:spPr>
              <a:xfrm>
                <a:off x="3542" y="993"/>
                <a:ext cx="51" cy="132"/>
              </a:xfrm>
              <a:custGeom>
                <a:avLst/>
                <a:gdLst>
                  <a:gd name="txL" fmla="*/ 0 w 51"/>
                  <a:gd name="txT" fmla="*/ 0 h 132"/>
                  <a:gd name="txR" fmla="*/ 51 w 51"/>
                  <a:gd name="txB" fmla="*/ 132 h 132"/>
                </a:gdLst>
                <a:ahLst/>
                <a:cxnLst>
                  <a:cxn ang="0">
                    <a:pos x="0" y="132"/>
                  </a:cxn>
                  <a:cxn ang="0">
                    <a:pos x="51" y="132"/>
                  </a:cxn>
                  <a:cxn ang="0">
                    <a:pos x="51" y="126"/>
                  </a:cxn>
                  <a:cxn ang="0">
                    <a:pos x="38" y="126"/>
                  </a:cxn>
                  <a:cxn ang="0">
                    <a:pos x="32" y="113"/>
                  </a:cxn>
                  <a:cxn ang="0">
                    <a:pos x="32" y="0"/>
                  </a:cxn>
                  <a:cxn ang="0">
                    <a:pos x="32" y="0"/>
                  </a:cxn>
                  <a:cxn ang="0">
                    <a:pos x="19" y="6"/>
                  </a:cxn>
                  <a:cxn ang="0">
                    <a:pos x="0" y="6"/>
                  </a:cxn>
                  <a:cxn ang="0">
                    <a:pos x="0" y="12"/>
                  </a:cxn>
                  <a:cxn ang="0">
                    <a:pos x="7" y="6"/>
                  </a:cxn>
                  <a:cxn ang="0">
                    <a:pos x="7" y="6"/>
                  </a:cxn>
                  <a:cxn ang="0">
                    <a:pos x="19" y="12"/>
                  </a:cxn>
                  <a:cxn ang="0">
                    <a:pos x="19" y="19"/>
                  </a:cxn>
                  <a:cxn ang="0">
                    <a:pos x="19" y="113"/>
                  </a:cxn>
                  <a:cxn ang="0">
                    <a:pos x="13" y="126"/>
                  </a:cxn>
                  <a:cxn ang="0">
                    <a:pos x="0" y="126"/>
                  </a:cxn>
                  <a:cxn ang="0">
                    <a:pos x="0" y="132"/>
                  </a:cxn>
                </a:cxnLst>
                <a:rect l="txL" t="txT" r="txR" b="txB"/>
                <a:pathLst>
                  <a:path w="51" h="132">
                    <a:moveTo>
                      <a:pt x="0" y="132"/>
                    </a:moveTo>
                    <a:lnTo>
                      <a:pt x="51" y="132"/>
                    </a:lnTo>
                    <a:lnTo>
                      <a:pt x="51" y="126"/>
                    </a:lnTo>
                    <a:lnTo>
                      <a:pt x="38" y="126"/>
                    </a:lnTo>
                    <a:lnTo>
                      <a:pt x="32" y="113"/>
                    </a:lnTo>
                    <a:lnTo>
                      <a:pt x="32" y="0"/>
                    </a:lnTo>
                    <a:lnTo>
                      <a:pt x="19" y="6"/>
                    </a:lnTo>
                    <a:lnTo>
                      <a:pt x="0" y="6"/>
                    </a:lnTo>
                    <a:lnTo>
                      <a:pt x="0" y="12"/>
                    </a:lnTo>
                    <a:lnTo>
                      <a:pt x="7" y="6"/>
                    </a:lnTo>
                    <a:lnTo>
                      <a:pt x="19" y="12"/>
                    </a:lnTo>
                    <a:lnTo>
                      <a:pt x="19" y="19"/>
                    </a:lnTo>
                    <a:lnTo>
                      <a:pt x="19" y="113"/>
                    </a:lnTo>
                    <a:lnTo>
                      <a:pt x="13" y="126"/>
                    </a:lnTo>
                    <a:lnTo>
                      <a:pt x="0" y="126"/>
                    </a:lnTo>
                    <a:lnTo>
                      <a:pt x="0" y="13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7" name="Freeform 56"/>
              <p:cNvSpPr>
                <a:spLocks noEditPoints="1"/>
              </p:cNvSpPr>
              <p:nvPr/>
            </p:nvSpPr>
            <p:spPr>
              <a:xfrm>
                <a:off x="3643" y="1037"/>
                <a:ext cx="95" cy="132"/>
              </a:xfrm>
              <a:custGeom>
                <a:avLst/>
                <a:gdLst>
                  <a:gd name="txL" fmla="*/ 0 w 95"/>
                  <a:gd name="txT" fmla="*/ 0 h 132"/>
                  <a:gd name="txR" fmla="*/ 95 w 95"/>
                  <a:gd name="txB" fmla="*/ 132 h 132"/>
                </a:gdLst>
                <a:ahLst/>
                <a:cxnLst>
                  <a:cxn ang="0">
                    <a:pos x="19" y="113"/>
                  </a:cxn>
                  <a:cxn ang="0">
                    <a:pos x="13" y="120"/>
                  </a:cxn>
                  <a:cxn ang="0">
                    <a:pos x="0" y="126"/>
                  </a:cxn>
                  <a:cxn ang="0">
                    <a:pos x="0" y="132"/>
                  </a:cxn>
                  <a:cxn ang="0">
                    <a:pos x="51" y="132"/>
                  </a:cxn>
                  <a:cxn ang="0">
                    <a:pos x="51" y="126"/>
                  </a:cxn>
                  <a:cxn ang="0">
                    <a:pos x="38" y="126"/>
                  </a:cxn>
                  <a:cxn ang="0">
                    <a:pos x="32" y="113"/>
                  </a:cxn>
                  <a:cxn ang="0">
                    <a:pos x="32" y="82"/>
                  </a:cxn>
                  <a:cxn ang="0">
                    <a:pos x="45" y="88"/>
                  </a:cxn>
                  <a:cxn ang="0">
                    <a:pos x="51" y="88"/>
                  </a:cxn>
                  <a:cxn ang="0">
                    <a:pos x="70" y="82"/>
                  </a:cxn>
                  <a:cxn ang="0">
                    <a:pos x="83" y="76"/>
                  </a:cxn>
                  <a:cxn ang="0">
                    <a:pos x="95" y="38"/>
                  </a:cxn>
                  <a:cxn ang="0">
                    <a:pos x="89" y="12"/>
                  </a:cxn>
                  <a:cxn ang="0">
                    <a:pos x="64" y="0"/>
                  </a:cxn>
                  <a:cxn ang="0">
                    <a:pos x="45" y="6"/>
                  </a:cxn>
                  <a:cxn ang="0">
                    <a:pos x="32" y="12"/>
                  </a:cxn>
                  <a:cxn ang="0">
                    <a:pos x="32" y="12"/>
                  </a:cxn>
                  <a:cxn ang="0">
                    <a:pos x="32" y="0"/>
                  </a:cxn>
                  <a:cxn ang="0">
                    <a:pos x="32" y="0"/>
                  </a:cxn>
                  <a:cxn ang="0">
                    <a:pos x="19" y="6"/>
                  </a:cxn>
                  <a:cxn ang="0">
                    <a:pos x="7" y="6"/>
                  </a:cxn>
                  <a:cxn ang="0">
                    <a:pos x="7" y="12"/>
                  </a:cxn>
                  <a:cxn ang="0">
                    <a:pos x="7" y="12"/>
                  </a:cxn>
                  <a:cxn ang="0">
                    <a:pos x="13" y="12"/>
                  </a:cxn>
                  <a:cxn ang="0">
                    <a:pos x="19" y="19"/>
                  </a:cxn>
                  <a:cxn ang="0">
                    <a:pos x="19" y="113"/>
                  </a:cxn>
                  <a:cxn ang="0">
                    <a:pos x="32" y="19"/>
                  </a:cxn>
                  <a:cxn ang="0">
                    <a:pos x="38" y="12"/>
                  </a:cxn>
                  <a:cxn ang="0">
                    <a:pos x="51" y="6"/>
                  </a:cxn>
                  <a:cxn ang="0">
                    <a:pos x="64" y="12"/>
                  </a:cxn>
                  <a:cxn ang="0">
                    <a:pos x="76" y="25"/>
                  </a:cxn>
                  <a:cxn ang="0">
                    <a:pos x="76" y="38"/>
                  </a:cxn>
                  <a:cxn ang="0">
                    <a:pos x="76" y="44"/>
                  </a:cxn>
                  <a:cxn ang="0">
                    <a:pos x="76" y="69"/>
                  </a:cxn>
                  <a:cxn ang="0">
                    <a:pos x="64" y="76"/>
                  </a:cxn>
                  <a:cxn ang="0">
                    <a:pos x="57" y="82"/>
                  </a:cxn>
                  <a:cxn ang="0">
                    <a:pos x="51" y="82"/>
                  </a:cxn>
                  <a:cxn ang="0">
                    <a:pos x="38" y="76"/>
                  </a:cxn>
                  <a:cxn ang="0">
                    <a:pos x="32" y="69"/>
                  </a:cxn>
                  <a:cxn ang="0">
                    <a:pos x="32" y="19"/>
                  </a:cxn>
                </a:cxnLst>
                <a:rect l="txL" t="txT" r="txR" b="txB"/>
                <a:pathLst>
                  <a:path w="95" h="132">
                    <a:moveTo>
                      <a:pt x="19" y="113"/>
                    </a:moveTo>
                    <a:lnTo>
                      <a:pt x="13" y="120"/>
                    </a:lnTo>
                    <a:lnTo>
                      <a:pt x="0" y="126"/>
                    </a:lnTo>
                    <a:lnTo>
                      <a:pt x="0" y="132"/>
                    </a:lnTo>
                    <a:lnTo>
                      <a:pt x="51" y="132"/>
                    </a:lnTo>
                    <a:lnTo>
                      <a:pt x="51" y="126"/>
                    </a:lnTo>
                    <a:lnTo>
                      <a:pt x="38" y="126"/>
                    </a:lnTo>
                    <a:lnTo>
                      <a:pt x="32" y="113"/>
                    </a:lnTo>
                    <a:lnTo>
                      <a:pt x="32" y="82"/>
                    </a:lnTo>
                    <a:lnTo>
                      <a:pt x="45" y="88"/>
                    </a:lnTo>
                    <a:lnTo>
                      <a:pt x="51" y="88"/>
                    </a:lnTo>
                    <a:lnTo>
                      <a:pt x="70" y="82"/>
                    </a:lnTo>
                    <a:lnTo>
                      <a:pt x="83" y="76"/>
                    </a:lnTo>
                    <a:lnTo>
                      <a:pt x="95" y="38"/>
                    </a:lnTo>
                    <a:lnTo>
                      <a:pt x="89" y="12"/>
                    </a:lnTo>
                    <a:lnTo>
                      <a:pt x="64" y="0"/>
                    </a:lnTo>
                    <a:lnTo>
                      <a:pt x="45" y="6"/>
                    </a:lnTo>
                    <a:lnTo>
                      <a:pt x="32" y="12"/>
                    </a:lnTo>
                    <a:lnTo>
                      <a:pt x="32" y="0"/>
                    </a:lnTo>
                    <a:lnTo>
                      <a:pt x="19" y="6"/>
                    </a:lnTo>
                    <a:lnTo>
                      <a:pt x="7" y="6"/>
                    </a:lnTo>
                    <a:lnTo>
                      <a:pt x="7" y="12"/>
                    </a:lnTo>
                    <a:lnTo>
                      <a:pt x="13" y="12"/>
                    </a:lnTo>
                    <a:lnTo>
                      <a:pt x="19" y="19"/>
                    </a:lnTo>
                    <a:lnTo>
                      <a:pt x="19" y="113"/>
                    </a:lnTo>
                    <a:close/>
                    <a:moveTo>
                      <a:pt x="32" y="19"/>
                    </a:moveTo>
                    <a:lnTo>
                      <a:pt x="38" y="12"/>
                    </a:lnTo>
                    <a:lnTo>
                      <a:pt x="51" y="6"/>
                    </a:lnTo>
                    <a:lnTo>
                      <a:pt x="64" y="12"/>
                    </a:lnTo>
                    <a:lnTo>
                      <a:pt x="76" y="25"/>
                    </a:lnTo>
                    <a:lnTo>
                      <a:pt x="76" y="38"/>
                    </a:lnTo>
                    <a:lnTo>
                      <a:pt x="76" y="44"/>
                    </a:lnTo>
                    <a:lnTo>
                      <a:pt x="76" y="69"/>
                    </a:lnTo>
                    <a:lnTo>
                      <a:pt x="64" y="76"/>
                    </a:lnTo>
                    <a:lnTo>
                      <a:pt x="57" y="82"/>
                    </a:lnTo>
                    <a:lnTo>
                      <a:pt x="51" y="82"/>
                    </a:lnTo>
                    <a:lnTo>
                      <a:pt x="38" y="76"/>
                    </a:lnTo>
                    <a:lnTo>
                      <a:pt x="32" y="69"/>
                    </a:lnTo>
                    <a:lnTo>
                      <a:pt x="32" y="1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8" name="Freeform 57"/>
              <p:cNvSpPr/>
              <p:nvPr/>
            </p:nvSpPr>
            <p:spPr>
              <a:xfrm>
                <a:off x="3744" y="993"/>
                <a:ext cx="51" cy="132"/>
              </a:xfrm>
              <a:custGeom>
                <a:avLst/>
                <a:gdLst>
                  <a:gd name="txL" fmla="*/ 0 w 51"/>
                  <a:gd name="txT" fmla="*/ 0 h 132"/>
                  <a:gd name="txR" fmla="*/ 51 w 51"/>
                  <a:gd name="txB" fmla="*/ 132 h 132"/>
                </a:gdLst>
                <a:ahLst/>
                <a:cxnLst>
                  <a:cxn ang="0">
                    <a:pos x="7" y="132"/>
                  </a:cxn>
                  <a:cxn ang="0">
                    <a:pos x="51" y="132"/>
                  </a:cxn>
                  <a:cxn ang="0">
                    <a:pos x="51" y="126"/>
                  </a:cxn>
                  <a:cxn ang="0">
                    <a:pos x="38" y="126"/>
                  </a:cxn>
                  <a:cxn ang="0">
                    <a:pos x="38" y="113"/>
                  </a:cxn>
                  <a:cxn ang="0">
                    <a:pos x="38" y="0"/>
                  </a:cxn>
                  <a:cxn ang="0">
                    <a:pos x="32" y="0"/>
                  </a:cxn>
                  <a:cxn ang="0">
                    <a:pos x="19" y="6"/>
                  </a:cxn>
                  <a:cxn ang="0">
                    <a:pos x="0" y="6"/>
                  </a:cxn>
                  <a:cxn ang="0">
                    <a:pos x="0" y="12"/>
                  </a:cxn>
                  <a:cxn ang="0">
                    <a:pos x="7" y="6"/>
                  </a:cxn>
                  <a:cxn ang="0">
                    <a:pos x="13" y="6"/>
                  </a:cxn>
                  <a:cxn ang="0">
                    <a:pos x="19" y="12"/>
                  </a:cxn>
                  <a:cxn ang="0">
                    <a:pos x="19" y="19"/>
                  </a:cxn>
                  <a:cxn ang="0">
                    <a:pos x="19" y="113"/>
                  </a:cxn>
                  <a:cxn ang="0">
                    <a:pos x="13" y="126"/>
                  </a:cxn>
                  <a:cxn ang="0">
                    <a:pos x="7" y="126"/>
                  </a:cxn>
                  <a:cxn ang="0">
                    <a:pos x="7" y="132"/>
                  </a:cxn>
                </a:cxnLst>
                <a:rect l="txL" t="txT" r="txR" b="txB"/>
                <a:pathLst>
                  <a:path w="51" h="132">
                    <a:moveTo>
                      <a:pt x="7" y="132"/>
                    </a:moveTo>
                    <a:lnTo>
                      <a:pt x="51" y="132"/>
                    </a:lnTo>
                    <a:lnTo>
                      <a:pt x="51" y="126"/>
                    </a:lnTo>
                    <a:lnTo>
                      <a:pt x="38" y="126"/>
                    </a:lnTo>
                    <a:lnTo>
                      <a:pt x="38" y="113"/>
                    </a:lnTo>
                    <a:lnTo>
                      <a:pt x="38" y="0"/>
                    </a:lnTo>
                    <a:lnTo>
                      <a:pt x="32" y="0"/>
                    </a:lnTo>
                    <a:lnTo>
                      <a:pt x="19" y="6"/>
                    </a:lnTo>
                    <a:lnTo>
                      <a:pt x="0" y="6"/>
                    </a:lnTo>
                    <a:lnTo>
                      <a:pt x="0" y="12"/>
                    </a:lnTo>
                    <a:lnTo>
                      <a:pt x="7" y="6"/>
                    </a:lnTo>
                    <a:lnTo>
                      <a:pt x="13" y="6"/>
                    </a:lnTo>
                    <a:lnTo>
                      <a:pt x="19" y="12"/>
                    </a:lnTo>
                    <a:lnTo>
                      <a:pt x="19" y="19"/>
                    </a:lnTo>
                    <a:lnTo>
                      <a:pt x="19" y="113"/>
                    </a:lnTo>
                    <a:lnTo>
                      <a:pt x="13" y="126"/>
                    </a:lnTo>
                    <a:lnTo>
                      <a:pt x="7" y="126"/>
                    </a:lnTo>
                    <a:lnTo>
                      <a:pt x="7" y="13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59" name="Freeform 58"/>
              <p:cNvSpPr>
                <a:spLocks noEditPoints="1"/>
              </p:cNvSpPr>
              <p:nvPr/>
            </p:nvSpPr>
            <p:spPr>
              <a:xfrm>
                <a:off x="3808" y="1037"/>
                <a:ext cx="75" cy="88"/>
              </a:xfrm>
              <a:custGeom>
                <a:avLst/>
                <a:gdLst>
                  <a:gd name="txL" fmla="*/ 0 w 75"/>
                  <a:gd name="txT" fmla="*/ 0 h 88"/>
                  <a:gd name="txR" fmla="*/ 75 w 75"/>
                  <a:gd name="txB" fmla="*/ 88 h 88"/>
                </a:gdLst>
                <a:ahLst/>
                <a:cxnLst>
                  <a:cxn ang="0">
                    <a:pos x="50" y="63"/>
                  </a:cxn>
                  <a:cxn ang="0">
                    <a:pos x="50" y="69"/>
                  </a:cxn>
                  <a:cxn ang="0">
                    <a:pos x="44" y="76"/>
                  </a:cxn>
                  <a:cxn ang="0">
                    <a:pos x="38" y="76"/>
                  </a:cxn>
                  <a:cxn ang="0">
                    <a:pos x="31" y="76"/>
                  </a:cxn>
                  <a:cxn ang="0">
                    <a:pos x="19" y="69"/>
                  </a:cxn>
                  <a:cxn ang="0">
                    <a:pos x="19" y="63"/>
                  </a:cxn>
                  <a:cxn ang="0">
                    <a:pos x="19" y="63"/>
                  </a:cxn>
                  <a:cxn ang="0">
                    <a:pos x="25" y="50"/>
                  </a:cxn>
                  <a:cxn ang="0">
                    <a:pos x="31" y="44"/>
                  </a:cxn>
                  <a:cxn ang="0">
                    <a:pos x="50" y="38"/>
                  </a:cxn>
                  <a:cxn ang="0">
                    <a:pos x="50" y="63"/>
                  </a:cxn>
                  <a:cxn ang="0">
                    <a:pos x="75" y="76"/>
                  </a:cxn>
                  <a:cxn ang="0">
                    <a:pos x="75" y="76"/>
                  </a:cxn>
                  <a:cxn ang="0">
                    <a:pos x="69" y="76"/>
                  </a:cxn>
                  <a:cxn ang="0">
                    <a:pos x="63" y="76"/>
                  </a:cxn>
                  <a:cxn ang="0">
                    <a:pos x="63" y="69"/>
                  </a:cxn>
                  <a:cxn ang="0">
                    <a:pos x="63" y="31"/>
                  </a:cxn>
                  <a:cxn ang="0">
                    <a:pos x="56" y="12"/>
                  </a:cxn>
                  <a:cxn ang="0">
                    <a:pos x="50" y="6"/>
                  </a:cxn>
                  <a:cxn ang="0">
                    <a:pos x="31" y="0"/>
                  </a:cxn>
                  <a:cxn ang="0">
                    <a:pos x="6" y="6"/>
                  </a:cxn>
                  <a:cxn ang="0">
                    <a:pos x="0" y="19"/>
                  </a:cxn>
                  <a:cxn ang="0">
                    <a:pos x="6" y="25"/>
                  </a:cxn>
                  <a:cxn ang="0">
                    <a:pos x="12" y="25"/>
                  </a:cxn>
                  <a:cxn ang="0">
                    <a:pos x="19" y="25"/>
                  </a:cxn>
                  <a:cxn ang="0">
                    <a:pos x="19" y="19"/>
                  </a:cxn>
                  <a:cxn ang="0">
                    <a:pos x="19" y="19"/>
                  </a:cxn>
                  <a:cxn ang="0">
                    <a:pos x="19" y="12"/>
                  </a:cxn>
                  <a:cxn ang="0">
                    <a:pos x="25" y="6"/>
                  </a:cxn>
                  <a:cxn ang="0">
                    <a:pos x="31" y="0"/>
                  </a:cxn>
                  <a:cxn ang="0">
                    <a:pos x="44" y="6"/>
                  </a:cxn>
                  <a:cxn ang="0">
                    <a:pos x="50" y="19"/>
                  </a:cxn>
                  <a:cxn ang="0">
                    <a:pos x="50" y="31"/>
                  </a:cxn>
                  <a:cxn ang="0">
                    <a:pos x="25" y="38"/>
                  </a:cxn>
                  <a:cxn ang="0">
                    <a:pos x="12" y="50"/>
                  </a:cxn>
                  <a:cxn ang="0">
                    <a:pos x="0" y="57"/>
                  </a:cxn>
                  <a:cxn ang="0">
                    <a:pos x="0" y="69"/>
                  </a:cxn>
                  <a:cxn ang="0">
                    <a:pos x="6" y="82"/>
                  </a:cxn>
                  <a:cxn ang="0">
                    <a:pos x="19" y="88"/>
                  </a:cxn>
                  <a:cxn ang="0">
                    <a:pos x="38" y="82"/>
                  </a:cxn>
                  <a:cxn ang="0">
                    <a:pos x="50" y="76"/>
                  </a:cxn>
                  <a:cxn ang="0">
                    <a:pos x="56" y="88"/>
                  </a:cxn>
                  <a:cxn ang="0">
                    <a:pos x="63" y="88"/>
                  </a:cxn>
                  <a:cxn ang="0">
                    <a:pos x="69" y="88"/>
                  </a:cxn>
                  <a:cxn ang="0">
                    <a:pos x="75" y="82"/>
                  </a:cxn>
                  <a:cxn ang="0">
                    <a:pos x="75" y="76"/>
                  </a:cxn>
                </a:cxnLst>
                <a:rect l="txL" t="txT" r="txR" b="txB"/>
                <a:pathLst>
                  <a:path w="75" h="88">
                    <a:moveTo>
                      <a:pt x="50" y="63"/>
                    </a:moveTo>
                    <a:lnTo>
                      <a:pt x="50" y="69"/>
                    </a:lnTo>
                    <a:lnTo>
                      <a:pt x="44" y="76"/>
                    </a:lnTo>
                    <a:lnTo>
                      <a:pt x="38" y="76"/>
                    </a:lnTo>
                    <a:lnTo>
                      <a:pt x="31" y="76"/>
                    </a:lnTo>
                    <a:lnTo>
                      <a:pt x="19" y="69"/>
                    </a:lnTo>
                    <a:lnTo>
                      <a:pt x="19" y="63"/>
                    </a:lnTo>
                    <a:lnTo>
                      <a:pt x="25" y="50"/>
                    </a:lnTo>
                    <a:lnTo>
                      <a:pt x="31" y="44"/>
                    </a:lnTo>
                    <a:lnTo>
                      <a:pt x="50" y="38"/>
                    </a:lnTo>
                    <a:lnTo>
                      <a:pt x="50" y="63"/>
                    </a:lnTo>
                    <a:close/>
                    <a:moveTo>
                      <a:pt x="75" y="76"/>
                    </a:moveTo>
                    <a:lnTo>
                      <a:pt x="75" y="76"/>
                    </a:lnTo>
                    <a:lnTo>
                      <a:pt x="69" y="76"/>
                    </a:lnTo>
                    <a:lnTo>
                      <a:pt x="63" y="76"/>
                    </a:lnTo>
                    <a:lnTo>
                      <a:pt x="63" y="69"/>
                    </a:lnTo>
                    <a:lnTo>
                      <a:pt x="63" y="31"/>
                    </a:lnTo>
                    <a:lnTo>
                      <a:pt x="56" y="12"/>
                    </a:lnTo>
                    <a:lnTo>
                      <a:pt x="50" y="6"/>
                    </a:lnTo>
                    <a:lnTo>
                      <a:pt x="31" y="0"/>
                    </a:lnTo>
                    <a:lnTo>
                      <a:pt x="6" y="6"/>
                    </a:lnTo>
                    <a:lnTo>
                      <a:pt x="0" y="19"/>
                    </a:lnTo>
                    <a:lnTo>
                      <a:pt x="6" y="25"/>
                    </a:lnTo>
                    <a:lnTo>
                      <a:pt x="12" y="25"/>
                    </a:lnTo>
                    <a:lnTo>
                      <a:pt x="19" y="25"/>
                    </a:lnTo>
                    <a:lnTo>
                      <a:pt x="19" y="19"/>
                    </a:lnTo>
                    <a:lnTo>
                      <a:pt x="19" y="12"/>
                    </a:lnTo>
                    <a:lnTo>
                      <a:pt x="25" y="6"/>
                    </a:lnTo>
                    <a:lnTo>
                      <a:pt x="31" y="0"/>
                    </a:lnTo>
                    <a:lnTo>
                      <a:pt x="44" y="6"/>
                    </a:lnTo>
                    <a:lnTo>
                      <a:pt x="50" y="19"/>
                    </a:lnTo>
                    <a:lnTo>
                      <a:pt x="50" y="31"/>
                    </a:lnTo>
                    <a:lnTo>
                      <a:pt x="25" y="38"/>
                    </a:lnTo>
                    <a:lnTo>
                      <a:pt x="12" y="50"/>
                    </a:lnTo>
                    <a:lnTo>
                      <a:pt x="0" y="57"/>
                    </a:lnTo>
                    <a:lnTo>
                      <a:pt x="0" y="69"/>
                    </a:lnTo>
                    <a:lnTo>
                      <a:pt x="6" y="82"/>
                    </a:lnTo>
                    <a:lnTo>
                      <a:pt x="19" y="88"/>
                    </a:lnTo>
                    <a:lnTo>
                      <a:pt x="38" y="82"/>
                    </a:lnTo>
                    <a:lnTo>
                      <a:pt x="50" y="76"/>
                    </a:lnTo>
                    <a:lnTo>
                      <a:pt x="56" y="88"/>
                    </a:lnTo>
                    <a:lnTo>
                      <a:pt x="63" y="88"/>
                    </a:lnTo>
                    <a:lnTo>
                      <a:pt x="69" y="88"/>
                    </a:lnTo>
                    <a:lnTo>
                      <a:pt x="75" y="82"/>
                    </a:lnTo>
                    <a:lnTo>
                      <a:pt x="75" y="7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0" name="Freeform 59"/>
              <p:cNvSpPr/>
              <p:nvPr/>
            </p:nvSpPr>
            <p:spPr>
              <a:xfrm>
                <a:off x="3890" y="1012"/>
                <a:ext cx="50" cy="113"/>
              </a:xfrm>
              <a:custGeom>
                <a:avLst/>
                <a:gdLst>
                  <a:gd name="txL" fmla="*/ 0 w 50"/>
                  <a:gd name="txT" fmla="*/ 0 h 113"/>
                  <a:gd name="txR" fmla="*/ 50 w 50"/>
                  <a:gd name="txB" fmla="*/ 113 h 113"/>
                </a:gdLst>
                <a:ahLst/>
                <a:cxnLst>
                  <a:cxn ang="0">
                    <a:pos x="44" y="25"/>
                  </a:cxn>
                  <a:cxn ang="0">
                    <a:pos x="25" y="25"/>
                  </a:cxn>
                  <a:cxn ang="0">
                    <a:pos x="25" y="0"/>
                  </a:cxn>
                  <a:cxn ang="0">
                    <a:pos x="25" y="0"/>
                  </a:cxn>
                  <a:cxn ang="0">
                    <a:pos x="19" y="12"/>
                  </a:cxn>
                  <a:cxn ang="0">
                    <a:pos x="6" y="19"/>
                  </a:cxn>
                  <a:cxn ang="0">
                    <a:pos x="6" y="25"/>
                  </a:cxn>
                  <a:cxn ang="0">
                    <a:pos x="0" y="31"/>
                  </a:cxn>
                  <a:cxn ang="0">
                    <a:pos x="0" y="31"/>
                  </a:cxn>
                  <a:cxn ang="0">
                    <a:pos x="12" y="31"/>
                  </a:cxn>
                  <a:cxn ang="0">
                    <a:pos x="12" y="88"/>
                  </a:cxn>
                  <a:cxn ang="0">
                    <a:pos x="19" y="107"/>
                  </a:cxn>
                  <a:cxn ang="0">
                    <a:pos x="31" y="113"/>
                  </a:cxn>
                  <a:cxn ang="0">
                    <a:pos x="44" y="107"/>
                  </a:cxn>
                  <a:cxn ang="0">
                    <a:pos x="50" y="101"/>
                  </a:cxn>
                  <a:cxn ang="0">
                    <a:pos x="50" y="94"/>
                  </a:cxn>
                  <a:cxn ang="0">
                    <a:pos x="44" y="101"/>
                  </a:cxn>
                  <a:cxn ang="0">
                    <a:pos x="38" y="107"/>
                  </a:cxn>
                  <a:cxn ang="0">
                    <a:pos x="25" y="101"/>
                  </a:cxn>
                  <a:cxn ang="0">
                    <a:pos x="25" y="88"/>
                  </a:cxn>
                  <a:cxn ang="0">
                    <a:pos x="25" y="31"/>
                  </a:cxn>
                  <a:cxn ang="0">
                    <a:pos x="44" y="31"/>
                  </a:cxn>
                  <a:cxn ang="0">
                    <a:pos x="44" y="25"/>
                  </a:cxn>
                </a:cxnLst>
                <a:rect l="txL" t="txT" r="txR" b="txB"/>
                <a:pathLst>
                  <a:path w="50" h="113">
                    <a:moveTo>
                      <a:pt x="44" y="25"/>
                    </a:moveTo>
                    <a:lnTo>
                      <a:pt x="25" y="25"/>
                    </a:lnTo>
                    <a:lnTo>
                      <a:pt x="25" y="0"/>
                    </a:lnTo>
                    <a:lnTo>
                      <a:pt x="19" y="12"/>
                    </a:lnTo>
                    <a:lnTo>
                      <a:pt x="6" y="19"/>
                    </a:lnTo>
                    <a:lnTo>
                      <a:pt x="6" y="25"/>
                    </a:lnTo>
                    <a:lnTo>
                      <a:pt x="0" y="31"/>
                    </a:lnTo>
                    <a:lnTo>
                      <a:pt x="12" y="31"/>
                    </a:lnTo>
                    <a:lnTo>
                      <a:pt x="12" y="88"/>
                    </a:lnTo>
                    <a:lnTo>
                      <a:pt x="19" y="107"/>
                    </a:lnTo>
                    <a:lnTo>
                      <a:pt x="31" y="113"/>
                    </a:lnTo>
                    <a:lnTo>
                      <a:pt x="44" y="107"/>
                    </a:lnTo>
                    <a:lnTo>
                      <a:pt x="50" y="101"/>
                    </a:lnTo>
                    <a:lnTo>
                      <a:pt x="50" y="94"/>
                    </a:lnTo>
                    <a:lnTo>
                      <a:pt x="44" y="101"/>
                    </a:lnTo>
                    <a:lnTo>
                      <a:pt x="38" y="107"/>
                    </a:lnTo>
                    <a:lnTo>
                      <a:pt x="25" y="101"/>
                    </a:lnTo>
                    <a:lnTo>
                      <a:pt x="25" y="88"/>
                    </a:lnTo>
                    <a:lnTo>
                      <a:pt x="25" y="31"/>
                    </a:lnTo>
                    <a:lnTo>
                      <a:pt x="44" y="31"/>
                    </a:lnTo>
                    <a:lnTo>
                      <a:pt x="44"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1" name="Freeform 60"/>
              <p:cNvSpPr>
                <a:spLocks noEditPoints="1"/>
              </p:cNvSpPr>
              <p:nvPr/>
            </p:nvSpPr>
            <p:spPr>
              <a:xfrm>
                <a:off x="3947" y="1037"/>
                <a:ext cx="75" cy="88"/>
              </a:xfrm>
              <a:custGeom>
                <a:avLst/>
                <a:gdLst>
                  <a:gd name="txL" fmla="*/ 0 w 75"/>
                  <a:gd name="txT" fmla="*/ 0 h 88"/>
                  <a:gd name="txR" fmla="*/ 75 w 75"/>
                  <a:gd name="txB" fmla="*/ 88 h 88"/>
                </a:gdLst>
                <a:ahLst/>
                <a:cxnLst>
                  <a:cxn ang="0">
                    <a:pos x="75" y="57"/>
                  </a:cxn>
                  <a:cxn ang="0">
                    <a:pos x="63" y="69"/>
                  </a:cxn>
                  <a:cxn ang="0">
                    <a:pos x="44" y="76"/>
                  </a:cxn>
                  <a:cxn ang="0">
                    <a:pos x="38" y="76"/>
                  </a:cxn>
                  <a:cxn ang="0">
                    <a:pos x="25" y="69"/>
                  </a:cxn>
                  <a:cxn ang="0">
                    <a:pos x="19" y="57"/>
                  </a:cxn>
                  <a:cxn ang="0">
                    <a:pos x="12" y="31"/>
                  </a:cxn>
                  <a:cxn ang="0">
                    <a:pos x="75" y="31"/>
                  </a:cxn>
                  <a:cxn ang="0">
                    <a:pos x="75" y="19"/>
                  </a:cxn>
                  <a:cxn ang="0">
                    <a:pos x="63" y="6"/>
                  </a:cxn>
                  <a:cxn ang="0">
                    <a:pos x="38" y="0"/>
                  </a:cxn>
                  <a:cxn ang="0">
                    <a:pos x="25" y="0"/>
                  </a:cxn>
                  <a:cxn ang="0">
                    <a:pos x="12" y="6"/>
                  </a:cxn>
                  <a:cxn ang="0">
                    <a:pos x="6" y="19"/>
                  </a:cxn>
                  <a:cxn ang="0">
                    <a:pos x="0" y="44"/>
                  </a:cxn>
                  <a:cxn ang="0">
                    <a:pos x="0" y="63"/>
                  </a:cxn>
                  <a:cxn ang="0">
                    <a:pos x="12" y="76"/>
                  </a:cxn>
                  <a:cxn ang="0">
                    <a:pos x="38" y="88"/>
                  </a:cxn>
                  <a:cxn ang="0">
                    <a:pos x="56" y="82"/>
                  </a:cxn>
                  <a:cxn ang="0">
                    <a:pos x="69" y="76"/>
                  </a:cxn>
                  <a:cxn ang="0">
                    <a:pos x="75" y="63"/>
                  </a:cxn>
                  <a:cxn ang="0">
                    <a:pos x="75" y="57"/>
                  </a:cxn>
                  <a:cxn ang="0">
                    <a:pos x="75" y="57"/>
                  </a:cxn>
                  <a:cxn ang="0">
                    <a:pos x="12" y="25"/>
                  </a:cxn>
                  <a:cxn ang="0">
                    <a:pos x="25" y="12"/>
                  </a:cxn>
                  <a:cxn ang="0">
                    <a:pos x="38" y="6"/>
                  </a:cxn>
                  <a:cxn ang="0">
                    <a:pos x="50" y="12"/>
                  </a:cxn>
                  <a:cxn ang="0">
                    <a:pos x="56" y="25"/>
                  </a:cxn>
                  <a:cxn ang="0">
                    <a:pos x="12" y="25"/>
                  </a:cxn>
                </a:cxnLst>
                <a:rect l="txL" t="txT" r="txR" b="txB"/>
                <a:pathLst>
                  <a:path w="75" h="88">
                    <a:moveTo>
                      <a:pt x="75" y="57"/>
                    </a:moveTo>
                    <a:lnTo>
                      <a:pt x="63" y="69"/>
                    </a:lnTo>
                    <a:lnTo>
                      <a:pt x="44" y="76"/>
                    </a:lnTo>
                    <a:lnTo>
                      <a:pt x="38" y="76"/>
                    </a:lnTo>
                    <a:lnTo>
                      <a:pt x="25" y="69"/>
                    </a:lnTo>
                    <a:lnTo>
                      <a:pt x="19" y="57"/>
                    </a:lnTo>
                    <a:lnTo>
                      <a:pt x="12" y="31"/>
                    </a:lnTo>
                    <a:lnTo>
                      <a:pt x="75" y="31"/>
                    </a:lnTo>
                    <a:lnTo>
                      <a:pt x="75" y="19"/>
                    </a:lnTo>
                    <a:lnTo>
                      <a:pt x="63" y="6"/>
                    </a:lnTo>
                    <a:lnTo>
                      <a:pt x="38" y="0"/>
                    </a:lnTo>
                    <a:lnTo>
                      <a:pt x="25" y="0"/>
                    </a:lnTo>
                    <a:lnTo>
                      <a:pt x="12" y="6"/>
                    </a:lnTo>
                    <a:lnTo>
                      <a:pt x="6" y="19"/>
                    </a:lnTo>
                    <a:lnTo>
                      <a:pt x="0" y="44"/>
                    </a:lnTo>
                    <a:lnTo>
                      <a:pt x="0" y="63"/>
                    </a:lnTo>
                    <a:lnTo>
                      <a:pt x="12" y="76"/>
                    </a:lnTo>
                    <a:lnTo>
                      <a:pt x="38" y="88"/>
                    </a:lnTo>
                    <a:lnTo>
                      <a:pt x="56" y="82"/>
                    </a:lnTo>
                    <a:lnTo>
                      <a:pt x="69" y="76"/>
                    </a:lnTo>
                    <a:lnTo>
                      <a:pt x="75" y="63"/>
                    </a:lnTo>
                    <a:lnTo>
                      <a:pt x="75" y="57"/>
                    </a:lnTo>
                    <a:close/>
                    <a:moveTo>
                      <a:pt x="12" y="25"/>
                    </a:moveTo>
                    <a:lnTo>
                      <a:pt x="25" y="12"/>
                    </a:lnTo>
                    <a:lnTo>
                      <a:pt x="38" y="6"/>
                    </a:lnTo>
                    <a:lnTo>
                      <a:pt x="50" y="12"/>
                    </a:lnTo>
                    <a:lnTo>
                      <a:pt x="56" y="25"/>
                    </a:lnTo>
                    <a:lnTo>
                      <a:pt x="12"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2" name="Freeform 61"/>
              <p:cNvSpPr/>
              <p:nvPr/>
            </p:nvSpPr>
            <p:spPr>
              <a:xfrm>
                <a:off x="4041" y="1037"/>
                <a:ext cx="57" cy="88"/>
              </a:xfrm>
              <a:custGeom>
                <a:avLst/>
                <a:gdLst>
                  <a:gd name="txL" fmla="*/ 0 w 57"/>
                  <a:gd name="txT" fmla="*/ 0 h 88"/>
                  <a:gd name="txR" fmla="*/ 57 w 57"/>
                  <a:gd name="txB" fmla="*/ 88 h 88"/>
                </a:gdLst>
                <a:ahLst/>
                <a:cxnLst>
                  <a:cxn ang="0">
                    <a:pos x="51" y="25"/>
                  </a:cxn>
                  <a:cxn ang="0">
                    <a:pos x="51" y="0"/>
                  </a:cxn>
                  <a:cxn ang="0">
                    <a:pos x="45" y="0"/>
                  </a:cxn>
                  <a:cxn ang="0">
                    <a:pos x="45" y="0"/>
                  </a:cxn>
                  <a:cxn ang="0">
                    <a:pos x="26" y="0"/>
                  </a:cxn>
                  <a:cxn ang="0">
                    <a:pos x="7" y="6"/>
                  </a:cxn>
                  <a:cxn ang="0">
                    <a:pos x="0" y="19"/>
                  </a:cxn>
                  <a:cxn ang="0">
                    <a:pos x="7" y="38"/>
                  </a:cxn>
                  <a:cxn ang="0">
                    <a:pos x="19" y="50"/>
                  </a:cxn>
                  <a:cxn ang="0">
                    <a:pos x="32" y="57"/>
                  </a:cxn>
                  <a:cxn ang="0">
                    <a:pos x="38" y="63"/>
                  </a:cxn>
                  <a:cxn ang="0">
                    <a:pos x="45" y="69"/>
                  </a:cxn>
                  <a:cxn ang="0">
                    <a:pos x="38" y="82"/>
                  </a:cxn>
                  <a:cxn ang="0">
                    <a:pos x="26" y="82"/>
                  </a:cxn>
                  <a:cxn ang="0">
                    <a:pos x="13" y="82"/>
                  </a:cxn>
                  <a:cxn ang="0">
                    <a:pos x="7" y="76"/>
                  </a:cxn>
                  <a:cxn ang="0">
                    <a:pos x="0" y="57"/>
                  </a:cxn>
                  <a:cxn ang="0">
                    <a:pos x="0" y="57"/>
                  </a:cxn>
                  <a:cxn ang="0">
                    <a:pos x="0" y="88"/>
                  </a:cxn>
                  <a:cxn ang="0">
                    <a:pos x="0" y="88"/>
                  </a:cxn>
                  <a:cxn ang="0">
                    <a:pos x="0" y="88"/>
                  </a:cxn>
                  <a:cxn ang="0">
                    <a:pos x="7" y="88"/>
                  </a:cxn>
                  <a:cxn ang="0">
                    <a:pos x="26" y="88"/>
                  </a:cxn>
                  <a:cxn ang="0">
                    <a:pos x="45" y="82"/>
                  </a:cxn>
                  <a:cxn ang="0">
                    <a:pos x="57" y="76"/>
                  </a:cxn>
                  <a:cxn ang="0">
                    <a:pos x="57" y="63"/>
                  </a:cxn>
                  <a:cxn ang="0">
                    <a:pos x="51" y="50"/>
                  </a:cxn>
                  <a:cxn ang="0">
                    <a:pos x="38" y="38"/>
                  </a:cxn>
                  <a:cxn ang="0">
                    <a:pos x="19" y="25"/>
                  </a:cxn>
                  <a:cxn ang="0">
                    <a:pos x="13" y="19"/>
                  </a:cxn>
                  <a:cxn ang="0">
                    <a:pos x="13" y="12"/>
                  </a:cxn>
                  <a:cxn ang="0">
                    <a:pos x="13" y="6"/>
                  </a:cxn>
                  <a:cxn ang="0">
                    <a:pos x="26" y="0"/>
                  </a:cxn>
                  <a:cxn ang="0">
                    <a:pos x="38" y="6"/>
                  </a:cxn>
                  <a:cxn ang="0">
                    <a:pos x="45" y="25"/>
                  </a:cxn>
                  <a:cxn ang="0">
                    <a:pos x="51" y="25"/>
                  </a:cxn>
                </a:cxnLst>
                <a:rect l="txL" t="txT" r="txR" b="txB"/>
                <a:pathLst>
                  <a:path w="57" h="88">
                    <a:moveTo>
                      <a:pt x="51" y="25"/>
                    </a:moveTo>
                    <a:lnTo>
                      <a:pt x="51" y="0"/>
                    </a:lnTo>
                    <a:lnTo>
                      <a:pt x="45" y="0"/>
                    </a:lnTo>
                    <a:lnTo>
                      <a:pt x="26" y="0"/>
                    </a:lnTo>
                    <a:lnTo>
                      <a:pt x="7" y="6"/>
                    </a:lnTo>
                    <a:lnTo>
                      <a:pt x="0" y="19"/>
                    </a:lnTo>
                    <a:lnTo>
                      <a:pt x="7" y="38"/>
                    </a:lnTo>
                    <a:lnTo>
                      <a:pt x="19" y="50"/>
                    </a:lnTo>
                    <a:lnTo>
                      <a:pt x="32" y="57"/>
                    </a:lnTo>
                    <a:lnTo>
                      <a:pt x="38" y="63"/>
                    </a:lnTo>
                    <a:lnTo>
                      <a:pt x="45" y="69"/>
                    </a:lnTo>
                    <a:lnTo>
                      <a:pt x="38" y="82"/>
                    </a:lnTo>
                    <a:lnTo>
                      <a:pt x="26" y="82"/>
                    </a:lnTo>
                    <a:lnTo>
                      <a:pt x="13" y="82"/>
                    </a:lnTo>
                    <a:lnTo>
                      <a:pt x="7" y="76"/>
                    </a:lnTo>
                    <a:lnTo>
                      <a:pt x="0" y="57"/>
                    </a:lnTo>
                    <a:lnTo>
                      <a:pt x="0" y="88"/>
                    </a:lnTo>
                    <a:lnTo>
                      <a:pt x="7" y="88"/>
                    </a:lnTo>
                    <a:lnTo>
                      <a:pt x="26" y="88"/>
                    </a:lnTo>
                    <a:lnTo>
                      <a:pt x="45" y="82"/>
                    </a:lnTo>
                    <a:lnTo>
                      <a:pt x="57" y="76"/>
                    </a:lnTo>
                    <a:lnTo>
                      <a:pt x="57" y="63"/>
                    </a:lnTo>
                    <a:lnTo>
                      <a:pt x="51" y="50"/>
                    </a:lnTo>
                    <a:lnTo>
                      <a:pt x="38" y="38"/>
                    </a:lnTo>
                    <a:lnTo>
                      <a:pt x="19" y="25"/>
                    </a:lnTo>
                    <a:lnTo>
                      <a:pt x="13" y="19"/>
                    </a:lnTo>
                    <a:lnTo>
                      <a:pt x="13" y="12"/>
                    </a:lnTo>
                    <a:lnTo>
                      <a:pt x="13" y="6"/>
                    </a:lnTo>
                    <a:lnTo>
                      <a:pt x="26" y="0"/>
                    </a:lnTo>
                    <a:lnTo>
                      <a:pt x="38" y="6"/>
                    </a:lnTo>
                    <a:lnTo>
                      <a:pt x="45" y="25"/>
                    </a:lnTo>
                    <a:lnTo>
                      <a:pt x="51"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3" name="Freeform 62"/>
              <p:cNvSpPr/>
              <p:nvPr/>
            </p:nvSpPr>
            <p:spPr>
              <a:xfrm>
                <a:off x="4117" y="1106"/>
                <a:ext cx="25" cy="44"/>
              </a:xfrm>
              <a:custGeom>
                <a:avLst/>
                <a:gdLst>
                  <a:gd name="txL" fmla="*/ 0 w 25"/>
                  <a:gd name="txT" fmla="*/ 0 h 44"/>
                  <a:gd name="txR" fmla="*/ 25 w 25"/>
                  <a:gd name="txB" fmla="*/ 44 h 44"/>
                </a:gdLst>
                <a:ahLst/>
                <a:cxnLst>
                  <a:cxn ang="0">
                    <a:pos x="7" y="44"/>
                  </a:cxn>
                  <a:cxn ang="0">
                    <a:pos x="19" y="38"/>
                  </a:cxn>
                  <a:cxn ang="0">
                    <a:pos x="25" y="19"/>
                  </a:cxn>
                  <a:cxn ang="0">
                    <a:pos x="25" y="7"/>
                  </a:cxn>
                  <a:cxn ang="0">
                    <a:pos x="19" y="0"/>
                  </a:cxn>
                  <a:cxn ang="0">
                    <a:pos x="13" y="0"/>
                  </a:cxn>
                  <a:cxn ang="0">
                    <a:pos x="7" y="0"/>
                  </a:cxn>
                  <a:cxn ang="0">
                    <a:pos x="0" y="7"/>
                  </a:cxn>
                  <a:cxn ang="0">
                    <a:pos x="7" y="19"/>
                  </a:cxn>
                  <a:cxn ang="0">
                    <a:pos x="13" y="19"/>
                  </a:cxn>
                  <a:cxn ang="0">
                    <a:pos x="13" y="19"/>
                  </a:cxn>
                  <a:cxn ang="0">
                    <a:pos x="19" y="19"/>
                  </a:cxn>
                  <a:cxn ang="0">
                    <a:pos x="19" y="19"/>
                  </a:cxn>
                  <a:cxn ang="0">
                    <a:pos x="19" y="19"/>
                  </a:cxn>
                  <a:cxn ang="0">
                    <a:pos x="19" y="32"/>
                  </a:cxn>
                  <a:cxn ang="0">
                    <a:pos x="7" y="44"/>
                  </a:cxn>
                  <a:cxn ang="0">
                    <a:pos x="7" y="44"/>
                  </a:cxn>
                </a:cxnLst>
                <a:rect l="txL" t="txT" r="txR" b="txB"/>
                <a:pathLst>
                  <a:path w="25" h="44">
                    <a:moveTo>
                      <a:pt x="7" y="44"/>
                    </a:moveTo>
                    <a:lnTo>
                      <a:pt x="19" y="38"/>
                    </a:lnTo>
                    <a:lnTo>
                      <a:pt x="25" y="19"/>
                    </a:lnTo>
                    <a:lnTo>
                      <a:pt x="25" y="7"/>
                    </a:lnTo>
                    <a:lnTo>
                      <a:pt x="19" y="0"/>
                    </a:lnTo>
                    <a:lnTo>
                      <a:pt x="13" y="0"/>
                    </a:lnTo>
                    <a:lnTo>
                      <a:pt x="7" y="0"/>
                    </a:lnTo>
                    <a:lnTo>
                      <a:pt x="0" y="7"/>
                    </a:lnTo>
                    <a:lnTo>
                      <a:pt x="7" y="19"/>
                    </a:lnTo>
                    <a:lnTo>
                      <a:pt x="13" y="19"/>
                    </a:lnTo>
                    <a:lnTo>
                      <a:pt x="19" y="19"/>
                    </a:lnTo>
                    <a:lnTo>
                      <a:pt x="19" y="32"/>
                    </a:lnTo>
                    <a:lnTo>
                      <a:pt x="7" y="4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4" name="Freeform 63"/>
              <p:cNvSpPr>
                <a:spLocks noEditPoints="1"/>
              </p:cNvSpPr>
              <p:nvPr/>
            </p:nvSpPr>
            <p:spPr>
              <a:xfrm>
                <a:off x="3138" y="1277"/>
                <a:ext cx="82" cy="94"/>
              </a:xfrm>
              <a:custGeom>
                <a:avLst/>
                <a:gdLst>
                  <a:gd name="txL" fmla="*/ 0 w 82"/>
                  <a:gd name="txT" fmla="*/ 0 h 94"/>
                  <a:gd name="txR" fmla="*/ 82 w 82"/>
                  <a:gd name="txB" fmla="*/ 94 h 94"/>
                </a:gdLst>
                <a:ahLst/>
                <a:cxnLst>
                  <a:cxn ang="0">
                    <a:pos x="76" y="56"/>
                  </a:cxn>
                  <a:cxn ang="0">
                    <a:pos x="63" y="75"/>
                  </a:cxn>
                  <a:cxn ang="0">
                    <a:pos x="44" y="82"/>
                  </a:cxn>
                  <a:cxn ang="0">
                    <a:pos x="25" y="69"/>
                  </a:cxn>
                  <a:cxn ang="0">
                    <a:pos x="19" y="56"/>
                  </a:cxn>
                  <a:cxn ang="0">
                    <a:pos x="13" y="37"/>
                  </a:cxn>
                  <a:cxn ang="0">
                    <a:pos x="76" y="37"/>
                  </a:cxn>
                  <a:cxn ang="0">
                    <a:pos x="69" y="12"/>
                  </a:cxn>
                  <a:cxn ang="0">
                    <a:pos x="44" y="0"/>
                  </a:cxn>
                  <a:cxn ang="0">
                    <a:pos x="32" y="0"/>
                  </a:cxn>
                  <a:cxn ang="0">
                    <a:pos x="13" y="12"/>
                  </a:cxn>
                  <a:cxn ang="0">
                    <a:pos x="6" y="25"/>
                  </a:cxn>
                  <a:cxn ang="0">
                    <a:pos x="0" y="50"/>
                  </a:cxn>
                  <a:cxn ang="0">
                    <a:pos x="6" y="69"/>
                  </a:cxn>
                  <a:cxn ang="0">
                    <a:pos x="13" y="82"/>
                  </a:cxn>
                  <a:cxn ang="0">
                    <a:pos x="25" y="94"/>
                  </a:cxn>
                  <a:cxn ang="0">
                    <a:pos x="38" y="94"/>
                  </a:cxn>
                  <a:cxn ang="0">
                    <a:pos x="57" y="88"/>
                  </a:cxn>
                  <a:cxn ang="0">
                    <a:pos x="69" y="82"/>
                  </a:cxn>
                  <a:cxn ang="0">
                    <a:pos x="76" y="69"/>
                  </a:cxn>
                  <a:cxn ang="0">
                    <a:pos x="82" y="63"/>
                  </a:cxn>
                  <a:cxn ang="0">
                    <a:pos x="76" y="56"/>
                  </a:cxn>
                  <a:cxn ang="0">
                    <a:pos x="13" y="31"/>
                  </a:cxn>
                  <a:cxn ang="0">
                    <a:pos x="25" y="12"/>
                  </a:cxn>
                  <a:cxn ang="0">
                    <a:pos x="38" y="6"/>
                  </a:cxn>
                  <a:cxn ang="0">
                    <a:pos x="51" y="12"/>
                  </a:cxn>
                  <a:cxn ang="0">
                    <a:pos x="57" y="31"/>
                  </a:cxn>
                  <a:cxn ang="0">
                    <a:pos x="13" y="31"/>
                  </a:cxn>
                </a:cxnLst>
                <a:rect l="txL" t="txT" r="txR" b="txB"/>
                <a:pathLst>
                  <a:path w="82" h="94">
                    <a:moveTo>
                      <a:pt x="76" y="56"/>
                    </a:moveTo>
                    <a:lnTo>
                      <a:pt x="63" y="75"/>
                    </a:lnTo>
                    <a:lnTo>
                      <a:pt x="44" y="82"/>
                    </a:lnTo>
                    <a:lnTo>
                      <a:pt x="25" y="69"/>
                    </a:lnTo>
                    <a:lnTo>
                      <a:pt x="19" y="56"/>
                    </a:lnTo>
                    <a:lnTo>
                      <a:pt x="13" y="37"/>
                    </a:lnTo>
                    <a:lnTo>
                      <a:pt x="76" y="37"/>
                    </a:lnTo>
                    <a:lnTo>
                      <a:pt x="69" y="12"/>
                    </a:lnTo>
                    <a:lnTo>
                      <a:pt x="44" y="0"/>
                    </a:lnTo>
                    <a:lnTo>
                      <a:pt x="32" y="0"/>
                    </a:lnTo>
                    <a:lnTo>
                      <a:pt x="13" y="12"/>
                    </a:lnTo>
                    <a:lnTo>
                      <a:pt x="6" y="25"/>
                    </a:lnTo>
                    <a:lnTo>
                      <a:pt x="0" y="50"/>
                    </a:lnTo>
                    <a:lnTo>
                      <a:pt x="6" y="69"/>
                    </a:lnTo>
                    <a:lnTo>
                      <a:pt x="13" y="82"/>
                    </a:lnTo>
                    <a:lnTo>
                      <a:pt x="25" y="94"/>
                    </a:lnTo>
                    <a:lnTo>
                      <a:pt x="38" y="94"/>
                    </a:lnTo>
                    <a:lnTo>
                      <a:pt x="57" y="88"/>
                    </a:lnTo>
                    <a:lnTo>
                      <a:pt x="69" y="82"/>
                    </a:lnTo>
                    <a:lnTo>
                      <a:pt x="76" y="69"/>
                    </a:lnTo>
                    <a:lnTo>
                      <a:pt x="82" y="63"/>
                    </a:lnTo>
                    <a:lnTo>
                      <a:pt x="76" y="56"/>
                    </a:lnTo>
                    <a:close/>
                    <a:moveTo>
                      <a:pt x="13" y="31"/>
                    </a:moveTo>
                    <a:lnTo>
                      <a:pt x="25" y="12"/>
                    </a:lnTo>
                    <a:lnTo>
                      <a:pt x="38" y="6"/>
                    </a:lnTo>
                    <a:lnTo>
                      <a:pt x="51" y="12"/>
                    </a:lnTo>
                    <a:lnTo>
                      <a:pt x="57" y="31"/>
                    </a:lnTo>
                    <a:lnTo>
                      <a:pt x="13" y="3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5" name="Freeform 64"/>
              <p:cNvSpPr>
                <a:spLocks noEditPoints="1"/>
              </p:cNvSpPr>
              <p:nvPr/>
            </p:nvSpPr>
            <p:spPr>
              <a:xfrm>
                <a:off x="3226" y="1277"/>
                <a:ext cx="83" cy="94"/>
              </a:xfrm>
              <a:custGeom>
                <a:avLst/>
                <a:gdLst>
                  <a:gd name="txL" fmla="*/ 0 w 83"/>
                  <a:gd name="txT" fmla="*/ 0 h 94"/>
                  <a:gd name="txR" fmla="*/ 83 w 83"/>
                  <a:gd name="txB" fmla="*/ 94 h 94"/>
                </a:gdLst>
                <a:ahLst/>
                <a:cxnLst>
                  <a:cxn ang="0">
                    <a:pos x="51" y="69"/>
                  </a:cxn>
                  <a:cxn ang="0">
                    <a:pos x="51" y="75"/>
                  </a:cxn>
                  <a:cxn ang="0">
                    <a:pos x="45" y="82"/>
                  </a:cxn>
                  <a:cxn ang="0">
                    <a:pos x="38" y="82"/>
                  </a:cxn>
                  <a:cxn ang="0">
                    <a:pos x="32" y="82"/>
                  </a:cxn>
                  <a:cxn ang="0">
                    <a:pos x="26" y="75"/>
                  </a:cxn>
                  <a:cxn ang="0">
                    <a:pos x="19" y="69"/>
                  </a:cxn>
                  <a:cxn ang="0">
                    <a:pos x="19" y="69"/>
                  </a:cxn>
                  <a:cxn ang="0">
                    <a:pos x="26" y="56"/>
                  </a:cxn>
                  <a:cxn ang="0">
                    <a:pos x="38" y="50"/>
                  </a:cxn>
                  <a:cxn ang="0">
                    <a:pos x="51" y="37"/>
                  </a:cxn>
                  <a:cxn ang="0">
                    <a:pos x="51" y="69"/>
                  </a:cxn>
                  <a:cxn ang="0">
                    <a:pos x="83" y="82"/>
                  </a:cxn>
                  <a:cxn ang="0">
                    <a:pos x="83" y="82"/>
                  </a:cxn>
                  <a:cxn ang="0">
                    <a:pos x="76" y="82"/>
                  </a:cxn>
                  <a:cxn ang="0">
                    <a:pos x="70" y="75"/>
                  </a:cxn>
                  <a:cxn ang="0">
                    <a:pos x="70" y="69"/>
                  </a:cxn>
                  <a:cxn ang="0">
                    <a:pos x="70" y="31"/>
                  </a:cxn>
                  <a:cxn ang="0">
                    <a:pos x="64" y="12"/>
                  </a:cxn>
                  <a:cxn ang="0">
                    <a:pos x="57" y="6"/>
                  </a:cxn>
                  <a:cxn ang="0">
                    <a:pos x="38" y="0"/>
                  </a:cxn>
                  <a:cxn ang="0">
                    <a:pos x="26" y="6"/>
                  </a:cxn>
                  <a:cxn ang="0">
                    <a:pos x="13" y="12"/>
                  </a:cxn>
                  <a:cxn ang="0">
                    <a:pos x="7" y="25"/>
                  </a:cxn>
                  <a:cxn ang="0">
                    <a:pos x="7" y="31"/>
                  </a:cxn>
                  <a:cxn ang="0">
                    <a:pos x="13" y="31"/>
                  </a:cxn>
                  <a:cxn ang="0">
                    <a:pos x="19" y="31"/>
                  </a:cxn>
                  <a:cxn ang="0">
                    <a:pos x="26" y="25"/>
                  </a:cxn>
                  <a:cxn ang="0">
                    <a:pos x="26" y="18"/>
                  </a:cxn>
                  <a:cxn ang="0">
                    <a:pos x="26" y="18"/>
                  </a:cxn>
                  <a:cxn ang="0">
                    <a:pos x="32" y="12"/>
                  </a:cxn>
                  <a:cxn ang="0">
                    <a:pos x="38" y="6"/>
                  </a:cxn>
                  <a:cxn ang="0">
                    <a:pos x="45" y="6"/>
                  </a:cxn>
                  <a:cxn ang="0">
                    <a:pos x="51" y="12"/>
                  </a:cxn>
                  <a:cxn ang="0">
                    <a:pos x="51" y="25"/>
                  </a:cxn>
                  <a:cxn ang="0">
                    <a:pos x="51" y="37"/>
                  </a:cxn>
                  <a:cxn ang="0">
                    <a:pos x="13" y="50"/>
                  </a:cxn>
                  <a:cxn ang="0">
                    <a:pos x="7" y="63"/>
                  </a:cxn>
                  <a:cxn ang="0">
                    <a:pos x="0" y="75"/>
                  </a:cxn>
                  <a:cxn ang="0">
                    <a:pos x="7" y="88"/>
                  </a:cxn>
                  <a:cxn ang="0">
                    <a:pos x="26" y="94"/>
                  </a:cxn>
                  <a:cxn ang="0">
                    <a:pos x="38" y="88"/>
                  </a:cxn>
                  <a:cxn ang="0">
                    <a:pos x="51" y="82"/>
                  </a:cxn>
                  <a:cxn ang="0">
                    <a:pos x="57" y="94"/>
                  </a:cxn>
                  <a:cxn ang="0">
                    <a:pos x="64" y="94"/>
                  </a:cxn>
                  <a:cxn ang="0">
                    <a:pos x="76" y="94"/>
                  </a:cxn>
                  <a:cxn ang="0">
                    <a:pos x="83" y="82"/>
                  </a:cxn>
                  <a:cxn ang="0">
                    <a:pos x="83" y="82"/>
                  </a:cxn>
                </a:cxnLst>
                <a:rect l="txL" t="txT" r="txR" b="txB"/>
                <a:pathLst>
                  <a:path w="83" h="94">
                    <a:moveTo>
                      <a:pt x="51" y="69"/>
                    </a:moveTo>
                    <a:lnTo>
                      <a:pt x="51" y="75"/>
                    </a:lnTo>
                    <a:lnTo>
                      <a:pt x="45" y="82"/>
                    </a:lnTo>
                    <a:lnTo>
                      <a:pt x="38" y="82"/>
                    </a:lnTo>
                    <a:lnTo>
                      <a:pt x="32" y="82"/>
                    </a:lnTo>
                    <a:lnTo>
                      <a:pt x="26" y="75"/>
                    </a:lnTo>
                    <a:lnTo>
                      <a:pt x="19" y="69"/>
                    </a:lnTo>
                    <a:lnTo>
                      <a:pt x="26" y="56"/>
                    </a:lnTo>
                    <a:lnTo>
                      <a:pt x="38" y="50"/>
                    </a:lnTo>
                    <a:lnTo>
                      <a:pt x="51" y="37"/>
                    </a:lnTo>
                    <a:lnTo>
                      <a:pt x="51" y="69"/>
                    </a:lnTo>
                    <a:close/>
                    <a:moveTo>
                      <a:pt x="83" y="82"/>
                    </a:moveTo>
                    <a:lnTo>
                      <a:pt x="83" y="82"/>
                    </a:lnTo>
                    <a:lnTo>
                      <a:pt x="76" y="82"/>
                    </a:lnTo>
                    <a:lnTo>
                      <a:pt x="70" y="75"/>
                    </a:lnTo>
                    <a:lnTo>
                      <a:pt x="70" y="69"/>
                    </a:lnTo>
                    <a:lnTo>
                      <a:pt x="70" y="31"/>
                    </a:lnTo>
                    <a:lnTo>
                      <a:pt x="64" y="12"/>
                    </a:lnTo>
                    <a:lnTo>
                      <a:pt x="57" y="6"/>
                    </a:lnTo>
                    <a:lnTo>
                      <a:pt x="38" y="0"/>
                    </a:lnTo>
                    <a:lnTo>
                      <a:pt x="26" y="6"/>
                    </a:lnTo>
                    <a:lnTo>
                      <a:pt x="13" y="12"/>
                    </a:lnTo>
                    <a:lnTo>
                      <a:pt x="7" y="25"/>
                    </a:lnTo>
                    <a:lnTo>
                      <a:pt x="7" y="31"/>
                    </a:lnTo>
                    <a:lnTo>
                      <a:pt x="13" y="31"/>
                    </a:lnTo>
                    <a:lnTo>
                      <a:pt x="19" y="31"/>
                    </a:lnTo>
                    <a:lnTo>
                      <a:pt x="26" y="25"/>
                    </a:lnTo>
                    <a:lnTo>
                      <a:pt x="26" y="18"/>
                    </a:lnTo>
                    <a:lnTo>
                      <a:pt x="32" y="12"/>
                    </a:lnTo>
                    <a:lnTo>
                      <a:pt x="38" y="6"/>
                    </a:lnTo>
                    <a:lnTo>
                      <a:pt x="45" y="6"/>
                    </a:lnTo>
                    <a:lnTo>
                      <a:pt x="51" y="12"/>
                    </a:lnTo>
                    <a:lnTo>
                      <a:pt x="51" y="25"/>
                    </a:lnTo>
                    <a:lnTo>
                      <a:pt x="51" y="37"/>
                    </a:lnTo>
                    <a:lnTo>
                      <a:pt x="13" y="50"/>
                    </a:lnTo>
                    <a:lnTo>
                      <a:pt x="7" y="63"/>
                    </a:lnTo>
                    <a:lnTo>
                      <a:pt x="0" y="75"/>
                    </a:lnTo>
                    <a:lnTo>
                      <a:pt x="7" y="88"/>
                    </a:lnTo>
                    <a:lnTo>
                      <a:pt x="26" y="94"/>
                    </a:lnTo>
                    <a:lnTo>
                      <a:pt x="38" y="88"/>
                    </a:lnTo>
                    <a:lnTo>
                      <a:pt x="51" y="82"/>
                    </a:lnTo>
                    <a:lnTo>
                      <a:pt x="57" y="94"/>
                    </a:lnTo>
                    <a:lnTo>
                      <a:pt x="64" y="94"/>
                    </a:lnTo>
                    <a:lnTo>
                      <a:pt x="76" y="94"/>
                    </a:lnTo>
                    <a:lnTo>
                      <a:pt x="83" y="8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6" name="Freeform 65"/>
              <p:cNvSpPr/>
              <p:nvPr/>
            </p:nvSpPr>
            <p:spPr>
              <a:xfrm>
                <a:off x="3315" y="1277"/>
                <a:ext cx="76" cy="94"/>
              </a:xfrm>
              <a:custGeom>
                <a:avLst/>
                <a:gdLst>
                  <a:gd name="txL" fmla="*/ 0 w 76"/>
                  <a:gd name="txT" fmla="*/ 0 h 94"/>
                  <a:gd name="txR" fmla="*/ 76 w 76"/>
                  <a:gd name="txB" fmla="*/ 94 h 94"/>
                </a:gdLst>
                <a:ahLst/>
                <a:cxnLst>
                  <a:cxn ang="0">
                    <a:pos x="76" y="63"/>
                  </a:cxn>
                  <a:cxn ang="0">
                    <a:pos x="63" y="75"/>
                  </a:cxn>
                  <a:cxn ang="0">
                    <a:pos x="44" y="82"/>
                  </a:cxn>
                  <a:cxn ang="0">
                    <a:pos x="31" y="82"/>
                  </a:cxn>
                  <a:cxn ang="0">
                    <a:pos x="25" y="69"/>
                  </a:cxn>
                  <a:cxn ang="0">
                    <a:pos x="19" y="56"/>
                  </a:cxn>
                  <a:cxn ang="0">
                    <a:pos x="13" y="44"/>
                  </a:cxn>
                  <a:cxn ang="0">
                    <a:pos x="19" y="25"/>
                  </a:cxn>
                  <a:cxn ang="0">
                    <a:pos x="25" y="12"/>
                  </a:cxn>
                  <a:cxn ang="0">
                    <a:pos x="38" y="6"/>
                  </a:cxn>
                  <a:cxn ang="0">
                    <a:pos x="50" y="12"/>
                  </a:cxn>
                  <a:cxn ang="0">
                    <a:pos x="50" y="18"/>
                  </a:cxn>
                  <a:cxn ang="0">
                    <a:pos x="57" y="18"/>
                  </a:cxn>
                  <a:cxn ang="0">
                    <a:pos x="57" y="25"/>
                  </a:cxn>
                  <a:cxn ang="0">
                    <a:pos x="63" y="31"/>
                  </a:cxn>
                  <a:cxn ang="0">
                    <a:pos x="69" y="25"/>
                  </a:cxn>
                  <a:cxn ang="0">
                    <a:pos x="76" y="18"/>
                  </a:cxn>
                  <a:cxn ang="0">
                    <a:pos x="69" y="12"/>
                  </a:cxn>
                  <a:cxn ang="0">
                    <a:pos x="63" y="6"/>
                  </a:cxn>
                  <a:cxn ang="0">
                    <a:pos x="57" y="6"/>
                  </a:cxn>
                  <a:cxn ang="0">
                    <a:pos x="44" y="0"/>
                  </a:cxn>
                  <a:cxn ang="0">
                    <a:pos x="31" y="6"/>
                  </a:cxn>
                  <a:cxn ang="0">
                    <a:pos x="13" y="12"/>
                  </a:cxn>
                  <a:cxn ang="0">
                    <a:pos x="6" y="31"/>
                  </a:cxn>
                  <a:cxn ang="0">
                    <a:pos x="0" y="50"/>
                  </a:cxn>
                  <a:cxn ang="0">
                    <a:pos x="6" y="69"/>
                  </a:cxn>
                  <a:cxn ang="0">
                    <a:pos x="13" y="82"/>
                  </a:cxn>
                  <a:cxn ang="0">
                    <a:pos x="38" y="94"/>
                  </a:cxn>
                  <a:cxn ang="0">
                    <a:pos x="57" y="88"/>
                  </a:cxn>
                  <a:cxn ang="0">
                    <a:pos x="69" y="82"/>
                  </a:cxn>
                  <a:cxn ang="0">
                    <a:pos x="76" y="63"/>
                  </a:cxn>
                  <a:cxn ang="0">
                    <a:pos x="76" y="63"/>
                  </a:cxn>
                </a:cxnLst>
                <a:rect l="txL" t="txT" r="txR" b="txB"/>
                <a:pathLst>
                  <a:path w="76" h="94">
                    <a:moveTo>
                      <a:pt x="76" y="63"/>
                    </a:moveTo>
                    <a:lnTo>
                      <a:pt x="63" y="75"/>
                    </a:lnTo>
                    <a:lnTo>
                      <a:pt x="44" y="82"/>
                    </a:lnTo>
                    <a:lnTo>
                      <a:pt x="31" y="82"/>
                    </a:lnTo>
                    <a:lnTo>
                      <a:pt x="25" y="69"/>
                    </a:lnTo>
                    <a:lnTo>
                      <a:pt x="19" y="56"/>
                    </a:lnTo>
                    <a:lnTo>
                      <a:pt x="13" y="44"/>
                    </a:lnTo>
                    <a:lnTo>
                      <a:pt x="19" y="25"/>
                    </a:lnTo>
                    <a:lnTo>
                      <a:pt x="25" y="12"/>
                    </a:lnTo>
                    <a:lnTo>
                      <a:pt x="38" y="6"/>
                    </a:lnTo>
                    <a:lnTo>
                      <a:pt x="50" y="12"/>
                    </a:lnTo>
                    <a:lnTo>
                      <a:pt x="50" y="18"/>
                    </a:lnTo>
                    <a:lnTo>
                      <a:pt x="57" y="18"/>
                    </a:lnTo>
                    <a:lnTo>
                      <a:pt x="57" y="25"/>
                    </a:lnTo>
                    <a:lnTo>
                      <a:pt x="63" y="31"/>
                    </a:lnTo>
                    <a:lnTo>
                      <a:pt x="69" y="25"/>
                    </a:lnTo>
                    <a:lnTo>
                      <a:pt x="76" y="18"/>
                    </a:lnTo>
                    <a:lnTo>
                      <a:pt x="69" y="12"/>
                    </a:lnTo>
                    <a:lnTo>
                      <a:pt x="63" y="6"/>
                    </a:lnTo>
                    <a:lnTo>
                      <a:pt x="57" y="6"/>
                    </a:lnTo>
                    <a:lnTo>
                      <a:pt x="44" y="0"/>
                    </a:lnTo>
                    <a:lnTo>
                      <a:pt x="31" y="6"/>
                    </a:lnTo>
                    <a:lnTo>
                      <a:pt x="13" y="12"/>
                    </a:lnTo>
                    <a:lnTo>
                      <a:pt x="6" y="31"/>
                    </a:lnTo>
                    <a:lnTo>
                      <a:pt x="0" y="50"/>
                    </a:lnTo>
                    <a:lnTo>
                      <a:pt x="6" y="69"/>
                    </a:lnTo>
                    <a:lnTo>
                      <a:pt x="13" y="82"/>
                    </a:lnTo>
                    <a:lnTo>
                      <a:pt x="38" y="94"/>
                    </a:lnTo>
                    <a:lnTo>
                      <a:pt x="57" y="88"/>
                    </a:lnTo>
                    <a:lnTo>
                      <a:pt x="69" y="82"/>
                    </a:lnTo>
                    <a:lnTo>
                      <a:pt x="76" y="6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7" name="Freeform 66"/>
              <p:cNvSpPr/>
              <p:nvPr/>
            </p:nvSpPr>
            <p:spPr>
              <a:xfrm>
                <a:off x="3397" y="1232"/>
                <a:ext cx="95" cy="139"/>
              </a:xfrm>
              <a:custGeom>
                <a:avLst/>
                <a:gdLst>
                  <a:gd name="txL" fmla="*/ 0 w 95"/>
                  <a:gd name="txT" fmla="*/ 0 h 139"/>
                  <a:gd name="txR" fmla="*/ 95 w 95"/>
                  <a:gd name="txB" fmla="*/ 139 h 139"/>
                </a:gdLst>
                <a:ahLst/>
                <a:cxnLst>
                  <a:cxn ang="0">
                    <a:pos x="95" y="133"/>
                  </a:cxn>
                  <a:cxn ang="0">
                    <a:pos x="88" y="133"/>
                  </a:cxn>
                  <a:cxn ang="0">
                    <a:pos x="82" y="127"/>
                  </a:cxn>
                  <a:cxn ang="0">
                    <a:pos x="82" y="114"/>
                  </a:cxn>
                  <a:cxn ang="0">
                    <a:pos x="82" y="76"/>
                  </a:cxn>
                  <a:cxn ang="0">
                    <a:pos x="82" y="70"/>
                  </a:cxn>
                  <a:cxn ang="0">
                    <a:pos x="82" y="57"/>
                  </a:cxn>
                  <a:cxn ang="0">
                    <a:pos x="76" y="51"/>
                  </a:cxn>
                  <a:cxn ang="0">
                    <a:pos x="63" y="45"/>
                  </a:cxn>
                  <a:cxn ang="0">
                    <a:pos x="44" y="51"/>
                  </a:cxn>
                  <a:cxn ang="0">
                    <a:pos x="32" y="63"/>
                  </a:cxn>
                  <a:cxn ang="0">
                    <a:pos x="32" y="63"/>
                  </a:cxn>
                  <a:cxn ang="0">
                    <a:pos x="32" y="0"/>
                  </a:cxn>
                  <a:cxn ang="0">
                    <a:pos x="32" y="0"/>
                  </a:cxn>
                  <a:cxn ang="0">
                    <a:pos x="19" y="7"/>
                  </a:cxn>
                  <a:cxn ang="0">
                    <a:pos x="0" y="13"/>
                  </a:cxn>
                  <a:cxn ang="0">
                    <a:pos x="0" y="13"/>
                  </a:cxn>
                  <a:cxn ang="0">
                    <a:pos x="6" y="13"/>
                  </a:cxn>
                  <a:cxn ang="0">
                    <a:pos x="6" y="13"/>
                  </a:cxn>
                  <a:cxn ang="0">
                    <a:pos x="13" y="19"/>
                  </a:cxn>
                  <a:cxn ang="0">
                    <a:pos x="13" y="26"/>
                  </a:cxn>
                  <a:cxn ang="0">
                    <a:pos x="13" y="114"/>
                  </a:cxn>
                  <a:cxn ang="0">
                    <a:pos x="13" y="127"/>
                  </a:cxn>
                  <a:cxn ang="0">
                    <a:pos x="13" y="133"/>
                  </a:cxn>
                  <a:cxn ang="0">
                    <a:pos x="0" y="133"/>
                  </a:cxn>
                  <a:cxn ang="0">
                    <a:pos x="0" y="139"/>
                  </a:cxn>
                  <a:cxn ang="0">
                    <a:pos x="44" y="139"/>
                  </a:cxn>
                  <a:cxn ang="0">
                    <a:pos x="44" y="133"/>
                  </a:cxn>
                  <a:cxn ang="0">
                    <a:pos x="38" y="133"/>
                  </a:cxn>
                  <a:cxn ang="0">
                    <a:pos x="32" y="127"/>
                  </a:cxn>
                  <a:cxn ang="0">
                    <a:pos x="32" y="114"/>
                  </a:cxn>
                  <a:cxn ang="0">
                    <a:pos x="32" y="70"/>
                  </a:cxn>
                  <a:cxn ang="0">
                    <a:pos x="44" y="57"/>
                  </a:cxn>
                  <a:cxn ang="0">
                    <a:pos x="51" y="57"/>
                  </a:cxn>
                  <a:cxn ang="0">
                    <a:pos x="63" y="63"/>
                  </a:cxn>
                  <a:cxn ang="0">
                    <a:pos x="70" y="76"/>
                  </a:cxn>
                  <a:cxn ang="0">
                    <a:pos x="70" y="114"/>
                  </a:cxn>
                  <a:cxn ang="0">
                    <a:pos x="70" y="127"/>
                  </a:cxn>
                  <a:cxn ang="0">
                    <a:pos x="63" y="133"/>
                  </a:cxn>
                  <a:cxn ang="0">
                    <a:pos x="57" y="133"/>
                  </a:cxn>
                  <a:cxn ang="0">
                    <a:pos x="57" y="139"/>
                  </a:cxn>
                  <a:cxn ang="0">
                    <a:pos x="95" y="139"/>
                  </a:cxn>
                  <a:cxn ang="0">
                    <a:pos x="95" y="133"/>
                  </a:cxn>
                </a:cxnLst>
                <a:rect l="txL" t="txT" r="txR" b="txB"/>
                <a:pathLst>
                  <a:path w="95" h="139">
                    <a:moveTo>
                      <a:pt x="95" y="133"/>
                    </a:moveTo>
                    <a:lnTo>
                      <a:pt x="88" y="133"/>
                    </a:lnTo>
                    <a:lnTo>
                      <a:pt x="82" y="127"/>
                    </a:lnTo>
                    <a:lnTo>
                      <a:pt x="82" y="114"/>
                    </a:lnTo>
                    <a:lnTo>
                      <a:pt x="82" y="76"/>
                    </a:lnTo>
                    <a:lnTo>
                      <a:pt x="82" y="70"/>
                    </a:lnTo>
                    <a:lnTo>
                      <a:pt x="82" y="57"/>
                    </a:lnTo>
                    <a:lnTo>
                      <a:pt x="76" y="51"/>
                    </a:lnTo>
                    <a:lnTo>
                      <a:pt x="63" y="45"/>
                    </a:lnTo>
                    <a:lnTo>
                      <a:pt x="44" y="51"/>
                    </a:lnTo>
                    <a:lnTo>
                      <a:pt x="32" y="63"/>
                    </a:lnTo>
                    <a:lnTo>
                      <a:pt x="32" y="0"/>
                    </a:lnTo>
                    <a:lnTo>
                      <a:pt x="19" y="7"/>
                    </a:lnTo>
                    <a:lnTo>
                      <a:pt x="0" y="13"/>
                    </a:lnTo>
                    <a:lnTo>
                      <a:pt x="6" y="13"/>
                    </a:lnTo>
                    <a:lnTo>
                      <a:pt x="13" y="19"/>
                    </a:lnTo>
                    <a:lnTo>
                      <a:pt x="13" y="26"/>
                    </a:lnTo>
                    <a:lnTo>
                      <a:pt x="13" y="114"/>
                    </a:lnTo>
                    <a:lnTo>
                      <a:pt x="13" y="127"/>
                    </a:lnTo>
                    <a:lnTo>
                      <a:pt x="13" y="133"/>
                    </a:lnTo>
                    <a:lnTo>
                      <a:pt x="0" y="133"/>
                    </a:lnTo>
                    <a:lnTo>
                      <a:pt x="0" y="139"/>
                    </a:lnTo>
                    <a:lnTo>
                      <a:pt x="44" y="139"/>
                    </a:lnTo>
                    <a:lnTo>
                      <a:pt x="44" y="133"/>
                    </a:lnTo>
                    <a:lnTo>
                      <a:pt x="38" y="133"/>
                    </a:lnTo>
                    <a:lnTo>
                      <a:pt x="32" y="127"/>
                    </a:lnTo>
                    <a:lnTo>
                      <a:pt x="32" y="114"/>
                    </a:lnTo>
                    <a:lnTo>
                      <a:pt x="32" y="70"/>
                    </a:lnTo>
                    <a:lnTo>
                      <a:pt x="44" y="57"/>
                    </a:lnTo>
                    <a:lnTo>
                      <a:pt x="51" y="57"/>
                    </a:lnTo>
                    <a:lnTo>
                      <a:pt x="63" y="63"/>
                    </a:lnTo>
                    <a:lnTo>
                      <a:pt x="70" y="76"/>
                    </a:lnTo>
                    <a:lnTo>
                      <a:pt x="70" y="114"/>
                    </a:lnTo>
                    <a:lnTo>
                      <a:pt x="70" y="127"/>
                    </a:lnTo>
                    <a:lnTo>
                      <a:pt x="63" y="133"/>
                    </a:lnTo>
                    <a:lnTo>
                      <a:pt x="57" y="133"/>
                    </a:lnTo>
                    <a:lnTo>
                      <a:pt x="57" y="139"/>
                    </a:lnTo>
                    <a:lnTo>
                      <a:pt x="95" y="139"/>
                    </a:lnTo>
                    <a:lnTo>
                      <a:pt x="95" y="13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8" name="Freeform 67"/>
              <p:cNvSpPr/>
              <p:nvPr/>
            </p:nvSpPr>
            <p:spPr>
              <a:xfrm>
                <a:off x="3549" y="1283"/>
                <a:ext cx="132" cy="88"/>
              </a:xfrm>
              <a:custGeom>
                <a:avLst/>
                <a:gdLst>
                  <a:gd name="txL" fmla="*/ 0 w 132"/>
                  <a:gd name="txT" fmla="*/ 0 h 88"/>
                  <a:gd name="txR" fmla="*/ 132 w 132"/>
                  <a:gd name="txB" fmla="*/ 88 h 88"/>
                </a:gdLst>
                <a:ahLst/>
                <a:cxnLst>
                  <a:cxn ang="0">
                    <a:pos x="107" y="0"/>
                  </a:cxn>
                  <a:cxn ang="0">
                    <a:pos x="107" y="0"/>
                  </a:cxn>
                  <a:cxn ang="0">
                    <a:pos x="113" y="0"/>
                  </a:cxn>
                  <a:cxn ang="0">
                    <a:pos x="120" y="6"/>
                  </a:cxn>
                  <a:cxn ang="0">
                    <a:pos x="120" y="12"/>
                  </a:cxn>
                  <a:cxn ang="0">
                    <a:pos x="113" y="19"/>
                  </a:cxn>
                  <a:cxn ang="0">
                    <a:pos x="94" y="63"/>
                  </a:cxn>
                  <a:cxn ang="0">
                    <a:pos x="82" y="19"/>
                  </a:cxn>
                  <a:cxn ang="0">
                    <a:pos x="75" y="12"/>
                  </a:cxn>
                  <a:cxn ang="0">
                    <a:pos x="75" y="6"/>
                  </a:cxn>
                  <a:cxn ang="0">
                    <a:pos x="82" y="0"/>
                  </a:cxn>
                  <a:cxn ang="0">
                    <a:pos x="88" y="0"/>
                  </a:cxn>
                  <a:cxn ang="0">
                    <a:pos x="88" y="0"/>
                  </a:cxn>
                  <a:cxn ang="0">
                    <a:pos x="50" y="0"/>
                  </a:cxn>
                  <a:cxn ang="0">
                    <a:pos x="50" y="0"/>
                  </a:cxn>
                  <a:cxn ang="0">
                    <a:pos x="56" y="6"/>
                  </a:cxn>
                  <a:cxn ang="0">
                    <a:pos x="63" y="12"/>
                  </a:cxn>
                  <a:cxn ang="0">
                    <a:pos x="69" y="25"/>
                  </a:cxn>
                  <a:cxn ang="0">
                    <a:pos x="50" y="63"/>
                  </a:cxn>
                  <a:cxn ang="0">
                    <a:pos x="31" y="25"/>
                  </a:cxn>
                  <a:cxn ang="0">
                    <a:pos x="25" y="12"/>
                  </a:cxn>
                  <a:cxn ang="0">
                    <a:pos x="25" y="6"/>
                  </a:cxn>
                  <a:cxn ang="0">
                    <a:pos x="31" y="0"/>
                  </a:cxn>
                  <a:cxn ang="0">
                    <a:pos x="38" y="0"/>
                  </a:cxn>
                  <a:cxn ang="0">
                    <a:pos x="38" y="0"/>
                  </a:cxn>
                  <a:cxn ang="0">
                    <a:pos x="0" y="0"/>
                  </a:cxn>
                  <a:cxn ang="0">
                    <a:pos x="0" y="0"/>
                  </a:cxn>
                  <a:cxn ang="0">
                    <a:pos x="6" y="6"/>
                  </a:cxn>
                  <a:cxn ang="0">
                    <a:pos x="12" y="12"/>
                  </a:cxn>
                  <a:cxn ang="0">
                    <a:pos x="38" y="82"/>
                  </a:cxn>
                  <a:cxn ang="0">
                    <a:pos x="44" y="88"/>
                  </a:cxn>
                  <a:cxn ang="0">
                    <a:pos x="44" y="88"/>
                  </a:cxn>
                  <a:cxn ang="0">
                    <a:pos x="44" y="88"/>
                  </a:cxn>
                  <a:cxn ang="0">
                    <a:pos x="50" y="82"/>
                  </a:cxn>
                  <a:cxn ang="0">
                    <a:pos x="69" y="31"/>
                  </a:cxn>
                  <a:cxn ang="0">
                    <a:pos x="88" y="82"/>
                  </a:cxn>
                  <a:cxn ang="0">
                    <a:pos x="94" y="88"/>
                  </a:cxn>
                  <a:cxn ang="0">
                    <a:pos x="94" y="88"/>
                  </a:cxn>
                  <a:cxn ang="0">
                    <a:pos x="94" y="88"/>
                  </a:cxn>
                  <a:cxn ang="0">
                    <a:pos x="101" y="76"/>
                  </a:cxn>
                  <a:cxn ang="0">
                    <a:pos x="126" y="12"/>
                  </a:cxn>
                  <a:cxn ang="0">
                    <a:pos x="132" y="6"/>
                  </a:cxn>
                  <a:cxn ang="0">
                    <a:pos x="132" y="0"/>
                  </a:cxn>
                  <a:cxn ang="0">
                    <a:pos x="132" y="0"/>
                  </a:cxn>
                  <a:cxn ang="0">
                    <a:pos x="107" y="0"/>
                  </a:cxn>
                </a:cxnLst>
                <a:rect l="txL" t="txT" r="txR" b="txB"/>
                <a:pathLst>
                  <a:path w="132" h="88">
                    <a:moveTo>
                      <a:pt x="107" y="0"/>
                    </a:moveTo>
                    <a:lnTo>
                      <a:pt x="107" y="0"/>
                    </a:lnTo>
                    <a:lnTo>
                      <a:pt x="113" y="0"/>
                    </a:lnTo>
                    <a:lnTo>
                      <a:pt x="120" y="6"/>
                    </a:lnTo>
                    <a:lnTo>
                      <a:pt x="120" y="12"/>
                    </a:lnTo>
                    <a:lnTo>
                      <a:pt x="113" y="19"/>
                    </a:lnTo>
                    <a:lnTo>
                      <a:pt x="94" y="63"/>
                    </a:lnTo>
                    <a:lnTo>
                      <a:pt x="82" y="19"/>
                    </a:lnTo>
                    <a:lnTo>
                      <a:pt x="75" y="12"/>
                    </a:lnTo>
                    <a:lnTo>
                      <a:pt x="75" y="6"/>
                    </a:lnTo>
                    <a:lnTo>
                      <a:pt x="82" y="0"/>
                    </a:lnTo>
                    <a:lnTo>
                      <a:pt x="88" y="0"/>
                    </a:lnTo>
                    <a:lnTo>
                      <a:pt x="50" y="0"/>
                    </a:lnTo>
                    <a:lnTo>
                      <a:pt x="56" y="6"/>
                    </a:lnTo>
                    <a:lnTo>
                      <a:pt x="63" y="12"/>
                    </a:lnTo>
                    <a:lnTo>
                      <a:pt x="69" y="25"/>
                    </a:lnTo>
                    <a:lnTo>
                      <a:pt x="50" y="63"/>
                    </a:lnTo>
                    <a:lnTo>
                      <a:pt x="31" y="25"/>
                    </a:lnTo>
                    <a:lnTo>
                      <a:pt x="25" y="12"/>
                    </a:lnTo>
                    <a:lnTo>
                      <a:pt x="25" y="6"/>
                    </a:lnTo>
                    <a:lnTo>
                      <a:pt x="31" y="0"/>
                    </a:lnTo>
                    <a:lnTo>
                      <a:pt x="38" y="0"/>
                    </a:lnTo>
                    <a:lnTo>
                      <a:pt x="0" y="0"/>
                    </a:lnTo>
                    <a:lnTo>
                      <a:pt x="6" y="6"/>
                    </a:lnTo>
                    <a:lnTo>
                      <a:pt x="12" y="12"/>
                    </a:lnTo>
                    <a:lnTo>
                      <a:pt x="38" y="82"/>
                    </a:lnTo>
                    <a:lnTo>
                      <a:pt x="44" y="88"/>
                    </a:lnTo>
                    <a:lnTo>
                      <a:pt x="50" y="82"/>
                    </a:lnTo>
                    <a:lnTo>
                      <a:pt x="69" y="31"/>
                    </a:lnTo>
                    <a:lnTo>
                      <a:pt x="88" y="82"/>
                    </a:lnTo>
                    <a:lnTo>
                      <a:pt x="94" y="88"/>
                    </a:lnTo>
                    <a:lnTo>
                      <a:pt x="101" y="76"/>
                    </a:lnTo>
                    <a:lnTo>
                      <a:pt x="126" y="12"/>
                    </a:lnTo>
                    <a:lnTo>
                      <a:pt x="132" y="6"/>
                    </a:lnTo>
                    <a:lnTo>
                      <a:pt x="132" y="0"/>
                    </a:lnTo>
                    <a:lnTo>
                      <a:pt x="107"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69" name="Freeform 68"/>
              <p:cNvSpPr>
                <a:spLocks noEditPoints="1"/>
              </p:cNvSpPr>
              <p:nvPr/>
            </p:nvSpPr>
            <p:spPr>
              <a:xfrm>
                <a:off x="3694" y="1232"/>
                <a:ext cx="44" cy="139"/>
              </a:xfrm>
              <a:custGeom>
                <a:avLst/>
                <a:gdLst>
                  <a:gd name="txL" fmla="*/ 0 w 44"/>
                  <a:gd name="txT" fmla="*/ 0 h 139"/>
                  <a:gd name="txR" fmla="*/ 44 w 44"/>
                  <a:gd name="txB" fmla="*/ 139 h 139"/>
                </a:gdLst>
                <a:ahLst/>
                <a:cxnLst>
                  <a:cxn ang="0">
                    <a:pos x="0" y="139"/>
                  </a:cxn>
                  <a:cxn ang="0">
                    <a:pos x="44" y="139"/>
                  </a:cxn>
                  <a:cxn ang="0">
                    <a:pos x="44" y="133"/>
                  </a:cxn>
                  <a:cxn ang="0">
                    <a:pos x="32" y="127"/>
                  </a:cxn>
                  <a:cxn ang="0">
                    <a:pos x="32" y="114"/>
                  </a:cxn>
                  <a:cxn ang="0">
                    <a:pos x="32" y="45"/>
                  </a:cxn>
                  <a:cxn ang="0">
                    <a:pos x="32" y="45"/>
                  </a:cxn>
                  <a:cxn ang="0">
                    <a:pos x="13" y="51"/>
                  </a:cxn>
                  <a:cxn ang="0">
                    <a:pos x="0" y="57"/>
                  </a:cxn>
                  <a:cxn ang="0">
                    <a:pos x="0" y="57"/>
                  </a:cxn>
                  <a:cxn ang="0">
                    <a:pos x="6" y="57"/>
                  </a:cxn>
                  <a:cxn ang="0">
                    <a:pos x="6" y="57"/>
                  </a:cxn>
                  <a:cxn ang="0">
                    <a:pos x="13" y="57"/>
                  </a:cxn>
                  <a:cxn ang="0">
                    <a:pos x="13" y="70"/>
                  </a:cxn>
                  <a:cxn ang="0">
                    <a:pos x="13" y="114"/>
                  </a:cxn>
                  <a:cxn ang="0">
                    <a:pos x="13" y="127"/>
                  </a:cxn>
                  <a:cxn ang="0">
                    <a:pos x="13" y="133"/>
                  </a:cxn>
                  <a:cxn ang="0">
                    <a:pos x="0" y="133"/>
                  </a:cxn>
                  <a:cxn ang="0">
                    <a:pos x="0" y="139"/>
                  </a:cxn>
                  <a:cxn ang="0">
                    <a:pos x="13" y="13"/>
                  </a:cxn>
                  <a:cxn ang="0">
                    <a:pos x="13" y="19"/>
                  </a:cxn>
                  <a:cxn ang="0">
                    <a:pos x="19" y="26"/>
                  </a:cxn>
                  <a:cxn ang="0">
                    <a:pos x="25" y="19"/>
                  </a:cxn>
                  <a:cxn ang="0">
                    <a:pos x="32" y="13"/>
                  </a:cxn>
                  <a:cxn ang="0">
                    <a:pos x="25" y="7"/>
                  </a:cxn>
                  <a:cxn ang="0">
                    <a:pos x="19" y="0"/>
                  </a:cxn>
                  <a:cxn ang="0">
                    <a:pos x="13" y="7"/>
                  </a:cxn>
                  <a:cxn ang="0">
                    <a:pos x="13" y="13"/>
                  </a:cxn>
                  <a:cxn ang="0">
                    <a:pos x="13" y="13"/>
                  </a:cxn>
                </a:cxnLst>
                <a:rect l="txL" t="txT" r="txR" b="txB"/>
                <a:pathLst>
                  <a:path w="44" h="139">
                    <a:moveTo>
                      <a:pt x="0" y="139"/>
                    </a:moveTo>
                    <a:lnTo>
                      <a:pt x="44" y="139"/>
                    </a:lnTo>
                    <a:lnTo>
                      <a:pt x="44" y="133"/>
                    </a:lnTo>
                    <a:lnTo>
                      <a:pt x="32" y="127"/>
                    </a:lnTo>
                    <a:lnTo>
                      <a:pt x="32" y="114"/>
                    </a:lnTo>
                    <a:lnTo>
                      <a:pt x="32" y="45"/>
                    </a:lnTo>
                    <a:lnTo>
                      <a:pt x="13" y="51"/>
                    </a:lnTo>
                    <a:lnTo>
                      <a:pt x="0" y="57"/>
                    </a:lnTo>
                    <a:lnTo>
                      <a:pt x="6" y="57"/>
                    </a:lnTo>
                    <a:lnTo>
                      <a:pt x="13" y="57"/>
                    </a:lnTo>
                    <a:lnTo>
                      <a:pt x="13" y="70"/>
                    </a:lnTo>
                    <a:lnTo>
                      <a:pt x="13" y="114"/>
                    </a:lnTo>
                    <a:lnTo>
                      <a:pt x="13" y="127"/>
                    </a:lnTo>
                    <a:lnTo>
                      <a:pt x="13" y="133"/>
                    </a:lnTo>
                    <a:lnTo>
                      <a:pt x="0" y="133"/>
                    </a:lnTo>
                    <a:lnTo>
                      <a:pt x="0" y="139"/>
                    </a:lnTo>
                    <a:close/>
                    <a:moveTo>
                      <a:pt x="13" y="13"/>
                    </a:moveTo>
                    <a:lnTo>
                      <a:pt x="13" y="19"/>
                    </a:lnTo>
                    <a:lnTo>
                      <a:pt x="19" y="26"/>
                    </a:lnTo>
                    <a:lnTo>
                      <a:pt x="25" y="19"/>
                    </a:lnTo>
                    <a:lnTo>
                      <a:pt x="32" y="13"/>
                    </a:lnTo>
                    <a:lnTo>
                      <a:pt x="25" y="7"/>
                    </a:lnTo>
                    <a:lnTo>
                      <a:pt x="19" y="0"/>
                    </a:lnTo>
                    <a:lnTo>
                      <a:pt x="13" y="7"/>
                    </a:lnTo>
                    <a:lnTo>
                      <a:pt x="13" y="1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0" name="Freeform 69"/>
              <p:cNvSpPr/>
              <p:nvPr/>
            </p:nvSpPr>
            <p:spPr>
              <a:xfrm>
                <a:off x="3744" y="1258"/>
                <a:ext cx="57" cy="113"/>
              </a:xfrm>
              <a:custGeom>
                <a:avLst/>
                <a:gdLst>
                  <a:gd name="txL" fmla="*/ 0 w 57"/>
                  <a:gd name="txT" fmla="*/ 0 h 113"/>
                  <a:gd name="txR" fmla="*/ 57 w 57"/>
                  <a:gd name="txB" fmla="*/ 113 h 113"/>
                </a:gdLst>
                <a:ahLst/>
                <a:cxnLst>
                  <a:cxn ang="0">
                    <a:pos x="51" y="25"/>
                  </a:cxn>
                  <a:cxn ang="0">
                    <a:pos x="32" y="25"/>
                  </a:cxn>
                  <a:cxn ang="0">
                    <a:pos x="32" y="0"/>
                  </a:cxn>
                  <a:cxn ang="0">
                    <a:pos x="32" y="0"/>
                  </a:cxn>
                  <a:cxn ang="0">
                    <a:pos x="26" y="0"/>
                  </a:cxn>
                  <a:cxn ang="0">
                    <a:pos x="19" y="12"/>
                  </a:cxn>
                  <a:cxn ang="0">
                    <a:pos x="13" y="19"/>
                  </a:cxn>
                  <a:cxn ang="0">
                    <a:pos x="7" y="25"/>
                  </a:cxn>
                  <a:cxn ang="0">
                    <a:pos x="0" y="25"/>
                  </a:cxn>
                  <a:cxn ang="0">
                    <a:pos x="0" y="31"/>
                  </a:cxn>
                  <a:cxn ang="0">
                    <a:pos x="0" y="31"/>
                  </a:cxn>
                  <a:cxn ang="0">
                    <a:pos x="13" y="31"/>
                  </a:cxn>
                  <a:cxn ang="0">
                    <a:pos x="13" y="88"/>
                  </a:cxn>
                  <a:cxn ang="0">
                    <a:pos x="19" y="107"/>
                  </a:cxn>
                  <a:cxn ang="0">
                    <a:pos x="32" y="113"/>
                  </a:cxn>
                  <a:cxn ang="0">
                    <a:pos x="45" y="107"/>
                  </a:cxn>
                  <a:cxn ang="0">
                    <a:pos x="57" y="101"/>
                  </a:cxn>
                  <a:cxn ang="0">
                    <a:pos x="51" y="94"/>
                  </a:cxn>
                  <a:cxn ang="0">
                    <a:pos x="45" y="101"/>
                  </a:cxn>
                  <a:cxn ang="0">
                    <a:pos x="38" y="101"/>
                  </a:cxn>
                  <a:cxn ang="0">
                    <a:pos x="32" y="94"/>
                  </a:cxn>
                  <a:cxn ang="0">
                    <a:pos x="32" y="82"/>
                  </a:cxn>
                  <a:cxn ang="0">
                    <a:pos x="32" y="31"/>
                  </a:cxn>
                  <a:cxn ang="0">
                    <a:pos x="51" y="31"/>
                  </a:cxn>
                  <a:cxn ang="0">
                    <a:pos x="51" y="25"/>
                  </a:cxn>
                </a:cxnLst>
                <a:rect l="txL" t="txT" r="txR" b="txB"/>
                <a:pathLst>
                  <a:path w="57" h="113">
                    <a:moveTo>
                      <a:pt x="51" y="25"/>
                    </a:moveTo>
                    <a:lnTo>
                      <a:pt x="32" y="25"/>
                    </a:lnTo>
                    <a:lnTo>
                      <a:pt x="32" y="0"/>
                    </a:lnTo>
                    <a:lnTo>
                      <a:pt x="26" y="0"/>
                    </a:lnTo>
                    <a:lnTo>
                      <a:pt x="19" y="12"/>
                    </a:lnTo>
                    <a:lnTo>
                      <a:pt x="13" y="19"/>
                    </a:lnTo>
                    <a:lnTo>
                      <a:pt x="7" y="25"/>
                    </a:lnTo>
                    <a:lnTo>
                      <a:pt x="0" y="25"/>
                    </a:lnTo>
                    <a:lnTo>
                      <a:pt x="0" y="31"/>
                    </a:lnTo>
                    <a:lnTo>
                      <a:pt x="13" y="31"/>
                    </a:lnTo>
                    <a:lnTo>
                      <a:pt x="13" y="88"/>
                    </a:lnTo>
                    <a:lnTo>
                      <a:pt x="19" y="107"/>
                    </a:lnTo>
                    <a:lnTo>
                      <a:pt x="32" y="113"/>
                    </a:lnTo>
                    <a:lnTo>
                      <a:pt x="45" y="107"/>
                    </a:lnTo>
                    <a:lnTo>
                      <a:pt x="57" y="101"/>
                    </a:lnTo>
                    <a:lnTo>
                      <a:pt x="51" y="94"/>
                    </a:lnTo>
                    <a:lnTo>
                      <a:pt x="45" y="101"/>
                    </a:lnTo>
                    <a:lnTo>
                      <a:pt x="38" y="101"/>
                    </a:lnTo>
                    <a:lnTo>
                      <a:pt x="32" y="94"/>
                    </a:lnTo>
                    <a:lnTo>
                      <a:pt x="32" y="82"/>
                    </a:lnTo>
                    <a:lnTo>
                      <a:pt x="32" y="31"/>
                    </a:lnTo>
                    <a:lnTo>
                      <a:pt x="51" y="31"/>
                    </a:lnTo>
                    <a:lnTo>
                      <a:pt x="51"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1" name="Freeform 70"/>
              <p:cNvSpPr/>
              <p:nvPr/>
            </p:nvSpPr>
            <p:spPr>
              <a:xfrm>
                <a:off x="3801" y="1232"/>
                <a:ext cx="95" cy="139"/>
              </a:xfrm>
              <a:custGeom>
                <a:avLst/>
                <a:gdLst>
                  <a:gd name="txL" fmla="*/ 0 w 95"/>
                  <a:gd name="txT" fmla="*/ 0 h 139"/>
                  <a:gd name="txR" fmla="*/ 95 w 95"/>
                  <a:gd name="txB" fmla="*/ 139 h 139"/>
                </a:gdLst>
                <a:ahLst/>
                <a:cxnLst>
                  <a:cxn ang="0">
                    <a:pos x="95" y="133"/>
                  </a:cxn>
                  <a:cxn ang="0">
                    <a:pos x="82" y="133"/>
                  </a:cxn>
                  <a:cxn ang="0">
                    <a:pos x="82" y="127"/>
                  </a:cxn>
                  <a:cxn ang="0">
                    <a:pos x="82" y="114"/>
                  </a:cxn>
                  <a:cxn ang="0">
                    <a:pos x="82" y="76"/>
                  </a:cxn>
                  <a:cxn ang="0">
                    <a:pos x="82" y="70"/>
                  </a:cxn>
                  <a:cxn ang="0">
                    <a:pos x="82" y="57"/>
                  </a:cxn>
                  <a:cxn ang="0">
                    <a:pos x="70" y="51"/>
                  </a:cxn>
                  <a:cxn ang="0">
                    <a:pos x="57" y="45"/>
                  </a:cxn>
                  <a:cxn ang="0">
                    <a:pos x="45" y="51"/>
                  </a:cxn>
                  <a:cxn ang="0">
                    <a:pos x="32" y="63"/>
                  </a:cxn>
                  <a:cxn ang="0">
                    <a:pos x="26" y="63"/>
                  </a:cxn>
                  <a:cxn ang="0">
                    <a:pos x="26" y="0"/>
                  </a:cxn>
                  <a:cxn ang="0">
                    <a:pos x="26" y="0"/>
                  </a:cxn>
                  <a:cxn ang="0">
                    <a:pos x="13" y="7"/>
                  </a:cxn>
                  <a:cxn ang="0">
                    <a:pos x="0" y="13"/>
                  </a:cxn>
                  <a:cxn ang="0">
                    <a:pos x="0" y="13"/>
                  </a:cxn>
                  <a:cxn ang="0">
                    <a:pos x="0" y="13"/>
                  </a:cxn>
                  <a:cxn ang="0">
                    <a:pos x="13" y="19"/>
                  </a:cxn>
                  <a:cxn ang="0">
                    <a:pos x="13" y="26"/>
                  </a:cxn>
                  <a:cxn ang="0">
                    <a:pos x="13" y="114"/>
                  </a:cxn>
                  <a:cxn ang="0">
                    <a:pos x="13" y="127"/>
                  </a:cxn>
                  <a:cxn ang="0">
                    <a:pos x="13" y="133"/>
                  </a:cxn>
                  <a:cxn ang="0">
                    <a:pos x="0" y="133"/>
                  </a:cxn>
                  <a:cxn ang="0">
                    <a:pos x="0" y="139"/>
                  </a:cxn>
                  <a:cxn ang="0">
                    <a:pos x="45" y="139"/>
                  </a:cxn>
                  <a:cxn ang="0">
                    <a:pos x="45" y="133"/>
                  </a:cxn>
                  <a:cxn ang="0">
                    <a:pos x="32" y="133"/>
                  </a:cxn>
                  <a:cxn ang="0">
                    <a:pos x="26" y="127"/>
                  </a:cxn>
                  <a:cxn ang="0">
                    <a:pos x="26" y="114"/>
                  </a:cxn>
                  <a:cxn ang="0">
                    <a:pos x="26" y="70"/>
                  </a:cxn>
                  <a:cxn ang="0">
                    <a:pos x="38" y="57"/>
                  </a:cxn>
                  <a:cxn ang="0">
                    <a:pos x="51" y="57"/>
                  </a:cxn>
                  <a:cxn ang="0">
                    <a:pos x="63" y="63"/>
                  </a:cxn>
                  <a:cxn ang="0">
                    <a:pos x="63" y="76"/>
                  </a:cxn>
                  <a:cxn ang="0">
                    <a:pos x="63" y="114"/>
                  </a:cxn>
                  <a:cxn ang="0">
                    <a:pos x="63" y="127"/>
                  </a:cxn>
                  <a:cxn ang="0">
                    <a:pos x="63" y="133"/>
                  </a:cxn>
                  <a:cxn ang="0">
                    <a:pos x="51" y="133"/>
                  </a:cxn>
                  <a:cxn ang="0">
                    <a:pos x="51" y="139"/>
                  </a:cxn>
                  <a:cxn ang="0">
                    <a:pos x="95" y="139"/>
                  </a:cxn>
                  <a:cxn ang="0">
                    <a:pos x="95" y="133"/>
                  </a:cxn>
                </a:cxnLst>
                <a:rect l="txL" t="txT" r="txR" b="txB"/>
                <a:pathLst>
                  <a:path w="95" h="139">
                    <a:moveTo>
                      <a:pt x="95" y="133"/>
                    </a:moveTo>
                    <a:lnTo>
                      <a:pt x="82" y="133"/>
                    </a:lnTo>
                    <a:lnTo>
                      <a:pt x="82" y="127"/>
                    </a:lnTo>
                    <a:lnTo>
                      <a:pt x="82" y="114"/>
                    </a:lnTo>
                    <a:lnTo>
                      <a:pt x="82" y="76"/>
                    </a:lnTo>
                    <a:lnTo>
                      <a:pt x="82" y="70"/>
                    </a:lnTo>
                    <a:lnTo>
                      <a:pt x="82" y="57"/>
                    </a:lnTo>
                    <a:lnTo>
                      <a:pt x="70" y="51"/>
                    </a:lnTo>
                    <a:lnTo>
                      <a:pt x="57" y="45"/>
                    </a:lnTo>
                    <a:lnTo>
                      <a:pt x="45" y="51"/>
                    </a:lnTo>
                    <a:lnTo>
                      <a:pt x="32" y="63"/>
                    </a:lnTo>
                    <a:lnTo>
                      <a:pt x="26" y="63"/>
                    </a:lnTo>
                    <a:lnTo>
                      <a:pt x="26" y="0"/>
                    </a:lnTo>
                    <a:lnTo>
                      <a:pt x="13" y="7"/>
                    </a:lnTo>
                    <a:lnTo>
                      <a:pt x="0" y="13"/>
                    </a:lnTo>
                    <a:lnTo>
                      <a:pt x="13" y="19"/>
                    </a:lnTo>
                    <a:lnTo>
                      <a:pt x="13" y="26"/>
                    </a:lnTo>
                    <a:lnTo>
                      <a:pt x="13" y="114"/>
                    </a:lnTo>
                    <a:lnTo>
                      <a:pt x="13" y="127"/>
                    </a:lnTo>
                    <a:lnTo>
                      <a:pt x="13" y="133"/>
                    </a:lnTo>
                    <a:lnTo>
                      <a:pt x="0" y="133"/>
                    </a:lnTo>
                    <a:lnTo>
                      <a:pt x="0" y="139"/>
                    </a:lnTo>
                    <a:lnTo>
                      <a:pt x="45" y="139"/>
                    </a:lnTo>
                    <a:lnTo>
                      <a:pt x="45" y="133"/>
                    </a:lnTo>
                    <a:lnTo>
                      <a:pt x="32" y="133"/>
                    </a:lnTo>
                    <a:lnTo>
                      <a:pt x="26" y="127"/>
                    </a:lnTo>
                    <a:lnTo>
                      <a:pt x="26" y="114"/>
                    </a:lnTo>
                    <a:lnTo>
                      <a:pt x="26" y="70"/>
                    </a:lnTo>
                    <a:lnTo>
                      <a:pt x="38" y="57"/>
                    </a:lnTo>
                    <a:lnTo>
                      <a:pt x="51" y="57"/>
                    </a:lnTo>
                    <a:lnTo>
                      <a:pt x="63" y="63"/>
                    </a:lnTo>
                    <a:lnTo>
                      <a:pt x="63" y="76"/>
                    </a:lnTo>
                    <a:lnTo>
                      <a:pt x="63" y="114"/>
                    </a:lnTo>
                    <a:lnTo>
                      <a:pt x="63" y="127"/>
                    </a:lnTo>
                    <a:lnTo>
                      <a:pt x="63" y="133"/>
                    </a:lnTo>
                    <a:lnTo>
                      <a:pt x="51" y="133"/>
                    </a:lnTo>
                    <a:lnTo>
                      <a:pt x="51" y="139"/>
                    </a:lnTo>
                    <a:lnTo>
                      <a:pt x="95" y="139"/>
                    </a:lnTo>
                    <a:lnTo>
                      <a:pt x="95" y="13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2" name="Freeform 71"/>
              <p:cNvSpPr>
                <a:spLocks noEditPoints="1"/>
              </p:cNvSpPr>
              <p:nvPr/>
            </p:nvSpPr>
            <p:spPr>
              <a:xfrm>
                <a:off x="3953" y="1277"/>
                <a:ext cx="82" cy="94"/>
              </a:xfrm>
              <a:custGeom>
                <a:avLst/>
                <a:gdLst>
                  <a:gd name="txL" fmla="*/ 0 w 82"/>
                  <a:gd name="txT" fmla="*/ 0 h 94"/>
                  <a:gd name="txR" fmla="*/ 82 w 82"/>
                  <a:gd name="txB" fmla="*/ 94 h 94"/>
                </a:gdLst>
                <a:ahLst/>
                <a:cxnLst>
                  <a:cxn ang="0">
                    <a:pos x="50" y="69"/>
                  </a:cxn>
                  <a:cxn ang="0">
                    <a:pos x="50" y="75"/>
                  </a:cxn>
                  <a:cxn ang="0">
                    <a:pos x="44" y="82"/>
                  </a:cxn>
                  <a:cxn ang="0">
                    <a:pos x="38" y="82"/>
                  </a:cxn>
                  <a:cxn ang="0">
                    <a:pos x="32" y="82"/>
                  </a:cxn>
                  <a:cxn ang="0">
                    <a:pos x="25" y="75"/>
                  </a:cxn>
                  <a:cxn ang="0">
                    <a:pos x="19" y="69"/>
                  </a:cxn>
                  <a:cxn ang="0">
                    <a:pos x="19" y="69"/>
                  </a:cxn>
                  <a:cxn ang="0">
                    <a:pos x="25" y="56"/>
                  </a:cxn>
                  <a:cxn ang="0">
                    <a:pos x="32" y="50"/>
                  </a:cxn>
                  <a:cxn ang="0">
                    <a:pos x="50" y="37"/>
                  </a:cxn>
                  <a:cxn ang="0">
                    <a:pos x="50" y="69"/>
                  </a:cxn>
                  <a:cxn ang="0">
                    <a:pos x="82" y="82"/>
                  </a:cxn>
                  <a:cxn ang="0">
                    <a:pos x="76" y="82"/>
                  </a:cxn>
                  <a:cxn ang="0">
                    <a:pos x="69" y="82"/>
                  </a:cxn>
                  <a:cxn ang="0">
                    <a:pos x="69" y="75"/>
                  </a:cxn>
                  <a:cxn ang="0">
                    <a:pos x="69" y="69"/>
                  </a:cxn>
                  <a:cxn ang="0">
                    <a:pos x="69" y="31"/>
                  </a:cxn>
                  <a:cxn ang="0">
                    <a:pos x="63" y="12"/>
                  </a:cxn>
                  <a:cxn ang="0">
                    <a:pos x="57" y="6"/>
                  </a:cxn>
                  <a:cxn ang="0">
                    <a:pos x="38" y="0"/>
                  </a:cxn>
                  <a:cxn ang="0">
                    <a:pos x="25" y="6"/>
                  </a:cxn>
                  <a:cxn ang="0">
                    <a:pos x="13" y="12"/>
                  </a:cxn>
                  <a:cxn ang="0">
                    <a:pos x="6" y="25"/>
                  </a:cxn>
                  <a:cxn ang="0">
                    <a:pos x="6" y="31"/>
                  </a:cxn>
                  <a:cxn ang="0">
                    <a:pos x="13" y="31"/>
                  </a:cxn>
                  <a:cxn ang="0">
                    <a:pos x="19" y="31"/>
                  </a:cxn>
                  <a:cxn ang="0">
                    <a:pos x="25" y="25"/>
                  </a:cxn>
                  <a:cxn ang="0">
                    <a:pos x="25" y="18"/>
                  </a:cxn>
                  <a:cxn ang="0">
                    <a:pos x="19" y="18"/>
                  </a:cxn>
                  <a:cxn ang="0">
                    <a:pos x="25" y="12"/>
                  </a:cxn>
                  <a:cxn ang="0">
                    <a:pos x="38" y="6"/>
                  </a:cxn>
                  <a:cxn ang="0">
                    <a:pos x="44" y="6"/>
                  </a:cxn>
                  <a:cxn ang="0">
                    <a:pos x="50" y="12"/>
                  </a:cxn>
                  <a:cxn ang="0">
                    <a:pos x="50" y="25"/>
                  </a:cxn>
                  <a:cxn ang="0">
                    <a:pos x="50" y="37"/>
                  </a:cxn>
                  <a:cxn ang="0">
                    <a:pos x="13" y="50"/>
                  </a:cxn>
                  <a:cxn ang="0">
                    <a:pos x="6" y="63"/>
                  </a:cxn>
                  <a:cxn ang="0">
                    <a:pos x="0" y="75"/>
                  </a:cxn>
                  <a:cxn ang="0">
                    <a:pos x="6" y="88"/>
                  </a:cxn>
                  <a:cxn ang="0">
                    <a:pos x="25" y="94"/>
                  </a:cxn>
                  <a:cxn ang="0">
                    <a:pos x="38" y="88"/>
                  </a:cxn>
                  <a:cxn ang="0">
                    <a:pos x="50" y="82"/>
                  </a:cxn>
                  <a:cxn ang="0">
                    <a:pos x="57" y="94"/>
                  </a:cxn>
                  <a:cxn ang="0">
                    <a:pos x="63" y="94"/>
                  </a:cxn>
                  <a:cxn ang="0">
                    <a:pos x="76" y="94"/>
                  </a:cxn>
                  <a:cxn ang="0">
                    <a:pos x="82" y="82"/>
                  </a:cxn>
                  <a:cxn ang="0">
                    <a:pos x="82" y="82"/>
                  </a:cxn>
                </a:cxnLst>
                <a:rect l="txL" t="txT" r="txR" b="txB"/>
                <a:pathLst>
                  <a:path w="82" h="94">
                    <a:moveTo>
                      <a:pt x="50" y="69"/>
                    </a:moveTo>
                    <a:lnTo>
                      <a:pt x="50" y="75"/>
                    </a:lnTo>
                    <a:lnTo>
                      <a:pt x="44" y="82"/>
                    </a:lnTo>
                    <a:lnTo>
                      <a:pt x="38" y="82"/>
                    </a:lnTo>
                    <a:lnTo>
                      <a:pt x="32" y="82"/>
                    </a:lnTo>
                    <a:lnTo>
                      <a:pt x="25" y="75"/>
                    </a:lnTo>
                    <a:lnTo>
                      <a:pt x="19" y="69"/>
                    </a:lnTo>
                    <a:lnTo>
                      <a:pt x="25" y="56"/>
                    </a:lnTo>
                    <a:lnTo>
                      <a:pt x="32" y="50"/>
                    </a:lnTo>
                    <a:lnTo>
                      <a:pt x="50" y="37"/>
                    </a:lnTo>
                    <a:lnTo>
                      <a:pt x="50" y="69"/>
                    </a:lnTo>
                    <a:close/>
                    <a:moveTo>
                      <a:pt x="82" y="82"/>
                    </a:moveTo>
                    <a:lnTo>
                      <a:pt x="76" y="82"/>
                    </a:lnTo>
                    <a:lnTo>
                      <a:pt x="69" y="82"/>
                    </a:lnTo>
                    <a:lnTo>
                      <a:pt x="69" y="75"/>
                    </a:lnTo>
                    <a:lnTo>
                      <a:pt x="69" y="69"/>
                    </a:lnTo>
                    <a:lnTo>
                      <a:pt x="69" y="31"/>
                    </a:lnTo>
                    <a:lnTo>
                      <a:pt x="63" y="12"/>
                    </a:lnTo>
                    <a:lnTo>
                      <a:pt x="57" y="6"/>
                    </a:lnTo>
                    <a:lnTo>
                      <a:pt x="38" y="0"/>
                    </a:lnTo>
                    <a:lnTo>
                      <a:pt x="25" y="6"/>
                    </a:lnTo>
                    <a:lnTo>
                      <a:pt x="13" y="12"/>
                    </a:lnTo>
                    <a:lnTo>
                      <a:pt x="6" y="25"/>
                    </a:lnTo>
                    <a:lnTo>
                      <a:pt x="6" y="31"/>
                    </a:lnTo>
                    <a:lnTo>
                      <a:pt x="13" y="31"/>
                    </a:lnTo>
                    <a:lnTo>
                      <a:pt x="19" y="31"/>
                    </a:lnTo>
                    <a:lnTo>
                      <a:pt x="25" y="25"/>
                    </a:lnTo>
                    <a:lnTo>
                      <a:pt x="25" y="18"/>
                    </a:lnTo>
                    <a:lnTo>
                      <a:pt x="19" y="18"/>
                    </a:lnTo>
                    <a:lnTo>
                      <a:pt x="25" y="12"/>
                    </a:lnTo>
                    <a:lnTo>
                      <a:pt x="38" y="6"/>
                    </a:lnTo>
                    <a:lnTo>
                      <a:pt x="44" y="6"/>
                    </a:lnTo>
                    <a:lnTo>
                      <a:pt x="50" y="12"/>
                    </a:lnTo>
                    <a:lnTo>
                      <a:pt x="50" y="25"/>
                    </a:lnTo>
                    <a:lnTo>
                      <a:pt x="50" y="37"/>
                    </a:lnTo>
                    <a:lnTo>
                      <a:pt x="13" y="50"/>
                    </a:lnTo>
                    <a:lnTo>
                      <a:pt x="6" y="63"/>
                    </a:lnTo>
                    <a:lnTo>
                      <a:pt x="0" y="75"/>
                    </a:lnTo>
                    <a:lnTo>
                      <a:pt x="6" y="88"/>
                    </a:lnTo>
                    <a:lnTo>
                      <a:pt x="25" y="94"/>
                    </a:lnTo>
                    <a:lnTo>
                      <a:pt x="38" y="88"/>
                    </a:lnTo>
                    <a:lnTo>
                      <a:pt x="50" y="82"/>
                    </a:lnTo>
                    <a:lnTo>
                      <a:pt x="57" y="94"/>
                    </a:lnTo>
                    <a:lnTo>
                      <a:pt x="63" y="94"/>
                    </a:lnTo>
                    <a:lnTo>
                      <a:pt x="76" y="94"/>
                    </a:lnTo>
                    <a:lnTo>
                      <a:pt x="82" y="8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3" name="Freeform 72"/>
              <p:cNvSpPr/>
              <p:nvPr/>
            </p:nvSpPr>
            <p:spPr>
              <a:xfrm>
                <a:off x="4035" y="1277"/>
                <a:ext cx="63" cy="94"/>
              </a:xfrm>
              <a:custGeom>
                <a:avLst/>
                <a:gdLst>
                  <a:gd name="txL" fmla="*/ 0 w 63"/>
                  <a:gd name="txT" fmla="*/ 0 h 94"/>
                  <a:gd name="txR" fmla="*/ 63 w 63"/>
                  <a:gd name="txB" fmla="*/ 94 h 94"/>
                </a:gdLst>
                <a:ahLst/>
                <a:cxnLst>
                  <a:cxn ang="0">
                    <a:pos x="13" y="75"/>
                  </a:cxn>
                  <a:cxn ang="0">
                    <a:pos x="13" y="88"/>
                  </a:cxn>
                  <a:cxn ang="0">
                    <a:pos x="0" y="88"/>
                  </a:cxn>
                  <a:cxn ang="0">
                    <a:pos x="0" y="94"/>
                  </a:cxn>
                  <a:cxn ang="0">
                    <a:pos x="51" y="94"/>
                  </a:cxn>
                  <a:cxn ang="0">
                    <a:pos x="51" y="88"/>
                  </a:cxn>
                  <a:cxn ang="0">
                    <a:pos x="38" y="88"/>
                  </a:cxn>
                  <a:cxn ang="0">
                    <a:pos x="32" y="75"/>
                  </a:cxn>
                  <a:cxn ang="0">
                    <a:pos x="32" y="31"/>
                  </a:cxn>
                  <a:cxn ang="0">
                    <a:pos x="38" y="18"/>
                  </a:cxn>
                  <a:cxn ang="0">
                    <a:pos x="44" y="12"/>
                  </a:cxn>
                  <a:cxn ang="0">
                    <a:pos x="51" y="18"/>
                  </a:cxn>
                  <a:cxn ang="0">
                    <a:pos x="57" y="18"/>
                  </a:cxn>
                  <a:cxn ang="0">
                    <a:pos x="63" y="18"/>
                  </a:cxn>
                  <a:cxn ang="0">
                    <a:pos x="63" y="12"/>
                  </a:cxn>
                  <a:cxn ang="0">
                    <a:pos x="63" y="6"/>
                  </a:cxn>
                  <a:cxn ang="0">
                    <a:pos x="57" y="0"/>
                  </a:cxn>
                  <a:cxn ang="0">
                    <a:pos x="44" y="6"/>
                  </a:cxn>
                  <a:cxn ang="0">
                    <a:pos x="32" y="18"/>
                  </a:cxn>
                  <a:cxn ang="0">
                    <a:pos x="32" y="18"/>
                  </a:cxn>
                  <a:cxn ang="0">
                    <a:pos x="32" y="0"/>
                  </a:cxn>
                  <a:cxn ang="0">
                    <a:pos x="32" y="0"/>
                  </a:cxn>
                  <a:cxn ang="0">
                    <a:pos x="19" y="6"/>
                  </a:cxn>
                  <a:cxn ang="0">
                    <a:pos x="0" y="12"/>
                  </a:cxn>
                  <a:cxn ang="0">
                    <a:pos x="0" y="12"/>
                  </a:cxn>
                  <a:cxn ang="0">
                    <a:pos x="6" y="12"/>
                  </a:cxn>
                  <a:cxn ang="0">
                    <a:pos x="6" y="12"/>
                  </a:cxn>
                  <a:cxn ang="0">
                    <a:pos x="13" y="12"/>
                  </a:cxn>
                  <a:cxn ang="0">
                    <a:pos x="13" y="25"/>
                  </a:cxn>
                  <a:cxn ang="0">
                    <a:pos x="13" y="75"/>
                  </a:cxn>
                </a:cxnLst>
                <a:rect l="txL" t="txT" r="txR" b="txB"/>
                <a:pathLst>
                  <a:path w="63" h="94">
                    <a:moveTo>
                      <a:pt x="13" y="75"/>
                    </a:moveTo>
                    <a:lnTo>
                      <a:pt x="13" y="88"/>
                    </a:lnTo>
                    <a:lnTo>
                      <a:pt x="0" y="88"/>
                    </a:lnTo>
                    <a:lnTo>
                      <a:pt x="0" y="94"/>
                    </a:lnTo>
                    <a:lnTo>
                      <a:pt x="51" y="94"/>
                    </a:lnTo>
                    <a:lnTo>
                      <a:pt x="51" y="88"/>
                    </a:lnTo>
                    <a:lnTo>
                      <a:pt x="38" y="88"/>
                    </a:lnTo>
                    <a:lnTo>
                      <a:pt x="32" y="75"/>
                    </a:lnTo>
                    <a:lnTo>
                      <a:pt x="32" y="31"/>
                    </a:lnTo>
                    <a:lnTo>
                      <a:pt x="38" y="18"/>
                    </a:lnTo>
                    <a:lnTo>
                      <a:pt x="44" y="12"/>
                    </a:lnTo>
                    <a:lnTo>
                      <a:pt x="51" y="18"/>
                    </a:lnTo>
                    <a:lnTo>
                      <a:pt x="57" y="18"/>
                    </a:lnTo>
                    <a:lnTo>
                      <a:pt x="63" y="18"/>
                    </a:lnTo>
                    <a:lnTo>
                      <a:pt x="63" y="12"/>
                    </a:lnTo>
                    <a:lnTo>
                      <a:pt x="63" y="6"/>
                    </a:lnTo>
                    <a:lnTo>
                      <a:pt x="57" y="0"/>
                    </a:lnTo>
                    <a:lnTo>
                      <a:pt x="44" y="6"/>
                    </a:lnTo>
                    <a:lnTo>
                      <a:pt x="32" y="18"/>
                    </a:lnTo>
                    <a:lnTo>
                      <a:pt x="32" y="0"/>
                    </a:lnTo>
                    <a:lnTo>
                      <a:pt x="19" y="6"/>
                    </a:lnTo>
                    <a:lnTo>
                      <a:pt x="0" y="12"/>
                    </a:lnTo>
                    <a:lnTo>
                      <a:pt x="6" y="12"/>
                    </a:lnTo>
                    <a:lnTo>
                      <a:pt x="13" y="12"/>
                    </a:lnTo>
                    <a:lnTo>
                      <a:pt x="13" y="25"/>
                    </a:lnTo>
                    <a:lnTo>
                      <a:pt x="13" y="7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4" name="Freeform 73"/>
              <p:cNvSpPr>
                <a:spLocks noEditPoints="1"/>
              </p:cNvSpPr>
              <p:nvPr/>
            </p:nvSpPr>
            <p:spPr>
              <a:xfrm>
                <a:off x="4105" y="1277"/>
                <a:ext cx="82" cy="94"/>
              </a:xfrm>
              <a:custGeom>
                <a:avLst/>
                <a:gdLst>
                  <a:gd name="txL" fmla="*/ 0 w 82"/>
                  <a:gd name="txT" fmla="*/ 0 h 94"/>
                  <a:gd name="txR" fmla="*/ 82 w 82"/>
                  <a:gd name="txB" fmla="*/ 94 h 94"/>
                </a:gdLst>
                <a:ahLst/>
                <a:cxnLst>
                  <a:cxn ang="0">
                    <a:pos x="75" y="56"/>
                  </a:cxn>
                  <a:cxn ang="0">
                    <a:pos x="63" y="75"/>
                  </a:cxn>
                  <a:cxn ang="0">
                    <a:pos x="44" y="82"/>
                  </a:cxn>
                  <a:cxn ang="0">
                    <a:pos x="25" y="69"/>
                  </a:cxn>
                  <a:cxn ang="0">
                    <a:pos x="19" y="56"/>
                  </a:cxn>
                  <a:cxn ang="0">
                    <a:pos x="12" y="37"/>
                  </a:cxn>
                  <a:cxn ang="0">
                    <a:pos x="75" y="37"/>
                  </a:cxn>
                  <a:cxn ang="0">
                    <a:pos x="75" y="18"/>
                  </a:cxn>
                  <a:cxn ang="0">
                    <a:pos x="63" y="12"/>
                  </a:cxn>
                  <a:cxn ang="0">
                    <a:pos x="44" y="0"/>
                  </a:cxn>
                  <a:cxn ang="0">
                    <a:pos x="31" y="0"/>
                  </a:cxn>
                  <a:cxn ang="0">
                    <a:pos x="12" y="12"/>
                  </a:cxn>
                  <a:cxn ang="0">
                    <a:pos x="6" y="25"/>
                  </a:cxn>
                  <a:cxn ang="0">
                    <a:pos x="0" y="50"/>
                  </a:cxn>
                  <a:cxn ang="0">
                    <a:pos x="6" y="69"/>
                  </a:cxn>
                  <a:cxn ang="0">
                    <a:pos x="12" y="82"/>
                  </a:cxn>
                  <a:cxn ang="0">
                    <a:pos x="25" y="94"/>
                  </a:cxn>
                  <a:cxn ang="0">
                    <a:pos x="37" y="94"/>
                  </a:cxn>
                  <a:cxn ang="0">
                    <a:pos x="56" y="88"/>
                  </a:cxn>
                  <a:cxn ang="0">
                    <a:pos x="69" y="82"/>
                  </a:cxn>
                  <a:cxn ang="0">
                    <a:pos x="75" y="69"/>
                  </a:cxn>
                  <a:cxn ang="0">
                    <a:pos x="82" y="63"/>
                  </a:cxn>
                  <a:cxn ang="0">
                    <a:pos x="75" y="56"/>
                  </a:cxn>
                  <a:cxn ang="0">
                    <a:pos x="12" y="31"/>
                  </a:cxn>
                  <a:cxn ang="0">
                    <a:pos x="25" y="12"/>
                  </a:cxn>
                  <a:cxn ang="0">
                    <a:pos x="37" y="6"/>
                  </a:cxn>
                  <a:cxn ang="0">
                    <a:pos x="50" y="12"/>
                  </a:cxn>
                  <a:cxn ang="0">
                    <a:pos x="56" y="31"/>
                  </a:cxn>
                  <a:cxn ang="0">
                    <a:pos x="12" y="31"/>
                  </a:cxn>
                </a:cxnLst>
                <a:rect l="txL" t="txT" r="txR" b="txB"/>
                <a:pathLst>
                  <a:path w="82" h="94">
                    <a:moveTo>
                      <a:pt x="75" y="56"/>
                    </a:moveTo>
                    <a:lnTo>
                      <a:pt x="63" y="75"/>
                    </a:lnTo>
                    <a:lnTo>
                      <a:pt x="44" y="82"/>
                    </a:lnTo>
                    <a:lnTo>
                      <a:pt x="25" y="69"/>
                    </a:lnTo>
                    <a:lnTo>
                      <a:pt x="19" y="56"/>
                    </a:lnTo>
                    <a:lnTo>
                      <a:pt x="12" y="37"/>
                    </a:lnTo>
                    <a:lnTo>
                      <a:pt x="75" y="37"/>
                    </a:lnTo>
                    <a:lnTo>
                      <a:pt x="75" y="18"/>
                    </a:lnTo>
                    <a:lnTo>
                      <a:pt x="63" y="12"/>
                    </a:lnTo>
                    <a:lnTo>
                      <a:pt x="44" y="0"/>
                    </a:lnTo>
                    <a:lnTo>
                      <a:pt x="31" y="0"/>
                    </a:lnTo>
                    <a:lnTo>
                      <a:pt x="12" y="12"/>
                    </a:lnTo>
                    <a:lnTo>
                      <a:pt x="6" y="25"/>
                    </a:lnTo>
                    <a:lnTo>
                      <a:pt x="0" y="50"/>
                    </a:lnTo>
                    <a:lnTo>
                      <a:pt x="6" y="69"/>
                    </a:lnTo>
                    <a:lnTo>
                      <a:pt x="12" y="82"/>
                    </a:lnTo>
                    <a:lnTo>
                      <a:pt x="25" y="94"/>
                    </a:lnTo>
                    <a:lnTo>
                      <a:pt x="37" y="94"/>
                    </a:lnTo>
                    <a:lnTo>
                      <a:pt x="56" y="88"/>
                    </a:lnTo>
                    <a:lnTo>
                      <a:pt x="69" y="82"/>
                    </a:lnTo>
                    <a:lnTo>
                      <a:pt x="75" y="69"/>
                    </a:lnTo>
                    <a:lnTo>
                      <a:pt x="82" y="63"/>
                    </a:lnTo>
                    <a:lnTo>
                      <a:pt x="75" y="56"/>
                    </a:lnTo>
                    <a:close/>
                    <a:moveTo>
                      <a:pt x="12" y="31"/>
                    </a:moveTo>
                    <a:lnTo>
                      <a:pt x="25" y="12"/>
                    </a:lnTo>
                    <a:lnTo>
                      <a:pt x="37" y="6"/>
                    </a:lnTo>
                    <a:lnTo>
                      <a:pt x="50" y="12"/>
                    </a:lnTo>
                    <a:lnTo>
                      <a:pt x="56" y="31"/>
                    </a:lnTo>
                    <a:lnTo>
                      <a:pt x="12" y="3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5" name="Freeform 74"/>
              <p:cNvSpPr>
                <a:spLocks noEditPoints="1"/>
              </p:cNvSpPr>
              <p:nvPr/>
            </p:nvSpPr>
            <p:spPr>
              <a:xfrm>
                <a:off x="4193" y="1277"/>
                <a:ext cx="82" cy="94"/>
              </a:xfrm>
              <a:custGeom>
                <a:avLst/>
                <a:gdLst>
                  <a:gd name="txL" fmla="*/ 0 w 82"/>
                  <a:gd name="txT" fmla="*/ 0 h 94"/>
                  <a:gd name="txR" fmla="*/ 82 w 82"/>
                  <a:gd name="txB" fmla="*/ 94 h 94"/>
                </a:gdLst>
                <a:ahLst/>
                <a:cxnLst>
                  <a:cxn ang="0">
                    <a:pos x="51" y="69"/>
                  </a:cxn>
                  <a:cxn ang="0">
                    <a:pos x="51" y="75"/>
                  </a:cxn>
                  <a:cxn ang="0">
                    <a:pos x="44" y="82"/>
                  </a:cxn>
                  <a:cxn ang="0">
                    <a:pos x="38" y="82"/>
                  </a:cxn>
                  <a:cxn ang="0">
                    <a:pos x="32" y="82"/>
                  </a:cxn>
                  <a:cxn ang="0">
                    <a:pos x="25" y="75"/>
                  </a:cxn>
                  <a:cxn ang="0">
                    <a:pos x="19" y="69"/>
                  </a:cxn>
                  <a:cxn ang="0">
                    <a:pos x="19" y="69"/>
                  </a:cxn>
                  <a:cxn ang="0">
                    <a:pos x="25" y="56"/>
                  </a:cxn>
                  <a:cxn ang="0">
                    <a:pos x="38" y="50"/>
                  </a:cxn>
                  <a:cxn ang="0">
                    <a:pos x="51" y="37"/>
                  </a:cxn>
                  <a:cxn ang="0">
                    <a:pos x="51" y="69"/>
                  </a:cxn>
                  <a:cxn ang="0">
                    <a:pos x="82" y="82"/>
                  </a:cxn>
                  <a:cxn ang="0">
                    <a:pos x="82" y="82"/>
                  </a:cxn>
                  <a:cxn ang="0">
                    <a:pos x="76" y="82"/>
                  </a:cxn>
                  <a:cxn ang="0">
                    <a:pos x="69" y="75"/>
                  </a:cxn>
                  <a:cxn ang="0">
                    <a:pos x="69" y="69"/>
                  </a:cxn>
                  <a:cxn ang="0">
                    <a:pos x="69" y="31"/>
                  </a:cxn>
                  <a:cxn ang="0">
                    <a:pos x="63" y="12"/>
                  </a:cxn>
                  <a:cxn ang="0">
                    <a:pos x="57" y="6"/>
                  </a:cxn>
                  <a:cxn ang="0">
                    <a:pos x="38" y="0"/>
                  </a:cxn>
                  <a:cxn ang="0">
                    <a:pos x="25" y="6"/>
                  </a:cxn>
                  <a:cxn ang="0">
                    <a:pos x="13" y="12"/>
                  </a:cxn>
                  <a:cxn ang="0">
                    <a:pos x="6" y="25"/>
                  </a:cxn>
                  <a:cxn ang="0">
                    <a:pos x="6" y="31"/>
                  </a:cxn>
                  <a:cxn ang="0">
                    <a:pos x="13" y="31"/>
                  </a:cxn>
                  <a:cxn ang="0">
                    <a:pos x="19" y="31"/>
                  </a:cxn>
                  <a:cxn ang="0">
                    <a:pos x="25" y="25"/>
                  </a:cxn>
                  <a:cxn ang="0">
                    <a:pos x="25" y="18"/>
                  </a:cxn>
                  <a:cxn ang="0">
                    <a:pos x="25" y="18"/>
                  </a:cxn>
                  <a:cxn ang="0">
                    <a:pos x="32" y="12"/>
                  </a:cxn>
                  <a:cxn ang="0">
                    <a:pos x="38" y="6"/>
                  </a:cxn>
                  <a:cxn ang="0">
                    <a:pos x="44" y="6"/>
                  </a:cxn>
                  <a:cxn ang="0">
                    <a:pos x="51" y="12"/>
                  </a:cxn>
                  <a:cxn ang="0">
                    <a:pos x="51" y="25"/>
                  </a:cxn>
                  <a:cxn ang="0">
                    <a:pos x="51" y="37"/>
                  </a:cxn>
                  <a:cxn ang="0">
                    <a:pos x="13" y="50"/>
                  </a:cxn>
                  <a:cxn ang="0">
                    <a:pos x="6" y="63"/>
                  </a:cxn>
                  <a:cxn ang="0">
                    <a:pos x="0" y="75"/>
                  </a:cxn>
                  <a:cxn ang="0">
                    <a:pos x="6" y="88"/>
                  </a:cxn>
                  <a:cxn ang="0">
                    <a:pos x="25" y="94"/>
                  </a:cxn>
                  <a:cxn ang="0">
                    <a:pos x="38" y="88"/>
                  </a:cxn>
                  <a:cxn ang="0">
                    <a:pos x="51" y="82"/>
                  </a:cxn>
                  <a:cxn ang="0">
                    <a:pos x="57" y="94"/>
                  </a:cxn>
                  <a:cxn ang="0">
                    <a:pos x="63" y="94"/>
                  </a:cxn>
                  <a:cxn ang="0">
                    <a:pos x="76" y="94"/>
                  </a:cxn>
                  <a:cxn ang="0">
                    <a:pos x="82" y="82"/>
                  </a:cxn>
                  <a:cxn ang="0">
                    <a:pos x="82" y="82"/>
                  </a:cxn>
                </a:cxnLst>
                <a:rect l="txL" t="txT" r="txR" b="txB"/>
                <a:pathLst>
                  <a:path w="82" h="94">
                    <a:moveTo>
                      <a:pt x="51" y="69"/>
                    </a:moveTo>
                    <a:lnTo>
                      <a:pt x="51" y="75"/>
                    </a:lnTo>
                    <a:lnTo>
                      <a:pt x="44" y="82"/>
                    </a:lnTo>
                    <a:lnTo>
                      <a:pt x="38" y="82"/>
                    </a:lnTo>
                    <a:lnTo>
                      <a:pt x="32" y="82"/>
                    </a:lnTo>
                    <a:lnTo>
                      <a:pt x="25" y="75"/>
                    </a:lnTo>
                    <a:lnTo>
                      <a:pt x="19" y="69"/>
                    </a:lnTo>
                    <a:lnTo>
                      <a:pt x="25" y="56"/>
                    </a:lnTo>
                    <a:lnTo>
                      <a:pt x="38" y="50"/>
                    </a:lnTo>
                    <a:lnTo>
                      <a:pt x="51" y="37"/>
                    </a:lnTo>
                    <a:lnTo>
                      <a:pt x="51" y="69"/>
                    </a:lnTo>
                    <a:close/>
                    <a:moveTo>
                      <a:pt x="82" y="82"/>
                    </a:moveTo>
                    <a:lnTo>
                      <a:pt x="82" y="82"/>
                    </a:lnTo>
                    <a:lnTo>
                      <a:pt x="76" y="82"/>
                    </a:lnTo>
                    <a:lnTo>
                      <a:pt x="69" y="75"/>
                    </a:lnTo>
                    <a:lnTo>
                      <a:pt x="69" y="69"/>
                    </a:lnTo>
                    <a:lnTo>
                      <a:pt x="69" y="31"/>
                    </a:lnTo>
                    <a:lnTo>
                      <a:pt x="63" y="12"/>
                    </a:lnTo>
                    <a:lnTo>
                      <a:pt x="57" y="6"/>
                    </a:lnTo>
                    <a:lnTo>
                      <a:pt x="38" y="0"/>
                    </a:lnTo>
                    <a:lnTo>
                      <a:pt x="25" y="6"/>
                    </a:lnTo>
                    <a:lnTo>
                      <a:pt x="13" y="12"/>
                    </a:lnTo>
                    <a:lnTo>
                      <a:pt x="6" y="25"/>
                    </a:lnTo>
                    <a:lnTo>
                      <a:pt x="6" y="31"/>
                    </a:lnTo>
                    <a:lnTo>
                      <a:pt x="13" y="31"/>
                    </a:lnTo>
                    <a:lnTo>
                      <a:pt x="19" y="31"/>
                    </a:lnTo>
                    <a:lnTo>
                      <a:pt x="25" y="25"/>
                    </a:lnTo>
                    <a:lnTo>
                      <a:pt x="25" y="18"/>
                    </a:lnTo>
                    <a:lnTo>
                      <a:pt x="32" y="12"/>
                    </a:lnTo>
                    <a:lnTo>
                      <a:pt x="38" y="6"/>
                    </a:lnTo>
                    <a:lnTo>
                      <a:pt x="44" y="6"/>
                    </a:lnTo>
                    <a:lnTo>
                      <a:pt x="51" y="12"/>
                    </a:lnTo>
                    <a:lnTo>
                      <a:pt x="51" y="25"/>
                    </a:lnTo>
                    <a:lnTo>
                      <a:pt x="51" y="37"/>
                    </a:lnTo>
                    <a:lnTo>
                      <a:pt x="13" y="50"/>
                    </a:lnTo>
                    <a:lnTo>
                      <a:pt x="6" y="63"/>
                    </a:lnTo>
                    <a:lnTo>
                      <a:pt x="0" y="75"/>
                    </a:lnTo>
                    <a:lnTo>
                      <a:pt x="6" y="88"/>
                    </a:lnTo>
                    <a:lnTo>
                      <a:pt x="25" y="94"/>
                    </a:lnTo>
                    <a:lnTo>
                      <a:pt x="38" y="88"/>
                    </a:lnTo>
                    <a:lnTo>
                      <a:pt x="51" y="82"/>
                    </a:lnTo>
                    <a:lnTo>
                      <a:pt x="57" y="94"/>
                    </a:lnTo>
                    <a:lnTo>
                      <a:pt x="63" y="94"/>
                    </a:lnTo>
                    <a:lnTo>
                      <a:pt x="76" y="94"/>
                    </a:lnTo>
                    <a:lnTo>
                      <a:pt x="82" y="8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6" name="Freeform 75"/>
              <p:cNvSpPr>
                <a:spLocks noEditPoints="1"/>
              </p:cNvSpPr>
              <p:nvPr/>
            </p:nvSpPr>
            <p:spPr>
              <a:xfrm>
                <a:off x="4313" y="1239"/>
                <a:ext cx="126" cy="132"/>
              </a:xfrm>
              <a:custGeom>
                <a:avLst/>
                <a:gdLst>
                  <a:gd name="txL" fmla="*/ 0 w 126"/>
                  <a:gd name="txT" fmla="*/ 0 h 132"/>
                  <a:gd name="txR" fmla="*/ 126 w 126"/>
                  <a:gd name="txB" fmla="*/ 132 h 132"/>
                </a:gdLst>
                <a:ahLst/>
                <a:cxnLst>
                  <a:cxn ang="0">
                    <a:pos x="82" y="0"/>
                  </a:cxn>
                  <a:cxn ang="0">
                    <a:pos x="25" y="94"/>
                  </a:cxn>
                  <a:cxn ang="0">
                    <a:pos x="19" y="113"/>
                  </a:cxn>
                  <a:cxn ang="0">
                    <a:pos x="13" y="120"/>
                  </a:cxn>
                  <a:cxn ang="0">
                    <a:pos x="0" y="126"/>
                  </a:cxn>
                  <a:cxn ang="0">
                    <a:pos x="0" y="132"/>
                  </a:cxn>
                  <a:cxn ang="0">
                    <a:pos x="38" y="132"/>
                  </a:cxn>
                  <a:cxn ang="0">
                    <a:pos x="38" y="126"/>
                  </a:cxn>
                  <a:cxn ang="0">
                    <a:pos x="32" y="126"/>
                  </a:cxn>
                  <a:cxn ang="0">
                    <a:pos x="25" y="120"/>
                  </a:cxn>
                  <a:cxn ang="0">
                    <a:pos x="32" y="113"/>
                  </a:cxn>
                  <a:cxn ang="0">
                    <a:pos x="32" y="107"/>
                  </a:cxn>
                  <a:cxn ang="0">
                    <a:pos x="44" y="88"/>
                  </a:cxn>
                  <a:cxn ang="0">
                    <a:pos x="88" y="88"/>
                  </a:cxn>
                  <a:cxn ang="0">
                    <a:pos x="88" y="113"/>
                  </a:cxn>
                  <a:cxn ang="0">
                    <a:pos x="88" y="113"/>
                  </a:cxn>
                  <a:cxn ang="0">
                    <a:pos x="88" y="120"/>
                  </a:cxn>
                  <a:cxn ang="0">
                    <a:pos x="88" y="126"/>
                  </a:cxn>
                  <a:cxn ang="0">
                    <a:pos x="76" y="126"/>
                  </a:cxn>
                  <a:cxn ang="0">
                    <a:pos x="76" y="132"/>
                  </a:cxn>
                  <a:cxn ang="0">
                    <a:pos x="126" y="132"/>
                  </a:cxn>
                  <a:cxn ang="0">
                    <a:pos x="126" y="126"/>
                  </a:cxn>
                  <a:cxn ang="0">
                    <a:pos x="114" y="126"/>
                  </a:cxn>
                  <a:cxn ang="0">
                    <a:pos x="114" y="120"/>
                  </a:cxn>
                  <a:cxn ang="0">
                    <a:pos x="107" y="107"/>
                  </a:cxn>
                  <a:cxn ang="0">
                    <a:pos x="88" y="0"/>
                  </a:cxn>
                  <a:cxn ang="0">
                    <a:pos x="82" y="0"/>
                  </a:cxn>
                  <a:cxn ang="0">
                    <a:pos x="44" y="75"/>
                  </a:cxn>
                  <a:cxn ang="0">
                    <a:pos x="76" y="25"/>
                  </a:cxn>
                  <a:cxn ang="0">
                    <a:pos x="76" y="25"/>
                  </a:cxn>
                  <a:cxn ang="0">
                    <a:pos x="88" y="75"/>
                  </a:cxn>
                  <a:cxn ang="0">
                    <a:pos x="44" y="75"/>
                  </a:cxn>
                </a:cxnLst>
                <a:rect l="txL" t="txT" r="txR" b="txB"/>
                <a:pathLst>
                  <a:path w="126" h="132">
                    <a:moveTo>
                      <a:pt x="82" y="0"/>
                    </a:moveTo>
                    <a:lnTo>
                      <a:pt x="25" y="94"/>
                    </a:lnTo>
                    <a:lnTo>
                      <a:pt x="19" y="113"/>
                    </a:lnTo>
                    <a:lnTo>
                      <a:pt x="13" y="120"/>
                    </a:lnTo>
                    <a:lnTo>
                      <a:pt x="0" y="126"/>
                    </a:lnTo>
                    <a:lnTo>
                      <a:pt x="0" y="132"/>
                    </a:lnTo>
                    <a:lnTo>
                      <a:pt x="38" y="132"/>
                    </a:lnTo>
                    <a:lnTo>
                      <a:pt x="38" y="126"/>
                    </a:lnTo>
                    <a:lnTo>
                      <a:pt x="32" y="126"/>
                    </a:lnTo>
                    <a:lnTo>
                      <a:pt x="25" y="120"/>
                    </a:lnTo>
                    <a:lnTo>
                      <a:pt x="32" y="113"/>
                    </a:lnTo>
                    <a:lnTo>
                      <a:pt x="32" y="107"/>
                    </a:lnTo>
                    <a:lnTo>
                      <a:pt x="44" y="88"/>
                    </a:lnTo>
                    <a:lnTo>
                      <a:pt x="88" y="88"/>
                    </a:lnTo>
                    <a:lnTo>
                      <a:pt x="88" y="113"/>
                    </a:lnTo>
                    <a:lnTo>
                      <a:pt x="88" y="120"/>
                    </a:lnTo>
                    <a:lnTo>
                      <a:pt x="88" y="126"/>
                    </a:lnTo>
                    <a:lnTo>
                      <a:pt x="76" y="126"/>
                    </a:lnTo>
                    <a:lnTo>
                      <a:pt x="76" y="132"/>
                    </a:lnTo>
                    <a:lnTo>
                      <a:pt x="126" y="132"/>
                    </a:lnTo>
                    <a:lnTo>
                      <a:pt x="126" y="126"/>
                    </a:lnTo>
                    <a:lnTo>
                      <a:pt x="114" y="126"/>
                    </a:lnTo>
                    <a:lnTo>
                      <a:pt x="114" y="120"/>
                    </a:lnTo>
                    <a:lnTo>
                      <a:pt x="107" y="107"/>
                    </a:lnTo>
                    <a:lnTo>
                      <a:pt x="88" y="0"/>
                    </a:lnTo>
                    <a:lnTo>
                      <a:pt x="82" y="0"/>
                    </a:lnTo>
                    <a:close/>
                    <a:moveTo>
                      <a:pt x="44" y="75"/>
                    </a:moveTo>
                    <a:lnTo>
                      <a:pt x="76" y="25"/>
                    </a:lnTo>
                    <a:lnTo>
                      <a:pt x="88" y="75"/>
                    </a:lnTo>
                    <a:lnTo>
                      <a:pt x="44" y="7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7" name="Freeform 76"/>
              <p:cNvSpPr>
                <a:spLocks noEditPoints="1"/>
              </p:cNvSpPr>
              <p:nvPr/>
            </p:nvSpPr>
            <p:spPr>
              <a:xfrm>
                <a:off x="2847" y="3711"/>
                <a:ext cx="101" cy="133"/>
              </a:xfrm>
              <a:custGeom>
                <a:avLst/>
                <a:gdLst>
                  <a:gd name="txL" fmla="*/ 0 w 101"/>
                  <a:gd name="txT" fmla="*/ 0 h 133"/>
                  <a:gd name="txR" fmla="*/ 101 w 101"/>
                  <a:gd name="txB" fmla="*/ 133 h 133"/>
                </a:gdLst>
                <a:ahLst/>
                <a:cxnLst>
                  <a:cxn ang="0">
                    <a:pos x="32" y="127"/>
                  </a:cxn>
                  <a:cxn ang="0">
                    <a:pos x="19" y="120"/>
                  </a:cxn>
                  <a:cxn ang="0">
                    <a:pos x="19" y="108"/>
                  </a:cxn>
                  <a:cxn ang="0">
                    <a:pos x="26" y="89"/>
                  </a:cxn>
                  <a:cxn ang="0">
                    <a:pos x="32" y="70"/>
                  </a:cxn>
                  <a:cxn ang="0">
                    <a:pos x="45" y="57"/>
                  </a:cxn>
                  <a:cxn ang="0">
                    <a:pos x="57" y="51"/>
                  </a:cxn>
                  <a:cxn ang="0">
                    <a:pos x="70" y="57"/>
                  </a:cxn>
                  <a:cxn ang="0">
                    <a:pos x="70" y="63"/>
                  </a:cxn>
                  <a:cxn ang="0">
                    <a:pos x="70" y="82"/>
                  </a:cxn>
                  <a:cxn ang="0">
                    <a:pos x="57" y="108"/>
                  </a:cxn>
                  <a:cxn ang="0">
                    <a:pos x="45" y="120"/>
                  </a:cxn>
                  <a:cxn ang="0">
                    <a:pos x="32" y="127"/>
                  </a:cxn>
                  <a:cxn ang="0">
                    <a:pos x="32" y="127"/>
                  </a:cxn>
                  <a:cxn ang="0">
                    <a:pos x="89" y="108"/>
                  </a:cxn>
                  <a:cxn ang="0">
                    <a:pos x="83" y="120"/>
                  </a:cxn>
                  <a:cxn ang="0">
                    <a:pos x="70" y="127"/>
                  </a:cxn>
                  <a:cxn ang="0">
                    <a:pos x="70" y="127"/>
                  </a:cxn>
                  <a:cxn ang="0">
                    <a:pos x="70" y="120"/>
                  </a:cxn>
                  <a:cxn ang="0">
                    <a:pos x="70" y="114"/>
                  </a:cxn>
                  <a:cxn ang="0">
                    <a:pos x="76" y="101"/>
                  </a:cxn>
                  <a:cxn ang="0">
                    <a:pos x="83" y="70"/>
                  </a:cxn>
                  <a:cxn ang="0">
                    <a:pos x="95" y="32"/>
                  </a:cxn>
                  <a:cxn ang="0">
                    <a:pos x="101" y="0"/>
                  </a:cxn>
                  <a:cxn ang="0">
                    <a:pos x="101" y="0"/>
                  </a:cxn>
                  <a:cxn ang="0">
                    <a:pos x="89" y="0"/>
                  </a:cxn>
                  <a:cxn ang="0">
                    <a:pos x="70" y="0"/>
                  </a:cxn>
                  <a:cxn ang="0">
                    <a:pos x="70" y="7"/>
                  </a:cxn>
                  <a:cxn ang="0">
                    <a:pos x="83" y="7"/>
                  </a:cxn>
                  <a:cxn ang="0">
                    <a:pos x="83" y="13"/>
                  </a:cxn>
                  <a:cxn ang="0">
                    <a:pos x="83" y="19"/>
                  </a:cxn>
                  <a:cxn ang="0">
                    <a:pos x="83" y="26"/>
                  </a:cxn>
                  <a:cxn ang="0">
                    <a:pos x="70" y="57"/>
                  </a:cxn>
                  <a:cxn ang="0">
                    <a:pos x="70" y="57"/>
                  </a:cxn>
                  <a:cxn ang="0">
                    <a:pos x="70" y="51"/>
                  </a:cxn>
                  <a:cxn ang="0">
                    <a:pos x="57" y="45"/>
                  </a:cxn>
                  <a:cxn ang="0">
                    <a:pos x="38" y="51"/>
                  </a:cxn>
                  <a:cxn ang="0">
                    <a:pos x="19" y="70"/>
                  </a:cxn>
                  <a:cxn ang="0">
                    <a:pos x="7" y="89"/>
                  </a:cxn>
                  <a:cxn ang="0">
                    <a:pos x="0" y="108"/>
                  </a:cxn>
                  <a:cxn ang="0">
                    <a:pos x="7" y="127"/>
                  </a:cxn>
                  <a:cxn ang="0">
                    <a:pos x="19" y="133"/>
                  </a:cxn>
                  <a:cxn ang="0">
                    <a:pos x="38" y="133"/>
                  </a:cxn>
                  <a:cxn ang="0">
                    <a:pos x="51" y="120"/>
                  </a:cxn>
                  <a:cxn ang="0">
                    <a:pos x="57" y="108"/>
                  </a:cxn>
                  <a:cxn ang="0">
                    <a:pos x="57" y="108"/>
                  </a:cxn>
                  <a:cxn ang="0">
                    <a:pos x="57" y="127"/>
                  </a:cxn>
                  <a:cxn ang="0">
                    <a:pos x="57" y="133"/>
                  </a:cxn>
                  <a:cxn ang="0">
                    <a:pos x="64" y="133"/>
                  </a:cxn>
                  <a:cxn ang="0">
                    <a:pos x="76" y="127"/>
                  </a:cxn>
                  <a:cxn ang="0">
                    <a:pos x="89" y="114"/>
                  </a:cxn>
                  <a:cxn ang="0">
                    <a:pos x="89" y="108"/>
                  </a:cxn>
                </a:cxnLst>
                <a:rect l="txL" t="txT" r="txR" b="txB"/>
                <a:pathLst>
                  <a:path w="101" h="133">
                    <a:moveTo>
                      <a:pt x="32" y="127"/>
                    </a:moveTo>
                    <a:lnTo>
                      <a:pt x="19" y="120"/>
                    </a:lnTo>
                    <a:lnTo>
                      <a:pt x="19" y="108"/>
                    </a:lnTo>
                    <a:lnTo>
                      <a:pt x="26" y="89"/>
                    </a:lnTo>
                    <a:lnTo>
                      <a:pt x="32" y="70"/>
                    </a:lnTo>
                    <a:lnTo>
                      <a:pt x="45" y="57"/>
                    </a:lnTo>
                    <a:lnTo>
                      <a:pt x="57" y="51"/>
                    </a:lnTo>
                    <a:lnTo>
                      <a:pt x="70" y="57"/>
                    </a:lnTo>
                    <a:lnTo>
                      <a:pt x="70" y="63"/>
                    </a:lnTo>
                    <a:lnTo>
                      <a:pt x="70" y="82"/>
                    </a:lnTo>
                    <a:lnTo>
                      <a:pt x="57" y="108"/>
                    </a:lnTo>
                    <a:lnTo>
                      <a:pt x="45" y="120"/>
                    </a:lnTo>
                    <a:lnTo>
                      <a:pt x="32" y="127"/>
                    </a:lnTo>
                    <a:close/>
                    <a:moveTo>
                      <a:pt x="89" y="108"/>
                    </a:moveTo>
                    <a:lnTo>
                      <a:pt x="83" y="120"/>
                    </a:lnTo>
                    <a:lnTo>
                      <a:pt x="70" y="127"/>
                    </a:lnTo>
                    <a:lnTo>
                      <a:pt x="70" y="120"/>
                    </a:lnTo>
                    <a:lnTo>
                      <a:pt x="70" y="114"/>
                    </a:lnTo>
                    <a:lnTo>
                      <a:pt x="76" y="101"/>
                    </a:lnTo>
                    <a:lnTo>
                      <a:pt x="83" y="70"/>
                    </a:lnTo>
                    <a:lnTo>
                      <a:pt x="95" y="32"/>
                    </a:lnTo>
                    <a:lnTo>
                      <a:pt x="101" y="0"/>
                    </a:lnTo>
                    <a:lnTo>
                      <a:pt x="89" y="0"/>
                    </a:lnTo>
                    <a:lnTo>
                      <a:pt x="70" y="0"/>
                    </a:lnTo>
                    <a:lnTo>
                      <a:pt x="70" y="7"/>
                    </a:lnTo>
                    <a:lnTo>
                      <a:pt x="83" y="7"/>
                    </a:lnTo>
                    <a:lnTo>
                      <a:pt x="83" y="13"/>
                    </a:lnTo>
                    <a:lnTo>
                      <a:pt x="83" y="19"/>
                    </a:lnTo>
                    <a:lnTo>
                      <a:pt x="83" y="26"/>
                    </a:lnTo>
                    <a:lnTo>
                      <a:pt x="70" y="57"/>
                    </a:lnTo>
                    <a:lnTo>
                      <a:pt x="70" y="51"/>
                    </a:lnTo>
                    <a:lnTo>
                      <a:pt x="57" y="45"/>
                    </a:lnTo>
                    <a:lnTo>
                      <a:pt x="38" y="51"/>
                    </a:lnTo>
                    <a:lnTo>
                      <a:pt x="19" y="70"/>
                    </a:lnTo>
                    <a:lnTo>
                      <a:pt x="7" y="89"/>
                    </a:lnTo>
                    <a:lnTo>
                      <a:pt x="0" y="108"/>
                    </a:lnTo>
                    <a:lnTo>
                      <a:pt x="7" y="127"/>
                    </a:lnTo>
                    <a:lnTo>
                      <a:pt x="19" y="133"/>
                    </a:lnTo>
                    <a:lnTo>
                      <a:pt x="38" y="133"/>
                    </a:lnTo>
                    <a:lnTo>
                      <a:pt x="51" y="120"/>
                    </a:lnTo>
                    <a:lnTo>
                      <a:pt x="57" y="108"/>
                    </a:lnTo>
                    <a:lnTo>
                      <a:pt x="57" y="127"/>
                    </a:lnTo>
                    <a:lnTo>
                      <a:pt x="57" y="133"/>
                    </a:lnTo>
                    <a:lnTo>
                      <a:pt x="64" y="133"/>
                    </a:lnTo>
                    <a:lnTo>
                      <a:pt x="76" y="127"/>
                    </a:lnTo>
                    <a:lnTo>
                      <a:pt x="89" y="114"/>
                    </a:lnTo>
                    <a:lnTo>
                      <a:pt x="89" y="108"/>
                    </a:lnTo>
                    <a:close/>
                  </a:path>
                </a:pathLst>
              </a:custGeom>
              <a:solidFill>
                <a:schemeClr val="tx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8" name="Freeform 79"/>
              <p:cNvSpPr>
                <a:spLocks noEditPoints="1"/>
              </p:cNvSpPr>
              <p:nvPr/>
            </p:nvSpPr>
            <p:spPr>
              <a:xfrm>
                <a:off x="2089" y="513"/>
                <a:ext cx="82" cy="95"/>
              </a:xfrm>
              <a:custGeom>
                <a:avLst/>
                <a:gdLst>
                  <a:gd name="txL" fmla="*/ 0 w 82"/>
                  <a:gd name="txT" fmla="*/ 0 h 95"/>
                  <a:gd name="txR" fmla="*/ 82 w 82"/>
                  <a:gd name="txB" fmla="*/ 95 h 95"/>
                </a:gdLst>
                <a:ahLst/>
                <a:cxnLst>
                  <a:cxn ang="0">
                    <a:pos x="76" y="57"/>
                  </a:cxn>
                  <a:cxn ang="0">
                    <a:pos x="70" y="70"/>
                  </a:cxn>
                  <a:cxn ang="0">
                    <a:pos x="57" y="82"/>
                  </a:cxn>
                  <a:cxn ang="0">
                    <a:pos x="45" y="82"/>
                  </a:cxn>
                  <a:cxn ang="0">
                    <a:pos x="26" y="70"/>
                  </a:cxn>
                  <a:cxn ang="0">
                    <a:pos x="19" y="57"/>
                  </a:cxn>
                  <a:cxn ang="0">
                    <a:pos x="13" y="38"/>
                  </a:cxn>
                  <a:cxn ang="0">
                    <a:pos x="76" y="38"/>
                  </a:cxn>
                  <a:cxn ang="0">
                    <a:pos x="70" y="13"/>
                  </a:cxn>
                  <a:cxn ang="0">
                    <a:pos x="45" y="0"/>
                  </a:cxn>
                  <a:cxn ang="0">
                    <a:pos x="32" y="0"/>
                  </a:cxn>
                  <a:cxn ang="0">
                    <a:pos x="13" y="13"/>
                  </a:cxn>
                  <a:cxn ang="0">
                    <a:pos x="7" y="26"/>
                  </a:cxn>
                  <a:cxn ang="0">
                    <a:pos x="0" y="51"/>
                  </a:cxn>
                  <a:cxn ang="0">
                    <a:pos x="7" y="70"/>
                  </a:cxn>
                  <a:cxn ang="0">
                    <a:pos x="13" y="82"/>
                  </a:cxn>
                  <a:cxn ang="0">
                    <a:pos x="26" y="95"/>
                  </a:cxn>
                  <a:cxn ang="0">
                    <a:pos x="38" y="95"/>
                  </a:cxn>
                  <a:cxn ang="0">
                    <a:pos x="57" y="89"/>
                  </a:cxn>
                  <a:cxn ang="0">
                    <a:pos x="70" y="76"/>
                  </a:cxn>
                  <a:cxn ang="0">
                    <a:pos x="76" y="63"/>
                  </a:cxn>
                  <a:cxn ang="0">
                    <a:pos x="82" y="57"/>
                  </a:cxn>
                  <a:cxn ang="0">
                    <a:pos x="76" y="57"/>
                  </a:cxn>
                  <a:cxn ang="0">
                    <a:pos x="19" y="32"/>
                  </a:cxn>
                  <a:cxn ang="0">
                    <a:pos x="26" y="13"/>
                  </a:cxn>
                  <a:cxn ang="0">
                    <a:pos x="38" y="7"/>
                  </a:cxn>
                  <a:cxn ang="0">
                    <a:pos x="51" y="13"/>
                  </a:cxn>
                  <a:cxn ang="0">
                    <a:pos x="57" y="32"/>
                  </a:cxn>
                  <a:cxn ang="0">
                    <a:pos x="19" y="32"/>
                  </a:cxn>
                </a:cxnLst>
                <a:rect l="txL" t="txT" r="txR" b="txB"/>
                <a:pathLst>
                  <a:path w="82" h="95">
                    <a:moveTo>
                      <a:pt x="76" y="57"/>
                    </a:moveTo>
                    <a:lnTo>
                      <a:pt x="70" y="70"/>
                    </a:lnTo>
                    <a:lnTo>
                      <a:pt x="57" y="82"/>
                    </a:lnTo>
                    <a:lnTo>
                      <a:pt x="45" y="82"/>
                    </a:lnTo>
                    <a:lnTo>
                      <a:pt x="26" y="70"/>
                    </a:lnTo>
                    <a:lnTo>
                      <a:pt x="19" y="57"/>
                    </a:lnTo>
                    <a:lnTo>
                      <a:pt x="13" y="38"/>
                    </a:lnTo>
                    <a:lnTo>
                      <a:pt x="76" y="38"/>
                    </a:lnTo>
                    <a:lnTo>
                      <a:pt x="70" y="13"/>
                    </a:lnTo>
                    <a:lnTo>
                      <a:pt x="45" y="0"/>
                    </a:lnTo>
                    <a:lnTo>
                      <a:pt x="32" y="0"/>
                    </a:lnTo>
                    <a:lnTo>
                      <a:pt x="13" y="13"/>
                    </a:lnTo>
                    <a:lnTo>
                      <a:pt x="7" y="26"/>
                    </a:lnTo>
                    <a:lnTo>
                      <a:pt x="0" y="51"/>
                    </a:lnTo>
                    <a:lnTo>
                      <a:pt x="7" y="70"/>
                    </a:lnTo>
                    <a:lnTo>
                      <a:pt x="13" y="82"/>
                    </a:lnTo>
                    <a:lnTo>
                      <a:pt x="26" y="95"/>
                    </a:lnTo>
                    <a:lnTo>
                      <a:pt x="38" y="95"/>
                    </a:lnTo>
                    <a:lnTo>
                      <a:pt x="57" y="89"/>
                    </a:lnTo>
                    <a:lnTo>
                      <a:pt x="70" y="76"/>
                    </a:lnTo>
                    <a:lnTo>
                      <a:pt x="76" y="63"/>
                    </a:lnTo>
                    <a:lnTo>
                      <a:pt x="82" y="57"/>
                    </a:lnTo>
                    <a:lnTo>
                      <a:pt x="76" y="57"/>
                    </a:lnTo>
                    <a:close/>
                    <a:moveTo>
                      <a:pt x="19" y="32"/>
                    </a:moveTo>
                    <a:lnTo>
                      <a:pt x="26" y="13"/>
                    </a:lnTo>
                    <a:lnTo>
                      <a:pt x="38" y="7"/>
                    </a:lnTo>
                    <a:lnTo>
                      <a:pt x="51" y="13"/>
                    </a:lnTo>
                    <a:lnTo>
                      <a:pt x="57" y="32"/>
                    </a:lnTo>
                    <a:lnTo>
                      <a:pt x="19" y="3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79" name="Freeform 80"/>
              <p:cNvSpPr/>
              <p:nvPr/>
            </p:nvSpPr>
            <p:spPr>
              <a:xfrm>
                <a:off x="2178" y="469"/>
                <a:ext cx="44" cy="133"/>
              </a:xfrm>
              <a:custGeom>
                <a:avLst/>
                <a:gdLst>
                  <a:gd name="txL" fmla="*/ 0 w 44"/>
                  <a:gd name="txT" fmla="*/ 0 h 133"/>
                  <a:gd name="txR" fmla="*/ 44 w 44"/>
                  <a:gd name="txB" fmla="*/ 133 h 133"/>
                </a:gdLst>
                <a:ahLst/>
                <a:cxnLst>
                  <a:cxn ang="0">
                    <a:pos x="0" y="133"/>
                  </a:cxn>
                  <a:cxn ang="0">
                    <a:pos x="44" y="133"/>
                  </a:cxn>
                  <a:cxn ang="0">
                    <a:pos x="44" y="133"/>
                  </a:cxn>
                  <a:cxn ang="0">
                    <a:pos x="38" y="133"/>
                  </a:cxn>
                  <a:cxn ang="0">
                    <a:pos x="31" y="120"/>
                  </a:cxn>
                  <a:cxn ang="0">
                    <a:pos x="31" y="0"/>
                  </a:cxn>
                  <a:cxn ang="0">
                    <a:pos x="31" y="0"/>
                  </a:cxn>
                  <a:cxn ang="0">
                    <a:pos x="19" y="6"/>
                  </a:cxn>
                  <a:cxn ang="0">
                    <a:pos x="0" y="13"/>
                  </a:cxn>
                  <a:cxn ang="0">
                    <a:pos x="0" y="13"/>
                  </a:cxn>
                  <a:cxn ang="0">
                    <a:pos x="6" y="13"/>
                  </a:cxn>
                  <a:cxn ang="0">
                    <a:pos x="6" y="13"/>
                  </a:cxn>
                  <a:cxn ang="0">
                    <a:pos x="12" y="13"/>
                  </a:cxn>
                  <a:cxn ang="0">
                    <a:pos x="12" y="25"/>
                  </a:cxn>
                  <a:cxn ang="0">
                    <a:pos x="12" y="120"/>
                  </a:cxn>
                  <a:cxn ang="0">
                    <a:pos x="12" y="126"/>
                  </a:cxn>
                  <a:cxn ang="0">
                    <a:pos x="0" y="133"/>
                  </a:cxn>
                  <a:cxn ang="0">
                    <a:pos x="0" y="133"/>
                  </a:cxn>
                </a:cxnLst>
                <a:rect l="txL" t="txT" r="txR" b="txB"/>
                <a:pathLst>
                  <a:path w="44" h="133">
                    <a:moveTo>
                      <a:pt x="0" y="133"/>
                    </a:moveTo>
                    <a:lnTo>
                      <a:pt x="44" y="133"/>
                    </a:lnTo>
                    <a:lnTo>
                      <a:pt x="38" y="133"/>
                    </a:lnTo>
                    <a:lnTo>
                      <a:pt x="31" y="120"/>
                    </a:lnTo>
                    <a:lnTo>
                      <a:pt x="31" y="0"/>
                    </a:lnTo>
                    <a:lnTo>
                      <a:pt x="19" y="6"/>
                    </a:lnTo>
                    <a:lnTo>
                      <a:pt x="0" y="13"/>
                    </a:lnTo>
                    <a:lnTo>
                      <a:pt x="6" y="13"/>
                    </a:lnTo>
                    <a:lnTo>
                      <a:pt x="12" y="13"/>
                    </a:lnTo>
                    <a:lnTo>
                      <a:pt x="12" y="25"/>
                    </a:lnTo>
                    <a:lnTo>
                      <a:pt x="12" y="120"/>
                    </a:lnTo>
                    <a:lnTo>
                      <a:pt x="12" y="126"/>
                    </a:lnTo>
                    <a:lnTo>
                      <a:pt x="0" y="13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0" name="Freeform 82"/>
              <p:cNvSpPr/>
              <p:nvPr/>
            </p:nvSpPr>
            <p:spPr>
              <a:xfrm>
                <a:off x="2323" y="513"/>
                <a:ext cx="76" cy="95"/>
              </a:xfrm>
              <a:custGeom>
                <a:avLst/>
                <a:gdLst>
                  <a:gd name="txL" fmla="*/ 0 w 76"/>
                  <a:gd name="txT" fmla="*/ 0 h 95"/>
                  <a:gd name="txR" fmla="*/ 76 w 76"/>
                  <a:gd name="txB" fmla="*/ 95 h 95"/>
                </a:gdLst>
                <a:ahLst/>
                <a:cxnLst>
                  <a:cxn ang="0">
                    <a:pos x="70" y="63"/>
                  </a:cxn>
                  <a:cxn ang="0">
                    <a:pos x="57" y="70"/>
                  </a:cxn>
                  <a:cxn ang="0">
                    <a:pos x="44" y="76"/>
                  </a:cxn>
                  <a:cxn ang="0">
                    <a:pos x="19" y="70"/>
                  </a:cxn>
                  <a:cxn ang="0">
                    <a:pos x="13" y="44"/>
                  </a:cxn>
                  <a:cxn ang="0">
                    <a:pos x="19" y="26"/>
                  </a:cxn>
                  <a:cxn ang="0">
                    <a:pos x="25" y="13"/>
                  </a:cxn>
                  <a:cxn ang="0">
                    <a:pos x="38" y="7"/>
                  </a:cxn>
                  <a:cxn ang="0">
                    <a:pos x="51" y="13"/>
                  </a:cxn>
                  <a:cxn ang="0">
                    <a:pos x="51" y="13"/>
                  </a:cxn>
                  <a:cxn ang="0">
                    <a:pos x="51" y="19"/>
                  </a:cxn>
                  <a:cxn ang="0">
                    <a:pos x="57" y="26"/>
                  </a:cxn>
                  <a:cxn ang="0">
                    <a:pos x="63" y="32"/>
                  </a:cxn>
                  <a:cxn ang="0">
                    <a:pos x="70" y="26"/>
                  </a:cxn>
                  <a:cxn ang="0">
                    <a:pos x="70" y="19"/>
                  </a:cxn>
                  <a:cxn ang="0">
                    <a:pos x="70" y="13"/>
                  </a:cxn>
                  <a:cxn ang="0">
                    <a:pos x="63" y="7"/>
                  </a:cxn>
                  <a:cxn ang="0">
                    <a:pos x="57" y="7"/>
                  </a:cxn>
                  <a:cxn ang="0">
                    <a:pos x="44" y="0"/>
                  </a:cxn>
                  <a:cxn ang="0">
                    <a:pos x="25" y="7"/>
                  </a:cxn>
                  <a:cxn ang="0">
                    <a:pos x="13" y="13"/>
                  </a:cxn>
                  <a:cxn ang="0">
                    <a:pos x="6" y="32"/>
                  </a:cxn>
                  <a:cxn ang="0">
                    <a:pos x="0" y="51"/>
                  </a:cxn>
                  <a:cxn ang="0">
                    <a:pos x="6" y="70"/>
                  </a:cxn>
                  <a:cxn ang="0">
                    <a:pos x="13" y="82"/>
                  </a:cxn>
                  <a:cxn ang="0">
                    <a:pos x="38" y="95"/>
                  </a:cxn>
                  <a:cxn ang="0">
                    <a:pos x="57" y="89"/>
                  </a:cxn>
                  <a:cxn ang="0">
                    <a:pos x="76" y="63"/>
                  </a:cxn>
                  <a:cxn ang="0">
                    <a:pos x="70" y="63"/>
                  </a:cxn>
                </a:cxnLst>
                <a:rect l="txL" t="txT" r="txR" b="txB"/>
                <a:pathLst>
                  <a:path w="76" h="95">
                    <a:moveTo>
                      <a:pt x="70" y="63"/>
                    </a:moveTo>
                    <a:lnTo>
                      <a:pt x="57" y="70"/>
                    </a:lnTo>
                    <a:lnTo>
                      <a:pt x="44" y="76"/>
                    </a:lnTo>
                    <a:lnTo>
                      <a:pt x="19" y="70"/>
                    </a:lnTo>
                    <a:lnTo>
                      <a:pt x="13" y="44"/>
                    </a:lnTo>
                    <a:lnTo>
                      <a:pt x="19" y="26"/>
                    </a:lnTo>
                    <a:lnTo>
                      <a:pt x="25" y="13"/>
                    </a:lnTo>
                    <a:lnTo>
                      <a:pt x="38" y="7"/>
                    </a:lnTo>
                    <a:lnTo>
                      <a:pt x="51" y="13"/>
                    </a:lnTo>
                    <a:lnTo>
                      <a:pt x="51" y="19"/>
                    </a:lnTo>
                    <a:lnTo>
                      <a:pt x="57" y="26"/>
                    </a:lnTo>
                    <a:lnTo>
                      <a:pt x="63" y="32"/>
                    </a:lnTo>
                    <a:lnTo>
                      <a:pt x="70" y="26"/>
                    </a:lnTo>
                    <a:lnTo>
                      <a:pt x="70" y="19"/>
                    </a:lnTo>
                    <a:lnTo>
                      <a:pt x="70" y="13"/>
                    </a:lnTo>
                    <a:lnTo>
                      <a:pt x="63" y="7"/>
                    </a:lnTo>
                    <a:lnTo>
                      <a:pt x="57" y="7"/>
                    </a:lnTo>
                    <a:lnTo>
                      <a:pt x="44" y="0"/>
                    </a:lnTo>
                    <a:lnTo>
                      <a:pt x="25" y="7"/>
                    </a:lnTo>
                    <a:lnTo>
                      <a:pt x="13" y="13"/>
                    </a:lnTo>
                    <a:lnTo>
                      <a:pt x="6" y="32"/>
                    </a:lnTo>
                    <a:lnTo>
                      <a:pt x="0" y="51"/>
                    </a:lnTo>
                    <a:lnTo>
                      <a:pt x="6" y="70"/>
                    </a:lnTo>
                    <a:lnTo>
                      <a:pt x="13" y="82"/>
                    </a:lnTo>
                    <a:lnTo>
                      <a:pt x="38" y="95"/>
                    </a:lnTo>
                    <a:lnTo>
                      <a:pt x="57" y="89"/>
                    </a:lnTo>
                    <a:lnTo>
                      <a:pt x="76" y="63"/>
                    </a:lnTo>
                    <a:lnTo>
                      <a:pt x="70" y="6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1" name="Freeform 85"/>
              <p:cNvSpPr>
                <a:spLocks noEditPoints="1"/>
              </p:cNvSpPr>
              <p:nvPr/>
            </p:nvSpPr>
            <p:spPr>
              <a:xfrm>
                <a:off x="2525" y="469"/>
                <a:ext cx="51" cy="133"/>
              </a:xfrm>
              <a:custGeom>
                <a:avLst/>
                <a:gdLst>
                  <a:gd name="txL" fmla="*/ 0 w 51"/>
                  <a:gd name="txT" fmla="*/ 0 h 133"/>
                  <a:gd name="txR" fmla="*/ 51 w 51"/>
                  <a:gd name="txB" fmla="*/ 133 h 133"/>
                </a:gdLst>
                <a:ahLst/>
                <a:cxnLst>
                  <a:cxn ang="0">
                    <a:pos x="0" y="133"/>
                  </a:cxn>
                  <a:cxn ang="0">
                    <a:pos x="51" y="133"/>
                  </a:cxn>
                  <a:cxn ang="0">
                    <a:pos x="51" y="133"/>
                  </a:cxn>
                  <a:cxn ang="0">
                    <a:pos x="38" y="126"/>
                  </a:cxn>
                  <a:cxn ang="0">
                    <a:pos x="38" y="114"/>
                  </a:cxn>
                  <a:cxn ang="0">
                    <a:pos x="38" y="44"/>
                  </a:cxn>
                  <a:cxn ang="0">
                    <a:pos x="32" y="44"/>
                  </a:cxn>
                  <a:cxn ang="0">
                    <a:pos x="19" y="51"/>
                  </a:cxn>
                  <a:cxn ang="0">
                    <a:pos x="7" y="57"/>
                  </a:cxn>
                  <a:cxn ang="0">
                    <a:pos x="7" y="57"/>
                  </a:cxn>
                  <a:cxn ang="0">
                    <a:pos x="7" y="57"/>
                  </a:cxn>
                  <a:cxn ang="0">
                    <a:pos x="13" y="57"/>
                  </a:cxn>
                  <a:cxn ang="0">
                    <a:pos x="19" y="57"/>
                  </a:cxn>
                  <a:cxn ang="0">
                    <a:pos x="19" y="70"/>
                  </a:cxn>
                  <a:cxn ang="0">
                    <a:pos x="19" y="114"/>
                  </a:cxn>
                  <a:cxn ang="0">
                    <a:pos x="19" y="126"/>
                  </a:cxn>
                  <a:cxn ang="0">
                    <a:pos x="13" y="133"/>
                  </a:cxn>
                  <a:cxn ang="0">
                    <a:pos x="0" y="133"/>
                  </a:cxn>
                  <a:cxn ang="0">
                    <a:pos x="0" y="133"/>
                  </a:cxn>
                  <a:cxn ang="0">
                    <a:pos x="13" y="13"/>
                  </a:cxn>
                  <a:cxn ang="0">
                    <a:pos x="19" y="19"/>
                  </a:cxn>
                  <a:cxn ang="0">
                    <a:pos x="26" y="19"/>
                  </a:cxn>
                  <a:cxn ang="0">
                    <a:pos x="32" y="19"/>
                  </a:cxn>
                  <a:cxn ang="0">
                    <a:pos x="38" y="13"/>
                  </a:cxn>
                  <a:cxn ang="0">
                    <a:pos x="32" y="6"/>
                  </a:cxn>
                  <a:cxn ang="0">
                    <a:pos x="26" y="0"/>
                  </a:cxn>
                  <a:cxn ang="0">
                    <a:pos x="19" y="6"/>
                  </a:cxn>
                  <a:cxn ang="0">
                    <a:pos x="13" y="13"/>
                  </a:cxn>
                  <a:cxn ang="0">
                    <a:pos x="13" y="13"/>
                  </a:cxn>
                </a:cxnLst>
                <a:rect l="txL" t="txT" r="txR" b="txB"/>
                <a:pathLst>
                  <a:path w="51" h="133">
                    <a:moveTo>
                      <a:pt x="0" y="133"/>
                    </a:moveTo>
                    <a:lnTo>
                      <a:pt x="51" y="133"/>
                    </a:lnTo>
                    <a:lnTo>
                      <a:pt x="38" y="126"/>
                    </a:lnTo>
                    <a:lnTo>
                      <a:pt x="38" y="114"/>
                    </a:lnTo>
                    <a:lnTo>
                      <a:pt x="38" y="44"/>
                    </a:lnTo>
                    <a:lnTo>
                      <a:pt x="32" y="44"/>
                    </a:lnTo>
                    <a:lnTo>
                      <a:pt x="19" y="51"/>
                    </a:lnTo>
                    <a:lnTo>
                      <a:pt x="7" y="57"/>
                    </a:lnTo>
                    <a:lnTo>
                      <a:pt x="13" y="57"/>
                    </a:lnTo>
                    <a:lnTo>
                      <a:pt x="19" y="57"/>
                    </a:lnTo>
                    <a:lnTo>
                      <a:pt x="19" y="70"/>
                    </a:lnTo>
                    <a:lnTo>
                      <a:pt x="19" y="114"/>
                    </a:lnTo>
                    <a:lnTo>
                      <a:pt x="19" y="126"/>
                    </a:lnTo>
                    <a:lnTo>
                      <a:pt x="13" y="133"/>
                    </a:lnTo>
                    <a:lnTo>
                      <a:pt x="0" y="133"/>
                    </a:lnTo>
                    <a:close/>
                    <a:moveTo>
                      <a:pt x="13" y="13"/>
                    </a:moveTo>
                    <a:lnTo>
                      <a:pt x="19" y="19"/>
                    </a:lnTo>
                    <a:lnTo>
                      <a:pt x="26" y="19"/>
                    </a:lnTo>
                    <a:lnTo>
                      <a:pt x="32" y="19"/>
                    </a:lnTo>
                    <a:lnTo>
                      <a:pt x="38" y="13"/>
                    </a:lnTo>
                    <a:lnTo>
                      <a:pt x="32" y="6"/>
                    </a:lnTo>
                    <a:lnTo>
                      <a:pt x="26" y="0"/>
                    </a:lnTo>
                    <a:lnTo>
                      <a:pt x="19" y="6"/>
                    </a:lnTo>
                    <a:lnTo>
                      <a:pt x="13" y="1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2" name="Freeform 87"/>
              <p:cNvSpPr/>
              <p:nvPr/>
            </p:nvSpPr>
            <p:spPr>
              <a:xfrm>
                <a:off x="2721" y="513"/>
                <a:ext cx="133" cy="95"/>
              </a:xfrm>
              <a:custGeom>
                <a:avLst/>
                <a:gdLst>
                  <a:gd name="txL" fmla="*/ 0 w 133"/>
                  <a:gd name="txT" fmla="*/ 0 h 95"/>
                  <a:gd name="txR" fmla="*/ 133 w 133"/>
                  <a:gd name="txB" fmla="*/ 95 h 95"/>
                </a:gdLst>
                <a:ahLst/>
                <a:cxnLst>
                  <a:cxn ang="0">
                    <a:pos x="107" y="0"/>
                  </a:cxn>
                  <a:cxn ang="0">
                    <a:pos x="107" y="7"/>
                  </a:cxn>
                  <a:cxn ang="0">
                    <a:pos x="114" y="7"/>
                  </a:cxn>
                  <a:cxn ang="0">
                    <a:pos x="120" y="13"/>
                  </a:cxn>
                  <a:cxn ang="0">
                    <a:pos x="120" y="19"/>
                  </a:cxn>
                  <a:cxn ang="0">
                    <a:pos x="114" y="26"/>
                  </a:cxn>
                  <a:cxn ang="0">
                    <a:pos x="95" y="70"/>
                  </a:cxn>
                  <a:cxn ang="0">
                    <a:pos x="82" y="26"/>
                  </a:cxn>
                  <a:cxn ang="0">
                    <a:pos x="76" y="19"/>
                  </a:cxn>
                  <a:cxn ang="0">
                    <a:pos x="76" y="13"/>
                  </a:cxn>
                  <a:cxn ang="0">
                    <a:pos x="82" y="7"/>
                  </a:cxn>
                  <a:cxn ang="0">
                    <a:pos x="89" y="7"/>
                  </a:cxn>
                  <a:cxn ang="0">
                    <a:pos x="89" y="0"/>
                  </a:cxn>
                  <a:cxn ang="0">
                    <a:pos x="51" y="0"/>
                  </a:cxn>
                  <a:cxn ang="0">
                    <a:pos x="51" y="7"/>
                  </a:cxn>
                  <a:cxn ang="0">
                    <a:pos x="57" y="13"/>
                  </a:cxn>
                  <a:cxn ang="0">
                    <a:pos x="57" y="19"/>
                  </a:cxn>
                  <a:cxn ang="0">
                    <a:pos x="63" y="32"/>
                  </a:cxn>
                  <a:cxn ang="0">
                    <a:pos x="51" y="70"/>
                  </a:cxn>
                  <a:cxn ang="0">
                    <a:pos x="32" y="32"/>
                  </a:cxn>
                  <a:cxn ang="0">
                    <a:pos x="25" y="19"/>
                  </a:cxn>
                  <a:cxn ang="0">
                    <a:pos x="25" y="13"/>
                  </a:cxn>
                  <a:cxn ang="0">
                    <a:pos x="32" y="7"/>
                  </a:cxn>
                  <a:cxn ang="0">
                    <a:pos x="38" y="7"/>
                  </a:cxn>
                  <a:cxn ang="0">
                    <a:pos x="38" y="0"/>
                  </a:cxn>
                  <a:cxn ang="0">
                    <a:pos x="0" y="0"/>
                  </a:cxn>
                  <a:cxn ang="0">
                    <a:pos x="0" y="7"/>
                  </a:cxn>
                  <a:cxn ang="0">
                    <a:pos x="6" y="7"/>
                  </a:cxn>
                  <a:cxn ang="0">
                    <a:pos x="13" y="19"/>
                  </a:cxn>
                  <a:cxn ang="0">
                    <a:pos x="38" y="82"/>
                  </a:cxn>
                  <a:cxn ang="0">
                    <a:pos x="44" y="89"/>
                  </a:cxn>
                  <a:cxn ang="0">
                    <a:pos x="44" y="95"/>
                  </a:cxn>
                  <a:cxn ang="0">
                    <a:pos x="44" y="95"/>
                  </a:cxn>
                  <a:cxn ang="0">
                    <a:pos x="51" y="89"/>
                  </a:cxn>
                  <a:cxn ang="0">
                    <a:pos x="70" y="38"/>
                  </a:cxn>
                  <a:cxn ang="0">
                    <a:pos x="89" y="82"/>
                  </a:cxn>
                  <a:cxn ang="0">
                    <a:pos x="89" y="95"/>
                  </a:cxn>
                  <a:cxn ang="0">
                    <a:pos x="95" y="95"/>
                  </a:cxn>
                  <a:cxn ang="0">
                    <a:pos x="95" y="89"/>
                  </a:cxn>
                  <a:cxn ang="0">
                    <a:pos x="101" y="82"/>
                  </a:cxn>
                  <a:cxn ang="0">
                    <a:pos x="126" y="19"/>
                  </a:cxn>
                  <a:cxn ang="0">
                    <a:pos x="126" y="7"/>
                  </a:cxn>
                  <a:cxn ang="0">
                    <a:pos x="133" y="7"/>
                  </a:cxn>
                  <a:cxn ang="0">
                    <a:pos x="133" y="0"/>
                  </a:cxn>
                  <a:cxn ang="0">
                    <a:pos x="107" y="0"/>
                  </a:cxn>
                </a:cxnLst>
                <a:rect l="txL" t="txT" r="txR" b="txB"/>
                <a:pathLst>
                  <a:path w="133" h="95">
                    <a:moveTo>
                      <a:pt x="107" y="0"/>
                    </a:moveTo>
                    <a:lnTo>
                      <a:pt x="107" y="7"/>
                    </a:lnTo>
                    <a:lnTo>
                      <a:pt x="114" y="7"/>
                    </a:lnTo>
                    <a:lnTo>
                      <a:pt x="120" y="13"/>
                    </a:lnTo>
                    <a:lnTo>
                      <a:pt x="120" y="19"/>
                    </a:lnTo>
                    <a:lnTo>
                      <a:pt x="114" y="26"/>
                    </a:lnTo>
                    <a:lnTo>
                      <a:pt x="95" y="70"/>
                    </a:lnTo>
                    <a:lnTo>
                      <a:pt x="82" y="26"/>
                    </a:lnTo>
                    <a:lnTo>
                      <a:pt x="76" y="19"/>
                    </a:lnTo>
                    <a:lnTo>
                      <a:pt x="76" y="13"/>
                    </a:lnTo>
                    <a:lnTo>
                      <a:pt x="82" y="7"/>
                    </a:lnTo>
                    <a:lnTo>
                      <a:pt x="89" y="7"/>
                    </a:lnTo>
                    <a:lnTo>
                      <a:pt x="89" y="0"/>
                    </a:lnTo>
                    <a:lnTo>
                      <a:pt x="51" y="0"/>
                    </a:lnTo>
                    <a:lnTo>
                      <a:pt x="51" y="7"/>
                    </a:lnTo>
                    <a:lnTo>
                      <a:pt x="57" y="13"/>
                    </a:lnTo>
                    <a:lnTo>
                      <a:pt x="57" y="19"/>
                    </a:lnTo>
                    <a:lnTo>
                      <a:pt x="63" y="32"/>
                    </a:lnTo>
                    <a:lnTo>
                      <a:pt x="51" y="70"/>
                    </a:lnTo>
                    <a:lnTo>
                      <a:pt x="32" y="32"/>
                    </a:lnTo>
                    <a:lnTo>
                      <a:pt x="25" y="19"/>
                    </a:lnTo>
                    <a:lnTo>
                      <a:pt x="25" y="13"/>
                    </a:lnTo>
                    <a:lnTo>
                      <a:pt x="32" y="7"/>
                    </a:lnTo>
                    <a:lnTo>
                      <a:pt x="38" y="7"/>
                    </a:lnTo>
                    <a:lnTo>
                      <a:pt x="38" y="0"/>
                    </a:lnTo>
                    <a:lnTo>
                      <a:pt x="0" y="0"/>
                    </a:lnTo>
                    <a:lnTo>
                      <a:pt x="0" y="7"/>
                    </a:lnTo>
                    <a:lnTo>
                      <a:pt x="6" y="7"/>
                    </a:lnTo>
                    <a:lnTo>
                      <a:pt x="13" y="19"/>
                    </a:lnTo>
                    <a:lnTo>
                      <a:pt x="38" y="82"/>
                    </a:lnTo>
                    <a:lnTo>
                      <a:pt x="44" y="89"/>
                    </a:lnTo>
                    <a:lnTo>
                      <a:pt x="44" y="95"/>
                    </a:lnTo>
                    <a:lnTo>
                      <a:pt x="51" y="89"/>
                    </a:lnTo>
                    <a:lnTo>
                      <a:pt x="70" y="38"/>
                    </a:lnTo>
                    <a:lnTo>
                      <a:pt x="89" y="82"/>
                    </a:lnTo>
                    <a:lnTo>
                      <a:pt x="89" y="95"/>
                    </a:lnTo>
                    <a:lnTo>
                      <a:pt x="95" y="95"/>
                    </a:lnTo>
                    <a:lnTo>
                      <a:pt x="95" y="89"/>
                    </a:lnTo>
                    <a:lnTo>
                      <a:pt x="101" y="82"/>
                    </a:lnTo>
                    <a:lnTo>
                      <a:pt x="126" y="19"/>
                    </a:lnTo>
                    <a:lnTo>
                      <a:pt x="126" y="7"/>
                    </a:lnTo>
                    <a:lnTo>
                      <a:pt x="133" y="7"/>
                    </a:lnTo>
                    <a:lnTo>
                      <a:pt x="133" y="0"/>
                    </a:lnTo>
                    <a:lnTo>
                      <a:pt x="107"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3" name="Freeform 88"/>
              <p:cNvSpPr>
                <a:spLocks noEditPoints="1"/>
              </p:cNvSpPr>
              <p:nvPr/>
            </p:nvSpPr>
            <p:spPr>
              <a:xfrm>
                <a:off x="2860" y="469"/>
                <a:ext cx="51" cy="133"/>
              </a:xfrm>
              <a:custGeom>
                <a:avLst/>
                <a:gdLst>
                  <a:gd name="txL" fmla="*/ 0 w 51"/>
                  <a:gd name="txT" fmla="*/ 0 h 133"/>
                  <a:gd name="txR" fmla="*/ 51 w 51"/>
                  <a:gd name="txB" fmla="*/ 133 h 133"/>
                </a:gdLst>
                <a:ahLst/>
                <a:cxnLst>
                  <a:cxn ang="0">
                    <a:pos x="0" y="133"/>
                  </a:cxn>
                  <a:cxn ang="0">
                    <a:pos x="51" y="133"/>
                  </a:cxn>
                  <a:cxn ang="0">
                    <a:pos x="51" y="133"/>
                  </a:cxn>
                  <a:cxn ang="0">
                    <a:pos x="38" y="126"/>
                  </a:cxn>
                  <a:cxn ang="0">
                    <a:pos x="38" y="114"/>
                  </a:cxn>
                  <a:cxn ang="0">
                    <a:pos x="38" y="44"/>
                  </a:cxn>
                  <a:cxn ang="0">
                    <a:pos x="32" y="44"/>
                  </a:cxn>
                  <a:cxn ang="0">
                    <a:pos x="19" y="51"/>
                  </a:cxn>
                  <a:cxn ang="0">
                    <a:pos x="6" y="57"/>
                  </a:cxn>
                  <a:cxn ang="0">
                    <a:pos x="6" y="57"/>
                  </a:cxn>
                  <a:cxn ang="0">
                    <a:pos x="6" y="57"/>
                  </a:cxn>
                  <a:cxn ang="0">
                    <a:pos x="13" y="57"/>
                  </a:cxn>
                  <a:cxn ang="0">
                    <a:pos x="19" y="57"/>
                  </a:cxn>
                  <a:cxn ang="0">
                    <a:pos x="19" y="70"/>
                  </a:cxn>
                  <a:cxn ang="0">
                    <a:pos x="19" y="114"/>
                  </a:cxn>
                  <a:cxn ang="0">
                    <a:pos x="19" y="126"/>
                  </a:cxn>
                  <a:cxn ang="0">
                    <a:pos x="13" y="133"/>
                  </a:cxn>
                  <a:cxn ang="0">
                    <a:pos x="0" y="133"/>
                  </a:cxn>
                  <a:cxn ang="0">
                    <a:pos x="0" y="133"/>
                  </a:cxn>
                  <a:cxn ang="0">
                    <a:pos x="13" y="13"/>
                  </a:cxn>
                  <a:cxn ang="0">
                    <a:pos x="19" y="19"/>
                  </a:cxn>
                  <a:cxn ang="0">
                    <a:pos x="25" y="19"/>
                  </a:cxn>
                  <a:cxn ang="0">
                    <a:pos x="32" y="19"/>
                  </a:cxn>
                  <a:cxn ang="0">
                    <a:pos x="38" y="13"/>
                  </a:cxn>
                  <a:cxn ang="0">
                    <a:pos x="32" y="6"/>
                  </a:cxn>
                  <a:cxn ang="0">
                    <a:pos x="25" y="0"/>
                  </a:cxn>
                  <a:cxn ang="0">
                    <a:pos x="19" y="6"/>
                  </a:cxn>
                  <a:cxn ang="0">
                    <a:pos x="13" y="13"/>
                  </a:cxn>
                  <a:cxn ang="0">
                    <a:pos x="13" y="13"/>
                  </a:cxn>
                </a:cxnLst>
                <a:rect l="txL" t="txT" r="txR" b="txB"/>
                <a:pathLst>
                  <a:path w="51" h="133">
                    <a:moveTo>
                      <a:pt x="0" y="133"/>
                    </a:moveTo>
                    <a:lnTo>
                      <a:pt x="51" y="133"/>
                    </a:lnTo>
                    <a:lnTo>
                      <a:pt x="38" y="126"/>
                    </a:lnTo>
                    <a:lnTo>
                      <a:pt x="38" y="114"/>
                    </a:lnTo>
                    <a:lnTo>
                      <a:pt x="38" y="44"/>
                    </a:lnTo>
                    <a:lnTo>
                      <a:pt x="32" y="44"/>
                    </a:lnTo>
                    <a:lnTo>
                      <a:pt x="19" y="51"/>
                    </a:lnTo>
                    <a:lnTo>
                      <a:pt x="6" y="57"/>
                    </a:lnTo>
                    <a:lnTo>
                      <a:pt x="13" y="57"/>
                    </a:lnTo>
                    <a:lnTo>
                      <a:pt x="19" y="57"/>
                    </a:lnTo>
                    <a:lnTo>
                      <a:pt x="19" y="70"/>
                    </a:lnTo>
                    <a:lnTo>
                      <a:pt x="19" y="114"/>
                    </a:lnTo>
                    <a:lnTo>
                      <a:pt x="19" y="126"/>
                    </a:lnTo>
                    <a:lnTo>
                      <a:pt x="13" y="133"/>
                    </a:lnTo>
                    <a:lnTo>
                      <a:pt x="0" y="133"/>
                    </a:lnTo>
                    <a:close/>
                    <a:moveTo>
                      <a:pt x="13" y="13"/>
                    </a:moveTo>
                    <a:lnTo>
                      <a:pt x="19" y="19"/>
                    </a:lnTo>
                    <a:lnTo>
                      <a:pt x="25" y="19"/>
                    </a:lnTo>
                    <a:lnTo>
                      <a:pt x="32" y="19"/>
                    </a:lnTo>
                    <a:lnTo>
                      <a:pt x="38" y="13"/>
                    </a:lnTo>
                    <a:lnTo>
                      <a:pt x="32" y="6"/>
                    </a:lnTo>
                    <a:lnTo>
                      <a:pt x="25" y="0"/>
                    </a:lnTo>
                    <a:lnTo>
                      <a:pt x="19" y="6"/>
                    </a:lnTo>
                    <a:lnTo>
                      <a:pt x="13" y="1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4" name="Freeform 89"/>
              <p:cNvSpPr/>
              <p:nvPr/>
            </p:nvSpPr>
            <p:spPr>
              <a:xfrm>
                <a:off x="2917" y="488"/>
                <a:ext cx="50" cy="120"/>
              </a:xfrm>
              <a:custGeom>
                <a:avLst/>
                <a:gdLst>
                  <a:gd name="txL" fmla="*/ 0 w 50"/>
                  <a:gd name="txT" fmla="*/ 0 h 120"/>
                  <a:gd name="txR" fmla="*/ 50 w 50"/>
                  <a:gd name="txB" fmla="*/ 120 h 120"/>
                </a:gdLst>
                <a:ahLst/>
                <a:cxnLst>
                  <a:cxn ang="0">
                    <a:pos x="50" y="25"/>
                  </a:cxn>
                  <a:cxn ang="0">
                    <a:pos x="31" y="25"/>
                  </a:cxn>
                  <a:cxn ang="0">
                    <a:pos x="31" y="6"/>
                  </a:cxn>
                  <a:cxn ang="0">
                    <a:pos x="31" y="6"/>
                  </a:cxn>
                  <a:cxn ang="0">
                    <a:pos x="25" y="0"/>
                  </a:cxn>
                  <a:cxn ang="0">
                    <a:pos x="19" y="13"/>
                  </a:cxn>
                  <a:cxn ang="0">
                    <a:pos x="6" y="25"/>
                  </a:cxn>
                  <a:cxn ang="0">
                    <a:pos x="6" y="32"/>
                  </a:cxn>
                  <a:cxn ang="0">
                    <a:pos x="0" y="32"/>
                  </a:cxn>
                  <a:cxn ang="0">
                    <a:pos x="0" y="32"/>
                  </a:cxn>
                  <a:cxn ang="0">
                    <a:pos x="13" y="32"/>
                  </a:cxn>
                  <a:cxn ang="0">
                    <a:pos x="13" y="95"/>
                  </a:cxn>
                  <a:cxn ang="0">
                    <a:pos x="19" y="114"/>
                  </a:cxn>
                  <a:cxn ang="0">
                    <a:pos x="31" y="120"/>
                  </a:cxn>
                  <a:cxn ang="0">
                    <a:pos x="44" y="114"/>
                  </a:cxn>
                  <a:cxn ang="0">
                    <a:pos x="50" y="101"/>
                  </a:cxn>
                  <a:cxn ang="0">
                    <a:pos x="50" y="101"/>
                  </a:cxn>
                  <a:cxn ang="0">
                    <a:pos x="44" y="107"/>
                  </a:cxn>
                  <a:cxn ang="0">
                    <a:pos x="38" y="107"/>
                  </a:cxn>
                  <a:cxn ang="0">
                    <a:pos x="31" y="101"/>
                  </a:cxn>
                  <a:cxn ang="0">
                    <a:pos x="31" y="88"/>
                  </a:cxn>
                  <a:cxn ang="0">
                    <a:pos x="31" y="32"/>
                  </a:cxn>
                  <a:cxn ang="0">
                    <a:pos x="50" y="32"/>
                  </a:cxn>
                  <a:cxn ang="0">
                    <a:pos x="50" y="25"/>
                  </a:cxn>
                </a:cxnLst>
                <a:rect l="txL" t="txT" r="txR" b="txB"/>
                <a:pathLst>
                  <a:path w="50" h="120">
                    <a:moveTo>
                      <a:pt x="50" y="25"/>
                    </a:moveTo>
                    <a:lnTo>
                      <a:pt x="31" y="25"/>
                    </a:lnTo>
                    <a:lnTo>
                      <a:pt x="31" y="6"/>
                    </a:lnTo>
                    <a:lnTo>
                      <a:pt x="25" y="0"/>
                    </a:lnTo>
                    <a:lnTo>
                      <a:pt x="19" y="13"/>
                    </a:lnTo>
                    <a:lnTo>
                      <a:pt x="6" y="25"/>
                    </a:lnTo>
                    <a:lnTo>
                      <a:pt x="6" y="32"/>
                    </a:lnTo>
                    <a:lnTo>
                      <a:pt x="0" y="32"/>
                    </a:lnTo>
                    <a:lnTo>
                      <a:pt x="13" y="32"/>
                    </a:lnTo>
                    <a:lnTo>
                      <a:pt x="13" y="95"/>
                    </a:lnTo>
                    <a:lnTo>
                      <a:pt x="19" y="114"/>
                    </a:lnTo>
                    <a:lnTo>
                      <a:pt x="31" y="120"/>
                    </a:lnTo>
                    <a:lnTo>
                      <a:pt x="44" y="114"/>
                    </a:lnTo>
                    <a:lnTo>
                      <a:pt x="50" y="101"/>
                    </a:lnTo>
                    <a:lnTo>
                      <a:pt x="44" y="107"/>
                    </a:lnTo>
                    <a:lnTo>
                      <a:pt x="38" y="107"/>
                    </a:lnTo>
                    <a:lnTo>
                      <a:pt x="31" y="101"/>
                    </a:lnTo>
                    <a:lnTo>
                      <a:pt x="31" y="88"/>
                    </a:lnTo>
                    <a:lnTo>
                      <a:pt x="31" y="32"/>
                    </a:lnTo>
                    <a:lnTo>
                      <a:pt x="50" y="32"/>
                    </a:lnTo>
                    <a:lnTo>
                      <a:pt x="50"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5" name="Freeform 90"/>
              <p:cNvSpPr/>
              <p:nvPr/>
            </p:nvSpPr>
            <p:spPr>
              <a:xfrm>
                <a:off x="2974" y="469"/>
                <a:ext cx="95" cy="133"/>
              </a:xfrm>
              <a:custGeom>
                <a:avLst/>
                <a:gdLst>
                  <a:gd name="txL" fmla="*/ 0 w 95"/>
                  <a:gd name="txT" fmla="*/ 0 h 133"/>
                  <a:gd name="txR" fmla="*/ 95 w 95"/>
                  <a:gd name="txB" fmla="*/ 133 h 133"/>
                </a:gdLst>
                <a:ahLst/>
                <a:cxnLst>
                  <a:cxn ang="0">
                    <a:pos x="95" y="133"/>
                  </a:cxn>
                  <a:cxn ang="0">
                    <a:pos x="82" y="126"/>
                  </a:cxn>
                  <a:cxn ang="0">
                    <a:pos x="82" y="114"/>
                  </a:cxn>
                  <a:cxn ang="0">
                    <a:pos x="82" y="76"/>
                  </a:cxn>
                  <a:cxn ang="0">
                    <a:pos x="82" y="70"/>
                  </a:cxn>
                  <a:cxn ang="0">
                    <a:pos x="82" y="57"/>
                  </a:cxn>
                  <a:cxn ang="0">
                    <a:pos x="69" y="51"/>
                  </a:cxn>
                  <a:cxn ang="0">
                    <a:pos x="57" y="44"/>
                  </a:cxn>
                  <a:cxn ang="0">
                    <a:pos x="38" y="51"/>
                  </a:cxn>
                  <a:cxn ang="0">
                    <a:pos x="25" y="63"/>
                  </a:cxn>
                  <a:cxn ang="0">
                    <a:pos x="25" y="63"/>
                  </a:cxn>
                  <a:cxn ang="0">
                    <a:pos x="25" y="0"/>
                  </a:cxn>
                  <a:cxn ang="0">
                    <a:pos x="25" y="0"/>
                  </a:cxn>
                  <a:cxn ang="0">
                    <a:pos x="12" y="6"/>
                  </a:cxn>
                  <a:cxn ang="0">
                    <a:pos x="0" y="13"/>
                  </a:cxn>
                  <a:cxn ang="0">
                    <a:pos x="0" y="13"/>
                  </a:cxn>
                  <a:cxn ang="0">
                    <a:pos x="0" y="13"/>
                  </a:cxn>
                  <a:cxn ang="0">
                    <a:pos x="12" y="19"/>
                  </a:cxn>
                  <a:cxn ang="0">
                    <a:pos x="12" y="25"/>
                  </a:cxn>
                  <a:cxn ang="0">
                    <a:pos x="12" y="114"/>
                  </a:cxn>
                  <a:cxn ang="0">
                    <a:pos x="6" y="126"/>
                  </a:cxn>
                  <a:cxn ang="0">
                    <a:pos x="0" y="133"/>
                  </a:cxn>
                  <a:cxn ang="0">
                    <a:pos x="0" y="133"/>
                  </a:cxn>
                  <a:cxn ang="0">
                    <a:pos x="38" y="133"/>
                  </a:cxn>
                  <a:cxn ang="0">
                    <a:pos x="38" y="133"/>
                  </a:cxn>
                  <a:cxn ang="0">
                    <a:pos x="31" y="133"/>
                  </a:cxn>
                  <a:cxn ang="0">
                    <a:pos x="25" y="126"/>
                  </a:cxn>
                  <a:cxn ang="0">
                    <a:pos x="25" y="114"/>
                  </a:cxn>
                  <a:cxn ang="0">
                    <a:pos x="25" y="70"/>
                  </a:cxn>
                  <a:cxn ang="0">
                    <a:pos x="38" y="57"/>
                  </a:cxn>
                  <a:cxn ang="0">
                    <a:pos x="50" y="57"/>
                  </a:cxn>
                  <a:cxn ang="0">
                    <a:pos x="57" y="63"/>
                  </a:cxn>
                  <a:cxn ang="0">
                    <a:pos x="63" y="76"/>
                  </a:cxn>
                  <a:cxn ang="0">
                    <a:pos x="63" y="114"/>
                  </a:cxn>
                  <a:cxn ang="0">
                    <a:pos x="63" y="126"/>
                  </a:cxn>
                  <a:cxn ang="0">
                    <a:pos x="63" y="133"/>
                  </a:cxn>
                  <a:cxn ang="0">
                    <a:pos x="50" y="133"/>
                  </a:cxn>
                  <a:cxn ang="0">
                    <a:pos x="50" y="133"/>
                  </a:cxn>
                  <a:cxn ang="0">
                    <a:pos x="95" y="133"/>
                  </a:cxn>
                  <a:cxn ang="0">
                    <a:pos x="95" y="133"/>
                  </a:cxn>
                </a:cxnLst>
                <a:rect l="txL" t="txT" r="txR" b="txB"/>
                <a:pathLst>
                  <a:path w="95" h="133">
                    <a:moveTo>
                      <a:pt x="95" y="133"/>
                    </a:moveTo>
                    <a:lnTo>
                      <a:pt x="82" y="126"/>
                    </a:lnTo>
                    <a:lnTo>
                      <a:pt x="82" y="114"/>
                    </a:lnTo>
                    <a:lnTo>
                      <a:pt x="82" y="76"/>
                    </a:lnTo>
                    <a:lnTo>
                      <a:pt x="82" y="70"/>
                    </a:lnTo>
                    <a:lnTo>
                      <a:pt x="82" y="57"/>
                    </a:lnTo>
                    <a:lnTo>
                      <a:pt x="69" y="51"/>
                    </a:lnTo>
                    <a:lnTo>
                      <a:pt x="57" y="44"/>
                    </a:lnTo>
                    <a:lnTo>
                      <a:pt x="38" y="51"/>
                    </a:lnTo>
                    <a:lnTo>
                      <a:pt x="25" y="63"/>
                    </a:lnTo>
                    <a:lnTo>
                      <a:pt x="25" y="0"/>
                    </a:lnTo>
                    <a:lnTo>
                      <a:pt x="12" y="6"/>
                    </a:lnTo>
                    <a:lnTo>
                      <a:pt x="0" y="13"/>
                    </a:lnTo>
                    <a:lnTo>
                      <a:pt x="12" y="19"/>
                    </a:lnTo>
                    <a:lnTo>
                      <a:pt x="12" y="25"/>
                    </a:lnTo>
                    <a:lnTo>
                      <a:pt x="12" y="114"/>
                    </a:lnTo>
                    <a:lnTo>
                      <a:pt x="6" y="126"/>
                    </a:lnTo>
                    <a:lnTo>
                      <a:pt x="0" y="133"/>
                    </a:lnTo>
                    <a:lnTo>
                      <a:pt x="38" y="133"/>
                    </a:lnTo>
                    <a:lnTo>
                      <a:pt x="31" y="133"/>
                    </a:lnTo>
                    <a:lnTo>
                      <a:pt x="25" y="126"/>
                    </a:lnTo>
                    <a:lnTo>
                      <a:pt x="25" y="114"/>
                    </a:lnTo>
                    <a:lnTo>
                      <a:pt x="25" y="70"/>
                    </a:lnTo>
                    <a:lnTo>
                      <a:pt x="38" y="57"/>
                    </a:lnTo>
                    <a:lnTo>
                      <a:pt x="50" y="57"/>
                    </a:lnTo>
                    <a:lnTo>
                      <a:pt x="57" y="63"/>
                    </a:lnTo>
                    <a:lnTo>
                      <a:pt x="63" y="76"/>
                    </a:lnTo>
                    <a:lnTo>
                      <a:pt x="63" y="114"/>
                    </a:lnTo>
                    <a:lnTo>
                      <a:pt x="63" y="126"/>
                    </a:lnTo>
                    <a:lnTo>
                      <a:pt x="63" y="133"/>
                    </a:lnTo>
                    <a:lnTo>
                      <a:pt x="50" y="133"/>
                    </a:lnTo>
                    <a:lnTo>
                      <a:pt x="95" y="13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6" name="Freeform 91"/>
              <p:cNvSpPr>
                <a:spLocks noEditPoints="1"/>
              </p:cNvSpPr>
              <p:nvPr/>
            </p:nvSpPr>
            <p:spPr>
              <a:xfrm>
                <a:off x="3119" y="513"/>
                <a:ext cx="95" cy="133"/>
              </a:xfrm>
              <a:custGeom>
                <a:avLst/>
                <a:gdLst>
                  <a:gd name="txL" fmla="*/ 0 w 95"/>
                  <a:gd name="txT" fmla="*/ 0 h 133"/>
                  <a:gd name="txR" fmla="*/ 95 w 95"/>
                  <a:gd name="txB" fmla="*/ 133 h 133"/>
                </a:gdLst>
                <a:ahLst/>
                <a:cxnLst>
                  <a:cxn ang="0">
                    <a:pos x="13" y="114"/>
                  </a:cxn>
                  <a:cxn ang="0">
                    <a:pos x="13" y="126"/>
                  </a:cxn>
                  <a:cxn ang="0">
                    <a:pos x="0" y="133"/>
                  </a:cxn>
                  <a:cxn ang="0">
                    <a:pos x="0" y="133"/>
                  </a:cxn>
                  <a:cxn ang="0">
                    <a:pos x="51" y="133"/>
                  </a:cxn>
                  <a:cxn ang="0">
                    <a:pos x="51" y="133"/>
                  </a:cxn>
                  <a:cxn ang="0">
                    <a:pos x="38" y="133"/>
                  </a:cxn>
                  <a:cxn ang="0">
                    <a:pos x="32" y="126"/>
                  </a:cxn>
                  <a:cxn ang="0">
                    <a:pos x="32" y="114"/>
                  </a:cxn>
                  <a:cxn ang="0">
                    <a:pos x="32" y="82"/>
                  </a:cxn>
                  <a:cxn ang="0">
                    <a:pos x="44" y="89"/>
                  </a:cxn>
                  <a:cxn ang="0">
                    <a:pos x="51" y="95"/>
                  </a:cxn>
                  <a:cxn ang="0">
                    <a:pos x="70" y="89"/>
                  </a:cxn>
                  <a:cxn ang="0">
                    <a:pos x="82" y="76"/>
                  </a:cxn>
                  <a:cxn ang="0">
                    <a:pos x="95" y="63"/>
                  </a:cxn>
                  <a:cxn ang="0">
                    <a:pos x="95" y="44"/>
                  </a:cxn>
                  <a:cxn ang="0">
                    <a:pos x="95" y="26"/>
                  </a:cxn>
                  <a:cxn ang="0">
                    <a:pos x="82" y="13"/>
                  </a:cxn>
                  <a:cxn ang="0">
                    <a:pos x="70" y="7"/>
                  </a:cxn>
                  <a:cxn ang="0">
                    <a:pos x="57" y="0"/>
                  </a:cxn>
                  <a:cxn ang="0">
                    <a:pos x="44" y="7"/>
                  </a:cxn>
                  <a:cxn ang="0">
                    <a:pos x="32" y="13"/>
                  </a:cxn>
                  <a:cxn ang="0">
                    <a:pos x="32" y="13"/>
                  </a:cxn>
                  <a:cxn ang="0">
                    <a:pos x="32" y="0"/>
                  </a:cxn>
                  <a:cxn ang="0">
                    <a:pos x="32" y="0"/>
                  </a:cxn>
                  <a:cxn ang="0">
                    <a:pos x="19" y="7"/>
                  </a:cxn>
                  <a:cxn ang="0">
                    <a:pos x="0" y="13"/>
                  </a:cxn>
                  <a:cxn ang="0">
                    <a:pos x="0" y="13"/>
                  </a:cxn>
                  <a:cxn ang="0">
                    <a:pos x="6" y="13"/>
                  </a:cxn>
                  <a:cxn ang="0">
                    <a:pos x="6" y="13"/>
                  </a:cxn>
                  <a:cxn ang="0">
                    <a:pos x="13" y="19"/>
                  </a:cxn>
                  <a:cxn ang="0">
                    <a:pos x="13" y="26"/>
                  </a:cxn>
                  <a:cxn ang="0">
                    <a:pos x="13" y="114"/>
                  </a:cxn>
                  <a:cxn ang="0">
                    <a:pos x="32" y="26"/>
                  </a:cxn>
                  <a:cxn ang="0">
                    <a:pos x="38" y="19"/>
                  </a:cxn>
                  <a:cxn ang="0">
                    <a:pos x="51" y="13"/>
                  </a:cxn>
                  <a:cxn ang="0">
                    <a:pos x="63" y="19"/>
                  </a:cxn>
                  <a:cxn ang="0">
                    <a:pos x="76" y="32"/>
                  </a:cxn>
                  <a:cxn ang="0">
                    <a:pos x="76" y="44"/>
                  </a:cxn>
                  <a:cxn ang="0">
                    <a:pos x="76" y="51"/>
                  </a:cxn>
                  <a:cxn ang="0">
                    <a:pos x="76" y="70"/>
                  </a:cxn>
                  <a:cxn ang="0">
                    <a:pos x="63" y="82"/>
                  </a:cxn>
                  <a:cxn ang="0">
                    <a:pos x="51" y="89"/>
                  </a:cxn>
                  <a:cxn ang="0">
                    <a:pos x="38" y="82"/>
                  </a:cxn>
                  <a:cxn ang="0">
                    <a:pos x="32" y="76"/>
                  </a:cxn>
                  <a:cxn ang="0">
                    <a:pos x="32" y="26"/>
                  </a:cxn>
                </a:cxnLst>
                <a:rect l="txL" t="txT" r="txR" b="txB"/>
                <a:pathLst>
                  <a:path w="95" h="133">
                    <a:moveTo>
                      <a:pt x="13" y="114"/>
                    </a:moveTo>
                    <a:lnTo>
                      <a:pt x="13" y="126"/>
                    </a:lnTo>
                    <a:lnTo>
                      <a:pt x="0" y="133"/>
                    </a:lnTo>
                    <a:lnTo>
                      <a:pt x="51" y="133"/>
                    </a:lnTo>
                    <a:lnTo>
                      <a:pt x="38" y="133"/>
                    </a:lnTo>
                    <a:lnTo>
                      <a:pt x="32" y="126"/>
                    </a:lnTo>
                    <a:lnTo>
                      <a:pt x="32" y="114"/>
                    </a:lnTo>
                    <a:lnTo>
                      <a:pt x="32" y="82"/>
                    </a:lnTo>
                    <a:lnTo>
                      <a:pt x="44" y="89"/>
                    </a:lnTo>
                    <a:lnTo>
                      <a:pt x="51" y="95"/>
                    </a:lnTo>
                    <a:lnTo>
                      <a:pt x="70" y="89"/>
                    </a:lnTo>
                    <a:lnTo>
                      <a:pt x="82" y="76"/>
                    </a:lnTo>
                    <a:lnTo>
                      <a:pt x="95" y="63"/>
                    </a:lnTo>
                    <a:lnTo>
                      <a:pt x="95" y="44"/>
                    </a:lnTo>
                    <a:lnTo>
                      <a:pt x="95" y="26"/>
                    </a:lnTo>
                    <a:lnTo>
                      <a:pt x="82" y="13"/>
                    </a:lnTo>
                    <a:lnTo>
                      <a:pt x="70" y="7"/>
                    </a:lnTo>
                    <a:lnTo>
                      <a:pt x="57" y="0"/>
                    </a:lnTo>
                    <a:lnTo>
                      <a:pt x="44" y="7"/>
                    </a:lnTo>
                    <a:lnTo>
                      <a:pt x="32" y="13"/>
                    </a:lnTo>
                    <a:lnTo>
                      <a:pt x="32" y="0"/>
                    </a:lnTo>
                    <a:lnTo>
                      <a:pt x="19" y="7"/>
                    </a:lnTo>
                    <a:lnTo>
                      <a:pt x="0" y="13"/>
                    </a:lnTo>
                    <a:lnTo>
                      <a:pt x="6" y="13"/>
                    </a:lnTo>
                    <a:lnTo>
                      <a:pt x="13" y="19"/>
                    </a:lnTo>
                    <a:lnTo>
                      <a:pt x="13" y="26"/>
                    </a:lnTo>
                    <a:lnTo>
                      <a:pt x="13" y="114"/>
                    </a:lnTo>
                    <a:close/>
                    <a:moveTo>
                      <a:pt x="32" y="26"/>
                    </a:moveTo>
                    <a:lnTo>
                      <a:pt x="38" y="19"/>
                    </a:lnTo>
                    <a:lnTo>
                      <a:pt x="51" y="13"/>
                    </a:lnTo>
                    <a:lnTo>
                      <a:pt x="63" y="19"/>
                    </a:lnTo>
                    <a:lnTo>
                      <a:pt x="76" y="32"/>
                    </a:lnTo>
                    <a:lnTo>
                      <a:pt x="76" y="44"/>
                    </a:lnTo>
                    <a:lnTo>
                      <a:pt x="76" y="51"/>
                    </a:lnTo>
                    <a:lnTo>
                      <a:pt x="76" y="70"/>
                    </a:lnTo>
                    <a:lnTo>
                      <a:pt x="63" y="82"/>
                    </a:lnTo>
                    <a:lnTo>
                      <a:pt x="51" y="89"/>
                    </a:lnTo>
                    <a:lnTo>
                      <a:pt x="38" y="82"/>
                    </a:lnTo>
                    <a:lnTo>
                      <a:pt x="32" y="76"/>
                    </a:lnTo>
                    <a:lnTo>
                      <a:pt x="32" y="2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7" name="Freeform 92"/>
              <p:cNvSpPr>
                <a:spLocks noEditPoints="1"/>
              </p:cNvSpPr>
              <p:nvPr/>
            </p:nvSpPr>
            <p:spPr>
              <a:xfrm>
                <a:off x="3220" y="513"/>
                <a:ext cx="82" cy="95"/>
              </a:xfrm>
              <a:custGeom>
                <a:avLst/>
                <a:gdLst>
                  <a:gd name="txL" fmla="*/ 0 w 82"/>
                  <a:gd name="txT" fmla="*/ 0 h 95"/>
                  <a:gd name="txR" fmla="*/ 82 w 82"/>
                  <a:gd name="txB" fmla="*/ 95 h 95"/>
                </a:gdLst>
                <a:ahLst/>
                <a:cxnLst>
                  <a:cxn ang="0">
                    <a:pos x="76" y="57"/>
                  </a:cxn>
                  <a:cxn ang="0">
                    <a:pos x="70" y="70"/>
                  </a:cxn>
                  <a:cxn ang="0">
                    <a:pos x="57" y="82"/>
                  </a:cxn>
                  <a:cxn ang="0">
                    <a:pos x="44" y="82"/>
                  </a:cxn>
                  <a:cxn ang="0">
                    <a:pos x="25" y="70"/>
                  </a:cxn>
                  <a:cxn ang="0">
                    <a:pos x="19" y="57"/>
                  </a:cxn>
                  <a:cxn ang="0">
                    <a:pos x="13" y="38"/>
                  </a:cxn>
                  <a:cxn ang="0">
                    <a:pos x="76" y="38"/>
                  </a:cxn>
                  <a:cxn ang="0">
                    <a:pos x="70" y="13"/>
                  </a:cxn>
                  <a:cxn ang="0">
                    <a:pos x="44" y="0"/>
                  </a:cxn>
                  <a:cxn ang="0">
                    <a:pos x="32" y="0"/>
                  </a:cxn>
                  <a:cxn ang="0">
                    <a:pos x="13" y="13"/>
                  </a:cxn>
                  <a:cxn ang="0">
                    <a:pos x="6" y="26"/>
                  </a:cxn>
                  <a:cxn ang="0">
                    <a:pos x="0" y="51"/>
                  </a:cxn>
                  <a:cxn ang="0">
                    <a:pos x="6" y="70"/>
                  </a:cxn>
                  <a:cxn ang="0">
                    <a:pos x="13" y="82"/>
                  </a:cxn>
                  <a:cxn ang="0">
                    <a:pos x="25" y="95"/>
                  </a:cxn>
                  <a:cxn ang="0">
                    <a:pos x="38" y="95"/>
                  </a:cxn>
                  <a:cxn ang="0">
                    <a:pos x="57" y="89"/>
                  </a:cxn>
                  <a:cxn ang="0">
                    <a:pos x="70" y="76"/>
                  </a:cxn>
                  <a:cxn ang="0">
                    <a:pos x="76" y="63"/>
                  </a:cxn>
                  <a:cxn ang="0">
                    <a:pos x="82" y="57"/>
                  </a:cxn>
                  <a:cxn ang="0">
                    <a:pos x="76" y="57"/>
                  </a:cxn>
                  <a:cxn ang="0">
                    <a:pos x="19" y="32"/>
                  </a:cxn>
                  <a:cxn ang="0">
                    <a:pos x="25" y="13"/>
                  </a:cxn>
                  <a:cxn ang="0">
                    <a:pos x="38" y="7"/>
                  </a:cxn>
                  <a:cxn ang="0">
                    <a:pos x="51" y="13"/>
                  </a:cxn>
                  <a:cxn ang="0">
                    <a:pos x="57" y="32"/>
                  </a:cxn>
                  <a:cxn ang="0">
                    <a:pos x="19" y="32"/>
                  </a:cxn>
                </a:cxnLst>
                <a:rect l="txL" t="txT" r="txR" b="txB"/>
                <a:pathLst>
                  <a:path w="82" h="95">
                    <a:moveTo>
                      <a:pt x="76" y="57"/>
                    </a:moveTo>
                    <a:lnTo>
                      <a:pt x="70" y="70"/>
                    </a:lnTo>
                    <a:lnTo>
                      <a:pt x="57" y="82"/>
                    </a:lnTo>
                    <a:lnTo>
                      <a:pt x="44" y="82"/>
                    </a:lnTo>
                    <a:lnTo>
                      <a:pt x="25" y="70"/>
                    </a:lnTo>
                    <a:lnTo>
                      <a:pt x="19" y="57"/>
                    </a:lnTo>
                    <a:lnTo>
                      <a:pt x="13" y="38"/>
                    </a:lnTo>
                    <a:lnTo>
                      <a:pt x="76" y="38"/>
                    </a:lnTo>
                    <a:lnTo>
                      <a:pt x="70" y="13"/>
                    </a:lnTo>
                    <a:lnTo>
                      <a:pt x="44" y="0"/>
                    </a:lnTo>
                    <a:lnTo>
                      <a:pt x="32" y="0"/>
                    </a:lnTo>
                    <a:lnTo>
                      <a:pt x="13" y="13"/>
                    </a:lnTo>
                    <a:lnTo>
                      <a:pt x="6" y="26"/>
                    </a:lnTo>
                    <a:lnTo>
                      <a:pt x="0" y="51"/>
                    </a:lnTo>
                    <a:lnTo>
                      <a:pt x="6" y="70"/>
                    </a:lnTo>
                    <a:lnTo>
                      <a:pt x="13" y="82"/>
                    </a:lnTo>
                    <a:lnTo>
                      <a:pt x="25" y="95"/>
                    </a:lnTo>
                    <a:lnTo>
                      <a:pt x="38" y="95"/>
                    </a:lnTo>
                    <a:lnTo>
                      <a:pt x="57" y="89"/>
                    </a:lnTo>
                    <a:lnTo>
                      <a:pt x="70" y="76"/>
                    </a:lnTo>
                    <a:lnTo>
                      <a:pt x="76" y="63"/>
                    </a:lnTo>
                    <a:lnTo>
                      <a:pt x="82" y="57"/>
                    </a:lnTo>
                    <a:lnTo>
                      <a:pt x="76" y="57"/>
                    </a:lnTo>
                    <a:close/>
                    <a:moveTo>
                      <a:pt x="19" y="32"/>
                    </a:moveTo>
                    <a:lnTo>
                      <a:pt x="25" y="13"/>
                    </a:lnTo>
                    <a:lnTo>
                      <a:pt x="38" y="7"/>
                    </a:lnTo>
                    <a:lnTo>
                      <a:pt x="51" y="13"/>
                    </a:lnTo>
                    <a:lnTo>
                      <a:pt x="57" y="32"/>
                    </a:lnTo>
                    <a:lnTo>
                      <a:pt x="19" y="3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8" name="Freeform 93"/>
              <p:cNvSpPr/>
              <p:nvPr/>
            </p:nvSpPr>
            <p:spPr>
              <a:xfrm>
                <a:off x="3309" y="513"/>
                <a:ext cx="63" cy="89"/>
              </a:xfrm>
              <a:custGeom>
                <a:avLst/>
                <a:gdLst>
                  <a:gd name="txL" fmla="*/ 0 w 63"/>
                  <a:gd name="txT" fmla="*/ 0 h 89"/>
                  <a:gd name="txR" fmla="*/ 63 w 63"/>
                  <a:gd name="txB" fmla="*/ 89 h 89"/>
                </a:gdLst>
                <a:ahLst/>
                <a:cxnLst>
                  <a:cxn ang="0">
                    <a:pos x="12" y="76"/>
                  </a:cxn>
                  <a:cxn ang="0">
                    <a:pos x="6" y="82"/>
                  </a:cxn>
                  <a:cxn ang="0">
                    <a:pos x="0" y="89"/>
                  </a:cxn>
                  <a:cxn ang="0">
                    <a:pos x="0" y="89"/>
                  </a:cxn>
                  <a:cxn ang="0">
                    <a:pos x="44" y="89"/>
                  </a:cxn>
                  <a:cxn ang="0">
                    <a:pos x="44" y="89"/>
                  </a:cxn>
                  <a:cxn ang="0">
                    <a:pos x="31" y="89"/>
                  </a:cxn>
                  <a:cxn ang="0">
                    <a:pos x="25" y="76"/>
                  </a:cxn>
                  <a:cxn ang="0">
                    <a:pos x="25" y="32"/>
                  </a:cxn>
                  <a:cxn ang="0">
                    <a:pos x="31" y="19"/>
                  </a:cxn>
                  <a:cxn ang="0">
                    <a:pos x="44" y="13"/>
                  </a:cxn>
                  <a:cxn ang="0">
                    <a:pos x="50" y="19"/>
                  </a:cxn>
                  <a:cxn ang="0">
                    <a:pos x="56" y="19"/>
                  </a:cxn>
                  <a:cxn ang="0">
                    <a:pos x="63" y="19"/>
                  </a:cxn>
                  <a:cxn ang="0">
                    <a:pos x="63" y="13"/>
                  </a:cxn>
                  <a:cxn ang="0">
                    <a:pos x="56" y="7"/>
                  </a:cxn>
                  <a:cxn ang="0">
                    <a:pos x="50" y="0"/>
                  </a:cxn>
                  <a:cxn ang="0">
                    <a:pos x="37" y="7"/>
                  </a:cxn>
                  <a:cxn ang="0">
                    <a:pos x="25" y="19"/>
                  </a:cxn>
                  <a:cxn ang="0">
                    <a:pos x="25" y="19"/>
                  </a:cxn>
                  <a:cxn ang="0">
                    <a:pos x="25" y="0"/>
                  </a:cxn>
                  <a:cxn ang="0">
                    <a:pos x="25" y="0"/>
                  </a:cxn>
                  <a:cxn ang="0">
                    <a:pos x="12" y="7"/>
                  </a:cxn>
                  <a:cxn ang="0">
                    <a:pos x="0" y="13"/>
                  </a:cxn>
                  <a:cxn ang="0">
                    <a:pos x="0" y="13"/>
                  </a:cxn>
                  <a:cxn ang="0">
                    <a:pos x="0" y="13"/>
                  </a:cxn>
                  <a:cxn ang="0">
                    <a:pos x="6" y="13"/>
                  </a:cxn>
                  <a:cxn ang="0">
                    <a:pos x="12" y="13"/>
                  </a:cxn>
                  <a:cxn ang="0">
                    <a:pos x="12" y="26"/>
                  </a:cxn>
                  <a:cxn ang="0">
                    <a:pos x="12" y="76"/>
                  </a:cxn>
                </a:cxnLst>
                <a:rect l="txL" t="txT" r="txR" b="txB"/>
                <a:pathLst>
                  <a:path w="63" h="89">
                    <a:moveTo>
                      <a:pt x="12" y="76"/>
                    </a:moveTo>
                    <a:lnTo>
                      <a:pt x="6" y="82"/>
                    </a:lnTo>
                    <a:lnTo>
                      <a:pt x="0" y="89"/>
                    </a:lnTo>
                    <a:lnTo>
                      <a:pt x="44" y="89"/>
                    </a:lnTo>
                    <a:lnTo>
                      <a:pt x="31" y="89"/>
                    </a:lnTo>
                    <a:lnTo>
                      <a:pt x="25" y="76"/>
                    </a:lnTo>
                    <a:lnTo>
                      <a:pt x="25" y="32"/>
                    </a:lnTo>
                    <a:lnTo>
                      <a:pt x="31" y="19"/>
                    </a:lnTo>
                    <a:lnTo>
                      <a:pt x="44" y="13"/>
                    </a:lnTo>
                    <a:lnTo>
                      <a:pt x="50" y="19"/>
                    </a:lnTo>
                    <a:lnTo>
                      <a:pt x="56" y="19"/>
                    </a:lnTo>
                    <a:lnTo>
                      <a:pt x="63" y="19"/>
                    </a:lnTo>
                    <a:lnTo>
                      <a:pt x="63" y="13"/>
                    </a:lnTo>
                    <a:lnTo>
                      <a:pt x="56" y="7"/>
                    </a:lnTo>
                    <a:lnTo>
                      <a:pt x="50" y="0"/>
                    </a:lnTo>
                    <a:lnTo>
                      <a:pt x="37" y="7"/>
                    </a:lnTo>
                    <a:lnTo>
                      <a:pt x="25" y="19"/>
                    </a:lnTo>
                    <a:lnTo>
                      <a:pt x="25" y="0"/>
                    </a:lnTo>
                    <a:lnTo>
                      <a:pt x="12" y="7"/>
                    </a:lnTo>
                    <a:lnTo>
                      <a:pt x="0" y="13"/>
                    </a:lnTo>
                    <a:lnTo>
                      <a:pt x="6" y="13"/>
                    </a:lnTo>
                    <a:lnTo>
                      <a:pt x="12" y="13"/>
                    </a:lnTo>
                    <a:lnTo>
                      <a:pt x="12" y="26"/>
                    </a:lnTo>
                    <a:lnTo>
                      <a:pt x="12" y="7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89" name="Freeform 94"/>
              <p:cNvSpPr/>
              <p:nvPr/>
            </p:nvSpPr>
            <p:spPr>
              <a:xfrm>
                <a:off x="3372" y="513"/>
                <a:ext cx="151" cy="89"/>
              </a:xfrm>
              <a:custGeom>
                <a:avLst/>
                <a:gdLst>
                  <a:gd name="txL" fmla="*/ 0 w 151"/>
                  <a:gd name="txT" fmla="*/ 0 h 89"/>
                  <a:gd name="txR" fmla="*/ 151 w 151"/>
                  <a:gd name="txB" fmla="*/ 89 h 89"/>
                </a:gdLst>
                <a:ahLst/>
                <a:cxnLst>
                  <a:cxn ang="0">
                    <a:pos x="19" y="76"/>
                  </a:cxn>
                  <a:cxn ang="0">
                    <a:pos x="12" y="89"/>
                  </a:cxn>
                  <a:cxn ang="0">
                    <a:pos x="0" y="89"/>
                  </a:cxn>
                  <a:cxn ang="0">
                    <a:pos x="0" y="89"/>
                  </a:cxn>
                  <a:cxn ang="0">
                    <a:pos x="44" y="89"/>
                  </a:cxn>
                  <a:cxn ang="0">
                    <a:pos x="44" y="89"/>
                  </a:cxn>
                  <a:cxn ang="0">
                    <a:pos x="38" y="89"/>
                  </a:cxn>
                  <a:cxn ang="0">
                    <a:pos x="31" y="76"/>
                  </a:cxn>
                  <a:cxn ang="0">
                    <a:pos x="31" y="26"/>
                  </a:cxn>
                  <a:cxn ang="0">
                    <a:pos x="38" y="19"/>
                  </a:cxn>
                  <a:cxn ang="0">
                    <a:pos x="57" y="13"/>
                  </a:cxn>
                  <a:cxn ang="0">
                    <a:pos x="63" y="19"/>
                  </a:cxn>
                  <a:cxn ang="0">
                    <a:pos x="69" y="32"/>
                  </a:cxn>
                  <a:cxn ang="0">
                    <a:pos x="69" y="76"/>
                  </a:cxn>
                  <a:cxn ang="0">
                    <a:pos x="63" y="89"/>
                  </a:cxn>
                  <a:cxn ang="0">
                    <a:pos x="57" y="89"/>
                  </a:cxn>
                  <a:cxn ang="0">
                    <a:pos x="57" y="89"/>
                  </a:cxn>
                  <a:cxn ang="0">
                    <a:pos x="101" y="89"/>
                  </a:cxn>
                  <a:cxn ang="0">
                    <a:pos x="101" y="89"/>
                  </a:cxn>
                  <a:cxn ang="0">
                    <a:pos x="95" y="89"/>
                  </a:cxn>
                  <a:cxn ang="0">
                    <a:pos x="88" y="82"/>
                  </a:cxn>
                  <a:cxn ang="0">
                    <a:pos x="88" y="70"/>
                  </a:cxn>
                  <a:cxn ang="0">
                    <a:pos x="88" y="26"/>
                  </a:cxn>
                  <a:cxn ang="0">
                    <a:pos x="95" y="19"/>
                  </a:cxn>
                  <a:cxn ang="0">
                    <a:pos x="107" y="13"/>
                  </a:cxn>
                  <a:cxn ang="0">
                    <a:pos x="120" y="19"/>
                  </a:cxn>
                  <a:cxn ang="0">
                    <a:pos x="120" y="32"/>
                  </a:cxn>
                  <a:cxn ang="0">
                    <a:pos x="120" y="76"/>
                  </a:cxn>
                  <a:cxn ang="0">
                    <a:pos x="120" y="89"/>
                  </a:cxn>
                  <a:cxn ang="0">
                    <a:pos x="107" y="89"/>
                  </a:cxn>
                  <a:cxn ang="0">
                    <a:pos x="107" y="89"/>
                  </a:cxn>
                  <a:cxn ang="0">
                    <a:pos x="151" y="89"/>
                  </a:cxn>
                  <a:cxn ang="0">
                    <a:pos x="151" y="89"/>
                  </a:cxn>
                  <a:cxn ang="0">
                    <a:pos x="145" y="89"/>
                  </a:cxn>
                  <a:cxn ang="0">
                    <a:pos x="139" y="82"/>
                  </a:cxn>
                  <a:cxn ang="0">
                    <a:pos x="139" y="76"/>
                  </a:cxn>
                  <a:cxn ang="0">
                    <a:pos x="139" y="38"/>
                  </a:cxn>
                  <a:cxn ang="0">
                    <a:pos x="132" y="13"/>
                  </a:cxn>
                  <a:cxn ang="0">
                    <a:pos x="126" y="7"/>
                  </a:cxn>
                  <a:cxn ang="0">
                    <a:pos x="113" y="0"/>
                  </a:cxn>
                  <a:cxn ang="0">
                    <a:pos x="95" y="7"/>
                  </a:cxn>
                  <a:cxn ang="0">
                    <a:pos x="82" y="19"/>
                  </a:cxn>
                  <a:cxn ang="0">
                    <a:pos x="76" y="7"/>
                  </a:cxn>
                  <a:cxn ang="0">
                    <a:pos x="63" y="0"/>
                  </a:cxn>
                  <a:cxn ang="0">
                    <a:pos x="50" y="7"/>
                  </a:cxn>
                  <a:cxn ang="0">
                    <a:pos x="31" y="13"/>
                  </a:cxn>
                  <a:cxn ang="0">
                    <a:pos x="31" y="0"/>
                  </a:cxn>
                  <a:cxn ang="0">
                    <a:pos x="31" y="0"/>
                  </a:cxn>
                  <a:cxn ang="0">
                    <a:pos x="19" y="7"/>
                  </a:cxn>
                  <a:cxn ang="0">
                    <a:pos x="0" y="7"/>
                  </a:cxn>
                  <a:cxn ang="0">
                    <a:pos x="0" y="13"/>
                  </a:cxn>
                  <a:cxn ang="0">
                    <a:pos x="6" y="13"/>
                  </a:cxn>
                  <a:cxn ang="0">
                    <a:pos x="6" y="13"/>
                  </a:cxn>
                  <a:cxn ang="0">
                    <a:pos x="12" y="13"/>
                  </a:cxn>
                  <a:cxn ang="0">
                    <a:pos x="19" y="26"/>
                  </a:cxn>
                  <a:cxn ang="0">
                    <a:pos x="19" y="76"/>
                  </a:cxn>
                </a:cxnLst>
                <a:rect l="txL" t="txT" r="txR" b="txB"/>
                <a:pathLst>
                  <a:path w="151" h="89">
                    <a:moveTo>
                      <a:pt x="19" y="76"/>
                    </a:moveTo>
                    <a:lnTo>
                      <a:pt x="12" y="89"/>
                    </a:lnTo>
                    <a:lnTo>
                      <a:pt x="0" y="89"/>
                    </a:lnTo>
                    <a:lnTo>
                      <a:pt x="44" y="89"/>
                    </a:lnTo>
                    <a:lnTo>
                      <a:pt x="38" y="89"/>
                    </a:lnTo>
                    <a:lnTo>
                      <a:pt x="31" y="76"/>
                    </a:lnTo>
                    <a:lnTo>
                      <a:pt x="31" y="26"/>
                    </a:lnTo>
                    <a:lnTo>
                      <a:pt x="38" y="19"/>
                    </a:lnTo>
                    <a:lnTo>
                      <a:pt x="57" y="13"/>
                    </a:lnTo>
                    <a:lnTo>
                      <a:pt x="63" y="19"/>
                    </a:lnTo>
                    <a:lnTo>
                      <a:pt x="69" y="32"/>
                    </a:lnTo>
                    <a:lnTo>
                      <a:pt x="69" y="76"/>
                    </a:lnTo>
                    <a:lnTo>
                      <a:pt x="63" y="89"/>
                    </a:lnTo>
                    <a:lnTo>
                      <a:pt x="57" y="89"/>
                    </a:lnTo>
                    <a:lnTo>
                      <a:pt x="101" y="89"/>
                    </a:lnTo>
                    <a:lnTo>
                      <a:pt x="95" y="89"/>
                    </a:lnTo>
                    <a:lnTo>
                      <a:pt x="88" y="82"/>
                    </a:lnTo>
                    <a:lnTo>
                      <a:pt x="88" y="70"/>
                    </a:lnTo>
                    <a:lnTo>
                      <a:pt x="88" y="26"/>
                    </a:lnTo>
                    <a:lnTo>
                      <a:pt x="95" y="19"/>
                    </a:lnTo>
                    <a:lnTo>
                      <a:pt x="107" y="13"/>
                    </a:lnTo>
                    <a:lnTo>
                      <a:pt x="120" y="19"/>
                    </a:lnTo>
                    <a:lnTo>
                      <a:pt x="120" y="32"/>
                    </a:lnTo>
                    <a:lnTo>
                      <a:pt x="120" y="76"/>
                    </a:lnTo>
                    <a:lnTo>
                      <a:pt x="120" y="89"/>
                    </a:lnTo>
                    <a:lnTo>
                      <a:pt x="107" y="89"/>
                    </a:lnTo>
                    <a:lnTo>
                      <a:pt x="151" y="89"/>
                    </a:lnTo>
                    <a:lnTo>
                      <a:pt x="145" y="89"/>
                    </a:lnTo>
                    <a:lnTo>
                      <a:pt x="139" y="82"/>
                    </a:lnTo>
                    <a:lnTo>
                      <a:pt x="139" y="76"/>
                    </a:lnTo>
                    <a:lnTo>
                      <a:pt x="139" y="38"/>
                    </a:lnTo>
                    <a:lnTo>
                      <a:pt x="132" y="13"/>
                    </a:lnTo>
                    <a:lnTo>
                      <a:pt x="126" y="7"/>
                    </a:lnTo>
                    <a:lnTo>
                      <a:pt x="113" y="0"/>
                    </a:lnTo>
                    <a:lnTo>
                      <a:pt x="95" y="7"/>
                    </a:lnTo>
                    <a:lnTo>
                      <a:pt x="82" y="19"/>
                    </a:lnTo>
                    <a:lnTo>
                      <a:pt x="76" y="7"/>
                    </a:lnTo>
                    <a:lnTo>
                      <a:pt x="63" y="0"/>
                    </a:lnTo>
                    <a:lnTo>
                      <a:pt x="50" y="7"/>
                    </a:lnTo>
                    <a:lnTo>
                      <a:pt x="31" y="13"/>
                    </a:lnTo>
                    <a:lnTo>
                      <a:pt x="31" y="0"/>
                    </a:lnTo>
                    <a:lnTo>
                      <a:pt x="19" y="7"/>
                    </a:lnTo>
                    <a:lnTo>
                      <a:pt x="0" y="7"/>
                    </a:lnTo>
                    <a:lnTo>
                      <a:pt x="0" y="13"/>
                    </a:lnTo>
                    <a:lnTo>
                      <a:pt x="6" y="13"/>
                    </a:lnTo>
                    <a:lnTo>
                      <a:pt x="12" y="13"/>
                    </a:lnTo>
                    <a:lnTo>
                      <a:pt x="19" y="26"/>
                    </a:lnTo>
                    <a:lnTo>
                      <a:pt x="19" y="7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0" name="Freeform 95"/>
              <p:cNvSpPr>
                <a:spLocks noEditPoints="1"/>
              </p:cNvSpPr>
              <p:nvPr/>
            </p:nvSpPr>
            <p:spPr>
              <a:xfrm>
                <a:off x="3530" y="469"/>
                <a:ext cx="44" cy="133"/>
              </a:xfrm>
              <a:custGeom>
                <a:avLst/>
                <a:gdLst>
                  <a:gd name="txL" fmla="*/ 0 w 44"/>
                  <a:gd name="txT" fmla="*/ 0 h 133"/>
                  <a:gd name="txR" fmla="*/ 44 w 44"/>
                  <a:gd name="txB" fmla="*/ 133 h 133"/>
                </a:gdLst>
                <a:ahLst/>
                <a:cxnLst>
                  <a:cxn ang="0">
                    <a:pos x="0" y="133"/>
                  </a:cxn>
                  <a:cxn ang="0">
                    <a:pos x="44" y="133"/>
                  </a:cxn>
                  <a:cxn ang="0">
                    <a:pos x="44" y="133"/>
                  </a:cxn>
                  <a:cxn ang="0">
                    <a:pos x="31" y="126"/>
                  </a:cxn>
                  <a:cxn ang="0">
                    <a:pos x="31" y="114"/>
                  </a:cxn>
                  <a:cxn ang="0">
                    <a:pos x="31" y="44"/>
                  </a:cxn>
                  <a:cxn ang="0">
                    <a:pos x="31" y="44"/>
                  </a:cxn>
                  <a:cxn ang="0">
                    <a:pos x="12" y="51"/>
                  </a:cxn>
                  <a:cxn ang="0">
                    <a:pos x="0" y="57"/>
                  </a:cxn>
                  <a:cxn ang="0">
                    <a:pos x="0" y="57"/>
                  </a:cxn>
                  <a:cxn ang="0">
                    <a:pos x="6" y="57"/>
                  </a:cxn>
                  <a:cxn ang="0">
                    <a:pos x="6" y="57"/>
                  </a:cxn>
                  <a:cxn ang="0">
                    <a:pos x="12" y="57"/>
                  </a:cxn>
                  <a:cxn ang="0">
                    <a:pos x="12" y="70"/>
                  </a:cxn>
                  <a:cxn ang="0">
                    <a:pos x="12" y="114"/>
                  </a:cxn>
                  <a:cxn ang="0">
                    <a:pos x="12" y="126"/>
                  </a:cxn>
                  <a:cxn ang="0">
                    <a:pos x="12" y="133"/>
                  </a:cxn>
                  <a:cxn ang="0">
                    <a:pos x="0" y="133"/>
                  </a:cxn>
                  <a:cxn ang="0">
                    <a:pos x="0" y="133"/>
                  </a:cxn>
                  <a:cxn ang="0">
                    <a:pos x="12" y="13"/>
                  </a:cxn>
                  <a:cxn ang="0">
                    <a:pos x="12" y="19"/>
                  </a:cxn>
                  <a:cxn ang="0">
                    <a:pos x="19" y="19"/>
                  </a:cxn>
                  <a:cxn ang="0">
                    <a:pos x="25" y="19"/>
                  </a:cxn>
                  <a:cxn ang="0">
                    <a:pos x="31" y="13"/>
                  </a:cxn>
                  <a:cxn ang="0">
                    <a:pos x="25" y="6"/>
                  </a:cxn>
                  <a:cxn ang="0">
                    <a:pos x="19" y="0"/>
                  </a:cxn>
                  <a:cxn ang="0">
                    <a:pos x="12" y="6"/>
                  </a:cxn>
                  <a:cxn ang="0">
                    <a:pos x="12" y="13"/>
                  </a:cxn>
                  <a:cxn ang="0">
                    <a:pos x="12" y="13"/>
                  </a:cxn>
                </a:cxnLst>
                <a:rect l="txL" t="txT" r="txR" b="txB"/>
                <a:pathLst>
                  <a:path w="44" h="133">
                    <a:moveTo>
                      <a:pt x="0" y="133"/>
                    </a:moveTo>
                    <a:lnTo>
                      <a:pt x="44" y="133"/>
                    </a:lnTo>
                    <a:lnTo>
                      <a:pt x="31" y="126"/>
                    </a:lnTo>
                    <a:lnTo>
                      <a:pt x="31" y="114"/>
                    </a:lnTo>
                    <a:lnTo>
                      <a:pt x="31" y="44"/>
                    </a:lnTo>
                    <a:lnTo>
                      <a:pt x="12" y="51"/>
                    </a:lnTo>
                    <a:lnTo>
                      <a:pt x="0" y="57"/>
                    </a:lnTo>
                    <a:lnTo>
                      <a:pt x="6" y="57"/>
                    </a:lnTo>
                    <a:lnTo>
                      <a:pt x="12" y="57"/>
                    </a:lnTo>
                    <a:lnTo>
                      <a:pt x="12" y="70"/>
                    </a:lnTo>
                    <a:lnTo>
                      <a:pt x="12" y="114"/>
                    </a:lnTo>
                    <a:lnTo>
                      <a:pt x="12" y="126"/>
                    </a:lnTo>
                    <a:lnTo>
                      <a:pt x="12" y="133"/>
                    </a:lnTo>
                    <a:lnTo>
                      <a:pt x="0" y="133"/>
                    </a:lnTo>
                    <a:close/>
                    <a:moveTo>
                      <a:pt x="12" y="13"/>
                    </a:moveTo>
                    <a:lnTo>
                      <a:pt x="12" y="19"/>
                    </a:lnTo>
                    <a:lnTo>
                      <a:pt x="19" y="19"/>
                    </a:lnTo>
                    <a:lnTo>
                      <a:pt x="25" y="19"/>
                    </a:lnTo>
                    <a:lnTo>
                      <a:pt x="31" y="13"/>
                    </a:lnTo>
                    <a:lnTo>
                      <a:pt x="25" y="6"/>
                    </a:lnTo>
                    <a:lnTo>
                      <a:pt x="19" y="0"/>
                    </a:lnTo>
                    <a:lnTo>
                      <a:pt x="12" y="6"/>
                    </a:lnTo>
                    <a:lnTo>
                      <a:pt x="12" y="1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1" name="Freeform 96"/>
              <p:cNvSpPr/>
              <p:nvPr/>
            </p:nvSpPr>
            <p:spPr>
              <a:xfrm>
                <a:off x="3580" y="488"/>
                <a:ext cx="57" cy="120"/>
              </a:xfrm>
              <a:custGeom>
                <a:avLst/>
                <a:gdLst>
                  <a:gd name="txL" fmla="*/ 0 w 57"/>
                  <a:gd name="txT" fmla="*/ 0 h 120"/>
                  <a:gd name="txR" fmla="*/ 57 w 57"/>
                  <a:gd name="txB" fmla="*/ 120 h 120"/>
                </a:gdLst>
                <a:ahLst/>
                <a:cxnLst>
                  <a:cxn ang="0">
                    <a:pos x="51" y="25"/>
                  </a:cxn>
                  <a:cxn ang="0">
                    <a:pos x="32" y="25"/>
                  </a:cxn>
                  <a:cxn ang="0">
                    <a:pos x="32" y="6"/>
                  </a:cxn>
                  <a:cxn ang="0">
                    <a:pos x="32" y="6"/>
                  </a:cxn>
                  <a:cxn ang="0">
                    <a:pos x="25" y="0"/>
                  </a:cxn>
                  <a:cxn ang="0">
                    <a:pos x="19" y="13"/>
                  </a:cxn>
                  <a:cxn ang="0">
                    <a:pos x="13" y="25"/>
                  </a:cxn>
                  <a:cxn ang="0">
                    <a:pos x="7" y="32"/>
                  </a:cxn>
                  <a:cxn ang="0">
                    <a:pos x="0" y="32"/>
                  </a:cxn>
                  <a:cxn ang="0">
                    <a:pos x="0" y="32"/>
                  </a:cxn>
                  <a:cxn ang="0">
                    <a:pos x="13" y="32"/>
                  </a:cxn>
                  <a:cxn ang="0">
                    <a:pos x="13" y="95"/>
                  </a:cxn>
                  <a:cxn ang="0">
                    <a:pos x="19" y="114"/>
                  </a:cxn>
                  <a:cxn ang="0">
                    <a:pos x="32" y="120"/>
                  </a:cxn>
                  <a:cxn ang="0">
                    <a:pos x="44" y="114"/>
                  </a:cxn>
                  <a:cxn ang="0">
                    <a:pos x="57" y="101"/>
                  </a:cxn>
                  <a:cxn ang="0">
                    <a:pos x="51" y="101"/>
                  </a:cxn>
                  <a:cxn ang="0">
                    <a:pos x="44" y="107"/>
                  </a:cxn>
                  <a:cxn ang="0">
                    <a:pos x="38" y="107"/>
                  </a:cxn>
                  <a:cxn ang="0">
                    <a:pos x="32" y="101"/>
                  </a:cxn>
                  <a:cxn ang="0">
                    <a:pos x="32" y="88"/>
                  </a:cxn>
                  <a:cxn ang="0">
                    <a:pos x="32" y="32"/>
                  </a:cxn>
                  <a:cxn ang="0">
                    <a:pos x="51" y="32"/>
                  </a:cxn>
                  <a:cxn ang="0">
                    <a:pos x="51" y="25"/>
                  </a:cxn>
                </a:cxnLst>
                <a:rect l="txL" t="txT" r="txR" b="txB"/>
                <a:pathLst>
                  <a:path w="57" h="120">
                    <a:moveTo>
                      <a:pt x="51" y="25"/>
                    </a:moveTo>
                    <a:lnTo>
                      <a:pt x="32" y="25"/>
                    </a:lnTo>
                    <a:lnTo>
                      <a:pt x="32" y="6"/>
                    </a:lnTo>
                    <a:lnTo>
                      <a:pt x="25" y="0"/>
                    </a:lnTo>
                    <a:lnTo>
                      <a:pt x="19" y="13"/>
                    </a:lnTo>
                    <a:lnTo>
                      <a:pt x="13" y="25"/>
                    </a:lnTo>
                    <a:lnTo>
                      <a:pt x="7" y="32"/>
                    </a:lnTo>
                    <a:lnTo>
                      <a:pt x="0" y="32"/>
                    </a:lnTo>
                    <a:lnTo>
                      <a:pt x="13" y="32"/>
                    </a:lnTo>
                    <a:lnTo>
                      <a:pt x="13" y="95"/>
                    </a:lnTo>
                    <a:lnTo>
                      <a:pt x="19" y="114"/>
                    </a:lnTo>
                    <a:lnTo>
                      <a:pt x="32" y="120"/>
                    </a:lnTo>
                    <a:lnTo>
                      <a:pt x="44" y="114"/>
                    </a:lnTo>
                    <a:lnTo>
                      <a:pt x="57" y="101"/>
                    </a:lnTo>
                    <a:lnTo>
                      <a:pt x="51" y="101"/>
                    </a:lnTo>
                    <a:lnTo>
                      <a:pt x="44" y="107"/>
                    </a:lnTo>
                    <a:lnTo>
                      <a:pt x="38" y="107"/>
                    </a:lnTo>
                    <a:lnTo>
                      <a:pt x="32" y="101"/>
                    </a:lnTo>
                    <a:lnTo>
                      <a:pt x="32" y="88"/>
                    </a:lnTo>
                    <a:lnTo>
                      <a:pt x="32" y="32"/>
                    </a:lnTo>
                    <a:lnTo>
                      <a:pt x="51" y="32"/>
                    </a:lnTo>
                    <a:lnTo>
                      <a:pt x="51"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2" name="Freeform 97"/>
              <p:cNvSpPr/>
              <p:nvPr/>
            </p:nvSpPr>
            <p:spPr>
              <a:xfrm>
                <a:off x="3637" y="488"/>
                <a:ext cx="51" cy="120"/>
              </a:xfrm>
              <a:custGeom>
                <a:avLst/>
                <a:gdLst>
                  <a:gd name="txL" fmla="*/ 0 w 51"/>
                  <a:gd name="txT" fmla="*/ 0 h 120"/>
                  <a:gd name="txR" fmla="*/ 51 w 51"/>
                  <a:gd name="txB" fmla="*/ 120 h 120"/>
                </a:gdLst>
                <a:ahLst/>
                <a:cxnLst>
                  <a:cxn ang="0">
                    <a:pos x="51" y="25"/>
                  </a:cxn>
                  <a:cxn ang="0">
                    <a:pos x="25" y="25"/>
                  </a:cxn>
                  <a:cxn ang="0">
                    <a:pos x="25" y="6"/>
                  </a:cxn>
                  <a:cxn ang="0">
                    <a:pos x="25" y="6"/>
                  </a:cxn>
                  <a:cxn ang="0">
                    <a:pos x="25" y="0"/>
                  </a:cxn>
                  <a:cxn ang="0">
                    <a:pos x="19" y="13"/>
                  </a:cxn>
                  <a:cxn ang="0">
                    <a:pos x="6" y="25"/>
                  </a:cxn>
                  <a:cxn ang="0">
                    <a:pos x="6" y="32"/>
                  </a:cxn>
                  <a:cxn ang="0">
                    <a:pos x="0" y="32"/>
                  </a:cxn>
                  <a:cxn ang="0">
                    <a:pos x="0" y="32"/>
                  </a:cxn>
                  <a:cxn ang="0">
                    <a:pos x="13" y="32"/>
                  </a:cxn>
                  <a:cxn ang="0">
                    <a:pos x="13" y="95"/>
                  </a:cxn>
                  <a:cxn ang="0">
                    <a:pos x="19" y="114"/>
                  </a:cxn>
                  <a:cxn ang="0">
                    <a:pos x="32" y="120"/>
                  </a:cxn>
                  <a:cxn ang="0">
                    <a:pos x="44" y="114"/>
                  </a:cxn>
                  <a:cxn ang="0">
                    <a:pos x="51" y="101"/>
                  </a:cxn>
                  <a:cxn ang="0">
                    <a:pos x="51" y="101"/>
                  </a:cxn>
                  <a:cxn ang="0">
                    <a:pos x="44" y="107"/>
                  </a:cxn>
                  <a:cxn ang="0">
                    <a:pos x="38" y="107"/>
                  </a:cxn>
                  <a:cxn ang="0">
                    <a:pos x="25" y="101"/>
                  </a:cxn>
                  <a:cxn ang="0">
                    <a:pos x="25" y="88"/>
                  </a:cxn>
                  <a:cxn ang="0">
                    <a:pos x="25" y="32"/>
                  </a:cxn>
                  <a:cxn ang="0">
                    <a:pos x="51" y="32"/>
                  </a:cxn>
                  <a:cxn ang="0">
                    <a:pos x="51" y="25"/>
                  </a:cxn>
                </a:cxnLst>
                <a:rect l="txL" t="txT" r="txR" b="txB"/>
                <a:pathLst>
                  <a:path w="51" h="120">
                    <a:moveTo>
                      <a:pt x="51" y="25"/>
                    </a:moveTo>
                    <a:lnTo>
                      <a:pt x="25" y="25"/>
                    </a:lnTo>
                    <a:lnTo>
                      <a:pt x="25" y="6"/>
                    </a:lnTo>
                    <a:lnTo>
                      <a:pt x="25" y="0"/>
                    </a:lnTo>
                    <a:lnTo>
                      <a:pt x="19" y="13"/>
                    </a:lnTo>
                    <a:lnTo>
                      <a:pt x="6" y="25"/>
                    </a:lnTo>
                    <a:lnTo>
                      <a:pt x="6" y="32"/>
                    </a:lnTo>
                    <a:lnTo>
                      <a:pt x="0" y="32"/>
                    </a:lnTo>
                    <a:lnTo>
                      <a:pt x="13" y="32"/>
                    </a:lnTo>
                    <a:lnTo>
                      <a:pt x="13" y="95"/>
                    </a:lnTo>
                    <a:lnTo>
                      <a:pt x="19" y="114"/>
                    </a:lnTo>
                    <a:lnTo>
                      <a:pt x="32" y="120"/>
                    </a:lnTo>
                    <a:lnTo>
                      <a:pt x="44" y="114"/>
                    </a:lnTo>
                    <a:lnTo>
                      <a:pt x="51" y="101"/>
                    </a:lnTo>
                    <a:lnTo>
                      <a:pt x="44" y="107"/>
                    </a:lnTo>
                    <a:lnTo>
                      <a:pt x="38" y="107"/>
                    </a:lnTo>
                    <a:lnTo>
                      <a:pt x="25" y="101"/>
                    </a:lnTo>
                    <a:lnTo>
                      <a:pt x="25" y="88"/>
                    </a:lnTo>
                    <a:lnTo>
                      <a:pt x="25" y="32"/>
                    </a:lnTo>
                    <a:lnTo>
                      <a:pt x="51" y="32"/>
                    </a:lnTo>
                    <a:lnTo>
                      <a:pt x="51"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3" name="Freeform 98"/>
              <p:cNvSpPr>
                <a:spLocks noEditPoints="1"/>
              </p:cNvSpPr>
              <p:nvPr/>
            </p:nvSpPr>
            <p:spPr>
              <a:xfrm>
                <a:off x="3694" y="469"/>
                <a:ext cx="44" cy="133"/>
              </a:xfrm>
              <a:custGeom>
                <a:avLst/>
                <a:gdLst>
                  <a:gd name="txL" fmla="*/ 0 w 44"/>
                  <a:gd name="txT" fmla="*/ 0 h 133"/>
                  <a:gd name="txR" fmla="*/ 44 w 44"/>
                  <a:gd name="txB" fmla="*/ 133 h 133"/>
                </a:gdLst>
                <a:ahLst/>
                <a:cxnLst>
                  <a:cxn ang="0">
                    <a:pos x="0" y="133"/>
                  </a:cxn>
                  <a:cxn ang="0">
                    <a:pos x="44" y="133"/>
                  </a:cxn>
                  <a:cxn ang="0">
                    <a:pos x="44" y="133"/>
                  </a:cxn>
                  <a:cxn ang="0">
                    <a:pos x="32" y="126"/>
                  </a:cxn>
                  <a:cxn ang="0">
                    <a:pos x="32" y="114"/>
                  </a:cxn>
                  <a:cxn ang="0">
                    <a:pos x="32" y="44"/>
                  </a:cxn>
                  <a:cxn ang="0">
                    <a:pos x="32" y="44"/>
                  </a:cxn>
                  <a:cxn ang="0">
                    <a:pos x="19" y="51"/>
                  </a:cxn>
                  <a:cxn ang="0">
                    <a:pos x="0" y="57"/>
                  </a:cxn>
                  <a:cxn ang="0">
                    <a:pos x="0" y="57"/>
                  </a:cxn>
                  <a:cxn ang="0">
                    <a:pos x="6" y="57"/>
                  </a:cxn>
                  <a:cxn ang="0">
                    <a:pos x="6" y="57"/>
                  </a:cxn>
                  <a:cxn ang="0">
                    <a:pos x="13" y="57"/>
                  </a:cxn>
                  <a:cxn ang="0">
                    <a:pos x="13" y="70"/>
                  </a:cxn>
                  <a:cxn ang="0">
                    <a:pos x="13" y="114"/>
                  </a:cxn>
                  <a:cxn ang="0">
                    <a:pos x="13" y="126"/>
                  </a:cxn>
                  <a:cxn ang="0">
                    <a:pos x="13" y="133"/>
                  </a:cxn>
                  <a:cxn ang="0">
                    <a:pos x="0" y="133"/>
                  </a:cxn>
                  <a:cxn ang="0">
                    <a:pos x="0" y="133"/>
                  </a:cxn>
                  <a:cxn ang="0">
                    <a:pos x="13" y="13"/>
                  </a:cxn>
                  <a:cxn ang="0">
                    <a:pos x="13" y="19"/>
                  </a:cxn>
                  <a:cxn ang="0">
                    <a:pos x="19" y="19"/>
                  </a:cxn>
                  <a:cxn ang="0">
                    <a:pos x="25" y="19"/>
                  </a:cxn>
                  <a:cxn ang="0">
                    <a:pos x="32" y="13"/>
                  </a:cxn>
                  <a:cxn ang="0">
                    <a:pos x="25" y="6"/>
                  </a:cxn>
                  <a:cxn ang="0">
                    <a:pos x="19" y="0"/>
                  </a:cxn>
                  <a:cxn ang="0">
                    <a:pos x="13" y="6"/>
                  </a:cxn>
                  <a:cxn ang="0">
                    <a:pos x="13" y="13"/>
                  </a:cxn>
                  <a:cxn ang="0">
                    <a:pos x="13" y="13"/>
                  </a:cxn>
                </a:cxnLst>
                <a:rect l="txL" t="txT" r="txR" b="txB"/>
                <a:pathLst>
                  <a:path w="44" h="133">
                    <a:moveTo>
                      <a:pt x="0" y="133"/>
                    </a:moveTo>
                    <a:lnTo>
                      <a:pt x="44" y="133"/>
                    </a:lnTo>
                    <a:lnTo>
                      <a:pt x="32" y="126"/>
                    </a:lnTo>
                    <a:lnTo>
                      <a:pt x="32" y="114"/>
                    </a:lnTo>
                    <a:lnTo>
                      <a:pt x="32" y="44"/>
                    </a:lnTo>
                    <a:lnTo>
                      <a:pt x="19" y="51"/>
                    </a:lnTo>
                    <a:lnTo>
                      <a:pt x="0" y="57"/>
                    </a:lnTo>
                    <a:lnTo>
                      <a:pt x="6" y="57"/>
                    </a:lnTo>
                    <a:lnTo>
                      <a:pt x="13" y="57"/>
                    </a:lnTo>
                    <a:lnTo>
                      <a:pt x="13" y="70"/>
                    </a:lnTo>
                    <a:lnTo>
                      <a:pt x="13" y="114"/>
                    </a:lnTo>
                    <a:lnTo>
                      <a:pt x="13" y="126"/>
                    </a:lnTo>
                    <a:lnTo>
                      <a:pt x="13" y="133"/>
                    </a:lnTo>
                    <a:lnTo>
                      <a:pt x="0" y="133"/>
                    </a:lnTo>
                    <a:close/>
                    <a:moveTo>
                      <a:pt x="13" y="13"/>
                    </a:moveTo>
                    <a:lnTo>
                      <a:pt x="13" y="19"/>
                    </a:lnTo>
                    <a:lnTo>
                      <a:pt x="19" y="19"/>
                    </a:lnTo>
                    <a:lnTo>
                      <a:pt x="25" y="19"/>
                    </a:lnTo>
                    <a:lnTo>
                      <a:pt x="32" y="13"/>
                    </a:lnTo>
                    <a:lnTo>
                      <a:pt x="25" y="6"/>
                    </a:lnTo>
                    <a:lnTo>
                      <a:pt x="19" y="0"/>
                    </a:lnTo>
                    <a:lnTo>
                      <a:pt x="13" y="6"/>
                    </a:lnTo>
                    <a:lnTo>
                      <a:pt x="13" y="1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4" name="Freeform 99"/>
              <p:cNvSpPr/>
              <p:nvPr/>
            </p:nvSpPr>
            <p:spPr>
              <a:xfrm>
                <a:off x="3744" y="513"/>
                <a:ext cx="89" cy="95"/>
              </a:xfrm>
              <a:custGeom>
                <a:avLst/>
                <a:gdLst>
                  <a:gd name="txL" fmla="*/ 0 w 89"/>
                  <a:gd name="txT" fmla="*/ 0 h 95"/>
                  <a:gd name="txR" fmla="*/ 89 w 89"/>
                  <a:gd name="txB" fmla="*/ 95 h 95"/>
                </a:gdLst>
                <a:ahLst/>
                <a:cxnLst>
                  <a:cxn ang="0">
                    <a:pos x="89" y="0"/>
                  </a:cxn>
                  <a:cxn ang="0">
                    <a:pos x="64" y="0"/>
                  </a:cxn>
                  <a:cxn ang="0">
                    <a:pos x="64" y="7"/>
                  </a:cxn>
                  <a:cxn ang="0">
                    <a:pos x="70" y="7"/>
                  </a:cxn>
                  <a:cxn ang="0">
                    <a:pos x="70" y="13"/>
                  </a:cxn>
                  <a:cxn ang="0">
                    <a:pos x="70" y="19"/>
                  </a:cxn>
                  <a:cxn ang="0">
                    <a:pos x="64" y="38"/>
                  </a:cxn>
                  <a:cxn ang="0">
                    <a:pos x="51" y="70"/>
                  </a:cxn>
                  <a:cxn ang="0">
                    <a:pos x="32" y="19"/>
                  </a:cxn>
                  <a:cxn ang="0">
                    <a:pos x="32" y="19"/>
                  </a:cxn>
                  <a:cxn ang="0">
                    <a:pos x="26" y="13"/>
                  </a:cxn>
                  <a:cxn ang="0">
                    <a:pos x="32" y="7"/>
                  </a:cxn>
                  <a:cxn ang="0">
                    <a:pos x="38" y="7"/>
                  </a:cxn>
                  <a:cxn ang="0">
                    <a:pos x="38" y="0"/>
                  </a:cxn>
                  <a:cxn ang="0">
                    <a:pos x="0" y="0"/>
                  </a:cxn>
                  <a:cxn ang="0">
                    <a:pos x="0" y="7"/>
                  </a:cxn>
                  <a:cxn ang="0">
                    <a:pos x="7" y="7"/>
                  </a:cxn>
                  <a:cxn ang="0">
                    <a:pos x="13" y="13"/>
                  </a:cxn>
                  <a:cxn ang="0">
                    <a:pos x="19" y="26"/>
                  </a:cxn>
                  <a:cxn ang="0">
                    <a:pos x="26" y="51"/>
                  </a:cxn>
                  <a:cxn ang="0">
                    <a:pos x="38" y="70"/>
                  </a:cxn>
                  <a:cxn ang="0">
                    <a:pos x="38" y="82"/>
                  </a:cxn>
                  <a:cxn ang="0">
                    <a:pos x="45" y="95"/>
                  </a:cxn>
                  <a:cxn ang="0">
                    <a:pos x="45" y="95"/>
                  </a:cxn>
                  <a:cxn ang="0">
                    <a:pos x="51" y="89"/>
                  </a:cxn>
                  <a:cxn ang="0">
                    <a:pos x="51" y="82"/>
                  </a:cxn>
                  <a:cxn ang="0">
                    <a:pos x="76" y="19"/>
                  </a:cxn>
                  <a:cxn ang="0">
                    <a:pos x="83" y="7"/>
                  </a:cxn>
                  <a:cxn ang="0">
                    <a:pos x="89" y="7"/>
                  </a:cxn>
                  <a:cxn ang="0">
                    <a:pos x="89" y="0"/>
                  </a:cxn>
                </a:cxnLst>
                <a:rect l="txL" t="txT" r="txR" b="txB"/>
                <a:pathLst>
                  <a:path w="89" h="95">
                    <a:moveTo>
                      <a:pt x="89" y="0"/>
                    </a:moveTo>
                    <a:lnTo>
                      <a:pt x="64" y="0"/>
                    </a:lnTo>
                    <a:lnTo>
                      <a:pt x="64" y="7"/>
                    </a:lnTo>
                    <a:lnTo>
                      <a:pt x="70" y="7"/>
                    </a:lnTo>
                    <a:lnTo>
                      <a:pt x="70" y="13"/>
                    </a:lnTo>
                    <a:lnTo>
                      <a:pt x="70" y="19"/>
                    </a:lnTo>
                    <a:lnTo>
                      <a:pt x="64" y="38"/>
                    </a:lnTo>
                    <a:lnTo>
                      <a:pt x="51" y="70"/>
                    </a:lnTo>
                    <a:lnTo>
                      <a:pt x="32" y="19"/>
                    </a:lnTo>
                    <a:lnTo>
                      <a:pt x="26" y="13"/>
                    </a:lnTo>
                    <a:lnTo>
                      <a:pt x="32" y="7"/>
                    </a:lnTo>
                    <a:lnTo>
                      <a:pt x="38" y="7"/>
                    </a:lnTo>
                    <a:lnTo>
                      <a:pt x="38" y="0"/>
                    </a:lnTo>
                    <a:lnTo>
                      <a:pt x="0" y="0"/>
                    </a:lnTo>
                    <a:lnTo>
                      <a:pt x="0" y="7"/>
                    </a:lnTo>
                    <a:lnTo>
                      <a:pt x="7" y="7"/>
                    </a:lnTo>
                    <a:lnTo>
                      <a:pt x="13" y="13"/>
                    </a:lnTo>
                    <a:lnTo>
                      <a:pt x="19" y="26"/>
                    </a:lnTo>
                    <a:lnTo>
                      <a:pt x="26" y="51"/>
                    </a:lnTo>
                    <a:lnTo>
                      <a:pt x="38" y="70"/>
                    </a:lnTo>
                    <a:lnTo>
                      <a:pt x="38" y="82"/>
                    </a:lnTo>
                    <a:lnTo>
                      <a:pt x="45" y="95"/>
                    </a:lnTo>
                    <a:lnTo>
                      <a:pt x="51" y="89"/>
                    </a:lnTo>
                    <a:lnTo>
                      <a:pt x="51" y="82"/>
                    </a:lnTo>
                    <a:lnTo>
                      <a:pt x="76" y="19"/>
                    </a:lnTo>
                    <a:lnTo>
                      <a:pt x="83" y="7"/>
                    </a:lnTo>
                    <a:lnTo>
                      <a:pt x="89" y="7"/>
                    </a:lnTo>
                    <a:lnTo>
                      <a:pt x="8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5" name="Freeform 100"/>
              <p:cNvSpPr>
                <a:spLocks noEditPoints="1"/>
              </p:cNvSpPr>
              <p:nvPr/>
            </p:nvSpPr>
            <p:spPr>
              <a:xfrm>
                <a:off x="3839" y="469"/>
                <a:ext cx="51" cy="133"/>
              </a:xfrm>
              <a:custGeom>
                <a:avLst/>
                <a:gdLst>
                  <a:gd name="txL" fmla="*/ 0 w 51"/>
                  <a:gd name="txT" fmla="*/ 0 h 133"/>
                  <a:gd name="txR" fmla="*/ 51 w 51"/>
                  <a:gd name="txB" fmla="*/ 133 h 133"/>
                </a:gdLst>
                <a:ahLst/>
                <a:cxnLst>
                  <a:cxn ang="0">
                    <a:pos x="0" y="133"/>
                  </a:cxn>
                  <a:cxn ang="0">
                    <a:pos x="51" y="133"/>
                  </a:cxn>
                  <a:cxn ang="0">
                    <a:pos x="51" y="133"/>
                  </a:cxn>
                  <a:cxn ang="0">
                    <a:pos x="38" y="126"/>
                  </a:cxn>
                  <a:cxn ang="0">
                    <a:pos x="32" y="114"/>
                  </a:cxn>
                  <a:cxn ang="0">
                    <a:pos x="32" y="44"/>
                  </a:cxn>
                  <a:cxn ang="0">
                    <a:pos x="32" y="44"/>
                  </a:cxn>
                  <a:cxn ang="0">
                    <a:pos x="19" y="51"/>
                  </a:cxn>
                  <a:cxn ang="0">
                    <a:pos x="0" y="57"/>
                  </a:cxn>
                  <a:cxn ang="0">
                    <a:pos x="0" y="57"/>
                  </a:cxn>
                  <a:cxn ang="0">
                    <a:pos x="7" y="57"/>
                  </a:cxn>
                  <a:cxn ang="0">
                    <a:pos x="13" y="57"/>
                  </a:cxn>
                  <a:cxn ang="0">
                    <a:pos x="19" y="57"/>
                  </a:cxn>
                  <a:cxn ang="0">
                    <a:pos x="19" y="70"/>
                  </a:cxn>
                  <a:cxn ang="0">
                    <a:pos x="19" y="114"/>
                  </a:cxn>
                  <a:cxn ang="0">
                    <a:pos x="19" y="126"/>
                  </a:cxn>
                  <a:cxn ang="0">
                    <a:pos x="13" y="133"/>
                  </a:cxn>
                  <a:cxn ang="0">
                    <a:pos x="0" y="133"/>
                  </a:cxn>
                  <a:cxn ang="0">
                    <a:pos x="0" y="133"/>
                  </a:cxn>
                  <a:cxn ang="0">
                    <a:pos x="13" y="13"/>
                  </a:cxn>
                  <a:cxn ang="0">
                    <a:pos x="19" y="19"/>
                  </a:cxn>
                  <a:cxn ang="0">
                    <a:pos x="25" y="19"/>
                  </a:cxn>
                  <a:cxn ang="0">
                    <a:pos x="32" y="19"/>
                  </a:cxn>
                  <a:cxn ang="0">
                    <a:pos x="32" y="13"/>
                  </a:cxn>
                  <a:cxn ang="0">
                    <a:pos x="32" y="6"/>
                  </a:cxn>
                  <a:cxn ang="0">
                    <a:pos x="25" y="0"/>
                  </a:cxn>
                  <a:cxn ang="0">
                    <a:pos x="19" y="6"/>
                  </a:cxn>
                  <a:cxn ang="0">
                    <a:pos x="13" y="13"/>
                  </a:cxn>
                  <a:cxn ang="0">
                    <a:pos x="13" y="13"/>
                  </a:cxn>
                </a:cxnLst>
                <a:rect l="txL" t="txT" r="txR" b="txB"/>
                <a:pathLst>
                  <a:path w="51" h="133">
                    <a:moveTo>
                      <a:pt x="0" y="133"/>
                    </a:moveTo>
                    <a:lnTo>
                      <a:pt x="51" y="133"/>
                    </a:lnTo>
                    <a:lnTo>
                      <a:pt x="38" y="126"/>
                    </a:lnTo>
                    <a:lnTo>
                      <a:pt x="32" y="114"/>
                    </a:lnTo>
                    <a:lnTo>
                      <a:pt x="32" y="44"/>
                    </a:lnTo>
                    <a:lnTo>
                      <a:pt x="19" y="51"/>
                    </a:lnTo>
                    <a:lnTo>
                      <a:pt x="0" y="57"/>
                    </a:lnTo>
                    <a:lnTo>
                      <a:pt x="7" y="57"/>
                    </a:lnTo>
                    <a:lnTo>
                      <a:pt x="13" y="57"/>
                    </a:lnTo>
                    <a:lnTo>
                      <a:pt x="19" y="57"/>
                    </a:lnTo>
                    <a:lnTo>
                      <a:pt x="19" y="70"/>
                    </a:lnTo>
                    <a:lnTo>
                      <a:pt x="19" y="114"/>
                    </a:lnTo>
                    <a:lnTo>
                      <a:pt x="19" y="126"/>
                    </a:lnTo>
                    <a:lnTo>
                      <a:pt x="13" y="133"/>
                    </a:lnTo>
                    <a:lnTo>
                      <a:pt x="0" y="133"/>
                    </a:lnTo>
                    <a:close/>
                    <a:moveTo>
                      <a:pt x="13" y="13"/>
                    </a:moveTo>
                    <a:lnTo>
                      <a:pt x="19" y="19"/>
                    </a:lnTo>
                    <a:lnTo>
                      <a:pt x="25" y="19"/>
                    </a:lnTo>
                    <a:lnTo>
                      <a:pt x="32" y="19"/>
                    </a:lnTo>
                    <a:lnTo>
                      <a:pt x="32" y="13"/>
                    </a:lnTo>
                    <a:lnTo>
                      <a:pt x="32" y="6"/>
                    </a:lnTo>
                    <a:lnTo>
                      <a:pt x="25" y="0"/>
                    </a:lnTo>
                    <a:lnTo>
                      <a:pt x="19" y="6"/>
                    </a:lnTo>
                    <a:lnTo>
                      <a:pt x="13" y="1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6" name="Freeform 101"/>
              <p:cNvSpPr/>
              <p:nvPr/>
            </p:nvSpPr>
            <p:spPr>
              <a:xfrm>
                <a:off x="3896" y="488"/>
                <a:ext cx="51" cy="120"/>
              </a:xfrm>
              <a:custGeom>
                <a:avLst/>
                <a:gdLst>
                  <a:gd name="txL" fmla="*/ 0 w 51"/>
                  <a:gd name="txT" fmla="*/ 0 h 120"/>
                  <a:gd name="txR" fmla="*/ 51 w 51"/>
                  <a:gd name="txB" fmla="*/ 120 h 120"/>
                </a:gdLst>
                <a:ahLst/>
                <a:cxnLst>
                  <a:cxn ang="0">
                    <a:pos x="51" y="25"/>
                  </a:cxn>
                  <a:cxn ang="0">
                    <a:pos x="25" y="25"/>
                  </a:cxn>
                  <a:cxn ang="0">
                    <a:pos x="25" y="6"/>
                  </a:cxn>
                  <a:cxn ang="0">
                    <a:pos x="25" y="6"/>
                  </a:cxn>
                  <a:cxn ang="0">
                    <a:pos x="25" y="0"/>
                  </a:cxn>
                  <a:cxn ang="0">
                    <a:pos x="19" y="13"/>
                  </a:cxn>
                  <a:cxn ang="0">
                    <a:pos x="6" y="25"/>
                  </a:cxn>
                  <a:cxn ang="0">
                    <a:pos x="6" y="32"/>
                  </a:cxn>
                  <a:cxn ang="0">
                    <a:pos x="0" y="32"/>
                  </a:cxn>
                  <a:cxn ang="0">
                    <a:pos x="0" y="32"/>
                  </a:cxn>
                  <a:cxn ang="0">
                    <a:pos x="13" y="32"/>
                  </a:cxn>
                  <a:cxn ang="0">
                    <a:pos x="13" y="95"/>
                  </a:cxn>
                  <a:cxn ang="0">
                    <a:pos x="19" y="114"/>
                  </a:cxn>
                  <a:cxn ang="0">
                    <a:pos x="32" y="120"/>
                  </a:cxn>
                  <a:cxn ang="0">
                    <a:pos x="44" y="114"/>
                  </a:cxn>
                  <a:cxn ang="0">
                    <a:pos x="51" y="101"/>
                  </a:cxn>
                  <a:cxn ang="0">
                    <a:pos x="51" y="101"/>
                  </a:cxn>
                  <a:cxn ang="0">
                    <a:pos x="44" y="107"/>
                  </a:cxn>
                  <a:cxn ang="0">
                    <a:pos x="38" y="107"/>
                  </a:cxn>
                  <a:cxn ang="0">
                    <a:pos x="25" y="101"/>
                  </a:cxn>
                  <a:cxn ang="0">
                    <a:pos x="25" y="88"/>
                  </a:cxn>
                  <a:cxn ang="0">
                    <a:pos x="25" y="32"/>
                  </a:cxn>
                  <a:cxn ang="0">
                    <a:pos x="51" y="32"/>
                  </a:cxn>
                  <a:cxn ang="0">
                    <a:pos x="51" y="25"/>
                  </a:cxn>
                </a:cxnLst>
                <a:rect l="txL" t="txT" r="txR" b="txB"/>
                <a:pathLst>
                  <a:path w="51" h="120">
                    <a:moveTo>
                      <a:pt x="51" y="25"/>
                    </a:moveTo>
                    <a:lnTo>
                      <a:pt x="25" y="25"/>
                    </a:lnTo>
                    <a:lnTo>
                      <a:pt x="25" y="6"/>
                    </a:lnTo>
                    <a:lnTo>
                      <a:pt x="25" y="0"/>
                    </a:lnTo>
                    <a:lnTo>
                      <a:pt x="19" y="13"/>
                    </a:lnTo>
                    <a:lnTo>
                      <a:pt x="6" y="25"/>
                    </a:lnTo>
                    <a:lnTo>
                      <a:pt x="6" y="32"/>
                    </a:lnTo>
                    <a:lnTo>
                      <a:pt x="0" y="32"/>
                    </a:lnTo>
                    <a:lnTo>
                      <a:pt x="13" y="32"/>
                    </a:lnTo>
                    <a:lnTo>
                      <a:pt x="13" y="95"/>
                    </a:lnTo>
                    <a:lnTo>
                      <a:pt x="19" y="114"/>
                    </a:lnTo>
                    <a:lnTo>
                      <a:pt x="32" y="120"/>
                    </a:lnTo>
                    <a:lnTo>
                      <a:pt x="44" y="114"/>
                    </a:lnTo>
                    <a:lnTo>
                      <a:pt x="51" y="101"/>
                    </a:lnTo>
                    <a:lnTo>
                      <a:pt x="44" y="107"/>
                    </a:lnTo>
                    <a:lnTo>
                      <a:pt x="38" y="107"/>
                    </a:lnTo>
                    <a:lnTo>
                      <a:pt x="25" y="101"/>
                    </a:lnTo>
                    <a:lnTo>
                      <a:pt x="25" y="88"/>
                    </a:lnTo>
                    <a:lnTo>
                      <a:pt x="25" y="32"/>
                    </a:lnTo>
                    <a:lnTo>
                      <a:pt x="51" y="32"/>
                    </a:lnTo>
                    <a:lnTo>
                      <a:pt x="51" y="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7" name="Freeform 102"/>
              <p:cNvSpPr/>
              <p:nvPr/>
            </p:nvSpPr>
            <p:spPr>
              <a:xfrm>
                <a:off x="3953" y="513"/>
                <a:ext cx="88" cy="133"/>
              </a:xfrm>
              <a:custGeom>
                <a:avLst/>
                <a:gdLst>
                  <a:gd name="txL" fmla="*/ 0 w 88"/>
                  <a:gd name="txT" fmla="*/ 0 h 133"/>
                  <a:gd name="txR" fmla="*/ 88 w 88"/>
                  <a:gd name="txB" fmla="*/ 133 h 133"/>
                </a:gdLst>
                <a:ahLst/>
                <a:cxnLst>
                  <a:cxn ang="0">
                    <a:pos x="88" y="0"/>
                  </a:cxn>
                  <a:cxn ang="0">
                    <a:pos x="63" y="0"/>
                  </a:cxn>
                  <a:cxn ang="0">
                    <a:pos x="63" y="7"/>
                  </a:cxn>
                  <a:cxn ang="0">
                    <a:pos x="69" y="7"/>
                  </a:cxn>
                  <a:cxn ang="0">
                    <a:pos x="69" y="13"/>
                  </a:cxn>
                  <a:cxn ang="0">
                    <a:pos x="69" y="19"/>
                  </a:cxn>
                  <a:cxn ang="0">
                    <a:pos x="69" y="26"/>
                  </a:cxn>
                  <a:cxn ang="0">
                    <a:pos x="50" y="70"/>
                  </a:cxn>
                  <a:cxn ang="0">
                    <a:pos x="32" y="19"/>
                  </a:cxn>
                  <a:cxn ang="0">
                    <a:pos x="32" y="19"/>
                  </a:cxn>
                  <a:cxn ang="0">
                    <a:pos x="25" y="13"/>
                  </a:cxn>
                  <a:cxn ang="0">
                    <a:pos x="32" y="7"/>
                  </a:cxn>
                  <a:cxn ang="0">
                    <a:pos x="38" y="7"/>
                  </a:cxn>
                  <a:cxn ang="0">
                    <a:pos x="38" y="0"/>
                  </a:cxn>
                  <a:cxn ang="0">
                    <a:pos x="0" y="0"/>
                  </a:cxn>
                  <a:cxn ang="0">
                    <a:pos x="0" y="7"/>
                  </a:cxn>
                  <a:cxn ang="0">
                    <a:pos x="6" y="7"/>
                  </a:cxn>
                  <a:cxn ang="0">
                    <a:pos x="6" y="13"/>
                  </a:cxn>
                  <a:cxn ang="0">
                    <a:pos x="32" y="57"/>
                  </a:cxn>
                  <a:cxn ang="0">
                    <a:pos x="38" y="76"/>
                  </a:cxn>
                  <a:cxn ang="0">
                    <a:pos x="44" y="89"/>
                  </a:cxn>
                  <a:cxn ang="0">
                    <a:pos x="44" y="95"/>
                  </a:cxn>
                  <a:cxn ang="0">
                    <a:pos x="38" y="108"/>
                  </a:cxn>
                  <a:cxn ang="0">
                    <a:pos x="32" y="114"/>
                  </a:cxn>
                  <a:cxn ang="0">
                    <a:pos x="25" y="120"/>
                  </a:cxn>
                  <a:cxn ang="0">
                    <a:pos x="19" y="120"/>
                  </a:cxn>
                  <a:cxn ang="0">
                    <a:pos x="13" y="114"/>
                  </a:cxn>
                  <a:cxn ang="0">
                    <a:pos x="0" y="120"/>
                  </a:cxn>
                  <a:cxn ang="0">
                    <a:pos x="0" y="120"/>
                  </a:cxn>
                  <a:cxn ang="0">
                    <a:pos x="6" y="126"/>
                  </a:cxn>
                  <a:cxn ang="0">
                    <a:pos x="13" y="133"/>
                  </a:cxn>
                  <a:cxn ang="0">
                    <a:pos x="32" y="126"/>
                  </a:cxn>
                  <a:cxn ang="0">
                    <a:pos x="50" y="95"/>
                  </a:cxn>
                  <a:cxn ang="0">
                    <a:pos x="82" y="13"/>
                  </a:cxn>
                  <a:cxn ang="0">
                    <a:pos x="88" y="7"/>
                  </a:cxn>
                  <a:cxn ang="0">
                    <a:pos x="88" y="7"/>
                  </a:cxn>
                  <a:cxn ang="0">
                    <a:pos x="88" y="0"/>
                  </a:cxn>
                </a:cxnLst>
                <a:rect l="txL" t="txT" r="txR" b="txB"/>
                <a:pathLst>
                  <a:path w="88" h="133">
                    <a:moveTo>
                      <a:pt x="88" y="0"/>
                    </a:moveTo>
                    <a:lnTo>
                      <a:pt x="63" y="0"/>
                    </a:lnTo>
                    <a:lnTo>
                      <a:pt x="63" y="7"/>
                    </a:lnTo>
                    <a:lnTo>
                      <a:pt x="69" y="7"/>
                    </a:lnTo>
                    <a:lnTo>
                      <a:pt x="69" y="13"/>
                    </a:lnTo>
                    <a:lnTo>
                      <a:pt x="69" y="19"/>
                    </a:lnTo>
                    <a:lnTo>
                      <a:pt x="69" y="26"/>
                    </a:lnTo>
                    <a:lnTo>
                      <a:pt x="50" y="70"/>
                    </a:lnTo>
                    <a:lnTo>
                      <a:pt x="32" y="19"/>
                    </a:lnTo>
                    <a:lnTo>
                      <a:pt x="25" y="13"/>
                    </a:lnTo>
                    <a:lnTo>
                      <a:pt x="32" y="7"/>
                    </a:lnTo>
                    <a:lnTo>
                      <a:pt x="38" y="7"/>
                    </a:lnTo>
                    <a:lnTo>
                      <a:pt x="38" y="0"/>
                    </a:lnTo>
                    <a:lnTo>
                      <a:pt x="0" y="0"/>
                    </a:lnTo>
                    <a:lnTo>
                      <a:pt x="0" y="7"/>
                    </a:lnTo>
                    <a:lnTo>
                      <a:pt x="6" y="7"/>
                    </a:lnTo>
                    <a:lnTo>
                      <a:pt x="6" y="13"/>
                    </a:lnTo>
                    <a:lnTo>
                      <a:pt x="32" y="57"/>
                    </a:lnTo>
                    <a:lnTo>
                      <a:pt x="38" y="76"/>
                    </a:lnTo>
                    <a:lnTo>
                      <a:pt x="44" y="89"/>
                    </a:lnTo>
                    <a:lnTo>
                      <a:pt x="44" y="95"/>
                    </a:lnTo>
                    <a:lnTo>
                      <a:pt x="38" y="108"/>
                    </a:lnTo>
                    <a:lnTo>
                      <a:pt x="32" y="114"/>
                    </a:lnTo>
                    <a:lnTo>
                      <a:pt x="25" y="120"/>
                    </a:lnTo>
                    <a:lnTo>
                      <a:pt x="19" y="120"/>
                    </a:lnTo>
                    <a:lnTo>
                      <a:pt x="13" y="114"/>
                    </a:lnTo>
                    <a:lnTo>
                      <a:pt x="0" y="120"/>
                    </a:lnTo>
                    <a:lnTo>
                      <a:pt x="6" y="126"/>
                    </a:lnTo>
                    <a:lnTo>
                      <a:pt x="13" y="133"/>
                    </a:lnTo>
                    <a:lnTo>
                      <a:pt x="32" y="126"/>
                    </a:lnTo>
                    <a:lnTo>
                      <a:pt x="50" y="95"/>
                    </a:lnTo>
                    <a:lnTo>
                      <a:pt x="82" y="13"/>
                    </a:lnTo>
                    <a:lnTo>
                      <a:pt x="88" y="7"/>
                    </a:lnTo>
                    <a:lnTo>
                      <a:pt x="8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8" name="Freeform 103"/>
              <p:cNvSpPr>
                <a:spLocks noEditPoints="1"/>
              </p:cNvSpPr>
              <p:nvPr/>
            </p:nvSpPr>
            <p:spPr>
              <a:xfrm>
                <a:off x="4105" y="501"/>
                <a:ext cx="94" cy="107"/>
              </a:xfrm>
              <a:custGeom>
                <a:avLst/>
                <a:gdLst>
                  <a:gd name="txL" fmla="*/ 0 w 94"/>
                  <a:gd name="txT" fmla="*/ 0 h 107"/>
                  <a:gd name="txR" fmla="*/ 94 w 94"/>
                  <a:gd name="txB" fmla="*/ 107 h 107"/>
                </a:gdLst>
                <a:ahLst/>
                <a:cxnLst>
                  <a:cxn ang="0">
                    <a:pos x="75" y="69"/>
                  </a:cxn>
                  <a:cxn ang="0">
                    <a:pos x="69" y="82"/>
                  </a:cxn>
                  <a:cxn ang="0">
                    <a:pos x="50" y="88"/>
                  </a:cxn>
                  <a:cxn ang="0">
                    <a:pos x="25" y="82"/>
                  </a:cxn>
                  <a:cxn ang="0">
                    <a:pos x="19" y="75"/>
                  </a:cxn>
                  <a:cxn ang="0">
                    <a:pos x="19" y="56"/>
                  </a:cxn>
                  <a:cxn ang="0">
                    <a:pos x="94" y="56"/>
                  </a:cxn>
                  <a:cxn ang="0">
                    <a:pos x="94" y="31"/>
                  </a:cxn>
                  <a:cxn ang="0">
                    <a:pos x="82" y="12"/>
                  </a:cxn>
                  <a:cxn ang="0">
                    <a:pos x="69" y="6"/>
                  </a:cxn>
                  <a:cxn ang="0">
                    <a:pos x="50" y="0"/>
                  </a:cxn>
                  <a:cxn ang="0">
                    <a:pos x="25" y="6"/>
                  </a:cxn>
                  <a:cxn ang="0">
                    <a:pos x="12" y="19"/>
                  </a:cxn>
                  <a:cxn ang="0">
                    <a:pos x="0" y="38"/>
                  </a:cxn>
                  <a:cxn ang="0">
                    <a:pos x="0" y="56"/>
                  </a:cxn>
                  <a:cxn ang="0">
                    <a:pos x="6" y="75"/>
                  </a:cxn>
                  <a:cxn ang="0">
                    <a:pos x="12" y="94"/>
                  </a:cxn>
                  <a:cxn ang="0">
                    <a:pos x="25" y="101"/>
                  </a:cxn>
                  <a:cxn ang="0">
                    <a:pos x="44" y="107"/>
                  </a:cxn>
                  <a:cxn ang="0">
                    <a:pos x="63" y="107"/>
                  </a:cxn>
                  <a:cxn ang="0">
                    <a:pos x="75" y="101"/>
                  </a:cxn>
                  <a:cxn ang="0">
                    <a:pos x="88" y="82"/>
                  </a:cxn>
                  <a:cxn ang="0">
                    <a:pos x="94" y="69"/>
                  </a:cxn>
                  <a:cxn ang="0">
                    <a:pos x="75" y="69"/>
                  </a:cxn>
                  <a:cxn ang="0">
                    <a:pos x="19" y="44"/>
                  </a:cxn>
                  <a:cxn ang="0">
                    <a:pos x="25" y="19"/>
                  </a:cxn>
                  <a:cxn ang="0">
                    <a:pos x="44" y="12"/>
                  </a:cxn>
                  <a:cxn ang="0">
                    <a:pos x="63" y="12"/>
                  </a:cxn>
                  <a:cxn ang="0">
                    <a:pos x="69" y="19"/>
                  </a:cxn>
                  <a:cxn ang="0">
                    <a:pos x="75" y="44"/>
                  </a:cxn>
                  <a:cxn ang="0">
                    <a:pos x="19" y="44"/>
                  </a:cxn>
                </a:cxnLst>
                <a:rect l="txL" t="txT" r="txR" b="txB"/>
                <a:pathLst>
                  <a:path w="94" h="107">
                    <a:moveTo>
                      <a:pt x="75" y="69"/>
                    </a:moveTo>
                    <a:lnTo>
                      <a:pt x="69" y="82"/>
                    </a:lnTo>
                    <a:lnTo>
                      <a:pt x="50" y="88"/>
                    </a:lnTo>
                    <a:lnTo>
                      <a:pt x="25" y="82"/>
                    </a:lnTo>
                    <a:lnTo>
                      <a:pt x="19" y="75"/>
                    </a:lnTo>
                    <a:lnTo>
                      <a:pt x="19" y="56"/>
                    </a:lnTo>
                    <a:lnTo>
                      <a:pt x="94" y="56"/>
                    </a:lnTo>
                    <a:lnTo>
                      <a:pt x="94" y="31"/>
                    </a:lnTo>
                    <a:lnTo>
                      <a:pt x="82" y="12"/>
                    </a:lnTo>
                    <a:lnTo>
                      <a:pt x="69" y="6"/>
                    </a:lnTo>
                    <a:lnTo>
                      <a:pt x="50" y="0"/>
                    </a:lnTo>
                    <a:lnTo>
                      <a:pt x="25" y="6"/>
                    </a:lnTo>
                    <a:lnTo>
                      <a:pt x="12" y="19"/>
                    </a:lnTo>
                    <a:lnTo>
                      <a:pt x="0" y="38"/>
                    </a:lnTo>
                    <a:lnTo>
                      <a:pt x="0" y="56"/>
                    </a:lnTo>
                    <a:lnTo>
                      <a:pt x="6" y="75"/>
                    </a:lnTo>
                    <a:lnTo>
                      <a:pt x="12" y="94"/>
                    </a:lnTo>
                    <a:lnTo>
                      <a:pt x="25" y="101"/>
                    </a:lnTo>
                    <a:lnTo>
                      <a:pt x="44" y="107"/>
                    </a:lnTo>
                    <a:lnTo>
                      <a:pt x="63" y="107"/>
                    </a:lnTo>
                    <a:lnTo>
                      <a:pt x="75" y="101"/>
                    </a:lnTo>
                    <a:lnTo>
                      <a:pt x="88" y="82"/>
                    </a:lnTo>
                    <a:lnTo>
                      <a:pt x="94" y="69"/>
                    </a:lnTo>
                    <a:lnTo>
                      <a:pt x="75" y="69"/>
                    </a:lnTo>
                    <a:close/>
                    <a:moveTo>
                      <a:pt x="19" y="44"/>
                    </a:moveTo>
                    <a:lnTo>
                      <a:pt x="25" y="19"/>
                    </a:lnTo>
                    <a:lnTo>
                      <a:pt x="44" y="12"/>
                    </a:lnTo>
                    <a:lnTo>
                      <a:pt x="63" y="12"/>
                    </a:lnTo>
                    <a:lnTo>
                      <a:pt x="69" y="19"/>
                    </a:lnTo>
                    <a:lnTo>
                      <a:pt x="75" y="44"/>
                    </a:lnTo>
                    <a:lnTo>
                      <a:pt x="19" y="4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599" name="Freeform 104"/>
              <p:cNvSpPr/>
              <p:nvPr/>
            </p:nvSpPr>
            <p:spPr>
              <a:xfrm>
                <a:off x="2759" y="3623"/>
                <a:ext cx="297" cy="1"/>
              </a:xfrm>
              <a:custGeom>
                <a:avLst/>
                <a:gdLst>
                  <a:gd name="txL" fmla="*/ 0 w 297"/>
                  <a:gd name="txT" fmla="*/ 0 h 1"/>
                  <a:gd name="txR" fmla="*/ 297 w 297"/>
                  <a:gd name="txB" fmla="*/ 1 h 1"/>
                </a:gdLst>
                <a:ahLst/>
                <a:cxnLst>
                  <a:cxn ang="0">
                    <a:pos x="0" y="0"/>
                  </a:cxn>
                  <a:cxn ang="0">
                    <a:pos x="297" y="0"/>
                  </a:cxn>
                  <a:cxn ang="0">
                    <a:pos x="0" y="0"/>
                  </a:cxn>
                  <a:cxn ang="0">
                    <a:pos x="0" y="0"/>
                  </a:cxn>
                </a:cxnLst>
                <a:rect l="txL" t="txT" r="txR" b="txB"/>
                <a:pathLst>
                  <a:path w="297" h="1">
                    <a:moveTo>
                      <a:pt x="0" y="0"/>
                    </a:moveTo>
                    <a:lnTo>
                      <a:pt x="297"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600" name="Freeform 105"/>
              <p:cNvSpPr/>
              <p:nvPr/>
            </p:nvSpPr>
            <p:spPr>
              <a:xfrm>
                <a:off x="3037" y="3598"/>
                <a:ext cx="101" cy="50"/>
              </a:xfrm>
              <a:custGeom>
                <a:avLst/>
                <a:gdLst>
                  <a:gd name="txL" fmla="*/ 0 w 101"/>
                  <a:gd name="txT" fmla="*/ 0 h 50"/>
                  <a:gd name="txR" fmla="*/ 101 w 101"/>
                  <a:gd name="txB" fmla="*/ 50 h 50"/>
                </a:gdLst>
                <a:ahLst/>
                <a:cxnLst>
                  <a:cxn ang="0">
                    <a:pos x="0" y="50"/>
                  </a:cxn>
                  <a:cxn ang="0">
                    <a:pos x="101" y="25"/>
                  </a:cxn>
                  <a:cxn ang="0">
                    <a:pos x="0" y="0"/>
                  </a:cxn>
                  <a:cxn ang="0">
                    <a:pos x="0" y="50"/>
                  </a:cxn>
                  <a:cxn ang="0">
                    <a:pos x="0" y="50"/>
                  </a:cxn>
                </a:cxnLst>
                <a:rect l="txL" t="txT" r="txR" b="txB"/>
                <a:pathLst>
                  <a:path w="101" h="50">
                    <a:moveTo>
                      <a:pt x="0" y="50"/>
                    </a:moveTo>
                    <a:lnTo>
                      <a:pt x="101" y="25"/>
                    </a:lnTo>
                    <a:lnTo>
                      <a:pt x="0" y="0"/>
                    </a:lnTo>
                    <a:lnTo>
                      <a:pt x="0" y="5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601" name="Freeform 106"/>
              <p:cNvSpPr/>
              <p:nvPr/>
            </p:nvSpPr>
            <p:spPr>
              <a:xfrm>
                <a:off x="2683" y="3598"/>
                <a:ext cx="101" cy="50"/>
              </a:xfrm>
              <a:custGeom>
                <a:avLst/>
                <a:gdLst>
                  <a:gd name="txL" fmla="*/ 0 w 101"/>
                  <a:gd name="txT" fmla="*/ 0 h 50"/>
                  <a:gd name="txR" fmla="*/ 101 w 101"/>
                  <a:gd name="txB" fmla="*/ 50 h 50"/>
                </a:gdLst>
                <a:ahLst/>
                <a:cxnLst>
                  <a:cxn ang="0">
                    <a:pos x="101" y="0"/>
                  </a:cxn>
                  <a:cxn ang="0">
                    <a:pos x="0" y="25"/>
                  </a:cxn>
                  <a:cxn ang="0">
                    <a:pos x="101" y="50"/>
                  </a:cxn>
                  <a:cxn ang="0">
                    <a:pos x="101" y="0"/>
                  </a:cxn>
                  <a:cxn ang="0">
                    <a:pos x="101" y="0"/>
                  </a:cxn>
                </a:cxnLst>
                <a:rect l="txL" t="txT" r="txR" b="txB"/>
                <a:pathLst>
                  <a:path w="101" h="50">
                    <a:moveTo>
                      <a:pt x="101" y="0"/>
                    </a:moveTo>
                    <a:lnTo>
                      <a:pt x="0" y="25"/>
                    </a:lnTo>
                    <a:lnTo>
                      <a:pt x="101" y="50"/>
                    </a:lnTo>
                    <a:lnTo>
                      <a:pt x="101"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9602" name="Freeform 107"/>
              <p:cNvSpPr/>
              <p:nvPr/>
            </p:nvSpPr>
            <p:spPr>
              <a:xfrm>
                <a:off x="1306" y="2090"/>
                <a:ext cx="76" cy="82"/>
              </a:xfrm>
              <a:custGeom>
                <a:avLst/>
                <a:gdLst>
                  <a:gd name="txL" fmla="*/ 0 w 76"/>
                  <a:gd name="txT" fmla="*/ 0 h 82"/>
                  <a:gd name="txR" fmla="*/ 76 w 76"/>
                  <a:gd name="txB" fmla="*/ 82 h 82"/>
                </a:gdLst>
                <a:ahLst/>
                <a:cxnLst>
                  <a:cxn ang="0">
                    <a:pos x="38" y="82"/>
                  </a:cxn>
                  <a:cxn ang="0">
                    <a:pos x="51" y="82"/>
                  </a:cxn>
                  <a:cxn ang="0">
                    <a:pos x="63" y="70"/>
                  </a:cxn>
                  <a:cxn ang="0">
                    <a:pos x="76" y="57"/>
                  </a:cxn>
                  <a:cxn ang="0">
                    <a:pos x="76" y="38"/>
                  </a:cxn>
                  <a:cxn ang="0">
                    <a:pos x="76" y="25"/>
                  </a:cxn>
                  <a:cxn ang="0">
                    <a:pos x="63" y="13"/>
                  </a:cxn>
                  <a:cxn ang="0">
                    <a:pos x="51" y="7"/>
                  </a:cxn>
                  <a:cxn ang="0">
                    <a:pos x="38" y="0"/>
                  </a:cxn>
                  <a:cxn ang="0">
                    <a:pos x="19" y="7"/>
                  </a:cxn>
                  <a:cxn ang="0">
                    <a:pos x="13" y="13"/>
                  </a:cxn>
                  <a:cxn ang="0">
                    <a:pos x="0" y="38"/>
                  </a:cxn>
                  <a:cxn ang="0">
                    <a:pos x="13" y="70"/>
                  </a:cxn>
                  <a:cxn ang="0">
                    <a:pos x="19" y="82"/>
                  </a:cxn>
                  <a:cxn ang="0">
                    <a:pos x="38" y="82"/>
                  </a:cxn>
                  <a:cxn ang="0">
                    <a:pos x="38" y="82"/>
                  </a:cxn>
                </a:cxnLst>
                <a:rect l="txL" t="txT" r="txR" b="txB"/>
                <a:pathLst>
                  <a:path w="76" h="82">
                    <a:moveTo>
                      <a:pt x="38" y="82"/>
                    </a:moveTo>
                    <a:lnTo>
                      <a:pt x="51" y="82"/>
                    </a:lnTo>
                    <a:lnTo>
                      <a:pt x="63" y="70"/>
                    </a:lnTo>
                    <a:lnTo>
                      <a:pt x="76" y="57"/>
                    </a:lnTo>
                    <a:lnTo>
                      <a:pt x="76" y="38"/>
                    </a:lnTo>
                    <a:lnTo>
                      <a:pt x="76" y="25"/>
                    </a:lnTo>
                    <a:lnTo>
                      <a:pt x="63" y="13"/>
                    </a:lnTo>
                    <a:lnTo>
                      <a:pt x="51" y="7"/>
                    </a:lnTo>
                    <a:lnTo>
                      <a:pt x="38" y="0"/>
                    </a:lnTo>
                    <a:lnTo>
                      <a:pt x="19" y="7"/>
                    </a:lnTo>
                    <a:lnTo>
                      <a:pt x="13" y="13"/>
                    </a:lnTo>
                    <a:lnTo>
                      <a:pt x="0" y="38"/>
                    </a:lnTo>
                    <a:lnTo>
                      <a:pt x="13" y="70"/>
                    </a:lnTo>
                    <a:lnTo>
                      <a:pt x="19" y="82"/>
                    </a:lnTo>
                    <a:lnTo>
                      <a:pt x="38" y="8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pic>
          <p:nvPicPr>
            <p:cNvPr id="19513" name="图片 7"/>
            <p:cNvPicPr>
              <a:picLocks noChangeAspect="1"/>
            </p:cNvPicPr>
            <p:nvPr/>
          </p:nvPicPr>
          <p:blipFill>
            <a:blip r:embed="rId2"/>
            <a:stretch>
              <a:fillRect/>
            </a:stretch>
          </p:blipFill>
          <p:spPr>
            <a:xfrm>
              <a:off x="5805885" y="2453737"/>
              <a:ext cx="2421556" cy="412220"/>
            </a:xfrm>
            <a:prstGeom prst="rect">
              <a:avLst/>
            </a:prstGeom>
            <a:noFill/>
            <a:ln w="9525">
              <a:noFill/>
            </a:ln>
          </p:spPr>
        </p:pic>
      </p:grpSp>
      <p:sp>
        <p:nvSpPr>
          <p:cNvPr id="19459" name="Rectangle 2"/>
          <p:cNvSpPr>
            <a:spLocks noGrp="1"/>
          </p:cNvSpPr>
          <p:nvPr>
            <p:ph type="title"/>
          </p:nvPr>
        </p:nvSpPr>
        <p:spPr>
          <a:xfrm>
            <a:off x="468313" y="476250"/>
            <a:ext cx="4402137" cy="1027113"/>
          </a:xfrm>
        </p:spPr>
        <p:txBody>
          <a:bodyPr vert="horz" wrap="square" lIns="91440" tIns="45720" rIns="91440" bIns="45720" anchor="ctr" anchorCtr="0"/>
          <a:lstStyle/>
          <a:p>
            <a:pPr eaLnBrk="1" hangingPunct="1"/>
            <a:r>
              <a:rPr lang="en-US" altLang="zh-CN" dirty="0"/>
              <a:t> </a:t>
            </a:r>
          </a:p>
        </p:txBody>
      </p:sp>
      <p:sp>
        <p:nvSpPr>
          <p:cNvPr id="19460" name="Rectangle 3"/>
          <p:cNvSpPr>
            <a:spLocks noGrp="1"/>
          </p:cNvSpPr>
          <p:nvPr>
            <p:ph idx="1"/>
          </p:nvPr>
        </p:nvSpPr>
        <p:spPr>
          <a:xfrm>
            <a:off x="395288" y="333375"/>
            <a:ext cx="8137525" cy="720725"/>
          </a:xfrm>
        </p:spPr>
        <p:txBody>
          <a:bodyPr vert="horz" wrap="square" lIns="91440" tIns="45720" rIns="91440" bIns="45720" anchor="t" anchorCtr="0"/>
          <a:lstStyle/>
          <a:p>
            <a:pPr eaLnBrk="1" hangingPunct="1">
              <a:buNone/>
            </a:pPr>
            <a:r>
              <a:rPr lang="en-US" altLang="zh-CN" sz="4400" b="1" dirty="0">
                <a:solidFill>
                  <a:srgbClr val="0000FF"/>
                </a:solidFill>
                <a:latin typeface="Franklin Gothic Medium" panose="020B0603020102020204" pitchFamily="34" charset="0"/>
              </a:rPr>
              <a:t>6.2 </a:t>
            </a:r>
            <a:r>
              <a:rPr lang="zh-CN" altLang="en-US" sz="4400" b="1" dirty="0">
                <a:solidFill>
                  <a:srgbClr val="0000FF"/>
                </a:solidFill>
                <a:latin typeface="Franklin Gothic Medium" panose="020B0603020102020204" pitchFamily="34" charset="0"/>
              </a:rPr>
              <a:t>电容</a:t>
            </a:r>
            <a:endParaRPr lang="en-US" altLang="zh-CN" sz="4400" b="1" dirty="0">
              <a:solidFill>
                <a:srgbClr val="0000FF"/>
              </a:solidFill>
              <a:latin typeface="Franklin Gothic Medium" panose="020B0603020102020204" pitchFamily="34" charset="0"/>
            </a:endParaRPr>
          </a:p>
        </p:txBody>
      </p:sp>
      <p:sp>
        <p:nvSpPr>
          <p:cNvPr id="19461" name="Text Box 10"/>
          <p:cNvSpPr txBox="1"/>
          <p:nvPr/>
        </p:nvSpPr>
        <p:spPr>
          <a:xfrm>
            <a:off x="468313" y="1341438"/>
            <a:ext cx="8280400" cy="461962"/>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一个</a:t>
            </a:r>
            <a:r>
              <a:rPr lang="zh-CN" altLang="en-US" sz="2400" b="1" dirty="0">
                <a:solidFill>
                  <a:srgbClr val="FF0000"/>
                </a:solidFill>
                <a:latin typeface="Arial Black" panose="020B0A04020102020204" pitchFamily="34" charset="0"/>
                <a:cs typeface="Arial" panose="020B0604020202020204" pitchFamily="34" charset="0"/>
              </a:rPr>
              <a:t>电容</a:t>
            </a:r>
            <a:r>
              <a:rPr lang="zh-CN" altLang="en-US" sz="2400" b="1" dirty="0">
                <a:latin typeface="Arial Black" panose="020B0A04020102020204" pitchFamily="34" charset="0"/>
                <a:cs typeface="Arial" panose="020B0604020202020204" pitchFamily="34" charset="0"/>
              </a:rPr>
              <a:t>包括两个极板，中间由绝缘体（或电介质）隔开。</a:t>
            </a:r>
            <a:endParaRPr lang="en-US" altLang="zh-CN" sz="2400" b="1" dirty="0">
              <a:latin typeface="Arial Black" panose="020B0A04020102020204" pitchFamily="34" charset="0"/>
              <a:ea typeface="Arial" panose="020B0604020202020204" pitchFamily="34" charset="0"/>
            </a:endParaRPr>
          </a:p>
        </p:txBody>
      </p:sp>
      <p:grpSp>
        <p:nvGrpSpPr>
          <p:cNvPr id="19462" name="Group 158"/>
          <p:cNvGrpSpPr/>
          <p:nvPr/>
        </p:nvGrpSpPr>
        <p:grpSpPr>
          <a:xfrm>
            <a:off x="395288" y="2997200"/>
            <a:ext cx="3525837" cy="2728913"/>
            <a:chOff x="748" y="1797"/>
            <a:chExt cx="1860" cy="1620"/>
          </a:xfrm>
        </p:grpSpPr>
        <p:sp>
          <p:nvSpPr>
            <p:cNvPr id="19467" name="Text Box 154"/>
            <p:cNvSpPr txBox="1"/>
            <p:nvPr/>
          </p:nvSpPr>
          <p:spPr>
            <a:xfrm>
              <a:off x="884" y="2160"/>
              <a:ext cx="363" cy="27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Monotype Corsiva" panose="03010101010201010101" pitchFamily="66" charset="0"/>
                  <a:cs typeface="Arial" panose="020B0604020202020204" pitchFamily="34" charset="0"/>
                </a:rPr>
                <a:t>+q</a:t>
              </a:r>
              <a:endParaRPr lang="en-US" altLang="zh-CN" sz="2400" b="1" dirty="0">
                <a:latin typeface="Monotype Corsiva" panose="03010101010201010101" pitchFamily="66" charset="0"/>
                <a:ea typeface="Arial" panose="020B0604020202020204" pitchFamily="34" charset="0"/>
              </a:endParaRPr>
            </a:p>
          </p:txBody>
        </p:sp>
        <p:sp>
          <p:nvSpPr>
            <p:cNvPr id="19468" name="Text Box 155"/>
            <p:cNvSpPr txBox="1"/>
            <p:nvPr/>
          </p:nvSpPr>
          <p:spPr>
            <a:xfrm>
              <a:off x="2154" y="2160"/>
              <a:ext cx="363" cy="27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-q</a:t>
              </a:r>
              <a:endParaRPr lang="en-US" altLang="zh-CN" sz="2400" b="1" dirty="0">
                <a:ea typeface="Arial" panose="020B0604020202020204" pitchFamily="34" charset="0"/>
              </a:endParaRPr>
            </a:p>
          </p:txBody>
        </p:sp>
        <p:grpSp>
          <p:nvGrpSpPr>
            <p:cNvPr id="19469" name="Group 153"/>
            <p:cNvGrpSpPr/>
            <p:nvPr/>
          </p:nvGrpSpPr>
          <p:grpSpPr>
            <a:xfrm>
              <a:off x="748" y="1797"/>
              <a:ext cx="1860" cy="1620"/>
              <a:chOff x="748" y="1797"/>
              <a:chExt cx="1860" cy="1620"/>
            </a:xfrm>
          </p:grpSpPr>
          <p:grpSp>
            <p:nvGrpSpPr>
              <p:cNvPr id="19470" name="Group 134"/>
              <p:cNvGrpSpPr/>
              <p:nvPr/>
            </p:nvGrpSpPr>
            <p:grpSpPr>
              <a:xfrm>
                <a:off x="1383" y="1797"/>
                <a:ext cx="771" cy="771"/>
                <a:chOff x="1429" y="1797"/>
                <a:chExt cx="771" cy="771"/>
              </a:xfrm>
            </p:grpSpPr>
            <p:sp>
              <p:nvSpPr>
                <p:cNvPr id="19508" name="AutoShape 111"/>
                <p:cNvSpPr/>
                <p:nvPr/>
              </p:nvSpPr>
              <p:spPr>
                <a:xfrm rot="-10800000" flipV="1">
                  <a:off x="1429" y="1797"/>
                  <a:ext cx="771" cy="771"/>
                </a:xfrm>
                <a:prstGeom prst="parallelogram">
                  <a:avLst>
                    <a:gd name="adj" fmla="val 25000"/>
                  </a:avLst>
                </a:prstGeom>
                <a:solidFill>
                  <a:srgbClr val="969696"/>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19509" name="Line 130"/>
                <p:cNvSpPr/>
                <p:nvPr/>
              </p:nvSpPr>
              <p:spPr>
                <a:xfrm>
                  <a:off x="1837" y="1979"/>
                  <a:ext cx="136" cy="0"/>
                </a:xfrm>
                <a:prstGeom prst="line">
                  <a:avLst/>
                </a:prstGeom>
                <a:ln w="38100" cap="flat" cmpd="sng">
                  <a:solidFill>
                    <a:schemeClr val="tx1"/>
                  </a:solidFill>
                  <a:prstDash val="solid"/>
                  <a:headEnd type="none" w="med" len="med"/>
                  <a:tailEnd type="none" w="med" len="med"/>
                </a:ln>
              </p:spPr>
            </p:sp>
            <p:sp>
              <p:nvSpPr>
                <p:cNvPr id="19510" name="Line 132"/>
                <p:cNvSpPr/>
                <p:nvPr/>
              </p:nvSpPr>
              <p:spPr>
                <a:xfrm>
                  <a:off x="1882" y="2205"/>
                  <a:ext cx="136" cy="0"/>
                </a:xfrm>
                <a:prstGeom prst="line">
                  <a:avLst/>
                </a:prstGeom>
                <a:ln w="38100" cap="flat" cmpd="sng">
                  <a:solidFill>
                    <a:schemeClr val="tx1"/>
                  </a:solidFill>
                  <a:prstDash val="solid"/>
                  <a:headEnd type="none" w="med" len="med"/>
                  <a:tailEnd type="none" w="med" len="med"/>
                </a:ln>
              </p:spPr>
            </p:sp>
            <p:sp>
              <p:nvSpPr>
                <p:cNvPr id="19511" name="Line 133"/>
                <p:cNvSpPr/>
                <p:nvPr/>
              </p:nvSpPr>
              <p:spPr>
                <a:xfrm>
                  <a:off x="1927" y="2387"/>
                  <a:ext cx="136" cy="0"/>
                </a:xfrm>
                <a:prstGeom prst="line">
                  <a:avLst/>
                </a:prstGeom>
                <a:ln w="38100" cap="flat" cmpd="sng">
                  <a:solidFill>
                    <a:schemeClr val="tx1"/>
                  </a:solidFill>
                  <a:prstDash val="solid"/>
                  <a:headEnd type="none" w="med" len="med"/>
                  <a:tailEnd type="none" w="med" len="med"/>
                </a:ln>
              </p:spPr>
            </p:sp>
          </p:grpSp>
          <p:grpSp>
            <p:nvGrpSpPr>
              <p:cNvPr id="19471" name="Group 136"/>
              <p:cNvGrpSpPr/>
              <p:nvPr/>
            </p:nvGrpSpPr>
            <p:grpSpPr>
              <a:xfrm>
                <a:off x="1156" y="1979"/>
                <a:ext cx="771" cy="771"/>
                <a:chOff x="1156" y="1979"/>
                <a:chExt cx="771" cy="771"/>
              </a:xfrm>
            </p:grpSpPr>
            <p:sp>
              <p:nvSpPr>
                <p:cNvPr id="19488" name="AutoShape 110"/>
                <p:cNvSpPr/>
                <p:nvPr/>
              </p:nvSpPr>
              <p:spPr>
                <a:xfrm rot="-10800000" flipV="1">
                  <a:off x="1156" y="1979"/>
                  <a:ext cx="771" cy="771"/>
                </a:xfrm>
                <a:prstGeom prst="parallelogram">
                  <a:avLst>
                    <a:gd name="adj" fmla="val 25000"/>
                  </a:avLst>
                </a:prstGeom>
                <a:solidFill>
                  <a:srgbClr val="C0C0C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grpSp>
              <p:nvGrpSpPr>
                <p:cNvPr id="19489" name="Group 135"/>
                <p:cNvGrpSpPr/>
                <p:nvPr/>
              </p:nvGrpSpPr>
              <p:grpSpPr>
                <a:xfrm>
                  <a:off x="1292" y="2115"/>
                  <a:ext cx="499" cy="544"/>
                  <a:chOff x="1292" y="2115"/>
                  <a:chExt cx="499" cy="544"/>
                </a:xfrm>
              </p:grpSpPr>
              <p:grpSp>
                <p:nvGrpSpPr>
                  <p:cNvPr id="19490" name="Group 114"/>
                  <p:cNvGrpSpPr/>
                  <p:nvPr/>
                </p:nvGrpSpPr>
                <p:grpSpPr>
                  <a:xfrm>
                    <a:off x="1292" y="2115"/>
                    <a:ext cx="91" cy="91"/>
                    <a:chOff x="2336" y="3385"/>
                    <a:chExt cx="272" cy="272"/>
                  </a:xfrm>
                </p:grpSpPr>
                <p:sp>
                  <p:nvSpPr>
                    <p:cNvPr id="19506" name="Line 112"/>
                    <p:cNvSpPr/>
                    <p:nvPr/>
                  </p:nvSpPr>
                  <p:spPr>
                    <a:xfrm>
                      <a:off x="2336" y="3521"/>
                      <a:ext cx="272" cy="0"/>
                    </a:xfrm>
                    <a:prstGeom prst="line">
                      <a:avLst/>
                    </a:prstGeom>
                    <a:ln w="38100" cap="flat" cmpd="sng">
                      <a:solidFill>
                        <a:schemeClr val="tx1"/>
                      </a:solidFill>
                      <a:prstDash val="solid"/>
                      <a:headEnd type="none" w="med" len="med"/>
                      <a:tailEnd type="none" w="med" len="med"/>
                    </a:ln>
                  </p:spPr>
                </p:sp>
                <p:sp>
                  <p:nvSpPr>
                    <p:cNvPr id="19507" name="Line 113"/>
                    <p:cNvSpPr/>
                    <p:nvPr/>
                  </p:nvSpPr>
                  <p:spPr>
                    <a:xfrm rot="-5400000">
                      <a:off x="2336" y="3521"/>
                      <a:ext cx="272" cy="0"/>
                    </a:xfrm>
                    <a:prstGeom prst="line">
                      <a:avLst/>
                    </a:prstGeom>
                    <a:ln w="38100" cap="flat" cmpd="sng">
                      <a:solidFill>
                        <a:schemeClr val="tx1"/>
                      </a:solidFill>
                      <a:prstDash val="solid"/>
                      <a:headEnd type="none" w="med" len="med"/>
                      <a:tailEnd type="none" w="med" len="med"/>
                    </a:ln>
                  </p:spPr>
                </p:sp>
              </p:grpSp>
              <p:grpSp>
                <p:nvGrpSpPr>
                  <p:cNvPr id="19491" name="Group 115"/>
                  <p:cNvGrpSpPr/>
                  <p:nvPr/>
                </p:nvGrpSpPr>
                <p:grpSpPr>
                  <a:xfrm>
                    <a:off x="1565" y="2115"/>
                    <a:ext cx="91" cy="91"/>
                    <a:chOff x="2336" y="3385"/>
                    <a:chExt cx="272" cy="272"/>
                  </a:xfrm>
                </p:grpSpPr>
                <p:sp>
                  <p:nvSpPr>
                    <p:cNvPr id="19504" name="Line 116"/>
                    <p:cNvSpPr/>
                    <p:nvPr/>
                  </p:nvSpPr>
                  <p:spPr>
                    <a:xfrm>
                      <a:off x="2336" y="3521"/>
                      <a:ext cx="272" cy="0"/>
                    </a:xfrm>
                    <a:prstGeom prst="line">
                      <a:avLst/>
                    </a:prstGeom>
                    <a:ln w="38100" cap="flat" cmpd="sng">
                      <a:solidFill>
                        <a:schemeClr val="tx1"/>
                      </a:solidFill>
                      <a:prstDash val="solid"/>
                      <a:headEnd type="none" w="med" len="med"/>
                      <a:tailEnd type="none" w="med" len="med"/>
                    </a:ln>
                  </p:spPr>
                </p:sp>
                <p:sp>
                  <p:nvSpPr>
                    <p:cNvPr id="19505" name="Line 117"/>
                    <p:cNvSpPr/>
                    <p:nvPr/>
                  </p:nvSpPr>
                  <p:spPr>
                    <a:xfrm rot="-5400000">
                      <a:off x="2336" y="3521"/>
                      <a:ext cx="272" cy="0"/>
                    </a:xfrm>
                    <a:prstGeom prst="line">
                      <a:avLst/>
                    </a:prstGeom>
                    <a:ln w="38100" cap="flat" cmpd="sng">
                      <a:solidFill>
                        <a:schemeClr val="tx1"/>
                      </a:solidFill>
                      <a:prstDash val="solid"/>
                      <a:headEnd type="none" w="med" len="med"/>
                      <a:tailEnd type="none" w="med" len="med"/>
                    </a:ln>
                  </p:spPr>
                </p:sp>
              </p:grpSp>
              <p:grpSp>
                <p:nvGrpSpPr>
                  <p:cNvPr id="19492" name="Group 118"/>
                  <p:cNvGrpSpPr/>
                  <p:nvPr/>
                </p:nvGrpSpPr>
                <p:grpSpPr>
                  <a:xfrm>
                    <a:off x="1338" y="2341"/>
                    <a:ext cx="91" cy="90"/>
                    <a:chOff x="2336" y="3385"/>
                    <a:chExt cx="272" cy="272"/>
                  </a:xfrm>
                </p:grpSpPr>
                <p:sp>
                  <p:nvSpPr>
                    <p:cNvPr id="19502" name="Line 119"/>
                    <p:cNvSpPr/>
                    <p:nvPr/>
                  </p:nvSpPr>
                  <p:spPr>
                    <a:xfrm>
                      <a:off x="2336" y="3521"/>
                      <a:ext cx="272" cy="0"/>
                    </a:xfrm>
                    <a:prstGeom prst="line">
                      <a:avLst/>
                    </a:prstGeom>
                    <a:ln w="38100" cap="flat" cmpd="sng">
                      <a:solidFill>
                        <a:schemeClr val="tx1"/>
                      </a:solidFill>
                      <a:prstDash val="solid"/>
                      <a:headEnd type="none" w="med" len="med"/>
                      <a:tailEnd type="none" w="med" len="med"/>
                    </a:ln>
                  </p:spPr>
                </p:sp>
                <p:sp>
                  <p:nvSpPr>
                    <p:cNvPr id="19503" name="Line 120"/>
                    <p:cNvSpPr/>
                    <p:nvPr/>
                  </p:nvSpPr>
                  <p:spPr>
                    <a:xfrm rot="-5400000">
                      <a:off x="2336" y="3521"/>
                      <a:ext cx="272" cy="0"/>
                    </a:xfrm>
                    <a:prstGeom prst="line">
                      <a:avLst/>
                    </a:prstGeom>
                    <a:ln w="38100" cap="flat" cmpd="sng">
                      <a:solidFill>
                        <a:schemeClr val="tx1"/>
                      </a:solidFill>
                      <a:prstDash val="solid"/>
                      <a:headEnd type="none" w="med" len="med"/>
                      <a:tailEnd type="none" w="med" len="med"/>
                    </a:ln>
                  </p:spPr>
                </p:sp>
              </p:grpSp>
              <p:grpSp>
                <p:nvGrpSpPr>
                  <p:cNvPr id="19493" name="Group 121"/>
                  <p:cNvGrpSpPr/>
                  <p:nvPr/>
                </p:nvGrpSpPr>
                <p:grpSpPr>
                  <a:xfrm>
                    <a:off x="1610" y="2341"/>
                    <a:ext cx="91" cy="90"/>
                    <a:chOff x="2336" y="3385"/>
                    <a:chExt cx="272" cy="272"/>
                  </a:xfrm>
                </p:grpSpPr>
                <p:sp>
                  <p:nvSpPr>
                    <p:cNvPr id="19500" name="Line 122"/>
                    <p:cNvSpPr/>
                    <p:nvPr/>
                  </p:nvSpPr>
                  <p:spPr>
                    <a:xfrm>
                      <a:off x="2336" y="3521"/>
                      <a:ext cx="272" cy="0"/>
                    </a:xfrm>
                    <a:prstGeom prst="line">
                      <a:avLst/>
                    </a:prstGeom>
                    <a:ln w="38100" cap="flat" cmpd="sng">
                      <a:solidFill>
                        <a:schemeClr val="tx1"/>
                      </a:solidFill>
                      <a:prstDash val="solid"/>
                      <a:headEnd type="none" w="med" len="med"/>
                      <a:tailEnd type="none" w="med" len="med"/>
                    </a:ln>
                  </p:spPr>
                </p:sp>
                <p:sp>
                  <p:nvSpPr>
                    <p:cNvPr id="19501" name="Line 123"/>
                    <p:cNvSpPr/>
                    <p:nvPr/>
                  </p:nvSpPr>
                  <p:spPr>
                    <a:xfrm rot="-5400000">
                      <a:off x="2336" y="3521"/>
                      <a:ext cx="272" cy="0"/>
                    </a:xfrm>
                    <a:prstGeom prst="line">
                      <a:avLst/>
                    </a:prstGeom>
                    <a:ln w="38100" cap="flat" cmpd="sng">
                      <a:solidFill>
                        <a:schemeClr val="tx1"/>
                      </a:solidFill>
                      <a:prstDash val="solid"/>
                      <a:headEnd type="none" w="med" len="med"/>
                      <a:tailEnd type="none" w="med" len="med"/>
                    </a:ln>
                  </p:spPr>
                </p:sp>
              </p:grpSp>
              <p:grpSp>
                <p:nvGrpSpPr>
                  <p:cNvPr id="19494" name="Group 124"/>
                  <p:cNvGrpSpPr/>
                  <p:nvPr/>
                </p:nvGrpSpPr>
                <p:grpSpPr>
                  <a:xfrm>
                    <a:off x="1701" y="2568"/>
                    <a:ext cx="90" cy="91"/>
                    <a:chOff x="2336" y="3385"/>
                    <a:chExt cx="272" cy="272"/>
                  </a:xfrm>
                </p:grpSpPr>
                <p:sp>
                  <p:nvSpPr>
                    <p:cNvPr id="19498" name="Line 125"/>
                    <p:cNvSpPr/>
                    <p:nvPr/>
                  </p:nvSpPr>
                  <p:spPr>
                    <a:xfrm>
                      <a:off x="2336" y="3521"/>
                      <a:ext cx="272" cy="0"/>
                    </a:xfrm>
                    <a:prstGeom prst="line">
                      <a:avLst/>
                    </a:prstGeom>
                    <a:ln w="38100" cap="flat" cmpd="sng">
                      <a:solidFill>
                        <a:schemeClr val="tx1"/>
                      </a:solidFill>
                      <a:prstDash val="solid"/>
                      <a:headEnd type="none" w="med" len="med"/>
                      <a:tailEnd type="none" w="med" len="med"/>
                    </a:ln>
                  </p:spPr>
                </p:sp>
                <p:sp>
                  <p:nvSpPr>
                    <p:cNvPr id="19499" name="Line 126"/>
                    <p:cNvSpPr/>
                    <p:nvPr/>
                  </p:nvSpPr>
                  <p:spPr>
                    <a:xfrm rot="-5400000">
                      <a:off x="2336" y="3521"/>
                      <a:ext cx="272" cy="0"/>
                    </a:xfrm>
                    <a:prstGeom prst="line">
                      <a:avLst/>
                    </a:prstGeom>
                    <a:ln w="38100" cap="flat" cmpd="sng">
                      <a:solidFill>
                        <a:schemeClr val="tx1"/>
                      </a:solidFill>
                      <a:prstDash val="solid"/>
                      <a:headEnd type="none" w="med" len="med"/>
                      <a:tailEnd type="none" w="med" len="med"/>
                    </a:ln>
                  </p:spPr>
                </p:sp>
              </p:grpSp>
              <p:grpSp>
                <p:nvGrpSpPr>
                  <p:cNvPr id="19495" name="Group 127"/>
                  <p:cNvGrpSpPr/>
                  <p:nvPr/>
                </p:nvGrpSpPr>
                <p:grpSpPr>
                  <a:xfrm>
                    <a:off x="1383" y="2568"/>
                    <a:ext cx="90" cy="91"/>
                    <a:chOff x="2336" y="3385"/>
                    <a:chExt cx="272" cy="272"/>
                  </a:xfrm>
                </p:grpSpPr>
                <p:sp>
                  <p:nvSpPr>
                    <p:cNvPr id="19496" name="Line 128"/>
                    <p:cNvSpPr/>
                    <p:nvPr/>
                  </p:nvSpPr>
                  <p:spPr>
                    <a:xfrm>
                      <a:off x="2336" y="3521"/>
                      <a:ext cx="272" cy="0"/>
                    </a:xfrm>
                    <a:prstGeom prst="line">
                      <a:avLst/>
                    </a:prstGeom>
                    <a:ln w="38100" cap="flat" cmpd="sng">
                      <a:solidFill>
                        <a:schemeClr val="tx1"/>
                      </a:solidFill>
                      <a:prstDash val="solid"/>
                      <a:headEnd type="none" w="med" len="med"/>
                      <a:tailEnd type="none" w="med" len="med"/>
                    </a:ln>
                  </p:spPr>
                </p:sp>
                <p:sp>
                  <p:nvSpPr>
                    <p:cNvPr id="19497" name="Line 129"/>
                    <p:cNvSpPr/>
                    <p:nvPr/>
                  </p:nvSpPr>
                  <p:spPr>
                    <a:xfrm rot="-5400000">
                      <a:off x="2336" y="3521"/>
                      <a:ext cx="272" cy="0"/>
                    </a:xfrm>
                    <a:prstGeom prst="line">
                      <a:avLst/>
                    </a:prstGeom>
                    <a:ln w="38100" cap="flat" cmpd="sng">
                      <a:solidFill>
                        <a:schemeClr val="tx1"/>
                      </a:solidFill>
                      <a:prstDash val="solid"/>
                      <a:headEnd type="none" w="med" len="med"/>
                      <a:tailEnd type="none" w="med" len="med"/>
                    </a:ln>
                  </p:spPr>
                </p:sp>
              </p:grpSp>
            </p:grpSp>
          </p:grpSp>
          <p:grpSp>
            <p:nvGrpSpPr>
              <p:cNvPr id="19472" name="Group 152"/>
              <p:cNvGrpSpPr/>
              <p:nvPr/>
            </p:nvGrpSpPr>
            <p:grpSpPr>
              <a:xfrm>
                <a:off x="748" y="2387"/>
                <a:ext cx="1860" cy="1030"/>
                <a:chOff x="748" y="2387"/>
                <a:chExt cx="1860" cy="1030"/>
              </a:xfrm>
            </p:grpSpPr>
            <p:grpSp>
              <p:nvGrpSpPr>
                <p:cNvPr id="19473" name="Group 143"/>
                <p:cNvGrpSpPr/>
                <p:nvPr/>
              </p:nvGrpSpPr>
              <p:grpSpPr>
                <a:xfrm>
                  <a:off x="748" y="2387"/>
                  <a:ext cx="1860" cy="862"/>
                  <a:chOff x="748" y="2387"/>
                  <a:chExt cx="1860" cy="862"/>
                </a:xfrm>
              </p:grpSpPr>
              <p:sp>
                <p:nvSpPr>
                  <p:cNvPr id="19482" name="Line 137"/>
                  <p:cNvSpPr/>
                  <p:nvPr/>
                </p:nvSpPr>
                <p:spPr>
                  <a:xfrm>
                    <a:off x="748" y="2387"/>
                    <a:ext cx="499" cy="0"/>
                  </a:xfrm>
                  <a:prstGeom prst="line">
                    <a:avLst/>
                  </a:prstGeom>
                  <a:ln w="9525" cap="flat" cmpd="sng">
                    <a:solidFill>
                      <a:schemeClr val="tx1"/>
                    </a:solidFill>
                    <a:prstDash val="solid"/>
                    <a:headEnd type="none" w="med" len="med"/>
                    <a:tailEnd type="none" w="med" len="med"/>
                  </a:ln>
                </p:spPr>
              </p:sp>
              <p:sp>
                <p:nvSpPr>
                  <p:cNvPr id="19483" name="Line 138"/>
                  <p:cNvSpPr/>
                  <p:nvPr/>
                </p:nvSpPr>
                <p:spPr>
                  <a:xfrm>
                    <a:off x="2109" y="2387"/>
                    <a:ext cx="499" cy="0"/>
                  </a:xfrm>
                  <a:prstGeom prst="line">
                    <a:avLst/>
                  </a:prstGeom>
                  <a:ln w="9525" cap="flat" cmpd="sng">
                    <a:solidFill>
                      <a:schemeClr val="tx1"/>
                    </a:solidFill>
                    <a:prstDash val="solid"/>
                    <a:headEnd type="none" w="med" len="med"/>
                    <a:tailEnd type="none" w="med" len="med"/>
                  </a:ln>
                </p:spPr>
              </p:sp>
              <p:sp>
                <p:nvSpPr>
                  <p:cNvPr id="19484" name="Line 139"/>
                  <p:cNvSpPr/>
                  <p:nvPr/>
                </p:nvSpPr>
                <p:spPr>
                  <a:xfrm>
                    <a:off x="748" y="2387"/>
                    <a:ext cx="0" cy="862"/>
                  </a:xfrm>
                  <a:prstGeom prst="line">
                    <a:avLst/>
                  </a:prstGeom>
                  <a:ln w="9525" cap="flat" cmpd="sng">
                    <a:solidFill>
                      <a:schemeClr val="tx1"/>
                    </a:solidFill>
                    <a:prstDash val="solid"/>
                    <a:headEnd type="none" w="med" len="med"/>
                    <a:tailEnd type="none" w="med" len="med"/>
                  </a:ln>
                </p:spPr>
              </p:sp>
              <p:sp>
                <p:nvSpPr>
                  <p:cNvPr id="19485" name="Line 140"/>
                  <p:cNvSpPr/>
                  <p:nvPr/>
                </p:nvSpPr>
                <p:spPr>
                  <a:xfrm>
                    <a:off x="2608" y="2387"/>
                    <a:ext cx="0" cy="862"/>
                  </a:xfrm>
                  <a:prstGeom prst="line">
                    <a:avLst/>
                  </a:prstGeom>
                  <a:ln w="9525" cap="flat" cmpd="sng">
                    <a:solidFill>
                      <a:schemeClr val="tx1"/>
                    </a:solidFill>
                    <a:prstDash val="solid"/>
                    <a:headEnd type="none" w="med" len="med"/>
                    <a:tailEnd type="none" w="med" len="med"/>
                  </a:ln>
                </p:spPr>
              </p:sp>
              <p:sp>
                <p:nvSpPr>
                  <p:cNvPr id="19486" name="Line 141"/>
                  <p:cNvSpPr/>
                  <p:nvPr/>
                </p:nvSpPr>
                <p:spPr>
                  <a:xfrm>
                    <a:off x="748" y="3249"/>
                    <a:ext cx="771" cy="0"/>
                  </a:xfrm>
                  <a:prstGeom prst="line">
                    <a:avLst/>
                  </a:prstGeom>
                  <a:ln w="9525" cap="flat" cmpd="sng">
                    <a:solidFill>
                      <a:schemeClr val="tx1"/>
                    </a:solidFill>
                    <a:prstDash val="solid"/>
                    <a:headEnd type="none" w="med" len="med"/>
                    <a:tailEnd type="none" w="med" len="med"/>
                  </a:ln>
                </p:spPr>
              </p:sp>
              <p:sp>
                <p:nvSpPr>
                  <p:cNvPr id="19487" name="Line 142"/>
                  <p:cNvSpPr/>
                  <p:nvPr/>
                </p:nvSpPr>
                <p:spPr>
                  <a:xfrm>
                    <a:off x="1791" y="3249"/>
                    <a:ext cx="817" cy="0"/>
                  </a:xfrm>
                  <a:prstGeom prst="line">
                    <a:avLst/>
                  </a:prstGeom>
                  <a:ln w="9525" cap="flat" cmpd="sng">
                    <a:solidFill>
                      <a:schemeClr val="tx1"/>
                    </a:solidFill>
                    <a:prstDash val="solid"/>
                    <a:headEnd type="none" w="med" len="med"/>
                    <a:tailEnd type="none" w="med" len="med"/>
                  </a:ln>
                </p:spPr>
              </p:sp>
            </p:grpSp>
            <p:grpSp>
              <p:nvGrpSpPr>
                <p:cNvPr id="19474" name="Group 151"/>
                <p:cNvGrpSpPr/>
                <p:nvPr/>
              </p:nvGrpSpPr>
              <p:grpSpPr>
                <a:xfrm>
                  <a:off x="1338" y="3067"/>
                  <a:ext cx="635" cy="350"/>
                  <a:chOff x="1338" y="3067"/>
                  <a:chExt cx="635" cy="350"/>
                </a:xfrm>
              </p:grpSpPr>
              <p:grpSp>
                <p:nvGrpSpPr>
                  <p:cNvPr id="19475" name="Group 149"/>
                  <p:cNvGrpSpPr/>
                  <p:nvPr/>
                </p:nvGrpSpPr>
                <p:grpSpPr>
                  <a:xfrm>
                    <a:off x="1338" y="3067"/>
                    <a:ext cx="635" cy="318"/>
                    <a:chOff x="1338" y="3067"/>
                    <a:chExt cx="635" cy="318"/>
                  </a:xfrm>
                </p:grpSpPr>
                <p:sp>
                  <p:nvSpPr>
                    <p:cNvPr id="19477" name="Oval 144"/>
                    <p:cNvSpPr/>
                    <p:nvPr/>
                  </p:nvSpPr>
                  <p:spPr>
                    <a:xfrm>
                      <a:off x="1519" y="3113"/>
                      <a:ext cx="272" cy="272"/>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grpSp>
                  <p:nvGrpSpPr>
                    <p:cNvPr id="19478" name="Group 145"/>
                    <p:cNvGrpSpPr/>
                    <p:nvPr/>
                  </p:nvGrpSpPr>
                  <p:grpSpPr>
                    <a:xfrm>
                      <a:off x="1338" y="3067"/>
                      <a:ext cx="136" cy="136"/>
                      <a:chOff x="2336" y="3385"/>
                      <a:chExt cx="272" cy="272"/>
                    </a:xfrm>
                  </p:grpSpPr>
                  <p:sp>
                    <p:nvSpPr>
                      <p:cNvPr id="19480" name="Line 146"/>
                      <p:cNvSpPr/>
                      <p:nvPr/>
                    </p:nvSpPr>
                    <p:spPr>
                      <a:xfrm>
                        <a:off x="2336" y="3521"/>
                        <a:ext cx="272" cy="0"/>
                      </a:xfrm>
                      <a:prstGeom prst="line">
                        <a:avLst/>
                      </a:prstGeom>
                      <a:ln w="38100" cap="flat" cmpd="sng">
                        <a:solidFill>
                          <a:schemeClr val="tx1"/>
                        </a:solidFill>
                        <a:prstDash val="solid"/>
                        <a:headEnd type="none" w="med" len="med"/>
                        <a:tailEnd type="none" w="med" len="med"/>
                      </a:ln>
                    </p:spPr>
                  </p:sp>
                  <p:sp>
                    <p:nvSpPr>
                      <p:cNvPr id="19481" name="Line 147"/>
                      <p:cNvSpPr/>
                      <p:nvPr/>
                    </p:nvSpPr>
                    <p:spPr>
                      <a:xfrm rot="-5400000">
                        <a:off x="2336" y="3521"/>
                        <a:ext cx="272" cy="0"/>
                      </a:xfrm>
                      <a:prstGeom prst="line">
                        <a:avLst/>
                      </a:prstGeom>
                      <a:ln w="38100" cap="flat" cmpd="sng">
                        <a:solidFill>
                          <a:schemeClr val="tx1"/>
                        </a:solidFill>
                        <a:prstDash val="solid"/>
                        <a:headEnd type="none" w="med" len="med"/>
                        <a:tailEnd type="none" w="med" len="med"/>
                      </a:ln>
                    </p:spPr>
                  </p:sp>
                </p:grpSp>
                <p:sp>
                  <p:nvSpPr>
                    <p:cNvPr id="19479" name="Line 148"/>
                    <p:cNvSpPr/>
                    <p:nvPr/>
                  </p:nvSpPr>
                  <p:spPr>
                    <a:xfrm>
                      <a:off x="1837" y="3113"/>
                      <a:ext cx="136" cy="0"/>
                    </a:xfrm>
                    <a:prstGeom prst="line">
                      <a:avLst/>
                    </a:prstGeom>
                    <a:ln w="38100" cap="flat" cmpd="sng">
                      <a:solidFill>
                        <a:schemeClr val="tx1"/>
                      </a:solidFill>
                      <a:prstDash val="solid"/>
                      <a:headEnd type="none" w="med" len="med"/>
                      <a:tailEnd type="none" w="med" len="med"/>
                    </a:ln>
                  </p:spPr>
                </p:sp>
              </p:grpSp>
              <p:sp>
                <p:nvSpPr>
                  <p:cNvPr id="19476" name="Text Box 150"/>
                  <p:cNvSpPr txBox="1"/>
                  <p:nvPr/>
                </p:nvSpPr>
                <p:spPr>
                  <a:xfrm>
                    <a:off x="1552" y="3145"/>
                    <a:ext cx="318" cy="2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Monotype Corsiva" panose="03010101010201010101" pitchFamily="66" charset="0"/>
                        <a:cs typeface="Arial" panose="020B0604020202020204" pitchFamily="34" charset="0"/>
                      </a:rPr>
                      <a:t>v</a:t>
                    </a:r>
                    <a:endParaRPr lang="en-US" altLang="zh-CN" sz="2400" b="1" dirty="0">
                      <a:latin typeface="Monotype Corsiva" panose="03010101010201010101" pitchFamily="66" charset="0"/>
                      <a:ea typeface="Arial" panose="020B0604020202020204" pitchFamily="34" charset="0"/>
                    </a:endParaRPr>
                  </a:p>
                </p:txBody>
              </p:sp>
            </p:grpSp>
          </p:grpSp>
        </p:grpSp>
      </p:grpSp>
      <p:sp>
        <p:nvSpPr>
          <p:cNvPr id="19463" name="Rectangle 208"/>
          <p:cNvSpPr/>
          <p:nvPr/>
        </p:nvSpPr>
        <p:spPr>
          <a:xfrm>
            <a:off x="914400" y="577056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19464" name="文本框 1"/>
          <p:cNvSpPr txBox="1"/>
          <p:nvPr/>
        </p:nvSpPr>
        <p:spPr>
          <a:xfrm>
            <a:off x="5756275" y="2460625"/>
            <a:ext cx="2365375"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800" b="1" dirty="0">
                <a:ea typeface="宋体-18030" pitchFamily="49" charset="-122"/>
              </a:rPr>
              <a:t>介电系数为</a:t>
            </a:r>
            <a:r>
              <a:rPr lang="el-GR" altLang="zh-CN" sz="1800" b="1" dirty="0">
                <a:ea typeface="宋体-18030" pitchFamily="49" charset="-122"/>
              </a:rPr>
              <a:t>ε</a:t>
            </a:r>
            <a:r>
              <a:rPr lang="zh-CN" altLang="en-US" sz="1800" b="1" dirty="0">
                <a:ea typeface="宋体-18030" pitchFamily="49" charset="-122"/>
              </a:rPr>
              <a:t>的电介质</a:t>
            </a:r>
          </a:p>
        </p:txBody>
      </p:sp>
      <p:pic>
        <p:nvPicPr>
          <p:cNvPr id="19465" name="图片 11"/>
          <p:cNvPicPr>
            <a:picLocks noChangeAspect="1"/>
          </p:cNvPicPr>
          <p:nvPr/>
        </p:nvPicPr>
        <p:blipFill>
          <a:blip r:embed="rId3"/>
          <a:stretch>
            <a:fillRect/>
          </a:stretch>
        </p:blipFill>
        <p:spPr>
          <a:xfrm>
            <a:off x="6959600" y="3198813"/>
            <a:ext cx="1668463" cy="506412"/>
          </a:xfrm>
          <a:prstGeom prst="rect">
            <a:avLst/>
          </a:prstGeom>
          <a:noFill/>
          <a:ln w="9525">
            <a:noFill/>
          </a:ln>
        </p:spPr>
      </p:pic>
      <p:sp>
        <p:nvSpPr>
          <p:cNvPr id="19466" name="文本框 154"/>
          <p:cNvSpPr txBox="1"/>
          <p:nvPr/>
        </p:nvSpPr>
        <p:spPr>
          <a:xfrm>
            <a:off x="6434138" y="2911475"/>
            <a:ext cx="2676525"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800" b="1" dirty="0">
                <a:ea typeface="宋体-18030" pitchFamily="49" charset="-122"/>
              </a:rPr>
              <a:t>两个面积均为</a:t>
            </a:r>
            <a:r>
              <a:rPr lang="en-US" altLang="zh-CN" sz="1800" b="1" dirty="0">
                <a:ea typeface="宋体-18030" pitchFamily="49" charset="-122"/>
              </a:rPr>
              <a:t>A</a:t>
            </a:r>
            <a:r>
              <a:rPr lang="zh-CN" altLang="en-US" sz="1800" b="1" dirty="0">
                <a:ea typeface="宋体-18030" pitchFamily="49" charset="-122"/>
              </a:rPr>
              <a:t>的导电板</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8880"/>
            <a:ext cx="8229600" cy="4668520"/>
          </a:xfrm>
        </p:spPr>
        <p:txBody>
          <a:bodyPr/>
          <a:lstStyle/>
          <a:p>
            <a:r>
              <a:rPr lang="zh-CN" altLang="en-US"/>
              <a:t>两个相互靠近的导体，中间夹一层不导电的绝缘介质，这就构成了电容器。当电容器的两个极板之间加上电压时，电容器就会储存电荷。电容器的电容量在数值上等于一个导电极板上的电荷量与两个极板之间的电压之比。电容器的电容量的基本单位是法拉(F)。在电路图中通常用字母C表示电容元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5"/>
          <p:cNvSpPr>
            <a:spLocks noGrp="1" noChangeArrowheads="1"/>
          </p:cNvSpPr>
          <p:nvPr>
            <p:ph type="title"/>
          </p:nvPr>
        </p:nvSpPr>
        <p:spPr>
          <a:xfrm>
            <a:off x="1258888" y="1120775"/>
            <a:ext cx="7058025" cy="1371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uLnTx/>
                <a:uFillTx/>
                <a:latin typeface="+mn-ea"/>
                <a:ea typeface="+mn-ea"/>
                <a:cs typeface="+mj-cs"/>
              </a:rPr>
              <a:t>    在外电源作用下，两极板分别带上等量的异性电荷，并在介质中形成电场，</a:t>
            </a:r>
            <a:r>
              <a:rPr kumimoji="0" lang="zh-CN" altLang="en-US" sz="3200" b="1" i="0" u="none" strike="noStrike" kern="0" cap="none" spc="0" normalizeH="0" baseline="0" noProof="0" dirty="0">
                <a:ln>
                  <a:noFill/>
                </a:ln>
                <a:solidFill>
                  <a:srgbClr val="0000FF"/>
                </a:solidFill>
                <a:effectLst/>
                <a:uLnTx/>
                <a:uFillTx/>
                <a:latin typeface="+mn-ea"/>
                <a:ea typeface="+mn-ea"/>
                <a:cs typeface="+mj-cs"/>
              </a:rPr>
              <a:t>储存电场能量</a:t>
            </a:r>
            <a:r>
              <a:rPr kumimoji="0" lang="zh-CN" altLang="en-US" sz="3200" b="1" i="0" u="none" strike="noStrike" kern="0" cap="none" spc="0" normalizeH="0" baseline="0" noProof="0" dirty="0">
                <a:ln>
                  <a:noFill/>
                </a:ln>
                <a:solidFill>
                  <a:schemeClr val="tx1"/>
                </a:solidFill>
                <a:effectLst/>
                <a:uLnTx/>
                <a:uFillTx/>
                <a:latin typeface="+mn-ea"/>
                <a:ea typeface="+mn-ea"/>
                <a:cs typeface="+mj-cs"/>
              </a:rPr>
              <a:t>。</a:t>
            </a:r>
          </a:p>
        </p:txBody>
      </p:sp>
      <p:graphicFrame>
        <p:nvGraphicFramePr>
          <p:cNvPr id="20483" name="Object 4"/>
          <p:cNvGraphicFramePr>
            <a:graphicFrameLocks noGrp="1" noChangeAspect="1"/>
          </p:cNvGraphicFramePr>
          <p:nvPr>
            <p:ph idx="1"/>
          </p:nvPr>
        </p:nvGraphicFramePr>
        <p:xfrm>
          <a:off x="3708400" y="2924175"/>
          <a:ext cx="1584325" cy="1247775"/>
        </p:xfrm>
        <a:graphic>
          <a:graphicData uri="http://schemas.openxmlformats.org/presentationml/2006/ole">
            <p:oleObj spid="_x0000_s4098" r:id="rId3" imgW="596900" imgH="469900" progId="">
              <p:embed/>
            </p:oleObj>
          </a:graphicData>
        </a:graphic>
      </p:graphicFrame>
      <p:sp>
        <p:nvSpPr>
          <p:cNvPr id="118788" name="Text Box 7"/>
          <p:cNvSpPr txBox="1">
            <a:spLocks noChangeArrowheads="1"/>
          </p:cNvSpPr>
          <p:nvPr/>
        </p:nvSpPr>
        <p:spPr bwMode="auto">
          <a:xfrm>
            <a:off x="900113" y="5300663"/>
            <a:ext cx="6416675" cy="523875"/>
          </a:xfrm>
          <a:prstGeom prst="rect">
            <a:avLst/>
          </a:prstGeom>
          <a:no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2800" b="1" i="0" u="none" strike="noStrike" kern="1200" cap="none" spc="0" normalizeH="0" baseline="0" noProof="0" dirty="0">
                <a:ln>
                  <a:noFill/>
                </a:ln>
                <a:solidFill>
                  <a:srgbClr val="0000FF"/>
                </a:solidFill>
                <a:effectLst/>
                <a:uLnTx/>
                <a:uFillTx/>
                <a:latin typeface="+mn-ea"/>
                <a:ea typeface="+mn-ea"/>
                <a:cs typeface="Arial" panose="020B0604020202020204" pitchFamily="34" charset="0"/>
              </a:rPr>
              <a:t>电容器的技术指标：电容量，耐压值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p:nvPr/>
        </p:nvSpPr>
        <p:spPr>
          <a:xfrm>
            <a:off x="673100" y="673100"/>
            <a:ext cx="8229600" cy="1371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4400" dirty="0">
                <a:cs typeface="Arial" panose="020B0604020202020204" pitchFamily="34" charset="0"/>
              </a:rPr>
              <a:t> </a:t>
            </a:r>
            <a:endParaRPr lang="en-US" altLang="zh-CN" sz="4400" dirty="0">
              <a:ea typeface="Arial" panose="020B0604020202020204" pitchFamily="34" charset="0"/>
            </a:endParaRPr>
          </a:p>
        </p:txBody>
      </p:sp>
      <p:sp>
        <p:nvSpPr>
          <p:cNvPr id="21507" name="Rectangle 3"/>
          <p:cNvSpPr/>
          <p:nvPr/>
        </p:nvSpPr>
        <p:spPr>
          <a:xfrm>
            <a:off x="658813" y="806450"/>
            <a:ext cx="8010525" cy="893763"/>
          </a:xfrm>
          <a:prstGeom prst="rect">
            <a:avLst/>
          </a:prstGeom>
          <a:noFill/>
          <a:ln w="76200" cap="flat" cmpd="tri">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buNone/>
            </a:pPr>
            <a:r>
              <a:rPr lang="zh-CN" altLang="en-US" sz="2400" b="1" dirty="0">
                <a:solidFill>
                  <a:srgbClr val="FF0000"/>
                </a:solidFill>
                <a:latin typeface="Arial Black" panose="020B0A04020102020204" pitchFamily="34" charset="0"/>
                <a:cs typeface="Arial" panose="020B0604020202020204" pitchFamily="34" charset="0"/>
              </a:rPr>
              <a:t>电容的容量</a:t>
            </a:r>
            <a:r>
              <a:rPr lang="zh-CN" altLang="en-US" sz="2400" b="1" dirty="0">
                <a:latin typeface="Arial Black" panose="020B0A04020102020204" pitchFamily="34" charset="0"/>
                <a:cs typeface="Arial" panose="020B0604020202020204" pitchFamily="34" charset="0"/>
              </a:rPr>
              <a:t>是电容的一个极板所携带的电荷与两个极板之间电压的比值，单位为法拉（</a:t>
            </a:r>
            <a:r>
              <a:rPr lang="en-US" altLang="zh-CN" sz="2400" b="1" dirty="0">
                <a:solidFill>
                  <a:srgbClr val="FF0000"/>
                </a:solidFill>
                <a:latin typeface="Times New Roman" panose="02020603050405020304" pitchFamily="18" charset="0"/>
                <a:cs typeface="Times New Roman" panose="02020603050405020304" pitchFamily="18" charset="0"/>
              </a:rPr>
              <a:t>F</a:t>
            </a:r>
            <a:r>
              <a:rPr lang="zh-CN" altLang="en-US" sz="2400" b="1" dirty="0">
                <a:latin typeface="Arial Black" panose="020B0A04020102020204" pitchFamily="34" charset="0"/>
                <a:cs typeface="Arial" panose="020B0604020202020204" pitchFamily="34" charset="0"/>
              </a:rPr>
              <a:t>）</a:t>
            </a:r>
            <a:endParaRPr lang="en-US" altLang="zh-CN" sz="2400" b="1" dirty="0">
              <a:latin typeface="Arial Black" panose="020B0A04020102020204" pitchFamily="34" charset="0"/>
              <a:ea typeface="Arial" panose="020B0604020202020204" pitchFamily="34" charset="0"/>
            </a:endParaRPr>
          </a:p>
        </p:txBody>
      </p:sp>
      <p:graphicFrame>
        <p:nvGraphicFramePr>
          <p:cNvPr id="21508" name="Object 93"/>
          <p:cNvGraphicFramePr>
            <a:graphicFrameLocks noGrp="1" noChangeAspect="1"/>
          </p:cNvGraphicFramePr>
          <p:nvPr>
            <p:ph sz="half" idx="2"/>
          </p:nvPr>
        </p:nvGraphicFramePr>
        <p:xfrm>
          <a:off x="4427538" y="5300663"/>
          <a:ext cx="1339850" cy="1038225"/>
        </p:xfrm>
        <a:graphic>
          <a:graphicData uri="http://schemas.openxmlformats.org/presentationml/2006/ole">
            <p:oleObj spid="_x0000_s5123" r:id="rId3" imgW="507780" imgH="393529" progId="">
              <p:embed/>
            </p:oleObj>
          </a:graphicData>
        </a:graphic>
      </p:graphicFrame>
      <p:sp>
        <p:nvSpPr>
          <p:cNvPr id="21509" name="Rectangle 14"/>
          <p:cNvSpPr/>
          <p:nvPr/>
        </p:nvSpPr>
        <p:spPr>
          <a:xfrm>
            <a:off x="1476375" y="2133600"/>
            <a:ext cx="6408738" cy="1169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cs typeface="Arial" panose="020B0604020202020204" pitchFamily="34" charset="0"/>
              </a:rPr>
              <a:t>1F = 1C/V</a:t>
            </a:r>
          </a:p>
          <a:p>
            <a:pPr marL="0" lvl="0" indent="0" eaLnBrk="1" hangingPunct="1">
              <a:spcBef>
                <a:spcPct val="50000"/>
              </a:spcBef>
              <a:buClrTx/>
              <a:buSzTx/>
              <a:buFontTx/>
              <a:buNone/>
            </a:pPr>
            <a:r>
              <a:rPr lang="zh-CN" altLang="en-US" sz="2800" b="1" dirty="0">
                <a:latin typeface="Times New Roman" panose="02020603050405020304" pitchFamily="18" charset="0"/>
                <a:cs typeface="Arial" panose="020B0604020202020204" pitchFamily="34" charset="0"/>
              </a:rPr>
              <a:t>皮法</a:t>
            </a:r>
            <a:r>
              <a:rPr lang="en-US" altLang="zh-CN" sz="2800" b="1" dirty="0">
                <a:latin typeface="Times New Roman" panose="02020603050405020304" pitchFamily="18" charset="0"/>
                <a:cs typeface="Arial" panose="020B0604020202020204" pitchFamily="34" charset="0"/>
              </a:rPr>
              <a:t> (</a:t>
            </a:r>
            <a:r>
              <a:rPr lang="en-US" altLang="zh-CN" sz="2800" b="1" dirty="0">
                <a:solidFill>
                  <a:schemeClr val="bg2"/>
                </a:solidFill>
                <a:latin typeface="Times New Roman" panose="02020603050405020304" pitchFamily="18" charset="0"/>
                <a:cs typeface="Arial" panose="020B0604020202020204" pitchFamily="34" charset="0"/>
              </a:rPr>
              <a:t>pF</a:t>
            </a:r>
            <a:r>
              <a:rPr lang="en-US" altLang="zh-CN" sz="2800" b="1" dirty="0">
                <a:latin typeface="Times New Roman" panose="02020603050405020304" pitchFamily="18" charset="0"/>
                <a:cs typeface="Arial" panose="020B0604020202020204" pitchFamily="34" charset="0"/>
              </a:rPr>
              <a:t>),  </a:t>
            </a:r>
            <a:r>
              <a:rPr lang="zh-CN" altLang="en-US" sz="2800" b="1" dirty="0">
                <a:latin typeface="Times New Roman" panose="02020603050405020304" pitchFamily="18" charset="0"/>
                <a:cs typeface="Arial" panose="020B0604020202020204" pitchFamily="34" charset="0"/>
              </a:rPr>
              <a:t>微法</a:t>
            </a:r>
            <a:r>
              <a:rPr lang="en-US" altLang="zh-CN" sz="2800" b="1" dirty="0">
                <a:latin typeface="Times New Roman" panose="02020603050405020304" pitchFamily="18" charset="0"/>
                <a:cs typeface="Arial" panose="020B0604020202020204" pitchFamily="34" charset="0"/>
              </a:rPr>
              <a:t> (</a:t>
            </a:r>
            <a:r>
              <a:rPr lang="en-US" altLang="zh-CN" sz="2800" b="1" dirty="0">
                <a:solidFill>
                  <a:schemeClr val="bg2"/>
                </a:solidFill>
                <a:latin typeface="Times New Roman" panose="02020603050405020304" pitchFamily="18" charset="0"/>
                <a:cs typeface="Arial" panose="020B0604020202020204" pitchFamily="34" charset="0"/>
              </a:rPr>
              <a:t>uF</a:t>
            </a:r>
            <a:r>
              <a:rPr lang="en-US" altLang="zh-CN" sz="2800" b="1" dirty="0">
                <a:latin typeface="Times New Roman" panose="02020603050405020304" pitchFamily="18" charset="0"/>
                <a:cs typeface="Arial" panose="020B0604020202020204" pitchFamily="34" charset="0"/>
              </a:rPr>
              <a:t>)</a:t>
            </a:r>
            <a:endParaRPr lang="en-US" altLang="zh-CN" sz="2800" b="1" dirty="0">
              <a:latin typeface="Times New Roman" panose="02020603050405020304" pitchFamily="18" charset="0"/>
              <a:ea typeface="Arial" panose="020B0604020202020204" pitchFamily="34" charset="0"/>
            </a:endParaRPr>
          </a:p>
        </p:txBody>
      </p:sp>
      <p:sp>
        <p:nvSpPr>
          <p:cNvPr id="21510" name="Text Box 15"/>
          <p:cNvSpPr txBox="1"/>
          <p:nvPr/>
        </p:nvSpPr>
        <p:spPr>
          <a:xfrm>
            <a:off x="879475" y="4298950"/>
            <a:ext cx="184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en-US" altLang="zh-CN" sz="1800" dirty="0">
              <a:ea typeface="Arial" panose="020B0604020202020204" pitchFamily="34" charset="0"/>
            </a:endParaRPr>
          </a:p>
        </p:txBody>
      </p:sp>
      <p:sp>
        <p:nvSpPr>
          <p:cNvPr id="21511" name="Rectangle 16"/>
          <p:cNvSpPr/>
          <p:nvPr/>
        </p:nvSpPr>
        <p:spPr>
          <a:xfrm>
            <a:off x="1476375" y="5589588"/>
            <a:ext cx="2659063"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latin typeface="Times New Roman" panose="02020603050405020304" pitchFamily="18" charset="0"/>
                <a:cs typeface="Arial" panose="020B0604020202020204" pitchFamily="34" charset="0"/>
              </a:rPr>
              <a:t>对于平板电容器：</a:t>
            </a:r>
            <a:endParaRPr lang="zh-CN" altLang="en-US" sz="2400" b="1" dirty="0">
              <a:latin typeface="Times New Roman" panose="02020603050405020304" pitchFamily="18" charset="0"/>
              <a:ea typeface="Arial" panose="020B0604020202020204" pitchFamily="34" charset="0"/>
            </a:endParaRPr>
          </a:p>
        </p:txBody>
      </p:sp>
      <p:graphicFrame>
        <p:nvGraphicFramePr>
          <p:cNvPr id="21512" name="Object 4"/>
          <p:cNvGraphicFramePr>
            <a:graphicFrameLocks noGrp="1" noChangeAspect="1"/>
          </p:cNvGraphicFramePr>
          <p:nvPr>
            <p:ph sz="half" idx="1"/>
          </p:nvPr>
        </p:nvGraphicFramePr>
        <p:xfrm>
          <a:off x="1403985" y="3789045"/>
          <a:ext cx="1584325" cy="1247775"/>
        </p:xfrm>
        <a:graphic>
          <a:graphicData uri="http://schemas.openxmlformats.org/presentationml/2006/ole">
            <p:oleObj spid="_x0000_s5124" r:id="rId4" imgW="596900" imgH="469900" progId="">
              <p:embed/>
            </p:oleObj>
          </a:graphicData>
        </a:graphic>
      </p:graphicFrame>
      <p:sp>
        <p:nvSpPr>
          <p:cNvPr id="2" name="文本框 1"/>
          <p:cNvSpPr txBox="1"/>
          <p:nvPr/>
        </p:nvSpPr>
        <p:spPr>
          <a:xfrm>
            <a:off x="5436235" y="2708910"/>
            <a:ext cx="2520950"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a:t>1</a:t>
            </a:r>
            <a:r>
              <a:rPr lang="zh-CN" altLang="en-US"/>
              <a:t>皮法（</a:t>
            </a:r>
            <a:r>
              <a:rPr lang="en-US" altLang="zh-CN">
                <a:sym typeface="+mn-ea"/>
              </a:rPr>
              <a:t>pF</a:t>
            </a:r>
            <a:r>
              <a:rPr lang="zh-CN" altLang="en-US"/>
              <a:t>）</a:t>
            </a:r>
            <a:r>
              <a:rPr lang="en-US" altLang="zh-CN"/>
              <a:t>=</a:t>
            </a:r>
            <a:r>
              <a:rPr lang="zh-CN" altLang="en-US"/>
              <a:t>？法</a:t>
            </a:r>
            <a:r>
              <a:rPr lang="en-US" altLang="zh-CN"/>
              <a:t>(F)</a:t>
            </a:r>
          </a:p>
          <a:p>
            <a:r>
              <a:rPr lang="en-US" altLang="zh-CN">
                <a:sym typeface="+mn-ea"/>
              </a:rPr>
              <a:t>1</a:t>
            </a:r>
            <a:r>
              <a:rPr lang="zh-CN" altLang="en-US">
                <a:sym typeface="+mn-ea"/>
              </a:rPr>
              <a:t>法微（</a:t>
            </a:r>
            <a:r>
              <a:rPr lang="en-US" altLang="zh-CN" b="1" dirty="0">
                <a:solidFill>
                  <a:schemeClr val="bg2"/>
                </a:solidFill>
                <a:latin typeface="Times New Roman" panose="02020603050405020304" pitchFamily="18" charset="0"/>
                <a:cs typeface="Arial" panose="020B0604020202020204" pitchFamily="34" charset="0"/>
                <a:sym typeface="+mn-ea"/>
              </a:rPr>
              <a:t>uF</a:t>
            </a:r>
            <a:r>
              <a:rPr lang="zh-CN" altLang="en-US">
                <a:sym typeface="+mn-ea"/>
              </a:rPr>
              <a:t>）</a:t>
            </a:r>
            <a:r>
              <a:rPr lang="en-US" altLang="zh-CN">
                <a:sym typeface="+mn-ea"/>
              </a:rPr>
              <a:t>=</a:t>
            </a:r>
            <a:r>
              <a:rPr lang="zh-CN" altLang="en-US">
                <a:sym typeface="+mn-ea"/>
              </a:rPr>
              <a:t>？法</a:t>
            </a:r>
            <a:r>
              <a:rPr lang="en-US" altLang="zh-CN">
                <a:sym typeface="+mn-ea"/>
              </a:rPr>
              <a:t>(F)</a:t>
            </a:r>
            <a:endParaRPr lang="en-US" altLang="zh-CN"/>
          </a:p>
        </p:txBody>
      </p:sp>
      <p:sp>
        <p:nvSpPr>
          <p:cNvPr id="3" name="文本框 2"/>
          <p:cNvSpPr txBox="1"/>
          <p:nvPr/>
        </p:nvSpPr>
        <p:spPr>
          <a:xfrm>
            <a:off x="5364480" y="4060825"/>
            <a:ext cx="2734945"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a:t>1</a:t>
            </a:r>
            <a:r>
              <a:rPr lang="zh-CN" altLang="en-US"/>
              <a:t>皮法（</a:t>
            </a:r>
            <a:r>
              <a:rPr lang="en-US" altLang="zh-CN">
                <a:sym typeface="+mn-ea"/>
              </a:rPr>
              <a:t>pF</a:t>
            </a:r>
            <a:r>
              <a:rPr lang="zh-CN" altLang="en-US"/>
              <a:t>）</a:t>
            </a:r>
            <a:r>
              <a:rPr lang="en-US" altLang="zh-CN"/>
              <a:t>=10</a:t>
            </a:r>
            <a:r>
              <a:rPr lang="en-US" altLang="zh-CN" baseline="30000">
                <a:solidFill>
                  <a:schemeClr val="accent4"/>
                </a:solidFill>
                <a:uFillTx/>
              </a:rPr>
              <a:t>-12</a:t>
            </a:r>
            <a:r>
              <a:rPr lang="zh-CN" altLang="en-US"/>
              <a:t>法</a:t>
            </a:r>
            <a:r>
              <a:rPr lang="en-US" altLang="zh-CN"/>
              <a:t>(F)</a:t>
            </a:r>
          </a:p>
          <a:p>
            <a:r>
              <a:rPr lang="en-US" altLang="zh-CN">
                <a:sym typeface="+mn-ea"/>
              </a:rPr>
              <a:t>1</a:t>
            </a:r>
            <a:r>
              <a:rPr lang="zh-CN" altLang="en-US">
                <a:sym typeface="+mn-ea"/>
              </a:rPr>
              <a:t>法微（</a:t>
            </a:r>
            <a:r>
              <a:rPr lang="en-US" altLang="zh-CN" b="1" dirty="0">
                <a:solidFill>
                  <a:schemeClr val="bg2"/>
                </a:solidFill>
                <a:latin typeface="Times New Roman" panose="02020603050405020304" pitchFamily="18" charset="0"/>
                <a:cs typeface="Arial" panose="020B0604020202020204" pitchFamily="34" charset="0"/>
                <a:sym typeface="+mn-ea"/>
              </a:rPr>
              <a:t>uF</a:t>
            </a:r>
            <a:r>
              <a:rPr lang="zh-CN" altLang="en-US">
                <a:sym typeface="+mn-ea"/>
              </a:rPr>
              <a:t>）</a:t>
            </a:r>
            <a:r>
              <a:rPr lang="en-US" altLang="zh-CN">
                <a:sym typeface="+mn-ea"/>
              </a:rPr>
              <a:t>=10</a:t>
            </a:r>
            <a:r>
              <a:rPr lang="en-US" altLang="zh-CN" baseline="30000">
                <a:solidFill>
                  <a:schemeClr val="accent4"/>
                </a:solidFill>
                <a:uFillTx/>
                <a:sym typeface="+mn-ea"/>
              </a:rPr>
              <a:t>-6</a:t>
            </a:r>
            <a:r>
              <a:rPr lang="zh-CN" altLang="en-US">
                <a:sym typeface="+mn-ea"/>
              </a:rPr>
              <a:t>法</a:t>
            </a:r>
            <a:r>
              <a:rPr lang="en-US" altLang="zh-CN">
                <a:sym typeface="+mn-ea"/>
              </a:rPr>
              <a:t>(F)</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3" grpId="0" bldLvl="0" animBg="1"/>
      <p:bldP spid="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3"/>
          <a:stretch>
            <a:fillRect/>
          </a:stretch>
        </p:blipFill>
        <p:spPr>
          <a:xfrm>
            <a:off x="35560" y="1125220"/>
            <a:ext cx="8968740" cy="31083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95"/>
          <p:cNvSpPr txBox="1">
            <a:spLocks noChangeArrowheads="1"/>
          </p:cNvSpPr>
          <p:nvPr/>
        </p:nvSpPr>
        <p:spPr bwMode="auto">
          <a:xfrm>
            <a:off x="539750" y="1236663"/>
            <a:ext cx="8064500" cy="954088"/>
          </a:xfrm>
          <a:prstGeom prst="rect">
            <a:avLst/>
          </a:prstGeom>
          <a:noFill/>
          <a:ln>
            <a:noFill/>
          </a:ln>
        </p:spPr>
        <p:txBody>
          <a:bodyPr>
            <a:spAutoFit/>
          </a:bodyPr>
          <a:lstStyle>
            <a:lvl1pPr>
              <a:defRPr>
                <a:solidFill>
                  <a:srgbClr val="FF0000"/>
                </a:solidFill>
                <a:latin typeface="Arial" panose="020B0604020202020204" pitchFamily="34" charset="0"/>
                <a:ea typeface="宋体-18030" pitchFamily="49" charset="-122"/>
              </a:defRPr>
            </a:lvl1pPr>
            <a:lvl2pPr marL="742950" indent="-285750">
              <a:defRPr>
                <a:solidFill>
                  <a:srgbClr val="FF0000"/>
                </a:solidFill>
                <a:latin typeface="Arial" panose="020B0604020202020204" pitchFamily="34" charset="0"/>
                <a:ea typeface="宋体-18030" pitchFamily="49" charset="-122"/>
              </a:defRPr>
            </a:lvl2pPr>
            <a:lvl3pPr marL="1143000" indent="-228600">
              <a:defRPr>
                <a:solidFill>
                  <a:srgbClr val="FF0000"/>
                </a:solidFill>
                <a:latin typeface="Arial" panose="020B0604020202020204" pitchFamily="34" charset="0"/>
                <a:ea typeface="宋体-18030" pitchFamily="49" charset="-122"/>
              </a:defRPr>
            </a:lvl3pPr>
            <a:lvl4pPr marL="1600200" indent="-228600">
              <a:defRPr>
                <a:solidFill>
                  <a:srgbClr val="FF0000"/>
                </a:solidFill>
                <a:latin typeface="Arial" panose="020B0604020202020204" pitchFamily="34" charset="0"/>
                <a:ea typeface="宋体-18030" pitchFamily="49" charset="-122"/>
              </a:defRPr>
            </a:lvl4pPr>
            <a:lvl5pPr marL="2057400" indent="-22860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根据</a:t>
            </a: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关联参考方向</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，当 </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v </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&gt; 0</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且</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 </a:t>
            </a:r>
            <a:r>
              <a:rPr kumimoji="0" lang="en-US" altLang="zh-CN" sz="28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i</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 &gt; 0</a:t>
            </a:r>
            <a:r>
              <a:rPr kumimoji="0" lang="zh-CN" altLang="en-US" sz="28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zh-CN" altLang="en-US" sz="28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 </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或者</a:t>
            </a:r>
            <a:r>
              <a:rPr kumimoji="0" lang="zh-CN" altLang="en-US" sz="2800" b="0"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 </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v </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&lt; 0</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且</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 </a:t>
            </a:r>
            <a:r>
              <a:rPr kumimoji="0" lang="en-US" altLang="zh-CN" sz="28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i</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 &lt; 0</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时，电容</a:t>
            </a:r>
            <a:r>
              <a:rPr kumimoji="0" lang="zh-CN" altLang="en-US" sz="2800" b="1" i="0" u="none" strike="noStrike" kern="1200" cap="none" spc="0" normalizeH="0" baseline="0" noProof="0" dirty="0">
                <a:ln>
                  <a:noFill/>
                </a:ln>
                <a:solidFill>
                  <a:schemeClr val="bg2">
                    <a:lumMod val="60000"/>
                    <a:lumOff val="40000"/>
                  </a:schemeClr>
                </a:solidFill>
                <a:effectLst/>
                <a:uLnTx/>
                <a:uFillTx/>
                <a:latin typeface="Times New Roman" panose="02020603050405020304" pitchFamily="18" charset="0"/>
                <a:ea typeface="宋体" panose="02010600030101010101" pitchFamily="2" charset="-122"/>
                <a:cs typeface="+mn-cs"/>
              </a:rPr>
              <a:t>充电</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；当 </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v</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8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Arial" panose="020B0604020202020204" pitchFamily="34" charset="0"/>
              </a:rPr>
              <a:t>i</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&lt; 0</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时，电容</a:t>
            </a:r>
            <a:r>
              <a:rPr kumimoji="0" lang="zh-CN" altLang="en-US" sz="2800" b="1" i="0" u="none" strike="noStrike" kern="1200" cap="none" spc="0" normalizeH="0" baseline="0" noProof="0" dirty="0">
                <a:ln>
                  <a:noFill/>
                </a:ln>
                <a:solidFill>
                  <a:schemeClr val="bg2">
                    <a:lumMod val="60000"/>
                    <a:lumOff val="40000"/>
                  </a:schemeClr>
                </a:solidFill>
                <a:effectLst/>
                <a:uLnTx/>
                <a:uFillTx/>
                <a:latin typeface="Times New Roman" panose="02020603050405020304" pitchFamily="18" charset="0"/>
                <a:ea typeface="宋体" panose="02010600030101010101" pitchFamily="2" charset="-122"/>
                <a:cs typeface="+mn-cs"/>
              </a:rPr>
              <a:t>放电。</a:t>
            </a:r>
            <a:endParaRPr kumimoji="0" lang="en-US" altLang="zh-CN" sz="2800" b="1" i="0" u="none" strike="noStrike" kern="1200" cap="none" spc="0" normalizeH="0" baseline="0" noProof="0" dirty="0">
              <a:ln>
                <a:noFill/>
              </a:ln>
              <a:solidFill>
                <a:schemeClr val="bg2">
                  <a:lumMod val="60000"/>
                  <a:lumOff val="40000"/>
                </a:schemeClr>
              </a:solidFill>
              <a:effectLst/>
              <a:uLnTx/>
              <a:uFillTx/>
              <a:latin typeface="Times New Roman" panose="02020603050405020304" pitchFamily="18" charset="0"/>
              <a:ea typeface="宋体" panose="02010600030101010101" pitchFamily="2" charset="-122"/>
              <a:cs typeface="+mn-cs"/>
            </a:endParaRPr>
          </a:p>
        </p:txBody>
      </p:sp>
      <p:sp>
        <p:nvSpPr>
          <p:cNvPr id="22531" name="Rectangle 168"/>
          <p:cNvSpPr/>
          <p:nvPr/>
        </p:nvSpPr>
        <p:spPr>
          <a:xfrm>
            <a:off x="1763713" y="4662488"/>
            <a:ext cx="5367337" cy="911225"/>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cs typeface="Arial" panose="020B0604020202020204" pitchFamily="34" charset="0"/>
              </a:rPr>
              <a:t>电容的电路符号  </a:t>
            </a:r>
            <a:r>
              <a:rPr lang="en-US" altLang="zh-CN" sz="2000" b="1" dirty="0">
                <a:cs typeface="Arial" panose="020B0604020202020204" pitchFamily="34" charset="0"/>
              </a:rPr>
              <a:t>a) </a:t>
            </a:r>
            <a:r>
              <a:rPr lang="zh-CN" altLang="en-US" sz="2000" b="1" dirty="0">
                <a:cs typeface="Arial" panose="020B0604020202020204" pitchFamily="34" charset="0"/>
              </a:rPr>
              <a:t>固定电容    </a:t>
            </a:r>
            <a:r>
              <a:rPr lang="en-US" altLang="zh-CN" sz="2000" b="1" dirty="0">
                <a:cs typeface="Arial" panose="020B0604020202020204" pitchFamily="34" charset="0"/>
              </a:rPr>
              <a:t>b) </a:t>
            </a:r>
            <a:r>
              <a:rPr lang="zh-CN" altLang="en-US" sz="2000" b="1" dirty="0">
                <a:cs typeface="Arial" panose="020B0604020202020204" pitchFamily="34" charset="0"/>
              </a:rPr>
              <a:t>可变电容</a:t>
            </a:r>
            <a:endParaRPr lang="en-US" altLang="zh-CN" sz="2000" b="1" dirty="0">
              <a:ea typeface="Arial" panose="020B0604020202020204" pitchFamily="34" charset="0"/>
            </a:endParaRPr>
          </a:p>
        </p:txBody>
      </p:sp>
      <p:sp>
        <p:nvSpPr>
          <p:cNvPr id="22532" name="Freeform 98"/>
          <p:cNvSpPr/>
          <p:nvPr/>
        </p:nvSpPr>
        <p:spPr>
          <a:xfrm>
            <a:off x="1633538" y="3563938"/>
            <a:ext cx="387350" cy="0"/>
          </a:xfrm>
          <a:custGeom>
            <a:avLst/>
            <a:gdLst>
              <a:gd name="txL" fmla="*/ 0 w 317"/>
              <a:gd name="txT" fmla="*/ 0 h 0"/>
              <a:gd name="txR" fmla="*/ 317 w 317"/>
              <a:gd name="txB" fmla="*/ 0 h 0"/>
            </a:gdLst>
            <a:ahLst/>
            <a:cxnLst>
              <a:cxn ang="0">
                <a:pos x="0" y="0"/>
              </a:cxn>
              <a:cxn ang="0">
                <a:pos x="2147483646" y="0"/>
              </a:cxn>
              <a:cxn ang="0">
                <a:pos x="0" y="0"/>
              </a:cxn>
              <a:cxn ang="0">
                <a:pos x="0" y="0"/>
              </a:cxn>
            </a:cxnLst>
            <a:rect l="txL" t="txT" r="txR" b="txB"/>
            <a:pathLst>
              <a:path w="317">
                <a:moveTo>
                  <a:pt x="0" y="0"/>
                </a:moveTo>
                <a:lnTo>
                  <a:pt x="317"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22533" name="Freeform 102"/>
          <p:cNvSpPr/>
          <p:nvPr/>
        </p:nvSpPr>
        <p:spPr>
          <a:xfrm>
            <a:off x="1393825" y="3722688"/>
            <a:ext cx="73025" cy="68262"/>
          </a:xfrm>
          <a:custGeom>
            <a:avLst/>
            <a:gdLst>
              <a:gd name="txL" fmla="*/ 0 w 59"/>
              <a:gd name="txT" fmla="*/ 0 h 107"/>
              <a:gd name="txR" fmla="*/ 59 w 59"/>
              <a:gd name="txB" fmla="*/ 107 h 107"/>
            </a:gdLst>
            <a:ahLst/>
            <a:cxnLst>
              <a:cxn ang="0">
                <a:pos x="0"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0" y="2147483646"/>
              </a:cxn>
              <a:cxn ang="0">
                <a:pos x="0" y="2147483646"/>
              </a:cxn>
            </a:cxnLst>
            <a:rect l="txL" t="txT" r="txR" b="txB"/>
            <a:pathLst>
              <a:path w="59" h="107">
                <a:moveTo>
                  <a:pt x="0" y="107"/>
                </a:moveTo>
                <a:lnTo>
                  <a:pt x="24" y="101"/>
                </a:lnTo>
                <a:lnTo>
                  <a:pt x="42" y="77"/>
                </a:lnTo>
                <a:lnTo>
                  <a:pt x="54" y="42"/>
                </a:lnTo>
                <a:lnTo>
                  <a:pt x="59" y="0"/>
                </a:lnTo>
                <a:lnTo>
                  <a:pt x="54" y="42"/>
                </a:lnTo>
                <a:lnTo>
                  <a:pt x="42" y="77"/>
                </a:lnTo>
                <a:lnTo>
                  <a:pt x="24" y="101"/>
                </a:lnTo>
                <a:lnTo>
                  <a:pt x="0" y="10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34" name="Freeform 103"/>
          <p:cNvSpPr>
            <a:spLocks noEditPoints="1"/>
          </p:cNvSpPr>
          <p:nvPr/>
        </p:nvSpPr>
        <p:spPr>
          <a:xfrm>
            <a:off x="1393825" y="3657600"/>
            <a:ext cx="73025" cy="65088"/>
          </a:xfrm>
          <a:custGeom>
            <a:avLst/>
            <a:gdLst>
              <a:gd name="txL" fmla="*/ 0 w 59"/>
              <a:gd name="txT" fmla="*/ 0 h 102"/>
              <a:gd name="txR" fmla="*/ 59 w 59"/>
              <a:gd name="txB" fmla="*/ 102 h 102"/>
            </a:gdLst>
            <a:ahLst/>
            <a:cxnLst>
              <a:cxn ang="0">
                <a:pos x="2147483646" y="2147483646"/>
              </a:cxn>
              <a:cxn ang="0">
                <a:pos x="2147483646" y="2147483646"/>
              </a:cxn>
              <a:cxn ang="0">
                <a:pos x="2147483646" y="2147483646"/>
              </a:cxn>
              <a:cxn ang="0">
                <a:pos x="2147483646" y="2147483646"/>
              </a:cxn>
              <a:cxn ang="0">
                <a:pos x="0" y="0"/>
              </a:cxn>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9" h="102">
                <a:moveTo>
                  <a:pt x="59" y="102"/>
                </a:moveTo>
                <a:lnTo>
                  <a:pt x="54" y="66"/>
                </a:lnTo>
                <a:lnTo>
                  <a:pt x="42" y="30"/>
                </a:lnTo>
                <a:lnTo>
                  <a:pt x="24" y="6"/>
                </a:lnTo>
                <a:lnTo>
                  <a:pt x="0" y="0"/>
                </a:lnTo>
                <a:lnTo>
                  <a:pt x="24" y="6"/>
                </a:lnTo>
                <a:lnTo>
                  <a:pt x="42" y="30"/>
                </a:lnTo>
                <a:lnTo>
                  <a:pt x="54" y="66"/>
                </a:lnTo>
                <a:lnTo>
                  <a:pt x="59" y="102"/>
                </a:lnTo>
                <a:close/>
                <a:moveTo>
                  <a:pt x="59" y="102"/>
                </a:moveTo>
                <a:lnTo>
                  <a:pt x="59" y="102"/>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35" name="Freeform 104"/>
          <p:cNvSpPr>
            <a:spLocks noEditPoints="1"/>
          </p:cNvSpPr>
          <p:nvPr/>
        </p:nvSpPr>
        <p:spPr>
          <a:xfrm>
            <a:off x="1328738" y="3657600"/>
            <a:ext cx="65087" cy="65088"/>
          </a:xfrm>
          <a:custGeom>
            <a:avLst/>
            <a:gdLst>
              <a:gd name="txL" fmla="*/ 0 w 54"/>
              <a:gd name="txT" fmla="*/ 0 h 102"/>
              <a:gd name="txR" fmla="*/ 54 w 54"/>
              <a:gd name="txB" fmla="*/ 102 h 102"/>
            </a:gdLst>
            <a:ahLst/>
            <a:cxnLst>
              <a:cxn ang="0">
                <a:pos x="2147483646" y="0"/>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0"/>
              </a:cxn>
            </a:cxnLst>
            <a:rect l="txL" t="txT" r="txR" b="txB"/>
            <a:pathLst>
              <a:path w="54" h="102">
                <a:moveTo>
                  <a:pt x="54" y="0"/>
                </a:moveTo>
                <a:lnTo>
                  <a:pt x="36" y="6"/>
                </a:lnTo>
                <a:lnTo>
                  <a:pt x="18" y="30"/>
                </a:lnTo>
                <a:lnTo>
                  <a:pt x="6" y="66"/>
                </a:lnTo>
                <a:lnTo>
                  <a:pt x="0" y="102"/>
                </a:lnTo>
                <a:lnTo>
                  <a:pt x="6" y="66"/>
                </a:lnTo>
                <a:lnTo>
                  <a:pt x="18" y="30"/>
                </a:lnTo>
                <a:lnTo>
                  <a:pt x="36" y="6"/>
                </a:lnTo>
                <a:lnTo>
                  <a:pt x="54" y="0"/>
                </a:lnTo>
                <a:close/>
                <a:moveTo>
                  <a:pt x="54" y="0"/>
                </a:moveTo>
                <a:lnTo>
                  <a:pt x="54"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36" name="Freeform 105"/>
          <p:cNvSpPr>
            <a:spLocks noEditPoints="1"/>
          </p:cNvSpPr>
          <p:nvPr/>
        </p:nvSpPr>
        <p:spPr>
          <a:xfrm>
            <a:off x="1328738" y="3722688"/>
            <a:ext cx="65087" cy="68262"/>
          </a:xfrm>
          <a:custGeom>
            <a:avLst/>
            <a:gdLst>
              <a:gd name="txL" fmla="*/ 0 w 54"/>
              <a:gd name="txT" fmla="*/ 0 h 107"/>
              <a:gd name="txR" fmla="*/ 54 w 54"/>
              <a:gd name="txB" fmla="*/ 107 h 107"/>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0" y="0"/>
              </a:cxn>
              <a:cxn ang="0">
                <a:pos x="0" y="0"/>
              </a:cxn>
              <a:cxn ang="0">
                <a:pos x="0" y="0"/>
              </a:cxn>
              <a:cxn ang="0">
                <a:pos x="0" y="0"/>
              </a:cxn>
            </a:cxnLst>
            <a:rect l="txL" t="txT" r="txR" b="txB"/>
            <a:pathLst>
              <a:path w="54" h="107">
                <a:moveTo>
                  <a:pt x="0" y="0"/>
                </a:moveTo>
                <a:lnTo>
                  <a:pt x="6" y="42"/>
                </a:lnTo>
                <a:lnTo>
                  <a:pt x="18" y="77"/>
                </a:lnTo>
                <a:lnTo>
                  <a:pt x="36" y="101"/>
                </a:lnTo>
                <a:lnTo>
                  <a:pt x="54" y="107"/>
                </a:lnTo>
                <a:lnTo>
                  <a:pt x="36" y="101"/>
                </a:lnTo>
                <a:lnTo>
                  <a:pt x="18" y="77"/>
                </a:lnTo>
                <a:lnTo>
                  <a:pt x="6" y="42"/>
                </a:lnTo>
                <a:lnTo>
                  <a:pt x="0" y="0"/>
                </a:lnTo>
                <a:close/>
                <a:moveTo>
                  <a:pt x="0" y="0"/>
                </a:moveTo>
                <a:lnTo>
                  <a:pt x="0"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37" name="Freeform 106"/>
          <p:cNvSpPr/>
          <p:nvPr/>
        </p:nvSpPr>
        <p:spPr>
          <a:xfrm>
            <a:off x="1393825" y="3790950"/>
            <a:ext cx="1588" cy="1588"/>
          </a:xfrm>
          <a:custGeom>
            <a:avLst/>
            <a:gdLst>
              <a:gd name="txL" fmla="*/ 0 w 1587"/>
              <a:gd name="txT" fmla="*/ 0 h 1587"/>
              <a:gd name="txR" fmla="*/ 1587 w 1587"/>
              <a:gd name="txB" fmla="*/ 1587 h 1587"/>
            </a:gdLst>
            <a:ahLst/>
            <a:cxnLst>
              <a:cxn ang="0">
                <a:pos x="0" y="0"/>
              </a:cxn>
              <a:cxn ang="0">
                <a:pos x="0" y="0"/>
              </a:cxn>
              <a:cxn ang="0">
                <a:pos x="0" y="0"/>
              </a:cxn>
            </a:cxnLst>
            <a:rect l="txL" t="txT" r="txR" b="txB"/>
            <a:pathLst>
              <a:path w="1587" h="1587">
                <a:moveTo>
                  <a:pt x="0" y="0"/>
                </a:moveTo>
                <a:lnTo>
                  <a:pt x="0"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38" name="Freeform 107"/>
          <p:cNvSpPr/>
          <p:nvPr/>
        </p:nvSpPr>
        <p:spPr>
          <a:xfrm>
            <a:off x="3913188" y="3657600"/>
            <a:ext cx="138112" cy="133350"/>
          </a:xfrm>
          <a:custGeom>
            <a:avLst/>
            <a:gdLst>
              <a:gd name="txL" fmla="*/ 0 w 114"/>
              <a:gd name="txT" fmla="*/ 0 h 209"/>
              <a:gd name="txR" fmla="*/ 114 w 114"/>
              <a:gd name="txB" fmla="*/ 209 h 20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4" h="209">
                <a:moveTo>
                  <a:pt x="54" y="209"/>
                </a:moveTo>
                <a:lnTo>
                  <a:pt x="78" y="203"/>
                </a:lnTo>
                <a:lnTo>
                  <a:pt x="96" y="179"/>
                </a:lnTo>
                <a:lnTo>
                  <a:pt x="108" y="144"/>
                </a:lnTo>
                <a:lnTo>
                  <a:pt x="114" y="102"/>
                </a:lnTo>
                <a:lnTo>
                  <a:pt x="108" y="66"/>
                </a:lnTo>
                <a:lnTo>
                  <a:pt x="96" y="30"/>
                </a:lnTo>
                <a:lnTo>
                  <a:pt x="78" y="6"/>
                </a:lnTo>
                <a:lnTo>
                  <a:pt x="54" y="0"/>
                </a:lnTo>
                <a:lnTo>
                  <a:pt x="36" y="6"/>
                </a:lnTo>
                <a:lnTo>
                  <a:pt x="18" y="30"/>
                </a:lnTo>
                <a:lnTo>
                  <a:pt x="6" y="66"/>
                </a:lnTo>
                <a:lnTo>
                  <a:pt x="0" y="102"/>
                </a:lnTo>
                <a:lnTo>
                  <a:pt x="6" y="144"/>
                </a:lnTo>
                <a:lnTo>
                  <a:pt x="18" y="179"/>
                </a:lnTo>
                <a:lnTo>
                  <a:pt x="36" y="203"/>
                </a:lnTo>
                <a:lnTo>
                  <a:pt x="54" y="209"/>
                </a:lnTo>
                <a:close/>
              </a:path>
            </a:pathLst>
          </a:custGeom>
          <a:solidFill>
            <a:srgbClr val="FFFFFF">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39" name="Freeform 109"/>
          <p:cNvSpPr>
            <a:spLocks noEditPoints="1"/>
          </p:cNvSpPr>
          <p:nvPr/>
        </p:nvSpPr>
        <p:spPr>
          <a:xfrm>
            <a:off x="3978275" y="3657600"/>
            <a:ext cx="73025" cy="65088"/>
          </a:xfrm>
          <a:custGeom>
            <a:avLst/>
            <a:gdLst>
              <a:gd name="txL" fmla="*/ 0 w 60"/>
              <a:gd name="txT" fmla="*/ 0 h 102"/>
              <a:gd name="txR" fmla="*/ 60 w 60"/>
              <a:gd name="txB" fmla="*/ 102 h 102"/>
            </a:gdLst>
            <a:ahLst/>
            <a:cxnLst>
              <a:cxn ang="0">
                <a:pos x="2147483646" y="2147483646"/>
              </a:cxn>
              <a:cxn ang="0">
                <a:pos x="2147483646" y="2147483646"/>
              </a:cxn>
              <a:cxn ang="0">
                <a:pos x="2147483646" y="2147483646"/>
              </a:cxn>
              <a:cxn ang="0">
                <a:pos x="2147483646" y="2147483646"/>
              </a:cxn>
              <a:cxn ang="0">
                <a:pos x="2147483646" y="0"/>
              </a:cxn>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60" h="102">
                <a:moveTo>
                  <a:pt x="60" y="102"/>
                </a:moveTo>
                <a:lnTo>
                  <a:pt x="54" y="66"/>
                </a:lnTo>
                <a:lnTo>
                  <a:pt x="42" y="30"/>
                </a:lnTo>
                <a:lnTo>
                  <a:pt x="30" y="6"/>
                </a:lnTo>
                <a:lnTo>
                  <a:pt x="6" y="0"/>
                </a:lnTo>
                <a:lnTo>
                  <a:pt x="0" y="0"/>
                </a:lnTo>
                <a:lnTo>
                  <a:pt x="24" y="6"/>
                </a:lnTo>
                <a:lnTo>
                  <a:pt x="42" y="30"/>
                </a:lnTo>
                <a:lnTo>
                  <a:pt x="54" y="66"/>
                </a:lnTo>
                <a:lnTo>
                  <a:pt x="60" y="102"/>
                </a:lnTo>
                <a:close/>
                <a:moveTo>
                  <a:pt x="60" y="102"/>
                </a:moveTo>
                <a:lnTo>
                  <a:pt x="60" y="102"/>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40" name="Freeform 110"/>
          <p:cNvSpPr>
            <a:spLocks noEditPoints="1"/>
          </p:cNvSpPr>
          <p:nvPr/>
        </p:nvSpPr>
        <p:spPr>
          <a:xfrm>
            <a:off x="3913188" y="3657600"/>
            <a:ext cx="73025" cy="65088"/>
          </a:xfrm>
          <a:custGeom>
            <a:avLst/>
            <a:gdLst>
              <a:gd name="txL" fmla="*/ 0 w 60"/>
              <a:gd name="txT" fmla="*/ 0 h 102"/>
              <a:gd name="txR" fmla="*/ 60 w 60"/>
              <a:gd name="txB" fmla="*/ 102 h 102"/>
            </a:gdLst>
            <a:ahLst/>
            <a:cxnLst>
              <a:cxn ang="0">
                <a:pos x="2147483646" y="0"/>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0"/>
              </a:cxn>
            </a:cxnLst>
            <a:rect l="txL" t="txT" r="txR" b="txB"/>
            <a:pathLst>
              <a:path w="60" h="102">
                <a:moveTo>
                  <a:pt x="54" y="0"/>
                </a:moveTo>
                <a:lnTo>
                  <a:pt x="36" y="6"/>
                </a:lnTo>
                <a:lnTo>
                  <a:pt x="18" y="30"/>
                </a:lnTo>
                <a:lnTo>
                  <a:pt x="6" y="66"/>
                </a:lnTo>
                <a:lnTo>
                  <a:pt x="0" y="102"/>
                </a:lnTo>
                <a:lnTo>
                  <a:pt x="6" y="66"/>
                </a:lnTo>
                <a:lnTo>
                  <a:pt x="18" y="30"/>
                </a:lnTo>
                <a:lnTo>
                  <a:pt x="36" y="6"/>
                </a:lnTo>
                <a:lnTo>
                  <a:pt x="60" y="0"/>
                </a:lnTo>
                <a:lnTo>
                  <a:pt x="54" y="0"/>
                </a:lnTo>
                <a:close/>
                <a:moveTo>
                  <a:pt x="54" y="0"/>
                </a:moveTo>
                <a:lnTo>
                  <a:pt x="54"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41" name="Freeform 111"/>
          <p:cNvSpPr>
            <a:spLocks noEditPoints="1"/>
          </p:cNvSpPr>
          <p:nvPr/>
        </p:nvSpPr>
        <p:spPr>
          <a:xfrm>
            <a:off x="3913188" y="3722688"/>
            <a:ext cx="73025" cy="68262"/>
          </a:xfrm>
          <a:custGeom>
            <a:avLst/>
            <a:gdLst>
              <a:gd name="txL" fmla="*/ 0 w 60"/>
              <a:gd name="txT" fmla="*/ 0 h 107"/>
              <a:gd name="txR" fmla="*/ 60 w 60"/>
              <a:gd name="txB" fmla="*/ 107 h 107"/>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0" y="0"/>
              </a:cxn>
              <a:cxn ang="0">
                <a:pos x="0" y="0"/>
              </a:cxn>
              <a:cxn ang="0">
                <a:pos x="0" y="0"/>
              </a:cxn>
              <a:cxn ang="0">
                <a:pos x="0" y="0"/>
              </a:cxn>
            </a:cxnLst>
            <a:rect l="txL" t="txT" r="txR" b="txB"/>
            <a:pathLst>
              <a:path w="60" h="107">
                <a:moveTo>
                  <a:pt x="0" y="0"/>
                </a:moveTo>
                <a:lnTo>
                  <a:pt x="6" y="42"/>
                </a:lnTo>
                <a:lnTo>
                  <a:pt x="18" y="77"/>
                </a:lnTo>
                <a:lnTo>
                  <a:pt x="36" y="101"/>
                </a:lnTo>
                <a:lnTo>
                  <a:pt x="60" y="107"/>
                </a:lnTo>
                <a:lnTo>
                  <a:pt x="54" y="107"/>
                </a:lnTo>
                <a:lnTo>
                  <a:pt x="36" y="101"/>
                </a:lnTo>
                <a:lnTo>
                  <a:pt x="18" y="77"/>
                </a:lnTo>
                <a:lnTo>
                  <a:pt x="6" y="42"/>
                </a:lnTo>
                <a:lnTo>
                  <a:pt x="0" y="0"/>
                </a:lnTo>
                <a:close/>
                <a:moveTo>
                  <a:pt x="0" y="0"/>
                </a:moveTo>
                <a:lnTo>
                  <a:pt x="0"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42" name="Freeform 112"/>
          <p:cNvSpPr/>
          <p:nvPr/>
        </p:nvSpPr>
        <p:spPr>
          <a:xfrm>
            <a:off x="3978275" y="3790950"/>
            <a:ext cx="1588" cy="1588"/>
          </a:xfrm>
          <a:custGeom>
            <a:avLst/>
            <a:gdLst>
              <a:gd name="txL" fmla="*/ 0 w 1587"/>
              <a:gd name="txT" fmla="*/ 0 h 1587"/>
              <a:gd name="txR" fmla="*/ 1587 w 1587"/>
              <a:gd name="txB" fmla="*/ 1587 h 1587"/>
            </a:gdLst>
            <a:ahLst/>
            <a:cxnLst>
              <a:cxn ang="0">
                <a:pos x="0" y="0"/>
              </a:cxn>
              <a:cxn ang="0">
                <a:pos x="0" y="0"/>
              </a:cxn>
              <a:cxn ang="0">
                <a:pos x="0" y="0"/>
              </a:cxn>
            </a:cxnLst>
            <a:rect l="txL" t="txT" r="txR" b="txB"/>
            <a:pathLst>
              <a:path w="1587" h="1587">
                <a:moveTo>
                  <a:pt x="0" y="0"/>
                </a:moveTo>
                <a:lnTo>
                  <a:pt x="0"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43" name="Freeform 128"/>
          <p:cNvSpPr/>
          <p:nvPr/>
        </p:nvSpPr>
        <p:spPr>
          <a:xfrm>
            <a:off x="2589213" y="3556000"/>
            <a:ext cx="85725" cy="330200"/>
          </a:xfrm>
          <a:custGeom>
            <a:avLst/>
            <a:gdLst>
              <a:gd name="txL" fmla="*/ 0 w 71"/>
              <a:gd name="txT" fmla="*/ 0 h 520"/>
              <a:gd name="txR" fmla="*/ 71 w 71"/>
              <a:gd name="txB" fmla="*/ 520 h 520"/>
            </a:gdLst>
            <a:ahLst/>
            <a:cxnLst>
              <a:cxn ang="0">
                <a:pos x="2147483646" y="0"/>
              </a:cxn>
              <a:cxn ang="0">
                <a:pos x="2147483646" y="2147483646"/>
              </a:cxn>
              <a:cxn ang="0">
                <a:pos x="0" y="2147483646"/>
              </a:cxn>
              <a:cxn ang="0">
                <a:pos x="0" y="0"/>
              </a:cxn>
              <a:cxn ang="0">
                <a:pos x="2147483646" y="0"/>
              </a:cxn>
              <a:cxn ang="0">
                <a:pos x="2147483646" y="0"/>
              </a:cxn>
            </a:cxnLst>
            <a:rect l="txL" t="txT" r="txR" b="txB"/>
            <a:pathLst>
              <a:path w="71" h="520">
                <a:moveTo>
                  <a:pt x="71" y="0"/>
                </a:moveTo>
                <a:lnTo>
                  <a:pt x="71" y="520"/>
                </a:lnTo>
                <a:lnTo>
                  <a:pt x="0" y="520"/>
                </a:lnTo>
                <a:lnTo>
                  <a:pt x="0" y="0"/>
                </a:lnTo>
                <a:lnTo>
                  <a:pt x="71" y="0"/>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22544" name="Freeform 131"/>
          <p:cNvSpPr>
            <a:spLocks noEditPoints="1"/>
          </p:cNvSpPr>
          <p:nvPr/>
        </p:nvSpPr>
        <p:spPr>
          <a:xfrm>
            <a:off x="2674938" y="3719513"/>
            <a:ext cx="87312" cy="160337"/>
          </a:xfrm>
          <a:custGeom>
            <a:avLst/>
            <a:gdLst>
              <a:gd name="txL" fmla="*/ 0 w 72"/>
              <a:gd name="txT" fmla="*/ 0 h 251"/>
              <a:gd name="txR" fmla="*/ 72 w 72"/>
              <a:gd name="txB" fmla="*/ 251 h 251"/>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0" y="0"/>
              </a:cxn>
              <a:cxn ang="0">
                <a:pos x="0" y="0"/>
              </a:cxn>
              <a:cxn ang="0">
                <a:pos x="0" y="0"/>
              </a:cxn>
              <a:cxn ang="0">
                <a:pos x="0" y="0"/>
              </a:cxn>
            </a:cxnLst>
            <a:rect l="txL" t="txT" r="txR" b="txB"/>
            <a:pathLst>
              <a:path w="72" h="251">
                <a:moveTo>
                  <a:pt x="0" y="0"/>
                </a:moveTo>
                <a:lnTo>
                  <a:pt x="6" y="78"/>
                </a:lnTo>
                <a:lnTo>
                  <a:pt x="18" y="143"/>
                </a:lnTo>
                <a:lnTo>
                  <a:pt x="42" y="203"/>
                </a:lnTo>
                <a:lnTo>
                  <a:pt x="72" y="251"/>
                </a:lnTo>
                <a:lnTo>
                  <a:pt x="42" y="203"/>
                </a:lnTo>
                <a:lnTo>
                  <a:pt x="18" y="143"/>
                </a:lnTo>
                <a:lnTo>
                  <a:pt x="6" y="78"/>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22545" name="Rectangle 146"/>
          <p:cNvSpPr/>
          <p:nvPr/>
        </p:nvSpPr>
        <p:spPr>
          <a:xfrm>
            <a:off x="2995613" y="3609975"/>
            <a:ext cx="115887" cy="92075"/>
          </a:xfrm>
          <a:prstGeom prst="rect">
            <a:avLst/>
          </a:prstGeom>
          <a:solidFill>
            <a:srgbClr val="FFFFFF"/>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pSp>
        <p:nvGrpSpPr>
          <p:cNvPr id="22546" name="Group 155"/>
          <p:cNvGrpSpPr/>
          <p:nvPr/>
        </p:nvGrpSpPr>
        <p:grpSpPr>
          <a:xfrm>
            <a:off x="1328738" y="3221038"/>
            <a:ext cx="2722562" cy="939800"/>
            <a:chOff x="476" y="2840"/>
            <a:chExt cx="1715" cy="592"/>
          </a:xfrm>
        </p:grpSpPr>
        <p:grpSp>
          <p:nvGrpSpPr>
            <p:cNvPr id="22584" name="Group 152"/>
            <p:cNvGrpSpPr/>
            <p:nvPr/>
          </p:nvGrpSpPr>
          <p:grpSpPr>
            <a:xfrm>
              <a:off x="476" y="2840"/>
              <a:ext cx="1100" cy="592"/>
              <a:chOff x="476" y="2840"/>
              <a:chExt cx="1100" cy="592"/>
            </a:xfrm>
          </p:grpSpPr>
          <p:sp>
            <p:nvSpPr>
              <p:cNvPr id="22588" name="Freeform 129"/>
              <p:cNvSpPr/>
              <p:nvPr/>
            </p:nvSpPr>
            <p:spPr>
              <a:xfrm>
                <a:off x="1270" y="3051"/>
                <a:ext cx="0" cy="208"/>
              </a:xfrm>
              <a:custGeom>
                <a:avLst/>
                <a:gdLst>
                  <a:gd name="txL" fmla="*/ 0 w 0"/>
                  <a:gd name="txT" fmla="*/ 0 h 520"/>
                  <a:gd name="txR" fmla="*/ 0 w 0"/>
                  <a:gd name="txB" fmla="*/ 520 h 520"/>
                </a:gdLst>
                <a:ahLst/>
                <a:cxnLst>
                  <a:cxn ang="0">
                    <a:pos x="0" y="0"/>
                  </a:cxn>
                  <a:cxn ang="0">
                    <a:pos x="0" y="0"/>
                  </a:cxn>
                  <a:cxn ang="0">
                    <a:pos x="0" y="0"/>
                  </a:cxn>
                  <a:cxn ang="0">
                    <a:pos x="0" y="0"/>
                  </a:cxn>
                </a:cxnLst>
                <a:rect l="txL" t="txT" r="txR" b="txB"/>
                <a:pathLst>
                  <a:path h="520">
                    <a:moveTo>
                      <a:pt x="0" y="520"/>
                    </a:moveTo>
                    <a:lnTo>
                      <a:pt x="0" y="0"/>
                    </a:lnTo>
                    <a:lnTo>
                      <a:pt x="0" y="52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22589" name="Freeform 130"/>
              <p:cNvSpPr/>
              <p:nvPr/>
            </p:nvSpPr>
            <p:spPr>
              <a:xfrm>
                <a:off x="1324" y="3053"/>
                <a:ext cx="55" cy="101"/>
              </a:xfrm>
              <a:custGeom>
                <a:avLst/>
                <a:gdLst>
                  <a:gd name="txL" fmla="*/ 0 w 72"/>
                  <a:gd name="txT" fmla="*/ 0 h 251"/>
                  <a:gd name="txR" fmla="*/ 72 w 72"/>
                  <a:gd name="txB" fmla="*/ 251 h 251"/>
                </a:gdLst>
                <a:ahLst/>
                <a:cxnLst>
                  <a:cxn ang="0">
                    <a:pos x="2" y="0"/>
                  </a:cxn>
                  <a:cxn ang="0">
                    <a:pos x="2" y="0"/>
                  </a:cxn>
                  <a:cxn ang="0">
                    <a:pos x="2" y="0"/>
                  </a:cxn>
                  <a:cxn ang="0">
                    <a:pos x="2" y="0"/>
                  </a:cxn>
                  <a:cxn ang="0">
                    <a:pos x="0" y="0"/>
                  </a:cxn>
                  <a:cxn ang="0">
                    <a:pos x="0" y="0"/>
                  </a:cxn>
                  <a:cxn ang="0">
                    <a:pos x="2" y="0"/>
                  </a:cxn>
                  <a:cxn ang="0">
                    <a:pos x="2" y="0"/>
                  </a:cxn>
                  <a:cxn ang="0">
                    <a:pos x="2" y="0"/>
                  </a:cxn>
                  <a:cxn ang="0">
                    <a:pos x="2" y="0"/>
                  </a:cxn>
                  <a:cxn ang="0">
                    <a:pos x="2" y="0"/>
                  </a:cxn>
                </a:cxnLst>
                <a:rect l="txL" t="txT" r="txR" b="txB"/>
                <a:pathLst>
                  <a:path w="72" h="251">
                    <a:moveTo>
                      <a:pt x="72" y="0"/>
                    </a:moveTo>
                    <a:lnTo>
                      <a:pt x="42" y="48"/>
                    </a:lnTo>
                    <a:lnTo>
                      <a:pt x="18" y="108"/>
                    </a:lnTo>
                    <a:lnTo>
                      <a:pt x="6" y="179"/>
                    </a:lnTo>
                    <a:lnTo>
                      <a:pt x="0" y="251"/>
                    </a:lnTo>
                    <a:lnTo>
                      <a:pt x="6" y="179"/>
                    </a:lnTo>
                    <a:lnTo>
                      <a:pt x="18" y="108"/>
                    </a:lnTo>
                    <a:lnTo>
                      <a:pt x="42" y="48"/>
                    </a:lnTo>
                    <a:lnTo>
                      <a:pt x="7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22590" name="Freeform 132"/>
              <p:cNvSpPr/>
              <p:nvPr/>
            </p:nvSpPr>
            <p:spPr>
              <a:xfrm>
                <a:off x="1265" y="2840"/>
                <a:ext cx="123" cy="122"/>
              </a:xfrm>
              <a:custGeom>
                <a:avLst/>
                <a:gdLst>
                  <a:gd name="txL" fmla="*/ 0 w 161"/>
                  <a:gd name="txT" fmla="*/ 0 h 304"/>
                  <a:gd name="txR" fmla="*/ 161 w 161"/>
                  <a:gd name="txB" fmla="*/ 304 h 304"/>
                </a:gdLst>
                <a:ahLst/>
                <a:cxnLst>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0"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Lst>
                <a:rect l="txL" t="txT" r="txR" b="txB"/>
                <a:pathLst>
                  <a:path w="161" h="304">
                    <a:moveTo>
                      <a:pt x="149" y="89"/>
                    </a:moveTo>
                    <a:lnTo>
                      <a:pt x="161" y="0"/>
                    </a:lnTo>
                    <a:lnTo>
                      <a:pt x="155" y="0"/>
                    </a:lnTo>
                    <a:lnTo>
                      <a:pt x="149" y="5"/>
                    </a:lnTo>
                    <a:lnTo>
                      <a:pt x="143" y="11"/>
                    </a:lnTo>
                    <a:lnTo>
                      <a:pt x="131" y="5"/>
                    </a:lnTo>
                    <a:lnTo>
                      <a:pt x="107" y="0"/>
                    </a:lnTo>
                    <a:lnTo>
                      <a:pt x="83" y="5"/>
                    </a:lnTo>
                    <a:lnTo>
                      <a:pt x="65" y="17"/>
                    </a:lnTo>
                    <a:lnTo>
                      <a:pt x="47" y="35"/>
                    </a:lnTo>
                    <a:lnTo>
                      <a:pt x="29" y="59"/>
                    </a:lnTo>
                    <a:lnTo>
                      <a:pt x="6" y="119"/>
                    </a:lnTo>
                    <a:lnTo>
                      <a:pt x="0" y="185"/>
                    </a:lnTo>
                    <a:lnTo>
                      <a:pt x="6" y="238"/>
                    </a:lnTo>
                    <a:lnTo>
                      <a:pt x="23" y="280"/>
                    </a:lnTo>
                    <a:lnTo>
                      <a:pt x="41" y="298"/>
                    </a:lnTo>
                    <a:lnTo>
                      <a:pt x="65" y="304"/>
                    </a:lnTo>
                    <a:lnTo>
                      <a:pt x="95" y="298"/>
                    </a:lnTo>
                    <a:lnTo>
                      <a:pt x="113" y="280"/>
                    </a:lnTo>
                    <a:lnTo>
                      <a:pt x="125" y="256"/>
                    </a:lnTo>
                    <a:lnTo>
                      <a:pt x="137" y="238"/>
                    </a:lnTo>
                    <a:lnTo>
                      <a:pt x="131" y="232"/>
                    </a:lnTo>
                    <a:lnTo>
                      <a:pt x="107" y="268"/>
                    </a:lnTo>
                    <a:lnTo>
                      <a:pt x="89" y="280"/>
                    </a:lnTo>
                    <a:lnTo>
                      <a:pt x="71" y="286"/>
                    </a:lnTo>
                    <a:lnTo>
                      <a:pt x="53" y="280"/>
                    </a:lnTo>
                    <a:lnTo>
                      <a:pt x="41" y="262"/>
                    </a:lnTo>
                    <a:lnTo>
                      <a:pt x="29" y="232"/>
                    </a:lnTo>
                    <a:lnTo>
                      <a:pt x="29" y="191"/>
                    </a:lnTo>
                    <a:lnTo>
                      <a:pt x="35" y="137"/>
                    </a:lnTo>
                    <a:lnTo>
                      <a:pt x="47" y="77"/>
                    </a:lnTo>
                    <a:lnTo>
                      <a:pt x="59" y="53"/>
                    </a:lnTo>
                    <a:lnTo>
                      <a:pt x="71" y="35"/>
                    </a:lnTo>
                    <a:lnTo>
                      <a:pt x="89" y="23"/>
                    </a:lnTo>
                    <a:lnTo>
                      <a:pt x="107" y="17"/>
                    </a:lnTo>
                    <a:lnTo>
                      <a:pt x="131" y="29"/>
                    </a:lnTo>
                    <a:lnTo>
                      <a:pt x="137" y="47"/>
                    </a:lnTo>
                    <a:lnTo>
                      <a:pt x="143" y="71"/>
                    </a:lnTo>
                    <a:lnTo>
                      <a:pt x="143" y="89"/>
                    </a:lnTo>
                    <a:lnTo>
                      <a:pt x="149"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nvGrpSpPr>
              <p:cNvPr id="22591" name="Group 151"/>
              <p:cNvGrpSpPr/>
              <p:nvPr/>
            </p:nvGrpSpPr>
            <p:grpSpPr>
              <a:xfrm>
                <a:off x="476" y="2840"/>
                <a:ext cx="1100" cy="592"/>
                <a:chOff x="476" y="2840"/>
                <a:chExt cx="1100" cy="592"/>
              </a:xfrm>
            </p:grpSpPr>
            <p:sp>
              <p:nvSpPr>
                <p:cNvPr id="22592" name="Freeform 133"/>
                <p:cNvSpPr/>
                <p:nvPr/>
              </p:nvSpPr>
              <p:spPr>
                <a:xfrm>
                  <a:off x="1278" y="3355"/>
                  <a:ext cx="78" cy="77"/>
                </a:xfrm>
                <a:custGeom>
                  <a:avLst/>
                  <a:gdLst>
                    <a:gd name="txL" fmla="*/ 0 w 102"/>
                    <a:gd name="txT" fmla="*/ 0 h 191"/>
                    <a:gd name="txR" fmla="*/ 102 w 102"/>
                    <a:gd name="txB" fmla="*/ 191 h 191"/>
                  </a:gdLst>
                  <a:ahLst/>
                  <a:cxnLst>
                    <a:cxn ang="0">
                      <a:pos x="0"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0" y="0"/>
                    </a:cxn>
                    <a:cxn ang="0">
                      <a:pos x="0" y="0"/>
                    </a:cxn>
                  </a:cxnLst>
                  <a:rect l="txL" t="txT" r="txR" b="txB"/>
                  <a:pathLst>
                    <a:path w="102" h="191">
                      <a:moveTo>
                        <a:pt x="0" y="17"/>
                      </a:moveTo>
                      <a:lnTo>
                        <a:pt x="12" y="17"/>
                      </a:lnTo>
                      <a:lnTo>
                        <a:pt x="18" y="23"/>
                      </a:lnTo>
                      <a:lnTo>
                        <a:pt x="18" y="35"/>
                      </a:lnTo>
                      <a:lnTo>
                        <a:pt x="24" y="59"/>
                      </a:lnTo>
                      <a:lnTo>
                        <a:pt x="24" y="83"/>
                      </a:lnTo>
                      <a:lnTo>
                        <a:pt x="30" y="119"/>
                      </a:lnTo>
                      <a:lnTo>
                        <a:pt x="30" y="149"/>
                      </a:lnTo>
                      <a:lnTo>
                        <a:pt x="30" y="179"/>
                      </a:lnTo>
                      <a:lnTo>
                        <a:pt x="30" y="185"/>
                      </a:lnTo>
                      <a:lnTo>
                        <a:pt x="36" y="191"/>
                      </a:lnTo>
                      <a:lnTo>
                        <a:pt x="42" y="185"/>
                      </a:lnTo>
                      <a:lnTo>
                        <a:pt x="48" y="173"/>
                      </a:lnTo>
                      <a:lnTo>
                        <a:pt x="54" y="155"/>
                      </a:lnTo>
                      <a:lnTo>
                        <a:pt x="66" y="131"/>
                      </a:lnTo>
                      <a:lnTo>
                        <a:pt x="84" y="101"/>
                      </a:lnTo>
                      <a:lnTo>
                        <a:pt x="96" y="59"/>
                      </a:lnTo>
                      <a:lnTo>
                        <a:pt x="102" y="29"/>
                      </a:lnTo>
                      <a:lnTo>
                        <a:pt x="96" y="6"/>
                      </a:lnTo>
                      <a:lnTo>
                        <a:pt x="84" y="0"/>
                      </a:lnTo>
                      <a:lnTo>
                        <a:pt x="78" y="6"/>
                      </a:lnTo>
                      <a:lnTo>
                        <a:pt x="78" y="11"/>
                      </a:lnTo>
                      <a:lnTo>
                        <a:pt x="78" y="23"/>
                      </a:lnTo>
                      <a:lnTo>
                        <a:pt x="84" y="29"/>
                      </a:lnTo>
                      <a:lnTo>
                        <a:pt x="90" y="35"/>
                      </a:lnTo>
                      <a:lnTo>
                        <a:pt x="90" y="47"/>
                      </a:lnTo>
                      <a:lnTo>
                        <a:pt x="84" y="65"/>
                      </a:lnTo>
                      <a:lnTo>
                        <a:pt x="78" y="95"/>
                      </a:lnTo>
                      <a:lnTo>
                        <a:pt x="66" y="119"/>
                      </a:lnTo>
                      <a:lnTo>
                        <a:pt x="54" y="143"/>
                      </a:lnTo>
                      <a:lnTo>
                        <a:pt x="48" y="155"/>
                      </a:lnTo>
                      <a:lnTo>
                        <a:pt x="48" y="113"/>
                      </a:lnTo>
                      <a:lnTo>
                        <a:pt x="42" y="83"/>
                      </a:lnTo>
                      <a:lnTo>
                        <a:pt x="42" y="47"/>
                      </a:lnTo>
                      <a:lnTo>
                        <a:pt x="36" y="11"/>
                      </a:lnTo>
                      <a:lnTo>
                        <a:pt x="36" y="0"/>
                      </a:lnTo>
                      <a:lnTo>
                        <a:pt x="30" y="0"/>
                      </a:lnTo>
                      <a:lnTo>
                        <a:pt x="24" y="6"/>
                      </a:lnTo>
                      <a:lnTo>
                        <a:pt x="0" y="11"/>
                      </a:lnTo>
                      <a:lnTo>
                        <a:pt x="0" y="1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2593" name="Freeform 134"/>
                <p:cNvSpPr/>
                <p:nvPr/>
              </p:nvSpPr>
              <p:spPr>
                <a:xfrm>
                  <a:off x="1081" y="3341"/>
                  <a:ext cx="97" cy="89"/>
                </a:xfrm>
                <a:custGeom>
                  <a:avLst/>
                  <a:gdLst>
                    <a:gd name="txL" fmla="*/ 0 w 126"/>
                    <a:gd name="txT" fmla="*/ 0 h 221"/>
                    <a:gd name="txR" fmla="*/ 126 w 126"/>
                    <a:gd name="txB" fmla="*/ 221 h 221"/>
                  </a:gdLst>
                  <a:ahLst/>
                  <a:cxnLst>
                    <a:cxn ang="0">
                      <a:pos x="2" y="0"/>
                    </a:cxn>
                    <a:cxn ang="0">
                      <a:pos x="0" y="0"/>
                    </a:cxn>
                    <a:cxn ang="0">
                      <a:pos x="0" y="0"/>
                    </a:cxn>
                    <a:cxn ang="0">
                      <a:pos x="2" y="0"/>
                    </a:cxn>
                    <a:cxn ang="0">
                      <a:pos x="2" y="0"/>
                    </a:cxn>
                    <a:cxn ang="0">
                      <a:pos x="2" y="0"/>
                    </a:cxn>
                    <a:cxn ang="0">
                      <a:pos x="2" y="0"/>
                    </a:cxn>
                    <a:cxn ang="0">
                      <a:pos x="2" y="0"/>
                    </a:cxn>
                    <a:cxn ang="0">
                      <a:pos x="2" y="0"/>
                    </a:cxn>
                    <a:cxn ang="0">
                      <a:pos x="2" y="0"/>
                    </a:cxn>
                    <a:cxn ang="0">
                      <a:pos x="2" y="0"/>
                    </a:cxn>
                    <a:cxn ang="0">
                      <a:pos x="2" y="0"/>
                    </a:cxn>
                    <a:cxn ang="0">
                      <a:pos x="2" y="0"/>
                    </a:cxn>
                  </a:cxnLst>
                  <a:rect l="txL" t="txT" r="txR" b="txB"/>
                  <a:pathLst>
                    <a:path w="126" h="221">
                      <a:moveTo>
                        <a:pt x="54" y="95"/>
                      </a:moveTo>
                      <a:lnTo>
                        <a:pt x="0" y="95"/>
                      </a:lnTo>
                      <a:lnTo>
                        <a:pt x="0" y="125"/>
                      </a:lnTo>
                      <a:lnTo>
                        <a:pt x="54" y="125"/>
                      </a:lnTo>
                      <a:lnTo>
                        <a:pt x="54" y="221"/>
                      </a:lnTo>
                      <a:lnTo>
                        <a:pt x="72" y="221"/>
                      </a:lnTo>
                      <a:lnTo>
                        <a:pt x="72" y="125"/>
                      </a:lnTo>
                      <a:lnTo>
                        <a:pt x="126" y="125"/>
                      </a:lnTo>
                      <a:lnTo>
                        <a:pt x="126" y="95"/>
                      </a:lnTo>
                      <a:lnTo>
                        <a:pt x="72" y="95"/>
                      </a:lnTo>
                      <a:lnTo>
                        <a:pt x="72" y="0"/>
                      </a:lnTo>
                      <a:lnTo>
                        <a:pt x="54" y="0"/>
                      </a:lnTo>
                      <a:lnTo>
                        <a:pt x="54" y="9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2594" name="Rectangle 135"/>
                <p:cNvSpPr/>
                <p:nvPr/>
              </p:nvSpPr>
              <p:spPr>
                <a:xfrm>
                  <a:off x="1476" y="3379"/>
                  <a:ext cx="100" cy="10"/>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pSp>
              <p:nvGrpSpPr>
                <p:cNvPr id="22595" name="Group 150"/>
                <p:cNvGrpSpPr/>
                <p:nvPr/>
              </p:nvGrpSpPr>
              <p:grpSpPr>
                <a:xfrm>
                  <a:off x="476" y="2840"/>
                  <a:ext cx="771" cy="359"/>
                  <a:chOff x="476" y="2840"/>
                  <a:chExt cx="771" cy="359"/>
                </a:xfrm>
              </p:grpSpPr>
              <p:grpSp>
                <p:nvGrpSpPr>
                  <p:cNvPr id="22596" name="Group 149"/>
                  <p:cNvGrpSpPr/>
                  <p:nvPr/>
                </p:nvGrpSpPr>
                <p:grpSpPr>
                  <a:xfrm>
                    <a:off x="815" y="2840"/>
                    <a:ext cx="220" cy="252"/>
                    <a:chOff x="815" y="2840"/>
                    <a:chExt cx="220" cy="252"/>
                  </a:xfrm>
                </p:grpSpPr>
                <p:sp>
                  <p:nvSpPr>
                    <p:cNvPr id="22600" name="Freeform 99"/>
                    <p:cNvSpPr/>
                    <p:nvPr/>
                  </p:nvSpPr>
                  <p:spPr>
                    <a:xfrm>
                      <a:off x="884" y="3017"/>
                      <a:ext cx="151" cy="75"/>
                    </a:xfrm>
                    <a:custGeom>
                      <a:avLst/>
                      <a:gdLst>
                        <a:gd name="txL" fmla="*/ 0 w 197"/>
                        <a:gd name="txT" fmla="*/ 0 h 186"/>
                        <a:gd name="txR" fmla="*/ 197 w 197"/>
                        <a:gd name="txB" fmla="*/ 186 h 186"/>
                      </a:gdLst>
                      <a:ahLst/>
                      <a:cxnLst>
                        <a:cxn ang="0">
                          <a:pos x="0" y="0"/>
                        </a:cxn>
                        <a:cxn ang="0">
                          <a:pos x="2" y="0"/>
                        </a:cxn>
                        <a:cxn ang="0">
                          <a:pos x="0" y="0"/>
                        </a:cxn>
                        <a:cxn ang="0">
                          <a:pos x="0" y="0"/>
                        </a:cxn>
                        <a:cxn ang="0">
                          <a:pos x="0" y="0"/>
                        </a:cxn>
                      </a:cxnLst>
                      <a:rect l="txL" t="txT" r="txR" b="txB"/>
                      <a:pathLst>
                        <a:path w="197" h="186">
                          <a:moveTo>
                            <a:pt x="0" y="186"/>
                          </a:moveTo>
                          <a:lnTo>
                            <a:pt x="197" y="96"/>
                          </a:lnTo>
                          <a:lnTo>
                            <a:pt x="0" y="0"/>
                          </a:lnTo>
                          <a:lnTo>
                            <a:pt x="0" y="186"/>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22601" name="Freeform 100"/>
                    <p:cNvSpPr>
                      <a:spLocks noEditPoints="1"/>
                    </p:cNvSpPr>
                    <p:nvPr/>
                  </p:nvSpPr>
                  <p:spPr>
                    <a:xfrm>
                      <a:off x="815" y="2840"/>
                      <a:ext cx="46" cy="117"/>
                    </a:xfrm>
                    <a:custGeom>
                      <a:avLst/>
                      <a:gdLst>
                        <a:gd name="txL" fmla="*/ 0 w 60"/>
                        <a:gd name="txT" fmla="*/ 0 h 292"/>
                        <a:gd name="txR" fmla="*/ 60 w 60"/>
                        <a:gd name="txB" fmla="*/ 292 h 292"/>
                      </a:gdLst>
                      <a:ahLst/>
                      <a:cxnLst>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0" y="0"/>
                        </a:cxn>
                        <a:cxn ang="0">
                          <a:pos x="0" y="0"/>
                        </a:cxn>
                        <a:cxn ang="0">
                          <a:pos x="0"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Lst>
                      <a:rect l="txL" t="txT" r="txR" b="txB"/>
                      <a:pathLst>
                        <a:path w="60" h="292">
                          <a:moveTo>
                            <a:pt x="48" y="238"/>
                          </a:moveTo>
                          <a:lnTo>
                            <a:pt x="36" y="268"/>
                          </a:lnTo>
                          <a:lnTo>
                            <a:pt x="24" y="274"/>
                          </a:lnTo>
                          <a:lnTo>
                            <a:pt x="24" y="268"/>
                          </a:lnTo>
                          <a:lnTo>
                            <a:pt x="24" y="256"/>
                          </a:lnTo>
                          <a:lnTo>
                            <a:pt x="24" y="238"/>
                          </a:lnTo>
                          <a:lnTo>
                            <a:pt x="48" y="95"/>
                          </a:lnTo>
                          <a:lnTo>
                            <a:pt x="30" y="101"/>
                          </a:lnTo>
                          <a:lnTo>
                            <a:pt x="6" y="101"/>
                          </a:lnTo>
                          <a:lnTo>
                            <a:pt x="6" y="113"/>
                          </a:lnTo>
                          <a:lnTo>
                            <a:pt x="18" y="113"/>
                          </a:lnTo>
                          <a:lnTo>
                            <a:pt x="24" y="125"/>
                          </a:lnTo>
                          <a:lnTo>
                            <a:pt x="24" y="131"/>
                          </a:lnTo>
                          <a:lnTo>
                            <a:pt x="18" y="149"/>
                          </a:lnTo>
                          <a:lnTo>
                            <a:pt x="12" y="191"/>
                          </a:lnTo>
                          <a:lnTo>
                            <a:pt x="6" y="238"/>
                          </a:lnTo>
                          <a:lnTo>
                            <a:pt x="0" y="256"/>
                          </a:lnTo>
                          <a:lnTo>
                            <a:pt x="0" y="268"/>
                          </a:lnTo>
                          <a:lnTo>
                            <a:pt x="0" y="280"/>
                          </a:lnTo>
                          <a:lnTo>
                            <a:pt x="6" y="292"/>
                          </a:lnTo>
                          <a:lnTo>
                            <a:pt x="12" y="292"/>
                          </a:lnTo>
                          <a:lnTo>
                            <a:pt x="24" y="286"/>
                          </a:lnTo>
                          <a:lnTo>
                            <a:pt x="36" y="280"/>
                          </a:lnTo>
                          <a:lnTo>
                            <a:pt x="48" y="244"/>
                          </a:lnTo>
                          <a:lnTo>
                            <a:pt x="48" y="238"/>
                          </a:lnTo>
                          <a:close/>
                          <a:moveTo>
                            <a:pt x="60" y="23"/>
                          </a:moveTo>
                          <a:lnTo>
                            <a:pt x="54" y="5"/>
                          </a:lnTo>
                          <a:lnTo>
                            <a:pt x="42" y="0"/>
                          </a:lnTo>
                          <a:lnTo>
                            <a:pt x="36" y="5"/>
                          </a:lnTo>
                          <a:lnTo>
                            <a:pt x="30" y="23"/>
                          </a:lnTo>
                          <a:lnTo>
                            <a:pt x="36" y="41"/>
                          </a:lnTo>
                          <a:lnTo>
                            <a:pt x="42" y="47"/>
                          </a:lnTo>
                          <a:lnTo>
                            <a:pt x="48" y="47"/>
                          </a:lnTo>
                          <a:lnTo>
                            <a:pt x="54" y="35"/>
                          </a:lnTo>
                          <a:lnTo>
                            <a:pt x="60" y="2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22597" name="Group 148"/>
                  <p:cNvGrpSpPr/>
                  <p:nvPr/>
                </p:nvGrpSpPr>
                <p:grpSpPr>
                  <a:xfrm>
                    <a:off x="476" y="3115"/>
                    <a:ext cx="771" cy="84"/>
                    <a:chOff x="476" y="3115"/>
                    <a:chExt cx="771" cy="84"/>
                  </a:xfrm>
                </p:grpSpPr>
                <p:sp>
                  <p:nvSpPr>
                    <p:cNvPr id="22598" name="Freeform 101"/>
                    <p:cNvSpPr/>
                    <p:nvPr/>
                  </p:nvSpPr>
                  <p:spPr>
                    <a:xfrm>
                      <a:off x="476" y="3115"/>
                      <a:ext cx="87" cy="84"/>
                    </a:xfrm>
                    <a:custGeom>
                      <a:avLst/>
                      <a:gdLst>
                        <a:gd name="txL" fmla="*/ 0 w 113"/>
                        <a:gd name="txT" fmla="*/ 0 h 209"/>
                        <a:gd name="txR" fmla="*/ 113 w 113"/>
                        <a:gd name="txB" fmla="*/ 209 h 209"/>
                      </a:gdLst>
                      <a:ahLst/>
                      <a:cxnLst>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0" y="0"/>
                        </a:cxn>
                        <a:cxn ang="0">
                          <a:pos x="2" y="0"/>
                        </a:cxn>
                        <a:cxn ang="0">
                          <a:pos x="2" y="0"/>
                        </a:cxn>
                        <a:cxn ang="0">
                          <a:pos x="2" y="0"/>
                        </a:cxn>
                        <a:cxn ang="0">
                          <a:pos x="2" y="0"/>
                        </a:cxn>
                        <a:cxn ang="0">
                          <a:pos x="2" y="0"/>
                        </a:cxn>
                      </a:cxnLst>
                      <a:rect l="txL" t="txT" r="txR" b="txB"/>
                      <a:pathLst>
                        <a:path w="113" h="209">
                          <a:moveTo>
                            <a:pt x="54" y="209"/>
                          </a:moveTo>
                          <a:lnTo>
                            <a:pt x="78" y="203"/>
                          </a:lnTo>
                          <a:lnTo>
                            <a:pt x="96" y="179"/>
                          </a:lnTo>
                          <a:lnTo>
                            <a:pt x="108" y="144"/>
                          </a:lnTo>
                          <a:lnTo>
                            <a:pt x="113" y="102"/>
                          </a:lnTo>
                          <a:lnTo>
                            <a:pt x="108" y="66"/>
                          </a:lnTo>
                          <a:lnTo>
                            <a:pt x="96" y="30"/>
                          </a:lnTo>
                          <a:lnTo>
                            <a:pt x="78" y="6"/>
                          </a:lnTo>
                          <a:lnTo>
                            <a:pt x="54" y="0"/>
                          </a:lnTo>
                          <a:lnTo>
                            <a:pt x="36" y="6"/>
                          </a:lnTo>
                          <a:lnTo>
                            <a:pt x="18" y="30"/>
                          </a:lnTo>
                          <a:lnTo>
                            <a:pt x="6" y="66"/>
                          </a:lnTo>
                          <a:lnTo>
                            <a:pt x="0" y="102"/>
                          </a:lnTo>
                          <a:lnTo>
                            <a:pt x="6" y="144"/>
                          </a:lnTo>
                          <a:lnTo>
                            <a:pt x="18" y="179"/>
                          </a:lnTo>
                          <a:lnTo>
                            <a:pt x="36" y="203"/>
                          </a:lnTo>
                          <a:lnTo>
                            <a:pt x="54" y="209"/>
                          </a:lnTo>
                          <a:close/>
                        </a:path>
                      </a:pathLst>
                    </a:custGeom>
                    <a:solidFill>
                      <a:srgbClr val="FFFFFF">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99" name="Line 147"/>
                    <p:cNvSpPr/>
                    <p:nvPr/>
                  </p:nvSpPr>
                  <p:spPr>
                    <a:xfrm>
                      <a:off x="567" y="3158"/>
                      <a:ext cx="680" cy="0"/>
                    </a:xfrm>
                    <a:prstGeom prst="line">
                      <a:avLst/>
                    </a:prstGeom>
                    <a:ln w="9525" cap="flat" cmpd="sng">
                      <a:solidFill>
                        <a:schemeClr val="tx1"/>
                      </a:solidFill>
                      <a:prstDash val="solid"/>
                      <a:headEnd type="none" w="med" len="med"/>
                      <a:tailEnd type="none" w="med" len="med"/>
                    </a:ln>
                  </p:spPr>
                </p:sp>
              </p:grpSp>
            </p:grpSp>
          </p:grpSp>
        </p:grpSp>
        <p:grpSp>
          <p:nvGrpSpPr>
            <p:cNvPr id="22585" name="Group 154"/>
            <p:cNvGrpSpPr/>
            <p:nvPr/>
          </p:nvGrpSpPr>
          <p:grpSpPr>
            <a:xfrm>
              <a:off x="1338" y="3156"/>
              <a:ext cx="853" cy="43"/>
              <a:chOff x="1338" y="3156"/>
              <a:chExt cx="853" cy="43"/>
            </a:xfrm>
          </p:grpSpPr>
          <p:sp>
            <p:nvSpPr>
              <p:cNvPr id="22586" name="Freeform 108"/>
              <p:cNvSpPr/>
              <p:nvPr/>
            </p:nvSpPr>
            <p:spPr>
              <a:xfrm>
                <a:off x="2145" y="3156"/>
                <a:ext cx="46" cy="43"/>
              </a:xfrm>
              <a:custGeom>
                <a:avLst/>
                <a:gdLst>
                  <a:gd name="txL" fmla="*/ 0 w 60"/>
                  <a:gd name="txT" fmla="*/ 0 h 107"/>
                  <a:gd name="txR" fmla="*/ 60 w 60"/>
                  <a:gd name="txB" fmla="*/ 107 h 107"/>
                </a:gdLst>
                <a:ahLst/>
                <a:cxnLst>
                  <a:cxn ang="0">
                    <a:pos x="0" y="0"/>
                  </a:cxn>
                  <a:cxn ang="0">
                    <a:pos x="2" y="0"/>
                  </a:cxn>
                  <a:cxn ang="0">
                    <a:pos x="2" y="0"/>
                  </a:cxn>
                  <a:cxn ang="0">
                    <a:pos x="2" y="0"/>
                  </a:cxn>
                  <a:cxn ang="0">
                    <a:pos x="2" y="0"/>
                  </a:cxn>
                  <a:cxn ang="0">
                    <a:pos x="2" y="0"/>
                  </a:cxn>
                  <a:cxn ang="0">
                    <a:pos x="2" y="0"/>
                  </a:cxn>
                  <a:cxn ang="0">
                    <a:pos x="2" y="0"/>
                  </a:cxn>
                  <a:cxn ang="0">
                    <a:pos x="2" y="0"/>
                  </a:cxn>
                  <a:cxn ang="0">
                    <a:pos x="2" y="0"/>
                  </a:cxn>
                  <a:cxn ang="0">
                    <a:pos x="0" y="0"/>
                  </a:cxn>
                </a:cxnLst>
                <a:rect l="txL" t="txT" r="txR" b="txB"/>
                <a:pathLst>
                  <a:path w="60" h="107">
                    <a:moveTo>
                      <a:pt x="0" y="107"/>
                    </a:moveTo>
                    <a:lnTo>
                      <a:pt x="24" y="101"/>
                    </a:lnTo>
                    <a:lnTo>
                      <a:pt x="42" y="77"/>
                    </a:lnTo>
                    <a:lnTo>
                      <a:pt x="54" y="42"/>
                    </a:lnTo>
                    <a:lnTo>
                      <a:pt x="60" y="0"/>
                    </a:lnTo>
                    <a:lnTo>
                      <a:pt x="54" y="42"/>
                    </a:lnTo>
                    <a:lnTo>
                      <a:pt x="42" y="77"/>
                    </a:lnTo>
                    <a:lnTo>
                      <a:pt x="30" y="101"/>
                    </a:lnTo>
                    <a:lnTo>
                      <a:pt x="6" y="107"/>
                    </a:lnTo>
                    <a:lnTo>
                      <a:pt x="0" y="10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87" name="Line 153"/>
              <p:cNvSpPr/>
              <p:nvPr/>
            </p:nvSpPr>
            <p:spPr>
              <a:xfrm>
                <a:off x="1338" y="3158"/>
                <a:ext cx="771" cy="0"/>
              </a:xfrm>
              <a:prstGeom prst="line">
                <a:avLst/>
              </a:prstGeom>
              <a:ln w="9525" cap="flat" cmpd="sng">
                <a:solidFill>
                  <a:schemeClr val="tx1"/>
                </a:solidFill>
                <a:prstDash val="solid"/>
                <a:headEnd type="none" w="med" len="med"/>
                <a:tailEnd type="none" w="med" len="med"/>
              </a:ln>
            </p:spPr>
          </p:sp>
        </p:grpSp>
      </p:grpSp>
      <p:sp>
        <p:nvSpPr>
          <p:cNvPr id="22547" name="Freeform 114"/>
          <p:cNvSpPr/>
          <p:nvPr/>
        </p:nvSpPr>
        <p:spPr>
          <a:xfrm>
            <a:off x="5514975" y="3565525"/>
            <a:ext cx="233363" cy="119063"/>
          </a:xfrm>
          <a:custGeom>
            <a:avLst/>
            <a:gdLst>
              <a:gd name="txL" fmla="*/ 0 w 191"/>
              <a:gd name="txT" fmla="*/ 0 h 186"/>
              <a:gd name="txR" fmla="*/ 191 w 191"/>
              <a:gd name="txB" fmla="*/ 186 h 186"/>
            </a:gdLst>
            <a:ahLst/>
            <a:cxnLst>
              <a:cxn ang="0">
                <a:pos x="0" y="2147483646"/>
              </a:cxn>
              <a:cxn ang="0">
                <a:pos x="2147483646" y="2147483646"/>
              </a:cxn>
              <a:cxn ang="0">
                <a:pos x="0" y="0"/>
              </a:cxn>
              <a:cxn ang="0">
                <a:pos x="0" y="2147483646"/>
              </a:cxn>
              <a:cxn ang="0">
                <a:pos x="0" y="2147483646"/>
              </a:cxn>
            </a:cxnLst>
            <a:rect l="txL" t="txT" r="txR" b="txB"/>
            <a:pathLst>
              <a:path w="191" h="186">
                <a:moveTo>
                  <a:pt x="0" y="186"/>
                </a:moveTo>
                <a:lnTo>
                  <a:pt x="191" y="96"/>
                </a:lnTo>
                <a:lnTo>
                  <a:pt x="0" y="0"/>
                </a:lnTo>
                <a:lnTo>
                  <a:pt x="0" y="186"/>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22548" name="Freeform 117"/>
          <p:cNvSpPr/>
          <p:nvPr/>
        </p:nvSpPr>
        <p:spPr>
          <a:xfrm>
            <a:off x="4932363" y="3786188"/>
            <a:ext cx="73025" cy="68262"/>
          </a:xfrm>
          <a:custGeom>
            <a:avLst/>
            <a:gdLst>
              <a:gd name="txL" fmla="*/ 0 w 60"/>
              <a:gd name="txT" fmla="*/ 0 h 107"/>
              <a:gd name="txR" fmla="*/ 60 w 60"/>
              <a:gd name="txB" fmla="*/ 107 h 107"/>
            </a:gdLst>
            <a:ahLst/>
            <a:cxnLst>
              <a:cxn ang="0">
                <a:pos x="0"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0" y="2147483646"/>
              </a:cxn>
              <a:cxn ang="0">
                <a:pos x="0" y="2147483646"/>
              </a:cxn>
            </a:cxnLst>
            <a:rect l="txL" t="txT" r="txR" b="txB"/>
            <a:pathLst>
              <a:path w="60" h="107">
                <a:moveTo>
                  <a:pt x="0" y="107"/>
                </a:moveTo>
                <a:lnTo>
                  <a:pt x="24" y="101"/>
                </a:lnTo>
                <a:lnTo>
                  <a:pt x="42" y="77"/>
                </a:lnTo>
                <a:lnTo>
                  <a:pt x="54" y="42"/>
                </a:lnTo>
                <a:lnTo>
                  <a:pt x="60" y="0"/>
                </a:lnTo>
                <a:lnTo>
                  <a:pt x="54" y="42"/>
                </a:lnTo>
                <a:lnTo>
                  <a:pt x="42" y="77"/>
                </a:lnTo>
                <a:lnTo>
                  <a:pt x="24" y="101"/>
                </a:lnTo>
                <a:lnTo>
                  <a:pt x="0" y="10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49" name="Freeform 118"/>
          <p:cNvSpPr>
            <a:spLocks noEditPoints="1"/>
          </p:cNvSpPr>
          <p:nvPr/>
        </p:nvSpPr>
        <p:spPr>
          <a:xfrm>
            <a:off x="4932363" y="3721100"/>
            <a:ext cx="73025" cy="65088"/>
          </a:xfrm>
          <a:custGeom>
            <a:avLst/>
            <a:gdLst>
              <a:gd name="txL" fmla="*/ 0 w 60"/>
              <a:gd name="txT" fmla="*/ 0 h 102"/>
              <a:gd name="txR" fmla="*/ 60 w 60"/>
              <a:gd name="txB" fmla="*/ 102 h 102"/>
            </a:gdLst>
            <a:ahLst/>
            <a:cxnLst>
              <a:cxn ang="0">
                <a:pos x="2147483646" y="2147483646"/>
              </a:cxn>
              <a:cxn ang="0">
                <a:pos x="2147483646" y="2147483646"/>
              </a:cxn>
              <a:cxn ang="0">
                <a:pos x="2147483646" y="2147483646"/>
              </a:cxn>
              <a:cxn ang="0">
                <a:pos x="2147483646" y="2147483646"/>
              </a:cxn>
              <a:cxn ang="0">
                <a:pos x="0" y="0"/>
              </a:cxn>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60" h="102">
                <a:moveTo>
                  <a:pt x="60" y="102"/>
                </a:moveTo>
                <a:lnTo>
                  <a:pt x="54" y="66"/>
                </a:lnTo>
                <a:lnTo>
                  <a:pt x="42" y="30"/>
                </a:lnTo>
                <a:lnTo>
                  <a:pt x="24" y="6"/>
                </a:lnTo>
                <a:lnTo>
                  <a:pt x="0" y="0"/>
                </a:lnTo>
                <a:lnTo>
                  <a:pt x="24" y="6"/>
                </a:lnTo>
                <a:lnTo>
                  <a:pt x="42" y="30"/>
                </a:lnTo>
                <a:lnTo>
                  <a:pt x="54" y="66"/>
                </a:lnTo>
                <a:lnTo>
                  <a:pt x="60" y="102"/>
                </a:lnTo>
                <a:close/>
                <a:moveTo>
                  <a:pt x="60" y="102"/>
                </a:moveTo>
                <a:lnTo>
                  <a:pt x="60" y="102"/>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50" name="Freeform 119"/>
          <p:cNvSpPr>
            <a:spLocks noEditPoints="1"/>
          </p:cNvSpPr>
          <p:nvPr/>
        </p:nvSpPr>
        <p:spPr>
          <a:xfrm>
            <a:off x="4859338" y="3721100"/>
            <a:ext cx="73025" cy="65088"/>
          </a:xfrm>
          <a:custGeom>
            <a:avLst/>
            <a:gdLst>
              <a:gd name="txL" fmla="*/ 0 w 60"/>
              <a:gd name="txT" fmla="*/ 0 h 102"/>
              <a:gd name="txR" fmla="*/ 60 w 60"/>
              <a:gd name="txB" fmla="*/ 102 h 102"/>
            </a:gdLst>
            <a:ahLst/>
            <a:cxnLst>
              <a:cxn ang="0">
                <a:pos x="2147483646" y="0"/>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0"/>
              </a:cxn>
            </a:cxnLst>
            <a:rect l="txL" t="txT" r="txR" b="txB"/>
            <a:pathLst>
              <a:path w="60" h="102">
                <a:moveTo>
                  <a:pt x="60" y="0"/>
                </a:moveTo>
                <a:lnTo>
                  <a:pt x="36" y="6"/>
                </a:lnTo>
                <a:lnTo>
                  <a:pt x="18" y="30"/>
                </a:lnTo>
                <a:lnTo>
                  <a:pt x="6" y="66"/>
                </a:lnTo>
                <a:lnTo>
                  <a:pt x="0" y="102"/>
                </a:lnTo>
                <a:lnTo>
                  <a:pt x="6" y="66"/>
                </a:lnTo>
                <a:lnTo>
                  <a:pt x="18" y="30"/>
                </a:lnTo>
                <a:lnTo>
                  <a:pt x="36" y="6"/>
                </a:lnTo>
                <a:lnTo>
                  <a:pt x="60" y="0"/>
                </a:lnTo>
                <a:close/>
                <a:moveTo>
                  <a:pt x="60" y="0"/>
                </a:moveTo>
                <a:lnTo>
                  <a:pt x="60"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51" name="Freeform 120"/>
          <p:cNvSpPr>
            <a:spLocks noEditPoints="1"/>
          </p:cNvSpPr>
          <p:nvPr/>
        </p:nvSpPr>
        <p:spPr>
          <a:xfrm>
            <a:off x="4859338" y="3786188"/>
            <a:ext cx="73025" cy="68262"/>
          </a:xfrm>
          <a:custGeom>
            <a:avLst/>
            <a:gdLst>
              <a:gd name="txL" fmla="*/ 0 w 60"/>
              <a:gd name="txT" fmla="*/ 0 h 107"/>
              <a:gd name="txR" fmla="*/ 60 w 60"/>
              <a:gd name="txB" fmla="*/ 107 h 107"/>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0" y="0"/>
              </a:cxn>
              <a:cxn ang="0">
                <a:pos x="0" y="0"/>
              </a:cxn>
              <a:cxn ang="0">
                <a:pos x="0" y="0"/>
              </a:cxn>
              <a:cxn ang="0">
                <a:pos x="0" y="0"/>
              </a:cxn>
            </a:cxnLst>
            <a:rect l="txL" t="txT" r="txR" b="txB"/>
            <a:pathLst>
              <a:path w="60" h="107">
                <a:moveTo>
                  <a:pt x="0" y="0"/>
                </a:moveTo>
                <a:lnTo>
                  <a:pt x="6" y="42"/>
                </a:lnTo>
                <a:lnTo>
                  <a:pt x="18" y="77"/>
                </a:lnTo>
                <a:lnTo>
                  <a:pt x="36" y="101"/>
                </a:lnTo>
                <a:lnTo>
                  <a:pt x="60" y="107"/>
                </a:lnTo>
                <a:lnTo>
                  <a:pt x="36" y="101"/>
                </a:lnTo>
                <a:lnTo>
                  <a:pt x="18" y="77"/>
                </a:lnTo>
                <a:lnTo>
                  <a:pt x="6" y="42"/>
                </a:lnTo>
                <a:lnTo>
                  <a:pt x="0" y="0"/>
                </a:lnTo>
                <a:close/>
                <a:moveTo>
                  <a:pt x="0" y="0"/>
                </a:moveTo>
                <a:lnTo>
                  <a:pt x="0"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52" name="Freeform 121"/>
          <p:cNvSpPr/>
          <p:nvPr/>
        </p:nvSpPr>
        <p:spPr>
          <a:xfrm>
            <a:off x="4932363" y="3854450"/>
            <a:ext cx="1587" cy="1588"/>
          </a:xfrm>
          <a:custGeom>
            <a:avLst/>
            <a:gdLst>
              <a:gd name="txL" fmla="*/ 0 w 1588"/>
              <a:gd name="txT" fmla="*/ 0 h 1587"/>
              <a:gd name="txR" fmla="*/ 1588 w 1588"/>
              <a:gd name="txB" fmla="*/ 1587 h 1587"/>
            </a:gdLst>
            <a:ahLst/>
            <a:cxnLst>
              <a:cxn ang="0">
                <a:pos x="0" y="0"/>
              </a:cxn>
              <a:cxn ang="0">
                <a:pos x="0" y="0"/>
              </a:cxn>
              <a:cxn ang="0">
                <a:pos x="0" y="0"/>
              </a:cxn>
            </a:cxnLst>
            <a:rect l="txL" t="txT" r="txR" b="txB"/>
            <a:pathLst>
              <a:path w="1588" h="1587">
                <a:moveTo>
                  <a:pt x="0" y="0"/>
                </a:moveTo>
                <a:lnTo>
                  <a:pt x="0"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53" name="Freeform 122"/>
          <p:cNvSpPr/>
          <p:nvPr/>
        </p:nvSpPr>
        <p:spPr>
          <a:xfrm>
            <a:off x="7408863" y="3721100"/>
            <a:ext cx="136525" cy="133350"/>
          </a:xfrm>
          <a:custGeom>
            <a:avLst/>
            <a:gdLst>
              <a:gd name="txL" fmla="*/ 0 w 113"/>
              <a:gd name="txT" fmla="*/ 0 h 209"/>
              <a:gd name="txR" fmla="*/ 113 w 113"/>
              <a:gd name="txB" fmla="*/ 209 h 209"/>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3" h="209">
                <a:moveTo>
                  <a:pt x="59" y="209"/>
                </a:moveTo>
                <a:lnTo>
                  <a:pt x="83" y="203"/>
                </a:lnTo>
                <a:lnTo>
                  <a:pt x="95" y="179"/>
                </a:lnTo>
                <a:lnTo>
                  <a:pt x="107" y="144"/>
                </a:lnTo>
                <a:lnTo>
                  <a:pt x="113" y="102"/>
                </a:lnTo>
                <a:lnTo>
                  <a:pt x="107" y="66"/>
                </a:lnTo>
                <a:lnTo>
                  <a:pt x="95" y="30"/>
                </a:lnTo>
                <a:lnTo>
                  <a:pt x="83" y="6"/>
                </a:lnTo>
                <a:lnTo>
                  <a:pt x="59" y="0"/>
                </a:lnTo>
                <a:lnTo>
                  <a:pt x="35" y="6"/>
                </a:lnTo>
                <a:lnTo>
                  <a:pt x="17" y="30"/>
                </a:lnTo>
                <a:lnTo>
                  <a:pt x="6" y="66"/>
                </a:lnTo>
                <a:lnTo>
                  <a:pt x="0" y="102"/>
                </a:lnTo>
                <a:lnTo>
                  <a:pt x="6" y="144"/>
                </a:lnTo>
                <a:lnTo>
                  <a:pt x="17" y="179"/>
                </a:lnTo>
                <a:lnTo>
                  <a:pt x="35" y="203"/>
                </a:lnTo>
                <a:lnTo>
                  <a:pt x="59" y="209"/>
                </a:lnTo>
                <a:close/>
              </a:path>
            </a:pathLst>
          </a:custGeom>
          <a:solidFill>
            <a:srgbClr val="FFFFFF">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54" name="Freeform 124"/>
          <p:cNvSpPr>
            <a:spLocks noEditPoints="1"/>
          </p:cNvSpPr>
          <p:nvPr/>
        </p:nvSpPr>
        <p:spPr>
          <a:xfrm>
            <a:off x="7480300" y="3721100"/>
            <a:ext cx="73025" cy="65088"/>
          </a:xfrm>
          <a:custGeom>
            <a:avLst/>
            <a:gdLst>
              <a:gd name="txL" fmla="*/ 0 w 60"/>
              <a:gd name="txT" fmla="*/ 0 h 102"/>
              <a:gd name="txR" fmla="*/ 60 w 60"/>
              <a:gd name="txB" fmla="*/ 102 h 102"/>
            </a:gdLst>
            <a:ahLst/>
            <a:cxnLst>
              <a:cxn ang="0">
                <a:pos x="2147483646" y="2147483646"/>
              </a:cxn>
              <a:cxn ang="0">
                <a:pos x="2147483646" y="2147483646"/>
              </a:cxn>
              <a:cxn ang="0">
                <a:pos x="2147483646" y="2147483646"/>
              </a:cxn>
              <a:cxn ang="0">
                <a:pos x="2147483646" y="2147483646"/>
              </a:cxn>
              <a:cxn ang="0">
                <a:pos x="0" y="0"/>
              </a:cxn>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60" h="102">
                <a:moveTo>
                  <a:pt x="54" y="102"/>
                </a:moveTo>
                <a:lnTo>
                  <a:pt x="48" y="66"/>
                </a:lnTo>
                <a:lnTo>
                  <a:pt x="36" y="30"/>
                </a:lnTo>
                <a:lnTo>
                  <a:pt x="24" y="6"/>
                </a:lnTo>
                <a:lnTo>
                  <a:pt x="0" y="0"/>
                </a:lnTo>
                <a:lnTo>
                  <a:pt x="24" y="6"/>
                </a:lnTo>
                <a:lnTo>
                  <a:pt x="42" y="30"/>
                </a:lnTo>
                <a:lnTo>
                  <a:pt x="54" y="66"/>
                </a:lnTo>
                <a:lnTo>
                  <a:pt x="60" y="102"/>
                </a:lnTo>
                <a:lnTo>
                  <a:pt x="54" y="102"/>
                </a:lnTo>
                <a:close/>
                <a:moveTo>
                  <a:pt x="54" y="102"/>
                </a:moveTo>
                <a:lnTo>
                  <a:pt x="54" y="102"/>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55" name="Freeform 125"/>
          <p:cNvSpPr>
            <a:spLocks noEditPoints="1"/>
          </p:cNvSpPr>
          <p:nvPr/>
        </p:nvSpPr>
        <p:spPr>
          <a:xfrm>
            <a:off x="7408863" y="3721100"/>
            <a:ext cx="71437" cy="65088"/>
          </a:xfrm>
          <a:custGeom>
            <a:avLst/>
            <a:gdLst>
              <a:gd name="txL" fmla="*/ 0 w 59"/>
              <a:gd name="txT" fmla="*/ 0 h 102"/>
              <a:gd name="txR" fmla="*/ 59 w 59"/>
              <a:gd name="txB" fmla="*/ 102 h 102"/>
            </a:gdLst>
            <a:ahLst/>
            <a:cxnLst>
              <a:cxn ang="0">
                <a:pos x="2147483646" y="0"/>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0"/>
              </a:cxn>
            </a:cxnLst>
            <a:rect l="txL" t="txT" r="txR" b="txB"/>
            <a:pathLst>
              <a:path w="59" h="102">
                <a:moveTo>
                  <a:pt x="59" y="0"/>
                </a:moveTo>
                <a:lnTo>
                  <a:pt x="35" y="6"/>
                </a:lnTo>
                <a:lnTo>
                  <a:pt x="17" y="30"/>
                </a:lnTo>
                <a:lnTo>
                  <a:pt x="6" y="66"/>
                </a:lnTo>
                <a:lnTo>
                  <a:pt x="0" y="102"/>
                </a:lnTo>
                <a:lnTo>
                  <a:pt x="6" y="66"/>
                </a:lnTo>
                <a:lnTo>
                  <a:pt x="17" y="30"/>
                </a:lnTo>
                <a:lnTo>
                  <a:pt x="35" y="6"/>
                </a:lnTo>
                <a:lnTo>
                  <a:pt x="59" y="0"/>
                </a:lnTo>
                <a:close/>
                <a:moveTo>
                  <a:pt x="59" y="0"/>
                </a:moveTo>
                <a:lnTo>
                  <a:pt x="59"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56" name="Freeform 126"/>
          <p:cNvSpPr>
            <a:spLocks noEditPoints="1"/>
          </p:cNvSpPr>
          <p:nvPr/>
        </p:nvSpPr>
        <p:spPr>
          <a:xfrm>
            <a:off x="7408863" y="3786188"/>
            <a:ext cx="71437" cy="68262"/>
          </a:xfrm>
          <a:custGeom>
            <a:avLst/>
            <a:gdLst>
              <a:gd name="txL" fmla="*/ 0 w 59"/>
              <a:gd name="txT" fmla="*/ 0 h 107"/>
              <a:gd name="txR" fmla="*/ 59 w 59"/>
              <a:gd name="txB" fmla="*/ 107 h 107"/>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0" y="0"/>
              </a:cxn>
              <a:cxn ang="0">
                <a:pos x="0" y="0"/>
              </a:cxn>
              <a:cxn ang="0">
                <a:pos x="0" y="0"/>
              </a:cxn>
              <a:cxn ang="0">
                <a:pos x="0" y="0"/>
              </a:cxn>
            </a:cxnLst>
            <a:rect l="txL" t="txT" r="txR" b="txB"/>
            <a:pathLst>
              <a:path w="59" h="107">
                <a:moveTo>
                  <a:pt x="0" y="0"/>
                </a:moveTo>
                <a:lnTo>
                  <a:pt x="6" y="42"/>
                </a:lnTo>
                <a:lnTo>
                  <a:pt x="17" y="77"/>
                </a:lnTo>
                <a:lnTo>
                  <a:pt x="35" y="101"/>
                </a:lnTo>
                <a:lnTo>
                  <a:pt x="59" y="107"/>
                </a:lnTo>
                <a:lnTo>
                  <a:pt x="35" y="101"/>
                </a:lnTo>
                <a:lnTo>
                  <a:pt x="17" y="77"/>
                </a:lnTo>
                <a:lnTo>
                  <a:pt x="6" y="42"/>
                </a:lnTo>
                <a:lnTo>
                  <a:pt x="0" y="0"/>
                </a:lnTo>
                <a:close/>
                <a:moveTo>
                  <a:pt x="0" y="0"/>
                </a:moveTo>
                <a:lnTo>
                  <a:pt x="0"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57" name="Freeform 127"/>
          <p:cNvSpPr/>
          <p:nvPr/>
        </p:nvSpPr>
        <p:spPr>
          <a:xfrm>
            <a:off x="7480300" y="3854450"/>
            <a:ext cx="1588" cy="1588"/>
          </a:xfrm>
          <a:custGeom>
            <a:avLst/>
            <a:gdLst>
              <a:gd name="txL" fmla="*/ 0 w 1587"/>
              <a:gd name="txT" fmla="*/ 0 h 1587"/>
              <a:gd name="txR" fmla="*/ 1587 w 1587"/>
              <a:gd name="txB" fmla="*/ 1587 h 1587"/>
            </a:gdLst>
            <a:ahLst/>
            <a:cxnLst>
              <a:cxn ang="0">
                <a:pos x="0" y="0"/>
              </a:cxn>
              <a:cxn ang="0">
                <a:pos x="0" y="0"/>
              </a:cxn>
              <a:cxn ang="0">
                <a:pos x="0" y="0"/>
              </a:cxn>
            </a:cxnLst>
            <a:rect l="txL" t="txT" r="txR" b="txB"/>
            <a:pathLst>
              <a:path w="1587" h="1587">
                <a:moveTo>
                  <a:pt x="0" y="0"/>
                </a:moveTo>
                <a:lnTo>
                  <a:pt x="0" y="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58" name="Freeform 136"/>
          <p:cNvSpPr/>
          <p:nvPr/>
        </p:nvSpPr>
        <p:spPr>
          <a:xfrm>
            <a:off x="6111875" y="3619500"/>
            <a:ext cx="87313" cy="330200"/>
          </a:xfrm>
          <a:custGeom>
            <a:avLst/>
            <a:gdLst>
              <a:gd name="txL" fmla="*/ 0 w 72"/>
              <a:gd name="txT" fmla="*/ 0 h 520"/>
              <a:gd name="txR" fmla="*/ 72 w 72"/>
              <a:gd name="txB" fmla="*/ 520 h 520"/>
            </a:gdLst>
            <a:ahLst/>
            <a:cxnLst>
              <a:cxn ang="0">
                <a:pos x="2147483646" y="0"/>
              </a:cxn>
              <a:cxn ang="0">
                <a:pos x="2147483646" y="2147483646"/>
              </a:cxn>
              <a:cxn ang="0">
                <a:pos x="0" y="2147483646"/>
              </a:cxn>
              <a:cxn ang="0">
                <a:pos x="0" y="0"/>
              </a:cxn>
              <a:cxn ang="0">
                <a:pos x="2147483646" y="0"/>
              </a:cxn>
              <a:cxn ang="0">
                <a:pos x="2147483646" y="0"/>
              </a:cxn>
            </a:cxnLst>
            <a:rect l="txL" t="txT" r="txR" b="txB"/>
            <a:pathLst>
              <a:path w="72" h="520">
                <a:moveTo>
                  <a:pt x="72" y="0"/>
                </a:moveTo>
                <a:lnTo>
                  <a:pt x="72" y="520"/>
                </a:lnTo>
                <a:lnTo>
                  <a:pt x="0" y="520"/>
                </a:lnTo>
                <a:lnTo>
                  <a:pt x="0" y="0"/>
                </a:lnTo>
                <a:lnTo>
                  <a:pt x="72" y="0"/>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22559" name="Freeform 137"/>
          <p:cNvSpPr/>
          <p:nvPr/>
        </p:nvSpPr>
        <p:spPr>
          <a:xfrm>
            <a:off x="6111875" y="3619500"/>
            <a:ext cx="1588" cy="330200"/>
          </a:xfrm>
          <a:custGeom>
            <a:avLst/>
            <a:gdLst>
              <a:gd name="txL" fmla="*/ 0 w 1587"/>
              <a:gd name="txT" fmla="*/ 0 h 520"/>
              <a:gd name="txR" fmla="*/ 1587 w 1587"/>
              <a:gd name="txB" fmla="*/ 520 h 520"/>
            </a:gdLst>
            <a:ahLst/>
            <a:cxnLst>
              <a:cxn ang="0">
                <a:pos x="0" y="2147483646"/>
              </a:cxn>
              <a:cxn ang="0">
                <a:pos x="0" y="0"/>
              </a:cxn>
              <a:cxn ang="0">
                <a:pos x="0" y="2147483646"/>
              </a:cxn>
              <a:cxn ang="0">
                <a:pos x="0" y="2147483646"/>
              </a:cxn>
            </a:cxnLst>
            <a:rect l="txL" t="txT" r="txR" b="txB"/>
            <a:pathLst>
              <a:path w="1587" h="520">
                <a:moveTo>
                  <a:pt x="0" y="520"/>
                </a:moveTo>
                <a:lnTo>
                  <a:pt x="0" y="0"/>
                </a:lnTo>
                <a:lnTo>
                  <a:pt x="0" y="52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22560" name="Freeform 138"/>
          <p:cNvSpPr/>
          <p:nvPr/>
        </p:nvSpPr>
        <p:spPr>
          <a:xfrm>
            <a:off x="6192838" y="3622675"/>
            <a:ext cx="95250" cy="160338"/>
          </a:xfrm>
          <a:custGeom>
            <a:avLst/>
            <a:gdLst>
              <a:gd name="txL" fmla="*/ 0 w 78"/>
              <a:gd name="txT" fmla="*/ 0 h 251"/>
              <a:gd name="txR" fmla="*/ 78 w 78"/>
              <a:gd name="txB" fmla="*/ 251 h 251"/>
            </a:gdLst>
            <a:ahLst/>
            <a:cxnLst>
              <a:cxn ang="0">
                <a:pos x="2147483646" y="0"/>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0"/>
              </a:cxn>
              <a:cxn ang="0">
                <a:pos x="2147483646" y="0"/>
              </a:cxn>
            </a:cxnLst>
            <a:rect l="txL" t="txT" r="txR" b="txB"/>
            <a:pathLst>
              <a:path w="78" h="251">
                <a:moveTo>
                  <a:pt x="78" y="0"/>
                </a:moveTo>
                <a:lnTo>
                  <a:pt x="48" y="48"/>
                </a:lnTo>
                <a:lnTo>
                  <a:pt x="24" y="108"/>
                </a:lnTo>
                <a:lnTo>
                  <a:pt x="6" y="179"/>
                </a:lnTo>
                <a:lnTo>
                  <a:pt x="0" y="251"/>
                </a:lnTo>
                <a:lnTo>
                  <a:pt x="6" y="179"/>
                </a:lnTo>
                <a:lnTo>
                  <a:pt x="24" y="108"/>
                </a:lnTo>
                <a:lnTo>
                  <a:pt x="48" y="48"/>
                </a:lnTo>
                <a:lnTo>
                  <a:pt x="7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22561" name="Freeform 139"/>
          <p:cNvSpPr>
            <a:spLocks noEditPoints="1"/>
          </p:cNvSpPr>
          <p:nvPr/>
        </p:nvSpPr>
        <p:spPr>
          <a:xfrm>
            <a:off x="6192838" y="3783013"/>
            <a:ext cx="95250" cy="160337"/>
          </a:xfrm>
          <a:custGeom>
            <a:avLst/>
            <a:gdLst>
              <a:gd name="txL" fmla="*/ 0 w 78"/>
              <a:gd name="txT" fmla="*/ 0 h 251"/>
              <a:gd name="txR" fmla="*/ 78 w 78"/>
              <a:gd name="txB" fmla="*/ 251 h 251"/>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0" y="0"/>
              </a:cxn>
              <a:cxn ang="0">
                <a:pos x="0" y="0"/>
              </a:cxn>
              <a:cxn ang="0">
                <a:pos x="0" y="0"/>
              </a:cxn>
              <a:cxn ang="0">
                <a:pos x="0" y="0"/>
              </a:cxn>
            </a:cxnLst>
            <a:rect l="txL" t="txT" r="txR" b="txB"/>
            <a:pathLst>
              <a:path w="78" h="251">
                <a:moveTo>
                  <a:pt x="0" y="0"/>
                </a:moveTo>
                <a:lnTo>
                  <a:pt x="6" y="78"/>
                </a:lnTo>
                <a:lnTo>
                  <a:pt x="24" y="143"/>
                </a:lnTo>
                <a:lnTo>
                  <a:pt x="48" y="203"/>
                </a:lnTo>
                <a:lnTo>
                  <a:pt x="78" y="251"/>
                </a:lnTo>
                <a:lnTo>
                  <a:pt x="48" y="203"/>
                </a:lnTo>
                <a:lnTo>
                  <a:pt x="24" y="143"/>
                </a:lnTo>
                <a:lnTo>
                  <a:pt x="6" y="78"/>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grpSp>
        <p:nvGrpSpPr>
          <p:cNvPr id="22562" name="Group 167"/>
          <p:cNvGrpSpPr/>
          <p:nvPr/>
        </p:nvGrpSpPr>
        <p:grpSpPr>
          <a:xfrm>
            <a:off x="4859338" y="3284538"/>
            <a:ext cx="2693987" cy="939800"/>
            <a:chOff x="2498" y="2840"/>
            <a:chExt cx="1697" cy="592"/>
          </a:xfrm>
        </p:grpSpPr>
        <p:grpSp>
          <p:nvGrpSpPr>
            <p:cNvPr id="22563" name="Group 164"/>
            <p:cNvGrpSpPr/>
            <p:nvPr/>
          </p:nvGrpSpPr>
          <p:grpSpPr>
            <a:xfrm>
              <a:off x="2498" y="2840"/>
              <a:ext cx="1101" cy="592"/>
              <a:chOff x="2498" y="2840"/>
              <a:chExt cx="1101" cy="592"/>
            </a:xfrm>
          </p:grpSpPr>
          <p:grpSp>
            <p:nvGrpSpPr>
              <p:cNvPr id="22567" name="Group 163"/>
              <p:cNvGrpSpPr/>
              <p:nvPr/>
            </p:nvGrpSpPr>
            <p:grpSpPr>
              <a:xfrm>
                <a:off x="3095" y="2840"/>
                <a:ext cx="504" cy="592"/>
                <a:chOff x="3095" y="2840"/>
                <a:chExt cx="504" cy="592"/>
              </a:xfrm>
            </p:grpSpPr>
            <p:grpSp>
              <p:nvGrpSpPr>
                <p:cNvPr id="22575" name="Group 162"/>
                <p:cNvGrpSpPr/>
                <p:nvPr/>
              </p:nvGrpSpPr>
              <p:grpSpPr>
                <a:xfrm>
                  <a:off x="3195" y="2840"/>
                  <a:ext cx="377" cy="417"/>
                  <a:chOff x="3195" y="2840"/>
                  <a:chExt cx="377" cy="417"/>
                </a:xfrm>
              </p:grpSpPr>
              <p:grpSp>
                <p:nvGrpSpPr>
                  <p:cNvPr id="22580" name="Group 161"/>
                  <p:cNvGrpSpPr/>
                  <p:nvPr/>
                </p:nvGrpSpPr>
                <p:grpSpPr>
                  <a:xfrm>
                    <a:off x="3195" y="2991"/>
                    <a:ext cx="377" cy="266"/>
                    <a:chOff x="3195" y="2991"/>
                    <a:chExt cx="377" cy="266"/>
                  </a:xfrm>
                </p:grpSpPr>
                <p:sp>
                  <p:nvSpPr>
                    <p:cNvPr id="22582" name="Freeform 140"/>
                    <p:cNvSpPr/>
                    <p:nvPr/>
                  </p:nvSpPr>
                  <p:spPr>
                    <a:xfrm>
                      <a:off x="3195" y="3058"/>
                      <a:ext cx="280" cy="199"/>
                    </a:xfrm>
                    <a:custGeom>
                      <a:avLst/>
                      <a:gdLst>
                        <a:gd name="txL" fmla="*/ 0 w 365"/>
                        <a:gd name="txT" fmla="*/ 0 h 496"/>
                        <a:gd name="txR" fmla="*/ 365 w 365"/>
                        <a:gd name="txB" fmla="*/ 496 h 496"/>
                      </a:gdLst>
                      <a:ahLst/>
                      <a:cxnLst>
                        <a:cxn ang="0">
                          <a:pos x="0" y="0"/>
                        </a:cxn>
                        <a:cxn ang="0">
                          <a:pos x="2" y="0"/>
                        </a:cxn>
                        <a:cxn ang="0">
                          <a:pos x="0" y="0"/>
                        </a:cxn>
                        <a:cxn ang="0">
                          <a:pos x="0" y="0"/>
                        </a:cxn>
                      </a:cxnLst>
                      <a:rect l="txL" t="txT" r="txR" b="txB"/>
                      <a:pathLst>
                        <a:path w="365" h="496">
                          <a:moveTo>
                            <a:pt x="0" y="496"/>
                          </a:moveTo>
                          <a:lnTo>
                            <a:pt x="365" y="0"/>
                          </a:lnTo>
                          <a:lnTo>
                            <a:pt x="0" y="49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2583" name="Freeform 141"/>
                    <p:cNvSpPr/>
                    <p:nvPr/>
                  </p:nvSpPr>
                  <p:spPr>
                    <a:xfrm>
                      <a:off x="3429" y="2991"/>
                      <a:ext cx="143" cy="112"/>
                    </a:xfrm>
                    <a:custGeom>
                      <a:avLst/>
                      <a:gdLst>
                        <a:gd name="txL" fmla="*/ 0 w 186"/>
                        <a:gd name="txT" fmla="*/ 0 h 280"/>
                        <a:gd name="txR" fmla="*/ 186 w 186"/>
                        <a:gd name="txB" fmla="*/ 280 h 280"/>
                      </a:gdLst>
                      <a:ahLst/>
                      <a:cxnLst>
                        <a:cxn ang="0">
                          <a:pos x="2" y="0"/>
                        </a:cxn>
                        <a:cxn ang="0">
                          <a:pos x="2" y="0"/>
                        </a:cxn>
                        <a:cxn ang="0">
                          <a:pos x="0" y="0"/>
                        </a:cxn>
                        <a:cxn ang="0">
                          <a:pos x="2" y="0"/>
                        </a:cxn>
                        <a:cxn ang="0">
                          <a:pos x="2" y="0"/>
                        </a:cxn>
                      </a:cxnLst>
                      <a:rect l="txL" t="txT" r="txR" b="txB"/>
                      <a:pathLst>
                        <a:path w="186" h="280">
                          <a:moveTo>
                            <a:pt x="66" y="280"/>
                          </a:moveTo>
                          <a:lnTo>
                            <a:pt x="186" y="0"/>
                          </a:lnTo>
                          <a:lnTo>
                            <a:pt x="0" y="131"/>
                          </a:lnTo>
                          <a:lnTo>
                            <a:pt x="66" y="28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22581" name="Freeform 142"/>
                  <p:cNvSpPr/>
                  <p:nvPr/>
                </p:nvSpPr>
                <p:spPr>
                  <a:xfrm>
                    <a:off x="3283" y="2840"/>
                    <a:ext cx="123" cy="122"/>
                  </a:xfrm>
                  <a:custGeom>
                    <a:avLst/>
                    <a:gdLst>
                      <a:gd name="txL" fmla="*/ 0 w 161"/>
                      <a:gd name="txT" fmla="*/ 0 h 304"/>
                      <a:gd name="txR" fmla="*/ 161 w 161"/>
                      <a:gd name="txB" fmla="*/ 304 h 304"/>
                    </a:gdLst>
                    <a:ahLst/>
                    <a:cxnLst>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0"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Lst>
                    <a:rect l="txL" t="txT" r="txR" b="txB"/>
                    <a:pathLst>
                      <a:path w="161" h="304">
                        <a:moveTo>
                          <a:pt x="150" y="89"/>
                        </a:moveTo>
                        <a:lnTo>
                          <a:pt x="161" y="0"/>
                        </a:lnTo>
                        <a:lnTo>
                          <a:pt x="155" y="0"/>
                        </a:lnTo>
                        <a:lnTo>
                          <a:pt x="150" y="5"/>
                        </a:lnTo>
                        <a:lnTo>
                          <a:pt x="144" y="5"/>
                        </a:lnTo>
                        <a:lnTo>
                          <a:pt x="126" y="5"/>
                        </a:lnTo>
                        <a:lnTo>
                          <a:pt x="102" y="0"/>
                        </a:lnTo>
                        <a:lnTo>
                          <a:pt x="84" y="5"/>
                        </a:lnTo>
                        <a:lnTo>
                          <a:pt x="66" y="17"/>
                        </a:lnTo>
                        <a:lnTo>
                          <a:pt x="48" y="35"/>
                        </a:lnTo>
                        <a:lnTo>
                          <a:pt x="30" y="59"/>
                        </a:lnTo>
                        <a:lnTo>
                          <a:pt x="6" y="119"/>
                        </a:lnTo>
                        <a:lnTo>
                          <a:pt x="0" y="185"/>
                        </a:lnTo>
                        <a:lnTo>
                          <a:pt x="6" y="238"/>
                        </a:lnTo>
                        <a:lnTo>
                          <a:pt x="24" y="280"/>
                        </a:lnTo>
                        <a:lnTo>
                          <a:pt x="42" y="298"/>
                        </a:lnTo>
                        <a:lnTo>
                          <a:pt x="66" y="304"/>
                        </a:lnTo>
                        <a:lnTo>
                          <a:pt x="90" y="298"/>
                        </a:lnTo>
                        <a:lnTo>
                          <a:pt x="114" y="280"/>
                        </a:lnTo>
                        <a:lnTo>
                          <a:pt x="126" y="256"/>
                        </a:lnTo>
                        <a:lnTo>
                          <a:pt x="138" y="238"/>
                        </a:lnTo>
                        <a:lnTo>
                          <a:pt x="132" y="232"/>
                        </a:lnTo>
                        <a:lnTo>
                          <a:pt x="108" y="262"/>
                        </a:lnTo>
                        <a:lnTo>
                          <a:pt x="90" y="274"/>
                        </a:lnTo>
                        <a:lnTo>
                          <a:pt x="72" y="280"/>
                        </a:lnTo>
                        <a:lnTo>
                          <a:pt x="54" y="274"/>
                        </a:lnTo>
                        <a:lnTo>
                          <a:pt x="42" y="256"/>
                        </a:lnTo>
                        <a:lnTo>
                          <a:pt x="30" y="226"/>
                        </a:lnTo>
                        <a:lnTo>
                          <a:pt x="30" y="185"/>
                        </a:lnTo>
                        <a:lnTo>
                          <a:pt x="36" y="131"/>
                        </a:lnTo>
                        <a:lnTo>
                          <a:pt x="48" y="71"/>
                        </a:lnTo>
                        <a:lnTo>
                          <a:pt x="60" y="47"/>
                        </a:lnTo>
                        <a:lnTo>
                          <a:pt x="72" y="29"/>
                        </a:lnTo>
                        <a:lnTo>
                          <a:pt x="90" y="17"/>
                        </a:lnTo>
                        <a:lnTo>
                          <a:pt x="108" y="11"/>
                        </a:lnTo>
                        <a:lnTo>
                          <a:pt x="132" y="23"/>
                        </a:lnTo>
                        <a:lnTo>
                          <a:pt x="138" y="41"/>
                        </a:lnTo>
                        <a:lnTo>
                          <a:pt x="144" y="65"/>
                        </a:lnTo>
                        <a:lnTo>
                          <a:pt x="144" y="83"/>
                        </a:lnTo>
                        <a:lnTo>
                          <a:pt x="150"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22576" name="Group 160"/>
                <p:cNvGrpSpPr/>
                <p:nvPr/>
              </p:nvGrpSpPr>
              <p:grpSpPr>
                <a:xfrm>
                  <a:off x="3095" y="3341"/>
                  <a:ext cx="504" cy="91"/>
                  <a:chOff x="3095" y="3341"/>
                  <a:chExt cx="504" cy="91"/>
                </a:xfrm>
              </p:grpSpPr>
              <p:sp>
                <p:nvSpPr>
                  <p:cNvPr id="22577" name="Freeform 143"/>
                  <p:cNvSpPr/>
                  <p:nvPr/>
                </p:nvSpPr>
                <p:spPr>
                  <a:xfrm>
                    <a:off x="3296" y="3355"/>
                    <a:ext cx="74" cy="75"/>
                  </a:xfrm>
                  <a:custGeom>
                    <a:avLst/>
                    <a:gdLst>
                      <a:gd name="txL" fmla="*/ 0 w 96"/>
                      <a:gd name="txT" fmla="*/ 0 h 185"/>
                      <a:gd name="txR" fmla="*/ 96 w 96"/>
                      <a:gd name="txB" fmla="*/ 185 h 185"/>
                    </a:gdLst>
                    <a:ahLst/>
                    <a:cxnLst>
                      <a:cxn ang="0">
                        <a:pos x="0"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0" y="0"/>
                      </a:cxn>
                      <a:cxn ang="0">
                        <a:pos x="0" y="0"/>
                      </a:cxn>
                    </a:cxnLst>
                    <a:rect l="txL" t="txT" r="txR" b="txB"/>
                    <a:pathLst>
                      <a:path w="96" h="185">
                        <a:moveTo>
                          <a:pt x="0" y="11"/>
                        </a:moveTo>
                        <a:lnTo>
                          <a:pt x="12" y="11"/>
                        </a:lnTo>
                        <a:lnTo>
                          <a:pt x="18" y="17"/>
                        </a:lnTo>
                        <a:lnTo>
                          <a:pt x="18" y="29"/>
                        </a:lnTo>
                        <a:lnTo>
                          <a:pt x="24" y="53"/>
                        </a:lnTo>
                        <a:lnTo>
                          <a:pt x="24" y="77"/>
                        </a:lnTo>
                        <a:lnTo>
                          <a:pt x="30" y="113"/>
                        </a:lnTo>
                        <a:lnTo>
                          <a:pt x="30" y="143"/>
                        </a:lnTo>
                        <a:lnTo>
                          <a:pt x="30" y="173"/>
                        </a:lnTo>
                        <a:lnTo>
                          <a:pt x="30" y="185"/>
                        </a:lnTo>
                        <a:lnTo>
                          <a:pt x="42" y="179"/>
                        </a:lnTo>
                        <a:lnTo>
                          <a:pt x="48" y="167"/>
                        </a:lnTo>
                        <a:lnTo>
                          <a:pt x="54" y="149"/>
                        </a:lnTo>
                        <a:lnTo>
                          <a:pt x="60" y="143"/>
                        </a:lnTo>
                        <a:lnTo>
                          <a:pt x="66" y="131"/>
                        </a:lnTo>
                        <a:lnTo>
                          <a:pt x="84" y="95"/>
                        </a:lnTo>
                        <a:lnTo>
                          <a:pt x="96" y="59"/>
                        </a:lnTo>
                        <a:lnTo>
                          <a:pt x="96" y="23"/>
                        </a:lnTo>
                        <a:lnTo>
                          <a:pt x="90" y="6"/>
                        </a:lnTo>
                        <a:lnTo>
                          <a:pt x="84" y="0"/>
                        </a:lnTo>
                        <a:lnTo>
                          <a:pt x="78" y="6"/>
                        </a:lnTo>
                        <a:lnTo>
                          <a:pt x="78" y="11"/>
                        </a:lnTo>
                        <a:lnTo>
                          <a:pt x="78" y="23"/>
                        </a:lnTo>
                        <a:lnTo>
                          <a:pt x="84" y="29"/>
                        </a:lnTo>
                        <a:lnTo>
                          <a:pt x="84" y="41"/>
                        </a:lnTo>
                        <a:lnTo>
                          <a:pt x="84" y="65"/>
                        </a:lnTo>
                        <a:lnTo>
                          <a:pt x="72" y="89"/>
                        </a:lnTo>
                        <a:lnTo>
                          <a:pt x="66" y="113"/>
                        </a:lnTo>
                        <a:lnTo>
                          <a:pt x="54" y="137"/>
                        </a:lnTo>
                        <a:lnTo>
                          <a:pt x="48" y="149"/>
                        </a:lnTo>
                        <a:lnTo>
                          <a:pt x="42" y="113"/>
                        </a:lnTo>
                        <a:lnTo>
                          <a:pt x="42" y="77"/>
                        </a:lnTo>
                        <a:lnTo>
                          <a:pt x="42" y="41"/>
                        </a:lnTo>
                        <a:lnTo>
                          <a:pt x="36" y="6"/>
                        </a:lnTo>
                        <a:lnTo>
                          <a:pt x="36" y="0"/>
                        </a:lnTo>
                        <a:lnTo>
                          <a:pt x="30" y="0"/>
                        </a:lnTo>
                        <a:lnTo>
                          <a:pt x="24" y="6"/>
                        </a:lnTo>
                        <a:lnTo>
                          <a:pt x="0" y="6"/>
                        </a:lnTo>
                        <a:lnTo>
                          <a:pt x="0" y="1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2578" name="Freeform 144"/>
                  <p:cNvSpPr/>
                  <p:nvPr/>
                </p:nvSpPr>
                <p:spPr>
                  <a:xfrm>
                    <a:off x="3095" y="3341"/>
                    <a:ext cx="100" cy="91"/>
                  </a:xfrm>
                  <a:custGeom>
                    <a:avLst/>
                    <a:gdLst>
                      <a:gd name="txL" fmla="*/ 0 w 131"/>
                      <a:gd name="txT" fmla="*/ 0 h 227"/>
                      <a:gd name="txR" fmla="*/ 131 w 131"/>
                      <a:gd name="txB" fmla="*/ 227 h 227"/>
                    </a:gdLst>
                    <a:ahLst/>
                    <a:cxnLst>
                      <a:cxn ang="0">
                        <a:pos x="2" y="0"/>
                      </a:cxn>
                      <a:cxn ang="0">
                        <a:pos x="0" y="0"/>
                      </a:cxn>
                      <a:cxn ang="0">
                        <a:pos x="0" y="0"/>
                      </a:cxn>
                      <a:cxn ang="0">
                        <a:pos x="2" y="0"/>
                      </a:cxn>
                      <a:cxn ang="0">
                        <a:pos x="2" y="0"/>
                      </a:cxn>
                      <a:cxn ang="0">
                        <a:pos x="2" y="0"/>
                      </a:cxn>
                      <a:cxn ang="0">
                        <a:pos x="2" y="0"/>
                      </a:cxn>
                      <a:cxn ang="0">
                        <a:pos x="2" y="0"/>
                      </a:cxn>
                      <a:cxn ang="0">
                        <a:pos x="2" y="0"/>
                      </a:cxn>
                      <a:cxn ang="0">
                        <a:pos x="2" y="0"/>
                      </a:cxn>
                      <a:cxn ang="0">
                        <a:pos x="2" y="0"/>
                      </a:cxn>
                      <a:cxn ang="0">
                        <a:pos x="2" y="0"/>
                      </a:cxn>
                      <a:cxn ang="0">
                        <a:pos x="2" y="0"/>
                      </a:cxn>
                    </a:cxnLst>
                    <a:rect l="txL" t="txT" r="txR" b="txB"/>
                    <a:pathLst>
                      <a:path w="131" h="227">
                        <a:moveTo>
                          <a:pt x="60" y="95"/>
                        </a:moveTo>
                        <a:lnTo>
                          <a:pt x="0" y="95"/>
                        </a:lnTo>
                        <a:lnTo>
                          <a:pt x="0" y="125"/>
                        </a:lnTo>
                        <a:lnTo>
                          <a:pt x="60" y="125"/>
                        </a:lnTo>
                        <a:lnTo>
                          <a:pt x="60" y="227"/>
                        </a:lnTo>
                        <a:lnTo>
                          <a:pt x="78" y="227"/>
                        </a:lnTo>
                        <a:lnTo>
                          <a:pt x="78" y="125"/>
                        </a:lnTo>
                        <a:lnTo>
                          <a:pt x="131" y="125"/>
                        </a:lnTo>
                        <a:lnTo>
                          <a:pt x="131" y="95"/>
                        </a:lnTo>
                        <a:lnTo>
                          <a:pt x="78" y="95"/>
                        </a:lnTo>
                        <a:lnTo>
                          <a:pt x="78" y="0"/>
                        </a:lnTo>
                        <a:lnTo>
                          <a:pt x="60" y="0"/>
                        </a:lnTo>
                        <a:lnTo>
                          <a:pt x="60" y="9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2579" name="Rectangle 145"/>
                  <p:cNvSpPr/>
                  <p:nvPr/>
                </p:nvSpPr>
                <p:spPr>
                  <a:xfrm>
                    <a:off x="3493" y="3381"/>
                    <a:ext cx="106" cy="10"/>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pSp>
          </p:grpSp>
          <p:grpSp>
            <p:nvGrpSpPr>
              <p:cNvPr id="22568" name="Group 159"/>
              <p:cNvGrpSpPr/>
              <p:nvPr/>
            </p:nvGrpSpPr>
            <p:grpSpPr>
              <a:xfrm>
                <a:off x="2498" y="2840"/>
                <a:ext cx="790" cy="359"/>
                <a:chOff x="2498" y="2840"/>
                <a:chExt cx="790" cy="359"/>
              </a:xfrm>
            </p:grpSpPr>
            <p:grpSp>
              <p:nvGrpSpPr>
                <p:cNvPr id="22569" name="Group 158"/>
                <p:cNvGrpSpPr/>
                <p:nvPr/>
              </p:nvGrpSpPr>
              <p:grpSpPr>
                <a:xfrm>
                  <a:off x="2691" y="2840"/>
                  <a:ext cx="247" cy="216"/>
                  <a:chOff x="2691" y="2840"/>
                  <a:chExt cx="247" cy="216"/>
                </a:xfrm>
              </p:grpSpPr>
              <p:sp>
                <p:nvSpPr>
                  <p:cNvPr id="22573" name="Freeform 113"/>
                  <p:cNvSpPr/>
                  <p:nvPr/>
                </p:nvSpPr>
                <p:spPr>
                  <a:xfrm>
                    <a:off x="2691" y="3056"/>
                    <a:ext cx="247" cy="0"/>
                  </a:xfrm>
                  <a:custGeom>
                    <a:avLst/>
                    <a:gdLst>
                      <a:gd name="txL" fmla="*/ 0 w 323"/>
                      <a:gd name="txT" fmla="*/ 0 h 0"/>
                      <a:gd name="txR" fmla="*/ 323 w 323"/>
                      <a:gd name="txB" fmla="*/ 0 h 0"/>
                    </a:gdLst>
                    <a:ahLst/>
                    <a:cxnLst>
                      <a:cxn ang="0">
                        <a:pos x="0" y="0"/>
                      </a:cxn>
                      <a:cxn ang="0">
                        <a:pos x="2" y="0"/>
                      </a:cxn>
                      <a:cxn ang="0">
                        <a:pos x="0" y="0"/>
                      </a:cxn>
                      <a:cxn ang="0">
                        <a:pos x="0" y="0"/>
                      </a:cxn>
                    </a:cxnLst>
                    <a:rect l="txL" t="txT" r="txR" b="txB"/>
                    <a:pathLst>
                      <a:path w="323">
                        <a:moveTo>
                          <a:pt x="0" y="0"/>
                        </a:moveTo>
                        <a:lnTo>
                          <a:pt x="323"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22574" name="Freeform 115"/>
                  <p:cNvSpPr>
                    <a:spLocks noEditPoints="1"/>
                  </p:cNvSpPr>
                  <p:nvPr/>
                </p:nvSpPr>
                <p:spPr>
                  <a:xfrm>
                    <a:off x="2842" y="2840"/>
                    <a:ext cx="42" cy="117"/>
                  </a:xfrm>
                  <a:custGeom>
                    <a:avLst/>
                    <a:gdLst>
                      <a:gd name="txL" fmla="*/ 0 w 54"/>
                      <a:gd name="txT" fmla="*/ 0 h 292"/>
                      <a:gd name="txR" fmla="*/ 54 w 54"/>
                      <a:gd name="txB" fmla="*/ 292 h 292"/>
                    </a:gdLst>
                    <a:ahLst/>
                    <a:cxnLst>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0" y="0"/>
                      </a:cxn>
                      <a:cxn ang="0">
                        <a:pos x="0" y="0"/>
                      </a:cxn>
                      <a:cxn ang="0">
                        <a:pos x="2" y="0"/>
                      </a:cxn>
                      <a:cxn ang="0">
                        <a:pos x="2" y="0"/>
                      </a:cxn>
                      <a:cxn ang="0">
                        <a:pos x="2" y="0"/>
                      </a:cxn>
                      <a:cxn ang="0">
                        <a:pos x="2" y="0"/>
                      </a:cxn>
                      <a:cxn ang="0">
                        <a:pos x="2" y="0"/>
                      </a:cxn>
                      <a:cxn ang="0">
                        <a:pos x="2" y="0"/>
                      </a:cxn>
                      <a:cxn ang="0">
                        <a:pos x="2" y="0"/>
                      </a:cxn>
                      <a:cxn ang="0">
                        <a:pos x="0" y="0"/>
                      </a:cxn>
                      <a:cxn ang="0">
                        <a:pos x="0" y="0"/>
                      </a:cxn>
                      <a:cxn ang="0">
                        <a:pos x="0"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Lst>
                    <a:rect l="txL" t="txT" r="txR" b="txB"/>
                    <a:pathLst>
                      <a:path w="54" h="292">
                        <a:moveTo>
                          <a:pt x="42" y="238"/>
                        </a:moveTo>
                        <a:lnTo>
                          <a:pt x="30" y="268"/>
                        </a:lnTo>
                        <a:lnTo>
                          <a:pt x="24" y="274"/>
                        </a:lnTo>
                        <a:lnTo>
                          <a:pt x="18" y="274"/>
                        </a:lnTo>
                        <a:lnTo>
                          <a:pt x="18" y="268"/>
                        </a:lnTo>
                        <a:lnTo>
                          <a:pt x="18" y="256"/>
                        </a:lnTo>
                        <a:lnTo>
                          <a:pt x="24" y="238"/>
                        </a:lnTo>
                        <a:lnTo>
                          <a:pt x="42" y="95"/>
                        </a:lnTo>
                        <a:lnTo>
                          <a:pt x="36" y="95"/>
                        </a:lnTo>
                        <a:lnTo>
                          <a:pt x="24" y="101"/>
                        </a:lnTo>
                        <a:lnTo>
                          <a:pt x="0" y="101"/>
                        </a:lnTo>
                        <a:lnTo>
                          <a:pt x="0" y="113"/>
                        </a:lnTo>
                        <a:lnTo>
                          <a:pt x="12" y="113"/>
                        </a:lnTo>
                        <a:lnTo>
                          <a:pt x="18" y="113"/>
                        </a:lnTo>
                        <a:lnTo>
                          <a:pt x="18" y="125"/>
                        </a:lnTo>
                        <a:lnTo>
                          <a:pt x="18" y="131"/>
                        </a:lnTo>
                        <a:lnTo>
                          <a:pt x="18" y="149"/>
                        </a:lnTo>
                        <a:lnTo>
                          <a:pt x="12" y="191"/>
                        </a:lnTo>
                        <a:lnTo>
                          <a:pt x="6" y="238"/>
                        </a:lnTo>
                        <a:lnTo>
                          <a:pt x="0" y="256"/>
                        </a:lnTo>
                        <a:lnTo>
                          <a:pt x="0" y="268"/>
                        </a:lnTo>
                        <a:lnTo>
                          <a:pt x="0" y="280"/>
                        </a:lnTo>
                        <a:lnTo>
                          <a:pt x="6" y="292"/>
                        </a:lnTo>
                        <a:lnTo>
                          <a:pt x="12" y="292"/>
                        </a:lnTo>
                        <a:lnTo>
                          <a:pt x="24" y="286"/>
                        </a:lnTo>
                        <a:lnTo>
                          <a:pt x="30" y="280"/>
                        </a:lnTo>
                        <a:lnTo>
                          <a:pt x="48" y="244"/>
                        </a:lnTo>
                        <a:lnTo>
                          <a:pt x="42" y="238"/>
                        </a:lnTo>
                        <a:close/>
                        <a:moveTo>
                          <a:pt x="54" y="23"/>
                        </a:moveTo>
                        <a:lnTo>
                          <a:pt x="48" y="5"/>
                        </a:lnTo>
                        <a:lnTo>
                          <a:pt x="42" y="0"/>
                        </a:lnTo>
                        <a:lnTo>
                          <a:pt x="36" y="5"/>
                        </a:lnTo>
                        <a:lnTo>
                          <a:pt x="30" y="23"/>
                        </a:lnTo>
                        <a:lnTo>
                          <a:pt x="36" y="41"/>
                        </a:lnTo>
                        <a:lnTo>
                          <a:pt x="42" y="47"/>
                        </a:lnTo>
                        <a:lnTo>
                          <a:pt x="48" y="47"/>
                        </a:lnTo>
                        <a:lnTo>
                          <a:pt x="48" y="35"/>
                        </a:lnTo>
                        <a:lnTo>
                          <a:pt x="54" y="2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22570" name="Group 157"/>
                <p:cNvGrpSpPr/>
                <p:nvPr/>
              </p:nvGrpSpPr>
              <p:grpSpPr>
                <a:xfrm>
                  <a:off x="2498" y="3115"/>
                  <a:ext cx="790" cy="84"/>
                  <a:chOff x="2498" y="3115"/>
                  <a:chExt cx="790" cy="84"/>
                </a:xfrm>
              </p:grpSpPr>
              <p:sp>
                <p:nvSpPr>
                  <p:cNvPr id="22571" name="Freeform 116"/>
                  <p:cNvSpPr/>
                  <p:nvPr/>
                </p:nvSpPr>
                <p:spPr>
                  <a:xfrm>
                    <a:off x="2498" y="3115"/>
                    <a:ext cx="92" cy="84"/>
                  </a:xfrm>
                  <a:custGeom>
                    <a:avLst/>
                    <a:gdLst>
                      <a:gd name="txL" fmla="*/ 0 w 120"/>
                      <a:gd name="txT" fmla="*/ 0 h 209"/>
                      <a:gd name="txR" fmla="*/ 120 w 120"/>
                      <a:gd name="txB" fmla="*/ 209 h 209"/>
                    </a:gdLst>
                    <a:ahLst/>
                    <a:cxnLst>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0" y="0"/>
                      </a:cxn>
                      <a:cxn ang="0">
                        <a:pos x="2" y="0"/>
                      </a:cxn>
                      <a:cxn ang="0">
                        <a:pos x="2" y="0"/>
                      </a:cxn>
                      <a:cxn ang="0">
                        <a:pos x="2" y="0"/>
                      </a:cxn>
                      <a:cxn ang="0">
                        <a:pos x="2" y="0"/>
                      </a:cxn>
                      <a:cxn ang="0">
                        <a:pos x="2" y="0"/>
                      </a:cxn>
                    </a:cxnLst>
                    <a:rect l="txL" t="txT" r="txR" b="txB"/>
                    <a:pathLst>
                      <a:path w="120" h="209">
                        <a:moveTo>
                          <a:pt x="60" y="209"/>
                        </a:moveTo>
                        <a:lnTo>
                          <a:pt x="84" y="203"/>
                        </a:lnTo>
                        <a:lnTo>
                          <a:pt x="102" y="179"/>
                        </a:lnTo>
                        <a:lnTo>
                          <a:pt x="114" y="144"/>
                        </a:lnTo>
                        <a:lnTo>
                          <a:pt x="120" y="102"/>
                        </a:lnTo>
                        <a:lnTo>
                          <a:pt x="114" y="66"/>
                        </a:lnTo>
                        <a:lnTo>
                          <a:pt x="102" y="30"/>
                        </a:lnTo>
                        <a:lnTo>
                          <a:pt x="84" y="6"/>
                        </a:lnTo>
                        <a:lnTo>
                          <a:pt x="60" y="0"/>
                        </a:lnTo>
                        <a:lnTo>
                          <a:pt x="36" y="6"/>
                        </a:lnTo>
                        <a:lnTo>
                          <a:pt x="18" y="30"/>
                        </a:lnTo>
                        <a:lnTo>
                          <a:pt x="6" y="66"/>
                        </a:lnTo>
                        <a:lnTo>
                          <a:pt x="0" y="102"/>
                        </a:lnTo>
                        <a:lnTo>
                          <a:pt x="6" y="144"/>
                        </a:lnTo>
                        <a:lnTo>
                          <a:pt x="18" y="179"/>
                        </a:lnTo>
                        <a:lnTo>
                          <a:pt x="36" y="203"/>
                        </a:lnTo>
                        <a:lnTo>
                          <a:pt x="60" y="209"/>
                        </a:lnTo>
                        <a:close/>
                      </a:path>
                    </a:pathLst>
                  </a:custGeom>
                  <a:solidFill>
                    <a:srgbClr val="FFFFFF">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72" name="Line 156"/>
                  <p:cNvSpPr/>
                  <p:nvPr/>
                </p:nvSpPr>
                <p:spPr>
                  <a:xfrm>
                    <a:off x="2608" y="3158"/>
                    <a:ext cx="680" cy="0"/>
                  </a:xfrm>
                  <a:prstGeom prst="line">
                    <a:avLst/>
                  </a:prstGeom>
                  <a:ln w="9525" cap="flat" cmpd="sng">
                    <a:solidFill>
                      <a:schemeClr val="tx1"/>
                    </a:solidFill>
                    <a:prstDash val="solid"/>
                    <a:headEnd type="none" w="med" len="med"/>
                    <a:tailEnd type="none" w="med" len="med"/>
                  </a:ln>
                </p:spPr>
              </p:sp>
            </p:grpSp>
          </p:grpSp>
        </p:grpSp>
        <p:grpSp>
          <p:nvGrpSpPr>
            <p:cNvPr id="22564" name="Group 166"/>
            <p:cNvGrpSpPr/>
            <p:nvPr/>
          </p:nvGrpSpPr>
          <p:grpSpPr>
            <a:xfrm>
              <a:off x="3334" y="3156"/>
              <a:ext cx="861" cy="43"/>
              <a:chOff x="3334" y="3156"/>
              <a:chExt cx="861" cy="43"/>
            </a:xfrm>
          </p:grpSpPr>
          <p:sp>
            <p:nvSpPr>
              <p:cNvPr id="22565" name="Freeform 123"/>
              <p:cNvSpPr/>
              <p:nvPr/>
            </p:nvSpPr>
            <p:spPr>
              <a:xfrm>
                <a:off x="4149" y="3156"/>
                <a:ext cx="46" cy="43"/>
              </a:xfrm>
              <a:custGeom>
                <a:avLst/>
                <a:gdLst>
                  <a:gd name="txL" fmla="*/ 0 w 60"/>
                  <a:gd name="txT" fmla="*/ 0 h 107"/>
                  <a:gd name="txR" fmla="*/ 60 w 60"/>
                  <a:gd name="txB" fmla="*/ 107 h 107"/>
                </a:gdLst>
                <a:ahLst/>
                <a:cxnLst>
                  <a:cxn ang="0">
                    <a:pos x="0" y="0"/>
                  </a:cxn>
                  <a:cxn ang="0">
                    <a:pos x="2" y="0"/>
                  </a:cxn>
                  <a:cxn ang="0">
                    <a:pos x="2" y="0"/>
                  </a:cxn>
                  <a:cxn ang="0">
                    <a:pos x="2" y="0"/>
                  </a:cxn>
                  <a:cxn ang="0">
                    <a:pos x="2" y="0"/>
                  </a:cxn>
                  <a:cxn ang="0">
                    <a:pos x="2" y="0"/>
                  </a:cxn>
                  <a:cxn ang="0">
                    <a:pos x="2" y="0"/>
                  </a:cxn>
                  <a:cxn ang="0">
                    <a:pos x="2" y="0"/>
                  </a:cxn>
                  <a:cxn ang="0">
                    <a:pos x="2" y="0"/>
                  </a:cxn>
                  <a:cxn ang="0">
                    <a:pos x="0" y="0"/>
                  </a:cxn>
                  <a:cxn ang="0">
                    <a:pos x="0" y="0"/>
                  </a:cxn>
                </a:cxnLst>
                <a:rect l="txL" t="txT" r="txR" b="txB"/>
                <a:pathLst>
                  <a:path w="60" h="107">
                    <a:moveTo>
                      <a:pt x="0" y="107"/>
                    </a:moveTo>
                    <a:lnTo>
                      <a:pt x="24" y="101"/>
                    </a:lnTo>
                    <a:lnTo>
                      <a:pt x="42" y="77"/>
                    </a:lnTo>
                    <a:lnTo>
                      <a:pt x="54" y="42"/>
                    </a:lnTo>
                    <a:lnTo>
                      <a:pt x="60" y="0"/>
                    </a:lnTo>
                    <a:lnTo>
                      <a:pt x="54" y="0"/>
                    </a:lnTo>
                    <a:lnTo>
                      <a:pt x="48" y="42"/>
                    </a:lnTo>
                    <a:lnTo>
                      <a:pt x="36" y="77"/>
                    </a:lnTo>
                    <a:lnTo>
                      <a:pt x="24" y="101"/>
                    </a:lnTo>
                    <a:lnTo>
                      <a:pt x="0" y="107"/>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lstStyle/>
              <a:p>
                <a:endParaRPr lang="zh-CN" altLang="en-US"/>
              </a:p>
            </p:txBody>
          </p:sp>
          <p:sp>
            <p:nvSpPr>
              <p:cNvPr id="22566" name="Line 165"/>
              <p:cNvSpPr/>
              <p:nvPr/>
            </p:nvSpPr>
            <p:spPr>
              <a:xfrm>
                <a:off x="3334" y="3158"/>
                <a:ext cx="771" cy="0"/>
              </a:xfrm>
              <a:prstGeom prst="line">
                <a:avLst/>
              </a:prstGeom>
              <a:ln w="9525" cap="flat" cmpd="sng">
                <a:solidFill>
                  <a:schemeClr val="tx1"/>
                </a:solidFill>
                <a:prstDash val="solid"/>
                <a:headEnd type="none" w="med" len="med"/>
                <a:tailEnd type="none" w="med" len="med"/>
              </a:ln>
            </p:spPr>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4"/>
          <p:cNvSpPr/>
          <p:nvPr/>
        </p:nvSpPr>
        <p:spPr>
          <a:xfrm>
            <a:off x="873125" y="2154238"/>
            <a:ext cx="184150" cy="46196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graphicFrame>
        <p:nvGraphicFramePr>
          <p:cNvPr id="23555" name="Object 23"/>
          <p:cNvGraphicFramePr>
            <a:graphicFrameLocks noChangeAspect="1"/>
          </p:cNvGraphicFramePr>
          <p:nvPr/>
        </p:nvGraphicFramePr>
        <p:xfrm>
          <a:off x="3128169" y="476091"/>
          <a:ext cx="2311400" cy="1036955"/>
        </p:xfrm>
        <a:graphic>
          <a:graphicData uri="http://schemas.openxmlformats.org/presentationml/2006/ole">
            <p:oleObj spid="_x0000_s6146" r:id="rId3" imgW="876240" imgH="393480" progId="">
              <p:embed/>
            </p:oleObj>
          </a:graphicData>
        </a:graphic>
      </p:graphicFrame>
      <p:sp>
        <p:nvSpPr>
          <p:cNvPr id="121860" name="Text Box 26"/>
          <p:cNvSpPr txBox="1">
            <a:spLocks noChangeArrowheads="1"/>
          </p:cNvSpPr>
          <p:nvPr/>
        </p:nvSpPr>
        <p:spPr bwMode="auto">
          <a:xfrm>
            <a:off x="587375" y="1724025"/>
            <a:ext cx="7559675" cy="2306955"/>
          </a:xfrm>
          <a:prstGeom prst="rect">
            <a:avLst/>
          </a:prstGeom>
          <a:noFill/>
          <a:ln>
            <a:noFill/>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1) </a:t>
            </a:r>
            <a:r>
              <a:rPr kumimoji="0" lang="en-US" altLang="zh-CN" sz="2400" b="1"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400" b="1" i="1" u="none" strike="noStrike" kern="1200" cap="none" spc="0" normalizeH="0" baseline="0" noProof="0" dirty="0">
                <a:ln>
                  <a:noFill/>
                </a:ln>
                <a:solidFill>
                  <a:schemeClr val="tx1"/>
                </a:solidFill>
                <a:effectLst/>
                <a:uLnTx/>
                <a:uFillTx/>
                <a:latin typeface="+mn-ea"/>
                <a:ea typeface="+mn-ea"/>
                <a:cs typeface="Arial" panose="020B0604020202020204" pitchFamily="34" charset="0"/>
              </a:rPr>
              <a:t> </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与某时刻的</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v</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无关，与该时刻</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v</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的变化量有关。若电压不变，则电流为</a:t>
            </a:r>
            <a:r>
              <a:rPr kumimoji="0" lang="en-US" altLang="zh-CN"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0.</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zh-CN" altLang="en-US" sz="2400" b="1" i="0" u="none" strike="noStrike" kern="1200" cap="none" spc="0" normalizeH="0" baseline="0" noProof="0" dirty="0">
                <a:ln>
                  <a:noFill/>
                </a:ln>
                <a:solidFill>
                  <a:srgbClr val="FF0000"/>
                </a:solidFill>
                <a:effectLst/>
                <a:uLnTx/>
                <a:uFillTx/>
                <a:latin typeface="+mn-ea"/>
                <a:ea typeface="+mn-ea"/>
                <a:cs typeface="Arial" panose="020B0604020202020204" pitchFamily="34" charset="0"/>
              </a:rPr>
              <a:t>动态特性</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zh-CN" altLang="en-US" sz="2400" b="1" i="0" u="none" strike="noStrike" kern="1200" cap="none" spc="0" normalizeH="0" baseline="0" noProof="0" dirty="0">
                <a:ln>
                  <a:noFill/>
                </a:ln>
                <a:solidFill>
                  <a:srgbClr val="FF0000"/>
                </a:solidFill>
                <a:effectLst/>
                <a:uLnTx/>
                <a:uFillTx/>
                <a:latin typeface="+mn-ea"/>
                <a:ea typeface="+mn-ea"/>
                <a:cs typeface="Arial" panose="020B0604020202020204" pitchFamily="34" charset="0"/>
              </a:rPr>
              <a:t>动态元件</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zh-CN" altLang="en-US" sz="2400" b="1" i="0" u="none" strike="noStrike" kern="1200" cap="none" spc="0" normalizeH="0" baseline="0" noProof="0" dirty="0">
                <a:ln>
                  <a:noFill/>
                </a:ln>
                <a:solidFill>
                  <a:srgbClr val="FF0000"/>
                </a:solidFill>
                <a:effectLst/>
                <a:uLnTx/>
                <a:uFillTx/>
                <a:latin typeface="+mn-ea"/>
                <a:ea typeface="+mn-ea"/>
                <a:cs typeface="Arial" panose="020B0604020202020204" pitchFamily="34" charset="0"/>
              </a:rPr>
              <a:t>隔直流</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zh-CN" altLang="en-US" sz="2400" b="1" i="0" u="none" strike="noStrike" kern="1200" cap="none" spc="0" normalizeH="0" baseline="0" noProof="0" dirty="0">
                <a:ln>
                  <a:noFill/>
                </a:ln>
                <a:solidFill>
                  <a:srgbClr val="FF0000"/>
                </a:solidFill>
                <a:effectLst/>
                <a:uLnTx/>
                <a:uFillTx/>
                <a:latin typeface="+mn-ea"/>
                <a:ea typeface="+mn-ea"/>
                <a:cs typeface="Arial" panose="020B0604020202020204" pitchFamily="34" charset="0"/>
              </a:rPr>
              <a:t>通交流</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2</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）若</a:t>
            </a:r>
            <a:r>
              <a:rPr kumimoji="0" lang="en-US" altLang="zh-CN" sz="2400" b="1"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为有限值，</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v</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不能跃变（</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v</a:t>
            </a:r>
            <a:r>
              <a:rPr kumimoji="0" lang="zh-CN" altLang="en-US" sz="2400" b="1" i="0" u="none" strike="noStrike" kern="1200" cap="none" spc="0" normalizeH="0" baseline="0" noProof="0" dirty="0">
                <a:ln>
                  <a:noFill/>
                </a:ln>
                <a:solidFill>
                  <a:srgbClr val="FF0000"/>
                </a:solidFill>
                <a:effectLst/>
                <a:uLnTx/>
                <a:uFillTx/>
                <a:latin typeface="+mn-ea"/>
                <a:ea typeface="+mn-ea"/>
                <a:cs typeface="Arial" panose="020B0604020202020204" pitchFamily="34" charset="0"/>
              </a:rPr>
              <a:t>的连续性</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endParaRPr kumimoji="0" lang="en-US" altLang="zh-CN"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0" lang="en-US" altLang="zh-CN" sz="2400" b="1" i="0" u="none" strike="noStrike" kern="1200" cap="none" spc="0" normalizeH="0" baseline="0" noProof="0" dirty="0">
              <a:ln>
                <a:noFill/>
              </a:ln>
              <a:solidFill>
                <a:schemeClr val="bg2"/>
              </a:solidFill>
              <a:effectLst/>
              <a:uLnTx/>
              <a:uFillTx/>
              <a:latin typeface="+mn-ea"/>
              <a:ea typeface="+mn-ea"/>
              <a:cs typeface="Arial" panose="020B0604020202020204" pitchFamily="34" charset="0"/>
            </a:endParaRPr>
          </a:p>
        </p:txBody>
      </p:sp>
      <p:grpSp>
        <p:nvGrpSpPr>
          <p:cNvPr id="23557" name="Group 24"/>
          <p:cNvGrpSpPr/>
          <p:nvPr/>
        </p:nvGrpSpPr>
        <p:grpSpPr>
          <a:xfrm>
            <a:off x="1259840" y="3750310"/>
            <a:ext cx="4040188" cy="2357438"/>
            <a:chOff x="793" y="255"/>
            <a:chExt cx="3221" cy="1799"/>
          </a:xfrm>
        </p:grpSpPr>
        <p:grpSp>
          <p:nvGrpSpPr>
            <p:cNvPr id="23562" name="Group 21"/>
            <p:cNvGrpSpPr/>
            <p:nvPr/>
          </p:nvGrpSpPr>
          <p:grpSpPr>
            <a:xfrm>
              <a:off x="930" y="255"/>
              <a:ext cx="3084" cy="1451"/>
              <a:chOff x="930" y="255"/>
              <a:chExt cx="3084" cy="1451"/>
            </a:xfrm>
          </p:grpSpPr>
          <p:grpSp>
            <p:nvGrpSpPr>
              <p:cNvPr id="23565" name="Group 18"/>
              <p:cNvGrpSpPr/>
              <p:nvPr/>
            </p:nvGrpSpPr>
            <p:grpSpPr>
              <a:xfrm>
                <a:off x="930" y="255"/>
                <a:ext cx="2313" cy="1451"/>
                <a:chOff x="930" y="255"/>
                <a:chExt cx="2313" cy="1451"/>
              </a:xfrm>
            </p:grpSpPr>
            <p:grpSp>
              <p:nvGrpSpPr>
                <p:cNvPr id="23568" name="Group 16"/>
                <p:cNvGrpSpPr/>
                <p:nvPr/>
              </p:nvGrpSpPr>
              <p:grpSpPr>
                <a:xfrm>
                  <a:off x="930" y="255"/>
                  <a:ext cx="2313" cy="1451"/>
                  <a:chOff x="930" y="255"/>
                  <a:chExt cx="2313" cy="1451"/>
                </a:xfrm>
              </p:grpSpPr>
              <p:sp>
                <p:nvSpPr>
                  <p:cNvPr id="23570" name="Line 14"/>
                  <p:cNvSpPr/>
                  <p:nvPr/>
                </p:nvSpPr>
                <p:spPr>
                  <a:xfrm flipV="1">
                    <a:off x="930" y="255"/>
                    <a:ext cx="0" cy="1451"/>
                  </a:xfrm>
                  <a:prstGeom prst="line">
                    <a:avLst/>
                  </a:prstGeom>
                  <a:ln w="9525" cap="flat" cmpd="sng">
                    <a:solidFill>
                      <a:schemeClr val="tx1"/>
                    </a:solidFill>
                    <a:prstDash val="solid"/>
                    <a:headEnd type="none" w="med" len="med"/>
                    <a:tailEnd type="triangle" w="med" len="med"/>
                  </a:ln>
                </p:spPr>
              </p:sp>
              <p:sp>
                <p:nvSpPr>
                  <p:cNvPr id="23571" name="Line 15"/>
                  <p:cNvSpPr/>
                  <p:nvPr/>
                </p:nvSpPr>
                <p:spPr>
                  <a:xfrm>
                    <a:off x="930" y="1706"/>
                    <a:ext cx="2313" cy="0"/>
                  </a:xfrm>
                  <a:prstGeom prst="line">
                    <a:avLst/>
                  </a:prstGeom>
                  <a:ln w="9525" cap="flat" cmpd="sng">
                    <a:solidFill>
                      <a:schemeClr val="tx1"/>
                    </a:solidFill>
                    <a:prstDash val="solid"/>
                    <a:headEnd type="none" w="med" len="med"/>
                    <a:tailEnd type="triangle" w="med" len="med"/>
                  </a:ln>
                </p:spPr>
              </p:sp>
            </p:grpSp>
            <p:sp>
              <p:nvSpPr>
                <p:cNvPr id="23569" name="Line 17"/>
                <p:cNvSpPr/>
                <p:nvPr/>
              </p:nvSpPr>
              <p:spPr>
                <a:xfrm flipV="1">
                  <a:off x="930" y="436"/>
                  <a:ext cx="2177" cy="1270"/>
                </a:xfrm>
                <a:prstGeom prst="line">
                  <a:avLst/>
                </a:prstGeom>
                <a:ln w="9525" cap="flat" cmpd="sng">
                  <a:solidFill>
                    <a:schemeClr val="tx1"/>
                  </a:solidFill>
                  <a:prstDash val="solid"/>
                  <a:headEnd type="none" w="med" len="med"/>
                  <a:tailEnd type="none" w="med" len="med"/>
                </a:ln>
              </p:spPr>
            </p:sp>
          </p:grpSp>
          <p:sp>
            <p:nvSpPr>
              <p:cNvPr id="23566" name="Line 19"/>
              <p:cNvSpPr/>
              <p:nvPr/>
            </p:nvSpPr>
            <p:spPr>
              <a:xfrm flipH="1">
                <a:off x="2245" y="981"/>
                <a:ext cx="454" cy="0"/>
              </a:xfrm>
              <a:prstGeom prst="line">
                <a:avLst/>
              </a:prstGeom>
              <a:ln w="9525" cap="flat" cmpd="sng">
                <a:solidFill>
                  <a:schemeClr val="tx1"/>
                </a:solidFill>
                <a:prstDash val="solid"/>
                <a:headEnd type="none" w="med" len="med"/>
                <a:tailEnd type="triangle" w="med" len="med"/>
              </a:ln>
            </p:spPr>
          </p:sp>
          <p:sp>
            <p:nvSpPr>
              <p:cNvPr id="23567" name="Text Box 20"/>
              <p:cNvSpPr txBox="1"/>
              <p:nvPr/>
            </p:nvSpPr>
            <p:spPr>
              <a:xfrm>
                <a:off x="2744" y="890"/>
                <a:ext cx="1270" cy="35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cs typeface="Arial" panose="020B0604020202020204" pitchFamily="34" charset="0"/>
                  </a:rPr>
                  <a:t>斜率</a:t>
                </a:r>
                <a:r>
                  <a:rPr lang="en-US" altLang="zh-CN" sz="2400" b="1" dirty="0">
                    <a:cs typeface="Arial" panose="020B0604020202020204" pitchFamily="34" charset="0"/>
                  </a:rPr>
                  <a:t> = C</a:t>
                </a:r>
                <a:endParaRPr lang="en-US" altLang="zh-CN" sz="2400" b="1" dirty="0">
                  <a:ea typeface="Arial" panose="020B0604020202020204" pitchFamily="34" charset="0"/>
                </a:endParaRPr>
              </a:p>
            </p:txBody>
          </p:sp>
        </p:grpSp>
        <p:sp>
          <p:nvSpPr>
            <p:cNvPr id="23563" name="Text Box 22"/>
            <p:cNvSpPr txBox="1"/>
            <p:nvPr/>
          </p:nvSpPr>
          <p:spPr>
            <a:xfrm>
              <a:off x="2971" y="1705"/>
              <a:ext cx="635" cy="34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Monotype Corsiva" panose="03010101010201010101" pitchFamily="66" charset="0"/>
                  <a:cs typeface="Arial" panose="020B0604020202020204" pitchFamily="34" charset="0"/>
                </a:rPr>
                <a:t>dv/dt</a:t>
              </a:r>
              <a:endParaRPr lang="en-US" altLang="zh-CN" sz="2400" b="1" dirty="0">
                <a:latin typeface="Monotype Corsiva" panose="03010101010201010101" pitchFamily="66" charset="0"/>
                <a:ea typeface="Arial" panose="020B0604020202020204" pitchFamily="34" charset="0"/>
              </a:endParaRPr>
            </a:p>
          </p:txBody>
        </p:sp>
        <p:sp>
          <p:nvSpPr>
            <p:cNvPr id="23564" name="Text Box 23"/>
            <p:cNvSpPr txBox="1"/>
            <p:nvPr/>
          </p:nvSpPr>
          <p:spPr>
            <a:xfrm>
              <a:off x="793" y="1705"/>
              <a:ext cx="363" cy="34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cs typeface="Arial" panose="020B0604020202020204" pitchFamily="34" charset="0"/>
                </a:rPr>
                <a:t>0</a:t>
              </a:r>
              <a:endParaRPr lang="en-US" altLang="zh-CN" sz="2400" b="1" dirty="0">
                <a:ea typeface="Arial" panose="020B0604020202020204" pitchFamily="34" charset="0"/>
              </a:endParaRPr>
            </a:p>
          </p:txBody>
        </p:sp>
      </p:grpSp>
      <p:sp>
        <p:nvSpPr>
          <p:cNvPr id="23558" name="Text Box 26"/>
          <p:cNvSpPr txBox="1"/>
          <p:nvPr/>
        </p:nvSpPr>
        <p:spPr>
          <a:xfrm>
            <a:off x="1714818" y="6237605"/>
            <a:ext cx="377825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cs typeface="Arial" panose="020B0604020202020204" pitchFamily="34" charset="0"/>
              </a:rPr>
              <a:t>线性电容的</a:t>
            </a:r>
            <a:r>
              <a:rPr lang="en-US" altLang="zh-CN" sz="1800" b="1" dirty="0">
                <a:latin typeface="Times New Roman" panose="02020603050405020304" pitchFamily="18" charset="0"/>
                <a:cs typeface="Times New Roman" panose="02020603050405020304" pitchFamily="18" charset="0"/>
              </a:rPr>
              <a:t>VCR</a:t>
            </a:r>
            <a:r>
              <a:rPr lang="zh-CN" altLang="en-US" sz="1800" b="1" dirty="0">
                <a:cs typeface="Arial" panose="020B0604020202020204" pitchFamily="34" charset="0"/>
              </a:rPr>
              <a:t>曲线</a:t>
            </a:r>
            <a:endParaRPr lang="en-US" altLang="zh-CN" sz="1800" b="1" dirty="0">
              <a:ea typeface="Arial" panose="020B0604020202020204" pitchFamily="34" charset="0"/>
            </a:endParaRPr>
          </a:p>
        </p:txBody>
      </p:sp>
      <p:sp>
        <p:nvSpPr>
          <p:cNvPr id="23559" name="文本框 1"/>
          <p:cNvSpPr txBox="1"/>
          <p:nvPr/>
        </p:nvSpPr>
        <p:spPr>
          <a:xfrm>
            <a:off x="1319213" y="3228975"/>
            <a:ext cx="254000"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latin typeface="Times New Roman" panose="02020603050405020304" pitchFamily="18" charset="0"/>
                <a:ea typeface="宋体-18030" pitchFamily="49" charset="-122"/>
              </a:rPr>
              <a:t>i</a:t>
            </a:r>
            <a:endParaRPr lang="zh-CN" altLang="en-US" sz="2000" b="1" i="1" dirty="0">
              <a:latin typeface="Times New Roman" panose="02020603050405020304" pitchFamily="18" charset="0"/>
              <a:ea typeface="宋体-18030" pitchFamily="49" charset="-122"/>
            </a:endParaRPr>
          </a:p>
        </p:txBody>
      </p:sp>
      <p:sp>
        <p:nvSpPr>
          <p:cNvPr id="23560" name="文本框 1"/>
          <p:cNvSpPr txBox="1"/>
          <p:nvPr/>
        </p:nvSpPr>
        <p:spPr>
          <a:xfrm>
            <a:off x="873125" y="776923"/>
            <a:ext cx="1730375"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b="1" dirty="0">
                <a:solidFill>
                  <a:srgbClr val="FF0000"/>
                </a:solidFill>
                <a:ea typeface="楷体_GB2312" pitchFamily="49" charset="-122"/>
              </a:rPr>
              <a:t>伏安关系：</a:t>
            </a:r>
          </a:p>
        </p:txBody>
      </p:sp>
      <p:sp>
        <p:nvSpPr>
          <p:cNvPr id="21" name="文本框 20"/>
          <p:cNvSpPr txBox="1"/>
          <p:nvPr/>
        </p:nvSpPr>
        <p:spPr>
          <a:xfrm>
            <a:off x="6002655" y="654685"/>
            <a:ext cx="2296795" cy="706755"/>
          </a:xfrm>
          <a:prstGeom prst="rect">
            <a:avLst/>
          </a:prstGeom>
          <a:noFill/>
        </p:spPr>
        <p:txBody>
          <a:bodyPr wrap="square">
            <a:spAutoFit/>
          </a:bodyPr>
          <a:lstStyle/>
          <a:p>
            <a:pPr marR="0" defTabSz="914400">
              <a:buClrTx/>
              <a:buSzTx/>
              <a:buFontTx/>
              <a:buNone/>
              <a:defRPr/>
            </a:pPr>
            <a:r>
              <a:rPr kumimoji="0" lang="zh-CN" altLang="en-US" sz="2000" b="1" kern="1200" cap="none" spc="0" normalizeH="0" baseline="0" noProof="0" dirty="0">
                <a:solidFill>
                  <a:schemeClr val="tx1"/>
                </a:solidFill>
                <a:latin typeface="+mn-ea"/>
                <a:ea typeface="+mn-ea"/>
                <a:cs typeface="Arial" panose="020B0604020202020204" pitchFamily="34" charset="0"/>
              </a:rPr>
              <a:t>满足改方程式的电容称为线性电容</a:t>
            </a:r>
            <a:endParaRPr kumimoji="0" lang="zh-CN" altLang="en-US" sz="2000" kern="1200" cap="none" spc="0" normalizeH="0" baseline="0" noProof="0" dirty="0">
              <a:solidFill>
                <a:schemeClr val="tx1"/>
              </a:solidFill>
              <a:latin typeface="Arial" panose="020B0604020202020204" pitchFamily="34" charset="0"/>
              <a:ea typeface="宋体-18030" pitchFamily="49" charset="-122"/>
              <a:cs typeface="+mn-cs"/>
            </a:endParaRPr>
          </a:p>
        </p:txBody>
      </p:sp>
      <p:sp>
        <p:nvSpPr>
          <p:cNvPr id="3" name="文本框 2"/>
          <p:cNvSpPr txBox="1"/>
          <p:nvPr/>
        </p:nvSpPr>
        <p:spPr>
          <a:xfrm>
            <a:off x="6002655" y="3860800"/>
            <a:ext cx="2305685" cy="230695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a:t>线性电容的</a:t>
            </a:r>
            <a:r>
              <a:rPr lang="en-US" altLang="zh-CN"/>
              <a:t>C</a:t>
            </a:r>
            <a:r>
              <a:rPr lang="zh-CN" altLang="en-US"/>
              <a:t>不随电压改变，由电容的材料决定。</a:t>
            </a:r>
          </a:p>
          <a:p>
            <a:r>
              <a:rPr lang="zh-CN" altLang="en-US"/>
              <a:t>有的电容是非线性电容。但大部分都是线性电容。</a:t>
            </a:r>
          </a:p>
          <a:p>
            <a:r>
              <a:rPr lang="zh-CN" altLang="en-US"/>
              <a:t>本课程只讲授线性电容。</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Line 30"/>
          <p:cNvSpPr/>
          <p:nvPr/>
        </p:nvSpPr>
        <p:spPr>
          <a:xfrm flipH="1">
            <a:off x="7794625" y="4573588"/>
            <a:ext cx="1588" cy="206375"/>
          </a:xfrm>
          <a:prstGeom prst="line">
            <a:avLst/>
          </a:prstGeom>
          <a:ln w="9525" cap="flat" cmpd="sng">
            <a:solidFill>
              <a:schemeClr val="tx1"/>
            </a:solidFill>
            <a:prstDash val="solid"/>
            <a:headEnd type="none" w="med" len="med"/>
            <a:tailEnd type="none" w="med" len="med"/>
          </a:ln>
        </p:spPr>
      </p:sp>
      <p:grpSp>
        <p:nvGrpSpPr>
          <p:cNvPr id="24579" name="Group 88"/>
          <p:cNvGrpSpPr/>
          <p:nvPr/>
        </p:nvGrpSpPr>
        <p:grpSpPr>
          <a:xfrm>
            <a:off x="127000" y="3060700"/>
            <a:ext cx="3384550" cy="2017713"/>
            <a:chOff x="158" y="1933"/>
            <a:chExt cx="2132" cy="1271"/>
          </a:xfrm>
        </p:grpSpPr>
        <p:grpSp>
          <p:nvGrpSpPr>
            <p:cNvPr id="24614" name="Group 39"/>
            <p:cNvGrpSpPr/>
            <p:nvPr/>
          </p:nvGrpSpPr>
          <p:grpSpPr>
            <a:xfrm>
              <a:off x="293" y="2282"/>
              <a:ext cx="137" cy="136"/>
              <a:chOff x="3061" y="2725"/>
              <a:chExt cx="227" cy="227"/>
            </a:xfrm>
          </p:grpSpPr>
          <p:sp>
            <p:nvSpPr>
              <p:cNvPr id="24632" name="Line 37"/>
              <p:cNvSpPr/>
              <p:nvPr/>
            </p:nvSpPr>
            <p:spPr>
              <a:xfrm>
                <a:off x="3061" y="2840"/>
                <a:ext cx="227" cy="0"/>
              </a:xfrm>
              <a:prstGeom prst="line">
                <a:avLst/>
              </a:prstGeom>
              <a:ln w="38100" cap="flat" cmpd="sng">
                <a:solidFill>
                  <a:schemeClr val="tx1"/>
                </a:solidFill>
                <a:prstDash val="solid"/>
                <a:headEnd type="none" w="med" len="med"/>
                <a:tailEnd type="none" w="med" len="med"/>
              </a:ln>
            </p:spPr>
          </p:sp>
          <p:sp>
            <p:nvSpPr>
              <p:cNvPr id="24633" name="Line 38"/>
              <p:cNvSpPr/>
              <p:nvPr/>
            </p:nvSpPr>
            <p:spPr>
              <a:xfrm rot="-5400000">
                <a:off x="3052" y="2838"/>
                <a:ext cx="227" cy="0"/>
              </a:xfrm>
              <a:prstGeom prst="line">
                <a:avLst/>
              </a:prstGeom>
              <a:ln w="38100" cap="flat" cmpd="sng">
                <a:solidFill>
                  <a:schemeClr val="tx1"/>
                </a:solidFill>
                <a:prstDash val="solid"/>
                <a:headEnd type="none" w="med" len="med"/>
                <a:tailEnd type="none" w="med" len="med"/>
              </a:ln>
            </p:spPr>
          </p:sp>
        </p:grpSp>
        <p:sp>
          <p:nvSpPr>
            <p:cNvPr id="24615" name="Line 41"/>
            <p:cNvSpPr/>
            <p:nvPr/>
          </p:nvSpPr>
          <p:spPr>
            <a:xfrm flipV="1">
              <a:off x="326" y="3137"/>
              <a:ext cx="91" cy="0"/>
            </a:xfrm>
            <a:prstGeom prst="line">
              <a:avLst/>
            </a:prstGeom>
            <a:ln w="38100" cap="flat" cmpd="sng">
              <a:solidFill>
                <a:schemeClr val="tx1"/>
              </a:solidFill>
              <a:prstDash val="solid"/>
              <a:headEnd type="none" w="med" len="med"/>
              <a:tailEnd type="none" w="med" len="med"/>
            </a:ln>
          </p:spPr>
        </p:sp>
        <p:grpSp>
          <p:nvGrpSpPr>
            <p:cNvPr id="24616" name="Group 74"/>
            <p:cNvGrpSpPr/>
            <p:nvPr/>
          </p:nvGrpSpPr>
          <p:grpSpPr>
            <a:xfrm>
              <a:off x="158" y="1933"/>
              <a:ext cx="2132" cy="1271"/>
              <a:chOff x="703" y="2477"/>
              <a:chExt cx="2132" cy="1271"/>
            </a:xfrm>
          </p:grpSpPr>
          <p:grpSp>
            <p:nvGrpSpPr>
              <p:cNvPr id="24617" name="Group 49"/>
              <p:cNvGrpSpPr/>
              <p:nvPr/>
            </p:nvGrpSpPr>
            <p:grpSpPr>
              <a:xfrm>
                <a:off x="703" y="2477"/>
                <a:ext cx="2132" cy="1271"/>
                <a:chOff x="567" y="2341"/>
                <a:chExt cx="2132" cy="1271"/>
              </a:xfrm>
            </p:grpSpPr>
            <p:grpSp>
              <p:nvGrpSpPr>
                <p:cNvPr id="24619" name="Group 50"/>
                <p:cNvGrpSpPr/>
                <p:nvPr/>
              </p:nvGrpSpPr>
              <p:grpSpPr>
                <a:xfrm>
                  <a:off x="748" y="2659"/>
                  <a:ext cx="1686" cy="953"/>
                  <a:chOff x="748" y="2659"/>
                  <a:chExt cx="1686" cy="953"/>
                </a:xfrm>
              </p:grpSpPr>
              <p:grpSp>
                <p:nvGrpSpPr>
                  <p:cNvPr id="24623" name="Group 51"/>
                  <p:cNvGrpSpPr/>
                  <p:nvPr/>
                </p:nvGrpSpPr>
                <p:grpSpPr>
                  <a:xfrm>
                    <a:off x="748" y="2659"/>
                    <a:ext cx="1686" cy="953"/>
                    <a:chOff x="748" y="2659"/>
                    <a:chExt cx="1686" cy="953"/>
                  </a:xfrm>
                </p:grpSpPr>
                <p:sp>
                  <p:nvSpPr>
                    <p:cNvPr id="24625" name="Line 52"/>
                    <p:cNvSpPr/>
                    <p:nvPr/>
                  </p:nvSpPr>
                  <p:spPr>
                    <a:xfrm>
                      <a:off x="748" y="2659"/>
                      <a:ext cx="1588" cy="0"/>
                    </a:xfrm>
                    <a:prstGeom prst="line">
                      <a:avLst/>
                    </a:prstGeom>
                    <a:ln w="9525" cap="flat" cmpd="sng">
                      <a:solidFill>
                        <a:schemeClr val="tx1"/>
                      </a:solidFill>
                      <a:prstDash val="solid"/>
                      <a:headEnd type="none" w="med" len="med"/>
                      <a:tailEnd type="none" w="med" len="med"/>
                    </a:ln>
                  </p:spPr>
                </p:sp>
                <p:sp>
                  <p:nvSpPr>
                    <p:cNvPr id="24626" name="Line 53"/>
                    <p:cNvSpPr/>
                    <p:nvPr/>
                  </p:nvSpPr>
                  <p:spPr>
                    <a:xfrm>
                      <a:off x="2336" y="2659"/>
                      <a:ext cx="0" cy="454"/>
                    </a:xfrm>
                    <a:prstGeom prst="line">
                      <a:avLst/>
                    </a:prstGeom>
                    <a:ln w="9525" cap="flat" cmpd="sng">
                      <a:solidFill>
                        <a:schemeClr val="tx1"/>
                      </a:solidFill>
                      <a:prstDash val="solid"/>
                      <a:headEnd type="none" w="med" len="med"/>
                      <a:tailEnd type="none" w="med" len="med"/>
                    </a:ln>
                  </p:spPr>
                </p:sp>
                <p:sp>
                  <p:nvSpPr>
                    <p:cNvPr id="24627" name="Line 54"/>
                    <p:cNvSpPr/>
                    <p:nvPr/>
                  </p:nvSpPr>
                  <p:spPr>
                    <a:xfrm>
                      <a:off x="2336" y="3249"/>
                      <a:ext cx="0" cy="362"/>
                    </a:xfrm>
                    <a:prstGeom prst="line">
                      <a:avLst/>
                    </a:prstGeom>
                    <a:ln w="9525" cap="flat" cmpd="sng">
                      <a:solidFill>
                        <a:schemeClr val="tx1"/>
                      </a:solidFill>
                      <a:prstDash val="solid"/>
                      <a:headEnd type="none" w="med" len="med"/>
                      <a:tailEnd type="none" w="med" len="med"/>
                    </a:ln>
                  </p:spPr>
                </p:sp>
                <p:grpSp>
                  <p:nvGrpSpPr>
                    <p:cNvPr id="24628" name="Group 55"/>
                    <p:cNvGrpSpPr/>
                    <p:nvPr/>
                  </p:nvGrpSpPr>
                  <p:grpSpPr>
                    <a:xfrm>
                      <a:off x="2207" y="3113"/>
                      <a:ext cx="227" cy="91"/>
                      <a:chOff x="3061" y="2840"/>
                      <a:chExt cx="227" cy="91"/>
                    </a:xfrm>
                  </p:grpSpPr>
                  <p:sp>
                    <p:nvSpPr>
                      <p:cNvPr id="24630" name="Line 56"/>
                      <p:cNvSpPr/>
                      <p:nvPr/>
                    </p:nvSpPr>
                    <p:spPr>
                      <a:xfrm>
                        <a:off x="3061" y="2840"/>
                        <a:ext cx="227" cy="0"/>
                      </a:xfrm>
                      <a:prstGeom prst="line">
                        <a:avLst/>
                      </a:prstGeom>
                      <a:ln w="38100" cap="flat" cmpd="sng">
                        <a:solidFill>
                          <a:schemeClr val="tx1"/>
                        </a:solidFill>
                        <a:prstDash val="solid"/>
                        <a:headEnd type="none" w="med" len="med"/>
                        <a:tailEnd type="none" w="med" len="med"/>
                      </a:ln>
                    </p:spPr>
                  </p:sp>
                  <p:sp>
                    <p:nvSpPr>
                      <p:cNvPr id="24631" name="Line 57"/>
                      <p:cNvSpPr/>
                      <p:nvPr/>
                    </p:nvSpPr>
                    <p:spPr>
                      <a:xfrm>
                        <a:off x="3061" y="2931"/>
                        <a:ext cx="227" cy="0"/>
                      </a:xfrm>
                      <a:prstGeom prst="line">
                        <a:avLst/>
                      </a:prstGeom>
                      <a:ln w="38100" cap="flat" cmpd="sng">
                        <a:solidFill>
                          <a:schemeClr val="tx1"/>
                        </a:solidFill>
                        <a:prstDash val="solid"/>
                        <a:headEnd type="none" w="med" len="med"/>
                        <a:tailEnd type="none" w="med" len="med"/>
                      </a:ln>
                    </p:spPr>
                  </p:sp>
                </p:grpSp>
                <p:sp>
                  <p:nvSpPr>
                    <p:cNvPr id="24629" name="Line 58"/>
                    <p:cNvSpPr/>
                    <p:nvPr/>
                  </p:nvSpPr>
                  <p:spPr>
                    <a:xfrm flipH="1">
                      <a:off x="748" y="3612"/>
                      <a:ext cx="1588" cy="0"/>
                    </a:xfrm>
                    <a:prstGeom prst="line">
                      <a:avLst/>
                    </a:prstGeom>
                    <a:ln w="9525" cap="flat" cmpd="sng">
                      <a:solidFill>
                        <a:schemeClr val="tx1"/>
                      </a:solidFill>
                      <a:prstDash val="solid"/>
                      <a:headEnd type="none" w="med" len="med"/>
                      <a:tailEnd type="none" w="med" len="med"/>
                    </a:ln>
                  </p:spPr>
                </p:sp>
              </p:grpSp>
              <p:sp>
                <p:nvSpPr>
                  <p:cNvPr id="24624" name="Line 59"/>
                  <p:cNvSpPr/>
                  <p:nvPr/>
                </p:nvSpPr>
                <p:spPr>
                  <a:xfrm>
                    <a:off x="1383" y="2659"/>
                    <a:ext cx="318" cy="0"/>
                  </a:xfrm>
                  <a:prstGeom prst="line">
                    <a:avLst/>
                  </a:prstGeom>
                  <a:ln w="9525" cap="flat" cmpd="sng">
                    <a:solidFill>
                      <a:schemeClr val="tx1"/>
                    </a:solidFill>
                    <a:prstDash val="solid"/>
                    <a:headEnd type="none" w="med" len="med"/>
                    <a:tailEnd type="triangle" w="med" len="med"/>
                  </a:ln>
                </p:spPr>
              </p:sp>
            </p:grpSp>
            <p:sp>
              <p:nvSpPr>
                <p:cNvPr id="24620" name="Text Box 60"/>
                <p:cNvSpPr txBox="1"/>
                <p:nvPr/>
              </p:nvSpPr>
              <p:spPr>
                <a:xfrm>
                  <a:off x="1519" y="2341"/>
                  <a:ext cx="499"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i </a:t>
                  </a:r>
                  <a:r>
                    <a:rPr lang="en-US" altLang="zh-CN" sz="2400" b="1" dirty="0">
                      <a:cs typeface="Arial" panose="020B0604020202020204" pitchFamily="34" charset="0"/>
                    </a:rPr>
                    <a:t>(t)</a:t>
                  </a:r>
                  <a:endParaRPr lang="en-US" altLang="zh-CN" sz="2400" b="1" dirty="0">
                    <a:ea typeface="Arial" panose="020B0604020202020204" pitchFamily="34" charset="0"/>
                  </a:endParaRPr>
                </a:p>
              </p:txBody>
            </p:sp>
            <p:sp>
              <p:nvSpPr>
                <p:cNvPr id="24621" name="Text Box 61"/>
                <p:cNvSpPr txBox="1"/>
                <p:nvPr/>
              </p:nvSpPr>
              <p:spPr>
                <a:xfrm>
                  <a:off x="567" y="3113"/>
                  <a:ext cx="363"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latin typeface="Monotype Corsiva" panose="03010101010201010101" pitchFamily="66" charset="0"/>
                      <a:cs typeface="Arial" panose="020B0604020202020204" pitchFamily="34" charset="0"/>
                    </a:rPr>
                    <a:t>v </a:t>
                  </a:r>
                  <a:r>
                    <a:rPr lang="en-US" altLang="zh-CN" sz="2000" b="1" dirty="0">
                      <a:cs typeface="Arial" panose="020B0604020202020204" pitchFamily="34" charset="0"/>
                    </a:rPr>
                    <a:t>(t)</a:t>
                  </a:r>
                  <a:endParaRPr lang="en-US" altLang="zh-CN" sz="2000" b="1" dirty="0">
                    <a:ea typeface="Arial" panose="020B0604020202020204" pitchFamily="34" charset="0"/>
                  </a:endParaRPr>
                </a:p>
              </p:txBody>
            </p:sp>
            <p:sp>
              <p:nvSpPr>
                <p:cNvPr id="24622" name="Text Box 62"/>
                <p:cNvSpPr txBox="1"/>
                <p:nvPr/>
              </p:nvSpPr>
              <p:spPr>
                <a:xfrm>
                  <a:off x="2336" y="2912"/>
                  <a:ext cx="363"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latin typeface="Monotype Corsiva" panose="03010101010201010101" pitchFamily="66" charset="0"/>
                      <a:cs typeface="Arial" panose="020B0604020202020204" pitchFamily="34" charset="0"/>
                    </a:rPr>
                    <a:t>v </a:t>
                  </a:r>
                  <a:r>
                    <a:rPr lang="en-US" altLang="zh-CN" sz="1800" b="1" dirty="0">
                      <a:cs typeface="Arial" panose="020B0604020202020204" pitchFamily="34" charset="0"/>
                    </a:rPr>
                    <a:t>(t</a:t>
                  </a:r>
                  <a:r>
                    <a:rPr lang="en-US" altLang="zh-CN" sz="1800" b="1" baseline="-25000" dirty="0">
                      <a:cs typeface="Arial" panose="020B0604020202020204" pitchFamily="34" charset="0"/>
                    </a:rPr>
                    <a:t>0</a:t>
                  </a:r>
                  <a:r>
                    <a:rPr lang="en-US" altLang="zh-CN" sz="1800" b="1" dirty="0">
                      <a:cs typeface="Arial" panose="020B0604020202020204" pitchFamily="34" charset="0"/>
                    </a:rPr>
                    <a:t>)</a:t>
                  </a:r>
                  <a:endParaRPr lang="en-US" altLang="zh-CN" sz="1800" b="1" dirty="0">
                    <a:ea typeface="Arial" panose="020B0604020202020204" pitchFamily="34" charset="0"/>
                  </a:endParaRPr>
                </a:p>
              </p:txBody>
            </p:sp>
          </p:grpSp>
          <p:sp>
            <p:nvSpPr>
              <p:cNvPr id="24618" name="Text Box 73"/>
              <p:cNvSpPr txBox="1"/>
              <p:nvPr/>
            </p:nvSpPr>
            <p:spPr>
              <a:xfrm>
                <a:off x="2109" y="3203"/>
                <a:ext cx="181"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宋体" panose="02010600030101010101" pitchFamily="2" charset="-122"/>
                    <a:cs typeface="Arial" panose="020B0604020202020204" pitchFamily="34" charset="0"/>
                  </a:rPr>
                  <a:t>C</a:t>
                </a:r>
                <a:endParaRPr lang="en-US" altLang="zh-CN" sz="2400" b="1" dirty="0">
                  <a:latin typeface="宋体" panose="02010600030101010101" pitchFamily="2" charset="-122"/>
                  <a:ea typeface="Arial" panose="020B0604020202020204" pitchFamily="34" charset="0"/>
                </a:endParaRPr>
              </a:p>
            </p:txBody>
          </p:sp>
        </p:grpSp>
      </p:grpSp>
      <p:grpSp>
        <p:nvGrpSpPr>
          <p:cNvPr id="24580" name="Group 97"/>
          <p:cNvGrpSpPr/>
          <p:nvPr/>
        </p:nvGrpSpPr>
        <p:grpSpPr>
          <a:xfrm>
            <a:off x="4986338" y="2916238"/>
            <a:ext cx="4140200" cy="2520950"/>
            <a:chOff x="3061" y="1616"/>
            <a:chExt cx="2608" cy="1588"/>
          </a:xfrm>
        </p:grpSpPr>
        <p:sp>
          <p:nvSpPr>
            <p:cNvPr id="24598" name="Line 28"/>
            <p:cNvSpPr/>
            <p:nvPr/>
          </p:nvSpPr>
          <p:spPr>
            <a:xfrm>
              <a:off x="3243" y="1934"/>
              <a:ext cx="1588" cy="0"/>
            </a:xfrm>
            <a:prstGeom prst="line">
              <a:avLst/>
            </a:prstGeom>
            <a:ln w="9525" cap="flat" cmpd="sng">
              <a:solidFill>
                <a:schemeClr val="tx1"/>
              </a:solidFill>
              <a:prstDash val="solid"/>
              <a:headEnd type="none" w="med" len="med"/>
              <a:tailEnd type="none" w="med" len="med"/>
            </a:ln>
          </p:spPr>
        </p:sp>
        <p:sp>
          <p:nvSpPr>
            <p:cNvPr id="24599" name="Line 29"/>
            <p:cNvSpPr/>
            <p:nvPr/>
          </p:nvSpPr>
          <p:spPr>
            <a:xfrm>
              <a:off x="4831" y="1934"/>
              <a:ext cx="0" cy="454"/>
            </a:xfrm>
            <a:prstGeom prst="line">
              <a:avLst/>
            </a:prstGeom>
            <a:ln w="9525" cap="flat" cmpd="sng">
              <a:solidFill>
                <a:schemeClr val="tx1"/>
              </a:solidFill>
              <a:prstDash val="solid"/>
              <a:headEnd type="none" w="med" len="med"/>
              <a:tailEnd type="none" w="med" len="med"/>
            </a:ln>
          </p:spPr>
        </p:sp>
        <p:grpSp>
          <p:nvGrpSpPr>
            <p:cNvPr id="24600" name="Group 33"/>
            <p:cNvGrpSpPr/>
            <p:nvPr/>
          </p:nvGrpSpPr>
          <p:grpSpPr>
            <a:xfrm>
              <a:off x="4702" y="2388"/>
              <a:ext cx="227" cy="91"/>
              <a:chOff x="3061" y="2840"/>
              <a:chExt cx="227" cy="91"/>
            </a:xfrm>
          </p:grpSpPr>
          <p:sp>
            <p:nvSpPr>
              <p:cNvPr id="24612" name="Line 31"/>
              <p:cNvSpPr/>
              <p:nvPr/>
            </p:nvSpPr>
            <p:spPr>
              <a:xfrm>
                <a:off x="3061" y="2840"/>
                <a:ext cx="227" cy="0"/>
              </a:xfrm>
              <a:prstGeom prst="line">
                <a:avLst/>
              </a:prstGeom>
              <a:ln w="38100" cap="flat" cmpd="sng">
                <a:solidFill>
                  <a:schemeClr val="tx1"/>
                </a:solidFill>
                <a:prstDash val="solid"/>
                <a:headEnd type="none" w="med" len="med"/>
                <a:tailEnd type="none" w="med" len="med"/>
              </a:ln>
            </p:spPr>
          </p:sp>
          <p:sp>
            <p:nvSpPr>
              <p:cNvPr id="24613" name="Line 32"/>
              <p:cNvSpPr/>
              <p:nvPr/>
            </p:nvSpPr>
            <p:spPr>
              <a:xfrm>
                <a:off x="3061" y="2931"/>
                <a:ext cx="227" cy="0"/>
              </a:xfrm>
              <a:prstGeom prst="line">
                <a:avLst/>
              </a:prstGeom>
              <a:ln w="38100" cap="flat" cmpd="sng">
                <a:solidFill>
                  <a:schemeClr val="tx1"/>
                </a:solidFill>
                <a:prstDash val="solid"/>
                <a:headEnd type="none" w="med" len="med"/>
                <a:tailEnd type="none" w="med" len="med"/>
              </a:ln>
            </p:spPr>
          </p:sp>
        </p:grpSp>
        <p:sp>
          <p:nvSpPr>
            <p:cNvPr id="24601" name="Line 34"/>
            <p:cNvSpPr/>
            <p:nvPr/>
          </p:nvSpPr>
          <p:spPr>
            <a:xfrm flipH="1">
              <a:off x="3243" y="3204"/>
              <a:ext cx="1588" cy="0"/>
            </a:xfrm>
            <a:prstGeom prst="line">
              <a:avLst/>
            </a:prstGeom>
            <a:ln w="9525" cap="flat" cmpd="sng">
              <a:solidFill>
                <a:schemeClr val="tx1"/>
              </a:solidFill>
              <a:prstDash val="solid"/>
              <a:headEnd type="none" w="med" len="med"/>
              <a:tailEnd type="none" w="med" len="med"/>
            </a:ln>
          </p:spPr>
        </p:sp>
        <p:sp>
          <p:nvSpPr>
            <p:cNvPr id="24602" name="Line 43"/>
            <p:cNvSpPr/>
            <p:nvPr/>
          </p:nvSpPr>
          <p:spPr>
            <a:xfrm>
              <a:off x="3878" y="1934"/>
              <a:ext cx="318" cy="0"/>
            </a:xfrm>
            <a:prstGeom prst="line">
              <a:avLst/>
            </a:prstGeom>
            <a:ln w="9525" cap="flat" cmpd="sng">
              <a:solidFill>
                <a:schemeClr val="tx1"/>
              </a:solidFill>
              <a:prstDash val="solid"/>
              <a:headEnd type="none" w="med" len="med"/>
              <a:tailEnd type="triangle" w="med" len="med"/>
            </a:ln>
          </p:spPr>
        </p:sp>
        <p:sp>
          <p:nvSpPr>
            <p:cNvPr id="24603" name="Text Box 45"/>
            <p:cNvSpPr txBox="1"/>
            <p:nvPr/>
          </p:nvSpPr>
          <p:spPr>
            <a:xfrm>
              <a:off x="4013" y="1616"/>
              <a:ext cx="499"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Monotype Corsiva" panose="03010101010201010101" pitchFamily="66" charset="0"/>
                  <a:cs typeface="Arial" panose="020B0604020202020204" pitchFamily="34" charset="0"/>
                </a:rPr>
                <a:t>i </a:t>
              </a:r>
              <a:r>
                <a:rPr lang="en-US" altLang="zh-CN" sz="2400" b="1" dirty="0">
                  <a:cs typeface="Arial" panose="020B0604020202020204" pitchFamily="34" charset="0"/>
                </a:rPr>
                <a:t>(t)</a:t>
              </a:r>
              <a:endParaRPr lang="en-US" altLang="zh-CN" sz="2400" b="1" dirty="0">
                <a:ea typeface="Arial" panose="020B0604020202020204" pitchFamily="34" charset="0"/>
              </a:endParaRPr>
            </a:p>
          </p:txBody>
        </p:sp>
        <p:sp>
          <p:nvSpPr>
            <p:cNvPr id="24604" name="Text Box 46"/>
            <p:cNvSpPr txBox="1"/>
            <p:nvPr/>
          </p:nvSpPr>
          <p:spPr>
            <a:xfrm>
              <a:off x="3061" y="2388"/>
              <a:ext cx="363"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Monotype Corsiva" panose="03010101010201010101" pitchFamily="66" charset="0"/>
                  <a:cs typeface="Arial" panose="020B0604020202020204" pitchFamily="34" charset="0"/>
                </a:rPr>
                <a:t>v </a:t>
              </a:r>
              <a:r>
                <a:rPr lang="en-US" altLang="zh-CN" sz="2000" b="1" dirty="0">
                  <a:cs typeface="Arial" panose="020B0604020202020204" pitchFamily="34" charset="0"/>
                </a:rPr>
                <a:t>(t)</a:t>
              </a:r>
              <a:endParaRPr lang="en-US" altLang="zh-CN" sz="2000" b="1" dirty="0">
                <a:ea typeface="Arial" panose="020B0604020202020204" pitchFamily="34" charset="0"/>
              </a:endParaRPr>
            </a:p>
          </p:txBody>
        </p:sp>
        <p:sp>
          <p:nvSpPr>
            <p:cNvPr id="24605" name="Text Box 47"/>
            <p:cNvSpPr txBox="1"/>
            <p:nvPr/>
          </p:nvSpPr>
          <p:spPr>
            <a:xfrm>
              <a:off x="4822" y="2153"/>
              <a:ext cx="794"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latin typeface="Monotype Corsiva" panose="03010101010201010101" pitchFamily="66" charset="0"/>
                  <a:cs typeface="Arial" panose="020B0604020202020204" pitchFamily="34" charset="0"/>
                </a:rPr>
                <a:t>v </a:t>
              </a:r>
              <a:r>
                <a:rPr lang="en-US" altLang="zh-CN" sz="2000" b="1" dirty="0">
                  <a:cs typeface="Arial" panose="020B0604020202020204" pitchFamily="34" charset="0"/>
                </a:rPr>
                <a:t>(t</a:t>
              </a:r>
              <a:r>
                <a:rPr lang="en-US" altLang="zh-CN" sz="2000" b="1" baseline="-25000" dirty="0">
                  <a:cs typeface="Arial" panose="020B0604020202020204" pitchFamily="34" charset="0"/>
                </a:rPr>
                <a:t>0</a:t>
              </a:r>
              <a:r>
                <a:rPr lang="en-US" altLang="zh-CN" sz="2000" b="1" dirty="0">
                  <a:cs typeface="Arial" panose="020B0604020202020204" pitchFamily="34" charset="0"/>
                </a:rPr>
                <a:t>)=0</a:t>
              </a:r>
              <a:endParaRPr lang="en-US" altLang="zh-CN" sz="2000" b="1" dirty="0">
                <a:ea typeface="Arial" panose="020B0604020202020204" pitchFamily="34" charset="0"/>
              </a:endParaRPr>
            </a:p>
          </p:txBody>
        </p:sp>
        <p:grpSp>
          <p:nvGrpSpPr>
            <p:cNvPr id="24606" name="Group 69"/>
            <p:cNvGrpSpPr/>
            <p:nvPr/>
          </p:nvGrpSpPr>
          <p:grpSpPr>
            <a:xfrm>
              <a:off x="3243" y="1979"/>
              <a:ext cx="137" cy="136"/>
              <a:chOff x="3061" y="2726"/>
              <a:chExt cx="227" cy="227"/>
            </a:xfrm>
          </p:grpSpPr>
          <p:sp>
            <p:nvSpPr>
              <p:cNvPr id="24610" name="Line 70"/>
              <p:cNvSpPr/>
              <p:nvPr/>
            </p:nvSpPr>
            <p:spPr>
              <a:xfrm>
                <a:off x="3061" y="2841"/>
                <a:ext cx="227" cy="0"/>
              </a:xfrm>
              <a:prstGeom prst="line">
                <a:avLst/>
              </a:prstGeom>
              <a:ln w="38100" cap="flat" cmpd="sng">
                <a:solidFill>
                  <a:schemeClr val="tx1"/>
                </a:solidFill>
                <a:prstDash val="solid"/>
                <a:headEnd type="none" w="med" len="med"/>
                <a:tailEnd type="none" w="med" len="med"/>
              </a:ln>
            </p:spPr>
          </p:sp>
          <p:sp>
            <p:nvSpPr>
              <p:cNvPr id="24611" name="Line 71"/>
              <p:cNvSpPr/>
              <p:nvPr/>
            </p:nvSpPr>
            <p:spPr>
              <a:xfrm rot="-5400000">
                <a:off x="3052" y="2839"/>
                <a:ext cx="227" cy="0"/>
              </a:xfrm>
              <a:prstGeom prst="line">
                <a:avLst/>
              </a:prstGeom>
              <a:ln w="38100" cap="flat" cmpd="sng">
                <a:solidFill>
                  <a:schemeClr val="tx1"/>
                </a:solidFill>
                <a:prstDash val="solid"/>
                <a:headEnd type="none" w="med" len="med"/>
                <a:tailEnd type="none" w="med" len="med"/>
              </a:ln>
            </p:spPr>
          </p:sp>
        </p:grpSp>
        <p:sp>
          <p:nvSpPr>
            <p:cNvPr id="24607" name="Line 72"/>
            <p:cNvSpPr/>
            <p:nvPr/>
          </p:nvSpPr>
          <p:spPr>
            <a:xfrm flipV="1">
              <a:off x="3243" y="3068"/>
              <a:ext cx="91" cy="0"/>
            </a:xfrm>
            <a:prstGeom prst="line">
              <a:avLst/>
            </a:prstGeom>
            <a:ln w="38100" cap="flat" cmpd="sng">
              <a:solidFill>
                <a:schemeClr val="tx1"/>
              </a:solidFill>
              <a:prstDash val="solid"/>
              <a:headEnd type="none" w="med" len="med"/>
              <a:tailEnd type="none" w="med" len="med"/>
            </a:ln>
          </p:spPr>
        </p:sp>
        <p:sp>
          <p:nvSpPr>
            <p:cNvPr id="24608" name="Text Box 75"/>
            <p:cNvSpPr txBox="1"/>
            <p:nvPr/>
          </p:nvSpPr>
          <p:spPr>
            <a:xfrm>
              <a:off x="4422" y="2296"/>
              <a:ext cx="317"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cs typeface="Arial" panose="020B0604020202020204" pitchFamily="34" charset="0"/>
                </a:rPr>
                <a:t>C</a:t>
              </a:r>
              <a:endParaRPr lang="en-US" altLang="zh-CN" sz="2400" b="1" dirty="0">
                <a:ea typeface="Arial" panose="020B0604020202020204" pitchFamily="34" charset="0"/>
              </a:endParaRPr>
            </a:p>
          </p:txBody>
        </p:sp>
        <p:sp>
          <p:nvSpPr>
            <p:cNvPr id="24609" name="Text Box 76"/>
            <p:cNvSpPr txBox="1"/>
            <p:nvPr/>
          </p:nvSpPr>
          <p:spPr>
            <a:xfrm>
              <a:off x="4966" y="2779"/>
              <a:ext cx="703"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Monotype Corsiva" panose="03010101010201010101" pitchFamily="66" charset="0"/>
                  <a:cs typeface="Arial" panose="020B0604020202020204" pitchFamily="34" charset="0"/>
                </a:rPr>
                <a:t>v </a:t>
              </a:r>
              <a:r>
                <a:rPr lang="en-US" altLang="zh-CN" sz="2000" b="1" baseline="-25000" dirty="0">
                  <a:cs typeface="Arial" panose="020B0604020202020204" pitchFamily="34" charset="0"/>
                </a:rPr>
                <a:t>s </a:t>
              </a:r>
              <a:r>
                <a:rPr lang="en-US" altLang="zh-CN" sz="2000" b="1" dirty="0">
                  <a:cs typeface="Arial" panose="020B0604020202020204" pitchFamily="34" charset="0"/>
                </a:rPr>
                <a:t>=</a:t>
              </a:r>
              <a:r>
                <a:rPr lang="en-US" altLang="zh-CN" sz="2000" b="1" dirty="0">
                  <a:latin typeface="Monotype Corsiva" panose="03010101010201010101" pitchFamily="66" charset="0"/>
                  <a:cs typeface="Arial" panose="020B0604020202020204" pitchFamily="34" charset="0"/>
                </a:rPr>
                <a:t>v </a:t>
              </a:r>
              <a:r>
                <a:rPr lang="en-US" altLang="zh-CN" sz="2000" b="1" dirty="0">
                  <a:cs typeface="Arial" panose="020B0604020202020204" pitchFamily="34" charset="0"/>
                </a:rPr>
                <a:t>(t</a:t>
              </a:r>
              <a:r>
                <a:rPr lang="en-US" altLang="zh-CN" sz="2000" b="1" baseline="-25000" dirty="0">
                  <a:cs typeface="Arial" panose="020B0604020202020204" pitchFamily="34" charset="0"/>
                </a:rPr>
                <a:t>0</a:t>
              </a:r>
              <a:r>
                <a:rPr lang="en-US" altLang="zh-CN" sz="2000" b="1" dirty="0">
                  <a:cs typeface="Arial" panose="020B0604020202020204" pitchFamily="34" charset="0"/>
                </a:rPr>
                <a:t>)</a:t>
              </a:r>
              <a:endParaRPr lang="en-US" altLang="zh-CN" sz="2000" b="1" dirty="0">
                <a:ea typeface="Arial" panose="020B0604020202020204" pitchFamily="34" charset="0"/>
              </a:endParaRPr>
            </a:p>
          </p:txBody>
        </p:sp>
      </p:grpSp>
      <p:sp>
        <p:nvSpPr>
          <p:cNvPr id="24581" name="Text Box 79"/>
          <p:cNvSpPr txBox="1"/>
          <p:nvPr/>
        </p:nvSpPr>
        <p:spPr>
          <a:xfrm>
            <a:off x="395288" y="5857875"/>
            <a:ext cx="7993062"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ClrTx/>
              <a:buSzTx/>
              <a:buFont typeface="Wingdings" panose="05000000000000000000" pitchFamily="2" charset="2"/>
              <a:buChar char="u"/>
            </a:pPr>
            <a:r>
              <a:rPr lang="zh-CN" altLang="en-US" sz="2000" b="1" dirty="0">
                <a:latin typeface="楷体_GB2312" pitchFamily="49" charset="-122"/>
                <a:ea typeface="楷体_GB2312" pitchFamily="49" charset="-122"/>
              </a:rPr>
              <a:t>初始电压为</a:t>
            </a:r>
            <a:r>
              <a:rPr lang="en-US" altLang="zh-CN" sz="2000" b="1" i="1" dirty="0">
                <a:latin typeface="Times New Roman" panose="02020603050405020304" pitchFamily="18" charset="0"/>
                <a:ea typeface="楷体_GB2312" pitchFamily="49" charset="-122"/>
              </a:rPr>
              <a:t>v</a:t>
            </a:r>
            <a:r>
              <a:rPr lang="en-US" altLang="zh-CN" sz="2000" b="1" dirty="0">
                <a:latin typeface="Times New Roman" panose="02020603050405020304" pitchFamily="18" charset="0"/>
                <a:ea typeface="楷体_GB2312" pitchFamily="49" charset="-122"/>
              </a:rPr>
              <a:t>(</a:t>
            </a:r>
            <a:r>
              <a:rPr lang="en-US" altLang="zh-CN" sz="2000" b="1" i="1" dirty="0">
                <a:latin typeface="Times New Roman" panose="02020603050405020304" pitchFamily="18" charset="0"/>
                <a:ea typeface="楷体_GB2312" pitchFamily="49" charset="-122"/>
              </a:rPr>
              <a:t>t</a:t>
            </a:r>
            <a:r>
              <a:rPr lang="en-US" altLang="zh-CN" sz="2000" b="1" baseline="-25000" dirty="0">
                <a:latin typeface="Times New Roman" panose="02020603050405020304" pitchFamily="18" charset="0"/>
                <a:ea typeface="楷体_GB2312" pitchFamily="49" charset="-122"/>
              </a:rPr>
              <a:t>0</a:t>
            </a:r>
            <a:r>
              <a:rPr lang="en-US" altLang="zh-CN"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的电容可等效成一个</a:t>
            </a:r>
            <a:r>
              <a:rPr lang="en-US" altLang="zh-CN" sz="2000" b="1" i="1" dirty="0">
                <a:latin typeface="Times New Roman" panose="02020603050405020304" pitchFamily="18" charset="0"/>
                <a:ea typeface="楷体_GB2312" pitchFamily="49" charset="-122"/>
              </a:rPr>
              <a:t>v</a:t>
            </a:r>
            <a:r>
              <a:rPr lang="en-US" altLang="zh-CN" sz="2000" b="1" baseline="-25000" dirty="0">
                <a:latin typeface="Times New Roman" panose="02020603050405020304" pitchFamily="18" charset="0"/>
                <a:ea typeface="楷体_GB2312" pitchFamily="49" charset="-122"/>
              </a:rPr>
              <a:t>s</a:t>
            </a:r>
            <a:r>
              <a:rPr lang="en-US" altLang="zh-CN" sz="2000" b="1" dirty="0">
                <a:latin typeface="Times New Roman" panose="02020603050405020304" pitchFamily="18" charset="0"/>
                <a:ea typeface="楷体_GB2312" pitchFamily="49" charset="-122"/>
              </a:rPr>
              <a:t> = </a:t>
            </a:r>
            <a:r>
              <a:rPr lang="en-US" altLang="zh-CN" sz="2000" b="1" i="1" dirty="0">
                <a:latin typeface="Times New Roman" panose="02020603050405020304" pitchFamily="18" charset="0"/>
                <a:ea typeface="楷体_GB2312" pitchFamily="49" charset="-122"/>
              </a:rPr>
              <a:t>v</a:t>
            </a:r>
            <a:r>
              <a:rPr lang="en-US" altLang="zh-CN" sz="2000" b="1" dirty="0">
                <a:latin typeface="Times New Roman" panose="02020603050405020304" pitchFamily="18" charset="0"/>
                <a:ea typeface="楷体_GB2312" pitchFamily="49" charset="-122"/>
              </a:rPr>
              <a:t>(</a:t>
            </a:r>
            <a:r>
              <a:rPr lang="en-US" altLang="zh-CN" sz="2000" b="1" i="1" dirty="0">
                <a:latin typeface="Times New Roman" panose="02020603050405020304" pitchFamily="18" charset="0"/>
                <a:ea typeface="楷体_GB2312" pitchFamily="49" charset="-122"/>
              </a:rPr>
              <a:t>t</a:t>
            </a:r>
            <a:r>
              <a:rPr lang="en-US" altLang="zh-CN" sz="2000" b="1" baseline="-25000" dirty="0">
                <a:latin typeface="Times New Roman" panose="02020603050405020304" pitchFamily="18" charset="0"/>
                <a:ea typeface="楷体_GB2312" pitchFamily="49" charset="-122"/>
              </a:rPr>
              <a:t>0</a:t>
            </a:r>
            <a:r>
              <a:rPr lang="en-US" altLang="zh-CN" sz="2000" b="1" dirty="0">
                <a:latin typeface="Times New Roman" panose="02020603050405020304" pitchFamily="18" charset="0"/>
                <a:ea typeface="楷体_GB2312" pitchFamily="49" charset="-122"/>
              </a:rPr>
              <a:t>)</a:t>
            </a:r>
            <a:r>
              <a:rPr lang="zh-CN" altLang="en-US" sz="2000" b="1" dirty="0">
                <a:latin typeface="楷体_GB2312" pitchFamily="49" charset="-122"/>
                <a:ea typeface="楷体_GB2312" pitchFamily="49" charset="-122"/>
              </a:rPr>
              <a:t>的电压源和一个初始电压为</a:t>
            </a:r>
            <a:r>
              <a:rPr lang="en-US" altLang="zh-CN" sz="2000" b="1" dirty="0">
                <a:latin typeface="Times New Roman" panose="02020603050405020304" pitchFamily="18" charset="0"/>
                <a:ea typeface="楷体_GB2312" pitchFamily="49" charset="-122"/>
              </a:rPr>
              <a:t>0</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而电容值相同的电容串联。</a:t>
            </a:r>
          </a:p>
        </p:txBody>
      </p:sp>
      <p:grpSp>
        <p:nvGrpSpPr>
          <p:cNvPr id="24582" name="Group 81"/>
          <p:cNvGrpSpPr/>
          <p:nvPr/>
        </p:nvGrpSpPr>
        <p:grpSpPr>
          <a:xfrm>
            <a:off x="3978275" y="4284663"/>
            <a:ext cx="719138" cy="142875"/>
            <a:chOff x="3061" y="2840"/>
            <a:chExt cx="227" cy="91"/>
          </a:xfrm>
        </p:grpSpPr>
        <p:sp>
          <p:nvSpPr>
            <p:cNvPr id="24596" name="Line 82"/>
            <p:cNvSpPr/>
            <p:nvPr/>
          </p:nvSpPr>
          <p:spPr>
            <a:xfrm>
              <a:off x="3061" y="2840"/>
              <a:ext cx="227" cy="0"/>
            </a:xfrm>
            <a:prstGeom prst="line">
              <a:avLst/>
            </a:prstGeom>
            <a:ln w="38100" cap="flat" cmpd="sng">
              <a:solidFill>
                <a:srgbClr val="C00000"/>
              </a:solidFill>
              <a:prstDash val="solid"/>
              <a:headEnd type="none" w="med" len="med"/>
              <a:tailEnd type="none" w="med" len="med"/>
            </a:ln>
          </p:spPr>
        </p:sp>
        <p:sp>
          <p:nvSpPr>
            <p:cNvPr id="24597" name="Line 83"/>
            <p:cNvSpPr/>
            <p:nvPr/>
          </p:nvSpPr>
          <p:spPr>
            <a:xfrm>
              <a:off x="3061" y="2931"/>
              <a:ext cx="227" cy="0"/>
            </a:xfrm>
            <a:prstGeom prst="line">
              <a:avLst/>
            </a:prstGeom>
            <a:ln w="38100" cap="flat" cmpd="sng">
              <a:solidFill>
                <a:srgbClr val="C00000"/>
              </a:solidFill>
              <a:prstDash val="solid"/>
              <a:headEnd type="none" w="med" len="med"/>
              <a:tailEnd type="none" w="med" len="med"/>
            </a:ln>
          </p:spPr>
        </p:sp>
      </p:grpSp>
      <p:grpSp>
        <p:nvGrpSpPr>
          <p:cNvPr id="24583" name="Group 96"/>
          <p:cNvGrpSpPr/>
          <p:nvPr/>
        </p:nvGrpSpPr>
        <p:grpSpPr>
          <a:xfrm>
            <a:off x="7578725" y="4284663"/>
            <a:ext cx="504825" cy="1144587"/>
            <a:chOff x="4675" y="2483"/>
            <a:chExt cx="318" cy="721"/>
          </a:xfrm>
        </p:grpSpPr>
        <p:grpSp>
          <p:nvGrpSpPr>
            <p:cNvPr id="24588" name="Group 90"/>
            <p:cNvGrpSpPr/>
            <p:nvPr/>
          </p:nvGrpSpPr>
          <p:grpSpPr>
            <a:xfrm>
              <a:off x="4675" y="2483"/>
              <a:ext cx="318" cy="721"/>
              <a:chOff x="4675" y="2483"/>
              <a:chExt cx="318" cy="721"/>
            </a:xfrm>
          </p:grpSpPr>
          <p:sp>
            <p:nvSpPr>
              <p:cNvPr id="24593" name="Oval 63"/>
              <p:cNvSpPr/>
              <p:nvPr/>
            </p:nvSpPr>
            <p:spPr>
              <a:xfrm>
                <a:off x="4675" y="2705"/>
                <a:ext cx="318" cy="318"/>
              </a:xfrm>
              <a:prstGeom prst="ellipse">
                <a:avLst/>
              </a:prstGeom>
              <a:solidFill>
                <a:srgbClr val="C0C0C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24594" name="Line 68"/>
              <p:cNvSpPr/>
              <p:nvPr/>
            </p:nvSpPr>
            <p:spPr>
              <a:xfrm flipV="1">
                <a:off x="4830" y="3022"/>
                <a:ext cx="0" cy="182"/>
              </a:xfrm>
              <a:prstGeom prst="line">
                <a:avLst/>
              </a:prstGeom>
              <a:ln w="9525" cap="flat" cmpd="sng">
                <a:solidFill>
                  <a:schemeClr val="tx1"/>
                </a:solidFill>
                <a:prstDash val="solid"/>
                <a:headEnd type="none" w="med" len="med"/>
                <a:tailEnd type="none" w="med" len="med"/>
              </a:ln>
            </p:spPr>
          </p:sp>
          <p:sp>
            <p:nvSpPr>
              <p:cNvPr id="24595" name="Line 89"/>
              <p:cNvSpPr/>
              <p:nvPr/>
            </p:nvSpPr>
            <p:spPr>
              <a:xfrm flipV="1">
                <a:off x="4826" y="2483"/>
                <a:ext cx="0" cy="205"/>
              </a:xfrm>
              <a:prstGeom prst="line">
                <a:avLst/>
              </a:prstGeom>
              <a:ln w="9525" cap="flat" cmpd="sng">
                <a:solidFill>
                  <a:schemeClr val="tx1"/>
                </a:solidFill>
                <a:prstDash val="solid"/>
                <a:headEnd type="none" w="med" len="med"/>
                <a:tailEnd type="none" w="med" len="med"/>
              </a:ln>
            </p:spPr>
          </p:sp>
        </p:grpSp>
        <p:grpSp>
          <p:nvGrpSpPr>
            <p:cNvPr id="24589" name="Group 64"/>
            <p:cNvGrpSpPr/>
            <p:nvPr/>
          </p:nvGrpSpPr>
          <p:grpSpPr>
            <a:xfrm>
              <a:off x="4785" y="2750"/>
              <a:ext cx="90" cy="91"/>
              <a:chOff x="3061" y="2725"/>
              <a:chExt cx="227" cy="227"/>
            </a:xfrm>
          </p:grpSpPr>
          <p:sp>
            <p:nvSpPr>
              <p:cNvPr id="24591" name="Line 65"/>
              <p:cNvSpPr/>
              <p:nvPr/>
            </p:nvSpPr>
            <p:spPr>
              <a:xfrm>
                <a:off x="3061" y="2840"/>
                <a:ext cx="227" cy="0"/>
              </a:xfrm>
              <a:prstGeom prst="line">
                <a:avLst/>
              </a:prstGeom>
              <a:ln w="38100" cap="flat" cmpd="sng">
                <a:solidFill>
                  <a:schemeClr val="tx1"/>
                </a:solidFill>
                <a:prstDash val="solid"/>
                <a:headEnd type="none" w="med" len="med"/>
                <a:tailEnd type="none" w="med" len="med"/>
              </a:ln>
            </p:spPr>
          </p:sp>
          <p:sp>
            <p:nvSpPr>
              <p:cNvPr id="24592" name="Line 66"/>
              <p:cNvSpPr/>
              <p:nvPr/>
            </p:nvSpPr>
            <p:spPr>
              <a:xfrm rot="-5400000">
                <a:off x="3052" y="2838"/>
                <a:ext cx="227" cy="0"/>
              </a:xfrm>
              <a:prstGeom prst="line">
                <a:avLst/>
              </a:prstGeom>
              <a:ln w="38100" cap="flat" cmpd="sng">
                <a:solidFill>
                  <a:schemeClr val="tx1"/>
                </a:solidFill>
                <a:prstDash val="solid"/>
                <a:headEnd type="none" w="med" len="med"/>
                <a:tailEnd type="none" w="med" len="med"/>
              </a:ln>
            </p:spPr>
          </p:sp>
        </p:grpSp>
        <p:sp>
          <p:nvSpPr>
            <p:cNvPr id="24590" name="Line 95"/>
            <p:cNvSpPr/>
            <p:nvPr/>
          </p:nvSpPr>
          <p:spPr>
            <a:xfrm flipV="1">
              <a:off x="4805" y="2945"/>
              <a:ext cx="91" cy="0"/>
            </a:xfrm>
            <a:prstGeom prst="line">
              <a:avLst/>
            </a:prstGeom>
            <a:ln w="38100" cap="flat" cmpd="sng">
              <a:solidFill>
                <a:schemeClr val="tx1"/>
              </a:solidFill>
              <a:prstDash val="solid"/>
              <a:headEnd type="none" w="med" len="med"/>
              <a:tailEnd type="none" w="med" len="med"/>
            </a:ln>
          </p:spPr>
        </p:sp>
      </p:grpSp>
      <p:graphicFrame>
        <p:nvGraphicFramePr>
          <p:cNvPr id="24584" name="Object 28"/>
          <p:cNvGraphicFramePr>
            <a:graphicFrameLocks noChangeAspect="1"/>
          </p:cNvGraphicFramePr>
          <p:nvPr/>
        </p:nvGraphicFramePr>
        <p:xfrm>
          <a:off x="4730750" y="619125"/>
          <a:ext cx="2733675" cy="919163"/>
        </p:xfrm>
        <a:graphic>
          <a:graphicData uri="http://schemas.openxmlformats.org/presentationml/2006/ole">
            <p:oleObj spid="_x0000_s7171" r:id="rId4" imgW="1167893" imgH="393529" progId="">
              <p:embed/>
            </p:oleObj>
          </a:graphicData>
        </a:graphic>
      </p:graphicFrame>
      <p:sp>
        <p:nvSpPr>
          <p:cNvPr id="24585" name="Text Box 30"/>
          <p:cNvSpPr txBox="1"/>
          <p:nvPr/>
        </p:nvSpPr>
        <p:spPr>
          <a:xfrm>
            <a:off x="430213" y="1812925"/>
            <a:ext cx="8569325" cy="8299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0"/>
              </a:spcBef>
              <a:buClrTx/>
              <a:buSzTx/>
            </a:pPr>
            <a:r>
              <a:rPr lang="zh-CN" altLang="en-US" sz="2400" b="1" dirty="0">
                <a:latin typeface="楷体_GB2312" pitchFamily="49" charset="-122"/>
                <a:ea typeface="楷体_GB2312" pitchFamily="49" charset="-122"/>
              </a:rPr>
              <a:t>起始电压</a:t>
            </a:r>
            <a:r>
              <a:rPr lang="en-US" altLang="zh-CN" sz="2400" b="1" i="1" dirty="0">
                <a:latin typeface="Times New Roman" panose="02020603050405020304" pitchFamily="18" charset="0"/>
                <a:ea typeface="楷体_GB2312" pitchFamily="49" charset="-122"/>
              </a:rPr>
              <a:t>v</a:t>
            </a:r>
            <a:r>
              <a:rPr lang="zh-CN" altLang="en-US" sz="2400" b="1" dirty="0">
                <a:latin typeface="Times New Roman" panose="02020603050405020304" pitchFamily="18" charset="0"/>
                <a:ea typeface="楷体_GB2312" pitchFamily="49" charset="-122"/>
              </a:rPr>
              <a:t>（</a:t>
            </a:r>
            <a:r>
              <a:rPr lang="en-US" altLang="zh-CN" sz="2400" b="1" i="1" dirty="0">
                <a:latin typeface="Times New Roman" panose="02020603050405020304" pitchFamily="18" charset="0"/>
                <a:ea typeface="楷体_GB2312" pitchFamily="49" charset="-122"/>
              </a:rPr>
              <a:t>t</a:t>
            </a:r>
            <a:r>
              <a:rPr lang="en-US" altLang="zh-CN" sz="2400" b="1" i="1" baseline="-25000" dirty="0">
                <a:latin typeface="Times New Roman" panose="02020603050405020304" pitchFamily="18" charset="0"/>
                <a:ea typeface="楷体_GB2312" pitchFamily="49" charset="-122"/>
              </a:rPr>
              <a:t>0</a:t>
            </a:r>
            <a:r>
              <a:rPr lang="zh-CN" altLang="en-US" sz="2400" b="1" dirty="0">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体现历史（</a:t>
            </a:r>
            <a:r>
              <a:rPr lang="zh-CN" altLang="en-US" sz="2400" b="1" dirty="0">
                <a:solidFill>
                  <a:srgbClr val="FF0000"/>
                </a:solidFill>
                <a:latin typeface="楷体_GB2312" pitchFamily="49" charset="-122"/>
                <a:ea typeface="楷体_GB2312" pitchFamily="49" charset="-122"/>
              </a:rPr>
              <a:t>记忆特性</a:t>
            </a:r>
            <a:r>
              <a:rPr lang="zh-CN" altLang="en-US" sz="2400" b="1" dirty="0">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记忆元件</a:t>
            </a:r>
            <a:r>
              <a:rPr lang="zh-CN" altLang="en-US" sz="2400" b="1" dirty="0">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储存特性</a:t>
            </a:r>
            <a:r>
              <a:rPr lang="zh-CN" altLang="en-US" sz="2400" b="1" dirty="0">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储存元件</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可用作动态存储器（</a:t>
            </a:r>
            <a:r>
              <a:rPr lang="en-US" altLang="zh-CN" sz="2400" b="1" dirty="0">
                <a:latin typeface="楷体_GB2312" pitchFamily="49" charset="-122"/>
                <a:ea typeface="楷体_GB2312" pitchFamily="49" charset="-122"/>
              </a:rPr>
              <a:t>DRAM)</a:t>
            </a:r>
            <a:r>
              <a:rPr lang="zh-CN" altLang="en-US" sz="2400" b="1" dirty="0">
                <a:latin typeface="楷体_GB2312" pitchFamily="49" charset="-122"/>
                <a:ea typeface="楷体_GB2312" pitchFamily="49" charset="-122"/>
              </a:rPr>
              <a:t>的存储元。</a:t>
            </a:r>
          </a:p>
        </p:txBody>
      </p:sp>
      <p:graphicFrame>
        <p:nvGraphicFramePr>
          <p:cNvPr id="24586" name="Object 23"/>
          <p:cNvGraphicFramePr>
            <a:graphicFrameLocks noChangeAspect="1"/>
          </p:cNvGraphicFramePr>
          <p:nvPr/>
        </p:nvGraphicFramePr>
        <p:xfrm>
          <a:off x="1658938" y="619125"/>
          <a:ext cx="1211262" cy="871538"/>
        </p:xfrm>
        <a:graphic>
          <a:graphicData uri="http://schemas.openxmlformats.org/presentationml/2006/ole">
            <p:oleObj spid="_x0000_s7172" r:id="rId5" imgW="545863" imgH="393529" progId="">
              <p:embed/>
            </p:oleObj>
          </a:graphicData>
        </a:graphic>
      </p:graphicFrame>
      <p:sp>
        <p:nvSpPr>
          <p:cNvPr id="58" name="右箭头 57"/>
          <p:cNvSpPr/>
          <p:nvPr/>
        </p:nvSpPr>
        <p:spPr>
          <a:xfrm>
            <a:off x="3516313" y="1047750"/>
            <a:ext cx="720725" cy="1571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p:cNvSpPr>
          <p:nvPr>
            <p:ph type="body" sz="half" idx="1"/>
          </p:nvPr>
        </p:nvSpPr>
        <p:spPr>
          <a:xfrm>
            <a:off x="611188" y="1125538"/>
            <a:ext cx="7777162" cy="792162"/>
          </a:xfrm>
        </p:spPr>
        <p:txBody>
          <a:bodyPr vert="horz" wrap="square" lIns="91440" tIns="45720" rIns="91440" bIns="45720" anchor="t" anchorCtr="0"/>
          <a:lstStyle/>
          <a:p>
            <a:pPr>
              <a:buClr>
                <a:schemeClr val="bg2"/>
              </a:buClr>
              <a:buSzPct val="75000"/>
              <a:buFont typeface="Wingdings" panose="05000000000000000000" pitchFamily="2" charset="2"/>
              <a:buNone/>
            </a:pPr>
            <a:r>
              <a:rPr lang="zh-CN" altLang="en-US" sz="2800" b="1" dirty="0">
                <a:latin typeface="Arial Black" panose="020B0A04020102020204" pitchFamily="34" charset="0"/>
              </a:rPr>
              <a:t>电容上储存的能量为</a:t>
            </a:r>
            <a:endParaRPr lang="en-US" altLang="zh-CN" sz="2800" b="1" dirty="0">
              <a:latin typeface="Arial Black" panose="020B0A04020102020204" pitchFamily="34" charset="0"/>
            </a:endParaRPr>
          </a:p>
        </p:txBody>
      </p:sp>
      <p:graphicFrame>
        <p:nvGraphicFramePr>
          <p:cNvPr id="26627" name="Object 22"/>
          <p:cNvGraphicFramePr>
            <a:graphicFrameLocks noGrp="1" noChangeAspect="1"/>
          </p:cNvGraphicFramePr>
          <p:nvPr>
            <p:ph sz="half" idx="2"/>
          </p:nvPr>
        </p:nvGraphicFramePr>
        <p:xfrm>
          <a:off x="3276600" y="1700213"/>
          <a:ext cx="2016125" cy="1201737"/>
        </p:xfrm>
        <a:graphic>
          <a:graphicData uri="http://schemas.openxmlformats.org/presentationml/2006/ole">
            <p:oleObj spid="_x0000_s8194" r:id="rId3" imgW="660113" imgH="393529" progId="">
              <p:embed/>
            </p:oleObj>
          </a:graphicData>
        </a:graphic>
      </p:graphicFrame>
      <p:sp>
        <p:nvSpPr>
          <p:cNvPr id="124932" name="Rectangle 7"/>
          <p:cNvSpPr>
            <a:spLocks noChangeArrowheads="1"/>
          </p:cNvSpPr>
          <p:nvPr/>
        </p:nvSpPr>
        <p:spPr bwMode="auto">
          <a:xfrm>
            <a:off x="1403350" y="3789363"/>
            <a:ext cx="6911975" cy="1066800"/>
          </a:xfrm>
          <a:prstGeom prst="rect">
            <a:avLst/>
          </a:prstGeom>
          <a:noFill/>
          <a:ln>
            <a:noFill/>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1) </a:t>
            </a:r>
            <a:r>
              <a:rPr kumimoji="0" lang="zh-CN" altLang="en-US" sz="32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电容电压具有</a:t>
            </a:r>
            <a:r>
              <a:rPr kumimoji="0" lang="zh-CN" altLang="en-US" sz="3200" b="1" i="0" u="none" strike="noStrike" kern="1200" cap="none" spc="0" normalizeH="0" baseline="0" noProof="0" dirty="0">
                <a:ln>
                  <a:noFill/>
                </a:ln>
                <a:solidFill>
                  <a:srgbClr val="FF0000"/>
                </a:solidFill>
                <a:effectLst/>
                <a:uLnTx/>
                <a:uFillTx/>
                <a:latin typeface="+mn-ea"/>
                <a:ea typeface="+mn-ea"/>
                <a:cs typeface="Arial" panose="020B0604020202020204" pitchFamily="34" charset="0"/>
              </a:rPr>
              <a:t>记忆性</a:t>
            </a:r>
            <a:r>
              <a:rPr kumimoji="0" lang="zh-CN" altLang="en-US" sz="32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2</a:t>
            </a:r>
            <a:r>
              <a:rPr kumimoji="0" lang="zh-CN" altLang="en-US" sz="32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zh-CN" altLang="en-US" sz="3200" b="1" i="0" u="none" strike="noStrike" kern="1200" cap="none" spc="0" normalizeH="0" baseline="0" noProof="0" dirty="0">
                <a:ln>
                  <a:noFill/>
                </a:ln>
                <a:solidFill>
                  <a:srgbClr val="FF0000"/>
                </a:solidFill>
                <a:effectLst/>
                <a:uLnTx/>
                <a:uFillTx/>
                <a:latin typeface="+mn-ea"/>
                <a:ea typeface="+mn-ea"/>
                <a:cs typeface="Arial" panose="020B0604020202020204" pitchFamily="34" charset="0"/>
              </a:rPr>
              <a:t>电压的连续性</a:t>
            </a:r>
            <a:r>
              <a:rPr kumimoji="0" lang="zh-CN" altLang="en-US" sz="32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p>
        </p:txBody>
      </p:sp>
      <p:sp>
        <p:nvSpPr>
          <p:cNvPr id="2" name="文本框 1"/>
          <p:cNvSpPr txBox="1"/>
          <p:nvPr/>
        </p:nvSpPr>
        <p:spPr>
          <a:xfrm>
            <a:off x="2195830" y="5156835"/>
            <a:ext cx="2599690"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a:t>教材上有详细的推导。</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30810" y="1700530"/>
            <a:ext cx="8882380" cy="35915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p:txBody>
          <a:bodyPr vert="horz" wrap="square" lIns="91440" tIns="45720" rIns="91440" bIns="45720" anchor="ctr" anchorCtr="0"/>
          <a:lstStyle/>
          <a:p>
            <a:pPr eaLnBrk="1" hangingPunct="1"/>
            <a:r>
              <a:rPr lang="en-US" altLang="zh-CN" sz="2400" b="1" dirty="0">
                <a:latin typeface="Arial Black" panose="020B0A04020102020204" pitchFamily="34" charset="0"/>
              </a:rPr>
              <a:t> </a:t>
            </a:r>
          </a:p>
        </p:txBody>
      </p:sp>
      <p:sp>
        <p:nvSpPr>
          <p:cNvPr id="27651" name="Text Box 24"/>
          <p:cNvSpPr txBox="1"/>
          <p:nvPr/>
        </p:nvSpPr>
        <p:spPr>
          <a:xfrm>
            <a:off x="35560" y="332740"/>
            <a:ext cx="8695690" cy="247650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电容有以下重要特性：</a:t>
            </a:r>
            <a:r>
              <a:rPr lang="en-US" altLang="zh-CN" sz="2400" b="1" dirty="0">
                <a:latin typeface="Times New Roman" panose="02020603050405020304" pitchFamily="18" charset="0"/>
                <a:cs typeface="Arial" panose="020B0604020202020204" pitchFamily="34" charset="0"/>
              </a:rPr>
              <a:t>      </a:t>
            </a: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1. </a:t>
            </a:r>
            <a:r>
              <a:rPr lang="zh-CN" altLang="en-US" sz="2400" b="1" dirty="0">
                <a:latin typeface="Times New Roman" panose="02020603050405020304" pitchFamily="18" charset="0"/>
                <a:cs typeface="Arial" panose="020B0604020202020204" pitchFamily="34" charset="0"/>
              </a:rPr>
              <a:t>电容对于直流电路来说是</a:t>
            </a:r>
            <a:r>
              <a:rPr lang="zh-CN" altLang="en-US" sz="2400" b="1" dirty="0">
                <a:solidFill>
                  <a:srgbClr val="FF0000"/>
                </a:solidFill>
                <a:latin typeface="Times New Roman" panose="02020603050405020304" pitchFamily="18" charset="0"/>
                <a:cs typeface="Arial" panose="020B0604020202020204" pitchFamily="34" charset="0"/>
              </a:rPr>
              <a:t>开路</a:t>
            </a:r>
            <a:r>
              <a:rPr lang="zh-CN" altLang="en-US" sz="2400" b="1" dirty="0">
                <a:latin typeface="Times New Roman" panose="02020603050405020304" pitchFamily="18" charset="0"/>
                <a:cs typeface="Arial" panose="020B0604020202020204" pitchFamily="34" charset="0"/>
              </a:rPr>
              <a:t>的。</a:t>
            </a:r>
            <a:r>
              <a:rPr lang="zh-CN" altLang="en-US" sz="2400" b="1" dirty="0">
                <a:highlight>
                  <a:srgbClr val="FFFF00"/>
                </a:highlight>
                <a:latin typeface="Times New Roman" panose="02020603050405020304" pitchFamily="18" charset="0"/>
                <a:cs typeface="Arial" panose="020B0604020202020204" pitchFamily="34" charset="0"/>
              </a:rPr>
              <a:t>（但是电池与电容相连时，会对电容充电，充到电池的电压值之后就没有电流了，就相当于开路）。</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2. </a:t>
            </a:r>
            <a:r>
              <a:rPr lang="zh-CN" altLang="en-US" sz="2400" b="1" dirty="0">
                <a:latin typeface="Times New Roman" panose="02020603050405020304" pitchFamily="18" charset="0"/>
                <a:cs typeface="Arial" panose="020B0604020202020204" pitchFamily="34" charset="0"/>
              </a:rPr>
              <a:t>电容上的</a:t>
            </a:r>
            <a:r>
              <a:rPr lang="zh-CN" altLang="en-US" sz="2400" b="1" dirty="0">
                <a:solidFill>
                  <a:srgbClr val="FF0000"/>
                </a:solidFill>
                <a:latin typeface="Times New Roman" panose="02020603050405020304" pitchFamily="18" charset="0"/>
                <a:cs typeface="Arial" panose="020B0604020202020204" pitchFamily="34" charset="0"/>
              </a:rPr>
              <a:t>电压不会产生突变</a:t>
            </a:r>
            <a:r>
              <a:rPr lang="zh-CN" altLang="en-US" sz="2400" b="1" dirty="0">
                <a:latin typeface="Times New Roman" panose="02020603050405020304" pitchFamily="18" charset="0"/>
                <a:cs typeface="Arial" panose="020B0604020202020204" pitchFamily="34" charset="0"/>
              </a:rPr>
              <a:t>。</a:t>
            </a:r>
            <a:endParaRPr lang="zh-CN" altLang="en-US" sz="2400" b="1" dirty="0">
              <a:latin typeface="Times New Roman" panose="02020603050405020304" pitchFamily="18" charset="0"/>
              <a:ea typeface="Arial" panose="020B0604020202020204" pitchFamily="34" charset="0"/>
              <a:cs typeface="Arial" panose="020B0604020202020204" pitchFamily="34" charset="0"/>
            </a:endParaRPr>
          </a:p>
        </p:txBody>
      </p:sp>
      <p:grpSp>
        <p:nvGrpSpPr>
          <p:cNvPr id="27652" name="Group 51"/>
          <p:cNvGrpSpPr/>
          <p:nvPr/>
        </p:nvGrpSpPr>
        <p:grpSpPr>
          <a:xfrm>
            <a:off x="611188" y="3068955"/>
            <a:ext cx="8226425" cy="2744788"/>
            <a:chOff x="158" y="2387"/>
            <a:chExt cx="5602" cy="1780"/>
          </a:xfrm>
        </p:grpSpPr>
        <p:grpSp>
          <p:nvGrpSpPr>
            <p:cNvPr id="27653" name="Group 49"/>
            <p:cNvGrpSpPr/>
            <p:nvPr/>
          </p:nvGrpSpPr>
          <p:grpSpPr>
            <a:xfrm>
              <a:off x="158" y="2387"/>
              <a:ext cx="2314" cy="1780"/>
              <a:chOff x="158" y="2387"/>
              <a:chExt cx="2314" cy="1780"/>
            </a:xfrm>
          </p:grpSpPr>
          <p:grpSp>
            <p:nvGrpSpPr>
              <p:cNvPr id="27664" name="Group 36"/>
              <p:cNvGrpSpPr/>
              <p:nvPr/>
            </p:nvGrpSpPr>
            <p:grpSpPr>
              <a:xfrm>
                <a:off x="158" y="2387"/>
                <a:ext cx="2314" cy="1376"/>
                <a:chOff x="158" y="2387"/>
                <a:chExt cx="2314" cy="1376"/>
              </a:xfrm>
            </p:grpSpPr>
            <p:grpSp>
              <p:nvGrpSpPr>
                <p:cNvPr id="27666" name="Group 33"/>
                <p:cNvGrpSpPr/>
                <p:nvPr/>
              </p:nvGrpSpPr>
              <p:grpSpPr>
                <a:xfrm>
                  <a:off x="158" y="2432"/>
                  <a:ext cx="1996" cy="1089"/>
                  <a:chOff x="158" y="2432"/>
                  <a:chExt cx="1996" cy="1089"/>
                </a:xfrm>
              </p:grpSpPr>
              <p:grpSp>
                <p:nvGrpSpPr>
                  <p:cNvPr id="27669" name="Group 27"/>
                  <p:cNvGrpSpPr/>
                  <p:nvPr/>
                </p:nvGrpSpPr>
                <p:grpSpPr>
                  <a:xfrm>
                    <a:off x="158" y="2432"/>
                    <a:ext cx="1996" cy="1089"/>
                    <a:chOff x="158" y="2432"/>
                    <a:chExt cx="1996" cy="1089"/>
                  </a:xfrm>
                </p:grpSpPr>
                <p:sp>
                  <p:nvSpPr>
                    <p:cNvPr id="27675" name="Line 25"/>
                    <p:cNvSpPr/>
                    <p:nvPr/>
                  </p:nvSpPr>
                  <p:spPr>
                    <a:xfrm flipV="1">
                      <a:off x="431" y="2432"/>
                      <a:ext cx="0" cy="1089"/>
                    </a:xfrm>
                    <a:prstGeom prst="line">
                      <a:avLst/>
                    </a:prstGeom>
                    <a:ln w="9525" cap="flat" cmpd="sng">
                      <a:solidFill>
                        <a:schemeClr val="tx1"/>
                      </a:solidFill>
                      <a:prstDash val="solid"/>
                      <a:headEnd type="none" w="med" len="med"/>
                      <a:tailEnd type="triangle" w="med" len="med"/>
                    </a:ln>
                  </p:spPr>
                </p:sp>
                <p:sp>
                  <p:nvSpPr>
                    <p:cNvPr id="27676" name="Line 26"/>
                    <p:cNvSpPr/>
                    <p:nvPr/>
                  </p:nvSpPr>
                  <p:spPr>
                    <a:xfrm>
                      <a:off x="158" y="3521"/>
                      <a:ext cx="1996" cy="0"/>
                    </a:xfrm>
                    <a:prstGeom prst="line">
                      <a:avLst/>
                    </a:prstGeom>
                    <a:ln w="9525" cap="flat" cmpd="sng">
                      <a:solidFill>
                        <a:schemeClr val="tx1"/>
                      </a:solidFill>
                      <a:prstDash val="solid"/>
                      <a:headEnd type="none" w="med" len="med"/>
                      <a:tailEnd type="triangle" w="med" len="med"/>
                    </a:ln>
                  </p:spPr>
                </p:sp>
              </p:grpSp>
              <p:grpSp>
                <p:nvGrpSpPr>
                  <p:cNvPr id="27670" name="Group 32"/>
                  <p:cNvGrpSpPr/>
                  <p:nvPr/>
                </p:nvGrpSpPr>
                <p:grpSpPr>
                  <a:xfrm>
                    <a:off x="204" y="2704"/>
                    <a:ext cx="1633" cy="499"/>
                    <a:chOff x="204" y="2704"/>
                    <a:chExt cx="1633" cy="499"/>
                  </a:xfrm>
                </p:grpSpPr>
                <p:sp>
                  <p:nvSpPr>
                    <p:cNvPr id="27671" name="Line 28"/>
                    <p:cNvSpPr/>
                    <p:nvPr/>
                  </p:nvSpPr>
                  <p:spPr>
                    <a:xfrm>
                      <a:off x="204" y="3203"/>
                      <a:ext cx="227" cy="0"/>
                    </a:xfrm>
                    <a:prstGeom prst="line">
                      <a:avLst/>
                    </a:prstGeom>
                    <a:ln w="9525" cap="flat" cmpd="sng">
                      <a:solidFill>
                        <a:schemeClr val="tx1"/>
                      </a:solidFill>
                      <a:prstDash val="solid"/>
                      <a:headEnd type="none" w="med" len="med"/>
                      <a:tailEnd type="none" w="med" len="med"/>
                    </a:ln>
                  </p:spPr>
                </p:sp>
                <p:sp>
                  <p:nvSpPr>
                    <p:cNvPr id="27672" name="Line 29"/>
                    <p:cNvSpPr/>
                    <p:nvPr/>
                  </p:nvSpPr>
                  <p:spPr>
                    <a:xfrm flipV="1">
                      <a:off x="431" y="2704"/>
                      <a:ext cx="635" cy="499"/>
                    </a:xfrm>
                    <a:prstGeom prst="line">
                      <a:avLst/>
                    </a:prstGeom>
                    <a:ln w="9525" cap="flat" cmpd="sng">
                      <a:solidFill>
                        <a:schemeClr val="tx1"/>
                      </a:solidFill>
                      <a:prstDash val="solid"/>
                      <a:headEnd type="none" w="med" len="med"/>
                      <a:tailEnd type="none" w="med" len="med"/>
                    </a:ln>
                  </p:spPr>
                </p:sp>
                <p:sp>
                  <p:nvSpPr>
                    <p:cNvPr id="27673" name="Line 30"/>
                    <p:cNvSpPr/>
                    <p:nvPr/>
                  </p:nvSpPr>
                  <p:spPr>
                    <a:xfrm>
                      <a:off x="1066" y="2704"/>
                      <a:ext cx="272" cy="499"/>
                    </a:xfrm>
                    <a:prstGeom prst="line">
                      <a:avLst/>
                    </a:prstGeom>
                    <a:ln w="9525" cap="flat" cmpd="sng">
                      <a:solidFill>
                        <a:schemeClr val="tx1"/>
                      </a:solidFill>
                      <a:prstDash val="solid"/>
                      <a:headEnd type="none" w="med" len="med"/>
                      <a:tailEnd type="none" w="med" len="med"/>
                    </a:ln>
                  </p:spPr>
                </p:sp>
                <p:sp>
                  <p:nvSpPr>
                    <p:cNvPr id="27674" name="Line 31"/>
                    <p:cNvSpPr/>
                    <p:nvPr/>
                  </p:nvSpPr>
                  <p:spPr>
                    <a:xfrm>
                      <a:off x="1338" y="3203"/>
                      <a:ext cx="499" cy="0"/>
                    </a:xfrm>
                    <a:prstGeom prst="line">
                      <a:avLst/>
                    </a:prstGeom>
                    <a:ln w="9525" cap="flat" cmpd="sng">
                      <a:solidFill>
                        <a:schemeClr val="tx1"/>
                      </a:solidFill>
                      <a:prstDash val="solid"/>
                      <a:headEnd type="none" w="med" len="med"/>
                      <a:tailEnd type="none" w="med" len="med"/>
                    </a:ln>
                  </p:spPr>
                </p:sp>
              </p:grpSp>
            </p:grpSp>
            <p:sp>
              <p:nvSpPr>
                <p:cNvPr id="27667" name="Text Box 34"/>
                <p:cNvSpPr txBox="1"/>
                <p:nvPr/>
              </p:nvSpPr>
              <p:spPr>
                <a:xfrm>
                  <a:off x="204" y="2387"/>
                  <a:ext cx="317"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v</a:t>
                  </a:r>
                  <a:endParaRPr lang="en-US" altLang="zh-CN" sz="2400" b="1" dirty="0">
                    <a:ea typeface="Arial" panose="020B0604020202020204" pitchFamily="34" charset="0"/>
                  </a:endParaRPr>
                </a:p>
              </p:txBody>
            </p:sp>
            <p:sp>
              <p:nvSpPr>
                <p:cNvPr id="27668" name="Text Box 35"/>
                <p:cNvSpPr txBox="1"/>
                <p:nvPr/>
              </p:nvSpPr>
              <p:spPr>
                <a:xfrm>
                  <a:off x="2109" y="3475"/>
                  <a:ext cx="36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t</a:t>
                  </a:r>
                  <a:endParaRPr lang="en-US" altLang="zh-CN" sz="2400" b="1" dirty="0">
                    <a:ea typeface="Arial" panose="020B0604020202020204" pitchFamily="34" charset="0"/>
                  </a:endParaRPr>
                </a:p>
              </p:txBody>
            </p:sp>
          </p:grpSp>
          <p:sp>
            <p:nvSpPr>
              <p:cNvPr id="27665" name="Text Box 47"/>
              <p:cNvSpPr txBox="1"/>
              <p:nvPr/>
            </p:nvSpPr>
            <p:spPr>
              <a:xfrm>
                <a:off x="747" y="3908"/>
                <a:ext cx="1001" cy="25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cs typeface="Arial" panose="020B0604020202020204" pitchFamily="34" charset="0"/>
                  </a:rPr>
                  <a:t>(a) </a:t>
                </a:r>
                <a:r>
                  <a:rPr lang="zh-CN" altLang="en-US" sz="2000" b="1" dirty="0">
                    <a:cs typeface="Arial" panose="020B0604020202020204" pitchFamily="34" charset="0"/>
                  </a:rPr>
                  <a:t>允许</a:t>
                </a:r>
                <a:endParaRPr lang="en-US" altLang="zh-CN" sz="2000" b="1" dirty="0">
                  <a:ea typeface="Arial" panose="020B0604020202020204" pitchFamily="34" charset="0"/>
                </a:endParaRPr>
              </a:p>
            </p:txBody>
          </p:sp>
        </p:grpSp>
        <p:grpSp>
          <p:nvGrpSpPr>
            <p:cNvPr id="27654" name="Group 50"/>
            <p:cNvGrpSpPr/>
            <p:nvPr/>
          </p:nvGrpSpPr>
          <p:grpSpPr>
            <a:xfrm>
              <a:off x="2993" y="2432"/>
              <a:ext cx="2767" cy="1722"/>
              <a:chOff x="2993" y="2432"/>
              <a:chExt cx="2767" cy="1722"/>
            </a:xfrm>
          </p:grpSpPr>
          <p:grpSp>
            <p:nvGrpSpPr>
              <p:cNvPr id="27655" name="Group 44"/>
              <p:cNvGrpSpPr/>
              <p:nvPr/>
            </p:nvGrpSpPr>
            <p:grpSpPr>
              <a:xfrm>
                <a:off x="2993" y="2432"/>
                <a:ext cx="2767" cy="1422"/>
                <a:chOff x="2699" y="2432"/>
                <a:chExt cx="2767" cy="1422"/>
              </a:xfrm>
            </p:grpSpPr>
            <p:grpSp>
              <p:nvGrpSpPr>
                <p:cNvPr id="27657" name="Group 41"/>
                <p:cNvGrpSpPr/>
                <p:nvPr/>
              </p:nvGrpSpPr>
              <p:grpSpPr>
                <a:xfrm>
                  <a:off x="2699" y="2432"/>
                  <a:ext cx="2449" cy="1134"/>
                  <a:chOff x="2699" y="2432"/>
                  <a:chExt cx="2449" cy="1134"/>
                </a:xfrm>
              </p:grpSpPr>
              <p:sp>
                <p:nvSpPr>
                  <p:cNvPr id="27660" name="Line 37"/>
                  <p:cNvSpPr/>
                  <p:nvPr/>
                </p:nvSpPr>
                <p:spPr>
                  <a:xfrm>
                    <a:off x="2699" y="3566"/>
                    <a:ext cx="2449" cy="0"/>
                  </a:xfrm>
                  <a:prstGeom prst="line">
                    <a:avLst/>
                  </a:prstGeom>
                  <a:ln w="9525" cap="flat" cmpd="sng">
                    <a:solidFill>
                      <a:schemeClr val="tx1"/>
                    </a:solidFill>
                    <a:prstDash val="solid"/>
                    <a:headEnd type="none" w="med" len="med"/>
                    <a:tailEnd type="triangle" w="med" len="med"/>
                  </a:ln>
                </p:spPr>
              </p:sp>
              <p:sp>
                <p:nvSpPr>
                  <p:cNvPr id="27661" name="Line 38"/>
                  <p:cNvSpPr/>
                  <p:nvPr/>
                </p:nvSpPr>
                <p:spPr>
                  <a:xfrm flipV="1">
                    <a:off x="3061" y="2432"/>
                    <a:ext cx="0" cy="1134"/>
                  </a:xfrm>
                  <a:prstGeom prst="line">
                    <a:avLst/>
                  </a:prstGeom>
                  <a:ln w="9525" cap="flat" cmpd="sng">
                    <a:solidFill>
                      <a:schemeClr val="tx1"/>
                    </a:solidFill>
                    <a:prstDash val="solid"/>
                    <a:headEnd type="none" w="med" len="med"/>
                    <a:tailEnd type="triangle" w="med" len="med"/>
                  </a:ln>
                </p:spPr>
              </p:sp>
              <p:sp>
                <p:nvSpPr>
                  <p:cNvPr id="27662" name="Line 39"/>
                  <p:cNvSpPr/>
                  <p:nvPr/>
                </p:nvSpPr>
                <p:spPr>
                  <a:xfrm>
                    <a:off x="3061" y="2840"/>
                    <a:ext cx="953" cy="0"/>
                  </a:xfrm>
                  <a:prstGeom prst="line">
                    <a:avLst/>
                  </a:prstGeom>
                  <a:ln w="9525" cap="flat" cmpd="sng">
                    <a:solidFill>
                      <a:schemeClr val="tx1"/>
                    </a:solidFill>
                    <a:prstDash val="solid"/>
                    <a:headEnd type="none" w="med" len="med"/>
                    <a:tailEnd type="none" w="med" len="med"/>
                  </a:ln>
                </p:spPr>
              </p:sp>
              <p:sp>
                <p:nvSpPr>
                  <p:cNvPr id="27663" name="Line 40"/>
                  <p:cNvSpPr/>
                  <p:nvPr/>
                </p:nvSpPr>
                <p:spPr>
                  <a:xfrm>
                    <a:off x="4014" y="2840"/>
                    <a:ext cx="0" cy="726"/>
                  </a:xfrm>
                  <a:prstGeom prst="line">
                    <a:avLst/>
                  </a:prstGeom>
                  <a:ln w="9525" cap="flat" cmpd="sng">
                    <a:solidFill>
                      <a:schemeClr val="tx1"/>
                    </a:solidFill>
                    <a:prstDash val="solid"/>
                    <a:headEnd type="none" w="med" len="med"/>
                    <a:tailEnd type="none" w="med" len="med"/>
                  </a:ln>
                </p:spPr>
              </p:sp>
            </p:grpSp>
            <p:sp>
              <p:nvSpPr>
                <p:cNvPr id="27658" name="Text Box 42"/>
                <p:cNvSpPr txBox="1"/>
                <p:nvPr/>
              </p:nvSpPr>
              <p:spPr>
                <a:xfrm>
                  <a:off x="2835" y="2432"/>
                  <a:ext cx="36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v</a:t>
                  </a:r>
                  <a:endParaRPr lang="en-US" altLang="zh-CN" sz="2400" b="1" dirty="0">
                    <a:ea typeface="Arial" panose="020B0604020202020204" pitchFamily="34" charset="0"/>
                  </a:endParaRPr>
                </a:p>
              </p:txBody>
            </p:sp>
            <p:sp>
              <p:nvSpPr>
                <p:cNvPr id="27659" name="Text Box 43"/>
                <p:cNvSpPr txBox="1"/>
                <p:nvPr/>
              </p:nvSpPr>
              <p:spPr>
                <a:xfrm>
                  <a:off x="5103" y="3566"/>
                  <a:ext cx="36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t</a:t>
                  </a:r>
                  <a:endParaRPr lang="en-US" altLang="zh-CN" sz="2400" b="1" dirty="0">
                    <a:ea typeface="Arial" panose="020B0604020202020204" pitchFamily="34" charset="0"/>
                  </a:endParaRPr>
                </a:p>
              </p:txBody>
            </p:sp>
          </p:grpSp>
          <p:sp>
            <p:nvSpPr>
              <p:cNvPr id="27656" name="Text Box 48"/>
              <p:cNvSpPr txBox="1"/>
              <p:nvPr/>
            </p:nvSpPr>
            <p:spPr>
              <a:xfrm>
                <a:off x="3699" y="3895"/>
                <a:ext cx="1218" cy="25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cs typeface="Arial" panose="020B0604020202020204" pitchFamily="34" charset="0"/>
                  </a:rPr>
                  <a:t>(b) </a:t>
                </a:r>
                <a:r>
                  <a:rPr lang="zh-CN" altLang="en-US" sz="2000" b="1" dirty="0">
                    <a:cs typeface="Arial" panose="020B0604020202020204" pitchFamily="34" charset="0"/>
                  </a:rPr>
                  <a:t>不允许</a:t>
                </a:r>
                <a:endParaRPr lang="en-US" altLang="zh-CN" sz="2000" b="1" dirty="0">
                  <a:ea typeface="Arial" panose="020B0604020202020204" pitchFamily="34" charset="0"/>
                </a:endParaRPr>
              </a:p>
            </p:txBody>
          </p:sp>
        </p:grpSp>
      </p:grpSp>
      <p:pic>
        <p:nvPicPr>
          <p:cNvPr id="2" name="图片 1"/>
          <p:cNvPicPr>
            <a:picLocks noChangeAspect="1"/>
          </p:cNvPicPr>
          <p:nvPr/>
        </p:nvPicPr>
        <p:blipFill>
          <a:blip r:embed="rId2"/>
          <a:stretch>
            <a:fillRect/>
          </a:stretch>
        </p:blipFill>
        <p:spPr>
          <a:xfrm>
            <a:off x="166370" y="5877560"/>
            <a:ext cx="8977630" cy="914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79705" y="476885"/>
            <a:ext cx="8550910" cy="5542280"/>
          </a:xfrm>
          <a:prstGeom prst="rect">
            <a:avLst/>
          </a:prstGeom>
          <a:noFill/>
        </p:spPr>
        <p:txBody>
          <a:bodyPr wrap="square" rtlCol="0" anchor="t">
            <a:noAutofit/>
          </a:bodyPr>
          <a:lstStyle/>
          <a:p>
            <a:r>
              <a:rPr lang="zh-CN" altLang="en-US" sz="2400">
                <a:solidFill>
                  <a:srgbClr val="FF0000"/>
                </a:solidFill>
              </a:rPr>
              <a:t>电容器充放电的原理：</a:t>
            </a:r>
            <a:endParaRPr lang="zh-CN" altLang="en-US" sz="2400">
              <a:solidFill>
                <a:schemeClr val="tx1"/>
              </a:solidFill>
            </a:endParaRPr>
          </a:p>
          <a:p>
            <a:r>
              <a:rPr lang="zh-CN" altLang="en-US" sz="2400">
                <a:solidFill>
                  <a:schemeClr val="tx1"/>
                </a:solidFill>
              </a:rPr>
              <a:t>当电容器接通电源以后，在电场力的作用下,与电源正极相接电容器极板的 自由电子将经过电源移到与电源负极相接的极板下，正极由于失去负电荷而带正电，负极由于获得负电荷而带负电,正,负极板所带电荷大小相等，符号相反。电荷定向移动形成电流,由于同性电荷的排斥作用,所以开始电流最大,以后逐渐减小。在电 荷移动过程中，电容器极板储存的电荷不断增加,电容器两极板间电压 Uc 等于电源电压 U 时电荷停止移动，电流 I=0。</a:t>
            </a:r>
          </a:p>
          <a:p>
            <a:r>
              <a:rPr lang="zh-CN" altLang="en-US" sz="2400">
                <a:solidFill>
                  <a:srgbClr val="FF0000"/>
                </a:solidFill>
              </a:rPr>
              <a:t>注意事项：</a:t>
            </a:r>
            <a:endParaRPr lang="zh-CN" altLang="en-US" sz="2400">
              <a:solidFill>
                <a:schemeClr val="tx1"/>
              </a:solidFill>
            </a:endParaRPr>
          </a:p>
          <a:p>
            <a:r>
              <a:rPr lang="zh-CN" altLang="en-US" sz="2400">
                <a:solidFill>
                  <a:schemeClr val="tx1"/>
                </a:solidFill>
              </a:rPr>
              <a:t>电容器由于电容器的两极具有剩留残余电荷的特点，所以，首先应设法将其电荷放尽，否则容易发生触电事故。</a:t>
            </a:r>
          </a:p>
          <a:p>
            <a:r>
              <a:rPr lang="zh-CN" altLang="en-US" sz="2400">
                <a:solidFill>
                  <a:schemeClr val="tx1"/>
                </a:solidFill>
              </a:rPr>
              <a:t>通过导线连接</a:t>
            </a:r>
            <a:r>
              <a:rPr lang="zh-CN" altLang="en-US" sz="2400">
                <a:solidFill>
                  <a:schemeClr val="tx1"/>
                </a:solidFill>
                <a:sym typeface="+mn-ea"/>
              </a:rPr>
              <a:t>电容器正负极板</a:t>
            </a:r>
            <a:r>
              <a:rPr lang="zh-CN" altLang="en-US" sz="2400">
                <a:solidFill>
                  <a:schemeClr val="tx1"/>
                </a:solidFill>
              </a:rPr>
              <a:t>,电容器正负极板电荷中和掉。电容器C正极正电荷可以移动负极上中和掉,负极负电荷也可以移到正极中和掉,电荷逐渐减少，表现电流减小，电压也逐渐减小为零。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p:nvPr/>
        </p:nvSpPr>
        <p:spPr>
          <a:xfrm>
            <a:off x="0" y="0"/>
            <a:ext cx="184150" cy="461963"/>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28675" name="Rectangle 6"/>
          <p:cNvSpPr/>
          <p:nvPr/>
        </p:nvSpPr>
        <p:spPr>
          <a:xfrm>
            <a:off x="0" y="0"/>
            <a:ext cx="184150" cy="461963"/>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28676" name="Rectangle 10"/>
          <p:cNvSpPr/>
          <p:nvPr/>
        </p:nvSpPr>
        <p:spPr>
          <a:xfrm>
            <a:off x="6553200" y="4770438"/>
            <a:ext cx="184150" cy="46196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28677" name="Rectangle 14"/>
          <p:cNvSpPr/>
          <p:nvPr/>
        </p:nvSpPr>
        <p:spPr>
          <a:xfrm>
            <a:off x="6705600" y="3505200"/>
            <a:ext cx="184150" cy="461963"/>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28678" name="Text Box 18"/>
          <p:cNvSpPr txBox="1"/>
          <p:nvPr/>
        </p:nvSpPr>
        <p:spPr>
          <a:xfrm>
            <a:off x="395288" y="933450"/>
            <a:ext cx="8569325" cy="1384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chemeClr val="bg2"/>
                </a:solidFill>
                <a:latin typeface="Times New Roman" panose="02020603050405020304" pitchFamily="18" charset="0"/>
                <a:cs typeface="Arial" panose="020B0604020202020204" pitchFamily="34" charset="0"/>
              </a:rPr>
              <a:t>3.</a:t>
            </a:r>
            <a:r>
              <a:rPr lang="en-US" altLang="zh-CN" sz="2400" b="1" dirty="0">
                <a:latin typeface="Times New Roman" panose="02020603050405020304" pitchFamily="18" charset="0"/>
                <a:cs typeface="Arial" panose="020B0604020202020204" pitchFamily="34" charset="0"/>
              </a:rPr>
              <a:t> </a:t>
            </a:r>
            <a:r>
              <a:rPr lang="zh-CN" altLang="en-US" sz="2400" b="1" dirty="0">
                <a:solidFill>
                  <a:srgbClr val="FF0000"/>
                </a:solidFill>
                <a:latin typeface="Times New Roman" panose="02020603050405020304" pitchFamily="18" charset="0"/>
                <a:cs typeface="Arial" panose="020B0604020202020204" pitchFamily="34" charset="0"/>
              </a:rPr>
              <a:t>理想的电容</a:t>
            </a:r>
            <a:r>
              <a:rPr lang="zh-CN" altLang="en-US" sz="2400" b="1" dirty="0">
                <a:latin typeface="Times New Roman" panose="02020603050405020304" pitchFamily="18" charset="0"/>
                <a:cs typeface="Arial" panose="020B0604020202020204" pitchFamily="34" charset="0"/>
              </a:rPr>
              <a:t>是不会消耗能量的。它从电路中获得能量并储存在电场中，然后将之前储存的能量释放到电路中。</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solidFill>
                  <a:schemeClr val="bg2"/>
                </a:solidFill>
                <a:latin typeface="Times New Roman" panose="02020603050405020304" pitchFamily="18" charset="0"/>
                <a:cs typeface="Arial" panose="020B0604020202020204" pitchFamily="34" charset="0"/>
              </a:rPr>
              <a:t>4.</a:t>
            </a:r>
            <a:r>
              <a:rPr lang="en-US" altLang="zh-CN" sz="2400" b="1" dirty="0">
                <a:latin typeface="Times New Roman" panose="02020603050405020304" pitchFamily="18" charset="0"/>
                <a:cs typeface="Arial" panose="020B0604020202020204" pitchFamily="34" charset="0"/>
              </a:rPr>
              <a:t> </a:t>
            </a:r>
            <a:r>
              <a:rPr lang="zh-CN" altLang="en-US" sz="2400" b="1" dirty="0">
                <a:solidFill>
                  <a:srgbClr val="FF0000"/>
                </a:solidFill>
                <a:latin typeface="Times New Roman" panose="02020603050405020304" pitchFamily="18" charset="0"/>
                <a:cs typeface="Arial" panose="020B0604020202020204" pitchFamily="34" charset="0"/>
              </a:rPr>
              <a:t>实际电容</a:t>
            </a:r>
            <a:r>
              <a:rPr lang="zh-CN" altLang="en-US" sz="2400" b="1" dirty="0">
                <a:latin typeface="Times New Roman" panose="02020603050405020304" pitchFamily="18" charset="0"/>
                <a:cs typeface="Arial" panose="020B0604020202020204" pitchFamily="34" charset="0"/>
              </a:rPr>
              <a:t>有一个并联模式的漏电阻</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如下图。</a:t>
            </a:r>
            <a:endParaRPr lang="en-US" altLang="zh-CN" sz="2400" b="1" dirty="0">
              <a:latin typeface="Times New Roman" panose="02020603050405020304" pitchFamily="18" charset="0"/>
              <a:ea typeface="Arial" panose="020B0604020202020204" pitchFamily="34" charset="0"/>
            </a:endParaRPr>
          </a:p>
        </p:txBody>
      </p:sp>
      <p:grpSp>
        <p:nvGrpSpPr>
          <p:cNvPr id="28679" name="Group 61"/>
          <p:cNvGrpSpPr/>
          <p:nvPr/>
        </p:nvGrpSpPr>
        <p:grpSpPr>
          <a:xfrm>
            <a:off x="1258888" y="3213100"/>
            <a:ext cx="4464050" cy="1655763"/>
            <a:chOff x="703" y="2024"/>
            <a:chExt cx="2812" cy="1043"/>
          </a:xfrm>
        </p:grpSpPr>
        <p:sp>
          <p:nvSpPr>
            <p:cNvPr id="28687" name="Line 23"/>
            <p:cNvSpPr/>
            <p:nvPr/>
          </p:nvSpPr>
          <p:spPr>
            <a:xfrm flipV="1">
              <a:off x="1247" y="2115"/>
              <a:ext cx="0" cy="861"/>
            </a:xfrm>
            <a:prstGeom prst="line">
              <a:avLst/>
            </a:prstGeom>
            <a:ln w="9525" cap="flat" cmpd="sng">
              <a:solidFill>
                <a:schemeClr val="tx1"/>
              </a:solidFill>
              <a:prstDash val="solid"/>
              <a:headEnd type="none" w="med" len="med"/>
              <a:tailEnd type="none" w="med" len="med"/>
            </a:ln>
          </p:spPr>
        </p:sp>
        <p:sp>
          <p:nvSpPr>
            <p:cNvPr id="28688" name="Line 24"/>
            <p:cNvSpPr/>
            <p:nvPr/>
          </p:nvSpPr>
          <p:spPr>
            <a:xfrm>
              <a:off x="1247" y="2115"/>
              <a:ext cx="544" cy="0"/>
            </a:xfrm>
            <a:prstGeom prst="line">
              <a:avLst/>
            </a:prstGeom>
            <a:ln w="9525" cap="flat" cmpd="sng">
              <a:solidFill>
                <a:schemeClr val="tx1"/>
              </a:solidFill>
              <a:prstDash val="solid"/>
              <a:headEnd type="none" w="med" len="med"/>
              <a:tailEnd type="none" w="med" len="med"/>
            </a:ln>
          </p:spPr>
        </p:sp>
        <p:pic>
          <p:nvPicPr>
            <p:cNvPr id="28689" name="Picture 25"/>
            <p:cNvPicPr>
              <a:picLocks noChangeAspect="1"/>
            </p:cNvPicPr>
            <p:nvPr/>
          </p:nvPicPr>
          <p:blipFill>
            <a:blip r:embed="rId2"/>
            <a:stretch>
              <a:fillRect/>
            </a:stretch>
          </p:blipFill>
          <p:spPr>
            <a:xfrm>
              <a:off x="1791" y="2024"/>
              <a:ext cx="522" cy="204"/>
            </a:xfrm>
            <a:prstGeom prst="rect">
              <a:avLst/>
            </a:prstGeom>
            <a:noFill/>
            <a:ln w="9525">
              <a:noFill/>
            </a:ln>
          </p:spPr>
        </p:pic>
        <p:sp>
          <p:nvSpPr>
            <p:cNvPr id="28690" name="Line 27"/>
            <p:cNvSpPr/>
            <p:nvPr/>
          </p:nvSpPr>
          <p:spPr>
            <a:xfrm>
              <a:off x="2290" y="2115"/>
              <a:ext cx="545" cy="0"/>
            </a:xfrm>
            <a:prstGeom prst="line">
              <a:avLst/>
            </a:prstGeom>
            <a:ln w="9525" cap="flat" cmpd="sng">
              <a:solidFill>
                <a:schemeClr val="tx1"/>
              </a:solidFill>
              <a:prstDash val="solid"/>
              <a:headEnd type="none" w="med" len="med"/>
              <a:tailEnd type="none" w="med" len="med"/>
            </a:ln>
          </p:spPr>
        </p:sp>
        <p:sp>
          <p:nvSpPr>
            <p:cNvPr id="28691" name="Line 28"/>
            <p:cNvSpPr/>
            <p:nvPr/>
          </p:nvSpPr>
          <p:spPr>
            <a:xfrm>
              <a:off x="2835" y="2115"/>
              <a:ext cx="0" cy="861"/>
            </a:xfrm>
            <a:prstGeom prst="line">
              <a:avLst/>
            </a:prstGeom>
            <a:ln w="9525" cap="flat" cmpd="sng">
              <a:solidFill>
                <a:schemeClr val="tx1"/>
              </a:solidFill>
              <a:prstDash val="solid"/>
              <a:headEnd type="none" w="med" len="med"/>
              <a:tailEnd type="none" w="med" len="med"/>
            </a:ln>
          </p:spPr>
        </p:sp>
        <p:grpSp>
          <p:nvGrpSpPr>
            <p:cNvPr id="28692" name="Group 53"/>
            <p:cNvGrpSpPr/>
            <p:nvPr/>
          </p:nvGrpSpPr>
          <p:grpSpPr>
            <a:xfrm>
              <a:off x="703" y="2840"/>
              <a:ext cx="2812" cy="227"/>
              <a:chOff x="703" y="2840"/>
              <a:chExt cx="2812" cy="227"/>
            </a:xfrm>
          </p:grpSpPr>
          <p:grpSp>
            <p:nvGrpSpPr>
              <p:cNvPr id="28693" name="Group 48"/>
              <p:cNvGrpSpPr/>
              <p:nvPr/>
            </p:nvGrpSpPr>
            <p:grpSpPr>
              <a:xfrm rot="-5400000">
                <a:off x="1996" y="2908"/>
                <a:ext cx="227" cy="91"/>
                <a:chOff x="3061" y="2840"/>
                <a:chExt cx="227" cy="91"/>
              </a:xfrm>
            </p:grpSpPr>
            <p:sp>
              <p:nvSpPr>
                <p:cNvPr id="28699" name="Line 49"/>
                <p:cNvSpPr/>
                <p:nvPr/>
              </p:nvSpPr>
              <p:spPr>
                <a:xfrm>
                  <a:off x="3061" y="2840"/>
                  <a:ext cx="227" cy="0"/>
                </a:xfrm>
                <a:prstGeom prst="line">
                  <a:avLst/>
                </a:prstGeom>
                <a:ln w="38100" cap="flat" cmpd="sng">
                  <a:solidFill>
                    <a:schemeClr val="tx1"/>
                  </a:solidFill>
                  <a:prstDash val="solid"/>
                  <a:headEnd type="none" w="med" len="med"/>
                  <a:tailEnd type="none" w="med" len="med"/>
                </a:ln>
              </p:spPr>
            </p:sp>
            <p:sp>
              <p:nvSpPr>
                <p:cNvPr id="28700" name="Line 50"/>
                <p:cNvSpPr/>
                <p:nvPr/>
              </p:nvSpPr>
              <p:spPr>
                <a:xfrm>
                  <a:off x="3061" y="2931"/>
                  <a:ext cx="227" cy="0"/>
                </a:xfrm>
                <a:prstGeom prst="line">
                  <a:avLst/>
                </a:prstGeom>
                <a:ln w="38100" cap="flat" cmpd="sng">
                  <a:solidFill>
                    <a:schemeClr val="tx1"/>
                  </a:solidFill>
                  <a:prstDash val="solid"/>
                  <a:headEnd type="none" w="med" len="med"/>
                  <a:tailEnd type="none" w="med" len="med"/>
                </a:ln>
              </p:spPr>
            </p:sp>
          </p:grpSp>
          <p:grpSp>
            <p:nvGrpSpPr>
              <p:cNvPr id="28694" name="Group 52"/>
              <p:cNvGrpSpPr/>
              <p:nvPr/>
            </p:nvGrpSpPr>
            <p:grpSpPr>
              <a:xfrm>
                <a:off x="703" y="2931"/>
                <a:ext cx="2812" cy="91"/>
                <a:chOff x="703" y="2931"/>
                <a:chExt cx="2812" cy="91"/>
              </a:xfrm>
            </p:grpSpPr>
            <p:sp>
              <p:nvSpPr>
                <p:cNvPr id="28695" name="Line 19"/>
                <p:cNvSpPr/>
                <p:nvPr/>
              </p:nvSpPr>
              <p:spPr>
                <a:xfrm>
                  <a:off x="793" y="2976"/>
                  <a:ext cx="1271" cy="0"/>
                </a:xfrm>
                <a:prstGeom prst="line">
                  <a:avLst/>
                </a:prstGeom>
                <a:ln w="9525" cap="flat" cmpd="sng">
                  <a:solidFill>
                    <a:schemeClr val="tx1"/>
                  </a:solidFill>
                  <a:prstDash val="solid"/>
                  <a:headEnd type="none" w="med" len="med"/>
                  <a:tailEnd type="none" w="med" len="med"/>
                </a:ln>
              </p:spPr>
            </p:sp>
            <p:sp>
              <p:nvSpPr>
                <p:cNvPr id="28696" name="Oval 20"/>
                <p:cNvSpPr/>
                <p:nvPr/>
              </p:nvSpPr>
              <p:spPr>
                <a:xfrm>
                  <a:off x="3424" y="2931"/>
                  <a:ext cx="91" cy="9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28697" name="Oval 21"/>
                <p:cNvSpPr/>
                <p:nvPr/>
              </p:nvSpPr>
              <p:spPr>
                <a:xfrm>
                  <a:off x="703" y="2931"/>
                  <a:ext cx="91" cy="9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28698" name="Line 51"/>
                <p:cNvSpPr/>
                <p:nvPr/>
              </p:nvSpPr>
              <p:spPr>
                <a:xfrm>
                  <a:off x="2154" y="2976"/>
                  <a:ext cx="1270" cy="0"/>
                </a:xfrm>
                <a:prstGeom prst="line">
                  <a:avLst/>
                </a:prstGeom>
                <a:ln w="9525" cap="flat" cmpd="sng">
                  <a:solidFill>
                    <a:schemeClr val="tx1"/>
                  </a:solidFill>
                  <a:prstDash val="solid"/>
                  <a:headEnd type="none" w="med" len="med"/>
                  <a:tailEnd type="none" w="med" len="med"/>
                </a:ln>
              </p:spPr>
            </p:sp>
          </p:grpSp>
        </p:grpSp>
      </p:grpSp>
      <p:grpSp>
        <p:nvGrpSpPr>
          <p:cNvPr id="28680" name="Group 59"/>
          <p:cNvGrpSpPr/>
          <p:nvPr/>
        </p:nvGrpSpPr>
        <p:grpSpPr>
          <a:xfrm>
            <a:off x="2122488" y="3033713"/>
            <a:ext cx="3937000" cy="3089275"/>
            <a:chOff x="1337" y="1911"/>
            <a:chExt cx="2480" cy="1946"/>
          </a:xfrm>
        </p:grpSpPr>
        <p:grpSp>
          <p:nvGrpSpPr>
            <p:cNvPr id="28682" name="Group 58"/>
            <p:cNvGrpSpPr/>
            <p:nvPr/>
          </p:nvGrpSpPr>
          <p:grpSpPr>
            <a:xfrm>
              <a:off x="2200" y="1911"/>
              <a:ext cx="1617" cy="1475"/>
              <a:chOff x="2200" y="1911"/>
              <a:chExt cx="1617" cy="1475"/>
            </a:xfrm>
          </p:grpSpPr>
          <p:sp>
            <p:nvSpPr>
              <p:cNvPr id="28684" name="Line 55"/>
              <p:cNvSpPr/>
              <p:nvPr/>
            </p:nvSpPr>
            <p:spPr>
              <a:xfrm flipH="1" flipV="1">
                <a:off x="2245" y="3067"/>
                <a:ext cx="272" cy="172"/>
              </a:xfrm>
              <a:prstGeom prst="line">
                <a:avLst/>
              </a:prstGeom>
              <a:ln w="9525" cap="flat" cmpd="sng">
                <a:solidFill>
                  <a:schemeClr val="tx1"/>
                </a:solidFill>
                <a:prstDash val="solid"/>
                <a:headEnd type="none" w="med" len="med"/>
                <a:tailEnd type="triangle" w="med" len="med"/>
              </a:ln>
            </p:spPr>
          </p:sp>
          <p:sp>
            <p:nvSpPr>
              <p:cNvPr id="28685" name="Text Box 56"/>
              <p:cNvSpPr txBox="1"/>
              <p:nvPr/>
            </p:nvSpPr>
            <p:spPr>
              <a:xfrm>
                <a:off x="2512" y="3153"/>
                <a:ext cx="1305" cy="23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cs typeface="Arial" panose="020B0604020202020204" pitchFamily="34" charset="0"/>
                  </a:rPr>
                  <a:t>理想电容</a:t>
                </a:r>
                <a:endParaRPr lang="en-US" altLang="zh-CN" sz="1800" b="1" dirty="0">
                  <a:ea typeface="Arial" panose="020B0604020202020204" pitchFamily="34" charset="0"/>
                </a:endParaRPr>
              </a:p>
            </p:txBody>
          </p:sp>
          <p:sp>
            <p:nvSpPr>
              <p:cNvPr id="28686" name="Line 55"/>
              <p:cNvSpPr/>
              <p:nvPr/>
            </p:nvSpPr>
            <p:spPr>
              <a:xfrm flipH="1">
                <a:off x="2200" y="1911"/>
                <a:ext cx="180" cy="127"/>
              </a:xfrm>
              <a:prstGeom prst="line">
                <a:avLst/>
              </a:prstGeom>
              <a:ln w="9525" cap="flat" cmpd="sng">
                <a:solidFill>
                  <a:schemeClr val="tx1"/>
                </a:solidFill>
                <a:prstDash val="solid"/>
                <a:headEnd type="none" w="med" len="med"/>
                <a:tailEnd type="triangle" w="med" len="med"/>
              </a:ln>
            </p:spPr>
          </p:sp>
        </p:grpSp>
        <p:sp>
          <p:nvSpPr>
            <p:cNvPr id="28683" name="Text Box 57"/>
            <p:cNvSpPr txBox="1"/>
            <p:nvPr/>
          </p:nvSpPr>
          <p:spPr>
            <a:xfrm>
              <a:off x="1337" y="3605"/>
              <a:ext cx="1861" cy="25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cs typeface="Arial" panose="020B0604020202020204" pitchFamily="34" charset="0"/>
                </a:rPr>
                <a:t>非理想电容的电路模型</a:t>
              </a:r>
              <a:endParaRPr lang="en-US" altLang="zh-CN" sz="2000" b="1" dirty="0">
                <a:ea typeface="Arial" panose="020B0604020202020204" pitchFamily="34" charset="0"/>
              </a:endParaRPr>
            </a:p>
          </p:txBody>
        </p:sp>
      </p:grpSp>
      <p:sp>
        <p:nvSpPr>
          <p:cNvPr id="28681" name="文本框 27"/>
          <p:cNvSpPr txBox="1"/>
          <p:nvPr/>
        </p:nvSpPr>
        <p:spPr>
          <a:xfrm>
            <a:off x="3778250" y="2744788"/>
            <a:ext cx="990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800" b="1" dirty="0">
                <a:latin typeface="Times New Roman" panose="02020603050405020304" pitchFamily="18" charset="0"/>
                <a:ea typeface="宋体-18030" pitchFamily="49" charset="-122"/>
              </a:rPr>
              <a:t>漏电阻</a:t>
            </a:r>
            <a:endParaRPr lang="zh-CN" altLang="en-US" sz="1800" dirty="0">
              <a:ea typeface="宋体-18030" pitchFamily="49" charset="-122"/>
            </a:endParaRPr>
          </a:p>
        </p:txBody>
      </p:sp>
      <p:pic>
        <p:nvPicPr>
          <p:cNvPr id="2" name="图片 1"/>
          <p:cNvPicPr>
            <a:picLocks noChangeAspect="1"/>
          </p:cNvPicPr>
          <p:nvPr/>
        </p:nvPicPr>
        <p:blipFill>
          <a:blip r:embed="rId3"/>
          <a:stretch>
            <a:fillRect/>
          </a:stretch>
        </p:blipFill>
        <p:spPr>
          <a:xfrm>
            <a:off x="35560" y="6237605"/>
            <a:ext cx="8870950" cy="5473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9"/>
          <p:cNvSpPr txBox="1"/>
          <p:nvPr/>
        </p:nvSpPr>
        <p:spPr>
          <a:xfrm>
            <a:off x="341630" y="615950"/>
            <a:ext cx="8280400" cy="206248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b="1" dirty="0">
                <a:solidFill>
                  <a:srgbClr val="FF0000"/>
                </a:solidFill>
                <a:latin typeface="Arial Black" panose="020B0A04020102020204" pitchFamily="34" charset="0"/>
                <a:cs typeface="Arial" panose="020B0604020202020204" pitchFamily="34" charset="0"/>
              </a:rPr>
              <a:t>6-1 </a:t>
            </a:r>
            <a:r>
              <a:rPr lang="zh-CN" altLang="en-US" sz="2400" b="1" dirty="0">
                <a:solidFill>
                  <a:srgbClr val="FF0000"/>
                </a:solidFill>
                <a:latin typeface="Arial Black" panose="020B0A04020102020204" pitchFamily="34" charset="0"/>
                <a:cs typeface="Arial" panose="020B0604020202020204" pitchFamily="34" charset="0"/>
              </a:rPr>
              <a:t>：</a:t>
            </a:r>
            <a:endParaRPr lang="en-US" altLang="zh-CN" sz="2400" b="1" dirty="0">
              <a:solidFill>
                <a:srgbClr val="FF0000"/>
              </a:solidFill>
              <a:latin typeface="Arial Black" panose="020B0A04020102020204" pitchFamily="34"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 </a:t>
            </a:r>
            <a:r>
              <a:rPr lang="zh-CN" altLang="en-US" sz="2400" b="1" dirty="0">
                <a:latin typeface="Times New Roman" panose="02020603050405020304" pitchFamily="18" charset="0"/>
                <a:cs typeface="Arial" panose="020B0604020202020204" pitchFamily="34" charset="0"/>
              </a:rPr>
              <a:t>一个</a:t>
            </a:r>
            <a:r>
              <a:rPr lang="en-US" altLang="zh-CN" sz="2400" b="1" dirty="0">
                <a:latin typeface="Times New Roman" panose="02020603050405020304" pitchFamily="18" charset="0"/>
                <a:cs typeface="Arial" panose="020B0604020202020204" pitchFamily="34" charset="0"/>
              </a:rPr>
              <a:t>3pF</a:t>
            </a:r>
            <a:r>
              <a:rPr lang="zh-CN" altLang="en-US" sz="2400" b="1" dirty="0">
                <a:latin typeface="Times New Roman" panose="02020603050405020304" pitchFamily="18" charset="0"/>
                <a:cs typeface="Arial" panose="020B0604020202020204" pitchFamily="34" charset="0"/>
              </a:rPr>
              <a:t>的电容两端加上</a:t>
            </a:r>
            <a:r>
              <a:rPr lang="en-US" altLang="zh-CN" sz="2400" b="1" dirty="0">
                <a:latin typeface="Times New Roman" panose="02020603050405020304" pitchFamily="18" charset="0"/>
                <a:cs typeface="Arial" panose="020B0604020202020204" pitchFamily="34" charset="0"/>
              </a:rPr>
              <a:t>20V</a:t>
            </a:r>
            <a:r>
              <a:rPr lang="zh-CN" altLang="en-US" sz="2400" b="1" dirty="0">
                <a:latin typeface="Times New Roman" panose="02020603050405020304" pitchFamily="18" charset="0"/>
                <a:cs typeface="Arial" panose="020B0604020202020204" pitchFamily="34" charset="0"/>
              </a:rPr>
              <a:t>的电压后，可以储存多少电荷？</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(b)</a:t>
            </a:r>
            <a:r>
              <a:rPr lang="zh-CN" altLang="en-US" sz="2400" b="1" dirty="0">
                <a:latin typeface="Times New Roman" panose="02020603050405020304" pitchFamily="18" charset="0"/>
                <a:cs typeface="Arial" panose="020B0604020202020204" pitchFamily="34" charset="0"/>
              </a:rPr>
              <a:t>电容可以储存的能量有多少？</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ea typeface="Arial" panose="020B0604020202020204" pitchFamily="34" charset="0"/>
            </a:endParaRPr>
          </a:p>
        </p:txBody>
      </p:sp>
      <p:graphicFrame>
        <p:nvGraphicFramePr>
          <p:cNvPr id="7170" name="Object 10"/>
          <p:cNvGraphicFramePr>
            <a:graphicFrameLocks noChangeAspect="1"/>
          </p:cNvGraphicFramePr>
          <p:nvPr/>
        </p:nvGraphicFramePr>
        <p:xfrm>
          <a:off x="1992948" y="4021455"/>
          <a:ext cx="5165725" cy="652145"/>
        </p:xfrm>
        <a:graphic>
          <a:graphicData uri="http://schemas.openxmlformats.org/presentationml/2006/ole">
            <p:oleObj spid="_x0000_s9219" r:id="rId3" imgW="1663560" imgH="228600" progId="">
              <p:embed/>
            </p:oleObj>
          </a:graphicData>
        </a:graphic>
      </p:graphicFrame>
      <p:sp>
        <p:nvSpPr>
          <p:cNvPr id="7173" name="Text Box 12"/>
          <p:cNvSpPr txBox="1"/>
          <p:nvPr/>
        </p:nvSpPr>
        <p:spPr>
          <a:xfrm>
            <a:off x="430213" y="5003800"/>
            <a:ext cx="61214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(b) </a:t>
            </a:r>
            <a:r>
              <a:rPr lang="zh-CN" altLang="en-US" sz="2400" b="1" dirty="0">
                <a:latin typeface="Times New Roman" panose="02020603050405020304" pitchFamily="18" charset="0"/>
                <a:cs typeface="Arial" panose="020B0604020202020204" pitchFamily="34" charset="0"/>
              </a:rPr>
              <a:t>储存的能量值为</a:t>
            </a:r>
            <a:endParaRPr lang="en-US" altLang="zh-CN" sz="2400" b="1" dirty="0">
              <a:latin typeface="Times New Roman" panose="02020603050405020304" pitchFamily="18" charset="0"/>
              <a:ea typeface="Arial" panose="020B0604020202020204" pitchFamily="34" charset="0"/>
            </a:endParaRPr>
          </a:p>
        </p:txBody>
      </p:sp>
      <p:sp>
        <p:nvSpPr>
          <p:cNvPr id="7174" name="Rectangle 14"/>
          <p:cNvSpPr/>
          <p:nvPr/>
        </p:nvSpPr>
        <p:spPr>
          <a:xfrm>
            <a:off x="1065213" y="4459288"/>
            <a:ext cx="184150" cy="46196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graphicFrame>
        <p:nvGraphicFramePr>
          <p:cNvPr id="7171" name="Object 13"/>
          <p:cNvGraphicFramePr>
            <a:graphicFrameLocks noChangeAspect="1"/>
          </p:cNvGraphicFramePr>
          <p:nvPr/>
        </p:nvGraphicFramePr>
        <p:xfrm>
          <a:off x="1920716" y="5581492"/>
          <a:ext cx="6161405" cy="929005"/>
        </p:xfrm>
        <a:graphic>
          <a:graphicData uri="http://schemas.openxmlformats.org/presentationml/2006/ole">
            <p:oleObj spid="_x0000_s9220" r:id="rId4" imgW="2577960" imgH="393480" progId="">
              <p:embed/>
            </p:oleObj>
          </a:graphicData>
        </a:graphic>
      </p:graphicFrame>
      <p:sp>
        <p:nvSpPr>
          <p:cNvPr id="7176" name="Rectangle 8"/>
          <p:cNvSpPr/>
          <p:nvPr/>
        </p:nvSpPr>
        <p:spPr>
          <a:xfrm>
            <a:off x="468313" y="3141663"/>
            <a:ext cx="631825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chemeClr val="bg2"/>
                </a:solidFill>
                <a:cs typeface="Arial" panose="020B0604020202020204" pitchFamily="34" charset="0"/>
              </a:rPr>
              <a:t>解</a:t>
            </a:r>
            <a:r>
              <a:rPr lang="en-US" altLang="zh-CN" sz="2400" b="1" dirty="0">
                <a:solidFill>
                  <a:schemeClr val="bg2"/>
                </a:solidFill>
                <a:cs typeface="Arial" panose="020B0604020202020204" pitchFamily="34" charset="0"/>
              </a:rPr>
              <a:t>:</a:t>
            </a:r>
          </a:p>
          <a:p>
            <a:pPr marL="0" lvl="0" indent="0" eaLnBrk="1" hangingPunct="1">
              <a:spcBef>
                <a:spcPct val="0"/>
              </a:spcBef>
              <a:buClrTx/>
              <a:buSzTx/>
              <a:buFontTx/>
              <a:buNone/>
            </a:pPr>
            <a:r>
              <a:rPr lang="en-US" altLang="zh-CN" sz="2400" b="1" dirty="0">
                <a:cs typeface="Arial" panose="020B0604020202020204" pitchFamily="34" charset="0"/>
              </a:rPr>
              <a:t>(a) </a:t>
            </a:r>
            <a:r>
              <a:rPr lang="zh-CN" altLang="en-US" sz="2400" b="1" dirty="0">
                <a:cs typeface="Arial" panose="020B0604020202020204" pitchFamily="34" charset="0"/>
              </a:rPr>
              <a:t>由于</a:t>
            </a:r>
            <a:r>
              <a:rPr lang="en-US" altLang="zh-CN" sz="2400" b="1" dirty="0">
                <a:cs typeface="Arial" panose="020B0604020202020204" pitchFamily="34" charset="0"/>
              </a:rPr>
              <a:t> </a:t>
            </a:r>
            <a:r>
              <a:rPr lang="en-US" altLang="zh-CN" sz="2400" b="1" i="1" dirty="0">
                <a:latin typeface="Times New Roman" panose="02020603050405020304" pitchFamily="18" charset="0"/>
                <a:cs typeface="Times New Roman" panose="02020603050405020304" pitchFamily="18" charset="0"/>
              </a:rPr>
              <a:t>q</a:t>
            </a:r>
            <a:r>
              <a:rPr lang="en-US" altLang="zh-CN" sz="2400" b="1" dirty="0">
                <a:latin typeface="Times New Roman" panose="02020603050405020304" pitchFamily="18" charset="0"/>
                <a:cs typeface="Times New Roman" panose="02020603050405020304" pitchFamily="18" charset="0"/>
              </a:rPr>
              <a:t> = C</a:t>
            </a:r>
            <a:r>
              <a:rPr lang="en-US" altLang="zh-CN" sz="2400" b="1" i="1" dirty="0">
                <a:latin typeface="Times New Roman" panose="02020603050405020304" pitchFamily="18" charset="0"/>
                <a:cs typeface="Times New Roman" panose="02020603050405020304" pitchFamily="18" charset="0"/>
              </a:rPr>
              <a:t>v</a:t>
            </a:r>
            <a:r>
              <a:rPr lang="en-US" altLang="zh-CN" sz="2400" b="1" dirty="0">
                <a:latin typeface="Times New Roman" panose="02020603050405020304" pitchFamily="18" charset="0"/>
                <a:cs typeface="Times New Roman" panose="02020603050405020304" pitchFamily="18" charset="0"/>
              </a:rPr>
              <a:t> </a:t>
            </a:r>
            <a:r>
              <a:rPr lang="en-US" altLang="zh-CN" sz="2400" b="1" dirty="0">
                <a:cs typeface="Arial" panose="020B0604020202020204" pitchFamily="34" charset="0"/>
              </a:rPr>
              <a:t>,</a:t>
            </a:r>
            <a:r>
              <a:rPr lang="zh-CN" altLang="en-US" sz="2400" b="1" dirty="0">
                <a:cs typeface="Arial" panose="020B0604020202020204" pitchFamily="34" charset="0"/>
              </a:rPr>
              <a:t>所以</a:t>
            </a:r>
            <a:endParaRPr lang="en-US" altLang="zh-CN" sz="2400" b="1" dirty="0">
              <a:ea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linds(horizontal)">
                                      <p:cBhvr>
                                        <p:cTn id="7" dur="500"/>
                                        <p:tgtEl>
                                          <p:spTgt spid="717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173"/>
                                        </p:tgtEl>
                                        <p:attrNameLst>
                                          <p:attrName>style.visibility</p:attrName>
                                        </p:attrNameLst>
                                      </p:cBhvr>
                                      <p:to>
                                        <p:strVal val="visible"/>
                                      </p:to>
                                    </p:set>
                                    <p:animEffect transition="in" filter="blinds(horizontal)">
                                      <p:cBhvr>
                                        <p:cTn id="10" dur="500"/>
                                        <p:tgtEl>
                                          <p:spTgt spid="7173"/>
                                        </p:tgtEl>
                                      </p:cBhvr>
                                    </p:animEffect>
                                  </p:childTnLst>
                                </p:cTn>
                              </p:par>
                              <p:par>
                                <p:cTn id="11" presetID="3" presetClass="entr" presetSubtype="10" fill="hold" grpId="0" nodeType="withEffect" nodePh="1">
                                  <p:stCondLst>
                                    <p:cond delay="0"/>
                                  </p:stCondLst>
                                  <p:endCondLst>
                                    <p:cond evt="begin" delay="0">
                                      <p:tn val="11"/>
                                    </p:cond>
                                  </p:endCondLst>
                                  <p:childTnLst>
                                    <p:set>
                                      <p:cBhvr>
                                        <p:cTn id="12" dur="1" fill="hold">
                                          <p:stCondLst>
                                            <p:cond delay="0"/>
                                          </p:stCondLst>
                                        </p:cTn>
                                        <p:tgtEl>
                                          <p:spTgt spid="7174"/>
                                        </p:tgtEl>
                                        <p:attrNameLst>
                                          <p:attrName>style.visibility</p:attrName>
                                        </p:attrNameLst>
                                      </p:cBhvr>
                                      <p:to>
                                        <p:strVal val="visible"/>
                                      </p:to>
                                    </p:set>
                                    <p:animEffect transition="in" filter="blinds(horizontal)">
                                      <p:cBhvr>
                                        <p:cTn id="13" dur="500"/>
                                        <p:tgtEl>
                                          <p:spTgt spid="7174"/>
                                        </p:tgtEl>
                                      </p:cBhvr>
                                    </p:animEffect>
                                  </p:childTnLst>
                                </p:cTn>
                              </p:par>
                              <p:par>
                                <p:cTn id="14" presetID="3" presetClass="entr" presetSubtype="10" fill="hold" nodeType="withEffect">
                                  <p:stCondLst>
                                    <p:cond delay="0"/>
                                  </p:stCondLst>
                                  <p:childTnLst>
                                    <p:set>
                                      <p:cBhvr>
                                        <p:cTn id="15" dur="1" fill="hold">
                                          <p:stCondLst>
                                            <p:cond delay="0"/>
                                          </p:stCondLst>
                                        </p:cTn>
                                        <p:tgtEl>
                                          <p:spTgt spid="7171"/>
                                        </p:tgtEl>
                                        <p:attrNameLst>
                                          <p:attrName>style.visibility</p:attrName>
                                        </p:attrNameLst>
                                      </p:cBhvr>
                                      <p:to>
                                        <p:strVal val="visible"/>
                                      </p:to>
                                    </p:set>
                                    <p:animEffect transition="in" filter="blinds(horizontal)">
                                      <p:cBhvr>
                                        <p:cTn id="16" dur="500"/>
                                        <p:tgtEl>
                                          <p:spTgt spid="717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7176"/>
                                        </p:tgtEl>
                                        <p:attrNameLst>
                                          <p:attrName>style.visibility</p:attrName>
                                        </p:attrNameLst>
                                      </p:cBhvr>
                                      <p:to>
                                        <p:strVal val="visible"/>
                                      </p:to>
                                    </p:set>
                                    <p:animEffect transition="in" filter="blinds(horizontal)">
                                      <p:cBhvr>
                                        <p:cTn id="19" dur="500"/>
                                        <p:tgtEl>
                                          <p:spTgt spid="7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p:bldP spid="7174" grpId="0"/>
      <p:bldP spid="717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46380" y="939165"/>
            <a:ext cx="8721090" cy="715645"/>
          </a:xfrm>
          <a:prstGeom prst="rect">
            <a:avLst/>
          </a:prstGeom>
        </p:spPr>
      </p:pic>
      <p:sp>
        <p:nvSpPr>
          <p:cNvPr id="6" name="文本框 5"/>
          <p:cNvSpPr txBox="1"/>
          <p:nvPr/>
        </p:nvSpPr>
        <p:spPr>
          <a:xfrm>
            <a:off x="175895" y="2060575"/>
            <a:ext cx="8791575" cy="922020"/>
          </a:xfrm>
          <a:prstGeom prst="rect">
            <a:avLst/>
          </a:prstGeom>
          <a:noFill/>
        </p:spPr>
        <p:txBody>
          <a:bodyPr wrap="square" rtlCol="0">
            <a:spAutoFit/>
          </a:bodyPr>
          <a:lstStyle/>
          <a:p>
            <a:r>
              <a:rPr lang="zh-CN" altLang="en-US">
                <a:solidFill>
                  <a:schemeClr val="tx1"/>
                </a:solidFill>
              </a:rPr>
              <a:t>解：</a:t>
            </a:r>
            <a:r>
              <a:rPr lang="en-US" altLang="zh-CN">
                <a:solidFill>
                  <a:schemeClr val="tx1"/>
                </a:solidFill>
              </a:rPr>
              <a:t>Q=CV;  V=Q/C=(0.12*10</a:t>
            </a:r>
            <a:r>
              <a:rPr lang="en-US" altLang="zh-CN" baseline="30000">
                <a:solidFill>
                  <a:schemeClr val="tx1"/>
                </a:solidFill>
                <a:uFillTx/>
              </a:rPr>
              <a:t>-3</a:t>
            </a:r>
            <a:r>
              <a:rPr lang="zh-CN" altLang="en-US">
                <a:solidFill>
                  <a:schemeClr val="tx1"/>
                </a:solidFill>
                <a:uFillTx/>
              </a:rPr>
              <a:t>）</a:t>
            </a:r>
            <a:r>
              <a:rPr lang="en-US" altLang="zh-CN">
                <a:solidFill>
                  <a:schemeClr val="tx1"/>
                </a:solidFill>
                <a:uFillTx/>
              </a:rPr>
              <a:t>/(4.5*10</a:t>
            </a:r>
            <a:r>
              <a:rPr lang="en-US" altLang="zh-CN" baseline="30000">
                <a:solidFill>
                  <a:schemeClr val="tx1"/>
                </a:solidFill>
                <a:uFillTx/>
              </a:rPr>
              <a:t>-6</a:t>
            </a:r>
            <a:r>
              <a:rPr lang="en-US" altLang="zh-CN">
                <a:solidFill>
                  <a:schemeClr val="tx1"/>
                </a:solidFill>
                <a:uFillTx/>
              </a:rPr>
              <a:t>)=26.67</a:t>
            </a:r>
            <a:r>
              <a:rPr lang="en-US" altLang="zh-CN">
                <a:solidFill>
                  <a:srgbClr val="FF0000"/>
                </a:solidFill>
                <a:uFillTx/>
              </a:rPr>
              <a:t>(V); </a:t>
            </a:r>
            <a:r>
              <a:rPr lang="zh-CN" altLang="en-US">
                <a:solidFill>
                  <a:srgbClr val="FF0000"/>
                </a:solidFill>
                <a:uFillTx/>
              </a:rPr>
              <a:t>说明：书上答案的单位错了</a:t>
            </a:r>
          </a:p>
          <a:p>
            <a:endParaRPr lang="zh-CN" altLang="en-US">
              <a:solidFill>
                <a:srgbClr val="FF0000"/>
              </a:solidFill>
              <a:uFillTx/>
            </a:endParaRPr>
          </a:p>
          <a:p>
            <a:r>
              <a:rPr lang="en-US" altLang="zh-CN">
                <a:solidFill>
                  <a:srgbClr val="FF0000"/>
                </a:solidFill>
                <a:uFillTx/>
              </a:rPr>
              <a:t>       </a:t>
            </a:r>
            <a:r>
              <a:rPr lang="en-US" altLang="zh-CN">
                <a:solidFill>
                  <a:schemeClr val="tx1"/>
                </a:solidFill>
                <a:uFillTx/>
              </a:rPr>
              <a:t>W=Q</a:t>
            </a:r>
            <a:r>
              <a:rPr lang="en-US" altLang="zh-CN" baseline="30000">
                <a:solidFill>
                  <a:schemeClr val="tx1"/>
                </a:solidFill>
                <a:uFillTx/>
              </a:rPr>
              <a:t>2</a:t>
            </a:r>
            <a:r>
              <a:rPr lang="en-US" altLang="zh-CN">
                <a:solidFill>
                  <a:schemeClr val="tx1"/>
                </a:solidFill>
                <a:uFillTx/>
              </a:rPr>
              <a:t>/(2C) =[</a:t>
            </a:r>
            <a:r>
              <a:rPr lang="en-US" altLang="zh-CN">
                <a:solidFill>
                  <a:schemeClr val="tx1"/>
                </a:solidFill>
                <a:sym typeface="+mn-ea"/>
              </a:rPr>
              <a:t>(0.12*10</a:t>
            </a:r>
            <a:r>
              <a:rPr lang="en-US" altLang="zh-CN" baseline="30000">
                <a:solidFill>
                  <a:schemeClr val="tx1"/>
                </a:solidFill>
                <a:uFillTx/>
                <a:sym typeface="+mn-ea"/>
              </a:rPr>
              <a:t>-3</a:t>
            </a:r>
            <a:r>
              <a:rPr lang="zh-CN" altLang="en-US">
                <a:solidFill>
                  <a:schemeClr val="tx1"/>
                </a:solidFill>
                <a:uFillTx/>
                <a:sym typeface="+mn-ea"/>
              </a:rPr>
              <a:t>）</a:t>
            </a:r>
            <a:r>
              <a:rPr lang="en-US" altLang="zh-CN" baseline="30000">
                <a:solidFill>
                  <a:schemeClr val="tx1"/>
                </a:solidFill>
                <a:uFillTx/>
                <a:sym typeface="+mn-ea"/>
              </a:rPr>
              <a:t>2</a:t>
            </a:r>
            <a:r>
              <a:rPr lang="en-US" altLang="zh-CN">
                <a:solidFill>
                  <a:schemeClr val="tx1"/>
                </a:solidFill>
                <a:uFillTx/>
                <a:sym typeface="+mn-ea"/>
              </a:rPr>
              <a:t>]/(2*(4.5*10</a:t>
            </a:r>
            <a:r>
              <a:rPr lang="en-US" altLang="zh-CN" baseline="30000">
                <a:solidFill>
                  <a:schemeClr val="tx1"/>
                </a:solidFill>
                <a:uFillTx/>
                <a:sym typeface="+mn-ea"/>
              </a:rPr>
              <a:t>-6</a:t>
            </a:r>
            <a:r>
              <a:rPr lang="en-US" altLang="zh-CN">
                <a:solidFill>
                  <a:schemeClr val="tx1"/>
                </a:solidFill>
                <a:uFillTx/>
                <a:sym typeface="+mn-ea"/>
              </a:rPr>
              <a:t>))=1.6 (mJ)</a:t>
            </a:r>
            <a:endParaRPr lang="en-US" altLang="zh-CN">
              <a:solidFill>
                <a:schemeClr val="tx1"/>
              </a:solidFill>
              <a:uFillTx/>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24"/>
          <p:cNvSpPr txBox="1"/>
          <p:nvPr/>
        </p:nvSpPr>
        <p:spPr>
          <a:xfrm>
            <a:off x="73025" y="852488"/>
            <a:ext cx="509587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2400" b="1" dirty="0">
              <a:ea typeface="Arial" panose="020B0604020202020204" pitchFamily="34" charset="0"/>
            </a:endParaRPr>
          </a:p>
        </p:txBody>
      </p:sp>
      <p:sp>
        <p:nvSpPr>
          <p:cNvPr id="30723" name="Text Box 125"/>
          <p:cNvSpPr txBox="1"/>
          <p:nvPr/>
        </p:nvSpPr>
        <p:spPr>
          <a:xfrm>
            <a:off x="417513" y="755650"/>
            <a:ext cx="7500937" cy="1568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b="1" dirty="0">
                <a:solidFill>
                  <a:srgbClr val="FF0000"/>
                </a:solidFill>
                <a:latin typeface="Arial Black" panose="020B0A04020102020204" pitchFamily="34" charset="0"/>
                <a:cs typeface="Arial" panose="020B0604020202020204" pitchFamily="34" charset="0"/>
              </a:rPr>
              <a:t> 6-2</a:t>
            </a:r>
            <a:r>
              <a:rPr lang="zh-CN" altLang="en-US" sz="2400" b="1" dirty="0">
                <a:solidFill>
                  <a:srgbClr val="FF0000"/>
                </a:solidFill>
                <a:latin typeface="Arial Black" panose="020B0A04020102020204" pitchFamily="34" charset="0"/>
                <a:cs typeface="Arial" panose="020B0604020202020204" pitchFamily="34" charset="0"/>
              </a:rPr>
              <a:t>：</a:t>
            </a:r>
            <a:endParaRPr lang="en-US" altLang="zh-CN" sz="2400" b="1" dirty="0">
              <a:solidFill>
                <a:srgbClr val="FF0000"/>
              </a:solidFill>
              <a:latin typeface="Arial Black" panose="020B0A04020102020204" pitchFamily="34" charset="0"/>
              <a:cs typeface="Arial" panose="020B0604020202020204" pitchFamily="34" charset="0"/>
            </a:endParaRP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作用在一个</a:t>
            </a:r>
            <a:r>
              <a:rPr lang="en-US" altLang="zh-CN" sz="2400" b="1" dirty="0">
                <a:latin typeface="Times New Roman" panose="02020603050405020304" pitchFamily="18" charset="0"/>
                <a:cs typeface="Arial" panose="020B0604020202020204" pitchFamily="34" charset="0"/>
              </a:rPr>
              <a:t> 5 </a:t>
            </a:r>
            <a:r>
              <a:rPr lang="en-US" altLang="zh-CN" sz="2400" b="1" dirty="0">
                <a:latin typeface="Times New Roman" panose="02020603050405020304" pitchFamily="18" charset="0"/>
                <a:ea typeface="Arial" panose="020B0604020202020204" pitchFamily="34" charset="0"/>
              </a:rPr>
              <a:t>µ</a:t>
            </a:r>
            <a:r>
              <a:rPr lang="en-US" altLang="zh-CN" sz="2400" b="1" dirty="0">
                <a:latin typeface="Times New Roman" panose="02020603050405020304" pitchFamily="18" charset="0"/>
                <a:cs typeface="Arial" panose="020B0604020202020204" pitchFamily="34" charset="0"/>
              </a:rPr>
              <a:t>F </a:t>
            </a:r>
            <a:r>
              <a:rPr lang="zh-CN" altLang="en-US" sz="2400" b="1" dirty="0">
                <a:latin typeface="Times New Roman" panose="02020603050405020304" pitchFamily="18" charset="0"/>
                <a:cs typeface="Arial" panose="020B0604020202020204" pitchFamily="34" charset="0"/>
              </a:rPr>
              <a:t>的电容上的电压为</a:t>
            </a:r>
            <a:r>
              <a:rPr lang="en-US" altLang="zh-CN" sz="2400" b="1" dirty="0">
                <a:latin typeface="Times New Roman" panose="02020603050405020304" pitchFamily="18" charset="0"/>
                <a:cs typeface="Arial" panose="020B0604020202020204" pitchFamily="34" charset="0"/>
              </a:rPr>
              <a:t> </a:t>
            </a: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计算其上的电流。</a:t>
            </a:r>
            <a:endParaRPr lang="en-US" altLang="zh-CN" sz="2400" b="1" dirty="0">
              <a:latin typeface="Times New Roman" panose="02020603050405020304" pitchFamily="18" charset="0"/>
              <a:ea typeface="Arial" panose="020B0604020202020204" pitchFamily="34" charset="0"/>
            </a:endParaRPr>
          </a:p>
        </p:txBody>
      </p:sp>
      <p:graphicFrame>
        <p:nvGraphicFramePr>
          <p:cNvPr id="30724" name="Object 126"/>
          <p:cNvGraphicFramePr>
            <a:graphicFrameLocks noChangeAspect="1"/>
          </p:cNvGraphicFramePr>
          <p:nvPr/>
        </p:nvGraphicFramePr>
        <p:xfrm>
          <a:off x="5554663" y="1311275"/>
          <a:ext cx="3275012" cy="476250"/>
        </p:xfrm>
        <a:graphic>
          <a:graphicData uri="http://schemas.openxmlformats.org/presentationml/2006/ole">
            <p:oleObj spid="_x0000_s10243" r:id="rId4" imgW="1256755" imgH="203112" progId="">
              <p:embed/>
            </p:oleObj>
          </a:graphicData>
        </a:graphic>
      </p:graphicFrame>
      <p:sp>
        <p:nvSpPr>
          <p:cNvPr id="11" name="Rectangle 127"/>
          <p:cNvSpPr/>
          <p:nvPr/>
        </p:nvSpPr>
        <p:spPr>
          <a:xfrm>
            <a:off x="417513" y="4314825"/>
            <a:ext cx="319087" cy="461963"/>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12" name="Rectangle 129"/>
          <p:cNvSpPr/>
          <p:nvPr/>
        </p:nvSpPr>
        <p:spPr>
          <a:xfrm>
            <a:off x="966788" y="4416425"/>
            <a:ext cx="319087" cy="461963"/>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
        <p:nvSpPr>
          <p:cNvPr id="14" name="矩形 13"/>
          <p:cNvSpPr/>
          <p:nvPr/>
        </p:nvSpPr>
        <p:spPr>
          <a:xfrm>
            <a:off x="323850" y="2984500"/>
            <a:ext cx="9144000" cy="3324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E5"/>
                </a:solidFill>
                <a:latin typeface="Times New Roman" panose="02020603050405020304" pitchFamily="18" charset="0"/>
                <a:cs typeface="Arial" panose="020B0604020202020204" pitchFamily="34" charset="0"/>
              </a:rPr>
              <a:t>解</a:t>
            </a:r>
            <a:r>
              <a:rPr lang="en-US" altLang="zh-CN" sz="2400" b="1" dirty="0">
                <a:solidFill>
                  <a:srgbClr val="0000E5"/>
                </a:solidFill>
                <a:latin typeface="Times New Roman" panose="02020603050405020304" pitchFamily="18" charset="0"/>
                <a:cs typeface="Arial" panose="020B0604020202020204" pitchFamily="34" charset="0"/>
              </a:rPr>
              <a:t>:</a:t>
            </a: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r>
              <a:rPr lang="zh-CN" altLang="en-US" sz="2000" b="1" dirty="0">
                <a:latin typeface="Times New Roman" panose="02020603050405020304" pitchFamily="18" charset="0"/>
                <a:ea typeface="楷体_GB2312" pitchFamily="49" charset="-122"/>
              </a:rPr>
              <a:t>观察</a:t>
            </a:r>
            <a:r>
              <a:rPr lang="zh-CN" altLang="en-US" sz="2000" b="1" dirty="0">
                <a:latin typeface="楷体_GB2312" pitchFamily="49" charset="-122"/>
                <a:ea typeface="楷体_GB2312" pitchFamily="49" charset="-122"/>
              </a:rPr>
              <a:t>：电容器上 </a:t>
            </a:r>
            <a:r>
              <a:rPr lang="en-US" altLang="zh-CN" sz="2000" b="1" i="1" dirty="0">
                <a:solidFill>
                  <a:srgbClr val="FF0000"/>
                </a:solidFill>
                <a:latin typeface="Times New Roman" panose="02020603050405020304" pitchFamily="18" charset="0"/>
                <a:ea typeface="楷体_GB2312" pitchFamily="49" charset="-122"/>
              </a:rPr>
              <a:t>i </a:t>
            </a:r>
            <a:r>
              <a:rPr lang="zh-CN" altLang="en-US" sz="2000" b="1" dirty="0">
                <a:solidFill>
                  <a:srgbClr val="FF0000"/>
                </a:solidFill>
                <a:latin typeface="楷体_GB2312" pitchFamily="49" charset="-122"/>
                <a:ea typeface="楷体_GB2312" pitchFamily="49" charset="-122"/>
              </a:rPr>
              <a:t>超前</a:t>
            </a:r>
            <a:r>
              <a:rPr lang="en-US" altLang="zh-CN" sz="2000" b="1" i="1" dirty="0">
                <a:solidFill>
                  <a:srgbClr val="FF0000"/>
                </a:solidFill>
                <a:latin typeface="Times New Roman" panose="02020603050405020304" pitchFamily="18" charset="0"/>
                <a:ea typeface="楷体_GB2312" pitchFamily="49" charset="-122"/>
              </a:rPr>
              <a:t>v </a:t>
            </a:r>
            <a:r>
              <a:rPr lang="en-US" altLang="zh-CN" sz="2000" b="1" dirty="0">
                <a:solidFill>
                  <a:srgbClr val="FF0000"/>
                </a:solidFill>
                <a:latin typeface="楷体_GB2312" pitchFamily="49" charset="-122"/>
                <a:ea typeface="楷体_GB2312" pitchFamily="49" charset="-122"/>
              </a:rPr>
              <a:t>90</a:t>
            </a:r>
            <a:r>
              <a:rPr lang="en-US" altLang="zh-CN" sz="2000" b="1" baseline="30000" dirty="0">
                <a:solidFill>
                  <a:srgbClr val="FF0000"/>
                </a:solidFill>
                <a:latin typeface="楷体_GB2312" pitchFamily="49" charset="-122"/>
                <a:ea typeface="楷体_GB2312" pitchFamily="49" charset="-122"/>
              </a:rPr>
              <a:t>0</a:t>
            </a:r>
            <a:r>
              <a:rPr lang="en-US" altLang="zh-CN" sz="2000" b="1" dirty="0">
                <a:solidFill>
                  <a:schemeClr val="accent1"/>
                </a:solidFill>
                <a:latin typeface="楷体_GB2312" pitchFamily="49" charset="-122"/>
                <a:ea typeface="楷体_GB2312" pitchFamily="49" charset="-122"/>
              </a:rPr>
              <a:t>(</a:t>
            </a:r>
            <a:r>
              <a:rPr lang="zh-CN" altLang="en-US" sz="2000" b="1" dirty="0">
                <a:solidFill>
                  <a:schemeClr val="accent1"/>
                </a:solidFill>
                <a:latin typeface="楷体_GB2312" pitchFamily="49" charset="-122"/>
                <a:ea typeface="楷体_GB2312" pitchFamily="49" charset="-122"/>
              </a:rPr>
              <a:t>图）</a:t>
            </a:r>
            <a:endParaRPr lang="zh-CN" altLang="en-US" sz="2800" b="1" dirty="0">
              <a:solidFill>
                <a:schemeClr val="accent1"/>
              </a:solidFill>
              <a:latin typeface="楷体_GB2312" pitchFamily="49" charset="-122"/>
              <a:ea typeface="楷体_GB2312" pitchFamily="49" charset="-122"/>
            </a:endParaRPr>
          </a:p>
        </p:txBody>
      </p:sp>
      <p:graphicFrame>
        <p:nvGraphicFramePr>
          <p:cNvPr id="13" name="Object 130"/>
          <p:cNvGraphicFramePr>
            <a:graphicFrameLocks noChangeAspect="1"/>
          </p:cNvGraphicFramePr>
          <p:nvPr/>
        </p:nvGraphicFramePr>
        <p:xfrm>
          <a:off x="1331595" y="2564448"/>
          <a:ext cx="6283325" cy="1422400"/>
        </p:xfrm>
        <a:graphic>
          <a:graphicData uri="http://schemas.openxmlformats.org/presentationml/2006/ole">
            <p:oleObj spid="_x0000_s10244" r:id="rId5" imgW="2590560" imgH="609480" progId="">
              <p:embed/>
            </p:oleObj>
          </a:graphicData>
        </a:graphic>
      </p:graphicFrame>
      <p:sp>
        <p:nvSpPr>
          <p:cNvPr id="2" name="文本框 1"/>
          <p:cNvSpPr txBox="1"/>
          <p:nvPr/>
        </p:nvSpPr>
        <p:spPr>
          <a:xfrm>
            <a:off x="1219200" y="4288790"/>
            <a:ext cx="6095365" cy="368300"/>
          </a:xfrm>
          <a:prstGeom prst="rect">
            <a:avLst/>
          </a:prstGeom>
          <a:noFill/>
        </p:spPr>
        <p:txBody>
          <a:bodyPr wrap="square" rtlCol="0">
            <a:spAutoFit/>
          </a:bodyPr>
          <a:lstStyle/>
          <a:p>
            <a:r>
              <a:rPr lang="zh-CN" altLang="en-US"/>
              <a:t>？上面的式子的第一个等号后面有错。改为如下：</a:t>
            </a:r>
          </a:p>
        </p:txBody>
      </p:sp>
      <p:sp>
        <p:nvSpPr>
          <p:cNvPr id="3" name="文本框 2"/>
          <p:cNvSpPr txBox="1"/>
          <p:nvPr/>
        </p:nvSpPr>
        <p:spPr>
          <a:xfrm>
            <a:off x="1115695" y="4652645"/>
            <a:ext cx="6899910" cy="460375"/>
          </a:xfrm>
          <a:prstGeom prst="rect">
            <a:avLst/>
          </a:prstGeom>
          <a:noFill/>
        </p:spPr>
        <p:txBody>
          <a:bodyPr wrap="square" rtlCol="0">
            <a:spAutoFit/>
          </a:bodyPr>
          <a:lstStyle/>
          <a:p>
            <a:r>
              <a:rPr lang="en-US" altLang="zh-CN" sz="2400"/>
              <a:t>=-5x10</a:t>
            </a:r>
            <a:r>
              <a:rPr lang="en-US" altLang="zh-CN" sz="2400" baseline="30000">
                <a:solidFill>
                  <a:srgbClr val="FF0000"/>
                </a:solidFill>
                <a:uFillTx/>
              </a:rPr>
              <a:t>-6</a:t>
            </a:r>
            <a:r>
              <a:rPr lang="en-US" altLang="zh-CN" sz="2400">
                <a:sym typeface="+mn-ea"/>
              </a:rPr>
              <a:t>x10x6000xsin6000t(A)=-0.3sin6000t(A)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Effect transition="in" filter="box(in)">
                                      <p:cBhvr>
                                        <p:cTn id="7" dur="1000"/>
                                        <p:tgtEl>
                                          <p:spTgt spid="11"/>
                                        </p:tgtEl>
                                      </p:cBhvr>
                                    </p:animEffect>
                                  </p:childTnLst>
                                </p:cTn>
                              </p:par>
                              <p:par>
                                <p:cTn id="8" presetID="4" presetClass="entr" presetSubtype="16" fill="hold" grpId="0" nodeType="withEffect" nodePh="1">
                                  <p:stCondLst>
                                    <p:cond delay="0"/>
                                  </p:stCondLst>
                                  <p:endCondLst>
                                    <p:cond evt="begin" delay="0">
                                      <p:tn val="8"/>
                                    </p:cond>
                                  </p:endCondLst>
                                  <p:childTnLst>
                                    <p:set>
                                      <p:cBhvr>
                                        <p:cTn id="9" dur="1" fill="hold">
                                          <p:stCondLst>
                                            <p:cond delay="0"/>
                                          </p:stCondLst>
                                        </p:cTn>
                                        <p:tgtEl>
                                          <p:spTgt spid="12"/>
                                        </p:tgtEl>
                                        <p:attrNameLst>
                                          <p:attrName>style.visibility</p:attrName>
                                        </p:attrNameLst>
                                      </p:cBhvr>
                                      <p:to>
                                        <p:strVal val="visible"/>
                                      </p:to>
                                    </p:set>
                                    <p:animEffect transition="in" filter="box(in)">
                                      <p:cBhvr>
                                        <p:cTn id="10" dur="1000"/>
                                        <p:tgtEl>
                                          <p:spTgt spid="12"/>
                                        </p:tgtEl>
                                      </p:cBhvr>
                                    </p:animEffect>
                                  </p:childTnLst>
                                </p:cTn>
                              </p:par>
                              <p:par>
                                <p:cTn id="11" presetID="4" presetClass="entr" presetSubtype="16"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1000"/>
                                        <p:tgtEl>
                                          <p:spTgt spid="13"/>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ox(in)">
                                      <p:cBhvr>
                                        <p:cTn id="16" dur="10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2" grpId="0"/>
      <p:bldP spid="2" grpId="1"/>
      <p:bldP spid="3" grpId="0"/>
      <p:bldP spid="3"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9385" y="586740"/>
            <a:ext cx="8813165" cy="5280660"/>
          </a:xfrm>
        </p:spPr>
        <p:txBody>
          <a:bodyPr/>
          <a:lstStyle/>
          <a:p>
            <a:r>
              <a:rPr lang="zh-CN" altLang="en-US" sz="2800"/>
              <a:t>“纯电容电路，电流的相位超前电压90度”的意思是：在电容上的电流最大时电压为0，电压最大时电流为0。</a:t>
            </a:r>
          </a:p>
          <a:p>
            <a:r>
              <a:rPr lang="zh-CN" altLang="en-US" sz="2800"/>
              <a:t>对于直流电来说，当电容两端加上直流电压时的瞬间，会有很大的电流，但是电压则是随着电容充电量的增加而逐渐增加的。</a:t>
            </a:r>
          </a:p>
          <a:p>
            <a:r>
              <a:rPr lang="zh-CN" altLang="en-US" sz="2800"/>
              <a:t>对于正弦交流电来说，同样满足上面的电压电流关系，但是注意，电流或电压为0时是没有正负的，电流或电压最大时可能是正，也可能是负。</a:t>
            </a:r>
          </a:p>
          <a:p>
            <a:r>
              <a:rPr lang="zh-CN" altLang="en-US" sz="2800"/>
              <a:t>另外是先有电流才会给电容充电，充了电才会有电荷，有了电荷才有的电压，所以通常说电流超前电压90°，而不说电流滞后电压270°。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4"/>
          <p:cNvSpPr txBox="1">
            <a:spLocks noChangeArrowheads="1"/>
          </p:cNvSpPr>
          <p:nvPr/>
        </p:nvSpPr>
        <p:spPr bwMode="auto">
          <a:xfrm>
            <a:off x="354013" y="546100"/>
            <a:ext cx="8004175" cy="1938020"/>
          </a:xfrm>
          <a:prstGeom prst="rect">
            <a:avLst/>
          </a:prstGeom>
          <a:noFill/>
          <a:ln w="9525">
            <a:noFill/>
            <a:miter lim="800000"/>
          </a:ln>
        </p:spPr>
        <p:txBody>
          <a:bodyPr>
            <a:spAutoFit/>
          </a:bodyPr>
          <a:lstStyle/>
          <a:p>
            <a:pPr marR="0" defTabSz="914400" eaLnBrk="1" hangingPunct="1">
              <a:spcBef>
                <a:spcPct val="50000"/>
              </a:spcBef>
              <a:buClrTx/>
              <a:buSzTx/>
              <a:buFontTx/>
              <a:buNone/>
              <a:defRPr/>
            </a:pPr>
            <a:r>
              <a:rPr kumimoji="0" lang="zh-CN" altLang="en-US" sz="2400" b="1" kern="1200" cap="none" spc="0" normalizeH="0" baseline="0" noProof="0" dirty="0">
                <a:solidFill>
                  <a:srgbClr val="FF0000"/>
                </a:solidFill>
                <a:latin typeface="Arial Black" panose="020B0A04020102020204" pitchFamily="34" charset="0"/>
                <a:ea typeface="宋体" panose="02010600030101010101" pitchFamily="2" charset="-122"/>
                <a:cs typeface="+mn-cs"/>
              </a:rPr>
              <a:t>例</a:t>
            </a:r>
            <a:r>
              <a:rPr kumimoji="0" lang="en-US" altLang="zh-CN" sz="2400" b="1" kern="1200" cap="none" spc="0" normalizeH="0" baseline="0" noProof="0" dirty="0">
                <a:solidFill>
                  <a:srgbClr val="FF0000"/>
                </a:solidFill>
                <a:latin typeface="Arial Black" panose="020B0A04020102020204" pitchFamily="34" charset="0"/>
                <a:ea typeface="宋体" panose="02010600030101010101" pitchFamily="2" charset="-122"/>
                <a:cs typeface="+mn-cs"/>
              </a:rPr>
              <a:t> 6-4</a:t>
            </a:r>
            <a:r>
              <a:rPr kumimoji="0" lang="zh-CN" altLang="en-US" sz="2400" b="1" kern="1200" cap="none" spc="0" normalizeH="0" baseline="0" noProof="0" dirty="0">
                <a:solidFill>
                  <a:srgbClr val="FF0000"/>
                </a:solidFill>
                <a:latin typeface="Arial Black" panose="020B0A04020102020204" pitchFamily="34" charset="0"/>
                <a:ea typeface="宋体" panose="02010600030101010101" pitchFamily="2" charset="-122"/>
                <a:cs typeface="+mn-cs"/>
              </a:rPr>
              <a:t>：</a:t>
            </a:r>
            <a:r>
              <a:rPr kumimoji="0" lang="zh-CN" altLang="en-US" sz="2400" b="1" kern="1200" cap="none" spc="0" normalizeH="0" baseline="0" noProof="0" dirty="0">
                <a:solidFill>
                  <a:schemeClr val="bg1">
                    <a:lumMod val="50000"/>
                  </a:schemeClr>
                </a:solidFill>
                <a:latin typeface="Arial Black" panose="020B0A04020102020204" pitchFamily="34" charset="0"/>
                <a:ea typeface="宋体" panose="02010600030101010101" pitchFamily="2" charset="-122"/>
                <a:cs typeface="+mn-cs"/>
              </a:rPr>
              <a:t>（略）</a:t>
            </a:r>
            <a:endParaRPr kumimoji="0" lang="en-US" altLang="zh-CN" sz="2400" b="1" kern="1200" cap="none" spc="0" normalizeH="0" baseline="0" noProof="0" dirty="0">
              <a:solidFill>
                <a:schemeClr val="bg1">
                  <a:lumMod val="50000"/>
                </a:schemeClr>
              </a:solidFill>
              <a:latin typeface="Arial Black" panose="020B0A040201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t>        作用在一个</a:t>
            </a:r>
            <a:r>
              <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t>200 µF</a:t>
            </a:r>
            <a:r>
              <a:rPr kumimoji="0" lang="zh-CN" altLang="en-US"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t>的电容上的电压如图所示，计算通过它的电流。</a:t>
            </a:r>
            <a:r>
              <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t> </a:t>
            </a:r>
          </a:p>
          <a:p>
            <a:pPr marR="0" defTabSz="914400" eaLnBrk="1" hangingPunct="1">
              <a:spcBef>
                <a:spcPct val="50000"/>
              </a:spcBef>
              <a:buClrTx/>
              <a:buSzTx/>
              <a:buFontTx/>
              <a:buNone/>
              <a:defRPr/>
            </a:pPr>
            <a:endPar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endParaRPr>
          </a:p>
        </p:txBody>
      </p:sp>
      <p:sp>
        <p:nvSpPr>
          <p:cNvPr id="32771" name="Line 12"/>
          <p:cNvSpPr/>
          <p:nvPr/>
        </p:nvSpPr>
        <p:spPr>
          <a:xfrm>
            <a:off x="5033963" y="2346325"/>
            <a:ext cx="0" cy="0"/>
          </a:xfrm>
          <a:prstGeom prst="line">
            <a:avLst/>
          </a:prstGeom>
          <a:ln w="9525" cap="flat" cmpd="sng">
            <a:solidFill>
              <a:schemeClr val="tx1"/>
            </a:solidFill>
            <a:prstDash val="solid"/>
            <a:headEnd type="none" w="med" len="med"/>
            <a:tailEnd type="none" w="med" len="med"/>
          </a:ln>
        </p:spPr>
      </p:sp>
      <p:grpSp>
        <p:nvGrpSpPr>
          <p:cNvPr id="32772" name="Group 40"/>
          <p:cNvGrpSpPr/>
          <p:nvPr/>
        </p:nvGrpSpPr>
        <p:grpSpPr>
          <a:xfrm>
            <a:off x="1333500" y="2767013"/>
            <a:ext cx="4356100" cy="2822575"/>
            <a:chOff x="3062" y="110"/>
            <a:chExt cx="2744" cy="1778"/>
          </a:xfrm>
        </p:grpSpPr>
        <p:grpSp>
          <p:nvGrpSpPr>
            <p:cNvPr id="32774" name="Group 35"/>
            <p:cNvGrpSpPr/>
            <p:nvPr/>
          </p:nvGrpSpPr>
          <p:grpSpPr>
            <a:xfrm>
              <a:off x="3062" y="110"/>
              <a:ext cx="2744" cy="1778"/>
              <a:chOff x="3062" y="110"/>
              <a:chExt cx="2744" cy="1778"/>
            </a:xfrm>
          </p:grpSpPr>
          <p:grpSp>
            <p:nvGrpSpPr>
              <p:cNvPr id="32779" name="Group 32"/>
              <p:cNvGrpSpPr/>
              <p:nvPr/>
            </p:nvGrpSpPr>
            <p:grpSpPr>
              <a:xfrm>
                <a:off x="3079" y="255"/>
                <a:ext cx="2545" cy="1633"/>
                <a:chOff x="3079" y="255"/>
                <a:chExt cx="2545" cy="1633"/>
              </a:xfrm>
            </p:grpSpPr>
            <p:grpSp>
              <p:nvGrpSpPr>
                <p:cNvPr id="32782" name="Group 27"/>
                <p:cNvGrpSpPr/>
                <p:nvPr/>
              </p:nvGrpSpPr>
              <p:grpSpPr>
                <a:xfrm>
                  <a:off x="3079" y="255"/>
                  <a:ext cx="2545" cy="1633"/>
                  <a:chOff x="2988" y="1706"/>
                  <a:chExt cx="2545" cy="1633"/>
                </a:xfrm>
              </p:grpSpPr>
              <p:grpSp>
                <p:nvGrpSpPr>
                  <p:cNvPr id="32787" name="Group 25"/>
                  <p:cNvGrpSpPr/>
                  <p:nvPr/>
                </p:nvGrpSpPr>
                <p:grpSpPr>
                  <a:xfrm>
                    <a:off x="2988" y="1706"/>
                    <a:ext cx="2545" cy="1633"/>
                    <a:chOff x="2988" y="1706"/>
                    <a:chExt cx="2545" cy="1633"/>
                  </a:xfrm>
                </p:grpSpPr>
                <p:grpSp>
                  <p:nvGrpSpPr>
                    <p:cNvPr id="32789" name="Group 23"/>
                    <p:cNvGrpSpPr/>
                    <p:nvPr/>
                  </p:nvGrpSpPr>
                  <p:grpSpPr>
                    <a:xfrm>
                      <a:off x="2988" y="1706"/>
                      <a:ext cx="2545" cy="1633"/>
                      <a:chOff x="2988" y="1706"/>
                      <a:chExt cx="2545" cy="1633"/>
                    </a:xfrm>
                  </p:grpSpPr>
                  <p:grpSp>
                    <p:nvGrpSpPr>
                      <p:cNvPr id="32791" name="Group 21"/>
                      <p:cNvGrpSpPr/>
                      <p:nvPr/>
                    </p:nvGrpSpPr>
                    <p:grpSpPr>
                      <a:xfrm>
                        <a:off x="2988" y="1706"/>
                        <a:ext cx="2545" cy="1633"/>
                        <a:chOff x="2988" y="1706"/>
                        <a:chExt cx="2545" cy="1633"/>
                      </a:xfrm>
                    </p:grpSpPr>
                    <p:grpSp>
                      <p:nvGrpSpPr>
                        <p:cNvPr id="32793" name="Group 17"/>
                        <p:cNvGrpSpPr/>
                        <p:nvPr/>
                      </p:nvGrpSpPr>
                      <p:grpSpPr>
                        <a:xfrm>
                          <a:off x="2988" y="1706"/>
                          <a:ext cx="2545" cy="1633"/>
                          <a:chOff x="2807" y="1706"/>
                          <a:chExt cx="2545" cy="1633"/>
                        </a:xfrm>
                      </p:grpSpPr>
                      <p:sp>
                        <p:nvSpPr>
                          <p:cNvPr id="32795" name="Line 13"/>
                          <p:cNvSpPr/>
                          <p:nvPr/>
                        </p:nvSpPr>
                        <p:spPr>
                          <a:xfrm>
                            <a:off x="3198" y="3067"/>
                            <a:ext cx="46" cy="0"/>
                          </a:xfrm>
                          <a:prstGeom prst="line">
                            <a:avLst/>
                          </a:prstGeom>
                          <a:ln w="9525" cap="flat" cmpd="sng">
                            <a:solidFill>
                              <a:schemeClr val="tx1"/>
                            </a:solidFill>
                            <a:prstDash val="solid"/>
                            <a:headEnd type="none" w="med" len="med"/>
                            <a:tailEnd type="none" w="med" len="med"/>
                          </a:ln>
                        </p:spPr>
                      </p:sp>
                      <p:grpSp>
                        <p:nvGrpSpPr>
                          <p:cNvPr id="32796" name="Group 16"/>
                          <p:cNvGrpSpPr/>
                          <p:nvPr/>
                        </p:nvGrpSpPr>
                        <p:grpSpPr>
                          <a:xfrm>
                            <a:off x="2807" y="1706"/>
                            <a:ext cx="2545" cy="1633"/>
                            <a:chOff x="2807" y="346"/>
                            <a:chExt cx="2545" cy="1633"/>
                          </a:xfrm>
                        </p:grpSpPr>
                        <p:grpSp>
                          <p:nvGrpSpPr>
                            <p:cNvPr id="32797" name="Group 11"/>
                            <p:cNvGrpSpPr/>
                            <p:nvPr/>
                          </p:nvGrpSpPr>
                          <p:grpSpPr>
                            <a:xfrm>
                              <a:off x="2880" y="346"/>
                              <a:ext cx="2472" cy="1633"/>
                              <a:chOff x="2971" y="255"/>
                              <a:chExt cx="2472" cy="1633"/>
                            </a:xfrm>
                          </p:grpSpPr>
                          <p:grpSp>
                            <p:nvGrpSpPr>
                              <p:cNvPr id="32800" name="Group 7"/>
                              <p:cNvGrpSpPr/>
                              <p:nvPr/>
                            </p:nvGrpSpPr>
                            <p:grpSpPr>
                              <a:xfrm>
                                <a:off x="3243" y="255"/>
                                <a:ext cx="2200" cy="1633"/>
                                <a:chOff x="3560" y="255"/>
                                <a:chExt cx="2200" cy="1633"/>
                              </a:xfrm>
                            </p:grpSpPr>
                            <p:sp>
                              <p:nvSpPr>
                                <p:cNvPr id="32803" name="Line 5"/>
                                <p:cNvSpPr/>
                                <p:nvPr/>
                              </p:nvSpPr>
                              <p:spPr>
                                <a:xfrm flipV="1">
                                  <a:off x="3560" y="255"/>
                                  <a:ext cx="0" cy="1633"/>
                                </a:xfrm>
                                <a:prstGeom prst="line">
                                  <a:avLst/>
                                </a:prstGeom>
                                <a:ln w="9525" cap="flat" cmpd="sng">
                                  <a:solidFill>
                                    <a:schemeClr val="tx1"/>
                                  </a:solidFill>
                                  <a:prstDash val="solid"/>
                                  <a:headEnd type="none" w="med" len="med"/>
                                  <a:tailEnd type="triangle" w="med" len="med"/>
                                </a:ln>
                              </p:spPr>
                            </p:sp>
                            <p:sp>
                              <p:nvSpPr>
                                <p:cNvPr id="32804" name="Line 6"/>
                                <p:cNvSpPr/>
                                <p:nvPr/>
                              </p:nvSpPr>
                              <p:spPr>
                                <a:xfrm>
                                  <a:off x="3560" y="1162"/>
                                  <a:ext cx="2200" cy="0"/>
                                </a:xfrm>
                                <a:prstGeom prst="line">
                                  <a:avLst/>
                                </a:prstGeom>
                                <a:ln w="9525" cap="flat" cmpd="sng">
                                  <a:solidFill>
                                    <a:schemeClr val="tx1"/>
                                  </a:solidFill>
                                  <a:prstDash val="solid"/>
                                  <a:headEnd type="none" w="med" len="med"/>
                                  <a:tailEnd type="triangle" w="med" len="med"/>
                                </a:ln>
                              </p:spPr>
                            </p:sp>
                          </p:grpSp>
                          <p:sp>
                            <p:nvSpPr>
                              <p:cNvPr id="32801" name="Text Box 8"/>
                              <p:cNvSpPr txBox="1"/>
                              <p:nvPr/>
                            </p:nvSpPr>
                            <p:spPr>
                              <a:xfrm>
                                <a:off x="2971" y="618"/>
                                <a:ext cx="36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cs typeface="Arial" panose="020B0604020202020204" pitchFamily="34" charset="0"/>
                                  </a:rPr>
                                  <a:t>50</a:t>
                                </a:r>
                                <a:endParaRPr lang="en-US" altLang="zh-CN" sz="2400" b="1" dirty="0">
                                  <a:ea typeface="Arial" panose="020B0604020202020204" pitchFamily="34" charset="0"/>
                                </a:endParaRPr>
                              </a:p>
                            </p:txBody>
                          </p:sp>
                          <p:sp>
                            <p:nvSpPr>
                              <p:cNvPr id="32802" name="Line 10"/>
                              <p:cNvSpPr/>
                              <p:nvPr/>
                            </p:nvSpPr>
                            <p:spPr>
                              <a:xfrm>
                                <a:off x="3243" y="709"/>
                                <a:ext cx="45" cy="0"/>
                              </a:xfrm>
                              <a:prstGeom prst="line">
                                <a:avLst/>
                              </a:prstGeom>
                              <a:ln w="9525" cap="flat" cmpd="sng">
                                <a:solidFill>
                                  <a:schemeClr val="tx1"/>
                                </a:solidFill>
                                <a:prstDash val="solid"/>
                                <a:headEnd type="none" w="med" len="med"/>
                                <a:tailEnd type="none" w="med" len="med"/>
                              </a:ln>
                            </p:spPr>
                          </p:sp>
                        </p:grpSp>
                        <p:sp>
                          <p:nvSpPr>
                            <p:cNvPr id="32798" name="Text Box 14"/>
                            <p:cNvSpPr txBox="1"/>
                            <p:nvPr/>
                          </p:nvSpPr>
                          <p:spPr>
                            <a:xfrm>
                              <a:off x="2807" y="1573"/>
                              <a:ext cx="408"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-50</a:t>
                              </a:r>
                              <a:endParaRPr lang="en-US" altLang="zh-CN" sz="2400" b="1" dirty="0">
                                <a:ea typeface="Arial" panose="020B0604020202020204" pitchFamily="34" charset="0"/>
                              </a:endParaRPr>
                            </a:p>
                          </p:txBody>
                        </p:sp>
                        <p:sp>
                          <p:nvSpPr>
                            <p:cNvPr id="32799" name="Text Box 15"/>
                            <p:cNvSpPr txBox="1"/>
                            <p:nvPr/>
                          </p:nvSpPr>
                          <p:spPr>
                            <a:xfrm>
                              <a:off x="2925" y="1117"/>
                              <a:ext cx="36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0</a:t>
                              </a:r>
                              <a:endParaRPr lang="en-US" altLang="zh-CN" sz="2400" b="1" dirty="0">
                                <a:ea typeface="Arial" panose="020B0604020202020204" pitchFamily="34" charset="0"/>
                              </a:endParaRPr>
                            </a:p>
                          </p:txBody>
                        </p:sp>
                      </p:grpSp>
                    </p:grpSp>
                    <p:sp>
                      <p:nvSpPr>
                        <p:cNvPr id="32794" name="Line 19"/>
                        <p:cNvSpPr/>
                        <p:nvPr/>
                      </p:nvSpPr>
                      <p:spPr>
                        <a:xfrm flipV="1">
                          <a:off x="3787" y="2568"/>
                          <a:ext cx="0" cy="46"/>
                        </a:xfrm>
                        <a:prstGeom prst="line">
                          <a:avLst/>
                        </a:prstGeom>
                        <a:ln w="9525" cap="flat" cmpd="sng">
                          <a:solidFill>
                            <a:schemeClr val="tx1"/>
                          </a:solidFill>
                          <a:prstDash val="solid"/>
                          <a:headEnd type="none" w="med" len="med"/>
                          <a:tailEnd type="none" w="med" len="med"/>
                        </a:ln>
                      </p:spPr>
                    </p:sp>
                  </p:grpSp>
                  <p:sp>
                    <p:nvSpPr>
                      <p:cNvPr id="32792" name="Line 22"/>
                      <p:cNvSpPr/>
                      <p:nvPr/>
                    </p:nvSpPr>
                    <p:spPr>
                      <a:xfrm flipV="1">
                        <a:off x="4241" y="2568"/>
                        <a:ext cx="0" cy="46"/>
                      </a:xfrm>
                      <a:prstGeom prst="line">
                        <a:avLst/>
                      </a:prstGeom>
                      <a:ln w="9525" cap="flat" cmpd="sng">
                        <a:solidFill>
                          <a:schemeClr val="tx1"/>
                        </a:solidFill>
                        <a:prstDash val="solid"/>
                        <a:headEnd type="none" w="med" len="med"/>
                        <a:tailEnd type="none" w="med" len="med"/>
                      </a:ln>
                    </p:spPr>
                  </p:sp>
                </p:grpSp>
                <p:sp>
                  <p:nvSpPr>
                    <p:cNvPr id="32790" name="Line 24"/>
                    <p:cNvSpPr/>
                    <p:nvPr/>
                  </p:nvSpPr>
                  <p:spPr>
                    <a:xfrm flipV="1">
                      <a:off x="4694" y="2568"/>
                      <a:ext cx="0" cy="46"/>
                    </a:xfrm>
                    <a:prstGeom prst="line">
                      <a:avLst/>
                    </a:prstGeom>
                    <a:ln w="9525" cap="flat" cmpd="sng">
                      <a:solidFill>
                        <a:schemeClr val="tx1"/>
                      </a:solidFill>
                      <a:prstDash val="solid"/>
                      <a:headEnd type="none" w="med" len="med"/>
                      <a:tailEnd type="none" w="med" len="med"/>
                    </a:ln>
                  </p:spPr>
                </p:sp>
              </p:grpSp>
              <p:sp>
                <p:nvSpPr>
                  <p:cNvPr id="32788" name="Line 26"/>
                  <p:cNvSpPr/>
                  <p:nvPr/>
                </p:nvSpPr>
                <p:spPr>
                  <a:xfrm flipV="1">
                    <a:off x="5148" y="2568"/>
                    <a:ext cx="0" cy="46"/>
                  </a:xfrm>
                  <a:prstGeom prst="line">
                    <a:avLst/>
                  </a:prstGeom>
                  <a:ln w="9525" cap="flat" cmpd="sng">
                    <a:solidFill>
                      <a:schemeClr val="tx1"/>
                    </a:solidFill>
                    <a:prstDash val="solid"/>
                    <a:headEnd type="none" w="med" len="med"/>
                    <a:tailEnd type="none" w="med" len="med"/>
                  </a:ln>
                </p:spPr>
              </p:sp>
            </p:grpSp>
            <p:sp>
              <p:nvSpPr>
                <p:cNvPr id="32783" name="Text Box 28"/>
                <p:cNvSpPr txBox="1"/>
                <p:nvPr/>
              </p:nvSpPr>
              <p:spPr>
                <a:xfrm>
                  <a:off x="3787"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cs typeface="Arial" panose="020B0604020202020204" pitchFamily="34" charset="0"/>
                    </a:rPr>
                    <a:t>1</a:t>
                  </a:r>
                  <a:endParaRPr lang="en-US" altLang="zh-CN" sz="2400" b="1" dirty="0">
                    <a:ea typeface="Arial" panose="020B0604020202020204" pitchFamily="34" charset="0"/>
                  </a:endParaRPr>
                </a:p>
              </p:txBody>
            </p:sp>
            <p:sp>
              <p:nvSpPr>
                <p:cNvPr id="32784" name="Text Box 29"/>
                <p:cNvSpPr txBox="1"/>
                <p:nvPr/>
              </p:nvSpPr>
              <p:spPr>
                <a:xfrm>
                  <a:off x="4241"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2</a:t>
                  </a:r>
                  <a:endParaRPr lang="en-US" altLang="zh-CN" sz="2400" b="1" dirty="0">
                    <a:ea typeface="Arial" panose="020B0604020202020204" pitchFamily="34" charset="0"/>
                  </a:endParaRPr>
                </a:p>
              </p:txBody>
            </p:sp>
            <p:sp>
              <p:nvSpPr>
                <p:cNvPr id="32785" name="Text Box 30"/>
                <p:cNvSpPr txBox="1"/>
                <p:nvPr/>
              </p:nvSpPr>
              <p:spPr>
                <a:xfrm>
                  <a:off x="4694"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3</a:t>
                  </a:r>
                  <a:endParaRPr lang="en-US" altLang="zh-CN" sz="2400" b="1" dirty="0">
                    <a:ea typeface="Arial" panose="020B0604020202020204" pitchFamily="34" charset="0"/>
                  </a:endParaRPr>
                </a:p>
              </p:txBody>
            </p:sp>
            <p:sp>
              <p:nvSpPr>
                <p:cNvPr id="32786" name="Text Box 31"/>
                <p:cNvSpPr txBox="1"/>
                <p:nvPr/>
              </p:nvSpPr>
              <p:spPr>
                <a:xfrm>
                  <a:off x="5148"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4</a:t>
                  </a:r>
                  <a:endParaRPr lang="en-US" altLang="zh-CN" sz="2400" b="1" dirty="0">
                    <a:ea typeface="Arial" panose="020B0604020202020204" pitchFamily="34" charset="0"/>
                  </a:endParaRPr>
                </a:p>
              </p:txBody>
            </p:sp>
          </p:grpSp>
          <p:sp>
            <p:nvSpPr>
              <p:cNvPr id="32780" name="Text Box 33"/>
              <p:cNvSpPr txBox="1"/>
              <p:nvPr/>
            </p:nvSpPr>
            <p:spPr>
              <a:xfrm>
                <a:off x="5624" y="1123"/>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t</a:t>
                </a:r>
                <a:endParaRPr lang="en-US" altLang="zh-CN" sz="2400" b="1" dirty="0">
                  <a:latin typeface="Monotype Corsiva" panose="03010101010201010101" pitchFamily="66" charset="0"/>
                  <a:ea typeface="Arial" panose="020B0604020202020204" pitchFamily="34" charset="0"/>
                </a:endParaRPr>
              </a:p>
            </p:txBody>
          </p:sp>
          <p:sp>
            <p:nvSpPr>
              <p:cNvPr id="32781" name="Text Box 34"/>
              <p:cNvSpPr txBox="1"/>
              <p:nvPr/>
            </p:nvSpPr>
            <p:spPr>
              <a:xfrm>
                <a:off x="3062" y="110"/>
                <a:ext cx="317"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v(t)</a:t>
                </a:r>
                <a:endParaRPr lang="en-US" altLang="zh-CN" sz="2400" b="1" dirty="0">
                  <a:latin typeface="Monotype Corsiva" panose="03010101010201010101" pitchFamily="66" charset="0"/>
                  <a:ea typeface="Arial" panose="020B0604020202020204" pitchFamily="34" charset="0"/>
                </a:endParaRPr>
              </a:p>
            </p:txBody>
          </p:sp>
        </p:grpSp>
        <p:grpSp>
          <p:nvGrpSpPr>
            <p:cNvPr id="32775" name="Group 39"/>
            <p:cNvGrpSpPr/>
            <p:nvPr/>
          </p:nvGrpSpPr>
          <p:grpSpPr>
            <a:xfrm>
              <a:off x="3424" y="709"/>
              <a:ext cx="1815" cy="907"/>
              <a:chOff x="3424" y="709"/>
              <a:chExt cx="1815" cy="907"/>
            </a:xfrm>
          </p:grpSpPr>
          <p:sp>
            <p:nvSpPr>
              <p:cNvPr id="32776" name="Line 36"/>
              <p:cNvSpPr/>
              <p:nvPr/>
            </p:nvSpPr>
            <p:spPr>
              <a:xfrm flipV="1">
                <a:off x="3424" y="709"/>
                <a:ext cx="454" cy="408"/>
              </a:xfrm>
              <a:prstGeom prst="line">
                <a:avLst/>
              </a:prstGeom>
              <a:ln w="9525" cap="flat" cmpd="sng">
                <a:solidFill>
                  <a:schemeClr val="tx1"/>
                </a:solidFill>
                <a:prstDash val="solid"/>
                <a:headEnd type="none" w="med" len="med"/>
                <a:tailEnd type="none" w="med" len="med"/>
              </a:ln>
            </p:spPr>
          </p:sp>
          <p:sp>
            <p:nvSpPr>
              <p:cNvPr id="32777" name="Line 37"/>
              <p:cNvSpPr/>
              <p:nvPr/>
            </p:nvSpPr>
            <p:spPr>
              <a:xfrm>
                <a:off x="3878" y="709"/>
                <a:ext cx="907" cy="907"/>
              </a:xfrm>
              <a:prstGeom prst="line">
                <a:avLst/>
              </a:prstGeom>
              <a:ln w="9525" cap="flat" cmpd="sng">
                <a:solidFill>
                  <a:schemeClr val="tx1"/>
                </a:solidFill>
                <a:prstDash val="solid"/>
                <a:headEnd type="none" w="med" len="med"/>
                <a:tailEnd type="none" w="med" len="med"/>
              </a:ln>
            </p:spPr>
          </p:sp>
          <p:sp>
            <p:nvSpPr>
              <p:cNvPr id="32778" name="Line 38"/>
              <p:cNvSpPr/>
              <p:nvPr/>
            </p:nvSpPr>
            <p:spPr>
              <a:xfrm flipV="1">
                <a:off x="4785" y="1162"/>
                <a:ext cx="454" cy="454"/>
              </a:xfrm>
              <a:prstGeom prst="line">
                <a:avLst/>
              </a:prstGeom>
              <a:ln w="9525" cap="flat" cmpd="sng">
                <a:solidFill>
                  <a:schemeClr val="tx1"/>
                </a:solidFill>
                <a:prstDash val="solid"/>
                <a:headEnd type="none" w="med" len="med"/>
                <a:tailEnd type="none" w="med" len="med"/>
              </a:ln>
            </p:spPr>
          </p:sp>
        </p:grpSp>
      </p:grpSp>
      <p:sp>
        <p:nvSpPr>
          <p:cNvPr id="32773" name="Rectangle 81"/>
          <p:cNvSpPr/>
          <p:nvPr/>
        </p:nvSpPr>
        <p:spPr>
          <a:xfrm>
            <a:off x="3462338" y="4589463"/>
            <a:ext cx="184150" cy="46196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1157288"/>
            <a:ext cx="8572500" cy="1568450"/>
          </a:xfrm>
          <a:prstGeom prst="rect">
            <a:avLst/>
          </a:prstGeom>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accent5">
                    <a:lumMod val="50000"/>
                  </a:schemeClr>
                </a:solidFill>
                <a:effectLst/>
                <a:uLnTx/>
                <a:uFillTx/>
                <a:latin typeface="Times New Roman" panose="02020603050405020304" pitchFamily="18" charset="0"/>
                <a:ea typeface="宋体" panose="02010600030101010101" pitchFamily="2" charset="-122"/>
                <a:cs typeface="+mn-cs"/>
              </a:rPr>
              <a:t>解</a:t>
            </a:r>
            <a:r>
              <a:rPr kumimoji="0" lang="en-US" altLang="zh-CN" sz="2400" b="1" i="0" u="none" strike="noStrike" kern="1200" cap="none" spc="0" normalizeH="0" baseline="0" noProof="0" dirty="0">
                <a:ln>
                  <a:noFill/>
                </a:ln>
                <a:solidFill>
                  <a:schemeClr val="accent5">
                    <a:lumMod val="50000"/>
                  </a:schemeClr>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电压波形可以用</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分段函数表示：</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33795" name="Object 2"/>
          <p:cNvGraphicFramePr>
            <a:graphicFrameLocks noChangeAspect="1"/>
          </p:cNvGraphicFramePr>
          <p:nvPr/>
        </p:nvGraphicFramePr>
        <p:xfrm>
          <a:off x="187167" y="3394075"/>
          <a:ext cx="4269105" cy="1939925"/>
        </p:xfrm>
        <a:graphic>
          <a:graphicData uri="http://schemas.openxmlformats.org/presentationml/2006/ole">
            <p:oleObj spid="_x0000_s11266" r:id="rId3" imgW="2184120" imgH="990360" progId="">
              <p:embed/>
            </p:oleObj>
          </a:graphicData>
        </a:graphic>
      </p:graphicFrame>
      <p:grpSp>
        <p:nvGrpSpPr>
          <p:cNvPr id="33796" name="Group 40"/>
          <p:cNvGrpSpPr/>
          <p:nvPr/>
        </p:nvGrpSpPr>
        <p:grpSpPr>
          <a:xfrm>
            <a:off x="4703763" y="1844675"/>
            <a:ext cx="4068762" cy="2592388"/>
            <a:chOff x="3061" y="255"/>
            <a:chExt cx="2563" cy="1633"/>
          </a:xfrm>
        </p:grpSpPr>
        <p:grpSp>
          <p:nvGrpSpPr>
            <p:cNvPr id="33797" name="Group 35"/>
            <p:cNvGrpSpPr/>
            <p:nvPr/>
          </p:nvGrpSpPr>
          <p:grpSpPr>
            <a:xfrm>
              <a:off x="3061" y="255"/>
              <a:ext cx="2563" cy="1633"/>
              <a:chOff x="3061" y="255"/>
              <a:chExt cx="2563" cy="1633"/>
            </a:xfrm>
          </p:grpSpPr>
          <p:grpSp>
            <p:nvGrpSpPr>
              <p:cNvPr id="33802" name="Group 32"/>
              <p:cNvGrpSpPr/>
              <p:nvPr/>
            </p:nvGrpSpPr>
            <p:grpSpPr>
              <a:xfrm>
                <a:off x="3152" y="255"/>
                <a:ext cx="2472" cy="1633"/>
                <a:chOff x="3152" y="255"/>
                <a:chExt cx="2472" cy="1633"/>
              </a:xfrm>
            </p:grpSpPr>
            <p:grpSp>
              <p:nvGrpSpPr>
                <p:cNvPr id="33805" name="Group 27"/>
                <p:cNvGrpSpPr/>
                <p:nvPr/>
              </p:nvGrpSpPr>
              <p:grpSpPr>
                <a:xfrm>
                  <a:off x="3152" y="255"/>
                  <a:ext cx="2472" cy="1633"/>
                  <a:chOff x="3061" y="1706"/>
                  <a:chExt cx="2472" cy="1633"/>
                </a:xfrm>
              </p:grpSpPr>
              <p:grpSp>
                <p:nvGrpSpPr>
                  <p:cNvPr id="33810" name="Group 25"/>
                  <p:cNvGrpSpPr/>
                  <p:nvPr/>
                </p:nvGrpSpPr>
                <p:grpSpPr>
                  <a:xfrm>
                    <a:off x="3061" y="1706"/>
                    <a:ext cx="2472" cy="1633"/>
                    <a:chOff x="3061" y="1706"/>
                    <a:chExt cx="2472" cy="1633"/>
                  </a:xfrm>
                </p:grpSpPr>
                <p:grpSp>
                  <p:nvGrpSpPr>
                    <p:cNvPr id="33812" name="Group 23"/>
                    <p:cNvGrpSpPr/>
                    <p:nvPr/>
                  </p:nvGrpSpPr>
                  <p:grpSpPr>
                    <a:xfrm>
                      <a:off x="3061" y="1706"/>
                      <a:ext cx="2472" cy="1633"/>
                      <a:chOff x="3061" y="1706"/>
                      <a:chExt cx="2472" cy="1633"/>
                    </a:xfrm>
                  </p:grpSpPr>
                  <p:grpSp>
                    <p:nvGrpSpPr>
                      <p:cNvPr id="33814" name="Group 21"/>
                      <p:cNvGrpSpPr/>
                      <p:nvPr/>
                    </p:nvGrpSpPr>
                    <p:grpSpPr>
                      <a:xfrm>
                        <a:off x="3061" y="1706"/>
                        <a:ext cx="2472" cy="1633"/>
                        <a:chOff x="3061" y="1706"/>
                        <a:chExt cx="2472" cy="1633"/>
                      </a:xfrm>
                    </p:grpSpPr>
                    <p:grpSp>
                      <p:nvGrpSpPr>
                        <p:cNvPr id="33816" name="Group 17"/>
                        <p:cNvGrpSpPr/>
                        <p:nvPr/>
                      </p:nvGrpSpPr>
                      <p:grpSpPr>
                        <a:xfrm>
                          <a:off x="3061" y="1706"/>
                          <a:ext cx="2472" cy="1633"/>
                          <a:chOff x="2880" y="1706"/>
                          <a:chExt cx="2472" cy="1633"/>
                        </a:xfrm>
                      </p:grpSpPr>
                      <p:sp>
                        <p:nvSpPr>
                          <p:cNvPr id="33818" name="Line 13"/>
                          <p:cNvSpPr/>
                          <p:nvPr/>
                        </p:nvSpPr>
                        <p:spPr>
                          <a:xfrm>
                            <a:off x="3198" y="3067"/>
                            <a:ext cx="46" cy="0"/>
                          </a:xfrm>
                          <a:prstGeom prst="line">
                            <a:avLst/>
                          </a:prstGeom>
                          <a:ln w="9525" cap="flat" cmpd="sng">
                            <a:solidFill>
                              <a:schemeClr val="tx1"/>
                            </a:solidFill>
                            <a:prstDash val="solid"/>
                            <a:headEnd type="none" w="med" len="med"/>
                            <a:tailEnd type="none" w="med" len="med"/>
                          </a:ln>
                        </p:spPr>
                      </p:sp>
                      <p:grpSp>
                        <p:nvGrpSpPr>
                          <p:cNvPr id="33819" name="Group 16"/>
                          <p:cNvGrpSpPr/>
                          <p:nvPr/>
                        </p:nvGrpSpPr>
                        <p:grpSpPr>
                          <a:xfrm>
                            <a:off x="2880" y="1706"/>
                            <a:ext cx="2472" cy="1633"/>
                            <a:chOff x="2880" y="346"/>
                            <a:chExt cx="2472" cy="1633"/>
                          </a:xfrm>
                        </p:grpSpPr>
                        <p:grpSp>
                          <p:nvGrpSpPr>
                            <p:cNvPr id="33820" name="Group 11"/>
                            <p:cNvGrpSpPr/>
                            <p:nvPr/>
                          </p:nvGrpSpPr>
                          <p:grpSpPr>
                            <a:xfrm>
                              <a:off x="2880" y="346"/>
                              <a:ext cx="2472" cy="1633"/>
                              <a:chOff x="2971" y="255"/>
                              <a:chExt cx="2472" cy="1633"/>
                            </a:xfrm>
                          </p:grpSpPr>
                          <p:grpSp>
                            <p:nvGrpSpPr>
                              <p:cNvPr id="33823" name="Group 7"/>
                              <p:cNvGrpSpPr/>
                              <p:nvPr/>
                            </p:nvGrpSpPr>
                            <p:grpSpPr>
                              <a:xfrm>
                                <a:off x="3243" y="255"/>
                                <a:ext cx="2200" cy="1633"/>
                                <a:chOff x="3560" y="255"/>
                                <a:chExt cx="2200" cy="1633"/>
                              </a:xfrm>
                            </p:grpSpPr>
                            <p:sp>
                              <p:nvSpPr>
                                <p:cNvPr id="33826" name="Line 5"/>
                                <p:cNvSpPr/>
                                <p:nvPr/>
                              </p:nvSpPr>
                              <p:spPr>
                                <a:xfrm flipV="1">
                                  <a:off x="3560" y="255"/>
                                  <a:ext cx="0" cy="1633"/>
                                </a:xfrm>
                                <a:prstGeom prst="line">
                                  <a:avLst/>
                                </a:prstGeom>
                                <a:ln w="9525" cap="flat" cmpd="sng">
                                  <a:solidFill>
                                    <a:schemeClr val="tx1"/>
                                  </a:solidFill>
                                  <a:prstDash val="solid"/>
                                  <a:headEnd type="none" w="med" len="med"/>
                                  <a:tailEnd type="triangle" w="med" len="med"/>
                                </a:ln>
                              </p:spPr>
                            </p:sp>
                            <p:sp>
                              <p:nvSpPr>
                                <p:cNvPr id="33827" name="Line 6"/>
                                <p:cNvSpPr/>
                                <p:nvPr/>
                              </p:nvSpPr>
                              <p:spPr>
                                <a:xfrm>
                                  <a:off x="3560" y="1162"/>
                                  <a:ext cx="2200" cy="0"/>
                                </a:xfrm>
                                <a:prstGeom prst="line">
                                  <a:avLst/>
                                </a:prstGeom>
                                <a:ln w="9525" cap="flat" cmpd="sng">
                                  <a:solidFill>
                                    <a:schemeClr val="tx1"/>
                                  </a:solidFill>
                                  <a:prstDash val="solid"/>
                                  <a:headEnd type="none" w="med" len="med"/>
                                  <a:tailEnd type="triangle" w="med" len="med"/>
                                </a:ln>
                              </p:spPr>
                            </p:sp>
                          </p:grpSp>
                          <p:sp>
                            <p:nvSpPr>
                              <p:cNvPr id="33824" name="Text Box 8"/>
                              <p:cNvSpPr txBox="1"/>
                              <p:nvPr/>
                            </p:nvSpPr>
                            <p:spPr>
                              <a:xfrm>
                                <a:off x="2971" y="618"/>
                                <a:ext cx="36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cs typeface="Arial" panose="020B0604020202020204" pitchFamily="34" charset="0"/>
                                  </a:rPr>
                                  <a:t>50</a:t>
                                </a:r>
                                <a:endParaRPr lang="en-US" altLang="zh-CN" sz="2400" b="1" dirty="0">
                                  <a:ea typeface="Arial" panose="020B0604020202020204" pitchFamily="34" charset="0"/>
                                </a:endParaRPr>
                              </a:p>
                            </p:txBody>
                          </p:sp>
                          <p:sp>
                            <p:nvSpPr>
                              <p:cNvPr id="33825" name="Line 10"/>
                              <p:cNvSpPr/>
                              <p:nvPr/>
                            </p:nvSpPr>
                            <p:spPr>
                              <a:xfrm>
                                <a:off x="3243" y="709"/>
                                <a:ext cx="45" cy="0"/>
                              </a:xfrm>
                              <a:prstGeom prst="line">
                                <a:avLst/>
                              </a:prstGeom>
                              <a:ln w="9525" cap="flat" cmpd="sng">
                                <a:solidFill>
                                  <a:schemeClr val="tx1"/>
                                </a:solidFill>
                                <a:prstDash val="solid"/>
                                <a:headEnd type="none" w="med" len="med"/>
                                <a:tailEnd type="none" w="med" len="med"/>
                              </a:ln>
                            </p:spPr>
                          </p:sp>
                        </p:grpSp>
                        <p:sp>
                          <p:nvSpPr>
                            <p:cNvPr id="33821" name="Text Box 14"/>
                            <p:cNvSpPr txBox="1"/>
                            <p:nvPr/>
                          </p:nvSpPr>
                          <p:spPr>
                            <a:xfrm>
                              <a:off x="2880" y="1570"/>
                              <a:ext cx="363"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-50</a:t>
                              </a:r>
                              <a:endParaRPr lang="en-US" altLang="zh-CN" sz="1800" b="1" dirty="0">
                                <a:ea typeface="Arial" panose="020B0604020202020204" pitchFamily="34" charset="0"/>
                              </a:endParaRPr>
                            </a:p>
                          </p:txBody>
                        </p:sp>
                        <p:sp>
                          <p:nvSpPr>
                            <p:cNvPr id="33822" name="Text Box 15"/>
                            <p:cNvSpPr txBox="1"/>
                            <p:nvPr/>
                          </p:nvSpPr>
                          <p:spPr>
                            <a:xfrm>
                              <a:off x="2925" y="1117"/>
                              <a:ext cx="36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0</a:t>
                              </a:r>
                              <a:endParaRPr lang="en-US" altLang="zh-CN" sz="2400" b="1" dirty="0">
                                <a:ea typeface="Arial" panose="020B0604020202020204" pitchFamily="34" charset="0"/>
                              </a:endParaRPr>
                            </a:p>
                          </p:txBody>
                        </p:sp>
                      </p:grpSp>
                    </p:grpSp>
                    <p:sp>
                      <p:nvSpPr>
                        <p:cNvPr id="33817" name="Line 19"/>
                        <p:cNvSpPr/>
                        <p:nvPr/>
                      </p:nvSpPr>
                      <p:spPr>
                        <a:xfrm flipV="1">
                          <a:off x="3787" y="2568"/>
                          <a:ext cx="0" cy="46"/>
                        </a:xfrm>
                        <a:prstGeom prst="line">
                          <a:avLst/>
                        </a:prstGeom>
                        <a:ln w="9525" cap="flat" cmpd="sng">
                          <a:solidFill>
                            <a:schemeClr val="tx1"/>
                          </a:solidFill>
                          <a:prstDash val="solid"/>
                          <a:headEnd type="none" w="med" len="med"/>
                          <a:tailEnd type="none" w="med" len="med"/>
                        </a:ln>
                      </p:spPr>
                    </p:sp>
                  </p:grpSp>
                  <p:sp>
                    <p:nvSpPr>
                      <p:cNvPr id="33815" name="Line 22"/>
                      <p:cNvSpPr/>
                      <p:nvPr/>
                    </p:nvSpPr>
                    <p:spPr>
                      <a:xfrm flipV="1">
                        <a:off x="4241" y="2568"/>
                        <a:ext cx="0" cy="46"/>
                      </a:xfrm>
                      <a:prstGeom prst="line">
                        <a:avLst/>
                      </a:prstGeom>
                      <a:ln w="9525" cap="flat" cmpd="sng">
                        <a:solidFill>
                          <a:schemeClr val="tx1"/>
                        </a:solidFill>
                        <a:prstDash val="solid"/>
                        <a:headEnd type="none" w="med" len="med"/>
                        <a:tailEnd type="none" w="med" len="med"/>
                      </a:ln>
                    </p:spPr>
                  </p:sp>
                </p:grpSp>
                <p:sp>
                  <p:nvSpPr>
                    <p:cNvPr id="33813" name="Line 24"/>
                    <p:cNvSpPr/>
                    <p:nvPr/>
                  </p:nvSpPr>
                  <p:spPr>
                    <a:xfrm flipV="1">
                      <a:off x="4694" y="2568"/>
                      <a:ext cx="0" cy="46"/>
                    </a:xfrm>
                    <a:prstGeom prst="line">
                      <a:avLst/>
                    </a:prstGeom>
                    <a:ln w="9525" cap="flat" cmpd="sng">
                      <a:solidFill>
                        <a:schemeClr val="tx1"/>
                      </a:solidFill>
                      <a:prstDash val="solid"/>
                      <a:headEnd type="none" w="med" len="med"/>
                      <a:tailEnd type="none" w="med" len="med"/>
                    </a:ln>
                  </p:spPr>
                </p:sp>
              </p:grpSp>
              <p:sp>
                <p:nvSpPr>
                  <p:cNvPr id="33811" name="Line 26"/>
                  <p:cNvSpPr/>
                  <p:nvPr/>
                </p:nvSpPr>
                <p:spPr>
                  <a:xfrm flipV="1">
                    <a:off x="5148" y="2568"/>
                    <a:ext cx="0" cy="46"/>
                  </a:xfrm>
                  <a:prstGeom prst="line">
                    <a:avLst/>
                  </a:prstGeom>
                  <a:ln w="9525" cap="flat" cmpd="sng">
                    <a:solidFill>
                      <a:schemeClr val="tx1"/>
                    </a:solidFill>
                    <a:prstDash val="solid"/>
                    <a:headEnd type="none" w="med" len="med"/>
                    <a:tailEnd type="none" w="med" len="med"/>
                  </a:ln>
                </p:spPr>
              </p:sp>
            </p:grpSp>
            <p:sp>
              <p:nvSpPr>
                <p:cNvPr id="33806" name="Text Box 28"/>
                <p:cNvSpPr txBox="1"/>
                <p:nvPr/>
              </p:nvSpPr>
              <p:spPr>
                <a:xfrm>
                  <a:off x="3787"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cs typeface="Arial" panose="020B0604020202020204" pitchFamily="34" charset="0"/>
                    </a:rPr>
                    <a:t>1</a:t>
                  </a:r>
                  <a:endParaRPr lang="en-US" altLang="zh-CN" sz="2400" b="1" dirty="0">
                    <a:ea typeface="Arial" panose="020B0604020202020204" pitchFamily="34" charset="0"/>
                  </a:endParaRPr>
                </a:p>
              </p:txBody>
            </p:sp>
            <p:sp>
              <p:nvSpPr>
                <p:cNvPr id="33807" name="Text Box 29"/>
                <p:cNvSpPr txBox="1"/>
                <p:nvPr/>
              </p:nvSpPr>
              <p:spPr>
                <a:xfrm>
                  <a:off x="4241"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2</a:t>
                  </a:r>
                  <a:endParaRPr lang="en-US" altLang="zh-CN" sz="2400" b="1" dirty="0">
                    <a:ea typeface="Arial" panose="020B0604020202020204" pitchFamily="34" charset="0"/>
                  </a:endParaRPr>
                </a:p>
              </p:txBody>
            </p:sp>
            <p:sp>
              <p:nvSpPr>
                <p:cNvPr id="33808" name="Text Box 30"/>
                <p:cNvSpPr txBox="1"/>
                <p:nvPr/>
              </p:nvSpPr>
              <p:spPr>
                <a:xfrm>
                  <a:off x="4694"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3</a:t>
                  </a:r>
                  <a:endParaRPr lang="en-US" altLang="zh-CN" sz="2400" b="1" dirty="0">
                    <a:ea typeface="Arial" panose="020B0604020202020204" pitchFamily="34" charset="0"/>
                  </a:endParaRPr>
                </a:p>
              </p:txBody>
            </p:sp>
            <p:sp>
              <p:nvSpPr>
                <p:cNvPr id="33809" name="Text Box 31"/>
                <p:cNvSpPr txBox="1"/>
                <p:nvPr/>
              </p:nvSpPr>
              <p:spPr>
                <a:xfrm>
                  <a:off x="5148"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4</a:t>
                  </a:r>
                  <a:endParaRPr lang="en-US" altLang="zh-CN" sz="2400" b="1" dirty="0">
                    <a:ea typeface="Arial" panose="020B0604020202020204" pitchFamily="34" charset="0"/>
                  </a:endParaRPr>
                </a:p>
              </p:txBody>
            </p:sp>
          </p:grpSp>
          <p:sp>
            <p:nvSpPr>
              <p:cNvPr id="33803" name="Text Box 33"/>
              <p:cNvSpPr txBox="1"/>
              <p:nvPr/>
            </p:nvSpPr>
            <p:spPr>
              <a:xfrm>
                <a:off x="5420"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t</a:t>
                </a:r>
                <a:endParaRPr lang="en-US" altLang="zh-CN" sz="2400" b="1" dirty="0">
                  <a:latin typeface="Monotype Corsiva" panose="03010101010201010101" pitchFamily="66" charset="0"/>
                  <a:ea typeface="Arial" panose="020B0604020202020204" pitchFamily="34" charset="0"/>
                </a:endParaRPr>
              </a:p>
            </p:txBody>
          </p:sp>
          <p:sp>
            <p:nvSpPr>
              <p:cNvPr id="33804" name="Text Box 34"/>
              <p:cNvSpPr txBox="1"/>
              <p:nvPr/>
            </p:nvSpPr>
            <p:spPr>
              <a:xfrm>
                <a:off x="3061" y="255"/>
                <a:ext cx="317"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v(t)</a:t>
                </a:r>
                <a:endParaRPr lang="en-US" altLang="zh-CN" sz="2400" b="1" dirty="0">
                  <a:latin typeface="Monotype Corsiva" panose="03010101010201010101" pitchFamily="66" charset="0"/>
                  <a:ea typeface="Arial" panose="020B0604020202020204" pitchFamily="34" charset="0"/>
                </a:endParaRPr>
              </a:p>
            </p:txBody>
          </p:sp>
        </p:grpSp>
        <p:grpSp>
          <p:nvGrpSpPr>
            <p:cNvPr id="33798" name="Group 39"/>
            <p:cNvGrpSpPr/>
            <p:nvPr/>
          </p:nvGrpSpPr>
          <p:grpSpPr>
            <a:xfrm>
              <a:off x="3424" y="709"/>
              <a:ext cx="1815" cy="907"/>
              <a:chOff x="3424" y="709"/>
              <a:chExt cx="1815" cy="907"/>
            </a:xfrm>
          </p:grpSpPr>
          <p:sp>
            <p:nvSpPr>
              <p:cNvPr id="33799" name="Line 36"/>
              <p:cNvSpPr/>
              <p:nvPr/>
            </p:nvSpPr>
            <p:spPr>
              <a:xfrm flipV="1">
                <a:off x="3424" y="709"/>
                <a:ext cx="454" cy="408"/>
              </a:xfrm>
              <a:prstGeom prst="line">
                <a:avLst/>
              </a:prstGeom>
              <a:ln w="9525" cap="flat" cmpd="sng">
                <a:solidFill>
                  <a:schemeClr val="tx1"/>
                </a:solidFill>
                <a:prstDash val="solid"/>
                <a:headEnd type="none" w="med" len="med"/>
                <a:tailEnd type="none" w="med" len="med"/>
              </a:ln>
            </p:spPr>
          </p:sp>
          <p:sp>
            <p:nvSpPr>
              <p:cNvPr id="33800" name="Line 37"/>
              <p:cNvSpPr/>
              <p:nvPr/>
            </p:nvSpPr>
            <p:spPr>
              <a:xfrm>
                <a:off x="3878" y="709"/>
                <a:ext cx="907" cy="907"/>
              </a:xfrm>
              <a:prstGeom prst="line">
                <a:avLst/>
              </a:prstGeom>
              <a:ln w="9525" cap="flat" cmpd="sng">
                <a:solidFill>
                  <a:schemeClr val="tx1"/>
                </a:solidFill>
                <a:prstDash val="solid"/>
                <a:headEnd type="none" w="med" len="med"/>
                <a:tailEnd type="none" w="med" len="med"/>
              </a:ln>
            </p:spPr>
          </p:sp>
          <p:sp>
            <p:nvSpPr>
              <p:cNvPr id="33801" name="Line 38"/>
              <p:cNvSpPr/>
              <p:nvPr/>
            </p:nvSpPr>
            <p:spPr>
              <a:xfrm flipV="1">
                <a:off x="4785" y="1162"/>
                <a:ext cx="454" cy="454"/>
              </a:xfrm>
              <a:prstGeom prst="line">
                <a:avLst/>
              </a:prstGeom>
              <a:ln w="9525" cap="flat" cmpd="sng">
                <a:solidFill>
                  <a:schemeClr val="tx1"/>
                </a:solidFill>
                <a:prstDash val="solid"/>
                <a:headEnd type="none" w="med" len="med"/>
                <a:tailEnd type="none" w="med" len="med"/>
              </a:ln>
            </p:spPr>
          </p:sp>
        </p:grp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p:cNvSpPr>
          <p:nvPr>
            <p:ph idx="1"/>
          </p:nvPr>
        </p:nvSpPr>
        <p:spPr>
          <a:xfrm>
            <a:off x="725488" y="552450"/>
            <a:ext cx="8964612" cy="808038"/>
          </a:xfrm>
        </p:spPr>
        <p:txBody>
          <a:bodyPr vert="horz" wrap="square" lIns="91440" tIns="45720" rIns="91440" bIns="45720" anchor="t" anchorCtr="0"/>
          <a:lstStyle/>
          <a:p>
            <a:pPr eaLnBrk="1" hangingPunct="1">
              <a:buNone/>
            </a:pPr>
            <a:r>
              <a:rPr lang="zh-CN" altLang="en-US" sz="2400" b="1" dirty="0">
                <a:latin typeface="Times New Roman" panose="02020603050405020304" pitchFamily="18" charset="0"/>
              </a:rPr>
              <a:t>由于</a:t>
            </a:r>
            <a:r>
              <a:rPr lang="en-US" altLang="zh-CN" sz="2400" b="1" dirty="0">
                <a:latin typeface="Times New Roman" panose="02020603050405020304" pitchFamily="18" charset="0"/>
              </a:rPr>
              <a:t> </a:t>
            </a:r>
            <a:r>
              <a:rPr lang="en-US" altLang="zh-CN" sz="2400" b="1" dirty="0">
                <a:latin typeface="Monotype Corsiva" panose="03010101010201010101" pitchFamily="66" charset="0"/>
              </a:rPr>
              <a:t>i = C dv/dt</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且</a:t>
            </a:r>
            <a:r>
              <a:rPr lang="en-US" altLang="zh-CN" sz="2400" b="1" dirty="0">
                <a:latin typeface="Times New Roman" panose="02020603050405020304" pitchFamily="18" charset="0"/>
              </a:rPr>
              <a:t> </a:t>
            </a:r>
            <a:r>
              <a:rPr lang="en-US" altLang="zh-CN" sz="2400" b="1" dirty="0">
                <a:latin typeface="Monotype Corsiva" panose="03010101010201010101" pitchFamily="66" charset="0"/>
              </a:rPr>
              <a:t>C = 200 uF</a:t>
            </a:r>
            <a:r>
              <a:rPr lang="en-US" altLang="zh-CN" sz="2400" b="1" dirty="0">
                <a:latin typeface="Times New Roman" panose="02020603050405020304" pitchFamily="18" charset="0"/>
              </a:rPr>
              <a:t> , </a:t>
            </a:r>
            <a:r>
              <a:rPr lang="zh-CN" altLang="en-US" sz="2400" b="1" dirty="0">
                <a:latin typeface="Times New Roman" panose="02020603050405020304" pitchFamily="18" charset="0"/>
              </a:rPr>
              <a:t>对电压求导可得：</a:t>
            </a:r>
            <a:r>
              <a:rPr lang="en-US" altLang="zh-CN" sz="2400" b="1" dirty="0">
                <a:latin typeface="Times New Roman" panose="02020603050405020304" pitchFamily="18" charset="0"/>
              </a:rPr>
              <a:t>  </a:t>
            </a:r>
          </a:p>
        </p:txBody>
      </p:sp>
      <p:graphicFrame>
        <p:nvGraphicFramePr>
          <p:cNvPr id="34819" name="Object 4"/>
          <p:cNvGraphicFramePr>
            <a:graphicFrameLocks noChangeAspect="1"/>
          </p:cNvGraphicFramePr>
          <p:nvPr/>
        </p:nvGraphicFramePr>
        <p:xfrm>
          <a:off x="476250" y="1384300"/>
          <a:ext cx="4159250" cy="3511550"/>
        </p:xfrm>
        <a:graphic>
          <a:graphicData uri="http://schemas.openxmlformats.org/presentationml/2006/ole">
            <p:oleObj spid="_x0000_s12290" r:id="rId3" imgW="2197100" imgH="1854200" progId="">
              <p:embed/>
            </p:oleObj>
          </a:graphicData>
        </a:graphic>
      </p:graphicFrame>
      <p:sp>
        <p:nvSpPr>
          <p:cNvPr id="34820" name="Text Box 6"/>
          <p:cNvSpPr txBox="1"/>
          <p:nvPr/>
        </p:nvSpPr>
        <p:spPr>
          <a:xfrm>
            <a:off x="892175" y="5772150"/>
            <a:ext cx="33655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latin typeface="Times New Roman" panose="02020603050405020304" pitchFamily="18" charset="0"/>
                <a:cs typeface="Arial" panose="020B0604020202020204" pitchFamily="34" charset="0"/>
              </a:rPr>
              <a:t>可见电容两端</a:t>
            </a:r>
            <a:r>
              <a:rPr lang="zh-CN" altLang="en-US" sz="2000" b="1" dirty="0">
                <a:solidFill>
                  <a:srgbClr val="0000FF"/>
                </a:solidFill>
                <a:latin typeface="Times New Roman" panose="02020603050405020304" pitchFamily="18" charset="0"/>
                <a:cs typeface="Arial" panose="020B0604020202020204" pitchFamily="34" charset="0"/>
              </a:rPr>
              <a:t>电压不能跃变</a:t>
            </a:r>
            <a:r>
              <a:rPr lang="zh-CN" altLang="en-US" sz="2000" b="1" dirty="0">
                <a:latin typeface="Times New Roman" panose="02020603050405020304" pitchFamily="18" charset="0"/>
                <a:cs typeface="Arial" panose="020B0604020202020204" pitchFamily="34" charset="0"/>
              </a:rPr>
              <a:t>，</a:t>
            </a:r>
            <a:r>
              <a:rPr lang="zh-CN" altLang="en-US" sz="2000" b="1" dirty="0">
                <a:solidFill>
                  <a:srgbClr val="0000FF"/>
                </a:solidFill>
                <a:latin typeface="Times New Roman" panose="02020603050405020304" pitchFamily="18" charset="0"/>
                <a:cs typeface="Arial" panose="020B0604020202020204" pitchFamily="34" charset="0"/>
              </a:rPr>
              <a:t>电流可以跃变</a:t>
            </a:r>
            <a:r>
              <a:rPr lang="zh-CN" altLang="en-US" sz="2000" b="1" dirty="0">
                <a:latin typeface="Times New Roman" panose="02020603050405020304" pitchFamily="18" charset="0"/>
                <a:cs typeface="Arial" panose="020B0604020202020204" pitchFamily="34" charset="0"/>
              </a:rPr>
              <a:t>。</a:t>
            </a:r>
            <a:endParaRPr lang="zh-CN" altLang="en-US" sz="2000" b="1" dirty="0">
              <a:latin typeface="Times New Roman" panose="02020603050405020304" pitchFamily="18" charset="0"/>
              <a:ea typeface="Arial" panose="020B0604020202020204" pitchFamily="34" charset="0"/>
            </a:endParaRPr>
          </a:p>
        </p:txBody>
      </p:sp>
      <p:grpSp>
        <p:nvGrpSpPr>
          <p:cNvPr id="34821" name="Group 76"/>
          <p:cNvGrpSpPr/>
          <p:nvPr/>
        </p:nvGrpSpPr>
        <p:grpSpPr>
          <a:xfrm>
            <a:off x="5076825" y="4443413"/>
            <a:ext cx="3695700" cy="2101850"/>
            <a:chOff x="3016" y="2296"/>
            <a:chExt cx="2563" cy="1633"/>
          </a:xfrm>
        </p:grpSpPr>
        <p:grpSp>
          <p:nvGrpSpPr>
            <p:cNvPr id="34854" name="Group 42"/>
            <p:cNvGrpSpPr/>
            <p:nvPr/>
          </p:nvGrpSpPr>
          <p:grpSpPr>
            <a:xfrm>
              <a:off x="3016" y="2296"/>
              <a:ext cx="2563" cy="1633"/>
              <a:chOff x="3061" y="255"/>
              <a:chExt cx="2563" cy="1633"/>
            </a:xfrm>
          </p:grpSpPr>
          <p:grpSp>
            <p:nvGrpSpPr>
              <p:cNvPr id="34862" name="Group 43"/>
              <p:cNvGrpSpPr/>
              <p:nvPr/>
            </p:nvGrpSpPr>
            <p:grpSpPr>
              <a:xfrm>
                <a:off x="3152" y="255"/>
                <a:ext cx="2472" cy="1633"/>
                <a:chOff x="3152" y="255"/>
                <a:chExt cx="2472" cy="1633"/>
              </a:xfrm>
            </p:grpSpPr>
            <p:grpSp>
              <p:nvGrpSpPr>
                <p:cNvPr id="34865" name="Group 44"/>
                <p:cNvGrpSpPr/>
                <p:nvPr/>
              </p:nvGrpSpPr>
              <p:grpSpPr>
                <a:xfrm>
                  <a:off x="3152" y="255"/>
                  <a:ext cx="2472" cy="1633"/>
                  <a:chOff x="3061" y="1706"/>
                  <a:chExt cx="2472" cy="1633"/>
                </a:xfrm>
              </p:grpSpPr>
              <p:grpSp>
                <p:nvGrpSpPr>
                  <p:cNvPr id="34870" name="Group 45"/>
                  <p:cNvGrpSpPr/>
                  <p:nvPr/>
                </p:nvGrpSpPr>
                <p:grpSpPr>
                  <a:xfrm>
                    <a:off x="3061" y="1706"/>
                    <a:ext cx="2472" cy="1633"/>
                    <a:chOff x="3061" y="1706"/>
                    <a:chExt cx="2472" cy="1633"/>
                  </a:xfrm>
                </p:grpSpPr>
                <p:grpSp>
                  <p:nvGrpSpPr>
                    <p:cNvPr id="34872" name="Group 46"/>
                    <p:cNvGrpSpPr/>
                    <p:nvPr/>
                  </p:nvGrpSpPr>
                  <p:grpSpPr>
                    <a:xfrm>
                      <a:off x="3061" y="1706"/>
                      <a:ext cx="2472" cy="1633"/>
                      <a:chOff x="3061" y="1706"/>
                      <a:chExt cx="2472" cy="1633"/>
                    </a:xfrm>
                  </p:grpSpPr>
                  <p:grpSp>
                    <p:nvGrpSpPr>
                      <p:cNvPr id="34874" name="Group 47"/>
                      <p:cNvGrpSpPr/>
                      <p:nvPr/>
                    </p:nvGrpSpPr>
                    <p:grpSpPr>
                      <a:xfrm>
                        <a:off x="3061" y="1706"/>
                        <a:ext cx="2472" cy="1633"/>
                        <a:chOff x="3061" y="1706"/>
                        <a:chExt cx="2472" cy="1633"/>
                      </a:xfrm>
                    </p:grpSpPr>
                    <p:grpSp>
                      <p:nvGrpSpPr>
                        <p:cNvPr id="34876" name="Group 48"/>
                        <p:cNvGrpSpPr/>
                        <p:nvPr/>
                      </p:nvGrpSpPr>
                      <p:grpSpPr>
                        <a:xfrm>
                          <a:off x="3061" y="1706"/>
                          <a:ext cx="2472" cy="1633"/>
                          <a:chOff x="2880" y="1706"/>
                          <a:chExt cx="2472" cy="1633"/>
                        </a:xfrm>
                      </p:grpSpPr>
                      <p:sp>
                        <p:nvSpPr>
                          <p:cNvPr id="34878" name="Line 49"/>
                          <p:cNvSpPr/>
                          <p:nvPr/>
                        </p:nvSpPr>
                        <p:spPr>
                          <a:xfrm>
                            <a:off x="3198" y="3067"/>
                            <a:ext cx="46" cy="0"/>
                          </a:xfrm>
                          <a:prstGeom prst="line">
                            <a:avLst/>
                          </a:prstGeom>
                          <a:ln w="9525" cap="flat" cmpd="sng">
                            <a:solidFill>
                              <a:schemeClr val="tx1"/>
                            </a:solidFill>
                            <a:prstDash val="solid"/>
                            <a:headEnd type="none" w="med" len="med"/>
                            <a:tailEnd type="none" w="med" len="med"/>
                          </a:ln>
                        </p:spPr>
                      </p:sp>
                      <p:grpSp>
                        <p:nvGrpSpPr>
                          <p:cNvPr id="34879" name="Group 50"/>
                          <p:cNvGrpSpPr/>
                          <p:nvPr/>
                        </p:nvGrpSpPr>
                        <p:grpSpPr>
                          <a:xfrm>
                            <a:off x="2880" y="1706"/>
                            <a:ext cx="2472" cy="1633"/>
                            <a:chOff x="2880" y="346"/>
                            <a:chExt cx="2472" cy="1633"/>
                          </a:xfrm>
                        </p:grpSpPr>
                        <p:grpSp>
                          <p:nvGrpSpPr>
                            <p:cNvPr id="34880" name="Group 51"/>
                            <p:cNvGrpSpPr/>
                            <p:nvPr/>
                          </p:nvGrpSpPr>
                          <p:grpSpPr>
                            <a:xfrm>
                              <a:off x="2880" y="346"/>
                              <a:ext cx="2472" cy="1633"/>
                              <a:chOff x="2971" y="255"/>
                              <a:chExt cx="2472" cy="1633"/>
                            </a:xfrm>
                          </p:grpSpPr>
                          <p:grpSp>
                            <p:nvGrpSpPr>
                              <p:cNvPr id="34883" name="Group 52"/>
                              <p:cNvGrpSpPr/>
                              <p:nvPr/>
                            </p:nvGrpSpPr>
                            <p:grpSpPr>
                              <a:xfrm>
                                <a:off x="3243" y="255"/>
                                <a:ext cx="2200" cy="1633"/>
                                <a:chOff x="3560" y="255"/>
                                <a:chExt cx="2200" cy="1633"/>
                              </a:xfrm>
                            </p:grpSpPr>
                            <p:sp>
                              <p:nvSpPr>
                                <p:cNvPr id="34886" name="Line 53"/>
                                <p:cNvSpPr/>
                                <p:nvPr/>
                              </p:nvSpPr>
                              <p:spPr>
                                <a:xfrm flipV="1">
                                  <a:off x="3560" y="255"/>
                                  <a:ext cx="0" cy="1633"/>
                                </a:xfrm>
                                <a:prstGeom prst="line">
                                  <a:avLst/>
                                </a:prstGeom>
                                <a:ln w="9525" cap="flat" cmpd="sng">
                                  <a:solidFill>
                                    <a:schemeClr val="tx1"/>
                                  </a:solidFill>
                                  <a:prstDash val="solid"/>
                                  <a:headEnd type="none" w="med" len="med"/>
                                  <a:tailEnd type="triangle" w="med" len="med"/>
                                </a:ln>
                              </p:spPr>
                            </p:sp>
                            <p:sp>
                              <p:nvSpPr>
                                <p:cNvPr id="34887" name="Line 54"/>
                                <p:cNvSpPr/>
                                <p:nvPr/>
                              </p:nvSpPr>
                              <p:spPr>
                                <a:xfrm>
                                  <a:off x="3560" y="1162"/>
                                  <a:ext cx="2200" cy="0"/>
                                </a:xfrm>
                                <a:prstGeom prst="line">
                                  <a:avLst/>
                                </a:prstGeom>
                                <a:ln w="9525" cap="flat" cmpd="sng">
                                  <a:solidFill>
                                    <a:schemeClr val="tx1"/>
                                  </a:solidFill>
                                  <a:prstDash val="solid"/>
                                  <a:headEnd type="none" w="med" len="med"/>
                                  <a:tailEnd type="triangle" w="med" len="med"/>
                                </a:ln>
                              </p:spPr>
                            </p:sp>
                          </p:grpSp>
                          <p:sp>
                            <p:nvSpPr>
                              <p:cNvPr id="34884" name="Text Box 55"/>
                              <p:cNvSpPr txBox="1"/>
                              <p:nvPr/>
                            </p:nvSpPr>
                            <p:spPr>
                              <a:xfrm>
                                <a:off x="2971" y="618"/>
                                <a:ext cx="363" cy="31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cs typeface="Arial" panose="020B0604020202020204" pitchFamily="34" charset="0"/>
                                  </a:rPr>
                                  <a:t>10</a:t>
                                </a:r>
                                <a:endParaRPr lang="en-US" altLang="zh-CN" sz="2000" b="1" dirty="0">
                                  <a:ea typeface="Arial" panose="020B0604020202020204" pitchFamily="34" charset="0"/>
                                </a:endParaRPr>
                              </a:p>
                            </p:txBody>
                          </p:sp>
                          <p:sp>
                            <p:nvSpPr>
                              <p:cNvPr id="34885" name="Line 56"/>
                              <p:cNvSpPr/>
                              <p:nvPr/>
                            </p:nvSpPr>
                            <p:spPr>
                              <a:xfrm>
                                <a:off x="3243" y="709"/>
                                <a:ext cx="45" cy="0"/>
                              </a:xfrm>
                              <a:prstGeom prst="line">
                                <a:avLst/>
                              </a:prstGeom>
                              <a:ln w="9525" cap="flat" cmpd="sng">
                                <a:solidFill>
                                  <a:schemeClr val="tx1"/>
                                </a:solidFill>
                                <a:prstDash val="solid"/>
                                <a:headEnd type="none" w="med" len="med"/>
                                <a:tailEnd type="none" w="med" len="med"/>
                              </a:ln>
                            </p:spPr>
                          </p:sp>
                        </p:grpSp>
                        <p:sp>
                          <p:nvSpPr>
                            <p:cNvPr id="34881" name="Text Box 57"/>
                            <p:cNvSpPr txBox="1"/>
                            <p:nvPr/>
                          </p:nvSpPr>
                          <p:spPr>
                            <a:xfrm>
                              <a:off x="2880" y="1570"/>
                              <a:ext cx="363" cy="28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-10</a:t>
                              </a:r>
                              <a:endParaRPr lang="en-US" altLang="zh-CN" sz="1800" b="1" dirty="0">
                                <a:ea typeface="Arial" panose="020B0604020202020204" pitchFamily="34" charset="0"/>
                              </a:endParaRPr>
                            </a:p>
                          </p:txBody>
                        </p:sp>
                        <p:sp>
                          <p:nvSpPr>
                            <p:cNvPr id="34882" name="Text Box 58"/>
                            <p:cNvSpPr txBox="1"/>
                            <p:nvPr/>
                          </p:nvSpPr>
                          <p:spPr>
                            <a:xfrm>
                              <a:off x="2925" y="1117"/>
                              <a:ext cx="364" cy="31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cs typeface="Arial" panose="020B0604020202020204" pitchFamily="34" charset="0"/>
                                </a:rPr>
                                <a:t>0</a:t>
                              </a:r>
                              <a:endParaRPr lang="en-US" altLang="zh-CN" sz="2000" b="1" dirty="0">
                                <a:ea typeface="Arial" panose="020B0604020202020204" pitchFamily="34" charset="0"/>
                              </a:endParaRPr>
                            </a:p>
                          </p:txBody>
                        </p:sp>
                      </p:grpSp>
                    </p:grpSp>
                    <p:sp>
                      <p:nvSpPr>
                        <p:cNvPr id="34877" name="Line 59"/>
                        <p:cNvSpPr/>
                        <p:nvPr/>
                      </p:nvSpPr>
                      <p:spPr>
                        <a:xfrm flipV="1">
                          <a:off x="3787" y="2568"/>
                          <a:ext cx="0" cy="46"/>
                        </a:xfrm>
                        <a:prstGeom prst="line">
                          <a:avLst/>
                        </a:prstGeom>
                        <a:ln w="9525" cap="flat" cmpd="sng">
                          <a:solidFill>
                            <a:schemeClr val="tx1"/>
                          </a:solidFill>
                          <a:prstDash val="solid"/>
                          <a:headEnd type="none" w="med" len="med"/>
                          <a:tailEnd type="none" w="med" len="med"/>
                        </a:ln>
                      </p:spPr>
                    </p:sp>
                  </p:grpSp>
                  <p:sp>
                    <p:nvSpPr>
                      <p:cNvPr id="34875" name="Line 60"/>
                      <p:cNvSpPr/>
                      <p:nvPr/>
                    </p:nvSpPr>
                    <p:spPr>
                      <a:xfrm flipV="1">
                        <a:off x="4241" y="2568"/>
                        <a:ext cx="0" cy="46"/>
                      </a:xfrm>
                      <a:prstGeom prst="line">
                        <a:avLst/>
                      </a:prstGeom>
                      <a:ln w="9525" cap="flat" cmpd="sng">
                        <a:solidFill>
                          <a:schemeClr val="tx1"/>
                        </a:solidFill>
                        <a:prstDash val="solid"/>
                        <a:headEnd type="none" w="med" len="med"/>
                        <a:tailEnd type="none" w="med" len="med"/>
                      </a:ln>
                    </p:spPr>
                  </p:sp>
                </p:grpSp>
                <p:sp>
                  <p:nvSpPr>
                    <p:cNvPr id="34873" name="Line 61"/>
                    <p:cNvSpPr/>
                    <p:nvPr/>
                  </p:nvSpPr>
                  <p:spPr>
                    <a:xfrm flipV="1">
                      <a:off x="4694" y="2568"/>
                      <a:ext cx="0" cy="46"/>
                    </a:xfrm>
                    <a:prstGeom prst="line">
                      <a:avLst/>
                    </a:prstGeom>
                    <a:ln w="9525" cap="flat" cmpd="sng">
                      <a:solidFill>
                        <a:schemeClr val="tx1"/>
                      </a:solidFill>
                      <a:prstDash val="solid"/>
                      <a:headEnd type="none" w="med" len="med"/>
                      <a:tailEnd type="none" w="med" len="med"/>
                    </a:ln>
                  </p:spPr>
                </p:sp>
              </p:grpSp>
              <p:sp>
                <p:nvSpPr>
                  <p:cNvPr id="34871" name="Line 62"/>
                  <p:cNvSpPr/>
                  <p:nvPr/>
                </p:nvSpPr>
                <p:spPr>
                  <a:xfrm flipV="1">
                    <a:off x="5148" y="2568"/>
                    <a:ext cx="0" cy="46"/>
                  </a:xfrm>
                  <a:prstGeom prst="line">
                    <a:avLst/>
                  </a:prstGeom>
                  <a:ln w="9525" cap="flat" cmpd="sng">
                    <a:solidFill>
                      <a:schemeClr val="tx1"/>
                    </a:solidFill>
                    <a:prstDash val="solid"/>
                    <a:headEnd type="none" w="med" len="med"/>
                    <a:tailEnd type="none" w="med" len="med"/>
                  </a:ln>
                </p:spPr>
              </p:sp>
            </p:grpSp>
            <p:sp>
              <p:nvSpPr>
                <p:cNvPr id="34866" name="Text Box 63"/>
                <p:cNvSpPr txBox="1"/>
                <p:nvPr/>
              </p:nvSpPr>
              <p:spPr>
                <a:xfrm>
                  <a:off x="3787" y="1207"/>
                  <a:ext cx="182" cy="3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1</a:t>
                  </a:r>
                  <a:endParaRPr lang="en-US" altLang="zh-CN" sz="2400" b="1" dirty="0">
                    <a:ea typeface="Arial" panose="020B0604020202020204" pitchFamily="34" charset="0"/>
                  </a:endParaRPr>
                </a:p>
              </p:txBody>
            </p:sp>
            <p:sp>
              <p:nvSpPr>
                <p:cNvPr id="34867" name="Text Box 64"/>
                <p:cNvSpPr txBox="1"/>
                <p:nvPr/>
              </p:nvSpPr>
              <p:spPr>
                <a:xfrm>
                  <a:off x="4241" y="1207"/>
                  <a:ext cx="182" cy="3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2</a:t>
                  </a:r>
                  <a:endParaRPr lang="en-US" altLang="zh-CN" sz="2400" b="1" dirty="0">
                    <a:ea typeface="Arial" panose="020B0604020202020204" pitchFamily="34" charset="0"/>
                  </a:endParaRPr>
                </a:p>
              </p:txBody>
            </p:sp>
            <p:sp>
              <p:nvSpPr>
                <p:cNvPr id="34868" name="Text Box 65"/>
                <p:cNvSpPr txBox="1"/>
                <p:nvPr/>
              </p:nvSpPr>
              <p:spPr>
                <a:xfrm>
                  <a:off x="4694" y="1207"/>
                  <a:ext cx="182" cy="3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3</a:t>
                  </a:r>
                  <a:endParaRPr lang="en-US" altLang="zh-CN" sz="2400" b="1" dirty="0">
                    <a:ea typeface="Arial" panose="020B0604020202020204" pitchFamily="34" charset="0"/>
                  </a:endParaRPr>
                </a:p>
              </p:txBody>
            </p:sp>
            <p:sp>
              <p:nvSpPr>
                <p:cNvPr id="34869" name="Text Box 66"/>
                <p:cNvSpPr txBox="1"/>
                <p:nvPr/>
              </p:nvSpPr>
              <p:spPr>
                <a:xfrm>
                  <a:off x="5148" y="1207"/>
                  <a:ext cx="182" cy="3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4</a:t>
                  </a:r>
                  <a:endParaRPr lang="en-US" altLang="zh-CN" sz="2400" b="1" dirty="0">
                    <a:ea typeface="Arial" panose="020B0604020202020204" pitchFamily="34" charset="0"/>
                  </a:endParaRPr>
                </a:p>
              </p:txBody>
            </p:sp>
          </p:grpSp>
          <p:sp>
            <p:nvSpPr>
              <p:cNvPr id="34863" name="Text Box 67"/>
              <p:cNvSpPr txBox="1"/>
              <p:nvPr/>
            </p:nvSpPr>
            <p:spPr>
              <a:xfrm>
                <a:off x="5420" y="1207"/>
                <a:ext cx="182" cy="3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t</a:t>
                </a:r>
                <a:endParaRPr lang="en-US" altLang="zh-CN" sz="2400" b="1" dirty="0">
                  <a:ea typeface="Arial" panose="020B0604020202020204" pitchFamily="34" charset="0"/>
                </a:endParaRPr>
              </a:p>
            </p:txBody>
          </p:sp>
          <p:sp>
            <p:nvSpPr>
              <p:cNvPr id="34864" name="Text Box 68"/>
              <p:cNvSpPr txBox="1"/>
              <p:nvPr/>
            </p:nvSpPr>
            <p:spPr>
              <a:xfrm>
                <a:off x="3061" y="255"/>
                <a:ext cx="317" cy="3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i(t)</a:t>
                </a:r>
                <a:endParaRPr lang="en-US" altLang="zh-CN" sz="2400" b="1" dirty="0">
                  <a:ea typeface="Arial" panose="020B0604020202020204" pitchFamily="34" charset="0"/>
                </a:endParaRPr>
              </a:p>
            </p:txBody>
          </p:sp>
        </p:grpSp>
        <p:grpSp>
          <p:nvGrpSpPr>
            <p:cNvPr id="34855" name="Group 75"/>
            <p:cNvGrpSpPr/>
            <p:nvPr/>
          </p:nvGrpSpPr>
          <p:grpSpPr>
            <a:xfrm>
              <a:off x="3424" y="2750"/>
              <a:ext cx="1769" cy="907"/>
              <a:chOff x="3424" y="2750"/>
              <a:chExt cx="1769" cy="907"/>
            </a:xfrm>
          </p:grpSpPr>
          <p:sp>
            <p:nvSpPr>
              <p:cNvPr id="34856" name="Line 69"/>
              <p:cNvSpPr/>
              <p:nvPr/>
            </p:nvSpPr>
            <p:spPr>
              <a:xfrm>
                <a:off x="3424" y="2750"/>
                <a:ext cx="409" cy="0"/>
              </a:xfrm>
              <a:prstGeom prst="line">
                <a:avLst/>
              </a:prstGeom>
              <a:ln w="9525" cap="flat" cmpd="sng">
                <a:solidFill>
                  <a:schemeClr val="tx1"/>
                </a:solidFill>
                <a:prstDash val="solid"/>
                <a:headEnd type="none" w="med" len="med"/>
                <a:tailEnd type="none" w="med" len="med"/>
              </a:ln>
            </p:spPr>
          </p:sp>
          <p:sp>
            <p:nvSpPr>
              <p:cNvPr id="34857" name="Line 70"/>
              <p:cNvSpPr/>
              <p:nvPr/>
            </p:nvSpPr>
            <p:spPr>
              <a:xfrm>
                <a:off x="3833" y="2750"/>
                <a:ext cx="0" cy="907"/>
              </a:xfrm>
              <a:prstGeom prst="line">
                <a:avLst/>
              </a:prstGeom>
              <a:ln w="9525" cap="flat" cmpd="sng">
                <a:solidFill>
                  <a:schemeClr val="tx1"/>
                </a:solidFill>
                <a:prstDash val="solid"/>
                <a:headEnd type="none" w="med" len="med"/>
                <a:tailEnd type="none" w="med" len="med"/>
              </a:ln>
            </p:spPr>
          </p:sp>
          <p:sp>
            <p:nvSpPr>
              <p:cNvPr id="34858" name="Line 71"/>
              <p:cNvSpPr/>
              <p:nvPr/>
            </p:nvSpPr>
            <p:spPr>
              <a:xfrm>
                <a:off x="3833" y="3657"/>
                <a:ext cx="907" cy="0"/>
              </a:xfrm>
              <a:prstGeom prst="line">
                <a:avLst/>
              </a:prstGeom>
              <a:ln w="9525" cap="flat" cmpd="sng">
                <a:solidFill>
                  <a:schemeClr val="tx1"/>
                </a:solidFill>
                <a:prstDash val="solid"/>
                <a:headEnd type="none" w="med" len="med"/>
                <a:tailEnd type="none" w="med" len="med"/>
              </a:ln>
            </p:spPr>
          </p:sp>
          <p:sp>
            <p:nvSpPr>
              <p:cNvPr id="34859" name="Line 72"/>
              <p:cNvSpPr/>
              <p:nvPr/>
            </p:nvSpPr>
            <p:spPr>
              <a:xfrm flipV="1">
                <a:off x="4740" y="2750"/>
                <a:ext cx="0" cy="907"/>
              </a:xfrm>
              <a:prstGeom prst="line">
                <a:avLst/>
              </a:prstGeom>
              <a:ln w="9525" cap="flat" cmpd="sng">
                <a:solidFill>
                  <a:schemeClr val="tx1"/>
                </a:solidFill>
                <a:prstDash val="solid"/>
                <a:headEnd type="none" w="med" len="med"/>
                <a:tailEnd type="none" w="med" len="med"/>
              </a:ln>
            </p:spPr>
          </p:sp>
          <p:sp>
            <p:nvSpPr>
              <p:cNvPr id="34860" name="Line 73"/>
              <p:cNvSpPr/>
              <p:nvPr/>
            </p:nvSpPr>
            <p:spPr>
              <a:xfrm>
                <a:off x="4740" y="2750"/>
                <a:ext cx="453" cy="0"/>
              </a:xfrm>
              <a:prstGeom prst="line">
                <a:avLst/>
              </a:prstGeom>
              <a:ln w="9525" cap="flat" cmpd="sng">
                <a:solidFill>
                  <a:schemeClr val="tx1"/>
                </a:solidFill>
                <a:prstDash val="solid"/>
                <a:headEnd type="none" w="med" len="med"/>
                <a:tailEnd type="none" w="med" len="med"/>
              </a:ln>
            </p:spPr>
          </p:sp>
          <p:sp>
            <p:nvSpPr>
              <p:cNvPr id="34861" name="Line 74"/>
              <p:cNvSpPr/>
              <p:nvPr/>
            </p:nvSpPr>
            <p:spPr>
              <a:xfrm>
                <a:off x="5193" y="2750"/>
                <a:ext cx="0" cy="453"/>
              </a:xfrm>
              <a:prstGeom prst="line">
                <a:avLst/>
              </a:prstGeom>
              <a:ln w="9525" cap="flat" cmpd="sng">
                <a:solidFill>
                  <a:schemeClr val="tx1"/>
                </a:solidFill>
                <a:prstDash val="solid"/>
                <a:headEnd type="none" w="med" len="med"/>
                <a:tailEnd type="none" w="med" len="med"/>
              </a:ln>
            </p:spPr>
          </p:sp>
        </p:grpSp>
      </p:grpSp>
      <p:grpSp>
        <p:nvGrpSpPr>
          <p:cNvPr id="34822" name="Group 40"/>
          <p:cNvGrpSpPr/>
          <p:nvPr/>
        </p:nvGrpSpPr>
        <p:grpSpPr>
          <a:xfrm>
            <a:off x="5045075" y="1554163"/>
            <a:ext cx="3695700" cy="2528887"/>
            <a:chOff x="3061" y="255"/>
            <a:chExt cx="2563" cy="1633"/>
          </a:xfrm>
        </p:grpSpPr>
        <p:grpSp>
          <p:nvGrpSpPr>
            <p:cNvPr id="34823" name="Group 35"/>
            <p:cNvGrpSpPr/>
            <p:nvPr/>
          </p:nvGrpSpPr>
          <p:grpSpPr>
            <a:xfrm>
              <a:off x="3061" y="255"/>
              <a:ext cx="2563" cy="1633"/>
              <a:chOff x="3061" y="255"/>
              <a:chExt cx="2563" cy="1633"/>
            </a:xfrm>
          </p:grpSpPr>
          <p:grpSp>
            <p:nvGrpSpPr>
              <p:cNvPr id="34828" name="Group 32"/>
              <p:cNvGrpSpPr/>
              <p:nvPr/>
            </p:nvGrpSpPr>
            <p:grpSpPr>
              <a:xfrm>
                <a:off x="3118" y="255"/>
                <a:ext cx="2506" cy="1633"/>
                <a:chOff x="3118" y="255"/>
                <a:chExt cx="2506" cy="1633"/>
              </a:xfrm>
            </p:grpSpPr>
            <p:grpSp>
              <p:nvGrpSpPr>
                <p:cNvPr id="34831" name="Group 27"/>
                <p:cNvGrpSpPr/>
                <p:nvPr/>
              </p:nvGrpSpPr>
              <p:grpSpPr>
                <a:xfrm>
                  <a:off x="3118" y="255"/>
                  <a:ext cx="2506" cy="1633"/>
                  <a:chOff x="3027" y="1706"/>
                  <a:chExt cx="2506" cy="1633"/>
                </a:xfrm>
              </p:grpSpPr>
              <p:grpSp>
                <p:nvGrpSpPr>
                  <p:cNvPr id="34836" name="Group 25"/>
                  <p:cNvGrpSpPr/>
                  <p:nvPr/>
                </p:nvGrpSpPr>
                <p:grpSpPr>
                  <a:xfrm>
                    <a:off x="3027" y="1706"/>
                    <a:ext cx="2506" cy="1633"/>
                    <a:chOff x="3027" y="1706"/>
                    <a:chExt cx="2506" cy="1633"/>
                  </a:xfrm>
                </p:grpSpPr>
                <p:grpSp>
                  <p:nvGrpSpPr>
                    <p:cNvPr id="34838" name="Group 23"/>
                    <p:cNvGrpSpPr/>
                    <p:nvPr/>
                  </p:nvGrpSpPr>
                  <p:grpSpPr>
                    <a:xfrm>
                      <a:off x="3027" y="1706"/>
                      <a:ext cx="2506" cy="1633"/>
                      <a:chOff x="3027" y="1706"/>
                      <a:chExt cx="2506" cy="1633"/>
                    </a:xfrm>
                  </p:grpSpPr>
                  <p:grpSp>
                    <p:nvGrpSpPr>
                      <p:cNvPr id="34840" name="Group 21"/>
                      <p:cNvGrpSpPr/>
                      <p:nvPr/>
                    </p:nvGrpSpPr>
                    <p:grpSpPr>
                      <a:xfrm>
                        <a:off x="3027" y="1706"/>
                        <a:ext cx="2506" cy="1633"/>
                        <a:chOff x="3027" y="1706"/>
                        <a:chExt cx="2506" cy="1633"/>
                      </a:xfrm>
                    </p:grpSpPr>
                    <p:grpSp>
                      <p:nvGrpSpPr>
                        <p:cNvPr id="34842" name="Group 17"/>
                        <p:cNvGrpSpPr/>
                        <p:nvPr/>
                      </p:nvGrpSpPr>
                      <p:grpSpPr>
                        <a:xfrm>
                          <a:off x="3027" y="1706"/>
                          <a:ext cx="2506" cy="1633"/>
                          <a:chOff x="2846" y="1706"/>
                          <a:chExt cx="2506" cy="1633"/>
                        </a:xfrm>
                      </p:grpSpPr>
                      <p:sp>
                        <p:nvSpPr>
                          <p:cNvPr id="34844" name="Line 13"/>
                          <p:cNvSpPr/>
                          <p:nvPr/>
                        </p:nvSpPr>
                        <p:spPr>
                          <a:xfrm>
                            <a:off x="3198" y="3067"/>
                            <a:ext cx="46" cy="0"/>
                          </a:xfrm>
                          <a:prstGeom prst="line">
                            <a:avLst/>
                          </a:prstGeom>
                          <a:ln w="9525" cap="flat" cmpd="sng">
                            <a:solidFill>
                              <a:schemeClr val="tx1"/>
                            </a:solidFill>
                            <a:prstDash val="solid"/>
                            <a:headEnd type="none" w="med" len="med"/>
                            <a:tailEnd type="none" w="med" len="med"/>
                          </a:ln>
                        </p:spPr>
                      </p:sp>
                      <p:grpSp>
                        <p:nvGrpSpPr>
                          <p:cNvPr id="34845" name="Group 16"/>
                          <p:cNvGrpSpPr/>
                          <p:nvPr/>
                        </p:nvGrpSpPr>
                        <p:grpSpPr>
                          <a:xfrm>
                            <a:off x="2846" y="1706"/>
                            <a:ext cx="2506" cy="1633"/>
                            <a:chOff x="2846" y="346"/>
                            <a:chExt cx="2506" cy="1633"/>
                          </a:xfrm>
                        </p:grpSpPr>
                        <p:grpSp>
                          <p:nvGrpSpPr>
                            <p:cNvPr id="34846" name="Group 11"/>
                            <p:cNvGrpSpPr/>
                            <p:nvPr/>
                          </p:nvGrpSpPr>
                          <p:grpSpPr>
                            <a:xfrm>
                              <a:off x="2880" y="346"/>
                              <a:ext cx="2472" cy="1633"/>
                              <a:chOff x="2971" y="255"/>
                              <a:chExt cx="2472" cy="1633"/>
                            </a:xfrm>
                          </p:grpSpPr>
                          <p:grpSp>
                            <p:nvGrpSpPr>
                              <p:cNvPr id="34849" name="Group 7"/>
                              <p:cNvGrpSpPr/>
                              <p:nvPr/>
                            </p:nvGrpSpPr>
                            <p:grpSpPr>
                              <a:xfrm>
                                <a:off x="3243" y="255"/>
                                <a:ext cx="2200" cy="1633"/>
                                <a:chOff x="3560" y="255"/>
                                <a:chExt cx="2200" cy="1633"/>
                              </a:xfrm>
                            </p:grpSpPr>
                            <p:sp>
                              <p:nvSpPr>
                                <p:cNvPr id="34852" name="Line 5"/>
                                <p:cNvSpPr/>
                                <p:nvPr/>
                              </p:nvSpPr>
                              <p:spPr>
                                <a:xfrm flipV="1">
                                  <a:off x="3560" y="255"/>
                                  <a:ext cx="0" cy="1633"/>
                                </a:xfrm>
                                <a:prstGeom prst="line">
                                  <a:avLst/>
                                </a:prstGeom>
                                <a:ln w="9525" cap="flat" cmpd="sng">
                                  <a:solidFill>
                                    <a:schemeClr val="tx1"/>
                                  </a:solidFill>
                                  <a:prstDash val="solid"/>
                                  <a:headEnd type="none" w="med" len="med"/>
                                  <a:tailEnd type="triangle" w="med" len="med"/>
                                </a:ln>
                              </p:spPr>
                            </p:sp>
                            <p:sp>
                              <p:nvSpPr>
                                <p:cNvPr id="34853" name="Line 6"/>
                                <p:cNvSpPr/>
                                <p:nvPr/>
                              </p:nvSpPr>
                              <p:spPr>
                                <a:xfrm>
                                  <a:off x="3560" y="1162"/>
                                  <a:ext cx="2200" cy="0"/>
                                </a:xfrm>
                                <a:prstGeom prst="line">
                                  <a:avLst/>
                                </a:prstGeom>
                                <a:ln w="9525" cap="flat" cmpd="sng">
                                  <a:solidFill>
                                    <a:schemeClr val="tx1"/>
                                  </a:solidFill>
                                  <a:prstDash val="solid"/>
                                  <a:headEnd type="none" w="med" len="med"/>
                                  <a:tailEnd type="triangle" w="med" len="med"/>
                                </a:ln>
                              </p:spPr>
                            </p:sp>
                          </p:grpSp>
                          <p:sp>
                            <p:nvSpPr>
                              <p:cNvPr id="34850" name="Text Box 8"/>
                              <p:cNvSpPr txBox="1"/>
                              <p:nvPr/>
                            </p:nvSpPr>
                            <p:spPr>
                              <a:xfrm>
                                <a:off x="2971" y="618"/>
                                <a:ext cx="363" cy="25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cs typeface="Arial" panose="020B0604020202020204" pitchFamily="34" charset="0"/>
                                  </a:rPr>
                                  <a:t>50</a:t>
                                </a:r>
                                <a:endParaRPr lang="en-US" altLang="zh-CN" sz="2000" b="1" dirty="0">
                                  <a:ea typeface="Arial" panose="020B0604020202020204" pitchFamily="34" charset="0"/>
                                </a:endParaRPr>
                              </a:p>
                            </p:txBody>
                          </p:sp>
                          <p:sp>
                            <p:nvSpPr>
                              <p:cNvPr id="34851" name="Line 10"/>
                              <p:cNvSpPr/>
                              <p:nvPr/>
                            </p:nvSpPr>
                            <p:spPr>
                              <a:xfrm>
                                <a:off x="3243" y="709"/>
                                <a:ext cx="45" cy="0"/>
                              </a:xfrm>
                              <a:prstGeom prst="line">
                                <a:avLst/>
                              </a:prstGeom>
                              <a:ln w="9525" cap="flat" cmpd="sng">
                                <a:solidFill>
                                  <a:schemeClr val="tx1"/>
                                </a:solidFill>
                                <a:prstDash val="solid"/>
                                <a:headEnd type="none" w="med" len="med"/>
                                <a:tailEnd type="none" w="med" len="med"/>
                              </a:ln>
                            </p:spPr>
                          </p:sp>
                        </p:grpSp>
                        <p:sp>
                          <p:nvSpPr>
                            <p:cNvPr id="34847" name="Text Box 14"/>
                            <p:cNvSpPr txBox="1"/>
                            <p:nvPr/>
                          </p:nvSpPr>
                          <p:spPr>
                            <a:xfrm>
                              <a:off x="2846" y="1582"/>
                              <a:ext cx="363"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-50</a:t>
                              </a:r>
                              <a:endParaRPr lang="en-US" altLang="zh-CN" sz="1800" b="1" dirty="0">
                                <a:ea typeface="Arial" panose="020B0604020202020204" pitchFamily="34" charset="0"/>
                              </a:endParaRPr>
                            </a:p>
                          </p:txBody>
                        </p:sp>
                        <p:sp>
                          <p:nvSpPr>
                            <p:cNvPr id="34848" name="Text Box 15"/>
                            <p:cNvSpPr txBox="1"/>
                            <p:nvPr/>
                          </p:nvSpPr>
                          <p:spPr>
                            <a:xfrm>
                              <a:off x="2925" y="1117"/>
                              <a:ext cx="363" cy="25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cs typeface="Arial" panose="020B0604020202020204" pitchFamily="34" charset="0"/>
                                </a:rPr>
                                <a:t>0</a:t>
                              </a:r>
                              <a:endParaRPr lang="en-US" altLang="zh-CN" sz="2000" b="1" dirty="0">
                                <a:ea typeface="Arial" panose="020B0604020202020204" pitchFamily="34" charset="0"/>
                              </a:endParaRPr>
                            </a:p>
                          </p:txBody>
                        </p:sp>
                      </p:grpSp>
                    </p:grpSp>
                    <p:sp>
                      <p:nvSpPr>
                        <p:cNvPr id="34843" name="Line 19"/>
                        <p:cNvSpPr/>
                        <p:nvPr/>
                      </p:nvSpPr>
                      <p:spPr>
                        <a:xfrm flipV="1">
                          <a:off x="3787" y="2568"/>
                          <a:ext cx="0" cy="46"/>
                        </a:xfrm>
                        <a:prstGeom prst="line">
                          <a:avLst/>
                        </a:prstGeom>
                        <a:ln w="9525" cap="flat" cmpd="sng">
                          <a:solidFill>
                            <a:schemeClr val="tx1"/>
                          </a:solidFill>
                          <a:prstDash val="solid"/>
                          <a:headEnd type="none" w="med" len="med"/>
                          <a:tailEnd type="none" w="med" len="med"/>
                        </a:ln>
                      </p:spPr>
                    </p:sp>
                  </p:grpSp>
                  <p:sp>
                    <p:nvSpPr>
                      <p:cNvPr id="34841" name="Line 22"/>
                      <p:cNvSpPr/>
                      <p:nvPr/>
                    </p:nvSpPr>
                    <p:spPr>
                      <a:xfrm flipV="1">
                        <a:off x="4241" y="2568"/>
                        <a:ext cx="0" cy="46"/>
                      </a:xfrm>
                      <a:prstGeom prst="line">
                        <a:avLst/>
                      </a:prstGeom>
                      <a:ln w="9525" cap="flat" cmpd="sng">
                        <a:solidFill>
                          <a:schemeClr val="tx1"/>
                        </a:solidFill>
                        <a:prstDash val="solid"/>
                        <a:headEnd type="none" w="med" len="med"/>
                        <a:tailEnd type="none" w="med" len="med"/>
                      </a:ln>
                    </p:spPr>
                  </p:sp>
                </p:grpSp>
                <p:sp>
                  <p:nvSpPr>
                    <p:cNvPr id="34839" name="Line 24"/>
                    <p:cNvSpPr/>
                    <p:nvPr/>
                  </p:nvSpPr>
                  <p:spPr>
                    <a:xfrm flipV="1">
                      <a:off x="4694" y="2568"/>
                      <a:ext cx="0" cy="46"/>
                    </a:xfrm>
                    <a:prstGeom prst="line">
                      <a:avLst/>
                    </a:prstGeom>
                    <a:ln w="9525" cap="flat" cmpd="sng">
                      <a:solidFill>
                        <a:schemeClr val="tx1"/>
                      </a:solidFill>
                      <a:prstDash val="solid"/>
                      <a:headEnd type="none" w="med" len="med"/>
                      <a:tailEnd type="none" w="med" len="med"/>
                    </a:ln>
                  </p:spPr>
                </p:sp>
              </p:grpSp>
              <p:sp>
                <p:nvSpPr>
                  <p:cNvPr id="34837" name="Line 26"/>
                  <p:cNvSpPr/>
                  <p:nvPr/>
                </p:nvSpPr>
                <p:spPr>
                  <a:xfrm flipV="1">
                    <a:off x="5148" y="2568"/>
                    <a:ext cx="0" cy="46"/>
                  </a:xfrm>
                  <a:prstGeom prst="line">
                    <a:avLst/>
                  </a:prstGeom>
                  <a:ln w="9525" cap="flat" cmpd="sng">
                    <a:solidFill>
                      <a:schemeClr val="tx1"/>
                    </a:solidFill>
                    <a:prstDash val="solid"/>
                    <a:headEnd type="none" w="med" len="med"/>
                    <a:tailEnd type="none" w="med" len="med"/>
                  </a:ln>
                </p:spPr>
              </p:sp>
            </p:grpSp>
            <p:sp>
              <p:nvSpPr>
                <p:cNvPr id="34832" name="Text Box 28"/>
                <p:cNvSpPr txBox="1"/>
                <p:nvPr/>
              </p:nvSpPr>
              <p:spPr>
                <a:xfrm>
                  <a:off x="3787"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cs typeface="Arial" panose="020B0604020202020204" pitchFamily="34" charset="0"/>
                    </a:rPr>
                    <a:t>1</a:t>
                  </a:r>
                  <a:endParaRPr lang="en-US" altLang="zh-CN" sz="2400" b="1" dirty="0">
                    <a:ea typeface="Arial" panose="020B0604020202020204" pitchFamily="34" charset="0"/>
                  </a:endParaRPr>
                </a:p>
              </p:txBody>
            </p:sp>
            <p:sp>
              <p:nvSpPr>
                <p:cNvPr id="34833" name="Text Box 29"/>
                <p:cNvSpPr txBox="1"/>
                <p:nvPr/>
              </p:nvSpPr>
              <p:spPr>
                <a:xfrm>
                  <a:off x="4241"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2</a:t>
                  </a:r>
                  <a:endParaRPr lang="en-US" altLang="zh-CN" sz="2400" b="1" dirty="0">
                    <a:ea typeface="Arial" panose="020B0604020202020204" pitchFamily="34" charset="0"/>
                  </a:endParaRPr>
                </a:p>
              </p:txBody>
            </p:sp>
            <p:sp>
              <p:nvSpPr>
                <p:cNvPr id="34834" name="Text Box 30"/>
                <p:cNvSpPr txBox="1"/>
                <p:nvPr/>
              </p:nvSpPr>
              <p:spPr>
                <a:xfrm>
                  <a:off x="4694"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3</a:t>
                  </a:r>
                  <a:endParaRPr lang="en-US" altLang="zh-CN" sz="2400" b="1" dirty="0">
                    <a:ea typeface="Arial" panose="020B0604020202020204" pitchFamily="34" charset="0"/>
                  </a:endParaRPr>
                </a:p>
              </p:txBody>
            </p:sp>
            <p:sp>
              <p:nvSpPr>
                <p:cNvPr id="34835" name="Text Box 31"/>
                <p:cNvSpPr txBox="1"/>
                <p:nvPr/>
              </p:nvSpPr>
              <p:spPr>
                <a:xfrm>
                  <a:off x="5148"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cs typeface="Arial" panose="020B0604020202020204" pitchFamily="34" charset="0"/>
                    </a:rPr>
                    <a:t>4</a:t>
                  </a:r>
                  <a:endParaRPr lang="en-US" altLang="zh-CN" sz="2400" b="1" dirty="0">
                    <a:ea typeface="Arial" panose="020B0604020202020204" pitchFamily="34" charset="0"/>
                  </a:endParaRPr>
                </a:p>
              </p:txBody>
            </p:sp>
          </p:grpSp>
          <p:sp>
            <p:nvSpPr>
              <p:cNvPr id="34829" name="Text Box 33"/>
              <p:cNvSpPr txBox="1"/>
              <p:nvPr/>
            </p:nvSpPr>
            <p:spPr>
              <a:xfrm>
                <a:off x="5420" y="1207"/>
                <a:ext cx="18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Monotype Corsiva" panose="03010101010201010101" pitchFamily="66" charset="0"/>
                    <a:cs typeface="Arial" panose="020B0604020202020204" pitchFamily="34" charset="0"/>
                  </a:rPr>
                  <a:t>t</a:t>
                </a:r>
                <a:endParaRPr lang="en-US" altLang="zh-CN" sz="2400" b="1" dirty="0">
                  <a:latin typeface="Monotype Corsiva" panose="03010101010201010101" pitchFamily="66" charset="0"/>
                  <a:ea typeface="Arial" panose="020B0604020202020204" pitchFamily="34" charset="0"/>
                </a:endParaRPr>
              </a:p>
            </p:txBody>
          </p:sp>
          <p:sp>
            <p:nvSpPr>
              <p:cNvPr id="34830" name="Text Box 34"/>
              <p:cNvSpPr txBox="1"/>
              <p:nvPr/>
            </p:nvSpPr>
            <p:spPr>
              <a:xfrm>
                <a:off x="3061" y="255"/>
                <a:ext cx="317" cy="25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latin typeface="Monotype Corsiva" panose="03010101010201010101" pitchFamily="66" charset="0"/>
                    <a:cs typeface="Arial" panose="020B0604020202020204" pitchFamily="34" charset="0"/>
                  </a:rPr>
                  <a:t>v(t)</a:t>
                </a:r>
                <a:endParaRPr lang="en-US" altLang="zh-CN" sz="2000" b="1" dirty="0">
                  <a:latin typeface="Monotype Corsiva" panose="03010101010201010101" pitchFamily="66" charset="0"/>
                  <a:ea typeface="Arial" panose="020B0604020202020204" pitchFamily="34" charset="0"/>
                </a:endParaRPr>
              </a:p>
            </p:txBody>
          </p:sp>
        </p:grpSp>
        <p:grpSp>
          <p:nvGrpSpPr>
            <p:cNvPr id="34824" name="Group 39"/>
            <p:cNvGrpSpPr/>
            <p:nvPr/>
          </p:nvGrpSpPr>
          <p:grpSpPr>
            <a:xfrm>
              <a:off x="3424" y="709"/>
              <a:ext cx="1815" cy="907"/>
              <a:chOff x="3424" y="709"/>
              <a:chExt cx="1815" cy="907"/>
            </a:xfrm>
          </p:grpSpPr>
          <p:sp>
            <p:nvSpPr>
              <p:cNvPr id="34825" name="Line 36"/>
              <p:cNvSpPr/>
              <p:nvPr/>
            </p:nvSpPr>
            <p:spPr>
              <a:xfrm flipV="1">
                <a:off x="3424" y="709"/>
                <a:ext cx="454" cy="408"/>
              </a:xfrm>
              <a:prstGeom prst="line">
                <a:avLst/>
              </a:prstGeom>
              <a:ln w="9525" cap="flat" cmpd="sng">
                <a:solidFill>
                  <a:schemeClr val="tx1"/>
                </a:solidFill>
                <a:prstDash val="solid"/>
                <a:headEnd type="none" w="med" len="med"/>
                <a:tailEnd type="none" w="med" len="med"/>
              </a:ln>
            </p:spPr>
          </p:sp>
          <p:sp>
            <p:nvSpPr>
              <p:cNvPr id="34826" name="Line 37"/>
              <p:cNvSpPr/>
              <p:nvPr/>
            </p:nvSpPr>
            <p:spPr>
              <a:xfrm>
                <a:off x="3878" y="709"/>
                <a:ext cx="907" cy="907"/>
              </a:xfrm>
              <a:prstGeom prst="line">
                <a:avLst/>
              </a:prstGeom>
              <a:ln w="9525" cap="flat" cmpd="sng">
                <a:solidFill>
                  <a:schemeClr val="tx1"/>
                </a:solidFill>
                <a:prstDash val="solid"/>
                <a:headEnd type="none" w="med" len="med"/>
                <a:tailEnd type="none" w="med" len="med"/>
              </a:ln>
            </p:spPr>
          </p:sp>
          <p:sp>
            <p:nvSpPr>
              <p:cNvPr id="34827" name="Line 38"/>
              <p:cNvSpPr/>
              <p:nvPr/>
            </p:nvSpPr>
            <p:spPr>
              <a:xfrm flipV="1">
                <a:off x="4785" y="1162"/>
                <a:ext cx="454" cy="454"/>
              </a:xfrm>
              <a:prstGeom prst="line">
                <a:avLst/>
              </a:prstGeom>
              <a:ln w="9525" cap="flat" cmpd="sng">
                <a:solidFill>
                  <a:schemeClr val="tx1"/>
                </a:solidFill>
                <a:prstDash val="solid"/>
                <a:headEnd type="none" w="med" len="med"/>
                <a:tailEnd type="none" w="med" len="med"/>
              </a:ln>
            </p:spPr>
          </p:sp>
        </p:gr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rcRect r="200" b="29957"/>
          <a:stretch>
            <a:fillRect/>
          </a:stretch>
        </p:blipFill>
        <p:spPr>
          <a:xfrm>
            <a:off x="0" y="476885"/>
            <a:ext cx="8978900" cy="704215"/>
          </a:xfrm>
          <a:prstGeom prst="rect">
            <a:avLst/>
          </a:prstGeom>
        </p:spPr>
      </p:pic>
      <p:pic>
        <p:nvPicPr>
          <p:cNvPr id="5" name="图片 4"/>
          <p:cNvPicPr>
            <a:picLocks noChangeAspect="1"/>
          </p:cNvPicPr>
          <p:nvPr/>
        </p:nvPicPr>
        <p:blipFill>
          <a:blip r:embed="rId3"/>
          <a:srcRect l="71342" t="64953" r="-918"/>
          <a:stretch>
            <a:fillRect/>
          </a:stretch>
        </p:blipFill>
        <p:spPr>
          <a:xfrm>
            <a:off x="6228080" y="6021070"/>
            <a:ext cx="2844165" cy="376555"/>
          </a:xfrm>
          <a:prstGeom prst="rect">
            <a:avLst/>
          </a:prstGeom>
        </p:spPr>
      </p:pic>
      <p:pic>
        <p:nvPicPr>
          <p:cNvPr id="6" name="图片 5"/>
          <p:cNvPicPr>
            <a:picLocks noChangeAspect="1"/>
          </p:cNvPicPr>
          <p:nvPr/>
        </p:nvPicPr>
        <p:blipFill>
          <a:blip r:embed="rId4"/>
          <a:srcRect l="4075"/>
          <a:stretch>
            <a:fillRect/>
          </a:stretch>
        </p:blipFill>
        <p:spPr>
          <a:xfrm>
            <a:off x="5580380" y="980440"/>
            <a:ext cx="3333115" cy="2529840"/>
          </a:xfrm>
          <a:prstGeom prst="rect">
            <a:avLst/>
          </a:prstGeom>
        </p:spPr>
      </p:pic>
      <mc:AlternateContent xmlns:mc="http://schemas.openxmlformats.org/markup-compatibility/2006">
        <mc:Choice xmlns:a14="http://schemas.microsoft.com/office/drawing/2010/main" xmlns="" Requires="a14">
          <p:sp>
            <p:nvSpPr>
              <p:cNvPr id="7" name="文本框 6"/>
              <p:cNvSpPr txBox="1"/>
              <p:nvPr/>
            </p:nvSpPr>
            <p:spPr>
              <a:xfrm>
                <a:off x="368300" y="1228725"/>
                <a:ext cx="5126990" cy="4404360"/>
              </a:xfrm>
              <a:prstGeom prst="rect">
                <a:avLst/>
              </a:prstGeom>
              <a:noFill/>
            </p:spPr>
            <p:txBody>
              <a:bodyPr wrap="square" rtlCol="0">
                <a:spAutoFit/>
              </a:bodyPr>
              <a:lstStyle/>
              <a:p>
                <a:r>
                  <a:rPr lang="zh-CN" altLang="en-US" sz="2000">
                    <a:solidFill>
                      <a:schemeClr val="tx1"/>
                    </a:solidFill>
                  </a:rPr>
                  <a:t>解：</a:t>
                </a:r>
                <a:r>
                  <a:rPr lang="en-US" altLang="zh-CN" sz="2000">
                    <a:solidFill>
                      <a:schemeClr val="tx1"/>
                    </a:solidFill>
                  </a:rPr>
                  <a:t>i=dq/dt</a:t>
                </a:r>
              </a:p>
              <a:p>
                <a:r>
                  <a:rPr lang="en-US" altLang="zh-CN" sz="2000">
                    <a:solidFill>
                      <a:schemeClr val="tx1"/>
                    </a:solidFill>
                  </a:rPr>
                  <a:t>q=</a:t>
                </a:r>
                <a14:m>
                  <m:oMath xmlns:m="http://schemas.openxmlformats.org/officeDocument/2006/math">
                    <m:nary>
                      <m:naryPr>
                        <m:limLoc m:val="subSup"/>
                        <m:ctrlPr>
                          <a:rPr lang="en-US" altLang="zh-CN" sz="2000" i="1">
                            <a:solidFill>
                              <a:schemeClr val="tx1"/>
                            </a:solidFill>
                            <a:latin typeface="Cambria Math" panose="02040503050406030204" pitchFamily="18" charset="0"/>
                            <a:cs typeface="Cambria Math" panose="02040503050406030204" charset="0"/>
                          </a:rPr>
                        </m:ctrlPr>
                      </m:naryPr>
                      <m:sub>
                        <m:r>
                          <a:rPr lang="en-US" altLang="zh-CN" sz="2000" i="1">
                            <a:solidFill>
                              <a:schemeClr val="tx1"/>
                            </a:solidFill>
                            <a:latin typeface="Cambria Math" panose="02040503050406030204" charset="0"/>
                            <a:cs typeface="Cambria Math" panose="02040503050406030204" charset="0"/>
                          </a:rPr>
                          <m:t>0</m:t>
                        </m:r>
                      </m:sub>
                      <m:sup>
                        <m:r>
                          <a:rPr lang="en-US" altLang="zh-CN" sz="2000" i="1">
                            <a:solidFill>
                              <a:schemeClr val="tx1"/>
                            </a:solidFill>
                            <a:latin typeface="Cambria Math" panose="02040503050406030204" charset="0"/>
                            <a:cs typeface="Cambria Math" panose="02040503050406030204" charset="0"/>
                          </a:rPr>
                          <m:t>2</m:t>
                        </m:r>
                      </m:sup>
                      <m:e>
                        <m:r>
                          <a:rPr lang="en-US" altLang="zh-CN" sz="2000" i="1">
                            <a:solidFill>
                              <a:schemeClr val="tx1"/>
                            </a:solidFill>
                            <a:latin typeface="Cambria Math" panose="02040503050406030204" charset="0"/>
                            <a:cs typeface="Cambria Math" panose="02040503050406030204" charset="0"/>
                          </a:rPr>
                          <m:t>𝑖𝑑𝑡</m:t>
                        </m:r>
                        <m:r>
                          <a:rPr lang="en-US" altLang="zh-CN" sz="2000" i="1">
                            <a:solidFill>
                              <a:schemeClr val="tx1"/>
                            </a:solidFill>
                            <a:latin typeface="Cambria Math" panose="02040503050406030204" charset="0"/>
                            <a:cs typeface="Cambria Math" panose="02040503050406030204" charset="0"/>
                          </a:rPr>
                          <m:t>=</m:t>
                        </m:r>
                      </m:e>
                    </m:nary>
                  </m:oMath>
                </a14:m>
                <a:r>
                  <a:rPr lang="en-US" altLang="zh-CN" sz="2000">
                    <a:solidFill>
                      <a:schemeClr val="tx1"/>
                    </a:solidFill>
                  </a:rPr>
                  <a:t>100x10</a:t>
                </a:r>
                <a:r>
                  <a:rPr lang="en-US" altLang="zh-CN" sz="2000" baseline="30000">
                    <a:solidFill>
                      <a:schemeClr val="tx1"/>
                    </a:solidFill>
                    <a:uFillTx/>
                  </a:rPr>
                  <a:t>-6</a:t>
                </a:r>
                <a:r>
                  <a:rPr lang="en-US" altLang="zh-CN" sz="2000">
                    <a:solidFill>
                      <a:schemeClr val="tx1"/>
                    </a:solidFill>
                    <a:sym typeface="+mn-ea"/>
                  </a:rPr>
                  <a:t>C</a:t>
                </a:r>
              </a:p>
              <a:p>
                <a:endParaRPr lang="en-US" altLang="zh-CN" sz="2000">
                  <a:solidFill>
                    <a:schemeClr val="tx1"/>
                  </a:solidFill>
                  <a:sym typeface="+mn-ea"/>
                </a:endParaRPr>
              </a:p>
              <a:p>
                <a:r>
                  <a:rPr lang="en-US" altLang="zh-CN" sz="2000">
                    <a:solidFill>
                      <a:schemeClr val="tx1"/>
                    </a:solidFill>
                    <a:sym typeface="+mn-ea"/>
                  </a:rPr>
                  <a:t>t=2ms</a:t>
                </a:r>
                <a:r>
                  <a:rPr lang="zh-CN" altLang="en-US" sz="2000">
                    <a:solidFill>
                      <a:schemeClr val="tx1"/>
                    </a:solidFill>
                    <a:sym typeface="+mn-ea"/>
                  </a:rPr>
                  <a:t>时；</a:t>
                </a:r>
                <a:r>
                  <a:rPr lang="en-US" altLang="zh-CN" sz="2000">
                    <a:solidFill>
                      <a:schemeClr val="tx1"/>
                    </a:solidFill>
                    <a:sym typeface="+mn-ea"/>
                  </a:rPr>
                  <a:t>V=Q/C=(100X10</a:t>
                </a:r>
                <a:r>
                  <a:rPr lang="en-US" altLang="zh-CN" sz="2000" baseline="30000">
                    <a:solidFill>
                      <a:schemeClr val="tx1"/>
                    </a:solidFill>
                    <a:uFillTx/>
                    <a:sym typeface="+mn-ea"/>
                  </a:rPr>
                  <a:t>-6</a:t>
                </a:r>
                <a:r>
                  <a:rPr lang="zh-CN" altLang="en-US" sz="2000">
                    <a:solidFill>
                      <a:schemeClr val="tx1"/>
                    </a:solidFill>
                    <a:sym typeface="+mn-ea"/>
                  </a:rPr>
                  <a:t>）</a:t>
                </a:r>
                <a:r>
                  <a:rPr lang="en-US" altLang="zh-CN" sz="2000">
                    <a:solidFill>
                      <a:schemeClr val="tx1"/>
                    </a:solidFill>
                    <a:sym typeface="+mn-ea"/>
                  </a:rPr>
                  <a:t>/1x10</a:t>
                </a:r>
                <a:r>
                  <a:rPr lang="en-US" altLang="zh-CN" sz="2000" baseline="30000">
                    <a:solidFill>
                      <a:schemeClr val="tx1"/>
                    </a:solidFill>
                    <a:uFillTx/>
                    <a:sym typeface="+mn-ea"/>
                  </a:rPr>
                  <a:t>-3</a:t>
                </a:r>
                <a:r>
                  <a:rPr lang="en-US" altLang="zh-CN" sz="2000">
                    <a:solidFill>
                      <a:schemeClr val="tx1"/>
                    </a:solidFill>
                    <a:sym typeface="+mn-ea"/>
                  </a:rPr>
                  <a:t>=100mV</a:t>
                </a:r>
                <a:r>
                  <a:rPr lang="zh-CN" altLang="en-US" sz="2000">
                    <a:solidFill>
                      <a:schemeClr val="tx1"/>
                    </a:solidFill>
                    <a:sym typeface="+mn-ea"/>
                  </a:rPr>
                  <a:t>；</a:t>
                </a:r>
              </a:p>
              <a:p>
                <a:endParaRPr lang="zh-CN" altLang="en-US" sz="2000">
                  <a:solidFill>
                    <a:schemeClr val="tx1"/>
                  </a:solidFill>
                  <a:sym typeface="+mn-ea"/>
                </a:endParaRPr>
              </a:p>
              <a:p>
                <a:r>
                  <a:rPr lang="en-US" altLang="zh-CN" sz="2000">
                    <a:solidFill>
                      <a:schemeClr val="tx1"/>
                    </a:solidFill>
                  </a:rPr>
                  <a:t>t=2ms  </a:t>
                </a:r>
                <a:r>
                  <a:rPr lang="zh-CN" altLang="en-US" sz="2000">
                    <a:solidFill>
                      <a:schemeClr val="tx1"/>
                    </a:solidFill>
                  </a:rPr>
                  <a:t>到</a:t>
                </a:r>
                <a:r>
                  <a:rPr lang="en-US" altLang="zh-CN" sz="2000">
                    <a:solidFill>
                      <a:schemeClr val="tx1"/>
                    </a:solidFill>
                  </a:rPr>
                  <a:t> t=5ms  </a:t>
                </a:r>
                <a:r>
                  <a:rPr lang="zh-CN" altLang="en-US" sz="2000">
                    <a:solidFill>
                      <a:schemeClr val="tx1"/>
                    </a:solidFill>
                  </a:rPr>
                  <a:t>期间；</a:t>
                </a:r>
              </a:p>
              <a:p>
                <a:endParaRPr lang="zh-CN" altLang="en-US" sz="2000">
                  <a:solidFill>
                    <a:schemeClr val="tx1"/>
                  </a:solidFill>
                </a:endParaRPr>
              </a:p>
              <a:p>
                <a:r>
                  <a:rPr lang="en-US" altLang="zh-CN" sz="2000">
                    <a:solidFill>
                      <a:schemeClr val="tx1"/>
                    </a:solidFill>
                  </a:rPr>
                  <a:t>q=100*3*</a:t>
                </a:r>
                <a:r>
                  <a:rPr lang="en-US" altLang="zh-CN" sz="2000">
                    <a:solidFill>
                      <a:schemeClr val="tx1"/>
                    </a:solidFill>
                    <a:sym typeface="+mn-ea"/>
                  </a:rPr>
                  <a:t>10</a:t>
                </a:r>
                <a:r>
                  <a:rPr lang="en-US" altLang="zh-CN" sz="2000" baseline="30000">
                    <a:solidFill>
                      <a:schemeClr val="tx1"/>
                    </a:solidFill>
                    <a:uFillTx/>
                    <a:sym typeface="+mn-ea"/>
                  </a:rPr>
                  <a:t>-6</a:t>
                </a:r>
                <a:r>
                  <a:rPr lang="en-US" altLang="zh-CN" sz="2000">
                    <a:solidFill>
                      <a:schemeClr val="tx1"/>
                    </a:solidFill>
                    <a:sym typeface="+mn-ea"/>
                  </a:rPr>
                  <a:t>C</a:t>
                </a:r>
              </a:p>
              <a:p>
                <a:endParaRPr lang="en-US" altLang="zh-CN" sz="2000">
                  <a:solidFill>
                    <a:schemeClr val="tx1"/>
                  </a:solidFill>
                  <a:sym typeface="+mn-ea"/>
                </a:endParaRPr>
              </a:p>
              <a:p>
                <a:r>
                  <a:rPr lang="en-US" altLang="zh-CN" sz="2000">
                    <a:solidFill>
                      <a:schemeClr val="tx1"/>
                    </a:solidFill>
                    <a:sym typeface="+mn-ea"/>
                  </a:rPr>
                  <a:t>V=Q/C=(100x10</a:t>
                </a:r>
                <a:r>
                  <a:rPr lang="en-US" altLang="zh-CN" sz="2000" baseline="30000">
                    <a:solidFill>
                      <a:schemeClr val="tx1"/>
                    </a:solidFill>
                    <a:uFillTx/>
                    <a:sym typeface="+mn-ea"/>
                  </a:rPr>
                  <a:t>-6</a:t>
                </a:r>
                <a:r>
                  <a:rPr lang="en-US" altLang="zh-CN" sz="2000">
                    <a:solidFill>
                      <a:schemeClr val="tx1"/>
                    </a:solidFill>
                    <a:sym typeface="+mn-ea"/>
                  </a:rPr>
                  <a:t>+100*3*10</a:t>
                </a:r>
                <a:r>
                  <a:rPr lang="en-US" altLang="zh-CN" sz="2000" baseline="30000">
                    <a:solidFill>
                      <a:schemeClr val="tx1"/>
                    </a:solidFill>
                    <a:uFillTx/>
                    <a:sym typeface="+mn-ea"/>
                  </a:rPr>
                  <a:t>-6</a:t>
                </a:r>
                <a:r>
                  <a:rPr lang="en-US" altLang="zh-CN" sz="2000">
                    <a:solidFill>
                      <a:schemeClr val="tx1"/>
                    </a:solidFill>
                    <a:sym typeface="+mn-ea"/>
                  </a:rPr>
                  <a:t>)//1x10</a:t>
                </a:r>
                <a:r>
                  <a:rPr lang="en-US" altLang="zh-CN" sz="2000" baseline="30000">
                    <a:solidFill>
                      <a:schemeClr val="tx1"/>
                    </a:solidFill>
                    <a:uFillTx/>
                    <a:sym typeface="+mn-ea"/>
                  </a:rPr>
                  <a:t>-3 </a:t>
                </a:r>
                <a:r>
                  <a:rPr lang="en-US" altLang="zh-CN" sz="2000">
                    <a:solidFill>
                      <a:schemeClr val="tx1"/>
                    </a:solidFill>
                    <a:sym typeface="+mn-ea"/>
                  </a:rPr>
                  <a:t>=400mV</a:t>
                </a:r>
                <a:r>
                  <a:rPr lang="zh-CN" altLang="en-US" sz="2000">
                    <a:solidFill>
                      <a:schemeClr val="tx1"/>
                    </a:solidFill>
                    <a:sym typeface="+mn-ea"/>
                  </a:rPr>
                  <a:t>；</a:t>
                </a:r>
                <a:endParaRPr lang="en-US" altLang="zh-CN" sz="2000">
                  <a:solidFill>
                    <a:schemeClr val="tx1"/>
                  </a:solidFill>
                  <a:sym typeface="+mn-ea"/>
                </a:endParaRPr>
              </a:p>
              <a:p>
                <a:endParaRPr lang="en-US" altLang="zh-CN" sz="2000">
                  <a:solidFill>
                    <a:schemeClr val="tx1"/>
                  </a:solidFill>
                </a:endParaRPr>
              </a:p>
              <a:p>
                <a:endParaRPr lang="en-US" altLang="zh-CN" sz="2000" baseline="30000">
                  <a:solidFill>
                    <a:schemeClr val="tx1"/>
                  </a:solidFill>
                  <a:uFillTx/>
                </a:endParaRPr>
              </a:p>
            </p:txBody>
          </p:sp>
        </mc:Choice>
        <mc:Fallback>
          <p:sp>
            <p:nvSpPr>
              <p:cNvPr id="7" name="文本框 6"/>
              <p:cNvSpPr txBox="1">
                <a:spLocks noRot="1" noChangeAspect="1" noMove="1" noResize="1" noEditPoints="1" noAdjustHandles="1" noChangeArrowheads="1" noChangeShapeType="1" noTextEdit="1"/>
              </p:cNvSpPr>
              <p:nvPr/>
            </p:nvSpPr>
            <p:spPr>
              <a:xfrm>
                <a:off x="368300" y="1228725"/>
                <a:ext cx="5126990" cy="4404360"/>
              </a:xfrm>
              <a:prstGeom prst="rect">
                <a:avLst/>
              </a:prstGeom>
              <a:blipFill rotWithShape="1">
                <a:blip r:embed="rId5"/>
                <a:stretch>
                  <a:fillRect/>
                </a:stretch>
              </a:blipFill>
            </p:spPr>
            <p:txBody>
              <a:bodyPr/>
              <a:lstStyle/>
              <a:p>
                <a:r>
                  <a:rPr lang="zh-CN" altLang="en-US">
                    <a:noFill/>
                  </a:rPr>
                  <a:t> </a:t>
                </a:r>
              </a:p>
            </p:txBody>
          </p:sp>
        </mc:Fallback>
      </mc:AlternateContent>
      <p:graphicFrame>
        <p:nvGraphicFramePr>
          <p:cNvPr id="24584" name="Object 28"/>
          <p:cNvGraphicFramePr>
            <a:graphicFrameLocks noChangeAspect="1"/>
          </p:cNvGraphicFramePr>
          <p:nvPr/>
        </p:nvGraphicFramePr>
        <p:xfrm>
          <a:off x="683895" y="5589270"/>
          <a:ext cx="2733675" cy="919163"/>
        </p:xfrm>
        <a:graphic>
          <a:graphicData uri="http://schemas.openxmlformats.org/presentationml/2006/ole">
            <p:oleObj spid="_x0000_s13314" r:id="rId6" imgW="1167893" imgH="393529" progId="">
              <p:embed/>
            </p:oleObj>
          </a:graphicData>
        </a:graphic>
      </p:graphicFrame>
      <p:sp>
        <p:nvSpPr>
          <p:cNvPr id="8" name="文本框 7"/>
          <p:cNvSpPr txBox="1"/>
          <p:nvPr/>
        </p:nvSpPr>
        <p:spPr>
          <a:xfrm>
            <a:off x="6391275" y="3891915"/>
            <a:ext cx="877570"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a:t>堂练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rcRect l="4075"/>
          <a:stretch>
            <a:fillRect/>
          </a:stretch>
        </p:blipFill>
        <p:spPr>
          <a:xfrm>
            <a:off x="5580380" y="980440"/>
            <a:ext cx="3333115" cy="2529840"/>
          </a:xfrm>
          <a:prstGeom prst="rect">
            <a:avLst/>
          </a:prstGeom>
        </p:spPr>
      </p:pic>
      <p:sp>
        <p:nvSpPr>
          <p:cNvPr id="5" name="TextBox 4"/>
          <p:cNvSpPr txBox="1"/>
          <p:nvPr/>
        </p:nvSpPr>
        <p:spPr>
          <a:xfrm>
            <a:off x="285720" y="1000108"/>
            <a:ext cx="4572032" cy="369332"/>
          </a:xfrm>
          <a:prstGeom prst="rect">
            <a:avLst/>
          </a:prstGeom>
          <a:noFill/>
        </p:spPr>
        <p:txBody>
          <a:bodyPr wrap="square" rtlCol="0">
            <a:spAutoFit/>
          </a:bodyPr>
          <a:lstStyle/>
          <a:p>
            <a:r>
              <a:rPr lang="zh-CN" altLang="en-US" dirty="0" smtClean="0">
                <a:solidFill>
                  <a:schemeClr val="tx1"/>
                </a:solidFill>
              </a:rPr>
              <a:t>解：</a:t>
            </a:r>
            <a:r>
              <a:rPr lang="en-US" altLang="zh-CN" dirty="0" err="1" smtClean="0">
                <a:solidFill>
                  <a:schemeClr val="tx1"/>
                </a:solidFill>
              </a:rPr>
              <a:t>i</a:t>
            </a:r>
            <a:r>
              <a:rPr lang="en-US" altLang="zh-CN" dirty="0" smtClean="0">
                <a:solidFill>
                  <a:schemeClr val="tx1"/>
                </a:solidFill>
              </a:rPr>
              <a:t>=50t    ,   0≤t≤2</a:t>
            </a:r>
            <a:endParaRPr lang="zh-CN" altLang="en-US" dirty="0">
              <a:solidFill>
                <a:schemeClr val="tx1"/>
              </a:solidFill>
            </a:endParaRPr>
          </a:p>
        </p:txBody>
      </p:sp>
      <p:graphicFrame>
        <p:nvGraphicFramePr>
          <p:cNvPr id="132098" name="Object 2"/>
          <p:cNvGraphicFramePr>
            <a:graphicFrameLocks noChangeAspect="1"/>
          </p:cNvGraphicFramePr>
          <p:nvPr/>
        </p:nvGraphicFramePr>
        <p:xfrm>
          <a:off x="642910" y="1500174"/>
          <a:ext cx="2730500" cy="914400"/>
        </p:xfrm>
        <a:graphic>
          <a:graphicData uri="http://schemas.openxmlformats.org/presentationml/2006/ole">
            <p:oleObj spid="_x0000_s132098" r:id="rId4" imgW="1167893" imgH="393529" progId="">
              <p:embed/>
            </p:oleObj>
          </a:graphicData>
        </a:graphic>
      </p:graphicFrame>
      <p:sp>
        <p:nvSpPr>
          <p:cNvPr id="7" name="矩形 6"/>
          <p:cNvSpPr/>
          <p:nvPr/>
        </p:nvSpPr>
        <p:spPr>
          <a:xfrm>
            <a:off x="857224" y="4000504"/>
            <a:ext cx="5968301" cy="1200329"/>
          </a:xfrm>
          <a:prstGeom prst="rect">
            <a:avLst/>
          </a:prstGeom>
        </p:spPr>
        <p:txBody>
          <a:bodyPr wrap="none">
            <a:spAutoFit/>
          </a:bodyPr>
          <a:lstStyle/>
          <a:p>
            <a:r>
              <a:rPr lang="en-US" altLang="zh-CN" dirty="0" smtClean="0">
                <a:solidFill>
                  <a:srgbClr val="000000"/>
                </a:solidFill>
              </a:rPr>
              <a:t> </a:t>
            </a:r>
            <a:r>
              <a:rPr lang="en-US" altLang="zh-CN" dirty="0" err="1" smtClean="0">
                <a:solidFill>
                  <a:srgbClr val="000000"/>
                </a:solidFill>
              </a:rPr>
              <a:t>i</a:t>
            </a:r>
            <a:r>
              <a:rPr lang="en-US" altLang="zh-CN" dirty="0" smtClean="0">
                <a:solidFill>
                  <a:srgbClr val="000000"/>
                </a:solidFill>
              </a:rPr>
              <a:t>=100mA=0.1A,     </a:t>
            </a:r>
            <a:r>
              <a:rPr lang="en-US" altLang="zh-CN" dirty="0" smtClean="0">
                <a:solidFill>
                  <a:srgbClr val="000000"/>
                </a:solidFill>
              </a:rPr>
              <a:t>2≤</a:t>
            </a:r>
            <a:r>
              <a:rPr lang="en-US" altLang="zh-CN" dirty="0" smtClean="0">
                <a:solidFill>
                  <a:srgbClr val="000000"/>
                </a:solidFill>
              </a:rPr>
              <a:t>t</a:t>
            </a:r>
          </a:p>
          <a:p>
            <a:endParaRPr lang="en-US" altLang="zh-CN" dirty="0" smtClean="0">
              <a:solidFill>
                <a:srgbClr val="000000"/>
              </a:solidFill>
            </a:endParaRPr>
          </a:p>
          <a:p>
            <a:r>
              <a:rPr lang="en-US" altLang="zh-CN" dirty="0" smtClean="0">
                <a:solidFill>
                  <a:schemeClr val="tx1"/>
                </a:solidFill>
              </a:rPr>
              <a:t>V=1/(1*10</a:t>
            </a:r>
            <a:r>
              <a:rPr lang="en-US" altLang="zh-CN" baseline="30000" dirty="0" smtClean="0">
                <a:solidFill>
                  <a:schemeClr val="tx1"/>
                </a:solidFill>
              </a:rPr>
              <a:t>-3</a:t>
            </a:r>
            <a:r>
              <a:rPr lang="en-US" altLang="zh-CN" dirty="0" smtClean="0">
                <a:solidFill>
                  <a:schemeClr val="tx1"/>
                </a:solidFill>
              </a:rPr>
              <a:t>)*0.1*t|</a:t>
            </a:r>
            <a:r>
              <a:rPr lang="en-US" altLang="zh-CN" baseline="30000" dirty="0" smtClean="0">
                <a:solidFill>
                  <a:schemeClr val="tx1"/>
                </a:solidFill>
              </a:rPr>
              <a:t>0.005</a:t>
            </a:r>
            <a:r>
              <a:rPr lang="en-US" altLang="zh-CN" baseline="-25000" dirty="0" smtClean="0">
                <a:solidFill>
                  <a:schemeClr val="tx1"/>
                </a:solidFill>
              </a:rPr>
              <a:t>0.002</a:t>
            </a:r>
            <a:r>
              <a:rPr lang="en-US" altLang="zh-CN" dirty="0" smtClean="0">
                <a:solidFill>
                  <a:schemeClr val="tx1"/>
                </a:solidFill>
              </a:rPr>
              <a:t>+0.1=0.3V+0.1V=0.4V=400mV</a:t>
            </a:r>
            <a:endParaRPr lang="en-US" altLang="zh-CN" baseline="30000" dirty="0" smtClean="0">
              <a:solidFill>
                <a:schemeClr val="tx1"/>
              </a:solidFill>
            </a:endParaRPr>
          </a:p>
          <a:p>
            <a:endParaRPr lang="zh-CN" altLang="en-US" dirty="0"/>
          </a:p>
        </p:txBody>
      </p:sp>
      <p:sp>
        <p:nvSpPr>
          <p:cNvPr id="8" name="TextBox 7"/>
          <p:cNvSpPr txBox="1"/>
          <p:nvPr/>
        </p:nvSpPr>
        <p:spPr>
          <a:xfrm>
            <a:off x="714348" y="2643182"/>
            <a:ext cx="4714908" cy="1292662"/>
          </a:xfrm>
          <a:prstGeom prst="rect">
            <a:avLst/>
          </a:prstGeom>
          <a:noFill/>
        </p:spPr>
        <p:txBody>
          <a:bodyPr wrap="square" rtlCol="0">
            <a:spAutoFit/>
          </a:bodyPr>
          <a:lstStyle/>
          <a:p>
            <a:r>
              <a:rPr lang="en-US" altLang="zh-CN" dirty="0" smtClean="0">
                <a:solidFill>
                  <a:schemeClr val="tx1"/>
                </a:solidFill>
              </a:rPr>
              <a:t>V=1/(1*10</a:t>
            </a:r>
            <a:r>
              <a:rPr lang="en-US" altLang="zh-CN" baseline="30000" dirty="0" smtClean="0">
                <a:solidFill>
                  <a:schemeClr val="tx1"/>
                </a:solidFill>
              </a:rPr>
              <a:t>-3</a:t>
            </a:r>
            <a:r>
              <a:rPr lang="en-US" altLang="zh-CN" dirty="0" smtClean="0">
                <a:solidFill>
                  <a:schemeClr val="tx1"/>
                </a:solidFill>
              </a:rPr>
              <a:t>)*50*(1/2)t</a:t>
            </a:r>
            <a:r>
              <a:rPr lang="en-US" altLang="zh-CN" baseline="30000" dirty="0" smtClean="0">
                <a:solidFill>
                  <a:schemeClr val="tx1"/>
                </a:solidFill>
              </a:rPr>
              <a:t>2</a:t>
            </a:r>
            <a:r>
              <a:rPr lang="en-US" altLang="zh-CN" dirty="0" smtClean="0">
                <a:solidFill>
                  <a:schemeClr val="tx1"/>
                </a:solidFill>
              </a:rPr>
              <a:t>=25000*t</a:t>
            </a:r>
            <a:r>
              <a:rPr lang="en-US" altLang="zh-CN" baseline="30000" dirty="0" smtClean="0">
                <a:solidFill>
                  <a:schemeClr val="tx1"/>
                </a:solidFill>
              </a:rPr>
              <a:t>2</a:t>
            </a:r>
          </a:p>
          <a:p>
            <a:endParaRPr lang="en-US" altLang="zh-CN" baseline="30000" dirty="0" smtClean="0">
              <a:solidFill>
                <a:schemeClr val="tx1"/>
              </a:solidFill>
            </a:endParaRPr>
          </a:p>
          <a:p>
            <a:r>
              <a:rPr lang="en-US" altLang="zh-CN" dirty="0" smtClean="0">
                <a:solidFill>
                  <a:schemeClr val="tx1"/>
                </a:solidFill>
              </a:rPr>
              <a:t>T=2ms</a:t>
            </a:r>
            <a:r>
              <a:rPr lang="zh-CN" altLang="en-US" dirty="0" smtClean="0">
                <a:solidFill>
                  <a:schemeClr val="tx1"/>
                </a:solidFill>
              </a:rPr>
              <a:t>时</a:t>
            </a:r>
            <a:endParaRPr lang="en-US" altLang="zh-CN" dirty="0" smtClean="0">
              <a:solidFill>
                <a:schemeClr val="tx1"/>
              </a:solidFill>
            </a:endParaRPr>
          </a:p>
          <a:p>
            <a:endParaRPr lang="en-US" altLang="zh-CN" baseline="30000" dirty="0" smtClean="0">
              <a:solidFill>
                <a:schemeClr val="tx1"/>
              </a:solidFill>
            </a:endParaRPr>
          </a:p>
          <a:p>
            <a:r>
              <a:rPr lang="en-US" altLang="zh-CN" dirty="0" smtClean="0">
                <a:solidFill>
                  <a:schemeClr val="tx1"/>
                </a:solidFill>
              </a:rPr>
              <a:t>V=25000*</a:t>
            </a:r>
            <a:r>
              <a:rPr lang="zh-CN" altLang="en-US" dirty="0" smtClean="0">
                <a:solidFill>
                  <a:schemeClr val="tx1"/>
                </a:solidFill>
              </a:rPr>
              <a:t>（</a:t>
            </a:r>
            <a:r>
              <a:rPr lang="en-US" altLang="zh-CN" dirty="0" smtClean="0">
                <a:solidFill>
                  <a:schemeClr val="tx1"/>
                </a:solidFill>
              </a:rPr>
              <a:t>2*10</a:t>
            </a:r>
            <a:r>
              <a:rPr lang="en-US" altLang="zh-CN" baseline="30000" dirty="0" smtClean="0">
                <a:solidFill>
                  <a:schemeClr val="tx1"/>
                </a:solidFill>
              </a:rPr>
              <a:t>-3</a:t>
            </a:r>
            <a:r>
              <a:rPr lang="zh-CN" altLang="en-US" dirty="0" smtClean="0">
                <a:solidFill>
                  <a:schemeClr val="tx1"/>
                </a:solidFill>
              </a:rPr>
              <a:t>）</a:t>
            </a:r>
            <a:r>
              <a:rPr lang="en-US" altLang="zh-CN" baseline="30000" dirty="0" smtClean="0">
                <a:solidFill>
                  <a:schemeClr val="tx1"/>
                </a:solidFill>
              </a:rPr>
              <a:t>2</a:t>
            </a:r>
            <a:r>
              <a:rPr lang="en-US" altLang="zh-CN" dirty="0" smtClean="0">
                <a:solidFill>
                  <a:schemeClr val="tx1"/>
                </a:solidFill>
              </a:rPr>
              <a:t>=0.1V=100mV </a:t>
            </a:r>
            <a:endParaRPr lang="zh-CN" altLang="en-US"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1"/>
          <p:cNvSpPr txBox="1"/>
          <p:nvPr/>
        </p:nvSpPr>
        <p:spPr>
          <a:xfrm>
            <a:off x="496888" y="947738"/>
            <a:ext cx="8424862"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b="1" dirty="0">
                <a:solidFill>
                  <a:srgbClr val="FF0000"/>
                </a:solidFill>
                <a:latin typeface="Arial Black" panose="020B0A04020102020204" pitchFamily="34" charset="0"/>
                <a:cs typeface="Arial" panose="020B0604020202020204" pitchFamily="34" charset="0"/>
              </a:rPr>
              <a:t>6-5 </a:t>
            </a:r>
            <a:r>
              <a:rPr lang="zh-CN" altLang="en-US" sz="2400" b="1" dirty="0">
                <a:solidFill>
                  <a:srgbClr val="FF0000"/>
                </a:solidFill>
                <a:latin typeface="Arial Black" panose="020B0A04020102020204" pitchFamily="34" charset="0"/>
                <a:cs typeface="Arial" panose="020B0604020202020204" pitchFamily="34" charset="0"/>
              </a:rPr>
              <a:t>：</a:t>
            </a:r>
            <a:endParaRPr lang="en-US" altLang="zh-CN" sz="2400" b="1" dirty="0">
              <a:solidFill>
                <a:srgbClr val="FF0000"/>
              </a:solidFill>
              <a:latin typeface="Arial Black" panose="020B0A04020102020204" pitchFamily="34" charset="0"/>
              <a:cs typeface="Arial" panose="020B0604020202020204" pitchFamily="34" charset="0"/>
            </a:endParaRPr>
          </a:p>
          <a:p>
            <a:pPr marL="0" lvl="0" indent="0" eaLnBrk="1" hangingPunct="1">
              <a:spcBef>
                <a:spcPct val="50000"/>
              </a:spcBef>
              <a:buClrTx/>
              <a:buSzTx/>
              <a:buFontTx/>
              <a:buNone/>
            </a:pPr>
            <a:r>
              <a:rPr lang="en-US" altLang="zh-CN" sz="2400" b="1" dirty="0">
                <a:solidFill>
                  <a:srgbClr val="FF0000"/>
                </a:solidFill>
                <a:latin typeface="Arial Black" panose="020B0A04020102020204" pitchFamily="34"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计算图中每一个电容在直流电源下存储的能量。</a:t>
            </a:r>
            <a:endParaRPr lang="en-US" altLang="zh-CN" sz="2400" b="1" dirty="0">
              <a:latin typeface="Times New Roman" panose="02020603050405020304" pitchFamily="18" charset="0"/>
              <a:ea typeface="Arial" panose="020B0604020202020204" pitchFamily="34" charset="0"/>
            </a:endParaRPr>
          </a:p>
        </p:txBody>
      </p:sp>
      <p:grpSp>
        <p:nvGrpSpPr>
          <p:cNvPr id="35843" name="Group 109"/>
          <p:cNvGrpSpPr/>
          <p:nvPr/>
        </p:nvGrpSpPr>
        <p:grpSpPr>
          <a:xfrm>
            <a:off x="1619250" y="2852738"/>
            <a:ext cx="4729163" cy="2511425"/>
            <a:chOff x="0" y="272"/>
            <a:chExt cx="2712" cy="1582"/>
          </a:xfrm>
        </p:grpSpPr>
        <p:sp>
          <p:nvSpPr>
            <p:cNvPr id="35845" name="Text Box 70"/>
            <p:cNvSpPr txBox="1"/>
            <p:nvPr/>
          </p:nvSpPr>
          <p:spPr>
            <a:xfrm>
              <a:off x="1834" y="1514"/>
              <a:ext cx="411"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600" b="1" dirty="0">
                  <a:cs typeface="Arial" panose="020B0604020202020204" pitchFamily="34" charset="0"/>
                </a:rPr>
                <a:t>4mF</a:t>
              </a:r>
              <a:endParaRPr lang="en-US" altLang="zh-CN" sz="1600" b="1" dirty="0">
                <a:ea typeface="Arial" panose="020B0604020202020204" pitchFamily="34" charset="0"/>
              </a:endParaRPr>
            </a:p>
          </p:txBody>
        </p:sp>
        <p:grpSp>
          <p:nvGrpSpPr>
            <p:cNvPr id="35846" name="Group 64"/>
            <p:cNvGrpSpPr/>
            <p:nvPr/>
          </p:nvGrpSpPr>
          <p:grpSpPr>
            <a:xfrm>
              <a:off x="365" y="480"/>
              <a:ext cx="1909" cy="1374"/>
              <a:chOff x="610" y="475"/>
              <a:chExt cx="2489" cy="1458"/>
            </a:xfrm>
          </p:grpSpPr>
          <p:grpSp>
            <p:nvGrpSpPr>
              <p:cNvPr id="35853" name="Group 52"/>
              <p:cNvGrpSpPr/>
              <p:nvPr/>
            </p:nvGrpSpPr>
            <p:grpSpPr>
              <a:xfrm>
                <a:off x="610" y="981"/>
                <a:ext cx="300" cy="952"/>
                <a:chOff x="904" y="981"/>
                <a:chExt cx="300" cy="952"/>
              </a:xfrm>
            </p:grpSpPr>
            <p:pic>
              <p:nvPicPr>
                <p:cNvPr id="35881" name="Picture 17"/>
                <p:cNvPicPr>
                  <a:picLocks noChangeAspect="1"/>
                </p:cNvPicPr>
                <p:nvPr/>
              </p:nvPicPr>
              <p:blipFill>
                <a:blip r:embed="rId2"/>
                <a:stretch>
                  <a:fillRect/>
                </a:stretch>
              </p:blipFill>
              <p:spPr>
                <a:xfrm>
                  <a:off x="904" y="1298"/>
                  <a:ext cx="300" cy="349"/>
                </a:xfrm>
                <a:prstGeom prst="rect">
                  <a:avLst/>
                </a:prstGeom>
                <a:noFill/>
                <a:ln w="9525">
                  <a:noFill/>
                </a:ln>
              </p:spPr>
            </p:pic>
            <p:sp>
              <p:nvSpPr>
                <p:cNvPr id="35882" name="Line 18"/>
                <p:cNvSpPr/>
                <p:nvPr/>
              </p:nvSpPr>
              <p:spPr>
                <a:xfrm flipV="1">
                  <a:off x="1066" y="981"/>
                  <a:ext cx="0" cy="317"/>
                </a:xfrm>
                <a:prstGeom prst="line">
                  <a:avLst/>
                </a:prstGeom>
                <a:ln w="9525" cap="flat" cmpd="sng">
                  <a:solidFill>
                    <a:schemeClr val="tx1"/>
                  </a:solidFill>
                  <a:prstDash val="solid"/>
                  <a:headEnd type="none" w="med" len="med"/>
                  <a:tailEnd type="none" w="med" len="med"/>
                </a:ln>
              </p:spPr>
            </p:sp>
            <p:sp>
              <p:nvSpPr>
                <p:cNvPr id="35883" name="Line 19"/>
                <p:cNvSpPr/>
                <p:nvPr/>
              </p:nvSpPr>
              <p:spPr>
                <a:xfrm>
                  <a:off x="1066" y="1661"/>
                  <a:ext cx="0" cy="272"/>
                </a:xfrm>
                <a:prstGeom prst="line">
                  <a:avLst/>
                </a:prstGeom>
                <a:ln w="9525" cap="flat" cmpd="sng">
                  <a:solidFill>
                    <a:schemeClr val="tx1"/>
                  </a:solidFill>
                  <a:prstDash val="solid"/>
                  <a:headEnd type="none" w="med" len="med"/>
                  <a:tailEnd type="none" w="med" len="med"/>
                </a:ln>
              </p:spPr>
            </p:sp>
          </p:grpSp>
          <p:sp>
            <p:nvSpPr>
              <p:cNvPr id="35854" name="Line 21"/>
              <p:cNvSpPr/>
              <p:nvPr/>
            </p:nvSpPr>
            <p:spPr>
              <a:xfrm>
                <a:off x="785" y="981"/>
                <a:ext cx="1235" cy="0"/>
              </a:xfrm>
              <a:prstGeom prst="line">
                <a:avLst/>
              </a:prstGeom>
              <a:ln w="9525" cap="flat" cmpd="sng">
                <a:solidFill>
                  <a:schemeClr val="tx1"/>
                </a:solidFill>
                <a:prstDash val="solid"/>
                <a:headEnd type="none" w="med" len="med"/>
                <a:tailEnd type="none" w="med" len="med"/>
              </a:ln>
            </p:spPr>
          </p:sp>
          <p:pic>
            <p:nvPicPr>
              <p:cNvPr id="35855" name="Picture 22"/>
              <p:cNvPicPr>
                <a:picLocks noChangeAspect="1"/>
              </p:cNvPicPr>
              <p:nvPr/>
            </p:nvPicPr>
            <p:blipFill>
              <a:blip r:embed="rId3"/>
              <a:stretch>
                <a:fillRect/>
              </a:stretch>
            </p:blipFill>
            <p:spPr>
              <a:xfrm>
                <a:off x="1701" y="890"/>
                <a:ext cx="409" cy="143"/>
              </a:xfrm>
              <a:prstGeom prst="rect">
                <a:avLst/>
              </a:prstGeom>
              <a:noFill/>
              <a:ln w="9525">
                <a:noFill/>
              </a:ln>
            </p:spPr>
          </p:pic>
          <p:sp>
            <p:nvSpPr>
              <p:cNvPr id="35856" name="Line 23"/>
              <p:cNvSpPr/>
              <p:nvPr/>
            </p:nvSpPr>
            <p:spPr>
              <a:xfrm>
                <a:off x="759" y="1933"/>
                <a:ext cx="2295" cy="0"/>
              </a:xfrm>
              <a:prstGeom prst="line">
                <a:avLst/>
              </a:prstGeom>
              <a:ln w="9525" cap="flat" cmpd="sng">
                <a:solidFill>
                  <a:schemeClr val="tx1"/>
                </a:solidFill>
                <a:prstDash val="solid"/>
                <a:headEnd type="none" w="med" len="med"/>
                <a:tailEnd type="none" w="med" len="med"/>
              </a:ln>
            </p:spPr>
          </p:sp>
          <p:sp>
            <p:nvSpPr>
              <p:cNvPr id="35857" name="Line 28"/>
              <p:cNvSpPr/>
              <p:nvPr/>
            </p:nvSpPr>
            <p:spPr>
              <a:xfrm>
                <a:off x="2099" y="960"/>
                <a:ext cx="935" cy="0"/>
              </a:xfrm>
              <a:prstGeom prst="line">
                <a:avLst/>
              </a:prstGeom>
              <a:ln w="9525" cap="flat" cmpd="sng">
                <a:solidFill>
                  <a:schemeClr val="tx1"/>
                </a:solidFill>
                <a:prstDash val="solid"/>
                <a:headEnd type="none" w="med" len="med"/>
                <a:tailEnd type="none" w="med" len="med"/>
              </a:ln>
            </p:spPr>
          </p:sp>
          <p:grpSp>
            <p:nvGrpSpPr>
              <p:cNvPr id="35858" name="Group 53"/>
              <p:cNvGrpSpPr/>
              <p:nvPr/>
            </p:nvGrpSpPr>
            <p:grpSpPr>
              <a:xfrm>
                <a:off x="2956" y="960"/>
                <a:ext cx="143" cy="973"/>
                <a:chOff x="2956" y="960"/>
                <a:chExt cx="143" cy="973"/>
              </a:xfrm>
            </p:grpSpPr>
            <p:sp>
              <p:nvSpPr>
                <p:cNvPr id="35878" name="Line 29"/>
                <p:cNvSpPr/>
                <p:nvPr/>
              </p:nvSpPr>
              <p:spPr>
                <a:xfrm>
                  <a:off x="3034" y="960"/>
                  <a:ext cx="0" cy="282"/>
                </a:xfrm>
                <a:prstGeom prst="line">
                  <a:avLst/>
                </a:prstGeom>
                <a:ln w="9525" cap="flat" cmpd="sng">
                  <a:solidFill>
                    <a:schemeClr val="tx1"/>
                  </a:solidFill>
                  <a:prstDash val="solid"/>
                  <a:headEnd type="none" w="med" len="med"/>
                  <a:tailEnd type="none" w="med" len="med"/>
                </a:ln>
              </p:spPr>
            </p:sp>
            <p:pic>
              <p:nvPicPr>
                <p:cNvPr id="35879" name="Picture 30"/>
                <p:cNvPicPr>
                  <a:picLocks noChangeAspect="1"/>
                </p:cNvPicPr>
                <p:nvPr/>
              </p:nvPicPr>
              <p:blipFill>
                <a:blip r:embed="rId3"/>
                <a:stretch>
                  <a:fillRect/>
                </a:stretch>
              </p:blipFill>
              <p:spPr>
                <a:xfrm rot="-5400000">
                  <a:off x="2823" y="1384"/>
                  <a:ext cx="409" cy="143"/>
                </a:xfrm>
                <a:prstGeom prst="rect">
                  <a:avLst/>
                </a:prstGeom>
                <a:noFill/>
                <a:ln w="9525">
                  <a:noFill/>
                </a:ln>
              </p:spPr>
            </p:pic>
            <p:sp>
              <p:nvSpPr>
                <p:cNvPr id="35880" name="Line 31"/>
                <p:cNvSpPr/>
                <p:nvPr/>
              </p:nvSpPr>
              <p:spPr>
                <a:xfrm flipV="1">
                  <a:off x="3034" y="1652"/>
                  <a:ext cx="0" cy="281"/>
                </a:xfrm>
                <a:prstGeom prst="line">
                  <a:avLst/>
                </a:prstGeom>
                <a:ln w="9525" cap="flat" cmpd="sng">
                  <a:solidFill>
                    <a:schemeClr val="tx1"/>
                  </a:solidFill>
                  <a:prstDash val="solid"/>
                  <a:headEnd type="none" w="med" len="med"/>
                  <a:tailEnd type="none" w="med" len="med"/>
                </a:ln>
              </p:spPr>
            </p:sp>
          </p:grpSp>
          <p:sp>
            <p:nvSpPr>
              <p:cNvPr id="35859" name="Line 32"/>
              <p:cNvSpPr/>
              <p:nvPr/>
            </p:nvSpPr>
            <p:spPr>
              <a:xfrm>
                <a:off x="1395" y="589"/>
                <a:ext cx="499" cy="0"/>
              </a:xfrm>
              <a:prstGeom prst="line">
                <a:avLst/>
              </a:prstGeom>
              <a:ln w="9525" cap="flat" cmpd="sng">
                <a:solidFill>
                  <a:schemeClr val="tx1"/>
                </a:solidFill>
                <a:prstDash val="solid"/>
                <a:headEnd type="none" w="med" len="med"/>
                <a:tailEnd type="none" w="med" len="med"/>
              </a:ln>
            </p:spPr>
          </p:sp>
          <p:grpSp>
            <p:nvGrpSpPr>
              <p:cNvPr id="35860" name="Group 63"/>
              <p:cNvGrpSpPr/>
              <p:nvPr/>
            </p:nvGrpSpPr>
            <p:grpSpPr>
              <a:xfrm>
                <a:off x="1312" y="475"/>
                <a:ext cx="1133" cy="1458"/>
                <a:chOff x="1312" y="475"/>
                <a:chExt cx="1133" cy="1458"/>
              </a:xfrm>
            </p:grpSpPr>
            <p:pic>
              <p:nvPicPr>
                <p:cNvPr id="35870" name="Picture 26"/>
                <p:cNvPicPr>
                  <a:picLocks noChangeAspect="1"/>
                </p:cNvPicPr>
                <p:nvPr/>
              </p:nvPicPr>
              <p:blipFill>
                <a:blip r:embed="rId3"/>
                <a:stretch>
                  <a:fillRect/>
                </a:stretch>
              </p:blipFill>
              <p:spPr>
                <a:xfrm rot="-5400000">
                  <a:off x="1179" y="1340"/>
                  <a:ext cx="409" cy="143"/>
                </a:xfrm>
                <a:prstGeom prst="rect">
                  <a:avLst/>
                </a:prstGeom>
                <a:noFill/>
                <a:ln w="9525">
                  <a:noFill/>
                </a:ln>
              </p:spPr>
            </p:pic>
            <p:sp>
              <p:nvSpPr>
                <p:cNvPr id="35871" name="Line 27"/>
                <p:cNvSpPr/>
                <p:nvPr/>
              </p:nvSpPr>
              <p:spPr>
                <a:xfrm>
                  <a:off x="1382" y="1600"/>
                  <a:ext cx="13" cy="333"/>
                </a:xfrm>
                <a:prstGeom prst="line">
                  <a:avLst/>
                </a:prstGeom>
                <a:ln w="9525" cap="flat" cmpd="sng">
                  <a:solidFill>
                    <a:schemeClr val="tx1"/>
                  </a:solidFill>
                  <a:prstDash val="solid"/>
                  <a:headEnd type="none" w="med" len="med"/>
                  <a:tailEnd type="none" w="med" len="med"/>
                </a:ln>
              </p:spPr>
            </p:sp>
            <p:grpSp>
              <p:nvGrpSpPr>
                <p:cNvPr id="35872" name="Group 62"/>
                <p:cNvGrpSpPr/>
                <p:nvPr/>
              </p:nvGrpSpPr>
              <p:grpSpPr>
                <a:xfrm>
                  <a:off x="1383" y="475"/>
                  <a:ext cx="1062" cy="732"/>
                  <a:chOff x="1383" y="475"/>
                  <a:chExt cx="1062" cy="732"/>
                </a:xfrm>
              </p:grpSpPr>
              <p:sp>
                <p:nvSpPr>
                  <p:cNvPr id="35873" name="Line 24"/>
                  <p:cNvSpPr/>
                  <p:nvPr/>
                </p:nvSpPr>
                <p:spPr>
                  <a:xfrm>
                    <a:off x="1383" y="584"/>
                    <a:ext cx="0" cy="623"/>
                  </a:xfrm>
                  <a:prstGeom prst="line">
                    <a:avLst/>
                  </a:prstGeom>
                  <a:ln w="9525" cap="flat" cmpd="sng">
                    <a:solidFill>
                      <a:schemeClr val="tx1"/>
                    </a:solidFill>
                    <a:prstDash val="solid"/>
                    <a:headEnd type="none" w="med" len="med"/>
                    <a:tailEnd type="none" w="med" len="med"/>
                  </a:ln>
                </p:spPr>
              </p:sp>
              <p:grpSp>
                <p:nvGrpSpPr>
                  <p:cNvPr id="35874" name="Group 41"/>
                  <p:cNvGrpSpPr/>
                  <p:nvPr/>
                </p:nvGrpSpPr>
                <p:grpSpPr>
                  <a:xfrm rot="-5400000">
                    <a:off x="1831" y="543"/>
                    <a:ext cx="227" cy="91"/>
                    <a:chOff x="3061" y="2840"/>
                    <a:chExt cx="227" cy="91"/>
                  </a:xfrm>
                </p:grpSpPr>
                <p:sp>
                  <p:nvSpPr>
                    <p:cNvPr id="35876" name="Line 42"/>
                    <p:cNvSpPr/>
                    <p:nvPr/>
                  </p:nvSpPr>
                  <p:spPr>
                    <a:xfrm>
                      <a:off x="3061" y="2840"/>
                      <a:ext cx="227" cy="0"/>
                    </a:xfrm>
                    <a:prstGeom prst="line">
                      <a:avLst/>
                    </a:prstGeom>
                    <a:ln w="38100" cap="flat" cmpd="sng">
                      <a:solidFill>
                        <a:schemeClr val="tx1"/>
                      </a:solidFill>
                      <a:prstDash val="solid"/>
                      <a:headEnd type="none" w="med" len="med"/>
                      <a:tailEnd type="none" w="med" len="med"/>
                    </a:ln>
                  </p:spPr>
                </p:sp>
                <p:sp>
                  <p:nvSpPr>
                    <p:cNvPr id="35877" name="Line 43"/>
                    <p:cNvSpPr/>
                    <p:nvPr/>
                  </p:nvSpPr>
                  <p:spPr>
                    <a:xfrm>
                      <a:off x="3061" y="2931"/>
                      <a:ext cx="227" cy="0"/>
                    </a:xfrm>
                    <a:prstGeom prst="line">
                      <a:avLst/>
                    </a:prstGeom>
                    <a:ln w="38100" cap="flat" cmpd="sng">
                      <a:solidFill>
                        <a:schemeClr val="tx1"/>
                      </a:solidFill>
                      <a:prstDash val="solid"/>
                      <a:headEnd type="none" w="med" len="med"/>
                      <a:tailEnd type="none" w="med" len="med"/>
                    </a:ln>
                  </p:spPr>
                </p:sp>
              </p:grpSp>
              <p:sp>
                <p:nvSpPr>
                  <p:cNvPr id="35875" name="Line 50"/>
                  <p:cNvSpPr/>
                  <p:nvPr/>
                </p:nvSpPr>
                <p:spPr>
                  <a:xfrm>
                    <a:off x="1997" y="589"/>
                    <a:ext cx="448" cy="0"/>
                  </a:xfrm>
                  <a:prstGeom prst="line">
                    <a:avLst/>
                  </a:prstGeom>
                  <a:ln w="9525" cap="flat" cmpd="sng">
                    <a:solidFill>
                      <a:schemeClr val="tx1"/>
                    </a:solidFill>
                    <a:prstDash val="solid"/>
                    <a:headEnd type="none" w="med" len="med"/>
                    <a:tailEnd type="none" w="med" len="med"/>
                  </a:ln>
                </p:spPr>
              </p:sp>
            </p:grpSp>
          </p:grpSp>
          <p:grpSp>
            <p:nvGrpSpPr>
              <p:cNvPr id="35861" name="Group 61"/>
              <p:cNvGrpSpPr/>
              <p:nvPr/>
            </p:nvGrpSpPr>
            <p:grpSpPr>
              <a:xfrm>
                <a:off x="2354" y="589"/>
                <a:ext cx="227" cy="1344"/>
                <a:chOff x="2354" y="589"/>
                <a:chExt cx="227" cy="1344"/>
              </a:xfrm>
            </p:grpSpPr>
            <p:sp>
              <p:nvSpPr>
                <p:cNvPr id="35862" name="Line 51"/>
                <p:cNvSpPr/>
                <p:nvPr/>
              </p:nvSpPr>
              <p:spPr>
                <a:xfrm>
                  <a:off x="2445" y="589"/>
                  <a:ext cx="12" cy="563"/>
                </a:xfrm>
                <a:prstGeom prst="line">
                  <a:avLst/>
                </a:prstGeom>
                <a:ln w="9525" cap="flat" cmpd="sng">
                  <a:solidFill>
                    <a:schemeClr val="tx1"/>
                  </a:solidFill>
                  <a:prstDash val="solid"/>
                  <a:headEnd type="none" w="med" len="med"/>
                  <a:tailEnd type="none" w="med" len="med"/>
                </a:ln>
              </p:spPr>
            </p:sp>
            <p:grpSp>
              <p:nvGrpSpPr>
                <p:cNvPr id="35863" name="Group 60"/>
                <p:cNvGrpSpPr/>
                <p:nvPr/>
              </p:nvGrpSpPr>
              <p:grpSpPr>
                <a:xfrm>
                  <a:off x="2354" y="1124"/>
                  <a:ext cx="227" cy="809"/>
                  <a:chOff x="2354" y="1124"/>
                  <a:chExt cx="227" cy="809"/>
                </a:xfrm>
              </p:grpSpPr>
              <p:pic>
                <p:nvPicPr>
                  <p:cNvPr id="35864" name="Picture 54"/>
                  <p:cNvPicPr>
                    <a:picLocks noChangeAspect="1"/>
                  </p:cNvPicPr>
                  <p:nvPr/>
                </p:nvPicPr>
                <p:blipFill>
                  <a:blip r:embed="rId3"/>
                  <a:stretch>
                    <a:fillRect/>
                  </a:stretch>
                </p:blipFill>
                <p:spPr>
                  <a:xfrm rot="5400000">
                    <a:off x="2246" y="1257"/>
                    <a:ext cx="409" cy="143"/>
                  </a:xfrm>
                  <a:prstGeom prst="rect">
                    <a:avLst/>
                  </a:prstGeom>
                  <a:noFill/>
                  <a:ln w="9525">
                    <a:noFill/>
                  </a:ln>
                </p:spPr>
              </p:pic>
              <p:grpSp>
                <p:nvGrpSpPr>
                  <p:cNvPr id="35865" name="Group 55"/>
                  <p:cNvGrpSpPr/>
                  <p:nvPr/>
                </p:nvGrpSpPr>
                <p:grpSpPr>
                  <a:xfrm rot="10800000">
                    <a:off x="2354" y="1655"/>
                    <a:ext cx="227" cy="91"/>
                    <a:chOff x="3061" y="2840"/>
                    <a:chExt cx="227" cy="91"/>
                  </a:xfrm>
                </p:grpSpPr>
                <p:sp>
                  <p:nvSpPr>
                    <p:cNvPr id="35868" name="Line 56"/>
                    <p:cNvSpPr/>
                    <p:nvPr/>
                  </p:nvSpPr>
                  <p:spPr>
                    <a:xfrm>
                      <a:off x="3061" y="2840"/>
                      <a:ext cx="227" cy="0"/>
                    </a:xfrm>
                    <a:prstGeom prst="line">
                      <a:avLst/>
                    </a:prstGeom>
                    <a:ln w="38100" cap="flat" cmpd="sng">
                      <a:solidFill>
                        <a:schemeClr val="tx1"/>
                      </a:solidFill>
                      <a:prstDash val="solid"/>
                      <a:headEnd type="none" w="med" len="med"/>
                      <a:tailEnd type="none" w="med" len="med"/>
                    </a:ln>
                  </p:spPr>
                </p:sp>
                <p:sp>
                  <p:nvSpPr>
                    <p:cNvPr id="35869" name="Line 57"/>
                    <p:cNvSpPr/>
                    <p:nvPr/>
                  </p:nvSpPr>
                  <p:spPr>
                    <a:xfrm>
                      <a:off x="3061" y="2931"/>
                      <a:ext cx="227" cy="0"/>
                    </a:xfrm>
                    <a:prstGeom prst="line">
                      <a:avLst/>
                    </a:prstGeom>
                    <a:ln w="38100" cap="flat" cmpd="sng">
                      <a:solidFill>
                        <a:schemeClr val="tx1"/>
                      </a:solidFill>
                      <a:prstDash val="solid"/>
                      <a:headEnd type="none" w="med" len="med"/>
                      <a:tailEnd type="none" w="med" len="med"/>
                    </a:ln>
                  </p:spPr>
                </p:sp>
              </p:grpSp>
              <p:sp>
                <p:nvSpPr>
                  <p:cNvPr id="35866" name="Line 58"/>
                  <p:cNvSpPr/>
                  <p:nvPr/>
                </p:nvSpPr>
                <p:spPr>
                  <a:xfrm>
                    <a:off x="2458" y="1523"/>
                    <a:ext cx="0" cy="128"/>
                  </a:xfrm>
                  <a:prstGeom prst="line">
                    <a:avLst/>
                  </a:prstGeom>
                  <a:ln w="9525" cap="flat" cmpd="sng">
                    <a:solidFill>
                      <a:schemeClr val="tx1"/>
                    </a:solidFill>
                    <a:prstDash val="solid"/>
                    <a:headEnd type="none" w="med" len="med"/>
                    <a:tailEnd type="none" w="med" len="med"/>
                  </a:ln>
                </p:spPr>
              </p:sp>
              <p:sp>
                <p:nvSpPr>
                  <p:cNvPr id="35867" name="Line 59"/>
                  <p:cNvSpPr/>
                  <p:nvPr/>
                </p:nvSpPr>
                <p:spPr>
                  <a:xfrm>
                    <a:off x="2458" y="1754"/>
                    <a:ext cx="0" cy="179"/>
                  </a:xfrm>
                  <a:prstGeom prst="line">
                    <a:avLst/>
                  </a:prstGeom>
                  <a:ln w="9525" cap="flat" cmpd="sng">
                    <a:solidFill>
                      <a:schemeClr val="tx1"/>
                    </a:solidFill>
                    <a:prstDash val="solid"/>
                    <a:headEnd type="none" w="med" len="med"/>
                    <a:tailEnd type="none" w="med" len="med"/>
                  </a:ln>
                </p:spPr>
              </p:sp>
            </p:grpSp>
          </p:grpSp>
        </p:grpSp>
        <p:sp>
          <p:nvSpPr>
            <p:cNvPr id="35847" name="Text Box 65"/>
            <p:cNvSpPr txBox="1"/>
            <p:nvPr/>
          </p:nvSpPr>
          <p:spPr>
            <a:xfrm>
              <a:off x="0" y="1284"/>
              <a:ext cx="46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6mA</a:t>
              </a:r>
              <a:endParaRPr lang="en-US" altLang="zh-CN" sz="1800" b="1" dirty="0">
                <a:ea typeface="Arial" panose="020B0604020202020204" pitchFamily="34" charset="0"/>
              </a:endParaRPr>
            </a:p>
          </p:txBody>
        </p:sp>
        <p:sp>
          <p:nvSpPr>
            <p:cNvPr id="35848" name="Text Box 67"/>
            <p:cNvSpPr txBox="1"/>
            <p:nvPr/>
          </p:nvSpPr>
          <p:spPr>
            <a:xfrm>
              <a:off x="963" y="1297"/>
              <a:ext cx="477"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3k</a:t>
              </a:r>
              <a:r>
                <a:rPr lang="el-GR" altLang="zh-CN" sz="1800" b="1" dirty="0">
                  <a:cs typeface="Arial" panose="020B0604020202020204" pitchFamily="34" charset="0"/>
                </a:rPr>
                <a:t>Ω</a:t>
              </a:r>
              <a:endParaRPr lang="el-GR" altLang="zh-CN" sz="1800" b="1" dirty="0">
                <a:ea typeface="Arial" panose="020B0604020202020204" pitchFamily="34" charset="0"/>
              </a:endParaRPr>
            </a:p>
          </p:txBody>
        </p:sp>
        <p:sp>
          <p:nvSpPr>
            <p:cNvPr id="35849" name="Text Box 68"/>
            <p:cNvSpPr txBox="1"/>
            <p:nvPr/>
          </p:nvSpPr>
          <p:spPr>
            <a:xfrm>
              <a:off x="1394" y="1160"/>
              <a:ext cx="425"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5k</a:t>
              </a:r>
              <a:r>
                <a:rPr lang="el-GR" altLang="zh-CN" sz="1800" b="1" dirty="0">
                  <a:cs typeface="Arial" panose="020B0604020202020204" pitchFamily="34" charset="0"/>
                </a:rPr>
                <a:t>Ω</a:t>
              </a:r>
              <a:endParaRPr lang="el-GR" altLang="zh-CN" sz="1800" b="1" dirty="0">
                <a:ea typeface="Arial" panose="020B0604020202020204" pitchFamily="34" charset="0"/>
              </a:endParaRPr>
            </a:p>
          </p:txBody>
        </p:sp>
        <p:sp>
          <p:nvSpPr>
            <p:cNvPr id="35850" name="Text Box 71"/>
            <p:cNvSpPr txBox="1"/>
            <p:nvPr/>
          </p:nvSpPr>
          <p:spPr>
            <a:xfrm>
              <a:off x="2260" y="1305"/>
              <a:ext cx="452"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cs typeface="Arial" panose="020B0604020202020204" pitchFamily="34" charset="0"/>
                </a:rPr>
                <a:t>4k</a:t>
              </a:r>
              <a:r>
                <a:rPr lang="el-GR" altLang="zh-CN" sz="1800" b="1" dirty="0">
                  <a:cs typeface="Arial" panose="020B0604020202020204" pitchFamily="34" charset="0"/>
                </a:rPr>
                <a:t>Ω</a:t>
              </a:r>
              <a:endParaRPr lang="el-GR" altLang="zh-CN" sz="1800" b="1" dirty="0">
                <a:ea typeface="Arial" panose="020B0604020202020204" pitchFamily="34" charset="0"/>
              </a:endParaRPr>
            </a:p>
          </p:txBody>
        </p:sp>
        <p:sp>
          <p:nvSpPr>
            <p:cNvPr id="35851" name="Text Box 72"/>
            <p:cNvSpPr txBox="1"/>
            <p:nvPr/>
          </p:nvSpPr>
          <p:spPr>
            <a:xfrm>
              <a:off x="1217" y="684"/>
              <a:ext cx="519"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2k</a:t>
              </a:r>
              <a:r>
                <a:rPr lang="el-GR" altLang="zh-CN" sz="1800" b="1" dirty="0">
                  <a:cs typeface="Arial" panose="020B0604020202020204" pitchFamily="34" charset="0"/>
                </a:rPr>
                <a:t>Ω</a:t>
              </a:r>
              <a:endParaRPr lang="el-GR" altLang="zh-CN" sz="1800" b="1" dirty="0">
                <a:ea typeface="Arial" panose="020B0604020202020204" pitchFamily="34" charset="0"/>
              </a:endParaRPr>
            </a:p>
          </p:txBody>
        </p:sp>
        <p:sp>
          <p:nvSpPr>
            <p:cNvPr id="35852" name="Text Box 74"/>
            <p:cNvSpPr txBox="1"/>
            <p:nvPr/>
          </p:nvSpPr>
          <p:spPr>
            <a:xfrm>
              <a:off x="1238" y="272"/>
              <a:ext cx="479"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2mF</a:t>
              </a:r>
              <a:endParaRPr lang="en-US" altLang="zh-CN" sz="1800" b="1" dirty="0">
                <a:ea typeface="Arial" panose="020B0604020202020204" pitchFamily="34" charset="0"/>
              </a:endParaRPr>
            </a:p>
          </p:txBody>
        </p:sp>
      </p:grpSp>
      <p:sp>
        <p:nvSpPr>
          <p:cNvPr id="35844" name="文本框 2"/>
          <p:cNvSpPr txBox="1"/>
          <p:nvPr/>
        </p:nvSpPr>
        <p:spPr>
          <a:xfrm>
            <a:off x="7667625" y="6183313"/>
            <a:ext cx="877888"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800" dirty="0">
                <a:ea typeface="宋体-18030" pitchFamily="49" charset="-122"/>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3"/>
          <p:cNvSpPr/>
          <p:nvPr/>
        </p:nvSpPr>
        <p:spPr>
          <a:xfrm>
            <a:off x="4411663" y="4983163"/>
            <a:ext cx="184150" cy="46196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graphicFrame>
        <p:nvGraphicFramePr>
          <p:cNvPr id="36867" name="Object 2"/>
          <p:cNvGraphicFramePr>
            <a:graphicFrameLocks noChangeAspect="1"/>
          </p:cNvGraphicFramePr>
          <p:nvPr/>
        </p:nvGraphicFramePr>
        <p:xfrm>
          <a:off x="646113" y="3163888"/>
          <a:ext cx="3630612" cy="862012"/>
        </p:xfrm>
        <a:graphic>
          <a:graphicData uri="http://schemas.openxmlformats.org/presentationml/2006/ole">
            <p:oleObj spid="_x0000_s14339" r:id="rId3" imgW="1688367" imgH="406224" progId="">
              <p:embed/>
            </p:oleObj>
          </a:graphicData>
        </a:graphic>
      </p:graphicFrame>
      <p:sp>
        <p:nvSpPr>
          <p:cNvPr id="36868" name="Text Box 34"/>
          <p:cNvSpPr txBox="1"/>
          <p:nvPr/>
        </p:nvSpPr>
        <p:spPr>
          <a:xfrm>
            <a:off x="336550" y="4710113"/>
            <a:ext cx="2557463"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latin typeface="Times New Roman" panose="02020603050405020304" pitchFamily="18" charset="0"/>
                <a:cs typeface="Arial" panose="020B0604020202020204" pitchFamily="34" charset="0"/>
              </a:rPr>
              <a:t>作用在电容上的电压</a:t>
            </a:r>
            <a:r>
              <a:rPr lang="en-US" altLang="zh-CN" sz="2000" b="1" dirty="0">
                <a:latin typeface="Times New Roman" panose="02020603050405020304" pitchFamily="18" charset="0"/>
                <a:cs typeface="Arial" panose="020B0604020202020204" pitchFamily="34" charset="0"/>
              </a:rPr>
              <a:t> </a:t>
            </a:r>
            <a:r>
              <a:rPr lang="en-US" altLang="zh-CN" sz="2000" b="1" i="1" dirty="0">
                <a:latin typeface="Times New Roman" panose="02020603050405020304" pitchFamily="18" charset="0"/>
                <a:cs typeface="Arial" panose="020B0604020202020204" pitchFamily="34" charset="0"/>
              </a:rPr>
              <a:t>V</a:t>
            </a:r>
            <a:r>
              <a:rPr lang="en-US" altLang="zh-CN" sz="2000" b="1" baseline="-25000" dirty="0">
                <a:latin typeface="Times New Roman" panose="02020603050405020304" pitchFamily="18" charset="0"/>
                <a:cs typeface="Arial" panose="020B0604020202020204" pitchFamily="34" charset="0"/>
              </a:rPr>
              <a:t>1</a:t>
            </a:r>
            <a:r>
              <a:rPr lang="en-US" altLang="zh-CN" sz="2000" b="1" dirty="0">
                <a:latin typeface="Times New Roman" panose="02020603050405020304" pitchFamily="18" charset="0"/>
                <a:cs typeface="Arial" panose="020B0604020202020204" pitchFamily="34" charset="0"/>
              </a:rPr>
              <a:t> </a:t>
            </a:r>
            <a:r>
              <a:rPr lang="zh-CN" altLang="en-US" sz="2000" b="1" dirty="0">
                <a:latin typeface="Times New Roman" panose="02020603050405020304" pitchFamily="18" charset="0"/>
                <a:cs typeface="Arial" panose="020B0604020202020204" pitchFamily="34" charset="0"/>
              </a:rPr>
              <a:t>和</a:t>
            </a:r>
            <a:r>
              <a:rPr lang="en-US" altLang="zh-CN" sz="2000" b="1" dirty="0">
                <a:latin typeface="Times New Roman" panose="02020603050405020304" pitchFamily="18" charset="0"/>
                <a:cs typeface="Arial" panose="020B0604020202020204" pitchFamily="34" charset="0"/>
              </a:rPr>
              <a:t> </a:t>
            </a:r>
            <a:r>
              <a:rPr lang="en-US" altLang="zh-CN" sz="2000" b="1" i="1" dirty="0">
                <a:latin typeface="Times New Roman" panose="02020603050405020304" pitchFamily="18" charset="0"/>
                <a:cs typeface="Arial" panose="020B0604020202020204" pitchFamily="34" charset="0"/>
              </a:rPr>
              <a:t>V</a:t>
            </a:r>
            <a:r>
              <a:rPr lang="en-US" altLang="zh-CN" sz="2000" b="1" baseline="-25000" dirty="0">
                <a:latin typeface="Times New Roman" panose="02020603050405020304" pitchFamily="18" charset="0"/>
                <a:cs typeface="Arial" panose="020B0604020202020204" pitchFamily="34" charset="0"/>
              </a:rPr>
              <a:t>2</a:t>
            </a:r>
            <a:r>
              <a:rPr lang="en-US" altLang="zh-CN" sz="2000" b="1" dirty="0">
                <a:latin typeface="Times New Roman" panose="02020603050405020304" pitchFamily="18" charset="0"/>
                <a:cs typeface="Arial" panose="020B0604020202020204" pitchFamily="34" charset="0"/>
              </a:rPr>
              <a:t> </a:t>
            </a:r>
            <a:r>
              <a:rPr lang="zh-CN" altLang="en-US" sz="2000" b="1" dirty="0">
                <a:latin typeface="Times New Roman" panose="02020603050405020304" pitchFamily="18" charset="0"/>
                <a:cs typeface="Arial" panose="020B0604020202020204" pitchFamily="34" charset="0"/>
              </a:rPr>
              <a:t>分别为：</a:t>
            </a:r>
            <a:endParaRPr lang="en-US" altLang="zh-CN" sz="2000" b="1" dirty="0">
              <a:latin typeface="Times New Roman" panose="02020603050405020304" pitchFamily="18" charset="0"/>
              <a:ea typeface="Arial" panose="020B0604020202020204" pitchFamily="34" charset="0"/>
            </a:endParaRPr>
          </a:p>
        </p:txBody>
      </p:sp>
      <p:graphicFrame>
        <p:nvGraphicFramePr>
          <p:cNvPr id="36869" name="Object 3"/>
          <p:cNvGraphicFramePr>
            <a:graphicFrameLocks noChangeAspect="1"/>
          </p:cNvGraphicFramePr>
          <p:nvPr/>
        </p:nvGraphicFramePr>
        <p:xfrm>
          <a:off x="968375" y="5214938"/>
          <a:ext cx="4662488" cy="1206500"/>
        </p:xfrm>
        <a:graphic>
          <a:graphicData uri="http://schemas.openxmlformats.org/presentationml/2006/ole">
            <p:oleObj spid="_x0000_s14340" r:id="rId4" imgW="2616200" imgH="673100" progId="">
              <p:embed/>
            </p:oleObj>
          </a:graphicData>
        </a:graphic>
      </p:graphicFrame>
      <p:sp>
        <p:nvSpPr>
          <p:cNvPr id="9" name="矩形 8"/>
          <p:cNvSpPr/>
          <p:nvPr/>
        </p:nvSpPr>
        <p:spPr>
          <a:xfrm>
            <a:off x="336550" y="796925"/>
            <a:ext cx="4432300" cy="2401888"/>
          </a:xfrm>
          <a:prstGeom prst="rect">
            <a:avLst/>
          </a:prstGeom>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chemeClr val="accent5">
                    <a:lumMod val="50000"/>
                  </a:schemeClr>
                </a:solidFill>
                <a:effectLst/>
                <a:uLnTx/>
                <a:uFillTx/>
                <a:latin typeface="Times New Roman" panose="02020603050405020304" pitchFamily="18" charset="0"/>
                <a:ea typeface="宋体" panose="02010600030101010101" pitchFamily="2" charset="-122"/>
                <a:cs typeface="+mn-cs"/>
              </a:rPr>
              <a:t>解</a:t>
            </a:r>
            <a:r>
              <a:rPr kumimoji="0" lang="en-US" altLang="zh-CN" sz="2800" b="1" i="0" u="none" strike="noStrike" kern="1200" cap="none" spc="0" normalizeH="0" baseline="0" noProof="0" dirty="0">
                <a:ln>
                  <a:noFill/>
                </a:ln>
                <a:solidFill>
                  <a:schemeClr val="accent5">
                    <a:lumMod val="50000"/>
                  </a:schemeClr>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在</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直流</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电源下，电容可看做开路。</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在</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2-k</a:t>
            </a:r>
            <a:r>
              <a:rPr kumimoji="0" lang="el-GR"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Ω</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4-k</a:t>
            </a:r>
            <a:r>
              <a:rPr kumimoji="0" lang="el-GR"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Ω</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串联的电阻支路上的电流：</a:t>
            </a:r>
            <a:endParaRPr kumimoji="0" lang="el-GR"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6871" name="Picture 236" descr="chap6"/>
          <p:cNvPicPr>
            <a:picLocks noChangeAspect="1"/>
          </p:cNvPicPr>
          <p:nvPr/>
        </p:nvPicPr>
        <p:blipFill>
          <a:blip r:embed="rId5"/>
          <a:stretch>
            <a:fillRect/>
          </a:stretch>
        </p:blipFill>
        <p:spPr>
          <a:xfrm>
            <a:off x="4787900" y="2755900"/>
            <a:ext cx="4176713" cy="2486025"/>
          </a:xfrm>
          <a:prstGeom prst="rect">
            <a:avLst/>
          </a:prstGeom>
          <a:noFill/>
          <a:ln w="9525">
            <a:noFill/>
          </a:ln>
        </p:spPr>
      </p:pic>
      <p:grpSp>
        <p:nvGrpSpPr>
          <p:cNvPr id="36872" name="Group 109"/>
          <p:cNvGrpSpPr/>
          <p:nvPr/>
        </p:nvGrpSpPr>
        <p:grpSpPr>
          <a:xfrm>
            <a:off x="4838700" y="101600"/>
            <a:ext cx="4305300" cy="2087563"/>
            <a:chOff x="0" y="272"/>
            <a:chExt cx="2712" cy="1582"/>
          </a:xfrm>
        </p:grpSpPr>
        <p:sp>
          <p:nvSpPr>
            <p:cNvPr id="36874" name="Text Box 70"/>
            <p:cNvSpPr txBox="1"/>
            <p:nvPr/>
          </p:nvSpPr>
          <p:spPr>
            <a:xfrm>
              <a:off x="1834" y="1514"/>
              <a:ext cx="411"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600" b="1" dirty="0">
                  <a:cs typeface="Arial" panose="020B0604020202020204" pitchFamily="34" charset="0"/>
                </a:rPr>
                <a:t>4mF</a:t>
              </a:r>
              <a:endParaRPr lang="en-US" altLang="zh-CN" sz="1600" b="1" dirty="0">
                <a:ea typeface="Arial" panose="020B0604020202020204" pitchFamily="34" charset="0"/>
              </a:endParaRPr>
            </a:p>
          </p:txBody>
        </p:sp>
        <p:grpSp>
          <p:nvGrpSpPr>
            <p:cNvPr id="36875" name="Group 64"/>
            <p:cNvGrpSpPr/>
            <p:nvPr/>
          </p:nvGrpSpPr>
          <p:grpSpPr>
            <a:xfrm>
              <a:off x="365" y="480"/>
              <a:ext cx="1909" cy="1374"/>
              <a:chOff x="610" y="475"/>
              <a:chExt cx="2489" cy="1458"/>
            </a:xfrm>
          </p:grpSpPr>
          <p:grpSp>
            <p:nvGrpSpPr>
              <p:cNvPr id="36882" name="Group 52"/>
              <p:cNvGrpSpPr/>
              <p:nvPr/>
            </p:nvGrpSpPr>
            <p:grpSpPr>
              <a:xfrm>
                <a:off x="610" y="981"/>
                <a:ext cx="300" cy="952"/>
                <a:chOff x="904" y="981"/>
                <a:chExt cx="300" cy="952"/>
              </a:xfrm>
            </p:grpSpPr>
            <p:pic>
              <p:nvPicPr>
                <p:cNvPr id="36910" name="Picture 17"/>
                <p:cNvPicPr>
                  <a:picLocks noChangeAspect="1"/>
                </p:cNvPicPr>
                <p:nvPr/>
              </p:nvPicPr>
              <p:blipFill>
                <a:blip r:embed="rId6"/>
                <a:stretch>
                  <a:fillRect/>
                </a:stretch>
              </p:blipFill>
              <p:spPr>
                <a:xfrm>
                  <a:off x="904" y="1298"/>
                  <a:ext cx="300" cy="349"/>
                </a:xfrm>
                <a:prstGeom prst="rect">
                  <a:avLst/>
                </a:prstGeom>
                <a:noFill/>
                <a:ln w="9525">
                  <a:noFill/>
                </a:ln>
              </p:spPr>
            </p:pic>
            <p:sp>
              <p:nvSpPr>
                <p:cNvPr id="36911" name="Line 18"/>
                <p:cNvSpPr/>
                <p:nvPr/>
              </p:nvSpPr>
              <p:spPr>
                <a:xfrm flipV="1">
                  <a:off x="1066" y="981"/>
                  <a:ext cx="0" cy="317"/>
                </a:xfrm>
                <a:prstGeom prst="line">
                  <a:avLst/>
                </a:prstGeom>
                <a:ln w="9525" cap="flat" cmpd="sng">
                  <a:solidFill>
                    <a:schemeClr val="tx1"/>
                  </a:solidFill>
                  <a:prstDash val="solid"/>
                  <a:headEnd type="none" w="med" len="med"/>
                  <a:tailEnd type="none" w="med" len="med"/>
                </a:ln>
              </p:spPr>
            </p:sp>
            <p:sp>
              <p:nvSpPr>
                <p:cNvPr id="36912" name="Line 19"/>
                <p:cNvSpPr/>
                <p:nvPr/>
              </p:nvSpPr>
              <p:spPr>
                <a:xfrm>
                  <a:off x="1066" y="1661"/>
                  <a:ext cx="0" cy="272"/>
                </a:xfrm>
                <a:prstGeom prst="line">
                  <a:avLst/>
                </a:prstGeom>
                <a:ln w="9525" cap="flat" cmpd="sng">
                  <a:solidFill>
                    <a:schemeClr val="tx1"/>
                  </a:solidFill>
                  <a:prstDash val="solid"/>
                  <a:headEnd type="none" w="med" len="med"/>
                  <a:tailEnd type="none" w="med" len="med"/>
                </a:ln>
              </p:spPr>
            </p:sp>
          </p:grpSp>
          <p:sp>
            <p:nvSpPr>
              <p:cNvPr id="36883" name="Line 21"/>
              <p:cNvSpPr/>
              <p:nvPr/>
            </p:nvSpPr>
            <p:spPr>
              <a:xfrm>
                <a:off x="785" y="981"/>
                <a:ext cx="1235" cy="0"/>
              </a:xfrm>
              <a:prstGeom prst="line">
                <a:avLst/>
              </a:prstGeom>
              <a:ln w="9525" cap="flat" cmpd="sng">
                <a:solidFill>
                  <a:schemeClr val="tx1"/>
                </a:solidFill>
                <a:prstDash val="solid"/>
                <a:headEnd type="none" w="med" len="med"/>
                <a:tailEnd type="none" w="med" len="med"/>
              </a:ln>
            </p:spPr>
          </p:sp>
          <p:pic>
            <p:nvPicPr>
              <p:cNvPr id="36884" name="Picture 22"/>
              <p:cNvPicPr>
                <a:picLocks noChangeAspect="1"/>
              </p:cNvPicPr>
              <p:nvPr/>
            </p:nvPicPr>
            <p:blipFill>
              <a:blip r:embed="rId7"/>
              <a:stretch>
                <a:fillRect/>
              </a:stretch>
            </p:blipFill>
            <p:spPr>
              <a:xfrm>
                <a:off x="1701" y="890"/>
                <a:ext cx="409" cy="143"/>
              </a:xfrm>
              <a:prstGeom prst="rect">
                <a:avLst/>
              </a:prstGeom>
              <a:noFill/>
              <a:ln w="9525">
                <a:noFill/>
              </a:ln>
            </p:spPr>
          </p:pic>
          <p:sp>
            <p:nvSpPr>
              <p:cNvPr id="36885" name="Line 23"/>
              <p:cNvSpPr/>
              <p:nvPr/>
            </p:nvSpPr>
            <p:spPr>
              <a:xfrm>
                <a:off x="759" y="1933"/>
                <a:ext cx="2295" cy="0"/>
              </a:xfrm>
              <a:prstGeom prst="line">
                <a:avLst/>
              </a:prstGeom>
              <a:ln w="9525" cap="flat" cmpd="sng">
                <a:solidFill>
                  <a:schemeClr val="tx1"/>
                </a:solidFill>
                <a:prstDash val="solid"/>
                <a:headEnd type="none" w="med" len="med"/>
                <a:tailEnd type="none" w="med" len="med"/>
              </a:ln>
            </p:spPr>
          </p:sp>
          <p:sp>
            <p:nvSpPr>
              <p:cNvPr id="36886" name="Line 28"/>
              <p:cNvSpPr/>
              <p:nvPr/>
            </p:nvSpPr>
            <p:spPr>
              <a:xfrm>
                <a:off x="2099" y="960"/>
                <a:ext cx="935" cy="0"/>
              </a:xfrm>
              <a:prstGeom prst="line">
                <a:avLst/>
              </a:prstGeom>
              <a:ln w="9525" cap="flat" cmpd="sng">
                <a:solidFill>
                  <a:schemeClr val="tx1"/>
                </a:solidFill>
                <a:prstDash val="solid"/>
                <a:headEnd type="none" w="med" len="med"/>
                <a:tailEnd type="none" w="med" len="med"/>
              </a:ln>
            </p:spPr>
          </p:sp>
          <p:grpSp>
            <p:nvGrpSpPr>
              <p:cNvPr id="36887" name="Group 53"/>
              <p:cNvGrpSpPr/>
              <p:nvPr/>
            </p:nvGrpSpPr>
            <p:grpSpPr>
              <a:xfrm>
                <a:off x="2956" y="960"/>
                <a:ext cx="143" cy="973"/>
                <a:chOff x="2956" y="960"/>
                <a:chExt cx="143" cy="973"/>
              </a:xfrm>
            </p:grpSpPr>
            <p:sp>
              <p:nvSpPr>
                <p:cNvPr id="36907" name="Line 29"/>
                <p:cNvSpPr/>
                <p:nvPr/>
              </p:nvSpPr>
              <p:spPr>
                <a:xfrm>
                  <a:off x="3034" y="960"/>
                  <a:ext cx="0" cy="282"/>
                </a:xfrm>
                <a:prstGeom prst="line">
                  <a:avLst/>
                </a:prstGeom>
                <a:ln w="9525" cap="flat" cmpd="sng">
                  <a:solidFill>
                    <a:schemeClr val="tx1"/>
                  </a:solidFill>
                  <a:prstDash val="solid"/>
                  <a:headEnd type="none" w="med" len="med"/>
                  <a:tailEnd type="none" w="med" len="med"/>
                </a:ln>
              </p:spPr>
            </p:sp>
            <p:pic>
              <p:nvPicPr>
                <p:cNvPr id="36908" name="Picture 30"/>
                <p:cNvPicPr>
                  <a:picLocks noChangeAspect="1"/>
                </p:cNvPicPr>
                <p:nvPr/>
              </p:nvPicPr>
              <p:blipFill>
                <a:blip r:embed="rId7"/>
                <a:stretch>
                  <a:fillRect/>
                </a:stretch>
              </p:blipFill>
              <p:spPr>
                <a:xfrm rot="-5400000">
                  <a:off x="2823" y="1384"/>
                  <a:ext cx="409" cy="143"/>
                </a:xfrm>
                <a:prstGeom prst="rect">
                  <a:avLst/>
                </a:prstGeom>
                <a:noFill/>
                <a:ln w="9525">
                  <a:noFill/>
                </a:ln>
              </p:spPr>
            </p:pic>
            <p:sp>
              <p:nvSpPr>
                <p:cNvPr id="36909" name="Line 31"/>
                <p:cNvSpPr/>
                <p:nvPr/>
              </p:nvSpPr>
              <p:spPr>
                <a:xfrm flipV="1">
                  <a:off x="3034" y="1652"/>
                  <a:ext cx="0" cy="281"/>
                </a:xfrm>
                <a:prstGeom prst="line">
                  <a:avLst/>
                </a:prstGeom>
                <a:ln w="9525" cap="flat" cmpd="sng">
                  <a:solidFill>
                    <a:schemeClr val="tx1"/>
                  </a:solidFill>
                  <a:prstDash val="solid"/>
                  <a:headEnd type="none" w="med" len="med"/>
                  <a:tailEnd type="none" w="med" len="med"/>
                </a:ln>
              </p:spPr>
            </p:sp>
          </p:grpSp>
          <p:sp>
            <p:nvSpPr>
              <p:cNvPr id="36888" name="Line 32"/>
              <p:cNvSpPr/>
              <p:nvPr/>
            </p:nvSpPr>
            <p:spPr>
              <a:xfrm>
                <a:off x="1395" y="589"/>
                <a:ext cx="499" cy="0"/>
              </a:xfrm>
              <a:prstGeom prst="line">
                <a:avLst/>
              </a:prstGeom>
              <a:ln w="9525" cap="flat" cmpd="sng">
                <a:solidFill>
                  <a:schemeClr val="tx1"/>
                </a:solidFill>
                <a:prstDash val="solid"/>
                <a:headEnd type="none" w="med" len="med"/>
                <a:tailEnd type="none" w="med" len="med"/>
              </a:ln>
            </p:spPr>
          </p:sp>
          <p:grpSp>
            <p:nvGrpSpPr>
              <p:cNvPr id="36889" name="Group 63"/>
              <p:cNvGrpSpPr/>
              <p:nvPr/>
            </p:nvGrpSpPr>
            <p:grpSpPr>
              <a:xfrm>
                <a:off x="1312" y="475"/>
                <a:ext cx="1133" cy="1458"/>
                <a:chOff x="1312" y="475"/>
                <a:chExt cx="1133" cy="1458"/>
              </a:xfrm>
            </p:grpSpPr>
            <p:pic>
              <p:nvPicPr>
                <p:cNvPr id="36899" name="Picture 26"/>
                <p:cNvPicPr>
                  <a:picLocks noChangeAspect="1"/>
                </p:cNvPicPr>
                <p:nvPr/>
              </p:nvPicPr>
              <p:blipFill>
                <a:blip r:embed="rId7"/>
                <a:stretch>
                  <a:fillRect/>
                </a:stretch>
              </p:blipFill>
              <p:spPr>
                <a:xfrm rot="-5400000">
                  <a:off x="1179" y="1340"/>
                  <a:ext cx="409" cy="143"/>
                </a:xfrm>
                <a:prstGeom prst="rect">
                  <a:avLst/>
                </a:prstGeom>
                <a:noFill/>
                <a:ln w="9525">
                  <a:noFill/>
                </a:ln>
              </p:spPr>
            </p:pic>
            <p:sp>
              <p:nvSpPr>
                <p:cNvPr id="36900" name="Line 27"/>
                <p:cNvSpPr/>
                <p:nvPr/>
              </p:nvSpPr>
              <p:spPr>
                <a:xfrm>
                  <a:off x="1382" y="1600"/>
                  <a:ext cx="13" cy="333"/>
                </a:xfrm>
                <a:prstGeom prst="line">
                  <a:avLst/>
                </a:prstGeom>
                <a:ln w="9525" cap="flat" cmpd="sng">
                  <a:solidFill>
                    <a:schemeClr val="tx1"/>
                  </a:solidFill>
                  <a:prstDash val="solid"/>
                  <a:headEnd type="none" w="med" len="med"/>
                  <a:tailEnd type="none" w="med" len="med"/>
                </a:ln>
              </p:spPr>
            </p:sp>
            <p:grpSp>
              <p:nvGrpSpPr>
                <p:cNvPr id="36901" name="Group 62"/>
                <p:cNvGrpSpPr/>
                <p:nvPr/>
              </p:nvGrpSpPr>
              <p:grpSpPr>
                <a:xfrm>
                  <a:off x="1383" y="475"/>
                  <a:ext cx="1062" cy="732"/>
                  <a:chOff x="1383" y="475"/>
                  <a:chExt cx="1062" cy="732"/>
                </a:xfrm>
              </p:grpSpPr>
              <p:sp>
                <p:nvSpPr>
                  <p:cNvPr id="36902" name="Line 24"/>
                  <p:cNvSpPr/>
                  <p:nvPr/>
                </p:nvSpPr>
                <p:spPr>
                  <a:xfrm>
                    <a:off x="1383" y="584"/>
                    <a:ext cx="0" cy="623"/>
                  </a:xfrm>
                  <a:prstGeom prst="line">
                    <a:avLst/>
                  </a:prstGeom>
                  <a:ln w="9525" cap="flat" cmpd="sng">
                    <a:solidFill>
                      <a:schemeClr val="tx1"/>
                    </a:solidFill>
                    <a:prstDash val="solid"/>
                    <a:headEnd type="none" w="med" len="med"/>
                    <a:tailEnd type="none" w="med" len="med"/>
                  </a:ln>
                </p:spPr>
              </p:sp>
              <p:grpSp>
                <p:nvGrpSpPr>
                  <p:cNvPr id="36903" name="Group 41"/>
                  <p:cNvGrpSpPr/>
                  <p:nvPr/>
                </p:nvGrpSpPr>
                <p:grpSpPr>
                  <a:xfrm rot="-5400000">
                    <a:off x="1831" y="543"/>
                    <a:ext cx="227" cy="91"/>
                    <a:chOff x="3061" y="2840"/>
                    <a:chExt cx="227" cy="91"/>
                  </a:xfrm>
                </p:grpSpPr>
                <p:sp>
                  <p:nvSpPr>
                    <p:cNvPr id="36905" name="Line 42"/>
                    <p:cNvSpPr/>
                    <p:nvPr/>
                  </p:nvSpPr>
                  <p:spPr>
                    <a:xfrm>
                      <a:off x="3061" y="2840"/>
                      <a:ext cx="227" cy="0"/>
                    </a:xfrm>
                    <a:prstGeom prst="line">
                      <a:avLst/>
                    </a:prstGeom>
                    <a:ln w="38100" cap="flat" cmpd="sng">
                      <a:solidFill>
                        <a:schemeClr val="tx1"/>
                      </a:solidFill>
                      <a:prstDash val="solid"/>
                      <a:headEnd type="none" w="med" len="med"/>
                      <a:tailEnd type="none" w="med" len="med"/>
                    </a:ln>
                  </p:spPr>
                </p:sp>
                <p:sp>
                  <p:nvSpPr>
                    <p:cNvPr id="36906" name="Line 43"/>
                    <p:cNvSpPr/>
                    <p:nvPr/>
                  </p:nvSpPr>
                  <p:spPr>
                    <a:xfrm>
                      <a:off x="3061" y="2931"/>
                      <a:ext cx="227" cy="0"/>
                    </a:xfrm>
                    <a:prstGeom prst="line">
                      <a:avLst/>
                    </a:prstGeom>
                    <a:ln w="38100" cap="flat" cmpd="sng">
                      <a:solidFill>
                        <a:schemeClr val="tx1"/>
                      </a:solidFill>
                      <a:prstDash val="solid"/>
                      <a:headEnd type="none" w="med" len="med"/>
                      <a:tailEnd type="none" w="med" len="med"/>
                    </a:ln>
                  </p:spPr>
                </p:sp>
              </p:grpSp>
              <p:sp>
                <p:nvSpPr>
                  <p:cNvPr id="36904" name="Line 50"/>
                  <p:cNvSpPr/>
                  <p:nvPr/>
                </p:nvSpPr>
                <p:spPr>
                  <a:xfrm>
                    <a:off x="1997" y="589"/>
                    <a:ext cx="448" cy="0"/>
                  </a:xfrm>
                  <a:prstGeom prst="line">
                    <a:avLst/>
                  </a:prstGeom>
                  <a:ln w="9525" cap="flat" cmpd="sng">
                    <a:solidFill>
                      <a:schemeClr val="tx1"/>
                    </a:solidFill>
                    <a:prstDash val="solid"/>
                    <a:headEnd type="none" w="med" len="med"/>
                    <a:tailEnd type="none" w="med" len="med"/>
                  </a:ln>
                </p:spPr>
              </p:sp>
            </p:grpSp>
          </p:grpSp>
          <p:grpSp>
            <p:nvGrpSpPr>
              <p:cNvPr id="36890" name="Group 61"/>
              <p:cNvGrpSpPr/>
              <p:nvPr/>
            </p:nvGrpSpPr>
            <p:grpSpPr>
              <a:xfrm>
                <a:off x="2354" y="589"/>
                <a:ext cx="227" cy="1344"/>
                <a:chOff x="2354" y="589"/>
                <a:chExt cx="227" cy="1344"/>
              </a:xfrm>
            </p:grpSpPr>
            <p:sp>
              <p:nvSpPr>
                <p:cNvPr id="36891" name="Line 51"/>
                <p:cNvSpPr/>
                <p:nvPr/>
              </p:nvSpPr>
              <p:spPr>
                <a:xfrm>
                  <a:off x="2445" y="589"/>
                  <a:ext cx="12" cy="563"/>
                </a:xfrm>
                <a:prstGeom prst="line">
                  <a:avLst/>
                </a:prstGeom>
                <a:ln w="9525" cap="flat" cmpd="sng">
                  <a:solidFill>
                    <a:schemeClr val="tx1"/>
                  </a:solidFill>
                  <a:prstDash val="solid"/>
                  <a:headEnd type="none" w="med" len="med"/>
                  <a:tailEnd type="none" w="med" len="med"/>
                </a:ln>
              </p:spPr>
            </p:sp>
            <p:grpSp>
              <p:nvGrpSpPr>
                <p:cNvPr id="36892" name="Group 60"/>
                <p:cNvGrpSpPr/>
                <p:nvPr/>
              </p:nvGrpSpPr>
              <p:grpSpPr>
                <a:xfrm>
                  <a:off x="2354" y="1124"/>
                  <a:ext cx="227" cy="809"/>
                  <a:chOff x="2354" y="1124"/>
                  <a:chExt cx="227" cy="809"/>
                </a:xfrm>
              </p:grpSpPr>
              <p:pic>
                <p:nvPicPr>
                  <p:cNvPr id="36893" name="Picture 54"/>
                  <p:cNvPicPr>
                    <a:picLocks noChangeAspect="1"/>
                  </p:cNvPicPr>
                  <p:nvPr/>
                </p:nvPicPr>
                <p:blipFill>
                  <a:blip r:embed="rId7"/>
                  <a:stretch>
                    <a:fillRect/>
                  </a:stretch>
                </p:blipFill>
                <p:spPr>
                  <a:xfrm rot="5400000">
                    <a:off x="2246" y="1257"/>
                    <a:ext cx="409" cy="143"/>
                  </a:xfrm>
                  <a:prstGeom prst="rect">
                    <a:avLst/>
                  </a:prstGeom>
                  <a:noFill/>
                  <a:ln w="9525">
                    <a:noFill/>
                  </a:ln>
                </p:spPr>
              </p:pic>
              <p:grpSp>
                <p:nvGrpSpPr>
                  <p:cNvPr id="36894" name="Group 55"/>
                  <p:cNvGrpSpPr/>
                  <p:nvPr/>
                </p:nvGrpSpPr>
                <p:grpSpPr>
                  <a:xfrm rot="10800000">
                    <a:off x="2354" y="1655"/>
                    <a:ext cx="227" cy="91"/>
                    <a:chOff x="3061" y="2840"/>
                    <a:chExt cx="227" cy="91"/>
                  </a:xfrm>
                </p:grpSpPr>
                <p:sp>
                  <p:nvSpPr>
                    <p:cNvPr id="36897" name="Line 56"/>
                    <p:cNvSpPr/>
                    <p:nvPr/>
                  </p:nvSpPr>
                  <p:spPr>
                    <a:xfrm>
                      <a:off x="3061" y="2840"/>
                      <a:ext cx="227" cy="0"/>
                    </a:xfrm>
                    <a:prstGeom prst="line">
                      <a:avLst/>
                    </a:prstGeom>
                    <a:ln w="38100" cap="flat" cmpd="sng">
                      <a:solidFill>
                        <a:schemeClr val="tx1"/>
                      </a:solidFill>
                      <a:prstDash val="solid"/>
                      <a:headEnd type="none" w="med" len="med"/>
                      <a:tailEnd type="none" w="med" len="med"/>
                    </a:ln>
                  </p:spPr>
                </p:sp>
                <p:sp>
                  <p:nvSpPr>
                    <p:cNvPr id="36898" name="Line 57"/>
                    <p:cNvSpPr/>
                    <p:nvPr/>
                  </p:nvSpPr>
                  <p:spPr>
                    <a:xfrm>
                      <a:off x="3061" y="2931"/>
                      <a:ext cx="227" cy="0"/>
                    </a:xfrm>
                    <a:prstGeom prst="line">
                      <a:avLst/>
                    </a:prstGeom>
                    <a:ln w="38100" cap="flat" cmpd="sng">
                      <a:solidFill>
                        <a:schemeClr val="tx1"/>
                      </a:solidFill>
                      <a:prstDash val="solid"/>
                      <a:headEnd type="none" w="med" len="med"/>
                      <a:tailEnd type="none" w="med" len="med"/>
                    </a:ln>
                  </p:spPr>
                </p:sp>
              </p:grpSp>
              <p:sp>
                <p:nvSpPr>
                  <p:cNvPr id="36895" name="Line 58"/>
                  <p:cNvSpPr/>
                  <p:nvPr/>
                </p:nvSpPr>
                <p:spPr>
                  <a:xfrm>
                    <a:off x="2458" y="1523"/>
                    <a:ext cx="0" cy="128"/>
                  </a:xfrm>
                  <a:prstGeom prst="line">
                    <a:avLst/>
                  </a:prstGeom>
                  <a:ln w="9525" cap="flat" cmpd="sng">
                    <a:solidFill>
                      <a:schemeClr val="tx1"/>
                    </a:solidFill>
                    <a:prstDash val="solid"/>
                    <a:headEnd type="none" w="med" len="med"/>
                    <a:tailEnd type="none" w="med" len="med"/>
                  </a:ln>
                </p:spPr>
              </p:sp>
              <p:sp>
                <p:nvSpPr>
                  <p:cNvPr id="36896" name="Line 59"/>
                  <p:cNvSpPr/>
                  <p:nvPr/>
                </p:nvSpPr>
                <p:spPr>
                  <a:xfrm>
                    <a:off x="2458" y="1754"/>
                    <a:ext cx="0" cy="179"/>
                  </a:xfrm>
                  <a:prstGeom prst="line">
                    <a:avLst/>
                  </a:prstGeom>
                  <a:ln w="9525" cap="flat" cmpd="sng">
                    <a:solidFill>
                      <a:schemeClr val="tx1"/>
                    </a:solidFill>
                    <a:prstDash val="solid"/>
                    <a:headEnd type="none" w="med" len="med"/>
                    <a:tailEnd type="none" w="med" len="med"/>
                  </a:ln>
                </p:spPr>
              </p:sp>
            </p:grpSp>
          </p:grpSp>
        </p:grpSp>
        <p:sp>
          <p:nvSpPr>
            <p:cNvPr id="36876" name="Text Box 65"/>
            <p:cNvSpPr txBox="1"/>
            <p:nvPr/>
          </p:nvSpPr>
          <p:spPr>
            <a:xfrm>
              <a:off x="0" y="1284"/>
              <a:ext cx="46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6mA</a:t>
              </a:r>
              <a:endParaRPr lang="en-US" altLang="zh-CN" sz="1800" b="1" dirty="0">
                <a:ea typeface="Arial" panose="020B0604020202020204" pitchFamily="34" charset="0"/>
              </a:endParaRPr>
            </a:p>
          </p:txBody>
        </p:sp>
        <p:sp>
          <p:nvSpPr>
            <p:cNvPr id="36877" name="Text Box 67"/>
            <p:cNvSpPr txBox="1"/>
            <p:nvPr/>
          </p:nvSpPr>
          <p:spPr>
            <a:xfrm>
              <a:off x="963" y="1297"/>
              <a:ext cx="477"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3k</a:t>
              </a:r>
              <a:r>
                <a:rPr lang="el-GR" altLang="zh-CN" sz="1800" b="1" dirty="0">
                  <a:cs typeface="Arial" panose="020B0604020202020204" pitchFamily="34" charset="0"/>
                </a:rPr>
                <a:t>Ω</a:t>
              </a:r>
              <a:endParaRPr lang="el-GR" altLang="zh-CN" sz="1800" b="1" dirty="0">
                <a:ea typeface="Arial" panose="020B0604020202020204" pitchFamily="34" charset="0"/>
              </a:endParaRPr>
            </a:p>
          </p:txBody>
        </p:sp>
        <p:sp>
          <p:nvSpPr>
            <p:cNvPr id="36878" name="Text Box 68"/>
            <p:cNvSpPr txBox="1"/>
            <p:nvPr/>
          </p:nvSpPr>
          <p:spPr>
            <a:xfrm>
              <a:off x="1394" y="1160"/>
              <a:ext cx="425"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5k</a:t>
              </a:r>
              <a:r>
                <a:rPr lang="el-GR" altLang="zh-CN" sz="1800" b="1" dirty="0">
                  <a:cs typeface="Arial" panose="020B0604020202020204" pitchFamily="34" charset="0"/>
                </a:rPr>
                <a:t>Ω</a:t>
              </a:r>
              <a:endParaRPr lang="el-GR" altLang="zh-CN" sz="1800" b="1" dirty="0">
                <a:ea typeface="Arial" panose="020B0604020202020204" pitchFamily="34" charset="0"/>
              </a:endParaRPr>
            </a:p>
          </p:txBody>
        </p:sp>
        <p:sp>
          <p:nvSpPr>
            <p:cNvPr id="36879" name="Text Box 71"/>
            <p:cNvSpPr txBox="1"/>
            <p:nvPr/>
          </p:nvSpPr>
          <p:spPr>
            <a:xfrm>
              <a:off x="2260" y="1305"/>
              <a:ext cx="452"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cs typeface="Arial" panose="020B0604020202020204" pitchFamily="34" charset="0"/>
                </a:rPr>
                <a:t>4k</a:t>
              </a:r>
              <a:r>
                <a:rPr lang="el-GR" altLang="zh-CN" sz="1800" b="1" dirty="0">
                  <a:cs typeface="Arial" panose="020B0604020202020204" pitchFamily="34" charset="0"/>
                </a:rPr>
                <a:t>Ω</a:t>
              </a:r>
              <a:endParaRPr lang="el-GR" altLang="zh-CN" sz="1800" b="1" dirty="0">
                <a:ea typeface="Arial" panose="020B0604020202020204" pitchFamily="34" charset="0"/>
              </a:endParaRPr>
            </a:p>
          </p:txBody>
        </p:sp>
        <p:sp>
          <p:nvSpPr>
            <p:cNvPr id="36880" name="Text Box 72"/>
            <p:cNvSpPr txBox="1"/>
            <p:nvPr/>
          </p:nvSpPr>
          <p:spPr>
            <a:xfrm>
              <a:off x="1217" y="684"/>
              <a:ext cx="519"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2k</a:t>
              </a:r>
              <a:r>
                <a:rPr lang="el-GR" altLang="zh-CN" sz="1800" b="1" dirty="0">
                  <a:cs typeface="Arial" panose="020B0604020202020204" pitchFamily="34" charset="0"/>
                </a:rPr>
                <a:t>Ω</a:t>
              </a:r>
              <a:endParaRPr lang="el-GR" altLang="zh-CN" sz="1800" b="1" dirty="0">
                <a:ea typeface="Arial" panose="020B0604020202020204" pitchFamily="34" charset="0"/>
              </a:endParaRPr>
            </a:p>
          </p:txBody>
        </p:sp>
        <p:sp>
          <p:nvSpPr>
            <p:cNvPr id="36881" name="Text Box 74"/>
            <p:cNvSpPr txBox="1"/>
            <p:nvPr/>
          </p:nvSpPr>
          <p:spPr>
            <a:xfrm>
              <a:off x="1238" y="272"/>
              <a:ext cx="479"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1800" b="1" dirty="0">
                  <a:cs typeface="Arial" panose="020B0604020202020204" pitchFamily="34" charset="0"/>
                </a:rPr>
                <a:t>2mF</a:t>
              </a:r>
              <a:endParaRPr lang="en-US" altLang="zh-CN" sz="1800" b="1" dirty="0">
                <a:ea typeface="Arial" panose="020B0604020202020204" pitchFamily="34" charset="0"/>
              </a:endParaRPr>
            </a:p>
          </p:txBody>
        </p:sp>
      </p:grpSp>
      <p:sp>
        <p:nvSpPr>
          <p:cNvPr id="36873" name="文本框 1"/>
          <p:cNvSpPr txBox="1"/>
          <p:nvPr/>
        </p:nvSpPr>
        <p:spPr>
          <a:xfrm>
            <a:off x="7294563" y="4872038"/>
            <a:ext cx="1108075"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800" b="1" dirty="0">
                <a:ea typeface="宋体-18030" pitchFamily="49" charset="-122"/>
              </a:rPr>
              <a:t>直流等效</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161"/>
          <p:cNvSpPr txBox="1"/>
          <p:nvPr/>
        </p:nvSpPr>
        <p:spPr>
          <a:xfrm>
            <a:off x="539750" y="1303338"/>
            <a:ext cx="5664200" cy="463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则他们存储的能量为：</a:t>
            </a:r>
            <a:endParaRPr lang="en-US" altLang="zh-CN" sz="2400" b="1" dirty="0">
              <a:latin typeface="Times New Roman" panose="02020603050405020304" pitchFamily="18" charset="0"/>
              <a:ea typeface="Arial" panose="020B0604020202020204" pitchFamily="34" charset="0"/>
            </a:endParaRPr>
          </a:p>
        </p:txBody>
      </p:sp>
      <p:sp>
        <p:nvSpPr>
          <p:cNvPr id="37891" name="Rectangle 163"/>
          <p:cNvSpPr/>
          <p:nvPr/>
        </p:nvSpPr>
        <p:spPr>
          <a:xfrm>
            <a:off x="3484563" y="1535113"/>
            <a:ext cx="185737" cy="46196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ea typeface="Arial" panose="020B0604020202020204" pitchFamily="34" charset="0"/>
            </a:endParaRPr>
          </a:p>
        </p:txBody>
      </p:sp>
      <p:graphicFrame>
        <p:nvGraphicFramePr>
          <p:cNvPr id="37892" name="Object 162"/>
          <p:cNvGraphicFramePr>
            <a:graphicFrameLocks noChangeAspect="1"/>
          </p:cNvGraphicFramePr>
          <p:nvPr/>
        </p:nvGraphicFramePr>
        <p:xfrm>
          <a:off x="1187450" y="2397125"/>
          <a:ext cx="6230938" cy="2062163"/>
        </p:xfrm>
        <a:graphic>
          <a:graphicData uri="http://schemas.openxmlformats.org/presentationml/2006/ole">
            <p:oleObj spid="_x0000_s15362" r:id="rId3" imgW="2451100" imgH="812800" progId="">
              <p:embed/>
            </p:oleObj>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3"/>
          <a:stretch>
            <a:fillRect/>
          </a:stretch>
        </p:blipFill>
        <p:spPr>
          <a:xfrm>
            <a:off x="251460" y="548640"/>
            <a:ext cx="8059420" cy="548005"/>
          </a:xfrm>
          <a:prstGeom prst="rect">
            <a:avLst/>
          </a:prstGeom>
        </p:spPr>
      </p:pic>
      <p:pic>
        <p:nvPicPr>
          <p:cNvPr id="5" name="图片 4"/>
          <p:cNvPicPr>
            <a:picLocks noChangeAspect="1"/>
          </p:cNvPicPr>
          <p:nvPr/>
        </p:nvPicPr>
        <p:blipFill>
          <a:blip r:embed="rId4"/>
          <a:stretch>
            <a:fillRect/>
          </a:stretch>
        </p:blipFill>
        <p:spPr>
          <a:xfrm>
            <a:off x="5147945" y="1412875"/>
            <a:ext cx="3352800" cy="2606040"/>
          </a:xfrm>
          <a:prstGeom prst="rect">
            <a:avLst/>
          </a:prstGeom>
        </p:spPr>
      </p:pic>
      <p:sp>
        <p:nvSpPr>
          <p:cNvPr id="6" name="文本框 5"/>
          <p:cNvSpPr txBox="1"/>
          <p:nvPr/>
        </p:nvSpPr>
        <p:spPr>
          <a:xfrm>
            <a:off x="513715" y="1238885"/>
            <a:ext cx="4562475" cy="3415030"/>
          </a:xfrm>
          <a:prstGeom prst="rect">
            <a:avLst/>
          </a:prstGeom>
          <a:noFill/>
        </p:spPr>
        <p:txBody>
          <a:bodyPr wrap="square" rtlCol="0">
            <a:spAutoFit/>
          </a:bodyPr>
          <a:lstStyle/>
          <a:p>
            <a:r>
              <a:rPr lang="zh-CN" altLang="en-US">
                <a:solidFill>
                  <a:schemeClr val="tx1"/>
                </a:solidFill>
                <a:effectLst>
                  <a:outerShdw blurRad="38100" dist="19050" dir="2700000" algn="tl" rotWithShape="0">
                    <a:schemeClr val="dk1">
                      <a:alpha val="40000"/>
                    </a:schemeClr>
                  </a:outerShdw>
                </a:effectLst>
              </a:rPr>
              <a:t>解：电容隔离直流</a:t>
            </a:r>
          </a:p>
          <a:p>
            <a:endParaRPr lang="zh-CN" altLang="en-US">
              <a:solidFill>
                <a:schemeClr val="tx1"/>
              </a:solidFill>
              <a:effectLst>
                <a:outerShdw blurRad="38100" dist="19050" dir="2700000" algn="tl" rotWithShape="0">
                  <a:schemeClr val="dk1">
                    <a:alpha val="40000"/>
                  </a:schemeClr>
                </a:outerShdw>
              </a:effectLst>
            </a:endParaRPr>
          </a:p>
          <a:p>
            <a:r>
              <a:rPr lang="en-US" altLang="zh-CN">
                <a:solidFill>
                  <a:schemeClr val="tx1"/>
                </a:solidFill>
                <a:effectLst>
                  <a:outerShdw blurRad="38100" dist="19050" dir="2700000" algn="tl" rotWithShape="0">
                    <a:schemeClr val="dk1">
                      <a:alpha val="40000"/>
                    </a:schemeClr>
                  </a:outerShdw>
                </a:effectLst>
              </a:rPr>
              <a:t>I = 50/(1+3+6)=5mA</a:t>
            </a:r>
          </a:p>
          <a:p>
            <a:endParaRPr lang="en-US" altLang="zh-CN">
              <a:solidFill>
                <a:schemeClr val="tx1"/>
              </a:solidFill>
              <a:effectLst>
                <a:outerShdw blurRad="38100" dist="19050" dir="2700000" algn="tl" rotWithShape="0">
                  <a:schemeClr val="dk1">
                    <a:alpha val="40000"/>
                  </a:schemeClr>
                </a:outerShdw>
              </a:effectLst>
            </a:endParaRPr>
          </a:p>
          <a:p>
            <a:r>
              <a:rPr lang="en-US" altLang="zh-CN">
                <a:solidFill>
                  <a:schemeClr val="tx1"/>
                </a:solidFill>
                <a:effectLst>
                  <a:outerShdw blurRad="38100" dist="19050" dir="2700000" algn="tl" rotWithShape="0">
                    <a:schemeClr val="dk1">
                      <a:alpha val="40000"/>
                    </a:schemeClr>
                  </a:outerShdw>
                </a:effectLst>
              </a:rPr>
              <a:t>V(30)=5*3=15V</a:t>
            </a:r>
          </a:p>
          <a:p>
            <a:endParaRPr lang="en-US" altLang="zh-CN">
              <a:solidFill>
                <a:schemeClr val="tx1"/>
              </a:solidFill>
              <a:effectLst>
                <a:outerShdw blurRad="38100" dist="19050" dir="2700000" algn="tl" rotWithShape="0">
                  <a:schemeClr val="dk1">
                    <a:alpha val="40000"/>
                  </a:schemeClr>
                </a:outerShdw>
              </a:effectLst>
            </a:endParaRPr>
          </a:p>
          <a:p>
            <a:r>
              <a:rPr lang="en-US" altLang="zh-CN">
                <a:solidFill>
                  <a:schemeClr val="tx1"/>
                </a:solidFill>
                <a:effectLst>
                  <a:outerShdw blurRad="38100" dist="19050" dir="2700000" algn="tl" rotWithShape="0">
                    <a:schemeClr val="dk1">
                      <a:alpha val="40000"/>
                    </a:schemeClr>
                  </a:outerShdw>
                </a:effectLst>
              </a:rPr>
              <a:t>W(30)=0.5 *C*V*V=0.5*30*15*15=3.375mJ</a:t>
            </a:r>
          </a:p>
          <a:p>
            <a:endParaRPr lang="en-US" altLang="zh-CN">
              <a:solidFill>
                <a:schemeClr val="tx1"/>
              </a:solidFill>
              <a:effectLst>
                <a:outerShdw blurRad="38100" dist="19050" dir="2700000" algn="tl" rotWithShape="0">
                  <a:schemeClr val="dk1">
                    <a:alpha val="40000"/>
                  </a:schemeClr>
                </a:outerShdw>
              </a:effectLst>
            </a:endParaRPr>
          </a:p>
          <a:p>
            <a:r>
              <a:rPr lang="en-US" altLang="zh-CN">
                <a:solidFill>
                  <a:schemeClr val="tx1"/>
                </a:solidFill>
                <a:effectLst>
                  <a:outerShdw blurRad="38100" dist="19050" dir="2700000" algn="tl" rotWithShape="0">
                    <a:schemeClr val="dk1">
                      <a:alpha val="40000"/>
                    </a:schemeClr>
                  </a:outerShdw>
                </a:effectLst>
                <a:sym typeface="+mn-ea"/>
              </a:rPr>
              <a:t>V(20)=5*9=45V</a:t>
            </a:r>
            <a:endParaRPr lang="en-US" altLang="zh-CN">
              <a:solidFill>
                <a:schemeClr val="tx1"/>
              </a:solidFill>
              <a:effectLst>
                <a:outerShdw blurRad="38100" dist="19050" dir="2700000" algn="tl" rotWithShape="0">
                  <a:schemeClr val="dk1">
                    <a:alpha val="40000"/>
                  </a:schemeClr>
                </a:outerShdw>
              </a:effectLst>
            </a:endParaRPr>
          </a:p>
          <a:p>
            <a:endParaRPr lang="en-US" altLang="zh-CN">
              <a:solidFill>
                <a:schemeClr val="tx1"/>
              </a:solidFill>
              <a:effectLst>
                <a:outerShdw blurRad="38100" dist="19050" dir="2700000" algn="tl" rotWithShape="0">
                  <a:schemeClr val="dk1">
                    <a:alpha val="40000"/>
                  </a:schemeClr>
                </a:outerShdw>
              </a:effectLst>
            </a:endParaRPr>
          </a:p>
          <a:p>
            <a:r>
              <a:rPr lang="en-US" altLang="zh-CN">
                <a:solidFill>
                  <a:schemeClr val="tx1"/>
                </a:solidFill>
                <a:effectLst>
                  <a:outerShdw blurRad="38100" dist="19050" dir="2700000" algn="tl" rotWithShape="0">
                    <a:schemeClr val="dk1">
                      <a:alpha val="40000"/>
                    </a:schemeClr>
                  </a:outerShdw>
                </a:effectLst>
                <a:sym typeface="+mn-ea"/>
              </a:rPr>
              <a:t>W(30)=0.5 *C*V*V=0.5*20*45*45=20.25mJ</a:t>
            </a:r>
            <a:endParaRPr lang="en-US" altLang="zh-CN">
              <a:solidFill>
                <a:schemeClr val="tx1"/>
              </a:solidFill>
              <a:effectLst>
                <a:outerShdw blurRad="38100" dist="19050" dir="2700000" algn="tl" rotWithShape="0">
                  <a:schemeClr val="dk1">
                    <a:alpha val="40000"/>
                  </a:schemeClr>
                </a:outerShdw>
              </a:effectLst>
            </a:endParaRPr>
          </a:p>
          <a:p>
            <a:endParaRPr lang="en-US" altLang="zh-CN">
              <a:solidFill>
                <a:schemeClr val="tx1"/>
              </a:solidFill>
              <a:effectLst>
                <a:outerShdw blurRad="38100" dist="19050" dir="2700000" algn="tl" rotWithShape="0">
                  <a:schemeClr val="dk1">
                    <a:alpha val="40000"/>
                  </a:schemeClr>
                </a:outerShdw>
              </a:effectLst>
            </a:endParaRPr>
          </a:p>
        </p:txBody>
      </p:sp>
      <p:graphicFrame>
        <p:nvGraphicFramePr>
          <p:cNvPr id="26627" name="Object 22"/>
          <p:cNvGraphicFramePr>
            <a:graphicFrameLocks noGrp="1" noChangeAspect="1"/>
          </p:cNvGraphicFramePr>
          <p:nvPr>
            <p:ph sz="half" idx="2"/>
          </p:nvPr>
        </p:nvGraphicFramePr>
        <p:xfrm>
          <a:off x="6083935" y="4364673"/>
          <a:ext cx="2016125" cy="1201737"/>
        </p:xfrm>
        <a:graphic>
          <a:graphicData uri="http://schemas.openxmlformats.org/presentationml/2006/ole">
            <p:oleObj spid="_x0000_s16386" r:id="rId5" imgW="660113" imgH="393529" progId="">
              <p:embed/>
            </p:oleObj>
          </a:graphicData>
        </a:graphic>
      </p:graphicFrame>
      <p:pic>
        <p:nvPicPr>
          <p:cNvPr id="7" name="图片 6"/>
          <p:cNvPicPr>
            <a:picLocks noChangeAspect="1"/>
          </p:cNvPicPr>
          <p:nvPr/>
        </p:nvPicPr>
        <p:blipFill>
          <a:blip r:embed="rId6"/>
          <a:stretch>
            <a:fillRect/>
          </a:stretch>
        </p:blipFill>
        <p:spPr>
          <a:xfrm>
            <a:off x="3420110" y="5661025"/>
            <a:ext cx="3124200" cy="5410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250825" y="260350"/>
            <a:ext cx="3816350" cy="1371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FF0000"/>
                </a:solidFill>
                <a:effectLst/>
                <a:uLnTx/>
                <a:uFillTx/>
                <a:latin typeface="+mj-lt"/>
                <a:ea typeface="+mj-ea"/>
                <a:cs typeface="+mj-cs"/>
              </a:rPr>
              <a:t>例</a:t>
            </a:r>
            <a:r>
              <a:rPr kumimoji="0" lang="zh-CN" altLang="en-US" sz="3600" b="1" i="0" u="none" strike="noStrike" kern="0" cap="none" spc="0" normalizeH="0" baseline="0" noProof="0" dirty="0">
                <a:ln>
                  <a:noFill/>
                </a:ln>
                <a:solidFill>
                  <a:schemeClr val="tx1">
                    <a:lumMod val="50000"/>
                    <a:lumOff val="50000"/>
                  </a:schemeClr>
                </a:solidFill>
                <a:effectLst/>
                <a:uLnTx/>
                <a:uFillTx/>
                <a:latin typeface="+mj-lt"/>
                <a:ea typeface="+mj-ea"/>
                <a:cs typeface="+mj-cs"/>
              </a:rPr>
              <a:t>（堂练）</a:t>
            </a:r>
            <a:r>
              <a:rPr kumimoji="0" lang="en-US" altLang="zh-CN" sz="3600" b="1" i="0" u="none" strike="noStrike" kern="0" cap="none" spc="0" normalizeH="0" baseline="0" noProof="0" dirty="0">
                <a:ln>
                  <a:noFill/>
                </a:ln>
                <a:solidFill>
                  <a:schemeClr val="tx1">
                    <a:lumMod val="50000"/>
                    <a:lumOff val="50000"/>
                  </a:schemeClr>
                </a:solidFill>
                <a:effectLst/>
                <a:uLnTx/>
                <a:uFillTx/>
                <a:latin typeface="+mj-lt"/>
                <a:ea typeface="+mj-ea"/>
                <a:cs typeface="+mj-cs"/>
              </a:rPr>
              <a:t> </a:t>
            </a:r>
            <a:endParaRPr kumimoji="0" lang="zh-CN" altLang="en-US" sz="3600" b="1" i="0" u="none" strike="noStrike" kern="0" cap="none" spc="0" normalizeH="0" baseline="0" noProof="0" dirty="0">
              <a:ln>
                <a:noFill/>
              </a:ln>
              <a:solidFill>
                <a:schemeClr val="tx1">
                  <a:lumMod val="50000"/>
                  <a:lumOff val="50000"/>
                </a:schemeClr>
              </a:solidFill>
              <a:effectLst/>
              <a:uLnTx/>
              <a:uFillTx/>
              <a:latin typeface="+mj-lt"/>
              <a:ea typeface="+mj-ea"/>
              <a:cs typeface="+mj-cs"/>
            </a:endParaRPr>
          </a:p>
        </p:txBody>
      </p:sp>
      <p:sp>
        <p:nvSpPr>
          <p:cNvPr id="38915" name="Text Box 4"/>
          <p:cNvSpPr txBox="1"/>
          <p:nvPr/>
        </p:nvSpPr>
        <p:spPr>
          <a:xfrm>
            <a:off x="611188" y="1401763"/>
            <a:ext cx="7723187" cy="15700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cs typeface="Arial" panose="020B0604020202020204" pitchFamily="34" charset="0"/>
              </a:rPr>
              <a:t>    电路如图（</a:t>
            </a:r>
            <a:r>
              <a:rPr lang="en-US" altLang="zh-CN" sz="2400" b="1" dirty="0">
                <a:latin typeface="Times New Roman" panose="02020603050405020304" pitchFamily="18" charset="0"/>
                <a:cs typeface="Times New Roman" panose="02020603050405020304" pitchFamily="18" charset="0"/>
              </a:rPr>
              <a:t>a</a:t>
            </a:r>
            <a:r>
              <a:rPr lang="zh-CN" altLang="en-US" sz="2400" b="1" dirty="0">
                <a:cs typeface="Arial" panose="020B0604020202020204" pitchFamily="34" charset="0"/>
              </a:rPr>
              <a:t>）所示，设电流</a:t>
            </a:r>
            <a:r>
              <a:rPr lang="en-US" altLang="zh-CN" sz="2400" b="1" i="1" dirty="0">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(t)</a:t>
            </a:r>
            <a:r>
              <a:rPr lang="zh-CN" altLang="en-US" sz="2400" b="1" dirty="0">
                <a:cs typeface="Arial" panose="020B0604020202020204" pitchFamily="34" charset="0"/>
              </a:rPr>
              <a:t>波形如图（</a:t>
            </a:r>
            <a:r>
              <a:rPr lang="en-US" altLang="zh-CN" sz="2400" b="1" dirty="0">
                <a:latin typeface="Times New Roman" panose="02020603050405020304" pitchFamily="18" charset="0"/>
                <a:cs typeface="Times New Roman" panose="02020603050405020304" pitchFamily="18" charset="0"/>
              </a:rPr>
              <a:t>b</a:t>
            </a:r>
            <a:r>
              <a:rPr lang="zh-CN" altLang="en-US" sz="2400" b="1" dirty="0">
                <a:cs typeface="Arial" panose="020B0604020202020204" pitchFamily="34" charset="0"/>
              </a:rPr>
              <a:t>）。已知：</a:t>
            </a:r>
            <a:r>
              <a:rPr lang="en-US" altLang="zh-CN" sz="2400" b="1" i="1" dirty="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=0.5uF</a:t>
            </a:r>
            <a:r>
              <a:rPr lang="zh-CN" altLang="en-US" sz="2400" b="1" dirty="0">
                <a:cs typeface="Arial" panose="020B0604020202020204" pitchFamily="34" charset="0"/>
              </a:rPr>
              <a:t>，当</a:t>
            </a:r>
            <a:r>
              <a:rPr lang="en-US" altLang="zh-CN" sz="2400" b="1" i="1" dirty="0">
                <a:latin typeface="Times New Roman" panose="02020603050405020304" pitchFamily="18" charset="0"/>
                <a:cs typeface="Times New Roman" panose="02020603050405020304" pitchFamily="18" charset="0"/>
              </a:rPr>
              <a:t>t</a:t>
            </a:r>
            <a:r>
              <a:rPr lang="en-US" altLang="zh-CN" sz="2400" b="1" dirty="0">
                <a:latin typeface="Times New Roman" panose="02020603050405020304" pitchFamily="18" charset="0"/>
                <a:cs typeface="Times New Roman" panose="02020603050405020304" pitchFamily="18" charset="0"/>
              </a:rPr>
              <a:t>=0</a:t>
            </a:r>
            <a:r>
              <a:rPr lang="zh-CN" altLang="en-US" sz="2400" b="1" dirty="0">
                <a:cs typeface="Arial" panose="020B0604020202020204" pitchFamily="34" charset="0"/>
              </a:rPr>
              <a:t>时，电容初始电压</a:t>
            </a:r>
            <a:r>
              <a:rPr lang="en-US" altLang="zh-CN" sz="2400" b="1" i="1" dirty="0">
                <a:latin typeface="Times New Roman" panose="02020603050405020304" pitchFamily="18" charset="0"/>
                <a:cs typeface="Times New Roman" panose="02020603050405020304" pitchFamily="18" charset="0"/>
              </a:rPr>
              <a:t>u</a:t>
            </a:r>
            <a:r>
              <a:rPr lang="en-US" altLang="zh-CN" sz="2400" b="1" baseline="-25000" dirty="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(0)=0</a:t>
            </a:r>
            <a:r>
              <a:rPr lang="zh-CN" altLang="en-US" sz="2400" b="1" dirty="0">
                <a:latin typeface="Times New Roman" panose="02020603050405020304" pitchFamily="18" charset="0"/>
                <a:cs typeface="Arial" panose="020B0604020202020204" pitchFamily="34" charset="0"/>
              </a:rPr>
              <a:t>。</a:t>
            </a:r>
            <a:r>
              <a:rPr lang="zh-CN" altLang="en-US" sz="2400" b="1" dirty="0">
                <a:cs typeface="Arial" panose="020B0604020202020204" pitchFamily="34" charset="0"/>
              </a:rPr>
              <a:t>求：</a:t>
            </a:r>
            <a:r>
              <a:rPr lang="en-US" altLang="zh-CN" sz="2400" b="1" i="1" dirty="0">
                <a:latin typeface="Times New Roman" panose="02020603050405020304" pitchFamily="18" charset="0"/>
                <a:cs typeface="Times New Roman" panose="02020603050405020304" pitchFamily="18" charset="0"/>
              </a:rPr>
              <a:t>t</a:t>
            </a:r>
            <a:r>
              <a:rPr lang="en-US" altLang="zh-CN" sz="2400" b="1" dirty="0">
                <a:latin typeface="Times New Roman" panose="02020603050405020304" pitchFamily="18" charset="0"/>
                <a:cs typeface="Times New Roman" panose="02020603050405020304" pitchFamily="18" charset="0"/>
              </a:rPr>
              <a:t>≥0</a:t>
            </a:r>
            <a:r>
              <a:rPr lang="zh-CN" altLang="en-US" sz="2400" b="1" dirty="0">
                <a:cs typeface="Arial" panose="020B0604020202020204" pitchFamily="34" charset="0"/>
              </a:rPr>
              <a:t>时电容电压</a:t>
            </a:r>
            <a:r>
              <a:rPr lang="en-US" altLang="zh-CN" sz="2400" b="1" i="1" dirty="0">
                <a:latin typeface="Times New Roman" panose="02020603050405020304" pitchFamily="18" charset="0"/>
                <a:cs typeface="Times New Roman" panose="02020603050405020304" pitchFamily="18" charset="0"/>
              </a:rPr>
              <a:t>u</a:t>
            </a:r>
            <a:r>
              <a:rPr lang="en-US" altLang="zh-CN" sz="2400" b="1" baseline="-25000" dirty="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(t)</a:t>
            </a:r>
            <a:r>
              <a:rPr lang="zh-CN" altLang="en-US" sz="2400" b="1" dirty="0">
                <a:cs typeface="Arial" panose="020B0604020202020204" pitchFamily="34" charset="0"/>
              </a:rPr>
              <a:t>、吸收功率</a:t>
            </a:r>
            <a:r>
              <a:rPr lang="en-US" altLang="zh-CN" sz="2400" b="1" i="1" dirty="0">
                <a:latin typeface="Times New Roman" panose="02020603050405020304" pitchFamily="18" charset="0"/>
                <a:cs typeface="Times New Roman" panose="02020603050405020304" pitchFamily="18" charset="0"/>
              </a:rPr>
              <a:t>p</a:t>
            </a:r>
            <a:r>
              <a:rPr lang="en-US" altLang="zh-CN" sz="2400" b="1" baseline="-25000" dirty="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(t)</a:t>
            </a:r>
            <a:r>
              <a:rPr lang="zh-CN" altLang="en-US" sz="2400" b="1" dirty="0">
                <a:cs typeface="Arial" panose="020B0604020202020204" pitchFamily="34" charset="0"/>
              </a:rPr>
              <a:t>和储能</a:t>
            </a:r>
            <a:r>
              <a:rPr lang="en-US" altLang="zh-CN" sz="2400" b="1" i="1" dirty="0">
                <a:latin typeface="Times New Roman" panose="02020603050405020304" pitchFamily="18" charset="0"/>
                <a:cs typeface="Times New Roman" panose="02020603050405020304" pitchFamily="18" charset="0"/>
              </a:rPr>
              <a:t>w</a:t>
            </a:r>
            <a:r>
              <a:rPr lang="en-US" altLang="zh-CN" sz="2400" b="1" baseline="-25000" dirty="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(t)</a:t>
            </a:r>
            <a:r>
              <a:rPr lang="zh-CN" altLang="en-US" sz="2400" b="1" dirty="0">
                <a:cs typeface="Arial" panose="020B0604020202020204" pitchFamily="34" charset="0"/>
              </a:rPr>
              <a:t>，并画出他们的波形图。</a:t>
            </a:r>
            <a:endParaRPr lang="en-US" altLang="zh-CN" sz="1800" b="1" dirty="0">
              <a:ea typeface="Arial" panose="020B0604020202020204" pitchFamily="34" charset="0"/>
            </a:endParaRPr>
          </a:p>
        </p:txBody>
      </p:sp>
      <p:pic>
        <p:nvPicPr>
          <p:cNvPr id="38916" name="Picture 5" descr="chap6 lin5-1"/>
          <p:cNvPicPr>
            <a:picLocks noChangeAspect="1"/>
          </p:cNvPicPr>
          <p:nvPr/>
        </p:nvPicPr>
        <p:blipFill>
          <a:blip r:embed="rId2"/>
          <a:stretch>
            <a:fillRect/>
          </a:stretch>
        </p:blipFill>
        <p:spPr>
          <a:xfrm>
            <a:off x="0" y="3009900"/>
            <a:ext cx="4572000" cy="3429000"/>
          </a:xfrm>
          <a:prstGeom prst="rect">
            <a:avLst/>
          </a:prstGeom>
          <a:noFill/>
          <a:ln w="9525">
            <a:noFill/>
          </a:ln>
        </p:spPr>
      </p:pic>
      <p:pic>
        <p:nvPicPr>
          <p:cNvPr id="38917" name="Picture 6" descr="chap6 lin5-1(b)"/>
          <p:cNvPicPr>
            <a:picLocks noChangeAspect="1"/>
          </p:cNvPicPr>
          <p:nvPr/>
        </p:nvPicPr>
        <p:blipFill>
          <a:blip r:embed="rId3"/>
          <a:stretch>
            <a:fillRect/>
          </a:stretch>
        </p:blipFill>
        <p:spPr>
          <a:xfrm>
            <a:off x="4595813" y="2962275"/>
            <a:ext cx="4697412" cy="3524250"/>
          </a:xfrm>
          <a:prstGeom prst="rect">
            <a:avLst/>
          </a:prstGeom>
          <a:noFill/>
          <a:ln w="9525">
            <a:noFill/>
          </a:ln>
        </p:spPr>
      </p:pic>
      <p:sp>
        <p:nvSpPr>
          <p:cNvPr id="38918" name="Rectangle 7"/>
          <p:cNvSpPr/>
          <p:nvPr/>
        </p:nvSpPr>
        <p:spPr>
          <a:xfrm>
            <a:off x="3059113" y="6146800"/>
            <a:ext cx="101282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chemeClr val="folHlink"/>
                </a:solidFill>
                <a:ea typeface="宋体-18030" pitchFamily="49" charset="-122"/>
              </a:rPr>
              <a:t>(</a:t>
            </a:r>
            <a:r>
              <a:rPr lang="zh-CN" altLang="en-US" sz="2400" b="1" dirty="0">
                <a:solidFill>
                  <a:schemeClr val="folHlink"/>
                </a:solidFill>
                <a:ea typeface="宋体-18030" pitchFamily="49" charset="-122"/>
              </a:rPr>
              <a:t>堂练</a:t>
            </a:r>
            <a:r>
              <a:rPr lang="en-US" altLang="zh-CN" sz="2400" b="1" dirty="0">
                <a:solidFill>
                  <a:schemeClr val="folHlink"/>
                </a:solidFill>
                <a:ea typeface="宋体-18030" pitchFamily="49" charset="-122"/>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4"/>
          <p:cNvSpPr txBox="1"/>
          <p:nvPr/>
        </p:nvSpPr>
        <p:spPr>
          <a:xfrm>
            <a:off x="180975" y="-100012"/>
            <a:ext cx="7056438" cy="38465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solidFill>
                  <a:srgbClr val="0000FF"/>
                </a:solidFill>
                <a:cs typeface="Arial" panose="020B0604020202020204" pitchFamily="34" charset="0"/>
              </a:rPr>
              <a:t>解：</a:t>
            </a:r>
            <a:endParaRPr lang="en-US" altLang="zh-CN" sz="2800" b="1" dirty="0">
              <a:solidFill>
                <a:srgbClr val="0000FF"/>
              </a:solidFill>
              <a:cs typeface="Arial" panose="020B0604020202020204" pitchFamily="34" charset="0"/>
            </a:endParaRPr>
          </a:p>
          <a:p>
            <a:pPr marL="0" lvl="0" indent="0" eaLnBrk="1" hangingPunct="1">
              <a:spcBef>
                <a:spcPct val="50000"/>
              </a:spcBef>
              <a:buNone/>
            </a:pPr>
            <a:r>
              <a:rPr lang="zh-CN" altLang="en-US" sz="2400" b="1" dirty="0">
                <a:cs typeface="Arial" panose="020B0604020202020204" pitchFamily="34" charset="0"/>
              </a:rPr>
              <a:t>       电流</a:t>
            </a:r>
            <a:r>
              <a:rPr lang="en-US" altLang="zh-CN" sz="2400" b="1" i="1" dirty="0">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(t)</a:t>
            </a:r>
            <a:r>
              <a:rPr lang="zh-CN" altLang="en-US" sz="2400" b="1" dirty="0">
                <a:cs typeface="Arial" panose="020B0604020202020204" pitchFamily="34" charset="0"/>
              </a:rPr>
              <a:t>的分段函数：</a:t>
            </a:r>
          </a:p>
          <a:p>
            <a:pPr marL="0" lvl="0" indent="0" eaLnBrk="1" hangingPunct="1">
              <a:spcBef>
                <a:spcPct val="50000"/>
              </a:spcBef>
              <a:buNone/>
            </a:pPr>
            <a:endParaRPr lang="en-US" altLang="zh-CN" sz="2400" b="1" dirty="0">
              <a:cs typeface="Arial" panose="020B0604020202020204" pitchFamily="34" charset="0"/>
            </a:endParaRPr>
          </a:p>
          <a:p>
            <a:pPr marL="0" lvl="0" indent="0" eaLnBrk="1" hangingPunct="1">
              <a:spcBef>
                <a:spcPct val="50000"/>
              </a:spcBef>
              <a:buNone/>
            </a:pPr>
            <a:endParaRPr lang="en-US" altLang="zh-CN" sz="2400" b="1" dirty="0">
              <a:cs typeface="Arial" panose="020B0604020202020204" pitchFamily="34" charset="0"/>
            </a:endParaRPr>
          </a:p>
          <a:p>
            <a:pPr marL="0" lvl="0" indent="0" eaLnBrk="1" hangingPunct="1">
              <a:spcBef>
                <a:spcPct val="50000"/>
              </a:spcBef>
              <a:buNone/>
            </a:pPr>
            <a:endParaRPr lang="en-US" altLang="zh-CN" sz="2400" b="1" dirty="0">
              <a:cs typeface="Arial" panose="020B0604020202020204" pitchFamily="34" charset="0"/>
            </a:endParaRPr>
          </a:p>
          <a:p>
            <a:pPr marL="0" lvl="0" indent="0" eaLnBrk="1" hangingPunct="1">
              <a:spcBef>
                <a:spcPct val="50000"/>
              </a:spcBef>
              <a:buNone/>
            </a:pPr>
            <a:endParaRPr lang="en-US" altLang="zh-CN" sz="2400" b="1" dirty="0">
              <a:cs typeface="Arial" panose="020B0604020202020204" pitchFamily="34" charset="0"/>
            </a:endParaRPr>
          </a:p>
          <a:p>
            <a:pPr marL="0" lvl="0" indent="0" eaLnBrk="1" hangingPunct="1">
              <a:spcBef>
                <a:spcPct val="50000"/>
              </a:spcBef>
              <a:buNone/>
            </a:pPr>
            <a:r>
              <a:rPr lang="zh-CN" altLang="en-US" sz="2400" b="1" dirty="0">
                <a:cs typeface="Arial" panose="020B0604020202020204" pitchFamily="34" charset="0"/>
              </a:rPr>
              <a:t>     根据电容伏安关系的积分式，得：</a:t>
            </a:r>
            <a:endParaRPr lang="zh-CN" altLang="en-US" sz="2400" b="1" dirty="0">
              <a:ea typeface="Arial" panose="020B0604020202020204" pitchFamily="34" charset="0"/>
            </a:endParaRPr>
          </a:p>
        </p:txBody>
      </p:sp>
      <p:graphicFrame>
        <p:nvGraphicFramePr>
          <p:cNvPr id="39939" name="对象 1"/>
          <p:cNvGraphicFramePr>
            <a:graphicFrameLocks noChangeAspect="1"/>
          </p:cNvGraphicFramePr>
          <p:nvPr/>
        </p:nvGraphicFramePr>
        <p:xfrm>
          <a:off x="395288" y="1052513"/>
          <a:ext cx="4164012" cy="1892300"/>
        </p:xfrm>
        <a:graphic>
          <a:graphicData uri="http://schemas.openxmlformats.org/presentationml/2006/ole">
            <p:oleObj spid="_x0000_s17415" r:id="rId4" imgW="1841500" imgH="914400" progId="">
              <p:embed/>
            </p:oleObj>
          </a:graphicData>
        </a:graphic>
      </p:graphicFrame>
      <p:graphicFrame>
        <p:nvGraphicFramePr>
          <p:cNvPr id="39940" name="对象 2"/>
          <p:cNvGraphicFramePr>
            <a:graphicFrameLocks noChangeAspect="1"/>
          </p:cNvGraphicFramePr>
          <p:nvPr/>
        </p:nvGraphicFramePr>
        <p:xfrm>
          <a:off x="468313" y="4211638"/>
          <a:ext cx="3959225" cy="1128712"/>
        </p:xfrm>
        <a:graphic>
          <a:graphicData uri="http://schemas.openxmlformats.org/presentationml/2006/ole">
            <p:oleObj spid="_x0000_s17416" r:id="rId5" imgW="1548728" imgH="482391" progId="">
              <p:embed/>
            </p:oleObj>
          </a:graphicData>
        </a:graphic>
      </p:graphicFrame>
      <p:graphicFrame>
        <p:nvGraphicFramePr>
          <p:cNvPr id="39941" name="对象 3"/>
          <p:cNvGraphicFramePr>
            <a:graphicFrameLocks noChangeAspect="1"/>
          </p:cNvGraphicFramePr>
          <p:nvPr/>
        </p:nvGraphicFramePr>
        <p:xfrm>
          <a:off x="4443413" y="4192588"/>
          <a:ext cx="3621087" cy="1174750"/>
        </p:xfrm>
        <a:graphic>
          <a:graphicData uri="http://schemas.openxmlformats.org/presentationml/2006/ole">
            <p:oleObj spid="_x0000_s17417" r:id="rId6" imgW="1320227" imgH="469696" progId="">
              <p:embed/>
            </p:oleObj>
          </a:graphicData>
        </a:graphic>
      </p:graphicFrame>
      <p:graphicFrame>
        <p:nvGraphicFramePr>
          <p:cNvPr id="39942" name="对象 4"/>
          <p:cNvGraphicFramePr>
            <a:graphicFrameLocks noChangeAspect="1"/>
          </p:cNvGraphicFramePr>
          <p:nvPr/>
        </p:nvGraphicFramePr>
        <p:xfrm>
          <a:off x="1244600" y="5299075"/>
          <a:ext cx="2160588" cy="506413"/>
        </p:xfrm>
        <a:graphic>
          <a:graphicData uri="http://schemas.openxmlformats.org/presentationml/2006/ole">
            <p:oleObj spid="_x0000_s17418" r:id="rId7" imgW="889000" imgH="228600" progId="">
              <p:embed/>
            </p:oleObj>
          </a:graphicData>
        </a:graphic>
      </p:graphicFrame>
      <p:graphicFrame>
        <p:nvGraphicFramePr>
          <p:cNvPr id="39943" name="对象 5"/>
          <p:cNvGraphicFramePr>
            <a:graphicFrameLocks noChangeAspect="1"/>
          </p:cNvGraphicFramePr>
          <p:nvPr/>
        </p:nvGraphicFramePr>
        <p:xfrm>
          <a:off x="468313" y="6021388"/>
          <a:ext cx="5359400" cy="547687"/>
        </p:xfrm>
        <a:graphic>
          <a:graphicData uri="http://schemas.openxmlformats.org/presentationml/2006/ole">
            <p:oleObj spid="_x0000_s17419" r:id="rId8" imgW="2159000" imgH="241300" progId="">
              <p:embed/>
            </p:oleObj>
          </a:graphicData>
        </a:graphic>
      </p:graphicFrame>
      <p:sp>
        <p:nvSpPr>
          <p:cNvPr id="39944" name="TextBox 9"/>
          <p:cNvSpPr txBox="1"/>
          <p:nvPr/>
        </p:nvSpPr>
        <p:spPr>
          <a:xfrm>
            <a:off x="261938" y="3708400"/>
            <a:ext cx="5184775" cy="522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dirty="0">
                <a:solidFill>
                  <a:srgbClr val="0000FF"/>
                </a:solidFill>
                <a:ea typeface="宋体-18030" pitchFamily="49" charset="-122"/>
              </a:rPr>
              <a:t>1</a:t>
            </a:r>
            <a:r>
              <a:rPr lang="zh-CN" altLang="en-US" sz="2800" b="1" dirty="0">
                <a:solidFill>
                  <a:srgbClr val="0000FF"/>
                </a:solidFill>
                <a:ea typeface="宋体-18030" pitchFamily="49" charset="-122"/>
              </a:rPr>
              <a:t>）</a:t>
            </a:r>
            <a:r>
              <a:rPr lang="zh-CN" altLang="en-US" sz="2800" b="1" dirty="0">
                <a:ea typeface="宋体-18030" pitchFamily="49" charset="-122"/>
              </a:rPr>
              <a:t>当                      </a:t>
            </a:r>
          </a:p>
        </p:txBody>
      </p:sp>
      <p:graphicFrame>
        <p:nvGraphicFramePr>
          <p:cNvPr id="39945" name="对象 6"/>
          <p:cNvGraphicFramePr>
            <a:graphicFrameLocks noChangeAspect="1"/>
          </p:cNvGraphicFramePr>
          <p:nvPr/>
        </p:nvGraphicFramePr>
        <p:xfrm>
          <a:off x="1401763" y="3767138"/>
          <a:ext cx="1844675" cy="444500"/>
        </p:xfrm>
        <a:graphic>
          <a:graphicData uri="http://schemas.openxmlformats.org/presentationml/2006/ole">
            <p:oleObj spid="_x0000_s17420" r:id="rId9" imgW="672516" imgH="177646" progId="">
              <p:embed/>
            </p:oleObj>
          </a:graphicData>
        </a:graphic>
      </p:graphicFrame>
      <p:pic>
        <p:nvPicPr>
          <p:cNvPr id="39946" name="Picture 6" descr="chap6 lin5-1(b)"/>
          <p:cNvPicPr>
            <a:picLocks noChangeAspect="1"/>
          </p:cNvPicPr>
          <p:nvPr/>
        </p:nvPicPr>
        <p:blipFill>
          <a:blip r:embed="rId10"/>
          <a:stretch>
            <a:fillRect/>
          </a:stretch>
        </p:blipFill>
        <p:spPr>
          <a:xfrm>
            <a:off x="5446713" y="392113"/>
            <a:ext cx="4699000" cy="352425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6" descr="chap6 lin5-1(b)"/>
          <p:cNvPicPr>
            <a:picLocks noChangeAspect="1"/>
          </p:cNvPicPr>
          <p:nvPr/>
        </p:nvPicPr>
        <p:blipFill>
          <a:blip r:embed="rId3"/>
          <a:stretch>
            <a:fillRect/>
          </a:stretch>
        </p:blipFill>
        <p:spPr>
          <a:xfrm>
            <a:off x="5502275" y="1274763"/>
            <a:ext cx="5057775" cy="3794125"/>
          </a:xfrm>
          <a:prstGeom prst="rect">
            <a:avLst/>
          </a:prstGeom>
          <a:noFill/>
          <a:ln w="9525">
            <a:noFill/>
          </a:ln>
        </p:spPr>
      </p:pic>
      <p:graphicFrame>
        <p:nvGraphicFramePr>
          <p:cNvPr id="41987" name="对象 1"/>
          <p:cNvGraphicFramePr>
            <a:graphicFrameLocks noChangeAspect="1"/>
          </p:cNvGraphicFramePr>
          <p:nvPr/>
        </p:nvGraphicFramePr>
        <p:xfrm>
          <a:off x="808038" y="541338"/>
          <a:ext cx="3979862" cy="1055687"/>
        </p:xfrm>
        <a:graphic>
          <a:graphicData uri="http://schemas.openxmlformats.org/presentationml/2006/ole">
            <p:oleObj spid="_x0000_s18443" r:id="rId4" imgW="1663700" imgH="482600" progId="">
              <p:embed/>
            </p:oleObj>
          </a:graphicData>
        </a:graphic>
      </p:graphicFrame>
      <p:graphicFrame>
        <p:nvGraphicFramePr>
          <p:cNvPr id="41988" name="对象 2"/>
          <p:cNvGraphicFramePr>
            <a:graphicFrameLocks noChangeAspect="1"/>
          </p:cNvGraphicFramePr>
          <p:nvPr/>
        </p:nvGraphicFramePr>
        <p:xfrm>
          <a:off x="4932363" y="830263"/>
          <a:ext cx="1216025" cy="444500"/>
        </p:xfrm>
        <a:graphic>
          <a:graphicData uri="http://schemas.openxmlformats.org/presentationml/2006/ole">
            <p:oleObj spid="_x0000_s18444" r:id="rId5" imgW="507780" imgH="203112" progId="">
              <p:embed/>
            </p:oleObj>
          </a:graphicData>
        </a:graphic>
      </p:graphicFrame>
      <p:graphicFrame>
        <p:nvGraphicFramePr>
          <p:cNvPr id="41989" name="对象 3"/>
          <p:cNvGraphicFramePr>
            <a:graphicFrameLocks noChangeAspect="1"/>
          </p:cNvGraphicFramePr>
          <p:nvPr/>
        </p:nvGraphicFramePr>
        <p:xfrm>
          <a:off x="777875" y="1712913"/>
          <a:ext cx="2401888" cy="500062"/>
        </p:xfrm>
        <a:graphic>
          <a:graphicData uri="http://schemas.openxmlformats.org/presentationml/2006/ole">
            <p:oleObj spid="_x0000_s18445" r:id="rId6" imgW="1002865" imgH="228501" progId="">
              <p:embed/>
            </p:oleObj>
          </a:graphicData>
        </a:graphic>
      </p:graphicFrame>
      <p:graphicFrame>
        <p:nvGraphicFramePr>
          <p:cNvPr id="41990" name="对象 4"/>
          <p:cNvGraphicFramePr>
            <a:graphicFrameLocks noChangeAspect="1"/>
          </p:cNvGraphicFramePr>
          <p:nvPr/>
        </p:nvGraphicFramePr>
        <p:xfrm>
          <a:off x="1403350" y="2609850"/>
          <a:ext cx="2297113" cy="444500"/>
        </p:xfrm>
        <a:graphic>
          <a:graphicData uri="http://schemas.openxmlformats.org/presentationml/2006/ole">
            <p:oleObj spid="_x0000_s18446" r:id="rId7" imgW="837836" imgH="177723" progId="">
              <p:embed/>
            </p:oleObj>
          </a:graphicData>
        </a:graphic>
      </p:graphicFrame>
      <p:graphicFrame>
        <p:nvGraphicFramePr>
          <p:cNvPr id="41991" name="对象 5"/>
          <p:cNvGraphicFramePr>
            <a:graphicFrameLocks noChangeAspect="1"/>
          </p:cNvGraphicFramePr>
          <p:nvPr/>
        </p:nvGraphicFramePr>
        <p:xfrm>
          <a:off x="827088" y="2982913"/>
          <a:ext cx="4105275" cy="1071562"/>
        </p:xfrm>
        <a:graphic>
          <a:graphicData uri="http://schemas.openxmlformats.org/presentationml/2006/ole">
            <p:oleObj spid="_x0000_s18447" r:id="rId8" imgW="1688367" imgH="482391" progId="">
              <p:embed/>
            </p:oleObj>
          </a:graphicData>
        </a:graphic>
      </p:graphicFrame>
      <p:graphicFrame>
        <p:nvGraphicFramePr>
          <p:cNvPr id="41992" name="对象 6"/>
          <p:cNvGraphicFramePr>
            <a:graphicFrameLocks noChangeAspect="1"/>
          </p:cNvGraphicFramePr>
          <p:nvPr/>
        </p:nvGraphicFramePr>
        <p:xfrm>
          <a:off x="1544638" y="3683000"/>
          <a:ext cx="3890962" cy="1069975"/>
        </p:xfrm>
        <a:graphic>
          <a:graphicData uri="http://schemas.openxmlformats.org/presentationml/2006/ole">
            <p:oleObj spid="_x0000_s18448" r:id="rId9" imgW="1600200" imgH="482600" progId="">
              <p:embed/>
            </p:oleObj>
          </a:graphicData>
        </a:graphic>
      </p:graphicFrame>
      <p:graphicFrame>
        <p:nvGraphicFramePr>
          <p:cNvPr id="41993" name="对象 7"/>
          <p:cNvGraphicFramePr>
            <a:graphicFrameLocks noChangeAspect="1"/>
          </p:cNvGraphicFramePr>
          <p:nvPr/>
        </p:nvGraphicFramePr>
        <p:xfrm>
          <a:off x="1544638" y="4643438"/>
          <a:ext cx="4014787" cy="506412"/>
        </p:xfrm>
        <a:graphic>
          <a:graphicData uri="http://schemas.openxmlformats.org/presentationml/2006/ole">
            <p:oleObj spid="_x0000_s18449" r:id="rId10" imgW="1651000" imgH="228600" progId="">
              <p:embed/>
            </p:oleObj>
          </a:graphicData>
        </a:graphic>
      </p:graphicFrame>
      <p:graphicFrame>
        <p:nvGraphicFramePr>
          <p:cNvPr id="41994" name="对象 8"/>
          <p:cNvGraphicFramePr>
            <a:graphicFrameLocks noChangeAspect="1"/>
          </p:cNvGraphicFramePr>
          <p:nvPr/>
        </p:nvGraphicFramePr>
        <p:xfrm>
          <a:off x="1546225" y="5259388"/>
          <a:ext cx="2749550" cy="508000"/>
        </p:xfrm>
        <a:graphic>
          <a:graphicData uri="http://schemas.openxmlformats.org/presentationml/2006/ole">
            <p:oleObj spid="_x0000_s18450" r:id="rId11" imgW="1130300" imgH="228600" progId="">
              <p:embed/>
            </p:oleObj>
          </a:graphicData>
        </a:graphic>
      </p:graphicFrame>
      <p:graphicFrame>
        <p:nvGraphicFramePr>
          <p:cNvPr id="41995" name="对象 9"/>
          <p:cNvGraphicFramePr>
            <a:graphicFrameLocks noChangeAspect="1"/>
          </p:cNvGraphicFramePr>
          <p:nvPr/>
        </p:nvGraphicFramePr>
        <p:xfrm>
          <a:off x="857250" y="5843588"/>
          <a:ext cx="4818063" cy="534987"/>
        </p:xfrm>
        <a:graphic>
          <a:graphicData uri="http://schemas.openxmlformats.org/presentationml/2006/ole">
            <p:oleObj spid="_x0000_s18451" r:id="rId12" imgW="1981200" imgH="241300" progId="">
              <p:embed/>
            </p:oleObj>
          </a:graphicData>
        </a:graphic>
      </p:graphicFrame>
      <p:graphicFrame>
        <p:nvGraphicFramePr>
          <p:cNvPr id="41996" name="对象 10"/>
          <p:cNvGraphicFramePr>
            <a:graphicFrameLocks noChangeAspect="1"/>
          </p:cNvGraphicFramePr>
          <p:nvPr/>
        </p:nvGraphicFramePr>
        <p:xfrm>
          <a:off x="5724525" y="5881688"/>
          <a:ext cx="1362075" cy="423862"/>
        </p:xfrm>
        <a:graphic>
          <a:graphicData uri="http://schemas.openxmlformats.org/presentationml/2006/ole">
            <p:oleObj spid="_x0000_s18452" r:id="rId13" imgW="596641" imgH="203112" progId="">
              <p:embed/>
            </p:oleObj>
          </a:graphicData>
        </a:graphic>
      </p:graphicFrame>
      <p:sp>
        <p:nvSpPr>
          <p:cNvPr id="41997" name="TextBox 11"/>
          <p:cNvSpPr txBox="1"/>
          <p:nvPr/>
        </p:nvSpPr>
        <p:spPr>
          <a:xfrm>
            <a:off x="225425" y="2540000"/>
            <a:ext cx="5184775" cy="523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rgbClr val="0000FF"/>
                </a:solidFill>
                <a:ea typeface="宋体-18030" pitchFamily="49" charset="-122"/>
              </a:rPr>
              <a:t>3</a:t>
            </a:r>
            <a:r>
              <a:rPr lang="zh-CN" altLang="en-US" sz="2800" dirty="0">
                <a:solidFill>
                  <a:srgbClr val="0000FF"/>
                </a:solidFill>
                <a:ea typeface="宋体-18030" pitchFamily="49" charset="-122"/>
              </a:rPr>
              <a:t>）</a:t>
            </a:r>
            <a:r>
              <a:rPr lang="zh-CN" altLang="en-US" sz="2800" dirty="0">
                <a:ea typeface="宋体-18030" pitchFamily="49" charset="-122"/>
              </a:rPr>
              <a:t>当                            </a:t>
            </a:r>
          </a:p>
        </p:txBody>
      </p:sp>
      <p:sp>
        <p:nvSpPr>
          <p:cNvPr id="41998" name="TextBox 9"/>
          <p:cNvSpPr txBox="1"/>
          <p:nvPr/>
        </p:nvSpPr>
        <p:spPr>
          <a:xfrm>
            <a:off x="250825" y="188913"/>
            <a:ext cx="5184775" cy="5222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800" dirty="0">
                <a:solidFill>
                  <a:srgbClr val="0000FF"/>
                </a:solidFill>
                <a:ea typeface="宋体-18030" pitchFamily="49" charset="-122"/>
              </a:rPr>
              <a:t>2</a:t>
            </a:r>
            <a:r>
              <a:rPr lang="zh-CN" altLang="en-US" sz="2800" dirty="0">
                <a:solidFill>
                  <a:srgbClr val="0000FF"/>
                </a:solidFill>
                <a:ea typeface="宋体-18030" pitchFamily="49" charset="-122"/>
              </a:rPr>
              <a:t>）</a:t>
            </a:r>
            <a:r>
              <a:rPr lang="zh-CN" altLang="en-US" sz="2800" dirty="0">
                <a:ea typeface="宋体-18030" pitchFamily="49" charset="-122"/>
              </a:rPr>
              <a:t>当</a:t>
            </a:r>
            <a:r>
              <a:rPr lang="en-US" altLang="zh-CN" sz="2400" dirty="0">
                <a:solidFill>
                  <a:srgbClr val="000000"/>
                </a:solidFill>
                <a:latin typeface="Times New Roman" panose="02020603050405020304" pitchFamily="18" charset="0"/>
                <a:ea typeface="宋体-18030" pitchFamily="49" charset="-122"/>
              </a:rPr>
              <a:t>1≤ t ≤ 2 µs</a:t>
            </a:r>
            <a:r>
              <a:rPr lang="zh-CN" altLang="en-US" sz="2800" dirty="0">
                <a:latin typeface="Times New Roman" panose="02020603050405020304" pitchFamily="18" charset="0"/>
                <a:ea typeface="宋体-18030" pitchFamily="49" charset="-122"/>
              </a:rPr>
              <a:t> </a:t>
            </a:r>
            <a:endParaRPr lang="zh-CN" altLang="en-US" sz="2800" dirty="0">
              <a:ea typeface="宋体-18030" pitchFamily="49" charset="-122"/>
            </a:endParaRPr>
          </a:p>
        </p:txBody>
      </p:sp>
      <p:cxnSp>
        <p:nvCxnSpPr>
          <p:cNvPr id="3" name="直接连接符 2"/>
          <p:cNvCxnSpPr/>
          <p:nvPr/>
        </p:nvCxnSpPr>
        <p:spPr>
          <a:xfrm>
            <a:off x="1835150" y="1274763"/>
            <a:ext cx="100806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908175" y="3716338"/>
            <a:ext cx="100806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5"/>
          <p:cNvSpPr txBox="1"/>
          <p:nvPr/>
        </p:nvSpPr>
        <p:spPr>
          <a:xfrm>
            <a:off x="215900" y="2852738"/>
            <a:ext cx="46434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ea typeface="宋体-18030" pitchFamily="49" charset="-122"/>
              </a:rPr>
              <a:t> 根据                                    </a:t>
            </a:r>
          </a:p>
        </p:txBody>
      </p:sp>
      <p:graphicFrame>
        <p:nvGraphicFramePr>
          <p:cNvPr id="43011" name="对象 1"/>
          <p:cNvGraphicFramePr>
            <a:graphicFrameLocks noChangeAspect="1"/>
          </p:cNvGraphicFramePr>
          <p:nvPr/>
        </p:nvGraphicFramePr>
        <p:xfrm>
          <a:off x="419100" y="3644900"/>
          <a:ext cx="6432550" cy="1997075"/>
        </p:xfrm>
        <a:graphic>
          <a:graphicData uri="http://schemas.openxmlformats.org/presentationml/2006/ole">
            <p:oleObj spid="_x0000_s19462" r:id="rId3" imgW="2844800" imgH="965200" progId="">
              <p:embed/>
            </p:oleObj>
          </a:graphicData>
        </a:graphic>
      </p:graphicFrame>
      <p:graphicFrame>
        <p:nvGraphicFramePr>
          <p:cNvPr id="43012" name="对象 2"/>
          <p:cNvGraphicFramePr>
            <a:graphicFrameLocks noChangeAspect="1"/>
          </p:cNvGraphicFramePr>
          <p:nvPr/>
        </p:nvGraphicFramePr>
        <p:xfrm>
          <a:off x="1074738" y="2751138"/>
          <a:ext cx="2705100" cy="558800"/>
        </p:xfrm>
        <a:graphic>
          <a:graphicData uri="http://schemas.openxmlformats.org/presentationml/2006/ole">
            <p:oleObj spid="_x0000_s19463" r:id="rId4" imgW="1066800" imgH="241300" progId="">
              <p:embed/>
            </p:oleObj>
          </a:graphicData>
        </a:graphic>
      </p:graphicFrame>
      <p:graphicFrame>
        <p:nvGraphicFramePr>
          <p:cNvPr id="43013" name="对象 3"/>
          <p:cNvGraphicFramePr>
            <a:graphicFrameLocks noChangeAspect="1"/>
          </p:cNvGraphicFramePr>
          <p:nvPr/>
        </p:nvGraphicFramePr>
        <p:xfrm>
          <a:off x="446088" y="652463"/>
          <a:ext cx="4270375" cy="1065212"/>
        </p:xfrm>
        <a:graphic>
          <a:graphicData uri="http://schemas.openxmlformats.org/presentationml/2006/ole">
            <p:oleObj spid="_x0000_s19464" r:id="rId5" imgW="1676400" imgH="457200" progId="">
              <p:embed/>
            </p:oleObj>
          </a:graphicData>
        </a:graphic>
      </p:graphicFrame>
      <p:graphicFrame>
        <p:nvGraphicFramePr>
          <p:cNvPr id="43014" name="对象 4"/>
          <p:cNvGraphicFramePr>
            <a:graphicFrameLocks noChangeAspect="1"/>
          </p:cNvGraphicFramePr>
          <p:nvPr/>
        </p:nvGraphicFramePr>
        <p:xfrm>
          <a:off x="1246188" y="1601788"/>
          <a:ext cx="1525587" cy="474662"/>
        </p:xfrm>
        <a:graphic>
          <a:graphicData uri="http://schemas.openxmlformats.org/presentationml/2006/ole">
            <p:oleObj spid="_x0000_s19465" r:id="rId6" imgW="596641" imgH="203112" progId="">
              <p:embed/>
            </p:oleObj>
          </a:graphicData>
        </a:graphic>
      </p:graphicFrame>
      <p:sp>
        <p:nvSpPr>
          <p:cNvPr id="43015" name="TextBox 10"/>
          <p:cNvSpPr txBox="1"/>
          <p:nvPr/>
        </p:nvSpPr>
        <p:spPr>
          <a:xfrm>
            <a:off x="323850" y="179388"/>
            <a:ext cx="5184775" cy="5222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dirty="0">
                <a:solidFill>
                  <a:srgbClr val="0000FF"/>
                </a:solidFill>
                <a:ea typeface="宋体-18030" pitchFamily="49" charset="-122"/>
              </a:rPr>
              <a:t>4</a:t>
            </a:r>
            <a:r>
              <a:rPr lang="zh-CN" altLang="en-US" sz="2800" dirty="0">
                <a:solidFill>
                  <a:srgbClr val="0000FF"/>
                </a:solidFill>
                <a:ea typeface="宋体-18030" pitchFamily="49" charset="-122"/>
              </a:rPr>
              <a:t>）</a:t>
            </a:r>
            <a:r>
              <a:rPr lang="zh-CN" altLang="en-US" sz="2800" dirty="0">
                <a:ea typeface="宋体-18030" pitchFamily="49" charset="-122"/>
              </a:rPr>
              <a:t>当                 </a:t>
            </a:r>
          </a:p>
        </p:txBody>
      </p:sp>
      <p:graphicFrame>
        <p:nvGraphicFramePr>
          <p:cNvPr id="43016" name="对象 5"/>
          <p:cNvGraphicFramePr>
            <a:graphicFrameLocks noChangeAspect="1"/>
          </p:cNvGraphicFramePr>
          <p:nvPr/>
        </p:nvGraphicFramePr>
        <p:xfrm>
          <a:off x="1614488" y="217488"/>
          <a:ext cx="1287462" cy="444500"/>
        </p:xfrm>
        <a:graphic>
          <a:graphicData uri="http://schemas.openxmlformats.org/presentationml/2006/ole">
            <p:oleObj spid="_x0000_s19466" r:id="rId7" imgW="469696" imgH="177723" progId="">
              <p:embed/>
            </p:oleObj>
          </a:graphicData>
        </a:graphic>
      </p:graphicFrame>
      <p:cxnSp>
        <p:nvCxnSpPr>
          <p:cNvPr id="9" name="直接连接符 8"/>
          <p:cNvCxnSpPr/>
          <p:nvPr/>
        </p:nvCxnSpPr>
        <p:spPr>
          <a:xfrm>
            <a:off x="1547813" y="1412875"/>
            <a:ext cx="10795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9"/>
          <p:cNvSpPr txBox="1"/>
          <p:nvPr/>
        </p:nvSpPr>
        <p:spPr>
          <a:xfrm>
            <a:off x="214313" y="827088"/>
            <a:ext cx="40671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ea typeface="宋体-18030" pitchFamily="49" charset="-122"/>
              </a:rPr>
              <a:t>根据                                </a:t>
            </a:r>
          </a:p>
        </p:txBody>
      </p:sp>
      <p:graphicFrame>
        <p:nvGraphicFramePr>
          <p:cNvPr id="44035" name="对象 1"/>
          <p:cNvGraphicFramePr>
            <a:graphicFrameLocks noChangeAspect="1"/>
          </p:cNvGraphicFramePr>
          <p:nvPr/>
        </p:nvGraphicFramePr>
        <p:xfrm>
          <a:off x="250825" y="1773238"/>
          <a:ext cx="8039100" cy="1997075"/>
        </p:xfrm>
        <a:graphic>
          <a:graphicData uri="http://schemas.openxmlformats.org/presentationml/2006/ole">
            <p:oleObj spid="_x0000_s20483" r:id="rId3" imgW="3556000" imgH="965200" progId="">
              <p:embed/>
            </p:oleObj>
          </a:graphicData>
        </a:graphic>
      </p:graphicFrame>
      <p:graphicFrame>
        <p:nvGraphicFramePr>
          <p:cNvPr id="44036" name="对象 2"/>
          <p:cNvGraphicFramePr>
            <a:graphicFrameLocks noChangeAspect="1"/>
          </p:cNvGraphicFramePr>
          <p:nvPr/>
        </p:nvGraphicFramePr>
        <p:xfrm>
          <a:off x="841375" y="569913"/>
          <a:ext cx="2854325" cy="984250"/>
        </p:xfrm>
        <a:graphic>
          <a:graphicData uri="http://schemas.openxmlformats.org/presentationml/2006/ole">
            <p:oleObj spid="_x0000_s20484" r:id="rId4" imgW="1040948" imgH="393529" progId="">
              <p:embed/>
            </p:oleObj>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6" descr="chapter4(3)"/>
          <p:cNvPicPr>
            <a:picLocks noChangeAspect="1"/>
          </p:cNvPicPr>
          <p:nvPr/>
        </p:nvPicPr>
        <p:blipFill>
          <a:blip r:embed="rId2"/>
          <a:stretch>
            <a:fillRect/>
          </a:stretch>
        </p:blipFill>
        <p:spPr>
          <a:xfrm>
            <a:off x="4932363" y="-100012"/>
            <a:ext cx="5400675" cy="4213225"/>
          </a:xfrm>
          <a:prstGeom prst="rect">
            <a:avLst/>
          </a:prstGeom>
          <a:noFill/>
          <a:ln w="9525">
            <a:noFill/>
          </a:ln>
        </p:spPr>
      </p:pic>
      <p:pic>
        <p:nvPicPr>
          <p:cNvPr id="45059" name="Picture 8" descr="chapter4(5)"/>
          <p:cNvPicPr>
            <a:picLocks noChangeAspect="1"/>
          </p:cNvPicPr>
          <p:nvPr/>
        </p:nvPicPr>
        <p:blipFill>
          <a:blip r:embed="rId3"/>
          <a:stretch>
            <a:fillRect/>
          </a:stretch>
        </p:blipFill>
        <p:spPr>
          <a:xfrm>
            <a:off x="4716463" y="3429000"/>
            <a:ext cx="5219700" cy="4032250"/>
          </a:xfrm>
          <a:prstGeom prst="rect">
            <a:avLst/>
          </a:prstGeom>
          <a:noFill/>
          <a:ln w="9525">
            <a:noFill/>
          </a:ln>
        </p:spPr>
      </p:pic>
      <p:pic>
        <p:nvPicPr>
          <p:cNvPr id="45060" name="Picture 7" descr="chapter4(4)"/>
          <p:cNvPicPr>
            <a:picLocks noChangeAspect="1"/>
          </p:cNvPicPr>
          <p:nvPr/>
        </p:nvPicPr>
        <p:blipFill>
          <a:blip r:embed="rId4"/>
          <a:stretch>
            <a:fillRect/>
          </a:stretch>
        </p:blipFill>
        <p:spPr>
          <a:xfrm>
            <a:off x="0" y="3328988"/>
            <a:ext cx="4787900" cy="3529012"/>
          </a:xfrm>
          <a:prstGeom prst="rect">
            <a:avLst/>
          </a:prstGeom>
          <a:noFill/>
          <a:ln w="9525">
            <a:noFill/>
          </a:ln>
        </p:spPr>
      </p:pic>
      <p:pic>
        <p:nvPicPr>
          <p:cNvPr id="45061" name="Picture 6" descr="chap6 lin5-1(b)"/>
          <p:cNvPicPr>
            <a:picLocks noChangeAspect="1"/>
          </p:cNvPicPr>
          <p:nvPr/>
        </p:nvPicPr>
        <p:blipFill>
          <a:blip r:embed="rId5"/>
          <a:stretch>
            <a:fillRect/>
          </a:stretch>
        </p:blipFill>
        <p:spPr>
          <a:xfrm>
            <a:off x="179388" y="28575"/>
            <a:ext cx="5273675" cy="3956050"/>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4"/>
          <p:cNvSpPr txBox="1"/>
          <p:nvPr/>
        </p:nvSpPr>
        <p:spPr>
          <a:xfrm>
            <a:off x="179388" y="811213"/>
            <a:ext cx="8459787" cy="55705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ea typeface="宋体-18030" pitchFamily="49" charset="-122"/>
              </a:rPr>
              <a:t>        按以上结果画出电容         和     ，如上图所示。由图可注意到电容具有以下特性：</a:t>
            </a:r>
          </a:p>
          <a:p>
            <a:pPr marL="0" lvl="0" indent="0" eaLnBrk="1" hangingPunct="1">
              <a:spcBef>
                <a:spcPct val="50000"/>
              </a:spcBef>
              <a:buClrTx/>
              <a:buSzTx/>
              <a:buFontTx/>
              <a:buNone/>
            </a:pPr>
            <a:r>
              <a:rPr lang="zh-CN" altLang="en-US" sz="2400" b="1" dirty="0">
                <a:ea typeface="宋体-18030" pitchFamily="49" charset="-122"/>
              </a:rPr>
              <a:t>（</a:t>
            </a:r>
            <a:r>
              <a:rPr lang="en-US" altLang="zh-CN" sz="2400" b="1" dirty="0">
                <a:ea typeface="宋体-18030" pitchFamily="49" charset="-122"/>
              </a:rPr>
              <a:t>1</a:t>
            </a:r>
            <a:r>
              <a:rPr lang="zh-CN" altLang="en-US" sz="2400" b="1" dirty="0">
                <a:ea typeface="宋体-18030" pitchFamily="49" charset="-122"/>
              </a:rPr>
              <a:t>）电压与电流波形不相同，这是电容动态元件区别于电阻元件的特性；</a:t>
            </a:r>
          </a:p>
          <a:p>
            <a:pPr marL="0" lvl="0" indent="0" eaLnBrk="1" hangingPunct="1">
              <a:spcBef>
                <a:spcPct val="50000"/>
              </a:spcBef>
              <a:buClrTx/>
              <a:buSzTx/>
              <a:buFontTx/>
              <a:buNone/>
            </a:pPr>
            <a:r>
              <a:rPr lang="zh-CN" altLang="en-US" sz="2400" b="1" dirty="0">
                <a:ea typeface="宋体-18030" pitchFamily="49" charset="-122"/>
              </a:rPr>
              <a:t>（</a:t>
            </a:r>
            <a:r>
              <a:rPr lang="en-US" altLang="zh-CN" sz="2400" b="1" dirty="0">
                <a:ea typeface="宋体-18030" pitchFamily="49" charset="-122"/>
              </a:rPr>
              <a:t>2</a:t>
            </a:r>
            <a:r>
              <a:rPr lang="zh-CN" altLang="en-US" sz="2400" b="1" dirty="0">
                <a:ea typeface="宋体-18030" pitchFamily="49" charset="-122"/>
              </a:rPr>
              <a:t>）电压增大时电流为正值；电压减少时电流为负值；电压不变时电流为零，体现了电容的伏安特性；</a:t>
            </a:r>
          </a:p>
          <a:p>
            <a:pPr marL="0" lvl="0" indent="0" eaLnBrk="1" hangingPunct="1">
              <a:spcBef>
                <a:spcPct val="50000"/>
              </a:spcBef>
              <a:buClrTx/>
              <a:buSzTx/>
              <a:buFontTx/>
              <a:buNone/>
            </a:pPr>
            <a:r>
              <a:rPr lang="zh-CN" altLang="en-US" sz="2400" b="1" dirty="0">
                <a:ea typeface="宋体-18030" pitchFamily="49" charset="-122"/>
              </a:rPr>
              <a:t>（</a:t>
            </a:r>
            <a:r>
              <a:rPr lang="en-US" altLang="zh-CN" sz="2400" b="1" dirty="0">
                <a:ea typeface="宋体-18030" pitchFamily="49" charset="-122"/>
              </a:rPr>
              <a:t>3</a:t>
            </a:r>
            <a:r>
              <a:rPr lang="zh-CN" altLang="en-US" sz="2400" b="1" dirty="0">
                <a:ea typeface="宋体-18030" pitchFamily="49" charset="-122"/>
              </a:rPr>
              <a:t>）电压和储能具有连续性，而</a:t>
            </a:r>
            <a:r>
              <a:rPr lang="zh-CN" altLang="en-US" sz="2400" b="1" dirty="0">
                <a:latin typeface="宋体-18030" pitchFamily="49" charset="-122"/>
                <a:ea typeface="宋体-18030" pitchFamily="49" charset="-122"/>
              </a:rPr>
              <a:t>电流和功率可跃变；</a:t>
            </a:r>
          </a:p>
          <a:p>
            <a:pPr marL="0" lvl="0" indent="0" eaLnBrk="1" hangingPunct="1">
              <a:spcBef>
                <a:spcPts val="1200"/>
              </a:spcBef>
              <a:buClrTx/>
              <a:buSzTx/>
              <a:buFontTx/>
              <a:buNone/>
            </a:pPr>
            <a:r>
              <a:rPr lang="zh-CN" altLang="en-US" sz="2400" b="1" dirty="0">
                <a:ea typeface="宋体-18030" pitchFamily="49" charset="-122"/>
              </a:rPr>
              <a:t>（</a:t>
            </a:r>
            <a:r>
              <a:rPr lang="en-US" altLang="zh-CN" sz="2400" b="1" dirty="0">
                <a:ea typeface="宋体-18030" pitchFamily="49" charset="-122"/>
              </a:rPr>
              <a:t>4</a:t>
            </a:r>
            <a:r>
              <a:rPr lang="zh-CN" altLang="en-US" sz="2400" b="1" dirty="0">
                <a:ea typeface="宋体-18030" pitchFamily="49" charset="-122"/>
              </a:rPr>
              <a:t>）</a:t>
            </a:r>
            <a:r>
              <a:rPr lang="zh-CN" altLang="en-US" sz="2400" b="1" dirty="0">
                <a:latin typeface="宋体-18030" pitchFamily="49" charset="-122"/>
                <a:ea typeface="宋体-18030" pitchFamily="49" charset="-122"/>
              </a:rPr>
              <a:t>储能不小于零，体现了电容是无源元件；</a:t>
            </a:r>
          </a:p>
          <a:p>
            <a:pPr marL="0" lvl="0" indent="0" eaLnBrk="1" hangingPunct="1">
              <a:spcBef>
                <a:spcPts val="1200"/>
              </a:spcBef>
              <a:buClrTx/>
              <a:buSzTx/>
              <a:buFontTx/>
              <a:buNone/>
            </a:pPr>
            <a:r>
              <a:rPr lang="zh-CN" altLang="en-US" sz="2400" b="1" dirty="0">
                <a:ea typeface="宋体-18030" pitchFamily="49" charset="-122"/>
              </a:rPr>
              <a:t>（</a:t>
            </a:r>
            <a:r>
              <a:rPr lang="en-US" altLang="zh-CN" sz="2400" b="1" dirty="0">
                <a:ea typeface="宋体-18030" pitchFamily="49" charset="-122"/>
              </a:rPr>
              <a:t>5</a:t>
            </a:r>
            <a:r>
              <a:rPr lang="zh-CN" altLang="en-US" sz="2400" b="1" dirty="0">
                <a:ea typeface="宋体-18030" pitchFamily="49" charset="-122"/>
              </a:rPr>
              <a:t>）其</a:t>
            </a:r>
            <a:r>
              <a:rPr lang="zh-CN" altLang="en-US" sz="2400" b="1" dirty="0">
                <a:latin typeface="宋体-18030" pitchFamily="49" charset="-122"/>
                <a:ea typeface="宋体-18030" pitchFamily="49" charset="-122"/>
              </a:rPr>
              <a:t>功率可正可负，不同于电阻吸收功率总大于零。电压绝对值增大时功率为正，储能增大；电压绝对值减少时，功率为负，储能减少，体现了电容不断充放电的过程。</a:t>
            </a:r>
            <a:endParaRPr lang="en-US" altLang="zh-CN" sz="2400" b="1" dirty="0">
              <a:latin typeface="宋体-18030" pitchFamily="49" charset="-122"/>
              <a:ea typeface="宋体-18030" pitchFamily="49" charset="-122"/>
            </a:endParaRPr>
          </a:p>
          <a:p>
            <a:pPr marL="0" lvl="0" indent="0" eaLnBrk="1" hangingPunct="1">
              <a:spcBef>
                <a:spcPct val="50000"/>
              </a:spcBef>
              <a:buClrTx/>
              <a:buSzTx/>
              <a:buFontTx/>
              <a:buNone/>
            </a:pPr>
            <a:endParaRPr lang="en-US" altLang="zh-CN" sz="2400" b="1" dirty="0">
              <a:latin typeface="宋体-18030" pitchFamily="49" charset="-122"/>
              <a:ea typeface="宋体-18030" pitchFamily="49" charset="-122"/>
            </a:endParaRPr>
          </a:p>
        </p:txBody>
      </p:sp>
      <p:pic>
        <p:nvPicPr>
          <p:cNvPr id="46083" name="Picture 5" descr="7"/>
          <p:cNvPicPr>
            <a:picLocks noChangeAspect="1"/>
          </p:cNvPicPr>
          <p:nvPr/>
        </p:nvPicPr>
        <p:blipFill>
          <a:blip r:embed="rId3"/>
          <a:stretch>
            <a:fillRect/>
          </a:stretch>
        </p:blipFill>
        <p:spPr>
          <a:xfrm>
            <a:off x="3779838" y="811213"/>
            <a:ext cx="1584325" cy="500062"/>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vert="horz" wrap="square" lIns="91440" tIns="45720" rIns="91440" bIns="45720" anchor="ctr" anchorCtr="0"/>
          <a:lstStyle/>
          <a:p>
            <a:pPr eaLnBrk="1" hangingPunct="1"/>
            <a:r>
              <a:rPr lang="en-US" altLang="zh-CN" sz="4000" b="1" dirty="0">
                <a:solidFill>
                  <a:srgbClr val="0000FF"/>
                </a:solidFill>
                <a:latin typeface="Franklin Gothic Medium" panose="020B0603020102020204" pitchFamily="34" charset="0"/>
              </a:rPr>
              <a:t>6.3   </a:t>
            </a:r>
            <a:r>
              <a:rPr lang="zh-CN" altLang="en-US" sz="4000" b="1" dirty="0">
                <a:solidFill>
                  <a:srgbClr val="0000FF"/>
                </a:solidFill>
                <a:latin typeface="Franklin Gothic Medium" panose="020B0603020102020204" pitchFamily="34" charset="0"/>
              </a:rPr>
              <a:t>电容的串并联</a:t>
            </a:r>
            <a:endParaRPr lang="en-US" altLang="zh-CN" sz="4000" b="1" dirty="0">
              <a:solidFill>
                <a:srgbClr val="0000FF"/>
              </a:solidFill>
              <a:latin typeface="Franklin Gothic Medium" panose="020B0603020102020204" pitchFamily="34" charset="0"/>
            </a:endParaRPr>
          </a:p>
        </p:txBody>
      </p:sp>
      <p:grpSp>
        <p:nvGrpSpPr>
          <p:cNvPr id="48131" name="Group 3"/>
          <p:cNvGrpSpPr>
            <a:grpSpLocks noChangeAspect="1"/>
          </p:cNvGrpSpPr>
          <p:nvPr/>
        </p:nvGrpSpPr>
        <p:grpSpPr>
          <a:xfrm>
            <a:off x="465138" y="2254250"/>
            <a:ext cx="4057650" cy="2024063"/>
            <a:chOff x="1008" y="451"/>
            <a:chExt cx="3729" cy="1662"/>
          </a:xfrm>
        </p:grpSpPr>
        <p:sp>
          <p:nvSpPr>
            <p:cNvPr id="48165" name="Freeform 4"/>
            <p:cNvSpPr>
              <a:spLocks noChangeAspect="1"/>
            </p:cNvSpPr>
            <p:nvPr/>
          </p:nvSpPr>
          <p:spPr>
            <a:xfrm>
              <a:off x="1306" y="451"/>
              <a:ext cx="2406" cy="1"/>
            </a:xfrm>
            <a:custGeom>
              <a:avLst/>
              <a:gdLst>
                <a:gd name="txL" fmla="*/ 0 w 2406"/>
                <a:gd name="txT" fmla="*/ 0 h 1"/>
                <a:gd name="txR" fmla="*/ 2406 w 2406"/>
                <a:gd name="txB" fmla="*/ 1 h 1"/>
              </a:gdLst>
              <a:ahLst/>
              <a:cxnLst>
                <a:cxn ang="0">
                  <a:pos x="2406" y="0"/>
                </a:cxn>
                <a:cxn ang="0">
                  <a:pos x="0" y="0"/>
                </a:cxn>
                <a:cxn ang="0">
                  <a:pos x="2406" y="0"/>
                </a:cxn>
                <a:cxn ang="0">
                  <a:pos x="2406" y="0"/>
                </a:cxn>
              </a:cxnLst>
              <a:rect l="txL" t="txT" r="txR" b="txB"/>
              <a:pathLst>
                <a:path w="2406" h="1">
                  <a:moveTo>
                    <a:pt x="2406" y="0"/>
                  </a:moveTo>
                  <a:lnTo>
                    <a:pt x="0" y="0"/>
                  </a:lnTo>
                  <a:lnTo>
                    <a:pt x="240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66" name="Freeform 5"/>
            <p:cNvSpPr>
              <a:spLocks noChangeAspect="1" noEditPoints="1"/>
            </p:cNvSpPr>
            <p:nvPr/>
          </p:nvSpPr>
          <p:spPr>
            <a:xfrm>
              <a:off x="1306" y="451"/>
              <a:ext cx="1" cy="1205"/>
            </a:xfrm>
            <a:custGeom>
              <a:avLst/>
              <a:gdLst>
                <a:gd name="txL" fmla="*/ 0 w 1"/>
                <a:gd name="txT" fmla="*/ 0 h 1205"/>
                <a:gd name="txR" fmla="*/ 1 w 1"/>
                <a:gd name="txB" fmla="*/ 1205 h 1205"/>
              </a:gdLst>
              <a:ahLst/>
              <a:cxnLst>
                <a:cxn ang="0">
                  <a:pos x="0" y="0"/>
                </a:cxn>
                <a:cxn ang="0">
                  <a:pos x="0" y="1205"/>
                </a:cxn>
                <a:cxn ang="0">
                  <a:pos x="0" y="0"/>
                </a:cxn>
                <a:cxn ang="0">
                  <a:pos x="0" y="0"/>
                </a:cxn>
                <a:cxn ang="0">
                  <a:pos x="0" y="0"/>
                </a:cxn>
                <a:cxn ang="0">
                  <a:pos x="0" y="0"/>
                </a:cxn>
                <a:cxn ang="0">
                  <a:pos x="0" y="0"/>
                </a:cxn>
              </a:cxnLst>
              <a:rect l="txL" t="txT" r="txR" b="txB"/>
              <a:pathLst>
                <a:path w="1" h="1205">
                  <a:moveTo>
                    <a:pt x="0" y="0"/>
                  </a:moveTo>
                  <a:lnTo>
                    <a:pt x="0" y="1205"/>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67" name="Freeform 6"/>
            <p:cNvSpPr>
              <a:spLocks noChangeAspect="1" noEditPoints="1"/>
            </p:cNvSpPr>
            <p:nvPr/>
          </p:nvSpPr>
          <p:spPr>
            <a:xfrm>
              <a:off x="1306" y="1656"/>
              <a:ext cx="3112" cy="1"/>
            </a:xfrm>
            <a:custGeom>
              <a:avLst/>
              <a:gdLst>
                <a:gd name="txL" fmla="*/ 0 w 3112"/>
                <a:gd name="txT" fmla="*/ 0 h 1"/>
                <a:gd name="txR" fmla="*/ 3112 w 3112"/>
                <a:gd name="txB" fmla="*/ 1 h 1"/>
              </a:gdLst>
              <a:ahLst/>
              <a:cxnLst>
                <a:cxn ang="0">
                  <a:pos x="0" y="0"/>
                </a:cxn>
                <a:cxn ang="0">
                  <a:pos x="3112" y="0"/>
                </a:cxn>
                <a:cxn ang="0">
                  <a:pos x="0" y="0"/>
                </a:cxn>
                <a:cxn ang="0">
                  <a:pos x="0" y="0"/>
                </a:cxn>
                <a:cxn ang="0">
                  <a:pos x="0" y="0"/>
                </a:cxn>
                <a:cxn ang="0">
                  <a:pos x="0" y="0"/>
                </a:cxn>
                <a:cxn ang="0">
                  <a:pos x="0" y="0"/>
                </a:cxn>
              </a:cxnLst>
              <a:rect l="txL" t="txT" r="txR" b="txB"/>
              <a:pathLst>
                <a:path w="3112" h="1">
                  <a:moveTo>
                    <a:pt x="0" y="0"/>
                  </a:moveTo>
                  <a:lnTo>
                    <a:pt x="3112"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68" name="Freeform 7"/>
            <p:cNvSpPr>
              <a:spLocks noChangeAspect="1" noEditPoints="1"/>
            </p:cNvSpPr>
            <p:nvPr/>
          </p:nvSpPr>
          <p:spPr>
            <a:xfrm>
              <a:off x="4418" y="451"/>
              <a:ext cx="1" cy="1205"/>
            </a:xfrm>
            <a:custGeom>
              <a:avLst/>
              <a:gdLst>
                <a:gd name="txL" fmla="*/ 0 w 1"/>
                <a:gd name="txT" fmla="*/ 0 h 1205"/>
                <a:gd name="txR" fmla="*/ 1 w 1"/>
                <a:gd name="txB" fmla="*/ 1205 h 1205"/>
              </a:gdLst>
              <a:ahLst/>
              <a:cxnLst>
                <a:cxn ang="0">
                  <a:pos x="0" y="1205"/>
                </a:cxn>
                <a:cxn ang="0">
                  <a:pos x="0" y="0"/>
                </a:cxn>
                <a:cxn ang="0">
                  <a:pos x="0" y="1205"/>
                </a:cxn>
                <a:cxn ang="0">
                  <a:pos x="0" y="1205"/>
                </a:cxn>
                <a:cxn ang="0">
                  <a:pos x="0" y="1205"/>
                </a:cxn>
                <a:cxn ang="0">
                  <a:pos x="0" y="1205"/>
                </a:cxn>
                <a:cxn ang="0">
                  <a:pos x="0" y="1205"/>
                </a:cxn>
              </a:cxnLst>
              <a:rect l="txL" t="txT" r="txR" b="txB"/>
              <a:pathLst>
                <a:path w="1" h="1205">
                  <a:moveTo>
                    <a:pt x="0" y="1205"/>
                  </a:moveTo>
                  <a:lnTo>
                    <a:pt x="0" y="0"/>
                  </a:lnTo>
                  <a:lnTo>
                    <a:pt x="0" y="1205"/>
                  </a:lnTo>
                  <a:close/>
                  <a:moveTo>
                    <a:pt x="0" y="1205"/>
                  </a:moveTo>
                  <a:lnTo>
                    <a:pt x="0" y="120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69" name="Freeform 8"/>
            <p:cNvSpPr>
              <a:spLocks noChangeAspect="1" noEditPoints="1"/>
            </p:cNvSpPr>
            <p:nvPr/>
          </p:nvSpPr>
          <p:spPr>
            <a:xfrm>
              <a:off x="4120" y="451"/>
              <a:ext cx="298" cy="1"/>
            </a:xfrm>
            <a:custGeom>
              <a:avLst/>
              <a:gdLst>
                <a:gd name="txL" fmla="*/ 0 w 298"/>
                <a:gd name="txT" fmla="*/ 0 h 1"/>
                <a:gd name="txR" fmla="*/ 298 w 298"/>
                <a:gd name="txB" fmla="*/ 1 h 1"/>
              </a:gdLst>
              <a:ahLst/>
              <a:cxnLst>
                <a:cxn ang="0">
                  <a:pos x="298" y="0"/>
                </a:cxn>
                <a:cxn ang="0">
                  <a:pos x="0" y="0"/>
                </a:cxn>
                <a:cxn ang="0">
                  <a:pos x="298" y="0"/>
                </a:cxn>
                <a:cxn ang="0">
                  <a:pos x="298" y="0"/>
                </a:cxn>
                <a:cxn ang="0">
                  <a:pos x="298" y="0"/>
                </a:cxn>
                <a:cxn ang="0">
                  <a:pos x="298" y="0"/>
                </a:cxn>
                <a:cxn ang="0">
                  <a:pos x="298" y="0"/>
                </a:cxn>
              </a:cxnLst>
              <a:rect l="txL" t="txT" r="txR" b="txB"/>
              <a:pathLst>
                <a:path w="298" h="1">
                  <a:moveTo>
                    <a:pt x="298" y="0"/>
                  </a:moveTo>
                  <a:lnTo>
                    <a:pt x="0" y="0"/>
                  </a:lnTo>
                  <a:lnTo>
                    <a:pt x="298" y="0"/>
                  </a:lnTo>
                  <a:close/>
                  <a:moveTo>
                    <a:pt x="298" y="0"/>
                  </a:moveTo>
                  <a:lnTo>
                    <a:pt x="29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0" name="Freeform 9"/>
            <p:cNvSpPr>
              <a:spLocks noChangeAspect="1"/>
            </p:cNvSpPr>
            <p:nvPr/>
          </p:nvSpPr>
          <p:spPr>
            <a:xfrm>
              <a:off x="4061" y="451"/>
              <a:ext cx="22" cy="1"/>
            </a:xfrm>
            <a:custGeom>
              <a:avLst/>
              <a:gdLst>
                <a:gd name="txL" fmla="*/ 0 w 22"/>
                <a:gd name="txT" fmla="*/ 0 h 1"/>
                <a:gd name="txR" fmla="*/ 22 w 22"/>
                <a:gd name="txB" fmla="*/ 1 h 1"/>
              </a:gdLst>
              <a:ahLst/>
              <a:cxnLst>
                <a:cxn ang="0">
                  <a:pos x="22" y="0"/>
                </a:cxn>
                <a:cxn ang="0">
                  <a:pos x="0" y="0"/>
                </a:cxn>
                <a:cxn ang="0">
                  <a:pos x="22" y="0"/>
                </a:cxn>
                <a:cxn ang="0">
                  <a:pos x="22" y="0"/>
                </a:cxn>
              </a:cxnLst>
              <a:rect l="txL" t="txT" r="txR" b="txB"/>
              <a:pathLst>
                <a:path w="22" h="1">
                  <a:moveTo>
                    <a:pt x="22" y="0"/>
                  </a:moveTo>
                  <a:lnTo>
                    <a:pt x="0" y="0"/>
                  </a:lnTo>
                  <a:lnTo>
                    <a:pt x="2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1" name="Freeform 10"/>
            <p:cNvSpPr>
              <a:spLocks noChangeAspect="1" noEditPoints="1"/>
            </p:cNvSpPr>
            <p:nvPr/>
          </p:nvSpPr>
          <p:spPr>
            <a:xfrm>
              <a:off x="3981" y="451"/>
              <a:ext cx="59" cy="1"/>
            </a:xfrm>
            <a:custGeom>
              <a:avLst/>
              <a:gdLst>
                <a:gd name="txL" fmla="*/ 0 w 59"/>
                <a:gd name="txT" fmla="*/ 0 h 1"/>
                <a:gd name="txR" fmla="*/ 59 w 59"/>
                <a:gd name="txB" fmla="*/ 1 h 1"/>
              </a:gdLst>
              <a:ahLst/>
              <a:cxnLst>
                <a:cxn ang="0">
                  <a:pos x="59" y="0"/>
                </a:cxn>
                <a:cxn ang="0">
                  <a:pos x="44" y="0"/>
                </a:cxn>
                <a:cxn ang="0">
                  <a:pos x="59" y="0"/>
                </a:cxn>
                <a:cxn ang="0">
                  <a:pos x="59" y="0"/>
                </a:cxn>
                <a:cxn ang="0">
                  <a:pos x="22" y="0"/>
                </a:cxn>
                <a:cxn ang="0">
                  <a:pos x="0" y="0"/>
                </a:cxn>
                <a:cxn ang="0">
                  <a:pos x="22" y="0"/>
                </a:cxn>
                <a:cxn ang="0">
                  <a:pos x="22" y="0"/>
                </a:cxn>
              </a:cxnLst>
              <a:rect l="txL" t="txT" r="txR" b="txB"/>
              <a:pathLst>
                <a:path w="59" h="1">
                  <a:moveTo>
                    <a:pt x="59" y="0"/>
                  </a:moveTo>
                  <a:lnTo>
                    <a:pt x="44" y="0"/>
                  </a:lnTo>
                  <a:lnTo>
                    <a:pt x="59" y="0"/>
                  </a:lnTo>
                  <a:close/>
                  <a:moveTo>
                    <a:pt x="22" y="0"/>
                  </a:moveTo>
                  <a:lnTo>
                    <a:pt x="0" y="0"/>
                  </a:lnTo>
                  <a:lnTo>
                    <a:pt x="2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2" name="Freeform 11"/>
            <p:cNvSpPr>
              <a:spLocks noChangeAspect="1" noEditPoints="1"/>
            </p:cNvSpPr>
            <p:nvPr/>
          </p:nvSpPr>
          <p:spPr>
            <a:xfrm>
              <a:off x="3909" y="451"/>
              <a:ext cx="58" cy="1"/>
            </a:xfrm>
            <a:custGeom>
              <a:avLst/>
              <a:gdLst>
                <a:gd name="txL" fmla="*/ 0 w 58"/>
                <a:gd name="txT" fmla="*/ 0 h 1"/>
                <a:gd name="txR" fmla="*/ 58 w 58"/>
                <a:gd name="txB" fmla="*/ 1 h 1"/>
              </a:gdLst>
              <a:ahLst/>
              <a:cxnLst>
                <a:cxn ang="0">
                  <a:pos x="58" y="0"/>
                </a:cxn>
                <a:cxn ang="0">
                  <a:pos x="36" y="0"/>
                </a:cxn>
                <a:cxn ang="0">
                  <a:pos x="58" y="0"/>
                </a:cxn>
                <a:cxn ang="0">
                  <a:pos x="58" y="0"/>
                </a:cxn>
                <a:cxn ang="0">
                  <a:pos x="14" y="0"/>
                </a:cxn>
                <a:cxn ang="0">
                  <a:pos x="0" y="0"/>
                </a:cxn>
                <a:cxn ang="0">
                  <a:pos x="14" y="0"/>
                </a:cxn>
                <a:cxn ang="0">
                  <a:pos x="14" y="0"/>
                </a:cxn>
              </a:cxnLst>
              <a:rect l="txL" t="txT" r="txR" b="txB"/>
              <a:pathLst>
                <a:path w="58" h="1">
                  <a:moveTo>
                    <a:pt x="58" y="0"/>
                  </a:moveTo>
                  <a:lnTo>
                    <a:pt x="36" y="0"/>
                  </a:lnTo>
                  <a:lnTo>
                    <a:pt x="58" y="0"/>
                  </a:lnTo>
                  <a:close/>
                  <a:moveTo>
                    <a:pt x="14" y="0"/>
                  </a:moveTo>
                  <a:lnTo>
                    <a:pt x="0" y="0"/>
                  </a:lnTo>
                  <a:lnTo>
                    <a:pt x="1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3" name="Freeform 12"/>
            <p:cNvSpPr>
              <a:spLocks noChangeAspect="1" noEditPoints="1"/>
            </p:cNvSpPr>
            <p:nvPr/>
          </p:nvSpPr>
          <p:spPr>
            <a:xfrm>
              <a:off x="3829" y="451"/>
              <a:ext cx="58" cy="1"/>
            </a:xfrm>
            <a:custGeom>
              <a:avLst/>
              <a:gdLst>
                <a:gd name="txL" fmla="*/ 0 w 58"/>
                <a:gd name="txT" fmla="*/ 0 h 1"/>
                <a:gd name="txR" fmla="*/ 58 w 58"/>
                <a:gd name="txB" fmla="*/ 1 h 1"/>
              </a:gdLst>
              <a:ahLst/>
              <a:cxnLst>
                <a:cxn ang="0">
                  <a:pos x="58" y="0"/>
                </a:cxn>
                <a:cxn ang="0">
                  <a:pos x="36" y="0"/>
                </a:cxn>
                <a:cxn ang="0">
                  <a:pos x="58" y="0"/>
                </a:cxn>
                <a:cxn ang="0">
                  <a:pos x="58" y="0"/>
                </a:cxn>
                <a:cxn ang="0">
                  <a:pos x="22" y="0"/>
                </a:cxn>
                <a:cxn ang="0">
                  <a:pos x="0" y="0"/>
                </a:cxn>
                <a:cxn ang="0">
                  <a:pos x="22" y="0"/>
                </a:cxn>
                <a:cxn ang="0">
                  <a:pos x="22" y="0"/>
                </a:cxn>
              </a:cxnLst>
              <a:rect l="txL" t="txT" r="txR" b="txB"/>
              <a:pathLst>
                <a:path w="58" h="1">
                  <a:moveTo>
                    <a:pt x="58" y="0"/>
                  </a:moveTo>
                  <a:lnTo>
                    <a:pt x="36" y="0"/>
                  </a:lnTo>
                  <a:lnTo>
                    <a:pt x="58" y="0"/>
                  </a:lnTo>
                  <a:close/>
                  <a:moveTo>
                    <a:pt x="22" y="0"/>
                  </a:moveTo>
                  <a:lnTo>
                    <a:pt x="0" y="0"/>
                  </a:lnTo>
                  <a:lnTo>
                    <a:pt x="2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4" name="Freeform 13"/>
            <p:cNvSpPr>
              <a:spLocks noChangeAspect="1" noEditPoints="1"/>
            </p:cNvSpPr>
            <p:nvPr/>
          </p:nvSpPr>
          <p:spPr>
            <a:xfrm>
              <a:off x="3749" y="451"/>
              <a:ext cx="58" cy="1"/>
            </a:xfrm>
            <a:custGeom>
              <a:avLst/>
              <a:gdLst>
                <a:gd name="txL" fmla="*/ 0 w 58"/>
                <a:gd name="txT" fmla="*/ 0 h 1"/>
                <a:gd name="txR" fmla="*/ 58 w 58"/>
                <a:gd name="txB" fmla="*/ 1 h 1"/>
              </a:gdLst>
              <a:ahLst/>
              <a:cxnLst>
                <a:cxn ang="0">
                  <a:pos x="58" y="0"/>
                </a:cxn>
                <a:cxn ang="0">
                  <a:pos x="43" y="0"/>
                </a:cxn>
                <a:cxn ang="0">
                  <a:pos x="58" y="0"/>
                </a:cxn>
                <a:cxn ang="0">
                  <a:pos x="58" y="0"/>
                </a:cxn>
                <a:cxn ang="0">
                  <a:pos x="22" y="0"/>
                </a:cxn>
                <a:cxn ang="0">
                  <a:pos x="0" y="0"/>
                </a:cxn>
                <a:cxn ang="0">
                  <a:pos x="22" y="0"/>
                </a:cxn>
                <a:cxn ang="0">
                  <a:pos x="22" y="0"/>
                </a:cxn>
              </a:cxnLst>
              <a:rect l="txL" t="txT" r="txR" b="txB"/>
              <a:pathLst>
                <a:path w="58" h="1">
                  <a:moveTo>
                    <a:pt x="58" y="0"/>
                  </a:moveTo>
                  <a:lnTo>
                    <a:pt x="43" y="0"/>
                  </a:lnTo>
                  <a:lnTo>
                    <a:pt x="58" y="0"/>
                  </a:lnTo>
                  <a:close/>
                  <a:moveTo>
                    <a:pt x="22" y="0"/>
                  </a:moveTo>
                  <a:lnTo>
                    <a:pt x="0" y="0"/>
                  </a:lnTo>
                  <a:lnTo>
                    <a:pt x="2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5" name="Freeform 14"/>
            <p:cNvSpPr>
              <a:spLocks noChangeAspect="1"/>
            </p:cNvSpPr>
            <p:nvPr/>
          </p:nvSpPr>
          <p:spPr>
            <a:xfrm>
              <a:off x="3712" y="451"/>
              <a:ext cx="22" cy="1"/>
            </a:xfrm>
            <a:custGeom>
              <a:avLst/>
              <a:gdLst>
                <a:gd name="txL" fmla="*/ 0 w 22"/>
                <a:gd name="txT" fmla="*/ 0 h 1"/>
                <a:gd name="txR" fmla="*/ 22 w 22"/>
                <a:gd name="txB" fmla="*/ 1 h 1"/>
              </a:gdLst>
              <a:ahLst/>
              <a:cxnLst>
                <a:cxn ang="0">
                  <a:pos x="22" y="0"/>
                </a:cxn>
                <a:cxn ang="0">
                  <a:pos x="0" y="0"/>
                </a:cxn>
                <a:cxn ang="0">
                  <a:pos x="22" y="0"/>
                </a:cxn>
                <a:cxn ang="0">
                  <a:pos x="22" y="0"/>
                </a:cxn>
              </a:cxnLst>
              <a:rect l="txL" t="txT" r="txR" b="txB"/>
              <a:pathLst>
                <a:path w="22" h="1">
                  <a:moveTo>
                    <a:pt x="22" y="0"/>
                  </a:moveTo>
                  <a:lnTo>
                    <a:pt x="0" y="0"/>
                  </a:lnTo>
                  <a:lnTo>
                    <a:pt x="2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6" name="Freeform 15"/>
            <p:cNvSpPr>
              <a:spLocks noChangeAspect="1"/>
            </p:cNvSpPr>
            <p:nvPr/>
          </p:nvSpPr>
          <p:spPr>
            <a:xfrm>
              <a:off x="2026" y="451"/>
              <a:ext cx="1" cy="1205"/>
            </a:xfrm>
            <a:custGeom>
              <a:avLst/>
              <a:gdLst>
                <a:gd name="txL" fmla="*/ 0 w 1"/>
                <a:gd name="txT" fmla="*/ 0 h 1205"/>
                <a:gd name="txR" fmla="*/ 1 w 1"/>
                <a:gd name="txB" fmla="*/ 1205 h 1205"/>
              </a:gdLst>
              <a:ahLst/>
              <a:cxnLst>
                <a:cxn ang="0">
                  <a:pos x="0" y="0"/>
                </a:cxn>
                <a:cxn ang="0">
                  <a:pos x="0" y="1205"/>
                </a:cxn>
                <a:cxn ang="0">
                  <a:pos x="0" y="0"/>
                </a:cxn>
                <a:cxn ang="0">
                  <a:pos x="0" y="0"/>
                </a:cxn>
              </a:cxnLst>
              <a:rect l="txL" t="txT" r="txR" b="txB"/>
              <a:pathLst>
                <a:path w="1" h="1205">
                  <a:moveTo>
                    <a:pt x="0" y="0"/>
                  </a:moveTo>
                  <a:lnTo>
                    <a:pt x="0" y="1205"/>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7" name="Freeform 16"/>
            <p:cNvSpPr>
              <a:spLocks noChangeAspect="1" noEditPoints="1"/>
            </p:cNvSpPr>
            <p:nvPr/>
          </p:nvSpPr>
          <p:spPr>
            <a:xfrm>
              <a:off x="1008" y="959"/>
              <a:ext cx="37" cy="145"/>
            </a:xfrm>
            <a:custGeom>
              <a:avLst/>
              <a:gdLst>
                <a:gd name="txL" fmla="*/ 0 w 37"/>
                <a:gd name="txT" fmla="*/ 0 h 145"/>
                <a:gd name="txR" fmla="*/ 37 w 37"/>
                <a:gd name="txB" fmla="*/ 145 h 145"/>
              </a:gdLst>
              <a:ahLst/>
              <a:cxnLst>
                <a:cxn ang="0">
                  <a:pos x="29" y="116"/>
                </a:cxn>
                <a:cxn ang="0">
                  <a:pos x="22" y="131"/>
                </a:cxn>
                <a:cxn ang="0">
                  <a:pos x="15" y="131"/>
                </a:cxn>
                <a:cxn ang="0">
                  <a:pos x="15" y="131"/>
                </a:cxn>
                <a:cxn ang="0">
                  <a:pos x="15" y="124"/>
                </a:cxn>
                <a:cxn ang="0">
                  <a:pos x="15" y="116"/>
                </a:cxn>
                <a:cxn ang="0">
                  <a:pos x="37" y="51"/>
                </a:cxn>
                <a:cxn ang="0">
                  <a:pos x="29" y="51"/>
                </a:cxn>
                <a:cxn ang="0">
                  <a:pos x="15" y="51"/>
                </a:cxn>
                <a:cxn ang="0">
                  <a:pos x="0" y="51"/>
                </a:cxn>
                <a:cxn ang="0">
                  <a:pos x="0" y="58"/>
                </a:cxn>
                <a:cxn ang="0">
                  <a:pos x="15" y="58"/>
                </a:cxn>
                <a:cxn ang="0">
                  <a:pos x="15" y="58"/>
                </a:cxn>
                <a:cxn ang="0">
                  <a:pos x="15" y="73"/>
                </a:cxn>
                <a:cxn ang="0">
                  <a:pos x="8" y="94"/>
                </a:cxn>
                <a:cxn ang="0">
                  <a:pos x="0" y="116"/>
                </a:cxn>
                <a:cxn ang="0">
                  <a:pos x="0" y="131"/>
                </a:cxn>
                <a:cxn ang="0">
                  <a:pos x="0" y="138"/>
                </a:cxn>
                <a:cxn ang="0">
                  <a:pos x="8" y="145"/>
                </a:cxn>
                <a:cxn ang="0">
                  <a:pos x="22" y="138"/>
                </a:cxn>
                <a:cxn ang="0">
                  <a:pos x="37" y="116"/>
                </a:cxn>
                <a:cxn ang="0">
                  <a:pos x="29" y="116"/>
                </a:cxn>
                <a:cxn ang="0">
                  <a:pos x="37" y="15"/>
                </a:cxn>
                <a:cxn ang="0">
                  <a:pos x="37" y="7"/>
                </a:cxn>
                <a:cxn ang="0">
                  <a:pos x="29" y="0"/>
                </a:cxn>
                <a:cxn ang="0">
                  <a:pos x="29" y="7"/>
                </a:cxn>
                <a:cxn ang="0">
                  <a:pos x="22" y="15"/>
                </a:cxn>
                <a:cxn ang="0">
                  <a:pos x="29" y="22"/>
                </a:cxn>
                <a:cxn ang="0">
                  <a:pos x="29" y="22"/>
                </a:cxn>
                <a:cxn ang="0">
                  <a:pos x="37" y="22"/>
                </a:cxn>
                <a:cxn ang="0">
                  <a:pos x="37" y="15"/>
                </a:cxn>
                <a:cxn ang="0">
                  <a:pos x="37" y="15"/>
                </a:cxn>
              </a:cxnLst>
              <a:rect l="txL" t="txT" r="txR" b="txB"/>
              <a:pathLst>
                <a:path w="37" h="145">
                  <a:moveTo>
                    <a:pt x="29" y="116"/>
                  </a:moveTo>
                  <a:lnTo>
                    <a:pt x="22" y="131"/>
                  </a:lnTo>
                  <a:lnTo>
                    <a:pt x="15" y="131"/>
                  </a:lnTo>
                  <a:lnTo>
                    <a:pt x="15" y="124"/>
                  </a:lnTo>
                  <a:lnTo>
                    <a:pt x="15" y="116"/>
                  </a:lnTo>
                  <a:lnTo>
                    <a:pt x="37" y="51"/>
                  </a:lnTo>
                  <a:lnTo>
                    <a:pt x="29" y="51"/>
                  </a:lnTo>
                  <a:lnTo>
                    <a:pt x="15" y="51"/>
                  </a:lnTo>
                  <a:lnTo>
                    <a:pt x="0" y="51"/>
                  </a:lnTo>
                  <a:lnTo>
                    <a:pt x="0" y="58"/>
                  </a:lnTo>
                  <a:lnTo>
                    <a:pt x="15" y="58"/>
                  </a:lnTo>
                  <a:lnTo>
                    <a:pt x="15" y="73"/>
                  </a:lnTo>
                  <a:lnTo>
                    <a:pt x="8" y="94"/>
                  </a:lnTo>
                  <a:lnTo>
                    <a:pt x="0" y="116"/>
                  </a:lnTo>
                  <a:lnTo>
                    <a:pt x="0" y="131"/>
                  </a:lnTo>
                  <a:lnTo>
                    <a:pt x="0" y="138"/>
                  </a:lnTo>
                  <a:lnTo>
                    <a:pt x="8" y="145"/>
                  </a:lnTo>
                  <a:lnTo>
                    <a:pt x="22" y="138"/>
                  </a:lnTo>
                  <a:lnTo>
                    <a:pt x="37" y="116"/>
                  </a:lnTo>
                  <a:lnTo>
                    <a:pt x="29" y="116"/>
                  </a:lnTo>
                  <a:close/>
                  <a:moveTo>
                    <a:pt x="37" y="15"/>
                  </a:moveTo>
                  <a:lnTo>
                    <a:pt x="37" y="7"/>
                  </a:lnTo>
                  <a:lnTo>
                    <a:pt x="29" y="0"/>
                  </a:lnTo>
                  <a:lnTo>
                    <a:pt x="29" y="7"/>
                  </a:lnTo>
                  <a:lnTo>
                    <a:pt x="22" y="15"/>
                  </a:lnTo>
                  <a:lnTo>
                    <a:pt x="29" y="22"/>
                  </a:lnTo>
                  <a:lnTo>
                    <a:pt x="37" y="22"/>
                  </a:lnTo>
                  <a:lnTo>
                    <a:pt x="37" y="1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8" name="Freeform 17"/>
            <p:cNvSpPr>
              <a:spLocks noChangeAspect="1"/>
            </p:cNvSpPr>
            <p:nvPr/>
          </p:nvSpPr>
          <p:spPr>
            <a:xfrm>
              <a:off x="1633" y="966"/>
              <a:ext cx="117" cy="138"/>
            </a:xfrm>
            <a:custGeom>
              <a:avLst/>
              <a:gdLst>
                <a:gd name="txL" fmla="*/ 0 w 117"/>
                <a:gd name="txT" fmla="*/ 0 h 138"/>
                <a:gd name="txR" fmla="*/ 117 w 117"/>
                <a:gd name="txB" fmla="*/ 138 h 138"/>
              </a:gdLst>
              <a:ahLst/>
              <a:cxnLst>
                <a:cxn ang="0">
                  <a:pos x="109" y="37"/>
                </a:cxn>
                <a:cxn ang="0">
                  <a:pos x="117" y="0"/>
                </a:cxn>
                <a:cxn ang="0">
                  <a:pos x="117" y="0"/>
                </a:cxn>
                <a:cxn ang="0">
                  <a:pos x="109" y="0"/>
                </a:cxn>
                <a:cxn ang="0">
                  <a:pos x="109" y="0"/>
                </a:cxn>
                <a:cxn ang="0">
                  <a:pos x="95" y="0"/>
                </a:cxn>
                <a:cxn ang="0">
                  <a:pos x="73" y="0"/>
                </a:cxn>
                <a:cxn ang="0">
                  <a:pos x="44" y="8"/>
                </a:cxn>
                <a:cxn ang="0">
                  <a:pos x="22" y="29"/>
                </a:cxn>
                <a:cxn ang="0">
                  <a:pos x="8" y="58"/>
                </a:cxn>
                <a:cxn ang="0">
                  <a:pos x="0" y="87"/>
                </a:cxn>
                <a:cxn ang="0">
                  <a:pos x="8" y="109"/>
                </a:cxn>
                <a:cxn ang="0">
                  <a:pos x="15" y="124"/>
                </a:cxn>
                <a:cxn ang="0">
                  <a:pos x="51" y="138"/>
                </a:cxn>
                <a:cxn ang="0">
                  <a:pos x="66" y="138"/>
                </a:cxn>
                <a:cxn ang="0">
                  <a:pos x="80" y="124"/>
                </a:cxn>
                <a:cxn ang="0">
                  <a:pos x="102" y="109"/>
                </a:cxn>
                <a:cxn ang="0">
                  <a:pos x="95" y="109"/>
                </a:cxn>
                <a:cxn ang="0">
                  <a:pos x="80" y="124"/>
                </a:cxn>
                <a:cxn ang="0">
                  <a:pos x="51" y="131"/>
                </a:cxn>
                <a:cxn ang="0">
                  <a:pos x="30" y="124"/>
                </a:cxn>
                <a:cxn ang="0">
                  <a:pos x="22" y="87"/>
                </a:cxn>
                <a:cxn ang="0">
                  <a:pos x="22" y="66"/>
                </a:cxn>
                <a:cxn ang="0">
                  <a:pos x="37" y="37"/>
                </a:cxn>
                <a:cxn ang="0">
                  <a:pos x="51" y="15"/>
                </a:cxn>
                <a:cxn ang="0">
                  <a:pos x="80" y="8"/>
                </a:cxn>
                <a:cxn ang="0">
                  <a:pos x="95" y="15"/>
                </a:cxn>
                <a:cxn ang="0">
                  <a:pos x="102" y="22"/>
                </a:cxn>
                <a:cxn ang="0">
                  <a:pos x="109" y="37"/>
                </a:cxn>
                <a:cxn ang="0">
                  <a:pos x="109" y="37"/>
                </a:cxn>
              </a:cxnLst>
              <a:rect l="txL" t="txT" r="txR" b="txB"/>
              <a:pathLst>
                <a:path w="117" h="138">
                  <a:moveTo>
                    <a:pt x="109" y="37"/>
                  </a:moveTo>
                  <a:lnTo>
                    <a:pt x="117" y="0"/>
                  </a:lnTo>
                  <a:lnTo>
                    <a:pt x="109" y="0"/>
                  </a:lnTo>
                  <a:lnTo>
                    <a:pt x="95" y="0"/>
                  </a:lnTo>
                  <a:lnTo>
                    <a:pt x="73" y="0"/>
                  </a:lnTo>
                  <a:lnTo>
                    <a:pt x="44" y="8"/>
                  </a:lnTo>
                  <a:lnTo>
                    <a:pt x="22" y="29"/>
                  </a:lnTo>
                  <a:lnTo>
                    <a:pt x="8" y="58"/>
                  </a:lnTo>
                  <a:lnTo>
                    <a:pt x="0" y="87"/>
                  </a:lnTo>
                  <a:lnTo>
                    <a:pt x="8" y="109"/>
                  </a:lnTo>
                  <a:lnTo>
                    <a:pt x="15" y="124"/>
                  </a:lnTo>
                  <a:lnTo>
                    <a:pt x="51" y="138"/>
                  </a:lnTo>
                  <a:lnTo>
                    <a:pt x="66" y="138"/>
                  </a:lnTo>
                  <a:lnTo>
                    <a:pt x="80" y="124"/>
                  </a:lnTo>
                  <a:lnTo>
                    <a:pt x="102" y="109"/>
                  </a:lnTo>
                  <a:lnTo>
                    <a:pt x="95" y="109"/>
                  </a:lnTo>
                  <a:lnTo>
                    <a:pt x="80" y="124"/>
                  </a:lnTo>
                  <a:lnTo>
                    <a:pt x="51" y="131"/>
                  </a:lnTo>
                  <a:lnTo>
                    <a:pt x="30" y="124"/>
                  </a:lnTo>
                  <a:lnTo>
                    <a:pt x="22" y="87"/>
                  </a:lnTo>
                  <a:lnTo>
                    <a:pt x="22" y="66"/>
                  </a:lnTo>
                  <a:lnTo>
                    <a:pt x="37" y="37"/>
                  </a:lnTo>
                  <a:lnTo>
                    <a:pt x="51" y="15"/>
                  </a:lnTo>
                  <a:lnTo>
                    <a:pt x="80" y="8"/>
                  </a:lnTo>
                  <a:lnTo>
                    <a:pt x="95" y="15"/>
                  </a:lnTo>
                  <a:lnTo>
                    <a:pt x="102" y="22"/>
                  </a:lnTo>
                  <a:lnTo>
                    <a:pt x="109" y="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79" name="Freeform 18"/>
            <p:cNvSpPr>
              <a:spLocks noChangeAspect="1"/>
            </p:cNvSpPr>
            <p:nvPr/>
          </p:nvSpPr>
          <p:spPr>
            <a:xfrm>
              <a:off x="1764" y="1046"/>
              <a:ext cx="37" cy="109"/>
            </a:xfrm>
            <a:custGeom>
              <a:avLst/>
              <a:gdLst>
                <a:gd name="txL" fmla="*/ 0 w 37"/>
                <a:gd name="txT" fmla="*/ 0 h 109"/>
                <a:gd name="txR" fmla="*/ 37 w 37"/>
                <a:gd name="txB" fmla="*/ 109 h 109"/>
              </a:gdLst>
              <a:ahLst/>
              <a:cxnLst>
                <a:cxn ang="0">
                  <a:pos x="0" y="109"/>
                </a:cxn>
                <a:cxn ang="0">
                  <a:pos x="37" y="109"/>
                </a:cxn>
                <a:cxn ang="0">
                  <a:pos x="37" y="109"/>
                </a:cxn>
                <a:cxn ang="0">
                  <a:pos x="29" y="102"/>
                </a:cxn>
                <a:cxn ang="0">
                  <a:pos x="22" y="95"/>
                </a:cxn>
                <a:cxn ang="0">
                  <a:pos x="22" y="0"/>
                </a:cxn>
                <a:cxn ang="0">
                  <a:pos x="22" y="0"/>
                </a:cxn>
                <a:cxn ang="0">
                  <a:pos x="0" y="15"/>
                </a:cxn>
                <a:cxn ang="0">
                  <a:pos x="0" y="22"/>
                </a:cxn>
                <a:cxn ang="0">
                  <a:pos x="8" y="15"/>
                </a:cxn>
                <a:cxn ang="0">
                  <a:pos x="8" y="15"/>
                </a:cxn>
                <a:cxn ang="0">
                  <a:pos x="15" y="22"/>
                </a:cxn>
                <a:cxn ang="0">
                  <a:pos x="15" y="22"/>
                </a:cxn>
                <a:cxn ang="0">
                  <a:pos x="15" y="95"/>
                </a:cxn>
                <a:cxn ang="0">
                  <a:pos x="8" y="109"/>
                </a:cxn>
                <a:cxn ang="0">
                  <a:pos x="0" y="109"/>
                </a:cxn>
                <a:cxn ang="0">
                  <a:pos x="0" y="109"/>
                </a:cxn>
              </a:cxnLst>
              <a:rect l="txL" t="txT" r="txR" b="txB"/>
              <a:pathLst>
                <a:path w="37" h="109">
                  <a:moveTo>
                    <a:pt x="0" y="109"/>
                  </a:moveTo>
                  <a:lnTo>
                    <a:pt x="37" y="109"/>
                  </a:lnTo>
                  <a:lnTo>
                    <a:pt x="29" y="102"/>
                  </a:lnTo>
                  <a:lnTo>
                    <a:pt x="22" y="95"/>
                  </a:lnTo>
                  <a:lnTo>
                    <a:pt x="22" y="0"/>
                  </a:lnTo>
                  <a:lnTo>
                    <a:pt x="0" y="15"/>
                  </a:lnTo>
                  <a:lnTo>
                    <a:pt x="0" y="22"/>
                  </a:lnTo>
                  <a:lnTo>
                    <a:pt x="8" y="15"/>
                  </a:lnTo>
                  <a:lnTo>
                    <a:pt x="15" y="22"/>
                  </a:lnTo>
                  <a:lnTo>
                    <a:pt x="15" y="95"/>
                  </a:lnTo>
                  <a:lnTo>
                    <a:pt x="8" y="109"/>
                  </a:lnTo>
                  <a:lnTo>
                    <a:pt x="0" y="10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0" name="Freeform 19"/>
            <p:cNvSpPr>
              <a:spLocks noChangeAspect="1"/>
            </p:cNvSpPr>
            <p:nvPr/>
          </p:nvSpPr>
          <p:spPr>
            <a:xfrm>
              <a:off x="1146" y="850"/>
              <a:ext cx="328" cy="356"/>
            </a:xfrm>
            <a:custGeom>
              <a:avLst/>
              <a:gdLst>
                <a:gd name="txL" fmla="*/ 0 w 328"/>
                <a:gd name="txT" fmla="*/ 0 h 356"/>
                <a:gd name="txR" fmla="*/ 328 w 328"/>
                <a:gd name="txB" fmla="*/ 356 h 356"/>
              </a:gdLst>
              <a:ahLst/>
              <a:cxnLst>
                <a:cxn ang="0">
                  <a:pos x="168" y="356"/>
                </a:cxn>
                <a:cxn ang="0">
                  <a:pos x="197" y="356"/>
                </a:cxn>
                <a:cxn ang="0">
                  <a:pos x="233" y="341"/>
                </a:cxn>
                <a:cxn ang="0">
                  <a:pos x="284" y="305"/>
                </a:cxn>
                <a:cxn ang="0">
                  <a:pos x="313" y="247"/>
                </a:cxn>
                <a:cxn ang="0">
                  <a:pos x="328" y="182"/>
                </a:cxn>
                <a:cxn ang="0">
                  <a:pos x="313" y="109"/>
                </a:cxn>
                <a:cxn ang="0">
                  <a:pos x="284" y="51"/>
                </a:cxn>
                <a:cxn ang="0">
                  <a:pos x="233" y="15"/>
                </a:cxn>
                <a:cxn ang="0">
                  <a:pos x="197" y="8"/>
                </a:cxn>
                <a:cxn ang="0">
                  <a:pos x="168" y="0"/>
                </a:cxn>
                <a:cxn ang="0">
                  <a:pos x="131" y="8"/>
                </a:cxn>
                <a:cxn ang="0">
                  <a:pos x="102" y="15"/>
                </a:cxn>
                <a:cxn ang="0">
                  <a:pos x="51" y="51"/>
                </a:cxn>
                <a:cxn ang="0">
                  <a:pos x="15" y="109"/>
                </a:cxn>
                <a:cxn ang="0">
                  <a:pos x="0" y="182"/>
                </a:cxn>
                <a:cxn ang="0">
                  <a:pos x="15" y="247"/>
                </a:cxn>
                <a:cxn ang="0">
                  <a:pos x="51" y="305"/>
                </a:cxn>
                <a:cxn ang="0">
                  <a:pos x="102" y="341"/>
                </a:cxn>
                <a:cxn ang="0">
                  <a:pos x="131" y="356"/>
                </a:cxn>
                <a:cxn ang="0">
                  <a:pos x="168" y="356"/>
                </a:cxn>
                <a:cxn ang="0">
                  <a:pos x="168" y="356"/>
                </a:cxn>
              </a:cxnLst>
              <a:rect l="txL" t="txT" r="txR" b="txB"/>
              <a:pathLst>
                <a:path w="328" h="356">
                  <a:moveTo>
                    <a:pt x="168" y="356"/>
                  </a:moveTo>
                  <a:lnTo>
                    <a:pt x="197" y="356"/>
                  </a:lnTo>
                  <a:lnTo>
                    <a:pt x="233" y="341"/>
                  </a:lnTo>
                  <a:lnTo>
                    <a:pt x="284" y="305"/>
                  </a:lnTo>
                  <a:lnTo>
                    <a:pt x="313" y="247"/>
                  </a:lnTo>
                  <a:lnTo>
                    <a:pt x="328" y="182"/>
                  </a:lnTo>
                  <a:lnTo>
                    <a:pt x="313" y="109"/>
                  </a:lnTo>
                  <a:lnTo>
                    <a:pt x="284" y="51"/>
                  </a:lnTo>
                  <a:lnTo>
                    <a:pt x="233" y="15"/>
                  </a:lnTo>
                  <a:lnTo>
                    <a:pt x="197" y="8"/>
                  </a:lnTo>
                  <a:lnTo>
                    <a:pt x="168" y="0"/>
                  </a:lnTo>
                  <a:lnTo>
                    <a:pt x="131" y="8"/>
                  </a:lnTo>
                  <a:lnTo>
                    <a:pt x="102" y="15"/>
                  </a:lnTo>
                  <a:lnTo>
                    <a:pt x="51" y="51"/>
                  </a:lnTo>
                  <a:lnTo>
                    <a:pt x="15" y="109"/>
                  </a:lnTo>
                  <a:lnTo>
                    <a:pt x="0" y="182"/>
                  </a:lnTo>
                  <a:lnTo>
                    <a:pt x="15" y="247"/>
                  </a:lnTo>
                  <a:lnTo>
                    <a:pt x="51" y="305"/>
                  </a:lnTo>
                  <a:lnTo>
                    <a:pt x="102" y="341"/>
                  </a:lnTo>
                  <a:lnTo>
                    <a:pt x="131" y="356"/>
                  </a:lnTo>
                  <a:lnTo>
                    <a:pt x="168" y="356"/>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1" name="Freeform 20"/>
            <p:cNvSpPr>
              <a:spLocks noChangeAspect="1"/>
            </p:cNvSpPr>
            <p:nvPr/>
          </p:nvSpPr>
          <p:spPr>
            <a:xfrm>
              <a:off x="1314" y="1032"/>
              <a:ext cx="160" cy="174"/>
            </a:xfrm>
            <a:custGeom>
              <a:avLst/>
              <a:gdLst>
                <a:gd name="txL" fmla="*/ 0 w 160"/>
                <a:gd name="txT" fmla="*/ 0 h 174"/>
                <a:gd name="txR" fmla="*/ 160 w 160"/>
                <a:gd name="txB" fmla="*/ 174 h 174"/>
              </a:gdLst>
              <a:ahLst/>
              <a:cxnLst>
                <a:cxn ang="0">
                  <a:pos x="0" y="174"/>
                </a:cxn>
                <a:cxn ang="0">
                  <a:pos x="29" y="174"/>
                </a:cxn>
                <a:cxn ang="0">
                  <a:pos x="65" y="159"/>
                </a:cxn>
                <a:cxn ang="0">
                  <a:pos x="116" y="123"/>
                </a:cxn>
                <a:cxn ang="0">
                  <a:pos x="145" y="65"/>
                </a:cxn>
                <a:cxn ang="0">
                  <a:pos x="160" y="0"/>
                </a:cxn>
                <a:cxn ang="0">
                  <a:pos x="160" y="0"/>
                </a:cxn>
                <a:cxn ang="0">
                  <a:pos x="145" y="65"/>
                </a:cxn>
                <a:cxn ang="0">
                  <a:pos x="116" y="123"/>
                </a:cxn>
                <a:cxn ang="0">
                  <a:pos x="65" y="159"/>
                </a:cxn>
                <a:cxn ang="0">
                  <a:pos x="29" y="174"/>
                </a:cxn>
                <a:cxn ang="0">
                  <a:pos x="0" y="174"/>
                </a:cxn>
                <a:cxn ang="0">
                  <a:pos x="0" y="174"/>
                </a:cxn>
              </a:cxnLst>
              <a:rect l="txL" t="txT" r="txR" b="txB"/>
              <a:pathLst>
                <a:path w="160" h="174">
                  <a:moveTo>
                    <a:pt x="0" y="174"/>
                  </a:moveTo>
                  <a:lnTo>
                    <a:pt x="29" y="174"/>
                  </a:lnTo>
                  <a:lnTo>
                    <a:pt x="65" y="159"/>
                  </a:lnTo>
                  <a:lnTo>
                    <a:pt x="116" y="123"/>
                  </a:lnTo>
                  <a:lnTo>
                    <a:pt x="145" y="65"/>
                  </a:lnTo>
                  <a:lnTo>
                    <a:pt x="160" y="0"/>
                  </a:lnTo>
                  <a:lnTo>
                    <a:pt x="145" y="65"/>
                  </a:lnTo>
                  <a:lnTo>
                    <a:pt x="116" y="123"/>
                  </a:lnTo>
                  <a:lnTo>
                    <a:pt x="65" y="159"/>
                  </a:lnTo>
                  <a:lnTo>
                    <a:pt x="29" y="174"/>
                  </a:lnTo>
                  <a:lnTo>
                    <a:pt x="0" y="17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2" name="Freeform 21"/>
            <p:cNvSpPr>
              <a:spLocks noChangeAspect="1" noEditPoints="1"/>
            </p:cNvSpPr>
            <p:nvPr/>
          </p:nvSpPr>
          <p:spPr>
            <a:xfrm>
              <a:off x="1314" y="850"/>
              <a:ext cx="160" cy="182"/>
            </a:xfrm>
            <a:custGeom>
              <a:avLst/>
              <a:gdLst>
                <a:gd name="txL" fmla="*/ 0 w 160"/>
                <a:gd name="txT" fmla="*/ 0 h 182"/>
                <a:gd name="txR" fmla="*/ 160 w 160"/>
                <a:gd name="txB" fmla="*/ 182 h 182"/>
              </a:gdLst>
              <a:ahLst/>
              <a:cxnLst>
                <a:cxn ang="0">
                  <a:pos x="160" y="182"/>
                </a:cxn>
                <a:cxn ang="0">
                  <a:pos x="145" y="109"/>
                </a:cxn>
                <a:cxn ang="0">
                  <a:pos x="116" y="51"/>
                </a:cxn>
                <a:cxn ang="0">
                  <a:pos x="65" y="15"/>
                </a:cxn>
                <a:cxn ang="0">
                  <a:pos x="29" y="8"/>
                </a:cxn>
                <a:cxn ang="0">
                  <a:pos x="0" y="0"/>
                </a:cxn>
                <a:cxn ang="0">
                  <a:pos x="0" y="0"/>
                </a:cxn>
                <a:cxn ang="0">
                  <a:pos x="29" y="8"/>
                </a:cxn>
                <a:cxn ang="0">
                  <a:pos x="65" y="15"/>
                </a:cxn>
                <a:cxn ang="0">
                  <a:pos x="116" y="51"/>
                </a:cxn>
                <a:cxn ang="0">
                  <a:pos x="145" y="109"/>
                </a:cxn>
                <a:cxn ang="0">
                  <a:pos x="160" y="182"/>
                </a:cxn>
                <a:cxn ang="0">
                  <a:pos x="160" y="182"/>
                </a:cxn>
                <a:cxn ang="0">
                  <a:pos x="160" y="182"/>
                </a:cxn>
                <a:cxn ang="0">
                  <a:pos x="160" y="182"/>
                </a:cxn>
                <a:cxn ang="0">
                  <a:pos x="160" y="182"/>
                </a:cxn>
              </a:cxnLst>
              <a:rect l="txL" t="txT" r="txR" b="txB"/>
              <a:pathLst>
                <a:path w="160" h="182">
                  <a:moveTo>
                    <a:pt x="160" y="182"/>
                  </a:moveTo>
                  <a:lnTo>
                    <a:pt x="145" y="109"/>
                  </a:lnTo>
                  <a:lnTo>
                    <a:pt x="116" y="51"/>
                  </a:lnTo>
                  <a:lnTo>
                    <a:pt x="65" y="15"/>
                  </a:lnTo>
                  <a:lnTo>
                    <a:pt x="29" y="8"/>
                  </a:lnTo>
                  <a:lnTo>
                    <a:pt x="0" y="0"/>
                  </a:lnTo>
                  <a:lnTo>
                    <a:pt x="29" y="8"/>
                  </a:lnTo>
                  <a:lnTo>
                    <a:pt x="65" y="15"/>
                  </a:lnTo>
                  <a:lnTo>
                    <a:pt x="116" y="51"/>
                  </a:lnTo>
                  <a:lnTo>
                    <a:pt x="145" y="109"/>
                  </a:lnTo>
                  <a:lnTo>
                    <a:pt x="160" y="182"/>
                  </a:lnTo>
                  <a:close/>
                  <a:moveTo>
                    <a:pt x="160" y="182"/>
                  </a:moveTo>
                  <a:lnTo>
                    <a:pt x="160" y="18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3" name="Freeform 22"/>
            <p:cNvSpPr>
              <a:spLocks noChangeAspect="1" noEditPoints="1"/>
            </p:cNvSpPr>
            <p:nvPr/>
          </p:nvSpPr>
          <p:spPr>
            <a:xfrm>
              <a:off x="1146" y="850"/>
              <a:ext cx="168" cy="182"/>
            </a:xfrm>
            <a:custGeom>
              <a:avLst/>
              <a:gdLst>
                <a:gd name="txL" fmla="*/ 0 w 168"/>
                <a:gd name="txT" fmla="*/ 0 h 182"/>
                <a:gd name="txR" fmla="*/ 168 w 168"/>
                <a:gd name="txB" fmla="*/ 182 h 182"/>
              </a:gdLst>
              <a:ahLst/>
              <a:cxnLst>
                <a:cxn ang="0">
                  <a:pos x="168" y="0"/>
                </a:cxn>
                <a:cxn ang="0">
                  <a:pos x="131" y="8"/>
                </a:cxn>
                <a:cxn ang="0">
                  <a:pos x="102" y="15"/>
                </a:cxn>
                <a:cxn ang="0">
                  <a:pos x="51" y="51"/>
                </a:cxn>
                <a:cxn ang="0">
                  <a:pos x="15" y="109"/>
                </a:cxn>
                <a:cxn ang="0">
                  <a:pos x="0" y="182"/>
                </a:cxn>
                <a:cxn ang="0">
                  <a:pos x="0" y="182"/>
                </a:cxn>
                <a:cxn ang="0">
                  <a:pos x="15" y="109"/>
                </a:cxn>
                <a:cxn ang="0">
                  <a:pos x="51" y="51"/>
                </a:cxn>
                <a:cxn ang="0">
                  <a:pos x="102" y="15"/>
                </a:cxn>
                <a:cxn ang="0">
                  <a:pos x="131" y="8"/>
                </a:cxn>
                <a:cxn ang="0">
                  <a:pos x="168" y="0"/>
                </a:cxn>
                <a:cxn ang="0">
                  <a:pos x="168" y="0"/>
                </a:cxn>
                <a:cxn ang="0">
                  <a:pos x="168" y="0"/>
                </a:cxn>
                <a:cxn ang="0">
                  <a:pos x="168" y="0"/>
                </a:cxn>
                <a:cxn ang="0">
                  <a:pos x="168" y="0"/>
                </a:cxn>
              </a:cxnLst>
              <a:rect l="txL" t="txT" r="txR" b="txB"/>
              <a:pathLst>
                <a:path w="168" h="182">
                  <a:moveTo>
                    <a:pt x="168" y="0"/>
                  </a:moveTo>
                  <a:lnTo>
                    <a:pt x="131" y="8"/>
                  </a:lnTo>
                  <a:lnTo>
                    <a:pt x="102" y="15"/>
                  </a:lnTo>
                  <a:lnTo>
                    <a:pt x="51" y="51"/>
                  </a:lnTo>
                  <a:lnTo>
                    <a:pt x="15" y="109"/>
                  </a:lnTo>
                  <a:lnTo>
                    <a:pt x="0" y="182"/>
                  </a:lnTo>
                  <a:lnTo>
                    <a:pt x="15" y="109"/>
                  </a:lnTo>
                  <a:lnTo>
                    <a:pt x="51" y="51"/>
                  </a:lnTo>
                  <a:lnTo>
                    <a:pt x="102" y="15"/>
                  </a:lnTo>
                  <a:lnTo>
                    <a:pt x="131" y="8"/>
                  </a:lnTo>
                  <a:lnTo>
                    <a:pt x="168" y="0"/>
                  </a:lnTo>
                  <a:close/>
                  <a:moveTo>
                    <a:pt x="168" y="0"/>
                  </a:moveTo>
                  <a:lnTo>
                    <a:pt x="16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4" name="Freeform 23"/>
            <p:cNvSpPr>
              <a:spLocks noChangeAspect="1" noEditPoints="1"/>
            </p:cNvSpPr>
            <p:nvPr/>
          </p:nvSpPr>
          <p:spPr>
            <a:xfrm>
              <a:off x="1146" y="1032"/>
              <a:ext cx="168" cy="174"/>
            </a:xfrm>
            <a:custGeom>
              <a:avLst/>
              <a:gdLst>
                <a:gd name="txL" fmla="*/ 0 w 168"/>
                <a:gd name="txT" fmla="*/ 0 h 174"/>
                <a:gd name="txR" fmla="*/ 168 w 168"/>
                <a:gd name="txB" fmla="*/ 174 h 174"/>
              </a:gdLst>
              <a:ahLst/>
              <a:cxnLst>
                <a:cxn ang="0">
                  <a:pos x="0" y="0"/>
                </a:cxn>
                <a:cxn ang="0">
                  <a:pos x="15" y="65"/>
                </a:cxn>
                <a:cxn ang="0">
                  <a:pos x="51" y="123"/>
                </a:cxn>
                <a:cxn ang="0">
                  <a:pos x="102" y="159"/>
                </a:cxn>
                <a:cxn ang="0">
                  <a:pos x="131" y="174"/>
                </a:cxn>
                <a:cxn ang="0">
                  <a:pos x="168" y="174"/>
                </a:cxn>
                <a:cxn ang="0">
                  <a:pos x="168" y="174"/>
                </a:cxn>
                <a:cxn ang="0">
                  <a:pos x="131" y="174"/>
                </a:cxn>
                <a:cxn ang="0">
                  <a:pos x="102" y="159"/>
                </a:cxn>
                <a:cxn ang="0">
                  <a:pos x="51" y="123"/>
                </a:cxn>
                <a:cxn ang="0">
                  <a:pos x="15" y="65"/>
                </a:cxn>
                <a:cxn ang="0">
                  <a:pos x="0" y="0"/>
                </a:cxn>
                <a:cxn ang="0">
                  <a:pos x="0" y="0"/>
                </a:cxn>
                <a:cxn ang="0">
                  <a:pos x="0" y="0"/>
                </a:cxn>
                <a:cxn ang="0">
                  <a:pos x="0" y="0"/>
                </a:cxn>
                <a:cxn ang="0">
                  <a:pos x="0" y="0"/>
                </a:cxn>
              </a:cxnLst>
              <a:rect l="txL" t="txT" r="txR" b="txB"/>
              <a:pathLst>
                <a:path w="168" h="174">
                  <a:moveTo>
                    <a:pt x="0" y="0"/>
                  </a:moveTo>
                  <a:lnTo>
                    <a:pt x="15" y="65"/>
                  </a:lnTo>
                  <a:lnTo>
                    <a:pt x="51" y="123"/>
                  </a:lnTo>
                  <a:lnTo>
                    <a:pt x="102" y="159"/>
                  </a:lnTo>
                  <a:lnTo>
                    <a:pt x="131" y="174"/>
                  </a:lnTo>
                  <a:lnTo>
                    <a:pt x="168" y="174"/>
                  </a:lnTo>
                  <a:lnTo>
                    <a:pt x="131" y="174"/>
                  </a:lnTo>
                  <a:lnTo>
                    <a:pt x="102" y="159"/>
                  </a:lnTo>
                  <a:lnTo>
                    <a:pt x="51" y="123"/>
                  </a:lnTo>
                  <a:lnTo>
                    <a:pt x="15" y="65"/>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5" name="Freeform 24"/>
            <p:cNvSpPr>
              <a:spLocks noChangeAspect="1"/>
            </p:cNvSpPr>
            <p:nvPr/>
          </p:nvSpPr>
          <p:spPr>
            <a:xfrm>
              <a:off x="1314" y="1206"/>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6" name="Freeform 25"/>
            <p:cNvSpPr>
              <a:spLocks noChangeAspect="1"/>
            </p:cNvSpPr>
            <p:nvPr/>
          </p:nvSpPr>
          <p:spPr>
            <a:xfrm>
              <a:off x="1306" y="1024"/>
              <a:ext cx="1" cy="146"/>
            </a:xfrm>
            <a:custGeom>
              <a:avLst/>
              <a:gdLst>
                <a:gd name="txL" fmla="*/ 0 w 1"/>
                <a:gd name="txT" fmla="*/ 0 h 146"/>
                <a:gd name="txR" fmla="*/ 1 w 1"/>
                <a:gd name="txB" fmla="*/ 146 h 146"/>
              </a:gdLst>
              <a:ahLst/>
              <a:cxnLst>
                <a:cxn ang="0">
                  <a:pos x="0" y="146"/>
                </a:cxn>
                <a:cxn ang="0">
                  <a:pos x="0" y="0"/>
                </a:cxn>
                <a:cxn ang="0">
                  <a:pos x="0" y="146"/>
                </a:cxn>
                <a:cxn ang="0">
                  <a:pos x="0" y="146"/>
                </a:cxn>
              </a:cxnLst>
              <a:rect l="txL" t="txT" r="txR" b="txB"/>
              <a:pathLst>
                <a:path w="1" h="146">
                  <a:moveTo>
                    <a:pt x="0" y="146"/>
                  </a:moveTo>
                  <a:lnTo>
                    <a:pt x="0" y="0"/>
                  </a:lnTo>
                  <a:lnTo>
                    <a:pt x="0" y="14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7" name="Freeform 26"/>
            <p:cNvSpPr>
              <a:spLocks noChangeAspect="1"/>
            </p:cNvSpPr>
            <p:nvPr/>
          </p:nvSpPr>
          <p:spPr>
            <a:xfrm>
              <a:off x="1270" y="894"/>
              <a:ext cx="80" cy="159"/>
            </a:xfrm>
            <a:custGeom>
              <a:avLst/>
              <a:gdLst>
                <a:gd name="txL" fmla="*/ 0 w 80"/>
                <a:gd name="txT" fmla="*/ 0 h 159"/>
                <a:gd name="txR" fmla="*/ 80 w 80"/>
                <a:gd name="txB" fmla="*/ 159 h 159"/>
              </a:gdLst>
              <a:ahLst/>
              <a:cxnLst>
                <a:cxn ang="0">
                  <a:pos x="80" y="159"/>
                </a:cxn>
                <a:cxn ang="0">
                  <a:pos x="36" y="0"/>
                </a:cxn>
                <a:cxn ang="0">
                  <a:pos x="0" y="159"/>
                </a:cxn>
                <a:cxn ang="0">
                  <a:pos x="80" y="159"/>
                </a:cxn>
                <a:cxn ang="0">
                  <a:pos x="80" y="159"/>
                </a:cxn>
              </a:cxnLst>
              <a:rect l="txL" t="txT" r="txR" b="txB"/>
              <a:pathLst>
                <a:path w="80" h="159">
                  <a:moveTo>
                    <a:pt x="80" y="159"/>
                  </a:moveTo>
                  <a:lnTo>
                    <a:pt x="36" y="0"/>
                  </a:lnTo>
                  <a:lnTo>
                    <a:pt x="0" y="159"/>
                  </a:lnTo>
                  <a:lnTo>
                    <a:pt x="80" y="15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8" name="Freeform 27"/>
            <p:cNvSpPr>
              <a:spLocks noChangeAspect="1"/>
            </p:cNvSpPr>
            <p:nvPr/>
          </p:nvSpPr>
          <p:spPr>
            <a:xfrm>
              <a:off x="2731" y="1932"/>
              <a:ext cx="51" cy="181"/>
            </a:xfrm>
            <a:custGeom>
              <a:avLst/>
              <a:gdLst>
                <a:gd name="txL" fmla="*/ 0 w 51"/>
                <a:gd name="txT" fmla="*/ 0 h 181"/>
                <a:gd name="txR" fmla="*/ 51 w 51"/>
                <a:gd name="txB" fmla="*/ 181 h 181"/>
              </a:gdLst>
              <a:ahLst/>
              <a:cxnLst>
                <a:cxn ang="0">
                  <a:pos x="51" y="0"/>
                </a:cxn>
                <a:cxn ang="0">
                  <a:pos x="29" y="14"/>
                </a:cxn>
                <a:cxn ang="0">
                  <a:pos x="15" y="36"/>
                </a:cxn>
                <a:cxn ang="0">
                  <a:pos x="0" y="87"/>
                </a:cxn>
                <a:cxn ang="0">
                  <a:pos x="7" y="123"/>
                </a:cxn>
                <a:cxn ang="0">
                  <a:pos x="15" y="145"/>
                </a:cxn>
                <a:cxn ang="0">
                  <a:pos x="29" y="167"/>
                </a:cxn>
                <a:cxn ang="0">
                  <a:pos x="44" y="181"/>
                </a:cxn>
                <a:cxn ang="0">
                  <a:pos x="51" y="174"/>
                </a:cxn>
                <a:cxn ang="0">
                  <a:pos x="29" y="152"/>
                </a:cxn>
                <a:cxn ang="0">
                  <a:pos x="22" y="130"/>
                </a:cxn>
                <a:cxn ang="0">
                  <a:pos x="15" y="109"/>
                </a:cxn>
                <a:cxn ang="0">
                  <a:pos x="15" y="87"/>
                </a:cxn>
                <a:cxn ang="0">
                  <a:pos x="22" y="51"/>
                </a:cxn>
                <a:cxn ang="0">
                  <a:pos x="29" y="29"/>
                </a:cxn>
                <a:cxn ang="0">
                  <a:pos x="36" y="14"/>
                </a:cxn>
                <a:cxn ang="0">
                  <a:pos x="51" y="0"/>
                </a:cxn>
                <a:cxn ang="0">
                  <a:pos x="51" y="0"/>
                </a:cxn>
              </a:cxnLst>
              <a:rect l="txL" t="txT" r="txR" b="txB"/>
              <a:pathLst>
                <a:path w="51" h="181">
                  <a:moveTo>
                    <a:pt x="51" y="0"/>
                  </a:moveTo>
                  <a:lnTo>
                    <a:pt x="29" y="14"/>
                  </a:lnTo>
                  <a:lnTo>
                    <a:pt x="15" y="36"/>
                  </a:lnTo>
                  <a:lnTo>
                    <a:pt x="0" y="87"/>
                  </a:lnTo>
                  <a:lnTo>
                    <a:pt x="7" y="123"/>
                  </a:lnTo>
                  <a:lnTo>
                    <a:pt x="15" y="145"/>
                  </a:lnTo>
                  <a:lnTo>
                    <a:pt x="29" y="167"/>
                  </a:lnTo>
                  <a:lnTo>
                    <a:pt x="44" y="181"/>
                  </a:lnTo>
                  <a:lnTo>
                    <a:pt x="51" y="174"/>
                  </a:lnTo>
                  <a:lnTo>
                    <a:pt x="29" y="152"/>
                  </a:lnTo>
                  <a:lnTo>
                    <a:pt x="22" y="130"/>
                  </a:lnTo>
                  <a:lnTo>
                    <a:pt x="15" y="109"/>
                  </a:lnTo>
                  <a:lnTo>
                    <a:pt x="15" y="87"/>
                  </a:lnTo>
                  <a:lnTo>
                    <a:pt x="22" y="51"/>
                  </a:lnTo>
                  <a:lnTo>
                    <a:pt x="29" y="29"/>
                  </a:lnTo>
                  <a:lnTo>
                    <a:pt x="36" y="14"/>
                  </a:lnTo>
                  <a:lnTo>
                    <a:pt x="51"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89" name="Freeform 28"/>
            <p:cNvSpPr>
              <a:spLocks noChangeAspect="1" noEditPoints="1"/>
            </p:cNvSpPr>
            <p:nvPr/>
          </p:nvSpPr>
          <p:spPr>
            <a:xfrm>
              <a:off x="2789" y="1975"/>
              <a:ext cx="80" cy="102"/>
            </a:xfrm>
            <a:custGeom>
              <a:avLst/>
              <a:gdLst>
                <a:gd name="txL" fmla="*/ 0 w 80"/>
                <a:gd name="txT" fmla="*/ 0 h 102"/>
                <a:gd name="txR" fmla="*/ 80 w 80"/>
                <a:gd name="txB" fmla="*/ 102 h 102"/>
              </a:gdLst>
              <a:ahLst/>
              <a:cxnLst>
                <a:cxn ang="0">
                  <a:pos x="51" y="73"/>
                </a:cxn>
                <a:cxn ang="0">
                  <a:pos x="51" y="80"/>
                </a:cxn>
                <a:cxn ang="0">
                  <a:pos x="44" y="87"/>
                </a:cxn>
                <a:cxn ang="0">
                  <a:pos x="44" y="87"/>
                </a:cxn>
                <a:cxn ang="0">
                  <a:pos x="37" y="87"/>
                </a:cxn>
                <a:cxn ang="0">
                  <a:pos x="29" y="80"/>
                </a:cxn>
                <a:cxn ang="0">
                  <a:pos x="22" y="73"/>
                </a:cxn>
                <a:cxn ang="0">
                  <a:pos x="22" y="73"/>
                </a:cxn>
                <a:cxn ang="0">
                  <a:pos x="29" y="58"/>
                </a:cxn>
                <a:cxn ang="0">
                  <a:pos x="37" y="51"/>
                </a:cxn>
                <a:cxn ang="0">
                  <a:pos x="51" y="44"/>
                </a:cxn>
                <a:cxn ang="0">
                  <a:pos x="51" y="73"/>
                </a:cxn>
                <a:cxn ang="0">
                  <a:pos x="80" y="87"/>
                </a:cxn>
                <a:cxn ang="0">
                  <a:pos x="80" y="87"/>
                </a:cxn>
                <a:cxn ang="0">
                  <a:pos x="73" y="87"/>
                </a:cxn>
                <a:cxn ang="0">
                  <a:pos x="66" y="80"/>
                </a:cxn>
                <a:cxn ang="0">
                  <a:pos x="66" y="73"/>
                </a:cxn>
                <a:cxn ang="0">
                  <a:pos x="66" y="37"/>
                </a:cxn>
                <a:cxn ang="0">
                  <a:pos x="66" y="15"/>
                </a:cxn>
                <a:cxn ang="0">
                  <a:pos x="51" y="8"/>
                </a:cxn>
                <a:cxn ang="0">
                  <a:pos x="37" y="0"/>
                </a:cxn>
                <a:cxn ang="0">
                  <a:pos x="15" y="8"/>
                </a:cxn>
                <a:cxn ang="0">
                  <a:pos x="8" y="22"/>
                </a:cxn>
                <a:cxn ang="0">
                  <a:pos x="8" y="29"/>
                </a:cxn>
                <a:cxn ang="0">
                  <a:pos x="15" y="37"/>
                </a:cxn>
                <a:cxn ang="0">
                  <a:pos x="22" y="29"/>
                </a:cxn>
                <a:cxn ang="0">
                  <a:pos x="22" y="22"/>
                </a:cxn>
                <a:cxn ang="0">
                  <a:pos x="22" y="22"/>
                </a:cxn>
                <a:cxn ang="0">
                  <a:pos x="22" y="15"/>
                </a:cxn>
                <a:cxn ang="0">
                  <a:pos x="29" y="8"/>
                </a:cxn>
                <a:cxn ang="0">
                  <a:pos x="37" y="8"/>
                </a:cxn>
                <a:cxn ang="0">
                  <a:pos x="44" y="8"/>
                </a:cxn>
                <a:cxn ang="0">
                  <a:pos x="51" y="22"/>
                </a:cxn>
                <a:cxn ang="0">
                  <a:pos x="51" y="37"/>
                </a:cxn>
                <a:cxn ang="0">
                  <a:pos x="15" y="58"/>
                </a:cxn>
                <a:cxn ang="0">
                  <a:pos x="8" y="66"/>
                </a:cxn>
                <a:cxn ang="0">
                  <a:pos x="0" y="80"/>
                </a:cxn>
                <a:cxn ang="0">
                  <a:pos x="8" y="95"/>
                </a:cxn>
                <a:cxn ang="0">
                  <a:pos x="22" y="102"/>
                </a:cxn>
                <a:cxn ang="0">
                  <a:pos x="37" y="95"/>
                </a:cxn>
                <a:cxn ang="0">
                  <a:pos x="51" y="87"/>
                </a:cxn>
                <a:cxn ang="0">
                  <a:pos x="58" y="102"/>
                </a:cxn>
                <a:cxn ang="0">
                  <a:pos x="66" y="102"/>
                </a:cxn>
                <a:cxn ang="0">
                  <a:pos x="73" y="102"/>
                </a:cxn>
                <a:cxn ang="0">
                  <a:pos x="80" y="87"/>
                </a:cxn>
                <a:cxn ang="0">
                  <a:pos x="80" y="87"/>
                </a:cxn>
              </a:cxnLst>
              <a:rect l="txL" t="txT" r="txR" b="txB"/>
              <a:pathLst>
                <a:path w="80" h="102">
                  <a:moveTo>
                    <a:pt x="51" y="73"/>
                  </a:moveTo>
                  <a:lnTo>
                    <a:pt x="51" y="80"/>
                  </a:lnTo>
                  <a:lnTo>
                    <a:pt x="44" y="87"/>
                  </a:lnTo>
                  <a:lnTo>
                    <a:pt x="37" y="87"/>
                  </a:lnTo>
                  <a:lnTo>
                    <a:pt x="29" y="80"/>
                  </a:lnTo>
                  <a:lnTo>
                    <a:pt x="22" y="73"/>
                  </a:lnTo>
                  <a:lnTo>
                    <a:pt x="29" y="58"/>
                  </a:lnTo>
                  <a:lnTo>
                    <a:pt x="37" y="51"/>
                  </a:lnTo>
                  <a:lnTo>
                    <a:pt x="51" y="44"/>
                  </a:lnTo>
                  <a:lnTo>
                    <a:pt x="51" y="73"/>
                  </a:lnTo>
                  <a:close/>
                  <a:moveTo>
                    <a:pt x="80" y="87"/>
                  </a:moveTo>
                  <a:lnTo>
                    <a:pt x="80" y="87"/>
                  </a:lnTo>
                  <a:lnTo>
                    <a:pt x="73" y="87"/>
                  </a:lnTo>
                  <a:lnTo>
                    <a:pt x="66" y="80"/>
                  </a:lnTo>
                  <a:lnTo>
                    <a:pt x="66" y="73"/>
                  </a:lnTo>
                  <a:lnTo>
                    <a:pt x="66" y="37"/>
                  </a:lnTo>
                  <a:lnTo>
                    <a:pt x="66" y="15"/>
                  </a:lnTo>
                  <a:lnTo>
                    <a:pt x="51" y="8"/>
                  </a:lnTo>
                  <a:lnTo>
                    <a:pt x="37" y="0"/>
                  </a:lnTo>
                  <a:lnTo>
                    <a:pt x="15" y="8"/>
                  </a:lnTo>
                  <a:lnTo>
                    <a:pt x="8" y="22"/>
                  </a:lnTo>
                  <a:lnTo>
                    <a:pt x="8" y="29"/>
                  </a:lnTo>
                  <a:lnTo>
                    <a:pt x="15" y="37"/>
                  </a:lnTo>
                  <a:lnTo>
                    <a:pt x="22" y="29"/>
                  </a:lnTo>
                  <a:lnTo>
                    <a:pt x="22" y="22"/>
                  </a:lnTo>
                  <a:lnTo>
                    <a:pt x="22" y="15"/>
                  </a:lnTo>
                  <a:lnTo>
                    <a:pt x="29" y="8"/>
                  </a:lnTo>
                  <a:lnTo>
                    <a:pt x="37" y="8"/>
                  </a:lnTo>
                  <a:lnTo>
                    <a:pt x="44" y="8"/>
                  </a:lnTo>
                  <a:lnTo>
                    <a:pt x="51" y="22"/>
                  </a:lnTo>
                  <a:lnTo>
                    <a:pt x="51" y="37"/>
                  </a:lnTo>
                  <a:lnTo>
                    <a:pt x="15" y="58"/>
                  </a:lnTo>
                  <a:lnTo>
                    <a:pt x="8" y="66"/>
                  </a:lnTo>
                  <a:lnTo>
                    <a:pt x="0" y="80"/>
                  </a:lnTo>
                  <a:lnTo>
                    <a:pt x="8" y="95"/>
                  </a:lnTo>
                  <a:lnTo>
                    <a:pt x="22" y="102"/>
                  </a:lnTo>
                  <a:lnTo>
                    <a:pt x="37" y="95"/>
                  </a:lnTo>
                  <a:lnTo>
                    <a:pt x="51" y="87"/>
                  </a:lnTo>
                  <a:lnTo>
                    <a:pt x="58" y="102"/>
                  </a:lnTo>
                  <a:lnTo>
                    <a:pt x="66" y="102"/>
                  </a:lnTo>
                  <a:lnTo>
                    <a:pt x="73" y="102"/>
                  </a:lnTo>
                  <a:lnTo>
                    <a:pt x="80" y="8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90" name="Freeform 29"/>
            <p:cNvSpPr>
              <a:spLocks noChangeAspect="1"/>
            </p:cNvSpPr>
            <p:nvPr/>
          </p:nvSpPr>
          <p:spPr>
            <a:xfrm>
              <a:off x="2877" y="1932"/>
              <a:ext cx="50" cy="181"/>
            </a:xfrm>
            <a:custGeom>
              <a:avLst/>
              <a:gdLst>
                <a:gd name="txL" fmla="*/ 0 w 50"/>
                <a:gd name="txT" fmla="*/ 0 h 181"/>
                <a:gd name="txR" fmla="*/ 50 w 50"/>
                <a:gd name="txB" fmla="*/ 181 h 181"/>
              </a:gdLst>
              <a:ahLst/>
              <a:cxnLst>
                <a:cxn ang="0">
                  <a:pos x="0" y="181"/>
                </a:cxn>
                <a:cxn ang="0">
                  <a:pos x="36" y="145"/>
                </a:cxn>
                <a:cxn ang="0">
                  <a:pos x="50" y="123"/>
                </a:cxn>
                <a:cxn ang="0">
                  <a:pos x="50" y="94"/>
                </a:cxn>
                <a:cxn ang="0">
                  <a:pos x="43" y="58"/>
                </a:cxn>
                <a:cxn ang="0">
                  <a:pos x="36" y="29"/>
                </a:cxn>
                <a:cxn ang="0">
                  <a:pos x="21" y="14"/>
                </a:cxn>
                <a:cxn ang="0">
                  <a:pos x="0" y="0"/>
                </a:cxn>
                <a:cxn ang="0">
                  <a:pos x="0" y="0"/>
                </a:cxn>
                <a:cxn ang="0">
                  <a:pos x="14" y="22"/>
                </a:cxn>
                <a:cxn ang="0">
                  <a:pos x="29" y="51"/>
                </a:cxn>
                <a:cxn ang="0">
                  <a:pos x="29" y="72"/>
                </a:cxn>
                <a:cxn ang="0">
                  <a:pos x="29" y="94"/>
                </a:cxn>
                <a:cxn ang="0">
                  <a:pos x="29" y="123"/>
                </a:cxn>
                <a:cxn ang="0">
                  <a:pos x="21" y="145"/>
                </a:cxn>
                <a:cxn ang="0">
                  <a:pos x="0" y="174"/>
                </a:cxn>
                <a:cxn ang="0">
                  <a:pos x="0" y="181"/>
                </a:cxn>
              </a:cxnLst>
              <a:rect l="txL" t="txT" r="txR" b="txB"/>
              <a:pathLst>
                <a:path w="50" h="181">
                  <a:moveTo>
                    <a:pt x="0" y="181"/>
                  </a:moveTo>
                  <a:lnTo>
                    <a:pt x="36" y="145"/>
                  </a:lnTo>
                  <a:lnTo>
                    <a:pt x="50" y="123"/>
                  </a:lnTo>
                  <a:lnTo>
                    <a:pt x="50" y="94"/>
                  </a:lnTo>
                  <a:lnTo>
                    <a:pt x="43" y="58"/>
                  </a:lnTo>
                  <a:lnTo>
                    <a:pt x="36" y="29"/>
                  </a:lnTo>
                  <a:lnTo>
                    <a:pt x="21" y="14"/>
                  </a:lnTo>
                  <a:lnTo>
                    <a:pt x="0" y="0"/>
                  </a:lnTo>
                  <a:lnTo>
                    <a:pt x="14" y="22"/>
                  </a:lnTo>
                  <a:lnTo>
                    <a:pt x="29" y="51"/>
                  </a:lnTo>
                  <a:lnTo>
                    <a:pt x="29" y="72"/>
                  </a:lnTo>
                  <a:lnTo>
                    <a:pt x="29" y="94"/>
                  </a:lnTo>
                  <a:lnTo>
                    <a:pt x="29" y="123"/>
                  </a:lnTo>
                  <a:lnTo>
                    <a:pt x="21" y="145"/>
                  </a:lnTo>
                  <a:lnTo>
                    <a:pt x="0" y="174"/>
                  </a:lnTo>
                  <a:lnTo>
                    <a:pt x="0" y="18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91" name="Freeform 30"/>
            <p:cNvSpPr>
              <a:spLocks noChangeAspect="1"/>
            </p:cNvSpPr>
            <p:nvPr/>
          </p:nvSpPr>
          <p:spPr>
            <a:xfrm>
              <a:off x="4287" y="1024"/>
              <a:ext cx="269" cy="66"/>
            </a:xfrm>
            <a:custGeom>
              <a:avLst/>
              <a:gdLst>
                <a:gd name="txL" fmla="*/ 0 w 269"/>
                <a:gd name="txT" fmla="*/ 0 h 66"/>
                <a:gd name="txR" fmla="*/ 269 w 269"/>
                <a:gd name="txB" fmla="*/ 66 h 66"/>
              </a:gdLst>
              <a:ahLst/>
              <a:cxnLst>
                <a:cxn ang="0">
                  <a:pos x="0" y="66"/>
                </a:cxn>
                <a:cxn ang="0">
                  <a:pos x="0" y="0"/>
                </a:cxn>
                <a:cxn ang="0">
                  <a:pos x="269" y="0"/>
                </a:cxn>
                <a:cxn ang="0">
                  <a:pos x="269" y="66"/>
                </a:cxn>
                <a:cxn ang="0">
                  <a:pos x="0" y="66"/>
                </a:cxn>
                <a:cxn ang="0">
                  <a:pos x="0" y="66"/>
                </a:cxn>
              </a:cxnLst>
              <a:rect l="txL" t="txT" r="txR" b="txB"/>
              <a:pathLst>
                <a:path w="269" h="66">
                  <a:moveTo>
                    <a:pt x="0" y="66"/>
                  </a:moveTo>
                  <a:lnTo>
                    <a:pt x="0" y="0"/>
                  </a:lnTo>
                  <a:lnTo>
                    <a:pt x="269" y="0"/>
                  </a:lnTo>
                  <a:lnTo>
                    <a:pt x="269" y="66"/>
                  </a:lnTo>
                  <a:lnTo>
                    <a:pt x="0" y="66"/>
                  </a:lnTo>
                  <a:close/>
                </a:path>
              </a:pathLst>
            </a:custGeom>
            <a:solidFill>
              <a:srgbClr val="FFFFF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192" name="Freeform 31"/>
            <p:cNvSpPr>
              <a:spLocks noChangeAspect="1"/>
            </p:cNvSpPr>
            <p:nvPr/>
          </p:nvSpPr>
          <p:spPr>
            <a:xfrm>
              <a:off x="4418" y="1024"/>
              <a:ext cx="130" cy="1"/>
            </a:xfrm>
            <a:custGeom>
              <a:avLst/>
              <a:gdLst>
                <a:gd name="txL" fmla="*/ 0 w 130"/>
                <a:gd name="txT" fmla="*/ 0 h 1"/>
                <a:gd name="txR" fmla="*/ 130 w 130"/>
                <a:gd name="txB" fmla="*/ 1 h 1"/>
              </a:gdLst>
              <a:ahLst/>
              <a:cxnLst>
                <a:cxn ang="0">
                  <a:pos x="0" y="0"/>
                </a:cxn>
                <a:cxn ang="0">
                  <a:pos x="130" y="0"/>
                </a:cxn>
                <a:cxn ang="0">
                  <a:pos x="0" y="0"/>
                </a:cxn>
                <a:cxn ang="0">
                  <a:pos x="0" y="0"/>
                </a:cxn>
              </a:cxnLst>
              <a:rect l="txL" t="txT" r="txR" b="txB"/>
              <a:pathLst>
                <a:path w="130" h="1">
                  <a:moveTo>
                    <a:pt x="0" y="0"/>
                  </a:moveTo>
                  <a:lnTo>
                    <a:pt x="130"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193" name="Freeform 32"/>
            <p:cNvSpPr>
              <a:spLocks noChangeAspect="1"/>
            </p:cNvSpPr>
            <p:nvPr/>
          </p:nvSpPr>
          <p:spPr>
            <a:xfrm>
              <a:off x="4418" y="1090"/>
              <a:ext cx="130" cy="1"/>
            </a:xfrm>
            <a:custGeom>
              <a:avLst/>
              <a:gdLst>
                <a:gd name="txL" fmla="*/ 0 w 130"/>
                <a:gd name="txT" fmla="*/ 0 h 1"/>
                <a:gd name="txR" fmla="*/ 130 w 130"/>
                <a:gd name="txB" fmla="*/ 1 h 1"/>
              </a:gdLst>
              <a:ahLst/>
              <a:cxnLst>
                <a:cxn ang="0">
                  <a:pos x="0" y="0"/>
                </a:cxn>
                <a:cxn ang="0">
                  <a:pos x="130" y="0"/>
                </a:cxn>
                <a:cxn ang="0">
                  <a:pos x="0" y="0"/>
                </a:cxn>
                <a:cxn ang="0">
                  <a:pos x="0" y="0"/>
                </a:cxn>
              </a:cxnLst>
              <a:rect l="txL" t="txT" r="txR" b="txB"/>
              <a:pathLst>
                <a:path w="130" h="1">
                  <a:moveTo>
                    <a:pt x="0" y="0"/>
                  </a:moveTo>
                  <a:lnTo>
                    <a:pt x="130"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194" name="Freeform 33"/>
            <p:cNvSpPr>
              <a:spLocks noChangeAspect="1"/>
            </p:cNvSpPr>
            <p:nvPr/>
          </p:nvSpPr>
          <p:spPr>
            <a:xfrm>
              <a:off x="4287" y="1024"/>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195" name="Freeform 34"/>
            <p:cNvSpPr>
              <a:spLocks noChangeAspect="1"/>
            </p:cNvSpPr>
            <p:nvPr/>
          </p:nvSpPr>
          <p:spPr>
            <a:xfrm>
              <a:off x="4287" y="1090"/>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196" name="Freeform 35"/>
            <p:cNvSpPr>
              <a:spLocks noChangeAspect="1"/>
            </p:cNvSpPr>
            <p:nvPr/>
          </p:nvSpPr>
          <p:spPr>
            <a:xfrm>
              <a:off x="1895" y="1024"/>
              <a:ext cx="262" cy="66"/>
            </a:xfrm>
            <a:custGeom>
              <a:avLst/>
              <a:gdLst>
                <a:gd name="txL" fmla="*/ 0 w 262"/>
                <a:gd name="txT" fmla="*/ 0 h 66"/>
                <a:gd name="txR" fmla="*/ 262 w 262"/>
                <a:gd name="txB" fmla="*/ 66 h 66"/>
              </a:gdLst>
              <a:ahLst/>
              <a:cxnLst>
                <a:cxn ang="0">
                  <a:pos x="0" y="66"/>
                </a:cxn>
                <a:cxn ang="0">
                  <a:pos x="0" y="0"/>
                </a:cxn>
                <a:cxn ang="0">
                  <a:pos x="262" y="0"/>
                </a:cxn>
                <a:cxn ang="0">
                  <a:pos x="262" y="66"/>
                </a:cxn>
                <a:cxn ang="0">
                  <a:pos x="0" y="66"/>
                </a:cxn>
                <a:cxn ang="0">
                  <a:pos x="0" y="66"/>
                </a:cxn>
              </a:cxnLst>
              <a:rect l="txL" t="txT" r="txR" b="txB"/>
              <a:pathLst>
                <a:path w="262" h="66">
                  <a:moveTo>
                    <a:pt x="0" y="66"/>
                  </a:moveTo>
                  <a:lnTo>
                    <a:pt x="0" y="0"/>
                  </a:lnTo>
                  <a:lnTo>
                    <a:pt x="262" y="0"/>
                  </a:lnTo>
                  <a:lnTo>
                    <a:pt x="262" y="66"/>
                  </a:lnTo>
                  <a:lnTo>
                    <a:pt x="0" y="66"/>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8197" name="Freeform 36"/>
            <p:cNvSpPr>
              <a:spLocks noChangeAspect="1" noEditPoints="1"/>
            </p:cNvSpPr>
            <p:nvPr/>
          </p:nvSpPr>
          <p:spPr>
            <a:xfrm>
              <a:off x="1852" y="640"/>
              <a:ext cx="36" cy="138"/>
            </a:xfrm>
            <a:custGeom>
              <a:avLst/>
              <a:gdLst>
                <a:gd name="txL" fmla="*/ 0 w 36"/>
                <a:gd name="txT" fmla="*/ 0 h 138"/>
                <a:gd name="txR" fmla="*/ 36 w 36"/>
                <a:gd name="txB" fmla="*/ 138 h 138"/>
              </a:gdLst>
              <a:ahLst/>
              <a:cxnLst>
                <a:cxn ang="0">
                  <a:pos x="29" y="116"/>
                </a:cxn>
                <a:cxn ang="0">
                  <a:pos x="21" y="123"/>
                </a:cxn>
                <a:cxn ang="0">
                  <a:pos x="14" y="130"/>
                </a:cxn>
                <a:cxn ang="0">
                  <a:pos x="14" y="130"/>
                </a:cxn>
                <a:cxn ang="0">
                  <a:pos x="14" y="123"/>
                </a:cxn>
                <a:cxn ang="0">
                  <a:pos x="14" y="116"/>
                </a:cxn>
                <a:cxn ang="0">
                  <a:pos x="14" y="109"/>
                </a:cxn>
                <a:cxn ang="0">
                  <a:pos x="29" y="43"/>
                </a:cxn>
                <a:cxn ang="0">
                  <a:pos x="29" y="43"/>
                </a:cxn>
                <a:cxn ang="0">
                  <a:pos x="14" y="51"/>
                </a:cxn>
                <a:cxn ang="0">
                  <a:pos x="0" y="51"/>
                </a:cxn>
                <a:cxn ang="0">
                  <a:pos x="0" y="51"/>
                </a:cxn>
                <a:cxn ang="0">
                  <a:pos x="14" y="51"/>
                </a:cxn>
                <a:cxn ang="0">
                  <a:pos x="14" y="58"/>
                </a:cxn>
                <a:cxn ang="0">
                  <a:pos x="14" y="72"/>
                </a:cxn>
                <a:cxn ang="0">
                  <a:pos x="7" y="94"/>
                </a:cxn>
                <a:cxn ang="0">
                  <a:pos x="0" y="109"/>
                </a:cxn>
                <a:cxn ang="0">
                  <a:pos x="0" y="123"/>
                </a:cxn>
                <a:cxn ang="0">
                  <a:pos x="0" y="130"/>
                </a:cxn>
                <a:cxn ang="0">
                  <a:pos x="7" y="138"/>
                </a:cxn>
                <a:cxn ang="0">
                  <a:pos x="21" y="130"/>
                </a:cxn>
                <a:cxn ang="0">
                  <a:pos x="36" y="116"/>
                </a:cxn>
                <a:cxn ang="0">
                  <a:pos x="29" y="116"/>
                </a:cxn>
                <a:cxn ang="0">
                  <a:pos x="36" y="7"/>
                </a:cxn>
                <a:cxn ang="0">
                  <a:pos x="36" y="7"/>
                </a:cxn>
                <a:cxn ang="0">
                  <a:pos x="29" y="0"/>
                </a:cxn>
                <a:cxn ang="0">
                  <a:pos x="21" y="0"/>
                </a:cxn>
                <a:cxn ang="0">
                  <a:pos x="21" y="7"/>
                </a:cxn>
                <a:cxn ang="0">
                  <a:pos x="21" y="14"/>
                </a:cxn>
                <a:cxn ang="0">
                  <a:pos x="29" y="22"/>
                </a:cxn>
                <a:cxn ang="0">
                  <a:pos x="36" y="14"/>
                </a:cxn>
                <a:cxn ang="0">
                  <a:pos x="36" y="7"/>
                </a:cxn>
                <a:cxn ang="0">
                  <a:pos x="36" y="7"/>
                </a:cxn>
              </a:cxnLst>
              <a:rect l="txL" t="txT" r="txR" b="txB"/>
              <a:pathLst>
                <a:path w="36" h="138">
                  <a:moveTo>
                    <a:pt x="29" y="116"/>
                  </a:moveTo>
                  <a:lnTo>
                    <a:pt x="21" y="123"/>
                  </a:lnTo>
                  <a:lnTo>
                    <a:pt x="14" y="130"/>
                  </a:lnTo>
                  <a:lnTo>
                    <a:pt x="14" y="123"/>
                  </a:lnTo>
                  <a:lnTo>
                    <a:pt x="14" y="116"/>
                  </a:lnTo>
                  <a:lnTo>
                    <a:pt x="14" y="109"/>
                  </a:lnTo>
                  <a:lnTo>
                    <a:pt x="29" y="43"/>
                  </a:lnTo>
                  <a:lnTo>
                    <a:pt x="14" y="51"/>
                  </a:lnTo>
                  <a:lnTo>
                    <a:pt x="0" y="51"/>
                  </a:lnTo>
                  <a:lnTo>
                    <a:pt x="14" y="51"/>
                  </a:lnTo>
                  <a:lnTo>
                    <a:pt x="14" y="58"/>
                  </a:lnTo>
                  <a:lnTo>
                    <a:pt x="14" y="72"/>
                  </a:lnTo>
                  <a:lnTo>
                    <a:pt x="7" y="94"/>
                  </a:lnTo>
                  <a:lnTo>
                    <a:pt x="0" y="109"/>
                  </a:lnTo>
                  <a:lnTo>
                    <a:pt x="0" y="123"/>
                  </a:lnTo>
                  <a:lnTo>
                    <a:pt x="0" y="130"/>
                  </a:lnTo>
                  <a:lnTo>
                    <a:pt x="7" y="138"/>
                  </a:lnTo>
                  <a:lnTo>
                    <a:pt x="21" y="130"/>
                  </a:lnTo>
                  <a:lnTo>
                    <a:pt x="36" y="116"/>
                  </a:lnTo>
                  <a:lnTo>
                    <a:pt x="29" y="116"/>
                  </a:lnTo>
                  <a:close/>
                  <a:moveTo>
                    <a:pt x="36" y="7"/>
                  </a:moveTo>
                  <a:lnTo>
                    <a:pt x="36" y="7"/>
                  </a:lnTo>
                  <a:lnTo>
                    <a:pt x="29" y="0"/>
                  </a:lnTo>
                  <a:lnTo>
                    <a:pt x="21" y="0"/>
                  </a:lnTo>
                  <a:lnTo>
                    <a:pt x="21" y="7"/>
                  </a:lnTo>
                  <a:lnTo>
                    <a:pt x="21" y="14"/>
                  </a:lnTo>
                  <a:lnTo>
                    <a:pt x="29" y="22"/>
                  </a:lnTo>
                  <a:lnTo>
                    <a:pt x="36" y="14"/>
                  </a:lnTo>
                  <a:lnTo>
                    <a:pt x="36" y="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98" name="Freeform 37"/>
            <p:cNvSpPr>
              <a:spLocks noChangeAspect="1"/>
            </p:cNvSpPr>
            <p:nvPr/>
          </p:nvSpPr>
          <p:spPr>
            <a:xfrm>
              <a:off x="1910" y="720"/>
              <a:ext cx="43" cy="108"/>
            </a:xfrm>
            <a:custGeom>
              <a:avLst/>
              <a:gdLst>
                <a:gd name="txL" fmla="*/ 0 w 43"/>
                <a:gd name="txT" fmla="*/ 0 h 108"/>
                <a:gd name="txR" fmla="*/ 43 w 43"/>
                <a:gd name="txB" fmla="*/ 108 h 108"/>
              </a:gdLst>
              <a:ahLst/>
              <a:cxnLst>
                <a:cxn ang="0">
                  <a:pos x="0" y="108"/>
                </a:cxn>
                <a:cxn ang="0">
                  <a:pos x="43" y="108"/>
                </a:cxn>
                <a:cxn ang="0">
                  <a:pos x="43" y="108"/>
                </a:cxn>
                <a:cxn ang="0">
                  <a:pos x="29" y="108"/>
                </a:cxn>
                <a:cxn ang="0">
                  <a:pos x="29" y="94"/>
                </a:cxn>
                <a:cxn ang="0">
                  <a:pos x="29" y="0"/>
                </a:cxn>
                <a:cxn ang="0">
                  <a:pos x="29" y="0"/>
                </a:cxn>
                <a:cxn ang="0">
                  <a:pos x="0" y="14"/>
                </a:cxn>
                <a:cxn ang="0">
                  <a:pos x="0" y="21"/>
                </a:cxn>
                <a:cxn ang="0">
                  <a:pos x="7" y="14"/>
                </a:cxn>
                <a:cxn ang="0">
                  <a:pos x="7" y="14"/>
                </a:cxn>
                <a:cxn ang="0">
                  <a:pos x="14" y="21"/>
                </a:cxn>
                <a:cxn ang="0">
                  <a:pos x="14" y="21"/>
                </a:cxn>
                <a:cxn ang="0">
                  <a:pos x="14" y="94"/>
                </a:cxn>
                <a:cxn ang="0">
                  <a:pos x="7" y="108"/>
                </a:cxn>
                <a:cxn ang="0">
                  <a:pos x="0" y="108"/>
                </a:cxn>
                <a:cxn ang="0">
                  <a:pos x="0" y="108"/>
                </a:cxn>
              </a:cxnLst>
              <a:rect l="txL" t="txT" r="txR" b="txB"/>
              <a:pathLst>
                <a:path w="43" h="108">
                  <a:moveTo>
                    <a:pt x="0" y="108"/>
                  </a:moveTo>
                  <a:lnTo>
                    <a:pt x="43" y="108"/>
                  </a:lnTo>
                  <a:lnTo>
                    <a:pt x="29" y="108"/>
                  </a:lnTo>
                  <a:lnTo>
                    <a:pt x="29" y="94"/>
                  </a:lnTo>
                  <a:lnTo>
                    <a:pt x="29" y="0"/>
                  </a:lnTo>
                  <a:lnTo>
                    <a:pt x="0" y="14"/>
                  </a:lnTo>
                  <a:lnTo>
                    <a:pt x="0" y="21"/>
                  </a:lnTo>
                  <a:lnTo>
                    <a:pt x="7" y="14"/>
                  </a:lnTo>
                  <a:lnTo>
                    <a:pt x="14" y="21"/>
                  </a:lnTo>
                  <a:lnTo>
                    <a:pt x="14" y="94"/>
                  </a:lnTo>
                  <a:lnTo>
                    <a:pt x="7" y="108"/>
                  </a:lnTo>
                  <a:lnTo>
                    <a:pt x="0" y="10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99" name="Freeform 38"/>
            <p:cNvSpPr>
              <a:spLocks noChangeAspect="1" noEditPoints="1"/>
            </p:cNvSpPr>
            <p:nvPr/>
          </p:nvSpPr>
          <p:spPr>
            <a:xfrm>
              <a:off x="2549" y="640"/>
              <a:ext cx="37" cy="138"/>
            </a:xfrm>
            <a:custGeom>
              <a:avLst/>
              <a:gdLst>
                <a:gd name="txL" fmla="*/ 0 w 37"/>
                <a:gd name="txT" fmla="*/ 0 h 138"/>
                <a:gd name="txR" fmla="*/ 37 w 37"/>
                <a:gd name="txB" fmla="*/ 138 h 138"/>
              </a:gdLst>
              <a:ahLst/>
              <a:cxnLst>
                <a:cxn ang="0">
                  <a:pos x="29" y="116"/>
                </a:cxn>
                <a:cxn ang="0">
                  <a:pos x="22" y="123"/>
                </a:cxn>
                <a:cxn ang="0">
                  <a:pos x="15" y="130"/>
                </a:cxn>
                <a:cxn ang="0">
                  <a:pos x="15" y="130"/>
                </a:cxn>
                <a:cxn ang="0">
                  <a:pos x="15" y="123"/>
                </a:cxn>
                <a:cxn ang="0">
                  <a:pos x="15" y="123"/>
                </a:cxn>
                <a:cxn ang="0">
                  <a:pos x="15" y="116"/>
                </a:cxn>
                <a:cxn ang="0">
                  <a:pos x="37" y="43"/>
                </a:cxn>
                <a:cxn ang="0">
                  <a:pos x="29" y="43"/>
                </a:cxn>
                <a:cxn ang="0">
                  <a:pos x="15" y="51"/>
                </a:cxn>
                <a:cxn ang="0">
                  <a:pos x="0" y="51"/>
                </a:cxn>
                <a:cxn ang="0">
                  <a:pos x="0" y="51"/>
                </a:cxn>
                <a:cxn ang="0">
                  <a:pos x="15" y="51"/>
                </a:cxn>
                <a:cxn ang="0">
                  <a:pos x="15" y="58"/>
                </a:cxn>
                <a:cxn ang="0">
                  <a:pos x="15" y="72"/>
                </a:cxn>
                <a:cxn ang="0">
                  <a:pos x="8" y="94"/>
                </a:cxn>
                <a:cxn ang="0">
                  <a:pos x="0" y="109"/>
                </a:cxn>
                <a:cxn ang="0">
                  <a:pos x="0" y="123"/>
                </a:cxn>
                <a:cxn ang="0">
                  <a:pos x="0" y="130"/>
                </a:cxn>
                <a:cxn ang="0">
                  <a:pos x="8" y="138"/>
                </a:cxn>
                <a:cxn ang="0">
                  <a:pos x="22" y="130"/>
                </a:cxn>
                <a:cxn ang="0">
                  <a:pos x="37" y="116"/>
                </a:cxn>
                <a:cxn ang="0">
                  <a:pos x="29" y="116"/>
                </a:cxn>
                <a:cxn ang="0">
                  <a:pos x="37" y="14"/>
                </a:cxn>
                <a:cxn ang="0">
                  <a:pos x="37" y="7"/>
                </a:cxn>
                <a:cxn ang="0">
                  <a:pos x="29" y="0"/>
                </a:cxn>
                <a:cxn ang="0">
                  <a:pos x="29" y="7"/>
                </a:cxn>
                <a:cxn ang="0">
                  <a:pos x="22" y="14"/>
                </a:cxn>
                <a:cxn ang="0">
                  <a:pos x="29" y="22"/>
                </a:cxn>
                <a:cxn ang="0">
                  <a:pos x="29" y="22"/>
                </a:cxn>
                <a:cxn ang="0">
                  <a:pos x="37" y="22"/>
                </a:cxn>
                <a:cxn ang="0">
                  <a:pos x="37" y="14"/>
                </a:cxn>
                <a:cxn ang="0">
                  <a:pos x="37" y="14"/>
                </a:cxn>
              </a:cxnLst>
              <a:rect l="txL" t="txT" r="txR" b="txB"/>
              <a:pathLst>
                <a:path w="37" h="138">
                  <a:moveTo>
                    <a:pt x="29" y="116"/>
                  </a:moveTo>
                  <a:lnTo>
                    <a:pt x="22" y="123"/>
                  </a:lnTo>
                  <a:lnTo>
                    <a:pt x="15" y="130"/>
                  </a:lnTo>
                  <a:lnTo>
                    <a:pt x="15" y="123"/>
                  </a:lnTo>
                  <a:lnTo>
                    <a:pt x="15" y="116"/>
                  </a:lnTo>
                  <a:lnTo>
                    <a:pt x="37" y="43"/>
                  </a:lnTo>
                  <a:lnTo>
                    <a:pt x="29" y="43"/>
                  </a:lnTo>
                  <a:lnTo>
                    <a:pt x="15" y="51"/>
                  </a:lnTo>
                  <a:lnTo>
                    <a:pt x="0" y="51"/>
                  </a:lnTo>
                  <a:lnTo>
                    <a:pt x="15" y="51"/>
                  </a:lnTo>
                  <a:lnTo>
                    <a:pt x="15" y="58"/>
                  </a:lnTo>
                  <a:lnTo>
                    <a:pt x="15" y="72"/>
                  </a:lnTo>
                  <a:lnTo>
                    <a:pt x="8" y="94"/>
                  </a:lnTo>
                  <a:lnTo>
                    <a:pt x="0" y="109"/>
                  </a:lnTo>
                  <a:lnTo>
                    <a:pt x="0" y="123"/>
                  </a:lnTo>
                  <a:lnTo>
                    <a:pt x="0" y="130"/>
                  </a:lnTo>
                  <a:lnTo>
                    <a:pt x="8" y="138"/>
                  </a:lnTo>
                  <a:lnTo>
                    <a:pt x="22" y="130"/>
                  </a:lnTo>
                  <a:lnTo>
                    <a:pt x="37" y="116"/>
                  </a:lnTo>
                  <a:lnTo>
                    <a:pt x="29" y="116"/>
                  </a:lnTo>
                  <a:close/>
                  <a:moveTo>
                    <a:pt x="37" y="14"/>
                  </a:moveTo>
                  <a:lnTo>
                    <a:pt x="37" y="7"/>
                  </a:lnTo>
                  <a:lnTo>
                    <a:pt x="29" y="0"/>
                  </a:lnTo>
                  <a:lnTo>
                    <a:pt x="29" y="7"/>
                  </a:lnTo>
                  <a:lnTo>
                    <a:pt x="22" y="14"/>
                  </a:lnTo>
                  <a:lnTo>
                    <a:pt x="29" y="22"/>
                  </a:lnTo>
                  <a:lnTo>
                    <a:pt x="37" y="22"/>
                  </a:lnTo>
                  <a:lnTo>
                    <a:pt x="37" y="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00" name="Freeform 39"/>
            <p:cNvSpPr>
              <a:spLocks noChangeAspect="1"/>
            </p:cNvSpPr>
            <p:nvPr/>
          </p:nvSpPr>
          <p:spPr>
            <a:xfrm>
              <a:off x="2593" y="720"/>
              <a:ext cx="65" cy="108"/>
            </a:xfrm>
            <a:custGeom>
              <a:avLst/>
              <a:gdLst>
                <a:gd name="txL" fmla="*/ 0 w 65"/>
                <a:gd name="txT" fmla="*/ 0 h 108"/>
                <a:gd name="txR" fmla="*/ 65 w 65"/>
                <a:gd name="txB" fmla="*/ 108 h 108"/>
              </a:gdLst>
              <a:ahLst/>
              <a:cxnLst>
                <a:cxn ang="0">
                  <a:pos x="65" y="87"/>
                </a:cxn>
                <a:cxn ang="0">
                  <a:pos x="65" y="87"/>
                </a:cxn>
                <a:cxn ang="0">
                  <a:pos x="58" y="94"/>
                </a:cxn>
                <a:cxn ang="0">
                  <a:pos x="51" y="101"/>
                </a:cxn>
                <a:cxn ang="0">
                  <a:pos x="15" y="101"/>
                </a:cxn>
                <a:cxn ang="0">
                  <a:pos x="44" y="72"/>
                </a:cxn>
                <a:cxn ang="0">
                  <a:pos x="51" y="58"/>
                </a:cxn>
                <a:cxn ang="0">
                  <a:pos x="58" y="29"/>
                </a:cxn>
                <a:cxn ang="0">
                  <a:pos x="51" y="7"/>
                </a:cxn>
                <a:cxn ang="0">
                  <a:pos x="36" y="0"/>
                </a:cxn>
                <a:cxn ang="0">
                  <a:pos x="15" y="7"/>
                </a:cxn>
                <a:cxn ang="0">
                  <a:pos x="0" y="36"/>
                </a:cxn>
                <a:cxn ang="0">
                  <a:pos x="7" y="36"/>
                </a:cxn>
                <a:cxn ang="0">
                  <a:pos x="15" y="21"/>
                </a:cxn>
                <a:cxn ang="0">
                  <a:pos x="29" y="14"/>
                </a:cxn>
                <a:cxn ang="0">
                  <a:pos x="44" y="21"/>
                </a:cxn>
                <a:cxn ang="0">
                  <a:pos x="44" y="36"/>
                </a:cxn>
                <a:cxn ang="0">
                  <a:pos x="44" y="58"/>
                </a:cxn>
                <a:cxn ang="0">
                  <a:pos x="29" y="79"/>
                </a:cxn>
                <a:cxn ang="0">
                  <a:pos x="0" y="108"/>
                </a:cxn>
                <a:cxn ang="0">
                  <a:pos x="0" y="108"/>
                </a:cxn>
                <a:cxn ang="0">
                  <a:pos x="58" y="108"/>
                </a:cxn>
                <a:cxn ang="0">
                  <a:pos x="65" y="87"/>
                </a:cxn>
              </a:cxnLst>
              <a:rect l="txL" t="txT" r="txR" b="txB"/>
              <a:pathLst>
                <a:path w="65" h="108">
                  <a:moveTo>
                    <a:pt x="65" y="87"/>
                  </a:moveTo>
                  <a:lnTo>
                    <a:pt x="65" y="87"/>
                  </a:lnTo>
                  <a:lnTo>
                    <a:pt x="58" y="94"/>
                  </a:lnTo>
                  <a:lnTo>
                    <a:pt x="51" y="101"/>
                  </a:lnTo>
                  <a:lnTo>
                    <a:pt x="15" y="101"/>
                  </a:lnTo>
                  <a:lnTo>
                    <a:pt x="44" y="72"/>
                  </a:lnTo>
                  <a:lnTo>
                    <a:pt x="51" y="58"/>
                  </a:lnTo>
                  <a:lnTo>
                    <a:pt x="58" y="29"/>
                  </a:lnTo>
                  <a:lnTo>
                    <a:pt x="51" y="7"/>
                  </a:lnTo>
                  <a:lnTo>
                    <a:pt x="36" y="0"/>
                  </a:lnTo>
                  <a:lnTo>
                    <a:pt x="15" y="7"/>
                  </a:lnTo>
                  <a:lnTo>
                    <a:pt x="0" y="36"/>
                  </a:lnTo>
                  <a:lnTo>
                    <a:pt x="7" y="36"/>
                  </a:lnTo>
                  <a:lnTo>
                    <a:pt x="15" y="21"/>
                  </a:lnTo>
                  <a:lnTo>
                    <a:pt x="29" y="14"/>
                  </a:lnTo>
                  <a:lnTo>
                    <a:pt x="44" y="21"/>
                  </a:lnTo>
                  <a:lnTo>
                    <a:pt x="44" y="36"/>
                  </a:lnTo>
                  <a:lnTo>
                    <a:pt x="44" y="58"/>
                  </a:lnTo>
                  <a:lnTo>
                    <a:pt x="29" y="79"/>
                  </a:lnTo>
                  <a:lnTo>
                    <a:pt x="0" y="108"/>
                  </a:lnTo>
                  <a:lnTo>
                    <a:pt x="58" y="108"/>
                  </a:lnTo>
                  <a:lnTo>
                    <a:pt x="65" y="8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01" name="Freeform 40"/>
            <p:cNvSpPr>
              <a:spLocks noChangeAspect="1" noEditPoints="1"/>
            </p:cNvSpPr>
            <p:nvPr/>
          </p:nvSpPr>
          <p:spPr>
            <a:xfrm>
              <a:off x="3276" y="640"/>
              <a:ext cx="37" cy="138"/>
            </a:xfrm>
            <a:custGeom>
              <a:avLst/>
              <a:gdLst>
                <a:gd name="txL" fmla="*/ 0 w 37"/>
                <a:gd name="txT" fmla="*/ 0 h 138"/>
                <a:gd name="txR" fmla="*/ 37 w 37"/>
                <a:gd name="txB" fmla="*/ 138 h 138"/>
              </a:gdLst>
              <a:ahLst/>
              <a:cxnLst>
                <a:cxn ang="0">
                  <a:pos x="29" y="116"/>
                </a:cxn>
                <a:cxn ang="0">
                  <a:pos x="22" y="123"/>
                </a:cxn>
                <a:cxn ang="0">
                  <a:pos x="15" y="130"/>
                </a:cxn>
                <a:cxn ang="0">
                  <a:pos x="15" y="130"/>
                </a:cxn>
                <a:cxn ang="0">
                  <a:pos x="15" y="123"/>
                </a:cxn>
                <a:cxn ang="0">
                  <a:pos x="15" y="116"/>
                </a:cxn>
                <a:cxn ang="0">
                  <a:pos x="29" y="43"/>
                </a:cxn>
                <a:cxn ang="0">
                  <a:pos x="29" y="43"/>
                </a:cxn>
                <a:cxn ang="0">
                  <a:pos x="15" y="51"/>
                </a:cxn>
                <a:cxn ang="0">
                  <a:pos x="0" y="51"/>
                </a:cxn>
                <a:cxn ang="0">
                  <a:pos x="0" y="51"/>
                </a:cxn>
                <a:cxn ang="0">
                  <a:pos x="8" y="58"/>
                </a:cxn>
                <a:cxn ang="0">
                  <a:pos x="15" y="58"/>
                </a:cxn>
                <a:cxn ang="0">
                  <a:pos x="15" y="72"/>
                </a:cxn>
                <a:cxn ang="0">
                  <a:pos x="8" y="94"/>
                </a:cxn>
                <a:cxn ang="0">
                  <a:pos x="0" y="116"/>
                </a:cxn>
                <a:cxn ang="0">
                  <a:pos x="0" y="130"/>
                </a:cxn>
                <a:cxn ang="0">
                  <a:pos x="0" y="138"/>
                </a:cxn>
                <a:cxn ang="0">
                  <a:pos x="8" y="138"/>
                </a:cxn>
                <a:cxn ang="0">
                  <a:pos x="22" y="130"/>
                </a:cxn>
                <a:cxn ang="0">
                  <a:pos x="29" y="116"/>
                </a:cxn>
                <a:cxn ang="0">
                  <a:pos x="29" y="116"/>
                </a:cxn>
                <a:cxn ang="0">
                  <a:pos x="37" y="14"/>
                </a:cxn>
                <a:cxn ang="0">
                  <a:pos x="37" y="7"/>
                </a:cxn>
                <a:cxn ang="0">
                  <a:pos x="29" y="0"/>
                </a:cxn>
                <a:cxn ang="0">
                  <a:pos x="22" y="7"/>
                </a:cxn>
                <a:cxn ang="0">
                  <a:pos x="22" y="14"/>
                </a:cxn>
                <a:cxn ang="0">
                  <a:pos x="22" y="22"/>
                </a:cxn>
                <a:cxn ang="0">
                  <a:pos x="29" y="22"/>
                </a:cxn>
                <a:cxn ang="0">
                  <a:pos x="37" y="22"/>
                </a:cxn>
                <a:cxn ang="0">
                  <a:pos x="37" y="14"/>
                </a:cxn>
                <a:cxn ang="0">
                  <a:pos x="37" y="14"/>
                </a:cxn>
              </a:cxnLst>
              <a:rect l="txL" t="txT" r="txR" b="txB"/>
              <a:pathLst>
                <a:path w="37" h="138">
                  <a:moveTo>
                    <a:pt x="29" y="116"/>
                  </a:moveTo>
                  <a:lnTo>
                    <a:pt x="22" y="123"/>
                  </a:lnTo>
                  <a:lnTo>
                    <a:pt x="15" y="130"/>
                  </a:lnTo>
                  <a:lnTo>
                    <a:pt x="15" y="123"/>
                  </a:lnTo>
                  <a:lnTo>
                    <a:pt x="15" y="116"/>
                  </a:lnTo>
                  <a:lnTo>
                    <a:pt x="29" y="43"/>
                  </a:lnTo>
                  <a:lnTo>
                    <a:pt x="15" y="51"/>
                  </a:lnTo>
                  <a:lnTo>
                    <a:pt x="0" y="51"/>
                  </a:lnTo>
                  <a:lnTo>
                    <a:pt x="8" y="58"/>
                  </a:lnTo>
                  <a:lnTo>
                    <a:pt x="15" y="58"/>
                  </a:lnTo>
                  <a:lnTo>
                    <a:pt x="15" y="72"/>
                  </a:lnTo>
                  <a:lnTo>
                    <a:pt x="8" y="94"/>
                  </a:lnTo>
                  <a:lnTo>
                    <a:pt x="0" y="116"/>
                  </a:lnTo>
                  <a:lnTo>
                    <a:pt x="0" y="130"/>
                  </a:lnTo>
                  <a:lnTo>
                    <a:pt x="0" y="138"/>
                  </a:lnTo>
                  <a:lnTo>
                    <a:pt x="8" y="138"/>
                  </a:lnTo>
                  <a:lnTo>
                    <a:pt x="22" y="130"/>
                  </a:lnTo>
                  <a:lnTo>
                    <a:pt x="29" y="116"/>
                  </a:lnTo>
                  <a:close/>
                  <a:moveTo>
                    <a:pt x="37" y="14"/>
                  </a:moveTo>
                  <a:lnTo>
                    <a:pt x="37" y="7"/>
                  </a:lnTo>
                  <a:lnTo>
                    <a:pt x="29" y="0"/>
                  </a:lnTo>
                  <a:lnTo>
                    <a:pt x="22" y="7"/>
                  </a:lnTo>
                  <a:lnTo>
                    <a:pt x="22" y="14"/>
                  </a:lnTo>
                  <a:lnTo>
                    <a:pt x="22" y="22"/>
                  </a:lnTo>
                  <a:lnTo>
                    <a:pt x="29" y="22"/>
                  </a:lnTo>
                  <a:lnTo>
                    <a:pt x="37" y="22"/>
                  </a:lnTo>
                  <a:lnTo>
                    <a:pt x="37" y="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02" name="Freeform 41"/>
            <p:cNvSpPr>
              <a:spLocks noChangeAspect="1"/>
            </p:cNvSpPr>
            <p:nvPr/>
          </p:nvSpPr>
          <p:spPr>
            <a:xfrm>
              <a:off x="3320" y="727"/>
              <a:ext cx="58" cy="109"/>
            </a:xfrm>
            <a:custGeom>
              <a:avLst/>
              <a:gdLst>
                <a:gd name="txL" fmla="*/ 0 w 58"/>
                <a:gd name="txT" fmla="*/ 0 h 109"/>
                <a:gd name="txR" fmla="*/ 58 w 58"/>
                <a:gd name="txB" fmla="*/ 109 h 109"/>
              </a:gdLst>
              <a:ahLst/>
              <a:cxnLst>
                <a:cxn ang="0">
                  <a:pos x="22" y="51"/>
                </a:cxn>
                <a:cxn ang="0">
                  <a:pos x="29" y="51"/>
                </a:cxn>
                <a:cxn ang="0">
                  <a:pos x="36" y="58"/>
                </a:cxn>
                <a:cxn ang="0">
                  <a:pos x="44" y="65"/>
                </a:cxn>
                <a:cxn ang="0">
                  <a:pos x="51" y="72"/>
                </a:cxn>
                <a:cxn ang="0">
                  <a:pos x="44" y="94"/>
                </a:cxn>
                <a:cxn ang="0">
                  <a:pos x="29" y="101"/>
                </a:cxn>
                <a:cxn ang="0">
                  <a:pos x="22" y="101"/>
                </a:cxn>
                <a:cxn ang="0">
                  <a:pos x="7" y="94"/>
                </a:cxn>
                <a:cxn ang="0">
                  <a:pos x="7" y="94"/>
                </a:cxn>
                <a:cxn ang="0">
                  <a:pos x="0" y="94"/>
                </a:cxn>
                <a:cxn ang="0">
                  <a:pos x="7" y="109"/>
                </a:cxn>
                <a:cxn ang="0">
                  <a:pos x="22" y="109"/>
                </a:cxn>
                <a:cxn ang="0">
                  <a:pos x="51" y="101"/>
                </a:cxn>
                <a:cxn ang="0">
                  <a:pos x="58" y="72"/>
                </a:cxn>
                <a:cxn ang="0">
                  <a:pos x="51" y="51"/>
                </a:cxn>
                <a:cxn ang="0">
                  <a:pos x="44" y="43"/>
                </a:cxn>
                <a:cxn ang="0">
                  <a:pos x="51" y="36"/>
                </a:cxn>
                <a:cxn ang="0">
                  <a:pos x="51" y="22"/>
                </a:cxn>
                <a:cxn ang="0">
                  <a:pos x="51" y="7"/>
                </a:cxn>
                <a:cxn ang="0">
                  <a:pos x="44" y="0"/>
                </a:cxn>
                <a:cxn ang="0">
                  <a:pos x="29" y="0"/>
                </a:cxn>
                <a:cxn ang="0">
                  <a:pos x="14" y="0"/>
                </a:cxn>
                <a:cxn ang="0">
                  <a:pos x="7" y="7"/>
                </a:cxn>
                <a:cxn ang="0">
                  <a:pos x="0" y="22"/>
                </a:cxn>
                <a:cxn ang="0">
                  <a:pos x="7" y="22"/>
                </a:cxn>
                <a:cxn ang="0">
                  <a:pos x="14" y="14"/>
                </a:cxn>
                <a:cxn ang="0">
                  <a:pos x="29" y="7"/>
                </a:cxn>
                <a:cxn ang="0">
                  <a:pos x="36" y="14"/>
                </a:cxn>
                <a:cxn ang="0">
                  <a:pos x="44" y="22"/>
                </a:cxn>
                <a:cxn ang="0">
                  <a:pos x="36" y="36"/>
                </a:cxn>
                <a:cxn ang="0">
                  <a:pos x="22" y="51"/>
                </a:cxn>
                <a:cxn ang="0">
                  <a:pos x="22" y="51"/>
                </a:cxn>
              </a:cxnLst>
              <a:rect l="txL" t="txT" r="txR" b="txB"/>
              <a:pathLst>
                <a:path w="58" h="109">
                  <a:moveTo>
                    <a:pt x="22" y="51"/>
                  </a:moveTo>
                  <a:lnTo>
                    <a:pt x="29" y="51"/>
                  </a:lnTo>
                  <a:lnTo>
                    <a:pt x="36" y="58"/>
                  </a:lnTo>
                  <a:lnTo>
                    <a:pt x="44" y="65"/>
                  </a:lnTo>
                  <a:lnTo>
                    <a:pt x="51" y="72"/>
                  </a:lnTo>
                  <a:lnTo>
                    <a:pt x="44" y="94"/>
                  </a:lnTo>
                  <a:lnTo>
                    <a:pt x="29" y="101"/>
                  </a:lnTo>
                  <a:lnTo>
                    <a:pt x="22" y="101"/>
                  </a:lnTo>
                  <a:lnTo>
                    <a:pt x="7" y="94"/>
                  </a:lnTo>
                  <a:lnTo>
                    <a:pt x="0" y="94"/>
                  </a:lnTo>
                  <a:lnTo>
                    <a:pt x="7" y="109"/>
                  </a:lnTo>
                  <a:lnTo>
                    <a:pt x="22" y="109"/>
                  </a:lnTo>
                  <a:lnTo>
                    <a:pt x="51" y="101"/>
                  </a:lnTo>
                  <a:lnTo>
                    <a:pt x="58" y="72"/>
                  </a:lnTo>
                  <a:lnTo>
                    <a:pt x="51" y="51"/>
                  </a:lnTo>
                  <a:lnTo>
                    <a:pt x="44" y="43"/>
                  </a:lnTo>
                  <a:lnTo>
                    <a:pt x="51" y="36"/>
                  </a:lnTo>
                  <a:lnTo>
                    <a:pt x="51" y="22"/>
                  </a:lnTo>
                  <a:lnTo>
                    <a:pt x="51" y="7"/>
                  </a:lnTo>
                  <a:lnTo>
                    <a:pt x="44" y="0"/>
                  </a:lnTo>
                  <a:lnTo>
                    <a:pt x="29" y="0"/>
                  </a:lnTo>
                  <a:lnTo>
                    <a:pt x="14" y="0"/>
                  </a:lnTo>
                  <a:lnTo>
                    <a:pt x="7" y="7"/>
                  </a:lnTo>
                  <a:lnTo>
                    <a:pt x="0" y="22"/>
                  </a:lnTo>
                  <a:lnTo>
                    <a:pt x="7" y="22"/>
                  </a:lnTo>
                  <a:lnTo>
                    <a:pt x="14" y="14"/>
                  </a:lnTo>
                  <a:lnTo>
                    <a:pt x="29" y="7"/>
                  </a:lnTo>
                  <a:lnTo>
                    <a:pt x="36" y="14"/>
                  </a:lnTo>
                  <a:lnTo>
                    <a:pt x="44" y="22"/>
                  </a:lnTo>
                  <a:lnTo>
                    <a:pt x="36" y="36"/>
                  </a:lnTo>
                  <a:lnTo>
                    <a:pt x="22" y="5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03" name="Freeform 42"/>
            <p:cNvSpPr>
              <a:spLocks noChangeAspect="1"/>
            </p:cNvSpPr>
            <p:nvPr/>
          </p:nvSpPr>
          <p:spPr>
            <a:xfrm>
              <a:off x="1990" y="662"/>
              <a:ext cx="72" cy="159"/>
            </a:xfrm>
            <a:custGeom>
              <a:avLst/>
              <a:gdLst>
                <a:gd name="txL" fmla="*/ 0 w 72"/>
                <a:gd name="txT" fmla="*/ 0 h 159"/>
                <a:gd name="txR" fmla="*/ 72 w 72"/>
                <a:gd name="txB" fmla="*/ 159 h 159"/>
              </a:gdLst>
              <a:ahLst/>
              <a:cxnLst>
                <a:cxn ang="0">
                  <a:pos x="0" y="0"/>
                </a:cxn>
                <a:cxn ang="0">
                  <a:pos x="36" y="159"/>
                </a:cxn>
                <a:cxn ang="0">
                  <a:pos x="72" y="0"/>
                </a:cxn>
                <a:cxn ang="0">
                  <a:pos x="0" y="0"/>
                </a:cxn>
                <a:cxn ang="0">
                  <a:pos x="0" y="0"/>
                </a:cxn>
              </a:cxnLst>
              <a:rect l="txL" t="txT" r="txR" b="txB"/>
              <a:pathLst>
                <a:path w="72" h="159">
                  <a:moveTo>
                    <a:pt x="0" y="0"/>
                  </a:moveTo>
                  <a:lnTo>
                    <a:pt x="36" y="159"/>
                  </a:lnTo>
                  <a:lnTo>
                    <a:pt x="72"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04" name="Freeform 43"/>
            <p:cNvSpPr>
              <a:spLocks noChangeAspect="1"/>
            </p:cNvSpPr>
            <p:nvPr/>
          </p:nvSpPr>
          <p:spPr>
            <a:xfrm>
              <a:off x="2746" y="451"/>
              <a:ext cx="1" cy="1205"/>
            </a:xfrm>
            <a:custGeom>
              <a:avLst/>
              <a:gdLst>
                <a:gd name="txL" fmla="*/ 0 w 1"/>
                <a:gd name="txT" fmla="*/ 0 h 1205"/>
                <a:gd name="txR" fmla="*/ 1 w 1"/>
                <a:gd name="txB" fmla="*/ 1205 h 1205"/>
              </a:gdLst>
              <a:ahLst/>
              <a:cxnLst>
                <a:cxn ang="0">
                  <a:pos x="0" y="0"/>
                </a:cxn>
                <a:cxn ang="0">
                  <a:pos x="0" y="1205"/>
                </a:cxn>
                <a:cxn ang="0">
                  <a:pos x="0" y="0"/>
                </a:cxn>
                <a:cxn ang="0">
                  <a:pos x="0" y="0"/>
                </a:cxn>
              </a:cxnLst>
              <a:rect l="txL" t="txT" r="txR" b="txB"/>
              <a:pathLst>
                <a:path w="1" h="1205">
                  <a:moveTo>
                    <a:pt x="0" y="0"/>
                  </a:moveTo>
                  <a:lnTo>
                    <a:pt x="0" y="1205"/>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05" name="Freeform 44"/>
            <p:cNvSpPr>
              <a:spLocks noChangeAspect="1"/>
            </p:cNvSpPr>
            <p:nvPr/>
          </p:nvSpPr>
          <p:spPr>
            <a:xfrm>
              <a:off x="2339" y="966"/>
              <a:ext cx="123" cy="138"/>
            </a:xfrm>
            <a:custGeom>
              <a:avLst/>
              <a:gdLst>
                <a:gd name="txL" fmla="*/ 0 w 123"/>
                <a:gd name="txT" fmla="*/ 0 h 138"/>
                <a:gd name="txR" fmla="*/ 123 w 123"/>
                <a:gd name="txB" fmla="*/ 138 h 138"/>
              </a:gdLst>
              <a:ahLst/>
              <a:cxnLst>
                <a:cxn ang="0">
                  <a:pos x="116" y="37"/>
                </a:cxn>
                <a:cxn ang="0">
                  <a:pos x="123" y="0"/>
                </a:cxn>
                <a:cxn ang="0">
                  <a:pos x="116" y="0"/>
                </a:cxn>
                <a:cxn ang="0">
                  <a:pos x="116" y="0"/>
                </a:cxn>
                <a:cxn ang="0">
                  <a:pos x="109" y="0"/>
                </a:cxn>
                <a:cxn ang="0">
                  <a:pos x="101" y="0"/>
                </a:cxn>
                <a:cxn ang="0">
                  <a:pos x="80" y="0"/>
                </a:cxn>
                <a:cxn ang="0">
                  <a:pos x="50" y="8"/>
                </a:cxn>
                <a:cxn ang="0">
                  <a:pos x="21" y="29"/>
                </a:cxn>
                <a:cxn ang="0">
                  <a:pos x="7" y="58"/>
                </a:cxn>
                <a:cxn ang="0">
                  <a:pos x="0" y="87"/>
                </a:cxn>
                <a:cxn ang="0">
                  <a:pos x="7" y="109"/>
                </a:cxn>
                <a:cxn ang="0">
                  <a:pos x="14" y="124"/>
                </a:cxn>
                <a:cxn ang="0">
                  <a:pos x="50" y="138"/>
                </a:cxn>
                <a:cxn ang="0">
                  <a:pos x="72" y="138"/>
                </a:cxn>
                <a:cxn ang="0">
                  <a:pos x="87" y="124"/>
                </a:cxn>
                <a:cxn ang="0">
                  <a:pos x="101" y="109"/>
                </a:cxn>
                <a:cxn ang="0">
                  <a:pos x="101" y="109"/>
                </a:cxn>
                <a:cxn ang="0">
                  <a:pos x="87" y="124"/>
                </a:cxn>
                <a:cxn ang="0">
                  <a:pos x="58" y="131"/>
                </a:cxn>
                <a:cxn ang="0">
                  <a:pos x="29" y="124"/>
                </a:cxn>
                <a:cxn ang="0">
                  <a:pos x="21" y="87"/>
                </a:cxn>
                <a:cxn ang="0">
                  <a:pos x="29" y="66"/>
                </a:cxn>
                <a:cxn ang="0">
                  <a:pos x="36" y="37"/>
                </a:cxn>
                <a:cxn ang="0">
                  <a:pos x="58" y="15"/>
                </a:cxn>
                <a:cxn ang="0">
                  <a:pos x="80" y="8"/>
                </a:cxn>
                <a:cxn ang="0">
                  <a:pos x="94" y="15"/>
                </a:cxn>
                <a:cxn ang="0">
                  <a:pos x="109" y="22"/>
                </a:cxn>
                <a:cxn ang="0">
                  <a:pos x="109" y="37"/>
                </a:cxn>
                <a:cxn ang="0">
                  <a:pos x="116" y="37"/>
                </a:cxn>
              </a:cxnLst>
              <a:rect l="txL" t="txT" r="txR" b="txB"/>
              <a:pathLst>
                <a:path w="123" h="138">
                  <a:moveTo>
                    <a:pt x="116" y="37"/>
                  </a:moveTo>
                  <a:lnTo>
                    <a:pt x="123" y="0"/>
                  </a:lnTo>
                  <a:lnTo>
                    <a:pt x="116" y="0"/>
                  </a:lnTo>
                  <a:lnTo>
                    <a:pt x="109" y="0"/>
                  </a:lnTo>
                  <a:lnTo>
                    <a:pt x="101" y="0"/>
                  </a:lnTo>
                  <a:lnTo>
                    <a:pt x="80" y="0"/>
                  </a:lnTo>
                  <a:lnTo>
                    <a:pt x="50" y="8"/>
                  </a:lnTo>
                  <a:lnTo>
                    <a:pt x="21" y="29"/>
                  </a:lnTo>
                  <a:lnTo>
                    <a:pt x="7" y="58"/>
                  </a:lnTo>
                  <a:lnTo>
                    <a:pt x="0" y="87"/>
                  </a:lnTo>
                  <a:lnTo>
                    <a:pt x="7" y="109"/>
                  </a:lnTo>
                  <a:lnTo>
                    <a:pt x="14" y="124"/>
                  </a:lnTo>
                  <a:lnTo>
                    <a:pt x="50" y="138"/>
                  </a:lnTo>
                  <a:lnTo>
                    <a:pt x="72" y="138"/>
                  </a:lnTo>
                  <a:lnTo>
                    <a:pt x="87" y="124"/>
                  </a:lnTo>
                  <a:lnTo>
                    <a:pt x="101" y="109"/>
                  </a:lnTo>
                  <a:lnTo>
                    <a:pt x="87" y="124"/>
                  </a:lnTo>
                  <a:lnTo>
                    <a:pt x="58" y="131"/>
                  </a:lnTo>
                  <a:lnTo>
                    <a:pt x="29" y="124"/>
                  </a:lnTo>
                  <a:lnTo>
                    <a:pt x="21" y="87"/>
                  </a:lnTo>
                  <a:lnTo>
                    <a:pt x="29" y="66"/>
                  </a:lnTo>
                  <a:lnTo>
                    <a:pt x="36" y="37"/>
                  </a:lnTo>
                  <a:lnTo>
                    <a:pt x="58" y="15"/>
                  </a:lnTo>
                  <a:lnTo>
                    <a:pt x="80" y="8"/>
                  </a:lnTo>
                  <a:lnTo>
                    <a:pt x="94" y="15"/>
                  </a:lnTo>
                  <a:lnTo>
                    <a:pt x="109" y="22"/>
                  </a:lnTo>
                  <a:lnTo>
                    <a:pt x="109" y="37"/>
                  </a:lnTo>
                  <a:lnTo>
                    <a:pt x="116" y="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06" name="Freeform 45"/>
            <p:cNvSpPr>
              <a:spLocks noChangeAspect="1"/>
            </p:cNvSpPr>
            <p:nvPr/>
          </p:nvSpPr>
          <p:spPr>
            <a:xfrm>
              <a:off x="2462" y="1046"/>
              <a:ext cx="66" cy="109"/>
            </a:xfrm>
            <a:custGeom>
              <a:avLst/>
              <a:gdLst>
                <a:gd name="txL" fmla="*/ 0 w 66"/>
                <a:gd name="txT" fmla="*/ 0 h 109"/>
                <a:gd name="txR" fmla="*/ 66 w 66"/>
                <a:gd name="txB" fmla="*/ 109 h 109"/>
              </a:gdLst>
              <a:ahLst/>
              <a:cxnLst>
                <a:cxn ang="0">
                  <a:pos x="66" y="87"/>
                </a:cxn>
                <a:cxn ang="0">
                  <a:pos x="58" y="87"/>
                </a:cxn>
                <a:cxn ang="0">
                  <a:pos x="51" y="95"/>
                </a:cxn>
                <a:cxn ang="0">
                  <a:pos x="44" y="95"/>
                </a:cxn>
                <a:cxn ang="0">
                  <a:pos x="15" y="95"/>
                </a:cxn>
                <a:cxn ang="0">
                  <a:pos x="36" y="73"/>
                </a:cxn>
                <a:cxn ang="0">
                  <a:pos x="51" y="58"/>
                </a:cxn>
                <a:cxn ang="0">
                  <a:pos x="58" y="29"/>
                </a:cxn>
                <a:cxn ang="0">
                  <a:pos x="51" y="7"/>
                </a:cxn>
                <a:cxn ang="0">
                  <a:pos x="29" y="0"/>
                </a:cxn>
                <a:cxn ang="0">
                  <a:pos x="7" y="7"/>
                </a:cxn>
                <a:cxn ang="0">
                  <a:pos x="0" y="22"/>
                </a:cxn>
                <a:cxn ang="0">
                  <a:pos x="0" y="37"/>
                </a:cxn>
                <a:cxn ang="0">
                  <a:pos x="0" y="37"/>
                </a:cxn>
                <a:cxn ang="0">
                  <a:pos x="7" y="22"/>
                </a:cxn>
                <a:cxn ang="0">
                  <a:pos x="22" y="15"/>
                </a:cxn>
                <a:cxn ang="0">
                  <a:pos x="36" y="22"/>
                </a:cxn>
                <a:cxn ang="0">
                  <a:pos x="44" y="37"/>
                </a:cxn>
                <a:cxn ang="0">
                  <a:pos x="36" y="58"/>
                </a:cxn>
                <a:cxn ang="0">
                  <a:pos x="22" y="80"/>
                </a:cxn>
                <a:cxn ang="0">
                  <a:pos x="0" y="109"/>
                </a:cxn>
                <a:cxn ang="0">
                  <a:pos x="0" y="109"/>
                </a:cxn>
                <a:cxn ang="0">
                  <a:pos x="58" y="109"/>
                </a:cxn>
                <a:cxn ang="0">
                  <a:pos x="66" y="87"/>
                </a:cxn>
              </a:cxnLst>
              <a:rect l="txL" t="txT" r="txR" b="txB"/>
              <a:pathLst>
                <a:path w="66" h="109">
                  <a:moveTo>
                    <a:pt x="66" y="87"/>
                  </a:moveTo>
                  <a:lnTo>
                    <a:pt x="58" y="87"/>
                  </a:lnTo>
                  <a:lnTo>
                    <a:pt x="51" y="95"/>
                  </a:lnTo>
                  <a:lnTo>
                    <a:pt x="44" y="95"/>
                  </a:lnTo>
                  <a:lnTo>
                    <a:pt x="15" y="95"/>
                  </a:lnTo>
                  <a:lnTo>
                    <a:pt x="36" y="73"/>
                  </a:lnTo>
                  <a:lnTo>
                    <a:pt x="51" y="58"/>
                  </a:lnTo>
                  <a:lnTo>
                    <a:pt x="58" y="29"/>
                  </a:lnTo>
                  <a:lnTo>
                    <a:pt x="51" y="7"/>
                  </a:lnTo>
                  <a:lnTo>
                    <a:pt x="29" y="0"/>
                  </a:lnTo>
                  <a:lnTo>
                    <a:pt x="7" y="7"/>
                  </a:lnTo>
                  <a:lnTo>
                    <a:pt x="0" y="22"/>
                  </a:lnTo>
                  <a:lnTo>
                    <a:pt x="0" y="37"/>
                  </a:lnTo>
                  <a:lnTo>
                    <a:pt x="7" y="22"/>
                  </a:lnTo>
                  <a:lnTo>
                    <a:pt x="22" y="15"/>
                  </a:lnTo>
                  <a:lnTo>
                    <a:pt x="36" y="22"/>
                  </a:lnTo>
                  <a:lnTo>
                    <a:pt x="44" y="37"/>
                  </a:lnTo>
                  <a:lnTo>
                    <a:pt x="36" y="58"/>
                  </a:lnTo>
                  <a:lnTo>
                    <a:pt x="22" y="80"/>
                  </a:lnTo>
                  <a:lnTo>
                    <a:pt x="0" y="109"/>
                  </a:lnTo>
                  <a:lnTo>
                    <a:pt x="58" y="109"/>
                  </a:lnTo>
                  <a:lnTo>
                    <a:pt x="66" y="8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07" name="Freeform 46"/>
            <p:cNvSpPr>
              <a:spLocks noChangeAspect="1"/>
            </p:cNvSpPr>
            <p:nvPr/>
          </p:nvSpPr>
          <p:spPr>
            <a:xfrm>
              <a:off x="2615" y="1024"/>
              <a:ext cx="269" cy="66"/>
            </a:xfrm>
            <a:custGeom>
              <a:avLst/>
              <a:gdLst>
                <a:gd name="txL" fmla="*/ 0 w 269"/>
                <a:gd name="txT" fmla="*/ 0 h 66"/>
                <a:gd name="txR" fmla="*/ 269 w 269"/>
                <a:gd name="txB" fmla="*/ 66 h 66"/>
              </a:gdLst>
              <a:ahLst/>
              <a:cxnLst>
                <a:cxn ang="0">
                  <a:pos x="0" y="66"/>
                </a:cxn>
                <a:cxn ang="0">
                  <a:pos x="0" y="0"/>
                </a:cxn>
                <a:cxn ang="0">
                  <a:pos x="269" y="0"/>
                </a:cxn>
                <a:cxn ang="0">
                  <a:pos x="269" y="66"/>
                </a:cxn>
                <a:cxn ang="0">
                  <a:pos x="0" y="66"/>
                </a:cxn>
                <a:cxn ang="0">
                  <a:pos x="0" y="66"/>
                </a:cxn>
              </a:cxnLst>
              <a:rect l="txL" t="txT" r="txR" b="txB"/>
              <a:pathLst>
                <a:path w="269" h="66">
                  <a:moveTo>
                    <a:pt x="0" y="66"/>
                  </a:moveTo>
                  <a:lnTo>
                    <a:pt x="0" y="0"/>
                  </a:lnTo>
                  <a:lnTo>
                    <a:pt x="269" y="0"/>
                  </a:lnTo>
                  <a:lnTo>
                    <a:pt x="269" y="66"/>
                  </a:lnTo>
                  <a:lnTo>
                    <a:pt x="0" y="66"/>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8208" name="Freeform 47"/>
            <p:cNvSpPr>
              <a:spLocks noChangeAspect="1"/>
            </p:cNvSpPr>
            <p:nvPr/>
          </p:nvSpPr>
          <p:spPr>
            <a:xfrm>
              <a:off x="2746" y="1024"/>
              <a:ext cx="131" cy="1"/>
            </a:xfrm>
            <a:custGeom>
              <a:avLst/>
              <a:gdLst>
                <a:gd name="txL" fmla="*/ 0 w 131"/>
                <a:gd name="txT" fmla="*/ 0 h 1"/>
                <a:gd name="txR" fmla="*/ 131 w 131"/>
                <a:gd name="txB" fmla="*/ 1 h 1"/>
              </a:gdLst>
              <a:ahLst/>
              <a:cxnLst>
                <a:cxn ang="0">
                  <a:pos x="0" y="0"/>
                </a:cxn>
                <a:cxn ang="0">
                  <a:pos x="131" y="0"/>
                </a:cxn>
                <a:cxn ang="0">
                  <a:pos x="0" y="0"/>
                </a:cxn>
                <a:cxn ang="0">
                  <a:pos x="0" y="0"/>
                </a:cxn>
              </a:cxnLst>
              <a:rect l="txL" t="txT" r="txR" b="txB"/>
              <a:pathLst>
                <a:path w="131" h="1">
                  <a:moveTo>
                    <a:pt x="0" y="0"/>
                  </a:moveTo>
                  <a:lnTo>
                    <a:pt x="131"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09" name="Freeform 48"/>
            <p:cNvSpPr>
              <a:spLocks noChangeAspect="1"/>
            </p:cNvSpPr>
            <p:nvPr/>
          </p:nvSpPr>
          <p:spPr>
            <a:xfrm>
              <a:off x="2746" y="1090"/>
              <a:ext cx="131" cy="1"/>
            </a:xfrm>
            <a:custGeom>
              <a:avLst/>
              <a:gdLst>
                <a:gd name="txL" fmla="*/ 0 w 131"/>
                <a:gd name="txT" fmla="*/ 0 h 1"/>
                <a:gd name="txR" fmla="*/ 131 w 131"/>
                <a:gd name="txB" fmla="*/ 1 h 1"/>
              </a:gdLst>
              <a:ahLst/>
              <a:cxnLst>
                <a:cxn ang="0">
                  <a:pos x="0" y="0"/>
                </a:cxn>
                <a:cxn ang="0">
                  <a:pos x="131" y="0"/>
                </a:cxn>
                <a:cxn ang="0">
                  <a:pos x="0" y="0"/>
                </a:cxn>
                <a:cxn ang="0">
                  <a:pos x="0" y="0"/>
                </a:cxn>
              </a:cxnLst>
              <a:rect l="txL" t="txT" r="txR" b="txB"/>
              <a:pathLst>
                <a:path w="131" h="1">
                  <a:moveTo>
                    <a:pt x="0" y="0"/>
                  </a:moveTo>
                  <a:lnTo>
                    <a:pt x="131"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10" name="Freeform 49"/>
            <p:cNvSpPr>
              <a:spLocks noChangeAspect="1"/>
            </p:cNvSpPr>
            <p:nvPr/>
          </p:nvSpPr>
          <p:spPr>
            <a:xfrm>
              <a:off x="2615" y="1024"/>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11" name="Freeform 50"/>
            <p:cNvSpPr>
              <a:spLocks noChangeAspect="1"/>
            </p:cNvSpPr>
            <p:nvPr/>
          </p:nvSpPr>
          <p:spPr>
            <a:xfrm>
              <a:off x="2615" y="1090"/>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12" name="Freeform 51"/>
            <p:cNvSpPr>
              <a:spLocks noChangeAspect="1"/>
            </p:cNvSpPr>
            <p:nvPr/>
          </p:nvSpPr>
          <p:spPr>
            <a:xfrm>
              <a:off x="2709" y="662"/>
              <a:ext cx="80" cy="159"/>
            </a:xfrm>
            <a:custGeom>
              <a:avLst/>
              <a:gdLst>
                <a:gd name="txL" fmla="*/ 0 w 80"/>
                <a:gd name="txT" fmla="*/ 0 h 159"/>
                <a:gd name="txR" fmla="*/ 80 w 80"/>
                <a:gd name="txB" fmla="*/ 159 h 159"/>
              </a:gdLst>
              <a:ahLst/>
              <a:cxnLst>
                <a:cxn ang="0">
                  <a:pos x="0" y="0"/>
                </a:cxn>
                <a:cxn ang="0">
                  <a:pos x="37" y="159"/>
                </a:cxn>
                <a:cxn ang="0">
                  <a:pos x="80" y="0"/>
                </a:cxn>
                <a:cxn ang="0">
                  <a:pos x="0" y="0"/>
                </a:cxn>
                <a:cxn ang="0">
                  <a:pos x="0" y="0"/>
                </a:cxn>
              </a:cxnLst>
              <a:rect l="txL" t="txT" r="txR" b="txB"/>
              <a:pathLst>
                <a:path w="80" h="159">
                  <a:moveTo>
                    <a:pt x="0" y="0"/>
                  </a:moveTo>
                  <a:lnTo>
                    <a:pt x="37" y="159"/>
                  </a:lnTo>
                  <a:lnTo>
                    <a:pt x="80"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13" name="Freeform 52"/>
            <p:cNvSpPr>
              <a:spLocks noChangeAspect="1"/>
            </p:cNvSpPr>
            <p:nvPr/>
          </p:nvSpPr>
          <p:spPr>
            <a:xfrm>
              <a:off x="3465" y="451"/>
              <a:ext cx="1" cy="1205"/>
            </a:xfrm>
            <a:custGeom>
              <a:avLst/>
              <a:gdLst>
                <a:gd name="txL" fmla="*/ 0 w 1"/>
                <a:gd name="txT" fmla="*/ 0 h 1205"/>
                <a:gd name="txR" fmla="*/ 1 w 1"/>
                <a:gd name="txB" fmla="*/ 1205 h 1205"/>
              </a:gdLst>
              <a:ahLst/>
              <a:cxnLst>
                <a:cxn ang="0">
                  <a:pos x="0" y="0"/>
                </a:cxn>
                <a:cxn ang="0">
                  <a:pos x="0" y="1205"/>
                </a:cxn>
                <a:cxn ang="0">
                  <a:pos x="0" y="0"/>
                </a:cxn>
                <a:cxn ang="0">
                  <a:pos x="0" y="0"/>
                </a:cxn>
              </a:cxnLst>
              <a:rect l="txL" t="txT" r="txR" b="txB"/>
              <a:pathLst>
                <a:path w="1" h="1205">
                  <a:moveTo>
                    <a:pt x="0" y="0"/>
                  </a:moveTo>
                  <a:lnTo>
                    <a:pt x="0" y="1205"/>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14" name="Freeform 53"/>
            <p:cNvSpPr>
              <a:spLocks noChangeAspect="1"/>
            </p:cNvSpPr>
            <p:nvPr/>
          </p:nvSpPr>
          <p:spPr>
            <a:xfrm>
              <a:off x="3066" y="966"/>
              <a:ext cx="116" cy="138"/>
            </a:xfrm>
            <a:custGeom>
              <a:avLst/>
              <a:gdLst>
                <a:gd name="txL" fmla="*/ 0 w 116"/>
                <a:gd name="txT" fmla="*/ 0 h 138"/>
                <a:gd name="txR" fmla="*/ 116 w 116"/>
                <a:gd name="txB" fmla="*/ 138 h 138"/>
              </a:gdLst>
              <a:ahLst/>
              <a:cxnLst>
                <a:cxn ang="0">
                  <a:pos x="109" y="37"/>
                </a:cxn>
                <a:cxn ang="0">
                  <a:pos x="116" y="0"/>
                </a:cxn>
                <a:cxn ang="0">
                  <a:pos x="116" y="0"/>
                </a:cxn>
                <a:cxn ang="0">
                  <a:pos x="109" y="0"/>
                </a:cxn>
                <a:cxn ang="0">
                  <a:pos x="109" y="0"/>
                </a:cxn>
                <a:cxn ang="0">
                  <a:pos x="94" y="0"/>
                </a:cxn>
                <a:cxn ang="0">
                  <a:pos x="72" y="0"/>
                </a:cxn>
                <a:cxn ang="0">
                  <a:pos x="43" y="8"/>
                </a:cxn>
                <a:cxn ang="0">
                  <a:pos x="21" y="29"/>
                </a:cxn>
                <a:cxn ang="0">
                  <a:pos x="7" y="58"/>
                </a:cxn>
                <a:cxn ang="0">
                  <a:pos x="0" y="87"/>
                </a:cxn>
                <a:cxn ang="0">
                  <a:pos x="7" y="109"/>
                </a:cxn>
                <a:cxn ang="0">
                  <a:pos x="14" y="124"/>
                </a:cxn>
                <a:cxn ang="0">
                  <a:pos x="50" y="138"/>
                </a:cxn>
                <a:cxn ang="0">
                  <a:pos x="65" y="138"/>
                </a:cxn>
                <a:cxn ang="0">
                  <a:pos x="79" y="124"/>
                </a:cxn>
                <a:cxn ang="0">
                  <a:pos x="101" y="109"/>
                </a:cxn>
                <a:cxn ang="0">
                  <a:pos x="94" y="109"/>
                </a:cxn>
                <a:cxn ang="0">
                  <a:pos x="79" y="124"/>
                </a:cxn>
                <a:cxn ang="0">
                  <a:pos x="50" y="131"/>
                </a:cxn>
                <a:cxn ang="0">
                  <a:pos x="29" y="124"/>
                </a:cxn>
                <a:cxn ang="0">
                  <a:pos x="21" y="87"/>
                </a:cxn>
                <a:cxn ang="0">
                  <a:pos x="21" y="66"/>
                </a:cxn>
                <a:cxn ang="0">
                  <a:pos x="36" y="37"/>
                </a:cxn>
                <a:cxn ang="0">
                  <a:pos x="50" y="15"/>
                </a:cxn>
                <a:cxn ang="0">
                  <a:pos x="79" y="8"/>
                </a:cxn>
                <a:cxn ang="0">
                  <a:pos x="94" y="15"/>
                </a:cxn>
                <a:cxn ang="0">
                  <a:pos x="101" y="22"/>
                </a:cxn>
                <a:cxn ang="0">
                  <a:pos x="109" y="37"/>
                </a:cxn>
                <a:cxn ang="0">
                  <a:pos x="109" y="37"/>
                </a:cxn>
              </a:cxnLst>
              <a:rect l="txL" t="txT" r="txR" b="txB"/>
              <a:pathLst>
                <a:path w="116" h="138">
                  <a:moveTo>
                    <a:pt x="109" y="37"/>
                  </a:moveTo>
                  <a:lnTo>
                    <a:pt x="116" y="0"/>
                  </a:lnTo>
                  <a:lnTo>
                    <a:pt x="109" y="0"/>
                  </a:lnTo>
                  <a:lnTo>
                    <a:pt x="94" y="0"/>
                  </a:lnTo>
                  <a:lnTo>
                    <a:pt x="72" y="0"/>
                  </a:lnTo>
                  <a:lnTo>
                    <a:pt x="43" y="8"/>
                  </a:lnTo>
                  <a:lnTo>
                    <a:pt x="21" y="29"/>
                  </a:lnTo>
                  <a:lnTo>
                    <a:pt x="7" y="58"/>
                  </a:lnTo>
                  <a:lnTo>
                    <a:pt x="0" y="87"/>
                  </a:lnTo>
                  <a:lnTo>
                    <a:pt x="7" y="109"/>
                  </a:lnTo>
                  <a:lnTo>
                    <a:pt x="14" y="124"/>
                  </a:lnTo>
                  <a:lnTo>
                    <a:pt x="50" y="138"/>
                  </a:lnTo>
                  <a:lnTo>
                    <a:pt x="65" y="138"/>
                  </a:lnTo>
                  <a:lnTo>
                    <a:pt x="79" y="124"/>
                  </a:lnTo>
                  <a:lnTo>
                    <a:pt x="101" y="109"/>
                  </a:lnTo>
                  <a:lnTo>
                    <a:pt x="94" y="109"/>
                  </a:lnTo>
                  <a:lnTo>
                    <a:pt x="79" y="124"/>
                  </a:lnTo>
                  <a:lnTo>
                    <a:pt x="50" y="131"/>
                  </a:lnTo>
                  <a:lnTo>
                    <a:pt x="29" y="124"/>
                  </a:lnTo>
                  <a:lnTo>
                    <a:pt x="21" y="87"/>
                  </a:lnTo>
                  <a:lnTo>
                    <a:pt x="21" y="66"/>
                  </a:lnTo>
                  <a:lnTo>
                    <a:pt x="36" y="37"/>
                  </a:lnTo>
                  <a:lnTo>
                    <a:pt x="50" y="15"/>
                  </a:lnTo>
                  <a:lnTo>
                    <a:pt x="79" y="8"/>
                  </a:lnTo>
                  <a:lnTo>
                    <a:pt x="94" y="15"/>
                  </a:lnTo>
                  <a:lnTo>
                    <a:pt x="101" y="22"/>
                  </a:lnTo>
                  <a:lnTo>
                    <a:pt x="109" y="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15" name="Freeform 54"/>
            <p:cNvSpPr>
              <a:spLocks noChangeAspect="1"/>
            </p:cNvSpPr>
            <p:nvPr/>
          </p:nvSpPr>
          <p:spPr>
            <a:xfrm>
              <a:off x="3182" y="1046"/>
              <a:ext cx="58" cy="109"/>
            </a:xfrm>
            <a:custGeom>
              <a:avLst/>
              <a:gdLst>
                <a:gd name="txL" fmla="*/ 0 w 58"/>
                <a:gd name="txT" fmla="*/ 0 h 109"/>
                <a:gd name="txR" fmla="*/ 58 w 58"/>
                <a:gd name="txB" fmla="*/ 109 h 109"/>
              </a:gdLst>
              <a:ahLst/>
              <a:cxnLst>
                <a:cxn ang="0">
                  <a:pos x="22" y="58"/>
                </a:cxn>
                <a:cxn ang="0">
                  <a:pos x="29" y="58"/>
                </a:cxn>
                <a:cxn ang="0">
                  <a:pos x="36" y="58"/>
                </a:cxn>
                <a:cxn ang="0">
                  <a:pos x="43" y="73"/>
                </a:cxn>
                <a:cxn ang="0">
                  <a:pos x="51" y="80"/>
                </a:cxn>
                <a:cxn ang="0">
                  <a:pos x="43" y="102"/>
                </a:cxn>
                <a:cxn ang="0">
                  <a:pos x="29" y="109"/>
                </a:cxn>
                <a:cxn ang="0">
                  <a:pos x="22" y="102"/>
                </a:cxn>
                <a:cxn ang="0">
                  <a:pos x="7" y="95"/>
                </a:cxn>
                <a:cxn ang="0">
                  <a:pos x="7" y="102"/>
                </a:cxn>
                <a:cxn ang="0">
                  <a:pos x="0" y="102"/>
                </a:cxn>
                <a:cxn ang="0">
                  <a:pos x="7" y="109"/>
                </a:cxn>
                <a:cxn ang="0">
                  <a:pos x="22" y="109"/>
                </a:cxn>
                <a:cxn ang="0">
                  <a:pos x="51" y="102"/>
                </a:cxn>
                <a:cxn ang="0">
                  <a:pos x="58" y="73"/>
                </a:cxn>
                <a:cxn ang="0">
                  <a:pos x="58" y="58"/>
                </a:cxn>
                <a:cxn ang="0">
                  <a:pos x="51" y="51"/>
                </a:cxn>
                <a:cxn ang="0">
                  <a:pos x="43" y="44"/>
                </a:cxn>
                <a:cxn ang="0">
                  <a:pos x="51" y="37"/>
                </a:cxn>
                <a:cxn ang="0">
                  <a:pos x="51" y="22"/>
                </a:cxn>
                <a:cxn ang="0">
                  <a:pos x="51" y="7"/>
                </a:cxn>
                <a:cxn ang="0">
                  <a:pos x="43" y="0"/>
                </a:cxn>
                <a:cxn ang="0">
                  <a:pos x="29" y="0"/>
                </a:cxn>
                <a:cxn ang="0">
                  <a:pos x="14" y="7"/>
                </a:cxn>
                <a:cxn ang="0">
                  <a:pos x="0" y="29"/>
                </a:cxn>
                <a:cxn ang="0">
                  <a:pos x="7" y="29"/>
                </a:cxn>
                <a:cxn ang="0">
                  <a:pos x="14" y="22"/>
                </a:cxn>
                <a:cxn ang="0">
                  <a:pos x="29" y="15"/>
                </a:cxn>
                <a:cxn ang="0">
                  <a:pos x="36" y="22"/>
                </a:cxn>
                <a:cxn ang="0">
                  <a:pos x="43" y="29"/>
                </a:cxn>
                <a:cxn ang="0">
                  <a:pos x="36" y="44"/>
                </a:cxn>
                <a:cxn ang="0">
                  <a:pos x="22" y="58"/>
                </a:cxn>
                <a:cxn ang="0">
                  <a:pos x="22" y="58"/>
                </a:cxn>
              </a:cxnLst>
              <a:rect l="txL" t="txT" r="txR" b="txB"/>
              <a:pathLst>
                <a:path w="58" h="109">
                  <a:moveTo>
                    <a:pt x="22" y="58"/>
                  </a:moveTo>
                  <a:lnTo>
                    <a:pt x="29" y="58"/>
                  </a:lnTo>
                  <a:lnTo>
                    <a:pt x="36" y="58"/>
                  </a:lnTo>
                  <a:lnTo>
                    <a:pt x="43" y="73"/>
                  </a:lnTo>
                  <a:lnTo>
                    <a:pt x="51" y="80"/>
                  </a:lnTo>
                  <a:lnTo>
                    <a:pt x="43" y="102"/>
                  </a:lnTo>
                  <a:lnTo>
                    <a:pt x="29" y="109"/>
                  </a:lnTo>
                  <a:lnTo>
                    <a:pt x="22" y="102"/>
                  </a:lnTo>
                  <a:lnTo>
                    <a:pt x="7" y="95"/>
                  </a:lnTo>
                  <a:lnTo>
                    <a:pt x="7" y="102"/>
                  </a:lnTo>
                  <a:lnTo>
                    <a:pt x="0" y="102"/>
                  </a:lnTo>
                  <a:lnTo>
                    <a:pt x="7" y="109"/>
                  </a:lnTo>
                  <a:lnTo>
                    <a:pt x="22" y="109"/>
                  </a:lnTo>
                  <a:lnTo>
                    <a:pt x="51" y="102"/>
                  </a:lnTo>
                  <a:lnTo>
                    <a:pt x="58" y="73"/>
                  </a:lnTo>
                  <a:lnTo>
                    <a:pt x="58" y="58"/>
                  </a:lnTo>
                  <a:lnTo>
                    <a:pt x="51" y="51"/>
                  </a:lnTo>
                  <a:lnTo>
                    <a:pt x="43" y="44"/>
                  </a:lnTo>
                  <a:lnTo>
                    <a:pt x="51" y="37"/>
                  </a:lnTo>
                  <a:lnTo>
                    <a:pt x="51" y="22"/>
                  </a:lnTo>
                  <a:lnTo>
                    <a:pt x="51" y="7"/>
                  </a:lnTo>
                  <a:lnTo>
                    <a:pt x="43" y="0"/>
                  </a:lnTo>
                  <a:lnTo>
                    <a:pt x="29" y="0"/>
                  </a:lnTo>
                  <a:lnTo>
                    <a:pt x="14" y="7"/>
                  </a:lnTo>
                  <a:lnTo>
                    <a:pt x="0" y="29"/>
                  </a:lnTo>
                  <a:lnTo>
                    <a:pt x="7" y="29"/>
                  </a:lnTo>
                  <a:lnTo>
                    <a:pt x="14" y="22"/>
                  </a:lnTo>
                  <a:lnTo>
                    <a:pt x="29" y="15"/>
                  </a:lnTo>
                  <a:lnTo>
                    <a:pt x="36" y="22"/>
                  </a:lnTo>
                  <a:lnTo>
                    <a:pt x="43" y="29"/>
                  </a:lnTo>
                  <a:lnTo>
                    <a:pt x="36" y="44"/>
                  </a:lnTo>
                  <a:lnTo>
                    <a:pt x="22" y="5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16" name="Freeform 55"/>
            <p:cNvSpPr>
              <a:spLocks noChangeAspect="1"/>
            </p:cNvSpPr>
            <p:nvPr/>
          </p:nvSpPr>
          <p:spPr>
            <a:xfrm>
              <a:off x="3974" y="966"/>
              <a:ext cx="116" cy="138"/>
            </a:xfrm>
            <a:custGeom>
              <a:avLst/>
              <a:gdLst>
                <a:gd name="txL" fmla="*/ 0 w 116"/>
                <a:gd name="txT" fmla="*/ 0 h 138"/>
                <a:gd name="txR" fmla="*/ 116 w 116"/>
                <a:gd name="txB" fmla="*/ 138 h 138"/>
              </a:gdLst>
              <a:ahLst/>
              <a:cxnLst>
                <a:cxn ang="0">
                  <a:pos x="109" y="37"/>
                </a:cxn>
                <a:cxn ang="0">
                  <a:pos x="116" y="0"/>
                </a:cxn>
                <a:cxn ang="0">
                  <a:pos x="116" y="0"/>
                </a:cxn>
                <a:cxn ang="0">
                  <a:pos x="116" y="0"/>
                </a:cxn>
                <a:cxn ang="0">
                  <a:pos x="109" y="0"/>
                </a:cxn>
                <a:cxn ang="0">
                  <a:pos x="95" y="0"/>
                </a:cxn>
                <a:cxn ang="0">
                  <a:pos x="80" y="0"/>
                </a:cxn>
                <a:cxn ang="0">
                  <a:pos x="51" y="8"/>
                </a:cxn>
                <a:cxn ang="0">
                  <a:pos x="22" y="29"/>
                </a:cxn>
                <a:cxn ang="0">
                  <a:pos x="7" y="58"/>
                </a:cxn>
                <a:cxn ang="0">
                  <a:pos x="0" y="87"/>
                </a:cxn>
                <a:cxn ang="0">
                  <a:pos x="7" y="109"/>
                </a:cxn>
                <a:cxn ang="0">
                  <a:pos x="15" y="124"/>
                </a:cxn>
                <a:cxn ang="0">
                  <a:pos x="51" y="138"/>
                </a:cxn>
                <a:cxn ang="0">
                  <a:pos x="73" y="138"/>
                </a:cxn>
                <a:cxn ang="0">
                  <a:pos x="87" y="124"/>
                </a:cxn>
                <a:cxn ang="0">
                  <a:pos x="102" y="109"/>
                </a:cxn>
                <a:cxn ang="0">
                  <a:pos x="95" y="109"/>
                </a:cxn>
                <a:cxn ang="0">
                  <a:pos x="80" y="124"/>
                </a:cxn>
                <a:cxn ang="0">
                  <a:pos x="51" y="131"/>
                </a:cxn>
                <a:cxn ang="0">
                  <a:pos x="29" y="124"/>
                </a:cxn>
                <a:cxn ang="0">
                  <a:pos x="22" y="87"/>
                </a:cxn>
                <a:cxn ang="0">
                  <a:pos x="29" y="66"/>
                </a:cxn>
                <a:cxn ang="0">
                  <a:pos x="37" y="37"/>
                </a:cxn>
                <a:cxn ang="0">
                  <a:pos x="58" y="15"/>
                </a:cxn>
                <a:cxn ang="0">
                  <a:pos x="80" y="8"/>
                </a:cxn>
                <a:cxn ang="0">
                  <a:pos x="95" y="15"/>
                </a:cxn>
                <a:cxn ang="0">
                  <a:pos x="109" y="22"/>
                </a:cxn>
                <a:cxn ang="0">
                  <a:pos x="109" y="37"/>
                </a:cxn>
                <a:cxn ang="0">
                  <a:pos x="109" y="37"/>
                </a:cxn>
              </a:cxnLst>
              <a:rect l="txL" t="txT" r="txR" b="txB"/>
              <a:pathLst>
                <a:path w="116" h="138">
                  <a:moveTo>
                    <a:pt x="109" y="37"/>
                  </a:moveTo>
                  <a:lnTo>
                    <a:pt x="116" y="0"/>
                  </a:lnTo>
                  <a:lnTo>
                    <a:pt x="109" y="0"/>
                  </a:lnTo>
                  <a:lnTo>
                    <a:pt x="95" y="0"/>
                  </a:lnTo>
                  <a:lnTo>
                    <a:pt x="80" y="0"/>
                  </a:lnTo>
                  <a:lnTo>
                    <a:pt x="51" y="8"/>
                  </a:lnTo>
                  <a:lnTo>
                    <a:pt x="22" y="29"/>
                  </a:lnTo>
                  <a:lnTo>
                    <a:pt x="7" y="58"/>
                  </a:lnTo>
                  <a:lnTo>
                    <a:pt x="0" y="87"/>
                  </a:lnTo>
                  <a:lnTo>
                    <a:pt x="7" y="109"/>
                  </a:lnTo>
                  <a:lnTo>
                    <a:pt x="15" y="124"/>
                  </a:lnTo>
                  <a:lnTo>
                    <a:pt x="51" y="138"/>
                  </a:lnTo>
                  <a:lnTo>
                    <a:pt x="73" y="138"/>
                  </a:lnTo>
                  <a:lnTo>
                    <a:pt x="87" y="124"/>
                  </a:lnTo>
                  <a:lnTo>
                    <a:pt x="102" y="109"/>
                  </a:lnTo>
                  <a:lnTo>
                    <a:pt x="95" y="109"/>
                  </a:lnTo>
                  <a:lnTo>
                    <a:pt x="80" y="124"/>
                  </a:lnTo>
                  <a:lnTo>
                    <a:pt x="51" y="131"/>
                  </a:lnTo>
                  <a:lnTo>
                    <a:pt x="29" y="124"/>
                  </a:lnTo>
                  <a:lnTo>
                    <a:pt x="22" y="87"/>
                  </a:lnTo>
                  <a:lnTo>
                    <a:pt x="29" y="66"/>
                  </a:lnTo>
                  <a:lnTo>
                    <a:pt x="37" y="37"/>
                  </a:lnTo>
                  <a:lnTo>
                    <a:pt x="58" y="15"/>
                  </a:lnTo>
                  <a:lnTo>
                    <a:pt x="80" y="8"/>
                  </a:lnTo>
                  <a:lnTo>
                    <a:pt x="95" y="15"/>
                  </a:lnTo>
                  <a:lnTo>
                    <a:pt x="109" y="22"/>
                  </a:lnTo>
                  <a:lnTo>
                    <a:pt x="109" y="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17" name="Freeform 56"/>
            <p:cNvSpPr>
              <a:spLocks noChangeAspect="1"/>
            </p:cNvSpPr>
            <p:nvPr/>
          </p:nvSpPr>
          <p:spPr>
            <a:xfrm>
              <a:off x="4083" y="1053"/>
              <a:ext cx="109" cy="102"/>
            </a:xfrm>
            <a:custGeom>
              <a:avLst/>
              <a:gdLst>
                <a:gd name="txL" fmla="*/ 0 w 109"/>
                <a:gd name="txT" fmla="*/ 0 h 102"/>
                <a:gd name="txR" fmla="*/ 109 w 109"/>
                <a:gd name="txB" fmla="*/ 102 h 102"/>
              </a:gdLst>
              <a:ahLst/>
              <a:cxnLst>
                <a:cxn ang="0">
                  <a:pos x="109" y="0"/>
                </a:cxn>
                <a:cxn ang="0">
                  <a:pos x="80" y="0"/>
                </a:cxn>
                <a:cxn ang="0">
                  <a:pos x="80" y="0"/>
                </a:cxn>
                <a:cxn ang="0">
                  <a:pos x="87" y="8"/>
                </a:cxn>
                <a:cxn ang="0">
                  <a:pos x="95" y="8"/>
                </a:cxn>
                <a:cxn ang="0">
                  <a:pos x="95" y="15"/>
                </a:cxn>
                <a:cxn ang="0">
                  <a:pos x="87" y="15"/>
                </a:cxn>
                <a:cxn ang="0">
                  <a:pos x="73" y="80"/>
                </a:cxn>
                <a:cxn ang="0">
                  <a:pos x="73" y="80"/>
                </a:cxn>
                <a:cxn ang="0">
                  <a:pos x="44" y="0"/>
                </a:cxn>
                <a:cxn ang="0">
                  <a:pos x="22" y="0"/>
                </a:cxn>
                <a:cxn ang="0">
                  <a:pos x="22" y="0"/>
                </a:cxn>
                <a:cxn ang="0">
                  <a:pos x="29" y="8"/>
                </a:cxn>
                <a:cxn ang="0">
                  <a:pos x="37" y="8"/>
                </a:cxn>
                <a:cxn ang="0">
                  <a:pos x="15" y="73"/>
                </a:cxn>
                <a:cxn ang="0">
                  <a:pos x="7" y="95"/>
                </a:cxn>
                <a:cxn ang="0">
                  <a:pos x="0" y="102"/>
                </a:cxn>
                <a:cxn ang="0">
                  <a:pos x="0" y="102"/>
                </a:cxn>
                <a:cxn ang="0">
                  <a:pos x="29" y="102"/>
                </a:cxn>
                <a:cxn ang="0">
                  <a:pos x="29" y="102"/>
                </a:cxn>
                <a:cxn ang="0">
                  <a:pos x="29" y="102"/>
                </a:cxn>
                <a:cxn ang="0">
                  <a:pos x="22" y="95"/>
                </a:cxn>
                <a:cxn ang="0">
                  <a:pos x="22" y="95"/>
                </a:cxn>
                <a:cxn ang="0">
                  <a:pos x="22" y="88"/>
                </a:cxn>
                <a:cxn ang="0">
                  <a:pos x="37" y="22"/>
                </a:cxn>
                <a:cxn ang="0">
                  <a:pos x="37" y="22"/>
                </a:cxn>
                <a:cxn ang="0">
                  <a:pos x="73" y="102"/>
                </a:cxn>
                <a:cxn ang="0">
                  <a:pos x="73" y="102"/>
                </a:cxn>
                <a:cxn ang="0">
                  <a:pos x="95" y="22"/>
                </a:cxn>
                <a:cxn ang="0">
                  <a:pos x="102" y="8"/>
                </a:cxn>
                <a:cxn ang="0">
                  <a:pos x="109" y="0"/>
                </a:cxn>
                <a:cxn ang="0">
                  <a:pos x="109" y="0"/>
                </a:cxn>
              </a:cxnLst>
              <a:rect l="txL" t="txT" r="txR" b="txB"/>
              <a:pathLst>
                <a:path w="109" h="102">
                  <a:moveTo>
                    <a:pt x="109" y="0"/>
                  </a:moveTo>
                  <a:lnTo>
                    <a:pt x="80" y="0"/>
                  </a:lnTo>
                  <a:lnTo>
                    <a:pt x="87" y="8"/>
                  </a:lnTo>
                  <a:lnTo>
                    <a:pt x="95" y="8"/>
                  </a:lnTo>
                  <a:lnTo>
                    <a:pt x="95" y="15"/>
                  </a:lnTo>
                  <a:lnTo>
                    <a:pt x="87" y="15"/>
                  </a:lnTo>
                  <a:lnTo>
                    <a:pt x="73" y="80"/>
                  </a:lnTo>
                  <a:lnTo>
                    <a:pt x="44" y="0"/>
                  </a:lnTo>
                  <a:lnTo>
                    <a:pt x="22" y="0"/>
                  </a:lnTo>
                  <a:lnTo>
                    <a:pt x="29" y="8"/>
                  </a:lnTo>
                  <a:lnTo>
                    <a:pt x="37" y="8"/>
                  </a:lnTo>
                  <a:lnTo>
                    <a:pt x="15" y="73"/>
                  </a:lnTo>
                  <a:lnTo>
                    <a:pt x="7" y="95"/>
                  </a:lnTo>
                  <a:lnTo>
                    <a:pt x="0" y="102"/>
                  </a:lnTo>
                  <a:lnTo>
                    <a:pt x="29" y="102"/>
                  </a:lnTo>
                  <a:lnTo>
                    <a:pt x="22" y="95"/>
                  </a:lnTo>
                  <a:lnTo>
                    <a:pt x="22" y="88"/>
                  </a:lnTo>
                  <a:lnTo>
                    <a:pt x="37" y="22"/>
                  </a:lnTo>
                  <a:lnTo>
                    <a:pt x="73" y="102"/>
                  </a:lnTo>
                  <a:lnTo>
                    <a:pt x="95" y="22"/>
                  </a:lnTo>
                  <a:lnTo>
                    <a:pt x="102" y="8"/>
                  </a:lnTo>
                  <a:lnTo>
                    <a:pt x="10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18" name="Freeform 57"/>
            <p:cNvSpPr>
              <a:spLocks noChangeAspect="1"/>
            </p:cNvSpPr>
            <p:nvPr/>
          </p:nvSpPr>
          <p:spPr>
            <a:xfrm>
              <a:off x="3334" y="1024"/>
              <a:ext cx="262" cy="66"/>
            </a:xfrm>
            <a:custGeom>
              <a:avLst/>
              <a:gdLst>
                <a:gd name="txL" fmla="*/ 0 w 262"/>
                <a:gd name="txT" fmla="*/ 0 h 66"/>
                <a:gd name="txR" fmla="*/ 262 w 262"/>
                <a:gd name="txB" fmla="*/ 66 h 66"/>
              </a:gdLst>
              <a:ahLst/>
              <a:cxnLst>
                <a:cxn ang="0">
                  <a:pos x="0" y="66"/>
                </a:cxn>
                <a:cxn ang="0">
                  <a:pos x="0" y="0"/>
                </a:cxn>
                <a:cxn ang="0">
                  <a:pos x="262" y="0"/>
                </a:cxn>
                <a:cxn ang="0">
                  <a:pos x="262" y="66"/>
                </a:cxn>
                <a:cxn ang="0">
                  <a:pos x="0" y="66"/>
                </a:cxn>
                <a:cxn ang="0">
                  <a:pos x="0" y="66"/>
                </a:cxn>
              </a:cxnLst>
              <a:rect l="txL" t="txT" r="txR" b="txB"/>
              <a:pathLst>
                <a:path w="262" h="66">
                  <a:moveTo>
                    <a:pt x="0" y="66"/>
                  </a:moveTo>
                  <a:lnTo>
                    <a:pt x="0" y="0"/>
                  </a:lnTo>
                  <a:lnTo>
                    <a:pt x="262" y="0"/>
                  </a:lnTo>
                  <a:lnTo>
                    <a:pt x="262" y="66"/>
                  </a:lnTo>
                  <a:lnTo>
                    <a:pt x="0" y="66"/>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8219" name="Freeform 58"/>
            <p:cNvSpPr>
              <a:spLocks noChangeAspect="1"/>
            </p:cNvSpPr>
            <p:nvPr/>
          </p:nvSpPr>
          <p:spPr>
            <a:xfrm>
              <a:off x="3465" y="1024"/>
              <a:ext cx="131" cy="1"/>
            </a:xfrm>
            <a:custGeom>
              <a:avLst/>
              <a:gdLst>
                <a:gd name="txL" fmla="*/ 0 w 131"/>
                <a:gd name="txT" fmla="*/ 0 h 1"/>
                <a:gd name="txR" fmla="*/ 131 w 131"/>
                <a:gd name="txB" fmla="*/ 1 h 1"/>
              </a:gdLst>
              <a:ahLst/>
              <a:cxnLst>
                <a:cxn ang="0">
                  <a:pos x="0" y="0"/>
                </a:cxn>
                <a:cxn ang="0">
                  <a:pos x="131" y="0"/>
                </a:cxn>
                <a:cxn ang="0">
                  <a:pos x="0" y="0"/>
                </a:cxn>
                <a:cxn ang="0">
                  <a:pos x="0" y="0"/>
                </a:cxn>
              </a:cxnLst>
              <a:rect l="txL" t="txT" r="txR" b="txB"/>
              <a:pathLst>
                <a:path w="131" h="1">
                  <a:moveTo>
                    <a:pt x="0" y="0"/>
                  </a:moveTo>
                  <a:lnTo>
                    <a:pt x="131"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20" name="Freeform 59"/>
            <p:cNvSpPr>
              <a:spLocks noChangeAspect="1"/>
            </p:cNvSpPr>
            <p:nvPr/>
          </p:nvSpPr>
          <p:spPr>
            <a:xfrm>
              <a:off x="3465" y="1090"/>
              <a:ext cx="131" cy="1"/>
            </a:xfrm>
            <a:custGeom>
              <a:avLst/>
              <a:gdLst>
                <a:gd name="txL" fmla="*/ 0 w 131"/>
                <a:gd name="txT" fmla="*/ 0 h 1"/>
                <a:gd name="txR" fmla="*/ 131 w 131"/>
                <a:gd name="txB" fmla="*/ 1 h 1"/>
              </a:gdLst>
              <a:ahLst/>
              <a:cxnLst>
                <a:cxn ang="0">
                  <a:pos x="0" y="0"/>
                </a:cxn>
                <a:cxn ang="0">
                  <a:pos x="131" y="0"/>
                </a:cxn>
                <a:cxn ang="0">
                  <a:pos x="0" y="0"/>
                </a:cxn>
                <a:cxn ang="0">
                  <a:pos x="0" y="0"/>
                </a:cxn>
              </a:cxnLst>
              <a:rect l="txL" t="txT" r="txR" b="txB"/>
              <a:pathLst>
                <a:path w="131" h="1">
                  <a:moveTo>
                    <a:pt x="0" y="0"/>
                  </a:moveTo>
                  <a:lnTo>
                    <a:pt x="131"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21" name="Freeform 60"/>
            <p:cNvSpPr>
              <a:spLocks noChangeAspect="1"/>
            </p:cNvSpPr>
            <p:nvPr/>
          </p:nvSpPr>
          <p:spPr>
            <a:xfrm>
              <a:off x="3334" y="1024"/>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22" name="Freeform 61"/>
            <p:cNvSpPr>
              <a:spLocks noChangeAspect="1"/>
            </p:cNvSpPr>
            <p:nvPr/>
          </p:nvSpPr>
          <p:spPr>
            <a:xfrm>
              <a:off x="3334" y="1090"/>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23" name="Freeform 62"/>
            <p:cNvSpPr>
              <a:spLocks noChangeAspect="1"/>
            </p:cNvSpPr>
            <p:nvPr/>
          </p:nvSpPr>
          <p:spPr>
            <a:xfrm>
              <a:off x="3429" y="662"/>
              <a:ext cx="73" cy="159"/>
            </a:xfrm>
            <a:custGeom>
              <a:avLst/>
              <a:gdLst>
                <a:gd name="txL" fmla="*/ 0 w 73"/>
                <a:gd name="txT" fmla="*/ 0 h 159"/>
                <a:gd name="txR" fmla="*/ 73 w 73"/>
                <a:gd name="txB" fmla="*/ 159 h 159"/>
              </a:gdLst>
              <a:ahLst/>
              <a:cxnLst>
                <a:cxn ang="0">
                  <a:pos x="0" y="0"/>
                </a:cxn>
                <a:cxn ang="0">
                  <a:pos x="36" y="159"/>
                </a:cxn>
                <a:cxn ang="0">
                  <a:pos x="73" y="0"/>
                </a:cxn>
                <a:cxn ang="0">
                  <a:pos x="0" y="0"/>
                </a:cxn>
                <a:cxn ang="0">
                  <a:pos x="0" y="0"/>
                </a:cxn>
              </a:cxnLst>
              <a:rect l="txL" t="txT" r="txR" b="txB"/>
              <a:pathLst>
                <a:path w="73" h="159">
                  <a:moveTo>
                    <a:pt x="0" y="0"/>
                  </a:moveTo>
                  <a:lnTo>
                    <a:pt x="36" y="159"/>
                  </a:lnTo>
                  <a:lnTo>
                    <a:pt x="73"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24" name="Freeform 63"/>
            <p:cNvSpPr>
              <a:spLocks noChangeAspect="1" noEditPoints="1"/>
            </p:cNvSpPr>
            <p:nvPr/>
          </p:nvSpPr>
          <p:spPr>
            <a:xfrm>
              <a:off x="4185" y="640"/>
              <a:ext cx="44" cy="138"/>
            </a:xfrm>
            <a:custGeom>
              <a:avLst/>
              <a:gdLst>
                <a:gd name="txL" fmla="*/ 0 w 44"/>
                <a:gd name="txT" fmla="*/ 0 h 138"/>
                <a:gd name="txR" fmla="*/ 44 w 44"/>
                <a:gd name="txB" fmla="*/ 138 h 138"/>
              </a:gdLst>
              <a:ahLst/>
              <a:cxnLst>
                <a:cxn ang="0">
                  <a:pos x="29" y="116"/>
                </a:cxn>
                <a:cxn ang="0">
                  <a:pos x="22" y="123"/>
                </a:cxn>
                <a:cxn ang="0">
                  <a:pos x="15" y="130"/>
                </a:cxn>
                <a:cxn ang="0">
                  <a:pos x="15" y="130"/>
                </a:cxn>
                <a:cxn ang="0">
                  <a:pos x="15" y="123"/>
                </a:cxn>
                <a:cxn ang="0">
                  <a:pos x="15" y="116"/>
                </a:cxn>
                <a:cxn ang="0">
                  <a:pos x="36" y="43"/>
                </a:cxn>
                <a:cxn ang="0">
                  <a:pos x="29" y="43"/>
                </a:cxn>
                <a:cxn ang="0">
                  <a:pos x="15" y="51"/>
                </a:cxn>
                <a:cxn ang="0">
                  <a:pos x="0" y="51"/>
                </a:cxn>
                <a:cxn ang="0">
                  <a:pos x="0" y="51"/>
                </a:cxn>
                <a:cxn ang="0">
                  <a:pos x="15" y="58"/>
                </a:cxn>
                <a:cxn ang="0">
                  <a:pos x="15" y="58"/>
                </a:cxn>
                <a:cxn ang="0">
                  <a:pos x="15" y="72"/>
                </a:cxn>
                <a:cxn ang="0">
                  <a:pos x="7" y="94"/>
                </a:cxn>
                <a:cxn ang="0">
                  <a:pos x="0" y="116"/>
                </a:cxn>
                <a:cxn ang="0">
                  <a:pos x="0" y="130"/>
                </a:cxn>
                <a:cxn ang="0">
                  <a:pos x="0" y="138"/>
                </a:cxn>
                <a:cxn ang="0">
                  <a:pos x="7" y="138"/>
                </a:cxn>
                <a:cxn ang="0">
                  <a:pos x="22" y="130"/>
                </a:cxn>
                <a:cxn ang="0">
                  <a:pos x="36" y="116"/>
                </a:cxn>
                <a:cxn ang="0">
                  <a:pos x="29" y="116"/>
                </a:cxn>
                <a:cxn ang="0">
                  <a:pos x="44" y="14"/>
                </a:cxn>
                <a:cxn ang="0">
                  <a:pos x="36" y="7"/>
                </a:cxn>
                <a:cxn ang="0">
                  <a:pos x="29" y="0"/>
                </a:cxn>
                <a:cxn ang="0">
                  <a:pos x="29" y="7"/>
                </a:cxn>
                <a:cxn ang="0">
                  <a:pos x="22" y="14"/>
                </a:cxn>
                <a:cxn ang="0">
                  <a:pos x="29" y="22"/>
                </a:cxn>
                <a:cxn ang="0">
                  <a:pos x="29" y="22"/>
                </a:cxn>
                <a:cxn ang="0">
                  <a:pos x="36" y="22"/>
                </a:cxn>
                <a:cxn ang="0">
                  <a:pos x="44" y="14"/>
                </a:cxn>
                <a:cxn ang="0">
                  <a:pos x="44" y="14"/>
                </a:cxn>
              </a:cxnLst>
              <a:rect l="txL" t="txT" r="txR" b="txB"/>
              <a:pathLst>
                <a:path w="44" h="138">
                  <a:moveTo>
                    <a:pt x="29" y="116"/>
                  </a:moveTo>
                  <a:lnTo>
                    <a:pt x="22" y="123"/>
                  </a:lnTo>
                  <a:lnTo>
                    <a:pt x="15" y="130"/>
                  </a:lnTo>
                  <a:lnTo>
                    <a:pt x="15" y="123"/>
                  </a:lnTo>
                  <a:lnTo>
                    <a:pt x="15" y="116"/>
                  </a:lnTo>
                  <a:lnTo>
                    <a:pt x="36" y="43"/>
                  </a:lnTo>
                  <a:lnTo>
                    <a:pt x="29" y="43"/>
                  </a:lnTo>
                  <a:lnTo>
                    <a:pt x="15" y="51"/>
                  </a:lnTo>
                  <a:lnTo>
                    <a:pt x="0" y="51"/>
                  </a:lnTo>
                  <a:lnTo>
                    <a:pt x="15" y="58"/>
                  </a:lnTo>
                  <a:lnTo>
                    <a:pt x="15" y="72"/>
                  </a:lnTo>
                  <a:lnTo>
                    <a:pt x="7" y="94"/>
                  </a:lnTo>
                  <a:lnTo>
                    <a:pt x="0" y="116"/>
                  </a:lnTo>
                  <a:lnTo>
                    <a:pt x="0" y="130"/>
                  </a:lnTo>
                  <a:lnTo>
                    <a:pt x="0" y="138"/>
                  </a:lnTo>
                  <a:lnTo>
                    <a:pt x="7" y="138"/>
                  </a:lnTo>
                  <a:lnTo>
                    <a:pt x="22" y="130"/>
                  </a:lnTo>
                  <a:lnTo>
                    <a:pt x="36" y="116"/>
                  </a:lnTo>
                  <a:lnTo>
                    <a:pt x="29" y="116"/>
                  </a:lnTo>
                  <a:close/>
                  <a:moveTo>
                    <a:pt x="44" y="14"/>
                  </a:moveTo>
                  <a:lnTo>
                    <a:pt x="36" y="7"/>
                  </a:lnTo>
                  <a:lnTo>
                    <a:pt x="29" y="0"/>
                  </a:lnTo>
                  <a:lnTo>
                    <a:pt x="29" y="7"/>
                  </a:lnTo>
                  <a:lnTo>
                    <a:pt x="22" y="14"/>
                  </a:lnTo>
                  <a:lnTo>
                    <a:pt x="29" y="22"/>
                  </a:lnTo>
                  <a:lnTo>
                    <a:pt x="36" y="22"/>
                  </a:lnTo>
                  <a:lnTo>
                    <a:pt x="44" y="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25" name="Freeform 64"/>
            <p:cNvSpPr>
              <a:spLocks noChangeAspect="1"/>
            </p:cNvSpPr>
            <p:nvPr/>
          </p:nvSpPr>
          <p:spPr>
            <a:xfrm>
              <a:off x="4221" y="727"/>
              <a:ext cx="109" cy="109"/>
            </a:xfrm>
            <a:custGeom>
              <a:avLst/>
              <a:gdLst>
                <a:gd name="txL" fmla="*/ 0 w 109"/>
                <a:gd name="txT" fmla="*/ 0 h 109"/>
                <a:gd name="txR" fmla="*/ 109 w 109"/>
                <a:gd name="txB" fmla="*/ 109 h 109"/>
              </a:gdLst>
              <a:ahLst/>
              <a:cxnLst>
                <a:cxn ang="0">
                  <a:pos x="109" y="0"/>
                </a:cxn>
                <a:cxn ang="0">
                  <a:pos x="80" y="0"/>
                </a:cxn>
                <a:cxn ang="0">
                  <a:pos x="80" y="0"/>
                </a:cxn>
                <a:cxn ang="0">
                  <a:pos x="88" y="7"/>
                </a:cxn>
                <a:cxn ang="0">
                  <a:pos x="95" y="14"/>
                </a:cxn>
                <a:cxn ang="0">
                  <a:pos x="95" y="14"/>
                </a:cxn>
                <a:cxn ang="0">
                  <a:pos x="88" y="22"/>
                </a:cxn>
                <a:cxn ang="0">
                  <a:pos x="73" y="80"/>
                </a:cxn>
                <a:cxn ang="0">
                  <a:pos x="73" y="80"/>
                </a:cxn>
                <a:cxn ang="0">
                  <a:pos x="44" y="0"/>
                </a:cxn>
                <a:cxn ang="0">
                  <a:pos x="22" y="0"/>
                </a:cxn>
                <a:cxn ang="0">
                  <a:pos x="22" y="0"/>
                </a:cxn>
                <a:cxn ang="0">
                  <a:pos x="29" y="7"/>
                </a:cxn>
                <a:cxn ang="0">
                  <a:pos x="37" y="14"/>
                </a:cxn>
                <a:cxn ang="0">
                  <a:pos x="22" y="80"/>
                </a:cxn>
                <a:cxn ang="0">
                  <a:pos x="15" y="94"/>
                </a:cxn>
                <a:cxn ang="0">
                  <a:pos x="0" y="101"/>
                </a:cxn>
                <a:cxn ang="0">
                  <a:pos x="0" y="101"/>
                </a:cxn>
                <a:cxn ang="0">
                  <a:pos x="29" y="101"/>
                </a:cxn>
                <a:cxn ang="0">
                  <a:pos x="29" y="101"/>
                </a:cxn>
                <a:cxn ang="0">
                  <a:pos x="29" y="101"/>
                </a:cxn>
                <a:cxn ang="0">
                  <a:pos x="22" y="94"/>
                </a:cxn>
                <a:cxn ang="0">
                  <a:pos x="22" y="94"/>
                </a:cxn>
                <a:cxn ang="0">
                  <a:pos x="22" y="87"/>
                </a:cxn>
                <a:cxn ang="0">
                  <a:pos x="37" y="22"/>
                </a:cxn>
                <a:cxn ang="0">
                  <a:pos x="37" y="22"/>
                </a:cxn>
                <a:cxn ang="0">
                  <a:pos x="73" y="109"/>
                </a:cxn>
                <a:cxn ang="0">
                  <a:pos x="73" y="109"/>
                </a:cxn>
                <a:cxn ang="0">
                  <a:pos x="95" y="29"/>
                </a:cxn>
                <a:cxn ang="0">
                  <a:pos x="102" y="14"/>
                </a:cxn>
                <a:cxn ang="0">
                  <a:pos x="102" y="7"/>
                </a:cxn>
                <a:cxn ang="0">
                  <a:pos x="109" y="0"/>
                </a:cxn>
                <a:cxn ang="0">
                  <a:pos x="109" y="0"/>
                </a:cxn>
              </a:cxnLst>
              <a:rect l="txL" t="txT" r="txR" b="txB"/>
              <a:pathLst>
                <a:path w="109" h="109">
                  <a:moveTo>
                    <a:pt x="109" y="0"/>
                  </a:moveTo>
                  <a:lnTo>
                    <a:pt x="80" y="0"/>
                  </a:lnTo>
                  <a:lnTo>
                    <a:pt x="88" y="7"/>
                  </a:lnTo>
                  <a:lnTo>
                    <a:pt x="95" y="14"/>
                  </a:lnTo>
                  <a:lnTo>
                    <a:pt x="88" y="22"/>
                  </a:lnTo>
                  <a:lnTo>
                    <a:pt x="73" y="80"/>
                  </a:lnTo>
                  <a:lnTo>
                    <a:pt x="44" y="0"/>
                  </a:lnTo>
                  <a:lnTo>
                    <a:pt x="22" y="0"/>
                  </a:lnTo>
                  <a:lnTo>
                    <a:pt x="29" y="7"/>
                  </a:lnTo>
                  <a:lnTo>
                    <a:pt x="37" y="14"/>
                  </a:lnTo>
                  <a:lnTo>
                    <a:pt x="22" y="80"/>
                  </a:lnTo>
                  <a:lnTo>
                    <a:pt x="15" y="94"/>
                  </a:lnTo>
                  <a:lnTo>
                    <a:pt x="0" y="101"/>
                  </a:lnTo>
                  <a:lnTo>
                    <a:pt x="29" y="101"/>
                  </a:lnTo>
                  <a:lnTo>
                    <a:pt x="22" y="94"/>
                  </a:lnTo>
                  <a:lnTo>
                    <a:pt x="22" y="87"/>
                  </a:lnTo>
                  <a:lnTo>
                    <a:pt x="37" y="22"/>
                  </a:lnTo>
                  <a:lnTo>
                    <a:pt x="73" y="109"/>
                  </a:lnTo>
                  <a:lnTo>
                    <a:pt x="95" y="29"/>
                  </a:lnTo>
                  <a:lnTo>
                    <a:pt x="102" y="14"/>
                  </a:lnTo>
                  <a:lnTo>
                    <a:pt x="102" y="7"/>
                  </a:lnTo>
                  <a:lnTo>
                    <a:pt x="10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26" name="Freeform 65"/>
            <p:cNvSpPr>
              <a:spLocks noChangeAspect="1"/>
            </p:cNvSpPr>
            <p:nvPr/>
          </p:nvSpPr>
          <p:spPr>
            <a:xfrm>
              <a:off x="4381" y="662"/>
              <a:ext cx="80" cy="159"/>
            </a:xfrm>
            <a:custGeom>
              <a:avLst/>
              <a:gdLst>
                <a:gd name="txL" fmla="*/ 0 w 80"/>
                <a:gd name="txT" fmla="*/ 0 h 159"/>
                <a:gd name="txR" fmla="*/ 80 w 80"/>
                <a:gd name="txB" fmla="*/ 159 h 159"/>
              </a:gdLst>
              <a:ahLst/>
              <a:cxnLst>
                <a:cxn ang="0">
                  <a:pos x="0" y="0"/>
                </a:cxn>
                <a:cxn ang="0">
                  <a:pos x="37" y="159"/>
                </a:cxn>
                <a:cxn ang="0">
                  <a:pos x="80" y="0"/>
                </a:cxn>
                <a:cxn ang="0">
                  <a:pos x="0" y="0"/>
                </a:cxn>
                <a:cxn ang="0">
                  <a:pos x="0" y="0"/>
                </a:cxn>
              </a:cxnLst>
              <a:rect l="txL" t="txT" r="txR" b="txB"/>
              <a:pathLst>
                <a:path w="80" h="159">
                  <a:moveTo>
                    <a:pt x="0" y="0"/>
                  </a:moveTo>
                  <a:lnTo>
                    <a:pt x="37" y="159"/>
                  </a:lnTo>
                  <a:lnTo>
                    <a:pt x="80"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27" name="Freeform 66"/>
            <p:cNvSpPr>
              <a:spLocks noChangeAspect="1"/>
            </p:cNvSpPr>
            <p:nvPr/>
          </p:nvSpPr>
          <p:spPr>
            <a:xfrm>
              <a:off x="4636" y="1010"/>
              <a:ext cx="72" cy="87"/>
            </a:xfrm>
            <a:custGeom>
              <a:avLst/>
              <a:gdLst>
                <a:gd name="txL" fmla="*/ 0 w 72"/>
                <a:gd name="txT" fmla="*/ 0 h 87"/>
                <a:gd name="txR" fmla="*/ 72 w 72"/>
                <a:gd name="txB" fmla="*/ 87 h 87"/>
              </a:gdLst>
              <a:ahLst/>
              <a:cxnLst>
                <a:cxn ang="0">
                  <a:pos x="0" y="7"/>
                </a:cxn>
                <a:cxn ang="0">
                  <a:pos x="14" y="7"/>
                </a:cxn>
                <a:cxn ang="0">
                  <a:pos x="21" y="22"/>
                </a:cxn>
                <a:cxn ang="0">
                  <a:pos x="21" y="51"/>
                </a:cxn>
                <a:cxn ang="0">
                  <a:pos x="21" y="80"/>
                </a:cxn>
                <a:cxn ang="0">
                  <a:pos x="21" y="87"/>
                </a:cxn>
                <a:cxn ang="0">
                  <a:pos x="21" y="87"/>
                </a:cxn>
                <a:cxn ang="0">
                  <a:pos x="29" y="87"/>
                </a:cxn>
                <a:cxn ang="0">
                  <a:pos x="43" y="73"/>
                </a:cxn>
                <a:cxn ang="0">
                  <a:pos x="51" y="65"/>
                </a:cxn>
                <a:cxn ang="0">
                  <a:pos x="58" y="43"/>
                </a:cxn>
                <a:cxn ang="0">
                  <a:pos x="72" y="29"/>
                </a:cxn>
                <a:cxn ang="0">
                  <a:pos x="72" y="7"/>
                </a:cxn>
                <a:cxn ang="0">
                  <a:pos x="72" y="0"/>
                </a:cxn>
                <a:cxn ang="0">
                  <a:pos x="65" y="0"/>
                </a:cxn>
                <a:cxn ang="0">
                  <a:pos x="58" y="0"/>
                </a:cxn>
                <a:cxn ang="0">
                  <a:pos x="58" y="7"/>
                </a:cxn>
                <a:cxn ang="0">
                  <a:pos x="65" y="14"/>
                </a:cxn>
                <a:cxn ang="0">
                  <a:pos x="65" y="22"/>
                </a:cxn>
                <a:cxn ang="0">
                  <a:pos x="58" y="43"/>
                </a:cxn>
                <a:cxn ang="0">
                  <a:pos x="43" y="65"/>
                </a:cxn>
                <a:cxn ang="0">
                  <a:pos x="36" y="73"/>
                </a:cxn>
                <a:cxn ang="0">
                  <a:pos x="36" y="36"/>
                </a:cxn>
                <a:cxn ang="0">
                  <a:pos x="29" y="0"/>
                </a:cxn>
                <a:cxn ang="0">
                  <a:pos x="29" y="0"/>
                </a:cxn>
                <a:cxn ang="0">
                  <a:pos x="21" y="0"/>
                </a:cxn>
                <a:cxn ang="0">
                  <a:pos x="14" y="0"/>
                </a:cxn>
                <a:cxn ang="0">
                  <a:pos x="0" y="0"/>
                </a:cxn>
                <a:cxn ang="0">
                  <a:pos x="0" y="7"/>
                </a:cxn>
              </a:cxnLst>
              <a:rect l="txL" t="txT" r="txR" b="txB"/>
              <a:pathLst>
                <a:path w="72" h="87">
                  <a:moveTo>
                    <a:pt x="0" y="7"/>
                  </a:moveTo>
                  <a:lnTo>
                    <a:pt x="14" y="7"/>
                  </a:lnTo>
                  <a:lnTo>
                    <a:pt x="21" y="22"/>
                  </a:lnTo>
                  <a:lnTo>
                    <a:pt x="21" y="51"/>
                  </a:lnTo>
                  <a:lnTo>
                    <a:pt x="21" y="80"/>
                  </a:lnTo>
                  <a:lnTo>
                    <a:pt x="21" y="87"/>
                  </a:lnTo>
                  <a:lnTo>
                    <a:pt x="29" y="87"/>
                  </a:lnTo>
                  <a:lnTo>
                    <a:pt x="43" y="73"/>
                  </a:lnTo>
                  <a:lnTo>
                    <a:pt x="51" y="65"/>
                  </a:lnTo>
                  <a:lnTo>
                    <a:pt x="58" y="43"/>
                  </a:lnTo>
                  <a:lnTo>
                    <a:pt x="72" y="29"/>
                  </a:lnTo>
                  <a:lnTo>
                    <a:pt x="72" y="7"/>
                  </a:lnTo>
                  <a:lnTo>
                    <a:pt x="72" y="0"/>
                  </a:lnTo>
                  <a:lnTo>
                    <a:pt x="65" y="0"/>
                  </a:lnTo>
                  <a:lnTo>
                    <a:pt x="58" y="0"/>
                  </a:lnTo>
                  <a:lnTo>
                    <a:pt x="58" y="7"/>
                  </a:lnTo>
                  <a:lnTo>
                    <a:pt x="65" y="14"/>
                  </a:lnTo>
                  <a:lnTo>
                    <a:pt x="65" y="22"/>
                  </a:lnTo>
                  <a:lnTo>
                    <a:pt x="58" y="43"/>
                  </a:lnTo>
                  <a:lnTo>
                    <a:pt x="43" y="65"/>
                  </a:lnTo>
                  <a:lnTo>
                    <a:pt x="36" y="73"/>
                  </a:lnTo>
                  <a:lnTo>
                    <a:pt x="36" y="36"/>
                  </a:lnTo>
                  <a:lnTo>
                    <a:pt x="29" y="0"/>
                  </a:lnTo>
                  <a:lnTo>
                    <a:pt x="21" y="0"/>
                  </a:lnTo>
                  <a:lnTo>
                    <a:pt x="14" y="0"/>
                  </a:lnTo>
                  <a:lnTo>
                    <a:pt x="0" y="0"/>
                  </a:lnTo>
                  <a:lnTo>
                    <a:pt x="0" y="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28" name="Freeform 67"/>
            <p:cNvSpPr>
              <a:spLocks noChangeAspect="1"/>
            </p:cNvSpPr>
            <p:nvPr/>
          </p:nvSpPr>
          <p:spPr>
            <a:xfrm>
              <a:off x="4287" y="1024"/>
              <a:ext cx="269" cy="66"/>
            </a:xfrm>
            <a:custGeom>
              <a:avLst/>
              <a:gdLst>
                <a:gd name="txL" fmla="*/ 0 w 269"/>
                <a:gd name="txT" fmla="*/ 0 h 66"/>
                <a:gd name="txR" fmla="*/ 269 w 269"/>
                <a:gd name="txB" fmla="*/ 66 h 66"/>
              </a:gdLst>
              <a:ahLst/>
              <a:cxnLst>
                <a:cxn ang="0">
                  <a:pos x="0" y="66"/>
                </a:cxn>
                <a:cxn ang="0">
                  <a:pos x="0" y="0"/>
                </a:cxn>
                <a:cxn ang="0">
                  <a:pos x="269" y="0"/>
                </a:cxn>
                <a:cxn ang="0">
                  <a:pos x="269" y="66"/>
                </a:cxn>
                <a:cxn ang="0">
                  <a:pos x="0" y="66"/>
                </a:cxn>
                <a:cxn ang="0">
                  <a:pos x="0" y="66"/>
                </a:cxn>
              </a:cxnLst>
              <a:rect l="txL" t="txT" r="txR" b="txB"/>
              <a:pathLst>
                <a:path w="269" h="66">
                  <a:moveTo>
                    <a:pt x="0" y="66"/>
                  </a:moveTo>
                  <a:lnTo>
                    <a:pt x="0" y="0"/>
                  </a:lnTo>
                  <a:lnTo>
                    <a:pt x="269" y="0"/>
                  </a:lnTo>
                  <a:lnTo>
                    <a:pt x="269" y="66"/>
                  </a:lnTo>
                  <a:lnTo>
                    <a:pt x="0" y="66"/>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8229" name="Freeform 68"/>
            <p:cNvSpPr>
              <a:spLocks noChangeAspect="1"/>
            </p:cNvSpPr>
            <p:nvPr/>
          </p:nvSpPr>
          <p:spPr>
            <a:xfrm>
              <a:off x="4418" y="1024"/>
              <a:ext cx="130" cy="1"/>
            </a:xfrm>
            <a:custGeom>
              <a:avLst/>
              <a:gdLst>
                <a:gd name="txL" fmla="*/ 0 w 130"/>
                <a:gd name="txT" fmla="*/ 0 h 1"/>
                <a:gd name="txR" fmla="*/ 130 w 130"/>
                <a:gd name="txB" fmla="*/ 1 h 1"/>
              </a:gdLst>
              <a:ahLst/>
              <a:cxnLst>
                <a:cxn ang="0">
                  <a:pos x="0" y="0"/>
                </a:cxn>
                <a:cxn ang="0">
                  <a:pos x="130" y="0"/>
                </a:cxn>
                <a:cxn ang="0">
                  <a:pos x="0" y="0"/>
                </a:cxn>
                <a:cxn ang="0">
                  <a:pos x="0" y="0"/>
                </a:cxn>
              </a:cxnLst>
              <a:rect l="txL" t="txT" r="txR" b="txB"/>
              <a:pathLst>
                <a:path w="130" h="1">
                  <a:moveTo>
                    <a:pt x="0" y="0"/>
                  </a:moveTo>
                  <a:lnTo>
                    <a:pt x="130"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30" name="Freeform 69"/>
            <p:cNvSpPr>
              <a:spLocks noChangeAspect="1"/>
            </p:cNvSpPr>
            <p:nvPr/>
          </p:nvSpPr>
          <p:spPr>
            <a:xfrm>
              <a:off x="4418" y="1090"/>
              <a:ext cx="130" cy="1"/>
            </a:xfrm>
            <a:custGeom>
              <a:avLst/>
              <a:gdLst>
                <a:gd name="txL" fmla="*/ 0 w 130"/>
                <a:gd name="txT" fmla="*/ 0 h 1"/>
                <a:gd name="txR" fmla="*/ 130 w 130"/>
                <a:gd name="txB" fmla="*/ 1 h 1"/>
              </a:gdLst>
              <a:ahLst/>
              <a:cxnLst>
                <a:cxn ang="0">
                  <a:pos x="0" y="0"/>
                </a:cxn>
                <a:cxn ang="0">
                  <a:pos x="130" y="0"/>
                </a:cxn>
                <a:cxn ang="0">
                  <a:pos x="0" y="0"/>
                </a:cxn>
                <a:cxn ang="0">
                  <a:pos x="0" y="0"/>
                </a:cxn>
              </a:cxnLst>
              <a:rect l="txL" t="txT" r="txR" b="txB"/>
              <a:pathLst>
                <a:path w="130" h="1">
                  <a:moveTo>
                    <a:pt x="0" y="0"/>
                  </a:moveTo>
                  <a:lnTo>
                    <a:pt x="130"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31" name="Freeform 70"/>
            <p:cNvSpPr>
              <a:spLocks noChangeAspect="1"/>
            </p:cNvSpPr>
            <p:nvPr/>
          </p:nvSpPr>
          <p:spPr>
            <a:xfrm>
              <a:off x="4287" y="1024"/>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32" name="Freeform 71"/>
            <p:cNvSpPr>
              <a:spLocks noChangeAspect="1"/>
            </p:cNvSpPr>
            <p:nvPr/>
          </p:nvSpPr>
          <p:spPr>
            <a:xfrm>
              <a:off x="4287" y="1090"/>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33" name="Freeform 72"/>
            <p:cNvSpPr>
              <a:spLocks noChangeAspect="1"/>
            </p:cNvSpPr>
            <p:nvPr/>
          </p:nvSpPr>
          <p:spPr>
            <a:xfrm>
              <a:off x="4643" y="691"/>
              <a:ext cx="94" cy="108"/>
            </a:xfrm>
            <a:custGeom>
              <a:avLst/>
              <a:gdLst>
                <a:gd name="txL" fmla="*/ 0 w 94"/>
                <a:gd name="txT" fmla="*/ 0 h 108"/>
                <a:gd name="txR" fmla="*/ 94 w 94"/>
                <a:gd name="txB" fmla="*/ 108 h 108"/>
              </a:gdLst>
              <a:ahLst/>
              <a:cxnLst>
                <a:cxn ang="0">
                  <a:pos x="44" y="43"/>
                </a:cxn>
                <a:cxn ang="0">
                  <a:pos x="0" y="43"/>
                </a:cxn>
                <a:cxn ang="0">
                  <a:pos x="0" y="58"/>
                </a:cxn>
                <a:cxn ang="0">
                  <a:pos x="44" y="58"/>
                </a:cxn>
                <a:cxn ang="0">
                  <a:pos x="44" y="108"/>
                </a:cxn>
                <a:cxn ang="0">
                  <a:pos x="51" y="108"/>
                </a:cxn>
                <a:cxn ang="0">
                  <a:pos x="51" y="58"/>
                </a:cxn>
                <a:cxn ang="0">
                  <a:pos x="94" y="58"/>
                </a:cxn>
                <a:cxn ang="0">
                  <a:pos x="94" y="43"/>
                </a:cxn>
                <a:cxn ang="0">
                  <a:pos x="51" y="43"/>
                </a:cxn>
                <a:cxn ang="0">
                  <a:pos x="51" y="0"/>
                </a:cxn>
                <a:cxn ang="0">
                  <a:pos x="44" y="0"/>
                </a:cxn>
                <a:cxn ang="0">
                  <a:pos x="44" y="43"/>
                </a:cxn>
              </a:cxnLst>
              <a:rect l="txL" t="txT" r="txR" b="txB"/>
              <a:pathLst>
                <a:path w="94" h="108">
                  <a:moveTo>
                    <a:pt x="44" y="43"/>
                  </a:moveTo>
                  <a:lnTo>
                    <a:pt x="0" y="43"/>
                  </a:lnTo>
                  <a:lnTo>
                    <a:pt x="0" y="58"/>
                  </a:lnTo>
                  <a:lnTo>
                    <a:pt x="44" y="58"/>
                  </a:lnTo>
                  <a:lnTo>
                    <a:pt x="44" y="108"/>
                  </a:lnTo>
                  <a:lnTo>
                    <a:pt x="51" y="108"/>
                  </a:lnTo>
                  <a:lnTo>
                    <a:pt x="51" y="58"/>
                  </a:lnTo>
                  <a:lnTo>
                    <a:pt x="94" y="58"/>
                  </a:lnTo>
                  <a:lnTo>
                    <a:pt x="94" y="43"/>
                  </a:lnTo>
                  <a:lnTo>
                    <a:pt x="51" y="43"/>
                  </a:lnTo>
                  <a:lnTo>
                    <a:pt x="51" y="0"/>
                  </a:lnTo>
                  <a:lnTo>
                    <a:pt x="44" y="0"/>
                  </a:lnTo>
                  <a:lnTo>
                    <a:pt x="44" y="4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234" name="Rectangle 73"/>
            <p:cNvSpPr>
              <a:spLocks noChangeAspect="1"/>
            </p:cNvSpPr>
            <p:nvPr/>
          </p:nvSpPr>
          <p:spPr>
            <a:xfrm>
              <a:off x="4636" y="1358"/>
              <a:ext cx="101" cy="15"/>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b="1" dirty="0">
                <a:ea typeface="Arial" panose="020B0604020202020204" pitchFamily="34" charset="0"/>
              </a:endParaRPr>
            </a:p>
          </p:txBody>
        </p:sp>
        <p:sp>
          <p:nvSpPr>
            <p:cNvPr id="48235" name="Freeform 74"/>
            <p:cNvSpPr>
              <a:spLocks noChangeAspect="1"/>
            </p:cNvSpPr>
            <p:nvPr/>
          </p:nvSpPr>
          <p:spPr>
            <a:xfrm>
              <a:off x="2026" y="1024"/>
              <a:ext cx="131" cy="1"/>
            </a:xfrm>
            <a:custGeom>
              <a:avLst/>
              <a:gdLst>
                <a:gd name="txL" fmla="*/ 0 w 131"/>
                <a:gd name="txT" fmla="*/ 0 h 1"/>
                <a:gd name="txR" fmla="*/ 131 w 131"/>
                <a:gd name="txB" fmla="*/ 1 h 1"/>
              </a:gdLst>
              <a:ahLst/>
              <a:cxnLst>
                <a:cxn ang="0">
                  <a:pos x="0" y="0"/>
                </a:cxn>
                <a:cxn ang="0">
                  <a:pos x="131" y="0"/>
                </a:cxn>
                <a:cxn ang="0">
                  <a:pos x="0" y="0"/>
                </a:cxn>
                <a:cxn ang="0">
                  <a:pos x="0" y="0"/>
                </a:cxn>
              </a:cxnLst>
              <a:rect l="txL" t="txT" r="txR" b="txB"/>
              <a:pathLst>
                <a:path w="131" h="1">
                  <a:moveTo>
                    <a:pt x="0" y="0"/>
                  </a:moveTo>
                  <a:lnTo>
                    <a:pt x="131"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36" name="Freeform 75"/>
            <p:cNvSpPr>
              <a:spLocks noChangeAspect="1"/>
            </p:cNvSpPr>
            <p:nvPr/>
          </p:nvSpPr>
          <p:spPr>
            <a:xfrm>
              <a:off x="2026" y="1090"/>
              <a:ext cx="131" cy="1"/>
            </a:xfrm>
            <a:custGeom>
              <a:avLst/>
              <a:gdLst>
                <a:gd name="txL" fmla="*/ 0 w 131"/>
                <a:gd name="txT" fmla="*/ 0 h 1"/>
                <a:gd name="txR" fmla="*/ 131 w 131"/>
                <a:gd name="txB" fmla="*/ 1 h 1"/>
              </a:gdLst>
              <a:ahLst/>
              <a:cxnLst>
                <a:cxn ang="0">
                  <a:pos x="0" y="0"/>
                </a:cxn>
                <a:cxn ang="0">
                  <a:pos x="131" y="0"/>
                </a:cxn>
                <a:cxn ang="0">
                  <a:pos x="0" y="0"/>
                </a:cxn>
                <a:cxn ang="0">
                  <a:pos x="0" y="0"/>
                </a:cxn>
              </a:cxnLst>
              <a:rect l="txL" t="txT" r="txR" b="txB"/>
              <a:pathLst>
                <a:path w="131" h="1">
                  <a:moveTo>
                    <a:pt x="0" y="0"/>
                  </a:moveTo>
                  <a:lnTo>
                    <a:pt x="131"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37" name="Freeform 76"/>
            <p:cNvSpPr>
              <a:spLocks noChangeAspect="1"/>
            </p:cNvSpPr>
            <p:nvPr/>
          </p:nvSpPr>
          <p:spPr>
            <a:xfrm>
              <a:off x="1895" y="1024"/>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238" name="Freeform 77"/>
            <p:cNvSpPr>
              <a:spLocks noChangeAspect="1"/>
            </p:cNvSpPr>
            <p:nvPr/>
          </p:nvSpPr>
          <p:spPr>
            <a:xfrm>
              <a:off x="1895" y="1090"/>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grpSp>
      <p:grpSp>
        <p:nvGrpSpPr>
          <p:cNvPr id="48132" name="Group 78"/>
          <p:cNvGrpSpPr>
            <a:grpSpLocks noChangeAspect="1"/>
          </p:cNvGrpSpPr>
          <p:nvPr/>
        </p:nvGrpSpPr>
        <p:grpSpPr>
          <a:xfrm>
            <a:off x="6248400" y="2309813"/>
            <a:ext cx="2260600" cy="1873250"/>
            <a:chOff x="1808" y="2433"/>
            <a:chExt cx="2057" cy="1647"/>
          </a:xfrm>
        </p:grpSpPr>
        <p:sp>
          <p:nvSpPr>
            <p:cNvPr id="48137" name="Freeform 79"/>
            <p:cNvSpPr>
              <a:spLocks noChangeAspect="1"/>
            </p:cNvSpPr>
            <p:nvPr/>
          </p:nvSpPr>
          <p:spPr>
            <a:xfrm>
              <a:off x="3545" y="2433"/>
              <a:ext cx="1" cy="1205"/>
            </a:xfrm>
            <a:custGeom>
              <a:avLst/>
              <a:gdLst>
                <a:gd name="txL" fmla="*/ 0 w 1"/>
                <a:gd name="txT" fmla="*/ 0 h 1205"/>
                <a:gd name="txR" fmla="*/ 1 w 1"/>
                <a:gd name="txB" fmla="*/ 1205 h 1205"/>
              </a:gdLst>
              <a:ahLst/>
              <a:cxnLst>
                <a:cxn ang="0">
                  <a:pos x="0" y="1205"/>
                </a:cxn>
                <a:cxn ang="0">
                  <a:pos x="0" y="0"/>
                </a:cxn>
                <a:cxn ang="0">
                  <a:pos x="0" y="1205"/>
                </a:cxn>
                <a:cxn ang="0">
                  <a:pos x="0" y="1205"/>
                </a:cxn>
              </a:cxnLst>
              <a:rect l="txL" t="txT" r="txR" b="txB"/>
              <a:pathLst>
                <a:path w="1" h="1205">
                  <a:moveTo>
                    <a:pt x="0" y="1205"/>
                  </a:moveTo>
                  <a:lnTo>
                    <a:pt x="0" y="0"/>
                  </a:lnTo>
                  <a:lnTo>
                    <a:pt x="0" y="120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38" name="Freeform 80"/>
            <p:cNvSpPr>
              <a:spLocks noChangeAspect="1" noEditPoints="1"/>
            </p:cNvSpPr>
            <p:nvPr/>
          </p:nvSpPr>
          <p:spPr>
            <a:xfrm>
              <a:off x="2106" y="2433"/>
              <a:ext cx="1439" cy="1"/>
            </a:xfrm>
            <a:custGeom>
              <a:avLst/>
              <a:gdLst>
                <a:gd name="txL" fmla="*/ 0 w 1439"/>
                <a:gd name="txT" fmla="*/ 0 h 1"/>
                <a:gd name="txR" fmla="*/ 1439 w 1439"/>
                <a:gd name="txB" fmla="*/ 1 h 1"/>
              </a:gdLst>
              <a:ahLst/>
              <a:cxnLst>
                <a:cxn ang="0">
                  <a:pos x="1439" y="0"/>
                </a:cxn>
                <a:cxn ang="0">
                  <a:pos x="0" y="0"/>
                </a:cxn>
                <a:cxn ang="0">
                  <a:pos x="1439" y="0"/>
                </a:cxn>
                <a:cxn ang="0">
                  <a:pos x="1439" y="0"/>
                </a:cxn>
                <a:cxn ang="0">
                  <a:pos x="1439" y="0"/>
                </a:cxn>
                <a:cxn ang="0">
                  <a:pos x="1439" y="0"/>
                </a:cxn>
                <a:cxn ang="0">
                  <a:pos x="1439" y="0"/>
                </a:cxn>
              </a:cxnLst>
              <a:rect l="txL" t="txT" r="txR" b="txB"/>
              <a:pathLst>
                <a:path w="1439" h="1">
                  <a:moveTo>
                    <a:pt x="1439" y="0"/>
                  </a:moveTo>
                  <a:lnTo>
                    <a:pt x="0" y="0"/>
                  </a:lnTo>
                  <a:lnTo>
                    <a:pt x="1439" y="0"/>
                  </a:lnTo>
                  <a:close/>
                  <a:moveTo>
                    <a:pt x="1439" y="0"/>
                  </a:moveTo>
                  <a:lnTo>
                    <a:pt x="143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39" name="Freeform 81"/>
            <p:cNvSpPr>
              <a:spLocks noChangeAspect="1" noEditPoints="1"/>
            </p:cNvSpPr>
            <p:nvPr/>
          </p:nvSpPr>
          <p:spPr>
            <a:xfrm>
              <a:off x="2106" y="2433"/>
              <a:ext cx="1" cy="1205"/>
            </a:xfrm>
            <a:custGeom>
              <a:avLst/>
              <a:gdLst>
                <a:gd name="txL" fmla="*/ 0 w 1"/>
                <a:gd name="txT" fmla="*/ 0 h 1205"/>
                <a:gd name="txR" fmla="*/ 1 w 1"/>
                <a:gd name="txB" fmla="*/ 1205 h 1205"/>
              </a:gdLst>
              <a:ahLst/>
              <a:cxnLst>
                <a:cxn ang="0">
                  <a:pos x="0" y="0"/>
                </a:cxn>
                <a:cxn ang="0">
                  <a:pos x="0" y="1205"/>
                </a:cxn>
                <a:cxn ang="0">
                  <a:pos x="0" y="0"/>
                </a:cxn>
                <a:cxn ang="0">
                  <a:pos x="0" y="0"/>
                </a:cxn>
                <a:cxn ang="0">
                  <a:pos x="0" y="0"/>
                </a:cxn>
                <a:cxn ang="0">
                  <a:pos x="0" y="0"/>
                </a:cxn>
                <a:cxn ang="0">
                  <a:pos x="0" y="0"/>
                </a:cxn>
              </a:cxnLst>
              <a:rect l="txL" t="txT" r="txR" b="txB"/>
              <a:pathLst>
                <a:path w="1" h="1205">
                  <a:moveTo>
                    <a:pt x="0" y="0"/>
                  </a:moveTo>
                  <a:lnTo>
                    <a:pt x="0" y="1205"/>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0" name="Freeform 82"/>
            <p:cNvSpPr>
              <a:spLocks noChangeAspect="1" noEditPoints="1"/>
            </p:cNvSpPr>
            <p:nvPr/>
          </p:nvSpPr>
          <p:spPr>
            <a:xfrm>
              <a:off x="2106" y="3638"/>
              <a:ext cx="1439" cy="1"/>
            </a:xfrm>
            <a:custGeom>
              <a:avLst/>
              <a:gdLst>
                <a:gd name="txL" fmla="*/ 0 w 1439"/>
                <a:gd name="txT" fmla="*/ 0 h 1"/>
                <a:gd name="txR" fmla="*/ 1439 w 1439"/>
                <a:gd name="txB" fmla="*/ 1 h 1"/>
              </a:gdLst>
              <a:ahLst/>
              <a:cxnLst>
                <a:cxn ang="0">
                  <a:pos x="0" y="0"/>
                </a:cxn>
                <a:cxn ang="0">
                  <a:pos x="1439" y="0"/>
                </a:cxn>
                <a:cxn ang="0">
                  <a:pos x="0" y="0"/>
                </a:cxn>
                <a:cxn ang="0">
                  <a:pos x="0" y="0"/>
                </a:cxn>
                <a:cxn ang="0">
                  <a:pos x="0" y="0"/>
                </a:cxn>
                <a:cxn ang="0">
                  <a:pos x="0" y="0"/>
                </a:cxn>
                <a:cxn ang="0">
                  <a:pos x="0" y="0"/>
                </a:cxn>
              </a:cxnLst>
              <a:rect l="txL" t="txT" r="txR" b="txB"/>
              <a:pathLst>
                <a:path w="1439" h="1">
                  <a:moveTo>
                    <a:pt x="0" y="0"/>
                  </a:moveTo>
                  <a:lnTo>
                    <a:pt x="1439"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1" name="Freeform 83"/>
            <p:cNvSpPr>
              <a:spLocks noChangeAspect="1"/>
            </p:cNvSpPr>
            <p:nvPr/>
          </p:nvSpPr>
          <p:spPr>
            <a:xfrm>
              <a:off x="3545" y="363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2" name="Freeform 84"/>
            <p:cNvSpPr>
              <a:spLocks noChangeAspect="1" noEditPoints="1"/>
            </p:cNvSpPr>
            <p:nvPr/>
          </p:nvSpPr>
          <p:spPr>
            <a:xfrm>
              <a:off x="1808" y="2941"/>
              <a:ext cx="36" cy="145"/>
            </a:xfrm>
            <a:custGeom>
              <a:avLst/>
              <a:gdLst>
                <a:gd name="txL" fmla="*/ 0 w 36"/>
                <a:gd name="txT" fmla="*/ 0 h 145"/>
                <a:gd name="txR" fmla="*/ 36 w 36"/>
                <a:gd name="txB" fmla="*/ 145 h 145"/>
              </a:gdLst>
              <a:ahLst/>
              <a:cxnLst>
                <a:cxn ang="0">
                  <a:pos x="29" y="116"/>
                </a:cxn>
                <a:cxn ang="0">
                  <a:pos x="22" y="130"/>
                </a:cxn>
                <a:cxn ang="0">
                  <a:pos x="14" y="130"/>
                </a:cxn>
                <a:cxn ang="0">
                  <a:pos x="14" y="130"/>
                </a:cxn>
                <a:cxn ang="0">
                  <a:pos x="7" y="130"/>
                </a:cxn>
                <a:cxn ang="0">
                  <a:pos x="14" y="123"/>
                </a:cxn>
                <a:cxn ang="0">
                  <a:pos x="14" y="116"/>
                </a:cxn>
                <a:cxn ang="0">
                  <a:pos x="29" y="43"/>
                </a:cxn>
                <a:cxn ang="0">
                  <a:pos x="29" y="43"/>
                </a:cxn>
                <a:cxn ang="0">
                  <a:pos x="14" y="51"/>
                </a:cxn>
                <a:cxn ang="0">
                  <a:pos x="0" y="51"/>
                </a:cxn>
                <a:cxn ang="0">
                  <a:pos x="0" y="58"/>
                </a:cxn>
                <a:cxn ang="0">
                  <a:pos x="7" y="58"/>
                </a:cxn>
                <a:cxn ang="0">
                  <a:pos x="14" y="58"/>
                </a:cxn>
                <a:cxn ang="0">
                  <a:pos x="14" y="72"/>
                </a:cxn>
                <a:cxn ang="0">
                  <a:pos x="7" y="94"/>
                </a:cxn>
                <a:cxn ang="0">
                  <a:pos x="0" y="116"/>
                </a:cxn>
                <a:cxn ang="0">
                  <a:pos x="0" y="130"/>
                </a:cxn>
                <a:cxn ang="0">
                  <a:pos x="0" y="138"/>
                </a:cxn>
                <a:cxn ang="0">
                  <a:pos x="7" y="145"/>
                </a:cxn>
                <a:cxn ang="0">
                  <a:pos x="22" y="138"/>
                </a:cxn>
                <a:cxn ang="0">
                  <a:pos x="29" y="116"/>
                </a:cxn>
                <a:cxn ang="0">
                  <a:pos x="29" y="116"/>
                </a:cxn>
                <a:cxn ang="0">
                  <a:pos x="36" y="14"/>
                </a:cxn>
                <a:cxn ang="0">
                  <a:pos x="36" y="7"/>
                </a:cxn>
                <a:cxn ang="0">
                  <a:pos x="29" y="0"/>
                </a:cxn>
                <a:cxn ang="0">
                  <a:pos x="22" y="7"/>
                </a:cxn>
                <a:cxn ang="0">
                  <a:pos x="22" y="14"/>
                </a:cxn>
                <a:cxn ang="0">
                  <a:pos x="22" y="22"/>
                </a:cxn>
                <a:cxn ang="0">
                  <a:pos x="29" y="22"/>
                </a:cxn>
                <a:cxn ang="0">
                  <a:pos x="36" y="22"/>
                </a:cxn>
                <a:cxn ang="0">
                  <a:pos x="36" y="14"/>
                </a:cxn>
                <a:cxn ang="0">
                  <a:pos x="36" y="14"/>
                </a:cxn>
              </a:cxnLst>
              <a:rect l="txL" t="txT" r="txR" b="txB"/>
              <a:pathLst>
                <a:path w="36" h="145">
                  <a:moveTo>
                    <a:pt x="29" y="116"/>
                  </a:moveTo>
                  <a:lnTo>
                    <a:pt x="22" y="130"/>
                  </a:lnTo>
                  <a:lnTo>
                    <a:pt x="14" y="130"/>
                  </a:lnTo>
                  <a:lnTo>
                    <a:pt x="7" y="130"/>
                  </a:lnTo>
                  <a:lnTo>
                    <a:pt x="14" y="123"/>
                  </a:lnTo>
                  <a:lnTo>
                    <a:pt x="14" y="116"/>
                  </a:lnTo>
                  <a:lnTo>
                    <a:pt x="29" y="43"/>
                  </a:lnTo>
                  <a:lnTo>
                    <a:pt x="14" y="51"/>
                  </a:lnTo>
                  <a:lnTo>
                    <a:pt x="0" y="51"/>
                  </a:lnTo>
                  <a:lnTo>
                    <a:pt x="0" y="58"/>
                  </a:lnTo>
                  <a:lnTo>
                    <a:pt x="7" y="58"/>
                  </a:lnTo>
                  <a:lnTo>
                    <a:pt x="14" y="58"/>
                  </a:lnTo>
                  <a:lnTo>
                    <a:pt x="14" y="72"/>
                  </a:lnTo>
                  <a:lnTo>
                    <a:pt x="7" y="94"/>
                  </a:lnTo>
                  <a:lnTo>
                    <a:pt x="0" y="116"/>
                  </a:lnTo>
                  <a:lnTo>
                    <a:pt x="0" y="130"/>
                  </a:lnTo>
                  <a:lnTo>
                    <a:pt x="0" y="138"/>
                  </a:lnTo>
                  <a:lnTo>
                    <a:pt x="7" y="145"/>
                  </a:lnTo>
                  <a:lnTo>
                    <a:pt x="22" y="138"/>
                  </a:lnTo>
                  <a:lnTo>
                    <a:pt x="29" y="116"/>
                  </a:lnTo>
                  <a:close/>
                  <a:moveTo>
                    <a:pt x="36" y="14"/>
                  </a:moveTo>
                  <a:lnTo>
                    <a:pt x="36" y="7"/>
                  </a:lnTo>
                  <a:lnTo>
                    <a:pt x="29" y="0"/>
                  </a:lnTo>
                  <a:lnTo>
                    <a:pt x="22" y="7"/>
                  </a:lnTo>
                  <a:lnTo>
                    <a:pt x="22" y="14"/>
                  </a:lnTo>
                  <a:lnTo>
                    <a:pt x="22" y="22"/>
                  </a:lnTo>
                  <a:lnTo>
                    <a:pt x="29" y="22"/>
                  </a:lnTo>
                  <a:lnTo>
                    <a:pt x="36" y="22"/>
                  </a:lnTo>
                  <a:lnTo>
                    <a:pt x="36" y="1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3" name="Freeform 85"/>
            <p:cNvSpPr>
              <a:spLocks noChangeAspect="1"/>
            </p:cNvSpPr>
            <p:nvPr/>
          </p:nvSpPr>
          <p:spPr>
            <a:xfrm>
              <a:off x="1946" y="2832"/>
              <a:ext cx="320" cy="356"/>
            </a:xfrm>
            <a:custGeom>
              <a:avLst/>
              <a:gdLst>
                <a:gd name="txL" fmla="*/ 0 w 320"/>
                <a:gd name="txT" fmla="*/ 0 h 356"/>
                <a:gd name="txR" fmla="*/ 320 w 320"/>
                <a:gd name="txB" fmla="*/ 356 h 356"/>
              </a:gdLst>
              <a:ahLst/>
              <a:cxnLst>
                <a:cxn ang="0">
                  <a:pos x="160" y="356"/>
                </a:cxn>
                <a:cxn ang="0">
                  <a:pos x="189" y="356"/>
                </a:cxn>
                <a:cxn ang="0">
                  <a:pos x="225" y="341"/>
                </a:cxn>
                <a:cxn ang="0">
                  <a:pos x="276" y="305"/>
                </a:cxn>
                <a:cxn ang="0">
                  <a:pos x="305" y="247"/>
                </a:cxn>
                <a:cxn ang="0">
                  <a:pos x="320" y="181"/>
                </a:cxn>
                <a:cxn ang="0">
                  <a:pos x="305" y="109"/>
                </a:cxn>
                <a:cxn ang="0">
                  <a:pos x="276" y="51"/>
                </a:cxn>
                <a:cxn ang="0">
                  <a:pos x="225" y="14"/>
                </a:cxn>
                <a:cxn ang="0">
                  <a:pos x="189" y="7"/>
                </a:cxn>
                <a:cxn ang="0">
                  <a:pos x="160" y="0"/>
                </a:cxn>
                <a:cxn ang="0">
                  <a:pos x="131" y="7"/>
                </a:cxn>
                <a:cxn ang="0">
                  <a:pos x="102" y="14"/>
                </a:cxn>
                <a:cxn ang="0">
                  <a:pos x="51" y="51"/>
                </a:cxn>
                <a:cxn ang="0">
                  <a:pos x="15" y="109"/>
                </a:cxn>
                <a:cxn ang="0">
                  <a:pos x="0" y="181"/>
                </a:cxn>
                <a:cxn ang="0">
                  <a:pos x="15" y="247"/>
                </a:cxn>
                <a:cxn ang="0">
                  <a:pos x="51" y="305"/>
                </a:cxn>
                <a:cxn ang="0">
                  <a:pos x="102" y="341"/>
                </a:cxn>
                <a:cxn ang="0">
                  <a:pos x="131" y="356"/>
                </a:cxn>
                <a:cxn ang="0">
                  <a:pos x="160" y="356"/>
                </a:cxn>
                <a:cxn ang="0">
                  <a:pos x="160" y="356"/>
                </a:cxn>
              </a:cxnLst>
              <a:rect l="txL" t="txT" r="txR" b="txB"/>
              <a:pathLst>
                <a:path w="320" h="356">
                  <a:moveTo>
                    <a:pt x="160" y="356"/>
                  </a:moveTo>
                  <a:lnTo>
                    <a:pt x="189" y="356"/>
                  </a:lnTo>
                  <a:lnTo>
                    <a:pt x="225" y="341"/>
                  </a:lnTo>
                  <a:lnTo>
                    <a:pt x="276" y="305"/>
                  </a:lnTo>
                  <a:lnTo>
                    <a:pt x="305" y="247"/>
                  </a:lnTo>
                  <a:lnTo>
                    <a:pt x="320" y="181"/>
                  </a:lnTo>
                  <a:lnTo>
                    <a:pt x="305" y="109"/>
                  </a:lnTo>
                  <a:lnTo>
                    <a:pt x="276" y="51"/>
                  </a:lnTo>
                  <a:lnTo>
                    <a:pt x="225" y="14"/>
                  </a:lnTo>
                  <a:lnTo>
                    <a:pt x="189" y="7"/>
                  </a:lnTo>
                  <a:lnTo>
                    <a:pt x="160" y="0"/>
                  </a:lnTo>
                  <a:lnTo>
                    <a:pt x="131" y="7"/>
                  </a:lnTo>
                  <a:lnTo>
                    <a:pt x="102" y="14"/>
                  </a:lnTo>
                  <a:lnTo>
                    <a:pt x="51" y="51"/>
                  </a:lnTo>
                  <a:lnTo>
                    <a:pt x="15" y="109"/>
                  </a:lnTo>
                  <a:lnTo>
                    <a:pt x="0" y="181"/>
                  </a:lnTo>
                  <a:lnTo>
                    <a:pt x="15" y="247"/>
                  </a:lnTo>
                  <a:lnTo>
                    <a:pt x="51" y="305"/>
                  </a:lnTo>
                  <a:lnTo>
                    <a:pt x="102" y="341"/>
                  </a:lnTo>
                  <a:lnTo>
                    <a:pt x="131" y="356"/>
                  </a:lnTo>
                  <a:lnTo>
                    <a:pt x="160" y="356"/>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4" name="Freeform 86"/>
            <p:cNvSpPr>
              <a:spLocks noChangeAspect="1"/>
            </p:cNvSpPr>
            <p:nvPr/>
          </p:nvSpPr>
          <p:spPr>
            <a:xfrm>
              <a:off x="2106" y="3013"/>
              <a:ext cx="160" cy="175"/>
            </a:xfrm>
            <a:custGeom>
              <a:avLst/>
              <a:gdLst>
                <a:gd name="txL" fmla="*/ 0 w 160"/>
                <a:gd name="txT" fmla="*/ 0 h 175"/>
                <a:gd name="txR" fmla="*/ 160 w 160"/>
                <a:gd name="txB" fmla="*/ 175 h 175"/>
              </a:gdLst>
              <a:ahLst/>
              <a:cxnLst>
                <a:cxn ang="0">
                  <a:pos x="0" y="175"/>
                </a:cxn>
                <a:cxn ang="0">
                  <a:pos x="29" y="175"/>
                </a:cxn>
                <a:cxn ang="0">
                  <a:pos x="65" y="160"/>
                </a:cxn>
                <a:cxn ang="0">
                  <a:pos x="116" y="124"/>
                </a:cxn>
                <a:cxn ang="0">
                  <a:pos x="145" y="66"/>
                </a:cxn>
                <a:cxn ang="0">
                  <a:pos x="160" y="0"/>
                </a:cxn>
                <a:cxn ang="0">
                  <a:pos x="160" y="0"/>
                </a:cxn>
                <a:cxn ang="0">
                  <a:pos x="145" y="66"/>
                </a:cxn>
                <a:cxn ang="0">
                  <a:pos x="116" y="124"/>
                </a:cxn>
                <a:cxn ang="0">
                  <a:pos x="65" y="160"/>
                </a:cxn>
                <a:cxn ang="0">
                  <a:pos x="29" y="175"/>
                </a:cxn>
                <a:cxn ang="0">
                  <a:pos x="0" y="175"/>
                </a:cxn>
                <a:cxn ang="0">
                  <a:pos x="0" y="175"/>
                </a:cxn>
              </a:cxnLst>
              <a:rect l="txL" t="txT" r="txR" b="txB"/>
              <a:pathLst>
                <a:path w="160" h="175">
                  <a:moveTo>
                    <a:pt x="0" y="175"/>
                  </a:moveTo>
                  <a:lnTo>
                    <a:pt x="29" y="175"/>
                  </a:lnTo>
                  <a:lnTo>
                    <a:pt x="65" y="160"/>
                  </a:lnTo>
                  <a:lnTo>
                    <a:pt x="116" y="124"/>
                  </a:lnTo>
                  <a:lnTo>
                    <a:pt x="145" y="66"/>
                  </a:lnTo>
                  <a:lnTo>
                    <a:pt x="160" y="0"/>
                  </a:lnTo>
                  <a:lnTo>
                    <a:pt x="145" y="66"/>
                  </a:lnTo>
                  <a:lnTo>
                    <a:pt x="116" y="124"/>
                  </a:lnTo>
                  <a:lnTo>
                    <a:pt x="65" y="160"/>
                  </a:lnTo>
                  <a:lnTo>
                    <a:pt x="29" y="175"/>
                  </a:lnTo>
                  <a:lnTo>
                    <a:pt x="0" y="17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5" name="Freeform 87"/>
            <p:cNvSpPr>
              <a:spLocks noChangeAspect="1" noEditPoints="1"/>
            </p:cNvSpPr>
            <p:nvPr/>
          </p:nvSpPr>
          <p:spPr>
            <a:xfrm>
              <a:off x="2106" y="2832"/>
              <a:ext cx="160" cy="181"/>
            </a:xfrm>
            <a:custGeom>
              <a:avLst/>
              <a:gdLst>
                <a:gd name="txL" fmla="*/ 0 w 160"/>
                <a:gd name="txT" fmla="*/ 0 h 181"/>
                <a:gd name="txR" fmla="*/ 160 w 160"/>
                <a:gd name="txB" fmla="*/ 181 h 181"/>
              </a:gdLst>
              <a:ahLst/>
              <a:cxnLst>
                <a:cxn ang="0">
                  <a:pos x="160" y="181"/>
                </a:cxn>
                <a:cxn ang="0">
                  <a:pos x="145" y="109"/>
                </a:cxn>
                <a:cxn ang="0">
                  <a:pos x="116" y="51"/>
                </a:cxn>
                <a:cxn ang="0">
                  <a:pos x="65" y="14"/>
                </a:cxn>
                <a:cxn ang="0">
                  <a:pos x="29" y="7"/>
                </a:cxn>
                <a:cxn ang="0">
                  <a:pos x="0" y="0"/>
                </a:cxn>
                <a:cxn ang="0">
                  <a:pos x="0" y="0"/>
                </a:cxn>
                <a:cxn ang="0">
                  <a:pos x="29" y="7"/>
                </a:cxn>
                <a:cxn ang="0">
                  <a:pos x="65" y="14"/>
                </a:cxn>
                <a:cxn ang="0">
                  <a:pos x="116" y="51"/>
                </a:cxn>
                <a:cxn ang="0">
                  <a:pos x="145" y="109"/>
                </a:cxn>
                <a:cxn ang="0">
                  <a:pos x="160" y="181"/>
                </a:cxn>
                <a:cxn ang="0">
                  <a:pos x="160" y="181"/>
                </a:cxn>
                <a:cxn ang="0">
                  <a:pos x="160" y="181"/>
                </a:cxn>
                <a:cxn ang="0">
                  <a:pos x="160" y="181"/>
                </a:cxn>
                <a:cxn ang="0">
                  <a:pos x="160" y="181"/>
                </a:cxn>
              </a:cxnLst>
              <a:rect l="txL" t="txT" r="txR" b="txB"/>
              <a:pathLst>
                <a:path w="160" h="181">
                  <a:moveTo>
                    <a:pt x="160" y="181"/>
                  </a:moveTo>
                  <a:lnTo>
                    <a:pt x="145" y="109"/>
                  </a:lnTo>
                  <a:lnTo>
                    <a:pt x="116" y="51"/>
                  </a:lnTo>
                  <a:lnTo>
                    <a:pt x="65" y="14"/>
                  </a:lnTo>
                  <a:lnTo>
                    <a:pt x="29" y="7"/>
                  </a:lnTo>
                  <a:lnTo>
                    <a:pt x="0" y="0"/>
                  </a:lnTo>
                  <a:lnTo>
                    <a:pt x="29" y="7"/>
                  </a:lnTo>
                  <a:lnTo>
                    <a:pt x="65" y="14"/>
                  </a:lnTo>
                  <a:lnTo>
                    <a:pt x="116" y="51"/>
                  </a:lnTo>
                  <a:lnTo>
                    <a:pt x="145" y="109"/>
                  </a:lnTo>
                  <a:lnTo>
                    <a:pt x="160" y="181"/>
                  </a:lnTo>
                  <a:close/>
                  <a:moveTo>
                    <a:pt x="160" y="181"/>
                  </a:moveTo>
                  <a:lnTo>
                    <a:pt x="160" y="18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6" name="Freeform 88"/>
            <p:cNvSpPr>
              <a:spLocks noChangeAspect="1" noEditPoints="1"/>
            </p:cNvSpPr>
            <p:nvPr/>
          </p:nvSpPr>
          <p:spPr>
            <a:xfrm>
              <a:off x="1946" y="2832"/>
              <a:ext cx="160" cy="181"/>
            </a:xfrm>
            <a:custGeom>
              <a:avLst/>
              <a:gdLst>
                <a:gd name="txL" fmla="*/ 0 w 160"/>
                <a:gd name="txT" fmla="*/ 0 h 181"/>
                <a:gd name="txR" fmla="*/ 160 w 160"/>
                <a:gd name="txB" fmla="*/ 181 h 181"/>
              </a:gdLst>
              <a:ahLst/>
              <a:cxnLst>
                <a:cxn ang="0">
                  <a:pos x="160" y="0"/>
                </a:cxn>
                <a:cxn ang="0">
                  <a:pos x="131" y="7"/>
                </a:cxn>
                <a:cxn ang="0">
                  <a:pos x="102" y="14"/>
                </a:cxn>
                <a:cxn ang="0">
                  <a:pos x="51" y="51"/>
                </a:cxn>
                <a:cxn ang="0">
                  <a:pos x="15" y="109"/>
                </a:cxn>
                <a:cxn ang="0">
                  <a:pos x="0" y="181"/>
                </a:cxn>
                <a:cxn ang="0">
                  <a:pos x="0" y="181"/>
                </a:cxn>
                <a:cxn ang="0">
                  <a:pos x="15" y="109"/>
                </a:cxn>
                <a:cxn ang="0">
                  <a:pos x="51" y="51"/>
                </a:cxn>
                <a:cxn ang="0">
                  <a:pos x="102" y="14"/>
                </a:cxn>
                <a:cxn ang="0">
                  <a:pos x="131" y="7"/>
                </a:cxn>
                <a:cxn ang="0">
                  <a:pos x="160" y="0"/>
                </a:cxn>
                <a:cxn ang="0">
                  <a:pos x="160" y="0"/>
                </a:cxn>
                <a:cxn ang="0">
                  <a:pos x="160" y="0"/>
                </a:cxn>
                <a:cxn ang="0">
                  <a:pos x="160" y="0"/>
                </a:cxn>
                <a:cxn ang="0">
                  <a:pos x="160" y="0"/>
                </a:cxn>
              </a:cxnLst>
              <a:rect l="txL" t="txT" r="txR" b="txB"/>
              <a:pathLst>
                <a:path w="160" h="181">
                  <a:moveTo>
                    <a:pt x="160" y="0"/>
                  </a:moveTo>
                  <a:lnTo>
                    <a:pt x="131" y="7"/>
                  </a:lnTo>
                  <a:lnTo>
                    <a:pt x="102" y="14"/>
                  </a:lnTo>
                  <a:lnTo>
                    <a:pt x="51" y="51"/>
                  </a:lnTo>
                  <a:lnTo>
                    <a:pt x="15" y="109"/>
                  </a:lnTo>
                  <a:lnTo>
                    <a:pt x="0" y="181"/>
                  </a:lnTo>
                  <a:lnTo>
                    <a:pt x="15" y="109"/>
                  </a:lnTo>
                  <a:lnTo>
                    <a:pt x="51" y="51"/>
                  </a:lnTo>
                  <a:lnTo>
                    <a:pt x="102" y="14"/>
                  </a:lnTo>
                  <a:lnTo>
                    <a:pt x="131" y="7"/>
                  </a:lnTo>
                  <a:lnTo>
                    <a:pt x="160" y="0"/>
                  </a:lnTo>
                  <a:close/>
                  <a:moveTo>
                    <a:pt x="160" y="0"/>
                  </a:moveTo>
                  <a:lnTo>
                    <a:pt x="16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7" name="Freeform 89"/>
            <p:cNvSpPr>
              <a:spLocks noChangeAspect="1" noEditPoints="1"/>
            </p:cNvSpPr>
            <p:nvPr/>
          </p:nvSpPr>
          <p:spPr>
            <a:xfrm>
              <a:off x="1946" y="3013"/>
              <a:ext cx="160" cy="175"/>
            </a:xfrm>
            <a:custGeom>
              <a:avLst/>
              <a:gdLst>
                <a:gd name="txL" fmla="*/ 0 w 160"/>
                <a:gd name="txT" fmla="*/ 0 h 175"/>
                <a:gd name="txR" fmla="*/ 160 w 160"/>
                <a:gd name="txB" fmla="*/ 175 h 175"/>
              </a:gdLst>
              <a:ahLst/>
              <a:cxnLst>
                <a:cxn ang="0">
                  <a:pos x="0" y="0"/>
                </a:cxn>
                <a:cxn ang="0">
                  <a:pos x="15" y="66"/>
                </a:cxn>
                <a:cxn ang="0">
                  <a:pos x="51" y="124"/>
                </a:cxn>
                <a:cxn ang="0">
                  <a:pos x="102" y="160"/>
                </a:cxn>
                <a:cxn ang="0">
                  <a:pos x="131" y="175"/>
                </a:cxn>
                <a:cxn ang="0">
                  <a:pos x="160" y="175"/>
                </a:cxn>
                <a:cxn ang="0">
                  <a:pos x="160" y="175"/>
                </a:cxn>
                <a:cxn ang="0">
                  <a:pos x="131" y="175"/>
                </a:cxn>
                <a:cxn ang="0">
                  <a:pos x="102" y="160"/>
                </a:cxn>
                <a:cxn ang="0">
                  <a:pos x="51" y="124"/>
                </a:cxn>
                <a:cxn ang="0">
                  <a:pos x="15" y="66"/>
                </a:cxn>
                <a:cxn ang="0">
                  <a:pos x="0" y="0"/>
                </a:cxn>
                <a:cxn ang="0">
                  <a:pos x="0" y="0"/>
                </a:cxn>
                <a:cxn ang="0">
                  <a:pos x="0" y="0"/>
                </a:cxn>
                <a:cxn ang="0">
                  <a:pos x="0" y="0"/>
                </a:cxn>
                <a:cxn ang="0">
                  <a:pos x="0" y="0"/>
                </a:cxn>
              </a:cxnLst>
              <a:rect l="txL" t="txT" r="txR" b="txB"/>
              <a:pathLst>
                <a:path w="160" h="175">
                  <a:moveTo>
                    <a:pt x="0" y="0"/>
                  </a:moveTo>
                  <a:lnTo>
                    <a:pt x="15" y="66"/>
                  </a:lnTo>
                  <a:lnTo>
                    <a:pt x="51" y="124"/>
                  </a:lnTo>
                  <a:lnTo>
                    <a:pt x="102" y="160"/>
                  </a:lnTo>
                  <a:lnTo>
                    <a:pt x="131" y="175"/>
                  </a:lnTo>
                  <a:lnTo>
                    <a:pt x="160" y="175"/>
                  </a:lnTo>
                  <a:lnTo>
                    <a:pt x="131" y="175"/>
                  </a:lnTo>
                  <a:lnTo>
                    <a:pt x="102" y="160"/>
                  </a:lnTo>
                  <a:lnTo>
                    <a:pt x="51" y="124"/>
                  </a:lnTo>
                  <a:lnTo>
                    <a:pt x="15" y="6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8" name="Freeform 90"/>
            <p:cNvSpPr>
              <a:spLocks noChangeAspect="1"/>
            </p:cNvSpPr>
            <p:nvPr/>
          </p:nvSpPr>
          <p:spPr>
            <a:xfrm>
              <a:off x="2106" y="318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9" name="Freeform 91"/>
            <p:cNvSpPr>
              <a:spLocks noChangeAspect="1"/>
            </p:cNvSpPr>
            <p:nvPr/>
          </p:nvSpPr>
          <p:spPr>
            <a:xfrm>
              <a:off x="2106" y="3006"/>
              <a:ext cx="1" cy="138"/>
            </a:xfrm>
            <a:custGeom>
              <a:avLst/>
              <a:gdLst>
                <a:gd name="txL" fmla="*/ 0 w 1"/>
                <a:gd name="txT" fmla="*/ 0 h 138"/>
                <a:gd name="txR" fmla="*/ 1 w 1"/>
                <a:gd name="txB" fmla="*/ 138 h 138"/>
              </a:gdLst>
              <a:ahLst/>
              <a:cxnLst>
                <a:cxn ang="0">
                  <a:pos x="0" y="138"/>
                </a:cxn>
                <a:cxn ang="0">
                  <a:pos x="0" y="0"/>
                </a:cxn>
                <a:cxn ang="0">
                  <a:pos x="0" y="138"/>
                </a:cxn>
                <a:cxn ang="0">
                  <a:pos x="0" y="138"/>
                </a:cxn>
              </a:cxnLst>
              <a:rect l="txL" t="txT" r="txR" b="txB"/>
              <a:pathLst>
                <a:path w="1" h="138">
                  <a:moveTo>
                    <a:pt x="0" y="138"/>
                  </a:moveTo>
                  <a:lnTo>
                    <a:pt x="0" y="0"/>
                  </a:lnTo>
                  <a:lnTo>
                    <a:pt x="0" y="13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0" name="Freeform 92"/>
            <p:cNvSpPr>
              <a:spLocks noChangeAspect="1"/>
            </p:cNvSpPr>
            <p:nvPr/>
          </p:nvSpPr>
          <p:spPr>
            <a:xfrm>
              <a:off x="2062" y="2875"/>
              <a:ext cx="80" cy="160"/>
            </a:xfrm>
            <a:custGeom>
              <a:avLst/>
              <a:gdLst>
                <a:gd name="txL" fmla="*/ 0 w 80"/>
                <a:gd name="txT" fmla="*/ 0 h 160"/>
                <a:gd name="txR" fmla="*/ 80 w 80"/>
                <a:gd name="txB" fmla="*/ 160 h 160"/>
              </a:gdLst>
              <a:ahLst/>
              <a:cxnLst>
                <a:cxn ang="0">
                  <a:pos x="80" y="160"/>
                </a:cxn>
                <a:cxn ang="0">
                  <a:pos x="44" y="0"/>
                </a:cxn>
                <a:cxn ang="0">
                  <a:pos x="0" y="160"/>
                </a:cxn>
                <a:cxn ang="0">
                  <a:pos x="80" y="160"/>
                </a:cxn>
                <a:cxn ang="0">
                  <a:pos x="80" y="160"/>
                </a:cxn>
              </a:cxnLst>
              <a:rect l="txL" t="txT" r="txR" b="txB"/>
              <a:pathLst>
                <a:path w="80" h="160">
                  <a:moveTo>
                    <a:pt x="80" y="160"/>
                  </a:moveTo>
                  <a:lnTo>
                    <a:pt x="44" y="0"/>
                  </a:lnTo>
                  <a:lnTo>
                    <a:pt x="0" y="160"/>
                  </a:lnTo>
                  <a:lnTo>
                    <a:pt x="80" y="16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1" name="Freeform 93"/>
            <p:cNvSpPr>
              <a:spLocks noChangeAspect="1"/>
            </p:cNvSpPr>
            <p:nvPr/>
          </p:nvSpPr>
          <p:spPr>
            <a:xfrm>
              <a:off x="2687" y="3899"/>
              <a:ext cx="51" cy="181"/>
            </a:xfrm>
            <a:custGeom>
              <a:avLst/>
              <a:gdLst>
                <a:gd name="txL" fmla="*/ 0 w 51"/>
                <a:gd name="txT" fmla="*/ 0 h 181"/>
                <a:gd name="txR" fmla="*/ 51 w 51"/>
                <a:gd name="txB" fmla="*/ 181 h 181"/>
              </a:gdLst>
              <a:ahLst/>
              <a:cxnLst>
                <a:cxn ang="0">
                  <a:pos x="44" y="0"/>
                </a:cxn>
                <a:cxn ang="0">
                  <a:pos x="15" y="36"/>
                </a:cxn>
                <a:cxn ang="0">
                  <a:pos x="0" y="87"/>
                </a:cxn>
                <a:cxn ang="0">
                  <a:pos x="8" y="123"/>
                </a:cxn>
                <a:cxn ang="0">
                  <a:pos x="15" y="145"/>
                </a:cxn>
                <a:cxn ang="0">
                  <a:pos x="30" y="167"/>
                </a:cxn>
                <a:cxn ang="0">
                  <a:pos x="44" y="181"/>
                </a:cxn>
                <a:cxn ang="0">
                  <a:pos x="51" y="181"/>
                </a:cxn>
                <a:cxn ang="0">
                  <a:pos x="30" y="160"/>
                </a:cxn>
                <a:cxn ang="0">
                  <a:pos x="22" y="131"/>
                </a:cxn>
                <a:cxn ang="0">
                  <a:pos x="15" y="109"/>
                </a:cxn>
                <a:cxn ang="0">
                  <a:pos x="15" y="87"/>
                </a:cxn>
                <a:cxn ang="0">
                  <a:pos x="22" y="58"/>
                </a:cxn>
                <a:cxn ang="0">
                  <a:pos x="30" y="29"/>
                </a:cxn>
                <a:cxn ang="0">
                  <a:pos x="37" y="15"/>
                </a:cxn>
                <a:cxn ang="0">
                  <a:pos x="51" y="7"/>
                </a:cxn>
                <a:cxn ang="0">
                  <a:pos x="44" y="0"/>
                </a:cxn>
              </a:cxnLst>
              <a:rect l="txL" t="txT" r="txR" b="txB"/>
              <a:pathLst>
                <a:path w="51" h="181">
                  <a:moveTo>
                    <a:pt x="44" y="0"/>
                  </a:moveTo>
                  <a:lnTo>
                    <a:pt x="15" y="36"/>
                  </a:lnTo>
                  <a:lnTo>
                    <a:pt x="0" y="87"/>
                  </a:lnTo>
                  <a:lnTo>
                    <a:pt x="8" y="123"/>
                  </a:lnTo>
                  <a:lnTo>
                    <a:pt x="15" y="145"/>
                  </a:lnTo>
                  <a:lnTo>
                    <a:pt x="30" y="167"/>
                  </a:lnTo>
                  <a:lnTo>
                    <a:pt x="44" y="181"/>
                  </a:lnTo>
                  <a:lnTo>
                    <a:pt x="51" y="181"/>
                  </a:lnTo>
                  <a:lnTo>
                    <a:pt x="30" y="160"/>
                  </a:lnTo>
                  <a:lnTo>
                    <a:pt x="22" y="131"/>
                  </a:lnTo>
                  <a:lnTo>
                    <a:pt x="15" y="109"/>
                  </a:lnTo>
                  <a:lnTo>
                    <a:pt x="15" y="87"/>
                  </a:lnTo>
                  <a:lnTo>
                    <a:pt x="22" y="58"/>
                  </a:lnTo>
                  <a:lnTo>
                    <a:pt x="30" y="29"/>
                  </a:lnTo>
                  <a:lnTo>
                    <a:pt x="37" y="15"/>
                  </a:lnTo>
                  <a:lnTo>
                    <a:pt x="51" y="7"/>
                  </a:lnTo>
                  <a:lnTo>
                    <a:pt x="4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2" name="Freeform 94"/>
            <p:cNvSpPr>
              <a:spLocks noChangeAspect="1" noEditPoints="1"/>
            </p:cNvSpPr>
            <p:nvPr/>
          </p:nvSpPr>
          <p:spPr>
            <a:xfrm>
              <a:off x="2738" y="3899"/>
              <a:ext cx="95" cy="145"/>
            </a:xfrm>
            <a:custGeom>
              <a:avLst/>
              <a:gdLst>
                <a:gd name="txL" fmla="*/ 0 w 95"/>
                <a:gd name="txT" fmla="*/ 0 h 145"/>
                <a:gd name="txR" fmla="*/ 95 w 95"/>
                <a:gd name="txB" fmla="*/ 145 h 145"/>
              </a:gdLst>
              <a:ahLst/>
              <a:cxnLst>
                <a:cxn ang="0">
                  <a:pos x="29" y="80"/>
                </a:cxn>
                <a:cxn ang="0">
                  <a:pos x="37" y="65"/>
                </a:cxn>
                <a:cxn ang="0">
                  <a:pos x="51" y="58"/>
                </a:cxn>
                <a:cxn ang="0">
                  <a:pos x="59" y="65"/>
                </a:cxn>
                <a:cxn ang="0">
                  <a:pos x="66" y="73"/>
                </a:cxn>
                <a:cxn ang="0">
                  <a:pos x="73" y="102"/>
                </a:cxn>
                <a:cxn ang="0">
                  <a:pos x="73" y="123"/>
                </a:cxn>
                <a:cxn ang="0">
                  <a:pos x="66" y="138"/>
                </a:cxn>
                <a:cxn ang="0">
                  <a:pos x="51" y="138"/>
                </a:cxn>
                <a:cxn ang="0">
                  <a:pos x="37" y="138"/>
                </a:cxn>
                <a:cxn ang="0">
                  <a:pos x="29" y="131"/>
                </a:cxn>
                <a:cxn ang="0">
                  <a:pos x="29" y="80"/>
                </a:cxn>
                <a:cxn ang="0">
                  <a:pos x="15" y="131"/>
                </a:cxn>
                <a:cxn ang="0">
                  <a:pos x="22" y="138"/>
                </a:cxn>
                <a:cxn ang="0">
                  <a:pos x="29" y="138"/>
                </a:cxn>
                <a:cxn ang="0">
                  <a:pos x="44" y="145"/>
                </a:cxn>
                <a:cxn ang="0">
                  <a:pos x="66" y="138"/>
                </a:cxn>
                <a:cxn ang="0">
                  <a:pos x="80" y="131"/>
                </a:cxn>
                <a:cxn ang="0">
                  <a:pos x="95" y="94"/>
                </a:cxn>
                <a:cxn ang="0">
                  <a:pos x="88" y="65"/>
                </a:cxn>
                <a:cxn ang="0">
                  <a:pos x="73" y="58"/>
                </a:cxn>
                <a:cxn ang="0">
                  <a:pos x="59" y="51"/>
                </a:cxn>
                <a:cxn ang="0">
                  <a:pos x="44" y="58"/>
                </a:cxn>
                <a:cxn ang="0">
                  <a:pos x="29" y="65"/>
                </a:cxn>
                <a:cxn ang="0">
                  <a:pos x="29" y="65"/>
                </a:cxn>
                <a:cxn ang="0">
                  <a:pos x="29" y="0"/>
                </a:cxn>
                <a:cxn ang="0">
                  <a:pos x="29" y="0"/>
                </a:cxn>
                <a:cxn ang="0">
                  <a:pos x="15" y="7"/>
                </a:cxn>
                <a:cxn ang="0">
                  <a:pos x="0" y="7"/>
                </a:cxn>
                <a:cxn ang="0">
                  <a:pos x="0" y="15"/>
                </a:cxn>
                <a:cxn ang="0">
                  <a:pos x="8" y="15"/>
                </a:cxn>
                <a:cxn ang="0">
                  <a:pos x="8" y="15"/>
                </a:cxn>
                <a:cxn ang="0">
                  <a:pos x="15" y="15"/>
                </a:cxn>
                <a:cxn ang="0">
                  <a:pos x="15" y="22"/>
                </a:cxn>
                <a:cxn ang="0">
                  <a:pos x="15" y="131"/>
                </a:cxn>
              </a:cxnLst>
              <a:rect l="txL" t="txT" r="txR" b="txB"/>
              <a:pathLst>
                <a:path w="95" h="145">
                  <a:moveTo>
                    <a:pt x="29" y="80"/>
                  </a:moveTo>
                  <a:lnTo>
                    <a:pt x="37" y="65"/>
                  </a:lnTo>
                  <a:lnTo>
                    <a:pt x="51" y="58"/>
                  </a:lnTo>
                  <a:lnTo>
                    <a:pt x="59" y="65"/>
                  </a:lnTo>
                  <a:lnTo>
                    <a:pt x="66" y="73"/>
                  </a:lnTo>
                  <a:lnTo>
                    <a:pt x="73" y="102"/>
                  </a:lnTo>
                  <a:lnTo>
                    <a:pt x="73" y="123"/>
                  </a:lnTo>
                  <a:lnTo>
                    <a:pt x="66" y="138"/>
                  </a:lnTo>
                  <a:lnTo>
                    <a:pt x="51" y="138"/>
                  </a:lnTo>
                  <a:lnTo>
                    <a:pt x="37" y="138"/>
                  </a:lnTo>
                  <a:lnTo>
                    <a:pt x="29" y="131"/>
                  </a:lnTo>
                  <a:lnTo>
                    <a:pt x="29" y="80"/>
                  </a:lnTo>
                  <a:close/>
                  <a:moveTo>
                    <a:pt x="15" y="131"/>
                  </a:moveTo>
                  <a:lnTo>
                    <a:pt x="22" y="138"/>
                  </a:lnTo>
                  <a:lnTo>
                    <a:pt x="29" y="138"/>
                  </a:lnTo>
                  <a:lnTo>
                    <a:pt x="44" y="145"/>
                  </a:lnTo>
                  <a:lnTo>
                    <a:pt x="66" y="138"/>
                  </a:lnTo>
                  <a:lnTo>
                    <a:pt x="80" y="131"/>
                  </a:lnTo>
                  <a:lnTo>
                    <a:pt x="95" y="94"/>
                  </a:lnTo>
                  <a:lnTo>
                    <a:pt x="88" y="65"/>
                  </a:lnTo>
                  <a:lnTo>
                    <a:pt x="73" y="58"/>
                  </a:lnTo>
                  <a:lnTo>
                    <a:pt x="59" y="51"/>
                  </a:lnTo>
                  <a:lnTo>
                    <a:pt x="44" y="58"/>
                  </a:lnTo>
                  <a:lnTo>
                    <a:pt x="29" y="65"/>
                  </a:lnTo>
                  <a:lnTo>
                    <a:pt x="29" y="0"/>
                  </a:lnTo>
                  <a:lnTo>
                    <a:pt x="15" y="7"/>
                  </a:lnTo>
                  <a:lnTo>
                    <a:pt x="0" y="7"/>
                  </a:lnTo>
                  <a:lnTo>
                    <a:pt x="0" y="15"/>
                  </a:lnTo>
                  <a:lnTo>
                    <a:pt x="8" y="15"/>
                  </a:lnTo>
                  <a:lnTo>
                    <a:pt x="15" y="15"/>
                  </a:lnTo>
                  <a:lnTo>
                    <a:pt x="15" y="22"/>
                  </a:lnTo>
                  <a:lnTo>
                    <a:pt x="15" y="13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3" name="Freeform 95"/>
            <p:cNvSpPr>
              <a:spLocks noChangeAspect="1"/>
            </p:cNvSpPr>
            <p:nvPr/>
          </p:nvSpPr>
          <p:spPr>
            <a:xfrm>
              <a:off x="2840" y="3899"/>
              <a:ext cx="51" cy="181"/>
            </a:xfrm>
            <a:custGeom>
              <a:avLst/>
              <a:gdLst>
                <a:gd name="txL" fmla="*/ 0 w 51"/>
                <a:gd name="txT" fmla="*/ 0 h 181"/>
                <a:gd name="txR" fmla="*/ 51 w 51"/>
                <a:gd name="txB" fmla="*/ 181 h 181"/>
              </a:gdLst>
              <a:ahLst/>
              <a:cxnLst>
                <a:cxn ang="0">
                  <a:pos x="0" y="181"/>
                </a:cxn>
                <a:cxn ang="0">
                  <a:pos x="22" y="167"/>
                </a:cxn>
                <a:cxn ang="0">
                  <a:pos x="37" y="145"/>
                </a:cxn>
                <a:cxn ang="0">
                  <a:pos x="51" y="94"/>
                </a:cxn>
                <a:cxn ang="0">
                  <a:pos x="44" y="58"/>
                </a:cxn>
                <a:cxn ang="0">
                  <a:pos x="37" y="36"/>
                </a:cxn>
                <a:cxn ang="0">
                  <a:pos x="22" y="15"/>
                </a:cxn>
                <a:cxn ang="0">
                  <a:pos x="7" y="0"/>
                </a:cxn>
                <a:cxn ang="0">
                  <a:pos x="0" y="7"/>
                </a:cxn>
                <a:cxn ang="0">
                  <a:pos x="22" y="29"/>
                </a:cxn>
                <a:cxn ang="0">
                  <a:pos x="29" y="51"/>
                </a:cxn>
                <a:cxn ang="0">
                  <a:pos x="37" y="73"/>
                </a:cxn>
                <a:cxn ang="0">
                  <a:pos x="37" y="94"/>
                </a:cxn>
                <a:cxn ang="0">
                  <a:pos x="37" y="131"/>
                </a:cxn>
                <a:cxn ang="0">
                  <a:pos x="22" y="152"/>
                </a:cxn>
                <a:cxn ang="0">
                  <a:pos x="15" y="167"/>
                </a:cxn>
                <a:cxn ang="0">
                  <a:pos x="0" y="181"/>
                </a:cxn>
                <a:cxn ang="0">
                  <a:pos x="0" y="181"/>
                </a:cxn>
              </a:cxnLst>
              <a:rect l="txL" t="txT" r="txR" b="txB"/>
              <a:pathLst>
                <a:path w="51" h="181">
                  <a:moveTo>
                    <a:pt x="0" y="181"/>
                  </a:moveTo>
                  <a:lnTo>
                    <a:pt x="22" y="167"/>
                  </a:lnTo>
                  <a:lnTo>
                    <a:pt x="37" y="145"/>
                  </a:lnTo>
                  <a:lnTo>
                    <a:pt x="51" y="94"/>
                  </a:lnTo>
                  <a:lnTo>
                    <a:pt x="44" y="58"/>
                  </a:lnTo>
                  <a:lnTo>
                    <a:pt x="37" y="36"/>
                  </a:lnTo>
                  <a:lnTo>
                    <a:pt x="22" y="15"/>
                  </a:lnTo>
                  <a:lnTo>
                    <a:pt x="7" y="0"/>
                  </a:lnTo>
                  <a:lnTo>
                    <a:pt x="0" y="7"/>
                  </a:lnTo>
                  <a:lnTo>
                    <a:pt x="22" y="29"/>
                  </a:lnTo>
                  <a:lnTo>
                    <a:pt x="29" y="51"/>
                  </a:lnTo>
                  <a:lnTo>
                    <a:pt x="37" y="73"/>
                  </a:lnTo>
                  <a:lnTo>
                    <a:pt x="37" y="94"/>
                  </a:lnTo>
                  <a:lnTo>
                    <a:pt x="37" y="131"/>
                  </a:lnTo>
                  <a:lnTo>
                    <a:pt x="22" y="152"/>
                  </a:lnTo>
                  <a:lnTo>
                    <a:pt x="15" y="167"/>
                  </a:lnTo>
                  <a:lnTo>
                    <a:pt x="0" y="18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4" name="Freeform 96"/>
            <p:cNvSpPr>
              <a:spLocks noChangeAspect="1"/>
            </p:cNvSpPr>
            <p:nvPr/>
          </p:nvSpPr>
          <p:spPr>
            <a:xfrm>
              <a:off x="3073" y="2941"/>
              <a:ext cx="123" cy="145"/>
            </a:xfrm>
            <a:custGeom>
              <a:avLst/>
              <a:gdLst>
                <a:gd name="txL" fmla="*/ 0 w 123"/>
                <a:gd name="txT" fmla="*/ 0 h 145"/>
                <a:gd name="txR" fmla="*/ 123 w 123"/>
                <a:gd name="txB" fmla="*/ 145 h 145"/>
              </a:gdLst>
              <a:ahLst/>
              <a:cxnLst>
                <a:cxn ang="0">
                  <a:pos x="116" y="43"/>
                </a:cxn>
                <a:cxn ang="0">
                  <a:pos x="123" y="0"/>
                </a:cxn>
                <a:cxn ang="0">
                  <a:pos x="116" y="0"/>
                </a:cxn>
                <a:cxn ang="0">
                  <a:pos x="116" y="7"/>
                </a:cxn>
                <a:cxn ang="0">
                  <a:pos x="109" y="7"/>
                </a:cxn>
                <a:cxn ang="0">
                  <a:pos x="94" y="7"/>
                </a:cxn>
                <a:cxn ang="0">
                  <a:pos x="80" y="0"/>
                </a:cxn>
                <a:cxn ang="0">
                  <a:pos x="51" y="7"/>
                </a:cxn>
                <a:cxn ang="0">
                  <a:pos x="22" y="29"/>
                </a:cxn>
                <a:cxn ang="0">
                  <a:pos x="7" y="58"/>
                </a:cxn>
                <a:cxn ang="0">
                  <a:pos x="0" y="87"/>
                </a:cxn>
                <a:cxn ang="0">
                  <a:pos x="7" y="116"/>
                </a:cxn>
                <a:cxn ang="0">
                  <a:pos x="14" y="130"/>
                </a:cxn>
                <a:cxn ang="0">
                  <a:pos x="36" y="145"/>
                </a:cxn>
                <a:cxn ang="0">
                  <a:pos x="51" y="145"/>
                </a:cxn>
                <a:cxn ang="0">
                  <a:pos x="72" y="145"/>
                </a:cxn>
                <a:cxn ang="0">
                  <a:pos x="87" y="130"/>
                </a:cxn>
                <a:cxn ang="0">
                  <a:pos x="102" y="116"/>
                </a:cxn>
                <a:cxn ang="0">
                  <a:pos x="102" y="109"/>
                </a:cxn>
                <a:cxn ang="0">
                  <a:pos x="87" y="130"/>
                </a:cxn>
                <a:cxn ang="0">
                  <a:pos x="58" y="138"/>
                </a:cxn>
                <a:cxn ang="0">
                  <a:pos x="43" y="138"/>
                </a:cxn>
                <a:cxn ang="0">
                  <a:pos x="29" y="123"/>
                </a:cxn>
                <a:cxn ang="0">
                  <a:pos x="22" y="94"/>
                </a:cxn>
                <a:cxn ang="0">
                  <a:pos x="29" y="65"/>
                </a:cxn>
                <a:cxn ang="0">
                  <a:pos x="36" y="36"/>
                </a:cxn>
                <a:cxn ang="0">
                  <a:pos x="58" y="14"/>
                </a:cxn>
                <a:cxn ang="0">
                  <a:pos x="80" y="7"/>
                </a:cxn>
                <a:cxn ang="0">
                  <a:pos x="94" y="14"/>
                </a:cxn>
                <a:cxn ang="0">
                  <a:pos x="109" y="22"/>
                </a:cxn>
                <a:cxn ang="0">
                  <a:pos x="109" y="36"/>
                </a:cxn>
                <a:cxn ang="0">
                  <a:pos x="109" y="43"/>
                </a:cxn>
                <a:cxn ang="0">
                  <a:pos x="116" y="43"/>
                </a:cxn>
              </a:cxnLst>
              <a:rect l="txL" t="txT" r="txR" b="txB"/>
              <a:pathLst>
                <a:path w="123" h="145">
                  <a:moveTo>
                    <a:pt x="116" y="43"/>
                  </a:moveTo>
                  <a:lnTo>
                    <a:pt x="123" y="0"/>
                  </a:lnTo>
                  <a:lnTo>
                    <a:pt x="116" y="0"/>
                  </a:lnTo>
                  <a:lnTo>
                    <a:pt x="116" y="7"/>
                  </a:lnTo>
                  <a:lnTo>
                    <a:pt x="109" y="7"/>
                  </a:lnTo>
                  <a:lnTo>
                    <a:pt x="94" y="7"/>
                  </a:lnTo>
                  <a:lnTo>
                    <a:pt x="80" y="0"/>
                  </a:lnTo>
                  <a:lnTo>
                    <a:pt x="51" y="7"/>
                  </a:lnTo>
                  <a:lnTo>
                    <a:pt x="22" y="29"/>
                  </a:lnTo>
                  <a:lnTo>
                    <a:pt x="7" y="58"/>
                  </a:lnTo>
                  <a:lnTo>
                    <a:pt x="0" y="87"/>
                  </a:lnTo>
                  <a:lnTo>
                    <a:pt x="7" y="116"/>
                  </a:lnTo>
                  <a:lnTo>
                    <a:pt x="14" y="130"/>
                  </a:lnTo>
                  <a:lnTo>
                    <a:pt x="36" y="145"/>
                  </a:lnTo>
                  <a:lnTo>
                    <a:pt x="51" y="145"/>
                  </a:lnTo>
                  <a:lnTo>
                    <a:pt x="72" y="145"/>
                  </a:lnTo>
                  <a:lnTo>
                    <a:pt x="87" y="130"/>
                  </a:lnTo>
                  <a:lnTo>
                    <a:pt x="102" y="116"/>
                  </a:lnTo>
                  <a:lnTo>
                    <a:pt x="102" y="109"/>
                  </a:lnTo>
                  <a:lnTo>
                    <a:pt x="87" y="130"/>
                  </a:lnTo>
                  <a:lnTo>
                    <a:pt x="58" y="138"/>
                  </a:lnTo>
                  <a:lnTo>
                    <a:pt x="43" y="138"/>
                  </a:lnTo>
                  <a:lnTo>
                    <a:pt x="29" y="123"/>
                  </a:lnTo>
                  <a:lnTo>
                    <a:pt x="22" y="94"/>
                  </a:lnTo>
                  <a:lnTo>
                    <a:pt x="29" y="65"/>
                  </a:lnTo>
                  <a:lnTo>
                    <a:pt x="36" y="36"/>
                  </a:lnTo>
                  <a:lnTo>
                    <a:pt x="58" y="14"/>
                  </a:lnTo>
                  <a:lnTo>
                    <a:pt x="80" y="7"/>
                  </a:lnTo>
                  <a:lnTo>
                    <a:pt x="94" y="14"/>
                  </a:lnTo>
                  <a:lnTo>
                    <a:pt x="109" y="22"/>
                  </a:lnTo>
                  <a:lnTo>
                    <a:pt x="109" y="36"/>
                  </a:lnTo>
                  <a:lnTo>
                    <a:pt x="109" y="43"/>
                  </a:lnTo>
                  <a:lnTo>
                    <a:pt x="116" y="4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5" name="Freeform 97"/>
            <p:cNvSpPr>
              <a:spLocks noChangeAspect="1" noEditPoints="1"/>
            </p:cNvSpPr>
            <p:nvPr/>
          </p:nvSpPr>
          <p:spPr>
            <a:xfrm>
              <a:off x="3182" y="3064"/>
              <a:ext cx="58" cy="73"/>
            </a:xfrm>
            <a:custGeom>
              <a:avLst/>
              <a:gdLst>
                <a:gd name="txL" fmla="*/ 0 w 58"/>
                <a:gd name="txT" fmla="*/ 0 h 73"/>
                <a:gd name="txR" fmla="*/ 58 w 58"/>
                <a:gd name="txB" fmla="*/ 73 h 73"/>
              </a:gdLst>
              <a:ahLst/>
              <a:cxnLst>
                <a:cxn ang="0">
                  <a:pos x="51" y="44"/>
                </a:cxn>
                <a:cxn ang="0">
                  <a:pos x="43" y="58"/>
                </a:cxn>
                <a:cxn ang="0">
                  <a:pos x="29" y="66"/>
                </a:cxn>
                <a:cxn ang="0">
                  <a:pos x="22" y="58"/>
                </a:cxn>
                <a:cxn ang="0">
                  <a:pos x="14" y="51"/>
                </a:cxn>
                <a:cxn ang="0">
                  <a:pos x="7" y="29"/>
                </a:cxn>
                <a:cxn ang="0">
                  <a:pos x="51" y="29"/>
                </a:cxn>
                <a:cxn ang="0">
                  <a:pos x="43" y="7"/>
                </a:cxn>
                <a:cxn ang="0">
                  <a:pos x="29" y="0"/>
                </a:cxn>
                <a:cxn ang="0">
                  <a:pos x="7" y="7"/>
                </a:cxn>
                <a:cxn ang="0">
                  <a:pos x="0" y="22"/>
                </a:cxn>
                <a:cxn ang="0">
                  <a:pos x="0" y="37"/>
                </a:cxn>
                <a:cxn ang="0">
                  <a:pos x="7" y="66"/>
                </a:cxn>
                <a:cxn ang="0">
                  <a:pos x="29" y="73"/>
                </a:cxn>
                <a:cxn ang="0">
                  <a:pos x="43" y="73"/>
                </a:cxn>
                <a:cxn ang="0">
                  <a:pos x="51" y="58"/>
                </a:cxn>
                <a:cxn ang="0">
                  <a:pos x="58" y="44"/>
                </a:cxn>
                <a:cxn ang="0">
                  <a:pos x="51" y="44"/>
                </a:cxn>
                <a:cxn ang="0">
                  <a:pos x="7" y="22"/>
                </a:cxn>
                <a:cxn ang="0">
                  <a:pos x="14" y="7"/>
                </a:cxn>
                <a:cxn ang="0">
                  <a:pos x="29" y="7"/>
                </a:cxn>
                <a:cxn ang="0">
                  <a:pos x="36" y="15"/>
                </a:cxn>
                <a:cxn ang="0">
                  <a:pos x="36" y="22"/>
                </a:cxn>
                <a:cxn ang="0">
                  <a:pos x="7" y="22"/>
                </a:cxn>
              </a:cxnLst>
              <a:rect l="txL" t="txT" r="txR" b="txB"/>
              <a:pathLst>
                <a:path w="58" h="73">
                  <a:moveTo>
                    <a:pt x="51" y="44"/>
                  </a:moveTo>
                  <a:lnTo>
                    <a:pt x="43" y="58"/>
                  </a:lnTo>
                  <a:lnTo>
                    <a:pt x="29" y="66"/>
                  </a:lnTo>
                  <a:lnTo>
                    <a:pt x="22" y="58"/>
                  </a:lnTo>
                  <a:lnTo>
                    <a:pt x="14" y="51"/>
                  </a:lnTo>
                  <a:lnTo>
                    <a:pt x="7" y="29"/>
                  </a:lnTo>
                  <a:lnTo>
                    <a:pt x="51" y="29"/>
                  </a:lnTo>
                  <a:lnTo>
                    <a:pt x="43" y="7"/>
                  </a:lnTo>
                  <a:lnTo>
                    <a:pt x="29" y="0"/>
                  </a:lnTo>
                  <a:lnTo>
                    <a:pt x="7" y="7"/>
                  </a:lnTo>
                  <a:lnTo>
                    <a:pt x="0" y="22"/>
                  </a:lnTo>
                  <a:lnTo>
                    <a:pt x="0" y="37"/>
                  </a:lnTo>
                  <a:lnTo>
                    <a:pt x="7" y="66"/>
                  </a:lnTo>
                  <a:lnTo>
                    <a:pt x="29" y="73"/>
                  </a:lnTo>
                  <a:lnTo>
                    <a:pt x="43" y="73"/>
                  </a:lnTo>
                  <a:lnTo>
                    <a:pt x="51" y="58"/>
                  </a:lnTo>
                  <a:lnTo>
                    <a:pt x="58" y="44"/>
                  </a:lnTo>
                  <a:lnTo>
                    <a:pt x="51" y="44"/>
                  </a:lnTo>
                  <a:close/>
                  <a:moveTo>
                    <a:pt x="7" y="22"/>
                  </a:moveTo>
                  <a:lnTo>
                    <a:pt x="14" y="7"/>
                  </a:lnTo>
                  <a:lnTo>
                    <a:pt x="29" y="7"/>
                  </a:lnTo>
                  <a:lnTo>
                    <a:pt x="36" y="15"/>
                  </a:lnTo>
                  <a:lnTo>
                    <a:pt x="36" y="22"/>
                  </a:lnTo>
                  <a:lnTo>
                    <a:pt x="7" y="2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6" name="Freeform 98"/>
            <p:cNvSpPr>
              <a:spLocks noChangeAspect="1" noEditPoints="1"/>
            </p:cNvSpPr>
            <p:nvPr/>
          </p:nvSpPr>
          <p:spPr>
            <a:xfrm>
              <a:off x="3255" y="3064"/>
              <a:ext cx="65" cy="109"/>
            </a:xfrm>
            <a:custGeom>
              <a:avLst/>
              <a:gdLst>
                <a:gd name="txL" fmla="*/ 0 w 65"/>
                <a:gd name="txT" fmla="*/ 0 h 109"/>
                <a:gd name="txR" fmla="*/ 65 w 65"/>
                <a:gd name="txB" fmla="*/ 109 h 109"/>
              </a:gdLst>
              <a:ahLst/>
              <a:cxnLst>
                <a:cxn ang="0">
                  <a:pos x="43" y="7"/>
                </a:cxn>
                <a:cxn ang="0">
                  <a:pos x="36" y="0"/>
                </a:cxn>
                <a:cxn ang="0">
                  <a:pos x="29" y="0"/>
                </a:cxn>
                <a:cxn ang="0">
                  <a:pos x="7" y="7"/>
                </a:cxn>
                <a:cxn ang="0">
                  <a:pos x="0" y="37"/>
                </a:cxn>
                <a:cxn ang="0">
                  <a:pos x="0" y="58"/>
                </a:cxn>
                <a:cxn ang="0">
                  <a:pos x="7" y="66"/>
                </a:cxn>
                <a:cxn ang="0">
                  <a:pos x="21" y="73"/>
                </a:cxn>
                <a:cxn ang="0">
                  <a:pos x="36" y="73"/>
                </a:cxn>
                <a:cxn ang="0">
                  <a:pos x="43" y="66"/>
                </a:cxn>
                <a:cxn ang="0">
                  <a:pos x="43" y="66"/>
                </a:cxn>
                <a:cxn ang="0">
                  <a:pos x="43" y="95"/>
                </a:cxn>
                <a:cxn ang="0">
                  <a:pos x="43" y="102"/>
                </a:cxn>
                <a:cxn ang="0">
                  <a:pos x="29" y="102"/>
                </a:cxn>
                <a:cxn ang="0">
                  <a:pos x="29" y="109"/>
                </a:cxn>
                <a:cxn ang="0">
                  <a:pos x="65" y="109"/>
                </a:cxn>
                <a:cxn ang="0">
                  <a:pos x="65" y="102"/>
                </a:cxn>
                <a:cxn ang="0">
                  <a:pos x="58" y="102"/>
                </a:cxn>
                <a:cxn ang="0">
                  <a:pos x="58" y="95"/>
                </a:cxn>
                <a:cxn ang="0">
                  <a:pos x="58" y="0"/>
                </a:cxn>
                <a:cxn ang="0">
                  <a:pos x="58" y="0"/>
                </a:cxn>
                <a:cxn ang="0">
                  <a:pos x="58" y="0"/>
                </a:cxn>
                <a:cxn ang="0">
                  <a:pos x="43" y="7"/>
                </a:cxn>
                <a:cxn ang="0">
                  <a:pos x="43" y="51"/>
                </a:cxn>
                <a:cxn ang="0">
                  <a:pos x="43" y="58"/>
                </a:cxn>
                <a:cxn ang="0">
                  <a:pos x="36" y="66"/>
                </a:cxn>
                <a:cxn ang="0">
                  <a:pos x="36" y="66"/>
                </a:cxn>
                <a:cxn ang="0">
                  <a:pos x="29" y="66"/>
                </a:cxn>
                <a:cxn ang="0">
                  <a:pos x="14" y="58"/>
                </a:cxn>
                <a:cxn ang="0">
                  <a:pos x="14" y="37"/>
                </a:cxn>
                <a:cxn ang="0">
                  <a:pos x="21" y="15"/>
                </a:cxn>
                <a:cxn ang="0">
                  <a:pos x="29" y="7"/>
                </a:cxn>
                <a:cxn ang="0">
                  <a:pos x="43" y="15"/>
                </a:cxn>
                <a:cxn ang="0">
                  <a:pos x="43" y="22"/>
                </a:cxn>
                <a:cxn ang="0">
                  <a:pos x="43" y="51"/>
                </a:cxn>
              </a:cxnLst>
              <a:rect l="txL" t="txT" r="txR" b="txB"/>
              <a:pathLst>
                <a:path w="65" h="109">
                  <a:moveTo>
                    <a:pt x="43" y="7"/>
                  </a:moveTo>
                  <a:lnTo>
                    <a:pt x="36" y="0"/>
                  </a:lnTo>
                  <a:lnTo>
                    <a:pt x="29" y="0"/>
                  </a:lnTo>
                  <a:lnTo>
                    <a:pt x="7" y="7"/>
                  </a:lnTo>
                  <a:lnTo>
                    <a:pt x="0" y="37"/>
                  </a:lnTo>
                  <a:lnTo>
                    <a:pt x="0" y="58"/>
                  </a:lnTo>
                  <a:lnTo>
                    <a:pt x="7" y="66"/>
                  </a:lnTo>
                  <a:lnTo>
                    <a:pt x="21" y="73"/>
                  </a:lnTo>
                  <a:lnTo>
                    <a:pt x="36" y="73"/>
                  </a:lnTo>
                  <a:lnTo>
                    <a:pt x="43" y="66"/>
                  </a:lnTo>
                  <a:lnTo>
                    <a:pt x="43" y="95"/>
                  </a:lnTo>
                  <a:lnTo>
                    <a:pt x="43" y="102"/>
                  </a:lnTo>
                  <a:lnTo>
                    <a:pt x="29" y="102"/>
                  </a:lnTo>
                  <a:lnTo>
                    <a:pt x="29" y="109"/>
                  </a:lnTo>
                  <a:lnTo>
                    <a:pt x="65" y="109"/>
                  </a:lnTo>
                  <a:lnTo>
                    <a:pt x="65" y="102"/>
                  </a:lnTo>
                  <a:lnTo>
                    <a:pt x="58" y="102"/>
                  </a:lnTo>
                  <a:lnTo>
                    <a:pt x="58" y="95"/>
                  </a:lnTo>
                  <a:lnTo>
                    <a:pt x="58" y="0"/>
                  </a:lnTo>
                  <a:lnTo>
                    <a:pt x="43" y="7"/>
                  </a:lnTo>
                  <a:close/>
                  <a:moveTo>
                    <a:pt x="43" y="51"/>
                  </a:moveTo>
                  <a:lnTo>
                    <a:pt x="43" y="58"/>
                  </a:lnTo>
                  <a:lnTo>
                    <a:pt x="36" y="66"/>
                  </a:lnTo>
                  <a:lnTo>
                    <a:pt x="29" y="66"/>
                  </a:lnTo>
                  <a:lnTo>
                    <a:pt x="14" y="58"/>
                  </a:lnTo>
                  <a:lnTo>
                    <a:pt x="14" y="37"/>
                  </a:lnTo>
                  <a:lnTo>
                    <a:pt x="21" y="15"/>
                  </a:lnTo>
                  <a:lnTo>
                    <a:pt x="29" y="7"/>
                  </a:lnTo>
                  <a:lnTo>
                    <a:pt x="43" y="15"/>
                  </a:lnTo>
                  <a:lnTo>
                    <a:pt x="43" y="22"/>
                  </a:lnTo>
                  <a:lnTo>
                    <a:pt x="43" y="5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7" name="Freeform 99"/>
            <p:cNvSpPr>
              <a:spLocks noChangeAspect="1"/>
            </p:cNvSpPr>
            <p:nvPr/>
          </p:nvSpPr>
          <p:spPr>
            <a:xfrm>
              <a:off x="3763" y="2984"/>
              <a:ext cx="73" cy="95"/>
            </a:xfrm>
            <a:custGeom>
              <a:avLst/>
              <a:gdLst>
                <a:gd name="txL" fmla="*/ 0 w 73"/>
                <a:gd name="txT" fmla="*/ 0 h 95"/>
                <a:gd name="txR" fmla="*/ 73 w 73"/>
                <a:gd name="txB" fmla="*/ 95 h 95"/>
              </a:gdLst>
              <a:ahLst/>
              <a:cxnLst>
                <a:cxn ang="0">
                  <a:pos x="0" y="8"/>
                </a:cxn>
                <a:cxn ang="0">
                  <a:pos x="15" y="15"/>
                </a:cxn>
                <a:cxn ang="0">
                  <a:pos x="15" y="29"/>
                </a:cxn>
                <a:cxn ang="0">
                  <a:pos x="22" y="58"/>
                </a:cxn>
                <a:cxn ang="0">
                  <a:pos x="22" y="87"/>
                </a:cxn>
                <a:cxn ang="0">
                  <a:pos x="22" y="95"/>
                </a:cxn>
                <a:cxn ang="0">
                  <a:pos x="22" y="95"/>
                </a:cxn>
                <a:cxn ang="0">
                  <a:pos x="29" y="87"/>
                </a:cxn>
                <a:cxn ang="0">
                  <a:pos x="44" y="73"/>
                </a:cxn>
                <a:cxn ang="0">
                  <a:pos x="51" y="66"/>
                </a:cxn>
                <a:cxn ang="0">
                  <a:pos x="59" y="51"/>
                </a:cxn>
                <a:cxn ang="0">
                  <a:pos x="73" y="29"/>
                </a:cxn>
                <a:cxn ang="0">
                  <a:pos x="73" y="15"/>
                </a:cxn>
                <a:cxn ang="0">
                  <a:pos x="73" y="8"/>
                </a:cxn>
                <a:cxn ang="0">
                  <a:pos x="66" y="0"/>
                </a:cxn>
                <a:cxn ang="0">
                  <a:pos x="59" y="8"/>
                </a:cxn>
                <a:cxn ang="0">
                  <a:pos x="59" y="8"/>
                </a:cxn>
                <a:cxn ang="0">
                  <a:pos x="59" y="15"/>
                </a:cxn>
                <a:cxn ang="0">
                  <a:pos x="66" y="15"/>
                </a:cxn>
                <a:cxn ang="0">
                  <a:pos x="66" y="22"/>
                </a:cxn>
                <a:cxn ang="0">
                  <a:pos x="59" y="44"/>
                </a:cxn>
                <a:cxn ang="0">
                  <a:pos x="44" y="66"/>
                </a:cxn>
                <a:cxn ang="0">
                  <a:pos x="37" y="73"/>
                </a:cxn>
                <a:cxn ang="0">
                  <a:pos x="37" y="44"/>
                </a:cxn>
                <a:cxn ang="0">
                  <a:pos x="29" y="8"/>
                </a:cxn>
                <a:cxn ang="0">
                  <a:pos x="22" y="0"/>
                </a:cxn>
                <a:cxn ang="0">
                  <a:pos x="22" y="0"/>
                </a:cxn>
                <a:cxn ang="0">
                  <a:pos x="15" y="8"/>
                </a:cxn>
                <a:cxn ang="0">
                  <a:pos x="0" y="8"/>
                </a:cxn>
                <a:cxn ang="0">
                  <a:pos x="0" y="8"/>
                </a:cxn>
              </a:cxnLst>
              <a:rect l="txL" t="txT" r="txR" b="txB"/>
              <a:pathLst>
                <a:path w="73" h="95">
                  <a:moveTo>
                    <a:pt x="0" y="8"/>
                  </a:moveTo>
                  <a:lnTo>
                    <a:pt x="15" y="15"/>
                  </a:lnTo>
                  <a:lnTo>
                    <a:pt x="15" y="29"/>
                  </a:lnTo>
                  <a:lnTo>
                    <a:pt x="22" y="58"/>
                  </a:lnTo>
                  <a:lnTo>
                    <a:pt x="22" y="87"/>
                  </a:lnTo>
                  <a:lnTo>
                    <a:pt x="22" y="95"/>
                  </a:lnTo>
                  <a:lnTo>
                    <a:pt x="29" y="87"/>
                  </a:lnTo>
                  <a:lnTo>
                    <a:pt x="44" y="73"/>
                  </a:lnTo>
                  <a:lnTo>
                    <a:pt x="51" y="66"/>
                  </a:lnTo>
                  <a:lnTo>
                    <a:pt x="59" y="51"/>
                  </a:lnTo>
                  <a:lnTo>
                    <a:pt x="73" y="29"/>
                  </a:lnTo>
                  <a:lnTo>
                    <a:pt x="73" y="15"/>
                  </a:lnTo>
                  <a:lnTo>
                    <a:pt x="73" y="8"/>
                  </a:lnTo>
                  <a:lnTo>
                    <a:pt x="66" y="0"/>
                  </a:lnTo>
                  <a:lnTo>
                    <a:pt x="59" y="8"/>
                  </a:lnTo>
                  <a:lnTo>
                    <a:pt x="59" y="15"/>
                  </a:lnTo>
                  <a:lnTo>
                    <a:pt x="66" y="15"/>
                  </a:lnTo>
                  <a:lnTo>
                    <a:pt x="66" y="22"/>
                  </a:lnTo>
                  <a:lnTo>
                    <a:pt x="59" y="44"/>
                  </a:lnTo>
                  <a:lnTo>
                    <a:pt x="44" y="66"/>
                  </a:lnTo>
                  <a:lnTo>
                    <a:pt x="37" y="73"/>
                  </a:lnTo>
                  <a:lnTo>
                    <a:pt x="37" y="44"/>
                  </a:lnTo>
                  <a:lnTo>
                    <a:pt x="29" y="8"/>
                  </a:lnTo>
                  <a:lnTo>
                    <a:pt x="22" y="0"/>
                  </a:lnTo>
                  <a:lnTo>
                    <a:pt x="15" y="8"/>
                  </a:lnTo>
                  <a:lnTo>
                    <a:pt x="0" y="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8" name="Freeform 100"/>
            <p:cNvSpPr>
              <a:spLocks noChangeAspect="1"/>
            </p:cNvSpPr>
            <p:nvPr/>
          </p:nvSpPr>
          <p:spPr>
            <a:xfrm>
              <a:off x="3414" y="3006"/>
              <a:ext cx="262" cy="65"/>
            </a:xfrm>
            <a:custGeom>
              <a:avLst/>
              <a:gdLst>
                <a:gd name="txL" fmla="*/ 0 w 262"/>
                <a:gd name="txT" fmla="*/ 0 h 65"/>
                <a:gd name="txR" fmla="*/ 262 w 262"/>
                <a:gd name="txB" fmla="*/ 65 h 65"/>
              </a:gdLst>
              <a:ahLst/>
              <a:cxnLst>
                <a:cxn ang="0">
                  <a:pos x="0" y="65"/>
                </a:cxn>
                <a:cxn ang="0">
                  <a:pos x="0" y="0"/>
                </a:cxn>
                <a:cxn ang="0">
                  <a:pos x="262" y="0"/>
                </a:cxn>
                <a:cxn ang="0">
                  <a:pos x="262" y="65"/>
                </a:cxn>
                <a:cxn ang="0">
                  <a:pos x="0" y="65"/>
                </a:cxn>
                <a:cxn ang="0">
                  <a:pos x="0" y="65"/>
                </a:cxn>
              </a:cxnLst>
              <a:rect l="txL" t="txT" r="txR" b="txB"/>
              <a:pathLst>
                <a:path w="262" h="65">
                  <a:moveTo>
                    <a:pt x="0" y="65"/>
                  </a:moveTo>
                  <a:lnTo>
                    <a:pt x="0" y="0"/>
                  </a:lnTo>
                  <a:lnTo>
                    <a:pt x="262" y="0"/>
                  </a:lnTo>
                  <a:lnTo>
                    <a:pt x="262" y="65"/>
                  </a:lnTo>
                  <a:lnTo>
                    <a:pt x="0" y="65"/>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8159" name="Freeform 101"/>
            <p:cNvSpPr>
              <a:spLocks noChangeAspect="1"/>
            </p:cNvSpPr>
            <p:nvPr/>
          </p:nvSpPr>
          <p:spPr>
            <a:xfrm>
              <a:off x="3545" y="3006"/>
              <a:ext cx="131" cy="1"/>
            </a:xfrm>
            <a:custGeom>
              <a:avLst/>
              <a:gdLst>
                <a:gd name="txL" fmla="*/ 0 w 131"/>
                <a:gd name="txT" fmla="*/ 0 h 1"/>
                <a:gd name="txR" fmla="*/ 131 w 131"/>
                <a:gd name="txB" fmla="*/ 1 h 1"/>
              </a:gdLst>
              <a:ahLst/>
              <a:cxnLst>
                <a:cxn ang="0">
                  <a:pos x="0" y="0"/>
                </a:cxn>
                <a:cxn ang="0">
                  <a:pos x="131" y="0"/>
                </a:cxn>
                <a:cxn ang="0">
                  <a:pos x="0" y="0"/>
                </a:cxn>
                <a:cxn ang="0">
                  <a:pos x="0" y="0"/>
                </a:cxn>
              </a:cxnLst>
              <a:rect l="txL" t="txT" r="txR" b="txB"/>
              <a:pathLst>
                <a:path w="131" h="1">
                  <a:moveTo>
                    <a:pt x="0" y="0"/>
                  </a:moveTo>
                  <a:lnTo>
                    <a:pt x="131"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160" name="Freeform 102"/>
            <p:cNvSpPr>
              <a:spLocks noChangeAspect="1"/>
            </p:cNvSpPr>
            <p:nvPr/>
          </p:nvSpPr>
          <p:spPr>
            <a:xfrm>
              <a:off x="3545" y="3071"/>
              <a:ext cx="131" cy="1"/>
            </a:xfrm>
            <a:custGeom>
              <a:avLst/>
              <a:gdLst>
                <a:gd name="txL" fmla="*/ 0 w 131"/>
                <a:gd name="txT" fmla="*/ 0 h 1"/>
                <a:gd name="txR" fmla="*/ 131 w 131"/>
                <a:gd name="txB" fmla="*/ 1 h 1"/>
              </a:gdLst>
              <a:ahLst/>
              <a:cxnLst>
                <a:cxn ang="0">
                  <a:pos x="0" y="0"/>
                </a:cxn>
                <a:cxn ang="0">
                  <a:pos x="131" y="0"/>
                </a:cxn>
                <a:cxn ang="0">
                  <a:pos x="0" y="0"/>
                </a:cxn>
                <a:cxn ang="0">
                  <a:pos x="0" y="0"/>
                </a:cxn>
              </a:cxnLst>
              <a:rect l="txL" t="txT" r="txR" b="txB"/>
              <a:pathLst>
                <a:path w="131" h="1">
                  <a:moveTo>
                    <a:pt x="0" y="0"/>
                  </a:moveTo>
                  <a:lnTo>
                    <a:pt x="131" y="0"/>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161" name="Freeform 103"/>
            <p:cNvSpPr>
              <a:spLocks noChangeAspect="1"/>
            </p:cNvSpPr>
            <p:nvPr/>
          </p:nvSpPr>
          <p:spPr>
            <a:xfrm>
              <a:off x="3414" y="3006"/>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162" name="Freeform 104"/>
            <p:cNvSpPr>
              <a:spLocks noChangeAspect="1"/>
            </p:cNvSpPr>
            <p:nvPr/>
          </p:nvSpPr>
          <p:spPr>
            <a:xfrm>
              <a:off x="3414" y="3071"/>
              <a:ext cx="131" cy="1"/>
            </a:xfrm>
            <a:custGeom>
              <a:avLst/>
              <a:gdLst>
                <a:gd name="txL" fmla="*/ 0 w 131"/>
                <a:gd name="txT" fmla="*/ 0 h 1"/>
                <a:gd name="txR" fmla="*/ 131 w 131"/>
                <a:gd name="txB" fmla="*/ 1 h 1"/>
              </a:gdLst>
              <a:ahLst/>
              <a:cxnLst>
                <a:cxn ang="0">
                  <a:pos x="131" y="0"/>
                </a:cxn>
                <a:cxn ang="0">
                  <a:pos x="0" y="0"/>
                </a:cxn>
                <a:cxn ang="0">
                  <a:pos x="131" y="0"/>
                </a:cxn>
                <a:cxn ang="0">
                  <a:pos x="131" y="0"/>
                </a:cxn>
              </a:cxnLst>
              <a:rect l="txL" t="txT" r="txR" b="txB"/>
              <a:pathLst>
                <a:path w="131" h="1">
                  <a:moveTo>
                    <a:pt x="131" y="0"/>
                  </a:moveTo>
                  <a:lnTo>
                    <a:pt x="0" y="0"/>
                  </a:lnTo>
                  <a:lnTo>
                    <a:pt x="13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8163" name="Freeform 105"/>
            <p:cNvSpPr>
              <a:spLocks noChangeAspect="1"/>
            </p:cNvSpPr>
            <p:nvPr/>
          </p:nvSpPr>
          <p:spPr>
            <a:xfrm>
              <a:off x="3763" y="2672"/>
              <a:ext cx="102" cy="102"/>
            </a:xfrm>
            <a:custGeom>
              <a:avLst/>
              <a:gdLst>
                <a:gd name="txL" fmla="*/ 0 w 102"/>
                <a:gd name="txT" fmla="*/ 0 h 102"/>
                <a:gd name="txR" fmla="*/ 102 w 102"/>
                <a:gd name="txB" fmla="*/ 102 h 102"/>
              </a:gdLst>
              <a:ahLst/>
              <a:cxnLst>
                <a:cxn ang="0">
                  <a:pos x="44" y="44"/>
                </a:cxn>
                <a:cxn ang="0">
                  <a:pos x="0" y="44"/>
                </a:cxn>
                <a:cxn ang="0">
                  <a:pos x="0" y="58"/>
                </a:cxn>
                <a:cxn ang="0">
                  <a:pos x="44" y="58"/>
                </a:cxn>
                <a:cxn ang="0">
                  <a:pos x="44" y="102"/>
                </a:cxn>
                <a:cxn ang="0">
                  <a:pos x="59" y="102"/>
                </a:cxn>
                <a:cxn ang="0">
                  <a:pos x="59" y="58"/>
                </a:cxn>
                <a:cxn ang="0">
                  <a:pos x="102" y="58"/>
                </a:cxn>
                <a:cxn ang="0">
                  <a:pos x="102" y="44"/>
                </a:cxn>
                <a:cxn ang="0">
                  <a:pos x="59" y="44"/>
                </a:cxn>
                <a:cxn ang="0">
                  <a:pos x="59" y="0"/>
                </a:cxn>
                <a:cxn ang="0">
                  <a:pos x="44" y="0"/>
                </a:cxn>
                <a:cxn ang="0">
                  <a:pos x="44" y="44"/>
                </a:cxn>
              </a:cxnLst>
              <a:rect l="txL" t="txT" r="txR" b="txB"/>
              <a:pathLst>
                <a:path w="102" h="102">
                  <a:moveTo>
                    <a:pt x="44" y="44"/>
                  </a:moveTo>
                  <a:lnTo>
                    <a:pt x="0" y="44"/>
                  </a:lnTo>
                  <a:lnTo>
                    <a:pt x="0" y="58"/>
                  </a:lnTo>
                  <a:lnTo>
                    <a:pt x="44" y="58"/>
                  </a:lnTo>
                  <a:lnTo>
                    <a:pt x="44" y="102"/>
                  </a:lnTo>
                  <a:lnTo>
                    <a:pt x="59" y="102"/>
                  </a:lnTo>
                  <a:lnTo>
                    <a:pt x="59" y="58"/>
                  </a:lnTo>
                  <a:lnTo>
                    <a:pt x="102" y="58"/>
                  </a:lnTo>
                  <a:lnTo>
                    <a:pt x="102" y="44"/>
                  </a:lnTo>
                  <a:lnTo>
                    <a:pt x="59" y="44"/>
                  </a:lnTo>
                  <a:lnTo>
                    <a:pt x="59" y="0"/>
                  </a:lnTo>
                  <a:lnTo>
                    <a:pt x="44" y="0"/>
                  </a:lnTo>
                  <a:lnTo>
                    <a:pt x="44" y="4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64" name="Rectangle 106"/>
            <p:cNvSpPr>
              <a:spLocks noChangeAspect="1"/>
            </p:cNvSpPr>
            <p:nvPr/>
          </p:nvSpPr>
          <p:spPr>
            <a:xfrm>
              <a:off x="3763" y="3340"/>
              <a:ext cx="102" cy="15"/>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b="1" dirty="0">
                <a:ea typeface="Arial" panose="020B0604020202020204" pitchFamily="34" charset="0"/>
              </a:endParaRPr>
            </a:p>
          </p:txBody>
        </p:sp>
      </p:grpSp>
      <p:sp>
        <p:nvSpPr>
          <p:cNvPr id="48133" name="Text Box 107"/>
          <p:cNvSpPr txBox="1"/>
          <p:nvPr/>
        </p:nvSpPr>
        <p:spPr>
          <a:xfrm>
            <a:off x="900113" y="5949950"/>
            <a:ext cx="3652837" cy="476250"/>
          </a:xfrm>
          <a:prstGeom prst="rect">
            <a:avLst/>
          </a:prstGeom>
          <a:noFill/>
          <a:ln w="1905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Arial" panose="020B0604020202020204" pitchFamily="34" charset="0"/>
              </a:rPr>
              <a:t>C</a:t>
            </a:r>
            <a:r>
              <a:rPr lang="en-US" altLang="zh-CN" sz="2400" b="1" i="1" baseline="-25000" dirty="0">
                <a:latin typeface="Times New Roman" panose="02020603050405020304" pitchFamily="18" charset="0"/>
                <a:cs typeface="Arial" panose="020B0604020202020204" pitchFamily="34" charset="0"/>
              </a:rPr>
              <a:t>eq </a:t>
            </a:r>
            <a:r>
              <a:rPr lang="en-US" altLang="zh-CN" sz="2400" b="1" i="1" dirty="0">
                <a:latin typeface="Times New Roman" panose="02020603050405020304" pitchFamily="18" charset="0"/>
                <a:cs typeface="Arial" panose="020B0604020202020204" pitchFamily="34" charset="0"/>
              </a:rPr>
              <a:t>=C</a:t>
            </a:r>
            <a:r>
              <a:rPr lang="en-US" altLang="zh-CN" sz="2400" b="1" i="1" baseline="-25000" dirty="0">
                <a:latin typeface="Times New Roman" panose="02020603050405020304" pitchFamily="18" charset="0"/>
                <a:cs typeface="Arial" panose="020B0604020202020204" pitchFamily="34" charset="0"/>
              </a:rPr>
              <a:t>1</a:t>
            </a:r>
            <a:r>
              <a:rPr lang="en-US" altLang="zh-CN" sz="2400" b="1" i="1" dirty="0">
                <a:latin typeface="Times New Roman" panose="02020603050405020304" pitchFamily="18" charset="0"/>
                <a:cs typeface="Arial" panose="020B0604020202020204" pitchFamily="34" charset="0"/>
              </a:rPr>
              <a:t>+C</a:t>
            </a:r>
            <a:r>
              <a:rPr lang="en-US" altLang="zh-CN" sz="2400" b="1" i="1" baseline="-25000" dirty="0">
                <a:latin typeface="Times New Roman" panose="02020603050405020304" pitchFamily="18" charset="0"/>
                <a:cs typeface="Arial" panose="020B0604020202020204" pitchFamily="34" charset="0"/>
              </a:rPr>
              <a:t>2</a:t>
            </a:r>
            <a:r>
              <a:rPr lang="en-US" altLang="zh-CN" sz="2400" b="1" i="1" dirty="0">
                <a:latin typeface="Times New Roman" panose="02020603050405020304" pitchFamily="18" charset="0"/>
                <a:cs typeface="Arial" panose="020B0604020202020204" pitchFamily="34" charset="0"/>
              </a:rPr>
              <a:t>+C</a:t>
            </a:r>
            <a:r>
              <a:rPr lang="en-US" altLang="zh-CN" sz="2400" b="1" i="1" baseline="-25000" dirty="0">
                <a:latin typeface="Times New Roman" panose="02020603050405020304" pitchFamily="18" charset="0"/>
                <a:cs typeface="Arial" panose="020B0604020202020204" pitchFamily="34" charset="0"/>
              </a:rPr>
              <a:t>3</a:t>
            </a:r>
            <a:r>
              <a:rPr lang="en-US" altLang="zh-CN" sz="2400" b="1" i="1" dirty="0">
                <a:latin typeface="Times New Roman" panose="02020603050405020304" pitchFamily="18" charset="0"/>
                <a:cs typeface="Arial" panose="020B0604020202020204" pitchFamily="34" charset="0"/>
              </a:rPr>
              <a:t>+</a:t>
            </a:r>
            <a:r>
              <a:rPr lang="en-US" altLang="zh-CN" sz="2400" b="1" i="1" dirty="0">
                <a:latin typeface="Times New Roman" panose="02020603050405020304" pitchFamily="18" charset="0"/>
                <a:ea typeface="Arial" panose="020B0604020202020204" pitchFamily="34" charset="0"/>
              </a:rPr>
              <a:t>···</a:t>
            </a:r>
            <a:r>
              <a:rPr lang="en-US" altLang="zh-CN" sz="2400" b="1" i="1" dirty="0">
                <a:latin typeface="Times New Roman" panose="02020603050405020304" pitchFamily="18" charset="0"/>
                <a:cs typeface="Arial" panose="020B0604020202020204" pitchFamily="34" charset="0"/>
              </a:rPr>
              <a:t>+C</a:t>
            </a:r>
            <a:r>
              <a:rPr lang="en-US" altLang="zh-CN" sz="2400" b="1" i="1" baseline="-25000" dirty="0">
                <a:latin typeface="Times New Roman" panose="02020603050405020304" pitchFamily="18" charset="0"/>
                <a:cs typeface="Arial" panose="020B0604020202020204" pitchFamily="34" charset="0"/>
              </a:rPr>
              <a:t>N</a:t>
            </a:r>
            <a:endParaRPr lang="en-US" altLang="zh-CN" sz="2400" b="1" i="1" dirty="0">
              <a:latin typeface="Times New Roman" panose="02020603050405020304" pitchFamily="18" charset="0"/>
              <a:ea typeface="Arial" panose="020B0604020202020204" pitchFamily="34" charset="0"/>
            </a:endParaRPr>
          </a:p>
        </p:txBody>
      </p:sp>
      <p:sp>
        <p:nvSpPr>
          <p:cNvPr id="48134" name="Text Box 108"/>
          <p:cNvSpPr txBox="1"/>
          <p:nvPr/>
        </p:nvSpPr>
        <p:spPr>
          <a:xfrm>
            <a:off x="885825" y="4894263"/>
            <a:ext cx="5888038" cy="461962"/>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Times New Roman" panose="02020603050405020304" pitchFamily="18" charset="0"/>
              </a:rPr>
              <a:t>N</a:t>
            </a:r>
            <a:r>
              <a:rPr lang="zh-CN" altLang="en-US" sz="2400" b="1" dirty="0">
                <a:latin typeface="Arial Black" panose="020B0A04020102020204" pitchFamily="34" charset="0"/>
                <a:cs typeface="Arial" panose="020B0604020202020204" pitchFamily="34" charset="0"/>
              </a:rPr>
              <a:t>个</a:t>
            </a:r>
            <a:r>
              <a:rPr lang="zh-CN" altLang="en-US" sz="2400" b="1" dirty="0">
                <a:solidFill>
                  <a:srgbClr val="0000FF"/>
                </a:solidFill>
                <a:latin typeface="Arial Black" panose="020B0A04020102020204" pitchFamily="34" charset="0"/>
                <a:cs typeface="Arial" panose="020B0604020202020204" pitchFamily="34" charset="0"/>
              </a:rPr>
              <a:t>并联电容</a:t>
            </a:r>
            <a:r>
              <a:rPr lang="zh-CN" altLang="en-US" sz="2400" b="1" dirty="0">
                <a:latin typeface="Arial Black" panose="020B0A04020102020204" pitchFamily="34" charset="0"/>
                <a:cs typeface="Arial" panose="020B0604020202020204" pitchFamily="34" charset="0"/>
              </a:rPr>
              <a:t>的等效电容是各个电容的和。</a:t>
            </a:r>
            <a:endParaRPr lang="en-US" altLang="zh-CN" sz="2400" b="1" dirty="0">
              <a:latin typeface="Arial Black" panose="020B0A04020102020204" pitchFamily="34" charset="0"/>
              <a:ea typeface="Arial" panose="020B0604020202020204" pitchFamily="34" charset="0"/>
            </a:endParaRPr>
          </a:p>
        </p:txBody>
      </p:sp>
      <p:sp>
        <p:nvSpPr>
          <p:cNvPr id="144391" name="Text Box 112"/>
          <p:cNvSpPr txBox="1">
            <a:spLocks noChangeArrowheads="1"/>
          </p:cNvSpPr>
          <p:nvPr/>
        </p:nvSpPr>
        <p:spPr bwMode="auto">
          <a:xfrm>
            <a:off x="4699000" y="6080125"/>
            <a:ext cx="4048125" cy="461963"/>
          </a:xfrm>
          <a:prstGeom prst="rect">
            <a:avLst/>
          </a:prstGeom>
          <a:noFill/>
          <a:ln>
            <a:noFill/>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相当于平板面积</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a:t>
            </a:r>
          </a:p>
        </p:txBody>
      </p:sp>
      <p:sp>
        <p:nvSpPr>
          <p:cNvPr id="2" name="右箭头 1"/>
          <p:cNvSpPr/>
          <p:nvPr/>
        </p:nvSpPr>
        <p:spPr>
          <a:xfrm>
            <a:off x="4932363" y="2881313"/>
            <a:ext cx="863600" cy="230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4" name="Group 2"/>
          <p:cNvGrpSpPr>
            <a:grpSpLocks noChangeAspect="1"/>
          </p:cNvGrpSpPr>
          <p:nvPr/>
        </p:nvGrpSpPr>
        <p:grpSpPr>
          <a:xfrm>
            <a:off x="323850" y="927100"/>
            <a:ext cx="4183063" cy="2317750"/>
            <a:chOff x="1042" y="312"/>
            <a:chExt cx="3686" cy="1722"/>
          </a:xfrm>
        </p:grpSpPr>
        <p:sp>
          <p:nvSpPr>
            <p:cNvPr id="49194" name="Freeform 3"/>
            <p:cNvSpPr>
              <a:spLocks noChangeAspect="1"/>
            </p:cNvSpPr>
            <p:nvPr/>
          </p:nvSpPr>
          <p:spPr>
            <a:xfrm>
              <a:off x="2956" y="1888"/>
              <a:ext cx="54" cy="146"/>
            </a:xfrm>
            <a:custGeom>
              <a:avLst/>
              <a:gdLst>
                <a:gd name="txL" fmla="*/ 0 w 48"/>
                <a:gd name="txT" fmla="*/ 0 h 137"/>
                <a:gd name="txR" fmla="*/ 48 w 48"/>
                <a:gd name="txB" fmla="*/ 137 h 137"/>
              </a:gdLst>
              <a:ahLst/>
              <a:cxnLst>
                <a:cxn ang="0">
                  <a:pos x="1041" y="0"/>
                </a:cxn>
                <a:cxn ang="0">
                  <a:pos x="321" y="134"/>
                </a:cxn>
                <a:cxn ang="0">
                  <a:pos x="158" y="227"/>
                </a:cxn>
                <a:cxn ang="0">
                  <a:pos x="0" y="370"/>
                </a:cxn>
                <a:cxn ang="0">
                  <a:pos x="158" y="530"/>
                </a:cxn>
                <a:cxn ang="0">
                  <a:pos x="457" y="627"/>
                </a:cxn>
                <a:cxn ang="0">
                  <a:pos x="732" y="729"/>
                </a:cxn>
                <a:cxn ang="0">
                  <a:pos x="1041" y="762"/>
                </a:cxn>
                <a:cxn ang="0">
                  <a:pos x="1173" y="762"/>
                </a:cxn>
                <a:cxn ang="0">
                  <a:pos x="732" y="664"/>
                </a:cxn>
                <a:cxn ang="0">
                  <a:pos x="579" y="565"/>
                </a:cxn>
                <a:cxn ang="0">
                  <a:pos x="457" y="459"/>
                </a:cxn>
                <a:cxn ang="0">
                  <a:pos x="457" y="370"/>
                </a:cxn>
                <a:cxn ang="0">
                  <a:pos x="579" y="227"/>
                </a:cxn>
                <a:cxn ang="0">
                  <a:pos x="732" y="134"/>
                </a:cxn>
                <a:cxn ang="0">
                  <a:pos x="1173" y="0"/>
                </a:cxn>
                <a:cxn ang="0">
                  <a:pos x="1041" y="0"/>
                </a:cxn>
              </a:cxnLst>
              <a:rect l="txL" t="txT" r="txR" b="txB"/>
              <a:pathLst>
                <a:path w="48" h="137">
                  <a:moveTo>
                    <a:pt x="42" y="0"/>
                  </a:moveTo>
                  <a:lnTo>
                    <a:pt x="12" y="24"/>
                  </a:lnTo>
                  <a:lnTo>
                    <a:pt x="6" y="41"/>
                  </a:lnTo>
                  <a:lnTo>
                    <a:pt x="0" y="65"/>
                  </a:lnTo>
                  <a:lnTo>
                    <a:pt x="6" y="95"/>
                  </a:lnTo>
                  <a:lnTo>
                    <a:pt x="18" y="113"/>
                  </a:lnTo>
                  <a:lnTo>
                    <a:pt x="30" y="131"/>
                  </a:lnTo>
                  <a:lnTo>
                    <a:pt x="42" y="137"/>
                  </a:lnTo>
                  <a:lnTo>
                    <a:pt x="48" y="137"/>
                  </a:lnTo>
                  <a:lnTo>
                    <a:pt x="30" y="119"/>
                  </a:lnTo>
                  <a:lnTo>
                    <a:pt x="24" y="101"/>
                  </a:lnTo>
                  <a:lnTo>
                    <a:pt x="18" y="83"/>
                  </a:lnTo>
                  <a:lnTo>
                    <a:pt x="18" y="65"/>
                  </a:lnTo>
                  <a:lnTo>
                    <a:pt x="24" y="41"/>
                  </a:lnTo>
                  <a:lnTo>
                    <a:pt x="30" y="24"/>
                  </a:lnTo>
                  <a:lnTo>
                    <a:pt x="48" y="0"/>
                  </a:lnTo>
                  <a:lnTo>
                    <a:pt x="4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95" name="Freeform 4"/>
            <p:cNvSpPr>
              <a:spLocks noChangeAspect="1" noEditPoints="1"/>
            </p:cNvSpPr>
            <p:nvPr/>
          </p:nvSpPr>
          <p:spPr>
            <a:xfrm>
              <a:off x="3017" y="1925"/>
              <a:ext cx="81" cy="83"/>
            </a:xfrm>
            <a:custGeom>
              <a:avLst/>
              <a:gdLst>
                <a:gd name="txL" fmla="*/ 0 w 71"/>
                <a:gd name="txT" fmla="*/ 0 h 78"/>
                <a:gd name="txR" fmla="*/ 71 w 71"/>
                <a:gd name="txB" fmla="*/ 78 h 78"/>
              </a:gdLst>
              <a:ahLst/>
              <a:cxnLst>
                <a:cxn ang="0">
                  <a:pos x="1487" y="287"/>
                </a:cxn>
                <a:cxn ang="0">
                  <a:pos x="1487" y="321"/>
                </a:cxn>
                <a:cxn ang="0">
                  <a:pos x="1287" y="347"/>
                </a:cxn>
                <a:cxn ang="0">
                  <a:pos x="1287" y="347"/>
                </a:cxn>
                <a:cxn ang="0">
                  <a:pos x="1032" y="347"/>
                </a:cxn>
                <a:cxn ang="0">
                  <a:pos x="819" y="321"/>
                </a:cxn>
                <a:cxn ang="0">
                  <a:pos x="629" y="287"/>
                </a:cxn>
                <a:cxn ang="0">
                  <a:pos x="629" y="287"/>
                </a:cxn>
                <a:cxn ang="0">
                  <a:pos x="819" y="225"/>
                </a:cxn>
                <a:cxn ang="0">
                  <a:pos x="1032" y="195"/>
                </a:cxn>
                <a:cxn ang="0">
                  <a:pos x="1487" y="162"/>
                </a:cxn>
                <a:cxn ang="0">
                  <a:pos x="1487" y="287"/>
                </a:cxn>
                <a:cxn ang="0">
                  <a:pos x="2487" y="347"/>
                </a:cxn>
                <a:cxn ang="0">
                  <a:pos x="2275" y="347"/>
                </a:cxn>
                <a:cxn ang="0">
                  <a:pos x="2275" y="347"/>
                </a:cxn>
                <a:cxn ang="0">
                  <a:pos x="2059" y="347"/>
                </a:cxn>
                <a:cxn ang="0">
                  <a:pos x="2059" y="321"/>
                </a:cxn>
                <a:cxn ang="0">
                  <a:pos x="2059" y="134"/>
                </a:cxn>
                <a:cxn ang="0">
                  <a:pos x="2059" y="6"/>
                </a:cxn>
                <a:cxn ang="0">
                  <a:pos x="1696" y="0"/>
                </a:cxn>
                <a:cxn ang="0">
                  <a:pos x="1287" y="0"/>
                </a:cxn>
                <a:cxn ang="0">
                  <a:pos x="819" y="0"/>
                </a:cxn>
                <a:cxn ang="0">
                  <a:pos x="423" y="6"/>
                </a:cxn>
                <a:cxn ang="0">
                  <a:pos x="209" y="92"/>
                </a:cxn>
                <a:cxn ang="0">
                  <a:pos x="209" y="134"/>
                </a:cxn>
                <a:cxn ang="0">
                  <a:pos x="423" y="134"/>
                </a:cxn>
                <a:cxn ang="0">
                  <a:pos x="629" y="134"/>
                </a:cxn>
                <a:cxn ang="0">
                  <a:pos x="629" y="92"/>
                </a:cxn>
                <a:cxn ang="0">
                  <a:pos x="629" y="92"/>
                </a:cxn>
                <a:cxn ang="0">
                  <a:pos x="629" y="63"/>
                </a:cxn>
                <a:cxn ang="0">
                  <a:pos x="819" y="6"/>
                </a:cxn>
                <a:cxn ang="0">
                  <a:pos x="1032" y="0"/>
                </a:cxn>
                <a:cxn ang="0">
                  <a:pos x="1287" y="6"/>
                </a:cxn>
                <a:cxn ang="0">
                  <a:pos x="1487" y="92"/>
                </a:cxn>
                <a:cxn ang="0">
                  <a:pos x="1487" y="134"/>
                </a:cxn>
                <a:cxn ang="0">
                  <a:pos x="423" y="225"/>
                </a:cxn>
                <a:cxn ang="0">
                  <a:pos x="209" y="254"/>
                </a:cxn>
                <a:cxn ang="0">
                  <a:pos x="0" y="321"/>
                </a:cxn>
                <a:cxn ang="0">
                  <a:pos x="209" y="387"/>
                </a:cxn>
                <a:cxn ang="0">
                  <a:pos x="629" y="417"/>
                </a:cxn>
                <a:cxn ang="0">
                  <a:pos x="1032" y="387"/>
                </a:cxn>
                <a:cxn ang="0">
                  <a:pos x="1487" y="347"/>
                </a:cxn>
                <a:cxn ang="0">
                  <a:pos x="1696" y="417"/>
                </a:cxn>
                <a:cxn ang="0">
                  <a:pos x="1852" y="417"/>
                </a:cxn>
                <a:cxn ang="0">
                  <a:pos x="2275" y="417"/>
                </a:cxn>
                <a:cxn ang="0">
                  <a:pos x="2487" y="347"/>
                </a:cxn>
                <a:cxn ang="0">
                  <a:pos x="2487" y="347"/>
                </a:cxn>
              </a:cxnLst>
              <a:rect l="txL" t="txT" r="txR" b="txB"/>
              <a:pathLst>
                <a:path w="71" h="78">
                  <a:moveTo>
                    <a:pt x="42" y="54"/>
                  </a:moveTo>
                  <a:lnTo>
                    <a:pt x="42" y="60"/>
                  </a:lnTo>
                  <a:lnTo>
                    <a:pt x="36" y="66"/>
                  </a:lnTo>
                  <a:lnTo>
                    <a:pt x="30" y="66"/>
                  </a:lnTo>
                  <a:lnTo>
                    <a:pt x="24" y="60"/>
                  </a:lnTo>
                  <a:lnTo>
                    <a:pt x="18" y="54"/>
                  </a:lnTo>
                  <a:lnTo>
                    <a:pt x="24" y="42"/>
                  </a:lnTo>
                  <a:lnTo>
                    <a:pt x="30" y="36"/>
                  </a:lnTo>
                  <a:lnTo>
                    <a:pt x="42" y="30"/>
                  </a:lnTo>
                  <a:lnTo>
                    <a:pt x="42" y="54"/>
                  </a:lnTo>
                  <a:close/>
                  <a:moveTo>
                    <a:pt x="71" y="66"/>
                  </a:moveTo>
                  <a:lnTo>
                    <a:pt x="65" y="66"/>
                  </a:lnTo>
                  <a:lnTo>
                    <a:pt x="59" y="66"/>
                  </a:lnTo>
                  <a:lnTo>
                    <a:pt x="59" y="60"/>
                  </a:lnTo>
                  <a:lnTo>
                    <a:pt x="59" y="24"/>
                  </a:lnTo>
                  <a:lnTo>
                    <a:pt x="59" y="6"/>
                  </a:lnTo>
                  <a:lnTo>
                    <a:pt x="48" y="0"/>
                  </a:lnTo>
                  <a:lnTo>
                    <a:pt x="36" y="0"/>
                  </a:lnTo>
                  <a:lnTo>
                    <a:pt x="24" y="0"/>
                  </a:lnTo>
                  <a:lnTo>
                    <a:pt x="12" y="6"/>
                  </a:lnTo>
                  <a:lnTo>
                    <a:pt x="6" y="18"/>
                  </a:lnTo>
                  <a:lnTo>
                    <a:pt x="6" y="24"/>
                  </a:lnTo>
                  <a:lnTo>
                    <a:pt x="12" y="24"/>
                  </a:lnTo>
                  <a:lnTo>
                    <a:pt x="18" y="24"/>
                  </a:lnTo>
                  <a:lnTo>
                    <a:pt x="18" y="18"/>
                  </a:lnTo>
                  <a:lnTo>
                    <a:pt x="18" y="12"/>
                  </a:lnTo>
                  <a:lnTo>
                    <a:pt x="24" y="6"/>
                  </a:lnTo>
                  <a:lnTo>
                    <a:pt x="30" y="0"/>
                  </a:lnTo>
                  <a:lnTo>
                    <a:pt x="36" y="6"/>
                  </a:lnTo>
                  <a:lnTo>
                    <a:pt x="42" y="18"/>
                  </a:lnTo>
                  <a:lnTo>
                    <a:pt x="42" y="24"/>
                  </a:lnTo>
                  <a:lnTo>
                    <a:pt x="12" y="42"/>
                  </a:lnTo>
                  <a:lnTo>
                    <a:pt x="6" y="48"/>
                  </a:lnTo>
                  <a:lnTo>
                    <a:pt x="0" y="60"/>
                  </a:lnTo>
                  <a:lnTo>
                    <a:pt x="6" y="72"/>
                  </a:lnTo>
                  <a:lnTo>
                    <a:pt x="18" y="78"/>
                  </a:lnTo>
                  <a:lnTo>
                    <a:pt x="30" y="72"/>
                  </a:lnTo>
                  <a:lnTo>
                    <a:pt x="42" y="66"/>
                  </a:lnTo>
                  <a:lnTo>
                    <a:pt x="48" y="78"/>
                  </a:lnTo>
                  <a:lnTo>
                    <a:pt x="53" y="78"/>
                  </a:lnTo>
                  <a:lnTo>
                    <a:pt x="65" y="78"/>
                  </a:lnTo>
                  <a:lnTo>
                    <a:pt x="71"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96" name="Freeform 5"/>
            <p:cNvSpPr>
              <a:spLocks noChangeAspect="1"/>
            </p:cNvSpPr>
            <p:nvPr/>
          </p:nvSpPr>
          <p:spPr>
            <a:xfrm>
              <a:off x="3105" y="1888"/>
              <a:ext cx="47" cy="146"/>
            </a:xfrm>
            <a:custGeom>
              <a:avLst/>
              <a:gdLst>
                <a:gd name="txL" fmla="*/ 0 w 42"/>
                <a:gd name="txT" fmla="*/ 0 h 137"/>
                <a:gd name="txR" fmla="*/ 42 w 42"/>
                <a:gd name="txB" fmla="*/ 137 h 137"/>
              </a:gdLst>
              <a:ahLst/>
              <a:cxnLst>
                <a:cxn ang="0">
                  <a:pos x="0" y="762"/>
                </a:cxn>
                <a:cxn ang="0">
                  <a:pos x="643" y="627"/>
                </a:cxn>
                <a:cxn ang="0">
                  <a:pos x="873" y="530"/>
                </a:cxn>
                <a:cxn ang="0">
                  <a:pos x="873" y="398"/>
                </a:cxn>
                <a:cxn ang="0">
                  <a:pos x="737" y="227"/>
                </a:cxn>
                <a:cxn ang="0">
                  <a:pos x="643" y="134"/>
                </a:cxn>
                <a:cxn ang="0">
                  <a:pos x="368" y="66"/>
                </a:cxn>
                <a:cxn ang="0">
                  <a:pos x="0" y="0"/>
                </a:cxn>
                <a:cxn ang="0">
                  <a:pos x="0" y="0"/>
                </a:cxn>
                <a:cxn ang="0">
                  <a:pos x="261" y="97"/>
                </a:cxn>
                <a:cxn ang="0">
                  <a:pos x="514" y="195"/>
                </a:cxn>
                <a:cxn ang="0">
                  <a:pos x="514" y="293"/>
                </a:cxn>
                <a:cxn ang="0">
                  <a:pos x="514" y="398"/>
                </a:cxn>
                <a:cxn ang="0">
                  <a:pos x="514" y="530"/>
                </a:cxn>
                <a:cxn ang="0">
                  <a:pos x="368" y="627"/>
                </a:cxn>
                <a:cxn ang="0">
                  <a:pos x="0" y="762"/>
                </a:cxn>
                <a:cxn ang="0">
                  <a:pos x="0" y="762"/>
                </a:cxn>
              </a:cxnLst>
              <a:rect l="txL" t="txT" r="txR" b="txB"/>
              <a:pathLst>
                <a:path w="42" h="137">
                  <a:moveTo>
                    <a:pt x="0" y="137"/>
                  </a:moveTo>
                  <a:lnTo>
                    <a:pt x="30" y="113"/>
                  </a:lnTo>
                  <a:lnTo>
                    <a:pt x="42" y="95"/>
                  </a:lnTo>
                  <a:lnTo>
                    <a:pt x="42" y="71"/>
                  </a:lnTo>
                  <a:lnTo>
                    <a:pt x="36" y="41"/>
                  </a:lnTo>
                  <a:lnTo>
                    <a:pt x="30" y="24"/>
                  </a:lnTo>
                  <a:lnTo>
                    <a:pt x="18" y="12"/>
                  </a:lnTo>
                  <a:lnTo>
                    <a:pt x="0" y="0"/>
                  </a:lnTo>
                  <a:lnTo>
                    <a:pt x="12" y="18"/>
                  </a:lnTo>
                  <a:lnTo>
                    <a:pt x="24" y="35"/>
                  </a:lnTo>
                  <a:lnTo>
                    <a:pt x="24" y="53"/>
                  </a:lnTo>
                  <a:lnTo>
                    <a:pt x="24" y="71"/>
                  </a:lnTo>
                  <a:lnTo>
                    <a:pt x="24" y="95"/>
                  </a:lnTo>
                  <a:lnTo>
                    <a:pt x="18" y="113"/>
                  </a:lnTo>
                  <a:lnTo>
                    <a:pt x="0" y="1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97" name="Freeform 6"/>
            <p:cNvSpPr>
              <a:spLocks noChangeAspect="1"/>
            </p:cNvSpPr>
            <p:nvPr/>
          </p:nvSpPr>
          <p:spPr>
            <a:xfrm>
              <a:off x="1381" y="642"/>
              <a:ext cx="2308" cy="1"/>
            </a:xfrm>
            <a:custGeom>
              <a:avLst/>
              <a:gdLst>
                <a:gd name="txL" fmla="*/ 0 w 2034"/>
                <a:gd name="txT" fmla="*/ 0 h 1"/>
                <a:gd name="txR" fmla="*/ 2034 w 2034"/>
                <a:gd name="txB" fmla="*/ 1 h 1"/>
              </a:gdLst>
              <a:ahLst/>
              <a:cxnLst>
                <a:cxn ang="0">
                  <a:pos x="61682" y="0"/>
                </a:cxn>
                <a:cxn ang="0">
                  <a:pos x="0" y="0"/>
                </a:cxn>
                <a:cxn ang="0">
                  <a:pos x="61682" y="0"/>
                </a:cxn>
                <a:cxn ang="0">
                  <a:pos x="61682" y="0"/>
                </a:cxn>
              </a:cxnLst>
              <a:rect l="txL" t="txT" r="txR" b="txB"/>
              <a:pathLst>
                <a:path w="2034" h="1">
                  <a:moveTo>
                    <a:pt x="2034" y="0"/>
                  </a:moveTo>
                  <a:lnTo>
                    <a:pt x="0" y="0"/>
                  </a:lnTo>
                  <a:lnTo>
                    <a:pt x="203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98" name="Freeform 7"/>
            <p:cNvSpPr>
              <a:spLocks noChangeAspect="1" noEditPoints="1"/>
            </p:cNvSpPr>
            <p:nvPr/>
          </p:nvSpPr>
          <p:spPr>
            <a:xfrm>
              <a:off x="1381" y="642"/>
              <a:ext cx="1" cy="1017"/>
            </a:xfrm>
            <a:custGeom>
              <a:avLst/>
              <a:gdLst>
                <a:gd name="txL" fmla="*/ 0 w 1"/>
                <a:gd name="txT" fmla="*/ 0 h 956"/>
                <a:gd name="txR" fmla="*/ 1 w 1"/>
                <a:gd name="txB" fmla="*/ 956 h 956"/>
              </a:gdLst>
              <a:ahLst/>
              <a:cxnLst>
                <a:cxn ang="0">
                  <a:pos x="0" y="0"/>
                </a:cxn>
                <a:cxn ang="0">
                  <a:pos x="0" y="5071"/>
                </a:cxn>
                <a:cxn ang="0">
                  <a:pos x="0" y="0"/>
                </a:cxn>
                <a:cxn ang="0">
                  <a:pos x="0" y="0"/>
                </a:cxn>
                <a:cxn ang="0">
                  <a:pos x="0" y="0"/>
                </a:cxn>
                <a:cxn ang="0">
                  <a:pos x="0" y="0"/>
                </a:cxn>
                <a:cxn ang="0">
                  <a:pos x="0" y="0"/>
                </a:cxn>
              </a:cxnLst>
              <a:rect l="txL" t="txT" r="txR" b="txB"/>
              <a:pathLst>
                <a:path w="1" h="956">
                  <a:moveTo>
                    <a:pt x="0" y="0"/>
                  </a:moveTo>
                  <a:lnTo>
                    <a:pt x="0" y="95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99" name="Freeform 8"/>
            <p:cNvSpPr>
              <a:spLocks noChangeAspect="1" noEditPoints="1"/>
            </p:cNvSpPr>
            <p:nvPr/>
          </p:nvSpPr>
          <p:spPr>
            <a:xfrm>
              <a:off x="1381" y="1659"/>
              <a:ext cx="3346" cy="1"/>
            </a:xfrm>
            <a:custGeom>
              <a:avLst/>
              <a:gdLst>
                <a:gd name="txL" fmla="*/ 0 w 2949"/>
                <a:gd name="txT" fmla="*/ 0 h 1"/>
                <a:gd name="txR" fmla="*/ 2949 w 2949"/>
                <a:gd name="txB" fmla="*/ 1 h 1"/>
              </a:gdLst>
              <a:ahLst/>
              <a:cxnLst>
                <a:cxn ang="0">
                  <a:pos x="0" y="0"/>
                </a:cxn>
                <a:cxn ang="0">
                  <a:pos x="89246" y="0"/>
                </a:cxn>
                <a:cxn ang="0">
                  <a:pos x="0" y="0"/>
                </a:cxn>
                <a:cxn ang="0">
                  <a:pos x="0" y="0"/>
                </a:cxn>
                <a:cxn ang="0">
                  <a:pos x="0" y="0"/>
                </a:cxn>
                <a:cxn ang="0">
                  <a:pos x="0" y="0"/>
                </a:cxn>
                <a:cxn ang="0">
                  <a:pos x="0" y="0"/>
                </a:cxn>
              </a:cxnLst>
              <a:rect l="txL" t="txT" r="txR" b="txB"/>
              <a:pathLst>
                <a:path w="2949" h="1">
                  <a:moveTo>
                    <a:pt x="0" y="0"/>
                  </a:moveTo>
                  <a:lnTo>
                    <a:pt x="2949"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0" name="Freeform 9"/>
            <p:cNvSpPr>
              <a:spLocks noChangeAspect="1" noEditPoints="1"/>
            </p:cNvSpPr>
            <p:nvPr/>
          </p:nvSpPr>
          <p:spPr>
            <a:xfrm>
              <a:off x="4727" y="642"/>
              <a:ext cx="1" cy="1017"/>
            </a:xfrm>
            <a:custGeom>
              <a:avLst/>
              <a:gdLst>
                <a:gd name="txL" fmla="*/ 0 w 1"/>
                <a:gd name="txT" fmla="*/ 0 h 956"/>
                <a:gd name="txR" fmla="*/ 1 w 1"/>
                <a:gd name="txB" fmla="*/ 956 h 956"/>
              </a:gdLst>
              <a:ahLst/>
              <a:cxnLst>
                <a:cxn ang="0">
                  <a:pos x="0" y="5071"/>
                </a:cxn>
                <a:cxn ang="0">
                  <a:pos x="0" y="0"/>
                </a:cxn>
                <a:cxn ang="0">
                  <a:pos x="0" y="5071"/>
                </a:cxn>
                <a:cxn ang="0">
                  <a:pos x="0" y="5071"/>
                </a:cxn>
                <a:cxn ang="0">
                  <a:pos x="0" y="5071"/>
                </a:cxn>
                <a:cxn ang="0">
                  <a:pos x="0" y="5071"/>
                </a:cxn>
                <a:cxn ang="0">
                  <a:pos x="0" y="5071"/>
                </a:cxn>
              </a:cxnLst>
              <a:rect l="txL" t="txT" r="txR" b="txB"/>
              <a:pathLst>
                <a:path w="1" h="956">
                  <a:moveTo>
                    <a:pt x="0" y="956"/>
                  </a:moveTo>
                  <a:lnTo>
                    <a:pt x="0" y="0"/>
                  </a:lnTo>
                  <a:lnTo>
                    <a:pt x="0" y="956"/>
                  </a:lnTo>
                  <a:close/>
                  <a:moveTo>
                    <a:pt x="0" y="956"/>
                  </a:moveTo>
                  <a:lnTo>
                    <a:pt x="0" y="95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1" name="Freeform 10"/>
            <p:cNvSpPr>
              <a:spLocks noChangeAspect="1" noEditPoints="1"/>
            </p:cNvSpPr>
            <p:nvPr/>
          </p:nvSpPr>
          <p:spPr>
            <a:xfrm>
              <a:off x="4096" y="642"/>
              <a:ext cx="631" cy="1"/>
            </a:xfrm>
            <a:custGeom>
              <a:avLst/>
              <a:gdLst>
                <a:gd name="txL" fmla="*/ 0 w 556"/>
                <a:gd name="txT" fmla="*/ 0 h 1"/>
                <a:gd name="txR" fmla="*/ 556 w 556"/>
                <a:gd name="txB" fmla="*/ 1 h 1"/>
              </a:gdLst>
              <a:ahLst/>
              <a:cxnLst>
                <a:cxn ang="0">
                  <a:pos x="16948" y="0"/>
                </a:cxn>
                <a:cxn ang="0">
                  <a:pos x="0" y="0"/>
                </a:cxn>
                <a:cxn ang="0">
                  <a:pos x="16948" y="0"/>
                </a:cxn>
                <a:cxn ang="0">
                  <a:pos x="16948" y="0"/>
                </a:cxn>
                <a:cxn ang="0">
                  <a:pos x="16948" y="0"/>
                </a:cxn>
                <a:cxn ang="0">
                  <a:pos x="16948" y="0"/>
                </a:cxn>
                <a:cxn ang="0">
                  <a:pos x="16948" y="0"/>
                </a:cxn>
              </a:cxnLst>
              <a:rect l="txL" t="txT" r="txR" b="txB"/>
              <a:pathLst>
                <a:path w="556" h="1">
                  <a:moveTo>
                    <a:pt x="556" y="0"/>
                  </a:moveTo>
                  <a:lnTo>
                    <a:pt x="0" y="0"/>
                  </a:lnTo>
                  <a:lnTo>
                    <a:pt x="556" y="0"/>
                  </a:lnTo>
                  <a:close/>
                  <a:moveTo>
                    <a:pt x="556" y="0"/>
                  </a:moveTo>
                  <a:lnTo>
                    <a:pt x="55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2" name="Freeform 11"/>
            <p:cNvSpPr>
              <a:spLocks noChangeAspect="1"/>
            </p:cNvSpPr>
            <p:nvPr/>
          </p:nvSpPr>
          <p:spPr>
            <a:xfrm>
              <a:off x="4048" y="642"/>
              <a:ext cx="14" cy="1"/>
            </a:xfrm>
            <a:custGeom>
              <a:avLst/>
              <a:gdLst>
                <a:gd name="txL" fmla="*/ 0 w 12"/>
                <a:gd name="txT" fmla="*/ 0 h 1"/>
                <a:gd name="txR" fmla="*/ 12 w 12"/>
                <a:gd name="txB" fmla="*/ 1 h 1"/>
              </a:gdLst>
              <a:ahLst/>
              <a:cxnLst>
                <a:cxn ang="0">
                  <a:pos x="775" y="0"/>
                </a:cxn>
                <a:cxn ang="0">
                  <a:pos x="0" y="0"/>
                </a:cxn>
                <a:cxn ang="0">
                  <a:pos x="775" y="0"/>
                </a:cxn>
                <a:cxn ang="0">
                  <a:pos x="775" y="0"/>
                </a:cxn>
              </a:cxnLst>
              <a:rect l="txL" t="txT" r="txR" b="txB"/>
              <a:pathLst>
                <a:path w="12" h="1">
                  <a:moveTo>
                    <a:pt x="12" y="0"/>
                  </a:moveTo>
                  <a:lnTo>
                    <a:pt x="0" y="0"/>
                  </a:lnTo>
                  <a:lnTo>
                    <a:pt x="1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3" name="Freeform 12"/>
            <p:cNvSpPr>
              <a:spLocks noChangeAspect="1" noEditPoints="1"/>
            </p:cNvSpPr>
            <p:nvPr/>
          </p:nvSpPr>
          <p:spPr>
            <a:xfrm>
              <a:off x="3987" y="642"/>
              <a:ext cx="48" cy="1"/>
            </a:xfrm>
            <a:custGeom>
              <a:avLst/>
              <a:gdLst>
                <a:gd name="txL" fmla="*/ 0 w 42"/>
                <a:gd name="txT" fmla="*/ 0 h 1"/>
                <a:gd name="txR" fmla="*/ 42 w 42"/>
                <a:gd name="txB" fmla="*/ 1 h 1"/>
              </a:gdLst>
              <a:ahLst/>
              <a:cxnLst>
                <a:cxn ang="0">
                  <a:pos x="1544" y="0"/>
                </a:cxn>
                <a:cxn ang="0">
                  <a:pos x="1087" y="0"/>
                </a:cxn>
                <a:cxn ang="0">
                  <a:pos x="1544" y="0"/>
                </a:cxn>
                <a:cxn ang="0">
                  <a:pos x="1544" y="0"/>
                </a:cxn>
                <a:cxn ang="0">
                  <a:pos x="671" y="0"/>
                </a:cxn>
                <a:cxn ang="0">
                  <a:pos x="0" y="0"/>
                </a:cxn>
                <a:cxn ang="0">
                  <a:pos x="671" y="0"/>
                </a:cxn>
                <a:cxn ang="0">
                  <a:pos x="671" y="0"/>
                </a:cxn>
              </a:cxnLst>
              <a:rect l="txL" t="txT" r="txR" b="txB"/>
              <a:pathLst>
                <a:path w="42" h="1">
                  <a:moveTo>
                    <a:pt x="42" y="0"/>
                  </a:moveTo>
                  <a:lnTo>
                    <a:pt x="30"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4" name="Freeform 13"/>
            <p:cNvSpPr>
              <a:spLocks noChangeAspect="1" noEditPoints="1"/>
            </p:cNvSpPr>
            <p:nvPr/>
          </p:nvSpPr>
          <p:spPr>
            <a:xfrm>
              <a:off x="3933" y="642"/>
              <a:ext cx="47" cy="1"/>
            </a:xfrm>
            <a:custGeom>
              <a:avLst/>
              <a:gdLst>
                <a:gd name="txL" fmla="*/ 0 w 42"/>
                <a:gd name="txT" fmla="*/ 0 h 1"/>
                <a:gd name="txR" fmla="*/ 42 w 42"/>
                <a:gd name="txB" fmla="*/ 1 h 1"/>
              </a:gdLst>
              <a:ahLst/>
              <a:cxnLst>
                <a:cxn ang="0">
                  <a:pos x="873" y="0"/>
                </a:cxn>
                <a:cxn ang="0">
                  <a:pos x="514" y="0"/>
                </a:cxn>
                <a:cxn ang="0">
                  <a:pos x="873" y="0"/>
                </a:cxn>
                <a:cxn ang="0">
                  <a:pos x="873" y="0"/>
                </a:cxn>
                <a:cxn ang="0">
                  <a:pos x="368" y="0"/>
                </a:cxn>
                <a:cxn ang="0">
                  <a:pos x="0" y="0"/>
                </a:cxn>
                <a:cxn ang="0">
                  <a:pos x="368" y="0"/>
                </a:cxn>
                <a:cxn ang="0">
                  <a:pos x="368" y="0"/>
                </a:cxn>
              </a:cxnLst>
              <a:rect l="txL" t="txT" r="txR" b="txB"/>
              <a:pathLst>
                <a:path w="42" h="1">
                  <a:moveTo>
                    <a:pt x="42" y="0"/>
                  </a:moveTo>
                  <a:lnTo>
                    <a:pt x="24"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5" name="Freeform 14"/>
            <p:cNvSpPr>
              <a:spLocks noChangeAspect="1" noEditPoints="1"/>
            </p:cNvSpPr>
            <p:nvPr/>
          </p:nvSpPr>
          <p:spPr>
            <a:xfrm>
              <a:off x="3878" y="642"/>
              <a:ext cx="48" cy="1"/>
            </a:xfrm>
            <a:custGeom>
              <a:avLst/>
              <a:gdLst>
                <a:gd name="txL" fmla="*/ 0 w 42"/>
                <a:gd name="txT" fmla="*/ 0 h 1"/>
                <a:gd name="txR" fmla="*/ 42 w 42"/>
                <a:gd name="txB" fmla="*/ 1 h 1"/>
              </a:gdLst>
              <a:ahLst/>
              <a:cxnLst>
                <a:cxn ang="0">
                  <a:pos x="1544" y="0"/>
                </a:cxn>
                <a:cxn ang="0">
                  <a:pos x="877" y="0"/>
                </a:cxn>
                <a:cxn ang="0">
                  <a:pos x="1544" y="0"/>
                </a:cxn>
                <a:cxn ang="0">
                  <a:pos x="1544" y="0"/>
                </a:cxn>
                <a:cxn ang="0">
                  <a:pos x="671" y="0"/>
                </a:cxn>
                <a:cxn ang="0">
                  <a:pos x="0" y="0"/>
                </a:cxn>
                <a:cxn ang="0">
                  <a:pos x="671" y="0"/>
                </a:cxn>
                <a:cxn ang="0">
                  <a:pos x="671" y="0"/>
                </a:cxn>
              </a:cxnLst>
              <a:rect l="txL" t="txT" r="txR" b="txB"/>
              <a:pathLst>
                <a:path w="42" h="1">
                  <a:moveTo>
                    <a:pt x="42" y="0"/>
                  </a:moveTo>
                  <a:lnTo>
                    <a:pt x="24"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6" name="Freeform 15"/>
            <p:cNvSpPr>
              <a:spLocks noChangeAspect="1" noEditPoints="1"/>
            </p:cNvSpPr>
            <p:nvPr/>
          </p:nvSpPr>
          <p:spPr>
            <a:xfrm>
              <a:off x="3824" y="642"/>
              <a:ext cx="47" cy="1"/>
            </a:xfrm>
            <a:custGeom>
              <a:avLst/>
              <a:gdLst>
                <a:gd name="txL" fmla="*/ 0 w 42"/>
                <a:gd name="txT" fmla="*/ 0 h 1"/>
                <a:gd name="txR" fmla="*/ 42 w 42"/>
                <a:gd name="txB" fmla="*/ 1 h 1"/>
              </a:gdLst>
              <a:ahLst/>
              <a:cxnLst>
                <a:cxn ang="0">
                  <a:pos x="873" y="0"/>
                </a:cxn>
                <a:cxn ang="0">
                  <a:pos x="514" y="0"/>
                </a:cxn>
                <a:cxn ang="0">
                  <a:pos x="873" y="0"/>
                </a:cxn>
                <a:cxn ang="0">
                  <a:pos x="873" y="0"/>
                </a:cxn>
                <a:cxn ang="0">
                  <a:pos x="261" y="0"/>
                </a:cxn>
                <a:cxn ang="0">
                  <a:pos x="0" y="0"/>
                </a:cxn>
                <a:cxn ang="0">
                  <a:pos x="261" y="0"/>
                </a:cxn>
                <a:cxn ang="0">
                  <a:pos x="261" y="0"/>
                </a:cxn>
              </a:cxnLst>
              <a:rect l="txL" t="txT" r="txR" b="txB"/>
              <a:pathLst>
                <a:path w="42" h="1">
                  <a:moveTo>
                    <a:pt x="42" y="0"/>
                  </a:moveTo>
                  <a:lnTo>
                    <a:pt x="24" y="0"/>
                  </a:lnTo>
                  <a:lnTo>
                    <a:pt x="42" y="0"/>
                  </a:lnTo>
                  <a:close/>
                  <a:moveTo>
                    <a:pt x="12" y="0"/>
                  </a:moveTo>
                  <a:lnTo>
                    <a:pt x="0" y="0"/>
                  </a:lnTo>
                  <a:lnTo>
                    <a:pt x="1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7" name="Freeform 16"/>
            <p:cNvSpPr>
              <a:spLocks noChangeAspect="1" noEditPoints="1"/>
            </p:cNvSpPr>
            <p:nvPr/>
          </p:nvSpPr>
          <p:spPr>
            <a:xfrm>
              <a:off x="3764" y="642"/>
              <a:ext cx="47" cy="1"/>
            </a:xfrm>
            <a:custGeom>
              <a:avLst/>
              <a:gdLst>
                <a:gd name="txL" fmla="*/ 0 w 42"/>
                <a:gd name="txT" fmla="*/ 0 h 1"/>
                <a:gd name="txR" fmla="*/ 42 w 42"/>
                <a:gd name="txB" fmla="*/ 1 h 1"/>
              </a:gdLst>
              <a:ahLst/>
              <a:cxnLst>
                <a:cxn ang="0">
                  <a:pos x="873" y="0"/>
                </a:cxn>
                <a:cxn ang="0">
                  <a:pos x="514" y="0"/>
                </a:cxn>
                <a:cxn ang="0">
                  <a:pos x="873" y="0"/>
                </a:cxn>
                <a:cxn ang="0">
                  <a:pos x="873" y="0"/>
                </a:cxn>
                <a:cxn ang="0">
                  <a:pos x="368" y="0"/>
                </a:cxn>
                <a:cxn ang="0">
                  <a:pos x="0" y="0"/>
                </a:cxn>
                <a:cxn ang="0">
                  <a:pos x="368" y="0"/>
                </a:cxn>
                <a:cxn ang="0">
                  <a:pos x="368" y="0"/>
                </a:cxn>
              </a:cxnLst>
              <a:rect l="txL" t="txT" r="txR" b="txB"/>
              <a:pathLst>
                <a:path w="42" h="1">
                  <a:moveTo>
                    <a:pt x="42" y="0"/>
                  </a:moveTo>
                  <a:lnTo>
                    <a:pt x="24"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8" name="Freeform 17"/>
            <p:cNvSpPr>
              <a:spLocks noChangeAspect="1" noEditPoints="1"/>
            </p:cNvSpPr>
            <p:nvPr/>
          </p:nvSpPr>
          <p:spPr>
            <a:xfrm>
              <a:off x="3709" y="642"/>
              <a:ext cx="48" cy="1"/>
            </a:xfrm>
            <a:custGeom>
              <a:avLst/>
              <a:gdLst>
                <a:gd name="txL" fmla="*/ 0 w 42"/>
                <a:gd name="txT" fmla="*/ 0 h 1"/>
                <a:gd name="txR" fmla="*/ 42 w 42"/>
                <a:gd name="txB" fmla="*/ 1 h 1"/>
              </a:gdLst>
              <a:ahLst/>
              <a:cxnLst>
                <a:cxn ang="0">
                  <a:pos x="1544" y="0"/>
                </a:cxn>
                <a:cxn ang="0">
                  <a:pos x="877" y="0"/>
                </a:cxn>
                <a:cxn ang="0">
                  <a:pos x="1544" y="0"/>
                </a:cxn>
                <a:cxn ang="0">
                  <a:pos x="1544" y="0"/>
                </a:cxn>
                <a:cxn ang="0">
                  <a:pos x="671" y="0"/>
                </a:cxn>
                <a:cxn ang="0">
                  <a:pos x="0" y="0"/>
                </a:cxn>
                <a:cxn ang="0">
                  <a:pos x="671" y="0"/>
                </a:cxn>
                <a:cxn ang="0">
                  <a:pos x="671" y="0"/>
                </a:cxn>
              </a:cxnLst>
              <a:rect l="txL" t="txT" r="txR" b="txB"/>
              <a:pathLst>
                <a:path w="42" h="1">
                  <a:moveTo>
                    <a:pt x="42" y="0"/>
                  </a:moveTo>
                  <a:lnTo>
                    <a:pt x="24"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09" name="Freeform 18"/>
            <p:cNvSpPr>
              <a:spLocks noChangeAspect="1"/>
            </p:cNvSpPr>
            <p:nvPr/>
          </p:nvSpPr>
          <p:spPr>
            <a:xfrm>
              <a:off x="1042" y="1093"/>
              <a:ext cx="75" cy="77"/>
            </a:xfrm>
            <a:custGeom>
              <a:avLst/>
              <a:gdLst>
                <a:gd name="txL" fmla="*/ 0 w 66"/>
                <a:gd name="txT" fmla="*/ 0 h 72"/>
                <a:gd name="txR" fmla="*/ 66 w 66"/>
                <a:gd name="txB" fmla="*/ 72 h 72"/>
              </a:gdLst>
              <a:ahLst/>
              <a:cxnLst>
                <a:cxn ang="0">
                  <a:pos x="0" y="6"/>
                </a:cxn>
                <a:cxn ang="0">
                  <a:pos x="390" y="6"/>
                </a:cxn>
                <a:cxn ang="0">
                  <a:pos x="390" y="108"/>
                </a:cxn>
                <a:cxn ang="0">
                  <a:pos x="572" y="261"/>
                </a:cxn>
                <a:cxn ang="0">
                  <a:pos x="572" y="404"/>
                </a:cxn>
                <a:cxn ang="0">
                  <a:pos x="572" y="446"/>
                </a:cxn>
                <a:cxn ang="0">
                  <a:pos x="572" y="446"/>
                </a:cxn>
                <a:cxn ang="0">
                  <a:pos x="747" y="404"/>
                </a:cxn>
                <a:cxn ang="0">
                  <a:pos x="1149" y="330"/>
                </a:cxn>
                <a:cxn ang="0">
                  <a:pos x="1360" y="298"/>
                </a:cxn>
                <a:cxn ang="0">
                  <a:pos x="1689" y="228"/>
                </a:cxn>
                <a:cxn ang="0">
                  <a:pos x="1916" y="108"/>
                </a:cxn>
                <a:cxn ang="0">
                  <a:pos x="2080" y="6"/>
                </a:cxn>
                <a:cxn ang="0">
                  <a:pos x="1916" y="6"/>
                </a:cxn>
                <a:cxn ang="0">
                  <a:pos x="1689" y="0"/>
                </a:cxn>
                <a:cxn ang="0">
                  <a:pos x="1689" y="0"/>
                </a:cxn>
                <a:cxn ang="0">
                  <a:pos x="1545" y="6"/>
                </a:cxn>
                <a:cxn ang="0">
                  <a:pos x="1689" y="72"/>
                </a:cxn>
                <a:cxn ang="0">
                  <a:pos x="1689" y="108"/>
                </a:cxn>
                <a:cxn ang="0">
                  <a:pos x="1545" y="228"/>
                </a:cxn>
                <a:cxn ang="0">
                  <a:pos x="1149" y="330"/>
                </a:cxn>
                <a:cxn ang="0">
                  <a:pos x="955" y="330"/>
                </a:cxn>
                <a:cxn ang="0">
                  <a:pos x="955" y="186"/>
                </a:cxn>
                <a:cxn ang="0">
                  <a:pos x="747" y="0"/>
                </a:cxn>
                <a:cxn ang="0">
                  <a:pos x="747" y="0"/>
                </a:cxn>
                <a:cxn ang="0">
                  <a:pos x="572" y="0"/>
                </a:cxn>
                <a:cxn ang="0">
                  <a:pos x="390" y="0"/>
                </a:cxn>
                <a:cxn ang="0">
                  <a:pos x="0" y="0"/>
                </a:cxn>
                <a:cxn ang="0">
                  <a:pos x="0" y="6"/>
                </a:cxn>
              </a:cxnLst>
              <a:rect l="txL" t="txT" r="txR" b="txB"/>
              <a:pathLst>
                <a:path w="66" h="72">
                  <a:moveTo>
                    <a:pt x="0" y="6"/>
                  </a:moveTo>
                  <a:lnTo>
                    <a:pt x="12" y="6"/>
                  </a:lnTo>
                  <a:lnTo>
                    <a:pt x="12" y="18"/>
                  </a:lnTo>
                  <a:lnTo>
                    <a:pt x="18" y="42"/>
                  </a:lnTo>
                  <a:lnTo>
                    <a:pt x="18" y="66"/>
                  </a:lnTo>
                  <a:lnTo>
                    <a:pt x="18" y="72"/>
                  </a:lnTo>
                  <a:lnTo>
                    <a:pt x="24" y="66"/>
                  </a:lnTo>
                  <a:lnTo>
                    <a:pt x="36" y="54"/>
                  </a:lnTo>
                  <a:lnTo>
                    <a:pt x="42" y="48"/>
                  </a:lnTo>
                  <a:lnTo>
                    <a:pt x="54" y="36"/>
                  </a:lnTo>
                  <a:lnTo>
                    <a:pt x="60" y="18"/>
                  </a:lnTo>
                  <a:lnTo>
                    <a:pt x="66" y="6"/>
                  </a:lnTo>
                  <a:lnTo>
                    <a:pt x="60" y="6"/>
                  </a:lnTo>
                  <a:lnTo>
                    <a:pt x="54" y="0"/>
                  </a:lnTo>
                  <a:lnTo>
                    <a:pt x="48" y="6"/>
                  </a:lnTo>
                  <a:lnTo>
                    <a:pt x="54" y="12"/>
                  </a:lnTo>
                  <a:lnTo>
                    <a:pt x="54" y="18"/>
                  </a:lnTo>
                  <a:lnTo>
                    <a:pt x="48" y="36"/>
                  </a:lnTo>
                  <a:lnTo>
                    <a:pt x="36" y="54"/>
                  </a:lnTo>
                  <a:lnTo>
                    <a:pt x="30" y="54"/>
                  </a:lnTo>
                  <a:lnTo>
                    <a:pt x="30" y="30"/>
                  </a:lnTo>
                  <a:lnTo>
                    <a:pt x="24" y="0"/>
                  </a:lnTo>
                  <a:lnTo>
                    <a:pt x="18" y="0"/>
                  </a:lnTo>
                  <a:lnTo>
                    <a:pt x="12" y="0"/>
                  </a:lnTo>
                  <a:lnTo>
                    <a:pt x="0"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10" name="Freeform 19"/>
            <p:cNvSpPr>
              <a:spLocks noChangeAspect="1"/>
            </p:cNvSpPr>
            <p:nvPr/>
          </p:nvSpPr>
          <p:spPr>
            <a:xfrm>
              <a:off x="1884" y="312"/>
              <a:ext cx="121" cy="120"/>
            </a:xfrm>
            <a:custGeom>
              <a:avLst/>
              <a:gdLst>
                <a:gd name="txL" fmla="*/ 0 w 107"/>
                <a:gd name="txT" fmla="*/ 0 h 113"/>
                <a:gd name="txR" fmla="*/ 107 w 107"/>
                <a:gd name="txB" fmla="*/ 113 h 113"/>
              </a:gdLst>
              <a:ahLst/>
              <a:cxnLst>
                <a:cxn ang="0">
                  <a:pos x="2610" y="181"/>
                </a:cxn>
                <a:cxn ang="0">
                  <a:pos x="2951" y="0"/>
                </a:cxn>
                <a:cxn ang="0">
                  <a:pos x="2786" y="0"/>
                </a:cxn>
                <a:cxn ang="0">
                  <a:pos x="2786" y="6"/>
                </a:cxn>
                <a:cxn ang="0">
                  <a:pos x="2610" y="6"/>
                </a:cxn>
                <a:cxn ang="0">
                  <a:pos x="2306" y="6"/>
                </a:cxn>
                <a:cxn ang="0">
                  <a:pos x="1839" y="0"/>
                </a:cxn>
                <a:cxn ang="0">
                  <a:pos x="1150" y="6"/>
                </a:cxn>
                <a:cxn ang="0">
                  <a:pos x="486" y="122"/>
                </a:cxn>
                <a:cxn ang="0">
                  <a:pos x="161" y="244"/>
                </a:cxn>
                <a:cxn ang="0">
                  <a:pos x="0" y="364"/>
                </a:cxn>
                <a:cxn ang="0">
                  <a:pos x="161" y="449"/>
                </a:cxn>
                <a:cxn ang="0">
                  <a:pos x="336" y="507"/>
                </a:cxn>
                <a:cxn ang="0">
                  <a:pos x="1150" y="569"/>
                </a:cxn>
                <a:cxn ang="0">
                  <a:pos x="1662" y="569"/>
                </a:cxn>
                <a:cxn ang="0">
                  <a:pos x="1980" y="507"/>
                </a:cxn>
                <a:cxn ang="0">
                  <a:pos x="2464" y="449"/>
                </a:cxn>
                <a:cxn ang="0">
                  <a:pos x="2464" y="449"/>
                </a:cxn>
                <a:cxn ang="0">
                  <a:pos x="1980" y="507"/>
                </a:cxn>
                <a:cxn ang="0">
                  <a:pos x="1325" y="538"/>
                </a:cxn>
                <a:cxn ang="0">
                  <a:pos x="688" y="507"/>
                </a:cxn>
                <a:cxn ang="0">
                  <a:pos x="486" y="364"/>
                </a:cxn>
                <a:cxn ang="0">
                  <a:pos x="688" y="275"/>
                </a:cxn>
                <a:cxn ang="0">
                  <a:pos x="815" y="151"/>
                </a:cxn>
                <a:cxn ang="0">
                  <a:pos x="1325" y="59"/>
                </a:cxn>
                <a:cxn ang="0">
                  <a:pos x="1980" y="6"/>
                </a:cxn>
                <a:cxn ang="0">
                  <a:pos x="2306" y="59"/>
                </a:cxn>
                <a:cxn ang="0">
                  <a:pos x="2610" y="85"/>
                </a:cxn>
                <a:cxn ang="0">
                  <a:pos x="2610" y="151"/>
                </a:cxn>
                <a:cxn ang="0">
                  <a:pos x="2610" y="181"/>
                </a:cxn>
                <a:cxn ang="0">
                  <a:pos x="2610" y="181"/>
                </a:cxn>
              </a:cxnLst>
              <a:rect l="txL" t="txT" r="txR" b="txB"/>
              <a:pathLst>
                <a:path w="107" h="113">
                  <a:moveTo>
                    <a:pt x="95" y="36"/>
                  </a:moveTo>
                  <a:lnTo>
                    <a:pt x="107" y="0"/>
                  </a:lnTo>
                  <a:lnTo>
                    <a:pt x="101" y="0"/>
                  </a:lnTo>
                  <a:lnTo>
                    <a:pt x="101" y="6"/>
                  </a:lnTo>
                  <a:lnTo>
                    <a:pt x="95" y="6"/>
                  </a:lnTo>
                  <a:lnTo>
                    <a:pt x="83" y="6"/>
                  </a:lnTo>
                  <a:lnTo>
                    <a:pt x="66" y="0"/>
                  </a:lnTo>
                  <a:lnTo>
                    <a:pt x="42" y="6"/>
                  </a:lnTo>
                  <a:lnTo>
                    <a:pt x="18" y="24"/>
                  </a:lnTo>
                  <a:lnTo>
                    <a:pt x="6" y="48"/>
                  </a:lnTo>
                  <a:lnTo>
                    <a:pt x="0" y="71"/>
                  </a:lnTo>
                  <a:lnTo>
                    <a:pt x="6" y="89"/>
                  </a:lnTo>
                  <a:lnTo>
                    <a:pt x="12" y="101"/>
                  </a:lnTo>
                  <a:lnTo>
                    <a:pt x="42" y="113"/>
                  </a:lnTo>
                  <a:lnTo>
                    <a:pt x="60" y="113"/>
                  </a:lnTo>
                  <a:lnTo>
                    <a:pt x="72" y="101"/>
                  </a:lnTo>
                  <a:lnTo>
                    <a:pt x="89" y="89"/>
                  </a:lnTo>
                  <a:lnTo>
                    <a:pt x="72" y="101"/>
                  </a:lnTo>
                  <a:lnTo>
                    <a:pt x="48" y="107"/>
                  </a:lnTo>
                  <a:lnTo>
                    <a:pt x="24" y="101"/>
                  </a:lnTo>
                  <a:lnTo>
                    <a:pt x="18" y="71"/>
                  </a:lnTo>
                  <a:lnTo>
                    <a:pt x="24" y="54"/>
                  </a:lnTo>
                  <a:lnTo>
                    <a:pt x="30" y="30"/>
                  </a:lnTo>
                  <a:lnTo>
                    <a:pt x="48" y="12"/>
                  </a:lnTo>
                  <a:lnTo>
                    <a:pt x="72" y="6"/>
                  </a:lnTo>
                  <a:lnTo>
                    <a:pt x="83" y="12"/>
                  </a:lnTo>
                  <a:lnTo>
                    <a:pt x="95" y="18"/>
                  </a:lnTo>
                  <a:lnTo>
                    <a:pt x="95" y="30"/>
                  </a:lnTo>
                  <a:lnTo>
                    <a:pt x="95"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11" name="Freeform 20"/>
            <p:cNvSpPr>
              <a:spLocks noChangeAspect="1"/>
            </p:cNvSpPr>
            <p:nvPr/>
          </p:nvSpPr>
          <p:spPr>
            <a:xfrm>
              <a:off x="2012" y="388"/>
              <a:ext cx="41" cy="89"/>
            </a:xfrm>
            <a:custGeom>
              <a:avLst/>
              <a:gdLst>
                <a:gd name="txL" fmla="*/ 0 w 36"/>
                <a:gd name="txT" fmla="*/ 0 h 84"/>
                <a:gd name="txR" fmla="*/ 36 w 36"/>
                <a:gd name="txB" fmla="*/ 84 h 84"/>
              </a:gdLst>
              <a:ahLst/>
              <a:cxnLst>
                <a:cxn ang="0">
                  <a:pos x="0" y="401"/>
                </a:cxn>
                <a:cxn ang="0">
                  <a:pos x="1257" y="401"/>
                </a:cxn>
                <a:cxn ang="0">
                  <a:pos x="1257" y="401"/>
                </a:cxn>
                <a:cxn ang="0">
                  <a:pos x="993" y="374"/>
                </a:cxn>
                <a:cxn ang="0">
                  <a:pos x="790" y="342"/>
                </a:cxn>
                <a:cxn ang="0">
                  <a:pos x="790" y="0"/>
                </a:cxn>
                <a:cxn ang="0">
                  <a:pos x="790" y="0"/>
                </a:cxn>
                <a:cxn ang="0">
                  <a:pos x="0" y="57"/>
                </a:cxn>
                <a:cxn ang="0">
                  <a:pos x="0" y="57"/>
                </a:cxn>
                <a:cxn ang="0">
                  <a:pos x="203" y="6"/>
                </a:cxn>
                <a:cxn ang="0">
                  <a:pos x="413" y="6"/>
                </a:cxn>
                <a:cxn ang="0">
                  <a:pos x="413" y="57"/>
                </a:cxn>
                <a:cxn ang="0">
                  <a:pos x="413" y="57"/>
                </a:cxn>
                <a:cxn ang="0">
                  <a:pos x="413" y="342"/>
                </a:cxn>
                <a:cxn ang="0">
                  <a:pos x="413" y="374"/>
                </a:cxn>
                <a:cxn ang="0">
                  <a:pos x="0" y="401"/>
                </a:cxn>
                <a:cxn ang="0">
                  <a:pos x="0" y="401"/>
                </a:cxn>
              </a:cxnLst>
              <a:rect l="txL" t="txT" r="txR" b="txB"/>
              <a:pathLst>
                <a:path w="36" h="84">
                  <a:moveTo>
                    <a:pt x="0" y="84"/>
                  </a:moveTo>
                  <a:lnTo>
                    <a:pt x="36" y="84"/>
                  </a:lnTo>
                  <a:lnTo>
                    <a:pt x="30" y="78"/>
                  </a:lnTo>
                  <a:lnTo>
                    <a:pt x="24" y="72"/>
                  </a:lnTo>
                  <a:lnTo>
                    <a:pt x="24" y="0"/>
                  </a:lnTo>
                  <a:lnTo>
                    <a:pt x="0" y="12"/>
                  </a:lnTo>
                  <a:lnTo>
                    <a:pt x="6" y="6"/>
                  </a:lnTo>
                  <a:lnTo>
                    <a:pt x="12" y="6"/>
                  </a:lnTo>
                  <a:lnTo>
                    <a:pt x="12" y="12"/>
                  </a:lnTo>
                  <a:lnTo>
                    <a:pt x="12" y="72"/>
                  </a:lnTo>
                  <a:lnTo>
                    <a:pt x="12" y="78"/>
                  </a:lnTo>
                  <a:lnTo>
                    <a:pt x="0"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12" name="Freeform 21"/>
            <p:cNvSpPr>
              <a:spLocks noChangeAspect="1"/>
            </p:cNvSpPr>
            <p:nvPr/>
          </p:nvSpPr>
          <p:spPr>
            <a:xfrm>
              <a:off x="2596" y="318"/>
              <a:ext cx="115" cy="121"/>
            </a:xfrm>
            <a:custGeom>
              <a:avLst/>
              <a:gdLst>
                <a:gd name="txL" fmla="*/ 0 w 101"/>
                <a:gd name="txT" fmla="*/ 0 h 113"/>
                <a:gd name="txR" fmla="*/ 101 w 101"/>
                <a:gd name="txB" fmla="*/ 113 h 113"/>
              </a:gdLst>
              <a:ahLst/>
              <a:cxnLst>
                <a:cxn ang="0">
                  <a:pos x="3153" y="187"/>
                </a:cxn>
                <a:cxn ang="0">
                  <a:pos x="3385" y="0"/>
                </a:cxn>
                <a:cxn ang="0">
                  <a:pos x="3385" y="0"/>
                </a:cxn>
                <a:cxn ang="0">
                  <a:pos x="3153" y="6"/>
                </a:cxn>
                <a:cxn ang="0">
                  <a:pos x="2975" y="6"/>
                </a:cxn>
                <a:cxn ang="0">
                  <a:pos x="2799" y="6"/>
                </a:cxn>
                <a:cxn ang="0">
                  <a:pos x="2171" y="0"/>
                </a:cxn>
                <a:cxn ang="0">
                  <a:pos x="1431" y="6"/>
                </a:cxn>
                <a:cxn ang="0">
                  <a:pos x="589" y="152"/>
                </a:cxn>
                <a:cxn ang="0">
                  <a:pos x="195" y="262"/>
                </a:cxn>
                <a:cxn ang="0">
                  <a:pos x="0" y="419"/>
                </a:cxn>
                <a:cxn ang="0">
                  <a:pos x="195" y="557"/>
                </a:cxn>
                <a:cxn ang="0">
                  <a:pos x="399" y="637"/>
                </a:cxn>
                <a:cxn ang="0">
                  <a:pos x="991" y="723"/>
                </a:cxn>
                <a:cxn ang="0">
                  <a:pos x="1431" y="723"/>
                </a:cxn>
                <a:cxn ang="0">
                  <a:pos x="1990" y="723"/>
                </a:cxn>
                <a:cxn ang="0">
                  <a:pos x="2405" y="637"/>
                </a:cxn>
                <a:cxn ang="0">
                  <a:pos x="2975" y="557"/>
                </a:cxn>
                <a:cxn ang="0">
                  <a:pos x="2799" y="520"/>
                </a:cxn>
                <a:cxn ang="0">
                  <a:pos x="2405" y="637"/>
                </a:cxn>
                <a:cxn ang="0">
                  <a:pos x="1629" y="679"/>
                </a:cxn>
                <a:cxn ang="0">
                  <a:pos x="1200" y="679"/>
                </a:cxn>
                <a:cxn ang="0">
                  <a:pos x="789" y="596"/>
                </a:cxn>
                <a:cxn ang="0">
                  <a:pos x="589" y="450"/>
                </a:cxn>
                <a:cxn ang="0">
                  <a:pos x="789" y="342"/>
                </a:cxn>
                <a:cxn ang="0">
                  <a:pos x="991" y="187"/>
                </a:cxn>
                <a:cxn ang="0">
                  <a:pos x="1629" y="72"/>
                </a:cxn>
                <a:cxn ang="0">
                  <a:pos x="2171" y="6"/>
                </a:cxn>
                <a:cxn ang="0">
                  <a:pos x="2799" y="72"/>
                </a:cxn>
                <a:cxn ang="0">
                  <a:pos x="2975" y="108"/>
                </a:cxn>
                <a:cxn ang="0">
                  <a:pos x="3153" y="152"/>
                </a:cxn>
                <a:cxn ang="0">
                  <a:pos x="3153" y="187"/>
                </a:cxn>
                <a:cxn ang="0">
                  <a:pos x="3153" y="187"/>
                </a:cxn>
              </a:cxnLst>
              <a:rect l="txL" t="txT" r="txR" b="txB"/>
              <a:pathLst>
                <a:path w="101" h="113">
                  <a:moveTo>
                    <a:pt x="95" y="30"/>
                  </a:moveTo>
                  <a:lnTo>
                    <a:pt x="101" y="0"/>
                  </a:lnTo>
                  <a:lnTo>
                    <a:pt x="95" y="6"/>
                  </a:lnTo>
                  <a:lnTo>
                    <a:pt x="90" y="6"/>
                  </a:lnTo>
                  <a:lnTo>
                    <a:pt x="84" y="6"/>
                  </a:lnTo>
                  <a:lnTo>
                    <a:pt x="66" y="0"/>
                  </a:lnTo>
                  <a:lnTo>
                    <a:pt x="42" y="6"/>
                  </a:lnTo>
                  <a:lnTo>
                    <a:pt x="18" y="24"/>
                  </a:lnTo>
                  <a:lnTo>
                    <a:pt x="6" y="42"/>
                  </a:lnTo>
                  <a:lnTo>
                    <a:pt x="0" y="65"/>
                  </a:lnTo>
                  <a:lnTo>
                    <a:pt x="6" y="89"/>
                  </a:lnTo>
                  <a:lnTo>
                    <a:pt x="12" y="101"/>
                  </a:lnTo>
                  <a:lnTo>
                    <a:pt x="30" y="113"/>
                  </a:lnTo>
                  <a:lnTo>
                    <a:pt x="42" y="113"/>
                  </a:lnTo>
                  <a:lnTo>
                    <a:pt x="60" y="113"/>
                  </a:lnTo>
                  <a:lnTo>
                    <a:pt x="72" y="101"/>
                  </a:lnTo>
                  <a:lnTo>
                    <a:pt x="90" y="89"/>
                  </a:lnTo>
                  <a:lnTo>
                    <a:pt x="84" y="83"/>
                  </a:lnTo>
                  <a:lnTo>
                    <a:pt x="72" y="101"/>
                  </a:lnTo>
                  <a:lnTo>
                    <a:pt x="48" y="107"/>
                  </a:lnTo>
                  <a:lnTo>
                    <a:pt x="36" y="107"/>
                  </a:lnTo>
                  <a:lnTo>
                    <a:pt x="24" y="95"/>
                  </a:lnTo>
                  <a:lnTo>
                    <a:pt x="18" y="71"/>
                  </a:lnTo>
                  <a:lnTo>
                    <a:pt x="24" y="54"/>
                  </a:lnTo>
                  <a:lnTo>
                    <a:pt x="30" y="30"/>
                  </a:lnTo>
                  <a:lnTo>
                    <a:pt x="48" y="12"/>
                  </a:lnTo>
                  <a:lnTo>
                    <a:pt x="66" y="6"/>
                  </a:lnTo>
                  <a:lnTo>
                    <a:pt x="84" y="12"/>
                  </a:lnTo>
                  <a:lnTo>
                    <a:pt x="90" y="18"/>
                  </a:lnTo>
                  <a:lnTo>
                    <a:pt x="95" y="24"/>
                  </a:lnTo>
                  <a:lnTo>
                    <a:pt x="95"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13" name="Freeform 22"/>
            <p:cNvSpPr>
              <a:spLocks noChangeAspect="1"/>
            </p:cNvSpPr>
            <p:nvPr/>
          </p:nvSpPr>
          <p:spPr>
            <a:xfrm>
              <a:off x="2711" y="388"/>
              <a:ext cx="61" cy="89"/>
            </a:xfrm>
            <a:custGeom>
              <a:avLst/>
              <a:gdLst>
                <a:gd name="txL" fmla="*/ 0 w 54"/>
                <a:gd name="txT" fmla="*/ 0 h 84"/>
                <a:gd name="txR" fmla="*/ 54 w 54"/>
                <a:gd name="txB" fmla="*/ 84 h 84"/>
              </a:gdLst>
              <a:ahLst/>
              <a:cxnLst>
                <a:cxn ang="0">
                  <a:pos x="1456" y="314"/>
                </a:cxn>
                <a:cxn ang="0">
                  <a:pos x="1456" y="314"/>
                </a:cxn>
                <a:cxn ang="0">
                  <a:pos x="1289" y="374"/>
                </a:cxn>
                <a:cxn ang="0">
                  <a:pos x="1121" y="374"/>
                </a:cxn>
                <a:cxn ang="0">
                  <a:pos x="331" y="374"/>
                </a:cxn>
                <a:cxn ang="0">
                  <a:pos x="977" y="257"/>
                </a:cxn>
                <a:cxn ang="0">
                  <a:pos x="1121" y="200"/>
                </a:cxn>
                <a:cxn ang="0">
                  <a:pos x="1289" y="114"/>
                </a:cxn>
                <a:cxn ang="0">
                  <a:pos x="1121" y="6"/>
                </a:cxn>
                <a:cxn ang="0">
                  <a:pos x="803" y="0"/>
                </a:cxn>
                <a:cxn ang="0">
                  <a:pos x="331" y="6"/>
                </a:cxn>
                <a:cxn ang="0">
                  <a:pos x="0" y="114"/>
                </a:cxn>
                <a:cxn ang="0">
                  <a:pos x="159" y="114"/>
                </a:cxn>
                <a:cxn ang="0">
                  <a:pos x="331" y="81"/>
                </a:cxn>
                <a:cxn ang="0">
                  <a:pos x="673" y="57"/>
                </a:cxn>
                <a:cxn ang="0">
                  <a:pos x="977" y="81"/>
                </a:cxn>
                <a:cxn ang="0">
                  <a:pos x="1121" y="144"/>
                </a:cxn>
                <a:cxn ang="0">
                  <a:pos x="977" y="200"/>
                </a:cxn>
                <a:cxn ang="0">
                  <a:pos x="673" y="288"/>
                </a:cxn>
                <a:cxn ang="0">
                  <a:pos x="0" y="401"/>
                </a:cxn>
                <a:cxn ang="0">
                  <a:pos x="0" y="401"/>
                </a:cxn>
                <a:cxn ang="0">
                  <a:pos x="1289" y="401"/>
                </a:cxn>
                <a:cxn ang="0">
                  <a:pos x="1456" y="314"/>
                </a:cxn>
              </a:cxnLst>
              <a:rect l="txL" t="txT" r="txR" b="txB"/>
              <a:pathLst>
                <a:path w="54" h="84">
                  <a:moveTo>
                    <a:pt x="54" y="66"/>
                  </a:moveTo>
                  <a:lnTo>
                    <a:pt x="54" y="66"/>
                  </a:lnTo>
                  <a:lnTo>
                    <a:pt x="48" y="78"/>
                  </a:lnTo>
                  <a:lnTo>
                    <a:pt x="42" y="78"/>
                  </a:lnTo>
                  <a:lnTo>
                    <a:pt x="12" y="78"/>
                  </a:lnTo>
                  <a:lnTo>
                    <a:pt x="36" y="54"/>
                  </a:lnTo>
                  <a:lnTo>
                    <a:pt x="42" y="42"/>
                  </a:lnTo>
                  <a:lnTo>
                    <a:pt x="48" y="24"/>
                  </a:lnTo>
                  <a:lnTo>
                    <a:pt x="42" y="6"/>
                  </a:lnTo>
                  <a:lnTo>
                    <a:pt x="30" y="0"/>
                  </a:lnTo>
                  <a:lnTo>
                    <a:pt x="12" y="6"/>
                  </a:lnTo>
                  <a:lnTo>
                    <a:pt x="0" y="24"/>
                  </a:lnTo>
                  <a:lnTo>
                    <a:pt x="6" y="24"/>
                  </a:lnTo>
                  <a:lnTo>
                    <a:pt x="12" y="18"/>
                  </a:lnTo>
                  <a:lnTo>
                    <a:pt x="24" y="12"/>
                  </a:lnTo>
                  <a:lnTo>
                    <a:pt x="36" y="18"/>
                  </a:lnTo>
                  <a:lnTo>
                    <a:pt x="42" y="30"/>
                  </a:lnTo>
                  <a:lnTo>
                    <a:pt x="36" y="42"/>
                  </a:lnTo>
                  <a:lnTo>
                    <a:pt x="24" y="60"/>
                  </a:lnTo>
                  <a:lnTo>
                    <a:pt x="0" y="84"/>
                  </a:lnTo>
                  <a:lnTo>
                    <a:pt x="48" y="84"/>
                  </a:lnTo>
                  <a:lnTo>
                    <a:pt x="54"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14" name="Freeform 23"/>
            <p:cNvSpPr>
              <a:spLocks noChangeAspect="1"/>
            </p:cNvSpPr>
            <p:nvPr/>
          </p:nvSpPr>
          <p:spPr>
            <a:xfrm>
              <a:off x="3316" y="318"/>
              <a:ext cx="122" cy="121"/>
            </a:xfrm>
            <a:custGeom>
              <a:avLst/>
              <a:gdLst>
                <a:gd name="txL" fmla="*/ 0 w 108"/>
                <a:gd name="txT" fmla="*/ 0 h 113"/>
                <a:gd name="txR" fmla="*/ 108 w 108"/>
                <a:gd name="txB" fmla="*/ 113 h 113"/>
              </a:gdLst>
              <a:ahLst/>
              <a:cxnLst>
                <a:cxn ang="0">
                  <a:pos x="2744" y="187"/>
                </a:cxn>
                <a:cxn ang="0">
                  <a:pos x="2904" y="0"/>
                </a:cxn>
                <a:cxn ang="0">
                  <a:pos x="2744" y="0"/>
                </a:cxn>
                <a:cxn ang="0">
                  <a:pos x="2744" y="6"/>
                </a:cxn>
                <a:cxn ang="0">
                  <a:pos x="2571" y="6"/>
                </a:cxn>
                <a:cxn ang="0">
                  <a:pos x="2266" y="6"/>
                </a:cxn>
                <a:cxn ang="0">
                  <a:pos x="1926" y="0"/>
                </a:cxn>
                <a:cxn ang="0">
                  <a:pos x="1121" y="6"/>
                </a:cxn>
                <a:cxn ang="0">
                  <a:pos x="477" y="152"/>
                </a:cxn>
                <a:cxn ang="0">
                  <a:pos x="159" y="262"/>
                </a:cxn>
                <a:cxn ang="0">
                  <a:pos x="0" y="419"/>
                </a:cxn>
                <a:cxn ang="0">
                  <a:pos x="159" y="557"/>
                </a:cxn>
                <a:cxn ang="0">
                  <a:pos x="477" y="637"/>
                </a:cxn>
                <a:cxn ang="0">
                  <a:pos x="803" y="723"/>
                </a:cxn>
                <a:cxn ang="0">
                  <a:pos x="1289" y="723"/>
                </a:cxn>
                <a:cxn ang="0">
                  <a:pos x="1784" y="723"/>
                </a:cxn>
                <a:cxn ang="0">
                  <a:pos x="2099" y="637"/>
                </a:cxn>
                <a:cxn ang="0">
                  <a:pos x="2429" y="557"/>
                </a:cxn>
                <a:cxn ang="0">
                  <a:pos x="2429" y="520"/>
                </a:cxn>
                <a:cxn ang="0">
                  <a:pos x="2099" y="637"/>
                </a:cxn>
                <a:cxn ang="0">
                  <a:pos x="1289" y="679"/>
                </a:cxn>
                <a:cxn ang="0">
                  <a:pos x="977" y="679"/>
                </a:cxn>
                <a:cxn ang="0">
                  <a:pos x="673" y="596"/>
                </a:cxn>
                <a:cxn ang="0">
                  <a:pos x="477" y="450"/>
                </a:cxn>
                <a:cxn ang="0">
                  <a:pos x="673" y="342"/>
                </a:cxn>
                <a:cxn ang="0">
                  <a:pos x="803" y="187"/>
                </a:cxn>
                <a:cxn ang="0">
                  <a:pos x="1289" y="72"/>
                </a:cxn>
                <a:cxn ang="0">
                  <a:pos x="1926" y="6"/>
                </a:cxn>
                <a:cxn ang="0">
                  <a:pos x="2266" y="72"/>
                </a:cxn>
                <a:cxn ang="0">
                  <a:pos x="2571" y="108"/>
                </a:cxn>
                <a:cxn ang="0">
                  <a:pos x="2571" y="152"/>
                </a:cxn>
                <a:cxn ang="0">
                  <a:pos x="2571" y="187"/>
                </a:cxn>
                <a:cxn ang="0">
                  <a:pos x="2744" y="187"/>
                </a:cxn>
              </a:cxnLst>
              <a:rect l="txL" t="txT" r="txR" b="txB"/>
              <a:pathLst>
                <a:path w="108" h="113">
                  <a:moveTo>
                    <a:pt x="102" y="30"/>
                  </a:moveTo>
                  <a:lnTo>
                    <a:pt x="108" y="0"/>
                  </a:lnTo>
                  <a:lnTo>
                    <a:pt x="102" y="0"/>
                  </a:lnTo>
                  <a:lnTo>
                    <a:pt x="102" y="6"/>
                  </a:lnTo>
                  <a:lnTo>
                    <a:pt x="96" y="6"/>
                  </a:lnTo>
                  <a:lnTo>
                    <a:pt x="84" y="6"/>
                  </a:lnTo>
                  <a:lnTo>
                    <a:pt x="72" y="0"/>
                  </a:lnTo>
                  <a:lnTo>
                    <a:pt x="42" y="6"/>
                  </a:lnTo>
                  <a:lnTo>
                    <a:pt x="18" y="24"/>
                  </a:lnTo>
                  <a:lnTo>
                    <a:pt x="6" y="42"/>
                  </a:lnTo>
                  <a:lnTo>
                    <a:pt x="0" y="65"/>
                  </a:lnTo>
                  <a:lnTo>
                    <a:pt x="6" y="89"/>
                  </a:lnTo>
                  <a:lnTo>
                    <a:pt x="18" y="101"/>
                  </a:lnTo>
                  <a:lnTo>
                    <a:pt x="30" y="113"/>
                  </a:lnTo>
                  <a:lnTo>
                    <a:pt x="48" y="113"/>
                  </a:lnTo>
                  <a:lnTo>
                    <a:pt x="66" y="113"/>
                  </a:lnTo>
                  <a:lnTo>
                    <a:pt x="78" y="101"/>
                  </a:lnTo>
                  <a:lnTo>
                    <a:pt x="90" y="89"/>
                  </a:lnTo>
                  <a:lnTo>
                    <a:pt x="90" y="83"/>
                  </a:lnTo>
                  <a:lnTo>
                    <a:pt x="78" y="101"/>
                  </a:lnTo>
                  <a:lnTo>
                    <a:pt x="48" y="107"/>
                  </a:lnTo>
                  <a:lnTo>
                    <a:pt x="36" y="107"/>
                  </a:lnTo>
                  <a:lnTo>
                    <a:pt x="24" y="95"/>
                  </a:lnTo>
                  <a:lnTo>
                    <a:pt x="18" y="71"/>
                  </a:lnTo>
                  <a:lnTo>
                    <a:pt x="24" y="54"/>
                  </a:lnTo>
                  <a:lnTo>
                    <a:pt x="30" y="30"/>
                  </a:lnTo>
                  <a:lnTo>
                    <a:pt x="48" y="12"/>
                  </a:lnTo>
                  <a:lnTo>
                    <a:pt x="72" y="6"/>
                  </a:lnTo>
                  <a:lnTo>
                    <a:pt x="84" y="12"/>
                  </a:lnTo>
                  <a:lnTo>
                    <a:pt x="96" y="18"/>
                  </a:lnTo>
                  <a:lnTo>
                    <a:pt x="96" y="24"/>
                  </a:lnTo>
                  <a:lnTo>
                    <a:pt x="96" y="30"/>
                  </a:lnTo>
                  <a:lnTo>
                    <a:pt x="102"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15" name="Freeform 24"/>
            <p:cNvSpPr>
              <a:spLocks noChangeAspect="1"/>
            </p:cNvSpPr>
            <p:nvPr/>
          </p:nvSpPr>
          <p:spPr>
            <a:xfrm>
              <a:off x="3438" y="388"/>
              <a:ext cx="53" cy="95"/>
            </a:xfrm>
            <a:custGeom>
              <a:avLst/>
              <a:gdLst>
                <a:gd name="txL" fmla="*/ 0 w 47"/>
                <a:gd name="txT" fmla="*/ 0 h 90"/>
                <a:gd name="txR" fmla="*/ 47 w 47"/>
                <a:gd name="txB" fmla="*/ 90 h 90"/>
              </a:gdLst>
              <a:ahLst/>
              <a:cxnLst>
                <a:cxn ang="0">
                  <a:pos x="290" y="182"/>
                </a:cxn>
                <a:cxn ang="0">
                  <a:pos x="597" y="206"/>
                </a:cxn>
                <a:cxn ang="0">
                  <a:pos x="759" y="206"/>
                </a:cxn>
                <a:cxn ang="0">
                  <a:pos x="1079" y="259"/>
                </a:cxn>
                <a:cxn ang="0">
                  <a:pos x="1079" y="284"/>
                </a:cxn>
                <a:cxn ang="0">
                  <a:pos x="885" y="335"/>
                </a:cxn>
                <a:cxn ang="0">
                  <a:pos x="597" y="368"/>
                </a:cxn>
                <a:cxn ang="0">
                  <a:pos x="417" y="368"/>
                </a:cxn>
                <a:cxn ang="0">
                  <a:pos x="141" y="335"/>
                </a:cxn>
                <a:cxn ang="0">
                  <a:pos x="141" y="335"/>
                </a:cxn>
                <a:cxn ang="0">
                  <a:pos x="0" y="335"/>
                </a:cxn>
                <a:cxn ang="0">
                  <a:pos x="141" y="393"/>
                </a:cxn>
                <a:cxn ang="0">
                  <a:pos x="290" y="393"/>
                </a:cxn>
                <a:cxn ang="0">
                  <a:pos x="1079" y="368"/>
                </a:cxn>
                <a:cxn ang="0">
                  <a:pos x="1227" y="259"/>
                </a:cxn>
                <a:cxn ang="0">
                  <a:pos x="1079" y="182"/>
                </a:cxn>
                <a:cxn ang="0">
                  <a:pos x="885" y="154"/>
                </a:cxn>
                <a:cxn ang="0">
                  <a:pos x="1079" y="131"/>
                </a:cxn>
                <a:cxn ang="0">
                  <a:pos x="1227" y="75"/>
                </a:cxn>
                <a:cxn ang="0">
                  <a:pos x="1079" y="6"/>
                </a:cxn>
                <a:cxn ang="0">
                  <a:pos x="597" y="0"/>
                </a:cxn>
                <a:cxn ang="0">
                  <a:pos x="290" y="6"/>
                </a:cxn>
                <a:cxn ang="0">
                  <a:pos x="0" y="103"/>
                </a:cxn>
                <a:cxn ang="0">
                  <a:pos x="0" y="103"/>
                </a:cxn>
                <a:cxn ang="0">
                  <a:pos x="290" y="54"/>
                </a:cxn>
                <a:cxn ang="0">
                  <a:pos x="597" y="6"/>
                </a:cxn>
                <a:cxn ang="0">
                  <a:pos x="759" y="54"/>
                </a:cxn>
                <a:cxn ang="0">
                  <a:pos x="885" y="103"/>
                </a:cxn>
                <a:cxn ang="0">
                  <a:pos x="759" y="154"/>
                </a:cxn>
                <a:cxn ang="0">
                  <a:pos x="290" y="182"/>
                </a:cxn>
                <a:cxn ang="0">
                  <a:pos x="290" y="182"/>
                </a:cxn>
              </a:cxnLst>
              <a:rect l="txL" t="txT" r="txR" b="txB"/>
              <a:pathLst>
                <a:path w="47" h="90">
                  <a:moveTo>
                    <a:pt x="11" y="42"/>
                  </a:moveTo>
                  <a:lnTo>
                    <a:pt x="23" y="48"/>
                  </a:lnTo>
                  <a:lnTo>
                    <a:pt x="29" y="48"/>
                  </a:lnTo>
                  <a:lnTo>
                    <a:pt x="41" y="60"/>
                  </a:lnTo>
                  <a:lnTo>
                    <a:pt x="41" y="66"/>
                  </a:lnTo>
                  <a:lnTo>
                    <a:pt x="35" y="78"/>
                  </a:lnTo>
                  <a:lnTo>
                    <a:pt x="23" y="84"/>
                  </a:lnTo>
                  <a:lnTo>
                    <a:pt x="17" y="84"/>
                  </a:lnTo>
                  <a:lnTo>
                    <a:pt x="5" y="78"/>
                  </a:lnTo>
                  <a:lnTo>
                    <a:pt x="0" y="78"/>
                  </a:lnTo>
                  <a:lnTo>
                    <a:pt x="5" y="90"/>
                  </a:lnTo>
                  <a:lnTo>
                    <a:pt x="11" y="90"/>
                  </a:lnTo>
                  <a:lnTo>
                    <a:pt x="41" y="84"/>
                  </a:lnTo>
                  <a:lnTo>
                    <a:pt x="47" y="60"/>
                  </a:lnTo>
                  <a:lnTo>
                    <a:pt x="41" y="42"/>
                  </a:lnTo>
                  <a:lnTo>
                    <a:pt x="35" y="36"/>
                  </a:lnTo>
                  <a:lnTo>
                    <a:pt x="41" y="30"/>
                  </a:lnTo>
                  <a:lnTo>
                    <a:pt x="47" y="18"/>
                  </a:lnTo>
                  <a:lnTo>
                    <a:pt x="41" y="6"/>
                  </a:lnTo>
                  <a:lnTo>
                    <a:pt x="23" y="0"/>
                  </a:lnTo>
                  <a:lnTo>
                    <a:pt x="11" y="6"/>
                  </a:lnTo>
                  <a:lnTo>
                    <a:pt x="0" y="24"/>
                  </a:lnTo>
                  <a:lnTo>
                    <a:pt x="11" y="12"/>
                  </a:lnTo>
                  <a:lnTo>
                    <a:pt x="23" y="6"/>
                  </a:lnTo>
                  <a:lnTo>
                    <a:pt x="29" y="12"/>
                  </a:lnTo>
                  <a:lnTo>
                    <a:pt x="35" y="24"/>
                  </a:lnTo>
                  <a:lnTo>
                    <a:pt x="29" y="36"/>
                  </a:lnTo>
                  <a:lnTo>
                    <a:pt x="11"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16" name="Freeform 25"/>
            <p:cNvSpPr>
              <a:spLocks noChangeAspect="1"/>
            </p:cNvSpPr>
            <p:nvPr/>
          </p:nvSpPr>
          <p:spPr>
            <a:xfrm>
              <a:off x="3377" y="522"/>
              <a:ext cx="61" cy="241"/>
            </a:xfrm>
            <a:custGeom>
              <a:avLst/>
              <a:gdLst>
                <a:gd name="txL" fmla="*/ 0 w 54"/>
                <a:gd name="txT" fmla="*/ 0 h 227"/>
                <a:gd name="txR" fmla="*/ 54 w 54"/>
                <a:gd name="txB" fmla="*/ 227 h 227"/>
              </a:gdLst>
              <a:ahLst/>
              <a:cxnLst>
                <a:cxn ang="0">
                  <a:pos x="1456" y="1151"/>
                </a:cxn>
                <a:cxn ang="0">
                  <a:pos x="0" y="1151"/>
                </a:cxn>
                <a:cxn ang="0">
                  <a:pos x="0" y="0"/>
                </a:cxn>
                <a:cxn ang="0">
                  <a:pos x="1456" y="0"/>
                </a:cxn>
                <a:cxn ang="0">
                  <a:pos x="1456" y="1151"/>
                </a:cxn>
                <a:cxn ang="0">
                  <a:pos x="1456" y="1151"/>
                </a:cxn>
              </a:cxnLst>
              <a:rect l="txL" t="txT" r="txR" b="txB"/>
              <a:pathLst>
                <a:path w="54" h="227">
                  <a:moveTo>
                    <a:pt x="54" y="227"/>
                  </a:moveTo>
                  <a:lnTo>
                    <a:pt x="0" y="227"/>
                  </a:lnTo>
                  <a:lnTo>
                    <a:pt x="0" y="0"/>
                  </a:lnTo>
                  <a:lnTo>
                    <a:pt x="54" y="0"/>
                  </a:lnTo>
                  <a:lnTo>
                    <a:pt x="54" y="227"/>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17" name="Freeform 26"/>
            <p:cNvSpPr>
              <a:spLocks noChangeAspect="1"/>
            </p:cNvSpPr>
            <p:nvPr/>
          </p:nvSpPr>
          <p:spPr>
            <a:xfrm>
              <a:off x="3377" y="522"/>
              <a:ext cx="1" cy="120"/>
            </a:xfrm>
            <a:custGeom>
              <a:avLst/>
              <a:gdLst>
                <a:gd name="txL" fmla="*/ 0 w 1"/>
                <a:gd name="txT" fmla="*/ 0 h 113"/>
                <a:gd name="txR" fmla="*/ 1 w 1"/>
                <a:gd name="txB" fmla="*/ 113 h 113"/>
              </a:gdLst>
              <a:ahLst/>
              <a:cxnLst>
                <a:cxn ang="0">
                  <a:pos x="0" y="569"/>
                </a:cxn>
                <a:cxn ang="0">
                  <a:pos x="0" y="0"/>
                </a:cxn>
                <a:cxn ang="0">
                  <a:pos x="0" y="569"/>
                </a:cxn>
                <a:cxn ang="0">
                  <a:pos x="0" y="569"/>
                </a:cxn>
              </a:cxnLst>
              <a:rect l="txL" t="txT" r="txR" b="txB"/>
              <a:pathLst>
                <a:path w="1"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18" name="Freeform 27"/>
            <p:cNvSpPr>
              <a:spLocks noChangeAspect="1"/>
            </p:cNvSpPr>
            <p:nvPr/>
          </p:nvSpPr>
          <p:spPr>
            <a:xfrm>
              <a:off x="3431" y="522"/>
              <a:ext cx="1" cy="120"/>
            </a:xfrm>
            <a:custGeom>
              <a:avLst/>
              <a:gdLst>
                <a:gd name="txL" fmla="*/ 0 w 1"/>
                <a:gd name="txT" fmla="*/ 0 h 113"/>
                <a:gd name="txR" fmla="*/ 1 w 1"/>
                <a:gd name="txB" fmla="*/ 113 h 113"/>
              </a:gdLst>
              <a:ahLst/>
              <a:cxnLst>
                <a:cxn ang="0">
                  <a:pos x="0" y="569"/>
                </a:cxn>
                <a:cxn ang="0">
                  <a:pos x="0" y="0"/>
                </a:cxn>
                <a:cxn ang="0">
                  <a:pos x="0" y="569"/>
                </a:cxn>
                <a:cxn ang="0">
                  <a:pos x="0" y="569"/>
                </a:cxn>
              </a:cxnLst>
              <a:rect l="txL" t="txT" r="txR" b="txB"/>
              <a:pathLst>
                <a:path w="1"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19" name="Freeform 28"/>
            <p:cNvSpPr>
              <a:spLocks noChangeAspect="1"/>
            </p:cNvSpPr>
            <p:nvPr/>
          </p:nvSpPr>
          <p:spPr>
            <a:xfrm>
              <a:off x="3377" y="642"/>
              <a:ext cx="1" cy="121"/>
            </a:xfrm>
            <a:custGeom>
              <a:avLst/>
              <a:gdLst>
                <a:gd name="txL" fmla="*/ 0 w 1"/>
                <a:gd name="txT" fmla="*/ 0 h 114"/>
                <a:gd name="txR" fmla="*/ 1 w 1"/>
                <a:gd name="txB" fmla="*/ 114 h 114"/>
              </a:gdLst>
              <a:ahLst/>
              <a:cxnLst>
                <a:cxn ang="0">
                  <a:pos x="0" y="0"/>
                </a:cxn>
                <a:cxn ang="0">
                  <a:pos x="0" y="566"/>
                </a:cxn>
                <a:cxn ang="0">
                  <a:pos x="0" y="0"/>
                </a:cxn>
                <a:cxn ang="0">
                  <a:pos x="0" y="0"/>
                </a:cxn>
              </a:cxnLst>
              <a:rect l="txL" t="txT" r="txR" b="txB"/>
              <a:pathLst>
                <a:path w="1"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20" name="Freeform 29"/>
            <p:cNvSpPr>
              <a:spLocks noChangeAspect="1"/>
            </p:cNvSpPr>
            <p:nvPr/>
          </p:nvSpPr>
          <p:spPr>
            <a:xfrm>
              <a:off x="3431" y="642"/>
              <a:ext cx="1" cy="121"/>
            </a:xfrm>
            <a:custGeom>
              <a:avLst/>
              <a:gdLst>
                <a:gd name="txL" fmla="*/ 0 w 1"/>
                <a:gd name="txT" fmla="*/ 0 h 114"/>
                <a:gd name="txR" fmla="*/ 1 w 1"/>
                <a:gd name="txB" fmla="*/ 114 h 114"/>
              </a:gdLst>
              <a:ahLst/>
              <a:cxnLst>
                <a:cxn ang="0">
                  <a:pos x="0" y="0"/>
                </a:cxn>
                <a:cxn ang="0">
                  <a:pos x="0" y="566"/>
                </a:cxn>
                <a:cxn ang="0">
                  <a:pos x="0" y="0"/>
                </a:cxn>
                <a:cxn ang="0">
                  <a:pos x="0" y="0"/>
                </a:cxn>
              </a:cxnLst>
              <a:rect l="txL" t="txT" r="txR" b="txB"/>
              <a:pathLst>
                <a:path w="1"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21" name="Freeform 30"/>
            <p:cNvSpPr>
              <a:spLocks noChangeAspect="1"/>
            </p:cNvSpPr>
            <p:nvPr/>
          </p:nvSpPr>
          <p:spPr>
            <a:xfrm>
              <a:off x="4183" y="318"/>
              <a:ext cx="116" cy="121"/>
            </a:xfrm>
            <a:custGeom>
              <a:avLst/>
              <a:gdLst>
                <a:gd name="txL" fmla="*/ 0 w 102"/>
                <a:gd name="txT" fmla="*/ 0 h 113"/>
                <a:gd name="txR" fmla="*/ 102 w 102"/>
                <a:gd name="txB" fmla="*/ 113 h 113"/>
              </a:gdLst>
              <a:ahLst/>
              <a:cxnLst>
                <a:cxn ang="0">
                  <a:pos x="3079" y="187"/>
                </a:cxn>
                <a:cxn ang="0">
                  <a:pos x="3278" y="0"/>
                </a:cxn>
                <a:cxn ang="0">
                  <a:pos x="3278" y="0"/>
                </a:cxn>
                <a:cxn ang="0">
                  <a:pos x="3079" y="6"/>
                </a:cxn>
                <a:cxn ang="0">
                  <a:pos x="2882" y="6"/>
                </a:cxn>
                <a:cxn ang="0">
                  <a:pos x="2707" y="6"/>
                </a:cxn>
                <a:cxn ang="0">
                  <a:pos x="2110" y="0"/>
                </a:cxn>
                <a:cxn ang="0">
                  <a:pos x="1403" y="6"/>
                </a:cxn>
                <a:cxn ang="0">
                  <a:pos x="578" y="152"/>
                </a:cxn>
                <a:cxn ang="0">
                  <a:pos x="191" y="262"/>
                </a:cxn>
                <a:cxn ang="0">
                  <a:pos x="0" y="419"/>
                </a:cxn>
                <a:cxn ang="0">
                  <a:pos x="191" y="557"/>
                </a:cxn>
                <a:cxn ang="0">
                  <a:pos x="393" y="637"/>
                </a:cxn>
                <a:cxn ang="0">
                  <a:pos x="967" y="723"/>
                </a:cxn>
                <a:cxn ang="0">
                  <a:pos x="1403" y="723"/>
                </a:cxn>
                <a:cxn ang="0">
                  <a:pos x="1940" y="723"/>
                </a:cxn>
                <a:cxn ang="0">
                  <a:pos x="2347" y="637"/>
                </a:cxn>
                <a:cxn ang="0">
                  <a:pos x="2882" y="557"/>
                </a:cxn>
                <a:cxn ang="0">
                  <a:pos x="2707" y="520"/>
                </a:cxn>
                <a:cxn ang="0">
                  <a:pos x="2347" y="637"/>
                </a:cxn>
                <a:cxn ang="0">
                  <a:pos x="1596" y="679"/>
                </a:cxn>
                <a:cxn ang="0">
                  <a:pos x="1160" y="679"/>
                </a:cxn>
                <a:cxn ang="0">
                  <a:pos x="754" y="596"/>
                </a:cxn>
                <a:cxn ang="0">
                  <a:pos x="578" y="450"/>
                </a:cxn>
                <a:cxn ang="0">
                  <a:pos x="754" y="342"/>
                </a:cxn>
                <a:cxn ang="0">
                  <a:pos x="967" y="187"/>
                </a:cxn>
                <a:cxn ang="0">
                  <a:pos x="1596" y="72"/>
                </a:cxn>
                <a:cxn ang="0">
                  <a:pos x="2110" y="6"/>
                </a:cxn>
                <a:cxn ang="0">
                  <a:pos x="2707" y="72"/>
                </a:cxn>
                <a:cxn ang="0">
                  <a:pos x="2882" y="108"/>
                </a:cxn>
                <a:cxn ang="0">
                  <a:pos x="3079" y="152"/>
                </a:cxn>
                <a:cxn ang="0">
                  <a:pos x="3079" y="187"/>
                </a:cxn>
                <a:cxn ang="0">
                  <a:pos x="3079" y="187"/>
                </a:cxn>
              </a:cxnLst>
              <a:rect l="txL" t="txT" r="txR" b="txB"/>
              <a:pathLst>
                <a:path w="102" h="113">
                  <a:moveTo>
                    <a:pt x="96" y="30"/>
                  </a:moveTo>
                  <a:lnTo>
                    <a:pt x="102" y="0"/>
                  </a:lnTo>
                  <a:lnTo>
                    <a:pt x="96" y="6"/>
                  </a:lnTo>
                  <a:lnTo>
                    <a:pt x="90" y="6"/>
                  </a:lnTo>
                  <a:lnTo>
                    <a:pt x="84" y="6"/>
                  </a:lnTo>
                  <a:lnTo>
                    <a:pt x="66" y="0"/>
                  </a:lnTo>
                  <a:lnTo>
                    <a:pt x="42" y="6"/>
                  </a:lnTo>
                  <a:lnTo>
                    <a:pt x="18" y="24"/>
                  </a:lnTo>
                  <a:lnTo>
                    <a:pt x="6" y="42"/>
                  </a:lnTo>
                  <a:lnTo>
                    <a:pt x="0" y="65"/>
                  </a:lnTo>
                  <a:lnTo>
                    <a:pt x="6" y="89"/>
                  </a:lnTo>
                  <a:lnTo>
                    <a:pt x="12" y="101"/>
                  </a:lnTo>
                  <a:lnTo>
                    <a:pt x="30" y="113"/>
                  </a:lnTo>
                  <a:lnTo>
                    <a:pt x="42" y="113"/>
                  </a:lnTo>
                  <a:lnTo>
                    <a:pt x="60" y="113"/>
                  </a:lnTo>
                  <a:lnTo>
                    <a:pt x="72" y="101"/>
                  </a:lnTo>
                  <a:lnTo>
                    <a:pt x="90" y="89"/>
                  </a:lnTo>
                  <a:lnTo>
                    <a:pt x="84" y="83"/>
                  </a:lnTo>
                  <a:lnTo>
                    <a:pt x="72" y="101"/>
                  </a:lnTo>
                  <a:lnTo>
                    <a:pt x="48" y="107"/>
                  </a:lnTo>
                  <a:lnTo>
                    <a:pt x="36" y="107"/>
                  </a:lnTo>
                  <a:lnTo>
                    <a:pt x="24" y="95"/>
                  </a:lnTo>
                  <a:lnTo>
                    <a:pt x="18" y="71"/>
                  </a:lnTo>
                  <a:lnTo>
                    <a:pt x="24" y="54"/>
                  </a:lnTo>
                  <a:lnTo>
                    <a:pt x="30" y="30"/>
                  </a:lnTo>
                  <a:lnTo>
                    <a:pt x="48" y="12"/>
                  </a:lnTo>
                  <a:lnTo>
                    <a:pt x="66" y="6"/>
                  </a:lnTo>
                  <a:lnTo>
                    <a:pt x="84" y="12"/>
                  </a:lnTo>
                  <a:lnTo>
                    <a:pt x="90" y="18"/>
                  </a:lnTo>
                  <a:lnTo>
                    <a:pt x="96" y="24"/>
                  </a:lnTo>
                  <a:lnTo>
                    <a:pt x="96"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22" name="Freeform 31"/>
            <p:cNvSpPr>
              <a:spLocks noChangeAspect="1"/>
            </p:cNvSpPr>
            <p:nvPr/>
          </p:nvSpPr>
          <p:spPr>
            <a:xfrm>
              <a:off x="4292" y="394"/>
              <a:ext cx="109" cy="89"/>
            </a:xfrm>
            <a:custGeom>
              <a:avLst/>
              <a:gdLst>
                <a:gd name="txL" fmla="*/ 0 w 96"/>
                <a:gd name="txT" fmla="*/ 0 h 84"/>
                <a:gd name="txR" fmla="*/ 96 w 96"/>
                <a:gd name="txB" fmla="*/ 84 h 84"/>
              </a:gdLst>
              <a:ahLst/>
              <a:cxnLst>
                <a:cxn ang="0">
                  <a:pos x="2980" y="0"/>
                </a:cxn>
                <a:cxn ang="0">
                  <a:pos x="2230" y="0"/>
                </a:cxn>
                <a:cxn ang="0">
                  <a:pos x="2230" y="0"/>
                </a:cxn>
                <a:cxn ang="0">
                  <a:pos x="2440" y="0"/>
                </a:cxn>
                <a:cxn ang="0">
                  <a:pos x="2440" y="6"/>
                </a:cxn>
                <a:cxn ang="0">
                  <a:pos x="2440" y="57"/>
                </a:cxn>
                <a:cxn ang="0">
                  <a:pos x="2440" y="57"/>
                </a:cxn>
                <a:cxn ang="0">
                  <a:pos x="2043" y="288"/>
                </a:cxn>
                <a:cxn ang="0">
                  <a:pos x="2043" y="288"/>
                </a:cxn>
                <a:cxn ang="0">
                  <a:pos x="1104" y="0"/>
                </a:cxn>
                <a:cxn ang="0">
                  <a:pos x="570" y="0"/>
                </a:cxn>
                <a:cxn ang="0">
                  <a:pos x="570" y="0"/>
                </a:cxn>
                <a:cxn ang="0">
                  <a:pos x="739" y="0"/>
                </a:cxn>
                <a:cxn ang="0">
                  <a:pos x="948" y="6"/>
                </a:cxn>
                <a:cxn ang="0">
                  <a:pos x="389" y="288"/>
                </a:cxn>
                <a:cxn ang="0">
                  <a:pos x="181" y="342"/>
                </a:cxn>
                <a:cxn ang="0">
                  <a:pos x="181" y="374"/>
                </a:cxn>
                <a:cxn ang="0">
                  <a:pos x="0" y="374"/>
                </a:cxn>
                <a:cxn ang="0">
                  <a:pos x="0" y="374"/>
                </a:cxn>
                <a:cxn ang="0">
                  <a:pos x="739" y="374"/>
                </a:cxn>
                <a:cxn ang="0">
                  <a:pos x="739" y="374"/>
                </a:cxn>
                <a:cxn ang="0">
                  <a:pos x="739" y="374"/>
                </a:cxn>
                <a:cxn ang="0">
                  <a:pos x="570" y="342"/>
                </a:cxn>
                <a:cxn ang="0">
                  <a:pos x="570" y="342"/>
                </a:cxn>
                <a:cxn ang="0">
                  <a:pos x="570" y="314"/>
                </a:cxn>
                <a:cxn ang="0">
                  <a:pos x="948" y="57"/>
                </a:cxn>
                <a:cxn ang="0">
                  <a:pos x="948" y="57"/>
                </a:cxn>
                <a:cxn ang="0">
                  <a:pos x="1836" y="401"/>
                </a:cxn>
                <a:cxn ang="0">
                  <a:pos x="2043" y="401"/>
                </a:cxn>
                <a:cxn ang="0">
                  <a:pos x="2617" y="81"/>
                </a:cxn>
                <a:cxn ang="0">
                  <a:pos x="2617" y="6"/>
                </a:cxn>
                <a:cxn ang="0">
                  <a:pos x="2980" y="0"/>
                </a:cxn>
                <a:cxn ang="0">
                  <a:pos x="2980" y="0"/>
                </a:cxn>
              </a:cxnLst>
              <a:rect l="txL" t="txT" r="txR" b="txB"/>
              <a:pathLst>
                <a:path w="96" h="84">
                  <a:moveTo>
                    <a:pt x="96" y="0"/>
                  </a:moveTo>
                  <a:lnTo>
                    <a:pt x="72" y="0"/>
                  </a:lnTo>
                  <a:lnTo>
                    <a:pt x="78" y="0"/>
                  </a:lnTo>
                  <a:lnTo>
                    <a:pt x="78" y="6"/>
                  </a:lnTo>
                  <a:lnTo>
                    <a:pt x="78" y="12"/>
                  </a:lnTo>
                  <a:lnTo>
                    <a:pt x="66" y="60"/>
                  </a:lnTo>
                  <a:lnTo>
                    <a:pt x="36" y="0"/>
                  </a:lnTo>
                  <a:lnTo>
                    <a:pt x="18" y="0"/>
                  </a:lnTo>
                  <a:lnTo>
                    <a:pt x="24" y="0"/>
                  </a:lnTo>
                  <a:lnTo>
                    <a:pt x="30" y="6"/>
                  </a:lnTo>
                  <a:lnTo>
                    <a:pt x="12" y="60"/>
                  </a:lnTo>
                  <a:lnTo>
                    <a:pt x="6" y="72"/>
                  </a:lnTo>
                  <a:lnTo>
                    <a:pt x="6" y="78"/>
                  </a:lnTo>
                  <a:lnTo>
                    <a:pt x="0" y="78"/>
                  </a:lnTo>
                  <a:lnTo>
                    <a:pt x="24" y="78"/>
                  </a:lnTo>
                  <a:lnTo>
                    <a:pt x="18" y="72"/>
                  </a:lnTo>
                  <a:lnTo>
                    <a:pt x="18" y="66"/>
                  </a:lnTo>
                  <a:lnTo>
                    <a:pt x="30" y="12"/>
                  </a:lnTo>
                  <a:lnTo>
                    <a:pt x="60" y="84"/>
                  </a:lnTo>
                  <a:lnTo>
                    <a:pt x="66" y="84"/>
                  </a:lnTo>
                  <a:lnTo>
                    <a:pt x="84" y="18"/>
                  </a:lnTo>
                  <a:lnTo>
                    <a:pt x="84" y="6"/>
                  </a:lnTo>
                  <a:lnTo>
                    <a:pt x="9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23" name="Freeform 32"/>
            <p:cNvSpPr>
              <a:spLocks noChangeAspect="1"/>
            </p:cNvSpPr>
            <p:nvPr/>
          </p:nvSpPr>
          <p:spPr>
            <a:xfrm>
              <a:off x="1891" y="851"/>
              <a:ext cx="74" cy="77"/>
            </a:xfrm>
            <a:custGeom>
              <a:avLst/>
              <a:gdLst>
                <a:gd name="txL" fmla="*/ 0 w 66"/>
                <a:gd name="txT" fmla="*/ 0 h 72"/>
                <a:gd name="txR" fmla="*/ 66 w 66"/>
                <a:gd name="txB" fmla="*/ 72 h 72"/>
              </a:gdLst>
              <a:ahLst/>
              <a:cxnLst>
                <a:cxn ang="0">
                  <a:pos x="135" y="6"/>
                </a:cxn>
                <a:cxn ang="0">
                  <a:pos x="267" y="72"/>
                </a:cxn>
                <a:cxn ang="0">
                  <a:pos x="388" y="152"/>
                </a:cxn>
                <a:cxn ang="0">
                  <a:pos x="388" y="186"/>
                </a:cxn>
                <a:cxn ang="0">
                  <a:pos x="530" y="298"/>
                </a:cxn>
                <a:cxn ang="0">
                  <a:pos x="530" y="366"/>
                </a:cxn>
                <a:cxn ang="0">
                  <a:pos x="530" y="404"/>
                </a:cxn>
                <a:cxn ang="0">
                  <a:pos x="530" y="446"/>
                </a:cxn>
                <a:cxn ang="0">
                  <a:pos x="530" y="446"/>
                </a:cxn>
                <a:cxn ang="0">
                  <a:pos x="666" y="446"/>
                </a:cxn>
                <a:cxn ang="0">
                  <a:pos x="916" y="366"/>
                </a:cxn>
                <a:cxn ang="0">
                  <a:pos x="1054" y="330"/>
                </a:cxn>
                <a:cxn ang="0">
                  <a:pos x="1182" y="228"/>
                </a:cxn>
                <a:cxn ang="0">
                  <a:pos x="1447" y="152"/>
                </a:cxn>
                <a:cxn ang="0">
                  <a:pos x="1447" y="72"/>
                </a:cxn>
                <a:cxn ang="0">
                  <a:pos x="1447" y="6"/>
                </a:cxn>
                <a:cxn ang="0">
                  <a:pos x="1301" y="0"/>
                </a:cxn>
                <a:cxn ang="0">
                  <a:pos x="1182" y="6"/>
                </a:cxn>
                <a:cxn ang="0">
                  <a:pos x="1182" y="6"/>
                </a:cxn>
                <a:cxn ang="0">
                  <a:pos x="1301" y="72"/>
                </a:cxn>
                <a:cxn ang="0">
                  <a:pos x="1301" y="108"/>
                </a:cxn>
                <a:cxn ang="0">
                  <a:pos x="1301" y="152"/>
                </a:cxn>
                <a:cxn ang="0">
                  <a:pos x="1182" y="228"/>
                </a:cxn>
                <a:cxn ang="0">
                  <a:pos x="1054" y="298"/>
                </a:cxn>
                <a:cxn ang="0">
                  <a:pos x="916" y="330"/>
                </a:cxn>
                <a:cxn ang="0">
                  <a:pos x="787" y="366"/>
                </a:cxn>
                <a:cxn ang="0">
                  <a:pos x="666" y="186"/>
                </a:cxn>
                <a:cxn ang="0">
                  <a:pos x="530" y="6"/>
                </a:cxn>
                <a:cxn ang="0">
                  <a:pos x="530" y="0"/>
                </a:cxn>
                <a:cxn ang="0">
                  <a:pos x="530" y="0"/>
                </a:cxn>
                <a:cxn ang="0">
                  <a:pos x="388" y="6"/>
                </a:cxn>
                <a:cxn ang="0">
                  <a:pos x="0" y="6"/>
                </a:cxn>
                <a:cxn ang="0">
                  <a:pos x="135" y="6"/>
                </a:cxn>
              </a:cxnLst>
              <a:rect l="txL" t="txT" r="txR" b="txB"/>
              <a:pathLst>
                <a:path w="66" h="72">
                  <a:moveTo>
                    <a:pt x="6" y="6"/>
                  </a:moveTo>
                  <a:lnTo>
                    <a:pt x="12" y="12"/>
                  </a:lnTo>
                  <a:lnTo>
                    <a:pt x="18" y="24"/>
                  </a:lnTo>
                  <a:lnTo>
                    <a:pt x="18" y="30"/>
                  </a:lnTo>
                  <a:lnTo>
                    <a:pt x="24" y="48"/>
                  </a:lnTo>
                  <a:lnTo>
                    <a:pt x="24" y="60"/>
                  </a:lnTo>
                  <a:lnTo>
                    <a:pt x="24" y="66"/>
                  </a:lnTo>
                  <a:lnTo>
                    <a:pt x="24" y="72"/>
                  </a:lnTo>
                  <a:lnTo>
                    <a:pt x="30" y="72"/>
                  </a:lnTo>
                  <a:lnTo>
                    <a:pt x="42" y="60"/>
                  </a:lnTo>
                  <a:lnTo>
                    <a:pt x="48" y="54"/>
                  </a:lnTo>
                  <a:lnTo>
                    <a:pt x="54" y="36"/>
                  </a:lnTo>
                  <a:lnTo>
                    <a:pt x="66" y="24"/>
                  </a:lnTo>
                  <a:lnTo>
                    <a:pt x="66" y="12"/>
                  </a:lnTo>
                  <a:lnTo>
                    <a:pt x="66" y="6"/>
                  </a:lnTo>
                  <a:lnTo>
                    <a:pt x="60" y="0"/>
                  </a:lnTo>
                  <a:lnTo>
                    <a:pt x="54" y="6"/>
                  </a:lnTo>
                  <a:lnTo>
                    <a:pt x="60" y="12"/>
                  </a:lnTo>
                  <a:lnTo>
                    <a:pt x="60" y="18"/>
                  </a:lnTo>
                  <a:lnTo>
                    <a:pt x="60" y="24"/>
                  </a:lnTo>
                  <a:lnTo>
                    <a:pt x="54" y="36"/>
                  </a:lnTo>
                  <a:lnTo>
                    <a:pt x="48" y="48"/>
                  </a:lnTo>
                  <a:lnTo>
                    <a:pt x="42" y="54"/>
                  </a:lnTo>
                  <a:lnTo>
                    <a:pt x="36" y="60"/>
                  </a:lnTo>
                  <a:lnTo>
                    <a:pt x="30" y="30"/>
                  </a:lnTo>
                  <a:lnTo>
                    <a:pt x="24" y="6"/>
                  </a:lnTo>
                  <a:lnTo>
                    <a:pt x="24" y="0"/>
                  </a:lnTo>
                  <a:lnTo>
                    <a:pt x="18" y="6"/>
                  </a:lnTo>
                  <a:lnTo>
                    <a:pt x="0" y="6"/>
                  </a:lnTo>
                  <a:lnTo>
                    <a:pt x="6"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24" name="Freeform 33"/>
            <p:cNvSpPr>
              <a:spLocks noChangeAspect="1"/>
            </p:cNvSpPr>
            <p:nvPr/>
          </p:nvSpPr>
          <p:spPr>
            <a:xfrm>
              <a:off x="1992" y="883"/>
              <a:ext cx="40" cy="90"/>
            </a:xfrm>
            <a:custGeom>
              <a:avLst/>
              <a:gdLst>
                <a:gd name="txL" fmla="*/ 0 w 36"/>
                <a:gd name="txT" fmla="*/ 0 h 84"/>
                <a:gd name="txR" fmla="*/ 36 w 36"/>
                <a:gd name="txB" fmla="*/ 84 h 84"/>
              </a:gdLst>
              <a:ahLst/>
              <a:cxnLst>
                <a:cxn ang="0">
                  <a:pos x="0" y="540"/>
                </a:cxn>
                <a:cxn ang="0">
                  <a:pos x="603" y="540"/>
                </a:cxn>
                <a:cxn ang="0">
                  <a:pos x="603" y="504"/>
                </a:cxn>
                <a:cxn ang="0">
                  <a:pos x="422" y="504"/>
                </a:cxn>
                <a:cxn ang="0">
                  <a:pos x="422" y="468"/>
                </a:cxn>
                <a:cxn ang="0">
                  <a:pos x="422" y="0"/>
                </a:cxn>
                <a:cxn ang="0">
                  <a:pos x="422" y="0"/>
                </a:cxn>
                <a:cxn ang="0">
                  <a:pos x="0" y="6"/>
                </a:cxn>
                <a:cxn ang="0">
                  <a:pos x="0" y="76"/>
                </a:cxn>
                <a:cxn ang="0">
                  <a:pos x="108" y="6"/>
                </a:cxn>
                <a:cxn ang="0">
                  <a:pos x="108" y="6"/>
                </a:cxn>
                <a:cxn ang="0">
                  <a:pos x="202" y="76"/>
                </a:cxn>
                <a:cxn ang="0">
                  <a:pos x="202" y="76"/>
                </a:cxn>
                <a:cxn ang="0">
                  <a:pos x="202" y="468"/>
                </a:cxn>
                <a:cxn ang="0">
                  <a:pos x="108" y="504"/>
                </a:cxn>
                <a:cxn ang="0">
                  <a:pos x="0" y="504"/>
                </a:cxn>
                <a:cxn ang="0">
                  <a:pos x="0" y="540"/>
                </a:cxn>
              </a:cxnLst>
              <a:rect l="txL" t="txT" r="txR" b="txB"/>
              <a:pathLst>
                <a:path w="36" h="84">
                  <a:moveTo>
                    <a:pt x="0" y="84"/>
                  </a:moveTo>
                  <a:lnTo>
                    <a:pt x="36" y="84"/>
                  </a:lnTo>
                  <a:lnTo>
                    <a:pt x="36" y="78"/>
                  </a:lnTo>
                  <a:lnTo>
                    <a:pt x="24" y="78"/>
                  </a:lnTo>
                  <a:lnTo>
                    <a:pt x="24" y="72"/>
                  </a:lnTo>
                  <a:lnTo>
                    <a:pt x="24" y="0"/>
                  </a:lnTo>
                  <a:lnTo>
                    <a:pt x="0" y="6"/>
                  </a:lnTo>
                  <a:lnTo>
                    <a:pt x="0" y="12"/>
                  </a:lnTo>
                  <a:lnTo>
                    <a:pt x="6" y="6"/>
                  </a:lnTo>
                  <a:lnTo>
                    <a:pt x="12" y="12"/>
                  </a:lnTo>
                  <a:lnTo>
                    <a:pt x="12" y="72"/>
                  </a:lnTo>
                  <a:lnTo>
                    <a:pt x="6" y="78"/>
                  </a:lnTo>
                  <a:lnTo>
                    <a:pt x="0" y="78"/>
                  </a:lnTo>
                  <a:lnTo>
                    <a:pt x="0" y="8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25" name="Freeform 34"/>
            <p:cNvSpPr>
              <a:spLocks noChangeAspect="1"/>
            </p:cNvSpPr>
            <p:nvPr/>
          </p:nvSpPr>
          <p:spPr>
            <a:xfrm>
              <a:off x="2610" y="851"/>
              <a:ext cx="75" cy="77"/>
            </a:xfrm>
            <a:custGeom>
              <a:avLst/>
              <a:gdLst>
                <a:gd name="txL" fmla="*/ 0 w 66"/>
                <a:gd name="txT" fmla="*/ 0 h 72"/>
                <a:gd name="txR" fmla="*/ 66 w 66"/>
                <a:gd name="txB" fmla="*/ 72 h 72"/>
              </a:gdLst>
              <a:ahLst/>
              <a:cxnLst>
                <a:cxn ang="0">
                  <a:pos x="0" y="6"/>
                </a:cxn>
                <a:cxn ang="0">
                  <a:pos x="390" y="72"/>
                </a:cxn>
                <a:cxn ang="0">
                  <a:pos x="390" y="152"/>
                </a:cxn>
                <a:cxn ang="0">
                  <a:pos x="572" y="186"/>
                </a:cxn>
                <a:cxn ang="0">
                  <a:pos x="572" y="298"/>
                </a:cxn>
                <a:cxn ang="0">
                  <a:pos x="572" y="366"/>
                </a:cxn>
                <a:cxn ang="0">
                  <a:pos x="572" y="404"/>
                </a:cxn>
                <a:cxn ang="0">
                  <a:pos x="572" y="446"/>
                </a:cxn>
                <a:cxn ang="0">
                  <a:pos x="572" y="446"/>
                </a:cxn>
                <a:cxn ang="0">
                  <a:pos x="747" y="446"/>
                </a:cxn>
                <a:cxn ang="0">
                  <a:pos x="1149" y="366"/>
                </a:cxn>
                <a:cxn ang="0">
                  <a:pos x="1360" y="330"/>
                </a:cxn>
                <a:cxn ang="0">
                  <a:pos x="1689" y="228"/>
                </a:cxn>
                <a:cxn ang="0">
                  <a:pos x="1916" y="152"/>
                </a:cxn>
                <a:cxn ang="0">
                  <a:pos x="2080" y="72"/>
                </a:cxn>
                <a:cxn ang="0">
                  <a:pos x="1916" y="6"/>
                </a:cxn>
                <a:cxn ang="0">
                  <a:pos x="1689" y="0"/>
                </a:cxn>
                <a:cxn ang="0">
                  <a:pos x="1689" y="6"/>
                </a:cxn>
                <a:cxn ang="0">
                  <a:pos x="1545" y="6"/>
                </a:cxn>
                <a:cxn ang="0">
                  <a:pos x="1689" y="72"/>
                </a:cxn>
                <a:cxn ang="0">
                  <a:pos x="1689" y="108"/>
                </a:cxn>
                <a:cxn ang="0">
                  <a:pos x="1689" y="152"/>
                </a:cxn>
                <a:cxn ang="0">
                  <a:pos x="1545" y="228"/>
                </a:cxn>
                <a:cxn ang="0">
                  <a:pos x="1360" y="298"/>
                </a:cxn>
                <a:cxn ang="0">
                  <a:pos x="1149" y="330"/>
                </a:cxn>
                <a:cxn ang="0">
                  <a:pos x="955" y="366"/>
                </a:cxn>
                <a:cxn ang="0">
                  <a:pos x="955" y="186"/>
                </a:cxn>
                <a:cxn ang="0">
                  <a:pos x="747" y="6"/>
                </a:cxn>
                <a:cxn ang="0">
                  <a:pos x="572" y="0"/>
                </a:cxn>
                <a:cxn ang="0">
                  <a:pos x="572" y="0"/>
                </a:cxn>
                <a:cxn ang="0">
                  <a:pos x="390" y="6"/>
                </a:cxn>
                <a:cxn ang="0">
                  <a:pos x="0" y="6"/>
                </a:cxn>
                <a:cxn ang="0">
                  <a:pos x="0" y="6"/>
                </a:cxn>
              </a:cxnLst>
              <a:rect l="txL" t="txT" r="txR" b="txB"/>
              <a:pathLst>
                <a:path w="66" h="72">
                  <a:moveTo>
                    <a:pt x="0" y="6"/>
                  </a:moveTo>
                  <a:lnTo>
                    <a:pt x="12" y="12"/>
                  </a:lnTo>
                  <a:lnTo>
                    <a:pt x="12" y="24"/>
                  </a:lnTo>
                  <a:lnTo>
                    <a:pt x="18" y="30"/>
                  </a:lnTo>
                  <a:lnTo>
                    <a:pt x="18" y="48"/>
                  </a:lnTo>
                  <a:lnTo>
                    <a:pt x="18" y="60"/>
                  </a:lnTo>
                  <a:lnTo>
                    <a:pt x="18" y="66"/>
                  </a:lnTo>
                  <a:lnTo>
                    <a:pt x="18" y="72"/>
                  </a:lnTo>
                  <a:lnTo>
                    <a:pt x="24" y="72"/>
                  </a:lnTo>
                  <a:lnTo>
                    <a:pt x="36" y="60"/>
                  </a:lnTo>
                  <a:lnTo>
                    <a:pt x="42" y="54"/>
                  </a:lnTo>
                  <a:lnTo>
                    <a:pt x="54" y="36"/>
                  </a:lnTo>
                  <a:lnTo>
                    <a:pt x="60" y="24"/>
                  </a:lnTo>
                  <a:lnTo>
                    <a:pt x="66" y="12"/>
                  </a:lnTo>
                  <a:lnTo>
                    <a:pt x="60" y="6"/>
                  </a:lnTo>
                  <a:lnTo>
                    <a:pt x="54" y="0"/>
                  </a:lnTo>
                  <a:lnTo>
                    <a:pt x="54" y="6"/>
                  </a:lnTo>
                  <a:lnTo>
                    <a:pt x="48" y="6"/>
                  </a:lnTo>
                  <a:lnTo>
                    <a:pt x="54" y="12"/>
                  </a:lnTo>
                  <a:lnTo>
                    <a:pt x="54" y="18"/>
                  </a:lnTo>
                  <a:lnTo>
                    <a:pt x="54" y="24"/>
                  </a:lnTo>
                  <a:lnTo>
                    <a:pt x="48" y="36"/>
                  </a:lnTo>
                  <a:lnTo>
                    <a:pt x="42" y="48"/>
                  </a:lnTo>
                  <a:lnTo>
                    <a:pt x="36" y="54"/>
                  </a:lnTo>
                  <a:lnTo>
                    <a:pt x="30" y="60"/>
                  </a:lnTo>
                  <a:lnTo>
                    <a:pt x="30" y="30"/>
                  </a:lnTo>
                  <a:lnTo>
                    <a:pt x="24" y="6"/>
                  </a:lnTo>
                  <a:lnTo>
                    <a:pt x="18" y="0"/>
                  </a:lnTo>
                  <a:lnTo>
                    <a:pt x="12" y="6"/>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26" name="Freeform 35"/>
            <p:cNvSpPr>
              <a:spLocks noChangeAspect="1"/>
            </p:cNvSpPr>
            <p:nvPr/>
          </p:nvSpPr>
          <p:spPr>
            <a:xfrm>
              <a:off x="2704" y="883"/>
              <a:ext cx="61" cy="90"/>
            </a:xfrm>
            <a:custGeom>
              <a:avLst/>
              <a:gdLst>
                <a:gd name="txL" fmla="*/ 0 w 54"/>
                <a:gd name="txT" fmla="*/ 0 h 84"/>
                <a:gd name="txR" fmla="*/ 54 w 54"/>
                <a:gd name="txB" fmla="*/ 84 h 84"/>
              </a:gdLst>
              <a:ahLst/>
              <a:cxnLst>
                <a:cxn ang="0">
                  <a:pos x="1456" y="423"/>
                </a:cxn>
                <a:cxn ang="0">
                  <a:pos x="1456" y="423"/>
                </a:cxn>
                <a:cxn ang="0">
                  <a:pos x="1289" y="468"/>
                </a:cxn>
                <a:cxn ang="0">
                  <a:pos x="1121" y="468"/>
                </a:cxn>
                <a:cxn ang="0">
                  <a:pos x="331" y="468"/>
                </a:cxn>
                <a:cxn ang="0">
                  <a:pos x="803" y="311"/>
                </a:cxn>
                <a:cxn ang="0">
                  <a:pos x="1121" y="236"/>
                </a:cxn>
                <a:cxn ang="0">
                  <a:pos x="1289" y="115"/>
                </a:cxn>
                <a:cxn ang="0">
                  <a:pos x="1121" y="6"/>
                </a:cxn>
                <a:cxn ang="0">
                  <a:pos x="673" y="0"/>
                </a:cxn>
                <a:cxn ang="0">
                  <a:pos x="159" y="6"/>
                </a:cxn>
                <a:cxn ang="0">
                  <a:pos x="0" y="155"/>
                </a:cxn>
                <a:cxn ang="0">
                  <a:pos x="0" y="155"/>
                </a:cxn>
                <a:cxn ang="0">
                  <a:pos x="159" y="76"/>
                </a:cxn>
                <a:cxn ang="0">
                  <a:pos x="477" y="6"/>
                </a:cxn>
                <a:cxn ang="0">
                  <a:pos x="803" y="6"/>
                </a:cxn>
                <a:cxn ang="0">
                  <a:pos x="977" y="76"/>
                </a:cxn>
                <a:cxn ang="0">
                  <a:pos x="977" y="155"/>
                </a:cxn>
                <a:cxn ang="0">
                  <a:pos x="803" y="271"/>
                </a:cxn>
                <a:cxn ang="0">
                  <a:pos x="477" y="344"/>
                </a:cxn>
                <a:cxn ang="0">
                  <a:pos x="0" y="504"/>
                </a:cxn>
                <a:cxn ang="0">
                  <a:pos x="0" y="540"/>
                </a:cxn>
                <a:cxn ang="0">
                  <a:pos x="1289" y="540"/>
                </a:cxn>
                <a:cxn ang="0">
                  <a:pos x="1456" y="423"/>
                </a:cxn>
              </a:cxnLst>
              <a:rect l="txL" t="txT" r="txR" b="txB"/>
              <a:pathLst>
                <a:path w="54" h="84">
                  <a:moveTo>
                    <a:pt x="54" y="66"/>
                  </a:moveTo>
                  <a:lnTo>
                    <a:pt x="54" y="66"/>
                  </a:lnTo>
                  <a:lnTo>
                    <a:pt x="48" y="72"/>
                  </a:lnTo>
                  <a:lnTo>
                    <a:pt x="42" y="72"/>
                  </a:lnTo>
                  <a:lnTo>
                    <a:pt x="12" y="72"/>
                  </a:lnTo>
                  <a:lnTo>
                    <a:pt x="30" y="48"/>
                  </a:lnTo>
                  <a:lnTo>
                    <a:pt x="42" y="36"/>
                  </a:lnTo>
                  <a:lnTo>
                    <a:pt x="48" y="18"/>
                  </a:lnTo>
                  <a:lnTo>
                    <a:pt x="42" y="6"/>
                  </a:lnTo>
                  <a:lnTo>
                    <a:pt x="24" y="0"/>
                  </a:lnTo>
                  <a:lnTo>
                    <a:pt x="6" y="6"/>
                  </a:lnTo>
                  <a:lnTo>
                    <a:pt x="0" y="24"/>
                  </a:lnTo>
                  <a:lnTo>
                    <a:pt x="6" y="12"/>
                  </a:lnTo>
                  <a:lnTo>
                    <a:pt x="18" y="6"/>
                  </a:lnTo>
                  <a:lnTo>
                    <a:pt x="30" y="6"/>
                  </a:lnTo>
                  <a:lnTo>
                    <a:pt x="36" y="12"/>
                  </a:lnTo>
                  <a:lnTo>
                    <a:pt x="36" y="24"/>
                  </a:lnTo>
                  <a:lnTo>
                    <a:pt x="30" y="42"/>
                  </a:lnTo>
                  <a:lnTo>
                    <a:pt x="18" y="54"/>
                  </a:lnTo>
                  <a:lnTo>
                    <a:pt x="0" y="78"/>
                  </a:lnTo>
                  <a:lnTo>
                    <a:pt x="0" y="84"/>
                  </a:lnTo>
                  <a:lnTo>
                    <a:pt x="48" y="84"/>
                  </a:lnTo>
                  <a:lnTo>
                    <a:pt x="54" y="6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27" name="Freeform 36"/>
            <p:cNvSpPr>
              <a:spLocks noChangeAspect="1"/>
            </p:cNvSpPr>
            <p:nvPr/>
          </p:nvSpPr>
          <p:spPr>
            <a:xfrm>
              <a:off x="3336" y="851"/>
              <a:ext cx="75" cy="77"/>
            </a:xfrm>
            <a:custGeom>
              <a:avLst/>
              <a:gdLst>
                <a:gd name="txL" fmla="*/ 0 w 66"/>
                <a:gd name="txT" fmla="*/ 0 h 72"/>
                <a:gd name="txR" fmla="*/ 66 w 66"/>
                <a:gd name="txB" fmla="*/ 72 h 72"/>
              </a:gdLst>
              <a:ahLst/>
              <a:cxnLst>
                <a:cxn ang="0">
                  <a:pos x="0" y="6"/>
                </a:cxn>
                <a:cxn ang="0">
                  <a:pos x="390" y="72"/>
                </a:cxn>
                <a:cxn ang="0">
                  <a:pos x="572" y="152"/>
                </a:cxn>
                <a:cxn ang="0">
                  <a:pos x="572" y="186"/>
                </a:cxn>
                <a:cxn ang="0">
                  <a:pos x="747" y="298"/>
                </a:cxn>
                <a:cxn ang="0">
                  <a:pos x="747" y="366"/>
                </a:cxn>
                <a:cxn ang="0">
                  <a:pos x="747" y="404"/>
                </a:cxn>
                <a:cxn ang="0">
                  <a:pos x="747" y="446"/>
                </a:cxn>
                <a:cxn ang="0">
                  <a:pos x="747" y="446"/>
                </a:cxn>
                <a:cxn ang="0">
                  <a:pos x="955" y="446"/>
                </a:cxn>
                <a:cxn ang="0">
                  <a:pos x="1149" y="366"/>
                </a:cxn>
                <a:cxn ang="0">
                  <a:pos x="1360" y="330"/>
                </a:cxn>
                <a:cxn ang="0">
                  <a:pos x="1689" y="228"/>
                </a:cxn>
                <a:cxn ang="0">
                  <a:pos x="1916" y="152"/>
                </a:cxn>
                <a:cxn ang="0">
                  <a:pos x="2080" y="72"/>
                </a:cxn>
                <a:cxn ang="0">
                  <a:pos x="2080" y="6"/>
                </a:cxn>
                <a:cxn ang="0">
                  <a:pos x="1916" y="0"/>
                </a:cxn>
                <a:cxn ang="0">
                  <a:pos x="1689" y="6"/>
                </a:cxn>
                <a:cxn ang="0">
                  <a:pos x="1689" y="6"/>
                </a:cxn>
                <a:cxn ang="0">
                  <a:pos x="1916" y="72"/>
                </a:cxn>
                <a:cxn ang="0">
                  <a:pos x="1916" y="108"/>
                </a:cxn>
                <a:cxn ang="0">
                  <a:pos x="1916" y="152"/>
                </a:cxn>
                <a:cxn ang="0">
                  <a:pos x="1689" y="228"/>
                </a:cxn>
                <a:cxn ang="0">
                  <a:pos x="1545" y="298"/>
                </a:cxn>
                <a:cxn ang="0">
                  <a:pos x="1149" y="330"/>
                </a:cxn>
                <a:cxn ang="0">
                  <a:pos x="955" y="366"/>
                </a:cxn>
                <a:cxn ang="0">
                  <a:pos x="955" y="186"/>
                </a:cxn>
                <a:cxn ang="0">
                  <a:pos x="747" y="6"/>
                </a:cxn>
                <a:cxn ang="0">
                  <a:pos x="747" y="0"/>
                </a:cxn>
                <a:cxn ang="0">
                  <a:pos x="747" y="0"/>
                </a:cxn>
                <a:cxn ang="0">
                  <a:pos x="572" y="6"/>
                </a:cxn>
                <a:cxn ang="0">
                  <a:pos x="0" y="6"/>
                </a:cxn>
                <a:cxn ang="0">
                  <a:pos x="0" y="6"/>
                </a:cxn>
              </a:cxnLst>
              <a:rect l="txL" t="txT" r="txR" b="txB"/>
              <a:pathLst>
                <a:path w="66" h="72">
                  <a:moveTo>
                    <a:pt x="0" y="6"/>
                  </a:moveTo>
                  <a:lnTo>
                    <a:pt x="12" y="12"/>
                  </a:lnTo>
                  <a:lnTo>
                    <a:pt x="18" y="24"/>
                  </a:lnTo>
                  <a:lnTo>
                    <a:pt x="18" y="30"/>
                  </a:lnTo>
                  <a:lnTo>
                    <a:pt x="24" y="48"/>
                  </a:lnTo>
                  <a:lnTo>
                    <a:pt x="24" y="60"/>
                  </a:lnTo>
                  <a:lnTo>
                    <a:pt x="24" y="66"/>
                  </a:lnTo>
                  <a:lnTo>
                    <a:pt x="24" y="72"/>
                  </a:lnTo>
                  <a:lnTo>
                    <a:pt x="30" y="72"/>
                  </a:lnTo>
                  <a:lnTo>
                    <a:pt x="36" y="60"/>
                  </a:lnTo>
                  <a:lnTo>
                    <a:pt x="42" y="54"/>
                  </a:lnTo>
                  <a:lnTo>
                    <a:pt x="54" y="36"/>
                  </a:lnTo>
                  <a:lnTo>
                    <a:pt x="60" y="24"/>
                  </a:lnTo>
                  <a:lnTo>
                    <a:pt x="66" y="12"/>
                  </a:lnTo>
                  <a:lnTo>
                    <a:pt x="66" y="6"/>
                  </a:lnTo>
                  <a:lnTo>
                    <a:pt x="60" y="0"/>
                  </a:lnTo>
                  <a:lnTo>
                    <a:pt x="54" y="6"/>
                  </a:lnTo>
                  <a:lnTo>
                    <a:pt x="60" y="12"/>
                  </a:lnTo>
                  <a:lnTo>
                    <a:pt x="60" y="18"/>
                  </a:lnTo>
                  <a:lnTo>
                    <a:pt x="60" y="24"/>
                  </a:lnTo>
                  <a:lnTo>
                    <a:pt x="54" y="36"/>
                  </a:lnTo>
                  <a:lnTo>
                    <a:pt x="48" y="48"/>
                  </a:lnTo>
                  <a:lnTo>
                    <a:pt x="36" y="54"/>
                  </a:lnTo>
                  <a:lnTo>
                    <a:pt x="30" y="60"/>
                  </a:lnTo>
                  <a:lnTo>
                    <a:pt x="30" y="30"/>
                  </a:lnTo>
                  <a:lnTo>
                    <a:pt x="24" y="6"/>
                  </a:lnTo>
                  <a:lnTo>
                    <a:pt x="24" y="0"/>
                  </a:lnTo>
                  <a:lnTo>
                    <a:pt x="18" y="6"/>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28" name="Freeform 37"/>
            <p:cNvSpPr>
              <a:spLocks noChangeAspect="1"/>
            </p:cNvSpPr>
            <p:nvPr/>
          </p:nvSpPr>
          <p:spPr>
            <a:xfrm>
              <a:off x="3431" y="883"/>
              <a:ext cx="60" cy="90"/>
            </a:xfrm>
            <a:custGeom>
              <a:avLst/>
              <a:gdLst>
                <a:gd name="txL" fmla="*/ 0 w 53"/>
                <a:gd name="txT" fmla="*/ 0 h 84"/>
                <a:gd name="txR" fmla="*/ 53 w 53"/>
                <a:gd name="txB" fmla="*/ 84 h 84"/>
              </a:gdLst>
              <a:ahLst/>
              <a:cxnLst>
                <a:cxn ang="0">
                  <a:pos x="491" y="271"/>
                </a:cxn>
                <a:cxn ang="0">
                  <a:pos x="1015" y="271"/>
                </a:cxn>
                <a:cxn ang="0">
                  <a:pos x="1168" y="344"/>
                </a:cxn>
                <a:cxn ang="0">
                  <a:pos x="1168" y="390"/>
                </a:cxn>
                <a:cxn ang="0">
                  <a:pos x="1015" y="468"/>
                </a:cxn>
                <a:cxn ang="0">
                  <a:pos x="648" y="504"/>
                </a:cxn>
                <a:cxn ang="0">
                  <a:pos x="491" y="504"/>
                </a:cxn>
                <a:cxn ang="0">
                  <a:pos x="164" y="468"/>
                </a:cxn>
                <a:cxn ang="0">
                  <a:pos x="164" y="468"/>
                </a:cxn>
                <a:cxn ang="0">
                  <a:pos x="0" y="504"/>
                </a:cxn>
                <a:cxn ang="0">
                  <a:pos x="164" y="540"/>
                </a:cxn>
                <a:cxn ang="0">
                  <a:pos x="491" y="540"/>
                </a:cxn>
                <a:cxn ang="0">
                  <a:pos x="1168" y="504"/>
                </a:cxn>
                <a:cxn ang="0">
                  <a:pos x="1508" y="423"/>
                </a:cxn>
                <a:cxn ang="0">
                  <a:pos x="1508" y="344"/>
                </a:cxn>
                <a:cxn ang="0">
                  <a:pos x="1508" y="271"/>
                </a:cxn>
                <a:cxn ang="0">
                  <a:pos x="1332" y="236"/>
                </a:cxn>
                <a:cxn ang="0">
                  <a:pos x="1015" y="191"/>
                </a:cxn>
                <a:cxn ang="0">
                  <a:pos x="1168" y="155"/>
                </a:cxn>
                <a:cxn ang="0">
                  <a:pos x="1332" y="76"/>
                </a:cxn>
                <a:cxn ang="0">
                  <a:pos x="1168" y="6"/>
                </a:cxn>
                <a:cxn ang="0">
                  <a:pos x="831" y="0"/>
                </a:cxn>
                <a:cxn ang="0">
                  <a:pos x="307" y="0"/>
                </a:cxn>
                <a:cxn ang="0">
                  <a:pos x="164" y="6"/>
                </a:cxn>
                <a:cxn ang="0">
                  <a:pos x="0" y="115"/>
                </a:cxn>
                <a:cxn ang="0">
                  <a:pos x="164" y="115"/>
                </a:cxn>
                <a:cxn ang="0">
                  <a:pos x="307" y="76"/>
                </a:cxn>
                <a:cxn ang="0">
                  <a:pos x="648" y="6"/>
                </a:cxn>
                <a:cxn ang="0">
                  <a:pos x="831" y="76"/>
                </a:cxn>
                <a:cxn ang="0">
                  <a:pos x="1015" y="115"/>
                </a:cxn>
                <a:cxn ang="0">
                  <a:pos x="831" y="191"/>
                </a:cxn>
                <a:cxn ang="0">
                  <a:pos x="491" y="236"/>
                </a:cxn>
                <a:cxn ang="0">
                  <a:pos x="491" y="271"/>
                </a:cxn>
              </a:cxnLst>
              <a:rect l="txL" t="txT" r="txR" b="txB"/>
              <a:pathLst>
                <a:path w="53" h="84">
                  <a:moveTo>
                    <a:pt x="17" y="42"/>
                  </a:moveTo>
                  <a:lnTo>
                    <a:pt x="35" y="42"/>
                  </a:lnTo>
                  <a:lnTo>
                    <a:pt x="41" y="54"/>
                  </a:lnTo>
                  <a:lnTo>
                    <a:pt x="41" y="60"/>
                  </a:lnTo>
                  <a:lnTo>
                    <a:pt x="35" y="72"/>
                  </a:lnTo>
                  <a:lnTo>
                    <a:pt x="23" y="78"/>
                  </a:lnTo>
                  <a:lnTo>
                    <a:pt x="17" y="78"/>
                  </a:lnTo>
                  <a:lnTo>
                    <a:pt x="6" y="72"/>
                  </a:lnTo>
                  <a:lnTo>
                    <a:pt x="0" y="78"/>
                  </a:lnTo>
                  <a:lnTo>
                    <a:pt x="6" y="84"/>
                  </a:lnTo>
                  <a:lnTo>
                    <a:pt x="17" y="84"/>
                  </a:lnTo>
                  <a:lnTo>
                    <a:pt x="41" y="78"/>
                  </a:lnTo>
                  <a:lnTo>
                    <a:pt x="53" y="66"/>
                  </a:lnTo>
                  <a:lnTo>
                    <a:pt x="53" y="54"/>
                  </a:lnTo>
                  <a:lnTo>
                    <a:pt x="53" y="42"/>
                  </a:lnTo>
                  <a:lnTo>
                    <a:pt x="47" y="36"/>
                  </a:lnTo>
                  <a:lnTo>
                    <a:pt x="35" y="30"/>
                  </a:lnTo>
                  <a:lnTo>
                    <a:pt x="41" y="24"/>
                  </a:lnTo>
                  <a:lnTo>
                    <a:pt x="47" y="12"/>
                  </a:lnTo>
                  <a:lnTo>
                    <a:pt x="41" y="6"/>
                  </a:lnTo>
                  <a:lnTo>
                    <a:pt x="29" y="0"/>
                  </a:lnTo>
                  <a:lnTo>
                    <a:pt x="11" y="0"/>
                  </a:lnTo>
                  <a:lnTo>
                    <a:pt x="6" y="6"/>
                  </a:lnTo>
                  <a:lnTo>
                    <a:pt x="0" y="18"/>
                  </a:lnTo>
                  <a:lnTo>
                    <a:pt x="6" y="18"/>
                  </a:lnTo>
                  <a:lnTo>
                    <a:pt x="11" y="12"/>
                  </a:lnTo>
                  <a:lnTo>
                    <a:pt x="23" y="6"/>
                  </a:lnTo>
                  <a:lnTo>
                    <a:pt x="29" y="12"/>
                  </a:lnTo>
                  <a:lnTo>
                    <a:pt x="35" y="18"/>
                  </a:lnTo>
                  <a:lnTo>
                    <a:pt x="29" y="30"/>
                  </a:lnTo>
                  <a:lnTo>
                    <a:pt x="17" y="36"/>
                  </a:lnTo>
                  <a:lnTo>
                    <a:pt x="17"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29" name="Freeform 38"/>
            <p:cNvSpPr>
              <a:spLocks noChangeAspect="1"/>
            </p:cNvSpPr>
            <p:nvPr/>
          </p:nvSpPr>
          <p:spPr>
            <a:xfrm>
              <a:off x="4197" y="851"/>
              <a:ext cx="75" cy="77"/>
            </a:xfrm>
            <a:custGeom>
              <a:avLst/>
              <a:gdLst>
                <a:gd name="txL" fmla="*/ 0 w 66"/>
                <a:gd name="txT" fmla="*/ 0 h 72"/>
                <a:gd name="txR" fmla="*/ 66 w 66"/>
                <a:gd name="txB" fmla="*/ 72 h 72"/>
              </a:gdLst>
              <a:ahLst/>
              <a:cxnLst>
                <a:cxn ang="0">
                  <a:pos x="0" y="6"/>
                </a:cxn>
                <a:cxn ang="0">
                  <a:pos x="390" y="6"/>
                </a:cxn>
                <a:cxn ang="0">
                  <a:pos x="390" y="72"/>
                </a:cxn>
                <a:cxn ang="0">
                  <a:pos x="390" y="152"/>
                </a:cxn>
                <a:cxn ang="0">
                  <a:pos x="572" y="186"/>
                </a:cxn>
                <a:cxn ang="0">
                  <a:pos x="572" y="261"/>
                </a:cxn>
                <a:cxn ang="0">
                  <a:pos x="572" y="404"/>
                </a:cxn>
                <a:cxn ang="0">
                  <a:pos x="572" y="446"/>
                </a:cxn>
                <a:cxn ang="0">
                  <a:pos x="747" y="446"/>
                </a:cxn>
                <a:cxn ang="0">
                  <a:pos x="747" y="404"/>
                </a:cxn>
                <a:cxn ang="0">
                  <a:pos x="1149" y="366"/>
                </a:cxn>
                <a:cxn ang="0">
                  <a:pos x="1360" y="330"/>
                </a:cxn>
                <a:cxn ang="0">
                  <a:pos x="1689" y="228"/>
                </a:cxn>
                <a:cxn ang="0">
                  <a:pos x="1916" y="152"/>
                </a:cxn>
                <a:cxn ang="0">
                  <a:pos x="2080" y="72"/>
                </a:cxn>
                <a:cxn ang="0">
                  <a:pos x="1916" y="6"/>
                </a:cxn>
                <a:cxn ang="0">
                  <a:pos x="1689" y="0"/>
                </a:cxn>
                <a:cxn ang="0">
                  <a:pos x="1689" y="0"/>
                </a:cxn>
                <a:cxn ang="0">
                  <a:pos x="1545" y="6"/>
                </a:cxn>
                <a:cxn ang="0">
                  <a:pos x="1689" y="72"/>
                </a:cxn>
                <a:cxn ang="0">
                  <a:pos x="1916" y="108"/>
                </a:cxn>
                <a:cxn ang="0">
                  <a:pos x="1916" y="152"/>
                </a:cxn>
                <a:cxn ang="0">
                  <a:pos x="1545" y="228"/>
                </a:cxn>
                <a:cxn ang="0">
                  <a:pos x="1149" y="330"/>
                </a:cxn>
                <a:cxn ang="0">
                  <a:pos x="955" y="366"/>
                </a:cxn>
                <a:cxn ang="0">
                  <a:pos x="955" y="186"/>
                </a:cxn>
                <a:cxn ang="0">
                  <a:pos x="747" y="6"/>
                </a:cxn>
                <a:cxn ang="0">
                  <a:pos x="747" y="0"/>
                </a:cxn>
                <a:cxn ang="0">
                  <a:pos x="572" y="0"/>
                </a:cxn>
                <a:cxn ang="0">
                  <a:pos x="390" y="0"/>
                </a:cxn>
                <a:cxn ang="0">
                  <a:pos x="0" y="6"/>
                </a:cxn>
                <a:cxn ang="0">
                  <a:pos x="0" y="6"/>
                </a:cxn>
              </a:cxnLst>
              <a:rect l="txL" t="txT" r="txR" b="txB"/>
              <a:pathLst>
                <a:path w="66" h="72">
                  <a:moveTo>
                    <a:pt x="0" y="6"/>
                  </a:moveTo>
                  <a:lnTo>
                    <a:pt x="12" y="6"/>
                  </a:lnTo>
                  <a:lnTo>
                    <a:pt x="12" y="12"/>
                  </a:lnTo>
                  <a:lnTo>
                    <a:pt x="12" y="24"/>
                  </a:lnTo>
                  <a:lnTo>
                    <a:pt x="18" y="30"/>
                  </a:lnTo>
                  <a:lnTo>
                    <a:pt x="18" y="42"/>
                  </a:lnTo>
                  <a:lnTo>
                    <a:pt x="18" y="66"/>
                  </a:lnTo>
                  <a:lnTo>
                    <a:pt x="18" y="72"/>
                  </a:lnTo>
                  <a:lnTo>
                    <a:pt x="24" y="72"/>
                  </a:lnTo>
                  <a:lnTo>
                    <a:pt x="24" y="66"/>
                  </a:lnTo>
                  <a:lnTo>
                    <a:pt x="36" y="60"/>
                  </a:lnTo>
                  <a:lnTo>
                    <a:pt x="42" y="54"/>
                  </a:lnTo>
                  <a:lnTo>
                    <a:pt x="54" y="36"/>
                  </a:lnTo>
                  <a:lnTo>
                    <a:pt x="60" y="24"/>
                  </a:lnTo>
                  <a:lnTo>
                    <a:pt x="66" y="12"/>
                  </a:lnTo>
                  <a:lnTo>
                    <a:pt x="60" y="6"/>
                  </a:lnTo>
                  <a:lnTo>
                    <a:pt x="54" y="0"/>
                  </a:lnTo>
                  <a:lnTo>
                    <a:pt x="48" y="6"/>
                  </a:lnTo>
                  <a:lnTo>
                    <a:pt x="54" y="12"/>
                  </a:lnTo>
                  <a:lnTo>
                    <a:pt x="60" y="18"/>
                  </a:lnTo>
                  <a:lnTo>
                    <a:pt x="60" y="24"/>
                  </a:lnTo>
                  <a:lnTo>
                    <a:pt x="48" y="36"/>
                  </a:lnTo>
                  <a:lnTo>
                    <a:pt x="36" y="54"/>
                  </a:lnTo>
                  <a:lnTo>
                    <a:pt x="30" y="60"/>
                  </a:lnTo>
                  <a:lnTo>
                    <a:pt x="30" y="30"/>
                  </a:lnTo>
                  <a:lnTo>
                    <a:pt x="24" y="6"/>
                  </a:lnTo>
                  <a:lnTo>
                    <a:pt x="24" y="0"/>
                  </a:lnTo>
                  <a:lnTo>
                    <a:pt x="18" y="0"/>
                  </a:lnTo>
                  <a:lnTo>
                    <a:pt x="12"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30" name="Freeform 39"/>
            <p:cNvSpPr>
              <a:spLocks noChangeAspect="1"/>
            </p:cNvSpPr>
            <p:nvPr/>
          </p:nvSpPr>
          <p:spPr>
            <a:xfrm>
              <a:off x="4279" y="883"/>
              <a:ext cx="109" cy="90"/>
            </a:xfrm>
            <a:custGeom>
              <a:avLst/>
              <a:gdLst>
                <a:gd name="txL" fmla="*/ 0 w 96"/>
                <a:gd name="txT" fmla="*/ 0 h 84"/>
                <a:gd name="txR" fmla="*/ 96 w 96"/>
                <a:gd name="txB" fmla="*/ 84 h 84"/>
              </a:gdLst>
              <a:ahLst/>
              <a:cxnLst>
                <a:cxn ang="0">
                  <a:pos x="2980" y="0"/>
                </a:cxn>
                <a:cxn ang="0">
                  <a:pos x="2230" y="0"/>
                </a:cxn>
                <a:cxn ang="0">
                  <a:pos x="2230" y="0"/>
                </a:cxn>
                <a:cxn ang="0">
                  <a:pos x="2440" y="0"/>
                </a:cxn>
                <a:cxn ang="0">
                  <a:pos x="2440" y="6"/>
                </a:cxn>
                <a:cxn ang="0">
                  <a:pos x="2440" y="76"/>
                </a:cxn>
                <a:cxn ang="0">
                  <a:pos x="2440" y="76"/>
                </a:cxn>
                <a:cxn ang="0">
                  <a:pos x="2043" y="390"/>
                </a:cxn>
                <a:cxn ang="0">
                  <a:pos x="2043" y="390"/>
                </a:cxn>
                <a:cxn ang="0">
                  <a:pos x="1297" y="0"/>
                </a:cxn>
                <a:cxn ang="0">
                  <a:pos x="570" y="0"/>
                </a:cxn>
                <a:cxn ang="0">
                  <a:pos x="570" y="0"/>
                </a:cxn>
                <a:cxn ang="0">
                  <a:pos x="739" y="6"/>
                </a:cxn>
                <a:cxn ang="0">
                  <a:pos x="948" y="6"/>
                </a:cxn>
                <a:cxn ang="0">
                  <a:pos x="389" y="390"/>
                </a:cxn>
                <a:cxn ang="0">
                  <a:pos x="389" y="468"/>
                </a:cxn>
                <a:cxn ang="0">
                  <a:pos x="181" y="504"/>
                </a:cxn>
                <a:cxn ang="0">
                  <a:pos x="0" y="504"/>
                </a:cxn>
                <a:cxn ang="0">
                  <a:pos x="0" y="504"/>
                </a:cxn>
                <a:cxn ang="0">
                  <a:pos x="739" y="504"/>
                </a:cxn>
                <a:cxn ang="0">
                  <a:pos x="739" y="504"/>
                </a:cxn>
                <a:cxn ang="0">
                  <a:pos x="739" y="504"/>
                </a:cxn>
                <a:cxn ang="0">
                  <a:pos x="570" y="468"/>
                </a:cxn>
                <a:cxn ang="0">
                  <a:pos x="570" y="468"/>
                </a:cxn>
                <a:cxn ang="0">
                  <a:pos x="570" y="423"/>
                </a:cxn>
                <a:cxn ang="0">
                  <a:pos x="1104" y="76"/>
                </a:cxn>
                <a:cxn ang="0">
                  <a:pos x="1104" y="76"/>
                </a:cxn>
                <a:cxn ang="0">
                  <a:pos x="1836" y="540"/>
                </a:cxn>
                <a:cxn ang="0">
                  <a:pos x="2043" y="540"/>
                </a:cxn>
                <a:cxn ang="0">
                  <a:pos x="2617" y="115"/>
                </a:cxn>
                <a:cxn ang="0">
                  <a:pos x="2778" y="6"/>
                </a:cxn>
                <a:cxn ang="0">
                  <a:pos x="2980" y="0"/>
                </a:cxn>
                <a:cxn ang="0">
                  <a:pos x="2980" y="0"/>
                </a:cxn>
              </a:cxnLst>
              <a:rect l="txL" t="txT" r="txR" b="txB"/>
              <a:pathLst>
                <a:path w="96" h="84">
                  <a:moveTo>
                    <a:pt x="96" y="0"/>
                  </a:moveTo>
                  <a:lnTo>
                    <a:pt x="72" y="0"/>
                  </a:lnTo>
                  <a:lnTo>
                    <a:pt x="78" y="0"/>
                  </a:lnTo>
                  <a:lnTo>
                    <a:pt x="78" y="6"/>
                  </a:lnTo>
                  <a:lnTo>
                    <a:pt x="78" y="12"/>
                  </a:lnTo>
                  <a:lnTo>
                    <a:pt x="66" y="60"/>
                  </a:lnTo>
                  <a:lnTo>
                    <a:pt x="42" y="0"/>
                  </a:lnTo>
                  <a:lnTo>
                    <a:pt x="18" y="0"/>
                  </a:lnTo>
                  <a:lnTo>
                    <a:pt x="24" y="6"/>
                  </a:lnTo>
                  <a:lnTo>
                    <a:pt x="30" y="6"/>
                  </a:lnTo>
                  <a:lnTo>
                    <a:pt x="12" y="60"/>
                  </a:lnTo>
                  <a:lnTo>
                    <a:pt x="12" y="72"/>
                  </a:lnTo>
                  <a:lnTo>
                    <a:pt x="6" y="78"/>
                  </a:lnTo>
                  <a:lnTo>
                    <a:pt x="0" y="78"/>
                  </a:lnTo>
                  <a:lnTo>
                    <a:pt x="24" y="78"/>
                  </a:lnTo>
                  <a:lnTo>
                    <a:pt x="18" y="72"/>
                  </a:lnTo>
                  <a:lnTo>
                    <a:pt x="18" y="66"/>
                  </a:lnTo>
                  <a:lnTo>
                    <a:pt x="36" y="12"/>
                  </a:lnTo>
                  <a:lnTo>
                    <a:pt x="60" y="84"/>
                  </a:lnTo>
                  <a:lnTo>
                    <a:pt x="66" y="84"/>
                  </a:lnTo>
                  <a:lnTo>
                    <a:pt x="84" y="18"/>
                  </a:lnTo>
                  <a:lnTo>
                    <a:pt x="90" y="6"/>
                  </a:lnTo>
                  <a:lnTo>
                    <a:pt x="9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31" name="Freeform 40"/>
            <p:cNvSpPr>
              <a:spLocks noChangeAspect="1"/>
            </p:cNvSpPr>
            <p:nvPr/>
          </p:nvSpPr>
          <p:spPr>
            <a:xfrm>
              <a:off x="1226" y="979"/>
              <a:ext cx="319" cy="298"/>
            </a:xfrm>
            <a:custGeom>
              <a:avLst/>
              <a:gdLst>
                <a:gd name="txL" fmla="*/ 0 w 281"/>
                <a:gd name="txT" fmla="*/ 0 h 280"/>
                <a:gd name="txR" fmla="*/ 281 w 281"/>
                <a:gd name="txB" fmla="*/ 280 h 280"/>
              </a:gdLst>
              <a:ahLst/>
              <a:cxnLst>
                <a:cxn ang="0">
                  <a:pos x="4368" y="1511"/>
                </a:cxn>
                <a:cxn ang="0">
                  <a:pos x="5308" y="1511"/>
                </a:cxn>
                <a:cxn ang="0">
                  <a:pos x="6038" y="1440"/>
                </a:cxn>
                <a:cxn ang="0">
                  <a:pos x="7344" y="1279"/>
                </a:cxn>
                <a:cxn ang="0">
                  <a:pos x="8236" y="1026"/>
                </a:cxn>
                <a:cxn ang="0">
                  <a:pos x="8630" y="738"/>
                </a:cxn>
                <a:cxn ang="0">
                  <a:pos x="8236" y="444"/>
                </a:cxn>
                <a:cxn ang="0">
                  <a:pos x="7344" y="225"/>
                </a:cxn>
                <a:cxn ang="0">
                  <a:pos x="6038" y="63"/>
                </a:cxn>
                <a:cxn ang="0">
                  <a:pos x="5308" y="6"/>
                </a:cxn>
                <a:cxn ang="0">
                  <a:pos x="4368" y="0"/>
                </a:cxn>
                <a:cxn ang="0">
                  <a:pos x="3466" y="6"/>
                </a:cxn>
                <a:cxn ang="0">
                  <a:pos x="2742" y="63"/>
                </a:cxn>
                <a:cxn ang="0">
                  <a:pos x="1241" y="225"/>
                </a:cxn>
                <a:cxn ang="0">
                  <a:pos x="342" y="444"/>
                </a:cxn>
                <a:cxn ang="0">
                  <a:pos x="159" y="606"/>
                </a:cxn>
                <a:cxn ang="0">
                  <a:pos x="0" y="738"/>
                </a:cxn>
                <a:cxn ang="0">
                  <a:pos x="159" y="899"/>
                </a:cxn>
                <a:cxn ang="0">
                  <a:pos x="342" y="1026"/>
                </a:cxn>
                <a:cxn ang="0">
                  <a:pos x="1241" y="1279"/>
                </a:cxn>
                <a:cxn ang="0">
                  <a:pos x="2742" y="1440"/>
                </a:cxn>
                <a:cxn ang="0">
                  <a:pos x="3466" y="1511"/>
                </a:cxn>
                <a:cxn ang="0">
                  <a:pos x="4368" y="1511"/>
                </a:cxn>
                <a:cxn ang="0">
                  <a:pos x="4368" y="1511"/>
                </a:cxn>
              </a:cxnLst>
              <a:rect l="txL" t="txT" r="txR" b="txB"/>
              <a:pathLst>
                <a:path w="281" h="280">
                  <a:moveTo>
                    <a:pt x="143" y="280"/>
                  </a:moveTo>
                  <a:lnTo>
                    <a:pt x="173" y="280"/>
                  </a:lnTo>
                  <a:lnTo>
                    <a:pt x="197" y="268"/>
                  </a:lnTo>
                  <a:lnTo>
                    <a:pt x="239" y="239"/>
                  </a:lnTo>
                  <a:lnTo>
                    <a:pt x="269" y="191"/>
                  </a:lnTo>
                  <a:lnTo>
                    <a:pt x="281" y="137"/>
                  </a:lnTo>
                  <a:lnTo>
                    <a:pt x="269" y="83"/>
                  </a:lnTo>
                  <a:lnTo>
                    <a:pt x="239" y="42"/>
                  </a:lnTo>
                  <a:lnTo>
                    <a:pt x="197" y="12"/>
                  </a:lnTo>
                  <a:lnTo>
                    <a:pt x="173" y="6"/>
                  </a:lnTo>
                  <a:lnTo>
                    <a:pt x="143" y="0"/>
                  </a:lnTo>
                  <a:lnTo>
                    <a:pt x="113" y="6"/>
                  </a:lnTo>
                  <a:lnTo>
                    <a:pt x="89" y="12"/>
                  </a:lnTo>
                  <a:lnTo>
                    <a:pt x="41" y="42"/>
                  </a:lnTo>
                  <a:lnTo>
                    <a:pt x="11" y="83"/>
                  </a:lnTo>
                  <a:lnTo>
                    <a:pt x="5" y="113"/>
                  </a:lnTo>
                  <a:lnTo>
                    <a:pt x="0" y="137"/>
                  </a:lnTo>
                  <a:lnTo>
                    <a:pt x="5" y="167"/>
                  </a:lnTo>
                  <a:lnTo>
                    <a:pt x="11" y="191"/>
                  </a:lnTo>
                  <a:lnTo>
                    <a:pt x="41" y="239"/>
                  </a:lnTo>
                  <a:lnTo>
                    <a:pt x="89" y="268"/>
                  </a:lnTo>
                  <a:lnTo>
                    <a:pt x="113" y="280"/>
                  </a:lnTo>
                  <a:lnTo>
                    <a:pt x="143" y="280"/>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32" name="Freeform 41"/>
            <p:cNvSpPr>
              <a:spLocks noChangeAspect="1"/>
            </p:cNvSpPr>
            <p:nvPr/>
          </p:nvSpPr>
          <p:spPr>
            <a:xfrm>
              <a:off x="1388" y="1125"/>
              <a:ext cx="157" cy="152"/>
            </a:xfrm>
            <a:custGeom>
              <a:avLst/>
              <a:gdLst>
                <a:gd name="txL" fmla="*/ 0 w 138"/>
                <a:gd name="txT" fmla="*/ 0 h 143"/>
                <a:gd name="txR" fmla="*/ 138 w 138"/>
                <a:gd name="txB" fmla="*/ 143 h 143"/>
              </a:gdLst>
              <a:ahLst/>
              <a:cxnLst>
                <a:cxn ang="0">
                  <a:pos x="0" y="750"/>
                </a:cxn>
                <a:cxn ang="0">
                  <a:pos x="974" y="750"/>
                </a:cxn>
                <a:cxn ang="0">
                  <a:pos x="1750" y="681"/>
                </a:cxn>
                <a:cxn ang="0">
                  <a:pos x="3113" y="527"/>
                </a:cxn>
                <a:cxn ang="0">
                  <a:pos x="4074" y="284"/>
                </a:cxn>
                <a:cxn ang="0">
                  <a:pos x="4502" y="0"/>
                </a:cxn>
                <a:cxn ang="0">
                  <a:pos x="4502" y="0"/>
                </a:cxn>
                <a:cxn ang="0">
                  <a:pos x="4074" y="284"/>
                </a:cxn>
                <a:cxn ang="0">
                  <a:pos x="3113" y="527"/>
                </a:cxn>
                <a:cxn ang="0">
                  <a:pos x="1750" y="681"/>
                </a:cxn>
                <a:cxn ang="0">
                  <a:pos x="974" y="750"/>
                </a:cxn>
                <a:cxn ang="0">
                  <a:pos x="0" y="750"/>
                </a:cxn>
                <a:cxn ang="0">
                  <a:pos x="0" y="750"/>
                </a:cxn>
              </a:cxnLst>
              <a:rect l="txL" t="txT" r="txR" b="txB"/>
              <a:pathLst>
                <a:path w="138" h="143">
                  <a:moveTo>
                    <a:pt x="0" y="143"/>
                  </a:moveTo>
                  <a:lnTo>
                    <a:pt x="30" y="143"/>
                  </a:lnTo>
                  <a:lnTo>
                    <a:pt x="54" y="131"/>
                  </a:lnTo>
                  <a:lnTo>
                    <a:pt x="96" y="102"/>
                  </a:lnTo>
                  <a:lnTo>
                    <a:pt x="126" y="54"/>
                  </a:lnTo>
                  <a:lnTo>
                    <a:pt x="138" y="0"/>
                  </a:lnTo>
                  <a:lnTo>
                    <a:pt x="126" y="54"/>
                  </a:lnTo>
                  <a:lnTo>
                    <a:pt x="96" y="102"/>
                  </a:lnTo>
                  <a:lnTo>
                    <a:pt x="54" y="131"/>
                  </a:lnTo>
                  <a:lnTo>
                    <a:pt x="30" y="143"/>
                  </a:lnTo>
                  <a:lnTo>
                    <a:pt x="0" y="14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33" name="Freeform 42"/>
            <p:cNvSpPr>
              <a:spLocks noChangeAspect="1" noEditPoints="1"/>
            </p:cNvSpPr>
            <p:nvPr/>
          </p:nvSpPr>
          <p:spPr>
            <a:xfrm>
              <a:off x="1388" y="979"/>
              <a:ext cx="157" cy="146"/>
            </a:xfrm>
            <a:custGeom>
              <a:avLst/>
              <a:gdLst>
                <a:gd name="txL" fmla="*/ 0 w 138"/>
                <a:gd name="txT" fmla="*/ 0 h 137"/>
                <a:gd name="txR" fmla="*/ 138 w 138"/>
                <a:gd name="txB" fmla="*/ 137 h 137"/>
              </a:gdLst>
              <a:ahLst/>
              <a:cxnLst>
                <a:cxn ang="0">
                  <a:pos x="4502" y="762"/>
                </a:cxn>
                <a:cxn ang="0">
                  <a:pos x="4074" y="459"/>
                </a:cxn>
                <a:cxn ang="0">
                  <a:pos x="3113" y="237"/>
                </a:cxn>
                <a:cxn ang="0">
                  <a:pos x="1750" y="66"/>
                </a:cxn>
                <a:cxn ang="0">
                  <a:pos x="974" y="6"/>
                </a:cxn>
                <a:cxn ang="0">
                  <a:pos x="0" y="0"/>
                </a:cxn>
                <a:cxn ang="0">
                  <a:pos x="0" y="0"/>
                </a:cxn>
                <a:cxn ang="0">
                  <a:pos x="974" y="6"/>
                </a:cxn>
                <a:cxn ang="0">
                  <a:pos x="1750" y="66"/>
                </a:cxn>
                <a:cxn ang="0">
                  <a:pos x="3113" y="237"/>
                </a:cxn>
                <a:cxn ang="0">
                  <a:pos x="4074" y="459"/>
                </a:cxn>
                <a:cxn ang="0">
                  <a:pos x="4502" y="762"/>
                </a:cxn>
                <a:cxn ang="0">
                  <a:pos x="4502" y="762"/>
                </a:cxn>
                <a:cxn ang="0">
                  <a:pos x="4502" y="762"/>
                </a:cxn>
                <a:cxn ang="0">
                  <a:pos x="4502" y="762"/>
                </a:cxn>
                <a:cxn ang="0">
                  <a:pos x="4502" y="762"/>
                </a:cxn>
              </a:cxnLst>
              <a:rect l="txL" t="txT" r="txR" b="txB"/>
              <a:pathLst>
                <a:path w="138" h="137">
                  <a:moveTo>
                    <a:pt x="138" y="137"/>
                  </a:moveTo>
                  <a:lnTo>
                    <a:pt x="126" y="83"/>
                  </a:lnTo>
                  <a:lnTo>
                    <a:pt x="96" y="42"/>
                  </a:lnTo>
                  <a:lnTo>
                    <a:pt x="54" y="12"/>
                  </a:lnTo>
                  <a:lnTo>
                    <a:pt x="30" y="6"/>
                  </a:lnTo>
                  <a:lnTo>
                    <a:pt x="0" y="0"/>
                  </a:lnTo>
                  <a:lnTo>
                    <a:pt x="30" y="6"/>
                  </a:lnTo>
                  <a:lnTo>
                    <a:pt x="54" y="12"/>
                  </a:lnTo>
                  <a:lnTo>
                    <a:pt x="96" y="42"/>
                  </a:lnTo>
                  <a:lnTo>
                    <a:pt x="126" y="83"/>
                  </a:lnTo>
                  <a:lnTo>
                    <a:pt x="138" y="137"/>
                  </a:lnTo>
                  <a:close/>
                  <a:moveTo>
                    <a:pt x="138" y="137"/>
                  </a:moveTo>
                  <a:lnTo>
                    <a:pt x="138" y="1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34" name="Freeform 43"/>
            <p:cNvSpPr>
              <a:spLocks noChangeAspect="1" noEditPoints="1"/>
            </p:cNvSpPr>
            <p:nvPr/>
          </p:nvSpPr>
          <p:spPr>
            <a:xfrm>
              <a:off x="1226" y="979"/>
              <a:ext cx="162" cy="146"/>
            </a:xfrm>
            <a:custGeom>
              <a:avLst/>
              <a:gdLst>
                <a:gd name="txL" fmla="*/ 0 w 143"/>
                <a:gd name="txT" fmla="*/ 0 h 137"/>
                <a:gd name="txR" fmla="*/ 143 w 143"/>
                <a:gd name="txB" fmla="*/ 137 h 137"/>
              </a:gdLst>
              <a:ahLst/>
              <a:cxnLst>
                <a:cxn ang="0">
                  <a:pos x="4143" y="0"/>
                </a:cxn>
                <a:cxn ang="0">
                  <a:pos x="3283" y="6"/>
                </a:cxn>
                <a:cxn ang="0">
                  <a:pos x="2559" y="66"/>
                </a:cxn>
                <a:cxn ang="0">
                  <a:pos x="1180" y="237"/>
                </a:cxn>
                <a:cxn ang="0">
                  <a:pos x="307" y="459"/>
                </a:cxn>
                <a:cxn ang="0">
                  <a:pos x="145" y="627"/>
                </a:cxn>
                <a:cxn ang="0">
                  <a:pos x="0" y="762"/>
                </a:cxn>
                <a:cxn ang="0">
                  <a:pos x="0" y="762"/>
                </a:cxn>
                <a:cxn ang="0">
                  <a:pos x="145" y="627"/>
                </a:cxn>
                <a:cxn ang="0">
                  <a:pos x="307" y="459"/>
                </a:cxn>
                <a:cxn ang="0">
                  <a:pos x="1180" y="237"/>
                </a:cxn>
                <a:cxn ang="0">
                  <a:pos x="2559" y="66"/>
                </a:cxn>
                <a:cxn ang="0">
                  <a:pos x="3283" y="6"/>
                </a:cxn>
                <a:cxn ang="0">
                  <a:pos x="4143" y="0"/>
                </a:cxn>
                <a:cxn ang="0">
                  <a:pos x="4143" y="0"/>
                </a:cxn>
                <a:cxn ang="0">
                  <a:pos x="4143" y="0"/>
                </a:cxn>
                <a:cxn ang="0">
                  <a:pos x="4143" y="0"/>
                </a:cxn>
                <a:cxn ang="0">
                  <a:pos x="4143" y="0"/>
                </a:cxn>
              </a:cxnLst>
              <a:rect l="txL" t="txT" r="txR" b="txB"/>
              <a:pathLst>
                <a:path w="143" h="137">
                  <a:moveTo>
                    <a:pt x="143" y="0"/>
                  </a:moveTo>
                  <a:lnTo>
                    <a:pt x="113" y="6"/>
                  </a:lnTo>
                  <a:lnTo>
                    <a:pt x="89" y="12"/>
                  </a:lnTo>
                  <a:lnTo>
                    <a:pt x="41" y="42"/>
                  </a:lnTo>
                  <a:lnTo>
                    <a:pt x="11" y="83"/>
                  </a:lnTo>
                  <a:lnTo>
                    <a:pt x="5" y="113"/>
                  </a:lnTo>
                  <a:lnTo>
                    <a:pt x="0" y="137"/>
                  </a:lnTo>
                  <a:lnTo>
                    <a:pt x="5" y="113"/>
                  </a:lnTo>
                  <a:lnTo>
                    <a:pt x="11" y="83"/>
                  </a:lnTo>
                  <a:lnTo>
                    <a:pt x="41" y="42"/>
                  </a:lnTo>
                  <a:lnTo>
                    <a:pt x="89" y="12"/>
                  </a:lnTo>
                  <a:lnTo>
                    <a:pt x="113" y="6"/>
                  </a:lnTo>
                  <a:lnTo>
                    <a:pt x="143" y="0"/>
                  </a:lnTo>
                  <a:close/>
                  <a:moveTo>
                    <a:pt x="143" y="0"/>
                  </a:moveTo>
                  <a:lnTo>
                    <a:pt x="14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35" name="Freeform 44"/>
            <p:cNvSpPr>
              <a:spLocks noChangeAspect="1" noEditPoints="1"/>
            </p:cNvSpPr>
            <p:nvPr/>
          </p:nvSpPr>
          <p:spPr>
            <a:xfrm>
              <a:off x="1226" y="1125"/>
              <a:ext cx="162" cy="152"/>
            </a:xfrm>
            <a:custGeom>
              <a:avLst/>
              <a:gdLst>
                <a:gd name="txL" fmla="*/ 0 w 143"/>
                <a:gd name="txT" fmla="*/ 0 h 143"/>
                <a:gd name="txR" fmla="*/ 143 w 143"/>
                <a:gd name="txB" fmla="*/ 143 h 143"/>
              </a:gdLst>
              <a:ahLst/>
              <a:cxnLst>
                <a:cxn ang="0">
                  <a:pos x="0" y="0"/>
                </a:cxn>
                <a:cxn ang="0">
                  <a:pos x="145" y="155"/>
                </a:cxn>
                <a:cxn ang="0">
                  <a:pos x="307" y="284"/>
                </a:cxn>
                <a:cxn ang="0">
                  <a:pos x="1180" y="527"/>
                </a:cxn>
                <a:cxn ang="0">
                  <a:pos x="2559" y="681"/>
                </a:cxn>
                <a:cxn ang="0">
                  <a:pos x="3283" y="750"/>
                </a:cxn>
                <a:cxn ang="0">
                  <a:pos x="4143" y="750"/>
                </a:cxn>
                <a:cxn ang="0">
                  <a:pos x="4143" y="750"/>
                </a:cxn>
                <a:cxn ang="0">
                  <a:pos x="3283" y="750"/>
                </a:cxn>
                <a:cxn ang="0">
                  <a:pos x="2559" y="681"/>
                </a:cxn>
                <a:cxn ang="0">
                  <a:pos x="1180" y="527"/>
                </a:cxn>
                <a:cxn ang="0">
                  <a:pos x="307" y="284"/>
                </a:cxn>
                <a:cxn ang="0">
                  <a:pos x="145" y="155"/>
                </a:cxn>
                <a:cxn ang="0">
                  <a:pos x="0" y="0"/>
                </a:cxn>
                <a:cxn ang="0">
                  <a:pos x="0" y="0"/>
                </a:cxn>
                <a:cxn ang="0">
                  <a:pos x="0" y="0"/>
                </a:cxn>
                <a:cxn ang="0">
                  <a:pos x="0" y="0"/>
                </a:cxn>
                <a:cxn ang="0">
                  <a:pos x="0" y="0"/>
                </a:cxn>
              </a:cxnLst>
              <a:rect l="txL" t="txT" r="txR" b="txB"/>
              <a:pathLst>
                <a:path w="143" h="143">
                  <a:moveTo>
                    <a:pt x="0" y="0"/>
                  </a:moveTo>
                  <a:lnTo>
                    <a:pt x="5" y="30"/>
                  </a:lnTo>
                  <a:lnTo>
                    <a:pt x="11" y="54"/>
                  </a:lnTo>
                  <a:lnTo>
                    <a:pt x="41" y="102"/>
                  </a:lnTo>
                  <a:lnTo>
                    <a:pt x="89" y="131"/>
                  </a:lnTo>
                  <a:lnTo>
                    <a:pt x="113" y="143"/>
                  </a:lnTo>
                  <a:lnTo>
                    <a:pt x="143" y="143"/>
                  </a:lnTo>
                  <a:lnTo>
                    <a:pt x="113" y="143"/>
                  </a:lnTo>
                  <a:lnTo>
                    <a:pt x="89" y="131"/>
                  </a:lnTo>
                  <a:lnTo>
                    <a:pt x="41" y="102"/>
                  </a:lnTo>
                  <a:lnTo>
                    <a:pt x="11" y="54"/>
                  </a:lnTo>
                  <a:lnTo>
                    <a:pt x="5" y="3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36" name="Freeform 45"/>
            <p:cNvSpPr>
              <a:spLocks noChangeAspect="1"/>
            </p:cNvSpPr>
            <p:nvPr/>
          </p:nvSpPr>
          <p:spPr>
            <a:xfrm>
              <a:off x="1388" y="1277"/>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37" name="Freeform 46"/>
            <p:cNvSpPr>
              <a:spLocks noChangeAspect="1"/>
            </p:cNvSpPr>
            <p:nvPr/>
          </p:nvSpPr>
          <p:spPr>
            <a:xfrm>
              <a:off x="1334" y="1030"/>
              <a:ext cx="95" cy="89"/>
            </a:xfrm>
            <a:custGeom>
              <a:avLst/>
              <a:gdLst>
                <a:gd name="txL" fmla="*/ 0 w 84"/>
                <a:gd name="txT" fmla="*/ 0 h 83"/>
                <a:gd name="txR" fmla="*/ 84 w 84"/>
                <a:gd name="txB" fmla="*/ 83 h 83"/>
              </a:gdLst>
              <a:ahLst/>
              <a:cxnLst>
                <a:cxn ang="0">
                  <a:pos x="998" y="233"/>
                </a:cxn>
                <a:cxn ang="0">
                  <a:pos x="0" y="233"/>
                </a:cxn>
                <a:cxn ang="0">
                  <a:pos x="0" y="308"/>
                </a:cxn>
                <a:cxn ang="0">
                  <a:pos x="998" y="308"/>
                </a:cxn>
                <a:cxn ang="0">
                  <a:pos x="998" y="544"/>
                </a:cxn>
                <a:cxn ang="0">
                  <a:pos x="1325" y="544"/>
                </a:cxn>
                <a:cxn ang="0">
                  <a:pos x="1325" y="308"/>
                </a:cxn>
                <a:cxn ang="0">
                  <a:pos x="2312" y="308"/>
                </a:cxn>
                <a:cxn ang="0">
                  <a:pos x="2312" y="233"/>
                </a:cxn>
                <a:cxn ang="0">
                  <a:pos x="1325" y="233"/>
                </a:cxn>
                <a:cxn ang="0">
                  <a:pos x="1325" y="0"/>
                </a:cxn>
                <a:cxn ang="0">
                  <a:pos x="998" y="0"/>
                </a:cxn>
                <a:cxn ang="0">
                  <a:pos x="998" y="233"/>
                </a:cxn>
              </a:cxnLst>
              <a:rect l="txL" t="txT" r="txR" b="txB"/>
              <a:pathLst>
                <a:path w="84" h="83">
                  <a:moveTo>
                    <a:pt x="36" y="35"/>
                  </a:moveTo>
                  <a:lnTo>
                    <a:pt x="0" y="35"/>
                  </a:lnTo>
                  <a:lnTo>
                    <a:pt x="0" y="47"/>
                  </a:lnTo>
                  <a:lnTo>
                    <a:pt x="36" y="47"/>
                  </a:lnTo>
                  <a:lnTo>
                    <a:pt x="36" y="83"/>
                  </a:lnTo>
                  <a:lnTo>
                    <a:pt x="48" y="83"/>
                  </a:lnTo>
                  <a:lnTo>
                    <a:pt x="48" y="47"/>
                  </a:lnTo>
                  <a:lnTo>
                    <a:pt x="84" y="47"/>
                  </a:lnTo>
                  <a:lnTo>
                    <a:pt x="84" y="35"/>
                  </a:lnTo>
                  <a:lnTo>
                    <a:pt x="48" y="35"/>
                  </a:lnTo>
                  <a:lnTo>
                    <a:pt x="48" y="0"/>
                  </a:lnTo>
                  <a:lnTo>
                    <a:pt x="36" y="0"/>
                  </a:lnTo>
                  <a:lnTo>
                    <a:pt x="36" y="3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38" name="Rectangle 47"/>
            <p:cNvSpPr>
              <a:spLocks noChangeAspect="1"/>
            </p:cNvSpPr>
            <p:nvPr/>
          </p:nvSpPr>
          <p:spPr>
            <a:xfrm>
              <a:off x="1334" y="1189"/>
              <a:ext cx="95" cy="13"/>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49239" name="Freeform 48"/>
            <p:cNvSpPr>
              <a:spLocks noChangeAspect="1"/>
            </p:cNvSpPr>
            <p:nvPr/>
          </p:nvSpPr>
          <p:spPr>
            <a:xfrm>
              <a:off x="1395" y="522"/>
              <a:ext cx="237" cy="1"/>
            </a:xfrm>
            <a:custGeom>
              <a:avLst/>
              <a:gdLst>
                <a:gd name="txL" fmla="*/ 0 w 209"/>
                <a:gd name="txT" fmla="*/ 0 h 1"/>
                <a:gd name="txR" fmla="*/ 209 w 209"/>
                <a:gd name="txB" fmla="*/ 1 h 1"/>
              </a:gdLst>
              <a:ahLst/>
              <a:cxnLst>
                <a:cxn ang="0">
                  <a:pos x="0" y="0"/>
                </a:cxn>
                <a:cxn ang="0">
                  <a:pos x="6247" y="0"/>
                </a:cxn>
                <a:cxn ang="0">
                  <a:pos x="0" y="0"/>
                </a:cxn>
                <a:cxn ang="0">
                  <a:pos x="0" y="0"/>
                </a:cxn>
              </a:cxnLst>
              <a:rect l="txL" t="txT" r="txR" b="txB"/>
              <a:pathLst>
                <a:path w="209" h="1">
                  <a:moveTo>
                    <a:pt x="0" y="0"/>
                  </a:moveTo>
                  <a:lnTo>
                    <a:pt x="209"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40" name="Freeform 49"/>
            <p:cNvSpPr>
              <a:spLocks noChangeAspect="1"/>
            </p:cNvSpPr>
            <p:nvPr/>
          </p:nvSpPr>
          <p:spPr>
            <a:xfrm>
              <a:off x="1612" y="490"/>
              <a:ext cx="142" cy="70"/>
            </a:xfrm>
            <a:custGeom>
              <a:avLst/>
              <a:gdLst>
                <a:gd name="txL" fmla="*/ 0 w 126"/>
                <a:gd name="txT" fmla="*/ 0 h 66"/>
                <a:gd name="txR" fmla="*/ 126 w 126"/>
                <a:gd name="txB" fmla="*/ 66 h 66"/>
              </a:gdLst>
              <a:ahLst/>
              <a:cxnLst>
                <a:cxn ang="0">
                  <a:pos x="0" y="323"/>
                </a:cxn>
                <a:cxn ang="0">
                  <a:pos x="3179" y="146"/>
                </a:cxn>
                <a:cxn ang="0">
                  <a:pos x="0" y="0"/>
                </a:cxn>
                <a:cxn ang="0">
                  <a:pos x="0" y="323"/>
                </a:cxn>
                <a:cxn ang="0">
                  <a:pos x="0" y="323"/>
                </a:cxn>
              </a:cxnLst>
              <a:rect l="txL" t="txT" r="txR" b="txB"/>
              <a:pathLst>
                <a:path w="126" h="66">
                  <a:moveTo>
                    <a:pt x="0" y="66"/>
                  </a:moveTo>
                  <a:lnTo>
                    <a:pt x="126" y="30"/>
                  </a:lnTo>
                  <a:lnTo>
                    <a:pt x="0" y="0"/>
                  </a:lnTo>
                  <a:lnTo>
                    <a:pt x="0" y="66"/>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41" name="Freeform 50"/>
            <p:cNvSpPr>
              <a:spLocks noChangeAspect="1" noEditPoints="1"/>
            </p:cNvSpPr>
            <p:nvPr/>
          </p:nvSpPr>
          <p:spPr>
            <a:xfrm>
              <a:off x="1551" y="312"/>
              <a:ext cx="41" cy="114"/>
            </a:xfrm>
            <a:custGeom>
              <a:avLst/>
              <a:gdLst>
                <a:gd name="txL" fmla="*/ 0 w 36"/>
                <a:gd name="txT" fmla="*/ 0 h 107"/>
                <a:gd name="txR" fmla="*/ 36 w 36"/>
                <a:gd name="txB" fmla="*/ 107 h 107"/>
              </a:gdLst>
              <a:ahLst/>
              <a:cxnLst>
                <a:cxn ang="0">
                  <a:pos x="993" y="495"/>
                </a:cxn>
                <a:cxn ang="0">
                  <a:pos x="790" y="561"/>
                </a:cxn>
                <a:cxn ang="0">
                  <a:pos x="413" y="561"/>
                </a:cxn>
                <a:cxn ang="0">
                  <a:pos x="413" y="561"/>
                </a:cxn>
                <a:cxn ang="0">
                  <a:pos x="413" y="527"/>
                </a:cxn>
                <a:cxn ang="0">
                  <a:pos x="413" y="495"/>
                </a:cxn>
                <a:cxn ang="0">
                  <a:pos x="993" y="196"/>
                </a:cxn>
                <a:cxn ang="0">
                  <a:pos x="993" y="196"/>
                </a:cxn>
                <a:cxn ang="0">
                  <a:pos x="609" y="196"/>
                </a:cxn>
                <a:cxn ang="0">
                  <a:pos x="0" y="196"/>
                </a:cxn>
                <a:cxn ang="0">
                  <a:pos x="0" y="237"/>
                </a:cxn>
                <a:cxn ang="0">
                  <a:pos x="413" y="237"/>
                </a:cxn>
                <a:cxn ang="0">
                  <a:pos x="413" y="270"/>
                </a:cxn>
                <a:cxn ang="0">
                  <a:pos x="413" y="307"/>
                </a:cxn>
                <a:cxn ang="0">
                  <a:pos x="203" y="396"/>
                </a:cxn>
                <a:cxn ang="0">
                  <a:pos x="0" y="495"/>
                </a:cxn>
                <a:cxn ang="0">
                  <a:pos x="0" y="561"/>
                </a:cxn>
                <a:cxn ang="0">
                  <a:pos x="0" y="589"/>
                </a:cxn>
                <a:cxn ang="0">
                  <a:pos x="203" y="589"/>
                </a:cxn>
                <a:cxn ang="0">
                  <a:pos x="609" y="561"/>
                </a:cxn>
                <a:cxn ang="0">
                  <a:pos x="993" y="495"/>
                </a:cxn>
                <a:cxn ang="0">
                  <a:pos x="993" y="495"/>
                </a:cxn>
                <a:cxn ang="0">
                  <a:pos x="1257" y="6"/>
                </a:cxn>
                <a:cxn ang="0">
                  <a:pos x="1257" y="6"/>
                </a:cxn>
                <a:cxn ang="0">
                  <a:pos x="993" y="0"/>
                </a:cxn>
                <a:cxn ang="0">
                  <a:pos x="790" y="0"/>
                </a:cxn>
                <a:cxn ang="0">
                  <a:pos x="609" y="6"/>
                </a:cxn>
                <a:cxn ang="0">
                  <a:pos x="790" y="66"/>
                </a:cxn>
                <a:cxn ang="0">
                  <a:pos x="993" y="97"/>
                </a:cxn>
                <a:cxn ang="0">
                  <a:pos x="1257" y="66"/>
                </a:cxn>
                <a:cxn ang="0">
                  <a:pos x="1257" y="6"/>
                </a:cxn>
                <a:cxn ang="0">
                  <a:pos x="1257" y="6"/>
                </a:cxn>
              </a:cxnLst>
              <a:rect l="txL" t="txT" r="txR" b="txB"/>
              <a:pathLst>
                <a:path w="36" h="107">
                  <a:moveTo>
                    <a:pt x="30" y="89"/>
                  </a:moveTo>
                  <a:lnTo>
                    <a:pt x="24" y="101"/>
                  </a:lnTo>
                  <a:lnTo>
                    <a:pt x="12" y="101"/>
                  </a:lnTo>
                  <a:lnTo>
                    <a:pt x="12" y="95"/>
                  </a:lnTo>
                  <a:lnTo>
                    <a:pt x="12" y="89"/>
                  </a:lnTo>
                  <a:lnTo>
                    <a:pt x="30" y="36"/>
                  </a:lnTo>
                  <a:lnTo>
                    <a:pt x="18" y="36"/>
                  </a:lnTo>
                  <a:lnTo>
                    <a:pt x="0" y="36"/>
                  </a:lnTo>
                  <a:lnTo>
                    <a:pt x="0" y="42"/>
                  </a:lnTo>
                  <a:lnTo>
                    <a:pt x="12" y="42"/>
                  </a:lnTo>
                  <a:lnTo>
                    <a:pt x="12" y="48"/>
                  </a:lnTo>
                  <a:lnTo>
                    <a:pt x="12" y="54"/>
                  </a:lnTo>
                  <a:lnTo>
                    <a:pt x="6" y="71"/>
                  </a:lnTo>
                  <a:lnTo>
                    <a:pt x="0" y="89"/>
                  </a:lnTo>
                  <a:lnTo>
                    <a:pt x="0" y="101"/>
                  </a:lnTo>
                  <a:lnTo>
                    <a:pt x="0" y="107"/>
                  </a:lnTo>
                  <a:lnTo>
                    <a:pt x="6" y="107"/>
                  </a:lnTo>
                  <a:lnTo>
                    <a:pt x="18" y="101"/>
                  </a:lnTo>
                  <a:lnTo>
                    <a:pt x="30" y="89"/>
                  </a:lnTo>
                  <a:close/>
                  <a:moveTo>
                    <a:pt x="36" y="6"/>
                  </a:moveTo>
                  <a:lnTo>
                    <a:pt x="36" y="6"/>
                  </a:lnTo>
                  <a:lnTo>
                    <a:pt x="30" y="0"/>
                  </a:lnTo>
                  <a:lnTo>
                    <a:pt x="24" y="0"/>
                  </a:lnTo>
                  <a:lnTo>
                    <a:pt x="18" y="6"/>
                  </a:lnTo>
                  <a:lnTo>
                    <a:pt x="24" y="12"/>
                  </a:lnTo>
                  <a:lnTo>
                    <a:pt x="30" y="18"/>
                  </a:lnTo>
                  <a:lnTo>
                    <a:pt x="36" y="12"/>
                  </a:lnTo>
                  <a:lnTo>
                    <a:pt x="36"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42" name="Freeform 51"/>
            <p:cNvSpPr>
              <a:spLocks noChangeAspect="1"/>
            </p:cNvSpPr>
            <p:nvPr/>
          </p:nvSpPr>
          <p:spPr>
            <a:xfrm>
              <a:off x="4014" y="858"/>
              <a:ext cx="96" cy="89"/>
            </a:xfrm>
            <a:custGeom>
              <a:avLst/>
              <a:gdLst>
                <a:gd name="txL" fmla="*/ 0 w 84"/>
                <a:gd name="txT" fmla="*/ 0 h 84"/>
                <a:gd name="txR" fmla="*/ 84 w 84"/>
                <a:gd name="txB" fmla="*/ 84 h 84"/>
              </a:gdLst>
              <a:ahLst/>
              <a:cxnLst>
                <a:cxn ang="0">
                  <a:pos x="1347" y="172"/>
                </a:cxn>
                <a:cxn ang="0">
                  <a:pos x="0" y="172"/>
                </a:cxn>
                <a:cxn ang="0">
                  <a:pos x="0" y="229"/>
                </a:cxn>
                <a:cxn ang="0">
                  <a:pos x="1347" y="229"/>
                </a:cxn>
                <a:cxn ang="0">
                  <a:pos x="1347" y="401"/>
                </a:cxn>
                <a:cxn ang="0">
                  <a:pos x="1765" y="401"/>
                </a:cxn>
                <a:cxn ang="0">
                  <a:pos x="1765" y="229"/>
                </a:cxn>
                <a:cxn ang="0">
                  <a:pos x="3121" y="229"/>
                </a:cxn>
                <a:cxn ang="0">
                  <a:pos x="3121" y="172"/>
                </a:cxn>
                <a:cxn ang="0">
                  <a:pos x="1765" y="172"/>
                </a:cxn>
                <a:cxn ang="0">
                  <a:pos x="1765" y="0"/>
                </a:cxn>
                <a:cxn ang="0">
                  <a:pos x="1347" y="0"/>
                </a:cxn>
                <a:cxn ang="0">
                  <a:pos x="1347" y="172"/>
                </a:cxn>
              </a:cxnLst>
              <a:rect l="txL" t="txT" r="txR" b="txB"/>
              <a:pathLst>
                <a:path w="84" h="84">
                  <a:moveTo>
                    <a:pt x="36" y="36"/>
                  </a:moveTo>
                  <a:lnTo>
                    <a:pt x="0" y="36"/>
                  </a:lnTo>
                  <a:lnTo>
                    <a:pt x="0" y="48"/>
                  </a:lnTo>
                  <a:lnTo>
                    <a:pt x="36" y="48"/>
                  </a:lnTo>
                  <a:lnTo>
                    <a:pt x="36" y="84"/>
                  </a:lnTo>
                  <a:lnTo>
                    <a:pt x="48" y="84"/>
                  </a:lnTo>
                  <a:lnTo>
                    <a:pt x="48" y="48"/>
                  </a:lnTo>
                  <a:lnTo>
                    <a:pt x="84" y="48"/>
                  </a:lnTo>
                  <a:lnTo>
                    <a:pt x="84" y="36"/>
                  </a:lnTo>
                  <a:lnTo>
                    <a:pt x="48" y="36"/>
                  </a:lnTo>
                  <a:lnTo>
                    <a:pt x="48" y="0"/>
                  </a:lnTo>
                  <a:lnTo>
                    <a:pt x="36" y="0"/>
                  </a:lnTo>
                  <a:lnTo>
                    <a:pt x="36"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43" name="Rectangle 52"/>
            <p:cNvSpPr>
              <a:spLocks noChangeAspect="1"/>
            </p:cNvSpPr>
            <p:nvPr/>
          </p:nvSpPr>
          <p:spPr>
            <a:xfrm>
              <a:off x="4483" y="896"/>
              <a:ext cx="101" cy="13"/>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49244" name="Freeform 53"/>
            <p:cNvSpPr>
              <a:spLocks noChangeAspect="1"/>
            </p:cNvSpPr>
            <p:nvPr/>
          </p:nvSpPr>
          <p:spPr>
            <a:xfrm>
              <a:off x="4258" y="522"/>
              <a:ext cx="55" cy="241"/>
            </a:xfrm>
            <a:custGeom>
              <a:avLst/>
              <a:gdLst>
                <a:gd name="txL" fmla="*/ 0 w 48"/>
                <a:gd name="txT" fmla="*/ 0 h 227"/>
                <a:gd name="txR" fmla="*/ 48 w 48"/>
                <a:gd name="txB" fmla="*/ 227 h 227"/>
              </a:gdLst>
              <a:ahLst/>
              <a:cxnLst>
                <a:cxn ang="0">
                  <a:pos x="1896" y="1151"/>
                </a:cxn>
                <a:cxn ang="0">
                  <a:pos x="0" y="1151"/>
                </a:cxn>
                <a:cxn ang="0">
                  <a:pos x="0" y="0"/>
                </a:cxn>
                <a:cxn ang="0">
                  <a:pos x="1896" y="0"/>
                </a:cxn>
                <a:cxn ang="0">
                  <a:pos x="1896" y="1151"/>
                </a:cxn>
                <a:cxn ang="0">
                  <a:pos x="1896" y="1151"/>
                </a:cxn>
              </a:cxnLst>
              <a:rect l="txL" t="txT" r="txR" b="txB"/>
              <a:pathLst>
                <a:path w="48" h="227">
                  <a:moveTo>
                    <a:pt x="48" y="227"/>
                  </a:moveTo>
                  <a:lnTo>
                    <a:pt x="0" y="227"/>
                  </a:lnTo>
                  <a:lnTo>
                    <a:pt x="0" y="0"/>
                  </a:lnTo>
                  <a:lnTo>
                    <a:pt x="48" y="0"/>
                  </a:lnTo>
                  <a:lnTo>
                    <a:pt x="48" y="22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9245" name="Freeform 54"/>
            <p:cNvSpPr>
              <a:spLocks noChangeAspect="1"/>
            </p:cNvSpPr>
            <p:nvPr/>
          </p:nvSpPr>
          <p:spPr>
            <a:xfrm>
              <a:off x="4258" y="522"/>
              <a:ext cx="1" cy="120"/>
            </a:xfrm>
            <a:custGeom>
              <a:avLst/>
              <a:gdLst>
                <a:gd name="txL" fmla="*/ 0 w 1"/>
                <a:gd name="txT" fmla="*/ 0 h 113"/>
                <a:gd name="txR" fmla="*/ 1 w 1"/>
                <a:gd name="txB" fmla="*/ 113 h 113"/>
              </a:gdLst>
              <a:ahLst/>
              <a:cxnLst>
                <a:cxn ang="0">
                  <a:pos x="0" y="569"/>
                </a:cxn>
                <a:cxn ang="0">
                  <a:pos x="0" y="0"/>
                </a:cxn>
                <a:cxn ang="0">
                  <a:pos x="0" y="569"/>
                </a:cxn>
                <a:cxn ang="0">
                  <a:pos x="0" y="569"/>
                </a:cxn>
              </a:cxnLst>
              <a:rect l="txL" t="txT" r="txR" b="txB"/>
              <a:pathLst>
                <a:path w="1"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46" name="Freeform 55"/>
            <p:cNvSpPr>
              <a:spLocks noChangeAspect="1"/>
            </p:cNvSpPr>
            <p:nvPr/>
          </p:nvSpPr>
          <p:spPr>
            <a:xfrm>
              <a:off x="4313" y="522"/>
              <a:ext cx="1" cy="120"/>
            </a:xfrm>
            <a:custGeom>
              <a:avLst/>
              <a:gdLst>
                <a:gd name="txL" fmla="*/ 0 w 1"/>
                <a:gd name="txT" fmla="*/ 0 h 113"/>
                <a:gd name="txR" fmla="*/ 1 w 1"/>
                <a:gd name="txB" fmla="*/ 113 h 113"/>
              </a:gdLst>
              <a:ahLst/>
              <a:cxnLst>
                <a:cxn ang="0">
                  <a:pos x="0" y="569"/>
                </a:cxn>
                <a:cxn ang="0">
                  <a:pos x="0" y="0"/>
                </a:cxn>
                <a:cxn ang="0">
                  <a:pos x="0" y="569"/>
                </a:cxn>
                <a:cxn ang="0">
                  <a:pos x="0" y="569"/>
                </a:cxn>
              </a:cxnLst>
              <a:rect l="txL" t="txT" r="txR" b="txB"/>
              <a:pathLst>
                <a:path w="1"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47" name="Freeform 56"/>
            <p:cNvSpPr>
              <a:spLocks noChangeAspect="1"/>
            </p:cNvSpPr>
            <p:nvPr/>
          </p:nvSpPr>
          <p:spPr>
            <a:xfrm>
              <a:off x="4258" y="642"/>
              <a:ext cx="1" cy="121"/>
            </a:xfrm>
            <a:custGeom>
              <a:avLst/>
              <a:gdLst>
                <a:gd name="txL" fmla="*/ 0 w 1"/>
                <a:gd name="txT" fmla="*/ 0 h 114"/>
                <a:gd name="txR" fmla="*/ 1 w 1"/>
                <a:gd name="txB" fmla="*/ 114 h 114"/>
              </a:gdLst>
              <a:ahLst/>
              <a:cxnLst>
                <a:cxn ang="0">
                  <a:pos x="0" y="0"/>
                </a:cxn>
                <a:cxn ang="0">
                  <a:pos x="0" y="566"/>
                </a:cxn>
                <a:cxn ang="0">
                  <a:pos x="0" y="0"/>
                </a:cxn>
                <a:cxn ang="0">
                  <a:pos x="0" y="0"/>
                </a:cxn>
              </a:cxnLst>
              <a:rect l="txL" t="txT" r="txR" b="txB"/>
              <a:pathLst>
                <a:path w="1"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48" name="Freeform 57"/>
            <p:cNvSpPr>
              <a:spLocks noChangeAspect="1"/>
            </p:cNvSpPr>
            <p:nvPr/>
          </p:nvSpPr>
          <p:spPr>
            <a:xfrm>
              <a:off x="4313" y="642"/>
              <a:ext cx="1" cy="121"/>
            </a:xfrm>
            <a:custGeom>
              <a:avLst/>
              <a:gdLst>
                <a:gd name="txL" fmla="*/ 0 w 1"/>
                <a:gd name="txT" fmla="*/ 0 h 114"/>
                <a:gd name="txR" fmla="*/ 1 w 1"/>
                <a:gd name="txB" fmla="*/ 114 h 114"/>
              </a:gdLst>
              <a:ahLst/>
              <a:cxnLst>
                <a:cxn ang="0">
                  <a:pos x="0" y="0"/>
                </a:cxn>
                <a:cxn ang="0">
                  <a:pos x="0" y="566"/>
                </a:cxn>
                <a:cxn ang="0">
                  <a:pos x="0" y="0"/>
                </a:cxn>
                <a:cxn ang="0">
                  <a:pos x="0" y="0"/>
                </a:cxn>
              </a:cxnLst>
              <a:rect l="txL" t="txT" r="txR" b="txB"/>
              <a:pathLst>
                <a:path w="1"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49" name="Freeform 58"/>
            <p:cNvSpPr>
              <a:spLocks noChangeAspect="1"/>
            </p:cNvSpPr>
            <p:nvPr/>
          </p:nvSpPr>
          <p:spPr>
            <a:xfrm>
              <a:off x="2426" y="858"/>
              <a:ext cx="95" cy="89"/>
            </a:xfrm>
            <a:custGeom>
              <a:avLst/>
              <a:gdLst>
                <a:gd name="txL" fmla="*/ 0 w 84"/>
                <a:gd name="txT" fmla="*/ 0 h 84"/>
                <a:gd name="txR" fmla="*/ 84 w 84"/>
                <a:gd name="txB" fmla="*/ 84 h 84"/>
              </a:gdLst>
              <a:ahLst/>
              <a:cxnLst>
                <a:cxn ang="0">
                  <a:pos x="998" y="172"/>
                </a:cxn>
                <a:cxn ang="0">
                  <a:pos x="0" y="172"/>
                </a:cxn>
                <a:cxn ang="0">
                  <a:pos x="0" y="229"/>
                </a:cxn>
                <a:cxn ang="0">
                  <a:pos x="998" y="229"/>
                </a:cxn>
                <a:cxn ang="0">
                  <a:pos x="998" y="401"/>
                </a:cxn>
                <a:cxn ang="0">
                  <a:pos x="1325" y="401"/>
                </a:cxn>
                <a:cxn ang="0">
                  <a:pos x="1325" y="229"/>
                </a:cxn>
                <a:cxn ang="0">
                  <a:pos x="2312" y="229"/>
                </a:cxn>
                <a:cxn ang="0">
                  <a:pos x="2312" y="172"/>
                </a:cxn>
                <a:cxn ang="0">
                  <a:pos x="1325" y="172"/>
                </a:cxn>
                <a:cxn ang="0">
                  <a:pos x="1325" y="0"/>
                </a:cxn>
                <a:cxn ang="0">
                  <a:pos x="998" y="0"/>
                </a:cxn>
                <a:cxn ang="0">
                  <a:pos x="998" y="172"/>
                </a:cxn>
              </a:cxnLst>
              <a:rect l="txL" t="txT" r="txR" b="txB"/>
              <a:pathLst>
                <a:path w="84" h="84">
                  <a:moveTo>
                    <a:pt x="36" y="36"/>
                  </a:moveTo>
                  <a:lnTo>
                    <a:pt x="0" y="36"/>
                  </a:lnTo>
                  <a:lnTo>
                    <a:pt x="0" y="48"/>
                  </a:lnTo>
                  <a:lnTo>
                    <a:pt x="36" y="48"/>
                  </a:lnTo>
                  <a:lnTo>
                    <a:pt x="36" y="84"/>
                  </a:lnTo>
                  <a:lnTo>
                    <a:pt x="48" y="84"/>
                  </a:lnTo>
                  <a:lnTo>
                    <a:pt x="48" y="48"/>
                  </a:lnTo>
                  <a:lnTo>
                    <a:pt x="84" y="48"/>
                  </a:lnTo>
                  <a:lnTo>
                    <a:pt x="84" y="36"/>
                  </a:lnTo>
                  <a:lnTo>
                    <a:pt x="48" y="36"/>
                  </a:lnTo>
                  <a:lnTo>
                    <a:pt x="48" y="0"/>
                  </a:lnTo>
                  <a:lnTo>
                    <a:pt x="36" y="0"/>
                  </a:lnTo>
                  <a:lnTo>
                    <a:pt x="36"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50" name="Rectangle 59"/>
            <p:cNvSpPr>
              <a:spLocks noChangeAspect="1"/>
            </p:cNvSpPr>
            <p:nvPr/>
          </p:nvSpPr>
          <p:spPr>
            <a:xfrm>
              <a:off x="2854" y="896"/>
              <a:ext cx="102" cy="13"/>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49251" name="Freeform 60"/>
            <p:cNvSpPr>
              <a:spLocks noChangeAspect="1"/>
            </p:cNvSpPr>
            <p:nvPr/>
          </p:nvSpPr>
          <p:spPr>
            <a:xfrm>
              <a:off x="2658" y="522"/>
              <a:ext cx="53" cy="241"/>
            </a:xfrm>
            <a:custGeom>
              <a:avLst/>
              <a:gdLst>
                <a:gd name="txL" fmla="*/ 0 w 47"/>
                <a:gd name="txT" fmla="*/ 0 h 227"/>
                <a:gd name="txR" fmla="*/ 47 w 47"/>
                <a:gd name="txB" fmla="*/ 227 h 227"/>
              </a:gdLst>
              <a:ahLst/>
              <a:cxnLst>
                <a:cxn ang="0">
                  <a:pos x="1227" y="1151"/>
                </a:cxn>
                <a:cxn ang="0">
                  <a:pos x="0" y="1151"/>
                </a:cxn>
                <a:cxn ang="0">
                  <a:pos x="0" y="0"/>
                </a:cxn>
                <a:cxn ang="0">
                  <a:pos x="1227" y="0"/>
                </a:cxn>
                <a:cxn ang="0">
                  <a:pos x="1227" y="1151"/>
                </a:cxn>
                <a:cxn ang="0">
                  <a:pos x="1227" y="1151"/>
                </a:cxn>
              </a:cxnLst>
              <a:rect l="txL" t="txT" r="txR" b="txB"/>
              <a:pathLst>
                <a:path w="47" h="227">
                  <a:moveTo>
                    <a:pt x="47" y="227"/>
                  </a:moveTo>
                  <a:lnTo>
                    <a:pt x="0" y="227"/>
                  </a:lnTo>
                  <a:lnTo>
                    <a:pt x="0" y="0"/>
                  </a:lnTo>
                  <a:lnTo>
                    <a:pt x="47" y="0"/>
                  </a:lnTo>
                  <a:lnTo>
                    <a:pt x="47" y="22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9252" name="Freeform 61"/>
            <p:cNvSpPr>
              <a:spLocks noChangeAspect="1"/>
            </p:cNvSpPr>
            <p:nvPr/>
          </p:nvSpPr>
          <p:spPr>
            <a:xfrm>
              <a:off x="2658" y="522"/>
              <a:ext cx="1" cy="120"/>
            </a:xfrm>
            <a:custGeom>
              <a:avLst/>
              <a:gdLst>
                <a:gd name="txL" fmla="*/ 0 w 1"/>
                <a:gd name="txT" fmla="*/ 0 h 113"/>
                <a:gd name="txR" fmla="*/ 1 w 1"/>
                <a:gd name="txB" fmla="*/ 113 h 113"/>
              </a:gdLst>
              <a:ahLst/>
              <a:cxnLst>
                <a:cxn ang="0">
                  <a:pos x="0" y="569"/>
                </a:cxn>
                <a:cxn ang="0">
                  <a:pos x="0" y="0"/>
                </a:cxn>
                <a:cxn ang="0">
                  <a:pos x="0" y="569"/>
                </a:cxn>
                <a:cxn ang="0">
                  <a:pos x="0" y="569"/>
                </a:cxn>
              </a:cxnLst>
              <a:rect l="txL" t="txT" r="txR" b="txB"/>
              <a:pathLst>
                <a:path w="1"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53" name="Freeform 62"/>
            <p:cNvSpPr>
              <a:spLocks noChangeAspect="1"/>
            </p:cNvSpPr>
            <p:nvPr/>
          </p:nvSpPr>
          <p:spPr>
            <a:xfrm>
              <a:off x="2711" y="522"/>
              <a:ext cx="1" cy="120"/>
            </a:xfrm>
            <a:custGeom>
              <a:avLst/>
              <a:gdLst>
                <a:gd name="txL" fmla="*/ 0 w 1"/>
                <a:gd name="txT" fmla="*/ 0 h 113"/>
                <a:gd name="txR" fmla="*/ 1 w 1"/>
                <a:gd name="txB" fmla="*/ 113 h 113"/>
              </a:gdLst>
              <a:ahLst/>
              <a:cxnLst>
                <a:cxn ang="0">
                  <a:pos x="0" y="569"/>
                </a:cxn>
                <a:cxn ang="0">
                  <a:pos x="0" y="0"/>
                </a:cxn>
                <a:cxn ang="0">
                  <a:pos x="0" y="569"/>
                </a:cxn>
                <a:cxn ang="0">
                  <a:pos x="0" y="569"/>
                </a:cxn>
              </a:cxnLst>
              <a:rect l="txL" t="txT" r="txR" b="txB"/>
              <a:pathLst>
                <a:path w="1"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54" name="Freeform 63"/>
            <p:cNvSpPr>
              <a:spLocks noChangeAspect="1"/>
            </p:cNvSpPr>
            <p:nvPr/>
          </p:nvSpPr>
          <p:spPr>
            <a:xfrm>
              <a:off x="2658" y="642"/>
              <a:ext cx="1" cy="121"/>
            </a:xfrm>
            <a:custGeom>
              <a:avLst/>
              <a:gdLst>
                <a:gd name="txL" fmla="*/ 0 w 1"/>
                <a:gd name="txT" fmla="*/ 0 h 114"/>
                <a:gd name="txR" fmla="*/ 1 w 1"/>
                <a:gd name="txB" fmla="*/ 114 h 114"/>
              </a:gdLst>
              <a:ahLst/>
              <a:cxnLst>
                <a:cxn ang="0">
                  <a:pos x="0" y="0"/>
                </a:cxn>
                <a:cxn ang="0">
                  <a:pos x="0" y="566"/>
                </a:cxn>
                <a:cxn ang="0">
                  <a:pos x="0" y="0"/>
                </a:cxn>
                <a:cxn ang="0">
                  <a:pos x="0" y="0"/>
                </a:cxn>
              </a:cxnLst>
              <a:rect l="txL" t="txT" r="txR" b="txB"/>
              <a:pathLst>
                <a:path w="1"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55" name="Freeform 64"/>
            <p:cNvSpPr>
              <a:spLocks noChangeAspect="1"/>
            </p:cNvSpPr>
            <p:nvPr/>
          </p:nvSpPr>
          <p:spPr>
            <a:xfrm>
              <a:off x="2711" y="642"/>
              <a:ext cx="1" cy="121"/>
            </a:xfrm>
            <a:custGeom>
              <a:avLst/>
              <a:gdLst>
                <a:gd name="txL" fmla="*/ 0 w 1"/>
                <a:gd name="txT" fmla="*/ 0 h 114"/>
                <a:gd name="txR" fmla="*/ 1 w 1"/>
                <a:gd name="txB" fmla="*/ 114 h 114"/>
              </a:gdLst>
              <a:ahLst/>
              <a:cxnLst>
                <a:cxn ang="0">
                  <a:pos x="0" y="0"/>
                </a:cxn>
                <a:cxn ang="0">
                  <a:pos x="0" y="566"/>
                </a:cxn>
                <a:cxn ang="0">
                  <a:pos x="0" y="0"/>
                </a:cxn>
                <a:cxn ang="0">
                  <a:pos x="0" y="0"/>
                </a:cxn>
              </a:cxnLst>
              <a:rect l="txL" t="txT" r="txR" b="txB"/>
              <a:pathLst>
                <a:path w="1"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56" name="Freeform 65"/>
            <p:cNvSpPr>
              <a:spLocks noChangeAspect="1"/>
            </p:cNvSpPr>
            <p:nvPr/>
          </p:nvSpPr>
          <p:spPr>
            <a:xfrm>
              <a:off x="1714" y="858"/>
              <a:ext cx="95" cy="89"/>
            </a:xfrm>
            <a:custGeom>
              <a:avLst/>
              <a:gdLst>
                <a:gd name="txL" fmla="*/ 0 w 84"/>
                <a:gd name="txT" fmla="*/ 0 h 84"/>
                <a:gd name="txR" fmla="*/ 84 w 84"/>
                <a:gd name="txB" fmla="*/ 84 h 84"/>
              </a:gdLst>
              <a:ahLst/>
              <a:cxnLst>
                <a:cxn ang="0">
                  <a:pos x="998" y="172"/>
                </a:cxn>
                <a:cxn ang="0">
                  <a:pos x="0" y="172"/>
                </a:cxn>
                <a:cxn ang="0">
                  <a:pos x="0" y="229"/>
                </a:cxn>
                <a:cxn ang="0">
                  <a:pos x="998" y="229"/>
                </a:cxn>
                <a:cxn ang="0">
                  <a:pos x="998" y="401"/>
                </a:cxn>
                <a:cxn ang="0">
                  <a:pos x="1325" y="401"/>
                </a:cxn>
                <a:cxn ang="0">
                  <a:pos x="1325" y="229"/>
                </a:cxn>
                <a:cxn ang="0">
                  <a:pos x="2312" y="229"/>
                </a:cxn>
                <a:cxn ang="0">
                  <a:pos x="2312" y="172"/>
                </a:cxn>
                <a:cxn ang="0">
                  <a:pos x="1325" y="172"/>
                </a:cxn>
                <a:cxn ang="0">
                  <a:pos x="1325" y="0"/>
                </a:cxn>
                <a:cxn ang="0">
                  <a:pos x="998" y="0"/>
                </a:cxn>
                <a:cxn ang="0">
                  <a:pos x="998" y="172"/>
                </a:cxn>
              </a:cxnLst>
              <a:rect l="txL" t="txT" r="txR" b="txB"/>
              <a:pathLst>
                <a:path w="84" h="84">
                  <a:moveTo>
                    <a:pt x="36" y="36"/>
                  </a:moveTo>
                  <a:lnTo>
                    <a:pt x="0" y="36"/>
                  </a:lnTo>
                  <a:lnTo>
                    <a:pt x="0" y="48"/>
                  </a:lnTo>
                  <a:lnTo>
                    <a:pt x="36" y="48"/>
                  </a:lnTo>
                  <a:lnTo>
                    <a:pt x="36" y="84"/>
                  </a:lnTo>
                  <a:lnTo>
                    <a:pt x="48" y="84"/>
                  </a:lnTo>
                  <a:lnTo>
                    <a:pt x="48" y="48"/>
                  </a:lnTo>
                  <a:lnTo>
                    <a:pt x="84" y="48"/>
                  </a:lnTo>
                  <a:lnTo>
                    <a:pt x="84" y="36"/>
                  </a:lnTo>
                  <a:lnTo>
                    <a:pt x="48" y="36"/>
                  </a:lnTo>
                  <a:lnTo>
                    <a:pt x="48" y="0"/>
                  </a:lnTo>
                  <a:lnTo>
                    <a:pt x="36" y="0"/>
                  </a:lnTo>
                  <a:lnTo>
                    <a:pt x="36"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57" name="Rectangle 66"/>
            <p:cNvSpPr>
              <a:spLocks noChangeAspect="1"/>
            </p:cNvSpPr>
            <p:nvPr/>
          </p:nvSpPr>
          <p:spPr>
            <a:xfrm>
              <a:off x="2114" y="896"/>
              <a:ext cx="102" cy="13"/>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49258" name="Freeform 67"/>
            <p:cNvSpPr>
              <a:spLocks noChangeAspect="1"/>
            </p:cNvSpPr>
            <p:nvPr/>
          </p:nvSpPr>
          <p:spPr>
            <a:xfrm>
              <a:off x="1945" y="522"/>
              <a:ext cx="53" cy="241"/>
            </a:xfrm>
            <a:custGeom>
              <a:avLst/>
              <a:gdLst>
                <a:gd name="txL" fmla="*/ 0 w 47"/>
                <a:gd name="txT" fmla="*/ 0 h 227"/>
                <a:gd name="txR" fmla="*/ 47 w 47"/>
                <a:gd name="txB" fmla="*/ 227 h 227"/>
              </a:gdLst>
              <a:ahLst/>
              <a:cxnLst>
                <a:cxn ang="0">
                  <a:pos x="1227" y="1151"/>
                </a:cxn>
                <a:cxn ang="0">
                  <a:pos x="0" y="1151"/>
                </a:cxn>
                <a:cxn ang="0">
                  <a:pos x="0" y="0"/>
                </a:cxn>
                <a:cxn ang="0">
                  <a:pos x="1227" y="0"/>
                </a:cxn>
                <a:cxn ang="0">
                  <a:pos x="1227" y="1151"/>
                </a:cxn>
                <a:cxn ang="0">
                  <a:pos x="1227" y="1151"/>
                </a:cxn>
              </a:cxnLst>
              <a:rect l="txL" t="txT" r="txR" b="txB"/>
              <a:pathLst>
                <a:path w="47" h="227">
                  <a:moveTo>
                    <a:pt x="47" y="227"/>
                  </a:moveTo>
                  <a:lnTo>
                    <a:pt x="0" y="227"/>
                  </a:lnTo>
                  <a:lnTo>
                    <a:pt x="0" y="0"/>
                  </a:lnTo>
                  <a:lnTo>
                    <a:pt x="47" y="0"/>
                  </a:lnTo>
                  <a:lnTo>
                    <a:pt x="47" y="22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9259" name="Freeform 68"/>
            <p:cNvSpPr>
              <a:spLocks noChangeAspect="1"/>
            </p:cNvSpPr>
            <p:nvPr/>
          </p:nvSpPr>
          <p:spPr>
            <a:xfrm>
              <a:off x="1945" y="522"/>
              <a:ext cx="1" cy="120"/>
            </a:xfrm>
            <a:custGeom>
              <a:avLst/>
              <a:gdLst>
                <a:gd name="txL" fmla="*/ 0 w 1"/>
                <a:gd name="txT" fmla="*/ 0 h 113"/>
                <a:gd name="txR" fmla="*/ 1 w 1"/>
                <a:gd name="txB" fmla="*/ 113 h 113"/>
              </a:gdLst>
              <a:ahLst/>
              <a:cxnLst>
                <a:cxn ang="0">
                  <a:pos x="0" y="569"/>
                </a:cxn>
                <a:cxn ang="0">
                  <a:pos x="0" y="0"/>
                </a:cxn>
                <a:cxn ang="0">
                  <a:pos x="0" y="569"/>
                </a:cxn>
                <a:cxn ang="0">
                  <a:pos x="0" y="569"/>
                </a:cxn>
              </a:cxnLst>
              <a:rect l="txL" t="txT" r="txR" b="txB"/>
              <a:pathLst>
                <a:path w="1"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60" name="Freeform 69"/>
            <p:cNvSpPr>
              <a:spLocks noChangeAspect="1"/>
            </p:cNvSpPr>
            <p:nvPr/>
          </p:nvSpPr>
          <p:spPr>
            <a:xfrm>
              <a:off x="1998" y="522"/>
              <a:ext cx="2" cy="120"/>
            </a:xfrm>
            <a:custGeom>
              <a:avLst/>
              <a:gdLst>
                <a:gd name="txL" fmla="*/ 0 w 2"/>
                <a:gd name="txT" fmla="*/ 0 h 113"/>
                <a:gd name="txR" fmla="*/ 2 w 2"/>
                <a:gd name="txB" fmla="*/ 113 h 113"/>
              </a:gdLst>
              <a:ahLst/>
              <a:cxnLst>
                <a:cxn ang="0">
                  <a:pos x="0" y="569"/>
                </a:cxn>
                <a:cxn ang="0">
                  <a:pos x="0" y="0"/>
                </a:cxn>
                <a:cxn ang="0">
                  <a:pos x="0" y="569"/>
                </a:cxn>
                <a:cxn ang="0">
                  <a:pos x="0" y="569"/>
                </a:cxn>
              </a:cxnLst>
              <a:rect l="txL" t="txT" r="txR" b="txB"/>
              <a:pathLst>
                <a:path w="2"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61" name="Freeform 70"/>
            <p:cNvSpPr>
              <a:spLocks noChangeAspect="1"/>
            </p:cNvSpPr>
            <p:nvPr/>
          </p:nvSpPr>
          <p:spPr>
            <a:xfrm>
              <a:off x="1945" y="642"/>
              <a:ext cx="1" cy="121"/>
            </a:xfrm>
            <a:custGeom>
              <a:avLst/>
              <a:gdLst>
                <a:gd name="txL" fmla="*/ 0 w 1"/>
                <a:gd name="txT" fmla="*/ 0 h 114"/>
                <a:gd name="txR" fmla="*/ 1 w 1"/>
                <a:gd name="txB" fmla="*/ 114 h 114"/>
              </a:gdLst>
              <a:ahLst/>
              <a:cxnLst>
                <a:cxn ang="0">
                  <a:pos x="0" y="0"/>
                </a:cxn>
                <a:cxn ang="0">
                  <a:pos x="0" y="566"/>
                </a:cxn>
                <a:cxn ang="0">
                  <a:pos x="0" y="0"/>
                </a:cxn>
                <a:cxn ang="0">
                  <a:pos x="0" y="0"/>
                </a:cxn>
              </a:cxnLst>
              <a:rect l="txL" t="txT" r="txR" b="txB"/>
              <a:pathLst>
                <a:path w="1"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62" name="Freeform 71"/>
            <p:cNvSpPr>
              <a:spLocks noChangeAspect="1"/>
            </p:cNvSpPr>
            <p:nvPr/>
          </p:nvSpPr>
          <p:spPr>
            <a:xfrm>
              <a:off x="1998" y="642"/>
              <a:ext cx="2" cy="121"/>
            </a:xfrm>
            <a:custGeom>
              <a:avLst/>
              <a:gdLst>
                <a:gd name="txL" fmla="*/ 0 w 2"/>
                <a:gd name="txT" fmla="*/ 0 h 114"/>
                <a:gd name="txR" fmla="*/ 2 w 2"/>
                <a:gd name="txB" fmla="*/ 114 h 114"/>
              </a:gdLst>
              <a:ahLst/>
              <a:cxnLst>
                <a:cxn ang="0">
                  <a:pos x="0" y="0"/>
                </a:cxn>
                <a:cxn ang="0">
                  <a:pos x="0" y="566"/>
                </a:cxn>
                <a:cxn ang="0">
                  <a:pos x="0" y="0"/>
                </a:cxn>
                <a:cxn ang="0">
                  <a:pos x="0" y="0"/>
                </a:cxn>
              </a:cxnLst>
              <a:rect l="txL" t="txT" r="txR" b="txB"/>
              <a:pathLst>
                <a:path w="2"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63" name="Freeform 72"/>
            <p:cNvSpPr>
              <a:spLocks noChangeAspect="1"/>
            </p:cNvSpPr>
            <p:nvPr/>
          </p:nvSpPr>
          <p:spPr>
            <a:xfrm>
              <a:off x="3159" y="858"/>
              <a:ext cx="95" cy="89"/>
            </a:xfrm>
            <a:custGeom>
              <a:avLst/>
              <a:gdLst>
                <a:gd name="txL" fmla="*/ 0 w 84"/>
                <a:gd name="txT" fmla="*/ 0 h 84"/>
                <a:gd name="txR" fmla="*/ 84 w 84"/>
                <a:gd name="txB" fmla="*/ 84 h 84"/>
              </a:gdLst>
              <a:ahLst/>
              <a:cxnLst>
                <a:cxn ang="0">
                  <a:pos x="998" y="172"/>
                </a:cxn>
                <a:cxn ang="0">
                  <a:pos x="0" y="172"/>
                </a:cxn>
                <a:cxn ang="0">
                  <a:pos x="0" y="229"/>
                </a:cxn>
                <a:cxn ang="0">
                  <a:pos x="998" y="229"/>
                </a:cxn>
                <a:cxn ang="0">
                  <a:pos x="998" y="401"/>
                </a:cxn>
                <a:cxn ang="0">
                  <a:pos x="1325" y="401"/>
                </a:cxn>
                <a:cxn ang="0">
                  <a:pos x="1325" y="229"/>
                </a:cxn>
                <a:cxn ang="0">
                  <a:pos x="2312" y="229"/>
                </a:cxn>
                <a:cxn ang="0">
                  <a:pos x="2312" y="172"/>
                </a:cxn>
                <a:cxn ang="0">
                  <a:pos x="1325" y="172"/>
                </a:cxn>
                <a:cxn ang="0">
                  <a:pos x="1325" y="0"/>
                </a:cxn>
                <a:cxn ang="0">
                  <a:pos x="998" y="0"/>
                </a:cxn>
                <a:cxn ang="0">
                  <a:pos x="998" y="172"/>
                </a:cxn>
              </a:cxnLst>
              <a:rect l="txL" t="txT" r="txR" b="txB"/>
              <a:pathLst>
                <a:path w="84" h="84">
                  <a:moveTo>
                    <a:pt x="36" y="36"/>
                  </a:moveTo>
                  <a:lnTo>
                    <a:pt x="0" y="36"/>
                  </a:lnTo>
                  <a:lnTo>
                    <a:pt x="0" y="48"/>
                  </a:lnTo>
                  <a:lnTo>
                    <a:pt x="36" y="48"/>
                  </a:lnTo>
                  <a:lnTo>
                    <a:pt x="36" y="84"/>
                  </a:lnTo>
                  <a:lnTo>
                    <a:pt x="48" y="84"/>
                  </a:lnTo>
                  <a:lnTo>
                    <a:pt x="48" y="48"/>
                  </a:lnTo>
                  <a:lnTo>
                    <a:pt x="84" y="48"/>
                  </a:lnTo>
                  <a:lnTo>
                    <a:pt x="84" y="36"/>
                  </a:lnTo>
                  <a:lnTo>
                    <a:pt x="48" y="36"/>
                  </a:lnTo>
                  <a:lnTo>
                    <a:pt x="48" y="0"/>
                  </a:lnTo>
                  <a:lnTo>
                    <a:pt x="36" y="0"/>
                  </a:lnTo>
                  <a:lnTo>
                    <a:pt x="36"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264" name="Rectangle 73"/>
            <p:cNvSpPr>
              <a:spLocks noChangeAspect="1"/>
            </p:cNvSpPr>
            <p:nvPr/>
          </p:nvSpPr>
          <p:spPr>
            <a:xfrm>
              <a:off x="3580" y="896"/>
              <a:ext cx="102" cy="13"/>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49265" name="Freeform 74"/>
            <p:cNvSpPr>
              <a:spLocks noChangeAspect="1"/>
            </p:cNvSpPr>
            <p:nvPr/>
          </p:nvSpPr>
          <p:spPr>
            <a:xfrm>
              <a:off x="3377" y="522"/>
              <a:ext cx="61" cy="241"/>
            </a:xfrm>
            <a:custGeom>
              <a:avLst/>
              <a:gdLst>
                <a:gd name="txL" fmla="*/ 0 w 54"/>
                <a:gd name="txT" fmla="*/ 0 h 227"/>
                <a:gd name="txR" fmla="*/ 54 w 54"/>
                <a:gd name="txB" fmla="*/ 227 h 227"/>
              </a:gdLst>
              <a:ahLst/>
              <a:cxnLst>
                <a:cxn ang="0">
                  <a:pos x="1456" y="1151"/>
                </a:cxn>
                <a:cxn ang="0">
                  <a:pos x="0" y="1151"/>
                </a:cxn>
                <a:cxn ang="0">
                  <a:pos x="0" y="0"/>
                </a:cxn>
                <a:cxn ang="0">
                  <a:pos x="1456" y="0"/>
                </a:cxn>
                <a:cxn ang="0">
                  <a:pos x="1456" y="1151"/>
                </a:cxn>
                <a:cxn ang="0">
                  <a:pos x="1456" y="1151"/>
                </a:cxn>
              </a:cxnLst>
              <a:rect l="txL" t="txT" r="txR" b="txB"/>
              <a:pathLst>
                <a:path w="54" h="227">
                  <a:moveTo>
                    <a:pt x="54" y="227"/>
                  </a:moveTo>
                  <a:lnTo>
                    <a:pt x="0" y="227"/>
                  </a:lnTo>
                  <a:lnTo>
                    <a:pt x="0" y="0"/>
                  </a:lnTo>
                  <a:lnTo>
                    <a:pt x="54" y="0"/>
                  </a:lnTo>
                  <a:lnTo>
                    <a:pt x="54" y="227"/>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9266" name="Freeform 75"/>
            <p:cNvSpPr>
              <a:spLocks noChangeAspect="1"/>
            </p:cNvSpPr>
            <p:nvPr/>
          </p:nvSpPr>
          <p:spPr>
            <a:xfrm>
              <a:off x="3377" y="522"/>
              <a:ext cx="1" cy="120"/>
            </a:xfrm>
            <a:custGeom>
              <a:avLst/>
              <a:gdLst>
                <a:gd name="txL" fmla="*/ 0 w 1"/>
                <a:gd name="txT" fmla="*/ 0 h 113"/>
                <a:gd name="txR" fmla="*/ 1 w 1"/>
                <a:gd name="txB" fmla="*/ 113 h 113"/>
              </a:gdLst>
              <a:ahLst/>
              <a:cxnLst>
                <a:cxn ang="0">
                  <a:pos x="0" y="569"/>
                </a:cxn>
                <a:cxn ang="0">
                  <a:pos x="0" y="0"/>
                </a:cxn>
                <a:cxn ang="0">
                  <a:pos x="0" y="569"/>
                </a:cxn>
                <a:cxn ang="0">
                  <a:pos x="0" y="569"/>
                </a:cxn>
              </a:cxnLst>
              <a:rect l="txL" t="txT" r="txR" b="txB"/>
              <a:pathLst>
                <a:path w="1"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67" name="Freeform 76"/>
            <p:cNvSpPr>
              <a:spLocks noChangeAspect="1"/>
            </p:cNvSpPr>
            <p:nvPr/>
          </p:nvSpPr>
          <p:spPr>
            <a:xfrm>
              <a:off x="3431" y="522"/>
              <a:ext cx="1" cy="120"/>
            </a:xfrm>
            <a:custGeom>
              <a:avLst/>
              <a:gdLst>
                <a:gd name="txL" fmla="*/ 0 w 1"/>
                <a:gd name="txT" fmla="*/ 0 h 113"/>
                <a:gd name="txR" fmla="*/ 1 w 1"/>
                <a:gd name="txB" fmla="*/ 113 h 113"/>
              </a:gdLst>
              <a:ahLst/>
              <a:cxnLst>
                <a:cxn ang="0">
                  <a:pos x="0" y="569"/>
                </a:cxn>
                <a:cxn ang="0">
                  <a:pos x="0" y="0"/>
                </a:cxn>
                <a:cxn ang="0">
                  <a:pos x="0" y="569"/>
                </a:cxn>
                <a:cxn ang="0">
                  <a:pos x="0" y="569"/>
                </a:cxn>
              </a:cxnLst>
              <a:rect l="txL" t="txT" r="txR" b="txB"/>
              <a:pathLst>
                <a:path w="1" h="113">
                  <a:moveTo>
                    <a:pt x="0" y="113"/>
                  </a:moveTo>
                  <a:lnTo>
                    <a:pt x="0" y="0"/>
                  </a:lnTo>
                  <a:lnTo>
                    <a:pt x="0" y="113"/>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68" name="Freeform 77"/>
            <p:cNvSpPr>
              <a:spLocks noChangeAspect="1"/>
            </p:cNvSpPr>
            <p:nvPr/>
          </p:nvSpPr>
          <p:spPr>
            <a:xfrm>
              <a:off x="3377" y="642"/>
              <a:ext cx="1" cy="121"/>
            </a:xfrm>
            <a:custGeom>
              <a:avLst/>
              <a:gdLst>
                <a:gd name="txL" fmla="*/ 0 w 1"/>
                <a:gd name="txT" fmla="*/ 0 h 114"/>
                <a:gd name="txR" fmla="*/ 1 w 1"/>
                <a:gd name="txB" fmla="*/ 114 h 114"/>
              </a:gdLst>
              <a:ahLst/>
              <a:cxnLst>
                <a:cxn ang="0">
                  <a:pos x="0" y="0"/>
                </a:cxn>
                <a:cxn ang="0">
                  <a:pos x="0" y="566"/>
                </a:cxn>
                <a:cxn ang="0">
                  <a:pos x="0" y="0"/>
                </a:cxn>
                <a:cxn ang="0">
                  <a:pos x="0" y="0"/>
                </a:cxn>
              </a:cxnLst>
              <a:rect l="txL" t="txT" r="txR" b="txB"/>
              <a:pathLst>
                <a:path w="1"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269" name="Freeform 78"/>
            <p:cNvSpPr>
              <a:spLocks noChangeAspect="1"/>
            </p:cNvSpPr>
            <p:nvPr/>
          </p:nvSpPr>
          <p:spPr>
            <a:xfrm>
              <a:off x="3431" y="642"/>
              <a:ext cx="1" cy="121"/>
            </a:xfrm>
            <a:custGeom>
              <a:avLst/>
              <a:gdLst>
                <a:gd name="txL" fmla="*/ 0 w 1"/>
                <a:gd name="txT" fmla="*/ 0 h 114"/>
                <a:gd name="txR" fmla="*/ 1 w 1"/>
                <a:gd name="txB" fmla="*/ 114 h 114"/>
              </a:gdLst>
              <a:ahLst/>
              <a:cxnLst>
                <a:cxn ang="0">
                  <a:pos x="0" y="0"/>
                </a:cxn>
                <a:cxn ang="0">
                  <a:pos x="0" y="566"/>
                </a:cxn>
                <a:cxn ang="0">
                  <a:pos x="0" y="0"/>
                </a:cxn>
                <a:cxn ang="0">
                  <a:pos x="0" y="0"/>
                </a:cxn>
              </a:cxnLst>
              <a:rect l="txL" t="txT" r="txR" b="txB"/>
              <a:pathLst>
                <a:path w="1" h="114">
                  <a:moveTo>
                    <a:pt x="0" y="0"/>
                  </a:moveTo>
                  <a:lnTo>
                    <a:pt x="0" y="114"/>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grpSp>
      <p:grpSp>
        <p:nvGrpSpPr>
          <p:cNvPr id="49155" name="Group 79"/>
          <p:cNvGrpSpPr>
            <a:grpSpLocks noChangeAspect="1"/>
          </p:cNvGrpSpPr>
          <p:nvPr/>
        </p:nvGrpSpPr>
        <p:grpSpPr>
          <a:xfrm>
            <a:off x="5756275" y="912813"/>
            <a:ext cx="2824163" cy="2378075"/>
            <a:chOff x="2107" y="2294"/>
            <a:chExt cx="2010" cy="1709"/>
          </a:xfrm>
        </p:grpSpPr>
        <p:sp>
          <p:nvSpPr>
            <p:cNvPr id="49163" name="Freeform 80"/>
            <p:cNvSpPr>
              <a:spLocks noChangeAspect="1"/>
            </p:cNvSpPr>
            <p:nvPr/>
          </p:nvSpPr>
          <p:spPr>
            <a:xfrm>
              <a:off x="3805" y="2611"/>
              <a:ext cx="1" cy="1017"/>
            </a:xfrm>
            <a:custGeom>
              <a:avLst/>
              <a:gdLst>
                <a:gd name="txL" fmla="*/ 0 w 1"/>
                <a:gd name="txT" fmla="*/ 0 h 956"/>
                <a:gd name="txR" fmla="*/ 1 w 1"/>
                <a:gd name="txB" fmla="*/ 956 h 956"/>
              </a:gdLst>
              <a:ahLst/>
              <a:cxnLst>
                <a:cxn ang="0">
                  <a:pos x="0" y="5071"/>
                </a:cxn>
                <a:cxn ang="0">
                  <a:pos x="0" y="0"/>
                </a:cxn>
                <a:cxn ang="0">
                  <a:pos x="0" y="5071"/>
                </a:cxn>
                <a:cxn ang="0">
                  <a:pos x="0" y="5071"/>
                </a:cxn>
              </a:cxnLst>
              <a:rect l="txL" t="txT" r="txR" b="txB"/>
              <a:pathLst>
                <a:path w="1" h="956">
                  <a:moveTo>
                    <a:pt x="0" y="956"/>
                  </a:moveTo>
                  <a:lnTo>
                    <a:pt x="0" y="0"/>
                  </a:lnTo>
                  <a:lnTo>
                    <a:pt x="0" y="95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4" name="Freeform 81"/>
            <p:cNvSpPr>
              <a:spLocks noChangeAspect="1" noEditPoints="1"/>
            </p:cNvSpPr>
            <p:nvPr/>
          </p:nvSpPr>
          <p:spPr>
            <a:xfrm>
              <a:off x="2372" y="2611"/>
              <a:ext cx="1433" cy="1"/>
            </a:xfrm>
            <a:custGeom>
              <a:avLst/>
              <a:gdLst>
                <a:gd name="txL" fmla="*/ 0 w 1263"/>
                <a:gd name="txT" fmla="*/ 0 h 1"/>
                <a:gd name="txR" fmla="*/ 1263 w 1263"/>
                <a:gd name="txB" fmla="*/ 1 h 1"/>
              </a:gdLst>
              <a:ahLst/>
              <a:cxnLst>
                <a:cxn ang="0">
                  <a:pos x="38217" y="0"/>
                </a:cxn>
                <a:cxn ang="0">
                  <a:pos x="0" y="0"/>
                </a:cxn>
                <a:cxn ang="0">
                  <a:pos x="38217" y="0"/>
                </a:cxn>
                <a:cxn ang="0">
                  <a:pos x="38217" y="0"/>
                </a:cxn>
                <a:cxn ang="0">
                  <a:pos x="38217" y="0"/>
                </a:cxn>
                <a:cxn ang="0">
                  <a:pos x="38217" y="0"/>
                </a:cxn>
                <a:cxn ang="0">
                  <a:pos x="38217" y="0"/>
                </a:cxn>
              </a:cxnLst>
              <a:rect l="txL" t="txT" r="txR" b="txB"/>
              <a:pathLst>
                <a:path w="1263" h="1">
                  <a:moveTo>
                    <a:pt x="1263" y="0"/>
                  </a:moveTo>
                  <a:lnTo>
                    <a:pt x="0" y="0"/>
                  </a:lnTo>
                  <a:lnTo>
                    <a:pt x="1263" y="0"/>
                  </a:lnTo>
                  <a:close/>
                  <a:moveTo>
                    <a:pt x="1263" y="0"/>
                  </a:moveTo>
                  <a:lnTo>
                    <a:pt x="126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5" name="Freeform 82"/>
            <p:cNvSpPr>
              <a:spLocks noChangeAspect="1" noEditPoints="1"/>
            </p:cNvSpPr>
            <p:nvPr/>
          </p:nvSpPr>
          <p:spPr>
            <a:xfrm>
              <a:off x="2372" y="2611"/>
              <a:ext cx="1" cy="1017"/>
            </a:xfrm>
            <a:custGeom>
              <a:avLst/>
              <a:gdLst>
                <a:gd name="txL" fmla="*/ 0 w 1"/>
                <a:gd name="txT" fmla="*/ 0 h 956"/>
                <a:gd name="txR" fmla="*/ 1 w 1"/>
                <a:gd name="txB" fmla="*/ 956 h 956"/>
              </a:gdLst>
              <a:ahLst/>
              <a:cxnLst>
                <a:cxn ang="0">
                  <a:pos x="0" y="0"/>
                </a:cxn>
                <a:cxn ang="0">
                  <a:pos x="0" y="5071"/>
                </a:cxn>
                <a:cxn ang="0">
                  <a:pos x="0" y="0"/>
                </a:cxn>
                <a:cxn ang="0">
                  <a:pos x="0" y="0"/>
                </a:cxn>
                <a:cxn ang="0">
                  <a:pos x="0" y="0"/>
                </a:cxn>
                <a:cxn ang="0">
                  <a:pos x="0" y="0"/>
                </a:cxn>
                <a:cxn ang="0">
                  <a:pos x="0" y="0"/>
                </a:cxn>
              </a:cxnLst>
              <a:rect l="txL" t="txT" r="txR" b="txB"/>
              <a:pathLst>
                <a:path w="1" h="956">
                  <a:moveTo>
                    <a:pt x="0" y="0"/>
                  </a:moveTo>
                  <a:lnTo>
                    <a:pt x="0" y="95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6" name="Freeform 83"/>
            <p:cNvSpPr>
              <a:spLocks noChangeAspect="1" noEditPoints="1"/>
            </p:cNvSpPr>
            <p:nvPr/>
          </p:nvSpPr>
          <p:spPr>
            <a:xfrm>
              <a:off x="2372" y="3628"/>
              <a:ext cx="1433" cy="2"/>
            </a:xfrm>
            <a:custGeom>
              <a:avLst/>
              <a:gdLst>
                <a:gd name="txL" fmla="*/ 0 w 1263"/>
                <a:gd name="txT" fmla="*/ 0 h 2"/>
                <a:gd name="txR" fmla="*/ 1263 w 1263"/>
                <a:gd name="txB" fmla="*/ 2 h 2"/>
              </a:gdLst>
              <a:ahLst/>
              <a:cxnLst>
                <a:cxn ang="0">
                  <a:pos x="0" y="0"/>
                </a:cxn>
                <a:cxn ang="0">
                  <a:pos x="38217" y="0"/>
                </a:cxn>
                <a:cxn ang="0">
                  <a:pos x="0" y="0"/>
                </a:cxn>
                <a:cxn ang="0">
                  <a:pos x="0" y="0"/>
                </a:cxn>
                <a:cxn ang="0">
                  <a:pos x="0" y="0"/>
                </a:cxn>
                <a:cxn ang="0">
                  <a:pos x="0" y="0"/>
                </a:cxn>
                <a:cxn ang="0">
                  <a:pos x="0" y="0"/>
                </a:cxn>
              </a:cxnLst>
              <a:rect l="txL" t="txT" r="txR" b="txB"/>
              <a:pathLst>
                <a:path w="1263" h="2">
                  <a:moveTo>
                    <a:pt x="0" y="0"/>
                  </a:moveTo>
                  <a:lnTo>
                    <a:pt x="1263" y="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7" name="Freeform 84"/>
            <p:cNvSpPr>
              <a:spLocks noChangeAspect="1"/>
            </p:cNvSpPr>
            <p:nvPr/>
          </p:nvSpPr>
          <p:spPr>
            <a:xfrm>
              <a:off x="3805" y="3628"/>
              <a:ext cx="1" cy="2"/>
            </a:xfrm>
            <a:custGeom>
              <a:avLst/>
              <a:gdLst>
                <a:gd name="txL" fmla="*/ 0 w 1"/>
                <a:gd name="txT" fmla="*/ 0 h 2"/>
                <a:gd name="txR" fmla="*/ 1 w 1"/>
                <a:gd name="txB" fmla="*/ 2 h 2"/>
              </a:gdLst>
              <a:ahLst/>
              <a:cxnLst>
                <a:cxn ang="0">
                  <a:pos x="0" y="0"/>
                </a:cxn>
                <a:cxn ang="0">
                  <a:pos x="0" y="0"/>
                </a:cxn>
                <a:cxn ang="0">
                  <a:pos x="0" y="0"/>
                </a:cxn>
              </a:cxnLst>
              <a:rect l="txL" t="txT" r="txR" b="txB"/>
              <a:pathLst>
                <a:path w="1" h="2">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8" name="Freeform 85"/>
            <p:cNvSpPr>
              <a:spLocks noChangeAspect="1"/>
            </p:cNvSpPr>
            <p:nvPr/>
          </p:nvSpPr>
          <p:spPr>
            <a:xfrm>
              <a:off x="2107" y="3005"/>
              <a:ext cx="75" cy="70"/>
            </a:xfrm>
            <a:custGeom>
              <a:avLst/>
              <a:gdLst>
                <a:gd name="txL" fmla="*/ 0 w 66"/>
                <a:gd name="txT" fmla="*/ 0 h 66"/>
                <a:gd name="txR" fmla="*/ 66 w 66"/>
                <a:gd name="txB" fmla="*/ 66 h 66"/>
              </a:gdLst>
              <a:ahLst/>
              <a:cxnLst>
                <a:cxn ang="0">
                  <a:pos x="0" y="6"/>
                </a:cxn>
                <a:cxn ang="0">
                  <a:pos x="390" y="6"/>
                </a:cxn>
                <a:cxn ang="0">
                  <a:pos x="572" y="83"/>
                </a:cxn>
                <a:cxn ang="0">
                  <a:pos x="572" y="208"/>
                </a:cxn>
                <a:cxn ang="0">
                  <a:pos x="572" y="323"/>
                </a:cxn>
                <a:cxn ang="0">
                  <a:pos x="572" y="323"/>
                </a:cxn>
                <a:cxn ang="0">
                  <a:pos x="747" y="323"/>
                </a:cxn>
                <a:cxn ang="0">
                  <a:pos x="955" y="323"/>
                </a:cxn>
                <a:cxn ang="0">
                  <a:pos x="1149" y="263"/>
                </a:cxn>
                <a:cxn ang="0">
                  <a:pos x="1360" y="234"/>
                </a:cxn>
                <a:cxn ang="0">
                  <a:pos x="1689" y="174"/>
                </a:cxn>
                <a:cxn ang="0">
                  <a:pos x="1916" y="83"/>
                </a:cxn>
                <a:cxn ang="0">
                  <a:pos x="2080" y="6"/>
                </a:cxn>
                <a:cxn ang="0">
                  <a:pos x="1916" y="0"/>
                </a:cxn>
                <a:cxn ang="0">
                  <a:pos x="1689" y="0"/>
                </a:cxn>
                <a:cxn ang="0">
                  <a:pos x="1689" y="0"/>
                </a:cxn>
                <a:cxn ang="0">
                  <a:pos x="1545" y="0"/>
                </a:cxn>
                <a:cxn ang="0">
                  <a:pos x="1545" y="6"/>
                </a:cxn>
                <a:cxn ang="0">
                  <a:pos x="1689" y="6"/>
                </a:cxn>
                <a:cxn ang="0">
                  <a:pos x="1916" y="58"/>
                </a:cxn>
                <a:cxn ang="0">
                  <a:pos x="1689" y="146"/>
                </a:cxn>
                <a:cxn ang="0">
                  <a:pos x="1149" y="234"/>
                </a:cxn>
                <a:cxn ang="0">
                  <a:pos x="955" y="263"/>
                </a:cxn>
                <a:cxn ang="0">
                  <a:pos x="955" y="146"/>
                </a:cxn>
                <a:cxn ang="0">
                  <a:pos x="747" y="0"/>
                </a:cxn>
                <a:cxn ang="0">
                  <a:pos x="747" y="0"/>
                </a:cxn>
                <a:cxn ang="0">
                  <a:pos x="572" y="0"/>
                </a:cxn>
                <a:cxn ang="0">
                  <a:pos x="390" y="0"/>
                </a:cxn>
                <a:cxn ang="0">
                  <a:pos x="0" y="0"/>
                </a:cxn>
                <a:cxn ang="0">
                  <a:pos x="0" y="6"/>
                </a:cxn>
              </a:cxnLst>
              <a:rect l="txL" t="txT" r="txR" b="txB"/>
              <a:pathLst>
                <a:path w="66" h="66">
                  <a:moveTo>
                    <a:pt x="0" y="6"/>
                  </a:moveTo>
                  <a:lnTo>
                    <a:pt x="12" y="6"/>
                  </a:lnTo>
                  <a:lnTo>
                    <a:pt x="18" y="18"/>
                  </a:lnTo>
                  <a:lnTo>
                    <a:pt x="18" y="42"/>
                  </a:lnTo>
                  <a:lnTo>
                    <a:pt x="18" y="66"/>
                  </a:lnTo>
                  <a:lnTo>
                    <a:pt x="24" y="66"/>
                  </a:lnTo>
                  <a:lnTo>
                    <a:pt x="30" y="66"/>
                  </a:lnTo>
                  <a:lnTo>
                    <a:pt x="36" y="54"/>
                  </a:lnTo>
                  <a:lnTo>
                    <a:pt x="42" y="48"/>
                  </a:lnTo>
                  <a:lnTo>
                    <a:pt x="54" y="36"/>
                  </a:lnTo>
                  <a:lnTo>
                    <a:pt x="60" y="18"/>
                  </a:lnTo>
                  <a:lnTo>
                    <a:pt x="66" y="6"/>
                  </a:lnTo>
                  <a:lnTo>
                    <a:pt x="60" y="0"/>
                  </a:lnTo>
                  <a:lnTo>
                    <a:pt x="54" y="0"/>
                  </a:lnTo>
                  <a:lnTo>
                    <a:pt x="48" y="0"/>
                  </a:lnTo>
                  <a:lnTo>
                    <a:pt x="48" y="6"/>
                  </a:lnTo>
                  <a:lnTo>
                    <a:pt x="54" y="6"/>
                  </a:lnTo>
                  <a:lnTo>
                    <a:pt x="60" y="12"/>
                  </a:lnTo>
                  <a:lnTo>
                    <a:pt x="54" y="30"/>
                  </a:lnTo>
                  <a:lnTo>
                    <a:pt x="36" y="48"/>
                  </a:lnTo>
                  <a:lnTo>
                    <a:pt x="30" y="54"/>
                  </a:lnTo>
                  <a:lnTo>
                    <a:pt x="30" y="30"/>
                  </a:lnTo>
                  <a:lnTo>
                    <a:pt x="24" y="0"/>
                  </a:lnTo>
                  <a:lnTo>
                    <a:pt x="18" y="0"/>
                  </a:lnTo>
                  <a:lnTo>
                    <a:pt x="12" y="0"/>
                  </a:lnTo>
                  <a:lnTo>
                    <a:pt x="0"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9" name="Freeform 86"/>
            <p:cNvSpPr>
              <a:spLocks noChangeAspect="1"/>
            </p:cNvSpPr>
            <p:nvPr/>
          </p:nvSpPr>
          <p:spPr>
            <a:xfrm>
              <a:off x="2949" y="3851"/>
              <a:ext cx="55" cy="152"/>
            </a:xfrm>
            <a:custGeom>
              <a:avLst/>
              <a:gdLst>
                <a:gd name="txL" fmla="*/ 0 w 48"/>
                <a:gd name="txT" fmla="*/ 0 h 143"/>
                <a:gd name="txR" fmla="*/ 48 w 48"/>
                <a:gd name="txB" fmla="*/ 143 h 143"/>
              </a:gdLst>
              <a:ahLst/>
              <a:cxnLst>
                <a:cxn ang="0">
                  <a:pos x="1655" y="0"/>
                </a:cxn>
                <a:cxn ang="0">
                  <a:pos x="960" y="62"/>
                </a:cxn>
                <a:cxn ang="0">
                  <a:pos x="486" y="155"/>
                </a:cxn>
                <a:cxn ang="0">
                  <a:pos x="219" y="251"/>
                </a:cxn>
                <a:cxn ang="0">
                  <a:pos x="0" y="341"/>
                </a:cxn>
                <a:cxn ang="0">
                  <a:pos x="219" y="494"/>
                </a:cxn>
                <a:cxn ang="0">
                  <a:pos x="731" y="590"/>
                </a:cxn>
                <a:cxn ang="0">
                  <a:pos x="1203" y="681"/>
                </a:cxn>
                <a:cxn ang="0">
                  <a:pos x="1655" y="750"/>
                </a:cxn>
                <a:cxn ang="0">
                  <a:pos x="1896" y="712"/>
                </a:cxn>
                <a:cxn ang="0">
                  <a:pos x="1203" y="622"/>
                </a:cxn>
                <a:cxn ang="0">
                  <a:pos x="960" y="525"/>
                </a:cxn>
                <a:cxn ang="0">
                  <a:pos x="731" y="435"/>
                </a:cxn>
                <a:cxn ang="0">
                  <a:pos x="731" y="341"/>
                </a:cxn>
                <a:cxn ang="0">
                  <a:pos x="960" y="222"/>
                </a:cxn>
                <a:cxn ang="0">
                  <a:pos x="1203" y="129"/>
                </a:cxn>
                <a:cxn ang="0">
                  <a:pos x="1896" y="0"/>
                </a:cxn>
                <a:cxn ang="0">
                  <a:pos x="1655" y="0"/>
                </a:cxn>
              </a:cxnLst>
              <a:rect l="txL" t="txT" r="txR" b="txB"/>
              <a:pathLst>
                <a:path w="48" h="143">
                  <a:moveTo>
                    <a:pt x="42" y="0"/>
                  </a:moveTo>
                  <a:lnTo>
                    <a:pt x="24" y="12"/>
                  </a:lnTo>
                  <a:lnTo>
                    <a:pt x="12" y="30"/>
                  </a:lnTo>
                  <a:lnTo>
                    <a:pt x="6" y="48"/>
                  </a:lnTo>
                  <a:lnTo>
                    <a:pt x="0" y="65"/>
                  </a:lnTo>
                  <a:lnTo>
                    <a:pt x="6" y="95"/>
                  </a:lnTo>
                  <a:lnTo>
                    <a:pt x="18" y="113"/>
                  </a:lnTo>
                  <a:lnTo>
                    <a:pt x="30" y="131"/>
                  </a:lnTo>
                  <a:lnTo>
                    <a:pt x="42" y="143"/>
                  </a:lnTo>
                  <a:lnTo>
                    <a:pt x="48" y="137"/>
                  </a:lnTo>
                  <a:lnTo>
                    <a:pt x="30" y="119"/>
                  </a:lnTo>
                  <a:lnTo>
                    <a:pt x="24" y="101"/>
                  </a:lnTo>
                  <a:lnTo>
                    <a:pt x="18" y="83"/>
                  </a:lnTo>
                  <a:lnTo>
                    <a:pt x="18" y="65"/>
                  </a:lnTo>
                  <a:lnTo>
                    <a:pt x="24" y="42"/>
                  </a:lnTo>
                  <a:lnTo>
                    <a:pt x="30" y="24"/>
                  </a:lnTo>
                  <a:lnTo>
                    <a:pt x="48" y="0"/>
                  </a:lnTo>
                  <a:lnTo>
                    <a:pt x="4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0" name="Freeform 87"/>
            <p:cNvSpPr>
              <a:spLocks noChangeAspect="1" noEditPoints="1"/>
            </p:cNvSpPr>
            <p:nvPr/>
          </p:nvSpPr>
          <p:spPr>
            <a:xfrm>
              <a:off x="3004" y="3851"/>
              <a:ext cx="94" cy="120"/>
            </a:xfrm>
            <a:custGeom>
              <a:avLst/>
              <a:gdLst>
                <a:gd name="txL" fmla="*/ 0 w 83"/>
                <a:gd name="txT" fmla="*/ 0 h 113"/>
                <a:gd name="txR" fmla="*/ 83 w 83"/>
                <a:gd name="txB" fmla="*/ 113 h 113"/>
              </a:gdLst>
              <a:ahLst/>
              <a:cxnLst>
                <a:cxn ang="0">
                  <a:pos x="896" y="304"/>
                </a:cxn>
                <a:cxn ang="0">
                  <a:pos x="1040" y="244"/>
                </a:cxn>
                <a:cxn ang="0">
                  <a:pos x="1207" y="244"/>
                </a:cxn>
                <a:cxn ang="0">
                  <a:pos x="1548" y="269"/>
                </a:cxn>
                <a:cxn ang="0">
                  <a:pos x="1752" y="304"/>
                </a:cxn>
                <a:cxn ang="0">
                  <a:pos x="1891" y="389"/>
                </a:cxn>
                <a:cxn ang="0">
                  <a:pos x="1891" y="477"/>
                </a:cxn>
                <a:cxn ang="0">
                  <a:pos x="1548" y="538"/>
                </a:cxn>
                <a:cxn ang="0">
                  <a:pos x="1207" y="538"/>
                </a:cxn>
                <a:cxn ang="0">
                  <a:pos x="1040" y="538"/>
                </a:cxn>
                <a:cxn ang="0">
                  <a:pos x="896" y="507"/>
                </a:cxn>
                <a:cxn ang="0">
                  <a:pos x="896" y="304"/>
                </a:cxn>
                <a:cxn ang="0">
                  <a:pos x="348" y="507"/>
                </a:cxn>
                <a:cxn ang="0">
                  <a:pos x="505" y="538"/>
                </a:cxn>
                <a:cxn ang="0">
                  <a:pos x="700" y="538"/>
                </a:cxn>
                <a:cxn ang="0">
                  <a:pos x="1207" y="569"/>
                </a:cxn>
                <a:cxn ang="0">
                  <a:pos x="1752" y="538"/>
                </a:cxn>
                <a:cxn ang="0">
                  <a:pos x="2059" y="507"/>
                </a:cxn>
                <a:cxn ang="0">
                  <a:pos x="2383" y="364"/>
                </a:cxn>
                <a:cxn ang="0">
                  <a:pos x="2247" y="244"/>
                </a:cxn>
                <a:cxn ang="0">
                  <a:pos x="1891" y="217"/>
                </a:cxn>
                <a:cxn ang="0">
                  <a:pos x="1548" y="181"/>
                </a:cxn>
                <a:cxn ang="0">
                  <a:pos x="1040" y="217"/>
                </a:cxn>
                <a:cxn ang="0">
                  <a:pos x="896" y="244"/>
                </a:cxn>
                <a:cxn ang="0">
                  <a:pos x="896" y="244"/>
                </a:cxn>
                <a:cxn ang="0">
                  <a:pos x="896" y="0"/>
                </a:cxn>
                <a:cxn ang="0">
                  <a:pos x="896" y="0"/>
                </a:cxn>
                <a:cxn ang="0">
                  <a:pos x="505" y="6"/>
                </a:cxn>
                <a:cxn ang="0">
                  <a:pos x="0" y="6"/>
                </a:cxn>
                <a:cxn ang="0">
                  <a:pos x="0" y="6"/>
                </a:cxn>
                <a:cxn ang="0">
                  <a:pos x="164" y="6"/>
                </a:cxn>
                <a:cxn ang="0">
                  <a:pos x="164" y="6"/>
                </a:cxn>
                <a:cxn ang="0">
                  <a:pos x="348" y="59"/>
                </a:cxn>
                <a:cxn ang="0">
                  <a:pos x="348" y="85"/>
                </a:cxn>
                <a:cxn ang="0">
                  <a:pos x="348" y="507"/>
                </a:cxn>
              </a:cxnLst>
              <a:rect l="txL" t="txT" r="txR" b="txB"/>
              <a:pathLst>
                <a:path w="83" h="113">
                  <a:moveTo>
                    <a:pt x="30" y="59"/>
                  </a:moveTo>
                  <a:lnTo>
                    <a:pt x="36" y="48"/>
                  </a:lnTo>
                  <a:lnTo>
                    <a:pt x="42" y="48"/>
                  </a:lnTo>
                  <a:lnTo>
                    <a:pt x="54" y="53"/>
                  </a:lnTo>
                  <a:lnTo>
                    <a:pt x="60" y="59"/>
                  </a:lnTo>
                  <a:lnTo>
                    <a:pt x="65" y="77"/>
                  </a:lnTo>
                  <a:lnTo>
                    <a:pt x="65" y="95"/>
                  </a:lnTo>
                  <a:lnTo>
                    <a:pt x="54" y="107"/>
                  </a:lnTo>
                  <a:lnTo>
                    <a:pt x="42" y="107"/>
                  </a:lnTo>
                  <a:lnTo>
                    <a:pt x="36" y="107"/>
                  </a:lnTo>
                  <a:lnTo>
                    <a:pt x="30" y="101"/>
                  </a:lnTo>
                  <a:lnTo>
                    <a:pt x="30" y="59"/>
                  </a:lnTo>
                  <a:close/>
                  <a:moveTo>
                    <a:pt x="12" y="101"/>
                  </a:moveTo>
                  <a:lnTo>
                    <a:pt x="18" y="107"/>
                  </a:lnTo>
                  <a:lnTo>
                    <a:pt x="24" y="107"/>
                  </a:lnTo>
                  <a:lnTo>
                    <a:pt x="42" y="113"/>
                  </a:lnTo>
                  <a:lnTo>
                    <a:pt x="60" y="107"/>
                  </a:lnTo>
                  <a:lnTo>
                    <a:pt x="71" y="101"/>
                  </a:lnTo>
                  <a:lnTo>
                    <a:pt x="83" y="71"/>
                  </a:lnTo>
                  <a:lnTo>
                    <a:pt x="77" y="48"/>
                  </a:lnTo>
                  <a:lnTo>
                    <a:pt x="65" y="42"/>
                  </a:lnTo>
                  <a:lnTo>
                    <a:pt x="54" y="36"/>
                  </a:lnTo>
                  <a:lnTo>
                    <a:pt x="36" y="42"/>
                  </a:lnTo>
                  <a:lnTo>
                    <a:pt x="30" y="48"/>
                  </a:lnTo>
                  <a:lnTo>
                    <a:pt x="30" y="0"/>
                  </a:lnTo>
                  <a:lnTo>
                    <a:pt x="18" y="6"/>
                  </a:lnTo>
                  <a:lnTo>
                    <a:pt x="0" y="6"/>
                  </a:lnTo>
                  <a:lnTo>
                    <a:pt x="6" y="6"/>
                  </a:lnTo>
                  <a:lnTo>
                    <a:pt x="12" y="12"/>
                  </a:lnTo>
                  <a:lnTo>
                    <a:pt x="12" y="18"/>
                  </a:lnTo>
                  <a:lnTo>
                    <a:pt x="12" y="10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1" name="Freeform 88"/>
            <p:cNvSpPr>
              <a:spLocks noChangeAspect="1"/>
            </p:cNvSpPr>
            <p:nvPr/>
          </p:nvSpPr>
          <p:spPr>
            <a:xfrm>
              <a:off x="3105" y="3851"/>
              <a:ext cx="47" cy="152"/>
            </a:xfrm>
            <a:custGeom>
              <a:avLst/>
              <a:gdLst>
                <a:gd name="txL" fmla="*/ 0 w 42"/>
                <a:gd name="txT" fmla="*/ 0 h 143"/>
                <a:gd name="txR" fmla="*/ 42 w 42"/>
                <a:gd name="txB" fmla="*/ 143 h 143"/>
              </a:gdLst>
              <a:ahLst/>
              <a:cxnLst>
                <a:cxn ang="0">
                  <a:pos x="0" y="750"/>
                </a:cxn>
                <a:cxn ang="0">
                  <a:pos x="368" y="681"/>
                </a:cxn>
                <a:cxn ang="0">
                  <a:pos x="643" y="590"/>
                </a:cxn>
                <a:cxn ang="0">
                  <a:pos x="873" y="366"/>
                </a:cxn>
                <a:cxn ang="0">
                  <a:pos x="737" y="222"/>
                </a:cxn>
                <a:cxn ang="0">
                  <a:pos x="643" y="129"/>
                </a:cxn>
                <a:cxn ang="0">
                  <a:pos x="368" y="62"/>
                </a:cxn>
                <a:cxn ang="0">
                  <a:pos x="132" y="0"/>
                </a:cxn>
                <a:cxn ang="0">
                  <a:pos x="0" y="0"/>
                </a:cxn>
                <a:cxn ang="0">
                  <a:pos x="368" y="89"/>
                </a:cxn>
                <a:cxn ang="0">
                  <a:pos x="514" y="186"/>
                </a:cxn>
                <a:cxn ang="0">
                  <a:pos x="643" y="275"/>
                </a:cxn>
                <a:cxn ang="0">
                  <a:pos x="643" y="366"/>
                </a:cxn>
                <a:cxn ang="0">
                  <a:pos x="643" y="525"/>
                </a:cxn>
                <a:cxn ang="0">
                  <a:pos x="368" y="622"/>
                </a:cxn>
                <a:cxn ang="0">
                  <a:pos x="261" y="681"/>
                </a:cxn>
                <a:cxn ang="0">
                  <a:pos x="0" y="712"/>
                </a:cxn>
                <a:cxn ang="0">
                  <a:pos x="0" y="750"/>
                </a:cxn>
              </a:cxnLst>
              <a:rect l="txL" t="txT" r="txR" b="txB"/>
              <a:pathLst>
                <a:path w="42" h="143">
                  <a:moveTo>
                    <a:pt x="0" y="143"/>
                  </a:moveTo>
                  <a:lnTo>
                    <a:pt x="18" y="131"/>
                  </a:lnTo>
                  <a:lnTo>
                    <a:pt x="30" y="113"/>
                  </a:lnTo>
                  <a:lnTo>
                    <a:pt x="42" y="71"/>
                  </a:lnTo>
                  <a:lnTo>
                    <a:pt x="36" y="42"/>
                  </a:lnTo>
                  <a:lnTo>
                    <a:pt x="30" y="24"/>
                  </a:lnTo>
                  <a:lnTo>
                    <a:pt x="18" y="12"/>
                  </a:lnTo>
                  <a:lnTo>
                    <a:pt x="6" y="0"/>
                  </a:lnTo>
                  <a:lnTo>
                    <a:pt x="0" y="0"/>
                  </a:lnTo>
                  <a:lnTo>
                    <a:pt x="18" y="18"/>
                  </a:lnTo>
                  <a:lnTo>
                    <a:pt x="24" y="36"/>
                  </a:lnTo>
                  <a:lnTo>
                    <a:pt x="30" y="53"/>
                  </a:lnTo>
                  <a:lnTo>
                    <a:pt x="30" y="71"/>
                  </a:lnTo>
                  <a:lnTo>
                    <a:pt x="30" y="101"/>
                  </a:lnTo>
                  <a:lnTo>
                    <a:pt x="18" y="119"/>
                  </a:lnTo>
                  <a:lnTo>
                    <a:pt x="12" y="131"/>
                  </a:lnTo>
                  <a:lnTo>
                    <a:pt x="0" y="137"/>
                  </a:lnTo>
                  <a:lnTo>
                    <a:pt x="0" y="14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2" name="Freeform 89"/>
            <p:cNvSpPr>
              <a:spLocks noChangeAspect="1"/>
            </p:cNvSpPr>
            <p:nvPr/>
          </p:nvSpPr>
          <p:spPr>
            <a:xfrm>
              <a:off x="3343" y="3043"/>
              <a:ext cx="114" cy="122"/>
            </a:xfrm>
            <a:custGeom>
              <a:avLst/>
              <a:gdLst>
                <a:gd name="txL" fmla="*/ 0 w 101"/>
                <a:gd name="txT" fmla="*/ 0 h 114"/>
                <a:gd name="txR" fmla="*/ 101 w 101"/>
                <a:gd name="txB" fmla="*/ 114 h 114"/>
              </a:gdLst>
              <a:ahLst/>
              <a:cxnLst>
                <a:cxn ang="0">
                  <a:pos x="2516" y="186"/>
                </a:cxn>
                <a:cxn ang="0">
                  <a:pos x="2672" y="0"/>
                </a:cxn>
                <a:cxn ang="0">
                  <a:pos x="2672" y="0"/>
                </a:cxn>
                <a:cxn ang="0">
                  <a:pos x="2516" y="0"/>
                </a:cxn>
                <a:cxn ang="0">
                  <a:pos x="2516" y="0"/>
                </a:cxn>
                <a:cxn ang="0">
                  <a:pos x="2229" y="0"/>
                </a:cxn>
                <a:cxn ang="0">
                  <a:pos x="1750" y="0"/>
                </a:cxn>
                <a:cxn ang="0">
                  <a:pos x="1096" y="6"/>
                </a:cxn>
                <a:cxn ang="0">
                  <a:pos x="470" y="152"/>
                </a:cxn>
                <a:cxn ang="0">
                  <a:pos x="159" y="261"/>
                </a:cxn>
                <a:cxn ang="0">
                  <a:pos x="0" y="418"/>
                </a:cxn>
                <a:cxn ang="0">
                  <a:pos x="159" y="558"/>
                </a:cxn>
                <a:cxn ang="0">
                  <a:pos x="327" y="636"/>
                </a:cxn>
                <a:cxn ang="0">
                  <a:pos x="784" y="714"/>
                </a:cxn>
                <a:cxn ang="0">
                  <a:pos x="1096" y="714"/>
                </a:cxn>
                <a:cxn ang="0">
                  <a:pos x="1576" y="714"/>
                </a:cxn>
                <a:cxn ang="0">
                  <a:pos x="1875" y="636"/>
                </a:cxn>
                <a:cxn ang="0">
                  <a:pos x="2333" y="558"/>
                </a:cxn>
                <a:cxn ang="0">
                  <a:pos x="2229" y="521"/>
                </a:cxn>
                <a:cxn ang="0">
                  <a:pos x="1875" y="597"/>
                </a:cxn>
                <a:cxn ang="0">
                  <a:pos x="1253" y="636"/>
                </a:cxn>
                <a:cxn ang="0">
                  <a:pos x="966" y="636"/>
                </a:cxn>
                <a:cxn ang="0">
                  <a:pos x="616" y="597"/>
                </a:cxn>
                <a:cxn ang="0">
                  <a:pos x="470" y="418"/>
                </a:cxn>
                <a:cxn ang="0">
                  <a:pos x="616" y="299"/>
                </a:cxn>
                <a:cxn ang="0">
                  <a:pos x="784" y="186"/>
                </a:cxn>
                <a:cxn ang="0">
                  <a:pos x="1253" y="72"/>
                </a:cxn>
                <a:cxn ang="0">
                  <a:pos x="1750" y="6"/>
                </a:cxn>
                <a:cxn ang="0">
                  <a:pos x="2229" y="72"/>
                </a:cxn>
                <a:cxn ang="0">
                  <a:pos x="2333" y="108"/>
                </a:cxn>
                <a:cxn ang="0">
                  <a:pos x="2516" y="186"/>
                </a:cxn>
                <a:cxn ang="0">
                  <a:pos x="2516" y="186"/>
                </a:cxn>
              </a:cxnLst>
              <a:rect l="txL" t="txT" r="txR" b="txB"/>
              <a:pathLst>
                <a:path w="101" h="114">
                  <a:moveTo>
                    <a:pt x="95" y="30"/>
                  </a:moveTo>
                  <a:lnTo>
                    <a:pt x="101" y="0"/>
                  </a:lnTo>
                  <a:lnTo>
                    <a:pt x="95" y="0"/>
                  </a:lnTo>
                  <a:lnTo>
                    <a:pt x="84" y="0"/>
                  </a:lnTo>
                  <a:lnTo>
                    <a:pt x="66" y="0"/>
                  </a:lnTo>
                  <a:lnTo>
                    <a:pt x="42" y="6"/>
                  </a:lnTo>
                  <a:lnTo>
                    <a:pt x="18" y="24"/>
                  </a:lnTo>
                  <a:lnTo>
                    <a:pt x="6" y="42"/>
                  </a:lnTo>
                  <a:lnTo>
                    <a:pt x="0" y="66"/>
                  </a:lnTo>
                  <a:lnTo>
                    <a:pt x="6" y="90"/>
                  </a:lnTo>
                  <a:lnTo>
                    <a:pt x="12" y="102"/>
                  </a:lnTo>
                  <a:lnTo>
                    <a:pt x="30" y="114"/>
                  </a:lnTo>
                  <a:lnTo>
                    <a:pt x="42" y="114"/>
                  </a:lnTo>
                  <a:lnTo>
                    <a:pt x="60" y="114"/>
                  </a:lnTo>
                  <a:lnTo>
                    <a:pt x="72" y="102"/>
                  </a:lnTo>
                  <a:lnTo>
                    <a:pt x="89" y="90"/>
                  </a:lnTo>
                  <a:lnTo>
                    <a:pt x="84" y="84"/>
                  </a:lnTo>
                  <a:lnTo>
                    <a:pt x="72" y="96"/>
                  </a:lnTo>
                  <a:lnTo>
                    <a:pt x="48" y="102"/>
                  </a:lnTo>
                  <a:lnTo>
                    <a:pt x="36" y="102"/>
                  </a:lnTo>
                  <a:lnTo>
                    <a:pt x="24" y="96"/>
                  </a:lnTo>
                  <a:lnTo>
                    <a:pt x="18" y="66"/>
                  </a:lnTo>
                  <a:lnTo>
                    <a:pt x="24" y="48"/>
                  </a:lnTo>
                  <a:lnTo>
                    <a:pt x="30" y="30"/>
                  </a:lnTo>
                  <a:lnTo>
                    <a:pt x="48" y="12"/>
                  </a:lnTo>
                  <a:lnTo>
                    <a:pt x="66" y="6"/>
                  </a:lnTo>
                  <a:lnTo>
                    <a:pt x="84" y="12"/>
                  </a:lnTo>
                  <a:lnTo>
                    <a:pt x="89" y="18"/>
                  </a:lnTo>
                  <a:lnTo>
                    <a:pt x="95" y="3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3" name="Freeform 90"/>
            <p:cNvSpPr>
              <a:spLocks noChangeAspect="1" noEditPoints="1"/>
            </p:cNvSpPr>
            <p:nvPr/>
          </p:nvSpPr>
          <p:spPr>
            <a:xfrm>
              <a:off x="3444" y="3145"/>
              <a:ext cx="61" cy="58"/>
            </a:xfrm>
            <a:custGeom>
              <a:avLst/>
              <a:gdLst>
                <a:gd name="txL" fmla="*/ 0 w 54"/>
                <a:gd name="txT" fmla="*/ 0 h 54"/>
                <a:gd name="txR" fmla="*/ 54 w 54"/>
                <a:gd name="txB" fmla="*/ 54 h 54"/>
              </a:gdLst>
              <a:ahLst/>
              <a:cxnLst>
                <a:cxn ang="0">
                  <a:pos x="1456" y="248"/>
                </a:cxn>
                <a:cxn ang="0">
                  <a:pos x="1121" y="286"/>
                </a:cxn>
                <a:cxn ang="0">
                  <a:pos x="803" y="330"/>
                </a:cxn>
                <a:cxn ang="0">
                  <a:pos x="477" y="286"/>
                </a:cxn>
                <a:cxn ang="0">
                  <a:pos x="331" y="248"/>
                </a:cxn>
                <a:cxn ang="0">
                  <a:pos x="331" y="119"/>
                </a:cxn>
                <a:cxn ang="0">
                  <a:pos x="1289" y="119"/>
                </a:cxn>
                <a:cxn ang="0">
                  <a:pos x="1121" y="6"/>
                </a:cxn>
                <a:cxn ang="0">
                  <a:pos x="803" y="0"/>
                </a:cxn>
                <a:cxn ang="0">
                  <a:pos x="331" y="6"/>
                </a:cxn>
                <a:cxn ang="0">
                  <a:pos x="159" y="119"/>
                </a:cxn>
                <a:cxn ang="0">
                  <a:pos x="0" y="209"/>
                </a:cxn>
                <a:cxn ang="0">
                  <a:pos x="159" y="330"/>
                </a:cxn>
                <a:cxn ang="0">
                  <a:pos x="673" y="375"/>
                </a:cxn>
                <a:cxn ang="0">
                  <a:pos x="1289" y="330"/>
                </a:cxn>
                <a:cxn ang="0">
                  <a:pos x="1456" y="248"/>
                </a:cxn>
                <a:cxn ang="0">
                  <a:pos x="1456" y="248"/>
                </a:cxn>
                <a:cxn ang="0">
                  <a:pos x="331" y="119"/>
                </a:cxn>
                <a:cxn ang="0">
                  <a:pos x="477" y="6"/>
                </a:cxn>
                <a:cxn ang="0">
                  <a:pos x="673" y="0"/>
                </a:cxn>
                <a:cxn ang="0">
                  <a:pos x="977" y="6"/>
                </a:cxn>
                <a:cxn ang="0">
                  <a:pos x="977" y="119"/>
                </a:cxn>
                <a:cxn ang="0">
                  <a:pos x="331" y="119"/>
                </a:cxn>
              </a:cxnLst>
              <a:rect l="txL" t="txT" r="txR" b="txB"/>
              <a:pathLst>
                <a:path w="54" h="54">
                  <a:moveTo>
                    <a:pt x="54" y="36"/>
                  </a:moveTo>
                  <a:lnTo>
                    <a:pt x="42" y="42"/>
                  </a:lnTo>
                  <a:lnTo>
                    <a:pt x="30" y="48"/>
                  </a:lnTo>
                  <a:lnTo>
                    <a:pt x="18" y="42"/>
                  </a:lnTo>
                  <a:lnTo>
                    <a:pt x="12" y="36"/>
                  </a:lnTo>
                  <a:lnTo>
                    <a:pt x="12" y="18"/>
                  </a:lnTo>
                  <a:lnTo>
                    <a:pt x="48" y="18"/>
                  </a:lnTo>
                  <a:lnTo>
                    <a:pt x="42" y="6"/>
                  </a:lnTo>
                  <a:lnTo>
                    <a:pt x="30" y="0"/>
                  </a:lnTo>
                  <a:lnTo>
                    <a:pt x="12" y="6"/>
                  </a:lnTo>
                  <a:lnTo>
                    <a:pt x="6" y="18"/>
                  </a:lnTo>
                  <a:lnTo>
                    <a:pt x="0" y="30"/>
                  </a:lnTo>
                  <a:lnTo>
                    <a:pt x="6" y="48"/>
                  </a:lnTo>
                  <a:lnTo>
                    <a:pt x="24" y="54"/>
                  </a:lnTo>
                  <a:lnTo>
                    <a:pt x="48" y="48"/>
                  </a:lnTo>
                  <a:lnTo>
                    <a:pt x="54" y="36"/>
                  </a:lnTo>
                  <a:close/>
                  <a:moveTo>
                    <a:pt x="12" y="18"/>
                  </a:moveTo>
                  <a:lnTo>
                    <a:pt x="18" y="6"/>
                  </a:lnTo>
                  <a:lnTo>
                    <a:pt x="24" y="0"/>
                  </a:lnTo>
                  <a:lnTo>
                    <a:pt x="36" y="6"/>
                  </a:lnTo>
                  <a:lnTo>
                    <a:pt x="36" y="18"/>
                  </a:lnTo>
                  <a:lnTo>
                    <a:pt x="12" y="1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4" name="Freeform 91"/>
            <p:cNvSpPr>
              <a:spLocks noChangeAspect="1" noEditPoints="1"/>
            </p:cNvSpPr>
            <p:nvPr/>
          </p:nvSpPr>
          <p:spPr>
            <a:xfrm>
              <a:off x="3519" y="3145"/>
              <a:ext cx="68" cy="90"/>
            </a:xfrm>
            <a:custGeom>
              <a:avLst/>
              <a:gdLst>
                <a:gd name="txL" fmla="*/ 0 w 60"/>
                <a:gd name="txT" fmla="*/ 0 h 84"/>
                <a:gd name="txR" fmla="*/ 60 w 60"/>
                <a:gd name="txB" fmla="*/ 84 h 84"/>
              </a:gdLst>
              <a:ahLst/>
              <a:cxnLst>
                <a:cxn ang="0">
                  <a:pos x="1221" y="0"/>
                </a:cxn>
                <a:cxn ang="0">
                  <a:pos x="1047" y="0"/>
                </a:cxn>
                <a:cxn ang="0">
                  <a:pos x="902" y="0"/>
                </a:cxn>
                <a:cxn ang="0">
                  <a:pos x="164" y="6"/>
                </a:cxn>
                <a:cxn ang="0">
                  <a:pos x="0" y="191"/>
                </a:cxn>
                <a:cxn ang="0">
                  <a:pos x="164" y="311"/>
                </a:cxn>
                <a:cxn ang="0">
                  <a:pos x="507" y="344"/>
                </a:cxn>
                <a:cxn ang="0">
                  <a:pos x="902" y="344"/>
                </a:cxn>
                <a:cxn ang="0">
                  <a:pos x="1221" y="311"/>
                </a:cxn>
                <a:cxn ang="0">
                  <a:pos x="1221" y="311"/>
                </a:cxn>
                <a:cxn ang="0">
                  <a:pos x="1221" y="468"/>
                </a:cxn>
                <a:cxn ang="0">
                  <a:pos x="1047" y="504"/>
                </a:cxn>
                <a:cxn ang="0">
                  <a:pos x="902" y="504"/>
                </a:cxn>
                <a:cxn ang="0">
                  <a:pos x="902" y="540"/>
                </a:cxn>
                <a:cxn ang="0">
                  <a:pos x="1761" y="540"/>
                </a:cxn>
                <a:cxn ang="0">
                  <a:pos x="1761" y="504"/>
                </a:cxn>
                <a:cxn ang="0">
                  <a:pos x="1569" y="504"/>
                </a:cxn>
                <a:cxn ang="0">
                  <a:pos x="1384" y="468"/>
                </a:cxn>
                <a:cxn ang="0">
                  <a:pos x="1384" y="0"/>
                </a:cxn>
                <a:cxn ang="0">
                  <a:pos x="1384" y="0"/>
                </a:cxn>
                <a:cxn ang="0">
                  <a:pos x="1384" y="0"/>
                </a:cxn>
                <a:cxn ang="0">
                  <a:pos x="1221" y="0"/>
                </a:cxn>
                <a:cxn ang="0">
                  <a:pos x="1221" y="236"/>
                </a:cxn>
                <a:cxn ang="0">
                  <a:pos x="1221" y="271"/>
                </a:cxn>
                <a:cxn ang="0">
                  <a:pos x="1047" y="311"/>
                </a:cxn>
                <a:cxn ang="0">
                  <a:pos x="902" y="311"/>
                </a:cxn>
                <a:cxn ang="0">
                  <a:pos x="902" y="311"/>
                </a:cxn>
                <a:cxn ang="0">
                  <a:pos x="507" y="271"/>
                </a:cxn>
                <a:cxn ang="0">
                  <a:pos x="348" y="155"/>
                </a:cxn>
                <a:cxn ang="0">
                  <a:pos x="507" y="6"/>
                </a:cxn>
                <a:cxn ang="0">
                  <a:pos x="902" y="0"/>
                </a:cxn>
                <a:cxn ang="0">
                  <a:pos x="1221" y="6"/>
                </a:cxn>
                <a:cxn ang="0">
                  <a:pos x="1221" y="76"/>
                </a:cxn>
                <a:cxn ang="0">
                  <a:pos x="1221" y="236"/>
                </a:cxn>
              </a:cxnLst>
              <a:rect l="txL" t="txT" r="txR" b="txB"/>
              <a:pathLst>
                <a:path w="60" h="84">
                  <a:moveTo>
                    <a:pt x="42" y="0"/>
                  </a:moveTo>
                  <a:lnTo>
                    <a:pt x="36" y="0"/>
                  </a:lnTo>
                  <a:lnTo>
                    <a:pt x="30" y="0"/>
                  </a:lnTo>
                  <a:lnTo>
                    <a:pt x="6" y="6"/>
                  </a:lnTo>
                  <a:lnTo>
                    <a:pt x="0" y="30"/>
                  </a:lnTo>
                  <a:lnTo>
                    <a:pt x="6" y="48"/>
                  </a:lnTo>
                  <a:lnTo>
                    <a:pt x="18" y="54"/>
                  </a:lnTo>
                  <a:lnTo>
                    <a:pt x="30" y="54"/>
                  </a:lnTo>
                  <a:lnTo>
                    <a:pt x="42" y="48"/>
                  </a:lnTo>
                  <a:lnTo>
                    <a:pt x="42" y="72"/>
                  </a:lnTo>
                  <a:lnTo>
                    <a:pt x="36" y="78"/>
                  </a:lnTo>
                  <a:lnTo>
                    <a:pt x="30" y="78"/>
                  </a:lnTo>
                  <a:lnTo>
                    <a:pt x="30" y="84"/>
                  </a:lnTo>
                  <a:lnTo>
                    <a:pt x="60" y="84"/>
                  </a:lnTo>
                  <a:lnTo>
                    <a:pt x="60" y="78"/>
                  </a:lnTo>
                  <a:lnTo>
                    <a:pt x="54" y="78"/>
                  </a:lnTo>
                  <a:lnTo>
                    <a:pt x="48" y="72"/>
                  </a:lnTo>
                  <a:lnTo>
                    <a:pt x="48" y="0"/>
                  </a:lnTo>
                  <a:lnTo>
                    <a:pt x="42" y="0"/>
                  </a:lnTo>
                  <a:close/>
                  <a:moveTo>
                    <a:pt x="42" y="36"/>
                  </a:moveTo>
                  <a:lnTo>
                    <a:pt x="42" y="42"/>
                  </a:lnTo>
                  <a:lnTo>
                    <a:pt x="36" y="48"/>
                  </a:lnTo>
                  <a:lnTo>
                    <a:pt x="30" y="48"/>
                  </a:lnTo>
                  <a:lnTo>
                    <a:pt x="18" y="42"/>
                  </a:lnTo>
                  <a:lnTo>
                    <a:pt x="12" y="24"/>
                  </a:lnTo>
                  <a:lnTo>
                    <a:pt x="18" y="6"/>
                  </a:lnTo>
                  <a:lnTo>
                    <a:pt x="30" y="0"/>
                  </a:lnTo>
                  <a:lnTo>
                    <a:pt x="42" y="6"/>
                  </a:lnTo>
                  <a:lnTo>
                    <a:pt x="42" y="12"/>
                  </a:lnTo>
                  <a:lnTo>
                    <a:pt x="42"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5" name="Freeform 92"/>
            <p:cNvSpPr>
              <a:spLocks noChangeAspect="1"/>
            </p:cNvSpPr>
            <p:nvPr/>
          </p:nvSpPr>
          <p:spPr>
            <a:xfrm>
              <a:off x="4021" y="3082"/>
              <a:ext cx="75" cy="70"/>
            </a:xfrm>
            <a:custGeom>
              <a:avLst/>
              <a:gdLst>
                <a:gd name="txL" fmla="*/ 0 w 66"/>
                <a:gd name="txT" fmla="*/ 0 h 66"/>
                <a:gd name="txR" fmla="*/ 66 w 66"/>
                <a:gd name="txB" fmla="*/ 66 h 66"/>
              </a:gdLst>
              <a:ahLst/>
              <a:cxnLst>
                <a:cxn ang="0">
                  <a:pos x="0" y="0"/>
                </a:cxn>
                <a:cxn ang="0">
                  <a:pos x="390" y="6"/>
                </a:cxn>
                <a:cxn ang="0">
                  <a:pos x="390" y="83"/>
                </a:cxn>
                <a:cxn ang="0">
                  <a:pos x="572" y="208"/>
                </a:cxn>
                <a:cxn ang="0">
                  <a:pos x="572" y="323"/>
                </a:cxn>
                <a:cxn ang="0">
                  <a:pos x="572" y="323"/>
                </a:cxn>
                <a:cxn ang="0">
                  <a:pos x="747" y="323"/>
                </a:cxn>
                <a:cxn ang="0">
                  <a:pos x="1149" y="263"/>
                </a:cxn>
                <a:cxn ang="0">
                  <a:pos x="1360" y="234"/>
                </a:cxn>
                <a:cxn ang="0">
                  <a:pos x="1689" y="174"/>
                </a:cxn>
                <a:cxn ang="0">
                  <a:pos x="1916" y="83"/>
                </a:cxn>
                <a:cxn ang="0">
                  <a:pos x="2080" y="6"/>
                </a:cxn>
                <a:cxn ang="0">
                  <a:pos x="1916" y="0"/>
                </a:cxn>
                <a:cxn ang="0">
                  <a:pos x="1689" y="0"/>
                </a:cxn>
                <a:cxn ang="0">
                  <a:pos x="1689" y="0"/>
                </a:cxn>
                <a:cxn ang="0">
                  <a:pos x="1545" y="0"/>
                </a:cxn>
                <a:cxn ang="0">
                  <a:pos x="1545" y="6"/>
                </a:cxn>
                <a:cxn ang="0">
                  <a:pos x="1689" y="6"/>
                </a:cxn>
                <a:cxn ang="0">
                  <a:pos x="1689" y="58"/>
                </a:cxn>
                <a:cxn ang="0">
                  <a:pos x="1545" y="146"/>
                </a:cxn>
                <a:cxn ang="0">
                  <a:pos x="1149" y="234"/>
                </a:cxn>
                <a:cxn ang="0">
                  <a:pos x="955" y="263"/>
                </a:cxn>
                <a:cxn ang="0">
                  <a:pos x="955" y="146"/>
                </a:cxn>
                <a:cxn ang="0">
                  <a:pos x="747" y="0"/>
                </a:cxn>
                <a:cxn ang="0">
                  <a:pos x="747" y="0"/>
                </a:cxn>
                <a:cxn ang="0">
                  <a:pos x="572" y="0"/>
                </a:cxn>
                <a:cxn ang="0">
                  <a:pos x="390" y="0"/>
                </a:cxn>
                <a:cxn ang="0">
                  <a:pos x="0" y="0"/>
                </a:cxn>
                <a:cxn ang="0">
                  <a:pos x="0" y="0"/>
                </a:cxn>
              </a:cxnLst>
              <a:rect l="txL" t="txT" r="txR" b="txB"/>
              <a:pathLst>
                <a:path w="66" h="66">
                  <a:moveTo>
                    <a:pt x="0" y="0"/>
                  </a:moveTo>
                  <a:lnTo>
                    <a:pt x="12" y="6"/>
                  </a:lnTo>
                  <a:lnTo>
                    <a:pt x="12" y="18"/>
                  </a:lnTo>
                  <a:lnTo>
                    <a:pt x="18" y="42"/>
                  </a:lnTo>
                  <a:lnTo>
                    <a:pt x="18" y="66"/>
                  </a:lnTo>
                  <a:lnTo>
                    <a:pt x="24" y="66"/>
                  </a:lnTo>
                  <a:lnTo>
                    <a:pt x="36" y="54"/>
                  </a:lnTo>
                  <a:lnTo>
                    <a:pt x="42" y="48"/>
                  </a:lnTo>
                  <a:lnTo>
                    <a:pt x="54" y="36"/>
                  </a:lnTo>
                  <a:lnTo>
                    <a:pt x="60" y="18"/>
                  </a:lnTo>
                  <a:lnTo>
                    <a:pt x="66" y="6"/>
                  </a:lnTo>
                  <a:lnTo>
                    <a:pt x="60" y="0"/>
                  </a:lnTo>
                  <a:lnTo>
                    <a:pt x="54" y="0"/>
                  </a:lnTo>
                  <a:lnTo>
                    <a:pt x="48" y="0"/>
                  </a:lnTo>
                  <a:lnTo>
                    <a:pt x="48" y="6"/>
                  </a:lnTo>
                  <a:lnTo>
                    <a:pt x="54" y="6"/>
                  </a:lnTo>
                  <a:lnTo>
                    <a:pt x="54" y="12"/>
                  </a:lnTo>
                  <a:lnTo>
                    <a:pt x="48" y="30"/>
                  </a:lnTo>
                  <a:lnTo>
                    <a:pt x="36" y="48"/>
                  </a:lnTo>
                  <a:lnTo>
                    <a:pt x="30" y="54"/>
                  </a:lnTo>
                  <a:lnTo>
                    <a:pt x="30" y="30"/>
                  </a:lnTo>
                  <a:lnTo>
                    <a:pt x="24" y="0"/>
                  </a:lnTo>
                  <a:lnTo>
                    <a:pt x="18" y="0"/>
                  </a:lnTo>
                  <a:lnTo>
                    <a:pt x="12"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6" name="Freeform 93"/>
            <p:cNvSpPr>
              <a:spLocks noChangeAspect="1"/>
            </p:cNvSpPr>
            <p:nvPr/>
          </p:nvSpPr>
          <p:spPr>
            <a:xfrm>
              <a:off x="2216" y="2955"/>
              <a:ext cx="319" cy="291"/>
            </a:xfrm>
            <a:custGeom>
              <a:avLst/>
              <a:gdLst>
                <a:gd name="txL" fmla="*/ 0 w 281"/>
                <a:gd name="txT" fmla="*/ 0 h 274"/>
                <a:gd name="txR" fmla="*/ 281 w 281"/>
                <a:gd name="txB" fmla="*/ 274 h 274"/>
              </a:gdLst>
              <a:ahLst/>
              <a:cxnLst>
                <a:cxn ang="0">
                  <a:pos x="4368" y="1387"/>
                </a:cxn>
                <a:cxn ang="0">
                  <a:pos x="6038" y="1333"/>
                </a:cxn>
                <a:cxn ang="0">
                  <a:pos x="7344" y="1176"/>
                </a:cxn>
                <a:cxn ang="0">
                  <a:pos x="8236" y="966"/>
                </a:cxn>
                <a:cxn ang="0">
                  <a:pos x="8630" y="703"/>
                </a:cxn>
                <a:cxn ang="0">
                  <a:pos x="8236" y="418"/>
                </a:cxn>
                <a:cxn ang="0">
                  <a:pos x="7344" y="217"/>
                </a:cxn>
                <a:cxn ang="0">
                  <a:pos x="6038" y="59"/>
                </a:cxn>
                <a:cxn ang="0">
                  <a:pos x="4368" y="0"/>
                </a:cxn>
                <a:cxn ang="0">
                  <a:pos x="2771" y="59"/>
                </a:cxn>
                <a:cxn ang="0">
                  <a:pos x="1281" y="217"/>
                </a:cxn>
                <a:cxn ang="0">
                  <a:pos x="388" y="418"/>
                </a:cxn>
                <a:cxn ang="0">
                  <a:pos x="181" y="553"/>
                </a:cxn>
                <a:cxn ang="0">
                  <a:pos x="0" y="703"/>
                </a:cxn>
                <a:cxn ang="0">
                  <a:pos x="181" y="852"/>
                </a:cxn>
                <a:cxn ang="0">
                  <a:pos x="388" y="966"/>
                </a:cxn>
                <a:cxn ang="0">
                  <a:pos x="1281" y="1176"/>
                </a:cxn>
                <a:cxn ang="0">
                  <a:pos x="2771" y="1333"/>
                </a:cxn>
                <a:cxn ang="0">
                  <a:pos x="4368" y="1387"/>
                </a:cxn>
                <a:cxn ang="0">
                  <a:pos x="4368" y="1387"/>
                </a:cxn>
              </a:cxnLst>
              <a:rect l="txL" t="txT" r="txR" b="txB"/>
              <a:pathLst>
                <a:path w="281" h="274">
                  <a:moveTo>
                    <a:pt x="143" y="274"/>
                  </a:moveTo>
                  <a:lnTo>
                    <a:pt x="197" y="263"/>
                  </a:lnTo>
                  <a:lnTo>
                    <a:pt x="239" y="233"/>
                  </a:lnTo>
                  <a:lnTo>
                    <a:pt x="269" y="191"/>
                  </a:lnTo>
                  <a:lnTo>
                    <a:pt x="281" y="137"/>
                  </a:lnTo>
                  <a:lnTo>
                    <a:pt x="269" y="83"/>
                  </a:lnTo>
                  <a:lnTo>
                    <a:pt x="239" y="42"/>
                  </a:lnTo>
                  <a:lnTo>
                    <a:pt x="197" y="12"/>
                  </a:lnTo>
                  <a:lnTo>
                    <a:pt x="143" y="0"/>
                  </a:lnTo>
                  <a:lnTo>
                    <a:pt x="90" y="12"/>
                  </a:lnTo>
                  <a:lnTo>
                    <a:pt x="42" y="42"/>
                  </a:lnTo>
                  <a:lnTo>
                    <a:pt x="12" y="83"/>
                  </a:lnTo>
                  <a:lnTo>
                    <a:pt x="6" y="107"/>
                  </a:lnTo>
                  <a:lnTo>
                    <a:pt x="0" y="137"/>
                  </a:lnTo>
                  <a:lnTo>
                    <a:pt x="6" y="167"/>
                  </a:lnTo>
                  <a:lnTo>
                    <a:pt x="12" y="191"/>
                  </a:lnTo>
                  <a:lnTo>
                    <a:pt x="42" y="233"/>
                  </a:lnTo>
                  <a:lnTo>
                    <a:pt x="90" y="263"/>
                  </a:lnTo>
                  <a:lnTo>
                    <a:pt x="143" y="274"/>
                  </a:lnTo>
                  <a:close/>
                </a:path>
              </a:pathLst>
            </a:custGeom>
            <a:solidFill>
              <a:srgbClr val="006666">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7" name="Freeform 94"/>
            <p:cNvSpPr>
              <a:spLocks noChangeAspect="1"/>
            </p:cNvSpPr>
            <p:nvPr/>
          </p:nvSpPr>
          <p:spPr>
            <a:xfrm>
              <a:off x="2378" y="3101"/>
              <a:ext cx="157" cy="145"/>
            </a:xfrm>
            <a:custGeom>
              <a:avLst/>
              <a:gdLst>
                <a:gd name="txL" fmla="*/ 0 w 138"/>
                <a:gd name="txT" fmla="*/ 0 h 137"/>
                <a:gd name="txR" fmla="*/ 138 w 138"/>
                <a:gd name="txB" fmla="*/ 137 h 137"/>
              </a:gdLst>
              <a:ahLst/>
              <a:cxnLst>
                <a:cxn ang="0">
                  <a:pos x="0" y="635"/>
                </a:cxn>
                <a:cxn ang="0">
                  <a:pos x="1750" y="582"/>
                </a:cxn>
                <a:cxn ang="0">
                  <a:pos x="3113" y="442"/>
                </a:cxn>
                <a:cxn ang="0">
                  <a:pos x="4074" y="250"/>
                </a:cxn>
                <a:cxn ang="0">
                  <a:pos x="4502" y="0"/>
                </a:cxn>
                <a:cxn ang="0">
                  <a:pos x="4502" y="0"/>
                </a:cxn>
                <a:cxn ang="0">
                  <a:pos x="4074" y="250"/>
                </a:cxn>
                <a:cxn ang="0">
                  <a:pos x="3113" y="442"/>
                </a:cxn>
                <a:cxn ang="0">
                  <a:pos x="1750" y="582"/>
                </a:cxn>
                <a:cxn ang="0">
                  <a:pos x="0" y="635"/>
                </a:cxn>
                <a:cxn ang="0">
                  <a:pos x="0" y="635"/>
                </a:cxn>
              </a:cxnLst>
              <a:rect l="txL" t="txT" r="txR" b="txB"/>
              <a:pathLst>
                <a:path w="138" h="137">
                  <a:moveTo>
                    <a:pt x="0" y="137"/>
                  </a:moveTo>
                  <a:lnTo>
                    <a:pt x="54" y="126"/>
                  </a:lnTo>
                  <a:lnTo>
                    <a:pt x="96" y="96"/>
                  </a:lnTo>
                  <a:lnTo>
                    <a:pt x="126" y="54"/>
                  </a:lnTo>
                  <a:lnTo>
                    <a:pt x="138" y="0"/>
                  </a:lnTo>
                  <a:lnTo>
                    <a:pt x="126" y="54"/>
                  </a:lnTo>
                  <a:lnTo>
                    <a:pt x="96" y="96"/>
                  </a:lnTo>
                  <a:lnTo>
                    <a:pt x="54" y="126"/>
                  </a:lnTo>
                  <a:lnTo>
                    <a:pt x="0" y="1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8" name="Freeform 95"/>
            <p:cNvSpPr>
              <a:spLocks noChangeAspect="1" noEditPoints="1"/>
            </p:cNvSpPr>
            <p:nvPr/>
          </p:nvSpPr>
          <p:spPr>
            <a:xfrm>
              <a:off x="2378" y="2955"/>
              <a:ext cx="157" cy="146"/>
            </a:xfrm>
            <a:custGeom>
              <a:avLst/>
              <a:gdLst>
                <a:gd name="txL" fmla="*/ 0 w 138"/>
                <a:gd name="txT" fmla="*/ 0 h 137"/>
                <a:gd name="txR" fmla="*/ 138 w 138"/>
                <a:gd name="txB" fmla="*/ 137 h 137"/>
              </a:gdLst>
              <a:ahLst/>
              <a:cxnLst>
                <a:cxn ang="0">
                  <a:pos x="4502" y="762"/>
                </a:cxn>
                <a:cxn ang="0">
                  <a:pos x="4074" y="459"/>
                </a:cxn>
                <a:cxn ang="0">
                  <a:pos x="3113" y="237"/>
                </a:cxn>
                <a:cxn ang="0">
                  <a:pos x="1750" y="66"/>
                </a:cxn>
                <a:cxn ang="0">
                  <a:pos x="0" y="0"/>
                </a:cxn>
                <a:cxn ang="0">
                  <a:pos x="0" y="0"/>
                </a:cxn>
                <a:cxn ang="0">
                  <a:pos x="1750" y="66"/>
                </a:cxn>
                <a:cxn ang="0">
                  <a:pos x="3113" y="237"/>
                </a:cxn>
                <a:cxn ang="0">
                  <a:pos x="4074" y="459"/>
                </a:cxn>
                <a:cxn ang="0">
                  <a:pos x="4502" y="762"/>
                </a:cxn>
                <a:cxn ang="0">
                  <a:pos x="4502" y="762"/>
                </a:cxn>
                <a:cxn ang="0">
                  <a:pos x="4502" y="762"/>
                </a:cxn>
                <a:cxn ang="0">
                  <a:pos x="4502" y="762"/>
                </a:cxn>
                <a:cxn ang="0">
                  <a:pos x="4502" y="762"/>
                </a:cxn>
              </a:cxnLst>
              <a:rect l="txL" t="txT" r="txR" b="txB"/>
              <a:pathLst>
                <a:path w="138" h="137">
                  <a:moveTo>
                    <a:pt x="138" y="137"/>
                  </a:moveTo>
                  <a:lnTo>
                    <a:pt x="126" y="83"/>
                  </a:lnTo>
                  <a:lnTo>
                    <a:pt x="96" y="42"/>
                  </a:lnTo>
                  <a:lnTo>
                    <a:pt x="54" y="12"/>
                  </a:lnTo>
                  <a:lnTo>
                    <a:pt x="0" y="0"/>
                  </a:lnTo>
                  <a:lnTo>
                    <a:pt x="54" y="12"/>
                  </a:lnTo>
                  <a:lnTo>
                    <a:pt x="96" y="42"/>
                  </a:lnTo>
                  <a:lnTo>
                    <a:pt x="126" y="83"/>
                  </a:lnTo>
                  <a:lnTo>
                    <a:pt x="138" y="137"/>
                  </a:lnTo>
                  <a:close/>
                  <a:moveTo>
                    <a:pt x="138" y="137"/>
                  </a:moveTo>
                  <a:lnTo>
                    <a:pt x="138" y="13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9" name="Freeform 96"/>
            <p:cNvSpPr>
              <a:spLocks noChangeAspect="1" noEditPoints="1"/>
            </p:cNvSpPr>
            <p:nvPr/>
          </p:nvSpPr>
          <p:spPr>
            <a:xfrm>
              <a:off x="2216" y="2955"/>
              <a:ext cx="162" cy="146"/>
            </a:xfrm>
            <a:custGeom>
              <a:avLst/>
              <a:gdLst>
                <a:gd name="txL" fmla="*/ 0 w 143"/>
                <a:gd name="txT" fmla="*/ 0 h 137"/>
                <a:gd name="txR" fmla="*/ 143 w 143"/>
                <a:gd name="txB" fmla="*/ 137 h 137"/>
              </a:gdLst>
              <a:ahLst/>
              <a:cxnLst>
                <a:cxn ang="0">
                  <a:pos x="4143" y="0"/>
                </a:cxn>
                <a:cxn ang="0">
                  <a:pos x="2607" y="66"/>
                </a:cxn>
                <a:cxn ang="0">
                  <a:pos x="1210" y="237"/>
                </a:cxn>
                <a:cxn ang="0">
                  <a:pos x="348" y="459"/>
                </a:cxn>
                <a:cxn ang="0">
                  <a:pos x="164" y="591"/>
                </a:cxn>
                <a:cxn ang="0">
                  <a:pos x="0" y="762"/>
                </a:cxn>
                <a:cxn ang="0">
                  <a:pos x="0" y="762"/>
                </a:cxn>
                <a:cxn ang="0">
                  <a:pos x="164" y="591"/>
                </a:cxn>
                <a:cxn ang="0">
                  <a:pos x="348" y="459"/>
                </a:cxn>
                <a:cxn ang="0">
                  <a:pos x="1210" y="237"/>
                </a:cxn>
                <a:cxn ang="0">
                  <a:pos x="2607" y="66"/>
                </a:cxn>
                <a:cxn ang="0">
                  <a:pos x="4143" y="0"/>
                </a:cxn>
                <a:cxn ang="0">
                  <a:pos x="4143" y="0"/>
                </a:cxn>
                <a:cxn ang="0">
                  <a:pos x="4143" y="0"/>
                </a:cxn>
                <a:cxn ang="0">
                  <a:pos x="4143" y="0"/>
                </a:cxn>
                <a:cxn ang="0">
                  <a:pos x="4143" y="0"/>
                </a:cxn>
              </a:cxnLst>
              <a:rect l="txL" t="txT" r="txR" b="txB"/>
              <a:pathLst>
                <a:path w="143" h="137">
                  <a:moveTo>
                    <a:pt x="143" y="0"/>
                  </a:moveTo>
                  <a:lnTo>
                    <a:pt x="90" y="12"/>
                  </a:lnTo>
                  <a:lnTo>
                    <a:pt x="42" y="42"/>
                  </a:lnTo>
                  <a:lnTo>
                    <a:pt x="12" y="83"/>
                  </a:lnTo>
                  <a:lnTo>
                    <a:pt x="6" y="107"/>
                  </a:lnTo>
                  <a:lnTo>
                    <a:pt x="0" y="137"/>
                  </a:lnTo>
                  <a:lnTo>
                    <a:pt x="6" y="107"/>
                  </a:lnTo>
                  <a:lnTo>
                    <a:pt x="12" y="83"/>
                  </a:lnTo>
                  <a:lnTo>
                    <a:pt x="42" y="42"/>
                  </a:lnTo>
                  <a:lnTo>
                    <a:pt x="90" y="12"/>
                  </a:lnTo>
                  <a:lnTo>
                    <a:pt x="143" y="0"/>
                  </a:lnTo>
                  <a:close/>
                  <a:moveTo>
                    <a:pt x="143" y="0"/>
                  </a:moveTo>
                  <a:lnTo>
                    <a:pt x="14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80" name="Freeform 97"/>
            <p:cNvSpPr>
              <a:spLocks noChangeAspect="1" noEditPoints="1"/>
            </p:cNvSpPr>
            <p:nvPr/>
          </p:nvSpPr>
          <p:spPr>
            <a:xfrm>
              <a:off x="2216" y="3101"/>
              <a:ext cx="162" cy="145"/>
            </a:xfrm>
            <a:custGeom>
              <a:avLst/>
              <a:gdLst>
                <a:gd name="txL" fmla="*/ 0 w 143"/>
                <a:gd name="txT" fmla="*/ 0 h 137"/>
                <a:gd name="txR" fmla="*/ 143 w 143"/>
                <a:gd name="txB" fmla="*/ 137 h 137"/>
              </a:gdLst>
              <a:ahLst/>
              <a:cxnLst>
                <a:cxn ang="0">
                  <a:pos x="0" y="0"/>
                </a:cxn>
                <a:cxn ang="0">
                  <a:pos x="164" y="138"/>
                </a:cxn>
                <a:cxn ang="0">
                  <a:pos x="348" y="250"/>
                </a:cxn>
                <a:cxn ang="0">
                  <a:pos x="1210" y="442"/>
                </a:cxn>
                <a:cxn ang="0">
                  <a:pos x="2607" y="582"/>
                </a:cxn>
                <a:cxn ang="0">
                  <a:pos x="4143" y="635"/>
                </a:cxn>
                <a:cxn ang="0">
                  <a:pos x="4143" y="635"/>
                </a:cxn>
                <a:cxn ang="0">
                  <a:pos x="2607" y="582"/>
                </a:cxn>
                <a:cxn ang="0">
                  <a:pos x="1210" y="442"/>
                </a:cxn>
                <a:cxn ang="0">
                  <a:pos x="348" y="250"/>
                </a:cxn>
                <a:cxn ang="0">
                  <a:pos x="164" y="138"/>
                </a:cxn>
                <a:cxn ang="0">
                  <a:pos x="0" y="0"/>
                </a:cxn>
                <a:cxn ang="0">
                  <a:pos x="0" y="0"/>
                </a:cxn>
                <a:cxn ang="0">
                  <a:pos x="0" y="0"/>
                </a:cxn>
                <a:cxn ang="0">
                  <a:pos x="0" y="0"/>
                </a:cxn>
                <a:cxn ang="0">
                  <a:pos x="0" y="0"/>
                </a:cxn>
              </a:cxnLst>
              <a:rect l="txL" t="txT" r="txR" b="txB"/>
              <a:pathLst>
                <a:path w="143" h="137">
                  <a:moveTo>
                    <a:pt x="0" y="0"/>
                  </a:moveTo>
                  <a:lnTo>
                    <a:pt x="6" y="30"/>
                  </a:lnTo>
                  <a:lnTo>
                    <a:pt x="12" y="54"/>
                  </a:lnTo>
                  <a:lnTo>
                    <a:pt x="42" y="96"/>
                  </a:lnTo>
                  <a:lnTo>
                    <a:pt x="90" y="126"/>
                  </a:lnTo>
                  <a:lnTo>
                    <a:pt x="143" y="137"/>
                  </a:lnTo>
                  <a:lnTo>
                    <a:pt x="90" y="126"/>
                  </a:lnTo>
                  <a:lnTo>
                    <a:pt x="42" y="96"/>
                  </a:lnTo>
                  <a:lnTo>
                    <a:pt x="12" y="54"/>
                  </a:lnTo>
                  <a:lnTo>
                    <a:pt x="6" y="30"/>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81" name="Freeform 98"/>
            <p:cNvSpPr>
              <a:spLocks noChangeAspect="1"/>
            </p:cNvSpPr>
            <p:nvPr/>
          </p:nvSpPr>
          <p:spPr>
            <a:xfrm>
              <a:off x="2378" y="3246"/>
              <a:ext cx="2" cy="2"/>
            </a:xfrm>
            <a:custGeom>
              <a:avLst/>
              <a:gdLst>
                <a:gd name="txL" fmla="*/ 0 w 2"/>
                <a:gd name="txT" fmla="*/ 0 h 2"/>
                <a:gd name="txR" fmla="*/ 2 w 2"/>
                <a:gd name="txB" fmla="*/ 2 h 2"/>
              </a:gdLst>
              <a:ahLst/>
              <a:cxnLst>
                <a:cxn ang="0">
                  <a:pos x="0" y="0"/>
                </a:cxn>
                <a:cxn ang="0">
                  <a:pos x="0" y="0"/>
                </a:cxn>
                <a:cxn ang="0">
                  <a:pos x="0" y="0"/>
                </a:cxn>
              </a:cxnLst>
              <a:rect l="txL" t="txT" r="txR" b="txB"/>
              <a:pathLst>
                <a:path w="2" h="2">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82" name="Freeform 99"/>
            <p:cNvSpPr>
              <a:spLocks noChangeAspect="1"/>
            </p:cNvSpPr>
            <p:nvPr/>
          </p:nvSpPr>
          <p:spPr>
            <a:xfrm>
              <a:off x="2325" y="3000"/>
              <a:ext cx="94" cy="94"/>
            </a:xfrm>
            <a:custGeom>
              <a:avLst/>
              <a:gdLst>
                <a:gd name="txL" fmla="*/ 0 w 83"/>
                <a:gd name="txT" fmla="*/ 0 h 89"/>
                <a:gd name="txR" fmla="*/ 83 w 83"/>
                <a:gd name="txB" fmla="*/ 89 h 89"/>
              </a:gdLst>
              <a:ahLst/>
              <a:cxnLst>
                <a:cxn ang="0">
                  <a:pos x="1017" y="181"/>
                </a:cxn>
                <a:cxn ang="0">
                  <a:pos x="0" y="181"/>
                </a:cxn>
                <a:cxn ang="0">
                  <a:pos x="0" y="205"/>
                </a:cxn>
                <a:cxn ang="0">
                  <a:pos x="1017" y="205"/>
                </a:cxn>
                <a:cxn ang="0">
                  <a:pos x="1017" y="392"/>
                </a:cxn>
                <a:cxn ang="0">
                  <a:pos x="1366" y="392"/>
                </a:cxn>
                <a:cxn ang="0">
                  <a:pos x="1366" y="205"/>
                </a:cxn>
                <a:cxn ang="0">
                  <a:pos x="2383" y="205"/>
                </a:cxn>
                <a:cxn ang="0">
                  <a:pos x="2383" y="181"/>
                </a:cxn>
                <a:cxn ang="0">
                  <a:pos x="1366" y="181"/>
                </a:cxn>
                <a:cxn ang="0">
                  <a:pos x="1366" y="0"/>
                </a:cxn>
                <a:cxn ang="0">
                  <a:pos x="1017" y="0"/>
                </a:cxn>
                <a:cxn ang="0">
                  <a:pos x="1017" y="181"/>
                </a:cxn>
              </a:cxnLst>
              <a:rect l="txL" t="txT" r="txR" b="txB"/>
              <a:pathLst>
                <a:path w="83" h="89">
                  <a:moveTo>
                    <a:pt x="35" y="41"/>
                  </a:moveTo>
                  <a:lnTo>
                    <a:pt x="0" y="41"/>
                  </a:lnTo>
                  <a:lnTo>
                    <a:pt x="0" y="47"/>
                  </a:lnTo>
                  <a:lnTo>
                    <a:pt x="35" y="47"/>
                  </a:lnTo>
                  <a:lnTo>
                    <a:pt x="35" y="89"/>
                  </a:lnTo>
                  <a:lnTo>
                    <a:pt x="47" y="89"/>
                  </a:lnTo>
                  <a:lnTo>
                    <a:pt x="47" y="47"/>
                  </a:lnTo>
                  <a:lnTo>
                    <a:pt x="83" y="47"/>
                  </a:lnTo>
                  <a:lnTo>
                    <a:pt x="83" y="41"/>
                  </a:lnTo>
                  <a:lnTo>
                    <a:pt x="47" y="41"/>
                  </a:lnTo>
                  <a:lnTo>
                    <a:pt x="47" y="0"/>
                  </a:lnTo>
                  <a:lnTo>
                    <a:pt x="35" y="0"/>
                  </a:lnTo>
                  <a:lnTo>
                    <a:pt x="35" y="4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83" name="Rectangle 100"/>
            <p:cNvSpPr>
              <a:spLocks noChangeAspect="1"/>
            </p:cNvSpPr>
            <p:nvPr/>
          </p:nvSpPr>
          <p:spPr>
            <a:xfrm>
              <a:off x="2325" y="3165"/>
              <a:ext cx="101" cy="6"/>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49184" name="Freeform 101"/>
            <p:cNvSpPr>
              <a:spLocks noChangeAspect="1"/>
            </p:cNvSpPr>
            <p:nvPr/>
          </p:nvSpPr>
          <p:spPr>
            <a:xfrm>
              <a:off x="2562" y="2510"/>
              <a:ext cx="380" cy="1"/>
            </a:xfrm>
            <a:custGeom>
              <a:avLst/>
              <a:gdLst>
                <a:gd name="txL" fmla="*/ 0 w 335"/>
                <a:gd name="txT" fmla="*/ 0 h 1"/>
                <a:gd name="txR" fmla="*/ 335 w 335"/>
                <a:gd name="txB" fmla="*/ 1 h 1"/>
              </a:gdLst>
              <a:ahLst/>
              <a:cxnLst>
                <a:cxn ang="0">
                  <a:pos x="0" y="0"/>
                </a:cxn>
                <a:cxn ang="0">
                  <a:pos x="10090" y="0"/>
                </a:cxn>
                <a:cxn ang="0">
                  <a:pos x="0" y="0"/>
                </a:cxn>
                <a:cxn ang="0">
                  <a:pos x="0" y="0"/>
                </a:cxn>
              </a:cxnLst>
              <a:rect l="txL" t="txT" r="txR" b="txB"/>
              <a:pathLst>
                <a:path w="335" h="1">
                  <a:moveTo>
                    <a:pt x="0" y="0"/>
                  </a:moveTo>
                  <a:lnTo>
                    <a:pt x="335"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185" name="Freeform 102"/>
            <p:cNvSpPr>
              <a:spLocks noChangeAspect="1"/>
            </p:cNvSpPr>
            <p:nvPr/>
          </p:nvSpPr>
          <p:spPr>
            <a:xfrm>
              <a:off x="2922" y="2472"/>
              <a:ext cx="143" cy="70"/>
            </a:xfrm>
            <a:custGeom>
              <a:avLst/>
              <a:gdLst>
                <a:gd name="txL" fmla="*/ 0 w 126"/>
                <a:gd name="txT" fmla="*/ 0 h 66"/>
                <a:gd name="txR" fmla="*/ 126 w 126"/>
                <a:gd name="txB" fmla="*/ 66 h 66"/>
              </a:gdLst>
              <a:ahLst/>
              <a:cxnLst>
                <a:cxn ang="0">
                  <a:pos x="0" y="323"/>
                </a:cxn>
                <a:cxn ang="0">
                  <a:pos x="3828" y="174"/>
                </a:cxn>
                <a:cxn ang="0">
                  <a:pos x="0" y="0"/>
                </a:cxn>
                <a:cxn ang="0">
                  <a:pos x="0" y="323"/>
                </a:cxn>
                <a:cxn ang="0">
                  <a:pos x="0" y="323"/>
                </a:cxn>
              </a:cxnLst>
              <a:rect l="txL" t="txT" r="txR" b="txB"/>
              <a:pathLst>
                <a:path w="126" h="66">
                  <a:moveTo>
                    <a:pt x="0" y="66"/>
                  </a:moveTo>
                  <a:lnTo>
                    <a:pt x="126" y="36"/>
                  </a:lnTo>
                  <a:lnTo>
                    <a:pt x="0" y="0"/>
                  </a:lnTo>
                  <a:lnTo>
                    <a:pt x="0" y="66"/>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186" name="Freeform 103"/>
            <p:cNvSpPr>
              <a:spLocks noChangeAspect="1" noEditPoints="1"/>
            </p:cNvSpPr>
            <p:nvPr/>
          </p:nvSpPr>
          <p:spPr>
            <a:xfrm>
              <a:off x="2793" y="2294"/>
              <a:ext cx="40" cy="114"/>
            </a:xfrm>
            <a:custGeom>
              <a:avLst/>
              <a:gdLst>
                <a:gd name="txL" fmla="*/ 0 w 36"/>
                <a:gd name="txT" fmla="*/ 0 h 107"/>
                <a:gd name="txR" fmla="*/ 36 w 36"/>
                <a:gd name="txB" fmla="*/ 107 h 107"/>
              </a:gdLst>
              <a:ahLst/>
              <a:cxnLst>
                <a:cxn ang="0">
                  <a:pos x="521" y="495"/>
                </a:cxn>
                <a:cxn ang="0">
                  <a:pos x="422" y="561"/>
                </a:cxn>
                <a:cxn ang="0">
                  <a:pos x="308" y="561"/>
                </a:cxn>
                <a:cxn ang="0">
                  <a:pos x="308" y="561"/>
                </a:cxn>
                <a:cxn ang="0">
                  <a:pos x="202" y="561"/>
                </a:cxn>
                <a:cxn ang="0">
                  <a:pos x="308" y="527"/>
                </a:cxn>
                <a:cxn ang="0">
                  <a:pos x="308" y="495"/>
                </a:cxn>
                <a:cxn ang="0">
                  <a:pos x="521" y="196"/>
                </a:cxn>
                <a:cxn ang="0">
                  <a:pos x="521" y="196"/>
                </a:cxn>
                <a:cxn ang="0">
                  <a:pos x="308" y="196"/>
                </a:cxn>
                <a:cxn ang="0">
                  <a:pos x="108" y="237"/>
                </a:cxn>
                <a:cxn ang="0">
                  <a:pos x="108" y="237"/>
                </a:cxn>
                <a:cxn ang="0">
                  <a:pos x="202" y="237"/>
                </a:cxn>
                <a:cxn ang="0">
                  <a:pos x="202" y="270"/>
                </a:cxn>
                <a:cxn ang="0">
                  <a:pos x="202" y="307"/>
                </a:cxn>
                <a:cxn ang="0">
                  <a:pos x="108" y="396"/>
                </a:cxn>
                <a:cxn ang="0">
                  <a:pos x="0" y="495"/>
                </a:cxn>
                <a:cxn ang="0">
                  <a:pos x="0" y="561"/>
                </a:cxn>
                <a:cxn ang="0">
                  <a:pos x="0" y="589"/>
                </a:cxn>
                <a:cxn ang="0">
                  <a:pos x="202" y="589"/>
                </a:cxn>
                <a:cxn ang="0">
                  <a:pos x="422" y="561"/>
                </a:cxn>
                <a:cxn ang="0">
                  <a:pos x="521" y="495"/>
                </a:cxn>
                <a:cxn ang="0">
                  <a:pos x="521" y="495"/>
                </a:cxn>
                <a:cxn ang="0">
                  <a:pos x="603" y="6"/>
                </a:cxn>
                <a:cxn ang="0">
                  <a:pos x="603" y="6"/>
                </a:cxn>
                <a:cxn ang="0">
                  <a:pos x="521" y="0"/>
                </a:cxn>
                <a:cxn ang="0">
                  <a:pos x="422" y="0"/>
                </a:cxn>
                <a:cxn ang="0">
                  <a:pos x="422" y="6"/>
                </a:cxn>
                <a:cxn ang="0">
                  <a:pos x="422" y="66"/>
                </a:cxn>
                <a:cxn ang="0">
                  <a:pos x="521" y="97"/>
                </a:cxn>
                <a:cxn ang="0">
                  <a:pos x="603" y="66"/>
                </a:cxn>
                <a:cxn ang="0">
                  <a:pos x="603" y="6"/>
                </a:cxn>
                <a:cxn ang="0">
                  <a:pos x="603" y="6"/>
                </a:cxn>
              </a:cxnLst>
              <a:rect l="txL" t="txT" r="txR" b="txB"/>
              <a:pathLst>
                <a:path w="36" h="107">
                  <a:moveTo>
                    <a:pt x="30" y="89"/>
                  </a:moveTo>
                  <a:lnTo>
                    <a:pt x="24" y="101"/>
                  </a:lnTo>
                  <a:lnTo>
                    <a:pt x="18" y="101"/>
                  </a:lnTo>
                  <a:lnTo>
                    <a:pt x="12" y="101"/>
                  </a:lnTo>
                  <a:lnTo>
                    <a:pt x="18" y="95"/>
                  </a:lnTo>
                  <a:lnTo>
                    <a:pt x="18" y="89"/>
                  </a:lnTo>
                  <a:lnTo>
                    <a:pt x="30" y="36"/>
                  </a:lnTo>
                  <a:lnTo>
                    <a:pt x="18" y="36"/>
                  </a:lnTo>
                  <a:lnTo>
                    <a:pt x="6" y="42"/>
                  </a:lnTo>
                  <a:lnTo>
                    <a:pt x="12" y="42"/>
                  </a:lnTo>
                  <a:lnTo>
                    <a:pt x="12" y="48"/>
                  </a:lnTo>
                  <a:lnTo>
                    <a:pt x="12" y="54"/>
                  </a:lnTo>
                  <a:lnTo>
                    <a:pt x="6" y="71"/>
                  </a:lnTo>
                  <a:lnTo>
                    <a:pt x="0" y="89"/>
                  </a:lnTo>
                  <a:lnTo>
                    <a:pt x="0" y="101"/>
                  </a:lnTo>
                  <a:lnTo>
                    <a:pt x="0" y="107"/>
                  </a:lnTo>
                  <a:lnTo>
                    <a:pt x="12" y="107"/>
                  </a:lnTo>
                  <a:lnTo>
                    <a:pt x="24" y="101"/>
                  </a:lnTo>
                  <a:lnTo>
                    <a:pt x="30" y="89"/>
                  </a:lnTo>
                  <a:close/>
                  <a:moveTo>
                    <a:pt x="36" y="6"/>
                  </a:moveTo>
                  <a:lnTo>
                    <a:pt x="36" y="6"/>
                  </a:lnTo>
                  <a:lnTo>
                    <a:pt x="30" y="0"/>
                  </a:lnTo>
                  <a:lnTo>
                    <a:pt x="24" y="0"/>
                  </a:lnTo>
                  <a:lnTo>
                    <a:pt x="24" y="6"/>
                  </a:lnTo>
                  <a:lnTo>
                    <a:pt x="24" y="12"/>
                  </a:lnTo>
                  <a:lnTo>
                    <a:pt x="30" y="18"/>
                  </a:lnTo>
                  <a:lnTo>
                    <a:pt x="36" y="12"/>
                  </a:lnTo>
                  <a:lnTo>
                    <a:pt x="36"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87" name="Freeform 104"/>
            <p:cNvSpPr>
              <a:spLocks noChangeAspect="1"/>
            </p:cNvSpPr>
            <p:nvPr/>
          </p:nvSpPr>
          <p:spPr>
            <a:xfrm>
              <a:off x="3675" y="3101"/>
              <a:ext cx="265" cy="57"/>
            </a:xfrm>
            <a:custGeom>
              <a:avLst/>
              <a:gdLst>
                <a:gd name="txL" fmla="*/ 0 w 233"/>
                <a:gd name="txT" fmla="*/ 0 h 54"/>
                <a:gd name="txR" fmla="*/ 233 w 233"/>
                <a:gd name="txB" fmla="*/ 54 h 54"/>
              </a:gdLst>
              <a:ahLst/>
              <a:cxnLst>
                <a:cxn ang="0">
                  <a:pos x="0" y="232"/>
                </a:cxn>
                <a:cxn ang="0">
                  <a:pos x="0" y="0"/>
                </a:cxn>
                <a:cxn ang="0">
                  <a:pos x="7516" y="0"/>
                </a:cxn>
                <a:cxn ang="0">
                  <a:pos x="7516" y="232"/>
                </a:cxn>
                <a:cxn ang="0">
                  <a:pos x="0" y="232"/>
                </a:cxn>
                <a:cxn ang="0">
                  <a:pos x="0" y="232"/>
                </a:cxn>
              </a:cxnLst>
              <a:rect l="txL" t="txT" r="txR" b="txB"/>
              <a:pathLst>
                <a:path w="233" h="54">
                  <a:moveTo>
                    <a:pt x="0" y="54"/>
                  </a:moveTo>
                  <a:lnTo>
                    <a:pt x="0" y="0"/>
                  </a:lnTo>
                  <a:lnTo>
                    <a:pt x="233" y="0"/>
                  </a:lnTo>
                  <a:lnTo>
                    <a:pt x="233" y="54"/>
                  </a:lnTo>
                  <a:lnTo>
                    <a:pt x="0" y="54"/>
                  </a:lnTo>
                  <a:close/>
                </a:path>
              </a:pathLst>
            </a:custGeom>
            <a:solidFill>
              <a:schemeClr val="bg1">
                <a:alpha val="100000"/>
              </a:scheme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49188" name="Freeform 105"/>
            <p:cNvSpPr>
              <a:spLocks noChangeAspect="1"/>
            </p:cNvSpPr>
            <p:nvPr/>
          </p:nvSpPr>
          <p:spPr>
            <a:xfrm>
              <a:off x="3805" y="3101"/>
              <a:ext cx="128" cy="1"/>
            </a:xfrm>
            <a:custGeom>
              <a:avLst/>
              <a:gdLst>
                <a:gd name="txL" fmla="*/ 0 w 113"/>
                <a:gd name="txT" fmla="*/ 0 h 1"/>
                <a:gd name="txR" fmla="*/ 113 w 113"/>
                <a:gd name="txB" fmla="*/ 1 h 1"/>
              </a:gdLst>
              <a:ahLst/>
              <a:cxnLst>
                <a:cxn ang="0">
                  <a:pos x="0" y="0"/>
                </a:cxn>
                <a:cxn ang="0">
                  <a:pos x="3275" y="0"/>
                </a:cxn>
                <a:cxn ang="0">
                  <a:pos x="0" y="0"/>
                </a:cxn>
                <a:cxn ang="0">
                  <a:pos x="0" y="0"/>
                </a:cxn>
              </a:cxnLst>
              <a:rect l="txL" t="txT" r="txR" b="txB"/>
              <a:pathLst>
                <a:path w="113" h="1">
                  <a:moveTo>
                    <a:pt x="0" y="0"/>
                  </a:moveTo>
                  <a:lnTo>
                    <a:pt x="113" y="0"/>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189" name="Freeform 106"/>
            <p:cNvSpPr>
              <a:spLocks noChangeAspect="1"/>
            </p:cNvSpPr>
            <p:nvPr/>
          </p:nvSpPr>
          <p:spPr>
            <a:xfrm>
              <a:off x="3805" y="3152"/>
              <a:ext cx="135" cy="1"/>
            </a:xfrm>
            <a:custGeom>
              <a:avLst/>
              <a:gdLst>
                <a:gd name="txL" fmla="*/ 0 w 119"/>
                <a:gd name="txT" fmla="*/ 0 h 1"/>
                <a:gd name="txR" fmla="*/ 119 w 119"/>
                <a:gd name="txB" fmla="*/ 1 h 1"/>
              </a:gdLst>
              <a:ahLst/>
              <a:cxnLst>
                <a:cxn ang="0">
                  <a:pos x="0" y="0"/>
                </a:cxn>
                <a:cxn ang="0">
                  <a:pos x="3580" y="0"/>
                </a:cxn>
                <a:cxn ang="0">
                  <a:pos x="0" y="0"/>
                </a:cxn>
                <a:cxn ang="0">
                  <a:pos x="0" y="0"/>
                </a:cxn>
              </a:cxnLst>
              <a:rect l="txL" t="txT" r="txR" b="txB"/>
              <a:pathLst>
                <a:path w="119" h="1">
                  <a:moveTo>
                    <a:pt x="0" y="0"/>
                  </a:moveTo>
                  <a:lnTo>
                    <a:pt x="119" y="0"/>
                  </a:lnTo>
                  <a:lnTo>
                    <a:pt x="0"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190" name="Freeform 107"/>
            <p:cNvSpPr>
              <a:spLocks noChangeAspect="1"/>
            </p:cNvSpPr>
            <p:nvPr/>
          </p:nvSpPr>
          <p:spPr>
            <a:xfrm>
              <a:off x="3675" y="3101"/>
              <a:ext cx="130" cy="1"/>
            </a:xfrm>
            <a:custGeom>
              <a:avLst/>
              <a:gdLst>
                <a:gd name="txL" fmla="*/ 0 w 114"/>
                <a:gd name="txT" fmla="*/ 0 h 1"/>
                <a:gd name="txR" fmla="*/ 114 w 114"/>
                <a:gd name="txB" fmla="*/ 1 h 1"/>
              </a:gdLst>
              <a:ahLst/>
              <a:cxnLst>
                <a:cxn ang="0">
                  <a:pos x="3954" y="0"/>
                </a:cxn>
                <a:cxn ang="0">
                  <a:pos x="0" y="0"/>
                </a:cxn>
                <a:cxn ang="0">
                  <a:pos x="3954" y="0"/>
                </a:cxn>
                <a:cxn ang="0">
                  <a:pos x="3954" y="0"/>
                </a:cxn>
              </a:cxnLst>
              <a:rect l="txL" t="txT" r="txR" b="txB"/>
              <a:pathLst>
                <a:path w="114" h="1">
                  <a:moveTo>
                    <a:pt x="114" y="0"/>
                  </a:moveTo>
                  <a:lnTo>
                    <a:pt x="0" y="0"/>
                  </a:lnTo>
                  <a:lnTo>
                    <a:pt x="114"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191" name="Freeform 108"/>
            <p:cNvSpPr>
              <a:spLocks noChangeAspect="1"/>
            </p:cNvSpPr>
            <p:nvPr/>
          </p:nvSpPr>
          <p:spPr>
            <a:xfrm>
              <a:off x="3675" y="3152"/>
              <a:ext cx="130" cy="1"/>
            </a:xfrm>
            <a:custGeom>
              <a:avLst/>
              <a:gdLst>
                <a:gd name="txL" fmla="*/ 0 w 114"/>
                <a:gd name="txT" fmla="*/ 0 h 1"/>
                <a:gd name="txR" fmla="*/ 114 w 114"/>
                <a:gd name="txB" fmla="*/ 1 h 1"/>
              </a:gdLst>
              <a:ahLst/>
              <a:cxnLst>
                <a:cxn ang="0">
                  <a:pos x="3954" y="0"/>
                </a:cxn>
                <a:cxn ang="0">
                  <a:pos x="0" y="0"/>
                </a:cxn>
                <a:cxn ang="0">
                  <a:pos x="3954" y="0"/>
                </a:cxn>
                <a:cxn ang="0">
                  <a:pos x="3954" y="0"/>
                </a:cxn>
              </a:cxnLst>
              <a:rect l="txL" t="txT" r="txR" b="txB"/>
              <a:pathLst>
                <a:path w="114" h="1">
                  <a:moveTo>
                    <a:pt x="114" y="0"/>
                  </a:moveTo>
                  <a:lnTo>
                    <a:pt x="0" y="0"/>
                  </a:lnTo>
                  <a:lnTo>
                    <a:pt x="114" y="0"/>
                  </a:lnTo>
                  <a:close/>
                </a:path>
              </a:pathLst>
            </a:custGeom>
            <a:solidFill>
              <a:schemeClr val="bg1">
                <a:alpha val="100000"/>
              </a:scheme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49192" name="Freeform 109"/>
            <p:cNvSpPr>
              <a:spLocks noChangeAspect="1"/>
            </p:cNvSpPr>
            <p:nvPr/>
          </p:nvSpPr>
          <p:spPr>
            <a:xfrm>
              <a:off x="4021" y="2815"/>
              <a:ext cx="96" cy="89"/>
            </a:xfrm>
            <a:custGeom>
              <a:avLst/>
              <a:gdLst>
                <a:gd name="txL" fmla="*/ 0 w 84"/>
                <a:gd name="txT" fmla="*/ 0 h 84"/>
                <a:gd name="txR" fmla="*/ 84 w 84"/>
                <a:gd name="txB" fmla="*/ 84 h 84"/>
              </a:gdLst>
              <a:ahLst/>
              <a:cxnLst>
                <a:cxn ang="0">
                  <a:pos x="1347" y="172"/>
                </a:cxn>
                <a:cxn ang="0">
                  <a:pos x="0" y="172"/>
                </a:cxn>
                <a:cxn ang="0">
                  <a:pos x="0" y="229"/>
                </a:cxn>
                <a:cxn ang="0">
                  <a:pos x="1347" y="229"/>
                </a:cxn>
                <a:cxn ang="0">
                  <a:pos x="1347" y="401"/>
                </a:cxn>
                <a:cxn ang="0">
                  <a:pos x="1765" y="401"/>
                </a:cxn>
                <a:cxn ang="0">
                  <a:pos x="1765" y="229"/>
                </a:cxn>
                <a:cxn ang="0">
                  <a:pos x="3121" y="229"/>
                </a:cxn>
                <a:cxn ang="0">
                  <a:pos x="3121" y="172"/>
                </a:cxn>
                <a:cxn ang="0">
                  <a:pos x="1765" y="172"/>
                </a:cxn>
                <a:cxn ang="0">
                  <a:pos x="1765" y="0"/>
                </a:cxn>
                <a:cxn ang="0">
                  <a:pos x="1347" y="0"/>
                </a:cxn>
                <a:cxn ang="0">
                  <a:pos x="1347" y="172"/>
                </a:cxn>
              </a:cxnLst>
              <a:rect l="txL" t="txT" r="txR" b="txB"/>
              <a:pathLst>
                <a:path w="84" h="84">
                  <a:moveTo>
                    <a:pt x="36" y="36"/>
                  </a:moveTo>
                  <a:lnTo>
                    <a:pt x="0" y="36"/>
                  </a:lnTo>
                  <a:lnTo>
                    <a:pt x="0" y="48"/>
                  </a:lnTo>
                  <a:lnTo>
                    <a:pt x="36" y="48"/>
                  </a:lnTo>
                  <a:lnTo>
                    <a:pt x="36" y="84"/>
                  </a:lnTo>
                  <a:lnTo>
                    <a:pt x="48" y="84"/>
                  </a:lnTo>
                  <a:lnTo>
                    <a:pt x="48" y="48"/>
                  </a:lnTo>
                  <a:lnTo>
                    <a:pt x="84" y="48"/>
                  </a:lnTo>
                  <a:lnTo>
                    <a:pt x="84" y="36"/>
                  </a:lnTo>
                  <a:lnTo>
                    <a:pt x="48" y="36"/>
                  </a:lnTo>
                  <a:lnTo>
                    <a:pt x="48" y="0"/>
                  </a:lnTo>
                  <a:lnTo>
                    <a:pt x="36" y="0"/>
                  </a:lnTo>
                  <a:lnTo>
                    <a:pt x="36" y="3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93" name="Rectangle 110"/>
            <p:cNvSpPr>
              <a:spLocks noChangeAspect="1"/>
            </p:cNvSpPr>
            <p:nvPr/>
          </p:nvSpPr>
          <p:spPr>
            <a:xfrm>
              <a:off x="4014" y="3374"/>
              <a:ext cx="103" cy="13"/>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grpSp>
      <p:grpSp>
        <p:nvGrpSpPr>
          <p:cNvPr id="49156" name="Group 114"/>
          <p:cNvGrpSpPr/>
          <p:nvPr/>
        </p:nvGrpSpPr>
        <p:grpSpPr>
          <a:xfrm>
            <a:off x="665163" y="3602038"/>
            <a:ext cx="4124325" cy="1239837"/>
            <a:chOff x="1837" y="2523"/>
            <a:chExt cx="2132" cy="646"/>
          </a:xfrm>
        </p:grpSpPr>
        <p:graphicFrame>
          <p:nvGraphicFramePr>
            <p:cNvPr id="49161" name="Object 115"/>
            <p:cNvGraphicFramePr>
              <a:graphicFrameLocks noChangeAspect="1"/>
            </p:cNvGraphicFramePr>
            <p:nvPr/>
          </p:nvGraphicFramePr>
          <p:xfrm>
            <a:off x="1864" y="2635"/>
            <a:ext cx="2041" cy="489"/>
          </p:xfrm>
          <a:graphic>
            <a:graphicData uri="http://schemas.openxmlformats.org/presentationml/2006/ole">
              <p:oleObj spid="_x0000_s21506" r:id="rId3" imgW="1854200" imgH="444500" progId="">
                <p:embed/>
              </p:oleObj>
            </a:graphicData>
          </a:graphic>
        </p:graphicFrame>
        <p:sp>
          <p:nvSpPr>
            <p:cNvPr id="49162" name="Text Box 116"/>
            <p:cNvSpPr txBox="1"/>
            <p:nvPr/>
          </p:nvSpPr>
          <p:spPr>
            <a:xfrm>
              <a:off x="1837" y="2523"/>
              <a:ext cx="2132" cy="646"/>
            </a:xfrm>
            <a:prstGeom prst="rect">
              <a:avLst/>
            </a:prstGeom>
            <a:noFill/>
            <a:ln w="1905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000" dirty="0">
                  <a:latin typeface="Times New Roman" panose="02020603050405020304" pitchFamily="18" charset="0"/>
                  <a:cs typeface="Arial" panose="020B0604020202020204" pitchFamily="34" charset="0"/>
                </a:rPr>
                <a:t/>
              </a:r>
              <a:br>
                <a:rPr lang="en-US" altLang="zh-CN" sz="2000" dirty="0">
                  <a:latin typeface="Times New Roman" panose="02020603050405020304" pitchFamily="18" charset="0"/>
                  <a:cs typeface="Arial" panose="020B0604020202020204" pitchFamily="34" charset="0"/>
                </a:rPr>
              </a:br>
              <a:r>
                <a:rPr lang="en-US" altLang="zh-CN" sz="2000" dirty="0">
                  <a:latin typeface="Times New Roman" panose="02020603050405020304" pitchFamily="18" charset="0"/>
                  <a:cs typeface="Arial" panose="020B0604020202020204" pitchFamily="34" charset="0"/>
                </a:rPr>
                <a:t/>
              </a:r>
              <a:br>
                <a:rPr lang="en-US" altLang="zh-CN" sz="2000" dirty="0">
                  <a:latin typeface="Times New Roman" panose="02020603050405020304" pitchFamily="18" charset="0"/>
                  <a:cs typeface="Arial" panose="020B0604020202020204" pitchFamily="34" charset="0"/>
                </a:rPr>
              </a:br>
              <a:endParaRPr lang="en-US" altLang="zh-CN" sz="2000" dirty="0">
                <a:latin typeface="Times New Roman" panose="02020603050405020304" pitchFamily="18" charset="0"/>
                <a:ea typeface="Arial" panose="020B0604020202020204" pitchFamily="34" charset="0"/>
              </a:endParaRPr>
            </a:p>
          </p:txBody>
        </p:sp>
      </p:grpSp>
      <p:sp>
        <p:nvSpPr>
          <p:cNvPr id="49157" name="Text Box 117"/>
          <p:cNvSpPr txBox="1"/>
          <p:nvPr/>
        </p:nvSpPr>
        <p:spPr>
          <a:xfrm>
            <a:off x="592138" y="6434138"/>
            <a:ext cx="184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zh-CN" sz="2000" dirty="0">
              <a:latin typeface="Times New Roman" panose="02020603050405020304" pitchFamily="18" charset="0"/>
              <a:ea typeface="Arial" panose="020B0604020202020204" pitchFamily="34" charset="0"/>
            </a:endParaRPr>
          </a:p>
        </p:txBody>
      </p:sp>
      <p:sp>
        <p:nvSpPr>
          <p:cNvPr id="49158" name="Text Box 118"/>
          <p:cNvSpPr txBox="1"/>
          <p:nvPr/>
        </p:nvSpPr>
        <p:spPr>
          <a:xfrm>
            <a:off x="5062538" y="4011613"/>
            <a:ext cx="40401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a:t>
            </a:r>
            <a:r>
              <a:rPr lang="zh-CN" altLang="en-US" sz="2400" b="1" dirty="0">
                <a:latin typeface="Times New Roman" panose="02020603050405020304" pitchFamily="18" charset="0"/>
                <a:cs typeface="Arial" panose="020B0604020202020204" pitchFamily="34" charset="0"/>
              </a:rPr>
              <a:t>相当于平板间距</a:t>
            </a:r>
            <a:r>
              <a:rPr lang="en-US" altLang="zh-CN" sz="2400" b="1" dirty="0">
                <a:latin typeface="Times New Roman" panose="02020603050405020304" pitchFamily="18" charset="0"/>
                <a:cs typeface="Arial" panose="020B0604020202020204" pitchFamily="34" charset="0"/>
              </a:rPr>
              <a:t>d↑</a:t>
            </a:r>
            <a:r>
              <a:rPr lang="zh-CN" altLang="en-US" sz="2400" b="1" dirty="0">
                <a:latin typeface="Times New Roman" panose="02020603050405020304" pitchFamily="18" charset="0"/>
                <a:cs typeface="Arial" panose="020B0604020202020204" pitchFamily="34" charset="0"/>
              </a:rPr>
              <a:t>，</a:t>
            </a:r>
            <a:r>
              <a:rPr lang="en-US" altLang="zh-CN" sz="2400" b="1" dirty="0">
                <a:latin typeface="Times New Roman" panose="02020603050405020304" pitchFamily="18" charset="0"/>
                <a:cs typeface="Arial" panose="020B0604020202020204" pitchFamily="34" charset="0"/>
              </a:rPr>
              <a:t>C↓</a:t>
            </a:r>
            <a:r>
              <a:rPr lang="zh-CN" altLang="en-US" sz="2400" b="1" dirty="0">
                <a:latin typeface="Times New Roman" panose="02020603050405020304" pitchFamily="18" charset="0"/>
                <a:cs typeface="Arial" panose="020B0604020202020204" pitchFamily="34" charset="0"/>
              </a:rPr>
              <a:t>）</a:t>
            </a:r>
            <a:endParaRPr lang="zh-CN" altLang="en-US" sz="2400" b="1" dirty="0">
              <a:latin typeface="Times New Roman" panose="02020603050405020304" pitchFamily="18" charset="0"/>
              <a:ea typeface="Arial" panose="020B0604020202020204" pitchFamily="34" charset="0"/>
            </a:endParaRPr>
          </a:p>
        </p:txBody>
      </p:sp>
      <p:sp>
        <p:nvSpPr>
          <p:cNvPr id="49159" name="Text Box 119"/>
          <p:cNvSpPr txBox="1"/>
          <p:nvPr/>
        </p:nvSpPr>
        <p:spPr>
          <a:xfrm>
            <a:off x="665163" y="5365750"/>
            <a:ext cx="7207250" cy="461963"/>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FF"/>
                </a:solidFill>
                <a:latin typeface="Arial Black" panose="020B0A04020102020204" pitchFamily="34" charset="0"/>
                <a:cs typeface="Arial" panose="020B0604020202020204" pitchFamily="34" charset="0"/>
              </a:rPr>
              <a:t>串联电容</a:t>
            </a:r>
            <a:r>
              <a:rPr lang="zh-CN" altLang="en-US" sz="2400" b="1" dirty="0">
                <a:latin typeface="Arial Black" panose="020B0A04020102020204" pitchFamily="34" charset="0"/>
                <a:cs typeface="Arial" panose="020B0604020202020204" pitchFamily="34" charset="0"/>
              </a:rPr>
              <a:t>的等效电容就是每个电容倒数之和的倒数。</a:t>
            </a:r>
            <a:endParaRPr lang="en-US" altLang="zh-CN" sz="2400" b="1" dirty="0">
              <a:latin typeface="Arial Black" panose="020B0A04020102020204" pitchFamily="34" charset="0"/>
              <a:ea typeface="Arial" panose="020B0604020202020204" pitchFamily="34" charset="0"/>
            </a:endParaRPr>
          </a:p>
        </p:txBody>
      </p:sp>
      <p:sp>
        <p:nvSpPr>
          <p:cNvPr id="2" name="右箭头 1"/>
          <p:cNvSpPr/>
          <p:nvPr/>
        </p:nvSpPr>
        <p:spPr>
          <a:xfrm>
            <a:off x="4838700" y="1968500"/>
            <a:ext cx="596900" cy="271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p:nvPr/>
        </p:nvSpPr>
        <p:spPr>
          <a:xfrm>
            <a:off x="395288" y="476250"/>
            <a:ext cx="424815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b="1" dirty="0">
                <a:solidFill>
                  <a:srgbClr val="FF0000"/>
                </a:solidFill>
                <a:latin typeface="Arial Black" panose="020B0A04020102020204" pitchFamily="34" charset="0"/>
                <a:cs typeface="Arial" panose="020B0604020202020204" pitchFamily="34" charset="0"/>
              </a:rPr>
              <a:t>6-6</a:t>
            </a:r>
            <a:r>
              <a:rPr lang="zh-CN" altLang="en-US" sz="2400" b="1" dirty="0">
                <a:solidFill>
                  <a:srgbClr val="FF0000"/>
                </a:solidFill>
                <a:latin typeface="Arial Black" panose="020B0A04020102020204" pitchFamily="34" charset="0"/>
                <a:cs typeface="Arial" panose="020B0604020202020204" pitchFamily="34" charset="0"/>
              </a:rPr>
              <a:t>：</a:t>
            </a:r>
            <a:endParaRPr lang="en-US" altLang="zh-CN" sz="2400" dirty="0">
              <a:solidFill>
                <a:srgbClr val="FF0000"/>
              </a:solidFill>
              <a:latin typeface="Arial Black" panose="020B0A04020102020204" pitchFamily="34" charset="0"/>
              <a:ea typeface="Arial" panose="020B0604020202020204" pitchFamily="34" charset="0"/>
            </a:endParaRPr>
          </a:p>
        </p:txBody>
      </p:sp>
      <p:pic>
        <p:nvPicPr>
          <p:cNvPr id="50179" name="Picture 3"/>
          <p:cNvPicPr>
            <a:picLocks noChangeAspect="1"/>
          </p:cNvPicPr>
          <p:nvPr/>
        </p:nvPicPr>
        <p:blipFill>
          <a:blip r:embed="rId2"/>
          <a:stretch>
            <a:fillRect/>
          </a:stretch>
        </p:blipFill>
        <p:spPr>
          <a:xfrm>
            <a:off x="1116013" y="2708275"/>
            <a:ext cx="6557962" cy="2349500"/>
          </a:xfrm>
          <a:prstGeom prst="rect">
            <a:avLst/>
          </a:prstGeom>
          <a:noFill/>
          <a:ln w="9525">
            <a:noFill/>
          </a:ln>
        </p:spPr>
      </p:pic>
      <p:sp>
        <p:nvSpPr>
          <p:cNvPr id="50180" name="Text Box 4"/>
          <p:cNvSpPr txBox="1"/>
          <p:nvPr/>
        </p:nvSpPr>
        <p:spPr>
          <a:xfrm>
            <a:off x="684213" y="1052513"/>
            <a:ext cx="6557962"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计算图示电路中</a:t>
            </a:r>
            <a:r>
              <a:rPr lang="en-US" altLang="zh-CN" sz="2400" b="1" dirty="0">
                <a:latin typeface="Times New Roman" panose="02020603050405020304" pitchFamily="18" charset="0"/>
                <a:cs typeface="Arial" panose="020B0604020202020204" pitchFamily="34" charset="0"/>
              </a:rPr>
              <a:t>a-b</a:t>
            </a:r>
            <a:r>
              <a:rPr lang="zh-CN" altLang="en-US" sz="2400" b="1" dirty="0">
                <a:latin typeface="Times New Roman" panose="02020603050405020304" pitchFamily="18" charset="0"/>
                <a:cs typeface="Arial" panose="020B0604020202020204" pitchFamily="34" charset="0"/>
              </a:rPr>
              <a:t>之间的等效电容。（堂练）</a:t>
            </a:r>
            <a:endParaRPr lang="en-US" altLang="zh-CN" sz="2400" b="1" dirty="0">
              <a:latin typeface="Times New Roman" panose="02020603050405020304" pitchFamily="18" charset="0"/>
              <a:ea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603250" y="1916113"/>
            <a:ext cx="8351838" cy="3355975"/>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0" lang="zh-CN" altLang="en-US" sz="3200" b="1" kern="1200" cap="none" spc="0" normalizeH="0" baseline="0" noProof="0" dirty="0">
                <a:solidFill>
                  <a:schemeClr val="accent5">
                    <a:lumMod val="50000"/>
                  </a:schemeClr>
                </a:solidFill>
                <a:latin typeface="Times New Roman" panose="02020603050405020304" pitchFamily="18" charset="0"/>
                <a:ea typeface="宋体" panose="02010600030101010101" pitchFamily="2" charset="-122"/>
                <a:cs typeface="+mn-cs"/>
              </a:rPr>
              <a:t>解</a:t>
            </a:r>
            <a:r>
              <a:rPr kumimoji="0" lang="en-US" altLang="zh-CN" sz="3200" b="1" kern="1200" cap="none" spc="0" normalizeH="0" baseline="0" noProof="0" dirty="0">
                <a:solidFill>
                  <a:schemeClr val="accent5">
                    <a:lumMod val="50000"/>
                  </a:schemeClr>
                </a:solidFill>
                <a:latin typeface="Times New Roman" panose="02020603050405020304" pitchFamily="18" charset="0"/>
                <a:ea typeface="宋体" panose="02010600030101010101" pitchFamily="2" charset="-122"/>
                <a:cs typeface="+mn-cs"/>
              </a:rPr>
              <a:t>:</a:t>
            </a:r>
            <a:r>
              <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t/>
            </a:r>
            <a:br>
              <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br>
            <a:endPar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endPar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endPar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t/>
            </a:r>
            <a:br>
              <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br>
            <a:r>
              <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t/>
            </a:r>
            <a:br>
              <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br>
            <a:endParaRPr kumimoji="0" lang="en-US"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endParaRPr>
          </a:p>
        </p:txBody>
      </p:sp>
      <p:graphicFrame>
        <p:nvGraphicFramePr>
          <p:cNvPr id="51203" name="Object 2"/>
          <p:cNvGraphicFramePr>
            <a:graphicFrameLocks noChangeAspect="1"/>
          </p:cNvGraphicFramePr>
          <p:nvPr/>
        </p:nvGraphicFramePr>
        <p:xfrm>
          <a:off x="1708150" y="2832100"/>
          <a:ext cx="2000250" cy="938213"/>
        </p:xfrm>
        <a:graphic>
          <a:graphicData uri="http://schemas.openxmlformats.org/presentationml/2006/ole">
            <p:oleObj spid="_x0000_s22532" r:id="rId3" imgW="837836" imgH="393529" progId="">
              <p:embed/>
            </p:oleObj>
          </a:graphicData>
        </a:graphic>
      </p:graphicFrame>
      <p:graphicFrame>
        <p:nvGraphicFramePr>
          <p:cNvPr id="51204" name="Object 3"/>
          <p:cNvGraphicFramePr>
            <a:graphicFrameLocks noChangeAspect="1"/>
          </p:cNvGraphicFramePr>
          <p:nvPr/>
        </p:nvGraphicFramePr>
        <p:xfrm>
          <a:off x="1547813" y="4356100"/>
          <a:ext cx="2643187" cy="493713"/>
        </p:xfrm>
        <a:graphic>
          <a:graphicData uri="http://schemas.openxmlformats.org/presentationml/2006/ole">
            <p:oleObj spid="_x0000_s22533" r:id="rId4" imgW="1091726" imgH="203112" progId="">
              <p:embed/>
            </p:oleObj>
          </a:graphicData>
        </a:graphic>
      </p:graphicFrame>
      <p:graphicFrame>
        <p:nvGraphicFramePr>
          <p:cNvPr id="51205" name="Object 4"/>
          <p:cNvGraphicFramePr>
            <a:graphicFrameLocks noChangeAspect="1"/>
          </p:cNvGraphicFramePr>
          <p:nvPr/>
        </p:nvGraphicFramePr>
        <p:xfrm>
          <a:off x="1433513" y="5373688"/>
          <a:ext cx="3028950" cy="895350"/>
        </p:xfrm>
        <a:graphic>
          <a:graphicData uri="http://schemas.openxmlformats.org/presentationml/2006/ole">
            <p:oleObj spid="_x0000_s22534" r:id="rId5" imgW="1333500" imgH="393700" progId="">
              <p:embed/>
            </p:oleObj>
          </a:graphicData>
        </a:graphic>
      </p:graphicFrame>
      <p:pic>
        <p:nvPicPr>
          <p:cNvPr id="51206" name="Picture 3"/>
          <p:cNvPicPr>
            <a:picLocks noChangeAspect="1"/>
          </p:cNvPicPr>
          <p:nvPr/>
        </p:nvPicPr>
        <p:blipFill>
          <a:blip r:embed="rId6"/>
          <a:stretch>
            <a:fillRect/>
          </a:stretch>
        </p:blipFill>
        <p:spPr>
          <a:xfrm>
            <a:off x="2708275" y="384175"/>
            <a:ext cx="5561013" cy="1989138"/>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95605" y="692150"/>
            <a:ext cx="5661660" cy="396240"/>
          </a:xfrm>
          <a:prstGeom prst="rect">
            <a:avLst/>
          </a:prstGeom>
        </p:spPr>
      </p:pic>
      <p:pic>
        <p:nvPicPr>
          <p:cNvPr id="3" name="图片 2"/>
          <p:cNvPicPr>
            <a:picLocks noChangeAspect="1"/>
          </p:cNvPicPr>
          <p:nvPr/>
        </p:nvPicPr>
        <p:blipFill>
          <a:blip r:embed="rId3"/>
          <a:stretch>
            <a:fillRect/>
          </a:stretch>
        </p:blipFill>
        <p:spPr>
          <a:xfrm>
            <a:off x="5148580" y="1268730"/>
            <a:ext cx="3741420" cy="2606040"/>
          </a:xfrm>
          <a:prstGeom prst="rect">
            <a:avLst/>
          </a:prstGeom>
        </p:spPr>
      </p:pic>
      <p:pic>
        <p:nvPicPr>
          <p:cNvPr id="4" name="图片 3"/>
          <p:cNvPicPr>
            <a:picLocks noChangeAspect="1"/>
          </p:cNvPicPr>
          <p:nvPr/>
        </p:nvPicPr>
        <p:blipFill>
          <a:blip r:embed="rId4"/>
          <a:stretch>
            <a:fillRect/>
          </a:stretch>
        </p:blipFill>
        <p:spPr>
          <a:xfrm>
            <a:off x="5724525" y="5228590"/>
            <a:ext cx="1447800" cy="563880"/>
          </a:xfrm>
          <a:prstGeom prst="rect">
            <a:avLst/>
          </a:prstGeom>
        </p:spPr>
      </p:pic>
      <p:sp>
        <p:nvSpPr>
          <p:cNvPr id="5" name="文本框 4"/>
          <p:cNvSpPr txBox="1"/>
          <p:nvPr/>
        </p:nvSpPr>
        <p:spPr>
          <a:xfrm>
            <a:off x="448310" y="1337945"/>
            <a:ext cx="4411980" cy="2306955"/>
          </a:xfrm>
          <a:prstGeom prst="rect">
            <a:avLst/>
          </a:prstGeom>
          <a:noFill/>
        </p:spPr>
        <p:txBody>
          <a:bodyPr wrap="square" rtlCol="0">
            <a:spAutoFit/>
          </a:bodyPr>
          <a:lstStyle/>
          <a:p>
            <a:r>
              <a:rPr lang="zh-CN" altLang="en-US">
                <a:solidFill>
                  <a:schemeClr val="tx1"/>
                </a:solidFill>
                <a:effectLst>
                  <a:outerShdw blurRad="38100" dist="19050" dir="2700000" algn="tl" rotWithShape="0">
                    <a:schemeClr val="dk1">
                      <a:alpha val="40000"/>
                    </a:schemeClr>
                  </a:outerShdw>
                </a:effectLst>
              </a:rPr>
              <a:t>解：最右边</a:t>
            </a:r>
            <a:r>
              <a:rPr lang="en-US" altLang="zh-CN">
                <a:solidFill>
                  <a:schemeClr val="tx1"/>
                </a:solidFill>
                <a:effectLst>
                  <a:outerShdw blurRad="38100" dist="19050" dir="2700000" algn="tl" rotWithShape="0">
                    <a:schemeClr val="dk1">
                      <a:alpha val="40000"/>
                    </a:schemeClr>
                  </a:outerShdw>
                </a:effectLst>
              </a:rPr>
              <a:t> 60</a:t>
            </a:r>
            <a:r>
              <a:rPr lang="zh-CN" altLang="en-US">
                <a:solidFill>
                  <a:schemeClr val="tx1"/>
                </a:solidFill>
                <a:effectLst>
                  <a:outerShdw blurRad="38100" dist="19050" dir="2700000" algn="tl" rotWithShape="0">
                    <a:schemeClr val="dk1">
                      <a:alpha val="40000"/>
                    </a:schemeClr>
                  </a:outerShdw>
                </a:effectLst>
              </a:rPr>
              <a:t>串</a:t>
            </a:r>
            <a:r>
              <a:rPr lang="en-US" altLang="zh-CN">
                <a:solidFill>
                  <a:schemeClr val="tx1"/>
                </a:solidFill>
                <a:effectLst>
                  <a:outerShdw blurRad="38100" dist="19050" dir="2700000" algn="tl" rotWithShape="0">
                    <a:schemeClr val="dk1">
                      <a:alpha val="40000"/>
                    </a:schemeClr>
                  </a:outerShdw>
                </a:effectLst>
              </a:rPr>
              <a:t>120=40</a:t>
            </a:r>
            <a:r>
              <a:rPr lang="zh-CN" altLang="en-US">
                <a:solidFill>
                  <a:schemeClr val="tx1"/>
                </a:solidFill>
                <a:effectLst>
                  <a:outerShdw blurRad="38100" dist="19050" dir="2700000" algn="tl" rotWithShape="0">
                    <a:schemeClr val="dk1">
                      <a:alpha val="40000"/>
                    </a:schemeClr>
                  </a:outerShdw>
                </a:effectLst>
              </a:rPr>
              <a:t>微法</a:t>
            </a:r>
          </a:p>
          <a:p>
            <a:endParaRPr lang="zh-CN" altLang="en-US">
              <a:solidFill>
                <a:schemeClr val="tx1"/>
              </a:solidFill>
              <a:effectLst>
                <a:outerShdw blurRad="38100" dist="19050" dir="2700000" algn="tl" rotWithShape="0">
                  <a:schemeClr val="dk1">
                    <a:alpha val="40000"/>
                  </a:schemeClr>
                </a:outerShdw>
              </a:effectLst>
            </a:endParaRPr>
          </a:p>
          <a:p>
            <a:r>
              <a:rPr lang="en-US" altLang="zh-CN">
                <a:solidFill>
                  <a:schemeClr val="tx1"/>
                </a:solidFill>
                <a:effectLst>
                  <a:outerShdw blurRad="38100" dist="19050" dir="2700000" algn="tl" rotWithShape="0">
                    <a:schemeClr val="dk1">
                      <a:alpha val="40000"/>
                    </a:schemeClr>
                  </a:outerShdw>
                </a:effectLst>
              </a:rPr>
              <a:t>40</a:t>
            </a:r>
            <a:r>
              <a:rPr lang="zh-CN" altLang="en-US">
                <a:solidFill>
                  <a:schemeClr val="tx1"/>
                </a:solidFill>
                <a:effectLst>
                  <a:outerShdw blurRad="38100" dist="19050" dir="2700000" algn="tl" rotWithShape="0">
                    <a:schemeClr val="dk1">
                      <a:alpha val="40000"/>
                    </a:schemeClr>
                  </a:outerShdw>
                </a:effectLst>
              </a:rPr>
              <a:t>并</a:t>
            </a:r>
            <a:r>
              <a:rPr lang="en-US" altLang="zh-CN">
                <a:solidFill>
                  <a:schemeClr val="tx1"/>
                </a:solidFill>
                <a:effectLst>
                  <a:outerShdw blurRad="38100" dist="19050" dir="2700000" algn="tl" rotWithShape="0">
                    <a:schemeClr val="dk1">
                      <a:alpha val="40000"/>
                    </a:schemeClr>
                  </a:outerShdw>
                </a:effectLst>
              </a:rPr>
              <a:t>20=60</a:t>
            </a:r>
            <a:r>
              <a:rPr lang="zh-CN" altLang="en-US">
                <a:solidFill>
                  <a:schemeClr val="tx1"/>
                </a:solidFill>
                <a:effectLst>
                  <a:outerShdw blurRad="38100" dist="19050" dir="2700000" algn="tl" rotWithShape="0">
                    <a:schemeClr val="dk1">
                      <a:alpha val="40000"/>
                    </a:schemeClr>
                  </a:outerShdw>
                </a:effectLst>
              </a:rPr>
              <a:t>微法</a:t>
            </a:r>
          </a:p>
          <a:p>
            <a:endParaRPr lang="zh-CN" altLang="en-US">
              <a:solidFill>
                <a:schemeClr val="tx1"/>
              </a:solidFill>
              <a:effectLst>
                <a:outerShdw blurRad="38100" dist="19050" dir="2700000" algn="tl" rotWithShape="0">
                  <a:schemeClr val="dk1">
                    <a:alpha val="40000"/>
                  </a:schemeClr>
                </a:outerShdw>
              </a:effectLst>
            </a:endParaRPr>
          </a:p>
          <a:p>
            <a:r>
              <a:rPr lang="en-US" altLang="zh-CN">
                <a:solidFill>
                  <a:schemeClr val="tx1"/>
                </a:solidFill>
                <a:effectLst>
                  <a:outerShdw blurRad="38100" dist="19050" dir="2700000" algn="tl" rotWithShape="0">
                    <a:schemeClr val="dk1">
                      <a:alpha val="40000"/>
                    </a:schemeClr>
                  </a:outerShdw>
                </a:effectLst>
              </a:rPr>
              <a:t>50</a:t>
            </a:r>
            <a:r>
              <a:rPr lang="zh-CN" altLang="en-US">
                <a:solidFill>
                  <a:schemeClr val="tx1"/>
                </a:solidFill>
                <a:effectLst>
                  <a:outerShdw blurRad="38100" dist="19050" dir="2700000" algn="tl" rotWithShape="0">
                    <a:schemeClr val="dk1">
                      <a:alpha val="40000"/>
                    </a:schemeClr>
                  </a:outerShdw>
                </a:effectLst>
              </a:rPr>
              <a:t>并</a:t>
            </a:r>
            <a:r>
              <a:rPr lang="en-US" altLang="zh-CN">
                <a:solidFill>
                  <a:schemeClr val="tx1"/>
                </a:solidFill>
                <a:effectLst>
                  <a:outerShdw blurRad="38100" dist="19050" dir="2700000" algn="tl" rotWithShape="0">
                    <a:schemeClr val="dk1">
                      <a:alpha val="40000"/>
                    </a:schemeClr>
                  </a:outerShdw>
                </a:effectLst>
              </a:rPr>
              <a:t>70=120</a:t>
            </a:r>
            <a:r>
              <a:rPr lang="zh-CN" altLang="en-US">
                <a:solidFill>
                  <a:schemeClr val="tx1"/>
                </a:solidFill>
                <a:effectLst>
                  <a:outerShdw blurRad="38100" dist="19050" dir="2700000" algn="tl" rotWithShape="0">
                    <a:schemeClr val="dk1">
                      <a:alpha val="40000"/>
                    </a:schemeClr>
                  </a:outerShdw>
                </a:effectLst>
              </a:rPr>
              <a:t>微法</a:t>
            </a:r>
          </a:p>
          <a:p>
            <a:endParaRPr lang="zh-CN" altLang="en-US">
              <a:solidFill>
                <a:schemeClr val="tx1"/>
              </a:solidFill>
              <a:effectLst>
                <a:outerShdw blurRad="38100" dist="19050" dir="2700000" algn="tl" rotWithShape="0">
                  <a:schemeClr val="dk1">
                    <a:alpha val="40000"/>
                  </a:schemeClr>
                </a:outerShdw>
              </a:effectLst>
            </a:endParaRPr>
          </a:p>
          <a:p>
            <a:r>
              <a:rPr lang="en-US" altLang="zh-CN">
                <a:solidFill>
                  <a:schemeClr val="tx1"/>
                </a:solidFill>
                <a:effectLst>
                  <a:outerShdw blurRad="38100" dist="19050" dir="2700000" algn="tl" rotWithShape="0">
                    <a:schemeClr val="dk1">
                      <a:alpha val="40000"/>
                    </a:schemeClr>
                  </a:outerShdw>
                </a:effectLst>
                <a:sym typeface="+mn-ea"/>
              </a:rPr>
              <a:t> 60</a:t>
            </a:r>
            <a:r>
              <a:rPr lang="zh-CN" altLang="en-US">
                <a:solidFill>
                  <a:schemeClr val="tx1"/>
                </a:solidFill>
                <a:effectLst>
                  <a:outerShdw blurRad="38100" dist="19050" dir="2700000" algn="tl" rotWithShape="0">
                    <a:schemeClr val="dk1">
                      <a:alpha val="40000"/>
                    </a:schemeClr>
                  </a:outerShdw>
                </a:effectLst>
                <a:sym typeface="+mn-ea"/>
              </a:rPr>
              <a:t>串</a:t>
            </a:r>
            <a:r>
              <a:rPr lang="en-US" altLang="zh-CN">
                <a:solidFill>
                  <a:schemeClr val="tx1"/>
                </a:solidFill>
                <a:effectLst>
                  <a:outerShdw blurRad="38100" dist="19050" dir="2700000" algn="tl" rotWithShape="0">
                    <a:schemeClr val="dk1">
                      <a:alpha val="40000"/>
                    </a:schemeClr>
                  </a:outerShdw>
                </a:effectLst>
                <a:sym typeface="+mn-ea"/>
              </a:rPr>
              <a:t>120=40</a:t>
            </a:r>
            <a:r>
              <a:rPr lang="zh-CN" altLang="en-US">
                <a:solidFill>
                  <a:schemeClr val="tx1"/>
                </a:solidFill>
                <a:effectLst>
                  <a:outerShdw blurRad="38100" dist="19050" dir="2700000" algn="tl" rotWithShape="0">
                    <a:schemeClr val="dk1">
                      <a:alpha val="40000"/>
                    </a:schemeClr>
                  </a:outerShdw>
                </a:effectLst>
                <a:sym typeface="+mn-ea"/>
              </a:rPr>
              <a:t>微法</a:t>
            </a:r>
            <a:endParaRPr lang="zh-CN" altLang="en-US">
              <a:solidFill>
                <a:schemeClr val="tx1"/>
              </a:solidFill>
              <a:effectLst>
                <a:outerShdw blurRad="38100" dist="19050" dir="2700000" algn="tl" rotWithShape="0">
                  <a:schemeClr val="dk1">
                    <a:alpha val="40000"/>
                  </a:schemeClr>
                </a:outerShdw>
              </a:effectLst>
            </a:endParaRPr>
          </a:p>
          <a:p>
            <a:endParaRPr lang="zh-CN" altLang="en-US">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p:nvPr/>
        </p:nvSpPr>
        <p:spPr>
          <a:xfrm>
            <a:off x="539750" y="620713"/>
            <a:ext cx="371475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b="1" dirty="0">
                <a:solidFill>
                  <a:srgbClr val="FF0000"/>
                </a:solidFill>
                <a:latin typeface="Arial Black" panose="020B0A04020102020204" pitchFamily="34" charset="0"/>
                <a:cs typeface="Arial" panose="020B0604020202020204" pitchFamily="34" charset="0"/>
              </a:rPr>
              <a:t>6-7</a:t>
            </a:r>
            <a:r>
              <a:rPr lang="zh-CN" altLang="en-US" sz="2400" b="1" dirty="0">
                <a:solidFill>
                  <a:srgbClr val="FF0000"/>
                </a:solidFill>
                <a:latin typeface="Arial Black" panose="020B0A04020102020204" pitchFamily="34" charset="0"/>
                <a:cs typeface="Arial" panose="020B0604020202020204" pitchFamily="34" charset="0"/>
              </a:rPr>
              <a:t>：</a:t>
            </a:r>
            <a:r>
              <a:rPr lang="zh-CN" altLang="en-US" sz="2400" b="1" dirty="0">
                <a:solidFill>
                  <a:schemeClr val="folHlink"/>
                </a:solidFill>
                <a:latin typeface="Arial Black" panose="020B0A04020102020204" pitchFamily="34" charset="0"/>
                <a:cs typeface="Arial" panose="020B0604020202020204" pitchFamily="34" charset="0"/>
              </a:rPr>
              <a:t>（略，课后自习）</a:t>
            </a:r>
            <a:endParaRPr lang="zh-CN" altLang="en-US" sz="2400" b="1" dirty="0">
              <a:solidFill>
                <a:schemeClr val="folHlink"/>
              </a:solidFill>
              <a:latin typeface="Arial Black" panose="020B0A04020102020204" pitchFamily="34" charset="0"/>
              <a:ea typeface="Arial" panose="020B0604020202020204" pitchFamily="34" charset="0"/>
            </a:endParaRPr>
          </a:p>
        </p:txBody>
      </p:sp>
      <p:sp>
        <p:nvSpPr>
          <p:cNvPr id="52227" name="Text Box 3"/>
          <p:cNvSpPr txBox="1"/>
          <p:nvPr/>
        </p:nvSpPr>
        <p:spPr>
          <a:xfrm>
            <a:off x="1403350" y="1052513"/>
            <a:ext cx="7526338"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计算图中每个电容上的电压。</a:t>
            </a:r>
            <a:endParaRPr lang="en-US" altLang="zh-CN" sz="2400" b="1" dirty="0">
              <a:latin typeface="Times New Roman" panose="02020603050405020304" pitchFamily="18" charset="0"/>
              <a:ea typeface="Arial" panose="020B0604020202020204" pitchFamily="34" charset="0"/>
            </a:endParaRPr>
          </a:p>
        </p:txBody>
      </p:sp>
      <p:pic>
        <p:nvPicPr>
          <p:cNvPr id="52228" name="Picture 4"/>
          <p:cNvPicPr>
            <a:picLocks noChangeAspect="1"/>
          </p:cNvPicPr>
          <p:nvPr/>
        </p:nvPicPr>
        <p:blipFill>
          <a:blip r:embed="rId2"/>
          <a:stretch>
            <a:fillRect/>
          </a:stretch>
        </p:blipFill>
        <p:spPr>
          <a:xfrm>
            <a:off x="900113" y="1773238"/>
            <a:ext cx="6924675" cy="3240087"/>
          </a:xfrm>
          <a:prstGeom prst="rect">
            <a:avLst/>
          </a:prstGeom>
          <a:noFill/>
          <a:ln w="9525">
            <a:noFill/>
          </a:ln>
        </p:spPr>
      </p:pic>
      <p:pic>
        <p:nvPicPr>
          <p:cNvPr id="52229" name="Picture 5"/>
          <p:cNvPicPr>
            <a:picLocks noChangeAspect="1"/>
          </p:cNvPicPr>
          <p:nvPr/>
        </p:nvPicPr>
        <p:blipFill>
          <a:blip r:embed="rId3"/>
          <a:stretch>
            <a:fillRect/>
          </a:stretch>
        </p:blipFill>
        <p:spPr>
          <a:xfrm>
            <a:off x="611188" y="4929188"/>
            <a:ext cx="3805237" cy="1928812"/>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6"/>
          <p:cNvSpPr txBox="1"/>
          <p:nvPr/>
        </p:nvSpPr>
        <p:spPr>
          <a:xfrm>
            <a:off x="250825" y="1268413"/>
            <a:ext cx="8064500" cy="15700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E5"/>
                </a:solidFill>
                <a:latin typeface="Times New Roman" panose="02020603050405020304" pitchFamily="18" charset="0"/>
                <a:cs typeface="Arial" panose="020B0604020202020204" pitchFamily="34" charset="0"/>
              </a:rPr>
              <a:t>解</a:t>
            </a:r>
            <a:r>
              <a:rPr lang="en-US" altLang="zh-CN" sz="2400" b="1" dirty="0">
                <a:solidFill>
                  <a:srgbClr val="0000E5"/>
                </a:solidFill>
                <a:latin typeface="Times New Roman" panose="02020603050405020304" pitchFamily="18" charset="0"/>
                <a:cs typeface="Arial" panose="020B0604020202020204" pitchFamily="34" charset="0"/>
              </a:rPr>
              <a:t>:</a:t>
            </a: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40+20=60mF.</a:t>
            </a: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因此</a:t>
            </a:r>
            <a:r>
              <a:rPr lang="en-US" altLang="zh-CN" sz="2400" b="1" dirty="0">
                <a:latin typeface="Times New Roman" panose="02020603050405020304" pitchFamily="18" charset="0"/>
                <a:cs typeface="Arial" panose="020B0604020202020204" pitchFamily="34" charset="0"/>
              </a:rPr>
              <a:t>,</a:t>
            </a:r>
            <a:endParaRPr lang="en-US" altLang="zh-CN" sz="2400" b="1" dirty="0">
              <a:latin typeface="Times New Roman" panose="02020603050405020304" pitchFamily="18" charset="0"/>
              <a:ea typeface="Arial" panose="020B0604020202020204" pitchFamily="34" charset="0"/>
            </a:endParaRPr>
          </a:p>
        </p:txBody>
      </p:sp>
      <p:graphicFrame>
        <p:nvGraphicFramePr>
          <p:cNvPr id="53251" name="Object 2"/>
          <p:cNvGraphicFramePr>
            <a:graphicFrameLocks noChangeAspect="1"/>
          </p:cNvGraphicFramePr>
          <p:nvPr/>
        </p:nvGraphicFramePr>
        <p:xfrm>
          <a:off x="250825" y="2997200"/>
          <a:ext cx="8569325" cy="3505200"/>
        </p:xfrm>
        <a:graphic>
          <a:graphicData uri="http://schemas.openxmlformats.org/presentationml/2006/ole">
            <p:oleObj spid="_x0000_s23554" r:id="rId3" imgW="4102100" imgH="1676400" progId="">
              <p:embed/>
            </p:oleObj>
          </a:graphicData>
        </a:graphic>
      </p:graphicFrame>
      <p:pic>
        <p:nvPicPr>
          <p:cNvPr id="53252" name="Picture 4"/>
          <p:cNvPicPr>
            <a:picLocks noChangeAspect="1"/>
          </p:cNvPicPr>
          <p:nvPr/>
        </p:nvPicPr>
        <p:blipFill>
          <a:blip r:embed="rId4"/>
          <a:stretch>
            <a:fillRect/>
          </a:stretch>
        </p:blipFill>
        <p:spPr>
          <a:xfrm>
            <a:off x="3851275" y="549275"/>
            <a:ext cx="4968875" cy="2324100"/>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755650" y="692150"/>
            <a:ext cx="5029200" cy="373380"/>
          </a:xfrm>
          <a:prstGeom prst="rect">
            <a:avLst/>
          </a:prstGeom>
        </p:spPr>
      </p:pic>
      <p:pic>
        <p:nvPicPr>
          <p:cNvPr id="3" name="图片 2"/>
          <p:cNvPicPr>
            <a:picLocks noChangeAspect="1"/>
          </p:cNvPicPr>
          <p:nvPr/>
        </p:nvPicPr>
        <p:blipFill>
          <a:blip r:embed="rId3"/>
          <a:stretch>
            <a:fillRect/>
          </a:stretch>
        </p:blipFill>
        <p:spPr>
          <a:xfrm>
            <a:off x="4716145" y="1700530"/>
            <a:ext cx="3810000" cy="2446020"/>
          </a:xfrm>
          <a:prstGeom prst="rect">
            <a:avLst/>
          </a:prstGeom>
        </p:spPr>
      </p:pic>
      <p:sp>
        <p:nvSpPr>
          <p:cNvPr id="4" name="文本框 3"/>
          <p:cNvSpPr txBox="1"/>
          <p:nvPr/>
        </p:nvSpPr>
        <p:spPr>
          <a:xfrm>
            <a:off x="481330" y="1196340"/>
            <a:ext cx="4234815" cy="4939030"/>
          </a:xfrm>
          <a:prstGeom prst="rect">
            <a:avLst/>
          </a:prstGeom>
          <a:noFill/>
        </p:spPr>
        <p:txBody>
          <a:bodyPr wrap="square" rtlCol="0">
            <a:spAutoFit/>
            <a:scene3d>
              <a:camera prst="orthographicFront"/>
              <a:lightRig rig="threePt" dir="t"/>
            </a:scene3d>
          </a:bodyPr>
          <a:lstStyle/>
          <a:p>
            <a:pPr>
              <a:lnSpc>
                <a:spcPct val="150000"/>
              </a:lnSpc>
            </a:pPr>
            <a:r>
              <a:rPr lang="zh-CN" altLang="en-US">
                <a:solidFill>
                  <a:schemeClr val="tx1"/>
                </a:solidFill>
                <a:effectLst>
                  <a:outerShdw blurRad="38100" dist="19050" dir="2700000" algn="tl" rotWithShape="0">
                    <a:schemeClr val="dk1">
                      <a:alpha val="40000"/>
                    </a:schemeClr>
                  </a:outerShdw>
                </a:effectLst>
              </a:rPr>
              <a:t>解：先求总的等效电容</a:t>
            </a:r>
            <a:r>
              <a:rPr lang="en-US" altLang="zh-CN">
                <a:solidFill>
                  <a:schemeClr val="tx1"/>
                </a:solidFill>
                <a:effectLst>
                  <a:outerShdw blurRad="38100" dist="19050" dir="2700000" algn="tl" rotWithShape="0">
                    <a:schemeClr val="dk1">
                      <a:alpha val="40000"/>
                    </a:schemeClr>
                  </a:outerShdw>
                </a:effectLst>
              </a:rPr>
              <a:t>Ceq</a:t>
            </a:r>
          </a:p>
          <a:p>
            <a:pPr>
              <a:lnSpc>
                <a:spcPct val="150000"/>
              </a:lnSpc>
            </a:pPr>
            <a:r>
              <a:rPr lang="zh-CN" altLang="en-US">
                <a:solidFill>
                  <a:schemeClr val="tx1"/>
                </a:solidFill>
                <a:effectLst>
                  <a:outerShdw blurRad="38100" dist="19050" dir="2700000" algn="tl" rotWithShape="0">
                    <a:schemeClr val="dk1">
                      <a:alpha val="40000"/>
                    </a:schemeClr>
                  </a:outerShdw>
                </a:effectLst>
              </a:rPr>
              <a:t>最右边：</a:t>
            </a:r>
            <a:r>
              <a:rPr lang="en-US" altLang="zh-CN">
                <a:solidFill>
                  <a:schemeClr val="tx1"/>
                </a:solidFill>
                <a:effectLst>
                  <a:outerShdw blurRad="38100" dist="19050" dir="2700000" algn="tl" rotWithShape="0">
                    <a:schemeClr val="dk1">
                      <a:alpha val="40000"/>
                    </a:schemeClr>
                  </a:outerShdw>
                </a:effectLst>
              </a:rPr>
              <a:t> 60</a:t>
            </a:r>
            <a:r>
              <a:rPr lang="zh-CN" altLang="en-US">
                <a:solidFill>
                  <a:schemeClr val="tx1"/>
                </a:solidFill>
                <a:effectLst>
                  <a:outerShdw blurRad="38100" dist="19050" dir="2700000" algn="tl" rotWithShape="0">
                    <a:schemeClr val="dk1">
                      <a:alpha val="40000"/>
                    </a:schemeClr>
                  </a:outerShdw>
                </a:effectLst>
              </a:rPr>
              <a:t>串</a:t>
            </a:r>
            <a:r>
              <a:rPr lang="en-US" altLang="zh-CN">
                <a:solidFill>
                  <a:schemeClr val="tx1"/>
                </a:solidFill>
                <a:effectLst>
                  <a:outerShdw blurRad="38100" dist="19050" dir="2700000" algn="tl" rotWithShape="0">
                    <a:schemeClr val="dk1">
                      <a:alpha val="40000"/>
                    </a:schemeClr>
                  </a:outerShdw>
                </a:effectLst>
              </a:rPr>
              <a:t>30=60*30/(60+30)=20 </a:t>
            </a: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rPr>
              <a:t>μF</a:t>
            </a:r>
          </a:p>
          <a:p>
            <a:pPr>
              <a:lnSpc>
                <a:spcPct val="150000"/>
              </a:lnSpc>
            </a:pP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rPr>
              <a:t>20</a:t>
            </a:r>
            <a:r>
              <a:rPr lang="zh-CN" altLang="en-US">
                <a:solidFill>
                  <a:schemeClr val="tx1"/>
                </a:solidFill>
                <a:effectLst>
                  <a:outerShdw blurRad="38100" dist="19050" dir="2700000" algn="tl" rotWithShape="0">
                    <a:schemeClr val="dk1">
                      <a:alpha val="40000"/>
                    </a:schemeClr>
                  </a:outerShdw>
                </a:effectLst>
                <a:cs typeface="Arial" panose="020B0604020202020204" pitchFamily="34" charset="0"/>
              </a:rPr>
              <a:t>并</a:t>
            </a: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rPr>
              <a:t>20=40μF</a:t>
            </a:r>
          </a:p>
          <a:p>
            <a:pPr>
              <a:lnSpc>
                <a:spcPct val="150000"/>
              </a:lnSpc>
            </a:pP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rPr>
              <a:t>40</a:t>
            </a:r>
            <a:r>
              <a:rPr lang="zh-CN" altLang="en-US">
                <a:solidFill>
                  <a:schemeClr val="tx1"/>
                </a:solidFill>
                <a:effectLst>
                  <a:outerShdw blurRad="38100" dist="19050" dir="2700000" algn="tl" rotWithShape="0">
                    <a:schemeClr val="dk1">
                      <a:alpha val="40000"/>
                    </a:schemeClr>
                  </a:outerShdw>
                </a:effectLst>
                <a:cs typeface="Arial" panose="020B0604020202020204" pitchFamily="34" charset="0"/>
              </a:rPr>
              <a:t>串</a:t>
            </a: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rPr>
              <a:t>40=20</a:t>
            </a: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sym typeface="+mn-ea"/>
              </a:rPr>
              <a:t>μF =</a:t>
            </a:r>
            <a:r>
              <a:rPr lang="en-US" altLang="zh-CN">
                <a:solidFill>
                  <a:schemeClr val="tx1"/>
                </a:solidFill>
                <a:effectLst>
                  <a:outerShdw blurRad="38100" dist="19050" dir="2700000" algn="tl" rotWithShape="0">
                    <a:schemeClr val="dk1">
                      <a:alpha val="40000"/>
                    </a:schemeClr>
                  </a:outerShdw>
                </a:effectLst>
                <a:sym typeface="+mn-ea"/>
              </a:rPr>
              <a:t>Ceq</a:t>
            </a:r>
            <a:endParaRPr lang="en-US" altLang="zh-CN">
              <a:solidFill>
                <a:schemeClr val="tx1"/>
              </a:solidFill>
              <a:effectLst>
                <a:outerShdw blurRad="38100" dist="19050" dir="2700000" algn="tl" rotWithShape="0">
                  <a:schemeClr val="dk1">
                    <a:alpha val="40000"/>
                  </a:schemeClr>
                </a:outerShdw>
              </a:effectLst>
              <a:cs typeface="Arial" panose="020B0604020202020204" pitchFamily="34" charset="0"/>
            </a:endParaRPr>
          </a:p>
          <a:p>
            <a:pPr>
              <a:lnSpc>
                <a:spcPct val="150000"/>
              </a:lnSpc>
            </a:pP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rPr>
              <a:t>Q=</a:t>
            </a:r>
            <a:r>
              <a:rPr lang="en-US" altLang="zh-CN">
                <a:solidFill>
                  <a:schemeClr val="tx1"/>
                </a:solidFill>
                <a:effectLst>
                  <a:outerShdw blurRad="38100" dist="19050" dir="2700000" algn="tl" rotWithShape="0">
                    <a:schemeClr val="dk1">
                      <a:alpha val="40000"/>
                    </a:schemeClr>
                  </a:outerShdw>
                </a:effectLst>
                <a:sym typeface="+mn-ea"/>
              </a:rPr>
              <a:t>Ceq * V=20*150=3000</a:t>
            </a: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sym typeface="+mn-ea"/>
              </a:rPr>
              <a:t>μC</a:t>
            </a:r>
          </a:p>
          <a:p>
            <a:pPr>
              <a:lnSpc>
                <a:spcPct val="150000"/>
              </a:lnSpc>
            </a:pP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sym typeface="+mn-ea"/>
              </a:rPr>
              <a:t>V1=Q/C1=3000/40=75V</a:t>
            </a:r>
          </a:p>
          <a:p>
            <a:pPr>
              <a:lnSpc>
                <a:spcPct val="150000"/>
              </a:lnSpc>
            </a:pPr>
            <a:r>
              <a:rPr lang="en-US" altLang="zh-CN">
                <a:solidFill>
                  <a:schemeClr val="tx1"/>
                </a:solidFill>
                <a:effectLst>
                  <a:outerShdw blurRad="38100" dist="19050" dir="2700000" algn="tl" rotWithShape="0">
                    <a:schemeClr val="dk1">
                      <a:alpha val="40000"/>
                    </a:schemeClr>
                  </a:outerShdw>
                </a:effectLst>
                <a:cs typeface="Arial" panose="020B0604020202020204" pitchFamily="34" charset="0"/>
                <a:sym typeface="+mn-ea"/>
              </a:rPr>
              <a:t>V2=Q/40=75=150-V1</a:t>
            </a:r>
          </a:p>
          <a:p>
            <a:pPr>
              <a:lnSpc>
                <a:spcPct val="150000"/>
              </a:lnSpc>
            </a:pPr>
            <a:r>
              <a:rPr lang="zh-CN" altLang="en-US">
                <a:solidFill>
                  <a:schemeClr val="tx1"/>
                </a:solidFill>
                <a:effectLst>
                  <a:outerShdw blurRad="38100" dist="19050" dir="2700000" algn="tl" rotWithShape="0">
                    <a:schemeClr val="dk1">
                      <a:alpha val="40000"/>
                    </a:schemeClr>
                  </a:outerShdw>
                </a:effectLst>
                <a:sym typeface="+mn-ea"/>
              </a:rPr>
              <a:t>右边并联的两个支路，因为电容相同，电荷各一半。</a:t>
            </a:r>
            <a:endParaRPr lang="en-US" altLang="zh-CN">
              <a:solidFill>
                <a:schemeClr val="tx1"/>
              </a:solidFill>
              <a:effectLst>
                <a:outerShdw blurRad="38100" dist="19050" dir="2700000" algn="tl" rotWithShape="0">
                  <a:schemeClr val="dk1">
                    <a:alpha val="40000"/>
                  </a:schemeClr>
                </a:outerShdw>
              </a:effectLst>
              <a:sym typeface="+mn-ea"/>
            </a:endParaRPr>
          </a:p>
          <a:p>
            <a:pPr>
              <a:lnSpc>
                <a:spcPct val="150000"/>
              </a:lnSpc>
            </a:pPr>
            <a:r>
              <a:rPr lang="en-US" altLang="zh-CN">
                <a:solidFill>
                  <a:schemeClr val="tx1"/>
                </a:solidFill>
                <a:effectLst>
                  <a:outerShdw blurRad="38100" dist="19050" dir="2700000" algn="tl" rotWithShape="0">
                    <a:schemeClr val="dk1">
                      <a:alpha val="40000"/>
                    </a:schemeClr>
                  </a:outerShdw>
                </a:effectLst>
                <a:sym typeface="+mn-ea"/>
              </a:rPr>
              <a:t>V3=1500/60=25V</a:t>
            </a:r>
          </a:p>
          <a:p>
            <a:pPr>
              <a:lnSpc>
                <a:spcPct val="150000"/>
              </a:lnSpc>
            </a:pPr>
            <a:r>
              <a:rPr lang="en-US" altLang="zh-CN">
                <a:solidFill>
                  <a:schemeClr val="tx1"/>
                </a:solidFill>
                <a:effectLst>
                  <a:outerShdw blurRad="38100" dist="19050" dir="2700000" algn="tl" rotWithShape="0">
                    <a:schemeClr val="dk1">
                      <a:alpha val="40000"/>
                    </a:schemeClr>
                  </a:outerShdw>
                </a:effectLst>
                <a:sym typeface="+mn-ea"/>
              </a:rPr>
              <a:t>V4=V2-V3=75-25=50V</a:t>
            </a:r>
          </a:p>
          <a:p>
            <a:endParaRPr lang="en-US" altLang="zh-CN">
              <a:solidFill>
                <a:schemeClr val="tx1"/>
              </a:solidFill>
              <a:effectLst>
                <a:outerShdw blurRad="38100" dist="19050" dir="2700000" algn="tl" rotWithShape="0">
                  <a:schemeClr val="dk1">
                    <a:alpha val="40000"/>
                  </a:schemeClr>
                </a:outerShdw>
              </a:effectLst>
              <a:cs typeface="Arial" panose="020B0604020202020204" pitchFamily="34" charset="0"/>
            </a:endParaRPr>
          </a:p>
        </p:txBody>
      </p:sp>
      <p:pic>
        <p:nvPicPr>
          <p:cNvPr id="5" name="图片 4"/>
          <p:cNvPicPr>
            <a:picLocks noChangeAspect="1"/>
          </p:cNvPicPr>
          <p:nvPr/>
        </p:nvPicPr>
        <p:blipFill>
          <a:blip r:embed="rId4"/>
          <a:stretch>
            <a:fillRect/>
          </a:stretch>
        </p:blipFill>
        <p:spPr>
          <a:xfrm>
            <a:off x="2987675" y="5876925"/>
            <a:ext cx="5494020" cy="441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a:xfrm>
            <a:off x="539750" y="1989138"/>
            <a:ext cx="8229600" cy="1371600"/>
          </a:xfrm>
        </p:spPr>
        <p:txBody>
          <a:bodyPr vert="horz" wrap="square" lIns="91440" tIns="45720" rIns="91440" bIns="45720" anchor="ctr" anchorCtr="0"/>
          <a:lstStyle/>
          <a:p>
            <a:r>
              <a:rPr lang="zh-CN" altLang="en-US" sz="2800" dirty="0">
                <a:ea typeface="黑体" panose="02010609060101010101" pitchFamily="49" charset="-122"/>
              </a:rPr>
              <a:t>一个关于</a:t>
            </a:r>
            <a:r>
              <a:rPr lang="zh-CN" altLang="en-US" sz="2800" b="1" dirty="0">
                <a:solidFill>
                  <a:srgbClr val="FF0000"/>
                </a:solidFill>
                <a:ea typeface="黑体" panose="02010609060101010101" pitchFamily="49" charset="-122"/>
              </a:rPr>
              <a:t>“能量去哪里了”</a:t>
            </a:r>
            <a:r>
              <a:rPr lang="zh-CN" altLang="en-US" sz="2800" dirty="0">
                <a:ea typeface="黑体" panose="02010609060101010101" pitchFamily="49" charset="-122"/>
              </a:rPr>
              <a:t>的思考题：</a:t>
            </a:r>
          </a:p>
        </p:txBody>
      </p:sp>
      <p:sp>
        <p:nvSpPr>
          <p:cNvPr id="54275" name="Rectangle 3"/>
          <p:cNvSpPr>
            <a:spLocks noGrp="1"/>
          </p:cNvSpPr>
          <p:nvPr>
            <p:ph idx="1"/>
          </p:nvPr>
        </p:nvSpPr>
        <p:spPr>
          <a:xfrm>
            <a:off x="611505" y="1340485"/>
            <a:ext cx="8229600" cy="3886200"/>
          </a:xfrm>
        </p:spPr>
        <p:txBody>
          <a:bodyPr vert="horz" wrap="square" lIns="91440" tIns="45720" rIns="91440" bIns="45720" anchor="t" anchorCtr="0"/>
          <a:lstStyle/>
          <a:p>
            <a:endParaRPr lang="zh-CN" altLang="en-US" dirty="0"/>
          </a:p>
        </p:txBody>
      </p:sp>
      <p:pic>
        <p:nvPicPr>
          <p:cNvPr id="54276" name="Picture 5"/>
          <p:cNvPicPr>
            <a:picLocks noChangeAspect="1"/>
          </p:cNvPicPr>
          <p:nvPr/>
        </p:nvPicPr>
        <p:blipFill>
          <a:blip r:embed="rId3"/>
          <a:stretch>
            <a:fillRect/>
          </a:stretch>
        </p:blipFill>
        <p:spPr>
          <a:xfrm>
            <a:off x="2555875" y="3284538"/>
            <a:ext cx="4359275" cy="2487612"/>
          </a:xfrm>
          <a:prstGeom prst="rect">
            <a:avLst/>
          </a:prstGeom>
          <a:noFill/>
          <a:ln w="9525">
            <a:noFill/>
          </a:ln>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68680"/>
            <a:ext cx="8229600" cy="4998720"/>
          </a:xfrm>
        </p:spPr>
        <p:txBody>
          <a:bodyPr/>
          <a:lstStyle/>
          <a:p>
            <a:r>
              <a:rPr lang="en-US" altLang="zh-CN"/>
              <a:t>W</a:t>
            </a:r>
            <a:r>
              <a:rPr lang="zh-CN" altLang="en-US"/>
              <a:t>左</a:t>
            </a:r>
            <a:r>
              <a:rPr lang="en-US" altLang="zh-CN"/>
              <a:t>=QU,</a:t>
            </a:r>
          </a:p>
          <a:p>
            <a:endParaRPr lang="en-US" altLang="zh-CN"/>
          </a:p>
          <a:p>
            <a:r>
              <a:rPr lang="en-US" altLang="zh-CN"/>
              <a:t>W=0.5CU</a:t>
            </a:r>
            <a:r>
              <a:rPr lang="en-US" altLang="zh-CN" baseline="30000">
                <a:solidFill>
                  <a:schemeClr val="tx1"/>
                </a:solidFill>
                <a:uFillTx/>
              </a:rPr>
              <a:t>2</a:t>
            </a:r>
            <a:r>
              <a:rPr lang="en-US" altLang="zh-CN">
                <a:sym typeface="+mn-ea"/>
              </a:rPr>
              <a:t>=0.5QU</a:t>
            </a:r>
          </a:p>
          <a:p>
            <a:endParaRPr lang="en-US" altLang="zh-CN" baseline="30000">
              <a:solidFill>
                <a:schemeClr val="tx1"/>
              </a:solidFill>
              <a:uFillTx/>
            </a:endParaRPr>
          </a:p>
          <a:p>
            <a:r>
              <a:rPr lang="zh-CN" altLang="en-US" baseline="30000">
                <a:solidFill>
                  <a:schemeClr val="tx1"/>
                </a:solidFill>
                <a:uFillTx/>
              </a:rPr>
              <a:t>消失的能量去了哪里？发射电磁波？</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a:spLocks noGrp="1"/>
          </p:cNvSpPr>
          <p:nvPr>
            <p:ph type="title"/>
          </p:nvPr>
        </p:nvSpPr>
        <p:spPr/>
        <p:txBody>
          <a:bodyPr vert="horz" wrap="square" lIns="91440" tIns="45720" rIns="91440" bIns="45720" anchor="ctr" anchorCtr="0"/>
          <a:lstStyle/>
          <a:p>
            <a:pPr eaLnBrk="1" hangingPunct="1">
              <a:spcBef>
                <a:spcPct val="50000"/>
              </a:spcBef>
            </a:pPr>
            <a:r>
              <a:rPr lang="en-US" altLang="zh-CN" b="1" dirty="0">
                <a:solidFill>
                  <a:srgbClr val="0000FF"/>
                </a:solidFill>
              </a:rPr>
              <a:t>6.4  </a:t>
            </a:r>
            <a:r>
              <a:rPr lang="zh-CN" altLang="en-US" b="1" dirty="0">
                <a:solidFill>
                  <a:srgbClr val="0000FF"/>
                </a:solidFill>
              </a:rPr>
              <a:t>电感</a:t>
            </a:r>
            <a:endParaRPr lang="en-US" altLang="zh-CN" b="1" dirty="0">
              <a:solidFill>
                <a:srgbClr val="0000FF"/>
              </a:solidFill>
            </a:endParaRPr>
          </a:p>
        </p:txBody>
      </p:sp>
      <p:sp>
        <p:nvSpPr>
          <p:cNvPr id="56323" name="Text Box 3"/>
          <p:cNvSpPr>
            <a:spLocks noGrp="1"/>
          </p:cNvSpPr>
          <p:nvPr>
            <p:ph type="body" sz="half" idx="1"/>
          </p:nvPr>
        </p:nvSpPr>
        <p:spPr>
          <a:xfrm>
            <a:off x="2046288" y="1827213"/>
            <a:ext cx="5051425" cy="514350"/>
          </a:xfrm>
          <a:ln w="76200" cmpd="tri">
            <a:solidFill>
              <a:schemeClr val="tx1">
                <a:alpha val="100000"/>
              </a:schemeClr>
            </a:solidFill>
            <a:miter lim="800000"/>
          </a:ln>
        </p:spPr>
        <p:txBody>
          <a:bodyPr vert="horz" wrap="square" lIns="91440" tIns="45720" rIns="91440" bIns="45720" anchor="t" anchorCtr="0"/>
          <a:lstStyle/>
          <a:p>
            <a:pPr eaLnBrk="1" hangingPunct="1">
              <a:spcBef>
                <a:spcPct val="50000"/>
              </a:spcBef>
              <a:buClrTx/>
              <a:buSzTx/>
              <a:buFontTx/>
              <a:buNone/>
            </a:pPr>
            <a:r>
              <a:rPr lang="zh-CN" altLang="en-US" sz="2800" b="1" dirty="0">
                <a:solidFill>
                  <a:srgbClr val="FF0000"/>
                </a:solidFill>
              </a:rPr>
              <a:t>电感</a:t>
            </a:r>
            <a:r>
              <a:rPr lang="zh-CN" altLang="en-US" sz="2800" b="1" dirty="0"/>
              <a:t>由导线绕成的线圈组成。</a:t>
            </a:r>
            <a:endParaRPr lang="en-US" altLang="zh-CN" sz="2800" b="1" dirty="0"/>
          </a:p>
        </p:txBody>
      </p:sp>
      <p:graphicFrame>
        <p:nvGraphicFramePr>
          <p:cNvPr id="56324" name="Object 4"/>
          <p:cNvGraphicFramePr>
            <a:graphicFrameLocks noGrp="1" noChangeAspect="1"/>
          </p:cNvGraphicFramePr>
          <p:nvPr>
            <p:ph sz="quarter" idx="2"/>
          </p:nvPr>
        </p:nvGraphicFramePr>
        <p:xfrm>
          <a:off x="827723" y="2492058"/>
          <a:ext cx="1322387" cy="1039812"/>
        </p:xfrm>
        <a:graphic>
          <a:graphicData uri="http://schemas.openxmlformats.org/presentationml/2006/ole">
            <p:oleObj spid="_x0000_s24579" r:id="rId4" imgW="596900" imgH="469900" progId="">
              <p:embed/>
            </p:oleObj>
          </a:graphicData>
        </a:graphic>
      </p:graphicFrame>
      <p:sp>
        <p:nvSpPr>
          <p:cNvPr id="155653" name="Text Box 6"/>
          <p:cNvSpPr txBox="1">
            <a:spLocks noChangeArrowheads="1"/>
          </p:cNvSpPr>
          <p:nvPr/>
        </p:nvSpPr>
        <p:spPr bwMode="auto">
          <a:xfrm>
            <a:off x="2771775" y="2718753"/>
            <a:ext cx="4178300" cy="1200150"/>
          </a:xfrm>
          <a:prstGeom prst="rect">
            <a:avLst/>
          </a:prstGeom>
          <a:noFill/>
          <a:ln>
            <a:noFill/>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当电感线圈流过电流时，其周围建立磁场，</a:t>
            </a:r>
            <a:r>
              <a:rPr kumimoji="0" lang="zh-CN" altLang="en-US" sz="2400" b="1" i="0" u="none" strike="noStrike" kern="1200" cap="none" spc="0" normalizeH="0" baseline="0" noProof="0" dirty="0">
                <a:ln>
                  <a:noFill/>
                </a:ln>
                <a:solidFill>
                  <a:srgbClr val="0000FF"/>
                </a:solidFill>
                <a:effectLst/>
                <a:uLnTx/>
                <a:uFillTx/>
                <a:latin typeface="+mn-ea"/>
                <a:ea typeface="+mn-ea"/>
                <a:cs typeface="Arial" panose="020B0604020202020204" pitchFamily="34" charset="0"/>
              </a:rPr>
              <a:t>储存磁场能量</a:t>
            </a:r>
            <a:r>
              <a:rPr kumimoji="0" lang="zh-CN" altLang="en-US" sz="2400" b="1" i="0" u="none" strike="noStrike" kern="1200" cap="none" spc="0" normalizeH="0" baseline="0" noProof="0" dirty="0">
                <a:ln>
                  <a:noFill/>
                </a:ln>
                <a:solidFill>
                  <a:schemeClr val="tx1"/>
                </a:solidFill>
                <a:effectLst/>
                <a:uLnTx/>
                <a:uFillTx/>
                <a:latin typeface="+mn-ea"/>
                <a:ea typeface="+mn-ea"/>
                <a:cs typeface="Arial" panose="020B0604020202020204" pitchFamily="34" charset="0"/>
              </a:rPr>
              <a:t>，满足右手螺旋定则。</a:t>
            </a:r>
            <a:endParaRPr kumimoji="0" lang="zh-CN" altLang="en-US" sz="3200" b="1" i="0" u="none" strike="noStrike" kern="1200" cap="none" spc="0" normalizeH="0" baseline="0" noProof="0" dirty="0">
              <a:ln>
                <a:noFill/>
              </a:ln>
              <a:solidFill>
                <a:schemeClr val="tx1"/>
              </a:solidFill>
              <a:effectLst/>
              <a:uLnTx/>
              <a:uFillTx/>
              <a:latin typeface="+mn-ea"/>
              <a:ea typeface="+mn-ea"/>
              <a:cs typeface="Arial" panose="020B0604020202020204" pitchFamily="34" charset="0"/>
            </a:endParaRPr>
          </a:p>
        </p:txBody>
      </p:sp>
      <p:sp>
        <p:nvSpPr>
          <p:cNvPr id="56326" name="Text Box 9"/>
          <p:cNvSpPr txBox="1"/>
          <p:nvPr/>
        </p:nvSpPr>
        <p:spPr>
          <a:xfrm>
            <a:off x="1331595" y="5876925"/>
            <a:ext cx="5454650"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0"/>
              </a:spcBef>
              <a:buClrTx/>
              <a:buSzTx/>
            </a:pPr>
            <a:r>
              <a:rPr lang="zh-CN" altLang="en-US" sz="2400" b="1" dirty="0">
                <a:solidFill>
                  <a:srgbClr val="0000FF"/>
                </a:solidFill>
                <a:ea typeface="楷体_GB2312" pitchFamily="49" charset="-122"/>
              </a:rPr>
              <a:t>电感的指标：电感量，额定工作电流</a:t>
            </a:r>
          </a:p>
        </p:txBody>
      </p:sp>
      <p:graphicFrame>
        <p:nvGraphicFramePr>
          <p:cNvPr id="56327" name="Object 8"/>
          <p:cNvGraphicFramePr>
            <a:graphicFrameLocks noGrp="1" noChangeAspect="1"/>
          </p:cNvGraphicFramePr>
          <p:nvPr>
            <p:ph sz="quarter" idx="3"/>
          </p:nvPr>
        </p:nvGraphicFramePr>
        <p:xfrm>
          <a:off x="3851910" y="4148773"/>
          <a:ext cx="1655763" cy="993775"/>
        </p:xfrm>
        <a:graphic>
          <a:graphicData uri="http://schemas.openxmlformats.org/presentationml/2006/ole">
            <p:oleObj spid="_x0000_s24580" r:id="rId5" imgW="698500" imgH="419100" progId="">
              <p:embed/>
            </p:oleObj>
          </a:graphicData>
        </a:graphic>
      </p:graphicFrame>
      <p:sp>
        <p:nvSpPr>
          <p:cNvPr id="56328" name="Text Box 7"/>
          <p:cNvSpPr txBox="1"/>
          <p:nvPr/>
        </p:nvSpPr>
        <p:spPr>
          <a:xfrm>
            <a:off x="828040" y="4195445"/>
            <a:ext cx="24288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螺线管电感量</a:t>
            </a:r>
            <a:r>
              <a:rPr lang="en-US" altLang="zh-CN" sz="2400" b="1" dirty="0">
                <a:latin typeface="Times New Roman" panose="02020603050405020304" pitchFamily="18" charset="0"/>
                <a:cs typeface="Arial" panose="020B0604020202020204" pitchFamily="34" charset="0"/>
              </a:rPr>
              <a:t>:</a:t>
            </a:r>
            <a:endParaRPr lang="en-US" altLang="zh-CN" sz="2400" b="1" dirty="0">
              <a:latin typeface="Times New Roman" panose="02020603050405020304" pitchFamily="18" charset="0"/>
              <a:ea typeface="Arial" panose="020B0604020202020204" pitchFamily="34" charset="0"/>
            </a:endParaRPr>
          </a:p>
        </p:txBody>
      </p:sp>
      <p:pic>
        <p:nvPicPr>
          <p:cNvPr id="56329" name="Picture 8"/>
          <p:cNvPicPr>
            <a:picLocks noChangeAspect="1"/>
          </p:cNvPicPr>
          <p:nvPr/>
        </p:nvPicPr>
        <p:blipFill>
          <a:blip r:embed="rId6"/>
          <a:stretch>
            <a:fillRect/>
          </a:stretch>
        </p:blipFill>
        <p:spPr>
          <a:xfrm>
            <a:off x="7092950" y="3140075"/>
            <a:ext cx="1279525" cy="2736850"/>
          </a:xfrm>
          <a:prstGeom prst="rect">
            <a:avLst/>
          </a:prstGeom>
          <a:noFill/>
          <a:ln w="9525">
            <a:noFill/>
          </a:ln>
        </p:spPr>
      </p:pic>
      <p:sp>
        <p:nvSpPr>
          <p:cNvPr id="2" name="文本框 1"/>
          <p:cNvSpPr txBox="1"/>
          <p:nvPr/>
        </p:nvSpPr>
        <p:spPr>
          <a:xfrm>
            <a:off x="3347720" y="620395"/>
            <a:ext cx="5129530" cy="829945"/>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zh-CN" altLang="en-US" sz="2400"/>
              <a:t>电感基本公式：L＝Ψ/I。意义是单位电流引起线圈的磁通量（电磁场）。</a:t>
            </a:r>
          </a:p>
        </p:txBody>
      </p:sp>
      <p:sp>
        <p:nvSpPr>
          <p:cNvPr id="3" name="文本框 2"/>
          <p:cNvSpPr txBox="1"/>
          <p:nvPr/>
        </p:nvSpPr>
        <p:spPr>
          <a:xfrm>
            <a:off x="467360" y="5156835"/>
            <a:ext cx="6010275"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lvl="0"/>
            <a:r>
              <a:rPr lang="zh-CN" altLang="en-US" dirty="0">
                <a:sym typeface="+mn-ea"/>
              </a:rPr>
              <a:t>式中</a:t>
            </a:r>
            <a:r>
              <a:rPr lang="en-US" altLang="zh-CN" dirty="0">
                <a:sym typeface="+mn-ea"/>
              </a:rPr>
              <a:t>N</a:t>
            </a:r>
            <a:r>
              <a:rPr lang="zh-CN" altLang="en-US" dirty="0">
                <a:sym typeface="+mn-ea"/>
              </a:rPr>
              <a:t>是匝数，</a:t>
            </a:r>
            <a:r>
              <a:rPr lang="en-US" altLang="zh-CN" dirty="0">
                <a:sym typeface="+mn-ea"/>
              </a:rPr>
              <a:t>l</a:t>
            </a:r>
            <a:r>
              <a:rPr lang="zh-CN" altLang="en-US" dirty="0">
                <a:sym typeface="+mn-ea"/>
              </a:rPr>
              <a:t>是长度，</a:t>
            </a:r>
            <a:r>
              <a:rPr lang="en-US" altLang="zh-CN" dirty="0">
                <a:sym typeface="+mn-ea"/>
              </a:rPr>
              <a:t>A</a:t>
            </a:r>
            <a:r>
              <a:rPr lang="zh-CN" altLang="en-US" dirty="0">
                <a:sym typeface="+mn-ea"/>
              </a:rPr>
              <a:t>是横截面积，</a:t>
            </a:r>
            <a:r>
              <a:rPr lang="en-US" altLang="zh-CN" dirty="0">
                <a:sym typeface="+mn-ea"/>
              </a:rPr>
              <a:t>µ</a:t>
            </a:r>
            <a:r>
              <a:rPr lang="zh-CN" altLang="en-US" dirty="0">
                <a:sym typeface="+mn-ea"/>
              </a:rPr>
              <a:t>是磁芯的磁导率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70" name="Object 4"/>
          <p:cNvGraphicFramePr>
            <a:graphicFrameLocks noChangeAspect="1"/>
          </p:cNvGraphicFramePr>
          <p:nvPr/>
        </p:nvGraphicFramePr>
        <p:xfrm>
          <a:off x="1258888" y="4752975"/>
          <a:ext cx="1724025" cy="1273175"/>
        </p:xfrm>
        <a:graphic>
          <a:graphicData uri="http://schemas.openxmlformats.org/presentationml/2006/ole">
            <p:oleObj spid="_x0000_s25602" r:id="rId4" imgW="533169" imgH="393529" progId="">
              <p:embed/>
            </p:oleObj>
          </a:graphicData>
        </a:graphic>
      </p:graphicFrame>
      <p:sp>
        <p:nvSpPr>
          <p:cNvPr id="151555" name="Text Box 5"/>
          <p:cNvSpPr txBox="1">
            <a:spLocks noChangeArrowheads="1"/>
          </p:cNvSpPr>
          <p:nvPr/>
        </p:nvSpPr>
        <p:spPr bwMode="auto">
          <a:xfrm>
            <a:off x="3348038" y="4752975"/>
            <a:ext cx="5184775" cy="1385888"/>
          </a:xfrm>
          <a:prstGeom prst="rect">
            <a:avLst/>
          </a:prstGeom>
          <a:noFill/>
          <a:ln>
            <a:noFill/>
          </a:ln>
        </p:spPr>
        <p:txBody>
          <a:bodyPr>
            <a:spAutoFit/>
          </a:bodyPr>
          <a:lstStyle>
            <a:lvl1pPr eaLnBrk="0" hangingPunct="0">
              <a:defRPr>
                <a:solidFill>
                  <a:srgbClr val="FF0000"/>
                </a:solidFill>
                <a:latin typeface="Arial" panose="020B0604020202020204" pitchFamily="34" charset="0"/>
                <a:ea typeface="宋体-18030" pitchFamily="49" charset="-122"/>
              </a:defRPr>
            </a:lvl1pPr>
            <a:lvl2pPr marL="742950" indent="-285750" eaLnBrk="0" hangingPunct="0">
              <a:defRPr>
                <a:solidFill>
                  <a:srgbClr val="FF0000"/>
                </a:solidFill>
                <a:latin typeface="Arial" panose="020B0604020202020204" pitchFamily="34" charset="0"/>
                <a:ea typeface="宋体-18030" pitchFamily="49" charset="-122"/>
              </a:defRPr>
            </a:lvl2pPr>
            <a:lvl3pPr marL="1143000" indent="-228600" eaLnBrk="0" hangingPunct="0">
              <a:defRPr>
                <a:solidFill>
                  <a:srgbClr val="FF0000"/>
                </a:solidFill>
                <a:latin typeface="Arial" panose="020B0604020202020204" pitchFamily="34" charset="0"/>
                <a:ea typeface="宋体-18030" pitchFamily="49" charset="-122"/>
              </a:defRPr>
            </a:lvl3pPr>
            <a:lvl4pPr marL="1600200" indent="-228600" eaLnBrk="0" hangingPunct="0">
              <a:defRPr>
                <a:solidFill>
                  <a:srgbClr val="FF0000"/>
                </a:solidFill>
                <a:latin typeface="Arial" panose="020B0604020202020204" pitchFamily="34" charset="0"/>
                <a:ea typeface="宋体-18030" pitchFamily="49" charset="-122"/>
              </a:defRPr>
            </a:lvl4pPr>
            <a:lvl5pPr marL="2057400" indent="-228600" eaLnBrk="0" hangingPunct="0">
              <a:defRPr>
                <a:solidFill>
                  <a:srgbClr val="FF0000"/>
                </a:solidFill>
                <a:latin typeface="Arial" panose="020B0604020202020204" pitchFamily="34" charset="0"/>
                <a:ea typeface="宋体-18030" pitchFamily="49" charset="-122"/>
              </a:defRPr>
            </a:lvl5pPr>
            <a:lvl6pPr marL="25146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6pPr>
            <a:lvl7pPr marL="29718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7pPr>
            <a:lvl8pPr marL="34290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8pPr>
            <a:lvl9pPr marL="3886200" indent="-228600" eaLnBrk="0" fontAlgn="base" hangingPunct="0">
              <a:spcBef>
                <a:spcPct val="0"/>
              </a:spcBef>
              <a:spcAft>
                <a:spcPct val="0"/>
              </a:spcAft>
              <a:defRPr>
                <a:solidFill>
                  <a:srgbClr val="FF0000"/>
                </a:solidFill>
                <a:latin typeface="Arial" panose="020B0604020202020204" pitchFamily="34" charset="0"/>
                <a:ea typeface="宋体-18030"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Arial" panose="020B0604020202020204" pitchFamily="34" charset="0"/>
              </a:rPr>
              <a:t>1. </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v </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Arial" panose="020B0604020202020204" pitchFamily="34" charset="0"/>
              </a:rPr>
              <a:t>只与 </a:t>
            </a:r>
            <a:r>
              <a:rPr kumimoji="0" lang="en-US" altLang="zh-CN" sz="24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Arial" panose="020B0604020202020204" pitchFamily="34" charset="0"/>
              </a:rPr>
              <a:t>的变化量有关，与 </a:t>
            </a:r>
            <a:r>
              <a:rPr kumimoji="0" lang="en-US" altLang="zh-CN" sz="24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Arial" panose="020B0604020202020204" pitchFamily="34" charset="0"/>
              </a:rPr>
              <a:t>无关（</a:t>
            </a:r>
            <a:r>
              <a:rPr kumimoji="0" lang="zh-CN" altLang="en-US" sz="2400" b="1" i="0" u="none" strike="noStrike" kern="1200" cap="none" spc="0" normalizeH="0" baseline="0" noProof="0" dirty="0">
                <a:ln>
                  <a:noFill/>
                </a:ln>
                <a:solidFill>
                  <a:schemeClr val="bg2"/>
                </a:solidFill>
                <a:effectLst/>
                <a:uLnTx/>
                <a:uFillTx/>
                <a:latin typeface="楷体_GB2312" pitchFamily="49" charset="-122"/>
                <a:ea typeface="楷体_GB2312" pitchFamily="49" charset="-122"/>
                <a:cs typeface="Arial" panose="020B0604020202020204" pitchFamily="34" charset="0"/>
              </a:rPr>
              <a:t>动态性</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Arial" panose="020B0604020202020204" pitchFamily="34" charset="0"/>
              </a:rPr>
              <a:t>，</a:t>
            </a:r>
            <a:r>
              <a:rPr kumimoji="0" lang="zh-CN" altLang="en-US" sz="2400" b="1" i="0" u="none" strike="noStrike" kern="1200" cap="none" spc="0" normalizeH="0" baseline="0" noProof="0" dirty="0">
                <a:ln>
                  <a:noFill/>
                </a:ln>
                <a:solidFill>
                  <a:schemeClr val="bg2"/>
                </a:solidFill>
                <a:effectLst/>
                <a:uLnTx/>
                <a:uFillTx/>
                <a:latin typeface="楷体_GB2312" pitchFamily="49" charset="-122"/>
                <a:ea typeface="楷体_GB2312" pitchFamily="49" charset="-122"/>
                <a:cs typeface="Arial" panose="020B0604020202020204" pitchFamily="34" charset="0"/>
              </a:rPr>
              <a:t>阻交通直</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Arial" panose="020B0604020202020204" pitchFamily="34" charset="0"/>
              </a:rPr>
              <a:t>特性）</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Arial" panose="020B0604020202020204" pitchFamily="34" charset="0"/>
              </a:rPr>
              <a:t>2. </a:t>
            </a:r>
            <a:r>
              <a:rPr kumimoji="0" lang="en-US" altLang="zh-CN" sz="2400" b="1" i="1"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Arial" panose="020B0604020202020204" pitchFamily="34" charset="0"/>
              </a:rPr>
              <a:t>不能突变（</a:t>
            </a:r>
            <a:r>
              <a:rPr kumimoji="0" lang="en-US" altLang="zh-CN" sz="2400" b="1" i="1" u="none" strike="noStrike" kern="1200" cap="none" spc="0" normalizeH="0" baseline="0" noProof="0" dirty="0">
                <a:ln>
                  <a:noFill/>
                </a:ln>
                <a:solidFill>
                  <a:schemeClr val="accent1">
                    <a:lumMod val="25000"/>
                  </a:schemeClr>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400" b="1" i="1" u="none" strike="noStrike" kern="1200" cap="none" spc="0" normalizeH="0" baseline="0" noProof="0" dirty="0" err="1">
                <a:ln>
                  <a:noFill/>
                </a:ln>
                <a:solidFill>
                  <a:schemeClr val="accent1">
                    <a:lumMod val="25000"/>
                  </a:schemeClr>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1" u="none" strike="noStrike" kern="1200" cap="none" spc="0" normalizeH="0" baseline="0" noProof="0" dirty="0">
                <a:ln>
                  <a:noFill/>
                </a:ln>
                <a:solidFill>
                  <a:schemeClr val="accent1">
                    <a:lumMod val="25000"/>
                  </a:schemeClr>
                </a:solidFill>
                <a:effectLst/>
                <a:uLnTx/>
                <a:uFillTx/>
                <a:latin typeface="楷体_GB2312" pitchFamily="49" charset="-122"/>
                <a:ea typeface="楷体_GB2312" pitchFamily="49" charset="-122"/>
                <a:cs typeface="Arial" panose="020B0604020202020204" pitchFamily="34" charset="0"/>
              </a:rPr>
              <a:t> </a:t>
            </a:r>
            <a:r>
              <a:rPr kumimoji="0" lang="zh-CN" altLang="en-US" sz="2400" b="1" i="0" u="none" strike="noStrike" kern="1200" cap="none" spc="0" normalizeH="0" baseline="0" noProof="0" dirty="0">
                <a:ln>
                  <a:noFill/>
                </a:ln>
                <a:solidFill>
                  <a:schemeClr val="bg2"/>
                </a:solidFill>
                <a:effectLst/>
                <a:uLnTx/>
                <a:uFillTx/>
                <a:latin typeface="楷体_GB2312" pitchFamily="49" charset="-122"/>
                <a:ea typeface="楷体_GB2312" pitchFamily="49" charset="-122"/>
                <a:cs typeface="Arial" panose="020B0604020202020204" pitchFamily="34" charset="0"/>
              </a:rPr>
              <a:t>的连续性</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Arial" panose="020B0604020202020204" pitchFamily="34" charset="0"/>
              </a:rPr>
              <a:t>）</a:t>
            </a:r>
          </a:p>
        </p:txBody>
      </p:sp>
      <p:sp>
        <p:nvSpPr>
          <p:cNvPr id="58372" name="Text Box 6"/>
          <p:cNvSpPr txBox="1"/>
          <p:nvPr/>
        </p:nvSpPr>
        <p:spPr>
          <a:xfrm>
            <a:off x="1011238" y="962025"/>
            <a:ext cx="7521575" cy="830263"/>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       电感量</a:t>
            </a:r>
            <a:r>
              <a:rPr lang="zh-CN" altLang="en-US" sz="2400" b="1" dirty="0">
                <a:latin typeface="Arial Black" panose="020B0A04020102020204" pitchFamily="34" charset="0"/>
                <a:cs typeface="Arial" panose="020B0604020202020204" pitchFamily="34" charset="0"/>
              </a:rPr>
              <a:t>是电感在电流改变的情况下产生的特性，用亨利（</a:t>
            </a:r>
            <a:r>
              <a:rPr lang="en-US" altLang="zh-CN" sz="2400" b="1" dirty="0">
                <a:solidFill>
                  <a:srgbClr val="FF0000"/>
                </a:solidFill>
                <a:latin typeface="Times New Roman" panose="02020603050405020304" pitchFamily="18" charset="0"/>
                <a:cs typeface="Times New Roman" panose="02020603050405020304" pitchFamily="18" charset="0"/>
              </a:rPr>
              <a:t>H</a:t>
            </a:r>
            <a:r>
              <a:rPr lang="zh-CN" altLang="en-US" sz="2400" b="1" dirty="0">
                <a:latin typeface="Arial Black" panose="020B0A04020102020204" pitchFamily="34" charset="0"/>
                <a:cs typeface="Arial" panose="020B0604020202020204" pitchFamily="34" charset="0"/>
              </a:rPr>
              <a:t>）来衡量。</a:t>
            </a:r>
            <a:endParaRPr lang="en-US" altLang="zh-CN" sz="2400" b="1" dirty="0">
              <a:latin typeface="Arial Black" panose="020B0A04020102020204" pitchFamily="34" charset="0"/>
              <a:ea typeface="Arial" panose="020B0604020202020204" pitchFamily="34" charset="0"/>
            </a:endParaRPr>
          </a:p>
        </p:txBody>
      </p:sp>
      <p:sp>
        <p:nvSpPr>
          <p:cNvPr id="58373" name="Rectangle 12"/>
          <p:cNvSpPr/>
          <p:nvPr/>
        </p:nvSpPr>
        <p:spPr>
          <a:xfrm>
            <a:off x="1019175" y="2393950"/>
            <a:ext cx="7632700"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b="1" dirty="0">
                <a:ea typeface="楷体_GB2312" pitchFamily="49" charset="-122"/>
              </a:rPr>
              <a:t>      </a:t>
            </a:r>
            <a:r>
              <a:rPr lang="zh-CN" altLang="en-US" sz="2800" b="1" dirty="0">
                <a:latin typeface="宋体" panose="02010600030101010101" pitchFamily="2" charset="-122"/>
                <a:ea typeface="楷体_GB2312" pitchFamily="49" charset="-122"/>
              </a:rPr>
              <a:t>变化的电流产生</a:t>
            </a:r>
            <a:r>
              <a:rPr lang="zh-CN" altLang="en-US" sz="2800" b="1" dirty="0">
                <a:solidFill>
                  <a:srgbClr val="0000FF"/>
                </a:solidFill>
                <a:latin typeface="宋体" panose="02010600030101010101" pitchFamily="2" charset="-122"/>
                <a:ea typeface="楷体_GB2312" pitchFamily="49" charset="-122"/>
              </a:rPr>
              <a:t>感应电动势</a:t>
            </a:r>
            <a:r>
              <a:rPr lang="zh-CN" altLang="en-US" sz="2800" b="1" dirty="0">
                <a:latin typeface="宋体" panose="02010600030101010101" pitchFamily="2" charset="-122"/>
                <a:ea typeface="楷体_GB2312" pitchFamily="49" charset="-122"/>
              </a:rPr>
              <a:t>，其方向总是阻止磁场的变化。</a:t>
            </a:r>
            <a:endParaRPr lang="zh-CN" altLang="en-US" b="1" dirty="0">
              <a:latin typeface="宋体" panose="02010600030101010101" pitchFamily="2" charset="-122"/>
              <a:ea typeface="楷体_GB2312" pitchFamily="49" charset="-122"/>
            </a:endParaRPr>
          </a:p>
        </p:txBody>
      </p:sp>
      <p:sp>
        <p:nvSpPr>
          <p:cNvPr id="58374" name="文本框 1"/>
          <p:cNvSpPr txBox="1"/>
          <p:nvPr/>
        </p:nvSpPr>
        <p:spPr>
          <a:xfrm>
            <a:off x="611188" y="4221163"/>
            <a:ext cx="1724025"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b="1" dirty="0">
                <a:solidFill>
                  <a:srgbClr val="FF0000"/>
                </a:solidFill>
                <a:ea typeface="楷体_GB2312" pitchFamily="49" charset="-122"/>
              </a:rPr>
              <a:t>伏安特性：</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18" name="Object 2"/>
          <p:cNvGraphicFramePr>
            <a:graphicFrameLocks noChangeAspect="1"/>
          </p:cNvGraphicFramePr>
          <p:nvPr/>
        </p:nvGraphicFramePr>
        <p:xfrm>
          <a:off x="1382713" y="552450"/>
          <a:ext cx="3209925" cy="1006475"/>
        </p:xfrm>
        <a:graphic>
          <a:graphicData uri="http://schemas.openxmlformats.org/presentationml/2006/ole">
            <p:oleObj spid="_x0000_s26626" r:id="rId3" imgW="1256755" imgH="393529" progId="">
              <p:embed/>
            </p:oleObj>
          </a:graphicData>
        </a:graphic>
      </p:graphicFrame>
      <p:sp>
        <p:nvSpPr>
          <p:cNvPr id="60419" name="Text Box 3"/>
          <p:cNvSpPr txBox="1"/>
          <p:nvPr/>
        </p:nvSpPr>
        <p:spPr>
          <a:xfrm>
            <a:off x="592138" y="1709738"/>
            <a:ext cx="4791075" cy="17541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ClrTx/>
              <a:buSzTx/>
              <a:buFontTx/>
              <a:buAutoNum type="arabicPeriod"/>
            </a:pPr>
            <a:r>
              <a:rPr lang="zh-CN" altLang="en-US" sz="2400" b="1" dirty="0">
                <a:solidFill>
                  <a:schemeClr val="bg2"/>
                </a:solidFill>
                <a:latin typeface="Times New Roman" panose="02020603050405020304" pitchFamily="18" charset="0"/>
                <a:cs typeface="Arial" panose="020B0604020202020204" pitchFamily="34" charset="0"/>
              </a:rPr>
              <a:t>记忆性</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初始电流</a:t>
            </a:r>
            <a:r>
              <a:rPr lang="en-US" altLang="zh-CN" sz="2400" b="1" i="1" dirty="0">
                <a:latin typeface="Times New Roman" panose="02020603050405020304" pitchFamily="18" charset="0"/>
                <a:cs typeface="Arial" panose="020B0604020202020204" pitchFamily="34" charset="0"/>
              </a:rPr>
              <a:t>i</a:t>
            </a:r>
            <a:r>
              <a:rPr lang="en-US" altLang="zh-CN" sz="2400" b="1" dirty="0">
                <a:latin typeface="Times New Roman" panose="02020603050405020304" pitchFamily="18" charset="0"/>
                <a:cs typeface="Arial" panose="020B0604020202020204" pitchFamily="34" charset="0"/>
              </a:rPr>
              <a:t>(</a:t>
            </a:r>
            <a:r>
              <a:rPr lang="en-US" altLang="zh-CN" sz="2400" b="1" i="1" dirty="0">
                <a:latin typeface="Times New Roman" panose="02020603050405020304" pitchFamily="18" charset="0"/>
                <a:cs typeface="Arial" panose="020B0604020202020204" pitchFamily="34" charset="0"/>
              </a:rPr>
              <a:t>t</a:t>
            </a:r>
            <a:r>
              <a:rPr lang="en-US" altLang="zh-CN" sz="2400" b="1" i="1" baseline="-25000" dirty="0">
                <a:latin typeface="Times New Roman" panose="02020603050405020304" pitchFamily="18" charset="0"/>
                <a:cs typeface="Arial" panose="020B0604020202020204" pitchFamily="34" charset="0"/>
              </a:rPr>
              <a:t>0</a:t>
            </a:r>
            <a:r>
              <a:rPr lang="en-US" altLang="zh-CN" sz="2400" b="1" dirty="0">
                <a:latin typeface="Times New Roman" panose="02020603050405020304" pitchFamily="18" charset="0"/>
                <a:cs typeface="Arial" panose="020B0604020202020204" pitchFamily="34" charset="0"/>
              </a:rPr>
              <a:t>)</a:t>
            </a:r>
            <a:r>
              <a:rPr lang="zh-CN" altLang="en-US" sz="2400" b="1" dirty="0">
                <a:latin typeface="Times New Roman" panose="02020603050405020304" pitchFamily="18" charset="0"/>
                <a:cs typeface="Arial" panose="020B0604020202020204" pitchFamily="34" charset="0"/>
              </a:rPr>
              <a:t>体现历史；</a:t>
            </a:r>
          </a:p>
          <a:p>
            <a:pPr marL="342900" lvl="0" indent="-342900" eaLnBrk="1" hangingPunct="1">
              <a:spcBef>
                <a:spcPct val="50000"/>
              </a:spcBef>
              <a:buClrTx/>
              <a:buSzTx/>
              <a:buFontTx/>
              <a:buAutoNum type="arabicPeriod"/>
            </a:pPr>
            <a:r>
              <a:rPr lang="zh-CN" altLang="en-US" sz="2400" b="1" dirty="0">
                <a:solidFill>
                  <a:schemeClr val="bg2"/>
                </a:solidFill>
                <a:latin typeface="Times New Roman" panose="02020603050405020304" pitchFamily="18" charset="0"/>
                <a:cs typeface="Arial" panose="020B0604020202020204" pitchFamily="34" charset="0"/>
              </a:rPr>
              <a:t>存储性</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一个有初始电流的</a:t>
            </a:r>
            <a:r>
              <a:rPr lang="en-US" altLang="zh-CN" sz="2400" b="1" i="1" dirty="0">
                <a:latin typeface="Times New Roman" panose="02020603050405020304" pitchFamily="18" charset="0"/>
                <a:cs typeface="Arial" panose="020B0604020202020204" pitchFamily="34" charset="0"/>
              </a:rPr>
              <a:t>L</a:t>
            </a:r>
            <a:r>
              <a:rPr lang="zh-CN" altLang="en-US" sz="2400" b="1" dirty="0">
                <a:latin typeface="Times New Roman" panose="02020603050405020304" pitchFamily="18" charset="0"/>
                <a:cs typeface="Arial" panose="020B0604020202020204" pitchFamily="34" charset="0"/>
              </a:rPr>
              <a:t>可等效成一个电流源并联一个初始电流为</a:t>
            </a:r>
            <a:r>
              <a:rPr lang="en-US" altLang="zh-CN" sz="2400" b="1" dirty="0">
                <a:latin typeface="Times New Roman" panose="02020603050405020304" pitchFamily="18" charset="0"/>
                <a:cs typeface="Arial" panose="020B0604020202020204" pitchFamily="34" charset="0"/>
              </a:rPr>
              <a:t>0</a:t>
            </a:r>
            <a:r>
              <a:rPr lang="zh-CN" altLang="en-US" sz="2400" b="1" dirty="0">
                <a:latin typeface="Times New Roman" panose="02020603050405020304" pitchFamily="18" charset="0"/>
                <a:cs typeface="Arial" panose="020B0604020202020204" pitchFamily="34" charset="0"/>
              </a:rPr>
              <a:t>的原电感。</a:t>
            </a:r>
            <a:endParaRPr lang="zh-CN" altLang="en-US" sz="2400" b="1" dirty="0">
              <a:latin typeface="Times New Roman" panose="02020603050405020304" pitchFamily="18" charset="0"/>
              <a:ea typeface="Arial" panose="020B0604020202020204" pitchFamily="34" charset="0"/>
            </a:endParaRPr>
          </a:p>
        </p:txBody>
      </p:sp>
      <p:pic>
        <p:nvPicPr>
          <p:cNvPr id="60420" name="Picture 4"/>
          <p:cNvPicPr>
            <a:picLocks noChangeAspect="1"/>
          </p:cNvPicPr>
          <p:nvPr/>
        </p:nvPicPr>
        <p:blipFill>
          <a:blip r:embed="rId4"/>
          <a:stretch>
            <a:fillRect/>
          </a:stretch>
        </p:blipFill>
        <p:spPr>
          <a:xfrm>
            <a:off x="131763" y="4119563"/>
            <a:ext cx="2473325" cy="2027237"/>
          </a:xfrm>
          <a:prstGeom prst="rect">
            <a:avLst/>
          </a:prstGeom>
          <a:noFill/>
          <a:ln w="9525">
            <a:noFill/>
          </a:ln>
        </p:spPr>
      </p:pic>
      <p:sp>
        <p:nvSpPr>
          <p:cNvPr id="60421" name="Text Box 5"/>
          <p:cNvSpPr txBox="1"/>
          <p:nvPr/>
        </p:nvSpPr>
        <p:spPr>
          <a:xfrm>
            <a:off x="2698750" y="5049838"/>
            <a:ext cx="115093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3600" b="1" dirty="0">
                <a:solidFill>
                  <a:srgbClr val="FF0000"/>
                </a:solidFill>
                <a:latin typeface="Times New Roman" panose="02020603050405020304" pitchFamily="18" charset="0"/>
                <a:cs typeface="Times New Roman" panose="02020603050405020304" pitchFamily="18" charset="0"/>
              </a:rPr>
              <a:t>→</a:t>
            </a:r>
            <a:endParaRPr lang="en-US" altLang="zh-CN" sz="3600" b="1" dirty="0">
              <a:solidFill>
                <a:srgbClr val="FF0000"/>
              </a:solidFill>
              <a:latin typeface="Times New Roman" panose="02020603050405020304" pitchFamily="18" charset="0"/>
              <a:ea typeface="Times New Roman" panose="02020603050405020304" pitchFamily="18" charset="0"/>
            </a:endParaRPr>
          </a:p>
        </p:txBody>
      </p:sp>
      <p:pic>
        <p:nvPicPr>
          <p:cNvPr id="60422" name="Picture 6"/>
          <p:cNvPicPr>
            <a:picLocks noChangeAspect="1"/>
          </p:cNvPicPr>
          <p:nvPr/>
        </p:nvPicPr>
        <p:blipFill>
          <a:blip r:embed="rId5"/>
          <a:stretch>
            <a:fillRect/>
          </a:stretch>
        </p:blipFill>
        <p:spPr>
          <a:xfrm>
            <a:off x="3417888" y="4184650"/>
            <a:ext cx="2632075" cy="1951038"/>
          </a:xfrm>
          <a:prstGeom prst="rect">
            <a:avLst/>
          </a:prstGeom>
          <a:noFill/>
          <a:ln w="9525">
            <a:noFill/>
          </a:ln>
        </p:spPr>
      </p:pic>
      <p:pic>
        <p:nvPicPr>
          <p:cNvPr id="60423" name="Picture 7"/>
          <p:cNvPicPr>
            <a:picLocks noChangeAspect="1"/>
          </p:cNvPicPr>
          <p:nvPr/>
        </p:nvPicPr>
        <p:blipFill>
          <a:blip r:embed="rId6"/>
          <a:stretch>
            <a:fillRect/>
          </a:stretch>
        </p:blipFill>
        <p:spPr>
          <a:xfrm>
            <a:off x="5680075" y="185738"/>
            <a:ext cx="890588" cy="2273300"/>
          </a:xfrm>
          <a:prstGeom prst="rect">
            <a:avLst/>
          </a:prstGeom>
          <a:noFill/>
          <a:ln w="9525">
            <a:noFill/>
          </a:ln>
        </p:spPr>
      </p:pic>
      <p:pic>
        <p:nvPicPr>
          <p:cNvPr id="60424" name="Picture 8"/>
          <p:cNvPicPr>
            <a:picLocks noChangeAspect="1"/>
          </p:cNvPicPr>
          <p:nvPr/>
        </p:nvPicPr>
        <p:blipFill>
          <a:blip r:embed="rId7"/>
          <a:stretch>
            <a:fillRect/>
          </a:stretch>
        </p:blipFill>
        <p:spPr>
          <a:xfrm>
            <a:off x="6738938" y="142875"/>
            <a:ext cx="1220787" cy="2286000"/>
          </a:xfrm>
          <a:prstGeom prst="rect">
            <a:avLst/>
          </a:prstGeom>
          <a:noFill/>
          <a:ln w="9525">
            <a:noFill/>
          </a:ln>
        </p:spPr>
      </p:pic>
      <p:pic>
        <p:nvPicPr>
          <p:cNvPr id="60425" name="Picture 9"/>
          <p:cNvPicPr>
            <a:picLocks noChangeAspect="1"/>
          </p:cNvPicPr>
          <p:nvPr/>
        </p:nvPicPr>
        <p:blipFill>
          <a:blip r:embed="rId8"/>
          <a:stretch>
            <a:fillRect/>
          </a:stretch>
        </p:blipFill>
        <p:spPr>
          <a:xfrm>
            <a:off x="7961313" y="214313"/>
            <a:ext cx="1182687" cy="2214562"/>
          </a:xfrm>
          <a:prstGeom prst="rect">
            <a:avLst/>
          </a:prstGeom>
          <a:noFill/>
          <a:ln w="9525">
            <a:noFill/>
          </a:ln>
        </p:spPr>
      </p:pic>
      <p:sp>
        <p:nvSpPr>
          <p:cNvPr id="60426" name="Text Box 10"/>
          <p:cNvSpPr txBox="1"/>
          <p:nvPr/>
        </p:nvSpPr>
        <p:spPr>
          <a:xfrm>
            <a:off x="6049963" y="2897188"/>
            <a:ext cx="3132137" cy="615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cs typeface="Arial" panose="020B0604020202020204" pitchFamily="34" charset="0"/>
              </a:rPr>
              <a:t> </a:t>
            </a:r>
            <a:r>
              <a:rPr lang="zh-CN" altLang="en-US" sz="1600" b="1" dirty="0">
                <a:cs typeface="Arial" panose="020B0604020202020204" pitchFamily="34" charset="0"/>
              </a:rPr>
              <a:t>电感的</a:t>
            </a:r>
            <a:r>
              <a:rPr lang="zh-CN" altLang="en-US" sz="1600" b="1" dirty="0">
                <a:solidFill>
                  <a:srgbClr val="FF0000"/>
                </a:solidFill>
                <a:cs typeface="Arial" panose="020B0604020202020204" pitchFamily="34" charset="0"/>
              </a:rPr>
              <a:t>电路符号</a:t>
            </a:r>
            <a:r>
              <a:rPr lang="en-US" altLang="zh-CN" sz="1600" b="1" dirty="0">
                <a:cs typeface="Arial" panose="020B0604020202020204" pitchFamily="34" charset="0"/>
                <a:sym typeface="Wingdings" panose="05000000000000000000" pitchFamily="2" charset="2"/>
              </a:rPr>
              <a:t>: (a) </a:t>
            </a:r>
            <a:r>
              <a:rPr lang="zh-CN" altLang="en-US" sz="1600" b="1" dirty="0">
                <a:cs typeface="Arial" panose="020B0604020202020204" pitchFamily="34" charset="0"/>
                <a:sym typeface="Wingdings" panose="05000000000000000000" pitchFamily="2" charset="2"/>
              </a:rPr>
              <a:t>空气磁心</a:t>
            </a:r>
            <a:r>
              <a:rPr lang="en-US" altLang="zh-CN" sz="1600" b="1" dirty="0">
                <a:cs typeface="Arial" panose="020B0604020202020204" pitchFamily="34" charset="0"/>
                <a:sym typeface="Wingdings" panose="05000000000000000000" pitchFamily="2" charset="2"/>
              </a:rPr>
              <a:t>,  (b) </a:t>
            </a:r>
            <a:r>
              <a:rPr lang="zh-CN" altLang="en-US" sz="1600" b="1" dirty="0">
                <a:cs typeface="Arial" panose="020B0604020202020204" pitchFamily="34" charset="0"/>
                <a:sym typeface="Wingdings" panose="05000000000000000000" pitchFamily="2" charset="2"/>
              </a:rPr>
              <a:t>铁磁心</a:t>
            </a:r>
            <a:r>
              <a:rPr lang="en-US" altLang="zh-CN" sz="1600" b="1" dirty="0">
                <a:cs typeface="Arial" panose="020B0604020202020204" pitchFamily="34" charset="0"/>
                <a:sym typeface="Wingdings" panose="05000000000000000000" pitchFamily="2" charset="2"/>
              </a:rPr>
              <a:t>, (c) </a:t>
            </a:r>
            <a:r>
              <a:rPr lang="zh-CN" altLang="en-US" sz="1600" b="1" dirty="0">
                <a:cs typeface="Arial" panose="020B0604020202020204" pitchFamily="34" charset="0"/>
                <a:sym typeface="Wingdings" panose="05000000000000000000" pitchFamily="2" charset="2"/>
              </a:rPr>
              <a:t>可变磁心</a:t>
            </a:r>
            <a:endParaRPr lang="en-US" altLang="zh-CN" sz="1800" b="1" dirty="0">
              <a:ea typeface="Arial" panose="020B0604020202020204" pitchFamily="34" charset="0"/>
            </a:endParaRPr>
          </a:p>
        </p:txBody>
      </p:sp>
      <p:sp>
        <p:nvSpPr>
          <p:cNvPr id="60427" name="Text Box 11"/>
          <p:cNvSpPr txBox="1"/>
          <p:nvPr/>
        </p:nvSpPr>
        <p:spPr>
          <a:xfrm>
            <a:off x="5922963" y="2419350"/>
            <a:ext cx="504825" cy="336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latin typeface="Times New Roman" panose="02020603050405020304" pitchFamily="18" charset="0"/>
                <a:cs typeface="Arial" panose="020B0604020202020204" pitchFamily="34" charset="0"/>
              </a:rPr>
              <a:t>(a)</a:t>
            </a:r>
            <a:endParaRPr lang="en-US" altLang="zh-CN" sz="1600" b="1" dirty="0">
              <a:latin typeface="Times New Roman" panose="02020603050405020304" pitchFamily="18" charset="0"/>
              <a:ea typeface="Arial" panose="020B0604020202020204" pitchFamily="34" charset="0"/>
            </a:endParaRPr>
          </a:p>
        </p:txBody>
      </p:sp>
      <p:sp>
        <p:nvSpPr>
          <p:cNvPr id="60428" name="Text Box 12"/>
          <p:cNvSpPr txBox="1"/>
          <p:nvPr/>
        </p:nvSpPr>
        <p:spPr>
          <a:xfrm>
            <a:off x="7019925" y="2420938"/>
            <a:ext cx="45085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latin typeface="Times New Roman" panose="02020603050405020304" pitchFamily="18" charset="0"/>
                <a:cs typeface="Arial" panose="020B0604020202020204" pitchFamily="34" charset="0"/>
              </a:rPr>
              <a:t>(b)</a:t>
            </a:r>
            <a:endParaRPr lang="en-US" altLang="zh-CN" sz="1800" b="1" dirty="0">
              <a:latin typeface="Times New Roman" panose="02020603050405020304" pitchFamily="18" charset="0"/>
              <a:ea typeface="Arial" panose="020B0604020202020204" pitchFamily="34" charset="0"/>
            </a:endParaRPr>
          </a:p>
        </p:txBody>
      </p:sp>
      <p:sp>
        <p:nvSpPr>
          <p:cNvPr id="60429" name="Text Box 13"/>
          <p:cNvSpPr txBox="1"/>
          <p:nvPr/>
        </p:nvSpPr>
        <p:spPr>
          <a:xfrm>
            <a:off x="8172450" y="2420938"/>
            <a:ext cx="43815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latin typeface="Times New Roman" panose="02020603050405020304" pitchFamily="18" charset="0"/>
                <a:cs typeface="Arial" panose="020B0604020202020204" pitchFamily="34" charset="0"/>
              </a:rPr>
              <a:t>(c)</a:t>
            </a:r>
            <a:endParaRPr lang="en-US" altLang="zh-CN" sz="1800" b="1" dirty="0">
              <a:latin typeface="Times New Roman" panose="02020603050405020304" pitchFamily="18" charset="0"/>
              <a:ea typeface="Arial" panose="020B0604020202020204" pitchFamily="34" charset="0"/>
            </a:endParaRPr>
          </a:p>
        </p:txBody>
      </p:sp>
      <p:pic>
        <p:nvPicPr>
          <p:cNvPr id="60430" name="Picture 14"/>
          <p:cNvPicPr>
            <a:picLocks noChangeAspect="1"/>
          </p:cNvPicPr>
          <p:nvPr/>
        </p:nvPicPr>
        <p:blipFill>
          <a:blip r:embed="rId9"/>
          <a:stretch>
            <a:fillRect/>
          </a:stretch>
        </p:blipFill>
        <p:spPr>
          <a:xfrm>
            <a:off x="6337300" y="4270375"/>
            <a:ext cx="2460625" cy="1878013"/>
          </a:xfrm>
          <a:prstGeom prst="rect">
            <a:avLst/>
          </a:prstGeom>
          <a:noFill/>
          <a:ln w="9525">
            <a:noFill/>
          </a:ln>
        </p:spPr>
      </p:pic>
      <p:sp>
        <p:nvSpPr>
          <p:cNvPr id="60431" name="文本框 1"/>
          <p:cNvSpPr txBox="1"/>
          <p:nvPr/>
        </p:nvSpPr>
        <p:spPr>
          <a:xfrm>
            <a:off x="2713038" y="4978400"/>
            <a:ext cx="596900" cy="338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600" b="1" dirty="0">
                <a:solidFill>
                  <a:srgbClr val="FF0000"/>
                </a:solidFill>
                <a:ea typeface="宋体-18030" pitchFamily="49" charset="-122"/>
              </a:rPr>
              <a:t>等效</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2" name="Object 2"/>
          <p:cNvGraphicFramePr>
            <a:graphicFrameLocks noChangeAspect="1"/>
          </p:cNvGraphicFramePr>
          <p:nvPr/>
        </p:nvGraphicFramePr>
        <p:xfrm>
          <a:off x="1044575" y="914400"/>
          <a:ext cx="1489075" cy="963613"/>
        </p:xfrm>
        <a:graphic>
          <a:graphicData uri="http://schemas.openxmlformats.org/presentationml/2006/ole">
            <p:oleObj spid="_x0000_s27650" r:id="rId4" imgW="609336" imgH="393529" progId="">
              <p:embed/>
            </p:oleObj>
          </a:graphicData>
        </a:graphic>
      </p:graphicFrame>
      <p:sp>
        <p:nvSpPr>
          <p:cNvPr id="61443" name="Text Box 3"/>
          <p:cNvSpPr txBox="1"/>
          <p:nvPr/>
        </p:nvSpPr>
        <p:spPr>
          <a:xfrm>
            <a:off x="2759075" y="842963"/>
            <a:ext cx="2066925"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ClrTx/>
              <a:buSzTx/>
              <a:buFontTx/>
              <a:buAutoNum type="arabicPeriod"/>
            </a:pPr>
            <a:r>
              <a:rPr lang="zh-CN" altLang="en-US" sz="2400" b="1" dirty="0">
                <a:latin typeface="Times New Roman" panose="02020603050405020304" pitchFamily="18" charset="0"/>
                <a:cs typeface="Arial" panose="020B0604020202020204" pitchFamily="34" charset="0"/>
              </a:rPr>
              <a:t>记忆性</a:t>
            </a:r>
          </a:p>
          <a:p>
            <a:pPr marL="342900" lvl="0" indent="-342900" eaLnBrk="1" hangingPunct="1">
              <a:spcBef>
                <a:spcPct val="50000"/>
              </a:spcBef>
              <a:buClrTx/>
              <a:buSzTx/>
              <a:buFontTx/>
              <a:buAutoNum type="arabicPeriod"/>
            </a:pPr>
            <a:r>
              <a:rPr lang="en-US" altLang="zh-CN" sz="2400" b="1" i="1" dirty="0">
                <a:latin typeface="Times New Roman" panose="02020603050405020304" pitchFamily="18" charset="0"/>
                <a:cs typeface="Arial" panose="020B0604020202020204" pitchFamily="34" charset="0"/>
              </a:rPr>
              <a:t>i</a:t>
            </a:r>
            <a:r>
              <a:rPr lang="zh-CN" altLang="en-US" sz="2400" b="1" dirty="0">
                <a:latin typeface="Times New Roman" panose="02020603050405020304" pitchFamily="18" charset="0"/>
                <a:cs typeface="Arial" panose="020B0604020202020204" pitchFamily="34" charset="0"/>
              </a:rPr>
              <a:t>的连续性</a:t>
            </a:r>
            <a:endParaRPr lang="zh-CN" altLang="en-US" sz="2400" b="1" dirty="0">
              <a:latin typeface="Times New Roman" panose="02020603050405020304" pitchFamily="18" charset="0"/>
              <a:ea typeface="Arial" panose="020B0604020202020204" pitchFamily="34" charset="0"/>
            </a:endParaRPr>
          </a:p>
        </p:txBody>
      </p:sp>
      <p:sp>
        <p:nvSpPr>
          <p:cNvPr id="61444" name="Text Box 4"/>
          <p:cNvSpPr txBox="1"/>
          <p:nvPr/>
        </p:nvSpPr>
        <p:spPr>
          <a:xfrm>
            <a:off x="487363" y="2492375"/>
            <a:ext cx="5362575" cy="37861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spcBef>
                <a:spcPct val="50000"/>
              </a:spcBef>
              <a:buClrTx/>
              <a:buSzTx/>
            </a:pPr>
            <a:r>
              <a:rPr lang="zh-CN" altLang="en-US" sz="2000" b="1" dirty="0">
                <a:latin typeface="Times New Roman" panose="02020603050405020304" pitchFamily="18" charset="0"/>
                <a:cs typeface="Arial" panose="020B0604020202020204" pitchFamily="34" charset="0"/>
              </a:rPr>
              <a:t>电感具有如下的重要特性：</a:t>
            </a:r>
            <a:endParaRPr lang="en-US" altLang="zh-CN" sz="2000" b="1" dirty="0">
              <a:latin typeface="Times New Roman" panose="02020603050405020304" pitchFamily="18" charset="0"/>
              <a:cs typeface="Arial" panose="020B0604020202020204" pitchFamily="34" charset="0"/>
            </a:endParaRPr>
          </a:p>
          <a:p>
            <a:pPr marL="342900" lvl="0" indent="-342900" eaLnBrk="1" hangingPunct="1">
              <a:spcBef>
                <a:spcPct val="50000"/>
              </a:spcBef>
              <a:buClrTx/>
              <a:buSzTx/>
              <a:buFontTx/>
              <a:buAutoNum type="arabicPeriod"/>
            </a:pPr>
            <a:r>
              <a:rPr lang="zh-CN" altLang="en-US" sz="2000" b="1" dirty="0">
                <a:latin typeface="Times New Roman" panose="02020603050405020304" pitchFamily="18" charset="0"/>
                <a:cs typeface="Arial" panose="020B0604020202020204" pitchFamily="34" charset="0"/>
              </a:rPr>
              <a:t>在</a:t>
            </a:r>
            <a:r>
              <a:rPr lang="zh-CN" altLang="en-US" sz="2000" b="1" dirty="0">
                <a:solidFill>
                  <a:srgbClr val="0000FF"/>
                </a:solidFill>
                <a:latin typeface="Times New Roman" panose="02020603050405020304" pitchFamily="18" charset="0"/>
                <a:cs typeface="Arial" panose="020B0604020202020204" pitchFamily="34" charset="0"/>
              </a:rPr>
              <a:t>直流</a:t>
            </a:r>
            <a:r>
              <a:rPr lang="zh-CN" altLang="en-US" sz="2000" b="1" dirty="0">
                <a:latin typeface="Times New Roman" panose="02020603050405020304" pitchFamily="18" charset="0"/>
                <a:cs typeface="Arial" panose="020B0604020202020204" pitchFamily="34" charset="0"/>
              </a:rPr>
              <a:t>电路中，电感相当于</a:t>
            </a:r>
            <a:r>
              <a:rPr lang="zh-CN" altLang="en-US" sz="2000" b="1" dirty="0">
                <a:solidFill>
                  <a:srgbClr val="0000FF"/>
                </a:solidFill>
                <a:latin typeface="Times New Roman" panose="02020603050405020304" pitchFamily="18" charset="0"/>
                <a:cs typeface="Arial" panose="020B0604020202020204" pitchFamily="34" charset="0"/>
              </a:rPr>
              <a:t>短路</a:t>
            </a:r>
            <a:r>
              <a:rPr lang="zh-CN" altLang="en-US" sz="2000" b="1" dirty="0">
                <a:latin typeface="Times New Roman" panose="02020603050405020304" pitchFamily="18" charset="0"/>
                <a:cs typeface="Arial" panose="020B0604020202020204" pitchFamily="34" charset="0"/>
              </a:rPr>
              <a:t>。</a:t>
            </a:r>
            <a:endParaRPr lang="en-US" altLang="zh-CN" sz="2000" b="1" dirty="0">
              <a:latin typeface="Times New Roman" panose="02020603050405020304" pitchFamily="18" charset="0"/>
              <a:cs typeface="Arial" panose="020B0604020202020204" pitchFamily="34" charset="0"/>
            </a:endParaRPr>
          </a:p>
          <a:p>
            <a:pPr marL="342900" lvl="0" indent="-342900" eaLnBrk="1" hangingPunct="1">
              <a:spcBef>
                <a:spcPct val="50000"/>
              </a:spcBef>
              <a:buClrTx/>
              <a:buSzTx/>
              <a:buFontTx/>
              <a:buAutoNum type="arabicPeriod"/>
            </a:pPr>
            <a:r>
              <a:rPr lang="zh-CN" altLang="en-US" sz="2000" b="1" dirty="0">
                <a:latin typeface="Times New Roman" panose="02020603050405020304" pitchFamily="18" charset="0"/>
                <a:cs typeface="Arial" panose="020B0604020202020204" pitchFamily="34" charset="0"/>
              </a:rPr>
              <a:t>通过电感的</a:t>
            </a:r>
            <a:r>
              <a:rPr lang="zh-CN" altLang="en-US" sz="2000" b="1" dirty="0">
                <a:solidFill>
                  <a:srgbClr val="0000FF"/>
                </a:solidFill>
                <a:latin typeface="Times New Roman" panose="02020603050405020304" pitchFamily="18" charset="0"/>
                <a:cs typeface="Arial" panose="020B0604020202020204" pitchFamily="34" charset="0"/>
              </a:rPr>
              <a:t>电流</a:t>
            </a:r>
            <a:r>
              <a:rPr lang="zh-CN" altLang="en-US" sz="2000" b="1" dirty="0">
                <a:latin typeface="Times New Roman" panose="02020603050405020304" pitchFamily="18" charset="0"/>
                <a:cs typeface="Arial" panose="020B0604020202020204" pitchFamily="34" charset="0"/>
              </a:rPr>
              <a:t>不能发生跃变。</a:t>
            </a:r>
            <a:endParaRPr lang="en-US" altLang="zh-CN" sz="2000" b="1" dirty="0">
              <a:latin typeface="Times New Roman" panose="02020603050405020304" pitchFamily="18" charset="0"/>
              <a:cs typeface="Arial" panose="020B0604020202020204" pitchFamily="34" charset="0"/>
            </a:endParaRPr>
          </a:p>
          <a:p>
            <a:pPr marL="342900" lvl="0" indent="-342900" eaLnBrk="1" hangingPunct="1">
              <a:spcBef>
                <a:spcPct val="50000"/>
              </a:spcBef>
              <a:buClrTx/>
              <a:buSzTx/>
              <a:buFontTx/>
              <a:buAutoNum type="arabicPeriod"/>
            </a:pPr>
            <a:r>
              <a:rPr lang="zh-CN" altLang="en-US" sz="2000" b="1" dirty="0">
                <a:latin typeface="Times New Roman" panose="02020603050405020304" pitchFamily="18" charset="0"/>
                <a:cs typeface="Arial" panose="020B0604020202020204" pitchFamily="34" charset="0"/>
              </a:rPr>
              <a:t>像理想电容一样，理想的电感也不会消耗能量，因此储存的能量可以供以后使用。电感从电路中获得能量并储存起来，之后会将储存的能量释放到电路中。</a:t>
            </a:r>
            <a:endParaRPr lang="en-US" altLang="zh-CN" sz="2000" b="1" dirty="0">
              <a:latin typeface="Times New Roman" panose="02020603050405020304" pitchFamily="18" charset="0"/>
              <a:cs typeface="Arial" panose="020B0604020202020204" pitchFamily="34" charset="0"/>
            </a:endParaRPr>
          </a:p>
          <a:p>
            <a:pPr marL="342900" lvl="0" indent="-342900" eaLnBrk="1" hangingPunct="1">
              <a:spcBef>
                <a:spcPct val="50000"/>
              </a:spcBef>
              <a:buClrTx/>
              <a:buSzTx/>
              <a:buFontTx/>
              <a:buAutoNum type="arabicPeriod"/>
            </a:pPr>
            <a:r>
              <a:rPr lang="zh-CN" altLang="en-US" sz="2000" b="1" dirty="0">
                <a:latin typeface="Times New Roman" panose="02020603050405020304" pitchFamily="18" charset="0"/>
                <a:cs typeface="Arial" panose="020B0604020202020204" pitchFamily="34" charset="0"/>
              </a:rPr>
              <a:t>实际上电感都不是理想的，因此它们可以在一定程度上被看做是电阻元件，如右图所示。</a:t>
            </a:r>
            <a:endParaRPr lang="en-US" altLang="zh-CN" sz="2000" b="1" dirty="0">
              <a:latin typeface="Times New Roman" panose="02020603050405020304" pitchFamily="18" charset="0"/>
              <a:ea typeface="Arial" panose="020B0604020202020204" pitchFamily="34" charset="0"/>
            </a:endParaRPr>
          </a:p>
        </p:txBody>
      </p:sp>
      <p:sp>
        <p:nvSpPr>
          <p:cNvPr id="61445" name="Line 5"/>
          <p:cNvSpPr/>
          <p:nvPr/>
        </p:nvSpPr>
        <p:spPr>
          <a:xfrm flipV="1">
            <a:off x="6130925" y="869950"/>
            <a:ext cx="0" cy="1008063"/>
          </a:xfrm>
          <a:prstGeom prst="line">
            <a:avLst/>
          </a:prstGeom>
          <a:ln w="9525" cap="flat" cmpd="sng">
            <a:solidFill>
              <a:schemeClr val="tx1"/>
            </a:solidFill>
            <a:prstDash val="solid"/>
            <a:headEnd type="none" w="med" len="med"/>
            <a:tailEnd type="triangle" w="med" len="med"/>
          </a:ln>
        </p:spPr>
      </p:sp>
      <p:sp>
        <p:nvSpPr>
          <p:cNvPr id="61446" name="Line 6"/>
          <p:cNvSpPr/>
          <p:nvPr/>
        </p:nvSpPr>
        <p:spPr>
          <a:xfrm>
            <a:off x="5915025" y="1878013"/>
            <a:ext cx="1295400" cy="0"/>
          </a:xfrm>
          <a:prstGeom prst="line">
            <a:avLst/>
          </a:prstGeom>
          <a:ln w="9525" cap="flat" cmpd="sng">
            <a:solidFill>
              <a:schemeClr val="tx1"/>
            </a:solidFill>
            <a:prstDash val="solid"/>
            <a:headEnd type="none" w="med" len="med"/>
            <a:tailEnd type="triangle" w="med" len="med"/>
          </a:ln>
        </p:spPr>
      </p:sp>
      <p:sp>
        <p:nvSpPr>
          <p:cNvPr id="61447" name="Line 7"/>
          <p:cNvSpPr/>
          <p:nvPr/>
        </p:nvSpPr>
        <p:spPr>
          <a:xfrm flipV="1">
            <a:off x="6130925" y="1157288"/>
            <a:ext cx="360363" cy="720725"/>
          </a:xfrm>
          <a:prstGeom prst="line">
            <a:avLst/>
          </a:prstGeom>
          <a:ln w="9525" cap="flat" cmpd="sng">
            <a:solidFill>
              <a:schemeClr val="tx1"/>
            </a:solidFill>
            <a:prstDash val="solid"/>
            <a:headEnd type="none" w="med" len="med"/>
            <a:tailEnd type="none" w="med" len="med"/>
          </a:ln>
        </p:spPr>
      </p:sp>
      <p:sp>
        <p:nvSpPr>
          <p:cNvPr id="61448" name="Line 8"/>
          <p:cNvSpPr/>
          <p:nvPr/>
        </p:nvSpPr>
        <p:spPr>
          <a:xfrm>
            <a:off x="6491288" y="1157288"/>
            <a:ext cx="647700" cy="0"/>
          </a:xfrm>
          <a:prstGeom prst="line">
            <a:avLst/>
          </a:prstGeom>
          <a:ln w="9525" cap="flat" cmpd="sng">
            <a:solidFill>
              <a:schemeClr val="tx1"/>
            </a:solidFill>
            <a:prstDash val="solid"/>
            <a:headEnd type="none" w="med" len="med"/>
            <a:tailEnd type="none" w="med" len="med"/>
          </a:ln>
        </p:spPr>
      </p:sp>
      <p:sp>
        <p:nvSpPr>
          <p:cNvPr id="61449" name="Line 9"/>
          <p:cNvSpPr/>
          <p:nvPr/>
        </p:nvSpPr>
        <p:spPr>
          <a:xfrm flipV="1">
            <a:off x="7859713" y="869950"/>
            <a:ext cx="0" cy="1008063"/>
          </a:xfrm>
          <a:prstGeom prst="line">
            <a:avLst/>
          </a:prstGeom>
          <a:ln w="9525" cap="flat" cmpd="sng">
            <a:solidFill>
              <a:schemeClr val="tx1"/>
            </a:solidFill>
            <a:prstDash val="solid"/>
            <a:headEnd type="none" w="med" len="med"/>
            <a:tailEnd type="triangle" w="med" len="med"/>
          </a:ln>
        </p:spPr>
      </p:sp>
      <p:sp>
        <p:nvSpPr>
          <p:cNvPr id="61450" name="Line 10"/>
          <p:cNvSpPr/>
          <p:nvPr/>
        </p:nvSpPr>
        <p:spPr>
          <a:xfrm>
            <a:off x="7643813" y="1878013"/>
            <a:ext cx="1295400" cy="0"/>
          </a:xfrm>
          <a:prstGeom prst="line">
            <a:avLst/>
          </a:prstGeom>
          <a:ln w="9525" cap="flat" cmpd="sng">
            <a:solidFill>
              <a:schemeClr val="tx1"/>
            </a:solidFill>
            <a:prstDash val="solid"/>
            <a:headEnd type="none" w="med" len="med"/>
            <a:tailEnd type="triangle" w="med" len="med"/>
          </a:ln>
        </p:spPr>
      </p:sp>
      <p:sp>
        <p:nvSpPr>
          <p:cNvPr id="61451" name="Line 11"/>
          <p:cNvSpPr/>
          <p:nvPr/>
        </p:nvSpPr>
        <p:spPr>
          <a:xfrm>
            <a:off x="7643813" y="1878013"/>
            <a:ext cx="215900" cy="0"/>
          </a:xfrm>
          <a:prstGeom prst="line">
            <a:avLst/>
          </a:prstGeom>
          <a:ln w="9525" cap="flat" cmpd="sng">
            <a:solidFill>
              <a:schemeClr val="tx1"/>
            </a:solidFill>
            <a:prstDash val="solid"/>
            <a:headEnd type="none" w="med" len="med"/>
            <a:tailEnd type="none" w="med" len="med"/>
          </a:ln>
        </p:spPr>
      </p:sp>
      <p:sp>
        <p:nvSpPr>
          <p:cNvPr id="61452" name="Line 12"/>
          <p:cNvSpPr/>
          <p:nvPr/>
        </p:nvSpPr>
        <p:spPr>
          <a:xfrm flipV="1">
            <a:off x="7859713" y="1085850"/>
            <a:ext cx="792162" cy="431800"/>
          </a:xfrm>
          <a:prstGeom prst="line">
            <a:avLst/>
          </a:prstGeom>
          <a:ln w="9525" cap="flat" cmpd="sng">
            <a:solidFill>
              <a:schemeClr val="tx1"/>
            </a:solidFill>
            <a:prstDash val="solid"/>
            <a:headEnd type="none" w="med" len="med"/>
            <a:tailEnd type="none" w="med" len="med"/>
          </a:ln>
        </p:spPr>
      </p:sp>
      <p:sp>
        <p:nvSpPr>
          <p:cNvPr id="61453" name="Line 13"/>
          <p:cNvSpPr/>
          <p:nvPr/>
        </p:nvSpPr>
        <p:spPr>
          <a:xfrm>
            <a:off x="8651875" y="1085850"/>
            <a:ext cx="0" cy="792163"/>
          </a:xfrm>
          <a:prstGeom prst="line">
            <a:avLst/>
          </a:prstGeom>
          <a:ln w="9525" cap="flat" cmpd="sng">
            <a:solidFill>
              <a:schemeClr val="tx1"/>
            </a:solidFill>
            <a:prstDash val="solid"/>
            <a:headEnd type="none" w="med" len="med"/>
            <a:tailEnd type="none" w="med" len="med"/>
          </a:ln>
        </p:spPr>
      </p:sp>
      <p:sp>
        <p:nvSpPr>
          <p:cNvPr id="61454" name="Text Box 14"/>
          <p:cNvSpPr txBox="1"/>
          <p:nvPr/>
        </p:nvSpPr>
        <p:spPr>
          <a:xfrm>
            <a:off x="6310313" y="2349500"/>
            <a:ext cx="2952750" cy="5857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cs typeface="Arial" panose="020B0604020202020204" pitchFamily="34" charset="0"/>
              </a:rPr>
              <a:t>     流经电感器的电流</a:t>
            </a:r>
            <a:r>
              <a:rPr lang="en-US" altLang="zh-CN" sz="1600" b="1" dirty="0">
                <a:cs typeface="Arial" panose="020B0604020202020204" pitchFamily="34" charset="0"/>
              </a:rPr>
              <a:t/>
            </a:r>
            <a:br>
              <a:rPr lang="en-US" altLang="zh-CN" sz="1600" b="1" dirty="0">
                <a:cs typeface="Arial" panose="020B0604020202020204" pitchFamily="34" charset="0"/>
              </a:rPr>
            </a:br>
            <a:r>
              <a:rPr lang="en-US" altLang="zh-CN" sz="1600" b="1" dirty="0">
                <a:cs typeface="Arial" panose="020B0604020202020204" pitchFamily="34" charset="0"/>
              </a:rPr>
              <a:t>(a)</a:t>
            </a:r>
            <a:r>
              <a:rPr lang="zh-CN" altLang="en-US" sz="1600" b="1" dirty="0">
                <a:cs typeface="Arial" panose="020B0604020202020204" pitchFamily="34" charset="0"/>
              </a:rPr>
              <a:t>允许      </a:t>
            </a:r>
            <a:r>
              <a:rPr lang="en-US" altLang="zh-CN" sz="1600" b="1" dirty="0">
                <a:cs typeface="Arial" panose="020B0604020202020204" pitchFamily="34" charset="0"/>
              </a:rPr>
              <a:t>(b) </a:t>
            </a:r>
            <a:r>
              <a:rPr lang="zh-CN" altLang="en-US" sz="1600" b="1" dirty="0">
                <a:cs typeface="Arial" panose="020B0604020202020204" pitchFamily="34" charset="0"/>
              </a:rPr>
              <a:t>不允许</a:t>
            </a:r>
            <a:endParaRPr lang="en-US" altLang="zh-CN" sz="1600" b="1" dirty="0">
              <a:ea typeface="Arial" panose="020B0604020202020204" pitchFamily="34" charset="0"/>
            </a:endParaRPr>
          </a:p>
        </p:txBody>
      </p:sp>
      <p:sp>
        <p:nvSpPr>
          <p:cNvPr id="61455" name="Text Box 15"/>
          <p:cNvSpPr txBox="1"/>
          <p:nvPr/>
        </p:nvSpPr>
        <p:spPr>
          <a:xfrm>
            <a:off x="6346825" y="2022475"/>
            <a:ext cx="576263" cy="336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600" dirty="0">
                <a:latin typeface="Times New Roman" panose="02020603050405020304" pitchFamily="18" charset="0"/>
                <a:cs typeface="Arial" panose="020B0604020202020204" pitchFamily="34" charset="0"/>
              </a:rPr>
              <a:t>(a)</a:t>
            </a:r>
            <a:endParaRPr lang="en-US" altLang="zh-CN" sz="1600" dirty="0">
              <a:latin typeface="Times New Roman" panose="02020603050405020304" pitchFamily="18" charset="0"/>
              <a:ea typeface="Arial" panose="020B0604020202020204" pitchFamily="34" charset="0"/>
            </a:endParaRPr>
          </a:p>
        </p:txBody>
      </p:sp>
      <p:sp>
        <p:nvSpPr>
          <p:cNvPr id="61456" name="Text Box 16"/>
          <p:cNvSpPr txBox="1"/>
          <p:nvPr/>
        </p:nvSpPr>
        <p:spPr>
          <a:xfrm>
            <a:off x="8002588" y="2022475"/>
            <a:ext cx="504825" cy="336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1600" dirty="0">
                <a:latin typeface="Times New Roman" panose="02020603050405020304" pitchFamily="18" charset="0"/>
                <a:cs typeface="Arial" panose="020B0604020202020204" pitchFamily="34" charset="0"/>
              </a:rPr>
              <a:t>(b)</a:t>
            </a:r>
            <a:endParaRPr lang="en-US" altLang="zh-CN" sz="1600" dirty="0">
              <a:latin typeface="Times New Roman" panose="02020603050405020304" pitchFamily="18" charset="0"/>
              <a:ea typeface="Arial" panose="020B0604020202020204" pitchFamily="34" charset="0"/>
            </a:endParaRPr>
          </a:p>
        </p:txBody>
      </p:sp>
      <p:pic>
        <p:nvPicPr>
          <p:cNvPr id="61457" name="Picture 17"/>
          <p:cNvPicPr>
            <a:picLocks noChangeAspect="1"/>
          </p:cNvPicPr>
          <p:nvPr/>
        </p:nvPicPr>
        <p:blipFill>
          <a:blip r:embed="rId5"/>
          <a:stretch>
            <a:fillRect/>
          </a:stretch>
        </p:blipFill>
        <p:spPr>
          <a:xfrm>
            <a:off x="5975350" y="4095750"/>
            <a:ext cx="3030538" cy="1484313"/>
          </a:xfrm>
          <a:prstGeom prst="rect">
            <a:avLst/>
          </a:prstGeom>
          <a:noFill/>
          <a:ln w="9525">
            <a:noFill/>
          </a:ln>
        </p:spPr>
      </p:pic>
      <p:sp>
        <p:nvSpPr>
          <p:cNvPr id="61458" name="Text Box 18"/>
          <p:cNvSpPr txBox="1"/>
          <p:nvPr/>
        </p:nvSpPr>
        <p:spPr>
          <a:xfrm>
            <a:off x="6191250" y="5735638"/>
            <a:ext cx="295275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dirty="0">
                <a:cs typeface="Arial" panose="020B0604020202020204" pitchFamily="34" charset="0"/>
              </a:rPr>
              <a:t>实际电感器的电路模型</a:t>
            </a:r>
            <a:endParaRPr lang="en-US" altLang="zh-CN" sz="1800" dirty="0">
              <a:ea typeface="Arial" panose="020B0604020202020204" pitchFamily="34" charset="0"/>
            </a:endParaRPr>
          </a:p>
        </p:txBody>
      </p:sp>
      <p:sp>
        <p:nvSpPr>
          <p:cNvPr id="61459" name="TextBox 1"/>
          <p:cNvSpPr txBox="1"/>
          <p:nvPr/>
        </p:nvSpPr>
        <p:spPr>
          <a:xfrm>
            <a:off x="5915025" y="782638"/>
            <a:ext cx="236538"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en-US" altLang="zh-CN" sz="1800" dirty="0">
                <a:ea typeface="宋体-18030" pitchFamily="49" charset="-122"/>
              </a:rPr>
              <a:t>i</a:t>
            </a:r>
          </a:p>
        </p:txBody>
      </p:sp>
      <p:sp>
        <p:nvSpPr>
          <p:cNvPr id="61460" name="TextBox 20"/>
          <p:cNvSpPr txBox="1"/>
          <p:nvPr/>
        </p:nvSpPr>
        <p:spPr>
          <a:xfrm>
            <a:off x="7648575" y="782638"/>
            <a:ext cx="236538"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en-US" altLang="zh-CN" sz="1800" dirty="0">
                <a:ea typeface="宋体-18030" pitchFamily="49" charset="-122"/>
              </a:rPr>
              <a:t>i</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p:nvPr/>
        </p:nvSpPr>
        <p:spPr>
          <a:xfrm>
            <a:off x="539750" y="476250"/>
            <a:ext cx="4319588"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b="1" dirty="0">
                <a:solidFill>
                  <a:srgbClr val="FF0000"/>
                </a:solidFill>
                <a:latin typeface="Arial Black" panose="020B0A04020102020204" pitchFamily="34" charset="0"/>
                <a:cs typeface="Arial" panose="020B0604020202020204" pitchFamily="34" charset="0"/>
              </a:rPr>
              <a:t>6-8</a:t>
            </a:r>
            <a:r>
              <a:rPr lang="zh-CN" altLang="en-US" sz="2400" b="1" dirty="0">
                <a:solidFill>
                  <a:srgbClr val="FF0000"/>
                </a:solidFill>
                <a:latin typeface="Arial Black" panose="020B0A04020102020204" pitchFamily="34" charset="0"/>
                <a:cs typeface="Arial" panose="020B0604020202020204" pitchFamily="34" charset="0"/>
              </a:rPr>
              <a:t>：</a:t>
            </a:r>
            <a:endParaRPr lang="en-US" altLang="zh-CN" sz="2400" dirty="0">
              <a:solidFill>
                <a:schemeClr val="folHlink"/>
              </a:solidFill>
              <a:latin typeface="Arial Black" panose="020B0A04020102020204" pitchFamily="34" charset="0"/>
              <a:cs typeface="Arial" panose="020B0604020202020204" pitchFamily="34" charset="0"/>
            </a:endParaRPr>
          </a:p>
          <a:p>
            <a:pPr marL="0" lvl="0" indent="0" eaLnBrk="1" hangingPunct="1">
              <a:spcBef>
                <a:spcPct val="50000"/>
              </a:spcBef>
              <a:buClrTx/>
              <a:buSzTx/>
              <a:buFontTx/>
              <a:buNone/>
            </a:pPr>
            <a:endParaRPr lang="en-US" altLang="zh-CN" sz="2400" dirty="0">
              <a:solidFill>
                <a:srgbClr val="FF0000"/>
              </a:solidFill>
              <a:latin typeface="Arial Black" panose="020B0A04020102020204" pitchFamily="34" charset="0"/>
              <a:ea typeface="Arial" panose="020B0604020202020204" pitchFamily="34" charset="0"/>
            </a:endParaRPr>
          </a:p>
        </p:txBody>
      </p:sp>
      <p:sp>
        <p:nvSpPr>
          <p:cNvPr id="63491" name="Text Box 3"/>
          <p:cNvSpPr txBox="1"/>
          <p:nvPr/>
        </p:nvSpPr>
        <p:spPr>
          <a:xfrm>
            <a:off x="500063" y="938213"/>
            <a:ext cx="7653337" cy="19367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通过一个</a:t>
            </a:r>
            <a:r>
              <a:rPr lang="en-US" altLang="zh-CN" sz="2400" b="1" dirty="0">
                <a:latin typeface="Times New Roman" panose="02020603050405020304" pitchFamily="18" charset="0"/>
                <a:cs typeface="Arial" panose="020B0604020202020204" pitchFamily="34" charset="0"/>
              </a:rPr>
              <a:t>0.1H</a:t>
            </a:r>
            <a:r>
              <a:rPr lang="zh-CN" altLang="en-US" sz="2400" b="1" dirty="0">
                <a:latin typeface="Times New Roman" panose="02020603050405020304" pitchFamily="18" charset="0"/>
                <a:cs typeface="Arial" panose="020B0604020202020204" pitchFamily="34" charset="0"/>
              </a:rPr>
              <a:t>电感的电流为 </a:t>
            </a:r>
            <a:r>
              <a:rPr lang="en-US" altLang="zh-CN" sz="2400" b="1" i="1" dirty="0">
                <a:latin typeface="Times New Roman" panose="02020603050405020304" pitchFamily="18" charset="0"/>
                <a:cs typeface="Arial" panose="020B0604020202020204" pitchFamily="34" charset="0"/>
              </a:rPr>
              <a:t>i(t)=10te</a:t>
            </a:r>
            <a:r>
              <a:rPr lang="en-US" altLang="zh-CN" sz="2400" b="1" i="1" baseline="30000" dirty="0">
                <a:latin typeface="Times New Roman" panose="02020603050405020304" pitchFamily="18" charset="0"/>
                <a:cs typeface="Arial" panose="020B0604020202020204" pitchFamily="34" charset="0"/>
              </a:rPr>
              <a:t>-5t</a:t>
            </a:r>
            <a:r>
              <a:rPr lang="en-US" altLang="zh-CN" sz="2400" b="1" i="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计算该电感两端的电压及其储存的能量。</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endParaRPr lang="en-US" altLang="zh-CN" sz="2400" b="1" i="1" dirty="0">
              <a:latin typeface="Times New Roman" panose="02020603050405020304" pitchFamily="18" charset="0"/>
              <a:ea typeface="Arial" panose="020B0604020202020204" pitchFamily="34" charset="0"/>
            </a:endParaRPr>
          </a:p>
        </p:txBody>
      </p:sp>
      <p:graphicFrame>
        <p:nvGraphicFramePr>
          <p:cNvPr id="10" name="Object 7"/>
          <p:cNvGraphicFramePr>
            <a:graphicFrameLocks noChangeAspect="1"/>
          </p:cNvGraphicFramePr>
          <p:nvPr/>
        </p:nvGraphicFramePr>
        <p:xfrm>
          <a:off x="1428750" y="3214688"/>
          <a:ext cx="6724650" cy="893762"/>
        </p:xfrm>
        <a:graphic>
          <a:graphicData uri="http://schemas.openxmlformats.org/presentationml/2006/ole">
            <p:oleObj spid="_x0000_s28675" r:id="rId3" imgW="2959100" imgH="393700" progId="">
              <p:embed/>
            </p:oleObj>
          </a:graphicData>
        </a:graphic>
      </p:graphicFrame>
      <p:sp>
        <p:nvSpPr>
          <p:cNvPr id="11" name="Text Box 5"/>
          <p:cNvSpPr txBox="1"/>
          <p:nvPr/>
        </p:nvSpPr>
        <p:spPr>
          <a:xfrm>
            <a:off x="884238" y="4508500"/>
            <a:ext cx="583247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储存的能量为：</a:t>
            </a:r>
            <a:endParaRPr lang="en-US" altLang="zh-CN" sz="2400" b="1" dirty="0">
              <a:latin typeface="Times New Roman" panose="02020603050405020304" pitchFamily="18" charset="0"/>
              <a:ea typeface="Arial" panose="020B0604020202020204" pitchFamily="34" charset="0"/>
            </a:endParaRPr>
          </a:p>
        </p:txBody>
      </p:sp>
      <p:graphicFrame>
        <p:nvGraphicFramePr>
          <p:cNvPr id="12" name="Object 8"/>
          <p:cNvGraphicFramePr>
            <a:graphicFrameLocks noChangeAspect="1"/>
          </p:cNvGraphicFramePr>
          <p:nvPr/>
        </p:nvGraphicFramePr>
        <p:xfrm>
          <a:off x="1516063" y="4989513"/>
          <a:ext cx="6111875" cy="936625"/>
        </p:xfrm>
        <a:graphic>
          <a:graphicData uri="http://schemas.openxmlformats.org/presentationml/2006/ole">
            <p:oleObj spid="_x0000_s28676" r:id="rId4" imgW="2565360" imgH="393480" progId="">
              <p:embed/>
            </p:oleObj>
          </a:graphicData>
        </a:graphic>
      </p:graphicFrame>
      <p:sp>
        <p:nvSpPr>
          <p:cNvPr id="13" name="矩形 12"/>
          <p:cNvSpPr/>
          <p:nvPr/>
        </p:nvSpPr>
        <p:spPr>
          <a:xfrm>
            <a:off x="857250" y="2143125"/>
            <a:ext cx="4572000" cy="1016000"/>
          </a:xfrm>
          <a:prstGeom prst="rect">
            <a:avLst/>
          </a:prstGeom>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accent5">
                    <a:lumMod val="50000"/>
                  </a:schemeClr>
                </a:solidFill>
                <a:effectLst/>
                <a:uLnTx/>
                <a:uFillTx/>
                <a:latin typeface="Times New Roman" panose="02020603050405020304" pitchFamily="18" charset="0"/>
                <a:ea typeface="宋体" panose="02010600030101010101" pitchFamily="2" charset="-122"/>
                <a:cs typeface="+mn-cs"/>
              </a:rPr>
              <a:t>解</a:t>
            </a:r>
            <a:r>
              <a:rPr kumimoji="0" lang="en-US" altLang="zh-CN" sz="2400" b="1" i="0" u="none" strike="noStrike" kern="1200" cap="none" spc="0" normalizeH="0" baseline="0" noProof="0" dirty="0">
                <a:ln>
                  <a:noFill/>
                </a:ln>
                <a:solidFill>
                  <a:schemeClr val="accent5">
                    <a:lumMod val="50000"/>
                  </a:schemeClr>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由于</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v=L di/dt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且</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=0.1 H,</a:t>
            </a:r>
            <a:endPar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2"/>
            </p:custDataLst>
          </p:nvPr>
        </p:nvPicPr>
        <p:blipFill>
          <a:blip r:embed="rId4"/>
          <a:stretch>
            <a:fillRect/>
          </a:stretch>
        </p:blipFill>
        <p:spPr>
          <a:xfrm>
            <a:off x="179705" y="692150"/>
            <a:ext cx="8834120" cy="750570"/>
          </a:xfrm>
          <a:prstGeom prst="rect">
            <a:avLst/>
          </a:prstGeom>
        </p:spPr>
      </p:pic>
      <p:sp>
        <p:nvSpPr>
          <p:cNvPr id="13" name="矩形 12"/>
          <p:cNvSpPr/>
          <p:nvPr/>
        </p:nvSpPr>
        <p:spPr>
          <a:xfrm>
            <a:off x="857250" y="2143125"/>
            <a:ext cx="7402195" cy="2122805"/>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accent5">
                    <a:lumMod val="50000"/>
                  </a:schemeClr>
                </a:solidFill>
                <a:effectLst/>
                <a:uLnTx/>
                <a:uFillTx/>
                <a:latin typeface="Times New Roman" panose="02020603050405020304" pitchFamily="18" charset="0"/>
                <a:ea typeface="宋体" panose="02010600030101010101" pitchFamily="2" charset="-122"/>
                <a:cs typeface="+mn-cs"/>
              </a:rPr>
              <a:t>解</a:t>
            </a:r>
            <a:r>
              <a:rPr kumimoji="0" lang="en-US" altLang="zh-CN" sz="2400" b="1" i="0" u="none" strike="noStrike" kern="1200" cap="none" spc="0" normalizeH="0" baseline="0" noProof="0" dirty="0">
                <a:ln>
                  <a:noFill/>
                </a:ln>
                <a:solidFill>
                  <a:schemeClr val="accent5">
                    <a:lumMod val="50000"/>
                  </a:schemeClr>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由于</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v=L di/dt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且</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=1mH,</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V=1d(90sin200t)/dt=90*200cos200t=18cos200t mV</a:t>
            </a:r>
            <a:endPar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Text Box 5"/>
          <p:cNvSpPr txBox="1"/>
          <p:nvPr/>
        </p:nvSpPr>
        <p:spPr>
          <a:xfrm>
            <a:off x="971233" y="4076700"/>
            <a:ext cx="583247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储存的能量为：</a:t>
            </a:r>
            <a:endParaRPr lang="en-US" altLang="zh-CN" sz="2400" b="1" dirty="0">
              <a:latin typeface="Times New Roman" panose="02020603050405020304" pitchFamily="18" charset="0"/>
              <a:ea typeface="Arial" panose="020B0604020202020204" pitchFamily="34" charset="0"/>
            </a:endParaRPr>
          </a:p>
        </p:txBody>
      </p:sp>
      <p:graphicFrame>
        <p:nvGraphicFramePr>
          <p:cNvPr id="12" name="Object 8"/>
          <p:cNvGraphicFramePr>
            <a:graphicFrameLocks noChangeAspect="1"/>
          </p:cNvGraphicFramePr>
          <p:nvPr/>
        </p:nvGraphicFramePr>
        <p:xfrm>
          <a:off x="548323" y="4989513"/>
          <a:ext cx="8047355" cy="936625"/>
        </p:xfrm>
        <a:graphic>
          <a:graphicData uri="http://schemas.openxmlformats.org/presentationml/2006/ole">
            <p:oleObj spid="_x0000_s29698" r:id="rId5" imgW="3377880" imgH="39348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p:nvPr/>
        </p:nvSpPr>
        <p:spPr>
          <a:xfrm>
            <a:off x="590550" y="619125"/>
            <a:ext cx="5673725"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b="1" dirty="0">
                <a:solidFill>
                  <a:srgbClr val="FF0000"/>
                </a:solidFill>
                <a:latin typeface="Arial Black" panose="020B0A04020102020204" pitchFamily="34" charset="0"/>
                <a:cs typeface="Arial" panose="020B0604020202020204" pitchFamily="34" charset="0"/>
              </a:rPr>
              <a:t>6-9</a:t>
            </a:r>
            <a:r>
              <a:rPr lang="zh-CN" altLang="en-US" sz="2400" b="1" dirty="0">
                <a:solidFill>
                  <a:srgbClr val="FF0000"/>
                </a:solidFill>
                <a:latin typeface="Arial Black" panose="020B0A04020102020204" pitchFamily="34" charset="0"/>
                <a:cs typeface="Arial" panose="020B0604020202020204" pitchFamily="34" charset="0"/>
              </a:rPr>
              <a:t>：</a:t>
            </a:r>
            <a:endParaRPr lang="en-US" altLang="zh-CN" sz="2400" b="1" dirty="0">
              <a:solidFill>
                <a:srgbClr val="FF0000"/>
              </a:solidFill>
              <a:latin typeface="Arial Black" panose="020B0A04020102020204" pitchFamily="34" charset="0"/>
              <a:ea typeface="Arial" panose="020B0604020202020204" pitchFamily="34" charset="0"/>
            </a:endParaRPr>
          </a:p>
        </p:txBody>
      </p:sp>
      <p:sp>
        <p:nvSpPr>
          <p:cNvPr id="64515" name="Text Box 3"/>
          <p:cNvSpPr txBox="1"/>
          <p:nvPr/>
        </p:nvSpPr>
        <p:spPr>
          <a:xfrm>
            <a:off x="1504950" y="654050"/>
            <a:ext cx="7421563"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a:t>
            </a:r>
            <a:r>
              <a:rPr lang="zh-CN" altLang="en-US" sz="2000" b="1" dirty="0">
                <a:latin typeface="Times New Roman" panose="02020603050405020304" pitchFamily="18" charset="0"/>
                <a:cs typeface="Arial" panose="020B0604020202020204" pitchFamily="34" charset="0"/>
              </a:rPr>
              <a:t>加在</a:t>
            </a:r>
            <a:r>
              <a:rPr lang="en-US" altLang="zh-CN" sz="2000" b="1" dirty="0">
                <a:latin typeface="Times New Roman" panose="02020603050405020304" pitchFamily="18" charset="0"/>
                <a:cs typeface="Arial" panose="020B0604020202020204" pitchFamily="34" charset="0"/>
              </a:rPr>
              <a:t>5H </a:t>
            </a:r>
            <a:r>
              <a:rPr lang="zh-CN" altLang="en-US" sz="2000" b="1" dirty="0">
                <a:latin typeface="Times New Roman" panose="02020603050405020304" pitchFamily="18" charset="0"/>
                <a:cs typeface="Arial" panose="020B0604020202020204" pitchFamily="34" charset="0"/>
              </a:rPr>
              <a:t>电感两端的电压为：</a:t>
            </a:r>
            <a:endParaRPr lang="en-US" altLang="zh-CN" sz="2400" b="1" dirty="0">
              <a:latin typeface="Times New Roman" panose="02020603050405020304" pitchFamily="18" charset="0"/>
              <a:ea typeface="Arial" panose="020B0604020202020204" pitchFamily="34" charset="0"/>
            </a:endParaRPr>
          </a:p>
        </p:txBody>
      </p:sp>
      <p:graphicFrame>
        <p:nvGraphicFramePr>
          <p:cNvPr id="64516" name="Object 4"/>
          <p:cNvGraphicFramePr>
            <a:graphicFrameLocks noChangeAspect="1"/>
          </p:cNvGraphicFramePr>
          <p:nvPr/>
        </p:nvGraphicFramePr>
        <p:xfrm>
          <a:off x="2282825" y="1106488"/>
          <a:ext cx="2447925" cy="838200"/>
        </p:xfrm>
        <a:graphic>
          <a:graphicData uri="http://schemas.openxmlformats.org/presentationml/2006/ole">
            <p:oleObj spid="_x0000_s30726" r:id="rId3" imgW="1409088" imgH="482391" progId="">
              <p:embed/>
            </p:oleObj>
          </a:graphicData>
        </a:graphic>
      </p:graphicFrame>
      <p:sp>
        <p:nvSpPr>
          <p:cNvPr id="64517" name="Text Box 5"/>
          <p:cNvSpPr txBox="1"/>
          <p:nvPr/>
        </p:nvSpPr>
        <p:spPr>
          <a:xfrm>
            <a:off x="107950" y="1935163"/>
            <a:ext cx="8785225"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latin typeface="Times New Roman" panose="02020603050405020304" pitchFamily="18" charset="0"/>
                <a:cs typeface="Arial" panose="020B0604020202020204" pitchFamily="34" charset="0"/>
              </a:rPr>
              <a:t>计算通过该电感的电流。假设</a:t>
            </a:r>
            <a:r>
              <a:rPr lang="en-US" altLang="zh-CN" sz="2000" b="1" i="1" dirty="0">
                <a:latin typeface="Times New Roman" panose="02020603050405020304" pitchFamily="18" charset="0"/>
                <a:cs typeface="Arial" panose="020B0604020202020204" pitchFamily="34" charset="0"/>
              </a:rPr>
              <a:t>i</a:t>
            </a:r>
            <a:r>
              <a:rPr lang="en-US" altLang="zh-CN" sz="2000" b="1" dirty="0">
                <a:latin typeface="Times New Roman" panose="02020603050405020304" pitchFamily="18" charset="0"/>
                <a:cs typeface="Arial" panose="020B0604020202020204" pitchFamily="34" charset="0"/>
              </a:rPr>
              <a:t>(</a:t>
            </a:r>
            <a:r>
              <a:rPr lang="en-US" altLang="zh-CN" sz="2000" b="1" i="1" dirty="0">
                <a:latin typeface="Times New Roman" panose="02020603050405020304" pitchFamily="18" charset="0"/>
                <a:cs typeface="Arial" panose="020B0604020202020204" pitchFamily="34" charset="0"/>
              </a:rPr>
              <a:t>v</a:t>
            </a:r>
            <a:r>
              <a:rPr lang="en-US" altLang="zh-CN" sz="2000" b="1" dirty="0">
                <a:latin typeface="Times New Roman" panose="02020603050405020304" pitchFamily="18" charset="0"/>
                <a:cs typeface="Arial" panose="020B0604020202020204" pitchFamily="34" charset="0"/>
              </a:rPr>
              <a:t>) &gt; 0</a:t>
            </a:r>
            <a:r>
              <a:rPr lang="zh-CN" altLang="en-US" sz="2000" b="1" dirty="0">
                <a:latin typeface="Times New Roman" panose="02020603050405020304" pitchFamily="18" charset="0"/>
                <a:cs typeface="Arial" panose="020B0604020202020204" pitchFamily="34" charset="0"/>
              </a:rPr>
              <a:t>，计算当</a:t>
            </a:r>
            <a:r>
              <a:rPr lang="en-US" altLang="zh-CN" sz="2000" b="1" i="1" dirty="0">
                <a:latin typeface="Times New Roman" panose="02020603050405020304" pitchFamily="18" charset="0"/>
                <a:cs typeface="Arial" panose="020B0604020202020204" pitchFamily="34" charset="0"/>
              </a:rPr>
              <a:t>t</a:t>
            </a:r>
            <a:r>
              <a:rPr lang="en-US" altLang="zh-CN" sz="2000" b="1" dirty="0">
                <a:latin typeface="Times New Roman" panose="02020603050405020304" pitchFamily="18" charset="0"/>
                <a:cs typeface="Arial" panose="020B0604020202020204" pitchFamily="34" charset="0"/>
              </a:rPr>
              <a:t> = 5s</a:t>
            </a:r>
            <a:r>
              <a:rPr lang="zh-CN" altLang="en-US" sz="2000" b="1" dirty="0">
                <a:latin typeface="Times New Roman" panose="02020603050405020304" pitchFamily="18" charset="0"/>
                <a:cs typeface="Arial" panose="020B0604020202020204" pitchFamily="34" charset="0"/>
              </a:rPr>
              <a:t>时，该电感所储存的能量。</a:t>
            </a:r>
            <a:endParaRPr lang="en-US" altLang="zh-CN" sz="2000" b="1" dirty="0">
              <a:latin typeface="Times New Roman" panose="02020603050405020304" pitchFamily="18" charset="0"/>
              <a:ea typeface="Arial" panose="020B0604020202020204" pitchFamily="34" charset="0"/>
            </a:endParaRPr>
          </a:p>
        </p:txBody>
      </p:sp>
      <p:graphicFrame>
        <p:nvGraphicFramePr>
          <p:cNvPr id="84998" name="Object 6"/>
          <p:cNvGraphicFramePr>
            <a:graphicFrameLocks noChangeAspect="1"/>
          </p:cNvGraphicFramePr>
          <p:nvPr/>
        </p:nvGraphicFramePr>
        <p:xfrm>
          <a:off x="1042988" y="3171825"/>
          <a:ext cx="2376487" cy="742950"/>
        </p:xfrm>
        <a:graphic>
          <a:graphicData uri="http://schemas.openxmlformats.org/presentationml/2006/ole">
            <p:oleObj spid="_x0000_s30727" r:id="rId4" imgW="1256755" imgH="393529" progId="">
              <p:embed/>
            </p:oleObj>
          </a:graphicData>
        </a:graphic>
      </p:graphicFrame>
      <p:graphicFrame>
        <p:nvGraphicFramePr>
          <p:cNvPr id="84999" name="Object 7"/>
          <p:cNvGraphicFramePr>
            <a:graphicFrameLocks noChangeAspect="1"/>
          </p:cNvGraphicFramePr>
          <p:nvPr/>
        </p:nvGraphicFramePr>
        <p:xfrm>
          <a:off x="1428750" y="3857625"/>
          <a:ext cx="3797300" cy="798513"/>
        </p:xfrm>
        <a:graphic>
          <a:graphicData uri="http://schemas.openxmlformats.org/presentationml/2006/ole">
            <p:oleObj spid="_x0000_s30728" r:id="rId5" imgW="1993900" imgH="419100" progId="">
              <p:embed/>
            </p:oleObj>
          </a:graphicData>
        </a:graphic>
      </p:graphicFrame>
      <p:sp>
        <p:nvSpPr>
          <p:cNvPr id="85000" name="Text Box 8"/>
          <p:cNvSpPr txBox="1"/>
          <p:nvPr/>
        </p:nvSpPr>
        <p:spPr>
          <a:xfrm>
            <a:off x="0" y="4686300"/>
            <a:ext cx="8143875"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功率 </a:t>
            </a:r>
            <a:r>
              <a:rPr lang="en-US" altLang="zh-CN" sz="2400" i="1" dirty="0">
                <a:latin typeface="Times New Roman" panose="02020603050405020304" pitchFamily="18" charset="0"/>
                <a:cs typeface="Arial" panose="020B0604020202020204" pitchFamily="34" charset="0"/>
              </a:rPr>
              <a:t>p=vi=60t</a:t>
            </a:r>
            <a:r>
              <a:rPr lang="en-US" altLang="zh-CN" sz="2400" i="1" baseline="30000" dirty="0">
                <a:latin typeface="Times New Roman" panose="02020603050405020304" pitchFamily="18" charset="0"/>
                <a:cs typeface="Arial" panose="020B0604020202020204" pitchFamily="34" charset="0"/>
              </a:rPr>
              <a:t>5</a:t>
            </a:r>
            <a:endParaRPr lang="en-US" altLang="zh-CN" sz="2400" b="1" baseline="30000"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储存的能量为：</a:t>
            </a:r>
            <a:endParaRPr lang="en-US" altLang="zh-CN" sz="2400" b="1" i="1" baseline="30000" dirty="0">
              <a:latin typeface="Times New Roman" panose="02020603050405020304" pitchFamily="18" charset="0"/>
              <a:ea typeface="Arial" panose="020B0604020202020204" pitchFamily="34" charset="0"/>
            </a:endParaRPr>
          </a:p>
        </p:txBody>
      </p:sp>
      <p:graphicFrame>
        <p:nvGraphicFramePr>
          <p:cNvPr id="85001" name="Object 9"/>
          <p:cNvGraphicFramePr>
            <a:graphicFrameLocks noChangeAspect="1"/>
          </p:cNvGraphicFramePr>
          <p:nvPr/>
        </p:nvGraphicFramePr>
        <p:xfrm>
          <a:off x="2791143" y="5032375"/>
          <a:ext cx="5352415" cy="882650"/>
        </p:xfrm>
        <a:graphic>
          <a:graphicData uri="http://schemas.openxmlformats.org/presentationml/2006/ole">
            <p:oleObj spid="_x0000_s30729" r:id="rId6" imgW="2692080" imgH="444240" progId="">
              <p:embed/>
            </p:oleObj>
          </a:graphicData>
        </a:graphic>
      </p:graphicFrame>
      <p:sp>
        <p:nvSpPr>
          <p:cNvPr id="85002" name="Text Box 10"/>
          <p:cNvSpPr txBox="1"/>
          <p:nvPr/>
        </p:nvSpPr>
        <p:spPr>
          <a:xfrm>
            <a:off x="1116013" y="5997575"/>
            <a:ext cx="111601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或</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graphicFrame>
        <p:nvGraphicFramePr>
          <p:cNvPr id="85003" name="Object 11"/>
          <p:cNvGraphicFramePr>
            <a:graphicFrameLocks noChangeAspect="1"/>
          </p:cNvGraphicFramePr>
          <p:nvPr/>
        </p:nvGraphicFramePr>
        <p:xfrm>
          <a:off x="1835150" y="5824538"/>
          <a:ext cx="6884988" cy="844550"/>
        </p:xfrm>
        <a:graphic>
          <a:graphicData uri="http://schemas.openxmlformats.org/presentationml/2006/ole">
            <p:oleObj spid="_x0000_s30730" r:id="rId7" imgW="3517900" imgH="431800" progId="">
              <p:embed/>
            </p:oleObj>
          </a:graphicData>
        </a:graphic>
      </p:graphicFrame>
      <p:sp>
        <p:nvSpPr>
          <p:cNvPr id="14" name="矩形 13"/>
          <p:cNvSpPr/>
          <p:nvPr/>
        </p:nvSpPr>
        <p:spPr>
          <a:xfrm>
            <a:off x="250825" y="2732088"/>
            <a:ext cx="8358188"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E5"/>
                </a:solidFill>
                <a:latin typeface="Times New Roman" panose="02020603050405020304" pitchFamily="18" charset="0"/>
                <a:cs typeface="Arial" panose="020B0604020202020204" pitchFamily="34" charset="0"/>
              </a:rPr>
              <a:t>解</a:t>
            </a:r>
            <a:r>
              <a:rPr lang="en-US" altLang="zh-CN" sz="2400" b="1" dirty="0">
                <a:solidFill>
                  <a:srgbClr val="0000E5"/>
                </a:solidFill>
                <a:latin typeface="Times New Roman" panose="02020603050405020304" pitchFamily="18" charset="0"/>
                <a:cs typeface="Arial" panose="020B0604020202020204" pitchFamily="34" charset="0"/>
              </a:rPr>
              <a:t>:</a:t>
            </a: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由于</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，且</a:t>
            </a:r>
            <a:r>
              <a:rPr lang="en-US" altLang="zh-CN" sz="2400" b="1" dirty="0">
                <a:latin typeface="Times New Roman" panose="02020603050405020304" pitchFamily="18" charset="0"/>
                <a:cs typeface="Arial" panose="020B0604020202020204" pitchFamily="34" charset="0"/>
              </a:rPr>
              <a:t>  </a:t>
            </a:r>
            <a:r>
              <a:rPr lang="en-US" altLang="zh-CN" sz="2400" i="1" dirty="0">
                <a:latin typeface="Times New Roman" panose="02020603050405020304" pitchFamily="18" charset="0"/>
                <a:cs typeface="Arial" panose="020B0604020202020204" pitchFamily="34" charset="0"/>
              </a:rPr>
              <a:t>L</a:t>
            </a:r>
            <a:r>
              <a:rPr lang="en-US" altLang="zh-CN" sz="2400" dirty="0">
                <a:latin typeface="Times New Roman" panose="02020603050405020304" pitchFamily="18" charset="0"/>
                <a:cs typeface="Arial" panose="020B0604020202020204" pitchFamily="34" charset="0"/>
              </a:rPr>
              <a:t>=5 H</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所以</a:t>
            </a:r>
            <a:endParaRPr lang="en-US" altLang="zh-CN" sz="2400" b="1" dirty="0">
              <a:latin typeface="Times New Roman" panose="02020603050405020304" pitchFamily="18"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4998"/>
                                        </p:tgtEl>
                                        <p:attrNameLst>
                                          <p:attrName>style.visibility</p:attrName>
                                        </p:attrNameLst>
                                      </p:cBhvr>
                                      <p:to>
                                        <p:strVal val="visible"/>
                                      </p:to>
                                    </p:set>
                                    <p:animEffect transition="in" filter="blinds(horizontal)">
                                      <p:cBhvr>
                                        <p:cTn id="7" dur="500"/>
                                        <p:tgtEl>
                                          <p:spTgt spid="84998"/>
                                        </p:tgtEl>
                                      </p:cBhvr>
                                    </p:animEffect>
                                  </p:childTnLst>
                                </p:cTn>
                              </p:par>
                              <p:par>
                                <p:cTn id="8" presetID="3" presetClass="entr" presetSubtype="10" fill="hold" nodeType="withEffect">
                                  <p:stCondLst>
                                    <p:cond delay="0"/>
                                  </p:stCondLst>
                                  <p:childTnLst>
                                    <p:set>
                                      <p:cBhvr>
                                        <p:cTn id="9" dur="1" fill="hold">
                                          <p:stCondLst>
                                            <p:cond delay="0"/>
                                          </p:stCondLst>
                                        </p:cTn>
                                        <p:tgtEl>
                                          <p:spTgt spid="84999"/>
                                        </p:tgtEl>
                                        <p:attrNameLst>
                                          <p:attrName>style.visibility</p:attrName>
                                        </p:attrNameLst>
                                      </p:cBhvr>
                                      <p:to>
                                        <p:strVal val="visible"/>
                                      </p:to>
                                    </p:set>
                                    <p:animEffect transition="in" filter="blinds(horizontal)">
                                      <p:cBhvr>
                                        <p:cTn id="10" dur="500"/>
                                        <p:tgtEl>
                                          <p:spTgt spid="8499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5000"/>
                                        </p:tgtEl>
                                        <p:attrNameLst>
                                          <p:attrName>style.visibility</p:attrName>
                                        </p:attrNameLst>
                                      </p:cBhvr>
                                      <p:to>
                                        <p:strVal val="visible"/>
                                      </p:to>
                                    </p:set>
                                    <p:animEffect transition="in" filter="blinds(horizontal)">
                                      <p:cBhvr>
                                        <p:cTn id="13" dur="500"/>
                                        <p:tgtEl>
                                          <p:spTgt spid="85000"/>
                                        </p:tgtEl>
                                      </p:cBhvr>
                                    </p:animEffect>
                                  </p:childTnLst>
                                </p:cTn>
                              </p:par>
                              <p:par>
                                <p:cTn id="14" presetID="3" presetClass="entr" presetSubtype="10" fill="hold" nodeType="withEffect">
                                  <p:stCondLst>
                                    <p:cond delay="0"/>
                                  </p:stCondLst>
                                  <p:childTnLst>
                                    <p:set>
                                      <p:cBhvr>
                                        <p:cTn id="15" dur="1" fill="hold">
                                          <p:stCondLst>
                                            <p:cond delay="0"/>
                                          </p:stCondLst>
                                        </p:cTn>
                                        <p:tgtEl>
                                          <p:spTgt spid="85001"/>
                                        </p:tgtEl>
                                        <p:attrNameLst>
                                          <p:attrName>style.visibility</p:attrName>
                                        </p:attrNameLst>
                                      </p:cBhvr>
                                      <p:to>
                                        <p:strVal val="visible"/>
                                      </p:to>
                                    </p:set>
                                    <p:animEffect transition="in" filter="blinds(horizontal)">
                                      <p:cBhvr>
                                        <p:cTn id="16" dur="500"/>
                                        <p:tgtEl>
                                          <p:spTgt spid="8500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5002"/>
                                        </p:tgtEl>
                                        <p:attrNameLst>
                                          <p:attrName>style.visibility</p:attrName>
                                        </p:attrNameLst>
                                      </p:cBhvr>
                                      <p:to>
                                        <p:strVal val="visible"/>
                                      </p:to>
                                    </p:set>
                                    <p:animEffect transition="in" filter="blinds(horizontal)">
                                      <p:cBhvr>
                                        <p:cTn id="19" dur="500"/>
                                        <p:tgtEl>
                                          <p:spTgt spid="85002"/>
                                        </p:tgtEl>
                                      </p:cBhvr>
                                    </p:animEffect>
                                  </p:childTnLst>
                                </p:cTn>
                              </p:par>
                              <p:par>
                                <p:cTn id="20" presetID="3" presetClass="entr" presetSubtype="10" fill="hold" nodeType="withEffect">
                                  <p:stCondLst>
                                    <p:cond delay="0"/>
                                  </p:stCondLst>
                                  <p:childTnLst>
                                    <p:set>
                                      <p:cBhvr>
                                        <p:cTn id="21" dur="1" fill="hold">
                                          <p:stCondLst>
                                            <p:cond delay="0"/>
                                          </p:stCondLst>
                                        </p:cTn>
                                        <p:tgtEl>
                                          <p:spTgt spid="85003"/>
                                        </p:tgtEl>
                                        <p:attrNameLst>
                                          <p:attrName>style.visibility</p:attrName>
                                        </p:attrNameLst>
                                      </p:cBhvr>
                                      <p:to>
                                        <p:strVal val="visible"/>
                                      </p:to>
                                    </p:set>
                                    <p:animEffect transition="in" filter="blinds(horizontal)">
                                      <p:cBhvr>
                                        <p:cTn id="22" dur="500"/>
                                        <p:tgtEl>
                                          <p:spTgt spid="8500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linds(horizontal)">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0" grpId="0"/>
      <p:bldP spid="85002" grpId="0"/>
      <p:bldP spid="1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50825" y="1052195"/>
            <a:ext cx="8077200" cy="618490"/>
          </a:xfrm>
          <a:prstGeom prst="rect">
            <a:avLst/>
          </a:prstGeom>
        </p:spPr>
      </p:pic>
      <p:sp>
        <p:nvSpPr>
          <p:cNvPr id="14" name="矩形 13"/>
          <p:cNvSpPr/>
          <p:nvPr/>
        </p:nvSpPr>
        <p:spPr>
          <a:xfrm>
            <a:off x="467360" y="1988503"/>
            <a:ext cx="8358188" cy="212280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E5"/>
                </a:solidFill>
                <a:latin typeface="Times New Roman" panose="02020603050405020304" pitchFamily="18" charset="0"/>
                <a:cs typeface="Arial" panose="020B0604020202020204" pitchFamily="34" charset="0"/>
              </a:rPr>
              <a:t>解</a:t>
            </a:r>
            <a:r>
              <a:rPr lang="en-US" altLang="zh-CN" sz="2400" b="1" dirty="0">
                <a:solidFill>
                  <a:srgbClr val="0000E5"/>
                </a:solidFill>
                <a:latin typeface="Times New Roman" panose="02020603050405020304" pitchFamily="18" charset="0"/>
                <a:cs typeface="Arial" panose="020B0604020202020204" pitchFamily="34" charset="0"/>
              </a:rPr>
              <a:t>:</a:t>
            </a: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由于</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，且</a:t>
            </a:r>
            <a:r>
              <a:rPr lang="en-US" altLang="zh-CN" sz="2400" b="1" dirty="0">
                <a:latin typeface="Times New Roman" panose="02020603050405020304" pitchFamily="18" charset="0"/>
                <a:cs typeface="Arial" panose="020B0604020202020204" pitchFamily="34" charset="0"/>
              </a:rPr>
              <a:t>  </a:t>
            </a:r>
            <a:r>
              <a:rPr lang="en-US" altLang="zh-CN" sz="2400" i="1" dirty="0">
                <a:latin typeface="Times New Roman" panose="02020603050405020304" pitchFamily="18" charset="0"/>
                <a:cs typeface="Arial" panose="020B0604020202020204" pitchFamily="34" charset="0"/>
              </a:rPr>
              <a:t>L</a:t>
            </a:r>
            <a:r>
              <a:rPr lang="en-US" altLang="zh-CN" sz="2400" dirty="0">
                <a:latin typeface="Times New Roman" panose="02020603050405020304" pitchFamily="18" charset="0"/>
                <a:cs typeface="Arial" panose="020B0604020202020204" pitchFamily="34" charset="0"/>
              </a:rPr>
              <a:t>=2 H</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所以</a:t>
            </a:r>
          </a:p>
          <a:p>
            <a:pPr marL="0" lvl="0" indent="0" eaLnBrk="1" hangingPunct="1">
              <a:spcBef>
                <a:spcPct val="50000"/>
              </a:spcBef>
              <a:buClrTx/>
              <a:buSzTx/>
              <a:buFontTx/>
              <a:buNone/>
            </a:pPr>
            <a:endParaRPr lang="en-US" altLang="zh-CN" sz="2400" b="1" dirty="0">
              <a:latin typeface="Times New Roman" panose="02020603050405020304" pitchFamily="18" charset="0"/>
              <a:ea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ea typeface="Arial" panose="020B0604020202020204" pitchFamily="34" charset="0"/>
            </a:endParaRPr>
          </a:p>
        </p:txBody>
      </p:sp>
      <p:graphicFrame>
        <p:nvGraphicFramePr>
          <p:cNvPr id="84998" name="Object 6"/>
          <p:cNvGraphicFramePr>
            <a:graphicFrameLocks noChangeAspect="1"/>
          </p:cNvGraphicFramePr>
          <p:nvPr/>
        </p:nvGraphicFramePr>
        <p:xfrm>
          <a:off x="1331278" y="2348865"/>
          <a:ext cx="2376487" cy="742950"/>
        </p:xfrm>
        <a:graphic>
          <a:graphicData uri="http://schemas.openxmlformats.org/presentationml/2006/ole">
            <p:oleObj spid="_x0000_s31747" r:id="rId4" imgW="1256755" imgH="393529" progId="">
              <p:embed/>
            </p:oleObj>
          </a:graphicData>
        </a:graphic>
      </p:graphicFrame>
      <p:graphicFrame>
        <p:nvGraphicFramePr>
          <p:cNvPr id="84999" name="Object 7"/>
          <p:cNvGraphicFramePr>
            <a:graphicFrameLocks noChangeAspect="1"/>
          </p:cNvGraphicFramePr>
          <p:nvPr/>
        </p:nvGraphicFramePr>
        <p:xfrm>
          <a:off x="467043" y="3284697"/>
          <a:ext cx="7717155" cy="750570"/>
        </p:xfrm>
        <a:graphic>
          <a:graphicData uri="http://schemas.openxmlformats.org/presentationml/2006/ole">
            <p:oleObj spid="_x0000_s31748" r:id="rId5" imgW="4051080" imgH="393480" progId="">
              <p:embed/>
            </p:oleObj>
          </a:graphicData>
        </a:graphic>
      </p:graphicFrame>
      <p:sp>
        <p:nvSpPr>
          <p:cNvPr id="6" name="文本框 5"/>
          <p:cNvSpPr txBox="1"/>
          <p:nvPr/>
        </p:nvSpPr>
        <p:spPr>
          <a:xfrm>
            <a:off x="995680" y="4364990"/>
            <a:ext cx="3048000" cy="3683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a:t>W=(L*I</a:t>
            </a:r>
            <a:r>
              <a:rPr lang="en-US" altLang="zh-CN" baseline="30000">
                <a:solidFill>
                  <a:schemeClr val="accent4"/>
                </a:solidFill>
                <a:uFillTx/>
              </a:rPr>
              <a:t>2</a:t>
            </a:r>
            <a:r>
              <a:rPr lang="en-US" altLang="zh-CN">
                <a:sym typeface="+mn-ea"/>
              </a:rPr>
              <a:t>)/2=(2*18</a:t>
            </a:r>
            <a:r>
              <a:rPr lang="en-US" altLang="zh-CN" baseline="30000">
                <a:solidFill>
                  <a:schemeClr val="accent4"/>
                </a:solidFill>
                <a:uFillTx/>
                <a:sym typeface="+mn-ea"/>
              </a:rPr>
              <a:t>2</a:t>
            </a:r>
            <a:r>
              <a:rPr lang="en-US" altLang="zh-CN">
                <a:sym typeface="+mn-ea"/>
              </a:rPr>
              <a:t>)/2=324J</a:t>
            </a:r>
            <a:endParaRPr lang="en-US" altLang="zh-CN" baseline="30000">
              <a:solidFill>
                <a:schemeClr val="accent4"/>
              </a:solidFill>
              <a:uFillTx/>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4998"/>
                                        </p:tgtEl>
                                        <p:attrNameLst>
                                          <p:attrName>style.visibility</p:attrName>
                                        </p:attrNameLst>
                                      </p:cBhvr>
                                      <p:to>
                                        <p:strVal val="visible"/>
                                      </p:to>
                                    </p:set>
                                    <p:animEffect transition="in" filter="blinds(horizontal)">
                                      <p:cBhvr>
                                        <p:cTn id="12" dur="500"/>
                                        <p:tgtEl>
                                          <p:spTgt spid="84998"/>
                                        </p:tgtEl>
                                      </p:cBhvr>
                                    </p:animEffect>
                                  </p:childTnLst>
                                </p:cTn>
                              </p:par>
                              <p:par>
                                <p:cTn id="13" presetID="3" presetClass="entr" presetSubtype="10" fill="hold" nodeType="withEffect">
                                  <p:stCondLst>
                                    <p:cond delay="0"/>
                                  </p:stCondLst>
                                  <p:childTnLst>
                                    <p:set>
                                      <p:cBhvr>
                                        <p:cTn id="14" dur="1" fill="hold">
                                          <p:stCondLst>
                                            <p:cond delay="0"/>
                                          </p:stCondLst>
                                        </p:cTn>
                                        <p:tgtEl>
                                          <p:spTgt spid="84999"/>
                                        </p:tgtEl>
                                        <p:attrNameLst>
                                          <p:attrName>style.visibility</p:attrName>
                                        </p:attrNameLst>
                                      </p:cBhvr>
                                      <p:to>
                                        <p:strVal val="visible"/>
                                      </p:to>
                                    </p:set>
                                    <p:animEffect transition="in" filter="blinds(horizontal)">
                                      <p:cBhvr>
                                        <p:cTn id="15" dur="500"/>
                                        <p:tgtEl>
                                          <p:spTgt spid="84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p:nvPr/>
        </p:nvSpPr>
        <p:spPr>
          <a:xfrm>
            <a:off x="654050" y="692150"/>
            <a:ext cx="7381875"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dirty="0">
                <a:solidFill>
                  <a:srgbClr val="FF0000"/>
                </a:solidFill>
                <a:latin typeface="Arial Black" panose="020B0A04020102020204" pitchFamily="34" charset="0"/>
                <a:cs typeface="Arial" panose="020B0604020202020204" pitchFamily="34" charset="0"/>
              </a:rPr>
              <a:t> 6-10</a:t>
            </a:r>
            <a:r>
              <a:rPr lang="zh-CN" altLang="en-US" sz="2400" dirty="0">
                <a:solidFill>
                  <a:srgbClr val="FF0000"/>
                </a:solidFill>
                <a:latin typeface="Arial Black" panose="020B0A04020102020204" pitchFamily="34" charset="0"/>
                <a:cs typeface="Arial" panose="020B0604020202020204" pitchFamily="34" charset="0"/>
              </a:rPr>
              <a:t>：</a:t>
            </a:r>
            <a:endParaRPr lang="zh-CN" altLang="en-US" sz="2400" b="1" dirty="0">
              <a:solidFill>
                <a:schemeClr val="folHlink"/>
              </a:solidFill>
              <a:latin typeface="Arial Black" panose="020B0A04020102020204" pitchFamily="34" charset="0"/>
              <a:ea typeface="Arial" panose="020B0604020202020204" pitchFamily="34" charset="0"/>
            </a:endParaRPr>
          </a:p>
        </p:txBody>
      </p:sp>
      <p:sp>
        <p:nvSpPr>
          <p:cNvPr id="65539" name="Text Box 3"/>
          <p:cNvSpPr txBox="1"/>
          <p:nvPr/>
        </p:nvSpPr>
        <p:spPr>
          <a:xfrm>
            <a:off x="608013" y="1268413"/>
            <a:ext cx="765175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图示电路中，在直流电源下，计算</a:t>
            </a:r>
            <a:r>
              <a:rPr lang="en-US" altLang="zh-CN" sz="2400" b="1" dirty="0">
                <a:latin typeface="Times New Roman" panose="02020603050405020304" pitchFamily="18" charset="0"/>
                <a:cs typeface="Arial" panose="020B0604020202020204" pitchFamily="34" charset="0"/>
              </a:rPr>
              <a:t> (a)</a:t>
            </a:r>
            <a:r>
              <a:rPr lang="en-US" altLang="zh-CN" sz="2400" b="1" i="1" dirty="0">
                <a:latin typeface="Times New Roman" panose="02020603050405020304" pitchFamily="18" charset="0"/>
                <a:cs typeface="Arial" panose="020B0604020202020204" pitchFamily="34" charset="0"/>
              </a:rPr>
              <a:t> i </a:t>
            </a:r>
            <a:r>
              <a:rPr lang="en-US" altLang="zh-CN" sz="2400" b="1" dirty="0">
                <a:latin typeface="Times New Roman" panose="02020603050405020304" pitchFamily="18" charset="0"/>
                <a:cs typeface="Arial" panose="020B0604020202020204" pitchFamily="34" charset="0"/>
              </a:rPr>
              <a:t>, </a:t>
            </a:r>
            <a:r>
              <a:rPr lang="en-US" altLang="zh-CN" sz="2400" b="1" i="1" dirty="0">
                <a:latin typeface="Times New Roman" panose="02020603050405020304" pitchFamily="18" charset="0"/>
                <a:cs typeface="Arial" panose="020B0604020202020204" pitchFamily="34" charset="0"/>
              </a:rPr>
              <a:t>v</a:t>
            </a:r>
            <a:r>
              <a:rPr lang="en-US" altLang="zh-CN" sz="2400" b="1" i="1" baseline="-25000" dirty="0">
                <a:latin typeface="Times New Roman" panose="02020603050405020304" pitchFamily="18" charset="0"/>
                <a:cs typeface="Arial" panose="020B0604020202020204" pitchFamily="34" charset="0"/>
              </a:rPr>
              <a:t>C </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以及</a:t>
            </a:r>
            <a:r>
              <a:rPr lang="en-US" altLang="zh-CN" sz="2400" b="1" dirty="0">
                <a:latin typeface="Times New Roman" panose="02020603050405020304" pitchFamily="18" charset="0"/>
                <a:cs typeface="Arial" panose="020B0604020202020204" pitchFamily="34" charset="0"/>
              </a:rPr>
              <a:t> </a:t>
            </a:r>
            <a:r>
              <a:rPr lang="en-US" altLang="zh-CN" sz="2400" b="1" i="1" dirty="0">
                <a:latin typeface="Times New Roman" panose="02020603050405020304" pitchFamily="18" charset="0"/>
                <a:cs typeface="Arial" panose="020B0604020202020204" pitchFamily="34" charset="0"/>
              </a:rPr>
              <a:t>i</a:t>
            </a:r>
            <a:r>
              <a:rPr lang="en-US" altLang="zh-CN" sz="2400" b="1" i="1" baseline="-25000" dirty="0">
                <a:latin typeface="Times New Roman" panose="02020603050405020304" pitchFamily="18" charset="0"/>
                <a:cs typeface="Arial" panose="020B0604020202020204" pitchFamily="34" charset="0"/>
              </a:rPr>
              <a:t>L </a:t>
            </a:r>
            <a:r>
              <a:rPr lang="en-US" altLang="zh-CN" sz="2400" b="1" dirty="0">
                <a:latin typeface="Times New Roman" panose="02020603050405020304" pitchFamily="18" charset="0"/>
                <a:cs typeface="Arial" panose="020B0604020202020204" pitchFamily="34" charset="0"/>
              </a:rPr>
              <a:t>, (b) </a:t>
            </a:r>
            <a:r>
              <a:rPr lang="zh-CN" altLang="en-US" sz="2400" b="1" dirty="0">
                <a:latin typeface="Times New Roman" panose="02020603050405020304" pitchFamily="18" charset="0"/>
                <a:cs typeface="Arial" panose="020B0604020202020204" pitchFamily="34" charset="0"/>
              </a:rPr>
              <a:t>储存在电容和电感中的能量。</a:t>
            </a:r>
            <a:endParaRPr lang="en-US" altLang="zh-CN" sz="2400" b="1" dirty="0">
              <a:latin typeface="Times New Roman" panose="02020603050405020304" pitchFamily="18" charset="0"/>
              <a:ea typeface="Arial" panose="020B0604020202020204" pitchFamily="34" charset="0"/>
            </a:endParaRPr>
          </a:p>
        </p:txBody>
      </p:sp>
      <p:pic>
        <p:nvPicPr>
          <p:cNvPr id="65540" name="Picture 11"/>
          <p:cNvPicPr>
            <a:picLocks noChangeAspect="1"/>
          </p:cNvPicPr>
          <p:nvPr/>
        </p:nvPicPr>
        <p:blipFill>
          <a:blip r:embed="rId3"/>
          <a:stretch>
            <a:fillRect/>
          </a:stretch>
        </p:blipFill>
        <p:spPr>
          <a:xfrm>
            <a:off x="1987550" y="2630488"/>
            <a:ext cx="4714875" cy="2647950"/>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Object 2"/>
          <p:cNvGraphicFramePr>
            <a:graphicFrameLocks noChangeAspect="1"/>
          </p:cNvGraphicFramePr>
          <p:nvPr/>
        </p:nvGraphicFramePr>
        <p:xfrm>
          <a:off x="1719263" y="1660525"/>
          <a:ext cx="2273300" cy="800100"/>
        </p:xfrm>
        <a:graphic>
          <a:graphicData uri="http://schemas.openxmlformats.org/presentationml/2006/ole">
            <p:oleObj spid="_x0000_s32773" r:id="rId3" imgW="1117115" imgH="393529" progId="">
              <p:embed/>
            </p:oleObj>
          </a:graphicData>
        </a:graphic>
      </p:graphicFrame>
      <p:graphicFrame>
        <p:nvGraphicFramePr>
          <p:cNvPr id="67587" name="Object 3"/>
          <p:cNvGraphicFramePr>
            <a:graphicFrameLocks noChangeAspect="1"/>
          </p:cNvGraphicFramePr>
          <p:nvPr/>
        </p:nvGraphicFramePr>
        <p:xfrm>
          <a:off x="1719263" y="2659063"/>
          <a:ext cx="1798637" cy="476250"/>
        </p:xfrm>
        <a:graphic>
          <a:graphicData uri="http://schemas.openxmlformats.org/presentationml/2006/ole">
            <p:oleObj spid="_x0000_s32774" r:id="rId4" imgW="863225" imgH="228501" progId="">
              <p:embed/>
            </p:oleObj>
          </a:graphicData>
        </a:graphic>
      </p:graphicFrame>
      <p:sp>
        <p:nvSpPr>
          <p:cNvPr id="67588" name="Text Box 7"/>
          <p:cNvSpPr txBox="1"/>
          <p:nvPr/>
        </p:nvSpPr>
        <p:spPr>
          <a:xfrm>
            <a:off x="250825" y="3789363"/>
            <a:ext cx="51831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(b) </a:t>
            </a:r>
            <a:r>
              <a:rPr lang="zh-CN" altLang="en-US" sz="2400" b="1" dirty="0">
                <a:latin typeface="Times New Roman" panose="02020603050405020304" pitchFamily="18" charset="0"/>
                <a:cs typeface="Arial" panose="020B0604020202020204" pitchFamily="34" charset="0"/>
              </a:rPr>
              <a:t>电容储存的能量为：</a:t>
            </a:r>
            <a:endParaRPr lang="en-US" altLang="zh-CN" sz="2400" b="1" dirty="0">
              <a:latin typeface="Times New Roman" panose="02020603050405020304" pitchFamily="18" charset="0"/>
              <a:ea typeface="Arial" panose="020B0604020202020204" pitchFamily="34" charset="0"/>
            </a:endParaRPr>
          </a:p>
        </p:txBody>
      </p:sp>
      <p:graphicFrame>
        <p:nvGraphicFramePr>
          <p:cNvPr id="67589" name="Object 4"/>
          <p:cNvGraphicFramePr>
            <a:graphicFrameLocks noChangeAspect="1"/>
          </p:cNvGraphicFramePr>
          <p:nvPr/>
        </p:nvGraphicFramePr>
        <p:xfrm>
          <a:off x="890588" y="4225925"/>
          <a:ext cx="3527425" cy="754063"/>
        </p:xfrm>
        <a:graphic>
          <a:graphicData uri="http://schemas.openxmlformats.org/presentationml/2006/ole">
            <p:oleObj spid="_x0000_s32775" r:id="rId5" imgW="1841500" imgH="393700" progId="">
              <p:embed/>
            </p:oleObj>
          </a:graphicData>
        </a:graphic>
      </p:graphicFrame>
      <p:sp>
        <p:nvSpPr>
          <p:cNvPr id="67590" name="Text Box 9"/>
          <p:cNvSpPr txBox="1"/>
          <p:nvPr/>
        </p:nvSpPr>
        <p:spPr>
          <a:xfrm>
            <a:off x="515938" y="5145088"/>
            <a:ext cx="46799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电感储存的能量为：</a:t>
            </a:r>
            <a:endParaRPr lang="en-US" altLang="zh-CN" sz="2400" b="1" dirty="0">
              <a:latin typeface="Times New Roman" panose="02020603050405020304" pitchFamily="18" charset="0"/>
              <a:ea typeface="Arial" panose="020B0604020202020204" pitchFamily="34" charset="0"/>
            </a:endParaRPr>
          </a:p>
        </p:txBody>
      </p:sp>
      <p:graphicFrame>
        <p:nvGraphicFramePr>
          <p:cNvPr id="67591" name="Object 5"/>
          <p:cNvGraphicFramePr>
            <a:graphicFrameLocks noChangeAspect="1"/>
          </p:cNvGraphicFramePr>
          <p:nvPr/>
        </p:nvGraphicFramePr>
        <p:xfrm>
          <a:off x="827088" y="5557838"/>
          <a:ext cx="3506787" cy="817562"/>
        </p:xfrm>
        <a:graphic>
          <a:graphicData uri="http://schemas.openxmlformats.org/presentationml/2006/ole">
            <p:oleObj spid="_x0000_s32776" r:id="rId6" imgW="1688367" imgH="393529" progId="">
              <p:embed/>
            </p:oleObj>
          </a:graphicData>
        </a:graphic>
      </p:graphicFrame>
      <p:sp>
        <p:nvSpPr>
          <p:cNvPr id="67592" name="矩形 10"/>
          <p:cNvSpPr/>
          <p:nvPr/>
        </p:nvSpPr>
        <p:spPr>
          <a:xfrm>
            <a:off x="441325" y="368300"/>
            <a:ext cx="8501063" cy="10779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0000E5"/>
                </a:solidFill>
                <a:latin typeface="Times New Roman" panose="02020603050405020304" pitchFamily="18" charset="0"/>
                <a:cs typeface="Arial" panose="020B0604020202020204" pitchFamily="34" charset="0"/>
              </a:rPr>
              <a:t>解</a:t>
            </a:r>
            <a:r>
              <a:rPr lang="en-US" altLang="zh-CN" sz="2800" b="1" dirty="0">
                <a:solidFill>
                  <a:srgbClr val="0000E5"/>
                </a:solidFill>
                <a:latin typeface="Times New Roman" panose="02020603050405020304" pitchFamily="18" charset="0"/>
                <a:cs typeface="Arial" panose="020B0604020202020204" pitchFamily="34" charset="0"/>
              </a:rPr>
              <a:t>:</a:t>
            </a: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(a) </a:t>
            </a:r>
            <a:r>
              <a:rPr lang="zh-CN" altLang="en-US" sz="2400" b="1" dirty="0">
                <a:latin typeface="Times New Roman" panose="02020603050405020304" pitchFamily="18" charset="0"/>
                <a:cs typeface="Arial" panose="020B0604020202020204" pitchFamily="34" charset="0"/>
              </a:rPr>
              <a:t>在直流电源下，将电容做开路处理，电感做短路处理：</a:t>
            </a:r>
            <a:endParaRPr lang="en-US" altLang="zh-CN" sz="2400" b="1" dirty="0">
              <a:latin typeface="Times New Roman" panose="02020603050405020304" pitchFamily="18" charset="0"/>
              <a:ea typeface="Arial" panose="020B0604020202020204" pitchFamily="34" charset="0"/>
            </a:endParaRPr>
          </a:p>
        </p:txBody>
      </p:sp>
      <p:pic>
        <p:nvPicPr>
          <p:cNvPr id="67593" name="Picture 13"/>
          <p:cNvPicPr>
            <a:picLocks noChangeAspect="1"/>
          </p:cNvPicPr>
          <p:nvPr/>
        </p:nvPicPr>
        <p:blipFill>
          <a:blip r:embed="rId7"/>
          <a:stretch>
            <a:fillRect/>
          </a:stretch>
        </p:blipFill>
        <p:spPr>
          <a:xfrm>
            <a:off x="5195888" y="4354513"/>
            <a:ext cx="3746500" cy="2106612"/>
          </a:xfrm>
          <a:prstGeom prst="rect">
            <a:avLst/>
          </a:prstGeom>
          <a:noFill/>
          <a:ln w="9525">
            <a:noFill/>
          </a:ln>
        </p:spPr>
      </p:pic>
      <p:pic>
        <p:nvPicPr>
          <p:cNvPr id="67594" name="Picture 11"/>
          <p:cNvPicPr>
            <a:picLocks noChangeAspect="1"/>
          </p:cNvPicPr>
          <p:nvPr/>
        </p:nvPicPr>
        <p:blipFill>
          <a:blip r:embed="rId8"/>
          <a:stretch>
            <a:fillRect/>
          </a:stretch>
        </p:blipFill>
        <p:spPr>
          <a:xfrm>
            <a:off x="5251450" y="1666875"/>
            <a:ext cx="3303588" cy="1855788"/>
          </a:xfrm>
          <a:prstGeom prst="rect">
            <a:avLst/>
          </a:prstGeom>
          <a:noFill/>
          <a:ln w="9525">
            <a:noFill/>
          </a:ln>
        </p:spPr>
      </p:pic>
      <p:sp>
        <p:nvSpPr>
          <p:cNvPr id="3" name="箭头: 下 2"/>
          <p:cNvSpPr/>
          <p:nvPr/>
        </p:nvSpPr>
        <p:spPr>
          <a:xfrm>
            <a:off x="6904038" y="3743325"/>
            <a:ext cx="188913"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7596" name="文本框 1"/>
          <p:cNvSpPr txBox="1"/>
          <p:nvPr/>
        </p:nvSpPr>
        <p:spPr>
          <a:xfrm>
            <a:off x="7092950" y="3821113"/>
            <a:ext cx="595313" cy="338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1600" b="1" dirty="0">
                <a:solidFill>
                  <a:srgbClr val="0000FF"/>
                </a:solidFill>
                <a:ea typeface="宋体-18030" pitchFamily="49" charset="-122"/>
              </a:rPr>
              <a:t>化简</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612140" y="404495"/>
            <a:ext cx="7367905" cy="1440815"/>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4500245" y="2132330"/>
            <a:ext cx="3802380" cy="1744980"/>
          </a:xfrm>
          <a:prstGeom prst="rect">
            <a:avLst/>
          </a:prstGeom>
        </p:spPr>
      </p:pic>
      <p:sp>
        <p:nvSpPr>
          <p:cNvPr id="4" name="文本框 3"/>
          <p:cNvSpPr txBox="1"/>
          <p:nvPr/>
        </p:nvSpPr>
        <p:spPr>
          <a:xfrm>
            <a:off x="408940" y="2185035"/>
            <a:ext cx="4090670" cy="257937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a:t>解：电流源转换为电压源</a:t>
            </a:r>
          </a:p>
          <a:p>
            <a:endParaRPr lang="zh-CN" altLang="en-US"/>
          </a:p>
          <a:p>
            <a:r>
              <a:rPr lang="en-US" altLang="zh-CN"/>
              <a:t>Vc=(2/8)*60=15V</a:t>
            </a:r>
          </a:p>
          <a:p>
            <a:endParaRPr lang="en-US" altLang="zh-CN"/>
          </a:p>
          <a:p>
            <a:r>
              <a:rPr lang="en-US" altLang="zh-CN"/>
              <a:t>I=60/8=7.5A</a:t>
            </a:r>
          </a:p>
          <a:p>
            <a:endParaRPr lang="en-US" altLang="zh-CN"/>
          </a:p>
          <a:p>
            <a:r>
              <a:rPr lang="en-US" altLang="zh-CN"/>
              <a:t>WL=(LI</a:t>
            </a:r>
            <a:r>
              <a:rPr lang="en-US" altLang="zh-CN" baseline="30000">
                <a:solidFill>
                  <a:schemeClr val="accent4"/>
                </a:solidFill>
                <a:uFillTx/>
              </a:rPr>
              <a:t>2</a:t>
            </a:r>
            <a:r>
              <a:rPr lang="en-US" altLang="zh-CN">
                <a:sym typeface="+mn-ea"/>
              </a:rPr>
              <a:t>)/2=3*7.5*7.5=168.75J</a:t>
            </a:r>
          </a:p>
          <a:p>
            <a:endParaRPr lang="en-US" altLang="zh-CN" baseline="30000">
              <a:solidFill>
                <a:schemeClr val="accent4"/>
              </a:solidFill>
              <a:uFillTx/>
            </a:endParaRPr>
          </a:p>
          <a:p>
            <a:r>
              <a:rPr lang="en-US" altLang="zh-CN" sz="2400" baseline="30000">
                <a:solidFill>
                  <a:schemeClr val="accent4"/>
                </a:solidFill>
                <a:uFillTx/>
              </a:rPr>
              <a:t>WC=(CV2)/2</a:t>
            </a:r>
            <a:r>
              <a:rPr lang="en-US" altLang="zh-CN" sz="2400">
                <a:sym typeface="+mn-ea"/>
              </a:rPr>
              <a:t>=(4*15*15)/2=450J</a:t>
            </a:r>
            <a:endParaRPr lang="en-US" altLang="zh-CN" sz="2400" baseline="30000">
              <a:solidFill>
                <a:schemeClr val="accent4"/>
              </a:solidFill>
              <a:uFillTx/>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6" descr="chapter4(6)"/>
          <p:cNvPicPr>
            <a:picLocks noChangeAspect="1"/>
          </p:cNvPicPr>
          <p:nvPr/>
        </p:nvPicPr>
        <p:blipFill>
          <a:blip r:embed="rId2"/>
          <a:stretch>
            <a:fillRect/>
          </a:stretch>
        </p:blipFill>
        <p:spPr>
          <a:xfrm>
            <a:off x="684213" y="3357563"/>
            <a:ext cx="7165975" cy="5373687"/>
          </a:xfrm>
          <a:prstGeom prst="rect">
            <a:avLst/>
          </a:prstGeom>
          <a:noFill/>
          <a:ln w="9525">
            <a:noFill/>
          </a:ln>
        </p:spPr>
      </p:pic>
      <p:sp>
        <p:nvSpPr>
          <p:cNvPr id="68611" name="Rectangle 2"/>
          <p:cNvSpPr>
            <a:spLocks noGrp="1"/>
          </p:cNvSpPr>
          <p:nvPr>
            <p:ph type="title"/>
          </p:nvPr>
        </p:nvSpPr>
        <p:spPr>
          <a:xfrm>
            <a:off x="307975" y="188913"/>
            <a:ext cx="8229600" cy="1371600"/>
          </a:xfrm>
        </p:spPr>
        <p:txBody>
          <a:bodyPr vert="horz" wrap="square" lIns="91440" tIns="45720" rIns="91440" bIns="45720" anchor="ctr" anchorCtr="0"/>
          <a:lstStyle/>
          <a:p>
            <a:r>
              <a:rPr lang="zh-CN" altLang="en-US" sz="3600" b="1" dirty="0">
                <a:solidFill>
                  <a:srgbClr val="FF0000"/>
                </a:solidFill>
              </a:rPr>
              <a:t>例</a:t>
            </a:r>
            <a:r>
              <a:rPr lang="zh-CN" altLang="en-US" sz="3600" b="1" dirty="0">
                <a:solidFill>
                  <a:schemeClr val="folHlink"/>
                </a:solidFill>
              </a:rPr>
              <a:t>（小测）</a:t>
            </a:r>
            <a:r>
              <a:rPr lang="zh-CN" altLang="en-US" b="1" dirty="0">
                <a:solidFill>
                  <a:srgbClr val="FF0000"/>
                </a:solidFill>
              </a:rPr>
              <a:t>  </a:t>
            </a:r>
          </a:p>
        </p:txBody>
      </p:sp>
      <p:sp>
        <p:nvSpPr>
          <p:cNvPr id="68612" name="Text Box 4"/>
          <p:cNvSpPr txBox="1"/>
          <p:nvPr/>
        </p:nvSpPr>
        <p:spPr>
          <a:xfrm>
            <a:off x="307975" y="1395413"/>
            <a:ext cx="8637588"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ea typeface="宋体-18030" pitchFamily="49" charset="-122"/>
              </a:rPr>
              <a:t>      电路如图（</a:t>
            </a:r>
            <a:r>
              <a:rPr lang="en-US" altLang="zh-CN" sz="2400" b="1" dirty="0">
                <a:ea typeface="宋体-18030" pitchFamily="49" charset="-122"/>
              </a:rPr>
              <a:t>a</a:t>
            </a:r>
            <a:r>
              <a:rPr lang="zh-CN" altLang="en-US" sz="2400" b="1" dirty="0">
                <a:ea typeface="宋体-18030" pitchFamily="49" charset="-122"/>
              </a:rPr>
              <a:t>）所示，已知：</a:t>
            </a:r>
            <a:r>
              <a:rPr lang="en-US" altLang="zh-CN" sz="2400" b="1" i="1" dirty="0">
                <a:latin typeface="Times New Roman" panose="02020603050405020304" pitchFamily="18" charset="0"/>
                <a:ea typeface="宋体-18030" pitchFamily="49" charset="-122"/>
              </a:rPr>
              <a:t>L</a:t>
            </a:r>
            <a:r>
              <a:rPr lang="en-US" altLang="zh-CN" sz="2400" b="1" dirty="0">
                <a:ea typeface="宋体-18030" pitchFamily="49" charset="-122"/>
              </a:rPr>
              <a:t>=3H</a:t>
            </a:r>
            <a:r>
              <a:rPr lang="zh-CN" altLang="en-US" sz="2400" b="1" dirty="0">
                <a:ea typeface="宋体-18030" pitchFamily="49" charset="-122"/>
              </a:rPr>
              <a:t>，电感上电流</a:t>
            </a:r>
            <a:r>
              <a:rPr lang="en-US" altLang="zh-CN" sz="2400" b="1" i="1" dirty="0">
                <a:latin typeface="Times New Roman" panose="02020603050405020304" pitchFamily="18" charset="0"/>
                <a:ea typeface="宋体-18030" pitchFamily="49" charset="-122"/>
              </a:rPr>
              <a:t>i</a:t>
            </a:r>
            <a:r>
              <a:rPr lang="zh-CN" altLang="en-US" sz="2400" b="1" dirty="0">
                <a:ea typeface="宋体-18030" pitchFamily="49" charset="-122"/>
              </a:rPr>
              <a:t>（</a:t>
            </a:r>
            <a:r>
              <a:rPr lang="en-US" altLang="zh-CN" sz="2400" b="1" dirty="0">
                <a:ea typeface="宋体-18030" pitchFamily="49" charset="-122"/>
              </a:rPr>
              <a:t>t</a:t>
            </a:r>
            <a:r>
              <a:rPr lang="zh-CN" altLang="en-US" sz="2400" b="1" dirty="0">
                <a:ea typeface="宋体-18030" pitchFamily="49" charset="-122"/>
              </a:rPr>
              <a:t>）的波形如图（</a:t>
            </a:r>
            <a:r>
              <a:rPr lang="en-US" altLang="zh-CN" sz="2400" b="1" dirty="0">
                <a:ea typeface="宋体-18030" pitchFamily="49" charset="-122"/>
              </a:rPr>
              <a:t>b</a:t>
            </a:r>
            <a:r>
              <a:rPr lang="zh-CN" altLang="en-US" sz="2400" b="1" dirty="0">
                <a:ea typeface="宋体-18030" pitchFamily="49" charset="-122"/>
              </a:rPr>
              <a:t>）所示。求：电感上电压</a:t>
            </a:r>
            <a:r>
              <a:rPr lang="en-US" altLang="zh-CN" sz="2400" b="1" i="1" dirty="0">
                <a:latin typeface="Times New Roman" panose="02020603050405020304" pitchFamily="18" charset="0"/>
                <a:ea typeface="宋体-18030" pitchFamily="49" charset="-122"/>
              </a:rPr>
              <a:t>u</a:t>
            </a:r>
            <a:r>
              <a:rPr lang="zh-CN" altLang="en-US" sz="2400" b="1" dirty="0">
                <a:ea typeface="宋体-18030" pitchFamily="49" charset="-122"/>
              </a:rPr>
              <a:t>（</a:t>
            </a:r>
            <a:r>
              <a:rPr lang="en-US" altLang="zh-CN" sz="2400" b="1" dirty="0">
                <a:ea typeface="宋体-18030" pitchFamily="49" charset="-122"/>
              </a:rPr>
              <a:t>t</a:t>
            </a:r>
            <a:r>
              <a:rPr lang="zh-CN" altLang="en-US" sz="2400" b="1" dirty="0">
                <a:ea typeface="宋体-18030" pitchFamily="49" charset="-122"/>
              </a:rPr>
              <a:t>）、吸收功率</a:t>
            </a:r>
            <a:r>
              <a:rPr lang="en-US" altLang="zh-CN" sz="2400" b="1" i="1" dirty="0">
                <a:latin typeface="Times New Roman" panose="02020603050405020304" pitchFamily="18" charset="0"/>
                <a:ea typeface="宋体-18030" pitchFamily="49" charset="-122"/>
              </a:rPr>
              <a:t>p</a:t>
            </a:r>
            <a:r>
              <a:rPr lang="zh-CN" altLang="en-US" sz="2400" b="1" dirty="0">
                <a:ea typeface="宋体-18030" pitchFamily="49" charset="-122"/>
              </a:rPr>
              <a:t>（</a:t>
            </a:r>
            <a:r>
              <a:rPr lang="en-US" altLang="zh-CN" sz="2400" b="1" dirty="0">
                <a:ea typeface="宋体-18030" pitchFamily="49" charset="-122"/>
              </a:rPr>
              <a:t>t</a:t>
            </a:r>
            <a:r>
              <a:rPr lang="zh-CN" altLang="en-US" sz="2400" b="1" dirty="0">
                <a:ea typeface="宋体-18030" pitchFamily="49" charset="-122"/>
              </a:rPr>
              <a:t>）、储能          ，并画出它们的波形图。</a:t>
            </a:r>
            <a:endParaRPr lang="en-US" altLang="zh-CN" sz="2400" b="1" dirty="0">
              <a:ea typeface="宋体-18030" pitchFamily="49" charset="-122"/>
            </a:endParaRPr>
          </a:p>
        </p:txBody>
      </p:sp>
      <p:pic>
        <p:nvPicPr>
          <p:cNvPr id="68613" name="Picture 5" descr="8"/>
          <p:cNvPicPr>
            <a:picLocks noChangeAspect="1"/>
          </p:cNvPicPr>
          <p:nvPr/>
        </p:nvPicPr>
        <p:blipFill>
          <a:blip r:embed="rId3"/>
          <a:stretch>
            <a:fillRect/>
          </a:stretch>
        </p:blipFill>
        <p:spPr>
          <a:xfrm>
            <a:off x="1023938" y="2098675"/>
            <a:ext cx="831850" cy="515938"/>
          </a:xfrm>
          <a:prstGeom prst="rect">
            <a:avLst/>
          </a:prstGeom>
          <a:noFill/>
          <a:ln w="9525">
            <a:noFill/>
          </a:ln>
        </p:spPr>
      </p:pic>
      <p:pic>
        <p:nvPicPr>
          <p:cNvPr id="68614" name="Picture 7" descr="chapter4(7)"/>
          <p:cNvPicPr>
            <a:picLocks noChangeAspect="1"/>
          </p:cNvPicPr>
          <p:nvPr/>
        </p:nvPicPr>
        <p:blipFill>
          <a:blip r:embed="rId4"/>
          <a:stretch>
            <a:fillRect/>
          </a:stretch>
        </p:blipFill>
        <p:spPr>
          <a:xfrm>
            <a:off x="4114800" y="2997200"/>
            <a:ext cx="4824413" cy="3941763"/>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4"/>
          <p:cNvSpPr txBox="1"/>
          <p:nvPr/>
        </p:nvSpPr>
        <p:spPr>
          <a:xfrm>
            <a:off x="323850" y="549275"/>
            <a:ext cx="8532813" cy="37861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FF"/>
                </a:solidFill>
                <a:ea typeface="宋体-18030" pitchFamily="49" charset="-122"/>
              </a:rPr>
              <a:t>解：</a:t>
            </a:r>
            <a:endParaRPr lang="en-US" altLang="zh-CN" sz="2400" b="1" dirty="0">
              <a:solidFill>
                <a:srgbClr val="0000FF"/>
              </a:solidFill>
              <a:ea typeface="宋体-18030" pitchFamily="49" charset="-122"/>
            </a:endParaRPr>
          </a:p>
          <a:p>
            <a:pPr marL="0" lvl="0" indent="0" eaLnBrk="1" hangingPunct="1">
              <a:spcBef>
                <a:spcPct val="50000"/>
              </a:spcBef>
              <a:buClrTx/>
              <a:buSzTx/>
              <a:buFontTx/>
              <a:buNone/>
            </a:pPr>
            <a:r>
              <a:rPr lang="zh-CN" altLang="en-US" sz="2400" b="1" dirty="0">
                <a:ea typeface="宋体-18030" pitchFamily="49" charset="-122"/>
              </a:rPr>
              <a:t>根据电流</a:t>
            </a:r>
            <a:r>
              <a:rPr lang="en-US" altLang="zh-CN" sz="2400" b="1" i="1" dirty="0">
                <a:latin typeface="Times New Roman" panose="02020603050405020304" pitchFamily="18" charset="0"/>
                <a:ea typeface="宋体-18030" pitchFamily="49" charset="-122"/>
              </a:rPr>
              <a:t>i</a:t>
            </a:r>
            <a:r>
              <a:rPr lang="zh-CN" altLang="en-US" sz="2400" b="1" dirty="0">
                <a:latin typeface="Times New Roman" panose="02020603050405020304" pitchFamily="18" charset="0"/>
                <a:ea typeface="宋体-18030" pitchFamily="49" charset="-122"/>
              </a:rPr>
              <a:t>（</a:t>
            </a:r>
            <a:r>
              <a:rPr lang="en-US" altLang="zh-CN" sz="2400" b="1" dirty="0">
                <a:latin typeface="Times New Roman" panose="02020603050405020304" pitchFamily="18" charset="0"/>
                <a:ea typeface="宋体-18030" pitchFamily="49" charset="-122"/>
              </a:rPr>
              <a:t>t</a:t>
            </a:r>
            <a:r>
              <a:rPr lang="zh-CN" altLang="en-US" sz="2400" b="1" dirty="0">
                <a:latin typeface="Times New Roman" panose="02020603050405020304" pitchFamily="18" charset="0"/>
                <a:ea typeface="宋体-18030" pitchFamily="49" charset="-122"/>
              </a:rPr>
              <a:t>）</a:t>
            </a:r>
            <a:r>
              <a:rPr lang="zh-CN" altLang="en-US" sz="2400" b="1" dirty="0">
                <a:ea typeface="宋体-18030" pitchFamily="49" charset="-122"/>
              </a:rPr>
              <a:t>的波形，可分段写出其函数式：</a:t>
            </a:r>
          </a:p>
          <a:p>
            <a:pPr marL="0" lvl="0" indent="0" eaLnBrk="1" hangingPunct="1">
              <a:spcBef>
                <a:spcPct val="50000"/>
              </a:spcBef>
              <a:buClrTx/>
              <a:buSzTx/>
              <a:buFontTx/>
              <a:buNone/>
            </a:pPr>
            <a:endParaRPr lang="en-US" altLang="zh-CN" sz="2400" b="1" dirty="0">
              <a:ea typeface="宋体-18030" pitchFamily="49" charset="-122"/>
            </a:endParaRPr>
          </a:p>
          <a:p>
            <a:pPr marL="0" lvl="0" indent="0" eaLnBrk="1" hangingPunct="1">
              <a:spcBef>
                <a:spcPct val="50000"/>
              </a:spcBef>
              <a:buClrTx/>
              <a:buSzTx/>
              <a:buFontTx/>
              <a:buNone/>
            </a:pPr>
            <a:endParaRPr lang="en-US" altLang="zh-CN" sz="2400" b="1" dirty="0">
              <a:ea typeface="宋体-18030" pitchFamily="49" charset="-122"/>
            </a:endParaRPr>
          </a:p>
          <a:p>
            <a:pPr marL="0" lvl="0" indent="0" eaLnBrk="1" hangingPunct="1">
              <a:spcBef>
                <a:spcPct val="50000"/>
              </a:spcBef>
              <a:buClrTx/>
              <a:buSzTx/>
              <a:buFontTx/>
              <a:buNone/>
            </a:pPr>
            <a:endParaRPr lang="en-US" altLang="zh-CN" sz="2400" b="1" dirty="0">
              <a:ea typeface="宋体-18030" pitchFamily="49" charset="-122"/>
            </a:endParaRPr>
          </a:p>
          <a:p>
            <a:pPr marL="0" lvl="0" indent="0" eaLnBrk="1" hangingPunct="1">
              <a:spcBef>
                <a:spcPct val="50000"/>
              </a:spcBef>
              <a:buClrTx/>
              <a:buSzTx/>
              <a:buFontTx/>
              <a:buNone/>
            </a:pPr>
            <a:endParaRPr lang="en-US" altLang="zh-CN" sz="2400" b="1" dirty="0">
              <a:ea typeface="宋体-18030" pitchFamily="49" charset="-122"/>
            </a:endParaRPr>
          </a:p>
          <a:p>
            <a:pPr marL="0" lvl="0" indent="0" eaLnBrk="1" hangingPunct="1">
              <a:spcBef>
                <a:spcPct val="50000"/>
              </a:spcBef>
              <a:buClrTx/>
              <a:buSzTx/>
              <a:buFontTx/>
              <a:buNone/>
            </a:pPr>
            <a:r>
              <a:rPr lang="zh-CN" altLang="en-US" sz="2400" b="1" dirty="0">
                <a:ea typeface="宋体-18030" pitchFamily="49" charset="-122"/>
              </a:rPr>
              <a:t>根据                                 得：</a:t>
            </a:r>
          </a:p>
        </p:txBody>
      </p:sp>
      <p:graphicFrame>
        <p:nvGraphicFramePr>
          <p:cNvPr id="69635" name="对象 2"/>
          <p:cNvGraphicFramePr>
            <a:graphicFrameLocks noChangeAspect="1"/>
          </p:cNvGraphicFramePr>
          <p:nvPr/>
        </p:nvGraphicFramePr>
        <p:xfrm>
          <a:off x="1060450" y="1547813"/>
          <a:ext cx="3511550" cy="1881187"/>
        </p:xfrm>
        <a:graphic>
          <a:graphicData uri="http://schemas.openxmlformats.org/presentationml/2006/ole">
            <p:oleObj spid="_x0000_s33796" r:id="rId3" imgW="1866900" imgH="1092200" progId="">
              <p:embed/>
            </p:oleObj>
          </a:graphicData>
        </a:graphic>
      </p:graphicFrame>
      <p:graphicFrame>
        <p:nvGraphicFramePr>
          <p:cNvPr id="69636" name="对象 3"/>
          <p:cNvGraphicFramePr>
            <a:graphicFrameLocks noChangeAspect="1"/>
          </p:cNvGraphicFramePr>
          <p:nvPr/>
        </p:nvGraphicFramePr>
        <p:xfrm>
          <a:off x="1166813" y="3679825"/>
          <a:ext cx="2352675" cy="855663"/>
        </p:xfrm>
        <a:graphic>
          <a:graphicData uri="http://schemas.openxmlformats.org/presentationml/2006/ole">
            <p:oleObj spid="_x0000_s33797" r:id="rId4" imgW="990170" imgH="393529" progId="">
              <p:embed/>
            </p:oleObj>
          </a:graphicData>
        </a:graphic>
      </p:graphicFrame>
      <p:graphicFrame>
        <p:nvGraphicFramePr>
          <p:cNvPr id="69637" name="对象 4"/>
          <p:cNvGraphicFramePr>
            <a:graphicFrameLocks noChangeAspect="1"/>
          </p:cNvGraphicFramePr>
          <p:nvPr/>
        </p:nvGraphicFramePr>
        <p:xfrm>
          <a:off x="1277938" y="4643438"/>
          <a:ext cx="3311525" cy="1665287"/>
        </p:xfrm>
        <a:graphic>
          <a:graphicData uri="http://schemas.openxmlformats.org/presentationml/2006/ole">
            <p:oleObj spid="_x0000_s33798" r:id="rId5" imgW="1663700" imgH="914400" progId="">
              <p:embed/>
            </p:oleObj>
          </a:graphicData>
        </a:graphic>
      </p:graphicFrame>
      <p:pic>
        <p:nvPicPr>
          <p:cNvPr id="69638" name="Picture 7" descr="chapter4(7)"/>
          <p:cNvPicPr>
            <a:picLocks noChangeAspect="1"/>
          </p:cNvPicPr>
          <p:nvPr/>
        </p:nvPicPr>
        <p:blipFill>
          <a:blip r:embed="rId6"/>
          <a:stretch>
            <a:fillRect/>
          </a:stretch>
        </p:blipFill>
        <p:spPr>
          <a:xfrm>
            <a:off x="5349875" y="1743075"/>
            <a:ext cx="4127500" cy="3371850"/>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6"/>
          <p:cNvSpPr txBox="1"/>
          <p:nvPr/>
        </p:nvSpPr>
        <p:spPr>
          <a:xfrm>
            <a:off x="989013" y="3598863"/>
            <a:ext cx="421163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ea typeface="宋体-18030" pitchFamily="49" charset="-122"/>
              </a:rPr>
              <a:t>根据                          </a:t>
            </a:r>
            <a:r>
              <a:rPr lang="en-US" altLang="zh-CN" sz="2400" b="1" dirty="0">
                <a:ea typeface="宋体-18030" pitchFamily="49" charset="-122"/>
              </a:rPr>
              <a:t>,</a:t>
            </a:r>
            <a:r>
              <a:rPr lang="zh-CN" altLang="en-US" sz="2400" b="1" dirty="0">
                <a:ea typeface="宋体-18030" pitchFamily="49" charset="-122"/>
              </a:rPr>
              <a:t>得：</a:t>
            </a:r>
          </a:p>
        </p:txBody>
      </p:sp>
      <p:graphicFrame>
        <p:nvGraphicFramePr>
          <p:cNvPr id="70659" name="对象 1"/>
          <p:cNvGraphicFramePr>
            <a:graphicFrameLocks noChangeAspect="1"/>
          </p:cNvGraphicFramePr>
          <p:nvPr/>
        </p:nvGraphicFramePr>
        <p:xfrm>
          <a:off x="2032000" y="4448175"/>
          <a:ext cx="3960813" cy="2170113"/>
        </p:xfrm>
        <a:graphic>
          <a:graphicData uri="http://schemas.openxmlformats.org/presentationml/2006/ole">
            <p:oleObj spid="_x0000_s34821" r:id="rId3" imgW="2120900" imgH="1270000" progId="">
              <p:embed/>
            </p:oleObj>
          </a:graphicData>
        </a:graphic>
      </p:graphicFrame>
      <p:graphicFrame>
        <p:nvGraphicFramePr>
          <p:cNvPr id="70660" name="对象 3"/>
          <p:cNvGraphicFramePr>
            <a:graphicFrameLocks noChangeAspect="1"/>
          </p:cNvGraphicFramePr>
          <p:nvPr/>
        </p:nvGraphicFramePr>
        <p:xfrm>
          <a:off x="2089150" y="1220788"/>
          <a:ext cx="3911600" cy="1985962"/>
        </p:xfrm>
        <a:graphic>
          <a:graphicData uri="http://schemas.openxmlformats.org/presentationml/2006/ole">
            <p:oleObj spid="_x0000_s34822" r:id="rId4" imgW="1968500" imgH="1092200" progId="">
              <p:embed/>
            </p:oleObj>
          </a:graphicData>
        </a:graphic>
      </p:graphicFrame>
      <p:graphicFrame>
        <p:nvGraphicFramePr>
          <p:cNvPr id="70661" name="对象 5"/>
          <p:cNvGraphicFramePr>
            <a:graphicFrameLocks noChangeAspect="1"/>
          </p:cNvGraphicFramePr>
          <p:nvPr/>
        </p:nvGraphicFramePr>
        <p:xfrm>
          <a:off x="1816100" y="3438525"/>
          <a:ext cx="2016125" cy="762000"/>
        </p:xfrm>
        <a:graphic>
          <a:graphicData uri="http://schemas.openxmlformats.org/presentationml/2006/ole">
            <p:oleObj spid="_x0000_s34823" r:id="rId5" imgW="952087" imgH="393529" progId="">
              <p:embed/>
            </p:oleObj>
          </a:graphicData>
        </a:graphic>
      </p:graphicFrame>
      <p:sp>
        <p:nvSpPr>
          <p:cNvPr id="70662" name="Text Box 10"/>
          <p:cNvSpPr txBox="1"/>
          <p:nvPr/>
        </p:nvSpPr>
        <p:spPr>
          <a:xfrm>
            <a:off x="915988" y="673100"/>
            <a:ext cx="58324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ea typeface="宋体-18030" pitchFamily="49" charset="-122"/>
              </a:rPr>
              <a:t>根据                                 </a:t>
            </a:r>
            <a:r>
              <a:rPr lang="en-US" altLang="zh-CN" sz="2400" b="1" dirty="0">
                <a:ea typeface="宋体-18030" pitchFamily="49" charset="-122"/>
              </a:rPr>
              <a:t>, </a:t>
            </a:r>
            <a:r>
              <a:rPr lang="zh-CN" altLang="en-US" sz="2400" b="1" dirty="0">
                <a:ea typeface="宋体-18030" pitchFamily="49" charset="-122"/>
              </a:rPr>
              <a:t>得：</a:t>
            </a:r>
          </a:p>
        </p:txBody>
      </p:sp>
      <p:graphicFrame>
        <p:nvGraphicFramePr>
          <p:cNvPr id="70663" name="对象 5"/>
          <p:cNvGraphicFramePr>
            <a:graphicFrameLocks noChangeAspect="1"/>
          </p:cNvGraphicFramePr>
          <p:nvPr/>
        </p:nvGraphicFramePr>
        <p:xfrm>
          <a:off x="1779588" y="673100"/>
          <a:ext cx="2608262" cy="477838"/>
        </p:xfrm>
        <a:graphic>
          <a:graphicData uri="http://schemas.openxmlformats.org/presentationml/2006/ole">
            <p:oleObj spid="_x0000_s34824" r:id="rId6" imgW="952087" imgH="190417" progId="">
              <p:embed/>
            </p:oleObj>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8" descr="chapter4(10)"/>
          <p:cNvPicPr>
            <a:picLocks noChangeAspect="1"/>
          </p:cNvPicPr>
          <p:nvPr/>
        </p:nvPicPr>
        <p:blipFill>
          <a:blip r:embed="rId2"/>
          <a:stretch>
            <a:fillRect/>
          </a:stretch>
        </p:blipFill>
        <p:spPr>
          <a:xfrm>
            <a:off x="-541337" y="2708275"/>
            <a:ext cx="5832475" cy="4375150"/>
          </a:xfrm>
          <a:prstGeom prst="rect">
            <a:avLst/>
          </a:prstGeom>
          <a:noFill/>
          <a:ln w="9525">
            <a:noFill/>
          </a:ln>
        </p:spPr>
      </p:pic>
      <p:pic>
        <p:nvPicPr>
          <p:cNvPr id="71683" name="Picture 7" descr="chapter4(9)"/>
          <p:cNvPicPr>
            <a:picLocks noChangeAspect="1"/>
          </p:cNvPicPr>
          <p:nvPr/>
        </p:nvPicPr>
        <p:blipFill>
          <a:blip r:embed="rId3"/>
          <a:stretch>
            <a:fillRect/>
          </a:stretch>
        </p:blipFill>
        <p:spPr>
          <a:xfrm>
            <a:off x="3779838" y="-747712"/>
            <a:ext cx="5940425" cy="4456112"/>
          </a:xfrm>
          <a:prstGeom prst="rect">
            <a:avLst/>
          </a:prstGeom>
          <a:noFill/>
          <a:ln w="9525">
            <a:noFill/>
          </a:ln>
        </p:spPr>
      </p:pic>
      <p:pic>
        <p:nvPicPr>
          <p:cNvPr id="71684" name="Picture 9" descr="chapter4(11)"/>
          <p:cNvPicPr>
            <a:picLocks noChangeAspect="1"/>
          </p:cNvPicPr>
          <p:nvPr/>
        </p:nvPicPr>
        <p:blipFill>
          <a:blip r:embed="rId4"/>
          <a:stretch>
            <a:fillRect/>
          </a:stretch>
        </p:blipFill>
        <p:spPr>
          <a:xfrm>
            <a:off x="4067175" y="2852738"/>
            <a:ext cx="5884863" cy="4414837"/>
          </a:xfrm>
          <a:prstGeom prst="rect">
            <a:avLst/>
          </a:prstGeom>
          <a:noFill/>
          <a:ln w="9525">
            <a:noFill/>
          </a:ln>
        </p:spPr>
      </p:pic>
      <p:pic>
        <p:nvPicPr>
          <p:cNvPr id="71685" name="Picture 7" descr="chapter4(7)"/>
          <p:cNvPicPr>
            <a:picLocks noChangeAspect="1"/>
          </p:cNvPicPr>
          <p:nvPr/>
        </p:nvPicPr>
        <p:blipFill>
          <a:blip r:embed="rId5"/>
          <a:stretch>
            <a:fillRect/>
          </a:stretch>
        </p:blipFill>
        <p:spPr>
          <a:xfrm>
            <a:off x="466725" y="404813"/>
            <a:ext cx="4824413" cy="3941762"/>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4"/>
          <p:cNvSpPr txBox="1"/>
          <p:nvPr/>
        </p:nvSpPr>
        <p:spPr>
          <a:xfrm>
            <a:off x="611188" y="962025"/>
            <a:ext cx="8101012" cy="50768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ea typeface="宋体-18030" pitchFamily="49" charset="-122"/>
              </a:rPr>
              <a:t>      按以上结果画出    、   和        的波形，如上图所示。由图可注意到以下特性：</a:t>
            </a:r>
          </a:p>
          <a:p>
            <a:pPr marL="0" lvl="0" indent="0" eaLnBrk="1" hangingPunct="1">
              <a:spcBef>
                <a:spcPct val="50000"/>
              </a:spcBef>
              <a:buClrTx/>
              <a:buSzTx/>
              <a:buFontTx/>
              <a:buNone/>
            </a:pPr>
            <a:r>
              <a:rPr lang="zh-CN" altLang="en-US" sz="2400" b="1" dirty="0">
                <a:ea typeface="宋体-18030" pitchFamily="49" charset="-122"/>
              </a:rPr>
              <a:t>（</a:t>
            </a:r>
            <a:r>
              <a:rPr lang="en-US" altLang="zh-CN" sz="2400" b="1" dirty="0">
                <a:ea typeface="宋体-18030" pitchFamily="49" charset="-122"/>
              </a:rPr>
              <a:t>1</a:t>
            </a:r>
            <a:r>
              <a:rPr lang="zh-CN" altLang="en-US" sz="2400" b="1" dirty="0">
                <a:ea typeface="宋体-18030" pitchFamily="49" charset="-122"/>
              </a:rPr>
              <a:t>）电压与电流波形不相同，这是电感动态元件特性的表现。</a:t>
            </a:r>
          </a:p>
          <a:p>
            <a:pPr marL="0" lvl="0" indent="0" eaLnBrk="1" hangingPunct="1">
              <a:spcBef>
                <a:spcPct val="50000"/>
              </a:spcBef>
              <a:buClrTx/>
              <a:buSzTx/>
              <a:buFontTx/>
              <a:buNone/>
            </a:pPr>
            <a:r>
              <a:rPr lang="zh-CN" altLang="en-US" sz="2400" b="1" dirty="0">
                <a:ea typeface="宋体-18030" pitchFamily="49" charset="-122"/>
              </a:rPr>
              <a:t>（</a:t>
            </a:r>
            <a:r>
              <a:rPr lang="en-US" altLang="zh-CN" sz="2400" b="1" dirty="0">
                <a:ea typeface="宋体-18030" pitchFamily="49" charset="-122"/>
              </a:rPr>
              <a:t>2</a:t>
            </a:r>
            <a:r>
              <a:rPr lang="zh-CN" altLang="en-US" sz="2400" b="1" dirty="0">
                <a:ea typeface="宋体-18030" pitchFamily="49" charset="-122"/>
              </a:rPr>
              <a:t>）电流增大，电压为正值；电流减少，电压为负值；电流不变时电压为零，体现了电感的伏安特性。</a:t>
            </a:r>
          </a:p>
          <a:p>
            <a:pPr marL="0" lvl="0" indent="0" eaLnBrk="1" hangingPunct="1">
              <a:spcBef>
                <a:spcPct val="50000"/>
              </a:spcBef>
              <a:buClrTx/>
              <a:buSzTx/>
              <a:buFontTx/>
              <a:buNone/>
            </a:pPr>
            <a:r>
              <a:rPr lang="zh-CN" altLang="en-US" sz="2400" b="1" dirty="0">
                <a:ea typeface="宋体-18030" pitchFamily="49" charset="-122"/>
              </a:rPr>
              <a:t>（</a:t>
            </a:r>
            <a:r>
              <a:rPr lang="en-US" altLang="zh-CN" sz="2400" b="1" dirty="0">
                <a:ea typeface="宋体-18030" pitchFamily="49" charset="-122"/>
              </a:rPr>
              <a:t>3</a:t>
            </a:r>
            <a:r>
              <a:rPr lang="zh-CN" altLang="en-US" sz="2400" b="1" dirty="0">
                <a:ea typeface="宋体-18030" pitchFamily="49" charset="-122"/>
              </a:rPr>
              <a:t>）电流和储能具有连续性，而电压和功率可跃变。</a:t>
            </a:r>
          </a:p>
          <a:p>
            <a:pPr marL="0" lvl="0" indent="0" eaLnBrk="1" hangingPunct="1">
              <a:spcBef>
                <a:spcPct val="50000"/>
              </a:spcBef>
              <a:buClrTx/>
              <a:buSzTx/>
              <a:buFontTx/>
              <a:buNone/>
            </a:pPr>
            <a:r>
              <a:rPr lang="zh-CN" altLang="en-US" sz="2400" b="1" dirty="0">
                <a:ea typeface="宋体-18030" pitchFamily="49" charset="-122"/>
              </a:rPr>
              <a:t>（</a:t>
            </a:r>
            <a:r>
              <a:rPr lang="en-US" altLang="zh-CN" sz="2400" b="1" dirty="0">
                <a:ea typeface="宋体-18030" pitchFamily="49" charset="-122"/>
              </a:rPr>
              <a:t>4</a:t>
            </a:r>
            <a:r>
              <a:rPr lang="zh-CN" altLang="en-US" sz="2400" b="1" dirty="0">
                <a:ea typeface="宋体-18030" pitchFamily="49" charset="-122"/>
              </a:rPr>
              <a:t>）储能          总是不小于零，体现了电感是无源元件。</a:t>
            </a:r>
          </a:p>
          <a:p>
            <a:pPr marL="0" lvl="0" indent="0" eaLnBrk="1" hangingPunct="1">
              <a:spcBef>
                <a:spcPct val="50000"/>
              </a:spcBef>
              <a:buClrTx/>
              <a:buSzTx/>
              <a:buFontTx/>
              <a:buNone/>
            </a:pPr>
            <a:r>
              <a:rPr lang="zh-CN" altLang="en-US" sz="2400" b="1" dirty="0">
                <a:ea typeface="宋体-18030" pitchFamily="49" charset="-122"/>
              </a:rPr>
              <a:t>（</a:t>
            </a:r>
            <a:r>
              <a:rPr lang="en-US" altLang="zh-CN" sz="2400" b="1" dirty="0">
                <a:ea typeface="宋体-18030" pitchFamily="49" charset="-122"/>
              </a:rPr>
              <a:t>5</a:t>
            </a:r>
            <a:r>
              <a:rPr lang="zh-CN" altLang="en-US" sz="2400" b="1" dirty="0">
                <a:ea typeface="宋体-18030" pitchFamily="49" charset="-122"/>
              </a:rPr>
              <a:t>）吸收功率可正可负，电流绝对值增大时功率为正，储能也增大；电流绝对值减少时功率为负，储能也减少，体现了电感储存和释放储能的过程。</a:t>
            </a:r>
            <a:endParaRPr lang="en-US" altLang="zh-CN" sz="2400" b="1" dirty="0">
              <a:ea typeface="宋体-18030" pitchFamily="49" charset="-122"/>
            </a:endParaRPr>
          </a:p>
        </p:txBody>
      </p:sp>
      <p:pic>
        <p:nvPicPr>
          <p:cNvPr id="72707" name="Picture 6" descr="14"/>
          <p:cNvPicPr>
            <a:picLocks noChangeAspect="1"/>
          </p:cNvPicPr>
          <p:nvPr/>
        </p:nvPicPr>
        <p:blipFill>
          <a:blip r:embed="rId2"/>
          <a:stretch>
            <a:fillRect/>
          </a:stretch>
        </p:blipFill>
        <p:spPr>
          <a:xfrm>
            <a:off x="3419475" y="962025"/>
            <a:ext cx="1727200" cy="527050"/>
          </a:xfrm>
          <a:prstGeom prst="rect">
            <a:avLst/>
          </a:prstGeom>
          <a:noFill/>
          <a:ln w="9525">
            <a:noFill/>
          </a:ln>
        </p:spPr>
      </p:pic>
      <p:pic>
        <p:nvPicPr>
          <p:cNvPr id="72708" name="Picture 7" descr="15"/>
          <p:cNvPicPr>
            <a:picLocks noChangeAspect="1"/>
          </p:cNvPicPr>
          <p:nvPr/>
        </p:nvPicPr>
        <p:blipFill>
          <a:blip r:embed="rId3"/>
          <a:stretch>
            <a:fillRect/>
          </a:stretch>
        </p:blipFill>
        <p:spPr>
          <a:xfrm>
            <a:off x="2339975" y="4221163"/>
            <a:ext cx="576263" cy="546100"/>
          </a:xfrm>
          <a:prstGeom prst="rect">
            <a:avLst/>
          </a:prstGeom>
          <a:noFill/>
          <a:ln w="9525">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730" name="Group 2"/>
          <p:cNvGrpSpPr/>
          <p:nvPr/>
        </p:nvGrpSpPr>
        <p:grpSpPr>
          <a:xfrm>
            <a:off x="903288" y="2071688"/>
            <a:ext cx="4025900" cy="2035175"/>
            <a:chOff x="975" y="198"/>
            <a:chExt cx="3805" cy="1833"/>
          </a:xfrm>
        </p:grpSpPr>
        <p:sp>
          <p:nvSpPr>
            <p:cNvPr id="73780" name="Freeform 3"/>
            <p:cNvSpPr/>
            <p:nvPr/>
          </p:nvSpPr>
          <p:spPr>
            <a:xfrm>
              <a:off x="1047" y="1607"/>
              <a:ext cx="3732" cy="1"/>
            </a:xfrm>
            <a:custGeom>
              <a:avLst/>
              <a:gdLst>
                <a:gd name="txL" fmla="*/ 0 w 3732"/>
                <a:gd name="txT" fmla="*/ 0 h 1"/>
                <a:gd name="txR" fmla="*/ 3732 w 3732"/>
                <a:gd name="txB" fmla="*/ 1 h 1"/>
              </a:gdLst>
              <a:ahLst/>
              <a:cxnLst>
                <a:cxn ang="0">
                  <a:pos x="0" y="0"/>
                </a:cxn>
                <a:cxn ang="0">
                  <a:pos x="3732" y="0"/>
                </a:cxn>
                <a:cxn ang="0">
                  <a:pos x="0" y="0"/>
                </a:cxn>
                <a:cxn ang="0">
                  <a:pos x="0" y="0"/>
                </a:cxn>
              </a:cxnLst>
              <a:rect l="txL" t="txT" r="txR" b="txB"/>
              <a:pathLst>
                <a:path w="3732" h="1">
                  <a:moveTo>
                    <a:pt x="0" y="0"/>
                  </a:moveTo>
                  <a:lnTo>
                    <a:pt x="3732"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81" name="Freeform 4"/>
            <p:cNvSpPr>
              <a:spLocks noEditPoints="1"/>
            </p:cNvSpPr>
            <p:nvPr/>
          </p:nvSpPr>
          <p:spPr>
            <a:xfrm>
              <a:off x="4779" y="580"/>
              <a:ext cx="1" cy="1027"/>
            </a:xfrm>
            <a:custGeom>
              <a:avLst/>
              <a:gdLst>
                <a:gd name="txL" fmla="*/ 0 w 1"/>
                <a:gd name="txT" fmla="*/ 0 h 1027"/>
                <a:gd name="txR" fmla="*/ 1 w 1"/>
                <a:gd name="txB" fmla="*/ 1027 h 1027"/>
              </a:gdLst>
              <a:ahLst/>
              <a:cxnLst>
                <a:cxn ang="0">
                  <a:pos x="0" y="1027"/>
                </a:cxn>
                <a:cxn ang="0">
                  <a:pos x="0" y="0"/>
                </a:cxn>
                <a:cxn ang="0">
                  <a:pos x="0" y="1027"/>
                </a:cxn>
                <a:cxn ang="0">
                  <a:pos x="0" y="1027"/>
                </a:cxn>
                <a:cxn ang="0">
                  <a:pos x="0" y="1027"/>
                </a:cxn>
                <a:cxn ang="0">
                  <a:pos x="0" y="1027"/>
                </a:cxn>
                <a:cxn ang="0">
                  <a:pos x="0" y="1027"/>
                </a:cxn>
              </a:cxnLst>
              <a:rect l="txL" t="txT" r="txR" b="txB"/>
              <a:pathLst>
                <a:path w="1" h="1027">
                  <a:moveTo>
                    <a:pt x="0" y="1027"/>
                  </a:moveTo>
                  <a:lnTo>
                    <a:pt x="0" y="0"/>
                  </a:lnTo>
                  <a:lnTo>
                    <a:pt x="0" y="1027"/>
                  </a:lnTo>
                  <a:close/>
                  <a:moveTo>
                    <a:pt x="0" y="1027"/>
                  </a:moveTo>
                  <a:lnTo>
                    <a:pt x="0" y="102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82" name="Freeform 5"/>
            <p:cNvSpPr>
              <a:spLocks noEditPoints="1"/>
            </p:cNvSpPr>
            <p:nvPr/>
          </p:nvSpPr>
          <p:spPr>
            <a:xfrm>
              <a:off x="4055" y="580"/>
              <a:ext cx="724" cy="1"/>
            </a:xfrm>
            <a:custGeom>
              <a:avLst/>
              <a:gdLst>
                <a:gd name="txL" fmla="*/ 0 w 724"/>
                <a:gd name="txT" fmla="*/ 0 h 1"/>
                <a:gd name="txR" fmla="*/ 724 w 724"/>
                <a:gd name="txB" fmla="*/ 1 h 1"/>
              </a:gdLst>
              <a:ahLst/>
              <a:cxnLst>
                <a:cxn ang="0">
                  <a:pos x="724" y="0"/>
                </a:cxn>
                <a:cxn ang="0">
                  <a:pos x="0" y="0"/>
                </a:cxn>
                <a:cxn ang="0">
                  <a:pos x="724" y="0"/>
                </a:cxn>
                <a:cxn ang="0">
                  <a:pos x="724" y="0"/>
                </a:cxn>
                <a:cxn ang="0">
                  <a:pos x="724" y="0"/>
                </a:cxn>
                <a:cxn ang="0">
                  <a:pos x="724" y="0"/>
                </a:cxn>
                <a:cxn ang="0">
                  <a:pos x="724" y="0"/>
                </a:cxn>
              </a:cxnLst>
              <a:rect l="txL" t="txT" r="txR" b="txB"/>
              <a:pathLst>
                <a:path w="724" h="1">
                  <a:moveTo>
                    <a:pt x="724" y="0"/>
                  </a:moveTo>
                  <a:lnTo>
                    <a:pt x="0" y="0"/>
                  </a:lnTo>
                  <a:lnTo>
                    <a:pt x="724" y="0"/>
                  </a:lnTo>
                  <a:close/>
                  <a:moveTo>
                    <a:pt x="724" y="0"/>
                  </a:moveTo>
                  <a:lnTo>
                    <a:pt x="72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83" name="Freeform 6"/>
            <p:cNvSpPr/>
            <p:nvPr/>
          </p:nvSpPr>
          <p:spPr>
            <a:xfrm>
              <a:off x="1047" y="580"/>
              <a:ext cx="2482" cy="1"/>
            </a:xfrm>
            <a:custGeom>
              <a:avLst/>
              <a:gdLst>
                <a:gd name="txL" fmla="*/ 0 w 2482"/>
                <a:gd name="txT" fmla="*/ 0 h 1"/>
                <a:gd name="txR" fmla="*/ 2482 w 2482"/>
                <a:gd name="txB" fmla="*/ 1 h 1"/>
              </a:gdLst>
              <a:ahLst/>
              <a:cxnLst>
                <a:cxn ang="0">
                  <a:pos x="2482" y="0"/>
                </a:cxn>
                <a:cxn ang="0">
                  <a:pos x="0" y="0"/>
                </a:cxn>
                <a:cxn ang="0">
                  <a:pos x="2482" y="0"/>
                </a:cxn>
                <a:cxn ang="0">
                  <a:pos x="2482" y="0"/>
                </a:cxn>
              </a:cxnLst>
              <a:rect l="txL" t="txT" r="txR" b="txB"/>
              <a:pathLst>
                <a:path w="2482" h="1">
                  <a:moveTo>
                    <a:pt x="2482" y="0"/>
                  </a:moveTo>
                  <a:lnTo>
                    <a:pt x="0" y="0"/>
                  </a:lnTo>
                  <a:lnTo>
                    <a:pt x="248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84" name="Freeform 7"/>
            <p:cNvSpPr/>
            <p:nvPr/>
          </p:nvSpPr>
          <p:spPr>
            <a:xfrm>
              <a:off x="4001" y="580"/>
              <a:ext cx="18" cy="1"/>
            </a:xfrm>
            <a:custGeom>
              <a:avLst/>
              <a:gdLst>
                <a:gd name="txL" fmla="*/ 0 w 18"/>
                <a:gd name="txT" fmla="*/ 0 h 1"/>
                <a:gd name="txR" fmla="*/ 18 w 18"/>
                <a:gd name="txB" fmla="*/ 1 h 1"/>
              </a:gdLst>
              <a:ahLst/>
              <a:cxnLst>
                <a:cxn ang="0">
                  <a:pos x="18" y="0"/>
                </a:cxn>
                <a:cxn ang="0">
                  <a:pos x="0" y="0"/>
                </a:cxn>
                <a:cxn ang="0">
                  <a:pos x="18" y="0"/>
                </a:cxn>
                <a:cxn ang="0">
                  <a:pos x="18" y="0"/>
                </a:cxn>
              </a:cxnLst>
              <a:rect l="txL" t="txT" r="txR" b="txB"/>
              <a:pathLst>
                <a:path w="18" h="1">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85" name="Freeform 8"/>
            <p:cNvSpPr>
              <a:spLocks noEditPoints="1"/>
            </p:cNvSpPr>
            <p:nvPr/>
          </p:nvSpPr>
          <p:spPr>
            <a:xfrm>
              <a:off x="3954" y="580"/>
              <a:ext cx="35" cy="1"/>
            </a:xfrm>
            <a:custGeom>
              <a:avLst/>
              <a:gdLst>
                <a:gd name="txL" fmla="*/ 0 w 35"/>
                <a:gd name="txT" fmla="*/ 0 h 1"/>
                <a:gd name="txR" fmla="*/ 35 w 35"/>
                <a:gd name="txB" fmla="*/ 1 h 1"/>
              </a:gdLst>
              <a:ahLst/>
              <a:cxnLst>
                <a:cxn ang="0">
                  <a:pos x="35" y="0"/>
                </a:cxn>
                <a:cxn ang="0">
                  <a:pos x="24" y="0"/>
                </a:cxn>
                <a:cxn ang="0">
                  <a:pos x="35" y="0"/>
                </a:cxn>
                <a:cxn ang="0">
                  <a:pos x="35" y="0"/>
                </a:cxn>
                <a:cxn ang="0">
                  <a:pos x="12" y="0"/>
                </a:cxn>
                <a:cxn ang="0">
                  <a:pos x="0" y="0"/>
                </a:cxn>
                <a:cxn ang="0">
                  <a:pos x="12" y="0"/>
                </a:cxn>
                <a:cxn ang="0">
                  <a:pos x="12" y="0"/>
                </a:cxn>
              </a:cxnLst>
              <a:rect l="txL" t="txT" r="txR" b="txB"/>
              <a:pathLst>
                <a:path w="35" h="1">
                  <a:moveTo>
                    <a:pt x="35" y="0"/>
                  </a:moveTo>
                  <a:lnTo>
                    <a:pt x="24" y="0"/>
                  </a:lnTo>
                  <a:lnTo>
                    <a:pt x="35" y="0"/>
                  </a:lnTo>
                  <a:close/>
                  <a:moveTo>
                    <a:pt x="12" y="0"/>
                  </a:moveTo>
                  <a:lnTo>
                    <a:pt x="0" y="0"/>
                  </a:lnTo>
                  <a:lnTo>
                    <a:pt x="1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86" name="Freeform 9"/>
            <p:cNvSpPr>
              <a:spLocks noEditPoints="1"/>
            </p:cNvSpPr>
            <p:nvPr/>
          </p:nvSpPr>
          <p:spPr>
            <a:xfrm>
              <a:off x="3900" y="580"/>
              <a:ext cx="42" cy="1"/>
            </a:xfrm>
            <a:custGeom>
              <a:avLst/>
              <a:gdLst>
                <a:gd name="txL" fmla="*/ 0 w 42"/>
                <a:gd name="txT" fmla="*/ 0 h 1"/>
                <a:gd name="txR" fmla="*/ 42 w 42"/>
                <a:gd name="txB" fmla="*/ 1 h 1"/>
              </a:gdLst>
              <a:ahLst/>
              <a:cxnLst>
                <a:cxn ang="0">
                  <a:pos x="42" y="0"/>
                </a:cxn>
                <a:cxn ang="0">
                  <a:pos x="24" y="0"/>
                </a:cxn>
                <a:cxn ang="0">
                  <a:pos x="42" y="0"/>
                </a:cxn>
                <a:cxn ang="0">
                  <a:pos x="42" y="0"/>
                </a:cxn>
                <a:cxn ang="0">
                  <a:pos x="18" y="0"/>
                </a:cxn>
                <a:cxn ang="0">
                  <a:pos x="0" y="0"/>
                </a:cxn>
                <a:cxn ang="0">
                  <a:pos x="18" y="0"/>
                </a:cxn>
                <a:cxn ang="0">
                  <a:pos x="18" y="0"/>
                </a:cxn>
              </a:cxnLst>
              <a:rect l="txL" t="txT" r="txR" b="txB"/>
              <a:pathLst>
                <a:path w="42" h="1">
                  <a:moveTo>
                    <a:pt x="42" y="0"/>
                  </a:moveTo>
                  <a:lnTo>
                    <a:pt x="24"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87" name="Freeform 10"/>
            <p:cNvSpPr>
              <a:spLocks noEditPoints="1"/>
            </p:cNvSpPr>
            <p:nvPr/>
          </p:nvSpPr>
          <p:spPr>
            <a:xfrm>
              <a:off x="3852" y="580"/>
              <a:ext cx="42" cy="1"/>
            </a:xfrm>
            <a:custGeom>
              <a:avLst/>
              <a:gdLst>
                <a:gd name="txL" fmla="*/ 0 w 42"/>
                <a:gd name="txT" fmla="*/ 0 h 1"/>
                <a:gd name="txR" fmla="*/ 42 w 42"/>
                <a:gd name="txB" fmla="*/ 1 h 1"/>
              </a:gdLst>
              <a:ahLst/>
              <a:cxnLst>
                <a:cxn ang="0">
                  <a:pos x="42" y="0"/>
                </a:cxn>
                <a:cxn ang="0">
                  <a:pos x="24" y="0"/>
                </a:cxn>
                <a:cxn ang="0">
                  <a:pos x="42" y="0"/>
                </a:cxn>
                <a:cxn ang="0">
                  <a:pos x="42" y="0"/>
                </a:cxn>
                <a:cxn ang="0">
                  <a:pos x="18" y="0"/>
                </a:cxn>
                <a:cxn ang="0">
                  <a:pos x="0" y="0"/>
                </a:cxn>
                <a:cxn ang="0">
                  <a:pos x="18" y="0"/>
                </a:cxn>
                <a:cxn ang="0">
                  <a:pos x="18" y="0"/>
                </a:cxn>
              </a:cxnLst>
              <a:rect l="txL" t="txT" r="txR" b="txB"/>
              <a:pathLst>
                <a:path w="42" h="1">
                  <a:moveTo>
                    <a:pt x="42" y="0"/>
                  </a:moveTo>
                  <a:lnTo>
                    <a:pt x="24"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88" name="Freeform 11"/>
            <p:cNvSpPr>
              <a:spLocks noEditPoints="1"/>
            </p:cNvSpPr>
            <p:nvPr/>
          </p:nvSpPr>
          <p:spPr>
            <a:xfrm>
              <a:off x="3804" y="580"/>
              <a:ext cx="42" cy="1"/>
            </a:xfrm>
            <a:custGeom>
              <a:avLst/>
              <a:gdLst>
                <a:gd name="txL" fmla="*/ 0 w 42"/>
                <a:gd name="txT" fmla="*/ 0 h 1"/>
                <a:gd name="txR" fmla="*/ 42 w 42"/>
                <a:gd name="txB" fmla="*/ 1 h 1"/>
              </a:gdLst>
              <a:ahLst/>
              <a:cxnLst>
                <a:cxn ang="0">
                  <a:pos x="42" y="0"/>
                </a:cxn>
                <a:cxn ang="0">
                  <a:pos x="24" y="0"/>
                </a:cxn>
                <a:cxn ang="0">
                  <a:pos x="42" y="0"/>
                </a:cxn>
                <a:cxn ang="0">
                  <a:pos x="42" y="0"/>
                </a:cxn>
                <a:cxn ang="0">
                  <a:pos x="18" y="0"/>
                </a:cxn>
                <a:cxn ang="0">
                  <a:pos x="0" y="0"/>
                </a:cxn>
                <a:cxn ang="0">
                  <a:pos x="18" y="0"/>
                </a:cxn>
                <a:cxn ang="0">
                  <a:pos x="18" y="0"/>
                </a:cxn>
              </a:cxnLst>
              <a:rect l="txL" t="txT" r="txR" b="txB"/>
              <a:pathLst>
                <a:path w="42" h="1">
                  <a:moveTo>
                    <a:pt x="42" y="0"/>
                  </a:moveTo>
                  <a:lnTo>
                    <a:pt x="24"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89" name="Freeform 12"/>
            <p:cNvSpPr>
              <a:spLocks noEditPoints="1"/>
            </p:cNvSpPr>
            <p:nvPr/>
          </p:nvSpPr>
          <p:spPr>
            <a:xfrm>
              <a:off x="3750" y="580"/>
              <a:ext cx="42" cy="1"/>
            </a:xfrm>
            <a:custGeom>
              <a:avLst/>
              <a:gdLst>
                <a:gd name="txL" fmla="*/ 0 w 42"/>
                <a:gd name="txT" fmla="*/ 0 h 1"/>
                <a:gd name="txR" fmla="*/ 42 w 42"/>
                <a:gd name="txB" fmla="*/ 1 h 1"/>
              </a:gdLst>
              <a:ahLst/>
              <a:cxnLst>
                <a:cxn ang="0">
                  <a:pos x="42" y="0"/>
                </a:cxn>
                <a:cxn ang="0">
                  <a:pos x="30" y="0"/>
                </a:cxn>
                <a:cxn ang="0">
                  <a:pos x="42" y="0"/>
                </a:cxn>
                <a:cxn ang="0">
                  <a:pos x="42" y="0"/>
                </a:cxn>
                <a:cxn ang="0">
                  <a:pos x="18" y="0"/>
                </a:cxn>
                <a:cxn ang="0">
                  <a:pos x="0" y="0"/>
                </a:cxn>
                <a:cxn ang="0">
                  <a:pos x="18" y="0"/>
                </a:cxn>
                <a:cxn ang="0">
                  <a:pos x="18" y="0"/>
                </a:cxn>
              </a:cxnLst>
              <a:rect l="txL" t="txT" r="txR" b="txB"/>
              <a:pathLst>
                <a:path w="42" h="1">
                  <a:moveTo>
                    <a:pt x="42" y="0"/>
                  </a:moveTo>
                  <a:lnTo>
                    <a:pt x="30"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0" name="Freeform 13"/>
            <p:cNvSpPr>
              <a:spLocks noEditPoints="1"/>
            </p:cNvSpPr>
            <p:nvPr/>
          </p:nvSpPr>
          <p:spPr>
            <a:xfrm>
              <a:off x="3702" y="580"/>
              <a:ext cx="42" cy="1"/>
            </a:xfrm>
            <a:custGeom>
              <a:avLst/>
              <a:gdLst>
                <a:gd name="txL" fmla="*/ 0 w 42"/>
                <a:gd name="txT" fmla="*/ 0 h 1"/>
                <a:gd name="txR" fmla="*/ 42 w 42"/>
                <a:gd name="txB" fmla="*/ 1 h 1"/>
              </a:gdLst>
              <a:ahLst/>
              <a:cxnLst>
                <a:cxn ang="0">
                  <a:pos x="42" y="0"/>
                </a:cxn>
                <a:cxn ang="0">
                  <a:pos x="24" y="0"/>
                </a:cxn>
                <a:cxn ang="0">
                  <a:pos x="42" y="0"/>
                </a:cxn>
                <a:cxn ang="0">
                  <a:pos x="42" y="0"/>
                </a:cxn>
                <a:cxn ang="0">
                  <a:pos x="18" y="0"/>
                </a:cxn>
                <a:cxn ang="0">
                  <a:pos x="0" y="0"/>
                </a:cxn>
                <a:cxn ang="0">
                  <a:pos x="18" y="0"/>
                </a:cxn>
                <a:cxn ang="0">
                  <a:pos x="18" y="0"/>
                </a:cxn>
              </a:cxnLst>
              <a:rect l="txL" t="txT" r="txR" b="txB"/>
              <a:pathLst>
                <a:path w="42" h="1">
                  <a:moveTo>
                    <a:pt x="42" y="0"/>
                  </a:moveTo>
                  <a:lnTo>
                    <a:pt x="24"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1" name="Freeform 14"/>
            <p:cNvSpPr>
              <a:spLocks noEditPoints="1"/>
            </p:cNvSpPr>
            <p:nvPr/>
          </p:nvSpPr>
          <p:spPr>
            <a:xfrm>
              <a:off x="3655" y="580"/>
              <a:ext cx="41" cy="1"/>
            </a:xfrm>
            <a:custGeom>
              <a:avLst/>
              <a:gdLst>
                <a:gd name="txL" fmla="*/ 0 w 41"/>
                <a:gd name="txT" fmla="*/ 0 h 1"/>
                <a:gd name="txR" fmla="*/ 41 w 41"/>
                <a:gd name="txB" fmla="*/ 1 h 1"/>
              </a:gdLst>
              <a:ahLst/>
              <a:cxnLst>
                <a:cxn ang="0">
                  <a:pos x="41" y="0"/>
                </a:cxn>
                <a:cxn ang="0">
                  <a:pos x="23" y="0"/>
                </a:cxn>
                <a:cxn ang="0">
                  <a:pos x="41" y="0"/>
                </a:cxn>
                <a:cxn ang="0">
                  <a:pos x="41" y="0"/>
                </a:cxn>
                <a:cxn ang="0">
                  <a:pos x="17" y="0"/>
                </a:cxn>
                <a:cxn ang="0">
                  <a:pos x="0" y="0"/>
                </a:cxn>
                <a:cxn ang="0">
                  <a:pos x="17" y="0"/>
                </a:cxn>
                <a:cxn ang="0">
                  <a:pos x="17" y="0"/>
                </a:cxn>
              </a:cxnLst>
              <a:rect l="txL" t="txT" r="txR" b="txB"/>
              <a:pathLst>
                <a:path w="41" h="1">
                  <a:moveTo>
                    <a:pt x="41" y="0"/>
                  </a:moveTo>
                  <a:lnTo>
                    <a:pt x="23" y="0"/>
                  </a:lnTo>
                  <a:lnTo>
                    <a:pt x="41" y="0"/>
                  </a:lnTo>
                  <a:close/>
                  <a:moveTo>
                    <a:pt x="17" y="0"/>
                  </a:moveTo>
                  <a:lnTo>
                    <a:pt x="0" y="0"/>
                  </a:lnTo>
                  <a:lnTo>
                    <a:pt x="17"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2" name="Freeform 15"/>
            <p:cNvSpPr>
              <a:spLocks noEditPoints="1"/>
            </p:cNvSpPr>
            <p:nvPr/>
          </p:nvSpPr>
          <p:spPr>
            <a:xfrm>
              <a:off x="3607" y="580"/>
              <a:ext cx="42" cy="1"/>
            </a:xfrm>
            <a:custGeom>
              <a:avLst/>
              <a:gdLst>
                <a:gd name="txL" fmla="*/ 0 w 42"/>
                <a:gd name="txT" fmla="*/ 0 h 1"/>
                <a:gd name="txR" fmla="*/ 42 w 42"/>
                <a:gd name="txB" fmla="*/ 1 h 1"/>
              </a:gdLst>
              <a:ahLst/>
              <a:cxnLst>
                <a:cxn ang="0">
                  <a:pos x="42" y="0"/>
                </a:cxn>
                <a:cxn ang="0">
                  <a:pos x="24" y="0"/>
                </a:cxn>
                <a:cxn ang="0">
                  <a:pos x="42" y="0"/>
                </a:cxn>
                <a:cxn ang="0">
                  <a:pos x="42" y="0"/>
                </a:cxn>
                <a:cxn ang="0">
                  <a:pos x="12" y="0"/>
                </a:cxn>
                <a:cxn ang="0">
                  <a:pos x="0" y="0"/>
                </a:cxn>
                <a:cxn ang="0">
                  <a:pos x="12" y="0"/>
                </a:cxn>
                <a:cxn ang="0">
                  <a:pos x="12" y="0"/>
                </a:cxn>
              </a:cxnLst>
              <a:rect l="txL" t="txT" r="txR" b="txB"/>
              <a:pathLst>
                <a:path w="42" h="1">
                  <a:moveTo>
                    <a:pt x="42" y="0"/>
                  </a:moveTo>
                  <a:lnTo>
                    <a:pt x="24" y="0"/>
                  </a:lnTo>
                  <a:lnTo>
                    <a:pt x="42" y="0"/>
                  </a:lnTo>
                  <a:close/>
                  <a:moveTo>
                    <a:pt x="12" y="0"/>
                  </a:moveTo>
                  <a:lnTo>
                    <a:pt x="0" y="0"/>
                  </a:lnTo>
                  <a:lnTo>
                    <a:pt x="1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3" name="Freeform 16"/>
            <p:cNvSpPr>
              <a:spLocks noEditPoints="1"/>
            </p:cNvSpPr>
            <p:nvPr/>
          </p:nvSpPr>
          <p:spPr>
            <a:xfrm>
              <a:off x="3553" y="580"/>
              <a:ext cx="42" cy="1"/>
            </a:xfrm>
            <a:custGeom>
              <a:avLst/>
              <a:gdLst>
                <a:gd name="txL" fmla="*/ 0 w 42"/>
                <a:gd name="txT" fmla="*/ 0 h 1"/>
                <a:gd name="txR" fmla="*/ 42 w 42"/>
                <a:gd name="txB" fmla="*/ 1 h 1"/>
              </a:gdLst>
              <a:ahLst/>
              <a:cxnLst>
                <a:cxn ang="0">
                  <a:pos x="42" y="0"/>
                </a:cxn>
                <a:cxn ang="0">
                  <a:pos x="30" y="0"/>
                </a:cxn>
                <a:cxn ang="0">
                  <a:pos x="42" y="0"/>
                </a:cxn>
                <a:cxn ang="0">
                  <a:pos x="42" y="0"/>
                </a:cxn>
                <a:cxn ang="0">
                  <a:pos x="18" y="0"/>
                </a:cxn>
                <a:cxn ang="0">
                  <a:pos x="0" y="0"/>
                </a:cxn>
                <a:cxn ang="0">
                  <a:pos x="18" y="0"/>
                </a:cxn>
                <a:cxn ang="0">
                  <a:pos x="18" y="0"/>
                </a:cxn>
              </a:cxnLst>
              <a:rect l="txL" t="txT" r="txR" b="txB"/>
              <a:pathLst>
                <a:path w="42" h="1">
                  <a:moveTo>
                    <a:pt x="42" y="0"/>
                  </a:moveTo>
                  <a:lnTo>
                    <a:pt x="30" y="0"/>
                  </a:lnTo>
                  <a:lnTo>
                    <a:pt x="42" y="0"/>
                  </a:lnTo>
                  <a:close/>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4" name="Freeform 17"/>
            <p:cNvSpPr/>
            <p:nvPr/>
          </p:nvSpPr>
          <p:spPr>
            <a:xfrm>
              <a:off x="3529" y="580"/>
              <a:ext cx="18" cy="1"/>
            </a:xfrm>
            <a:custGeom>
              <a:avLst/>
              <a:gdLst>
                <a:gd name="txL" fmla="*/ 0 w 18"/>
                <a:gd name="txT" fmla="*/ 0 h 1"/>
                <a:gd name="txR" fmla="*/ 18 w 18"/>
                <a:gd name="txB" fmla="*/ 1 h 1"/>
              </a:gdLst>
              <a:ahLst/>
              <a:cxnLst>
                <a:cxn ang="0">
                  <a:pos x="18" y="0"/>
                </a:cxn>
                <a:cxn ang="0">
                  <a:pos x="0" y="0"/>
                </a:cxn>
                <a:cxn ang="0">
                  <a:pos x="18" y="0"/>
                </a:cxn>
                <a:cxn ang="0">
                  <a:pos x="18" y="0"/>
                </a:cxn>
              </a:cxnLst>
              <a:rect l="txL" t="txT" r="txR" b="txB"/>
              <a:pathLst>
                <a:path w="18" h="1">
                  <a:moveTo>
                    <a:pt x="18" y="0"/>
                  </a:moveTo>
                  <a:lnTo>
                    <a:pt x="0" y="0"/>
                  </a:lnTo>
                  <a:lnTo>
                    <a:pt x="1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5" name="Freeform 18"/>
            <p:cNvSpPr/>
            <p:nvPr/>
          </p:nvSpPr>
          <p:spPr>
            <a:xfrm>
              <a:off x="1651" y="204"/>
              <a:ext cx="125" cy="131"/>
            </a:xfrm>
            <a:custGeom>
              <a:avLst/>
              <a:gdLst>
                <a:gd name="txL" fmla="*/ 0 w 125"/>
                <a:gd name="txT" fmla="*/ 0 h 131"/>
                <a:gd name="txR" fmla="*/ 125 w 125"/>
                <a:gd name="txB" fmla="*/ 131 h 131"/>
              </a:gdLst>
              <a:ahLst/>
              <a:cxnLst>
                <a:cxn ang="0">
                  <a:pos x="90" y="0"/>
                </a:cxn>
                <a:cxn ang="0">
                  <a:pos x="30" y="0"/>
                </a:cxn>
                <a:cxn ang="0">
                  <a:pos x="30" y="6"/>
                </a:cxn>
                <a:cxn ang="0">
                  <a:pos x="42" y="6"/>
                </a:cxn>
                <a:cxn ang="0">
                  <a:pos x="48" y="12"/>
                </a:cxn>
                <a:cxn ang="0">
                  <a:pos x="48" y="18"/>
                </a:cxn>
                <a:cxn ang="0">
                  <a:pos x="48" y="24"/>
                </a:cxn>
                <a:cxn ang="0">
                  <a:pos x="18" y="113"/>
                </a:cxn>
                <a:cxn ang="0">
                  <a:pos x="12" y="125"/>
                </a:cxn>
                <a:cxn ang="0">
                  <a:pos x="0" y="131"/>
                </a:cxn>
                <a:cxn ang="0">
                  <a:pos x="0" y="131"/>
                </a:cxn>
                <a:cxn ang="0">
                  <a:pos x="113" y="131"/>
                </a:cxn>
                <a:cxn ang="0">
                  <a:pos x="125" y="95"/>
                </a:cxn>
                <a:cxn ang="0">
                  <a:pos x="119" y="95"/>
                </a:cxn>
                <a:cxn ang="0">
                  <a:pos x="107" y="113"/>
                </a:cxn>
                <a:cxn ang="0">
                  <a:pos x="96" y="119"/>
                </a:cxn>
                <a:cxn ang="0">
                  <a:pos x="66" y="125"/>
                </a:cxn>
                <a:cxn ang="0">
                  <a:pos x="48" y="125"/>
                </a:cxn>
                <a:cxn ang="0">
                  <a:pos x="42" y="119"/>
                </a:cxn>
                <a:cxn ang="0">
                  <a:pos x="42" y="113"/>
                </a:cxn>
                <a:cxn ang="0">
                  <a:pos x="42" y="107"/>
                </a:cxn>
                <a:cxn ang="0">
                  <a:pos x="72" y="18"/>
                </a:cxn>
                <a:cxn ang="0">
                  <a:pos x="78" y="6"/>
                </a:cxn>
                <a:cxn ang="0">
                  <a:pos x="90" y="6"/>
                </a:cxn>
                <a:cxn ang="0">
                  <a:pos x="90" y="0"/>
                </a:cxn>
              </a:cxnLst>
              <a:rect l="txL" t="txT" r="txR" b="txB"/>
              <a:pathLst>
                <a:path w="125" h="131">
                  <a:moveTo>
                    <a:pt x="90" y="0"/>
                  </a:moveTo>
                  <a:lnTo>
                    <a:pt x="30" y="0"/>
                  </a:lnTo>
                  <a:lnTo>
                    <a:pt x="30" y="6"/>
                  </a:lnTo>
                  <a:lnTo>
                    <a:pt x="42" y="6"/>
                  </a:lnTo>
                  <a:lnTo>
                    <a:pt x="48" y="12"/>
                  </a:lnTo>
                  <a:lnTo>
                    <a:pt x="48" y="18"/>
                  </a:lnTo>
                  <a:lnTo>
                    <a:pt x="48" y="24"/>
                  </a:lnTo>
                  <a:lnTo>
                    <a:pt x="18" y="113"/>
                  </a:lnTo>
                  <a:lnTo>
                    <a:pt x="12" y="125"/>
                  </a:lnTo>
                  <a:lnTo>
                    <a:pt x="0" y="131"/>
                  </a:lnTo>
                  <a:lnTo>
                    <a:pt x="113" y="131"/>
                  </a:lnTo>
                  <a:lnTo>
                    <a:pt x="125" y="95"/>
                  </a:lnTo>
                  <a:lnTo>
                    <a:pt x="119" y="95"/>
                  </a:lnTo>
                  <a:lnTo>
                    <a:pt x="107" y="113"/>
                  </a:lnTo>
                  <a:lnTo>
                    <a:pt x="96" y="119"/>
                  </a:lnTo>
                  <a:lnTo>
                    <a:pt x="66" y="125"/>
                  </a:lnTo>
                  <a:lnTo>
                    <a:pt x="48" y="125"/>
                  </a:lnTo>
                  <a:lnTo>
                    <a:pt x="42" y="119"/>
                  </a:lnTo>
                  <a:lnTo>
                    <a:pt x="42" y="113"/>
                  </a:lnTo>
                  <a:lnTo>
                    <a:pt x="42" y="107"/>
                  </a:lnTo>
                  <a:lnTo>
                    <a:pt x="72" y="18"/>
                  </a:lnTo>
                  <a:lnTo>
                    <a:pt x="78" y="6"/>
                  </a:lnTo>
                  <a:lnTo>
                    <a:pt x="90" y="6"/>
                  </a:lnTo>
                  <a:lnTo>
                    <a:pt x="9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6" name="Freeform 19"/>
            <p:cNvSpPr/>
            <p:nvPr/>
          </p:nvSpPr>
          <p:spPr>
            <a:xfrm>
              <a:off x="1794" y="287"/>
              <a:ext cx="48" cy="102"/>
            </a:xfrm>
            <a:custGeom>
              <a:avLst/>
              <a:gdLst>
                <a:gd name="txL" fmla="*/ 0 w 48"/>
                <a:gd name="txT" fmla="*/ 0 h 102"/>
                <a:gd name="txR" fmla="*/ 48 w 48"/>
                <a:gd name="txB" fmla="*/ 102 h 102"/>
              </a:gdLst>
              <a:ahLst/>
              <a:cxnLst>
                <a:cxn ang="0">
                  <a:pos x="0" y="102"/>
                </a:cxn>
                <a:cxn ang="0">
                  <a:pos x="48" y="102"/>
                </a:cxn>
                <a:cxn ang="0">
                  <a:pos x="48" y="96"/>
                </a:cxn>
                <a:cxn ang="0">
                  <a:pos x="36" y="96"/>
                </a:cxn>
                <a:cxn ang="0">
                  <a:pos x="30" y="90"/>
                </a:cxn>
                <a:cxn ang="0">
                  <a:pos x="30" y="0"/>
                </a:cxn>
                <a:cxn ang="0">
                  <a:pos x="30" y="0"/>
                </a:cxn>
                <a:cxn ang="0">
                  <a:pos x="0" y="12"/>
                </a:cxn>
                <a:cxn ang="0">
                  <a:pos x="0" y="12"/>
                </a:cxn>
                <a:cxn ang="0">
                  <a:pos x="12" y="12"/>
                </a:cxn>
                <a:cxn ang="0">
                  <a:pos x="12" y="12"/>
                </a:cxn>
                <a:cxn ang="0">
                  <a:pos x="18" y="12"/>
                </a:cxn>
                <a:cxn ang="0">
                  <a:pos x="18" y="18"/>
                </a:cxn>
                <a:cxn ang="0">
                  <a:pos x="18" y="84"/>
                </a:cxn>
                <a:cxn ang="0">
                  <a:pos x="12" y="96"/>
                </a:cxn>
                <a:cxn ang="0">
                  <a:pos x="0" y="96"/>
                </a:cxn>
                <a:cxn ang="0">
                  <a:pos x="0" y="102"/>
                </a:cxn>
              </a:cxnLst>
              <a:rect l="txL" t="txT" r="txR" b="txB"/>
              <a:pathLst>
                <a:path w="48" h="102">
                  <a:moveTo>
                    <a:pt x="0" y="102"/>
                  </a:moveTo>
                  <a:lnTo>
                    <a:pt x="48" y="102"/>
                  </a:lnTo>
                  <a:lnTo>
                    <a:pt x="48" y="96"/>
                  </a:lnTo>
                  <a:lnTo>
                    <a:pt x="36" y="96"/>
                  </a:lnTo>
                  <a:lnTo>
                    <a:pt x="30" y="90"/>
                  </a:lnTo>
                  <a:lnTo>
                    <a:pt x="30" y="0"/>
                  </a:lnTo>
                  <a:lnTo>
                    <a:pt x="0" y="12"/>
                  </a:lnTo>
                  <a:lnTo>
                    <a:pt x="12" y="12"/>
                  </a:lnTo>
                  <a:lnTo>
                    <a:pt x="18" y="12"/>
                  </a:lnTo>
                  <a:lnTo>
                    <a:pt x="18" y="18"/>
                  </a:lnTo>
                  <a:lnTo>
                    <a:pt x="18" y="84"/>
                  </a:lnTo>
                  <a:lnTo>
                    <a:pt x="12" y="96"/>
                  </a:lnTo>
                  <a:lnTo>
                    <a:pt x="0" y="96"/>
                  </a:lnTo>
                  <a:lnTo>
                    <a:pt x="0" y="10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7" name="Freeform 20"/>
            <p:cNvSpPr/>
            <p:nvPr/>
          </p:nvSpPr>
          <p:spPr>
            <a:xfrm>
              <a:off x="2668" y="1858"/>
              <a:ext cx="53" cy="173"/>
            </a:xfrm>
            <a:custGeom>
              <a:avLst/>
              <a:gdLst>
                <a:gd name="txL" fmla="*/ 0 w 53"/>
                <a:gd name="txT" fmla="*/ 0 h 173"/>
                <a:gd name="txR" fmla="*/ 53 w 53"/>
                <a:gd name="txB" fmla="*/ 173 h 173"/>
              </a:gdLst>
              <a:ahLst/>
              <a:cxnLst>
                <a:cxn ang="0">
                  <a:pos x="53" y="0"/>
                </a:cxn>
                <a:cxn ang="0">
                  <a:pos x="30" y="18"/>
                </a:cxn>
                <a:cxn ang="0">
                  <a:pos x="12" y="36"/>
                </a:cxn>
                <a:cxn ang="0">
                  <a:pos x="6" y="60"/>
                </a:cxn>
                <a:cxn ang="0">
                  <a:pos x="0" y="84"/>
                </a:cxn>
                <a:cxn ang="0">
                  <a:pos x="6" y="113"/>
                </a:cxn>
                <a:cxn ang="0">
                  <a:pos x="18" y="137"/>
                </a:cxn>
                <a:cxn ang="0">
                  <a:pos x="36" y="155"/>
                </a:cxn>
                <a:cxn ang="0">
                  <a:pos x="53" y="173"/>
                </a:cxn>
                <a:cxn ang="0">
                  <a:pos x="53" y="167"/>
                </a:cxn>
                <a:cxn ang="0">
                  <a:pos x="36" y="149"/>
                </a:cxn>
                <a:cxn ang="0">
                  <a:pos x="24" y="125"/>
                </a:cxn>
                <a:cxn ang="0">
                  <a:pos x="18" y="101"/>
                </a:cxn>
                <a:cxn ang="0">
                  <a:pos x="18" y="84"/>
                </a:cxn>
                <a:cxn ang="0">
                  <a:pos x="24" y="48"/>
                </a:cxn>
                <a:cxn ang="0">
                  <a:pos x="30" y="24"/>
                </a:cxn>
                <a:cxn ang="0">
                  <a:pos x="41" y="12"/>
                </a:cxn>
                <a:cxn ang="0">
                  <a:pos x="53" y="0"/>
                </a:cxn>
                <a:cxn ang="0">
                  <a:pos x="53" y="0"/>
                </a:cxn>
              </a:cxnLst>
              <a:rect l="txL" t="txT" r="txR" b="txB"/>
              <a:pathLst>
                <a:path w="53" h="173">
                  <a:moveTo>
                    <a:pt x="53" y="0"/>
                  </a:moveTo>
                  <a:lnTo>
                    <a:pt x="30" y="18"/>
                  </a:lnTo>
                  <a:lnTo>
                    <a:pt x="12" y="36"/>
                  </a:lnTo>
                  <a:lnTo>
                    <a:pt x="6" y="60"/>
                  </a:lnTo>
                  <a:lnTo>
                    <a:pt x="0" y="84"/>
                  </a:lnTo>
                  <a:lnTo>
                    <a:pt x="6" y="113"/>
                  </a:lnTo>
                  <a:lnTo>
                    <a:pt x="18" y="137"/>
                  </a:lnTo>
                  <a:lnTo>
                    <a:pt x="36" y="155"/>
                  </a:lnTo>
                  <a:lnTo>
                    <a:pt x="53" y="173"/>
                  </a:lnTo>
                  <a:lnTo>
                    <a:pt x="53" y="167"/>
                  </a:lnTo>
                  <a:lnTo>
                    <a:pt x="36" y="149"/>
                  </a:lnTo>
                  <a:lnTo>
                    <a:pt x="24" y="125"/>
                  </a:lnTo>
                  <a:lnTo>
                    <a:pt x="18" y="101"/>
                  </a:lnTo>
                  <a:lnTo>
                    <a:pt x="18" y="84"/>
                  </a:lnTo>
                  <a:lnTo>
                    <a:pt x="24" y="48"/>
                  </a:lnTo>
                  <a:lnTo>
                    <a:pt x="30" y="24"/>
                  </a:lnTo>
                  <a:lnTo>
                    <a:pt x="41" y="12"/>
                  </a:lnTo>
                  <a:lnTo>
                    <a:pt x="5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8" name="Freeform 21"/>
            <p:cNvSpPr>
              <a:spLocks noEditPoints="1"/>
            </p:cNvSpPr>
            <p:nvPr/>
          </p:nvSpPr>
          <p:spPr>
            <a:xfrm>
              <a:off x="2739" y="1900"/>
              <a:ext cx="90" cy="95"/>
            </a:xfrm>
            <a:custGeom>
              <a:avLst/>
              <a:gdLst>
                <a:gd name="txL" fmla="*/ 0 w 90"/>
                <a:gd name="txT" fmla="*/ 0 h 95"/>
                <a:gd name="txR" fmla="*/ 90 w 90"/>
                <a:gd name="txB" fmla="*/ 95 h 95"/>
              </a:gdLst>
              <a:ahLst/>
              <a:cxnLst>
                <a:cxn ang="0">
                  <a:pos x="54" y="71"/>
                </a:cxn>
                <a:cxn ang="0">
                  <a:pos x="54" y="77"/>
                </a:cxn>
                <a:cxn ang="0">
                  <a:pos x="48" y="77"/>
                </a:cxn>
                <a:cxn ang="0">
                  <a:pos x="42" y="83"/>
                </a:cxn>
                <a:cxn ang="0">
                  <a:pos x="30" y="83"/>
                </a:cxn>
                <a:cxn ang="0">
                  <a:pos x="24" y="77"/>
                </a:cxn>
                <a:cxn ang="0">
                  <a:pos x="18" y="65"/>
                </a:cxn>
                <a:cxn ang="0">
                  <a:pos x="18" y="65"/>
                </a:cxn>
                <a:cxn ang="0">
                  <a:pos x="18" y="59"/>
                </a:cxn>
                <a:cxn ang="0">
                  <a:pos x="24" y="53"/>
                </a:cxn>
                <a:cxn ang="0">
                  <a:pos x="36" y="48"/>
                </a:cxn>
                <a:cxn ang="0">
                  <a:pos x="54" y="42"/>
                </a:cxn>
                <a:cxn ang="0">
                  <a:pos x="54" y="71"/>
                </a:cxn>
                <a:cxn ang="0">
                  <a:pos x="90" y="77"/>
                </a:cxn>
                <a:cxn ang="0">
                  <a:pos x="84" y="83"/>
                </a:cxn>
                <a:cxn ang="0">
                  <a:pos x="78" y="83"/>
                </a:cxn>
                <a:cxn ang="0">
                  <a:pos x="72" y="77"/>
                </a:cxn>
                <a:cxn ang="0">
                  <a:pos x="72" y="71"/>
                </a:cxn>
                <a:cxn ang="0">
                  <a:pos x="72" y="36"/>
                </a:cxn>
                <a:cxn ang="0">
                  <a:pos x="72" y="24"/>
                </a:cxn>
                <a:cxn ang="0">
                  <a:pos x="66" y="12"/>
                </a:cxn>
                <a:cxn ang="0">
                  <a:pos x="60" y="6"/>
                </a:cxn>
                <a:cxn ang="0">
                  <a:pos x="36" y="0"/>
                </a:cxn>
                <a:cxn ang="0">
                  <a:pos x="24" y="0"/>
                </a:cxn>
                <a:cxn ang="0">
                  <a:pos x="12" y="6"/>
                </a:cxn>
                <a:cxn ang="0">
                  <a:pos x="6" y="24"/>
                </a:cxn>
                <a:cxn ang="0">
                  <a:pos x="6" y="30"/>
                </a:cxn>
                <a:cxn ang="0">
                  <a:pos x="12" y="30"/>
                </a:cxn>
                <a:cxn ang="0">
                  <a:pos x="18" y="30"/>
                </a:cxn>
                <a:cxn ang="0">
                  <a:pos x="24" y="24"/>
                </a:cxn>
                <a:cxn ang="0">
                  <a:pos x="24" y="24"/>
                </a:cxn>
                <a:cxn ang="0">
                  <a:pos x="24" y="18"/>
                </a:cxn>
                <a:cxn ang="0">
                  <a:pos x="30" y="12"/>
                </a:cxn>
                <a:cxn ang="0">
                  <a:pos x="36" y="6"/>
                </a:cxn>
                <a:cxn ang="0">
                  <a:pos x="48" y="6"/>
                </a:cxn>
                <a:cxn ang="0">
                  <a:pos x="54" y="12"/>
                </a:cxn>
                <a:cxn ang="0">
                  <a:pos x="54" y="24"/>
                </a:cxn>
                <a:cxn ang="0">
                  <a:pos x="54" y="36"/>
                </a:cxn>
                <a:cxn ang="0">
                  <a:pos x="30" y="42"/>
                </a:cxn>
                <a:cxn ang="0">
                  <a:pos x="12" y="53"/>
                </a:cxn>
                <a:cxn ang="0">
                  <a:pos x="6" y="65"/>
                </a:cxn>
                <a:cxn ang="0">
                  <a:pos x="0" y="77"/>
                </a:cxn>
                <a:cxn ang="0">
                  <a:pos x="6" y="89"/>
                </a:cxn>
                <a:cxn ang="0">
                  <a:pos x="24" y="95"/>
                </a:cxn>
                <a:cxn ang="0">
                  <a:pos x="42" y="89"/>
                </a:cxn>
                <a:cxn ang="0">
                  <a:pos x="54" y="83"/>
                </a:cxn>
                <a:cxn ang="0">
                  <a:pos x="60" y="95"/>
                </a:cxn>
                <a:cxn ang="0">
                  <a:pos x="66" y="95"/>
                </a:cxn>
                <a:cxn ang="0">
                  <a:pos x="78" y="95"/>
                </a:cxn>
                <a:cxn ang="0">
                  <a:pos x="90" y="83"/>
                </a:cxn>
                <a:cxn ang="0">
                  <a:pos x="90" y="77"/>
                </a:cxn>
              </a:cxnLst>
              <a:rect l="txL" t="txT" r="txR" b="txB"/>
              <a:pathLst>
                <a:path w="90" h="95">
                  <a:moveTo>
                    <a:pt x="54" y="71"/>
                  </a:moveTo>
                  <a:lnTo>
                    <a:pt x="54" y="77"/>
                  </a:lnTo>
                  <a:lnTo>
                    <a:pt x="48" y="77"/>
                  </a:lnTo>
                  <a:lnTo>
                    <a:pt x="42" y="83"/>
                  </a:lnTo>
                  <a:lnTo>
                    <a:pt x="30" y="83"/>
                  </a:lnTo>
                  <a:lnTo>
                    <a:pt x="24" y="77"/>
                  </a:lnTo>
                  <a:lnTo>
                    <a:pt x="18" y="65"/>
                  </a:lnTo>
                  <a:lnTo>
                    <a:pt x="18" y="59"/>
                  </a:lnTo>
                  <a:lnTo>
                    <a:pt x="24" y="53"/>
                  </a:lnTo>
                  <a:lnTo>
                    <a:pt x="36" y="48"/>
                  </a:lnTo>
                  <a:lnTo>
                    <a:pt x="54" y="42"/>
                  </a:lnTo>
                  <a:lnTo>
                    <a:pt x="54" y="71"/>
                  </a:lnTo>
                  <a:close/>
                  <a:moveTo>
                    <a:pt x="90" y="77"/>
                  </a:moveTo>
                  <a:lnTo>
                    <a:pt x="84" y="83"/>
                  </a:lnTo>
                  <a:lnTo>
                    <a:pt x="78" y="83"/>
                  </a:lnTo>
                  <a:lnTo>
                    <a:pt x="72" y="77"/>
                  </a:lnTo>
                  <a:lnTo>
                    <a:pt x="72" y="71"/>
                  </a:lnTo>
                  <a:lnTo>
                    <a:pt x="72" y="36"/>
                  </a:lnTo>
                  <a:lnTo>
                    <a:pt x="72" y="24"/>
                  </a:lnTo>
                  <a:lnTo>
                    <a:pt x="66" y="12"/>
                  </a:lnTo>
                  <a:lnTo>
                    <a:pt x="60" y="6"/>
                  </a:lnTo>
                  <a:lnTo>
                    <a:pt x="36" y="0"/>
                  </a:lnTo>
                  <a:lnTo>
                    <a:pt x="24" y="0"/>
                  </a:lnTo>
                  <a:lnTo>
                    <a:pt x="12" y="6"/>
                  </a:lnTo>
                  <a:lnTo>
                    <a:pt x="6" y="24"/>
                  </a:lnTo>
                  <a:lnTo>
                    <a:pt x="6" y="30"/>
                  </a:lnTo>
                  <a:lnTo>
                    <a:pt x="12" y="30"/>
                  </a:lnTo>
                  <a:lnTo>
                    <a:pt x="18" y="30"/>
                  </a:lnTo>
                  <a:lnTo>
                    <a:pt x="24" y="24"/>
                  </a:lnTo>
                  <a:lnTo>
                    <a:pt x="24" y="18"/>
                  </a:lnTo>
                  <a:lnTo>
                    <a:pt x="30" y="12"/>
                  </a:lnTo>
                  <a:lnTo>
                    <a:pt x="36" y="6"/>
                  </a:lnTo>
                  <a:lnTo>
                    <a:pt x="48" y="6"/>
                  </a:lnTo>
                  <a:lnTo>
                    <a:pt x="54" y="12"/>
                  </a:lnTo>
                  <a:lnTo>
                    <a:pt x="54" y="24"/>
                  </a:lnTo>
                  <a:lnTo>
                    <a:pt x="54" y="36"/>
                  </a:lnTo>
                  <a:lnTo>
                    <a:pt x="30" y="42"/>
                  </a:lnTo>
                  <a:lnTo>
                    <a:pt x="12" y="53"/>
                  </a:lnTo>
                  <a:lnTo>
                    <a:pt x="6" y="65"/>
                  </a:lnTo>
                  <a:lnTo>
                    <a:pt x="0" y="77"/>
                  </a:lnTo>
                  <a:lnTo>
                    <a:pt x="6" y="89"/>
                  </a:lnTo>
                  <a:lnTo>
                    <a:pt x="24" y="95"/>
                  </a:lnTo>
                  <a:lnTo>
                    <a:pt x="42" y="89"/>
                  </a:lnTo>
                  <a:lnTo>
                    <a:pt x="54" y="83"/>
                  </a:lnTo>
                  <a:lnTo>
                    <a:pt x="60" y="95"/>
                  </a:lnTo>
                  <a:lnTo>
                    <a:pt x="66" y="95"/>
                  </a:lnTo>
                  <a:lnTo>
                    <a:pt x="78" y="95"/>
                  </a:lnTo>
                  <a:lnTo>
                    <a:pt x="90" y="83"/>
                  </a:lnTo>
                  <a:lnTo>
                    <a:pt x="90" y="77"/>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99" name="Freeform 22"/>
            <p:cNvSpPr/>
            <p:nvPr/>
          </p:nvSpPr>
          <p:spPr>
            <a:xfrm>
              <a:off x="2835" y="1858"/>
              <a:ext cx="54" cy="173"/>
            </a:xfrm>
            <a:custGeom>
              <a:avLst/>
              <a:gdLst>
                <a:gd name="txL" fmla="*/ 0 w 54"/>
                <a:gd name="txT" fmla="*/ 0 h 173"/>
                <a:gd name="txR" fmla="*/ 54 w 54"/>
                <a:gd name="txB" fmla="*/ 173 h 173"/>
              </a:gdLst>
              <a:ahLst/>
              <a:cxnLst>
                <a:cxn ang="0">
                  <a:pos x="0" y="173"/>
                </a:cxn>
                <a:cxn ang="0">
                  <a:pos x="24" y="155"/>
                </a:cxn>
                <a:cxn ang="0">
                  <a:pos x="42" y="137"/>
                </a:cxn>
                <a:cxn ang="0">
                  <a:pos x="48" y="113"/>
                </a:cxn>
                <a:cxn ang="0">
                  <a:pos x="54" y="90"/>
                </a:cxn>
                <a:cxn ang="0">
                  <a:pos x="54" y="72"/>
                </a:cxn>
                <a:cxn ang="0">
                  <a:pos x="48" y="54"/>
                </a:cxn>
                <a:cxn ang="0">
                  <a:pos x="36" y="30"/>
                </a:cxn>
                <a:cxn ang="0">
                  <a:pos x="18" y="12"/>
                </a:cxn>
                <a:cxn ang="0">
                  <a:pos x="0" y="0"/>
                </a:cxn>
                <a:cxn ang="0">
                  <a:pos x="0" y="0"/>
                </a:cxn>
                <a:cxn ang="0">
                  <a:pos x="24" y="24"/>
                </a:cxn>
                <a:cxn ang="0">
                  <a:pos x="30" y="48"/>
                </a:cxn>
                <a:cxn ang="0">
                  <a:pos x="36" y="72"/>
                </a:cxn>
                <a:cxn ang="0">
                  <a:pos x="36" y="90"/>
                </a:cxn>
                <a:cxn ang="0">
                  <a:pos x="30" y="125"/>
                </a:cxn>
                <a:cxn ang="0">
                  <a:pos x="24" y="143"/>
                </a:cxn>
                <a:cxn ang="0">
                  <a:pos x="12" y="155"/>
                </a:cxn>
                <a:cxn ang="0">
                  <a:pos x="0" y="167"/>
                </a:cxn>
                <a:cxn ang="0">
                  <a:pos x="0" y="173"/>
                </a:cxn>
              </a:cxnLst>
              <a:rect l="txL" t="txT" r="txR" b="txB"/>
              <a:pathLst>
                <a:path w="54" h="173">
                  <a:moveTo>
                    <a:pt x="0" y="173"/>
                  </a:moveTo>
                  <a:lnTo>
                    <a:pt x="24" y="155"/>
                  </a:lnTo>
                  <a:lnTo>
                    <a:pt x="42" y="137"/>
                  </a:lnTo>
                  <a:lnTo>
                    <a:pt x="48" y="113"/>
                  </a:lnTo>
                  <a:lnTo>
                    <a:pt x="54" y="90"/>
                  </a:lnTo>
                  <a:lnTo>
                    <a:pt x="54" y="72"/>
                  </a:lnTo>
                  <a:lnTo>
                    <a:pt x="48" y="54"/>
                  </a:lnTo>
                  <a:lnTo>
                    <a:pt x="36" y="30"/>
                  </a:lnTo>
                  <a:lnTo>
                    <a:pt x="18" y="12"/>
                  </a:lnTo>
                  <a:lnTo>
                    <a:pt x="0" y="0"/>
                  </a:lnTo>
                  <a:lnTo>
                    <a:pt x="24" y="24"/>
                  </a:lnTo>
                  <a:lnTo>
                    <a:pt x="30" y="48"/>
                  </a:lnTo>
                  <a:lnTo>
                    <a:pt x="36" y="72"/>
                  </a:lnTo>
                  <a:lnTo>
                    <a:pt x="36" y="90"/>
                  </a:lnTo>
                  <a:lnTo>
                    <a:pt x="30" y="125"/>
                  </a:lnTo>
                  <a:lnTo>
                    <a:pt x="24" y="143"/>
                  </a:lnTo>
                  <a:lnTo>
                    <a:pt x="12" y="155"/>
                  </a:lnTo>
                  <a:lnTo>
                    <a:pt x="0" y="167"/>
                  </a:lnTo>
                  <a:lnTo>
                    <a:pt x="0" y="17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00" name="Freeform 23"/>
            <p:cNvSpPr/>
            <p:nvPr/>
          </p:nvSpPr>
          <p:spPr>
            <a:xfrm>
              <a:off x="2327" y="204"/>
              <a:ext cx="125" cy="131"/>
            </a:xfrm>
            <a:custGeom>
              <a:avLst/>
              <a:gdLst>
                <a:gd name="txL" fmla="*/ 0 w 125"/>
                <a:gd name="txT" fmla="*/ 0 h 131"/>
                <a:gd name="txR" fmla="*/ 125 w 125"/>
                <a:gd name="txB" fmla="*/ 131 h 131"/>
              </a:gdLst>
              <a:ahLst/>
              <a:cxnLst>
                <a:cxn ang="0">
                  <a:pos x="89" y="0"/>
                </a:cxn>
                <a:cxn ang="0">
                  <a:pos x="30" y="0"/>
                </a:cxn>
                <a:cxn ang="0">
                  <a:pos x="30" y="6"/>
                </a:cxn>
                <a:cxn ang="0">
                  <a:pos x="42" y="6"/>
                </a:cxn>
                <a:cxn ang="0">
                  <a:pos x="48" y="12"/>
                </a:cxn>
                <a:cxn ang="0">
                  <a:pos x="48" y="18"/>
                </a:cxn>
                <a:cxn ang="0">
                  <a:pos x="48" y="24"/>
                </a:cxn>
                <a:cxn ang="0">
                  <a:pos x="18" y="113"/>
                </a:cxn>
                <a:cxn ang="0">
                  <a:pos x="12" y="125"/>
                </a:cxn>
                <a:cxn ang="0">
                  <a:pos x="0" y="131"/>
                </a:cxn>
                <a:cxn ang="0">
                  <a:pos x="0" y="131"/>
                </a:cxn>
                <a:cxn ang="0">
                  <a:pos x="113" y="131"/>
                </a:cxn>
                <a:cxn ang="0">
                  <a:pos x="125" y="95"/>
                </a:cxn>
                <a:cxn ang="0">
                  <a:pos x="119" y="95"/>
                </a:cxn>
                <a:cxn ang="0">
                  <a:pos x="107" y="113"/>
                </a:cxn>
                <a:cxn ang="0">
                  <a:pos x="95" y="119"/>
                </a:cxn>
                <a:cxn ang="0">
                  <a:pos x="65" y="125"/>
                </a:cxn>
                <a:cxn ang="0">
                  <a:pos x="48" y="125"/>
                </a:cxn>
                <a:cxn ang="0">
                  <a:pos x="42" y="113"/>
                </a:cxn>
                <a:cxn ang="0">
                  <a:pos x="42" y="107"/>
                </a:cxn>
                <a:cxn ang="0">
                  <a:pos x="71" y="18"/>
                </a:cxn>
                <a:cxn ang="0">
                  <a:pos x="77" y="6"/>
                </a:cxn>
                <a:cxn ang="0">
                  <a:pos x="89" y="6"/>
                </a:cxn>
                <a:cxn ang="0">
                  <a:pos x="89" y="0"/>
                </a:cxn>
              </a:cxnLst>
              <a:rect l="txL" t="txT" r="txR" b="txB"/>
              <a:pathLst>
                <a:path w="125" h="131">
                  <a:moveTo>
                    <a:pt x="89" y="0"/>
                  </a:moveTo>
                  <a:lnTo>
                    <a:pt x="30" y="0"/>
                  </a:lnTo>
                  <a:lnTo>
                    <a:pt x="30" y="6"/>
                  </a:lnTo>
                  <a:lnTo>
                    <a:pt x="42" y="6"/>
                  </a:lnTo>
                  <a:lnTo>
                    <a:pt x="48" y="12"/>
                  </a:lnTo>
                  <a:lnTo>
                    <a:pt x="48" y="18"/>
                  </a:lnTo>
                  <a:lnTo>
                    <a:pt x="48" y="24"/>
                  </a:lnTo>
                  <a:lnTo>
                    <a:pt x="18" y="113"/>
                  </a:lnTo>
                  <a:lnTo>
                    <a:pt x="12" y="125"/>
                  </a:lnTo>
                  <a:lnTo>
                    <a:pt x="0" y="131"/>
                  </a:lnTo>
                  <a:lnTo>
                    <a:pt x="113" y="131"/>
                  </a:lnTo>
                  <a:lnTo>
                    <a:pt x="125" y="95"/>
                  </a:lnTo>
                  <a:lnTo>
                    <a:pt x="119" y="95"/>
                  </a:lnTo>
                  <a:lnTo>
                    <a:pt x="107" y="113"/>
                  </a:lnTo>
                  <a:lnTo>
                    <a:pt x="95" y="119"/>
                  </a:lnTo>
                  <a:lnTo>
                    <a:pt x="65" y="125"/>
                  </a:lnTo>
                  <a:lnTo>
                    <a:pt x="48" y="125"/>
                  </a:lnTo>
                  <a:lnTo>
                    <a:pt x="42" y="113"/>
                  </a:lnTo>
                  <a:lnTo>
                    <a:pt x="42" y="107"/>
                  </a:lnTo>
                  <a:lnTo>
                    <a:pt x="71" y="18"/>
                  </a:lnTo>
                  <a:lnTo>
                    <a:pt x="77" y="6"/>
                  </a:lnTo>
                  <a:lnTo>
                    <a:pt x="89" y="6"/>
                  </a:lnTo>
                  <a:lnTo>
                    <a:pt x="8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01" name="Freeform 24"/>
            <p:cNvSpPr/>
            <p:nvPr/>
          </p:nvSpPr>
          <p:spPr>
            <a:xfrm>
              <a:off x="2458" y="287"/>
              <a:ext cx="72" cy="102"/>
            </a:xfrm>
            <a:custGeom>
              <a:avLst/>
              <a:gdLst>
                <a:gd name="txL" fmla="*/ 0 w 72"/>
                <a:gd name="txT" fmla="*/ 0 h 102"/>
                <a:gd name="txR" fmla="*/ 72 w 72"/>
                <a:gd name="txB" fmla="*/ 102 h 102"/>
              </a:gdLst>
              <a:ahLst/>
              <a:cxnLst>
                <a:cxn ang="0">
                  <a:pos x="72" y="78"/>
                </a:cxn>
                <a:cxn ang="0">
                  <a:pos x="72" y="78"/>
                </a:cxn>
                <a:cxn ang="0">
                  <a:pos x="66" y="90"/>
                </a:cxn>
                <a:cxn ang="0">
                  <a:pos x="54" y="90"/>
                </a:cxn>
                <a:cxn ang="0">
                  <a:pos x="18" y="90"/>
                </a:cxn>
                <a:cxn ang="0">
                  <a:pos x="42" y="60"/>
                </a:cxn>
                <a:cxn ang="0">
                  <a:pos x="54" y="48"/>
                </a:cxn>
                <a:cxn ang="0">
                  <a:pos x="66" y="36"/>
                </a:cxn>
                <a:cxn ang="0">
                  <a:pos x="66" y="24"/>
                </a:cxn>
                <a:cxn ang="0">
                  <a:pos x="66" y="12"/>
                </a:cxn>
                <a:cxn ang="0">
                  <a:pos x="54" y="6"/>
                </a:cxn>
                <a:cxn ang="0">
                  <a:pos x="36" y="0"/>
                </a:cxn>
                <a:cxn ang="0">
                  <a:pos x="12" y="6"/>
                </a:cxn>
                <a:cxn ang="0">
                  <a:pos x="6" y="18"/>
                </a:cxn>
                <a:cxn ang="0">
                  <a:pos x="0" y="30"/>
                </a:cxn>
                <a:cxn ang="0">
                  <a:pos x="0" y="30"/>
                </a:cxn>
                <a:cxn ang="0">
                  <a:pos x="12" y="12"/>
                </a:cxn>
                <a:cxn ang="0">
                  <a:pos x="24" y="6"/>
                </a:cxn>
                <a:cxn ang="0">
                  <a:pos x="36" y="12"/>
                </a:cxn>
                <a:cxn ang="0">
                  <a:pos x="48" y="18"/>
                </a:cxn>
                <a:cxn ang="0">
                  <a:pos x="48" y="30"/>
                </a:cxn>
                <a:cxn ang="0">
                  <a:pos x="42" y="48"/>
                </a:cxn>
                <a:cxn ang="0">
                  <a:pos x="30" y="72"/>
                </a:cxn>
                <a:cxn ang="0">
                  <a:pos x="0" y="96"/>
                </a:cxn>
                <a:cxn ang="0">
                  <a:pos x="0" y="102"/>
                </a:cxn>
                <a:cxn ang="0">
                  <a:pos x="60" y="102"/>
                </a:cxn>
                <a:cxn ang="0">
                  <a:pos x="72" y="78"/>
                </a:cxn>
              </a:cxnLst>
              <a:rect l="txL" t="txT" r="txR" b="txB"/>
              <a:pathLst>
                <a:path w="72" h="102">
                  <a:moveTo>
                    <a:pt x="72" y="78"/>
                  </a:moveTo>
                  <a:lnTo>
                    <a:pt x="72" y="78"/>
                  </a:lnTo>
                  <a:lnTo>
                    <a:pt x="66" y="90"/>
                  </a:lnTo>
                  <a:lnTo>
                    <a:pt x="54" y="90"/>
                  </a:lnTo>
                  <a:lnTo>
                    <a:pt x="18" y="90"/>
                  </a:lnTo>
                  <a:lnTo>
                    <a:pt x="42" y="60"/>
                  </a:lnTo>
                  <a:lnTo>
                    <a:pt x="54" y="48"/>
                  </a:lnTo>
                  <a:lnTo>
                    <a:pt x="66" y="36"/>
                  </a:lnTo>
                  <a:lnTo>
                    <a:pt x="66" y="24"/>
                  </a:lnTo>
                  <a:lnTo>
                    <a:pt x="66" y="12"/>
                  </a:lnTo>
                  <a:lnTo>
                    <a:pt x="54" y="6"/>
                  </a:lnTo>
                  <a:lnTo>
                    <a:pt x="36" y="0"/>
                  </a:lnTo>
                  <a:lnTo>
                    <a:pt x="12" y="6"/>
                  </a:lnTo>
                  <a:lnTo>
                    <a:pt x="6" y="18"/>
                  </a:lnTo>
                  <a:lnTo>
                    <a:pt x="0" y="30"/>
                  </a:lnTo>
                  <a:lnTo>
                    <a:pt x="12" y="12"/>
                  </a:lnTo>
                  <a:lnTo>
                    <a:pt x="24" y="6"/>
                  </a:lnTo>
                  <a:lnTo>
                    <a:pt x="36" y="12"/>
                  </a:lnTo>
                  <a:lnTo>
                    <a:pt x="48" y="18"/>
                  </a:lnTo>
                  <a:lnTo>
                    <a:pt x="48" y="30"/>
                  </a:lnTo>
                  <a:lnTo>
                    <a:pt x="42" y="48"/>
                  </a:lnTo>
                  <a:lnTo>
                    <a:pt x="30" y="72"/>
                  </a:lnTo>
                  <a:lnTo>
                    <a:pt x="0" y="96"/>
                  </a:lnTo>
                  <a:lnTo>
                    <a:pt x="0" y="102"/>
                  </a:lnTo>
                  <a:lnTo>
                    <a:pt x="60" y="102"/>
                  </a:lnTo>
                  <a:lnTo>
                    <a:pt x="72" y="7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02" name="Freeform 25"/>
            <p:cNvSpPr/>
            <p:nvPr/>
          </p:nvSpPr>
          <p:spPr>
            <a:xfrm>
              <a:off x="3003" y="204"/>
              <a:ext cx="125" cy="131"/>
            </a:xfrm>
            <a:custGeom>
              <a:avLst/>
              <a:gdLst>
                <a:gd name="txL" fmla="*/ 0 w 125"/>
                <a:gd name="txT" fmla="*/ 0 h 131"/>
                <a:gd name="txR" fmla="*/ 125 w 125"/>
                <a:gd name="txB" fmla="*/ 131 h 131"/>
              </a:gdLst>
              <a:ahLst/>
              <a:cxnLst>
                <a:cxn ang="0">
                  <a:pos x="89" y="0"/>
                </a:cxn>
                <a:cxn ang="0">
                  <a:pos x="29" y="0"/>
                </a:cxn>
                <a:cxn ang="0">
                  <a:pos x="29" y="6"/>
                </a:cxn>
                <a:cxn ang="0">
                  <a:pos x="41" y="6"/>
                </a:cxn>
                <a:cxn ang="0">
                  <a:pos x="47" y="12"/>
                </a:cxn>
                <a:cxn ang="0">
                  <a:pos x="47" y="18"/>
                </a:cxn>
                <a:cxn ang="0">
                  <a:pos x="47" y="24"/>
                </a:cxn>
                <a:cxn ang="0">
                  <a:pos x="18" y="113"/>
                </a:cxn>
                <a:cxn ang="0">
                  <a:pos x="12" y="125"/>
                </a:cxn>
                <a:cxn ang="0">
                  <a:pos x="0" y="131"/>
                </a:cxn>
                <a:cxn ang="0">
                  <a:pos x="0" y="131"/>
                </a:cxn>
                <a:cxn ang="0">
                  <a:pos x="113" y="131"/>
                </a:cxn>
                <a:cxn ang="0">
                  <a:pos x="125" y="95"/>
                </a:cxn>
                <a:cxn ang="0">
                  <a:pos x="119" y="95"/>
                </a:cxn>
                <a:cxn ang="0">
                  <a:pos x="107" y="113"/>
                </a:cxn>
                <a:cxn ang="0">
                  <a:pos x="95" y="119"/>
                </a:cxn>
                <a:cxn ang="0">
                  <a:pos x="65" y="125"/>
                </a:cxn>
                <a:cxn ang="0">
                  <a:pos x="47" y="125"/>
                </a:cxn>
                <a:cxn ang="0">
                  <a:pos x="41" y="113"/>
                </a:cxn>
                <a:cxn ang="0">
                  <a:pos x="41" y="107"/>
                </a:cxn>
                <a:cxn ang="0">
                  <a:pos x="71" y="18"/>
                </a:cxn>
                <a:cxn ang="0">
                  <a:pos x="77" y="6"/>
                </a:cxn>
                <a:cxn ang="0">
                  <a:pos x="89" y="6"/>
                </a:cxn>
                <a:cxn ang="0">
                  <a:pos x="89" y="0"/>
                </a:cxn>
              </a:cxnLst>
              <a:rect l="txL" t="txT" r="txR" b="txB"/>
              <a:pathLst>
                <a:path w="125" h="131">
                  <a:moveTo>
                    <a:pt x="89" y="0"/>
                  </a:moveTo>
                  <a:lnTo>
                    <a:pt x="29" y="0"/>
                  </a:lnTo>
                  <a:lnTo>
                    <a:pt x="29" y="6"/>
                  </a:lnTo>
                  <a:lnTo>
                    <a:pt x="41" y="6"/>
                  </a:lnTo>
                  <a:lnTo>
                    <a:pt x="47" y="12"/>
                  </a:lnTo>
                  <a:lnTo>
                    <a:pt x="47" y="18"/>
                  </a:lnTo>
                  <a:lnTo>
                    <a:pt x="47" y="24"/>
                  </a:lnTo>
                  <a:lnTo>
                    <a:pt x="18" y="113"/>
                  </a:lnTo>
                  <a:lnTo>
                    <a:pt x="12" y="125"/>
                  </a:lnTo>
                  <a:lnTo>
                    <a:pt x="0" y="131"/>
                  </a:lnTo>
                  <a:lnTo>
                    <a:pt x="113" y="131"/>
                  </a:lnTo>
                  <a:lnTo>
                    <a:pt x="125" y="95"/>
                  </a:lnTo>
                  <a:lnTo>
                    <a:pt x="119" y="95"/>
                  </a:lnTo>
                  <a:lnTo>
                    <a:pt x="107" y="113"/>
                  </a:lnTo>
                  <a:lnTo>
                    <a:pt x="95" y="119"/>
                  </a:lnTo>
                  <a:lnTo>
                    <a:pt x="65" y="125"/>
                  </a:lnTo>
                  <a:lnTo>
                    <a:pt x="47" y="125"/>
                  </a:lnTo>
                  <a:lnTo>
                    <a:pt x="41" y="113"/>
                  </a:lnTo>
                  <a:lnTo>
                    <a:pt x="41" y="107"/>
                  </a:lnTo>
                  <a:lnTo>
                    <a:pt x="71" y="18"/>
                  </a:lnTo>
                  <a:lnTo>
                    <a:pt x="77" y="6"/>
                  </a:lnTo>
                  <a:lnTo>
                    <a:pt x="89" y="6"/>
                  </a:lnTo>
                  <a:lnTo>
                    <a:pt x="8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03" name="Freeform 26"/>
            <p:cNvSpPr/>
            <p:nvPr/>
          </p:nvSpPr>
          <p:spPr>
            <a:xfrm>
              <a:off x="3146" y="287"/>
              <a:ext cx="66" cy="102"/>
            </a:xfrm>
            <a:custGeom>
              <a:avLst/>
              <a:gdLst>
                <a:gd name="txL" fmla="*/ 0 w 66"/>
                <a:gd name="txT" fmla="*/ 0 h 102"/>
                <a:gd name="txR" fmla="*/ 66 w 66"/>
                <a:gd name="txB" fmla="*/ 102 h 102"/>
              </a:gdLst>
              <a:ahLst/>
              <a:cxnLst>
                <a:cxn ang="0">
                  <a:pos x="18" y="48"/>
                </a:cxn>
                <a:cxn ang="0">
                  <a:pos x="30" y="48"/>
                </a:cxn>
                <a:cxn ang="0">
                  <a:pos x="42" y="54"/>
                </a:cxn>
                <a:cxn ang="0">
                  <a:pos x="48" y="66"/>
                </a:cxn>
                <a:cxn ang="0">
                  <a:pos x="54" y="72"/>
                </a:cxn>
                <a:cxn ang="0">
                  <a:pos x="48" y="90"/>
                </a:cxn>
                <a:cxn ang="0">
                  <a:pos x="30" y="96"/>
                </a:cxn>
                <a:cxn ang="0">
                  <a:pos x="18" y="96"/>
                </a:cxn>
                <a:cxn ang="0">
                  <a:pos x="6" y="90"/>
                </a:cxn>
                <a:cxn ang="0">
                  <a:pos x="6" y="90"/>
                </a:cxn>
                <a:cxn ang="0">
                  <a:pos x="0" y="96"/>
                </a:cxn>
                <a:cxn ang="0">
                  <a:pos x="6" y="102"/>
                </a:cxn>
                <a:cxn ang="0">
                  <a:pos x="18" y="102"/>
                </a:cxn>
                <a:cxn ang="0">
                  <a:pos x="54" y="96"/>
                </a:cxn>
                <a:cxn ang="0">
                  <a:pos x="60" y="84"/>
                </a:cxn>
                <a:cxn ang="0">
                  <a:pos x="66" y="66"/>
                </a:cxn>
                <a:cxn ang="0">
                  <a:pos x="66" y="54"/>
                </a:cxn>
                <a:cxn ang="0">
                  <a:pos x="54" y="48"/>
                </a:cxn>
                <a:cxn ang="0">
                  <a:pos x="42" y="42"/>
                </a:cxn>
                <a:cxn ang="0">
                  <a:pos x="54" y="30"/>
                </a:cxn>
                <a:cxn ang="0">
                  <a:pos x="60" y="18"/>
                </a:cxn>
                <a:cxn ang="0">
                  <a:pos x="54" y="6"/>
                </a:cxn>
                <a:cxn ang="0">
                  <a:pos x="48" y="0"/>
                </a:cxn>
                <a:cxn ang="0">
                  <a:pos x="30" y="0"/>
                </a:cxn>
                <a:cxn ang="0">
                  <a:pos x="18" y="6"/>
                </a:cxn>
                <a:cxn ang="0">
                  <a:pos x="6" y="12"/>
                </a:cxn>
                <a:cxn ang="0">
                  <a:pos x="0" y="24"/>
                </a:cxn>
                <a:cxn ang="0">
                  <a:pos x="0" y="24"/>
                </a:cxn>
                <a:cxn ang="0">
                  <a:pos x="12" y="12"/>
                </a:cxn>
                <a:cxn ang="0">
                  <a:pos x="30" y="6"/>
                </a:cxn>
                <a:cxn ang="0">
                  <a:pos x="42" y="12"/>
                </a:cxn>
                <a:cxn ang="0">
                  <a:pos x="48" y="24"/>
                </a:cxn>
                <a:cxn ang="0">
                  <a:pos x="48" y="30"/>
                </a:cxn>
                <a:cxn ang="0">
                  <a:pos x="36" y="36"/>
                </a:cxn>
                <a:cxn ang="0">
                  <a:pos x="18" y="48"/>
                </a:cxn>
                <a:cxn ang="0">
                  <a:pos x="18" y="48"/>
                </a:cxn>
              </a:cxnLst>
              <a:rect l="txL" t="txT" r="txR" b="txB"/>
              <a:pathLst>
                <a:path w="66" h="102">
                  <a:moveTo>
                    <a:pt x="18" y="48"/>
                  </a:moveTo>
                  <a:lnTo>
                    <a:pt x="30" y="48"/>
                  </a:lnTo>
                  <a:lnTo>
                    <a:pt x="42" y="54"/>
                  </a:lnTo>
                  <a:lnTo>
                    <a:pt x="48" y="66"/>
                  </a:lnTo>
                  <a:lnTo>
                    <a:pt x="54" y="72"/>
                  </a:lnTo>
                  <a:lnTo>
                    <a:pt x="48" y="90"/>
                  </a:lnTo>
                  <a:lnTo>
                    <a:pt x="30" y="96"/>
                  </a:lnTo>
                  <a:lnTo>
                    <a:pt x="18" y="96"/>
                  </a:lnTo>
                  <a:lnTo>
                    <a:pt x="6" y="90"/>
                  </a:lnTo>
                  <a:lnTo>
                    <a:pt x="0" y="96"/>
                  </a:lnTo>
                  <a:lnTo>
                    <a:pt x="6" y="102"/>
                  </a:lnTo>
                  <a:lnTo>
                    <a:pt x="18" y="102"/>
                  </a:lnTo>
                  <a:lnTo>
                    <a:pt x="54" y="96"/>
                  </a:lnTo>
                  <a:lnTo>
                    <a:pt x="60" y="84"/>
                  </a:lnTo>
                  <a:lnTo>
                    <a:pt x="66" y="66"/>
                  </a:lnTo>
                  <a:lnTo>
                    <a:pt x="66" y="54"/>
                  </a:lnTo>
                  <a:lnTo>
                    <a:pt x="54" y="48"/>
                  </a:lnTo>
                  <a:lnTo>
                    <a:pt x="42" y="42"/>
                  </a:lnTo>
                  <a:lnTo>
                    <a:pt x="54" y="30"/>
                  </a:lnTo>
                  <a:lnTo>
                    <a:pt x="60" y="18"/>
                  </a:lnTo>
                  <a:lnTo>
                    <a:pt x="54" y="6"/>
                  </a:lnTo>
                  <a:lnTo>
                    <a:pt x="48" y="0"/>
                  </a:lnTo>
                  <a:lnTo>
                    <a:pt x="30" y="0"/>
                  </a:lnTo>
                  <a:lnTo>
                    <a:pt x="18" y="6"/>
                  </a:lnTo>
                  <a:lnTo>
                    <a:pt x="6" y="12"/>
                  </a:lnTo>
                  <a:lnTo>
                    <a:pt x="0" y="24"/>
                  </a:lnTo>
                  <a:lnTo>
                    <a:pt x="12" y="12"/>
                  </a:lnTo>
                  <a:lnTo>
                    <a:pt x="30" y="6"/>
                  </a:lnTo>
                  <a:lnTo>
                    <a:pt x="42" y="12"/>
                  </a:lnTo>
                  <a:lnTo>
                    <a:pt x="48" y="24"/>
                  </a:lnTo>
                  <a:lnTo>
                    <a:pt x="48" y="30"/>
                  </a:lnTo>
                  <a:lnTo>
                    <a:pt x="36" y="36"/>
                  </a:lnTo>
                  <a:lnTo>
                    <a:pt x="1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04" name="Freeform 27"/>
            <p:cNvSpPr/>
            <p:nvPr/>
          </p:nvSpPr>
          <p:spPr>
            <a:xfrm>
              <a:off x="4301" y="204"/>
              <a:ext cx="125" cy="131"/>
            </a:xfrm>
            <a:custGeom>
              <a:avLst/>
              <a:gdLst>
                <a:gd name="txL" fmla="*/ 0 w 125"/>
                <a:gd name="txT" fmla="*/ 0 h 131"/>
                <a:gd name="txR" fmla="*/ 125 w 125"/>
                <a:gd name="txB" fmla="*/ 131 h 131"/>
              </a:gdLst>
              <a:ahLst/>
              <a:cxnLst>
                <a:cxn ang="0">
                  <a:pos x="89" y="0"/>
                </a:cxn>
                <a:cxn ang="0">
                  <a:pos x="29" y="0"/>
                </a:cxn>
                <a:cxn ang="0">
                  <a:pos x="29" y="6"/>
                </a:cxn>
                <a:cxn ang="0">
                  <a:pos x="41" y="6"/>
                </a:cxn>
                <a:cxn ang="0">
                  <a:pos x="47" y="12"/>
                </a:cxn>
                <a:cxn ang="0">
                  <a:pos x="47" y="18"/>
                </a:cxn>
                <a:cxn ang="0">
                  <a:pos x="47" y="24"/>
                </a:cxn>
                <a:cxn ang="0">
                  <a:pos x="17" y="113"/>
                </a:cxn>
                <a:cxn ang="0">
                  <a:pos x="11" y="125"/>
                </a:cxn>
                <a:cxn ang="0">
                  <a:pos x="0" y="131"/>
                </a:cxn>
                <a:cxn ang="0">
                  <a:pos x="0" y="131"/>
                </a:cxn>
                <a:cxn ang="0">
                  <a:pos x="113" y="131"/>
                </a:cxn>
                <a:cxn ang="0">
                  <a:pos x="125" y="95"/>
                </a:cxn>
                <a:cxn ang="0">
                  <a:pos x="119" y="95"/>
                </a:cxn>
                <a:cxn ang="0">
                  <a:pos x="107" y="113"/>
                </a:cxn>
                <a:cxn ang="0">
                  <a:pos x="95" y="119"/>
                </a:cxn>
                <a:cxn ang="0">
                  <a:pos x="59" y="125"/>
                </a:cxn>
                <a:cxn ang="0">
                  <a:pos x="41" y="125"/>
                </a:cxn>
                <a:cxn ang="0">
                  <a:pos x="41" y="119"/>
                </a:cxn>
                <a:cxn ang="0">
                  <a:pos x="41" y="113"/>
                </a:cxn>
                <a:cxn ang="0">
                  <a:pos x="41" y="107"/>
                </a:cxn>
                <a:cxn ang="0">
                  <a:pos x="65" y="18"/>
                </a:cxn>
                <a:cxn ang="0">
                  <a:pos x="77" y="6"/>
                </a:cxn>
                <a:cxn ang="0">
                  <a:pos x="89" y="6"/>
                </a:cxn>
                <a:cxn ang="0">
                  <a:pos x="89" y="0"/>
                </a:cxn>
              </a:cxnLst>
              <a:rect l="txL" t="txT" r="txR" b="txB"/>
              <a:pathLst>
                <a:path w="125" h="131">
                  <a:moveTo>
                    <a:pt x="89" y="0"/>
                  </a:moveTo>
                  <a:lnTo>
                    <a:pt x="29" y="0"/>
                  </a:lnTo>
                  <a:lnTo>
                    <a:pt x="29" y="6"/>
                  </a:lnTo>
                  <a:lnTo>
                    <a:pt x="41" y="6"/>
                  </a:lnTo>
                  <a:lnTo>
                    <a:pt x="47" y="12"/>
                  </a:lnTo>
                  <a:lnTo>
                    <a:pt x="47" y="18"/>
                  </a:lnTo>
                  <a:lnTo>
                    <a:pt x="47" y="24"/>
                  </a:lnTo>
                  <a:lnTo>
                    <a:pt x="17" y="113"/>
                  </a:lnTo>
                  <a:lnTo>
                    <a:pt x="11" y="125"/>
                  </a:lnTo>
                  <a:lnTo>
                    <a:pt x="0" y="131"/>
                  </a:lnTo>
                  <a:lnTo>
                    <a:pt x="113" y="131"/>
                  </a:lnTo>
                  <a:lnTo>
                    <a:pt x="125" y="95"/>
                  </a:lnTo>
                  <a:lnTo>
                    <a:pt x="119" y="95"/>
                  </a:lnTo>
                  <a:lnTo>
                    <a:pt x="107" y="113"/>
                  </a:lnTo>
                  <a:lnTo>
                    <a:pt x="95" y="119"/>
                  </a:lnTo>
                  <a:lnTo>
                    <a:pt x="59" y="125"/>
                  </a:lnTo>
                  <a:lnTo>
                    <a:pt x="41" y="125"/>
                  </a:lnTo>
                  <a:lnTo>
                    <a:pt x="41" y="119"/>
                  </a:lnTo>
                  <a:lnTo>
                    <a:pt x="41" y="113"/>
                  </a:lnTo>
                  <a:lnTo>
                    <a:pt x="41" y="107"/>
                  </a:lnTo>
                  <a:lnTo>
                    <a:pt x="65" y="18"/>
                  </a:lnTo>
                  <a:lnTo>
                    <a:pt x="77" y="6"/>
                  </a:lnTo>
                  <a:lnTo>
                    <a:pt x="89" y="6"/>
                  </a:lnTo>
                  <a:lnTo>
                    <a:pt x="8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05" name="Freeform 28"/>
            <p:cNvSpPr/>
            <p:nvPr/>
          </p:nvSpPr>
          <p:spPr>
            <a:xfrm>
              <a:off x="4426" y="287"/>
              <a:ext cx="126" cy="102"/>
            </a:xfrm>
            <a:custGeom>
              <a:avLst/>
              <a:gdLst>
                <a:gd name="txL" fmla="*/ 0 w 126"/>
                <a:gd name="txT" fmla="*/ 0 h 102"/>
                <a:gd name="txR" fmla="*/ 126 w 126"/>
                <a:gd name="txB" fmla="*/ 102 h 102"/>
              </a:gdLst>
              <a:ahLst/>
              <a:cxnLst>
                <a:cxn ang="0">
                  <a:pos x="126" y="0"/>
                </a:cxn>
                <a:cxn ang="0">
                  <a:pos x="90" y="0"/>
                </a:cxn>
                <a:cxn ang="0">
                  <a:pos x="90" y="6"/>
                </a:cxn>
                <a:cxn ang="0">
                  <a:pos x="102" y="6"/>
                </a:cxn>
                <a:cxn ang="0">
                  <a:pos x="102" y="12"/>
                </a:cxn>
                <a:cxn ang="0">
                  <a:pos x="102" y="18"/>
                </a:cxn>
                <a:cxn ang="0">
                  <a:pos x="102" y="18"/>
                </a:cxn>
                <a:cxn ang="0">
                  <a:pos x="84" y="78"/>
                </a:cxn>
                <a:cxn ang="0">
                  <a:pos x="84" y="78"/>
                </a:cxn>
                <a:cxn ang="0">
                  <a:pos x="48" y="0"/>
                </a:cxn>
                <a:cxn ang="0">
                  <a:pos x="24" y="0"/>
                </a:cxn>
                <a:cxn ang="0">
                  <a:pos x="24" y="6"/>
                </a:cxn>
                <a:cxn ang="0">
                  <a:pos x="30" y="6"/>
                </a:cxn>
                <a:cxn ang="0">
                  <a:pos x="36" y="12"/>
                </a:cxn>
                <a:cxn ang="0">
                  <a:pos x="18" y="78"/>
                </a:cxn>
                <a:cxn ang="0">
                  <a:pos x="12" y="90"/>
                </a:cxn>
                <a:cxn ang="0">
                  <a:pos x="12" y="96"/>
                </a:cxn>
                <a:cxn ang="0">
                  <a:pos x="0" y="96"/>
                </a:cxn>
                <a:cxn ang="0">
                  <a:pos x="0" y="102"/>
                </a:cxn>
                <a:cxn ang="0">
                  <a:pos x="30" y="102"/>
                </a:cxn>
                <a:cxn ang="0">
                  <a:pos x="30" y="96"/>
                </a:cxn>
                <a:cxn ang="0">
                  <a:pos x="30" y="96"/>
                </a:cxn>
                <a:cxn ang="0">
                  <a:pos x="24" y="90"/>
                </a:cxn>
                <a:cxn ang="0">
                  <a:pos x="24" y="90"/>
                </a:cxn>
                <a:cxn ang="0">
                  <a:pos x="24" y="84"/>
                </a:cxn>
                <a:cxn ang="0">
                  <a:pos x="42" y="18"/>
                </a:cxn>
                <a:cxn ang="0">
                  <a:pos x="42" y="18"/>
                </a:cxn>
                <a:cxn ang="0">
                  <a:pos x="78" y="102"/>
                </a:cxn>
                <a:cxn ang="0">
                  <a:pos x="84" y="102"/>
                </a:cxn>
                <a:cxn ang="0">
                  <a:pos x="108" y="24"/>
                </a:cxn>
                <a:cxn ang="0">
                  <a:pos x="114" y="12"/>
                </a:cxn>
                <a:cxn ang="0">
                  <a:pos x="114" y="6"/>
                </a:cxn>
                <a:cxn ang="0">
                  <a:pos x="126" y="6"/>
                </a:cxn>
                <a:cxn ang="0">
                  <a:pos x="126" y="0"/>
                </a:cxn>
              </a:cxnLst>
              <a:rect l="txL" t="txT" r="txR" b="txB"/>
              <a:pathLst>
                <a:path w="126" h="102">
                  <a:moveTo>
                    <a:pt x="126" y="0"/>
                  </a:moveTo>
                  <a:lnTo>
                    <a:pt x="90" y="0"/>
                  </a:lnTo>
                  <a:lnTo>
                    <a:pt x="90" y="6"/>
                  </a:lnTo>
                  <a:lnTo>
                    <a:pt x="102" y="6"/>
                  </a:lnTo>
                  <a:lnTo>
                    <a:pt x="102" y="12"/>
                  </a:lnTo>
                  <a:lnTo>
                    <a:pt x="102" y="18"/>
                  </a:lnTo>
                  <a:lnTo>
                    <a:pt x="84" y="78"/>
                  </a:lnTo>
                  <a:lnTo>
                    <a:pt x="48" y="0"/>
                  </a:lnTo>
                  <a:lnTo>
                    <a:pt x="24" y="0"/>
                  </a:lnTo>
                  <a:lnTo>
                    <a:pt x="24" y="6"/>
                  </a:lnTo>
                  <a:lnTo>
                    <a:pt x="30" y="6"/>
                  </a:lnTo>
                  <a:lnTo>
                    <a:pt x="36" y="12"/>
                  </a:lnTo>
                  <a:lnTo>
                    <a:pt x="18" y="78"/>
                  </a:lnTo>
                  <a:lnTo>
                    <a:pt x="12" y="90"/>
                  </a:lnTo>
                  <a:lnTo>
                    <a:pt x="12" y="96"/>
                  </a:lnTo>
                  <a:lnTo>
                    <a:pt x="0" y="96"/>
                  </a:lnTo>
                  <a:lnTo>
                    <a:pt x="0" y="102"/>
                  </a:lnTo>
                  <a:lnTo>
                    <a:pt x="30" y="102"/>
                  </a:lnTo>
                  <a:lnTo>
                    <a:pt x="30" y="96"/>
                  </a:lnTo>
                  <a:lnTo>
                    <a:pt x="24" y="90"/>
                  </a:lnTo>
                  <a:lnTo>
                    <a:pt x="24" y="84"/>
                  </a:lnTo>
                  <a:lnTo>
                    <a:pt x="42" y="18"/>
                  </a:lnTo>
                  <a:lnTo>
                    <a:pt x="78" y="102"/>
                  </a:lnTo>
                  <a:lnTo>
                    <a:pt x="84" y="102"/>
                  </a:lnTo>
                  <a:lnTo>
                    <a:pt x="108" y="24"/>
                  </a:lnTo>
                  <a:lnTo>
                    <a:pt x="114" y="12"/>
                  </a:lnTo>
                  <a:lnTo>
                    <a:pt x="114" y="6"/>
                  </a:lnTo>
                  <a:lnTo>
                    <a:pt x="126" y="6"/>
                  </a:lnTo>
                  <a:lnTo>
                    <a:pt x="12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06" name="Freeform 29"/>
            <p:cNvSpPr/>
            <p:nvPr/>
          </p:nvSpPr>
          <p:spPr>
            <a:xfrm>
              <a:off x="1065" y="443"/>
              <a:ext cx="269" cy="1"/>
            </a:xfrm>
            <a:custGeom>
              <a:avLst/>
              <a:gdLst>
                <a:gd name="txL" fmla="*/ 0 w 269"/>
                <a:gd name="txT" fmla="*/ 0 h 1"/>
                <a:gd name="txR" fmla="*/ 269 w 269"/>
                <a:gd name="txB" fmla="*/ 1 h 1"/>
              </a:gdLst>
              <a:ahLst/>
              <a:cxnLst>
                <a:cxn ang="0">
                  <a:pos x="0" y="0"/>
                </a:cxn>
                <a:cxn ang="0">
                  <a:pos x="269" y="0"/>
                </a:cxn>
                <a:cxn ang="0">
                  <a:pos x="0" y="0"/>
                </a:cxn>
                <a:cxn ang="0">
                  <a:pos x="0" y="0"/>
                </a:cxn>
              </a:cxnLst>
              <a:rect l="txL" t="txT" r="txR" b="txB"/>
              <a:pathLst>
                <a:path w="269" h="1">
                  <a:moveTo>
                    <a:pt x="0" y="0"/>
                  </a:moveTo>
                  <a:lnTo>
                    <a:pt x="269"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07" name="Freeform 30"/>
            <p:cNvSpPr/>
            <p:nvPr/>
          </p:nvSpPr>
          <p:spPr>
            <a:xfrm>
              <a:off x="1304" y="401"/>
              <a:ext cx="167" cy="83"/>
            </a:xfrm>
            <a:custGeom>
              <a:avLst/>
              <a:gdLst>
                <a:gd name="txL" fmla="*/ 0 w 167"/>
                <a:gd name="txT" fmla="*/ 0 h 83"/>
                <a:gd name="txR" fmla="*/ 167 w 167"/>
                <a:gd name="txB" fmla="*/ 83 h 83"/>
              </a:gdLst>
              <a:ahLst/>
              <a:cxnLst>
                <a:cxn ang="0">
                  <a:pos x="0" y="83"/>
                </a:cxn>
                <a:cxn ang="0">
                  <a:pos x="167" y="42"/>
                </a:cxn>
                <a:cxn ang="0">
                  <a:pos x="0" y="0"/>
                </a:cxn>
                <a:cxn ang="0">
                  <a:pos x="0" y="83"/>
                </a:cxn>
                <a:cxn ang="0">
                  <a:pos x="0" y="83"/>
                </a:cxn>
              </a:cxnLst>
              <a:rect l="txL" t="txT" r="txR" b="txB"/>
              <a:pathLst>
                <a:path w="167" h="83">
                  <a:moveTo>
                    <a:pt x="0" y="83"/>
                  </a:moveTo>
                  <a:lnTo>
                    <a:pt x="167" y="42"/>
                  </a:lnTo>
                  <a:lnTo>
                    <a:pt x="0" y="0"/>
                  </a:lnTo>
                  <a:lnTo>
                    <a:pt x="0" y="83"/>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08" name="Freeform 31"/>
            <p:cNvSpPr>
              <a:spLocks noEditPoints="1"/>
            </p:cNvSpPr>
            <p:nvPr/>
          </p:nvSpPr>
          <p:spPr>
            <a:xfrm>
              <a:off x="1232" y="198"/>
              <a:ext cx="48" cy="137"/>
            </a:xfrm>
            <a:custGeom>
              <a:avLst/>
              <a:gdLst>
                <a:gd name="txL" fmla="*/ 0 w 48"/>
                <a:gd name="txT" fmla="*/ 0 h 137"/>
                <a:gd name="txR" fmla="*/ 48 w 48"/>
                <a:gd name="txB" fmla="*/ 137 h 137"/>
              </a:gdLst>
              <a:ahLst/>
              <a:cxnLst>
                <a:cxn ang="0">
                  <a:pos x="36" y="113"/>
                </a:cxn>
                <a:cxn ang="0">
                  <a:pos x="30" y="125"/>
                </a:cxn>
                <a:cxn ang="0">
                  <a:pos x="18" y="125"/>
                </a:cxn>
                <a:cxn ang="0">
                  <a:pos x="18" y="125"/>
                </a:cxn>
                <a:cxn ang="0">
                  <a:pos x="18" y="119"/>
                </a:cxn>
                <a:cxn ang="0">
                  <a:pos x="18" y="113"/>
                </a:cxn>
                <a:cxn ang="0">
                  <a:pos x="36" y="48"/>
                </a:cxn>
                <a:cxn ang="0">
                  <a:pos x="36" y="48"/>
                </a:cxn>
                <a:cxn ang="0">
                  <a:pos x="18" y="48"/>
                </a:cxn>
                <a:cxn ang="0">
                  <a:pos x="0" y="48"/>
                </a:cxn>
                <a:cxn ang="0">
                  <a:pos x="0" y="54"/>
                </a:cxn>
                <a:cxn ang="0">
                  <a:pos x="12" y="54"/>
                </a:cxn>
                <a:cxn ang="0">
                  <a:pos x="18" y="60"/>
                </a:cxn>
                <a:cxn ang="0">
                  <a:pos x="18" y="71"/>
                </a:cxn>
                <a:cxn ang="0">
                  <a:pos x="12" y="89"/>
                </a:cxn>
                <a:cxn ang="0">
                  <a:pos x="6" y="113"/>
                </a:cxn>
                <a:cxn ang="0">
                  <a:pos x="0" y="125"/>
                </a:cxn>
                <a:cxn ang="0">
                  <a:pos x="0" y="131"/>
                </a:cxn>
                <a:cxn ang="0">
                  <a:pos x="6" y="137"/>
                </a:cxn>
                <a:cxn ang="0">
                  <a:pos x="24" y="131"/>
                </a:cxn>
                <a:cxn ang="0">
                  <a:pos x="42" y="113"/>
                </a:cxn>
                <a:cxn ang="0">
                  <a:pos x="36" y="113"/>
                </a:cxn>
                <a:cxn ang="0">
                  <a:pos x="48" y="12"/>
                </a:cxn>
                <a:cxn ang="0">
                  <a:pos x="42" y="6"/>
                </a:cxn>
                <a:cxn ang="0">
                  <a:pos x="36" y="0"/>
                </a:cxn>
                <a:cxn ang="0">
                  <a:pos x="30" y="6"/>
                </a:cxn>
                <a:cxn ang="0">
                  <a:pos x="24" y="12"/>
                </a:cxn>
                <a:cxn ang="0">
                  <a:pos x="30" y="18"/>
                </a:cxn>
                <a:cxn ang="0">
                  <a:pos x="36" y="24"/>
                </a:cxn>
                <a:cxn ang="0">
                  <a:pos x="42" y="18"/>
                </a:cxn>
                <a:cxn ang="0">
                  <a:pos x="48" y="12"/>
                </a:cxn>
                <a:cxn ang="0">
                  <a:pos x="48" y="12"/>
                </a:cxn>
              </a:cxnLst>
              <a:rect l="txL" t="txT" r="txR" b="txB"/>
              <a:pathLst>
                <a:path w="48" h="137">
                  <a:moveTo>
                    <a:pt x="36" y="113"/>
                  </a:moveTo>
                  <a:lnTo>
                    <a:pt x="30" y="125"/>
                  </a:lnTo>
                  <a:lnTo>
                    <a:pt x="18" y="125"/>
                  </a:lnTo>
                  <a:lnTo>
                    <a:pt x="18" y="119"/>
                  </a:lnTo>
                  <a:lnTo>
                    <a:pt x="18" y="113"/>
                  </a:lnTo>
                  <a:lnTo>
                    <a:pt x="36" y="48"/>
                  </a:lnTo>
                  <a:lnTo>
                    <a:pt x="18" y="48"/>
                  </a:lnTo>
                  <a:lnTo>
                    <a:pt x="0" y="48"/>
                  </a:lnTo>
                  <a:lnTo>
                    <a:pt x="0" y="54"/>
                  </a:lnTo>
                  <a:lnTo>
                    <a:pt x="12" y="54"/>
                  </a:lnTo>
                  <a:lnTo>
                    <a:pt x="18" y="60"/>
                  </a:lnTo>
                  <a:lnTo>
                    <a:pt x="18" y="71"/>
                  </a:lnTo>
                  <a:lnTo>
                    <a:pt x="12" y="89"/>
                  </a:lnTo>
                  <a:lnTo>
                    <a:pt x="6" y="113"/>
                  </a:lnTo>
                  <a:lnTo>
                    <a:pt x="0" y="125"/>
                  </a:lnTo>
                  <a:lnTo>
                    <a:pt x="0" y="131"/>
                  </a:lnTo>
                  <a:lnTo>
                    <a:pt x="6" y="137"/>
                  </a:lnTo>
                  <a:lnTo>
                    <a:pt x="24" y="131"/>
                  </a:lnTo>
                  <a:lnTo>
                    <a:pt x="42" y="113"/>
                  </a:lnTo>
                  <a:lnTo>
                    <a:pt x="36" y="113"/>
                  </a:lnTo>
                  <a:close/>
                  <a:moveTo>
                    <a:pt x="48" y="12"/>
                  </a:moveTo>
                  <a:lnTo>
                    <a:pt x="42" y="6"/>
                  </a:lnTo>
                  <a:lnTo>
                    <a:pt x="36" y="0"/>
                  </a:lnTo>
                  <a:lnTo>
                    <a:pt x="30" y="6"/>
                  </a:lnTo>
                  <a:lnTo>
                    <a:pt x="24" y="12"/>
                  </a:lnTo>
                  <a:lnTo>
                    <a:pt x="30" y="18"/>
                  </a:lnTo>
                  <a:lnTo>
                    <a:pt x="36" y="24"/>
                  </a:lnTo>
                  <a:lnTo>
                    <a:pt x="42" y="18"/>
                  </a:lnTo>
                  <a:lnTo>
                    <a:pt x="48"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09" name="Freeform 32"/>
            <p:cNvSpPr/>
            <p:nvPr/>
          </p:nvSpPr>
          <p:spPr>
            <a:xfrm>
              <a:off x="999" y="1070"/>
              <a:ext cx="84" cy="89"/>
            </a:xfrm>
            <a:custGeom>
              <a:avLst/>
              <a:gdLst>
                <a:gd name="txL" fmla="*/ 0 w 84"/>
                <a:gd name="txT" fmla="*/ 0 h 89"/>
                <a:gd name="txR" fmla="*/ 84 w 84"/>
                <a:gd name="txB" fmla="*/ 89 h 89"/>
              </a:gdLst>
              <a:ahLst/>
              <a:cxnLst>
                <a:cxn ang="0">
                  <a:pos x="0" y="6"/>
                </a:cxn>
                <a:cxn ang="0">
                  <a:pos x="12" y="6"/>
                </a:cxn>
                <a:cxn ang="0">
                  <a:pos x="18" y="12"/>
                </a:cxn>
                <a:cxn ang="0">
                  <a:pos x="18" y="24"/>
                </a:cxn>
                <a:cxn ang="0">
                  <a:pos x="24" y="35"/>
                </a:cxn>
                <a:cxn ang="0">
                  <a:pos x="24" y="53"/>
                </a:cxn>
                <a:cxn ang="0">
                  <a:pos x="24" y="83"/>
                </a:cxn>
                <a:cxn ang="0">
                  <a:pos x="24" y="89"/>
                </a:cxn>
                <a:cxn ang="0">
                  <a:pos x="30" y="89"/>
                </a:cxn>
                <a:cxn ang="0">
                  <a:pos x="36" y="83"/>
                </a:cxn>
                <a:cxn ang="0">
                  <a:pos x="48" y="71"/>
                </a:cxn>
                <a:cxn ang="0">
                  <a:pos x="54" y="59"/>
                </a:cxn>
                <a:cxn ang="0">
                  <a:pos x="66" y="47"/>
                </a:cxn>
                <a:cxn ang="0">
                  <a:pos x="78" y="30"/>
                </a:cxn>
                <a:cxn ang="0">
                  <a:pos x="84" y="12"/>
                </a:cxn>
                <a:cxn ang="0">
                  <a:pos x="78" y="6"/>
                </a:cxn>
                <a:cxn ang="0">
                  <a:pos x="72" y="0"/>
                </a:cxn>
                <a:cxn ang="0">
                  <a:pos x="72" y="6"/>
                </a:cxn>
                <a:cxn ang="0">
                  <a:pos x="66" y="6"/>
                </a:cxn>
                <a:cxn ang="0">
                  <a:pos x="66" y="12"/>
                </a:cxn>
                <a:cxn ang="0">
                  <a:pos x="72" y="18"/>
                </a:cxn>
                <a:cxn ang="0">
                  <a:pos x="78" y="18"/>
                </a:cxn>
                <a:cxn ang="0">
                  <a:pos x="78" y="24"/>
                </a:cxn>
                <a:cxn ang="0">
                  <a:pos x="78" y="30"/>
                </a:cxn>
                <a:cxn ang="0">
                  <a:pos x="66" y="41"/>
                </a:cxn>
                <a:cxn ang="0">
                  <a:pos x="48" y="65"/>
                </a:cxn>
                <a:cxn ang="0">
                  <a:pos x="42" y="71"/>
                </a:cxn>
                <a:cxn ang="0">
                  <a:pos x="36" y="41"/>
                </a:cxn>
                <a:cxn ang="0">
                  <a:pos x="30" y="6"/>
                </a:cxn>
                <a:cxn ang="0">
                  <a:pos x="30" y="0"/>
                </a:cxn>
                <a:cxn ang="0">
                  <a:pos x="30" y="0"/>
                </a:cxn>
                <a:cxn ang="0">
                  <a:pos x="18" y="6"/>
                </a:cxn>
                <a:cxn ang="0">
                  <a:pos x="0" y="6"/>
                </a:cxn>
                <a:cxn ang="0">
                  <a:pos x="0" y="6"/>
                </a:cxn>
              </a:cxnLst>
              <a:rect l="txL" t="txT" r="txR" b="txB"/>
              <a:pathLst>
                <a:path w="84" h="89">
                  <a:moveTo>
                    <a:pt x="0" y="6"/>
                  </a:moveTo>
                  <a:lnTo>
                    <a:pt x="12" y="6"/>
                  </a:lnTo>
                  <a:lnTo>
                    <a:pt x="18" y="12"/>
                  </a:lnTo>
                  <a:lnTo>
                    <a:pt x="18" y="24"/>
                  </a:lnTo>
                  <a:lnTo>
                    <a:pt x="24" y="35"/>
                  </a:lnTo>
                  <a:lnTo>
                    <a:pt x="24" y="53"/>
                  </a:lnTo>
                  <a:lnTo>
                    <a:pt x="24" y="83"/>
                  </a:lnTo>
                  <a:lnTo>
                    <a:pt x="24" y="89"/>
                  </a:lnTo>
                  <a:lnTo>
                    <a:pt x="30" y="89"/>
                  </a:lnTo>
                  <a:lnTo>
                    <a:pt x="36" y="83"/>
                  </a:lnTo>
                  <a:lnTo>
                    <a:pt x="48" y="71"/>
                  </a:lnTo>
                  <a:lnTo>
                    <a:pt x="54" y="59"/>
                  </a:lnTo>
                  <a:lnTo>
                    <a:pt x="66" y="47"/>
                  </a:lnTo>
                  <a:lnTo>
                    <a:pt x="78" y="30"/>
                  </a:lnTo>
                  <a:lnTo>
                    <a:pt x="84" y="12"/>
                  </a:lnTo>
                  <a:lnTo>
                    <a:pt x="78" y="6"/>
                  </a:lnTo>
                  <a:lnTo>
                    <a:pt x="72" y="0"/>
                  </a:lnTo>
                  <a:lnTo>
                    <a:pt x="72" y="6"/>
                  </a:lnTo>
                  <a:lnTo>
                    <a:pt x="66" y="6"/>
                  </a:lnTo>
                  <a:lnTo>
                    <a:pt x="66" y="12"/>
                  </a:lnTo>
                  <a:lnTo>
                    <a:pt x="72" y="18"/>
                  </a:lnTo>
                  <a:lnTo>
                    <a:pt x="78" y="18"/>
                  </a:lnTo>
                  <a:lnTo>
                    <a:pt x="78" y="24"/>
                  </a:lnTo>
                  <a:lnTo>
                    <a:pt x="78" y="30"/>
                  </a:lnTo>
                  <a:lnTo>
                    <a:pt x="66" y="41"/>
                  </a:lnTo>
                  <a:lnTo>
                    <a:pt x="48" y="65"/>
                  </a:lnTo>
                  <a:lnTo>
                    <a:pt x="42" y="71"/>
                  </a:lnTo>
                  <a:lnTo>
                    <a:pt x="36" y="41"/>
                  </a:lnTo>
                  <a:lnTo>
                    <a:pt x="30" y="6"/>
                  </a:lnTo>
                  <a:lnTo>
                    <a:pt x="30" y="0"/>
                  </a:lnTo>
                  <a:lnTo>
                    <a:pt x="18" y="6"/>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10" name="Freeform 33"/>
            <p:cNvSpPr/>
            <p:nvPr/>
          </p:nvSpPr>
          <p:spPr>
            <a:xfrm>
              <a:off x="975" y="735"/>
              <a:ext cx="114" cy="102"/>
            </a:xfrm>
            <a:custGeom>
              <a:avLst/>
              <a:gdLst>
                <a:gd name="txL" fmla="*/ 0 w 114"/>
                <a:gd name="txT" fmla="*/ 0 h 102"/>
                <a:gd name="txR" fmla="*/ 114 w 114"/>
                <a:gd name="txB" fmla="*/ 102 h 102"/>
              </a:gdLst>
              <a:ahLst/>
              <a:cxnLst>
                <a:cxn ang="0">
                  <a:pos x="66" y="42"/>
                </a:cxn>
                <a:cxn ang="0">
                  <a:pos x="114" y="42"/>
                </a:cxn>
                <a:cxn ang="0">
                  <a:pos x="114" y="60"/>
                </a:cxn>
                <a:cxn ang="0">
                  <a:pos x="66" y="60"/>
                </a:cxn>
                <a:cxn ang="0">
                  <a:pos x="66" y="102"/>
                </a:cxn>
                <a:cxn ang="0">
                  <a:pos x="48" y="102"/>
                </a:cxn>
                <a:cxn ang="0">
                  <a:pos x="48" y="60"/>
                </a:cxn>
                <a:cxn ang="0">
                  <a:pos x="0" y="60"/>
                </a:cxn>
                <a:cxn ang="0">
                  <a:pos x="0" y="42"/>
                </a:cxn>
                <a:cxn ang="0">
                  <a:pos x="48" y="42"/>
                </a:cxn>
                <a:cxn ang="0">
                  <a:pos x="48" y="0"/>
                </a:cxn>
                <a:cxn ang="0">
                  <a:pos x="66" y="0"/>
                </a:cxn>
                <a:cxn ang="0">
                  <a:pos x="66" y="42"/>
                </a:cxn>
              </a:cxnLst>
              <a:rect l="txL" t="txT" r="txR" b="txB"/>
              <a:pathLst>
                <a:path w="114" h="102">
                  <a:moveTo>
                    <a:pt x="66" y="42"/>
                  </a:moveTo>
                  <a:lnTo>
                    <a:pt x="114" y="42"/>
                  </a:lnTo>
                  <a:lnTo>
                    <a:pt x="114" y="60"/>
                  </a:lnTo>
                  <a:lnTo>
                    <a:pt x="66" y="60"/>
                  </a:lnTo>
                  <a:lnTo>
                    <a:pt x="66" y="102"/>
                  </a:lnTo>
                  <a:lnTo>
                    <a:pt x="48" y="102"/>
                  </a:lnTo>
                  <a:lnTo>
                    <a:pt x="48" y="60"/>
                  </a:lnTo>
                  <a:lnTo>
                    <a:pt x="0" y="60"/>
                  </a:lnTo>
                  <a:lnTo>
                    <a:pt x="0" y="42"/>
                  </a:lnTo>
                  <a:lnTo>
                    <a:pt x="48" y="42"/>
                  </a:lnTo>
                  <a:lnTo>
                    <a:pt x="48" y="0"/>
                  </a:lnTo>
                  <a:lnTo>
                    <a:pt x="66" y="0"/>
                  </a:lnTo>
                  <a:lnTo>
                    <a:pt x="66"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11" name="Rectangle 34"/>
            <p:cNvSpPr/>
            <p:nvPr/>
          </p:nvSpPr>
          <p:spPr>
            <a:xfrm>
              <a:off x="981" y="1440"/>
              <a:ext cx="114" cy="6"/>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73812" name="Freeform 35"/>
            <p:cNvSpPr/>
            <p:nvPr/>
          </p:nvSpPr>
          <p:spPr>
            <a:xfrm>
              <a:off x="981" y="538"/>
              <a:ext cx="102" cy="90"/>
            </a:xfrm>
            <a:custGeom>
              <a:avLst/>
              <a:gdLst>
                <a:gd name="txL" fmla="*/ 0 w 102"/>
                <a:gd name="txT" fmla="*/ 0 h 90"/>
                <a:gd name="txR" fmla="*/ 102 w 102"/>
                <a:gd name="txB" fmla="*/ 90 h 90"/>
              </a:gdLst>
              <a:ahLst/>
              <a:cxnLst>
                <a:cxn ang="0">
                  <a:pos x="54" y="90"/>
                </a:cxn>
                <a:cxn ang="0">
                  <a:pos x="36" y="84"/>
                </a:cxn>
                <a:cxn ang="0">
                  <a:pos x="18" y="78"/>
                </a:cxn>
                <a:cxn ang="0">
                  <a:pos x="6" y="60"/>
                </a:cxn>
                <a:cxn ang="0">
                  <a:pos x="0" y="42"/>
                </a:cxn>
                <a:cxn ang="0">
                  <a:pos x="6" y="24"/>
                </a:cxn>
                <a:cxn ang="0">
                  <a:pos x="18" y="12"/>
                </a:cxn>
                <a:cxn ang="0">
                  <a:pos x="36" y="6"/>
                </a:cxn>
                <a:cxn ang="0">
                  <a:pos x="54" y="0"/>
                </a:cxn>
                <a:cxn ang="0">
                  <a:pos x="72" y="6"/>
                </a:cxn>
                <a:cxn ang="0">
                  <a:pos x="90" y="12"/>
                </a:cxn>
                <a:cxn ang="0">
                  <a:pos x="96" y="24"/>
                </a:cxn>
                <a:cxn ang="0">
                  <a:pos x="102" y="42"/>
                </a:cxn>
                <a:cxn ang="0">
                  <a:pos x="96" y="60"/>
                </a:cxn>
                <a:cxn ang="0">
                  <a:pos x="90" y="78"/>
                </a:cxn>
                <a:cxn ang="0">
                  <a:pos x="72" y="84"/>
                </a:cxn>
                <a:cxn ang="0">
                  <a:pos x="54" y="90"/>
                </a:cxn>
                <a:cxn ang="0">
                  <a:pos x="54" y="90"/>
                </a:cxn>
              </a:cxnLst>
              <a:rect l="txL" t="txT" r="txR" b="txB"/>
              <a:pathLst>
                <a:path w="102" h="90">
                  <a:moveTo>
                    <a:pt x="54" y="90"/>
                  </a:moveTo>
                  <a:lnTo>
                    <a:pt x="36" y="84"/>
                  </a:lnTo>
                  <a:lnTo>
                    <a:pt x="18" y="78"/>
                  </a:lnTo>
                  <a:lnTo>
                    <a:pt x="6" y="60"/>
                  </a:lnTo>
                  <a:lnTo>
                    <a:pt x="0" y="42"/>
                  </a:lnTo>
                  <a:lnTo>
                    <a:pt x="6" y="24"/>
                  </a:lnTo>
                  <a:lnTo>
                    <a:pt x="18" y="12"/>
                  </a:lnTo>
                  <a:lnTo>
                    <a:pt x="36" y="6"/>
                  </a:lnTo>
                  <a:lnTo>
                    <a:pt x="54" y="0"/>
                  </a:lnTo>
                  <a:lnTo>
                    <a:pt x="72" y="6"/>
                  </a:lnTo>
                  <a:lnTo>
                    <a:pt x="90" y="12"/>
                  </a:lnTo>
                  <a:lnTo>
                    <a:pt x="96" y="24"/>
                  </a:lnTo>
                  <a:lnTo>
                    <a:pt x="102" y="42"/>
                  </a:lnTo>
                  <a:lnTo>
                    <a:pt x="96" y="60"/>
                  </a:lnTo>
                  <a:lnTo>
                    <a:pt x="90" y="78"/>
                  </a:lnTo>
                  <a:lnTo>
                    <a:pt x="72" y="84"/>
                  </a:lnTo>
                  <a:lnTo>
                    <a:pt x="54" y="90"/>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13" name="Freeform 36"/>
            <p:cNvSpPr/>
            <p:nvPr/>
          </p:nvSpPr>
          <p:spPr>
            <a:xfrm>
              <a:off x="981" y="580"/>
              <a:ext cx="54" cy="48"/>
            </a:xfrm>
            <a:custGeom>
              <a:avLst/>
              <a:gdLst>
                <a:gd name="txL" fmla="*/ 0 w 54"/>
                <a:gd name="txT" fmla="*/ 0 h 48"/>
                <a:gd name="txR" fmla="*/ 54 w 54"/>
                <a:gd name="txB" fmla="*/ 48 h 48"/>
              </a:gdLst>
              <a:ahLst/>
              <a:cxnLst>
                <a:cxn ang="0">
                  <a:pos x="54" y="48"/>
                </a:cxn>
                <a:cxn ang="0">
                  <a:pos x="36" y="42"/>
                </a:cxn>
                <a:cxn ang="0">
                  <a:pos x="18" y="36"/>
                </a:cxn>
                <a:cxn ang="0">
                  <a:pos x="6" y="18"/>
                </a:cxn>
                <a:cxn ang="0">
                  <a:pos x="0" y="0"/>
                </a:cxn>
                <a:cxn ang="0">
                  <a:pos x="0" y="0"/>
                </a:cxn>
                <a:cxn ang="0">
                  <a:pos x="6" y="18"/>
                </a:cxn>
                <a:cxn ang="0">
                  <a:pos x="18" y="36"/>
                </a:cxn>
                <a:cxn ang="0">
                  <a:pos x="36" y="42"/>
                </a:cxn>
                <a:cxn ang="0">
                  <a:pos x="54" y="48"/>
                </a:cxn>
                <a:cxn ang="0">
                  <a:pos x="54" y="48"/>
                </a:cxn>
              </a:cxnLst>
              <a:rect l="txL" t="txT" r="txR" b="txB"/>
              <a:pathLst>
                <a:path w="54" h="48">
                  <a:moveTo>
                    <a:pt x="54" y="48"/>
                  </a:moveTo>
                  <a:lnTo>
                    <a:pt x="36" y="42"/>
                  </a:lnTo>
                  <a:lnTo>
                    <a:pt x="18" y="36"/>
                  </a:lnTo>
                  <a:lnTo>
                    <a:pt x="6" y="18"/>
                  </a:lnTo>
                  <a:lnTo>
                    <a:pt x="0" y="0"/>
                  </a:lnTo>
                  <a:lnTo>
                    <a:pt x="6" y="18"/>
                  </a:lnTo>
                  <a:lnTo>
                    <a:pt x="18" y="36"/>
                  </a:lnTo>
                  <a:lnTo>
                    <a:pt x="36" y="42"/>
                  </a:lnTo>
                  <a:lnTo>
                    <a:pt x="54"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14" name="Freeform 37"/>
            <p:cNvSpPr>
              <a:spLocks noEditPoints="1"/>
            </p:cNvSpPr>
            <p:nvPr/>
          </p:nvSpPr>
          <p:spPr>
            <a:xfrm>
              <a:off x="981" y="538"/>
              <a:ext cx="54" cy="42"/>
            </a:xfrm>
            <a:custGeom>
              <a:avLst/>
              <a:gdLst>
                <a:gd name="txL" fmla="*/ 0 w 54"/>
                <a:gd name="txT" fmla="*/ 0 h 42"/>
                <a:gd name="txR" fmla="*/ 54 w 54"/>
                <a:gd name="txB" fmla="*/ 42 h 42"/>
              </a:gdLst>
              <a:ahLst/>
              <a:cxnLst>
                <a:cxn ang="0">
                  <a:pos x="0" y="42"/>
                </a:cxn>
                <a:cxn ang="0">
                  <a:pos x="6" y="24"/>
                </a:cxn>
                <a:cxn ang="0">
                  <a:pos x="18" y="12"/>
                </a:cxn>
                <a:cxn ang="0">
                  <a:pos x="36" y="6"/>
                </a:cxn>
                <a:cxn ang="0">
                  <a:pos x="54" y="0"/>
                </a:cxn>
                <a:cxn ang="0">
                  <a:pos x="54" y="0"/>
                </a:cxn>
                <a:cxn ang="0">
                  <a:pos x="36" y="6"/>
                </a:cxn>
                <a:cxn ang="0">
                  <a:pos x="18" y="12"/>
                </a:cxn>
                <a:cxn ang="0">
                  <a:pos x="6" y="24"/>
                </a:cxn>
                <a:cxn ang="0">
                  <a:pos x="0" y="42"/>
                </a:cxn>
                <a:cxn ang="0">
                  <a:pos x="0" y="42"/>
                </a:cxn>
                <a:cxn ang="0">
                  <a:pos x="0" y="42"/>
                </a:cxn>
                <a:cxn ang="0">
                  <a:pos x="0" y="42"/>
                </a:cxn>
                <a:cxn ang="0">
                  <a:pos x="0" y="42"/>
                </a:cxn>
              </a:cxnLst>
              <a:rect l="txL" t="txT" r="txR" b="txB"/>
              <a:pathLst>
                <a:path w="54" h="42">
                  <a:moveTo>
                    <a:pt x="0" y="42"/>
                  </a:moveTo>
                  <a:lnTo>
                    <a:pt x="6" y="24"/>
                  </a:lnTo>
                  <a:lnTo>
                    <a:pt x="18" y="12"/>
                  </a:lnTo>
                  <a:lnTo>
                    <a:pt x="36" y="6"/>
                  </a:lnTo>
                  <a:lnTo>
                    <a:pt x="54" y="0"/>
                  </a:lnTo>
                  <a:lnTo>
                    <a:pt x="36" y="6"/>
                  </a:lnTo>
                  <a:lnTo>
                    <a:pt x="18" y="12"/>
                  </a:lnTo>
                  <a:lnTo>
                    <a:pt x="6" y="24"/>
                  </a:lnTo>
                  <a:lnTo>
                    <a:pt x="0" y="42"/>
                  </a:lnTo>
                  <a:close/>
                  <a:moveTo>
                    <a:pt x="0" y="42"/>
                  </a:moveTo>
                  <a:lnTo>
                    <a:pt x="0"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15" name="Freeform 38"/>
            <p:cNvSpPr>
              <a:spLocks noEditPoints="1"/>
            </p:cNvSpPr>
            <p:nvPr/>
          </p:nvSpPr>
          <p:spPr>
            <a:xfrm>
              <a:off x="1035" y="538"/>
              <a:ext cx="48" cy="42"/>
            </a:xfrm>
            <a:custGeom>
              <a:avLst/>
              <a:gdLst>
                <a:gd name="txL" fmla="*/ 0 w 48"/>
                <a:gd name="txT" fmla="*/ 0 h 42"/>
                <a:gd name="txR" fmla="*/ 48 w 48"/>
                <a:gd name="txB" fmla="*/ 42 h 42"/>
              </a:gdLst>
              <a:ahLst/>
              <a:cxnLst>
                <a:cxn ang="0">
                  <a:pos x="0" y="0"/>
                </a:cxn>
                <a:cxn ang="0">
                  <a:pos x="18" y="6"/>
                </a:cxn>
                <a:cxn ang="0">
                  <a:pos x="36" y="12"/>
                </a:cxn>
                <a:cxn ang="0">
                  <a:pos x="42" y="24"/>
                </a:cxn>
                <a:cxn ang="0">
                  <a:pos x="48" y="42"/>
                </a:cxn>
                <a:cxn ang="0">
                  <a:pos x="48" y="42"/>
                </a:cxn>
                <a:cxn ang="0">
                  <a:pos x="42" y="24"/>
                </a:cxn>
                <a:cxn ang="0">
                  <a:pos x="36" y="12"/>
                </a:cxn>
                <a:cxn ang="0">
                  <a:pos x="18" y="6"/>
                </a:cxn>
                <a:cxn ang="0">
                  <a:pos x="0" y="0"/>
                </a:cxn>
                <a:cxn ang="0">
                  <a:pos x="0" y="0"/>
                </a:cxn>
                <a:cxn ang="0">
                  <a:pos x="0" y="0"/>
                </a:cxn>
                <a:cxn ang="0">
                  <a:pos x="0" y="0"/>
                </a:cxn>
                <a:cxn ang="0">
                  <a:pos x="0" y="0"/>
                </a:cxn>
              </a:cxnLst>
              <a:rect l="txL" t="txT" r="txR" b="txB"/>
              <a:pathLst>
                <a:path w="48" h="42">
                  <a:moveTo>
                    <a:pt x="0" y="0"/>
                  </a:moveTo>
                  <a:lnTo>
                    <a:pt x="18" y="6"/>
                  </a:lnTo>
                  <a:lnTo>
                    <a:pt x="36" y="12"/>
                  </a:lnTo>
                  <a:lnTo>
                    <a:pt x="42" y="24"/>
                  </a:lnTo>
                  <a:lnTo>
                    <a:pt x="48" y="42"/>
                  </a:lnTo>
                  <a:lnTo>
                    <a:pt x="42" y="24"/>
                  </a:lnTo>
                  <a:lnTo>
                    <a:pt x="36" y="12"/>
                  </a:lnTo>
                  <a:lnTo>
                    <a:pt x="18" y="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16" name="Freeform 39"/>
            <p:cNvSpPr>
              <a:spLocks noEditPoints="1"/>
            </p:cNvSpPr>
            <p:nvPr/>
          </p:nvSpPr>
          <p:spPr>
            <a:xfrm>
              <a:off x="1035" y="580"/>
              <a:ext cx="48" cy="48"/>
            </a:xfrm>
            <a:custGeom>
              <a:avLst/>
              <a:gdLst>
                <a:gd name="txL" fmla="*/ 0 w 48"/>
                <a:gd name="txT" fmla="*/ 0 h 48"/>
                <a:gd name="txR" fmla="*/ 48 w 48"/>
                <a:gd name="txB" fmla="*/ 48 h 48"/>
              </a:gdLst>
              <a:ahLst/>
              <a:cxnLst>
                <a:cxn ang="0">
                  <a:pos x="48" y="0"/>
                </a:cxn>
                <a:cxn ang="0">
                  <a:pos x="42" y="18"/>
                </a:cxn>
                <a:cxn ang="0">
                  <a:pos x="36" y="36"/>
                </a:cxn>
                <a:cxn ang="0">
                  <a:pos x="18" y="42"/>
                </a:cxn>
                <a:cxn ang="0">
                  <a:pos x="0" y="48"/>
                </a:cxn>
                <a:cxn ang="0">
                  <a:pos x="0" y="48"/>
                </a:cxn>
                <a:cxn ang="0">
                  <a:pos x="18" y="42"/>
                </a:cxn>
                <a:cxn ang="0">
                  <a:pos x="36" y="36"/>
                </a:cxn>
                <a:cxn ang="0">
                  <a:pos x="42" y="18"/>
                </a:cxn>
                <a:cxn ang="0">
                  <a:pos x="48" y="0"/>
                </a:cxn>
                <a:cxn ang="0">
                  <a:pos x="48" y="0"/>
                </a:cxn>
                <a:cxn ang="0">
                  <a:pos x="48" y="0"/>
                </a:cxn>
                <a:cxn ang="0">
                  <a:pos x="48" y="0"/>
                </a:cxn>
                <a:cxn ang="0">
                  <a:pos x="48" y="0"/>
                </a:cxn>
              </a:cxnLst>
              <a:rect l="txL" t="txT" r="txR" b="txB"/>
              <a:pathLst>
                <a:path w="48" h="48">
                  <a:moveTo>
                    <a:pt x="48" y="0"/>
                  </a:moveTo>
                  <a:lnTo>
                    <a:pt x="42" y="18"/>
                  </a:lnTo>
                  <a:lnTo>
                    <a:pt x="36" y="36"/>
                  </a:lnTo>
                  <a:lnTo>
                    <a:pt x="18" y="42"/>
                  </a:lnTo>
                  <a:lnTo>
                    <a:pt x="0" y="48"/>
                  </a:lnTo>
                  <a:lnTo>
                    <a:pt x="18" y="42"/>
                  </a:lnTo>
                  <a:lnTo>
                    <a:pt x="36" y="36"/>
                  </a:lnTo>
                  <a:lnTo>
                    <a:pt x="42" y="18"/>
                  </a:lnTo>
                  <a:lnTo>
                    <a:pt x="48" y="0"/>
                  </a:lnTo>
                  <a:close/>
                  <a:moveTo>
                    <a:pt x="48" y="0"/>
                  </a:moveTo>
                  <a:lnTo>
                    <a:pt x="4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17" name="Freeform 40"/>
            <p:cNvSpPr/>
            <p:nvPr/>
          </p:nvSpPr>
          <p:spPr>
            <a:xfrm>
              <a:off x="1035" y="62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18" name="Freeform 41"/>
            <p:cNvSpPr/>
            <p:nvPr/>
          </p:nvSpPr>
          <p:spPr>
            <a:xfrm>
              <a:off x="987" y="1553"/>
              <a:ext cx="102" cy="96"/>
            </a:xfrm>
            <a:custGeom>
              <a:avLst/>
              <a:gdLst>
                <a:gd name="txL" fmla="*/ 0 w 102"/>
                <a:gd name="txT" fmla="*/ 0 h 96"/>
                <a:gd name="txR" fmla="*/ 102 w 102"/>
                <a:gd name="txB" fmla="*/ 96 h 96"/>
              </a:gdLst>
              <a:ahLst/>
              <a:cxnLst>
                <a:cxn ang="0">
                  <a:pos x="48" y="96"/>
                </a:cxn>
                <a:cxn ang="0">
                  <a:pos x="30" y="90"/>
                </a:cxn>
                <a:cxn ang="0">
                  <a:pos x="18" y="84"/>
                </a:cxn>
                <a:cxn ang="0">
                  <a:pos x="6" y="66"/>
                </a:cxn>
                <a:cxn ang="0">
                  <a:pos x="0" y="48"/>
                </a:cxn>
                <a:cxn ang="0">
                  <a:pos x="6" y="30"/>
                </a:cxn>
                <a:cxn ang="0">
                  <a:pos x="18" y="18"/>
                </a:cxn>
                <a:cxn ang="0">
                  <a:pos x="30" y="6"/>
                </a:cxn>
                <a:cxn ang="0">
                  <a:pos x="48" y="0"/>
                </a:cxn>
                <a:cxn ang="0">
                  <a:pos x="72" y="6"/>
                </a:cxn>
                <a:cxn ang="0">
                  <a:pos x="84" y="18"/>
                </a:cxn>
                <a:cxn ang="0">
                  <a:pos x="96" y="30"/>
                </a:cxn>
                <a:cxn ang="0">
                  <a:pos x="102" y="48"/>
                </a:cxn>
                <a:cxn ang="0">
                  <a:pos x="96" y="66"/>
                </a:cxn>
                <a:cxn ang="0">
                  <a:pos x="84" y="84"/>
                </a:cxn>
                <a:cxn ang="0">
                  <a:pos x="72" y="90"/>
                </a:cxn>
                <a:cxn ang="0">
                  <a:pos x="48" y="96"/>
                </a:cxn>
                <a:cxn ang="0">
                  <a:pos x="48" y="96"/>
                </a:cxn>
              </a:cxnLst>
              <a:rect l="txL" t="txT" r="txR" b="txB"/>
              <a:pathLst>
                <a:path w="102" h="96">
                  <a:moveTo>
                    <a:pt x="48" y="96"/>
                  </a:moveTo>
                  <a:lnTo>
                    <a:pt x="30" y="90"/>
                  </a:lnTo>
                  <a:lnTo>
                    <a:pt x="18" y="84"/>
                  </a:lnTo>
                  <a:lnTo>
                    <a:pt x="6" y="66"/>
                  </a:lnTo>
                  <a:lnTo>
                    <a:pt x="0" y="48"/>
                  </a:lnTo>
                  <a:lnTo>
                    <a:pt x="6" y="30"/>
                  </a:lnTo>
                  <a:lnTo>
                    <a:pt x="18" y="18"/>
                  </a:lnTo>
                  <a:lnTo>
                    <a:pt x="30" y="6"/>
                  </a:lnTo>
                  <a:lnTo>
                    <a:pt x="48" y="0"/>
                  </a:lnTo>
                  <a:lnTo>
                    <a:pt x="72" y="6"/>
                  </a:lnTo>
                  <a:lnTo>
                    <a:pt x="84" y="18"/>
                  </a:lnTo>
                  <a:lnTo>
                    <a:pt x="96" y="30"/>
                  </a:lnTo>
                  <a:lnTo>
                    <a:pt x="102" y="48"/>
                  </a:lnTo>
                  <a:lnTo>
                    <a:pt x="96" y="66"/>
                  </a:lnTo>
                  <a:lnTo>
                    <a:pt x="84" y="84"/>
                  </a:lnTo>
                  <a:lnTo>
                    <a:pt x="72" y="90"/>
                  </a:lnTo>
                  <a:lnTo>
                    <a:pt x="48" y="96"/>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19" name="Freeform 42"/>
            <p:cNvSpPr/>
            <p:nvPr/>
          </p:nvSpPr>
          <p:spPr>
            <a:xfrm>
              <a:off x="987" y="1601"/>
              <a:ext cx="48" cy="48"/>
            </a:xfrm>
            <a:custGeom>
              <a:avLst/>
              <a:gdLst>
                <a:gd name="txL" fmla="*/ 0 w 48"/>
                <a:gd name="txT" fmla="*/ 0 h 48"/>
                <a:gd name="txR" fmla="*/ 48 w 48"/>
                <a:gd name="txB" fmla="*/ 48 h 48"/>
              </a:gdLst>
              <a:ahLst/>
              <a:cxnLst>
                <a:cxn ang="0">
                  <a:pos x="48" y="48"/>
                </a:cxn>
                <a:cxn ang="0">
                  <a:pos x="30" y="42"/>
                </a:cxn>
                <a:cxn ang="0">
                  <a:pos x="18" y="36"/>
                </a:cxn>
                <a:cxn ang="0">
                  <a:pos x="6" y="18"/>
                </a:cxn>
                <a:cxn ang="0">
                  <a:pos x="0" y="0"/>
                </a:cxn>
                <a:cxn ang="0">
                  <a:pos x="0" y="0"/>
                </a:cxn>
                <a:cxn ang="0">
                  <a:pos x="6" y="18"/>
                </a:cxn>
                <a:cxn ang="0">
                  <a:pos x="18" y="36"/>
                </a:cxn>
                <a:cxn ang="0">
                  <a:pos x="30" y="42"/>
                </a:cxn>
                <a:cxn ang="0">
                  <a:pos x="48" y="48"/>
                </a:cxn>
                <a:cxn ang="0">
                  <a:pos x="48" y="48"/>
                </a:cxn>
              </a:cxnLst>
              <a:rect l="txL" t="txT" r="txR" b="txB"/>
              <a:pathLst>
                <a:path w="48" h="48">
                  <a:moveTo>
                    <a:pt x="48" y="48"/>
                  </a:moveTo>
                  <a:lnTo>
                    <a:pt x="30" y="42"/>
                  </a:lnTo>
                  <a:lnTo>
                    <a:pt x="18" y="36"/>
                  </a:lnTo>
                  <a:lnTo>
                    <a:pt x="6" y="18"/>
                  </a:lnTo>
                  <a:lnTo>
                    <a:pt x="0" y="0"/>
                  </a:lnTo>
                  <a:lnTo>
                    <a:pt x="6" y="18"/>
                  </a:lnTo>
                  <a:lnTo>
                    <a:pt x="18" y="36"/>
                  </a:lnTo>
                  <a:lnTo>
                    <a:pt x="30" y="42"/>
                  </a:lnTo>
                  <a:lnTo>
                    <a:pt x="4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20" name="Freeform 43"/>
            <p:cNvSpPr>
              <a:spLocks noEditPoints="1"/>
            </p:cNvSpPr>
            <p:nvPr/>
          </p:nvSpPr>
          <p:spPr>
            <a:xfrm>
              <a:off x="987" y="1553"/>
              <a:ext cx="48" cy="48"/>
            </a:xfrm>
            <a:custGeom>
              <a:avLst/>
              <a:gdLst>
                <a:gd name="txL" fmla="*/ 0 w 48"/>
                <a:gd name="txT" fmla="*/ 0 h 48"/>
                <a:gd name="txR" fmla="*/ 48 w 48"/>
                <a:gd name="txB" fmla="*/ 48 h 48"/>
              </a:gdLst>
              <a:ahLst/>
              <a:cxnLst>
                <a:cxn ang="0">
                  <a:pos x="0" y="48"/>
                </a:cxn>
                <a:cxn ang="0">
                  <a:pos x="6" y="30"/>
                </a:cxn>
                <a:cxn ang="0">
                  <a:pos x="18" y="18"/>
                </a:cxn>
                <a:cxn ang="0">
                  <a:pos x="30" y="6"/>
                </a:cxn>
                <a:cxn ang="0">
                  <a:pos x="48" y="0"/>
                </a:cxn>
                <a:cxn ang="0">
                  <a:pos x="48" y="0"/>
                </a:cxn>
                <a:cxn ang="0">
                  <a:pos x="30" y="6"/>
                </a:cxn>
                <a:cxn ang="0">
                  <a:pos x="18" y="18"/>
                </a:cxn>
                <a:cxn ang="0">
                  <a:pos x="6" y="30"/>
                </a:cxn>
                <a:cxn ang="0">
                  <a:pos x="0" y="48"/>
                </a:cxn>
                <a:cxn ang="0">
                  <a:pos x="0" y="48"/>
                </a:cxn>
                <a:cxn ang="0">
                  <a:pos x="0" y="48"/>
                </a:cxn>
                <a:cxn ang="0">
                  <a:pos x="0" y="48"/>
                </a:cxn>
                <a:cxn ang="0">
                  <a:pos x="0" y="48"/>
                </a:cxn>
              </a:cxnLst>
              <a:rect l="txL" t="txT" r="txR" b="txB"/>
              <a:pathLst>
                <a:path w="48" h="48">
                  <a:moveTo>
                    <a:pt x="0" y="48"/>
                  </a:moveTo>
                  <a:lnTo>
                    <a:pt x="6" y="30"/>
                  </a:lnTo>
                  <a:lnTo>
                    <a:pt x="18" y="18"/>
                  </a:lnTo>
                  <a:lnTo>
                    <a:pt x="30" y="6"/>
                  </a:lnTo>
                  <a:lnTo>
                    <a:pt x="48" y="0"/>
                  </a:lnTo>
                  <a:lnTo>
                    <a:pt x="30" y="6"/>
                  </a:lnTo>
                  <a:lnTo>
                    <a:pt x="18" y="18"/>
                  </a:lnTo>
                  <a:lnTo>
                    <a:pt x="6" y="30"/>
                  </a:lnTo>
                  <a:lnTo>
                    <a:pt x="0" y="48"/>
                  </a:lnTo>
                  <a:close/>
                  <a:moveTo>
                    <a:pt x="0" y="48"/>
                  </a:moveTo>
                  <a:lnTo>
                    <a:pt x="0"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21" name="Freeform 44"/>
            <p:cNvSpPr>
              <a:spLocks noEditPoints="1"/>
            </p:cNvSpPr>
            <p:nvPr/>
          </p:nvSpPr>
          <p:spPr>
            <a:xfrm>
              <a:off x="1035" y="1553"/>
              <a:ext cx="54" cy="48"/>
            </a:xfrm>
            <a:custGeom>
              <a:avLst/>
              <a:gdLst>
                <a:gd name="txL" fmla="*/ 0 w 54"/>
                <a:gd name="txT" fmla="*/ 0 h 48"/>
                <a:gd name="txR" fmla="*/ 54 w 54"/>
                <a:gd name="txB" fmla="*/ 48 h 48"/>
              </a:gdLst>
              <a:ahLst/>
              <a:cxnLst>
                <a:cxn ang="0">
                  <a:pos x="0" y="0"/>
                </a:cxn>
                <a:cxn ang="0">
                  <a:pos x="24" y="6"/>
                </a:cxn>
                <a:cxn ang="0">
                  <a:pos x="36" y="18"/>
                </a:cxn>
                <a:cxn ang="0">
                  <a:pos x="48" y="30"/>
                </a:cxn>
                <a:cxn ang="0">
                  <a:pos x="54" y="48"/>
                </a:cxn>
                <a:cxn ang="0">
                  <a:pos x="54" y="48"/>
                </a:cxn>
                <a:cxn ang="0">
                  <a:pos x="48" y="30"/>
                </a:cxn>
                <a:cxn ang="0">
                  <a:pos x="36" y="18"/>
                </a:cxn>
                <a:cxn ang="0">
                  <a:pos x="24" y="6"/>
                </a:cxn>
                <a:cxn ang="0">
                  <a:pos x="0" y="0"/>
                </a:cxn>
                <a:cxn ang="0">
                  <a:pos x="0" y="0"/>
                </a:cxn>
                <a:cxn ang="0">
                  <a:pos x="0" y="0"/>
                </a:cxn>
                <a:cxn ang="0">
                  <a:pos x="0" y="0"/>
                </a:cxn>
                <a:cxn ang="0">
                  <a:pos x="0" y="0"/>
                </a:cxn>
              </a:cxnLst>
              <a:rect l="txL" t="txT" r="txR" b="txB"/>
              <a:pathLst>
                <a:path w="54" h="48">
                  <a:moveTo>
                    <a:pt x="0" y="0"/>
                  </a:moveTo>
                  <a:lnTo>
                    <a:pt x="24" y="6"/>
                  </a:lnTo>
                  <a:lnTo>
                    <a:pt x="36" y="18"/>
                  </a:lnTo>
                  <a:lnTo>
                    <a:pt x="48" y="30"/>
                  </a:lnTo>
                  <a:lnTo>
                    <a:pt x="54" y="48"/>
                  </a:lnTo>
                  <a:lnTo>
                    <a:pt x="48" y="30"/>
                  </a:lnTo>
                  <a:lnTo>
                    <a:pt x="36" y="18"/>
                  </a:lnTo>
                  <a:lnTo>
                    <a:pt x="24" y="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22" name="Freeform 45"/>
            <p:cNvSpPr>
              <a:spLocks noEditPoints="1"/>
            </p:cNvSpPr>
            <p:nvPr/>
          </p:nvSpPr>
          <p:spPr>
            <a:xfrm>
              <a:off x="1035" y="1601"/>
              <a:ext cx="54" cy="48"/>
            </a:xfrm>
            <a:custGeom>
              <a:avLst/>
              <a:gdLst>
                <a:gd name="txL" fmla="*/ 0 w 54"/>
                <a:gd name="txT" fmla="*/ 0 h 48"/>
                <a:gd name="txR" fmla="*/ 54 w 54"/>
                <a:gd name="txB" fmla="*/ 48 h 48"/>
              </a:gdLst>
              <a:ahLst/>
              <a:cxnLst>
                <a:cxn ang="0">
                  <a:pos x="54" y="0"/>
                </a:cxn>
                <a:cxn ang="0">
                  <a:pos x="48" y="18"/>
                </a:cxn>
                <a:cxn ang="0">
                  <a:pos x="36" y="36"/>
                </a:cxn>
                <a:cxn ang="0">
                  <a:pos x="24" y="42"/>
                </a:cxn>
                <a:cxn ang="0">
                  <a:pos x="0" y="48"/>
                </a:cxn>
                <a:cxn ang="0">
                  <a:pos x="0" y="48"/>
                </a:cxn>
                <a:cxn ang="0">
                  <a:pos x="24" y="42"/>
                </a:cxn>
                <a:cxn ang="0">
                  <a:pos x="36" y="36"/>
                </a:cxn>
                <a:cxn ang="0">
                  <a:pos x="48" y="18"/>
                </a:cxn>
                <a:cxn ang="0">
                  <a:pos x="54" y="0"/>
                </a:cxn>
                <a:cxn ang="0">
                  <a:pos x="54" y="0"/>
                </a:cxn>
                <a:cxn ang="0">
                  <a:pos x="54" y="0"/>
                </a:cxn>
                <a:cxn ang="0">
                  <a:pos x="54" y="0"/>
                </a:cxn>
                <a:cxn ang="0">
                  <a:pos x="54" y="0"/>
                </a:cxn>
              </a:cxnLst>
              <a:rect l="txL" t="txT" r="txR" b="txB"/>
              <a:pathLst>
                <a:path w="54" h="48">
                  <a:moveTo>
                    <a:pt x="54" y="0"/>
                  </a:moveTo>
                  <a:lnTo>
                    <a:pt x="48" y="18"/>
                  </a:lnTo>
                  <a:lnTo>
                    <a:pt x="36" y="36"/>
                  </a:lnTo>
                  <a:lnTo>
                    <a:pt x="24" y="42"/>
                  </a:lnTo>
                  <a:lnTo>
                    <a:pt x="0" y="48"/>
                  </a:lnTo>
                  <a:lnTo>
                    <a:pt x="24" y="42"/>
                  </a:lnTo>
                  <a:lnTo>
                    <a:pt x="36" y="36"/>
                  </a:lnTo>
                  <a:lnTo>
                    <a:pt x="48" y="18"/>
                  </a:lnTo>
                  <a:lnTo>
                    <a:pt x="54" y="0"/>
                  </a:lnTo>
                  <a:close/>
                  <a:moveTo>
                    <a:pt x="54" y="0"/>
                  </a:moveTo>
                  <a:lnTo>
                    <a:pt x="5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23" name="Freeform 46"/>
            <p:cNvSpPr/>
            <p:nvPr/>
          </p:nvSpPr>
          <p:spPr>
            <a:xfrm>
              <a:off x="1035" y="1649"/>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24" name="Freeform 47"/>
            <p:cNvSpPr/>
            <p:nvPr/>
          </p:nvSpPr>
          <p:spPr>
            <a:xfrm>
              <a:off x="1525" y="544"/>
              <a:ext cx="449" cy="78"/>
            </a:xfrm>
            <a:custGeom>
              <a:avLst/>
              <a:gdLst>
                <a:gd name="txL" fmla="*/ 0 w 449"/>
                <a:gd name="txT" fmla="*/ 0 h 78"/>
                <a:gd name="txR" fmla="*/ 449 w 449"/>
                <a:gd name="txB" fmla="*/ 78 h 78"/>
              </a:gdLst>
              <a:ahLst/>
              <a:cxnLst>
                <a:cxn ang="0">
                  <a:pos x="449" y="78"/>
                </a:cxn>
                <a:cxn ang="0">
                  <a:pos x="449" y="0"/>
                </a:cxn>
                <a:cxn ang="0">
                  <a:pos x="0" y="0"/>
                </a:cxn>
                <a:cxn ang="0">
                  <a:pos x="0" y="78"/>
                </a:cxn>
                <a:cxn ang="0">
                  <a:pos x="449" y="78"/>
                </a:cxn>
                <a:cxn ang="0">
                  <a:pos x="449" y="78"/>
                </a:cxn>
              </a:cxnLst>
              <a:rect l="txL" t="txT" r="txR" b="txB"/>
              <a:pathLst>
                <a:path w="449" h="78">
                  <a:moveTo>
                    <a:pt x="449" y="78"/>
                  </a:moveTo>
                  <a:lnTo>
                    <a:pt x="449" y="0"/>
                  </a:lnTo>
                  <a:lnTo>
                    <a:pt x="0" y="0"/>
                  </a:lnTo>
                  <a:lnTo>
                    <a:pt x="0" y="78"/>
                  </a:lnTo>
                  <a:lnTo>
                    <a:pt x="449" y="78"/>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3825" name="Freeform 48"/>
            <p:cNvSpPr/>
            <p:nvPr/>
          </p:nvSpPr>
          <p:spPr>
            <a:xfrm>
              <a:off x="1525"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72" y="0"/>
                </a:cxn>
                <a:cxn ang="0">
                  <a:pos x="42" y="6"/>
                </a:cxn>
                <a:cxn ang="0">
                  <a:pos x="18" y="24"/>
                </a:cxn>
                <a:cxn ang="0">
                  <a:pos x="6" y="48"/>
                </a:cxn>
                <a:cxn ang="0">
                  <a:pos x="0" y="84"/>
                </a:cxn>
                <a:cxn ang="0">
                  <a:pos x="0" y="84"/>
                </a:cxn>
              </a:cxnLst>
              <a:rect l="txL" t="txT" r="txR" b="txB"/>
              <a:pathLst>
                <a:path w="72" h="84">
                  <a:moveTo>
                    <a:pt x="0" y="84"/>
                  </a:moveTo>
                  <a:lnTo>
                    <a:pt x="6" y="48"/>
                  </a:lnTo>
                  <a:lnTo>
                    <a:pt x="18" y="24"/>
                  </a:lnTo>
                  <a:lnTo>
                    <a:pt x="42" y="6"/>
                  </a:lnTo>
                  <a:lnTo>
                    <a:pt x="72" y="0"/>
                  </a:lnTo>
                  <a:lnTo>
                    <a:pt x="42" y="6"/>
                  </a:lnTo>
                  <a:lnTo>
                    <a:pt x="18" y="24"/>
                  </a:lnTo>
                  <a:lnTo>
                    <a:pt x="6" y="48"/>
                  </a:ln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26" name="Freeform 49"/>
            <p:cNvSpPr>
              <a:spLocks noEditPoints="1"/>
            </p:cNvSpPr>
            <p:nvPr/>
          </p:nvSpPr>
          <p:spPr>
            <a:xfrm>
              <a:off x="1597" y="496"/>
              <a:ext cx="66" cy="84"/>
            </a:xfrm>
            <a:custGeom>
              <a:avLst/>
              <a:gdLst>
                <a:gd name="txL" fmla="*/ 0 w 66"/>
                <a:gd name="txT" fmla="*/ 0 h 84"/>
                <a:gd name="txR" fmla="*/ 66 w 66"/>
                <a:gd name="txB" fmla="*/ 84 h 84"/>
              </a:gdLst>
              <a:ahLst/>
              <a:cxnLst>
                <a:cxn ang="0">
                  <a:pos x="0" y="0"/>
                </a:cxn>
                <a:cxn ang="0">
                  <a:pos x="24" y="6"/>
                </a:cxn>
                <a:cxn ang="0">
                  <a:pos x="48" y="24"/>
                </a:cxn>
                <a:cxn ang="0">
                  <a:pos x="60" y="48"/>
                </a:cxn>
                <a:cxn ang="0">
                  <a:pos x="66" y="84"/>
                </a:cxn>
                <a:cxn ang="0">
                  <a:pos x="66" y="84"/>
                </a:cxn>
                <a:cxn ang="0">
                  <a:pos x="60" y="48"/>
                </a:cxn>
                <a:cxn ang="0">
                  <a:pos x="48" y="24"/>
                </a:cxn>
                <a:cxn ang="0">
                  <a:pos x="24" y="6"/>
                </a:cxn>
                <a:cxn ang="0">
                  <a:pos x="0" y="0"/>
                </a:cxn>
                <a:cxn ang="0">
                  <a:pos x="0" y="0"/>
                </a:cxn>
                <a:cxn ang="0">
                  <a:pos x="0" y="0"/>
                </a:cxn>
                <a:cxn ang="0">
                  <a:pos x="0" y="0"/>
                </a:cxn>
                <a:cxn ang="0">
                  <a:pos x="0" y="0"/>
                </a:cxn>
              </a:cxnLst>
              <a:rect l="txL" t="txT" r="txR" b="txB"/>
              <a:pathLst>
                <a:path w="66" h="84">
                  <a:moveTo>
                    <a:pt x="0" y="0"/>
                  </a:moveTo>
                  <a:lnTo>
                    <a:pt x="24" y="6"/>
                  </a:lnTo>
                  <a:lnTo>
                    <a:pt x="48" y="24"/>
                  </a:lnTo>
                  <a:lnTo>
                    <a:pt x="60" y="48"/>
                  </a:lnTo>
                  <a:lnTo>
                    <a:pt x="66" y="84"/>
                  </a:lnTo>
                  <a:lnTo>
                    <a:pt x="60"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27" name="Freeform 50"/>
            <p:cNvSpPr>
              <a:spLocks noEditPoints="1"/>
            </p:cNvSpPr>
            <p:nvPr/>
          </p:nvSpPr>
          <p:spPr>
            <a:xfrm>
              <a:off x="1645" y="580"/>
              <a:ext cx="18" cy="60"/>
            </a:xfrm>
            <a:custGeom>
              <a:avLst/>
              <a:gdLst>
                <a:gd name="txL" fmla="*/ 0 w 18"/>
                <a:gd name="txT" fmla="*/ 0 h 60"/>
                <a:gd name="txR" fmla="*/ 18 w 18"/>
                <a:gd name="txB" fmla="*/ 60 h 60"/>
              </a:gdLst>
              <a:ahLst/>
              <a:cxnLst>
                <a:cxn ang="0">
                  <a:pos x="18" y="0"/>
                </a:cxn>
                <a:cxn ang="0">
                  <a:pos x="12" y="30"/>
                </a:cxn>
                <a:cxn ang="0">
                  <a:pos x="0" y="60"/>
                </a:cxn>
                <a:cxn ang="0">
                  <a:pos x="0" y="60"/>
                </a:cxn>
                <a:cxn ang="0">
                  <a:pos x="12" y="30"/>
                </a:cxn>
                <a:cxn ang="0">
                  <a:pos x="18" y="0"/>
                </a:cxn>
                <a:cxn ang="0">
                  <a:pos x="18" y="0"/>
                </a:cxn>
                <a:cxn ang="0">
                  <a:pos x="18" y="0"/>
                </a:cxn>
                <a:cxn ang="0">
                  <a:pos x="18" y="0"/>
                </a:cxn>
                <a:cxn ang="0">
                  <a:pos x="18" y="0"/>
                </a:cxn>
              </a:cxnLst>
              <a:rect l="txL" t="txT" r="txR" b="txB"/>
              <a:pathLst>
                <a:path w="18" h="60">
                  <a:moveTo>
                    <a:pt x="18" y="0"/>
                  </a:moveTo>
                  <a:lnTo>
                    <a:pt x="12" y="30"/>
                  </a:lnTo>
                  <a:lnTo>
                    <a:pt x="0" y="60"/>
                  </a:lnTo>
                  <a:lnTo>
                    <a:pt x="12" y="3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28" name="Freeform 51"/>
            <p:cNvSpPr>
              <a:spLocks noEditPoints="1"/>
            </p:cNvSpPr>
            <p:nvPr/>
          </p:nvSpPr>
          <p:spPr>
            <a:xfrm>
              <a:off x="1627"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29" name="Freeform 52"/>
            <p:cNvSpPr>
              <a:spLocks noEditPoints="1"/>
            </p:cNvSpPr>
            <p:nvPr/>
          </p:nvSpPr>
          <p:spPr>
            <a:xfrm>
              <a:off x="1627"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72" y="0"/>
                </a:cxn>
                <a:cxn ang="0">
                  <a:pos x="42" y="6"/>
                </a:cxn>
                <a:cxn ang="0">
                  <a:pos x="18" y="24"/>
                </a:cxn>
                <a:cxn ang="0">
                  <a:pos x="6" y="48"/>
                </a:cxn>
                <a:cxn ang="0">
                  <a:pos x="0" y="84"/>
                </a:cxn>
                <a:cxn ang="0">
                  <a:pos x="0" y="84"/>
                </a:cxn>
                <a:cxn ang="0">
                  <a:pos x="0" y="84"/>
                </a:cxn>
                <a:cxn ang="0">
                  <a:pos x="0" y="84"/>
                </a:cxn>
                <a:cxn ang="0">
                  <a:pos x="0" y="84"/>
                </a:cxn>
              </a:cxnLst>
              <a:rect l="txL" t="txT" r="txR" b="txB"/>
              <a:pathLst>
                <a:path w="72" h="84">
                  <a:moveTo>
                    <a:pt x="0" y="84"/>
                  </a:moveTo>
                  <a:lnTo>
                    <a:pt x="6" y="48"/>
                  </a:lnTo>
                  <a:lnTo>
                    <a:pt x="18" y="24"/>
                  </a:lnTo>
                  <a:lnTo>
                    <a:pt x="42" y="6"/>
                  </a:lnTo>
                  <a:lnTo>
                    <a:pt x="72" y="0"/>
                  </a:lnTo>
                  <a:lnTo>
                    <a:pt x="42" y="6"/>
                  </a:lnTo>
                  <a:lnTo>
                    <a:pt x="18"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0" name="Freeform 53"/>
            <p:cNvSpPr>
              <a:spLocks noEditPoints="1"/>
            </p:cNvSpPr>
            <p:nvPr/>
          </p:nvSpPr>
          <p:spPr>
            <a:xfrm>
              <a:off x="1699" y="496"/>
              <a:ext cx="65" cy="84"/>
            </a:xfrm>
            <a:custGeom>
              <a:avLst/>
              <a:gdLst>
                <a:gd name="txL" fmla="*/ 0 w 65"/>
                <a:gd name="txT" fmla="*/ 0 h 84"/>
                <a:gd name="txR" fmla="*/ 65 w 65"/>
                <a:gd name="txB" fmla="*/ 84 h 84"/>
              </a:gdLst>
              <a:ahLst/>
              <a:cxnLst>
                <a:cxn ang="0">
                  <a:pos x="0" y="0"/>
                </a:cxn>
                <a:cxn ang="0">
                  <a:pos x="24" y="6"/>
                </a:cxn>
                <a:cxn ang="0">
                  <a:pos x="48" y="24"/>
                </a:cxn>
                <a:cxn ang="0">
                  <a:pos x="59" y="48"/>
                </a:cxn>
                <a:cxn ang="0">
                  <a:pos x="65" y="84"/>
                </a:cxn>
                <a:cxn ang="0">
                  <a:pos x="65" y="84"/>
                </a:cxn>
                <a:cxn ang="0">
                  <a:pos x="59" y="48"/>
                </a:cxn>
                <a:cxn ang="0">
                  <a:pos x="48" y="24"/>
                </a:cxn>
                <a:cxn ang="0">
                  <a:pos x="24" y="6"/>
                </a:cxn>
                <a:cxn ang="0">
                  <a:pos x="0" y="0"/>
                </a:cxn>
                <a:cxn ang="0">
                  <a:pos x="0" y="0"/>
                </a:cxn>
                <a:cxn ang="0">
                  <a:pos x="0" y="0"/>
                </a:cxn>
                <a:cxn ang="0">
                  <a:pos x="0" y="0"/>
                </a:cxn>
                <a:cxn ang="0">
                  <a:pos x="0" y="0"/>
                </a:cxn>
              </a:cxnLst>
              <a:rect l="txL" t="txT" r="txR" b="txB"/>
              <a:pathLst>
                <a:path w="65" h="84">
                  <a:moveTo>
                    <a:pt x="0" y="0"/>
                  </a:moveTo>
                  <a:lnTo>
                    <a:pt x="24" y="6"/>
                  </a:lnTo>
                  <a:lnTo>
                    <a:pt x="48" y="24"/>
                  </a:lnTo>
                  <a:lnTo>
                    <a:pt x="59" y="48"/>
                  </a:lnTo>
                  <a:lnTo>
                    <a:pt x="65" y="84"/>
                  </a:lnTo>
                  <a:lnTo>
                    <a:pt x="59"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1" name="Freeform 54"/>
            <p:cNvSpPr>
              <a:spLocks noEditPoints="1"/>
            </p:cNvSpPr>
            <p:nvPr/>
          </p:nvSpPr>
          <p:spPr>
            <a:xfrm>
              <a:off x="1747" y="580"/>
              <a:ext cx="17" cy="60"/>
            </a:xfrm>
            <a:custGeom>
              <a:avLst/>
              <a:gdLst>
                <a:gd name="txL" fmla="*/ 0 w 17"/>
                <a:gd name="txT" fmla="*/ 0 h 60"/>
                <a:gd name="txR" fmla="*/ 17 w 17"/>
                <a:gd name="txB" fmla="*/ 60 h 60"/>
              </a:gdLst>
              <a:ahLst/>
              <a:cxnLst>
                <a:cxn ang="0">
                  <a:pos x="17" y="0"/>
                </a:cxn>
                <a:cxn ang="0">
                  <a:pos x="11" y="30"/>
                </a:cxn>
                <a:cxn ang="0">
                  <a:pos x="0" y="60"/>
                </a:cxn>
                <a:cxn ang="0">
                  <a:pos x="0" y="60"/>
                </a:cxn>
                <a:cxn ang="0">
                  <a:pos x="11" y="30"/>
                </a:cxn>
                <a:cxn ang="0">
                  <a:pos x="17" y="0"/>
                </a:cxn>
                <a:cxn ang="0">
                  <a:pos x="17" y="0"/>
                </a:cxn>
                <a:cxn ang="0">
                  <a:pos x="17" y="0"/>
                </a:cxn>
                <a:cxn ang="0">
                  <a:pos x="17" y="0"/>
                </a:cxn>
                <a:cxn ang="0">
                  <a:pos x="17" y="0"/>
                </a:cxn>
              </a:cxnLst>
              <a:rect l="txL" t="txT" r="txR" b="txB"/>
              <a:pathLst>
                <a:path w="17" h="60">
                  <a:moveTo>
                    <a:pt x="17" y="0"/>
                  </a:moveTo>
                  <a:lnTo>
                    <a:pt x="11" y="30"/>
                  </a:lnTo>
                  <a:lnTo>
                    <a:pt x="0" y="60"/>
                  </a:lnTo>
                  <a:lnTo>
                    <a:pt x="11" y="30"/>
                  </a:lnTo>
                  <a:lnTo>
                    <a:pt x="17" y="0"/>
                  </a:lnTo>
                  <a:close/>
                  <a:moveTo>
                    <a:pt x="17" y="0"/>
                  </a:moveTo>
                  <a:lnTo>
                    <a:pt x="17"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2" name="Freeform 55"/>
            <p:cNvSpPr>
              <a:spLocks noEditPoints="1"/>
            </p:cNvSpPr>
            <p:nvPr/>
          </p:nvSpPr>
          <p:spPr>
            <a:xfrm>
              <a:off x="1729"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3" name="Freeform 56"/>
            <p:cNvSpPr>
              <a:spLocks noEditPoints="1"/>
            </p:cNvSpPr>
            <p:nvPr/>
          </p:nvSpPr>
          <p:spPr>
            <a:xfrm>
              <a:off x="1729" y="496"/>
              <a:ext cx="71" cy="84"/>
            </a:xfrm>
            <a:custGeom>
              <a:avLst/>
              <a:gdLst>
                <a:gd name="txL" fmla="*/ 0 w 71"/>
                <a:gd name="txT" fmla="*/ 0 h 84"/>
                <a:gd name="txR" fmla="*/ 71 w 71"/>
                <a:gd name="txB" fmla="*/ 84 h 84"/>
              </a:gdLst>
              <a:ahLst/>
              <a:cxnLst>
                <a:cxn ang="0">
                  <a:pos x="0" y="84"/>
                </a:cxn>
                <a:cxn ang="0">
                  <a:pos x="6" y="48"/>
                </a:cxn>
                <a:cxn ang="0">
                  <a:pos x="18" y="24"/>
                </a:cxn>
                <a:cxn ang="0">
                  <a:pos x="41" y="6"/>
                </a:cxn>
                <a:cxn ang="0">
                  <a:pos x="71" y="0"/>
                </a:cxn>
                <a:cxn ang="0">
                  <a:pos x="71" y="0"/>
                </a:cxn>
                <a:cxn ang="0">
                  <a:pos x="41" y="6"/>
                </a:cxn>
                <a:cxn ang="0">
                  <a:pos x="18" y="24"/>
                </a:cxn>
                <a:cxn ang="0">
                  <a:pos x="6" y="48"/>
                </a:cxn>
                <a:cxn ang="0">
                  <a:pos x="0" y="84"/>
                </a:cxn>
                <a:cxn ang="0">
                  <a:pos x="0" y="84"/>
                </a:cxn>
                <a:cxn ang="0">
                  <a:pos x="0" y="84"/>
                </a:cxn>
                <a:cxn ang="0">
                  <a:pos x="0" y="84"/>
                </a:cxn>
                <a:cxn ang="0">
                  <a:pos x="0" y="84"/>
                </a:cxn>
              </a:cxnLst>
              <a:rect l="txL" t="txT" r="txR" b="txB"/>
              <a:pathLst>
                <a:path w="71" h="84">
                  <a:moveTo>
                    <a:pt x="0" y="84"/>
                  </a:moveTo>
                  <a:lnTo>
                    <a:pt x="6" y="48"/>
                  </a:lnTo>
                  <a:lnTo>
                    <a:pt x="18" y="24"/>
                  </a:lnTo>
                  <a:lnTo>
                    <a:pt x="41" y="6"/>
                  </a:lnTo>
                  <a:lnTo>
                    <a:pt x="71" y="0"/>
                  </a:lnTo>
                  <a:lnTo>
                    <a:pt x="41" y="6"/>
                  </a:lnTo>
                  <a:lnTo>
                    <a:pt x="18"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4" name="Freeform 57"/>
            <p:cNvSpPr>
              <a:spLocks noEditPoints="1"/>
            </p:cNvSpPr>
            <p:nvPr/>
          </p:nvSpPr>
          <p:spPr>
            <a:xfrm>
              <a:off x="1800" y="496"/>
              <a:ext cx="72" cy="84"/>
            </a:xfrm>
            <a:custGeom>
              <a:avLst/>
              <a:gdLst>
                <a:gd name="txL" fmla="*/ 0 w 72"/>
                <a:gd name="txT" fmla="*/ 0 h 84"/>
                <a:gd name="txR" fmla="*/ 72 w 72"/>
                <a:gd name="txB" fmla="*/ 84 h 84"/>
              </a:gdLst>
              <a:ahLst/>
              <a:cxnLst>
                <a:cxn ang="0">
                  <a:pos x="0" y="0"/>
                </a:cxn>
                <a:cxn ang="0">
                  <a:pos x="24" y="6"/>
                </a:cxn>
                <a:cxn ang="0">
                  <a:pos x="48" y="24"/>
                </a:cxn>
                <a:cxn ang="0">
                  <a:pos x="66" y="48"/>
                </a:cxn>
                <a:cxn ang="0">
                  <a:pos x="72" y="84"/>
                </a:cxn>
                <a:cxn ang="0">
                  <a:pos x="72" y="84"/>
                </a:cxn>
                <a:cxn ang="0">
                  <a:pos x="66" y="48"/>
                </a:cxn>
                <a:cxn ang="0">
                  <a:pos x="48" y="24"/>
                </a:cxn>
                <a:cxn ang="0">
                  <a:pos x="24" y="6"/>
                </a:cxn>
                <a:cxn ang="0">
                  <a:pos x="0" y="0"/>
                </a:cxn>
                <a:cxn ang="0">
                  <a:pos x="0" y="0"/>
                </a:cxn>
                <a:cxn ang="0">
                  <a:pos x="0" y="0"/>
                </a:cxn>
                <a:cxn ang="0">
                  <a:pos x="0" y="0"/>
                </a:cxn>
                <a:cxn ang="0">
                  <a:pos x="0" y="0"/>
                </a:cxn>
              </a:cxnLst>
              <a:rect l="txL" t="txT" r="txR" b="txB"/>
              <a:pathLst>
                <a:path w="72" h="84">
                  <a:moveTo>
                    <a:pt x="0" y="0"/>
                  </a:moveTo>
                  <a:lnTo>
                    <a:pt x="24" y="6"/>
                  </a:lnTo>
                  <a:lnTo>
                    <a:pt x="48" y="24"/>
                  </a:lnTo>
                  <a:lnTo>
                    <a:pt x="66" y="48"/>
                  </a:lnTo>
                  <a:lnTo>
                    <a:pt x="72" y="84"/>
                  </a:lnTo>
                  <a:lnTo>
                    <a:pt x="66"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5" name="Freeform 58"/>
            <p:cNvSpPr>
              <a:spLocks noEditPoints="1"/>
            </p:cNvSpPr>
            <p:nvPr/>
          </p:nvSpPr>
          <p:spPr>
            <a:xfrm>
              <a:off x="1848" y="580"/>
              <a:ext cx="24" cy="60"/>
            </a:xfrm>
            <a:custGeom>
              <a:avLst/>
              <a:gdLst>
                <a:gd name="txL" fmla="*/ 0 w 24"/>
                <a:gd name="txT" fmla="*/ 0 h 60"/>
                <a:gd name="txR" fmla="*/ 24 w 24"/>
                <a:gd name="txB" fmla="*/ 60 h 60"/>
              </a:gdLst>
              <a:ahLst/>
              <a:cxnLst>
                <a:cxn ang="0">
                  <a:pos x="24" y="0"/>
                </a:cxn>
                <a:cxn ang="0">
                  <a:pos x="18" y="30"/>
                </a:cxn>
                <a:cxn ang="0">
                  <a:pos x="6" y="60"/>
                </a:cxn>
                <a:cxn ang="0">
                  <a:pos x="0" y="60"/>
                </a:cxn>
                <a:cxn ang="0">
                  <a:pos x="18" y="30"/>
                </a:cxn>
                <a:cxn ang="0">
                  <a:pos x="24" y="0"/>
                </a:cxn>
                <a:cxn ang="0">
                  <a:pos x="24" y="0"/>
                </a:cxn>
                <a:cxn ang="0">
                  <a:pos x="24" y="0"/>
                </a:cxn>
                <a:cxn ang="0">
                  <a:pos x="24" y="0"/>
                </a:cxn>
                <a:cxn ang="0">
                  <a:pos x="24" y="0"/>
                </a:cxn>
              </a:cxnLst>
              <a:rect l="txL" t="txT" r="txR" b="txB"/>
              <a:pathLst>
                <a:path w="24" h="60">
                  <a:moveTo>
                    <a:pt x="24" y="0"/>
                  </a:moveTo>
                  <a:lnTo>
                    <a:pt x="18" y="30"/>
                  </a:lnTo>
                  <a:lnTo>
                    <a:pt x="6" y="60"/>
                  </a:lnTo>
                  <a:lnTo>
                    <a:pt x="0" y="60"/>
                  </a:lnTo>
                  <a:lnTo>
                    <a:pt x="18" y="3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6" name="Freeform 59"/>
            <p:cNvSpPr>
              <a:spLocks noEditPoints="1"/>
            </p:cNvSpPr>
            <p:nvPr/>
          </p:nvSpPr>
          <p:spPr>
            <a:xfrm>
              <a:off x="1830" y="580"/>
              <a:ext cx="24" cy="60"/>
            </a:xfrm>
            <a:custGeom>
              <a:avLst/>
              <a:gdLst>
                <a:gd name="txL" fmla="*/ 0 w 24"/>
                <a:gd name="txT" fmla="*/ 0 h 60"/>
                <a:gd name="txR" fmla="*/ 24 w 24"/>
                <a:gd name="txB" fmla="*/ 60 h 60"/>
              </a:gdLst>
              <a:ahLst/>
              <a:cxnLst>
                <a:cxn ang="0">
                  <a:pos x="18" y="60"/>
                </a:cxn>
                <a:cxn ang="0">
                  <a:pos x="6" y="30"/>
                </a:cxn>
                <a:cxn ang="0">
                  <a:pos x="0" y="0"/>
                </a:cxn>
                <a:cxn ang="0">
                  <a:pos x="0" y="0"/>
                </a:cxn>
                <a:cxn ang="0">
                  <a:pos x="6" y="30"/>
                </a:cxn>
                <a:cxn ang="0">
                  <a:pos x="24" y="60"/>
                </a:cxn>
                <a:cxn ang="0">
                  <a:pos x="18" y="60"/>
                </a:cxn>
                <a:cxn ang="0">
                  <a:pos x="18" y="60"/>
                </a:cxn>
                <a:cxn ang="0">
                  <a:pos x="18" y="60"/>
                </a:cxn>
                <a:cxn ang="0">
                  <a:pos x="18" y="60"/>
                </a:cxn>
              </a:cxnLst>
              <a:rect l="txL" t="txT" r="txR" b="txB"/>
              <a:pathLst>
                <a:path w="24" h="60">
                  <a:moveTo>
                    <a:pt x="18" y="60"/>
                  </a:moveTo>
                  <a:lnTo>
                    <a:pt x="6" y="30"/>
                  </a:lnTo>
                  <a:lnTo>
                    <a:pt x="0" y="0"/>
                  </a:lnTo>
                  <a:lnTo>
                    <a:pt x="6" y="30"/>
                  </a:lnTo>
                  <a:lnTo>
                    <a:pt x="24" y="6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7" name="Freeform 60"/>
            <p:cNvSpPr>
              <a:spLocks noEditPoints="1"/>
            </p:cNvSpPr>
            <p:nvPr/>
          </p:nvSpPr>
          <p:spPr>
            <a:xfrm>
              <a:off x="1830" y="496"/>
              <a:ext cx="72" cy="84"/>
            </a:xfrm>
            <a:custGeom>
              <a:avLst/>
              <a:gdLst>
                <a:gd name="txL" fmla="*/ 0 w 72"/>
                <a:gd name="txT" fmla="*/ 0 h 84"/>
                <a:gd name="txR" fmla="*/ 72 w 72"/>
                <a:gd name="txB" fmla="*/ 84 h 84"/>
              </a:gdLst>
              <a:ahLst/>
              <a:cxnLst>
                <a:cxn ang="0">
                  <a:pos x="0" y="84"/>
                </a:cxn>
                <a:cxn ang="0">
                  <a:pos x="6" y="48"/>
                </a:cxn>
                <a:cxn ang="0">
                  <a:pos x="24" y="24"/>
                </a:cxn>
                <a:cxn ang="0">
                  <a:pos x="48" y="6"/>
                </a:cxn>
                <a:cxn ang="0">
                  <a:pos x="72" y="0"/>
                </a:cxn>
                <a:cxn ang="0">
                  <a:pos x="72" y="0"/>
                </a:cxn>
                <a:cxn ang="0">
                  <a:pos x="48" y="6"/>
                </a:cxn>
                <a:cxn ang="0">
                  <a:pos x="24" y="24"/>
                </a:cxn>
                <a:cxn ang="0">
                  <a:pos x="6" y="48"/>
                </a:cxn>
                <a:cxn ang="0">
                  <a:pos x="0" y="84"/>
                </a:cxn>
                <a:cxn ang="0">
                  <a:pos x="0" y="84"/>
                </a:cxn>
                <a:cxn ang="0">
                  <a:pos x="0" y="84"/>
                </a:cxn>
                <a:cxn ang="0">
                  <a:pos x="0" y="84"/>
                </a:cxn>
                <a:cxn ang="0">
                  <a:pos x="0" y="84"/>
                </a:cxn>
              </a:cxnLst>
              <a:rect l="txL" t="txT" r="txR" b="txB"/>
              <a:pathLst>
                <a:path w="72" h="84">
                  <a:moveTo>
                    <a:pt x="0" y="84"/>
                  </a:moveTo>
                  <a:lnTo>
                    <a:pt x="6" y="48"/>
                  </a:lnTo>
                  <a:lnTo>
                    <a:pt x="24" y="24"/>
                  </a:lnTo>
                  <a:lnTo>
                    <a:pt x="48" y="6"/>
                  </a:lnTo>
                  <a:lnTo>
                    <a:pt x="72" y="0"/>
                  </a:lnTo>
                  <a:lnTo>
                    <a:pt x="48" y="6"/>
                  </a:lnTo>
                  <a:lnTo>
                    <a:pt x="24"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8" name="Freeform 61"/>
            <p:cNvSpPr>
              <a:spLocks noEditPoints="1"/>
            </p:cNvSpPr>
            <p:nvPr/>
          </p:nvSpPr>
          <p:spPr>
            <a:xfrm>
              <a:off x="1902" y="496"/>
              <a:ext cx="72" cy="84"/>
            </a:xfrm>
            <a:custGeom>
              <a:avLst/>
              <a:gdLst>
                <a:gd name="txL" fmla="*/ 0 w 72"/>
                <a:gd name="txT" fmla="*/ 0 h 84"/>
                <a:gd name="txR" fmla="*/ 72 w 72"/>
                <a:gd name="txB" fmla="*/ 84 h 84"/>
              </a:gdLst>
              <a:ahLst/>
              <a:cxnLst>
                <a:cxn ang="0">
                  <a:pos x="0" y="0"/>
                </a:cxn>
                <a:cxn ang="0">
                  <a:pos x="24" y="6"/>
                </a:cxn>
                <a:cxn ang="0">
                  <a:pos x="48" y="24"/>
                </a:cxn>
                <a:cxn ang="0">
                  <a:pos x="66" y="48"/>
                </a:cxn>
                <a:cxn ang="0">
                  <a:pos x="72" y="84"/>
                </a:cxn>
                <a:cxn ang="0">
                  <a:pos x="72" y="84"/>
                </a:cxn>
                <a:cxn ang="0">
                  <a:pos x="66" y="48"/>
                </a:cxn>
                <a:cxn ang="0">
                  <a:pos x="48" y="24"/>
                </a:cxn>
                <a:cxn ang="0">
                  <a:pos x="24" y="6"/>
                </a:cxn>
                <a:cxn ang="0">
                  <a:pos x="0" y="0"/>
                </a:cxn>
                <a:cxn ang="0">
                  <a:pos x="0" y="0"/>
                </a:cxn>
                <a:cxn ang="0">
                  <a:pos x="0" y="0"/>
                </a:cxn>
                <a:cxn ang="0">
                  <a:pos x="0" y="0"/>
                </a:cxn>
                <a:cxn ang="0">
                  <a:pos x="0" y="0"/>
                </a:cxn>
              </a:cxnLst>
              <a:rect l="txL" t="txT" r="txR" b="txB"/>
              <a:pathLst>
                <a:path w="72" h="84">
                  <a:moveTo>
                    <a:pt x="0" y="0"/>
                  </a:moveTo>
                  <a:lnTo>
                    <a:pt x="24" y="6"/>
                  </a:lnTo>
                  <a:lnTo>
                    <a:pt x="48" y="24"/>
                  </a:lnTo>
                  <a:lnTo>
                    <a:pt x="66" y="48"/>
                  </a:lnTo>
                  <a:lnTo>
                    <a:pt x="72" y="84"/>
                  </a:lnTo>
                  <a:lnTo>
                    <a:pt x="66"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39" name="Freeform 62"/>
            <p:cNvSpPr>
              <a:spLocks noEditPoints="1"/>
            </p:cNvSpPr>
            <p:nvPr/>
          </p:nvSpPr>
          <p:spPr>
            <a:xfrm>
              <a:off x="1525" y="580"/>
              <a:ext cx="449" cy="1"/>
            </a:xfrm>
            <a:custGeom>
              <a:avLst/>
              <a:gdLst>
                <a:gd name="txL" fmla="*/ 0 w 449"/>
                <a:gd name="txT" fmla="*/ 0 h 1"/>
                <a:gd name="txR" fmla="*/ 449 w 449"/>
                <a:gd name="txB" fmla="*/ 1 h 1"/>
              </a:gdLst>
              <a:ahLst/>
              <a:cxnLst>
                <a:cxn ang="0">
                  <a:pos x="0" y="0"/>
                </a:cxn>
                <a:cxn ang="0">
                  <a:pos x="0" y="0"/>
                </a:cxn>
                <a:cxn ang="0">
                  <a:pos x="0" y="0"/>
                </a:cxn>
                <a:cxn ang="0">
                  <a:pos x="449" y="0"/>
                </a:cxn>
                <a:cxn ang="0">
                  <a:pos x="449" y="0"/>
                </a:cxn>
                <a:cxn ang="0">
                  <a:pos x="449" y="0"/>
                </a:cxn>
              </a:cxnLst>
              <a:rect l="txL" t="txT" r="txR" b="txB"/>
              <a:pathLst>
                <a:path w="449" h="1">
                  <a:moveTo>
                    <a:pt x="0" y="0"/>
                  </a:moveTo>
                  <a:lnTo>
                    <a:pt x="0" y="0"/>
                  </a:lnTo>
                  <a:close/>
                  <a:moveTo>
                    <a:pt x="449" y="0"/>
                  </a:moveTo>
                  <a:lnTo>
                    <a:pt x="44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40" name="Freeform 63"/>
            <p:cNvSpPr/>
            <p:nvPr/>
          </p:nvSpPr>
          <p:spPr>
            <a:xfrm>
              <a:off x="2207" y="544"/>
              <a:ext cx="449" cy="78"/>
            </a:xfrm>
            <a:custGeom>
              <a:avLst/>
              <a:gdLst>
                <a:gd name="txL" fmla="*/ 0 w 449"/>
                <a:gd name="txT" fmla="*/ 0 h 78"/>
                <a:gd name="txR" fmla="*/ 449 w 449"/>
                <a:gd name="txB" fmla="*/ 78 h 78"/>
              </a:gdLst>
              <a:ahLst/>
              <a:cxnLst>
                <a:cxn ang="0">
                  <a:pos x="449" y="78"/>
                </a:cxn>
                <a:cxn ang="0">
                  <a:pos x="449" y="0"/>
                </a:cxn>
                <a:cxn ang="0">
                  <a:pos x="0" y="0"/>
                </a:cxn>
                <a:cxn ang="0">
                  <a:pos x="0" y="78"/>
                </a:cxn>
                <a:cxn ang="0">
                  <a:pos x="449" y="78"/>
                </a:cxn>
                <a:cxn ang="0">
                  <a:pos x="449" y="78"/>
                </a:cxn>
              </a:cxnLst>
              <a:rect l="txL" t="txT" r="txR" b="txB"/>
              <a:pathLst>
                <a:path w="449" h="78">
                  <a:moveTo>
                    <a:pt x="449" y="78"/>
                  </a:moveTo>
                  <a:lnTo>
                    <a:pt x="449" y="0"/>
                  </a:lnTo>
                  <a:lnTo>
                    <a:pt x="0" y="0"/>
                  </a:lnTo>
                  <a:lnTo>
                    <a:pt x="0" y="78"/>
                  </a:lnTo>
                  <a:lnTo>
                    <a:pt x="449" y="78"/>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3841" name="Freeform 64"/>
            <p:cNvSpPr/>
            <p:nvPr/>
          </p:nvSpPr>
          <p:spPr>
            <a:xfrm>
              <a:off x="2207"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72" y="0"/>
                </a:cxn>
                <a:cxn ang="0">
                  <a:pos x="42" y="6"/>
                </a:cxn>
                <a:cxn ang="0">
                  <a:pos x="18" y="24"/>
                </a:cxn>
                <a:cxn ang="0">
                  <a:pos x="6" y="48"/>
                </a:cxn>
                <a:cxn ang="0">
                  <a:pos x="0" y="84"/>
                </a:cxn>
                <a:cxn ang="0">
                  <a:pos x="0" y="84"/>
                </a:cxn>
              </a:cxnLst>
              <a:rect l="txL" t="txT" r="txR" b="txB"/>
              <a:pathLst>
                <a:path w="72" h="84">
                  <a:moveTo>
                    <a:pt x="0" y="84"/>
                  </a:moveTo>
                  <a:lnTo>
                    <a:pt x="6" y="48"/>
                  </a:lnTo>
                  <a:lnTo>
                    <a:pt x="18" y="24"/>
                  </a:lnTo>
                  <a:lnTo>
                    <a:pt x="42" y="6"/>
                  </a:lnTo>
                  <a:lnTo>
                    <a:pt x="72" y="0"/>
                  </a:lnTo>
                  <a:lnTo>
                    <a:pt x="42" y="6"/>
                  </a:lnTo>
                  <a:lnTo>
                    <a:pt x="18" y="24"/>
                  </a:lnTo>
                  <a:lnTo>
                    <a:pt x="6" y="48"/>
                  </a:ln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42" name="Freeform 65"/>
            <p:cNvSpPr>
              <a:spLocks noEditPoints="1"/>
            </p:cNvSpPr>
            <p:nvPr/>
          </p:nvSpPr>
          <p:spPr>
            <a:xfrm>
              <a:off x="2279" y="496"/>
              <a:ext cx="66" cy="84"/>
            </a:xfrm>
            <a:custGeom>
              <a:avLst/>
              <a:gdLst>
                <a:gd name="txL" fmla="*/ 0 w 66"/>
                <a:gd name="txT" fmla="*/ 0 h 84"/>
                <a:gd name="txR" fmla="*/ 66 w 66"/>
                <a:gd name="txB" fmla="*/ 84 h 84"/>
              </a:gdLst>
              <a:ahLst/>
              <a:cxnLst>
                <a:cxn ang="0">
                  <a:pos x="0" y="0"/>
                </a:cxn>
                <a:cxn ang="0">
                  <a:pos x="24" y="6"/>
                </a:cxn>
                <a:cxn ang="0">
                  <a:pos x="48" y="24"/>
                </a:cxn>
                <a:cxn ang="0">
                  <a:pos x="60" y="48"/>
                </a:cxn>
                <a:cxn ang="0">
                  <a:pos x="66" y="84"/>
                </a:cxn>
                <a:cxn ang="0">
                  <a:pos x="66" y="84"/>
                </a:cxn>
                <a:cxn ang="0">
                  <a:pos x="60" y="48"/>
                </a:cxn>
                <a:cxn ang="0">
                  <a:pos x="48" y="24"/>
                </a:cxn>
                <a:cxn ang="0">
                  <a:pos x="24" y="6"/>
                </a:cxn>
                <a:cxn ang="0">
                  <a:pos x="0" y="0"/>
                </a:cxn>
                <a:cxn ang="0">
                  <a:pos x="0" y="0"/>
                </a:cxn>
                <a:cxn ang="0">
                  <a:pos x="0" y="0"/>
                </a:cxn>
                <a:cxn ang="0">
                  <a:pos x="0" y="0"/>
                </a:cxn>
                <a:cxn ang="0">
                  <a:pos x="0" y="0"/>
                </a:cxn>
              </a:cxnLst>
              <a:rect l="txL" t="txT" r="txR" b="txB"/>
              <a:pathLst>
                <a:path w="66" h="84">
                  <a:moveTo>
                    <a:pt x="0" y="0"/>
                  </a:moveTo>
                  <a:lnTo>
                    <a:pt x="24" y="6"/>
                  </a:lnTo>
                  <a:lnTo>
                    <a:pt x="48" y="24"/>
                  </a:lnTo>
                  <a:lnTo>
                    <a:pt x="60" y="48"/>
                  </a:lnTo>
                  <a:lnTo>
                    <a:pt x="66" y="84"/>
                  </a:lnTo>
                  <a:lnTo>
                    <a:pt x="60"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43" name="Freeform 66"/>
            <p:cNvSpPr>
              <a:spLocks noEditPoints="1"/>
            </p:cNvSpPr>
            <p:nvPr/>
          </p:nvSpPr>
          <p:spPr>
            <a:xfrm>
              <a:off x="2327" y="580"/>
              <a:ext cx="18" cy="60"/>
            </a:xfrm>
            <a:custGeom>
              <a:avLst/>
              <a:gdLst>
                <a:gd name="txL" fmla="*/ 0 w 18"/>
                <a:gd name="txT" fmla="*/ 0 h 60"/>
                <a:gd name="txR" fmla="*/ 18 w 18"/>
                <a:gd name="txB" fmla="*/ 60 h 60"/>
              </a:gdLst>
              <a:ahLst/>
              <a:cxnLst>
                <a:cxn ang="0">
                  <a:pos x="18" y="0"/>
                </a:cxn>
                <a:cxn ang="0">
                  <a:pos x="12" y="30"/>
                </a:cxn>
                <a:cxn ang="0">
                  <a:pos x="0" y="60"/>
                </a:cxn>
                <a:cxn ang="0">
                  <a:pos x="0" y="60"/>
                </a:cxn>
                <a:cxn ang="0">
                  <a:pos x="12" y="30"/>
                </a:cxn>
                <a:cxn ang="0">
                  <a:pos x="18" y="0"/>
                </a:cxn>
                <a:cxn ang="0">
                  <a:pos x="18" y="0"/>
                </a:cxn>
                <a:cxn ang="0">
                  <a:pos x="18" y="0"/>
                </a:cxn>
                <a:cxn ang="0">
                  <a:pos x="18" y="0"/>
                </a:cxn>
                <a:cxn ang="0">
                  <a:pos x="18" y="0"/>
                </a:cxn>
              </a:cxnLst>
              <a:rect l="txL" t="txT" r="txR" b="txB"/>
              <a:pathLst>
                <a:path w="18" h="60">
                  <a:moveTo>
                    <a:pt x="18" y="0"/>
                  </a:moveTo>
                  <a:lnTo>
                    <a:pt x="12" y="30"/>
                  </a:lnTo>
                  <a:lnTo>
                    <a:pt x="0" y="60"/>
                  </a:lnTo>
                  <a:lnTo>
                    <a:pt x="12" y="3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44" name="Freeform 67"/>
            <p:cNvSpPr>
              <a:spLocks noEditPoints="1"/>
            </p:cNvSpPr>
            <p:nvPr/>
          </p:nvSpPr>
          <p:spPr>
            <a:xfrm>
              <a:off x="2309"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45" name="Freeform 68"/>
            <p:cNvSpPr>
              <a:spLocks noEditPoints="1"/>
            </p:cNvSpPr>
            <p:nvPr/>
          </p:nvSpPr>
          <p:spPr>
            <a:xfrm>
              <a:off x="2309"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72" y="0"/>
                </a:cxn>
                <a:cxn ang="0">
                  <a:pos x="42" y="6"/>
                </a:cxn>
                <a:cxn ang="0">
                  <a:pos x="18" y="24"/>
                </a:cxn>
                <a:cxn ang="0">
                  <a:pos x="6" y="48"/>
                </a:cxn>
                <a:cxn ang="0">
                  <a:pos x="0" y="84"/>
                </a:cxn>
                <a:cxn ang="0">
                  <a:pos x="0" y="84"/>
                </a:cxn>
                <a:cxn ang="0">
                  <a:pos x="0" y="84"/>
                </a:cxn>
                <a:cxn ang="0">
                  <a:pos x="0" y="84"/>
                </a:cxn>
                <a:cxn ang="0">
                  <a:pos x="0" y="84"/>
                </a:cxn>
              </a:cxnLst>
              <a:rect l="txL" t="txT" r="txR" b="txB"/>
              <a:pathLst>
                <a:path w="72" h="84">
                  <a:moveTo>
                    <a:pt x="0" y="84"/>
                  </a:moveTo>
                  <a:lnTo>
                    <a:pt x="6" y="48"/>
                  </a:lnTo>
                  <a:lnTo>
                    <a:pt x="18" y="24"/>
                  </a:lnTo>
                  <a:lnTo>
                    <a:pt x="42" y="6"/>
                  </a:lnTo>
                  <a:lnTo>
                    <a:pt x="72" y="0"/>
                  </a:lnTo>
                  <a:lnTo>
                    <a:pt x="42" y="6"/>
                  </a:lnTo>
                  <a:lnTo>
                    <a:pt x="18"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46" name="Freeform 69"/>
            <p:cNvSpPr>
              <a:spLocks noEditPoints="1"/>
            </p:cNvSpPr>
            <p:nvPr/>
          </p:nvSpPr>
          <p:spPr>
            <a:xfrm>
              <a:off x="2381" y="496"/>
              <a:ext cx="65" cy="84"/>
            </a:xfrm>
            <a:custGeom>
              <a:avLst/>
              <a:gdLst>
                <a:gd name="txL" fmla="*/ 0 w 65"/>
                <a:gd name="txT" fmla="*/ 0 h 84"/>
                <a:gd name="txR" fmla="*/ 65 w 65"/>
                <a:gd name="txB" fmla="*/ 84 h 84"/>
              </a:gdLst>
              <a:ahLst/>
              <a:cxnLst>
                <a:cxn ang="0">
                  <a:pos x="0" y="0"/>
                </a:cxn>
                <a:cxn ang="0">
                  <a:pos x="23" y="6"/>
                </a:cxn>
                <a:cxn ang="0">
                  <a:pos x="47" y="24"/>
                </a:cxn>
                <a:cxn ang="0">
                  <a:pos x="59" y="48"/>
                </a:cxn>
                <a:cxn ang="0">
                  <a:pos x="65" y="84"/>
                </a:cxn>
                <a:cxn ang="0">
                  <a:pos x="65" y="84"/>
                </a:cxn>
                <a:cxn ang="0">
                  <a:pos x="59" y="48"/>
                </a:cxn>
                <a:cxn ang="0">
                  <a:pos x="47" y="24"/>
                </a:cxn>
                <a:cxn ang="0">
                  <a:pos x="23" y="6"/>
                </a:cxn>
                <a:cxn ang="0">
                  <a:pos x="0" y="0"/>
                </a:cxn>
                <a:cxn ang="0">
                  <a:pos x="0" y="0"/>
                </a:cxn>
                <a:cxn ang="0">
                  <a:pos x="0" y="0"/>
                </a:cxn>
                <a:cxn ang="0">
                  <a:pos x="0" y="0"/>
                </a:cxn>
                <a:cxn ang="0">
                  <a:pos x="0" y="0"/>
                </a:cxn>
              </a:cxnLst>
              <a:rect l="txL" t="txT" r="txR" b="txB"/>
              <a:pathLst>
                <a:path w="65" h="84">
                  <a:moveTo>
                    <a:pt x="0" y="0"/>
                  </a:moveTo>
                  <a:lnTo>
                    <a:pt x="23" y="6"/>
                  </a:lnTo>
                  <a:lnTo>
                    <a:pt x="47" y="24"/>
                  </a:lnTo>
                  <a:lnTo>
                    <a:pt x="59" y="48"/>
                  </a:lnTo>
                  <a:lnTo>
                    <a:pt x="65" y="84"/>
                  </a:lnTo>
                  <a:lnTo>
                    <a:pt x="59" y="48"/>
                  </a:lnTo>
                  <a:lnTo>
                    <a:pt x="47" y="24"/>
                  </a:lnTo>
                  <a:lnTo>
                    <a:pt x="23"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47" name="Freeform 70"/>
            <p:cNvSpPr>
              <a:spLocks noEditPoints="1"/>
            </p:cNvSpPr>
            <p:nvPr/>
          </p:nvSpPr>
          <p:spPr>
            <a:xfrm>
              <a:off x="2428" y="580"/>
              <a:ext cx="18" cy="60"/>
            </a:xfrm>
            <a:custGeom>
              <a:avLst/>
              <a:gdLst>
                <a:gd name="txL" fmla="*/ 0 w 18"/>
                <a:gd name="txT" fmla="*/ 0 h 60"/>
                <a:gd name="txR" fmla="*/ 18 w 18"/>
                <a:gd name="txB" fmla="*/ 60 h 60"/>
              </a:gdLst>
              <a:ahLst/>
              <a:cxnLst>
                <a:cxn ang="0">
                  <a:pos x="18" y="0"/>
                </a:cxn>
                <a:cxn ang="0">
                  <a:pos x="12" y="30"/>
                </a:cxn>
                <a:cxn ang="0">
                  <a:pos x="0" y="60"/>
                </a:cxn>
                <a:cxn ang="0">
                  <a:pos x="0" y="60"/>
                </a:cxn>
                <a:cxn ang="0">
                  <a:pos x="12" y="30"/>
                </a:cxn>
                <a:cxn ang="0">
                  <a:pos x="18" y="0"/>
                </a:cxn>
                <a:cxn ang="0">
                  <a:pos x="18" y="0"/>
                </a:cxn>
                <a:cxn ang="0">
                  <a:pos x="18" y="0"/>
                </a:cxn>
                <a:cxn ang="0">
                  <a:pos x="18" y="0"/>
                </a:cxn>
                <a:cxn ang="0">
                  <a:pos x="18" y="0"/>
                </a:cxn>
              </a:cxnLst>
              <a:rect l="txL" t="txT" r="txR" b="txB"/>
              <a:pathLst>
                <a:path w="18" h="60">
                  <a:moveTo>
                    <a:pt x="18" y="0"/>
                  </a:moveTo>
                  <a:lnTo>
                    <a:pt x="12" y="30"/>
                  </a:lnTo>
                  <a:lnTo>
                    <a:pt x="0" y="60"/>
                  </a:lnTo>
                  <a:lnTo>
                    <a:pt x="12" y="3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48" name="Freeform 71"/>
            <p:cNvSpPr>
              <a:spLocks noEditPoints="1"/>
            </p:cNvSpPr>
            <p:nvPr/>
          </p:nvSpPr>
          <p:spPr>
            <a:xfrm>
              <a:off x="2410"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49" name="Freeform 72"/>
            <p:cNvSpPr>
              <a:spLocks noEditPoints="1"/>
            </p:cNvSpPr>
            <p:nvPr/>
          </p:nvSpPr>
          <p:spPr>
            <a:xfrm>
              <a:off x="2410"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72" y="0"/>
                </a:cxn>
                <a:cxn ang="0">
                  <a:pos x="42" y="6"/>
                </a:cxn>
                <a:cxn ang="0">
                  <a:pos x="18" y="24"/>
                </a:cxn>
                <a:cxn ang="0">
                  <a:pos x="6" y="48"/>
                </a:cxn>
                <a:cxn ang="0">
                  <a:pos x="0" y="84"/>
                </a:cxn>
                <a:cxn ang="0">
                  <a:pos x="0" y="84"/>
                </a:cxn>
                <a:cxn ang="0">
                  <a:pos x="0" y="84"/>
                </a:cxn>
                <a:cxn ang="0">
                  <a:pos x="0" y="84"/>
                </a:cxn>
                <a:cxn ang="0">
                  <a:pos x="0" y="84"/>
                </a:cxn>
              </a:cxnLst>
              <a:rect l="txL" t="txT" r="txR" b="txB"/>
              <a:pathLst>
                <a:path w="72" h="84">
                  <a:moveTo>
                    <a:pt x="0" y="84"/>
                  </a:moveTo>
                  <a:lnTo>
                    <a:pt x="6" y="48"/>
                  </a:lnTo>
                  <a:lnTo>
                    <a:pt x="18" y="24"/>
                  </a:lnTo>
                  <a:lnTo>
                    <a:pt x="42" y="6"/>
                  </a:lnTo>
                  <a:lnTo>
                    <a:pt x="72" y="0"/>
                  </a:lnTo>
                  <a:lnTo>
                    <a:pt x="42" y="6"/>
                  </a:lnTo>
                  <a:lnTo>
                    <a:pt x="18"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50" name="Freeform 73"/>
            <p:cNvSpPr>
              <a:spLocks noEditPoints="1"/>
            </p:cNvSpPr>
            <p:nvPr/>
          </p:nvSpPr>
          <p:spPr>
            <a:xfrm>
              <a:off x="2482" y="496"/>
              <a:ext cx="72" cy="84"/>
            </a:xfrm>
            <a:custGeom>
              <a:avLst/>
              <a:gdLst>
                <a:gd name="txL" fmla="*/ 0 w 72"/>
                <a:gd name="txT" fmla="*/ 0 h 84"/>
                <a:gd name="txR" fmla="*/ 72 w 72"/>
                <a:gd name="txB" fmla="*/ 84 h 84"/>
              </a:gdLst>
              <a:ahLst/>
              <a:cxnLst>
                <a:cxn ang="0">
                  <a:pos x="0" y="0"/>
                </a:cxn>
                <a:cxn ang="0">
                  <a:pos x="24" y="6"/>
                </a:cxn>
                <a:cxn ang="0">
                  <a:pos x="48" y="24"/>
                </a:cxn>
                <a:cxn ang="0">
                  <a:pos x="66" y="48"/>
                </a:cxn>
                <a:cxn ang="0">
                  <a:pos x="72" y="84"/>
                </a:cxn>
                <a:cxn ang="0">
                  <a:pos x="72" y="84"/>
                </a:cxn>
                <a:cxn ang="0">
                  <a:pos x="66" y="48"/>
                </a:cxn>
                <a:cxn ang="0">
                  <a:pos x="48" y="24"/>
                </a:cxn>
                <a:cxn ang="0">
                  <a:pos x="24" y="6"/>
                </a:cxn>
                <a:cxn ang="0">
                  <a:pos x="0" y="0"/>
                </a:cxn>
                <a:cxn ang="0">
                  <a:pos x="0" y="0"/>
                </a:cxn>
                <a:cxn ang="0">
                  <a:pos x="0" y="0"/>
                </a:cxn>
                <a:cxn ang="0">
                  <a:pos x="0" y="0"/>
                </a:cxn>
                <a:cxn ang="0">
                  <a:pos x="0" y="0"/>
                </a:cxn>
              </a:cxnLst>
              <a:rect l="txL" t="txT" r="txR" b="txB"/>
              <a:pathLst>
                <a:path w="72" h="84">
                  <a:moveTo>
                    <a:pt x="0" y="0"/>
                  </a:moveTo>
                  <a:lnTo>
                    <a:pt x="24" y="6"/>
                  </a:lnTo>
                  <a:lnTo>
                    <a:pt x="48" y="24"/>
                  </a:lnTo>
                  <a:lnTo>
                    <a:pt x="66" y="48"/>
                  </a:lnTo>
                  <a:lnTo>
                    <a:pt x="72" y="84"/>
                  </a:lnTo>
                  <a:lnTo>
                    <a:pt x="66"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51" name="Freeform 74"/>
            <p:cNvSpPr>
              <a:spLocks noEditPoints="1"/>
            </p:cNvSpPr>
            <p:nvPr/>
          </p:nvSpPr>
          <p:spPr>
            <a:xfrm>
              <a:off x="2530" y="580"/>
              <a:ext cx="24" cy="60"/>
            </a:xfrm>
            <a:custGeom>
              <a:avLst/>
              <a:gdLst>
                <a:gd name="txL" fmla="*/ 0 w 24"/>
                <a:gd name="txT" fmla="*/ 0 h 60"/>
                <a:gd name="txR" fmla="*/ 24 w 24"/>
                <a:gd name="txB" fmla="*/ 60 h 60"/>
              </a:gdLst>
              <a:ahLst/>
              <a:cxnLst>
                <a:cxn ang="0">
                  <a:pos x="24" y="0"/>
                </a:cxn>
                <a:cxn ang="0">
                  <a:pos x="18" y="30"/>
                </a:cxn>
                <a:cxn ang="0">
                  <a:pos x="0" y="60"/>
                </a:cxn>
                <a:cxn ang="0">
                  <a:pos x="0" y="60"/>
                </a:cxn>
                <a:cxn ang="0">
                  <a:pos x="18" y="30"/>
                </a:cxn>
                <a:cxn ang="0">
                  <a:pos x="24" y="0"/>
                </a:cxn>
                <a:cxn ang="0">
                  <a:pos x="24" y="0"/>
                </a:cxn>
                <a:cxn ang="0">
                  <a:pos x="24" y="0"/>
                </a:cxn>
                <a:cxn ang="0">
                  <a:pos x="24" y="0"/>
                </a:cxn>
                <a:cxn ang="0">
                  <a:pos x="24" y="0"/>
                </a:cxn>
              </a:cxnLst>
              <a:rect l="txL" t="txT" r="txR" b="txB"/>
              <a:pathLst>
                <a:path w="24" h="60">
                  <a:moveTo>
                    <a:pt x="24" y="0"/>
                  </a:moveTo>
                  <a:lnTo>
                    <a:pt x="18" y="30"/>
                  </a:lnTo>
                  <a:lnTo>
                    <a:pt x="0" y="60"/>
                  </a:lnTo>
                  <a:lnTo>
                    <a:pt x="18" y="30"/>
                  </a:lnTo>
                  <a:lnTo>
                    <a:pt x="24" y="0"/>
                  </a:lnTo>
                  <a:close/>
                  <a:moveTo>
                    <a:pt x="24" y="0"/>
                  </a:moveTo>
                  <a:lnTo>
                    <a:pt x="24"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52" name="Freeform 75"/>
            <p:cNvSpPr>
              <a:spLocks noEditPoints="1"/>
            </p:cNvSpPr>
            <p:nvPr/>
          </p:nvSpPr>
          <p:spPr>
            <a:xfrm>
              <a:off x="2512"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53" name="Freeform 76"/>
            <p:cNvSpPr>
              <a:spLocks noEditPoints="1"/>
            </p:cNvSpPr>
            <p:nvPr/>
          </p:nvSpPr>
          <p:spPr>
            <a:xfrm>
              <a:off x="2512" y="496"/>
              <a:ext cx="72" cy="84"/>
            </a:xfrm>
            <a:custGeom>
              <a:avLst/>
              <a:gdLst>
                <a:gd name="txL" fmla="*/ 0 w 72"/>
                <a:gd name="txT" fmla="*/ 0 h 84"/>
                <a:gd name="txR" fmla="*/ 72 w 72"/>
                <a:gd name="txB" fmla="*/ 84 h 84"/>
              </a:gdLst>
              <a:ahLst/>
              <a:cxnLst>
                <a:cxn ang="0">
                  <a:pos x="0" y="84"/>
                </a:cxn>
                <a:cxn ang="0">
                  <a:pos x="6" y="48"/>
                </a:cxn>
                <a:cxn ang="0">
                  <a:pos x="24" y="24"/>
                </a:cxn>
                <a:cxn ang="0">
                  <a:pos x="48" y="6"/>
                </a:cxn>
                <a:cxn ang="0">
                  <a:pos x="72" y="0"/>
                </a:cxn>
                <a:cxn ang="0">
                  <a:pos x="72" y="0"/>
                </a:cxn>
                <a:cxn ang="0">
                  <a:pos x="48" y="6"/>
                </a:cxn>
                <a:cxn ang="0">
                  <a:pos x="24" y="24"/>
                </a:cxn>
                <a:cxn ang="0">
                  <a:pos x="6" y="48"/>
                </a:cxn>
                <a:cxn ang="0">
                  <a:pos x="0" y="84"/>
                </a:cxn>
                <a:cxn ang="0">
                  <a:pos x="0" y="84"/>
                </a:cxn>
                <a:cxn ang="0">
                  <a:pos x="0" y="84"/>
                </a:cxn>
                <a:cxn ang="0">
                  <a:pos x="0" y="84"/>
                </a:cxn>
                <a:cxn ang="0">
                  <a:pos x="0" y="84"/>
                </a:cxn>
              </a:cxnLst>
              <a:rect l="txL" t="txT" r="txR" b="txB"/>
              <a:pathLst>
                <a:path w="72" h="84">
                  <a:moveTo>
                    <a:pt x="0" y="84"/>
                  </a:moveTo>
                  <a:lnTo>
                    <a:pt x="6" y="48"/>
                  </a:lnTo>
                  <a:lnTo>
                    <a:pt x="24" y="24"/>
                  </a:lnTo>
                  <a:lnTo>
                    <a:pt x="48" y="6"/>
                  </a:lnTo>
                  <a:lnTo>
                    <a:pt x="72" y="0"/>
                  </a:lnTo>
                  <a:lnTo>
                    <a:pt x="48" y="6"/>
                  </a:lnTo>
                  <a:lnTo>
                    <a:pt x="24"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54" name="Freeform 77"/>
            <p:cNvSpPr>
              <a:spLocks noEditPoints="1"/>
            </p:cNvSpPr>
            <p:nvPr/>
          </p:nvSpPr>
          <p:spPr>
            <a:xfrm>
              <a:off x="2584" y="496"/>
              <a:ext cx="72" cy="84"/>
            </a:xfrm>
            <a:custGeom>
              <a:avLst/>
              <a:gdLst>
                <a:gd name="txL" fmla="*/ 0 w 72"/>
                <a:gd name="txT" fmla="*/ 0 h 84"/>
                <a:gd name="txR" fmla="*/ 72 w 72"/>
                <a:gd name="txB" fmla="*/ 84 h 84"/>
              </a:gdLst>
              <a:ahLst/>
              <a:cxnLst>
                <a:cxn ang="0">
                  <a:pos x="0" y="0"/>
                </a:cxn>
                <a:cxn ang="0">
                  <a:pos x="24" y="6"/>
                </a:cxn>
                <a:cxn ang="0">
                  <a:pos x="48" y="24"/>
                </a:cxn>
                <a:cxn ang="0">
                  <a:pos x="66" y="48"/>
                </a:cxn>
                <a:cxn ang="0">
                  <a:pos x="72" y="84"/>
                </a:cxn>
                <a:cxn ang="0">
                  <a:pos x="72" y="84"/>
                </a:cxn>
                <a:cxn ang="0">
                  <a:pos x="66" y="48"/>
                </a:cxn>
                <a:cxn ang="0">
                  <a:pos x="48" y="24"/>
                </a:cxn>
                <a:cxn ang="0">
                  <a:pos x="24" y="6"/>
                </a:cxn>
                <a:cxn ang="0">
                  <a:pos x="0" y="0"/>
                </a:cxn>
                <a:cxn ang="0">
                  <a:pos x="0" y="0"/>
                </a:cxn>
                <a:cxn ang="0">
                  <a:pos x="0" y="0"/>
                </a:cxn>
                <a:cxn ang="0">
                  <a:pos x="0" y="0"/>
                </a:cxn>
                <a:cxn ang="0">
                  <a:pos x="0" y="0"/>
                </a:cxn>
              </a:cxnLst>
              <a:rect l="txL" t="txT" r="txR" b="txB"/>
              <a:pathLst>
                <a:path w="72" h="84">
                  <a:moveTo>
                    <a:pt x="0" y="0"/>
                  </a:moveTo>
                  <a:lnTo>
                    <a:pt x="24" y="6"/>
                  </a:lnTo>
                  <a:lnTo>
                    <a:pt x="48" y="24"/>
                  </a:lnTo>
                  <a:lnTo>
                    <a:pt x="66" y="48"/>
                  </a:lnTo>
                  <a:lnTo>
                    <a:pt x="72" y="84"/>
                  </a:lnTo>
                  <a:lnTo>
                    <a:pt x="66"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55" name="Freeform 78"/>
            <p:cNvSpPr>
              <a:spLocks noEditPoints="1"/>
            </p:cNvSpPr>
            <p:nvPr/>
          </p:nvSpPr>
          <p:spPr>
            <a:xfrm>
              <a:off x="2207" y="580"/>
              <a:ext cx="449" cy="1"/>
            </a:xfrm>
            <a:custGeom>
              <a:avLst/>
              <a:gdLst>
                <a:gd name="txL" fmla="*/ 0 w 449"/>
                <a:gd name="txT" fmla="*/ 0 h 1"/>
                <a:gd name="txR" fmla="*/ 449 w 449"/>
                <a:gd name="txB" fmla="*/ 1 h 1"/>
              </a:gdLst>
              <a:ahLst/>
              <a:cxnLst>
                <a:cxn ang="0">
                  <a:pos x="0" y="0"/>
                </a:cxn>
                <a:cxn ang="0">
                  <a:pos x="0" y="0"/>
                </a:cxn>
                <a:cxn ang="0">
                  <a:pos x="0" y="0"/>
                </a:cxn>
                <a:cxn ang="0">
                  <a:pos x="449" y="0"/>
                </a:cxn>
                <a:cxn ang="0">
                  <a:pos x="449" y="0"/>
                </a:cxn>
                <a:cxn ang="0">
                  <a:pos x="449" y="0"/>
                </a:cxn>
              </a:cxnLst>
              <a:rect l="txL" t="txT" r="txR" b="txB"/>
              <a:pathLst>
                <a:path w="449" h="1">
                  <a:moveTo>
                    <a:pt x="0" y="0"/>
                  </a:moveTo>
                  <a:lnTo>
                    <a:pt x="0" y="0"/>
                  </a:lnTo>
                  <a:close/>
                  <a:moveTo>
                    <a:pt x="449" y="0"/>
                  </a:moveTo>
                  <a:lnTo>
                    <a:pt x="44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56" name="Freeform 79"/>
            <p:cNvSpPr/>
            <p:nvPr/>
          </p:nvSpPr>
          <p:spPr>
            <a:xfrm>
              <a:off x="2889" y="544"/>
              <a:ext cx="449" cy="78"/>
            </a:xfrm>
            <a:custGeom>
              <a:avLst/>
              <a:gdLst>
                <a:gd name="txL" fmla="*/ 0 w 449"/>
                <a:gd name="txT" fmla="*/ 0 h 78"/>
                <a:gd name="txR" fmla="*/ 449 w 449"/>
                <a:gd name="txB" fmla="*/ 78 h 78"/>
              </a:gdLst>
              <a:ahLst/>
              <a:cxnLst>
                <a:cxn ang="0">
                  <a:pos x="449" y="78"/>
                </a:cxn>
                <a:cxn ang="0">
                  <a:pos x="449" y="0"/>
                </a:cxn>
                <a:cxn ang="0">
                  <a:pos x="0" y="0"/>
                </a:cxn>
                <a:cxn ang="0">
                  <a:pos x="0" y="78"/>
                </a:cxn>
                <a:cxn ang="0">
                  <a:pos x="449" y="78"/>
                </a:cxn>
                <a:cxn ang="0">
                  <a:pos x="449" y="78"/>
                </a:cxn>
              </a:cxnLst>
              <a:rect l="txL" t="txT" r="txR" b="txB"/>
              <a:pathLst>
                <a:path w="449" h="78">
                  <a:moveTo>
                    <a:pt x="449" y="78"/>
                  </a:moveTo>
                  <a:lnTo>
                    <a:pt x="449" y="0"/>
                  </a:lnTo>
                  <a:lnTo>
                    <a:pt x="0" y="0"/>
                  </a:lnTo>
                  <a:lnTo>
                    <a:pt x="0" y="78"/>
                  </a:lnTo>
                  <a:lnTo>
                    <a:pt x="449" y="78"/>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3857" name="Freeform 80"/>
            <p:cNvSpPr/>
            <p:nvPr/>
          </p:nvSpPr>
          <p:spPr>
            <a:xfrm>
              <a:off x="2889"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72" y="0"/>
                </a:cxn>
                <a:cxn ang="0">
                  <a:pos x="42" y="6"/>
                </a:cxn>
                <a:cxn ang="0">
                  <a:pos x="18" y="24"/>
                </a:cxn>
                <a:cxn ang="0">
                  <a:pos x="6" y="48"/>
                </a:cxn>
                <a:cxn ang="0">
                  <a:pos x="0" y="84"/>
                </a:cxn>
                <a:cxn ang="0">
                  <a:pos x="0" y="84"/>
                </a:cxn>
              </a:cxnLst>
              <a:rect l="txL" t="txT" r="txR" b="txB"/>
              <a:pathLst>
                <a:path w="72" h="84">
                  <a:moveTo>
                    <a:pt x="0" y="84"/>
                  </a:moveTo>
                  <a:lnTo>
                    <a:pt x="6" y="48"/>
                  </a:lnTo>
                  <a:lnTo>
                    <a:pt x="18" y="24"/>
                  </a:lnTo>
                  <a:lnTo>
                    <a:pt x="42" y="6"/>
                  </a:lnTo>
                  <a:lnTo>
                    <a:pt x="72" y="0"/>
                  </a:lnTo>
                  <a:lnTo>
                    <a:pt x="42" y="6"/>
                  </a:lnTo>
                  <a:lnTo>
                    <a:pt x="18" y="24"/>
                  </a:lnTo>
                  <a:lnTo>
                    <a:pt x="6" y="48"/>
                  </a:ln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58" name="Freeform 81"/>
            <p:cNvSpPr>
              <a:spLocks noEditPoints="1"/>
            </p:cNvSpPr>
            <p:nvPr/>
          </p:nvSpPr>
          <p:spPr>
            <a:xfrm>
              <a:off x="2961" y="496"/>
              <a:ext cx="66" cy="84"/>
            </a:xfrm>
            <a:custGeom>
              <a:avLst/>
              <a:gdLst>
                <a:gd name="txL" fmla="*/ 0 w 66"/>
                <a:gd name="txT" fmla="*/ 0 h 84"/>
                <a:gd name="txR" fmla="*/ 66 w 66"/>
                <a:gd name="txB" fmla="*/ 84 h 84"/>
              </a:gdLst>
              <a:ahLst/>
              <a:cxnLst>
                <a:cxn ang="0">
                  <a:pos x="0" y="0"/>
                </a:cxn>
                <a:cxn ang="0">
                  <a:pos x="24" y="6"/>
                </a:cxn>
                <a:cxn ang="0">
                  <a:pos x="48" y="24"/>
                </a:cxn>
                <a:cxn ang="0">
                  <a:pos x="60" y="48"/>
                </a:cxn>
                <a:cxn ang="0">
                  <a:pos x="66" y="84"/>
                </a:cxn>
                <a:cxn ang="0">
                  <a:pos x="66" y="84"/>
                </a:cxn>
                <a:cxn ang="0">
                  <a:pos x="60" y="48"/>
                </a:cxn>
                <a:cxn ang="0">
                  <a:pos x="48" y="24"/>
                </a:cxn>
                <a:cxn ang="0">
                  <a:pos x="24" y="6"/>
                </a:cxn>
                <a:cxn ang="0">
                  <a:pos x="0" y="0"/>
                </a:cxn>
                <a:cxn ang="0">
                  <a:pos x="0" y="0"/>
                </a:cxn>
                <a:cxn ang="0">
                  <a:pos x="0" y="0"/>
                </a:cxn>
                <a:cxn ang="0">
                  <a:pos x="0" y="0"/>
                </a:cxn>
                <a:cxn ang="0">
                  <a:pos x="0" y="0"/>
                </a:cxn>
              </a:cxnLst>
              <a:rect l="txL" t="txT" r="txR" b="txB"/>
              <a:pathLst>
                <a:path w="66" h="84">
                  <a:moveTo>
                    <a:pt x="0" y="0"/>
                  </a:moveTo>
                  <a:lnTo>
                    <a:pt x="24" y="6"/>
                  </a:lnTo>
                  <a:lnTo>
                    <a:pt x="48" y="24"/>
                  </a:lnTo>
                  <a:lnTo>
                    <a:pt x="60" y="48"/>
                  </a:lnTo>
                  <a:lnTo>
                    <a:pt x="66" y="84"/>
                  </a:lnTo>
                  <a:lnTo>
                    <a:pt x="60"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59" name="Freeform 82"/>
            <p:cNvSpPr>
              <a:spLocks noEditPoints="1"/>
            </p:cNvSpPr>
            <p:nvPr/>
          </p:nvSpPr>
          <p:spPr>
            <a:xfrm>
              <a:off x="3009" y="580"/>
              <a:ext cx="18" cy="60"/>
            </a:xfrm>
            <a:custGeom>
              <a:avLst/>
              <a:gdLst>
                <a:gd name="txL" fmla="*/ 0 w 18"/>
                <a:gd name="txT" fmla="*/ 0 h 60"/>
                <a:gd name="txR" fmla="*/ 18 w 18"/>
                <a:gd name="txB" fmla="*/ 60 h 60"/>
              </a:gdLst>
              <a:ahLst/>
              <a:cxnLst>
                <a:cxn ang="0">
                  <a:pos x="18" y="0"/>
                </a:cxn>
                <a:cxn ang="0">
                  <a:pos x="12" y="30"/>
                </a:cxn>
                <a:cxn ang="0">
                  <a:pos x="0" y="60"/>
                </a:cxn>
                <a:cxn ang="0">
                  <a:pos x="0" y="60"/>
                </a:cxn>
                <a:cxn ang="0">
                  <a:pos x="12" y="30"/>
                </a:cxn>
                <a:cxn ang="0">
                  <a:pos x="18" y="0"/>
                </a:cxn>
                <a:cxn ang="0">
                  <a:pos x="18" y="0"/>
                </a:cxn>
                <a:cxn ang="0">
                  <a:pos x="18" y="0"/>
                </a:cxn>
                <a:cxn ang="0">
                  <a:pos x="18" y="0"/>
                </a:cxn>
                <a:cxn ang="0">
                  <a:pos x="18" y="0"/>
                </a:cxn>
              </a:cxnLst>
              <a:rect l="txL" t="txT" r="txR" b="txB"/>
              <a:pathLst>
                <a:path w="18" h="60">
                  <a:moveTo>
                    <a:pt x="18" y="0"/>
                  </a:moveTo>
                  <a:lnTo>
                    <a:pt x="12" y="30"/>
                  </a:lnTo>
                  <a:lnTo>
                    <a:pt x="0" y="60"/>
                  </a:lnTo>
                  <a:lnTo>
                    <a:pt x="12" y="3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0" name="Freeform 83"/>
            <p:cNvSpPr>
              <a:spLocks noEditPoints="1"/>
            </p:cNvSpPr>
            <p:nvPr/>
          </p:nvSpPr>
          <p:spPr>
            <a:xfrm>
              <a:off x="2991"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1" name="Freeform 84"/>
            <p:cNvSpPr>
              <a:spLocks noEditPoints="1"/>
            </p:cNvSpPr>
            <p:nvPr/>
          </p:nvSpPr>
          <p:spPr>
            <a:xfrm>
              <a:off x="2991" y="496"/>
              <a:ext cx="71" cy="84"/>
            </a:xfrm>
            <a:custGeom>
              <a:avLst/>
              <a:gdLst>
                <a:gd name="txL" fmla="*/ 0 w 71"/>
                <a:gd name="txT" fmla="*/ 0 h 84"/>
                <a:gd name="txR" fmla="*/ 71 w 71"/>
                <a:gd name="txB" fmla="*/ 84 h 84"/>
              </a:gdLst>
              <a:ahLst/>
              <a:cxnLst>
                <a:cxn ang="0">
                  <a:pos x="0" y="84"/>
                </a:cxn>
                <a:cxn ang="0">
                  <a:pos x="6" y="48"/>
                </a:cxn>
                <a:cxn ang="0">
                  <a:pos x="18" y="24"/>
                </a:cxn>
                <a:cxn ang="0">
                  <a:pos x="41" y="6"/>
                </a:cxn>
                <a:cxn ang="0">
                  <a:pos x="71" y="0"/>
                </a:cxn>
                <a:cxn ang="0">
                  <a:pos x="71" y="0"/>
                </a:cxn>
                <a:cxn ang="0">
                  <a:pos x="41" y="6"/>
                </a:cxn>
                <a:cxn ang="0">
                  <a:pos x="18" y="24"/>
                </a:cxn>
                <a:cxn ang="0">
                  <a:pos x="6" y="48"/>
                </a:cxn>
                <a:cxn ang="0">
                  <a:pos x="0" y="84"/>
                </a:cxn>
                <a:cxn ang="0">
                  <a:pos x="0" y="84"/>
                </a:cxn>
                <a:cxn ang="0">
                  <a:pos x="0" y="84"/>
                </a:cxn>
                <a:cxn ang="0">
                  <a:pos x="0" y="84"/>
                </a:cxn>
                <a:cxn ang="0">
                  <a:pos x="0" y="84"/>
                </a:cxn>
              </a:cxnLst>
              <a:rect l="txL" t="txT" r="txR" b="txB"/>
              <a:pathLst>
                <a:path w="71" h="84">
                  <a:moveTo>
                    <a:pt x="0" y="84"/>
                  </a:moveTo>
                  <a:lnTo>
                    <a:pt x="6" y="48"/>
                  </a:lnTo>
                  <a:lnTo>
                    <a:pt x="18" y="24"/>
                  </a:lnTo>
                  <a:lnTo>
                    <a:pt x="41" y="6"/>
                  </a:lnTo>
                  <a:lnTo>
                    <a:pt x="71" y="0"/>
                  </a:lnTo>
                  <a:lnTo>
                    <a:pt x="41" y="6"/>
                  </a:lnTo>
                  <a:lnTo>
                    <a:pt x="18"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2" name="Freeform 85"/>
            <p:cNvSpPr>
              <a:spLocks noEditPoints="1"/>
            </p:cNvSpPr>
            <p:nvPr/>
          </p:nvSpPr>
          <p:spPr>
            <a:xfrm>
              <a:off x="3062" y="496"/>
              <a:ext cx="66" cy="84"/>
            </a:xfrm>
            <a:custGeom>
              <a:avLst/>
              <a:gdLst>
                <a:gd name="txL" fmla="*/ 0 w 66"/>
                <a:gd name="txT" fmla="*/ 0 h 84"/>
                <a:gd name="txR" fmla="*/ 66 w 66"/>
                <a:gd name="txB" fmla="*/ 84 h 84"/>
              </a:gdLst>
              <a:ahLst/>
              <a:cxnLst>
                <a:cxn ang="0">
                  <a:pos x="0" y="0"/>
                </a:cxn>
                <a:cxn ang="0">
                  <a:pos x="24" y="6"/>
                </a:cxn>
                <a:cxn ang="0">
                  <a:pos x="48" y="24"/>
                </a:cxn>
                <a:cxn ang="0">
                  <a:pos x="60" y="48"/>
                </a:cxn>
                <a:cxn ang="0">
                  <a:pos x="66" y="84"/>
                </a:cxn>
                <a:cxn ang="0">
                  <a:pos x="66" y="84"/>
                </a:cxn>
                <a:cxn ang="0">
                  <a:pos x="60" y="48"/>
                </a:cxn>
                <a:cxn ang="0">
                  <a:pos x="48" y="24"/>
                </a:cxn>
                <a:cxn ang="0">
                  <a:pos x="24" y="6"/>
                </a:cxn>
                <a:cxn ang="0">
                  <a:pos x="0" y="0"/>
                </a:cxn>
                <a:cxn ang="0">
                  <a:pos x="0" y="0"/>
                </a:cxn>
                <a:cxn ang="0">
                  <a:pos x="0" y="0"/>
                </a:cxn>
                <a:cxn ang="0">
                  <a:pos x="0" y="0"/>
                </a:cxn>
                <a:cxn ang="0">
                  <a:pos x="0" y="0"/>
                </a:cxn>
              </a:cxnLst>
              <a:rect l="txL" t="txT" r="txR" b="txB"/>
              <a:pathLst>
                <a:path w="66" h="84">
                  <a:moveTo>
                    <a:pt x="0" y="0"/>
                  </a:moveTo>
                  <a:lnTo>
                    <a:pt x="24" y="6"/>
                  </a:lnTo>
                  <a:lnTo>
                    <a:pt x="48" y="24"/>
                  </a:lnTo>
                  <a:lnTo>
                    <a:pt x="60" y="48"/>
                  </a:lnTo>
                  <a:lnTo>
                    <a:pt x="66" y="84"/>
                  </a:lnTo>
                  <a:lnTo>
                    <a:pt x="60"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3" name="Freeform 86"/>
            <p:cNvSpPr>
              <a:spLocks noEditPoints="1"/>
            </p:cNvSpPr>
            <p:nvPr/>
          </p:nvSpPr>
          <p:spPr>
            <a:xfrm>
              <a:off x="3110" y="580"/>
              <a:ext cx="18" cy="60"/>
            </a:xfrm>
            <a:custGeom>
              <a:avLst/>
              <a:gdLst>
                <a:gd name="txL" fmla="*/ 0 w 18"/>
                <a:gd name="txT" fmla="*/ 0 h 60"/>
                <a:gd name="txR" fmla="*/ 18 w 18"/>
                <a:gd name="txB" fmla="*/ 60 h 60"/>
              </a:gdLst>
              <a:ahLst/>
              <a:cxnLst>
                <a:cxn ang="0">
                  <a:pos x="18" y="0"/>
                </a:cxn>
                <a:cxn ang="0">
                  <a:pos x="12" y="30"/>
                </a:cxn>
                <a:cxn ang="0">
                  <a:pos x="0" y="60"/>
                </a:cxn>
                <a:cxn ang="0">
                  <a:pos x="0" y="60"/>
                </a:cxn>
                <a:cxn ang="0">
                  <a:pos x="12" y="30"/>
                </a:cxn>
                <a:cxn ang="0">
                  <a:pos x="18" y="0"/>
                </a:cxn>
                <a:cxn ang="0">
                  <a:pos x="18" y="0"/>
                </a:cxn>
                <a:cxn ang="0">
                  <a:pos x="18" y="0"/>
                </a:cxn>
                <a:cxn ang="0">
                  <a:pos x="18" y="0"/>
                </a:cxn>
                <a:cxn ang="0">
                  <a:pos x="18" y="0"/>
                </a:cxn>
              </a:cxnLst>
              <a:rect l="txL" t="txT" r="txR" b="txB"/>
              <a:pathLst>
                <a:path w="18" h="60">
                  <a:moveTo>
                    <a:pt x="18" y="0"/>
                  </a:moveTo>
                  <a:lnTo>
                    <a:pt x="12" y="30"/>
                  </a:lnTo>
                  <a:lnTo>
                    <a:pt x="0" y="60"/>
                  </a:lnTo>
                  <a:lnTo>
                    <a:pt x="12" y="3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4" name="Freeform 87"/>
            <p:cNvSpPr>
              <a:spLocks noEditPoints="1"/>
            </p:cNvSpPr>
            <p:nvPr/>
          </p:nvSpPr>
          <p:spPr>
            <a:xfrm>
              <a:off x="3092"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5" name="Freeform 88"/>
            <p:cNvSpPr>
              <a:spLocks noEditPoints="1"/>
            </p:cNvSpPr>
            <p:nvPr/>
          </p:nvSpPr>
          <p:spPr>
            <a:xfrm>
              <a:off x="3092"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72" y="0"/>
                </a:cxn>
                <a:cxn ang="0">
                  <a:pos x="42" y="6"/>
                </a:cxn>
                <a:cxn ang="0">
                  <a:pos x="18" y="24"/>
                </a:cxn>
                <a:cxn ang="0">
                  <a:pos x="6" y="48"/>
                </a:cxn>
                <a:cxn ang="0">
                  <a:pos x="0" y="84"/>
                </a:cxn>
                <a:cxn ang="0">
                  <a:pos x="0" y="84"/>
                </a:cxn>
                <a:cxn ang="0">
                  <a:pos x="0" y="84"/>
                </a:cxn>
                <a:cxn ang="0">
                  <a:pos x="0" y="84"/>
                </a:cxn>
                <a:cxn ang="0">
                  <a:pos x="0" y="84"/>
                </a:cxn>
              </a:cxnLst>
              <a:rect l="txL" t="txT" r="txR" b="txB"/>
              <a:pathLst>
                <a:path w="72" h="84">
                  <a:moveTo>
                    <a:pt x="0" y="84"/>
                  </a:moveTo>
                  <a:lnTo>
                    <a:pt x="6" y="48"/>
                  </a:lnTo>
                  <a:lnTo>
                    <a:pt x="18" y="24"/>
                  </a:lnTo>
                  <a:lnTo>
                    <a:pt x="42" y="6"/>
                  </a:lnTo>
                  <a:lnTo>
                    <a:pt x="72" y="0"/>
                  </a:lnTo>
                  <a:lnTo>
                    <a:pt x="42" y="6"/>
                  </a:lnTo>
                  <a:lnTo>
                    <a:pt x="18"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6" name="Freeform 89"/>
            <p:cNvSpPr>
              <a:spLocks noEditPoints="1"/>
            </p:cNvSpPr>
            <p:nvPr/>
          </p:nvSpPr>
          <p:spPr>
            <a:xfrm>
              <a:off x="3164" y="496"/>
              <a:ext cx="66" cy="84"/>
            </a:xfrm>
            <a:custGeom>
              <a:avLst/>
              <a:gdLst>
                <a:gd name="txL" fmla="*/ 0 w 66"/>
                <a:gd name="txT" fmla="*/ 0 h 84"/>
                <a:gd name="txR" fmla="*/ 66 w 66"/>
                <a:gd name="txB" fmla="*/ 84 h 84"/>
              </a:gdLst>
              <a:ahLst/>
              <a:cxnLst>
                <a:cxn ang="0">
                  <a:pos x="0" y="0"/>
                </a:cxn>
                <a:cxn ang="0">
                  <a:pos x="24" y="6"/>
                </a:cxn>
                <a:cxn ang="0">
                  <a:pos x="48" y="24"/>
                </a:cxn>
                <a:cxn ang="0">
                  <a:pos x="60" y="48"/>
                </a:cxn>
                <a:cxn ang="0">
                  <a:pos x="66" y="84"/>
                </a:cxn>
                <a:cxn ang="0">
                  <a:pos x="66" y="84"/>
                </a:cxn>
                <a:cxn ang="0">
                  <a:pos x="60" y="48"/>
                </a:cxn>
                <a:cxn ang="0">
                  <a:pos x="48" y="24"/>
                </a:cxn>
                <a:cxn ang="0">
                  <a:pos x="24" y="6"/>
                </a:cxn>
                <a:cxn ang="0">
                  <a:pos x="0" y="0"/>
                </a:cxn>
                <a:cxn ang="0">
                  <a:pos x="0" y="0"/>
                </a:cxn>
                <a:cxn ang="0">
                  <a:pos x="0" y="0"/>
                </a:cxn>
                <a:cxn ang="0">
                  <a:pos x="0" y="0"/>
                </a:cxn>
                <a:cxn ang="0">
                  <a:pos x="0" y="0"/>
                </a:cxn>
              </a:cxnLst>
              <a:rect l="txL" t="txT" r="txR" b="txB"/>
              <a:pathLst>
                <a:path w="66" h="84">
                  <a:moveTo>
                    <a:pt x="0" y="0"/>
                  </a:moveTo>
                  <a:lnTo>
                    <a:pt x="24" y="6"/>
                  </a:lnTo>
                  <a:lnTo>
                    <a:pt x="48" y="24"/>
                  </a:lnTo>
                  <a:lnTo>
                    <a:pt x="60" y="48"/>
                  </a:lnTo>
                  <a:lnTo>
                    <a:pt x="66" y="84"/>
                  </a:lnTo>
                  <a:lnTo>
                    <a:pt x="60"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7" name="Freeform 90"/>
            <p:cNvSpPr>
              <a:spLocks noEditPoints="1"/>
            </p:cNvSpPr>
            <p:nvPr/>
          </p:nvSpPr>
          <p:spPr>
            <a:xfrm>
              <a:off x="3212" y="580"/>
              <a:ext cx="18" cy="60"/>
            </a:xfrm>
            <a:custGeom>
              <a:avLst/>
              <a:gdLst>
                <a:gd name="txL" fmla="*/ 0 w 18"/>
                <a:gd name="txT" fmla="*/ 0 h 60"/>
                <a:gd name="txR" fmla="*/ 18 w 18"/>
                <a:gd name="txB" fmla="*/ 60 h 60"/>
              </a:gdLst>
              <a:ahLst/>
              <a:cxnLst>
                <a:cxn ang="0">
                  <a:pos x="18" y="0"/>
                </a:cxn>
                <a:cxn ang="0">
                  <a:pos x="12" y="30"/>
                </a:cxn>
                <a:cxn ang="0">
                  <a:pos x="0" y="60"/>
                </a:cxn>
                <a:cxn ang="0">
                  <a:pos x="0" y="60"/>
                </a:cxn>
                <a:cxn ang="0">
                  <a:pos x="12" y="30"/>
                </a:cxn>
                <a:cxn ang="0">
                  <a:pos x="18" y="0"/>
                </a:cxn>
                <a:cxn ang="0">
                  <a:pos x="18" y="0"/>
                </a:cxn>
                <a:cxn ang="0">
                  <a:pos x="18" y="0"/>
                </a:cxn>
                <a:cxn ang="0">
                  <a:pos x="18" y="0"/>
                </a:cxn>
                <a:cxn ang="0">
                  <a:pos x="18" y="0"/>
                </a:cxn>
              </a:cxnLst>
              <a:rect l="txL" t="txT" r="txR" b="txB"/>
              <a:pathLst>
                <a:path w="18" h="60">
                  <a:moveTo>
                    <a:pt x="18" y="0"/>
                  </a:moveTo>
                  <a:lnTo>
                    <a:pt x="12" y="30"/>
                  </a:lnTo>
                  <a:lnTo>
                    <a:pt x="0" y="60"/>
                  </a:lnTo>
                  <a:lnTo>
                    <a:pt x="12" y="3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8" name="Freeform 91"/>
            <p:cNvSpPr>
              <a:spLocks noEditPoints="1"/>
            </p:cNvSpPr>
            <p:nvPr/>
          </p:nvSpPr>
          <p:spPr>
            <a:xfrm>
              <a:off x="3194"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69" name="Freeform 92"/>
            <p:cNvSpPr>
              <a:spLocks noEditPoints="1"/>
            </p:cNvSpPr>
            <p:nvPr/>
          </p:nvSpPr>
          <p:spPr>
            <a:xfrm>
              <a:off x="3194"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72" y="0"/>
                </a:cxn>
                <a:cxn ang="0">
                  <a:pos x="42" y="6"/>
                </a:cxn>
                <a:cxn ang="0">
                  <a:pos x="18" y="24"/>
                </a:cxn>
                <a:cxn ang="0">
                  <a:pos x="6" y="48"/>
                </a:cxn>
                <a:cxn ang="0">
                  <a:pos x="0" y="84"/>
                </a:cxn>
                <a:cxn ang="0">
                  <a:pos x="0" y="84"/>
                </a:cxn>
                <a:cxn ang="0">
                  <a:pos x="0" y="84"/>
                </a:cxn>
                <a:cxn ang="0">
                  <a:pos x="0" y="84"/>
                </a:cxn>
                <a:cxn ang="0">
                  <a:pos x="0" y="84"/>
                </a:cxn>
              </a:cxnLst>
              <a:rect l="txL" t="txT" r="txR" b="txB"/>
              <a:pathLst>
                <a:path w="72" h="84">
                  <a:moveTo>
                    <a:pt x="0" y="84"/>
                  </a:moveTo>
                  <a:lnTo>
                    <a:pt x="6" y="48"/>
                  </a:lnTo>
                  <a:lnTo>
                    <a:pt x="18" y="24"/>
                  </a:lnTo>
                  <a:lnTo>
                    <a:pt x="42" y="6"/>
                  </a:lnTo>
                  <a:lnTo>
                    <a:pt x="72" y="0"/>
                  </a:lnTo>
                  <a:lnTo>
                    <a:pt x="42" y="6"/>
                  </a:lnTo>
                  <a:lnTo>
                    <a:pt x="18"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70" name="Freeform 93"/>
            <p:cNvSpPr>
              <a:spLocks noEditPoints="1"/>
            </p:cNvSpPr>
            <p:nvPr/>
          </p:nvSpPr>
          <p:spPr>
            <a:xfrm>
              <a:off x="3266" y="496"/>
              <a:ext cx="72" cy="84"/>
            </a:xfrm>
            <a:custGeom>
              <a:avLst/>
              <a:gdLst>
                <a:gd name="txL" fmla="*/ 0 w 72"/>
                <a:gd name="txT" fmla="*/ 0 h 84"/>
                <a:gd name="txR" fmla="*/ 72 w 72"/>
                <a:gd name="txB" fmla="*/ 84 h 84"/>
              </a:gdLst>
              <a:ahLst/>
              <a:cxnLst>
                <a:cxn ang="0">
                  <a:pos x="0" y="0"/>
                </a:cxn>
                <a:cxn ang="0">
                  <a:pos x="24" y="6"/>
                </a:cxn>
                <a:cxn ang="0">
                  <a:pos x="48" y="24"/>
                </a:cxn>
                <a:cxn ang="0">
                  <a:pos x="66" y="48"/>
                </a:cxn>
                <a:cxn ang="0">
                  <a:pos x="72" y="84"/>
                </a:cxn>
                <a:cxn ang="0">
                  <a:pos x="72" y="84"/>
                </a:cxn>
                <a:cxn ang="0">
                  <a:pos x="66" y="48"/>
                </a:cxn>
                <a:cxn ang="0">
                  <a:pos x="48" y="24"/>
                </a:cxn>
                <a:cxn ang="0">
                  <a:pos x="24" y="6"/>
                </a:cxn>
                <a:cxn ang="0">
                  <a:pos x="0" y="0"/>
                </a:cxn>
                <a:cxn ang="0">
                  <a:pos x="0" y="0"/>
                </a:cxn>
                <a:cxn ang="0">
                  <a:pos x="0" y="0"/>
                </a:cxn>
                <a:cxn ang="0">
                  <a:pos x="0" y="0"/>
                </a:cxn>
                <a:cxn ang="0">
                  <a:pos x="0" y="0"/>
                </a:cxn>
              </a:cxnLst>
              <a:rect l="txL" t="txT" r="txR" b="txB"/>
              <a:pathLst>
                <a:path w="72" h="84">
                  <a:moveTo>
                    <a:pt x="0" y="0"/>
                  </a:moveTo>
                  <a:lnTo>
                    <a:pt x="24" y="6"/>
                  </a:lnTo>
                  <a:lnTo>
                    <a:pt x="48" y="24"/>
                  </a:lnTo>
                  <a:lnTo>
                    <a:pt x="66" y="48"/>
                  </a:lnTo>
                  <a:lnTo>
                    <a:pt x="72" y="84"/>
                  </a:lnTo>
                  <a:lnTo>
                    <a:pt x="66"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71" name="Freeform 94"/>
            <p:cNvSpPr>
              <a:spLocks noEditPoints="1"/>
            </p:cNvSpPr>
            <p:nvPr/>
          </p:nvSpPr>
          <p:spPr>
            <a:xfrm>
              <a:off x="2889" y="580"/>
              <a:ext cx="449" cy="1"/>
            </a:xfrm>
            <a:custGeom>
              <a:avLst/>
              <a:gdLst>
                <a:gd name="txL" fmla="*/ 0 w 449"/>
                <a:gd name="txT" fmla="*/ 0 h 1"/>
                <a:gd name="txR" fmla="*/ 449 w 449"/>
                <a:gd name="txB" fmla="*/ 1 h 1"/>
              </a:gdLst>
              <a:ahLst/>
              <a:cxnLst>
                <a:cxn ang="0">
                  <a:pos x="0" y="0"/>
                </a:cxn>
                <a:cxn ang="0">
                  <a:pos x="0" y="0"/>
                </a:cxn>
                <a:cxn ang="0">
                  <a:pos x="0" y="0"/>
                </a:cxn>
                <a:cxn ang="0">
                  <a:pos x="449" y="0"/>
                </a:cxn>
                <a:cxn ang="0">
                  <a:pos x="449" y="0"/>
                </a:cxn>
                <a:cxn ang="0">
                  <a:pos x="449" y="0"/>
                </a:cxn>
              </a:cxnLst>
              <a:rect l="txL" t="txT" r="txR" b="txB"/>
              <a:pathLst>
                <a:path w="449" h="1">
                  <a:moveTo>
                    <a:pt x="0" y="0"/>
                  </a:moveTo>
                  <a:lnTo>
                    <a:pt x="0" y="0"/>
                  </a:lnTo>
                  <a:close/>
                  <a:moveTo>
                    <a:pt x="449" y="0"/>
                  </a:moveTo>
                  <a:lnTo>
                    <a:pt x="44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72" name="Freeform 95"/>
            <p:cNvSpPr/>
            <p:nvPr/>
          </p:nvSpPr>
          <p:spPr>
            <a:xfrm>
              <a:off x="4193" y="544"/>
              <a:ext cx="448" cy="78"/>
            </a:xfrm>
            <a:custGeom>
              <a:avLst/>
              <a:gdLst>
                <a:gd name="txL" fmla="*/ 0 w 448"/>
                <a:gd name="txT" fmla="*/ 0 h 78"/>
                <a:gd name="txR" fmla="*/ 448 w 448"/>
                <a:gd name="txB" fmla="*/ 78 h 78"/>
              </a:gdLst>
              <a:ahLst/>
              <a:cxnLst>
                <a:cxn ang="0">
                  <a:pos x="448" y="78"/>
                </a:cxn>
                <a:cxn ang="0">
                  <a:pos x="448" y="0"/>
                </a:cxn>
                <a:cxn ang="0">
                  <a:pos x="0" y="0"/>
                </a:cxn>
                <a:cxn ang="0">
                  <a:pos x="0" y="78"/>
                </a:cxn>
                <a:cxn ang="0">
                  <a:pos x="448" y="78"/>
                </a:cxn>
                <a:cxn ang="0">
                  <a:pos x="448" y="78"/>
                </a:cxn>
              </a:cxnLst>
              <a:rect l="txL" t="txT" r="txR" b="txB"/>
              <a:pathLst>
                <a:path w="448" h="78">
                  <a:moveTo>
                    <a:pt x="448" y="78"/>
                  </a:moveTo>
                  <a:lnTo>
                    <a:pt x="448" y="0"/>
                  </a:lnTo>
                  <a:lnTo>
                    <a:pt x="0" y="0"/>
                  </a:lnTo>
                  <a:lnTo>
                    <a:pt x="0" y="78"/>
                  </a:lnTo>
                  <a:lnTo>
                    <a:pt x="448" y="78"/>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3873" name="Freeform 96"/>
            <p:cNvSpPr/>
            <p:nvPr/>
          </p:nvSpPr>
          <p:spPr>
            <a:xfrm>
              <a:off x="4199" y="496"/>
              <a:ext cx="66" cy="84"/>
            </a:xfrm>
            <a:custGeom>
              <a:avLst/>
              <a:gdLst>
                <a:gd name="txL" fmla="*/ 0 w 66"/>
                <a:gd name="txT" fmla="*/ 0 h 84"/>
                <a:gd name="txR" fmla="*/ 66 w 66"/>
                <a:gd name="txB" fmla="*/ 84 h 84"/>
              </a:gdLst>
              <a:ahLst/>
              <a:cxnLst>
                <a:cxn ang="0">
                  <a:pos x="0" y="84"/>
                </a:cxn>
                <a:cxn ang="0">
                  <a:pos x="6" y="48"/>
                </a:cxn>
                <a:cxn ang="0">
                  <a:pos x="18" y="24"/>
                </a:cxn>
                <a:cxn ang="0">
                  <a:pos x="42" y="6"/>
                </a:cxn>
                <a:cxn ang="0">
                  <a:pos x="66" y="0"/>
                </a:cxn>
                <a:cxn ang="0">
                  <a:pos x="66" y="0"/>
                </a:cxn>
                <a:cxn ang="0">
                  <a:pos x="42" y="6"/>
                </a:cxn>
                <a:cxn ang="0">
                  <a:pos x="18" y="24"/>
                </a:cxn>
                <a:cxn ang="0">
                  <a:pos x="6" y="48"/>
                </a:cxn>
                <a:cxn ang="0">
                  <a:pos x="0" y="84"/>
                </a:cxn>
                <a:cxn ang="0">
                  <a:pos x="0" y="84"/>
                </a:cxn>
              </a:cxnLst>
              <a:rect l="txL" t="txT" r="txR" b="txB"/>
              <a:pathLst>
                <a:path w="66" h="84">
                  <a:moveTo>
                    <a:pt x="0" y="84"/>
                  </a:moveTo>
                  <a:lnTo>
                    <a:pt x="6" y="48"/>
                  </a:lnTo>
                  <a:lnTo>
                    <a:pt x="18" y="24"/>
                  </a:lnTo>
                  <a:lnTo>
                    <a:pt x="42" y="6"/>
                  </a:lnTo>
                  <a:lnTo>
                    <a:pt x="66" y="0"/>
                  </a:lnTo>
                  <a:lnTo>
                    <a:pt x="42" y="6"/>
                  </a:lnTo>
                  <a:lnTo>
                    <a:pt x="18" y="24"/>
                  </a:lnTo>
                  <a:lnTo>
                    <a:pt x="6" y="48"/>
                  </a:ln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74" name="Freeform 97"/>
            <p:cNvSpPr>
              <a:spLocks noEditPoints="1"/>
            </p:cNvSpPr>
            <p:nvPr/>
          </p:nvSpPr>
          <p:spPr>
            <a:xfrm>
              <a:off x="4265" y="496"/>
              <a:ext cx="71" cy="84"/>
            </a:xfrm>
            <a:custGeom>
              <a:avLst/>
              <a:gdLst>
                <a:gd name="txL" fmla="*/ 0 w 71"/>
                <a:gd name="txT" fmla="*/ 0 h 84"/>
                <a:gd name="txR" fmla="*/ 71 w 71"/>
                <a:gd name="txB" fmla="*/ 84 h 84"/>
              </a:gdLst>
              <a:ahLst/>
              <a:cxnLst>
                <a:cxn ang="0">
                  <a:pos x="0" y="0"/>
                </a:cxn>
                <a:cxn ang="0">
                  <a:pos x="30" y="6"/>
                </a:cxn>
                <a:cxn ang="0">
                  <a:pos x="53" y="24"/>
                </a:cxn>
                <a:cxn ang="0">
                  <a:pos x="65" y="48"/>
                </a:cxn>
                <a:cxn ang="0">
                  <a:pos x="71" y="84"/>
                </a:cxn>
                <a:cxn ang="0">
                  <a:pos x="71" y="84"/>
                </a:cxn>
                <a:cxn ang="0">
                  <a:pos x="65" y="48"/>
                </a:cxn>
                <a:cxn ang="0">
                  <a:pos x="53" y="24"/>
                </a:cxn>
                <a:cxn ang="0">
                  <a:pos x="30" y="6"/>
                </a:cxn>
                <a:cxn ang="0">
                  <a:pos x="0" y="0"/>
                </a:cxn>
                <a:cxn ang="0">
                  <a:pos x="0" y="0"/>
                </a:cxn>
                <a:cxn ang="0">
                  <a:pos x="0" y="0"/>
                </a:cxn>
                <a:cxn ang="0">
                  <a:pos x="0" y="0"/>
                </a:cxn>
                <a:cxn ang="0">
                  <a:pos x="0" y="0"/>
                </a:cxn>
              </a:cxnLst>
              <a:rect l="txL" t="txT" r="txR" b="txB"/>
              <a:pathLst>
                <a:path w="71" h="84">
                  <a:moveTo>
                    <a:pt x="0" y="0"/>
                  </a:moveTo>
                  <a:lnTo>
                    <a:pt x="30" y="6"/>
                  </a:lnTo>
                  <a:lnTo>
                    <a:pt x="53" y="24"/>
                  </a:lnTo>
                  <a:lnTo>
                    <a:pt x="65" y="48"/>
                  </a:lnTo>
                  <a:lnTo>
                    <a:pt x="71" y="84"/>
                  </a:lnTo>
                  <a:lnTo>
                    <a:pt x="65" y="48"/>
                  </a:lnTo>
                  <a:lnTo>
                    <a:pt x="53" y="24"/>
                  </a:lnTo>
                  <a:lnTo>
                    <a:pt x="30"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75" name="Freeform 98"/>
            <p:cNvSpPr>
              <a:spLocks noEditPoints="1"/>
            </p:cNvSpPr>
            <p:nvPr/>
          </p:nvSpPr>
          <p:spPr>
            <a:xfrm>
              <a:off x="4318" y="580"/>
              <a:ext cx="18" cy="60"/>
            </a:xfrm>
            <a:custGeom>
              <a:avLst/>
              <a:gdLst>
                <a:gd name="txL" fmla="*/ 0 w 18"/>
                <a:gd name="txT" fmla="*/ 0 h 60"/>
                <a:gd name="txR" fmla="*/ 18 w 18"/>
                <a:gd name="txB" fmla="*/ 60 h 60"/>
              </a:gdLst>
              <a:ahLst/>
              <a:cxnLst>
                <a:cxn ang="0">
                  <a:pos x="18" y="0"/>
                </a:cxn>
                <a:cxn ang="0">
                  <a:pos x="12" y="30"/>
                </a:cxn>
                <a:cxn ang="0">
                  <a:pos x="0" y="60"/>
                </a:cxn>
                <a:cxn ang="0">
                  <a:pos x="0" y="60"/>
                </a:cxn>
                <a:cxn ang="0">
                  <a:pos x="12" y="30"/>
                </a:cxn>
                <a:cxn ang="0">
                  <a:pos x="18" y="0"/>
                </a:cxn>
                <a:cxn ang="0">
                  <a:pos x="18" y="0"/>
                </a:cxn>
                <a:cxn ang="0">
                  <a:pos x="18" y="0"/>
                </a:cxn>
                <a:cxn ang="0">
                  <a:pos x="18" y="0"/>
                </a:cxn>
                <a:cxn ang="0">
                  <a:pos x="18" y="0"/>
                </a:cxn>
              </a:cxnLst>
              <a:rect l="txL" t="txT" r="txR" b="txB"/>
              <a:pathLst>
                <a:path w="18" h="60">
                  <a:moveTo>
                    <a:pt x="18" y="0"/>
                  </a:moveTo>
                  <a:lnTo>
                    <a:pt x="12" y="30"/>
                  </a:lnTo>
                  <a:lnTo>
                    <a:pt x="0" y="60"/>
                  </a:lnTo>
                  <a:lnTo>
                    <a:pt x="12" y="3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76" name="Freeform 99"/>
            <p:cNvSpPr>
              <a:spLocks noEditPoints="1"/>
            </p:cNvSpPr>
            <p:nvPr/>
          </p:nvSpPr>
          <p:spPr>
            <a:xfrm>
              <a:off x="4301" y="580"/>
              <a:ext cx="17" cy="60"/>
            </a:xfrm>
            <a:custGeom>
              <a:avLst/>
              <a:gdLst>
                <a:gd name="txL" fmla="*/ 0 w 17"/>
                <a:gd name="txT" fmla="*/ 0 h 60"/>
                <a:gd name="txR" fmla="*/ 17 w 17"/>
                <a:gd name="txB" fmla="*/ 60 h 60"/>
              </a:gdLst>
              <a:ahLst/>
              <a:cxnLst>
                <a:cxn ang="0">
                  <a:pos x="17" y="60"/>
                </a:cxn>
                <a:cxn ang="0">
                  <a:pos x="5" y="30"/>
                </a:cxn>
                <a:cxn ang="0">
                  <a:pos x="0" y="0"/>
                </a:cxn>
                <a:cxn ang="0">
                  <a:pos x="0" y="0"/>
                </a:cxn>
                <a:cxn ang="0">
                  <a:pos x="5" y="30"/>
                </a:cxn>
                <a:cxn ang="0">
                  <a:pos x="17" y="60"/>
                </a:cxn>
                <a:cxn ang="0">
                  <a:pos x="17" y="60"/>
                </a:cxn>
                <a:cxn ang="0">
                  <a:pos x="17" y="60"/>
                </a:cxn>
                <a:cxn ang="0">
                  <a:pos x="17" y="60"/>
                </a:cxn>
                <a:cxn ang="0">
                  <a:pos x="17" y="60"/>
                </a:cxn>
              </a:cxnLst>
              <a:rect l="txL" t="txT" r="txR" b="txB"/>
              <a:pathLst>
                <a:path w="17" h="60">
                  <a:moveTo>
                    <a:pt x="17" y="60"/>
                  </a:moveTo>
                  <a:lnTo>
                    <a:pt x="5" y="30"/>
                  </a:lnTo>
                  <a:lnTo>
                    <a:pt x="0" y="0"/>
                  </a:lnTo>
                  <a:lnTo>
                    <a:pt x="5" y="30"/>
                  </a:lnTo>
                  <a:lnTo>
                    <a:pt x="17" y="60"/>
                  </a:lnTo>
                  <a:close/>
                  <a:moveTo>
                    <a:pt x="17" y="60"/>
                  </a:moveTo>
                  <a:lnTo>
                    <a:pt x="17"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77" name="Freeform 100"/>
            <p:cNvSpPr>
              <a:spLocks noEditPoints="1"/>
            </p:cNvSpPr>
            <p:nvPr/>
          </p:nvSpPr>
          <p:spPr>
            <a:xfrm>
              <a:off x="4301" y="496"/>
              <a:ext cx="65" cy="84"/>
            </a:xfrm>
            <a:custGeom>
              <a:avLst/>
              <a:gdLst>
                <a:gd name="txL" fmla="*/ 0 w 65"/>
                <a:gd name="txT" fmla="*/ 0 h 84"/>
                <a:gd name="txR" fmla="*/ 65 w 65"/>
                <a:gd name="txB" fmla="*/ 84 h 84"/>
              </a:gdLst>
              <a:ahLst/>
              <a:cxnLst>
                <a:cxn ang="0">
                  <a:pos x="0" y="84"/>
                </a:cxn>
                <a:cxn ang="0">
                  <a:pos x="5" y="48"/>
                </a:cxn>
                <a:cxn ang="0">
                  <a:pos x="17" y="24"/>
                </a:cxn>
                <a:cxn ang="0">
                  <a:pos x="41" y="6"/>
                </a:cxn>
                <a:cxn ang="0">
                  <a:pos x="65" y="0"/>
                </a:cxn>
                <a:cxn ang="0">
                  <a:pos x="65" y="0"/>
                </a:cxn>
                <a:cxn ang="0">
                  <a:pos x="41" y="6"/>
                </a:cxn>
                <a:cxn ang="0">
                  <a:pos x="17" y="24"/>
                </a:cxn>
                <a:cxn ang="0">
                  <a:pos x="5" y="48"/>
                </a:cxn>
                <a:cxn ang="0">
                  <a:pos x="0" y="84"/>
                </a:cxn>
                <a:cxn ang="0">
                  <a:pos x="0" y="84"/>
                </a:cxn>
                <a:cxn ang="0">
                  <a:pos x="0" y="84"/>
                </a:cxn>
                <a:cxn ang="0">
                  <a:pos x="0" y="84"/>
                </a:cxn>
                <a:cxn ang="0">
                  <a:pos x="0" y="84"/>
                </a:cxn>
              </a:cxnLst>
              <a:rect l="txL" t="txT" r="txR" b="txB"/>
              <a:pathLst>
                <a:path w="65" h="84">
                  <a:moveTo>
                    <a:pt x="0" y="84"/>
                  </a:moveTo>
                  <a:lnTo>
                    <a:pt x="5" y="48"/>
                  </a:lnTo>
                  <a:lnTo>
                    <a:pt x="17" y="24"/>
                  </a:lnTo>
                  <a:lnTo>
                    <a:pt x="41" y="6"/>
                  </a:lnTo>
                  <a:lnTo>
                    <a:pt x="65" y="0"/>
                  </a:lnTo>
                  <a:lnTo>
                    <a:pt x="41" y="6"/>
                  </a:lnTo>
                  <a:lnTo>
                    <a:pt x="17" y="24"/>
                  </a:lnTo>
                  <a:lnTo>
                    <a:pt x="5"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78" name="Freeform 101"/>
            <p:cNvSpPr>
              <a:spLocks noEditPoints="1"/>
            </p:cNvSpPr>
            <p:nvPr/>
          </p:nvSpPr>
          <p:spPr>
            <a:xfrm>
              <a:off x="4366" y="496"/>
              <a:ext cx="72" cy="84"/>
            </a:xfrm>
            <a:custGeom>
              <a:avLst/>
              <a:gdLst>
                <a:gd name="txL" fmla="*/ 0 w 72"/>
                <a:gd name="txT" fmla="*/ 0 h 84"/>
                <a:gd name="txR" fmla="*/ 72 w 72"/>
                <a:gd name="txB" fmla="*/ 84 h 84"/>
              </a:gdLst>
              <a:ahLst/>
              <a:cxnLst>
                <a:cxn ang="0">
                  <a:pos x="0" y="0"/>
                </a:cxn>
                <a:cxn ang="0">
                  <a:pos x="30" y="6"/>
                </a:cxn>
                <a:cxn ang="0">
                  <a:pos x="54" y="24"/>
                </a:cxn>
                <a:cxn ang="0">
                  <a:pos x="66" y="48"/>
                </a:cxn>
                <a:cxn ang="0">
                  <a:pos x="72" y="84"/>
                </a:cxn>
                <a:cxn ang="0">
                  <a:pos x="72" y="84"/>
                </a:cxn>
                <a:cxn ang="0">
                  <a:pos x="66" y="48"/>
                </a:cxn>
                <a:cxn ang="0">
                  <a:pos x="54" y="24"/>
                </a:cxn>
                <a:cxn ang="0">
                  <a:pos x="30" y="6"/>
                </a:cxn>
                <a:cxn ang="0">
                  <a:pos x="0" y="0"/>
                </a:cxn>
                <a:cxn ang="0">
                  <a:pos x="0" y="0"/>
                </a:cxn>
                <a:cxn ang="0">
                  <a:pos x="0" y="0"/>
                </a:cxn>
                <a:cxn ang="0">
                  <a:pos x="0" y="0"/>
                </a:cxn>
                <a:cxn ang="0">
                  <a:pos x="0" y="0"/>
                </a:cxn>
              </a:cxnLst>
              <a:rect l="txL" t="txT" r="txR" b="txB"/>
              <a:pathLst>
                <a:path w="72" h="84">
                  <a:moveTo>
                    <a:pt x="0" y="0"/>
                  </a:moveTo>
                  <a:lnTo>
                    <a:pt x="30" y="6"/>
                  </a:lnTo>
                  <a:lnTo>
                    <a:pt x="54" y="24"/>
                  </a:lnTo>
                  <a:lnTo>
                    <a:pt x="66" y="48"/>
                  </a:lnTo>
                  <a:lnTo>
                    <a:pt x="72" y="84"/>
                  </a:lnTo>
                  <a:lnTo>
                    <a:pt x="66" y="48"/>
                  </a:lnTo>
                  <a:lnTo>
                    <a:pt x="54" y="24"/>
                  </a:lnTo>
                  <a:lnTo>
                    <a:pt x="30"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79" name="Freeform 102"/>
            <p:cNvSpPr>
              <a:spLocks noEditPoints="1"/>
            </p:cNvSpPr>
            <p:nvPr/>
          </p:nvSpPr>
          <p:spPr>
            <a:xfrm>
              <a:off x="4420" y="580"/>
              <a:ext cx="18" cy="60"/>
            </a:xfrm>
            <a:custGeom>
              <a:avLst/>
              <a:gdLst>
                <a:gd name="txL" fmla="*/ 0 w 18"/>
                <a:gd name="txT" fmla="*/ 0 h 60"/>
                <a:gd name="txR" fmla="*/ 18 w 18"/>
                <a:gd name="txB" fmla="*/ 60 h 60"/>
              </a:gdLst>
              <a:ahLst/>
              <a:cxnLst>
                <a:cxn ang="0">
                  <a:pos x="18" y="0"/>
                </a:cxn>
                <a:cxn ang="0">
                  <a:pos x="12" y="30"/>
                </a:cxn>
                <a:cxn ang="0">
                  <a:pos x="0" y="60"/>
                </a:cxn>
                <a:cxn ang="0">
                  <a:pos x="0" y="60"/>
                </a:cxn>
                <a:cxn ang="0">
                  <a:pos x="12" y="30"/>
                </a:cxn>
                <a:cxn ang="0">
                  <a:pos x="18" y="0"/>
                </a:cxn>
                <a:cxn ang="0">
                  <a:pos x="18" y="0"/>
                </a:cxn>
                <a:cxn ang="0">
                  <a:pos x="18" y="0"/>
                </a:cxn>
                <a:cxn ang="0">
                  <a:pos x="18" y="0"/>
                </a:cxn>
                <a:cxn ang="0">
                  <a:pos x="18" y="0"/>
                </a:cxn>
              </a:cxnLst>
              <a:rect l="txL" t="txT" r="txR" b="txB"/>
              <a:pathLst>
                <a:path w="18" h="60">
                  <a:moveTo>
                    <a:pt x="18" y="0"/>
                  </a:moveTo>
                  <a:lnTo>
                    <a:pt x="12" y="30"/>
                  </a:lnTo>
                  <a:lnTo>
                    <a:pt x="0" y="60"/>
                  </a:lnTo>
                  <a:lnTo>
                    <a:pt x="12" y="3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80" name="Freeform 103"/>
            <p:cNvSpPr>
              <a:spLocks noEditPoints="1"/>
            </p:cNvSpPr>
            <p:nvPr/>
          </p:nvSpPr>
          <p:spPr>
            <a:xfrm>
              <a:off x="4402"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81" name="Freeform 104"/>
            <p:cNvSpPr>
              <a:spLocks noEditPoints="1"/>
            </p:cNvSpPr>
            <p:nvPr/>
          </p:nvSpPr>
          <p:spPr>
            <a:xfrm>
              <a:off x="4402"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66" y="0"/>
                </a:cxn>
                <a:cxn ang="0">
                  <a:pos x="42" y="6"/>
                </a:cxn>
                <a:cxn ang="0">
                  <a:pos x="18" y="24"/>
                </a:cxn>
                <a:cxn ang="0">
                  <a:pos x="6" y="48"/>
                </a:cxn>
                <a:cxn ang="0">
                  <a:pos x="0" y="84"/>
                </a:cxn>
                <a:cxn ang="0">
                  <a:pos x="0" y="84"/>
                </a:cxn>
                <a:cxn ang="0">
                  <a:pos x="0" y="84"/>
                </a:cxn>
                <a:cxn ang="0">
                  <a:pos x="0" y="84"/>
                </a:cxn>
                <a:cxn ang="0">
                  <a:pos x="0" y="84"/>
                </a:cxn>
              </a:cxnLst>
              <a:rect l="txL" t="txT" r="txR" b="txB"/>
              <a:pathLst>
                <a:path w="72" h="84">
                  <a:moveTo>
                    <a:pt x="0" y="84"/>
                  </a:moveTo>
                  <a:lnTo>
                    <a:pt x="6" y="48"/>
                  </a:lnTo>
                  <a:lnTo>
                    <a:pt x="18" y="24"/>
                  </a:lnTo>
                  <a:lnTo>
                    <a:pt x="42" y="6"/>
                  </a:lnTo>
                  <a:lnTo>
                    <a:pt x="72" y="0"/>
                  </a:lnTo>
                  <a:lnTo>
                    <a:pt x="66" y="0"/>
                  </a:lnTo>
                  <a:lnTo>
                    <a:pt x="42" y="6"/>
                  </a:lnTo>
                  <a:lnTo>
                    <a:pt x="18"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82" name="Freeform 105"/>
            <p:cNvSpPr>
              <a:spLocks noEditPoints="1"/>
            </p:cNvSpPr>
            <p:nvPr/>
          </p:nvSpPr>
          <p:spPr>
            <a:xfrm>
              <a:off x="4468" y="496"/>
              <a:ext cx="72" cy="84"/>
            </a:xfrm>
            <a:custGeom>
              <a:avLst/>
              <a:gdLst>
                <a:gd name="txL" fmla="*/ 0 w 72"/>
                <a:gd name="txT" fmla="*/ 0 h 84"/>
                <a:gd name="txR" fmla="*/ 72 w 72"/>
                <a:gd name="txB" fmla="*/ 84 h 84"/>
              </a:gdLst>
              <a:ahLst/>
              <a:cxnLst>
                <a:cxn ang="0">
                  <a:pos x="0" y="0"/>
                </a:cxn>
                <a:cxn ang="0">
                  <a:pos x="30" y="6"/>
                </a:cxn>
                <a:cxn ang="0">
                  <a:pos x="54" y="24"/>
                </a:cxn>
                <a:cxn ang="0">
                  <a:pos x="66" y="48"/>
                </a:cxn>
                <a:cxn ang="0">
                  <a:pos x="72" y="84"/>
                </a:cxn>
                <a:cxn ang="0">
                  <a:pos x="72" y="84"/>
                </a:cxn>
                <a:cxn ang="0">
                  <a:pos x="66" y="48"/>
                </a:cxn>
                <a:cxn ang="0">
                  <a:pos x="54" y="24"/>
                </a:cxn>
                <a:cxn ang="0">
                  <a:pos x="30" y="6"/>
                </a:cxn>
                <a:cxn ang="0">
                  <a:pos x="6" y="0"/>
                </a:cxn>
                <a:cxn ang="0">
                  <a:pos x="0" y="0"/>
                </a:cxn>
                <a:cxn ang="0">
                  <a:pos x="0" y="0"/>
                </a:cxn>
                <a:cxn ang="0">
                  <a:pos x="0" y="0"/>
                </a:cxn>
                <a:cxn ang="0">
                  <a:pos x="0" y="0"/>
                </a:cxn>
              </a:cxnLst>
              <a:rect l="txL" t="txT" r="txR" b="txB"/>
              <a:pathLst>
                <a:path w="72" h="84">
                  <a:moveTo>
                    <a:pt x="0" y="0"/>
                  </a:moveTo>
                  <a:lnTo>
                    <a:pt x="30" y="6"/>
                  </a:lnTo>
                  <a:lnTo>
                    <a:pt x="54" y="24"/>
                  </a:lnTo>
                  <a:lnTo>
                    <a:pt x="66" y="48"/>
                  </a:lnTo>
                  <a:lnTo>
                    <a:pt x="72" y="84"/>
                  </a:lnTo>
                  <a:lnTo>
                    <a:pt x="66" y="48"/>
                  </a:lnTo>
                  <a:lnTo>
                    <a:pt x="54" y="24"/>
                  </a:lnTo>
                  <a:lnTo>
                    <a:pt x="30" y="6"/>
                  </a:lnTo>
                  <a:lnTo>
                    <a:pt x="6" y="0"/>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83" name="Freeform 106"/>
            <p:cNvSpPr>
              <a:spLocks noEditPoints="1"/>
            </p:cNvSpPr>
            <p:nvPr/>
          </p:nvSpPr>
          <p:spPr>
            <a:xfrm>
              <a:off x="4522" y="580"/>
              <a:ext cx="18" cy="60"/>
            </a:xfrm>
            <a:custGeom>
              <a:avLst/>
              <a:gdLst>
                <a:gd name="txL" fmla="*/ 0 w 18"/>
                <a:gd name="txT" fmla="*/ 0 h 60"/>
                <a:gd name="txR" fmla="*/ 18 w 18"/>
                <a:gd name="txB" fmla="*/ 60 h 60"/>
              </a:gdLst>
              <a:ahLst/>
              <a:cxnLst>
                <a:cxn ang="0">
                  <a:pos x="18" y="0"/>
                </a:cxn>
                <a:cxn ang="0">
                  <a:pos x="12" y="30"/>
                </a:cxn>
                <a:cxn ang="0">
                  <a:pos x="0" y="60"/>
                </a:cxn>
                <a:cxn ang="0">
                  <a:pos x="0" y="60"/>
                </a:cxn>
                <a:cxn ang="0">
                  <a:pos x="12" y="30"/>
                </a:cxn>
                <a:cxn ang="0">
                  <a:pos x="18" y="0"/>
                </a:cxn>
                <a:cxn ang="0">
                  <a:pos x="18" y="0"/>
                </a:cxn>
                <a:cxn ang="0">
                  <a:pos x="18" y="0"/>
                </a:cxn>
                <a:cxn ang="0">
                  <a:pos x="18" y="0"/>
                </a:cxn>
                <a:cxn ang="0">
                  <a:pos x="18" y="0"/>
                </a:cxn>
              </a:cxnLst>
              <a:rect l="txL" t="txT" r="txR" b="txB"/>
              <a:pathLst>
                <a:path w="18" h="60">
                  <a:moveTo>
                    <a:pt x="18" y="0"/>
                  </a:moveTo>
                  <a:lnTo>
                    <a:pt x="12" y="30"/>
                  </a:lnTo>
                  <a:lnTo>
                    <a:pt x="0" y="60"/>
                  </a:lnTo>
                  <a:lnTo>
                    <a:pt x="12" y="30"/>
                  </a:lnTo>
                  <a:lnTo>
                    <a:pt x="18" y="0"/>
                  </a:lnTo>
                  <a:close/>
                  <a:moveTo>
                    <a:pt x="18" y="0"/>
                  </a:moveTo>
                  <a:lnTo>
                    <a:pt x="18"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84" name="Freeform 107"/>
            <p:cNvSpPr>
              <a:spLocks noEditPoints="1"/>
            </p:cNvSpPr>
            <p:nvPr/>
          </p:nvSpPr>
          <p:spPr>
            <a:xfrm>
              <a:off x="4504" y="580"/>
              <a:ext cx="18" cy="60"/>
            </a:xfrm>
            <a:custGeom>
              <a:avLst/>
              <a:gdLst>
                <a:gd name="txL" fmla="*/ 0 w 18"/>
                <a:gd name="txT" fmla="*/ 0 h 60"/>
                <a:gd name="txR" fmla="*/ 18 w 18"/>
                <a:gd name="txB" fmla="*/ 60 h 60"/>
              </a:gdLst>
              <a:ahLst/>
              <a:cxnLst>
                <a:cxn ang="0">
                  <a:pos x="18" y="60"/>
                </a:cxn>
                <a:cxn ang="0">
                  <a:pos x="6" y="30"/>
                </a:cxn>
                <a:cxn ang="0">
                  <a:pos x="0" y="0"/>
                </a:cxn>
                <a:cxn ang="0">
                  <a:pos x="0" y="0"/>
                </a:cxn>
                <a:cxn ang="0">
                  <a:pos x="6" y="30"/>
                </a:cxn>
                <a:cxn ang="0">
                  <a:pos x="18" y="60"/>
                </a:cxn>
                <a:cxn ang="0">
                  <a:pos x="18" y="60"/>
                </a:cxn>
                <a:cxn ang="0">
                  <a:pos x="18" y="60"/>
                </a:cxn>
                <a:cxn ang="0">
                  <a:pos x="18" y="60"/>
                </a:cxn>
                <a:cxn ang="0">
                  <a:pos x="18" y="60"/>
                </a:cxn>
              </a:cxnLst>
              <a:rect l="txL" t="txT" r="txR" b="txB"/>
              <a:pathLst>
                <a:path w="18" h="60">
                  <a:moveTo>
                    <a:pt x="18" y="60"/>
                  </a:moveTo>
                  <a:lnTo>
                    <a:pt x="6" y="30"/>
                  </a:lnTo>
                  <a:lnTo>
                    <a:pt x="0" y="0"/>
                  </a:lnTo>
                  <a:lnTo>
                    <a:pt x="6" y="30"/>
                  </a:lnTo>
                  <a:lnTo>
                    <a:pt x="18" y="60"/>
                  </a:lnTo>
                  <a:close/>
                  <a:moveTo>
                    <a:pt x="18" y="60"/>
                  </a:moveTo>
                  <a:lnTo>
                    <a:pt x="18" y="6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85" name="Freeform 108"/>
            <p:cNvSpPr>
              <a:spLocks noEditPoints="1"/>
            </p:cNvSpPr>
            <p:nvPr/>
          </p:nvSpPr>
          <p:spPr>
            <a:xfrm>
              <a:off x="4504" y="496"/>
              <a:ext cx="72" cy="84"/>
            </a:xfrm>
            <a:custGeom>
              <a:avLst/>
              <a:gdLst>
                <a:gd name="txL" fmla="*/ 0 w 72"/>
                <a:gd name="txT" fmla="*/ 0 h 84"/>
                <a:gd name="txR" fmla="*/ 72 w 72"/>
                <a:gd name="txB" fmla="*/ 84 h 84"/>
              </a:gdLst>
              <a:ahLst/>
              <a:cxnLst>
                <a:cxn ang="0">
                  <a:pos x="0" y="84"/>
                </a:cxn>
                <a:cxn ang="0">
                  <a:pos x="6" y="48"/>
                </a:cxn>
                <a:cxn ang="0">
                  <a:pos x="18" y="24"/>
                </a:cxn>
                <a:cxn ang="0">
                  <a:pos x="42" y="6"/>
                </a:cxn>
                <a:cxn ang="0">
                  <a:pos x="72" y="0"/>
                </a:cxn>
                <a:cxn ang="0">
                  <a:pos x="72" y="0"/>
                </a:cxn>
                <a:cxn ang="0">
                  <a:pos x="42" y="6"/>
                </a:cxn>
                <a:cxn ang="0">
                  <a:pos x="18" y="24"/>
                </a:cxn>
                <a:cxn ang="0">
                  <a:pos x="6" y="48"/>
                </a:cxn>
                <a:cxn ang="0">
                  <a:pos x="0" y="84"/>
                </a:cxn>
                <a:cxn ang="0">
                  <a:pos x="0" y="84"/>
                </a:cxn>
                <a:cxn ang="0">
                  <a:pos x="0" y="84"/>
                </a:cxn>
                <a:cxn ang="0">
                  <a:pos x="0" y="84"/>
                </a:cxn>
                <a:cxn ang="0">
                  <a:pos x="0" y="84"/>
                </a:cxn>
              </a:cxnLst>
              <a:rect l="txL" t="txT" r="txR" b="txB"/>
              <a:pathLst>
                <a:path w="72" h="84">
                  <a:moveTo>
                    <a:pt x="0" y="84"/>
                  </a:moveTo>
                  <a:lnTo>
                    <a:pt x="6" y="48"/>
                  </a:lnTo>
                  <a:lnTo>
                    <a:pt x="18" y="24"/>
                  </a:lnTo>
                  <a:lnTo>
                    <a:pt x="42" y="6"/>
                  </a:lnTo>
                  <a:lnTo>
                    <a:pt x="72" y="0"/>
                  </a:lnTo>
                  <a:lnTo>
                    <a:pt x="42" y="6"/>
                  </a:lnTo>
                  <a:lnTo>
                    <a:pt x="18" y="24"/>
                  </a:lnTo>
                  <a:lnTo>
                    <a:pt x="6" y="48"/>
                  </a:lnTo>
                  <a:lnTo>
                    <a:pt x="0" y="84"/>
                  </a:lnTo>
                  <a:close/>
                  <a:moveTo>
                    <a:pt x="0" y="84"/>
                  </a:moveTo>
                  <a:lnTo>
                    <a:pt x="0" y="84"/>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86" name="Freeform 109"/>
            <p:cNvSpPr>
              <a:spLocks noEditPoints="1"/>
            </p:cNvSpPr>
            <p:nvPr/>
          </p:nvSpPr>
          <p:spPr>
            <a:xfrm>
              <a:off x="4576" y="496"/>
              <a:ext cx="65" cy="84"/>
            </a:xfrm>
            <a:custGeom>
              <a:avLst/>
              <a:gdLst>
                <a:gd name="txL" fmla="*/ 0 w 65"/>
                <a:gd name="txT" fmla="*/ 0 h 84"/>
                <a:gd name="txR" fmla="*/ 65 w 65"/>
                <a:gd name="txB" fmla="*/ 84 h 84"/>
              </a:gdLst>
              <a:ahLst/>
              <a:cxnLst>
                <a:cxn ang="0">
                  <a:pos x="0" y="0"/>
                </a:cxn>
                <a:cxn ang="0">
                  <a:pos x="24" y="6"/>
                </a:cxn>
                <a:cxn ang="0">
                  <a:pos x="48" y="24"/>
                </a:cxn>
                <a:cxn ang="0">
                  <a:pos x="59" y="48"/>
                </a:cxn>
                <a:cxn ang="0">
                  <a:pos x="65" y="84"/>
                </a:cxn>
                <a:cxn ang="0">
                  <a:pos x="65" y="84"/>
                </a:cxn>
                <a:cxn ang="0">
                  <a:pos x="59" y="48"/>
                </a:cxn>
                <a:cxn ang="0">
                  <a:pos x="48" y="24"/>
                </a:cxn>
                <a:cxn ang="0">
                  <a:pos x="24" y="6"/>
                </a:cxn>
                <a:cxn ang="0">
                  <a:pos x="0" y="0"/>
                </a:cxn>
                <a:cxn ang="0">
                  <a:pos x="0" y="0"/>
                </a:cxn>
                <a:cxn ang="0">
                  <a:pos x="0" y="0"/>
                </a:cxn>
                <a:cxn ang="0">
                  <a:pos x="0" y="0"/>
                </a:cxn>
                <a:cxn ang="0">
                  <a:pos x="0" y="0"/>
                </a:cxn>
              </a:cxnLst>
              <a:rect l="txL" t="txT" r="txR" b="txB"/>
              <a:pathLst>
                <a:path w="65" h="84">
                  <a:moveTo>
                    <a:pt x="0" y="0"/>
                  </a:moveTo>
                  <a:lnTo>
                    <a:pt x="24" y="6"/>
                  </a:lnTo>
                  <a:lnTo>
                    <a:pt x="48" y="24"/>
                  </a:lnTo>
                  <a:lnTo>
                    <a:pt x="59" y="48"/>
                  </a:lnTo>
                  <a:lnTo>
                    <a:pt x="65" y="84"/>
                  </a:lnTo>
                  <a:lnTo>
                    <a:pt x="59" y="48"/>
                  </a:lnTo>
                  <a:lnTo>
                    <a:pt x="48" y="24"/>
                  </a:lnTo>
                  <a:lnTo>
                    <a:pt x="24"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87" name="Freeform 110"/>
            <p:cNvSpPr>
              <a:spLocks noEditPoints="1"/>
            </p:cNvSpPr>
            <p:nvPr/>
          </p:nvSpPr>
          <p:spPr>
            <a:xfrm>
              <a:off x="4199" y="580"/>
              <a:ext cx="442" cy="1"/>
            </a:xfrm>
            <a:custGeom>
              <a:avLst/>
              <a:gdLst>
                <a:gd name="txL" fmla="*/ 0 w 442"/>
                <a:gd name="txT" fmla="*/ 0 h 1"/>
                <a:gd name="txR" fmla="*/ 442 w 442"/>
                <a:gd name="txB" fmla="*/ 1 h 1"/>
              </a:gdLst>
              <a:ahLst/>
              <a:cxnLst>
                <a:cxn ang="0">
                  <a:pos x="0" y="0"/>
                </a:cxn>
                <a:cxn ang="0">
                  <a:pos x="0" y="0"/>
                </a:cxn>
                <a:cxn ang="0">
                  <a:pos x="0" y="0"/>
                </a:cxn>
                <a:cxn ang="0">
                  <a:pos x="442" y="0"/>
                </a:cxn>
                <a:cxn ang="0">
                  <a:pos x="442" y="0"/>
                </a:cxn>
                <a:cxn ang="0">
                  <a:pos x="442" y="0"/>
                </a:cxn>
              </a:cxnLst>
              <a:rect l="txL" t="txT" r="txR" b="txB"/>
              <a:pathLst>
                <a:path w="442" h="1">
                  <a:moveTo>
                    <a:pt x="0" y="0"/>
                  </a:moveTo>
                  <a:lnTo>
                    <a:pt x="0" y="0"/>
                  </a:lnTo>
                  <a:close/>
                  <a:moveTo>
                    <a:pt x="442" y="0"/>
                  </a:moveTo>
                  <a:lnTo>
                    <a:pt x="442"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888" name="Freeform 111"/>
            <p:cNvSpPr/>
            <p:nvPr/>
          </p:nvSpPr>
          <p:spPr>
            <a:xfrm>
              <a:off x="1483" y="705"/>
              <a:ext cx="114" cy="102"/>
            </a:xfrm>
            <a:custGeom>
              <a:avLst/>
              <a:gdLst>
                <a:gd name="txL" fmla="*/ 0 w 114"/>
                <a:gd name="txT" fmla="*/ 0 h 102"/>
                <a:gd name="txR" fmla="*/ 114 w 114"/>
                <a:gd name="txB" fmla="*/ 102 h 102"/>
              </a:gdLst>
              <a:ahLst/>
              <a:cxnLst>
                <a:cxn ang="0">
                  <a:pos x="48" y="48"/>
                </a:cxn>
                <a:cxn ang="0">
                  <a:pos x="0" y="48"/>
                </a:cxn>
                <a:cxn ang="0">
                  <a:pos x="0" y="60"/>
                </a:cxn>
                <a:cxn ang="0">
                  <a:pos x="48" y="60"/>
                </a:cxn>
                <a:cxn ang="0">
                  <a:pos x="48" y="102"/>
                </a:cxn>
                <a:cxn ang="0">
                  <a:pos x="66" y="102"/>
                </a:cxn>
                <a:cxn ang="0">
                  <a:pos x="66" y="60"/>
                </a:cxn>
                <a:cxn ang="0">
                  <a:pos x="114" y="60"/>
                </a:cxn>
                <a:cxn ang="0">
                  <a:pos x="114" y="48"/>
                </a:cxn>
                <a:cxn ang="0">
                  <a:pos x="66" y="48"/>
                </a:cxn>
                <a:cxn ang="0">
                  <a:pos x="66" y="0"/>
                </a:cxn>
                <a:cxn ang="0">
                  <a:pos x="48" y="0"/>
                </a:cxn>
                <a:cxn ang="0">
                  <a:pos x="48" y="48"/>
                </a:cxn>
              </a:cxnLst>
              <a:rect l="txL" t="txT" r="txR" b="txB"/>
              <a:pathLst>
                <a:path w="114" h="102">
                  <a:moveTo>
                    <a:pt x="48" y="48"/>
                  </a:moveTo>
                  <a:lnTo>
                    <a:pt x="0" y="48"/>
                  </a:lnTo>
                  <a:lnTo>
                    <a:pt x="0" y="60"/>
                  </a:lnTo>
                  <a:lnTo>
                    <a:pt x="48" y="60"/>
                  </a:lnTo>
                  <a:lnTo>
                    <a:pt x="48" y="102"/>
                  </a:lnTo>
                  <a:lnTo>
                    <a:pt x="66" y="102"/>
                  </a:lnTo>
                  <a:lnTo>
                    <a:pt x="66" y="60"/>
                  </a:lnTo>
                  <a:lnTo>
                    <a:pt x="114" y="60"/>
                  </a:lnTo>
                  <a:lnTo>
                    <a:pt x="114" y="48"/>
                  </a:lnTo>
                  <a:lnTo>
                    <a:pt x="66" y="48"/>
                  </a:lnTo>
                  <a:lnTo>
                    <a:pt x="66" y="0"/>
                  </a:lnTo>
                  <a:lnTo>
                    <a:pt x="48" y="0"/>
                  </a:lnTo>
                  <a:lnTo>
                    <a:pt x="4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89" name="Rectangle 112"/>
            <p:cNvSpPr/>
            <p:nvPr/>
          </p:nvSpPr>
          <p:spPr>
            <a:xfrm>
              <a:off x="1902" y="753"/>
              <a:ext cx="114" cy="6"/>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73890" name="Freeform 113"/>
            <p:cNvSpPr/>
            <p:nvPr/>
          </p:nvSpPr>
          <p:spPr>
            <a:xfrm>
              <a:off x="1663" y="807"/>
              <a:ext cx="84" cy="84"/>
            </a:xfrm>
            <a:custGeom>
              <a:avLst/>
              <a:gdLst>
                <a:gd name="txL" fmla="*/ 0 w 84"/>
                <a:gd name="txT" fmla="*/ 0 h 84"/>
                <a:gd name="txR" fmla="*/ 84 w 84"/>
                <a:gd name="txB" fmla="*/ 84 h 84"/>
              </a:gdLst>
              <a:ahLst/>
              <a:cxnLst>
                <a:cxn ang="0">
                  <a:pos x="0" y="6"/>
                </a:cxn>
                <a:cxn ang="0">
                  <a:pos x="12" y="6"/>
                </a:cxn>
                <a:cxn ang="0">
                  <a:pos x="18" y="6"/>
                </a:cxn>
                <a:cxn ang="0">
                  <a:pos x="18" y="12"/>
                </a:cxn>
                <a:cxn ang="0">
                  <a:pos x="24" y="24"/>
                </a:cxn>
                <a:cxn ang="0">
                  <a:pos x="24" y="36"/>
                </a:cxn>
                <a:cxn ang="0">
                  <a:pos x="24" y="54"/>
                </a:cxn>
                <a:cxn ang="0">
                  <a:pos x="24" y="66"/>
                </a:cxn>
                <a:cxn ang="0">
                  <a:pos x="30" y="78"/>
                </a:cxn>
                <a:cxn ang="0">
                  <a:pos x="30" y="84"/>
                </a:cxn>
                <a:cxn ang="0">
                  <a:pos x="30" y="84"/>
                </a:cxn>
                <a:cxn ang="0">
                  <a:pos x="36" y="84"/>
                </a:cxn>
                <a:cxn ang="0">
                  <a:pos x="42" y="78"/>
                </a:cxn>
                <a:cxn ang="0">
                  <a:pos x="48" y="66"/>
                </a:cxn>
                <a:cxn ang="0">
                  <a:pos x="54" y="60"/>
                </a:cxn>
                <a:cxn ang="0">
                  <a:pos x="66" y="42"/>
                </a:cxn>
                <a:cxn ang="0">
                  <a:pos x="78" y="30"/>
                </a:cxn>
                <a:cxn ang="0">
                  <a:pos x="84" y="12"/>
                </a:cxn>
                <a:cxn ang="0">
                  <a:pos x="84" y="6"/>
                </a:cxn>
                <a:cxn ang="0">
                  <a:pos x="72" y="0"/>
                </a:cxn>
                <a:cxn ang="0">
                  <a:pos x="72" y="0"/>
                </a:cxn>
                <a:cxn ang="0">
                  <a:pos x="66" y="6"/>
                </a:cxn>
                <a:cxn ang="0">
                  <a:pos x="72" y="12"/>
                </a:cxn>
                <a:cxn ang="0">
                  <a:pos x="78" y="18"/>
                </a:cxn>
                <a:cxn ang="0">
                  <a:pos x="78" y="30"/>
                </a:cxn>
                <a:cxn ang="0">
                  <a:pos x="66" y="42"/>
                </a:cxn>
                <a:cxn ang="0">
                  <a:pos x="60" y="54"/>
                </a:cxn>
                <a:cxn ang="0">
                  <a:pos x="48" y="60"/>
                </a:cxn>
                <a:cxn ang="0">
                  <a:pos x="42" y="66"/>
                </a:cxn>
                <a:cxn ang="0">
                  <a:pos x="36" y="36"/>
                </a:cxn>
                <a:cxn ang="0">
                  <a:pos x="36" y="18"/>
                </a:cxn>
                <a:cxn ang="0">
                  <a:pos x="30" y="0"/>
                </a:cxn>
                <a:cxn ang="0">
                  <a:pos x="30" y="0"/>
                </a:cxn>
                <a:cxn ang="0">
                  <a:pos x="18" y="0"/>
                </a:cxn>
                <a:cxn ang="0">
                  <a:pos x="0" y="6"/>
                </a:cxn>
                <a:cxn ang="0">
                  <a:pos x="0" y="6"/>
                </a:cxn>
              </a:cxnLst>
              <a:rect l="txL" t="txT" r="txR" b="txB"/>
              <a:pathLst>
                <a:path w="84" h="84">
                  <a:moveTo>
                    <a:pt x="0" y="6"/>
                  </a:moveTo>
                  <a:lnTo>
                    <a:pt x="12" y="6"/>
                  </a:lnTo>
                  <a:lnTo>
                    <a:pt x="18" y="6"/>
                  </a:lnTo>
                  <a:lnTo>
                    <a:pt x="18" y="12"/>
                  </a:lnTo>
                  <a:lnTo>
                    <a:pt x="24" y="24"/>
                  </a:lnTo>
                  <a:lnTo>
                    <a:pt x="24" y="36"/>
                  </a:lnTo>
                  <a:lnTo>
                    <a:pt x="24" y="54"/>
                  </a:lnTo>
                  <a:lnTo>
                    <a:pt x="24" y="66"/>
                  </a:lnTo>
                  <a:lnTo>
                    <a:pt x="30" y="78"/>
                  </a:lnTo>
                  <a:lnTo>
                    <a:pt x="30" y="84"/>
                  </a:lnTo>
                  <a:lnTo>
                    <a:pt x="36" y="84"/>
                  </a:lnTo>
                  <a:lnTo>
                    <a:pt x="42" y="78"/>
                  </a:lnTo>
                  <a:lnTo>
                    <a:pt x="48" y="66"/>
                  </a:lnTo>
                  <a:lnTo>
                    <a:pt x="54" y="60"/>
                  </a:lnTo>
                  <a:lnTo>
                    <a:pt x="66" y="42"/>
                  </a:lnTo>
                  <a:lnTo>
                    <a:pt x="78" y="30"/>
                  </a:lnTo>
                  <a:lnTo>
                    <a:pt x="84" y="12"/>
                  </a:lnTo>
                  <a:lnTo>
                    <a:pt x="84" y="6"/>
                  </a:lnTo>
                  <a:lnTo>
                    <a:pt x="72" y="0"/>
                  </a:lnTo>
                  <a:lnTo>
                    <a:pt x="66" y="6"/>
                  </a:lnTo>
                  <a:lnTo>
                    <a:pt x="72" y="12"/>
                  </a:lnTo>
                  <a:lnTo>
                    <a:pt x="78" y="18"/>
                  </a:lnTo>
                  <a:lnTo>
                    <a:pt x="78" y="30"/>
                  </a:lnTo>
                  <a:lnTo>
                    <a:pt x="66" y="42"/>
                  </a:lnTo>
                  <a:lnTo>
                    <a:pt x="60" y="54"/>
                  </a:lnTo>
                  <a:lnTo>
                    <a:pt x="48" y="60"/>
                  </a:lnTo>
                  <a:lnTo>
                    <a:pt x="42" y="66"/>
                  </a:lnTo>
                  <a:lnTo>
                    <a:pt x="36" y="36"/>
                  </a:lnTo>
                  <a:lnTo>
                    <a:pt x="36" y="18"/>
                  </a:lnTo>
                  <a:lnTo>
                    <a:pt x="30" y="0"/>
                  </a:lnTo>
                  <a:lnTo>
                    <a:pt x="18"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91" name="Freeform 114"/>
            <p:cNvSpPr/>
            <p:nvPr/>
          </p:nvSpPr>
          <p:spPr>
            <a:xfrm>
              <a:off x="1770" y="837"/>
              <a:ext cx="48" cy="101"/>
            </a:xfrm>
            <a:custGeom>
              <a:avLst/>
              <a:gdLst>
                <a:gd name="txL" fmla="*/ 0 w 48"/>
                <a:gd name="txT" fmla="*/ 0 h 101"/>
                <a:gd name="txR" fmla="*/ 48 w 48"/>
                <a:gd name="txB" fmla="*/ 101 h 101"/>
              </a:gdLst>
              <a:ahLst/>
              <a:cxnLst>
                <a:cxn ang="0">
                  <a:pos x="6" y="101"/>
                </a:cxn>
                <a:cxn ang="0">
                  <a:pos x="48" y="101"/>
                </a:cxn>
                <a:cxn ang="0">
                  <a:pos x="48" y="101"/>
                </a:cxn>
                <a:cxn ang="0">
                  <a:pos x="36" y="95"/>
                </a:cxn>
                <a:cxn ang="0">
                  <a:pos x="30" y="89"/>
                </a:cxn>
                <a:cxn ang="0">
                  <a:pos x="30" y="0"/>
                </a:cxn>
                <a:cxn ang="0">
                  <a:pos x="30" y="0"/>
                </a:cxn>
                <a:cxn ang="0">
                  <a:pos x="0" y="12"/>
                </a:cxn>
                <a:cxn ang="0">
                  <a:pos x="0" y="18"/>
                </a:cxn>
                <a:cxn ang="0">
                  <a:pos x="12" y="12"/>
                </a:cxn>
                <a:cxn ang="0">
                  <a:pos x="12" y="12"/>
                </a:cxn>
                <a:cxn ang="0">
                  <a:pos x="18" y="18"/>
                </a:cxn>
                <a:cxn ang="0">
                  <a:pos x="18" y="18"/>
                </a:cxn>
                <a:cxn ang="0">
                  <a:pos x="18" y="89"/>
                </a:cxn>
                <a:cxn ang="0">
                  <a:pos x="12" y="101"/>
                </a:cxn>
                <a:cxn ang="0">
                  <a:pos x="6" y="101"/>
                </a:cxn>
                <a:cxn ang="0">
                  <a:pos x="6" y="101"/>
                </a:cxn>
              </a:cxnLst>
              <a:rect l="txL" t="txT" r="txR" b="txB"/>
              <a:pathLst>
                <a:path w="48" h="101">
                  <a:moveTo>
                    <a:pt x="6" y="101"/>
                  </a:moveTo>
                  <a:lnTo>
                    <a:pt x="48" y="101"/>
                  </a:lnTo>
                  <a:lnTo>
                    <a:pt x="36" y="95"/>
                  </a:lnTo>
                  <a:lnTo>
                    <a:pt x="30" y="89"/>
                  </a:lnTo>
                  <a:lnTo>
                    <a:pt x="30" y="0"/>
                  </a:lnTo>
                  <a:lnTo>
                    <a:pt x="0" y="12"/>
                  </a:lnTo>
                  <a:lnTo>
                    <a:pt x="0" y="18"/>
                  </a:lnTo>
                  <a:lnTo>
                    <a:pt x="12" y="12"/>
                  </a:lnTo>
                  <a:lnTo>
                    <a:pt x="18" y="18"/>
                  </a:lnTo>
                  <a:lnTo>
                    <a:pt x="18" y="89"/>
                  </a:lnTo>
                  <a:lnTo>
                    <a:pt x="12" y="101"/>
                  </a:lnTo>
                  <a:lnTo>
                    <a:pt x="6" y="10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92" name="Freeform 115"/>
            <p:cNvSpPr/>
            <p:nvPr/>
          </p:nvSpPr>
          <p:spPr>
            <a:xfrm>
              <a:off x="2165" y="705"/>
              <a:ext cx="108" cy="102"/>
            </a:xfrm>
            <a:custGeom>
              <a:avLst/>
              <a:gdLst>
                <a:gd name="txL" fmla="*/ 0 w 108"/>
                <a:gd name="txT" fmla="*/ 0 h 102"/>
                <a:gd name="txR" fmla="*/ 108 w 108"/>
                <a:gd name="txB" fmla="*/ 102 h 102"/>
              </a:gdLst>
              <a:ahLst/>
              <a:cxnLst>
                <a:cxn ang="0">
                  <a:pos x="48" y="48"/>
                </a:cxn>
                <a:cxn ang="0">
                  <a:pos x="0" y="48"/>
                </a:cxn>
                <a:cxn ang="0">
                  <a:pos x="0" y="60"/>
                </a:cxn>
                <a:cxn ang="0">
                  <a:pos x="48" y="60"/>
                </a:cxn>
                <a:cxn ang="0">
                  <a:pos x="48" y="102"/>
                </a:cxn>
                <a:cxn ang="0">
                  <a:pos x="60" y="102"/>
                </a:cxn>
                <a:cxn ang="0">
                  <a:pos x="60" y="60"/>
                </a:cxn>
                <a:cxn ang="0">
                  <a:pos x="108" y="60"/>
                </a:cxn>
                <a:cxn ang="0">
                  <a:pos x="108" y="48"/>
                </a:cxn>
                <a:cxn ang="0">
                  <a:pos x="60" y="48"/>
                </a:cxn>
                <a:cxn ang="0">
                  <a:pos x="60" y="0"/>
                </a:cxn>
                <a:cxn ang="0">
                  <a:pos x="48" y="0"/>
                </a:cxn>
                <a:cxn ang="0">
                  <a:pos x="48" y="48"/>
                </a:cxn>
              </a:cxnLst>
              <a:rect l="txL" t="txT" r="txR" b="txB"/>
              <a:pathLst>
                <a:path w="108" h="102">
                  <a:moveTo>
                    <a:pt x="48" y="48"/>
                  </a:moveTo>
                  <a:lnTo>
                    <a:pt x="0" y="48"/>
                  </a:lnTo>
                  <a:lnTo>
                    <a:pt x="0" y="60"/>
                  </a:lnTo>
                  <a:lnTo>
                    <a:pt x="48" y="60"/>
                  </a:lnTo>
                  <a:lnTo>
                    <a:pt x="48" y="102"/>
                  </a:lnTo>
                  <a:lnTo>
                    <a:pt x="60" y="102"/>
                  </a:lnTo>
                  <a:lnTo>
                    <a:pt x="60" y="60"/>
                  </a:lnTo>
                  <a:lnTo>
                    <a:pt x="108" y="60"/>
                  </a:lnTo>
                  <a:lnTo>
                    <a:pt x="108" y="48"/>
                  </a:lnTo>
                  <a:lnTo>
                    <a:pt x="60" y="48"/>
                  </a:lnTo>
                  <a:lnTo>
                    <a:pt x="60" y="0"/>
                  </a:lnTo>
                  <a:lnTo>
                    <a:pt x="48" y="0"/>
                  </a:lnTo>
                  <a:lnTo>
                    <a:pt x="4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93" name="Rectangle 116"/>
            <p:cNvSpPr/>
            <p:nvPr/>
          </p:nvSpPr>
          <p:spPr>
            <a:xfrm>
              <a:off x="2578" y="753"/>
              <a:ext cx="120" cy="6"/>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73894" name="Freeform 117"/>
            <p:cNvSpPr/>
            <p:nvPr/>
          </p:nvSpPr>
          <p:spPr>
            <a:xfrm>
              <a:off x="2345" y="807"/>
              <a:ext cx="83" cy="84"/>
            </a:xfrm>
            <a:custGeom>
              <a:avLst/>
              <a:gdLst>
                <a:gd name="txL" fmla="*/ 0 w 83"/>
                <a:gd name="txT" fmla="*/ 0 h 84"/>
                <a:gd name="txR" fmla="*/ 83 w 83"/>
                <a:gd name="txB" fmla="*/ 84 h 84"/>
              </a:gdLst>
              <a:ahLst/>
              <a:cxnLst>
                <a:cxn ang="0">
                  <a:pos x="0" y="6"/>
                </a:cxn>
                <a:cxn ang="0">
                  <a:pos x="12" y="6"/>
                </a:cxn>
                <a:cxn ang="0">
                  <a:pos x="18" y="12"/>
                </a:cxn>
                <a:cxn ang="0">
                  <a:pos x="18" y="24"/>
                </a:cxn>
                <a:cxn ang="0">
                  <a:pos x="24" y="36"/>
                </a:cxn>
                <a:cxn ang="0">
                  <a:pos x="24" y="54"/>
                </a:cxn>
                <a:cxn ang="0">
                  <a:pos x="24" y="66"/>
                </a:cxn>
                <a:cxn ang="0">
                  <a:pos x="24" y="78"/>
                </a:cxn>
                <a:cxn ang="0">
                  <a:pos x="24" y="84"/>
                </a:cxn>
                <a:cxn ang="0">
                  <a:pos x="30" y="84"/>
                </a:cxn>
                <a:cxn ang="0">
                  <a:pos x="36" y="84"/>
                </a:cxn>
                <a:cxn ang="0">
                  <a:pos x="42" y="78"/>
                </a:cxn>
                <a:cxn ang="0">
                  <a:pos x="47" y="66"/>
                </a:cxn>
                <a:cxn ang="0">
                  <a:pos x="53" y="60"/>
                </a:cxn>
                <a:cxn ang="0">
                  <a:pos x="65" y="42"/>
                </a:cxn>
                <a:cxn ang="0">
                  <a:pos x="77" y="30"/>
                </a:cxn>
                <a:cxn ang="0">
                  <a:pos x="83" y="12"/>
                </a:cxn>
                <a:cxn ang="0">
                  <a:pos x="77" y="6"/>
                </a:cxn>
                <a:cxn ang="0">
                  <a:pos x="71" y="0"/>
                </a:cxn>
                <a:cxn ang="0">
                  <a:pos x="65" y="0"/>
                </a:cxn>
                <a:cxn ang="0">
                  <a:pos x="65" y="6"/>
                </a:cxn>
                <a:cxn ang="0">
                  <a:pos x="71" y="12"/>
                </a:cxn>
                <a:cxn ang="0">
                  <a:pos x="71" y="18"/>
                </a:cxn>
                <a:cxn ang="0">
                  <a:pos x="65" y="42"/>
                </a:cxn>
                <a:cxn ang="0">
                  <a:pos x="59" y="54"/>
                </a:cxn>
                <a:cxn ang="0">
                  <a:pos x="47" y="60"/>
                </a:cxn>
                <a:cxn ang="0">
                  <a:pos x="42" y="66"/>
                </a:cxn>
                <a:cxn ang="0">
                  <a:pos x="36" y="36"/>
                </a:cxn>
                <a:cxn ang="0">
                  <a:pos x="36" y="18"/>
                </a:cxn>
                <a:cxn ang="0">
                  <a:pos x="30" y="0"/>
                </a:cxn>
                <a:cxn ang="0">
                  <a:pos x="30" y="0"/>
                </a:cxn>
                <a:cxn ang="0">
                  <a:pos x="24" y="0"/>
                </a:cxn>
                <a:cxn ang="0">
                  <a:pos x="18" y="0"/>
                </a:cxn>
                <a:cxn ang="0">
                  <a:pos x="0" y="6"/>
                </a:cxn>
                <a:cxn ang="0">
                  <a:pos x="0" y="6"/>
                </a:cxn>
              </a:cxnLst>
              <a:rect l="txL" t="txT" r="txR" b="txB"/>
              <a:pathLst>
                <a:path w="83" h="84">
                  <a:moveTo>
                    <a:pt x="0" y="6"/>
                  </a:moveTo>
                  <a:lnTo>
                    <a:pt x="12" y="6"/>
                  </a:lnTo>
                  <a:lnTo>
                    <a:pt x="18" y="12"/>
                  </a:lnTo>
                  <a:lnTo>
                    <a:pt x="18" y="24"/>
                  </a:lnTo>
                  <a:lnTo>
                    <a:pt x="24" y="36"/>
                  </a:lnTo>
                  <a:lnTo>
                    <a:pt x="24" y="54"/>
                  </a:lnTo>
                  <a:lnTo>
                    <a:pt x="24" y="66"/>
                  </a:lnTo>
                  <a:lnTo>
                    <a:pt x="24" y="78"/>
                  </a:lnTo>
                  <a:lnTo>
                    <a:pt x="24" y="84"/>
                  </a:lnTo>
                  <a:lnTo>
                    <a:pt x="30" y="84"/>
                  </a:lnTo>
                  <a:lnTo>
                    <a:pt x="36" y="84"/>
                  </a:lnTo>
                  <a:lnTo>
                    <a:pt x="42" y="78"/>
                  </a:lnTo>
                  <a:lnTo>
                    <a:pt x="47" y="66"/>
                  </a:lnTo>
                  <a:lnTo>
                    <a:pt x="53" y="60"/>
                  </a:lnTo>
                  <a:lnTo>
                    <a:pt x="65" y="42"/>
                  </a:lnTo>
                  <a:lnTo>
                    <a:pt x="77" y="30"/>
                  </a:lnTo>
                  <a:lnTo>
                    <a:pt x="83" y="12"/>
                  </a:lnTo>
                  <a:lnTo>
                    <a:pt x="77" y="6"/>
                  </a:lnTo>
                  <a:lnTo>
                    <a:pt x="71" y="0"/>
                  </a:lnTo>
                  <a:lnTo>
                    <a:pt x="65" y="0"/>
                  </a:lnTo>
                  <a:lnTo>
                    <a:pt x="65" y="6"/>
                  </a:lnTo>
                  <a:lnTo>
                    <a:pt x="71" y="12"/>
                  </a:lnTo>
                  <a:lnTo>
                    <a:pt x="71" y="18"/>
                  </a:lnTo>
                  <a:lnTo>
                    <a:pt x="65" y="42"/>
                  </a:lnTo>
                  <a:lnTo>
                    <a:pt x="59" y="54"/>
                  </a:lnTo>
                  <a:lnTo>
                    <a:pt x="47" y="60"/>
                  </a:lnTo>
                  <a:lnTo>
                    <a:pt x="42" y="66"/>
                  </a:lnTo>
                  <a:lnTo>
                    <a:pt x="36" y="36"/>
                  </a:lnTo>
                  <a:lnTo>
                    <a:pt x="36" y="18"/>
                  </a:lnTo>
                  <a:lnTo>
                    <a:pt x="30" y="0"/>
                  </a:lnTo>
                  <a:lnTo>
                    <a:pt x="24" y="0"/>
                  </a:lnTo>
                  <a:lnTo>
                    <a:pt x="18"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95" name="Freeform 118"/>
            <p:cNvSpPr/>
            <p:nvPr/>
          </p:nvSpPr>
          <p:spPr>
            <a:xfrm>
              <a:off x="2440" y="837"/>
              <a:ext cx="72" cy="101"/>
            </a:xfrm>
            <a:custGeom>
              <a:avLst/>
              <a:gdLst>
                <a:gd name="txL" fmla="*/ 0 w 72"/>
                <a:gd name="txT" fmla="*/ 0 h 101"/>
                <a:gd name="txR" fmla="*/ 72 w 72"/>
                <a:gd name="txB" fmla="*/ 101 h 101"/>
              </a:gdLst>
              <a:ahLst/>
              <a:cxnLst>
                <a:cxn ang="0">
                  <a:pos x="72" y="83"/>
                </a:cxn>
                <a:cxn ang="0">
                  <a:pos x="72" y="83"/>
                </a:cxn>
                <a:cxn ang="0">
                  <a:pos x="66" y="89"/>
                </a:cxn>
                <a:cxn ang="0">
                  <a:pos x="54" y="89"/>
                </a:cxn>
                <a:cxn ang="0">
                  <a:pos x="12" y="89"/>
                </a:cxn>
                <a:cxn ang="0">
                  <a:pos x="42" y="65"/>
                </a:cxn>
                <a:cxn ang="0">
                  <a:pos x="54" y="48"/>
                </a:cxn>
                <a:cxn ang="0">
                  <a:pos x="66" y="42"/>
                </a:cxn>
                <a:cxn ang="0">
                  <a:pos x="66" y="30"/>
                </a:cxn>
                <a:cxn ang="0">
                  <a:pos x="66" y="18"/>
                </a:cxn>
                <a:cxn ang="0">
                  <a:pos x="54" y="6"/>
                </a:cxn>
                <a:cxn ang="0">
                  <a:pos x="36" y="0"/>
                </a:cxn>
                <a:cxn ang="0">
                  <a:pos x="12" y="6"/>
                </a:cxn>
                <a:cxn ang="0">
                  <a:pos x="6" y="18"/>
                </a:cxn>
                <a:cxn ang="0">
                  <a:pos x="0" y="30"/>
                </a:cxn>
                <a:cxn ang="0">
                  <a:pos x="0" y="30"/>
                </a:cxn>
                <a:cxn ang="0">
                  <a:pos x="12" y="18"/>
                </a:cxn>
                <a:cxn ang="0">
                  <a:pos x="24" y="12"/>
                </a:cxn>
                <a:cxn ang="0">
                  <a:pos x="36" y="12"/>
                </a:cxn>
                <a:cxn ang="0">
                  <a:pos x="48" y="18"/>
                </a:cxn>
                <a:cxn ang="0">
                  <a:pos x="48" y="30"/>
                </a:cxn>
                <a:cxn ang="0">
                  <a:pos x="42" y="54"/>
                </a:cxn>
                <a:cxn ang="0">
                  <a:pos x="30" y="71"/>
                </a:cxn>
                <a:cxn ang="0">
                  <a:pos x="0" y="101"/>
                </a:cxn>
                <a:cxn ang="0">
                  <a:pos x="0" y="101"/>
                </a:cxn>
                <a:cxn ang="0">
                  <a:pos x="60" y="101"/>
                </a:cxn>
                <a:cxn ang="0">
                  <a:pos x="72" y="83"/>
                </a:cxn>
              </a:cxnLst>
              <a:rect l="txL" t="txT" r="txR" b="txB"/>
              <a:pathLst>
                <a:path w="72" h="101">
                  <a:moveTo>
                    <a:pt x="72" y="83"/>
                  </a:moveTo>
                  <a:lnTo>
                    <a:pt x="72" y="83"/>
                  </a:lnTo>
                  <a:lnTo>
                    <a:pt x="66" y="89"/>
                  </a:lnTo>
                  <a:lnTo>
                    <a:pt x="54" y="89"/>
                  </a:lnTo>
                  <a:lnTo>
                    <a:pt x="12" y="89"/>
                  </a:lnTo>
                  <a:lnTo>
                    <a:pt x="42" y="65"/>
                  </a:lnTo>
                  <a:lnTo>
                    <a:pt x="54" y="48"/>
                  </a:lnTo>
                  <a:lnTo>
                    <a:pt x="66" y="42"/>
                  </a:lnTo>
                  <a:lnTo>
                    <a:pt x="66" y="30"/>
                  </a:lnTo>
                  <a:lnTo>
                    <a:pt x="66" y="18"/>
                  </a:lnTo>
                  <a:lnTo>
                    <a:pt x="54" y="6"/>
                  </a:lnTo>
                  <a:lnTo>
                    <a:pt x="36" y="0"/>
                  </a:lnTo>
                  <a:lnTo>
                    <a:pt x="12" y="6"/>
                  </a:lnTo>
                  <a:lnTo>
                    <a:pt x="6" y="18"/>
                  </a:lnTo>
                  <a:lnTo>
                    <a:pt x="0" y="30"/>
                  </a:lnTo>
                  <a:lnTo>
                    <a:pt x="12" y="18"/>
                  </a:lnTo>
                  <a:lnTo>
                    <a:pt x="24" y="12"/>
                  </a:lnTo>
                  <a:lnTo>
                    <a:pt x="36" y="12"/>
                  </a:lnTo>
                  <a:lnTo>
                    <a:pt x="48" y="18"/>
                  </a:lnTo>
                  <a:lnTo>
                    <a:pt x="48" y="30"/>
                  </a:lnTo>
                  <a:lnTo>
                    <a:pt x="42" y="54"/>
                  </a:lnTo>
                  <a:lnTo>
                    <a:pt x="30" y="71"/>
                  </a:lnTo>
                  <a:lnTo>
                    <a:pt x="0" y="101"/>
                  </a:lnTo>
                  <a:lnTo>
                    <a:pt x="60" y="101"/>
                  </a:lnTo>
                  <a:lnTo>
                    <a:pt x="72" y="8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96" name="Freeform 119"/>
            <p:cNvSpPr/>
            <p:nvPr/>
          </p:nvSpPr>
          <p:spPr>
            <a:xfrm>
              <a:off x="2847" y="705"/>
              <a:ext cx="108" cy="102"/>
            </a:xfrm>
            <a:custGeom>
              <a:avLst/>
              <a:gdLst>
                <a:gd name="txL" fmla="*/ 0 w 108"/>
                <a:gd name="txT" fmla="*/ 0 h 102"/>
                <a:gd name="txR" fmla="*/ 108 w 108"/>
                <a:gd name="txB" fmla="*/ 102 h 102"/>
              </a:gdLst>
              <a:ahLst/>
              <a:cxnLst>
                <a:cxn ang="0">
                  <a:pos x="48" y="48"/>
                </a:cxn>
                <a:cxn ang="0">
                  <a:pos x="0" y="48"/>
                </a:cxn>
                <a:cxn ang="0">
                  <a:pos x="0" y="60"/>
                </a:cxn>
                <a:cxn ang="0">
                  <a:pos x="48" y="60"/>
                </a:cxn>
                <a:cxn ang="0">
                  <a:pos x="48" y="102"/>
                </a:cxn>
                <a:cxn ang="0">
                  <a:pos x="60" y="102"/>
                </a:cxn>
                <a:cxn ang="0">
                  <a:pos x="60" y="60"/>
                </a:cxn>
                <a:cxn ang="0">
                  <a:pos x="108" y="60"/>
                </a:cxn>
                <a:cxn ang="0">
                  <a:pos x="108" y="48"/>
                </a:cxn>
                <a:cxn ang="0">
                  <a:pos x="60" y="48"/>
                </a:cxn>
                <a:cxn ang="0">
                  <a:pos x="60" y="0"/>
                </a:cxn>
                <a:cxn ang="0">
                  <a:pos x="48" y="0"/>
                </a:cxn>
                <a:cxn ang="0">
                  <a:pos x="48" y="48"/>
                </a:cxn>
              </a:cxnLst>
              <a:rect l="txL" t="txT" r="txR" b="txB"/>
              <a:pathLst>
                <a:path w="108" h="102">
                  <a:moveTo>
                    <a:pt x="48" y="48"/>
                  </a:moveTo>
                  <a:lnTo>
                    <a:pt x="0" y="48"/>
                  </a:lnTo>
                  <a:lnTo>
                    <a:pt x="0" y="60"/>
                  </a:lnTo>
                  <a:lnTo>
                    <a:pt x="48" y="60"/>
                  </a:lnTo>
                  <a:lnTo>
                    <a:pt x="48" y="102"/>
                  </a:lnTo>
                  <a:lnTo>
                    <a:pt x="60" y="102"/>
                  </a:lnTo>
                  <a:lnTo>
                    <a:pt x="60" y="60"/>
                  </a:lnTo>
                  <a:lnTo>
                    <a:pt x="108" y="60"/>
                  </a:lnTo>
                  <a:lnTo>
                    <a:pt x="108" y="48"/>
                  </a:lnTo>
                  <a:lnTo>
                    <a:pt x="60" y="48"/>
                  </a:lnTo>
                  <a:lnTo>
                    <a:pt x="60" y="0"/>
                  </a:lnTo>
                  <a:lnTo>
                    <a:pt x="48" y="0"/>
                  </a:lnTo>
                  <a:lnTo>
                    <a:pt x="4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97" name="Rectangle 120"/>
            <p:cNvSpPr/>
            <p:nvPr/>
          </p:nvSpPr>
          <p:spPr>
            <a:xfrm>
              <a:off x="3260" y="753"/>
              <a:ext cx="119" cy="6"/>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73898" name="Freeform 121"/>
            <p:cNvSpPr/>
            <p:nvPr/>
          </p:nvSpPr>
          <p:spPr>
            <a:xfrm>
              <a:off x="3027" y="807"/>
              <a:ext cx="83" cy="84"/>
            </a:xfrm>
            <a:custGeom>
              <a:avLst/>
              <a:gdLst>
                <a:gd name="txL" fmla="*/ 0 w 83"/>
                <a:gd name="txT" fmla="*/ 0 h 84"/>
                <a:gd name="txR" fmla="*/ 83 w 83"/>
                <a:gd name="txB" fmla="*/ 84 h 84"/>
              </a:gdLst>
              <a:ahLst/>
              <a:cxnLst>
                <a:cxn ang="0">
                  <a:pos x="0" y="6"/>
                </a:cxn>
                <a:cxn ang="0">
                  <a:pos x="11" y="6"/>
                </a:cxn>
                <a:cxn ang="0">
                  <a:pos x="17" y="12"/>
                </a:cxn>
                <a:cxn ang="0">
                  <a:pos x="17" y="24"/>
                </a:cxn>
                <a:cxn ang="0">
                  <a:pos x="23" y="36"/>
                </a:cxn>
                <a:cxn ang="0">
                  <a:pos x="23" y="54"/>
                </a:cxn>
                <a:cxn ang="0">
                  <a:pos x="23" y="66"/>
                </a:cxn>
                <a:cxn ang="0">
                  <a:pos x="23" y="78"/>
                </a:cxn>
                <a:cxn ang="0">
                  <a:pos x="23" y="84"/>
                </a:cxn>
                <a:cxn ang="0">
                  <a:pos x="29" y="84"/>
                </a:cxn>
                <a:cxn ang="0">
                  <a:pos x="35" y="84"/>
                </a:cxn>
                <a:cxn ang="0">
                  <a:pos x="41" y="78"/>
                </a:cxn>
                <a:cxn ang="0">
                  <a:pos x="47" y="66"/>
                </a:cxn>
                <a:cxn ang="0">
                  <a:pos x="53" y="60"/>
                </a:cxn>
                <a:cxn ang="0">
                  <a:pos x="65" y="42"/>
                </a:cxn>
                <a:cxn ang="0">
                  <a:pos x="77" y="30"/>
                </a:cxn>
                <a:cxn ang="0">
                  <a:pos x="83" y="12"/>
                </a:cxn>
                <a:cxn ang="0">
                  <a:pos x="77" y="6"/>
                </a:cxn>
                <a:cxn ang="0">
                  <a:pos x="71" y="0"/>
                </a:cxn>
                <a:cxn ang="0">
                  <a:pos x="65" y="0"/>
                </a:cxn>
                <a:cxn ang="0">
                  <a:pos x="65" y="6"/>
                </a:cxn>
                <a:cxn ang="0">
                  <a:pos x="71" y="12"/>
                </a:cxn>
                <a:cxn ang="0">
                  <a:pos x="71" y="18"/>
                </a:cxn>
                <a:cxn ang="0">
                  <a:pos x="65" y="42"/>
                </a:cxn>
                <a:cxn ang="0">
                  <a:pos x="59" y="54"/>
                </a:cxn>
                <a:cxn ang="0">
                  <a:pos x="47" y="60"/>
                </a:cxn>
                <a:cxn ang="0">
                  <a:pos x="41" y="66"/>
                </a:cxn>
                <a:cxn ang="0">
                  <a:pos x="35" y="36"/>
                </a:cxn>
                <a:cxn ang="0">
                  <a:pos x="35" y="18"/>
                </a:cxn>
                <a:cxn ang="0">
                  <a:pos x="29" y="0"/>
                </a:cxn>
                <a:cxn ang="0">
                  <a:pos x="29" y="0"/>
                </a:cxn>
                <a:cxn ang="0">
                  <a:pos x="23" y="0"/>
                </a:cxn>
                <a:cxn ang="0">
                  <a:pos x="17" y="0"/>
                </a:cxn>
                <a:cxn ang="0">
                  <a:pos x="0" y="6"/>
                </a:cxn>
                <a:cxn ang="0">
                  <a:pos x="0" y="6"/>
                </a:cxn>
              </a:cxnLst>
              <a:rect l="txL" t="txT" r="txR" b="txB"/>
              <a:pathLst>
                <a:path w="83" h="84">
                  <a:moveTo>
                    <a:pt x="0" y="6"/>
                  </a:moveTo>
                  <a:lnTo>
                    <a:pt x="11" y="6"/>
                  </a:lnTo>
                  <a:lnTo>
                    <a:pt x="17" y="12"/>
                  </a:lnTo>
                  <a:lnTo>
                    <a:pt x="17" y="24"/>
                  </a:lnTo>
                  <a:lnTo>
                    <a:pt x="23" y="36"/>
                  </a:lnTo>
                  <a:lnTo>
                    <a:pt x="23" y="54"/>
                  </a:lnTo>
                  <a:lnTo>
                    <a:pt x="23" y="66"/>
                  </a:lnTo>
                  <a:lnTo>
                    <a:pt x="23" y="78"/>
                  </a:lnTo>
                  <a:lnTo>
                    <a:pt x="23" y="84"/>
                  </a:lnTo>
                  <a:lnTo>
                    <a:pt x="29" y="84"/>
                  </a:lnTo>
                  <a:lnTo>
                    <a:pt x="35" y="84"/>
                  </a:lnTo>
                  <a:lnTo>
                    <a:pt x="41" y="78"/>
                  </a:lnTo>
                  <a:lnTo>
                    <a:pt x="47" y="66"/>
                  </a:lnTo>
                  <a:lnTo>
                    <a:pt x="53" y="60"/>
                  </a:lnTo>
                  <a:lnTo>
                    <a:pt x="65" y="42"/>
                  </a:lnTo>
                  <a:lnTo>
                    <a:pt x="77" y="30"/>
                  </a:lnTo>
                  <a:lnTo>
                    <a:pt x="83" y="12"/>
                  </a:lnTo>
                  <a:lnTo>
                    <a:pt x="77" y="6"/>
                  </a:lnTo>
                  <a:lnTo>
                    <a:pt x="71" y="0"/>
                  </a:lnTo>
                  <a:lnTo>
                    <a:pt x="65" y="0"/>
                  </a:lnTo>
                  <a:lnTo>
                    <a:pt x="65" y="6"/>
                  </a:lnTo>
                  <a:lnTo>
                    <a:pt x="71" y="12"/>
                  </a:lnTo>
                  <a:lnTo>
                    <a:pt x="71" y="18"/>
                  </a:lnTo>
                  <a:lnTo>
                    <a:pt x="65" y="42"/>
                  </a:lnTo>
                  <a:lnTo>
                    <a:pt x="59" y="54"/>
                  </a:lnTo>
                  <a:lnTo>
                    <a:pt x="47" y="60"/>
                  </a:lnTo>
                  <a:lnTo>
                    <a:pt x="41" y="66"/>
                  </a:lnTo>
                  <a:lnTo>
                    <a:pt x="35" y="36"/>
                  </a:lnTo>
                  <a:lnTo>
                    <a:pt x="35" y="18"/>
                  </a:lnTo>
                  <a:lnTo>
                    <a:pt x="29" y="0"/>
                  </a:lnTo>
                  <a:lnTo>
                    <a:pt x="23" y="0"/>
                  </a:lnTo>
                  <a:lnTo>
                    <a:pt x="17"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899" name="Freeform 122"/>
            <p:cNvSpPr/>
            <p:nvPr/>
          </p:nvSpPr>
          <p:spPr>
            <a:xfrm>
              <a:off x="3122" y="837"/>
              <a:ext cx="66" cy="107"/>
            </a:xfrm>
            <a:custGeom>
              <a:avLst/>
              <a:gdLst>
                <a:gd name="txL" fmla="*/ 0 w 66"/>
                <a:gd name="txT" fmla="*/ 0 h 107"/>
                <a:gd name="txR" fmla="*/ 66 w 66"/>
                <a:gd name="txB" fmla="*/ 107 h 107"/>
              </a:gdLst>
              <a:ahLst/>
              <a:cxnLst>
                <a:cxn ang="0">
                  <a:pos x="18" y="54"/>
                </a:cxn>
                <a:cxn ang="0">
                  <a:pos x="30" y="54"/>
                </a:cxn>
                <a:cxn ang="0">
                  <a:pos x="42" y="54"/>
                </a:cxn>
                <a:cxn ang="0">
                  <a:pos x="48" y="65"/>
                </a:cxn>
                <a:cxn ang="0">
                  <a:pos x="54" y="77"/>
                </a:cxn>
                <a:cxn ang="0">
                  <a:pos x="48" y="95"/>
                </a:cxn>
                <a:cxn ang="0">
                  <a:pos x="30" y="101"/>
                </a:cxn>
                <a:cxn ang="0">
                  <a:pos x="18" y="95"/>
                </a:cxn>
                <a:cxn ang="0">
                  <a:pos x="6" y="89"/>
                </a:cxn>
                <a:cxn ang="0">
                  <a:pos x="6" y="89"/>
                </a:cxn>
                <a:cxn ang="0">
                  <a:pos x="0" y="95"/>
                </a:cxn>
                <a:cxn ang="0">
                  <a:pos x="6" y="101"/>
                </a:cxn>
                <a:cxn ang="0">
                  <a:pos x="12" y="101"/>
                </a:cxn>
                <a:cxn ang="0">
                  <a:pos x="18" y="107"/>
                </a:cxn>
                <a:cxn ang="0">
                  <a:pos x="18" y="107"/>
                </a:cxn>
                <a:cxn ang="0">
                  <a:pos x="36" y="107"/>
                </a:cxn>
                <a:cxn ang="0">
                  <a:pos x="54" y="95"/>
                </a:cxn>
                <a:cxn ang="0">
                  <a:pos x="60" y="83"/>
                </a:cxn>
                <a:cxn ang="0">
                  <a:pos x="66" y="71"/>
                </a:cxn>
                <a:cxn ang="0">
                  <a:pos x="66" y="59"/>
                </a:cxn>
                <a:cxn ang="0">
                  <a:pos x="54" y="48"/>
                </a:cxn>
                <a:cxn ang="0">
                  <a:pos x="42" y="42"/>
                </a:cxn>
                <a:cxn ang="0">
                  <a:pos x="54" y="30"/>
                </a:cxn>
                <a:cxn ang="0">
                  <a:pos x="60" y="18"/>
                </a:cxn>
                <a:cxn ang="0">
                  <a:pos x="54" y="6"/>
                </a:cxn>
                <a:cxn ang="0">
                  <a:pos x="36" y="0"/>
                </a:cxn>
                <a:cxn ang="0">
                  <a:pos x="18" y="6"/>
                </a:cxn>
                <a:cxn ang="0">
                  <a:pos x="0" y="24"/>
                </a:cxn>
                <a:cxn ang="0">
                  <a:pos x="6" y="24"/>
                </a:cxn>
                <a:cxn ang="0">
                  <a:pos x="12" y="12"/>
                </a:cxn>
                <a:cxn ang="0">
                  <a:pos x="30" y="6"/>
                </a:cxn>
                <a:cxn ang="0">
                  <a:pos x="42" y="12"/>
                </a:cxn>
                <a:cxn ang="0">
                  <a:pos x="48" y="24"/>
                </a:cxn>
                <a:cxn ang="0">
                  <a:pos x="42" y="42"/>
                </a:cxn>
                <a:cxn ang="0">
                  <a:pos x="18" y="48"/>
                </a:cxn>
                <a:cxn ang="0">
                  <a:pos x="18" y="54"/>
                </a:cxn>
              </a:cxnLst>
              <a:rect l="txL" t="txT" r="txR" b="txB"/>
              <a:pathLst>
                <a:path w="66" h="107">
                  <a:moveTo>
                    <a:pt x="18" y="54"/>
                  </a:moveTo>
                  <a:lnTo>
                    <a:pt x="30" y="54"/>
                  </a:lnTo>
                  <a:lnTo>
                    <a:pt x="42" y="54"/>
                  </a:lnTo>
                  <a:lnTo>
                    <a:pt x="48" y="65"/>
                  </a:lnTo>
                  <a:lnTo>
                    <a:pt x="54" y="77"/>
                  </a:lnTo>
                  <a:lnTo>
                    <a:pt x="48" y="95"/>
                  </a:lnTo>
                  <a:lnTo>
                    <a:pt x="30" y="101"/>
                  </a:lnTo>
                  <a:lnTo>
                    <a:pt x="18" y="95"/>
                  </a:lnTo>
                  <a:lnTo>
                    <a:pt x="6" y="89"/>
                  </a:lnTo>
                  <a:lnTo>
                    <a:pt x="0" y="95"/>
                  </a:lnTo>
                  <a:lnTo>
                    <a:pt x="6" y="101"/>
                  </a:lnTo>
                  <a:lnTo>
                    <a:pt x="12" y="101"/>
                  </a:lnTo>
                  <a:lnTo>
                    <a:pt x="18" y="107"/>
                  </a:lnTo>
                  <a:lnTo>
                    <a:pt x="36" y="107"/>
                  </a:lnTo>
                  <a:lnTo>
                    <a:pt x="54" y="95"/>
                  </a:lnTo>
                  <a:lnTo>
                    <a:pt x="60" y="83"/>
                  </a:lnTo>
                  <a:lnTo>
                    <a:pt x="66" y="71"/>
                  </a:lnTo>
                  <a:lnTo>
                    <a:pt x="66" y="59"/>
                  </a:lnTo>
                  <a:lnTo>
                    <a:pt x="54" y="48"/>
                  </a:lnTo>
                  <a:lnTo>
                    <a:pt x="42" y="42"/>
                  </a:lnTo>
                  <a:lnTo>
                    <a:pt x="54" y="30"/>
                  </a:lnTo>
                  <a:lnTo>
                    <a:pt x="60" y="18"/>
                  </a:lnTo>
                  <a:lnTo>
                    <a:pt x="54" y="6"/>
                  </a:lnTo>
                  <a:lnTo>
                    <a:pt x="36" y="0"/>
                  </a:lnTo>
                  <a:lnTo>
                    <a:pt x="18" y="6"/>
                  </a:lnTo>
                  <a:lnTo>
                    <a:pt x="0" y="24"/>
                  </a:lnTo>
                  <a:lnTo>
                    <a:pt x="6" y="24"/>
                  </a:lnTo>
                  <a:lnTo>
                    <a:pt x="12" y="12"/>
                  </a:lnTo>
                  <a:lnTo>
                    <a:pt x="30" y="6"/>
                  </a:lnTo>
                  <a:lnTo>
                    <a:pt x="42" y="12"/>
                  </a:lnTo>
                  <a:lnTo>
                    <a:pt x="48" y="24"/>
                  </a:lnTo>
                  <a:lnTo>
                    <a:pt x="42" y="42"/>
                  </a:lnTo>
                  <a:lnTo>
                    <a:pt x="18" y="48"/>
                  </a:lnTo>
                  <a:lnTo>
                    <a:pt x="18"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900" name="Freeform 123"/>
            <p:cNvSpPr/>
            <p:nvPr/>
          </p:nvSpPr>
          <p:spPr>
            <a:xfrm>
              <a:off x="4157" y="705"/>
              <a:ext cx="108" cy="102"/>
            </a:xfrm>
            <a:custGeom>
              <a:avLst/>
              <a:gdLst>
                <a:gd name="txL" fmla="*/ 0 w 108"/>
                <a:gd name="txT" fmla="*/ 0 h 102"/>
                <a:gd name="txR" fmla="*/ 108 w 108"/>
                <a:gd name="txB" fmla="*/ 102 h 102"/>
              </a:gdLst>
              <a:ahLst/>
              <a:cxnLst>
                <a:cxn ang="0">
                  <a:pos x="48" y="48"/>
                </a:cxn>
                <a:cxn ang="0">
                  <a:pos x="0" y="48"/>
                </a:cxn>
                <a:cxn ang="0">
                  <a:pos x="0" y="60"/>
                </a:cxn>
                <a:cxn ang="0">
                  <a:pos x="48" y="60"/>
                </a:cxn>
                <a:cxn ang="0">
                  <a:pos x="48" y="102"/>
                </a:cxn>
                <a:cxn ang="0">
                  <a:pos x="60" y="102"/>
                </a:cxn>
                <a:cxn ang="0">
                  <a:pos x="60" y="60"/>
                </a:cxn>
                <a:cxn ang="0">
                  <a:pos x="108" y="60"/>
                </a:cxn>
                <a:cxn ang="0">
                  <a:pos x="108" y="48"/>
                </a:cxn>
                <a:cxn ang="0">
                  <a:pos x="60" y="48"/>
                </a:cxn>
                <a:cxn ang="0">
                  <a:pos x="60" y="0"/>
                </a:cxn>
                <a:cxn ang="0">
                  <a:pos x="48" y="0"/>
                </a:cxn>
                <a:cxn ang="0">
                  <a:pos x="48" y="48"/>
                </a:cxn>
              </a:cxnLst>
              <a:rect l="txL" t="txT" r="txR" b="txB"/>
              <a:pathLst>
                <a:path w="108" h="102">
                  <a:moveTo>
                    <a:pt x="48" y="48"/>
                  </a:moveTo>
                  <a:lnTo>
                    <a:pt x="0" y="48"/>
                  </a:lnTo>
                  <a:lnTo>
                    <a:pt x="0" y="60"/>
                  </a:lnTo>
                  <a:lnTo>
                    <a:pt x="48" y="60"/>
                  </a:lnTo>
                  <a:lnTo>
                    <a:pt x="48" y="102"/>
                  </a:lnTo>
                  <a:lnTo>
                    <a:pt x="60" y="102"/>
                  </a:lnTo>
                  <a:lnTo>
                    <a:pt x="60" y="60"/>
                  </a:lnTo>
                  <a:lnTo>
                    <a:pt x="108" y="60"/>
                  </a:lnTo>
                  <a:lnTo>
                    <a:pt x="108" y="48"/>
                  </a:lnTo>
                  <a:lnTo>
                    <a:pt x="60" y="48"/>
                  </a:lnTo>
                  <a:lnTo>
                    <a:pt x="60" y="0"/>
                  </a:lnTo>
                  <a:lnTo>
                    <a:pt x="48" y="0"/>
                  </a:lnTo>
                  <a:lnTo>
                    <a:pt x="4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901" name="Rectangle 124"/>
            <p:cNvSpPr/>
            <p:nvPr/>
          </p:nvSpPr>
          <p:spPr>
            <a:xfrm>
              <a:off x="4570" y="753"/>
              <a:ext cx="113" cy="6"/>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73902" name="Freeform 125"/>
            <p:cNvSpPr/>
            <p:nvPr/>
          </p:nvSpPr>
          <p:spPr>
            <a:xfrm>
              <a:off x="4318" y="807"/>
              <a:ext cx="90" cy="84"/>
            </a:xfrm>
            <a:custGeom>
              <a:avLst/>
              <a:gdLst>
                <a:gd name="txL" fmla="*/ 0 w 90"/>
                <a:gd name="txT" fmla="*/ 0 h 84"/>
                <a:gd name="txR" fmla="*/ 90 w 90"/>
                <a:gd name="txB" fmla="*/ 84 h 84"/>
              </a:gdLst>
              <a:ahLst/>
              <a:cxnLst>
                <a:cxn ang="0">
                  <a:pos x="0" y="6"/>
                </a:cxn>
                <a:cxn ang="0">
                  <a:pos x="12" y="6"/>
                </a:cxn>
                <a:cxn ang="0">
                  <a:pos x="18" y="6"/>
                </a:cxn>
                <a:cxn ang="0">
                  <a:pos x="18" y="12"/>
                </a:cxn>
                <a:cxn ang="0">
                  <a:pos x="24" y="24"/>
                </a:cxn>
                <a:cxn ang="0">
                  <a:pos x="24" y="36"/>
                </a:cxn>
                <a:cxn ang="0">
                  <a:pos x="30" y="54"/>
                </a:cxn>
                <a:cxn ang="0">
                  <a:pos x="30" y="66"/>
                </a:cxn>
                <a:cxn ang="0">
                  <a:pos x="30" y="78"/>
                </a:cxn>
                <a:cxn ang="0">
                  <a:pos x="30" y="84"/>
                </a:cxn>
                <a:cxn ang="0">
                  <a:pos x="30" y="84"/>
                </a:cxn>
                <a:cxn ang="0">
                  <a:pos x="36" y="84"/>
                </a:cxn>
                <a:cxn ang="0">
                  <a:pos x="42" y="78"/>
                </a:cxn>
                <a:cxn ang="0">
                  <a:pos x="48" y="66"/>
                </a:cxn>
                <a:cxn ang="0">
                  <a:pos x="60" y="60"/>
                </a:cxn>
                <a:cxn ang="0">
                  <a:pos x="72" y="42"/>
                </a:cxn>
                <a:cxn ang="0">
                  <a:pos x="84" y="30"/>
                </a:cxn>
                <a:cxn ang="0">
                  <a:pos x="90" y="12"/>
                </a:cxn>
                <a:cxn ang="0">
                  <a:pos x="84" y="6"/>
                </a:cxn>
                <a:cxn ang="0">
                  <a:pos x="72" y="0"/>
                </a:cxn>
                <a:cxn ang="0">
                  <a:pos x="72" y="0"/>
                </a:cxn>
                <a:cxn ang="0">
                  <a:pos x="66" y="6"/>
                </a:cxn>
                <a:cxn ang="0">
                  <a:pos x="72" y="12"/>
                </a:cxn>
                <a:cxn ang="0">
                  <a:pos x="78" y="18"/>
                </a:cxn>
                <a:cxn ang="0">
                  <a:pos x="78" y="30"/>
                </a:cxn>
                <a:cxn ang="0">
                  <a:pos x="66" y="42"/>
                </a:cxn>
                <a:cxn ang="0">
                  <a:pos x="60" y="54"/>
                </a:cxn>
                <a:cxn ang="0">
                  <a:pos x="48" y="60"/>
                </a:cxn>
                <a:cxn ang="0">
                  <a:pos x="42" y="66"/>
                </a:cxn>
                <a:cxn ang="0">
                  <a:pos x="36" y="36"/>
                </a:cxn>
                <a:cxn ang="0">
                  <a:pos x="36" y="18"/>
                </a:cxn>
                <a:cxn ang="0">
                  <a:pos x="30" y="0"/>
                </a:cxn>
                <a:cxn ang="0">
                  <a:pos x="30" y="0"/>
                </a:cxn>
                <a:cxn ang="0">
                  <a:pos x="24" y="0"/>
                </a:cxn>
                <a:cxn ang="0">
                  <a:pos x="0" y="6"/>
                </a:cxn>
                <a:cxn ang="0">
                  <a:pos x="0" y="6"/>
                </a:cxn>
              </a:cxnLst>
              <a:rect l="txL" t="txT" r="txR" b="txB"/>
              <a:pathLst>
                <a:path w="90" h="84">
                  <a:moveTo>
                    <a:pt x="0" y="6"/>
                  </a:moveTo>
                  <a:lnTo>
                    <a:pt x="12" y="6"/>
                  </a:lnTo>
                  <a:lnTo>
                    <a:pt x="18" y="6"/>
                  </a:lnTo>
                  <a:lnTo>
                    <a:pt x="18" y="12"/>
                  </a:lnTo>
                  <a:lnTo>
                    <a:pt x="24" y="24"/>
                  </a:lnTo>
                  <a:lnTo>
                    <a:pt x="24" y="36"/>
                  </a:lnTo>
                  <a:lnTo>
                    <a:pt x="30" y="54"/>
                  </a:lnTo>
                  <a:lnTo>
                    <a:pt x="30" y="66"/>
                  </a:lnTo>
                  <a:lnTo>
                    <a:pt x="30" y="78"/>
                  </a:lnTo>
                  <a:lnTo>
                    <a:pt x="30" y="84"/>
                  </a:lnTo>
                  <a:lnTo>
                    <a:pt x="36" y="84"/>
                  </a:lnTo>
                  <a:lnTo>
                    <a:pt x="42" y="78"/>
                  </a:lnTo>
                  <a:lnTo>
                    <a:pt x="48" y="66"/>
                  </a:lnTo>
                  <a:lnTo>
                    <a:pt x="60" y="60"/>
                  </a:lnTo>
                  <a:lnTo>
                    <a:pt x="72" y="42"/>
                  </a:lnTo>
                  <a:lnTo>
                    <a:pt x="84" y="30"/>
                  </a:lnTo>
                  <a:lnTo>
                    <a:pt x="90" y="12"/>
                  </a:lnTo>
                  <a:lnTo>
                    <a:pt x="84" y="6"/>
                  </a:lnTo>
                  <a:lnTo>
                    <a:pt x="72" y="0"/>
                  </a:lnTo>
                  <a:lnTo>
                    <a:pt x="66" y="6"/>
                  </a:lnTo>
                  <a:lnTo>
                    <a:pt x="72" y="12"/>
                  </a:lnTo>
                  <a:lnTo>
                    <a:pt x="78" y="18"/>
                  </a:lnTo>
                  <a:lnTo>
                    <a:pt x="78" y="30"/>
                  </a:lnTo>
                  <a:lnTo>
                    <a:pt x="66" y="42"/>
                  </a:lnTo>
                  <a:lnTo>
                    <a:pt x="60" y="54"/>
                  </a:lnTo>
                  <a:lnTo>
                    <a:pt x="48" y="60"/>
                  </a:lnTo>
                  <a:lnTo>
                    <a:pt x="42" y="66"/>
                  </a:lnTo>
                  <a:lnTo>
                    <a:pt x="36" y="36"/>
                  </a:lnTo>
                  <a:lnTo>
                    <a:pt x="36" y="18"/>
                  </a:lnTo>
                  <a:lnTo>
                    <a:pt x="30" y="0"/>
                  </a:lnTo>
                  <a:lnTo>
                    <a:pt x="24"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903" name="Freeform 126"/>
            <p:cNvSpPr/>
            <p:nvPr/>
          </p:nvSpPr>
          <p:spPr>
            <a:xfrm>
              <a:off x="4408" y="843"/>
              <a:ext cx="120" cy="101"/>
            </a:xfrm>
            <a:custGeom>
              <a:avLst/>
              <a:gdLst>
                <a:gd name="txL" fmla="*/ 0 w 120"/>
                <a:gd name="txT" fmla="*/ 0 h 101"/>
                <a:gd name="txR" fmla="*/ 120 w 120"/>
                <a:gd name="txB" fmla="*/ 101 h 101"/>
              </a:gdLst>
              <a:ahLst/>
              <a:cxnLst>
                <a:cxn ang="0">
                  <a:pos x="120" y="0"/>
                </a:cxn>
                <a:cxn ang="0">
                  <a:pos x="90" y="0"/>
                </a:cxn>
                <a:cxn ang="0">
                  <a:pos x="90" y="0"/>
                </a:cxn>
                <a:cxn ang="0">
                  <a:pos x="96" y="0"/>
                </a:cxn>
                <a:cxn ang="0">
                  <a:pos x="102" y="6"/>
                </a:cxn>
                <a:cxn ang="0">
                  <a:pos x="102" y="12"/>
                </a:cxn>
                <a:cxn ang="0">
                  <a:pos x="96" y="18"/>
                </a:cxn>
                <a:cxn ang="0">
                  <a:pos x="84" y="71"/>
                </a:cxn>
                <a:cxn ang="0">
                  <a:pos x="84" y="71"/>
                </a:cxn>
                <a:cxn ang="0">
                  <a:pos x="48" y="0"/>
                </a:cxn>
                <a:cxn ang="0">
                  <a:pos x="24" y="0"/>
                </a:cxn>
                <a:cxn ang="0">
                  <a:pos x="24" y="0"/>
                </a:cxn>
                <a:cxn ang="0">
                  <a:pos x="30" y="0"/>
                </a:cxn>
                <a:cxn ang="0">
                  <a:pos x="36" y="6"/>
                </a:cxn>
                <a:cxn ang="0">
                  <a:pos x="18" y="71"/>
                </a:cxn>
                <a:cxn ang="0">
                  <a:pos x="12" y="89"/>
                </a:cxn>
                <a:cxn ang="0">
                  <a:pos x="0" y="95"/>
                </a:cxn>
                <a:cxn ang="0">
                  <a:pos x="0" y="95"/>
                </a:cxn>
                <a:cxn ang="0">
                  <a:pos x="30" y="95"/>
                </a:cxn>
                <a:cxn ang="0">
                  <a:pos x="30" y="95"/>
                </a:cxn>
                <a:cxn ang="0">
                  <a:pos x="24" y="95"/>
                </a:cxn>
                <a:cxn ang="0">
                  <a:pos x="18" y="89"/>
                </a:cxn>
                <a:cxn ang="0">
                  <a:pos x="18" y="83"/>
                </a:cxn>
                <a:cxn ang="0">
                  <a:pos x="24" y="77"/>
                </a:cxn>
                <a:cxn ang="0">
                  <a:pos x="42" y="18"/>
                </a:cxn>
                <a:cxn ang="0">
                  <a:pos x="42" y="18"/>
                </a:cxn>
                <a:cxn ang="0">
                  <a:pos x="78" y="101"/>
                </a:cxn>
                <a:cxn ang="0">
                  <a:pos x="84" y="101"/>
                </a:cxn>
                <a:cxn ang="0">
                  <a:pos x="102" y="24"/>
                </a:cxn>
                <a:cxn ang="0">
                  <a:pos x="114" y="6"/>
                </a:cxn>
                <a:cxn ang="0">
                  <a:pos x="120" y="0"/>
                </a:cxn>
                <a:cxn ang="0">
                  <a:pos x="120" y="0"/>
                </a:cxn>
              </a:cxnLst>
              <a:rect l="txL" t="txT" r="txR" b="txB"/>
              <a:pathLst>
                <a:path w="120" h="101">
                  <a:moveTo>
                    <a:pt x="120" y="0"/>
                  </a:moveTo>
                  <a:lnTo>
                    <a:pt x="90" y="0"/>
                  </a:lnTo>
                  <a:lnTo>
                    <a:pt x="96" y="0"/>
                  </a:lnTo>
                  <a:lnTo>
                    <a:pt x="102" y="6"/>
                  </a:lnTo>
                  <a:lnTo>
                    <a:pt x="102" y="12"/>
                  </a:lnTo>
                  <a:lnTo>
                    <a:pt x="96" y="18"/>
                  </a:lnTo>
                  <a:lnTo>
                    <a:pt x="84" y="71"/>
                  </a:lnTo>
                  <a:lnTo>
                    <a:pt x="48" y="0"/>
                  </a:lnTo>
                  <a:lnTo>
                    <a:pt x="24" y="0"/>
                  </a:lnTo>
                  <a:lnTo>
                    <a:pt x="30" y="0"/>
                  </a:lnTo>
                  <a:lnTo>
                    <a:pt x="36" y="6"/>
                  </a:lnTo>
                  <a:lnTo>
                    <a:pt x="18" y="71"/>
                  </a:lnTo>
                  <a:lnTo>
                    <a:pt x="12" y="89"/>
                  </a:lnTo>
                  <a:lnTo>
                    <a:pt x="0" y="95"/>
                  </a:lnTo>
                  <a:lnTo>
                    <a:pt x="30" y="95"/>
                  </a:lnTo>
                  <a:lnTo>
                    <a:pt x="24" y="95"/>
                  </a:lnTo>
                  <a:lnTo>
                    <a:pt x="18" y="89"/>
                  </a:lnTo>
                  <a:lnTo>
                    <a:pt x="18" y="83"/>
                  </a:lnTo>
                  <a:lnTo>
                    <a:pt x="24" y="77"/>
                  </a:lnTo>
                  <a:lnTo>
                    <a:pt x="42" y="18"/>
                  </a:lnTo>
                  <a:lnTo>
                    <a:pt x="78" y="101"/>
                  </a:lnTo>
                  <a:lnTo>
                    <a:pt x="84" y="101"/>
                  </a:lnTo>
                  <a:lnTo>
                    <a:pt x="102" y="24"/>
                  </a:lnTo>
                  <a:lnTo>
                    <a:pt x="114" y="6"/>
                  </a:lnTo>
                  <a:lnTo>
                    <a:pt x="12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904" name="Freeform 127"/>
            <p:cNvSpPr/>
            <p:nvPr/>
          </p:nvSpPr>
          <p:spPr>
            <a:xfrm>
              <a:off x="3613" y="741"/>
              <a:ext cx="24" cy="24"/>
            </a:xfrm>
            <a:custGeom>
              <a:avLst/>
              <a:gdLst>
                <a:gd name="txL" fmla="*/ 0 w 24"/>
                <a:gd name="txT" fmla="*/ 0 h 24"/>
                <a:gd name="txR" fmla="*/ 24 w 24"/>
                <a:gd name="txB" fmla="*/ 24 h 24"/>
              </a:gdLst>
              <a:ahLst/>
              <a:cxnLst>
                <a:cxn ang="0">
                  <a:pos x="12" y="24"/>
                </a:cxn>
                <a:cxn ang="0">
                  <a:pos x="18" y="18"/>
                </a:cxn>
                <a:cxn ang="0">
                  <a:pos x="24" y="12"/>
                </a:cxn>
                <a:cxn ang="0">
                  <a:pos x="18" y="6"/>
                </a:cxn>
                <a:cxn ang="0">
                  <a:pos x="12" y="0"/>
                </a:cxn>
                <a:cxn ang="0">
                  <a:pos x="6" y="6"/>
                </a:cxn>
                <a:cxn ang="0">
                  <a:pos x="0" y="12"/>
                </a:cxn>
                <a:cxn ang="0">
                  <a:pos x="6" y="24"/>
                </a:cxn>
                <a:cxn ang="0">
                  <a:pos x="12" y="24"/>
                </a:cxn>
                <a:cxn ang="0">
                  <a:pos x="12" y="24"/>
                </a:cxn>
              </a:cxnLst>
              <a:rect l="txL" t="txT" r="txR" b="txB"/>
              <a:pathLst>
                <a:path w="24" h="24">
                  <a:moveTo>
                    <a:pt x="12" y="24"/>
                  </a:moveTo>
                  <a:lnTo>
                    <a:pt x="18" y="18"/>
                  </a:lnTo>
                  <a:lnTo>
                    <a:pt x="24" y="12"/>
                  </a:lnTo>
                  <a:lnTo>
                    <a:pt x="18" y="6"/>
                  </a:lnTo>
                  <a:lnTo>
                    <a:pt x="12" y="0"/>
                  </a:lnTo>
                  <a:lnTo>
                    <a:pt x="6" y="6"/>
                  </a:lnTo>
                  <a:lnTo>
                    <a:pt x="0" y="12"/>
                  </a:lnTo>
                  <a:lnTo>
                    <a:pt x="6" y="24"/>
                  </a:lnTo>
                  <a:lnTo>
                    <a:pt x="12"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905" name="Freeform 128"/>
            <p:cNvSpPr/>
            <p:nvPr/>
          </p:nvSpPr>
          <p:spPr>
            <a:xfrm>
              <a:off x="3720" y="741"/>
              <a:ext cx="24" cy="24"/>
            </a:xfrm>
            <a:custGeom>
              <a:avLst/>
              <a:gdLst>
                <a:gd name="txL" fmla="*/ 0 w 24"/>
                <a:gd name="txT" fmla="*/ 0 h 24"/>
                <a:gd name="txR" fmla="*/ 24 w 24"/>
                <a:gd name="txB" fmla="*/ 24 h 24"/>
              </a:gdLst>
              <a:ahLst/>
              <a:cxnLst>
                <a:cxn ang="0">
                  <a:pos x="12" y="24"/>
                </a:cxn>
                <a:cxn ang="0">
                  <a:pos x="18" y="18"/>
                </a:cxn>
                <a:cxn ang="0">
                  <a:pos x="24" y="12"/>
                </a:cxn>
                <a:cxn ang="0">
                  <a:pos x="24" y="6"/>
                </a:cxn>
                <a:cxn ang="0">
                  <a:pos x="12" y="0"/>
                </a:cxn>
                <a:cxn ang="0">
                  <a:pos x="6" y="6"/>
                </a:cxn>
                <a:cxn ang="0">
                  <a:pos x="0" y="12"/>
                </a:cxn>
                <a:cxn ang="0">
                  <a:pos x="6" y="24"/>
                </a:cxn>
                <a:cxn ang="0">
                  <a:pos x="12" y="24"/>
                </a:cxn>
                <a:cxn ang="0">
                  <a:pos x="12" y="24"/>
                </a:cxn>
              </a:cxnLst>
              <a:rect l="txL" t="txT" r="txR" b="txB"/>
              <a:pathLst>
                <a:path w="24" h="24">
                  <a:moveTo>
                    <a:pt x="12" y="24"/>
                  </a:moveTo>
                  <a:lnTo>
                    <a:pt x="18" y="18"/>
                  </a:lnTo>
                  <a:lnTo>
                    <a:pt x="24" y="12"/>
                  </a:lnTo>
                  <a:lnTo>
                    <a:pt x="24" y="6"/>
                  </a:lnTo>
                  <a:lnTo>
                    <a:pt x="12" y="0"/>
                  </a:lnTo>
                  <a:lnTo>
                    <a:pt x="6" y="6"/>
                  </a:lnTo>
                  <a:lnTo>
                    <a:pt x="0" y="12"/>
                  </a:lnTo>
                  <a:lnTo>
                    <a:pt x="6" y="24"/>
                  </a:lnTo>
                  <a:lnTo>
                    <a:pt x="12"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906" name="Freeform 129"/>
            <p:cNvSpPr/>
            <p:nvPr/>
          </p:nvSpPr>
          <p:spPr>
            <a:xfrm>
              <a:off x="3834" y="741"/>
              <a:ext cx="24" cy="24"/>
            </a:xfrm>
            <a:custGeom>
              <a:avLst/>
              <a:gdLst>
                <a:gd name="txL" fmla="*/ 0 w 24"/>
                <a:gd name="txT" fmla="*/ 0 h 24"/>
                <a:gd name="txR" fmla="*/ 24 w 24"/>
                <a:gd name="txB" fmla="*/ 24 h 24"/>
              </a:gdLst>
              <a:ahLst/>
              <a:cxnLst>
                <a:cxn ang="0">
                  <a:pos x="12" y="24"/>
                </a:cxn>
                <a:cxn ang="0">
                  <a:pos x="18" y="18"/>
                </a:cxn>
                <a:cxn ang="0">
                  <a:pos x="24" y="12"/>
                </a:cxn>
                <a:cxn ang="0">
                  <a:pos x="18" y="6"/>
                </a:cxn>
                <a:cxn ang="0">
                  <a:pos x="12" y="0"/>
                </a:cxn>
                <a:cxn ang="0">
                  <a:pos x="6" y="6"/>
                </a:cxn>
                <a:cxn ang="0">
                  <a:pos x="0" y="12"/>
                </a:cxn>
                <a:cxn ang="0">
                  <a:pos x="6" y="24"/>
                </a:cxn>
                <a:cxn ang="0">
                  <a:pos x="12" y="24"/>
                </a:cxn>
                <a:cxn ang="0">
                  <a:pos x="12" y="24"/>
                </a:cxn>
              </a:cxnLst>
              <a:rect l="txL" t="txT" r="txR" b="txB"/>
              <a:pathLst>
                <a:path w="24" h="24">
                  <a:moveTo>
                    <a:pt x="12" y="24"/>
                  </a:moveTo>
                  <a:lnTo>
                    <a:pt x="18" y="18"/>
                  </a:lnTo>
                  <a:lnTo>
                    <a:pt x="24" y="12"/>
                  </a:lnTo>
                  <a:lnTo>
                    <a:pt x="18" y="6"/>
                  </a:lnTo>
                  <a:lnTo>
                    <a:pt x="12" y="0"/>
                  </a:lnTo>
                  <a:lnTo>
                    <a:pt x="6" y="6"/>
                  </a:lnTo>
                  <a:lnTo>
                    <a:pt x="0" y="12"/>
                  </a:lnTo>
                  <a:lnTo>
                    <a:pt x="6" y="24"/>
                  </a:lnTo>
                  <a:lnTo>
                    <a:pt x="12"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73731" name="Text Box 130"/>
          <p:cNvSpPr txBox="1"/>
          <p:nvPr/>
        </p:nvSpPr>
        <p:spPr>
          <a:xfrm>
            <a:off x="93663" y="741363"/>
            <a:ext cx="9144000" cy="4508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45000"/>
              </a:lnSpc>
              <a:spcBef>
                <a:spcPct val="50000"/>
              </a:spcBef>
              <a:buClrTx/>
              <a:buSzTx/>
              <a:buFontTx/>
              <a:buNone/>
            </a:pPr>
            <a:r>
              <a:rPr lang="en-US" altLang="zh-CN" sz="4400" b="1" dirty="0">
                <a:solidFill>
                  <a:srgbClr val="0000FF"/>
                </a:solidFill>
                <a:latin typeface="Franklin Gothic Medium" panose="020B0603020102020204" pitchFamily="34" charset="0"/>
                <a:cs typeface="Arial" panose="020B0604020202020204" pitchFamily="34" charset="0"/>
              </a:rPr>
              <a:t>6.5   </a:t>
            </a:r>
            <a:r>
              <a:rPr lang="zh-CN" altLang="en-US" sz="4400" b="1" dirty="0">
                <a:solidFill>
                  <a:srgbClr val="0000FF"/>
                </a:solidFill>
                <a:latin typeface="Franklin Gothic Medium" panose="020B0603020102020204" pitchFamily="34" charset="0"/>
                <a:cs typeface="Arial" panose="020B0604020202020204" pitchFamily="34" charset="0"/>
              </a:rPr>
              <a:t>电感的串并联</a:t>
            </a:r>
            <a:endParaRPr lang="en-US" altLang="zh-CN" sz="4400" b="1" dirty="0">
              <a:solidFill>
                <a:srgbClr val="0000FF"/>
              </a:solidFill>
              <a:latin typeface="Franklin Gothic Medium" panose="020B0603020102020204" pitchFamily="34" charset="0"/>
              <a:ea typeface="Arial" panose="020B0604020202020204" pitchFamily="34" charset="0"/>
            </a:endParaRPr>
          </a:p>
        </p:txBody>
      </p:sp>
      <p:grpSp>
        <p:nvGrpSpPr>
          <p:cNvPr id="73732" name="Group 131"/>
          <p:cNvGrpSpPr/>
          <p:nvPr/>
        </p:nvGrpSpPr>
        <p:grpSpPr>
          <a:xfrm>
            <a:off x="5500688" y="1785938"/>
            <a:ext cx="2749550" cy="2366962"/>
            <a:chOff x="1872" y="2330"/>
            <a:chExt cx="2189" cy="1821"/>
          </a:xfrm>
        </p:grpSpPr>
        <p:sp>
          <p:nvSpPr>
            <p:cNvPr id="73737" name="Freeform 132"/>
            <p:cNvSpPr/>
            <p:nvPr/>
          </p:nvSpPr>
          <p:spPr>
            <a:xfrm>
              <a:off x="1956" y="3715"/>
              <a:ext cx="1639" cy="1"/>
            </a:xfrm>
            <a:custGeom>
              <a:avLst/>
              <a:gdLst>
                <a:gd name="txL" fmla="*/ 0 w 1639"/>
                <a:gd name="txT" fmla="*/ 0 h 1"/>
                <a:gd name="txR" fmla="*/ 1639 w 1639"/>
                <a:gd name="txB" fmla="*/ 1 h 1"/>
              </a:gdLst>
              <a:ahLst/>
              <a:cxnLst>
                <a:cxn ang="0">
                  <a:pos x="0" y="0"/>
                </a:cxn>
                <a:cxn ang="0">
                  <a:pos x="1639" y="0"/>
                </a:cxn>
                <a:cxn ang="0">
                  <a:pos x="0" y="0"/>
                </a:cxn>
                <a:cxn ang="0">
                  <a:pos x="0" y="0"/>
                </a:cxn>
              </a:cxnLst>
              <a:rect l="txL" t="txT" r="txR" b="txB"/>
              <a:pathLst>
                <a:path w="1639" h="1">
                  <a:moveTo>
                    <a:pt x="0" y="0"/>
                  </a:moveTo>
                  <a:lnTo>
                    <a:pt x="1639"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38" name="Freeform 133"/>
            <p:cNvSpPr>
              <a:spLocks noEditPoints="1"/>
            </p:cNvSpPr>
            <p:nvPr/>
          </p:nvSpPr>
          <p:spPr>
            <a:xfrm>
              <a:off x="3595" y="2694"/>
              <a:ext cx="1" cy="1021"/>
            </a:xfrm>
            <a:custGeom>
              <a:avLst/>
              <a:gdLst>
                <a:gd name="txL" fmla="*/ 0 w 1"/>
                <a:gd name="txT" fmla="*/ 0 h 1021"/>
                <a:gd name="txR" fmla="*/ 1 w 1"/>
                <a:gd name="txB" fmla="*/ 1021 h 1021"/>
              </a:gdLst>
              <a:ahLst/>
              <a:cxnLst>
                <a:cxn ang="0">
                  <a:pos x="0" y="1021"/>
                </a:cxn>
                <a:cxn ang="0">
                  <a:pos x="0" y="0"/>
                </a:cxn>
                <a:cxn ang="0">
                  <a:pos x="0" y="1021"/>
                </a:cxn>
                <a:cxn ang="0">
                  <a:pos x="0" y="1021"/>
                </a:cxn>
                <a:cxn ang="0">
                  <a:pos x="0" y="1021"/>
                </a:cxn>
                <a:cxn ang="0">
                  <a:pos x="0" y="1021"/>
                </a:cxn>
                <a:cxn ang="0">
                  <a:pos x="0" y="1021"/>
                </a:cxn>
              </a:cxnLst>
              <a:rect l="txL" t="txT" r="txR" b="txB"/>
              <a:pathLst>
                <a:path w="1" h="1021">
                  <a:moveTo>
                    <a:pt x="0" y="1021"/>
                  </a:moveTo>
                  <a:lnTo>
                    <a:pt x="0" y="0"/>
                  </a:lnTo>
                  <a:lnTo>
                    <a:pt x="0" y="1021"/>
                  </a:lnTo>
                  <a:close/>
                  <a:moveTo>
                    <a:pt x="0" y="1021"/>
                  </a:moveTo>
                  <a:lnTo>
                    <a:pt x="0" y="102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39" name="Freeform 134"/>
            <p:cNvSpPr>
              <a:spLocks noEditPoints="1"/>
            </p:cNvSpPr>
            <p:nvPr/>
          </p:nvSpPr>
          <p:spPr>
            <a:xfrm>
              <a:off x="1956" y="2694"/>
              <a:ext cx="1639" cy="1"/>
            </a:xfrm>
            <a:custGeom>
              <a:avLst/>
              <a:gdLst>
                <a:gd name="txL" fmla="*/ 0 w 1639"/>
                <a:gd name="txT" fmla="*/ 0 h 1"/>
                <a:gd name="txR" fmla="*/ 1639 w 1639"/>
                <a:gd name="txB" fmla="*/ 1 h 1"/>
              </a:gdLst>
              <a:ahLst/>
              <a:cxnLst>
                <a:cxn ang="0">
                  <a:pos x="1639" y="0"/>
                </a:cxn>
                <a:cxn ang="0">
                  <a:pos x="0" y="0"/>
                </a:cxn>
                <a:cxn ang="0">
                  <a:pos x="1639" y="0"/>
                </a:cxn>
                <a:cxn ang="0">
                  <a:pos x="1639" y="0"/>
                </a:cxn>
                <a:cxn ang="0">
                  <a:pos x="1639" y="0"/>
                </a:cxn>
                <a:cxn ang="0">
                  <a:pos x="1639" y="0"/>
                </a:cxn>
                <a:cxn ang="0">
                  <a:pos x="1639" y="0"/>
                </a:cxn>
              </a:cxnLst>
              <a:rect l="txL" t="txT" r="txR" b="txB"/>
              <a:pathLst>
                <a:path w="1639" h="1">
                  <a:moveTo>
                    <a:pt x="1639" y="0"/>
                  </a:moveTo>
                  <a:lnTo>
                    <a:pt x="0" y="0"/>
                  </a:lnTo>
                  <a:lnTo>
                    <a:pt x="1639" y="0"/>
                  </a:lnTo>
                  <a:close/>
                  <a:moveTo>
                    <a:pt x="1639" y="0"/>
                  </a:moveTo>
                  <a:lnTo>
                    <a:pt x="163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40" name="Freeform 135"/>
            <p:cNvSpPr/>
            <p:nvPr/>
          </p:nvSpPr>
          <p:spPr>
            <a:xfrm>
              <a:off x="2614" y="3978"/>
              <a:ext cx="60" cy="173"/>
            </a:xfrm>
            <a:custGeom>
              <a:avLst/>
              <a:gdLst>
                <a:gd name="txL" fmla="*/ 0 w 60"/>
                <a:gd name="txT" fmla="*/ 0 h 173"/>
                <a:gd name="txR" fmla="*/ 60 w 60"/>
                <a:gd name="txB" fmla="*/ 173 h 173"/>
              </a:gdLst>
              <a:ahLst/>
              <a:cxnLst>
                <a:cxn ang="0">
                  <a:pos x="54" y="0"/>
                </a:cxn>
                <a:cxn ang="0">
                  <a:pos x="18" y="36"/>
                </a:cxn>
                <a:cxn ang="0">
                  <a:pos x="6" y="60"/>
                </a:cxn>
                <a:cxn ang="0">
                  <a:pos x="0" y="83"/>
                </a:cxn>
                <a:cxn ang="0">
                  <a:pos x="0" y="101"/>
                </a:cxn>
                <a:cxn ang="0">
                  <a:pos x="6" y="119"/>
                </a:cxn>
                <a:cxn ang="0">
                  <a:pos x="18" y="137"/>
                </a:cxn>
                <a:cxn ang="0">
                  <a:pos x="36" y="155"/>
                </a:cxn>
                <a:cxn ang="0">
                  <a:pos x="54" y="173"/>
                </a:cxn>
                <a:cxn ang="0">
                  <a:pos x="60" y="167"/>
                </a:cxn>
                <a:cxn ang="0">
                  <a:pos x="42" y="149"/>
                </a:cxn>
                <a:cxn ang="0">
                  <a:pos x="30" y="125"/>
                </a:cxn>
                <a:cxn ang="0">
                  <a:pos x="24" y="101"/>
                </a:cxn>
                <a:cxn ang="0">
                  <a:pos x="24" y="83"/>
                </a:cxn>
                <a:cxn ang="0">
                  <a:pos x="30" y="48"/>
                </a:cxn>
                <a:cxn ang="0">
                  <a:pos x="36" y="24"/>
                </a:cxn>
                <a:cxn ang="0">
                  <a:pos x="48" y="12"/>
                </a:cxn>
                <a:cxn ang="0">
                  <a:pos x="60" y="0"/>
                </a:cxn>
                <a:cxn ang="0">
                  <a:pos x="54" y="0"/>
                </a:cxn>
              </a:cxnLst>
              <a:rect l="txL" t="txT" r="txR" b="txB"/>
              <a:pathLst>
                <a:path w="60" h="173">
                  <a:moveTo>
                    <a:pt x="54" y="0"/>
                  </a:moveTo>
                  <a:lnTo>
                    <a:pt x="18" y="36"/>
                  </a:lnTo>
                  <a:lnTo>
                    <a:pt x="6" y="60"/>
                  </a:lnTo>
                  <a:lnTo>
                    <a:pt x="0" y="83"/>
                  </a:lnTo>
                  <a:lnTo>
                    <a:pt x="0" y="101"/>
                  </a:lnTo>
                  <a:lnTo>
                    <a:pt x="6" y="119"/>
                  </a:lnTo>
                  <a:lnTo>
                    <a:pt x="18" y="137"/>
                  </a:lnTo>
                  <a:lnTo>
                    <a:pt x="36" y="155"/>
                  </a:lnTo>
                  <a:lnTo>
                    <a:pt x="54" y="173"/>
                  </a:lnTo>
                  <a:lnTo>
                    <a:pt x="60" y="167"/>
                  </a:lnTo>
                  <a:lnTo>
                    <a:pt x="42" y="149"/>
                  </a:lnTo>
                  <a:lnTo>
                    <a:pt x="30" y="125"/>
                  </a:lnTo>
                  <a:lnTo>
                    <a:pt x="24" y="101"/>
                  </a:lnTo>
                  <a:lnTo>
                    <a:pt x="24" y="83"/>
                  </a:lnTo>
                  <a:lnTo>
                    <a:pt x="30" y="48"/>
                  </a:lnTo>
                  <a:lnTo>
                    <a:pt x="36" y="24"/>
                  </a:lnTo>
                  <a:lnTo>
                    <a:pt x="48" y="12"/>
                  </a:lnTo>
                  <a:lnTo>
                    <a:pt x="60" y="0"/>
                  </a:lnTo>
                  <a:lnTo>
                    <a:pt x="5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41" name="Freeform 136"/>
            <p:cNvSpPr>
              <a:spLocks noEditPoints="1"/>
            </p:cNvSpPr>
            <p:nvPr/>
          </p:nvSpPr>
          <p:spPr>
            <a:xfrm>
              <a:off x="2680" y="3978"/>
              <a:ext cx="101" cy="137"/>
            </a:xfrm>
            <a:custGeom>
              <a:avLst/>
              <a:gdLst>
                <a:gd name="txL" fmla="*/ 0 w 101"/>
                <a:gd name="txT" fmla="*/ 0 h 137"/>
                <a:gd name="txR" fmla="*/ 101 w 101"/>
                <a:gd name="txB" fmla="*/ 137 h 137"/>
              </a:gdLst>
              <a:ahLst/>
              <a:cxnLst>
                <a:cxn ang="0">
                  <a:pos x="29" y="72"/>
                </a:cxn>
                <a:cxn ang="0">
                  <a:pos x="41" y="60"/>
                </a:cxn>
                <a:cxn ang="0">
                  <a:pos x="53" y="54"/>
                </a:cxn>
                <a:cxn ang="0">
                  <a:pos x="65" y="60"/>
                </a:cxn>
                <a:cxn ang="0">
                  <a:pos x="77" y="66"/>
                </a:cxn>
                <a:cxn ang="0">
                  <a:pos x="83" y="95"/>
                </a:cxn>
                <a:cxn ang="0">
                  <a:pos x="77" y="119"/>
                </a:cxn>
                <a:cxn ang="0">
                  <a:pos x="71" y="125"/>
                </a:cxn>
                <a:cxn ang="0">
                  <a:pos x="53" y="131"/>
                </a:cxn>
                <a:cxn ang="0">
                  <a:pos x="41" y="131"/>
                </a:cxn>
                <a:cxn ang="0">
                  <a:pos x="35" y="125"/>
                </a:cxn>
                <a:cxn ang="0">
                  <a:pos x="29" y="119"/>
                </a:cxn>
                <a:cxn ang="0">
                  <a:pos x="29" y="72"/>
                </a:cxn>
                <a:cxn ang="0">
                  <a:pos x="12" y="125"/>
                </a:cxn>
                <a:cxn ang="0">
                  <a:pos x="18" y="131"/>
                </a:cxn>
                <a:cxn ang="0">
                  <a:pos x="24" y="131"/>
                </a:cxn>
                <a:cxn ang="0">
                  <a:pos x="47" y="137"/>
                </a:cxn>
                <a:cxn ang="0">
                  <a:pos x="71" y="131"/>
                </a:cxn>
                <a:cxn ang="0">
                  <a:pos x="89" y="119"/>
                </a:cxn>
                <a:cxn ang="0">
                  <a:pos x="101" y="107"/>
                </a:cxn>
                <a:cxn ang="0">
                  <a:pos x="101" y="89"/>
                </a:cxn>
                <a:cxn ang="0">
                  <a:pos x="89" y="60"/>
                </a:cxn>
                <a:cxn ang="0">
                  <a:pos x="77" y="48"/>
                </a:cxn>
                <a:cxn ang="0">
                  <a:pos x="59" y="42"/>
                </a:cxn>
                <a:cxn ang="0">
                  <a:pos x="41" y="48"/>
                </a:cxn>
                <a:cxn ang="0">
                  <a:pos x="35" y="60"/>
                </a:cxn>
                <a:cxn ang="0">
                  <a:pos x="29" y="60"/>
                </a:cxn>
                <a:cxn ang="0">
                  <a:pos x="29" y="0"/>
                </a:cxn>
                <a:cxn ang="0">
                  <a:pos x="29" y="0"/>
                </a:cxn>
                <a:cxn ang="0">
                  <a:pos x="18" y="6"/>
                </a:cxn>
                <a:cxn ang="0">
                  <a:pos x="0" y="6"/>
                </a:cxn>
                <a:cxn ang="0">
                  <a:pos x="0" y="12"/>
                </a:cxn>
                <a:cxn ang="0">
                  <a:pos x="6" y="12"/>
                </a:cxn>
                <a:cxn ang="0">
                  <a:pos x="6" y="12"/>
                </a:cxn>
                <a:cxn ang="0">
                  <a:pos x="12" y="12"/>
                </a:cxn>
                <a:cxn ang="0">
                  <a:pos x="12" y="18"/>
                </a:cxn>
                <a:cxn ang="0">
                  <a:pos x="12" y="125"/>
                </a:cxn>
              </a:cxnLst>
              <a:rect l="txL" t="txT" r="txR" b="txB"/>
              <a:pathLst>
                <a:path w="101" h="137">
                  <a:moveTo>
                    <a:pt x="29" y="72"/>
                  </a:moveTo>
                  <a:lnTo>
                    <a:pt x="41" y="60"/>
                  </a:lnTo>
                  <a:lnTo>
                    <a:pt x="53" y="54"/>
                  </a:lnTo>
                  <a:lnTo>
                    <a:pt x="65" y="60"/>
                  </a:lnTo>
                  <a:lnTo>
                    <a:pt x="77" y="66"/>
                  </a:lnTo>
                  <a:lnTo>
                    <a:pt x="83" y="95"/>
                  </a:lnTo>
                  <a:lnTo>
                    <a:pt x="77" y="119"/>
                  </a:lnTo>
                  <a:lnTo>
                    <a:pt x="71" y="125"/>
                  </a:lnTo>
                  <a:lnTo>
                    <a:pt x="53" y="131"/>
                  </a:lnTo>
                  <a:lnTo>
                    <a:pt x="41" y="131"/>
                  </a:lnTo>
                  <a:lnTo>
                    <a:pt x="35" y="125"/>
                  </a:lnTo>
                  <a:lnTo>
                    <a:pt x="29" y="119"/>
                  </a:lnTo>
                  <a:lnTo>
                    <a:pt x="29" y="72"/>
                  </a:lnTo>
                  <a:close/>
                  <a:moveTo>
                    <a:pt x="12" y="125"/>
                  </a:moveTo>
                  <a:lnTo>
                    <a:pt x="18" y="131"/>
                  </a:lnTo>
                  <a:lnTo>
                    <a:pt x="24" y="131"/>
                  </a:lnTo>
                  <a:lnTo>
                    <a:pt x="47" y="137"/>
                  </a:lnTo>
                  <a:lnTo>
                    <a:pt x="71" y="131"/>
                  </a:lnTo>
                  <a:lnTo>
                    <a:pt x="89" y="119"/>
                  </a:lnTo>
                  <a:lnTo>
                    <a:pt x="101" y="107"/>
                  </a:lnTo>
                  <a:lnTo>
                    <a:pt x="101" y="89"/>
                  </a:lnTo>
                  <a:lnTo>
                    <a:pt x="89" y="60"/>
                  </a:lnTo>
                  <a:lnTo>
                    <a:pt x="77" y="48"/>
                  </a:lnTo>
                  <a:lnTo>
                    <a:pt x="59" y="42"/>
                  </a:lnTo>
                  <a:lnTo>
                    <a:pt x="41" y="48"/>
                  </a:lnTo>
                  <a:lnTo>
                    <a:pt x="35" y="60"/>
                  </a:lnTo>
                  <a:lnTo>
                    <a:pt x="29" y="60"/>
                  </a:lnTo>
                  <a:lnTo>
                    <a:pt x="29" y="0"/>
                  </a:lnTo>
                  <a:lnTo>
                    <a:pt x="18" y="6"/>
                  </a:lnTo>
                  <a:lnTo>
                    <a:pt x="0" y="6"/>
                  </a:lnTo>
                  <a:lnTo>
                    <a:pt x="0" y="12"/>
                  </a:lnTo>
                  <a:lnTo>
                    <a:pt x="6" y="12"/>
                  </a:lnTo>
                  <a:lnTo>
                    <a:pt x="12" y="12"/>
                  </a:lnTo>
                  <a:lnTo>
                    <a:pt x="12" y="18"/>
                  </a:lnTo>
                  <a:lnTo>
                    <a:pt x="12" y="12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42" name="Freeform 137"/>
            <p:cNvSpPr/>
            <p:nvPr/>
          </p:nvSpPr>
          <p:spPr>
            <a:xfrm>
              <a:off x="2793" y="3978"/>
              <a:ext cx="54" cy="173"/>
            </a:xfrm>
            <a:custGeom>
              <a:avLst/>
              <a:gdLst>
                <a:gd name="txL" fmla="*/ 0 w 54"/>
                <a:gd name="txT" fmla="*/ 0 h 173"/>
                <a:gd name="txR" fmla="*/ 54 w 54"/>
                <a:gd name="txB" fmla="*/ 173 h 173"/>
              </a:gdLst>
              <a:ahLst/>
              <a:cxnLst>
                <a:cxn ang="0">
                  <a:pos x="0" y="173"/>
                </a:cxn>
                <a:cxn ang="0">
                  <a:pos x="24" y="155"/>
                </a:cxn>
                <a:cxn ang="0">
                  <a:pos x="42" y="137"/>
                </a:cxn>
                <a:cxn ang="0">
                  <a:pos x="48" y="113"/>
                </a:cxn>
                <a:cxn ang="0">
                  <a:pos x="54" y="89"/>
                </a:cxn>
                <a:cxn ang="0">
                  <a:pos x="54" y="72"/>
                </a:cxn>
                <a:cxn ang="0">
                  <a:pos x="48" y="54"/>
                </a:cxn>
                <a:cxn ang="0">
                  <a:pos x="42" y="30"/>
                </a:cxn>
                <a:cxn ang="0">
                  <a:pos x="24" y="12"/>
                </a:cxn>
                <a:cxn ang="0">
                  <a:pos x="6" y="0"/>
                </a:cxn>
                <a:cxn ang="0">
                  <a:pos x="0" y="0"/>
                </a:cxn>
                <a:cxn ang="0">
                  <a:pos x="24" y="24"/>
                </a:cxn>
                <a:cxn ang="0">
                  <a:pos x="30" y="48"/>
                </a:cxn>
                <a:cxn ang="0">
                  <a:pos x="36" y="72"/>
                </a:cxn>
                <a:cxn ang="0">
                  <a:pos x="36" y="89"/>
                </a:cxn>
                <a:cxn ang="0">
                  <a:pos x="36" y="125"/>
                </a:cxn>
                <a:cxn ang="0">
                  <a:pos x="24" y="143"/>
                </a:cxn>
                <a:cxn ang="0">
                  <a:pos x="12" y="155"/>
                </a:cxn>
                <a:cxn ang="0">
                  <a:pos x="0" y="167"/>
                </a:cxn>
                <a:cxn ang="0">
                  <a:pos x="0" y="173"/>
                </a:cxn>
              </a:cxnLst>
              <a:rect l="txL" t="txT" r="txR" b="txB"/>
              <a:pathLst>
                <a:path w="54" h="173">
                  <a:moveTo>
                    <a:pt x="0" y="173"/>
                  </a:moveTo>
                  <a:lnTo>
                    <a:pt x="24" y="155"/>
                  </a:lnTo>
                  <a:lnTo>
                    <a:pt x="42" y="137"/>
                  </a:lnTo>
                  <a:lnTo>
                    <a:pt x="48" y="113"/>
                  </a:lnTo>
                  <a:lnTo>
                    <a:pt x="54" y="89"/>
                  </a:lnTo>
                  <a:lnTo>
                    <a:pt x="54" y="72"/>
                  </a:lnTo>
                  <a:lnTo>
                    <a:pt x="48" y="54"/>
                  </a:lnTo>
                  <a:lnTo>
                    <a:pt x="42" y="30"/>
                  </a:lnTo>
                  <a:lnTo>
                    <a:pt x="24" y="12"/>
                  </a:lnTo>
                  <a:lnTo>
                    <a:pt x="6" y="0"/>
                  </a:lnTo>
                  <a:lnTo>
                    <a:pt x="0" y="0"/>
                  </a:lnTo>
                  <a:lnTo>
                    <a:pt x="24" y="24"/>
                  </a:lnTo>
                  <a:lnTo>
                    <a:pt x="30" y="48"/>
                  </a:lnTo>
                  <a:lnTo>
                    <a:pt x="36" y="72"/>
                  </a:lnTo>
                  <a:lnTo>
                    <a:pt x="36" y="89"/>
                  </a:lnTo>
                  <a:lnTo>
                    <a:pt x="36" y="125"/>
                  </a:lnTo>
                  <a:lnTo>
                    <a:pt x="24" y="143"/>
                  </a:lnTo>
                  <a:lnTo>
                    <a:pt x="12" y="155"/>
                  </a:lnTo>
                  <a:lnTo>
                    <a:pt x="0" y="167"/>
                  </a:lnTo>
                  <a:lnTo>
                    <a:pt x="0" y="17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43" name="Freeform 138"/>
            <p:cNvSpPr/>
            <p:nvPr/>
          </p:nvSpPr>
          <p:spPr>
            <a:xfrm>
              <a:off x="3762" y="3124"/>
              <a:ext cx="120" cy="131"/>
            </a:xfrm>
            <a:custGeom>
              <a:avLst/>
              <a:gdLst>
                <a:gd name="txL" fmla="*/ 0 w 120"/>
                <a:gd name="txT" fmla="*/ 0 h 131"/>
                <a:gd name="txR" fmla="*/ 120 w 120"/>
                <a:gd name="txB" fmla="*/ 131 h 131"/>
              </a:gdLst>
              <a:ahLst/>
              <a:cxnLst>
                <a:cxn ang="0">
                  <a:pos x="90" y="0"/>
                </a:cxn>
                <a:cxn ang="0">
                  <a:pos x="30" y="0"/>
                </a:cxn>
                <a:cxn ang="0">
                  <a:pos x="30" y="0"/>
                </a:cxn>
                <a:cxn ang="0">
                  <a:pos x="42" y="0"/>
                </a:cxn>
                <a:cxn ang="0">
                  <a:pos x="48" y="12"/>
                </a:cxn>
                <a:cxn ang="0">
                  <a:pos x="48" y="18"/>
                </a:cxn>
                <a:cxn ang="0">
                  <a:pos x="42" y="24"/>
                </a:cxn>
                <a:cxn ang="0">
                  <a:pos x="18" y="113"/>
                </a:cxn>
                <a:cxn ang="0">
                  <a:pos x="12" y="125"/>
                </a:cxn>
                <a:cxn ang="0">
                  <a:pos x="0" y="125"/>
                </a:cxn>
                <a:cxn ang="0">
                  <a:pos x="0" y="131"/>
                </a:cxn>
                <a:cxn ang="0">
                  <a:pos x="108" y="131"/>
                </a:cxn>
                <a:cxn ang="0">
                  <a:pos x="120" y="95"/>
                </a:cxn>
                <a:cxn ang="0">
                  <a:pos x="120" y="90"/>
                </a:cxn>
                <a:cxn ang="0">
                  <a:pos x="108" y="107"/>
                </a:cxn>
                <a:cxn ang="0">
                  <a:pos x="90" y="113"/>
                </a:cxn>
                <a:cxn ang="0">
                  <a:pos x="60" y="119"/>
                </a:cxn>
                <a:cxn ang="0">
                  <a:pos x="42" y="119"/>
                </a:cxn>
                <a:cxn ang="0">
                  <a:pos x="36" y="113"/>
                </a:cxn>
                <a:cxn ang="0">
                  <a:pos x="42" y="107"/>
                </a:cxn>
                <a:cxn ang="0">
                  <a:pos x="66" y="18"/>
                </a:cxn>
                <a:cxn ang="0">
                  <a:pos x="72" y="6"/>
                </a:cxn>
                <a:cxn ang="0">
                  <a:pos x="78" y="0"/>
                </a:cxn>
                <a:cxn ang="0">
                  <a:pos x="90" y="0"/>
                </a:cxn>
                <a:cxn ang="0">
                  <a:pos x="90" y="0"/>
                </a:cxn>
              </a:cxnLst>
              <a:rect l="txL" t="txT" r="txR" b="txB"/>
              <a:pathLst>
                <a:path w="120" h="131">
                  <a:moveTo>
                    <a:pt x="90" y="0"/>
                  </a:moveTo>
                  <a:lnTo>
                    <a:pt x="30" y="0"/>
                  </a:lnTo>
                  <a:lnTo>
                    <a:pt x="42" y="0"/>
                  </a:lnTo>
                  <a:lnTo>
                    <a:pt x="48" y="12"/>
                  </a:lnTo>
                  <a:lnTo>
                    <a:pt x="48" y="18"/>
                  </a:lnTo>
                  <a:lnTo>
                    <a:pt x="42" y="24"/>
                  </a:lnTo>
                  <a:lnTo>
                    <a:pt x="18" y="113"/>
                  </a:lnTo>
                  <a:lnTo>
                    <a:pt x="12" y="125"/>
                  </a:lnTo>
                  <a:lnTo>
                    <a:pt x="0" y="125"/>
                  </a:lnTo>
                  <a:lnTo>
                    <a:pt x="0" y="131"/>
                  </a:lnTo>
                  <a:lnTo>
                    <a:pt x="108" y="131"/>
                  </a:lnTo>
                  <a:lnTo>
                    <a:pt x="120" y="95"/>
                  </a:lnTo>
                  <a:lnTo>
                    <a:pt x="120" y="90"/>
                  </a:lnTo>
                  <a:lnTo>
                    <a:pt x="108" y="107"/>
                  </a:lnTo>
                  <a:lnTo>
                    <a:pt x="90" y="113"/>
                  </a:lnTo>
                  <a:lnTo>
                    <a:pt x="60" y="119"/>
                  </a:lnTo>
                  <a:lnTo>
                    <a:pt x="42" y="119"/>
                  </a:lnTo>
                  <a:lnTo>
                    <a:pt x="36" y="113"/>
                  </a:lnTo>
                  <a:lnTo>
                    <a:pt x="42" y="107"/>
                  </a:lnTo>
                  <a:lnTo>
                    <a:pt x="66" y="18"/>
                  </a:lnTo>
                  <a:lnTo>
                    <a:pt x="72" y="6"/>
                  </a:lnTo>
                  <a:lnTo>
                    <a:pt x="78" y="0"/>
                  </a:lnTo>
                  <a:lnTo>
                    <a:pt x="9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44" name="Freeform 139"/>
            <p:cNvSpPr>
              <a:spLocks noEditPoints="1"/>
            </p:cNvSpPr>
            <p:nvPr/>
          </p:nvSpPr>
          <p:spPr>
            <a:xfrm>
              <a:off x="3906" y="3231"/>
              <a:ext cx="66" cy="72"/>
            </a:xfrm>
            <a:custGeom>
              <a:avLst/>
              <a:gdLst>
                <a:gd name="txL" fmla="*/ 0 w 66"/>
                <a:gd name="txT" fmla="*/ 0 h 72"/>
                <a:gd name="txR" fmla="*/ 66 w 66"/>
                <a:gd name="txB" fmla="*/ 72 h 72"/>
              </a:gdLst>
              <a:ahLst/>
              <a:cxnLst>
                <a:cxn ang="0">
                  <a:pos x="60" y="48"/>
                </a:cxn>
                <a:cxn ang="0">
                  <a:pos x="54" y="60"/>
                </a:cxn>
                <a:cxn ang="0">
                  <a:pos x="36" y="66"/>
                </a:cxn>
                <a:cxn ang="0">
                  <a:pos x="18" y="60"/>
                </a:cxn>
                <a:cxn ang="0">
                  <a:pos x="12" y="48"/>
                </a:cxn>
                <a:cxn ang="0">
                  <a:pos x="12" y="30"/>
                </a:cxn>
                <a:cxn ang="0">
                  <a:pos x="60" y="30"/>
                </a:cxn>
                <a:cxn ang="0">
                  <a:pos x="54" y="6"/>
                </a:cxn>
                <a:cxn ang="0">
                  <a:pos x="30" y="0"/>
                </a:cxn>
                <a:cxn ang="0">
                  <a:pos x="12" y="12"/>
                </a:cxn>
                <a:cxn ang="0">
                  <a:pos x="6" y="24"/>
                </a:cxn>
                <a:cxn ang="0">
                  <a:pos x="0" y="42"/>
                </a:cxn>
                <a:cxn ang="0">
                  <a:pos x="6" y="66"/>
                </a:cxn>
                <a:cxn ang="0">
                  <a:pos x="30" y="72"/>
                </a:cxn>
                <a:cxn ang="0">
                  <a:pos x="48" y="72"/>
                </a:cxn>
                <a:cxn ang="0">
                  <a:pos x="54" y="60"/>
                </a:cxn>
                <a:cxn ang="0">
                  <a:pos x="66" y="48"/>
                </a:cxn>
                <a:cxn ang="0">
                  <a:pos x="60" y="48"/>
                </a:cxn>
                <a:cxn ang="0">
                  <a:pos x="12" y="24"/>
                </a:cxn>
                <a:cxn ang="0">
                  <a:pos x="18" y="12"/>
                </a:cxn>
                <a:cxn ang="0">
                  <a:pos x="30" y="6"/>
                </a:cxn>
                <a:cxn ang="0">
                  <a:pos x="42" y="12"/>
                </a:cxn>
                <a:cxn ang="0">
                  <a:pos x="42" y="24"/>
                </a:cxn>
                <a:cxn ang="0">
                  <a:pos x="12" y="24"/>
                </a:cxn>
              </a:cxnLst>
              <a:rect l="txL" t="txT" r="txR" b="txB"/>
              <a:pathLst>
                <a:path w="66" h="72">
                  <a:moveTo>
                    <a:pt x="60" y="48"/>
                  </a:moveTo>
                  <a:lnTo>
                    <a:pt x="54" y="60"/>
                  </a:lnTo>
                  <a:lnTo>
                    <a:pt x="36" y="66"/>
                  </a:lnTo>
                  <a:lnTo>
                    <a:pt x="18" y="60"/>
                  </a:lnTo>
                  <a:lnTo>
                    <a:pt x="12" y="48"/>
                  </a:lnTo>
                  <a:lnTo>
                    <a:pt x="12" y="30"/>
                  </a:lnTo>
                  <a:lnTo>
                    <a:pt x="60" y="30"/>
                  </a:lnTo>
                  <a:lnTo>
                    <a:pt x="54" y="6"/>
                  </a:lnTo>
                  <a:lnTo>
                    <a:pt x="30" y="0"/>
                  </a:lnTo>
                  <a:lnTo>
                    <a:pt x="12" y="12"/>
                  </a:lnTo>
                  <a:lnTo>
                    <a:pt x="6" y="24"/>
                  </a:lnTo>
                  <a:lnTo>
                    <a:pt x="0" y="42"/>
                  </a:lnTo>
                  <a:lnTo>
                    <a:pt x="6" y="66"/>
                  </a:lnTo>
                  <a:lnTo>
                    <a:pt x="30" y="72"/>
                  </a:lnTo>
                  <a:lnTo>
                    <a:pt x="48" y="72"/>
                  </a:lnTo>
                  <a:lnTo>
                    <a:pt x="54" y="60"/>
                  </a:lnTo>
                  <a:lnTo>
                    <a:pt x="66" y="48"/>
                  </a:lnTo>
                  <a:lnTo>
                    <a:pt x="60" y="48"/>
                  </a:lnTo>
                  <a:close/>
                  <a:moveTo>
                    <a:pt x="12" y="24"/>
                  </a:moveTo>
                  <a:lnTo>
                    <a:pt x="18" y="12"/>
                  </a:lnTo>
                  <a:lnTo>
                    <a:pt x="30" y="6"/>
                  </a:lnTo>
                  <a:lnTo>
                    <a:pt x="42" y="12"/>
                  </a:lnTo>
                  <a:lnTo>
                    <a:pt x="42" y="24"/>
                  </a:lnTo>
                  <a:lnTo>
                    <a:pt x="12" y="2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45" name="Freeform 140"/>
            <p:cNvSpPr>
              <a:spLocks noEditPoints="1"/>
            </p:cNvSpPr>
            <p:nvPr/>
          </p:nvSpPr>
          <p:spPr>
            <a:xfrm>
              <a:off x="3989" y="3231"/>
              <a:ext cx="72" cy="108"/>
            </a:xfrm>
            <a:custGeom>
              <a:avLst/>
              <a:gdLst>
                <a:gd name="txL" fmla="*/ 0 w 72"/>
                <a:gd name="txT" fmla="*/ 0 h 108"/>
                <a:gd name="txR" fmla="*/ 72 w 72"/>
                <a:gd name="txB" fmla="*/ 108 h 108"/>
              </a:gdLst>
              <a:ahLst/>
              <a:cxnLst>
                <a:cxn ang="0">
                  <a:pos x="54" y="6"/>
                </a:cxn>
                <a:cxn ang="0">
                  <a:pos x="48" y="6"/>
                </a:cxn>
                <a:cxn ang="0">
                  <a:pos x="36" y="0"/>
                </a:cxn>
                <a:cxn ang="0">
                  <a:pos x="18" y="6"/>
                </a:cxn>
                <a:cxn ang="0">
                  <a:pos x="12" y="12"/>
                </a:cxn>
                <a:cxn ang="0">
                  <a:pos x="0" y="42"/>
                </a:cxn>
                <a:cxn ang="0">
                  <a:pos x="0" y="60"/>
                </a:cxn>
                <a:cxn ang="0">
                  <a:pos x="6" y="66"/>
                </a:cxn>
                <a:cxn ang="0">
                  <a:pos x="24" y="72"/>
                </a:cxn>
                <a:cxn ang="0">
                  <a:pos x="42" y="72"/>
                </a:cxn>
                <a:cxn ang="0">
                  <a:pos x="48" y="66"/>
                </a:cxn>
                <a:cxn ang="0">
                  <a:pos x="48" y="66"/>
                </a:cxn>
                <a:cxn ang="0">
                  <a:pos x="48" y="90"/>
                </a:cxn>
                <a:cxn ang="0">
                  <a:pos x="48" y="102"/>
                </a:cxn>
                <a:cxn ang="0">
                  <a:pos x="36" y="102"/>
                </a:cxn>
                <a:cxn ang="0">
                  <a:pos x="36" y="108"/>
                </a:cxn>
                <a:cxn ang="0">
                  <a:pos x="72" y="108"/>
                </a:cxn>
                <a:cxn ang="0">
                  <a:pos x="72" y="102"/>
                </a:cxn>
                <a:cxn ang="0">
                  <a:pos x="66" y="102"/>
                </a:cxn>
                <a:cxn ang="0">
                  <a:pos x="60" y="96"/>
                </a:cxn>
                <a:cxn ang="0">
                  <a:pos x="60" y="6"/>
                </a:cxn>
                <a:cxn ang="0">
                  <a:pos x="60" y="0"/>
                </a:cxn>
                <a:cxn ang="0">
                  <a:pos x="60" y="6"/>
                </a:cxn>
                <a:cxn ang="0">
                  <a:pos x="54" y="6"/>
                </a:cxn>
                <a:cxn ang="0">
                  <a:pos x="48" y="54"/>
                </a:cxn>
                <a:cxn ang="0">
                  <a:pos x="48" y="60"/>
                </a:cxn>
                <a:cxn ang="0">
                  <a:pos x="42" y="66"/>
                </a:cxn>
                <a:cxn ang="0">
                  <a:pos x="36" y="66"/>
                </a:cxn>
                <a:cxn ang="0">
                  <a:pos x="30" y="66"/>
                </a:cxn>
                <a:cxn ang="0">
                  <a:pos x="24" y="66"/>
                </a:cxn>
                <a:cxn ang="0">
                  <a:pos x="18" y="54"/>
                </a:cxn>
                <a:cxn ang="0">
                  <a:pos x="12" y="36"/>
                </a:cxn>
                <a:cxn ang="0">
                  <a:pos x="18" y="12"/>
                </a:cxn>
                <a:cxn ang="0">
                  <a:pos x="36" y="6"/>
                </a:cxn>
                <a:cxn ang="0">
                  <a:pos x="48" y="12"/>
                </a:cxn>
                <a:cxn ang="0">
                  <a:pos x="48" y="24"/>
                </a:cxn>
                <a:cxn ang="0">
                  <a:pos x="48" y="54"/>
                </a:cxn>
              </a:cxnLst>
              <a:rect l="txL" t="txT" r="txR" b="txB"/>
              <a:pathLst>
                <a:path w="72" h="108">
                  <a:moveTo>
                    <a:pt x="54" y="6"/>
                  </a:moveTo>
                  <a:lnTo>
                    <a:pt x="48" y="6"/>
                  </a:lnTo>
                  <a:lnTo>
                    <a:pt x="36" y="0"/>
                  </a:lnTo>
                  <a:lnTo>
                    <a:pt x="18" y="6"/>
                  </a:lnTo>
                  <a:lnTo>
                    <a:pt x="12" y="12"/>
                  </a:lnTo>
                  <a:lnTo>
                    <a:pt x="0" y="42"/>
                  </a:lnTo>
                  <a:lnTo>
                    <a:pt x="0" y="60"/>
                  </a:lnTo>
                  <a:lnTo>
                    <a:pt x="6" y="66"/>
                  </a:lnTo>
                  <a:lnTo>
                    <a:pt x="24" y="72"/>
                  </a:lnTo>
                  <a:lnTo>
                    <a:pt x="42" y="72"/>
                  </a:lnTo>
                  <a:lnTo>
                    <a:pt x="48" y="66"/>
                  </a:lnTo>
                  <a:lnTo>
                    <a:pt x="48" y="90"/>
                  </a:lnTo>
                  <a:lnTo>
                    <a:pt x="48" y="102"/>
                  </a:lnTo>
                  <a:lnTo>
                    <a:pt x="36" y="102"/>
                  </a:lnTo>
                  <a:lnTo>
                    <a:pt x="36" y="108"/>
                  </a:lnTo>
                  <a:lnTo>
                    <a:pt x="72" y="108"/>
                  </a:lnTo>
                  <a:lnTo>
                    <a:pt x="72" y="102"/>
                  </a:lnTo>
                  <a:lnTo>
                    <a:pt x="66" y="102"/>
                  </a:lnTo>
                  <a:lnTo>
                    <a:pt x="60" y="96"/>
                  </a:lnTo>
                  <a:lnTo>
                    <a:pt x="60" y="6"/>
                  </a:lnTo>
                  <a:lnTo>
                    <a:pt x="60" y="0"/>
                  </a:lnTo>
                  <a:lnTo>
                    <a:pt x="60" y="6"/>
                  </a:lnTo>
                  <a:lnTo>
                    <a:pt x="54" y="6"/>
                  </a:lnTo>
                  <a:close/>
                  <a:moveTo>
                    <a:pt x="48" y="54"/>
                  </a:moveTo>
                  <a:lnTo>
                    <a:pt x="48" y="60"/>
                  </a:lnTo>
                  <a:lnTo>
                    <a:pt x="42" y="66"/>
                  </a:lnTo>
                  <a:lnTo>
                    <a:pt x="36" y="66"/>
                  </a:lnTo>
                  <a:lnTo>
                    <a:pt x="30" y="66"/>
                  </a:lnTo>
                  <a:lnTo>
                    <a:pt x="24" y="66"/>
                  </a:lnTo>
                  <a:lnTo>
                    <a:pt x="18" y="54"/>
                  </a:lnTo>
                  <a:lnTo>
                    <a:pt x="12" y="36"/>
                  </a:lnTo>
                  <a:lnTo>
                    <a:pt x="18" y="12"/>
                  </a:lnTo>
                  <a:lnTo>
                    <a:pt x="36" y="6"/>
                  </a:lnTo>
                  <a:lnTo>
                    <a:pt x="48" y="12"/>
                  </a:lnTo>
                  <a:lnTo>
                    <a:pt x="48" y="24"/>
                  </a:lnTo>
                  <a:lnTo>
                    <a:pt x="48" y="5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46" name="Freeform 141"/>
            <p:cNvSpPr/>
            <p:nvPr/>
          </p:nvSpPr>
          <p:spPr>
            <a:xfrm>
              <a:off x="2117" y="2575"/>
              <a:ext cx="437" cy="1"/>
            </a:xfrm>
            <a:custGeom>
              <a:avLst/>
              <a:gdLst>
                <a:gd name="txL" fmla="*/ 0 w 437"/>
                <a:gd name="txT" fmla="*/ 0 h 1"/>
                <a:gd name="txR" fmla="*/ 437 w 437"/>
                <a:gd name="txB" fmla="*/ 1 h 1"/>
              </a:gdLst>
              <a:ahLst/>
              <a:cxnLst>
                <a:cxn ang="0">
                  <a:pos x="0" y="0"/>
                </a:cxn>
                <a:cxn ang="0">
                  <a:pos x="437" y="0"/>
                </a:cxn>
                <a:cxn ang="0">
                  <a:pos x="0" y="0"/>
                </a:cxn>
                <a:cxn ang="0">
                  <a:pos x="0" y="0"/>
                </a:cxn>
              </a:cxnLst>
              <a:rect l="txL" t="txT" r="txR" b="txB"/>
              <a:pathLst>
                <a:path w="437" h="1">
                  <a:moveTo>
                    <a:pt x="0" y="0"/>
                  </a:moveTo>
                  <a:lnTo>
                    <a:pt x="437"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47" name="Freeform 142"/>
            <p:cNvSpPr/>
            <p:nvPr/>
          </p:nvSpPr>
          <p:spPr>
            <a:xfrm>
              <a:off x="2524" y="2533"/>
              <a:ext cx="168" cy="83"/>
            </a:xfrm>
            <a:custGeom>
              <a:avLst/>
              <a:gdLst>
                <a:gd name="txL" fmla="*/ 0 w 168"/>
                <a:gd name="txT" fmla="*/ 0 h 83"/>
                <a:gd name="txR" fmla="*/ 168 w 168"/>
                <a:gd name="txB" fmla="*/ 83 h 83"/>
              </a:gdLst>
              <a:ahLst/>
              <a:cxnLst>
                <a:cxn ang="0">
                  <a:pos x="0" y="83"/>
                </a:cxn>
                <a:cxn ang="0">
                  <a:pos x="168" y="42"/>
                </a:cxn>
                <a:cxn ang="0">
                  <a:pos x="0" y="0"/>
                </a:cxn>
                <a:cxn ang="0">
                  <a:pos x="0" y="83"/>
                </a:cxn>
                <a:cxn ang="0">
                  <a:pos x="0" y="83"/>
                </a:cxn>
              </a:cxnLst>
              <a:rect l="txL" t="txT" r="txR" b="txB"/>
              <a:pathLst>
                <a:path w="168" h="83">
                  <a:moveTo>
                    <a:pt x="0" y="83"/>
                  </a:moveTo>
                  <a:lnTo>
                    <a:pt x="168" y="42"/>
                  </a:lnTo>
                  <a:lnTo>
                    <a:pt x="0" y="0"/>
                  </a:lnTo>
                  <a:lnTo>
                    <a:pt x="0" y="83"/>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48" name="Freeform 143"/>
            <p:cNvSpPr>
              <a:spLocks noEditPoints="1"/>
            </p:cNvSpPr>
            <p:nvPr/>
          </p:nvSpPr>
          <p:spPr>
            <a:xfrm>
              <a:off x="2381" y="2330"/>
              <a:ext cx="47" cy="137"/>
            </a:xfrm>
            <a:custGeom>
              <a:avLst/>
              <a:gdLst>
                <a:gd name="txL" fmla="*/ 0 w 47"/>
                <a:gd name="txT" fmla="*/ 0 h 137"/>
                <a:gd name="txR" fmla="*/ 47 w 47"/>
                <a:gd name="txB" fmla="*/ 137 h 137"/>
              </a:gdLst>
              <a:ahLst/>
              <a:cxnLst>
                <a:cxn ang="0">
                  <a:pos x="41" y="113"/>
                </a:cxn>
                <a:cxn ang="0">
                  <a:pos x="29" y="125"/>
                </a:cxn>
                <a:cxn ang="0">
                  <a:pos x="23" y="125"/>
                </a:cxn>
                <a:cxn ang="0">
                  <a:pos x="17" y="125"/>
                </a:cxn>
                <a:cxn ang="0">
                  <a:pos x="17" y="125"/>
                </a:cxn>
                <a:cxn ang="0">
                  <a:pos x="17" y="119"/>
                </a:cxn>
                <a:cxn ang="0">
                  <a:pos x="23" y="107"/>
                </a:cxn>
                <a:cxn ang="0">
                  <a:pos x="41" y="47"/>
                </a:cxn>
                <a:cxn ang="0">
                  <a:pos x="41" y="41"/>
                </a:cxn>
                <a:cxn ang="0">
                  <a:pos x="23" y="47"/>
                </a:cxn>
                <a:cxn ang="0">
                  <a:pos x="6" y="47"/>
                </a:cxn>
                <a:cxn ang="0">
                  <a:pos x="6" y="53"/>
                </a:cxn>
                <a:cxn ang="0">
                  <a:pos x="17" y="53"/>
                </a:cxn>
                <a:cxn ang="0">
                  <a:pos x="17" y="59"/>
                </a:cxn>
                <a:cxn ang="0">
                  <a:pos x="17" y="71"/>
                </a:cxn>
                <a:cxn ang="0">
                  <a:pos x="11" y="89"/>
                </a:cxn>
                <a:cxn ang="0">
                  <a:pos x="6" y="113"/>
                </a:cxn>
                <a:cxn ang="0">
                  <a:pos x="0" y="125"/>
                </a:cxn>
                <a:cxn ang="0">
                  <a:pos x="0" y="131"/>
                </a:cxn>
                <a:cxn ang="0">
                  <a:pos x="11" y="137"/>
                </a:cxn>
                <a:cxn ang="0">
                  <a:pos x="29" y="131"/>
                </a:cxn>
                <a:cxn ang="0">
                  <a:pos x="41" y="113"/>
                </a:cxn>
                <a:cxn ang="0">
                  <a:pos x="41" y="113"/>
                </a:cxn>
                <a:cxn ang="0">
                  <a:pos x="47" y="12"/>
                </a:cxn>
                <a:cxn ang="0">
                  <a:pos x="47" y="6"/>
                </a:cxn>
                <a:cxn ang="0">
                  <a:pos x="35" y="0"/>
                </a:cxn>
                <a:cxn ang="0">
                  <a:pos x="29" y="6"/>
                </a:cxn>
                <a:cxn ang="0">
                  <a:pos x="29" y="12"/>
                </a:cxn>
                <a:cxn ang="0">
                  <a:pos x="29" y="18"/>
                </a:cxn>
                <a:cxn ang="0">
                  <a:pos x="35" y="24"/>
                </a:cxn>
                <a:cxn ang="0">
                  <a:pos x="47" y="18"/>
                </a:cxn>
                <a:cxn ang="0">
                  <a:pos x="47" y="12"/>
                </a:cxn>
                <a:cxn ang="0">
                  <a:pos x="47" y="12"/>
                </a:cxn>
              </a:cxnLst>
              <a:rect l="txL" t="txT" r="txR" b="txB"/>
              <a:pathLst>
                <a:path w="47" h="137">
                  <a:moveTo>
                    <a:pt x="41" y="113"/>
                  </a:moveTo>
                  <a:lnTo>
                    <a:pt x="29" y="125"/>
                  </a:lnTo>
                  <a:lnTo>
                    <a:pt x="23" y="125"/>
                  </a:lnTo>
                  <a:lnTo>
                    <a:pt x="17" y="125"/>
                  </a:lnTo>
                  <a:lnTo>
                    <a:pt x="17" y="119"/>
                  </a:lnTo>
                  <a:lnTo>
                    <a:pt x="23" y="107"/>
                  </a:lnTo>
                  <a:lnTo>
                    <a:pt x="41" y="47"/>
                  </a:lnTo>
                  <a:lnTo>
                    <a:pt x="41" y="41"/>
                  </a:lnTo>
                  <a:lnTo>
                    <a:pt x="23" y="47"/>
                  </a:lnTo>
                  <a:lnTo>
                    <a:pt x="6" y="47"/>
                  </a:lnTo>
                  <a:lnTo>
                    <a:pt x="6" y="53"/>
                  </a:lnTo>
                  <a:lnTo>
                    <a:pt x="17" y="53"/>
                  </a:lnTo>
                  <a:lnTo>
                    <a:pt x="17" y="59"/>
                  </a:lnTo>
                  <a:lnTo>
                    <a:pt x="17" y="71"/>
                  </a:lnTo>
                  <a:lnTo>
                    <a:pt x="11" y="89"/>
                  </a:lnTo>
                  <a:lnTo>
                    <a:pt x="6" y="113"/>
                  </a:lnTo>
                  <a:lnTo>
                    <a:pt x="0" y="125"/>
                  </a:lnTo>
                  <a:lnTo>
                    <a:pt x="0" y="131"/>
                  </a:lnTo>
                  <a:lnTo>
                    <a:pt x="11" y="137"/>
                  </a:lnTo>
                  <a:lnTo>
                    <a:pt x="29" y="131"/>
                  </a:lnTo>
                  <a:lnTo>
                    <a:pt x="41" y="113"/>
                  </a:lnTo>
                  <a:close/>
                  <a:moveTo>
                    <a:pt x="47" y="12"/>
                  </a:moveTo>
                  <a:lnTo>
                    <a:pt x="47" y="6"/>
                  </a:lnTo>
                  <a:lnTo>
                    <a:pt x="35" y="0"/>
                  </a:lnTo>
                  <a:lnTo>
                    <a:pt x="29" y="6"/>
                  </a:lnTo>
                  <a:lnTo>
                    <a:pt x="29" y="12"/>
                  </a:lnTo>
                  <a:lnTo>
                    <a:pt x="29" y="18"/>
                  </a:lnTo>
                  <a:lnTo>
                    <a:pt x="35" y="24"/>
                  </a:lnTo>
                  <a:lnTo>
                    <a:pt x="47" y="18"/>
                  </a:lnTo>
                  <a:lnTo>
                    <a:pt x="47"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49" name="Freeform 144"/>
            <p:cNvSpPr/>
            <p:nvPr/>
          </p:nvSpPr>
          <p:spPr>
            <a:xfrm>
              <a:off x="1896" y="3184"/>
              <a:ext cx="84" cy="83"/>
            </a:xfrm>
            <a:custGeom>
              <a:avLst/>
              <a:gdLst>
                <a:gd name="txL" fmla="*/ 0 w 84"/>
                <a:gd name="txT" fmla="*/ 0 h 83"/>
                <a:gd name="txR" fmla="*/ 84 w 84"/>
                <a:gd name="txB" fmla="*/ 83 h 83"/>
              </a:gdLst>
              <a:ahLst/>
              <a:cxnLst>
                <a:cxn ang="0">
                  <a:pos x="0" y="6"/>
                </a:cxn>
                <a:cxn ang="0">
                  <a:pos x="12" y="6"/>
                </a:cxn>
                <a:cxn ang="0">
                  <a:pos x="12" y="12"/>
                </a:cxn>
                <a:cxn ang="0">
                  <a:pos x="18" y="24"/>
                </a:cxn>
                <a:cxn ang="0">
                  <a:pos x="18" y="35"/>
                </a:cxn>
                <a:cxn ang="0">
                  <a:pos x="24" y="53"/>
                </a:cxn>
                <a:cxn ang="0">
                  <a:pos x="24" y="65"/>
                </a:cxn>
                <a:cxn ang="0">
                  <a:pos x="24" y="77"/>
                </a:cxn>
                <a:cxn ang="0">
                  <a:pos x="24" y="83"/>
                </a:cxn>
                <a:cxn ang="0">
                  <a:pos x="24" y="83"/>
                </a:cxn>
                <a:cxn ang="0">
                  <a:pos x="36" y="83"/>
                </a:cxn>
                <a:cxn ang="0">
                  <a:pos x="48" y="71"/>
                </a:cxn>
                <a:cxn ang="0">
                  <a:pos x="54" y="59"/>
                </a:cxn>
                <a:cxn ang="0">
                  <a:pos x="66" y="41"/>
                </a:cxn>
                <a:cxn ang="0">
                  <a:pos x="78" y="30"/>
                </a:cxn>
                <a:cxn ang="0">
                  <a:pos x="84" y="12"/>
                </a:cxn>
                <a:cxn ang="0">
                  <a:pos x="78" y="6"/>
                </a:cxn>
                <a:cxn ang="0">
                  <a:pos x="72" y="0"/>
                </a:cxn>
                <a:cxn ang="0">
                  <a:pos x="66" y="0"/>
                </a:cxn>
                <a:cxn ang="0">
                  <a:pos x="66" y="6"/>
                </a:cxn>
                <a:cxn ang="0">
                  <a:pos x="66" y="12"/>
                </a:cxn>
                <a:cxn ang="0">
                  <a:pos x="72" y="12"/>
                </a:cxn>
                <a:cxn ang="0">
                  <a:pos x="72" y="18"/>
                </a:cxn>
                <a:cxn ang="0">
                  <a:pos x="66" y="41"/>
                </a:cxn>
                <a:cxn ang="0">
                  <a:pos x="48" y="65"/>
                </a:cxn>
                <a:cxn ang="0">
                  <a:pos x="42" y="71"/>
                </a:cxn>
                <a:cxn ang="0">
                  <a:pos x="36" y="53"/>
                </a:cxn>
                <a:cxn ang="0">
                  <a:pos x="36" y="35"/>
                </a:cxn>
                <a:cxn ang="0">
                  <a:pos x="30" y="6"/>
                </a:cxn>
                <a:cxn ang="0">
                  <a:pos x="30" y="0"/>
                </a:cxn>
                <a:cxn ang="0">
                  <a:pos x="24" y="0"/>
                </a:cxn>
                <a:cxn ang="0">
                  <a:pos x="18" y="0"/>
                </a:cxn>
                <a:cxn ang="0">
                  <a:pos x="0" y="6"/>
                </a:cxn>
                <a:cxn ang="0">
                  <a:pos x="0" y="6"/>
                </a:cxn>
              </a:cxnLst>
              <a:rect l="txL" t="txT" r="txR" b="txB"/>
              <a:pathLst>
                <a:path w="84" h="83">
                  <a:moveTo>
                    <a:pt x="0" y="6"/>
                  </a:moveTo>
                  <a:lnTo>
                    <a:pt x="12" y="6"/>
                  </a:lnTo>
                  <a:lnTo>
                    <a:pt x="12" y="12"/>
                  </a:lnTo>
                  <a:lnTo>
                    <a:pt x="18" y="24"/>
                  </a:lnTo>
                  <a:lnTo>
                    <a:pt x="18" y="35"/>
                  </a:lnTo>
                  <a:lnTo>
                    <a:pt x="24" y="53"/>
                  </a:lnTo>
                  <a:lnTo>
                    <a:pt x="24" y="65"/>
                  </a:lnTo>
                  <a:lnTo>
                    <a:pt x="24" y="77"/>
                  </a:lnTo>
                  <a:lnTo>
                    <a:pt x="24" y="83"/>
                  </a:lnTo>
                  <a:lnTo>
                    <a:pt x="36" y="83"/>
                  </a:lnTo>
                  <a:lnTo>
                    <a:pt x="48" y="71"/>
                  </a:lnTo>
                  <a:lnTo>
                    <a:pt x="54" y="59"/>
                  </a:lnTo>
                  <a:lnTo>
                    <a:pt x="66" y="41"/>
                  </a:lnTo>
                  <a:lnTo>
                    <a:pt x="78" y="30"/>
                  </a:lnTo>
                  <a:lnTo>
                    <a:pt x="84" y="12"/>
                  </a:lnTo>
                  <a:lnTo>
                    <a:pt x="78" y="6"/>
                  </a:lnTo>
                  <a:lnTo>
                    <a:pt x="72" y="0"/>
                  </a:lnTo>
                  <a:lnTo>
                    <a:pt x="66" y="0"/>
                  </a:lnTo>
                  <a:lnTo>
                    <a:pt x="66" y="6"/>
                  </a:lnTo>
                  <a:lnTo>
                    <a:pt x="66" y="12"/>
                  </a:lnTo>
                  <a:lnTo>
                    <a:pt x="72" y="12"/>
                  </a:lnTo>
                  <a:lnTo>
                    <a:pt x="72" y="18"/>
                  </a:lnTo>
                  <a:lnTo>
                    <a:pt x="66" y="41"/>
                  </a:lnTo>
                  <a:lnTo>
                    <a:pt x="48" y="65"/>
                  </a:lnTo>
                  <a:lnTo>
                    <a:pt x="42" y="71"/>
                  </a:lnTo>
                  <a:lnTo>
                    <a:pt x="36" y="53"/>
                  </a:lnTo>
                  <a:lnTo>
                    <a:pt x="36" y="35"/>
                  </a:lnTo>
                  <a:lnTo>
                    <a:pt x="30" y="6"/>
                  </a:lnTo>
                  <a:lnTo>
                    <a:pt x="30" y="0"/>
                  </a:lnTo>
                  <a:lnTo>
                    <a:pt x="24" y="0"/>
                  </a:lnTo>
                  <a:lnTo>
                    <a:pt x="18"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50" name="Freeform 145"/>
            <p:cNvSpPr/>
            <p:nvPr/>
          </p:nvSpPr>
          <p:spPr>
            <a:xfrm>
              <a:off x="1872" y="2849"/>
              <a:ext cx="108" cy="102"/>
            </a:xfrm>
            <a:custGeom>
              <a:avLst/>
              <a:gdLst>
                <a:gd name="txL" fmla="*/ 0 w 108"/>
                <a:gd name="txT" fmla="*/ 0 h 102"/>
                <a:gd name="txR" fmla="*/ 108 w 108"/>
                <a:gd name="txB" fmla="*/ 102 h 102"/>
              </a:gdLst>
              <a:ahLst/>
              <a:cxnLst>
                <a:cxn ang="0">
                  <a:pos x="60" y="42"/>
                </a:cxn>
                <a:cxn ang="0">
                  <a:pos x="108" y="42"/>
                </a:cxn>
                <a:cxn ang="0">
                  <a:pos x="108" y="60"/>
                </a:cxn>
                <a:cxn ang="0">
                  <a:pos x="60" y="60"/>
                </a:cxn>
                <a:cxn ang="0">
                  <a:pos x="60" y="102"/>
                </a:cxn>
                <a:cxn ang="0">
                  <a:pos x="48" y="102"/>
                </a:cxn>
                <a:cxn ang="0">
                  <a:pos x="48" y="60"/>
                </a:cxn>
                <a:cxn ang="0">
                  <a:pos x="0" y="60"/>
                </a:cxn>
                <a:cxn ang="0">
                  <a:pos x="0" y="42"/>
                </a:cxn>
                <a:cxn ang="0">
                  <a:pos x="48" y="42"/>
                </a:cxn>
                <a:cxn ang="0">
                  <a:pos x="48" y="0"/>
                </a:cxn>
                <a:cxn ang="0">
                  <a:pos x="60" y="0"/>
                </a:cxn>
                <a:cxn ang="0">
                  <a:pos x="60" y="42"/>
                </a:cxn>
              </a:cxnLst>
              <a:rect l="txL" t="txT" r="txR" b="txB"/>
              <a:pathLst>
                <a:path w="108" h="102">
                  <a:moveTo>
                    <a:pt x="60" y="42"/>
                  </a:moveTo>
                  <a:lnTo>
                    <a:pt x="108" y="42"/>
                  </a:lnTo>
                  <a:lnTo>
                    <a:pt x="108" y="60"/>
                  </a:lnTo>
                  <a:lnTo>
                    <a:pt x="60" y="60"/>
                  </a:lnTo>
                  <a:lnTo>
                    <a:pt x="60" y="102"/>
                  </a:lnTo>
                  <a:lnTo>
                    <a:pt x="48" y="102"/>
                  </a:lnTo>
                  <a:lnTo>
                    <a:pt x="48" y="60"/>
                  </a:lnTo>
                  <a:lnTo>
                    <a:pt x="0" y="60"/>
                  </a:lnTo>
                  <a:lnTo>
                    <a:pt x="0" y="42"/>
                  </a:lnTo>
                  <a:lnTo>
                    <a:pt x="48" y="42"/>
                  </a:lnTo>
                  <a:lnTo>
                    <a:pt x="48" y="0"/>
                  </a:lnTo>
                  <a:lnTo>
                    <a:pt x="60" y="0"/>
                  </a:lnTo>
                  <a:lnTo>
                    <a:pt x="60" y="4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51" name="Rectangle 146"/>
            <p:cNvSpPr/>
            <p:nvPr/>
          </p:nvSpPr>
          <p:spPr>
            <a:xfrm>
              <a:off x="1878" y="3548"/>
              <a:ext cx="114" cy="12"/>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73752" name="Freeform 147"/>
            <p:cNvSpPr/>
            <p:nvPr/>
          </p:nvSpPr>
          <p:spPr>
            <a:xfrm>
              <a:off x="1878" y="2646"/>
              <a:ext cx="102" cy="96"/>
            </a:xfrm>
            <a:custGeom>
              <a:avLst/>
              <a:gdLst>
                <a:gd name="txL" fmla="*/ 0 w 102"/>
                <a:gd name="txT" fmla="*/ 0 h 96"/>
                <a:gd name="txR" fmla="*/ 102 w 102"/>
                <a:gd name="txB" fmla="*/ 96 h 96"/>
              </a:gdLst>
              <a:ahLst/>
              <a:cxnLst>
                <a:cxn ang="0">
                  <a:pos x="48" y="96"/>
                </a:cxn>
                <a:cxn ang="0">
                  <a:pos x="30" y="90"/>
                </a:cxn>
                <a:cxn ang="0">
                  <a:pos x="18" y="84"/>
                </a:cxn>
                <a:cxn ang="0">
                  <a:pos x="6" y="66"/>
                </a:cxn>
                <a:cxn ang="0">
                  <a:pos x="0" y="48"/>
                </a:cxn>
                <a:cxn ang="0">
                  <a:pos x="6" y="30"/>
                </a:cxn>
                <a:cxn ang="0">
                  <a:pos x="18" y="18"/>
                </a:cxn>
                <a:cxn ang="0">
                  <a:pos x="30" y="6"/>
                </a:cxn>
                <a:cxn ang="0">
                  <a:pos x="48" y="0"/>
                </a:cxn>
                <a:cxn ang="0">
                  <a:pos x="72" y="6"/>
                </a:cxn>
                <a:cxn ang="0">
                  <a:pos x="84" y="18"/>
                </a:cxn>
                <a:cxn ang="0">
                  <a:pos x="96" y="30"/>
                </a:cxn>
                <a:cxn ang="0">
                  <a:pos x="102" y="48"/>
                </a:cxn>
                <a:cxn ang="0">
                  <a:pos x="96" y="66"/>
                </a:cxn>
                <a:cxn ang="0">
                  <a:pos x="84" y="84"/>
                </a:cxn>
                <a:cxn ang="0">
                  <a:pos x="72" y="90"/>
                </a:cxn>
                <a:cxn ang="0">
                  <a:pos x="48" y="96"/>
                </a:cxn>
                <a:cxn ang="0">
                  <a:pos x="48" y="96"/>
                </a:cxn>
              </a:cxnLst>
              <a:rect l="txL" t="txT" r="txR" b="txB"/>
              <a:pathLst>
                <a:path w="102" h="96">
                  <a:moveTo>
                    <a:pt x="48" y="96"/>
                  </a:moveTo>
                  <a:lnTo>
                    <a:pt x="30" y="90"/>
                  </a:lnTo>
                  <a:lnTo>
                    <a:pt x="18" y="84"/>
                  </a:lnTo>
                  <a:lnTo>
                    <a:pt x="6" y="66"/>
                  </a:lnTo>
                  <a:lnTo>
                    <a:pt x="0" y="48"/>
                  </a:lnTo>
                  <a:lnTo>
                    <a:pt x="6" y="30"/>
                  </a:lnTo>
                  <a:lnTo>
                    <a:pt x="18" y="18"/>
                  </a:lnTo>
                  <a:lnTo>
                    <a:pt x="30" y="6"/>
                  </a:lnTo>
                  <a:lnTo>
                    <a:pt x="48" y="0"/>
                  </a:lnTo>
                  <a:lnTo>
                    <a:pt x="72" y="6"/>
                  </a:lnTo>
                  <a:lnTo>
                    <a:pt x="84" y="18"/>
                  </a:lnTo>
                  <a:lnTo>
                    <a:pt x="96" y="30"/>
                  </a:lnTo>
                  <a:lnTo>
                    <a:pt x="102" y="48"/>
                  </a:lnTo>
                  <a:lnTo>
                    <a:pt x="96" y="66"/>
                  </a:lnTo>
                  <a:lnTo>
                    <a:pt x="84" y="84"/>
                  </a:lnTo>
                  <a:lnTo>
                    <a:pt x="72" y="90"/>
                  </a:lnTo>
                  <a:lnTo>
                    <a:pt x="48" y="96"/>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53" name="Freeform 148"/>
            <p:cNvSpPr/>
            <p:nvPr/>
          </p:nvSpPr>
          <p:spPr>
            <a:xfrm>
              <a:off x="1878" y="2694"/>
              <a:ext cx="48" cy="48"/>
            </a:xfrm>
            <a:custGeom>
              <a:avLst/>
              <a:gdLst>
                <a:gd name="txL" fmla="*/ 0 w 48"/>
                <a:gd name="txT" fmla="*/ 0 h 48"/>
                <a:gd name="txR" fmla="*/ 48 w 48"/>
                <a:gd name="txB" fmla="*/ 48 h 48"/>
              </a:gdLst>
              <a:ahLst/>
              <a:cxnLst>
                <a:cxn ang="0">
                  <a:pos x="48" y="48"/>
                </a:cxn>
                <a:cxn ang="0">
                  <a:pos x="30" y="42"/>
                </a:cxn>
                <a:cxn ang="0">
                  <a:pos x="18" y="36"/>
                </a:cxn>
                <a:cxn ang="0">
                  <a:pos x="6" y="18"/>
                </a:cxn>
                <a:cxn ang="0">
                  <a:pos x="0" y="0"/>
                </a:cxn>
                <a:cxn ang="0">
                  <a:pos x="0" y="0"/>
                </a:cxn>
                <a:cxn ang="0">
                  <a:pos x="6" y="18"/>
                </a:cxn>
                <a:cxn ang="0">
                  <a:pos x="18" y="36"/>
                </a:cxn>
                <a:cxn ang="0">
                  <a:pos x="30" y="42"/>
                </a:cxn>
                <a:cxn ang="0">
                  <a:pos x="48" y="48"/>
                </a:cxn>
                <a:cxn ang="0">
                  <a:pos x="48" y="48"/>
                </a:cxn>
              </a:cxnLst>
              <a:rect l="txL" t="txT" r="txR" b="txB"/>
              <a:pathLst>
                <a:path w="48" h="48">
                  <a:moveTo>
                    <a:pt x="48" y="48"/>
                  </a:moveTo>
                  <a:lnTo>
                    <a:pt x="30" y="42"/>
                  </a:lnTo>
                  <a:lnTo>
                    <a:pt x="18" y="36"/>
                  </a:lnTo>
                  <a:lnTo>
                    <a:pt x="6" y="18"/>
                  </a:lnTo>
                  <a:lnTo>
                    <a:pt x="0" y="0"/>
                  </a:lnTo>
                  <a:lnTo>
                    <a:pt x="6" y="18"/>
                  </a:lnTo>
                  <a:lnTo>
                    <a:pt x="18" y="36"/>
                  </a:lnTo>
                  <a:lnTo>
                    <a:pt x="30" y="42"/>
                  </a:lnTo>
                  <a:lnTo>
                    <a:pt x="4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54" name="Freeform 149"/>
            <p:cNvSpPr>
              <a:spLocks noEditPoints="1"/>
            </p:cNvSpPr>
            <p:nvPr/>
          </p:nvSpPr>
          <p:spPr>
            <a:xfrm>
              <a:off x="1878" y="2646"/>
              <a:ext cx="48" cy="48"/>
            </a:xfrm>
            <a:custGeom>
              <a:avLst/>
              <a:gdLst>
                <a:gd name="txL" fmla="*/ 0 w 48"/>
                <a:gd name="txT" fmla="*/ 0 h 48"/>
                <a:gd name="txR" fmla="*/ 48 w 48"/>
                <a:gd name="txB" fmla="*/ 48 h 48"/>
              </a:gdLst>
              <a:ahLst/>
              <a:cxnLst>
                <a:cxn ang="0">
                  <a:pos x="0" y="48"/>
                </a:cxn>
                <a:cxn ang="0">
                  <a:pos x="6" y="30"/>
                </a:cxn>
                <a:cxn ang="0">
                  <a:pos x="18" y="18"/>
                </a:cxn>
                <a:cxn ang="0">
                  <a:pos x="30" y="6"/>
                </a:cxn>
                <a:cxn ang="0">
                  <a:pos x="48" y="0"/>
                </a:cxn>
                <a:cxn ang="0">
                  <a:pos x="48" y="0"/>
                </a:cxn>
                <a:cxn ang="0">
                  <a:pos x="30" y="6"/>
                </a:cxn>
                <a:cxn ang="0">
                  <a:pos x="18" y="18"/>
                </a:cxn>
                <a:cxn ang="0">
                  <a:pos x="6" y="30"/>
                </a:cxn>
                <a:cxn ang="0">
                  <a:pos x="0" y="48"/>
                </a:cxn>
                <a:cxn ang="0">
                  <a:pos x="0" y="48"/>
                </a:cxn>
                <a:cxn ang="0">
                  <a:pos x="0" y="48"/>
                </a:cxn>
                <a:cxn ang="0">
                  <a:pos x="0" y="48"/>
                </a:cxn>
                <a:cxn ang="0">
                  <a:pos x="0" y="48"/>
                </a:cxn>
              </a:cxnLst>
              <a:rect l="txL" t="txT" r="txR" b="txB"/>
              <a:pathLst>
                <a:path w="48" h="48">
                  <a:moveTo>
                    <a:pt x="0" y="48"/>
                  </a:moveTo>
                  <a:lnTo>
                    <a:pt x="6" y="30"/>
                  </a:lnTo>
                  <a:lnTo>
                    <a:pt x="18" y="18"/>
                  </a:lnTo>
                  <a:lnTo>
                    <a:pt x="30" y="6"/>
                  </a:lnTo>
                  <a:lnTo>
                    <a:pt x="48" y="0"/>
                  </a:lnTo>
                  <a:lnTo>
                    <a:pt x="30" y="6"/>
                  </a:lnTo>
                  <a:lnTo>
                    <a:pt x="18" y="18"/>
                  </a:lnTo>
                  <a:lnTo>
                    <a:pt x="6" y="30"/>
                  </a:lnTo>
                  <a:lnTo>
                    <a:pt x="0" y="48"/>
                  </a:lnTo>
                  <a:close/>
                  <a:moveTo>
                    <a:pt x="0" y="48"/>
                  </a:moveTo>
                  <a:lnTo>
                    <a:pt x="0"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55" name="Freeform 150"/>
            <p:cNvSpPr>
              <a:spLocks noEditPoints="1"/>
            </p:cNvSpPr>
            <p:nvPr/>
          </p:nvSpPr>
          <p:spPr>
            <a:xfrm>
              <a:off x="1926" y="2646"/>
              <a:ext cx="54" cy="48"/>
            </a:xfrm>
            <a:custGeom>
              <a:avLst/>
              <a:gdLst>
                <a:gd name="txL" fmla="*/ 0 w 54"/>
                <a:gd name="txT" fmla="*/ 0 h 48"/>
                <a:gd name="txR" fmla="*/ 54 w 54"/>
                <a:gd name="txB" fmla="*/ 48 h 48"/>
              </a:gdLst>
              <a:ahLst/>
              <a:cxnLst>
                <a:cxn ang="0">
                  <a:pos x="0" y="0"/>
                </a:cxn>
                <a:cxn ang="0">
                  <a:pos x="24" y="6"/>
                </a:cxn>
                <a:cxn ang="0">
                  <a:pos x="36" y="18"/>
                </a:cxn>
                <a:cxn ang="0">
                  <a:pos x="48" y="30"/>
                </a:cxn>
                <a:cxn ang="0">
                  <a:pos x="54" y="48"/>
                </a:cxn>
                <a:cxn ang="0">
                  <a:pos x="54" y="48"/>
                </a:cxn>
                <a:cxn ang="0">
                  <a:pos x="48" y="30"/>
                </a:cxn>
                <a:cxn ang="0">
                  <a:pos x="36" y="18"/>
                </a:cxn>
                <a:cxn ang="0">
                  <a:pos x="24" y="6"/>
                </a:cxn>
                <a:cxn ang="0">
                  <a:pos x="0" y="0"/>
                </a:cxn>
                <a:cxn ang="0">
                  <a:pos x="0" y="0"/>
                </a:cxn>
                <a:cxn ang="0">
                  <a:pos x="0" y="0"/>
                </a:cxn>
                <a:cxn ang="0">
                  <a:pos x="0" y="0"/>
                </a:cxn>
                <a:cxn ang="0">
                  <a:pos x="0" y="0"/>
                </a:cxn>
              </a:cxnLst>
              <a:rect l="txL" t="txT" r="txR" b="txB"/>
              <a:pathLst>
                <a:path w="54" h="48">
                  <a:moveTo>
                    <a:pt x="0" y="0"/>
                  </a:moveTo>
                  <a:lnTo>
                    <a:pt x="24" y="6"/>
                  </a:lnTo>
                  <a:lnTo>
                    <a:pt x="36" y="18"/>
                  </a:lnTo>
                  <a:lnTo>
                    <a:pt x="48" y="30"/>
                  </a:lnTo>
                  <a:lnTo>
                    <a:pt x="54" y="48"/>
                  </a:lnTo>
                  <a:lnTo>
                    <a:pt x="48" y="30"/>
                  </a:lnTo>
                  <a:lnTo>
                    <a:pt x="36" y="18"/>
                  </a:lnTo>
                  <a:lnTo>
                    <a:pt x="24" y="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56" name="Freeform 151"/>
            <p:cNvSpPr>
              <a:spLocks noEditPoints="1"/>
            </p:cNvSpPr>
            <p:nvPr/>
          </p:nvSpPr>
          <p:spPr>
            <a:xfrm>
              <a:off x="1926" y="2694"/>
              <a:ext cx="54" cy="48"/>
            </a:xfrm>
            <a:custGeom>
              <a:avLst/>
              <a:gdLst>
                <a:gd name="txL" fmla="*/ 0 w 54"/>
                <a:gd name="txT" fmla="*/ 0 h 48"/>
                <a:gd name="txR" fmla="*/ 54 w 54"/>
                <a:gd name="txB" fmla="*/ 48 h 48"/>
              </a:gdLst>
              <a:ahLst/>
              <a:cxnLst>
                <a:cxn ang="0">
                  <a:pos x="54" y="0"/>
                </a:cxn>
                <a:cxn ang="0">
                  <a:pos x="48" y="18"/>
                </a:cxn>
                <a:cxn ang="0">
                  <a:pos x="36" y="36"/>
                </a:cxn>
                <a:cxn ang="0">
                  <a:pos x="24" y="42"/>
                </a:cxn>
                <a:cxn ang="0">
                  <a:pos x="0" y="48"/>
                </a:cxn>
                <a:cxn ang="0">
                  <a:pos x="0" y="48"/>
                </a:cxn>
                <a:cxn ang="0">
                  <a:pos x="24" y="42"/>
                </a:cxn>
                <a:cxn ang="0">
                  <a:pos x="36" y="36"/>
                </a:cxn>
                <a:cxn ang="0">
                  <a:pos x="48" y="18"/>
                </a:cxn>
                <a:cxn ang="0">
                  <a:pos x="54" y="0"/>
                </a:cxn>
                <a:cxn ang="0">
                  <a:pos x="54" y="0"/>
                </a:cxn>
                <a:cxn ang="0">
                  <a:pos x="54" y="0"/>
                </a:cxn>
                <a:cxn ang="0">
                  <a:pos x="54" y="0"/>
                </a:cxn>
                <a:cxn ang="0">
                  <a:pos x="54" y="0"/>
                </a:cxn>
              </a:cxnLst>
              <a:rect l="txL" t="txT" r="txR" b="txB"/>
              <a:pathLst>
                <a:path w="54" h="48">
                  <a:moveTo>
                    <a:pt x="54" y="0"/>
                  </a:moveTo>
                  <a:lnTo>
                    <a:pt x="48" y="18"/>
                  </a:lnTo>
                  <a:lnTo>
                    <a:pt x="36" y="36"/>
                  </a:lnTo>
                  <a:lnTo>
                    <a:pt x="24" y="42"/>
                  </a:lnTo>
                  <a:lnTo>
                    <a:pt x="0" y="48"/>
                  </a:lnTo>
                  <a:lnTo>
                    <a:pt x="24" y="42"/>
                  </a:lnTo>
                  <a:lnTo>
                    <a:pt x="36" y="36"/>
                  </a:lnTo>
                  <a:lnTo>
                    <a:pt x="48" y="18"/>
                  </a:lnTo>
                  <a:lnTo>
                    <a:pt x="54" y="0"/>
                  </a:lnTo>
                  <a:close/>
                  <a:moveTo>
                    <a:pt x="54" y="0"/>
                  </a:moveTo>
                  <a:lnTo>
                    <a:pt x="5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57" name="Freeform 152"/>
            <p:cNvSpPr/>
            <p:nvPr/>
          </p:nvSpPr>
          <p:spPr>
            <a:xfrm>
              <a:off x="1926" y="2742"/>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58" name="Freeform 153"/>
            <p:cNvSpPr/>
            <p:nvPr/>
          </p:nvSpPr>
          <p:spPr>
            <a:xfrm>
              <a:off x="1884" y="3667"/>
              <a:ext cx="96" cy="96"/>
            </a:xfrm>
            <a:custGeom>
              <a:avLst/>
              <a:gdLst>
                <a:gd name="txL" fmla="*/ 0 w 96"/>
                <a:gd name="txT" fmla="*/ 0 h 96"/>
                <a:gd name="txR" fmla="*/ 96 w 96"/>
                <a:gd name="txB" fmla="*/ 96 h 96"/>
              </a:gdLst>
              <a:ahLst/>
              <a:cxnLst>
                <a:cxn ang="0">
                  <a:pos x="48" y="96"/>
                </a:cxn>
                <a:cxn ang="0">
                  <a:pos x="30" y="90"/>
                </a:cxn>
                <a:cxn ang="0">
                  <a:pos x="12" y="84"/>
                </a:cxn>
                <a:cxn ang="0">
                  <a:pos x="6" y="66"/>
                </a:cxn>
                <a:cxn ang="0">
                  <a:pos x="0" y="48"/>
                </a:cxn>
                <a:cxn ang="0">
                  <a:pos x="6" y="30"/>
                </a:cxn>
                <a:cxn ang="0">
                  <a:pos x="12" y="18"/>
                </a:cxn>
                <a:cxn ang="0">
                  <a:pos x="30" y="6"/>
                </a:cxn>
                <a:cxn ang="0">
                  <a:pos x="48" y="0"/>
                </a:cxn>
                <a:cxn ang="0">
                  <a:pos x="66" y="6"/>
                </a:cxn>
                <a:cxn ang="0">
                  <a:pos x="84" y="18"/>
                </a:cxn>
                <a:cxn ang="0">
                  <a:pos x="90" y="30"/>
                </a:cxn>
                <a:cxn ang="0">
                  <a:pos x="96" y="48"/>
                </a:cxn>
                <a:cxn ang="0">
                  <a:pos x="90" y="66"/>
                </a:cxn>
                <a:cxn ang="0">
                  <a:pos x="84" y="84"/>
                </a:cxn>
                <a:cxn ang="0">
                  <a:pos x="66" y="90"/>
                </a:cxn>
                <a:cxn ang="0">
                  <a:pos x="48" y="96"/>
                </a:cxn>
                <a:cxn ang="0">
                  <a:pos x="48" y="96"/>
                </a:cxn>
              </a:cxnLst>
              <a:rect l="txL" t="txT" r="txR" b="txB"/>
              <a:pathLst>
                <a:path w="96" h="96">
                  <a:moveTo>
                    <a:pt x="48" y="96"/>
                  </a:moveTo>
                  <a:lnTo>
                    <a:pt x="30" y="90"/>
                  </a:lnTo>
                  <a:lnTo>
                    <a:pt x="12" y="84"/>
                  </a:lnTo>
                  <a:lnTo>
                    <a:pt x="6" y="66"/>
                  </a:lnTo>
                  <a:lnTo>
                    <a:pt x="0" y="48"/>
                  </a:lnTo>
                  <a:lnTo>
                    <a:pt x="6" y="30"/>
                  </a:lnTo>
                  <a:lnTo>
                    <a:pt x="12" y="18"/>
                  </a:lnTo>
                  <a:lnTo>
                    <a:pt x="30" y="6"/>
                  </a:lnTo>
                  <a:lnTo>
                    <a:pt x="48" y="0"/>
                  </a:lnTo>
                  <a:lnTo>
                    <a:pt x="66" y="6"/>
                  </a:lnTo>
                  <a:lnTo>
                    <a:pt x="84" y="18"/>
                  </a:lnTo>
                  <a:lnTo>
                    <a:pt x="90" y="30"/>
                  </a:lnTo>
                  <a:lnTo>
                    <a:pt x="96" y="48"/>
                  </a:lnTo>
                  <a:lnTo>
                    <a:pt x="90" y="66"/>
                  </a:lnTo>
                  <a:lnTo>
                    <a:pt x="84" y="84"/>
                  </a:lnTo>
                  <a:lnTo>
                    <a:pt x="66" y="90"/>
                  </a:lnTo>
                  <a:lnTo>
                    <a:pt x="48" y="96"/>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59" name="Freeform 154"/>
            <p:cNvSpPr/>
            <p:nvPr/>
          </p:nvSpPr>
          <p:spPr>
            <a:xfrm>
              <a:off x="1884" y="3715"/>
              <a:ext cx="48" cy="48"/>
            </a:xfrm>
            <a:custGeom>
              <a:avLst/>
              <a:gdLst>
                <a:gd name="txL" fmla="*/ 0 w 48"/>
                <a:gd name="txT" fmla="*/ 0 h 48"/>
                <a:gd name="txR" fmla="*/ 48 w 48"/>
                <a:gd name="txB" fmla="*/ 48 h 48"/>
              </a:gdLst>
              <a:ahLst/>
              <a:cxnLst>
                <a:cxn ang="0">
                  <a:pos x="48" y="48"/>
                </a:cxn>
                <a:cxn ang="0">
                  <a:pos x="30" y="42"/>
                </a:cxn>
                <a:cxn ang="0">
                  <a:pos x="12" y="36"/>
                </a:cxn>
                <a:cxn ang="0">
                  <a:pos x="6" y="18"/>
                </a:cxn>
                <a:cxn ang="0">
                  <a:pos x="0" y="0"/>
                </a:cxn>
                <a:cxn ang="0">
                  <a:pos x="0" y="0"/>
                </a:cxn>
                <a:cxn ang="0">
                  <a:pos x="6" y="18"/>
                </a:cxn>
                <a:cxn ang="0">
                  <a:pos x="12" y="36"/>
                </a:cxn>
                <a:cxn ang="0">
                  <a:pos x="30" y="42"/>
                </a:cxn>
                <a:cxn ang="0">
                  <a:pos x="48" y="48"/>
                </a:cxn>
                <a:cxn ang="0">
                  <a:pos x="48" y="48"/>
                </a:cxn>
              </a:cxnLst>
              <a:rect l="txL" t="txT" r="txR" b="txB"/>
              <a:pathLst>
                <a:path w="48" h="48">
                  <a:moveTo>
                    <a:pt x="48" y="48"/>
                  </a:moveTo>
                  <a:lnTo>
                    <a:pt x="30" y="42"/>
                  </a:lnTo>
                  <a:lnTo>
                    <a:pt x="12" y="36"/>
                  </a:lnTo>
                  <a:lnTo>
                    <a:pt x="6" y="18"/>
                  </a:lnTo>
                  <a:lnTo>
                    <a:pt x="0" y="0"/>
                  </a:lnTo>
                  <a:lnTo>
                    <a:pt x="6" y="18"/>
                  </a:lnTo>
                  <a:lnTo>
                    <a:pt x="12" y="36"/>
                  </a:lnTo>
                  <a:lnTo>
                    <a:pt x="30" y="42"/>
                  </a:lnTo>
                  <a:lnTo>
                    <a:pt x="48"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60" name="Freeform 155"/>
            <p:cNvSpPr>
              <a:spLocks noEditPoints="1"/>
            </p:cNvSpPr>
            <p:nvPr/>
          </p:nvSpPr>
          <p:spPr>
            <a:xfrm>
              <a:off x="1884" y="3667"/>
              <a:ext cx="48" cy="48"/>
            </a:xfrm>
            <a:custGeom>
              <a:avLst/>
              <a:gdLst>
                <a:gd name="txL" fmla="*/ 0 w 48"/>
                <a:gd name="txT" fmla="*/ 0 h 48"/>
                <a:gd name="txR" fmla="*/ 48 w 48"/>
                <a:gd name="txB" fmla="*/ 48 h 48"/>
              </a:gdLst>
              <a:ahLst/>
              <a:cxnLst>
                <a:cxn ang="0">
                  <a:pos x="0" y="48"/>
                </a:cxn>
                <a:cxn ang="0">
                  <a:pos x="6" y="30"/>
                </a:cxn>
                <a:cxn ang="0">
                  <a:pos x="12" y="18"/>
                </a:cxn>
                <a:cxn ang="0">
                  <a:pos x="30" y="6"/>
                </a:cxn>
                <a:cxn ang="0">
                  <a:pos x="48" y="0"/>
                </a:cxn>
                <a:cxn ang="0">
                  <a:pos x="48" y="0"/>
                </a:cxn>
                <a:cxn ang="0">
                  <a:pos x="30" y="6"/>
                </a:cxn>
                <a:cxn ang="0">
                  <a:pos x="12" y="18"/>
                </a:cxn>
                <a:cxn ang="0">
                  <a:pos x="6" y="30"/>
                </a:cxn>
                <a:cxn ang="0">
                  <a:pos x="0" y="48"/>
                </a:cxn>
                <a:cxn ang="0">
                  <a:pos x="0" y="48"/>
                </a:cxn>
                <a:cxn ang="0">
                  <a:pos x="0" y="48"/>
                </a:cxn>
                <a:cxn ang="0">
                  <a:pos x="0" y="48"/>
                </a:cxn>
                <a:cxn ang="0">
                  <a:pos x="0" y="48"/>
                </a:cxn>
              </a:cxnLst>
              <a:rect l="txL" t="txT" r="txR" b="txB"/>
              <a:pathLst>
                <a:path w="48" h="48">
                  <a:moveTo>
                    <a:pt x="0" y="48"/>
                  </a:moveTo>
                  <a:lnTo>
                    <a:pt x="6" y="30"/>
                  </a:lnTo>
                  <a:lnTo>
                    <a:pt x="12" y="18"/>
                  </a:lnTo>
                  <a:lnTo>
                    <a:pt x="30" y="6"/>
                  </a:lnTo>
                  <a:lnTo>
                    <a:pt x="48" y="0"/>
                  </a:lnTo>
                  <a:lnTo>
                    <a:pt x="30" y="6"/>
                  </a:lnTo>
                  <a:lnTo>
                    <a:pt x="12" y="18"/>
                  </a:lnTo>
                  <a:lnTo>
                    <a:pt x="6" y="30"/>
                  </a:lnTo>
                  <a:lnTo>
                    <a:pt x="0" y="48"/>
                  </a:lnTo>
                  <a:close/>
                  <a:moveTo>
                    <a:pt x="0" y="48"/>
                  </a:moveTo>
                  <a:lnTo>
                    <a:pt x="0" y="4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61" name="Freeform 156"/>
            <p:cNvSpPr>
              <a:spLocks noEditPoints="1"/>
            </p:cNvSpPr>
            <p:nvPr/>
          </p:nvSpPr>
          <p:spPr>
            <a:xfrm>
              <a:off x="1932" y="3667"/>
              <a:ext cx="48" cy="48"/>
            </a:xfrm>
            <a:custGeom>
              <a:avLst/>
              <a:gdLst>
                <a:gd name="txL" fmla="*/ 0 w 48"/>
                <a:gd name="txT" fmla="*/ 0 h 48"/>
                <a:gd name="txR" fmla="*/ 48 w 48"/>
                <a:gd name="txB" fmla="*/ 48 h 48"/>
              </a:gdLst>
              <a:ahLst/>
              <a:cxnLst>
                <a:cxn ang="0">
                  <a:pos x="0" y="0"/>
                </a:cxn>
                <a:cxn ang="0">
                  <a:pos x="18" y="6"/>
                </a:cxn>
                <a:cxn ang="0">
                  <a:pos x="36" y="18"/>
                </a:cxn>
                <a:cxn ang="0">
                  <a:pos x="42" y="30"/>
                </a:cxn>
                <a:cxn ang="0">
                  <a:pos x="48" y="48"/>
                </a:cxn>
                <a:cxn ang="0">
                  <a:pos x="48" y="48"/>
                </a:cxn>
                <a:cxn ang="0">
                  <a:pos x="42" y="30"/>
                </a:cxn>
                <a:cxn ang="0">
                  <a:pos x="36" y="18"/>
                </a:cxn>
                <a:cxn ang="0">
                  <a:pos x="18" y="6"/>
                </a:cxn>
                <a:cxn ang="0">
                  <a:pos x="0" y="0"/>
                </a:cxn>
                <a:cxn ang="0">
                  <a:pos x="0" y="0"/>
                </a:cxn>
                <a:cxn ang="0">
                  <a:pos x="0" y="0"/>
                </a:cxn>
                <a:cxn ang="0">
                  <a:pos x="0" y="0"/>
                </a:cxn>
                <a:cxn ang="0">
                  <a:pos x="0" y="0"/>
                </a:cxn>
              </a:cxnLst>
              <a:rect l="txL" t="txT" r="txR" b="txB"/>
              <a:pathLst>
                <a:path w="48" h="48">
                  <a:moveTo>
                    <a:pt x="0" y="0"/>
                  </a:moveTo>
                  <a:lnTo>
                    <a:pt x="18" y="6"/>
                  </a:lnTo>
                  <a:lnTo>
                    <a:pt x="36" y="18"/>
                  </a:lnTo>
                  <a:lnTo>
                    <a:pt x="42" y="30"/>
                  </a:lnTo>
                  <a:lnTo>
                    <a:pt x="48" y="48"/>
                  </a:lnTo>
                  <a:lnTo>
                    <a:pt x="42" y="30"/>
                  </a:lnTo>
                  <a:lnTo>
                    <a:pt x="36" y="18"/>
                  </a:lnTo>
                  <a:lnTo>
                    <a:pt x="18" y="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62" name="Freeform 157"/>
            <p:cNvSpPr>
              <a:spLocks noEditPoints="1"/>
            </p:cNvSpPr>
            <p:nvPr/>
          </p:nvSpPr>
          <p:spPr>
            <a:xfrm>
              <a:off x="1932" y="3715"/>
              <a:ext cx="48" cy="48"/>
            </a:xfrm>
            <a:custGeom>
              <a:avLst/>
              <a:gdLst>
                <a:gd name="txL" fmla="*/ 0 w 48"/>
                <a:gd name="txT" fmla="*/ 0 h 48"/>
                <a:gd name="txR" fmla="*/ 48 w 48"/>
                <a:gd name="txB" fmla="*/ 48 h 48"/>
              </a:gdLst>
              <a:ahLst/>
              <a:cxnLst>
                <a:cxn ang="0">
                  <a:pos x="48" y="0"/>
                </a:cxn>
                <a:cxn ang="0">
                  <a:pos x="42" y="18"/>
                </a:cxn>
                <a:cxn ang="0">
                  <a:pos x="36" y="36"/>
                </a:cxn>
                <a:cxn ang="0">
                  <a:pos x="18" y="42"/>
                </a:cxn>
                <a:cxn ang="0">
                  <a:pos x="0" y="48"/>
                </a:cxn>
                <a:cxn ang="0">
                  <a:pos x="0" y="48"/>
                </a:cxn>
                <a:cxn ang="0">
                  <a:pos x="18" y="42"/>
                </a:cxn>
                <a:cxn ang="0">
                  <a:pos x="36" y="36"/>
                </a:cxn>
                <a:cxn ang="0">
                  <a:pos x="42" y="18"/>
                </a:cxn>
                <a:cxn ang="0">
                  <a:pos x="48" y="0"/>
                </a:cxn>
                <a:cxn ang="0">
                  <a:pos x="48" y="0"/>
                </a:cxn>
                <a:cxn ang="0">
                  <a:pos x="48" y="0"/>
                </a:cxn>
                <a:cxn ang="0">
                  <a:pos x="48" y="0"/>
                </a:cxn>
                <a:cxn ang="0">
                  <a:pos x="48" y="0"/>
                </a:cxn>
              </a:cxnLst>
              <a:rect l="txL" t="txT" r="txR" b="txB"/>
              <a:pathLst>
                <a:path w="48" h="48">
                  <a:moveTo>
                    <a:pt x="48" y="0"/>
                  </a:moveTo>
                  <a:lnTo>
                    <a:pt x="42" y="18"/>
                  </a:lnTo>
                  <a:lnTo>
                    <a:pt x="36" y="36"/>
                  </a:lnTo>
                  <a:lnTo>
                    <a:pt x="18" y="42"/>
                  </a:lnTo>
                  <a:lnTo>
                    <a:pt x="0" y="48"/>
                  </a:lnTo>
                  <a:lnTo>
                    <a:pt x="18" y="42"/>
                  </a:lnTo>
                  <a:lnTo>
                    <a:pt x="36" y="36"/>
                  </a:lnTo>
                  <a:lnTo>
                    <a:pt x="42" y="18"/>
                  </a:lnTo>
                  <a:lnTo>
                    <a:pt x="48" y="0"/>
                  </a:lnTo>
                  <a:close/>
                  <a:moveTo>
                    <a:pt x="48" y="0"/>
                  </a:moveTo>
                  <a:lnTo>
                    <a:pt x="4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63" name="Freeform 158"/>
            <p:cNvSpPr/>
            <p:nvPr/>
          </p:nvSpPr>
          <p:spPr>
            <a:xfrm>
              <a:off x="1932" y="3763"/>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3764" name="Freeform 159"/>
            <p:cNvSpPr/>
            <p:nvPr/>
          </p:nvSpPr>
          <p:spPr>
            <a:xfrm>
              <a:off x="3547" y="2999"/>
              <a:ext cx="84" cy="418"/>
            </a:xfrm>
            <a:custGeom>
              <a:avLst/>
              <a:gdLst>
                <a:gd name="txL" fmla="*/ 0 w 84"/>
                <a:gd name="txT" fmla="*/ 0 h 418"/>
                <a:gd name="txR" fmla="*/ 84 w 84"/>
                <a:gd name="txB" fmla="*/ 418 h 418"/>
              </a:gdLst>
              <a:ahLst/>
              <a:cxnLst>
                <a:cxn ang="0">
                  <a:pos x="0" y="418"/>
                </a:cxn>
                <a:cxn ang="0">
                  <a:pos x="84" y="418"/>
                </a:cxn>
                <a:cxn ang="0">
                  <a:pos x="84" y="0"/>
                </a:cxn>
                <a:cxn ang="0">
                  <a:pos x="0" y="0"/>
                </a:cxn>
                <a:cxn ang="0">
                  <a:pos x="0" y="418"/>
                </a:cxn>
                <a:cxn ang="0">
                  <a:pos x="0" y="418"/>
                </a:cxn>
              </a:cxnLst>
              <a:rect l="txL" t="txT" r="txR" b="txB"/>
              <a:pathLst>
                <a:path w="84" h="418">
                  <a:moveTo>
                    <a:pt x="0" y="418"/>
                  </a:moveTo>
                  <a:lnTo>
                    <a:pt x="84" y="418"/>
                  </a:lnTo>
                  <a:lnTo>
                    <a:pt x="84" y="0"/>
                  </a:lnTo>
                  <a:lnTo>
                    <a:pt x="0" y="0"/>
                  </a:lnTo>
                  <a:lnTo>
                    <a:pt x="0" y="418"/>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3765" name="Freeform 160"/>
            <p:cNvSpPr/>
            <p:nvPr/>
          </p:nvSpPr>
          <p:spPr>
            <a:xfrm>
              <a:off x="3589" y="3004"/>
              <a:ext cx="89" cy="66"/>
            </a:xfrm>
            <a:custGeom>
              <a:avLst/>
              <a:gdLst>
                <a:gd name="txL" fmla="*/ 0 w 89"/>
                <a:gd name="txT" fmla="*/ 0 h 66"/>
                <a:gd name="txR" fmla="*/ 89 w 89"/>
                <a:gd name="txB" fmla="*/ 66 h 66"/>
              </a:gdLst>
              <a:ahLst/>
              <a:cxnLst>
                <a:cxn ang="0">
                  <a:pos x="0" y="0"/>
                </a:cxn>
                <a:cxn ang="0">
                  <a:pos x="36" y="6"/>
                </a:cxn>
                <a:cxn ang="0">
                  <a:pos x="66" y="18"/>
                </a:cxn>
                <a:cxn ang="0">
                  <a:pos x="83" y="42"/>
                </a:cxn>
                <a:cxn ang="0">
                  <a:pos x="89" y="66"/>
                </a:cxn>
                <a:cxn ang="0">
                  <a:pos x="89" y="66"/>
                </a:cxn>
                <a:cxn ang="0">
                  <a:pos x="83" y="42"/>
                </a:cxn>
                <a:cxn ang="0">
                  <a:pos x="66" y="18"/>
                </a:cxn>
                <a:cxn ang="0">
                  <a:pos x="36" y="6"/>
                </a:cxn>
                <a:cxn ang="0">
                  <a:pos x="0" y="0"/>
                </a:cxn>
                <a:cxn ang="0">
                  <a:pos x="0" y="0"/>
                </a:cxn>
              </a:cxnLst>
              <a:rect l="txL" t="txT" r="txR" b="txB"/>
              <a:pathLst>
                <a:path w="89" h="66">
                  <a:moveTo>
                    <a:pt x="0" y="0"/>
                  </a:moveTo>
                  <a:lnTo>
                    <a:pt x="36" y="6"/>
                  </a:lnTo>
                  <a:lnTo>
                    <a:pt x="66" y="18"/>
                  </a:lnTo>
                  <a:lnTo>
                    <a:pt x="83" y="42"/>
                  </a:lnTo>
                  <a:lnTo>
                    <a:pt x="89" y="66"/>
                  </a:lnTo>
                  <a:lnTo>
                    <a:pt x="83" y="42"/>
                  </a:lnTo>
                  <a:lnTo>
                    <a:pt x="66" y="18"/>
                  </a:lnTo>
                  <a:lnTo>
                    <a:pt x="36" y="6"/>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66" name="Freeform 161"/>
            <p:cNvSpPr>
              <a:spLocks noEditPoints="1"/>
            </p:cNvSpPr>
            <p:nvPr/>
          </p:nvSpPr>
          <p:spPr>
            <a:xfrm>
              <a:off x="3589" y="3070"/>
              <a:ext cx="89" cy="60"/>
            </a:xfrm>
            <a:custGeom>
              <a:avLst/>
              <a:gdLst>
                <a:gd name="txL" fmla="*/ 0 w 89"/>
                <a:gd name="txT" fmla="*/ 0 h 60"/>
                <a:gd name="txR" fmla="*/ 89 w 89"/>
                <a:gd name="txB" fmla="*/ 60 h 60"/>
              </a:gdLst>
              <a:ahLst/>
              <a:cxnLst>
                <a:cxn ang="0">
                  <a:pos x="89" y="0"/>
                </a:cxn>
                <a:cxn ang="0">
                  <a:pos x="83" y="24"/>
                </a:cxn>
                <a:cxn ang="0">
                  <a:pos x="66" y="42"/>
                </a:cxn>
                <a:cxn ang="0">
                  <a:pos x="36" y="54"/>
                </a:cxn>
                <a:cxn ang="0">
                  <a:pos x="0" y="60"/>
                </a:cxn>
                <a:cxn ang="0">
                  <a:pos x="0" y="60"/>
                </a:cxn>
                <a:cxn ang="0">
                  <a:pos x="36" y="54"/>
                </a:cxn>
                <a:cxn ang="0">
                  <a:pos x="66" y="42"/>
                </a:cxn>
                <a:cxn ang="0">
                  <a:pos x="83" y="24"/>
                </a:cxn>
                <a:cxn ang="0">
                  <a:pos x="89" y="0"/>
                </a:cxn>
                <a:cxn ang="0">
                  <a:pos x="89" y="0"/>
                </a:cxn>
                <a:cxn ang="0">
                  <a:pos x="89" y="0"/>
                </a:cxn>
                <a:cxn ang="0">
                  <a:pos x="89" y="0"/>
                </a:cxn>
                <a:cxn ang="0">
                  <a:pos x="89" y="0"/>
                </a:cxn>
              </a:cxnLst>
              <a:rect l="txL" t="txT" r="txR" b="txB"/>
              <a:pathLst>
                <a:path w="89" h="60">
                  <a:moveTo>
                    <a:pt x="89" y="0"/>
                  </a:moveTo>
                  <a:lnTo>
                    <a:pt x="83" y="24"/>
                  </a:lnTo>
                  <a:lnTo>
                    <a:pt x="66" y="42"/>
                  </a:lnTo>
                  <a:lnTo>
                    <a:pt x="36" y="54"/>
                  </a:lnTo>
                  <a:lnTo>
                    <a:pt x="0" y="60"/>
                  </a:lnTo>
                  <a:lnTo>
                    <a:pt x="36" y="54"/>
                  </a:lnTo>
                  <a:lnTo>
                    <a:pt x="66" y="42"/>
                  </a:lnTo>
                  <a:lnTo>
                    <a:pt x="83" y="24"/>
                  </a:lnTo>
                  <a:lnTo>
                    <a:pt x="89" y="0"/>
                  </a:lnTo>
                  <a:close/>
                  <a:moveTo>
                    <a:pt x="89" y="0"/>
                  </a:moveTo>
                  <a:lnTo>
                    <a:pt x="8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67" name="Freeform 162"/>
            <p:cNvSpPr>
              <a:spLocks noEditPoints="1"/>
            </p:cNvSpPr>
            <p:nvPr/>
          </p:nvSpPr>
          <p:spPr>
            <a:xfrm>
              <a:off x="3529" y="3112"/>
              <a:ext cx="60" cy="18"/>
            </a:xfrm>
            <a:custGeom>
              <a:avLst/>
              <a:gdLst>
                <a:gd name="txL" fmla="*/ 0 w 60"/>
                <a:gd name="txT" fmla="*/ 0 h 18"/>
                <a:gd name="txR" fmla="*/ 60 w 60"/>
                <a:gd name="txB" fmla="*/ 18 h 18"/>
              </a:gdLst>
              <a:ahLst/>
              <a:cxnLst>
                <a:cxn ang="0">
                  <a:pos x="60" y="18"/>
                </a:cxn>
                <a:cxn ang="0">
                  <a:pos x="24" y="12"/>
                </a:cxn>
                <a:cxn ang="0">
                  <a:pos x="0" y="6"/>
                </a:cxn>
                <a:cxn ang="0">
                  <a:pos x="0" y="0"/>
                </a:cxn>
                <a:cxn ang="0">
                  <a:pos x="24" y="12"/>
                </a:cxn>
                <a:cxn ang="0">
                  <a:pos x="60" y="18"/>
                </a:cxn>
                <a:cxn ang="0">
                  <a:pos x="60" y="18"/>
                </a:cxn>
                <a:cxn ang="0">
                  <a:pos x="60" y="18"/>
                </a:cxn>
                <a:cxn ang="0">
                  <a:pos x="60" y="18"/>
                </a:cxn>
                <a:cxn ang="0">
                  <a:pos x="60" y="18"/>
                </a:cxn>
              </a:cxnLst>
              <a:rect l="txL" t="txT" r="txR" b="txB"/>
              <a:pathLst>
                <a:path w="60" h="18">
                  <a:moveTo>
                    <a:pt x="60" y="18"/>
                  </a:moveTo>
                  <a:lnTo>
                    <a:pt x="24" y="12"/>
                  </a:lnTo>
                  <a:lnTo>
                    <a:pt x="0" y="6"/>
                  </a:lnTo>
                  <a:lnTo>
                    <a:pt x="0" y="0"/>
                  </a:lnTo>
                  <a:lnTo>
                    <a:pt x="24" y="12"/>
                  </a:lnTo>
                  <a:lnTo>
                    <a:pt x="60" y="18"/>
                  </a:lnTo>
                  <a:close/>
                  <a:moveTo>
                    <a:pt x="60" y="18"/>
                  </a:moveTo>
                  <a:lnTo>
                    <a:pt x="6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68" name="Freeform 163"/>
            <p:cNvSpPr>
              <a:spLocks noEditPoints="1"/>
            </p:cNvSpPr>
            <p:nvPr/>
          </p:nvSpPr>
          <p:spPr>
            <a:xfrm>
              <a:off x="3529" y="3100"/>
              <a:ext cx="60" cy="18"/>
            </a:xfrm>
            <a:custGeom>
              <a:avLst/>
              <a:gdLst>
                <a:gd name="txL" fmla="*/ 0 w 60"/>
                <a:gd name="txT" fmla="*/ 0 h 18"/>
                <a:gd name="txR" fmla="*/ 60 w 60"/>
                <a:gd name="txB" fmla="*/ 18 h 18"/>
              </a:gdLst>
              <a:ahLst/>
              <a:cxnLst>
                <a:cxn ang="0">
                  <a:pos x="0" y="12"/>
                </a:cxn>
                <a:cxn ang="0">
                  <a:pos x="24" y="6"/>
                </a:cxn>
                <a:cxn ang="0">
                  <a:pos x="60" y="0"/>
                </a:cxn>
                <a:cxn ang="0">
                  <a:pos x="60" y="0"/>
                </a:cxn>
                <a:cxn ang="0">
                  <a:pos x="24" y="6"/>
                </a:cxn>
                <a:cxn ang="0">
                  <a:pos x="0" y="18"/>
                </a:cxn>
                <a:cxn ang="0">
                  <a:pos x="0" y="12"/>
                </a:cxn>
                <a:cxn ang="0">
                  <a:pos x="0" y="12"/>
                </a:cxn>
                <a:cxn ang="0">
                  <a:pos x="0" y="12"/>
                </a:cxn>
                <a:cxn ang="0">
                  <a:pos x="0" y="12"/>
                </a:cxn>
              </a:cxnLst>
              <a:rect l="txL" t="txT" r="txR" b="txB"/>
              <a:pathLst>
                <a:path w="60" h="18">
                  <a:moveTo>
                    <a:pt x="0" y="12"/>
                  </a:moveTo>
                  <a:lnTo>
                    <a:pt x="24" y="6"/>
                  </a:lnTo>
                  <a:lnTo>
                    <a:pt x="60" y="0"/>
                  </a:lnTo>
                  <a:lnTo>
                    <a:pt x="24" y="6"/>
                  </a:lnTo>
                  <a:lnTo>
                    <a:pt x="0" y="18"/>
                  </a:lnTo>
                  <a:lnTo>
                    <a:pt x="0" y="12"/>
                  </a:lnTo>
                  <a:close/>
                  <a:moveTo>
                    <a:pt x="0" y="12"/>
                  </a:moveTo>
                  <a:lnTo>
                    <a:pt x="0" y="12"/>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69" name="Freeform 164"/>
            <p:cNvSpPr>
              <a:spLocks noEditPoints="1"/>
            </p:cNvSpPr>
            <p:nvPr/>
          </p:nvSpPr>
          <p:spPr>
            <a:xfrm>
              <a:off x="3589" y="3100"/>
              <a:ext cx="89" cy="60"/>
            </a:xfrm>
            <a:custGeom>
              <a:avLst/>
              <a:gdLst>
                <a:gd name="txL" fmla="*/ 0 w 89"/>
                <a:gd name="txT" fmla="*/ 0 h 60"/>
                <a:gd name="txR" fmla="*/ 89 w 89"/>
                <a:gd name="txB" fmla="*/ 60 h 60"/>
              </a:gdLst>
              <a:ahLst/>
              <a:cxnLst>
                <a:cxn ang="0">
                  <a:pos x="0" y="0"/>
                </a:cxn>
                <a:cxn ang="0">
                  <a:pos x="36" y="6"/>
                </a:cxn>
                <a:cxn ang="0">
                  <a:pos x="66" y="18"/>
                </a:cxn>
                <a:cxn ang="0">
                  <a:pos x="83" y="36"/>
                </a:cxn>
                <a:cxn ang="0">
                  <a:pos x="89" y="60"/>
                </a:cxn>
                <a:cxn ang="0">
                  <a:pos x="89" y="60"/>
                </a:cxn>
                <a:cxn ang="0">
                  <a:pos x="83" y="36"/>
                </a:cxn>
                <a:cxn ang="0">
                  <a:pos x="66" y="18"/>
                </a:cxn>
                <a:cxn ang="0">
                  <a:pos x="36" y="6"/>
                </a:cxn>
                <a:cxn ang="0">
                  <a:pos x="0" y="0"/>
                </a:cxn>
                <a:cxn ang="0">
                  <a:pos x="0" y="0"/>
                </a:cxn>
                <a:cxn ang="0">
                  <a:pos x="0" y="0"/>
                </a:cxn>
                <a:cxn ang="0">
                  <a:pos x="0" y="0"/>
                </a:cxn>
                <a:cxn ang="0">
                  <a:pos x="0" y="0"/>
                </a:cxn>
              </a:cxnLst>
              <a:rect l="txL" t="txT" r="txR" b="txB"/>
              <a:pathLst>
                <a:path w="89" h="60">
                  <a:moveTo>
                    <a:pt x="0" y="0"/>
                  </a:moveTo>
                  <a:lnTo>
                    <a:pt x="36" y="6"/>
                  </a:lnTo>
                  <a:lnTo>
                    <a:pt x="66" y="18"/>
                  </a:lnTo>
                  <a:lnTo>
                    <a:pt x="83" y="36"/>
                  </a:lnTo>
                  <a:lnTo>
                    <a:pt x="89" y="60"/>
                  </a:lnTo>
                  <a:lnTo>
                    <a:pt x="83" y="36"/>
                  </a:lnTo>
                  <a:lnTo>
                    <a:pt x="66" y="18"/>
                  </a:lnTo>
                  <a:lnTo>
                    <a:pt x="36"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0" name="Freeform 165"/>
            <p:cNvSpPr>
              <a:spLocks noEditPoints="1"/>
            </p:cNvSpPr>
            <p:nvPr/>
          </p:nvSpPr>
          <p:spPr>
            <a:xfrm>
              <a:off x="3589" y="3160"/>
              <a:ext cx="89" cy="65"/>
            </a:xfrm>
            <a:custGeom>
              <a:avLst/>
              <a:gdLst>
                <a:gd name="txL" fmla="*/ 0 w 89"/>
                <a:gd name="txT" fmla="*/ 0 h 65"/>
                <a:gd name="txR" fmla="*/ 89 w 89"/>
                <a:gd name="txB" fmla="*/ 65 h 65"/>
              </a:gdLst>
              <a:ahLst/>
              <a:cxnLst>
                <a:cxn ang="0">
                  <a:pos x="89" y="0"/>
                </a:cxn>
                <a:cxn ang="0">
                  <a:pos x="83" y="24"/>
                </a:cxn>
                <a:cxn ang="0">
                  <a:pos x="66" y="48"/>
                </a:cxn>
                <a:cxn ang="0">
                  <a:pos x="36" y="59"/>
                </a:cxn>
                <a:cxn ang="0">
                  <a:pos x="0" y="65"/>
                </a:cxn>
                <a:cxn ang="0">
                  <a:pos x="0" y="65"/>
                </a:cxn>
                <a:cxn ang="0">
                  <a:pos x="36" y="59"/>
                </a:cxn>
                <a:cxn ang="0">
                  <a:pos x="66" y="48"/>
                </a:cxn>
                <a:cxn ang="0">
                  <a:pos x="83" y="24"/>
                </a:cxn>
                <a:cxn ang="0">
                  <a:pos x="89" y="0"/>
                </a:cxn>
                <a:cxn ang="0">
                  <a:pos x="89" y="0"/>
                </a:cxn>
                <a:cxn ang="0">
                  <a:pos x="89" y="0"/>
                </a:cxn>
                <a:cxn ang="0">
                  <a:pos x="89" y="0"/>
                </a:cxn>
                <a:cxn ang="0">
                  <a:pos x="89" y="0"/>
                </a:cxn>
              </a:cxnLst>
              <a:rect l="txL" t="txT" r="txR" b="txB"/>
              <a:pathLst>
                <a:path w="89" h="65">
                  <a:moveTo>
                    <a:pt x="89" y="0"/>
                  </a:moveTo>
                  <a:lnTo>
                    <a:pt x="83" y="24"/>
                  </a:lnTo>
                  <a:lnTo>
                    <a:pt x="66" y="48"/>
                  </a:lnTo>
                  <a:lnTo>
                    <a:pt x="36" y="59"/>
                  </a:lnTo>
                  <a:lnTo>
                    <a:pt x="0" y="65"/>
                  </a:lnTo>
                  <a:lnTo>
                    <a:pt x="36" y="59"/>
                  </a:lnTo>
                  <a:lnTo>
                    <a:pt x="66" y="48"/>
                  </a:lnTo>
                  <a:lnTo>
                    <a:pt x="83" y="24"/>
                  </a:lnTo>
                  <a:lnTo>
                    <a:pt x="89" y="0"/>
                  </a:lnTo>
                  <a:close/>
                  <a:moveTo>
                    <a:pt x="89" y="0"/>
                  </a:moveTo>
                  <a:lnTo>
                    <a:pt x="8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1" name="Freeform 166"/>
            <p:cNvSpPr>
              <a:spLocks noEditPoints="1"/>
            </p:cNvSpPr>
            <p:nvPr/>
          </p:nvSpPr>
          <p:spPr>
            <a:xfrm>
              <a:off x="3529" y="3208"/>
              <a:ext cx="60" cy="17"/>
            </a:xfrm>
            <a:custGeom>
              <a:avLst/>
              <a:gdLst>
                <a:gd name="txL" fmla="*/ 0 w 60"/>
                <a:gd name="txT" fmla="*/ 0 h 17"/>
                <a:gd name="txR" fmla="*/ 60 w 60"/>
                <a:gd name="txB" fmla="*/ 17 h 17"/>
              </a:gdLst>
              <a:ahLst/>
              <a:cxnLst>
                <a:cxn ang="0">
                  <a:pos x="60" y="17"/>
                </a:cxn>
                <a:cxn ang="0">
                  <a:pos x="24" y="11"/>
                </a:cxn>
                <a:cxn ang="0">
                  <a:pos x="0" y="0"/>
                </a:cxn>
                <a:cxn ang="0">
                  <a:pos x="0" y="0"/>
                </a:cxn>
                <a:cxn ang="0">
                  <a:pos x="24" y="11"/>
                </a:cxn>
                <a:cxn ang="0">
                  <a:pos x="60" y="17"/>
                </a:cxn>
                <a:cxn ang="0">
                  <a:pos x="60" y="17"/>
                </a:cxn>
                <a:cxn ang="0">
                  <a:pos x="60" y="17"/>
                </a:cxn>
                <a:cxn ang="0">
                  <a:pos x="60" y="17"/>
                </a:cxn>
                <a:cxn ang="0">
                  <a:pos x="60" y="17"/>
                </a:cxn>
              </a:cxnLst>
              <a:rect l="txL" t="txT" r="txR" b="txB"/>
              <a:pathLst>
                <a:path w="60" h="17">
                  <a:moveTo>
                    <a:pt x="60" y="17"/>
                  </a:moveTo>
                  <a:lnTo>
                    <a:pt x="24" y="11"/>
                  </a:lnTo>
                  <a:lnTo>
                    <a:pt x="0" y="0"/>
                  </a:lnTo>
                  <a:lnTo>
                    <a:pt x="24" y="11"/>
                  </a:lnTo>
                  <a:lnTo>
                    <a:pt x="60" y="17"/>
                  </a:lnTo>
                  <a:close/>
                  <a:moveTo>
                    <a:pt x="60" y="17"/>
                  </a:moveTo>
                  <a:lnTo>
                    <a:pt x="60" y="17"/>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2" name="Freeform 167"/>
            <p:cNvSpPr>
              <a:spLocks noEditPoints="1"/>
            </p:cNvSpPr>
            <p:nvPr/>
          </p:nvSpPr>
          <p:spPr>
            <a:xfrm>
              <a:off x="3529" y="3190"/>
              <a:ext cx="60" cy="18"/>
            </a:xfrm>
            <a:custGeom>
              <a:avLst/>
              <a:gdLst>
                <a:gd name="txL" fmla="*/ 0 w 60"/>
                <a:gd name="txT" fmla="*/ 0 h 18"/>
                <a:gd name="txR" fmla="*/ 60 w 60"/>
                <a:gd name="txB" fmla="*/ 18 h 18"/>
              </a:gdLst>
              <a:ahLst/>
              <a:cxnLst>
                <a:cxn ang="0">
                  <a:pos x="0" y="18"/>
                </a:cxn>
                <a:cxn ang="0">
                  <a:pos x="24" y="6"/>
                </a:cxn>
                <a:cxn ang="0">
                  <a:pos x="42" y="6"/>
                </a:cxn>
                <a:cxn ang="0">
                  <a:pos x="60" y="6"/>
                </a:cxn>
                <a:cxn ang="0">
                  <a:pos x="60" y="0"/>
                </a:cxn>
                <a:cxn ang="0">
                  <a:pos x="24" y="6"/>
                </a:cxn>
                <a:cxn ang="0">
                  <a:pos x="0" y="18"/>
                </a:cxn>
                <a:cxn ang="0">
                  <a:pos x="0" y="18"/>
                </a:cxn>
                <a:cxn ang="0">
                  <a:pos x="0" y="18"/>
                </a:cxn>
                <a:cxn ang="0">
                  <a:pos x="0" y="18"/>
                </a:cxn>
                <a:cxn ang="0">
                  <a:pos x="0" y="18"/>
                </a:cxn>
              </a:cxnLst>
              <a:rect l="txL" t="txT" r="txR" b="txB"/>
              <a:pathLst>
                <a:path w="60" h="18">
                  <a:moveTo>
                    <a:pt x="0" y="18"/>
                  </a:moveTo>
                  <a:lnTo>
                    <a:pt x="24" y="6"/>
                  </a:lnTo>
                  <a:lnTo>
                    <a:pt x="42" y="6"/>
                  </a:lnTo>
                  <a:lnTo>
                    <a:pt x="60" y="6"/>
                  </a:lnTo>
                  <a:lnTo>
                    <a:pt x="60" y="0"/>
                  </a:lnTo>
                  <a:lnTo>
                    <a:pt x="24" y="6"/>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3" name="Freeform 168"/>
            <p:cNvSpPr>
              <a:spLocks noEditPoints="1"/>
            </p:cNvSpPr>
            <p:nvPr/>
          </p:nvSpPr>
          <p:spPr>
            <a:xfrm>
              <a:off x="3589" y="3190"/>
              <a:ext cx="89" cy="65"/>
            </a:xfrm>
            <a:custGeom>
              <a:avLst/>
              <a:gdLst>
                <a:gd name="txL" fmla="*/ 0 w 89"/>
                <a:gd name="txT" fmla="*/ 0 h 65"/>
                <a:gd name="txR" fmla="*/ 89 w 89"/>
                <a:gd name="txB" fmla="*/ 65 h 65"/>
              </a:gdLst>
              <a:ahLst/>
              <a:cxnLst>
                <a:cxn ang="0">
                  <a:pos x="0" y="0"/>
                </a:cxn>
                <a:cxn ang="0">
                  <a:pos x="36" y="6"/>
                </a:cxn>
                <a:cxn ang="0">
                  <a:pos x="66" y="18"/>
                </a:cxn>
                <a:cxn ang="0">
                  <a:pos x="83" y="41"/>
                </a:cxn>
                <a:cxn ang="0">
                  <a:pos x="89" y="65"/>
                </a:cxn>
                <a:cxn ang="0">
                  <a:pos x="89" y="65"/>
                </a:cxn>
                <a:cxn ang="0">
                  <a:pos x="83" y="41"/>
                </a:cxn>
                <a:cxn ang="0">
                  <a:pos x="66" y="18"/>
                </a:cxn>
                <a:cxn ang="0">
                  <a:pos x="36" y="6"/>
                </a:cxn>
                <a:cxn ang="0">
                  <a:pos x="0" y="6"/>
                </a:cxn>
                <a:cxn ang="0">
                  <a:pos x="0" y="0"/>
                </a:cxn>
                <a:cxn ang="0">
                  <a:pos x="0" y="0"/>
                </a:cxn>
                <a:cxn ang="0">
                  <a:pos x="0" y="0"/>
                </a:cxn>
                <a:cxn ang="0">
                  <a:pos x="0" y="0"/>
                </a:cxn>
              </a:cxnLst>
              <a:rect l="txL" t="txT" r="txR" b="txB"/>
              <a:pathLst>
                <a:path w="89" h="65">
                  <a:moveTo>
                    <a:pt x="0" y="0"/>
                  </a:moveTo>
                  <a:lnTo>
                    <a:pt x="36" y="6"/>
                  </a:lnTo>
                  <a:lnTo>
                    <a:pt x="66" y="18"/>
                  </a:lnTo>
                  <a:lnTo>
                    <a:pt x="83" y="41"/>
                  </a:lnTo>
                  <a:lnTo>
                    <a:pt x="89" y="65"/>
                  </a:lnTo>
                  <a:lnTo>
                    <a:pt x="83" y="41"/>
                  </a:lnTo>
                  <a:lnTo>
                    <a:pt x="66" y="18"/>
                  </a:lnTo>
                  <a:lnTo>
                    <a:pt x="36" y="6"/>
                  </a:lnTo>
                  <a:lnTo>
                    <a:pt x="0"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4" name="Freeform 169"/>
            <p:cNvSpPr>
              <a:spLocks noEditPoints="1"/>
            </p:cNvSpPr>
            <p:nvPr/>
          </p:nvSpPr>
          <p:spPr>
            <a:xfrm>
              <a:off x="3589" y="3255"/>
              <a:ext cx="89" cy="66"/>
            </a:xfrm>
            <a:custGeom>
              <a:avLst/>
              <a:gdLst>
                <a:gd name="txL" fmla="*/ 0 w 89"/>
                <a:gd name="txT" fmla="*/ 0 h 66"/>
                <a:gd name="txR" fmla="*/ 89 w 89"/>
                <a:gd name="txB" fmla="*/ 66 h 66"/>
              </a:gdLst>
              <a:ahLst/>
              <a:cxnLst>
                <a:cxn ang="0">
                  <a:pos x="89" y="0"/>
                </a:cxn>
                <a:cxn ang="0">
                  <a:pos x="83" y="24"/>
                </a:cxn>
                <a:cxn ang="0">
                  <a:pos x="66" y="48"/>
                </a:cxn>
                <a:cxn ang="0">
                  <a:pos x="36" y="60"/>
                </a:cxn>
                <a:cxn ang="0">
                  <a:pos x="0" y="66"/>
                </a:cxn>
                <a:cxn ang="0">
                  <a:pos x="0" y="66"/>
                </a:cxn>
                <a:cxn ang="0">
                  <a:pos x="36" y="60"/>
                </a:cxn>
                <a:cxn ang="0">
                  <a:pos x="66" y="48"/>
                </a:cxn>
                <a:cxn ang="0">
                  <a:pos x="83" y="24"/>
                </a:cxn>
                <a:cxn ang="0">
                  <a:pos x="89" y="0"/>
                </a:cxn>
                <a:cxn ang="0">
                  <a:pos x="89" y="0"/>
                </a:cxn>
                <a:cxn ang="0">
                  <a:pos x="89" y="0"/>
                </a:cxn>
                <a:cxn ang="0">
                  <a:pos x="89" y="0"/>
                </a:cxn>
                <a:cxn ang="0">
                  <a:pos x="89" y="0"/>
                </a:cxn>
              </a:cxnLst>
              <a:rect l="txL" t="txT" r="txR" b="txB"/>
              <a:pathLst>
                <a:path w="89" h="66">
                  <a:moveTo>
                    <a:pt x="89" y="0"/>
                  </a:moveTo>
                  <a:lnTo>
                    <a:pt x="83" y="24"/>
                  </a:lnTo>
                  <a:lnTo>
                    <a:pt x="66" y="48"/>
                  </a:lnTo>
                  <a:lnTo>
                    <a:pt x="36" y="60"/>
                  </a:lnTo>
                  <a:lnTo>
                    <a:pt x="0" y="66"/>
                  </a:lnTo>
                  <a:lnTo>
                    <a:pt x="36" y="60"/>
                  </a:lnTo>
                  <a:lnTo>
                    <a:pt x="66" y="48"/>
                  </a:lnTo>
                  <a:lnTo>
                    <a:pt x="83" y="24"/>
                  </a:lnTo>
                  <a:lnTo>
                    <a:pt x="89" y="0"/>
                  </a:lnTo>
                  <a:close/>
                  <a:moveTo>
                    <a:pt x="89" y="0"/>
                  </a:moveTo>
                  <a:lnTo>
                    <a:pt x="8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5" name="Freeform 170"/>
            <p:cNvSpPr>
              <a:spLocks noEditPoints="1"/>
            </p:cNvSpPr>
            <p:nvPr/>
          </p:nvSpPr>
          <p:spPr>
            <a:xfrm>
              <a:off x="3529" y="3303"/>
              <a:ext cx="60" cy="18"/>
            </a:xfrm>
            <a:custGeom>
              <a:avLst/>
              <a:gdLst>
                <a:gd name="txL" fmla="*/ 0 w 60"/>
                <a:gd name="txT" fmla="*/ 0 h 18"/>
                <a:gd name="txR" fmla="*/ 60 w 60"/>
                <a:gd name="txB" fmla="*/ 18 h 18"/>
              </a:gdLst>
              <a:ahLst/>
              <a:cxnLst>
                <a:cxn ang="0">
                  <a:pos x="60" y="18"/>
                </a:cxn>
                <a:cxn ang="0">
                  <a:pos x="24" y="12"/>
                </a:cxn>
                <a:cxn ang="0">
                  <a:pos x="0" y="0"/>
                </a:cxn>
                <a:cxn ang="0">
                  <a:pos x="0" y="0"/>
                </a:cxn>
                <a:cxn ang="0">
                  <a:pos x="24" y="12"/>
                </a:cxn>
                <a:cxn ang="0">
                  <a:pos x="60" y="18"/>
                </a:cxn>
                <a:cxn ang="0">
                  <a:pos x="60" y="18"/>
                </a:cxn>
                <a:cxn ang="0">
                  <a:pos x="60" y="18"/>
                </a:cxn>
                <a:cxn ang="0">
                  <a:pos x="60" y="18"/>
                </a:cxn>
                <a:cxn ang="0">
                  <a:pos x="60" y="18"/>
                </a:cxn>
              </a:cxnLst>
              <a:rect l="txL" t="txT" r="txR" b="txB"/>
              <a:pathLst>
                <a:path w="60" h="18">
                  <a:moveTo>
                    <a:pt x="60" y="18"/>
                  </a:moveTo>
                  <a:lnTo>
                    <a:pt x="24" y="12"/>
                  </a:lnTo>
                  <a:lnTo>
                    <a:pt x="0" y="0"/>
                  </a:lnTo>
                  <a:lnTo>
                    <a:pt x="24" y="12"/>
                  </a:lnTo>
                  <a:lnTo>
                    <a:pt x="60" y="18"/>
                  </a:lnTo>
                  <a:close/>
                  <a:moveTo>
                    <a:pt x="60" y="18"/>
                  </a:moveTo>
                  <a:lnTo>
                    <a:pt x="6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6" name="Freeform 171"/>
            <p:cNvSpPr>
              <a:spLocks noEditPoints="1"/>
            </p:cNvSpPr>
            <p:nvPr/>
          </p:nvSpPr>
          <p:spPr>
            <a:xfrm>
              <a:off x="3529" y="3285"/>
              <a:ext cx="60" cy="18"/>
            </a:xfrm>
            <a:custGeom>
              <a:avLst/>
              <a:gdLst>
                <a:gd name="txL" fmla="*/ 0 w 60"/>
                <a:gd name="txT" fmla="*/ 0 h 18"/>
                <a:gd name="txR" fmla="*/ 60 w 60"/>
                <a:gd name="txB" fmla="*/ 18 h 18"/>
              </a:gdLst>
              <a:ahLst/>
              <a:cxnLst>
                <a:cxn ang="0">
                  <a:pos x="0" y="18"/>
                </a:cxn>
                <a:cxn ang="0">
                  <a:pos x="24" y="6"/>
                </a:cxn>
                <a:cxn ang="0">
                  <a:pos x="60" y="0"/>
                </a:cxn>
                <a:cxn ang="0">
                  <a:pos x="60" y="0"/>
                </a:cxn>
                <a:cxn ang="0">
                  <a:pos x="24" y="6"/>
                </a:cxn>
                <a:cxn ang="0">
                  <a:pos x="0" y="18"/>
                </a:cxn>
                <a:cxn ang="0">
                  <a:pos x="0" y="18"/>
                </a:cxn>
                <a:cxn ang="0">
                  <a:pos x="0" y="18"/>
                </a:cxn>
                <a:cxn ang="0">
                  <a:pos x="0" y="18"/>
                </a:cxn>
                <a:cxn ang="0">
                  <a:pos x="0" y="18"/>
                </a:cxn>
              </a:cxnLst>
              <a:rect l="txL" t="txT" r="txR" b="txB"/>
              <a:pathLst>
                <a:path w="60" h="18">
                  <a:moveTo>
                    <a:pt x="0" y="18"/>
                  </a:moveTo>
                  <a:lnTo>
                    <a:pt x="24" y="6"/>
                  </a:lnTo>
                  <a:lnTo>
                    <a:pt x="60" y="0"/>
                  </a:lnTo>
                  <a:lnTo>
                    <a:pt x="24" y="6"/>
                  </a:lnTo>
                  <a:lnTo>
                    <a:pt x="0" y="18"/>
                  </a:lnTo>
                  <a:close/>
                  <a:moveTo>
                    <a:pt x="0" y="18"/>
                  </a:moveTo>
                  <a:lnTo>
                    <a:pt x="0" y="18"/>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7" name="Freeform 172"/>
            <p:cNvSpPr>
              <a:spLocks noEditPoints="1"/>
            </p:cNvSpPr>
            <p:nvPr/>
          </p:nvSpPr>
          <p:spPr>
            <a:xfrm>
              <a:off x="3589" y="3285"/>
              <a:ext cx="89" cy="66"/>
            </a:xfrm>
            <a:custGeom>
              <a:avLst/>
              <a:gdLst>
                <a:gd name="txL" fmla="*/ 0 w 89"/>
                <a:gd name="txT" fmla="*/ 0 h 66"/>
                <a:gd name="txR" fmla="*/ 89 w 89"/>
                <a:gd name="txB" fmla="*/ 66 h 66"/>
              </a:gdLst>
              <a:ahLst/>
              <a:cxnLst>
                <a:cxn ang="0">
                  <a:pos x="0" y="0"/>
                </a:cxn>
                <a:cxn ang="0">
                  <a:pos x="36" y="6"/>
                </a:cxn>
                <a:cxn ang="0">
                  <a:pos x="66" y="18"/>
                </a:cxn>
                <a:cxn ang="0">
                  <a:pos x="83" y="42"/>
                </a:cxn>
                <a:cxn ang="0">
                  <a:pos x="89" y="66"/>
                </a:cxn>
                <a:cxn ang="0">
                  <a:pos x="89" y="66"/>
                </a:cxn>
                <a:cxn ang="0">
                  <a:pos x="83" y="42"/>
                </a:cxn>
                <a:cxn ang="0">
                  <a:pos x="66" y="18"/>
                </a:cxn>
                <a:cxn ang="0">
                  <a:pos x="36" y="6"/>
                </a:cxn>
                <a:cxn ang="0">
                  <a:pos x="0" y="0"/>
                </a:cxn>
                <a:cxn ang="0">
                  <a:pos x="0" y="0"/>
                </a:cxn>
                <a:cxn ang="0">
                  <a:pos x="0" y="0"/>
                </a:cxn>
                <a:cxn ang="0">
                  <a:pos x="0" y="0"/>
                </a:cxn>
                <a:cxn ang="0">
                  <a:pos x="0" y="0"/>
                </a:cxn>
              </a:cxnLst>
              <a:rect l="txL" t="txT" r="txR" b="txB"/>
              <a:pathLst>
                <a:path w="89" h="66">
                  <a:moveTo>
                    <a:pt x="0" y="0"/>
                  </a:moveTo>
                  <a:lnTo>
                    <a:pt x="36" y="6"/>
                  </a:lnTo>
                  <a:lnTo>
                    <a:pt x="66" y="18"/>
                  </a:lnTo>
                  <a:lnTo>
                    <a:pt x="83" y="42"/>
                  </a:lnTo>
                  <a:lnTo>
                    <a:pt x="89" y="66"/>
                  </a:lnTo>
                  <a:lnTo>
                    <a:pt x="83" y="42"/>
                  </a:lnTo>
                  <a:lnTo>
                    <a:pt x="66" y="18"/>
                  </a:lnTo>
                  <a:lnTo>
                    <a:pt x="36"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8" name="Freeform 173"/>
            <p:cNvSpPr>
              <a:spLocks noEditPoints="1"/>
            </p:cNvSpPr>
            <p:nvPr/>
          </p:nvSpPr>
          <p:spPr>
            <a:xfrm>
              <a:off x="3589" y="3351"/>
              <a:ext cx="89" cy="66"/>
            </a:xfrm>
            <a:custGeom>
              <a:avLst/>
              <a:gdLst>
                <a:gd name="txL" fmla="*/ 0 w 89"/>
                <a:gd name="txT" fmla="*/ 0 h 66"/>
                <a:gd name="txR" fmla="*/ 89 w 89"/>
                <a:gd name="txB" fmla="*/ 66 h 66"/>
              </a:gdLst>
              <a:ahLst/>
              <a:cxnLst>
                <a:cxn ang="0">
                  <a:pos x="89" y="0"/>
                </a:cxn>
                <a:cxn ang="0">
                  <a:pos x="83" y="24"/>
                </a:cxn>
                <a:cxn ang="0">
                  <a:pos x="66" y="48"/>
                </a:cxn>
                <a:cxn ang="0">
                  <a:pos x="36" y="60"/>
                </a:cxn>
                <a:cxn ang="0">
                  <a:pos x="0" y="66"/>
                </a:cxn>
                <a:cxn ang="0">
                  <a:pos x="0" y="66"/>
                </a:cxn>
                <a:cxn ang="0">
                  <a:pos x="36" y="60"/>
                </a:cxn>
                <a:cxn ang="0">
                  <a:pos x="66" y="48"/>
                </a:cxn>
                <a:cxn ang="0">
                  <a:pos x="83" y="24"/>
                </a:cxn>
                <a:cxn ang="0">
                  <a:pos x="89" y="0"/>
                </a:cxn>
                <a:cxn ang="0">
                  <a:pos x="89" y="0"/>
                </a:cxn>
                <a:cxn ang="0">
                  <a:pos x="89" y="0"/>
                </a:cxn>
                <a:cxn ang="0">
                  <a:pos x="89" y="0"/>
                </a:cxn>
                <a:cxn ang="0">
                  <a:pos x="89" y="0"/>
                </a:cxn>
              </a:cxnLst>
              <a:rect l="txL" t="txT" r="txR" b="txB"/>
              <a:pathLst>
                <a:path w="89" h="66">
                  <a:moveTo>
                    <a:pt x="89" y="0"/>
                  </a:moveTo>
                  <a:lnTo>
                    <a:pt x="83" y="24"/>
                  </a:lnTo>
                  <a:lnTo>
                    <a:pt x="66" y="48"/>
                  </a:lnTo>
                  <a:lnTo>
                    <a:pt x="36" y="60"/>
                  </a:lnTo>
                  <a:lnTo>
                    <a:pt x="0" y="66"/>
                  </a:lnTo>
                  <a:lnTo>
                    <a:pt x="36" y="60"/>
                  </a:lnTo>
                  <a:lnTo>
                    <a:pt x="66" y="48"/>
                  </a:lnTo>
                  <a:lnTo>
                    <a:pt x="83" y="24"/>
                  </a:lnTo>
                  <a:lnTo>
                    <a:pt x="89" y="0"/>
                  </a:lnTo>
                  <a:close/>
                  <a:moveTo>
                    <a:pt x="89" y="0"/>
                  </a:moveTo>
                  <a:lnTo>
                    <a:pt x="89"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3779" name="Freeform 174"/>
            <p:cNvSpPr>
              <a:spLocks noEditPoints="1"/>
            </p:cNvSpPr>
            <p:nvPr/>
          </p:nvSpPr>
          <p:spPr>
            <a:xfrm>
              <a:off x="3589" y="3004"/>
              <a:ext cx="1" cy="413"/>
            </a:xfrm>
            <a:custGeom>
              <a:avLst/>
              <a:gdLst>
                <a:gd name="txL" fmla="*/ 0 w 1"/>
                <a:gd name="txT" fmla="*/ 0 h 413"/>
                <a:gd name="txR" fmla="*/ 1 w 1"/>
                <a:gd name="txB" fmla="*/ 413 h 413"/>
              </a:gdLst>
              <a:ahLst/>
              <a:cxnLst>
                <a:cxn ang="0">
                  <a:pos x="0" y="0"/>
                </a:cxn>
                <a:cxn ang="0">
                  <a:pos x="0" y="0"/>
                </a:cxn>
                <a:cxn ang="0">
                  <a:pos x="0" y="0"/>
                </a:cxn>
                <a:cxn ang="0">
                  <a:pos x="0" y="413"/>
                </a:cxn>
                <a:cxn ang="0">
                  <a:pos x="0" y="413"/>
                </a:cxn>
                <a:cxn ang="0">
                  <a:pos x="0" y="413"/>
                </a:cxn>
              </a:cxnLst>
              <a:rect l="txL" t="txT" r="txR" b="txB"/>
              <a:pathLst>
                <a:path w="1" h="413">
                  <a:moveTo>
                    <a:pt x="0" y="0"/>
                  </a:moveTo>
                  <a:lnTo>
                    <a:pt x="0" y="0"/>
                  </a:lnTo>
                  <a:close/>
                  <a:moveTo>
                    <a:pt x="0" y="413"/>
                  </a:moveTo>
                  <a:lnTo>
                    <a:pt x="0" y="4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grpSp>
      <p:grpSp>
        <p:nvGrpSpPr>
          <p:cNvPr id="73733" name="Group 175"/>
          <p:cNvGrpSpPr/>
          <p:nvPr/>
        </p:nvGrpSpPr>
        <p:grpSpPr>
          <a:xfrm>
            <a:off x="1800225" y="4371975"/>
            <a:ext cx="5556250" cy="855663"/>
            <a:chOff x="1010" y="3048"/>
            <a:chExt cx="3500" cy="576"/>
          </a:xfrm>
        </p:grpSpPr>
        <p:graphicFrame>
          <p:nvGraphicFramePr>
            <p:cNvPr id="73735" name="Object 176"/>
            <p:cNvGraphicFramePr>
              <a:graphicFrameLocks noChangeAspect="1"/>
            </p:cNvGraphicFramePr>
            <p:nvPr/>
          </p:nvGraphicFramePr>
          <p:xfrm>
            <a:off x="1173" y="3086"/>
            <a:ext cx="3153" cy="468"/>
          </p:xfrm>
          <a:graphic>
            <a:graphicData uri="http://schemas.openxmlformats.org/presentationml/2006/ole">
              <p:oleObj spid="_x0000_s35842" r:id="rId3" imgW="1625600" imgH="241300" progId="">
                <p:embed/>
              </p:oleObj>
            </a:graphicData>
          </a:graphic>
        </p:graphicFrame>
        <p:sp>
          <p:nvSpPr>
            <p:cNvPr id="73736" name="Text Box 177"/>
            <p:cNvSpPr txBox="1"/>
            <p:nvPr/>
          </p:nvSpPr>
          <p:spPr>
            <a:xfrm>
              <a:off x="1010" y="3048"/>
              <a:ext cx="3500" cy="576"/>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en-US" altLang="zh-CN" sz="1800" dirty="0">
                <a:cs typeface="Arial" panose="020B0604020202020204" pitchFamily="34" charset="0"/>
              </a:endParaRPr>
            </a:p>
            <a:p>
              <a:pPr marL="0" lvl="0" indent="0" eaLnBrk="1" hangingPunct="1">
                <a:spcBef>
                  <a:spcPct val="50000"/>
                </a:spcBef>
                <a:buClrTx/>
                <a:buSzTx/>
                <a:buFontTx/>
                <a:buNone/>
              </a:pPr>
              <a:endParaRPr lang="en-US" altLang="zh-CN" sz="1800" dirty="0">
                <a:ea typeface="Arial" panose="020B0604020202020204" pitchFamily="34" charset="0"/>
              </a:endParaRPr>
            </a:p>
          </p:txBody>
        </p:sp>
      </p:grpSp>
      <p:sp>
        <p:nvSpPr>
          <p:cNvPr id="73734" name="Text Box 178"/>
          <p:cNvSpPr txBox="1"/>
          <p:nvPr/>
        </p:nvSpPr>
        <p:spPr>
          <a:xfrm>
            <a:off x="992188" y="5708650"/>
            <a:ext cx="7265987" cy="461963"/>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串联电感的等效电感系数是各电感的感应系数之和。</a:t>
            </a:r>
            <a:endParaRPr lang="en-US" altLang="zh-CN" sz="2400" b="1" dirty="0">
              <a:latin typeface="Arial Black" panose="020B0A04020102020204" pitchFamily="34" charset="0"/>
              <a:ea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754" name="Group 2"/>
          <p:cNvGrpSpPr/>
          <p:nvPr/>
        </p:nvGrpSpPr>
        <p:grpSpPr>
          <a:xfrm>
            <a:off x="642938" y="571500"/>
            <a:ext cx="4286250" cy="2500313"/>
            <a:chOff x="1226" y="298"/>
            <a:chExt cx="3316" cy="1707"/>
          </a:xfrm>
        </p:grpSpPr>
        <p:sp>
          <p:nvSpPr>
            <p:cNvPr id="74803" name="Freeform 3"/>
            <p:cNvSpPr/>
            <p:nvPr/>
          </p:nvSpPr>
          <p:spPr>
            <a:xfrm>
              <a:off x="1290" y="1629"/>
              <a:ext cx="2895" cy="1"/>
            </a:xfrm>
            <a:custGeom>
              <a:avLst/>
              <a:gdLst>
                <a:gd name="txL" fmla="*/ 0 w 2895"/>
                <a:gd name="txT" fmla="*/ 0 h 1"/>
                <a:gd name="txR" fmla="*/ 2895 w 2895"/>
                <a:gd name="txB" fmla="*/ 1 h 1"/>
              </a:gdLst>
              <a:ahLst/>
              <a:cxnLst>
                <a:cxn ang="0">
                  <a:pos x="0" y="0"/>
                </a:cxn>
                <a:cxn ang="0">
                  <a:pos x="2895" y="0"/>
                </a:cxn>
                <a:cxn ang="0">
                  <a:pos x="0" y="0"/>
                </a:cxn>
                <a:cxn ang="0">
                  <a:pos x="0" y="0"/>
                </a:cxn>
              </a:cxnLst>
              <a:rect l="txL" t="txT" r="txR" b="txB"/>
              <a:pathLst>
                <a:path w="2895" h="1">
                  <a:moveTo>
                    <a:pt x="0" y="0"/>
                  </a:moveTo>
                  <a:lnTo>
                    <a:pt x="2895"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04" name="Freeform 4"/>
            <p:cNvSpPr>
              <a:spLocks noEditPoints="1"/>
            </p:cNvSpPr>
            <p:nvPr/>
          </p:nvSpPr>
          <p:spPr>
            <a:xfrm>
              <a:off x="4185" y="636"/>
              <a:ext cx="1" cy="993"/>
            </a:xfrm>
            <a:custGeom>
              <a:avLst/>
              <a:gdLst>
                <a:gd name="txL" fmla="*/ 0 w 1"/>
                <a:gd name="txT" fmla="*/ 0 h 993"/>
                <a:gd name="txR" fmla="*/ 1 w 1"/>
                <a:gd name="txB" fmla="*/ 993 h 993"/>
              </a:gdLst>
              <a:ahLst/>
              <a:cxnLst>
                <a:cxn ang="0">
                  <a:pos x="0" y="993"/>
                </a:cxn>
                <a:cxn ang="0">
                  <a:pos x="0" y="0"/>
                </a:cxn>
                <a:cxn ang="0">
                  <a:pos x="0" y="993"/>
                </a:cxn>
                <a:cxn ang="0">
                  <a:pos x="0" y="993"/>
                </a:cxn>
                <a:cxn ang="0">
                  <a:pos x="0" y="993"/>
                </a:cxn>
                <a:cxn ang="0">
                  <a:pos x="0" y="993"/>
                </a:cxn>
                <a:cxn ang="0">
                  <a:pos x="0" y="993"/>
                </a:cxn>
              </a:cxnLst>
              <a:rect l="txL" t="txT" r="txR" b="txB"/>
              <a:pathLst>
                <a:path w="1" h="993">
                  <a:moveTo>
                    <a:pt x="0" y="993"/>
                  </a:moveTo>
                  <a:lnTo>
                    <a:pt x="0" y="0"/>
                  </a:lnTo>
                  <a:lnTo>
                    <a:pt x="0" y="993"/>
                  </a:lnTo>
                  <a:close/>
                  <a:moveTo>
                    <a:pt x="0" y="993"/>
                  </a:moveTo>
                  <a:lnTo>
                    <a:pt x="0" y="99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05" name="Freeform 5"/>
            <p:cNvSpPr>
              <a:spLocks noEditPoints="1"/>
            </p:cNvSpPr>
            <p:nvPr/>
          </p:nvSpPr>
          <p:spPr>
            <a:xfrm>
              <a:off x="3834" y="636"/>
              <a:ext cx="351" cy="1"/>
            </a:xfrm>
            <a:custGeom>
              <a:avLst/>
              <a:gdLst>
                <a:gd name="txL" fmla="*/ 0 w 351"/>
                <a:gd name="txT" fmla="*/ 0 h 1"/>
                <a:gd name="txR" fmla="*/ 351 w 351"/>
                <a:gd name="txB" fmla="*/ 1 h 1"/>
              </a:gdLst>
              <a:ahLst/>
              <a:cxnLst>
                <a:cxn ang="0">
                  <a:pos x="351" y="0"/>
                </a:cxn>
                <a:cxn ang="0">
                  <a:pos x="0" y="0"/>
                </a:cxn>
                <a:cxn ang="0">
                  <a:pos x="351" y="0"/>
                </a:cxn>
                <a:cxn ang="0">
                  <a:pos x="351" y="0"/>
                </a:cxn>
                <a:cxn ang="0">
                  <a:pos x="351" y="0"/>
                </a:cxn>
                <a:cxn ang="0">
                  <a:pos x="351" y="0"/>
                </a:cxn>
                <a:cxn ang="0">
                  <a:pos x="351" y="0"/>
                </a:cxn>
              </a:cxnLst>
              <a:rect l="txL" t="txT" r="txR" b="txB"/>
              <a:pathLst>
                <a:path w="351" h="1">
                  <a:moveTo>
                    <a:pt x="351" y="0"/>
                  </a:moveTo>
                  <a:lnTo>
                    <a:pt x="0" y="0"/>
                  </a:lnTo>
                  <a:lnTo>
                    <a:pt x="351" y="0"/>
                  </a:lnTo>
                  <a:close/>
                  <a:moveTo>
                    <a:pt x="351" y="0"/>
                  </a:moveTo>
                  <a:lnTo>
                    <a:pt x="351"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06" name="Freeform 6"/>
            <p:cNvSpPr/>
            <p:nvPr/>
          </p:nvSpPr>
          <p:spPr>
            <a:xfrm>
              <a:off x="1290" y="636"/>
              <a:ext cx="2123" cy="1"/>
            </a:xfrm>
            <a:custGeom>
              <a:avLst/>
              <a:gdLst>
                <a:gd name="txL" fmla="*/ 0 w 2123"/>
                <a:gd name="txT" fmla="*/ 0 h 1"/>
                <a:gd name="txR" fmla="*/ 2123 w 2123"/>
                <a:gd name="txB" fmla="*/ 1 h 1"/>
              </a:gdLst>
              <a:ahLst/>
              <a:cxnLst>
                <a:cxn ang="0">
                  <a:pos x="2123" y="0"/>
                </a:cxn>
                <a:cxn ang="0">
                  <a:pos x="0" y="0"/>
                </a:cxn>
                <a:cxn ang="0">
                  <a:pos x="2123" y="0"/>
                </a:cxn>
                <a:cxn ang="0">
                  <a:pos x="2123" y="0"/>
                </a:cxn>
              </a:cxnLst>
              <a:rect l="txL" t="txT" r="txR" b="txB"/>
              <a:pathLst>
                <a:path w="2123" h="1">
                  <a:moveTo>
                    <a:pt x="2123" y="0"/>
                  </a:moveTo>
                  <a:lnTo>
                    <a:pt x="0" y="0"/>
                  </a:lnTo>
                  <a:lnTo>
                    <a:pt x="212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07" name="Freeform 7"/>
            <p:cNvSpPr/>
            <p:nvPr/>
          </p:nvSpPr>
          <p:spPr>
            <a:xfrm>
              <a:off x="3783" y="636"/>
              <a:ext cx="20" cy="1"/>
            </a:xfrm>
            <a:custGeom>
              <a:avLst/>
              <a:gdLst>
                <a:gd name="txL" fmla="*/ 0 w 20"/>
                <a:gd name="txT" fmla="*/ 0 h 1"/>
                <a:gd name="txR" fmla="*/ 20 w 20"/>
                <a:gd name="txB" fmla="*/ 1 h 1"/>
              </a:gdLst>
              <a:ahLst/>
              <a:cxnLst>
                <a:cxn ang="0">
                  <a:pos x="20" y="0"/>
                </a:cxn>
                <a:cxn ang="0">
                  <a:pos x="0" y="0"/>
                </a:cxn>
                <a:cxn ang="0">
                  <a:pos x="20" y="0"/>
                </a:cxn>
                <a:cxn ang="0">
                  <a:pos x="20" y="0"/>
                </a:cxn>
              </a:cxnLst>
              <a:rect l="txL" t="txT" r="txR" b="txB"/>
              <a:pathLst>
                <a:path w="20" h="1">
                  <a:moveTo>
                    <a:pt x="20" y="0"/>
                  </a:moveTo>
                  <a:lnTo>
                    <a:pt x="0" y="0"/>
                  </a:lnTo>
                  <a:lnTo>
                    <a:pt x="2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08" name="Freeform 8"/>
            <p:cNvSpPr>
              <a:spLocks noEditPoints="1"/>
            </p:cNvSpPr>
            <p:nvPr/>
          </p:nvSpPr>
          <p:spPr>
            <a:xfrm>
              <a:off x="3732" y="636"/>
              <a:ext cx="45" cy="1"/>
            </a:xfrm>
            <a:custGeom>
              <a:avLst/>
              <a:gdLst>
                <a:gd name="txL" fmla="*/ 0 w 45"/>
                <a:gd name="txT" fmla="*/ 0 h 1"/>
                <a:gd name="txR" fmla="*/ 45 w 45"/>
                <a:gd name="txB" fmla="*/ 1 h 1"/>
              </a:gdLst>
              <a:ahLst/>
              <a:cxnLst>
                <a:cxn ang="0">
                  <a:pos x="45" y="0"/>
                </a:cxn>
                <a:cxn ang="0">
                  <a:pos x="26" y="0"/>
                </a:cxn>
                <a:cxn ang="0">
                  <a:pos x="45" y="0"/>
                </a:cxn>
                <a:cxn ang="0">
                  <a:pos x="45" y="0"/>
                </a:cxn>
                <a:cxn ang="0">
                  <a:pos x="13" y="0"/>
                </a:cxn>
                <a:cxn ang="0">
                  <a:pos x="0" y="0"/>
                </a:cxn>
                <a:cxn ang="0">
                  <a:pos x="13" y="0"/>
                </a:cxn>
                <a:cxn ang="0">
                  <a:pos x="13" y="0"/>
                </a:cxn>
              </a:cxnLst>
              <a:rect l="txL" t="txT" r="txR" b="txB"/>
              <a:pathLst>
                <a:path w="45" h="1">
                  <a:moveTo>
                    <a:pt x="45" y="0"/>
                  </a:moveTo>
                  <a:lnTo>
                    <a:pt x="26" y="0"/>
                  </a:lnTo>
                  <a:lnTo>
                    <a:pt x="45" y="0"/>
                  </a:lnTo>
                  <a:close/>
                  <a:moveTo>
                    <a:pt x="13" y="0"/>
                  </a:moveTo>
                  <a:lnTo>
                    <a:pt x="0" y="0"/>
                  </a:lnTo>
                  <a:lnTo>
                    <a:pt x="1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09" name="Freeform 9"/>
            <p:cNvSpPr>
              <a:spLocks noEditPoints="1"/>
            </p:cNvSpPr>
            <p:nvPr/>
          </p:nvSpPr>
          <p:spPr>
            <a:xfrm>
              <a:off x="3675" y="636"/>
              <a:ext cx="45" cy="1"/>
            </a:xfrm>
            <a:custGeom>
              <a:avLst/>
              <a:gdLst>
                <a:gd name="txL" fmla="*/ 0 w 45"/>
                <a:gd name="txT" fmla="*/ 0 h 1"/>
                <a:gd name="txR" fmla="*/ 45 w 45"/>
                <a:gd name="txB" fmla="*/ 1 h 1"/>
              </a:gdLst>
              <a:ahLst/>
              <a:cxnLst>
                <a:cxn ang="0">
                  <a:pos x="45" y="0"/>
                </a:cxn>
                <a:cxn ang="0">
                  <a:pos x="32" y="0"/>
                </a:cxn>
                <a:cxn ang="0">
                  <a:pos x="45" y="0"/>
                </a:cxn>
                <a:cxn ang="0">
                  <a:pos x="45" y="0"/>
                </a:cxn>
                <a:cxn ang="0">
                  <a:pos x="19" y="0"/>
                </a:cxn>
                <a:cxn ang="0">
                  <a:pos x="0" y="0"/>
                </a:cxn>
                <a:cxn ang="0">
                  <a:pos x="19" y="0"/>
                </a:cxn>
                <a:cxn ang="0">
                  <a:pos x="19" y="0"/>
                </a:cxn>
              </a:cxnLst>
              <a:rect l="txL" t="txT" r="txR" b="txB"/>
              <a:pathLst>
                <a:path w="45" h="1">
                  <a:moveTo>
                    <a:pt x="45" y="0"/>
                  </a:moveTo>
                  <a:lnTo>
                    <a:pt x="32" y="0"/>
                  </a:lnTo>
                  <a:lnTo>
                    <a:pt x="45" y="0"/>
                  </a:lnTo>
                  <a:close/>
                  <a:moveTo>
                    <a:pt x="19" y="0"/>
                  </a:moveTo>
                  <a:lnTo>
                    <a:pt x="0" y="0"/>
                  </a:lnTo>
                  <a:lnTo>
                    <a:pt x="1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10" name="Freeform 10"/>
            <p:cNvSpPr>
              <a:spLocks noEditPoints="1"/>
            </p:cNvSpPr>
            <p:nvPr/>
          </p:nvSpPr>
          <p:spPr>
            <a:xfrm>
              <a:off x="3624" y="636"/>
              <a:ext cx="45" cy="1"/>
            </a:xfrm>
            <a:custGeom>
              <a:avLst/>
              <a:gdLst>
                <a:gd name="txL" fmla="*/ 0 w 45"/>
                <a:gd name="txT" fmla="*/ 0 h 1"/>
                <a:gd name="txR" fmla="*/ 45 w 45"/>
                <a:gd name="txB" fmla="*/ 1 h 1"/>
              </a:gdLst>
              <a:ahLst/>
              <a:cxnLst>
                <a:cxn ang="0">
                  <a:pos x="45" y="0"/>
                </a:cxn>
                <a:cxn ang="0">
                  <a:pos x="25" y="0"/>
                </a:cxn>
                <a:cxn ang="0">
                  <a:pos x="45" y="0"/>
                </a:cxn>
                <a:cxn ang="0">
                  <a:pos x="45" y="0"/>
                </a:cxn>
                <a:cxn ang="0">
                  <a:pos x="19" y="0"/>
                </a:cxn>
                <a:cxn ang="0">
                  <a:pos x="0" y="0"/>
                </a:cxn>
                <a:cxn ang="0">
                  <a:pos x="19" y="0"/>
                </a:cxn>
                <a:cxn ang="0">
                  <a:pos x="19" y="0"/>
                </a:cxn>
              </a:cxnLst>
              <a:rect l="txL" t="txT" r="txR" b="txB"/>
              <a:pathLst>
                <a:path w="45" h="1">
                  <a:moveTo>
                    <a:pt x="45" y="0"/>
                  </a:moveTo>
                  <a:lnTo>
                    <a:pt x="25" y="0"/>
                  </a:lnTo>
                  <a:lnTo>
                    <a:pt x="45" y="0"/>
                  </a:lnTo>
                  <a:close/>
                  <a:moveTo>
                    <a:pt x="19" y="0"/>
                  </a:moveTo>
                  <a:lnTo>
                    <a:pt x="0" y="0"/>
                  </a:lnTo>
                  <a:lnTo>
                    <a:pt x="1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11" name="Freeform 11"/>
            <p:cNvSpPr>
              <a:spLocks noEditPoints="1"/>
            </p:cNvSpPr>
            <p:nvPr/>
          </p:nvSpPr>
          <p:spPr>
            <a:xfrm>
              <a:off x="3573" y="636"/>
              <a:ext cx="45" cy="1"/>
            </a:xfrm>
            <a:custGeom>
              <a:avLst/>
              <a:gdLst>
                <a:gd name="txL" fmla="*/ 0 w 45"/>
                <a:gd name="txT" fmla="*/ 0 h 1"/>
                <a:gd name="txR" fmla="*/ 45 w 45"/>
                <a:gd name="txB" fmla="*/ 1 h 1"/>
              </a:gdLst>
              <a:ahLst/>
              <a:cxnLst>
                <a:cxn ang="0">
                  <a:pos x="45" y="0"/>
                </a:cxn>
                <a:cxn ang="0">
                  <a:pos x="25" y="0"/>
                </a:cxn>
                <a:cxn ang="0">
                  <a:pos x="45" y="0"/>
                </a:cxn>
                <a:cxn ang="0">
                  <a:pos x="45" y="0"/>
                </a:cxn>
                <a:cxn ang="0">
                  <a:pos x="19" y="0"/>
                </a:cxn>
                <a:cxn ang="0">
                  <a:pos x="0" y="0"/>
                </a:cxn>
                <a:cxn ang="0">
                  <a:pos x="19" y="0"/>
                </a:cxn>
                <a:cxn ang="0">
                  <a:pos x="19" y="0"/>
                </a:cxn>
              </a:cxnLst>
              <a:rect l="txL" t="txT" r="txR" b="txB"/>
              <a:pathLst>
                <a:path w="45" h="1">
                  <a:moveTo>
                    <a:pt x="45" y="0"/>
                  </a:moveTo>
                  <a:lnTo>
                    <a:pt x="25" y="0"/>
                  </a:lnTo>
                  <a:lnTo>
                    <a:pt x="45" y="0"/>
                  </a:lnTo>
                  <a:close/>
                  <a:moveTo>
                    <a:pt x="19" y="0"/>
                  </a:moveTo>
                  <a:lnTo>
                    <a:pt x="0" y="0"/>
                  </a:lnTo>
                  <a:lnTo>
                    <a:pt x="19"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12" name="Freeform 12"/>
            <p:cNvSpPr>
              <a:spLocks noEditPoints="1"/>
            </p:cNvSpPr>
            <p:nvPr/>
          </p:nvSpPr>
          <p:spPr>
            <a:xfrm>
              <a:off x="3522" y="636"/>
              <a:ext cx="45" cy="1"/>
            </a:xfrm>
            <a:custGeom>
              <a:avLst/>
              <a:gdLst>
                <a:gd name="txL" fmla="*/ 0 w 45"/>
                <a:gd name="txT" fmla="*/ 0 h 1"/>
                <a:gd name="txR" fmla="*/ 45 w 45"/>
                <a:gd name="txB" fmla="*/ 1 h 1"/>
              </a:gdLst>
              <a:ahLst/>
              <a:cxnLst>
                <a:cxn ang="0">
                  <a:pos x="45" y="0"/>
                </a:cxn>
                <a:cxn ang="0">
                  <a:pos x="25" y="0"/>
                </a:cxn>
                <a:cxn ang="0">
                  <a:pos x="45" y="0"/>
                </a:cxn>
                <a:cxn ang="0">
                  <a:pos x="45" y="0"/>
                </a:cxn>
                <a:cxn ang="0">
                  <a:pos x="13" y="0"/>
                </a:cxn>
                <a:cxn ang="0">
                  <a:pos x="0" y="0"/>
                </a:cxn>
                <a:cxn ang="0">
                  <a:pos x="13" y="0"/>
                </a:cxn>
                <a:cxn ang="0">
                  <a:pos x="13" y="0"/>
                </a:cxn>
              </a:cxnLst>
              <a:rect l="txL" t="txT" r="txR" b="txB"/>
              <a:pathLst>
                <a:path w="45" h="1">
                  <a:moveTo>
                    <a:pt x="45" y="0"/>
                  </a:moveTo>
                  <a:lnTo>
                    <a:pt x="25" y="0"/>
                  </a:lnTo>
                  <a:lnTo>
                    <a:pt x="45" y="0"/>
                  </a:lnTo>
                  <a:close/>
                  <a:moveTo>
                    <a:pt x="13" y="0"/>
                  </a:moveTo>
                  <a:lnTo>
                    <a:pt x="0" y="0"/>
                  </a:lnTo>
                  <a:lnTo>
                    <a:pt x="13"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13" name="Freeform 13"/>
            <p:cNvSpPr>
              <a:spLocks noEditPoints="1"/>
            </p:cNvSpPr>
            <p:nvPr/>
          </p:nvSpPr>
          <p:spPr>
            <a:xfrm>
              <a:off x="3464" y="636"/>
              <a:ext cx="45" cy="1"/>
            </a:xfrm>
            <a:custGeom>
              <a:avLst/>
              <a:gdLst>
                <a:gd name="txL" fmla="*/ 0 w 45"/>
                <a:gd name="txT" fmla="*/ 0 h 1"/>
                <a:gd name="txR" fmla="*/ 45 w 45"/>
                <a:gd name="txB" fmla="*/ 1 h 1"/>
              </a:gdLst>
              <a:ahLst/>
              <a:cxnLst>
                <a:cxn ang="0">
                  <a:pos x="45" y="0"/>
                </a:cxn>
                <a:cxn ang="0">
                  <a:pos x="26" y="0"/>
                </a:cxn>
                <a:cxn ang="0">
                  <a:pos x="45" y="0"/>
                </a:cxn>
                <a:cxn ang="0">
                  <a:pos x="45" y="0"/>
                </a:cxn>
                <a:cxn ang="0">
                  <a:pos x="20" y="0"/>
                </a:cxn>
                <a:cxn ang="0">
                  <a:pos x="0" y="0"/>
                </a:cxn>
                <a:cxn ang="0">
                  <a:pos x="20" y="0"/>
                </a:cxn>
                <a:cxn ang="0">
                  <a:pos x="20" y="0"/>
                </a:cxn>
              </a:cxnLst>
              <a:rect l="txL" t="txT" r="txR" b="txB"/>
              <a:pathLst>
                <a:path w="45" h="1">
                  <a:moveTo>
                    <a:pt x="45" y="0"/>
                  </a:moveTo>
                  <a:lnTo>
                    <a:pt x="26" y="0"/>
                  </a:lnTo>
                  <a:lnTo>
                    <a:pt x="45" y="0"/>
                  </a:lnTo>
                  <a:close/>
                  <a:moveTo>
                    <a:pt x="20" y="0"/>
                  </a:moveTo>
                  <a:lnTo>
                    <a:pt x="0" y="0"/>
                  </a:lnTo>
                  <a:lnTo>
                    <a:pt x="2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14" name="Freeform 14"/>
            <p:cNvSpPr>
              <a:spLocks noEditPoints="1"/>
            </p:cNvSpPr>
            <p:nvPr/>
          </p:nvSpPr>
          <p:spPr>
            <a:xfrm>
              <a:off x="3413" y="636"/>
              <a:ext cx="45" cy="1"/>
            </a:xfrm>
            <a:custGeom>
              <a:avLst/>
              <a:gdLst>
                <a:gd name="txL" fmla="*/ 0 w 45"/>
                <a:gd name="txT" fmla="*/ 0 h 1"/>
                <a:gd name="txR" fmla="*/ 45 w 45"/>
                <a:gd name="txB" fmla="*/ 1 h 1"/>
              </a:gdLst>
              <a:ahLst/>
              <a:cxnLst>
                <a:cxn ang="0">
                  <a:pos x="45" y="0"/>
                </a:cxn>
                <a:cxn ang="0">
                  <a:pos x="26" y="0"/>
                </a:cxn>
                <a:cxn ang="0">
                  <a:pos x="45" y="0"/>
                </a:cxn>
                <a:cxn ang="0">
                  <a:pos x="45" y="0"/>
                </a:cxn>
                <a:cxn ang="0">
                  <a:pos x="20" y="0"/>
                </a:cxn>
                <a:cxn ang="0">
                  <a:pos x="0" y="0"/>
                </a:cxn>
                <a:cxn ang="0">
                  <a:pos x="20" y="0"/>
                </a:cxn>
                <a:cxn ang="0">
                  <a:pos x="20" y="0"/>
                </a:cxn>
              </a:cxnLst>
              <a:rect l="txL" t="txT" r="txR" b="txB"/>
              <a:pathLst>
                <a:path w="45" h="1">
                  <a:moveTo>
                    <a:pt x="45" y="0"/>
                  </a:moveTo>
                  <a:lnTo>
                    <a:pt x="26" y="0"/>
                  </a:lnTo>
                  <a:lnTo>
                    <a:pt x="45" y="0"/>
                  </a:lnTo>
                  <a:close/>
                  <a:moveTo>
                    <a:pt x="20" y="0"/>
                  </a:moveTo>
                  <a:lnTo>
                    <a:pt x="0" y="0"/>
                  </a:lnTo>
                  <a:lnTo>
                    <a:pt x="2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15" name="Freeform 15"/>
            <p:cNvSpPr/>
            <p:nvPr/>
          </p:nvSpPr>
          <p:spPr>
            <a:xfrm>
              <a:off x="2565" y="1852"/>
              <a:ext cx="45" cy="153"/>
            </a:xfrm>
            <a:custGeom>
              <a:avLst/>
              <a:gdLst>
                <a:gd name="txL" fmla="*/ 0 w 45"/>
                <a:gd name="txT" fmla="*/ 0 h 153"/>
                <a:gd name="txR" fmla="*/ 45 w 45"/>
                <a:gd name="txB" fmla="*/ 153 h 153"/>
              </a:gdLst>
              <a:ahLst/>
              <a:cxnLst>
                <a:cxn ang="0">
                  <a:pos x="45" y="0"/>
                </a:cxn>
                <a:cxn ang="0">
                  <a:pos x="13" y="26"/>
                </a:cxn>
                <a:cxn ang="0">
                  <a:pos x="7" y="45"/>
                </a:cxn>
                <a:cxn ang="0">
                  <a:pos x="0" y="70"/>
                </a:cxn>
                <a:cxn ang="0">
                  <a:pos x="7" y="102"/>
                </a:cxn>
                <a:cxn ang="0">
                  <a:pos x="13" y="121"/>
                </a:cxn>
                <a:cxn ang="0">
                  <a:pos x="26" y="140"/>
                </a:cxn>
                <a:cxn ang="0">
                  <a:pos x="45" y="153"/>
                </a:cxn>
                <a:cxn ang="0">
                  <a:pos x="45" y="147"/>
                </a:cxn>
                <a:cxn ang="0">
                  <a:pos x="26" y="128"/>
                </a:cxn>
                <a:cxn ang="0">
                  <a:pos x="19" y="109"/>
                </a:cxn>
                <a:cxn ang="0">
                  <a:pos x="13" y="89"/>
                </a:cxn>
                <a:cxn ang="0">
                  <a:pos x="13" y="70"/>
                </a:cxn>
                <a:cxn ang="0">
                  <a:pos x="19" y="45"/>
                </a:cxn>
                <a:cxn ang="0">
                  <a:pos x="26" y="26"/>
                </a:cxn>
                <a:cxn ang="0">
                  <a:pos x="45" y="0"/>
                </a:cxn>
                <a:cxn ang="0">
                  <a:pos x="45" y="0"/>
                </a:cxn>
              </a:cxnLst>
              <a:rect l="txL" t="txT" r="txR" b="txB"/>
              <a:pathLst>
                <a:path w="45" h="153">
                  <a:moveTo>
                    <a:pt x="45" y="0"/>
                  </a:moveTo>
                  <a:lnTo>
                    <a:pt x="13" y="26"/>
                  </a:lnTo>
                  <a:lnTo>
                    <a:pt x="7" y="45"/>
                  </a:lnTo>
                  <a:lnTo>
                    <a:pt x="0" y="70"/>
                  </a:lnTo>
                  <a:lnTo>
                    <a:pt x="7" y="102"/>
                  </a:lnTo>
                  <a:lnTo>
                    <a:pt x="13" y="121"/>
                  </a:lnTo>
                  <a:lnTo>
                    <a:pt x="26" y="140"/>
                  </a:lnTo>
                  <a:lnTo>
                    <a:pt x="45" y="153"/>
                  </a:lnTo>
                  <a:lnTo>
                    <a:pt x="45" y="147"/>
                  </a:lnTo>
                  <a:lnTo>
                    <a:pt x="26" y="128"/>
                  </a:lnTo>
                  <a:lnTo>
                    <a:pt x="19" y="109"/>
                  </a:lnTo>
                  <a:lnTo>
                    <a:pt x="13" y="89"/>
                  </a:lnTo>
                  <a:lnTo>
                    <a:pt x="13" y="70"/>
                  </a:lnTo>
                  <a:lnTo>
                    <a:pt x="19" y="45"/>
                  </a:lnTo>
                  <a:lnTo>
                    <a:pt x="26" y="26"/>
                  </a:lnTo>
                  <a:lnTo>
                    <a:pt x="45"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16" name="Freeform 16"/>
            <p:cNvSpPr>
              <a:spLocks noEditPoints="1"/>
            </p:cNvSpPr>
            <p:nvPr/>
          </p:nvSpPr>
          <p:spPr>
            <a:xfrm>
              <a:off x="2623" y="1890"/>
              <a:ext cx="70" cy="83"/>
            </a:xfrm>
            <a:custGeom>
              <a:avLst/>
              <a:gdLst>
                <a:gd name="txL" fmla="*/ 0 w 70"/>
                <a:gd name="txT" fmla="*/ 0 h 83"/>
                <a:gd name="txR" fmla="*/ 70 w 70"/>
                <a:gd name="txB" fmla="*/ 83 h 83"/>
              </a:gdLst>
              <a:ahLst/>
              <a:cxnLst>
                <a:cxn ang="0">
                  <a:pos x="44" y="58"/>
                </a:cxn>
                <a:cxn ang="0">
                  <a:pos x="44" y="64"/>
                </a:cxn>
                <a:cxn ang="0">
                  <a:pos x="38" y="71"/>
                </a:cxn>
                <a:cxn ang="0">
                  <a:pos x="31" y="71"/>
                </a:cxn>
                <a:cxn ang="0">
                  <a:pos x="25" y="71"/>
                </a:cxn>
                <a:cxn ang="0">
                  <a:pos x="19" y="64"/>
                </a:cxn>
                <a:cxn ang="0">
                  <a:pos x="12" y="58"/>
                </a:cxn>
                <a:cxn ang="0">
                  <a:pos x="12" y="58"/>
                </a:cxn>
                <a:cxn ang="0">
                  <a:pos x="19" y="45"/>
                </a:cxn>
                <a:cxn ang="0">
                  <a:pos x="25" y="39"/>
                </a:cxn>
                <a:cxn ang="0">
                  <a:pos x="44" y="32"/>
                </a:cxn>
                <a:cxn ang="0">
                  <a:pos x="44" y="58"/>
                </a:cxn>
                <a:cxn ang="0">
                  <a:pos x="70" y="71"/>
                </a:cxn>
                <a:cxn ang="0">
                  <a:pos x="63" y="71"/>
                </a:cxn>
                <a:cxn ang="0">
                  <a:pos x="57" y="71"/>
                </a:cxn>
                <a:cxn ang="0">
                  <a:pos x="57" y="71"/>
                </a:cxn>
                <a:cxn ang="0">
                  <a:pos x="57" y="64"/>
                </a:cxn>
                <a:cxn ang="0">
                  <a:pos x="57" y="26"/>
                </a:cxn>
                <a:cxn ang="0">
                  <a:pos x="57" y="13"/>
                </a:cxn>
                <a:cxn ang="0">
                  <a:pos x="44" y="7"/>
                </a:cxn>
                <a:cxn ang="0">
                  <a:pos x="31" y="0"/>
                </a:cxn>
                <a:cxn ang="0">
                  <a:pos x="6" y="7"/>
                </a:cxn>
                <a:cxn ang="0">
                  <a:pos x="0" y="20"/>
                </a:cxn>
                <a:cxn ang="0">
                  <a:pos x="6" y="26"/>
                </a:cxn>
                <a:cxn ang="0">
                  <a:pos x="6" y="26"/>
                </a:cxn>
                <a:cxn ang="0">
                  <a:pos x="12" y="26"/>
                </a:cxn>
                <a:cxn ang="0">
                  <a:pos x="19" y="20"/>
                </a:cxn>
                <a:cxn ang="0">
                  <a:pos x="19" y="20"/>
                </a:cxn>
                <a:cxn ang="0">
                  <a:pos x="19" y="13"/>
                </a:cxn>
                <a:cxn ang="0">
                  <a:pos x="25" y="7"/>
                </a:cxn>
                <a:cxn ang="0">
                  <a:pos x="25" y="0"/>
                </a:cxn>
                <a:cxn ang="0">
                  <a:pos x="38" y="7"/>
                </a:cxn>
                <a:cxn ang="0">
                  <a:pos x="44" y="20"/>
                </a:cxn>
                <a:cxn ang="0">
                  <a:pos x="44" y="26"/>
                </a:cxn>
                <a:cxn ang="0">
                  <a:pos x="25" y="32"/>
                </a:cxn>
                <a:cxn ang="0">
                  <a:pos x="12" y="45"/>
                </a:cxn>
                <a:cxn ang="0">
                  <a:pos x="0" y="64"/>
                </a:cxn>
                <a:cxn ang="0">
                  <a:pos x="6" y="77"/>
                </a:cxn>
                <a:cxn ang="0">
                  <a:pos x="19" y="83"/>
                </a:cxn>
                <a:cxn ang="0">
                  <a:pos x="31" y="77"/>
                </a:cxn>
                <a:cxn ang="0">
                  <a:pos x="44" y="71"/>
                </a:cxn>
                <a:cxn ang="0">
                  <a:pos x="51" y="83"/>
                </a:cxn>
                <a:cxn ang="0">
                  <a:pos x="51" y="83"/>
                </a:cxn>
                <a:cxn ang="0">
                  <a:pos x="63" y="83"/>
                </a:cxn>
                <a:cxn ang="0">
                  <a:pos x="70" y="77"/>
                </a:cxn>
                <a:cxn ang="0">
                  <a:pos x="70" y="71"/>
                </a:cxn>
              </a:cxnLst>
              <a:rect l="txL" t="txT" r="txR" b="txB"/>
              <a:pathLst>
                <a:path w="70" h="83">
                  <a:moveTo>
                    <a:pt x="44" y="58"/>
                  </a:moveTo>
                  <a:lnTo>
                    <a:pt x="44" y="64"/>
                  </a:lnTo>
                  <a:lnTo>
                    <a:pt x="38" y="71"/>
                  </a:lnTo>
                  <a:lnTo>
                    <a:pt x="31" y="71"/>
                  </a:lnTo>
                  <a:lnTo>
                    <a:pt x="25" y="71"/>
                  </a:lnTo>
                  <a:lnTo>
                    <a:pt x="19" y="64"/>
                  </a:lnTo>
                  <a:lnTo>
                    <a:pt x="12" y="58"/>
                  </a:lnTo>
                  <a:lnTo>
                    <a:pt x="19" y="45"/>
                  </a:lnTo>
                  <a:lnTo>
                    <a:pt x="25" y="39"/>
                  </a:lnTo>
                  <a:lnTo>
                    <a:pt x="44" y="32"/>
                  </a:lnTo>
                  <a:lnTo>
                    <a:pt x="44" y="58"/>
                  </a:lnTo>
                  <a:close/>
                  <a:moveTo>
                    <a:pt x="70" y="71"/>
                  </a:moveTo>
                  <a:lnTo>
                    <a:pt x="63" y="71"/>
                  </a:lnTo>
                  <a:lnTo>
                    <a:pt x="57" y="71"/>
                  </a:lnTo>
                  <a:lnTo>
                    <a:pt x="57" y="64"/>
                  </a:lnTo>
                  <a:lnTo>
                    <a:pt x="57" y="26"/>
                  </a:lnTo>
                  <a:lnTo>
                    <a:pt x="57" y="13"/>
                  </a:lnTo>
                  <a:lnTo>
                    <a:pt x="44" y="7"/>
                  </a:lnTo>
                  <a:lnTo>
                    <a:pt x="31" y="0"/>
                  </a:lnTo>
                  <a:lnTo>
                    <a:pt x="6" y="7"/>
                  </a:lnTo>
                  <a:lnTo>
                    <a:pt x="0" y="20"/>
                  </a:lnTo>
                  <a:lnTo>
                    <a:pt x="6" y="26"/>
                  </a:lnTo>
                  <a:lnTo>
                    <a:pt x="12" y="26"/>
                  </a:lnTo>
                  <a:lnTo>
                    <a:pt x="19" y="20"/>
                  </a:lnTo>
                  <a:lnTo>
                    <a:pt x="19" y="13"/>
                  </a:lnTo>
                  <a:lnTo>
                    <a:pt x="25" y="7"/>
                  </a:lnTo>
                  <a:lnTo>
                    <a:pt x="25" y="0"/>
                  </a:lnTo>
                  <a:lnTo>
                    <a:pt x="38" y="7"/>
                  </a:lnTo>
                  <a:lnTo>
                    <a:pt x="44" y="20"/>
                  </a:lnTo>
                  <a:lnTo>
                    <a:pt x="44" y="26"/>
                  </a:lnTo>
                  <a:lnTo>
                    <a:pt x="25" y="32"/>
                  </a:lnTo>
                  <a:lnTo>
                    <a:pt x="12" y="45"/>
                  </a:lnTo>
                  <a:lnTo>
                    <a:pt x="0" y="64"/>
                  </a:lnTo>
                  <a:lnTo>
                    <a:pt x="6" y="77"/>
                  </a:lnTo>
                  <a:lnTo>
                    <a:pt x="19" y="83"/>
                  </a:lnTo>
                  <a:lnTo>
                    <a:pt x="31" y="77"/>
                  </a:lnTo>
                  <a:lnTo>
                    <a:pt x="44" y="71"/>
                  </a:lnTo>
                  <a:lnTo>
                    <a:pt x="51" y="83"/>
                  </a:lnTo>
                  <a:lnTo>
                    <a:pt x="63" y="83"/>
                  </a:lnTo>
                  <a:lnTo>
                    <a:pt x="70" y="77"/>
                  </a:lnTo>
                  <a:lnTo>
                    <a:pt x="70" y="7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17" name="Freeform 17"/>
            <p:cNvSpPr/>
            <p:nvPr/>
          </p:nvSpPr>
          <p:spPr>
            <a:xfrm>
              <a:off x="2699" y="1852"/>
              <a:ext cx="38" cy="153"/>
            </a:xfrm>
            <a:custGeom>
              <a:avLst/>
              <a:gdLst>
                <a:gd name="txL" fmla="*/ 0 w 38"/>
                <a:gd name="txT" fmla="*/ 0 h 153"/>
                <a:gd name="txR" fmla="*/ 38 w 38"/>
                <a:gd name="txB" fmla="*/ 153 h 153"/>
              </a:gdLst>
              <a:ahLst/>
              <a:cxnLst>
                <a:cxn ang="0">
                  <a:pos x="0" y="153"/>
                </a:cxn>
                <a:cxn ang="0">
                  <a:pos x="32" y="121"/>
                </a:cxn>
                <a:cxn ang="0">
                  <a:pos x="38" y="77"/>
                </a:cxn>
                <a:cxn ang="0">
                  <a:pos x="38" y="45"/>
                </a:cxn>
                <a:cxn ang="0">
                  <a:pos x="26" y="26"/>
                </a:cxn>
                <a:cxn ang="0">
                  <a:pos x="13" y="7"/>
                </a:cxn>
                <a:cxn ang="0">
                  <a:pos x="0" y="0"/>
                </a:cxn>
                <a:cxn ang="0">
                  <a:pos x="0" y="0"/>
                </a:cxn>
                <a:cxn ang="0">
                  <a:pos x="13" y="19"/>
                </a:cxn>
                <a:cxn ang="0">
                  <a:pos x="26" y="38"/>
                </a:cxn>
                <a:cxn ang="0">
                  <a:pos x="26" y="58"/>
                </a:cxn>
                <a:cxn ang="0">
                  <a:pos x="26" y="77"/>
                </a:cxn>
                <a:cxn ang="0">
                  <a:pos x="26" y="109"/>
                </a:cxn>
                <a:cxn ang="0">
                  <a:pos x="19" y="128"/>
                </a:cxn>
                <a:cxn ang="0">
                  <a:pos x="13" y="140"/>
                </a:cxn>
                <a:cxn ang="0">
                  <a:pos x="0" y="147"/>
                </a:cxn>
                <a:cxn ang="0">
                  <a:pos x="0" y="153"/>
                </a:cxn>
              </a:cxnLst>
              <a:rect l="txL" t="txT" r="txR" b="txB"/>
              <a:pathLst>
                <a:path w="38" h="153">
                  <a:moveTo>
                    <a:pt x="0" y="153"/>
                  </a:moveTo>
                  <a:lnTo>
                    <a:pt x="32" y="121"/>
                  </a:lnTo>
                  <a:lnTo>
                    <a:pt x="38" y="77"/>
                  </a:lnTo>
                  <a:lnTo>
                    <a:pt x="38" y="45"/>
                  </a:lnTo>
                  <a:lnTo>
                    <a:pt x="26" y="26"/>
                  </a:lnTo>
                  <a:lnTo>
                    <a:pt x="13" y="7"/>
                  </a:lnTo>
                  <a:lnTo>
                    <a:pt x="0" y="0"/>
                  </a:lnTo>
                  <a:lnTo>
                    <a:pt x="13" y="19"/>
                  </a:lnTo>
                  <a:lnTo>
                    <a:pt x="26" y="38"/>
                  </a:lnTo>
                  <a:lnTo>
                    <a:pt x="26" y="58"/>
                  </a:lnTo>
                  <a:lnTo>
                    <a:pt x="26" y="77"/>
                  </a:lnTo>
                  <a:lnTo>
                    <a:pt x="26" y="109"/>
                  </a:lnTo>
                  <a:lnTo>
                    <a:pt x="19" y="128"/>
                  </a:lnTo>
                  <a:lnTo>
                    <a:pt x="13" y="140"/>
                  </a:lnTo>
                  <a:lnTo>
                    <a:pt x="0" y="147"/>
                  </a:lnTo>
                  <a:lnTo>
                    <a:pt x="0" y="15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18" name="Freeform 18"/>
            <p:cNvSpPr/>
            <p:nvPr/>
          </p:nvSpPr>
          <p:spPr>
            <a:xfrm>
              <a:off x="1302" y="515"/>
              <a:ext cx="211" cy="1"/>
            </a:xfrm>
            <a:custGeom>
              <a:avLst/>
              <a:gdLst>
                <a:gd name="txL" fmla="*/ 0 w 211"/>
                <a:gd name="txT" fmla="*/ 0 h 1"/>
                <a:gd name="txR" fmla="*/ 211 w 211"/>
                <a:gd name="txB" fmla="*/ 1 h 1"/>
              </a:gdLst>
              <a:ahLst/>
              <a:cxnLst>
                <a:cxn ang="0">
                  <a:pos x="0" y="0"/>
                </a:cxn>
                <a:cxn ang="0">
                  <a:pos x="211" y="0"/>
                </a:cxn>
                <a:cxn ang="0">
                  <a:pos x="0" y="0"/>
                </a:cxn>
                <a:cxn ang="0">
                  <a:pos x="0" y="0"/>
                </a:cxn>
              </a:cxnLst>
              <a:rect l="txL" t="txT" r="txR" b="txB"/>
              <a:pathLst>
                <a:path w="211" h="1">
                  <a:moveTo>
                    <a:pt x="0" y="0"/>
                  </a:moveTo>
                  <a:lnTo>
                    <a:pt x="211"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19" name="Freeform 19"/>
            <p:cNvSpPr/>
            <p:nvPr/>
          </p:nvSpPr>
          <p:spPr>
            <a:xfrm>
              <a:off x="1494" y="477"/>
              <a:ext cx="127" cy="76"/>
            </a:xfrm>
            <a:custGeom>
              <a:avLst/>
              <a:gdLst>
                <a:gd name="txL" fmla="*/ 0 w 127"/>
                <a:gd name="txT" fmla="*/ 0 h 76"/>
                <a:gd name="txR" fmla="*/ 127 w 127"/>
                <a:gd name="txB" fmla="*/ 76 h 76"/>
              </a:gdLst>
              <a:ahLst/>
              <a:cxnLst>
                <a:cxn ang="0">
                  <a:pos x="0" y="76"/>
                </a:cxn>
                <a:cxn ang="0">
                  <a:pos x="127" y="38"/>
                </a:cxn>
                <a:cxn ang="0">
                  <a:pos x="0" y="0"/>
                </a:cxn>
                <a:cxn ang="0">
                  <a:pos x="0" y="76"/>
                </a:cxn>
                <a:cxn ang="0">
                  <a:pos x="0" y="76"/>
                </a:cxn>
              </a:cxnLst>
              <a:rect l="txL" t="txT" r="txR" b="txB"/>
              <a:pathLst>
                <a:path w="127" h="76">
                  <a:moveTo>
                    <a:pt x="0" y="76"/>
                  </a:moveTo>
                  <a:lnTo>
                    <a:pt x="127" y="38"/>
                  </a:lnTo>
                  <a:lnTo>
                    <a:pt x="0" y="0"/>
                  </a:lnTo>
                  <a:lnTo>
                    <a:pt x="0" y="76"/>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20" name="Freeform 20"/>
            <p:cNvSpPr/>
            <p:nvPr/>
          </p:nvSpPr>
          <p:spPr>
            <a:xfrm>
              <a:off x="1226" y="1139"/>
              <a:ext cx="64" cy="76"/>
            </a:xfrm>
            <a:custGeom>
              <a:avLst/>
              <a:gdLst>
                <a:gd name="txL" fmla="*/ 0 w 64"/>
                <a:gd name="txT" fmla="*/ 0 h 76"/>
                <a:gd name="txR" fmla="*/ 64 w 64"/>
                <a:gd name="txB" fmla="*/ 76 h 76"/>
              </a:gdLst>
              <a:ahLst/>
              <a:cxnLst>
                <a:cxn ang="0">
                  <a:pos x="0" y="6"/>
                </a:cxn>
                <a:cxn ang="0">
                  <a:pos x="13" y="6"/>
                </a:cxn>
                <a:cxn ang="0">
                  <a:pos x="13" y="13"/>
                </a:cxn>
                <a:cxn ang="0">
                  <a:pos x="13" y="25"/>
                </a:cxn>
                <a:cxn ang="0">
                  <a:pos x="13" y="32"/>
                </a:cxn>
                <a:cxn ang="0">
                  <a:pos x="19" y="45"/>
                </a:cxn>
                <a:cxn ang="0">
                  <a:pos x="19" y="70"/>
                </a:cxn>
                <a:cxn ang="0">
                  <a:pos x="19" y="76"/>
                </a:cxn>
                <a:cxn ang="0">
                  <a:pos x="19" y="76"/>
                </a:cxn>
                <a:cxn ang="0">
                  <a:pos x="25" y="70"/>
                </a:cxn>
                <a:cxn ang="0">
                  <a:pos x="38" y="64"/>
                </a:cxn>
                <a:cxn ang="0">
                  <a:pos x="44" y="57"/>
                </a:cxn>
                <a:cxn ang="0">
                  <a:pos x="51" y="38"/>
                </a:cxn>
                <a:cxn ang="0">
                  <a:pos x="57" y="25"/>
                </a:cxn>
                <a:cxn ang="0">
                  <a:pos x="64" y="13"/>
                </a:cxn>
                <a:cxn ang="0">
                  <a:pos x="64" y="6"/>
                </a:cxn>
                <a:cxn ang="0">
                  <a:pos x="57" y="0"/>
                </a:cxn>
                <a:cxn ang="0">
                  <a:pos x="51" y="0"/>
                </a:cxn>
                <a:cxn ang="0">
                  <a:pos x="51" y="6"/>
                </a:cxn>
                <a:cxn ang="0">
                  <a:pos x="57" y="13"/>
                </a:cxn>
                <a:cxn ang="0">
                  <a:pos x="57" y="19"/>
                </a:cxn>
                <a:cxn ang="0">
                  <a:pos x="51" y="38"/>
                </a:cxn>
                <a:cxn ang="0">
                  <a:pos x="32" y="57"/>
                </a:cxn>
                <a:cxn ang="0">
                  <a:pos x="32" y="64"/>
                </a:cxn>
                <a:cxn ang="0">
                  <a:pos x="25" y="32"/>
                </a:cxn>
                <a:cxn ang="0">
                  <a:pos x="19" y="6"/>
                </a:cxn>
                <a:cxn ang="0">
                  <a:pos x="19" y="0"/>
                </a:cxn>
                <a:cxn ang="0">
                  <a:pos x="19" y="0"/>
                </a:cxn>
                <a:cxn ang="0">
                  <a:pos x="13" y="0"/>
                </a:cxn>
                <a:cxn ang="0">
                  <a:pos x="0" y="6"/>
                </a:cxn>
                <a:cxn ang="0">
                  <a:pos x="0" y="6"/>
                </a:cxn>
              </a:cxnLst>
              <a:rect l="txL" t="txT" r="txR" b="txB"/>
              <a:pathLst>
                <a:path w="64" h="76">
                  <a:moveTo>
                    <a:pt x="0" y="6"/>
                  </a:moveTo>
                  <a:lnTo>
                    <a:pt x="13" y="6"/>
                  </a:lnTo>
                  <a:lnTo>
                    <a:pt x="13" y="13"/>
                  </a:lnTo>
                  <a:lnTo>
                    <a:pt x="13" y="25"/>
                  </a:lnTo>
                  <a:lnTo>
                    <a:pt x="13" y="32"/>
                  </a:lnTo>
                  <a:lnTo>
                    <a:pt x="19" y="45"/>
                  </a:lnTo>
                  <a:lnTo>
                    <a:pt x="19" y="70"/>
                  </a:lnTo>
                  <a:lnTo>
                    <a:pt x="19" y="76"/>
                  </a:lnTo>
                  <a:lnTo>
                    <a:pt x="25" y="70"/>
                  </a:lnTo>
                  <a:lnTo>
                    <a:pt x="38" y="64"/>
                  </a:lnTo>
                  <a:lnTo>
                    <a:pt x="44" y="57"/>
                  </a:lnTo>
                  <a:lnTo>
                    <a:pt x="51" y="38"/>
                  </a:lnTo>
                  <a:lnTo>
                    <a:pt x="57" y="25"/>
                  </a:lnTo>
                  <a:lnTo>
                    <a:pt x="64" y="13"/>
                  </a:lnTo>
                  <a:lnTo>
                    <a:pt x="64" y="6"/>
                  </a:lnTo>
                  <a:lnTo>
                    <a:pt x="57" y="0"/>
                  </a:lnTo>
                  <a:lnTo>
                    <a:pt x="51" y="0"/>
                  </a:lnTo>
                  <a:lnTo>
                    <a:pt x="51" y="6"/>
                  </a:lnTo>
                  <a:lnTo>
                    <a:pt x="57" y="13"/>
                  </a:lnTo>
                  <a:lnTo>
                    <a:pt x="57" y="19"/>
                  </a:lnTo>
                  <a:lnTo>
                    <a:pt x="51" y="38"/>
                  </a:lnTo>
                  <a:lnTo>
                    <a:pt x="32" y="57"/>
                  </a:lnTo>
                  <a:lnTo>
                    <a:pt x="32" y="64"/>
                  </a:lnTo>
                  <a:lnTo>
                    <a:pt x="25" y="32"/>
                  </a:lnTo>
                  <a:lnTo>
                    <a:pt x="19" y="6"/>
                  </a:lnTo>
                  <a:lnTo>
                    <a:pt x="19" y="0"/>
                  </a:lnTo>
                  <a:lnTo>
                    <a:pt x="13"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21" name="Freeform 21"/>
            <p:cNvSpPr/>
            <p:nvPr/>
          </p:nvSpPr>
          <p:spPr>
            <a:xfrm>
              <a:off x="1232" y="776"/>
              <a:ext cx="89" cy="95"/>
            </a:xfrm>
            <a:custGeom>
              <a:avLst/>
              <a:gdLst>
                <a:gd name="txL" fmla="*/ 0 w 89"/>
                <a:gd name="txT" fmla="*/ 0 h 95"/>
                <a:gd name="txR" fmla="*/ 89 w 89"/>
                <a:gd name="txB" fmla="*/ 95 h 95"/>
              </a:gdLst>
              <a:ahLst/>
              <a:cxnLst>
                <a:cxn ang="0">
                  <a:pos x="51" y="44"/>
                </a:cxn>
                <a:cxn ang="0">
                  <a:pos x="89" y="44"/>
                </a:cxn>
                <a:cxn ang="0">
                  <a:pos x="89" y="51"/>
                </a:cxn>
                <a:cxn ang="0">
                  <a:pos x="51" y="51"/>
                </a:cxn>
                <a:cxn ang="0">
                  <a:pos x="51" y="95"/>
                </a:cxn>
                <a:cxn ang="0">
                  <a:pos x="38" y="95"/>
                </a:cxn>
                <a:cxn ang="0">
                  <a:pos x="38" y="51"/>
                </a:cxn>
                <a:cxn ang="0">
                  <a:pos x="0" y="51"/>
                </a:cxn>
                <a:cxn ang="0">
                  <a:pos x="0" y="44"/>
                </a:cxn>
                <a:cxn ang="0">
                  <a:pos x="38" y="44"/>
                </a:cxn>
                <a:cxn ang="0">
                  <a:pos x="38" y="0"/>
                </a:cxn>
                <a:cxn ang="0">
                  <a:pos x="51" y="0"/>
                </a:cxn>
                <a:cxn ang="0">
                  <a:pos x="51" y="44"/>
                </a:cxn>
              </a:cxnLst>
              <a:rect l="txL" t="txT" r="txR" b="txB"/>
              <a:pathLst>
                <a:path w="89" h="95">
                  <a:moveTo>
                    <a:pt x="51" y="44"/>
                  </a:moveTo>
                  <a:lnTo>
                    <a:pt x="89" y="44"/>
                  </a:lnTo>
                  <a:lnTo>
                    <a:pt x="89" y="51"/>
                  </a:lnTo>
                  <a:lnTo>
                    <a:pt x="51" y="51"/>
                  </a:lnTo>
                  <a:lnTo>
                    <a:pt x="51" y="95"/>
                  </a:lnTo>
                  <a:lnTo>
                    <a:pt x="38" y="95"/>
                  </a:lnTo>
                  <a:lnTo>
                    <a:pt x="38" y="51"/>
                  </a:lnTo>
                  <a:lnTo>
                    <a:pt x="0" y="51"/>
                  </a:lnTo>
                  <a:lnTo>
                    <a:pt x="0" y="44"/>
                  </a:lnTo>
                  <a:lnTo>
                    <a:pt x="38" y="44"/>
                  </a:lnTo>
                  <a:lnTo>
                    <a:pt x="38" y="0"/>
                  </a:lnTo>
                  <a:lnTo>
                    <a:pt x="51" y="0"/>
                  </a:lnTo>
                  <a:lnTo>
                    <a:pt x="51" y="4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22" name="Rectangle 22"/>
            <p:cNvSpPr/>
            <p:nvPr/>
          </p:nvSpPr>
          <p:spPr>
            <a:xfrm>
              <a:off x="1232" y="1483"/>
              <a:ext cx="89" cy="6"/>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74823" name="Freeform 23"/>
            <p:cNvSpPr/>
            <p:nvPr/>
          </p:nvSpPr>
          <p:spPr>
            <a:xfrm>
              <a:off x="1239" y="604"/>
              <a:ext cx="76" cy="83"/>
            </a:xfrm>
            <a:custGeom>
              <a:avLst/>
              <a:gdLst>
                <a:gd name="txL" fmla="*/ 0 w 76"/>
                <a:gd name="txT" fmla="*/ 0 h 83"/>
                <a:gd name="txR" fmla="*/ 76 w 76"/>
                <a:gd name="txB" fmla="*/ 83 h 83"/>
              </a:gdLst>
              <a:ahLst/>
              <a:cxnLst>
                <a:cxn ang="0">
                  <a:pos x="38" y="83"/>
                </a:cxn>
                <a:cxn ang="0">
                  <a:pos x="25" y="83"/>
                </a:cxn>
                <a:cxn ang="0">
                  <a:pos x="12" y="70"/>
                </a:cxn>
                <a:cxn ang="0">
                  <a:pos x="6" y="57"/>
                </a:cxn>
                <a:cxn ang="0">
                  <a:pos x="0" y="38"/>
                </a:cxn>
                <a:cxn ang="0">
                  <a:pos x="6" y="25"/>
                </a:cxn>
                <a:cxn ang="0">
                  <a:pos x="12" y="13"/>
                </a:cxn>
                <a:cxn ang="0">
                  <a:pos x="25" y="6"/>
                </a:cxn>
                <a:cxn ang="0">
                  <a:pos x="38" y="0"/>
                </a:cxn>
                <a:cxn ang="0">
                  <a:pos x="51" y="6"/>
                </a:cxn>
                <a:cxn ang="0">
                  <a:pos x="63" y="13"/>
                </a:cxn>
                <a:cxn ang="0">
                  <a:pos x="76" y="25"/>
                </a:cxn>
                <a:cxn ang="0">
                  <a:pos x="76" y="38"/>
                </a:cxn>
                <a:cxn ang="0">
                  <a:pos x="76" y="57"/>
                </a:cxn>
                <a:cxn ang="0">
                  <a:pos x="63" y="70"/>
                </a:cxn>
                <a:cxn ang="0">
                  <a:pos x="51" y="83"/>
                </a:cxn>
                <a:cxn ang="0">
                  <a:pos x="38" y="83"/>
                </a:cxn>
                <a:cxn ang="0">
                  <a:pos x="38" y="83"/>
                </a:cxn>
              </a:cxnLst>
              <a:rect l="txL" t="txT" r="txR" b="txB"/>
              <a:pathLst>
                <a:path w="76" h="83">
                  <a:moveTo>
                    <a:pt x="38" y="83"/>
                  </a:moveTo>
                  <a:lnTo>
                    <a:pt x="25" y="83"/>
                  </a:lnTo>
                  <a:lnTo>
                    <a:pt x="12" y="70"/>
                  </a:lnTo>
                  <a:lnTo>
                    <a:pt x="6" y="57"/>
                  </a:lnTo>
                  <a:lnTo>
                    <a:pt x="0" y="38"/>
                  </a:lnTo>
                  <a:lnTo>
                    <a:pt x="6" y="25"/>
                  </a:lnTo>
                  <a:lnTo>
                    <a:pt x="12" y="13"/>
                  </a:lnTo>
                  <a:lnTo>
                    <a:pt x="25" y="6"/>
                  </a:lnTo>
                  <a:lnTo>
                    <a:pt x="38" y="0"/>
                  </a:lnTo>
                  <a:lnTo>
                    <a:pt x="51" y="6"/>
                  </a:lnTo>
                  <a:lnTo>
                    <a:pt x="63" y="13"/>
                  </a:lnTo>
                  <a:lnTo>
                    <a:pt x="76" y="25"/>
                  </a:lnTo>
                  <a:lnTo>
                    <a:pt x="76" y="38"/>
                  </a:lnTo>
                  <a:lnTo>
                    <a:pt x="76" y="57"/>
                  </a:lnTo>
                  <a:lnTo>
                    <a:pt x="63" y="70"/>
                  </a:lnTo>
                  <a:lnTo>
                    <a:pt x="51" y="83"/>
                  </a:lnTo>
                  <a:lnTo>
                    <a:pt x="38" y="83"/>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24" name="Freeform 24"/>
            <p:cNvSpPr/>
            <p:nvPr/>
          </p:nvSpPr>
          <p:spPr>
            <a:xfrm>
              <a:off x="1239" y="642"/>
              <a:ext cx="38" cy="45"/>
            </a:xfrm>
            <a:custGeom>
              <a:avLst/>
              <a:gdLst>
                <a:gd name="txL" fmla="*/ 0 w 38"/>
                <a:gd name="txT" fmla="*/ 0 h 45"/>
                <a:gd name="txR" fmla="*/ 38 w 38"/>
                <a:gd name="txB" fmla="*/ 45 h 45"/>
              </a:gdLst>
              <a:ahLst/>
              <a:cxnLst>
                <a:cxn ang="0">
                  <a:pos x="38" y="45"/>
                </a:cxn>
                <a:cxn ang="0">
                  <a:pos x="25" y="45"/>
                </a:cxn>
                <a:cxn ang="0">
                  <a:pos x="12" y="32"/>
                </a:cxn>
                <a:cxn ang="0">
                  <a:pos x="6" y="19"/>
                </a:cxn>
                <a:cxn ang="0">
                  <a:pos x="0" y="0"/>
                </a:cxn>
                <a:cxn ang="0">
                  <a:pos x="0" y="0"/>
                </a:cxn>
                <a:cxn ang="0">
                  <a:pos x="6" y="19"/>
                </a:cxn>
                <a:cxn ang="0">
                  <a:pos x="12" y="32"/>
                </a:cxn>
                <a:cxn ang="0">
                  <a:pos x="25" y="45"/>
                </a:cxn>
                <a:cxn ang="0">
                  <a:pos x="38" y="45"/>
                </a:cxn>
                <a:cxn ang="0">
                  <a:pos x="38" y="45"/>
                </a:cxn>
              </a:cxnLst>
              <a:rect l="txL" t="txT" r="txR" b="txB"/>
              <a:pathLst>
                <a:path w="38" h="45">
                  <a:moveTo>
                    <a:pt x="38" y="45"/>
                  </a:moveTo>
                  <a:lnTo>
                    <a:pt x="25" y="45"/>
                  </a:lnTo>
                  <a:lnTo>
                    <a:pt x="12" y="32"/>
                  </a:lnTo>
                  <a:lnTo>
                    <a:pt x="6" y="19"/>
                  </a:lnTo>
                  <a:lnTo>
                    <a:pt x="0" y="0"/>
                  </a:lnTo>
                  <a:lnTo>
                    <a:pt x="6" y="19"/>
                  </a:lnTo>
                  <a:lnTo>
                    <a:pt x="12" y="32"/>
                  </a:lnTo>
                  <a:lnTo>
                    <a:pt x="25" y="45"/>
                  </a:lnTo>
                  <a:lnTo>
                    <a:pt x="38" y="4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25" name="Freeform 25"/>
            <p:cNvSpPr>
              <a:spLocks noEditPoints="1"/>
            </p:cNvSpPr>
            <p:nvPr/>
          </p:nvSpPr>
          <p:spPr>
            <a:xfrm>
              <a:off x="1239" y="604"/>
              <a:ext cx="38" cy="38"/>
            </a:xfrm>
            <a:custGeom>
              <a:avLst/>
              <a:gdLst>
                <a:gd name="txL" fmla="*/ 0 w 38"/>
                <a:gd name="txT" fmla="*/ 0 h 38"/>
                <a:gd name="txR" fmla="*/ 38 w 38"/>
                <a:gd name="txB" fmla="*/ 38 h 38"/>
              </a:gdLst>
              <a:ahLst/>
              <a:cxnLst>
                <a:cxn ang="0">
                  <a:pos x="0" y="38"/>
                </a:cxn>
                <a:cxn ang="0">
                  <a:pos x="6" y="25"/>
                </a:cxn>
                <a:cxn ang="0">
                  <a:pos x="12" y="13"/>
                </a:cxn>
                <a:cxn ang="0">
                  <a:pos x="25" y="6"/>
                </a:cxn>
                <a:cxn ang="0">
                  <a:pos x="38" y="0"/>
                </a:cxn>
                <a:cxn ang="0">
                  <a:pos x="38" y="0"/>
                </a:cxn>
                <a:cxn ang="0">
                  <a:pos x="25" y="6"/>
                </a:cxn>
                <a:cxn ang="0">
                  <a:pos x="12" y="13"/>
                </a:cxn>
                <a:cxn ang="0">
                  <a:pos x="6" y="25"/>
                </a:cxn>
                <a:cxn ang="0">
                  <a:pos x="0" y="38"/>
                </a:cxn>
                <a:cxn ang="0">
                  <a:pos x="0" y="38"/>
                </a:cxn>
                <a:cxn ang="0">
                  <a:pos x="0" y="38"/>
                </a:cxn>
                <a:cxn ang="0">
                  <a:pos x="0" y="38"/>
                </a:cxn>
                <a:cxn ang="0">
                  <a:pos x="0" y="38"/>
                </a:cxn>
              </a:cxnLst>
              <a:rect l="txL" t="txT" r="txR" b="txB"/>
              <a:pathLst>
                <a:path w="38" h="38">
                  <a:moveTo>
                    <a:pt x="0" y="38"/>
                  </a:moveTo>
                  <a:lnTo>
                    <a:pt x="6" y="25"/>
                  </a:lnTo>
                  <a:lnTo>
                    <a:pt x="12" y="13"/>
                  </a:lnTo>
                  <a:lnTo>
                    <a:pt x="25" y="6"/>
                  </a:lnTo>
                  <a:lnTo>
                    <a:pt x="38" y="0"/>
                  </a:lnTo>
                  <a:lnTo>
                    <a:pt x="25" y="6"/>
                  </a:lnTo>
                  <a:lnTo>
                    <a:pt x="12" y="13"/>
                  </a:lnTo>
                  <a:lnTo>
                    <a:pt x="6" y="25"/>
                  </a:lnTo>
                  <a:lnTo>
                    <a:pt x="0" y="38"/>
                  </a:lnTo>
                  <a:close/>
                  <a:moveTo>
                    <a:pt x="0" y="38"/>
                  </a:moveTo>
                  <a:lnTo>
                    <a:pt x="0" y="3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26" name="Freeform 26"/>
            <p:cNvSpPr>
              <a:spLocks noEditPoints="1"/>
            </p:cNvSpPr>
            <p:nvPr/>
          </p:nvSpPr>
          <p:spPr>
            <a:xfrm>
              <a:off x="1277" y="604"/>
              <a:ext cx="38" cy="38"/>
            </a:xfrm>
            <a:custGeom>
              <a:avLst/>
              <a:gdLst>
                <a:gd name="txL" fmla="*/ 0 w 38"/>
                <a:gd name="txT" fmla="*/ 0 h 38"/>
                <a:gd name="txR" fmla="*/ 38 w 38"/>
                <a:gd name="txB" fmla="*/ 38 h 38"/>
              </a:gdLst>
              <a:ahLst/>
              <a:cxnLst>
                <a:cxn ang="0">
                  <a:pos x="0" y="0"/>
                </a:cxn>
                <a:cxn ang="0">
                  <a:pos x="13" y="6"/>
                </a:cxn>
                <a:cxn ang="0">
                  <a:pos x="25" y="13"/>
                </a:cxn>
                <a:cxn ang="0">
                  <a:pos x="38" y="25"/>
                </a:cxn>
                <a:cxn ang="0">
                  <a:pos x="38" y="38"/>
                </a:cxn>
                <a:cxn ang="0">
                  <a:pos x="38" y="38"/>
                </a:cxn>
                <a:cxn ang="0">
                  <a:pos x="38" y="25"/>
                </a:cxn>
                <a:cxn ang="0">
                  <a:pos x="25" y="13"/>
                </a:cxn>
                <a:cxn ang="0">
                  <a:pos x="13" y="6"/>
                </a:cxn>
                <a:cxn ang="0">
                  <a:pos x="0" y="0"/>
                </a:cxn>
                <a:cxn ang="0">
                  <a:pos x="0" y="0"/>
                </a:cxn>
                <a:cxn ang="0">
                  <a:pos x="0" y="0"/>
                </a:cxn>
                <a:cxn ang="0">
                  <a:pos x="0" y="0"/>
                </a:cxn>
                <a:cxn ang="0">
                  <a:pos x="0" y="0"/>
                </a:cxn>
              </a:cxnLst>
              <a:rect l="txL" t="txT" r="txR" b="txB"/>
              <a:pathLst>
                <a:path w="38" h="38">
                  <a:moveTo>
                    <a:pt x="0" y="0"/>
                  </a:moveTo>
                  <a:lnTo>
                    <a:pt x="13" y="6"/>
                  </a:lnTo>
                  <a:lnTo>
                    <a:pt x="25" y="13"/>
                  </a:lnTo>
                  <a:lnTo>
                    <a:pt x="38" y="25"/>
                  </a:lnTo>
                  <a:lnTo>
                    <a:pt x="38" y="38"/>
                  </a:lnTo>
                  <a:lnTo>
                    <a:pt x="38" y="25"/>
                  </a:lnTo>
                  <a:lnTo>
                    <a:pt x="25" y="13"/>
                  </a:lnTo>
                  <a:lnTo>
                    <a:pt x="13" y="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27" name="Freeform 27"/>
            <p:cNvSpPr>
              <a:spLocks noEditPoints="1"/>
            </p:cNvSpPr>
            <p:nvPr/>
          </p:nvSpPr>
          <p:spPr>
            <a:xfrm>
              <a:off x="1277" y="642"/>
              <a:ext cx="38" cy="45"/>
            </a:xfrm>
            <a:custGeom>
              <a:avLst/>
              <a:gdLst>
                <a:gd name="txL" fmla="*/ 0 w 38"/>
                <a:gd name="txT" fmla="*/ 0 h 45"/>
                <a:gd name="txR" fmla="*/ 38 w 38"/>
                <a:gd name="txB" fmla="*/ 45 h 45"/>
              </a:gdLst>
              <a:ahLst/>
              <a:cxnLst>
                <a:cxn ang="0">
                  <a:pos x="38" y="0"/>
                </a:cxn>
                <a:cxn ang="0">
                  <a:pos x="38" y="19"/>
                </a:cxn>
                <a:cxn ang="0">
                  <a:pos x="25" y="32"/>
                </a:cxn>
                <a:cxn ang="0">
                  <a:pos x="13" y="45"/>
                </a:cxn>
                <a:cxn ang="0">
                  <a:pos x="0" y="45"/>
                </a:cxn>
                <a:cxn ang="0">
                  <a:pos x="0" y="45"/>
                </a:cxn>
                <a:cxn ang="0">
                  <a:pos x="13" y="45"/>
                </a:cxn>
                <a:cxn ang="0">
                  <a:pos x="25" y="32"/>
                </a:cxn>
                <a:cxn ang="0">
                  <a:pos x="38" y="19"/>
                </a:cxn>
                <a:cxn ang="0">
                  <a:pos x="38" y="0"/>
                </a:cxn>
                <a:cxn ang="0">
                  <a:pos x="38" y="0"/>
                </a:cxn>
                <a:cxn ang="0">
                  <a:pos x="38" y="0"/>
                </a:cxn>
                <a:cxn ang="0">
                  <a:pos x="38" y="0"/>
                </a:cxn>
                <a:cxn ang="0">
                  <a:pos x="38" y="0"/>
                </a:cxn>
              </a:cxnLst>
              <a:rect l="txL" t="txT" r="txR" b="txB"/>
              <a:pathLst>
                <a:path w="38" h="45">
                  <a:moveTo>
                    <a:pt x="38" y="0"/>
                  </a:moveTo>
                  <a:lnTo>
                    <a:pt x="38" y="19"/>
                  </a:lnTo>
                  <a:lnTo>
                    <a:pt x="25" y="32"/>
                  </a:lnTo>
                  <a:lnTo>
                    <a:pt x="13" y="45"/>
                  </a:lnTo>
                  <a:lnTo>
                    <a:pt x="0" y="45"/>
                  </a:lnTo>
                  <a:lnTo>
                    <a:pt x="13" y="45"/>
                  </a:lnTo>
                  <a:lnTo>
                    <a:pt x="25" y="32"/>
                  </a:lnTo>
                  <a:lnTo>
                    <a:pt x="38" y="19"/>
                  </a:lnTo>
                  <a:lnTo>
                    <a:pt x="38" y="0"/>
                  </a:lnTo>
                  <a:close/>
                  <a:moveTo>
                    <a:pt x="38" y="0"/>
                  </a:moveTo>
                  <a:lnTo>
                    <a:pt x="3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28" name="Freeform 28"/>
            <p:cNvSpPr/>
            <p:nvPr/>
          </p:nvSpPr>
          <p:spPr>
            <a:xfrm>
              <a:off x="1277" y="687"/>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29" name="Freeform 29"/>
            <p:cNvSpPr/>
            <p:nvPr/>
          </p:nvSpPr>
          <p:spPr>
            <a:xfrm>
              <a:off x="1239" y="1585"/>
              <a:ext cx="82" cy="83"/>
            </a:xfrm>
            <a:custGeom>
              <a:avLst/>
              <a:gdLst>
                <a:gd name="txL" fmla="*/ 0 w 82"/>
                <a:gd name="txT" fmla="*/ 0 h 83"/>
                <a:gd name="txR" fmla="*/ 82 w 82"/>
                <a:gd name="txB" fmla="*/ 83 h 83"/>
              </a:gdLst>
              <a:ahLst/>
              <a:cxnLst>
                <a:cxn ang="0">
                  <a:pos x="38" y="83"/>
                </a:cxn>
                <a:cxn ang="0">
                  <a:pos x="25" y="83"/>
                </a:cxn>
                <a:cxn ang="0">
                  <a:pos x="12" y="70"/>
                </a:cxn>
                <a:cxn ang="0">
                  <a:pos x="6" y="57"/>
                </a:cxn>
                <a:cxn ang="0">
                  <a:pos x="0" y="44"/>
                </a:cxn>
                <a:cxn ang="0">
                  <a:pos x="6" y="25"/>
                </a:cxn>
                <a:cxn ang="0">
                  <a:pos x="12" y="13"/>
                </a:cxn>
                <a:cxn ang="0">
                  <a:pos x="25" y="6"/>
                </a:cxn>
                <a:cxn ang="0">
                  <a:pos x="38" y="0"/>
                </a:cxn>
                <a:cxn ang="0">
                  <a:pos x="57" y="6"/>
                </a:cxn>
                <a:cxn ang="0">
                  <a:pos x="70" y="13"/>
                </a:cxn>
                <a:cxn ang="0">
                  <a:pos x="82" y="25"/>
                </a:cxn>
                <a:cxn ang="0">
                  <a:pos x="82" y="44"/>
                </a:cxn>
                <a:cxn ang="0">
                  <a:pos x="82" y="57"/>
                </a:cxn>
                <a:cxn ang="0">
                  <a:pos x="70" y="70"/>
                </a:cxn>
                <a:cxn ang="0">
                  <a:pos x="57" y="83"/>
                </a:cxn>
                <a:cxn ang="0">
                  <a:pos x="38" y="83"/>
                </a:cxn>
                <a:cxn ang="0">
                  <a:pos x="38" y="83"/>
                </a:cxn>
              </a:cxnLst>
              <a:rect l="txL" t="txT" r="txR" b="txB"/>
              <a:pathLst>
                <a:path w="82" h="83">
                  <a:moveTo>
                    <a:pt x="38" y="83"/>
                  </a:moveTo>
                  <a:lnTo>
                    <a:pt x="25" y="83"/>
                  </a:lnTo>
                  <a:lnTo>
                    <a:pt x="12" y="70"/>
                  </a:lnTo>
                  <a:lnTo>
                    <a:pt x="6" y="57"/>
                  </a:lnTo>
                  <a:lnTo>
                    <a:pt x="0" y="44"/>
                  </a:lnTo>
                  <a:lnTo>
                    <a:pt x="6" y="25"/>
                  </a:lnTo>
                  <a:lnTo>
                    <a:pt x="12" y="13"/>
                  </a:lnTo>
                  <a:lnTo>
                    <a:pt x="25" y="6"/>
                  </a:lnTo>
                  <a:lnTo>
                    <a:pt x="38" y="0"/>
                  </a:lnTo>
                  <a:lnTo>
                    <a:pt x="57" y="6"/>
                  </a:lnTo>
                  <a:lnTo>
                    <a:pt x="70" y="13"/>
                  </a:lnTo>
                  <a:lnTo>
                    <a:pt x="82" y="25"/>
                  </a:lnTo>
                  <a:lnTo>
                    <a:pt x="82" y="44"/>
                  </a:lnTo>
                  <a:lnTo>
                    <a:pt x="82" y="57"/>
                  </a:lnTo>
                  <a:lnTo>
                    <a:pt x="70" y="70"/>
                  </a:lnTo>
                  <a:lnTo>
                    <a:pt x="57" y="83"/>
                  </a:lnTo>
                  <a:lnTo>
                    <a:pt x="38" y="83"/>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0" name="Freeform 30"/>
            <p:cNvSpPr/>
            <p:nvPr/>
          </p:nvSpPr>
          <p:spPr>
            <a:xfrm>
              <a:off x="1239" y="1629"/>
              <a:ext cx="38" cy="39"/>
            </a:xfrm>
            <a:custGeom>
              <a:avLst/>
              <a:gdLst>
                <a:gd name="txL" fmla="*/ 0 w 38"/>
                <a:gd name="txT" fmla="*/ 0 h 39"/>
                <a:gd name="txR" fmla="*/ 38 w 38"/>
                <a:gd name="txB" fmla="*/ 39 h 39"/>
              </a:gdLst>
              <a:ahLst/>
              <a:cxnLst>
                <a:cxn ang="0">
                  <a:pos x="38" y="39"/>
                </a:cxn>
                <a:cxn ang="0">
                  <a:pos x="25" y="39"/>
                </a:cxn>
                <a:cxn ang="0">
                  <a:pos x="12" y="26"/>
                </a:cxn>
                <a:cxn ang="0">
                  <a:pos x="6" y="13"/>
                </a:cxn>
                <a:cxn ang="0">
                  <a:pos x="0" y="0"/>
                </a:cxn>
                <a:cxn ang="0">
                  <a:pos x="0" y="0"/>
                </a:cxn>
                <a:cxn ang="0">
                  <a:pos x="6" y="13"/>
                </a:cxn>
                <a:cxn ang="0">
                  <a:pos x="12" y="26"/>
                </a:cxn>
                <a:cxn ang="0">
                  <a:pos x="25" y="39"/>
                </a:cxn>
                <a:cxn ang="0">
                  <a:pos x="38" y="39"/>
                </a:cxn>
                <a:cxn ang="0">
                  <a:pos x="38" y="39"/>
                </a:cxn>
              </a:cxnLst>
              <a:rect l="txL" t="txT" r="txR" b="txB"/>
              <a:pathLst>
                <a:path w="38" h="39">
                  <a:moveTo>
                    <a:pt x="38" y="39"/>
                  </a:moveTo>
                  <a:lnTo>
                    <a:pt x="25" y="39"/>
                  </a:lnTo>
                  <a:lnTo>
                    <a:pt x="12" y="26"/>
                  </a:lnTo>
                  <a:lnTo>
                    <a:pt x="6" y="13"/>
                  </a:lnTo>
                  <a:lnTo>
                    <a:pt x="0" y="0"/>
                  </a:lnTo>
                  <a:lnTo>
                    <a:pt x="6" y="13"/>
                  </a:lnTo>
                  <a:lnTo>
                    <a:pt x="12" y="26"/>
                  </a:lnTo>
                  <a:lnTo>
                    <a:pt x="25" y="39"/>
                  </a:lnTo>
                  <a:lnTo>
                    <a:pt x="38" y="3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1" name="Freeform 31"/>
            <p:cNvSpPr>
              <a:spLocks noEditPoints="1"/>
            </p:cNvSpPr>
            <p:nvPr/>
          </p:nvSpPr>
          <p:spPr>
            <a:xfrm>
              <a:off x="1239" y="1585"/>
              <a:ext cx="38" cy="44"/>
            </a:xfrm>
            <a:custGeom>
              <a:avLst/>
              <a:gdLst>
                <a:gd name="txL" fmla="*/ 0 w 38"/>
                <a:gd name="txT" fmla="*/ 0 h 44"/>
                <a:gd name="txR" fmla="*/ 38 w 38"/>
                <a:gd name="txB" fmla="*/ 44 h 44"/>
              </a:gdLst>
              <a:ahLst/>
              <a:cxnLst>
                <a:cxn ang="0">
                  <a:pos x="0" y="44"/>
                </a:cxn>
                <a:cxn ang="0">
                  <a:pos x="6" y="25"/>
                </a:cxn>
                <a:cxn ang="0">
                  <a:pos x="12" y="13"/>
                </a:cxn>
                <a:cxn ang="0">
                  <a:pos x="25" y="6"/>
                </a:cxn>
                <a:cxn ang="0">
                  <a:pos x="38" y="0"/>
                </a:cxn>
                <a:cxn ang="0">
                  <a:pos x="38" y="0"/>
                </a:cxn>
                <a:cxn ang="0">
                  <a:pos x="25" y="6"/>
                </a:cxn>
                <a:cxn ang="0">
                  <a:pos x="12" y="13"/>
                </a:cxn>
                <a:cxn ang="0">
                  <a:pos x="6" y="25"/>
                </a:cxn>
                <a:cxn ang="0">
                  <a:pos x="0" y="44"/>
                </a:cxn>
                <a:cxn ang="0">
                  <a:pos x="0" y="44"/>
                </a:cxn>
                <a:cxn ang="0">
                  <a:pos x="0" y="44"/>
                </a:cxn>
                <a:cxn ang="0">
                  <a:pos x="0" y="44"/>
                </a:cxn>
                <a:cxn ang="0">
                  <a:pos x="0" y="44"/>
                </a:cxn>
              </a:cxnLst>
              <a:rect l="txL" t="txT" r="txR" b="txB"/>
              <a:pathLst>
                <a:path w="38" h="44">
                  <a:moveTo>
                    <a:pt x="0" y="44"/>
                  </a:moveTo>
                  <a:lnTo>
                    <a:pt x="6" y="25"/>
                  </a:lnTo>
                  <a:lnTo>
                    <a:pt x="12" y="13"/>
                  </a:lnTo>
                  <a:lnTo>
                    <a:pt x="25" y="6"/>
                  </a:lnTo>
                  <a:lnTo>
                    <a:pt x="38" y="0"/>
                  </a:lnTo>
                  <a:lnTo>
                    <a:pt x="25" y="6"/>
                  </a:lnTo>
                  <a:lnTo>
                    <a:pt x="12" y="13"/>
                  </a:lnTo>
                  <a:lnTo>
                    <a:pt x="6" y="25"/>
                  </a:lnTo>
                  <a:lnTo>
                    <a:pt x="0" y="44"/>
                  </a:lnTo>
                  <a:close/>
                  <a:moveTo>
                    <a:pt x="0" y="44"/>
                  </a:moveTo>
                  <a:lnTo>
                    <a:pt x="0" y="4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2" name="Freeform 32"/>
            <p:cNvSpPr>
              <a:spLocks noEditPoints="1"/>
            </p:cNvSpPr>
            <p:nvPr/>
          </p:nvSpPr>
          <p:spPr>
            <a:xfrm>
              <a:off x="1277" y="1585"/>
              <a:ext cx="44" cy="44"/>
            </a:xfrm>
            <a:custGeom>
              <a:avLst/>
              <a:gdLst>
                <a:gd name="txL" fmla="*/ 0 w 44"/>
                <a:gd name="txT" fmla="*/ 0 h 44"/>
                <a:gd name="txR" fmla="*/ 44 w 44"/>
                <a:gd name="txB" fmla="*/ 44 h 44"/>
              </a:gdLst>
              <a:ahLst/>
              <a:cxnLst>
                <a:cxn ang="0">
                  <a:pos x="0" y="0"/>
                </a:cxn>
                <a:cxn ang="0">
                  <a:pos x="19" y="6"/>
                </a:cxn>
                <a:cxn ang="0">
                  <a:pos x="32" y="13"/>
                </a:cxn>
                <a:cxn ang="0">
                  <a:pos x="44" y="25"/>
                </a:cxn>
                <a:cxn ang="0">
                  <a:pos x="44" y="44"/>
                </a:cxn>
                <a:cxn ang="0">
                  <a:pos x="44" y="44"/>
                </a:cxn>
                <a:cxn ang="0">
                  <a:pos x="44" y="25"/>
                </a:cxn>
                <a:cxn ang="0">
                  <a:pos x="32" y="13"/>
                </a:cxn>
                <a:cxn ang="0">
                  <a:pos x="19" y="6"/>
                </a:cxn>
                <a:cxn ang="0">
                  <a:pos x="0" y="0"/>
                </a:cxn>
                <a:cxn ang="0">
                  <a:pos x="0" y="0"/>
                </a:cxn>
                <a:cxn ang="0">
                  <a:pos x="0" y="0"/>
                </a:cxn>
                <a:cxn ang="0">
                  <a:pos x="0" y="0"/>
                </a:cxn>
                <a:cxn ang="0">
                  <a:pos x="0" y="0"/>
                </a:cxn>
              </a:cxnLst>
              <a:rect l="txL" t="txT" r="txR" b="txB"/>
              <a:pathLst>
                <a:path w="44" h="44">
                  <a:moveTo>
                    <a:pt x="0" y="0"/>
                  </a:moveTo>
                  <a:lnTo>
                    <a:pt x="19" y="6"/>
                  </a:lnTo>
                  <a:lnTo>
                    <a:pt x="32" y="13"/>
                  </a:lnTo>
                  <a:lnTo>
                    <a:pt x="44" y="25"/>
                  </a:lnTo>
                  <a:lnTo>
                    <a:pt x="44" y="44"/>
                  </a:lnTo>
                  <a:lnTo>
                    <a:pt x="44" y="25"/>
                  </a:lnTo>
                  <a:lnTo>
                    <a:pt x="32" y="13"/>
                  </a:lnTo>
                  <a:lnTo>
                    <a:pt x="19" y="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3" name="Freeform 33"/>
            <p:cNvSpPr>
              <a:spLocks noEditPoints="1"/>
            </p:cNvSpPr>
            <p:nvPr/>
          </p:nvSpPr>
          <p:spPr>
            <a:xfrm>
              <a:off x="1277" y="1629"/>
              <a:ext cx="44" cy="39"/>
            </a:xfrm>
            <a:custGeom>
              <a:avLst/>
              <a:gdLst>
                <a:gd name="txL" fmla="*/ 0 w 44"/>
                <a:gd name="txT" fmla="*/ 0 h 39"/>
                <a:gd name="txR" fmla="*/ 44 w 44"/>
                <a:gd name="txB" fmla="*/ 39 h 39"/>
              </a:gdLst>
              <a:ahLst/>
              <a:cxnLst>
                <a:cxn ang="0">
                  <a:pos x="44" y="0"/>
                </a:cxn>
                <a:cxn ang="0">
                  <a:pos x="44" y="13"/>
                </a:cxn>
                <a:cxn ang="0">
                  <a:pos x="32" y="26"/>
                </a:cxn>
                <a:cxn ang="0">
                  <a:pos x="19" y="39"/>
                </a:cxn>
                <a:cxn ang="0">
                  <a:pos x="0" y="39"/>
                </a:cxn>
                <a:cxn ang="0">
                  <a:pos x="0" y="39"/>
                </a:cxn>
                <a:cxn ang="0">
                  <a:pos x="19" y="39"/>
                </a:cxn>
                <a:cxn ang="0">
                  <a:pos x="32" y="26"/>
                </a:cxn>
                <a:cxn ang="0">
                  <a:pos x="44" y="13"/>
                </a:cxn>
                <a:cxn ang="0">
                  <a:pos x="44" y="0"/>
                </a:cxn>
                <a:cxn ang="0">
                  <a:pos x="44" y="0"/>
                </a:cxn>
                <a:cxn ang="0">
                  <a:pos x="44" y="0"/>
                </a:cxn>
                <a:cxn ang="0">
                  <a:pos x="44" y="0"/>
                </a:cxn>
                <a:cxn ang="0">
                  <a:pos x="44" y="0"/>
                </a:cxn>
              </a:cxnLst>
              <a:rect l="txL" t="txT" r="txR" b="txB"/>
              <a:pathLst>
                <a:path w="44" h="39">
                  <a:moveTo>
                    <a:pt x="44" y="0"/>
                  </a:moveTo>
                  <a:lnTo>
                    <a:pt x="44" y="13"/>
                  </a:lnTo>
                  <a:lnTo>
                    <a:pt x="32" y="26"/>
                  </a:lnTo>
                  <a:lnTo>
                    <a:pt x="19" y="39"/>
                  </a:lnTo>
                  <a:lnTo>
                    <a:pt x="0" y="39"/>
                  </a:lnTo>
                  <a:lnTo>
                    <a:pt x="19" y="39"/>
                  </a:lnTo>
                  <a:lnTo>
                    <a:pt x="32" y="26"/>
                  </a:lnTo>
                  <a:lnTo>
                    <a:pt x="44" y="13"/>
                  </a:lnTo>
                  <a:lnTo>
                    <a:pt x="44" y="0"/>
                  </a:lnTo>
                  <a:close/>
                  <a:moveTo>
                    <a:pt x="44" y="0"/>
                  </a:moveTo>
                  <a:lnTo>
                    <a:pt x="44"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4" name="Freeform 34"/>
            <p:cNvSpPr/>
            <p:nvPr/>
          </p:nvSpPr>
          <p:spPr>
            <a:xfrm>
              <a:off x="1277" y="1668"/>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5" name="Freeform 35"/>
            <p:cNvSpPr/>
            <p:nvPr/>
          </p:nvSpPr>
          <p:spPr>
            <a:xfrm>
              <a:off x="1832" y="636"/>
              <a:ext cx="1" cy="987"/>
            </a:xfrm>
            <a:custGeom>
              <a:avLst/>
              <a:gdLst>
                <a:gd name="txL" fmla="*/ 0 w 1"/>
                <a:gd name="txT" fmla="*/ 0 h 987"/>
                <a:gd name="txR" fmla="*/ 1 w 1"/>
                <a:gd name="txB" fmla="*/ 987 h 987"/>
              </a:gdLst>
              <a:ahLst/>
              <a:cxnLst>
                <a:cxn ang="0">
                  <a:pos x="0" y="0"/>
                </a:cxn>
                <a:cxn ang="0">
                  <a:pos x="0" y="987"/>
                </a:cxn>
                <a:cxn ang="0">
                  <a:pos x="0" y="0"/>
                </a:cxn>
                <a:cxn ang="0">
                  <a:pos x="0" y="0"/>
                </a:cxn>
              </a:cxnLst>
              <a:rect l="txL" t="txT" r="txR" b="txB"/>
              <a:pathLst>
                <a:path w="1" h="987">
                  <a:moveTo>
                    <a:pt x="0" y="0"/>
                  </a:moveTo>
                  <a:lnTo>
                    <a:pt x="0" y="987"/>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6" name="Freeform 36"/>
            <p:cNvSpPr>
              <a:spLocks noEditPoints="1"/>
            </p:cNvSpPr>
            <p:nvPr/>
          </p:nvSpPr>
          <p:spPr>
            <a:xfrm>
              <a:off x="1666" y="789"/>
              <a:ext cx="32" cy="121"/>
            </a:xfrm>
            <a:custGeom>
              <a:avLst/>
              <a:gdLst>
                <a:gd name="txL" fmla="*/ 0 w 32"/>
                <a:gd name="txT" fmla="*/ 0 h 121"/>
                <a:gd name="txR" fmla="*/ 32 w 32"/>
                <a:gd name="txB" fmla="*/ 121 h 121"/>
              </a:gdLst>
              <a:ahLst/>
              <a:cxnLst>
                <a:cxn ang="0">
                  <a:pos x="25" y="95"/>
                </a:cxn>
                <a:cxn ang="0">
                  <a:pos x="19" y="108"/>
                </a:cxn>
                <a:cxn ang="0">
                  <a:pos x="13" y="114"/>
                </a:cxn>
                <a:cxn ang="0">
                  <a:pos x="13" y="114"/>
                </a:cxn>
                <a:cxn ang="0">
                  <a:pos x="13" y="108"/>
                </a:cxn>
                <a:cxn ang="0">
                  <a:pos x="13" y="102"/>
                </a:cxn>
                <a:cxn ang="0">
                  <a:pos x="13" y="95"/>
                </a:cxn>
                <a:cxn ang="0">
                  <a:pos x="25" y="38"/>
                </a:cxn>
                <a:cxn ang="0">
                  <a:pos x="25" y="38"/>
                </a:cxn>
                <a:cxn ang="0">
                  <a:pos x="13" y="44"/>
                </a:cxn>
                <a:cxn ang="0">
                  <a:pos x="0" y="44"/>
                </a:cxn>
                <a:cxn ang="0">
                  <a:pos x="0" y="44"/>
                </a:cxn>
                <a:cxn ang="0">
                  <a:pos x="13" y="51"/>
                </a:cxn>
                <a:cxn ang="0">
                  <a:pos x="13" y="51"/>
                </a:cxn>
                <a:cxn ang="0">
                  <a:pos x="13" y="63"/>
                </a:cxn>
                <a:cxn ang="0">
                  <a:pos x="6" y="82"/>
                </a:cxn>
                <a:cxn ang="0">
                  <a:pos x="0" y="95"/>
                </a:cxn>
                <a:cxn ang="0">
                  <a:pos x="0" y="108"/>
                </a:cxn>
                <a:cxn ang="0">
                  <a:pos x="0" y="114"/>
                </a:cxn>
                <a:cxn ang="0">
                  <a:pos x="6" y="121"/>
                </a:cxn>
                <a:cxn ang="0">
                  <a:pos x="19" y="114"/>
                </a:cxn>
                <a:cxn ang="0">
                  <a:pos x="32" y="102"/>
                </a:cxn>
                <a:cxn ang="0">
                  <a:pos x="25" y="95"/>
                </a:cxn>
                <a:cxn ang="0">
                  <a:pos x="32" y="12"/>
                </a:cxn>
                <a:cxn ang="0">
                  <a:pos x="32" y="6"/>
                </a:cxn>
                <a:cxn ang="0">
                  <a:pos x="25" y="0"/>
                </a:cxn>
                <a:cxn ang="0">
                  <a:pos x="19" y="6"/>
                </a:cxn>
                <a:cxn ang="0">
                  <a:pos x="19" y="12"/>
                </a:cxn>
                <a:cxn ang="0">
                  <a:pos x="19" y="19"/>
                </a:cxn>
                <a:cxn ang="0">
                  <a:pos x="25" y="19"/>
                </a:cxn>
                <a:cxn ang="0">
                  <a:pos x="32" y="19"/>
                </a:cxn>
                <a:cxn ang="0">
                  <a:pos x="32" y="12"/>
                </a:cxn>
                <a:cxn ang="0">
                  <a:pos x="32" y="12"/>
                </a:cxn>
              </a:cxnLst>
              <a:rect l="txL" t="txT" r="txR" b="txB"/>
              <a:pathLst>
                <a:path w="32" h="121">
                  <a:moveTo>
                    <a:pt x="25" y="95"/>
                  </a:moveTo>
                  <a:lnTo>
                    <a:pt x="19" y="108"/>
                  </a:lnTo>
                  <a:lnTo>
                    <a:pt x="13" y="114"/>
                  </a:lnTo>
                  <a:lnTo>
                    <a:pt x="13" y="108"/>
                  </a:lnTo>
                  <a:lnTo>
                    <a:pt x="13" y="102"/>
                  </a:lnTo>
                  <a:lnTo>
                    <a:pt x="13" y="95"/>
                  </a:lnTo>
                  <a:lnTo>
                    <a:pt x="25" y="38"/>
                  </a:lnTo>
                  <a:lnTo>
                    <a:pt x="13" y="44"/>
                  </a:lnTo>
                  <a:lnTo>
                    <a:pt x="0" y="44"/>
                  </a:lnTo>
                  <a:lnTo>
                    <a:pt x="13" y="51"/>
                  </a:lnTo>
                  <a:lnTo>
                    <a:pt x="13" y="63"/>
                  </a:lnTo>
                  <a:lnTo>
                    <a:pt x="6" y="82"/>
                  </a:lnTo>
                  <a:lnTo>
                    <a:pt x="0" y="95"/>
                  </a:lnTo>
                  <a:lnTo>
                    <a:pt x="0" y="108"/>
                  </a:lnTo>
                  <a:lnTo>
                    <a:pt x="0" y="114"/>
                  </a:lnTo>
                  <a:lnTo>
                    <a:pt x="6" y="121"/>
                  </a:lnTo>
                  <a:lnTo>
                    <a:pt x="19" y="114"/>
                  </a:lnTo>
                  <a:lnTo>
                    <a:pt x="32" y="102"/>
                  </a:lnTo>
                  <a:lnTo>
                    <a:pt x="25" y="95"/>
                  </a:lnTo>
                  <a:close/>
                  <a:moveTo>
                    <a:pt x="32" y="12"/>
                  </a:moveTo>
                  <a:lnTo>
                    <a:pt x="32" y="6"/>
                  </a:lnTo>
                  <a:lnTo>
                    <a:pt x="25" y="0"/>
                  </a:lnTo>
                  <a:lnTo>
                    <a:pt x="19" y="6"/>
                  </a:lnTo>
                  <a:lnTo>
                    <a:pt x="19" y="12"/>
                  </a:lnTo>
                  <a:lnTo>
                    <a:pt x="19" y="19"/>
                  </a:lnTo>
                  <a:lnTo>
                    <a:pt x="25" y="19"/>
                  </a:lnTo>
                  <a:lnTo>
                    <a:pt x="32" y="19"/>
                  </a:lnTo>
                  <a:lnTo>
                    <a:pt x="32"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7" name="Freeform 37"/>
            <p:cNvSpPr/>
            <p:nvPr/>
          </p:nvSpPr>
          <p:spPr>
            <a:xfrm>
              <a:off x="1717" y="859"/>
              <a:ext cx="38" cy="95"/>
            </a:xfrm>
            <a:custGeom>
              <a:avLst/>
              <a:gdLst>
                <a:gd name="txL" fmla="*/ 0 w 38"/>
                <a:gd name="txT" fmla="*/ 0 h 95"/>
                <a:gd name="txR" fmla="*/ 38 w 38"/>
                <a:gd name="txB" fmla="*/ 95 h 95"/>
              </a:gdLst>
              <a:ahLst/>
              <a:cxnLst>
                <a:cxn ang="0">
                  <a:pos x="0" y="95"/>
                </a:cxn>
                <a:cxn ang="0">
                  <a:pos x="38" y="95"/>
                </a:cxn>
                <a:cxn ang="0">
                  <a:pos x="38" y="89"/>
                </a:cxn>
                <a:cxn ang="0">
                  <a:pos x="25" y="89"/>
                </a:cxn>
                <a:cxn ang="0">
                  <a:pos x="25" y="82"/>
                </a:cxn>
                <a:cxn ang="0">
                  <a:pos x="25" y="0"/>
                </a:cxn>
                <a:cxn ang="0">
                  <a:pos x="25" y="0"/>
                </a:cxn>
                <a:cxn ang="0">
                  <a:pos x="0" y="12"/>
                </a:cxn>
                <a:cxn ang="0">
                  <a:pos x="0" y="19"/>
                </a:cxn>
                <a:cxn ang="0">
                  <a:pos x="6" y="12"/>
                </a:cxn>
                <a:cxn ang="0">
                  <a:pos x="6" y="12"/>
                </a:cxn>
                <a:cxn ang="0">
                  <a:pos x="13" y="19"/>
                </a:cxn>
                <a:cxn ang="0">
                  <a:pos x="13" y="19"/>
                </a:cxn>
                <a:cxn ang="0">
                  <a:pos x="13" y="82"/>
                </a:cxn>
                <a:cxn ang="0">
                  <a:pos x="6" y="89"/>
                </a:cxn>
                <a:cxn ang="0">
                  <a:pos x="0" y="89"/>
                </a:cxn>
                <a:cxn ang="0">
                  <a:pos x="0" y="95"/>
                </a:cxn>
              </a:cxnLst>
              <a:rect l="txL" t="txT" r="txR" b="txB"/>
              <a:pathLst>
                <a:path w="38" h="95">
                  <a:moveTo>
                    <a:pt x="0" y="95"/>
                  </a:moveTo>
                  <a:lnTo>
                    <a:pt x="38" y="95"/>
                  </a:lnTo>
                  <a:lnTo>
                    <a:pt x="38" y="89"/>
                  </a:lnTo>
                  <a:lnTo>
                    <a:pt x="25" y="89"/>
                  </a:lnTo>
                  <a:lnTo>
                    <a:pt x="25" y="82"/>
                  </a:lnTo>
                  <a:lnTo>
                    <a:pt x="25" y="0"/>
                  </a:lnTo>
                  <a:lnTo>
                    <a:pt x="0" y="12"/>
                  </a:lnTo>
                  <a:lnTo>
                    <a:pt x="0" y="19"/>
                  </a:lnTo>
                  <a:lnTo>
                    <a:pt x="6" y="12"/>
                  </a:lnTo>
                  <a:lnTo>
                    <a:pt x="13" y="19"/>
                  </a:lnTo>
                  <a:lnTo>
                    <a:pt x="13" y="82"/>
                  </a:lnTo>
                  <a:lnTo>
                    <a:pt x="6" y="89"/>
                  </a:lnTo>
                  <a:lnTo>
                    <a:pt x="0" y="89"/>
                  </a:lnTo>
                  <a:lnTo>
                    <a:pt x="0" y="9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8" name="Freeform 38"/>
            <p:cNvSpPr>
              <a:spLocks noEditPoints="1"/>
            </p:cNvSpPr>
            <p:nvPr/>
          </p:nvSpPr>
          <p:spPr>
            <a:xfrm>
              <a:off x="2297" y="789"/>
              <a:ext cx="39" cy="121"/>
            </a:xfrm>
            <a:custGeom>
              <a:avLst/>
              <a:gdLst>
                <a:gd name="txL" fmla="*/ 0 w 39"/>
                <a:gd name="txT" fmla="*/ 0 h 121"/>
                <a:gd name="txR" fmla="*/ 39 w 39"/>
                <a:gd name="txB" fmla="*/ 121 h 121"/>
              </a:gdLst>
              <a:ahLst/>
              <a:cxnLst>
                <a:cxn ang="0">
                  <a:pos x="32" y="95"/>
                </a:cxn>
                <a:cxn ang="0">
                  <a:pos x="26" y="108"/>
                </a:cxn>
                <a:cxn ang="0">
                  <a:pos x="19" y="108"/>
                </a:cxn>
                <a:cxn ang="0">
                  <a:pos x="19" y="108"/>
                </a:cxn>
                <a:cxn ang="0">
                  <a:pos x="13" y="108"/>
                </a:cxn>
                <a:cxn ang="0">
                  <a:pos x="19" y="102"/>
                </a:cxn>
                <a:cxn ang="0">
                  <a:pos x="19" y="95"/>
                </a:cxn>
                <a:cxn ang="0">
                  <a:pos x="32" y="38"/>
                </a:cxn>
                <a:cxn ang="0">
                  <a:pos x="32" y="38"/>
                </a:cxn>
                <a:cxn ang="0">
                  <a:pos x="19" y="44"/>
                </a:cxn>
                <a:cxn ang="0">
                  <a:pos x="7" y="44"/>
                </a:cxn>
                <a:cxn ang="0">
                  <a:pos x="7" y="44"/>
                </a:cxn>
                <a:cxn ang="0">
                  <a:pos x="13" y="44"/>
                </a:cxn>
                <a:cxn ang="0">
                  <a:pos x="19" y="51"/>
                </a:cxn>
                <a:cxn ang="0">
                  <a:pos x="19" y="63"/>
                </a:cxn>
                <a:cxn ang="0">
                  <a:pos x="13" y="82"/>
                </a:cxn>
                <a:cxn ang="0">
                  <a:pos x="7" y="95"/>
                </a:cxn>
                <a:cxn ang="0">
                  <a:pos x="0" y="108"/>
                </a:cxn>
                <a:cxn ang="0">
                  <a:pos x="0" y="114"/>
                </a:cxn>
                <a:cxn ang="0">
                  <a:pos x="13" y="121"/>
                </a:cxn>
                <a:cxn ang="0">
                  <a:pos x="26" y="114"/>
                </a:cxn>
                <a:cxn ang="0">
                  <a:pos x="32" y="102"/>
                </a:cxn>
                <a:cxn ang="0">
                  <a:pos x="32" y="95"/>
                </a:cxn>
                <a:cxn ang="0">
                  <a:pos x="39" y="12"/>
                </a:cxn>
                <a:cxn ang="0">
                  <a:pos x="39" y="6"/>
                </a:cxn>
                <a:cxn ang="0">
                  <a:pos x="32" y="0"/>
                </a:cxn>
                <a:cxn ang="0">
                  <a:pos x="26" y="6"/>
                </a:cxn>
                <a:cxn ang="0">
                  <a:pos x="26" y="12"/>
                </a:cxn>
                <a:cxn ang="0">
                  <a:pos x="26" y="19"/>
                </a:cxn>
                <a:cxn ang="0">
                  <a:pos x="32" y="19"/>
                </a:cxn>
                <a:cxn ang="0">
                  <a:pos x="39" y="19"/>
                </a:cxn>
                <a:cxn ang="0">
                  <a:pos x="39" y="12"/>
                </a:cxn>
                <a:cxn ang="0">
                  <a:pos x="39" y="12"/>
                </a:cxn>
              </a:cxnLst>
              <a:rect l="txL" t="txT" r="txR" b="txB"/>
              <a:pathLst>
                <a:path w="39" h="121">
                  <a:moveTo>
                    <a:pt x="32" y="95"/>
                  </a:moveTo>
                  <a:lnTo>
                    <a:pt x="26" y="108"/>
                  </a:lnTo>
                  <a:lnTo>
                    <a:pt x="19" y="108"/>
                  </a:lnTo>
                  <a:lnTo>
                    <a:pt x="13" y="108"/>
                  </a:lnTo>
                  <a:lnTo>
                    <a:pt x="19" y="102"/>
                  </a:lnTo>
                  <a:lnTo>
                    <a:pt x="19" y="95"/>
                  </a:lnTo>
                  <a:lnTo>
                    <a:pt x="32" y="38"/>
                  </a:lnTo>
                  <a:lnTo>
                    <a:pt x="19" y="44"/>
                  </a:lnTo>
                  <a:lnTo>
                    <a:pt x="7" y="44"/>
                  </a:lnTo>
                  <a:lnTo>
                    <a:pt x="13" y="44"/>
                  </a:lnTo>
                  <a:lnTo>
                    <a:pt x="19" y="51"/>
                  </a:lnTo>
                  <a:lnTo>
                    <a:pt x="19" y="63"/>
                  </a:lnTo>
                  <a:lnTo>
                    <a:pt x="13" y="82"/>
                  </a:lnTo>
                  <a:lnTo>
                    <a:pt x="7" y="95"/>
                  </a:lnTo>
                  <a:lnTo>
                    <a:pt x="0" y="108"/>
                  </a:lnTo>
                  <a:lnTo>
                    <a:pt x="0" y="114"/>
                  </a:lnTo>
                  <a:lnTo>
                    <a:pt x="13" y="121"/>
                  </a:lnTo>
                  <a:lnTo>
                    <a:pt x="26" y="114"/>
                  </a:lnTo>
                  <a:lnTo>
                    <a:pt x="32" y="102"/>
                  </a:lnTo>
                  <a:lnTo>
                    <a:pt x="32" y="95"/>
                  </a:lnTo>
                  <a:close/>
                  <a:moveTo>
                    <a:pt x="39" y="12"/>
                  </a:moveTo>
                  <a:lnTo>
                    <a:pt x="39" y="6"/>
                  </a:lnTo>
                  <a:lnTo>
                    <a:pt x="32" y="0"/>
                  </a:lnTo>
                  <a:lnTo>
                    <a:pt x="26" y="6"/>
                  </a:lnTo>
                  <a:lnTo>
                    <a:pt x="26" y="12"/>
                  </a:lnTo>
                  <a:lnTo>
                    <a:pt x="26" y="19"/>
                  </a:lnTo>
                  <a:lnTo>
                    <a:pt x="32" y="19"/>
                  </a:lnTo>
                  <a:lnTo>
                    <a:pt x="39" y="19"/>
                  </a:lnTo>
                  <a:lnTo>
                    <a:pt x="39"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39" name="Freeform 39"/>
            <p:cNvSpPr/>
            <p:nvPr/>
          </p:nvSpPr>
          <p:spPr>
            <a:xfrm>
              <a:off x="2342" y="859"/>
              <a:ext cx="57" cy="95"/>
            </a:xfrm>
            <a:custGeom>
              <a:avLst/>
              <a:gdLst>
                <a:gd name="txL" fmla="*/ 0 w 57"/>
                <a:gd name="txT" fmla="*/ 0 h 95"/>
                <a:gd name="txR" fmla="*/ 57 w 57"/>
                <a:gd name="txB" fmla="*/ 95 h 95"/>
              </a:gdLst>
              <a:ahLst/>
              <a:cxnLst>
                <a:cxn ang="0">
                  <a:pos x="57" y="76"/>
                </a:cxn>
                <a:cxn ang="0">
                  <a:pos x="57" y="76"/>
                </a:cxn>
                <a:cxn ang="0">
                  <a:pos x="51" y="82"/>
                </a:cxn>
                <a:cxn ang="0">
                  <a:pos x="45" y="82"/>
                </a:cxn>
                <a:cxn ang="0">
                  <a:pos x="13" y="82"/>
                </a:cxn>
                <a:cxn ang="0">
                  <a:pos x="38" y="57"/>
                </a:cxn>
                <a:cxn ang="0">
                  <a:pos x="45" y="44"/>
                </a:cxn>
                <a:cxn ang="0">
                  <a:pos x="51" y="25"/>
                </a:cxn>
                <a:cxn ang="0">
                  <a:pos x="45" y="6"/>
                </a:cxn>
                <a:cxn ang="0">
                  <a:pos x="32" y="0"/>
                </a:cxn>
                <a:cxn ang="0">
                  <a:pos x="13" y="6"/>
                </a:cxn>
                <a:cxn ang="0">
                  <a:pos x="0" y="25"/>
                </a:cxn>
                <a:cxn ang="0">
                  <a:pos x="6" y="32"/>
                </a:cxn>
                <a:cxn ang="0">
                  <a:pos x="13" y="19"/>
                </a:cxn>
                <a:cxn ang="0">
                  <a:pos x="25" y="12"/>
                </a:cxn>
                <a:cxn ang="0">
                  <a:pos x="38" y="19"/>
                </a:cxn>
                <a:cxn ang="0">
                  <a:pos x="38" y="32"/>
                </a:cxn>
                <a:cxn ang="0">
                  <a:pos x="38" y="44"/>
                </a:cxn>
                <a:cxn ang="0">
                  <a:pos x="25" y="63"/>
                </a:cxn>
                <a:cxn ang="0">
                  <a:pos x="0" y="89"/>
                </a:cxn>
                <a:cxn ang="0">
                  <a:pos x="0" y="95"/>
                </a:cxn>
                <a:cxn ang="0">
                  <a:pos x="51" y="95"/>
                </a:cxn>
                <a:cxn ang="0">
                  <a:pos x="57" y="76"/>
                </a:cxn>
              </a:cxnLst>
              <a:rect l="txL" t="txT" r="txR" b="txB"/>
              <a:pathLst>
                <a:path w="57" h="95">
                  <a:moveTo>
                    <a:pt x="57" y="76"/>
                  </a:moveTo>
                  <a:lnTo>
                    <a:pt x="57" y="76"/>
                  </a:lnTo>
                  <a:lnTo>
                    <a:pt x="51" y="82"/>
                  </a:lnTo>
                  <a:lnTo>
                    <a:pt x="45" y="82"/>
                  </a:lnTo>
                  <a:lnTo>
                    <a:pt x="13" y="82"/>
                  </a:lnTo>
                  <a:lnTo>
                    <a:pt x="38" y="57"/>
                  </a:lnTo>
                  <a:lnTo>
                    <a:pt x="45" y="44"/>
                  </a:lnTo>
                  <a:lnTo>
                    <a:pt x="51" y="25"/>
                  </a:lnTo>
                  <a:lnTo>
                    <a:pt x="45" y="6"/>
                  </a:lnTo>
                  <a:lnTo>
                    <a:pt x="32" y="0"/>
                  </a:lnTo>
                  <a:lnTo>
                    <a:pt x="13" y="6"/>
                  </a:lnTo>
                  <a:lnTo>
                    <a:pt x="0" y="25"/>
                  </a:lnTo>
                  <a:lnTo>
                    <a:pt x="6" y="32"/>
                  </a:lnTo>
                  <a:lnTo>
                    <a:pt x="13" y="19"/>
                  </a:lnTo>
                  <a:lnTo>
                    <a:pt x="25" y="12"/>
                  </a:lnTo>
                  <a:lnTo>
                    <a:pt x="38" y="19"/>
                  </a:lnTo>
                  <a:lnTo>
                    <a:pt x="38" y="32"/>
                  </a:lnTo>
                  <a:lnTo>
                    <a:pt x="38" y="44"/>
                  </a:lnTo>
                  <a:lnTo>
                    <a:pt x="25" y="63"/>
                  </a:lnTo>
                  <a:lnTo>
                    <a:pt x="0" y="89"/>
                  </a:lnTo>
                  <a:lnTo>
                    <a:pt x="0" y="95"/>
                  </a:lnTo>
                  <a:lnTo>
                    <a:pt x="51" y="95"/>
                  </a:lnTo>
                  <a:lnTo>
                    <a:pt x="57" y="7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0" name="Freeform 40"/>
            <p:cNvSpPr>
              <a:spLocks noEditPoints="1"/>
            </p:cNvSpPr>
            <p:nvPr/>
          </p:nvSpPr>
          <p:spPr>
            <a:xfrm>
              <a:off x="2948" y="789"/>
              <a:ext cx="38" cy="121"/>
            </a:xfrm>
            <a:custGeom>
              <a:avLst/>
              <a:gdLst>
                <a:gd name="txL" fmla="*/ 0 w 38"/>
                <a:gd name="txT" fmla="*/ 0 h 121"/>
                <a:gd name="txR" fmla="*/ 38 w 38"/>
                <a:gd name="txB" fmla="*/ 121 h 121"/>
              </a:gdLst>
              <a:ahLst/>
              <a:cxnLst>
                <a:cxn ang="0">
                  <a:pos x="32" y="95"/>
                </a:cxn>
                <a:cxn ang="0">
                  <a:pos x="25" y="108"/>
                </a:cxn>
                <a:cxn ang="0">
                  <a:pos x="19" y="114"/>
                </a:cxn>
                <a:cxn ang="0">
                  <a:pos x="19" y="114"/>
                </a:cxn>
                <a:cxn ang="0">
                  <a:pos x="13" y="108"/>
                </a:cxn>
                <a:cxn ang="0">
                  <a:pos x="19" y="102"/>
                </a:cxn>
                <a:cxn ang="0">
                  <a:pos x="19" y="95"/>
                </a:cxn>
                <a:cxn ang="0">
                  <a:pos x="32" y="38"/>
                </a:cxn>
                <a:cxn ang="0">
                  <a:pos x="32" y="38"/>
                </a:cxn>
                <a:cxn ang="0">
                  <a:pos x="19" y="44"/>
                </a:cxn>
                <a:cxn ang="0">
                  <a:pos x="6" y="44"/>
                </a:cxn>
                <a:cxn ang="0">
                  <a:pos x="6" y="44"/>
                </a:cxn>
                <a:cxn ang="0">
                  <a:pos x="13" y="51"/>
                </a:cxn>
                <a:cxn ang="0">
                  <a:pos x="13" y="51"/>
                </a:cxn>
                <a:cxn ang="0">
                  <a:pos x="13" y="63"/>
                </a:cxn>
                <a:cxn ang="0">
                  <a:pos x="6" y="82"/>
                </a:cxn>
                <a:cxn ang="0">
                  <a:pos x="0" y="95"/>
                </a:cxn>
                <a:cxn ang="0">
                  <a:pos x="0" y="108"/>
                </a:cxn>
                <a:cxn ang="0">
                  <a:pos x="0" y="114"/>
                </a:cxn>
                <a:cxn ang="0">
                  <a:pos x="13" y="121"/>
                </a:cxn>
                <a:cxn ang="0">
                  <a:pos x="25" y="114"/>
                </a:cxn>
                <a:cxn ang="0">
                  <a:pos x="32" y="102"/>
                </a:cxn>
                <a:cxn ang="0">
                  <a:pos x="32" y="95"/>
                </a:cxn>
                <a:cxn ang="0">
                  <a:pos x="38" y="12"/>
                </a:cxn>
                <a:cxn ang="0">
                  <a:pos x="38" y="6"/>
                </a:cxn>
                <a:cxn ang="0">
                  <a:pos x="32" y="0"/>
                </a:cxn>
                <a:cxn ang="0">
                  <a:pos x="25" y="6"/>
                </a:cxn>
                <a:cxn ang="0">
                  <a:pos x="25" y="12"/>
                </a:cxn>
                <a:cxn ang="0">
                  <a:pos x="25" y="19"/>
                </a:cxn>
                <a:cxn ang="0">
                  <a:pos x="32" y="19"/>
                </a:cxn>
                <a:cxn ang="0">
                  <a:pos x="38" y="19"/>
                </a:cxn>
                <a:cxn ang="0">
                  <a:pos x="38" y="12"/>
                </a:cxn>
                <a:cxn ang="0">
                  <a:pos x="38" y="12"/>
                </a:cxn>
              </a:cxnLst>
              <a:rect l="txL" t="txT" r="txR" b="txB"/>
              <a:pathLst>
                <a:path w="38" h="121">
                  <a:moveTo>
                    <a:pt x="32" y="95"/>
                  </a:moveTo>
                  <a:lnTo>
                    <a:pt x="25" y="108"/>
                  </a:lnTo>
                  <a:lnTo>
                    <a:pt x="19" y="114"/>
                  </a:lnTo>
                  <a:lnTo>
                    <a:pt x="13" y="108"/>
                  </a:lnTo>
                  <a:lnTo>
                    <a:pt x="19" y="102"/>
                  </a:lnTo>
                  <a:lnTo>
                    <a:pt x="19" y="95"/>
                  </a:lnTo>
                  <a:lnTo>
                    <a:pt x="32" y="38"/>
                  </a:lnTo>
                  <a:lnTo>
                    <a:pt x="19" y="44"/>
                  </a:lnTo>
                  <a:lnTo>
                    <a:pt x="6" y="44"/>
                  </a:lnTo>
                  <a:lnTo>
                    <a:pt x="13" y="51"/>
                  </a:lnTo>
                  <a:lnTo>
                    <a:pt x="13" y="63"/>
                  </a:lnTo>
                  <a:lnTo>
                    <a:pt x="6" y="82"/>
                  </a:lnTo>
                  <a:lnTo>
                    <a:pt x="0" y="95"/>
                  </a:lnTo>
                  <a:lnTo>
                    <a:pt x="0" y="108"/>
                  </a:lnTo>
                  <a:lnTo>
                    <a:pt x="0" y="114"/>
                  </a:lnTo>
                  <a:lnTo>
                    <a:pt x="13" y="121"/>
                  </a:lnTo>
                  <a:lnTo>
                    <a:pt x="25" y="114"/>
                  </a:lnTo>
                  <a:lnTo>
                    <a:pt x="32" y="102"/>
                  </a:lnTo>
                  <a:lnTo>
                    <a:pt x="32" y="95"/>
                  </a:lnTo>
                  <a:close/>
                  <a:moveTo>
                    <a:pt x="38" y="12"/>
                  </a:moveTo>
                  <a:lnTo>
                    <a:pt x="38" y="6"/>
                  </a:lnTo>
                  <a:lnTo>
                    <a:pt x="32" y="0"/>
                  </a:lnTo>
                  <a:lnTo>
                    <a:pt x="25" y="6"/>
                  </a:lnTo>
                  <a:lnTo>
                    <a:pt x="25" y="12"/>
                  </a:lnTo>
                  <a:lnTo>
                    <a:pt x="25" y="19"/>
                  </a:lnTo>
                  <a:lnTo>
                    <a:pt x="32" y="19"/>
                  </a:lnTo>
                  <a:lnTo>
                    <a:pt x="38" y="19"/>
                  </a:lnTo>
                  <a:lnTo>
                    <a:pt x="38"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1" name="Freeform 41"/>
            <p:cNvSpPr/>
            <p:nvPr/>
          </p:nvSpPr>
          <p:spPr>
            <a:xfrm>
              <a:off x="2992" y="859"/>
              <a:ext cx="52" cy="95"/>
            </a:xfrm>
            <a:custGeom>
              <a:avLst/>
              <a:gdLst>
                <a:gd name="txL" fmla="*/ 0 w 52"/>
                <a:gd name="txT" fmla="*/ 0 h 95"/>
                <a:gd name="txR" fmla="*/ 52 w 52"/>
                <a:gd name="txB" fmla="*/ 95 h 95"/>
              </a:gdLst>
              <a:ahLst/>
              <a:cxnLst>
                <a:cxn ang="0">
                  <a:pos x="20" y="51"/>
                </a:cxn>
                <a:cxn ang="0">
                  <a:pos x="26" y="51"/>
                </a:cxn>
                <a:cxn ang="0">
                  <a:pos x="32" y="51"/>
                </a:cxn>
                <a:cxn ang="0">
                  <a:pos x="45" y="63"/>
                </a:cxn>
                <a:cxn ang="0">
                  <a:pos x="45" y="70"/>
                </a:cxn>
                <a:cxn ang="0">
                  <a:pos x="39" y="82"/>
                </a:cxn>
                <a:cxn ang="0">
                  <a:pos x="26" y="89"/>
                </a:cxn>
                <a:cxn ang="0">
                  <a:pos x="20" y="89"/>
                </a:cxn>
                <a:cxn ang="0">
                  <a:pos x="7" y="82"/>
                </a:cxn>
                <a:cxn ang="0">
                  <a:pos x="7" y="82"/>
                </a:cxn>
                <a:cxn ang="0">
                  <a:pos x="0" y="89"/>
                </a:cxn>
                <a:cxn ang="0">
                  <a:pos x="7" y="95"/>
                </a:cxn>
                <a:cxn ang="0">
                  <a:pos x="20" y="95"/>
                </a:cxn>
                <a:cxn ang="0">
                  <a:pos x="45" y="89"/>
                </a:cxn>
                <a:cxn ang="0">
                  <a:pos x="52" y="63"/>
                </a:cxn>
                <a:cxn ang="0">
                  <a:pos x="52" y="51"/>
                </a:cxn>
                <a:cxn ang="0">
                  <a:pos x="45" y="44"/>
                </a:cxn>
                <a:cxn ang="0">
                  <a:pos x="39" y="38"/>
                </a:cxn>
                <a:cxn ang="0">
                  <a:pos x="45" y="32"/>
                </a:cxn>
                <a:cxn ang="0">
                  <a:pos x="52" y="19"/>
                </a:cxn>
                <a:cxn ang="0">
                  <a:pos x="45" y="6"/>
                </a:cxn>
                <a:cxn ang="0">
                  <a:pos x="26" y="0"/>
                </a:cxn>
                <a:cxn ang="0">
                  <a:pos x="13" y="6"/>
                </a:cxn>
                <a:cxn ang="0">
                  <a:pos x="0" y="25"/>
                </a:cxn>
                <a:cxn ang="0">
                  <a:pos x="7" y="25"/>
                </a:cxn>
                <a:cxn ang="0">
                  <a:pos x="13" y="19"/>
                </a:cxn>
                <a:cxn ang="0">
                  <a:pos x="26" y="12"/>
                </a:cxn>
                <a:cxn ang="0">
                  <a:pos x="32" y="19"/>
                </a:cxn>
                <a:cxn ang="0">
                  <a:pos x="39" y="25"/>
                </a:cxn>
                <a:cxn ang="0">
                  <a:pos x="32" y="38"/>
                </a:cxn>
                <a:cxn ang="0">
                  <a:pos x="20" y="51"/>
                </a:cxn>
                <a:cxn ang="0">
                  <a:pos x="20" y="51"/>
                </a:cxn>
              </a:cxnLst>
              <a:rect l="txL" t="txT" r="txR" b="txB"/>
              <a:pathLst>
                <a:path w="52" h="95">
                  <a:moveTo>
                    <a:pt x="20" y="51"/>
                  </a:moveTo>
                  <a:lnTo>
                    <a:pt x="26" y="51"/>
                  </a:lnTo>
                  <a:lnTo>
                    <a:pt x="32" y="51"/>
                  </a:lnTo>
                  <a:lnTo>
                    <a:pt x="45" y="63"/>
                  </a:lnTo>
                  <a:lnTo>
                    <a:pt x="45" y="70"/>
                  </a:lnTo>
                  <a:lnTo>
                    <a:pt x="39" y="82"/>
                  </a:lnTo>
                  <a:lnTo>
                    <a:pt x="26" y="89"/>
                  </a:lnTo>
                  <a:lnTo>
                    <a:pt x="20" y="89"/>
                  </a:lnTo>
                  <a:lnTo>
                    <a:pt x="7" y="82"/>
                  </a:lnTo>
                  <a:lnTo>
                    <a:pt x="0" y="89"/>
                  </a:lnTo>
                  <a:lnTo>
                    <a:pt x="7" y="95"/>
                  </a:lnTo>
                  <a:lnTo>
                    <a:pt x="20" y="95"/>
                  </a:lnTo>
                  <a:lnTo>
                    <a:pt x="45" y="89"/>
                  </a:lnTo>
                  <a:lnTo>
                    <a:pt x="52" y="63"/>
                  </a:lnTo>
                  <a:lnTo>
                    <a:pt x="52" y="51"/>
                  </a:lnTo>
                  <a:lnTo>
                    <a:pt x="45" y="44"/>
                  </a:lnTo>
                  <a:lnTo>
                    <a:pt x="39" y="38"/>
                  </a:lnTo>
                  <a:lnTo>
                    <a:pt x="45" y="32"/>
                  </a:lnTo>
                  <a:lnTo>
                    <a:pt x="52" y="19"/>
                  </a:lnTo>
                  <a:lnTo>
                    <a:pt x="45" y="6"/>
                  </a:lnTo>
                  <a:lnTo>
                    <a:pt x="26" y="0"/>
                  </a:lnTo>
                  <a:lnTo>
                    <a:pt x="13" y="6"/>
                  </a:lnTo>
                  <a:lnTo>
                    <a:pt x="0" y="25"/>
                  </a:lnTo>
                  <a:lnTo>
                    <a:pt x="7" y="25"/>
                  </a:lnTo>
                  <a:lnTo>
                    <a:pt x="13" y="19"/>
                  </a:lnTo>
                  <a:lnTo>
                    <a:pt x="26" y="12"/>
                  </a:lnTo>
                  <a:lnTo>
                    <a:pt x="32" y="19"/>
                  </a:lnTo>
                  <a:lnTo>
                    <a:pt x="39" y="25"/>
                  </a:lnTo>
                  <a:lnTo>
                    <a:pt x="32" y="38"/>
                  </a:lnTo>
                  <a:lnTo>
                    <a:pt x="20" y="51"/>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2" name="Freeform 42"/>
            <p:cNvSpPr/>
            <p:nvPr/>
          </p:nvSpPr>
          <p:spPr>
            <a:xfrm>
              <a:off x="1991" y="1184"/>
              <a:ext cx="102" cy="114"/>
            </a:xfrm>
            <a:custGeom>
              <a:avLst/>
              <a:gdLst>
                <a:gd name="txL" fmla="*/ 0 w 102"/>
                <a:gd name="txT" fmla="*/ 0 h 114"/>
                <a:gd name="txR" fmla="*/ 102 w 102"/>
                <a:gd name="txB" fmla="*/ 114 h 114"/>
              </a:gdLst>
              <a:ahLst/>
              <a:cxnLst>
                <a:cxn ang="0">
                  <a:pos x="70" y="0"/>
                </a:cxn>
                <a:cxn ang="0">
                  <a:pos x="26" y="0"/>
                </a:cxn>
                <a:cxn ang="0">
                  <a:pos x="26" y="0"/>
                </a:cxn>
                <a:cxn ang="0">
                  <a:pos x="32" y="6"/>
                </a:cxn>
                <a:cxn ang="0">
                  <a:pos x="38" y="12"/>
                </a:cxn>
                <a:cxn ang="0">
                  <a:pos x="38" y="19"/>
                </a:cxn>
                <a:cxn ang="0">
                  <a:pos x="38" y="19"/>
                </a:cxn>
                <a:cxn ang="0">
                  <a:pos x="19" y="101"/>
                </a:cxn>
                <a:cxn ang="0">
                  <a:pos x="13" y="114"/>
                </a:cxn>
                <a:cxn ang="0">
                  <a:pos x="0" y="114"/>
                </a:cxn>
                <a:cxn ang="0">
                  <a:pos x="0" y="114"/>
                </a:cxn>
                <a:cxn ang="0">
                  <a:pos x="89" y="114"/>
                </a:cxn>
                <a:cxn ang="0">
                  <a:pos x="102" y="82"/>
                </a:cxn>
                <a:cxn ang="0">
                  <a:pos x="96" y="82"/>
                </a:cxn>
                <a:cxn ang="0">
                  <a:pos x="89" y="95"/>
                </a:cxn>
                <a:cxn ang="0">
                  <a:pos x="77" y="108"/>
                </a:cxn>
                <a:cxn ang="0">
                  <a:pos x="51" y="108"/>
                </a:cxn>
                <a:cxn ang="0">
                  <a:pos x="38" y="108"/>
                </a:cxn>
                <a:cxn ang="0">
                  <a:pos x="32" y="101"/>
                </a:cxn>
                <a:cxn ang="0">
                  <a:pos x="32" y="95"/>
                </a:cxn>
                <a:cxn ang="0">
                  <a:pos x="58" y="12"/>
                </a:cxn>
                <a:cxn ang="0">
                  <a:pos x="64" y="6"/>
                </a:cxn>
                <a:cxn ang="0">
                  <a:pos x="70" y="0"/>
                </a:cxn>
                <a:cxn ang="0">
                  <a:pos x="70" y="0"/>
                </a:cxn>
              </a:cxnLst>
              <a:rect l="txL" t="txT" r="txR" b="txB"/>
              <a:pathLst>
                <a:path w="102" h="114">
                  <a:moveTo>
                    <a:pt x="70" y="0"/>
                  </a:moveTo>
                  <a:lnTo>
                    <a:pt x="26" y="0"/>
                  </a:lnTo>
                  <a:lnTo>
                    <a:pt x="32" y="6"/>
                  </a:lnTo>
                  <a:lnTo>
                    <a:pt x="38" y="12"/>
                  </a:lnTo>
                  <a:lnTo>
                    <a:pt x="38" y="19"/>
                  </a:lnTo>
                  <a:lnTo>
                    <a:pt x="19" y="101"/>
                  </a:lnTo>
                  <a:lnTo>
                    <a:pt x="13" y="114"/>
                  </a:lnTo>
                  <a:lnTo>
                    <a:pt x="0" y="114"/>
                  </a:lnTo>
                  <a:lnTo>
                    <a:pt x="89" y="114"/>
                  </a:lnTo>
                  <a:lnTo>
                    <a:pt x="102" y="82"/>
                  </a:lnTo>
                  <a:lnTo>
                    <a:pt x="96" y="82"/>
                  </a:lnTo>
                  <a:lnTo>
                    <a:pt x="89" y="95"/>
                  </a:lnTo>
                  <a:lnTo>
                    <a:pt x="77" y="108"/>
                  </a:lnTo>
                  <a:lnTo>
                    <a:pt x="51" y="108"/>
                  </a:lnTo>
                  <a:lnTo>
                    <a:pt x="38" y="108"/>
                  </a:lnTo>
                  <a:lnTo>
                    <a:pt x="32" y="101"/>
                  </a:lnTo>
                  <a:lnTo>
                    <a:pt x="32" y="95"/>
                  </a:lnTo>
                  <a:lnTo>
                    <a:pt x="58" y="12"/>
                  </a:lnTo>
                  <a:lnTo>
                    <a:pt x="64" y="6"/>
                  </a:lnTo>
                  <a:lnTo>
                    <a:pt x="7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3" name="Freeform 43"/>
            <p:cNvSpPr/>
            <p:nvPr/>
          </p:nvSpPr>
          <p:spPr>
            <a:xfrm>
              <a:off x="2106" y="1254"/>
              <a:ext cx="32" cy="89"/>
            </a:xfrm>
            <a:custGeom>
              <a:avLst/>
              <a:gdLst>
                <a:gd name="txL" fmla="*/ 0 w 32"/>
                <a:gd name="txT" fmla="*/ 0 h 89"/>
                <a:gd name="txR" fmla="*/ 32 w 32"/>
                <a:gd name="txB" fmla="*/ 89 h 89"/>
              </a:gdLst>
              <a:ahLst/>
              <a:cxnLst>
                <a:cxn ang="0">
                  <a:pos x="0" y="89"/>
                </a:cxn>
                <a:cxn ang="0">
                  <a:pos x="32" y="89"/>
                </a:cxn>
                <a:cxn ang="0">
                  <a:pos x="32" y="89"/>
                </a:cxn>
                <a:cxn ang="0">
                  <a:pos x="25" y="89"/>
                </a:cxn>
                <a:cxn ang="0">
                  <a:pos x="25" y="82"/>
                </a:cxn>
                <a:cxn ang="0">
                  <a:pos x="25" y="0"/>
                </a:cxn>
                <a:cxn ang="0">
                  <a:pos x="19" y="0"/>
                </a:cxn>
                <a:cxn ang="0">
                  <a:pos x="0" y="12"/>
                </a:cxn>
                <a:cxn ang="0">
                  <a:pos x="0" y="12"/>
                </a:cxn>
                <a:cxn ang="0">
                  <a:pos x="6" y="12"/>
                </a:cxn>
                <a:cxn ang="0">
                  <a:pos x="6" y="12"/>
                </a:cxn>
                <a:cxn ang="0">
                  <a:pos x="13" y="12"/>
                </a:cxn>
                <a:cxn ang="0">
                  <a:pos x="13" y="19"/>
                </a:cxn>
                <a:cxn ang="0">
                  <a:pos x="13" y="76"/>
                </a:cxn>
                <a:cxn ang="0">
                  <a:pos x="6" y="89"/>
                </a:cxn>
                <a:cxn ang="0">
                  <a:pos x="0" y="89"/>
                </a:cxn>
                <a:cxn ang="0">
                  <a:pos x="0" y="89"/>
                </a:cxn>
              </a:cxnLst>
              <a:rect l="txL" t="txT" r="txR" b="txB"/>
              <a:pathLst>
                <a:path w="32" h="89">
                  <a:moveTo>
                    <a:pt x="0" y="89"/>
                  </a:moveTo>
                  <a:lnTo>
                    <a:pt x="32" y="89"/>
                  </a:lnTo>
                  <a:lnTo>
                    <a:pt x="25" y="89"/>
                  </a:lnTo>
                  <a:lnTo>
                    <a:pt x="25" y="82"/>
                  </a:lnTo>
                  <a:lnTo>
                    <a:pt x="25" y="0"/>
                  </a:lnTo>
                  <a:lnTo>
                    <a:pt x="19" y="0"/>
                  </a:lnTo>
                  <a:lnTo>
                    <a:pt x="0" y="12"/>
                  </a:lnTo>
                  <a:lnTo>
                    <a:pt x="6" y="12"/>
                  </a:lnTo>
                  <a:lnTo>
                    <a:pt x="13" y="12"/>
                  </a:lnTo>
                  <a:lnTo>
                    <a:pt x="13" y="19"/>
                  </a:lnTo>
                  <a:lnTo>
                    <a:pt x="13" y="76"/>
                  </a:lnTo>
                  <a:lnTo>
                    <a:pt x="6" y="89"/>
                  </a:lnTo>
                  <a:lnTo>
                    <a:pt x="0" y="89"/>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4" name="Freeform 44"/>
            <p:cNvSpPr/>
            <p:nvPr/>
          </p:nvSpPr>
          <p:spPr>
            <a:xfrm>
              <a:off x="2642" y="1184"/>
              <a:ext cx="95" cy="114"/>
            </a:xfrm>
            <a:custGeom>
              <a:avLst/>
              <a:gdLst>
                <a:gd name="txL" fmla="*/ 0 w 95"/>
                <a:gd name="txT" fmla="*/ 0 h 114"/>
                <a:gd name="txR" fmla="*/ 95 w 95"/>
                <a:gd name="txB" fmla="*/ 114 h 114"/>
              </a:gdLst>
              <a:ahLst/>
              <a:cxnLst>
                <a:cxn ang="0">
                  <a:pos x="70" y="0"/>
                </a:cxn>
                <a:cxn ang="0">
                  <a:pos x="25" y="0"/>
                </a:cxn>
                <a:cxn ang="0">
                  <a:pos x="25" y="0"/>
                </a:cxn>
                <a:cxn ang="0">
                  <a:pos x="32" y="6"/>
                </a:cxn>
                <a:cxn ang="0">
                  <a:pos x="38" y="12"/>
                </a:cxn>
                <a:cxn ang="0">
                  <a:pos x="38" y="19"/>
                </a:cxn>
                <a:cxn ang="0">
                  <a:pos x="38" y="19"/>
                </a:cxn>
                <a:cxn ang="0">
                  <a:pos x="12" y="101"/>
                </a:cxn>
                <a:cxn ang="0">
                  <a:pos x="6" y="114"/>
                </a:cxn>
                <a:cxn ang="0">
                  <a:pos x="0" y="114"/>
                </a:cxn>
                <a:cxn ang="0">
                  <a:pos x="0" y="114"/>
                </a:cxn>
                <a:cxn ang="0">
                  <a:pos x="89" y="114"/>
                </a:cxn>
                <a:cxn ang="0">
                  <a:pos x="95" y="82"/>
                </a:cxn>
                <a:cxn ang="0">
                  <a:pos x="95" y="82"/>
                </a:cxn>
                <a:cxn ang="0">
                  <a:pos x="89" y="95"/>
                </a:cxn>
                <a:cxn ang="0">
                  <a:pos x="76" y="108"/>
                </a:cxn>
                <a:cxn ang="0">
                  <a:pos x="51" y="108"/>
                </a:cxn>
                <a:cxn ang="0">
                  <a:pos x="38" y="108"/>
                </a:cxn>
                <a:cxn ang="0">
                  <a:pos x="32" y="101"/>
                </a:cxn>
                <a:cxn ang="0">
                  <a:pos x="32" y="95"/>
                </a:cxn>
                <a:cxn ang="0">
                  <a:pos x="51" y="19"/>
                </a:cxn>
                <a:cxn ang="0">
                  <a:pos x="63" y="6"/>
                </a:cxn>
                <a:cxn ang="0">
                  <a:pos x="70" y="0"/>
                </a:cxn>
                <a:cxn ang="0">
                  <a:pos x="70" y="0"/>
                </a:cxn>
              </a:cxnLst>
              <a:rect l="txL" t="txT" r="txR" b="txB"/>
              <a:pathLst>
                <a:path w="95" h="114">
                  <a:moveTo>
                    <a:pt x="70" y="0"/>
                  </a:moveTo>
                  <a:lnTo>
                    <a:pt x="25" y="0"/>
                  </a:lnTo>
                  <a:lnTo>
                    <a:pt x="32" y="6"/>
                  </a:lnTo>
                  <a:lnTo>
                    <a:pt x="38" y="12"/>
                  </a:lnTo>
                  <a:lnTo>
                    <a:pt x="38" y="19"/>
                  </a:lnTo>
                  <a:lnTo>
                    <a:pt x="12" y="101"/>
                  </a:lnTo>
                  <a:lnTo>
                    <a:pt x="6" y="114"/>
                  </a:lnTo>
                  <a:lnTo>
                    <a:pt x="0" y="114"/>
                  </a:lnTo>
                  <a:lnTo>
                    <a:pt x="89" y="114"/>
                  </a:lnTo>
                  <a:lnTo>
                    <a:pt x="95" y="82"/>
                  </a:lnTo>
                  <a:lnTo>
                    <a:pt x="89" y="95"/>
                  </a:lnTo>
                  <a:lnTo>
                    <a:pt x="76" y="108"/>
                  </a:lnTo>
                  <a:lnTo>
                    <a:pt x="51" y="108"/>
                  </a:lnTo>
                  <a:lnTo>
                    <a:pt x="38" y="108"/>
                  </a:lnTo>
                  <a:lnTo>
                    <a:pt x="32" y="101"/>
                  </a:lnTo>
                  <a:lnTo>
                    <a:pt x="32" y="95"/>
                  </a:lnTo>
                  <a:lnTo>
                    <a:pt x="51" y="19"/>
                  </a:lnTo>
                  <a:lnTo>
                    <a:pt x="63" y="6"/>
                  </a:lnTo>
                  <a:lnTo>
                    <a:pt x="7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5" name="Freeform 45"/>
            <p:cNvSpPr/>
            <p:nvPr/>
          </p:nvSpPr>
          <p:spPr>
            <a:xfrm>
              <a:off x="2744" y="1254"/>
              <a:ext cx="57" cy="95"/>
            </a:xfrm>
            <a:custGeom>
              <a:avLst/>
              <a:gdLst>
                <a:gd name="txL" fmla="*/ 0 w 57"/>
                <a:gd name="txT" fmla="*/ 0 h 95"/>
                <a:gd name="txR" fmla="*/ 57 w 57"/>
                <a:gd name="txB" fmla="*/ 95 h 95"/>
              </a:gdLst>
              <a:ahLst/>
              <a:cxnLst>
                <a:cxn ang="0">
                  <a:pos x="57" y="76"/>
                </a:cxn>
                <a:cxn ang="0">
                  <a:pos x="57" y="70"/>
                </a:cxn>
                <a:cxn ang="0">
                  <a:pos x="51" y="82"/>
                </a:cxn>
                <a:cxn ang="0">
                  <a:pos x="44" y="82"/>
                </a:cxn>
                <a:cxn ang="0">
                  <a:pos x="13" y="82"/>
                </a:cxn>
                <a:cxn ang="0">
                  <a:pos x="32" y="57"/>
                </a:cxn>
                <a:cxn ang="0">
                  <a:pos x="44" y="44"/>
                </a:cxn>
                <a:cxn ang="0">
                  <a:pos x="51" y="25"/>
                </a:cxn>
                <a:cxn ang="0">
                  <a:pos x="44" y="6"/>
                </a:cxn>
                <a:cxn ang="0">
                  <a:pos x="25" y="0"/>
                </a:cxn>
                <a:cxn ang="0">
                  <a:pos x="6" y="6"/>
                </a:cxn>
                <a:cxn ang="0">
                  <a:pos x="0" y="25"/>
                </a:cxn>
                <a:cxn ang="0">
                  <a:pos x="0" y="31"/>
                </a:cxn>
                <a:cxn ang="0">
                  <a:pos x="6" y="19"/>
                </a:cxn>
                <a:cxn ang="0">
                  <a:pos x="19" y="12"/>
                </a:cxn>
                <a:cxn ang="0">
                  <a:pos x="32" y="12"/>
                </a:cxn>
                <a:cxn ang="0">
                  <a:pos x="38" y="19"/>
                </a:cxn>
                <a:cxn ang="0">
                  <a:pos x="38" y="31"/>
                </a:cxn>
                <a:cxn ang="0">
                  <a:pos x="32" y="44"/>
                </a:cxn>
                <a:cxn ang="0">
                  <a:pos x="19" y="63"/>
                </a:cxn>
                <a:cxn ang="0">
                  <a:pos x="0" y="89"/>
                </a:cxn>
                <a:cxn ang="0">
                  <a:pos x="0" y="95"/>
                </a:cxn>
                <a:cxn ang="0">
                  <a:pos x="51" y="95"/>
                </a:cxn>
                <a:cxn ang="0">
                  <a:pos x="57" y="76"/>
                </a:cxn>
              </a:cxnLst>
              <a:rect l="txL" t="txT" r="txR" b="txB"/>
              <a:pathLst>
                <a:path w="57" h="95">
                  <a:moveTo>
                    <a:pt x="57" y="76"/>
                  </a:moveTo>
                  <a:lnTo>
                    <a:pt x="57" y="70"/>
                  </a:lnTo>
                  <a:lnTo>
                    <a:pt x="51" y="82"/>
                  </a:lnTo>
                  <a:lnTo>
                    <a:pt x="44" y="82"/>
                  </a:lnTo>
                  <a:lnTo>
                    <a:pt x="13" y="82"/>
                  </a:lnTo>
                  <a:lnTo>
                    <a:pt x="32" y="57"/>
                  </a:lnTo>
                  <a:lnTo>
                    <a:pt x="44" y="44"/>
                  </a:lnTo>
                  <a:lnTo>
                    <a:pt x="51" y="25"/>
                  </a:lnTo>
                  <a:lnTo>
                    <a:pt x="44" y="6"/>
                  </a:lnTo>
                  <a:lnTo>
                    <a:pt x="25" y="0"/>
                  </a:lnTo>
                  <a:lnTo>
                    <a:pt x="6" y="6"/>
                  </a:lnTo>
                  <a:lnTo>
                    <a:pt x="0" y="25"/>
                  </a:lnTo>
                  <a:lnTo>
                    <a:pt x="0" y="31"/>
                  </a:lnTo>
                  <a:lnTo>
                    <a:pt x="6" y="19"/>
                  </a:lnTo>
                  <a:lnTo>
                    <a:pt x="19" y="12"/>
                  </a:lnTo>
                  <a:lnTo>
                    <a:pt x="32" y="12"/>
                  </a:lnTo>
                  <a:lnTo>
                    <a:pt x="38" y="19"/>
                  </a:lnTo>
                  <a:lnTo>
                    <a:pt x="38" y="31"/>
                  </a:lnTo>
                  <a:lnTo>
                    <a:pt x="32" y="44"/>
                  </a:lnTo>
                  <a:lnTo>
                    <a:pt x="19" y="63"/>
                  </a:lnTo>
                  <a:lnTo>
                    <a:pt x="0" y="89"/>
                  </a:lnTo>
                  <a:lnTo>
                    <a:pt x="0" y="95"/>
                  </a:lnTo>
                  <a:lnTo>
                    <a:pt x="51" y="95"/>
                  </a:lnTo>
                  <a:lnTo>
                    <a:pt x="57" y="7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6" name="Freeform 46"/>
            <p:cNvSpPr/>
            <p:nvPr/>
          </p:nvSpPr>
          <p:spPr>
            <a:xfrm>
              <a:off x="3286" y="1184"/>
              <a:ext cx="96" cy="114"/>
            </a:xfrm>
            <a:custGeom>
              <a:avLst/>
              <a:gdLst>
                <a:gd name="txL" fmla="*/ 0 w 96"/>
                <a:gd name="txT" fmla="*/ 0 h 114"/>
                <a:gd name="txR" fmla="*/ 96 w 96"/>
                <a:gd name="txB" fmla="*/ 114 h 114"/>
              </a:gdLst>
              <a:ahLst/>
              <a:cxnLst>
                <a:cxn ang="0">
                  <a:pos x="70" y="0"/>
                </a:cxn>
                <a:cxn ang="0">
                  <a:pos x="25" y="0"/>
                </a:cxn>
                <a:cxn ang="0">
                  <a:pos x="25" y="0"/>
                </a:cxn>
                <a:cxn ang="0">
                  <a:pos x="32" y="0"/>
                </a:cxn>
                <a:cxn ang="0">
                  <a:pos x="38" y="6"/>
                </a:cxn>
                <a:cxn ang="0">
                  <a:pos x="38" y="12"/>
                </a:cxn>
                <a:cxn ang="0">
                  <a:pos x="38" y="19"/>
                </a:cxn>
                <a:cxn ang="0">
                  <a:pos x="13" y="101"/>
                </a:cxn>
                <a:cxn ang="0">
                  <a:pos x="6" y="108"/>
                </a:cxn>
                <a:cxn ang="0">
                  <a:pos x="0" y="114"/>
                </a:cxn>
                <a:cxn ang="0">
                  <a:pos x="0" y="114"/>
                </a:cxn>
                <a:cxn ang="0">
                  <a:pos x="89" y="114"/>
                </a:cxn>
                <a:cxn ang="0">
                  <a:pos x="96" y="82"/>
                </a:cxn>
                <a:cxn ang="0">
                  <a:pos x="96" y="82"/>
                </a:cxn>
                <a:cxn ang="0">
                  <a:pos x="89" y="95"/>
                </a:cxn>
                <a:cxn ang="0">
                  <a:pos x="76" y="108"/>
                </a:cxn>
                <a:cxn ang="0">
                  <a:pos x="51" y="108"/>
                </a:cxn>
                <a:cxn ang="0">
                  <a:pos x="38" y="108"/>
                </a:cxn>
                <a:cxn ang="0">
                  <a:pos x="32" y="101"/>
                </a:cxn>
                <a:cxn ang="0">
                  <a:pos x="32" y="95"/>
                </a:cxn>
                <a:cxn ang="0">
                  <a:pos x="57" y="12"/>
                </a:cxn>
                <a:cxn ang="0">
                  <a:pos x="64" y="0"/>
                </a:cxn>
                <a:cxn ang="0">
                  <a:pos x="70" y="0"/>
                </a:cxn>
                <a:cxn ang="0">
                  <a:pos x="70" y="0"/>
                </a:cxn>
              </a:cxnLst>
              <a:rect l="txL" t="txT" r="txR" b="txB"/>
              <a:pathLst>
                <a:path w="96" h="114">
                  <a:moveTo>
                    <a:pt x="70" y="0"/>
                  </a:moveTo>
                  <a:lnTo>
                    <a:pt x="25" y="0"/>
                  </a:lnTo>
                  <a:lnTo>
                    <a:pt x="32" y="0"/>
                  </a:lnTo>
                  <a:lnTo>
                    <a:pt x="38" y="6"/>
                  </a:lnTo>
                  <a:lnTo>
                    <a:pt x="38" y="12"/>
                  </a:lnTo>
                  <a:lnTo>
                    <a:pt x="38" y="19"/>
                  </a:lnTo>
                  <a:lnTo>
                    <a:pt x="13" y="101"/>
                  </a:lnTo>
                  <a:lnTo>
                    <a:pt x="6" y="108"/>
                  </a:lnTo>
                  <a:lnTo>
                    <a:pt x="0" y="114"/>
                  </a:lnTo>
                  <a:lnTo>
                    <a:pt x="89" y="114"/>
                  </a:lnTo>
                  <a:lnTo>
                    <a:pt x="96" y="82"/>
                  </a:lnTo>
                  <a:lnTo>
                    <a:pt x="89" y="95"/>
                  </a:lnTo>
                  <a:lnTo>
                    <a:pt x="76" y="108"/>
                  </a:lnTo>
                  <a:lnTo>
                    <a:pt x="51" y="108"/>
                  </a:lnTo>
                  <a:lnTo>
                    <a:pt x="38" y="108"/>
                  </a:lnTo>
                  <a:lnTo>
                    <a:pt x="32" y="101"/>
                  </a:lnTo>
                  <a:lnTo>
                    <a:pt x="32" y="95"/>
                  </a:lnTo>
                  <a:lnTo>
                    <a:pt x="57" y="12"/>
                  </a:lnTo>
                  <a:lnTo>
                    <a:pt x="64" y="0"/>
                  </a:lnTo>
                  <a:lnTo>
                    <a:pt x="7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7" name="Freeform 47"/>
            <p:cNvSpPr/>
            <p:nvPr/>
          </p:nvSpPr>
          <p:spPr>
            <a:xfrm>
              <a:off x="3388" y="1254"/>
              <a:ext cx="51" cy="89"/>
            </a:xfrm>
            <a:custGeom>
              <a:avLst/>
              <a:gdLst>
                <a:gd name="txL" fmla="*/ 0 w 51"/>
                <a:gd name="txT" fmla="*/ 0 h 89"/>
                <a:gd name="txR" fmla="*/ 51 w 51"/>
                <a:gd name="txB" fmla="*/ 89 h 89"/>
              </a:gdLst>
              <a:ahLst/>
              <a:cxnLst>
                <a:cxn ang="0">
                  <a:pos x="13" y="44"/>
                </a:cxn>
                <a:cxn ang="0">
                  <a:pos x="25" y="44"/>
                </a:cxn>
                <a:cxn ang="0">
                  <a:pos x="32" y="51"/>
                </a:cxn>
                <a:cxn ang="0">
                  <a:pos x="38" y="57"/>
                </a:cxn>
                <a:cxn ang="0">
                  <a:pos x="45" y="63"/>
                </a:cxn>
                <a:cxn ang="0">
                  <a:pos x="38" y="82"/>
                </a:cxn>
                <a:cxn ang="0">
                  <a:pos x="25" y="89"/>
                </a:cxn>
                <a:cxn ang="0">
                  <a:pos x="19" y="82"/>
                </a:cxn>
                <a:cxn ang="0">
                  <a:pos x="6" y="76"/>
                </a:cxn>
                <a:cxn ang="0">
                  <a:pos x="6" y="82"/>
                </a:cxn>
                <a:cxn ang="0">
                  <a:pos x="0" y="82"/>
                </a:cxn>
                <a:cxn ang="0">
                  <a:pos x="6" y="89"/>
                </a:cxn>
                <a:cxn ang="0">
                  <a:pos x="13" y="89"/>
                </a:cxn>
                <a:cxn ang="0">
                  <a:pos x="45" y="82"/>
                </a:cxn>
                <a:cxn ang="0">
                  <a:pos x="51" y="63"/>
                </a:cxn>
                <a:cxn ang="0">
                  <a:pos x="45" y="44"/>
                </a:cxn>
                <a:cxn ang="0">
                  <a:pos x="32" y="38"/>
                </a:cxn>
                <a:cxn ang="0">
                  <a:pos x="45" y="31"/>
                </a:cxn>
                <a:cxn ang="0">
                  <a:pos x="45" y="19"/>
                </a:cxn>
                <a:cxn ang="0">
                  <a:pos x="45" y="6"/>
                </a:cxn>
                <a:cxn ang="0">
                  <a:pos x="38" y="0"/>
                </a:cxn>
                <a:cxn ang="0">
                  <a:pos x="25" y="0"/>
                </a:cxn>
                <a:cxn ang="0">
                  <a:pos x="13" y="0"/>
                </a:cxn>
                <a:cxn ang="0">
                  <a:pos x="6" y="6"/>
                </a:cxn>
                <a:cxn ang="0">
                  <a:pos x="0" y="19"/>
                </a:cxn>
                <a:cxn ang="0">
                  <a:pos x="6" y="19"/>
                </a:cxn>
                <a:cxn ang="0">
                  <a:pos x="13" y="12"/>
                </a:cxn>
                <a:cxn ang="0">
                  <a:pos x="25" y="6"/>
                </a:cxn>
                <a:cxn ang="0">
                  <a:pos x="32" y="12"/>
                </a:cxn>
                <a:cxn ang="0">
                  <a:pos x="38" y="19"/>
                </a:cxn>
                <a:cxn ang="0">
                  <a:pos x="32" y="31"/>
                </a:cxn>
                <a:cxn ang="0">
                  <a:pos x="13" y="44"/>
                </a:cxn>
                <a:cxn ang="0">
                  <a:pos x="13" y="44"/>
                </a:cxn>
              </a:cxnLst>
              <a:rect l="txL" t="txT" r="txR" b="txB"/>
              <a:pathLst>
                <a:path w="51" h="89">
                  <a:moveTo>
                    <a:pt x="13" y="44"/>
                  </a:moveTo>
                  <a:lnTo>
                    <a:pt x="25" y="44"/>
                  </a:lnTo>
                  <a:lnTo>
                    <a:pt x="32" y="51"/>
                  </a:lnTo>
                  <a:lnTo>
                    <a:pt x="38" y="57"/>
                  </a:lnTo>
                  <a:lnTo>
                    <a:pt x="45" y="63"/>
                  </a:lnTo>
                  <a:lnTo>
                    <a:pt x="38" y="82"/>
                  </a:lnTo>
                  <a:lnTo>
                    <a:pt x="25" y="89"/>
                  </a:lnTo>
                  <a:lnTo>
                    <a:pt x="19" y="82"/>
                  </a:lnTo>
                  <a:lnTo>
                    <a:pt x="6" y="76"/>
                  </a:lnTo>
                  <a:lnTo>
                    <a:pt x="6" y="82"/>
                  </a:lnTo>
                  <a:lnTo>
                    <a:pt x="0" y="82"/>
                  </a:lnTo>
                  <a:lnTo>
                    <a:pt x="6" y="89"/>
                  </a:lnTo>
                  <a:lnTo>
                    <a:pt x="13" y="89"/>
                  </a:lnTo>
                  <a:lnTo>
                    <a:pt x="45" y="82"/>
                  </a:lnTo>
                  <a:lnTo>
                    <a:pt x="51" y="63"/>
                  </a:lnTo>
                  <a:lnTo>
                    <a:pt x="45" y="44"/>
                  </a:lnTo>
                  <a:lnTo>
                    <a:pt x="32" y="38"/>
                  </a:lnTo>
                  <a:lnTo>
                    <a:pt x="45" y="31"/>
                  </a:lnTo>
                  <a:lnTo>
                    <a:pt x="45" y="19"/>
                  </a:lnTo>
                  <a:lnTo>
                    <a:pt x="45" y="6"/>
                  </a:lnTo>
                  <a:lnTo>
                    <a:pt x="38" y="0"/>
                  </a:lnTo>
                  <a:lnTo>
                    <a:pt x="25" y="0"/>
                  </a:lnTo>
                  <a:lnTo>
                    <a:pt x="13" y="0"/>
                  </a:lnTo>
                  <a:lnTo>
                    <a:pt x="6" y="6"/>
                  </a:lnTo>
                  <a:lnTo>
                    <a:pt x="0" y="19"/>
                  </a:lnTo>
                  <a:lnTo>
                    <a:pt x="6" y="19"/>
                  </a:lnTo>
                  <a:lnTo>
                    <a:pt x="13" y="12"/>
                  </a:lnTo>
                  <a:lnTo>
                    <a:pt x="25" y="6"/>
                  </a:lnTo>
                  <a:lnTo>
                    <a:pt x="32" y="12"/>
                  </a:lnTo>
                  <a:lnTo>
                    <a:pt x="38" y="19"/>
                  </a:lnTo>
                  <a:lnTo>
                    <a:pt x="32" y="31"/>
                  </a:lnTo>
                  <a:lnTo>
                    <a:pt x="13" y="4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8" name="Freeform 48"/>
            <p:cNvSpPr/>
            <p:nvPr/>
          </p:nvSpPr>
          <p:spPr>
            <a:xfrm>
              <a:off x="4351" y="1184"/>
              <a:ext cx="96" cy="114"/>
            </a:xfrm>
            <a:custGeom>
              <a:avLst/>
              <a:gdLst>
                <a:gd name="txL" fmla="*/ 0 w 96"/>
                <a:gd name="txT" fmla="*/ 0 h 114"/>
                <a:gd name="txR" fmla="*/ 96 w 96"/>
                <a:gd name="txB" fmla="*/ 114 h 114"/>
              </a:gdLst>
              <a:ahLst/>
              <a:cxnLst>
                <a:cxn ang="0">
                  <a:pos x="70" y="0"/>
                </a:cxn>
                <a:cxn ang="0">
                  <a:pos x="19" y="0"/>
                </a:cxn>
                <a:cxn ang="0">
                  <a:pos x="19" y="0"/>
                </a:cxn>
                <a:cxn ang="0">
                  <a:pos x="32" y="6"/>
                </a:cxn>
                <a:cxn ang="0">
                  <a:pos x="32" y="12"/>
                </a:cxn>
                <a:cxn ang="0">
                  <a:pos x="32" y="19"/>
                </a:cxn>
                <a:cxn ang="0">
                  <a:pos x="32" y="19"/>
                </a:cxn>
                <a:cxn ang="0">
                  <a:pos x="13" y="101"/>
                </a:cxn>
                <a:cxn ang="0">
                  <a:pos x="6" y="114"/>
                </a:cxn>
                <a:cxn ang="0">
                  <a:pos x="0" y="114"/>
                </a:cxn>
                <a:cxn ang="0">
                  <a:pos x="0" y="114"/>
                </a:cxn>
                <a:cxn ang="0">
                  <a:pos x="83" y="114"/>
                </a:cxn>
                <a:cxn ang="0">
                  <a:pos x="96" y="82"/>
                </a:cxn>
                <a:cxn ang="0">
                  <a:pos x="89" y="82"/>
                </a:cxn>
                <a:cxn ang="0">
                  <a:pos x="83" y="95"/>
                </a:cxn>
                <a:cxn ang="0">
                  <a:pos x="70" y="108"/>
                </a:cxn>
                <a:cxn ang="0">
                  <a:pos x="45" y="108"/>
                </a:cxn>
                <a:cxn ang="0">
                  <a:pos x="32" y="108"/>
                </a:cxn>
                <a:cxn ang="0">
                  <a:pos x="26" y="101"/>
                </a:cxn>
                <a:cxn ang="0">
                  <a:pos x="32" y="95"/>
                </a:cxn>
                <a:cxn ang="0">
                  <a:pos x="51" y="12"/>
                </a:cxn>
                <a:cxn ang="0">
                  <a:pos x="64" y="6"/>
                </a:cxn>
                <a:cxn ang="0">
                  <a:pos x="70" y="0"/>
                </a:cxn>
                <a:cxn ang="0">
                  <a:pos x="70" y="0"/>
                </a:cxn>
              </a:cxnLst>
              <a:rect l="txL" t="txT" r="txR" b="txB"/>
              <a:pathLst>
                <a:path w="96" h="114">
                  <a:moveTo>
                    <a:pt x="70" y="0"/>
                  </a:moveTo>
                  <a:lnTo>
                    <a:pt x="19" y="0"/>
                  </a:lnTo>
                  <a:lnTo>
                    <a:pt x="32" y="6"/>
                  </a:lnTo>
                  <a:lnTo>
                    <a:pt x="32" y="12"/>
                  </a:lnTo>
                  <a:lnTo>
                    <a:pt x="32" y="19"/>
                  </a:lnTo>
                  <a:lnTo>
                    <a:pt x="13" y="101"/>
                  </a:lnTo>
                  <a:lnTo>
                    <a:pt x="6" y="114"/>
                  </a:lnTo>
                  <a:lnTo>
                    <a:pt x="0" y="114"/>
                  </a:lnTo>
                  <a:lnTo>
                    <a:pt x="83" y="114"/>
                  </a:lnTo>
                  <a:lnTo>
                    <a:pt x="96" y="82"/>
                  </a:lnTo>
                  <a:lnTo>
                    <a:pt x="89" y="82"/>
                  </a:lnTo>
                  <a:lnTo>
                    <a:pt x="83" y="95"/>
                  </a:lnTo>
                  <a:lnTo>
                    <a:pt x="70" y="108"/>
                  </a:lnTo>
                  <a:lnTo>
                    <a:pt x="45" y="108"/>
                  </a:lnTo>
                  <a:lnTo>
                    <a:pt x="32" y="108"/>
                  </a:lnTo>
                  <a:lnTo>
                    <a:pt x="26" y="101"/>
                  </a:lnTo>
                  <a:lnTo>
                    <a:pt x="32" y="95"/>
                  </a:lnTo>
                  <a:lnTo>
                    <a:pt x="51" y="12"/>
                  </a:lnTo>
                  <a:lnTo>
                    <a:pt x="64" y="6"/>
                  </a:lnTo>
                  <a:lnTo>
                    <a:pt x="7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49" name="Freeform 49"/>
            <p:cNvSpPr/>
            <p:nvPr/>
          </p:nvSpPr>
          <p:spPr>
            <a:xfrm>
              <a:off x="4440" y="1260"/>
              <a:ext cx="102" cy="89"/>
            </a:xfrm>
            <a:custGeom>
              <a:avLst/>
              <a:gdLst>
                <a:gd name="txL" fmla="*/ 0 w 102"/>
                <a:gd name="txT" fmla="*/ 0 h 89"/>
                <a:gd name="txR" fmla="*/ 102 w 102"/>
                <a:gd name="txB" fmla="*/ 89 h 89"/>
              </a:gdLst>
              <a:ahLst/>
              <a:cxnLst>
                <a:cxn ang="0">
                  <a:pos x="102" y="0"/>
                </a:cxn>
                <a:cxn ang="0">
                  <a:pos x="77" y="0"/>
                </a:cxn>
                <a:cxn ang="0">
                  <a:pos x="77" y="0"/>
                </a:cxn>
                <a:cxn ang="0">
                  <a:pos x="83" y="0"/>
                </a:cxn>
                <a:cxn ang="0">
                  <a:pos x="83" y="6"/>
                </a:cxn>
                <a:cxn ang="0">
                  <a:pos x="83" y="13"/>
                </a:cxn>
                <a:cxn ang="0">
                  <a:pos x="83" y="13"/>
                </a:cxn>
                <a:cxn ang="0">
                  <a:pos x="70" y="64"/>
                </a:cxn>
                <a:cxn ang="0">
                  <a:pos x="70" y="64"/>
                </a:cxn>
                <a:cxn ang="0">
                  <a:pos x="39" y="0"/>
                </a:cxn>
                <a:cxn ang="0">
                  <a:pos x="19" y="0"/>
                </a:cxn>
                <a:cxn ang="0">
                  <a:pos x="19" y="0"/>
                </a:cxn>
                <a:cxn ang="0">
                  <a:pos x="26" y="0"/>
                </a:cxn>
                <a:cxn ang="0">
                  <a:pos x="32" y="6"/>
                </a:cxn>
                <a:cxn ang="0">
                  <a:pos x="19" y="64"/>
                </a:cxn>
                <a:cxn ang="0">
                  <a:pos x="13" y="76"/>
                </a:cxn>
                <a:cxn ang="0">
                  <a:pos x="13" y="83"/>
                </a:cxn>
                <a:cxn ang="0">
                  <a:pos x="0" y="83"/>
                </a:cxn>
                <a:cxn ang="0">
                  <a:pos x="0" y="83"/>
                </a:cxn>
                <a:cxn ang="0">
                  <a:pos x="26" y="83"/>
                </a:cxn>
                <a:cxn ang="0">
                  <a:pos x="26" y="83"/>
                </a:cxn>
                <a:cxn ang="0">
                  <a:pos x="26" y="83"/>
                </a:cxn>
                <a:cxn ang="0">
                  <a:pos x="19" y="76"/>
                </a:cxn>
                <a:cxn ang="0">
                  <a:pos x="19" y="76"/>
                </a:cxn>
                <a:cxn ang="0">
                  <a:pos x="19" y="70"/>
                </a:cxn>
                <a:cxn ang="0">
                  <a:pos x="32" y="13"/>
                </a:cxn>
                <a:cxn ang="0">
                  <a:pos x="39" y="13"/>
                </a:cxn>
                <a:cxn ang="0">
                  <a:pos x="64" y="89"/>
                </a:cxn>
                <a:cxn ang="0">
                  <a:pos x="70" y="89"/>
                </a:cxn>
                <a:cxn ang="0">
                  <a:pos x="83" y="19"/>
                </a:cxn>
                <a:cxn ang="0">
                  <a:pos x="90" y="6"/>
                </a:cxn>
                <a:cxn ang="0">
                  <a:pos x="90" y="0"/>
                </a:cxn>
                <a:cxn ang="0">
                  <a:pos x="102" y="0"/>
                </a:cxn>
                <a:cxn ang="0">
                  <a:pos x="102" y="0"/>
                </a:cxn>
              </a:cxnLst>
              <a:rect l="txL" t="txT" r="txR" b="txB"/>
              <a:pathLst>
                <a:path w="102" h="89">
                  <a:moveTo>
                    <a:pt x="102" y="0"/>
                  </a:moveTo>
                  <a:lnTo>
                    <a:pt x="77" y="0"/>
                  </a:lnTo>
                  <a:lnTo>
                    <a:pt x="83" y="0"/>
                  </a:lnTo>
                  <a:lnTo>
                    <a:pt x="83" y="6"/>
                  </a:lnTo>
                  <a:lnTo>
                    <a:pt x="83" y="13"/>
                  </a:lnTo>
                  <a:lnTo>
                    <a:pt x="70" y="64"/>
                  </a:lnTo>
                  <a:lnTo>
                    <a:pt x="39" y="0"/>
                  </a:lnTo>
                  <a:lnTo>
                    <a:pt x="19" y="0"/>
                  </a:lnTo>
                  <a:lnTo>
                    <a:pt x="26" y="0"/>
                  </a:lnTo>
                  <a:lnTo>
                    <a:pt x="32" y="6"/>
                  </a:lnTo>
                  <a:lnTo>
                    <a:pt x="19" y="64"/>
                  </a:lnTo>
                  <a:lnTo>
                    <a:pt x="13" y="76"/>
                  </a:lnTo>
                  <a:lnTo>
                    <a:pt x="13" y="83"/>
                  </a:lnTo>
                  <a:lnTo>
                    <a:pt x="0" y="83"/>
                  </a:lnTo>
                  <a:lnTo>
                    <a:pt x="26" y="83"/>
                  </a:lnTo>
                  <a:lnTo>
                    <a:pt x="19" y="76"/>
                  </a:lnTo>
                  <a:lnTo>
                    <a:pt x="19" y="70"/>
                  </a:lnTo>
                  <a:lnTo>
                    <a:pt x="32" y="13"/>
                  </a:lnTo>
                  <a:lnTo>
                    <a:pt x="39" y="13"/>
                  </a:lnTo>
                  <a:lnTo>
                    <a:pt x="64" y="89"/>
                  </a:lnTo>
                  <a:lnTo>
                    <a:pt x="70" y="89"/>
                  </a:lnTo>
                  <a:lnTo>
                    <a:pt x="83" y="19"/>
                  </a:lnTo>
                  <a:lnTo>
                    <a:pt x="90" y="6"/>
                  </a:lnTo>
                  <a:lnTo>
                    <a:pt x="90" y="0"/>
                  </a:lnTo>
                  <a:lnTo>
                    <a:pt x="102"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50" name="Freeform 50"/>
            <p:cNvSpPr/>
            <p:nvPr/>
          </p:nvSpPr>
          <p:spPr>
            <a:xfrm>
              <a:off x="1793" y="814"/>
              <a:ext cx="71" cy="140"/>
            </a:xfrm>
            <a:custGeom>
              <a:avLst/>
              <a:gdLst>
                <a:gd name="txL" fmla="*/ 0 w 71"/>
                <a:gd name="txT" fmla="*/ 0 h 140"/>
                <a:gd name="txR" fmla="*/ 71 w 71"/>
                <a:gd name="txB" fmla="*/ 140 h 140"/>
              </a:gdLst>
              <a:ahLst/>
              <a:cxnLst>
                <a:cxn ang="0">
                  <a:pos x="0" y="0"/>
                </a:cxn>
                <a:cxn ang="0">
                  <a:pos x="39" y="140"/>
                </a:cxn>
                <a:cxn ang="0">
                  <a:pos x="71" y="0"/>
                </a:cxn>
                <a:cxn ang="0">
                  <a:pos x="0" y="0"/>
                </a:cxn>
                <a:cxn ang="0">
                  <a:pos x="0" y="0"/>
                </a:cxn>
              </a:cxnLst>
              <a:rect l="txL" t="txT" r="txR" b="txB"/>
              <a:pathLst>
                <a:path w="71" h="140">
                  <a:moveTo>
                    <a:pt x="0" y="0"/>
                  </a:moveTo>
                  <a:lnTo>
                    <a:pt x="39" y="140"/>
                  </a:lnTo>
                  <a:lnTo>
                    <a:pt x="71"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51" name="Freeform 51"/>
            <p:cNvSpPr/>
            <p:nvPr/>
          </p:nvSpPr>
          <p:spPr>
            <a:xfrm>
              <a:off x="2482" y="636"/>
              <a:ext cx="1" cy="987"/>
            </a:xfrm>
            <a:custGeom>
              <a:avLst/>
              <a:gdLst>
                <a:gd name="txL" fmla="*/ 0 w 1"/>
                <a:gd name="txT" fmla="*/ 0 h 987"/>
                <a:gd name="txR" fmla="*/ 1 w 1"/>
                <a:gd name="txB" fmla="*/ 987 h 987"/>
              </a:gdLst>
              <a:ahLst/>
              <a:cxnLst>
                <a:cxn ang="0">
                  <a:pos x="0" y="0"/>
                </a:cxn>
                <a:cxn ang="0">
                  <a:pos x="0" y="987"/>
                </a:cxn>
                <a:cxn ang="0">
                  <a:pos x="0" y="0"/>
                </a:cxn>
                <a:cxn ang="0">
                  <a:pos x="0" y="0"/>
                </a:cxn>
              </a:cxnLst>
              <a:rect l="txL" t="txT" r="txR" b="txB"/>
              <a:pathLst>
                <a:path w="1" h="987">
                  <a:moveTo>
                    <a:pt x="0" y="0"/>
                  </a:moveTo>
                  <a:lnTo>
                    <a:pt x="0" y="987"/>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52" name="Freeform 52"/>
            <p:cNvSpPr/>
            <p:nvPr/>
          </p:nvSpPr>
          <p:spPr>
            <a:xfrm>
              <a:off x="2444" y="814"/>
              <a:ext cx="70" cy="140"/>
            </a:xfrm>
            <a:custGeom>
              <a:avLst/>
              <a:gdLst>
                <a:gd name="txL" fmla="*/ 0 w 70"/>
                <a:gd name="txT" fmla="*/ 0 h 140"/>
                <a:gd name="txR" fmla="*/ 70 w 70"/>
                <a:gd name="txB" fmla="*/ 140 h 140"/>
              </a:gdLst>
              <a:ahLst/>
              <a:cxnLst>
                <a:cxn ang="0">
                  <a:pos x="0" y="0"/>
                </a:cxn>
                <a:cxn ang="0">
                  <a:pos x="32" y="140"/>
                </a:cxn>
                <a:cxn ang="0">
                  <a:pos x="70" y="0"/>
                </a:cxn>
                <a:cxn ang="0">
                  <a:pos x="0" y="0"/>
                </a:cxn>
                <a:cxn ang="0">
                  <a:pos x="0" y="0"/>
                </a:cxn>
              </a:cxnLst>
              <a:rect l="txL" t="txT" r="txR" b="txB"/>
              <a:pathLst>
                <a:path w="70" h="140">
                  <a:moveTo>
                    <a:pt x="0" y="0"/>
                  </a:moveTo>
                  <a:lnTo>
                    <a:pt x="32" y="140"/>
                  </a:lnTo>
                  <a:lnTo>
                    <a:pt x="70"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53" name="Freeform 53"/>
            <p:cNvSpPr/>
            <p:nvPr/>
          </p:nvSpPr>
          <p:spPr>
            <a:xfrm>
              <a:off x="3126" y="636"/>
              <a:ext cx="1" cy="987"/>
            </a:xfrm>
            <a:custGeom>
              <a:avLst/>
              <a:gdLst>
                <a:gd name="txL" fmla="*/ 0 w 1"/>
                <a:gd name="txT" fmla="*/ 0 h 987"/>
                <a:gd name="txR" fmla="*/ 1 w 1"/>
                <a:gd name="txB" fmla="*/ 987 h 987"/>
              </a:gdLst>
              <a:ahLst/>
              <a:cxnLst>
                <a:cxn ang="0">
                  <a:pos x="0" y="0"/>
                </a:cxn>
                <a:cxn ang="0">
                  <a:pos x="0" y="987"/>
                </a:cxn>
                <a:cxn ang="0">
                  <a:pos x="0" y="0"/>
                </a:cxn>
                <a:cxn ang="0">
                  <a:pos x="0" y="0"/>
                </a:cxn>
              </a:cxnLst>
              <a:rect l="txL" t="txT" r="txR" b="txB"/>
              <a:pathLst>
                <a:path w="1" h="987">
                  <a:moveTo>
                    <a:pt x="0" y="0"/>
                  </a:moveTo>
                  <a:lnTo>
                    <a:pt x="0" y="987"/>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54" name="Freeform 54"/>
            <p:cNvSpPr/>
            <p:nvPr/>
          </p:nvSpPr>
          <p:spPr>
            <a:xfrm>
              <a:off x="3088" y="814"/>
              <a:ext cx="70" cy="140"/>
            </a:xfrm>
            <a:custGeom>
              <a:avLst/>
              <a:gdLst>
                <a:gd name="txL" fmla="*/ 0 w 70"/>
                <a:gd name="txT" fmla="*/ 0 h 140"/>
                <a:gd name="txR" fmla="*/ 70 w 70"/>
                <a:gd name="txB" fmla="*/ 140 h 140"/>
              </a:gdLst>
              <a:ahLst/>
              <a:cxnLst>
                <a:cxn ang="0">
                  <a:pos x="0" y="0"/>
                </a:cxn>
                <a:cxn ang="0">
                  <a:pos x="38" y="140"/>
                </a:cxn>
                <a:cxn ang="0">
                  <a:pos x="70" y="0"/>
                </a:cxn>
                <a:cxn ang="0">
                  <a:pos x="0" y="0"/>
                </a:cxn>
                <a:cxn ang="0">
                  <a:pos x="0" y="0"/>
                </a:cxn>
              </a:cxnLst>
              <a:rect l="txL" t="txT" r="txR" b="txB"/>
              <a:pathLst>
                <a:path w="70" h="140">
                  <a:moveTo>
                    <a:pt x="0" y="0"/>
                  </a:moveTo>
                  <a:lnTo>
                    <a:pt x="38" y="140"/>
                  </a:lnTo>
                  <a:lnTo>
                    <a:pt x="70"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55" name="Freeform 55"/>
            <p:cNvSpPr>
              <a:spLocks noEditPoints="1"/>
            </p:cNvSpPr>
            <p:nvPr/>
          </p:nvSpPr>
          <p:spPr>
            <a:xfrm>
              <a:off x="3975" y="789"/>
              <a:ext cx="38" cy="121"/>
            </a:xfrm>
            <a:custGeom>
              <a:avLst/>
              <a:gdLst>
                <a:gd name="txL" fmla="*/ 0 w 38"/>
                <a:gd name="txT" fmla="*/ 0 h 121"/>
                <a:gd name="txR" fmla="*/ 38 w 38"/>
                <a:gd name="txB" fmla="*/ 121 h 121"/>
              </a:gdLst>
              <a:ahLst/>
              <a:cxnLst>
                <a:cxn ang="0">
                  <a:pos x="32" y="95"/>
                </a:cxn>
                <a:cxn ang="0">
                  <a:pos x="25" y="108"/>
                </a:cxn>
                <a:cxn ang="0">
                  <a:pos x="19" y="114"/>
                </a:cxn>
                <a:cxn ang="0">
                  <a:pos x="12" y="114"/>
                </a:cxn>
                <a:cxn ang="0">
                  <a:pos x="12" y="108"/>
                </a:cxn>
                <a:cxn ang="0">
                  <a:pos x="19" y="102"/>
                </a:cxn>
                <a:cxn ang="0">
                  <a:pos x="19" y="95"/>
                </a:cxn>
                <a:cxn ang="0">
                  <a:pos x="32" y="38"/>
                </a:cxn>
                <a:cxn ang="0">
                  <a:pos x="32" y="38"/>
                </a:cxn>
                <a:cxn ang="0">
                  <a:pos x="19" y="44"/>
                </a:cxn>
                <a:cxn ang="0">
                  <a:pos x="6" y="44"/>
                </a:cxn>
                <a:cxn ang="0">
                  <a:pos x="6" y="44"/>
                </a:cxn>
                <a:cxn ang="0">
                  <a:pos x="12" y="51"/>
                </a:cxn>
                <a:cxn ang="0">
                  <a:pos x="12" y="51"/>
                </a:cxn>
                <a:cxn ang="0">
                  <a:pos x="12" y="63"/>
                </a:cxn>
                <a:cxn ang="0">
                  <a:pos x="6" y="82"/>
                </a:cxn>
                <a:cxn ang="0">
                  <a:pos x="0" y="95"/>
                </a:cxn>
                <a:cxn ang="0">
                  <a:pos x="0" y="108"/>
                </a:cxn>
                <a:cxn ang="0">
                  <a:pos x="0" y="114"/>
                </a:cxn>
                <a:cxn ang="0">
                  <a:pos x="6" y="121"/>
                </a:cxn>
                <a:cxn ang="0">
                  <a:pos x="19" y="114"/>
                </a:cxn>
                <a:cxn ang="0">
                  <a:pos x="32" y="102"/>
                </a:cxn>
                <a:cxn ang="0">
                  <a:pos x="32" y="95"/>
                </a:cxn>
                <a:cxn ang="0">
                  <a:pos x="38" y="12"/>
                </a:cxn>
                <a:cxn ang="0">
                  <a:pos x="38" y="6"/>
                </a:cxn>
                <a:cxn ang="0">
                  <a:pos x="32" y="0"/>
                </a:cxn>
                <a:cxn ang="0">
                  <a:pos x="25" y="6"/>
                </a:cxn>
                <a:cxn ang="0">
                  <a:pos x="19" y="12"/>
                </a:cxn>
                <a:cxn ang="0">
                  <a:pos x="25" y="19"/>
                </a:cxn>
                <a:cxn ang="0">
                  <a:pos x="32" y="19"/>
                </a:cxn>
                <a:cxn ang="0">
                  <a:pos x="38" y="19"/>
                </a:cxn>
                <a:cxn ang="0">
                  <a:pos x="38" y="12"/>
                </a:cxn>
                <a:cxn ang="0">
                  <a:pos x="38" y="12"/>
                </a:cxn>
              </a:cxnLst>
              <a:rect l="txL" t="txT" r="txR" b="txB"/>
              <a:pathLst>
                <a:path w="38" h="121">
                  <a:moveTo>
                    <a:pt x="32" y="95"/>
                  </a:moveTo>
                  <a:lnTo>
                    <a:pt x="25" y="108"/>
                  </a:lnTo>
                  <a:lnTo>
                    <a:pt x="19" y="114"/>
                  </a:lnTo>
                  <a:lnTo>
                    <a:pt x="12" y="114"/>
                  </a:lnTo>
                  <a:lnTo>
                    <a:pt x="12" y="108"/>
                  </a:lnTo>
                  <a:lnTo>
                    <a:pt x="19" y="102"/>
                  </a:lnTo>
                  <a:lnTo>
                    <a:pt x="19" y="95"/>
                  </a:lnTo>
                  <a:lnTo>
                    <a:pt x="32" y="38"/>
                  </a:lnTo>
                  <a:lnTo>
                    <a:pt x="19" y="44"/>
                  </a:lnTo>
                  <a:lnTo>
                    <a:pt x="6" y="44"/>
                  </a:lnTo>
                  <a:lnTo>
                    <a:pt x="12" y="51"/>
                  </a:lnTo>
                  <a:lnTo>
                    <a:pt x="12" y="63"/>
                  </a:lnTo>
                  <a:lnTo>
                    <a:pt x="6" y="82"/>
                  </a:lnTo>
                  <a:lnTo>
                    <a:pt x="0" y="95"/>
                  </a:lnTo>
                  <a:lnTo>
                    <a:pt x="0" y="108"/>
                  </a:lnTo>
                  <a:lnTo>
                    <a:pt x="0" y="114"/>
                  </a:lnTo>
                  <a:lnTo>
                    <a:pt x="6" y="121"/>
                  </a:lnTo>
                  <a:lnTo>
                    <a:pt x="19" y="114"/>
                  </a:lnTo>
                  <a:lnTo>
                    <a:pt x="32" y="102"/>
                  </a:lnTo>
                  <a:lnTo>
                    <a:pt x="32" y="95"/>
                  </a:lnTo>
                  <a:close/>
                  <a:moveTo>
                    <a:pt x="38" y="12"/>
                  </a:moveTo>
                  <a:lnTo>
                    <a:pt x="38" y="6"/>
                  </a:lnTo>
                  <a:lnTo>
                    <a:pt x="32" y="0"/>
                  </a:lnTo>
                  <a:lnTo>
                    <a:pt x="25" y="6"/>
                  </a:lnTo>
                  <a:lnTo>
                    <a:pt x="19" y="12"/>
                  </a:lnTo>
                  <a:lnTo>
                    <a:pt x="25" y="19"/>
                  </a:lnTo>
                  <a:lnTo>
                    <a:pt x="32" y="19"/>
                  </a:lnTo>
                  <a:lnTo>
                    <a:pt x="38" y="19"/>
                  </a:lnTo>
                  <a:lnTo>
                    <a:pt x="38" y="12"/>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56" name="Freeform 56"/>
            <p:cNvSpPr/>
            <p:nvPr/>
          </p:nvSpPr>
          <p:spPr>
            <a:xfrm>
              <a:off x="4013" y="865"/>
              <a:ext cx="96" cy="89"/>
            </a:xfrm>
            <a:custGeom>
              <a:avLst/>
              <a:gdLst>
                <a:gd name="txL" fmla="*/ 0 w 96"/>
                <a:gd name="txT" fmla="*/ 0 h 89"/>
                <a:gd name="txR" fmla="*/ 96 w 96"/>
                <a:gd name="txB" fmla="*/ 89 h 89"/>
              </a:gdLst>
              <a:ahLst/>
              <a:cxnLst>
                <a:cxn ang="0">
                  <a:pos x="96" y="0"/>
                </a:cxn>
                <a:cxn ang="0">
                  <a:pos x="70" y="0"/>
                </a:cxn>
                <a:cxn ang="0">
                  <a:pos x="70" y="0"/>
                </a:cxn>
                <a:cxn ang="0">
                  <a:pos x="77" y="6"/>
                </a:cxn>
                <a:cxn ang="0">
                  <a:pos x="77" y="6"/>
                </a:cxn>
                <a:cxn ang="0">
                  <a:pos x="77" y="13"/>
                </a:cxn>
                <a:cxn ang="0">
                  <a:pos x="77" y="13"/>
                </a:cxn>
                <a:cxn ang="0">
                  <a:pos x="64" y="64"/>
                </a:cxn>
                <a:cxn ang="0">
                  <a:pos x="64" y="64"/>
                </a:cxn>
                <a:cxn ang="0">
                  <a:pos x="38" y="0"/>
                </a:cxn>
                <a:cxn ang="0">
                  <a:pos x="19" y="0"/>
                </a:cxn>
                <a:cxn ang="0">
                  <a:pos x="19" y="0"/>
                </a:cxn>
                <a:cxn ang="0">
                  <a:pos x="26" y="6"/>
                </a:cxn>
                <a:cxn ang="0">
                  <a:pos x="26" y="6"/>
                </a:cxn>
                <a:cxn ang="0">
                  <a:pos x="13" y="64"/>
                </a:cxn>
                <a:cxn ang="0">
                  <a:pos x="6" y="76"/>
                </a:cxn>
                <a:cxn ang="0">
                  <a:pos x="6" y="83"/>
                </a:cxn>
                <a:cxn ang="0">
                  <a:pos x="0" y="83"/>
                </a:cxn>
                <a:cxn ang="0">
                  <a:pos x="0" y="89"/>
                </a:cxn>
                <a:cxn ang="0">
                  <a:pos x="26" y="89"/>
                </a:cxn>
                <a:cxn ang="0">
                  <a:pos x="26" y="83"/>
                </a:cxn>
                <a:cxn ang="0">
                  <a:pos x="19" y="83"/>
                </a:cxn>
                <a:cxn ang="0">
                  <a:pos x="19" y="76"/>
                </a:cxn>
                <a:cxn ang="0">
                  <a:pos x="19" y="76"/>
                </a:cxn>
                <a:cxn ang="0">
                  <a:pos x="19" y="70"/>
                </a:cxn>
                <a:cxn ang="0">
                  <a:pos x="32" y="19"/>
                </a:cxn>
                <a:cxn ang="0">
                  <a:pos x="32" y="19"/>
                </a:cxn>
                <a:cxn ang="0">
                  <a:pos x="64" y="89"/>
                </a:cxn>
                <a:cxn ang="0">
                  <a:pos x="64" y="89"/>
                </a:cxn>
                <a:cxn ang="0">
                  <a:pos x="83" y="19"/>
                </a:cxn>
                <a:cxn ang="0">
                  <a:pos x="89" y="6"/>
                </a:cxn>
                <a:cxn ang="0">
                  <a:pos x="96" y="0"/>
                </a:cxn>
                <a:cxn ang="0">
                  <a:pos x="96" y="0"/>
                </a:cxn>
              </a:cxnLst>
              <a:rect l="txL" t="txT" r="txR" b="txB"/>
              <a:pathLst>
                <a:path w="96" h="89">
                  <a:moveTo>
                    <a:pt x="96" y="0"/>
                  </a:moveTo>
                  <a:lnTo>
                    <a:pt x="70" y="0"/>
                  </a:lnTo>
                  <a:lnTo>
                    <a:pt x="77" y="6"/>
                  </a:lnTo>
                  <a:lnTo>
                    <a:pt x="77" y="13"/>
                  </a:lnTo>
                  <a:lnTo>
                    <a:pt x="64" y="64"/>
                  </a:lnTo>
                  <a:lnTo>
                    <a:pt x="38" y="0"/>
                  </a:lnTo>
                  <a:lnTo>
                    <a:pt x="19" y="0"/>
                  </a:lnTo>
                  <a:lnTo>
                    <a:pt x="26" y="6"/>
                  </a:lnTo>
                  <a:lnTo>
                    <a:pt x="13" y="64"/>
                  </a:lnTo>
                  <a:lnTo>
                    <a:pt x="6" y="76"/>
                  </a:lnTo>
                  <a:lnTo>
                    <a:pt x="6" y="83"/>
                  </a:lnTo>
                  <a:lnTo>
                    <a:pt x="0" y="83"/>
                  </a:lnTo>
                  <a:lnTo>
                    <a:pt x="0" y="89"/>
                  </a:lnTo>
                  <a:lnTo>
                    <a:pt x="26" y="89"/>
                  </a:lnTo>
                  <a:lnTo>
                    <a:pt x="26" y="83"/>
                  </a:lnTo>
                  <a:lnTo>
                    <a:pt x="19" y="83"/>
                  </a:lnTo>
                  <a:lnTo>
                    <a:pt x="19" y="76"/>
                  </a:lnTo>
                  <a:lnTo>
                    <a:pt x="19" y="70"/>
                  </a:lnTo>
                  <a:lnTo>
                    <a:pt x="32" y="19"/>
                  </a:lnTo>
                  <a:lnTo>
                    <a:pt x="64" y="89"/>
                  </a:lnTo>
                  <a:lnTo>
                    <a:pt x="83" y="19"/>
                  </a:lnTo>
                  <a:lnTo>
                    <a:pt x="89" y="6"/>
                  </a:lnTo>
                  <a:lnTo>
                    <a:pt x="96"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57" name="Freeform 57"/>
            <p:cNvSpPr/>
            <p:nvPr/>
          </p:nvSpPr>
          <p:spPr>
            <a:xfrm>
              <a:off x="4153" y="814"/>
              <a:ext cx="70" cy="140"/>
            </a:xfrm>
            <a:custGeom>
              <a:avLst/>
              <a:gdLst>
                <a:gd name="txL" fmla="*/ 0 w 70"/>
                <a:gd name="txT" fmla="*/ 0 h 140"/>
                <a:gd name="txR" fmla="*/ 70 w 70"/>
                <a:gd name="txB" fmla="*/ 140 h 140"/>
              </a:gdLst>
              <a:ahLst/>
              <a:cxnLst>
                <a:cxn ang="0">
                  <a:pos x="0" y="0"/>
                </a:cxn>
                <a:cxn ang="0">
                  <a:pos x="32" y="140"/>
                </a:cxn>
                <a:cxn ang="0">
                  <a:pos x="70" y="0"/>
                </a:cxn>
                <a:cxn ang="0">
                  <a:pos x="0" y="0"/>
                </a:cxn>
                <a:cxn ang="0">
                  <a:pos x="0" y="0"/>
                </a:cxn>
              </a:cxnLst>
              <a:rect l="txL" t="txT" r="txR" b="txB"/>
              <a:pathLst>
                <a:path w="70" h="140">
                  <a:moveTo>
                    <a:pt x="0" y="0"/>
                  </a:moveTo>
                  <a:lnTo>
                    <a:pt x="32" y="140"/>
                  </a:lnTo>
                  <a:lnTo>
                    <a:pt x="70"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858" name="Freeform 58"/>
            <p:cNvSpPr/>
            <p:nvPr/>
          </p:nvSpPr>
          <p:spPr>
            <a:xfrm>
              <a:off x="1800" y="1075"/>
              <a:ext cx="64" cy="370"/>
            </a:xfrm>
            <a:custGeom>
              <a:avLst/>
              <a:gdLst>
                <a:gd name="txL" fmla="*/ 0 w 64"/>
                <a:gd name="txT" fmla="*/ 0 h 370"/>
                <a:gd name="txR" fmla="*/ 64 w 64"/>
                <a:gd name="txB" fmla="*/ 370 h 370"/>
              </a:gdLst>
              <a:ahLst/>
              <a:cxnLst>
                <a:cxn ang="0">
                  <a:pos x="0" y="370"/>
                </a:cxn>
                <a:cxn ang="0">
                  <a:pos x="64" y="370"/>
                </a:cxn>
                <a:cxn ang="0">
                  <a:pos x="64" y="0"/>
                </a:cxn>
                <a:cxn ang="0">
                  <a:pos x="0" y="0"/>
                </a:cxn>
                <a:cxn ang="0">
                  <a:pos x="0" y="370"/>
                </a:cxn>
                <a:cxn ang="0">
                  <a:pos x="0" y="370"/>
                </a:cxn>
              </a:cxnLst>
              <a:rect l="txL" t="txT" r="txR" b="txB"/>
              <a:pathLst>
                <a:path w="64" h="370">
                  <a:moveTo>
                    <a:pt x="0" y="370"/>
                  </a:moveTo>
                  <a:lnTo>
                    <a:pt x="64" y="370"/>
                  </a:lnTo>
                  <a:lnTo>
                    <a:pt x="64" y="0"/>
                  </a:lnTo>
                  <a:lnTo>
                    <a:pt x="0" y="0"/>
                  </a:lnTo>
                  <a:lnTo>
                    <a:pt x="0" y="370"/>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4859" name="Freeform 59"/>
            <p:cNvSpPr/>
            <p:nvPr/>
          </p:nvSpPr>
          <p:spPr>
            <a:xfrm>
              <a:off x="1832" y="1075"/>
              <a:ext cx="70" cy="64"/>
            </a:xfrm>
            <a:custGeom>
              <a:avLst/>
              <a:gdLst>
                <a:gd name="txL" fmla="*/ 0 w 70"/>
                <a:gd name="txT" fmla="*/ 0 h 64"/>
                <a:gd name="txR" fmla="*/ 70 w 70"/>
                <a:gd name="txB" fmla="*/ 64 h 64"/>
              </a:gdLst>
              <a:ahLst/>
              <a:cxnLst>
                <a:cxn ang="0">
                  <a:pos x="0" y="0"/>
                </a:cxn>
                <a:cxn ang="0">
                  <a:pos x="25" y="7"/>
                </a:cxn>
                <a:cxn ang="0">
                  <a:pos x="51" y="19"/>
                </a:cxn>
                <a:cxn ang="0">
                  <a:pos x="63" y="38"/>
                </a:cxn>
                <a:cxn ang="0">
                  <a:pos x="70" y="64"/>
                </a:cxn>
                <a:cxn ang="0">
                  <a:pos x="70" y="58"/>
                </a:cxn>
                <a:cxn ang="0">
                  <a:pos x="63" y="38"/>
                </a:cxn>
                <a:cxn ang="0">
                  <a:pos x="51" y="19"/>
                </a:cxn>
                <a:cxn ang="0">
                  <a:pos x="25" y="7"/>
                </a:cxn>
                <a:cxn ang="0">
                  <a:pos x="0" y="0"/>
                </a:cxn>
                <a:cxn ang="0">
                  <a:pos x="0" y="0"/>
                </a:cxn>
              </a:cxnLst>
              <a:rect l="txL" t="txT" r="txR" b="txB"/>
              <a:pathLst>
                <a:path w="70" h="64">
                  <a:moveTo>
                    <a:pt x="0" y="0"/>
                  </a:moveTo>
                  <a:lnTo>
                    <a:pt x="25" y="7"/>
                  </a:lnTo>
                  <a:lnTo>
                    <a:pt x="51" y="19"/>
                  </a:lnTo>
                  <a:lnTo>
                    <a:pt x="63" y="38"/>
                  </a:lnTo>
                  <a:lnTo>
                    <a:pt x="70" y="64"/>
                  </a:lnTo>
                  <a:lnTo>
                    <a:pt x="70" y="58"/>
                  </a:lnTo>
                  <a:lnTo>
                    <a:pt x="63" y="38"/>
                  </a:lnTo>
                  <a:lnTo>
                    <a:pt x="51" y="19"/>
                  </a:lnTo>
                  <a:lnTo>
                    <a:pt x="25" y="7"/>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0" name="Freeform 60"/>
            <p:cNvSpPr>
              <a:spLocks noEditPoints="1"/>
            </p:cNvSpPr>
            <p:nvPr/>
          </p:nvSpPr>
          <p:spPr>
            <a:xfrm>
              <a:off x="1832" y="1133"/>
              <a:ext cx="70" cy="63"/>
            </a:xfrm>
            <a:custGeom>
              <a:avLst/>
              <a:gdLst>
                <a:gd name="txL" fmla="*/ 0 w 70"/>
                <a:gd name="txT" fmla="*/ 0 h 63"/>
                <a:gd name="txR" fmla="*/ 70 w 70"/>
                <a:gd name="txB" fmla="*/ 63 h 63"/>
              </a:gdLst>
              <a:ahLst/>
              <a:cxnLst>
                <a:cxn ang="0">
                  <a:pos x="70" y="0"/>
                </a:cxn>
                <a:cxn ang="0">
                  <a:pos x="63" y="25"/>
                </a:cxn>
                <a:cxn ang="0">
                  <a:pos x="51" y="44"/>
                </a:cxn>
                <a:cxn ang="0">
                  <a:pos x="25" y="57"/>
                </a:cxn>
                <a:cxn ang="0">
                  <a:pos x="0" y="63"/>
                </a:cxn>
                <a:cxn ang="0">
                  <a:pos x="0" y="63"/>
                </a:cxn>
                <a:cxn ang="0">
                  <a:pos x="25" y="57"/>
                </a:cxn>
                <a:cxn ang="0">
                  <a:pos x="51" y="44"/>
                </a:cxn>
                <a:cxn ang="0">
                  <a:pos x="63" y="25"/>
                </a:cxn>
                <a:cxn ang="0">
                  <a:pos x="70" y="6"/>
                </a:cxn>
                <a:cxn ang="0">
                  <a:pos x="70" y="0"/>
                </a:cxn>
                <a:cxn ang="0">
                  <a:pos x="70" y="0"/>
                </a:cxn>
                <a:cxn ang="0">
                  <a:pos x="70" y="0"/>
                </a:cxn>
                <a:cxn ang="0">
                  <a:pos x="70" y="0"/>
                </a:cxn>
              </a:cxnLst>
              <a:rect l="txL" t="txT" r="txR" b="txB"/>
              <a:pathLst>
                <a:path w="70" h="63">
                  <a:moveTo>
                    <a:pt x="70" y="0"/>
                  </a:moveTo>
                  <a:lnTo>
                    <a:pt x="63" y="25"/>
                  </a:lnTo>
                  <a:lnTo>
                    <a:pt x="51" y="44"/>
                  </a:lnTo>
                  <a:lnTo>
                    <a:pt x="25" y="57"/>
                  </a:lnTo>
                  <a:lnTo>
                    <a:pt x="0" y="63"/>
                  </a:lnTo>
                  <a:lnTo>
                    <a:pt x="25" y="57"/>
                  </a:lnTo>
                  <a:lnTo>
                    <a:pt x="51" y="44"/>
                  </a:lnTo>
                  <a:lnTo>
                    <a:pt x="63" y="25"/>
                  </a:lnTo>
                  <a:lnTo>
                    <a:pt x="70" y="6"/>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1" name="Freeform 61"/>
            <p:cNvSpPr>
              <a:spLocks noEditPoints="1"/>
            </p:cNvSpPr>
            <p:nvPr/>
          </p:nvSpPr>
          <p:spPr>
            <a:xfrm>
              <a:off x="1781" y="1177"/>
              <a:ext cx="51" cy="19"/>
            </a:xfrm>
            <a:custGeom>
              <a:avLst/>
              <a:gdLst>
                <a:gd name="txL" fmla="*/ 0 w 51"/>
                <a:gd name="txT" fmla="*/ 0 h 19"/>
                <a:gd name="txR" fmla="*/ 51 w 51"/>
                <a:gd name="txB" fmla="*/ 19 h 19"/>
              </a:gdLst>
              <a:ahLst/>
              <a:cxnLst>
                <a:cxn ang="0">
                  <a:pos x="51" y="19"/>
                </a:cxn>
                <a:cxn ang="0">
                  <a:pos x="25" y="13"/>
                </a:cxn>
                <a:cxn ang="0">
                  <a:pos x="0" y="0"/>
                </a:cxn>
                <a:cxn ang="0">
                  <a:pos x="0" y="0"/>
                </a:cxn>
                <a:cxn ang="0">
                  <a:pos x="25" y="13"/>
                </a:cxn>
                <a:cxn ang="0">
                  <a:pos x="51" y="19"/>
                </a:cxn>
                <a:cxn ang="0">
                  <a:pos x="51" y="19"/>
                </a:cxn>
                <a:cxn ang="0">
                  <a:pos x="51" y="19"/>
                </a:cxn>
                <a:cxn ang="0">
                  <a:pos x="51" y="19"/>
                </a:cxn>
                <a:cxn ang="0">
                  <a:pos x="51" y="19"/>
                </a:cxn>
              </a:cxnLst>
              <a:rect l="txL" t="txT" r="txR" b="txB"/>
              <a:pathLst>
                <a:path w="51" h="19">
                  <a:moveTo>
                    <a:pt x="51" y="19"/>
                  </a:moveTo>
                  <a:lnTo>
                    <a:pt x="25" y="13"/>
                  </a:lnTo>
                  <a:lnTo>
                    <a:pt x="0" y="0"/>
                  </a:lnTo>
                  <a:lnTo>
                    <a:pt x="25" y="13"/>
                  </a:lnTo>
                  <a:lnTo>
                    <a:pt x="51" y="19"/>
                  </a:lnTo>
                  <a:close/>
                  <a:moveTo>
                    <a:pt x="51" y="19"/>
                  </a:moveTo>
                  <a:lnTo>
                    <a:pt x="51"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2" name="Freeform 62"/>
            <p:cNvSpPr>
              <a:spLocks noEditPoints="1"/>
            </p:cNvSpPr>
            <p:nvPr/>
          </p:nvSpPr>
          <p:spPr>
            <a:xfrm>
              <a:off x="1781" y="1164"/>
              <a:ext cx="51" cy="13"/>
            </a:xfrm>
            <a:custGeom>
              <a:avLst/>
              <a:gdLst>
                <a:gd name="txL" fmla="*/ 0 w 51"/>
                <a:gd name="txT" fmla="*/ 0 h 13"/>
                <a:gd name="txR" fmla="*/ 51 w 51"/>
                <a:gd name="txB" fmla="*/ 13 h 13"/>
              </a:gdLst>
              <a:ahLst/>
              <a:cxnLst>
                <a:cxn ang="0">
                  <a:pos x="0" y="13"/>
                </a:cxn>
                <a:cxn ang="0">
                  <a:pos x="25" y="7"/>
                </a:cxn>
                <a:cxn ang="0">
                  <a:pos x="51" y="0"/>
                </a:cxn>
                <a:cxn ang="0">
                  <a:pos x="51" y="0"/>
                </a:cxn>
                <a:cxn ang="0">
                  <a:pos x="25" y="7"/>
                </a:cxn>
                <a:cxn ang="0">
                  <a:pos x="0" y="13"/>
                </a:cxn>
                <a:cxn ang="0">
                  <a:pos x="0" y="13"/>
                </a:cxn>
                <a:cxn ang="0">
                  <a:pos x="0" y="13"/>
                </a:cxn>
                <a:cxn ang="0">
                  <a:pos x="0" y="13"/>
                </a:cxn>
                <a:cxn ang="0">
                  <a:pos x="0" y="13"/>
                </a:cxn>
              </a:cxnLst>
              <a:rect l="txL" t="txT" r="txR" b="txB"/>
              <a:pathLst>
                <a:path w="51" h="13">
                  <a:moveTo>
                    <a:pt x="0" y="13"/>
                  </a:moveTo>
                  <a:lnTo>
                    <a:pt x="25" y="7"/>
                  </a:lnTo>
                  <a:lnTo>
                    <a:pt x="51" y="0"/>
                  </a:lnTo>
                  <a:lnTo>
                    <a:pt x="25" y="7"/>
                  </a:lnTo>
                  <a:lnTo>
                    <a:pt x="0" y="13"/>
                  </a:lnTo>
                  <a:close/>
                  <a:moveTo>
                    <a:pt x="0" y="13"/>
                  </a:moveTo>
                  <a:lnTo>
                    <a:pt x="0"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3" name="Freeform 63"/>
            <p:cNvSpPr>
              <a:spLocks noEditPoints="1"/>
            </p:cNvSpPr>
            <p:nvPr/>
          </p:nvSpPr>
          <p:spPr>
            <a:xfrm>
              <a:off x="1832" y="1164"/>
              <a:ext cx="70" cy="58"/>
            </a:xfrm>
            <a:custGeom>
              <a:avLst/>
              <a:gdLst>
                <a:gd name="txL" fmla="*/ 0 w 70"/>
                <a:gd name="txT" fmla="*/ 0 h 58"/>
                <a:gd name="txR" fmla="*/ 70 w 70"/>
                <a:gd name="txB" fmla="*/ 58 h 58"/>
              </a:gdLst>
              <a:ahLst/>
              <a:cxnLst>
                <a:cxn ang="0">
                  <a:pos x="0" y="0"/>
                </a:cxn>
                <a:cxn ang="0">
                  <a:pos x="25" y="7"/>
                </a:cxn>
                <a:cxn ang="0">
                  <a:pos x="51" y="20"/>
                </a:cxn>
                <a:cxn ang="0">
                  <a:pos x="63" y="39"/>
                </a:cxn>
                <a:cxn ang="0">
                  <a:pos x="70" y="58"/>
                </a:cxn>
                <a:cxn ang="0">
                  <a:pos x="70" y="58"/>
                </a:cxn>
                <a:cxn ang="0">
                  <a:pos x="63" y="39"/>
                </a:cxn>
                <a:cxn ang="0">
                  <a:pos x="51" y="20"/>
                </a:cxn>
                <a:cxn ang="0">
                  <a:pos x="25" y="7"/>
                </a:cxn>
                <a:cxn ang="0">
                  <a:pos x="0" y="0"/>
                </a:cxn>
                <a:cxn ang="0">
                  <a:pos x="0" y="0"/>
                </a:cxn>
                <a:cxn ang="0">
                  <a:pos x="0" y="0"/>
                </a:cxn>
                <a:cxn ang="0">
                  <a:pos x="0" y="0"/>
                </a:cxn>
                <a:cxn ang="0">
                  <a:pos x="0" y="0"/>
                </a:cxn>
              </a:cxnLst>
              <a:rect l="txL" t="txT" r="txR" b="txB"/>
              <a:pathLst>
                <a:path w="70" h="58">
                  <a:moveTo>
                    <a:pt x="0" y="0"/>
                  </a:moveTo>
                  <a:lnTo>
                    <a:pt x="25" y="7"/>
                  </a:lnTo>
                  <a:lnTo>
                    <a:pt x="51" y="20"/>
                  </a:lnTo>
                  <a:lnTo>
                    <a:pt x="63" y="39"/>
                  </a:lnTo>
                  <a:lnTo>
                    <a:pt x="70" y="58"/>
                  </a:lnTo>
                  <a:lnTo>
                    <a:pt x="63" y="39"/>
                  </a:lnTo>
                  <a:lnTo>
                    <a:pt x="51" y="20"/>
                  </a:lnTo>
                  <a:lnTo>
                    <a:pt x="25" y="7"/>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4" name="Freeform 64"/>
            <p:cNvSpPr>
              <a:spLocks noEditPoints="1"/>
            </p:cNvSpPr>
            <p:nvPr/>
          </p:nvSpPr>
          <p:spPr>
            <a:xfrm>
              <a:off x="1832" y="1222"/>
              <a:ext cx="70" cy="57"/>
            </a:xfrm>
            <a:custGeom>
              <a:avLst/>
              <a:gdLst>
                <a:gd name="txL" fmla="*/ 0 w 70"/>
                <a:gd name="txT" fmla="*/ 0 h 57"/>
                <a:gd name="txR" fmla="*/ 70 w 70"/>
                <a:gd name="txB" fmla="*/ 57 h 57"/>
              </a:gdLst>
              <a:ahLst/>
              <a:cxnLst>
                <a:cxn ang="0">
                  <a:pos x="70" y="0"/>
                </a:cxn>
                <a:cxn ang="0">
                  <a:pos x="63" y="25"/>
                </a:cxn>
                <a:cxn ang="0">
                  <a:pos x="51" y="38"/>
                </a:cxn>
                <a:cxn ang="0">
                  <a:pos x="25" y="51"/>
                </a:cxn>
                <a:cxn ang="0">
                  <a:pos x="0" y="57"/>
                </a:cxn>
                <a:cxn ang="0">
                  <a:pos x="0" y="57"/>
                </a:cxn>
                <a:cxn ang="0">
                  <a:pos x="25" y="51"/>
                </a:cxn>
                <a:cxn ang="0">
                  <a:pos x="51" y="38"/>
                </a:cxn>
                <a:cxn ang="0">
                  <a:pos x="63" y="25"/>
                </a:cxn>
                <a:cxn ang="0">
                  <a:pos x="70" y="0"/>
                </a:cxn>
                <a:cxn ang="0">
                  <a:pos x="70" y="0"/>
                </a:cxn>
                <a:cxn ang="0">
                  <a:pos x="70" y="0"/>
                </a:cxn>
                <a:cxn ang="0">
                  <a:pos x="70" y="0"/>
                </a:cxn>
                <a:cxn ang="0">
                  <a:pos x="70" y="0"/>
                </a:cxn>
              </a:cxnLst>
              <a:rect l="txL" t="txT" r="txR" b="txB"/>
              <a:pathLst>
                <a:path w="70" h="57">
                  <a:moveTo>
                    <a:pt x="70" y="0"/>
                  </a:moveTo>
                  <a:lnTo>
                    <a:pt x="63" y="25"/>
                  </a:lnTo>
                  <a:lnTo>
                    <a:pt x="51" y="38"/>
                  </a:lnTo>
                  <a:lnTo>
                    <a:pt x="25" y="51"/>
                  </a:lnTo>
                  <a:lnTo>
                    <a:pt x="0" y="57"/>
                  </a:lnTo>
                  <a:lnTo>
                    <a:pt x="25" y="51"/>
                  </a:lnTo>
                  <a:lnTo>
                    <a:pt x="51" y="38"/>
                  </a:lnTo>
                  <a:lnTo>
                    <a:pt x="63" y="25"/>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5" name="Freeform 65"/>
            <p:cNvSpPr>
              <a:spLocks noEditPoints="1"/>
            </p:cNvSpPr>
            <p:nvPr/>
          </p:nvSpPr>
          <p:spPr>
            <a:xfrm>
              <a:off x="1781" y="1260"/>
              <a:ext cx="51" cy="19"/>
            </a:xfrm>
            <a:custGeom>
              <a:avLst/>
              <a:gdLst>
                <a:gd name="txL" fmla="*/ 0 w 51"/>
                <a:gd name="txT" fmla="*/ 0 h 19"/>
                <a:gd name="txR" fmla="*/ 51 w 51"/>
                <a:gd name="txB" fmla="*/ 19 h 19"/>
              </a:gdLst>
              <a:ahLst/>
              <a:cxnLst>
                <a:cxn ang="0">
                  <a:pos x="51" y="19"/>
                </a:cxn>
                <a:cxn ang="0">
                  <a:pos x="25" y="13"/>
                </a:cxn>
                <a:cxn ang="0">
                  <a:pos x="0" y="0"/>
                </a:cxn>
                <a:cxn ang="0">
                  <a:pos x="0" y="0"/>
                </a:cxn>
                <a:cxn ang="0">
                  <a:pos x="25" y="13"/>
                </a:cxn>
                <a:cxn ang="0">
                  <a:pos x="51" y="19"/>
                </a:cxn>
                <a:cxn ang="0">
                  <a:pos x="51" y="19"/>
                </a:cxn>
                <a:cxn ang="0">
                  <a:pos x="51" y="19"/>
                </a:cxn>
                <a:cxn ang="0">
                  <a:pos x="51" y="19"/>
                </a:cxn>
                <a:cxn ang="0">
                  <a:pos x="51" y="19"/>
                </a:cxn>
              </a:cxnLst>
              <a:rect l="txL" t="txT" r="txR" b="txB"/>
              <a:pathLst>
                <a:path w="51" h="19">
                  <a:moveTo>
                    <a:pt x="51" y="19"/>
                  </a:moveTo>
                  <a:lnTo>
                    <a:pt x="25" y="13"/>
                  </a:lnTo>
                  <a:lnTo>
                    <a:pt x="0" y="0"/>
                  </a:lnTo>
                  <a:lnTo>
                    <a:pt x="25" y="13"/>
                  </a:lnTo>
                  <a:lnTo>
                    <a:pt x="51" y="19"/>
                  </a:lnTo>
                  <a:close/>
                  <a:moveTo>
                    <a:pt x="51" y="19"/>
                  </a:moveTo>
                  <a:lnTo>
                    <a:pt x="51"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6" name="Freeform 66"/>
            <p:cNvSpPr>
              <a:spLocks noEditPoints="1"/>
            </p:cNvSpPr>
            <p:nvPr/>
          </p:nvSpPr>
          <p:spPr>
            <a:xfrm>
              <a:off x="1781" y="1247"/>
              <a:ext cx="51" cy="13"/>
            </a:xfrm>
            <a:custGeom>
              <a:avLst/>
              <a:gdLst>
                <a:gd name="txL" fmla="*/ 0 w 51"/>
                <a:gd name="txT" fmla="*/ 0 h 13"/>
                <a:gd name="txR" fmla="*/ 51 w 51"/>
                <a:gd name="txB" fmla="*/ 13 h 13"/>
              </a:gdLst>
              <a:ahLst/>
              <a:cxnLst>
                <a:cxn ang="0">
                  <a:pos x="0" y="13"/>
                </a:cxn>
                <a:cxn ang="0">
                  <a:pos x="25" y="7"/>
                </a:cxn>
                <a:cxn ang="0">
                  <a:pos x="51" y="0"/>
                </a:cxn>
                <a:cxn ang="0">
                  <a:pos x="51" y="0"/>
                </a:cxn>
                <a:cxn ang="0">
                  <a:pos x="25" y="7"/>
                </a:cxn>
                <a:cxn ang="0">
                  <a:pos x="0" y="13"/>
                </a:cxn>
                <a:cxn ang="0">
                  <a:pos x="0" y="13"/>
                </a:cxn>
                <a:cxn ang="0">
                  <a:pos x="0" y="13"/>
                </a:cxn>
                <a:cxn ang="0">
                  <a:pos x="0" y="13"/>
                </a:cxn>
                <a:cxn ang="0">
                  <a:pos x="0" y="13"/>
                </a:cxn>
              </a:cxnLst>
              <a:rect l="txL" t="txT" r="txR" b="txB"/>
              <a:pathLst>
                <a:path w="51" h="13">
                  <a:moveTo>
                    <a:pt x="0" y="13"/>
                  </a:moveTo>
                  <a:lnTo>
                    <a:pt x="25" y="7"/>
                  </a:lnTo>
                  <a:lnTo>
                    <a:pt x="51" y="0"/>
                  </a:lnTo>
                  <a:lnTo>
                    <a:pt x="25" y="7"/>
                  </a:lnTo>
                  <a:lnTo>
                    <a:pt x="0" y="13"/>
                  </a:lnTo>
                  <a:close/>
                  <a:moveTo>
                    <a:pt x="0" y="13"/>
                  </a:moveTo>
                  <a:lnTo>
                    <a:pt x="0"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7" name="Freeform 67"/>
            <p:cNvSpPr>
              <a:spLocks noEditPoints="1"/>
            </p:cNvSpPr>
            <p:nvPr/>
          </p:nvSpPr>
          <p:spPr>
            <a:xfrm>
              <a:off x="1832" y="1247"/>
              <a:ext cx="70" cy="58"/>
            </a:xfrm>
            <a:custGeom>
              <a:avLst/>
              <a:gdLst>
                <a:gd name="txL" fmla="*/ 0 w 70"/>
                <a:gd name="txT" fmla="*/ 0 h 58"/>
                <a:gd name="txR" fmla="*/ 70 w 70"/>
                <a:gd name="txB" fmla="*/ 58 h 58"/>
              </a:gdLst>
              <a:ahLst/>
              <a:cxnLst>
                <a:cxn ang="0">
                  <a:pos x="0" y="0"/>
                </a:cxn>
                <a:cxn ang="0">
                  <a:pos x="25" y="7"/>
                </a:cxn>
                <a:cxn ang="0">
                  <a:pos x="51" y="19"/>
                </a:cxn>
                <a:cxn ang="0">
                  <a:pos x="63" y="38"/>
                </a:cxn>
                <a:cxn ang="0">
                  <a:pos x="70" y="58"/>
                </a:cxn>
                <a:cxn ang="0">
                  <a:pos x="70" y="58"/>
                </a:cxn>
                <a:cxn ang="0">
                  <a:pos x="63" y="38"/>
                </a:cxn>
                <a:cxn ang="0">
                  <a:pos x="51" y="19"/>
                </a:cxn>
                <a:cxn ang="0">
                  <a:pos x="25" y="7"/>
                </a:cxn>
                <a:cxn ang="0">
                  <a:pos x="0" y="0"/>
                </a:cxn>
                <a:cxn ang="0">
                  <a:pos x="0" y="0"/>
                </a:cxn>
                <a:cxn ang="0">
                  <a:pos x="0" y="0"/>
                </a:cxn>
                <a:cxn ang="0">
                  <a:pos x="0" y="0"/>
                </a:cxn>
                <a:cxn ang="0">
                  <a:pos x="0" y="0"/>
                </a:cxn>
              </a:cxnLst>
              <a:rect l="txL" t="txT" r="txR" b="txB"/>
              <a:pathLst>
                <a:path w="70" h="58">
                  <a:moveTo>
                    <a:pt x="0" y="0"/>
                  </a:moveTo>
                  <a:lnTo>
                    <a:pt x="25" y="7"/>
                  </a:lnTo>
                  <a:lnTo>
                    <a:pt x="51" y="19"/>
                  </a:lnTo>
                  <a:lnTo>
                    <a:pt x="63" y="38"/>
                  </a:lnTo>
                  <a:lnTo>
                    <a:pt x="70" y="58"/>
                  </a:lnTo>
                  <a:lnTo>
                    <a:pt x="63" y="38"/>
                  </a:lnTo>
                  <a:lnTo>
                    <a:pt x="51" y="19"/>
                  </a:lnTo>
                  <a:lnTo>
                    <a:pt x="25" y="7"/>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8" name="Freeform 68"/>
            <p:cNvSpPr>
              <a:spLocks noEditPoints="1"/>
            </p:cNvSpPr>
            <p:nvPr/>
          </p:nvSpPr>
          <p:spPr>
            <a:xfrm>
              <a:off x="1832" y="1305"/>
              <a:ext cx="70" cy="57"/>
            </a:xfrm>
            <a:custGeom>
              <a:avLst/>
              <a:gdLst>
                <a:gd name="txL" fmla="*/ 0 w 70"/>
                <a:gd name="txT" fmla="*/ 0 h 57"/>
                <a:gd name="txR" fmla="*/ 70 w 70"/>
                <a:gd name="txB" fmla="*/ 57 h 57"/>
              </a:gdLst>
              <a:ahLst/>
              <a:cxnLst>
                <a:cxn ang="0">
                  <a:pos x="70" y="0"/>
                </a:cxn>
                <a:cxn ang="0">
                  <a:pos x="63" y="25"/>
                </a:cxn>
                <a:cxn ang="0">
                  <a:pos x="51" y="38"/>
                </a:cxn>
                <a:cxn ang="0">
                  <a:pos x="25" y="50"/>
                </a:cxn>
                <a:cxn ang="0">
                  <a:pos x="0" y="57"/>
                </a:cxn>
                <a:cxn ang="0">
                  <a:pos x="0" y="57"/>
                </a:cxn>
                <a:cxn ang="0">
                  <a:pos x="25" y="50"/>
                </a:cxn>
                <a:cxn ang="0">
                  <a:pos x="51" y="38"/>
                </a:cxn>
                <a:cxn ang="0">
                  <a:pos x="63" y="25"/>
                </a:cxn>
                <a:cxn ang="0">
                  <a:pos x="70" y="0"/>
                </a:cxn>
                <a:cxn ang="0">
                  <a:pos x="70" y="0"/>
                </a:cxn>
                <a:cxn ang="0">
                  <a:pos x="70" y="0"/>
                </a:cxn>
                <a:cxn ang="0">
                  <a:pos x="70" y="0"/>
                </a:cxn>
                <a:cxn ang="0">
                  <a:pos x="70" y="0"/>
                </a:cxn>
              </a:cxnLst>
              <a:rect l="txL" t="txT" r="txR" b="txB"/>
              <a:pathLst>
                <a:path w="70" h="57">
                  <a:moveTo>
                    <a:pt x="70" y="0"/>
                  </a:moveTo>
                  <a:lnTo>
                    <a:pt x="63" y="25"/>
                  </a:lnTo>
                  <a:lnTo>
                    <a:pt x="51" y="38"/>
                  </a:lnTo>
                  <a:lnTo>
                    <a:pt x="25" y="50"/>
                  </a:lnTo>
                  <a:lnTo>
                    <a:pt x="0" y="57"/>
                  </a:lnTo>
                  <a:lnTo>
                    <a:pt x="25" y="50"/>
                  </a:lnTo>
                  <a:lnTo>
                    <a:pt x="51" y="38"/>
                  </a:lnTo>
                  <a:lnTo>
                    <a:pt x="63" y="25"/>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69" name="Freeform 69"/>
            <p:cNvSpPr>
              <a:spLocks noEditPoints="1"/>
            </p:cNvSpPr>
            <p:nvPr/>
          </p:nvSpPr>
          <p:spPr>
            <a:xfrm>
              <a:off x="1781" y="1349"/>
              <a:ext cx="51" cy="13"/>
            </a:xfrm>
            <a:custGeom>
              <a:avLst/>
              <a:gdLst>
                <a:gd name="txL" fmla="*/ 0 w 51"/>
                <a:gd name="txT" fmla="*/ 0 h 13"/>
                <a:gd name="txR" fmla="*/ 51 w 51"/>
                <a:gd name="txB" fmla="*/ 13 h 13"/>
              </a:gdLst>
              <a:ahLst/>
              <a:cxnLst>
                <a:cxn ang="0">
                  <a:pos x="51" y="13"/>
                </a:cxn>
                <a:cxn ang="0">
                  <a:pos x="25" y="6"/>
                </a:cxn>
                <a:cxn ang="0">
                  <a:pos x="0" y="0"/>
                </a:cxn>
                <a:cxn ang="0">
                  <a:pos x="0" y="0"/>
                </a:cxn>
                <a:cxn ang="0">
                  <a:pos x="25" y="6"/>
                </a:cxn>
                <a:cxn ang="0">
                  <a:pos x="51" y="13"/>
                </a:cxn>
                <a:cxn ang="0">
                  <a:pos x="51" y="13"/>
                </a:cxn>
                <a:cxn ang="0">
                  <a:pos x="51" y="13"/>
                </a:cxn>
                <a:cxn ang="0">
                  <a:pos x="51" y="13"/>
                </a:cxn>
                <a:cxn ang="0">
                  <a:pos x="51" y="13"/>
                </a:cxn>
              </a:cxnLst>
              <a:rect l="txL" t="txT" r="txR" b="txB"/>
              <a:pathLst>
                <a:path w="51" h="13">
                  <a:moveTo>
                    <a:pt x="51" y="13"/>
                  </a:moveTo>
                  <a:lnTo>
                    <a:pt x="25" y="6"/>
                  </a:lnTo>
                  <a:lnTo>
                    <a:pt x="0" y="0"/>
                  </a:lnTo>
                  <a:lnTo>
                    <a:pt x="25" y="6"/>
                  </a:lnTo>
                  <a:lnTo>
                    <a:pt x="51" y="13"/>
                  </a:lnTo>
                  <a:close/>
                  <a:moveTo>
                    <a:pt x="51" y="13"/>
                  </a:moveTo>
                  <a:lnTo>
                    <a:pt x="51"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70" name="Freeform 70"/>
            <p:cNvSpPr>
              <a:spLocks noEditPoints="1"/>
            </p:cNvSpPr>
            <p:nvPr/>
          </p:nvSpPr>
          <p:spPr>
            <a:xfrm>
              <a:off x="1781" y="1330"/>
              <a:ext cx="51" cy="19"/>
            </a:xfrm>
            <a:custGeom>
              <a:avLst/>
              <a:gdLst>
                <a:gd name="txL" fmla="*/ 0 w 51"/>
                <a:gd name="txT" fmla="*/ 0 h 19"/>
                <a:gd name="txR" fmla="*/ 51 w 51"/>
                <a:gd name="txB" fmla="*/ 19 h 19"/>
              </a:gdLst>
              <a:ahLst/>
              <a:cxnLst>
                <a:cxn ang="0">
                  <a:pos x="0" y="19"/>
                </a:cxn>
                <a:cxn ang="0">
                  <a:pos x="25" y="6"/>
                </a:cxn>
                <a:cxn ang="0">
                  <a:pos x="51" y="0"/>
                </a:cxn>
                <a:cxn ang="0">
                  <a:pos x="51" y="0"/>
                </a:cxn>
                <a:cxn ang="0">
                  <a:pos x="25" y="6"/>
                </a:cxn>
                <a:cxn ang="0">
                  <a:pos x="0" y="19"/>
                </a:cxn>
                <a:cxn ang="0">
                  <a:pos x="0" y="19"/>
                </a:cxn>
                <a:cxn ang="0">
                  <a:pos x="0" y="19"/>
                </a:cxn>
                <a:cxn ang="0">
                  <a:pos x="0" y="19"/>
                </a:cxn>
                <a:cxn ang="0">
                  <a:pos x="0" y="19"/>
                </a:cxn>
              </a:cxnLst>
              <a:rect l="txL" t="txT" r="txR" b="txB"/>
              <a:pathLst>
                <a:path w="51" h="19">
                  <a:moveTo>
                    <a:pt x="0" y="19"/>
                  </a:moveTo>
                  <a:lnTo>
                    <a:pt x="25" y="6"/>
                  </a:lnTo>
                  <a:lnTo>
                    <a:pt x="51" y="0"/>
                  </a:lnTo>
                  <a:lnTo>
                    <a:pt x="25" y="6"/>
                  </a:lnTo>
                  <a:lnTo>
                    <a:pt x="0" y="19"/>
                  </a:lnTo>
                  <a:close/>
                  <a:moveTo>
                    <a:pt x="0" y="19"/>
                  </a:moveTo>
                  <a:lnTo>
                    <a:pt x="0"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71" name="Freeform 71"/>
            <p:cNvSpPr>
              <a:spLocks noEditPoints="1"/>
            </p:cNvSpPr>
            <p:nvPr/>
          </p:nvSpPr>
          <p:spPr>
            <a:xfrm>
              <a:off x="1832" y="1330"/>
              <a:ext cx="70" cy="57"/>
            </a:xfrm>
            <a:custGeom>
              <a:avLst/>
              <a:gdLst>
                <a:gd name="txL" fmla="*/ 0 w 70"/>
                <a:gd name="txT" fmla="*/ 0 h 57"/>
                <a:gd name="txR" fmla="*/ 70 w 70"/>
                <a:gd name="txB" fmla="*/ 57 h 57"/>
              </a:gdLst>
              <a:ahLst/>
              <a:cxnLst>
                <a:cxn ang="0">
                  <a:pos x="0" y="0"/>
                </a:cxn>
                <a:cxn ang="0">
                  <a:pos x="25" y="6"/>
                </a:cxn>
                <a:cxn ang="0">
                  <a:pos x="51" y="19"/>
                </a:cxn>
                <a:cxn ang="0">
                  <a:pos x="63" y="38"/>
                </a:cxn>
                <a:cxn ang="0">
                  <a:pos x="70" y="57"/>
                </a:cxn>
                <a:cxn ang="0">
                  <a:pos x="70" y="57"/>
                </a:cxn>
                <a:cxn ang="0">
                  <a:pos x="63" y="38"/>
                </a:cxn>
                <a:cxn ang="0">
                  <a:pos x="51" y="19"/>
                </a:cxn>
                <a:cxn ang="0">
                  <a:pos x="25" y="6"/>
                </a:cxn>
                <a:cxn ang="0">
                  <a:pos x="0" y="0"/>
                </a:cxn>
                <a:cxn ang="0">
                  <a:pos x="0" y="0"/>
                </a:cxn>
                <a:cxn ang="0">
                  <a:pos x="0" y="0"/>
                </a:cxn>
                <a:cxn ang="0">
                  <a:pos x="0" y="0"/>
                </a:cxn>
                <a:cxn ang="0">
                  <a:pos x="0" y="0"/>
                </a:cxn>
              </a:cxnLst>
              <a:rect l="txL" t="txT" r="txR" b="txB"/>
              <a:pathLst>
                <a:path w="70" h="57">
                  <a:moveTo>
                    <a:pt x="0" y="0"/>
                  </a:moveTo>
                  <a:lnTo>
                    <a:pt x="25" y="6"/>
                  </a:lnTo>
                  <a:lnTo>
                    <a:pt x="51" y="19"/>
                  </a:lnTo>
                  <a:lnTo>
                    <a:pt x="63" y="38"/>
                  </a:lnTo>
                  <a:lnTo>
                    <a:pt x="70" y="57"/>
                  </a:lnTo>
                  <a:lnTo>
                    <a:pt x="63" y="38"/>
                  </a:lnTo>
                  <a:lnTo>
                    <a:pt x="51" y="19"/>
                  </a:lnTo>
                  <a:lnTo>
                    <a:pt x="25"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72" name="Freeform 72"/>
            <p:cNvSpPr>
              <a:spLocks noEditPoints="1"/>
            </p:cNvSpPr>
            <p:nvPr/>
          </p:nvSpPr>
          <p:spPr>
            <a:xfrm>
              <a:off x="1832" y="1387"/>
              <a:ext cx="70" cy="58"/>
            </a:xfrm>
            <a:custGeom>
              <a:avLst/>
              <a:gdLst>
                <a:gd name="txL" fmla="*/ 0 w 70"/>
                <a:gd name="txT" fmla="*/ 0 h 58"/>
                <a:gd name="txR" fmla="*/ 70 w 70"/>
                <a:gd name="txB" fmla="*/ 58 h 58"/>
              </a:gdLst>
              <a:ahLst/>
              <a:cxnLst>
                <a:cxn ang="0">
                  <a:pos x="70" y="0"/>
                </a:cxn>
                <a:cxn ang="0">
                  <a:pos x="63" y="26"/>
                </a:cxn>
                <a:cxn ang="0">
                  <a:pos x="51" y="39"/>
                </a:cxn>
                <a:cxn ang="0">
                  <a:pos x="25" y="51"/>
                </a:cxn>
                <a:cxn ang="0">
                  <a:pos x="0" y="58"/>
                </a:cxn>
                <a:cxn ang="0">
                  <a:pos x="0" y="58"/>
                </a:cxn>
                <a:cxn ang="0">
                  <a:pos x="25" y="51"/>
                </a:cxn>
                <a:cxn ang="0">
                  <a:pos x="51" y="39"/>
                </a:cxn>
                <a:cxn ang="0">
                  <a:pos x="63" y="26"/>
                </a:cxn>
                <a:cxn ang="0">
                  <a:pos x="70" y="0"/>
                </a:cxn>
                <a:cxn ang="0">
                  <a:pos x="70" y="0"/>
                </a:cxn>
                <a:cxn ang="0">
                  <a:pos x="70" y="0"/>
                </a:cxn>
                <a:cxn ang="0">
                  <a:pos x="70" y="0"/>
                </a:cxn>
                <a:cxn ang="0">
                  <a:pos x="70" y="0"/>
                </a:cxn>
              </a:cxnLst>
              <a:rect l="txL" t="txT" r="txR" b="txB"/>
              <a:pathLst>
                <a:path w="70" h="58">
                  <a:moveTo>
                    <a:pt x="70" y="0"/>
                  </a:moveTo>
                  <a:lnTo>
                    <a:pt x="63" y="26"/>
                  </a:lnTo>
                  <a:lnTo>
                    <a:pt x="51" y="39"/>
                  </a:lnTo>
                  <a:lnTo>
                    <a:pt x="25" y="51"/>
                  </a:lnTo>
                  <a:lnTo>
                    <a:pt x="0" y="58"/>
                  </a:lnTo>
                  <a:lnTo>
                    <a:pt x="25" y="51"/>
                  </a:lnTo>
                  <a:lnTo>
                    <a:pt x="51" y="39"/>
                  </a:lnTo>
                  <a:lnTo>
                    <a:pt x="63" y="26"/>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73" name="Freeform 73"/>
            <p:cNvSpPr>
              <a:spLocks noEditPoints="1"/>
            </p:cNvSpPr>
            <p:nvPr/>
          </p:nvSpPr>
          <p:spPr>
            <a:xfrm>
              <a:off x="1832" y="1075"/>
              <a:ext cx="1" cy="370"/>
            </a:xfrm>
            <a:custGeom>
              <a:avLst/>
              <a:gdLst>
                <a:gd name="txL" fmla="*/ 0 w 1"/>
                <a:gd name="txT" fmla="*/ 0 h 370"/>
                <a:gd name="txR" fmla="*/ 1 w 1"/>
                <a:gd name="txB" fmla="*/ 370 h 370"/>
              </a:gdLst>
              <a:ahLst/>
              <a:cxnLst>
                <a:cxn ang="0">
                  <a:pos x="0" y="0"/>
                </a:cxn>
                <a:cxn ang="0">
                  <a:pos x="0" y="0"/>
                </a:cxn>
                <a:cxn ang="0">
                  <a:pos x="0" y="0"/>
                </a:cxn>
                <a:cxn ang="0">
                  <a:pos x="0" y="370"/>
                </a:cxn>
                <a:cxn ang="0">
                  <a:pos x="0" y="370"/>
                </a:cxn>
                <a:cxn ang="0">
                  <a:pos x="0" y="370"/>
                </a:cxn>
              </a:cxnLst>
              <a:rect l="txL" t="txT" r="txR" b="txB"/>
              <a:pathLst>
                <a:path w="1" h="370">
                  <a:moveTo>
                    <a:pt x="0" y="0"/>
                  </a:moveTo>
                  <a:lnTo>
                    <a:pt x="0" y="0"/>
                  </a:lnTo>
                  <a:close/>
                  <a:moveTo>
                    <a:pt x="0" y="370"/>
                  </a:moveTo>
                  <a:lnTo>
                    <a:pt x="0" y="37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74" name="Freeform 74"/>
            <p:cNvSpPr/>
            <p:nvPr/>
          </p:nvSpPr>
          <p:spPr>
            <a:xfrm>
              <a:off x="2450" y="1075"/>
              <a:ext cx="64" cy="370"/>
            </a:xfrm>
            <a:custGeom>
              <a:avLst/>
              <a:gdLst>
                <a:gd name="txL" fmla="*/ 0 w 64"/>
                <a:gd name="txT" fmla="*/ 0 h 370"/>
                <a:gd name="txR" fmla="*/ 64 w 64"/>
                <a:gd name="txB" fmla="*/ 370 h 370"/>
              </a:gdLst>
              <a:ahLst/>
              <a:cxnLst>
                <a:cxn ang="0">
                  <a:pos x="0" y="370"/>
                </a:cxn>
                <a:cxn ang="0">
                  <a:pos x="64" y="370"/>
                </a:cxn>
                <a:cxn ang="0">
                  <a:pos x="64" y="0"/>
                </a:cxn>
                <a:cxn ang="0">
                  <a:pos x="0" y="0"/>
                </a:cxn>
                <a:cxn ang="0">
                  <a:pos x="0" y="370"/>
                </a:cxn>
                <a:cxn ang="0">
                  <a:pos x="0" y="370"/>
                </a:cxn>
              </a:cxnLst>
              <a:rect l="txL" t="txT" r="txR" b="txB"/>
              <a:pathLst>
                <a:path w="64" h="370">
                  <a:moveTo>
                    <a:pt x="0" y="370"/>
                  </a:moveTo>
                  <a:lnTo>
                    <a:pt x="64" y="370"/>
                  </a:lnTo>
                  <a:lnTo>
                    <a:pt x="64" y="0"/>
                  </a:lnTo>
                  <a:lnTo>
                    <a:pt x="0" y="0"/>
                  </a:lnTo>
                  <a:lnTo>
                    <a:pt x="0" y="370"/>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4875" name="Freeform 75"/>
            <p:cNvSpPr/>
            <p:nvPr/>
          </p:nvSpPr>
          <p:spPr>
            <a:xfrm>
              <a:off x="2482" y="1075"/>
              <a:ext cx="70" cy="64"/>
            </a:xfrm>
            <a:custGeom>
              <a:avLst/>
              <a:gdLst>
                <a:gd name="txL" fmla="*/ 0 w 70"/>
                <a:gd name="txT" fmla="*/ 0 h 64"/>
                <a:gd name="txR" fmla="*/ 70 w 70"/>
                <a:gd name="txB" fmla="*/ 64 h 64"/>
              </a:gdLst>
              <a:ahLst/>
              <a:cxnLst>
                <a:cxn ang="0">
                  <a:pos x="0" y="0"/>
                </a:cxn>
                <a:cxn ang="0">
                  <a:pos x="26" y="7"/>
                </a:cxn>
                <a:cxn ang="0">
                  <a:pos x="51" y="19"/>
                </a:cxn>
                <a:cxn ang="0">
                  <a:pos x="64" y="38"/>
                </a:cxn>
                <a:cxn ang="0">
                  <a:pos x="70" y="64"/>
                </a:cxn>
                <a:cxn ang="0">
                  <a:pos x="70" y="58"/>
                </a:cxn>
                <a:cxn ang="0">
                  <a:pos x="64" y="38"/>
                </a:cxn>
                <a:cxn ang="0">
                  <a:pos x="51" y="19"/>
                </a:cxn>
                <a:cxn ang="0">
                  <a:pos x="26" y="7"/>
                </a:cxn>
                <a:cxn ang="0">
                  <a:pos x="0" y="0"/>
                </a:cxn>
                <a:cxn ang="0">
                  <a:pos x="0" y="0"/>
                </a:cxn>
              </a:cxnLst>
              <a:rect l="txL" t="txT" r="txR" b="txB"/>
              <a:pathLst>
                <a:path w="70" h="64">
                  <a:moveTo>
                    <a:pt x="0" y="0"/>
                  </a:moveTo>
                  <a:lnTo>
                    <a:pt x="26" y="7"/>
                  </a:lnTo>
                  <a:lnTo>
                    <a:pt x="51" y="19"/>
                  </a:lnTo>
                  <a:lnTo>
                    <a:pt x="64" y="38"/>
                  </a:lnTo>
                  <a:lnTo>
                    <a:pt x="70" y="64"/>
                  </a:lnTo>
                  <a:lnTo>
                    <a:pt x="70" y="58"/>
                  </a:lnTo>
                  <a:lnTo>
                    <a:pt x="64" y="38"/>
                  </a:lnTo>
                  <a:lnTo>
                    <a:pt x="51" y="19"/>
                  </a:lnTo>
                  <a:lnTo>
                    <a:pt x="26" y="7"/>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76" name="Freeform 76"/>
            <p:cNvSpPr>
              <a:spLocks noEditPoints="1"/>
            </p:cNvSpPr>
            <p:nvPr/>
          </p:nvSpPr>
          <p:spPr>
            <a:xfrm>
              <a:off x="2482" y="1133"/>
              <a:ext cx="70" cy="63"/>
            </a:xfrm>
            <a:custGeom>
              <a:avLst/>
              <a:gdLst>
                <a:gd name="txL" fmla="*/ 0 w 70"/>
                <a:gd name="txT" fmla="*/ 0 h 63"/>
                <a:gd name="txR" fmla="*/ 70 w 70"/>
                <a:gd name="txB" fmla="*/ 63 h 63"/>
              </a:gdLst>
              <a:ahLst/>
              <a:cxnLst>
                <a:cxn ang="0">
                  <a:pos x="70" y="0"/>
                </a:cxn>
                <a:cxn ang="0">
                  <a:pos x="64" y="25"/>
                </a:cxn>
                <a:cxn ang="0">
                  <a:pos x="51" y="44"/>
                </a:cxn>
                <a:cxn ang="0">
                  <a:pos x="26" y="57"/>
                </a:cxn>
                <a:cxn ang="0">
                  <a:pos x="0" y="63"/>
                </a:cxn>
                <a:cxn ang="0">
                  <a:pos x="0" y="63"/>
                </a:cxn>
                <a:cxn ang="0">
                  <a:pos x="26" y="57"/>
                </a:cxn>
                <a:cxn ang="0">
                  <a:pos x="51" y="44"/>
                </a:cxn>
                <a:cxn ang="0">
                  <a:pos x="64" y="25"/>
                </a:cxn>
                <a:cxn ang="0">
                  <a:pos x="70" y="6"/>
                </a:cxn>
                <a:cxn ang="0">
                  <a:pos x="70" y="0"/>
                </a:cxn>
                <a:cxn ang="0">
                  <a:pos x="70" y="0"/>
                </a:cxn>
                <a:cxn ang="0">
                  <a:pos x="70" y="0"/>
                </a:cxn>
                <a:cxn ang="0">
                  <a:pos x="70" y="0"/>
                </a:cxn>
              </a:cxnLst>
              <a:rect l="txL" t="txT" r="txR" b="txB"/>
              <a:pathLst>
                <a:path w="70" h="63">
                  <a:moveTo>
                    <a:pt x="70" y="0"/>
                  </a:moveTo>
                  <a:lnTo>
                    <a:pt x="64" y="25"/>
                  </a:lnTo>
                  <a:lnTo>
                    <a:pt x="51" y="44"/>
                  </a:lnTo>
                  <a:lnTo>
                    <a:pt x="26" y="57"/>
                  </a:lnTo>
                  <a:lnTo>
                    <a:pt x="0" y="63"/>
                  </a:lnTo>
                  <a:lnTo>
                    <a:pt x="26" y="57"/>
                  </a:lnTo>
                  <a:lnTo>
                    <a:pt x="51" y="44"/>
                  </a:lnTo>
                  <a:lnTo>
                    <a:pt x="64" y="25"/>
                  </a:lnTo>
                  <a:lnTo>
                    <a:pt x="70" y="6"/>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77" name="Freeform 77"/>
            <p:cNvSpPr>
              <a:spLocks noEditPoints="1"/>
            </p:cNvSpPr>
            <p:nvPr/>
          </p:nvSpPr>
          <p:spPr>
            <a:xfrm>
              <a:off x="2431" y="1177"/>
              <a:ext cx="51" cy="19"/>
            </a:xfrm>
            <a:custGeom>
              <a:avLst/>
              <a:gdLst>
                <a:gd name="txL" fmla="*/ 0 w 51"/>
                <a:gd name="txT" fmla="*/ 0 h 19"/>
                <a:gd name="txR" fmla="*/ 51 w 51"/>
                <a:gd name="txB" fmla="*/ 19 h 19"/>
              </a:gdLst>
              <a:ahLst/>
              <a:cxnLst>
                <a:cxn ang="0">
                  <a:pos x="51" y="19"/>
                </a:cxn>
                <a:cxn ang="0">
                  <a:pos x="26" y="13"/>
                </a:cxn>
                <a:cxn ang="0">
                  <a:pos x="0" y="0"/>
                </a:cxn>
                <a:cxn ang="0">
                  <a:pos x="0" y="0"/>
                </a:cxn>
                <a:cxn ang="0">
                  <a:pos x="26" y="13"/>
                </a:cxn>
                <a:cxn ang="0">
                  <a:pos x="51" y="19"/>
                </a:cxn>
                <a:cxn ang="0">
                  <a:pos x="51" y="19"/>
                </a:cxn>
                <a:cxn ang="0">
                  <a:pos x="51" y="19"/>
                </a:cxn>
                <a:cxn ang="0">
                  <a:pos x="51" y="19"/>
                </a:cxn>
                <a:cxn ang="0">
                  <a:pos x="51" y="19"/>
                </a:cxn>
              </a:cxnLst>
              <a:rect l="txL" t="txT" r="txR" b="txB"/>
              <a:pathLst>
                <a:path w="51" h="19">
                  <a:moveTo>
                    <a:pt x="51" y="19"/>
                  </a:moveTo>
                  <a:lnTo>
                    <a:pt x="26" y="13"/>
                  </a:lnTo>
                  <a:lnTo>
                    <a:pt x="0" y="0"/>
                  </a:lnTo>
                  <a:lnTo>
                    <a:pt x="26" y="13"/>
                  </a:lnTo>
                  <a:lnTo>
                    <a:pt x="51" y="19"/>
                  </a:lnTo>
                  <a:close/>
                  <a:moveTo>
                    <a:pt x="51" y="19"/>
                  </a:moveTo>
                  <a:lnTo>
                    <a:pt x="51"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78" name="Freeform 78"/>
            <p:cNvSpPr>
              <a:spLocks noEditPoints="1"/>
            </p:cNvSpPr>
            <p:nvPr/>
          </p:nvSpPr>
          <p:spPr>
            <a:xfrm>
              <a:off x="2431" y="1164"/>
              <a:ext cx="51" cy="13"/>
            </a:xfrm>
            <a:custGeom>
              <a:avLst/>
              <a:gdLst>
                <a:gd name="txL" fmla="*/ 0 w 51"/>
                <a:gd name="txT" fmla="*/ 0 h 13"/>
                <a:gd name="txR" fmla="*/ 51 w 51"/>
                <a:gd name="txB" fmla="*/ 13 h 13"/>
              </a:gdLst>
              <a:ahLst/>
              <a:cxnLst>
                <a:cxn ang="0">
                  <a:pos x="0" y="13"/>
                </a:cxn>
                <a:cxn ang="0">
                  <a:pos x="26" y="7"/>
                </a:cxn>
                <a:cxn ang="0">
                  <a:pos x="51" y="0"/>
                </a:cxn>
                <a:cxn ang="0">
                  <a:pos x="51" y="0"/>
                </a:cxn>
                <a:cxn ang="0">
                  <a:pos x="26" y="7"/>
                </a:cxn>
                <a:cxn ang="0">
                  <a:pos x="0" y="13"/>
                </a:cxn>
                <a:cxn ang="0">
                  <a:pos x="0" y="13"/>
                </a:cxn>
                <a:cxn ang="0">
                  <a:pos x="0" y="13"/>
                </a:cxn>
                <a:cxn ang="0">
                  <a:pos x="0" y="13"/>
                </a:cxn>
                <a:cxn ang="0">
                  <a:pos x="0" y="13"/>
                </a:cxn>
              </a:cxnLst>
              <a:rect l="txL" t="txT" r="txR" b="txB"/>
              <a:pathLst>
                <a:path w="51" h="13">
                  <a:moveTo>
                    <a:pt x="0" y="13"/>
                  </a:moveTo>
                  <a:lnTo>
                    <a:pt x="26" y="7"/>
                  </a:lnTo>
                  <a:lnTo>
                    <a:pt x="51" y="0"/>
                  </a:lnTo>
                  <a:lnTo>
                    <a:pt x="26" y="7"/>
                  </a:lnTo>
                  <a:lnTo>
                    <a:pt x="0" y="13"/>
                  </a:lnTo>
                  <a:close/>
                  <a:moveTo>
                    <a:pt x="0" y="13"/>
                  </a:moveTo>
                  <a:lnTo>
                    <a:pt x="0"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79" name="Freeform 79"/>
            <p:cNvSpPr>
              <a:spLocks noEditPoints="1"/>
            </p:cNvSpPr>
            <p:nvPr/>
          </p:nvSpPr>
          <p:spPr>
            <a:xfrm>
              <a:off x="2482" y="1164"/>
              <a:ext cx="70" cy="58"/>
            </a:xfrm>
            <a:custGeom>
              <a:avLst/>
              <a:gdLst>
                <a:gd name="txL" fmla="*/ 0 w 70"/>
                <a:gd name="txT" fmla="*/ 0 h 58"/>
                <a:gd name="txR" fmla="*/ 70 w 70"/>
                <a:gd name="txB" fmla="*/ 58 h 58"/>
              </a:gdLst>
              <a:ahLst/>
              <a:cxnLst>
                <a:cxn ang="0">
                  <a:pos x="0" y="0"/>
                </a:cxn>
                <a:cxn ang="0">
                  <a:pos x="26" y="7"/>
                </a:cxn>
                <a:cxn ang="0">
                  <a:pos x="51" y="20"/>
                </a:cxn>
                <a:cxn ang="0">
                  <a:pos x="64" y="39"/>
                </a:cxn>
                <a:cxn ang="0">
                  <a:pos x="70" y="58"/>
                </a:cxn>
                <a:cxn ang="0">
                  <a:pos x="70" y="58"/>
                </a:cxn>
                <a:cxn ang="0">
                  <a:pos x="64" y="39"/>
                </a:cxn>
                <a:cxn ang="0">
                  <a:pos x="51" y="20"/>
                </a:cxn>
                <a:cxn ang="0">
                  <a:pos x="26" y="7"/>
                </a:cxn>
                <a:cxn ang="0">
                  <a:pos x="0" y="0"/>
                </a:cxn>
                <a:cxn ang="0">
                  <a:pos x="0" y="0"/>
                </a:cxn>
                <a:cxn ang="0">
                  <a:pos x="0" y="0"/>
                </a:cxn>
                <a:cxn ang="0">
                  <a:pos x="0" y="0"/>
                </a:cxn>
                <a:cxn ang="0">
                  <a:pos x="0" y="0"/>
                </a:cxn>
              </a:cxnLst>
              <a:rect l="txL" t="txT" r="txR" b="txB"/>
              <a:pathLst>
                <a:path w="70" h="58">
                  <a:moveTo>
                    <a:pt x="0" y="0"/>
                  </a:moveTo>
                  <a:lnTo>
                    <a:pt x="26" y="7"/>
                  </a:lnTo>
                  <a:lnTo>
                    <a:pt x="51" y="20"/>
                  </a:lnTo>
                  <a:lnTo>
                    <a:pt x="64" y="39"/>
                  </a:lnTo>
                  <a:lnTo>
                    <a:pt x="70" y="58"/>
                  </a:lnTo>
                  <a:lnTo>
                    <a:pt x="64" y="39"/>
                  </a:lnTo>
                  <a:lnTo>
                    <a:pt x="51" y="20"/>
                  </a:lnTo>
                  <a:lnTo>
                    <a:pt x="26" y="7"/>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0" name="Freeform 80"/>
            <p:cNvSpPr>
              <a:spLocks noEditPoints="1"/>
            </p:cNvSpPr>
            <p:nvPr/>
          </p:nvSpPr>
          <p:spPr>
            <a:xfrm>
              <a:off x="2482" y="1222"/>
              <a:ext cx="70" cy="57"/>
            </a:xfrm>
            <a:custGeom>
              <a:avLst/>
              <a:gdLst>
                <a:gd name="txL" fmla="*/ 0 w 70"/>
                <a:gd name="txT" fmla="*/ 0 h 57"/>
                <a:gd name="txR" fmla="*/ 70 w 70"/>
                <a:gd name="txB" fmla="*/ 57 h 57"/>
              </a:gdLst>
              <a:ahLst/>
              <a:cxnLst>
                <a:cxn ang="0">
                  <a:pos x="70" y="0"/>
                </a:cxn>
                <a:cxn ang="0">
                  <a:pos x="64" y="25"/>
                </a:cxn>
                <a:cxn ang="0">
                  <a:pos x="51" y="38"/>
                </a:cxn>
                <a:cxn ang="0">
                  <a:pos x="26" y="51"/>
                </a:cxn>
                <a:cxn ang="0">
                  <a:pos x="0" y="57"/>
                </a:cxn>
                <a:cxn ang="0">
                  <a:pos x="0" y="57"/>
                </a:cxn>
                <a:cxn ang="0">
                  <a:pos x="26" y="51"/>
                </a:cxn>
                <a:cxn ang="0">
                  <a:pos x="51" y="38"/>
                </a:cxn>
                <a:cxn ang="0">
                  <a:pos x="64" y="25"/>
                </a:cxn>
                <a:cxn ang="0">
                  <a:pos x="70" y="0"/>
                </a:cxn>
                <a:cxn ang="0">
                  <a:pos x="70" y="0"/>
                </a:cxn>
                <a:cxn ang="0">
                  <a:pos x="70" y="0"/>
                </a:cxn>
                <a:cxn ang="0">
                  <a:pos x="70" y="0"/>
                </a:cxn>
                <a:cxn ang="0">
                  <a:pos x="70" y="0"/>
                </a:cxn>
              </a:cxnLst>
              <a:rect l="txL" t="txT" r="txR" b="txB"/>
              <a:pathLst>
                <a:path w="70" h="57">
                  <a:moveTo>
                    <a:pt x="70" y="0"/>
                  </a:moveTo>
                  <a:lnTo>
                    <a:pt x="64" y="25"/>
                  </a:lnTo>
                  <a:lnTo>
                    <a:pt x="51" y="38"/>
                  </a:lnTo>
                  <a:lnTo>
                    <a:pt x="26" y="51"/>
                  </a:lnTo>
                  <a:lnTo>
                    <a:pt x="0" y="57"/>
                  </a:lnTo>
                  <a:lnTo>
                    <a:pt x="26" y="51"/>
                  </a:lnTo>
                  <a:lnTo>
                    <a:pt x="51" y="38"/>
                  </a:lnTo>
                  <a:lnTo>
                    <a:pt x="64" y="25"/>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1" name="Freeform 81"/>
            <p:cNvSpPr>
              <a:spLocks noEditPoints="1"/>
            </p:cNvSpPr>
            <p:nvPr/>
          </p:nvSpPr>
          <p:spPr>
            <a:xfrm>
              <a:off x="2431" y="1260"/>
              <a:ext cx="51" cy="19"/>
            </a:xfrm>
            <a:custGeom>
              <a:avLst/>
              <a:gdLst>
                <a:gd name="txL" fmla="*/ 0 w 51"/>
                <a:gd name="txT" fmla="*/ 0 h 19"/>
                <a:gd name="txR" fmla="*/ 51 w 51"/>
                <a:gd name="txB" fmla="*/ 19 h 19"/>
              </a:gdLst>
              <a:ahLst/>
              <a:cxnLst>
                <a:cxn ang="0">
                  <a:pos x="51" y="19"/>
                </a:cxn>
                <a:cxn ang="0">
                  <a:pos x="26" y="13"/>
                </a:cxn>
                <a:cxn ang="0">
                  <a:pos x="0" y="0"/>
                </a:cxn>
                <a:cxn ang="0">
                  <a:pos x="0" y="0"/>
                </a:cxn>
                <a:cxn ang="0">
                  <a:pos x="26" y="13"/>
                </a:cxn>
                <a:cxn ang="0">
                  <a:pos x="51" y="19"/>
                </a:cxn>
                <a:cxn ang="0">
                  <a:pos x="51" y="19"/>
                </a:cxn>
                <a:cxn ang="0">
                  <a:pos x="51" y="19"/>
                </a:cxn>
                <a:cxn ang="0">
                  <a:pos x="51" y="19"/>
                </a:cxn>
                <a:cxn ang="0">
                  <a:pos x="51" y="19"/>
                </a:cxn>
              </a:cxnLst>
              <a:rect l="txL" t="txT" r="txR" b="txB"/>
              <a:pathLst>
                <a:path w="51" h="19">
                  <a:moveTo>
                    <a:pt x="51" y="19"/>
                  </a:moveTo>
                  <a:lnTo>
                    <a:pt x="26" y="13"/>
                  </a:lnTo>
                  <a:lnTo>
                    <a:pt x="0" y="0"/>
                  </a:lnTo>
                  <a:lnTo>
                    <a:pt x="26" y="13"/>
                  </a:lnTo>
                  <a:lnTo>
                    <a:pt x="51" y="19"/>
                  </a:lnTo>
                  <a:close/>
                  <a:moveTo>
                    <a:pt x="51" y="19"/>
                  </a:moveTo>
                  <a:lnTo>
                    <a:pt x="51"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2" name="Freeform 82"/>
            <p:cNvSpPr>
              <a:spLocks noEditPoints="1"/>
            </p:cNvSpPr>
            <p:nvPr/>
          </p:nvSpPr>
          <p:spPr>
            <a:xfrm>
              <a:off x="2431" y="1247"/>
              <a:ext cx="51" cy="13"/>
            </a:xfrm>
            <a:custGeom>
              <a:avLst/>
              <a:gdLst>
                <a:gd name="txL" fmla="*/ 0 w 51"/>
                <a:gd name="txT" fmla="*/ 0 h 13"/>
                <a:gd name="txR" fmla="*/ 51 w 51"/>
                <a:gd name="txB" fmla="*/ 13 h 13"/>
              </a:gdLst>
              <a:ahLst/>
              <a:cxnLst>
                <a:cxn ang="0">
                  <a:pos x="0" y="13"/>
                </a:cxn>
                <a:cxn ang="0">
                  <a:pos x="26" y="7"/>
                </a:cxn>
                <a:cxn ang="0">
                  <a:pos x="51" y="0"/>
                </a:cxn>
                <a:cxn ang="0">
                  <a:pos x="51" y="0"/>
                </a:cxn>
                <a:cxn ang="0">
                  <a:pos x="26" y="7"/>
                </a:cxn>
                <a:cxn ang="0">
                  <a:pos x="0" y="13"/>
                </a:cxn>
                <a:cxn ang="0">
                  <a:pos x="0" y="13"/>
                </a:cxn>
                <a:cxn ang="0">
                  <a:pos x="0" y="13"/>
                </a:cxn>
                <a:cxn ang="0">
                  <a:pos x="0" y="13"/>
                </a:cxn>
                <a:cxn ang="0">
                  <a:pos x="0" y="13"/>
                </a:cxn>
              </a:cxnLst>
              <a:rect l="txL" t="txT" r="txR" b="txB"/>
              <a:pathLst>
                <a:path w="51" h="13">
                  <a:moveTo>
                    <a:pt x="0" y="13"/>
                  </a:moveTo>
                  <a:lnTo>
                    <a:pt x="26" y="7"/>
                  </a:lnTo>
                  <a:lnTo>
                    <a:pt x="51" y="0"/>
                  </a:lnTo>
                  <a:lnTo>
                    <a:pt x="26" y="7"/>
                  </a:lnTo>
                  <a:lnTo>
                    <a:pt x="0" y="13"/>
                  </a:lnTo>
                  <a:close/>
                  <a:moveTo>
                    <a:pt x="0" y="13"/>
                  </a:moveTo>
                  <a:lnTo>
                    <a:pt x="0"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3" name="Freeform 83"/>
            <p:cNvSpPr>
              <a:spLocks noEditPoints="1"/>
            </p:cNvSpPr>
            <p:nvPr/>
          </p:nvSpPr>
          <p:spPr>
            <a:xfrm>
              <a:off x="2482" y="1247"/>
              <a:ext cx="70" cy="58"/>
            </a:xfrm>
            <a:custGeom>
              <a:avLst/>
              <a:gdLst>
                <a:gd name="txL" fmla="*/ 0 w 70"/>
                <a:gd name="txT" fmla="*/ 0 h 58"/>
                <a:gd name="txR" fmla="*/ 70 w 70"/>
                <a:gd name="txB" fmla="*/ 58 h 58"/>
              </a:gdLst>
              <a:ahLst/>
              <a:cxnLst>
                <a:cxn ang="0">
                  <a:pos x="0" y="0"/>
                </a:cxn>
                <a:cxn ang="0">
                  <a:pos x="26" y="7"/>
                </a:cxn>
                <a:cxn ang="0">
                  <a:pos x="51" y="19"/>
                </a:cxn>
                <a:cxn ang="0">
                  <a:pos x="64" y="38"/>
                </a:cxn>
                <a:cxn ang="0">
                  <a:pos x="70" y="58"/>
                </a:cxn>
                <a:cxn ang="0">
                  <a:pos x="70" y="58"/>
                </a:cxn>
                <a:cxn ang="0">
                  <a:pos x="64" y="38"/>
                </a:cxn>
                <a:cxn ang="0">
                  <a:pos x="51" y="19"/>
                </a:cxn>
                <a:cxn ang="0">
                  <a:pos x="26" y="7"/>
                </a:cxn>
                <a:cxn ang="0">
                  <a:pos x="0" y="0"/>
                </a:cxn>
                <a:cxn ang="0">
                  <a:pos x="0" y="0"/>
                </a:cxn>
                <a:cxn ang="0">
                  <a:pos x="0" y="0"/>
                </a:cxn>
                <a:cxn ang="0">
                  <a:pos x="0" y="0"/>
                </a:cxn>
                <a:cxn ang="0">
                  <a:pos x="0" y="0"/>
                </a:cxn>
              </a:cxnLst>
              <a:rect l="txL" t="txT" r="txR" b="txB"/>
              <a:pathLst>
                <a:path w="70" h="58">
                  <a:moveTo>
                    <a:pt x="0" y="0"/>
                  </a:moveTo>
                  <a:lnTo>
                    <a:pt x="26" y="7"/>
                  </a:lnTo>
                  <a:lnTo>
                    <a:pt x="51" y="19"/>
                  </a:lnTo>
                  <a:lnTo>
                    <a:pt x="64" y="38"/>
                  </a:lnTo>
                  <a:lnTo>
                    <a:pt x="70" y="58"/>
                  </a:lnTo>
                  <a:lnTo>
                    <a:pt x="64" y="38"/>
                  </a:lnTo>
                  <a:lnTo>
                    <a:pt x="51" y="19"/>
                  </a:lnTo>
                  <a:lnTo>
                    <a:pt x="26" y="7"/>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4" name="Freeform 84"/>
            <p:cNvSpPr>
              <a:spLocks noEditPoints="1"/>
            </p:cNvSpPr>
            <p:nvPr/>
          </p:nvSpPr>
          <p:spPr>
            <a:xfrm>
              <a:off x="2482" y="1305"/>
              <a:ext cx="70" cy="57"/>
            </a:xfrm>
            <a:custGeom>
              <a:avLst/>
              <a:gdLst>
                <a:gd name="txL" fmla="*/ 0 w 70"/>
                <a:gd name="txT" fmla="*/ 0 h 57"/>
                <a:gd name="txR" fmla="*/ 70 w 70"/>
                <a:gd name="txB" fmla="*/ 57 h 57"/>
              </a:gdLst>
              <a:ahLst/>
              <a:cxnLst>
                <a:cxn ang="0">
                  <a:pos x="70" y="0"/>
                </a:cxn>
                <a:cxn ang="0">
                  <a:pos x="64" y="25"/>
                </a:cxn>
                <a:cxn ang="0">
                  <a:pos x="51" y="38"/>
                </a:cxn>
                <a:cxn ang="0">
                  <a:pos x="26" y="50"/>
                </a:cxn>
                <a:cxn ang="0">
                  <a:pos x="0" y="57"/>
                </a:cxn>
                <a:cxn ang="0">
                  <a:pos x="0" y="57"/>
                </a:cxn>
                <a:cxn ang="0">
                  <a:pos x="26" y="50"/>
                </a:cxn>
                <a:cxn ang="0">
                  <a:pos x="51" y="38"/>
                </a:cxn>
                <a:cxn ang="0">
                  <a:pos x="64" y="25"/>
                </a:cxn>
                <a:cxn ang="0">
                  <a:pos x="70" y="0"/>
                </a:cxn>
                <a:cxn ang="0">
                  <a:pos x="70" y="0"/>
                </a:cxn>
                <a:cxn ang="0">
                  <a:pos x="70" y="0"/>
                </a:cxn>
                <a:cxn ang="0">
                  <a:pos x="70" y="0"/>
                </a:cxn>
                <a:cxn ang="0">
                  <a:pos x="70" y="0"/>
                </a:cxn>
              </a:cxnLst>
              <a:rect l="txL" t="txT" r="txR" b="txB"/>
              <a:pathLst>
                <a:path w="70" h="57">
                  <a:moveTo>
                    <a:pt x="70" y="0"/>
                  </a:moveTo>
                  <a:lnTo>
                    <a:pt x="64" y="25"/>
                  </a:lnTo>
                  <a:lnTo>
                    <a:pt x="51" y="38"/>
                  </a:lnTo>
                  <a:lnTo>
                    <a:pt x="26" y="50"/>
                  </a:lnTo>
                  <a:lnTo>
                    <a:pt x="0" y="57"/>
                  </a:lnTo>
                  <a:lnTo>
                    <a:pt x="26" y="50"/>
                  </a:lnTo>
                  <a:lnTo>
                    <a:pt x="51" y="38"/>
                  </a:lnTo>
                  <a:lnTo>
                    <a:pt x="64" y="25"/>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5" name="Freeform 85"/>
            <p:cNvSpPr>
              <a:spLocks noEditPoints="1"/>
            </p:cNvSpPr>
            <p:nvPr/>
          </p:nvSpPr>
          <p:spPr>
            <a:xfrm>
              <a:off x="2431" y="1349"/>
              <a:ext cx="51" cy="13"/>
            </a:xfrm>
            <a:custGeom>
              <a:avLst/>
              <a:gdLst>
                <a:gd name="txL" fmla="*/ 0 w 51"/>
                <a:gd name="txT" fmla="*/ 0 h 13"/>
                <a:gd name="txR" fmla="*/ 51 w 51"/>
                <a:gd name="txB" fmla="*/ 13 h 13"/>
              </a:gdLst>
              <a:ahLst/>
              <a:cxnLst>
                <a:cxn ang="0">
                  <a:pos x="51" y="13"/>
                </a:cxn>
                <a:cxn ang="0">
                  <a:pos x="26" y="6"/>
                </a:cxn>
                <a:cxn ang="0">
                  <a:pos x="0" y="0"/>
                </a:cxn>
                <a:cxn ang="0">
                  <a:pos x="0" y="0"/>
                </a:cxn>
                <a:cxn ang="0">
                  <a:pos x="26" y="6"/>
                </a:cxn>
                <a:cxn ang="0">
                  <a:pos x="51" y="13"/>
                </a:cxn>
                <a:cxn ang="0">
                  <a:pos x="51" y="13"/>
                </a:cxn>
                <a:cxn ang="0">
                  <a:pos x="51" y="13"/>
                </a:cxn>
                <a:cxn ang="0">
                  <a:pos x="51" y="13"/>
                </a:cxn>
                <a:cxn ang="0">
                  <a:pos x="51" y="13"/>
                </a:cxn>
              </a:cxnLst>
              <a:rect l="txL" t="txT" r="txR" b="txB"/>
              <a:pathLst>
                <a:path w="51" h="13">
                  <a:moveTo>
                    <a:pt x="51" y="13"/>
                  </a:moveTo>
                  <a:lnTo>
                    <a:pt x="26" y="6"/>
                  </a:lnTo>
                  <a:lnTo>
                    <a:pt x="0" y="0"/>
                  </a:lnTo>
                  <a:lnTo>
                    <a:pt x="26" y="6"/>
                  </a:lnTo>
                  <a:lnTo>
                    <a:pt x="51" y="13"/>
                  </a:lnTo>
                  <a:close/>
                  <a:moveTo>
                    <a:pt x="51" y="13"/>
                  </a:moveTo>
                  <a:lnTo>
                    <a:pt x="51"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6" name="Freeform 86"/>
            <p:cNvSpPr>
              <a:spLocks noEditPoints="1"/>
            </p:cNvSpPr>
            <p:nvPr/>
          </p:nvSpPr>
          <p:spPr>
            <a:xfrm>
              <a:off x="2431" y="1330"/>
              <a:ext cx="51" cy="19"/>
            </a:xfrm>
            <a:custGeom>
              <a:avLst/>
              <a:gdLst>
                <a:gd name="txL" fmla="*/ 0 w 51"/>
                <a:gd name="txT" fmla="*/ 0 h 19"/>
                <a:gd name="txR" fmla="*/ 51 w 51"/>
                <a:gd name="txB" fmla="*/ 19 h 19"/>
              </a:gdLst>
              <a:ahLst/>
              <a:cxnLst>
                <a:cxn ang="0">
                  <a:pos x="0" y="19"/>
                </a:cxn>
                <a:cxn ang="0">
                  <a:pos x="26" y="6"/>
                </a:cxn>
                <a:cxn ang="0">
                  <a:pos x="51" y="0"/>
                </a:cxn>
                <a:cxn ang="0">
                  <a:pos x="51" y="0"/>
                </a:cxn>
                <a:cxn ang="0">
                  <a:pos x="26" y="6"/>
                </a:cxn>
                <a:cxn ang="0">
                  <a:pos x="0" y="19"/>
                </a:cxn>
                <a:cxn ang="0">
                  <a:pos x="0" y="19"/>
                </a:cxn>
                <a:cxn ang="0">
                  <a:pos x="0" y="19"/>
                </a:cxn>
                <a:cxn ang="0">
                  <a:pos x="0" y="19"/>
                </a:cxn>
                <a:cxn ang="0">
                  <a:pos x="0" y="19"/>
                </a:cxn>
              </a:cxnLst>
              <a:rect l="txL" t="txT" r="txR" b="txB"/>
              <a:pathLst>
                <a:path w="51" h="19">
                  <a:moveTo>
                    <a:pt x="0" y="19"/>
                  </a:moveTo>
                  <a:lnTo>
                    <a:pt x="26" y="6"/>
                  </a:lnTo>
                  <a:lnTo>
                    <a:pt x="51" y="0"/>
                  </a:lnTo>
                  <a:lnTo>
                    <a:pt x="26" y="6"/>
                  </a:lnTo>
                  <a:lnTo>
                    <a:pt x="0" y="19"/>
                  </a:lnTo>
                  <a:close/>
                  <a:moveTo>
                    <a:pt x="0" y="19"/>
                  </a:moveTo>
                  <a:lnTo>
                    <a:pt x="0"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7" name="Freeform 87"/>
            <p:cNvSpPr>
              <a:spLocks noEditPoints="1"/>
            </p:cNvSpPr>
            <p:nvPr/>
          </p:nvSpPr>
          <p:spPr>
            <a:xfrm>
              <a:off x="2482" y="1330"/>
              <a:ext cx="70" cy="57"/>
            </a:xfrm>
            <a:custGeom>
              <a:avLst/>
              <a:gdLst>
                <a:gd name="txL" fmla="*/ 0 w 70"/>
                <a:gd name="txT" fmla="*/ 0 h 57"/>
                <a:gd name="txR" fmla="*/ 70 w 70"/>
                <a:gd name="txB" fmla="*/ 57 h 57"/>
              </a:gdLst>
              <a:ahLst/>
              <a:cxnLst>
                <a:cxn ang="0">
                  <a:pos x="0" y="0"/>
                </a:cxn>
                <a:cxn ang="0">
                  <a:pos x="26" y="6"/>
                </a:cxn>
                <a:cxn ang="0">
                  <a:pos x="51" y="19"/>
                </a:cxn>
                <a:cxn ang="0">
                  <a:pos x="64" y="38"/>
                </a:cxn>
                <a:cxn ang="0">
                  <a:pos x="70" y="57"/>
                </a:cxn>
                <a:cxn ang="0">
                  <a:pos x="70" y="57"/>
                </a:cxn>
                <a:cxn ang="0">
                  <a:pos x="64" y="38"/>
                </a:cxn>
                <a:cxn ang="0">
                  <a:pos x="51" y="19"/>
                </a:cxn>
                <a:cxn ang="0">
                  <a:pos x="26" y="6"/>
                </a:cxn>
                <a:cxn ang="0">
                  <a:pos x="0" y="0"/>
                </a:cxn>
                <a:cxn ang="0">
                  <a:pos x="0" y="0"/>
                </a:cxn>
                <a:cxn ang="0">
                  <a:pos x="0" y="0"/>
                </a:cxn>
                <a:cxn ang="0">
                  <a:pos x="0" y="0"/>
                </a:cxn>
                <a:cxn ang="0">
                  <a:pos x="0" y="0"/>
                </a:cxn>
              </a:cxnLst>
              <a:rect l="txL" t="txT" r="txR" b="txB"/>
              <a:pathLst>
                <a:path w="70" h="57">
                  <a:moveTo>
                    <a:pt x="0" y="0"/>
                  </a:moveTo>
                  <a:lnTo>
                    <a:pt x="26" y="6"/>
                  </a:lnTo>
                  <a:lnTo>
                    <a:pt x="51" y="19"/>
                  </a:lnTo>
                  <a:lnTo>
                    <a:pt x="64" y="38"/>
                  </a:lnTo>
                  <a:lnTo>
                    <a:pt x="70" y="57"/>
                  </a:lnTo>
                  <a:lnTo>
                    <a:pt x="64" y="38"/>
                  </a:lnTo>
                  <a:lnTo>
                    <a:pt x="51" y="19"/>
                  </a:lnTo>
                  <a:lnTo>
                    <a:pt x="26"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8" name="Freeform 88"/>
            <p:cNvSpPr>
              <a:spLocks noEditPoints="1"/>
            </p:cNvSpPr>
            <p:nvPr/>
          </p:nvSpPr>
          <p:spPr>
            <a:xfrm>
              <a:off x="2482" y="1387"/>
              <a:ext cx="70" cy="58"/>
            </a:xfrm>
            <a:custGeom>
              <a:avLst/>
              <a:gdLst>
                <a:gd name="txL" fmla="*/ 0 w 70"/>
                <a:gd name="txT" fmla="*/ 0 h 58"/>
                <a:gd name="txR" fmla="*/ 70 w 70"/>
                <a:gd name="txB" fmla="*/ 58 h 58"/>
              </a:gdLst>
              <a:ahLst/>
              <a:cxnLst>
                <a:cxn ang="0">
                  <a:pos x="70" y="0"/>
                </a:cxn>
                <a:cxn ang="0">
                  <a:pos x="64" y="26"/>
                </a:cxn>
                <a:cxn ang="0">
                  <a:pos x="51" y="39"/>
                </a:cxn>
                <a:cxn ang="0">
                  <a:pos x="26" y="51"/>
                </a:cxn>
                <a:cxn ang="0">
                  <a:pos x="0" y="58"/>
                </a:cxn>
                <a:cxn ang="0">
                  <a:pos x="0" y="58"/>
                </a:cxn>
                <a:cxn ang="0">
                  <a:pos x="26" y="51"/>
                </a:cxn>
                <a:cxn ang="0">
                  <a:pos x="51" y="39"/>
                </a:cxn>
                <a:cxn ang="0">
                  <a:pos x="64" y="26"/>
                </a:cxn>
                <a:cxn ang="0">
                  <a:pos x="70" y="0"/>
                </a:cxn>
                <a:cxn ang="0">
                  <a:pos x="70" y="0"/>
                </a:cxn>
                <a:cxn ang="0">
                  <a:pos x="70" y="0"/>
                </a:cxn>
                <a:cxn ang="0">
                  <a:pos x="70" y="0"/>
                </a:cxn>
                <a:cxn ang="0">
                  <a:pos x="70" y="0"/>
                </a:cxn>
              </a:cxnLst>
              <a:rect l="txL" t="txT" r="txR" b="txB"/>
              <a:pathLst>
                <a:path w="70" h="58">
                  <a:moveTo>
                    <a:pt x="70" y="0"/>
                  </a:moveTo>
                  <a:lnTo>
                    <a:pt x="64" y="26"/>
                  </a:lnTo>
                  <a:lnTo>
                    <a:pt x="51" y="39"/>
                  </a:lnTo>
                  <a:lnTo>
                    <a:pt x="26" y="51"/>
                  </a:lnTo>
                  <a:lnTo>
                    <a:pt x="0" y="58"/>
                  </a:lnTo>
                  <a:lnTo>
                    <a:pt x="26" y="51"/>
                  </a:lnTo>
                  <a:lnTo>
                    <a:pt x="51" y="39"/>
                  </a:lnTo>
                  <a:lnTo>
                    <a:pt x="64" y="26"/>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89" name="Freeform 89"/>
            <p:cNvSpPr>
              <a:spLocks noEditPoints="1"/>
            </p:cNvSpPr>
            <p:nvPr/>
          </p:nvSpPr>
          <p:spPr>
            <a:xfrm>
              <a:off x="2482" y="1075"/>
              <a:ext cx="1" cy="370"/>
            </a:xfrm>
            <a:custGeom>
              <a:avLst/>
              <a:gdLst>
                <a:gd name="txL" fmla="*/ 0 w 1"/>
                <a:gd name="txT" fmla="*/ 0 h 370"/>
                <a:gd name="txR" fmla="*/ 1 w 1"/>
                <a:gd name="txB" fmla="*/ 370 h 370"/>
              </a:gdLst>
              <a:ahLst/>
              <a:cxnLst>
                <a:cxn ang="0">
                  <a:pos x="0" y="0"/>
                </a:cxn>
                <a:cxn ang="0">
                  <a:pos x="0" y="0"/>
                </a:cxn>
                <a:cxn ang="0">
                  <a:pos x="0" y="0"/>
                </a:cxn>
                <a:cxn ang="0">
                  <a:pos x="0" y="370"/>
                </a:cxn>
                <a:cxn ang="0">
                  <a:pos x="0" y="370"/>
                </a:cxn>
                <a:cxn ang="0">
                  <a:pos x="0" y="370"/>
                </a:cxn>
              </a:cxnLst>
              <a:rect l="txL" t="txT" r="txR" b="txB"/>
              <a:pathLst>
                <a:path w="1" h="370">
                  <a:moveTo>
                    <a:pt x="0" y="0"/>
                  </a:moveTo>
                  <a:lnTo>
                    <a:pt x="0" y="0"/>
                  </a:lnTo>
                  <a:close/>
                  <a:moveTo>
                    <a:pt x="0" y="370"/>
                  </a:moveTo>
                  <a:lnTo>
                    <a:pt x="0" y="37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90" name="Freeform 90"/>
            <p:cNvSpPr/>
            <p:nvPr/>
          </p:nvSpPr>
          <p:spPr>
            <a:xfrm>
              <a:off x="3088" y="1075"/>
              <a:ext cx="70" cy="370"/>
            </a:xfrm>
            <a:custGeom>
              <a:avLst/>
              <a:gdLst>
                <a:gd name="txL" fmla="*/ 0 w 70"/>
                <a:gd name="txT" fmla="*/ 0 h 370"/>
                <a:gd name="txR" fmla="*/ 70 w 70"/>
                <a:gd name="txB" fmla="*/ 370 h 370"/>
              </a:gdLst>
              <a:ahLst/>
              <a:cxnLst>
                <a:cxn ang="0">
                  <a:pos x="0" y="370"/>
                </a:cxn>
                <a:cxn ang="0">
                  <a:pos x="70" y="370"/>
                </a:cxn>
                <a:cxn ang="0">
                  <a:pos x="70" y="0"/>
                </a:cxn>
                <a:cxn ang="0">
                  <a:pos x="0" y="0"/>
                </a:cxn>
                <a:cxn ang="0">
                  <a:pos x="0" y="370"/>
                </a:cxn>
                <a:cxn ang="0">
                  <a:pos x="0" y="370"/>
                </a:cxn>
              </a:cxnLst>
              <a:rect l="txL" t="txT" r="txR" b="txB"/>
              <a:pathLst>
                <a:path w="70" h="370">
                  <a:moveTo>
                    <a:pt x="0" y="370"/>
                  </a:moveTo>
                  <a:lnTo>
                    <a:pt x="70" y="370"/>
                  </a:lnTo>
                  <a:lnTo>
                    <a:pt x="70" y="0"/>
                  </a:lnTo>
                  <a:lnTo>
                    <a:pt x="0" y="0"/>
                  </a:lnTo>
                  <a:lnTo>
                    <a:pt x="0" y="370"/>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4891" name="Freeform 91"/>
            <p:cNvSpPr/>
            <p:nvPr/>
          </p:nvSpPr>
          <p:spPr>
            <a:xfrm>
              <a:off x="3126" y="1075"/>
              <a:ext cx="71" cy="64"/>
            </a:xfrm>
            <a:custGeom>
              <a:avLst/>
              <a:gdLst>
                <a:gd name="txL" fmla="*/ 0 w 71"/>
                <a:gd name="txT" fmla="*/ 0 h 64"/>
                <a:gd name="txR" fmla="*/ 71 w 71"/>
                <a:gd name="txB" fmla="*/ 64 h 64"/>
              </a:gdLst>
              <a:ahLst/>
              <a:cxnLst>
                <a:cxn ang="0">
                  <a:pos x="0" y="0"/>
                </a:cxn>
                <a:cxn ang="0">
                  <a:pos x="26" y="7"/>
                </a:cxn>
                <a:cxn ang="0">
                  <a:pos x="51" y="19"/>
                </a:cxn>
                <a:cxn ang="0">
                  <a:pos x="64" y="38"/>
                </a:cxn>
                <a:cxn ang="0">
                  <a:pos x="71" y="64"/>
                </a:cxn>
                <a:cxn ang="0">
                  <a:pos x="71" y="58"/>
                </a:cxn>
                <a:cxn ang="0">
                  <a:pos x="64" y="38"/>
                </a:cxn>
                <a:cxn ang="0">
                  <a:pos x="51" y="19"/>
                </a:cxn>
                <a:cxn ang="0">
                  <a:pos x="26" y="7"/>
                </a:cxn>
                <a:cxn ang="0">
                  <a:pos x="0" y="0"/>
                </a:cxn>
                <a:cxn ang="0">
                  <a:pos x="0" y="0"/>
                </a:cxn>
              </a:cxnLst>
              <a:rect l="txL" t="txT" r="txR" b="txB"/>
              <a:pathLst>
                <a:path w="71" h="64">
                  <a:moveTo>
                    <a:pt x="0" y="0"/>
                  </a:moveTo>
                  <a:lnTo>
                    <a:pt x="26" y="7"/>
                  </a:lnTo>
                  <a:lnTo>
                    <a:pt x="51" y="19"/>
                  </a:lnTo>
                  <a:lnTo>
                    <a:pt x="64" y="38"/>
                  </a:lnTo>
                  <a:lnTo>
                    <a:pt x="71" y="64"/>
                  </a:lnTo>
                  <a:lnTo>
                    <a:pt x="71" y="58"/>
                  </a:lnTo>
                  <a:lnTo>
                    <a:pt x="64" y="38"/>
                  </a:lnTo>
                  <a:lnTo>
                    <a:pt x="51" y="19"/>
                  </a:lnTo>
                  <a:lnTo>
                    <a:pt x="26" y="7"/>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92" name="Freeform 92"/>
            <p:cNvSpPr>
              <a:spLocks noEditPoints="1"/>
            </p:cNvSpPr>
            <p:nvPr/>
          </p:nvSpPr>
          <p:spPr>
            <a:xfrm>
              <a:off x="3126" y="1133"/>
              <a:ext cx="71" cy="63"/>
            </a:xfrm>
            <a:custGeom>
              <a:avLst/>
              <a:gdLst>
                <a:gd name="txL" fmla="*/ 0 w 71"/>
                <a:gd name="txT" fmla="*/ 0 h 63"/>
                <a:gd name="txR" fmla="*/ 71 w 71"/>
                <a:gd name="txB" fmla="*/ 63 h 63"/>
              </a:gdLst>
              <a:ahLst/>
              <a:cxnLst>
                <a:cxn ang="0">
                  <a:pos x="71" y="0"/>
                </a:cxn>
                <a:cxn ang="0">
                  <a:pos x="64" y="25"/>
                </a:cxn>
                <a:cxn ang="0">
                  <a:pos x="51" y="44"/>
                </a:cxn>
                <a:cxn ang="0">
                  <a:pos x="26" y="57"/>
                </a:cxn>
                <a:cxn ang="0">
                  <a:pos x="0" y="63"/>
                </a:cxn>
                <a:cxn ang="0">
                  <a:pos x="0" y="63"/>
                </a:cxn>
                <a:cxn ang="0">
                  <a:pos x="26" y="57"/>
                </a:cxn>
                <a:cxn ang="0">
                  <a:pos x="51" y="44"/>
                </a:cxn>
                <a:cxn ang="0">
                  <a:pos x="64" y="25"/>
                </a:cxn>
                <a:cxn ang="0">
                  <a:pos x="71" y="6"/>
                </a:cxn>
                <a:cxn ang="0">
                  <a:pos x="71" y="0"/>
                </a:cxn>
                <a:cxn ang="0">
                  <a:pos x="71" y="0"/>
                </a:cxn>
                <a:cxn ang="0">
                  <a:pos x="71" y="0"/>
                </a:cxn>
                <a:cxn ang="0">
                  <a:pos x="71" y="0"/>
                </a:cxn>
              </a:cxnLst>
              <a:rect l="txL" t="txT" r="txR" b="txB"/>
              <a:pathLst>
                <a:path w="71" h="63">
                  <a:moveTo>
                    <a:pt x="71" y="0"/>
                  </a:moveTo>
                  <a:lnTo>
                    <a:pt x="64" y="25"/>
                  </a:lnTo>
                  <a:lnTo>
                    <a:pt x="51" y="44"/>
                  </a:lnTo>
                  <a:lnTo>
                    <a:pt x="26" y="57"/>
                  </a:lnTo>
                  <a:lnTo>
                    <a:pt x="0" y="63"/>
                  </a:lnTo>
                  <a:lnTo>
                    <a:pt x="26" y="57"/>
                  </a:lnTo>
                  <a:lnTo>
                    <a:pt x="51" y="44"/>
                  </a:lnTo>
                  <a:lnTo>
                    <a:pt x="64" y="25"/>
                  </a:lnTo>
                  <a:lnTo>
                    <a:pt x="71" y="6"/>
                  </a:lnTo>
                  <a:lnTo>
                    <a:pt x="71" y="0"/>
                  </a:lnTo>
                  <a:close/>
                  <a:moveTo>
                    <a:pt x="71" y="0"/>
                  </a:moveTo>
                  <a:lnTo>
                    <a:pt x="7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93" name="Freeform 93"/>
            <p:cNvSpPr>
              <a:spLocks noEditPoints="1"/>
            </p:cNvSpPr>
            <p:nvPr/>
          </p:nvSpPr>
          <p:spPr>
            <a:xfrm>
              <a:off x="3075" y="1177"/>
              <a:ext cx="51" cy="19"/>
            </a:xfrm>
            <a:custGeom>
              <a:avLst/>
              <a:gdLst>
                <a:gd name="txL" fmla="*/ 0 w 51"/>
                <a:gd name="txT" fmla="*/ 0 h 19"/>
                <a:gd name="txR" fmla="*/ 51 w 51"/>
                <a:gd name="txB" fmla="*/ 19 h 19"/>
              </a:gdLst>
              <a:ahLst/>
              <a:cxnLst>
                <a:cxn ang="0">
                  <a:pos x="51" y="19"/>
                </a:cxn>
                <a:cxn ang="0">
                  <a:pos x="26" y="13"/>
                </a:cxn>
                <a:cxn ang="0">
                  <a:pos x="0" y="0"/>
                </a:cxn>
                <a:cxn ang="0">
                  <a:pos x="0" y="0"/>
                </a:cxn>
                <a:cxn ang="0">
                  <a:pos x="26" y="13"/>
                </a:cxn>
                <a:cxn ang="0">
                  <a:pos x="51" y="19"/>
                </a:cxn>
                <a:cxn ang="0">
                  <a:pos x="51" y="19"/>
                </a:cxn>
                <a:cxn ang="0">
                  <a:pos x="51" y="19"/>
                </a:cxn>
                <a:cxn ang="0">
                  <a:pos x="51" y="19"/>
                </a:cxn>
                <a:cxn ang="0">
                  <a:pos x="51" y="19"/>
                </a:cxn>
              </a:cxnLst>
              <a:rect l="txL" t="txT" r="txR" b="txB"/>
              <a:pathLst>
                <a:path w="51" h="19">
                  <a:moveTo>
                    <a:pt x="51" y="19"/>
                  </a:moveTo>
                  <a:lnTo>
                    <a:pt x="26" y="13"/>
                  </a:lnTo>
                  <a:lnTo>
                    <a:pt x="0" y="0"/>
                  </a:lnTo>
                  <a:lnTo>
                    <a:pt x="26" y="13"/>
                  </a:lnTo>
                  <a:lnTo>
                    <a:pt x="51" y="19"/>
                  </a:lnTo>
                  <a:close/>
                  <a:moveTo>
                    <a:pt x="51" y="19"/>
                  </a:moveTo>
                  <a:lnTo>
                    <a:pt x="51"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94" name="Freeform 94"/>
            <p:cNvSpPr>
              <a:spLocks noEditPoints="1"/>
            </p:cNvSpPr>
            <p:nvPr/>
          </p:nvSpPr>
          <p:spPr>
            <a:xfrm>
              <a:off x="3075" y="1164"/>
              <a:ext cx="51" cy="13"/>
            </a:xfrm>
            <a:custGeom>
              <a:avLst/>
              <a:gdLst>
                <a:gd name="txL" fmla="*/ 0 w 51"/>
                <a:gd name="txT" fmla="*/ 0 h 13"/>
                <a:gd name="txR" fmla="*/ 51 w 51"/>
                <a:gd name="txB" fmla="*/ 13 h 13"/>
              </a:gdLst>
              <a:ahLst/>
              <a:cxnLst>
                <a:cxn ang="0">
                  <a:pos x="0" y="13"/>
                </a:cxn>
                <a:cxn ang="0">
                  <a:pos x="26" y="7"/>
                </a:cxn>
                <a:cxn ang="0">
                  <a:pos x="51" y="0"/>
                </a:cxn>
                <a:cxn ang="0">
                  <a:pos x="51" y="0"/>
                </a:cxn>
                <a:cxn ang="0">
                  <a:pos x="26" y="7"/>
                </a:cxn>
                <a:cxn ang="0">
                  <a:pos x="0" y="13"/>
                </a:cxn>
                <a:cxn ang="0">
                  <a:pos x="0" y="13"/>
                </a:cxn>
                <a:cxn ang="0">
                  <a:pos x="0" y="13"/>
                </a:cxn>
                <a:cxn ang="0">
                  <a:pos x="0" y="13"/>
                </a:cxn>
                <a:cxn ang="0">
                  <a:pos x="0" y="13"/>
                </a:cxn>
              </a:cxnLst>
              <a:rect l="txL" t="txT" r="txR" b="txB"/>
              <a:pathLst>
                <a:path w="51" h="13">
                  <a:moveTo>
                    <a:pt x="0" y="13"/>
                  </a:moveTo>
                  <a:lnTo>
                    <a:pt x="26" y="7"/>
                  </a:lnTo>
                  <a:lnTo>
                    <a:pt x="51" y="0"/>
                  </a:lnTo>
                  <a:lnTo>
                    <a:pt x="26" y="7"/>
                  </a:lnTo>
                  <a:lnTo>
                    <a:pt x="0" y="13"/>
                  </a:lnTo>
                  <a:close/>
                  <a:moveTo>
                    <a:pt x="0" y="13"/>
                  </a:moveTo>
                  <a:lnTo>
                    <a:pt x="0"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95" name="Freeform 95"/>
            <p:cNvSpPr>
              <a:spLocks noEditPoints="1"/>
            </p:cNvSpPr>
            <p:nvPr/>
          </p:nvSpPr>
          <p:spPr>
            <a:xfrm>
              <a:off x="3126" y="1164"/>
              <a:ext cx="71" cy="58"/>
            </a:xfrm>
            <a:custGeom>
              <a:avLst/>
              <a:gdLst>
                <a:gd name="txL" fmla="*/ 0 w 71"/>
                <a:gd name="txT" fmla="*/ 0 h 58"/>
                <a:gd name="txR" fmla="*/ 71 w 71"/>
                <a:gd name="txB" fmla="*/ 58 h 58"/>
              </a:gdLst>
              <a:ahLst/>
              <a:cxnLst>
                <a:cxn ang="0">
                  <a:pos x="0" y="0"/>
                </a:cxn>
                <a:cxn ang="0">
                  <a:pos x="26" y="7"/>
                </a:cxn>
                <a:cxn ang="0">
                  <a:pos x="51" y="20"/>
                </a:cxn>
                <a:cxn ang="0">
                  <a:pos x="64" y="39"/>
                </a:cxn>
                <a:cxn ang="0">
                  <a:pos x="71" y="58"/>
                </a:cxn>
                <a:cxn ang="0">
                  <a:pos x="71" y="58"/>
                </a:cxn>
                <a:cxn ang="0">
                  <a:pos x="64" y="39"/>
                </a:cxn>
                <a:cxn ang="0">
                  <a:pos x="51" y="20"/>
                </a:cxn>
                <a:cxn ang="0">
                  <a:pos x="26" y="7"/>
                </a:cxn>
                <a:cxn ang="0">
                  <a:pos x="0" y="0"/>
                </a:cxn>
                <a:cxn ang="0">
                  <a:pos x="0" y="0"/>
                </a:cxn>
                <a:cxn ang="0">
                  <a:pos x="0" y="0"/>
                </a:cxn>
                <a:cxn ang="0">
                  <a:pos x="0" y="0"/>
                </a:cxn>
                <a:cxn ang="0">
                  <a:pos x="0" y="0"/>
                </a:cxn>
              </a:cxnLst>
              <a:rect l="txL" t="txT" r="txR" b="txB"/>
              <a:pathLst>
                <a:path w="71" h="58">
                  <a:moveTo>
                    <a:pt x="0" y="0"/>
                  </a:moveTo>
                  <a:lnTo>
                    <a:pt x="26" y="7"/>
                  </a:lnTo>
                  <a:lnTo>
                    <a:pt x="51" y="20"/>
                  </a:lnTo>
                  <a:lnTo>
                    <a:pt x="64" y="39"/>
                  </a:lnTo>
                  <a:lnTo>
                    <a:pt x="71" y="58"/>
                  </a:lnTo>
                  <a:lnTo>
                    <a:pt x="64" y="39"/>
                  </a:lnTo>
                  <a:lnTo>
                    <a:pt x="51" y="20"/>
                  </a:lnTo>
                  <a:lnTo>
                    <a:pt x="26" y="7"/>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96" name="Freeform 96"/>
            <p:cNvSpPr>
              <a:spLocks noEditPoints="1"/>
            </p:cNvSpPr>
            <p:nvPr/>
          </p:nvSpPr>
          <p:spPr>
            <a:xfrm>
              <a:off x="3126" y="1222"/>
              <a:ext cx="71" cy="57"/>
            </a:xfrm>
            <a:custGeom>
              <a:avLst/>
              <a:gdLst>
                <a:gd name="txL" fmla="*/ 0 w 71"/>
                <a:gd name="txT" fmla="*/ 0 h 57"/>
                <a:gd name="txR" fmla="*/ 71 w 71"/>
                <a:gd name="txB" fmla="*/ 57 h 57"/>
              </a:gdLst>
              <a:ahLst/>
              <a:cxnLst>
                <a:cxn ang="0">
                  <a:pos x="71" y="0"/>
                </a:cxn>
                <a:cxn ang="0">
                  <a:pos x="64" y="25"/>
                </a:cxn>
                <a:cxn ang="0">
                  <a:pos x="51" y="38"/>
                </a:cxn>
                <a:cxn ang="0">
                  <a:pos x="26" y="51"/>
                </a:cxn>
                <a:cxn ang="0">
                  <a:pos x="0" y="57"/>
                </a:cxn>
                <a:cxn ang="0">
                  <a:pos x="0" y="57"/>
                </a:cxn>
                <a:cxn ang="0">
                  <a:pos x="26" y="51"/>
                </a:cxn>
                <a:cxn ang="0">
                  <a:pos x="51" y="38"/>
                </a:cxn>
                <a:cxn ang="0">
                  <a:pos x="64" y="25"/>
                </a:cxn>
                <a:cxn ang="0">
                  <a:pos x="71" y="0"/>
                </a:cxn>
                <a:cxn ang="0">
                  <a:pos x="71" y="0"/>
                </a:cxn>
                <a:cxn ang="0">
                  <a:pos x="71" y="0"/>
                </a:cxn>
                <a:cxn ang="0">
                  <a:pos x="71" y="0"/>
                </a:cxn>
                <a:cxn ang="0">
                  <a:pos x="71" y="0"/>
                </a:cxn>
              </a:cxnLst>
              <a:rect l="txL" t="txT" r="txR" b="txB"/>
              <a:pathLst>
                <a:path w="71" h="57">
                  <a:moveTo>
                    <a:pt x="71" y="0"/>
                  </a:moveTo>
                  <a:lnTo>
                    <a:pt x="64" y="25"/>
                  </a:lnTo>
                  <a:lnTo>
                    <a:pt x="51" y="38"/>
                  </a:lnTo>
                  <a:lnTo>
                    <a:pt x="26" y="51"/>
                  </a:lnTo>
                  <a:lnTo>
                    <a:pt x="0" y="57"/>
                  </a:lnTo>
                  <a:lnTo>
                    <a:pt x="26" y="51"/>
                  </a:lnTo>
                  <a:lnTo>
                    <a:pt x="51" y="38"/>
                  </a:lnTo>
                  <a:lnTo>
                    <a:pt x="64" y="25"/>
                  </a:lnTo>
                  <a:lnTo>
                    <a:pt x="71" y="0"/>
                  </a:lnTo>
                  <a:close/>
                  <a:moveTo>
                    <a:pt x="71" y="0"/>
                  </a:moveTo>
                  <a:lnTo>
                    <a:pt x="7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97" name="Freeform 97"/>
            <p:cNvSpPr>
              <a:spLocks noEditPoints="1"/>
            </p:cNvSpPr>
            <p:nvPr/>
          </p:nvSpPr>
          <p:spPr>
            <a:xfrm>
              <a:off x="3075" y="1260"/>
              <a:ext cx="51" cy="19"/>
            </a:xfrm>
            <a:custGeom>
              <a:avLst/>
              <a:gdLst>
                <a:gd name="txL" fmla="*/ 0 w 51"/>
                <a:gd name="txT" fmla="*/ 0 h 19"/>
                <a:gd name="txR" fmla="*/ 51 w 51"/>
                <a:gd name="txB" fmla="*/ 19 h 19"/>
              </a:gdLst>
              <a:ahLst/>
              <a:cxnLst>
                <a:cxn ang="0">
                  <a:pos x="51" y="19"/>
                </a:cxn>
                <a:cxn ang="0">
                  <a:pos x="26" y="13"/>
                </a:cxn>
                <a:cxn ang="0">
                  <a:pos x="0" y="0"/>
                </a:cxn>
                <a:cxn ang="0">
                  <a:pos x="0" y="0"/>
                </a:cxn>
                <a:cxn ang="0">
                  <a:pos x="26" y="13"/>
                </a:cxn>
                <a:cxn ang="0">
                  <a:pos x="51" y="19"/>
                </a:cxn>
                <a:cxn ang="0">
                  <a:pos x="51" y="19"/>
                </a:cxn>
                <a:cxn ang="0">
                  <a:pos x="51" y="19"/>
                </a:cxn>
                <a:cxn ang="0">
                  <a:pos x="51" y="19"/>
                </a:cxn>
                <a:cxn ang="0">
                  <a:pos x="51" y="19"/>
                </a:cxn>
              </a:cxnLst>
              <a:rect l="txL" t="txT" r="txR" b="txB"/>
              <a:pathLst>
                <a:path w="51" h="19">
                  <a:moveTo>
                    <a:pt x="51" y="19"/>
                  </a:moveTo>
                  <a:lnTo>
                    <a:pt x="26" y="13"/>
                  </a:lnTo>
                  <a:lnTo>
                    <a:pt x="0" y="0"/>
                  </a:lnTo>
                  <a:lnTo>
                    <a:pt x="26" y="13"/>
                  </a:lnTo>
                  <a:lnTo>
                    <a:pt x="51" y="19"/>
                  </a:lnTo>
                  <a:close/>
                  <a:moveTo>
                    <a:pt x="51" y="19"/>
                  </a:moveTo>
                  <a:lnTo>
                    <a:pt x="51"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98" name="Freeform 98"/>
            <p:cNvSpPr>
              <a:spLocks noEditPoints="1"/>
            </p:cNvSpPr>
            <p:nvPr/>
          </p:nvSpPr>
          <p:spPr>
            <a:xfrm>
              <a:off x="3075" y="1247"/>
              <a:ext cx="51" cy="13"/>
            </a:xfrm>
            <a:custGeom>
              <a:avLst/>
              <a:gdLst>
                <a:gd name="txL" fmla="*/ 0 w 51"/>
                <a:gd name="txT" fmla="*/ 0 h 13"/>
                <a:gd name="txR" fmla="*/ 51 w 51"/>
                <a:gd name="txB" fmla="*/ 13 h 13"/>
              </a:gdLst>
              <a:ahLst/>
              <a:cxnLst>
                <a:cxn ang="0">
                  <a:pos x="0" y="13"/>
                </a:cxn>
                <a:cxn ang="0">
                  <a:pos x="26" y="7"/>
                </a:cxn>
                <a:cxn ang="0">
                  <a:pos x="51" y="0"/>
                </a:cxn>
                <a:cxn ang="0">
                  <a:pos x="51" y="0"/>
                </a:cxn>
                <a:cxn ang="0">
                  <a:pos x="26" y="7"/>
                </a:cxn>
                <a:cxn ang="0">
                  <a:pos x="0" y="13"/>
                </a:cxn>
                <a:cxn ang="0">
                  <a:pos x="0" y="13"/>
                </a:cxn>
                <a:cxn ang="0">
                  <a:pos x="0" y="13"/>
                </a:cxn>
                <a:cxn ang="0">
                  <a:pos x="0" y="13"/>
                </a:cxn>
                <a:cxn ang="0">
                  <a:pos x="0" y="13"/>
                </a:cxn>
              </a:cxnLst>
              <a:rect l="txL" t="txT" r="txR" b="txB"/>
              <a:pathLst>
                <a:path w="51" h="13">
                  <a:moveTo>
                    <a:pt x="0" y="13"/>
                  </a:moveTo>
                  <a:lnTo>
                    <a:pt x="26" y="7"/>
                  </a:lnTo>
                  <a:lnTo>
                    <a:pt x="51" y="0"/>
                  </a:lnTo>
                  <a:lnTo>
                    <a:pt x="26" y="7"/>
                  </a:lnTo>
                  <a:lnTo>
                    <a:pt x="0" y="13"/>
                  </a:lnTo>
                  <a:close/>
                  <a:moveTo>
                    <a:pt x="0" y="13"/>
                  </a:moveTo>
                  <a:lnTo>
                    <a:pt x="0"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99" name="Freeform 99"/>
            <p:cNvSpPr>
              <a:spLocks noEditPoints="1"/>
            </p:cNvSpPr>
            <p:nvPr/>
          </p:nvSpPr>
          <p:spPr>
            <a:xfrm>
              <a:off x="3126" y="1247"/>
              <a:ext cx="71" cy="58"/>
            </a:xfrm>
            <a:custGeom>
              <a:avLst/>
              <a:gdLst>
                <a:gd name="txL" fmla="*/ 0 w 71"/>
                <a:gd name="txT" fmla="*/ 0 h 58"/>
                <a:gd name="txR" fmla="*/ 71 w 71"/>
                <a:gd name="txB" fmla="*/ 58 h 58"/>
              </a:gdLst>
              <a:ahLst/>
              <a:cxnLst>
                <a:cxn ang="0">
                  <a:pos x="0" y="0"/>
                </a:cxn>
                <a:cxn ang="0">
                  <a:pos x="26" y="7"/>
                </a:cxn>
                <a:cxn ang="0">
                  <a:pos x="51" y="19"/>
                </a:cxn>
                <a:cxn ang="0">
                  <a:pos x="64" y="38"/>
                </a:cxn>
                <a:cxn ang="0">
                  <a:pos x="71" y="58"/>
                </a:cxn>
                <a:cxn ang="0">
                  <a:pos x="71" y="58"/>
                </a:cxn>
                <a:cxn ang="0">
                  <a:pos x="64" y="38"/>
                </a:cxn>
                <a:cxn ang="0">
                  <a:pos x="51" y="19"/>
                </a:cxn>
                <a:cxn ang="0">
                  <a:pos x="26" y="7"/>
                </a:cxn>
                <a:cxn ang="0">
                  <a:pos x="0" y="0"/>
                </a:cxn>
                <a:cxn ang="0">
                  <a:pos x="0" y="0"/>
                </a:cxn>
                <a:cxn ang="0">
                  <a:pos x="0" y="0"/>
                </a:cxn>
                <a:cxn ang="0">
                  <a:pos x="0" y="0"/>
                </a:cxn>
                <a:cxn ang="0">
                  <a:pos x="0" y="0"/>
                </a:cxn>
              </a:cxnLst>
              <a:rect l="txL" t="txT" r="txR" b="txB"/>
              <a:pathLst>
                <a:path w="71" h="58">
                  <a:moveTo>
                    <a:pt x="0" y="0"/>
                  </a:moveTo>
                  <a:lnTo>
                    <a:pt x="26" y="7"/>
                  </a:lnTo>
                  <a:lnTo>
                    <a:pt x="51" y="19"/>
                  </a:lnTo>
                  <a:lnTo>
                    <a:pt x="64" y="38"/>
                  </a:lnTo>
                  <a:lnTo>
                    <a:pt x="71" y="58"/>
                  </a:lnTo>
                  <a:lnTo>
                    <a:pt x="64" y="38"/>
                  </a:lnTo>
                  <a:lnTo>
                    <a:pt x="51" y="19"/>
                  </a:lnTo>
                  <a:lnTo>
                    <a:pt x="26" y="7"/>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00" name="Freeform 100"/>
            <p:cNvSpPr>
              <a:spLocks noEditPoints="1"/>
            </p:cNvSpPr>
            <p:nvPr/>
          </p:nvSpPr>
          <p:spPr>
            <a:xfrm>
              <a:off x="3126" y="1305"/>
              <a:ext cx="71" cy="57"/>
            </a:xfrm>
            <a:custGeom>
              <a:avLst/>
              <a:gdLst>
                <a:gd name="txL" fmla="*/ 0 w 71"/>
                <a:gd name="txT" fmla="*/ 0 h 57"/>
                <a:gd name="txR" fmla="*/ 71 w 71"/>
                <a:gd name="txB" fmla="*/ 57 h 57"/>
              </a:gdLst>
              <a:ahLst/>
              <a:cxnLst>
                <a:cxn ang="0">
                  <a:pos x="71" y="0"/>
                </a:cxn>
                <a:cxn ang="0">
                  <a:pos x="64" y="25"/>
                </a:cxn>
                <a:cxn ang="0">
                  <a:pos x="51" y="38"/>
                </a:cxn>
                <a:cxn ang="0">
                  <a:pos x="26" y="50"/>
                </a:cxn>
                <a:cxn ang="0">
                  <a:pos x="0" y="57"/>
                </a:cxn>
                <a:cxn ang="0">
                  <a:pos x="0" y="57"/>
                </a:cxn>
                <a:cxn ang="0">
                  <a:pos x="26" y="50"/>
                </a:cxn>
                <a:cxn ang="0">
                  <a:pos x="51" y="38"/>
                </a:cxn>
                <a:cxn ang="0">
                  <a:pos x="64" y="25"/>
                </a:cxn>
                <a:cxn ang="0">
                  <a:pos x="71" y="0"/>
                </a:cxn>
                <a:cxn ang="0">
                  <a:pos x="71" y="0"/>
                </a:cxn>
                <a:cxn ang="0">
                  <a:pos x="71" y="0"/>
                </a:cxn>
                <a:cxn ang="0">
                  <a:pos x="71" y="0"/>
                </a:cxn>
                <a:cxn ang="0">
                  <a:pos x="71" y="0"/>
                </a:cxn>
              </a:cxnLst>
              <a:rect l="txL" t="txT" r="txR" b="txB"/>
              <a:pathLst>
                <a:path w="71" h="57">
                  <a:moveTo>
                    <a:pt x="71" y="0"/>
                  </a:moveTo>
                  <a:lnTo>
                    <a:pt x="64" y="25"/>
                  </a:lnTo>
                  <a:lnTo>
                    <a:pt x="51" y="38"/>
                  </a:lnTo>
                  <a:lnTo>
                    <a:pt x="26" y="50"/>
                  </a:lnTo>
                  <a:lnTo>
                    <a:pt x="0" y="57"/>
                  </a:lnTo>
                  <a:lnTo>
                    <a:pt x="26" y="50"/>
                  </a:lnTo>
                  <a:lnTo>
                    <a:pt x="51" y="38"/>
                  </a:lnTo>
                  <a:lnTo>
                    <a:pt x="64" y="25"/>
                  </a:lnTo>
                  <a:lnTo>
                    <a:pt x="71" y="0"/>
                  </a:lnTo>
                  <a:close/>
                  <a:moveTo>
                    <a:pt x="71" y="0"/>
                  </a:moveTo>
                  <a:lnTo>
                    <a:pt x="7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01" name="Freeform 101"/>
            <p:cNvSpPr>
              <a:spLocks noEditPoints="1"/>
            </p:cNvSpPr>
            <p:nvPr/>
          </p:nvSpPr>
          <p:spPr>
            <a:xfrm>
              <a:off x="3075" y="1349"/>
              <a:ext cx="51" cy="13"/>
            </a:xfrm>
            <a:custGeom>
              <a:avLst/>
              <a:gdLst>
                <a:gd name="txL" fmla="*/ 0 w 51"/>
                <a:gd name="txT" fmla="*/ 0 h 13"/>
                <a:gd name="txR" fmla="*/ 51 w 51"/>
                <a:gd name="txB" fmla="*/ 13 h 13"/>
              </a:gdLst>
              <a:ahLst/>
              <a:cxnLst>
                <a:cxn ang="0">
                  <a:pos x="51" y="13"/>
                </a:cxn>
                <a:cxn ang="0">
                  <a:pos x="26" y="6"/>
                </a:cxn>
                <a:cxn ang="0">
                  <a:pos x="0" y="0"/>
                </a:cxn>
                <a:cxn ang="0">
                  <a:pos x="0" y="0"/>
                </a:cxn>
                <a:cxn ang="0">
                  <a:pos x="26" y="6"/>
                </a:cxn>
                <a:cxn ang="0">
                  <a:pos x="51" y="13"/>
                </a:cxn>
                <a:cxn ang="0">
                  <a:pos x="51" y="13"/>
                </a:cxn>
                <a:cxn ang="0">
                  <a:pos x="51" y="13"/>
                </a:cxn>
                <a:cxn ang="0">
                  <a:pos x="51" y="13"/>
                </a:cxn>
                <a:cxn ang="0">
                  <a:pos x="51" y="13"/>
                </a:cxn>
              </a:cxnLst>
              <a:rect l="txL" t="txT" r="txR" b="txB"/>
              <a:pathLst>
                <a:path w="51" h="13">
                  <a:moveTo>
                    <a:pt x="51" y="13"/>
                  </a:moveTo>
                  <a:lnTo>
                    <a:pt x="26" y="6"/>
                  </a:lnTo>
                  <a:lnTo>
                    <a:pt x="0" y="0"/>
                  </a:lnTo>
                  <a:lnTo>
                    <a:pt x="26" y="6"/>
                  </a:lnTo>
                  <a:lnTo>
                    <a:pt x="51" y="13"/>
                  </a:lnTo>
                  <a:close/>
                  <a:moveTo>
                    <a:pt x="51" y="13"/>
                  </a:moveTo>
                  <a:lnTo>
                    <a:pt x="51"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02" name="Freeform 102"/>
            <p:cNvSpPr>
              <a:spLocks noEditPoints="1"/>
            </p:cNvSpPr>
            <p:nvPr/>
          </p:nvSpPr>
          <p:spPr>
            <a:xfrm>
              <a:off x="3075" y="1330"/>
              <a:ext cx="51" cy="19"/>
            </a:xfrm>
            <a:custGeom>
              <a:avLst/>
              <a:gdLst>
                <a:gd name="txL" fmla="*/ 0 w 51"/>
                <a:gd name="txT" fmla="*/ 0 h 19"/>
                <a:gd name="txR" fmla="*/ 51 w 51"/>
                <a:gd name="txB" fmla="*/ 19 h 19"/>
              </a:gdLst>
              <a:ahLst/>
              <a:cxnLst>
                <a:cxn ang="0">
                  <a:pos x="0" y="19"/>
                </a:cxn>
                <a:cxn ang="0">
                  <a:pos x="26" y="6"/>
                </a:cxn>
                <a:cxn ang="0">
                  <a:pos x="51" y="0"/>
                </a:cxn>
                <a:cxn ang="0">
                  <a:pos x="51" y="0"/>
                </a:cxn>
                <a:cxn ang="0">
                  <a:pos x="26" y="6"/>
                </a:cxn>
                <a:cxn ang="0">
                  <a:pos x="0" y="19"/>
                </a:cxn>
                <a:cxn ang="0">
                  <a:pos x="0" y="19"/>
                </a:cxn>
                <a:cxn ang="0">
                  <a:pos x="0" y="19"/>
                </a:cxn>
                <a:cxn ang="0">
                  <a:pos x="0" y="19"/>
                </a:cxn>
                <a:cxn ang="0">
                  <a:pos x="0" y="19"/>
                </a:cxn>
              </a:cxnLst>
              <a:rect l="txL" t="txT" r="txR" b="txB"/>
              <a:pathLst>
                <a:path w="51" h="19">
                  <a:moveTo>
                    <a:pt x="0" y="19"/>
                  </a:moveTo>
                  <a:lnTo>
                    <a:pt x="26" y="6"/>
                  </a:lnTo>
                  <a:lnTo>
                    <a:pt x="51" y="0"/>
                  </a:lnTo>
                  <a:lnTo>
                    <a:pt x="26" y="6"/>
                  </a:lnTo>
                  <a:lnTo>
                    <a:pt x="0" y="19"/>
                  </a:lnTo>
                  <a:close/>
                  <a:moveTo>
                    <a:pt x="0" y="19"/>
                  </a:moveTo>
                  <a:lnTo>
                    <a:pt x="0"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03" name="Freeform 103"/>
            <p:cNvSpPr>
              <a:spLocks noEditPoints="1"/>
            </p:cNvSpPr>
            <p:nvPr/>
          </p:nvSpPr>
          <p:spPr>
            <a:xfrm>
              <a:off x="3126" y="1330"/>
              <a:ext cx="71" cy="57"/>
            </a:xfrm>
            <a:custGeom>
              <a:avLst/>
              <a:gdLst>
                <a:gd name="txL" fmla="*/ 0 w 71"/>
                <a:gd name="txT" fmla="*/ 0 h 57"/>
                <a:gd name="txR" fmla="*/ 71 w 71"/>
                <a:gd name="txB" fmla="*/ 57 h 57"/>
              </a:gdLst>
              <a:ahLst/>
              <a:cxnLst>
                <a:cxn ang="0">
                  <a:pos x="0" y="0"/>
                </a:cxn>
                <a:cxn ang="0">
                  <a:pos x="26" y="6"/>
                </a:cxn>
                <a:cxn ang="0">
                  <a:pos x="51" y="19"/>
                </a:cxn>
                <a:cxn ang="0">
                  <a:pos x="64" y="38"/>
                </a:cxn>
                <a:cxn ang="0">
                  <a:pos x="71" y="57"/>
                </a:cxn>
                <a:cxn ang="0">
                  <a:pos x="71" y="57"/>
                </a:cxn>
                <a:cxn ang="0">
                  <a:pos x="64" y="38"/>
                </a:cxn>
                <a:cxn ang="0">
                  <a:pos x="51" y="19"/>
                </a:cxn>
                <a:cxn ang="0">
                  <a:pos x="26" y="6"/>
                </a:cxn>
                <a:cxn ang="0">
                  <a:pos x="0" y="0"/>
                </a:cxn>
                <a:cxn ang="0">
                  <a:pos x="0" y="0"/>
                </a:cxn>
                <a:cxn ang="0">
                  <a:pos x="0" y="0"/>
                </a:cxn>
                <a:cxn ang="0">
                  <a:pos x="0" y="0"/>
                </a:cxn>
                <a:cxn ang="0">
                  <a:pos x="0" y="0"/>
                </a:cxn>
              </a:cxnLst>
              <a:rect l="txL" t="txT" r="txR" b="txB"/>
              <a:pathLst>
                <a:path w="71" h="57">
                  <a:moveTo>
                    <a:pt x="0" y="0"/>
                  </a:moveTo>
                  <a:lnTo>
                    <a:pt x="26" y="6"/>
                  </a:lnTo>
                  <a:lnTo>
                    <a:pt x="51" y="19"/>
                  </a:lnTo>
                  <a:lnTo>
                    <a:pt x="64" y="38"/>
                  </a:lnTo>
                  <a:lnTo>
                    <a:pt x="71" y="57"/>
                  </a:lnTo>
                  <a:lnTo>
                    <a:pt x="64" y="38"/>
                  </a:lnTo>
                  <a:lnTo>
                    <a:pt x="51" y="19"/>
                  </a:lnTo>
                  <a:lnTo>
                    <a:pt x="26"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04" name="Freeform 104"/>
            <p:cNvSpPr>
              <a:spLocks noEditPoints="1"/>
            </p:cNvSpPr>
            <p:nvPr/>
          </p:nvSpPr>
          <p:spPr>
            <a:xfrm>
              <a:off x="3126" y="1387"/>
              <a:ext cx="71" cy="58"/>
            </a:xfrm>
            <a:custGeom>
              <a:avLst/>
              <a:gdLst>
                <a:gd name="txL" fmla="*/ 0 w 71"/>
                <a:gd name="txT" fmla="*/ 0 h 58"/>
                <a:gd name="txR" fmla="*/ 71 w 71"/>
                <a:gd name="txB" fmla="*/ 58 h 58"/>
              </a:gdLst>
              <a:ahLst/>
              <a:cxnLst>
                <a:cxn ang="0">
                  <a:pos x="71" y="0"/>
                </a:cxn>
                <a:cxn ang="0">
                  <a:pos x="64" y="26"/>
                </a:cxn>
                <a:cxn ang="0">
                  <a:pos x="51" y="39"/>
                </a:cxn>
                <a:cxn ang="0">
                  <a:pos x="26" y="51"/>
                </a:cxn>
                <a:cxn ang="0">
                  <a:pos x="0" y="58"/>
                </a:cxn>
                <a:cxn ang="0">
                  <a:pos x="0" y="58"/>
                </a:cxn>
                <a:cxn ang="0">
                  <a:pos x="26" y="51"/>
                </a:cxn>
                <a:cxn ang="0">
                  <a:pos x="51" y="39"/>
                </a:cxn>
                <a:cxn ang="0">
                  <a:pos x="64" y="26"/>
                </a:cxn>
                <a:cxn ang="0">
                  <a:pos x="71" y="0"/>
                </a:cxn>
                <a:cxn ang="0">
                  <a:pos x="71" y="0"/>
                </a:cxn>
                <a:cxn ang="0">
                  <a:pos x="71" y="0"/>
                </a:cxn>
                <a:cxn ang="0">
                  <a:pos x="71" y="0"/>
                </a:cxn>
                <a:cxn ang="0">
                  <a:pos x="71" y="0"/>
                </a:cxn>
              </a:cxnLst>
              <a:rect l="txL" t="txT" r="txR" b="txB"/>
              <a:pathLst>
                <a:path w="71" h="58">
                  <a:moveTo>
                    <a:pt x="71" y="0"/>
                  </a:moveTo>
                  <a:lnTo>
                    <a:pt x="64" y="26"/>
                  </a:lnTo>
                  <a:lnTo>
                    <a:pt x="51" y="39"/>
                  </a:lnTo>
                  <a:lnTo>
                    <a:pt x="26" y="51"/>
                  </a:lnTo>
                  <a:lnTo>
                    <a:pt x="0" y="58"/>
                  </a:lnTo>
                  <a:lnTo>
                    <a:pt x="26" y="51"/>
                  </a:lnTo>
                  <a:lnTo>
                    <a:pt x="51" y="39"/>
                  </a:lnTo>
                  <a:lnTo>
                    <a:pt x="64" y="26"/>
                  </a:lnTo>
                  <a:lnTo>
                    <a:pt x="71" y="0"/>
                  </a:lnTo>
                  <a:close/>
                  <a:moveTo>
                    <a:pt x="71" y="0"/>
                  </a:moveTo>
                  <a:lnTo>
                    <a:pt x="71"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05" name="Freeform 105"/>
            <p:cNvSpPr>
              <a:spLocks noEditPoints="1"/>
            </p:cNvSpPr>
            <p:nvPr/>
          </p:nvSpPr>
          <p:spPr>
            <a:xfrm>
              <a:off x="3126" y="1075"/>
              <a:ext cx="1" cy="370"/>
            </a:xfrm>
            <a:custGeom>
              <a:avLst/>
              <a:gdLst>
                <a:gd name="txL" fmla="*/ 0 w 1"/>
                <a:gd name="txT" fmla="*/ 0 h 370"/>
                <a:gd name="txR" fmla="*/ 1 w 1"/>
                <a:gd name="txB" fmla="*/ 370 h 370"/>
              </a:gdLst>
              <a:ahLst/>
              <a:cxnLst>
                <a:cxn ang="0">
                  <a:pos x="0" y="0"/>
                </a:cxn>
                <a:cxn ang="0">
                  <a:pos x="0" y="0"/>
                </a:cxn>
                <a:cxn ang="0">
                  <a:pos x="0" y="0"/>
                </a:cxn>
                <a:cxn ang="0">
                  <a:pos x="0" y="370"/>
                </a:cxn>
                <a:cxn ang="0">
                  <a:pos x="0" y="370"/>
                </a:cxn>
                <a:cxn ang="0">
                  <a:pos x="0" y="370"/>
                </a:cxn>
              </a:cxnLst>
              <a:rect l="txL" t="txT" r="txR" b="txB"/>
              <a:pathLst>
                <a:path w="1" h="370">
                  <a:moveTo>
                    <a:pt x="0" y="0"/>
                  </a:moveTo>
                  <a:lnTo>
                    <a:pt x="0" y="0"/>
                  </a:lnTo>
                  <a:close/>
                  <a:moveTo>
                    <a:pt x="0" y="370"/>
                  </a:moveTo>
                  <a:lnTo>
                    <a:pt x="0" y="37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06" name="Freeform 106"/>
            <p:cNvSpPr/>
            <p:nvPr/>
          </p:nvSpPr>
          <p:spPr>
            <a:xfrm>
              <a:off x="4153" y="1075"/>
              <a:ext cx="64" cy="370"/>
            </a:xfrm>
            <a:custGeom>
              <a:avLst/>
              <a:gdLst>
                <a:gd name="txL" fmla="*/ 0 w 64"/>
                <a:gd name="txT" fmla="*/ 0 h 370"/>
                <a:gd name="txR" fmla="*/ 64 w 64"/>
                <a:gd name="txB" fmla="*/ 370 h 370"/>
              </a:gdLst>
              <a:ahLst/>
              <a:cxnLst>
                <a:cxn ang="0">
                  <a:pos x="0" y="370"/>
                </a:cxn>
                <a:cxn ang="0">
                  <a:pos x="64" y="370"/>
                </a:cxn>
                <a:cxn ang="0">
                  <a:pos x="64" y="0"/>
                </a:cxn>
                <a:cxn ang="0">
                  <a:pos x="0" y="0"/>
                </a:cxn>
                <a:cxn ang="0">
                  <a:pos x="0" y="370"/>
                </a:cxn>
                <a:cxn ang="0">
                  <a:pos x="0" y="370"/>
                </a:cxn>
              </a:cxnLst>
              <a:rect l="txL" t="txT" r="txR" b="txB"/>
              <a:pathLst>
                <a:path w="64" h="370">
                  <a:moveTo>
                    <a:pt x="0" y="370"/>
                  </a:moveTo>
                  <a:lnTo>
                    <a:pt x="64" y="370"/>
                  </a:lnTo>
                  <a:lnTo>
                    <a:pt x="64" y="0"/>
                  </a:lnTo>
                  <a:lnTo>
                    <a:pt x="0" y="0"/>
                  </a:lnTo>
                  <a:lnTo>
                    <a:pt x="0" y="370"/>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4907" name="Freeform 107"/>
            <p:cNvSpPr/>
            <p:nvPr/>
          </p:nvSpPr>
          <p:spPr>
            <a:xfrm>
              <a:off x="4185" y="1075"/>
              <a:ext cx="70" cy="64"/>
            </a:xfrm>
            <a:custGeom>
              <a:avLst/>
              <a:gdLst>
                <a:gd name="txL" fmla="*/ 0 w 70"/>
                <a:gd name="txT" fmla="*/ 0 h 64"/>
                <a:gd name="txR" fmla="*/ 70 w 70"/>
                <a:gd name="txB" fmla="*/ 64 h 64"/>
              </a:gdLst>
              <a:ahLst/>
              <a:cxnLst>
                <a:cxn ang="0">
                  <a:pos x="0" y="0"/>
                </a:cxn>
                <a:cxn ang="0">
                  <a:pos x="26" y="7"/>
                </a:cxn>
                <a:cxn ang="0">
                  <a:pos x="51" y="19"/>
                </a:cxn>
                <a:cxn ang="0">
                  <a:pos x="64" y="38"/>
                </a:cxn>
                <a:cxn ang="0">
                  <a:pos x="70" y="64"/>
                </a:cxn>
                <a:cxn ang="0">
                  <a:pos x="70" y="58"/>
                </a:cxn>
                <a:cxn ang="0">
                  <a:pos x="64" y="38"/>
                </a:cxn>
                <a:cxn ang="0">
                  <a:pos x="51" y="19"/>
                </a:cxn>
                <a:cxn ang="0">
                  <a:pos x="26" y="7"/>
                </a:cxn>
                <a:cxn ang="0">
                  <a:pos x="0" y="0"/>
                </a:cxn>
                <a:cxn ang="0">
                  <a:pos x="0" y="0"/>
                </a:cxn>
              </a:cxnLst>
              <a:rect l="txL" t="txT" r="txR" b="txB"/>
              <a:pathLst>
                <a:path w="70" h="64">
                  <a:moveTo>
                    <a:pt x="0" y="0"/>
                  </a:moveTo>
                  <a:lnTo>
                    <a:pt x="26" y="7"/>
                  </a:lnTo>
                  <a:lnTo>
                    <a:pt x="51" y="19"/>
                  </a:lnTo>
                  <a:lnTo>
                    <a:pt x="64" y="38"/>
                  </a:lnTo>
                  <a:lnTo>
                    <a:pt x="70" y="64"/>
                  </a:lnTo>
                  <a:lnTo>
                    <a:pt x="70" y="58"/>
                  </a:lnTo>
                  <a:lnTo>
                    <a:pt x="64" y="38"/>
                  </a:lnTo>
                  <a:lnTo>
                    <a:pt x="51" y="19"/>
                  </a:lnTo>
                  <a:lnTo>
                    <a:pt x="26" y="7"/>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08" name="Freeform 108"/>
            <p:cNvSpPr>
              <a:spLocks noEditPoints="1"/>
            </p:cNvSpPr>
            <p:nvPr/>
          </p:nvSpPr>
          <p:spPr>
            <a:xfrm>
              <a:off x="4185" y="1133"/>
              <a:ext cx="70" cy="63"/>
            </a:xfrm>
            <a:custGeom>
              <a:avLst/>
              <a:gdLst>
                <a:gd name="txL" fmla="*/ 0 w 70"/>
                <a:gd name="txT" fmla="*/ 0 h 63"/>
                <a:gd name="txR" fmla="*/ 70 w 70"/>
                <a:gd name="txB" fmla="*/ 63 h 63"/>
              </a:gdLst>
              <a:ahLst/>
              <a:cxnLst>
                <a:cxn ang="0">
                  <a:pos x="70" y="0"/>
                </a:cxn>
                <a:cxn ang="0">
                  <a:pos x="64" y="25"/>
                </a:cxn>
                <a:cxn ang="0">
                  <a:pos x="51" y="44"/>
                </a:cxn>
                <a:cxn ang="0">
                  <a:pos x="26" y="57"/>
                </a:cxn>
                <a:cxn ang="0">
                  <a:pos x="0" y="63"/>
                </a:cxn>
                <a:cxn ang="0">
                  <a:pos x="0" y="63"/>
                </a:cxn>
                <a:cxn ang="0">
                  <a:pos x="26" y="57"/>
                </a:cxn>
                <a:cxn ang="0">
                  <a:pos x="51" y="44"/>
                </a:cxn>
                <a:cxn ang="0">
                  <a:pos x="64" y="25"/>
                </a:cxn>
                <a:cxn ang="0">
                  <a:pos x="70" y="6"/>
                </a:cxn>
                <a:cxn ang="0">
                  <a:pos x="70" y="0"/>
                </a:cxn>
                <a:cxn ang="0">
                  <a:pos x="70" y="0"/>
                </a:cxn>
                <a:cxn ang="0">
                  <a:pos x="70" y="0"/>
                </a:cxn>
                <a:cxn ang="0">
                  <a:pos x="70" y="0"/>
                </a:cxn>
              </a:cxnLst>
              <a:rect l="txL" t="txT" r="txR" b="txB"/>
              <a:pathLst>
                <a:path w="70" h="63">
                  <a:moveTo>
                    <a:pt x="70" y="0"/>
                  </a:moveTo>
                  <a:lnTo>
                    <a:pt x="64" y="25"/>
                  </a:lnTo>
                  <a:lnTo>
                    <a:pt x="51" y="44"/>
                  </a:lnTo>
                  <a:lnTo>
                    <a:pt x="26" y="57"/>
                  </a:lnTo>
                  <a:lnTo>
                    <a:pt x="0" y="63"/>
                  </a:lnTo>
                  <a:lnTo>
                    <a:pt x="26" y="57"/>
                  </a:lnTo>
                  <a:lnTo>
                    <a:pt x="51" y="44"/>
                  </a:lnTo>
                  <a:lnTo>
                    <a:pt x="64" y="25"/>
                  </a:lnTo>
                  <a:lnTo>
                    <a:pt x="70" y="6"/>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09" name="Freeform 109"/>
            <p:cNvSpPr>
              <a:spLocks noEditPoints="1"/>
            </p:cNvSpPr>
            <p:nvPr/>
          </p:nvSpPr>
          <p:spPr>
            <a:xfrm>
              <a:off x="4141" y="1177"/>
              <a:ext cx="44" cy="19"/>
            </a:xfrm>
            <a:custGeom>
              <a:avLst/>
              <a:gdLst>
                <a:gd name="txL" fmla="*/ 0 w 44"/>
                <a:gd name="txT" fmla="*/ 0 h 19"/>
                <a:gd name="txR" fmla="*/ 44 w 44"/>
                <a:gd name="txB" fmla="*/ 19 h 19"/>
              </a:gdLst>
              <a:ahLst/>
              <a:cxnLst>
                <a:cxn ang="0">
                  <a:pos x="44" y="19"/>
                </a:cxn>
                <a:cxn ang="0">
                  <a:pos x="19" y="13"/>
                </a:cxn>
                <a:cxn ang="0">
                  <a:pos x="0" y="0"/>
                </a:cxn>
                <a:cxn ang="0">
                  <a:pos x="0" y="0"/>
                </a:cxn>
                <a:cxn ang="0">
                  <a:pos x="19" y="13"/>
                </a:cxn>
                <a:cxn ang="0">
                  <a:pos x="44" y="19"/>
                </a:cxn>
                <a:cxn ang="0">
                  <a:pos x="44" y="19"/>
                </a:cxn>
                <a:cxn ang="0">
                  <a:pos x="44" y="19"/>
                </a:cxn>
                <a:cxn ang="0">
                  <a:pos x="44" y="19"/>
                </a:cxn>
                <a:cxn ang="0">
                  <a:pos x="44" y="19"/>
                </a:cxn>
              </a:cxnLst>
              <a:rect l="txL" t="txT" r="txR" b="txB"/>
              <a:pathLst>
                <a:path w="44" h="19">
                  <a:moveTo>
                    <a:pt x="44" y="19"/>
                  </a:moveTo>
                  <a:lnTo>
                    <a:pt x="19" y="13"/>
                  </a:lnTo>
                  <a:lnTo>
                    <a:pt x="0" y="0"/>
                  </a:lnTo>
                  <a:lnTo>
                    <a:pt x="19" y="13"/>
                  </a:lnTo>
                  <a:lnTo>
                    <a:pt x="44" y="19"/>
                  </a:lnTo>
                  <a:close/>
                  <a:moveTo>
                    <a:pt x="44" y="19"/>
                  </a:moveTo>
                  <a:lnTo>
                    <a:pt x="44"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0" name="Freeform 110"/>
            <p:cNvSpPr>
              <a:spLocks noEditPoints="1"/>
            </p:cNvSpPr>
            <p:nvPr/>
          </p:nvSpPr>
          <p:spPr>
            <a:xfrm>
              <a:off x="4141" y="1164"/>
              <a:ext cx="44" cy="13"/>
            </a:xfrm>
            <a:custGeom>
              <a:avLst/>
              <a:gdLst>
                <a:gd name="txL" fmla="*/ 0 w 44"/>
                <a:gd name="txT" fmla="*/ 0 h 13"/>
                <a:gd name="txR" fmla="*/ 44 w 44"/>
                <a:gd name="txB" fmla="*/ 13 h 13"/>
              </a:gdLst>
              <a:ahLst/>
              <a:cxnLst>
                <a:cxn ang="0">
                  <a:pos x="0" y="13"/>
                </a:cxn>
                <a:cxn ang="0">
                  <a:pos x="19" y="7"/>
                </a:cxn>
                <a:cxn ang="0">
                  <a:pos x="44" y="0"/>
                </a:cxn>
                <a:cxn ang="0">
                  <a:pos x="44" y="0"/>
                </a:cxn>
                <a:cxn ang="0">
                  <a:pos x="19" y="7"/>
                </a:cxn>
                <a:cxn ang="0">
                  <a:pos x="0" y="13"/>
                </a:cxn>
                <a:cxn ang="0">
                  <a:pos x="0" y="13"/>
                </a:cxn>
                <a:cxn ang="0">
                  <a:pos x="0" y="13"/>
                </a:cxn>
                <a:cxn ang="0">
                  <a:pos x="0" y="13"/>
                </a:cxn>
                <a:cxn ang="0">
                  <a:pos x="0" y="13"/>
                </a:cxn>
              </a:cxnLst>
              <a:rect l="txL" t="txT" r="txR" b="txB"/>
              <a:pathLst>
                <a:path w="44" h="13">
                  <a:moveTo>
                    <a:pt x="0" y="13"/>
                  </a:moveTo>
                  <a:lnTo>
                    <a:pt x="19" y="7"/>
                  </a:lnTo>
                  <a:lnTo>
                    <a:pt x="44" y="0"/>
                  </a:lnTo>
                  <a:lnTo>
                    <a:pt x="19" y="7"/>
                  </a:lnTo>
                  <a:lnTo>
                    <a:pt x="0" y="13"/>
                  </a:lnTo>
                  <a:close/>
                  <a:moveTo>
                    <a:pt x="0" y="13"/>
                  </a:moveTo>
                  <a:lnTo>
                    <a:pt x="0"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1" name="Freeform 111"/>
            <p:cNvSpPr>
              <a:spLocks noEditPoints="1"/>
            </p:cNvSpPr>
            <p:nvPr/>
          </p:nvSpPr>
          <p:spPr>
            <a:xfrm>
              <a:off x="4185" y="1164"/>
              <a:ext cx="70" cy="58"/>
            </a:xfrm>
            <a:custGeom>
              <a:avLst/>
              <a:gdLst>
                <a:gd name="txL" fmla="*/ 0 w 70"/>
                <a:gd name="txT" fmla="*/ 0 h 58"/>
                <a:gd name="txR" fmla="*/ 70 w 70"/>
                <a:gd name="txB" fmla="*/ 58 h 58"/>
              </a:gdLst>
              <a:ahLst/>
              <a:cxnLst>
                <a:cxn ang="0">
                  <a:pos x="0" y="0"/>
                </a:cxn>
                <a:cxn ang="0">
                  <a:pos x="26" y="7"/>
                </a:cxn>
                <a:cxn ang="0">
                  <a:pos x="51" y="20"/>
                </a:cxn>
                <a:cxn ang="0">
                  <a:pos x="64" y="39"/>
                </a:cxn>
                <a:cxn ang="0">
                  <a:pos x="70" y="58"/>
                </a:cxn>
                <a:cxn ang="0">
                  <a:pos x="70" y="58"/>
                </a:cxn>
                <a:cxn ang="0">
                  <a:pos x="64" y="39"/>
                </a:cxn>
                <a:cxn ang="0">
                  <a:pos x="51" y="20"/>
                </a:cxn>
                <a:cxn ang="0">
                  <a:pos x="26" y="7"/>
                </a:cxn>
                <a:cxn ang="0">
                  <a:pos x="0" y="0"/>
                </a:cxn>
                <a:cxn ang="0">
                  <a:pos x="0" y="0"/>
                </a:cxn>
                <a:cxn ang="0">
                  <a:pos x="0" y="0"/>
                </a:cxn>
                <a:cxn ang="0">
                  <a:pos x="0" y="0"/>
                </a:cxn>
                <a:cxn ang="0">
                  <a:pos x="0" y="0"/>
                </a:cxn>
              </a:cxnLst>
              <a:rect l="txL" t="txT" r="txR" b="txB"/>
              <a:pathLst>
                <a:path w="70" h="58">
                  <a:moveTo>
                    <a:pt x="0" y="0"/>
                  </a:moveTo>
                  <a:lnTo>
                    <a:pt x="26" y="7"/>
                  </a:lnTo>
                  <a:lnTo>
                    <a:pt x="51" y="20"/>
                  </a:lnTo>
                  <a:lnTo>
                    <a:pt x="64" y="39"/>
                  </a:lnTo>
                  <a:lnTo>
                    <a:pt x="70" y="58"/>
                  </a:lnTo>
                  <a:lnTo>
                    <a:pt x="64" y="39"/>
                  </a:lnTo>
                  <a:lnTo>
                    <a:pt x="51" y="20"/>
                  </a:lnTo>
                  <a:lnTo>
                    <a:pt x="26" y="7"/>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2" name="Freeform 112"/>
            <p:cNvSpPr>
              <a:spLocks noEditPoints="1"/>
            </p:cNvSpPr>
            <p:nvPr/>
          </p:nvSpPr>
          <p:spPr>
            <a:xfrm>
              <a:off x="4185" y="1222"/>
              <a:ext cx="70" cy="57"/>
            </a:xfrm>
            <a:custGeom>
              <a:avLst/>
              <a:gdLst>
                <a:gd name="txL" fmla="*/ 0 w 70"/>
                <a:gd name="txT" fmla="*/ 0 h 57"/>
                <a:gd name="txR" fmla="*/ 70 w 70"/>
                <a:gd name="txB" fmla="*/ 57 h 57"/>
              </a:gdLst>
              <a:ahLst/>
              <a:cxnLst>
                <a:cxn ang="0">
                  <a:pos x="70" y="0"/>
                </a:cxn>
                <a:cxn ang="0">
                  <a:pos x="64" y="25"/>
                </a:cxn>
                <a:cxn ang="0">
                  <a:pos x="51" y="38"/>
                </a:cxn>
                <a:cxn ang="0">
                  <a:pos x="26" y="51"/>
                </a:cxn>
                <a:cxn ang="0">
                  <a:pos x="0" y="57"/>
                </a:cxn>
                <a:cxn ang="0">
                  <a:pos x="0" y="57"/>
                </a:cxn>
                <a:cxn ang="0">
                  <a:pos x="26" y="51"/>
                </a:cxn>
                <a:cxn ang="0">
                  <a:pos x="51" y="38"/>
                </a:cxn>
                <a:cxn ang="0">
                  <a:pos x="64" y="25"/>
                </a:cxn>
                <a:cxn ang="0">
                  <a:pos x="70" y="0"/>
                </a:cxn>
                <a:cxn ang="0">
                  <a:pos x="70" y="0"/>
                </a:cxn>
                <a:cxn ang="0">
                  <a:pos x="70" y="0"/>
                </a:cxn>
                <a:cxn ang="0">
                  <a:pos x="70" y="0"/>
                </a:cxn>
                <a:cxn ang="0">
                  <a:pos x="70" y="0"/>
                </a:cxn>
              </a:cxnLst>
              <a:rect l="txL" t="txT" r="txR" b="txB"/>
              <a:pathLst>
                <a:path w="70" h="57">
                  <a:moveTo>
                    <a:pt x="70" y="0"/>
                  </a:moveTo>
                  <a:lnTo>
                    <a:pt x="64" y="25"/>
                  </a:lnTo>
                  <a:lnTo>
                    <a:pt x="51" y="38"/>
                  </a:lnTo>
                  <a:lnTo>
                    <a:pt x="26" y="51"/>
                  </a:lnTo>
                  <a:lnTo>
                    <a:pt x="0" y="57"/>
                  </a:lnTo>
                  <a:lnTo>
                    <a:pt x="26" y="51"/>
                  </a:lnTo>
                  <a:lnTo>
                    <a:pt x="51" y="38"/>
                  </a:lnTo>
                  <a:lnTo>
                    <a:pt x="64" y="25"/>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3" name="Freeform 113"/>
            <p:cNvSpPr>
              <a:spLocks noEditPoints="1"/>
            </p:cNvSpPr>
            <p:nvPr/>
          </p:nvSpPr>
          <p:spPr>
            <a:xfrm>
              <a:off x="4141" y="1260"/>
              <a:ext cx="44" cy="19"/>
            </a:xfrm>
            <a:custGeom>
              <a:avLst/>
              <a:gdLst>
                <a:gd name="txL" fmla="*/ 0 w 44"/>
                <a:gd name="txT" fmla="*/ 0 h 19"/>
                <a:gd name="txR" fmla="*/ 44 w 44"/>
                <a:gd name="txB" fmla="*/ 19 h 19"/>
              </a:gdLst>
              <a:ahLst/>
              <a:cxnLst>
                <a:cxn ang="0">
                  <a:pos x="44" y="19"/>
                </a:cxn>
                <a:cxn ang="0">
                  <a:pos x="19" y="13"/>
                </a:cxn>
                <a:cxn ang="0">
                  <a:pos x="0" y="0"/>
                </a:cxn>
                <a:cxn ang="0">
                  <a:pos x="0" y="0"/>
                </a:cxn>
                <a:cxn ang="0">
                  <a:pos x="19" y="13"/>
                </a:cxn>
                <a:cxn ang="0">
                  <a:pos x="44" y="19"/>
                </a:cxn>
                <a:cxn ang="0">
                  <a:pos x="44" y="19"/>
                </a:cxn>
                <a:cxn ang="0">
                  <a:pos x="44" y="19"/>
                </a:cxn>
                <a:cxn ang="0">
                  <a:pos x="44" y="19"/>
                </a:cxn>
                <a:cxn ang="0">
                  <a:pos x="44" y="19"/>
                </a:cxn>
              </a:cxnLst>
              <a:rect l="txL" t="txT" r="txR" b="txB"/>
              <a:pathLst>
                <a:path w="44" h="19">
                  <a:moveTo>
                    <a:pt x="44" y="19"/>
                  </a:moveTo>
                  <a:lnTo>
                    <a:pt x="19" y="13"/>
                  </a:lnTo>
                  <a:lnTo>
                    <a:pt x="0" y="0"/>
                  </a:lnTo>
                  <a:lnTo>
                    <a:pt x="19" y="13"/>
                  </a:lnTo>
                  <a:lnTo>
                    <a:pt x="44" y="19"/>
                  </a:lnTo>
                  <a:close/>
                  <a:moveTo>
                    <a:pt x="44" y="19"/>
                  </a:moveTo>
                  <a:lnTo>
                    <a:pt x="44"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4" name="Freeform 114"/>
            <p:cNvSpPr>
              <a:spLocks noEditPoints="1"/>
            </p:cNvSpPr>
            <p:nvPr/>
          </p:nvSpPr>
          <p:spPr>
            <a:xfrm>
              <a:off x="4141" y="1247"/>
              <a:ext cx="44" cy="13"/>
            </a:xfrm>
            <a:custGeom>
              <a:avLst/>
              <a:gdLst>
                <a:gd name="txL" fmla="*/ 0 w 44"/>
                <a:gd name="txT" fmla="*/ 0 h 13"/>
                <a:gd name="txR" fmla="*/ 44 w 44"/>
                <a:gd name="txB" fmla="*/ 13 h 13"/>
              </a:gdLst>
              <a:ahLst/>
              <a:cxnLst>
                <a:cxn ang="0">
                  <a:pos x="0" y="13"/>
                </a:cxn>
                <a:cxn ang="0">
                  <a:pos x="19" y="7"/>
                </a:cxn>
                <a:cxn ang="0">
                  <a:pos x="44" y="0"/>
                </a:cxn>
                <a:cxn ang="0">
                  <a:pos x="44" y="0"/>
                </a:cxn>
                <a:cxn ang="0">
                  <a:pos x="19" y="7"/>
                </a:cxn>
                <a:cxn ang="0">
                  <a:pos x="0" y="13"/>
                </a:cxn>
                <a:cxn ang="0">
                  <a:pos x="0" y="13"/>
                </a:cxn>
                <a:cxn ang="0">
                  <a:pos x="0" y="13"/>
                </a:cxn>
                <a:cxn ang="0">
                  <a:pos x="0" y="13"/>
                </a:cxn>
                <a:cxn ang="0">
                  <a:pos x="0" y="13"/>
                </a:cxn>
              </a:cxnLst>
              <a:rect l="txL" t="txT" r="txR" b="txB"/>
              <a:pathLst>
                <a:path w="44" h="13">
                  <a:moveTo>
                    <a:pt x="0" y="13"/>
                  </a:moveTo>
                  <a:lnTo>
                    <a:pt x="19" y="7"/>
                  </a:lnTo>
                  <a:lnTo>
                    <a:pt x="44" y="0"/>
                  </a:lnTo>
                  <a:lnTo>
                    <a:pt x="19" y="7"/>
                  </a:lnTo>
                  <a:lnTo>
                    <a:pt x="0" y="13"/>
                  </a:lnTo>
                  <a:close/>
                  <a:moveTo>
                    <a:pt x="0" y="13"/>
                  </a:moveTo>
                  <a:lnTo>
                    <a:pt x="0"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5" name="Freeform 115"/>
            <p:cNvSpPr>
              <a:spLocks noEditPoints="1"/>
            </p:cNvSpPr>
            <p:nvPr/>
          </p:nvSpPr>
          <p:spPr>
            <a:xfrm>
              <a:off x="4185" y="1247"/>
              <a:ext cx="70" cy="58"/>
            </a:xfrm>
            <a:custGeom>
              <a:avLst/>
              <a:gdLst>
                <a:gd name="txL" fmla="*/ 0 w 70"/>
                <a:gd name="txT" fmla="*/ 0 h 58"/>
                <a:gd name="txR" fmla="*/ 70 w 70"/>
                <a:gd name="txB" fmla="*/ 58 h 58"/>
              </a:gdLst>
              <a:ahLst/>
              <a:cxnLst>
                <a:cxn ang="0">
                  <a:pos x="0" y="0"/>
                </a:cxn>
                <a:cxn ang="0">
                  <a:pos x="26" y="7"/>
                </a:cxn>
                <a:cxn ang="0">
                  <a:pos x="51" y="19"/>
                </a:cxn>
                <a:cxn ang="0">
                  <a:pos x="64" y="38"/>
                </a:cxn>
                <a:cxn ang="0">
                  <a:pos x="70" y="58"/>
                </a:cxn>
                <a:cxn ang="0">
                  <a:pos x="70" y="58"/>
                </a:cxn>
                <a:cxn ang="0">
                  <a:pos x="64" y="38"/>
                </a:cxn>
                <a:cxn ang="0">
                  <a:pos x="51" y="19"/>
                </a:cxn>
                <a:cxn ang="0">
                  <a:pos x="26" y="7"/>
                </a:cxn>
                <a:cxn ang="0">
                  <a:pos x="0" y="0"/>
                </a:cxn>
                <a:cxn ang="0">
                  <a:pos x="0" y="0"/>
                </a:cxn>
                <a:cxn ang="0">
                  <a:pos x="0" y="0"/>
                </a:cxn>
                <a:cxn ang="0">
                  <a:pos x="0" y="0"/>
                </a:cxn>
                <a:cxn ang="0">
                  <a:pos x="0" y="0"/>
                </a:cxn>
              </a:cxnLst>
              <a:rect l="txL" t="txT" r="txR" b="txB"/>
              <a:pathLst>
                <a:path w="70" h="58">
                  <a:moveTo>
                    <a:pt x="0" y="0"/>
                  </a:moveTo>
                  <a:lnTo>
                    <a:pt x="26" y="7"/>
                  </a:lnTo>
                  <a:lnTo>
                    <a:pt x="51" y="19"/>
                  </a:lnTo>
                  <a:lnTo>
                    <a:pt x="64" y="38"/>
                  </a:lnTo>
                  <a:lnTo>
                    <a:pt x="70" y="58"/>
                  </a:lnTo>
                  <a:lnTo>
                    <a:pt x="64" y="38"/>
                  </a:lnTo>
                  <a:lnTo>
                    <a:pt x="51" y="19"/>
                  </a:lnTo>
                  <a:lnTo>
                    <a:pt x="26" y="7"/>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6" name="Freeform 116"/>
            <p:cNvSpPr>
              <a:spLocks noEditPoints="1"/>
            </p:cNvSpPr>
            <p:nvPr/>
          </p:nvSpPr>
          <p:spPr>
            <a:xfrm>
              <a:off x="4185" y="1305"/>
              <a:ext cx="70" cy="57"/>
            </a:xfrm>
            <a:custGeom>
              <a:avLst/>
              <a:gdLst>
                <a:gd name="txL" fmla="*/ 0 w 70"/>
                <a:gd name="txT" fmla="*/ 0 h 57"/>
                <a:gd name="txR" fmla="*/ 70 w 70"/>
                <a:gd name="txB" fmla="*/ 57 h 57"/>
              </a:gdLst>
              <a:ahLst/>
              <a:cxnLst>
                <a:cxn ang="0">
                  <a:pos x="70" y="0"/>
                </a:cxn>
                <a:cxn ang="0">
                  <a:pos x="64" y="25"/>
                </a:cxn>
                <a:cxn ang="0">
                  <a:pos x="51" y="38"/>
                </a:cxn>
                <a:cxn ang="0">
                  <a:pos x="26" y="50"/>
                </a:cxn>
                <a:cxn ang="0">
                  <a:pos x="0" y="57"/>
                </a:cxn>
                <a:cxn ang="0">
                  <a:pos x="0" y="57"/>
                </a:cxn>
                <a:cxn ang="0">
                  <a:pos x="26" y="50"/>
                </a:cxn>
                <a:cxn ang="0">
                  <a:pos x="51" y="38"/>
                </a:cxn>
                <a:cxn ang="0">
                  <a:pos x="64" y="25"/>
                </a:cxn>
                <a:cxn ang="0">
                  <a:pos x="70" y="0"/>
                </a:cxn>
                <a:cxn ang="0">
                  <a:pos x="70" y="0"/>
                </a:cxn>
                <a:cxn ang="0">
                  <a:pos x="70" y="0"/>
                </a:cxn>
                <a:cxn ang="0">
                  <a:pos x="70" y="0"/>
                </a:cxn>
                <a:cxn ang="0">
                  <a:pos x="70" y="0"/>
                </a:cxn>
              </a:cxnLst>
              <a:rect l="txL" t="txT" r="txR" b="txB"/>
              <a:pathLst>
                <a:path w="70" h="57">
                  <a:moveTo>
                    <a:pt x="70" y="0"/>
                  </a:moveTo>
                  <a:lnTo>
                    <a:pt x="64" y="25"/>
                  </a:lnTo>
                  <a:lnTo>
                    <a:pt x="51" y="38"/>
                  </a:lnTo>
                  <a:lnTo>
                    <a:pt x="26" y="50"/>
                  </a:lnTo>
                  <a:lnTo>
                    <a:pt x="0" y="57"/>
                  </a:lnTo>
                  <a:lnTo>
                    <a:pt x="26" y="50"/>
                  </a:lnTo>
                  <a:lnTo>
                    <a:pt x="51" y="38"/>
                  </a:lnTo>
                  <a:lnTo>
                    <a:pt x="64" y="25"/>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7" name="Freeform 117"/>
            <p:cNvSpPr>
              <a:spLocks noEditPoints="1"/>
            </p:cNvSpPr>
            <p:nvPr/>
          </p:nvSpPr>
          <p:spPr>
            <a:xfrm>
              <a:off x="4141" y="1349"/>
              <a:ext cx="44" cy="13"/>
            </a:xfrm>
            <a:custGeom>
              <a:avLst/>
              <a:gdLst>
                <a:gd name="txL" fmla="*/ 0 w 44"/>
                <a:gd name="txT" fmla="*/ 0 h 13"/>
                <a:gd name="txR" fmla="*/ 44 w 44"/>
                <a:gd name="txB" fmla="*/ 13 h 13"/>
              </a:gdLst>
              <a:ahLst/>
              <a:cxnLst>
                <a:cxn ang="0">
                  <a:pos x="44" y="13"/>
                </a:cxn>
                <a:cxn ang="0">
                  <a:pos x="19" y="6"/>
                </a:cxn>
                <a:cxn ang="0">
                  <a:pos x="0" y="0"/>
                </a:cxn>
                <a:cxn ang="0">
                  <a:pos x="0" y="0"/>
                </a:cxn>
                <a:cxn ang="0">
                  <a:pos x="19" y="6"/>
                </a:cxn>
                <a:cxn ang="0">
                  <a:pos x="44" y="13"/>
                </a:cxn>
                <a:cxn ang="0">
                  <a:pos x="44" y="13"/>
                </a:cxn>
                <a:cxn ang="0">
                  <a:pos x="44" y="13"/>
                </a:cxn>
                <a:cxn ang="0">
                  <a:pos x="44" y="13"/>
                </a:cxn>
                <a:cxn ang="0">
                  <a:pos x="44" y="13"/>
                </a:cxn>
              </a:cxnLst>
              <a:rect l="txL" t="txT" r="txR" b="txB"/>
              <a:pathLst>
                <a:path w="44" h="13">
                  <a:moveTo>
                    <a:pt x="44" y="13"/>
                  </a:moveTo>
                  <a:lnTo>
                    <a:pt x="19" y="6"/>
                  </a:lnTo>
                  <a:lnTo>
                    <a:pt x="0" y="0"/>
                  </a:lnTo>
                  <a:lnTo>
                    <a:pt x="19" y="6"/>
                  </a:lnTo>
                  <a:lnTo>
                    <a:pt x="44" y="13"/>
                  </a:lnTo>
                  <a:close/>
                  <a:moveTo>
                    <a:pt x="44" y="13"/>
                  </a:moveTo>
                  <a:lnTo>
                    <a:pt x="44"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8" name="Freeform 118"/>
            <p:cNvSpPr>
              <a:spLocks noEditPoints="1"/>
            </p:cNvSpPr>
            <p:nvPr/>
          </p:nvSpPr>
          <p:spPr>
            <a:xfrm>
              <a:off x="4141" y="1330"/>
              <a:ext cx="44" cy="19"/>
            </a:xfrm>
            <a:custGeom>
              <a:avLst/>
              <a:gdLst>
                <a:gd name="txL" fmla="*/ 0 w 44"/>
                <a:gd name="txT" fmla="*/ 0 h 19"/>
                <a:gd name="txR" fmla="*/ 44 w 44"/>
                <a:gd name="txB" fmla="*/ 19 h 19"/>
              </a:gdLst>
              <a:ahLst/>
              <a:cxnLst>
                <a:cxn ang="0">
                  <a:pos x="0" y="19"/>
                </a:cxn>
                <a:cxn ang="0">
                  <a:pos x="19" y="6"/>
                </a:cxn>
                <a:cxn ang="0">
                  <a:pos x="44" y="0"/>
                </a:cxn>
                <a:cxn ang="0">
                  <a:pos x="44" y="0"/>
                </a:cxn>
                <a:cxn ang="0">
                  <a:pos x="19" y="6"/>
                </a:cxn>
                <a:cxn ang="0">
                  <a:pos x="0" y="19"/>
                </a:cxn>
                <a:cxn ang="0">
                  <a:pos x="0" y="19"/>
                </a:cxn>
                <a:cxn ang="0">
                  <a:pos x="0" y="19"/>
                </a:cxn>
                <a:cxn ang="0">
                  <a:pos x="0" y="19"/>
                </a:cxn>
                <a:cxn ang="0">
                  <a:pos x="0" y="19"/>
                </a:cxn>
              </a:cxnLst>
              <a:rect l="txL" t="txT" r="txR" b="txB"/>
              <a:pathLst>
                <a:path w="44" h="19">
                  <a:moveTo>
                    <a:pt x="0" y="19"/>
                  </a:moveTo>
                  <a:lnTo>
                    <a:pt x="19" y="6"/>
                  </a:lnTo>
                  <a:lnTo>
                    <a:pt x="44" y="0"/>
                  </a:lnTo>
                  <a:lnTo>
                    <a:pt x="19" y="6"/>
                  </a:lnTo>
                  <a:lnTo>
                    <a:pt x="0" y="19"/>
                  </a:lnTo>
                  <a:close/>
                  <a:moveTo>
                    <a:pt x="0" y="19"/>
                  </a:moveTo>
                  <a:lnTo>
                    <a:pt x="0"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19" name="Freeform 119"/>
            <p:cNvSpPr>
              <a:spLocks noEditPoints="1"/>
            </p:cNvSpPr>
            <p:nvPr/>
          </p:nvSpPr>
          <p:spPr>
            <a:xfrm>
              <a:off x="4185" y="1330"/>
              <a:ext cx="70" cy="57"/>
            </a:xfrm>
            <a:custGeom>
              <a:avLst/>
              <a:gdLst>
                <a:gd name="txL" fmla="*/ 0 w 70"/>
                <a:gd name="txT" fmla="*/ 0 h 57"/>
                <a:gd name="txR" fmla="*/ 70 w 70"/>
                <a:gd name="txB" fmla="*/ 57 h 57"/>
              </a:gdLst>
              <a:ahLst/>
              <a:cxnLst>
                <a:cxn ang="0">
                  <a:pos x="0" y="0"/>
                </a:cxn>
                <a:cxn ang="0">
                  <a:pos x="26" y="6"/>
                </a:cxn>
                <a:cxn ang="0">
                  <a:pos x="51" y="19"/>
                </a:cxn>
                <a:cxn ang="0">
                  <a:pos x="64" y="38"/>
                </a:cxn>
                <a:cxn ang="0">
                  <a:pos x="70" y="57"/>
                </a:cxn>
                <a:cxn ang="0">
                  <a:pos x="70" y="57"/>
                </a:cxn>
                <a:cxn ang="0">
                  <a:pos x="64" y="38"/>
                </a:cxn>
                <a:cxn ang="0">
                  <a:pos x="51" y="19"/>
                </a:cxn>
                <a:cxn ang="0">
                  <a:pos x="26" y="6"/>
                </a:cxn>
                <a:cxn ang="0">
                  <a:pos x="0" y="0"/>
                </a:cxn>
                <a:cxn ang="0">
                  <a:pos x="0" y="0"/>
                </a:cxn>
                <a:cxn ang="0">
                  <a:pos x="0" y="0"/>
                </a:cxn>
                <a:cxn ang="0">
                  <a:pos x="0" y="0"/>
                </a:cxn>
                <a:cxn ang="0">
                  <a:pos x="0" y="0"/>
                </a:cxn>
              </a:cxnLst>
              <a:rect l="txL" t="txT" r="txR" b="txB"/>
              <a:pathLst>
                <a:path w="70" h="57">
                  <a:moveTo>
                    <a:pt x="0" y="0"/>
                  </a:moveTo>
                  <a:lnTo>
                    <a:pt x="26" y="6"/>
                  </a:lnTo>
                  <a:lnTo>
                    <a:pt x="51" y="19"/>
                  </a:lnTo>
                  <a:lnTo>
                    <a:pt x="64" y="38"/>
                  </a:lnTo>
                  <a:lnTo>
                    <a:pt x="70" y="57"/>
                  </a:lnTo>
                  <a:lnTo>
                    <a:pt x="64" y="38"/>
                  </a:lnTo>
                  <a:lnTo>
                    <a:pt x="51" y="19"/>
                  </a:lnTo>
                  <a:lnTo>
                    <a:pt x="26"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20" name="Freeform 120"/>
            <p:cNvSpPr>
              <a:spLocks noEditPoints="1"/>
            </p:cNvSpPr>
            <p:nvPr/>
          </p:nvSpPr>
          <p:spPr>
            <a:xfrm>
              <a:off x="4185" y="1387"/>
              <a:ext cx="70" cy="58"/>
            </a:xfrm>
            <a:custGeom>
              <a:avLst/>
              <a:gdLst>
                <a:gd name="txL" fmla="*/ 0 w 70"/>
                <a:gd name="txT" fmla="*/ 0 h 58"/>
                <a:gd name="txR" fmla="*/ 70 w 70"/>
                <a:gd name="txB" fmla="*/ 58 h 58"/>
              </a:gdLst>
              <a:ahLst/>
              <a:cxnLst>
                <a:cxn ang="0">
                  <a:pos x="70" y="0"/>
                </a:cxn>
                <a:cxn ang="0">
                  <a:pos x="64" y="26"/>
                </a:cxn>
                <a:cxn ang="0">
                  <a:pos x="51" y="39"/>
                </a:cxn>
                <a:cxn ang="0">
                  <a:pos x="26" y="51"/>
                </a:cxn>
                <a:cxn ang="0">
                  <a:pos x="0" y="58"/>
                </a:cxn>
                <a:cxn ang="0">
                  <a:pos x="0" y="58"/>
                </a:cxn>
                <a:cxn ang="0">
                  <a:pos x="26" y="51"/>
                </a:cxn>
                <a:cxn ang="0">
                  <a:pos x="51" y="39"/>
                </a:cxn>
                <a:cxn ang="0">
                  <a:pos x="64" y="26"/>
                </a:cxn>
                <a:cxn ang="0">
                  <a:pos x="70" y="0"/>
                </a:cxn>
                <a:cxn ang="0">
                  <a:pos x="70" y="0"/>
                </a:cxn>
                <a:cxn ang="0">
                  <a:pos x="70" y="0"/>
                </a:cxn>
                <a:cxn ang="0">
                  <a:pos x="70" y="0"/>
                </a:cxn>
                <a:cxn ang="0">
                  <a:pos x="70" y="0"/>
                </a:cxn>
              </a:cxnLst>
              <a:rect l="txL" t="txT" r="txR" b="txB"/>
              <a:pathLst>
                <a:path w="70" h="58">
                  <a:moveTo>
                    <a:pt x="70" y="0"/>
                  </a:moveTo>
                  <a:lnTo>
                    <a:pt x="64" y="26"/>
                  </a:lnTo>
                  <a:lnTo>
                    <a:pt x="51" y="39"/>
                  </a:lnTo>
                  <a:lnTo>
                    <a:pt x="26" y="51"/>
                  </a:lnTo>
                  <a:lnTo>
                    <a:pt x="0" y="58"/>
                  </a:lnTo>
                  <a:lnTo>
                    <a:pt x="26" y="51"/>
                  </a:lnTo>
                  <a:lnTo>
                    <a:pt x="51" y="39"/>
                  </a:lnTo>
                  <a:lnTo>
                    <a:pt x="64" y="26"/>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21" name="Freeform 121"/>
            <p:cNvSpPr>
              <a:spLocks noEditPoints="1"/>
            </p:cNvSpPr>
            <p:nvPr/>
          </p:nvSpPr>
          <p:spPr>
            <a:xfrm>
              <a:off x="4185" y="1075"/>
              <a:ext cx="1" cy="370"/>
            </a:xfrm>
            <a:custGeom>
              <a:avLst/>
              <a:gdLst>
                <a:gd name="txL" fmla="*/ 0 w 1"/>
                <a:gd name="txT" fmla="*/ 0 h 370"/>
                <a:gd name="txR" fmla="*/ 1 w 1"/>
                <a:gd name="txB" fmla="*/ 370 h 370"/>
              </a:gdLst>
              <a:ahLst/>
              <a:cxnLst>
                <a:cxn ang="0">
                  <a:pos x="0" y="0"/>
                </a:cxn>
                <a:cxn ang="0">
                  <a:pos x="0" y="0"/>
                </a:cxn>
                <a:cxn ang="0">
                  <a:pos x="0" y="0"/>
                </a:cxn>
                <a:cxn ang="0">
                  <a:pos x="0" y="370"/>
                </a:cxn>
                <a:cxn ang="0">
                  <a:pos x="0" y="370"/>
                </a:cxn>
                <a:cxn ang="0">
                  <a:pos x="0" y="370"/>
                </a:cxn>
              </a:cxnLst>
              <a:rect l="txL" t="txT" r="txR" b="txB"/>
              <a:pathLst>
                <a:path w="1" h="370">
                  <a:moveTo>
                    <a:pt x="0" y="0"/>
                  </a:moveTo>
                  <a:lnTo>
                    <a:pt x="0" y="0"/>
                  </a:lnTo>
                  <a:close/>
                  <a:moveTo>
                    <a:pt x="0" y="370"/>
                  </a:moveTo>
                  <a:lnTo>
                    <a:pt x="0" y="37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922" name="Freeform 122"/>
            <p:cNvSpPr>
              <a:spLocks noEditPoints="1"/>
            </p:cNvSpPr>
            <p:nvPr/>
          </p:nvSpPr>
          <p:spPr>
            <a:xfrm>
              <a:off x="1423" y="298"/>
              <a:ext cx="39" cy="121"/>
            </a:xfrm>
            <a:custGeom>
              <a:avLst/>
              <a:gdLst>
                <a:gd name="txL" fmla="*/ 0 w 39"/>
                <a:gd name="txT" fmla="*/ 0 h 121"/>
                <a:gd name="txR" fmla="*/ 39 w 39"/>
                <a:gd name="txB" fmla="*/ 121 h 121"/>
              </a:gdLst>
              <a:ahLst/>
              <a:cxnLst>
                <a:cxn ang="0">
                  <a:pos x="26" y="96"/>
                </a:cxn>
                <a:cxn ang="0">
                  <a:pos x="20" y="108"/>
                </a:cxn>
                <a:cxn ang="0">
                  <a:pos x="13" y="108"/>
                </a:cxn>
                <a:cxn ang="0">
                  <a:pos x="13" y="108"/>
                </a:cxn>
                <a:cxn ang="0">
                  <a:pos x="13" y="102"/>
                </a:cxn>
                <a:cxn ang="0">
                  <a:pos x="13" y="96"/>
                </a:cxn>
                <a:cxn ang="0">
                  <a:pos x="32" y="38"/>
                </a:cxn>
                <a:cxn ang="0">
                  <a:pos x="32" y="38"/>
                </a:cxn>
                <a:cxn ang="0">
                  <a:pos x="13" y="45"/>
                </a:cxn>
                <a:cxn ang="0">
                  <a:pos x="0" y="45"/>
                </a:cxn>
                <a:cxn ang="0">
                  <a:pos x="0" y="45"/>
                </a:cxn>
                <a:cxn ang="0">
                  <a:pos x="13" y="45"/>
                </a:cxn>
                <a:cxn ang="0">
                  <a:pos x="13" y="51"/>
                </a:cxn>
                <a:cxn ang="0">
                  <a:pos x="13" y="64"/>
                </a:cxn>
                <a:cxn ang="0">
                  <a:pos x="7" y="83"/>
                </a:cxn>
                <a:cxn ang="0">
                  <a:pos x="0" y="96"/>
                </a:cxn>
                <a:cxn ang="0">
                  <a:pos x="0" y="108"/>
                </a:cxn>
                <a:cxn ang="0">
                  <a:pos x="0" y="115"/>
                </a:cxn>
                <a:cxn ang="0">
                  <a:pos x="7" y="121"/>
                </a:cxn>
                <a:cxn ang="0">
                  <a:pos x="20" y="115"/>
                </a:cxn>
                <a:cxn ang="0">
                  <a:pos x="32" y="102"/>
                </a:cxn>
                <a:cxn ang="0">
                  <a:pos x="26" y="96"/>
                </a:cxn>
                <a:cxn ang="0">
                  <a:pos x="39" y="13"/>
                </a:cxn>
                <a:cxn ang="0">
                  <a:pos x="32" y="7"/>
                </a:cxn>
                <a:cxn ang="0">
                  <a:pos x="26" y="0"/>
                </a:cxn>
                <a:cxn ang="0">
                  <a:pos x="26" y="7"/>
                </a:cxn>
                <a:cxn ang="0">
                  <a:pos x="20" y="7"/>
                </a:cxn>
                <a:cxn ang="0">
                  <a:pos x="26" y="13"/>
                </a:cxn>
                <a:cxn ang="0">
                  <a:pos x="26" y="19"/>
                </a:cxn>
                <a:cxn ang="0">
                  <a:pos x="32" y="19"/>
                </a:cxn>
                <a:cxn ang="0">
                  <a:pos x="39" y="13"/>
                </a:cxn>
                <a:cxn ang="0">
                  <a:pos x="39" y="13"/>
                </a:cxn>
              </a:cxnLst>
              <a:rect l="txL" t="txT" r="txR" b="txB"/>
              <a:pathLst>
                <a:path w="39" h="121">
                  <a:moveTo>
                    <a:pt x="26" y="96"/>
                  </a:moveTo>
                  <a:lnTo>
                    <a:pt x="20" y="108"/>
                  </a:lnTo>
                  <a:lnTo>
                    <a:pt x="13" y="108"/>
                  </a:lnTo>
                  <a:lnTo>
                    <a:pt x="13" y="102"/>
                  </a:lnTo>
                  <a:lnTo>
                    <a:pt x="13" y="96"/>
                  </a:lnTo>
                  <a:lnTo>
                    <a:pt x="32" y="38"/>
                  </a:lnTo>
                  <a:lnTo>
                    <a:pt x="13" y="45"/>
                  </a:lnTo>
                  <a:lnTo>
                    <a:pt x="0" y="45"/>
                  </a:lnTo>
                  <a:lnTo>
                    <a:pt x="13" y="45"/>
                  </a:lnTo>
                  <a:lnTo>
                    <a:pt x="13" y="51"/>
                  </a:lnTo>
                  <a:lnTo>
                    <a:pt x="13" y="64"/>
                  </a:lnTo>
                  <a:lnTo>
                    <a:pt x="7" y="83"/>
                  </a:lnTo>
                  <a:lnTo>
                    <a:pt x="0" y="96"/>
                  </a:lnTo>
                  <a:lnTo>
                    <a:pt x="0" y="108"/>
                  </a:lnTo>
                  <a:lnTo>
                    <a:pt x="0" y="115"/>
                  </a:lnTo>
                  <a:lnTo>
                    <a:pt x="7" y="121"/>
                  </a:lnTo>
                  <a:lnTo>
                    <a:pt x="20" y="115"/>
                  </a:lnTo>
                  <a:lnTo>
                    <a:pt x="32" y="102"/>
                  </a:lnTo>
                  <a:lnTo>
                    <a:pt x="26" y="96"/>
                  </a:lnTo>
                  <a:close/>
                  <a:moveTo>
                    <a:pt x="39" y="13"/>
                  </a:moveTo>
                  <a:lnTo>
                    <a:pt x="32" y="7"/>
                  </a:lnTo>
                  <a:lnTo>
                    <a:pt x="26" y="0"/>
                  </a:lnTo>
                  <a:lnTo>
                    <a:pt x="26" y="7"/>
                  </a:lnTo>
                  <a:lnTo>
                    <a:pt x="20" y="7"/>
                  </a:lnTo>
                  <a:lnTo>
                    <a:pt x="26" y="13"/>
                  </a:lnTo>
                  <a:lnTo>
                    <a:pt x="26" y="19"/>
                  </a:lnTo>
                  <a:lnTo>
                    <a:pt x="32" y="19"/>
                  </a:lnTo>
                  <a:lnTo>
                    <a:pt x="39" y="1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74755" name="Group 123"/>
          <p:cNvGrpSpPr/>
          <p:nvPr/>
        </p:nvGrpSpPr>
        <p:grpSpPr>
          <a:xfrm>
            <a:off x="5500688" y="642938"/>
            <a:ext cx="3071812" cy="2500312"/>
            <a:chOff x="1940" y="2273"/>
            <a:chExt cx="1754" cy="1770"/>
          </a:xfrm>
        </p:grpSpPr>
        <p:sp>
          <p:nvSpPr>
            <p:cNvPr id="74760" name="Freeform 124"/>
            <p:cNvSpPr/>
            <p:nvPr/>
          </p:nvSpPr>
          <p:spPr>
            <a:xfrm>
              <a:off x="2004" y="3502"/>
              <a:ext cx="1295" cy="1"/>
            </a:xfrm>
            <a:custGeom>
              <a:avLst/>
              <a:gdLst>
                <a:gd name="txL" fmla="*/ 0 w 1295"/>
                <a:gd name="txT" fmla="*/ 0 h 1"/>
                <a:gd name="txR" fmla="*/ 1295 w 1295"/>
                <a:gd name="txB" fmla="*/ 1 h 1"/>
              </a:gdLst>
              <a:ahLst/>
              <a:cxnLst>
                <a:cxn ang="0">
                  <a:pos x="0" y="0"/>
                </a:cxn>
                <a:cxn ang="0">
                  <a:pos x="1295" y="0"/>
                </a:cxn>
                <a:cxn ang="0">
                  <a:pos x="0" y="0"/>
                </a:cxn>
                <a:cxn ang="0">
                  <a:pos x="0" y="0"/>
                </a:cxn>
              </a:cxnLst>
              <a:rect l="txL" t="txT" r="txR" b="txB"/>
              <a:pathLst>
                <a:path w="1295" h="1">
                  <a:moveTo>
                    <a:pt x="0" y="0"/>
                  </a:moveTo>
                  <a:lnTo>
                    <a:pt x="1295" y="0"/>
                  </a:ln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61" name="Freeform 125"/>
            <p:cNvSpPr>
              <a:spLocks noEditPoints="1"/>
            </p:cNvSpPr>
            <p:nvPr/>
          </p:nvSpPr>
          <p:spPr>
            <a:xfrm>
              <a:off x="3299" y="2597"/>
              <a:ext cx="1" cy="905"/>
            </a:xfrm>
            <a:custGeom>
              <a:avLst/>
              <a:gdLst>
                <a:gd name="txL" fmla="*/ 0 w 1"/>
                <a:gd name="txT" fmla="*/ 0 h 905"/>
                <a:gd name="txR" fmla="*/ 1 w 1"/>
                <a:gd name="txB" fmla="*/ 905 h 905"/>
              </a:gdLst>
              <a:ahLst/>
              <a:cxnLst>
                <a:cxn ang="0">
                  <a:pos x="0" y="905"/>
                </a:cxn>
                <a:cxn ang="0">
                  <a:pos x="0" y="0"/>
                </a:cxn>
                <a:cxn ang="0">
                  <a:pos x="0" y="905"/>
                </a:cxn>
                <a:cxn ang="0">
                  <a:pos x="0" y="905"/>
                </a:cxn>
                <a:cxn ang="0">
                  <a:pos x="0" y="905"/>
                </a:cxn>
                <a:cxn ang="0">
                  <a:pos x="0" y="905"/>
                </a:cxn>
                <a:cxn ang="0">
                  <a:pos x="0" y="905"/>
                </a:cxn>
              </a:cxnLst>
              <a:rect l="txL" t="txT" r="txR" b="txB"/>
              <a:pathLst>
                <a:path w="1" h="905">
                  <a:moveTo>
                    <a:pt x="0" y="905"/>
                  </a:moveTo>
                  <a:lnTo>
                    <a:pt x="0" y="0"/>
                  </a:lnTo>
                  <a:lnTo>
                    <a:pt x="0" y="905"/>
                  </a:lnTo>
                  <a:close/>
                  <a:moveTo>
                    <a:pt x="0" y="905"/>
                  </a:moveTo>
                  <a:lnTo>
                    <a:pt x="0" y="90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62" name="Freeform 126"/>
            <p:cNvSpPr>
              <a:spLocks noEditPoints="1"/>
            </p:cNvSpPr>
            <p:nvPr/>
          </p:nvSpPr>
          <p:spPr>
            <a:xfrm>
              <a:off x="2004" y="2597"/>
              <a:ext cx="1295" cy="1"/>
            </a:xfrm>
            <a:custGeom>
              <a:avLst/>
              <a:gdLst>
                <a:gd name="txL" fmla="*/ 0 w 1295"/>
                <a:gd name="txT" fmla="*/ 0 h 1"/>
                <a:gd name="txR" fmla="*/ 1295 w 1295"/>
                <a:gd name="txB" fmla="*/ 1 h 1"/>
              </a:gdLst>
              <a:ahLst/>
              <a:cxnLst>
                <a:cxn ang="0">
                  <a:pos x="1295" y="0"/>
                </a:cxn>
                <a:cxn ang="0">
                  <a:pos x="0" y="0"/>
                </a:cxn>
                <a:cxn ang="0">
                  <a:pos x="1295" y="0"/>
                </a:cxn>
                <a:cxn ang="0">
                  <a:pos x="1295" y="0"/>
                </a:cxn>
                <a:cxn ang="0">
                  <a:pos x="1295" y="0"/>
                </a:cxn>
                <a:cxn ang="0">
                  <a:pos x="1295" y="0"/>
                </a:cxn>
                <a:cxn ang="0">
                  <a:pos x="1295" y="0"/>
                </a:cxn>
              </a:cxnLst>
              <a:rect l="txL" t="txT" r="txR" b="txB"/>
              <a:pathLst>
                <a:path w="1295" h="1">
                  <a:moveTo>
                    <a:pt x="1295" y="0"/>
                  </a:moveTo>
                  <a:lnTo>
                    <a:pt x="0" y="0"/>
                  </a:lnTo>
                  <a:lnTo>
                    <a:pt x="1295" y="0"/>
                  </a:lnTo>
                  <a:close/>
                  <a:moveTo>
                    <a:pt x="1295" y="0"/>
                  </a:moveTo>
                  <a:lnTo>
                    <a:pt x="1295"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63" name="Freeform 127"/>
            <p:cNvSpPr/>
            <p:nvPr/>
          </p:nvSpPr>
          <p:spPr>
            <a:xfrm>
              <a:off x="2527" y="3890"/>
              <a:ext cx="45" cy="153"/>
            </a:xfrm>
            <a:custGeom>
              <a:avLst/>
              <a:gdLst>
                <a:gd name="txL" fmla="*/ 0 w 45"/>
                <a:gd name="txT" fmla="*/ 0 h 153"/>
                <a:gd name="txR" fmla="*/ 45 w 45"/>
                <a:gd name="txB" fmla="*/ 153 h 153"/>
              </a:gdLst>
              <a:ahLst/>
              <a:cxnLst>
                <a:cxn ang="0">
                  <a:pos x="38" y="0"/>
                </a:cxn>
                <a:cxn ang="0">
                  <a:pos x="19" y="13"/>
                </a:cxn>
                <a:cxn ang="0">
                  <a:pos x="13" y="32"/>
                </a:cxn>
                <a:cxn ang="0">
                  <a:pos x="0" y="70"/>
                </a:cxn>
                <a:cxn ang="0">
                  <a:pos x="6" y="102"/>
                </a:cxn>
                <a:cxn ang="0">
                  <a:pos x="13" y="121"/>
                </a:cxn>
                <a:cxn ang="0">
                  <a:pos x="25" y="141"/>
                </a:cxn>
                <a:cxn ang="0">
                  <a:pos x="38" y="153"/>
                </a:cxn>
                <a:cxn ang="0">
                  <a:pos x="45" y="147"/>
                </a:cxn>
                <a:cxn ang="0">
                  <a:pos x="25" y="128"/>
                </a:cxn>
                <a:cxn ang="0">
                  <a:pos x="19" y="109"/>
                </a:cxn>
                <a:cxn ang="0">
                  <a:pos x="13" y="90"/>
                </a:cxn>
                <a:cxn ang="0">
                  <a:pos x="13" y="70"/>
                </a:cxn>
                <a:cxn ang="0">
                  <a:pos x="19" y="45"/>
                </a:cxn>
                <a:cxn ang="0">
                  <a:pos x="25" y="26"/>
                </a:cxn>
                <a:cxn ang="0">
                  <a:pos x="45" y="0"/>
                </a:cxn>
                <a:cxn ang="0">
                  <a:pos x="38" y="0"/>
                </a:cxn>
              </a:cxnLst>
              <a:rect l="txL" t="txT" r="txR" b="txB"/>
              <a:pathLst>
                <a:path w="45" h="153">
                  <a:moveTo>
                    <a:pt x="38" y="0"/>
                  </a:moveTo>
                  <a:lnTo>
                    <a:pt x="19" y="13"/>
                  </a:lnTo>
                  <a:lnTo>
                    <a:pt x="13" y="32"/>
                  </a:lnTo>
                  <a:lnTo>
                    <a:pt x="0" y="70"/>
                  </a:lnTo>
                  <a:lnTo>
                    <a:pt x="6" y="102"/>
                  </a:lnTo>
                  <a:lnTo>
                    <a:pt x="13" y="121"/>
                  </a:lnTo>
                  <a:lnTo>
                    <a:pt x="25" y="141"/>
                  </a:lnTo>
                  <a:lnTo>
                    <a:pt x="38" y="153"/>
                  </a:lnTo>
                  <a:lnTo>
                    <a:pt x="45" y="147"/>
                  </a:lnTo>
                  <a:lnTo>
                    <a:pt x="25" y="128"/>
                  </a:lnTo>
                  <a:lnTo>
                    <a:pt x="19" y="109"/>
                  </a:lnTo>
                  <a:lnTo>
                    <a:pt x="13" y="90"/>
                  </a:lnTo>
                  <a:lnTo>
                    <a:pt x="13" y="70"/>
                  </a:lnTo>
                  <a:lnTo>
                    <a:pt x="19" y="45"/>
                  </a:lnTo>
                  <a:lnTo>
                    <a:pt x="25" y="26"/>
                  </a:lnTo>
                  <a:lnTo>
                    <a:pt x="45" y="0"/>
                  </a:lnTo>
                  <a:lnTo>
                    <a:pt x="3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64" name="Freeform 128"/>
            <p:cNvSpPr>
              <a:spLocks noEditPoints="1"/>
            </p:cNvSpPr>
            <p:nvPr/>
          </p:nvSpPr>
          <p:spPr>
            <a:xfrm>
              <a:off x="2572" y="3884"/>
              <a:ext cx="82" cy="127"/>
            </a:xfrm>
            <a:custGeom>
              <a:avLst/>
              <a:gdLst>
                <a:gd name="txL" fmla="*/ 0 w 82"/>
                <a:gd name="txT" fmla="*/ 0 h 127"/>
                <a:gd name="txR" fmla="*/ 82 w 82"/>
                <a:gd name="txB" fmla="*/ 127 h 127"/>
              </a:gdLst>
              <a:ahLst/>
              <a:cxnLst>
                <a:cxn ang="0">
                  <a:pos x="31" y="70"/>
                </a:cxn>
                <a:cxn ang="0">
                  <a:pos x="38" y="57"/>
                </a:cxn>
                <a:cxn ang="0">
                  <a:pos x="44" y="57"/>
                </a:cxn>
                <a:cxn ang="0">
                  <a:pos x="63" y="64"/>
                </a:cxn>
                <a:cxn ang="0">
                  <a:pos x="70" y="89"/>
                </a:cxn>
                <a:cxn ang="0">
                  <a:pos x="63" y="108"/>
                </a:cxn>
                <a:cxn ang="0">
                  <a:pos x="57" y="121"/>
                </a:cxn>
                <a:cxn ang="0">
                  <a:pos x="44" y="121"/>
                </a:cxn>
                <a:cxn ang="0">
                  <a:pos x="38" y="121"/>
                </a:cxn>
                <a:cxn ang="0">
                  <a:pos x="31" y="115"/>
                </a:cxn>
                <a:cxn ang="0">
                  <a:pos x="31" y="70"/>
                </a:cxn>
                <a:cxn ang="0">
                  <a:pos x="12" y="115"/>
                </a:cxn>
                <a:cxn ang="0">
                  <a:pos x="19" y="121"/>
                </a:cxn>
                <a:cxn ang="0">
                  <a:pos x="25" y="121"/>
                </a:cxn>
                <a:cxn ang="0">
                  <a:pos x="38" y="127"/>
                </a:cxn>
                <a:cxn ang="0">
                  <a:pos x="57" y="121"/>
                </a:cxn>
                <a:cxn ang="0">
                  <a:pos x="70" y="115"/>
                </a:cxn>
                <a:cxn ang="0">
                  <a:pos x="82" y="83"/>
                </a:cxn>
                <a:cxn ang="0">
                  <a:pos x="76" y="57"/>
                </a:cxn>
                <a:cxn ang="0">
                  <a:pos x="63" y="51"/>
                </a:cxn>
                <a:cxn ang="0">
                  <a:pos x="51" y="45"/>
                </a:cxn>
                <a:cxn ang="0">
                  <a:pos x="38" y="51"/>
                </a:cxn>
                <a:cxn ang="0">
                  <a:pos x="31" y="57"/>
                </a:cxn>
                <a:cxn ang="0">
                  <a:pos x="31" y="57"/>
                </a:cxn>
                <a:cxn ang="0">
                  <a:pos x="31" y="6"/>
                </a:cxn>
                <a:cxn ang="0">
                  <a:pos x="25" y="0"/>
                </a:cxn>
                <a:cxn ang="0">
                  <a:pos x="12" y="6"/>
                </a:cxn>
                <a:cxn ang="0">
                  <a:pos x="0" y="13"/>
                </a:cxn>
                <a:cxn ang="0">
                  <a:pos x="0" y="13"/>
                </a:cxn>
                <a:cxn ang="0">
                  <a:pos x="6" y="13"/>
                </a:cxn>
                <a:cxn ang="0">
                  <a:pos x="6" y="13"/>
                </a:cxn>
                <a:cxn ang="0">
                  <a:pos x="12" y="19"/>
                </a:cxn>
                <a:cxn ang="0">
                  <a:pos x="12" y="26"/>
                </a:cxn>
                <a:cxn ang="0">
                  <a:pos x="12" y="115"/>
                </a:cxn>
              </a:cxnLst>
              <a:rect l="txL" t="txT" r="txR" b="txB"/>
              <a:pathLst>
                <a:path w="82" h="127">
                  <a:moveTo>
                    <a:pt x="31" y="70"/>
                  </a:moveTo>
                  <a:lnTo>
                    <a:pt x="38" y="57"/>
                  </a:lnTo>
                  <a:lnTo>
                    <a:pt x="44" y="57"/>
                  </a:lnTo>
                  <a:lnTo>
                    <a:pt x="63" y="64"/>
                  </a:lnTo>
                  <a:lnTo>
                    <a:pt x="70" y="89"/>
                  </a:lnTo>
                  <a:lnTo>
                    <a:pt x="63" y="108"/>
                  </a:lnTo>
                  <a:lnTo>
                    <a:pt x="57" y="121"/>
                  </a:lnTo>
                  <a:lnTo>
                    <a:pt x="44" y="121"/>
                  </a:lnTo>
                  <a:lnTo>
                    <a:pt x="38" y="121"/>
                  </a:lnTo>
                  <a:lnTo>
                    <a:pt x="31" y="115"/>
                  </a:lnTo>
                  <a:lnTo>
                    <a:pt x="31" y="70"/>
                  </a:lnTo>
                  <a:close/>
                  <a:moveTo>
                    <a:pt x="12" y="115"/>
                  </a:moveTo>
                  <a:lnTo>
                    <a:pt x="19" y="121"/>
                  </a:lnTo>
                  <a:lnTo>
                    <a:pt x="25" y="121"/>
                  </a:lnTo>
                  <a:lnTo>
                    <a:pt x="38" y="127"/>
                  </a:lnTo>
                  <a:lnTo>
                    <a:pt x="57" y="121"/>
                  </a:lnTo>
                  <a:lnTo>
                    <a:pt x="70" y="115"/>
                  </a:lnTo>
                  <a:lnTo>
                    <a:pt x="82" y="83"/>
                  </a:lnTo>
                  <a:lnTo>
                    <a:pt x="76" y="57"/>
                  </a:lnTo>
                  <a:lnTo>
                    <a:pt x="63" y="51"/>
                  </a:lnTo>
                  <a:lnTo>
                    <a:pt x="51" y="45"/>
                  </a:lnTo>
                  <a:lnTo>
                    <a:pt x="38" y="51"/>
                  </a:lnTo>
                  <a:lnTo>
                    <a:pt x="31" y="57"/>
                  </a:lnTo>
                  <a:lnTo>
                    <a:pt x="31" y="6"/>
                  </a:lnTo>
                  <a:lnTo>
                    <a:pt x="25" y="0"/>
                  </a:lnTo>
                  <a:lnTo>
                    <a:pt x="12" y="6"/>
                  </a:lnTo>
                  <a:lnTo>
                    <a:pt x="0" y="13"/>
                  </a:lnTo>
                  <a:lnTo>
                    <a:pt x="6" y="13"/>
                  </a:lnTo>
                  <a:lnTo>
                    <a:pt x="12" y="19"/>
                  </a:lnTo>
                  <a:lnTo>
                    <a:pt x="12" y="26"/>
                  </a:lnTo>
                  <a:lnTo>
                    <a:pt x="12" y="11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65" name="Freeform 129"/>
            <p:cNvSpPr/>
            <p:nvPr/>
          </p:nvSpPr>
          <p:spPr>
            <a:xfrm>
              <a:off x="2667" y="3890"/>
              <a:ext cx="45" cy="153"/>
            </a:xfrm>
            <a:custGeom>
              <a:avLst/>
              <a:gdLst>
                <a:gd name="txL" fmla="*/ 0 w 45"/>
                <a:gd name="txT" fmla="*/ 0 h 153"/>
                <a:gd name="txR" fmla="*/ 45 w 45"/>
                <a:gd name="txB" fmla="*/ 153 h 153"/>
              </a:gdLst>
              <a:ahLst/>
              <a:cxnLst>
                <a:cxn ang="0">
                  <a:pos x="0" y="153"/>
                </a:cxn>
                <a:cxn ang="0">
                  <a:pos x="32" y="121"/>
                </a:cxn>
                <a:cxn ang="0">
                  <a:pos x="45" y="102"/>
                </a:cxn>
                <a:cxn ang="0">
                  <a:pos x="45" y="77"/>
                </a:cxn>
                <a:cxn ang="0">
                  <a:pos x="38" y="45"/>
                </a:cxn>
                <a:cxn ang="0">
                  <a:pos x="26" y="26"/>
                </a:cxn>
                <a:cxn ang="0">
                  <a:pos x="13" y="13"/>
                </a:cxn>
                <a:cxn ang="0">
                  <a:pos x="0" y="0"/>
                </a:cxn>
                <a:cxn ang="0">
                  <a:pos x="0" y="0"/>
                </a:cxn>
                <a:cxn ang="0">
                  <a:pos x="13" y="20"/>
                </a:cxn>
                <a:cxn ang="0">
                  <a:pos x="26" y="39"/>
                </a:cxn>
                <a:cxn ang="0">
                  <a:pos x="26" y="58"/>
                </a:cxn>
                <a:cxn ang="0">
                  <a:pos x="26" y="77"/>
                </a:cxn>
                <a:cxn ang="0">
                  <a:pos x="26" y="109"/>
                </a:cxn>
                <a:cxn ang="0">
                  <a:pos x="19" y="128"/>
                </a:cxn>
                <a:cxn ang="0">
                  <a:pos x="13" y="141"/>
                </a:cxn>
                <a:cxn ang="0">
                  <a:pos x="0" y="147"/>
                </a:cxn>
                <a:cxn ang="0">
                  <a:pos x="0" y="153"/>
                </a:cxn>
              </a:cxnLst>
              <a:rect l="txL" t="txT" r="txR" b="txB"/>
              <a:pathLst>
                <a:path w="45" h="153">
                  <a:moveTo>
                    <a:pt x="0" y="153"/>
                  </a:moveTo>
                  <a:lnTo>
                    <a:pt x="32" y="121"/>
                  </a:lnTo>
                  <a:lnTo>
                    <a:pt x="45" y="102"/>
                  </a:lnTo>
                  <a:lnTo>
                    <a:pt x="45" y="77"/>
                  </a:lnTo>
                  <a:lnTo>
                    <a:pt x="38" y="45"/>
                  </a:lnTo>
                  <a:lnTo>
                    <a:pt x="26" y="26"/>
                  </a:lnTo>
                  <a:lnTo>
                    <a:pt x="13" y="13"/>
                  </a:lnTo>
                  <a:lnTo>
                    <a:pt x="0" y="0"/>
                  </a:lnTo>
                  <a:lnTo>
                    <a:pt x="13" y="20"/>
                  </a:lnTo>
                  <a:lnTo>
                    <a:pt x="26" y="39"/>
                  </a:lnTo>
                  <a:lnTo>
                    <a:pt x="26" y="58"/>
                  </a:lnTo>
                  <a:lnTo>
                    <a:pt x="26" y="77"/>
                  </a:lnTo>
                  <a:lnTo>
                    <a:pt x="26" y="109"/>
                  </a:lnTo>
                  <a:lnTo>
                    <a:pt x="19" y="128"/>
                  </a:lnTo>
                  <a:lnTo>
                    <a:pt x="13" y="141"/>
                  </a:lnTo>
                  <a:lnTo>
                    <a:pt x="0" y="147"/>
                  </a:lnTo>
                  <a:lnTo>
                    <a:pt x="0" y="153"/>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66" name="Freeform 130"/>
            <p:cNvSpPr/>
            <p:nvPr/>
          </p:nvSpPr>
          <p:spPr>
            <a:xfrm>
              <a:off x="3458" y="2980"/>
              <a:ext cx="96" cy="114"/>
            </a:xfrm>
            <a:custGeom>
              <a:avLst/>
              <a:gdLst>
                <a:gd name="txL" fmla="*/ 0 w 96"/>
                <a:gd name="txT" fmla="*/ 0 h 114"/>
                <a:gd name="txR" fmla="*/ 96 w 96"/>
                <a:gd name="txB" fmla="*/ 114 h 114"/>
              </a:gdLst>
              <a:ahLst/>
              <a:cxnLst>
                <a:cxn ang="0">
                  <a:pos x="70" y="0"/>
                </a:cxn>
                <a:cxn ang="0">
                  <a:pos x="26" y="0"/>
                </a:cxn>
                <a:cxn ang="0">
                  <a:pos x="26" y="0"/>
                </a:cxn>
                <a:cxn ang="0">
                  <a:pos x="32" y="0"/>
                </a:cxn>
                <a:cxn ang="0">
                  <a:pos x="38" y="6"/>
                </a:cxn>
                <a:cxn ang="0">
                  <a:pos x="38" y="12"/>
                </a:cxn>
                <a:cxn ang="0">
                  <a:pos x="32" y="19"/>
                </a:cxn>
                <a:cxn ang="0">
                  <a:pos x="13" y="102"/>
                </a:cxn>
                <a:cxn ang="0">
                  <a:pos x="6" y="108"/>
                </a:cxn>
                <a:cxn ang="0">
                  <a:pos x="0" y="114"/>
                </a:cxn>
                <a:cxn ang="0">
                  <a:pos x="0" y="114"/>
                </a:cxn>
                <a:cxn ang="0">
                  <a:pos x="89" y="114"/>
                </a:cxn>
                <a:cxn ang="0">
                  <a:pos x="96" y="82"/>
                </a:cxn>
                <a:cxn ang="0">
                  <a:pos x="96" y="82"/>
                </a:cxn>
                <a:cxn ang="0">
                  <a:pos x="89" y="95"/>
                </a:cxn>
                <a:cxn ang="0">
                  <a:pos x="77" y="108"/>
                </a:cxn>
                <a:cxn ang="0">
                  <a:pos x="45" y="108"/>
                </a:cxn>
                <a:cxn ang="0">
                  <a:pos x="32" y="108"/>
                </a:cxn>
                <a:cxn ang="0">
                  <a:pos x="32" y="108"/>
                </a:cxn>
                <a:cxn ang="0">
                  <a:pos x="32" y="102"/>
                </a:cxn>
                <a:cxn ang="0">
                  <a:pos x="32" y="95"/>
                </a:cxn>
                <a:cxn ang="0">
                  <a:pos x="51" y="12"/>
                </a:cxn>
                <a:cxn ang="0">
                  <a:pos x="64" y="0"/>
                </a:cxn>
                <a:cxn ang="0">
                  <a:pos x="70" y="0"/>
                </a:cxn>
                <a:cxn ang="0">
                  <a:pos x="70" y="0"/>
                </a:cxn>
              </a:cxnLst>
              <a:rect l="txL" t="txT" r="txR" b="txB"/>
              <a:pathLst>
                <a:path w="96" h="114">
                  <a:moveTo>
                    <a:pt x="70" y="0"/>
                  </a:moveTo>
                  <a:lnTo>
                    <a:pt x="26" y="0"/>
                  </a:lnTo>
                  <a:lnTo>
                    <a:pt x="32" y="0"/>
                  </a:lnTo>
                  <a:lnTo>
                    <a:pt x="38" y="6"/>
                  </a:lnTo>
                  <a:lnTo>
                    <a:pt x="38" y="12"/>
                  </a:lnTo>
                  <a:lnTo>
                    <a:pt x="32" y="19"/>
                  </a:lnTo>
                  <a:lnTo>
                    <a:pt x="13" y="102"/>
                  </a:lnTo>
                  <a:lnTo>
                    <a:pt x="6" y="108"/>
                  </a:lnTo>
                  <a:lnTo>
                    <a:pt x="0" y="114"/>
                  </a:lnTo>
                  <a:lnTo>
                    <a:pt x="89" y="114"/>
                  </a:lnTo>
                  <a:lnTo>
                    <a:pt x="96" y="82"/>
                  </a:lnTo>
                  <a:lnTo>
                    <a:pt x="89" y="95"/>
                  </a:lnTo>
                  <a:lnTo>
                    <a:pt x="77" y="108"/>
                  </a:lnTo>
                  <a:lnTo>
                    <a:pt x="45" y="108"/>
                  </a:lnTo>
                  <a:lnTo>
                    <a:pt x="32" y="108"/>
                  </a:lnTo>
                  <a:lnTo>
                    <a:pt x="32" y="102"/>
                  </a:lnTo>
                  <a:lnTo>
                    <a:pt x="32" y="95"/>
                  </a:lnTo>
                  <a:lnTo>
                    <a:pt x="51" y="12"/>
                  </a:lnTo>
                  <a:lnTo>
                    <a:pt x="64" y="0"/>
                  </a:lnTo>
                  <a:lnTo>
                    <a:pt x="7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67" name="Freeform 131"/>
            <p:cNvSpPr>
              <a:spLocks noEditPoints="1"/>
            </p:cNvSpPr>
            <p:nvPr/>
          </p:nvSpPr>
          <p:spPr>
            <a:xfrm>
              <a:off x="3573" y="3075"/>
              <a:ext cx="51" cy="64"/>
            </a:xfrm>
            <a:custGeom>
              <a:avLst/>
              <a:gdLst>
                <a:gd name="txL" fmla="*/ 0 w 51"/>
                <a:gd name="txT" fmla="*/ 0 h 64"/>
                <a:gd name="txR" fmla="*/ 51 w 51"/>
                <a:gd name="txB" fmla="*/ 64 h 64"/>
              </a:gdLst>
              <a:ahLst/>
              <a:cxnLst>
                <a:cxn ang="0">
                  <a:pos x="45" y="45"/>
                </a:cxn>
                <a:cxn ang="0">
                  <a:pos x="38" y="51"/>
                </a:cxn>
                <a:cxn ang="0">
                  <a:pos x="25" y="57"/>
                </a:cxn>
                <a:cxn ang="0">
                  <a:pos x="13" y="51"/>
                </a:cxn>
                <a:cxn ang="0">
                  <a:pos x="6" y="45"/>
                </a:cxn>
                <a:cxn ang="0">
                  <a:pos x="6" y="26"/>
                </a:cxn>
                <a:cxn ang="0">
                  <a:pos x="45" y="26"/>
                </a:cxn>
                <a:cxn ang="0">
                  <a:pos x="38" y="7"/>
                </a:cxn>
                <a:cxn ang="0">
                  <a:pos x="25" y="0"/>
                </a:cxn>
                <a:cxn ang="0">
                  <a:pos x="6" y="13"/>
                </a:cxn>
                <a:cxn ang="0">
                  <a:pos x="0" y="38"/>
                </a:cxn>
                <a:cxn ang="0">
                  <a:pos x="6" y="57"/>
                </a:cxn>
                <a:cxn ang="0">
                  <a:pos x="19" y="64"/>
                </a:cxn>
                <a:cxn ang="0">
                  <a:pos x="32" y="64"/>
                </a:cxn>
                <a:cxn ang="0">
                  <a:pos x="45" y="57"/>
                </a:cxn>
                <a:cxn ang="0">
                  <a:pos x="51" y="51"/>
                </a:cxn>
                <a:cxn ang="0">
                  <a:pos x="51" y="45"/>
                </a:cxn>
                <a:cxn ang="0">
                  <a:pos x="45" y="45"/>
                </a:cxn>
                <a:cxn ang="0">
                  <a:pos x="6" y="26"/>
                </a:cxn>
                <a:cxn ang="0">
                  <a:pos x="13" y="13"/>
                </a:cxn>
                <a:cxn ang="0">
                  <a:pos x="19" y="7"/>
                </a:cxn>
                <a:cxn ang="0">
                  <a:pos x="32" y="13"/>
                </a:cxn>
                <a:cxn ang="0">
                  <a:pos x="32" y="26"/>
                </a:cxn>
                <a:cxn ang="0">
                  <a:pos x="6" y="26"/>
                </a:cxn>
              </a:cxnLst>
              <a:rect l="txL" t="txT" r="txR" b="txB"/>
              <a:pathLst>
                <a:path w="51" h="64">
                  <a:moveTo>
                    <a:pt x="45" y="45"/>
                  </a:moveTo>
                  <a:lnTo>
                    <a:pt x="38" y="51"/>
                  </a:lnTo>
                  <a:lnTo>
                    <a:pt x="25" y="57"/>
                  </a:lnTo>
                  <a:lnTo>
                    <a:pt x="13" y="51"/>
                  </a:lnTo>
                  <a:lnTo>
                    <a:pt x="6" y="45"/>
                  </a:lnTo>
                  <a:lnTo>
                    <a:pt x="6" y="26"/>
                  </a:lnTo>
                  <a:lnTo>
                    <a:pt x="45" y="26"/>
                  </a:lnTo>
                  <a:lnTo>
                    <a:pt x="38" y="7"/>
                  </a:lnTo>
                  <a:lnTo>
                    <a:pt x="25" y="0"/>
                  </a:lnTo>
                  <a:lnTo>
                    <a:pt x="6" y="13"/>
                  </a:lnTo>
                  <a:lnTo>
                    <a:pt x="0" y="38"/>
                  </a:lnTo>
                  <a:lnTo>
                    <a:pt x="6" y="57"/>
                  </a:lnTo>
                  <a:lnTo>
                    <a:pt x="19" y="64"/>
                  </a:lnTo>
                  <a:lnTo>
                    <a:pt x="32" y="64"/>
                  </a:lnTo>
                  <a:lnTo>
                    <a:pt x="45" y="57"/>
                  </a:lnTo>
                  <a:lnTo>
                    <a:pt x="51" y="51"/>
                  </a:lnTo>
                  <a:lnTo>
                    <a:pt x="51" y="45"/>
                  </a:lnTo>
                  <a:lnTo>
                    <a:pt x="45" y="45"/>
                  </a:lnTo>
                  <a:close/>
                  <a:moveTo>
                    <a:pt x="6" y="26"/>
                  </a:moveTo>
                  <a:lnTo>
                    <a:pt x="13" y="13"/>
                  </a:lnTo>
                  <a:lnTo>
                    <a:pt x="19" y="7"/>
                  </a:lnTo>
                  <a:lnTo>
                    <a:pt x="32" y="13"/>
                  </a:lnTo>
                  <a:lnTo>
                    <a:pt x="32" y="26"/>
                  </a:lnTo>
                  <a:lnTo>
                    <a:pt x="6" y="2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68" name="Freeform 132"/>
            <p:cNvSpPr>
              <a:spLocks noEditPoints="1"/>
            </p:cNvSpPr>
            <p:nvPr/>
          </p:nvSpPr>
          <p:spPr>
            <a:xfrm>
              <a:off x="3637" y="3075"/>
              <a:ext cx="57" cy="96"/>
            </a:xfrm>
            <a:custGeom>
              <a:avLst/>
              <a:gdLst>
                <a:gd name="txL" fmla="*/ 0 w 57"/>
                <a:gd name="txT" fmla="*/ 0 h 96"/>
                <a:gd name="txR" fmla="*/ 57 w 57"/>
                <a:gd name="txB" fmla="*/ 96 h 96"/>
              </a:gdLst>
              <a:ahLst/>
              <a:cxnLst>
                <a:cxn ang="0">
                  <a:pos x="44" y="7"/>
                </a:cxn>
                <a:cxn ang="0">
                  <a:pos x="38" y="7"/>
                </a:cxn>
                <a:cxn ang="0">
                  <a:pos x="25" y="0"/>
                </a:cxn>
                <a:cxn ang="0">
                  <a:pos x="19" y="7"/>
                </a:cxn>
                <a:cxn ang="0">
                  <a:pos x="6" y="13"/>
                </a:cxn>
                <a:cxn ang="0">
                  <a:pos x="0" y="38"/>
                </a:cxn>
                <a:cxn ang="0">
                  <a:pos x="6" y="57"/>
                </a:cxn>
                <a:cxn ang="0">
                  <a:pos x="19" y="64"/>
                </a:cxn>
                <a:cxn ang="0">
                  <a:pos x="32" y="64"/>
                </a:cxn>
                <a:cxn ang="0">
                  <a:pos x="38" y="57"/>
                </a:cxn>
                <a:cxn ang="0">
                  <a:pos x="38" y="57"/>
                </a:cxn>
                <a:cxn ang="0">
                  <a:pos x="38" y="83"/>
                </a:cxn>
                <a:cxn ang="0">
                  <a:pos x="38" y="89"/>
                </a:cxn>
                <a:cxn ang="0">
                  <a:pos x="25" y="89"/>
                </a:cxn>
                <a:cxn ang="0">
                  <a:pos x="25" y="96"/>
                </a:cxn>
                <a:cxn ang="0">
                  <a:pos x="57" y="96"/>
                </a:cxn>
                <a:cxn ang="0">
                  <a:pos x="57" y="89"/>
                </a:cxn>
                <a:cxn ang="0">
                  <a:pos x="51" y="89"/>
                </a:cxn>
                <a:cxn ang="0">
                  <a:pos x="51" y="83"/>
                </a:cxn>
                <a:cxn ang="0">
                  <a:pos x="51" y="0"/>
                </a:cxn>
                <a:cxn ang="0">
                  <a:pos x="51" y="0"/>
                </a:cxn>
                <a:cxn ang="0">
                  <a:pos x="51" y="0"/>
                </a:cxn>
                <a:cxn ang="0">
                  <a:pos x="44" y="7"/>
                </a:cxn>
                <a:cxn ang="0">
                  <a:pos x="38" y="45"/>
                </a:cxn>
                <a:cxn ang="0">
                  <a:pos x="38" y="51"/>
                </a:cxn>
                <a:cxn ang="0">
                  <a:pos x="32" y="57"/>
                </a:cxn>
                <a:cxn ang="0">
                  <a:pos x="32" y="57"/>
                </a:cxn>
                <a:cxn ang="0">
                  <a:pos x="25" y="57"/>
                </a:cxn>
                <a:cxn ang="0">
                  <a:pos x="12" y="51"/>
                </a:cxn>
                <a:cxn ang="0">
                  <a:pos x="12" y="32"/>
                </a:cxn>
                <a:cxn ang="0">
                  <a:pos x="19" y="13"/>
                </a:cxn>
                <a:cxn ang="0">
                  <a:pos x="25" y="7"/>
                </a:cxn>
                <a:cxn ang="0">
                  <a:pos x="38" y="13"/>
                </a:cxn>
                <a:cxn ang="0">
                  <a:pos x="38" y="19"/>
                </a:cxn>
                <a:cxn ang="0">
                  <a:pos x="38" y="45"/>
                </a:cxn>
              </a:cxnLst>
              <a:rect l="txL" t="txT" r="txR" b="txB"/>
              <a:pathLst>
                <a:path w="57" h="96">
                  <a:moveTo>
                    <a:pt x="44" y="7"/>
                  </a:moveTo>
                  <a:lnTo>
                    <a:pt x="38" y="7"/>
                  </a:lnTo>
                  <a:lnTo>
                    <a:pt x="25" y="0"/>
                  </a:lnTo>
                  <a:lnTo>
                    <a:pt x="19" y="7"/>
                  </a:lnTo>
                  <a:lnTo>
                    <a:pt x="6" y="13"/>
                  </a:lnTo>
                  <a:lnTo>
                    <a:pt x="0" y="38"/>
                  </a:lnTo>
                  <a:lnTo>
                    <a:pt x="6" y="57"/>
                  </a:lnTo>
                  <a:lnTo>
                    <a:pt x="19" y="64"/>
                  </a:lnTo>
                  <a:lnTo>
                    <a:pt x="32" y="64"/>
                  </a:lnTo>
                  <a:lnTo>
                    <a:pt x="38" y="57"/>
                  </a:lnTo>
                  <a:lnTo>
                    <a:pt x="38" y="83"/>
                  </a:lnTo>
                  <a:lnTo>
                    <a:pt x="38" y="89"/>
                  </a:lnTo>
                  <a:lnTo>
                    <a:pt x="25" y="89"/>
                  </a:lnTo>
                  <a:lnTo>
                    <a:pt x="25" y="96"/>
                  </a:lnTo>
                  <a:lnTo>
                    <a:pt x="57" y="96"/>
                  </a:lnTo>
                  <a:lnTo>
                    <a:pt x="57" y="89"/>
                  </a:lnTo>
                  <a:lnTo>
                    <a:pt x="51" y="89"/>
                  </a:lnTo>
                  <a:lnTo>
                    <a:pt x="51" y="83"/>
                  </a:lnTo>
                  <a:lnTo>
                    <a:pt x="51" y="0"/>
                  </a:lnTo>
                  <a:lnTo>
                    <a:pt x="44" y="7"/>
                  </a:lnTo>
                  <a:close/>
                  <a:moveTo>
                    <a:pt x="38" y="45"/>
                  </a:moveTo>
                  <a:lnTo>
                    <a:pt x="38" y="51"/>
                  </a:lnTo>
                  <a:lnTo>
                    <a:pt x="32" y="57"/>
                  </a:lnTo>
                  <a:lnTo>
                    <a:pt x="25" y="57"/>
                  </a:lnTo>
                  <a:lnTo>
                    <a:pt x="12" y="51"/>
                  </a:lnTo>
                  <a:lnTo>
                    <a:pt x="12" y="32"/>
                  </a:lnTo>
                  <a:lnTo>
                    <a:pt x="19" y="13"/>
                  </a:lnTo>
                  <a:lnTo>
                    <a:pt x="25" y="7"/>
                  </a:lnTo>
                  <a:lnTo>
                    <a:pt x="38" y="13"/>
                  </a:lnTo>
                  <a:lnTo>
                    <a:pt x="38" y="19"/>
                  </a:lnTo>
                  <a:lnTo>
                    <a:pt x="38" y="4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69" name="Freeform 133"/>
            <p:cNvSpPr/>
            <p:nvPr/>
          </p:nvSpPr>
          <p:spPr>
            <a:xfrm>
              <a:off x="2004" y="2489"/>
              <a:ext cx="344" cy="1"/>
            </a:xfrm>
            <a:custGeom>
              <a:avLst/>
              <a:gdLst>
                <a:gd name="txL" fmla="*/ 0 w 344"/>
                <a:gd name="txT" fmla="*/ 0 h 1"/>
                <a:gd name="txR" fmla="*/ 344 w 344"/>
                <a:gd name="txB" fmla="*/ 1 h 1"/>
              </a:gdLst>
              <a:ahLst/>
              <a:cxnLst>
                <a:cxn ang="0">
                  <a:pos x="0" y="0"/>
                </a:cxn>
                <a:cxn ang="0">
                  <a:pos x="344" y="0"/>
                </a:cxn>
                <a:cxn ang="0">
                  <a:pos x="0" y="0"/>
                </a:cxn>
                <a:cxn ang="0">
                  <a:pos x="0" y="0"/>
                </a:cxn>
              </a:cxnLst>
              <a:rect l="txL" t="txT" r="txR" b="txB"/>
              <a:pathLst>
                <a:path w="344" h="1">
                  <a:moveTo>
                    <a:pt x="0" y="0"/>
                  </a:moveTo>
                  <a:lnTo>
                    <a:pt x="344" y="0"/>
                  </a:lnTo>
                  <a:lnTo>
                    <a:pt x="0" y="0"/>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70" name="Freeform 134"/>
            <p:cNvSpPr/>
            <p:nvPr/>
          </p:nvSpPr>
          <p:spPr>
            <a:xfrm>
              <a:off x="2323" y="2451"/>
              <a:ext cx="134" cy="76"/>
            </a:xfrm>
            <a:custGeom>
              <a:avLst/>
              <a:gdLst>
                <a:gd name="txL" fmla="*/ 0 w 134"/>
                <a:gd name="txT" fmla="*/ 0 h 76"/>
                <a:gd name="txR" fmla="*/ 134 w 134"/>
                <a:gd name="txB" fmla="*/ 76 h 76"/>
              </a:gdLst>
              <a:ahLst/>
              <a:cxnLst>
                <a:cxn ang="0">
                  <a:pos x="0" y="76"/>
                </a:cxn>
                <a:cxn ang="0">
                  <a:pos x="134" y="38"/>
                </a:cxn>
                <a:cxn ang="0">
                  <a:pos x="0" y="0"/>
                </a:cxn>
                <a:cxn ang="0">
                  <a:pos x="0" y="76"/>
                </a:cxn>
                <a:cxn ang="0">
                  <a:pos x="0" y="76"/>
                </a:cxn>
              </a:cxnLst>
              <a:rect l="txL" t="txT" r="txR" b="txB"/>
              <a:pathLst>
                <a:path w="134" h="76">
                  <a:moveTo>
                    <a:pt x="0" y="76"/>
                  </a:moveTo>
                  <a:lnTo>
                    <a:pt x="134" y="38"/>
                  </a:lnTo>
                  <a:lnTo>
                    <a:pt x="0" y="0"/>
                  </a:lnTo>
                  <a:lnTo>
                    <a:pt x="0" y="76"/>
                  </a:lnTo>
                  <a:close/>
                </a:path>
              </a:pathLst>
            </a:custGeom>
            <a:solidFill>
              <a:srgbClr val="006666">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71" name="Freeform 135"/>
            <p:cNvSpPr>
              <a:spLocks noEditPoints="1"/>
            </p:cNvSpPr>
            <p:nvPr/>
          </p:nvSpPr>
          <p:spPr>
            <a:xfrm>
              <a:off x="2195" y="2273"/>
              <a:ext cx="38" cy="121"/>
            </a:xfrm>
            <a:custGeom>
              <a:avLst/>
              <a:gdLst>
                <a:gd name="txL" fmla="*/ 0 w 38"/>
                <a:gd name="txT" fmla="*/ 0 h 121"/>
                <a:gd name="txR" fmla="*/ 38 w 38"/>
                <a:gd name="txB" fmla="*/ 121 h 121"/>
              </a:gdLst>
              <a:ahLst/>
              <a:cxnLst>
                <a:cxn ang="0">
                  <a:pos x="32" y="95"/>
                </a:cxn>
                <a:cxn ang="0">
                  <a:pos x="26" y="108"/>
                </a:cxn>
                <a:cxn ang="0">
                  <a:pos x="19" y="108"/>
                </a:cxn>
                <a:cxn ang="0">
                  <a:pos x="19" y="108"/>
                </a:cxn>
                <a:cxn ang="0">
                  <a:pos x="13" y="108"/>
                </a:cxn>
                <a:cxn ang="0">
                  <a:pos x="19" y="102"/>
                </a:cxn>
                <a:cxn ang="0">
                  <a:pos x="19" y="95"/>
                </a:cxn>
                <a:cxn ang="0">
                  <a:pos x="32" y="38"/>
                </a:cxn>
                <a:cxn ang="0">
                  <a:pos x="32" y="38"/>
                </a:cxn>
                <a:cxn ang="0">
                  <a:pos x="19" y="44"/>
                </a:cxn>
                <a:cxn ang="0">
                  <a:pos x="7" y="44"/>
                </a:cxn>
                <a:cxn ang="0">
                  <a:pos x="7" y="44"/>
                </a:cxn>
                <a:cxn ang="0">
                  <a:pos x="13" y="44"/>
                </a:cxn>
                <a:cxn ang="0">
                  <a:pos x="19" y="51"/>
                </a:cxn>
                <a:cxn ang="0">
                  <a:pos x="19" y="63"/>
                </a:cxn>
                <a:cxn ang="0">
                  <a:pos x="13" y="82"/>
                </a:cxn>
                <a:cxn ang="0">
                  <a:pos x="7" y="95"/>
                </a:cxn>
                <a:cxn ang="0">
                  <a:pos x="0" y="108"/>
                </a:cxn>
                <a:cxn ang="0">
                  <a:pos x="0" y="114"/>
                </a:cxn>
                <a:cxn ang="0">
                  <a:pos x="13" y="121"/>
                </a:cxn>
                <a:cxn ang="0">
                  <a:pos x="26" y="114"/>
                </a:cxn>
                <a:cxn ang="0">
                  <a:pos x="32" y="95"/>
                </a:cxn>
                <a:cxn ang="0">
                  <a:pos x="32" y="95"/>
                </a:cxn>
                <a:cxn ang="0">
                  <a:pos x="38" y="6"/>
                </a:cxn>
                <a:cxn ang="0">
                  <a:pos x="38" y="6"/>
                </a:cxn>
                <a:cxn ang="0">
                  <a:pos x="32" y="0"/>
                </a:cxn>
                <a:cxn ang="0">
                  <a:pos x="26" y="0"/>
                </a:cxn>
                <a:cxn ang="0">
                  <a:pos x="26" y="6"/>
                </a:cxn>
                <a:cxn ang="0">
                  <a:pos x="26" y="12"/>
                </a:cxn>
                <a:cxn ang="0">
                  <a:pos x="32" y="19"/>
                </a:cxn>
                <a:cxn ang="0">
                  <a:pos x="38" y="12"/>
                </a:cxn>
                <a:cxn ang="0">
                  <a:pos x="38" y="6"/>
                </a:cxn>
                <a:cxn ang="0">
                  <a:pos x="38" y="6"/>
                </a:cxn>
              </a:cxnLst>
              <a:rect l="txL" t="txT" r="txR" b="txB"/>
              <a:pathLst>
                <a:path w="38" h="121">
                  <a:moveTo>
                    <a:pt x="32" y="95"/>
                  </a:moveTo>
                  <a:lnTo>
                    <a:pt x="26" y="108"/>
                  </a:lnTo>
                  <a:lnTo>
                    <a:pt x="19" y="108"/>
                  </a:lnTo>
                  <a:lnTo>
                    <a:pt x="13" y="108"/>
                  </a:lnTo>
                  <a:lnTo>
                    <a:pt x="19" y="102"/>
                  </a:lnTo>
                  <a:lnTo>
                    <a:pt x="19" y="95"/>
                  </a:lnTo>
                  <a:lnTo>
                    <a:pt x="32" y="38"/>
                  </a:lnTo>
                  <a:lnTo>
                    <a:pt x="19" y="44"/>
                  </a:lnTo>
                  <a:lnTo>
                    <a:pt x="7" y="44"/>
                  </a:lnTo>
                  <a:lnTo>
                    <a:pt x="13" y="44"/>
                  </a:lnTo>
                  <a:lnTo>
                    <a:pt x="19" y="51"/>
                  </a:lnTo>
                  <a:lnTo>
                    <a:pt x="19" y="63"/>
                  </a:lnTo>
                  <a:lnTo>
                    <a:pt x="13" y="82"/>
                  </a:lnTo>
                  <a:lnTo>
                    <a:pt x="7" y="95"/>
                  </a:lnTo>
                  <a:lnTo>
                    <a:pt x="0" y="108"/>
                  </a:lnTo>
                  <a:lnTo>
                    <a:pt x="0" y="114"/>
                  </a:lnTo>
                  <a:lnTo>
                    <a:pt x="13" y="121"/>
                  </a:lnTo>
                  <a:lnTo>
                    <a:pt x="26" y="114"/>
                  </a:lnTo>
                  <a:lnTo>
                    <a:pt x="32" y="95"/>
                  </a:lnTo>
                  <a:close/>
                  <a:moveTo>
                    <a:pt x="38" y="6"/>
                  </a:moveTo>
                  <a:lnTo>
                    <a:pt x="38" y="6"/>
                  </a:lnTo>
                  <a:lnTo>
                    <a:pt x="32" y="0"/>
                  </a:lnTo>
                  <a:lnTo>
                    <a:pt x="26" y="0"/>
                  </a:lnTo>
                  <a:lnTo>
                    <a:pt x="26" y="6"/>
                  </a:lnTo>
                  <a:lnTo>
                    <a:pt x="26" y="12"/>
                  </a:lnTo>
                  <a:lnTo>
                    <a:pt x="32" y="19"/>
                  </a:lnTo>
                  <a:lnTo>
                    <a:pt x="38" y="12"/>
                  </a:lnTo>
                  <a:lnTo>
                    <a:pt x="38"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72" name="Freeform 136"/>
            <p:cNvSpPr/>
            <p:nvPr/>
          </p:nvSpPr>
          <p:spPr>
            <a:xfrm>
              <a:off x="1959" y="3031"/>
              <a:ext cx="64" cy="76"/>
            </a:xfrm>
            <a:custGeom>
              <a:avLst/>
              <a:gdLst>
                <a:gd name="txL" fmla="*/ 0 w 64"/>
                <a:gd name="txT" fmla="*/ 0 h 76"/>
                <a:gd name="txR" fmla="*/ 64 w 64"/>
                <a:gd name="txB" fmla="*/ 76 h 76"/>
              </a:gdLst>
              <a:ahLst/>
              <a:cxnLst>
                <a:cxn ang="0">
                  <a:pos x="0" y="6"/>
                </a:cxn>
                <a:cxn ang="0">
                  <a:pos x="7" y="6"/>
                </a:cxn>
                <a:cxn ang="0">
                  <a:pos x="7" y="12"/>
                </a:cxn>
                <a:cxn ang="0">
                  <a:pos x="13" y="25"/>
                </a:cxn>
                <a:cxn ang="0">
                  <a:pos x="13" y="31"/>
                </a:cxn>
                <a:cxn ang="0">
                  <a:pos x="19" y="44"/>
                </a:cxn>
                <a:cxn ang="0">
                  <a:pos x="19" y="70"/>
                </a:cxn>
                <a:cxn ang="0">
                  <a:pos x="19" y="76"/>
                </a:cxn>
                <a:cxn ang="0">
                  <a:pos x="19" y="76"/>
                </a:cxn>
                <a:cxn ang="0">
                  <a:pos x="26" y="76"/>
                </a:cxn>
                <a:cxn ang="0">
                  <a:pos x="32" y="63"/>
                </a:cxn>
                <a:cxn ang="0">
                  <a:pos x="39" y="57"/>
                </a:cxn>
                <a:cxn ang="0">
                  <a:pos x="51" y="38"/>
                </a:cxn>
                <a:cxn ang="0">
                  <a:pos x="58" y="25"/>
                </a:cxn>
                <a:cxn ang="0">
                  <a:pos x="64" y="12"/>
                </a:cxn>
                <a:cxn ang="0">
                  <a:pos x="58" y="6"/>
                </a:cxn>
                <a:cxn ang="0">
                  <a:pos x="51" y="0"/>
                </a:cxn>
                <a:cxn ang="0">
                  <a:pos x="51" y="0"/>
                </a:cxn>
                <a:cxn ang="0">
                  <a:pos x="51" y="6"/>
                </a:cxn>
                <a:cxn ang="0">
                  <a:pos x="58" y="12"/>
                </a:cxn>
                <a:cxn ang="0">
                  <a:pos x="58" y="19"/>
                </a:cxn>
                <a:cxn ang="0">
                  <a:pos x="51" y="38"/>
                </a:cxn>
                <a:cxn ang="0">
                  <a:pos x="32" y="57"/>
                </a:cxn>
                <a:cxn ang="0">
                  <a:pos x="32" y="63"/>
                </a:cxn>
                <a:cxn ang="0">
                  <a:pos x="26" y="31"/>
                </a:cxn>
                <a:cxn ang="0">
                  <a:pos x="19" y="6"/>
                </a:cxn>
                <a:cxn ang="0">
                  <a:pos x="19" y="0"/>
                </a:cxn>
                <a:cxn ang="0">
                  <a:pos x="19" y="0"/>
                </a:cxn>
                <a:cxn ang="0">
                  <a:pos x="13" y="0"/>
                </a:cxn>
                <a:cxn ang="0">
                  <a:pos x="0" y="6"/>
                </a:cxn>
                <a:cxn ang="0">
                  <a:pos x="0" y="6"/>
                </a:cxn>
              </a:cxnLst>
              <a:rect l="txL" t="txT" r="txR" b="txB"/>
              <a:pathLst>
                <a:path w="64" h="76">
                  <a:moveTo>
                    <a:pt x="0" y="6"/>
                  </a:moveTo>
                  <a:lnTo>
                    <a:pt x="7" y="6"/>
                  </a:lnTo>
                  <a:lnTo>
                    <a:pt x="7" y="12"/>
                  </a:lnTo>
                  <a:lnTo>
                    <a:pt x="13" y="25"/>
                  </a:lnTo>
                  <a:lnTo>
                    <a:pt x="13" y="31"/>
                  </a:lnTo>
                  <a:lnTo>
                    <a:pt x="19" y="44"/>
                  </a:lnTo>
                  <a:lnTo>
                    <a:pt x="19" y="70"/>
                  </a:lnTo>
                  <a:lnTo>
                    <a:pt x="19" y="76"/>
                  </a:lnTo>
                  <a:lnTo>
                    <a:pt x="26" y="76"/>
                  </a:lnTo>
                  <a:lnTo>
                    <a:pt x="32" y="63"/>
                  </a:lnTo>
                  <a:lnTo>
                    <a:pt x="39" y="57"/>
                  </a:lnTo>
                  <a:lnTo>
                    <a:pt x="51" y="38"/>
                  </a:lnTo>
                  <a:lnTo>
                    <a:pt x="58" y="25"/>
                  </a:lnTo>
                  <a:lnTo>
                    <a:pt x="64" y="12"/>
                  </a:lnTo>
                  <a:lnTo>
                    <a:pt x="58" y="6"/>
                  </a:lnTo>
                  <a:lnTo>
                    <a:pt x="51" y="0"/>
                  </a:lnTo>
                  <a:lnTo>
                    <a:pt x="51" y="6"/>
                  </a:lnTo>
                  <a:lnTo>
                    <a:pt x="58" y="12"/>
                  </a:lnTo>
                  <a:lnTo>
                    <a:pt x="58" y="19"/>
                  </a:lnTo>
                  <a:lnTo>
                    <a:pt x="51" y="38"/>
                  </a:lnTo>
                  <a:lnTo>
                    <a:pt x="32" y="57"/>
                  </a:lnTo>
                  <a:lnTo>
                    <a:pt x="32" y="63"/>
                  </a:lnTo>
                  <a:lnTo>
                    <a:pt x="26" y="31"/>
                  </a:lnTo>
                  <a:lnTo>
                    <a:pt x="19" y="6"/>
                  </a:lnTo>
                  <a:lnTo>
                    <a:pt x="19" y="0"/>
                  </a:lnTo>
                  <a:lnTo>
                    <a:pt x="13" y="0"/>
                  </a:lnTo>
                  <a:lnTo>
                    <a:pt x="0" y="6"/>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73" name="Freeform 137"/>
            <p:cNvSpPr/>
            <p:nvPr/>
          </p:nvSpPr>
          <p:spPr>
            <a:xfrm>
              <a:off x="1940" y="2731"/>
              <a:ext cx="83" cy="96"/>
            </a:xfrm>
            <a:custGeom>
              <a:avLst/>
              <a:gdLst>
                <a:gd name="txL" fmla="*/ 0 w 83"/>
                <a:gd name="txT" fmla="*/ 0 h 96"/>
                <a:gd name="txR" fmla="*/ 83 w 83"/>
                <a:gd name="txB" fmla="*/ 96 h 96"/>
              </a:gdLst>
              <a:ahLst/>
              <a:cxnLst>
                <a:cxn ang="0">
                  <a:pos x="45" y="45"/>
                </a:cxn>
                <a:cxn ang="0">
                  <a:pos x="83" y="45"/>
                </a:cxn>
                <a:cxn ang="0">
                  <a:pos x="83" y="51"/>
                </a:cxn>
                <a:cxn ang="0">
                  <a:pos x="45" y="51"/>
                </a:cxn>
                <a:cxn ang="0">
                  <a:pos x="45" y="96"/>
                </a:cxn>
                <a:cxn ang="0">
                  <a:pos x="38" y="96"/>
                </a:cxn>
                <a:cxn ang="0">
                  <a:pos x="38" y="51"/>
                </a:cxn>
                <a:cxn ang="0">
                  <a:pos x="0" y="51"/>
                </a:cxn>
                <a:cxn ang="0">
                  <a:pos x="0" y="45"/>
                </a:cxn>
                <a:cxn ang="0">
                  <a:pos x="38" y="45"/>
                </a:cxn>
                <a:cxn ang="0">
                  <a:pos x="38" y="0"/>
                </a:cxn>
                <a:cxn ang="0">
                  <a:pos x="45" y="0"/>
                </a:cxn>
                <a:cxn ang="0">
                  <a:pos x="45" y="45"/>
                </a:cxn>
              </a:cxnLst>
              <a:rect l="txL" t="txT" r="txR" b="txB"/>
              <a:pathLst>
                <a:path w="83" h="96">
                  <a:moveTo>
                    <a:pt x="45" y="45"/>
                  </a:moveTo>
                  <a:lnTo>
                    <a:pt x="83" y="45"/>
                  </a:lnTo>
                  <a:lnTo>
                    <a:pt x="83" y="51"/>
                  </a:lnTo>
                  <a:lnTo>
                    <a:pt x="45" y="51"/>
                  </a:lnTo>
                  <a:lnTo>
                    <a:pt x="45" y="96"/>
                  </a:lnTo>
                  <a:lnTo>
                    <a:pt x="38" y="96"/>
                  </a:lnTo>
                  <a:lnTo>
                    <a:pt x="38" y="51"/>
                  </a:lnTo>
                  <a:lnTo>
                    <a:pt x="0" y="51"/>
                  </a:lnTo>
                  <a:lnTo>
                    <a:pt x="0" y="45"/>
                  </a:lnTo>
                  <a:lnTo>
                    <a:pt x="38" y="45"/>
                  </a:lnTo>
                  <a:lnTo>
                    <a:pt x="38" y="0"/>
                  </a:lnTo>
                  <a:lnTo>
                    <a:pt x="45" y="0"/>
                  </a:lnTo>
                  <a:lnTo>
                    <a:pt x="45" y="4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74" name="Rectangle 138"/>
            <p:cNvSpPr/>
            <p:nvPr/>
          </p:nvSpPr>
          <p:spPr>
            <a:xfrm>
              <a:off x="1940" y="3355"/>
              <a:ext cx="89" cy="13"/>
            </a:xfrm>
            <a:prstGeom prst="rect">
              <a:avLst/>
            </a:prstGeom>
            <a:solidFill>
              <a:srgbClr val="0000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ea typeface="Arial" panose="020B0604020202020204" pitchFamily="34" charset="0"/>
              </a:endParaRPr>
            </a:p>
          </p:txBody>
        </p:sp>
        <p:sp>
          <p:nvSpPr>
            <p:cNvPr id="74775" name="Freeform 139"/>
            <p:cNvSpPr/>
            <p:nvPr/>
          </p:nvSpPr>
          <p:spPr>
            <a:xfrm>
              <a:off x="1940" y="2559"/>
              <a:ext cx="83" cy="83"/>
            </a:xfrm>
            <a:custGeom>
              <a:avLst/>
              <a:gdLst>
                <a:gd name="txL" fmla="*/ 0 w 83"/>
                <a:gd name="txT" fmla="*/ 0 h 83"/>
                <a:gd name="txR" fmla="*/ 83 w 83"/>
                <a:gd name="txB" fmla="*/ 83 h 83"/>
              </a:gdLst>
              <a:ahLst/>
              <a:cxnLst>
                <a:cxn ang="0">
                  <a:pos x="45" y="83"/>
                </a:cxn>
                <a:cxn ang="0">
                  <a:pos x="26" y="83"/>
                </a:cxn>
                <a:cxn ang="0">
                  <a:pos x="13" y="70"/>
                </a:cxn>
                <a:cxn ang="0">
                  <a:pos x="6" y="58"/>
                </a:cxn>
                <a:cxn ang="0">
                  <a:pos x="0" y="38"/>
                </a:cxn>
                <a:cxn ang="0">
                  <a:pos x="6" y="19"/>
                </a:cxn>
                <a:cxn ang="0">
                  <a:pos x="13" y="13"/>
                </a:cxn>
                <a:cxn ang="0">
                  <a:pos x="45" y="0"/>
                </a:cxn>
                <a:cxn ang="0">
                  <a:pos x="70" y="13"/>
                </a:cxn>
                <a:cxn ang="0">
                  <a:pos x="83" y="19"/>
                </a:cxn>
                <a:cxn ang="0">
                  <a:pos x="83" y="38"/>
                </a:cxn>
                <a:cxn ang="0">
                  <a:pos x="83" y="58"/>
                </a:cxn>
                <a:cxn ang="0">
                  <a:pos x="70" y="70"/>
                </a:cxn>
                <a:cxn ang="0">
                  <a:pos x="58" y="83"/>
                </a:cxn>
                <a:cxn ang="0">
                  <a:pos x="45" y="83"/>
                </a:cxn>
                <a:cxn ang="0">
                  <a:pos x="45" y="83"/>
                </a:cxn>
              </a:cxnLst>
              <a:rect l="txL" t="txT" r="txR" b="txB"/>
              <a:pathLst>
                <a:path w="83" h="83">
                  <a:moveTo>
                    <a:pt x="45" y="83"/>
                  </a:moveTo>
                  <a:lnTo>
                    <a:pt x="26" y="83"/>
                  </a:lnTo>
                  <a:lnTo>
                    <a:pt x="13" y="70"/>
                  </a:lnTo>
                  <a:lnTo>
                    <a:pt x="6" y="58"/>
                  </a:lnTo>
                  <a:lnTo>
                    <a:pt x="0" y="38"/>
                  </a:lnTo>
                  <a:lnTo>
                    <a:pt x="6" y="19"/>
                  </a:lnTo>
                  <a:lnTo>
                    <a:pt x="13" y="13"/>
                  </a:lnTo>
                  <a:lnTo>
                    <a:pt x="45" y="0"/>
                  </a:lnTo>
                  <a:lnTo>
                    <a:pt x="70" y="13"/>
                  </a:lnTo>
                  <a:lnTo>
                    <a:pt x="83" y="19"/>
                  </a:lnTo>
                  <a:lnTo>
                    <a:pt x="83" y="38"/>
                  </a:lnTo>
                  <a:lnTo>
                    <a:pt x="83" y="58"/>
                  </a:lnTo>
                  <a:lnTo>
                    <a:pt x="70" y="70"/>
                  </a:lnTo>
                  <a:lnTo>
                    <a:pt x="58" y="83"/>
                  </a:lnTo>
                  <a:lnTo>
                    <a:pt x="45" y="83"/>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76" name="Freeform 140"/>
            <p:cNvSpPr/>
            <p:nvPr/>
          </p:nvSpPr>
          <p:spPr>
            <a:xfrm>
              <a:off x="1940" y="2597"/>
              <a:ext cx="45" cy="45"/>
            </a:xfrm>
            <a:custGeom>
              <a:avLst/>
              <a:gdLst>
                <a:gd name="txL" fmla="*/ 0 w 45"/>
                <a:gd name="txT" fmla="*/ 0 h 45"/>
                <a:gd name="txR" fmla="*/ 45 w 45"/>
                <a:gd name="txB" fmla="*/ 45 h 45"/>
              </a:gdLst>
              <a:ahLst/>
              <a:cxnLst>
                <a:cxn ang="0">
                  <a:pos x="45" y="45"/>
                </a:cxn>
                <a:cxn ang="0">
                  <a:pos x="26" y="45"/>
                </a:cxn>
                <a:cxn ang="0">
                  <a:pos x="13" y="32"/>
                </a:cxn>
                <a:cxn ang="0">
                  <a:pos x="6" y="20"/>
                </a:cxn>
                <a:cxn ang="0">
                  <a:pos x="0" y="0"/>
                </a:cxn>
                <a:cxn ang="0">
                  <a:pos x="0" y="0"/>
                </a:cxn>
                <a:cxn ang="0">
                  <a:pos x="6" y="20"/>
                </a:cxn>
                <a:cxn ang="0">
                  <a:pos x="13" y="32"/>
                </a:cxn>
                <a:cxn ang="0">
                  <a:pos x="26" y="45"/>
                </a:cxn>
                <a:cxn ang="0">
                  <a:pos x="45" y="45"/>
                </a:cxn>
                <a:cxn ang="0">
                  <a:pos x="45" y="45"/>
                </a:cxn>
              </a:cxnLst>
              <a:rect l="txL" t="txT" r="txR" b="txB"/>
              <a:pathLst>
                <a:path w="45" h="45">
                  <a:moveTo>
                    <a:pt x="45" y="45"/>
                  </a:moveTo>
                  <a:lnTo>
                    <a:pt x="26" y="45"/>
                  </a:lnTo>
                  <a:lnTo>
                    <a:pt x="13" y="32"/>
                  </a:lnTo>
                  <a:lnTo>
                    <a:pt x="6" y="20"/>
                  </a:lnTo>
                  <a:lnTo>
                    <a:pt x="0" y="0"/>
                  </a:lnTo>
                  <a:lnTo>
                    <a:pt x="6" y="20"/>
                  </a:lnTo>
                  <a:lnTo>
                    <a:pt x="13" y="32"/>
                  </a:lnTo>
                  <a:lnTo>
                    <a:pt x="26" y="45"/>
                  </a:lnTo>
                  <a:lnTo>
                    <a:pt x="45" y="45"/>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77" name="Freeform 141"/>
            <p:cNvSpPr>
              <a:spLocks noEditPoints="1"/>
            </p:cNvSpPr>
            <p:nvPr/>
          </p:nvSpPr>
          <p:spPr>
            <a:xfrm>
              <a:off x="1940" y="2559"/>
              <a:ext cx="45" cy="38"/>
            </a:xfrm>
            <a:custGeom>
              <a:avLst/>
              <a:gdLst>
                <a:gd name="txL" fmla="*/ 0 w 45"/>
                <a:gd name="txT" fmla="*/ 0 h 38"/>
                <a:gd name="txR" fmla="*/ 45 w 45"/>
                <a:gd name="txB" fmla="*/ 38 h 38"/>
              </a:gdLst>
              <a:ahLst/>
              <a:cxnLst>
                <a:cxn ang="0">
                  <a:pos x="0" y="38"/>
                </a:cxn>
                <a:cxn ang="0">
                  <a:pos x="6" y="19"/>
                </a:cxn>
                <a:cxn ang="0">
                  <a:pos x="13" y="13"/>
                </a:cxn>
                <a:cxn ang="0">
                  <a:pos x="45" y="0"/>
                </a:cxn>
                <a:cxn ang="0">
                  <a:pos x="45" y="0"/>
                </a:cxn>
                <a:cxn ang="0">
                  <a:pos x="13" y="13"/>
                </a:cxn>
                <a:cxn ang="0">
                  <a:pos x="6" y="19"/>
                </a:cxn>
                <a:cxn ang="0">
                  <a:pos x="0" y="38"/>
                </a:cxn>
                <a:cxn ang="0">
                  <a:pos x="0" y="38"/>
                </a:cxn>
                <a:cxn ang="0">
                  <a:pos x="0" y="38"/>
                </a:cxn>
                <a:cxn ang="0">
                  <a:pos x="0" y="38"/>
                </a:cxn>
                <a:cxn ang="0">
                  <a:pos x="0" y="38"/>
                </a:cxn>
              </a:cxnLst>
              <a:rect l="txL" t="txT" r="txR" b="txB"/>
              <a:pathLst>
                <a:path w="45" h="38">
                  <a:moveTo>
                    <a:pt x="0" y="38"/>
                  </a:moveTo>
                  <a:lnTo>
                    <a:pt x="6" y="19"/>
                  </a:lnTo>
                  <a:lnTo>
                    <a:pt x="13" y="13"/>
                  </a:lnTo>
                  <a:lnTo>
                    <a:pt x="45" y="0"/>
                  </a:lnTo>
                  <a:lnTo>
                    <a:pt x="13" y="13"/>
                  </a:lnTo>
                  <a:lnTo>
                    <a:pt x="6" y="19"/>
                  </a:lnTo>
                  <a:lnTo>
                    <a:pt x="0" y="38"/>
                  </a:lnTo>
                  <a:close/>
                  <a:moveTo>
                    <a:pt x="0" y="38"/>
                  </a:moveTo>
                  <a:lnTo>
                    <a:pt x="0" y="3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78" name="Freeform 142"/>
            <p:cNvSpPr>
              <a:spLocks noEditPoints="1"/>
            </p:cNvSpPr>
            <p:nvPr/>
          </p:nvSpPr>
          <p:spPr>
            <a:xfrm>
              <a:off x="1985" y="2559"/>
              <a:ext cx="38" cy="38"/>
            </a:xfrm>
            <a:custGeom>
              <a:avLst/>
              <a:gdLst>
                <a:gd name="txL" fmla="*/ 0 w 38"/>
                <a:gd name="txT" fmla="*/ 0 h 38"/>
                <a:gd name="txR" fmla="*/ 38 w 38"/>
                <a:gd name="txB" fmla="*/ 38 h 38"/>
              </a:gdLst>
              <a:ahLst/>
              <a:cxnLst>
                <a:cxn ang="0">
                  <a:pos x="0" y="0"/>
                </a:cxn>
                <a:cxn ang="0">
                  <a:pos x="25" y="13"/>
                </a:cxn>
                <a:cxn ang="0">
                  <a:pos x="38" y="19"/>
                </a:cxn>
                <a:cxn ang="0">
                  <a:pos x="38" y="38"/>
                </a:cxn>
                <a:cxn ang="0">
                  <a:pos x="38" y="38"/>
                </a:cxn>
                <a:cxn ang="0">
                  <a:pos x="38" y="19"/>
                </a:cxn>
                <a:cxn ang="0">
                  <a:pos x="25" y="13"/>
                </a:cxn>
                <a:cxn ang="0">
                  <a:pos x="0" y="0"/>
                </a:cxn>
                <a:cxn ang="0">
                  <a:pos x="0" y="0"/>
                </a:cxn>
                <a:cxn ang="0">
                  <a:pos x="0" y="0"/>
                </a:cxn>
                <a:cxn ang="0">
                  <a:pos x="0" y="0"/>
                </a:cxn>
                <a:cxn ang="0">
                  <a:pos x="0" y="0"/>
                </a:cxn>
              </a:cxnLst>
              <a:rect l="txL" t="txT" r="txR" b="txB"/>
              <a:pathLst>
                <a:path w="38" h="38">
                  <a:moveTo>
                    <a:pt x="0" y="0"/>
                  </a:moveTo>
                  <a:lnTo>
                    <a:pt x="25" y="13"/>
                  </a:lnTo>
                  <a:lnTo>
                    <a:pt x="38" y="19"/>
                  </a:lnTo>
                  <a:lnTo>
                    <a:pt x="38" y="38"/>
                  </a:lnTo>
                  <a:lnTo>
                    <a:pt x="38" y="19"/>
                  </a:lnTo>
                  <a:lnTo>
                    <a:pt x="25" y="13"/>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79" name="Freeform 143"/>
            <p:cNvSpPr>
              <a:spLocks noEditPoints="1"/>
            </p:cNvSpPr>
            <p:nvPr/>
          </p:nvSpPr>
          <p:spPr>
            <a:xfrm>
              <a:off x="1985" y="2597"/>
              <a:ext cx="38" cy="45"/>
            </a:xfrm>
            <a:custGeom>
              <a:avLst/>
              <a:gdLst>
                <a:gd name="txL" fmla="*/ 0 w 38"/>
                <a:gd name="txT" fmla="*/ 0 h 45"/>
                <a:gd name="txR" fmla="*/ 38 w 38"/>
                <a:gd name="txB" fmla="*/ 45 h 45"/>
              </a:gdLst>
              <a:ahLst/>
              <a:cxnLst>
                <a:cxn ang="0">
                  <a:pos x="38" y="0"/>
                </a:cxn>
                <a:cxn ang="0">
                  <a:pos x="38" y="20"/>
                </a:cxn>
                <a:cxn ang="0">
                  <a:pos x="25" y="32"/>
                </a:cxn>
                <a:cxn ang="0">
                  <a:pos x="13" y="45"/>
                </a:cxn>
                <a:cxn ang="0">
                  <a:pos x="0" y="45"/>
                </a:cxn>
                <a:cxn ang="0">
                  <a:pos x="0" y="45"/>
                </a:cxn>
                <a:cxn ang="0">
                  <a:pos x="13" y="45"/>
                </a:cxn>
                <a:cxn ang="0">
                  <a:pos x="25" y="32"/>
                </a:cxn>
                <a:cxn ang="0">
                  <a:pos x="38" y="20"/>
                </a:cxn>
                <a:cxn ang="0">
                  <a:pos x="38" y="0"/>
                </a:cxn>
                <a:cxn ang="0">
                  <a:pos x="38" y="0"/>
                </a:cxn>
                <a:cxn ang="0">
                  <a:pos x="38" y="0"/>
                </a:cxn>
                <a:cxn ang="0">
                  <a:pos x="38" y="0"/>
                </a:cxn>
                <a:cxn ang="0">
                  <a:pos x="38" y="0"/>
                </a:cxn>
              </a:cxnLst>
              <a:rect l="txL" t="txT" r="txR" b="txB"/>
              <a:pathLst>
                <a:path w="38" h="45">
                  <a:moveTo>
                    <a:pt x="38" y="0"/>
                  </a:moveTo>
                  <a:lnTo>
                    <a:pt x="38" y="20"/>
                  </a:lnTo>
                  <a:lnTo>
                    <a:pt x="25" y="32"/>
                  </a:lnTo>
                  <a:lnTo>
                    <a:pt x="13" y="45"/>
                  </a:lnTo>
                  <a:lnTo>
                    <a:pt x="0" y="45"/>
                  </a:lnTo>
                  <a:lnTo>
                    <a:pt x="13" y="45"/>
                  </a:lnTo>
                  <a:lnTo>
                    <a:pt x="25" y="32"/>
                  </a:lnTo>
                  <a:lnTo>
                    <a:pt x="38" y="20"/>
                  </a:lnTo>
                  <a:lnTo>
                    <a:pt x="38" y="0"/>
                  </a:lnTo>
                  <a:close/>
                  <a:moveTo>
                    <a:pt x="38" y="0"/>
                  </a:moveTo>
                  <a:lnTo>
                    <a:pt x="3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80" name="Freeform 144"/>
            <p:cNvSpPr/>
            <p:nvPr/>
          </p:nvSpPr>
          <p:spPr>
            <a:xfrm>
              <a:off x="1985" y="2642"/>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81" name="Freeform 145"/>
            <p:cNvSpPr/>
            <p:nvPr/>
          </p:nvSpPr>
          <p:spPr>
            <a:xfrm>
              <a:off x="1946" y="3464"/>
              <a:ext cx="77" cy="82"/>
            </a:xfrm>
            <a:custGeom>
              <a:avLst/>
              <a:gdLst>
                <a:gd name="txL" fmla="*/ 0 w 77"/>
                <a:gd name="txT" fmla="*/ 0 h 82"/>
                <a:gd name="txR" fmla="*/ 77 w 77"/>
                <a:gd name="txB" fmla="*/ 82 h 82"/>
              </a:gdLst>
              <a:ahLst/>
              <a:cxnLst>
                <a:cxn ang="0">
                  <a:pos x="39" y="82"/>
                </a:cxn>
                <a:cxn ang="0">
                  <a:pos x="26" y="82"/>
                </a:cxn>
                <a:cxn ang="0">
                  <a:pos x="13" y="70"/>
                </a:cxn>
                <a:cxn ang="0">
                  <a:pos x="7" y="57"/>
                </a:cxn>
                <a:cxn ang="0">
                  <a:pos x="0" y="38"/>
                </a:cxn>
                <a:cxn ang="0">
                  <a:pos x="7" y="25"/>
                </a:cxn>
                <a:cxn ang="0">
                  <a:pos x="13" y="12"/>
                </a:cxn>
                <a:cxn ang="0">
                  <a:pos x="26" y="6"/>
                </a:cxn>
                <a:cxn ang="0">
                  <a:pos x="39" y="0"/>
                </a:cxn>
                <a:cxn ang="0">
                  <a:pos x="58" y="6"/>
                </a:cxn>
                <a:cxn ang="0">
                  <a:pos x="71" y="12"/>
                </a:cxn>
                <a:cxn ang="0">
                  <a:pos x="77" y="38"/>
                </a:cxn>
                <a:cxn ang="0">
                  <a:pos x="71" y="70"/>
                </a:cxn>
                <a:cxn ang="0">
                  <a:pos x="58" y="82"/>
                </a:cxn>
                <a:cxn ang="0">
                  <a:pos x="39" y="82"/>
                </a:cxn>
                <a:cxn ang="0">
                  <a:pos x="39" y="82"/>
                </a:cxn>
              </a:cxnLst>
              <a:rect l="txL" t="txT" r="txR" b="txB"/>
              <a:pathLst>
                <a:path w="77" h="82">
                  <a:moveTo>
                    <a:pt x="39" y="82"/>
                  </a:moveTo>
                  <a:lnTo>
                    <a:pt x="26" y="82"/>
                  </a:lnTo>
                  <a:lnTo>
                    <a:pt x="13" y="70"/>
                  </a:lnTo>
                  <a:lnTo>
                    <a:pt x="7" y="57"/>
                  </a:lnTo>
                  <a:lnTo>
                    <a:pt x="0" y="38"/>
                  </a:lnTo>
                  <a:lnTo>
                    <a:pt x="7" y="25"/>
                  </a:lnTo>
                  <a:lnTo>
                    <a:pt x="13" y="12"/>
                  </a:lnTo>
                  <a:lnTo>
                    <a:pt x="26" y="6"/>
                  </a:lnTo>
                  <a:lnTo>
                    <a:pt x="39" y="0"/>
                  </a:lnTo>
                  <a:lnTo>
                    <a:pt x="58" y="6"/>
                  </a:lnTo>
                  <a:lnTo>
                    <a:pt x="71" y="12"/>
                  </a:lnTo>
                  <a:lnTo>
                    <a:pt x="77" y="38"/>
                  </a:lnTo>
                  <a:lnTo>
                    <a:pt x="71" y="70"/>
                  </a:lnTo>
                  <a:lnTo>
                    <a:pt x="58" y="82"/>
                  </a:lnTo>
                  <a:lnTo>
                    <a:pt x="39" y="82"/>
                  </a:lnTo>
                  <a:close/>
                </a:path>
              </a:pathLst>
            </a:custGeom>
            <a:solidFill>
              <a:srgbClr val="FF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82" name="Freeform 146"/>
            <p:cNvSpPr/>
            <p:nvPr/>
          </p:nvSpPr>
          <p:spPr>
            <a:xfrm>
              <a:off x="1946" y="3502"/>
              <a:ext cx="39" cy="44"/>
            </a:xfrm>
            <a:custGeom>
              <a:avLst/>
              <a:gdLst>
                <a:gd name="txL" fmla="*/ 0 w 39"/>
                <a:gd name="txT" fmla="*/ 0 h 44"/>
                <a:gd name="txR" fmla="*/ 39 w 39"/>
                <a:gd name="txB" fmla="*/ 44 h 44"/>
              </a:gdLst>
              <a:ahLst/>
              <a:cxnLst>
                <a:cxn ang="0">
                  <a:pos x="39" y="44"/>
                </a:cxn>
                <a:cxn ang="0">
                  <a:pos x="26" y="44"/>
                </a:cxn>
                <a:cxn ang="0">
                  <a:pos x="13" y="32"/>
                </a:cxn>
                <a:cxn ang="0">
                  <a:pos x="7" y="19"/>
                </a:cxn>
                <a:cxn ang="0">
                  <a:pos x="0" y="0"/>
                </a:cxn>
                <a:cxn ang="0">
                  <a:pos x="0" y="0"/>
                </a:cxn>
                <a:cxn ang="0">
                  <a:pos x="7" y="19"/>
                </a:cxn>
                <a:cxn ang="0">
                  <a:pos x="13" y="32"/>
                </a:cxn>
                <a:cxn ang="0">
                  <a:pos x="26" y="44"/>
                </a:cxn>
                <a:cxn ang="0">
                  <a:pos x="39" y="44"/>
                </a:cxn>
                <a:cxn ang="0">
                  <a:pos x="39" y="44"/>
                </a:cxn>
              </a:cxnLst>
              <a:rect l="txL" t="txT" r="txR" b="txB"/>
              <a:pathLst>
                <a:path w="39" h="44">
                  <a:moveTo>
                    <a:pt x="39" y="44"/>
                  </a:moveTo>
                  <a:lnTo>
                    <a:pt x="26" y="44"/>
                  </a:lnTo>
                  <a:lnTo>
                    <a:pt x="13" y="32"/>
                  </a:lnTo>
                  <a:lnTo>
                    <a:pt x="7" y="19"/>
                  </a:lnTo>
                  <a:lnTo>
                    <a:pt x="0" y="0"/>
                  </a:lnTo>
                  <a:lnTo>
                    <a:pt x="7" y="19"/>
                  </a:lnTo>
                  <a:lnTo>
                    <a:pt x="13" y="32"/>
                  </a:lnTo>
                  <a:lnTo>
                    <a:pt x="26" y="44"/>
                  </a:lnTo>
                  <a:lnTo>
                    <a:pt x="39" y="44"/>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83" name="Freeform 147"/>
            <p:cNvSpPr>
              <a:spLocks noEditPoints="1"/>
            </p:cNvSpPr>
            <p:nvPr/>
          </p:nvSpPr>
          <p:spPr>
            <a:xfrm>
              <a:off x="1946" y="3464"/>
              <a:ext cx="39" cy="38"/>
            </a:xfrm>
            <a:custGeom>
              <a:avLst/>
              <a:gdLst>
                <a:gd name="txL" fmla="*/ 0 w 39"/>
                <a:gd name="txT" fmla="*/ 0 h 38"/>
                <a:gd name="txR" fmla="*/ 39 w 39"/>
                <a:gd name="txB" fmla="*/ 38 h 38"/>
              </a:gdLst>
              <a:ahLst/>
              <a:cxnLst>
                <a:cxn ang="0">
                  <a:pos x="0" y="38"/>
                </a:cxn>
                <a:cxn ang="0">
                  <a:pos x="7" y="25"/>
                </a:cxn>
                <a:cxn ang="0">
                  <a:pos x="13" y="12"/>
                </a:cxn>
                <a:cxn ang="0">
                  <a:pos x="26" y="6"/>
                </a:cxn>
                <a:cxn ang="0">
                  <a:pos x="39" y="0"/>
                </a:cxn>
                <a:cxn ang="0">
                  <a:pos x="39" y="0"/>
                </a:cxn>
                <a:cxn ang="0">
                  <a:pos x="26" y="6"/>
                </a:cxn>
                <a:cxn ang="0">
                  <a:pos x="13" y="12"/>
                </a:cxn>
                <a:cxn ang="0">
                  <a:pos x="7" y="25"/>
                </a:cxn>
                <a:cxn ang="0">
                  <a:pos x="0" y="38"/>
                </a:cxn>
                <a:cxn ang="0">
                  <a:pos x="0" y="38"/>
                </a:cxn>
                <a:cxn ang="0">
                  <a:pos x="0" y="38"/>
                </a:cxn>
                <a:cxn ang="0">
                  <a:pos x="0" y="38"/>
                </a:cxn>
                <a:cxn ang="0">
                  <a:pos x="0" y="38"/>
                </a:cxn>
              </a:cxnLst>
              <a:rect l="txL" t="txT" r="txR" b="txB"/>
              <a:pathLst>
                <a:path w="39" h="38">
                  <a:moveTo>
                    <a:pt x="0" y="38"/>
                  </a:moveTo>
                  <a:lnTo>
                    <a:pt x="7" y="25"/>
                  </a:lnTo>
                  <a:lnTo>
                    <a:pt x="13" y="12"/>
                  </a:lnTo>
                  <a:lnTo>
                    <a:pt x="26" y="6"/>
                  </a:lnTo>
                  <a:lnTo>
                    <a:pt x="39" y="0"/>
                  </a:lnTo>
                  <a:lnTo>
                    <a:pt x="26" y="6"/>
                  </a:lnTo>
                  <a:lnTo>
                    <a:pt x="13" y="12"/>
                  </a:lnTo>
                  <a:lnTo>
                    <a:pt x="7" y="25"/>
                  </a:lnTo>
                  <a:lnTo>
                    <a:pt x="0" y="38"/>
                  </a:lnTo>
                  <a:close/>
                  <a:moveTo>
                    <a:pt x="0" y="38"/>
                  </a:moveTo>
                  <a:lnTo>
                    <a:pt x="0" y="38"/>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84" name="Freeform 148"/>
            <p:cNvSpPr>
              <a:spLocks noEditPoints="1"/>
            </p:cNvSpPr>
            <p:nvPr/>
          </p:nvSpPr>
          <p:spPr>
            <a:xfrm>
              <a:off x="1985" y="3464"/>
              <a:ext cx="38" cy="38"/>
            </a:xfrm>
            <a:custGeom>
              <a:avLst/>
              <a:gdLst>
                <a:gd name="txL" fmla="*/ 0 w 38"/>
                <a:gd name="txT" fmla="*/ 0 h 38"/>
                <a:gd name="txR" fmla="*/ 38 w 38"/>
                <a:gd name="txB" fmla="*/ 38 h 38"/>
              </a:gdLst>
              <a:ahLst/>
              <a:cxnLst>
                <a:cxn ang="0">
                  <a:pos x="0" y="0"/>
                </a:cxn>
                <a:cxn ang="0">
                  <a:pos x="19" y="6"/>
                </a:cxn>
                <a:cxn ang="0">
                  <a:pos x="32" y="12"/>
                </a:cxn>
                <a:cxn ang="0">
                  <a:pos x="38" y="38"/>
                </a:cxn>
                <a:cxn ang="0">
                  <a:pos x="38" y="38"/>
                </a:cxn>
                <a:cxn ang="0">
                  <a:pos x="32" y="12"/>
                </a:cxn>
                <a:cxn ang="0">
                  <a:pos x="19" y="6"/>
                </a:cxn>
                <a:cxn ang="0">
                  <a:pos x="0" y="0"/>
                </a:cxn>
                <a:cxn ang="0">
                  <a:pos x="0" y="0"/>
                </a:cxn>
                <a:cxn ang="0">
                  <a:pos x="0" y="0"/>
                </a:cxn>
                <a:cxn ang="0">
                  <a:pos x="0" y="0"/>
                </a:cxn>
                <a:cxn ang="0">
                  <a:pos x="0" y="0"/>
                </a:cxn>
              </a:cxnLst>
              <a:rect l="txL" t="txT" r="txR" b="txB"/>
              <a:pathLst>
                <a:path w="38" h="38">
                  <a:moveTo>
                    <a:pt x="0" y="0"/>
                  </a:moveTo>
                  <a:lnTo>
                    <a:pt x="19" y="6"/>
                  </a:lnTo>
                  <a:lnTo>
                    <a:pt x="32" y="12"/>
                  </a:lnTo>
                  <a:lnTo>
                    <a:pt x="38" y="38"/>
                  </a:lnTo>
                  <a:lnTo>
                    <a:pt x="32" y="12"/>
                  </a:lnTo>
                  <a:lnTo>
                    <a:pt x="19" y="6"/>
                  </a:lnTo>
                  <a:lnTo>
                    <a:pt x="0" y="0"/>
                  </a:lnTo>
                  <a:close/>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85" name="Freeform 149"/>
            <p:cNvSpPr>
              <a:spLocks noEditPoints="1"/>
            </p:cNvSpPr>
            <p:nvPr/>
          </p:nvSpPr>
          <p:spPr>
            <a:xfrm>
              <a:off x="1985" y="3502"/>
              <a:ext cx="38" cy="44"/>
            </a:xfrm>
            <a:custGeom>
              <a:avLst/>
              <a:gdLst>
                <a:gd name="txL" fmla="*/ 0 w 38"/>
                <a:gd name="txT" fmla="*/ 0 h 44"/>
                <a:gd name="txR" fmla="*/ 38 w 38"/>
                <a:gd name="txB" fmla="*/ 44 h 44"/>
              </a:gdLst>
              <a:ahLst/>
              <a:cxnLst>
                <a:cxn ang="0">
                  <a:pos x="38" y="0"/>
                </a:cxn>
                <a:cxn ang="0">
                  <a:pos x="32" y="32"/>
                </a:cxn>
                <a:cxn ang="0">
                  <a:pos x="19" y="44"/>
                </a:cxn>
                <a:cxn ang="0">
                  <a:pos x="0" y="44"/>
                </a:cxn>
                <a:cxn ang="0">
                  <a:pos x="0" y="44"/>
                </a:cxn>
                <a:cxn ang="0">
                  <a:pos x="19" y="44"/>
                </a:cxn>
                <a:cxn ang="0">
                  <a:pos x="32" y="32"/>
                </a:cxn>
                <a:cxn ang="0">
                  <a:pos x="38" y="0"/>
                </a:cxn>
                <a:cxn ang="0">
                  <a:pos x="38" y="0"/>
                </a:cxn>
                <a:cxn ang="0">
                  <a:pos x="38" y="0"/>
                </a:cxn>
                <a:cxn ang="0">
                  <a:pos x="38" y="0"/>
                </a:cxn>
                <a:cxn ang="0">
                  <a:pos x="38" y="0"/>
                </a:cxn>
              </a:cxnLst>
              <a:rect l="txL" t="txT" r="txR" b="txB"/>
              <a:pathLst>
                <a:path w="38" h="44">
                  <a:moveTo>
                    <a:pt x="38" y="0"/>
                  </a:moveTo>
                  <a:lnTo>
                    <a:pt x="32" y="32"/>
                  </a:lnTo>
                  <a:lnTo>
                    <a:pt x="19" y="44"/>
                  </a:lnTo>
                  <a:lnTo>
                    <a:pt x="0" y="44"/>
                  </a:lnTo>
                  <a:lnTo>
                    <a:pt x="19" y="44"/>
                  </a:lnTo>
                  <a:lnTo>
                    <a:pt x="32" y="32"/>
                  </a:lnTo>
                  <a:lnTo>
                    <a:pt x="38" y="0"/>
                  </a:lnTo>
                  <a:close/>
                  <a:moveTo>
                    <a:pt x="38" y="0"/>
                  </a:moveTo>
                  <a:lnTo>
                    <a:pt x="38"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86" name="Freeform 150"/>
            <p:cNvSpPr/>
            <p:nvPr/>
          </p:nvSpPr>
          <p:spPr>
            <a:xfrm>
              <a:off x="1985" y="3546"/>
              <a:ext cx="1" cy="1"/>
            </a:xfrm>
            <a:custGeom>
              <a:avLst/>
              <a:gdLst>
                <a:gd name="txL" fmla="*/ 0 w 1"/>
                <a:gd name="txT" fmla="*/ 0 h 1"/>
                <a:gd name="txR" fmla="*/ 1 w 1"/>
                <a:gd name="txB" fmla="*/ 1 h 1"/>
              </a:gdLst>
              <a:ahLst/>
              <a:cxnLst>
                <a:cxn ang="0">
                  <a:pos x="0" y="0"/>
                </a:cxn>
                <a:cxn ang="0">
                  <a:pos x="0" y="0"/>
                </a:cxn>
                <a:cxn ang="0">
                  <a:pos x="0" y="0"/>
                </a:cxn>
              </a:cxnLst>
              <a:rect l="txL" t="txT" r="txR" b="txB"/>
              <a:pathLst>
                <a:path w="1" h="1">
                  <a:moveTo>
                    <a:pt x="0" y="0"/>
                  </a:moveTo>
                  <a:lnTo>
                    <a:pt x="0" y="0"/>
                  </a:lnTo>
                  <a:close/>
                </a:path>
              </a:pathLst>
            </a:custGeom>
            <a:solidFill>
              <a:srgbClr val="000000">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74787" name="Freeform 151"/>
            <p:cNvSpPr/>
            <p:nvPr/>
          </p:nvSpPr>
          <p:spPr>
            <a:xfrm>
              <a:off x="3267" y="2871"/>
              <a:ext cx="64" cy="370"/>
            </a:xfrm>
            <a:custGeom>
              <a:avLst/>
              <a:gdLst>
                <a:gd name="txL" fmla="*/ 0 w 64"/>
                <a:gd name="txT" fmla="*/ 0 h 370"/>
                <a:gd name="txR" fmla="*/ 64 w 64"/>
                <a:gd name="txB" fmla="*/ 370 h 370"/>
              </a:gdLst>
              <a:ahLst/>
              <a:cxnLst>
                <a:cxn ang="0">
                  <a:pos x="0" y="370"/>
                </a:cxn>
                <a:cxn ang="0">
                  <a:pos x="64" y="370"/>
                </a:cxn>
                <a:cxn ang="0">
                  <a:pos x="64" y="0"/>
                </a:cxn>
                <a:cxn ang="0">
                  <a:pos x="0" y="0"/>
                </a:cxn>
                <a:cxn ang="0">
                  <a:pos x="0" y="370"/>
                </a:cxn>
                <a:cxn ang="0">
                  <a:pos x="0" y="370"/>
                </a:cxn>
              </a:cxnLst>
              <a:rect l="txL" t="txT" r="txR" b="txB"/>
              <a:pathLst>
                <a:path w="64" h="370">
                  <a:moveTo>
                    <a:pt x="0" y="370"/>
                  </a:moveTo>
                  <a:lnTo>
                    <a:pt x="64" y="370"/>
                  </a:lnTo>
                  <a:lnTo>
                    <a:pt x="64" y="0"/>
                  </a:lnTo>
                  <a:lnTo>
                    <a:pt x="0" y="0"/>
                  </a:lnTo>
                  <a:lnTo>
                    <a:pt x="0" y="370"/>
                  </a:lnTo>
                  <a:close/>
                </a:path>
              </a:pathLst>
            </a:custGeom>
            <a:solidFill>
              <a:srgbClr val="FFFFFF">
                <a:alpha val="100000"/>
              </a:srgbClr>
            </a:solidFill>
            <a:ln w="952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74788" name="Freeform 152"/>
            <p:cNvSpPr/>
            <p:nvPr/>
          </p:nvSpPr>
          <p:spPr>
            <a:xfrm>
              <a:off x="3299" y="2871"/>
              <a:ext cx="70" cy="58"/>
            </a:xfrm>
            <a:custGeom>
              <a:avLst/>
              <a:gdLst>
                <a:gd name="txL" fmla="*/ 0 w 70"/>
                <a:gd name="txT" fmla="*/ 0 h 58"/>
                <a:gd name="txR" fmla="*/ 70 w 70"/>
                <a:gd name="txB" fmla="*/ 58 h 58"/>
              </a:gdLst>
              <a:ahLst/>
              <a:cxnLst>
                <a:cxn ang="0">
                  <a:pos x="0" y="0"/>
                </a:cxn>
                <a:cxn ang="0">
                  <a:pos x="25" y="7"/>
                </a:cxn>
                <a:cxn ang="0">
                  <a:pos x="51" y="19"/>
                </a:cxn>
                <a:cxn ang="0">
                  <a:pos x="63" y="39"/>
                </a:cxn>
                <a:cxn ang="0">
                  <a:pos x="70" y="58"/>
                </a:cxn>
                <a:cxn ang="0">
                  <a:pos x="70" y="58"/>
                </a:cxn>
                <a:cxn ang="0">
                  <a:pos x="63" y="39"/>
                </a:cxn>
                <a:cxn ang="0">
                  <a:pos x="51" y="19"/>
                </a:cxn>
                <a:cxn ang="0">
                  <a:pos x="25" y="7"/>
                </a:cxn>
                <a:cxn ang="0">
                  <a:pos x="0" y="0"/>
                </a:cxn>
                <a:cxn ang="0">
                  <a:pos x="0" y="0"/>
                </a:cxn>
              </a:cxnLst>
              <a:rect l="txL" t="txT" r="txR" b="txB"/>
              <a:pathLst>
                <a:path w="70" h="58">
                  <a:moveTo>
                    <a:pt x="0" y="0"/>
                  </a:moveTo>
                  <a:lnTo>
                    <a:pt x="25" y="7"/>
                  </a:lnTo>
                  <a:lnTo>
                    <a:pt x="51" y="19"/>
                  </a:lnTo>
                  <a:lnTo>
                    <a:pt x="63" y="39"/>
                  </a:lnTo>
                  <a:lnTo>
                    <a:pt x="70" y="58"/>
                  </a:lnTo>
                  <a:lnTo>
                    <a:pt x="63" y="39"/>
                  </a:lnTo>
                  <a:lnTo>
                    <a:pt x="51" y="19"/>
                  </a:lnTo>
                  <a:lnTo>
                    <a:pt x="25" y="7"/>
                  </a:ln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89" name="Freeform 153"/>
            <p:cNvSpPr>
              <a:spLocks noEditPoints="1"/>
            </p:cNvSpPr>
            <p:nvPr/>
          </p:nvSpPr>
          <p:spPr>
            <a:xfrm>
              <a:off x="3299" y="2929"/>
              <a:ext cx="70" cy="57"/>
            </a:xfrm>
            <a:custGeom>
              <a:avLst/>
              <a:gdLst>
                <a:gd name="txL" fmla="*/ 0 w 70"/>
                <a:gd name="txT" fmla="*/ 0 h 57"/>
                <a:gd name="txR" fmla="*/ 70 w 70"/>
                <a:gd name="txB" fmla="*/ 57 h 57"/>
              </a:gdLst>
              <a:ahLst/>
              <a:cxnLst>
                <a:cxn ang="0">
                  <a:pos x="70" y="0"/>
                </a:cxn>
                <a:cxn ang="0">
                  <a:pos x="63" y="25"/>
                </a:cxn>
                <a:cxn ang="0">
                  <a:pos x="51" y="38"/>
                </a:cxn>
                <a:cxn ang="0">
                  <a:pos x="25" y="51"/>
                </a:cxn>
                <a:cxn ang="0">
                  <a:pos x="0" y="57"/>
                </a:cxn>
                <a:cxn ang="0">
                  <a:pos x="0" y="57"/>
                </a:cxn>
                <a:cxn ang="0">
                  <a:pos x="25" y="51"/>
                </a:cxn>
                <a:cxn ang="0">
                  <a:pos x="51" y="38"/>
                </a:cxn>
                <a:cxn ang="0">
                  <a:pos x="63" y="25"/>
                </a:cxn>
                <a:cxn ang="0">
                  <a:pos x="70" y="0"/>
                </a:cxn>
                <a:cxn ang="0">
                  <a:pos x="70" y="0"/>
                </a:cxn>
                <a:cxn ang="0">
                  <a:pos x="70" y="0"/>
                </a:cxn>
                <a:cxn ang="0">
                  <a:pos x="70" y="0"/>
                </a:cxn>
                <a:cxn ang="0">
                  <a:pos x="70" y="0"/>
                </a:cxn>
              </a:cxnLst>
              <a:rect l="txL" t="txT" r="txR" b="txB"/>
              <a:pathLst>
                <a:path w="70" h="57">
                  <a:moveTo>
                    <a:pt x="70" y="0"/>
                  </a:moveTo>
                  <a:lnTo>
                    <a:pt x="63" y="25"/>
                  </a:lnTo>
                  <a:lnTo>
                    <a:pt x="51" y="38"/>
                  </a:lnTo>
                  <a:lnTo>
                    <a:pt x="25" y="51"/>
                  </a:lnTo>
                  <a:lnTo>
                    <a:pt x="0" y="57"/>
                  </a:lnTo>
                  <a:lnTo>
                    <a:pt x="25" y="51"/>
                  </a:lnTo>
                  <a:lnTo>
                    <a:pt x="51" y="38"/>
                  </a:lnTo>
                  <a:lnTo>
                    <a:pt x="63" y="25"/>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0" name="Freeform 154"/>
            <p:cNvSpPr>
              <a:spLocks noEditPoints="1"/>
            </p:cNvSpPr>
            <p:nvPr/>
          </p:nvSpPr>
          <p:spPr>
            <a:xfrm>
              <a:off x="3248" y="2973"/>
              <a:ext cx="51" cy="13"/>
            </a:xfrm>
            <a:custGeom>
              <a:avLst/>
              <a:gdLst>
                <a:gd name="txL" fmla="*/ 0 w 51"/>
                <a:gd name="txT" fmla="*/ 0 h 13"/>
                <a:gd name="txR" fmla="*/ 51 w 51"/>
                <a:gd name="txB" fmla="*/ 13 h 13"/>
              </a:gdLst>
              <a:ahLst/>
              <a:cxnLst>
                <a:cxn ang="0">
                  <a:pos x="51" y="13"/>
                </a:cxn>
                <a:cxn ang="0">
                  <a:pos x="25" y="7"/>
                </a:cxn>
                <a:cxn ang="0">
                  <a:pos x="0" y="0"/>
                </a:cxn>
                <a:cxn ang="0">
                  <a:pos x="0" y="0"/>
                </a:cxn>
                <a:cxn ang="0">
                  <a:pos x="25" y="7"/>
                </a:cxn>
                <a:cxn ang="0">
                  <a:pos x="51" y="13"/>
                </a:cxn>
                <a:cxn ang="0">
                  <a:pos x="51" y="13"/>
                </a:cxn>
                <a:cxn ang="0">
                  <a:pos x="51" y="13"/>
                </a:cxn>
                <a:cxn ang="0">
                  <a:pos x="51" y="13"/>
                </a:cxn>
                <a:cxn ang="0">
                  <a:pos x="51" y="13"/>
                </a:cxn>
              </a:cxnLst>
              <a:rect l="txL" t="txT" r="txR" b="txB"/>
              <a:pathLst>
                <a:path w="51" h="13">
                  <a:moveTo>
                    <a:pt x="51" y="13"/>
                  </a:moveTo>
                  <a:lnTo>
                    <a:pt x="25" y="7"/>
                  </a:lnTo>
                  <a:lnTo>
                    <a:pt x="0" y="0"/>
                  </a:lnTo>
                  <a:lnTo>
                    <a:pt x="25" y="7"/>
                  </a:lnTo>
                  <a:lnTo>
                    <a:pt x="51" y="13"/>
                  </a:lnTo>
                  <a:close/>
                  <a:moveTo>
                    <a:pt x="51" y="13"/>
                  </a:moveTo>
                  <a:lnTo>
                    <a:pt x="51"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1" name="Freeform 155"/>
            <p:cNvSpPr>
              <a:spLocks noEditPoints="1"/>
            </p:cNvSpPr>
            <p:nvPr/>
          </p:nvSpPr>
          <p:spPr>
            <a:xfrm>
              <a:off x="3248" y="2954"/>
              <a:ext cx="51" cy="19"/>
            </a:xfrm>
            <a:custGeom>
              <a:avLst/>
              <a:gdLst>
                <a:gd name="txL" fmla="*/ 0 w 51"/>
                <a:gd name="txT" fmla="*/ 0 h 19"/>
                <a:gd name="txR" fmla="*/ 51 w 51"/>
                <a:gd name="txB" fmla="*/ 19 h 19"/>
              </a:gdLst>
              <a:ahLst/>
              <a:cxnLst>
                <a:cxn ang="0">
                  <a:pos x="0" y="19"/>
                </a:cxn>
                <a:cxn ang="0">
                  <a:pos x="25" y="7"/>
                </a:cxn>
                <a:cxn ang="0">
                  <a:pos x="51" y="0"/>
                </a:cxn>
                <a:cxn ang="0">
                  <a:pos x="51" y="0"/>
                </a:cxn>
                <a:cxn ang="0">
                  <a:pos x="25" y="7"/>
                </a:cxn>
                <a:cxn ang="0">
                  <a:pos x="0" y="19"/>
                </a:cxn>
                <a:cxn ang="0">
                  <a:pos x="0" y="19"/>
                </a:cxn>
                <a:cxn ang="0">
                  <a:pos x="0" y="19"/>
                </a:cxn>
                <a:cxn ang="0">
                  <a:pos x="0" y="19"/>
                </a:cxn>
                <a:cxn ang="0">
                  <a:pos x="0" y="19"/>
                </a:cxn>
              </a:cxnLst>
              <a:rect l="txL" t="txT" r="txR" b="txB"/>
              <a:pathLst>
                <a:path w="51" h="19">
                  <a:moveTo>
                    <a:pt x="0" y="19"/>
                  </a:moveTo>
                  <a:lnTo>
                    <a:pt x="25" y="7"/>
                  </a:lnTo>
                  <a:lnTo>
                    <a:pt x="51" y="0"/>
                  </a:lnTo>
                  <a:lnTo>
                    <a:pt x="25" y="7"/>
                  </a:lnTo>
                  <a:lnTo>
                    <a:pt x="0" y="19"/>
                  </a:lnTo>
                  <a:close/>
                  <a:moveTo>
                    <a:pt x="0" y="19"/>
                  </a:moveTo>
                  <a:lnTo>
                    <a:pt x="0"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2" name="Freeform 156"/>
            <p:cNvSpPr>
              <a:spLocks noEditPoints="1"/>
            </p:cNvSpPr>
            <p:nvPr/>
          </p:nvSpPr>
          <p:spPr>
            <a:xfrm>
              <a:off x="3299" y="2954"/>
              <a:ext cx="70" cy="57"/>
            </a:xfrm>
            <a:custGeom>
              <a:avLst/>
              <a:gdLst>
                <a:gd name="txL" fmla="*/ 0 w 70"/>
                <a:gd name="txT" fmla="*/ 0 h 57"/>
                <a:gd name="txR" fmla="*/ 70 w 70"/>
                <a:gd name="txB" fmla="*/ 57 h 57"/>
              </a:gdLst>
              <a:ahLst/>
              <a:cxnLst>
                <a:cxn ang="0">
                  <a:pos x="0" y="0"/>
                </a:cxn>
                <a:cxn ang="0">
                  <a:pos x="25" y="7"/>
                </a:cxn>
                <a:cxn ang="0">
                  <a:pos x="51" y="19"/>
                </a:cxn>
                <a:cxn ang="0">
                  <a:pos x="63" y="38"/>
                </a:cxn>
                <a:cxn ang="0">
                  <a:pos x="70" y="57"/>
                </a:cxn>
                <a:cxn ang="0">
                  <a:pos x="70" y="57"/>
                </a:cxn>
                <a:cxn ang="0">
                  <a:pos x="63" y="38"/>
                </a:cxn>
                <a:cxn ang="0">
                  <a:pos x="51" y="19"/>
                </a:cxn>
                <a:cxn ang="0">
                  <a:pos x="25" y="7"/>
                </a:cxn>
                <a:cxn ang="0">
                  <a:pos x="0" y="0"/>
                </a:cxn>
                <a:cxn ang="0">
                  <a:pos x="0" y="0"/>
                </a:cxn>
                <a:cxn ang="0">
                  <a:pos x="0" y="0"/>
                </a:cxn>
                <a:cxn ang="0">
                  <a:pos x="0" y="0"/>
                </a:cxn>
                <a:cxn ang="0">
                  <a:pos x="0" y="0"/>
                </a:cxn>
              </a:cxnLst>
              <a:rect l="txL" t="txT" r="txR" b="txB"/>
              <a:pathLst>
                <a:path w="70" h="57">
                  <a:moveTo>
                    <a:pt x="0" y="0"/>
                  </a:moveTo>
                  <a:lnTo>
                    <a:pt x="25" y="7"/>
                  </a:lnTo>
                  <a:lnTo>
                    <a:pt x="51" y="19"/>
                  </a:lnTo>
                  <a:lnTo>
                    <a:pt x="63" y="38"/>
                  </a:lnTo>
                  <a:lnTo>
                    <a:pt x="70" y="57"/>
                  </a:lnTo>
                  <a:lnTo>
                    <a:pt x="63" y="38"/>
                  </a:lnTo>
                  <a:lnTo>
                    <a:pt x="51" y="19"/>
                  </a:lnTo>
                  <a:lnTo>
                    <a:pt x="25" y="7"/>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3" name="Freeform 157"/>
            <p:cNvSpPr>
              <a:spLocks noEditPoints="1"/>
            </p:cNvSpPr>
            <p:nvPr/>
          </p:nvSpPr>
          <p:spPr>
            <a:xfrm>
              <a:off x="3299" y="3011"/>
              <a:ext cx="70" cy="58"/>
            </a:xfrm>
            <a:custGeom>
              <a:avLst/>
              <a:gdLst>
                <a:gd name="txL" fmla="*/ 0 w 70"/>
                <a:gd name="txT" fmla="*/ 0 h 58"/>
                <a:gd name="txR" fmla="*/ 70 w 70"/>
                <a:gd name="txB" fmla="*/ 58 h 58"/>
              </a:gdLst>
              <a:ahLst/>
              <a:cxnLst>
                <a:cxn ang="0">
                  <a:pos x="70" y="0"/>
                </a:cxn>
                <a:cxn ang="0">
                  <a:pos x="63" y="26"/>
                </a:cxn>
                <a:cxn ang="0">
                  <a:pos x="51" y="39"/>
                </a:cxn>
                <a:cxn ang="0">
                  <a:pos x="25" y="51"/>
                </a:cxn>
                <a:cxn ang="0">
                  <a:pos x="0" y="58"/>
                </a:cxn>
                <a:cxn ang="0">
                  <a:pos x="0" y="58"/>
                </a:cxn>
                <a:cxn ang="0">
                  <a:pos x="25" y="51"/>
                </a:cxn>
                <a:cxn ang="0">
                  <a:pos x="51" y="39"/>
                </a:cxn>
                <a:cxn ang="0">
                  <a:pos x="63" y="26"/>
                </a:cxn>
                <a:cxn ang="0">
                  <a:pos x="70" y="0"/>
                </a:cxn>
                <a:cxn ang="0">
                  <a:pos x="70" y="0"/>
                </a:cxn>
                <a:cxn ang="0">
                  <a:pos x="70" y="0"/>
                </a:cxn>
                <a:cxn ang="0">
                  <a:pos x="70" y="0"/>
                </a:cxn>
                <a:cxn ang="0">
                  <a:pos x="70" y="0"/>
                </a:cxn>
              </a:cxnLst>
              <a:rect l="txL" t="txT" r="txR" b="txB"/>
              <a:pathLst>
                <a:path w="70" h="58">
                  <a:moveTo>
                    <a:pt x="70" y="0"/>
                  </a:moveTo>
                  <a:lnTo>
                    <a:pt x="63" y="26"/>
                  </a:lnTo>
                  <a:lnTo>
                    <a:pt x="51" y="39"/>
                  </a:lnTo>
                  <a:lnTo>
                    <a:pt x="25" y="51"/>
                  </a:lnTo>
                  <a:lnTo>
                    <a:pt x="0" y="58"/>
                  </a:lnTo>
                  <a:lnTo>
                    <a:pt x="25" y="51"/>
                  </a:lnTo>
                  <a:lnTo>
                    <a:pt x="51" y="39"/>
                  </a:lnTo>
                  <a:lnTo>
                    <a:pt x="63" y="26"/>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4" name="Freeform 158"/>
            <p:cNvSpPr>
              <a:spLocks noEditPoints="1"/>
            </p:cNvSpPr>
            <p:nvPr/>
          </p:nvSpPr>
          <p:spPr>
            <a:xfrm>
              <a:off x="3248" y="3056"/>
              <a:ext cx="51" cy="13"/>
            </a:xfrm>
            <a:custGeom>
              <a:avLst/>
              <a:gdLst>
                <a:gd name="txL" fmla="*/ 0 w 51"/>
                <a:gd name="txT" fmla="*/ 0 h 13"/>
                <a:gd name="txR" fmla="*/ 51 w 51"/>
                <a:gd name="txB" fmla="*/ 13 h 13"/>
              </a:gdLst>
              <a:ahLst/>
              <a:cxnLst>
                <a:cxn ang="0">
                  <a:pos x="51" y="13"/>
                </a:cxn>
                <a:cxn ang="0">
                  <a:pos x="25" y="6"/>
                </a:cxn>
                <a:cxn ang="0">
                  <a:pos x="0" y="0"/>
                </a:cxn>
                <a:cxn ang="0">
                  <a:pos x="0" y="0"/>
                </a:cxn>
                <a:cxn ang="0">
                  <a:pos x="25" y="6"/>
                </a:cxn>
                <a:cxn ang="0">
                  <a:pos x="51" y="13"/>
                </a:cxn>
                <a:cxn ang="0">
                  <a:pos x="51" y="13"/>
                </a:cxn>
                <a:cxn ang="0">
                  <a:pos x="51" y="13"/>
                </a:cxn>
                <a:cxn ang="0">
                  <a:pos x="51" y="13"/>
                </a:cxn>
                <a:cxn ang="0">
                  <a:pos x="51" y="13"/>
                </a:cxn>
              </a:cxnLst>
              <a:rect l="txL" t="txT" r="txR" b="txB"/>
              <a:pathLst>
                <a:path w="51" h="13">
                  <a:moveTo>
                    <a:pt x="51" y="13"/>
                  </a:moveTo>
                  <a:lnTo>
                    <a:pt x="25" y="6"/>
                  </a:lnTo>
                  <a:lnTo>
                    <a:pt x="0" y="0"/>
                  </a:lnTo>
                  <a:lnTo>
                    <a:pt x="25" y="6"/>
                  </a:lnTo>
                  <a:lnTo>
                    <a:pt x="51" y="13"/>
                  </a:lnTo>
                  <a:close/>
                  <a:moveTo>
                    <a:pt x="51" y="13"/>
                  </a:moveTo>
                  <a:lnTo>
                    <a:pt x="51"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5" name="Freeform 159"/>
            <p:cNvSpPr>
              <a:spLocks noEditPoints="1"/>
            </p:cNvSpPr>
            <p:nvPr/>
          </p:nvSpPr>
          <p:spPr>
            <a:xfrm>
              <a:off x="3248" y="3037"/>
              <a:ext cx="51" cy="19"/>
            </a:xfrm>
            <a:custGeom>
              <a:avLst/>
              <a:gdLst>
                <a:gd name="txL" fmla="*/ 0 w 51"/>
                <a:gd name="txT" fmla="*/ 0 h 19"/>
                <a:gd name="txR" fmla="*/ 51 w 51"/>
                <a:gd name="txB" fmla="*/ 19 h 19"/>
              </a:gdLst>
              <a:ahLst/>
              <a:cxnLst>
                <a:cxn ang="0">
                  <a:pos x="0" y="19"/>
                </a:cxn>
                <a:cxn ang="0">
                  <a:pos x="25" y="6"/>
                </a:cxn>
                <a:cxn ang="0">
                  <a:pos x="51" y="0"/>
                </a:cxn>
                <a:cxn ang="0">
                  <a:pos x="51" y="0"/>
                </a:cxn>
                <a:cxn ang="0">
                  <a:pos x="25" y="6"/>
                </a:cxn>
                <a:cxn ang="0">
                  <a:pos x="0" y="19"/>
                </a:cxn>
                <a:cxn ang="0">
                  <a:pos x="0" y="19"/>
                </a:cxn>
                <a:cxn ang="0">
                  <a:pos x="0" y="19"/>
                </a:cxn>
                <a:cxn ang="0">
                  <a:pos x="0" y="19"/>
                </a:cxn>
                <a:cxn ang="0">
                  <a:pos x="0" y="19"/>
                </a:cxn>
              </a:cxnLst>
              <a:rect l="txL" t="txT" r="txR" b="txB"/>
              <a:pathLst>
                <a:path w="51" h="19">
                  <a:moveTo>
                    <a:pt x="0" y="19"/>
                  </a:moveTo>
                  <a:lnTo>
                    <a:pt x="25" y="6"/>
                  </a:lnTo>
                  <a:lnTo>
                    <a:pt x="51" y="0"/>
                  </a:lnTo>
                  <a:lnTo>
                    <a:pt x="25" y="6"/>
                  </a:lnTo>
                  <a:lnTo>
                    <a:pt x="0" y="19"/>
                  </a:lnTo>
                  <a:close/>
                  <a:moveTo>
                    <a:pt x="0" y="19"/>
                  </a:moveTo>
                  <a:lnTo>
                    <a:pt x="0" y="19"/>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6" name="Freeform 160"/>
            <p:cNvSpPr>
              <a:spLocks noEditPoints="1"/>
            </p:cNvSpPr>
            <p:nvPr/>
          </p:nvSpPr>
          <p:spPr>
            <a:xfrm>
              <a:off x="3299" y="3037"/>
              <a:ext cx="70" cy="57"/>
            </a:xfrm>
            <a:custGeom>
              <a:avLst/>
              <a:gdLst>
                <a:gd name="txL" fmla="*/ 0 w 70"/>
                <a:gd name="txT" fmla="*/ 0 h 57"/>
                <a:gd name="txR" fmla="*/ 70 w 70"/>
                <a:gd name="txB" fmla="*/ 57 h 57"/>
              </a:gdLst>
              <a:ahLst/>
              <a:cxnLst>
                <a:cxn ang="0">
                  <a:pos x="0" y="0"/>
                </a:cxn>
                <a:cxn ang="0">
                  <a:pos x="25" y="6"/>
                </a:cxn>
                <a:cxn ang="0">
                  <a:pos x="51" y="19"/>
                </a:cxn>
                <a:cxn ang="0">
                  <a:pos x="63" y="38"/>
                </a:cxn>
                <a:cxn ang="0">
                  <a:pos x="70" y="57"/>
                </a:cxn>
                <a:cxn ang="0">
                  <a:pos x="70" y="57"/>
                </a:cxn>
                <a:cxn ang="0">
                  <a:pos x="63" y="38"/>
                </a:cxn>
                <a:cxn ang="0">
                  <a:pos x="51" y="19"/>
                </a:cxn>
                <a:cxn ang="0">
                  <a:pos x="25" y="6"/>
                </a:cxn>
                <a:cxn ang="0">
                  <a:pos x="0" y="0"/>
                </a:cxn>
                <a:cxn ang="0">
                  <a:pos x="0" y="0"/>
                </a:cxn>
                <a:cxn ang="0">
                  <a:pos x="0" y="0"/>
                </a:cxn>
                <a:cxn ang="0">
                  <a:pos x="0" y="0"/>
                </a:cxn>
                <a:cxn ang="0">
                  <a:pos x="0" y="0"/>
                </a:cxn>
              </a:cxnLst>
              <a:rect l="txL" t="txT" r="txR" b="txB"/>
              <a:pathLst>
                <a:path w="70" h="57">
                  <a:moveTo>
                    <a:pt x="0" y="0"/>
                  </a:moveTo>
                  <a:lnTo>
                    <a:pt x="25" y="6"/>
                  </a:lnTo>
                  <a:lnTo>
                    <a:pt x="51" y="19"/>
                  </a:lnTo>
                  <a:lnTo>
                    <a:pt x="63" y="38"/>
                  </a:lnTo>
                  <a:lnTo>
                    <a:pt x="70" y="57"/>
                  </a:lnTo>
                  <a:lnTo>
                    <a:pt x="63" y="38"/>
                  </a:lnTo>
                  <a:lnTo>
                    <a:pt x="51" y="19"/>
                  </a:lnTo>
                  <a:lnTo>
                    <a:pt x="25"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7" name="Freeform 161"/>
            <p:cNvSpPr>
              <a:spLocks noEditPoints="1"/>
            </p:cNvSpPr>
            <p:nvPr/>
          </p:nvSpPr>
          <p:spPr>
            <a:xfrm>
              <a:off x="3299" y="3094"/>
              <a:ext cx="70" cy="58"/>
            </a:xfrm>
            <a:custGeom>
              <a:avLst/>
              <a:gdLst>
                <a:gd name="txL" fmla="*/ 0 w 70"/>
                <a:gd name="txT" fmla="*/ 0 h 58"/>
                <a:gd name="txR" fmla="*/ 70 w 70"/>
                <a:gd name="txB" fmla="*/ 58 h 58"/>
              </a:gdLst>
              <a:ahLst/>
              <a:cxnLst>
                <a:cxn ang="0">
                  <a:pos x="70" y="0"/>
                </a:cxn>
                <a:cxn ang="0">
                  <a:pos x="63" y="26"/>
                </a:cxn>
                <a:cxn ang="0">
                  <a:pos x="51" y="38"/>
                </a:cxn>
                <a:cxn ang="0">
                  <a:pos x="25" y="51"/>
                </a:cxn>
                <a:cxn ang="0">
                  <a:pos x="0" y="58"/>
                </a:cxn>
                <a:cxn ang="0">
                  <a:pos x="0" y="58"/>
                </a:cxn>
                <a:cxn ang="0">
                  <a:pos x="25" y="51"/>
                </a:cxn>
                <a:cxn ang="0">
                  <a:pos x="51" y="38"/>
                </a:cxn>
                <a:cxn ang="0">
                  <a:pos x="63" y="26"/>
                </a:cxn>
                <a:cxn ang="0">
                  <a:pos x="70" y="0"/>
                </a:cxn>
                <a:cxn ang="0">
                  <a:pos x="70" y="0"/>
                </a:cxn>
                <a:cxn ang="0">
                  <a:pos x="70" y="0"/>
                </a:cxn>
                <a:cxn ang="0">
                  <a:pos x="70" y="0"/>
                </a:cxn>
                <a:cxn ang="0">
                  <a:pos x="70" y="0"/>
                </a:cxn>
              </a:cxnLst>
              <a:rect l="txL" t="txT" r="txR" b="txB"/>
              <a:pathLst>
                <a:path w="70" h="58">
                  <a:moveTo>
                    <a:pt x="70" y="0"/>
                  </a:moveTo>
                  <a:lnTo>
                    <a:pt x="63" y="26"/>
                  </a:lnTo>
                  <a:lnTo>
                    <a:pt x="51" y="38"/>
                  </a:lnTo>
                  <a:lnTo>
                    <a:pt x="25" y="51"/>
                  </a:lnTo>
                  <a:lnTo>
                    <a:pt x="0" y="58"/>
                  </a:lnTo>
                  <a:lnTo>
                    <a:pt x="25" y="51"/>
                  </a:lnTo>
                  <a:lnTo>
                    <a:pt x="51" y="38"/>
                  </a:lnTo>
                  <a:lnTo>
                    <a:pt x="63" y="26"/>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8" name="Freeform 162"/>
            <p:cNvSpPr>
              <a:spLocks noEditPoints="1"/>
            </p:cNvSpPr>
            <p:nvPr/>
          </p:nvSpPr>
          <p:spPr>
            <a:xfrm>
              <a:off x="3248" y="3139"/>
              <a:ext cx="51" cy="13"/>
            </a:xfrm>
            <a:custGeom>
              <a:avLst/>
              <a:gdLst>
                <a:gd name="txL" fmla="*/ 0 w 51"/>
                <a:gd name="txT" fmla="*/ 0 h 13"/>
                <a:gd name="txR" fmla="*/ 51 w 51"/>
                <a:gd name="txB" fmla="*/ 13 h 13"/>
              </a:gdLst>
              <a:ahLst/>
              <a:cxnLst>
                <a:cxn ang="0">
                  <a:pos x="51" y="13"/>
                </a:cxn>
                <a:cxn ang="0">
                  <a:pos x="25" y="13"/>
                </a:cxn>
                <a:cxn ang="0">
                  <a:pos x="0" y="0"/>
                </a:cxn>
                <a:cxn ang="0">
                  <a:pos x="0" y="0"/>
                </a:cxn>
                <a:cxn ang="0">
                  <a:pos x="25" y="13"/>
                </a:cxn>
                <a:cxn ang="0">
                  <a:pos x="51" y="13"/>
                </a:cxn>
                <a:cxn ang="0">
                  <a:pos x="51" y="13"/>
                </a:cxn>
                <a:cxn ang="0">
                  <a:pos x="51" y="13"/>
                </a:cxn>
                <a:cxn ang="0">
                  <a:pos x="51" y="13"/>
                </a:cxn>
                <a:cxn ang="0">
                  <a:pos x="51" y="13"/>
                </a:cxn>
              </a:cxnLst>
              <a:rect l="txL" t="txT" r="txR" b="txB"/>
              <a:pathLst>
                <a:path w="51" h="13">
                  <a:moveTo>
                    <a:pt x="51" y="13"/>
                  </a:moveTo>
                  <a:lnTo>
                    <a:pt x="25" y="13"/>
                  </a:lnTo>
                  <a:lnTo>
                    <a:pt x="0" y="0"/>
                  </a:lnTo>
                  <a:lnTo>
                    <a:pt x="25" y="13"/>
                  </a:lnTo>
                  <a:lnTo>
                    <a:pt x="51" y="13"/>
                  </a:lnTo>
                  <a:close/>
                  <a:moveTo>
                    <a:pt x="51" y="13"/>
                  </a:moveTo>
                  <a:lnTo>
                    <a:pt x="51"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799" name="Freeform 163"/>
            <p:cNvSpPr>
              <a:spLocks noEditPoints="1"/>
            </p:cNvSpPr>
            <p:nvPr/>
          </p:nvSpPr>
          <p:spPr>
            <a:xfrm>
              <a:off x="3248" y="3126"/>
              <a:ext cx="51" cy="13"/>
            </a:xfrm>
            <a:custGeom>
              <a:avLst/>
              <a:gdLst>
                <a:gd name="txL" fmla="*/ 0 w 51"/>
                <a:gd name="txT" fmla="*/ 0 h 13"/>
                <a:gd name="txR" fmla="*/ 51 w 51"/>
                <a:gd name="txB" fmla="*/ 13 h 13"/>
              </a:gdLst>
              <a:ahLst/>
              <a:cxnLst>
                <a:cxn ang="0">
                  <a:pos x="0" y="13"/>
                </a:cxn>
                <a:cxn ang="0">
                  <a:pos x="25" y="6"/>
                </a:cxn>
                <a:cxn ang="0">
                  <a:pos x="51" y="0"/>
                </a:cxn>
                <a:cxn ang="0">
                  <a:pos x="51" y="0"/>
                </a:cxn>
                <a:cxn ang="0">
                  <a:pos x="25" y="6"/>
                </a:cxn>
                <a:cxn ang="0">
                  <a:pos x="0" y="13"/>
                </a:cxn>
                <a:cxn ang="0">
                  <a:pos x="0" y="13"/>
                </a:cxn>
                <a:cxn ang="0">
                  <a:pos x="0" y="13"/>
                </a:cxn>
                <a:cxn ang="0">
                  <a:pos x="0" y="13"/>
                </a:cxn>
                <a:cxn ang="0">
                  <a:pos x="0" y="13"/>
                </a:cxn>
              </a:cxnLst>
              <a:rect l="txL" t="txT" r="txR" b="txB"/>
              <a:pathLst>
                <a:path w="51" h="13">
                  <a:moveTo>
                    <a:pt x="0" y="13"/>
                  </a:moveTo>
                  <a:lnTo>
                    <a:pt x="25" y="6"/>
                  </a:lnTo>
                  <a:lnTo>
                    <a:pt x="51" y="0"/>
                  </a:lnTo>
                  <a:lnTo>
                    <a:pt x="25" y="6"/>
                  </a:lnTo>
                  <a:lnTo>
                    <a:pt x="0" y="13"/>
                  </a:lnTo>
                  <a:close/>
                  <a:moveTo>
                    <a:pt x="0" y="13"/>
                  </a:moveTo>
                  <a:lnTo>
                    <a:pt x="0" y="13"/>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00" name="Freeform 164"/>
            <p:cNvSpPr>
              <a:spLocks noEditPoints="1"/>
            </p:cNvSpPr>
            <p:nvPr/>
          </p:nvSpPr>
          <p:spPr>
            <a:xfrm>
              <a:off x="3299" y="3126"/>
              <a:ext cx="70" cy="57"/>
            </a:xfrm>
            <a:custGeom>
              <a:avLst/>
              <a:gdLst>
                <a:gd name="txL" fmla="*/ 0 w 70"/>
                <a:gd name="txT" fmla="*/ 0 h 57"/>
                <a:gd name="txR" fmla="*/ 70 w 70"/>
                <a:gd name="txB" fmla="*/ 57 h 57"/>
              </a:gdLst>
              <a:ahLst/>
              <a:cxnLst>
                <a:cxn ang="0">
                  <a:pos x="0" y="0"/>
                </a:cxn>
                <a:cxn ang="0">
                  <a:pos x="25" y="6"/>
                </a:cxn>
                <a:cxn ang="0">
                  <a:pos x="51" y="19"/>
                </a:cxn>
                <a:cxn ang="0">
                  <a:pos x="63" y="38"/>
                </a:cxn>
                <a:cxn ang="0">
                  <a:pos x="70" y="57"/>
                </a:cxn>
                <a:cxn ang="0">
                  <a:pos x="70" y="57"/>
                </a:cxn>
                <a:cxn ang="0">
                  <a:pos x="63" y="38"/>
                </a:cxn>
                <a:cxn ang="0">
                  <a:pos x="51" y="19"/>
                </a:cxn>
                <a:cxn ang="0">
                  <a:pos x="25" y="6"/>
                </a:cxn>
                <a:cxn ang="0">
                  <a:pos x="0" y="0"/>
                </a:cxn>
                <a:cxn ang="0">
                  <a:pos x="0" y="0"/>
                </a:cxn>
                <a:cxn ang="0">
                  <a:pos x="0" y="0"/>
                </a:cxn>
                <a:cxn ang="0">
                  <a:pos x="0" y="0"/>
                </a:cxn>
                <a:cxn ang="0">
                  <a:pos x="0" y="0"/>
                </a:cxn>
              </a:cxnLst>
              <a:rect l="txL" t="txT" r="txR" b="txB"/>
              <a:pathLst>
                <a:path w="70" h="57">
                  <a:moveTo>
                    <a:pt x="0" y="0"/>
                  </a:moveTo>
                  <a:lnTo>
                    <a:pt x="25" y="6"/>
                  </a:lnTo>
                  <a:lnTo>
                    <a:pt x="51" y="19"/>
                  </a:lnTo>
                  <a:lnTo>
                    <a:pt x="63" y="38"/>
                  </a:lnTo>
                  <a:lnTo>
                    <a:pt x="70" y="57"/>
                  </a:lnTo>
                  <a:lnTo>
                    <a:pt x="63" y="38"/>
                  </a:lnTo>
                  <a:lnTo>
                    <a:pt x="51" y="19"/>
                  </a:lnTo>
                  <a:lnTo>
                    <a:pt x="25" y="6"/>
                  </a:lnTo>
                  <a:lnTo>
                    <a:pt x="0" y="0"/>
                  </a:lnTo>
                  <a:close/>
                  <a:moveTo>
                    <a:pt x="0" y="0"/>
                  </a:moveTo>
                  <a:lnTo>
                    <a:pt x="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01" name="Freeform 165"/>
            <p:cNvSpPr>
              <a:spLocks noEditPoints="1"/>
            </p:cNvSpPr>
            <p:nvPr/>
          </p:nvSpPr>
          <p:spPr>
            <a:xfrm>
              <a:off x="3299" y="3183"/>
              <a:ext cx="70" cy="58"/>
            </a:xfrm>
            <a:custGeom>
              <a:avLst/>
              <a:gdLst>
                <a:gd name="txL" fmla="*/ 0 w 70"/>
                <a:gd name="txT" fmla="*/ 0 h 58"/>
                <a:gd name="txR" fmla="*/ 70 w 70"/>
                <a:gd name="txB" fmla="*/ 58 h 58"/>
              </a:gdLst>
              <a:ahLst/>
              <a:cxnLst>
                <a:cxn ang="0">
                  <a:pos x="70" y="0"/>
                </a:cxn>
                <a:cxn ang="0">
                  <a:pos x="63" y="26"/>
                </a:cxn>
                <a:cxn ang="0">
                  <a:pos x="51" y="39"/>
                </a:cxn>
                <a:cxn ang="0">
                  <a:pos x="25" y="51"/>
                </a:cxn>
                <a:cxn ang="0">
                  <a:pos x="0" y="58"/>
                </a:cxn>
                <a:cxn ang="0">
                  <a:pos x="0" y="58"/>
                </a:cxn>
                <a:cxn ang="0">
                  <a:pos x="25" y="51"/>
                </a:cxn>
                <a:cxn ang="0">
                  <a:pos x="51" y="39"/>
                </a:cxn>
                <a:cxn ang="0">
                  <a:pos x="63" y="26"/>
                </a:cxn>
                <a:cxn ang="0">
                  <a:pos x="70" y="0"/>
                </a:cxn>
                <a:cxn ang="0">
                  <a:pos x="70" y="0"/>
                </a:cxn>
                <a:cxn ang="0">
                  <a:pos x="70" y="0"/>
                </a:cxn>
                <a:cxn ang="0">
                  <a:pos x="70" y="0"/>
                </a:cxn>
                <a:cxn ang="0">
                  <a:pos x="70" y="0"/>
                </a:cxn>
              </a:cxnLst>
              <a:rect l="txL" t="txT" r="txR" b="txB"/>
              <a:pathLst>
                <a:path w="70" h="58">
                  <a:moveTo>
                    <a:pt x="70" y="0"/>
                  </a:moveTo>
                  <a:lnTo>
                    <a:pt x="63" y="26"/>
                  </a:lnTo>
                  <a:lnTo>
                    <a:pt x="51" y="39"/>
                  </a:lnTo>
                  <a:lnTo>
                    <a:pt x="25" y="51"/>
                  </a:lnTo>
                  <a:lnTo>
                    <a:pt x="0" y="58"/>
                  </a:lnTo>
                  <a:lnTo>
                    <a:pt x="25" y="51"/>
                  </a:lnTo>
                  <a:lnTo>
                    <a:pt x="51" y="39"/>
                  </a:lnTo>
                  <a:lnTo>
                    <a:pt x="63" y="26"/>
                  </a:lnTo>
                  <a:lnTo>
                    <a:pt x="70" y="0"/>
                  </a:lnTo>
                  <a:close/>
                  <a:moveTo>
                    <a:pt x="70" y="0"/>
                  </a:moveTo>
                  <a:lnTo>
                    <a:pt x="70" y="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sp>
          <p:nvSpPr>
            <p:cNvPr id="74802" name="Freeform 166"/>
            <p:cNvSpPr>
              <a:spLocks noEditPoints="1"/>
            </p:cNvSpPr>
            <p:nvPr/>
          </p:nvSpPr>
          <p:spPr>
            <a:xfrm>
              <a:off x="3299" y="2871"/>
              <a:ext cx="1" cy="370"/>
            </a:xfrm>
            <a:custGeom>
              <a:avLst/>
              <a:gdLst>
                <a:gd name="txL" fmla="*/ 0 w 1"/>
                <a:gd name="txT" fmla="*/ 0 h 370"/>
                <a:gd name="txR" fmla="*/ 1 w 1"/>
                <a:gd name="txB" fmla="*/ 370 h 370"/>
              </a:gdLst>
              <a:ahLst/>
              <a:cxnLst>
                <a:cxn ang="0">
                  <a:pos x="0" y="0"/>
                </a:cxn>
                <a:cxn ang="0">
                  <a:pos x="0" y="0"/>
                </a:cxn>
                <a:cxn ang="0">
                  <a:pos x="0" y="0"/>
                </a:cxn>
                <a:cxn ang="0">
                  <a:pos x="0" y="370"/>
                </a:cxn>
                <a:cxn ang="0">
                  <a:pos x="0" y="370"/>
                </a:cxn>
                <a:cxn ang="0">
                  <a:pos x="0" y="370"/>
                </a:cxn>
              </a:cxnLst>
              <a:rect l="txL" t="txT" r="txR" b="txB"/>
              <a:pathLst>
                <a:path w="1" h="370">
                  <a:moveTo>
                    <a:pt x="0" y="0"/>
                  </a:moveTo>
                  <a:lnTo>
                    <a:pt x="0" y="0"/>
                  </a:lnTo>
                  <a:close/>
                  <a:moveTo>
                    <a:pt x="0" y="370"/>
                  </a:moveTo>
                  <a:lnTo>
                    <a:pt x="0" y="370"/>
                  </a:lnTo>
                  <a:close/>
                </a:path>
              </a:pathLst>
            </a:custGeom>
            <a:solidFill>
              <a:srgbClr val="F0027F">
                <a:alpha val="100000"/>
              </a:srgbClr>
            </a:solidFill>
            <a:ln w="9525" cap="flat" cmpd="sng">
              <a:solidFill>
                <a:srgbClr val="006666">
                  <a:alpha val="100000"/>
                </a:srgbClr>
              </a:solidFill>
              <a:prstDash val="solid"/>
              <a:round/>
              <a:headEnd type="none" w="med" len="med"/>
              <a:tailEnd type="none" w="med" len="med"/>
            </a:ln>
          </p:spPr>
          <p:txBody>
            <a:bodyPr/>
            <a:lstStyle/>
            <a:p>
              <a:endParaRPr lang="zh-CN" altLang="en-US"/>
            </a:p>
          </p:txBody>
        </p:sp>
      </p:grpSp>
      <p:grpSp>
        <p:nvGrpSpPr>
          <p:cNvPr id="74756" name="Group 167"/>
          <p:cNvGrpSpPr/>
          <p:nvPr/>
        </p:nvGrpSpPr>
        <p:grpSpPr>
          <a:xfrm>
            <a:off x="1563688" y="3379788"/>
            <a:ext cx="5846762" cy="1285875"/>
            <a:chOff x="867" y="1882"/>
            <a:chExt cx="3683" cy="810"/>
          </a:xfrm>
        </p:grpSpPr>
        <p:graphicFrame>
          <p:nvGraphicFramePr>
            <p:cNvPr id="74758" name="Object 168"/>
            <p:cNvGraphicFramePr>
              <a:graphicFrameLocks noChangeAspect="1"/>
            </p:cNvGraphicFramePr>
            <p:nvPr/>
          </p:nvGraphicFramePr>
          <p:xfrm>
            <a:off x="1014" y="1882"/>
            <a:ext cx="3424" cy="805"/>
          </p:xfrm>
          <a:graphic>
            <a:graphicData uri="http://schemas.openxmlformats.org/presentationml/2006/ole">
              <p:oleObj spid="_x0000_s36866" r:id="rId3" imgW="1764534" imgH="444307" progId="">
                <p:embed/>
              </p:oleObj>
            </a:graphicData>
          </a:graphic>
        </p:graphicFrame>
        <p:sp>
          <p:nvSpPr>
            <p:cNvPr id="74759" name="Text Box 169"/>
            <p:cNvSpPr txBox="1"/>
            <p:nvPr/>
          </p:nvSpPr>
          <p:spPr>
            <a:xfrm>
              <a:off x="867" y="1893"/>
              <a:ext cx="3683" cy="799"/>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en-US" altLang="zh-CN" sz="1800" dirty="0">
                <a:cs typeface="Arial" panose="020B0604020202020204" pitchFamily="34" charset="0"/>
              </a:endParaRPr>
            </a:p>
            <a:p>
              <a:pPr marL="0" lvl="0" indent="0" eaLnBrk="1" hangingPunct="1">
                <a:spcBef>
                  <a:spcPct val="50000"/>
                </a:spcBef>
                <a:buClrTx/>
                <a:buSzTx/>
                <a:buFontTx/>
                <a:buNone/>
              </a:pPr>
              <a:endParaRPr lang="en-US" altLang="zh-CN" sz="1800" dirty="0">
                <a:cs typeface="Arial" panose="020B0604020202020204" pitchFamily="34" charset="0"/>
              </a:endParaRPr>
            </a:p>
            <a:p>
              <a:pPr marL="0" lvl="0" indent="0" eaLnBrk="1" hangingPunct="1">
                <a:spcBef>
                  <a:spcPct val="50000"/>
                </a:spcBef>
                <a:buClrTx/>
                <a:buSzTx/>
                <a:buFontTx/>
                <a:buNone/>
              </a:pPr>
              <a:endParaRPr lang="en-US" altLang="zh-CN" sz="1800" dirty="0">
                <a:ea typeface="Arial" panose="020B0604020202020204" pitchFamily="34" charset="0"/>
              </a:endParaRPr>
            </a:p>
          </p:txBody>
        </p:sp>
      </p:grpSp>
      <p:sp>
        <p:nvSpPr>
          <p:cNvPr id="74757" name="Text Box 170"/>
          <p:cNvSpPr txBox="1"/>
          <p:nvPr/>
        </p:nvSpPr>
        <p:spPr>
          <a:xfrm>
            <a:off x="250825" y="5157788"/>
            <a:ext cx="8675688" cy="461962"/>
          </a:xfrm>
          <a:prstGeom prst="rect">
            <a:avLst/>
          </a:prstGeom>
          <a:noFill/>
          <a:ln w="76200" cap="flat" cmpd="tri">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Arial Black" panose="020B0A04020102020204" pitchFamily="34" charset="0"/>
                <a:cs typeface="Arial" panose="020B0604020202020204" pitchFamily="34" charset="0"/>
              </a:rPr>
              <a:t>并联电感的等效电感系数是每个电感的感应系数倒数和的倒数。</a:t>
            </a:r>
            <a:endParaRPr lang="en-US" altLang="zh-CN" sz="2400" b="1" dirty="0">
              <a:latin typeface="Arial Black" panose="020B0A04020102020204" pitchFamily="34" charset="0"/>
              <a:ea typeface="Arial"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0"/>
          <p:cNvSpPr txBox="1"/>
          <p:nvPr/>
        </p:nvSpPr>
        <p:spPr>
          <a:xfrm>
            <a:off x="2268538" y="630238"/>
            <a:ext cx="4535487" cy="3429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65000"/>
              </a:lnSpc>
              <a:spcBef>
                <a:spcPct val="50000"/>
              </a:spcBef>
              <a:buClrTx/>
              <a:buSzTx/>
              <a:buFontTx/>
              <a:buNone/>
            </a:pPr>
            <a:r>
              <a:rPr lang="zh-CN" altLang="en-US" sz="2400" b="1" dirty="0">
                <a:solidFill>
                  <a:schemeClr val="bg2"/>
                </a:solidFill>
                <a:cs typeface="Arial" panose="020B0604020202020204" pitchFamily="34" charset="0"/>
              </a:rPr>
              <a:t>三个基本电路元件的重要特性</a:t>
            </a:r>
            <a:endParaRPr lang="en-US" altLang="zh-CN" sz="2400" b="1" dirty="0">
              <a:solidFill>
                <a:schemeClr val="bg2"/>
              </a:solidFill>
              <a:ea typeface="Arial" panose="020B0604020202020204" pitchFamily="34" charset="0"/>
            </a:endParaRPr>
          </a:p>
        </p:txBody>
      </p:sp>
      <p:grpSp>
        <p:nvGrpSpPr>
          <p:cNvPr id="75779" name="Group 22"/>
          <p:cNvGrpSpPr/>
          <p:nvPr/>
        </p:nvGrpSpPr>
        <p:grpSpPr>
          <a:xfrm>
            <a:off x="827088" y="1125538"/>
            <a:ext cx="7858125" cy="5453062"/>
            <a:chOff x="612" y="935"/>
            <a:chExt cx="4491" cy="3175"/>
          </a:xfrm>
        </p:grpSpPr>
        <p:graphicFrame>
          <p:nvGraphicFramePr>
            <p:cNvPr id="75780" name="Object 3"/>
            <p:cNvGraphicFramePr>
              <a:graphicFrameLocks noChangeAspect="1"/>
            </p:cNvGraphicFramePr>
            <p:nvPr/>
          </p:nvGraphicFramePr>
          <p:xfrm>
            <a:off x="612" y="935"/>
            <a:ext cx="4473" cy="3137"/>
          </p:xfrm>
          <a:graphic>
            <a:graphicData uri="http://schemas.openxmlformats.org/presentationml/2006/ole">
              <p:oleObj spid="_x0000_s37890" r:id="rId3" imgW="4673600" imgH="3276600" progId="">
                <p:embed/>
              </p:oleObj>
            </a:graphicData>
          </a:graphic>
        </p:graphicFrame>
        <p:sp>
          <p:nvSpPr>
            <p:cNvPr id="75781" name="Line 5"/>
            <p:cNvSpPr/>
            <p:nvPr/>
          </p:nvSpPr>
          <p:spPr>
            <a:xfrm>
              <a:off x="612" y="1117"/>
              <a:ext cx="4491" cy="0"/>
            </a:xfrm>
            <a:prstGeom prst="line">
              <a:avLst/>
            </a:prstGeom>
            <a:ln w="9525" cap="flat" cmpd="sng">
              <a:solidFill>
                <a:schemeClr val="tx1"/>
              </a:solidFill>
              <a:prstDash val="solid"/>
              <a:headEnd type="none" w="med" len="med"/>
              <a:tailEnd type="none" w="med" len="med"/>
            </a:ln>
          </p:spPr>
        </p:sp>
        <p:sp>
          <p:nvSpPr>
            <p:cNvPr id="75782" name="Line 7"/>
            <p:cNvSpPr/>
            <p:nvPr/>
          </p:nvSpPr>
          <p:spPr>
            <a:xfrm>
              <a:off x="2653" y="935"/>
              <a:ext cx="0" cy="3130"/>
            </a:xfrm>
            <a:prstGeom prst="line">
              <a:avLst/>
            </a:prstGeom>
            <a:ln w="9525" cap="flat" cmpd="sng">
              <a:solidFill>
                <a:schemeClr val="tx1"/>
              </a:solidFill>
              <a:prstDash val="solid"/>
              <a:headEnd type="none" w="med" len="med"/>
              <a:tailEnd type="none" w="med" len="med"/>
            </a:ln>
          </p:spPr>
        </p:sp>
        <p:sp>
          <p:nvSpPr>
            <p:cNvPr id="75783" name="Line 9"/>
            <p:cNvSpPr/>
            <p:nvPr/>
          </p:nvSpPr>
          <p:spPr>
            <a:xfrm>
              <a:off x="3878" y="935"/>
              <a:ext cx="0" cy="3175"/>
            </a:xfrm>
            <a:prstGeom prst="line">
              <a:avLst/>
            </a:prstGeom>
            <a:ln w="9525" cap="flat" cmpd="sng">
              <a:solidFill>
                <a:schemeClr val="tx1"/>
              </a:solidFill>
              <a:prstDash val="solid"/>
              <a:headEnd type="none" w="med" len="med"/>
              <a:tailEnd type="none" w="med" len="med"/>
            </a:ln>
          </p:spPr>
        </p:sp>
        <p:sp>
          <p:nvSpPr>
            <p:cNvPr id="75784" name="Line 10"/>
            <p:cNvSpPr/>
            <p:nvPr/>
          </p:nvSpPr>
          <p:spPr>
            <a:xfrm>
              <a:off x="612" y="1570"/>
              <a:ext cx="4491" cy="0"/>
            </a:xfrm>
            <a:prstGeom prst="line">
              <a:avLst/>
            </a:prstGeom>
            <a:ln w="9525" cap="flat" cmpd="sng">
              <a:solidFill>
                <a:schemeClr val="tx1"/>
              </a:solidFill>
              <a:prstDash val="solid"/>
              <a:headEnd type="none" w="med" len="med"/>
              <a:tailEnd type="none" w="med" len="med"/>
            </a:ln>
          </p:spPr>
        </p:sp>
        <p:sp>
          <p:nvSpPr>
            <p:cNvPr id="75785" name="Line 11"/>
            <p:cNvSpPr/>
            <p:nvPr/>
          </p:nvSpPr>
          <p:spPr>
            <a:xfrm>
              <a:off x="612" y="1933"/>
              <a:ext cx="4491" cy="0"/>
            </a:xfrm>
            <a:prstGeom prst="line">
              <a:avLst/>
            </a:prstGeom>
            <a:ln w="9525" cap="flat" cmpd="sng">
              <a:solidFill>
                <a:schemeClr val="tx1"/>
              </a:solidFill>
              <a:prstDash val="solid"/>
              <a:headEnd type="none" w="med" len="med"/>
              <a:tailEnd type="none" w="med" len="med"/>
            </a:ln>
          </p:spPr>
        </p:sp>
        <p:sp>
          <p:nvSpPr>
            <p:cNvPr id="75786" name="Line 14"/>
            <p:cNvSpPr/>
            <p:nvPr/>
          </p:nvSpPr>
          <p:spPr>
            <a:xfrm>
              <a:off x="612" y="2341"/>
              <a:ext cx="4491" cy="0"/>
            </a:xfrm>
            <a:prstGeom prst="line">
              <a:avLst/>
            </a:prstGeom>
            <a:ln w="9525" cap="flat" cmpd="sng">
              <a:solidFill>
                <a:schemeClr val="tx1"/>
              </a:solidFill>
              <a:prstDash val="solid"/>
              <a:headEnd type="none" w="med" len="med"/>
              <a:tailEnd type="none" w="med" len="med"/>
            </a:ln>
          </p:spPr>
        </p:sp>
        <p:sp>
          <p:nvSpPr>
            <p:cNvPr id="75787" name="Line 16"/>
            <p:cNvSpPr/>
            <p:nvPr/>
          </p:nvSpPr>
          <p:spPr>
            <a:xfrm>
              <a:off x="612" y="2795"/>
              <a:ext cx="4491" cy="0"/>
            </a:xfrm>
            <a:prstGeom prst="line">
              <a:avLst/>
            </a:prstGeom>
            <a:ln w="9525" cap="flat" cmpd="sng">
              <a:solidFill>
                <a:schemeClr val="tx1"/>
              </a:solidFill>
              <a:prstDash val="solid"/>
              <a:headEnd type="none" w="med" len="med"/>
              <a:tailEnd type="none" w="med" len="med"/>
            </a:ln>
          </p:spPr>
        </p:sp>
        <p:sp>
          <p:nvSpPr>
            <p:cNvPr id="75788" name="Line 17"/>
            <p:cNvSpPr/>
            <p:nvPr/>
          </p:nvSpPr>
          <p:spPr>
            <a:xfrm>
              <a:off x="612" y="3203"/>
              <a:ext cx="4491" cy="0"/>
            </a:xfrm>
            <a:prstGeom prst="line">
              <a:avLst/>
            </a:prstGeom>
            <a:ln w="9525" cap="flat" cmpd="sng">
              <a:solidFill>
                <a:schemeClr val="tx1"/>
              </a:solidFill>
              <a:prstDash val="solid"/>
              <a:headEnd type="none" w="med" len="med"/>
              <a:tailEnd type="none" w="med" len="med"/>
            </a:ln>
          </p:spPr>
        </p:sp>
        <p:sp>
          <p:nvSpPr>
            <p:cNvPr id="75789" name="Line 19"/>
            <p:cNvSpPr/>
            <p:nvPr/>
          </p:nvSpPr>
          <p:spPr>
            <a:xfrm>
              <a:off x="612" y="3521"/>
              <a:ext cx="4491" cy="0"/>
            </a:xfrm>
            <a:prstGeom prst="line">
              <a:avLst/>
            </a:prstGeom>
            <a:ln w="9525" cap="flat" cmpd="sng">
              <a:solidFill>
                <a:schemeClr val="tx1"/>
              </a:solidFill>
              <a:prstDash val="solid"/>
              <a:headEnd type="none" w="med" len="med"/>
              <a:tailEnd type="none" w="med" len="med"/>
            </a:ln>
          </p:spPr>
        </p:sp>
        <p:sp>
          <p:nvSpPr>
            <p:cNvPr id="75790" name="Line 21"/>
            <p:cNvSpPr/>
            <p:nvPr/>
          </p:nvSpPr>
          <p:spPr>
            <a:xfrm>
              <a:off x="1519" y="935"/>
              <a:ext cx="0" cy="3130"/>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p:nvPr/>
        </p:nvSpPr>
        <p:spPr>
          <a:xfrm>
            <a:off x="468313" y="908050"/>
            <a:ext cx="8237537"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b="1" dirty="0">
                <a:solidFill>
                  <a:srgbClr val="FF0000"/>
                </a:solidFill>
                <a:latin typeface="Arial Black" panose="020B0A04020102020204" pitchFamily="34" charset="0"/>
                <a:cs typeface="Arial" panose="020B0604020202020204" pitchFamily="34" charset="0"/>
              </a:rPr>
              <a:t>6-11 </a:t>
            </a:r>
            <a:r>
              <a:rPr lang="zh-CN" altLang="en-US" sz="2400" b="1" dirty="0">
                <a:solidFill>
                  <a:srgbClr val="FF0000"/>
                </a:solidFill>
                <a:latin typeface="Arial Black" panose="020B0A04020102020204" pitchFamily="34" charset="0"/>
                <a:cs typeface="Arial" panose="020B0604020202020204" pitchFamily="34" charset="0"/>
              </a:rPr>
              <a:t>：</a:t>
            </a:r>
            <a:r>
              <a:rPr lang="en-US" altLang="zh-CN" sz="2400" b="1" dirty="0">
                <a:solidFill>
                  <a:srgbClr val="FF0000"/>
                </a:solidFill>
                <a:latin typeface="Arial Black" panose="020B0A04020102020204" pitchFamily="34" charset="0"/>
                <a:cs typeface="Arial" panose="020B0604020202020204" pitchFamily="34" charset="0"/>
              </a:rPr>
              <a:t>  </a:t>
            </a:r>
            <a:r>
              <a:rPr lang="zh-CN" altLang="en-US" sz="2400" b="1" dirty="0">
                <a:solidFill>
                  <a:schemeClr val="folHlink"/>
                </a:solidFill>
                <a:latin typeface="Arial Black" panose="020B0A04020102020204" pitchFamily="34" charset="0"/>
                <a:cs typeface="Arial" panose="020B0604020202020204" pitchFamily="34" charset="0"/>
              </a:rPr>
              <a:t>（堂练）</a:t>
            </a: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计算图示电路的等效电感。</a:t>
            </a:r>
            <a:endParaRPr lang="en-US" altLang="zh-CN" sz="2400" b="1" dirty="0">
              <a:latin typeface="Times New Roman" panose="02020603050405020304" pitchFamily="18" charset="0"/>
              <a:ea typeface="Arial" panose="020B0604020202020204" pitchFamily="34" charset="0"/>
            </a:endParaRPr>
          </a:p>
        </p:txBody>
      </p:sp>
      <p:pic>
        <p:nvPicPr>
          <p:cNvPr id="76803" name="Picture 4"/>
          <p:cNvPicPr>
            <a:picLocks noChangeAspect="1"/>
          </p:cNvPicPr>
          <p:nvPr/>
        </p:nvPicPr>
        <p:blipFill>
          <a:blip r:embed="rId2"/>
          <a:stretch>
            <a:fillRect/>
          </a:stretch>
        </p:blipFill>
        <p:spPr>
          <a:xfrm>
            <a:off x="2411413" y="2492375"/>
            <a:ext cx="3778250" cy="2209800"/>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4"/>
          <p:cNvPicPr>
            <a:picLocks noChangeAspect="1"/>
          </p:cNvPicPr>
          <p:nvPr/>
        </p:nvPicPr>
        <p:blipFill>
          <a:blip r:embed="rId3"/>
          <a:stretch>
            <a:fillRect/>
          </a:stretch>
        </p:blipFill>
        <p:spPr>
          <a:xfrm>
            <a:off x="2916238" y="736600"/>
            <a:ext cx="3778250" cy="2209800"/>
          </a:xfrm>
          <a:prstGeom prst="rect">
            <a:avLst/>
          </a:prstGeom>
          <a:noFill/>
          <a:ln w="9525">
            <a:noFill/>
          </a:ln>
        </p:spPr>
      </p:pic>
      <p:sp>
        <p:nvSpPr>
          <p:cNvPr id="90118" name="Text Box 6"/>
          <p:cNvSpPr txBox="1"/>
          <p:nvPr/>
        </p:nvSpPr>
        <p:spPr>
          <a:xfrm>
            <a:off x="822325" y="4386263"/>
            <a:ext cx="45720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E5"/>
                </a:solidFill>
                <a:latin typeface="Times New Roman" panose="02020603050405020304" pitchFamily="18" charset="0"/>
                <a:cs typeface="Arial" panose="020B0604020202020204" pitchFamily="34" charset="0"/>
              </a:rPr>
              <a:t>解</a:t>
            </a:r>
            <a:r>
              <a:rPr lang="en-US" altLang="zh-CN" sz="2400" b="1" dirty="0">
                <a:solidFill>
                  <a:srgbClr val="0000E5"/>
                </a:solidFill>
                <a:latin typeface="Times New Roman" panose="02020603050405020304" pitchFamily="18" charset="0"/>
                <a:cs typeface="Arial" panose="020B0604020202020204" pitchFamily="34" charset="0"/>
              </a:rPr>
              <a:t>:</a:t>
            </a:r>
            <a:endParaRPr lang="en-US" altLang="zh-CN" sz="2400" b="1" dirty="0">
              <a:solidFill>
                <a:srgbClr val="0000E5"/>
              </a:solidFill>
              <a:latin typeface="Times New Roman" panose="02020603050405020304" pitchFamily="18" charset="0"/>
              <a:ea typeface="Arial" panose="020B0604020202020204" pitchFamily="34" charset="0"/>
            </a:endParaRPr>
          </a:p>
        </p:txBody>
      </p:sp>
      <p:graphicFrame>
        <p:nvGraphicFramePr>
          <p:cNvPr id="90119" name="Object 7"/>
          <p:cNvGraphicFramePr>
            <a:graphicFrameLocks noChangeAspect="1"/>
          </p:cNvGraphicFramePr>
          <p:nvPr/>
        </p:nvGraphicFramePr>
        <p:xfrm>
          <a:off x="2200275" y="4386263"/>
          <a:ext cx="1816100" cy="893762"/>
        </p:xfrm>
        <a:graphic>
          <a:graphicData uri="http://schemas.openxmlformats.org/presentationml/2006/ole">
            <p:oleObj spid="_x0000_s38915" r:id="rId4" imgW="799753" imgH="393529" progId="">
              <p:embed/>
            </p:oleObj>
          </a:graphicData>
        </a:graphic>
      </p:graphicFrame>
      <p:graphicFrame>
        <p:nvGraphicFramePr>
          <p:cNvPr id="90121" name="Object 9"/>
          <p:cNvGraphicFramePr>
            <a:graphicFrameLocks noChangeAspect="1"/>
          </p:cNvGraphicFramePr>
          <p:nvPr/>
        </p:nvGraphicFramePr>
        <p:xfrm>
          <a:off x="2124075" y="5929313"/>
          <a:ext cx="3054350" cy="517525"/>
        </p:xfrm>
        <a:graphic>
          <a:graphicData uri="http://schemas.openxmlformats.org/presentationml/2006/ole">
            <p:oleObj spid="_x0000_s38916" r:id="rId5" imgW="1295400" imgH="2413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0118"/>
                                        </p:tgtEl>
                                        <p:attrNameLst>
                                          <p:attrName>style.visibility</p:attrName>
                                        </p:attrNameLst>
                                      </p:cBhvr>
                                      <p:to>
                                        <p:strVal val="visible"/>
                                      </p:to>
                                    </p:set>
                                    <p:animEffect transition="in" filter="checkerboard(across)">
                                      <p:cBhvr>
                                        <p:cTn id="7" dur="500"/>
                                        <p:tgtEl>
                                          <p:spTgt spid="90118"/>
                                        </p:tgtEl>
                                      </p:cBhvr>
                                    </p:animEffect>
                                  </p:childTnLst>
                                </p:cTn>
                              </p:par>
                              <p:par>
                                <p:cTn id="8" presetID="5" presetClass="entr" presetSubtype="10" fill="hold" nodeType="withEffect">
                                  <p:stCondLst>
                                    <p:cond delay="0"/>
                                  </p:stCondLst>
                                  <p:childTnLst>
                                    <p:set>
                                      <p:cBhvr>
                                        <p:cTn id="9" dur="1" fill="hold">
                                          <p:stCondLst>
                                            <p:cond delay="0"/>
                                          </p:stCondLst>
                                        </p:cTn>
                                        <p:tgtEl>
                                          <p:spTgt spid="90119"/>
                                        </p:tgtEl>
                                        <p:attrNameLst>
                                          <p:attrName>style.visibility</p:attrName>
                                        </p:attrNameLst>
                                      </p:cBhvr>
                                      <p:to>
                                        <p:strVal val="visible"/>
                                      </p:to>
                                    </p:set>
                                    <p:animEffect transition="in" filter="checkerboard(across)">
                                      <p:cBhvr>
                                        <p:cTn id="10" dur="500"/>
                                        <p:tgtEl>
                                          <p:spTgt spid="90119"/>
                                        </p:tgtEl>
                                      </p:cBhvr>
                                    </p:animEffect>
                                  </p:childTnLst>
                                </p:cTn>
                              </p:par>
                              <p:par>
                                <p:cTn id="11" presetID="5" presetClass="entr" presetSubtype="10" fill="hold" nodeType="withEffect">
                                  <p:stCondLst>
                                    <p:cond delay="0"/>
                                  </p:stCondLst>
                                  <p:childTnLst>
                                    <p:set>
                                      <p:cBhvr>
                                        <p:cTn id="12" dur="1" fill="hold">
                                          <p:stCondLst>
                                            <p:cond delay="0"/>
                                          </p:stCondLst>
                                        </p:cTn>
                                        <p:tgtEl>
                                          <p:spTgt spid="90121"/>
                                        </p:tgtEl>
                                        <p:attrNameLst>
                                          <p:attrName>style.visibility</p:attrName>
                                        </p:attrNameLst>
                                      </p:cBhvr>
                                      <p:to>
                                        <p:strVal val="visible"/>
                                      </p:to>
                                    </p:set>
                                    <p:animEffect transition="in" filter="checkerboard(across)">
                                      <p:cBhvr>
                                        <p:cTn id="13" dur="500"/>
                                        <p:tgtEl>
                                          <p:spTgt spid="90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rcRect r="36424" b="2577"/>
          <a:stretch>
            <a:fillRect/>
          </a:stretch>
        </p:blipFill>
        <p:spPr>
          <a:xfrm>
            <a:off x="323850" y="640080"/>
            <a:ext cx="6428105" cy="412115"/>
          </a:xfrm>
          <a:prstGeom prst="rect">
            <a:avLst/>
          </a:prstGeom>
        </p:spPr>
      </p:pic>
      <p:pic>
        <p:nvPicPr>
          <p:cNvPr id="3" name="图片 2"/>
          <p:cNvPicPr>
            <a:picLocks noChangeAspect="1"/>
          </p:cNvPicPr>
          <p:nvPr/>
        </p:nvPicPr>
        <p:blipFill>
          <a:blip r:embed="rId3"/>
          <a:stretch>
            <a:fillRect/>
          </a:stretch>
        </p:blipFill>
        <p:spPr>
          <a:xfrm>
            <a:off x="3348355" y="1340485"/>
            <a:ext cx="5265420" cy="2247900"/>
          </a:xfrm>
          <a:prstGeom prst="rect">
            <a:avLst/>
          </a:prstGeom>
        </p:spPr>
      </p:pic>
      <p:sp>
        <p:nvSpPr>
          <p:cNvPr id="4" name="文本框 3"/>
          <p:cNvSpPr txBox="1"/>
          <p:nvPr/>
        </p:nvSpPr>
        <p:spPr>
          <a:xfrm>
            <a:off x="301625" y="1410970"/>
            <a:ext cx="2830195" cy="3683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a:t>解：</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p:nvPr/>
        </p:nvSpPr>
        <p:spPr>
          <a:xfrm>
            <a:off x="571500" y="500063"/>
            <a:ext cx="8572500" cy="212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FF0000"/>
                </a:solidFill>
                <a:latin typeface="Arial Black" panose="020B0A04020102020204" pitchFamily="34" charset="0"/>
                <a:cs typeface="Arial" panose="020B0604020202020204" pitchFamily="34" charset="0"/>
              </a:rPr>
              <a:t>*</a:t>
            </a:r>
            <a:r>
              <a:rPr lang="zh-CN" altLang="en-US" sz="2400" b="1" dirty="0">
                <a:solidFill>
                  <a:srgbClr val="FF0000"/>
                </a:solidFill>
                <a:latin typeface="Arial Black" panose="020B0A04020102020204" pitchFamily="34" charset="0"/>
                <a:cs typeface="Arial" panose="020B0604020202020204" pitchFamily="34" charset="0"/>
              </a:rPr>
              <a:t>例</a:t>
            </a:r>
            <a:r>
              <a:rPr lang="en-US" altLang="zh-CN" sz="2400" b="1" dirty="0">
                <a:solidFill>
                  <a:srgbClr val="FF0000"/>
                </a:solidFill>
                <a:latin typeface="Arial Black" panose="020B0A04020102020204" pitchFamily="34" charset="0"/>
                <a:cs typeface="Arial" panose="020B0604020202020204" pitchFamily="34" charset="0"/>
              </a:rPr>
              <a:t> 6.12  </a:t>
            </a:r>
            <a:endParaRPr lang="en-US" altLang="zh-CN" sz="2400" b="1" dirty="0">
              <a:solidFill>
                <a:schemeClr val="folHlink"/>
              </a:solidFill>
              <a:latin typeface="Arial Black" panose="020B0A04020102020204" pitchFamily="34" charset="0"/>
              <a:cs typeface="Arial" panose="020B0604020202020204" pitchFamily="34" charset="0"/>
            </a:endParaRP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图示电路中</a:t>
            </a:r>
            <a:r>
              <a:rPr lang="zh-CN" altLang="en-US" sz="2400" b="1" dirty="0">
                <a:solidFill>
                  <a:schemeClr val="bg2"/>
                </a:solidFill>
                <a:latin typeface="Times New Roman" panose="02020603050405020304" pitchFamily="18" charset="0"/>
                <a:cs typeface="Arial" panose="020B0604020202020204" pitchFamily="34" charset="0"/>
              </a:rPr>
              <a:t>，</a:t>
            </a:r>
            <a:r>
              <a:rPr lang="en-US" altLang="zh-CN" sz="2000" b="1" dirty="0">
                <a:latin typeface="Times New Roman" panose="02020603050405020304" pitchFamily="18" charset="0"/>
                <a:cs typeface="Arial" panose="020B0604020202020204" pitchFamily="34" charset="0"/>
              </a:rPr>
              <a:t>                                        </a:t>
            </a:r>
            <a:r>
              <a:rPr lang="zh-CN" altLang="en-US" sz="2000" b="1" dirty="0">
                <a:latin typeface="Times New Roman" panose="02020603050405020304" pitchFamily="18" charset="0"/>
                <a:cs typeface="Arial" panose="020B0604020202020204" pitchFamily="34" charset="0"/>
              </a:rPr>
              <a:t>，当</a:t>
            </a:r>
            <a:r>
              <a:rPr lang="en-US" altLang="zh-CN" sz="2400" b="1" dirty="0">
                <a:latin typeface="Times New Roman" panose="02020603050405020304" pitchFamily="18" charset="0"/>
                <a:cs typeface="Arial" panose="020B0604020202020204" pitchFamily="34" charset="0"/>
              </a:rPr>
              <a:t> </a:t>
            </a:r>
            <a:r>
              <a:rPr lang="en-US" altLang="zh-CN" sz="2000" b="1" dirty="0">
                <a:latin typeface="Times New Roman" panose="02020603050405020304" pitchFamily="18" charset="0"/>
                <a:cs typeface="Arial" panose="020B0604020202020204" pitchFamily="34" charset="0"/>
              </a:rPr>
              <a:t>                            , </a:t>
            </a: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计算</a:t>
            </a:r>
            <a:r>
              <a:rPr lang="en-US" altLang="zh-CN" sz="2400" b="1" dirty="0">
                <a:latin typeface="Times New Roman" panose="02020603050405020304" pitchFamily="18" charset="0"/>
                <a:cs typeface="Arial" panose="020B0604020202020204" pitchFamily="34" charset="0"/>
              </a:rPr>
              <a:t>:</a:t>
            </a:r>
            <a:r>
              <a:rPr lang="en-US" altLang="zh-CN" sz="2400" b="1" dirty="0">
                <a:latin typeface="Times New Roman" panose="02020603050405020304" pitchFamily="18" charset="0"/>
                <a:cs typeface="Arial" panose="020B0604020202020204" pitchFamily="34" charset="0"/>
                <a:sym typeface="Wingdings" panose="05000000000000000000" pitchFamily="2" charset="2"/>
              </a:rPr>
              <a:t> </a:t>
            </a:r>
          </a:p>
          <a:p>
            <a:pPr marL="0" lvl="0" indent="0" eaLnBrk="1" hangingPunct="1">
              <a:spcBef>
                <a:spcPct val="50000"/>
              </a:spcBef>
              <a:buClrTx/>
              <a:buSzTx/>
              <a:buFontTx/>
              <a:buNone/>
            </a:pPr>
            <a:r>
              <a:rPr lang="en-US" altLang="zh-CN" sz="2400" b="1" dirty="0">
                <a:solidFill>
                  <a:srgbClr val="0000FF"/>
                </a:solidFill>
                <a:latin typeface="Times New Roman" panose="02020603050405020304" pitchFamily="18" charset="0"/>
                <a:cs typeface="Arial" panose="020B0604020202020204" pitchFamily="34" charset="0"/>
                <a:sym typeface="Wingdings" panose="05000000000000000000" pitchFamily="2" charset="2"/>
              </a:rPr>
              <a:t>(a)</a:t>
            </a:r>
            <a:r>
              <a:rPr lang="en-US" altLang="zh-CN" sz="2000" b="1" dirty="0">
                <a:latin typeface="Times New Roman" panose="02020603050405020304" pitchFamily="18" charset="0"/>
                <a:cs typeface="Arial" panose="020B0604020202020204" pitchFamily="34" charset="0"/>
              </a:rPr>
              <a:t>              </a:t>
            </a:r>
            <a:r>
              <a:rPr lang="en-US" altLang="zh-CN" sz="2400" b="1" dirty="0">
                <a:latin typeface="Times New Roman" panose="02020603050405020304" pitchFamily="18" charset="0"/>
                <a:cs typeface="Arial" panose="020B0604020202020204" pitchFamily="34" charset="0"/>
              </a:rPr>
              <a:t>;  </a:t>
            </a:r>
            <a:r>
              <a:rPr lang="en-US" altLang="zh-CN" sz="2400" b="1" dirty="0">
                <a:solidFill>
                  <a:srgbClr val="0000FF"/>
                </a:solidFill>
                <a:latin typeface="Times New Roman" panose="02020603050405020304" pitchFamily="18" charset="0"/>
                <a:cs typeface="Arial" panose="020B0604020202020204" pitchFamily="34" charset="0"/>
                <a:sym typeface="Wingdings" panose="05000000000000000000" pitchFamily="2" charset="2"/>
              </a:rPr>
              <a:t>(b)</a:t>
            </a:r>
            <a:r>
              <a:rPr lang="en-US" altLang="zh-CN" sz="2000" b="1" dirty="0">
                <a:latin typeface="Times New Roman" panose="02020603050405020304" pitchFamily="18" charset="0"/>
                <a:cs typeface="Arial" panose="020B0604020202020204" pitchFamily="34" charset="0"/>
              </a:rPr>
              <a:t>                        </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以及</a:t>
            </a:r>
            <a:r>
              <a:rPr lang="en-US" altLang="zh-CN" sz="2400" b="1" dirty="0">
                <a:latin typeface="Times New Roman" panose="02020603050405020304" pitchFamily="18" charset="0"/>
                <a:cs typeface="Arial" panose="020B0604020202020204" pitchFamily="34" charset="0"/>
              </a:rPr>
              <a:t> </a:t>
            </a:r>
            <a:r>
              <a:rPr lang="en-US" altLang="zh-CN" sz="2000" b="1" dirty="0">
                <a:latin typeface="Times New Roman" panose="02020603050405020304" pitchFamily="18" charset="0"/>
                <a:cs typeface="Arial" panose="020B0604020202020204" pitchFamily="34" charset="0"/>
              </a:rPr>
              <a:t>                </a:t>
            </a:r>
            <a:r>
              <a:rPr lang="en-US" altLang="zh-CN" sz="2400" b="1" dirty="0">
                <a:solidFill>
                  <a:srgbClr val="0000FF"/>
                </a:solidFill>
                <a:latin typeface="Times New Roman" panose="02020603050405020304" pitchFamily="18" charset="0"/>
                <a:cs typeface="Arial" panose="020B0604020202020204" pitchFamily="34" charset="0"/>
                <a:sym typeface="Wingdings" panose="05000000000000000000" pitchFamily="2" charset="2"/>
              </a:rPr>
              <a:t>(c)</a:t>
            </a:r>
            <a:r>
              <a:rPr lang="en-US" altLang="zh-CN" sz="20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以及</a:t>
            </a:r>
            <a:endParaRPr lang="en-US" altLang="zh-CN" sz="2400" b="1" dirty="0">
              <a:latin typeface="Times New Roman" panose="02020603050405020304" pitchFamily="18" charset="0"/>
              <a:ea typeface="Arial" panose="020B0604020202020204" pitchFamily="34" charset="0"/>
            </a:endParaRPr>
          </a:p>
        </p:txBody>
      </p:sp>
      <p:graphicFrame>
        <p:nvGraphicFramePr>
          <p:cNvPr id="78851" name="Object 3"/>
          <p:cNvGraphicFramePr>
            <a:graphicFrameLocks noChangeAspect="1"/>
          </p:cNvGraphicFramePr>
          <p:nvPr/>
        </p:nvGraphicFramePr>
        <p:xfrm>
          <a:off x="3306763" y="1052513"/>
          <a:ext cx="2530475" cy="425450"/>
        </p:xfrm>
        <a:graphic>
          <a:graphicData uri="http://schemas.openxmlformats.org/presentationml/2006/ole">
            <p:oleObj spid="_x0000_s39944" r:id="rId4" imgW="1244600" imgH="228600" progId="">
              <p:embed/>
            </p:oleObj>
          </a:graphicData>
        </a:graphic>
      </p:graphicFrame>
      <p:graphicFrame>
        <p:nvGraphicFramePr>
          <p:cNvPr id="78852" name="Object 4"/>
          <p:cNvGraphicFramePr>
            <a:graphicFrameLocks noChangeAspect="1"/>
          </p:cNvGraphicFramePr>
          <p:nvPr/>
        </p:nvGraphicFramePr>
        <p:xfrm>
          <a:off x="6545263" y="1093788"/>
          <a:ext cx="1743075" cy="447675"/>
        </p:xfrm>
        <a:graphic>
          <a:graphicData uri="http://schemas.openxmlformats.org/presentationml/2006/ole">
            <p:oleObj spid="_x0000_s39945" r:id="rId5" imgW="825500" imgH="228600" progId="">
              <p:embed/>
            </p:oleObj>
          </a:graphicData>
        </a:graphic>
      </p:graphicFrame>
      <p:graphicFrame>
        <p:nvGraphicFramePr>
          <p:cNvPr id="78853" name="Object 5"/>
          <p:cNvGraphicFramePr>
            <a:graphicFrameLocks noChangeAspect="1"/>
          </p:cNvGraphicFramePr>
          <p:nvPr/>
        </p:nvGraphicFramePr>
        <p:xfrm>
          <a:off x="1000125" y="2143125"/>
          <a:ext cx="833438" cy="493713"/>
        </p:xfrm>
        <a:graphic>
          <a:graphicData uri="http://schemas.openxmlformats.org/presentationml/2006/ole">
            <p:oleObj spid="_x0000_s39946" r:id="rId6" imgW="304668" imgH="228501" progId="">
              <p:embed/>
            </p:oleObj>
          </a:graphicData>
        </a:graphic>
      </p:graphicFrame>
      <p:graphicFrame>
        <p:nvGraphicFramePr>
          <p:cNvPr id="78854" name="Object 6"/>
          <p:cNvGraphicFramePr>
            <a:graphicFrameLocks noChangeAspect="1"/>
          </p:cNvGraphicFramePr>
          <p:nvPr/>
        </p:nvGraphicFramePr>
        <p:xfrm>
          <a:off x="2571750" y="2143125"/>
          <a:ext cx="1598613" cy="525463"/>
        </p:xfrm>
        <a:graphic>
          <a:graphicData uri="http://schemas.openxmlformats.org/presentationml/2006/ole">
            <p:oleObj spid="_x0000_s39947" r:id="rId7" imgW="622030" imgH="228501" progId="">
              <p:embed/>
            </p:oleObj>
          </a:graphicData>
        </a:graphic>
      </p:graphicFrame>
      <p:graphicFrame>
        <p:nvGraphicFramePr>
          <p:cNvPr id="78855" name="Object 7"/>
          <p:cNvGraphicFramePr>
            <a:graphicFrameLocks noChangeAspect="1"/>
          </p:cNvGraphicFramePr>
          <p:nvPr/>
        </p:nvGraphicFramePr>
        <p:xfrm>
          <a:off x="4786313" y="2143125"/>
          <a:ext cx="946150" cy="525463"/>
        </p:xfrm>
        <a:graphic>
          <a:graphicData uri="http://schemas.openxmlformats.org/presentationml/2006/ole">
            <p:oleObj spid="_x0000_s39948" r:id="rId8" imgW="368300" imgH="228600" progId="">
              <p:embed/>
            </p:oleObj>
          </a:graphicData>
        </a:graphic>
      </p:graphicFrame>
      <p:graphicFrame>
        <p:nvGraphicFramePr>
          <p:cNvPr id="78856" name="Object 8"/>
          <p:cNvGraphicFramePr>
            <a:graphicFrameLocks noChangeAspect="1"/>
          </p:cNvGraphicFramePr>
          <p:nvPr/>
        </p:nvGraphicFramePr>
        <p:xfrm>
          <a:off x="6215063" y="2143125"/>
          <a:ext cx="717550" cy="525463"/>
        </p:xfrm>
        <a:graphic>
          <a:graphicData uri="http://schemas.openxmlformats.org/presentationml/2006/ole">
            <p:oleObj spid="_x0000_s39949" r:id="rId9" imgW="279400" imgH="228600" progId="">
              <p:embed/>
            </p:oleObj>
          </a:graphicData>
        </a:graphic>
      </p:graphicFrame>
      <p:graphicFrame>
        <p:nvGraphicFramePr>
          <p:cNvPr id="78857" name="Object 9"/>
          <p:cNvGraphicFramePr>
            <a:graphicFrameLocks noChangeAspect="1"/>
          </p:cNvGraphicFramePr>
          <p:nvPr/>
        </p:nvGraphicFramePr>
        <p:xfrm>
          <a:off x="7500938" y="2143125"/>
          <a:ext cx="847725" cy="525463"/>
        </p:xfrm>
        <a:graphic>
          <a:graphicData uri="http://schemas.openxmlformats.org/presentationml/2006/ole">
            <p:oleObj spid="_x0000_s39950" r:id="rId10" imgW="330200" imgH="228600" progId="">
              <p:embed/>
            </p:oleObj>
          </a:graphicData>
        </a:graphic>
      </p:graphicFrame>
      <p:pic>
        <p:nvPicPr>
          <p:cNvPr id="78858" name="Picture 21" descr="chapter4(8)"/>
          <p:cNvPicPr>
            <a:picLocks noChangeAspect="1"/>
          </p:cNvPicPr>
          <p:nvPr/>
        </p:nvPicPr>
        <p:blipFill>
          <a:blip r:embed="rId11"/>
          <a:srcRect t="-123" r="23474" b="44468"/>
          <a:stretch>
            <a:fillRect/>
          </a:stretch>
        </p:blipFill>
        <p:spPr>
          <a:xfrm>
            <a:off x="2124075" y="3140710"/>
            <a:ext cx="6336665" cy="3456305"/>
          </a:xfrm>
          <a:prstGeom prst="rect">
            <a:avLst/>
          </a:prstGeom>
          <a:noFill/>
          <a:ln w="9525">
            <a:noFill/>
          </a:ln>
        </p:spPr>
      </p:pic>
      <p:sp>
        <p:nvSpPr>
          <p:cNvPr id="56331" name="Rectangle 12"/>
          <p:cNvSpPr>
            <a:spLocks noChangeArrowheads="1"/>
          </p:cNvSpPr>
          <p:nvPr/>
        </p:nvSpPr>
        <p:spPr bwMode="auto">
          <a:xfrm>
            <a:off x="3232150" y="6157913"/>
            <a:ext cx="2679700" cy="40005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bg1">
                    <a:lumMod val="50000"/>
                  </a:schemeClr>
                </a:solidFill>
                <a:effectLst/>
                <a:uLnTx/>
                <a:uFillTx/>
                <a:latin typeface="Arial" panose="020B0604020202020204" pitchFamily="34" charset="0"/>
                <a:ea typeface="宋体-18030" pitchFamily="49" charset="-122"/>
                <a:cs typeface="+mn-cs"/>
              </a:rPr>
              <a:t>(</a:t>
            </a:r>
            <a:r>
              <a:rPr kumimoji="0" lang="zh-CN" altLang="en-US" sz="2000" b="1" i="0" u="none" strike="noStrike" kern="1200" cap="none" spc="0" normalizeH="0" baseline="0" noProof="0" dirty="0">
                <a:ln>
                  <a:noFill/>
                </a:ln>
                <a:solidFill>
                  <a:schemeClr val="bg1">
                    <a:lumMod val="50000"/>
                  </a:schemeClr>
                </a:solidFill>
                <a:effectLst/>
                <a:uLnTx/>
                <a:uFillTx/>
                <a:latin typeface="Arial" panose="020B0604020202020204" pitchFamily="34" charset="0"/>
                <a:ea typeface="宋体-18030" pitchFamily="49" charset="-122"/>
                <a:cs typeface="+mn-cs"/>
              </a:rPr>
              <a:t>板图！</a:t>
            </a:r>
            <a:r>
              <a:rPr kumimoji="0" lang="en-US" altLang="zh-CN" sz="2000" b="1" i="0" u="none" strike="noStrike" kern="1200" cap="none" spc="0" normalizeH="0" baseline="0" noProof="0" dirty="0">
                <a:ln>
                  <a:noFill/>
                </a:ln>
                <a:solidFill>
                  <a:schemeClr val="bg1">
                    <a:lumMod val="50000"/>
                  </a:schemeClr>
                </a:solidFill>
                <a:effectLst/>
                <a:uLnTx/>
                <a:uFillTx/>
                <a:latin typeface="Arial" panose="020B0604020202020204" pitchFamily="34" charset="0"/>
                <a:ea typeface="宋体-18030" pitchFamily="49" charset="-122"/>
                <a:cs typeface="+mn-cs"/>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Object 10"/>
          <p:cNvGraphicFramePr>
            <a:graphicFrameLocks noChangeAspect="1"/>
          </p:cNvGraphicFramePr>
          <p:nvPr/>
        </p:nvGraphicFramePr>
        <p:xfrm>
          <a:off x="1730375" y="1411288"/>
          <a:ext cx="2679700" cy="450850"/>
        </p:xfrm>
        <a:graphic>
          <a:graphicData uri="http://schemas.openxmlformats.org/presentationml/2006/ole">
            <p:oleObj spid="_x0000_s40968" r:id="rId3" imgW="1244600" imgH="228600" progId="">
              <p:embed/>
            </p:oleObj>
          </a:graphicData>
        </a:graphic>
      </p:graphicFrame>
      <p:sp>
        <p:nvSpPr>
          <p:cNvPr id="80899" name="Text Box 11"/>
          <p:cNvSpPr txBox="1"/>
          <p:nvPr/>
        </p:nvSpPr>
        <p:spPr>
          <a:xfrm>
            <a:off x="407988" y="941388"/>
            <a:ext cx="8043862" cy="1982787"/>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eaLnBrk="1" hangingPunct="1">
              <a:lnSpc>
                <a:spcPct val="110000"/>
              </a:lnSpc>
              <a:spcBef>
                <a:spcPct val="0"/>
              </a:spcBef>
              <a:buClrTx/>
              <a:buSzTx/>
              <a:buFontTx/>
              <a:buNone/>
            </a:pPr>
            <a:r>
              <a:rPr lang="zh-CN" altLang="en-US" sz="2800" b="1" dirty="0">
                <a:solidFill>
                  <a:srgbClr val="0000E5"/>
                </a:solidFill>
                <a:latin typeface="Times New Roman" panose="02020603050405020304" pitchFamily="18" charset="0"/>
                <a:cs typeface="Arial" panose="020B0604020202020204" pitchFamily="34" charset="0"/>
              </a:rPr>
              <a:t>解</a:t>
            </a:r>
            <a:r>
              <a:rPr lang="en-US" altLang="zh-CN" sz="2800" b="1" dirty="0">
                <a:solidFill>
                  <a:srgbClr val="0000E5"/>
                </a:solidFill>
                <a:latin typeface="Times New Roman" panose="02020603050405020304" pitchFamily="18" charset="0"/>
                <a:cs typeface="Arial" panose="020B0604020202020204" pitchFamily="34" charset="0"/>
              </a:rPr>
              <a:t>:</a:t>
            </a:r>
          </a:p>
          <a:p>
            <a:pPr marL="342900" lvl="0" indent="-342900" eaLnBrk="1" hangingPunct="1">
              <a:lnSpc>
                <a:spcPct val="110000"/>
              </a:lnSpc>
              <a:spcBef>
                <a:spcPct val="0"/>
              </a:spcBef>
              <a:buClrTx/>
              <a:buSzTx/>
              <a:buFontTx/>
              <a:buAutoNum type="alphaLcParenBoth"/>
            </a:pPr>
            <a:r>
              <a:rPr lang="zh-CN" altLang="en-US" sz="2400" b="1" dirty="0">
                <a:latin typeface="Times New Roman" panose="02020603050405020304" pitchFamily="18" charset="0"/>
                <a:cs typeface="Arial" panose="020B0604020202020204" pitchFamily="34" charset="0"/>
              </a:rPr>
              <a:t>因为</a:t>
            </a:r>
            <a:r>
              <a:rPr lang="en-US" altLang="zh-CN" sz="2400" b="1" dirty="0">
                <a:latin typeface="Times New Roman" panose="02020603050405020304" pitchFamily="18" charset="0"/>
                <a:cs typeface="Arial" panose="020B0604020202020204" pitchFamily="34" charset="0"/>
              </a:rPr>
              <a:t>                                       , </a:t>
            </a:r>
            <a:r>
              <a:rPr lang="zh-CN" altLang="en-US" sz="2400" b="1" dirty="0">
                <a:latin typeface="Times New Roman" panose="02020603050405020304" pitchFamily="18" charset="0"/>
                <a:cs typeface="Arial" panose="020B0604020202020204" pitchFamily="34" charset="0"/>
              </a:rPr>
              <a:t>所以                                        。</a:t>
            </a:r>
            <a:r>
              <a:rPr lang="en-US" altLang="zh-CN" sz="2400" b="1" dirty="0">
                <a:latin typeface="Times New Roman" panose="02020603050405020304" pitchFamily="18" charset="0"/>
                <a:cs typeface="Arial" panose="020B0604020202020204" pitchFamily="34" charset="0"/>
              </a:rPr>
              <a:t>                                           </a:t>
            </a:r>
          </a:p>
          <a:p>
            <a:pPr marL="342900" lvl="0" indent="-342900" eaLnBrk="1" hangingPunct="1">
              <a:lnSpc>
                <a:spcPct val="110000"/>
              </a:lnSpc>
              <a:spcBef>
                <a:spcPct val="0"/>
              </a:spcBef>
              <a:buClrTx/>
              <a:buSzTx/>
              <a:buFontTx/>
              <a:buNone/>
            </a:pP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由于</a:t>
            </a:r>
            <a:endParaRPr lang="en-US" altLang="zh-CN" sz="2400" b="1" dirty="0">
              <a:latin typeface="Times New Roman" panose="02020603050405020304" pitchFamily="18" charset="0"/>
              <a:cs typeface="Arial" panose="020B0604020202020204" pitchFamily="34" charset="0"/>
            </a:endParaRPr>
          </a:p>
          <a:p>
            <a:pPr marL="342900" lvl="0" indent="-342900" eaLnBrk="1" hangingPunct="1">
              <a:lnSpc>
                <a:spcPct val="110000"/>
              </a:lnSpc>
              <a:spcBef>
                <a:spcPct val="0"/>
              </a:spcBef>
              <a:buClrTx/>
              <a:buSzTx/>
              <a:buFontTx/>
              <a:buNone/>
            </a:pPr>
            <a:endParaRPr lang="en-US" altLang="zh-CN" sz="2400" b="1" dirty="0">
              <a:latin typeface="Times New Roman" panose="02020603050405020304" pitchFamily="18" charset="0"/>
              <a:cs typeface="Arial" panose="020B0604020202020204" pitchFamily="34" charset="0"/>
            </a:endParaRPr>
          </a:p>
          <a:p>
            <a:pPr marL="342900" lvl="0" indent="-342900" eaLnBrk="1" hangingPunct="1">
              <a:lnSpc>
                <a:spcPct val="110000"/>
              </a:lnSpc>
              <a:spcBef>
                <a:spcPct val="0"/>
              </a:spcBef>
              <a:buClrTx/>
              <a:buSzTx/>
              <a:buFontTx/>
              <a:buNone/>
            </a:pP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所以</a:t>
            </a:r>
            <a:endParaRPr lang="en-US" altLang="zh-CN" sz="2400" b="1" dirty="0">
              <a:latin typeface="Times New Roman" panose="02020603050405020304" pitchFamily="18" charset="0"/>
              <a:cs typeface="Arial" panose="020B0604020202020204" pitchFamily="34" charset="0"/>
            </a:endParaRPr>
          </a:p>
          <a:p>
            <a:pPr marL="342900" lvl="0" indent="-342900" eaLnBrk="1" hangingPunct="1">
              <a:lnSpc>
                <a:spcPct val="110000"/>
              </a:lnSpc>
              <a:spcBef>
                <a:spcPct val="0"/>
              </a:spcBef>
              <a:buClrTx/>
              <a:buSzTx/>
              <a:buFontTx/>
              <a:buNone/>
            </a:pPr>
            <a:endParaRPr lang="en-US" altLang="zh-CN" sz="2400" b="1" dirty="0">
              <a:latin typeface="Times New Roman" panose="02020603050405020304" pitchFamily="18" charset="0"/>
              <a:cs typeface="Arial" panose="020B0604020202020204" pitchFamily="34" charset="0"/>
            </a:endParaRPr>
          </a:p>
          <a:p>
            <a:pPr marL="342900" lvl="0" indent="-342900" eaLnBrk="1" hangingPunct="1">
              <a:lnSpc>
                <a:spcPct val="110000"/>
              </a:lnSpc>
              <a:spcBef>
                <a:spcPct val="0"/>
              </a:spcBef>
              <a:buClrTx/>
              <a:buSzTx/>
              <a:buFontTx/>
              <a:buNone/>
            </a:pPr>
            <a:endParaRPr lang="en-US" altLang="zh-CN" sz="2400" b="1" dirty="0">
              <a:latin typeface="Times New Roman" panose="02020603050405020304" pitchFamily="18" charset="0"/>
              <a:cs typeface="Arial" panose="020B0604020202020204" pitchFamily="34" charset="0"/>
            </a:endParaRPr>
          </a:p>
          <a:p>
            <a:pPr marL="342900" lvl="0" indent="-342900" eaLnBrk="1" hangingPunct="1">
              <a:lnSpc>
                <a:spcPct val="110000"/>
              </a:lnSpc>
              <a:spcBef>
                <a:spcPct val="0"/>
              </a:spcBef>
              <a:buClrTx/>
              <a:buSzTx/>
              <a:buFontTx/>
              <a:buNone/>
            </a:pPr>
            <a:r>
              <a:rPr lang="en-US" altLang="zh-CN" sz="2400" b="1" dirty="0">
                <a:latin typeface="Times New Roman" panose="02020603050405020304" pitchFamily="18" charset="0"/>
                <a:cs typeface="Arial" panose="020B0604020202020204" pitchFamily="34" charset="0"/>
              </a:rPr>
              <a:t>(b) </a:t>
            </a:r>
            <a:r>
              <a:rPr lang="zh-CN" altLang="en-US" sz="2400" b="1" dirty="0">
                <a:latin typeface="Times New Roman" panose="02020603050405020304" pitchFamily="18" charset="0"/>
                <a:cs typeface="Arial" panose="020B0604020202020204" pitchFamily="34" charset="0"/>
              </a:rPr>
              <a:t>等效电感为：</a:t>
            </a:r>
            <a:endParaRPr lang="en-US" altLang="zh-CN" sz="2400" b="1" dirty="0">
              <a:latin typeface="Times New Roman" panose="02020603050405020304" pitchFamily="18" charset="0"/>
              <a:cs typeface="Arial" panose="020B0604020202020204" pitchFamily="34" charset="0"/>
            </a:endParaRPr>
          </a:p>
          <a:p>
            <a:pPr marL="342900" lvl="0" indent="-342900" eaLnBrk="1" hangingPunct="1">
              <a:lnSpc>
                <a:spcPct val="110000"/>
              </a:lnSpc>
              <a:spcBef>
                <a:spcPct val="0"/>
              </a:spcBef>
              <a:buClrTx/>
              <a:buSzTx/>
              <a:buFontTx/>
              <a:buNone/>
            </a:pPr>
            <a:endParaRPr lang="en-US" altLang="zh-CN" sz="2400" b="1" dirty="0">
              <a:latin typeface="Times New Roman" panose="02020603050405020304" pitchFamily="18" charset="0"/>
              <a:cs typeface="Arial" panose="020B0604020202020204" pitchFamily="34" charset="0"/>
            </a:endParaRPr>
          </a:p>
          <a:p>
            <a:pPr marL="342900" lvl="0" indent="-342900" eaLnBrk="1" hangingPunct="1">
              <a:lnSpc>
                <a:spcPct val="110000"/>
              </a:lnSpc>
              <a:spcBef>
                <a:spcPct val="0"/>
              </a:spcBef>
              <a:buClrTx/>
              <a:buSzTx/>
              <a:buFontTx/>
              <a:buNone/>
            </a:pPr>
            <a:endParaRPr lang="en-US" altLang="zh-CN" sz="2400" b="1" dirty="0">
              <a:latin typeface="Times New Roman" panose="02020603050405020304" pitchFamily="18" charset="0"/>
              <a:cs typeface="Arial" panose="020B0604020202020204" pitchFamily="34" charset="0"/>
            </a:endParaRPr>
          </a:p>
          <a:p>
            <a:pPr marL="342900" lvl="0" indent="-342900" eaLnBrk="1" hangingPunct="1">
              <a:lnSpc>
                <a:spcPct val="110000"/>
              </a:lnSpc>
              <a:spcBef>
                <a:spcPct val="0"/>
              </a:spcBef>
              <a:buClrTx/>
              <a:buSzTx/>
              <a:buFontTx/>
              <a:buNone/>
            </a:pPr>
            <a:r>
              <a:rPr lang="en-US" altLang="zh-CN" sz="2400" b="1" dirty="0">
                <a:latin typeface="Times New Roman" panose="02020603050405020304" pitchFamily="18" charset="0"/>
                <a:cs typeface="Arial" panose="020B0604020202020204" pitchFamily="34" charset="0"/>
              </a:rPr>
              <a:t>	    </a:t>
            </a:r>
          </a:p>
          <a:p>
            <a:pPr marL="342900" lvl="0" indent="-342900" eaLnBrk="1" hangingPunct="1">
              <a:lnSpc>
                <a:spcPct val="110000"/>
              </a:lnSpc>
              <a:spcBef>
                <a:spcPct val="0"/>
              </a:spcBef>
              <a:buClrTx/>
              <a:buSzTx/>
              <a:buFontTx/>
              <a:buNone/>
            </a:pP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并且</a:t>
            </a:r>
            <a:endParaRPr lang="en-US" altLang="zh-CN" sz="2400" b="1" dirty="0">
              <a:latin typeface="Times New Roman" panose="02020603050405020304" pitchFamily="18" charset="0"/>
              <a:ea typeface="Arial" panose="020B0604020202020204" pitchFamily="34" charset="0"/>
            </a:endParaRPr>
          </a:p>
        </p:txBody>
      </p:sp>
      <p:graphicFrame>
        <p:nvGraphicFramePr>
          <p:cNvPr id="80900" name="Object 12"/>
          <p:cNvGraphicFramePr>
            <a:graphicFrameLocks noChangeAspect="1"/>
          </p:cNvGraphicFramePr>
          <p:nvPr/>
        </p:nvGraphicFramePr>
        <p:xfrm>
          <a:off x="5292725" y="1436688"/>
          <a:ext cx="2992438" cy="428625"/>
        </p:xfrm>
        <a:graphic>
          <a:graphicData uri="http://schemas.openxmlformats.org/presentationml/2006/ole">
            <p:oleObj spid="_x0000_s40969" r:id="rId4" imgW="1295400" imgH="203200" progId="">
              <p:embed/>
            </p:oleObj>
          </a:graphicData>
        </a:graphic>
      </p:graphicFrame>
      <p:graphicFrame>
        <p:nvGraphicFramePr>
          <p:cNvPr id="80901" name="Object 13"/>
          <p:cNvGraphicFramePr>
            <a:graphicFrameLocks noChangeAspect="1"/>
          </p:cNvGraphicFramePr>
          <p:nvPr/>
        </p:nvGraphicFramePr>
        <p:xfrm>
          <a:off x="1658938" y="1776413"/>
          <a:ext cx="1600200" cy="573087"/>
        </p:xfrm>
        <a:graphic>
          <a:graphicData uri="http://schemas.openxmlformats.org/presentationml/2006/ole">
            <p:oleObj spid="_x0000_s40970" r:id="rId5" imgW="583947" imgH="228501" progId="">
              <p:embed/>
            </p:oleObj>
          </a:graphicData>
        </a:graphic>
      </p:graphicFrame>
      <p:graphicFrame>
        <p:nvGraphicFramePr>
          <p:cNvPr id="80902" name="Object 14"/>
          <p:cNvGraphicFramePr>
            <a:graphicFrameLocks noChangeAspect="1"/>
          </p:cNvGraphicFramePr>
          <p:nvPr/>
        </p:nvGraphicFramePr>
        <p:xfrm>
          <a:off x="1658938" y="2541588"/>
          <a:ext cx="5340350" cy="523875"/>
        </p:xfrm>
        <a:graphic>
          <a:graphicData uri="http://schemas.openxmlformats.org/presentationml/2006/ole">
            <p:oleObj spid="_x0000_s40971" r:id="rId6" imgW="2133600" imgH="228600" progId="">
              <p:embed/>
            </p:oleObj>
          </a:graphicData>
        </a:graphic>
      </p:graphicFrame>
      <p:graphicFrame>
        <p:nvGraphicFramePr>
          <p:cNvPr id="80903" name="Object 15"/>
          <p:cNvGraphicFramePr>
            <a:graphicFrameLocks noChangeAspect="1"/>
          </p:cNvGraphicFramePr>
          <p:nvPr/>
        </p:nvGraphicFramePr>
        <p:xfrm>
          <a:off x="2884488" y="3805238"/>
          <a:ext cx="3760787" cy="525462"/>
        </p:xfrm>
        <a:graphic>
          <a:graphicData uri="http://schemas.openxmlformats.org/presentationml/2006/ole">
            <p:oleObj spid="_x0000_s40972" r:id="rId7" imgW="1663700" imgH="254000" progId="">
              <p:embed/>
            </p:oleObj>
          </a:graphicData>
        </a:graphic>
      </p:graphicFrame>
      <p:graphicFrame>
        <p:nvGraphicFramePr>
          <p:cNvPr id="80904" name="Object 16"/>
          <p:cNvGraphicFramePr>
            <a:graphicFrameLocks noChangeAspect="1"/>
          </p:cNvGraphicFramePr>
          <p:nvPr/>
        </p:nvGraphicFramePr>
        <p:xfrm>
          <a:off x="1992313" y="4357688"/>
          <a:ext cx="7161212" cy="828675"/>
        </p:xfrm>
        <a:graphic>
          <a:graphicData uri="http://schemas.openxmlformats.org/presentationml/2006/ole">
            <p:oleObj spid="_x0000_s40973" r:id="rId8" imgW="3111500" imgH="393700" progId="">
              <p:embed/>
            </p:oleObj>
          </a:graphicData>
        </a:graphic>
      </p:graphicFrame>
      <p:sp>
        <p:nvSpPr>
          <p:cNvPr id="80905" name="Text Box 18"/>
          <p:cNvSpPr txBox="1"/>
          <p:nvPr/>
        </p:nvSpPr>
        <p:spPr>
          <a:xfrm>
            <a:off x="1095375" y="4524375"/>
            <a:ext cx="803275" cy="465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10000"/>
              </a:lnSpc>
              <a:spcBef>
                <a:spcPct val="0"/>
              </a:spcBef>
              <a:buClrTx/>
              <a:buSzTx/>
              <a:buFontTx/>
              <a:buNone/>
            </a:pPr>
            <a:r>
              <a:rPr lang="zh-CN" altLang="en-US" sz="2400" b="1" dirty="0">
                <a:latin typeface="Times New Roman" panose="02020603050405020304" pitchFamily="18" charset="0"/>
                <a:cs typeface="Arial" panose="020B0604020202020204" pitchFamily="34" charset="0"/>
              </a:rPr>
              <a:t>所以</a:t>
            </a:r>
            <a:endParaRPr lang="en-US" altLang="zh-CN" sz="2400" b="1" dirty="0">
              <a:latin typeface="Times New Roman" panose="02020603050405020304" pitchFamily="18" charset="0"/>
              <a:ea typeface="Arial" panose="020B0604020202020204" pitchFamily="34" charset="0"/>
            </a:endParaRPr>
          </a:p>
        </p:txBody>
      </p:sp>
      <p:graphicFrame>
        <p:nvGraphicFramePr>
          <p:cNvPr id="80906" name="Object 17"/>
          <p:cNvGraphicFramePr>
            <a:graphicFrameLocks noChangeAspect="1"/>
          </p:cNvGraphicFramePr>
          <p:nvPr/>
        </p:nvGraphicFramePr>
        <p:xfrm>
          <a:off x="1989138" y="5284788"/>
          <a:ext cx="6264275" cy="806450"/>
        </p:xfrm>
        <a:graphic>
          <a:graphicData uri="http://schemas.openxmlformats.org/presentationml/2006/ole">
            <p:oleObj spid="_x0000_s40974" r:id="rId9" imgW="2794000" imgH="393700" progId="">
              <p:embed/>
            </p:oleObj>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p:nvPr/>
        </p:nvSpPr>
        <p:spPr>
          <a:xfrm>
            <a:off x="571500" y="571500"/>
            <a:ext cx="827088" cy="46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10000"/>
              </a:lnSpc>
              <a:spcBef>
                <a:spcPct val="0"/>
              </a:spcBef>
              <a:buClrTx/>
              <a:buSzTx/>
              <a:buFontTx/>
              <a:buNone/>
            </a:pPr>
            <a:r>
              <a:rPr lang="zh-CN" altLang="en-US" sz="2400" b="1" dirty="0">
                <a:latin typeface="Times New Roman" panose="02020603050405020304" pitchFamily="18" charset="0"/>
                <a:cs typeface="Arial" panose="020B0604020202020204" pitchFamily="34" charset="0"/>
              </a:rPr>
              <a:t>由于</a:t>
            </a:r>
            <a:endParaRPr lang="en-US" altLang="zh-CN" sz="2400" b="1" dirty="0">
              <a:latin typeface="Times New Roman" panose="02020603050405020304" pitchFamily="18" charset="0"/>
              <a:ea typeface="Arial" panose="020B0604020202020204" pitchFamily="34" charset="0"/>
            </a:endParaRPr>
          </a:p>
        </p:txBody>
      </p:sp>
      <p:graphicFrame>
        <p:nvGraphicFramePr>
          <p:cNvPr id="81923" name="Object 3"/>
          <p:cNvGraphicFramePr>
            <a:graphicFrameLocks noChangeAspect="1"/>
          </p:cNvGraphicFramePr>
          <p:nvPr/>
        </p:nvGraphicFramePr>
        <p:xfrm>
          <a:off x="2036763" y="506413"/>
          <a:ext cx="1917700" cy="595312"/>
        </p:xfrm>
        <a:graphic>
          <a:graphicData uri="http://schemas.openxmlformats.org/presentationml/2006/ole">
            <p:oleObj spid="_x0000_s41993" r:id="rId3" imgW="672808" imgH="228501" progId="">
              <p:embed/>
            </p:oleObj>
          </a:graphicData>
        </a:graphic>
      </p:graphicFrame>
      <p:graphicFrame>
        <p:nvGraphicFramePr>
          <p:cNvPr id="81924" name="Object 4"/>
          <p:cNvGraphicFramePr>
            <a:graphicFrameLocks noChangeAspect="1"/>
          </p:cNvGraphicFramePr>
          <p:nvPr/>
        </p:nvGraphicFramePr>
        <p:xfrm>
          <a:off x="2030413" y="1112838"/>
          <a:ext cx="4451350" cy="504825"/>
        </p:xfrm>
        <a:graphic>
          <a:graphicData uri="http://schemas.openxmlformats.org/presentationml/2006/ole">
            <p:oleObj spid="_x0000_s41994" r:id="rId4" imgW="1943100" imgH="241300" progId="">
              <p:embed/>
            </p:oleObj>
          </a:graphicData>
        </a:graphic>
      </p:graphicFrame>
      <p:grpSp>
        <p:nvGrpSpPr>
          <p:cNvPr id="81925" name="Group 5"/>
          <p:cNvGrpSpPr/>
          <p:nvPr/>
        </p:nvGrpSpPr>
        <p:grpSpPr>
          <a:xfrm>
            <a:off x="642938" y="1690688"/>
            <a:ext cx="7850187" cy="542925"/>
            <a:chOff x="356" y="1356"/>
            <a:chExt cx="2185" cy="342"/>
          </a:xfrm>
        </p:grpSpPr>
        <p:sp>
          <p:nvSpPr>
            <p:cNvPr id="81934" name="Text Box 6"/>
            <p:cNvSpPr txBox="1"/>
            <p:nvPr/>
          </p:nvSpPr>
          <p:spPr>
            <a:xfrm>
              <a:off x="356" y="1371"/>
              <a:ext cx="2185"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(c) </a:t>
              </a:r>
              <a:r>
                <a:rPr lang="zh-CN" altLang="en-US" sz="2400" b="1" dirty="0">
                  <a:latin typeface="Times New Roman" panose="02020603050405020304" pitchFamily="18" charset="0"/>
                  <a:cs typeface="Arial" panose="020B0604020202020204" pitchFamily="34" charset="0"/>
                </a:rPr>
                <a:t>电流</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可由下式得到：</a:t>
              </a:r>
              <a:endParaRPr lang="en-US" altLang="zh-CN" sz="2400" b="1" dirty="0">
                <a:latin typeface="Times New Roman" panose="02020603050405020304" pitchFamily="18" charset="0"/>
                <a:ea typeface="Arial" panose="020B0604020202020204" pitchFamily="34" charset="0"/>
              </a:endParaRPr>
            </a:p>
          </p:txBody>
        </p:sp>
        <p:graphicFrame>
          <p:nvGraphicFramePr>
            <p:cNvPr id="81935" name="Object 7"/>
            <p:cNvGraphicFramePr>
              <a:graphicFrameLocks noChangeAspect="1"/>
            </p:cNvGraphicFramePr>
            <p:nvPr/>
          </p:nvGraphicFramePr>
          <p:xfrm>
            <a:off x="651" y="1356"/>
            <a:ext cx="187" cy="342"/>
          </p:xfrm>
          <a:graphic>
            <a:graphicData uri="http://schemas.openxmlformats.org/presentationml/2006/ole">
              <p:oleObj spid="_x0000_s41995" r:id="rId5" imgW="114250" imgH="228501" progId="">
                <p:embed/>
              </p:oleObj>
            </a:graphicData>
          </a:graphic>
        </p:graphicFrame>
      </p:grpSp>
      <p:graphicFrame>
        <p:nvGraphicFramePr>
          <p:cNvPr id="81926" name="Object 8"/>
          <p:cNvGraphicFramePr>
            <a:graphicFrameLocks noChangeAspect="1"/>
          </p:cNvGraphicFramePr>
          <p:nvPr/>
        </p:nvGraphicFramePr>
        <p:xfrm>
          <a:off x="928688" y="2214721"/>
          <a:ext cx="5956300" cy="810895"/>
        </p:xfrm>
        <a:graphic>
          <a:graphicData uri="http://schemas.openxmlformats.org/presentationml/2006/ole">
            <p:oleObj spid="_x0000_s41996" r:id="rId6" imgW="2641320" imgH="393480" progId="">
              <p:embed/>
            </p:oleObj>
          </a:graphicData>
        </a:graphic>
      </p:graphicFrame>
      <p:graphicFrame>
        <p:nvGraphicFramePr>
          <p:cNvPr id="81927" name="Object 9"/>
          <p:cNvGraphicFramePr>
            <a:graphicFrameLocks noChangeAspect="1"/>
          </p:cNvGraphicFramePr>
          <p:nvPr/>
        </p:nvGraphicFramePr>
        <p:xfrm>
          <a:off x="1571625" y="3071813"/>
          <a:ext cx="4695825" cy="1019175"/>
        </p:xfrm>
        <a:graphic>
          <a:graphicData uri="http://schemas.openxmlformats.org/presentationml/2006/ole">
            <p:oleObj spid="_x0000_s41997" r:id="rId7" imgW="2082800" imgH="495300" progId="">
              <p:embed/>
            </p:oleObj>
          </a:graphicData>
        </a:graphic>
      </p:graphicFrame>
      <p:sp>
        <p:nvSpPr>
          <p:cNvPr id="81928" name="Text Box 10"/>
          <p:cNvSpPr txBox="1"/>
          <p:nvPr/>
        </p:nvSpPr>
        <p:spPr>
          <a:xfrm>
            <a:off x="642938" y="4071938"/>
            <a:ext cx="2214562"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同理</a:t>
            </a:r>
            <a:r>
              <a:rPr lang="en-US" altLang="zh-CN" sz="2400" b="1" dirty="0">
                <a:latin typeface="Times New Roman" panose="02020603050405020304" pitchFamily="18" charset="0"/>
                <a:cs typeface="Arial" panose="020B0604020202020204" pitchFamily="34" charset="0"/>
              </a:rPr>
              <a:t>,</a:t>
            </a:r>
            <a:endParaRPr lang="en-US" altLang="zh-CN" sz="2400" b="1" dirty="0">
              <a:latin typeface="Times New Roman" panose="02020603050405020304" pitchFamily="18" charset="0"/>
              <a:ea typeface="Arial" panose="020B0604020202020204" pitchFamily="34" charset="0"/>
            </a:endParaRPr>
          </a:p>
        </p:txBody>
      </p:sp>
      <p:graphicFrame>
        <p:nvGraphicFramePr>
          <p:cNvPr id="81929" name="Object 11"/>
          <p:cNvGraphicFramePr>
            <a:graphicFrameLocks noChangeAspect="1"/>
          </p:cNvGraphicFramePr>
          <p:nvPr/>
        </p:nvGraphicFramePr>
        <p:xfrm>
          <a:off x="1135063" y="4368800"/>
          <a:ext cx="6127750" cy="811213"/>
        </p:xfrm>
        <a:graphic>
          <a:graphicData uri="http://schemas.openxmlformats.org/presentationml/2006/ole">
            <p:oleObj spid="_x0000_s41998" r:id="rId8" imgW="2717800" imgH="393700" progId="">
              <p:embed/>
            </p:oleObj>
          </a:graphicData>
        </a:graphic>
      </p:graphicFrame>
      <p:graphicFrame>
        <p:nvGraphicFramePr>
          <p:cNvPr id="81930" name="Object 12"/>
          <p:cNvGraphicFramePr>
            <a:graphicFrameLocks noChangeAspect="1"/>
          </p:cNvGraphicFramePr>
          <p:nvPr/>
        </p:nvGraphicFramePr>
        <p:xfrm>
          <a:off x="2030413" y="5221288"/>
          <a:ext cx="4238625" cy="1019175"/>
        </p:xfrm>
        <a:graphic>
          <a:graphicData uri="http://schemas.openxmlformats.org/presentationml/2006/ole">
            <p:oleObj spid="_x0000_s41999" r:id="rId9" imgW="1879600" imgH="495300" progId="">
              <p:embed/>
            </p:oleObj>
          </a:graphicData>
        </a:graphic>
      </p:graphicFrame>
      <p:sp>
        <p:nvSpPr>
          <p:cNvPr id="81931" name="Text Box 13"/>
          <p:cNvSpPr txBox="1"/>
          <p:nvPr/>
        </p:nvSpPr>
        <p:spPr>
          <a:xfrm>
            <a:off x="500063" y="6396038"/>
            <a:ext cx="17145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可见，</a:t>
            </a:r>
            <a:r>
              <a:rPr lang="en-US" altLang="zh-CN"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ea typeface="Arial" panose="020B0604020202020204" pitchFamily="34" charset="0"/>
            </a:endParaRPr>
          </a:p>
        </p:txBody>
      </p:sp>
      <p:graphicFrame>
        <p:nvGraphicFramePr>
          <p:cNvPr id="81932" name="Object 14"/>
          <p:cNvGraphicFramePr>
            <a:graphicFrameLocks noChangeAspect="1"/>
          </p:cNvGraphicFramePr>
          <p:nvPr/>
        </p:nvGraphicFramePr>
        <p:xfrm>
          <a:off x="2555875" y="6386513"/>
          <a:ext cx="2347913" cy="471487"/>
        </p:xfrm>
        <a:graphic>
          <a:graphicData uri="http://schemas.openxmlformats.org/presentationml/2006/ole">
            <p:oleObj spid="_x0000_s42000" r:id="rId10" imgW="1040948" imgH="228501" progId="">
              <p:embed/>
            </p:oleObj>
          </a:graphicData>
        </a:graphic>
      </p:graphicFrame>
      <p:sp>
        <p:nvSpPr>
          <p:cNvPr id="81933" name="矩形 1"/>
          <p:cNvSpPr/>
          <p:nvPr/>
        </p:nvSpPr>
        <p:spPr>
          <a:xfrm>
            <a:off x="604838" y="1154113"/>
            <a:ext cx="803275" cy="465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10000"/>
              </a:lnSpc>
              <a:spcBef>
                <a:spcPct val="0"/>
              </a:spcBef>
              <a:buClrTx/>
              <a:buSzTx/>
              <a:buFontTx/>
              <a:buNone/>
            </a:pPr>
            <a:r>
              <a:rPr lang="zh-CN" altLang="en-US" sz="2400" b="1" dirty="0">
                <a:latin typeface="Times New Roman" panose="02020603050405020304" pitchFamily="18" charset="0"/>
                <a:cs typeface="Arial" panose="020B0604020202020204" pitchFamily="34" charset="0"/>
              </a:rPr>
              <a:t>所以</a:t>
            </a:r>
            <a:endParaRPr lang="en-US" altLang="zh-CN" sz="2400" b="1" dirty="0">
              <a:latin typeface="Times New Roman" panose="02020603050405020304" pitchFamily="18" charset="0"/>
              <a:ea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95605" y="620395"/>
            <a:ext cx="8255000" cy="1210945"/>
          </a:xfrm>
          <a:prstGeom prst="rect">
            <a:avLst/>
          </a:prstGeom>
        </p:spPr>
      </p:pic>
      <p:pic>
        <p:nvPicPr>
          <p:cNvPr id="3" name="图片 2"/>
          <p:cNvPicPr>
            <a:picLocks noChangeAspect="1"/>
          </p:cNvPicPr>
          <p:nvPr/>
        </p:nvPicPr>
        <p:blipFill>
          <a:blip r:embed="rId3"/>
          <a:stretch>
            <a:fillRect/>
          </a:stretch>
        </p:blipFill>
        <p:spPr>
          <a:xfrm>
            <a:off x="5147945" y="2132330"/>
            <a:ext cx="3718560" cy="2712720"/>
          </a:xfrm>
          <a:prstGeom prst="rect">
            <a:avLst/>
          </a:prstGeom>
        </p:spPr>
      </p:pic>
      <mc:AlternateContent xmlns:mc="http://schemas.openxmlformats.org/markup-compatibility/2006">
        <mc:Choice xmlns:a14="http://schemas.microsoft.com/office/drawing/2010/main" xmlns="" Requires="a14">
          <p:sp>
            <p:nvSpPr>
              <p:cNvPr id="4" name="文本框 3"/>
              <p:cNvSpPr txBox="1"/>
              <p:nvPr/>
            </p:nvSpPr>
            <p:spPr>
              <a:xfrm>
                <a:off x="489585" y="2077720"/>
                <a:ext cx="4154170" cy="398907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a:t>解（</a:t>
                </a:r>
                <a:r>
                  <a:rPr lang="en-US" altLang="zh-CN"/>
                  <a:t>a) i2(0)=i(0)-i1(0)=7-3=4 (A)</a:t>
                </a:r>
              </a:p>
              <a:p>
                <a:r>
                  <a:rPr lang="zh-CN" altLang="en-US"/>
                  <a:t>（</a:t>
                </a:r>
                <a:r>
                  <a:rPr lang="en-US" altLang="zh-CN"/>
                  <a:t>b) i2(t)=</a:t>
                </a:r>
                <a14:m>
                  <m:oMath xmlns:m="http://schemas.openxmlformats.org/officeDocument/2006/math">
                    <m:f>
                      <m:fPr>
                        <m:ctrlPr>
                          <a:rPr lang="en-US" altLang="zh-CN" i="1">
                            <a:latin typeface="Cambria Math" panose="02040503050406030204" pitchFamily="18"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3</m:t>
                        </m:r>
                      </m:den>
                    </m:f>
                    <m:nary>
                      <m:naryPr>
                        <m:limLoc m:val="subSup"/>
                        <m:ctrlPr>
                          <a:rPr lang="en-US" altLang="zh-CN" i="1">
                            <a:latin typeface="Cambria Math" panose="02040503050406030204" pitchFamily="18" charset="0"/>
                            <a:cs typeface="Cambria Math" panose="02040503050406030204" charset="0"/>
                          </a:rPr>
                        </m:ctrlPr>
                      </m:naryPr>
                      <m:sub>
                        <m:r>
                          <a:rPr lang="en-US" altLang="zh-CN" i="1">
                            <a:latin typeface="Cambria Math" panose="02040503050406030204" charset="0"/>
                            <a:cs typeface="Cambria Math" panose="02040503050406030204" charset="0"/>
                          </a:rPr>
                          <m:t>0</m:t>
                        </m:r>
                      </m:sub>
                      <m:sup>
                        <m:r>
                          <a:rPr lang="en-US" altLang="zh-CN" i="1">
                            <a:latin typeface="Cambria Math" panose="02040503050406030204" charset="0"/>
                            <a:cs typeface="Cambria Math" panose="02040503050406030204" charset="0"/>
                          </a:rPr>
                          <m:t>𝑡</m:t>
                        </m:r>
                      </m:sup>
                      <m:e>
                        <m:r>
                          <a:rPr lang="en-US" altLang="zh-CN" i="1">
                            <a:latin typeface="Cambria Math" panose="02040503050406030204" charset="0"/>
                            <a:cs typeface="Cambria Math" panose="02040503050406030204" charset="0"/>
                          </a:rPr>
                          <m:t>(−36</m:t>
                        </m:r>
                        <m:r>
                          <a:rPr lang="en-US" altLang="zh-CN">
                            <a:latin typeface="Cambria Math" panose="02040503050406030204" pitchFamily="18" charset="0"/>
                            <a:sym typeface="+mn-ea"/>
                          </a:rPr>
                          <m:t>𝑒</m:t>
                        </m:r>
                        <m:r>
                          <a:rPr lang="en-US" altLang="zh-CN" baseline="30000">
                            <a:solidFill>
                              <a:schemeClr val="accent4"/>
                            </a:solidFill>
                            <a:uFillTx/>
                            <a:latin typeface="Cambria Math" panose="02040503050406030204" pitchFamily="18" charset="0"/>
                            <a:sym typeface="+mn-ea"/>
                          </a:rPr>
                          <m:t>−2</m:t>
                        </m:r>
                        <m:r>
                          <a:rPr lang="en-US" altLang="zh-CN" baseline="30000">
                            <a:solidFill>
                              <a:schemeClr val="accent4"/>
                            </a:solidFill>
                            <a:uFillTx/>
                            <a:latin typeface="Cambria Math" panose="02040503050406030204" pitchFamily="18" charset="0"/>
                            <a:sym typeface="+mn-ea"/>
                          </a:rPr>
                          <m:t>𝑡</m:t>
                        </m:r>
                      </m:e>
                    </m:nary>
                  </m:oMath>
                </a14:m>
                <a:r>
                  <a:rPr lang="en-US" altLang="zh-CN">
                    <a:sym typeface="+mn-ea"/>
                  </a:rPr>
                  <a:t>)dt+i20</a:t>
                </a:r>
              </a:p>
              <a:p>
                <a:r>
                  <a:rPr lang="en-US" altLang="zh-CN">
                    <a:sym typeface="+mn-ea"/>
                  </a:rPr>
                  <a:t>   =(1/3)*(-36)*(-1/2)e</a:t>
                </a:r>
                <a:r>
                  <a:rPr lang="en-US" altLang="zh-CN" baseline="30000">
                    <a:solidFill>
                      <a:schemeClr val="accent4"/>
                    </a:solidFill>
                    <a:uFillTx/>
                    <a:sym typeface="+mn-ea"/>
                  </a:rPr>
                  <a:t>-2t</a:t>
                </a:r>
                <a:r>
                  <a:rPr lang="en-US" altLang="zh-CN">
                    <a:sym typeface="+mn-ea"/>
                  </a:rPr>
                  <a:t>-6+4</a:t>
                </a:r>
              </a:p>
              <a:p>
                <a:r>
                  <a:rPr lang="en-US" altLang="zh-CN">
                    <a:sym typeface="+mn-ea"/>
                  </a:rPr>
                  <a:t>   =6e</a:t>
                </a:r>
                <a:r>
                  <a:rPr lang="en-US" altLang="zh-CN" baseline="30000">
                    <a:solidFill>
                      <a:schemeClr val="accent4"/>
                    </a:solidFill>
                    <a:uFillTx/>
                    <a:sym typeface="+mn-ea"/>
                  </a:rPr>
                  <a:t>-2t</a:t>
                </a:r>
                <a:r>
                  <a:rPr lang="en-US" altLang="zh-CN">
                    <a:sym typeface="+mn-ea"/>
                  </a:rPr>
                  <a:t>-2</a:t>
                </a:r>
              </a:p>
              <a:p>
                <a:r>
                  <a:rPr lang="en-US" altLang="zh-CN">
                    <a:sym typeface="+mn-ea"/>
                  </a:rPr>
                  <a:t>i(t)=i1(t)+i2(t)=9e</a:t>
                </a:r>
                <a:r>
                  <a:rPr lang="en-US" altLang="zh-CN" baseline="30000">
                    <a:solidFill>
                      <a:schemeClr val="accent4"/>
                    </a:solidFill>
                    <a:uFillTx/>
                    <a:sym typeface="+mn-ea"/>
                  </a:rPr>
                  <a:t>-2t</a:t>
                </a:r>
                <a:r>
                  <a:rPr lang="en-US" altLang="zh-CN">
                    <a:sym typeface="+mn-ea"/>
                  </a:rPr>
                  <a:t>-2</a:t>
                </a:r>
                <a:endParaRPr lang="en-US" altLang="zh-CN"/>
              </a:p>
              <a:p>
                <a:r>
                  <a:rPr lang="en-US" altLang="zh-CN"/>
                  <a:t>(c) V=L (di/dt)</a:t>
                </a:r>
              </a:p>
              <a:p>
                <a:r>
                  <a:rPr lang="en-US" altLang="zh-CN"/>
                  <a:t>V1(t)=6*3*(-2)e</a:t>
                </a:r>
                <a:r>
                  <a:rPr lang="en-US" altLang="zh-CN" baseline="30000">
                    <a:solidFill>
                      <a:schemeClr val="accent4"/>
                    </a:solidFill>
                    <a:uFillTx/>
                  </a:rPr>
                  <a:t>-2t</a:t>
                </a:r>
                <a:r>
                  <a:rPr lang="en-US" altLang="zh-CN">
                    <a:sym typeface="+mn-ea"/>
                  </a:rPr>
                  <a:t>=-36e</a:t>
                </a:r>
                <a:r>
                  <a:rPr lang="en-US" altLang="zh-CN" baseline="30000">
                    <a:solidFill>
                      <a:schemeClr val="accent4"/>
                    </a:solidFill>
                    <a:uFillTx/>
                    <a:sym typeface="+mn-ea"/>
                  </a:rPr>
                  <a:t>-2t</a:t>
                </a:r>
                <a:r>
                  <a:rPr lang="en-US" altLang="zh-CN">
                    <a:sym typeface="+mn-ea"/>
                  </a:rPr>
                  <a:t> (V)</a:t>
                </a:r>
              </a:p>
              <a:p>
                <a:r>
                  <a:rPr lang="en-US" altLang="zh-CN"/>
                  <a:t>V2(t)=8(di/dt)=8*9*(-2)</a:t>
                </a:r>
                <a:r>
                  <a:rPr lang="en-US" altLang="zh-CN">
                    <a:sym typeface="+mn-ea"/>
                  </a:rPr>
                  <a:t>e</a:t>
                </a:r>
                <a:r>
                  <a:rPr lang="en-US" altLang="zh-CN" baseline="30000">
                    <a:solidFill>
                      <a:schemeClr val="accent4"/>
                    </a:solidFill>
                    <a:uFillTx/>
                    <a:sym typeface="+mn-ea"/>
                  </a:rPr>
                  <a:t>-2t</a:t>
                </a:r>
                <a:r>
                  <a:rPr lang="en-US" altLang="zh-CN">
                    <a:sym typeface="+mn-ea"/>
                  </a:rPr>
                  <a:t>=-144e</a:t>
                </a:r>
                <a:r>
                  <a:rPr lang="en-US" altLang="zh-CN" baseline="30000">
                    <a:solidFill>
                      <a:schemeClr val="accent4"/>
                    </a:solidFill>
                    <a:uFillTx/>
                    <a:sym typeface="+mn-ea"/>
                  </a:rPr>
                  <a:t>-2t</a:t>
                </a:r>
                <a:r>
                  <a:rPr lang="en-US" altLang="zh-CN">
                    <a:sym typeface="+mn-ea"/>
                  </a:rPr>
                  <a:t> (V)</a:t>
                </a:r>
              </a:p>
              <a:p>
                <a:r>
                  <a:rPr lang="en-US" altLang="zh-CN"/>
                  <a:t>V(t)=10</a:t>
                </a:r>
                <a:r>
                  <a:rPr lang="en-US" altLang="zh-CN">
                    <a:sym typeface="+mn-ea"/>
                  </a:rPr>
                  <a:t>*9*(-2)e</a:t>
                </a:r>
                <a:r>
                  <a:rPr lang="en-US" altLang="zh-CN" baseline="30000">
                    <a:solidFill>
                      <a:schemeClr val="accent4"/>
                    </a:solidFill>
                    <a:uFillTx/>
                    <a:sym typeface="+mn-ea"/>
                  </a:rPr>
                  <a:t>-2t</a:t>
                </a:r>
                <a:r>
                  <a:rPr lang="en-US" altLang="zh-CN">
                    <a:sym typeface="+mn-ea"/>
                  </a:rPr>
                  <a:t>=-180e</a:t>
                </a:r>
                <a:r>
                  <a:rPr lang="en-US" altLang="zh-CN" baseline="30000">
                    <a:solidFill>
                      <a:schemeClr val="accent4"/>
                    </a:solidFill>
                    <a:uFillTx/>
                    <a:sym typeface="+mn-ea"/>
                  </a:rPr>
                  <a:t>-2t</a:t>
                </a:r>
                <a:r>
                  <a:rPr lang="en-US" altLang="zh-CN">
                    <a:sym typeface="+mn-ea"/>
                  </a:rPr>
                  <a:t> (V)</a:t>
                </a:r>
              </a:p>
              <a:p>
                <a:endParaRPr lang="en-US" altLang="zh-CN">
                  <a:sym typeface="+mn-ea"/>
                </a:endParaRPr>
              </a:p>
              <a:p>
                <a:r>
                  <a:rPr lang="zh-CN" altLang="en-US">
                    <a:sym typeface="+mn-ea"/>
                  </a:rPr>
                  <a:t>注：先求出</a:t>
                </a:r>
                <a:r>
                  <a:rPr lang="en-US" altLang="zh-CN">
                    <a:sym typeface="+mn-ea"/>
                  </a:rPr>
                  <a:t>(C)</a:t>
                </a:r>
                <a:r>
                  <a:rPr lang="zh-CN" altLang="en-US">
                    <a:sym typeface="+mn-ea"/>
                  </a:rPr>
                  <a:t>的</a:t>
                </a:r>
                <a:r>
                  <a:rPr lang="en-US" altLang="zh-CN">
                    <a:sym typeface="+mn-ea"/>
                  </a:rPr>
                  <a:t>V1,</a:t>
                </a:r>
                <a:r>
                  <a:rPr lang="zh-CN" altLang="en-US">
                    <a:sym typeface="+mn-ea"/>
                  </a:rPr>
                  <a:t>再做（</a:t>
                </a:r>
                <a:r>
                  <a:rPr lang="en-US" altLang="zh-CN">
                    <a:sym typeface="+mn-ea"/>
                  </a:rPr>
                  <a:t>b)</a:t>
                </a:r>
              </a:p>
              <a:p>
                <a:endParaRPr lang="en-US" altLang="zh-CN"/>
              </a:p>
              <a:p>
                <a:endParaRPr lang="en-US" altLang="zh-CN"/>
              </a:p>
              <a:p>
                <a:endParaRPr lang="en-US" altLang="zh-CN" baseline="30000">
                  <a:solidFill>
                    <a:schemeClr val="accent4"/>
                  </a:solidFill>
                  <a:uFillTx/>
                </a:endParaRPr>
              </a:p>
            </p:txBody>
          </p:sp>
        </mc:Choice>
        <mc:Fallback>
          <p:sp>
            <p:nvSpPr>
              <p:cNvPr id="4" name="文本框 3"/>
              <p:cNvSpPr txBox="1">
                <a:spLocks noRot="1" noChangeAspect="1" noMove="1" noResize="1" noEditPoints="1" noAdjustHandles="1" noChangeArrowheads="1" noChangeShapeType="1" noTextEdit="1"/>
              </p:cNvSpPr>
              <p:nvPr/>
            </p:nvSpPr>
            <p:spPr>
              <a:xfrm>
                <a:off x="489585" y="2077720"/>
                <a:ext cx="4154170" cy="3989070"/>
              </a:xfrm>
              <a:prstGeom prst="rect">
                <a:avLst/>
              </a:prstGeom>
              <a:blipFill rotWithShape="1">
                <a:blip r:embed="rId4"/>
                <a:stretch>
                  <a:fillRect l="-306" t="-318" r="-306" b="-318"/>
                </a:stretch>
              </a:blipFill>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660244" y="285728"/>
            <a:ext cx="7555093" cy="6070858"/>
          </a:xfrm>
          <a:prstGeom prst="rect">
            <a:avLst/>
          </a:prstGeom>
        </p:spPr>
      </p:pic>
    </p:spTree>
    <p:extLst>
      <p:ext uri="{BB962C8B-B14F-4D97-AF65-F5344CB8AC3E}">
        <p14:creationId xmlns:p14="http://schemas.microsoft.com/office/powerpoint/2010/main" xmlns="" val="31137422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252537" y="47625"/>
            <a:ext cx="6638925" cy="6762750"/>
          </a:xfrm>
          <a:prstGeom prst="rect">
            <a:avLst/>
          </a:prstGeom>
        </p:spPr>
      </p:pic>
      <p:sp>
        <p:nvSpPr>
          <p:cNvPr id="3" name="TextBox 2"/>
          <p:cNvSpPr txBox="1"/>
          <p:nvPr/>
        </p:nvSpPr>
        <p:spPr>
          <a:xfrm>
            <a:off x="5857884" y="1142984"/>
            <a:ext cx="2500330" cy="369332"/>
          </a:xfrm>
          <a:prstGeom prst="rect">
            <a:avLst/>
          </a:prstGeom>
          <a:noFill/>
        </p:spPr>
        <p:txBody>
          <a:bodyPr wrap="square" rtlCol="0">
            <a:spAutoFit/>
          </a:bodyPr>
          <a:lstStyle/>
          <a:p>
            <a:r>
              <a:rPr lang="zh-CN" altLang="en-US" dirty="0" smtClean="0"/>
              <a:t>（</a:t>
            </a:r>
            <a:r>
              <a:rPr lang="en-US" altLang="zh-CN" dirty="0" smtClean="0"/>
              <a:t>a</a:t>
            </a:r>
            <a:r>
              <a:rPr lang="zh-CN" altLang="en-US" dirty="0" smtClean="0"/>
              <a:t>）</a:t>
            </a:r>
            <a:r>
              <a:rPr lang="en-US" altLang="zh-CN" dirty="0" smtClean="0"/>
              <a:t>Yes  (b)No</a:t>
            </a:r>
            <a:endParaRPr lang="zh-CN" altLang="en-US" dirty="0"/>
          </a:p>
        </p:txBody>
      </p:sp>
    </p:spTree>
    <p:extLst>
      <p:ext uri="{BB962C8B-B14F-4D97-AF65-F5344CB8AC3E}">
        <p14:creationId xmlns:p14="http://schemas.microsoft.com/office/powerpoint/2010/main" xmlns="" val="9319295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99592" y="404664"/>
            <a:ext cx="6438900" cy="876300"/>
          </a:xfrm>
          <a:prstGeom prst="rect">
            <a:avLst/>
          </a:prstGeom>
        </p:spPr>
      </p:pic>
      <p:pic>
        <p:nvPicPr>
          <p:cNvPr id="3" name="图片 2"/>
          <p:cNvPicPr>
            <a:picLocks noChangeAspect="1"/>
          </p:cNvPicPr>
          <p:nvPr/>
        </p:nvPicPr>
        <p:blipFill rotWithShape="1">
          <a:blip r:embed="rId3"/>
          <a:srcRect b="32026"/>
          <a:stretch/>
        </p:blipFill>
        <p:spPr>
          <a:xfrm>
            <a:off x="714348" y="1428736"/>
            <a:ext cx="7677150" cy="4629324"/>
          </a:xfrm>
          <a:prstGeom prst="rect">
            <a:avLst/>
          </a:prstGeom>
        </p:spPr>
      </p:pic>
      <p:sp>
        <p:nvSpPr>
          <p:cNvPr id="4" name="TextBox 3"/>
          <p:cNvSpPr txBox="1"/>
          <p:nvPr/>
        </p:nvSpPr>
        <p:spPr>
          <a:xfrm>
            <a:off x="6000760" y="4929198"/>
            <a:ext cx="2428892" cy="646331"/>
          </a:xfrm>
          <a:prstGeom prst="rect">
            <a:avLst/>
          </a:prstGeom>
          <a:noFill/>
          <a:ln>
            <a:solidFill>
              <a:schemeClr val="accent1">
                <a:lumMod val="75000"/>
              </a:schemeClr>
            </a:solidFill>
          </a:ln>
        </p:spPr>
        <p:txBody>
          <a:bodyPr wrap="square" rtlCol="0">
            <a:spAutoFit/>
          </a:bodyPr>
          <a:lstStyle/>
          <a:p>
            <a:r>
              <a:rPr lang="en-US" altLang="zh-CN" dirty="0" smtClean="0"/>
              <a:t>…changes its current by 3A in 0.2s</a:t>
            </a:r>
            <a:endParaRPr lang="zh-CN" altLang="en-US" dirty="0"/>
          </a:p>
        </p:txBody>
      </p:sp>
    </p:spTree>
    <p:extLst>
      <p:ext uri="{BB962C8B-B14F-4D97-AF65-F5344CB8AC3E}">
        <p14:creationId xmlns:p14="http://schemas.microsoft.com/office/powerpoint/2010/main" xmlns="" val="4024693243"/>
      </p:ext>
    </p:extLst>
  </p:cSld>
  <p:clrMapOvr>
    <a:masterClrMapping/>
  </p:clrMapOvr>
  <p:transition>
    <p:wipe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543050" y="85725"/>
            <a:ext cx="6057900" cy="6686550"/>
          </a:xfrm>
          <a:prstGeom prst="rect">
            <a:avLst/>
          </a:prstGeom>
        </p:spPr>
      </p:pic>
    </p:spTree>
    <p:extLst>
      <p:ext uri="{BB962C8B-B14F-4D97-AF65-F5344CB8AC3E}">
        <p14:creationId xmlns:p14="http://schemas.microsoft.com/office/powerpoint/2010/main" xmlns="" val="15419262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691680" y="1484784"/>
            <a:ext cx="5048250" cy="866775"/>
          </a:xfrm>
          <a:prstGeom prst="rect">
            <a:avLst/>
          </a:prstGeom>
        </p:spPr>
      </p:pic>
    </p:spTree>
    <p:extLst>
      <p:ext uri="{BB962C8B-B14F-4D97-AF65-F5344CB8AC3E}">
        <p14:creationId xmlns:p14="http://schemas.microsoft.com/office/powerpoint/2010/main" xmlns="" val="18599915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4"/>
          <p:cNvSpPr txBox="1"/>
          <p:nvPr/>
        </p:nvSpPr>
        <p:spPr>
          <a:xfrm>
            <a:off x="285750" y="5429250"/>
            <a:ext cx="8137525"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电容上的电压不会有瞬时的改变。</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cs typeface="Arial" panose="020B0604020202020204" pitchFamily="34" charset="0"/>
              </a:rPr>
              <a:t>3.</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电容的串并联方式与电导的串并联方式相同。</a:t>
            </a:r>
            <a:endParaRPr lang="en-US" altLang="zh-CN" sz="2400" b="1" dirty="0">
              <a:latin typeface="Times New Roman" panose="02020603050405020304" pitchFamily="18" charset="0"/>
              <a:ea typeface="Arial" panose="020B0604020202020204" pitchFamily="34" charset="0"/>
            </a:endParaRPr>
          </a:p>
        </p:txBody>
      </p:sp>
      <p:grpSp>
        <p:nvGrpSpPr>
          <p:cNvPr id="82947" name="Group 9"/>
          <p:cNvGrpSpPr/>
          <p:nvPr/>
        </p:nvGrpSpPr>
        <p:grpSpPr>
          <a:xfrm>
            <a:off x="361950" y="1098550"/>
            <a:ext cx="8496300" cy="4340225"/>
            <a:chOff x="158" y="890"/>
            <a:chExt cx="5284" cy="2734"/>
          </a:xfrm>
        </p:grpSpPr>
        <p:sp>
          <p:nvSpPr>
            <p:cNvPr id="82949" name="Text Box 2"/>
            <p:cNvSpPr txBox="1"/>
            <p:nvPr/>
          </p:nvSpPr>
          <p:spPr>
            <a:xfrm>
              <a:off x="158" y="890"/>
              <a:ext cx="5284" cy="273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cs typeface="Arial" panose="020B0604020202020204" pitchFamily="34" charset="0"/>
                </a:rPr>
                <a:t>1.</a:t>
              </a:r>
              <a:r>
                <a:rPr lang="zh-CN" altLang="en-US" sz="2400" b="1" dirty="0">
                  <a:latin typeface="Times New Roman" panose="02020603050405020304" pitchFamily="18" charset="0"/>
                  <a:cs typeface="Arial" panose="020B0604020202020204" pitchFamily="34" charset="0"/>
                </a:rPr>
                <a:t>通过电容的电流与加在其上的电压变化率成正比。</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除非电容两端的电压发生变化，否则通过电容的电流为零。</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因此，电容在直流电路中可被看成是开路。</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cs typeface="Arial" panose="020B0604020202020204" pitchFamily="34" charset="0"/>
                </a:rPr>
                <a:t>2.</a:t>
              </a:r>
              <a:r>
                <a:rPr lang="zh-CN" altLang="en-US" sz="2400" b="1" dirty="0">
                  <a:latin typeface="Times New Roman" panose="02020603050405020304" pitchFamily="18" charset="0"/>
                  <a:cs typeface="Arial" panose="020B0604020202020204" pitchFamily="34" charset="0"/>
                </a:rPr>
                <a:t>电容两端的电压与流过电容的电流对时间积分成正比。</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ea typeface="Arial" panose="020B0604020202020204" pitchFamily="34" charset="0"/>
              </a:endParaRPr>
            </a:p>
          </p:txBody>
        </p:sp>
        <p:graphicFrame>
          <p:nvGraphicFramePr>
            <p:cNvPr id="82950" name="Object 3"/>
            <p:cNvGraphicFramePr>
              <a:graphicFrameLocks noChangeAspect="1"/>
            </p:cNvGraphicFramePr>
            <p:nvPr/>
          </p:nvGraphicFramePr>
          <p:xfrm>
            <a:off x="1473" y="2931"/>
            <a:ext cx="2295" cy="518"/>
          </p:xfrm>
          <a:graphic>
            <a:graphicData uri="http://schemas.openxmlformats.org/presentationml/2006/ole">
              <p:oleObj spid="_x0000_s43011" r:id="rId3" imgW="1739900" imgH="393700" progId="">
                <p:embed/>
              </p:oleObj>
            </a:graphicData>
          </a:graphic>
        </p:graphicFrame>
        <p:graphicFrame>
          <p:nvGraphicFramePr>
            <p:cNvPr id="82951" name="Object 5"/>
            <p:cNvGraphicFramePr>
              <a:graphicFrameLocks noChangeAspect="1"/>
            </p:cNvGraphicFramePr>
            <p:nvPr/>
          </p:nvGraphicFramePr>
          <p:xfrm>
            <a:off x="1543" y="1233"/>
            <a:ext cx="765" cy="552"/>
          </p:xfrm>
          <a:graphic>
            <a:graphicData uri="http://schemas.openxmlformats.org/presentationml/2006/ole">
              <p:oleObj spid="_x0000_s43012" r:id="rId4" imgW="545863" imgH="393529" progId="">
                <p:embed/>
              </p:oleObj>
            </a:graphicData>
          </a:graphic>
        </p:graphicFrame>
      </p:grpSp>
      <p:sp>
        <p:nvSpPr>
          <p:cNvPr id="82948" name="Text Box 10"/>
          <p:cNvSpPr txBox="1"/>
          <p:nvPr/>
        </p:nvSpPr>
        <p:spPr>
          <a:xfrm>
            <a:off x="3203575" y="307975"/>
            <a:ext cx="5472113"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4000" b="1" dirty="0">
                <a:solidFill>
                  <a:srgbClr val="0000FF"/>
                </a:solidFill>
                <a:latin typeface="Franklin Gothic Medium" panose="020B0603020102020204" pitchFamily="34" charset="0"/>
                <a:cs typeface="Arial" panose="020B0604020202020204" pitchFamily="34" charset="0"/>
              </a:rPr>
              <a:t>6.7  </a:t>
            </a:r>
            <a:r>
              <a:rPr lang="zh-CN" altLang="en-US" sz="4000" b="1" dirty="0">
                <a:solidFill>
                  <a:srgbClr val="0000FF"/>
                </a:solidFill>
                <a:latin typeface="Franklin Gothic Medium" panose="020B0603020102020204" pitchFamily="34" charset="0"/>
                <a:cs typeface="Arial" panose="020B0604020202020204" pitchFamily="34" charset="0"/>
              </a:rPr>
              <a:t>总结</a:t>
            </a:r>
            <a:r>
              <a:rPr lang="en-US" altLang="zh-CN" sz="4000" b="1" dirty="0">
                <a:solidFill>
                  <a:srgbClr val="0000FF"/>
                </a:solidFill>
                <a:latin typeface="Franklin Gothic Medium" panose="020B0603020102020204" pitchFamily="34" charset="0"/>
                <a:cs typeface="Arial" panose="020B0604020202020204" pitchFamily="34" charset="0"/>
              </a:rPr>
              <a:t> </a:t>
            </a:r>
            <a:endParaRPr lang="en-US" altLang="zh-CN" sz="4000" b="1" dirty="0">
              <a:solidFill>
                <a:srgbClr val="0000FF"/>
              </a:solidFill>
              <a:latin typeface="Franklin Gothic Medium" panose="020B0603020102020204" pitchFamily="34" charset="0"/>
              <a:ea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970" name="Group 7"/>
          <p:cNvGrpSpPr/>
          <p:nvPr/>
        </p:nvGrpSpPr>
        <p:grpSpPr>
          <a:xfrm>
            <a:off x="395288" y="193675"/>
            <a:ext cx="8496300" cy="6556375"/>
            <a:chOff x="135" y="74"/>
            <a:chExt cx="5352" cy="4130"/>
          </a:xfrm>
        </p:grpSpPr>
        <p:sp>
          <p:nvSpPr>
            <p:cNvPr id="83971" name="Text Box 2"/>
            <p:cNvSpPr txBox="1"/>
            <p:nvPr/>
          </p:nvSpPr>
          <p:spPr>
            <a:xfrm>
              <a:off x="135" y="74"/>
              <a:ext cx="5352" cy="41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en-US" altLang="zh-CN" sz="2400" b="1" dirty="0">
                <a:cs typeface="Arial" panose="020B0604020202020204" pitchFamily="34" charset="0"/>
              </a:endParaRPr>
            </a:p>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cs typeface="Arial" panose="020B0604020202020204" pitchFamily="34" charset="0"/>
                </a:rPr>
                <a:t>4.</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电感两端的电压与通过其上的电流的变化率成正比。</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除非电感上的电流改变，否则电感两端电压为零。</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因此，电感在直流回路中可被看做是短路线。</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cs typeface="Arial" panose="020B0604020202020204" pitchFamily="34" charset="0"/>
                </a:rPr>
                <a:t>5.</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通过电感的电流与其两端电压对时间的积分成正比。</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zh-CN" altLang="en-US" sz="2400" b="1" dirty="0">
                  <a:latin typeface="Times New Roman" panose="02020603050405020304" pitchFamily="18" charset="0"/>
                  <a:cs typeface="Arial" panose="020B0604020202020204" pitchFamily="34" charset="0"/>
                </a:rPr>
                <a:t>      通过电感的电流不会有瞬时的改变。</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cs typeface="Arial" panose="020B0604020202020204" pitchFamily="34" charset="0"/>
                </a:rPr>
                <a:t>6.</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电感的串并联方式与电阻的串并联方式相同。</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dirty="0">
                <a:latin typeface="Times New Roman" panose="02020603050405020304" pitchFamily="18" charset="0"/>
                <a:ea typeface="Arial" panose="020B0604020202020204" pitchFamily="34" charset="0"/>
              </a:endParaRPr>
            </a:p>
          </p:txBody>
        </p:sp>
        <p:graphicFrame>
          <p:nvGraphicFramePr>
            <p:cNvPr id="83972" name="Object 3"/>
            <p:cNvGraphicFramePr>
              <a:graphicFrameLocks noChangeAspect="1"/>
            </p:cNvGraphicFramePr>
            <p:nvPr/>
          </p:nvGraphicFramePr>
          <p:xfrm>
            <a:off x="1664" y="2527"/>
            <a:ext cx="2203" cy="495"/>
          </p:xfrm>
          <a:graphic>
            <a:graphicData uri="http://schemas.openxmlformats.org/presentationml/2006/ole">
              <p:oleObj spid="_x0000_s44035" r:id="rId3" imgW="1752600" imgH="393700" progId="">
                <p:embed/>
              </p:oleObj>
            </a:graphicData>
          </a:graphic>
        </p:graphicFrame>
        <p:graphicFrame>
          <p:nvGraphicFramePr>
            <p:cNvPr id="83973" name="Object 4"/>
            <p:cNvGraphicFramePr>
              <a:graphicFrameLocks noChangeAspect="1"/>
            </p:cNvGraphicFramePr>
            <p:nvPr/>
          </p:nvGraphicFramePr>
          <p:xfrm>
            <a:off x="1859" y="797"/>
            <a:ext cx="712" cy="525"/>
          </p:xfrm>
          <a:graphic>
            <a:graphicData uri="http://schemas.openxmlformats.org/presentationml/2006/ole">
              <p:oleObj spid="_x0000_s44036" r:id="rId4" imgW="533169" imgH="393529" progId="">
                <p:embed/>
              </p:oleObj>
            </a:graphicData>
          </a:graphic>
        </p:graphicFrame>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p:nvPr/>
        </p:nvSpPr>
        <p:spPr>
          <a:xfrm>
            <a:off x="1116013" y="1844675"/>
            <a:ext cx="7127875"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cs typeface="Arial" panose="020B0604020202020204" pitchFamily="34" charset="0"/>
              </a:rPr>
              <a:t>7.</a:t>
            </a:r>
            <a:r>
              <a:rPr lang="zh-CN" altLang="en-US" sz="2400" b="1" dirty="0">
                <a:latin typeface="Times New Roman" panose="02020603050405020304" pitchFamily="18" charset="0"/>
                <a:cs typeface="Arial" panose="020B0604020202020204" pitchFamily="34" charset="0"/>
              </a:rPr>
              <a:t>在任何时间</a:t>
            </a:r>
            <a:r>
              <a:rPr lang="en-US" altLang="zh-CN" sz="2400" b="1" i="1" dirty="0">
                <a:latin typeface="Times New Roman" panose="02020603050405020304" pitchFamily="18" charset="0"/>
                <a:cs typeface="Arial" panose="020B0604020202020204" pitchFamily="34" charset="0"/>
              </a:rPr>
              <a:t>t</a:t>
            </a:r>
            <a:r>
              <a:rPr lang="zh-CN" altLang="en-US" sz="2400" b="1" dirty="0">
                <a:latin typeface="Times New Roman" panose="02020603050405020304" pitchFamily="18" charset="0"/>
                <a:cs typeface="Arial" panose="020B0604020202020204" pitchFamily="34" charset="0"/>
              </a:rPr>
              <a:t>，电容中所储存的能量是</a:t>
            </a:r>
            <a:r>
              <a:rPr lang="en-US" altLang="zh-CN" sz="2400" b="1" dirty="0">
                <a:latin typeface="Times New Roman" panose="02020603050405020304" pitchFamily="18" charset="0"/>
                <a:cs typeface="Arial" panose="020B0604020202020204" pitchFamily="34" charset="0"/>
              </a:rPr>
              <a:t>1/2</a:t>
            </a:r>
            <a:r>
              <a:rPr lang="en-US" altLang="zh-CN" sz="2400" b="1" i="1" dirty="0">
                <a:latin typeface="Times New Roman" panose="02020603050405020304" pitchFamily="18" charset="0"/>
                <a:cs typeface="Arial" panose="020B0604020202020204" pitchFamily="34" charset="0"/>
              </a:rPr>
              <a:t>Cv</a:t>
            </a:r>
            <a:r>
              <a:rPr lang="en-US" altLang="zh-CN" sz="2400" b="1" baseline="30000" dirty="0">
                <a:latin typeface="Times New Roman" panose="02020603050405020304" pitchFamily="18" charset="0"/>
                <a:cs typeface="Arial" panose="020B0604020202020204" pitchFamily="34" charset="0"/>
              </a:rPr>
              <a:t>2</a:t>
            </a:r>
            <a:r>
              <a:rPr lang="en-US" altLang="zh-CN" sz="2400" b="1" dirty="0">
                <a:latin typeface="Times New Roman" panose="02020603050405020304" pitchFamily="18" charset="0"/>
                <a:cs typeface="Arial" panose="020B0604020202020204" pitchFamily="34" charset="0"/>
              </a:rPr>
              <a:t>, </a:t>
            </a:r>
            <a:r>
              <a:rPr lang="zh-CN" altLang="en-US" sz="2400" b="1" dirty="0">
                <a:latin typeface="Times New Roman" panose="02020603050405020304" pitchFamily="18" charset="0"/>
                <a:cs typeface="Arial" panose="020B0604020202020204" pitchFamily="34" charset="0"/>
              </a:rPr>
              <a:t>而电感中所储存的能量是</a:t>
            </a:r>
            <a:r>
              <a:rPr lang="en-US" altLang="zh-CN" sz="2400" b="1" dirty="0">
                <a:latin typeface="Times New Roman" panose="02020603050405020304" pitchFamily="18" charset="0"/>
                <a:cs typeface="Arial" panose="020B0604020202020204" pitchFamily="34" charset="0"/>
              </a:rPr>
              <a:t> 1/2</a:t>
            </a:r>
            <a:r>
              <a:rPr lang="en-US" altLang="zh-CN" sz="2400" b="1" i="1" dirty="0">
                <a:latin typeface="Times New Roman" panose="02020603050405020304" pitchFamily="18" charset="0"/>
                <a:cs typeface="Arial" panose="020B0604020202020204" pitchFamily="34" charset="0"/>
              </a:rPr>
              <a:t>Li</a:t>
            </a:r>
            <a:r>
              <a:rPr lang="en-US" altLang="zh-CN" sz="2400" b="1" baseline="30000" dirty="0">
                <a:latin typeface="Times New Roman" panose="02020603050405020304" pitchFamily="18" charset="0"/>
                <a:cs typeface="Arial" panose="020B0604020202020204" pitchFamily="34" charset="0"/>
              </a:rPr>
              <a:t>2</a:t>
            </a:r>
            <a:r>
              <a:rPr lang="zh-CN" altLang="en-US" sz="2400" b="1" dirty="0">
                <a:latin typeface="Times New Roman" panose="02020603050405020304" pitchFamily="18" charset="0"/>
                <a:cs typeface="Arial" panose="020B0604020202020204" pitchFamily="34" charset="0"/>
              </a:rPr>
              <a:t> 。</a:t>
            </a:r>
            <a:endParaRPr lang="en-US" altLang="zh-CN" sz="2400" b="1" dirty="0">
              <a:latin typeface="Times New Roman" panose="02020603050405020304" pitchFamily="18" charset="0"/>
              <a:cs typeface="Arial" panose="020B0604020202020204" pitchFamily="34" charset="0"/>
            </a:endParaRPr>
          </a:p>
          <a:p>
            <a:pPr marL="0" lvl="0" indent="0" eaLnBrk="1" hangingPunct="1">
              <a:spcBef>
                <a:spcPct val="50000"/>
              </a:spcBef>
              <a:buClrTx/>
              <a:buSzTx/>
              <a:buFontTx/>
              <a:buNone/>
            </a:pPr>
            <a:endParaRPr lang="en-US" altLang="zh-CN" sz="2400" b="1" baseline="30000" dirty="0">
              <a:latin typeface="Times New Roman" panose="02020603050405020304" pitchFamily="18" charset="0"/>
              <a:ea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p:cNvSpPr>
          <p:nvPr>
            <p:ph type="title"/>
          </p:nvPr>
        </p:nvSpPr>
        <p:spPr/>
        <p:txBody>
          <a:bodyPr vert="horz" wrap="square" lIns="91440" tIns="45720" rIns="91440" bIns="45720" anchor="ctr" anchorCtr="0"/>
          <a:lstStyle/>
          <a:p>
            <a:r>
              <a:rPr lang="zh-CN" altLang="en-US" b="1" dirty="0">
                <a:solidFill>
                  <a:schemeClr val="bg2"/>
                </a:solidFill>
                <a:ea typeface="楷体_GB2312" pitchFamily="49" charset="-122"/>
              </a:rPr>
              <a:t>本章重点及难点</a:t>
            </a:r>
          </a:p>
        </p:txBody>
      </p:sp>
      <p:sp>
        <p:nvSpPr>
          <p:cNvPr id="86019" name="Rectangle 3"/>
          <p:cNvSpPr>
            <a:spLocks noGrp="1"/>
          </p:cNvSpPr>
          <p:nvPr>
            <p:ph idx="1"/>
          </p:nvPr>
        </p:nvSpPr>
        <p:spPr>
          <a:xfrm>
            <a:off x="827088" y="2349500"/>
            <a:ext cx="7715250" cy="3886200"/>
          </a:xfrm>
        </p:spPr>
        <p:txBody>
          <a:bodyPr vert="horz" wrap="square" lIns="91440" tIns="45720" rIns="91440" bIns="45720" anchor="t" anchorCtr="0"/>
          <a:lstStyle/>
          <a:p>
            <a:pPr>
              <a:buNone/>
            </a:pPr>
            <a:r>
              <a:rPr lang="zh-CN" altLang="en-US" dirty="0"/>
              <a:t>          </a:t>
            </a:r>
            <a:r>
              <a:rPr lang="zh-CN" altLang="en-US" b="1" dirty="0">
                <a:ea typeface="楷体_GB2312" pitchFamily="49" charset="-122"/>
              </a:rPr>
              <a:t>运用你的</a:t>
            </a:r>
            <a:r>
              <a:rPr lang="zh-CN" altLang="en-US" b="1" dirty="0">
                <a:solidFill>
                  <a:srgbClr val="FF0000"/>
                </a:solidFill>
                <a:ea typeface="楷体_GB2312" pitchFamily="49" charset="-122"/>
              </a:rPr>
              <a:t>想像力</a:t>
            </a:r>
            <a:r>
              <a:rPr lang="zh-CN" altLang="en-US" b="1" dirty="0">
                <a:ea typeface="楷体_GB2312" pitchFamily="49" charset="-122"/>
              </a:rPr>
              <a:t>，想像电容、电感中电荷的流动、积累的物理过程，增强对电容、电感特性的理解。</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2801938" y="260350"/>
            <a:ext cx="3538537" cy="1371600"/>
          </a:xfrm>
        </p:spPr>
        <p:txBody>
          <a:bodyPr vert="horz" wrap="square" lIns="91440" tIns="45720" rIns="91440" bIns="45720" anchor="ctr" anchorCtr="0"/>
          <a:lstStyle/>
          <a:p>
            <a:r>
              <a:rPr lang="zh-CN" altLang="en-US" sz="4000" b="1" dirty="0">
                <a:solidFill>
                  <a:schemeClr val="bg2"/>
                </a:solidFill>
                <a:latin typeface="Arial Black" panose="020B0A04020102020204" pitchFamily="34" charset="0"/>
                <a:ea typeface="楷体_GB2312" pitchFamily="49" charset="-122"/>
              </a:rPr>
              <a:t>本章作业</a:t>
            </a:r>
          </a:p>
        </p:txBody>
      </p:sp>
      <p:sp>
        <p:nvSpPr>
          <p:cNvPr id="87043" name="Rectangle 3"/>
          <p:cNvSpPr>
            <a:spLocks noGrp="1"/>
          </p:cNvSpPr>
          <p:nvPr>
            <p:ph idx="1"/>
          </p:nvPr>
        </p:nvSpPr>
        <p:spPr>
          <a:xfrm>
            <a:off x="1258888" y="1700213"/>
            <a:ext cx="7058025" cy="3886200"/>
          </a:xfrm>
        </p:spPr>
        <p:txBody>
          <a:bodyPr vert="horz" wrap="square" lIns="91440" tIns="45720" rIns="91440" bIns="45720" anchor="t" anchorCtr="0"/>
          <a:lstStyle/>
          <a:p>
            <a:pPr>
              <a:lnSpc>
                <a:spcPct val="90000"/>
              </a:lnSpc>
            </a:pPr>
            <a:r>
              <a:rPr lang="zh-CN" altLang="en-US" sz="2800" b="1" dirty="0"/>
              <a:t>画出本章思维导图</a:t>
            </a:r>
          </a:p>
          <a:p>
            <a:pPr>
              <a:lnSpc>
                <a:spcPct val="90000"/>
              </a:lnSpc>
            </a:pPr>
            <a:r>
              <a:rPr lang="en-US" altLang="zh-CN" sz="2800" b="1" dirty="0"/>
              <a:t>6-11</a:t>
            </a:r>
            <a:r>
              <a:rPr lang="zh-CN" altLang="en-US" sz="2800" b="1" dirty="0"/>
              <a:t>（电容，伏安特性）</a:t>
            </a:r>
          </a:p>
          <a:p>
            <a:pPr>
              <a:lnSpc>
                <a:spcPct val="90000"/>
              </a:lnSpc>
            </a:pPr>
            <a:r>
              <a:rPr lang="en-US" altLang="zh-CN" sz="2800" b="1" dirty="0"/>
              <a:t>6-19 </a:t>
            </a:r>
            <a:r>
              <a:rPr lang="zh-CN" altLang="en-US" sz="2800" b="1" dirty="0"/>
              <a:t>（等效电容）</a:t>
            </a:r>
            <a:endParaRPr lang="en-US" altLang="zh-CN" sz="2800" b="1" dirty="0"/>
          </a:p>
          <a:p>
            <a:pPr>
              <a:lnSpc>
                <a:spcPct val="90000"/>
              </a:lnSpc>
            </a:pPr>
            <a:r>
              <a:rPr lang="en-US" altLang="zh-CN" sz="2800" b="1" dirty="0"/>
              <a:t>6-32 </a:t>
            </a:r>
            <a:r>
              <a:rPr lang="zh-CN" altLang="en-US" sz="2800" b="1" dirty="0"/>
              <a:t>（电容问题）</a:t>
            </a:r>
            <a:endParaRPr lang="en-US" altLang="zh-CN" sz="2800" b="1" dirty="0"/>
          </a:p>
          <a:p>
            <a:pPr>
              <a:lnSpc>
                <a:spcPct val="90000"/>
              </a:lnSpc>
            </a:pPr>
            <a:r>
              <a:rPr lang="en-US" altLang="zh-CN" sz="2800" b="1" dirty="0"/>
              <a:t>6-46 </a:t>
            </a:r>
            <a:r>
              <a:rPr lang="zh-CN" altLang="en-US" sz="2800" b="1" dirty="0"/>
              <a:t>（电感、电容，能量）</a:t>
            </a:r>
            <a:endParaRPr lang="en-US" altLang="zh-CN" sz="2800" b="1" dirty="0"/>
          </a:p>
          <a:p>
            <a:pPr>
              <a:lnSpc>
                <a:spcPct val="90000"/>
              </a:lnSpc>
            </a:pPr>
            <a:r>
              <a:rPr lang="en-US" altLang="zh-CN" sz="2800" b="1" dirty="0"/>
              <a:t>6-51 </a:t>
            </a:r>
            <a:r>
              <a:rPr lang="zh-CN" altLang="en-US" sz="2800" b="1" dirty="0"/>
              <a:t>（等效电感）</a:t>
            </a:r>
            <a:endParaRPr lang="en-US" altLang="zh-CN" sz="2800" b="1" dirty="0"/>
          </a:p>
          <a:p>
            <a:pPr>
              <a:lnSpc>
                <a:spcPct val="90000"/>
              </a:lnSpc>
            </a:pPr>
            <a:r>
              <a:rPr lang="zh-CN" altLang="en-US" sz="2000" b="1" dirty="0">
                <a:solidFill>
                  <a:srgbClr val="002060"/>
                </a:solidFill>
              </a:rPr>
              <a:t>拓展题</a:t>
            </a:r>
            <a:r>
              <a:rPr lang="en-US" altLang="zh-CN" sz="2000" b="1" dirty="0">
                <a:solidFill>
                  <a:srgbClr val="002060"/>
                </a:solidFill>
              </a:rPr>
              <a:t>1</a:t>
            </a:r>
            <a:r>
              <a:rPr lang="zh-CN" altLang="en-US" sz="2000" b="1" dirty="0">
                <a:solidFill>
                  <a:srgbClr val="002060"/>
                </a:solidFill>
              </a:rPr>
              <a:t> ：</a:t>
            </a:r>
            <a:r>
              <a:rPr lang="zh-CN" altLang="zh-CN" sz="2000" b="1" dirty="0"/>
              <a:t>超级电容与普通电容在储能原理上有何不同？超级电容和电池的不同之处在于什么？超级电容的应用</a:t>
            </a:r>
            <a:r>
              <a:rPr lang="zh-CN" altLang="en-US" sz="2000" b="1" dirty="0"/>
              <a:t>场景</a:t>
            </a:r>
            <a:r>
              <a:rPr lang="zh-CN" altLang="zh-CN" sz="2000" b="1" dirty="0"/>
              <a:t>有哪些？</a:t>
            </a:r>
            <a:endParaRPr lang="en-US" altLang="zh-CN" sz="2000" b="1" dirty="0"/>
          </a:p>
          <a:p>
            <a:pPr>
              <a:lnSpc>
                <a:spcPct val="90000"/>
              </a:lnSpc>
            </a:pPr>
            <a:r>
              <a:rPr lang="zh-CN" altLang="en-US" sz="2000" b="1" dirty="0">
                <a:solidFill>
                  <a:srgbClr val="002060"/>
                </a:solidFill>
              </a:rPr>
              <a:t>拓展题</a:t>
            </a:r>
            <a:r>
              <a:rPr lang="en-US" altLang="zh-CN" sz="2000" b="1" dirty="0">
                <a:solidFill>
                  <a:srgbClr val="002060"/>
                </a:solidFill>
              </a:rPr>
              <a:t>2</a:t>
            </a:r>
            <a:r>
              <a:rPr lang="zh-CN" altLang="en-US" sz="2000" b="1" dirty="0">
                <a:solidFill>
                  <a:srgbClr val="002060"/>
                </a:solidFill>
              </a:rPr>
              <a:t> ：</a:t>
            </a:r>
            <a:r>
              <a:rPr lang="zh-CN" altLang="en-US" sz="2000" b="1" dirty="0"/>
              <a:t>相对地，</a:t>
            </a:r>
            <a:r>
              <a:rPr lang="zh-CN" altLang="zh-CN" sz="2000" b="1" dirty="0"/>
              <a:t>电容常用而电感不常用，电感通常在电路中起什么作用？如何使用电感？</a:t>
            </a:r>
            <a:endParaRPr lang="en-US" altLang="zh-CN" sz="2000"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8066" name="图片 3"/>
          <p:cNvPicPr>
            <a:picLocks noChangeAspect="1"/>
          </p:cNvPicPr>
          <p:nvPr/>
        </p:nvPicPr>
        <p:blipFill>
          <a:blip r:embed="rId2"/>
          <a:stretch>
            <a:fillRect/>
          </a:stretch>
        </p:blipFill>
        <p:spPr>
          <a:xfrm>
            <a:off x="552450" y="598488"/>
            <a:ext cx="7718425" cy="3865562"/>
          </a:xfrm>
          <a:prstGeom prst="rect">
            <a:avLst/>
          </a:prstGeom>
          <a:noFill/>
          <a:ln w="9525">
            <a:noFill/>
          </a:ln>
        </p:spPr>
      </p:pic>
      <p:sp>
        <p:nvSpPr>
          <p:cNvPr id="88067" name="灯片编号占位符 2"/>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82</a:t>
            </a:fld>
            <a:endParaRPr lang="zh-CN" altLang="en-US" sz="1200" dirty="0">
              <a:solidFill>
                <a:srgbClr val="898989"/>
              </a:solidFill>
              <a:latin typeface="Arial" panose="020B0604020202020204" pitchFamily="34" charset="0"/>
              <a:ea typeface="宋体-18030" pitchFamily="49" charset="-122"/>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9090" name="图片 3"/>
          <p:cNvPicPr>
            <a:picLocks noChangeAspect="1"/>
          </p:cNvPicPr>
          <p:nvPr/>
        </p:nvPicPr>
        <p:blipFill>
          <a:blip r:embed="rId2"/>
          <a:stretch>
            <a:fillRect/>
          </a:stretch>
        </p:blipFill>
        <p:spPr>
          <a:xfrm>
            <a:off x="1144588" y="219075"/>
            <a:ext cx="6372225" cy="3533775"/>
          </a:xfrm>
          <a:prstGeom prst="rect">
            <a:avLst/>
          </a:prstGeom>
          <a:noFill/>
          <a:ln w="9525">
            <a:noFill/>
          </a:ln>
        </p:spPr>
      </p:pic>
      <p:pic>
        <p:nvPicPr>
          <p:cNvPr id="89091" name="图片 4"/>
          <p:cNvPicPr>
            <a:picLocks noChangeAspect="1"/>
          </p:cNvPicPr>
          <p:nvPr/>
        </p:nvPicPr>
        <p:blipFill>
          <a:blip r:embed="rId3"/>
          <a:stretch>
            <a:fillRect/>
          </a:stretch>
        </p:blipFill>
        <p:spPr>
          <a:xfrm>
            <a:off x="1144588" y="4232275"/>
            <a:ext cx="6213475" cy="2100263"/>
          </a:xfrm>
          <a:prstGeom prst="rect">
            <a:avLst/>
          </a:prstGeom>
          <a:noFill/>
          <a:ln w="9525">
            <a:noFill/>
          </a:ln>
        </p:spPr>
      </p:pic>
      <p:pic>
        <p:nvPicPr>
          <p:cNvPr id="89092" name="图片 7"/>
          <p:cNvPicPr>
            <a:picLocks noChangeAspect="1"/>
          </p:cNvPicPr>
          <p:nvPr/>
        </p:nvPicPr>
        <p:blipFill>
          <a:blip r:embed="rId4"/>
          <a:stretch>
            <a:fillRect/>
          </a:stretch>
        </p:blipFill>
        <p:spPr>
          <a:xfrm>
            <a:off x="2703513" y="6032500"/>
            <a:ext cx="3736975" cy="598488"/>
          </a:xfrm>
          <a:prstGeom prst="rect">
            <a:avLst/>
          </a:prstGeom>
          <a:noFill/>
          <a:ln w="9525">
            <a:noFill/>
          </a:ln>
        </p:spPr>
      </p:pic>
      <p:sp>
        <p:nvSpPr>
          <p:cNvPr id="89093" name="灯片编号占位符 5"/>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83</a:t>
            </a:fld>
            <a:endParaRPr lang="zh-CN" altLang="en-US" sz="1200" dirty="0">
              <a:solidFill>
                <a:srgbClr val="898989"/>
              </a:solidFill>
              <a:latin typeface="Arial" panose="020B0604020202020204" pitchFamily="34" charset="0"/>
              <a:ea typeface="宋体-18030" pitchFamily="49" charset="-122"/>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4" name="灯片编号占位符 1"/>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84</a:t>
            </a:fld>
            <a:endParaRPr lang="zh-CN" altLang="en-US" sz="1200" dirty="0">
              <a:solidFill>
                <a:srgbClr val="898989"/>
              </a:solidFill>
              <a:latin typeface="Arial" panose="020B0604020202020204" pitchFamily="34" charset="0"/>
              <a:ea typeface="宋体-18030" pitchFamily="49" charset="-122"/>
            </a:endParaRPr>
          </a:p>
        </p:txBody>
      </p:sp>
      <p:pic>
        <p:nvPicPr>
          <p:cNvPr id="90115" name="Picture 2"/>
          <p:cNvPicPr>
            <a:picLocks noChangeAspect="1"/>
          </p:cNvPicPr>
          <p:nvPr/>
        </p:nvPicPr>
        <p:blipFill>
          <a:blip r:embed="rId2"/>
          <a:stretch>
            <a:fillRect/>
          </a:stretch>
        </p:blipFill>
        <p:spPr>
          <a:xfrm>
            <a:off x="395288" y="620713"/>
            <a:ext cx="8542337" cy="2232025"/>
          </a:xfrm>
          <a:prstGeom prst="rect">
            <a:avLst/>
          </a:prstGeom>
          <a:noFill/>
          <a:ln w="9525">
            <a:noFill/>
          </a:ln>
        </p:spPr>
      </p:pic>
      <p:pic>
        <p:nvPicPr>
          <p:cNvPr id="90116" name="Picture 3"/>
          <p:cNvPicPr>
            <a:picLocks noChangeAspect="1"/>
          </p:cNvPicPr>
          <p:nvPr/>
        </p:nvPicPr>
        <p:blipFill>
          <a:blip r:embed="rId3"/>
          <a:stretch>
            <a:fillRect/>
          </a:stretch>
        </p:blipFill>
        <p:spPr>
          <a:xfrm>
            <a:off x="4667250" y="2841625"/>
            <a:ext cx="4005263" cy="3324225"/>
          </a:xfrm>
          <a:prstGeom prst="rect">
            <a:avLst/>
          </a:prstGeom>
          <a:noFill/>
          <a:ln w="9525">
            <a:noFill/>
          </a:ln>
        </p:spPr>
      </p:pic>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138" name="灯片编号占位符 1"/>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85</a:t>
            </a:fld>
            <a:endParaRPr lang="zh-CN" altLang="en-US" sz="1200" dirty="0">
              <a:solidFill>
                <a:srgbClr val="898989"/>
              </a:solidFill>
              <a:latin typeface="Arial" panose="020B0604020202020204" pitchFamily="34" charset="0"/>
              <a:ea typeface="宋体-18030" pitchFamily="49" charset="-122"/>
            </a:endParaRPr>
          </a:p>
        </p:txBody>
      </p:sp>
      <p:pic>
        <p:nvPicPr>
          <p:cNvPr id="91139" name="Picture 2"/>
          <p:cNvPicPr>
            <a:picLocks noChangeAspect="1"/>
          </p:cNvPicPr>
          <p:nvPr/>
        </p:nvPicPr>
        <p:blipFill>
          <a:blip r:embed="rId2"/>
          <a:stretch>
            <a:fillRect/>
          </a:stretch>
        </p:blipFill>
        <p:spPr>
          <a:xfrm>
            <a:off x="611188" y="765175"/>
            <a:ext cx="8426450" cy="4392613"/>
          </a:xfrm>
          <a:prstGeom prst="rect">
            <a:avLst/>
          </a:prstGeom>
          <a:noFill/>
          <a:ln w="9525">
            <a:noFill/>
          </a:ln>
        </p:spPr>
      </p:pic>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2" name="灯片编号占位符 1"/>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86</a:t>
            </a:fld>
            <a:endParaRPr lang="zh-CN" altLang="en-US" sz="1200" dirty="0">
              <a:solidFill>
                <a:srgbClr val="898989"/>
              </a:solidFill>
              <a:latin typeface="Arial" panose="020B0604020202020204" pitchFamily="34" charset="0"/>
              <a:ea typeface="宋体-18030" pitchFamily="49" charset="-122"/>
            </a:endParaRPr>
          </a:p>
        </p:txBody>
      </p:sp>
      <p:pic>
        <p:nvPicPr>
          <p:cNvPr id="92163" name="Picture 2"/>
          <p:cNvPicPr>
            <a:picLocks noChangeAspect="1"/>
          </p:cNvPicPr>
          <p:nvPr/>
        </p:nvPicPr>
        <p:blipFill>
          <a:blip r:embed="rId2"/>
          <a:stretch>
            <a:fillRect/>
          </a:stretch>
        </p:blipFill>
        <p:spPr>
          <a:xfrm>
            <a:off x="250825" y="887413"/>
            <a:ext cx="8697913" cy="4248150"/>
          </a:xfrm>
          <a:prstGeom prst="rect">
            <a:avLst/>
          </a:prstGeom>
          <a:noFill/>
          <a:ln w="9525">
            <a:noFill/>
          </a:ln>
        </p:spPr>
      </p:pic>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3186" name="图片 1"/>
          <p:cNvPicPr>
            <a:picLocks noChangeAspect="1"/>
          </p:cNvPicPr>
          <p:nvPr/>
        </p:nvPicPr>
        <p:blipFill>
          <a:blip r:embed="rId2"/>
          <a:stretch>
            <a:fillRect/>
          </a:stretch>
        </p:blipFill>
        <p:spPr>
          <a:xfrm>
            <a:off x="265113" y="579438"/>
            <a:ext cx="8878887" cy="866775"/>
          </a:xfrm>
          <a:prstGeom prst="rect">
            <a:avLst/>
          </a:prstGeom>
          <a:noFill/>
          <a:ln w="9525">
            <a:noFill/>
          </a:ln>
        </p:spPr>
      </p:pic>
      <p:pic>
        <p:nvPicPr>
          <p:cNvPr id="93187" name="图片 2"/>
          <p:cNvPicPr>
            <a:picLocks noChangeAspect="1"/>
          </p:cNvPicPr>
          <p:nvPr/>
        </p:nvPicPr>
        <p:blipFill>
          <a:blip r:embed="rId3"/>
          <a:stretch>
            <a:fillRect/>
          </a:stretch>
        </p:blipFill>
        <p:spPr>
          <a:xfrm>
            <a:off x="2497138" y="1976438"/>
            <a:ext cx="3630612" cy="2905125"/>
          </a:xfrm>
          <a:prstGeom prst="rect">
            <a:avLst/>
          </a:prstGeom>
          <a:noFill/>
          <a:ln w="9525">
            <a:noFill/>
          </a:ln>
        </p:spPr>
      </p:pic>
      <p:sp>
        <p:nvSpPr>
          <p:cNvPr id="93188" name="灯片编号占位符 3"/>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87</a:t>
            </a:fld>
            <a:endParaRPr lang="zh-CN" altLang="en-US" sz="1200" dirty="0">
              <a:solidFill>
                <a:srgbClr val="898989"/>
              </a:solidFill>
              <a:latin typeface="Arial" panose="020B0604020202020204" pitchFamily="34" charset="0"/>
              <a:ea typeface="宋体-18030" pitchFamily="49" charset="-122"/>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4210" name="图片 1"/>
          <p:cNvPicPr>
            <a:picLocks noChangeAspect="1"/>
          </p:cNvPicPr>
          <p:nvPr/>
        </p:nvPicPr>
        <p:blipFill>
          <a:blip r:embed="rId2"/>
          <a:stretch>
            <a:fillRect/>
          </a:stretch>
        </p:blipFill>
        <p:spPr>
          <a:xfrm>
            <a:off x="1103313" y="890588"/>
            <a:ext cx="6415087" cy="3435350"/>
          </a:xfrm>
          <a:prstGeom prst="rect">
            <a:avLst/>
          </a:prstGeom>
          <a:noFill/>
          <a:ln w="9525">
            <a:noFill/>
          </a:ln>
        </p:spPr>
      </p:pic>
      <p:sp>
        <p:nvSpPr>
          <p:cNvPr id="94211" name="灯片编号占位符 2"/>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88</a:t>
            </a:fld>
            <a:endParaRPr lang="zh-CN" altLang="en-US" sz="1200" dirty="0">
              <a:solidFill>
                <a:srgbClr val="898989"/>
              </a:solidFill>
              <a:latin typeface="Arial" panose="020B0604020202020204" pitchFamily="34" charset="0"/>
              <a:ea typeface="宋体-18030" pitchFamily="49" charset="-122"/>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234" name="灯片编号占位符 3"/>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89</a:t>
            </a:fld>
            <a:endParaRPr lang="zh-CN" altLang="en-US" sz="1200" dirty="0">
              <a:solidFill>
                <a:srgbClr val="898989"/>
              </a:solidFill>
              <a:latin typeface="Arial" panose="020B0604020202020204" pitchFamily="34" charset="0"/>
              <a:ea typeface="宋体-18030" pitchFamily="49" charset="-122"/>
            </a:endParaRPr>
          </a:p>
        </p:txBody>
      </p:sp>
      <p:pic>
        <p:nvPicPr>
          <p:cNvPr id="95235" name="Picture 2"/>
          <p:cNvPicPr>
            <a:picLocks noChangeAspect="1"/>
          </p:cNvPicPr>
          <p:nvPr/>
        </p:nvPicPr>
        <p:blipFill>
          <a:blip r:embed="rId2"/>
          <a:stretch>
            <a:fillRect/>
          </a:stretch>
        </p:blipFill>
        <p:spPr>
          <a:xfrm>
            <a:off x="395288" y="765175"/>
            <a:ext cx="7105650" cy="1209675"/>
          </a:xfrm>
          <a:prstGeom prst="rect">
            <a:avLst/>
          </a:prstGeom>
          <a:noFill/>
          <a:ln w="9525">
            <a:noFill/>
          </a:ln>
        </p:spPr>
      </p:pic>
      <p:pic>
        <p:nvPicPr>
          <p:cNvPr id="95236" name="Picture 3"/>
          <p:cNvPicPr>
            <a:picLocks noChangeAspect="1"/>
          </p:cNvPicPr>
          <p:nvPr/>
        </p:nvPicPr>
        <p:blipFill>
          <a:blip r:embed="rId3"/>
          <a:stretch>
            <a:fillRect/>
          </a:stretch>
        </p:blipFill>
        <p:spPr>
          <a:xfrm>
            <a:off x="395288" y="2324100"/>
            <a:ext cx="8229600" cy="3800475"/>
          </a:xfrm>
          <a:prstGeom prst="rect">
            <a:avLst/>
          </a:prstGeom>
          <a:noFill/>
          <a:ln w="9525">
            <a:noFill/>
          </a:ln>
        </p:spPr>
      </p:pic>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灯片编号占位符 1"/>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90</a:t>
            </a:fld>
            <a:endParaRPr lang="zh-CN" altLang="en-US" sz="1200" dirty="0">
              <a:solidFill>
                <a:srgbClr val="898989"/>
              </a:solidFill>
              <a:latin typeface="Arial" panose="020B0604020202020204" pitchFamily="34" charset="0"/>
              <a:ea typeface="宋体-18030" pitchFamily="49" charset="-122"/>
            </a:endParaRPr>
          </a:p>
        </p:txBody>
      </p:sp>
      <p:pic>
        <p:nvPicPr>
          <p:cNvPr id="96259" name="Picture 2"/>
          <p:cNvPicPr>
            <a:picLocks noChangeAspect="1"/>
          </p:cNvPicPr>
          <p:nvPr/>
        </p:nvPicPr>
        <p:blipFill>
          <a:blip r:embed="rId2"/>
          <a:stretch>
            <a:fillRect/>
          </a:stretch>
        </p:blipFill>
        <p:spPr>
          <a:xfrm>
            <a:off x="395288" y="836613"/>
            <a:ext cx="8421687" cy="1512887"/>
          </a:xfrm>
          <a:prstGeom prst="rect">
            <a:avLst/>
          </a:prstGeom>
          <a:noFill/>
          <a:ln w="9525">
            <a:noFill/>
          </a:ln>
        </p:spPr>
      </p:pic>
      <p:pic>
        <p:nvPicPr>
          <p:cNvPr id="96260" name="Picture 4"/>
          <p:cNvPicPr>
            <a:picLocks noChangeAspect="1"/>
          </p:cNvPicPr>
          <p:nvPr/>
        </p:nvPicPr>
        <p:blipFill>
          <a:blip r:embed="rId3"/>
          <a:stretch>
            <a:fillRect/>
          </a:stretch>
        </p:blipFill>
        <p:spPr>
          <a:xfrm>
            <a:off x="395288" y="2332038"/>
            <a:ext cx="8142287" cy="4121150"/>
          </a:xfrm>
          <a:prstGeom prst="rect">
            <a:avLst/>
          </a:prstGeom>
          <a:noFill/>
          <a:ln w="9525">
            <a:noFill/>
          </a:ln>
        </p:spPr>
      </p:pic>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282" name="灯片编号占位符 1"/>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91</a:t>
            </a:fld>
            <a:endParaRPr lang="zh-CN" altLang="en-US" sz="1200" dirty="0">
              <a:solidFill>
                <a:srgbClr val="898989"/>
              </a:solidFill>
              <a:latin typeface="Arial" panose="020B0604020202020204" pitchFamily="34" charset="0"/>
              <a:ea typeface="宋体-18030" pitchFamily="49" charset="-122"/>
            </a:endParaRPr>
          </a:p>
        </p:txBody>
      </p:sp>
      <p:pic>
        <p:nvPicPr>
          <p:cNvPr id="97283" name="Picture 2"/>
          <p:cNvPicPr>
            <a:picLocks noChangeAspect="1"/>
          </p:cNvPicPr>
          <p:nvPr/>
        </p:nvPicPr>
        <p:blipFill>
          <a:blip r:embed="rId3"/>
          <a:stretch>
            <a:fillRect/>
          </a:stretch>
        </p:blipFill>
        <p:spPr>
          <a:xfrm>
            <a:off x="684213" y="260350"/>
            <a:ext cx="7942262" cy="3816350"/>
          </a:xfrm>
          <a:prstGeom prst="rect">
            <a:avLst/>
          </a:prstGeom>
          <a:noFill/>
          <a:ln w="9525">
            <a:noFill/>
          </a:ln>
        </p:spPr>
      </p:pic>
      <p:pic>
        <p:nvPicPr>
          <p:cNvPr id="97284" name="Picture 3"/>
          <p:cNvPicPr>
            <a:picLocks noChangeAspect="1"/>
          </p:cNvPicPr>
          <p:nvPr/>
        </p:nvPicPr>
        <p:blipFill>
          <a:blip r:embed="rId4"/>
          <a:srcRect b="50000"/>
          <a:stretch>
            <a:fillRect/>
          </a:stretch>
        </p:blipFill>
        <p:spPr>
          <a:xfrm>
            <a:off x="827088" y="4149725"/>
            <a:ext cx="7883525" cy="719138"/>
          </a:xfrm>
          <a:prstGeom prst="rect">
            <a:avLst/>
          </a:prstGeom>
          <a:noFill/>
          <a:ln w="9525">
            <a:noFill/>
          </a:ln>
        </p:spPr>
      </p:pic>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9330" name="灯片编号占位符 1"/>
          <p:cNvSpPr txBox="1">
            <a:spLocks noGrp="1"/>
          </p:cNvSpPr>
          <p:nvPr>
            <p:ph type="sldNum" sz="quarter" idx="4"/>
          </p:nvPr>
        </p:nvSpPr>
        <p:spPr>
          <a:noFill/>
          <a:ln>
            <a:noFill/>
          </a:ln>
        </p:spPr>
        <p:txBody>
          <a:bodyPr anchor="ctr" anchorCtr="0"/>
          <a:lstStyle/>
          <a:p>
            <a:pPr marL="0" indent="0" algn="r">
              <a:lnSpc>
                <a:spcPct val="100000"/>
              </a:lnSpc>
              <a:spcBef>
                <a:spcPct val="0"/>
              </a:spcBef>
              <a:buFontTx/>
              <a:buNone/>
            </a:pPr>
            <a:fld id="{9A0DB2DC-4C9A-4742-B13C-FB6460FD3503}" type="slidenum">
              <a:rPr lang="zh-CN" altLang="en-US" sz="1200" dirty="0">
                <a:solidFill>
                  <a:srgbClr val="898989"/>
                </a:solidFill>
                <a:latin typeface="Arial" panose="020B0604020202020204" pitchFamily="34" charset="0"/>
                <a:ea typeface="宋体-18030" pitchFamily="49" charset="-122"/>
              </a:rPr>
              <a:pPr marL="0" indent="0" algn="r">
                <a:lnSpc>
                  <a:spcPct val="100000"/>
                </a:lnSpc>
                <a:spcBef>
                  <a:spcPct val="0"/>
                </a:spcBef>
                <a:buFontTx/>
                <a:buNone/>
              </a:pPr>
              <a:t>92</a:t>
            </a:fld>
            <a:endParaRPr lang="zh-CN" altLang="en-US" sz="1200" dirty="0">
              <a:solidFill>
                <a:srgbClr val="898989"/>
              </a:solidFill>
              <a:latin typeface="Arial" panose="020B0604020202020204" pitchFamily="34" charset="0"/>
              <a:ea typeface="宋体-18030" pitchFamily="49" charset="-122"/>
            </a:endParaRPr>
          </a:p>
        </p:txBody>
      </p:sp>
      <p:pic>
        <p:nvPicPr>
          <p:cNvPr id="99331" name="Picture 4"/>
          <p:cNvPicPr>
            <a:picLocks noChangeAspect="1"/>
          </p:cNvPicPr>
          <p:nvPr/>
        </p:nvPicPr>
        <p:blipFill>
          <a:blip r:embed="rId2"/>
          <a:stretch>
            <a:fillRect/>
          </a:stretch>
        </p:blipFill>
        <p:spPr>
          <a:xfrm>
            <a:off x="684213" y="1916113"/>
            <a:ext cx="7716837" cy="4392612"/>
          </a:xfrm>
          <a:prstGeom prst="rect">
            <a:avLst/>
          </a:prstGeom>
          <a:noFill/>
          <a:ln w="9525">
            <a:noFill/>
          </a:ln>
        </p:spPr>
      </p:pic>
      <p:pic>
        <p:nvPicPr>
          <p:cNvPr id="99332" name="Picture 2"/>
          <p:cNvPicPr>
            <a:picLocks noChangeAspect="1"/>
          </p:cNvPicPr>
          <p:nvPr/>
        </p:nvPicPr>
        <p:blipFill>
          <a:blip r:embed="rId3"/>
          <a:stretch>
            <a:fillRect/>
          </a:stretch>
        </p:blipFill>
        <p:spPr>
          <a:xfrm>
            <a:off x="1116013" y="1196975"/>
            <a:ext cx="7343775" cy="647700"/>
          </a:xfrm>
          <a:prstGeom prst="rect">
            <a:avLst/>
          </a:prstGeom>
          <a:noFill/>
          <a:ln w="9525">
            <a:noFill/>
          </a:ln>
        </p:spPr>
      </p:pic>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BhM2U2YThkZjQ3NGJlMzFiMDIzMzRlNGI2NzY5MWQifQ=="/>
  <p:tag name="KSO_WPP_MARK_KEY" val="d483e600-f153-47c7-bedb-3ab9428eea84"/>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40,&quot;width&quot;:16272}"/>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84,&quot;width&quot;:15108}"/>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269,&quot;width&quot;:11603}"/>
</p:tagLst>
</file>

<file path=ppt/tags/tag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748,&quot;width&quot;:5988}"/>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8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61</TotalTime>
  <Words>3325</Words>
  <Application>Microsoft Office PowerPoint</Application>
  <PresentationFormat>全屏显示(4:3)</PresentationFormat>
  <Paragraphs>437</Paragraphs>
  <Slides>92</Slides>
  <Notes>11</Notes>
  <HiddenSlides>11</HiddenSlides>
  <MMClips>0</MMClips>
  <ScaleCrop>false</ScaleCrop>
  <HeadingPairs>
    <vt:vector size="6" baseType="variant">
      <vt:variant>
        <vt:lpstr>主题</vt:lpstr>
      </vt:variant>
      <vt:variant>
        <vt:i4>3</vt:i4>
      </vt:variant>
      <vt:variant>
        <vt:lpstr>嵌入 OLE 服务器</vt:lpstr>
      </vt:variant>
      <vt:variant>
        <vt:i4>0</vt:i4>
      </vt:variant>
      <vt:variant>
        <vt:lpstr>幻灯片标题</vt:lpstr>
      </vt:variant>
      <vt:variant>
        <vt:i4>92</vt:i4>
      </vt:variant>
    </vt:vector>
  </HeadingPairs>
  <TitlesOfParts>
    <vt:vector size="95" baseType="lpstr">
      <vt:lpstr>Pixel</vt:lpstr>
      <vt:lpstr>默认设计模板</vt:lpstr>
      <vt:lpstr>8_Office 主题</vt:lpstr>
      <vt:lpstr>第六章                  电容和电感</vt:lpstr>
      <vt:lpstr>6.1 引言</vt:lpstr>
      <vt:lpstr> </vt:lpstr>
      <vt:lpstr>幻灯片 4</vt:lpstr>
      <vt:lpstr>    在外电源作用下，两极板分别带上等量的异性电荷，并在介质中形成电场，储存电场能量。</vt:lpstr>
      <vt:lpstr>幻灯片 6</vt:lpstr>
      <vt:lpstr>幻灯片 7</vt:lpstr>
      <vt:lpstr>幻灯片 8</vt:lpstr>
      <vt:lpstr>幻灯片 9</vt:lpstr>
      <vt:lpstr>幻灯片 10</vt:lpstr>
      <vt:lpstr>幻灯片 11</vt:lpstr>
      <vt:lpstr>幻灯片 12</vt:lpstr>
      <vt:lpstr> </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例（堂练） </vt:lpstr>
      <vt:lpstr>幻灯片 30</vt:lpstr>
      <vt:lpstr>幻灯片 31</vt:lpstr>
      <vt:lpstr>幻灯片 32</vt:lpstr>
      <vt:lpstr>幻灯片 33</vt:lpstr>
      <vt:lpstr>幻灯片 34</vt:lpstr>
      <vt:lpstr>幻灯片 35</vt:lpstr>
      <vt:lpstr>6.3   电容的串并联</vt:lpstr>
      <vt:lpstr>幻灯片 37</vt:lpstr>
      <vt:lpstr>幻灯片 38</vt:lpstr>
      <vt:lpstr>幻灯片 39</vt:lpstr>
      <vt:lpstr>幻灯片 40</vt:lpstr>
      <vt:lpstr>幻灯片 41</vt:lpstr>
      <vt:lpstr>幻灯片 42</vt:lpstr>
      <vt:lpstr>幻灯片 43</vt:lpstr>
      <vt:lpstr>一个关于“能量去哪里了”的思考题：</vt:lpstr>
      <vt:lpstr>幻灯片 45</vt:lpstr>
      <vt:lpstr>6.4  电感</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例（小测）  </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本章重点及难点</vt:lpstr>
      <vt:lpstr>本章作业</vt:lpstr>
      <vt:lpstr>幻灯片 82</vt:lpstr>
      <vt:lpstr>幻灯片 83</vt:lpstr>
      <vt:lpstr>幻灯片 84</vt:lpstr>
      <vt:lpstr>幻灯片 85</vt:lpstr>
      <vt:lpstr>幻灯片 86</vt:lpstr>
      <vt:lpstr>幻灯片 87</vt:lpstr>
      <vt:lpstr>幻灯片 88</vt:lpstr>
      <vt:lpstr>幻灯片 89</vt:lpstr>
      <vt:lpstr>幻灯片 90</vt:lpstr>
      <vt:lpstr>幻灯片 91</vt:lpstr>
      <vt:lpstr>幻灯片 92</vt:lpstr>
    </vt:vector>
  </TitlesOfParts>
  <Company>芳向电脑工作室</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张芳向 Netboy</dc:creator>
  <cp:lastModifiedBy>Microsoft</cp:lastModifiedBy>
  <cp:revision>227</cp:revision>
  <dcterms:created xsi:type="dcterms:W3CDTF">2006-03-10T15:50:00Z</dcterms:created>
  <dcterms:modified xsi:type="dcterms:W3CDTF">2022-10-24T06:01:25Z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BDE834C12BDD4070A19402E081CB2409</vt:lpwstr>
  </property>
  <property fmtid="{D5CDD505-2E9C-101B-9397-08002B2CF9AE}" pid="3" name="KSOProductBuildVer">
    <vt:lpwstr>2052-11.1.0.12598</vt:lpwstr>
  </property>
</Properties>
</file>