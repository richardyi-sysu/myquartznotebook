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3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65" r:id="rId4"/>
    <p:sldMasterId id="2147483667" r:id="rId5"/>
    <p:sldMasterId id="2147483669" r:id="rId6"/>
    <p:sldMasterId id="2147483671" r:id="rId7"/>
    <p:sldMasterId id="2147483673" r:id="rId8"/>
  </p:sldMasterIdLst>
  <p:notesMasterIdLst>
    <p:notesMasterId r:id="rId10"/>
  </p:notesMasterIdLst>
  <p:sldIdLst>
    <p:sldId id="319" r:id="rId9"/>
    <p:sldId id="523" r:id="rId11"/>
    <p:sldId id="492" r:id="rId12"/>
    <p:sldId id="493" r:id="rId13"/>
    <p:sldId id="494" r:id="rId14"/>
    <p:sldId id="495" r:id="rId15"/>
    <p:sldId id="496" r:id="rId16"/>
    <p:sldId id="497" r:id="rId17"/>
    <p:sldId id="498" r:id="rId18"/>
    <p:sldId id="499" r:id="rId19"/>
    <p:sldId id="500" r:id="rId20"/>
    <p:sldId id="501" r:id="rId21"/>
    <p:sldId id="502" r:id="rId22"/>
    <p:sldId id="331" r:id="rId23"/>
    <p:sldId id="520" r:id="rId24"/>
    <p:sldId id="297" r:id="rId25"/>
    <p:sldId id="333" r:id="rId26"/>
    <p:sldId id="256" r:id="rId27"/>
    <p:sldId id="257" r:id="rId28"/>
    <p:sldId id="503" r:id="rId29"/>
    <p:sldId id="504" r:id="rId30"/>
    <p:sldId id="376" r:id="rId31"/>
    <p:sldId id="413" r:id="rId32"/>
    <p:sldId id="508" r:id="rId33"/>
    <p:sldId id="509" r:id="rId34"/>
    <p:sldId id="320" r:id="rId35"/>
    <p:sldId id="309" r:id="rId36"/>
    <p:sldId id="268" r:id="rId37"/>
    <p:sldId id="307" r:id="rId38"/>
    <p:sldId id="449" r:id="rId39"/>
    <p:sldId id="510" r:id="rId40"/>
    <p:sldId id="464" r:id="rId41"/>
    <p:sldId id="465" r:id="rId42"/>
    <p:sldId id="466" r:id="rId43"/>
    <p:sldId id="467" r:id="rId44"/>
    <p:sldId id="468" r:id="rId45"/>
    <p:sldId id="469" r:id="rId46"/>
    <p:sldId id="470" r:id="rId47"/>
    <p:sldId id="471" r:id="rId48"/>
    <p:sldId id="472" r:id="rId49"/>
    <p:sldId id="473" r:id="rId50"/>
    <p:sldId id="474" r:id="rId51"/>
    <p:sldId id="475" r:id="rId52"/>
    <p:sldId id="477" r:id="rId53"/>
    <p:sldId id="478" r:id="rId54"/>
    <p:sldId id="479" r:id="rId55"/>
    <p:sldId id="480" r:id="rId56"/>
    <p:sldId id="481" r:id="rId57"/>
    <p:sldId id="482" r:id="rId58"/>
    <p:sldId id="511" r:id="rId59"/>
    <p:sldId id="512" r:id="rId60"/>
    <p:sldId id="515" r:id="rId61"/>
    <p:sldId id="484" r:id="rId62"/>
    <p:sldId id="485" r:id="rId63"/>
    <p:sldId id="486" r:id="rId64"/>
    <p:sldId id="487" r:id="rId65"/>
    <p:sldId id="488" r:id="rId66"/>
    <p:sldId id="489" r:id="rId67"/>
    <p:sldId id="490" r:id="rId68"/>
    <p:sldId id="271" r:id="rId69"/>
    <p:sldId id="453" r:id="rId70"/>
    <p:sldId id="454" r:id="rId71"/>
    <p:sldId id="273" r:id="rId72"/>
    <p:sldId id="281" r:id="rId73"/>
    <p:sldId id="282" r:id="rId74"/>
    <p:sldId id="336" r:id="rId75"/>
    <p:sldId id="284" r:id="rId76"/>
    <p:sldId id="285" r:id="rId77"/>
    <p:sldId id="455" r:id="rId78"/>
    <p:sldId id="287" r:id="rId79"/>
    <p:sldId id="298" r:id="rId80"/>
    <p:sldId id="288" r:id="rId81"/>
    <p:sldId id="456" r:id="rId82"/>
    <p:sldId id="517" r:id="rId83"/>
    <p:sldId id="461" r:id="rId84"/>
    <p:sldId id="518" r:id="rId85"/>
    <p:sldId id="519" r:id="rId86"/>
    <p:sldId id="516" r:id="rId87"/>
    <p:sldId id="521" r:id="rId88"/>
    <p:sldId id="522" r:id="rId89"/>
    <p:sldId id="289" r:id="rId90"/>
    <p:sldId id="457" r:id="rId91"/>
    <p:sldId id="274" r:id="rId92"/>
    <p:sldId id="337" r:id="rId93"/>
    <p:sldId id="275" r:id="rId94"/>
    <p:sldId id="304" r:id="rId95"/>
    <p:sldId id="276" r:id="rId96"/>
    <p:sldId id="339" r:id="rId97"/>
    <p:sldId id="338" r:id="rId98"/>
    <p:sldId id="278" r:id="rId99"/>
    <p:sldId id="305" r:id="rId100"/>
    <p:sldId id="458" r:id="rId101"/>
    <p:sldId id="313" r:id="rId102"/>
    <p:sldId id="263" r:id="rId103"/>
    <p:sldId id="301" r:id="rId104"/>
    <p:sldId id="459" r:id="rId105"/>
    <p:sldId id="462" r:id="rId106"/>
    <p:sldId id="460" r:id="rId107"/>
    <p:sldId id="264" r:id="rId108"/>
    <p:sldId id="306" r:id="rId109"/>
    <p:sldId id="265" r:id="rId110"/>
    <p:sldId id="296" r:id="rId111"/>
    <p:sldId id="412" r:id="rId112"/>
    <p:sldId id="414" r:id="rId113"/>
    <p:sldId id="295" r:id="rId114"/>
    <p:sldId id="312" r:id="rId1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29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黄 晓" initials="黄" lastIdx="3" clrIdx="0"/>
  <p:cmAuthor id="2" name="apple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8000"/>
    <a:srgbClr val="0066FF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727"/>
    <p:restoredTop sz="85232"/>
  </p:normalViewPr>
  <p:slideViewPr>
    <p:cSldViewPr showGuides="1">
      <p:cViewPr varScale="1">
        <p:scale>
          <a:sx n="96" d="100"/>
          <a:sy n="96" d="100"/>
        </p:scale>
        <p:origin x="-2064" y="-102"/>
      </p:cViewPr>
      <p:guideLst>
        <p:guide orient="horz" pos="2280"/>
        <p:guide pos="29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0.xml"/><Relationship Id="rId98" Type="http://schemas.openxmlformats.org/officeDocument/2006/relationships/slide" Target="slides/slide89.xml"/><Relationship Id="rId97" Type="http://schemas.openxmlformats.org/officeDocument/2006/relationships/slide" Target="slides/slide88.xml"/><Relationship Id="rId96" Type="http://schemas.openxmlformats.org/officeDocument/2006/relationships/slide" Target="slides/slide87.xml"/><Relationship Id="rId95" Type="http://schemas.openxmlformats.org/officeDocument/2006/relationships/slide" Target="slides/slide86.xml"/><Relationship Id="rId94" Type="http://schemas.openxmlformats.org/officeDocument/2006/relationships/slide" Target="slides/slide85.xml"/><Relationship Id="rId93" Type="http://schemas.openxmlformats.org/officeDocument/2006/relationships/slide" Target="slides/slide84.xml"/><Relationship Id="rId92" Type="http://schemas.openxmlformats.org/officeDocument/2006/relationships/slide" Target="slides/slide83.xml"/><Relationship Id="rId91" Type="http://schemas.openxmlformats.org/officeDocument/2006/relationships/slide" Target="slides/slide82.xml"/><Relationship Id="rId90" Type="http://schemas.openxmlformats.org/officeDocument/2006/relationships/slide" Target="slides/slide81.xml"/><Relationship Id="rId9" Type="http://schemas.openxmlformats.org/officeDocument/2006/relationships/slide" Target="slides/slide1.xml"/><Relationship Id="rId89" Type="http://schemas.openxmlformats.org/officeDocument/2006/relationships/slide" Target="slides/slide80.xml"/><Relationship Id="rId88" Type="http://schemas.openxmlformats.org/officeDocument/2006/relationships/slide" Target="slides/slide79.xml"/><Relationship Id="rId87" Type="http://schemas.openxmlformats.org/officeDocument/2006/relationships/slide" Target="slides/slide78.xml"/><Relationship Id="rId86" Type="http://schemas.openxmlformats.org/officeDocument/2006/relationships/slide" Target="slides/slide77.xml"/><Relationship Id="rId85" Type="http://schemas.openxmlformats.org/officeDocument/2006/relationships/slide" Target="slides/slide76.xml"/><Relationship Id="rId84" Type="http://schemas.openxmlformats.org/officeDocument/2006/relationships/slide" Target="slides/slide75.xml"/><Relationship Id="rId83" Type="http://schemas.openxmlformats.org/officeDocument/2006/relationships/slide" Target="slides/slide74.xml"/><Relationship Id="rId82" Type="http://schemas.openxmlformats.org/officeDocument/2006/relationships/slide" Target="slides/slide73.xml"/><Relationship Id="rId81" Type="http://schemas.openxmlformats.org/officeDocument/2006/relationships/slide" Target="slides/slide72.xml"/><Relationship Id="rId80" Type="http://schemas.openxmlformats.org/officeDocument/2006/relationships/slide" Target="slides/slide71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70.xml"/><Relationship Id="rId78" Type="http://schemas.openxmlformats.org/officeDocument/2006/relationships/slide" Target="slides/slide69.xml"/><Relationship Id="rId77" Type="http://schemas.openxmlformats.org/officeDocument/2006/relationships/slide" Target="slides/slide68.xml"/><Relationship Id="rId76" Type="http://schemas.openxmlformats.org/officeDocument/2006/relationships/slide" Target="slides/slide67.xml"/><Relationship Id="rId75" Type="http://schemas.openxmlformats.org/officeDocument/2006/relationships/slide" Target="slides/slide66.xml"/><Relationship Id="rId74" Type="http://schemas.openxmlformats.org/officeDocument/2006/relationships/slide" Target="slides/slide6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0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9" Type="http://schemas.openxmlformats.org/officeDocument/2006/relationships/commentAuthors" Target="commentAuthors.xml"/><Relationship Id="rId118" Type="http://schemas.openxmlformats.org/officeDocument/2006/relationships/tableStyles" Target="tableStyles.xml"/><Relationship Id="rId117" Type="http://schemas.openxmlformats.org/officeDocument/2006/relationships/viewProps" Target="viewProps.xml"/><Relationship Id="rId116" Type="http://schemas.openxmlformats.org/officeDocument/2006/relationships/presProps" Target="presProps.xml"/><Relationship Id="rId115" Type="http://schemas.openxmlformats.org/officeDocument/2006/relationships/slide" Target="slides/slide106.xml"/><Relationship Id="rId114" Type="http://schemas.openxmlformats.org/officeDocument/2006/relationships/slide" Target="slides/slide105.xml"/><Relationship Id="rId113" Type="http://schemas.openxmlformats.org/officeDocument/2006/relationships/slide" Target="slides/slide104.xml"/><Relationship Id="rId112" Type="http://schemas.openxmlformats.org/officeDocument/2006/relationships/slide" Target="slides/slide103.xml"/><Relationship Id="rId111" Type="http://schemas.openxmlformats.org/officeDocument/2006/relationships/slide" Target="slides/slide102.xml"/><Relationship Id="rId110" Type="http://schemas.openxmlformats.org/officeDocument/2006/relationships/slide" Target="slides/slide101.xml"/><Relationship Id="rId11" Type="http://schemas.openxmlformats.org/officeDocument/2006/relationships/slide" Target="slides/slide2.xml"/><Relationship Id="rId109" Type="http://schemas.openxmlformats.org/officeDocument/2006/relationships/slide" Target="slides/slide100.xml"/><Relationship Id="rId108" Type="http://schemas.openxmlformats.org/officeDocument/2006/relationships/slide" Target="slides/slide99.xml"/><Relationship Id="rId107" Type="http://schemas.openxmlformats.org/officeDocument/2006/relationships/slide" Target="slides/slide98.xml"/><Relationship Id="rId106" Type="http://schemas.openxmlformats.org/officeDocument/2006/relationships/slide" Target="slides/slide97.xml"/><Relationship Id="rId105" Type="http://schemas.openxmlformats.org/officeDocument/2006/relationships/slide" Target="slides/slide96.xml"/><Relationship Id="rId104" Type="http://schemas.openxmlformats.org/officeDocument/2006/relationships/slide" Target="slides/slide95.xml"/><Relationship Id="rId103" Type="http://schemas.openxmlformats.org/officeDocument/2006/relationships/slide" Target="slides/slide94.xml"/><Relationship Id="rId102" Type="http://schemas.openxmlformats.org/officeDocument/2006/relationships/slide" Target="slides/slide93.xml"/><Relationship Id="rId101" Type="http://schemas.openxmlformats.org/officeDocument/2006/relationships/slide" Target="slides/slide92.xml"/><Relationship Id="rId100" Type="http://schemas.openxmlformats.org/officeDocument/2006/relationships/slide" Target="slides/slide9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2-09-20T11:04:37.288" idx="1">
    <p:pos x="10" y="10"/>
    <p:text>（sin x)'=cos x; (cos x)'=-sin x;
(60pi t)'=60pi
在三角函数中，pi用180度代替，不是3.14.。。。</p:text>
  </p:cm>
</p:cmLst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7.wmf"/><Relationship Id="rId3" Type="http://schemas.openxmlformats.org/officeDocument/2006/relationships/image" Target="../media/image122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9.wmf"/><Relationship Id="rId5" Type="http://schemas.openxmlformats.org/officeDocument/2006/relationships/image" Target="../media/image138.wmf"/><Relationship Id="rId4" Type="http://schemas.openxmlformats.org/officeDocument/2006/relationships/image" Target="../media/image133.wmf"/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33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3.wmf"/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wmf"/><Relationship Id="rId1" Type="http://schemas.openxmlformats.org/officeDocument/2006/relationships/image" Target="../media/image18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0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0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0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了解电荷。电荷是物质的基本属性，就像质量一样。它有正负两种，并且遵循“同性相斥、异性相吸”的规律。一个非常重要的定律是电荷守恒定律，它告诉我们电荷总量是不变的。电荷的单位是库仑，我们需要记住这个基本单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理解了电荷，我们就可以定义电流了。电流就是电荷的定向移动。它的大小等于单位时间内通过导体横截面的电荷量。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这里有两个重要的公式，一个是用于恒定电流的平均电流公式，另一个是用于变化电流的瞬时电流公式，后者是前者的微分形式。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电流的单位是安培，这是我们后续学习中最常用的单位之一。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首先，我们来看一下具体的问题。题目给出了电荷量q(t)和时间t的关系式，单位是毫库仑(mC)。我们的任务是找到在t等于0.5秒这个特定时刻，电路中的电流是多少。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要解决这个问题，我们首先要回顾电流的定义。电流i(t)等于电荷量q(t)对时间t的导数。这是一个核心的物理概念，也是我们解题的理论基础。简单来说，电流就是电荷流动的快慢。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基于这个定义，我们的解题思路就非常清晰了。第一步，对给出的q(t)函数求导，得到电流i(t)的表达式。第二步，把t=0.5秒代入这个表达式，就能算出我们想要的瞬时电流值。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现在我们来看求导的具体过程。我们的函数 q(t) = 5t · sin(4πt) 是 f(t)=5t 和 g(t)=sin(4πt) 的乘积。求导使用乘积法则：d/dt [f(t)·g(t)] = f'(t)·g(t) + f(t)·g'(t)。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我们先来计算第一个函数f(t)=5t的导数。根据基本的求导公式，5t的导数就是5。这一步很简单。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第二个函数g(t)=sin(4πt)的导数。这个稍微复杂一点，因为它是一个复合函数，需要用到链式法则。我们把4πt看作一个整体u，先对sin(u)求导得到cos(u)，然后再乘以u对t的导数，也就是4π。所以，g(t)的导数就是4π乘以cos(4πt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现在我们把刚才得到的两个导数结果，代入乘积法则的公式中。也就是用5乘以sin(4πt)，再加上5t乘以4πcos(4πt)。整理一下，就得到了电流i(t)的表达式：5sin(4πt) + 20πt cos(4πt)，单位是毫安(mA)。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有了电流的表达式，下一步就是代入具体的时间值t=0.5秒进行计算。我们把表达式里所有的t都替换成0.5。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现在我们来计算式中的三角函数值。4π乘以0.5等于2π。根据三角函数的周期性，sin(2π)等于0，cos(2π)等于1。这是我们需要记住的特殊角的三角函数值。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把计算出的三角函数值代回电流表达式。第一项5乘以0，结果是0。第二项20π乘以0.5再乘以1，结果是10π。所以，最终的电流值就是10π毫安。如果需要一个具体的数值，我们可以用π的近似值3.1416来计算，得到大约31.42毫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总结一下，我们通过对电荷量函数求导，并代入具体的时间值，成功计算出了在t=0.5秒时的瞬时电流。最终的精确结果是10π毫安，近似值约为31.42毫安。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回顾一下本次讲解的重点。我们复习了电流的定义，练习了乘积法则和链式法则这两个重要的求导工具，并且明确了解决这类问题的标准步骤。希望这次详细的推导能帮助大家更好地理解和掌握相关知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大家好，今天我们将一起学习一份非常实用的工具——常见电流-电荷量关系的求导速查表。这份速查表基于电流的定义公式 i(t) = dq/dt，整理了多种典型的电荷量函数及其对应的电流表达式，希望能帮助大家快速解决电路分析中的求导问题。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在开始速查表之前，我们先回顾一下核心定义。电流i(t)等于电荷量q(t)对时间t的导数。这是我们整个速查表的理论基础，所有的推导都源于这个公式。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最基本的函数形式。第一类是常数函数，电荷量不变，电流自然为零。第二类是一次函数，电荷量随时间线性增长，对应的电流就是一个恒定值。第三类是更通用的幂函数，求导时需要应用幂函数求导法则，将指数提到前面，并将指数减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三角函数形式，主要是正弦和余弦函数。当电荷量随时间做正弦变化时，其导数，也就是电流，会变成余弦形式，并且需要乘以角频率ω，这是链式法则的应用。同样地，余弦函数的导数是负的正弦函数，也要乘以ω。这在交流电路分析中非常常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第三类是指数函数形式。指数函数的一个重要特性是它的导数仍然是其本身，只是乘以一个常数λ。这在描述电路的暂态过程，比如RC或RL电路的充电和放电时，经常会遇到。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总结一下几个常用的求导法则。和差法则告诉我们，函数和的导数等于导数的和。乘积法则和商数法则用于处理函数相乘或相除的情况，公式稍微复杂一些，需要特别注意。而链式法则是求复合函数导数的核心，我们在求三角函数和指数函数的导数时已经用到了它。熟练掌握这些法则，能帮助我们解决更复杂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清晰地展示整个解题过程，我们将两个分段的积分计算合并为一个连续的步骤。首先，我们将总积分拆分为0到1秒和1到2秒两个部分，然后分别计算这两个定积分，最后将结果相加，得到总电荷量为40/3库仑，约等于13.33库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大家好，今天我们将通过一个具体的物理问题，来演示如何利用定积分计算在特定时间段内流入电路端点的电荷量。这是一个将数学工具应用于物理问题的典型例子。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首先，我们来看一下具体的问题。这里给出了一个随时间变化的电流函数，我们的目标是求出在1秒到2秒这个时间间隔内，有多少电荷通过了这个端点。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要解决这个问题，我们需要用到电流和电荷量之间的基本关系。这个关系告诉我们，电荷量等于电流在一段时间内的积分。这是连接我们已知条件和待求量的桥梁。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接下来，我们把题目中给出的具体数值和函数代入到这个积分公式中。这样，我们就把一个物理问题转化成了一个具体的数学计算问题——求解这个定积分。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计算定积分的第一步是找到被积函数的原函数。这里我们分别对 3t² 和 -t 两项进行积分，得到原函数为 t³ - (1/2)t²。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现在我们进行最后一步计算。将时间上限2秒和下限1秒代入原函数，然后用上限的函数值减去下限的函数值，就可以得到最终的电荷量。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最终，我们得到了答案：在1秒到2秒之间，流入该端点的电荷量是5.5库仑。这个例子清晰地展示了如何运用微积分知识解决实际的物理问题。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电（动）势</a:t>
            </a:r>
            <a:r>
              <a:rPr lang="en-US" altLang="zh-CN" dirty="0"/>
              <a:t>/</a:t>
            </a:r>
            <a:r>
              <a:rPr lang="zh-CN" altLang="en-US" dirty="0"/>
              <a:t>电位：相对于</a:t>
            </a:r>
            <a:r>
              <a:rPr lang="en-US" altLang="zh-CN" dirty="0"/>
              <a:t>0</a:t>
            </a:r>
            <a:r>
              <a:rPr lang="zh-CN" altLang="en-US" dirty="0"/>
              <a:t>电位的绝对值；   电压（电位差）：节点间的电势之差值。</a:t>
            </a:r>
            <a:endParaRPr lang="en-US" altLang="zh-CN" dirty="0"/>
          </a:p>
          <a:p>
            <a:pPr lvl="0"/>
            <a:r>
              <a:rPr lang="zh-CN" altLang="en-US" dirty="0"/>
              <a:t>这</a:t>
            </a:r>
            <a:r>
              <a:rPr lang="en-US" altLang="zh-CN" dirty="0"/>
              <a:t>2</a:t>
            </a:r>
            <a:r>
              <a:rPr lang="zh-CN" altLang="en-US" dirty="0"/>
              <a:t>个概念教材未说清楚。。。</a:t>
            </a:r>
            <a:endParaRPr lang="en-US" altLang="zh-CN" dirty="0"/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en-US" altLang="zh-CN" dirty="0"/>
              <a:t>P=dw/dt*dq/dt</a:t>
            </a:r>
            <a:endParaRPr lang="en-US" altLang="zh-CN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无源符号约定也叫关联参考方向，如果电压和电流方向相同，就是关联，相反为非关联。</a:t>
            </a:r>
            <a:endParaRPr lang="en-US" altLang="zh-CN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图</a:t>
            </a:r>
            <a:r>
              <a:rPr lang="en-US" altLang="zh-CN" dirty="0"/>
              <a:t>1.8a</a:t>
            </a:r>
            <a:r>
              <a:rPr lang="zh-CN" altLang="en-US" dirty="0"/>
              <a:t>是关联参考方向，所以</a:t>
            </a:r>
            <a:r>
              <a:rPr lang="en-US" altLang="zh-CN" dirty="0"/>
              <a:t>p=+vi, </a:t>
            </a:r>
            <a:r>
              <a:rPr lang="zh-CN" altLang="en-US" dirty="0"/>
              <a:t>图</a:t>
            </a:r>
            <a:r>
              <a:rPr lang="en-US" altLang="zh-CN" dirty="0"/>
              <a:t>b</a:t>
            </a:r>
            <a:r>
              <a:rPr lang="zh-CN" altLang="en-US" dirty="0"/>
              <a:t>非关联参考方向，所以</a:t>
            </a:r>
            <a:r>
              <a:rPr lang="en-US" altLang="zh-CN" dirty="0"/>
              <a:t>p=-vi</a:t>
            </a:r>
            <a:endParaRPr lang="en-US" altLang="zh-CN" dirty="0"/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时变电流</a:t>
            </a:r>
            <a:endParaRPr lang="en-US" altLang="zh-CN" dirty="0"/>
          </a:p>
          <a:p>
            <a:pPr lvl="0"/>
            <a:r>
              <a:rPr lang="en-US" altLang="zh-CN" dirty="0"/>
              <a:t>(a)</a:t>
            </a:r>
            <a:r>
              <a:rPr lang="zh-CN" altLang="en-US" dirty="0"/>
              <a:t>线性伏安关系：电阻</a:t>
            </a:r>
            <a:endParaRPr lang="en-US" altLang="zh-CN" dirty="0"/>
          </a:p>
          <a:p>
            <a:pPr lvl="0"/>
            <a:r>
              <a:rPr lang="en-US" altLang="zh-CN" dirty="0"/>
              <a:t>(b)</a:t>
            </a:r>
            <a:r>
              <a:rPr lang="zh-CN" altLang="en-US" dirty="0"/>
              <a:t>微分伏安关系：电感</a:t>
            </a:r>
            <a:endParaRPr lang="zh-CN" altLang="en-US" dirty="0"/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吸收能量</a:t>
            </a:r>
            <a:endParaRPr lang="zh-CN" altLang="en-US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释放能量。</a:t>
            </a:r>
            <a:endParaRPr lang="zh-CN" altLang="en-US" dirty="0"/>
          </a:p>
          <a:p>
            <a:pPr lvl="0"/>
            <a:r>
              <a:rPr lang="zh-CN" altLang="en-US" dirty="0"/>
              <a:t>（sin x)'=cos x; (cos x)'=-sin x;</a:t>
            </a:r>
            <a:endParaRPr lang="zh-CN" altLang="en-US" dirty="0"/>
          </a:p>
          <a:p>
            <a:pPr lvl="0"/>
            <a:r>
              <a:rPr lang="zh-CN" altLang="en-US" dirty="0"/>
              <a:t>(60pi t)'=60pi</a:t>
            </a:r>
            <a:endParaRPr lang="zh-CN" altLang="en-US" dirty="0"/>
          </a:p>
          <a:p>
            <a:pPr lvl="0"/>
            <a:endParaRPr lang="zh-CN" altLang="en-US" dirty="0"/>
          </a:p>
          <a:p>
            <a:pPr lvl="0"/>
            <a:r>
              <a:rPr lang="zh-CN" altLang="en-US" dirty="0"/>
              <a:t>在三角函数中，pi用180度代替，不是3.14.。。。</a:t>
            </a:r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消耗</a:t>
            </a:r>
            <a:r>
              <a:rPr lang="en-US" altLang="zh-CN" dirty="0"/>
              <a:t>0.2</a:t>
            </a:r>
            <a:r>
              <a:rPr lang="zh-CN" altLang="en-US" dirty="0"/>
              <a:t>度电</a:t>
            </a:r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有源元件能够产生能量，而无源元件不能。无源元件包括电阻，电容，电感等；而有源元件包括发电机，电池和运算放大器等。</a:t>
            </a:r>
            <a:endParaRPr lang="en-US" altLang="zh-CN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独立源圆圈，受控源棱形</a:t>
            </a:r>
            <a:endParaRPr lang="en-US" altLang="zh-CN" dirty="0"/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r>
              <a:rPr lang="zh-CN" altLang="en-US" dirty="0"/>
              <a:t>注意此处</a:t>
            </a:r>
            <a:r>
              <a:rPr lang="en-US" altLang="zh-CN" dirty="0"/>
              <a:t>A,B,C</a:t>
            </a:r>
            <a:r>
              <a:rPr lang="zh-CN" altLang="en-US" dirty="0"/>
              <a:t>不代表电阻。</a:t>
            </a:r>
            <a:endParaRPr lang="zh-CN" altLang="en-US" dirty="0"/>
          </a:p>
        </p:txBody>
      </p:sp>
      <p:sp>
        <p:nvSpPr>
          <p:cNvPr id="686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en-US" altLang="zh-CN" dirty="0"/>
          </a:p>
        </p:txBody>
      </p:sp>
      <p:sp>
        <p:nvSpPr>
          <p:cNvPr id="757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cs typeface="Arial" panose="020B0604020202020204" pitchFamily="34" charset="0"/>
              </a:rPr>
            </a:fld>
            <a:endParaRPr lang="en-US" altLang="zh-CN" sz="1200" dirty="0"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8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21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6181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6181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6078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05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9.svg"/><Relationship Id="rId20" Type="http://schemas.openxmlformats.org/officeDocument/2006/relationships/notesSlide" Target="../notesSlides/notesSlide4.xml"/><Relationship Id="rId2" Type="http://schemas.openxmlformats.org/officeDocument/2006/relationships/image" Target="../media/image8.png"/><Relationship Id="rId19" Type="http://schemas.openxmlformats.org/officeDocument/2006/relationships/slideLayout" Target="../slideLayouts/slideLayout19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tags" Target="../tags/tag10.xml"/><Relationship Id="rId15" Type="http://schemas.openxmlformats.org/officeDocument/2006/relationships/image" Target="../media/image13.svg"/><Relationship Id="rId14" Type="http://schemas.openxmlformats.org/officeDocument/2006/relationships/image" Target="../media/image12.png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9.xml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.bin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1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2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3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5.jpe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47.svg"/><Relationship Id="rId30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29" Type="http://schemas.openxmlformats.org/officeDocument/2006/relationships/slideLayout" Target="../slideLayouts/slideLayout15.xml"/><Relationship Id="rId28" Type="http://schemas.openxmlformats.org/officeDocument/2006/relationships/tags" Target="../tags/tag32.xml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image" Target="../media/image53.svg"/><Relationship Id="rId24" Type="http://schemas.openxmlformats.org/officeDocument/2006/relationships/image" Target="../media/image52.png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14.xml"/><Relationship Id="rId19" Type="http://schemas.openxmlformats.org/officeDocument/2006/relationships/tags" Target="../tags/tag25.xml"/><Relationship Id="rId18" Type="http://schemas.openxmlformats.org/officeDocument/2006/relationships/image" Target="../media/image51.svg"/><Relationship Id="rId17" Type="http://schemas.openxmlformats.org/officeDocument/2006/relationships/image" Target="../media/image50.png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image" Target="../media/image49.svg"/><Relationship Id="rId10" Type="http://schemas.openxmlformats.org/officeDocument/2006/relationships/image" Target="../media/image48.png"/><Relationship Id="rId1" Type="http://schemas.openxmlformats.org/officeDocument/2006/relationships/tags" Target="../tags/tag13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2" Type="http://schemas.openxmlformats.org/officeDocument/2006/relationships/notesSlide" Target="../notesSlides/notesSlide19.xml"/><Relationship Id="rId21" Type="http://schemas.openxmlformats.org/officeDocument/2006/relationships/slideLayout" Target="../slideLayouts/slideLayout16.xml"/><Relationship Id="rId20" Type="http://schemas.openxmlformats.org/officeDocument/2006/relationships/tags" Target="../tags/tag44.xml"/><Relationship Id="rId2" Type="http://schemas.openxmlformats.org/officeDocument/2006/relationships/image" Target="../media/image55.svg"/><Relationship Id="rId19" Type="http://schemas.openxmlformats.org/officeDocument/2006/relationships/tags" Target="../tags/tag43.xml"/><Relationship Id="rId18" Type="http://schemas.openxmlformats.org/officeDocument/2006/relationships/image" Target="../media/image61.svg"/><Relationship Id="rId17" Type="http://schemas.openxmlformats.org/officeDocument/2006/relationships/image" Target="../media/image60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59.svg"/><Relationship Id="rId11" Type="http://schemas.openxmlformats.org/officeDocument/2006/relationships/image" Target="../media/image58.png"/><Relationship Id="rId10" Type="http://schemas.openxmlformats.org/officeDocument/2006/relationships/tags" Target="../tags/tag38.xml"/><Relationship Id="rId1" Type="http://schemas.openxmlformats.org/officeDocument/2006/relationships/image" Target="../media/image54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6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16.xml"/><Relationship Id="rId10" Type="http://schemas.openxmlformats.org/officeDocument/2006/relationships/image" Target="../media/image75.png"/><Relationship Id="rId1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image" Target="../media/image77.svg"/><Relationship Id="rId30" Type="http://schemas.openxmlformats.org/officeDocument/2006/relationships/notesSlide" Target="../notesSlides/notesSlide24.xml"/><Relationship Id="rId3" Type="http://schemas.openxmlformats.org/officeDocument/2006/relationships/image" Target="../media/image76.png"/><Relationship Id="rId29" Type="http://schemas.openxmlformats.org/officeDocument/2006/relationships/slideLayout" Target="../slideLayouts/slideLayout16.xml"/><Relationship Id="rId28" Type="http://schemas.openxmlformats.org/officeDocument/2006/relationships/tags" Target="../tags/tag64.xml"/><Relationship Id="rId27" Type="http://schemas.openxmlformats.org/officeDocument/2006/relationships/tags" Target="../tags/tag63.xml"/><Relationship Id="rId26" Type="http://schemas.openxmlformats.org/officeDocument/2006/relationships/tags" Target="../tags/tag62.xml"/><Relationship Id="rId25" Type="http://schemas.openxmlformats.org/officeDocument/2006/relationships/image" Target="../media/image83.svg"/><Relationship Id="rId24" Type="http://schemas.openxmlformats.org/officeDocument/2006/relationships/image" Target="../media/image82.png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6.xml"/><Relationship Id="rId19" Type="http://schemas.openxmlformats.org/officeDocument/2006/relationships/tags" Target="../tags/tag57.xml"/><Relationship Id="rId18" Type="http://schemas.openxmlformats.org/officeDocument/2006/relationships/image" Target="../media/image81.svg"/><Relationship Id="rId17" Type="http://schemas.openxmlformats.org/officeDocument/2006/relationships/image" Target="../media/image80.png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image" Target="../media/image79.svg"/><Relationship Id="rId10" Type="http://schemas.openxmlformats.org/officeDocument/2006/relationships/image" Target="../media/image78.png"/><Relationship Id="rId1" Type="http://schemas.openxmlformats.org/officeDocument/2006/relationships/tags" Target="../tags/tag4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87.png"/><Relationship Id="rId3" Type="http://schemas.openxmlformats.org/officeDocument/2006/relationships/image" Target="../media/image90.svg"/><Relationship Id="rId2" Type="http://schemas.openxmlformats.org/officeDocument/2006/relationships/image" Target="../media/image89.png"/><Relationship Id="rId1" Type="http://schemas.openxmlformats.org/officeDocument/2006/relationships/image" Target="../media/image88.jpe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image" Target="../media/image92.svg"/><Relationship Id="rId3" Type="http://schemas.openxmlformats.org/officeDocument/2006/relationships/image" Target="../media/image91.png"/><Relationship Id="rId20" Type="http://schemas.openxmlformats.org/officeDocument/2006/relationships/notesSlide" Target="../notesSlides/notesSlide26.xml"/><Relationship Id="rId2" Type="http://schemas.openxmlformats.org/officeDocument/2006/relationships/tags" Target="../tags/tag66.xml"/><Relationship Id="rId19" Type="http://schemas.openxmlformats.org/officeDocument/2006/relationships/slideLayout" Target="../slideLayouts/slideLayout1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image" Target="../media/image96.svg"/><Relationship Id="rId15" Type="http://schemas.openxmlformats.org/officeDocument/2006/relationships/image" Target="../media/image95.png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image" Target="../media/image94.svg"/><Relationship Id="rId1" Type="http://schemas.openxmlformats.org/officeDocument/2006/relationships/tags" Target="../tags/tag65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image" Target="../media/image98.svg"/><Relationship Id="rId3" Type="http://schemas.openxmlformats.org/officeDocument/2006/relationships/image" Target="../media/image97.png"/><Relationship Id="rId2" Type="http://schemas.openxmlformats.org/officeDocument/2006/relationships/tags" Target="../tags/tag78.xml"/><Relationship Id="rId16" Type="http://schemas.openxmlformats.org/officeDocument/2006/relationships/notesSlide" Target="../notesSlides/notesSlide27.xml"/><Relationship Id="rId15" Type="http://schemas.openxmlformats.org/officeDocument/2006/relationships/slideLayout" Target="../slideLayouts/slideLayout1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100.svg"/><Relationship Id="rId10" Type="http://schemas.openxmlformats.org/officeDocument/2006/relationships/image" Target="../media/image99.png"/><Relationship Id="rId1" Type="http://schemas.openxmlformats.org/officeDocument/2006/relationships/tags" Target="../tags/tag77.xml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image" Target="../media/image102.svg"/><Relationship Id="rId3" Type="http://schemas.openxmlformats.org/officeDocument/2006/relationships/image" Target="../media/image101.png"/><Relationship Id="rId23" Type="http://schemas.openxmlformats.org/officeDocument/2006/relationships/notesSlide" Target="../notesSlides/notesSlide28.xml"/><Relationship Id="rId22" Type="http://schemas.openxmlformats.org/officeDocument/2006/relationships/slideLayout" Target="../slideLayouts/slideLayout17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tags" Target="../tags/tag88.xml"/><Relationship Id="rId19" Type="http://schemas.openxmlformats.org/officeDocument/2006/relationships/tags" Target="../tags/tag99.xml"/><Relationship Id="rId18" Type="http://schemas.openxmlformats.org/officeDocument/2006/relationships/image" Target="../media/image104.svg"/><Relationship Id="rId17" Type="http://schemas.openxmlformats.org/officeDocument/2006/relationships/image" Target="../media/image103.png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tags" Target="../tags/tag87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2" Type="http://schemas.openxmlformats.org/officeDocument/2006/relationships/notesSlide" Target="../notesSlides/notesSlide29.xml"/><Relationship Id="rId21" Type="http://schemas.openxmlformats.org/officeDocument/2006/relationships/slideLayout" Target="../slideLayouts/slideLayout17.xml"/><Relationship Id="rId20" Type="http://schemas.openxmlformats.org/officeDocument/2006/relationships/tags" Target="../tags/tag115.xml"/><Relationship Id="rId2" Type="http://schemas.openxmlformats.org/officeDocument/2006/relationships/tags" Target="../tags/tag103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image" Target="../media/image13.svg"/><Relationship Id="rId14" Type="http://schemas.openxmlformats.org/officeDocument/2006/relationships/image" Target="../media/image12.png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image" Target="../media/image108.svg"/><Relationship Id="rId10" Type="http://schemas.openxmlformats.org/officeDocument/2006/relationships/image" Target="../media/image107.png"/><Relationship Id="rId1" Type="http://schemas.openxmlformats.org/officeDocument/2006/relationships/tags" Target="../tags/tag102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94.svg"/><Relationship Id="rId10" Type="http://schemas.openxmlformats.org/officeDocument/2006/relationships/notesSlide" Target="../notesSlides/notesSlide30.xml"/><Relationship Id="rId1" Type="http://schemas.openxmlformats.org/officeDocument/2006/relationships/image" Target="../media/image93.png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4" Type="http://schemas.openxmlformats.org/officeDocument/2006/relationships/notesSlide" Target="../notesSlides/notesSlide31.xml"/><Relationship Id="rId13" Type="http://schemas.openxmlformats.org/officeDocument/2006/relationships/slideLayout" Target="../slideLayouts/slideLayout17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tags" Target="../tags/tag116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16.svg"/><Relationship Id="rId1" Type="http://schemas.openxmlformats.org/officeDocument/2006/relationships/image" Target="../media/image115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7.wmf"/><Relationship Id="rId1" Type="http://schemas.openxmlformats.org/officeDocument/2006/relationships/oleObject" Target="../embeddings/oleObject4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9.png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image" Target="../media/image121.png"/><Relationship Id="rId3" Type="http://schemas.openxmlformats.org/officeDocument/2006/relationships/tags" Target="../tags/tag129.xml"/><Relationship Id="rId2" Type="http://schemas.openxmlformats.org/officeDocument/2006/relationships/image" Target="../media/image120.png"/><Relationship Id="rId1" Type="http://schemas.openxmlformats.org/officeDocument/2006/relationships/tags" Target="../tags/tag128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vmlDrawing" Target="../drawings/vmlDrawing4.v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24.png"/><Relationship Id="rId4" Type="http://schemas.openxmlformats.org/officeDocument/2006/relationships/image" Target="../media/image123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22.wmf"/><Relationship Id="rId1" Type="http://schemas.openxmlformats.org/officeDocument/2006/relationships/oleObject" Target="../embeddings/oleObject5.bin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27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25.wmf"/><Relationship Id="rId11" Type="http://schemas.openxmlformats.org/officeDocument/2006/relationships/notesSlide" Target="../notesSlides/notesSlide35.xml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7.bin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8.wmf"/><Relationship Id="rId1" Type="http://schemas.openxmlformats.org/officeDocument/2006/relationships/oleObject" Target="../embeddings/oleObject11.bin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9.png"/></Relationships>
</file>

<file path=ppt/slides/_rels/slide6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7.xml"/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31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30.wmf"/><Relationship Id="rId1" Type="http://schemas.openxmlformats.org/officeDocument/2006/relationships/oleObject" Target="../embeddings/oleObject12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2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33.wmf"/><Relationship Id="rId1" Type="http://schemas.openxmlformats.org/officeDocument/2006/relationships/oleObject" Target="../embeddings/oleObject14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png"/><Relationship Id="rId8" Type="http://schemas.openxmlformats.org/officeDocument/2006/relationships/image" Target="../media/image133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35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34.wmf"/><Relationship Id="rId16" Type="http://schemas.openxmlformats.org/officeDocument/2006/relationships/notesSlide" Target="../notesSlides/notesSlide39.xml"/><Relationship Id="rId15" Type="http://schemas.openxmlformats.org/officeDocument/2006/relationships/vmlDrawing" Target="../drawings/vmlDrawing9.v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139.wmf"/><Relationship Id="rId12" Type="http://schemas.openxmlformats.org/officeDocument/2006/relationships/oleObject" Target="../embeddings/oleObject20.bin"/><Relationship Id="rId11" Type="http://schemas.openxmlformats.org/officeDocument/2006/relationships/image" Target="../media/image138.wmf"/><Relationship Id="rId10" Type="http://schemas.openxmlformats.org/officeDocument/2006/relationships/oleObject" Target="../embeddings/oleObject19.bin"/><Relationship Id="rId1" Type="http://schemas.openxmlformats.org/officeDocument/2006/relationships/oleObject" Target="../embeddings/oleObject15.bin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41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140.wmf"/><Relationship Id="rId15" Type="http://schemas.openxmlformats.org/officeDocument/2006/relationships/comments" Target="../comments/comment1.xml"/><Relationship Id="rId14" Type="http://schemas.openxmlformats.org/officeDocument/2006/relationships/notesSlide" Target="../notesSlides/notesSlide40.xml"/><Relationship Id="rId13" Type="http://schemas.openxmlformats.org/officeDocument/2006/relationships/vmlDrawing" Target="../drawings/vmlDrawing10.v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44.png"/><Relationship Id="rId10" Type="http://schemas.openxmlformats.org/officeDocument/2006/relationships/image" Target="../media/image133.wmf"/><Relationship Id="rId1" Type="http://schemas.openxmlformats.org/officeDocument/2006/relationships/oleObject" Target="../embeddings/oleObject21.bin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1.v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26.bin"/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image" Target="../media/image14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5.png"/><Relationship Id="rId1" Type="http://schemas.openxmlformats.org/officeDocument/2006/relationships/image" Target="../media/image149.jpe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45.png"/><Relationship Id="rId2" Type="http://schemas.openxmlformats.org/officeDocument/2006/relationships/image" Target="../media/image151.png"/><Relationship Id="rId1" Type="http://schemas.openxmlformats.org/officeDocument/2006/relationships/image" Target="../media/image15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57.png"/><Relationship Id="rId4" Type="http://schemas.openxmlformats.org/officeDocument/2006/relationships/image" Target="../media/image156.png"/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image" Target="../media/image14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1.png"/><Relationship Id="rId1" Type="http://schemas.openxmlformats.org/officeDocument/2006/relationships/image" Target="../media/image160.png"/></Relationships>
</file>

<file path=ppt/slides/_rels/slide8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1.xml"/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163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162.wmf"/><Relationship Id="rId1" Type="http://schemas.openxmlformats.org/officeDocument/2006/relationships/oleObject" Target="../embeddings/oleObject27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5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7.png"/><Relationship Id="rId1" Type="http://schemas.openxmlformats.org/officeDocument/2006/relationships/image" Target="../media/image166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8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9.png"/></Relationships>
</file>

<file path=ppt/slides/_rels/slide9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wmf"/><Relationship Id="rId8" Type="http://schemas.openxmlformats.org/officeDocument/2006/relationships/oleObject" Target="../embeddings/oleObject33.bin"/><Relationship Id="rId7" Type="http://schemas.openxmlformats.org/officeDocument/2006/relationships/image" Target="../media/image169.png"/><Relationship Id="rId6" Type="http://schemas.openxmlformats.org/officeDocument/2006/relationships/image" Target="../media/image17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71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170.wmf"/><Relationship Id="rId11" Type="http://schemas.openxmlformats.org/officeDocument/2006/relationships/vmlDrawing" Target="../drawings/vmlDrawing13.vml"/><Relationship Id="rId10" Type="http://schemas.openxmlformats.org/officeDocument/2006/relationships/slideLayout" Target="../slideLayouts/slideLayout12.xml"/><Relationship Id="rId1" Type="http://schemas.openxmlformats.org/officeDocument/2006/relationships/oleObject" Target="../embeddings/oleObject30.bin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image" Target="../media/image174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7.wmf"/><Relationship Id="rId1" Type="http://schemas.openxmlformats.org/officeDocument/2006/relationships/oleObject" Target="../embeddings/oleObject34.bin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8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8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9.png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81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180.wmf"/><Relationship Id="rId1" Type="http://schemas.openxmlformats.org/officeDocument/2006/relationships/oleObject" Target="../embeddings/oleObject35.bin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2.wmf"/><Relationship Id="rId1" Type="http://schemas.openxmlformats.org/officeDocument/2006/relationships/oleObject" Target="../embeddings/oleObject37.bin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4.png"/><Relationship Id="rId1" Type="http://schemas.openxmlformats.org/officeDocument/2006/relationships/image" Target="../media/image183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5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/>
          <p:nvPr/>
        </p:nvSpPr>
        <p:spPr>
          <a:xfrm>
            <a:off x="2093595" y="2576195"/>
            <a:ext cx="5118735" cy="18002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0000"/>
              </a:lnSpc>
              <a:buNone/>
            </a:pPr>
            <a:r>
              <a:rPr lang="en-US" altLang="zh-CN" sz="2400" b="1" dirty="0">
                <a:solidFill>
                  <a:srgbClr val="00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endParaRPr lang="en-US" altLang="zh-CN" sz="2400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周杰英</a:t>
            </a:r>
            <a:endParaRPr lang="en-US" altLang="zh-CN" sz="2400" b="1" dirty="0">
              <a:solidFill>
                <a:srgbClr val="0033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0" lvl="0" indent="0" algn="ctr" eaLnBrk="1" hangingPunct="1">
              <a:lnSpc>
                <a:spcPct val="80000"/>
              </a:lnSpc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中山大学 计算机学院</a:t>
            </a:r>
            <a:endParaRPr lang="zh-CN" altLang="en-US" sz="28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ctr" eaLnBrk="1" hangingPunct="1">
              <a:lnSpc>
                <a:spcPct val="80000"/>
              </a:lnSpc>
              <a:buNone/>
            </a:pPr>
            <a:r>
              <a:rPr lang="en-US" altLang="en-US" sz="28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isszjy@mail.sysu.edu.cn</a:t>
            </a:r>
            <a:endParaRPr lang="zh-CN" altLang="en-US" sz="28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ctr" eaLnBrk="1" hangingPunct="1">
              <a:lnSpc>
                <a:spcPct val="80000"/>
              </a:lnSpc>
              <a:spcBef>
                <a:spcPts val="18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endParaRPr lang="zh-CN" altLang="en-US" sz="28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ctr" eaLnBrk="1" hangingPunct="1">
              <a:lnSpc>
                <a:spcPct val="80000"/>
              </a:lnSpc>
              <a:spcBef>
                <a:spcPts val="1800"/>
              </a:spcBef>
              <a:buNone/>
            </a:pPr>
            <a:r>
              <a:rPr lang="zh-CN" altLang="en-US" sz="28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endParaRPr lang="en-US" altLang="zh-CN" sz="28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algn="ctr" eaLnBrk="1" hangingPunct="1"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        </a:t>
            </a:r>
            <a:endParaRPr lang="en-US" altLang="zh-CN" sz="2000" b="1" dirty="0">
              <a:solidFill>
                <a:schemeClr val="bg2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algn="ctr" eaLnBrk="1" hangingPunct="1">
              <a:lnSpc>
                <a:spcPct val="80000"/>
              </a:lnSpc>
              <a:buNone/>
            </a:pPr>
            <a:endParaRPr lang="en-US" altLang="zh-CN" sz="2000" b="1" dirty="0">
              <a:solidFill>
                <a:schemeClr val="bg2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0" lvl="0" indent="0" algn="ctr" eaLnBrk="1" hangingPunct="1">
              <a:lnSpc>
                <a:spcPct val="80000"/>
              </a:lnSpc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                                  </a:t>
            </a:r>
            <a:endParaRPr lang="en-US" altLang="zh-CN" sz="2000" b="1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0" name="文本框 5"/>
          <p:cNvSpPr txBox="1"/>
          <p:nvPr/>
        </p:nvSpPr>
        <p:spPr>
          <a:xfrm>
            <a:off x="1258253" y="1103630"/>
            <a:ext cx="7200900" cy="57543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60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《</a:t>
            </a:r>
            <a:r>
              <a:rPr lang="zh-CN" altLang="en-US" sz="60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电路理论基础</a:t>
            </a:r>
            <a:r>
              <a:rPr lang="en-US" altLang="zh-CN" sz="60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》</a:t>
            </a:r>
            <a:endParaRPr lang="en-US" altLang="zh-CN" sz="60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4000" b="1" kern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onotype Corsiva" panose="03010101010201010101" pitchFamily="66" charset="0"/>
                <a:ea typeface="+mj-ea"/>
                <a:cs typeface="+mj-cs"/>
                <a:sym typeface="+mn-ea"/>
              </a:rPr>
              <a:t>----Fundamentals of Electric Circuit</a:t>
            </a:r>
            <a:endParaRPr lang="en-US" altLang="zh-CN" sz="6000" b="1" kern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otype Corsiva" panose="03010101010201010101" pitchFamily="66" charset="0"/>
              <a:ea typeface="+mj-ea"/>
              <a:cs typeface="+mj-cs"/>
              <a:sym typeface="+mn-ea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endParaRPr lang="en-US" altLang="zh-CN" sz="6000" b="1" kern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otype Corsiva" panose="03010101010201010101" pitchFamily="66" charset="0"/>
              <a:ea typeface="+mj-ea"/>
              <a:cs typeface="+mj-cs"/>
              <a:sym typeface="+mn-ea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endParaRPr lang="en-US" altLang="zh-CN" sz="6000" b="1" kern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otype Corsiva" panose="03010101010201010101" pitchFamily="66" charset="0"/>
              <a:ea typeface="+mj-ea"/>
              <a:cs typeface="+mj-cs"/>
              <a:sym typeface="+mn-ea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endParaRPr lang="en-US" altLang="zh-CN" sz="6000" b="1" kern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otype Corsiva" panose="03010101010201010101" pitchFamily="66" charset="0"/>
              <a:ea typeface="+mj-ea"/>
              <a:cs typeface="+mj-cs"/>
              <a:sym typeface="+mn-ea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endParaRPr lang="en-US" altLang="zh-CN" sz="6000" b="1" kern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onotype Corsiva" panose="03010101010201010101" pitchFamily="66" charset="0"/>
              <a:ea typeface="+mj-ea"/>
              <a:cs typeface="+mj-cs"/>
              <a:sym typeface="+mn-ea"/>
            </a:endParaRPr>
          </a:p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br>
              <a:rPr lang="en-US" altLang="zh-CN" sz="6000" b="1" kern="0" noProof="0" dirty="0">
                <a:ln>
                  <a:noFill/>
                </a:ln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  <a:sym typeface="+mn-ea"/>
              </a:rPr>
            </a:br>
            <a:endParaRPr lang="en-US" altLang="zh-CN" sz="60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01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电路理论基础（2026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558800"/>
            <a:ext cx="3810000" cy="5740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330391" y="997055"/>
            <a:ext cx="7445375" cy="4193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1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一、什么是电路（</a:t>
            </a:r>
            <a:r>
              <a:rPr sz="2400" b="1" i="1" kern="0" spc="-10" dirty="0">
                <a:solidFill>
                  <a:srgbClr val="CC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circui</a:t>
            </a:r>
            <a:r>
              <a:rPr sz="2400" b="1" i="1" kern="0" spc="-20" dirty="0">
                <a:solidFill>
                  <a:srgbClr val="CC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ts</a:t>
            </a:r>
            <a:r>
              <a:rPr sz="2400" b="1" kern="0" spc="-2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400" kern="0" spc="6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2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86000"/>
              </a:lnSpc>
              <a:spcBef>
                <a:spcPts val="720"/>
              </a:spcBef>
            </a:pP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电路是由若干</a:t>
            </a:r>
            <a:r>
              <a:rPr sz="2400" b="1" kern="0" spc="-8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电气元件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相互连接构成的</a:t>
            </a:r>
            <a:r>
              <a:rPr sz="2400" b="1" kern="0" spc="-9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电流的通路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1340" algn="l" rtl="0" eaLnBrk="0" fontAlgn="auto" hangingPunct="1">
              <a:lnSpc>
                <a:spcPct val="86000"/>
              </a:lnSpc>
              <a:spcBef>
                <a:spcPts val="720"/>
              </a:spcBef>
            </a:pPr>
            <a:r>
              <a:rPr sz="2400" b="1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本课程主要接触的电气元</a:t>
            </a:r>
            <a:r>
              <a:rPr sz="2400" b="1" kern="0" spc="-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件有：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0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3420" indent="13970" algn="l" rtl="0" eaLnBrk="0" fontAlgn="auto" hangingPunct="1">
              <a:lnSpc>
                <a:spcPct val="93000"/>
              </a:lnSpc>
              <a:spcBef>
                <a:spcPts val="5"/>
              </a:spcBef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电阻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、电容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、电感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、二极管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b="1" kern="0" spc="-3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MOSFET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lang="zh-CN"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cs typeface="Times New Roman" panose="02020603050405020304"/>
              </a:rPr>
              <a:t>（场效应管）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、理想运算放大器、互感线圈、理想变压器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490791" y="581901"/>
            <a:ext cx="8109584" cy="4355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11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二、为什么要学习电路？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0990" algn="l" rtl="0" eaLnBrk="0" fontAlgn="auto" hangingPunct="1">
              <a:lnSpc>
                <a:spcPct val="86000"/>
              </a:lnSpc>
              <a:spcBef>
                <a:spcPts val="730"/>
              </a:spcBef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从学术的观点来看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1680" algn="l" rtl="0" eaLnBrk="0" fontAlgn="auto" hangingPunct="1">
              <a:lnSpc>
                <a:spcPts val="3345"/>
              </a:lnSpc>
              <a:spcBef>
                <a:spcPts val="725"/>
              </a:spcBef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–</a:t>
            </a:r>
            <a:r>
              <a:rPr sz="2400" kern="0" spc="6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电路是电气工程（</a:t>
            </a:r>
            <a:r>
              <a:rPr sz="2400" b="1" i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ele</a:t>
            </a:r>
            <a:r>
              <a:rPr sz="2400" b="1" i="1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ctrical engineering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）的基础。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741680" algn="l" rtl="0" eaLnBrk="0" fontAlgn="auto" hangingPunct="1">
              <a:lnSpc>
                <a:spcPts val="3345"/>
              </a:lnSpc>
              <a:spcBef>
                <a:spcPts val="1550"/>
              </a:spcBef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–  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电路是计算机科学（</a:t>
            </a:r>
            <a:r>
              <a:rPr sz="2400" kern="0" spc="-6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i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computer science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）的基础。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0990" algn="l" rtl="0" eaLnBrk="0" fontAlgn="auto" hangingPunct="1">
              <a:lnSpc>
                <a:spcPct val="86000"/>
              </a:lnSpc>
              <a:spcBef>
                <a:spcPts val="725"/>
              </a:spcBef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从实际情况来看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1680" algn="l" rtl="0" eaLnBrk="0" fontAlgn="auto" hangingPunct="1">
              <a:lnSpc>
                <a:spcPct val="86000"/>
              </a:lnSpc>
              <a:spcBef>
                <a:spcPts val="730"/>
              </a:spcBef>
            </a:pP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–  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电路原理是许多高</a:t>
            </a:r>
            <a:r>
              <a:rPr sz="2400" b="1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级课程的先修课程。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1680" algn="l" rtl="0" eaLnBrk="0" fontAlgn="auto" hangingPunct="1">
              <a:lnSpc>
                <a:spcPct val="86000"/>
              </a:lnSpc>
            </a:pPr>
            <a:r>
              <a:rPr sz="24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–</a:t>
            </a:r>
            <a:r>
              <a:rPr sz="2400" kern="0" spc="3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熟练掌握电路原理对现实生活有帮助。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677861" y="866775"/>
          <a:ext cx="7645400" cy="3365500"/>
        </p:xfrm>
        <a:graphic>
          <a:graphicData uri="http://schemas.openxmlformats.org/drawingml/2006/table">
            <a:tbl>
              <a:tblPr/>
              <a:tblGrid>
                <a:gridCol w="3039745"/>
                <a:gridCol w="998855"/>
                <a:gridCol w="1047750"/>
                <a:gridCol w="2559050"/>
              </a:tblGrid>
              <a:tr h="615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130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国内习惯的归类与统称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941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各学科领域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256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国外习惯的归类与统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157605" algn="l" rtl="0" eaLnBrk="0">
                        <a:lnSpc>
                          <a:spcPct val="88000"/>
                        </a:lnSpc>
                        <a:spcBef>
                          <a:spcPts val="300"/>
                        </a:spcBef>
                      </a:pPr>
                      <a:r>
                        <a:rPr sz="1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称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5283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电气工程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308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电力工程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581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电气工程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信息科学与技术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75260" algn="l" rtl="0" eaLnBrk="0">
                        <a:lnSpc>
                          <a:spcPct val="94000"/>
                        </a:lnSpc>
                        <a:spcBef>
                          <a:spcPts val="395"/>
                        </a:spcBef>
                      </a:pPr>
                      <a:r>
                        <a:rPr sz="1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1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或电子信息科学与技术</a:t>
                      </a:r>
                      <a:r>
                        <a:rPr sz="1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endParaRPr sz="1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260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控制工程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324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通信工程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308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电子工程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9460" algn="l" rtl="0" eaLnBrk="0">
                        <a:lnSpc>
                          <a:spcPts val="385"/>
                        </a:lnSpc>
                        <a:spcBef>
                          <a:spcPts val="0"/>
                        </a:spcBef>
                      </a:pP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…</a:t>
                      </a:r>
                      <a:r>
                        <a:rPr sz="1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…</a:t>
                      </a:r>
                      <a:endParaRPr sz="1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 v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70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计算机科学与技术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897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计算机科学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648970" algn="l" rtl="0" eaLnBrk="0">
                        <a:lnSpc>
                          <a:spcPct val="88000"/>
                        </a:lnSpc>
                        <a:spcBef>
                          <a:spcPts val="395"/>
                        </a:spcBef>
                      </a:pPr>
                      <a:r>
                        <a:rPr sz="19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计算机工程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59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1365" indent="-254635" algn="l" rtl="0" eaLnBrk="0">
                        <a:lnSpc>
                          <a:spcPct val="98000"/>
                        </a:lnSpc>
                      </a:pPr>
                      <a:r>
                        <a:rPr sz="1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统称：电气工程与信息科学</a:t>
                      </a:r>
                      <a:r>
                        <a:rPr sz="1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</a:t>
                      </a:r>
                      <a:r>
                        <a:rPr sz="1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（或电气电子信息科学）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6845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统称：电气工程与计算机科学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697230" algn="l" rtl="0" eaLnBrk="0">
                        <a:lnSpc>
                          <a:spcPct val="88000"/>
                        </a:lnSpc>
                        <a:spcBef>
                          <a:spcPts val="395"/>
                        </a:spcBef>
                      </a:pPr>
                      <a:r>
                        <a:rPr sz="1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（简称</a:t>
                      </a:r>
                      <a:r>
                        <a:rPr sz="1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EECS</a:t>
                      </a:r>
                      <a:r>
                        <a:rPr sz="1900" b="1" kern="0" spc="-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、</a:t>
                      </a:r>
                      <a:r>
                        <a:rPr sz="1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ECE</a:t>
                      </a:r>
                      <a:r>
                        <a:rPr sz="1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sz="19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box 18"/>
          <p:cNvSpPr/>
          <p:nvPr/>
        </p:nvSpPr>
        <p:spPr>
          <a:xfrm>
            <a:off x="341452" y="402513"/>
            <a:ext cx="2486025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86000"/>
              </a:lnSpc>
            </a:pPr>
            <a:r>
              <a:rPr sz="2400" b="1" kern="0" spc="-14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三、什么是</a:t>
            </a:r>
            <a:r>
              <a:rPr sz="2400" b="1" kern="0" spc="-140" dirty="0">
                <a:solidFill>
                  <a:srgbClr val="CC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EECS</a:t>
            </a:r>
            <a:r>
              <a:rPr sz="2400" b="1" kern="0" spc="-14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？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658830" y="941854"/>
            <a:ext cx="6755130" cy="3554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13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四、电路都有哪些作用？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3245" algn="l" rtl="0" eaLnBrk="0" fontAlgn="auto" hangingPunct="1">
              <a:lnSpc>
                <a:spcPct val="86000"/>
              </a:lnSpc>
              <a:spcBef>
                <a:spcPts val="725"/>
              </a:spcBef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处理能量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003935" algn="l" rtl="0" eaLnBrk="0" fontAlgn="auto" hangingPunct="1">
              <a:lnSpc>
                <a:spcPct val="86000"/>
              </a:lnSpc>
              <a:spcBef>
                <a:spcPts val="990"/>
              </a:spcBef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–</a:t>
            </a:r>
            <a:r>
              <a:rPr sz="2400" kern="0" spc="6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电能的产生、传输、分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配……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63245" algn="l" rtl="0" eaLnBrk="0" fontAlgn="auto" hangingPunct="1">
              <a:lnSpc>
                <a:spcPct val="86000"/>
              </a:lnSpc>
              <a:spcBef>
                <a:spcPts val="960"/>
              </a:spcBef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   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处理信号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003935" algn="l" rtl="0" eaLnBrk="0" fontAlgn="auto" hangingPunct="1">
              <a:lnSpc>
                <a:spcPct val="86000"/>
              </a:lnSpc>
              <a:spcBef>
                <a:spcPts val="1000"/>
              </a:spcBef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–</a:t>
            </a:r>
            <a:r>
              <a:rPr sz="2400" kern="0" spc="6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电信号的获得、变换、放大</a:t>
            </a:r>
            <a:r>
              <a:rPr sz="2400" kern="0" spc="-8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……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36270" algn="l" rtl="0" eaLnBrk="0" fontAlgn="auto" hangingPunct="1">
              <a:lnSpc>
                <a:spcPct val="86000"/>
              </a:lnSpc>
              <a:spcBef>
                <a:spcPts val="725"/>
              </a:spcBef>
            </a:pP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同时处理信号和能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3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86000"/>
              </a:lnSpc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–</a:t>
            </a: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天线、CPU及其供电系统、智能电网…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…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42876" y="1364065"/>
            <a:ext cx="7129205" cy="3733819"/>
            <a:chOff x="0" y="0"/>
            <a:chExt cx="7129205" cy="3733819"/>
          </a:xfrm>
        </p:grpSpPr>
        <p:sp>
          <p:nvSpPr>
            <p:cNvPr id="22" name="path 22"/>
            <p:cNvSpPr/>
            <p:nvPr/>
          </p:nvSpPr>
          <p:spPr>
            <a:xfrm>
              <a:off x="0" y="0"/>
              <a:ext cx="7129205" cy="3733819"/>
            </a:xfrm>
            <a:custGeom>
              <a:avLst/>
              <a:gdLst/>
              <a:ahLst/>
              <a:cxnLst/>
              <a:rect l="0" t="0" r="0" b="0"/>
              <a:pathLst>
                <a:path w="11227" h="5880">
                  <a:moveTo>
                    <a:pt x="20" y="161"/>
                  </a:moveTo>
                  <a:cubicBezTo>
                    <a:pt x="20" y="83"/>
                    <a:pt x="83" y="20"/>
                    <a:pt x="161" y="20"/>
                  </a:cubicBezTo>
                  <a:lnTo>
                    <a:pt x="1635" y="20"/>
                  </a:lnTo>
                  <a:cubicBezTo>
                    <a:pt x="1714" y="20"/>
                    <a:pt x="1777" y="83"/>
                    <a:pt x="1777" y="161"/>
                  </a:cubicBezTo>
                  <a:lnTo>
                    <a:pt x="1777" y="728"/>
                  </a:lnTo>
                  <a:cubicBezTo>
                    <a:pt x="1777" y="807"/>
                    <a:pt x="1714" y="870"/>
                    <a:pt x="1635" y="870"/>
                  </a:cubicBezTo>
                  <a:lnTo>
                    <a:pt x="161" y="870"/>
                  </a:lnTo>
                  <a:cubicBezTo>
                    <a:pt x="83" y="870"/>
                    <a:pt x="20" y="807"/>
                    <a:pt x="20" y="728"/>
                  </a:cubicBezTo>
                  <a:lnTo>
                    <a:pt x="20" y="161"/>
                  </a:lnTo>
                  <a:close/>
                </a:path>
                <a:path w="11227" h="5880">
                  <a:moveTo>
                    <a:pt x="2628" y="161"/>
                  </a:moveTo>
                  <a:cubicBezTo>
                    <a:pt x="2628" y="83"/>
                    <a:pt x="2691" y="20"/>
                    <a:pt x="2769" y="20"/>
                  </a:cubicBezTo>
                  <a:lnTo>
                    <a:pt x="4754" y="20"/>
                  </a:lnTo>
                  <a:cubicBezTo>
                    <a:pt x="4832" y="20"/>
                    <a:pt x="4896" y="83"/>
                    <a:pt x="4896" y="161"/>
                  </a:cubicBezTo>
                  <a:lnTo>
                    <a:pt x="4896" y="728"/>
                  </a:lnTo>
                  <a:cubicBezTo>
                    <a:pt x="4896" y="807"/>
                    <a:pt x="4832" y="870"/>
                    <a:pt x="4754" y="870"/>
                  </a:cubicBezTo>
                  <a:lnTo>
                    <a:pt x="2769" y="870"/>
                  </a:lnTo>
                  <a:cubicBezTo>
                    <a:pt x="2691" y="870"/>
                    <a:pt x="2628" y="807"/>
                    <a:pt x="2628" y="728"/>
                  </a:cubicBezTo>
                  <a:lnTo>
                    <a:pt x="2628" y="161"/>
                  </a:lnTo>
                  <a:close/>
                </a:path>
                <a:path w="11227" h="5880">
                  <a:moveTo>
                    <a:pt x="5519" y="161"/>
                  </a:moveTo>
                  <a:cubicBezTo>
                    <a:pt x="5519" y="83"/>
                    <a:pt x="5583" y="20"/>
                    <a:pt x="5661" y="20"/>
                  </a:cubicBezTo>
                  <a:lnTo>
                    <a:pt x="7646" y="20"/>
                  </a:lnTo>
                  <a:cubicBezTo>
                    <a:pt x="7724" y="20"/>
                    <a:pt x="7787" y="83"/>
                    <a:pt x="7787" y="161"/>
                  </a:cubicBezTo>
                  <a:lnTo>
                    <a:pt x="7787" y="728"/>
                  </a:lnTo>
                  <a:cubicBezTo>
                    <a:pt x="7787" y="807"/>
                    <a:pt x="7724" y="870"/>
                    <a:pt x="7646" y="870"/>
                  </a:cubicBezTo>
                  <a:lnTo>
                    <a:pt x="5661" y="870"/>
                  </a:lnTo>
                  <a:cubicBezTo>
                    <a:pt x="5583" y="870"/>
                    <a:pt x="5519" y="807"/>
                    <a:pt x="5519" y="728"/>
                  </a:cubicBezTo>
                  <a:lnTo>
                    <a:pt x="5519" y="161"/>
                  </a:lnTo>
                  <a:close/>
                </a:path>
                <a:path w="11227" h="5880">
                  <a:moveTo>
                    <a:pt x="8921" y="223"/>
                  </a:moveTo>
                  <a:cubicBezTo>
                    <a:pt x="8921" y="145"/>
                    <a:pt x="8985" y="82"/>
                    <a:pt x="9063" y="82"/>
                  </a:cubicBezTo>
                  <a:lnTo>
                    <a:pt x="11047" y="82"/>
                  </a:lnTo>
                  <a:cubicBezTo>
                    <a:pt x="11126" y="82"/>
                    <a:pt x="11189" y="145"/>
                    <a:pt x="11189" y="223"/>
                  </a:cubicBezTo>
                  <a:lnTo>
                    <a:pt x="11189" y="790"/>
                  </a:lnTo>
                  <a:cubicBezTo>
                    <a:pt x="11189" y="869"/>
                    <a:pt x="11126" y="932"/>
                    <a:pt x="11047" y="932"/>
                  </a:cubicBezTo>
                  <a:lnTo>
                    <a:pt x="9063" y="932"/>
                  </a:lnTo>
                  <a:cubicBezTo>
                    <a:pt x="8985" y="932"/>
                    <a:pt x="8921" y="869"/>
                    <a:pt x="8921" y="790"/>
                  </a:cubicBezTo>
                  <a:lnTo>
                    <a:pt x="8921" y="223"/>
                  </a:lnTo>
                  <a:close/>
                </a:path>
                <a:path w="11227" h="5880">
                  <a:moveTo>
                    <a:pt x="8935" y="1862"/>
                  </a:moveTo>
                  <a:cubicBezTo>
                    <a:pt x="8935" y="1784"/>
                    <a:pt x="8998" y="1720"/>
                    <a:pt x="9076" y="1720"/>
                  </a:cubicBezTo>
                  <a:lnTo>
                    <a:pt x="11061" y="1720"/>
                  </a:lnTo>
                  <a:cubicBezTo>
                    <a:pt x="11139" y="1720"/>
                    <a:pt x="11203" y="1784"/>
                    <a:pt x="11203" y="1862"/>
                  </a:cubicBezTo>
                  <a:lnTo>
                    <a:pt x="11203" y="2429"/>
                  </a:lnTo>
                  <a:cubicBezTo>
                    <a:pt x="11203" y="2508"/>
                    <a:pt x="11139" y="2571"/>
                    <a:pt x="11061" y="2571"/>
                  </a:cubicBezTo>
                  <a:lnTo>
                    <a:pt x="9076" y="2571"/>
                  </a:lnTo>
                  <a:cubicBezTo>
                    <a:pt x="8998" y="2571"/>
                    <a:pt x="8935" y="2508"/>
                    <a:pt x="8935" y="2429"/>
                  </a:cubicBezTo>
                  <a:lnTo>
                    <a:pt x="8935" y="1862"/>
                  </a:lnTo>
                  <a:close/>
                </a:path>
                <a:path w="11227" h="5880">
                  <a:moveTo>
                    <a:pt x="8935" y="3507"/>
                  </a:moveTo>
                  <a:cubicBezTo>
                    <a:pt x="8935" y="3428"/>
                    <a:pt x="8998" y="3365"/>
                    <a:pt x="9076" y="3365"/>
                  </a:cubicBezTo>
                  <a:lnTo>
                    <a:pt x="11061" y="3365"/>
                  </a:lnTo>
                  <a:cubicBezTo>
                    <a:pt x="11139" y="3365"/>
                    <a:pt x="11203" y="3428"/>
                    <a:pt x="11203" y="3507"/>
                  </a:cubicBezTo>
                  <a:lnTo>
                    <a:pt x="11203" y="4073"/>
                  </a:lnTo>
                  <a:cubicBezTo>
                    <a:pt x="11203" y="4152"/>
                    <a:pt x="11139" y="4215"/>
                    <a:pt x="11061" y="4215"/>
                  </a:cubicBezTo>
                  <a:lnTo>
                    <a:pt x="9076" y="4215"/>
                  </a:lnTo>
                  <a:cubicBezTo>
                    <a:pt x="8998" y="4215"/>
                    <a:pt x="8935" y="4152"/>
                    <a:pt x="8935" y="4073"/>
                  </a:cubicBezTo>
                  <a:lnTo>
                    <a:pt x="8935" y="3507"/>
                  </a:lnTo>
                  <a:close/>
                </a:path>
                <a:path w="11227" h="5880">
                  <a:moveTo>
                    <a:pt x="8939" y="5151"/>
                  </a:moveTo>
                  <a:cubicBezTo>
                    <a:pt x="8939" y="5073"/>
                    <a:pt x="9002" y="5009"/>
                    <a:pt x="9080" y="5009"/>
                  </a:cubicBezTo>
                  <a:lnTo>
                    <a:pt x="11065" y="5009"/>
                  </a:lnTo>
                  <a:cubicBezTo>
                    <a:pt x="11143" y="5009"/>
                    <a:pt x="11207" y="5073"/>
                    <a:pt x="11207" y="5151"/>
                  </a:cubicBezTo>
                  <a:lnTo>
                    <a:pt x="11207" y="5718"/>
                  </a:lnTo>
                  <a:cubicBezTo>
                    <a:pt x="11207" y="5796"/>
                    <a:pt x="11143" y="5860"/>
                    <a:pt x="11065" y="5860"/>
                  </a:cubicBezTo>
                  <a:lnTo>
                    <a:pt x="9080" y="5860"/>
                  </a:lnTo>
                  <a:cubicBezTo>
                    <a:pt x="9002" y="5860"/>
                    <a:pt x="8939" y="5796"/>
                    <a:pt x="8939" y="5718"/>
                  </a:cubicBezTo>
                  <a:lnTo>
                    <a:pt x="8939" y="5151"/>
                  </a:lnTo>
                  <a:close/>
                </a:path>
              </a:pathLst>
            </a:custGeom>
            <a:solidFill>
              <a:srgbClr val="333399">
                <a:alpha val="100000"/>
              </a:srgbClr>
            </a:solidFill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4" name="path 24"/>
            <p:cNvSpPr/>
            <p:nvPr/>
          </p:nvSpPr>
          <p:spPr>
            <a:xfrm>
              <a:off x="1236835" y="183725"/>
              <a:ext cx="288036" cy="198018"/>
            </a:xfrm>
            <a:custGeom>
              <a:avLst/>
              <a:gdLst/>
              <a:ahLst/>
              <a:cxnLst/>
              <a:rect l="0" t="0" r="0" b="0"/>
              <a:pathLst>
                <a:path w="453" h="311">
                  <a:moveTo>
                    <a:pt x="0" y="77"/>
                  </a:moveTo>
                  <a:lnTo>
                    <a:pt x="297" y="77"/>
                  </a:lnTo>
                  <a:lnTo>
                    <a:pt x="297" y="0"/>
                  </a:lnTo>
                  <a:lnTo>
                    <a:pt x="453" y="155"/>
                  </a:lnTo>
                  <a:lnTo>
                    <a:pt x="297" y="311"/>
                  </a:lnTo>
                  <a:lnTo>
                    <a:pt x="297" y="233"/>
                  </a:lnTo>
                  <a:lnTo>
                    <a:pt x="0" y="233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6" name="path 26"/>
            <p:cNvSpPr/>
            <p:nvPr/>
          </p:nvSpPr>
          <p:spPr>
            <a:xfrm>
              <a:off x="1224135" y="174745"/>
              <a:ext cx="309716" cy="215978"/>
            </a:xfrm>
            <a:custGeom>
              <a:avLst/>
              <a:gdLst/>
              <a:ahLst/>
              <a:cxnLst/>
              <a:rect l="0" t="0" r="0" b="0"/>
              <a:pathLst>
                <a:path w="487" h="340">
                  <a:moveTo>
                    <a:pt x="20" y="92"/>
                  </a:moveTo>
                  <a:lnTo>
                    <a:pt x="317" y="92"/>
                  </a:lnTo>
                  <a:lnTo>
                    <a:pt x="317" y="14"/>
                  </a:lnTo>
                  <a:lnTo>
                    <a:pt x="473" y="170"/>
                  </a:lnTo>
                  <a:lnTo>
                    <a:pt x="317" y="325"/>
                  </a:lnTo>
                  <a:lnTo>
                    <a:pt x="317" y="248"/>
                  </a:lnTo>
                  <a:lnTo>
                    <a:pt x="20" y="248"/>
                  </a:lnTo>
                  <a:lnTo>
                    <a:pt x="20" y="9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8" name="path 28"/>
            <p:cNvSpPr/>
            <p:nvPr/>
          </p:nvSpPr>
          <p:spPr>
            <a:xfrm>
              <a:off x="3217055" y="223191"/>
              <a:ext cx="288035" cy="198018"/>
            </a:xfrm>
            <a:custGeom>
              <a:avLst/>
              <a:gdLst/>
              <a:ahLst/>
              <a:cxnLst/>
              <a:rect l="0" t="0" r="0" b="0"/>
              <a:pathLst>
                <a:path w="453" h="311">
                  <a:moveTo>
                    <a:pt x="0" y="77"/>
                  </a:moveTo>
                  <a:lnTo>
                    <a:pt x="297" y="77"/>
                  </a:lnTo>
                  <a:lnTo>
                    <a:pt x="297" y="0"/>
                  </a:lnTo>
                  <a:lnTo>
                    <a:pt x="453" y="155"/>
                  </a:lnTo>
                  <a:lnTo>
                    <a:pt x="297" y="311"/>
                  </a:lnTo>
                  <a:lnTo>
                    <a:pt x="297" y="233"/>
                  </a:lnTo>
                  <a:lnTo>
                    <a:pt x="0" y="233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0" name="path 30"/>
            <p:cNvSpPr/>
            <p:nvPr/>
          </p:nvSpPr>
          <p:spPr>
            <a:xfrm>
              <a:off x="3204355" y="214211"/>
              <a:ext cx="309716" cy="215978"/>
            </a:xfrm>
            <a:custGeom>
              <a:avLst/>
              <a:gdLst/>
              <a:ahLst/>
              <a:cxnLst/>
              <a:rect l="0" t="0" r="0" b="0"/>
              <a:pathLst>
                <a:path w="487" h="340">
                  <a:moveTo>
                    <a:pt x="20" y="92"/>
                  </a:moveTo>
                  <a:lnTo>
                    <a:pt x="317" y="92"/>
                  </a:lnTo>
                  <a:lnTo>
                    <a:pt x="317" y="14"/>
                  </a:lnTo>
                  <a:lnTo>
                    <a:pt x="473" y="170"/>
                  </a:lnTo>
                  <a:lnTo>
                    <a:pt x="317" y="325"/>
                  </a:lnTo>
                  <a:lnTo>
                    <a:pt x="317" y="248"/>
                  </a:lnTo>
                  <a:lnTo>
                    <a:pt x="20" y="248"/>
                  </a:lnTo>
                  <a:lnTo>
                    <a:pt x="20" y="9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2" name="path 32"/>
            <p:cNvSpPr/>
            <p:nvPr/>
          </p:nvSpPr>
          <p:spPr>
            <a:xfrm>
              <a:off x="5161270" y="237115"/>
              <a:ext cx="288035" cy="198018"/>
            </a:xfrm>
            <a:custGeom>
              <a:avLst/>
              <a:gdLst/>
              <a:ahLst/>
              <a:cxnLst/>
              <a:rect l="0" t="0" r="0" b="0"/>
              <a:pathLst>
                <a:path w="453" h="311">
                  <a:moveTo>
                    <a:pt x="0" y="77"/>
                  </a:moveTo>
                  <a:lnTo>
                    <a:pt x="297" y="77"/>
                  </a:lnTo>
                  <a:lnTo>
                    <a:pt x="297" y="0"/>
                  </a:lnTo>
                  <a:lnTo>
                    <a:pt x="453" y="155"/>
                  </a:lnTo>
                  <a:lnTo>
                    <a:pt x="297" y="311"/>
                  </a:lnTo>
                  <a:lnTo>
                    <a:pt x="297" y="233"/>
                  </a:lnTo>
                  <a:lnTo>
                    <a:pt x="0" y="233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4" name="path 34"/>
            <p:cNvSpPr/>
            <p:nvPr/>
          </p:nvSpPr>
          <p:spPr>
            <a:xfrm>
              <a:off x="5148570" y="228135"/>
              <a:ext cx="309716" cy="215978"/>
            </a:xfrm>
            <a:custGeom>
              <a:avLst/>
              <a:gdLst/>
              <a:ahLst/>
              <a:cxnLst/>
              <a:rect l="0" t="0" r="0" b="0"/>
              <a:pathLst>
                <a:path w="487" h="340">
                  <a:moveTo>
                    <a:pt x="20" y="92"/>
                  </a:moveTo>
                  <a:lnTo>
                    <a:pt x="317" y="92"/>
                  </a:lnTo>
                  <a:lnTo>
                    <a:pt x="317" y="14"/>
                  </a:lnTo>
                  <a:lnTo>
                    <a:pt x="473" y="170"/>
                  </a:lnTo>
                  <a:lnTo>
                    <a:pt x="317" y="325"/>
                  </a:lnTo>
                  <a:lnTo>
                    <a:pt x="317" y="248"/>
                  </a:lnTo>
                  <a:lnTo>
                    <a:pt x="20" y="248"/>
                  </a:lnTo>
                  <a:lnTo>
                    <a:pt x="20" y="9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6" name="path 36"/>
            <p:cNvSpPr/>
            <p:nvPr/>
          </p:nvSpPr>
          <p:spPr>
            <a:xfrm>
              <a:off x="6313399" y="592232"/>
              <a:ext cx="216027" cy="392582"/>
            </a:xfrm>
            <a:custGeom>
              <a:avLst/>
              <a:gdLst/>
              <a:ahLst/>
              <a:cxnLst/>
              <a:rect l="0" t="0" r="0" b="0"/>
              <a:pathLst>
                <a:path w="340" h="618">
                  <a:moveTo>
                    <a:pt x="0" y="448"/>
                  </a:moveTo>
                  <a:lnTo>
                    <a:pt x="85" y="448"/>
                  </a:lnTo>
                  <a:lnTo>
                    <a:pt x="85" y="0"/>
                  </a:lnTo>
                  <a:lnTo>
                    <a:pt x="255" y="0"/>
                  </a:lnTo>
                  <a:lnTo>
                    <a:pt x="255" y="448"/>
                  </a:lnTo>
                  <a:lnTo>
                    <a:pt x="340" y="448"/>
                  </a:lnTo>
                  <a:lnTo>
                    <a:pt x="170" y="618"/>
                  </a:lnTo>
                  <a:lnTo>
                    <a:pt x="0" y="44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8" name="path 38"/>
            <p:cNvSpPr/>
            <p:nvPr/>
          </p:nvSpPr>
          <p:spPr>
            <a:xfrm>
              <a:off x="6304419" y="579532"/>
              <a:ext cx="233987" cy="414262"/>
            </a:xfrm>
            <a:custGeom>
              <a:avLst/>
              <a:gdLst/>
              <a:ahLst/>
              <a:cxnLst/>
              <a:rect l="0" t="0" r="0" b="0"/>
              <a:pathLst>
                <a:path w="368" h="652">
                  <a:moveTo>
                    <a:pt x="14" y="468"/>
                  </a:moveTo>
                  <a:lnTo>
                    <a:pt x="99" y="468"/>
                  </a:lnTo>
                  <a:lnTo>
                    <a:pt x="99" y="20"/>
                  </a:lnTo>
                  <a:lnTo>
                    <a:pt x="269" y="20"/>
                  </a:lnTo>
                  <a:lnTo>
                    <a:pt x="269" y="468"/>
                  </a:lnTo>
                  <a:lnTo>
                    <a:pt x="354" y="468"/>
                  </a:lnTo>
                  <a:lnTo>
                    <a:pt x="184" y="638"/>
                  </a:lnTo>
                  <a:lnTo>
                    <a:pt x="14" y="468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0" name="path 40"/>
            <p:cNvSpPr/>
            <p:nvPr/>
          </p:nvSpPr>
          <p:spPr>
            <a:xfrm>
              <a:off x="6349227" y="1666947"/>
              <a:ext cx="216027" cy="392582"/>
            </a:xfrm>
            <a:custGeom>
              <a:avLst/>
              <a:gdLst/>
              <a:ahLst/>
              <a:cxnLst/>
              <a:rect l="0" t="0" r="0" b="0"/>
              <a:pathLst>
                <a:path w="340" h="618">
                  <a:moveTo>
                    <a:pt x="0" y="448"/>
                  </a:moveTo>
                  <a:lnTo>
                    <a:pt x="85" y="448"/>
                  </a:lnTo>
                  <a:lnTo>
                    <a:pt x="85" y="0"/>
                  </a:lnTo>
                  <a:lnTo>
                    <a:pt x="255" y="0"/>
                  </a:lnTo>
                  <a:lnTo>
                    <a:pt x="255" y="448"/>
                  </a:lnTo>
                  <a:lnTo>
                    <a:pt x="340" y="448"/>
                  </a:lnTo>
                  <a:lnTo>
                    <a:pt x="170" y="618"/>
                  </a:lnTo>
                  <a:lnTo>
                    <a:pt x="0" y="44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2" name="path 42"/>
            <p:cNvSpPr/>
            <p:nvPr/>
          </p:nvSpPr>
          <p:spPr>
            <a:xfrm>
              <a:off x="6340247" y="1654247"/>
              <a:ext cx="233987" cy="414262"/>
            </a:xfrm>
            <a:custGeom>
              <a:avLst/>
              <a:gdLst/>
              <a:ahLst/>
              <a:cxnLst/>
              <a:rect l="0" t="0" r="0" b="0"/>
              <a:pathLst>
                <a:path w="368" h="652">
                  <a:moveTo>
                    <a:pt x="14" y="468"/>
                  </a:moveTo>
                  <a:lnTo>
                    <a:pt x="99" y="468"/>
                  </a:lnTo>
                  <a:lnTo>
                    <a:pt x="99" y="20"/>
                  </a:lnTo>
                  <a:lnTo>
                    <a:pt x="269" y="20"/>
                  </a:lnTo>
                  <a:lnTo>
                    <a:pt x="269" y="468"/>
                  </a:lnTo>
                  <a:lnTo>
                    <a:pt x="354" y="468"/>
                  </a:lnTo>
                  <a:lnTo>
                    <a:pt x="184" y="638"/>
                  </a:lnTo>
                  <a:lnTo>
                    <a:pt x="14" y="468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4" name="path 44"/>
            <p:cNvSpPr/>
            <p:nvPr/>
          </p:nvSpPr>
          <p:spPr>
            <a:xfrm>
              <a:off x="6349227" y="2701014"/>
              <a:ext cx="216027" cy="392582"/>
            </a:xfrm>
            <a:custGeom>
              <a:avLst/>
              <a:gdLst/>
              <a:ahLst/>
              <a:cxnLst/>
              <a:rect l="0" t="0" r="0" b="0"/>
              <a:pathLst>
                <a:path w="340" h="618">
                  <a:moveTo>
                    <a:pt x="0" y="448"/>
                  </a:moveTo>
                  <a:lnTo>
                    <a:pt x="85" y="448"/>
                  </a:lnTo>
                  <a:lnTo>
                    <a:pt x="85" y="0"/>
                  </a:lnTo>
                  <a:lnTo>
                    <a:pt x="255" y="0"/>
                  </a:lnTo>
                  <a:lnTo>
                    <a:pt x="255" y="448"/>
                  </a:lnTo>
                  <a:lnTo>
                    <a:pt x="340" y="448"/>
                  </a:lnTo>
                  <a:lnTo>
                    <a:pt x="170" y="618"/>
                  </a:lnTo>
                  <a:lnTo>
                    <a:pt x="0" y="44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6" name="path 46"/>
            <p:cNvSpPr/>
            <p:nvPr/>
          </p:nvSpPr>
          <p:spPr>
            <a:xfrm>
              <a:off x="6340247" y="2688314"/>
              <a:ext cx="233987" cy="414262"/>
            </a:xfrm>
            <a:custGeom>
              <a:avLst/>
              <a:gdLst/>
              <a:ahLst/>
              <a:cxnLst/>
              <a:rect l="0" t="0" r="0" b="0"/>
              <a:pathLst>
                <a:path w="368" h="652">
                  <a:moveTo>
                    <a:pt x="14" y="468"/>
                  </a:moveTo>
                  <a:lnTo>
                    <a:pt x="99" y="468"/>
                  </a:lnTo>
                  <a:lnTo>
                    <a:pt x="99" y="20"/>
                  </a:lnTo>
                  <a:lnTo>
                    <a:pt x="269" y="20"/>
                  </a:lnTo>
                  <a:lnTo>
                    <a:pt x="269" y="468"/>
                  </a:lnTo>
                  <a:lnTo>
                    <a:pt x="354" y="468"/>
                  </a:lnTo>
                  <a:lnTo>
                    <a:pt x="184" y="638"/>
                  </a:lnTo>
                  <a:lnTo>
                    <a:pt x="14" y="468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48" name="textbox 48"/>
          <p:cNvSpPr/>
          <p:nvPr/>
        </p:nvSpPr>
        <p:spPr>
          <a:xfrm>
            <a:off x="6632851" y="2633144"/>
            <a:ext cx="1021714" cy="2328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74000"/>
              </a:lnSpc>
            </a:pPr>
            <a:r>
              <a:rPr sz="18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Converter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0" algn="l" rtl="0" eaLnBrk="0" fontAlgn="auto" hangingPunct="1">
              <a:lnSpc>
                <a:spcPct val="88000"/>
              </a:lnSpc>
              <a:spcBef>
                <a:spcPts val="580"/>
              </a:spcBef>
            </a:pPr>
            <a:r>
              <a:rPr sz="1900" b="1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直流电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9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5430" algn="l" rtl="0" eaLnBrk="0" fontAlgn="auto" hangingPunct="1">
              <a:lnSpc>
                <a:spcPct val="88000"/>
              </a:lnSpc>
              <a:spcBef>
                <a:spcPts val="5"/>
              </a:spcBef>
            </a:pPr>
            <a:r>
              <a:rPr sz="1900" b="1" kern="0" spc="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终端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45646" y="633060"/>
            <a:ext cx="5258434" cy="4324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31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电气化铁道系统</a:t>
            </a:r>
            <a:r>
              <a:rPr sz="3100" b="1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3100" b="1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处理电能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2618559" y="1373461"/>
            <a:ext cx="1035050" cy="572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24815" indent="-412115" algn="l" rtl="0" eaLnBrk="0" fontAlgn="auto" hangingPunct="1">
              <a:lnSpc>
                <a:spcPct val="94000"/>
              </a:lnSpc>
            </a:pPr>
            <a:r>
              <a:rPr sz="1900" b="1" kern="0" spc="7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低压交流</a:t>
            </a:r>
            <a:r>
              <a:rPr sz="19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6622870" y="1412927"/>
            <a:ext cx="1026794" cy="572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6560" indent="-404495" algn="l" rtl="0" eaLnBrk="0" fontAlgn="auto" hangingPunct="1">
              <a:lnSpc>
                <a:spcPct val="94000"/>
              </a:lnSpc>
            </a:pPr>
            <a:r>
              <a:rPr sz="1900" b="1" kern="0" spc="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高压交流</a:t>
            </a:r>
            <a:r>
              <a:rPr sz="19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4583064" y="1513669"/>
            <a:ext cx="778509" cy="279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8000"/>
              </a:lnSpc>
            </a:pPr>
            <a:r>
              <a:rPr sz="1900" b="1" kern="0" spc="6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变压器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33099" y="1513669"/>
            <a:ext cx="774700" cy="279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8000"/>
              </a:lnSpc>
            </a:pPr>
            <a:r>
              <a:rPr sz="1900" b="1" kern="0" spc="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发电厂</a:t>
            </a:r>
            <a:endParaRPr sz="1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526851" y="2084152"/>
            <a:ext cx="8198530" cy="3763251"/>
            <a:chOff x="0" y="0"/>
            <a:chExt cx="8198530" cy="3763251"/>
          </a:xfrm>
        </p:grpSpPr>
        <p:sp>
          <p:nvSpPr>
            <p:cNvPr id="60" name="path 60"/>
            <p:cNvSpPr/>
            <p:nvPr/>
          </p:nvSpPr>
          <p:spPr>
            <a:xfrm>
              <a:off x="0" y="0"/>
              <a:ext cx="1213535" cy="745477"/>
            </a:xfrm>
            <a:custGeom>
              <a:avLst/>
              <a:gdLst/>
              <a:ahLst/>
              <a:cxnLst/>
              <a:rect l="0" t="0" r="0" b="0"/>
              <a:pathLst>
                <a:path w="1911" h="1173">
                  <a:moveTo>
                    <a:pt x="20" y="209"/>
                  </a:moveTo>
                  <a:cubicBezTo>
                    <a:pt x="20" y="104"/>
                    <a:pt x="104" y="20"/>
                    <a:pt x="209" y="20"/>
                  </a:cubicBezTo>
                  <a:lnTo>
                    <a:pt x="1702" y="20"/>
                  </a:lnTo>
                  <a:cubicBezTo>
                    <a:pt x="1806" y="20"/>
                    <a:pt x="1891" y="104"/>
                    <a:pt x="1891" y="209"/>
                  </a:cubicBezTo>
                  <a:lnTo>
                    <a:pt x="1891" y="964"/>
                  </a:lnTo>
                  <a:cubicBezTo>
                    <a:pt x="1891" y="1069"/>
                    <a:pt x="1806" y="1153"/>
                    <a:pt x="1702" y="1153"/>
                  </a:cubicBezTo>
                  <a:lnTo>
                    <a:pt x="209" y="1153"/>
                  </a:lnTo>
                  <a:cubicBezTo>
                    <a:pt x="104" y="1153"/>
                    <a:pt x="20" y="1069"/>
                    <a:pt x="20" y="964"/>
                  </a:cubicBezTo>
                  <a:lnTo>
                    <a:pt x="20" y="209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2" name="path 62"/>
            <p:cNvSpPr/>
            <p:nvPr/>
          </p:nvSpPr>
          <p:spPr>
            <a:xfrm>
              <a:off x="1596876" y="27816"/>
              <a:ext cx="1188135" cy="720077"/>
            </a:xfrm>
            <a:custGeom>
              <a:avLst/>
              <a:gdLst/>
              <a:ahLst/>
              <a:cxnLst/>
              <a:rect l="0" t="0" r="0" b="0"/>
              <a:pathLst>
                <a:path w="1871" h="1133">
                  <a:moveTo>
                    <a:pt x="0" y="189"/>
                  </a:moveTo>
                  <a:moveTo>
                    <a:pt x="0" y="189"/>
                  </a:moveTo>
                  <a:cubicBezTo>
                    <a:pt x="0" y="84"/>
                    <a:pt x="84" y="0"/>
                    <a:pt x="188" y="0"/>
                  </a:cubicBezTo>
                  <a:lnTo>
                    <a:pt x="1682" y="0"/>
                  </a:lnTo>
                  <a:cubicBezTo>
                    <a:pt x="1786" y="0"/>
                    <a:pt x="1871" y="84"/>
                    <a:pt x="1871" y="189"/>
                  </a:cubicBezTo>
                  <a:lnTo>
                    <a:pt x="1871" y="944"/>
                  </a:lnTo>
                  <a:cubicBezTo>
                    <a:pt x="1871" y="1049"/>
                    <a:pt x="1786" y="1133"/>
                    <a:pt x="1682" y="1133"/>
                  </a:cubicBezTo>
                  <a:lnTo>
                    <a:pt x="188" y="1133"/>
                  </a:lnTo>
                  <a:cubicBezTo>
                    <a:pt x="84" y="1133"/>
                    <a:pt x="0" y="1049"/>
                    <a:pt x="0" y="944"/>
                  </a:cubicBezTo>
                  <a:lnTo>
                    <a:pt x="0" y="189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4" name="path 64"/>
            <p:cNvSpPr/>
            <p:nvPr/>
          </p:nvSpPr>
          <p:spPr>
            <a:xfrm>
              <a:off x="1584176" y="15116"/>
              <a:ext cx="1213535" cy="745477"/>
            </a:xfrm>
            <a:custGeom>
              <a:avLst/>
              <a:gdLst/>
              <a:ahLst/>
              <a:cxnLst/>
              <a:rect l="0" t="0" r="0" b="0"/>
              <a:pathLst>
                <a:path w="1911" h="1173">
                  <a:moveTo>
                    <a:pt x="20" y="209"/>
                  </a:moveTo>
                  <a:cubicBezTo>
                    <a:pt x="20" y="104"/>
                    <a:pt x="104" y="20"/>
                    <a:pt x="208" y="20"/>
                  </a:cubicBezTo>
                  <a:lnTo>
                    <a:pt x="1702" y="20"/>
                  </a:lnTo>
                  <a:cubicBezTo>
                    <a:pt x="1806" y="20"/>
                    <a:pt x="1891" y="104"/>
                    <a:pt x="1891" y="209"/>
                  </a:cubicBezTo>
                  <a:lnTo>
                    <a:pt x="1891" y="964"/>
                  </a:lnTo>
                  <a:cubicBezTo>
                    <a:pt x="1891" y="1069"/>
                    <a:pt x="1806" y="1153"/>
                    <a:pt x="1702" y="1153"/>
                  </a:cubicBezTo>
                  <a:lnTo>
                    <a:pt x="208" y="1153"/>
                  </a:lnTo>
                  <a:cubicBezTo>
                    <a:pt x="104" y="1153"/>
                    <a:pt x="20" y="1069"/>
                    <a:pt x="20" y="964"/>
                  </a:cubicBezTo>
                  <a:lnTo>
                    <a:pt x="20" y="209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6" name="path 66"/>
            <p:cNvSpPr/>
            <p:nvPr/>
          </p:nvSpPr>
          <p:spPr>
            <a:xfrm>
              <a:off x="3204355" y="0"/>
              <a:ext cx="4994174" cy="3758183"/>
            </a:xfrm>
            <a:custGeom>
              <a:avLst/>
              <a:gdLst/>
              <a:ahLst/>
              <a:cxnLst/>
              <a:rect l="0" t="0" r="0" b="0"/>
              <a:pathLst>
                <a:path w="7864" h="5918">
                  <a:moveTo>
                    <a:pt x="190" y="209"/>
                  </a:moveTo>
                  <a:cubicBezTo>
                    <a:pt x="190" y="104"/>
                    <a:pt x="274" y="20"/>
                    <a:pt x="379" y="20"/>
                  </a:cubicBezTo>
                  <a:lnTo>
                    <a:pt x="1928" y="20"/>
                  </a:lnTo>
                  <a:cubicBezTo>
                    <a:pt x="2033" y="20"/>
                    <a:pt x="2117" y="104"/>
                    <a:pt x="2117" y="209"/>
                  </a:cubicBezTo>
                  <a:lnTo>
                    <a:pt x="2117" y="964"/>
                  </a:lnTo>
                  <a:cubicBezTo>
                    <a:pt x="2117" y="1069"/>
                    <a:pt x="2033" y="1153"/>
                    <a:pt x="1928" y="1153"/>
                  </a:cubicBezTo>
                  <a:lnTo>
                    <a:pt x="379" y="1153"/>
                  </a:lnTo>
                  <a:cubicBezTo>
                    <a:pt x="274" y="1153"/>
                    <a:pt x="190" y="1069"/>
                    <a:pt x="190" y="964"/>
                  </a:cubicBezTo>
                  <a:lnTo>
                    <a:pt x="190" y="209"/>
                  </a:lnTo>
                  <a:close/>
                </a:path>
                <a:path w="7864" h="5918">
                  <a:moveTo>
                    <a:pt x="2684" y="232"/>
                  </a:moveTo>
                  <a:cubicBezTo>
                    <a:pt x="2684" y="128"/>
                    <a:pt x="2769" y="43"/>
                    <a:pt x="2873" y="43"/>
                  </a:cubicBezTo>
                  <a:lnTo>
                    <a:pt x="4366" y="43"/>
                  </a:lnTo>
                  <a:cubicBezTo>
                    <a:pt x="4471" y="43"/>
                    <a:pt x="4555" y="128"/>
                    <a:pt x="4555" y="232"/>
                  </a:cubicBezTo>
                  <a:lnTo>
                    <a:pt x="4555" y="988"/>
                  </a:lnTo>
                  <a:cubicBezTo>
                    <a:pt x="4555" y="1093"/>
                    <a:pt x="4471" y="1177"/>
                    <a:pt x="4366" y="1177"/>
                  </a:cubicBezTo>
                  <a:lnTo>
                    <a:pt x="2873" y="1177"/>
                  </a:lnTo>
                  <a:cubicBezTo>
                    <a:pt x="2769" y="1177"/>
                    <a:pt x="2684" y="1093"/>
                    <a:pt x="2684" y="988"/>
                  </a:cubicBezTo>
                  <a:lnTo>
                    <a:pt x="2684" y="232"/>
                  </a:lnTo>
                  <a:close/>
                </a:path>
                <a:path w="7864" h="5918">
                  <a:moveTo>
                    <a:pt x="5803" y="209"/>
                  </a:moveTo>
                  <a:cubicBezTo>
                    <a:pt x="5803" y="104"/>
                    <a:pt x="5887" y="20"/>
                    <a:pt x="5992" y="20"/>
                  </a:cubicBezTo>
                  <a:lnTo>
                    <a:pt x="7485" y="20"/>
                  </a:lnTo>
                  <a:cubicBezTo>
                    <a:pt x="7589" y="20"/>
                    <a:pt x="7674" y="104"/>
                    <a:pt x="7674" y="209"/>
                  </a:cubicBezTo>
                  <a:lnTo>
                    <a:pt x="7674" y="964"/>
                  </a:lnTo>
                  <a:cubicBezTo>
                    <a:pt x="7674" y="1069"/>
                    <a:pt x="7589" y="1153"/>
                    <a:pt x="7485" y="1153"/>
                  </a:cubicBezTo>
                  <a:lnTo>
                    <a:pt x="5992" y="1153"/>
                  </a:lnTo>
                  <a:cubicBezTo>
                    <a:pt x="5887" y="1153"/>
                    <a:pt x="5803" y="1069"/>
                    <a:pt x="5803" y="964"/>
                  </a:cubicBezTo>
                  <a:lnTo>
                    <a:pt x="5803" y="209"/>
                  </a:lnTo>
                  <a:close/>
                </a:path>
                <a:path w="7864" h="5918">
                  <a:moveTo>
                    <a:pt x="5973" y="2533"/>
                  </a:moveTo>
                  <a:cubicBezTo>
                    <a:pt x="5973" y="2429"/>
                    <a:pt x="6058" y="2344"/>
                    <a:pt x="6162" y="2344"/>
                  </a:cubicBezTo>
                  <a:lnTo>
                    <a:pt x="7655" y="2344"/>
                  </a:lnTo>
                  <a:cubicBezTo>
                    <a:pt x="7759" y="2344"/>
                    <a:pt x="7844" y="2429"/>
                    <a:pt x="7844" y="2533"/>
                  </a:cubicBezTo>
                  <a:lnTo>
                    <a:pt x="7844" y="3289"/>
                  </a:lnTo>
                  <a:cubicBezTo>
                    <a:pt x="7844" y="3394"/>
                    <a:pt x="7759" y="3478"/>
                    <a:pt x="7655" y="3478"/>
                  </a:cubicBezTo>
                  <a:lnTo>
                    <a:pt x="6162" y="3478"/>
                  </a:lnTo>
                  <a:cubicBezTo>
                    <a:pt x="6058" y="3478"/>
                    <a:pt x="5973" y="3394"/>
                    <a:pt x="5973" y="3289"/>
                  </a:cubicBezTo>
                  <a:lnTo>
                    <a:pt x="5973" y="2533"/>
                  </a:lnTo>
                  <a:close/>
                </a:path>
                <a:path w="7864" h="5918">
                  <a:moveTo>
                    <a:pt x="5973" y="4858"/>
                  </a:moveTo>
                  <a:cubicBezTo>
                    <a:pt x="5973" y="4753"/>
                    <a:pt x="6058" y="4669"/>
                    <a:pt x="6162" y="4669"/>
                  </a:cubicBezTo>
                  <a:lnTo>
                    <a:pt x="7655" y="4669"/>
                  </a:lnTo>
                  <a:cubicBezTo>
                    <a:pt x="7760" y="4669"/>
                    <a:pt x="7844" y="4753"/>
                    <a:pt x="7844" y="4858"/>
                  </a:cubicBezTo>
                  <a:lnTo>
                    <a:pt x="7844" y="5614"/>
                  </a:lnTo>
                  <a:cubicBezTo>
                    <a:pt x="7844" y="5718"/>
                    <a:pt x="7760" y="5803"/>
                    <a:pt x="7655" y="5803"/>
                  </a:cubicBezTo>
                  <a:lnTo>
                    <a:pt x="6162" y="5803"/>
                  </a:lnTo>
                  <a:cubicBezTo>
                    <a:pt x="6058" y="5803"/>
                    <a:pt x="5973" y="5718"/>
                    <a:pt x="5973" y="5614"/>
                  </a:cubicBezTo>
                  <a:lnTo>
                    <a:pt x="5973" y="4858"/>
                  </a:lnTo>
                  <a:close/>
                </a:path>
                <a:path w="7864" h="5918">
                  <a:moveTo>
                    <a:pt x="3195" y="4897"/>
                  </a:moveTo>
                  <a:cubicBezTo>
                    <a:pt x="3195" y="4793"/>
                    <a:pt x="3279" y="4708"/>
                    <a:pt x="3384" y="4708"/>
                  </a:cubicBezTo>
                  <a:lnTo>
                    <a:pt x="4877" y="4708"/>
                  </a:lnTo>
                  <a:cubicBezTo>
                    <a:pt x="4981" y="4708"/>
                    <a:pt x="5066" y="4793"/>
                    <a:pt x="5066" y="4897"/>
                  </a:cubicBezTo>
                  <a:lnTo>
                    <a:pt x="5066" y="5653"/>
                  </a:lnTo>
                  <a:cubicBezTo>
                    <a:pt x="5066" y="5758"/>
                    <a:pt x="4981" y="5842"/>
                    <a:pt x="4877" y="5842"/>
                  </a:cubicBezTo>
                  <a:lnTo>
                    <a:pt x="3384" y="5842"/>
                  </a:lnTo>
                  <a:cubicBezTo>
                    <a:pt x="3279" y="5842"/>
                    <a:pt x="3195" y="5758"/>
                    <a:pt x="3195" y="5653"/>
                  </a:cubicBezTo>
                  <a:lnTo>
                    <a:pt x="3195" y="4897"/>
                  </a:lnTo>
                  <a:close/>
                </a:path>
                <a:path w="7864" h="5918">
                  <a:moveTo>
                    <a:pt x="20" y="4953"/>
                  </a:moveTo>
                  <a:cubicBezTo>
                    <a:pt x="20" y="4849"/>
                    <a:pt x="104" y="4764"/>
                    <a:pt x="209" y="4764"/>
                  </a:cubicBezTo>
                  <a:lnTo>
                    <a:pt x="1702" y="4764"/>
                  </a:lnTo>
                  <a:cubicBezTo>
                    <a:pt x="1806" y="4764"/>
                    <a:pt x="1891" y="4849"/>
                    <a:pt x="1891" y="4953"/>
                  </a:cubicBezTo>
                  <a:lnTo>
                    <a:pt x="1891" y="5709"/>
                  </a:lnTo>
                  <a:cubicBezTo>
                    <a:pt x="1891" y="5813"/>
                    <a:pt x="1806" y="5898"/>
                    <a:pt x="1702" y="5898"/>
                  </a:cubicBezTo>
                  <a:lnTo>
                    <a:pt x="209" y="5898"/>
                  </a:lnTo>
                  <a:cubicBezTo>
                    <a:pt x="104" y="5898"/>
                    <a:pt x="20" y="5813"/>
                    <a:pt x="20" y="5709"/>
                  </a:cubicBezTo>
                  <a:lnTo>
                    <a:pt x="20" y="4953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68" name="path 68"/>
            <p:cNvSpPr/>
            <p:nvPr/>
          </p:nvSpPr>
          <p:spPr>
            <a:xfrm>
              <a:off x="1596876" y="3025406"/>
              <a:ext cx="1188135" cy="720077"/>
            </a:xfrm>
            <a:custGeom>
              <a:avLst/>
              <a:gdLst/>
              <a:ahLst/>
              <a:cxnLst/>
              <a:rect l="0" t="0" r="0" b="0"/>
              <a:pathLst>
                <a:path w="1871" h="1133">
                  <a:moveTo>
                    <a:pt x="0" y="188"/>
                  </a:moveTo>
                  <a:moveTo>
                    <a:pt x="0" y="188"/>
                  </a:moveTo>
                  <a:cubicBezTo>
                    <a:pt x="0" y="84"/>
                    <a:pt x="84" y="0"/>
                    <a:pt x="188" y="0"/>
                  </a:cubicBezTo>
                  <a:lnTo>
                    <a:pt x="1682" y="0"/>
                  </a:lnTo>
                  <a:cubicBezTo>
                    <a:pt x="1786" y="0"/>
                    <a:pt x="1871" y="84"/>
                    <a:pt x="1871" y="188"/>
                  </a:cubicBezTo>
                  <a:lnTo>
                    <a:pt x="1871" y="944"/>
                  </a:lnTo>
                  <a:cubicBezTo>
                    <a:pt x="1871" y="1049"/>
                    <a:pt x="1786" y="1133"/>
                    <a:pt x="1682" y="1133"/>
                  </a:cubicBezTo>
                  <a:lnTo>
                    <a:pt x="188" y="1133"/>
                  </a:lnTo>
                  <a:cubicBezTo>
                    <a:pt x="84" y="1133"/>
                    <a:pt x="0" y="1049"/>
                    <a:pt x="0" y="944"/>
                  </a:cubicBezTo>
                  <a:lnTo>
                    <a:pt x="0" y="188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70" name="path 70"/>
            <p:cNvSpPr/>
            <p:nvPr/>
          </p:nvSpPr>
          <p:spPr>
            <a:xfrm>
              <a:off x="1584176" y="3012706"/>
              <a:ext cx="1213535" cy="745477"/>
            </a:xfrm>
            <a:custGeom>
              <a:avLst/>
              <a:gdLst/>
              <a:ahLst/>
              <a:cxnLst/>
              <a:rect l="0" t="0" r="0" b="0"/>
              <a:pathLst>
                <a:path w="1911" h="1173">
                  <a:moveTo>
                    <a:pt x="20" y="208"/>
                  </a:moveTo>
                  <a:cubicBezTo>
                    <a:pt x="20" y="104"/>
                    <a:pt x="104" y="20"/>
                    <a:pt x="208" y="20"/>
                  </a:cubicBezTo>
                  <a:lnTo>
                    <a:pt x="1702" y="20"/>
                  </a:lnTo>
                  <a:cubicBezTo>
                    <a:pt x="1806" y="20"/>
                    <a:pt x="1891" y="104"/>
                    <a:pt x="1891" y="208"/>
                  </a:cubicBezTo>
                  <a:lnTo>
                    <a:pt x="1891" y="964"/>
                  </a:lnTo>
                  <a:cubicBezTo>
                    <a:pt x="1891" y="1069"/>
                    <a:pt x="1806" y="1153"/>
                    <a:pt x="1702" y="1153"/>
                  </a:cubicBezTo>
                  <a:lnTo>
                    <a:pt x="208" y="1153"/>
                  </a:lnTo>
                  <a:cubicBezTo>
                    <a:pt x="104" y="1153"/>
                    <a:pt x="20" y="1069"/>
                    <a:pt x="20" y="964"/>
                  </a:cubicBezTo>
                  <a:lnTo>
                    <a:pt x="20" y="208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72" name="path 72"/>
            <p:cNvSpPr/>
            <p:nvPr/>
          </p:nvSpPr>
          <p:spPr>
            <a:xfrm>
              <a:off x="0" y="3017773"/>
              <a:ext cx="1213535" cy="745477"/>
            </a:xfrm>
            <a:custGeom>
              <a:avLst/>
              <a:gdLst/>
              <a:ahLst/>
              <a:cxnLst/>
              <a:rect l="0" t="0" r="0" b="0"/>
              <a:pathLst>
                <a:path w="1911" h="1173">
                  <a:moveTo>
                    <a:pt x="20" y="208"/>
                  </a:moveTo>
                  <a:cubicBezTo>
                    <a:pt x="20" y="104"/>
                    <a:pt x="104" y="20"/>
                    <a:pt x="209" y="20"/>
                  </a:cubicBezTo>
                  <a:lnTo>
                    <a:pt x="1702" y="20"/>
                  </a:lnTo>
                  <a:cubicBezTo>
                    <a:pt x="1806" y="20"/>
                    <a:pt x="1891" y="104"/>
                    <a:pt x="1891" y="208"/>
                  </a:cubicBezTo>
                  <a:lnTo>
                    <a:pt x="1891" y="964"/>
                  </a:lnTo>
                  <a:cubicBezTo>
                    <a:pt x="1891" y="1069"/>
                    <a:pt x="1806" y="1153"/>
                    <a:pt x="1702" y="1153"/>
                  </a:cubicBezTo>
                  <a:lnTo>
                    <a:pt x="209" y="1153"/>
                  </a:lnTo>
                  <a:cubicBezTo>
                    <a:pt x="104" y="1153"/>
                    <a:pt x="20" y="1069"/>
                    <a:pt x="20" y="964"/>
                  </a:cubicBezTo>
                  <a:lnTo>
                    <a:pt x="20" y="208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74" name="path 74"/>
            <p:cNvSpPr/>
            <p:nvPr/>
          </p:nvSpPr>
          <p:spPr>
            <a:xfrm>
              <a:off x="1308844" y="264732"/>
              <a:ext cx="216026" cy="216014"/>
            </a:xfrm>
            <a:custGeom>
              <a:avLst/>
              <a:gdLst/>
              <a:ahLst/>
              <a:cxnLst/>
              <a:rect l="0" t="0" r="0" b="0"/>
              <a:pathLst>
                <a:path w="340" h="340">
                  <a:moveTo>
                    <a:pt x="0" y="85"/>
                  </a:moveTo>
                  <a:lnTo>
                    <a:pt x="170" y="85"/>
                  </a:lnTo>
                  <a:lnTo>
                    <a:pt x="170" y="0"/>
                  </a:lnTo>
                  <a:lnTo>
                    <a:pt x="340" y="170"/>
                  </a:lnTo>
                  <a:lnTo>
                    <a:pt x="170" y="340"/>
                  </a:lnTo>
                  <a:lnTo>
                    <a:pt x="170" y="255"/>
                  </a:lnTo>
                  <a:lnTo>
                    <a:pt x="0" y="25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76" name="path 76"/>
            <p:cNvSpPr/>
            <p:nvPr/>
          </p:nvSpPr>
          <p:spPr>
            <a:xfrm>
              <a:off x="1296144" y="255751"/>
              <a:ext cx="237707" cy="233975"/>
            </a:xfrm>
            <a:custGeom>
              <a:avLst/>
              <a:gdLst/>
              <a:ahLst/>
              <a:cxnLst/>
              <a:rect l="0" t="0" r="0" b="0"/>
              <a:pathLst>
                <a:path w="374" h="368">
                  <a:moveTo>
                    <a:pt x="20" y="99"/>
                  </a:moveTo>
                  <a:lnTo>
                    <a:pt x="190" y="99"/>
                  </a:lnTo>
                  <a:lnTo>
                    <a:pt x="190" y="14"/>
                  </a:lnTo>
                  <a:lnTo>
                    <a:pt x="360" y="184"/>
                  </a:lnTo>
                  <a:lnTo>
                    <a:pt x="190" y="354"/>
                  </a:lnTo>
                  <a:lnTo>
                    <a:pt x="190" y="269"/>
                  </a:lnTo>
                  <a:lnTo>
                    <a:pt x="20" y="269"/>
                  </a:lnTo>
                  <a:lnTo>
                    <a:pt x="20" y="99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78" name="path 78"/>
            <p:cNvSpPr/>
            <p:nvPr/>
          </p:nvSpPr>
          <p:spPr>
            <a:xfrm>
              <a:off x="3001031" y="309120"/>
              <a:ext cx="216027" cy="216014"/>
            </a:xfrm>
            <a:custGeom>
              <a:avLst/>
              <a:gdLst/>
              <a:ahLst/>
              <a:cxnLst/>
              <a:rect l="0" t="0" r="0" b="0"/>
              <a:pathLst>
                <a:path w="340" h="340">
                  <a:moveTo>
                    <a:pt x="0" y="85"/>
                  </a:moveTo>
                  <a:lnTo>
                    <a:pt x="170" y="85"/>
                  </a:lnTo>
                  <a:lnTo>
                    <a:pt x="170" y="0"/>
                  </a:lnTo>
                  <a:lnTo>
                    <a:pt x="340" y="170"/>
                  </a:lnTo>
                  <a:lnTo>
                    <a:pt x="170" y="340"/>
                  </a:lnTo>
                  <a:lnTo>
                    <a:pt x="170" y="255"/>
                  </a:lnTo>
                  <a:lnTo>
                    <a:pt x="0" y="25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80" name="path 80"/>
            <p:cNvSpPr/>
            <p:nvPr/>
          </p:nvSpPr>
          <p:spPr>
            <a:xfrm>
              <a:off x="2988331" y="300139"/>
              <a:ext cx="237707" cy="233975"/>
            </a:xfrm>
            <a:custGeom>
              <a:avLst/>
              <a:gdLst/>
              <a:ahLst/>
              <a:cxnLst/>
              <a:rect l="0" t="0" r="0" b="0"/>
              <a:pathLst>
                <a:path w="374" h="368">
                  <a:moveTo>
                    <a:pt x="20" y="99"/>
                  </a:moveTo>
                  <a:lnTo>
                    <a:pt x="190" y="99"/>
                  </a:lnTo>
                  <a:lnTo>
                    <a:pt x="190" y="14"/>
                  </a:lnTo>
                  <a:lnTo>
                    <a:pt x="360" y="184"/>
                  </a:lnTo>
                  <a:lnTo>
                    <a:pt x="190" y="354"/>
                  </a:lnTo>
                  <a:lnTo>
                    <a:pt x="190" y="269"/>
                  </a:lnTo>
                  <a:lnTo>
                    <a:pt x="20" y="269"/>
                  </a:lnTo>
                  <a:lnTo>
                    <a:pt x="20" y="99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82" name="path 82"/>
            <p:cNvSpPr/>
            <p:nvPr/>
          </p:nvSpPr>
          <p:spPr>
            <a:xfrm>
              <a:off x="4693220" y="295793"/>
              <a:ext cx="216027" cy="216014"/>
            </a:xfrm>
            <a:custGeom>
              <a:avLst/>
              <a:gdLst/>
              <a:ahLst/>
              <a:cxnLst/>
              <a:rect l="0" t="0" r="0" b="0"/>
              <a:pathLst>
                <a:path w="340" h="340">
                  <a:moveTo>
                    <a:pt x="0" y="85"/>
                  </a:moveTo>
                  <a:lnTo>
                    <a:pt x="170" y="85"/>
                  </a:lnTo>
                  <a:lnTo>
                    <a:pt x="170" y="0"/>
                  </a:lnTo>
                  <a:lnTo>
                    <a:pt x="340" y="170"/>
                  </a:lnTo>
                  <a:lnTo>
                    <a:pt x="170" y="340"/>
                  </a:lnTo>
                  <a:lnTo>
                    <a:pt x="170" y="255"/>
                  </a:lnTo>
                  <a:lnTo>
                    <a:pt x="0" y="25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84" name="path 84"/>
            <p:cNvSpPr/>
            <p:nvPr/>
          </p:nvSpPr>
          <p:spPr>
            <a:xfrm>
              <a:off x="4680520" y="286812"/>
              <a:ext cx="237707" cy="233975"/>
            </a:xfrm>
            <a:custGeom>
              <a:avLst/>
              <a:gdLst/>
              <a:ahLst/>
              <a:cxnLst/>
              <a:rect l="0" t="0" r="0" b="0"/>
              <a:pathLst>
                <a:path w="374" h="368">
                  <a:moveTo>
                    <a:pt x="20" y="99"/>
                  </a:moveTo>
                  <a:lnTo>
                    <a:pt x="190" y="99"/>
                  </a:lnTo>
                  <a:lnTo>
                    <a:pt x="190" y="14"/>
                  </a:lnTo>
                  <a:lnTo>
                    <a:pt x="360" y="184"/>
                  </a:lnTo>
                  <a:lnTo>
                    <a:pt x="190" y="354"/>
                  </a:lnTo>
                  <a:lnTo>
                    <a:pt x="190" y="269"/>
                  </a:lnTo>
                  <a:lnTo>
                    <a:pt x="20" y="269"/>
                  </a:lnTo>
                  <a:lnTo>
                    <a:pt x="20" y="99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86" name="path 86"/>
            <p:cNvSpPr/>
            <p:nvPr/>
          </p:nvSpPr>
          <p:spPr>
            <a:xfrm>
              <a:off x="6421412" y="278270"/>
              <a:ext cx="216027" cy="216014"/>
            </a:xfrm>
            <a:custGeom>
              <a:avLst/>
              <a:gdLst/>
              <a:ahLst/>
              <a:cxnLst/>
              <a:rect l="0" t="0" r="0" b="0"/>
              <a:pathLst>
                <a:path w="340" h="340">
                  <a:moveTo>
                    <a:pt x="0" y="85"/>
                  </a:moveTo>
                  <a:lnTo>
                    <a:pt x="170" y="85"/>
                  </a:lnTo>
                  <a:lnTo>
                    <a:pt x="170" y="0"/>
                  </a:lnTo>
                  <a:lnTo>
                    <a:pt x="340" y="170"/>
                  </a:lnTo>
                  <a:lnTo>
                    <a:pt x="170" y="340"/>
                  </a:lnTo>
                  <a:lnTo>
                    <a:pt x="170" y="255"/>
                  </a:lnTo>
                  <a:lnTo>
                    <a:pt x="0" y="25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88" name="path 88"/>
            <p:cNvSpPr/>
            <p:nvPr/>
          </p:nvSpPr>
          <p:spPr>
            <a:xfrm>
              <a:off x="6408712" y="269290"/>
              <a:ext cx="237707" cy="233975"/>
            </a:xfrm>
            <a:custGeom>
              <a:avLst/>
              <a:gdLst/>
              <a:ahLst/>
              <a:cxnLst/>
              <a:rect l="0" t="0" r="0" b="0"/>
              <a:pathLst>
                <a:path w="374" h="368">
                  <a:moveTo>
                    <a:pt x="20" y="99"/>
                  </a:moveTo>
                  <a:lnTo>
                    <a:pt x="190" y="99"/>
                  </a:lnTo>
                  <a:lnTo>
                    <a:pt x="190" y="14"/>
                  </a:lnTo>
                  <a:lnTo>
                    <a:pt x="360" y="184"/>
                  </a:lnTo>
                  <a:lnTo>
                    <a:pt x="190" y="354"/>
                  </a:lnTo>
                  <a:lnTo>
                    <a:pt x="190" y="269"/>
                  </a:lnTo>
                  <a:lnTo>
                    <a:pt x="20" y="269"/>
                  </a:lnTo>
                  <a:lnTo>
                    <a:pt x="20" y="99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0" name="path 90"/>
            <p:cNvSpPr/>
            <p:nvPr/>
          </p:nvSpPr>
          <p:spPr>
            <a:xfrm>
              <a:off x="7393520" y="876798"/>
              <a:ext cx="324040" cy="360032"/>
            </a:xfrm>
            <a:custGeom>
              <a:avLst/>
              <a:gdLst/>
              <a:ahLst/>
              <a:cxnLst/>
              <a:rect l="0" t="0" r="0" b="0"/>
              <a:pathLst>
                <a:path w="510" h="566">
                  <a:moveTo>
                    <a:pt x="0" y="311"/>
                  </a:moveTo>
                  <a:lnTo>
                    <a:pt x="127" y="311"/>
                  </a:lnTo>
                  <a:lnTo>
                    <a:pt x="127" y="0"/>
                  </a:lnTo>
                  <a:lnTo>
                    <a:pt x="382" y="0"/>
                  </a:lnTo>
                  <a:lnTo>
                    <a:pt x="382" y="311"/>
                  </a:lnTo>
                  <a:lnTo>
                    <a:pt x="510" y="311"/>
                  </a:lnTo>
                  <a:lnTo>
                    <a:pt x="255" y="566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2" name="path 92"/>
            <p:cNvSpPr/>
            <p:nvPr/>
          </p:nvSpPr>
          <p:spPr>
            <a:xfrm>
              <a:off x="7384539" y="864098"/>
              <a:ext cx="342000" cy="381713"/>
            </a:xfrm>
            <a:custGeom>
              <a:avLst/>
              <a:gdLst/>
              <a:ahLst/>
              <a:cxnLst/>
              <a:rect l="0" t="0" r="0" b="0"/>
              <a:pathLst>
                <a:path w="538" h="601">
                  <a:moveTo>
                    <a:pt x="14" y="331"/>
                  </a:moveTo>
                  <a:lnTo>
                    <a:pt x="141" y="331"/>
                  </a:lnTo>
                  <a:lnTo>
                    <a:pt x="141" y="20"/>
                  </a:lnTo>
                  <a:lnTo>
                    <a:pt x="396" y="20"/>
                  </a:lnTo>
                  <a:lnTo>
                    <a:pt x="396" y="331"/>
                  </a:lnTo>
                  <a:lnTo>
                    <a:pt x="524" y="331"/>
                  </a:lnTo>
                  <a:lnTo>
                    <a:pt x="269" y="586"/>
                  </a:lnTo>
                  <a:lnTo>
                    <a:pt x="14" y="331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4" name="path 94"/>
            <p:cNvSpPr/>
            <p:nvPr/>
          </p:nvSpPr>
          <p:spPr>
            <a:xfrm>
              <a:off x="7358516" y="2388966"/>
              <a:ext cx="324040" cy="360032"/>
            </a:xfrm>
            <a:custGeom>
              <a:avLst/>
              <a:gdLst/>
              <a:ahLst/>
              <a:cxnLst/>
              <a:rect l="0" t="0" r="0" b="0"/>
              <a:pathLst>
                <a:path w="510" h="566">
                  <a:moveTo>
                    <a:pt x="0" y="311"/>
                  </a:moveTo>
                  <a:lnTo>
                    <a:pt x="127" y="311"/>
                  </a:lnTo>
                  <a:lnTo>
                    <a:pt x="127" y="0"/>
                  </a:lnTo>
                  <a:lnTo>
                    <a:pt x="382" y="0"/>
                  </a:lnTo>
                  <a:lnTo>
                    <a:pt x="382" y="311"/>
                  </a:lnTo>
                  <a:lnTo>
                    <a:pt x="510" y="311"/>
                  </a:lnTo>
                  <a:lnTo>
                    <a:pt x="255" y="566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6" name="path 96"/>
            <p:cNvSpPr/>
            <p:nvPr/>
          </p:nvSpPr>
          <p:spPr>
            <a:xfrm>
              <a:off x="7349535" y="2376266"/>
              <a:ext cx="342000" cy="381712"/>
            </a:xfrm>
            <a:custGeom>
              <a:avLst/>
              <a:gdLst/>
              <a:ahLst/>
              <a:cxnLst/>
              <a:rect l="0" t="0" r="0" b="0"/>
              <a:pathLst>
                <a:path w="538" h="601">
                  <a:moveTo>
                    <a:pt x="14" y="331"/>
                  </a:moveTo>
                  <a:lnTo>
                    <a:pt x="141" y="331"/>
                  </a:lnTo>
                  <a:lnTo>
                    <a:pt x="141" y="20"/>
                  </a:lnTo>
                  <a:lnTo>
                    <a:pt x="396" y="20"/>
                  </a:lnTo>
                  <a:lnTo>
                    <a:pt x="396" y="331"/>
                  </a:lnTo>
                  <a:lnTo>
                    <a:pt x="524" y="331"/>
                  </a:lnTo>
                  <a:lnTo>
                    <a:pt x="269" y="586"/>
                  </a:lnTo>
                  <a:lnTo>
                    <a:pt x="14" y="331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8" name="path 98"/>
            <p:cNvSpPr/>
            <p:nvPr/>
          </p:nvSpPr>
          <p:spPr>
            <a:xfrm>
              <a:off x="6554767" y="3258018"/>
              <a:ext cx="252031" cy="226872"/>
            </a:xfrm>
            <a:custGeom>
              <a:avLst/>
              <a:gdLst/>
              <a:ahLst/>
              <a:cxnLst/>
              <a:rect l="0" t="0" r="0" b="0"/>
              <a:pathLst>
                <a:path w="396" h="357">
                  <a:moveTo>
                    <a:pt x="0" y="178"/>
                  </a:moveTo>
                  <a:lnTo>
                    <a:pt x="178" y="0"/>
                  </a:lnTo>
                  <a:lnTo>
                    <a:pt x="178" y="89"/>
                  </a:lnTo>
                  <a:lnTo>
                    <a:pt x="396" y="89"/>
                  </a:lnTo>
                  <a:lnTo>
                    <a:pt x="396" y="267"/>
                  </a:lnTo>
                  <a:lnTo>
                    <a:pt x="178" y="267"/>
                  </a:lnTo>
                  <a:lnTo>
                    <a:pt x="178" y="357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0" name="path 100"/>
            <p:cNvSpPr/>
            <p:nvPr/>
          </p:nvSpPr>
          <p:spPr>
            <a:xfrm>
              <a:off x="6545786" y="3249038"/>
              <a:ext cx="273711" cy="244833"/>
            </a:xfrm>
            <a:custGeom>
              <a:avLst/>
              <a:gdLst/>
              <a:ahLst/>
              <a:cxnLst/>
              <a:rect l="0" t="0" r="0" b="0"/>
              <a:pathLst>
                <a:path w="431" h="385">
                  <a:moveTo>
                    <a:pt x="14" y="192"/>
                  </a:moveTo>
                  <a:lnTo>
                    <a:pt x="192" y="14"/>
                  </a:lnTo>
                  <a:lnTo>
                    <a:pt x="192" y="103"/>
                  </a:lnTo>
                  <a:lnTo>
                    <a:pt x="411" y="103"/>
                  </a:lnTo>
                  <a:lnTo>
                    <a:pt x="411" y="282"/>
                  </a:lnTo>
                  <a:lnTo>
                    <a:pt x="192" y="282"/>
                  </a:lnTo>
                  <a:lnTo>
                    <a:pt x="192" y="371"/>
                  </a:lnTo>
                  <a:lnTo>
                    <a:pt x="14" y="19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2" name="path 102"/>
            <p:cNvSpPr/>
            <p:nvPr/>
          </p:nvSpPr>
          <p:spPr>
            <a:xfrm>
              <a:off x="4693220" y="3296987"/>
              <a:ext cx="252031" cy="226872"/>
            </a:xfrm>
            <a:custGeom>
              <a:avLst/>
              <a:gdLst/>
              <a:ahLst/>
              <a:cxnLst/>
              <a:rect l="0" t="0" r="0" b="0"/>
              <a:pathLst>
                <a:path w="396" h="357">
                  <a:moveTo>
                    <a:pt x="0" y="178"/>
                  </a:moveTo>
                  <a:lnTo>
                    <a:pt x="178" y="0"/>
                  </a:lnTo>
                  <a:lnTo>
                    <a:pt x="178" y="89"/>
                  </a:lnTo>
                  <a:lnTo>
                    <a:pt x="396" y="89"/>
                  </a:lnTo>
                  <a:lnTo>
                    <a:pt x="396" y="267"/>
                  </a:lnTo>
                  <a:lnTo>
                    <a:pt x="178" y="267"/>
                  </a:lnTo>
                  <a:lnTo>
                    <a:pt x="178" y="357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4" name="path 104"/>
            <p:cNvSpPr/>
            <p:nvPr/>
          </p:nvSpPr>
          <p:spPr>
            <a:xfrm>
              <a:off x="4684240" y="3288007"/>
              <a:ext cx="273711" cy="244833"/>
            </a:xfrm>
            <a:custGeom>
              <a:avLst/>
              <a:gdLst/>
              <a:ahLst/>
              <a:cxnLst/>
              <a:rect l="0" t="0" r="0" b="0"/>
              <a:pathLst>
                <a:path w="431" h="385">
                  <a:moveTo>
                    <a:pt x="14" y="192"/>
                  </a:moveTo>
                  <a:lnTo>
                    <a:pt x="192" y="14"/>
                  </a:lnTo>
                  <a:lnTo>
                    <a:pt x="192" y="103"/>
                  </a:lnTo>
                  <a:lnTo>
                    <a:pt x="411" y="103"/>
                  </a:lnTo>
                  <a:lnTo>
                    <a:pt x="411" y="282"/>
                  </a:lnTo>
                  <a:lnTo>
                    <a:pt x="192" y="282"/>
                  </a:lnTo>
                  <a:lnTo>
                    <a:pt x="192" y="371"/>
                  </a:lnTo>
                  <a:lnTo>
                    <a:pt x="14" y="19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6" name="path 106"/>
            <p:cNvSpPr/>
            <p:nvPr/>
          </p:nvSpPr>
          <p:spPr>
            <a:xfrm>
              <a:off x="2875017" y="3371450"/>
              <a:ext cx="252031" cy="226872"/>
            </a:xfrm>
            <a:custGeom>
              <a:avLst/>
              <a:gdLst/>
              <a:ahLst/>
              <a:cxnLst/>
              <a:rect l="0" t="0" r="0" b="0"/>
              <a:pathLst>
                <a:path w="396" h="357">
                  <a:moveTo>
                    <a:pt x="0" y="178"/>
                  </a:moveTo>
                  <a:lnTo>
                    <a:pt x="178" y="0"/>
                  </a:lnTo>
                  <a:lnTo>
                    <a:pt x="178" y="89"/>
                  </a:lnTo>
                  <a:lnTo>
                    <a:pt x="396" y="89"/>
                  </a:lnTo>
                  <a:lnTo>
                    <a:pt x="396" y="267"/>
                  </a:lnTo>
                  <a:lnTo>
                    <a:pt x="178" y="267"/>
                  </a:lnTo>
                  <a:lnTo>
                    <a:pt x="178" y="357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8" name="path 108"/>
            <p:cNvSpPr/>
            <p:nvPr/>
          </p:nvSpPr>
          <p:spPr>
            <a:xfrm>
              <a:off x="2866037" y="3362469"/>
              <a:ext cx="273711" cy="244833"/>
            </a:xfrm>
            <a:custGeom>
              <a:avLst/>
              <a:gdLst/>
              <a:ahLst/>
              <a:cxnLst/>
              <a:rect l="0" t="0" r="0" b="0"/>
              <a:pathLst>
                <a:path w="431" h="385">
                  <a:moveTo>
                    <a:pt x="14" y="192"/>
                  </a:moveTo>
                  <a:lnTo>
                    <a:pt x="192" y="14"/>
                  </a:lnTo>
                  <a:lnTo>
                    <a:pt x="192" y="103"/>
                  </a:lnTo>
                  <a:lnTo>
                    <a:pt x="411" y="103"/>
                  </a:lnTo>
                  <a:lnTo>
                    <a:pt x="411" y="282"/>
                  </a:lnTo>
                  <a:lnTo>
                    <a:pt x="192" y="282"/>
                  </a:lnTo>
                  <a:lnTo>
                    <a:pt x="192" y="371"/>
                  </a:lnTo>
                  <a:lnTo>
                    <a:pt x="14" y="19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10" name="path 110"/>
            <p:cNvSpPr/>
            <p:nvPr/>
          </p:nvSpPr>
          <p:spPr>
            <a:xfrm>
              <a:off x="1247335" y="3371448"/>
              <a:ext cx="252031" cy="226872"/>
            </a:xfrm>
            <a:custGeom>
              <a:avLst/>
              <a:gdLst/>
              <a:ahLst/>
              <a:cxnLst/>
              <a:rect l="0" t="0" r="0" b="0"/>
              <a:pathLst>
                <a:path w="396" h="357">
                  <a:moveTo>
                    <a:pt x="0" y="178"/>
                  </a:moveTo>
                  <a:lnTo>
                    <a:pt x="178" y="0"/>
                  </a:lnTo>
                  <a:lnTo>
                    <a:pt x="178" y="89"/>
                  </a:lnTo>
                  <a:lnTo>
                    <a:pt x="396" y="89"/>
                  </a:lnTo>
                  <a:lnTo>
                    <a:pt x="396" y="267"/>
                  </a:lnTo>
                  <a:lnTo>
                    <a:pt x="178" y="267"/>
                  </a:lnTo>
                  <a:lnTo>
                    <a:pt x="178" y="357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12" name="path 112"/>
            <p:cNvSpPr/>
            <p:nvPr/>
          </p:nvSpPr>
          <p:spPr>
            <a:xfrm>
              <a:off x="1238355" y="3362468"/>
              <a:ext cx="273711" cy="244833"/>
            </a:xfrm>
            <a:custGeom>
              <a:avLst/>
              <a:gdLst/>
              <a:ahLst/>
              <a:cxnLst/>
              <a:rect l="0" t="0" r="0" b="0"/>
              <a:pathLst>
                <a:path w="431" h="385">
                  <a:moveTo>
                    <a:pt x="14" y="192"/>
                  </a:moveTo>
                  <a:lnTo>
                    <a:pt x="192" y="14"/>
                  </a:lnTo>
                  <a:lnTo>
                    <a:pt x="192" y="103"/>
                  </a:lnTo>
                  <a:lnTo>
                    <a:pt x="411" y="103"/>
                  </a:lnTo>
                  <a:lnTo>
                    <a:pt x="411" y="282"/>
                  </a:lnTo>
                  <a:lnTo>
                    <a:pt x="192" y="282"/>
                  </a:lnTo>
                  <a:lnTo>
                    <a:pt x="192" y="371"/>
                  </a:lnTo>
                  <a:lnTo>
                    <a:pt x="14" y="192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114" name="textbox 114"/>
          <p:cNvSpPr/>
          <p:nvPr/>
        </p:nvSpPr>
        <p:spPr>
          <a:xfrm>
            <a:off x="705767" y="920994"/>
            <a:ext cx="4897754" cy="433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31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手机通讯系统</a:t>
            </a:r>
            <a:r>
              <a:rPr sz="3100" b="1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3100" b="1" kern="0" spc="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处理信号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2734424" y="6220113"/>
            <a:ext cx="3635375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电信号的获得、处理、放大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5894736" y="5093567"/>
            <a:ext cx="929639" cy="696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2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9850" algn="l" rtl="0" eaLnBrk="0" fontAlgn="auto" hangingPunct="1">
              <a:lnSpc>
                <a:spcPct val="930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天线</a:t>
            </a: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sz="2400" kern="0" spc="-4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解码器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4007904" y="2131315"/>
            <a:ext cx="925830" cy="681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1945" indent="-309245" algn="l" rtl="0" eaLnBrk="0" fontAlgn="auto" hangingPunct="1">
              <a:lnSpc>
                <a:spcPct val="900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数字信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3882019" y="5144020"/>
            <a:ext cx="925830" cy="680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1945" indent="-309245" algn="l" rtl="0" eaLnBrk="0" fontAlgn="auto" hangingPunct="1">
              <a:lnSpc>
                <a:spcPct val="900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数字信</a:t>
            </a: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号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5637452" y="2131192"/>
            <a:ext cx="798830" cy="695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2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775" indent="-92075" algn="l" rtl="0" eaLnBrk="0" fontAlgn="auto" hangingPunct="1">
              <a:lnSpc>
                <a:spcPct val="930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编码</a:t>
            </a: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天线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7587649" y="2298954"/>
            <a:ext cx="892810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86000"/>
              </a:lnSpc>
            </a:pPr>
            <a:r>
              <a:rPr sz="2400" kern="0" spc="-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电磁波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7695880" y="5251282"/>
            <a:ext cx="892810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86000"/>
              </a:lnSpc>
            </a:pPr>
            <a:r>
              <a:rPr sz="2400" kern="0" spc="-1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电磁波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7812399" y="3775118"/>
            <a:ext cx="623569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基站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833720" y="2298954"/>
            <a:ext cx="617219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声音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833720" y="5316728"/>
            <a:ext cx="617219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声音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2383148" y="2350952"/>
            <a:ext cx="669290" cy="29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74000"/>
              </a:lnSpc>
            </a:pPr>
            <a:r>
              <a:rPr sz="24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ADC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2406618" y="5348541"/>
            <a:ext cx="645794" cy="29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74000"/>
              </a:lnSpc>
            </a:pPr>
            <a:r>
              <a:rPr sz="2400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DAC</a:t>
            </a:r>
            <a:endParaRPr sz="2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21600000">
            <a:off x="166687" y="866775"/>
            <a:ext cx="8152574" cy="5162550"/>
            <a:chOff x="0" y="0"/>
            <a:chExt cx="8152574" cy="5162550"/>
          </a:xfrm>
        </p:grpSpPr>
        <p:sp>
          <p:nvSpPr>
            <p:cNvPr id="140" name="path 140"/>
            <p:cNvSpPr/>
            <p:nvPr/>
          </p:nvSpPr>
          <p:spPr>
            <a:xfrm>
              <a:off x="2682875" y="0"/>
              <a:ext cx="2506662" cy="5162550"/>
            </a:xfrm>
            <a:custGeom>
              <a:avLst/>
              <a:gdLst/>
              <a:ahLst/>
              <a:cxnLst/>
              <a:rect l="0" t="0" r="0" b="0"/>
              <a:pathLst>
                <a:path w="3947" h="8130">
                  <a:moveTo>
                    <a:pt x="1272" y="7"/>
                  </a:moveTo>
                  <a:lnTo>
                    <a:pt x="3320" y="7"/>
                  </a:lnTo>
                  <a:lnTo>
                    <a:pt x="3320" y="650"/>
                  </a:lnTo>
                  <a:lnTo>
                    <a:pt x="1272" y="650"/>
                  </a:lnTo>
                  <a:lnTo>
                    <a:pt x="1272" y="7"/>
                  </a:lnTo>
                  <a:moveTo>
                    <a:pt x="7" y="7097"/>
                  </a:moveTo>
                  <a:lnTo>
                    <a:pt x="3940" y="7097"/>
                  </a:lnTo>
                  <a:lnTo>
                    <a:pt x="3940" y="8122"/>
                  </a:lnTo>
                  <a:lnTo>
                    <a:pt x="7" y="8122"/>
                  </a:lnTo>
                  <a:lnTo>
                    <a:pt x="7" y="709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42" name="path 142"/>
            <p:cNvSpPr/>
            <p:nvPr/>
          </p:nvSpPr>
          <p:spPr>
            <a:xfrm>
              <a:off x="3987800" y="4086225"/>
              <a:ext cx="28575" cy="349250"/>
            </a:xfrm>
            <a:custGeom>
              <a:avLst/>
              <a:gdLst/>
              <a:ahLst/>
              <a:cxnLst/>
              <a:rect l="0" t="0" r="0" b="0"/>
              <a:pathLst>
                <a:path w="45" h="550">
                  <a:moveTo>
                    <a:pt x="22" y="0"/>
                  </a:moveTo>
                  <a:lnTo>
                    <a:pt x="22" y="55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44" name="path 144"/>
            <p:cNvSpPr/>
            <p:nvPr/>
          </p:nvSpPr>
          <p:spPr>
            <a:xfrm>
              <a:off x="3959230" y="4421190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46" name="path 146"/>
            <p:cNvSpPr/>
            <p:nvPr/>
          </p:nvSpPr>
          <p:spPr>
            <a:xfrm>
              <a:off x="4367212" y="4240212"/>
              <a:ext cx="28575" cy="207962"/>
            </a:xfrm>
            <a:custGeom>
              <a:avLst/>
              <a:gdLst/>
              <a:ahLst/>
              <a:cxnLst/>
              <a:rect l="0" t="0" r="0" b="0"/>
              <a:pathLst>
                <a:path w="45" h="327">
                  <a:moveTo>
                    <a:pt x="22" y="0"/>
                  </a:moveTo>
                  <a:lnTo>
                    <a:pt x="22" y="327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48" name="path 148"/>
            <p:cNvSpPr/>
            <p:nvPr/>
          </p:nvSpPr>
          <p:spPr>
            <a:xfrm>
              <a:off x="4338642" y="4433890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50" name="path 150"/>
            <p:cNvSpPr/>
            <p:nvPr/>
          </p:nvSpPr>
          <p:spPr>
            <a:xfrm>
              <a:off x="3563937" y="4225925"/>
              <a:ext cx="28575" cy="209550"/>
            </a:xfrm>
            <a:custGeom>
              <a:avLst/>
              <a:gdLst/>
              <a:ahLst/>
              <a:cxnLst/>
              <a:rect l="0" t="0" r="0" b="0"/>
              <a:pathLst>
                <a:path w="45" h="330">
                  <a:moveTo>
                    <a:pt x="22" y="0"/>
                  </a:moveTo>
                  <a:lnTo>
                    <a:pt x="22" y="33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52" name="path 152"/>
            <p:cNvSpPr/>
            <p:nvPr/>
          </p:nvSpPr>
          <p:spPr>
            <a:xfrm>
              <a:off x="3535367" y="4421190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54" name="path 154"/>
            <p:cNvSpPr/>
            <p:nvPr/>
          </p:nvSpPr>
          <p:spPr>
            <a:xfrm>
              <a:off x="4732337" y="4341812"/>
              <a:ext cx="28575" cy="106362"/>
            </a:xfrm>
            <a:custGeom>
              <a:avLst/>
              <a:gdLst/>
              <a:ahLst/>
              <a:cxnLst/>
              <a:rect l="0" t="0" r="0" b="0"/>
              <a:pathLst>
                <a:path w="45" h="167">
                  <a:moveTo>
                    <a:pt x="22" y="0"/>
                  </a:moveTo>
                  <a:lnTo>
                    <a:pt x="22" y="167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56" name="path 156"/>
            <p:cNvSpPr/>
            <p:nvPr/>
          </p:nvSpPr>
          <p:spPr>
            <a:xfrm>
              <a:off x="4703767" y="4433890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58" name="path 158"/>
            <p:cNvSpPr/>
            <p:nvPr/>
          </p:nvSpPr>
          <p:spPr>
            <a:xfrm>
              <a:off x="3155950" y="4316412"/>
              <a:ext cx="28575" cy="106362"/>
            </a:xfrm>
            <a:custGeom>
              <a:avLst/>
              <a:gdLst/>
              <a:ahLst/>
              <a:cxnLst/>
              <a:rect l="0" t="0" r="0" b="0"/>
              <a:pathLst>
                <a:path w="45" h="167">
                  <a:moveTo>
                    <a:pt x="22" y="0"/>
                  </a:moveTo>
                  <a:lnTo>
                    <a:pt x="22" y="167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60" name="path 160"/>
            <p:cNvSpPr/>
            <p:nvPr/>
          </p:nvSpPr>
          <p:spPr>
            <a:xfrm>
              <a:off x="3127378" y="4408490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62" name="path 162"/>
            <p:cNvSpPr/>
            <p:nvPr/>
          </p:nvSpPr>
          <p:spPr>
            <a:xfrm>
              <a:off x="919162" y="4060825"/>
              <a:ext cx="6107110" cy="295274"/>
            </a:xfrm>
            <a:custGeom>
              <a:avLst/>
              <a:gdLst/>
              <a:ahLst/>
              <a:cxnLst/>
              <a:rect l="0" t="0" r="0" b="0"/>
              <a:pathLst>
                <a:path w="9617" h="464">
                  <a:moveTo>
                    <a:pt x="6052" y="442"/>
                  </a:moveTo>
                  <a:lnTo>
                    <a:pt x="9595" y="442"/>
                  </a:lnTo>
                  <a:moveTo>
                    <a:pt x="9594" y="60"/>
                  </a:moveTo>
                  <a:lnTo>
                    <a:pt x="9594" y="402"/>
                  </a:lnTo>
                  <a:moveTo>
                    <a:pt x="7177" y="40"/>
                  </a:moveTo>
                  <a:lnTo>
                    <a:pt x="7177" y="282"/>
                  </a:lnTo>
                  <a:moveTo>
                    <a:pt x="5452" y="302"/>
                  </a:moveTo>
                  <a:lnTo>
                    <a:pt x="7202" y="302"/>
                  </a:lnTo>
                  <a:moveTo>
                    <a:pt x="2302" y="0"/>
                  </a:moveTo>
                  <a:lnTo>
                    <a:pt x="2302" y="240"/>
                  </a:lnTo>
                  <a:moveTo>
                    <a:pt x="2302" y="260"/>
                  </a:moveTo>
                  <a:lnTo>
                    <a:pt x="4165" y="260"/>
                  </a:lnTo>
                  <a:moveTo>
                    <a:pt x="0" y="402"/>
                  </a:moveTo>
                  <a:lnTo>
                    <a:pt x="3545" y="402"/>
                  </a:lnTo>
                  <a:moveTo>
                    <a:pt x="25" y="0"/>
                  </a:moveTo>
                  <a:lnTo>
                    <a:pt x="25" y="402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64" name="path 164"/>
            <p:cNvSpPr/>
            <p:nvPr/>
          </p:nvSpPr>
          <p:spPr>
            <a:xfrm>
              <a:off x="7883523" y="25400"/>
              <a:ext cx="269051" cy="4984750"/>
            </a:xfrm>
            <a:custGeom>
              <a:avLst/>
              <a:gdLst/>
              <a:ahLst/>
              <a:cxnLst/>
              <a:rect l="0" t="0" r="0" b="0"/>
              <a:pathLst>
                <a:path w="423" h="7850">
                  <a:moveTo>
                    <a:pt x="75" y="7"/>
                  </a:moveTo>
                  <a:cubicBezTo>
                    <a:pt x="145" y="7"/>
                    <a:pt x="202" y="77"/>
                    <a:pt x="202" y="162"/>
                  </a:cubicBezTo>
                  <a:lnTo>
                    <a:pt x="202" y="655"/>
                  </a:lnTo>
                  <a:cubicBezTo>
                    <a:pt x="202" y="741"/>
                    <a:pt x="259" y="811"/>
                    <a:pt x="330" y="811"/>
                  </a:cubicBezTo>
                  <a:cubicBezTo>
                    <a:pt x="259" y="811"/>
                    <a:pt x="202" y="880"/>
                    <a:pt x="202" y="966"/>
                  </a:cubicBezTo>
                  <a:lnTo>
                    <a:pt x="202" y="1459"/>
                  </a:lnTo>
                  <a:cubicBezTo>
                    <a:pt x="202" y="1545"/>
                    <a:pt x="145" y="1615"/>
                    <a:pt x="75" y="1615"/>
                  </a:cubicBezTo>
                  <a:moveTo>
                    <a:pt x="7" y="2537"/>
                  </a:moveTo>
                  <a:cubicBezTo>
                    <a:pt x="78" y="2537"/>
                    <a:pt x="136" y="2607"/>
                    <a:pt x="136" y="2694"/>
                  </a:cubicBezTo>
                  <a:lnTo>
                    <a:pt x="136" y="3184"/>
                  </a:lnTo>
                  <a:cubicBezTo>
                    <a:pt x="136" y="3271"/>
                    <a:pt x="193" y="3341"/>
                    <a:pt x="265" y="3341"/>
                  </a:cubicBezTo>
                  <a:cubicBezTo>
                    <a:pt x="193" y="3341"/>
                    <a:pt x="136" y="3411"/>
                    <a:pt x="136" y="3498"/>
                  </a:cubicBezTo>
                  <a:lnTo>
                    <a:pt x="136" y="3988"/>
                  </a:lnTo>
                  <a:cubicBezTo>
                    <a:pt x="136" y="4074"/>
                    <a:pt x="78" y="4145"/>
                    <a:pt x="7" y="4145"/>
                  </a:cubicBezTo>
                  <a:moveTo>
                    <a:pt x="75" y="5330"/>
                  </a:moveTo>
                  <a:cubicBezTo>
                    <a:pt x="169" y="5330"/>
                    <a:pt x="245" y="5432"/>
                    <a:pt x="245" y="5558"/>
                  </a:cubicBezTo>
                  <a:lnTo>
                    <a:pt x="245" y="6357"/>
                  </a:lnTo>
                  <a:cubicBezTo>
                    <a:pt x="245" y="6483"/>
                    <a:pt x="321" y="6586"/>
                    <a:pt x="416" y="6586"/>
                  </a:cubicBezTo>
                  <a:cubicBezTo>
                    <a:pt x="321" y="6586"/>
                    <a:pt x="245" y="6688"/>
                    <a:pt x="245" y="6814"/>
                  </a:cubicBezTo>
                  <a:lnTo>
                    <a:pt x="245" y="7613"/>
                  </a:lnTo>
                  <a:cubicBezTo>
                    <a:pt x="245" y="7740"/>
                    <a:pt x="169" y="7842"/>
                    <a:pt x="75" y="7842"/>
                  </a:cubicBez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66" name="path 166"/>
            <p:cNvSpPr/>
            <p:nvPr/>
          </p:nvSpPr>
          <p:spPr>
            <a:xfrm>
              <a:off x="0" y="3443287"/>
              <a:ext cx="7831136" cy="647700"/>
            </a:xfrm>
            <a:custGeom>
              <a:avLst/>
              <a:gdLst/>
              <a:ahLst/>
              <a:cxnLst/>
              <a:rect l="0" t="0" r="0" b="0"/>
              <a:pathLst>
                <a:path w="12332" h="1020">
                  <a:moveTo>
                    <a:pt x="7" y="7"/>
                  </a:moveTo>
                  <a:lnTo>
                    <a:pt x="2488" y="7"/>
                  </a:lnTo>
                  <a:lnTo>
                    <a:pt x="2488" y="952"/>
                  </a:lnTo>
                  <a:lnTo>
                    <a:pt x="7" y="952"/>
                  </a:lnTo>
                  <a:lnTo>
                    <a:pt x="7" y="7"/>
                  </a:lnTo>
                  <a:moveTo>
                    <a:pt x="2541" y="27"/>
                  </a:moveTo>
                  <a:lnTo>
                    <a:pt x="4939" y="27"/>
                  </a:lnTo>
                  <a:lnTo>
                    <a:pt x="4939" y="972"/>
                  </a:lnTo>
                  <a:lnTo>
                    <a:pt x="2541" y="972"/>
                  </a:lnTo>
                  <a:lnTo>
                    <a:pt x="2541" y="27"/>
                  </a:lnTo>
                  <a:moveTo>
                    <a:pt x="5075" y="47"/>
                  </a:moveTo>
                  <a:lnTo>
                    <a:pt x="7465" y="47"/>
                  </a:lnTo>
                  <a:lnTo>
                    <a:pt x="7465" y="992"/>
                  </a:lnTo>
                  <a:lnTo>
                    <a:pt x="5075" y="992"/>
                  </a:lnTo>
                  <a:lnTo>
                    <a:pt x="5075" y="47"/>
                  </a:lnTo>
                  <a:moveTo>
                    <a:pt x="7558" y="67"/>
                  </a:moveTo>
                  <a:lnTo>
                    <a:pt x="9919" y="67"/>
                  </a:lnTo>
                  <a:lnTo>
                    <a:pt x="9919" y="1012"/>
                  </a:lnTo>
                  <a:lnTo>
                    <a:pt x="7558" y="1012"/>
                  </a:lnTo>
                  <a:lnTo>
                    <a:pt x="7558" y="67"/>
                  </a:lnTo>
                  <a:close/>
                  <a:moveTo>
                    <a:pt x="9964" y="67"/>
                  </a:moveTo>
                  <a:lnTo>
                    <a:pt x="12324" y="67"/>
                  </a:lnTo>
                  <a:lnTo>
                    <a:pt x="12324" y="1012"/>
                  </a:lnTo>
                  <a:lnTo>
                    <a:pt x="9964" y="1012"/>
                  </a:lnTo>
                  <a:lnTo>
                    <a:pt x="9964" y="6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68" name="path 168"/>
            <p:cNvSpPr/>
            <p:nvPr/>
          </p:nvSpPr>
          <p:spPr>
            <a:xfrm>
              <a:off x="499677" y="1331912"/>
              <a:ext cx="6697772" cy="2032000"/>
            </a:xfrm>
            <a:custGeom>
              <a:avLst/>
              <a:gdLst/>
              <a:ahLst/>
              <a:cxnLst/>
              <a:rect l="0" t="0" r="0" b="0"/>
              <a:pathLst>
                <a:path w="10547" h="3200">
                  <a:moveTo>
                    <a:pt x="877" y="0"/>
                  </a:moveTo>
                  <a:lnTo>
                    <a:pt x="877" y="2830"/>
                  </a:lnTo>
                  <a:moveTo>
                    <a:pt x="623" y="2829"/>
                  </a:moveTo>
                  <a:lnTo>
                    <a:pt x="9806" y="2829"/>
                  </a:lnTo>
                  <a:moveTo>
                    <a:pt x="6083" y="2439"/>
                  </a:moveTo>
                  <a:lnTo>
                    <a:pt x="10547" y="2439"/>
                  </a:lnTo>
                  <a:moveTo>
                    <a:pt x="623" y="2107"/>
                  </a:moveTo>
                  <a:lnTo>
                    <a:pt x="3421" y="2107"/>
                  </a:lnTo>
                  <a:moveTo>
                    <a:pt x="35" y="2107"/>
                  </a:moveTo>
                  <a:lnTo>
                    <a:pt x="726" y="2107"/>
                  </a:lnTo>
                  <a:moveTo>
                    <a:pt x="2820" y="1807"/>
                  </a:moveTo>
                  <a:lnTo>
                    <a:pt x="2820" y="2087"/>
                  </a:lnTo>
                  <a:moveTo>
                    <a:pt x="22" y="2127"/>
                  </a:moveTo>
                  <a:lnTo>
                    <a:pt x="22" y="320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70" name="path 170"/>
            <p:cNvSpPr/>
            <p:nvPr/>
          </p:nvSpPr>
          <p:spPr>
            <a:xfrm>
              <a:off x="471107" y="334962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72" name="path 172"/>
            <p:cNvSpPr/>
            <p:nvPr/>
          </p:nvSpPr>
          <p:spPr>
            <a:xfrm>
              <a:off x="2673766" y="3219450"/>
              <a:ext cx="28575" cy="182562"/>
            </a:xfrm>
            <a:custGeom>
              <a:avLst/>
              <a:gdLst/>
              <a:ahLst/>
              <a:cxnLst/>
              <a:rect l="0" t="0" r="0" b="0"/>
              <a:pathLst>
                <a:path w="45" h="287">
                  <a:moveTo>
                    <a:pt x="22" y="0"/>
                  </a:moveTo>
                  <a:lnTo>
                    <a:pt x="22" y="287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74" name="path 174"/>
            <p:cNvSpPr/>
            <p:nvPr/>
          </p:nvSpPr>
          <p:spPr>
            <a:xfrm>
              <a:off x="2645196" y="33877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76" name="path 176"/>
            <p:cNvSpPr/>
            <p:nvPr/>
          </p:nvSpPr>
          <p:spPr>
            <a:xfrm>
              <a:off x="2673766" y="2479675"/>
              <a:ext cx="4023983" cy="909637"/>
            </a:xfrm>
            <a:custGeom>
              <a:avLst/>
              <a:gdLst/>
              <a:ahLst/>
              <a:cxnLst/>
              <a:rect l="0" t="0" r="0" b="0"/>
              <a:pathLst>
                <a:path w="6336" h="1432">
                  <a:moveTo>
                    <a:pt x="22" y="300"/>
                  </a:moveTo>
                  <a:lnTo>
                    <a:pt x="22" y="1285"/>
                  </a:lnTo>
                  <a:moveTo>
                    <a:pt x="6314" y="20"/>
                  </a:moveTo>
                  <a:lnTo>
                    <a:pt x="6314" y="602"/>
                  </a:lnTo>
                  <a:moveTo>
                    <a:pt x="2103" y="0"/>
                  </a:moveTo>
                  <a:lnTo>
                    <a:pt x="2103" y="1245"/>
                  </a:lnTo>
                  <a:moveTo>
                    <a:pt x="2103" y="1145"/>
                  </a:moveTo>
                  <a:lnTo>
                    <a:pt x="2103" y="1432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78" name="path 178"/>
            <p:cNvSpPr/>
            <p:nvPr/>
          </p:nvSpPr>
          <p:spPr>
            <a:xfrm>
              <a:off x="3966889" y="33750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80" name="path 180"/>
            <p:cNvSpPr/>
            <p:nvPr/>
          </p:nvSpPr>
          <p:spPr>
            <a:xfrm>
              <a:off x="4333864" y="2887662"/>
              <a:ext cx="28575" cy="514350"/>
            </a:xfrm>
            <a:custGeom>
              <a:avLst/>
              <a:gdLst/>
              <a:ahLst/>
              <a:cxnLst/>
              <a:rect l="0" t="0" r="0" b="0"/>
              <a:pathLst>
                <a:path w="45" h="810">
                  <a:moveTo>
                    <a:pt x="22" y="0"/>
                  </a:moveTo>
                  <a:lnTo>
                    <a:pt x="22" y="622"/>
                  </a:lnTo>
                  <a:moveTo>
                    <a:pt x="22" y="502"/>
                  </a:moveTo>
                  <a:lnTo>
                    <a:pt x="22" y="81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82" name="path 182"/>
            <p:cNvSpPr/>
            <p:nvPr/>
          </p:nvSpPr>
          <p:spPr>
            <a:xfrm>
              <a:off x="4305294" y="33877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84" name="path 184"/>
            <p:cNvSpPr/>
            <p:nvPr/>
          </p:nvSpPr>
          <p:spPr>
            <a:xfrm>
              <a:off x="3554896" y="3128962"/>
              <a:ext cx="28575" cy="273050"/>
            </a:xfrm>
            <a:custGeom>
              <a:avLst/>
              <a:gdLst/>
              <a:ahLst/>
              <a:cxnLst/>
              <a:rect l="0" t="0" r="0" b="0"/>
              <a:pathLst>
                <a:path w="45" h="430">
                  <a:moveTo>
                    <a:pt x="22" y="0"/>
                  </a:moveTo>
                  <a:lnTo>
                    <a:pt x="22" y="43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86" name="path 186"/>
            <p:cNvSpPr/>
            <p:nvPr/>
          </p:nvSpPr>
          <p:spPr>
            <a:xfrm>
              <a:off x="3526325" y="33877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88" name="path 188"/>
            <p:cNvSpPr/>
            <p:nvPr/>
          </p:nvSpPr>
          <p:spPr>
            <a:xfrm>
              <a:off x="881180" y="3128962"/>
              <a:ext cx="28575" cy="273050"/>
            </a:xfrm>
            <a:custGeom>
              <a:avLst/>
              <a:gdLst/>
              <a:ahLst/>
              <a:cxnLst/>
              <a:rect l="0" t="0" r="0" b="0"/>
              <a:pathLst>
                <a:path w="45" h="430">
                  <a:moveTo>
                    <a:pt x="22" y="0"/>
                  </a:moveTo>
                  <a:lnTo>
                    <a:pt x="22" y="43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90" name="path 190"/>
            <p:cNvSpPr/>
            <p:nvPr/>
          </p:nvSpPr>
          <p:spPr>
            <a:xfrm>
              <a:off x="852610" y="33877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92" name="path 192"/>
            <p:cNvSpPr/>
            <p:nvPr/>
          </p:nvSpPr>
          <p:spPr>
            <a:xfrm>
              <a:off x="2115079" y="3143250"/>
              <a:ext cx="28575" cy="271462"/>
            </a:xfrm>
            <a:custGeom>
              <a:avLst/>
              <a:gdLst/>
              <a:ahLst/>
              <a:cxnLst/>
              <a:rect l="0" t="0" r="0" b="0"/>
              <a:pathLst>
                <a:path w="45" h="427">
                  <a:moveTo>
                    <a:pt x="22" y="0"/>
                  </a:moveTo>
                  <a:lnTo>
                    <a:pt x="22" y="427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94" name="path 194"/>
            <p:cNvSpPr/>
            <p:nvPr/>
          </p:nvSpPr>
          <p:spPr>
            <a:xfrm>
              <a:off x="2086509" y="340042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96" name="path 196"/>
            <p:cNvSpPr/>
            <p:nvPr/>
          </p:nvSpPr>
          <p:spPr>
            <a:xfrm>
              <a:off x="5243726" y="3135312"/>
              <a:ext cx="28575" cy="292100"/>
            </a:xfrm>
            <a:custGeom>
              <a:avLst/>
              <a:gdLst/>
              <a:ahLst/>
              <a:cxnLst/>
              <a:rect l="0" t="0" r="0" b="0"/>
              <a:pathLst>
                <a:path w="45" h="460">
                  <a:moveTo>
                    <a:pt x="22" y="0"/>
                  </a:moveTo>
                  <a:lnTo>
                    <a:pt x="22" y="46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98" name="path 198"/>
            <p:cNvSpPr/>
            <p:nvPr/>
          </p:nvSpPr>
          <p:spPr>
            <a:xfrm>
              <a:off x="5215156" y="34131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00" name="path 200"/>
            <p:cNvSpPr/>
            <p:nvPr/>
          </p:nvSpPr>
          <p:spPr>
            <a:xfrm>
              <a:off x="5788045" y="2887662"/>
              <a:ext cx="28575" cy="539750"/>
            </a:xfrm>
            <a:custGeom>
              <a:avLst/>
              <a:gdLst/>
              <a:ahLst/>
              <a:cxnLst/>
              <a:rect l="0" t="0" r="0" b="0"/>
              <a:pathLst>
                <a:path w="45" h="850">
                  <a:moveTo>
                    <a:pt x="22" y="0"/>
                  </a:moveTo>
                  <a:lnTo>
                    <a:pt x="22" y="572"/>
                  </a:lnTo>
                  <a:moveTo>
                    <a:pt x="22" y="542"/>
                  </a:moveTo>
                  <a:lnTo>
                    <a:pt x="22" y="85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02" name="path 202"/>
            <p:cNvSpPr/>
            <p:nvPr/>
          </p:nvSpPr>
          <p:spPr>
            <a:xfrm>
              <a:off x="5759475" y="34131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04" name="path 204"/>
            <p:cNvSpPr/>
            <p:nvPr/>
          </p:nvSpPr>
          <p:spPr>
            <a:xfrm>
              <a:off x="6712273" y="3128962"/>
              <a:ext cx="28575" cy="298450"/>
            </a:xfrm>
            <a:custGeom>
              <a:avLst/>
              <a:gdLst/>
              <a:ahLst/>
              <a:cxnLst/>
              <a:rect l="0" t="0" r="0" b="0"/>
              <a:pathLst>
                <a:path w="45" h="470">
                  <a:moveTo>
                    <a:pt x="22" y="0"/>
                  </a:moveTo>
                  <a:lnTo>
                    <a:pt x="22" y="47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06" name="path 206"/>
            <p:cNvSpPr/>
            <p:nvPr/>
          </p:nvSpPr>
          <p:spPr>
            <a:xfrm>
              <a:off x="6683702" y="341312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08" name="path 208"/>
            <p:cNvSpPr/>
            <p:nvPr/>
          </p:nvSpPr>
          <p:spPr>
            <a:xfrm>
              <a:off x="7183165" y="2887663"/>
              <a:ext cx="28575" cy="539750"/>
            </a:xfrm>
            <a:custGeom>
              <a:avLst/>
              <a:gdLst/>
              <a:ahLst/>
              <a:cxnLst/>
              <a:rect l="0" t="0" r="0" b="0"/>
              <a:pathLst>
                <a:path w="45" h="850">
                  <a:moveTo>
                    <a:pt x="22" y="0"/>
                  </a:moveTo>
                  <a:lnTo>
                    <a:pt x="22" y="300"/>
                  </a:lnTo>
                  <a:moveTo>
                    <a:pt x="22" y="220"/>
                  </a:moveTo>
                  <a:lnTo>
                    <a:pt x="22" y="85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10" name="path 210"/>
            <p:cNvSpPr/>
            <p:nvPr/>
          </p:nvSpPr>
          <p:spPr>
            <a:xfrm>
              <a:off x="7154595" y="341312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12" name="path 212"/>
            <p:cNvSpPr/>
            <p:nvPr/>
          </p:nvSpPr>
          <p:spPr>
            <a:xfrm>
              <a:off x="7197534" y="1293812"/>
              <a:ext cx="469137" cy="2108200"/>
            </a:xfrm>
            <a:custGeom>
              <a:avLst/>
              <a:gdLst/>
              <a:ahLst/>
              <a:cxnLst/>
              <a:rect l="0" t="0" r="0" b="0"/>
              <a:pathLst>
                <a:path w="738" h="3320">
                  <a:moveTo>
                    <a:pt x="22" y="0"/>
                  </a:moveTo>
                  <a:lnTo>
                    <a:pt x="22" y="130"/>
                  </a:lnTo>
                  <a:moveTo>
                    <a:pt x="45" y="140"/>
                  </a:moveTo>
                  <a:lnTo>
                    <a:pt x="716" y="140"/>
                  </a:lnTo>
                  <a:moveTo>
                    <a:pt x="716" y="160"/>
                  </a:moveTo>
                  <a:lnTo>
                    <a:pt x="716" y="332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14" name="path 214"/>
            <p:cNvSpPr/>
            <p:nvPr/>
          </p:nvSpPr>
          <p:spPr>
            <a:xfrm>
              <a:off x="7609526" y="338772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16" name="path 216"/>
            <p:cNvSpPr/>
            <p:nvPr/>
          </p:nvSpPr>
          <p:spPr>
            <a:xfrm>
              <a:off x="1358459" y="2867024"/>
              <a:ext cx="2996072" cy="496887"/>
            </a:xfrm>
            <a:custGeom>
              <a:avLst/>
              <a:gdLst/>
              <a:ahLst/>
              <a:cxnLst/>
              <a:rect l="0" t="0" r="0" b="0"/>
              <a:pathLst>
                <a:path w="4718" h="782">
                  <a:moveTo>
                    <a:pt x="3840" y="22"/>
                  </a:moveTo>
                  <a:lnTo>
                    <a:pt x="4718" y="22"/>
                  </a:lnTo>
                  <a:moveTo>
                    <a:pt x="2209" y="22"/>
                  </a:moveTo>
                  <a:lnTo>
                    <a:pt x="4059" y="22"/>
                  </a:lnTo>
                  <a:moveTo>
                    <a:pt x="22" y="22"/>
                  </a:moveTo>
                  <a:lnTo>
                    <a:pt x="2428" y="22"/>
                  </a:lnTo>
                  <a:moveTo>
                    <a:pt x="22" y="495"/>
                  </a:moveTo>
                  <a:lnTo>
                    <a:pt x="22" y="782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18" name="path 218"/>
            <p:cNvSpPr/>
            <p:nvPr/>
          </p:nvSpPr>
          <p:spPr>
            <a:xfrm>
              <a:off x="1329889" y="3349626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20" name="path 220"/>
            <p:cNvSpPr/>
            <p:nvPr/>
          </p:nvSpPr>
          <p:spPr>
            <a:xfrm>
              <a:off x="1358459" y="2887662"/>
              <a:ext cx="1666325" cy="495300"/>
            </a:xfrm>
            <a:custGeom>
              <a:avLst/>
              <a:gdLst/>
              <a:ahLst/>
              <a:cxnLst/>
              <a:rect l="0" t="0" r="0" b="0"/>
              <a:pathLst>
                <a:path w="2624" h="780">
                  <a:moveTo>
                    <a:pt x="22" y="0"/>
                  </a:moveTo>
                  <a:lnTo>
                    <a:pt x="22" y="542"/>
                  </a:lnTo>
                  <a:moveTo>
                    <a:pt x="2601" y="490"/>
                  </a:moveTo>
                  <a:lnTo>
                    <a:pt x="2601" y="78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22" name="path 222"/>
            <p:cNvSpPr/>
            <p:nvPr/>
          </p:nvSpPr>
          <p:spPr>
            <a:xfrm>
              <a:off x="2967638" y="336867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24" name="path 224"/>
            <p:cNvSpPr/>
            <p:nvPr/>
          </p:nvSpPr>
          <p:spPr>
            <a:xfrm>
              <a:off x="2994612" y="1560514"/>
              <a:ext cx="2964862" cy="1709735"/>
            </a:xfrm>
            <a:custGeom>
              <a:avLst/>
              <a:gdLst/>
              <a:ahLst/>
              <a:cxnLst/>
              <a:rect l="0" t="0" r="0" b="0"/>
              <a:pathLst>
                <a:path w="4669" h="2692">
                  <a:moveTo>
                    <a:pt x="22" y="2107"/>
                  </a:moveTo>
                  <a:lnTo>
                    <a:pt x="22" y="2692"/>
                  </a:lnTo>
                  <a:moveTo>
                    <a:pt x="4646" y="1467"/>
                  </a:moveTo>
                  <a:lnTo>
                    <a:pt x="4646" y="1707"/>
                  </a:lnTo>
                  <a:moveTo>
                    <a:pt x="3704" y="1707"/>
                  </a:moveTo>
                  <a:lnTo>
                    <a:pt x="4624" y="1707"/>
                  </a:lnTo>
                  <a:moveTo>
                    <a:pt x="3704" y="0"/>
                  </a:moveTo>
                  <a:lnTo>
                    <a:pt x="3704" y="1687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26" name="path 226"/>
            <p:cNvSpPr/>
            <p:nvPr/>
          </p:nvSpPr>
          <p:spPr>
            <a:xfrm>
              <a:off x="1382712" y="1785937"/>
              <a:ext cx="6145212" cy="698500"/>
            </a:xfrm>
            <a:custGeom>
              <a:avLst/>
              <a:gdLst/>
              <a:ahLst/>
              <a:cxnLst/>
              <a:rect l="0" t="0" r="0" b="0"/>
              <a:pathLst>
                <a:path w="9677" h="1100">
                  <a:moveTo>
                    <a:pt x="7" y="7"/>
                  </a:moveTo>
                  <a:lnTo>
                    <a:pt x="2837" y="7"/>
                  </a:lnTo>
                  <a:lnTo>
                    <a:pt x="2837" y="1072"/>
                  </a:lnTo>
                  <a:lnTo>
                    <a:pt x="7" y="1072"/>
                  </a:lnTo>
                  <a:lnTo>
                    <a:pt x="7" y="7"/>
                  </a:lnTo>
                  <a:moveTo>
                    <a:pt x="3320" y="27"/>
                  </a:moveTo>
                  <a:lnTo>
                    <a:pt x="5965" y="27"/>
                  </a:lnTo>
                  <a:lnTo>
                    <a:pt x="5965" y="1092"/>
                  </a:lnTo>
                  <a:lnTo>
                    <a:pt x="3320" y="1092"/>
                  </a:lnTo>
                  <a:lnTo>
                    <a:pt x="3320" y="27"/>
                  </a:lnTo>
                  <a:moveTo>
                    <a:pt x="6587" y="27"/>
                  </a:moveTo>
                  <a:lnTo>
                    <a:pt x="9670" y="27"/>
                  </a:lnTo>
                  <a:lnTo>
                    <a:pt x="9670" y="1092"/>
                  </a:lnTo>
                  <a:lnTo>
                    <a:pt x="6587" y="1092"/>
                  </a:lnTo>
                  <a:lnTo>
                    <a:pt x="6587" y="27"/>
                  </a:lnTo>
                  <a:close/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28" name="path 228"/>
            <p:cNvSpPr/>
            <p:nvPr/>
          </p:nvSpPr>
          <p:spPr>
            <a:xfrm>
              <a:off x="2732087" y="1546225"/>
              <a:ext cx="2614612" cy="173037"/>
            </a:xfrm>
            <a:custGeom>
              <a:avLst/>
              <a:gdLst/>
              <a:ahLst/>
              <a:cxnLst/>
              <a:rect l="0" t="0" r="0" b="0"/>
              <a:pathLst>
                <a:path w="4117" h="272">
                  <a:moveTo>
                    <a:pt x="22" y="22"/>
                  </a:moveTo>
                  <a:lnTo>
                    <a:pt x="4117" y="22"/>
                  </a:lnTo>
                  <a:moveTo>
                    <a:pt x="22" y="42"/>
                  </a:moveTo>
                  <a:lnTo>
                    <a:pt x="22" y="272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30" name="path 230"/>
            <p:cNvSpPr/>
            <p:nvPr/>
          </p:nvSpPr>
          <p:spPr>
            <a:xfrm>
              <a:off x="2703517" y="170497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32" name="path 232"/>
            <p:cNvSpPr/>
            <p:nvPr/>
          </p:nvSpPr>
          <p:spPr>
            <a:xfrm>
              <a:off x="4689475" y="1573212"/>
              <a:ext cx="28575" cy="158750"/>
            </a:xfrm>
            <a:custGeom>
              <a:avLst/>
              <a:gdLst/>
              <a:ahLst/>
              <a:cxnLst/>
              <a:rect l="0" t="0" r="0" b="0"/>
              <a:pathLst>
                <a:path w="45" h="250">
                  <a:moveTo>
                    <a:pt x="22" y="0"/>
                  </a:moveTo>
                  <a:lnTo>
                    <a:pt x="22" y="25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34" name="path 234"/>
            <p:cNvSpPr/>
            <p:nvPr/>
          </p:nvSpPr>
          <p:spPr>
            <a:xfrm>
              <a:off x="4660903" y="171767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36" name="path 236"/>
            <p:cNvSpPr/>
            <p:nvPr/>
          </p:nvSpPr>
          <p:spPr>
            <a:xfrm>
              <a:off x="2089150" y="1279525"/>
              <a:ext cx="2087562" cy="452437"/>
            </a:xfrm>
            <a:custGeom>
              <a:avLst/>
              <a:gdLst/>
              <a:ahLst/>
              <a:cxnLst/>
              <a:rect l="0" t="0" r="0" b="0"/>
              <a:pathLst>
                <a:path w="3287" h="712">
                  <a:moveTo>
                    <a:pt x="3265" y="0"/>
                  </a:moveTo>
                  <a:lnTo>
                    <a:pt x="3265" y="605"/>
                  </a:lnTo>
                  <a:moveTo>
                    <a:pt x="2482" y="22"/>
                  </a:moveTo>
                  <a:lnTo>
                    <a:pt x="2482" y="222"/>
                  </a:lnTo>
                  <a:moveTo>
                    <a:pt x="22" y="242"/>
                  </a:moveTo>
                  <a:lnTo>
                    <a:pt x="2482" y="242"/>
                  </a:lnTo>
                  <a:moveTo>
                    <a:pt x="22" y="262"/>
                  </a:moveTo>
                  <a:lnTo>
                    <a:pt x="22" y="712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38" name="path 238"/>
            <p:cNvSpPr/>
            <p:nvPr/>
          </p:nvSpPr>
          <p:spPr>
            <a:xfrm>
              <a:off x="2060580" y="171767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40" name="path 240"/>
            <p:cNvSpPr/>
            <p:nvPr/>
          </p:nvSpPr>
          <p:spPr>
            <a:xfrm>
              <a:off x="4776787" y="1279525"/>
              <a:ext cx="1255712" cy="427037"/>
            </a:xfrm>
            <a:custGeom>
              <a:avLst/>
              <a:gdLst/>
              <a:ahLst/>
              <a:cxnLst/>
              <a:rect l="0" t="0" r="0" b="0"/>
              <a:pathLst>
                <a:path w="1977" h="672">
                  <a:moveTo>
                    <a:pt x="22" y="0"/>
                  </a:moveTo>
                  <a:lnTo>
                    <a:pt x="22" y="202"/>
                  </a:lnTo>
                  <a:moveTo>
                    <a:pt x="45" y="202"/>
                  </a:moveTo>
                  <a:lnTo>
                    <a:pt x="1977" y="202"/>
                  </a:lnTo>
                  <a:moveTo>
                    <a:pt x="1955" y="222"/>
                  </a:moveTo>
                  <a:lnTo>
                    <a:pt x="1955" y="672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42" name="path 242"/>
            <p:cNvSpPr/>
            <p:nvPr/>
          </p:nvSpPr>
          <p:spPr>
            <a:xfrm>
              <a:off x="5975353" y="169227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44" name="path 244"/>
            <p:cNvSpPr/>
            <p:nvPr/>
          </p:nvSpPr>
          <p:spPr>
            <a:xfrm>
              <a:off x="6543675" y="1306512"/>
              <a:ext cx="28575" cy="425450"/>
            </a:xfrm>
            <a:custGeom>
              <a:avLst/>
              <a:gdLst/>
              <a:ahLst/>
              <a:cxnLst/>
              <a:rect l="0" t="0" r="0" b="0"/>
              <a:pathLst>
                <a:path w="45" h="670">
                  <a:moveTo>
                    <a:pt x="22" y="0"/>
                  </a:moveTo>
                  <a:lnTo>
                    <a:pt x="22" y="67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46" name="path 246"/>
            <p:cNvSpPr/>
            <p:nvPr/>
          </p:nvSpPr>
          <p:spPr>
            <a:xfrm>
              <a:off x="6515105" y="171767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48" name="path 248"/>
            <p:cNvSpPr/>
            <p:nvPr/>
          </p:nvSpPr>
          <p:spPr>
            <a:xfrm>
              <a:off x="4148137" y="1573212"/>
              <a:ext cx="28575" cy="158750"/>
            </a:xfrm>
            <a:custGeom>
              <a:avLst/>
              <a:gdLst/>
              <a:ahLst/>
              <a:cxnLst/>
              <a:rect l="0" t="0" r="0" b="0"/>
              <a:pathLst>
                <a:path w="45" h="250">
                  <a:moveTo>
                    <a:pt x="22" y="0"/>
                  </a:moveTo>
                  <a:lnTo>
                    <a:pt x="22" y="25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50" name="path 250"/>
            <p:cNvSpPr/>
            <p:nvPr/>
          </p:nvSpPr>
          <p:spPr>
            <a:xfrm>
              <a:off x="4119567" y="1717677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52" name="path 252"/>
            <p:cNvSpPr/>
            <p:nvPr/>
          </p:nvSpPr>
          <p:spPr>
            <a:xfrm>
              <a:off x="3252787" y="892175"/>
              <a:ext cx="4376737" cy="392112"/>
            </a:xfrm>
            <a:custGeom>
              <a:avLst/>
              <a:gdLst/>
              <a:ahLst/>
              <a:cxnLst/>
              <a:rect l="0" t="0" r="0" b="0"/>
              <a:pathLst>
                <a:path w="6892" h="617">
                  <a:moveTo>
                    <a:pt x="7" y="7"/>
                  </a:moveTo>
                  <a:lnTo>
                    <a:pt x="3090" y="7"/>
                  </a:lnTo>
                  <a:lnTo>
                    <a:pt x="3090" y="610"/>
                  </a:lnTo>
                  <a:lnTo>
                    <a:pt x="7" y="610"/>
                  </a:lnTo>
                  <a:lnTo>
                    <a:pt x="7" y="7"/>
                  </a:lnTo>
                  <a:moveTo>
                    <a:pt x="3525" y="7"/>
                  </a:moveTo>
                  <a:lnTo>
                    <a:pt x="6885" y="7"/>
                  </a:lnTo>
                  <a:lnTo>
                    <a:pt x="6885" y="610"/>
                  </a:lnTo>
                  <a:lnTo>
                    <a:pt x="3525" y="610"/>
                  </a:lnTo>
                  <a:lnTo>
                    <a:pt x="3525" y="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54" name="path 254"/>
            <p:cNvSpPr/>
            <p:nvPr/>
          </p:nvSpPr>
          <p:spPr>
            <a:xfrm>
              <a:off x="2044700" y="425450"/>
              <a:ext cx="1606550" cy="439737"/>
            </a:xfrm>
            <a:custGeom>
              <a:avLst/>
              <a:gdLst/>
              <a:ahLst/>
              <a:cxnLst/>
              <a:rect l="0" t="0" r="0" b="0"/>
              <a:pathLst>
                <a:path w="2530" h="692">
                  <a:moveTo>
                    <a:pt x="22" y="222"/>
                  </a:moveTo>
                  <a:lnTo>
                    <a:pt x="2530" y="222"/>
                  </a:lnTo>
                  <a:moveTo>
                    <a:pt x="2507" y="0"/>
                  </a:moveTo>
                  <a:lnTo>
                    <a:pt x="2507" y="222"/>
                  </a:lnTo>
                  <a:moveTo>
                    <a:pt x="22" y="222"/>
                  </a:moveTo>
                  <a:lnTo>
                    <a:pt x="22" y="692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56" name="path 256"/>
            <p:cNvSpPr/>
            <p:nvPr/>
          </p:nvSpPr>
          <p:spPr>
            <a:xfrm>
              <a:off x="2016130" y="850902"/>
              <a:ext cx="85725" cy="85725"/>
            </a:xfrm>
            <a:custGeom>
              <a:avLst/>
              <a:gdLst/>
              <a:ahLst/>
              <a:cxnLst/>
              <a:rect l="0" t="0" r="0" b="0"/>
              <a:pathLst>
                <a:path w="135" h="135">
                  <a:moveTo>
                    <a:pt x="135" y="0"/>
                  </a:moveTo>
                  <a:lnTo>
                    <a:pt x="67" y="135"/>
                  </a:lnTo>
                  <a:lnTo>
                    <a:pt x="0" y="0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58" name="path 258"/>
            <p:cNvSpPr/>
            <p:nvPr/>
          </p:nvSpPr>
          <p:spPr>
            <a:xfrm>
              <a:off x="4040202" y="437489"/>
              <a:ext cx="45880" cy="376046"/>
            </a:xfrm>
            <a:custGeom>
              <a:avLst/>
              <a:gdLst/>
              <a:ahLst/>
              <a:cxnLst/>
              <a:rect l="0" t="0" r="0" b="0"/>
              <a:pathLst>
                <a:path w="72" h="592">
                  <a:moveTo>
                    <a:pt x="22" y="1"/>
                  </a:moveTo>
                  <a:lnTo>
                    <a:pt x="49" y="591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60" name="path 260"/>
            <p:cNvSpPr/>
            <p:nvPr/>
          </p:nvSpPr>
          <p:spPr>
            <a:xfrm>
              <a:off x="4028335" y="796625"/>
              <a:ext cx="85636" cy="87617"/>
            </a:xfrm>
            <a:custGeom>
              <a:avLst/>
              <a:gdLst/>
              <a:ahLst/>
              <a:cxnLst/>
              <a:rect l="0" t="0" r="0" b="0"/>
              <a:pathLst>
                <a:path w="134" h="137">
                  <a:moveTo>
                    <a:pt x="134" y="0"/>
                  </a:moveTo>
                  <a:lnTo>
                    <a:pt x="73" y="137"/>
                  </a:lnTo>
                  <a:lnTo>
                    <a:pt x="0" y="6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62" name="path 262"/>
            <p:cNvSpPr/>
            <p:nvPr/>
          </p:nvSpPr>
          <p:spPr>
            <a:xfrm>
              <a:off x="6529403" y="578795"/>
              <a:ext cx="39620" cy="247423"/>
            </a:xfrm>
            <a:custGeom>
              <a:avLst/>
              <a:gdLst/>
              <a:ahLst/>
              <a:cxnLst/>
              <a:rect l="0" t="0" r="0" b="0"/>
              <a:pathLst>
                <a:path w="62" h="389">
                  <a:moveTo>
                    <a:pt x="22" y="1"/>
                  </a:moveTo>
                  <a:lnTo>
                    <a:pt x="39" y="388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64" name="path 264"/>
            <p:cNvSpPr/>
            <p:nvPr/>
          </p:nvSpPr>
          <p:spPr>
            <a:xfrm>
              <a:off x="6511296" y="809374"/>
              <a:ext cx="85635" cy="87566"/>
            </a:xfrm>
            <a:custGeom>
              <a:avLst/>
              <a:gdLst/>
              <a:ahLst/>
              <a:cxnLst/>
              <a:rect l="0" t="0" r="0" b="0"/>
              <a:pathLst>
                <a:path w="134" h="137">
                  <a:moveTo>
                    <a:pt x="134" y="0"/>
                  </a:moveTo>
                  <a:lnTo>
                    <a:pt x="73" y="137"/>
                  </a:lnTo>
                  <a:lnTo>
                    <a:pt x="0" y="6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3333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66" name="path 266"/>
            <p:cNvSpPr/>
            <p:nvPr/>
          </p:nvSpPr>
          <p:spPr>
            <a:xfrm>
              <a:off x="4513262" y="412750"/>
              <a:ext cx="2016125" cy="153987"/>
            </a:xfrm>
            <a:custGeom>
              <a:avLst/>
              <a:gdLst/>
              <a:ahLst/>
              <a:cxnLst/>
              <a:rect l="0" t="0" r="0" b="0"/>
              <a:pathLst>
                <a:path w="3175" h="242">
                  <a:moveTo>
                    <a:pt x="22" y="0"/>
                  </a:moveTo>
                  <a:lnTo>
                    <a:pt x="22" y="220"/>
                  </a:lnTo>
                  <a:moveTo>
                    <a:pt x="22" y="220"/>
                  </a:moveTo>
                  <a:lnTo>
                    <a:pt x="3175" y="220"/>
                  </a:lnTo>
                </a:path>
              </a:pathLst>
            </a:custGeom>
            <a:noFill/>
            <a:ln w="28575" cap="flat">
              <a:solidFill>
                <a:srgbClr val="3333FF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68" name="path 268"/>
            <p:cNvSpPr/>
            <p:nvPr/>
          </p:nvSpPr>
          <p:spPr>
            <a:xfrm>
              <a:off x="827087" y="944562"/>
              <a:ext cx="1966912" cy="392112"/>
            </a:xfrm>
            <a:custGeom>
              <a:avLst/>
              <a:gdLst/>
              <a:ahLst/>
              <a:cxnLst/>
              <a:rect l="0" t="0" r="0" b="0"/>
              <a:pathLst>
                <a:path w="3097" h="617">
                  <a:moveTo>
                    <a:pt x="7" y="7"/>
                  </a:moveTo>
                  <a:lnTo>
                    <a:pt x="3090" y="7"/>
                  </a:lnTo>
                  <a:lnTo>
                    <a:pt x="3090" y="610"/>
                  </a:lnTo>
                  <a:lnTo>
                    <a:pt x="7" y="610"/>
                  </a:lnTo>
                  <a:lnTo>
                    <a:pt x="7" y="7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270" name="textbox 270"/>
          <p:cNvSpPr/>
          <p:nvPr/>
        </p:nvSpPr>
        <p:spPr>
          <a:xfrm>
            <a:off x="1462148" y="928672"/>
            <a:ext cx="5887720" cy="1173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68245" algn="l" rtl="0" eaLnBrk="0" fontAlgn="auto" hangingPunct="1">
              <a:lnSpc>
                <a:spcPct val="86000"/>
              </a:lnSpc>
            </a:pPr>
            <a:r>
              <a:rPr sz="1600" b="1" kern="0" spc="-6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电路原理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3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ts val="2015"/>
              </a:lnSpc>
              <a:spcBef>
                <a:spcPts val="0"/>
              </a:spcBef>
            </a:pPr>
            <a:r>
              <a:rPr sz="2400" b="1" kern="0" spc="30" baseline="-600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信号与系统</a:t>
            </a:r>
            <a:r>
              <a:rPr sz="1500" kern="0" spc="4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</a:t>
            </a:r>
            <a:r>
              <a:rPr sz="2400" b="1" kern="0" spc="30" baseline="900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模拟电子线路</a:t>
            </a:r>
            <a:r>
              <a:rPr sz="1500" kern="0" spc="3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</a:t>
            </a:r>
            <a:r>
              <a:rPr sz="2400" b="1" kern="0" spc="30" baseline="900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数字电子线路</a:t>
            </a:r>
            <a:endParaRPr sz="2400" baseline="9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171839" y="4326239"/>
            <a:ext cx="4773295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10210" algn="l" rtl="0" eaLnBrk="0" fontAlgn="auto" hangingPunct="1">
              <a:lnSpc>
                <a:spcPct val="94000"/>
              </a:lnSpc>
            </a:pPr>
            <a:r>
              <a:rPr sz="2400" b="1" kern="0" spc="-10" baseline="200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电力系统</a:t>
            </a:r>
            <a:r>
              <a:rPr sz="1500" kern="0" spc="9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sz="1600" b="1" kern="0" spc="-1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控制系统</a:t>
            </a:r>
            <a:r>
              <a:rPr sz="1600" kern="0" spc="9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sz="2400" b="1" kern="0" spc="-10" baseline="-400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通信系</a:t>
            </a:r>
            <a:r>
              <a:rPr sz="2400" b="1" kern="0" spc="-20" baseline="-400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统</a:t>
            </a:r>
            <a:endParaRPr sz="2400" baseline="-4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 fontAlgn="auto" hangingPunct="1">
              <a:lnSpc>
                <a:spcPct val="99000"/>
              </a:lnSpc>
              <a:spcBef>
                <a:spcPts val="110"/>
              </a:spcBef>
            </a:pP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能量传输与处理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1600" b="1" kern="0" spc="-2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信号反馈与处理</a:t>
            </a:r>
            <a:r>
              <a:rPr sz="1600" b="1" kern="0" spc="-10" dirty="0">
                <a:solidFill>
                  <a:srgbClr val="99CC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信号传输与处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382841" y="294563"/>
            <a:ext cx="3373754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2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五、电路原理的后续课程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2941980" y="5438940"/>
            <a:ext cx="2018029" cy="536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93000"/>
              </a:lnSpc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相互融合的</a:t>
            </a:r>
            <a:r>
              <a:rPr sz="1600" b="1" kern="0" spc="-2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信息系统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无处不在的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IT</a:t>
            </a:r>
            <a:r>
              <a:rPr sz="18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产业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5942743" y="2727310"/>
            <a:ext cx="1546860" cy="514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5430" algn="l" rtl="0" eaLnBrk="0" fontAlgn="auto" hangingPunct="1">
              <a:lnSpc>
                <a:spcPct val="86000"/>
              </a:lnSpc>
            </a:pPr>
            <a:r>
              <a:rPr sz="1600" b="1" kern="0" spc="-2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微电子技术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 fontAlgn="auto" hangingPunct="1">
              <a:lnSpc>
                <a:spcPct val="88000"/>
              </a:lnSpc>
              <a:spcBef>
                <a:spcPts val="295"/>
              </a:spcBef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集成芯片设计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1799685" y="2714610"/>
            <a:ext cx="1315719" cy="514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1755" algn="l" rtl="0" eaLnBrk="0" fontAlgn="auto" hangingPunct="1">
              <a:lnSpc>
                <a:spcPct val="86000"/>
              </a:lnSpc>
            </a:pPr>
            <a:r>
              <a:rPr sz="1600" b="1" kern="0" spc="-5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电力电子技术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 fontAlgn="auto" hangingPunct="1">
              <a:lnSpc>
                <a:spcPct val="88000"/>
              </a:lnSpc>
              <a:spcBef>
                <a:spcPts val="290"/>
              </a:spcBef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关注大功率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3844448" y="2727310"/>
            <a:ext cx="1315719" cy="514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2095" algn="l" rtl="0" eaLnBrk="0" fontAlgn="auto" hangingPunct="1">
              <a:lnSpc>
                <a:spcPct val="86000"/>
              </a:lnSpc>
            </a:pPr>
            <a:r>
              <a:rPr sz="1600" b="1" kern="0" spc="-3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通信电路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 fontAlgn="auto" hangingPunct="1">
              <a:lnSpc>
                <a:spcPct val="88000"/>
              </a:lnSpc>
              <a:spcBef>
                <a:spcPts val="300"/>
              </a:spcBef>
            </a:pP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关注高频段</a:t>
            </a:r>
            <a:r>
              <a:rPr sz="1800" b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5047294" y="4364339"/>
            <a:ext cx="2719070" cy="236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1600" b="1" kern="0" spc="-1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信号处理系统</a:t>
            </a:r>
            <a:r>
              <a:rPr sz="1600" b="1" kern="0" spc="-10" dirty="0">
                <a:solidFill>
                  <a:srgbClr val="0000F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       </a:t>
            </a:r>
            <a:r>
              <a:rPr sz="1600" b="1" kern="0" spc="-10" dirty="0">
                <a:solidFill>
                  <a:srgbClr val="0000F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计算机系统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86" name="table 286"/>
          <p:cNvGraphicFramePr>
            <a:graphicFrameLocks noGrp="1"/>
          </p:cNvGraphicFramePr>
          <p:nvPr/>
        </p:nvGraphicFramePr>
        <p:xfrm>
          <a:off x="8340140" y="2754312"/>
          <a:ext cx="557530" cy="534034"/>
        </p:xfrm>
        <a:graphic>
          <a:graphicData uri="http://schemas.openxmlformats.org/drawingml/2006/table">
            <a:tbl>
              <a:tblPr/>
              <a:tblGrid>
                <a:gridCol w="557530"/>
              </a:tblGrid>
              <a:tr h="5245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970" algn="l" rtl="0" eaLnBrk="0">
                        <a:lnSpc>
                          <a:spcPct val="86000"/>
                        </a:lnSpc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专门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3970" algn="l" rtl="0" eaLnBrk="0">
                        <a:lnSpc>
                          <a:spcPct val="81000"/>
                        </a:lnSpc>
                        <a:spcBef>
                          <a:spcPts val="300"/>
                        </a:spcBef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技术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88" name="table 288"/>
          <p:cNvGraphicFramePr>
            <a:graphicFrameLocks noGrp="1"/>
          </p:cNvGraphicFramePr>
          <p:nvPr/>
        </p:nvGraphicFramePr>
        <p:xfrm>
          <a:off x="8382101" y="1185862"/>
          <a:ext cx="550544" cy="534034"/>
        </p:xfrm>
        <a:graphic>
          <a:graphicData uri="http://schemas.openxmlformats.org/drawingml/2006/table">
            <a:tbl>
              <a:tblPr/>
              <a:tblGrid>
                <a:gridCol w="550544"/>
              </a:tblGrid>
              <a:tr h="5245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2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18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公共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3335" algn="l" rtl="0" eaLnBrk="0">
                        <a:lnSpc>
                          <a:spcPct val="81000"/>
                        </a:lnSpc>
                        <a:spcBef>
                          <a:spcPts val="320"/>
                        </a:spcBef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基础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0" name="table 290"/>
          <p:cNvGraphicFramePr>
            <a:graphicFrameLocks noGrp="1"/>
          </p:cNvGraphicFramePr>
          <p:nvPr/>
        </p:nvGraphicFramePr>
        <p:xfrm>
          <a:off x="8413737" y="4783137"/>
          <a:ext cx="518794" cy="534035"/>
        </p:xfrm>
        <a:graphic>
          <a:graphicData uri="http://schemas.openxmlformats.org/drawingml/2006/table">
            <a:tbl>
              <a:tblPr/>
              <a:tblGrid>
                <a:gridCol w="518794"/>
              </a:tblGrid>
              <a:tr h="5245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335" algn="l" rtl="0" eaLnBrk="0">
                        <a:lnSpc>
                          <a:spcPct val="86000"/>
                        </a:lnSpc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应用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13335" algn="l" rtl="0" eaLnBrk="0">
                        <a:lnSpc>
                          <a:spcPct val="81000"/>
                        </a:lnSpc>
                        <a:spcBef>
                          <a:spcPts val="310"/>
                        </a:spcBef>
                      </a:pPr>
                      <a:r>
                        <a:rPr sz="18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领域</a:t>
                      </a:r>
                      <a:endParaRPr sz="18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table 292"/>
          <p:cNvGraphicFramePr>
            <a:graphicFrameLocks noGrp="1"/>
          </p:cNvGraphicFramePr>
          <p:nvPr/>
        </p:nvGraphicFramePr>
        <p:xfrm>
          <a:off x="4211637" y="4637087"/>
          <a:ext cx="3990975" cy="885825"/>
        </p:xfrm>
        <a:graphic>
          <a:graphicData uri="http://schemas.openxmlformats.org/drawingml/2006/table">
            <a:tbl>
              <a:tblPr/>
              <a:tblGrid>
                <a:gridCol w="3990975"/>
              </a:tblGrid>
              <a:tr h="854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128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2400" b="1" kern="0" spc="-40" dirty="0">
                          <a:solidFill>
                            <a:srgbClr val="0000F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求解方程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marL="279400" algn="l" rtl="0" eaLnBrk="0">
                        <a:lnSpc>
                          <a:spcPct val="86000"/>
                        </a:lnSpc>
                        <a:spcBef>
                          <a:spcPts val="415"/>
                        </a:spcBef>
                      </a:pPr>
                      <a:r>
                        <a:rPr sz="2400" b="1" kern="0" spc="-220" dirty="0">
                          <a:solidFill>
                            <a:srgbClr val="0000F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（代数、常微分、偏微分）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4" name="textbox 294"/>
          <p:cNvSpPr/>
          <p:nvPr/>
        </p:nvSpPr>
        <p:spPr>
          <a:xfrm>
            <a:off x="4899901" y="905751"/>
            <a:ext cx="2538729" cy="11455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670" algn="l" rtl="0" eaLnBrk="0" fontAlgn="auto" hangingPunct="1">
              <a:lnSpc>
                <a:spcPct val="90000"/>
              </a:lnSpc>
            </a:pPr>
            <a:r>
              <a:rPr sz="2400" b="1" kern="0" spc="-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电路分析</a:t>
            </a:r>
            <a:r>
              <a:rPr sz="2400" b="1" kern="0" spc="-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b="1" i="1" kern="0" spc="-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analysis</a:t>
            </a:r>
            <a:r>
              <a:rPr sz="2400" b="1" kern="0" spc="-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 fontAlgn="auto" hangingPunct="1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2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90000"/>
              </a:lnSpc>
              <a:spcBef>
                <a:spcPts val="5"/>
              </a:spcBef>
            </a:pP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电路综合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b="1" i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synthesis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2137060" y="3449773"/>
            <a:ext cx="1700654" cy="1225592"/>
            <a:chOff x="0" y="0"/>
            <a:chExt cx="1700654" cy="1225592"/>
          </a:xfrm>
        </p:grpSpPr>
        <p:sp>
          <p:nvSpPr>
            <p:cNvPr id="296" name="path 296"/>
            <p:cNvSpPr/>
            <p:nvPr/>
          </p:nvSpPr>
          <p:spPr>
            <a:xfrm>
              <a:off x="10391" y="11697"/>
              <a:ext cx="1680933" cy="1203502"/>
            </a:xfrm>
            <a:custGeom>
              <a:avLst/>
              <a:gdLst/>
              <a:ahLst/>
              <a:cxnLst/>
              <a:rect l="0" t="0" r="0" b="0"/>
              <a:pathLst>
                <a:path w="2647" h="1895">
                  <a:moveTo>
                    <a:pt x="0" y="1755"/>
                  </a:moveTo>
                  <a:lnTo>
                    <a:pt x="1948" y="386"/>
                  </a:lnTo>
                  <a:lnTo>
                    <a:pt x="1899" y="316"/>
                  </a:lnTo>
                  <a:lnTo>
                    <a:pt x="2647" y="0"/>
                  </a:lnTo>
                  <a:lnTo>
                    <a:pt x="2096" y="596"/>
                  </a:lnTo>
                  <a:lnTo>
                    <a:pt x="2046" y="526"/>
                  </a:lnTo>
                  <a:lnTo>
                    <a:pt x="98" y="1895"/>
                  </a:lnTo>
                  <a:lnTo>
                    <a:pt x="0" y="1755"/>
                  </a:lnTo>
                  <a:close/>
                </a:path>
              </a:pathLst>
            </a:custGeom>
            <a:solidFill>
              <a:srgbClr val="FFCC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98" name="path 298"/>
            <p:cNvSpPr/>
            <p:nvPr/>
          </p:nvSpPr>
          <p:spPr>
            <a:xfrm>
              <a:off x="0" y="0"/>
              <a:ext cx="1700654" cy="1225592"/>
            </a:xfrm>
            <a:custGeom>
              <a:avLst/>
              <a:gdLst/>
              <a:ahLst/>
              <a:cxnLst/>
              <a:rect l="0" t="0" r="0" b="0"/>
              <a:pathLst>
                <a:path w="2678" h="1930">
                  <a:moveTo>
                    <a:pt x="16" y="1773"/>
                  </a:moveTo>
                  <a:lnTo>
                    <a:pt x="1964" y="404"/>
                  </a:lnTo>
                  <a:lnTo>
                    <a:pt x="1915" y="334"/>
                  </a:lnTo>
                  <a:lnTo>
                    <a:pt x="2663" y="18"/>
                  </a:lnTo>
                  <a:lnTo>
                    <a:pt x="2112" y="614"/>
                  </a:lnTo>
                  <a:lnTo>
                    <a:pt x="2063" y="544"/>
                  </a:lnTo>
                  <a:lnTo>
                    <a:pt x="114" y="1913"/>
                  </a:lnTo>
                  <a:lnTo>
                    <a:pt x="16" y="1773"/>
                  </a:lnTo>
                  <a:close/>
                </a:path>
              </a:pathLst>
            </a:custGeom>
            <a:noFill/>
            <a:ln w="25400" cap="flat">
              <a:solidFill>
                <a:srgbClr val="FF00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300" name="textbox 300"/>
          <p:cNvSpPr/>
          <p:nvPr/>
        </p:nvSpPr>
        <p:spPr>
          <a:xfrm>
            <a:off x="380403" y="294563"/>
            <a:ext cx="3376295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2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六、电路分析与电路综合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1172356" y="1266113"/>
            <a:ext cx="3016885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86000"/>
              </a:lnSpc>
            </a:pPr>
            <a:r>
              <a:rPr sz="2400" b="1" kern="0" spc="-1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电路理论（电路原理）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04" name="table 304"/>
          <p:cNvGraphicFramePr>
            <a:graphicFrameLocks noGrp="1"/>
          </p:cNvGraphicFramePr>
          <p:nvPr/>
        </p:nvGraphicFramePr>
        <p:xfrm>
          <a:off x="838200" y="2778125"/>
          <a:ext cx="1531620" cy="520700"/>
        </p:xfrm>
        <a:graphic>
          <a:graphicData uri="http://schemas.openxmlformats.org/drawingml/2006/table">
            <a:tbl>
              <a:tblPr/>
              <a:tblGrid>
                <a:gridCol w="1531620"/>
              </a:tblGrid>
              <a:tr h="488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63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400" b="1" kern="0" spc="-50" dirty="0">
                          <a:solidFill>
                            <a:srgbClr val="0000F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实际电路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06" name="table 306"/>
          <p:cNvGraphicFramePr>
            <a:graphicFrameLocks noGrp="1"/>
          </p:cNvGraphicFramePr>
          <p:nvPr/>
        </p:nvGraphicFramePr>
        <p:xfrm>
          <a:off x="3368675" y="2765425"/>
          <a:ext cx="1522095" cy="520700"/>
        </p:xfrm>
        <a:graphic>
          <a:graphicData uri="http://schemas.openxmlformats.org/drawingml/2006/table">
            <a:tbl>
              <a:tblPr/>
              <a:tblGrid>
                <a:gridCol w="1522095"/>
              </a:tblGrid>
              <a:tr h="488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68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400" b="1" kern="0" spc="-110" dirty="0">
                          <a:solidFill>
                            <a:srgbClr val="0000F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电路模型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8" name="textbox 308"/>
          <p:cNvSpPr/>
          <p:nvPr/>
        </p:nvSpPr>
        <p:spPr>
          <a:xfrm>
            <a:off x="6804025" y="3752850"/>
            <a:ext cx="1511300" cy="457200"/>
          </a:xfrm>
          <a:prstGeom prst="rect">
            <a:avLst/>
          </a:prstGeom>
          <a:solidFill>
            <a:srgbClr val="00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10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30" algn="l" rtl="0" eaLnBrk="0" fontAlgn="auto" hangingPunct="1">
              <a:lnSpc>
                <a:spcPct val="86000"/>
              </a:lnSpc>
              <a:spcBef>
                <a:spcPts val="5"/>
              </a:spcBef>
            </a:pPr>
            <a:r>
              <a:rPr sz="2400" b="1" kern="0" spc="-1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电路分析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3651250" y="3860800"/>
            <a:ext cx="1511300" cy="457200"/>
          </a:xfrm>
          <a:prstGeom prst="rect">
            <a:avLst/>
          </a:prstGeom>
          <a:solidFill>
            <a:srgbClr val="FCA2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30" algn="l" rtl="0" eaLnBrk="0" fontAlgn="auto" hangingPunct="1">
              <a:lnSpc>
                <a:spcPct val="86000"/>
              </a:lnSpc>
              <a:spcBef>
                <a:spcPts val="0"/>
              </a:spcBef>
            </a:pPr>
            <a:r>
              <a:rPr sz="2400" b="1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电路综合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312" name="table 312"/>
          <p:cNvGraphicFramePr>
            <a:graphicFrameLocks noGrp="1"/>
          </p:cNvGraphicFramePr>
          <p:nvPr/>
        </p:nvGraphicFramePr>
        <p:xfrm>
          <a:off x="6138862" y="2765425"/>
          <a:ext cx="912494" cy="520700"/>
        </p:xfrm>
        <a:graphic>
          <a:graphicData uri="http://schemas.openxmlformats.org/drawingml/2006/table">
            <a:tbl>
              <a:tblPr/>
              <a:tblGrid>
                <a:gridCol w="912494"/>
              </a:tblGrid>
              <a:tr h="488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255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400" b="1" kern="0" spc="-80" dirty="0">
                          <a:solidFill>
                            <a:srgbClr val="0000F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分析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table 314"/>
          <p:cNvGraphicFramePr>
            <a:graphicFrameLocks noGrp="1"/>
          </p:cNvGraphicFramePr>
          <p:nvPr/>
        </p:nvGraphicFramePr>
        <p:xfrm>
          <a:off x="1258887" y="4924425"/>
          <a:ext cx="895350" cy="520700"/>
        </p:xfrm>
        <a:graphic>
          <a:graphicData uri="http://schemas.openxmlformats.org/drawingml/2006/table">
            <a:tbl>
              <a:tblPr/>
              <a:tblGrid>
                <a:gridCol w="895350"/>
              </a:tblGrid>
              <a:tr h="488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2400" b="1" kern="0" spc="-100" dirty="0">
                          <a:solidFill>
                            <a:srgbClr val="0000F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结果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 rot="21600000">
            <a:off x="2425281" y="5150175"/>
            <a:ext cx="1305343" cy="227949"/>
            <a:chOff x="0" y="0"/>
            <a:chExt cx="1305343" cy="227949"/>
          </a:xfrm>
        </p:grpSpPr>
        <p:sp>
          <p:nvSpPr>
            <p:cNvPr id="316" name="path 316"/>
            <p:cNvSpPr/>
            <p:nvPr/>
          </p:nvSpPr>
          <p:spPr>
            <a:xfrm>
              <a:off x="2005" y="6024"/>
              <a:ext cx="1296987" cy="215900"/>
            </a:xfrm>
            <a:custGeom>
              <a:avLst/>
              <a:gdLst/>
              <a:ahLst/>
              <a:cxnLst/>
              <a:rect l="0" t="0" r="0" b="0"/>
              <a:pathLst>
                <a:path w="2042" h="340">
                  <a:moveTo>
                    <a:pt x="2042" y="85"/>
                  </a:moveTo>
                  <a:lnTo>
                    <a:pt x="510" y="85"/>
                  </a:lnTo>
                  <a:lnTo>
                    <a:pt x="510" y="0"/>
                  </a:lnTo>
                  <a:lnTo>
                    <a:pt x="0" y="170"/>
                  </a:lnTo>
                  <a:lnTo>
                    <a:pt x="510" y="340"/>
                  </a:lnTo>
                  <a:lnTo>
                    <a:pt x="510" y="255"/>
                  </a:lnTo>
                  <a:lnTo>
                    <a:pt x="2042" y="255"/>
                  </a:lnTo>
                  <a:lnTo>
                    <a:pt x="2042" y="85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18" name="path 318"/>
            <p:cNvSpPr/>
            <p:nvPr/>
          </p:nvSpPr>
          <p:spPr>
            <a:xfrm>
              <a:off x="0" y="0"/>
              <a:ext cx="1305343" cy="227949"/>
            </a:xfrm>
            <a:custGeom>
              <a:avLst/>
              <a:gdLst/>
              <a:ahLst/>
              <a:cxnLst/>
              <a:rect l="0" t="0" r="0" b="0"/>
              <a:pathLst>
                <a:path w="2055" h="358">
                  <a:moveTo>
                    <a:pt x="2045" y="94"/>
                  </a:moveTo>
                  <a:lnTo>
                    <a:pt x="513" y="94"/>
                  </a:lnTo>
                  <a:lnTo>
                    <a:pt x="513" y="9"/>
                  </a:lnTo>
                  <a:lnTo>
                    <a:pt x="3" y="179"/>
                  </a:lnTo>
                  <a:lnTo>
                    <a:pt x="513" y="349"/>
                  </a:lnTo>
                  <a:lnTo>
                    <a:pt x="513" y="264"/>
                  </a:lnTo>
                  <a:lnTo>
                    <a:pt x="2045" y="264"/>
                  </a:lnTo>
                  <a:lnTo>
                    <a:pt x="2045" y="94"/>
                  </a:ln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320" name="path 320"/>
          <p:cNvSpPr/>
          <p:nvPr/>
        </p:nvSpPr>
        <p:spPr>
          <a:xfrm>
            <a:off x="4330700" y="882650"/>
            <a:ext cx="258762" cy="1050925"/>
          </a:xfrm>
          <a:custGeom>
            <a:avLst/>
            <a:gdLst/>
            <a:ahLst/>
            <a:cxnLst/>
            <a:rect l="0" t="0" r="0" b="0"/>
            <a:pathLst>
              <a:path w="407" h="1655">
                <a:moveTo>
                  <a:pt x="380" y="1627"/>
                </a:moveTo>
                <a:cubicBezTo>
                  <a:pt x="282" y="1627"/>
                  <a:pt x="203" y="1567"/>
                  <a:pt x="203" y="1494"/>
                </a:cubicBezTo>
                <a:lnTo>
                  <a:pt x="203" y="960"/>
                </a:lnTo>
                <a:cubicBezTo>
                  <a:pt x="203" y="887"/>
                  <a:pt x="124" y="827"/>
                  <a:pt x="27" y="827"/>
                </a:cubicBezTo>
                <a:cubicBezTo>
                  <a:pt x="124" y="827"/>
                  <a:pt x="203" y="767"/>
                  <a:pt x="203" y="694"/>
                </a:cubicBezTo>
                <a:lnTo>
                  <a:pt x="203" y="160"/>
                </a:lnTo>
                <a:cubicBezTo>
                  <a:pt x="203" y="87"/>
                  <a:pt x="282" y="27"/>
                  <a:pt x="380" y="27"/>
                </a:cubicBezTo>
              </a:path>
            </a:pathLst>
          </a:custGeom>
          <a:noFill/>
          <a:ln w="34925" cap="flat">
            <a:solidFill>
              <a:srgbClr val="0000F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6491553" y="3386139"/>
            <a:ext cx="189967" cy="1197206"/>
            <a:chOff x="0" y="0"/>
            <a:chExt cx="189967" cy="1197206"/>
          </a:xfrm>
        </p:grpSpPr>
        <p:sp>
          <p:nvSpPr>
            <p:cNvPr id="322" name="path 322"/>
            <p:cNvSpPr/>
            <p:nvPr/>
          </p:nvSpPr>
          <p:spPr>
            <a:xfrm>
              <a:off x="6083" y="6350"/>
              <a:ext cx="177800" cy="1189037"/>
            </a:xfrm>
            <a:custGeom>
              <a:avLst/>
              <a:gdLst/>
              <a:ahLst/>
              <a:cxnLst/>
              <a:rect l="0" t="0" r="0" b="0"/>
              <a:pathLst>
                <a:path w="280" h="1872">
                  <a:moveTo>
                    <a:pt x="210" y="0"/>
                  </a:moveTo>
                  <a:lnTo>
                    <a:pt x="210" y="1404"/>
                  </a:lnTo>
                  <a:lnTo>
                    <a:pt x="280" y="1404"/>
                  </a:lnTo>
                  <a:lnTo>
                    <a:pt x="140" y="1872"/>
                  </a:lnTo>
                  <a:lnTo>
                    <a:pt x="0" y="1404"/>
                  </a:lnTo>
                  <a:lnTo>
                    <a:pt x="70" y="1404"/>
                  </a:lnTo>
                  <a:lnTo>
                    <a:pt x="7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24" name="path 324"/>
            <p:cNvSpPr/>
            <p:nvPr/>
          </p:nvSpPr>
          <p:spPr>
            <a:xfrm>
              <a:off x="0" y="0"/>
              <a:ext cx="189967" cy="1197206"/>
            </a:xfrm>
            <a:custGeom>
              <a:avLst/>
              <a:gdLst/>
              <a:ahLst/>
              <a:cxnLst/>
              <a:rect l="0" t="0" r="0" b="0"/>
              <a:pathLst>
                <a:path w="299" h="1885">
                  <a:moveTo>
                    <a:pt x="219" y="10"/>
                  </a:moveTo>
                  <a:lnTo>
                    <a:pt x="219" y="1414"/>
                  </a:lnTo>
                  <a:lnTo>
                    <a:pt x="289" y="1414"/>
                  </a:lnTo>
                  <a:lnTo>
                    <a:pt x="149" y="1882"/>
                  </a:lnTo>
                  <a:lnTo>
                    <a:pt x="9" y="1414"/>
                  </a:lnTo>
                  <a:lnTo>
                    <a:pt x="79" y="1414"/>
                  </a:lnTo>
                  <a:lnTo>
                    <a:pt x="79" y="10"/>
                  </a:lnTo>
                  <a:lnTo>
                    <a:pt x="219" y="10"/>
                  </a:ln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2497253" y="4856538"/>
            <a:ext cx="1166697" cy="167526"/>
            <a:chOff x="0" y="0"/>
            <a:chExt cx="1166697" cy="167526"/>
          </a:xfrm>
        </p:grpSpPr>
        <p:sp>
          <p:nvSpPr>
            <p:cNvPr id="326" name="path 326"/>
            <p:cNvSpPr/>
            <p:nvPr/>
          </p:nvSpPr>
          <p:spPr>
            <a:xfrm>
              <a:off x="3060" y="12325"/>
              <a:ext cx="1150937" cy="142875"/>
            </a:xfrm>
            <a:custGeom>
              <a:avLst/>
              <a:gdLst/>
              <a:ahLst/>
              <a:cxnLst/>
              <a:rect l="0" t="0" r="0" b="0"/>
              <a:pathLst>
                <a:path w="1812" h="225">
                  <a:moveTo>
                    <a:pt x="0" y="112"/>
                  </a:moveTo>
                  <a:lnTo>
                    <a:pt x="453" y="0"/>
                  </a:lnTo>
                  <a:lnTo>
                    <a:pt x="453" y="56"/>
                  </a:lnTo>
                  <a:lnTo>
                    <a:pt x="1812" y="56"/>
                  </a:lnTo>
                  <a:lnTo>
                    <a:pt x="1812" y="168"/>
                  </a:lnTo>
                  <a:lnTo>
                    <a:pt x="453" y="168"/>
                  </a:lnTo>
                  <a:lnTo>
                    <a:pt x="453" y="225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FFCC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28" name="path 328"/>
            <p:cNvSpPr/>
            <p:nvPr/>
          </p:nvSpPr>
          <p:spPr>
            <a:xfrm>
              <a:off x="0" y="0"/>
              <a:ext cx="1166697" cy="167526"/>
            </a:xfrm>
            <a:custGeom>
              <a:avLst/>
              <a:gdLst/>
              <a:ahLst/>
              <a:cxnLst/>
              <a:rect l="0" t="0" r="0" b="0"/>
              <a:pathLst>
                <a:path w="1837" h="263">
                  <a:moveTo>
                    <a:pt x="4" y="131"/>
                  </a:moveTo>
                  <a:lnTo>
                    <a:pt x="457" y="19"/>
                  </a:lnTo>
                  <a:lnTo>
                    <a:pt x="457" y="75"/>
                  </a:lnTo>
                  <a:lnTo>
                    <a:pt x="1817" y="75"/>
                  </a:lnTo>
                  <a:lnTo>
                    <a:pt x="1817" y="188"/>
                  </a:lnTo>
                  <a:lnTo>
                    <a:pt x="457" y="188"/>
                  </a:lnTo>
                  <a:lnTo>
                    <a:pt x="457" y="244"/>
                  </a:lnTo>
                  <a:lnTo>
                    <a:pt x="4" y="131"/>
                  </a:lnTo>
                  <a:close/>
                </a:path>
              </a:pathLst>
            </a:custGeom>
            <a:noFill/>
            <a:ln w="25400" cap="flat">
              <a:solidFill>
                <a:srgbClr val="FF00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6231370" y="3416300"/>
            <a:ext cx="168998" cy="1095483"/>
            <a:chOff x="0" y="0"/>
            <a:chExt cx="168998" cy="1095483"/>
          </a:xfrm>
        </p:grpSpPr>
        <p:sp>
          <p:nvSpPr>
            <p:cNvPr id="330" name="path 330"/>
            <p:cNvSpPr/>
            <p:nvPr/>
          </p:nvSpPr>
          <p:spPr>
            <a:xfrm>
              <a:off x="12268" y="12700"/>
              <a:ext cx="144462" cy="1079500"/>
            </a:xfrm>
            <a:custGeom>
              <a:avLst/>
              <a:gdLst/>
              <a:ahLst/>
              <a:cxnLst/>
              <a:rect l="0" t="0" r="0" b="0"/>
              <a:pathLst>
                <a:path w="227" h="1700">
                  <a:moveTo>
                    <a:pt x="0" y="1275"/>
                  </a:moveTo>
                  <a:lnTo>
                    <a:pt x="56" y="1275"/>
                  </a:lnTo>
                  <a:lnTo>
                    <a:pt x="56" y="0"/>
                  </a:lnTo>
                  <a:lnTo>
                    <a:pt x="170" y="0"/>
                  </a:lnTo>
                  <a:lnTo>
                    <a:pt x="170" y="1275"/>
                  </a:lnTo>
                  <a:lnTo>
                    <a:pt x="227" y="1275"/>
                  </a:lnTo>
                  <a:lnTo>
                    <a:pt x="113" y="1700"/>
                  </a:lnTo>
                  <a:lnTo>
                    <a:pt x="0" y="1275"/>
                  </a:lnTo>
                  <a:close/>
                </a:path>
              </a:pathLst>
            </a:custGeom>
            <a:solidFill>
              <a:srgbClr val="FFCC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32" name="path 332"/>
            <p:cNvSpPr/>
            <p:nvPr/>
          </p:nvSpPr>
          <p:spPr>
            <a:xfrm>
              <a:off x="0" y="0"/>
              <a:ext cx="168998" cy="1095483"/>
            </a:xfrm>
            <a:custGeom>
              <a:avLst/>
              <a:gdLst/>
              <a:ahLst/>
              <a:cxnLst/>
              <a:rect l="0" t="0" r="0" b="0"/>
              <a:pathLst>
                <a:path w="266" h="1725">
                  <a:moveTo>
                    <a:pt x="19" y="1295"/>
                  </a:moveTo>
                  <a:lnTo>
                    <a:pt x="76" y="1295"/>
                  </a:lnTo>
                  <a:lnTo>
                    <a:pt x="76" y="20"/>
                  </a:lnTo>
                  <a:lnTo>
                    <a:pt x="189" y="20"/>
                  </a:lnTo>
                  <a:lnTo>
                    <a:pt x="189" y="1295"/>
                  </a:lnTo>
                  <a:lnTo>
                    <a:pt x="246" y="1295"/>
                  </a:lnTo>
                  <a:lnTo>
                    <a:pt x="133" y="1720"/>
                  </a:lnTo>
                  <a:lnTo>
                    <a:pt x="19" y="1295"/>
                  </a:lnTo>
                  <a:close/>
                </a:path>
              </a:pathLst>
            </a:custGeom>
            <a:noFill/>
            <a:ln w="25400" cap="flat">
              <a:solidFill>
                <a:srgbClr val="FF00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2420937" y="3063190"/>
            <a:ext cx="730338" cy="226794"/>
            <a:chOff x="0" y="0"/>
            <a:chExt cx="730338" cy="226794"/>
          </a:xfrm>
        </p:grpSpPr>
        <p:sp>
          <p:nvSpPr>
            <p:cNvPr id="334" name="path 334"/>
            <p:cNvSpPr/>
            <p:nvPr/>
          </p:nvSpPr>
          <p:spPr>
            <a:xfrm>
              <a:off x="6350" y="5447"/>
              <a:ext cx="720725" cy="215900"/>
            </a:xfrm>
            <a:custGeom>
              <a:avLst/>
              <a:gdLst/>
              <a:ahLst/>
              <a:cxnLst/>
              <a:rect l="0" t="0" r="0" b="0"/>
              <a:pathLst>
                <a:path w="1135" h="340">
                  <a:moveTo>
                    <a:pt x="0" y="85"/>
                  </a:moveTo>
                  <a:lnTo>
                    <a:pt x="851" y="85"/>
                  </a:lnTo>
                  <a:lnTo>
                    <a:pt x="851" y="0"/>
                  </a:lnTo>
                  <a:lnTo>
                    <a:pt x="1135" y="170"/>
                  </a:lnTo>
                  <a:lnTo>
                    <a:pt x="851" y="340"/>
                  </a:lnTo>
                  <a:lnTo>
                    <a:pt x="851" y="255"/>
                  </a:lnTo>
                  <a:lnTo>
                    <a:pt x="0" y="25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36" name="path 336"/>
            <p:cNvSpPr/>
            <p:nvPr/>
          </p:nvSpPr>
          <p:spPr>
            <a:xfrm>
              <a:off x="0" y="0"/>
              <a:ext cx="730338" cy="226794"/>
            </a:xfrm>
            <a:custGeom>
              <a:avLst/>
              <a:gdLst/>
              <a:ahLst/>
              <a:cxnLst/>
              <a:rect l="0" t="0" r="0" b="0"/>
              <a:pathLst>
                <a:path w="1150" h="357">
                  <a:moveTo>
                    <a:pt x="10" y="93"/>
                  </a:moveTo>
                  <a:lnTo>
                    <a:pt x="861" y="93"/>
                  </a:lnTo>
                  <a:lnTo>
                    <a:pt x="861" y="8"/>
                  </a:lnTo>
                  <a:lnTo>
                    <a:pt x="1145" y="178"/>
                  </a:lnTo>
                  <a:lnTo>
                    <a:pt x="861" y="348"/>
                  </a:lnTo>
                  <a:lnTo>
                    <a:pt x="861" y="263"/>
                  </a:lnTo>
                  <a:lnTo>
                    <a:pt x="10" y="263"/>
                  </a:lnTo>
                  <a:lnTo>
                    <a:pt x="10" y="93"/>
                  </a:lnTo>
                  <a:close/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5019675" y="2991752"/>
            <a:ext cx="723988" cy="226794"/>
            <a:chOff x="0" y="0"/>
            <a:chExt cx="723988" cy="226794"/>
          </a:xfrm>
        </p:grpSpPr>
        <p:sp>
          <p:nvSpPr>
            <p:cNvPr id="338" name="path 338"/>
            <p:cNvSpPr/>
            <p:nvPr/>
          </p:nvSpPr>
          <p:spPr>
            <a:xfrm>
              <a:off x="0" y="5447"/>
              <a:ext cx="720725" cy="215900"/>
            </a:xfrm>
            <a:custGeom>
              <a:avLst/>
              <a:gdLst/>
              <a:ahLst/>
              <a:cxnLst/>
              <a:rect l="0" t="0" r="0" b="0"/>
              <a:pathLst>
                <a:path w="1135" h="340">
                  <a:moveTo>
                    <a:pt x="0" y="85"/>
                  </a:moveTo>
                  <a:lnTo>
                    <a:pt x="851" y="85"/>
                  </a:lnTo>
                  <a:lnTo>
                    <a:pt x="851" y="0"/>
                  </a:lnTo>
                  <a:lnTo>
                    <a:pt x="1135" y="170"/>
                  </a:lnTo>
                  <a:lnTo>
                    <a:pt x="851" y="340"/>
                  </a:lnTo>
                  <a:lnTo>
                    <a:pt x="851" y="255"/>
                  </a:lnTo>
                  <a:lnTo>
                    <a:pt x="0" y="25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00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40" name="path 340"/>
            <p:cNvSpPr/>
            <p:nvPr/>
          </p:nvSpPr>
          <p:spPr>
            <a:xfrm>
              <a:off x="537274" y="0"/>
              <a:ext cx="186714" cy="226794"/>
            </a:xfrm>
            <a:custGeom>
              <a:avLst/>
              <a:gdLst/>
              <a:ahLst/>
              <a:cxnLst/>
              <a:rect l="0" t="0" r="0" b="0"/>
              <a:pathLst>
                <a:path w="294" h="357">
                  <a:moveTo>
                    <a:pt x="5" y="8"/>
                  </a:moveTo>
                  <a:lnTo>
                    <a:pt x="288" y="178"/>
                  </a:lnTo>
                  <a:lnTo>
                    <a:pt x="5" y="348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2351498" y="2769363"/>
            <a:ext cx="809214" cy="168324"/>
            <a:chOff x="0" y="0"/>
            <a:chExt cx="809214" cy="168324"/>
          </a:xfrm>
        </p:grpSpPr>
        <p:sp>
          <p:nvSpPr>
            <p:cNvPr id="342" name="path 342"/>
            <p:cNvSpPr/>
            <p:nvPr/>
          </p:nvSpPr>
          <p:spPr>
            <a:xfrm>
              <a:off x="4351" y="11931"/>
              <a:ext cx="792162" cy="144462"/>
            </a:xfrm>
            <a:custGeom>
              <a:avLst/>
              <a:gdLst/>
              <a:ahLst/>
              <a:cxnLst/>
              <a:rect l="0" t="0" r="0" b="0"/>
              <a:pathLst>
                <a:path w="1247" h="227">
                  <a:moveTo>
                    <a:pt x="0" y="113"/>
                  </a:moveTo>
                  <a:lnTo>
                    <a:pt x="311" y="0"/>
                  </a:lnTo>
                  <a:lnTo>
                    <a:pt x="311" y="56"/>
                  </a:lnTo>
                  <a:lnTo>
                    <a:pt x="1247" y="56"/>
                  </a:lnTo>
                  <a:lnTo>
                    <a:pt x="1247" y="170"/>
                  </a:lnTo>
                  <a:lnTo>
                    <a:pt x="311" y="170"/>
                  </a:lnTo>
                  <a:lnTo>
                    <a:pt x="311" y="227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FFCC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44" name="path 344"/>
            <p:cNvSpPr/>
            <p:nvPr/>
          </p:nvSpPr>
          <p:spPr>
            <a:xfrm>
              <a:off x="0" y="0"/>
              <a:ext cx="809214" cy="168324"/>
            </a:xfrm>
            <a:custGeom>
              <a:avLst/>
              <a:gdLst/>
              <a:ahLst/>
              <a:cxnLst/>
              <a:rect l="0" t="0" r="0" b="0"/>
              <a:pathLst>
                <a:path w="1274" h="265">
                  <a:moveTo>
                    <a:pt x="6" y="132"/>
                  </a:moveTo>
                  <a:lnTo>
                    <a:pt x="318" y="18"/>
                  </a:lnTo>
                  <a:lnTo>
                    <a:pt x="318" y="75"/>
                  </a:lnTo>
                  <a:lnTo>
                    <a:pt x="1254" y="75"/>
                  </a:lnTo>
                  <a:lnTo>
                    <a:pt x="1254" y="189"/>
                  </a:lnTo>
                  <a:lnTo>
                    <a:pt x="318" y="189"/>
                  </a:lnTo>
                  <a:lnTo>
                    <a:pt x="318" y="246"/>
                  </a:lnTo>
                  <a:lnTo>
                    <a:pt x="6" y="132"/>
                  </a:lnTo>
                  <a:close/>
                </a:path>
              </a:pathLst>
            </a:custGeom>
            <a:noFill/>
            <a:ln w="25400" cap="flat">
              <a:solidFill>
                <a:srgbClr val="FF00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21600000">
            <a:off x="5006975" y="2696487"/>
            <a:ext cx="736572" cy="168031"/>
            <a:chOff x="0" y="0"/>
            <a:chExt cx="736572" cy="168031"/>
          </a:xfrm>
        </p:grpSpPr>
        <p:sp>
          <p:nvSpPr>
            <p:cNvPr id="346" name="path 346"/>
            <p:cNvSpPr/>
            <p:nvPr/>
          </p:nvSpPr>
          <p:spPr>
            <a:xfrm>
              <a:off x="12700" y="11784"/>
              <a:ext cx="719137" cy="144462"/>
            </a:xfrm>
            <a:custGeom>
              <a:avLst/>
              <a:gdLst/>
              <a:ahLst/>
              <a:cxnLst/>
              <a:rect l="0" t="0" r="0" b="0"/>
              <a:pathLst>
                <a:path w="1132" h="227">
                  <a:moveTo>
                    <a:pt x="0" y="56"/>
                  </a:moveTo>
                  <a:lnTo>
                    <a:pt x="849" y="56"/>
                  </a:lnTo>
                  <a:lnTo>
                    <a:pt x="849" y="0"/>
                  </a:lnTo>
                  <a:lnTo>
                    <a:pt x="1132" y="113"/>
                  </a:lnTo>
                  <a:lnTo>
                    <a:pt x="849" y="227"/>
                  </a:lnTo>
                  <a:lnTo>
                    <a:pt x="849" y="170"/>
                  </a:lnTo>
                  <a:lnTo>
                    <a:pt x="0" y="17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CC9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48" name="path 348"/>
            <p:cNvSpPr/>
            <p:nvPr/>
          </p:nvSpPr>
          <p:spPr>
            <a:xfrm>
              <a:off x="0" y="0"/>
              <a:ext cx="736572" cy="168031"/>
            </a:xfrm>
            <a:custGeom>
              <a:avLst/>
              <a:gdLst/>
              <a:ahLst/>
              <a:cxnLst/>
              <a:rect l="0" t="0" r="0" b="0"/>
              <a:pathLst>
                <a:path w="1159" h="264">
                  <a:moveTo>
                    <a:pt x="20" y="75"/>
                  </a:moveTo>
                  <a:lnTo>
                    <a:pt x="869" y="75"/>
                  </a:lnTo>
                  <a:lnTo>
                    <a:pt x="869" y="18"/>
                  </a:lnTo>
                  <a:lnTo>
                    <a:pt x="1152" y="132"/>
                  </a:lnTo>
                  <a:lnTo>
                    <a:pt x="869" y="246"/>
                  </a:lnTo>
                  <a:lnTo>
                    <a:pt x="869" y="189"/>
                  </a:lnTo>
                  <a:lnTo>
                    <a:pt x="20" y="189"/>
                  </a:lnTo>
                  <a:lnTo>
                    <a:pt x="20" y="75"/>
                  </a:lnTo>
                  <a:close/>
                </a:path>
              </a:pathLst>
            </a:custGeom>
            <a:noFill/>
            <a:ln w="25400" cap="flat">
              <a:solidFill>
                <a:srgbClr val="FF00FF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350" name="path 350"/>
          <p:cNvSpPr/>
          <p:nvPr/>
        </p:nvSpPr>
        <p:spPr>
          <a:xfrm>
            <a:off x="5013325" y="2997200"/>
            <a:ext cx="553237" cy="215900"/>
          </a:xfrm>
          <a:custGeom>
            <a:avLst/>
            <a:gdLst/>
            <a:ahLst/>
            <a:cxnLst/>
            <a:rect l="0" t="0" r="0" b="0"/>
            <a:pathLst>
              <a:path w="871" h="340">
                <a:moveTo>
                  <a:pt x="10" y="85"/>
                </a:moveTo>
                <a:lnTo>
                  <a:pt x="861" y="85"/>
                </a:lnTo>
                <a:lnTo>
                  <a:pt x="861" y="0"/>
                </a:lnTo>
                <a:moveTo>
                  <a:pt x="861" y="340"/>
                </a:moveTo>
                <a:lnTo>
                  <a:pt x="861" y="255"/>
                </a:lnTo>
                <a:lnTo>
                  <a:pt x="10" y="255"/>
                </a:lnTo>
                <a:lnTo>
                  <a:pt x="10" y="85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" name="table 352"/>
          <p:cNvGraphicFramePr>
            <a:graphicFrameLocks noGrp="1"/>
          </p:cNvGraphicFramePr>
          <p:nvPr/>
        </p:nvGraphicFramePr>
        <p:xfrm>
          <a:off x="911998" y="2061767"/>
          <a:ext cx="7457439" cy="3376295"/>
        </p:xfrm>
        <a:graphic>
          <a:graphicData uri="http://schemas.openxmlformats.org/drawingml/2006/table">
            <a:tbl>
              <a:tblPr/>
              <a:tblGrid>
                <a:gridCol w="2230755"/>
                <a:gridCol w="3980814"/>
                <a:gridCol w="1245869"/>
              </a:tblGrid>
              <a:tr h="1737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3600" b="1" kern="0" spc="30" baseline="13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根据负荷性质</a:t>
                      </a:r>
                      <a:r>
                        <a:rPr sz="23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{</a:t>
                      </a:r>
                      <a:endParaRPr sz="5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0" algn="l" rtl="0" eaLnBrk="0">
                        <a:lnSpc>
                          <a:spcPct val="85000"/>
                        </a:lnSpc>
                      </a:pPr>
                      <a:r>
                        <a:rPr sz="24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电阻电路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38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24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根据感兴趣的时段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3000"/>
                        </a:lnSpc>
                      </a:pPr>
                      <a:r>
                        <a:rPr sz="24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暂态分析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ts val="4825"/>
                        </a:lnSpc>
                      </a:pPr>
                      <a:r>
                        <a:rPr sz="24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稳态分析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389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3600" b="1" kern="0" spc="30" baseline="13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根据电源性质</a:t>
                      </a:r>
                      <a:r>
                        <a:rPr sz="2300" kern="0" spc="-4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5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{</a:t>
                      </a:r>
                      <a:endParaRPr sz="5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4930" algn="l" rtl="0" eaLnBrk="0">
                        <a:lnSpc>
                          <a:spcPct val="86000"/>
                        </a:lnSpc>
                      </a:pPr>
                      <a:r>
                        <a:rPr sz="24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直流电路</a:t>
                      </a:r>
                      <a:endParaRPr sz="24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8740" algn="l" rtl="0" eaLnBrk="0">
                        <a:lnSpc>
                          <a:spcPts val="6780"/>
                        </a:lnSpc>
                      </a:pPr>
                      <a:r>
                        <a:rPr sz="3600" b="1" kern="0" spc="50" baseline="6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交流电路</a:t>
                      </a:r>
                      <a:r>
                        <a:rPr sz="2300" kern="0" spc="-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4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{</a:t>
                      </a:r>
                      <a:r>
                        <a:rPr sz="48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</a:t>
                      </a:r>
                      <a:r>
                        <a:rPr sz="3600" b="1" kern="0" spc="50" baseline="-14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正弦激励</a:t>
                      </a:r>
                      <a:endParaRPr sz="3600" baseline="-14000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54" name="textbox 354"/>
          <p:cNvSpPr/>
          <p:nvPr/>
        </p:nvSpPr>
        <p:spPr>
          <a:xfrm>
            <a:off x="4822404" y="5116259"/>
            <a:ext cx="1233805" cy="328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3000"/>
              </a:lnSpc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周期性非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4803398" y="4433079"/>
            <a:ext cx="1228725" cy="328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3000"/>
              </a:lnSpc>
            </a:pP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正弦激励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3203981" y="2686050"/>
            <a:ext cx="3884929" cy="765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4000"/>
              </a:lnSpc>
            </a:pPr>
            <a:r>
              <a:rPr sz="3600" b="1" kern="0" spc="20" baseline="300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动态电路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800" strike="sngStrike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</a:t>
            </a:r>
            <a:r>
              <a:rPr sz="3600" strike="sngStrike" kern="0" spc="-3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r>
              <a:rPr sz="3600" kern="0" spc="8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600" kern="0" spc="-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</a:t>
            </a:r>
            <a:endParaRPr sz="3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376745" y="689851"/>
            <a:ext cx="2461260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20" dirty="0">
                <a:solidFill>
                  <a:srgbClr val="CC0099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七、如何看待电路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box 362"/>
          <p:cNvSpPr/>
          <p:nvPr/>
        </p:nvSpPr>
        <p:spPr>
          <a:xfrm>
            <a:off x="553404" y="596105"/>
            <a:ext cx="4703445" cy="5494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31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本学期的主要内容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" algn="l" rtl="0" eaLnBrk="0" fontAlgn="auto" hangingPunct="1">
              <a:lnSpc>
                <a:spcPct val="86000"/>
              </a:lnSpc>
              <a:spcBef>
                <a:spcPts val="1260"/>
              </a:spcBef>
            </a:pPr>
            <a:r>
              <a:rPr sz="2800" kern="0" spc="-5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5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5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线性电阻电路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" algn="l" rtl="0" eaLnBrk="0" fontAlgn="auto" hangingPunct="1">
              <a:lnSpc>
                <a:spcPct val="86000"/>
              </a:lnSpc>
              <a:spcBef>
                <a:spcPts val="1145"/>
              </a:spcBef>
            </a:pPr>
            <a:r>
              <a:rPr sz="2800" kern="0" spc="-5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7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5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非线性电阻电路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970" algn="l" rtl="0" eaLnBrk="0" fontAlgn="auto" hangingPunct="1">
              <a:lnSpc>
                <a:spcPct val="86000"/>
              </a:lnSpc>
              <a:spcBef>
                <a:spcPts val="1145"/>
              </a:spcBef>
            </a:pPr>
            <a:r>
              <a:rPr sz="2800" kern="0" spc="-3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5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3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线性动态电路的时域</a:t>
            </a:r>
            <a:r>
              <a:rPr sz="2800" b="1" kern="0" spc="-4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195" indent="-276225" algn="l" rtl="0" eaLnBrk="0" fontAlgn="auto" hangingPunct="1">
              <a:lnSpc>
                <a:spcPct val="107000"/>
              </a:lnSpc>
              <a:spcBef>
                <a:spcPts val="1175"/>
              </a:spcBef>
            </a:pPr>
            <a:r>
              <a:rPr sz="2800" kern="0" spc="-3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15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3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线性动态电路的稳态</a:t>
            </a:r>
            <a:r>
              <a:rPr sz="2800" b="1" kern="0" spc="-4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</a:t>
            </a:r>
            <a:r>
              <a:rPr sz="2800" kern="0" spc="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800" b="1" kern="0" spc="-1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800" b="1" kern="0" spc="-1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正弦激励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90195" algn="l" rtl="0" eaLnBrk="0" fontAlgn="auto" hangingPunct="1">
              <a:lnSpc>
                <a:spcPct val="86000"/>
              </a:lnSpc>
              <a:spcBef>
                <a:spcPts val="840"/>
              </a:spcBef>
            </a:pPr>
            <a:r>
              <a:rPr sz="2800" b="1" kern="0" spc="-10" dirty="0">
                <a:solidFill>
                  <a:srgbClr val="002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800" b="1" kern="0" spc="-10" dirty="0">
                <a:solidFill>
                  <a:srgbClr val="00206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周期性非正弦激励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935" algn="l" rtl="0" eaLnBrk="0" fontAlgn="auto" hangingPunct="1">
              <a:lnSpc>
                <a:spcPct val="83000"/>
              </a:lnSpc>
              <a:spcBef>
                <a:spcPts val="725"/>
              </a:spcBef>
            </a:pPr>
            <a:r>
              <a:rPr sz="2400" b="1" kern="0" spc="-7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电阻电路</a:t>
            </a:r>
            <a:r>
              <a:rPr sz="2400" kern="0" spc="14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2400" b="1" kern="0" spc="-7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动态电路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65250" indent="-13335" algn="l" rtl="0" eaLnBrk="0" fontAlgn="auto" hangingPunct="1">
              <a:lnSpc>
                <a:spcPct val="163000"/>
              </a:lnSpc>
              <a:spcBef>
                <a:spcPts val="25"/>
              </a:spcBef>
            </a:pPr>
            <a:r>
              <a:rPr sz="2400" b="1" kern="0" spc="-5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直流电路</a:t>
            </a:r>
            <a:r>
              <a:rPr sz="2400" kern="0" spc="16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2400" b="1" kern="0" spc="-5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交流电路</a:t>
            </a:r>
            <a:r>
              <a:rPr sz="3600" b="1" kern="0" spc="10" baseline="400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暂态分析</a:t>
            </a:r>
            <a:r>
              <a:rPr sz="2300" kern="0" spc="6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sz="3600" b="1" kern="0" spc="10" baseline="-400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稳态分析</a:t>
            </a:r>
            <a:endParaRPr sz="3600" baseline="-4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6" name="group 26"/>
          <p:cNvGrpSpPr/>
          <p:nvPr/>
        </p:nvGrpSpPr>
        <p:grpSpPr>
          <a:xfrm rot="21600000">
            <a:off x="3273517" y="5770260"/>
            <a:ext cx="533580" cy="248795"/>
            <a:chOff x="0" y="0"/>
            <a:chExt cx="533580" cy="248795"/>
          </a:xfrm>
        </p:grpSpPr>
        <p:sp>
          <p:nvSpPr>
            <p:cNvPr id="364" name="path 364"/>
            <p:cNvSpPr/>
            <p:nvPr/>
          </p:nvSpPr>
          <p:spPr>
            <a:xfrm>
              <a:off x="8980" y="8980"/>
              <a:ext cx="515620" cy="230835"/>
            </a:xfrm>
            <a:custGeom>
              <a:avLst/>
              <a:gdLst/>
              <a:ahLst/>
              <a:cxnLst/>
              <a:rect l="0" t="0" r="0" b="0"/>
              <a:pathLst>
                <a:path w="812" h="363">
                  <a:moveTo>
                    <a:pt x="0" y="181"/>
                  </a:moveTo>
                  <a:lnTo>
                    <a:pt x="181" y="0"/>
                  </a:lnTo>
                  <a:lnTo>
                    <a:pt x="181" y="90"/>
                  </a:lnTo>
                  <a:lnTo>
                    <a:pt x="630" y="90"/>
                  </a:lnTo>
                  <a:lnTo>
                    <a:pt x="630" y="0"/>
                  </a:lnTo>
                  <a:lnTo>
                    <a:pt x="812" y="181"/>
                  </a:lnTo>
                  <a:lnTo>
                    <a:pt x="630" y="363"/>
                  </a:lnTo>
                  <a:lnTo>
                    <a:pt x="630" y="272"/>
                  </a:lnTo>
                  <a:lnTo>
                    <a:pt x="181" y="272"/>
                  </a:lnTo>
                  <a:lnTo>
                    <a:pt x="181" y="363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66" name="path 366"/>
            <p:cNvSpPr/>
            <p:nvPr/>
          </p:nvSpPr>
          <p:spPr>
            <a:xfrm>
              <a:off x="0" y="0"/>
              <a:ext cx="533580" cy="248795"/>
            </a:xfrm>
            <a:custGeom>
              <a:avLst/>
              <a:gdLst/>
              <a:ahLst/>
              <a:cxnLst/>
              <a:rect l="0" t="0" r="0" b="0"/>
              <a:pathLst>
                <a:path w="840" h="391">
                  <a:moveTo>
                    <a:pt x="14" y="195"/>
                  </a:moveTo>
                  <a:lnTo>
                    <a:pt x="195" y="14"/>
                  </a:lnTo>
                  <a:lnTo>
                    <a:pt x="195" y="105"/>
                  </a:lnTo>
                  <a:lnTo>
                    <a:pt x="644" y="105"/>
                  </a:lnTo>
                  <a:lnTo>
                    <a:pt x="644" y="14"/>
                  </a:lnTo>
                  <a:lnTo>
                    <a:pt x="826" y="195"/>
                  </a:lnTo>
                  <a:lnTo>
                    <a:pt x="644" y="377"/>
                  </a:lnTo>
                  <a:lnTo>
                    <a:pt x="644" y="286"/>
                  </a:lnTo>
                  <a:lnTo>
                    <a:pt x="195" y="286"/>
                  </a:lnTo>
                  <a:lnTo>
                    <a:pt x="195" y="377"/>
                  </a:lnTo>
                  <a:lnTo>
                    <a:pt x="14" y="195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3266507" y="5215964"/>
            <a:ext cx="533580" cy="248795"/>
            <a:chOff x="0" y="0"/>
            <a:chExt cx="533580" cy="248795"/>
          </a:xfrm>
        </p:grpSpPr>
        <p:sp>
          <p:nvSpPr>
            <p:cNvPr id="368" name="path 368"/>
            <p:cNvSpPr/>
            <p:nvPr/>
          </p:nvSpPr>
          <p:spPr>
            <a:xfrm>
              <a:off x="8980" y="8980"/>
              <a:ext cx="515620" cy="230835"/>
            </a:xfrm>
            <a:custGeom>
              <a:avLst/>
              <a:gdLst/>
              <a:ahLst/>
              <a:cxnLst/>
              <a:rect l="0" t="0" r="0" b="0"/>
              <a:pathLst>
                <a:path w="812" h="363">
                  <a:moveTo>
                    <a:pt x="0" y="181"/>
                  </a:moveTo>
                  <a:lnTo>
                    <a:pt x="181" y="0"/>
                  </a:lnTo>
                  <a:lnTo>
                    <a:pt x="181" y="90"/>
                  </a:lnTo>
                  <a:lnTo>
                    <a:pt x="630" y="90"/>
                  </a:lnTo>
                  <a:lnTo>
                    <a:pt x="630" y="0"/>
                  </a:lnTo>
                  <a:lnTo>
                    <a:pt x="812" y="181"/>
                  </a:lnTo>
                  <a:lnTo>
                    <a:pt x="630" y="363"/>
                  </a:lnTo>
                  <a:lnTo>
                    <a:pt x="630" y="272"/>
                  </a:lnTo>
                  <a:lnTo>
                    <a:pt x="181" y="272"/>
                  </a:lnTo>
                  <a:lnTo>
                    <a:pt x="181" y="363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70" name="path 370"/>
            <p:cNvSpPr/>
            <p:nvPr/>
          </p:nvSpPr>
          <p:spPr>
            <a:xfrm>
              <a:off x="0" y="0"/>
              <a:ext cx="533580" cy="248795"/>
            </a:xfrm>
            <a:custGeom>
              <a:avLst/>
              <a:gdLst/>
              <a:ahLst/>
              <a:cxnLst/>
              <a:rect l="0" t="0" r="0" b="0"/>
              <a:pathLst>
                <a:path w="840" h="391">
                  <a:moveTo>
                    <a:pt x="14" y="195"/>
                  </a:moveTo>
                  <a:lnTo>
                    <a:pt x="195" y="14"/>
                  </a:lnTo>
                  <a:lnTo>
                    <a:pt x="195" y="105"/>
                  </a:lnTo>
                  <a:lnTo>
                    <a:pt x="644" y="105"/>
                  </a:lnTo>
                  <a:lnTo>
                    <a:pt x="644" y="14"/>
                  </a:lnTo>
                  <a:lnTo>
                    <a:pt x="826" y="195"/>
                  </a:lnTo>
                  <a:lnTo>
                    <a:pt x="644" y="377"/>
                  </a:lnTo>
                  <a:lnTo>
                    <a:pt x="644" y="286"/>
                  </a:lnTo>
                  <a:lnTo>
                    <a:pt x="195" y="286"/>
                  </a:lnTo>
                  <a:lnTo>
                    <a:pt x="195" y="377"/>
                  </a:lnTo>
                  <a:lnTo>
                    <a:pt x="14" y="195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3289570" y="4638325"/>
            <a:ext cx="533580" cy="248795"/>
            <a:chOff x="0" y="0"/>
            <a:chExt cx="533580" cy="248795"/>
          </a:xfrm>
        </p:grpSpPr>
        <p:sp>
          <p:nvSpPr>
            <p:cNvPr id="372" name="path 372"/>
            <p:cNvSpPr/>
            <p:nvPr/>
          </p:nvSpPr>
          <p:spPr>
            <a:xfrm>
              <a:off x="8980" y="8980"/>
              <a:ext cx="515620" cy="230835"/>
            </a:xfrm>
            <a:custGeom>
              <a:avLst/>
              <a:gdLst/>
              <a:ahLst/>
              <a:cxnLst/>
              <a:rect l="0" t="0" r="0" b="0"/>
              <a:pathLst>
                <a:path w="812" h="363">
                  <a:moveTo>
                    <a:pt x="0" y="181"/>
                  </a:moveTo>
                  <a:lnTo>
                    <a:pt x="181" y="0"/>
                  </a:lnTo>
                  <a:lnTo>
                    <a:pt x="181" y="90"/>
                  </a:lnTo>
                  <a:lnTo>
                    <a:pt x="630" y="90"/>
                  </a:lnTo>
                  <a:lnTo>
                    <a:pt x="630" y="0"/>
                  </a:lnTo>
                  <a:lnTo>
                    <a:pt x="812" y="181"/>
                  </a:lnTo>
                  <a:lnTo>
                    <a:pt x="630" y="363"/>
                  </a:lnTo>
                  <a:lnTo>
                    <a:pt x="630" y="272"/>
                  </a:lnTo>
                  <a:lnTo>
                    <a:pt x="181" y="272"/>
                  </a:lnTo>
                  <a:lnTo>
                    <a:pt x="181" y="363"/>
                  </a:lnTo>
                  <a:lnTo>
                    <a:pt x="0" y="181"/>
                  </a:lnTo>
                  <a:close/>
                </a:path>
              </a:pathLst>
            </a:custGeom>
            <a:solidFill>
              <a:srgbClr val="BBE0E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374" name="path 374"/>
            <p:cNvSpPr/>
            <p:nvPr/>
          </p:nvSpPr>
          <p:spPr>
            <a:xfrm>
              <a:off x="0" y="0"/>
              <a:ext cx="533580" cy="248795"/>
            </a:xfrm>
            <a:custGeom>
              <a:avLst/>
              <a:gdLst/>
              <a:ahLst/>
              <a:cxnLst/>
              <a:rect l="0" t="0" r="0" b="0"/>
              <a:pathLst>
                <a:path w="840" h="391">
                  <a:moveTo>
                    <a:pt x="14" y="195"/>
                  </a:moveTo>
                  <a:lnTo>
                    <a:pt x="195" y="14"/>
                  </a:lnTo>
                  <a:lnTo>
                    <a:pt x="195" y="105"/>
                  </a:lnTo>
                  <a:lnTo>
                    <a:pt x="644" y="105"/>
                  </a:lnTo>
                  <a:lnTo>
                    <a:pt x="644" y="14"/>
                  </a:lnTo>
                  <a:lnTo>
                    <a:pt x="826" y="195"/>
                  </a:lnTo>
                  <a:lnTo>
                    <a:pt x="644" y="377"/>
                  </a:lnTo>
                  <a:lnTo>
                    <a:pt x="644" y="286"/>
                  </a:lnTo>
                  <a:lnTo>
                    <a:pt x="195" y="286"/>
                  </a:lnTo>
                  <a:lnTo>
                    <a:pt x="195" y="377"/>
                  </a:lnTo>
                  <a:lnTo>
                    <a:pt x="14" y="195"/>
                  </a:lnTo>
                  <a:close/>
                </a:path>
              </a:pathLst>
            </a:custGeom>
            <a:noFill/>
            <a:ln w="25400" cap="flat">
              <a:solidFill>
                <a:srgbClr val="89A4A7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376"/>
          <p:cNvSpPr/>
          <p:nvPr/>
        </p:nvSpPr>
        <p:spPr>
          <a:xfrm>
            <a:off x="554800" y="920994"/>
            <a:ext cx="5736590" cy="319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3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电压、电流和功率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5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845"/>
              </a:spcBef>
            </a:pP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电路的</a:t>
            </a:r>
            <a:r>
              <a:rPr sz="2800" b="1" kern="0" spc="-1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组成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165"/>
              </a:spcBef>
            </a:pP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电路的</a:t>
            </a:r>
            <a:r>
              <a:rPr sz="2800" b="1" kern="0" spc="-1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86000"/>
              </a:lnSpc>
              <a:spcBef>
                <a:spcPts val="1145"/>
              </a:spcBef>
            </a:pP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电路的</a:t>
            </a:r>
            <a:r>
              <a:rPr sz="2800" b="1" kern="0" spc="-1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变量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87985" algn="l" rtl="0" eaLnBrk="0">
              <a:lnSpc>
                <a:spcPct val="86000"/>
              </a:lnSpc>
              <a:spcBef>
                <a:spcPts val="1445"/>
              </a:spcBef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——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电压和电流的</a:t>
            </a:r>
            <a:r>
              <a:rPr sz="2400" b="1" kern="0" spc="-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参考方向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  <a:spcBef>
                <a:spcPts val="5"/>
              </a:spcBef>
            </a:pPr>
            <a:r>
              <a:rPr sz="2800" kern="0" spc="-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•</a:t>
            </a:r>
            <a:r>
              <a:rPr sz="28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800" b="1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电路的</a:t>
            </a:r>
            <a:r>
              <a:rPr sz="2800" b="1" kern="0" spc="-110" dirty="0">
                <a:solidFill>
                  <a:srgbClr val="C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功率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6000" b="1" dirty="0">
                <a:solidFill>
                  <a:schemeClr val="bg2"/>
                </a:solidFill>
                <a:ea typeface="华文新魏" panose="02010800040101010101" pitchFamily="2" charset="-122"/>
              </a:rPr>
              <a:t>电路理论基础</a:t>
            </a:r>
            <a:endParaRPr lang="zh-CN" altLang="en-US" sz="6000" b="1" dirty="0">
              <a:solidFill>
                <a:schemeClr val="bg2"/>
              </a:solidFill>
              <a:ea typeface="华文新魏" panose="0201080004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2133600"/>
            <a:ext cx="7921625" cy="4464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教材：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《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电路基础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》(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原书第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7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精编版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，机械工业出版社，周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巍、段哲民等译，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9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元。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ISBN 978-7-111-72786-6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原版英文版：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《Fundamentals  of  Electric Circuit》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7</a:t>
            </a:r>
            <a:r>
              <a:rPr kumimoji="0" lang="en-US" altLang="zh-CN" sz="28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th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  edit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:  Charles K. Alexander,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matthew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 N. O.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Sadiku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, 199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元。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ISBN 978-7-111-58634-0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otype Corsiva" panose="03010101010201010101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教学安排：理论课：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学时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/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周，共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54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学时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otype Corsiva" panose="03010101010201010101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                        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otype Corsiva" panose="03010101010201010101" pitchFamily="66" charset="0"/>
              <a:ea typeface="+mn-ea"/>
              <a:cs typeface="+mn-cs"/>
            </a:endParaRPr>
          </a:p>
        </p:txBody>
      </p:sp>
      <p:sp>
        <p:nvSpPr>
          <p:cNvPr id="9220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0" y="69215"/>
            <a:ext cx="5202555" cy="67640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2987675" y="188913"/>
            <a:ext cx="360045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54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教 与 学</a:t>
            </a:r>
            <a:endParaRPr lang="zh-CN" altLang="en-US" sz="54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560513"/>
            <a:ext cx="7775575" cy="424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读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电路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的能力，明晰各参数的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物理意义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 清晰的解题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思路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成绩考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查（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平时成绩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40%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期末考试成绩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60%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。平时成绩包括作业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5%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，考勤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5%</a:t>
            </a:r>
            <a:r>
              <a:rPr kumimoji="0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zh-CN" sz="1800" b="0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研究生助教：杨佩宗，杨凯吉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网络学习资源：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超算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习堂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688465" y="476250"/>
            <a:ext cx="5236845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54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教 与 学（</a:t>
            </a:r>
            <a:r>
              <a:rPr lang="zh-CN" altLang="en-US" sz="5400" b="1" dirty="0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续）</a:t>
            </a:r>
            <a:endParaRPr lang="zh-CN" altLang="en-US" sz="5400" b="1" dirty="0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229600" cy="3886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sym typeface="+mn-ea"/>
              </a:rPr>
              <a:t>前期知识：代数，微积分，复数计算，微分方程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课堂练习，随堂小测（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手脑纸笔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抓大放小，掌握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脉络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核心能力：电路分析（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物理头脑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，不是数学头脑）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硬件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与软件，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电子人才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与计算机人才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90600" marR="0" lvl="1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5364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171450" indent="-171450" algn="r" eaLnBrk="1" hangingPunct="1">
              <a:spcBef>
                <a:spcPct val="0"/>
              </a:spcBef>
              <a:buSzTx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ctrTitle"/>
          </p:nvPr>
        </p:nvSpPr>
        <p:spPr>
          <a:xfrm>
            <a:off x="107950" y="260350"/>
            <a:ext cx="8496300" cy="1371600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+mj-cs"/>
              </a:rPr>
              <a:t>第一章</a:t>
            </a:r>
            <a:r>
              <a:rPr lang="en-US" altLang="zh-CN" sz="3600" b="1" dirty="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+mj-cs"/>
              </a:rPr>
              <a:t> </a:t>
            </a:r>
            <a:br>
              <a:rPr lang="en-US" altLang="zh-CN" sz="3600" b="1" dirty="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+mj-cs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+mj-cs"/>
              </a:rPr>
              <a:t>                         </a:t>
            </a:r>
            <a:r>
              <a:rPr lang="zh-CN" altLang="en-US" sz="4800" b="1" dirty="0">
                <a:solidFill>
                  <a:schemeClr val="tx1"/>
                </a:solidFill>
                <a:latin typeface="Verdana" panose="020B0604030504040204" pitchFamily="34" charset="0"/>
                <a:ea typeface="黑体" panose="02010609060101010101" pitchFamily="49" charset="-122"/>
                <a:cs typeface="+mj-cs"/>
              </a:rPr>
              <a:t>基本概念</a:t>
            </a:r>
            <a:endParaRPr lang="en-US" altLang="zh-CN" sz="4800" b="1" dirty="0">
              <a:solidFill>
                <a:schemeClr val="tx1"/>
              </a:solidFill>
              <a:latin typeface="Verdana" panose="020B060403050404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subTitle" idx="1"/>
          </p:nvPr>
        </p:nvSpPr>
        <p:spPr>
          <a:xfrm>
            <a:off x="2124075" y="4292600"/>
            <a:ext cx="6911975" cy="1752600"/>
          </a:xfrm>
          <a:ln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/>
          <a:lstStyle/>
          <a:p>
            <a:pPr eaLnBrk="1" hangingPunct="1">
              <a:buSzPct val="75000"/>
            </a:pPr>
            <a:r>
              <a:rPr lang="en-US" altLang="zh-CN" dirty="0">
                <a:latin typeface="+mn-lt"/>
                <a:ea typeface="+mn-ea"/>
                <a:cs typeface="+mn-cs"/>
              </a:rPr>
              <a:t>— Fundamentals of Electric Circuit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buSzPct val="75000"/>
            </a:pPr>
            <a:r>
              <a:rPr lang="en-US" altLang="zh-CN" dirty="0">
                <a:latin typeface="+mn-lt"/>
                <a:ea typeface="+mn-ea"/>
                <a:cs typeface="+mn-cs"/>
              </a:rPr>
              <a:t>     </a:t>
            </a:r>
            <a:r>
              <a:rPr lang="zh-CN" altLang="en-US" dirty="0">
                <a:latin typeface="+mn-lt"/>
                <a:ea typeface="+mn-ea"/>
                <a:cs typeface="+mn-cs"/>
              </a:rPr>
              <a:t>　　　　　　　</a:t>
            </a:r>
            <a:r>
              <a:rPr lang="zh-CN" altLang="en-US" sz="5400" b="1" dirty="0">
                <a:latin typeface="+mn-lt"/>
                <a:ea typeface="华文新魏" panose="02010800040101010101" pitchFamily="2" charset="-122"/>
                <a:cs typeface="+mn-cs"/>
              </a:rPr>
              <a:t>电路基础</a:t>
            </a:r>
            <a:endParaRPr lang="zh-CN" altLang="en-US" sz="5400" b="1" dirty="0">
              <a:latin typeface="+mn-lt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6628" name="灯片编号占位符 1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323850" y="549275"/>
            <a:ext cx="8229600" cy="865188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sz="4800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1.1 </a:t>
            </a:r>
            <a:r>
              <a:rPr lang="zh-CN" altLang="en-US" sz="4800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介绍</a:t>
            </a:r>
            <a:endParaRPr lang="en-US" altLang="zh-CN" sz="4800" b="1" dirty="0">
              <a:solidFill>
                <a:srgbClr val="0000FF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484313"/>
            <a:ext cx="8496300" cy="1766888"/>
          </a:xfrm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电路中的每个组成部分称为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元件。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电路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是由电气元件相互连接而成的整体。</a:t>
            </a:r>
            <a:endParaRPr kumimoji="0" lang="en-US" altLang="zh-CN" sz="32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27652" name="Group 1017"/>
          <p:cNvGrpSpPr>
            <a:grpSpLocks noChangeAspect="1"/>
          </p:cNvGrpSpPr>
          <p:nvPr/>
        </p:nvGrpSpPr>
        <p:grpSpPr>
          <a:xfrm>
            <a:off x="684213" y="3635375"/>
            <a:ext cx="3455987" cy="2300288"/>
            <a:chOff x="794" y="654"/>
            <a:chExt cx="4154" cy="3043"/>
          </a:xfrm>
        </p:grpSpPr>
        <p:sp>
          <p:nvSpPr>
            <p:cNvPr id="27656" name="Freeform 1018"/>
            <p:cNvSpPr>
              <a:spLocks noChangeAspect="1"/>
            </p:cNvSpPr>
            <p:nvPr/>
          </p:nvSpPr>
          <p:spPr>
            <a:xfrm>
              <a:off x="1744" y="1645"/>
              <a:ext cx="1514" cy="2052"/>
            </a:xfrm>
            <a:custGeom>
              <a:avLst/>
              <a:gdLst>
                <a:gd name="txL" fmla="*/ 0 w 1514"/>
                <a:gd name="txT" fmla="*/ 0 h 2052"/>
                <a:gd name="txR" fmla="*/ 1514 w 1514"/>
                <a:gd name="txB" fmla="*/ 2052 h 2052"/>
              </a:gdLst>
              <a:ahLst/>
              <a:cxnLst>
                <a:cxn ang="0">
                  <a:pos x="0" y="436"/>
                </a:cxn>
                <a:cxn ang="0">
                  <a:pos x="1514" y="0"/>
                </a:cxn>
                <a:cxn ang="0">
                  <a:pos x="1514" y="1504"/>
                </a:cxn>
                <a:cxn ang="0">
                  <a:pos x="0" y="2052"/>
                </a:cxn>
                <a:cxn ang="0">
                  <a:pos x="0" y="436"/>
                </a:cxn>
                <a:cxn ang="0">
                  <a:pos x="0" y="436"/>
                </a:cxn>
              </a:cxnLst>
              <a:rect l="txL" t="txT" r="txR" b="txB"/>
              <a:pathLst>
                <a:path w="1514" h="2052">
                  <a:moveTo>
                    <a:pt x="0" y="436"/>
                  </a:moveTo>
                  <a:lnTo>
                    <a:pt x="1514" y="0"/>
                  </a:lnTo>
                  <a:lnTo>
                    <a:pt x="1514" y="1504"/>
                  </a:lnTo>
                  <a:lnTo>
                    <a:pt x="0" y="2052"/>
                  </a:lnTo>
                  <a:lnTo>
                    <a:pt x="0" y="436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7" name="Freeform 1019"/>
            <p:cNvSpPr>
              <a:spLocks noChangeAspect="1"/>
            </p:cNvSpPr>
            <p:nvPr/>
          </p:nvSpPr>
          <p:spPr>
            <a:xfrm>
              <a:off x="794" y="1666"/>
              <a:ext cx="950" cy="2031"/>
            </a:xfrm>
            <a:custGeom>
              <a:avLst/>
              <a:gdLst>
                <a:gd name="txL" fmla="*/ 0 w 950"/>
                <a:gd name="txT" fmla="*/ 0 h 2031"/>
                <a:gd name="txR" fmla="*/ 950 w 950"/>
                <a:gd name="txB" fmla="*/ 2031 h 2031"/>
              </a:gdLst>
              <a:ahLst/>
              <a:cxnLst>
                <a:cxn ang="0">
                  <a:pos x="0" y="0"/>
                </a:cxn>
                <a:cxn ang="0">
                  <a:pos x="0" y="1476"/>
                </a:cxn>
                <a:cxn ang="0">
                  <a:pos x="950" y="2031"/>
                </a:cxn>
                <a:cxn ang="0">
                  <a:pos x="950" y="41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50" h="2031">
                  <a:moveTo>
                    <a:pt x="0" y="0"/>
                  </a:moveTo>
                  <a:lnTo>
                    <a:pt x="0" y="1476"/>
                  </a:lnTo>
                  <a:lnTo>
                    <a:pt x="950" y="2031"/>
                  </a:lnTo>
                  <a:lnTo>
                    <a:pt x="950" y="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8" name="Freeform 1020"/>
            <p:cNvSpPr>
              <a:spLocks noChangeAspect="1"/>
            </p:cNvSpPr>
            <p:nvPr/>
          </p:nvSpPr>
          <p:spPr>
            <a:xfrm>
              <a:off x="794" y="1666"/>
              <a:ext cx="1" cy="1476"/>
            </a:xfrm>
            <a:custGeom>
              <a:avLst/>
              <a:gdLst>
                <a:gd name="txL" fmla="*/ 0 w 1"/>
                <a:gd name="txT" fmla="*/ 0 h 1476"/>
                <a:gd name="txR" fmla="*/ 1 w 1"/>
                <a:gd name="txB" fmla="*/ 1476 h 1476"/>
              </a:gdLst>
              <a:ahLst/>
              <a:cxnLst>
                <a:cxn ang="0">
                  <a:pos x="0" y="0"/>
                </a:cxn>
                <a:cxn ang="0">
                  <a:pos x="0" y="1476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476">
                  <a:moveTo>
                    <a:pt x="0" y="0"/>
                  </a:moveTo>
                  <a:lnTo>
                    <a:pt x="0" y="1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9" name="Freeform 1021"/>
            <p:cNvSpPr>
              <a:spLocks noChangeAspect="1" noEditPoints="1"/>
            </p:cNvSpPr>
            <p:nvPr/>
          </p:nvSpPr>
          <p:spPr>
            <a:xfrm>
              <a:off x="794" y="3142"/>
              <a:ext cx="950" cy="555"/>
            </a:xfrm>
            <a:custGeom>
              <a:avLst/>
              <a:gdLst>
                <a:gd name="txL" fmla="*/ 0 w 950"/>
                <a:gd name="txT" fmla="*/ 0 h 555"/>
                <a:gd name="txR" fmla="*/ 950 w 950"/>
                <a:gd name="txB" fmla="*/ 555 h 555"/>
              </a:gdLst>
              <a:ahLst/>
              <a:cxnLst>
                <a:cxn ang="0">
                  <a:pos x="0" y="0"/>
                </a:cxn>
                <a:cxn ang="0">
                  <a:pos x="950" y="55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50" h="555">
                  <a:moveTo>
                    <a:pt x="0" y="0"/>
                  </a:moveTo>
                  <a:lnTo>
                    <a:pt x="950" y="55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0" name="Freeform 1022"/>
            <p:cNvSpPr>
              <a:spLocks noChangeAspect="1" noEditPoints="1"/>
            </p:cNvSpPr>
            <p:nvPr/>
          </p:nvSpPr>
          <p:spPr>
            <a:xfrm>
              <a:off x="1744" y="2081"/>
              <a:ext cx="1" cy="1616"/>
            </a:xfrm>
            <a:custGeom>
              <a:avLst/>
              <a:gdLst>
                <a:gd name="txL" fmla="*/ 0 w 1"/>
                <a:gd name="txT" fmla="*/ 0 h 1616"/>
                <a:gd name="txR" fmla="*/ 1 w 1"/>
                <a:gd name="txB" fmla="*/ 1616 h 1616"/>
              </a:gdLst>
              <a:ahLst/>
              <a:cxnLst>
                <a:cxn ang="0">
                  <a:pos x="0" y="1616"/>
                </a:cxn>
                <a:cxn ang="0">
                  <a:pos x="0" y="0"/>
                </a:cxn>
                <a:cxn ang="0">
                  <a:pos x="0" y="1616"/>
                </a:cxn>
                <a:cxn ang="0">
                  <a:pos x="0" y="1616"/>
                </a:cxn>
                <a:cxn ang="0">
                  <a:pos x="0" y="1616"/>
                </a:cxn>
                <a:cxn ang="0">
                  <a:pos x="0" y="1616"/>
                </a:cxn>
                <a:cxn ang="0">
                  <a:pos x="0" y="1616"/>
                </a:cxn>
              </a:cxnLst>
              <a:rect l="txL" t="txT" r="txR" b="txB"/>
              <a:pathLst>
                <a:path w="1" h="1616">
                  <a:moveTo>
                    <a:pt x="0" y="1616"/>
                  </a:moveTo>
                  <a:lnTo>
                    <a:pt x="0" y="0"/>
                  </a:lnTo>
                  <a:lnTo>
                    <a:pt x="0" y="1616"/>
                  </a:lnTo>
                  <a:close/>
                  <a:moveTo>
                    <a:pt x="0" y="1616"/>
                  </a:moveTo>
                  <a:lnTo>
                    <a:pt x="0" y="161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1" name="Freeform 1023"/>
            <p:cNvSpPr>
              <a:spLocks noChangeAspect="1" noEditPoints="1"/>
            </p:cNvSpPr>
            <p:nvPr/>
          </p:nvSpPr>
          <p:spPr>
            <a:xfrm>
              <a:off x="794" y="1666"/>
              <a:ext cx="950" cy="415"/>
            </a:xfrm>
            <a:custGeom>
              <a:avLst/>
              <a:gdLst>
                <a:gd name="txL" fmla="*/ 0 w 950"/>
                <a:gd name="txT" fmla="*/ 0 h 415"/>
                <a:gd name="txR" fmla="*/ 950 w 950"/>
                <a:gd name="txB" fmla="*/ 415 h 415"/>
              </a:gdLst>
              <a:ahLst/>
              <a:cxnLst>
                <a:cxn ang="0">
                  <a:pos x="950" y="415"/>
                </a:cxn>
                <a:cxn ang="0">
                  <a:pos x="0" y="0"/>
                </a:cxn>
                <a:cxn ang="0">
                  <a:pos x="950" y="415"/>
                </a:cxn>
                <a:cxn ang="0">
                  <a:pos x="950" y="415"/>
                </a:cxn>
                <a:cxn ang="0">
                  <a:pos x="950" y="415"/>
                </a:cxn>
                <a:cxn ang="0">
                  <a:pos x="950" y="415"/>
                </a:cxn>
                <a:cxn ang="0">
                  <a:pos x="950" y="415"/>
                </a:cxn>
              </a:cxnLst>
              <a:rect l="txL" t="txT" r="txR" b="txB"/>
              <a:pathLst>
                <a:path w="950" h="415">
                  <a:moveTo>
                    <a:pt x="950" y="415"/>
                  </a:moveTo>
                  <a:lnTo>
                    <a:pt x="0" y="0"/>
                  </a:lnTo>
                  <a:lnTo>
                    <a:pt x="950" y="415"/>
                  </a:lnTo>
                  <a:close/>
                  <a:moveTo>
                    <a:pt x="950" y="415"/>
                  </a:moveTo>
                  <a:lnTo>
                    <a:pt x="950" y="41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2" name="Freeform 1024"/>
            <p:cNvSpPr>
              <a:spLocks noChangeAspect="1"/>
            </p:cNvSpPr>
            <p:nvPr/>
          </p:nvSpPr>
          <p:spPr>
            <a:xfrm>
              <a:off x="794" y="1666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3" name="Freeform 1025"/>
            <p:cNvSpPr>
              <a:spLocks noChangeAspect="1"/>
            </p:cNvSpPr>
            <p:nvPr/>
          </p:nvSpPr>
          <p:spPr>
            <a:xfrm>
              <a:off x="794" y="1209"/>
              <a:ext cx="1500" cy="457"/>
            </a:xfrm>
            <a:custGeom>
              <a:avLst/>
              <a:gdLst>
                <a:gd name="txL" fmla="*/ 0 w 1500"/>
                <a:gd name="txT" fmla="*/ 0 h 457"/>
                <a:gd name="txR" fmla="*/ 1500 w 1500"/>
                <a:gd name="txB" fmla="*/ 457 h 457"/>
              </a:gdLst>
              <a:ahLst/>
              <a:cxnLst>
                <a:cxn ang="0">
                  <a:pos x="0" y="457"/>
                </a:cxn>
                <a:cxn ang="0">
                  <a:pos x="1500" y="0"/>
                </a:cxn>
                <a:cxn ang="0">
                  <a:pos x="0" y="457"/>
                </a:cxn>
                <a:cxn ang="0">
                  <a:pos x="0" y="457"/>
                </a:cxn>
              </a:cxnLst>
              <a:rect l="txL" t="txT" r="txR" b="txB"/>
              <a:pathLst>
                <a:path w="1500" h="457">
                  <a:moveTo>
                    <a:pt x="0" y="457"/>
                  </a:moveTo>
                  <a:lnTo>
                    <a:pt x="1500" y="0"/>
                  </a:lnTo>
                  <a:lnTo>
                    <a:pt x="0" y="4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Freeform 1026"/>
            <p:cNvSpPr>
              <a:spLocks noChangeAspect="1" noEditPoints="1"/>
            </p:cNvSpPr>
            <p:nvPr/>
          </p:nvSpPr>
          <p:spPr>
            <a:xfrm>
              <a:off x="2294" y="1209"/>
              <a:ext cx="964" cy="436"/>
            </a:xfrm>
            <a:custGeom>
              <a:avLst/>
              <a:gdLst>
                <a:gd name="txL" fmla="*/ 0 w 964"/>
                <a:gd name="txT" fmla="*/ 0 h 436"/>
                <a:gd name="txR" fmla="*/ 964 w 964"/>
                <a:gd name="txB" fmla="*/ 436 h 436"/>
              </a:gdLst>
              <a:ahLst/>
              <a:cxnLst>
                <a:cxn ang="0">
                  <a:pos x="0" y="0"/>
                </a:cxn>
                <a:cxn ang="0">
                  <a:pos x="964" y="43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64" h="436">
                  <a:moveTo>
                    <a:pt x="0" y="0"/>
                  </a:moveTo>
                  <a:lnTo>
                    <a:pt x="964" y="436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Freeform 1027"/>
            <p:cNvSpPr>
              <a:spLocks noChangeAspect="1" noEditPoints="1"/>
            </p:cNvSpPr>
            <p:nvPr/>
          </p:nvSpPr>
          <p:spPr>
            <a:xfrm>
              <a:off x="3258" y="1645"/>
              <a:ext cx="1" cy="1504"/>
            </a:xfrm>
            <a:custGeom>
              <a:avLst/>
              <a:gdLst>
                <a:gd name="txL" fmla="*/ 0 w 1"/>
                <a:gd name="txT" fmla="*/ 0 h 1504"/>
                <a:gd name="txR" fmla="*/ 1 w 1"/>
                <a:gd name="txB" fmla="*/ 1504 h 1504"/>
              </a:gdLst>
              <a:ahLst/>
              <a:cxnLst>
                <a:cxn ang="0">
                  <a:pos x="0" y="0"/>
                </a:cxn>
                <a:cxn ang="0">
                  <a:pos x="0" y="150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504">
                  <a:moveTo>
                    <a:pt x="0" y="0"/>
                  </a:moveTo>
                  <a:lnTo>
                    <a:pt x="0" y="150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Freeform 1028"/>
            <p:cNvSpPr>
              <a:spLocks noChangeAspect="1" noEditPoints="1"/>
            </p:cNvSpPr>
            <p:nvPr/>
          </p:nvSpPr>
          <p:spPr>
            <a:xfrm>
              <a:off x="1744" y="3149"/>
              <a:ext cx="1514" cy="548"/>
            </a:xfrm>
            <a:custGeom>
              <a:avLst/>
              <a:gdLst>
                <a:gd name="txL" fmla="*/ 0 w 1514"/>
                <a:gd name="txT" fmla="*/ 0 h 548"/>
                <a:gd name="txR" fmla="*/ 1514 w 1514"/>
                <a:gd name="txB" fmla="*/ 548 h 548"/>
              </a:gdLst>
              <a:ahLst/>
              <a:cxnLst>
                <a:cxn ang="0">
                  <a:pos x="1514" y="0"/>
                </a:cxn>
                <a:cxn ang="0">
                  <a:pos x="0" y="548"/>
                </a:cxn>
                <a:cxn ang="0">
                  <a:pos x="1514" y="0"/>
                </a:cxn>
                <a:cxn ang="0">
                  <a:pos x="1514" y="0"/>
                </a:cxn>
                <a:cxn ang="0">
                  <a:pos x="1514" y="0"/>
                </a:cxn>
                <a:cxn ang="0">
                  <a:pos x="1514" y="0"/>
                </a:cxn>
                <a:cxn ang="0">
                  <a:pos x="1514" y="0"/>
                </a:cxn>
              </a:cxnLst>
              <a:rect l="txL" t="txT" r="txR" b="txB"/>
              <a:pathLst>
                <a:path w="1514" h="548">
                  <a:moveTo>
                    <a:pt x="1514" y="0"/>
                  </a:moveTo>
                  <a:lnTo>
                    <a:pt x="0" y="548"/>
                  </a:lnTo>
                  <a:lnTo>
                    <a:pt x="1514" y="0"/>
                  </a:lnTo>
                  <a:close/>
                  <a:moveTo>
                    <a:pt x="1514" y="0"/>
                  </a:moveTo>
                  <a:lnTo>
                    <a:pt x="15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7" name="Freeform 1029"/>
            <p:cNvSpPr>
              <a:spLocks noChangeAspect="1"/>
            </p:cNvSpPr>
            <p:nvPr/>
          </p:nvSpPr>
          <p:spPr>
            <a:xfrm>
              <a:off x="1744" y="1645"/>
              <a:ext cx="1514" cy="436"/>
            </a:xfrm>
            <a:custGeom>
              <a:avLst/>
              <a:gdLst>
                <a:gd name="txL" fmla="*/ 0 w 1514"/>
                <a:gd name="txT" fmla="*/ 0 h 436"/>
                <a:gd name="txR" fmla="*/ 1514 w 1514"/>
                <a:gd name="txB" fmla="*/ 436 h 436"/>
              </a:gdLst>
              <a:ahLst/>
              <a:cxnLst>
                <a:cxn ang="0">
                  <a:pos x="1514" y="0"/>
                </a:cxn>
                <a:cxn ang="0">
                  <a:pos x="0" y="436"/>
                </a:cxn>
                <a:cxn ang="0">
                  <a:pos x="1514" y="0"/>
                </a:cxn>
                <a:cxn ang="0">
                  <a:pos x="1514" y="0"/>
                </a:cxn>
              </a:cxnLst>
              <a:rect l="txL" t="txT" r="txR" b="txB"/>
              <a:pathLst>
                <a:path w="1514" h="436">
                  <a:moveTo>
                    <a:pt x="1514" y="0"/>
                  </a:moveTo>
                  <a:lnTo>
                    <a:pt x="0" y="436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8" name="Freeform 1030"/>
            <p:cNvSpPr>
              <a:spLocks noChangeAspect="1"/>
            </p:cNvSpPr>
            <p:nvPr/>
          </p:nvSpPr>
          <p:spPr>
            <a:xfrm>
              <a:off x="949" y="1680"/>
              <a:ext cx="795" cy="345"/>
            </a:xfrm>
            <a:custGeom>
              <a:avLst/>
              <a:gdLst>
                <a:gd name="txL" fmla="*/ 0 w 795"/>
                <a:gd name="txT" fmla="*/ 0 h 345"/>
                <a:gd name="txR" fmla="*/ 795 w 795"/>
                <a:gd name="txB" fmla="*/ 345 h 345"/>
              </a:gdLst>
              <a:ahLst/>
              <a:cxnLst>
                <a:cxn ang="0">
                  <a:pos x="0" y="0"/>
                </a:cxn>
                <a:cxn ang="0">
                  <a:pos x="795" y="345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95" h="345">
                  <a:moveTo>
                    <a:pt x="0" y="0"/>
                  </a:moveTo>
                  <a:lnTo>
                    <a:pt x="795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9" name="Freeform 1031"/>
            <p:cNvSpPr>
              <a:spLocks noChangeAspect="1" noEditPoints="1"/>
            </p:cNvSpPr>
            <p:nvPr/>
          </p:nvSpPr>
          <p:spPr>
            <a:xfrm>
              <a:off x="1744" y="1631"/>
              <a:ext cx="1366" cy="394"/>
            </a:xfrm>
            <a:custGeom>
              <a:avLst/>
              <a:gdLst>
                <a:gd name="txL" fmla="*/ 0 w 1366"/>
                <a:gd name="txT" fmla="*/ 0 h 394"/>
                <a:gd name="txR" fmla="*/ 1366 w 1366"/>
                <a:gd name="txB" fmla="*/ 394 h 394"/>
              </a:gdLst>
              <a:ahLst/>
              <a:cxnLst>
                <a:cxn ang="0">
                  <a:pos x="0" y="394"/>
                </a:cxn>
                <a:cxn ang="0">
                  <a:pos x="1366" y="0"/>
                </a:cxn>
                <a:cxn ang="0">
                  <a:pos x="0" y="394"/>
                </a:cxn>
                <a:cxn ang="0">
                  <a:pos x="0" y="394"/>
                </a:cxn>
                <a:cxn ang="0">
                  <a:pos x="0" y="394"/>
                </a:cxn>
                <a:cxn ang="0">
                  <a:pos x="0" y="394"/>
                </a:cxn>
                <a:cxn ang="0">
                  <a:pos x="0" y="394"/>
                </a:cxn>
              </a:cxnLst>
              <a:rect l="txL" t="txT" r="txR" b="txB"/>
              <a:pathLst>
                <a:path w="1366" h="394">
                  <a:moveTo>
                    <a:pt x="0" y="394"/>
                  </a:moveTo>
                  <a:lnTo>
                    <a:pt x="1366" y="0"/>
                  </a:lnTo>
                  <a:lnTo>
                    <a:pt x="0" y="394"/>
                  </a:lnTo>
                  <a:close/>
                  <a:moveTo>
                    <a:pt x="0" y="394"/>
                  </a:moveTo>
                  <a:lnTo>
                    <a:pt x="0" y="39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Freeform 1032"/>
            <p:cNvSpPr>
              <a:spLocks noChangeAspect="1" noEditPoints="1"/>
            </p:cNvSpPr>
            <p:nvPr/>
          </p:nvSpPr>
          <p:spPr>
            <a:xfrm>
              <a:off x="2308" y="1280"/>
              <a:ext cx="802" cy="351"/>
            </a:xfrm>
            <a:custGeom>
              <a:avLst/>
              <a:gdLst>
                <a:gd name="txL" fmla="*/ 0 w 802"/>
                <a:gd name="txT" fmla="*/ 0 h 351"/>
                <a:gd name="txR" fmla="*/ 802 w 802"/>
                <a:gd name="txB" fmla="*/ 351 h 351"/>
              </a:gdLst>
              <a:ahLst/>
              <a:cxnLst>
                <a:cxn ang="0">
                  <a:pos x="802" y="351"/>
                </a:cxn>
                <a:cxn ang="0">
                  <a:pos x="0" y="0"/>
                </a:cxn>
                <a:cxn ang="0">
                  <a:pos x="802" y="351"/>
                </a:cxn>
                <a:cxn ang="0">
                  <a:pos x="802" y="351"/>
                </a:cxn>
                <a:cxn ang="0">
                  <a:pos x="802" y="351"/>
                </a:cxn>
                <a:cxn ang="0">
                  <a:pos x="802" y="351"/>
                </a:cxn>
                <a:cxn ang="0">
                  <a:pos x="802" y="351"/>
                </a:cxn>
              </a:cxnLst>
              <a:rect l="txL" t="txT" r="txR" b="txB"/>
              <a:pathLst>
                <a:path w="802" h="351">
                  <a:moveTo>
                    <a:pt x="802" y="351"/>
                  </a:moveTo>
                  <a:lnTo>
                    <a:pt x="0" y="0"/>
                  </a:lnTo>
                  <a:lnTo>
                    <a:pt x="802" y="351"/>
                  </a:lnTo>
                  <a:close/>
                  <a:moveTo>
                    <a:pt x="802" y="351"/>
                  </a:moveTo>
                  <a:lnTo>
                    <a:pt x="802" y="35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Freeform 1033"/>
            <p:cNvSpPr>
              <a:spLocks noChangeAspect="1" noEditPoints="1"/>
            </p:cNvSpPr>
            <p:nvPr/>
          </p:nvSpPr>
          <p:spPr>
            <a:xfrm>
              <a:off x="949" y="1280"/>
              <a:ext cx="1359" cy="400"/>
            </a:xfrm>
            <a:custGeom>
              <a:avLst/>
              <a:gdLst>
                <a:gd name="txL" fmla="*/ 0 w 1359"/>
                <a:gd name="txT" fmla="*/ 0 h 400"/>
                <a:gd name="txR" fmla="*/ 1359 w 1359"/>
                <a:gd name="txB" fmla="*/ 400 h 400"/>
              </a:gdLst>
              <a:ahLst/>
              <a:cxnLst>
                <a:cxn ang="0">
                  <a:pos x="1359" y="0"/>
                </a:cxn>
                <a:cxn ang="0">
                  <a:pos x="0" y="400"/>
                </a:cxn>
                <a:cxn ang="0">
                  <a:pos x="1359" y="0"/>
                </a:cxn>
                <a:cxn ang="0">
                  <a:pos x="1359" y="0"/>
                </a:cxn>
                <a:cxn ang="0">
                  <a:pos x="1359" y="0"/>
                </a:cxn>
                <a:cxn ang="0">
                  <a:pos x="1359" y="0"/>
                </a:cxn>
                <a:cxn ang="0">
                  <a:pos x="1359" y="0"/>
                </a:cxn>
              </a:cxnLst>
              <a:rect l="txL" t="txT" r="txR" b="txB"/>
              <a:pathLst>
                <a:path w="1359" h="400">
                  <a:moveTo>
                    <a:pt x="1359" y="0"/>
                  </a:moveTo>
                  <a:lnTo>
                    <a:pt x="0" y="400"/>
                  </a:lnTo>
                  <a:lnTo>
                    <a:pt x="1359" y="0"/>
                  </a:lnTo>
                  <a:close/>
                  <a:moveTo>
                    <a:pt x="1359" y="0"/>
                  </a:moveTo>
                  <a:lnTo>
                    <a:pt x="135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2" name="Freeform 1034"/>
            <p:cNvSpPr>
              <a:spLocks noChangeAspect="1"/>
            </p:cNvSpPr>
            <p:nvPr/>
          </p:nvSpPr>
          <p:spPr>
            <a:xfrm>
              <a:off x="949" y="168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Freeform 1035"/>
            <p:cNvSpPr>
              <a:spLocks noChangeAspect="1"/>
            </p:cNvSpPr>
            <p:nvPr/>
          </p:nvSpPr>
          <p:spPr>
            <a:xfrm>
              <a:off x="1245" y="1512"/>
              <a:ext cx="464" cy="154"/>
            </a:xfrm>
            <a:custGeom>
              <a:avLst/>
              <a:gdLst>
                <a:gd name="txL" fmla="*/ 0 w 464"/>
                <a:gd name="txT" fmla="*/ 0 h 154"/>
                <a:gd name="txR" fmla="*/ 464 w 464"/>
                <a:gd name="txB" fmla="*/ 154 h 154"/>
              </a:gdLst>
              <a:ahLst/>
              <a:cxnLst>
                <a:cxn ang="0">
                  <a:pos x="0" y="154"/>
                </a:cxn>
                <a:cxn ang="0">
                  <a:pos x="464" y="0"/>
                </a:cxn>
                <a:cxn ang="0">
                  <a:pos x="0" y="154"/>
                </a:cxn>
                <a:cxn ang="0">
                  <a:pos x="0" y="154"/>
                </a:cxn>
              </a:cxnLst>
              <a:rect l="txL" t="txT" r="txR" b="txB"/>
              <a:pathLst>
                <a:path w="464" h="154">
                  <a:moveTo>
                    <a:pt x="0" y="154"/>
                  </a:moveTo>
                  <a:lnTo>
                    <a:pt x="464" y="0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Freeform 1036"/>
            <p:cNvSpPr>
              <a:spLocks noChangeAspect="1" noEditPoints="1"/>
            </p:cNvSpPr>
            <p:nvPr/>
          </p:nvSpPr>
          <p:spPr>
            <a:xfrm>
              <a:off x="1709" y="1512"/>
              <a:ext cx="183" cy="84"/>
            </a:xfrm>
            <a:custGeom>
              <a:avLst/>
              <a:gdLst>
                <a:gd name="txL" fmla="*/ 0 w 183"/>
                <a:gd name="txT" fmla="*/ 0 h 84"/>
                <a:gd name="txR" fmla="*/ 183 w 183"/>
                <a:gd name="txB" fmla="*/ 84 h 84"/>
              </a:gdLst>
              <a:ahLst/>
              <a:cxnLst>
                <a:cxn ang="0">
                  <a:pos x="0" y="0"/>
                </a:cxn>
                <a:cxn ang="0">
                  <a:pos x="183" y="8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83" h="84">
                  <a:moveTo>
                    <a:pt x="0" y="0"/>
                  </a:moveTo>
                  <a:lnTo>
                    <a:pt x="183" y="8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Freeform 1037"/>
            <p:cNvSpPr>
              <a:spLocks noChangeAspect="1" noEditPoints="1"/>
            </p:cNvSpPr>
            <p:nvPr/>
          </p:nvSpPr>
          <p:spPr>
            <a:xfrm>
              <a:off x="1414" y="1596"/>
              <a:ext cx="478" cy="154"/>
            </a:xfrm>
            <a:custGeom>
              <a:avLst/>
              <a:gdLst>
                <a:gd name="txL" fmla="*/ 0 w 478"/>
                <a:gd name="txT" fmla="*/ 0 h 154"/>
                <a:gd name="txR" fmla="*/ 478 w 478"/>
                <a:gd name="txB" fmla="*/ 154 h 154"/>
              </a:gdLst>
              <a:ahLst/>
              <a:cxnLst>
                <a:cxn ang="0">
                  <a:pos x="478" y="0"/>
                </a:cxn>
                <a:cxn ang="0">
                  <a:pos x="0" y="154"/>
                </a:cxn>
                <a:cxn ang="0">
                  <a:pos x="478" y="0"/>
                </a:cxn>
                <a:cxn ang="0">
                  <a:pos x="478" y="0"/>
                </a:cxn>
                <a:cxn ang="0">
                  <a:pos x="478" y="0"/>
                </a:cxn>
                <a:cxn ang="0">
                  <a:pos x="478" y="0"/>
                </a:cxn>
                <a:cxn ang="0">
                  <a:pos x="478" y="0"/>
                </a:cxn>
              </a:cxnLst>
              <a:rect l="txL" t="txT" r="txR" b="txB"/>
              <a:pathLst>
                <a:path w="478" h="154">
                  <a:moveTo>
                    <a:pt x="478" y="0"/>
                  </a:moveTo>
                  <a:lnTo>
                    <a:pt x="0" y="154"/>
                  </a:lnTo>
                  <a:lnTo>
                    <a:pt x="478" y="0"/>
                  </a:lnTo>
                  <a:close/>
                  <a:moveTo>
                    <a:pt x="478" y="0"/>
                  </a:moveTo>
                  <a:lnTo>
                    <a:pt x="47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Freeform 1038"/>
            <p:cNvSpPr>
              <a:spLocks noChangeAspect="1" noEditPoints="1"/>
            </p:cNvSpPr>
            <p:nvPr/>
          </p:nvSpPr>
          <p:spPr>
            <a:xfrm>
              <a:off x="1245" y="1666"/>
              <a:ext cx="169" cy="84"/>
            </a:xfrm>
            <a:custGeom>
              <a:avLst/>
              <a:gdLst>
                <a:gd name="txL" fmla="*/ 0 w 169"/>
                <a:gd name="txT" fmla="*/ 0 h 84"/>
                <a:gd name="txR" fmla="*/ 169 w 169"/>
                <a:gd name="txB" fmla="*/ 84 h 84"/>
              </a:gdLst>
              <a:ahLst/>
              <a:cxnLst>
                <a:cxn ang="0">
                  <a:pos x="169" y="84"/>
                </a:cxn>
                <a:cxn ang="0">
                  <a:pos x="0" y="0"/>
                </a:cxn>
                <a:cxn ang="0">
                  <a:pos x="169" y="84"/>
                </a:cxn>
                <a:cxn ang="0">
                  <a:pos x="169" y="84"/>
                </a:cxn>
                <a:cxn ang="0">
                  <a:pos x="169" y="84"/>
                </a:cxn>
                <a:cxn ang="0">
                  <a:pos x="169" y="84"/>
                </a:cxn>
                <a:cxn ang="0">
                  <a:pos x="169" y="84"/>
                </a:cxn>
              </a:cxnLst>
              <a:rect l="txL" t="txT" r="txR" b="txB"/>
              <a:pathLst>
                <a:path w="169" h="84">
                  <a:moveTo>
                    <a:pt x="169" y="84"/>
                  </a:moveTo>
                  <a:lnTo>
                    <a:pt x="0" y="0"/>
                  </a:lnTo>
                  <a:lnTo>
                    <a:pt x="169" y="84"/>
                  </a:lnTo>
                  <a:close/>
                  <a:moveTo>
                    <a:pt x="169" y="84"/>
                  </a:moveTo>
                  <a:lnTo>
                    <a:pt x="169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Freeform 1039"/>
            <p:cNvSpPr>
              <a:spLocks noChangeAspect="1"/>
            </p:cNvSpPr>
            <p:nvPr/>
          </p:nvSpPr>
          <p:spPr>
            <a:xfrm>
              <a:off x="1245" y="1666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Freeform 1040"/>
            <p:cNvSpPr>
              <a:spLocks noChangeAspect="1"/>
            </p:cNvSpPr>
            <p:nvPr/>
          </p:nvSpPr>
          <p:spPr>
            <a:xfrm>
              <a:off x="1245" y="1666"/>
              <a:ext cx="1" cy="56"/>
            </a:xfrm>
            <a:custGeom>
              <a:avLst/>
              <a:gdLst>
                <a:gd name="txL" fmla="*/ 0 w 1"/>
                <a:gd name="txT" fmla="*/ 0 h 56"/>
                <a:gd name="txR" fmla="*/ 1 w 1"/>
                <a:gd name="txB" fmla="*/ 56 h 56"/>
              </a:gdLst>
              <a:ahLst/>
              <a:cxnLst>
                <a:cxn ang="0">
                  <a:pos x="0" y="0"/>
                </a:cxn>
                <a:cxn ang="0">
                  <a:pos x="0" y="56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56">
                  <a:moveTo>
                    <a:pt x="0" y="0"/>
                  </a:moveTo>
                  <a:lnTo>
                    <a:pt x="0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Freeform 1041"/>
            <p:cNvSpPr>
              <a:spLocks noChangeAspect="1" noEditPoints="1"/>
            </p:cNvSpPr>
            <p:nvPr/>
          </p:nvSpPr>
          <p:spPr>
            <a:xfrm>
              <a:off x="1245" y="1722"/>
              <a:ext cx="169" cy="85"/>
            </a:xfrm>
            <a:custGeom>
              <a:avLst/>
              <a:gdLst>
                <a:gd name="txL" fmla="*/ 0 w 169"/>
                <a:gd name="txT" fmla="*/ 0 h 85"/>
                <a:gd name="txR" fmla="*/ 169 w 169"/>
                <a:gd name="txB" fmla="*/ 85 h 85"/>
              </a:gdLst>
              <a:ahLst/>
              <a:cxnLst>
                <a:cxn ang="0">
                  <a:pos x="0" y="0"/>
                </a:cxn>
                <a:cxn ang="0">
                  <a:pos x="169" y="8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69" h="85">
                  <a:moveTo>
                    <a:pt x="0" y="0"/>
                  </a:moveTo>
                  <a:lnTo>
                    <a:pt x="169" y="8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Freeform 1042"/>
            <p:cNvSpPr>
              <a:spLocks noChangeAspect="1"/>
            </p:cNvSpPr>
            <p:nvPr/>
          </p:nvSpPr>
          <p:spPr>
            <a:xfrm>
              <a:off x="1414" y="1652"/>
              <a:ext cx="492" cy="155"/>
            </a:xfrm>
            <a:custGeom>
              <a:avLst/>
              <a:gdLst>
                <a:gd name="txL" fmla="*/ 0 w 492"/>
                <a:gd name="txT" fmla="*/ 0 h 155"/>
                <a:gd name="txR" fmla="*/ 492 w 492"/>
                <a:gd name="txB" fmla="*/ 155 h 155"/>
              </a:gdLst>
              <a:ahLst/>
              <a:cxnLst>
                <a:cxn ang="0">
                  <a:pos x="492" y="0"/>
                </a:cxn>
                <a:cxn ang="0">
                  <a:pos x="0" y="155"/>
                </a:cxn>
                <a:cxn ang="0">
                  <a:pos x="492" y="0"/>
                </a:cxn>
                <a:cxn ang="0">
                  <a:pos x="492" y="0"/>
                </a:cxn>
              </a:cxnLst>
              <a:rect l="txL" t="txT" r="txR" b="txB"/>
              <a:pathLst>
                <a:path w="492" h="155">
                  <a:moveTo>
                    <a:pt x="492" y="0"/>
                  </a:moveTo>
                  <a:lnTo>
                    <a:pt x="0" y="155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1" name="Freeform 1043"/>
            <p:cNvSpPr>
              <a:spLocks noChangeAspect="1"/>
            </p:cNvSpPr>
            <p:nvPr/>
          </p:nvSpPr>
          <p:spPr>
            <a:xfrm>
              <a:off x="1906" y="1596"/>
              <a:ext cx="1" cy="63"/>
            </a:xfrm>
            <a:custGeom>
              <a:avLst/>
              <a:gdLst>
                <a:gd name="txL" fmla="*/ 0 w 1"/>
                <a:gd name="txT" fmla="*/ 0 h 63"/>
                <a:gd name="txR" fmla="*/ 1 w 1"/>
                <a:gd name="txB" fmla="*/ 63 h 63"/>
              </a:gdLst>
              <a:ahLst/>
              <a:cxnLst>
                <a:cxn ang="0">
                  <a:pos x="0" y="0"/>
                </a:cxn>
                <a:cxn ang="0">
                  <a:pos x="0" y="63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63">
                  <a:moveTo>
                    <a:pt x="0" y="0"/>
                  </a:moveTo>
                  <a:lnTo>
                    <a:pt x="0" y="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Freeform 1044"/>
            <p:cNvSpPr>
              <a:spLocks noChangeAspect="1"/>
            </p:cNvSpPr>
            <p:nvPr/>
          </p:nvSpPr>
          <p:spPr>
            <a:xfrm>
              <a:off x="1414" y="1750"/>
              <a:ext cx="1" cy="64"/>
            </a:xfrm>
            <a:custGeom>
              <a:avLst/>
              <a:gdLst>
                <a:gd name="txL" fmla="*/ 0 w 1"/>
                <a:gd name="txT" fmla="*/ 0 h 64"/>
                <a:gd name="txR" fmla="*/ 1 w 1"/>
                <a:gd name="txB" fmla="*/ 64 h 64"/>
              </a:gdLst>
              <a:ahLst/>
              <a:cxnLst>
                <a:cxn ang="0">
                  <a:pos x="0" y="0"/>
                </a:cxn>
                <a:cxn ang="0">
                  <a:pos x="0" y="6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64">
                  <a:moveTo>
                    <a:pt x="0" y="0"/>
                  </a:moveTo>
                  <a:lnTo>
                    <a:pt x="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Freeform 1045"/>
            <p:cNvSpPr>
              <a:spLocks noChangeAspect="1"/>
            </p:cNvSpPr>
            <p:nvPr/>
          </p:nvSpPr>
          <p:spPr>
            <a:xfrm>
              <a:off x="1864" y="1329"/>
              <a:ext cx="472" cy="154"/>
            </a:xfrm>
            <a:custGeom>
              <a:avLst/>
              <a:gdLst>
                <a:gd name="txL" fmla="*/ 0 w 472"/>
                <a:gd name="txT" fmla="*/ 0 h 154"/>
                <a:gd name="txR" fmla="*/ 472 w 472"/>
                <a:gd name="txB" fmla="*/ 154 h 154"/>
              </a:gdLst>
              <a:ahLst/>
              <a:cxnLst>
                <a:cxn ang="0">
                  <a:pos x="0" y="154"/>
                </a:cxn>
                <a:cxn ang="0">
                  <a:pos x="472" y="0"/>
                </a:cxn>
                <a:cxn ang="0">
                  <a:pos x="0" y="154"/>
                </a:cxn>
                <a:cxn ang="0">
                  <a:pos x="0" y="154"/>
                </a:cxn>
              </a:cxnLst>
              <a:rect l="txL" t="txT" r="txR" b="txB"/>
              <a:pathLst>
                <a:path w="472" h="154">
                  <a:moveTo>
                    <a:pt x="0" y="154"/>
                  </a:moveTo>
                  <a:lnTo>
                    <a:pt x="472" y="0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Freeform 1046"/>
            <p:cNvSpPr>
              <a:spLocks noChangeAspect="1" noEditPoints="1"/>
            </p:cNvSpPr>
            <p:nvPr/>
          </p:nvSpPr>
          <p:spPr>
            <a:xfrm>
              <a:off x="2336" y="1329"/>
              <a:ext cx="183" cy="77"/>
            </a:xfrm>
            <a:custGeom>
              <a:avLst/>
              <a:gdLst>
                <a:gd name="txL" fmla="*/ 0 w 183"/>
                <a:gd name="txT" fmla="*/ 0 h 77"/>
                <a:gd name="txR" fmla="*/ 183 w 183"/>
                <a:gd name="txB" fmla="*/ 77 h 77"/>
              </a:gdLst>
              <a:ahLst/>
              <a:cxnLst>
                <a:cxn ang="0">
                  <a:pos x="0" y="0"/>
                </a:cxn>
                <a:cxn ang="0">
                  <a:pos x="183" y="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83" h="77">
                  <a:moveTo>
                    <a:pt x="0" y="0"/>
                  </a:moveTo>
                  <a:lnTo>
                    <a:pt x="183" y="77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Freeform 1047"/>
            <p:cNvSpPr>
              <a:spLocks noChangeAspect="1" noEditPoints="1"/>
            </p:cNvSpPr>
            <p:nvPr/>
          </p:nvSpPr>
          <p:spPr>
            <a:xfrm>
              <a:off x="2040" y="1406"/>
              <a:ext cx="479" cy="162"/>
            </a:xfrm>
            <a:custGeom>
              <a:avLst/>
              <a:gdLst>
                <a:gd name="txL" fmla="*/ 0 w 479"/>
                <a:gd name="txT" fmla="*/ 0 h 162"/>
                <a:gd name="txR" fmla="*/ 479 w 479"/>
                <a:gd name="txB" fmla="*/ 162 h 162"/>
              </a:gdLst>
              <a:ahLst/>
              <a:cxnLst>
                <a:cxn ang="0">
                  <a:pos x="479" y="0"/>
                </a:cxn>
                <a:cxn ang="0">
                  <a:pos x="0" y="162"/>
                </a:cxn>
                <a:cxn ang="0">
                  <a:pos x="479" y="0"/>
                </a:cxn>
                <a:cxn ang="0">
                  <a:pos x="479" y="0"/>
                </a:cxn>
                <a:cxn ang="0">
                  <a:pos x="479" y="0"/>
                </a:cxn>
                <a:cxn ang="0">
                  <a:pos x="479" y="0"/>
                </a:cxn>
                <a:cxn ang="0">
                  <a:pos x="479" y="0"/>
                </a:cxn>
              </a:cxnLst>
              <a:rect l="txL" t="txT" r="txR" b="txB"/>
              <a:pathLst>
                <a:path w="479" h="162">
                  <a:moveTo>
                    <a:pt x="479" y="0"/>
                  </a:moveTo>
                  <a:lnTo>
                    <a:pt x="0" y="162"/>
                  </a:lnTo>
                  <a:lnTo>
                    <a:pt x="479" y="0"/>
                  </a:lnTo>
                  <a:close/>
                  <a:moveTo>
                    <a:pt x="479" y="0"/>
                  </a:moveTo>
                  <a:lnTo>
                    <a:pt x="47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Freeform 1048"/>
            <p:cNvSpPr>
              <a:spLocks noChangeAspect="1" noEditPoints="1"/>
            </p:cNvSpPr>
            <p:nvPr/>
          </p:nvSpPr>
          <p:spPr>
            <a:xfrm>
              <a:off x="1864" y="1483"/>
              <a:ext cx="176" cy="85"/>
            </a:xfrm>
            <a:custGeom>
              <a:avLst/>
              <a:gdLst>
                <a:gd name="txL" fmla="*/ 0 w 176"/>
                <a:gd name="txT" fmla="*/ 0 h 85"/>
                <a:gd name="txR" fmla="*/ 176 w 176"/>
                <a:gd name="txB" fmla="*/ 85 h 85"/>
              </a:gdLst>
              <a:ahLst/>
              <a:cxnLst>
                <a:cxn ang="0">
                  <a:pos x="176" y="85"/>
                </a:cxn>
                <a:cxn ang="0">
                  <a:pos x="0" y="0"/>
                </a:cxn>
                <a:cxn ang="0">
                  <a:pos x="176" y="85"/>
                </a:cxn>
                <a:cxn ang="0">
                  <a:pos x="176" y="85"/>
                </a:cxn>
                <a:cxn ang="0">
                  <a:pos x="176" y="85"/>
                </a:cxn>
                <a:cxn ang="0">
                  <a:pos x="176" y="85"/>
                </a:cxn>
                <a:cxn ang="0">
                  <a:pos x="176" y="85"/>
                </a:cxn>
              </a:cxnLst>
              <a:rect l="txL" t="txT" r="txR" b="txB"/>
              <a:pathLst>
                <a:path w="176" h="85">
                  <a:moveTo>
                    <a:pt x="176" y="85"/>
                  </a:moveTo>
                  <a:lnTo>
                    <a:pt x="0" y="0"/>
                  </a:lnTo>
                  <a:lnTo>
                    <a:pt x="176" y="85"/>
                  </a:lnTo>
                  <a:close/>
                  <a:moveTo>
                    <a:pt x="176" y="85"/>
                  </a:moveTo>
                  <a:lnTo>
                    <a:pt x="176" y="8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Freeform 1049"/>
            <p:cNvSpPr>
              <a:spLocks noChangeAspect="1"/>
            </p:cNvSpPr>
            <p:nvPr/>
          </p:nvSpPr>
          <p:spPr>
            <a:xfrm>
              <a:off x="1864" y="14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Freeform 1050"/>
            <p:cNvSpPr>
              <a:spLocks noChangeAspect="1"/>
            </p:cNvSpPr>
            <p:nvPr/>
          </p:nvSpPr>
          <p:spPr>
            <a:xfrm>
              <a:off x="1871" y="1483"/>
              <a:ext cx="1" cy="57"/>
            </a:xfrm>
            <a:custGeom>
              <a:avLst/>
              <a:gdLst>
                <a:gd name="txL" fmla="*/ 0 w 1"/>
                <a:gd name="txT" fmla="*/ 0 h 57"/>
                <a:gd name="txR" fmla="*/ 1 w 1"/>
                <a:gd name="txB" fmla="*/ 57 h 57"/>
              </a:gdLst>
              <a:ahLst/>
              <a:cxnLst>
                <a:cxn ang="0">
                  <a:pos x="0" y="0"/>
                </a:cxn>
                <a:cxn ang="0">
                  <a:pos x="0" y="5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57">
                  <a:moveTo>
                    <a:pt x="0" y="0"/>
                  </a:moveTo>
                  <a:lnTo>
                    <a:pt x="0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Freeform 1051"/>
            <p:cNvSpPr>
              <a:spLocks noChangeAspect="1" noEditPoints="1"/>
            </p:cNvSpPr>
            <p:nvPr/>
          </p:nvSpPr>
          <p:spPr>
            <a:xfrm>
              <a:off x="1871" y="1540"/>
              <a:ext cx="169" cy="84"/>
            </a:xfrm>
            <a:custGeom>
              <a:avLst/>
              <a:gdLst>
                <a:gd name="txL" fmla="*/ 0 w 169"/>
                <a:gd name="txT" fmla="*/ 0 h 84"/>
                <a:gd name="txR" fmla="*/ 169 w 169"/>
                <a:gd name="txB" fmla="*/ 84 h 84"/>
              </a:gdLst>
              <a:ahLst/>
              <a:cxnLst>
                <a:cxn ang="0">
                  <a:pos x="0" y="0"/>
                </a:cxn>
                <a:cxn ang="0">
                  <a:pos x="169" y="8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69" h="84">
                  <a:moveTo>
                    <a:pt x="0" y="0"/>
                  </a:moveTo>
                  <a:lnTo>
                    <a:pt x="169" y="8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0" name="Freeform 1052"/>
            <p:cNvSpPr>
              <a:spLocks noChangeAspect="1"/>
            </p:cNvSpPr>
            <p:nvPr/>
          </p:nvSpPr>
          <p:spPr>
            <a:xfrm>
              <a:off x="2040" y="1462"/>
              <a:ext cx="493" cy="162"/>
            </a:xfrm>
            <a:custGeom>
              <a:avLst/>
              <a:gdLst>
                <a:gd name="txL" fmla="*/ 0 w 493"/>
                <a:gd name="txT" fmla="*/ 0 h 162"/>
                <a:gd name="txR" fmla="*/ 493 w 493"/>
                <a:gd name="txB" fmla="*/ 162 h 162"/>
              </a:gdLst>
              <a:ahLst/>
              <a:cxnLst>
                <a:cxn ang="0">
                  <a:pos x="493" y="0"/>
                </a:cxn>
                <a:cxn ang="0">
                  <a:pos x="0" y="162"/>
                </a:cxn>
                <a:cxn ang="0">
                  <a:pos x="493" y="0"/>
                </a:cxn>
                <a:cxn ang="0">
                  <a:pos x="493" y="0"/>
                </a:cxn>
              </a:cxnLst>
              <a:rect l="txL" t="txT" r="txR" b="txB"/>
              <a:pathLst>
                <a:path w="493" h="162">
                  <a:moveTo>
                    <a:pt x="493" y="0"/>
                  </a:moveTo>
                  <a:lnTo>
                    <a:pt x="0" y="162"/>
                  </a:lnTo>
                  <a:lnTo>
                    <a:pt x="49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1" name="Freeform 1053"/>
            <p:cNvSpPr>
              <a:spLocks noChangeAspect="1"/>
            </p:cNvSpPr>
            <p:nvPr/>
          </p:nvSpPr>
          <p:spPr>
            <a:xfrm>
              <a:off x="2526" y="1406"/>
              <a:ext cx="1" cy="63"/>
            </a:xfrm>
            <a:custGeom>
              <a:avLst/>
              <a:gdLst>
                <a:gd name="txL" fmla="*/ 0 w 1"/>
                <a:gd name="txT" fmla="*/ 0 h 63"/>
                <a:gd name="txR" fmla="*/ 1 w 1"/>
                <a:gd name="txB" fmla="*/ 63 h 63"/>
              </a:gdLst>
              <a:ahLst/>
              <a:cxnLst>
                <a:cxn ang="0">
                  <a:pos x="0" y="0"/>
                </a:cxn>
                <a:cxn ang="0">
                  <a:pos x="0" y="63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63">
                  <a:moveTo>
                    <a:pt x="0" y="0"/>
                  </a:moveTo>
                  <a:lnTo>
                    <a:pt x="0" y="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2" name="Freeform 1054"/>
            <p:cNvSpPr>
              <a:spLocks noChangeAspect="1"/>
            </p:cNvSpPr>
            <p:nvPr/>
          </p:nvSpPr>
          <p:spPr>
            <a:xfrm>
              <a:off x="2040" y="1561"/>
              <a:ext cx="1" cy="63"/>
            </a:xfrm>
            <a:custGeom>
              <a:avLst/>
              <a:gdLst>
                <a:gd name="txL" fmla="*/ 0 w 1"/>
                <a:gd name="txT" fmla="*/ 0 h 63"/>
                <a:gd name="txR" fmla="*/ 1 w 1"/>
                <a:gd name="txB" fmla="*/ 63 h 63"/>
              </a:gdLst>
              <a:ahLst/>
              <a:cxnLst>
                <a:cxn ang="0">
                  <a:pos x="0" y="0"/>
                </a:cxn>
                <a:cxn ang="0">
                  <a:pos x="0" y="63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63">
                  <a:moveTo>
                    <a:pt x="0" y="0"/>
                  </a:moveTo>
                  <a:lnTo>
                    <a:pt x="0" y="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3" name="Freeform 1055"/>
            <p:cNvSpPr>
              <a:spLocks noChangeAspect="1"/>
            </p:cNvSpPr>
            <p:nvPr/>
          </p:nvSpPr>
          <p:spPr>
            <a:xfrm>
              <a:off x="3913" y="1069"/>
              <a:ext cx="803" cy="1335"/>
            </a:xfrm>
            <a:custGeom>
              <a:avLst/>
              <a:gdLst>
                <a:gd name="txL" fmla="*/ 0 w 803"/>
                <a:gd name="txT" fmla="*/ 0 h 1335"/>
                <a:gd name="txR" fmla="*/ 803 w 803"/>
                <a:gd name="txB" fmla="*/ 1335 h 1335"/>
              </a:gdLst>
              <a:ahLst/>
              <a:cxnLst>
                <a:cxn ang="0">
                  <a:pos x="803" y="0"/>
                </a:cxn>
                <a:cxn ang="0">
                  <a:pos x="612" y="56"/>
                </a:cxn>
                <a:cxn ang="0">
                  <a:pos x="444" y="119"/>
                </a:cxn>
                <a:cxn ang="0">
                  <a:pos x="310" y="190"/>
                </a:cxn>
                <a:cxn ang="0">
                  <a:pos x="197" y="267"/>
                </a:cxn>
                <a:cxn ang="0">
                  <a:pos x="113" y="358"/>
                </a:cxn>
                <a:cxn ang="0">
                  <a:pos x="49" y="450"/>
                </a:cxn>
                <a:cxn ang="0">
                  <a:pos x="14" y="548"/>
                </a:cxn>
                <a:cxn ang="0">
                  <a:pos x="0" y="646"/>
                </a:cxn>
                <a:cxn ang="0">
                  <a:pos x="7" y="752"/>
                </a:cxn>
                <a:cxn ang="0">
                  <a:pos x="35" y="850"/>
                </a:cxn>
                <a:cxn ang="0">
                  <a:pos x="84" y="948"/>
                </a:cxn>
                <a:cxn ang="0">
                  <a:pos x="120" y="998"/>
                </a:cxn>
                <a:cxn ang="0">
                  <a:pos x="162" y="1040"/>
                </a:cxn>
                <a:cxn ang="0">
                  <a:pos x="211" y="1082"/>
                </a:cxn>
                <a:cxn ang="0">
                  <a:pos x="260" y="1131"/>
                </a:cxn>
                <a:cxn ang="0">
                  <a:pos x="324" y="1166"/>
                </a:cxn>
                <a:cxn ang="0">
                  <a:pos x="401" y="1208"/>
                </a:cxn>
                <a:cxn ang="0">
                  <a:pos x="479" y="1244"/>
                </a:cxn>
                <a:cxn ang="0">
                  <a:pos x="570" y="1279"/>
                </a:cxn>
                <a:cxn ang="0">
                  <a:pos x="669" y="1307"/>
                </a:cxn>
                <a:cxn ang="0">
                  <a:pos x="774" y="1335"/>
                </a:cxn>
                <a:cxn ang="0">
                  <a:pos x="803" y="0"/>
                </a:cxn>
                <a:cxn ang="0">
                  <a:pos x="803" y="0"/>
                </a:cxn>
              </a:cxnLst>
              <a:rect l="txL" t="txT" r="txR" b="txB"/>
              <a:pathLst>
                <a:path w="803" h="1335">
                  <a:moveTo>
                    <a:pt x="803" y="0"/>
                  </a:moveTo>
                  <a:lnTo>
                    <a:pt x="612" y="56"/>
                  </a:lnTo>
                  <a:lnTo>
                    <a:pt x="444" y="119"/>
                  </a:lnTo>
                  <a:lnTo>
                    <a:pt x="310" y="190"/>
                  </a:lnTo>
                  <a:lnTo>
                    <a:pt x="197" y="267"/>
                  </a:lnTo>
                  <a:lnTo>
                    <a:pt x="113" y="358"/>
                  </a:lnTo>
                  <a:lnTo>
                    <a:pt x="49" y="450"/>
                  </a:lnTo>
                  <a:lnTo>
                    <a:pt x="14" y="548"/>
                  </a:lnTo>
                  <a:lnTo>
                    <a:pt x="0" y="646"/>
                  </a:lnTo>
                  <a:lnTo>
                    <a:pt x="7" y="752"/>
                  </a:lnTo>
                  <a:lnTo>
                    <a:pt x="35" y="850"/>
                  </a:lnTo>
                  <a:lnTo>
                    <a:pt x="84" y="948"/>
                  </a:lnTo>
                  <a:lnTo>
                    <a:pt x="120" y="998"/>
                  </a:lnTo>
                  <a:lnTo>
                    <a:pt x="162" y="1040"/>
                  </a:lnTo>
                  <a:lnTo>
                    <a:pt x="211" y="1082"/>
                  </a:lnTo>
                  <a:lnTo>
                    <a:pt x="260" y="1131"/>
                  </a:lnTo>
                  <a:lnTo>
                    <a:pt x="324" y="1166"/>
                  </a:lnTo>
                  <a:lnTo>
                    <a:pt x="401" y="1208"/>
                  </a:lnTo>
                  <a:lnTo>
                    <a:pt x="479" y="1244"/>
                  </a:lnTo>
                  <a:lnTo>
                    <a:pt x="570" y="1279"/>
                  </a:lnTo>
                  <a:lnTo>
                    <a:pt x="669" y="1307"/>
                  </a:lnTo>
                  <a:lnTo>
                    <a:pt x="774" y="1335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4" name="Freeform 1056"/>
            <p:cNvSpPr>
              <a:spLocks noChangeAspect="1"/>
            </p:cNvSpPr>
            <p:nvPr/>
          </p:nvSpPr>
          <p:spPr>
            <a:xfrm>
              <a:off x="3913" y="1069"/>
              <a:ext cx="803" cy="646"/>
            </a:xfrm>
            <a:custGeom>
              <a:avLst/>
              <a:gdLst>
                <a:gd name="txL" fmla="*/ 0 w 803"/>
                <a:gd name="txT" fmla="*/ 0 h 646"/>
                <a:gd name="txR" fmla="*/ 803 w 803"/>
                <a:gd name="txB" fmla="*/ 646 h 646"/>
              </a:gdLst>
              <a:ahLst/>
              <a:cxnLst>
                <a:cxn ang="0">
                  <a:pos x="803" y="0"/>
                </a:cxn>
                <a:cxn ang="0">
                  <a:pos x="612" y="56"/>
                </a:cxn>
                <a:cxn ang="0">
                  <a:pos x="444" y="119"/>
                </a:cxn>
                <a:cxn ang="0">
                  <a:pos x="310" y="190"/>
                </a:cxn>
                <a:cxn ang="0">
                  <a:pos x="197" y="267"/>
                </a:cxn>
                <a:cxn ang="0">
                  <a:pos x="113" y="358"/>
                </a:cxn>
                <a:cxn ang="0">
                  <a:pos x="49" y="450"/>
                </a:cxn>
                <a:cxn ang="0">
                  <a:pos x="14" y="548"/>
                </a:cxn>
                <a:cxn ang="0">
                  <a:pos x="0" y="646"/>
                </a:cxn>
                <a:cxn ang="0">
                  <a:pos x="0" y="646"/>
                </a:cxn>
                <a:cxn ang="0">
                  <a:pos x="14" y="548"/>
                </a:cxn>
                <a:cxn ang="0">
                  <a:pos x="49" y="450"/>
                </a:cxn>
                <a:cxn ang="0">
                  <a:pos x="113" y="358"/>
                </a:cxn>
                <a:cxn ang="0">
                  <a:pos x="197" y="267"/>
                </a:cxn>
                <a:cxn ang="0">
                  <a:pos x="310" y="190"/>
                </a:cxn>
                <a:cxn ang="0">
                  <a:pos x="444" y="119"/>
                </a:cxn>
                <a:cxn ang="0">
                  <a:pos x="612" y="56"/>
                </a:cxn>
                <a:cxn ang="0">
                  <a:pos x="803" y="0"/>
                </a:cxn>
                <a:cxn ang="0">
                  <a:pos x="803" y="0"/>
                </a:cxn>
              </a:cxnLst>
              <a:rect l="txL" t="txT" r="txR" b="txB"/>
              <a:pathLst>
                <a:path w="803" h="646">
                  <a:moveTo>
                    <a:pt x="803" y="0"/>
                  </a:moveTo>
                  <a:lnTo>
                    <a:pt x="612" y="56"/>
                  </a:lnTo>
                  <a:lnTo>
                    <a:pt x="444" y="119"/>
                  </a:lnTo>
                  <a:lnTo>
                    <a:pt x="310" y="190"/>
                  </a:lnTo>
                  <a:lnTo>
                    <a:pt x="197" y="267"/>
                  </a:lnTo>
                  <a:lnTo>
                    <a:pt x="113" y="358"/>
                  </a:lnTo>
                  <a:lnTo>
                    <a:pt x="49" y="450"/>
                  </a:lnTo>
                  <a:lnTo>
                    <a:pt x="14" y="548"/>
                  </a:lnTo>
                  <a:lnTo>
                    <a:pt x="0" y="646"/>
                  </a:lnTo>
                  <a:lnTo>
                    <a:pt x="14" y="548"/>
                  </a:lnTo>
                  <a:lnTo>
                    <a:pt x="49" y="450"/>
                  </a:lnTo>
                  <a:lnTo>
                    <a:pt x="113" y="358"/>
                  </a:lnTo>
                  <a:lnTo>
                    <a:pt x="197" y="267"/>
                  </a:lnTo>
                  <a:lnTo>
                    <a:pt x="310" y="190"/>
                  </a:lnTo>
                  <a:lnTo>
                    <a:pt x="444" y="119"/>
                  </a:lnTo>
                  <a:lnTo>
                    <a:pt x="612" y="56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5" name="Freeform 1057"/>
            <p:cNvSpPr>
              <a:spLocks noChangeAspect="1" noEditPoints="1"/>
            </p:cNvSpPr>
            <p:nvPr/>
          </p:nvSpPr>
          <p:spPr>
            <a:xfrm>
              <a:off x="3913" y="1715"/>
              <a:ext cx="774" cy="689"/>
            </a:xfrm>
            <a:custGeom>
              <a:avLst/>
              <a:gdLst>
                <a:gd name="txL" fmla="*/ 0 w 774"/>
                <a:gd name="txT" fmla="*/ 0 h 689"/>
                <a:gd name="txR" fmla="*/ 774 w 774"/>
                <a:gd name="txB" fmla="*/ 689 h 689"/>
              </a:gdLst>
              <a:ahLst/>
              <a:cxnLst>
                <a:cxn ang="0">
                  <a:pos x="0" y="0"/>
                </a:cxn>
                <a:cxn ang="0">
                  <a:pos x="7" y="106"/>
                </a:cxn>
                <a:cxn ang="0">
                  <a:pos x="35" y="204"/>
                </a:cxn>
                <a:cxn ang="0">
                  <a:pos x="84" y="302"/>
                </a:cxn>
                <a:cxn ang="0">
                  <a:pos x="120" y="352"/>
                </a:cxn>
                <a:cxn ang="0">
                  <a:pos x="162" y="394"/>
                </a:cxn>
                <a:cxn ang="0">
                  <a:pos x="211" y="436"/>
                </a:cxn>
                <a:cxn ang="0">
                  <a:pos x="260" y="485"/>
                </a:cxn>
                <a:cxn ang="0">
                  <a:pos x="324" y="520"/>
                </a:cxn>
                <a:cxn ang="0">
                  <a:pos x="401" y="562"/>
                </a:cxn>
                <a:cxn ang="0">
                  <a:pos x="479" y="598"/>
                </a:cxn>
                <a:cxn ang="0">
                  <a:pos x="570" y="633"/>
                </a:cxn>
                <a:cxn ang="0">
                  <a:pos x="669" y="661"/>
                </a:cxn>
                <a:cxn ang="0">
                  <a:pos x="774" y="689"/>
                </a:cxn>
                <a:cxn ang="0">
                  <a:pos x="774" y="689"/>
                </a:cxn>
                <a:cxn ang="0">
                  <a:pos x="669" y="661"/>
                </a:cxn>
                <a:cxn ang="0">
                  <a:pos x="570" y="633"/>
                </a:cxn>
                <a:cxn ang="0">
                  <a:pos x="479" y="598"/>
                </a:cxn>
                <a:cxn ang="0">
                  <a:pos x="401" y="562"/>
                </a:cxn>
                <a:cxn ang="0">
                  <a:pos x="324" y="520"/>
                </a:cxn>
                <a:cxn ang="0">
                  <a:pos x="260" y="485"/>
                </a:cxn>
                <a:cxn ang="0">
                  <a:pos x="211" y="436"/>
                </a:cxn>
                <a:cxn ang="0">
                  <a:pos x="162" y="394"/>
                </a:cxn>
                <a:cxn ang="0">
                  <a:pos x="120" y="352"/>
                </a:cxn>
                <a:cxn ang="0">
                  <a:pos x="84" y="302"/>
                </a:cxn>
                <a:cxn ang="0">
                  <a:pos x="35" y="204"/>
                </a:cxn>
                <a:cxn ang="0">
                  <a:pos x="7" y="10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74" h="689">
                  <a:moveTo>
                    <a:pt x="0" y="0"/>
                  </a:moveTo>
                  <a:lnTo>
                    <a:pt x="7" y="106"/>
                  </a:lnTo>
                  <a:lnTo>
                    <a:pt x="35" y="204"/>
                  </a:lnTo>
                  <a:lnTo>
                    <a:pt x="84" y="302"/>
                  </a:lnTo>
                  <a:lnTo>
                    <a:pt x="120" y="352"/>
                  </a:lnTo>
                  <a:lnTo>
                    <a:pt x="162" y="394"/>
                  </a:lnTo>
                  <a:lnTo>
                    <a:pt x="211" y="436"/>
                  </a:lnTo>
                  <a:lnTo>
                    <a:pt x="260" y="485"/>
                  </a:lnTo>
                  <a:lnTo>
                    <a:pt x="324" y="520"/>
                  </a:lnTo>
                  <a:lnTo>
                    <a:pt x="401" y="562"/>
                  </a:lnTo>
                  <a:lnTo>
                    <a:pt x="479" y="598"/>
                  </a:lnTo>
                  <a:lnTo>
                    <a:pt x="570" y="633"/>
                  </a:lnTo>
                  <a:lnTo>
                    <a:pt x="669" y="661"/>
                  </a:lnTo>
                  <a:lnTo>
                    <a:pt x="774" y="689"/>
                  </a:lnTo>
                  <a:lnTo>
                    <a:pt x="669" y="661"/>
                  </a:lnTo>
                  <a:lnTo>
                    <a:pt x="570" y="633"/>
                  </a:lnTo>
                  <a:lnTo>
                    <a:pt x="479" y="598"/>
                  </a:lnTo>
                  <a:lnTo>
                    <a:pt x="401" y="562"/>
                  </a:lnTo>
                  <a:lnTo>
                    <a:pt x="324" y="520"/>
                  </a:lnTo>
                  <a:lnTo>
                    <a:pt x="260" y="485"/>
                  </a:lnTo>
                  <a:lnTo>
                    <a:pt x="211" y="436"/>
                  </a:lnTo>
                  <a:lnTo>
                    <a:pt x="162" y="394"/>
                  </a:lnTo>
                  <a:lnTo>
                    <a:pt x="120" y="352"/>
                  </a:lnTo>
                  <a:lnTo>
                    <a:pt x="84" y="302"/>
                  </a:lnTo>
                  <a:lnTo>
                    <a:pt x="35" y="204"/>
                  </a:lnTo>
                  <a:lnTo>
                    <a:pt x="7" y="106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6" name="Freeform 1058"/>
            <p:cNvSpPr>
              <a:spLocks noChangeAspect="1"/>
            </p:cNvSpPr>
            <p:nvPr/>
          </p:nvSpPr>
          <p:spPr>
            <a:xfrm>
              <a:off x="2688" y="1554"/>
              <a:ext cx="113" cy="133"/>
            </a:xfrm>
            <a:custGeom>
              <a:avLst/>
              <a:gdLst>
                <a:gd name="txL" fmla="*/ 0 w 113"/>
                <a:gd name="txT" fmla="*/ 0 h 133"/>
                <a:gd name="txR" fmla="*/ 113 w 113"/>
                <a:gd name="txB" fmla="*/ 133 h 133"/>
              </a:gdLst>
              <a:ahLst/>
              <a:cxnLst>
                <a:cxn ang="0">
                  <a:pos x="49" y="56"/>
                </a:cxn>
                <a:cxn ang="0">
                  <a:pos x="0" y="56"/>
                </a:cxn>
                <a:cxn ang="0">
                  <a:pos x="0" y="70"/>
                </a:cxn>
                <a:cxn ang="0">
                  <a:pos x="49" y="70"/>
                </a:cxn>
                <a:cxn ang="0">
                  <a:pos x="49" y="133"/>
                </a:cxn>
                <a:cxn ang="0">
                  <a:pos x="63" y="133"/>
                </a:cxn>
                <a:cxn ang="0">
                  <a:pos x="63" y="70"/>
                </a:cxn>
                <a:cxn ang="0">
                  <a:pos x="113" y="70"/>
                </a:cxn>
                <a:cxn ang="0">
                  <a:pos x="113" y="56"/>
                </a:cxn>
                <a:cxn ang="0">
                  <a:pos x="63" y="56"/>
                </a:cxn>
                <a:cxn ang="0">
                  <a:pos x="63" y="0"/>
                </a:cxn>
                <a:cxn ang="0">
                  <a:pos x="49" y="0"/>
                </a:cxn>
                <a:cxn ang="0">
                  <a:pos x="49" y="56"/>
                </a:cxn>
              </a:cxnLst>
              <a:rect l="txL" t="txT" r="txR" b="txB"/>
              <a:pathLst>
                <a:path w="113" h="133">
                  <a:moveTo>
                    <a:pt x="49" y="56"/>
                  </a:moveTo>
                  <a:lnTo>
                    <a:pt x="0" y="56"/>
                  </a:lnTo>
                  <a:lnTo>
                    <a:pt x="0" y="70"/>
                  </a:lnTo>
                  <a:lnTo>
                    <a:pt x="49" y="70"/>
                  </a:lnTo>
                  <a:lnTo>
                    <a:pt x="49" y="133"/>
                  </a:lnTo>
                  <a:lnTo>
                    <a:pt x="63" y="133"/>
                  </a:lnTo>
                  <a:lnTo>
                    <a:pt x="63" y="70"/>
                  </a:lnTo>
                  <a:lnTo>
                    <a:pt x="113" y="70"/>
                  </a:lnTo>
                  <a:lnTo>
                    <a:pt x="113" y="56"/>
                  </a:lnTo>
                  <a:lnTo>
                    <a:pt x="63" y="56"/>
                  </a:lnTo>
                  <a:lnTo>
                    <a:pt x="63" y="0"/>
                  </a:lnTo>
                  <a:lnTo>
                    <a:pt x="49" y="0"/>
                  </a:lnTo>
                  <a:lnTo>
                    <a:pt x="49" y="5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7" name="Rectangle 1059"/>
            <p:cNvSpPr>
              <a:spLocks noChangeAspect="1"/>
            </p:cNvSpPr>
            <p:nvPr/>
          </p:nvSpPr>
          <p:spPr>
            <a:xfrm>
              <a:off x="1625" y="1835"/>
              <a:ext cx="112" cy="14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27698" name="Freeform 1060"/>
            <p:cNvSpPr>
              <a:spLocks noChangeAspect="1"/>
            </p:cNvSpPr>
            <p:nvPr/>
          </p:nvSpPr>
          <p:spPr>
            <a:xfrm>
              <a:off x="4047" y="1399"/>
              <a:ext cx="204" cy="239"/>
            </a:xfrm>
            <a:custGeom>
              <a:avLst/>
              <a:gdLst>
                <a:gd name="txL" fmla="*/ 0 w 204"/>
                <a:gd name="txT" fmla="*/ 0 h 239"/>
                <a:gd name="txR" fmla="*/ 204 w 204"/>
                <a:gd name="txB" fmla="*/ 239 h 239"/>
              </a:gdLst>
              <a:ahLst/>
              <a:cxnLst>
                <a:cxn ang="0">
                  <a:pos x="0" y="0"/>
                </a:cxn>
                <a:cxn ang="0">
                  <a:pos x="0" y="14"/>
                </a:cxn>
                <a:cxn ang="0">
                  <a:pos x="0" y="42"/>
                </a:cxn>
                <a:cxn ang="0">
                  <a:pos x="14" y="84"/>
                </a:cxn>
                <a:cxn ang="0">
                  <a:pos x="28" y="134"/>
                </a:cxn>
                <a:cxn ang="0">
                  <a:pos x="49" y="176"/>
                </a:cxn>
                <a:cxn ang="0">
                  <a:pos x="84" y="211"/>
                </a:cxn>
                <a:cxn ang="0">
                  <a:pos x="134" y="239"/>
                </a:cxn>
                <a:cxn ang="0">
                  <a:pos x="204" y="239"/>
                </a:cxn>
                <a:cxn ang="0">
                  <a:pos x="204" y="239"/>
                </a:cxn>
                <a:cxn ang="0">
                  <a:pos x="134" y="239"/>
                </a:cxn>
                <a:cxn ang="0">
                  <a:pos x="84" y="211"/>
                </a:cxn>
                <a:cxn ang="0">
                  <a:pos x="49" y="176"/>
                </a:cxn>
                <a:cxn ang="0">
                  <a:pos x="28" y="134"/>
                </a:cxn>
                <a:cxn ang="0">
                  <a:pos x="14" y="84"/>
                </a:cxn>
                <a:cxn ang="0">
                  <a:pos x="0" y="42"/>
                </a:cxn>
                <a:cxn ang="0">
                  <a:pos x="0" y="1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04" h="239">
                  <a:moveTo>
                    <a:pt x="0" y="0"/>
                  </a:moveTo>
                  <a:lnTo>
                    <a:pt x="0" y="14"/>
                  </a:lnTo>
                  <a:lnTo>
                    <a:pt x="0" y="42"/>
                  </a:lnTo>
                  <a:lnTo>
                    <a:pt x="14" y="84"/>
                  </a:lnTo>
                  <a:lnTo>
                    <a:pt x="28" y="134"/>
                  </a:lnTo>
                  <a:lnTo>
                    <a:pt x="49" y="176"/>
                  </a:lnTo>
                  <a:lnTo>
                    <a:pt x="84" y="211"/>
                  </a:lnTo>
                  <a:lnTo>
                    <a:pt x="134" y="239"/>
                  </a:lnTo>
                  <a:lnTo>
                    <a:pt x="204" y="239"/>
                  </a:lnTo>
                  <a:lnTo>
                    <a:pt x="134" y="239"/>
                  </a:lnTo>
                  <a:lnTo>
                    <a:pt x="84" y="211"/>
                  </a:lnTo>
                  <a:lnTo>
                    <a:pt x="49" y="176"/>
                  </a:lnTo>
                  <a:lnTo>
                    <a:pt x="28" y="134"/>
                  </a:lnTo>
                  <a:lnTo>
                    <a:pt x="14" y="84"/>
                  </a:lnTo>
                  <a:lnTo>
                    <a:pt x="0" y="42"/>
                  </a:lnTo>
                  <a:lnTo>
                    <a:pt x="0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9" name="Freeform 1061"/>
            <p:cNvSpPr>
              <a:spLocks noChangeAspect="1" noEditPoints="1"/>
            </p:cNvSpPr>
            <p:nvPr/>
          </p:nvSpPr>
          <p:spPr>
            <a:xfrm>
              <a:off x="4251" y="1638"/>
              <a:ext cx="155" cy="105"/>
            </a:xfrm>
            <a:custGeom>
              <a:avLst/>
              <a:gdLst>
                <a:gd name="txL" fmla="*/ 0 w 155"/>
                <a:gd name="txT" fmla="*/ 0 h 105"/>
                <a:gd name="txR" fmla="*/ 155 w 155"/>
                <a:gd name="txB" fmla="*/ 105 h 105"/>
              </a:gdLst>
              <a:ahLst/>
              <a:cxnLst>
                <a:cxn ang="0">
                  <a:pos x="0" y="0"/>
                </a:cxn>
                <a:cxn ang="0">
                  <a:pos x="63" y="0"/>
                </a:cxn>
                <a:cxn ang="0">
                  <a:pos x="106" y="7"/>
                </a:cxn>
                <a:cxn ang="0">
                  <a:pos x="134" y="21"/>
                </a:cxn>
                <a:cxn ang="0">
                  <a:pos x="148" y="42"/>
                </a:cxn>
                <a:cxn ang="0">
                  <a:pos x="155" y="63"/>
                </a:cxn>
                <a:cxn ang="0">
                  <a:pos x="155" y="84"/>
                </a:cxn>
                <a:cxn ang="0">
                  <a:pos x="148" y="98"/>
                </a:cxn>
                <a:cxn ang="0">
                  <a:pos x="148" y="105"/>
                </a:cxn>
                <a:cxn ang="0">
                  <a:pos x="148" y="105"/>
                </a:cxn>
                <a:cxn ang="0">
                  <a:pos x="148" y="98"/>
                </a:cxn>
                <a:cxn ang="0">
                  <a:pos x="155" y="84"/>
                </a:cxn>
                <a:cxn ang="0">
                  <a:pos x="155" y="63"/>
                </a:cxn>
                <a:cxn ang="0">
                  <a:pos x="148" y="42"/>
                </a:cxn>
                <a:cxn ang="0">
                  <a:pos x="134" y="21"/>
                </a:cxn>
                <a:cxn ang="0">
                  <a:pos x="106" y="7"/>
                </a:cxn>
                <a:cxn ang="0">
                  <a:pos x="63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55" h="105">
                  <a:moveTo>
                    <a:pt x="0" y="0"/>
                  </a:moveTo>
                  <a:lnTo>
                    <a:pt x="63" y="0"/>
                  </a:lnTo>
                  <a:lnTo>
                    <a:pt x="106" y="7"/>
                  </a:lnTo>
                  <a:lnTo>
                    <a:pt x="134" y="21"/>
                  </a:lnTo>
                  <a:lnTo>
                    <a:pt x="148" y="42"/>
                  </a:lnTo>
                  <a:lnTo>
                    <a:pt x="155" y="63"/>
                  </a:lnTo>
                  <a:lnTo>
                    <a:pt x="155" y="84"/>
                  </a:lnTo>
                  <a:lnTo>
                    <a:pt x="148" y="98"/>
                  </a:lnTo>
                  <a:lnTo>
                    <a:pt x="148" y="105"/>
                  </a:lnTo>
                  <a:lnTo>
                    <a:pt x="148" y="98"/>
                  </a:lnTo>
                  <a:lnTo>
                    <a:pt x="155" y="84"/>
                  </a:lnTo>
                  <a:lnTo>
                    <a:pt x="155" y="63"/>
                  </a:lnTo>
                  <a:lnTo>
                    <a:pt x="148" y="42"/>
                  </a:lnTo>
                  <a:lnTo>
                    <a:pt x="134" y="21"/>
                  </a:lnTo>
                  <a:lnTo>
                    <a:pt x="106" y="7"/>
                  </a:lnTo>
                  <a:lnTo>
                    <a:pt x="63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0" name="Freeform 1062"/>
            <p:cNvSpPr>
              <a:spLocks noChangeAspect="1" noEditPoints="1"/>
            </p:cNvSpPr>
            <p:nvPr/>
          </p:nvSpPr>
          <p:spPr>
            <a:xfrm>
              <a:off x="4159" y="1701"/>
              <a:ext cx="240" cy="49"/>
            </a:xfrm>
            <a:custGeom>
              <a:avLst/>
              <a:gdLst>
                <a:gd name="txL" fmla="*/ 0 w 240"/>
                <a:gd name="txT" fmla="*/ 0 h 49"/>
                <a:gd name="txR" fmla="*/ 240 w 240"/>
                <a:gd name="txB" fmla="*/ 49 h 49"/>
              </a:gdLst>
              <a:ahLst/>
              <a:cxnLst>
                <a:cxn ang="0">
                  <a:pos x="240" y="42"/>
                </a:cxn>
                <a:cxn ang="0">
                  <a:pos x="233" y="35"/>
                </a:cxn>
                <a:cxn ang="0">
                  <a:pos x="205" y="28"/>
                </a:cxn>
                <a:cxn ang="0">
                  <a:pos x="176" y="14"/>
                </a:cxn>
                <a:cxn ang="0">
                  <a:pos x="134" y="7"/>
                </a:cxn>
                <a:cxn ang="0">
                  <a:pos x="92" y="0"/>
                </a:cxn>
                <a:cxn ang="0">
                  <a:pos x="50" y="7"/>
                </a:cxn>
                <a:cxn ang="0">
                  <a:pos x="22" y="21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22" y="21"/>
                </a:cxn>
                <a:cxn ang="0">
                  <a:pos x="50" y="7"/>
                </a:cxn>
                <a:cxn ang="0">
                  <a:pos x="92" y="0"/>
                </a:cxn>
                <a:cxn ang="0">
                  <a:pos x="134" y="7"/>
                </a:cxn>
                <a:cxn ang="0">
                  <a:pos x="176" y="14"/>
                </a:cxn>
                <a:cxn ang="0">
                  <a:pos x="205" y="28"/>
                </a:cxn>
                <a:cxn ang="0">
                  <a:pos x="233" y="35"/>
                </a:cxn>
                <a:cxn ang="0">
                  <a:pos x="240" y="42"/>
                </a:cxn>
                <a:cxn ang="0">
                  <a:pos x="240" y="42"/>
                </a:cxn>
                <a:cxn ang="0">
                  <a:pos x="240" y="42"/>
                </a:cxn>
                <a:cxn ang="0">
                  <a:pos x="240" y="42"/>
                </a:cxn>
                <a:cxn ang="0">
                  <a:pos x="240" y="42"/>
                </a:cxn>
              </a:cxnLst>
              <a:rect l="txL" t="txT" r="txR" b="txB"/>
              <a:pathLst>
                <a:path w="240" h="49">
                  <a:moveTo>
                    <a:pt x="240" y="42"/>
                  </a:moveTo>
                  <a:lnTo>
                    <a:pt x="233" y="35"/>
                  </a:lnTo>
                  <a:lnTo>
                    <a:pt x="205" y="28"/>
                  </a:lnTo>
                  <a:lnTo>
                    <a:pt x="176" y="14"/>
                  </a:lnTo>
                  <a:lnTo>
                    <a:pt x="134" y="7"/>
                  </a:lnTo>
                  <a:lnTo>
                    <a:pt x="92" y="0"/>
                  </a:lnTo>
                  <a:lnTo>
                    <a:pt x="50" y="7"/>
                  </a:lnTo>
                  <a:lnTo>
                    <a:pt x="22" y="21"/>
                  </a:lnTo>
                  <a:lnTo>
                    <a:pt x="0" y="49"/>
                  </a:lnTo>
                  <a:lnTo>
                    <a:pt x="22" y="21"/>
                  </a:lnTo>
                  <a:lnTo>
                    <a:pt x="50" y="7"/>
                  </a:lnTo>
                  <a:lnTo>
                    <a:pt x="92" y="0"/>
                  </a:lnTo>
                  <a:lnTo>
                    <a:pt x="134" y="7"/>
                  </a:lnTo>
                  <a:lnTo>
                    <a:pt x="176" y="14"/>
                  </a:lnTo>
                  <a:lnTo>
                    <a:pt x="205" y="28"/>
                  </a:lnTo>
                  <a:lnTo>
                    <a:pt x="233" y="35"/>
                  </a:lnTo>
                  <a:lnTo>
                    <a:pt x="240" y="42"/>
                  </a:lnTo>
                  <a:close/>
                  <a:moveTo>
                    <a:pt x="240" y="42"/>
                  </a:moveTo>
                  <a:lnTo>
                    <a:pt x="240" y="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1" name="Freeform 1063"/>
            <p:cNvSpPr>
              <a:spLocks noChangeAspect="1"/>
            </p:cNvSpPr>
            <p:nvPr/>
          </p:nvSpPr>
          <p:spPr>
            <a:xfrm>
              <a:off x="4047" y="1856"/>
              <a:ext cx="204" cy="239"/>
            </a:xfrm>
            <a:custGeom>
              <a:avLst/>
              <a:gdLst>
                <a:gd name="txL" fmla="*/ 0 w 204"/>
                <a:gd name="txT" fmla="*/ 0 h 239"/>
                <a:gd name="txR" fmla="*/ 204 w 204"/>
                <a:gd name="txB" fmla="*/ 239 h 239"/>
              </a:gdLst>
              <a:ahLst/>
              <a:cxnLst>
                <a:cxn ang="0">
                  <a:pos x="0" y="239"/>
                </a:cxn>
                <a:cxn ang="0">
                  <a:pos x="0" y="225"/>
                </a:cxn>
                <a:cxn ang="0">
                  <a:pos x="0" y="197"/>
                </a:cxn>
                <a:cxn ang="0">
                  <a:pos x="14" y="154"/>
                </a:cxn>
                <a:cxn ang="0">
                  <a:pos x="28" y="112"/>
                </a:cxn>
                <a:cxn ang="0">
                  <a:pos x="49" y="63"/>
                </a:cxn>
                <a:cxn ang="0">
                  <a:pos x="84" y="28"/>
                </a:cxn>
                <a:cxn ang="0">
                  <a:pos x="134" y="0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34" y="0"/>
                </a:cxn>
                <a:cxn ang="0">
                  <a:pos x="84" y="28"/>
                </a:cxn>
                <a:cxn ang="0">
                  <a:pos x="49" y="63"/>
                </a:cxn>
                <a:cxn ang="0">
                  <a:pos x="28" y="112"/>
                </a:cxn>
                <a:cxn ang="0">
                  <a:pos x="14" y="154"/>
                </a:cxn>
                <a:cxn ang="0">
                  <a:pos x="0" y="197"/>
                </a:cxn>
                <a:cxn ang="0">
                  <a:pos x="0" y="225"/>
                </a:cxn>
                <a:cxn ang="0">
                  <a:pos x="0" y="239"/>
                </a:cxn>
                <a:cxn ang="0">
                  <a:pos x="0" y="239"/>
                </a:cxn>
              </a:cxnLst>
              <a:rect l="txL" t="txT" r="txR" b="txB"/>
              <a:pathLst>
                <a:path w="204" h="239">
                  <a:moveTo>
                    <a:pt x="0" y="239"/>
                  </a:moveTo>
                  <a:lnTo>
                    <a:pt x="0" y="225"/>
                  </a:lnTo>
                  <a:lnTo>
                    <a:pt x="0" y="197"/>
                  </a:lnTo>
                  <a:lnTo>
                    <a:pt x="14" y="154"/>
                  </a:lnTo>
                  <a:lnTo>
                    <a:pt x="28" y="112"/>
                  </a:lnTo>
                  <a:lnTo>
                    <a:pt x="49" y="63"/>
                  </a:lnTo>
                  <a:lnTo>
                    <a:pt x="84" y="28"/>
                  </a:lnTo>
                  <a:lnTo>
                    <a:pt x="134" y="0"/>
                  </a:lnTo>
                  <a:lnTo>
                    <a:pt x="204" y="0"/>
                  </a:lnTo>
                  <a:lnTo>
                    <a:pt x="134" y="0"/>
                  </a:lnTo>
                  <a:lnTo>
                    <a:pt x="84" y="28"/>
                  </a:lnTo>
                  <a:lnTo>
                    <a:pt x="49" y="63"/>
                  </a:lnTo>
                  <a:lnTo>
                    <a:pt x="28" y="112"/>
                  </a:lnTo>
                  <a:lnTo>
                    <a:pt x="14" y="154"/>
                  </a:lnTo>
                  <a:lnTo>
                    <a:pt x="0" y="197"/>
                  </a:lnTo>
                  <a:lnTo>
                    <a:pt x="0" y="225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2" name="Freeform 1064"/>
            <p:cNvSpPr>
              <a:spLocks noChangeAspect="1" noEditPoints="1"/>
            </p:cNvSpPr>
            <p:nvPr/>
          </p:nvSpPr>
          <p:spPr>
            <a:xfrm>
              <a:off x="4251" y="1750"/>
              <a:ext cx="155" cy="113"/>
            </a:xfrm>
            <a:custGeom>
              <a:avLst/>
              <a:gdLst>
                <a:gd name="txL" fmla="*/ 0 w 155"/>
                <a:gd name="txT" fmla="*/ 0 h 113"/>
                <a:gd name="txR" fmla="*/ 155 w 155"/>
                <a:gd name="txB" fmla="*/ 113 h 113"/>
              </a:gdLst>
              <a:ahLst/>
              <a:cxnLst>
                <a:cxn ang="0">
                  <a:pos x="0" y="106"/>
                </a:cxn>
                <a:cxn ang="0">
                  <a:pos x="63" y="113"/>
                </a:cxn>
                <a:cxn ang="0">
                  <a:pos x="106" y="106"/>
                </a:cxn>
                <a:cxn ang="0">
                  <a:pos x="134" y="85"/>
                </a:cxn>
                <a:cxn ang="0">
                  <a:pos x="148" y="64"/>
                </a:cxn>
                <a:cxn ang="0">
                  <a:pos x="155" y="43"/>
                </a:cxn>
                <a:cxn ang="0">
                  <a:pos x="155" y="22"/>
                </a:cxn>
                <a:cxn ang="0">
                  <a:pos x="148" y="7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48" y="7"/>
                </a:cxn>
                <a:cxn ang="0">
                  <a:pos x="155" y="22"/>
                </a:cxn>
                <a:cxn ang="0">
                  <a:pos x="155" y="43"/>
                </a:cxn>
                <a:cxn ang="0">
                  <a:pos x="148" y="64"/>
                </a:cxn>
                <a:cxn ang="0">
                  <a:pos x="134" y="85"/>
                </a:cxn>
                <a:cxn ang="0">
                  <a:pos x="106" y="106"/>
                </a:cxn>
                <a:cxn ang="0">
                  <a:pos x="63" y="113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0" y="106"/>
                </a:cxn>
              </a:cxnLst>
              <a:rect l="txL" t="txT" r="txR" b="txB"/>
              <a:pathLst>
                <a:path w="155" h="113">
                  <a:moveTo>
                    <a:pt x="0" y="106"/>
                  </a:moveTo>
                  <a:lnTo>
                    <a:pt x="63" y="113"/>
                  </a:lnTo>
                  <a:lnTo>
                    <a:pt x="106" y="106"/>
                  </a:lnTo>
                  <a:lnTo>
                    <a:pt x="134" y="85"/>
                  </a:lnTo>
                  <a:lnTo>
                    <a:pt x="148" y="64"/>
                  </a:lnTo>
                  <a:lnTo>
                    <a:pt x="155" y="43"/>
                  </a:lnTo>
                  <a:lnTo>
                    <a:pt x="155" y="22"/>
                  </a:lnTo>
                  <a:lnTo>
                    <a:pt x="148" y="7"/>
                  </a:lnTo>
                  <a:lnTo>
                    <a:pt x="148" y="0"/>
                  </a:lnTo>
                  <a:lnTo>
                    <a:pt x="148" y="7"/>
                  </a:lnTo>
                  <a:lnTo>
                    <a:pt x="155" y="22"/>
                  </a:lnTo>
                  <a:lnTo>
                    <a:pt x="155" y="43"/>
                  </a:lnTo>
                  <a:lnTo>
                    <a:pt x="148" y="64"/>
                  </a:lnTo>
                  <a:lnTo>
                    <a:pt x="134" y="85"/>
                  </a:lnTo>
                  <a:lnTo>
                    <a:pt x="106" y="106"/>
                  </a:lnTo>
                  <a:lnTo>
                    <a:pt x="63" y="113"/>
                  </a:lnTo>
                  <a:lnTo>
                    <a:pt x="0" y="106"/>
                  </a:lnTo>
                  <a:close/>
                  <a:moveTo>
                    <a:pt x="0" y="106"/>
                  </a:moveTo>
                  <a:lnTo>
                    <a:pt x="0" y="10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3" name="Freeform 1065"/>
            <p:cNvSpPr>
              <a:spLocks noChangeAspect="1" noEditPoints="1"/>
            </p:cNvSpPr>
            <p:nvPr/>
          </p:nvSpPr>
          <p:spPr>
            <a:xfrm>
              <a:off x="4159" y="1750"/>
              <a:ext cx="240" cy="43"/>
            </a:xfrm>
            <a:custGeom>
              <a:avLst/>
              <a:gdLst>
                <a:gd name="txL" fmla="*/ 0 w 240"/>
                <a:gd name="txT" fmla="*/ 0 h 43"/>
                <a:gd name="txR" fmla="*/ 240 w 240"/>
                <a:gd name="txB" fmla="*/ 43 h 43"/>
              </a:gdLst>
              <a:ahLst/>
              <a:cxnLst>
                <a:cxn ang="0">
                  <a:pos x="240" y="0"/>
                </a:cxn>
                <a:cxn ang="0">
                  <a:pos x="233" y="7"/>
                </a:cxn>
                <a:cxn ang="0">
                  <a:pos x="205" y="15"/>
                </a:cxn>
                <a:cxn ang="0">
                  <a:pos x="176" y="29"/>
                </a:cxn>
                <a:cxn ang="0">
                  <a:pos x="134" y="36"/>
                </a:cxn>
                <a:cxn ang="0">
                  <a:pos x="92" y="43"/>
                </a:cxn>
                <a:cxn ang="0">
                  <a:pos x="50" y="43"/>
                </a:cxn>
                <a:cxn ang="0">
                  <a:pos x="22" y="2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2" y="29"/>
                </a:cxn>
                <a:cxn ang="0">
                  <a:pos x="50" y="43"/>
                </a:cxn>
                <a:cxn ang="0">
                  <a:pos x="92" y="43"/>
                </a:cxn>
                <a:cxn ang="0">
                  <a:pos x="134" y="36"/>
                </a:cxn>
                <a:cxn ang="0">
                  <a:pos x="176" y="29"/>
                </a:cxn>
                <a:cxn ang="0">
                  <a:pos x="205" y="15"/>
                </a:cxn>
                <a:cxn ang="0">
                  <a:pos x="233" y="7"/>
                </a:cxn>
                <a:cxn ang="0">
                  <a:pos x="240" y="0"/>
                </a:cxn>
                <a:cxn ang="0">
                  <a:pos x="240" y="0"/>
                </a:cxn>
                <a:cxn ang="0">
                  <a:pos x="240" y="0"/>
                </a:cxn>
                <a:cxn ang="0">
                  <a:pos x="240" y="0"/>
                </a:cxn>
                <a:cxn ang="0">
                  <a:pos x="240" y="0"/>
                </a:cxn>
              </a:cxnLst>
              <a:rect l="txL" t="txT" r="txR" b="txB"/>
              <a:pathLst>
                <a:path w="240" h="43">
                  <a:moveTo>
                    <a:pt x="240" y="0"/>
                  </a:moveTo>
                  <a:lnTo>
                    <a:pt x="233" y="7"/>
                  </a:lnTo>
                  <a:lnTo>
                    <a:pt x="205" y="15"/>
                  </a:lnTo>
                  <a:lnTo>
                    <a:pt x="176" y="29"/>
                  </a:lnTo>
                  <a:lnTo>
                    <a:pt x="134" y="36"/>
                  </a:lnTo>
                  <a:lnTo>
                    <a:pt x="92" y="43"/>
                  </a:lnTo>
                  <a:lnTo>
                    <a:pt x="50" y="43"/>
                  </a:lnTo>
                  <a:lnTo>
                    <a:pt x="22" y="29"/>
                  </a:lnTo>
                  <a:lnTo>
                    <a:pt x="0" y="0"/>
                  </a:lnTo>
                  <a:lnTo>
                    <a:pt x="22" y="29"/>
                  </a:lnTo>
                  <a:lnTo>
                    <a:pt x="50" y="43"/>
                  </a:lnTo>
                  <a:lnTo>
                    <a:pt x="92" y="43"/>
                  </a:lnTo>
                  <a:lnTo>
                    <a:pt x="134" y="36"/>
                  </a:lnTo>
                  <a:lnTo>
                    <a:pt x="176" y="29"/>
                  </a:lnTo>
                  <a:lnTo>
                    <a:pt x="205" y="15"/>
                  </a:lnTo>
                  <a:lnTo>
                    <a:pt x="233" y="7"/>
                  </a:lnTo>
                  <a:lnTo>
                    <a:pt x="240" y="0"/>
                  </a:lnTo>
                  <a:close/>
                  <a:moveTo>
                    <a:pt x="240" y="0"/>
                  </a:moveTo>
                  <a:lnTo>
                    <a:pt x="24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4" name="Freeform 1066"/>
            <p:cNvSpPr>
              <a:spLocks noChangeAspect="1"/>
            </p:cNvSpPr>
            <p:nvPr/>
          </p:nvSpPr>
          <p:spPr>
            <a:xfrm>
              <a:off x="3392" y="956"/>
              <a:ext cx="338" cy="127"/>
            </a:xfrm>
            <a:custGeom>
              <a:avLst/>
              <a:gdLst>
                <a:gd name="txL" fmla="*/ 0 w 338"/>
                <a:gd name="txT" fmla="*/ 0 h 127"/>
                <a:gd name="txR" fmla="*/ 338 w 338"/>
                <a:gd name="txB" fmla="*/ 127 h 127"/>
              </a:gdLst>
              <a:ahLst/>
              <a:cxnLst>
                <a:cxn ang="0">
                  <a:pos x="0" y="0"/>
                </a:cxn>
                <a:cxn ang="0">
                  <a:pos x="338" y="12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38" h="127">
                  <a:moveTo>
                    <a:pt x="0" y="0"/>
                  </a:moveTo>
                  <a:lnTo>
                    <a:pt x="338" y="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5" name="Freeform 1067"/>
            <p:cNvSpPr>
              <a:spLocks noChangeAspect="1"/>
            </p:cNvSpPr>
            <p:nvPr/>
          </p:nvSpPr>
          <p:spPr>
            <a:xfrm>
              <a:off x="3688" y="1020"/>
              <a:ext cx="169" cy="112"/>
            </a:xfrm>
            <a:custGeom>
              <a:avLst/>
              <a:gdLst>
                <a:gd name="txL" fmla="*/ 0 w 169"/>
                <a:gd name="txT" fmla="*/ 0 h 112"/>
                <a:gd name="txR" fmla="*/ 169 w 169"/>
                <a:gd name="txB" fmla="*/ 112 h 112"/>
              </a:gdLst>
              <a:ahLst/>
              <a:cxnLst>
                <a:cxn ang="0">
                  <a:pos x="0" y="105"/>
                </a:cxn>
                <a:cxn ang="0">
                  <a:pos x="169" y="112"/>
                </a:cxn>
                <a:cxn ang="0">
                  <a:pos x="28" y="0"/>
                </a:cxn>
                <a:cxn ang="0">
                  <a:pos x="0" y="105"/>
                </a:cxn>
                <a:cxn ang="0">
                  <a:pos x="0" y="105"/>
                </a:cxn>
              </a:cxnLst>
              <a:rect l="txL" t="txT" r="txR" b="txB"/>
              <a:pathLst>
                <a:path w="169" h="112">
                  <a:moveTo>
                    <a:pt x="0" y="105"/>
                  </a:moveTo>
                  <a:lnTo>
                    <a:pt x="169" y="112"/>
                  </a:lnTo>
                  <a:lnTo>
                    <a:pt x="28" y="0"/>
                  </a:lnTo>
                  <a:lnTo>
                    <a:pt x="0" y="10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6" name="Freeform 1068"/>
            <p:cNvSpPr>
              <a:spLocks noChangeAspect="1"/>
            </p:cNvSpPr>
            <p:nvPr/>
          </p:nvSpPr>
          <p:spPr>
            <a:xfrm>
              <a:off x="2892" y="654"/>
              <a:ext cx="134" cy="183"/>
            </a:xfrm>
            <a:custGeom>
              <a:avLst/>
              <a:gdLst>
                <a:gd name="txL" fmla="*/ 0 w 134"/>
                <a:gd name="txT" fmla="*/ 0 h 183"/>
                <a:gd name="txR" fmla="*/ 134 w 134"/>
                <a:gd name="txB" fmla="*/ 183 h 183"/>
              </a:gdLst>
              <a:ahLst/>
              <a:cxnLst>
                <a:cxn ang="0">
                  <a:pos x="127" y="56"/>
                </a:cxn>
                <a:cxn ang="0">
                  <a:pos x="127" y="0"/>
                </a:cxn>
                <a:cxn ang="0">
                  <a:pos x="120" y="0"/>
                </a:cxn>
                <a:cxn ang="0">
                  <a:pos x="120" y="7"/>
                </a:cxn>
                <a:cxn ang="0">
                  <a:pos x="113" y="7"/>
                </a:cxn>
                <a:cxn ang="0">
                  <a:pos x="99" y="7"/>
                </a:cxn>
                <a:cxn ang="0">
                  <a:pos x="70" y="0"/>
                </a:cxn>
                <a:cxn ang="0">
                  <a:pos x="42" y="7"/>
                </a:cxn>
                <a:cxn ang="0">
                  <a:pos x="21" y="21"/>
                </a:cxn>
                <a:cxn ang="0">
                  <a:pos x="7" y="49"/>
                </a:cxn>
                <a:cxn ang="0">
                  <a:pos x="0" y="92"/>
                </a:cxn>
                <a:cxn ang="0">
                  <a:pos x="7" y="134"/>
                </a:cxn>
                <a:cxn ang="0">
                  <a:pos x="21" y="162"/>
                </a:cxn>
                <a:cxn ang="0">
                  <a:pos x="42" y="176"/>
                </a:cxn>
                <a:cxn ang="0">
                  <a:pos x="70" y="183"/>
                </a:cxn>
                <a:cxn ang="0">
                  <a:pos x="99" y="176"/>
                </a:cxn>
                <a:cxn ang="0">
                  <a:pos x="120" y="169"/>
                </a:cxn>
                <a:cxn ang="0">
                  <a:pos x="127" y="155"/>
                </a:cxn>
                <a:cxn ang="0">
                  <a:pos x="134" y="148"/>
                </a:cxn>
                <a:cxn ang="0">
                  <a:pos x="127" y="141"/>
                </a:cxn>
                <a:cxn ang="0">
                  <a:pos x="113" y="162"/>
                </a:cxn>
                <a:cxn ang="0">
                  <a:pos x="78" y="169"/>
                </a:cxn>
                <a:cxn ang="0">
                  <a:pos x="56" y="162"/>
                </a:cxn>
                <a:cxn ang="0">
                  <a:pos x="42" y="155"/>
                </a:cxn>
                <a:cxn ang="0">
                  <a:pos x="28" y="127"/>
                </a:cxn>
                <a:cxn ang="0">
                  <a:pos x="21" y="92"/>
                </a:cxn>
                <a:cxn ang="0">
                  <a:pos x="28" y="49"/>
                </a:cxn>
                <a:cxn ang="0">
                  <a:pos x="42" y="28"/>
                </a:cxn>
                <a:cxn ang="0">
                  <a:pos x="56" y="14"/>
                </a:cxn>
                <a:cxn ang="0">
                  <a:pos x="78" y="7"/>
                </a:cxn>
                <a:cxn ang="0">
                  <a:pos x="92" y="14"/>
                </a:cxn>
                <a:cxn ang="0">
                  <a:pos x="106" y="21"/>
                </a:cxn>
                <a:cxn ang="0">
                  <a:pos x="120" y="35"/>
                </a:cxn>
                <a:cxn ang="0">
                  <a:pos x="120" y="56"/>
                </a:cxn>
                <a:cxn ang="0">
                  <a:pos x="127" y="56"/>
                </a:cxn>
              </a:cxnLst>
              <a:rect l="txL" t="txT" r="txR" b="txB"/>
              <a:pathLst>
                <a:path w="134" h="183">
                  <a:moveTo>
                    <a:pt x="127" y="56"/>
                  </a:moveTo>
                  <a:lnTo>
                    <a:pt x="127" y="0"/>
                  </a:lnTo>
                  <a:lnTo>
                    <a:pt x="120" y="0"/>
                  </a:lnTo>
                  <a:lnTo>
                    <a:pt x="120" y="7"/>
                  </a:lnTo>
                  <a:lnTo>
                    <a:pt x="113" y="7"/>
                  </a:lnTo>
                  <a:lnTo>
                    <a:pt x="99" y="7"/>
                  </a:lnTo>
                  <a:lnTo>
                    <a:pt x="70" y="0"/>
                  </a:lnTo>
                  <a:lnTo>
                    <a:pt x="42" y="7"/>
                  </a:lnTo>
                  <a:lnTo>
                    <a:pt x="21" y="21"/>
                  </a:lnTo>
                  <a:lnTo>
                    <a:pt x="7" y="49"/>
                  </a:lnTo>
                  <a:lnTo>
                    <a:pt x="0" y="92"/>
                  </a:lnTo>
                  <a:lnTo>
                    <a:pt x="7" y="134"/>
                  </a:lnTo>
                  <a:lnTo>
                    <a:pt x="21" y="162"/>
                  </a:lnTo>
                  <a:lnTo>
                    <a:pt x="42" y="176"/>
                  </a:lnTo>
                  <a:lnTo>
                    <a:pt x="70" y="183"/>
                  </a:lnTo>
                  <a:lnTo>
                    <a:pt x="99" y="176"/>
                  </a:lnTo>
                  <a:lnTo>
                    <a:pt x="120" y="169"/>
                  </a:lnTo>
                  <a:lnTo>
                    <a:pt x="127" y="155"/>
                  </a:lnTo>
                  <a:lnTo>
                    <a:pt x="134" y="148"/>
                  </a:lnTo>
                  <a:lnTo>
                    <a:pt x="127" y="141"/>
                  </a:lnTo>
                  <a:lnTo>
                    <a:pt x="113" y="162"/>
                  </a:lnTo>
                  <a:lnTo>
                    <a:pt x="78" y="169"/>
                  </a:lnTo>
                  <a:lnTo>
                    <a:pt x="56" y="162"/>
                  </a:lnTo>
                  <a:lnTo>
                    <a:pt x="42" y="155"/>
                  </a:lnTo>
                  <a:lnTo>
                    <a:pt x="28" y="127"/>
                  </a:lnTo>
                  <a:lnTo>
                    <a:pt x="21" y="92"/>
                  </a:lnTo>
                  <a:lnTo>
                    <a:pt x="28" y="49"/>
                  </a:lnTo>
                  <a:lnTo>
                    <a:pt x="42" y="28"/>
                  </a:lnTo>
                  <a:lnTo>
                    <a:pt x="56" y="14"/>
                  </a:lnTo>
                  <a:lnTo>
                    <a:pt x="78" y="7"/>
                  </a:lnTo>
                  <a:lnTo>
                    <a:pt x="92" y="14"/>
                  </a:lnTo>
                  <a:lnTo>
                    <a:pt x="106" y="21"/>
                  </a:lnTo>
                  <a:lnTo>
                    <a:pt x="120" y="35"/>
                  </a:lnTo>
                  <a:lnTo>
                    <a:pt x="120" y="56"/>
                  </a:lnTo>
                  <a:lnTo>
                    <a:pt x="127" y="5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7" name="Freeform 1069"/>
            <p:cNvSpPr>
              <a:spLocks noChangeAspect="1"/>
            </p:cNvSpPr>
            <p:nvPr/>
          </p:nvSpPr>
          <p:spPr>
            <a:xfrm>
              <a:off x="3033" y="710"/>
              <a:ext cx="106" cy="127"/>
            </a:xfrm>
            <a:custGeom>
              <a:avLst/>
              <a:gdLst>
                <a:gd name="txL" fmla="*/ 0 w 106"/>
                <a:gd name="txT" fmla="*/ 0 h 127"/>
                <a:gd name="txR" fmla="*/ 106 w 106"/>
                <a:gd name="txB" fmla="*/ 127 h 127"/>
              </a:gdLst>
              <a:ahLst/>
              <a:cxnLst>
                <a:cxn ang="0">
                  <a:pos x="106" y="106"/>
                </a:cxn>
                <a:cxn ang="0">
                  <a:pos x="91" y="106"/>
                </a:cxn>
                <a:cxn ang="0">
                  <a:pos x="91" y="92"/>
                </a:cxn>
                <a:cxn ang="0">
                  <a:pos x="91" y="0"/>
                </a:cxn>
                <a:cxn ang="0">
                  <a:pos x="56" y="0"/>
                </a:cxn>
                <a:cxn ang="0">
                  <a:pos x="56" y="7"/>
                </a:cxn>
                <a:cxn ang="0">
                  <a:pos x="70" y="14"/>
                </a:cxn>
                <a:cxn ang="0">
                  <a:pos x="70" y="22"/>
                </a:cxn>
                <a:cxn ang="0">
                  <a:pos x="70" y="85"/>
                </a:cxn>
                <a:cxn ang="0">
                  <a:pos x="70" y="92"/>
                </a:cxn>
                <a:cxn ang="0">
                  <a:pos x="70" y="99"/>
                </a:cxn>
                <a:cxn ang="0">
                  <a:pos x="63" y="106"/>
                </a:cxn>
                <a:cxn ang="0">
                  <a:pos x="49" y="113"/>
                </a:cxn>
                <a:cxn ang="0">
                  <a:pos x="42" y="113"/>
                </a:cxn>
                <a:cxn ang="0">
                  <a:pos x="35" y="106"/>
                </a:cxn>
                <a:cxn ang="0">
                  <a:pos x="35" y="99"/>
                </a:cxn>
                <a:cxn ang="0">
                  <a:pos x="35" y="92"/>
                </a:cxn>
                <a:cxn ang="0">
                  <a:pos x="35" y="0"/>
                </a:cxn>
                <a:cxn ang="0">
                  <a:pos x="0" y="0"/>
                </a:cxn>
                <a:cxn ang="0">
                  <a:pos x="0" y="7"/>
                </a:cxn>
                <a:cxn ang="0">
                  <a:pos x="7" y="7"/>
                </a:cxn>
                <a:cxn ang="0">
                  <a:pos x="14" y="22"/>
                </a:cxn>
                <a:cxn ang="0">
                  <a:pos x="14" y="92"/>
                </a:cxn>
                <a:cxn ang="0">
                  <a:pos x="14" y="113"/>
                </a:cxn>
                <a:cxn ang="0">
                  <a:pos x="21" y="120"/>
                </a:cxn>
                <a:cxn ang="0">
                  <a:pos x="42" y="127"/>
                </a:cxn>
                <a:cxn ang="0">
                  <a:pos x="49" y="127"/>
                </a:cxn>
                <a:cxn ang="0">
                  <a:pos x="63" y="113"/>
                </a:cxn>
                <a:cxn ang="0">
                  <a:pos x="70" y="99"/>
                </a:cxn>
                <a:cxn ang="0">
                  <a:pos x="70" y="127"/>
                </a:cxn>
                <a:cxn ang="0">
                  <a:pos x="70" y="127"/>
                </a:cxn>
                <a:cxn ang="0">
                  <a:pos x="91" y="120"/>
                </a:cxn>
                <a:cxn ang="0">
                  <a:pos x="106" y="113"/>
                </a:cxn>
                <a:cxn ang="0">
                  <a:pos x="106" y="106"/>
                </a:cxn>
              </a:cxnLst>
              <a:rect l="txL" t="txT" r="txR" b="txB"/>
              <a:pathLst>
                <a:path w="106" h="127">
                  <a:moveTo>
                    <a:pt x="106" y="106"/>
                  </a:moveTo>
                  <a:lnTo>
                    <a:pt x="91" y="106"/>
                  </a:lnTo>
                  <a:lnTo>
                    <a:pt x="91" y="92"/>
                  </a:lnTo>
                  <a:lnTo>
                    <a:pt x="91" y="0"/>
                  </a:lnTo>
                  <a:lnTo>
                    <a:pt x="56" y="0"/>
                  </a:lnTo>
                  <a:lnTo>
                    <a:pt x="56" y="7"/>
                  </a:lnTo>
                  <a:lnTo>
                    <a:pt x="70" y="14"/>
                  </a:lnTo>
                  <a:lnTo>
                    <a:pt x="70" y="22"/>
                  </a:lnTo>
                  <a:lnTo>
                    <a:pt x="70" y="85"/>
                  </a:lnTo>
                  <a:lnTo>
                    <a:pt x="70" y="92"/>
                  </a:lnTo>
                  <a:lnTo>
                    <a:pt x="70" y="99"/>
                  </a:lnTo>
                  <a:lnTo>
                    <a:pt x="63" y="106"/>
                  </a:lnTo>
                  <a:lnTo>
                    <a:pt x="49" y="113"/>
                  </a:lnTo>
                  <a:lnTo>
                    <a:pt x="42" y="113"/>
                  </a:lnTo>
                  <a:lnTo>
                    <a:pt x="35" y="106"/>
                  </a:lnTo>
                  <a:lnTo>
                    <a:pt x="35" y="99"/>
                  </a:lnTo>
                  <a:lnTo>
                    <a:pt x="35" y="92"/>
                  </a:lnTo>
                  <a:lnTo>
                    <a:pt x="35" y="0"/>
                  </a:lnTo>
                  <a:lnTo>
                    <a:pt x="0" y="0"/>
                  </a:lnTo>
                  <a:lnTo>
                    <a:pt x="0" y="7"/>
                  </a:lnTo>
                  <a:lnTo>
                    <a:pt x="7" y="7"/>
                  </a:lnTo>
                  <a:lnTo>
                    <a:pt x="14" y="22"/>
                  </a:lnTo>
                  <a:lnTo>
                    <a:pt x="14" y="92"/>
                  </a:lnTo>
                  <a:lnTo>
                    <a:pt x="14" y="113"/>
                  </a:lnTo>
                  <a:lnTo>
                    <a:pt x="21" y="120"/>
                  </a:lnTo>
                  <a:lnTo>
                    <a:pt x="42" y="127"/>
                  </a:lnTo>
                  <a:lnTo>
                    <a:pt x="49" y="127"/>
                  </a:lnTo>
                  <a:lnTo>
                    <a:pt x="63" y="113"/>
                  </a:lnTo>
                  <a:lnTo>
                    <a:pt x="70" y="99"/>
                  </a:lnTo>
                  <a:lnTo>
                    <a:pt x="70" y="127"/>
                  </a:lnTo>
                  <a:lnTo>
                    <a:pt x="91" y="120"/>
                  </a:lnTo>
                  <a:lnTo>
                    <a:pt x="106" y="113"/>
                  </a:lnTo>
                  <a:lnTo>
                    <a:pt x="106" y="10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8" name="Freeform 1070"/>
            <p:cNvSpPr>
              <a:spLocks noChangeAspect="1"/>
            </p:cNvSpPr>
            <p:nvPr/>
          </p:nvSpPr>
          <p:spPr>
            <a:xfrm>
              <a:off x="3146" y="710"/>
              <a:ext cx="70" cy="120"/>
            </a:xfrm>
            <a:custGeom>
              <a:avLst/>
              <a:gdLst>
                <a:gd name="txL" fmla="*/ 0 w 70"/>
                <a:gd name="txT" fmla="*/ 0 h 120"/>
                <a:gd name="txR" fmla="*/ 70 w 70"/>
                <a:gd name="txB" fmla="*/ 120 h 120"/>
              </a:gdLst>
              <a:ahLst/>
              <a:cxnLst>
                <a:cxn ang="0">
                  <a:pos x="14" y="99"/>
                </a:cxn>
                <a:cxn ang="0">
                  <a:pos x="7" y="113"/>
                </a:cxn>
                <a:cxn ang="0">
                  <a:pos x="0" y="120"/>
                </a:cxn>
                <a:cxn ang="0">
                  <a:pos x="0" y="120"/>
                </a:cxn>
                <a:cxn ang="0">
                  <a:pos x="49" y="120"/>
                </a:cxn>
                <a:cxn ang="0">
                  <a:pos x="49" y="120"/>
                </a:cxn>
                <a:cxn ang="0">
                  <a:pos x="35" y="120"/>
                </a:cxn>
                <a:cxn ang="0">
                  <a:pos x="28" y="113"/>
                </a:cxn>
                <a:cxn ang="0">
                  <a:pos x="28" y="99"/>
                </a:cxn>
                <a:cxn ang="0">
                  <a:pos x="28" y="36"/>
                </a:cxn>
                <a:cxn ang="0">
                  <a:pos x="35" y="22"/>
                </a:cxn>
                <a:cxn ang="0">
                  <a:pos x="49" y="14"/>
                </a:cxn>
                <a:cxn ang="0">
                  <a:pos x="56" y="22"/>
                </a:cxn>
                <a:cxn ang="0">
                  <a:pos x="63" y="29"/>
                </a:cxn>
                <a:cxn ang="0">
                  <a:pos x="70" y="22"/>
                </a:cxn>
                <a:cxn ang="0">
                  <a:pos x="70" y="14"/>
                </a:cxn>
                <a:cxn ang="0">
                  <a:pos x="63" y="7"/>
                </a:cxn>
                <a:cxn ang="0">
                  <a:pos x="56" y="0"/>
                </a:cxn>
                <a:cxn ang="0">
                  <a:pos x="42" y="7"/>
                </a:cxn>
                <a:cxn ang="0">
                  <a:pos x="28" y="22"/>
                </a:cxn>
                <a:cxn ang="0">
                  <a:pos x="28" y="22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14" y="7"/>
                </a:cxn>
                <a:cxn ang="0">
                  <a:pos x="0" y="14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7" y="14"/>
                </a:cxn>
                <a:cxn ang="0">
                  <a:pos x="14" y="22"/>
                </a:cxn>
                <a:cxn ang="0">
                  <a:pos x="14" y="36"/>
                </a:cxn>
                <a:cxn ang="0">
                  <a:pos x="14" y="99"/>
                </a:cxn>
              </a:cxnLst>
              <a:rect l="txL" t="txT" r="txR" b="txB"/>
              <a:pathLst>
                <a:path w="70" h="120">
                  <a:moveTo>
                    <a:pt x="14" y="99"/>
                  </a:moveTo>
                  <a:lnTo>
                    <a:pt x="7" y="113"/>
                  </a:lnTo>
                  <a:lnTo>
                    <a:pt x="0" y="120"/>
                  </a:lnTo>
                  <a:lnTo>
                    <a:pt x="49" y="120"/>
                  </a:lnTo>
                  <a:lnTo>
                    <a:pt x="35" y="120"/>
                  </a:lnTo>
                  <a:lnTo>
                    <a:pt x="28" y="113"/>
                  </a:lnTo>
                  <a:lnTo>
                    <a:pt x="28" y="99"/>
                  </a:lnTo>
                  <a:lnTo>
                    <a:pt x="28" y="36"/>
                  </a:lnTo>
                  <a:lnTo>
                    <a:pt x="35" y="22"/>
                  </a:lnTo>
                  <a:lnTo>
                    <a:pt x="49" y="14"/>
                  </a:lnTo>
                  <a:lnTo>
                    <a:pt x="56" y="22"/>
                  </a:lnTo>
                  <a:lnTo>
                    <a:pt x="63" y="29"/>
                  </a:lnTo>
                  <a:lnTo>
                    <a:pt x="70" y="22"/>
                  </a:lnTo>
                  <a:lnTo>
                    <a:pt x="70" y="14"/>
                  </a:lnTo>
                  <a:lnTo>
                    <a:pt x="63" y="7"/>
                  </a:lnTo>
                  <a:lnTo>
                    <a:pt x="56" y="0"/>
                  </a:lnTo>
                  <a:lnTo>
                    <a:pt x="42" y="7"/>
                  </a:lnTo>
                  <a:lnTo>
                    <a:pt x="28" y="22"/>
                  </a:lnTo>
                  <a:lnTo>
                    <a:pt x="28" y="0"/>
                  </a:lnTo>
                  <a:lnTo>
                    <a:pt x="14" y="7"/>
                  </a:lnTo>
                  <a:lnTo>
                    <a:pt x="0" y="14"/>
                  </a:lnTo>
                  <a:lnTo>
                    <a:pt x="0" y="22"/>
                  </a:lnTo>
                  <a:lnTo>
                    <a:pt x="7" y="14"/>
                  </a:lnTo>
                  <a:lnTo>
                    <a:pt x="14" y="22"/>
                  </a:lnTo>
                  <a:lnTo>
                    <a:pt x="14" y="36"/>
                  </a:lnTo>
                  <a:lnTo>
                    <a:pt x="14" y="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9" name="Freeform 1071"/>
            <p:cNvSpPr>
              <a:spLocks noChangeAspect="1"/>
            </p:cNvSpPr>
            <p:nvPr/>
          </p:nvSpPr>
          <p:spPr>
            <a:xfrm>
              <a:off x="3216" y="710"/>
              <a:ext cx="70" cy="120"/>
            </a:xfrm>
            <a:custGeom>
              <a:avLst/>
              <a:gdLst>
                <a:gd name="txL" fmla="*/ 0 w 70"/>
                <a:gd name="txT" fmla="*/ 0 h 120"/>
                <a:gd name="txR" fmla="*/ 70 w 70"/>
                <a:gd name="txB" fmla="*/ 120 h 120"/>
              </a:gdLst>
              <a:ahLst/>
              <a:cxnLst>
                <a:cxn ang="0">
                  <a:pos x="14" y="99"/>
                </a:cxn>
                <a:cxn ang="0">
                  <a:pos x="14" y="113"/>
                </a:cxn>
                <a:cxn ang="0">
                  <a:pos x="0" y="120"/>
                </a:cxn>
                <a:cxn ang="0">
                  <a:pos x="0" y="120"/>
                </a:cxn>
                <a:cxn ang="0">
                  <a:pos x="49" y="120"/>
                </a:cxn>
                <a:cxn ang="0">
                  <a:pos x="49" y="120"/>
                </a:cxn>
                <a:cxn ang="0">
                  <a:pos x="42" y="120"/>
                </a:cxn>
                <a:cxn ang="0">
                  <a:pos x="35" y="113"/>
                </a:cxn>
                <a:cxn ang="0">
                  <a:pos x="35" y="99"/>
                </a:cxn>
                <a:cxn ang="0">
                  <a:pos x="35" y="36"/>
                </a:cxn>
                <a:cxn ang="0">
                  <a:pos x="42" y="22"/>
                </a:cxn>
                <a:cxn ang="0">
                  <a:pos x="49" y="14"/>
                </a:cxn>
                <a:cxn ang="0">
                  <a:pos x="56" y="22"/>
                </a:cxn>
                <a:cxn ang="0">
                  <a:pos x="63" y="29"/>
                </a:cxn>
                <a:cxn ang="0">
                  <a:pos x="70" y="22"/>
                </a:cxn>
                <a:cxn ang="0">
                  <a:pos x="70" y="14"/>
                </a:cxn>
                <a:cxn ang="0">
                  <a:pos x="70" y="7"/>
                </a:cxn>
                <a:cxn ang="0">
                  <a:pos x="63" y="0"/>
                </a:cxn>
                <a:cxn ang="0">
                  <a:pos x="49" y="7"/>
                </a:cxn>
                <a:cxn ang="0">
                  <a:pos x="35" y="22"/>
                </a:cxn>
                <a:cxn ang="0">
                  <a:pos x="35" y="22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21" y="7"/>
                </a:cxn>
                <a:cxn ang="0">
                  <a:pos x="0" y="14"/>
                </a:cxn>
                <a:cxn ang="0">
                  <a:pos x="0" y="22"/>
                </a:cxn>
                <a:cxn ang="0">
                  <a:pos x="7" y="22"/>
                </a:cxn>
                <a:cxn ang="0">
                  <a:pos x="7" y="14"/>
                </a:cxn>
                <a:cxn ang="0">
                  <a:pos x="14" y="22"/>
                </a:cxn>
                <a:cxn ang="0">
                  <a:pos x="14" y="36"/>
                </a:cxn>
                <a:cxn ang="0">
                  <a:pos x="14" y="99"/>
                </a:cxn>
              </a:cxnLst>
              <a:rect l="txL" t="txT" r="txR" b="txB"/>
              <a:pathLst>
                <a:path w="70" h="120">
                  <a:moveTo>
                    <a:pt x="14" y="99"/>
                  </a:moveTo>
                  <a:lnTo>
                    <a:pt x="14" y="113"/>
                  </a:lnTo>
                  <a:lnTo>
                    <a:pt x="0" y="120"/>
                  </a:lnTo>
                  <a:lnTo>
                    <a:pt x="49" y="120"/>
                  </a:lnTo>
                  <a:lnTo>
                    <a:pt x="42" y="120"/>
                  </a:lnTo>
                  <a:lnTo>
                    <a:pt x="35" y="113"/>
                  </a:lnTo>
                  <a:lnTo>
                    <a:pt x="35" y="99"/>
                  </a:lnTo>
                  <a:lnTo>
                    <a:pt x="35" y="36"/>
                  </a:lnTo>
                  <a:lnTo>
                    <a:pt x="42" y="22"/>
                  </a:lnTo>
                  <a:lnTo>
                    <a:pt x="49" y="14"/>
                  </a:lnTo>
                  <a:lnTo>
                    <a:pt x="56" y="22"/>
                  </a:lnTo>
                  <a:lnTo>
                    <a:pt x="63" y="29"/>
                  </a:lnTo>
                  <a:lnTo>
                    <a:pt x="70" y="22"/>
                  </a:lnTo>
                  <a:lnTo>
                    <a:pt x="70" y="14"/>
                  </a:lnTo>
                  <a:lnTo>
                    <a:pt x="70" y="7"/>
                  </a:lnTo>
                  <a:lnTo>
                    <a:pt x="63" y="0"/>
                  </a:lnTo>
                  <a:lnTo>
                    <a:pt x="49" y="7"/>
                  </a:lnTo>
                  <a:lnTo>
                    <a:pt x="35" y="22"/>
                  </a:lnTo>
                  <a:lnTo>
                    <a:pt x="35" y="0"/>
                  </a:lnTo>
                  <a:lnTo>
                    <a:pt x="21" y="7"/>
                  </a:lnTo>
                  <a:lnTo>
                    <a:pt x="0" y="14"/>
                  </a:lnTo>
                  <a:lnTo>
                    <a:pt x="0" y="22"/>
                  </a:lnTo>
                  <a:lnTo>
                    <a:pt x="7" y="22"/>
                  </a:lnTo>
                  <a:lnTo>
                    <a:pt x="7" y="14"/>
                  </a:lnTo>
                  <a:lnTo>
                    <a:pt x="14" y="22"/>
                  </a:lnTo>
                  <a:lnTo>
                    <a:pt x="14" y="36"/>
                  </a:lnTo>
                  <a:lnTo>
                    <a:pt x="14" y="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0" name="Freeform 1072"/>
            <p:cNvSpPr>
              <a:spLocks noChangeAspect="1" noEditPoints="1"/>
            </p:cNvSpPr>
            <p:nvPr/>
          </p:nvSpPr>
          <p:spPr>
            <a:xfrm>
              <a:off x="3293" y="710"/>
              <a:ext cx="92" cy="127"/>
            </a:xfrm>
            <a:custGeom>
              <a:avLst/>
              <a:gdLst>
                <a:gd name="txL" fmla="*/ 0 w 92"/>
                <a:gd name="txT" fmla="*/ 0 h 127"/>
                <a:gd name="txR" fmla="*/ 92 w 92"/>
                <a:gd name="txB" fmla="*/ 127 h 127"/>
              </a:gdLst>
              <a:ahLst/>
              <a:cxnLst>
                <a:cxn ang="0">
                  <a:pos x="85" y="78"/>
                </a:cxn>
                <a:cxn ang="0">
                  <a:pos x="71" y="99"/>
                </a:cxn>
                <a:cxn ang="0">
                  <a:pos x="50" y="106"/>
                </a:cxn>
                <a:cxn ang="0">
                  <a:pos x="43" y="106"/>
                </a:cxn>
                <a:cxn ang="0">
                  <a:pos x="29" y="99"/>
                </a:cxn>
                <a:cxn ang="0">
                  <a:pos x="22" y="78"/>
                </a:cxn>
                <a:cxn ang="0">
                  <a:pos x="14" y="50"/>
                </a:cxn>
                <a:cxn ang="0">
                  <a:pos x="85" y="50"/>
                </a:cxn>
                <a:cxn ang="0">
                  <a:pos x="85" y="29"/>
                </a:cxn>
                <a:cxn ang="0">
                  <a:pos x="71" y="14"/>
                </a:cxn>
                <a:cxn ang="0">
                  <a:pos x="43" y="0"/>
                </a:cxn>
                <a:cxn ang="0">
                  <a:pos x="29" y="0"/>
                </a:cxn>
                <a:cxn ang="0">
                  <a:pos x="14" y="14"/>
                </a:cxn>
                <a:cxn ang="0">
                  <a:pos x="7" y="36"/>
                </a:cxn>
                <a:cxn ang="0">
                  <a:pos x="0" y="64"/>
                </a:cxn>
                <a:cxn ang="0">
                  <a:pos x="0" y="92"/>
                </a:cxn>
                <a:cxn ang="0">
                  <a:pos x="14" y="113"/>
                </a:cxn>
                <a:cxn ang="0">
                  <a:pos x="22" y="120"/>
                </a:cxn>
                <a:cxn ang="0">
                  <a:pos x="43" y="127"/>
                </a:cxn>
                <a:cxn ang="0">
                  <a:pos x="64" y="120"/>
                </a:cxn>
                <a:cxn ang="0">
                  <a:pos x="78" y="106"/>
                </a:cxn>
                <a:cxn ang="0">
                  <a:pos x="85" y="92"/>
                </a:cxn>
                <a:cxn ang="0">
                  <a:pos x="92" y="78"/>
                </a:cxn>
                <a:cxn ang="0">
                  <a:pos x="85" y="78"/>
                </a:cxn>
                <a:cxn ang="0">
                  <a:pos x="14" y="43"/>
                </a:cxn>
                <a:cxn ang="0">
                  <a:pos x="22" y="29"/>
                </a:cxn>
                <a:cxn ang="0">
                  <a:pos x="29" y="14"/>
                </a:cxn>
                <a:cxn ang="0">
                  <a:pos x="43" y="7"/>
                </a:cxn>
                <a:cxn ang="0">
                  <a:pos x="50" y="14"/>
                </a:cxn>
                <a:cxn ang="0">
                  <a:pos x="57" y="22"/>
                </a:cxn>
                <a:cxn ang="0">
                  <a:pos x="64" y="43"/>
                </a:cxn>
                <a:cxn ang="0">
                  <a:pos x="14" y="43"/>
                </a:cxn>
              </a:cxnLst>
              <a:rect l="txL" t="txT" r="txR" b="txB"/>
              <a:pathLst>
                <a:path w="92" h="127">
                  <a:moveTo>
                    <a:pt x="85" y="78"/>
                  </a:moveTo>
                  <a:lnTo>
                    <a:pt x="71" y="99"/>
                  </a:lnTo>
                  <a:lnTo>
                    <a:pt x="50" y="106"/>
                  </a:lnTo>
                  <a:lnTo>
                    <a:pt x="43" y="106"/>
                  </a:lnTo>
                  <a:lnTo>
                    <a:pt x="29" y="99"/>
                  </a:lnTo>
                  <a:lnTo>
                    <a:pt x="22" y="78"/>
                  </a:lnTo>
                  <a:lnTo>
                    <a:pt x="14" y="50"/>
                  </a:lnTo>
                  <a:lnTo>
                    <a:pt x="85" y="50"/>
                  </a:lnTo>
                  <a:lnTo>
                    <a:pt x="85" y="29"/>
                  </a:lnTo>
                  <a:lnTo>
                    <a:pt x="71" y="14"/>
                  </a:lnTo>
                  <a:lnTo>
                    <a:pt x="43" y="0"/>
                  </a:lnTo>
                  <a:lnTo>
                    <a:pt x="29" y="0"/>
                  </a:lnTo>
                  <a:lnTo>
                    <a:pt x="14" y="14"/>
                  </a:lnTo>
                  <a:lnTo>
                    <a:pt x="7" y="36"/>
                  </a:lnTo>
                  <a:lnTo>
                    <a:pt x="0" y="64"/>
                  </a:lnTo>
                  <a:lnTo>
                    <a:pt x="0" y="92"/>
                  </a:lnTo>
                  <a:lnTo>
                    <a:pt x="14" y="113"/>
                  </a:lnTo>
                  <a:lnTo>
                    <a:pt x="22" y="120"/>
                  </a:lnTo>
                  <a:lnTo>
                    <a:pt x="43" y="127"/>
                  </a:lnTo>
                  <a:lnTo>
                    <a:pt x="64" y="120"/>
                  </a:lnTo>
                  <a:lnTo>
                    <a:pt x="78" y="106"/>
                  </a:lnTo>
                  <a:lnTo>
                    <a:pt x="85" y="92"/>
                  </a:lnTo>
                  <a:lnTo>
                    <a:pt x="92" y="78"/>
                  </a:lnTo>
                  <a:lnTo>
                    <a:pt x="85" y="78"/>
                  </a:lnTo>
                  <a:close/>
                  <a:moveTo>
                    <a:pt x="14" y="43"/>
                  </a:moveTo>
                  <a:lnTo>
                    <a:pt x="22" y="29"/>
                  </a:lnTo>
                  <a:lnTo>
                    <a:pt x="29" y="14"/>
                  </a:lnTo>
                  <a:lnTo>
                    <a:pt x="43" y="7"/>
                  </a:lnTo>
                  <a:lnTo>
                    <a:pt x="50" y="14"/>
                  </a:lnTo>
                  <a:lnTo>
                    <a:pt x="57" y="22"/>
                  </a:lnTo>
                  <a:lnTo>
                    <a:pt x="64" y="43"/>
                  </a:lnTo>
                  <a:lnTo>
                    <a:pt x="14" y="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1" name="Freeform 1073"/>
            <p:cNvSpPr>
              <a:spLocks noChangeAspect="1"/>
            </p:cNvSpPr>
            <p:nvPr/>
          </p:nvSpPr>
          <p:spPr>
            <a:xfrm>
              <a:off x="3392" y="710"/>
              <a:ext cx="99" cy="120"/>
            </a:xfrm>
            <a:custGeom>
              <a:avLst/>
              <a:gdLst>
                <a:gd name="txL" fmla="*/ 0 w 99"/>
                <a:gd name="txT" fmla="*/ 0 h 120"/>
                <a:gd name="txR" fmla="*/ 99 w 99"/>
                <a:gd name="txB" fmla="*/ 120 h 120"/>
              </a:gdLst>
              <a:ahLst/>
              <a:cxnLst>
                <a:cxn ang="0">
                  <a:pos x="14" y="99"/>
                </a:cxn>
                <a:cxn ang="0">
                  <a:pos x="7" y="113"/>
                </a:cxn>
                <a:cxn ang="0">
                  <a:pos x="0" y="120"/>
                </a:cxn>
                <a:cxn ang="0">
                  <a:pos x="0" y="120"/>
                </a:cxn>
                <a:cxn ang="0">
                  <a:pos x="42" y="120"/>
                </a:cxn>
                <a:cxn ang="0">
                  <a:pos x="42" y="120"/>
                </a:cxn>
                <a:cxn ang="0">
                  <a:pos x="35" y="113"/>
                </a:cxn>
                <a:cxn ang="0">
                  <a:pos x="28" y="106"/>
                </a:cxn>
                <a:cxn ang="0">
                  <a:pos x="28" y="29"/>
                </a:cxn>
                <a:cxn ang="0">
                  <a:pos x="42" y="22"/>
                </a:cxn>
                <a:cxn ang="0">
                  <a:pos x="49" y="14"/>
                </a:cxn>
                <a:cxn ang="0">
                  <a:pos x="63" y="22"/>
                </a:cxn>
                <a:cxn ang="0">
                  <a:pos x="70" y="43"/>
                </a:cxn>
                <a:cxn ang="0">
                  <a:pos x="70" y="99"/>
                </a:cxn>
                <a:cxn ang="0">
                  <a:pos x="63" y="113"/>
                </a:cxn>
                <a:cxn ang="0">
                  <a:pos x="56" y="120"/>
                </a:cxn>
                <a:cxn ang="0">
                  <a:pos x="56" y="120"/>
                </a:cxn>
                <a:cxn ang="0">
                  <a:pos x="99" y="120"/>
                </a:cxn>
                <a:cxn ang="0">
                  <a:pos x="99" y="120"/>
                </a:cxn>
                <a:cxn ang="0">
                  <a:pos x="91" y="113"/>
                </a:cxn>
                <a:cxn ang="0">
                  <a:pos x="84" y="99"/>
                </a:cxn>
                <a:cxn ang="0">
                  <a:pos x="84" y="43"/>
                </a:cxn>
                <a:cxn ang="0">
                  <a:pos x="84" y="22"/>
                </a:cxn>
                <a:cxn ang="0">
                  <a:pos x="77" y="7"/>
                </a:cxn>
                <a:cxn ang="0">
                  <a:pos x="63" y="0"/>
                </a:cxn>
                <a:cxn ang="0">
                  <a:pos x="49" y="7"/>
                </a:cxn>
                <a:cxn ang="0">
                  <a:pos x="28" y="22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14" y="7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0" y="14"/>
                </a:cxn>
                <a:cxn ang="0">
                  <a:pos x="7" y="14"/>
                </a:cxn>
                <a:cxn ang="0">
                  <a:pos x="14" y="14"/>
                </a:cxn>
                <a:cxn ang="0">
                  <a:pos x="14" y="22"/>
                </a:cxn>
                <a:cxn ang="0">
                  <a:pos x="14" y="36"/>
                </a:cxn>
                <a:cxn ang="0">
                  <a:pos x="14" y="99"/>
                </a:cxn>
              </a:cxnLst>
              <a:rect l="txL" t="txT" r="txR" b="txB"/>
              <a:pathLst>
                <a:path w="99" h="120">
                  <a:moveTo>
                    <a:pt x="14" y="99"/>
                  </a:moveTo>
                  <a:lnTo>
                    <a:pt x="7" y="113"/>
                  </a:lnTo>
                  <a:lnTo>
                    <a:pt x="0" y="120"/>
                  </a:lnTo>
                  <a:lnTo>
                    <a:pt x="42" y="120"/>
                  </a:lnTo>
                  <a:lnTo>
                    <a:pt x="35" y="113"/>
                  </a:lnTo>
                  <a:lnTo>
                    <a:pt x="28" y="106"/>
                  </a:lnTo>
                  <a:lnTo>
                    <a:pt x="28" y="29"/>
                  </a:lnTo>
                  <a:lnTo>
                    <a:pt x="42" y="22"/>
                  </a:lnTo>
                  <a:lnTo>
                    <a:pt x="49" y="14"/>
                  </a:lnTo>
                  <a:lnTo>
                    <a:pt x="63" y="22"/>
                  </a:lnTo>
                  <a:lnTo>
                    <a:pt x="70" y="43"/>
                  </a:lnTo>
                  <a:lnTo>
                    <a:pt x="70" y="99"/>
                  </a:lnTo>
                  <a:lnTo>
                    <a:pt x="63" y="113"/>
                  </a:lnTo>
                  <a:lnTo>
                    <a:pt x="56" y="120"/>
                  </a:lnTo>
                  <a:lnTo>
                    <a:pt x="99" y="120"/>
                  </a:lnTo>
                  <a:lnTo>
                    <a:pt x="91" y="113"/>
                  </a:lnTo>
                  <a:lnTo>
                    <a:pt x="84" y="99"/>
                  </a:lnTo>
                  <a:lnTo>
                    <a:pt x="84" y="43"/>
                  </a:lnTo>
                  <a:lnTo>
                    <a:pt x="84" y="22"/>
                  </a:lnTo>
                  <a:lnTo>
                    <a:pt x="77" y="7"/>
                  </a:lnTo>
                  <a:lnTo>
                    <a:pt x="63" y="0"/>
                  </a:lnTo>
                  <a:lnTo>
                    <a:pt x="49" y="7"/>
                  </a:lnTo>
                  <a:lnTo>
                    <a:pt x="28" y="22"/>
                  </a:lnTo>
                  <a:lnTo>
                    <a:pt x="28" y="0"/>
                  </a:lnTo>
                  <a:lnTo>
                    <a:pt x="14" y="7"/>
                  </a:lnTo>
                  <a:lnTo>
                    <a:pt x="0" y="14"/>
                  </a:lnTo>
                  <a:lnTo>
                    <a:pt x="7" y="14"/>
                  </a:lnTo>
                  <a:lnTo>
                    <a:pt x="14" y="14"/>
                  </a:lnTo>
                  <a:lnTo>
                    <a:pt x="14" y="22"/>
                  </a:lnTo>
                  <a:lnTo>
                    <a:pt x="14" y="36"/>
                  </a:lnTo>
                  <a:lnTo>
                    <a:pt x="14" y="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2" name="Freeform 1074"/>
            <p:cNvSpPr>
              <a:spLocks noChangeAspect="1"/>
            </p:cNvSpPr>
            <p:nvPr/>
          </p:nvSpPr>
          <p:spPr>
            <a:xfrm>
              <a:off x="3498" y="682"/>
              <a:ext cx="63" cy="155"/>
            </a:xfrm>
            <a:custGeom>
              <a:avLst/>
              <a:gdLst>
                <a:gd name="txL" fmla="*/ 0 w 63"/>
                <a:gd name="txT" fmla="*/ 0 h 155"/>
                <a:gd name="txR" fmla="*/ 63 w 63"/>
                <a:gd name="txB" fmla="*/ 155 h 155"/>
              </a:gdLst>
              <a:ahLst/>
              <a:cxnLst>
                <a:cxn ang="0">
                  <a:pos x="56" y="28"/>
                </a:cxn>
                <a:cxn ang="0">
                  <a:pos x="35" y="28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28" y="0"/>
                </a:cxn>
                <a:cxn ang="0">
                  <a:pos x="21" y="14"/>
                </a:cxn>
                <a:cxn ang="0">
                  <a:pos x="14" y="28"/>
                </a:cxn>
                <a:cxn ang="0">
                  <a:pos x="7" y="35"/>
                </a:cxn>
                <a:cxn ang="0">
                  <a:pos x="0" y="35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4" y="42"/>
                </a:cxn>
                <a:cxn ang="0">
                  <a:pos x="14" y="120"/>
                </a:cxn>
                <a:cxn ang="0">
                  <a:pos x="14" y="141"/>
                </a:cxn>
                <a:cxn ang="0">
                  <a:pos x="21" y="148"/>
                </a:cxn>
                <a:cxn ang="0">
                  <a:pos x="35" y="155"/>
                </a:cxn>
                <a:cxn ang="0">
                  <a:pos x="49" y="148"/>
                </a:cxn>
                <a:cxn ang="0">
                  <a:pos x="63" y="134"/>
                </a:cxn>
                <a:cxn ang="0">
                  <a:pos x="56" y="127"/>
                </a:cxn>
                <a:cxn ang="0">
                  <a:pos x="49" y="134"/>
                </a:cxn>
                <a:cxn ang="0">
                  <a:pos x="42" y="141"/>
                </a:cxn>
                <a:cxn ang="0">
                  <a:pos x="35" y="134"/>
                </a:cxn>
                <a:cxn ang="0">
                  <a:pos x="35" y="113"/>
                </a:cxn>
                <a:cxn ang="0">
                  <a:pos x="35" y="42"/>
                </a:cxn>
                <a:cxn ang="0">
                  <a:pos x="56" y="42"/>
                </a:cxn>
                <a:cxn ang="0">
                  <a:pos x="56" y="28"/>
                </a:cxn>
              </a:cxnLst>
              <a:rect l="txL" t="txT" r="txR" b="txB"/>
              <a:pathLst>
                <a:path w="63" h="155">
                  <a:moveTo>
                    <a:pt x="56" y="28"/>
                  </a:moveTo>
                  <a:lnTo>
                    <a:pt x="35" y="28"/>
                  </a:lnTo>
                  <a:lnTo>
                    <a:pt x="35" y="0"/>
                  </a:lnTo>
                  <a:lnTo>
                    <a:pt x="28" y="0"/>
                  </a:lnTo>
                  <a:lnTo>
                    <a:pt x="21" y="14"/>
                  </a:lnTo>
                  <a:lnTo>
                    <a:pt x="14" y="28"/>
                  </a:lnTo>
                  <a:lnTo>
                    <a:pt x="7" y="35"/>
                  </a:lnTo>
                  <a:lnTo>
                    <a:pt x="0" y="35"/>
                  </a:lnTo>
                  <a:lnTo>
                    <a:pt x="0" y="42"/>
                  </a:lnTo>
                  <a:lnTo>
                    <a:pt x="14" y="42"/>
                  </a:lnTo>
                  <a:lnTo>
                    <a:pt x="14" y="120"/>
                  </a:lnTo>
                  <a:lnTo>
                    <a:pt x="14" y="141"/>
                  </a:lnTo>
                  <a:lnTo>
                    <a:pt x="21" y="148"/>
                  </a:lnTo>
                  <a:lnTo>
                    <a:pt x="35" y="155"/>
                  </a:lnTo>
                  <a:lnTo>
                    <a:pt x="49" y="148"/>
                  </a:lnTo>
                  <a:lnTo>
                    <a:pt x="63" y="134"/>
                  </a:lnTo>
                  <a:lnTo>
                    <a:pt x="56" y="127"/>
                  </a:lnTo>
                  <a:lnTo>
                    <a:pt x="49" y="134"/>
                  </a:lnTo>
                  <a:lnTo>
                    <a:pt x="42" y="141"/>
                  </a:lnTo>
                  <a:lnTo>
                    <a:pt x="35" y="134"/>
                  </a:lnTo>
                  <a:lnTo>
                    <a:pt x="35" y="113"/>
                  </a:lnTo>
                  <a:lnTo>
                    <a:pt x="35" y="42"/>
                  </a:lnTo>
                  <a:lnTo>
                    <a:pt x="56" y="42"/>
                  </a:lnTo>
                  <a:lnTo>
                    <a:pt x="56" y="2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3" name="Freeform 1075"/>
            <p:cNvSpPr>
              <a:spLocks noChangeAspect="1"/>
            </p:cNvSpPr>
            <p:nvPr/>
          </p:nvSpPr>
          <p:spPr>
            <a:xfrm>
              <a:off x="4216" y="2488"/>
              <a:ext cx="133" cy="176"/>
            </a:xfrm>
            <a:custGeom>
              <a:avLst/>
              <a:gdLst>
                <a:gd name="txL" fmla="*/ 0 w 133"/>
                <a:gd name="txT" fmla="*/ 0 h 176"/>
                <a:gd name="txR" fmla="*/ 133 w 133"/>
                <a:gd name="txB" fmla="*/ 176 h 176"/>
              </a:gdLst>
              <a:ahLst/>
              <a:cxnLst>
                <a:cxn ang="0">
                  <a:pos x="63" y="0"/>
                </a:cxn>
                <a:cxn ang="0">
                  <a:pos x="0" y="0"/>
                </a:cxn>
                <a:cxn ang="0">
                  <a:pos x="0" y="7"/>
                </a:cxn>
                <a:cxn ang="0">
                  <a:pos x="14" y="14"/>
                </a:cxn>
                <a:cxn ang="0">
                  <a:pos x="21" y="28"/>
                </a:cxn>
                <a:cxn ang="0">
                  <a:pos x="21" y="148"/>
                </a:cxn>
                <a:cxn ang="0">
                  <a:pos x="21" y="162"/>
                </a:cxn>
                <a:cxn ang="0">
                  <a:pos x="14" y="169"/>
                </a:cxn>
                <a:cxn ang="0">
                  <a:pos x="0" y="176"/>
                </a:cxn>
                <a:cxn ang="0">
                  <a:pos x="0" y="176"/>
                </a:cxn>
                <a:cxn ang="0">
                  <a:pos x="119" y="176"/>
                </a:cxn>
                <a:cxn ang="0">
                  <a:pos x="133" y="134"/>
                </a:cxn>
                <a:cxn ang="0">
                  <a:pos x="126" y="134"/>
                </a:cxn>
                <a:cxn ang="0">
                  <a:pos x="112" y="155"/>
                </a:cxn>
                <a:cxn ang="0">
                  <a:pos x="105" y="162"/>
                </a:cxn>
                <a:cxn ang="0">
                  <a:pos x="84" y="169"/>
                </a:cxn>
                <a:cxn ang="0">
                  <a:pos x="63" y="169"/>
                </a:cxn>
                <a:cxn ang="0">
                  <a:pos x="49" y="169"/>
                </a:cxn>
                <a:cxn ang="0">
                  <a:pos x="42" y="155"/>
                </a:cxn>
                <a:cxn ang="0">
                  <a:pos x="42" y="28"/>
                </a:cxn>
                <a:cxn ang="0">
                  <a:pos x="49" y="14"/>
                </a:cxn>
                <a:cxn ang="0">
                  <a:pos x="63" y="7"/>
                </a:cxn>
                <a:cxn ang="0">
                  <a:pos x="63" y="0"/>
                </a:cxn>
              </a:cxnLst>
              <a:rect l="txL" t="txT" r="txR" b="txB"/>
              <a:pathLst>
                <a:path w="133" h="176">
                  <a:moveTo>
                    <a:pt x="63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14" y="14"/>
                  </a:lnTo>
                  <a:lnTo>
                    <a:pt x="21" y="28"/>
                  </a:lnTo>
                  <a:lnTo>
                    <a:pt x="21" y="148"/>
                  </a:lnTo>
                  <a:lnTo>
                    <a:pt x="21" y="162"/>
                  </a:lnTo>
                  <a:lnTo>
                    <a:pt x="14" y="169"/>
                  </a:lnTo>
                  <a:lnTo>
                    <a:pt x="0" y="176"/>
                  </a:lnTo>
                  <a:lnTo>
                    <a:pt x="119" y="176"/>
                  </a:lnTo>
                  <a:lnTo>
                    <a:pt x="133" y="134"/>
                  </a:lnTo>
                  <a:lnTo>
                    <a:pt x="126" y="134"/>
                  </a:lnTo>
                  <a:lnTo>
                    <a:pt x="112" y="155"/>
                  </a:lnTo>
                  <a:lnTo>
                    <a:pt x="105" y="162"/>
                  </a:lnTo>
                  <a:lnTo>
                    <a:pt x="84" y="169"/>
                  </a:lnTo>
                  <a:lnTo>
                    <a:pt x="63" y="169"/>
                  </a:lnTo>
                  <a:lnTo>
                    <a:pt x="49" y="169"/>
                  </a:lnTo>
                  <a:lnTo>
                    <a:pt x="42" y="155"/>
                  </a:lnTo>
                  <a:lnTo>
                    <a:pt x="42" y="28"/>
                  </a:lnTo>
                  <a:lnTo>
                    <a:pt x="49" y="14"/>
                  </a:lnTo>
                  <a:lnTo>
                    <a:pt x="63" y="7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4" name="Freeform 1076"/>
            <p:cNvSpPr>
              <a:spLocks noChangeAspect="1" noEditPoints="1"/>
            </p:cNvSpPr>
            <p:nvPr/>
          </p:nvSpPr>
          <p:spPr>
            <a:xfrm>
              <a:off x="4357" y="2545"/>
              <a:ext cx="91" cy="126"/>
            </a:xfrm>
            <a:custGeom>
              <a:avLst/>
              <a:gdLst>
                <a:gd name="txL" fmla="*/ 0 w 91"/>
                <a:gd name="txT" fmla="*/ 0 h 126"/>
                <a:gd name="txR" fmla="*/ 91 w 91"/>
                <a:gd name="txB" fmla="*/ 126 h 126"/>
              </a:gdLst>
              <a:ahLst/>
              <a:cxnLst>
                <a:cxn ang="0">
                  <a:pos x="56" y="91"/>
                </a:cxn>
                <a:cxn ang="0">
                  <a:pos x="56" y="98"/>
                </a:cxn>
                <a:cxn ang="0">
                  <a:pos x="49" y="105"/>
                </a:cxn>
                <a:cxn ang="0">
                  <a:pos x="42" y="112"/>
                </a:cxn>
                <a:cxn ang="0">
                  <a:pos x="35" y="112"/>
                </a:cxn>
                <a:cxn ang="0">
                  <a:pos x="28" y="105"/>
                </a:cxn>
                <a:cxn ang="0">
                  <a:pos x="21" y="91"/>
                </a:cxn>
                <a:cxn ang="0">
                  <a:pos x="21" y="84"/>
                </a:cxn>
                <a:cxn ang="0">
                  <a:pos x="28" y="70"/>
                </a:cxn>
                <a:cxn ang="0">
                  <a:pos x="35" y="63"/>
                </a:cxn>
                <a:cxn ang="0">
                  <a:pos x="56" y="49"/>
                </a:cxn>
                <a:cxn ang="0">
                  <a:pos x="56" y="91"/>
                </a:cxn>
                <a:cxn ang="0">
                  <a:pos x="91" y="105"/>
                </a:cxn>
                <a:cxn ang="0">
                  <a:pos x="91" y="112"/>
                </a:cxn>
                <a:cxn ang="0">
                  <a:pos x="84" y="112"/>
                </a:cxn>
                <a:cxn ang="0">
                  <a:pos x="77" y="105"/>
                </a:cxn>
                <a:cxn ang="0">
                  <a:pos x="77" y="91"/>
                </a:cxn>
                <a:cxn ang="0">
                  <a:pos x="77" y="42"/>
                </a:cxn>
                <a:cxn ang="0">
                  <a:pos x="70" y="14"/>
                </a:cxn>
                <a:cxn ang="0">
                  <a:pos x="63" y="7"/>
                </a:cxn>
                <a:cxn ang="0">
                  <a:pos x="42" y="0"/>
                </a:cxn>
                <a:cxn ang="0">
                  <a:pos x="28" y="7"/>
                </a:cxn>
                <a:cxn ang="0">
                  <a:pos x="14" y="14"/>
                </a:cxn>
                <a:cxn ang="0">
                  <a:pos x="7" y="28"/>
                </a:cxn>
                <a:cxn ang="0">
                  <a:pos x="7" y="35"/>
                </a:cxn>
                <a:cxn ang="0">
                  <a:pos x="14" y="42"/>
                </a:cxn>
                <a:cxn ang="0">
                  <a:pos x="21" y="35"/>
                </a:cxn>
                <a:cxn ang="0">
                  <a:pos x="28" y="28"/>
                </a:cxn>
                <a:cxn ang="0">
                  <a:pos x="28" y="28"/>
                </a:cxn>
                <a:cxn ang="0">
                  <a:pos x="21" y="21"/>
                </a:cxn>
                <a:cxn ang="0">
                  <a:pos x="28" y="14"/>
                </a:cxn>
                <a:cxn ang="0">
                  <a:pos x="42" y="7"/>
                </a:cxn>
                <a:cxn ang="0">
                  <a:pos x="49" y="7"/>
                </a:cxn>
                <a:cxn ang="0">
                  <a:pos x="56" y="14"/>
                </a:cxn>
                <a:cxn ang="0">
                  <a:pos x="56" y="28"/>
                </a:cxn>
                <a:cxn ang="0">
                  <a:pos x="56" y="42"/>
                </a:cxn>
                <a:cxn ang="0">
                  <a:pos x="14" y="70"/>
                </a:cxn>
                <a:cxn ang="0">
                  <a:pos x="7" y="84"/>
                </a:cxn>
                <a:cxn ang="0">
                  <a:pos x="0" y="98"/>
                </a:cxn>
                <a:cxn ang="0">
                  <a:pos x="7" y="119"/>
                </a:cxn>
                <a:cxn ang="0">
                  <a:pos x="28" y="126"/>
                </a:cxn>
                <a:cxn ang="0">
                  <a:pos x="42" y="119"/>
                </a:cxn>
                <a:cxn ang="0">
                  <a:pos x="56" y="105"/>
                </a:cxn>
                <a:cxn ang="0">
                  <a:pos x="56" y="119"/>
                </a:cxn>
                <a:cxn ang="0">
                  <a:pos x="63" y="126"/>
                </a:cxn>
                <a:cxn ang="0">
                  <a:pos x="70" y="126"/>
                </a:cxn>
                <a:cxn ang="0">
                  <a:pos x="84" y="126"/>
                </a:cxn>
                <a:cxn ang="0">
                  <a:pos x="91" y="112"/>
                </a:cxn>
                <a:cxn ang="0">
                  <a:pos x="91" y="105"/>
                </a:cxn>
              </a:cxnLst>
              <a:rect l="txL" t="txT" r="txR" b="txB"/>
              <a:pathLst>
                <a:path w="91" h="126">
                  <a:moveTo>
                    <a:pt x="56" y="91"/>
                  </a:moveTo>
                  <a:lnTo>
                    <a:pt x="56" y="98"/>
                  </a:lnTo>
                  <a:lnTo>
                    <a:pt x="49" y="105"/>
                  </a:lnTo>
                  <a:lnTo>
                    <a:pt x="42" y="112"/>
                  </a:lnTo>
                  <a:lnTo>
                    <a:pt x="35" y="112"/>
                  </a:lnTo>
                  <a:lnTo>
                    <a:pt x="28" y="105"/>
                  </a:lnTo>
                  <a:lnTo>
                    <a:pt x="21" y="91"/>
                  </a:lnTo>
                  <a:lnTo>
                    <a:pt x="21" y="84"/>
                  </a:lnTo>
                  <a:lnTo>
                    <a:pt x="28" y="70"/>
                  </a:lnTo>
                  <a:lnTo>
                    <a:pt x="35" y="63"/>
                  </a:lnTo>
                  <a:lnTo>
                    <a:pt x="56" y="49"/>
                  </a:lnTo>
                  <a:lnTo>
                    <a:pt x="56" y="91"/>
                  </a:lnTo>
                  <a:close/>
                  <a:moveTo>
                    <a:pt x="91" y="105"/>
                  </a:moveTo>
                  <a:lnTo>
                    <a:pt x="91" y="112"/>
                  </a:lnTo>
                  <a:lnTo>
                    <a:pt x="84" y="112"/>
                  </a:lnTo>
                  <a:lnTo>
                    <a:pt x="77" y="105"/>
                  </a:lnTo>
                  <a:lnTo>
                    <a:pt x="77" y="91"/>
                  </a:lnTo>
                  <a:lnTo>
                    <a:pt x="77" y="42"/>
                  </a:lnTo>
                  <a:lnTo>
                    <a:pt x="70" y="14"/>
                  </a:lnTo>
                  <a:lnTo>
                    <a:pt x="63" y="7"/>
                  </a:lnTo>
                  <a:lnTo>
                    <a:pt x="42" y="0"/>
                  </a:lnTo>
                  <a:lnTo>
                    <a:pt x="28" y="7"/>
                  </a:lnTo>
                  <a:lnTo>
                    <a:pt x="14" y="14"/>
                  </a:lnTo>
                  <a:lnTo>
                    <a:pt x="7" y="28"/>
                  </a:lnTo>
                  <a:lnTo>
                    <a:pt x="7" y="35"/>
                  </a:lnTo>
                  <a:lnTo>
                    <a:pt x="14" y="42"/>
                  </a:lnTo>
                  <a:lnTo>
                    <a:pt x="21" y="35"/>
                  </a:lnTo>
                  <a:lnTo>
                    <a:pt x="28" y="28"/>
                  </a:lnTo>
                  <a:lnTo>
                    <a:pt x="21" y="21"/>
                  </a:lnTo>
                  <a:lnTo>
                    <a:pt x="28" y="14"/>
                  </a:lnTo>
                  <a:lnTo>
                    <a:pt x="42" y="7"/>
                  </a:lnTo>
                  <a:lnTo>
                    <a:pt x="49" y="7"/>
                  </a:lnTo>
                  <a:lnTo>
                    <a:pt x="56" y="14"/>
                  </a:lnTo>
                  <a:lnTo>
                    <a:pt x="56" y="28"/>
                  </a:lnTo>
                  <a:lnTo>
                    <a:pt x="56" y="42"/>
                  </a:lnTo>
                  <a:lnTo>
                    <a:pt x="14" y="70"/>
                  </a:lnTo>
                  <a:lnTo>
                    <a:pt x="7" y="84"/>
                  </a:lnTo>
                  <a:lnTo>
                    <a:pt x="0" y="98"/>
                  </a:lnTo>
                  <a:lnTo>
                    <a:pt x="7" y="119"/>
                  </a:lnTo>
                  <a:lnTo>
                    <a:pt x="28" y="126"/>
                  </a:lnTo>
                  <a:lnTo>
                    <a:pt x="42" y="119"/>
                  </a:lnTo>
                  <a:lnTo>
                    <a:pt x="56" y="105"/>
                  </a:lnTo>
                  <a:lnTo>
                    <a:pt x="56" y="119"/>
                  </a:lnTo>
                  <a:lnTo>
                    <a:pt x="63" y="126"/>
                  </a:lnTo>
                  <a:lnTo>
                    <a:pt x="70" y="126"/>
                  </a:lnTo>
                  <a:lnTo>
                    <a:pt x="84" y="126"/>
                  </a:lnTo>
                  <a:lnTo>
                    <a:pt x="91" y="112"/>
                  </a:lnTo>
                  <a:lnTo>
                    <a:pt x="91" y="10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5" name="Freeform 1077"/>
            <p:cNvSpPr>
              <a:spLocks noChangeAspect="1"/>
            </p:cNvSpPr>
            <p:nvPr/>
          </p:nvSpPr>
          <p:spPr>
            <a:xfrm>
              <a:off x="4448" y="2545"/>
              <a:ext cx="169" cy="119"/>
            </a:xfrm>
            <a:custGeom>
              <a:avLst/>
              <a:gdLst>
                <a:gd name="txL" fmla="*/ 0 w 169"/>
                <a:gd name="txT" fmla="*/ 0 h 119"/>
                <a:gd name="txR" fmla="*/ 169 w 169"/>
                <a:gd name="txB" fmla="*/ 119 h 119"/>
              </a:gdLst>
              <a:ahLst/>
              <a:cxnLst>
                <a:cxn ang="0">
                  <a:pos x="21" y="98"/>
                </a:cxn>
                <a:cxn ang="0">
                  <a:pos x="21" y="112"/>
                </a:cxn>
                <a:cxn ang="0">
                  <a:pos x="14" y="119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49" y="119"/>
                </a:cxn>
                <a:cxn ang="0">
                  <a:pos x="49" y="119"/>
                </a:cxn>
                <a:cxn ang="0">
                  <a:pos x="42" y="119"/>
                </a:cxn>
                <a:cxn ang="0">
                  <a:pos x="35" y="105"/>
                </a:cxn>
                <a:cxn ang="0">
                  <a:pos x="35" y="28"/>
                </a:cxn>
                <a:cxn ang="0">
                  <a:pos x="42" y="21"/>
                </a:cxn>
                <a:cxn ang="0">
                  <a:pos x="63" y="14"/>
                </a:cxn>
                <a:cxn ang="0">
                  <a:pos x="77" y="21"/>
                </a:cxn>
                <a:cxn ang="0">
                  <a:pos x="77" y="42"/>
                </a:cxn>
                <a:cxn ang="0">
                  <a:pos x="77" y="98"/>
                </a:cxn>
                <a:cxn ang="0">
                  <a:pos x="77" y="112"/>
                </a:cxn>
                <a:cxn ang="0">
                  <a:pos x="70" y="119"/>
                </a:cxn>
                <a:cxn ang="0">
                  <a:pos x="63" y="119"/>
                </a:cxn>
                <a:cxn ang="0">
                  <a:pos x="63" y="119"/>
                </a:cxn>
                <a:cxn ang="0">
                  <a:pos x="113" y="119"/>
                </a:cxn>
                <a:cxn ang="0">
                  <a:pos x="113" y="119"/>
                </a:cxn>
                <a:cxn ang="0">
                  <a:pos x="106" y="119"/>
                </a:cxn>
                <a:cxn ang="0">
                  <a:pos x="99" y="112"/>
                </a:cxn>
                <a:cxn ang="0">
                  <a:pos x="99" y="98"/>
                </a:cxn>
                <a:cxn ang="0">
                  <a:pos x="99" y="28"/>
                </a:cxn>
                <a:cxn ang="0">
                  <a:pos x="106" y="21"/>
                </a:cxn>
                <a:cxn ang="0">
                  <a:pos x="120" y="14"/>
                </a:cxn>
                <a:cxn ang="0">
                  <a:pos x="134" y="21"/>
                </a:cxn>
                <a:cxn ang="0">
                  <a:pos x="134" y="42"/>
                </a:cxn>
                <a:cxn ang="0">
                  <a:pos x="134" y="98"/>
                </a:cxn>
                <a:cxn ang="0">
                  <a:pos x="134" y="112"/>
                </a:cxn>
                <a:cxn ang="0">
                  <a:pos x="120" y="119"/>
                </a:cxn>
                <a:cxn ang="0">
                  <a:pos x="120" y="119"/>
                </a:cxn>
                <a:cxn ang="0">
                  <a:pos x="169" y="119"/>
                </a:cxn>
                <a:cxn ang="0">
                  <a:pos x="169" y="119"/>
                </a:cxn>
                <a:cxn ang="0">
                  <a:pos x="162" y="119"/>
                </a:cxn>
                <a:cxn ang="0">
                  <a:pos x="155" y="112"/>
                </a:cxn>
                <a:cxn ang="0">
                  <a:pos x="155" y="98"/>
                </a:cxn>
                <a:cxn ang="0">
                  <a:pos x="155" y="49"/>
                </a:cxn>
                <a:cxn ang="0">
                  <a:pos x="155" y="14"/>
                </a:cxn>
                <a:cxn ang="0">
                  <a:pos x="141" y="7"/>
                </a:cxn>
                <a:cxn ang="0">
                  <a:pos x="127" y="0"/>
                </a:cxn>
                <a:cxn ang="0">
                  <a:pos x="106" y="7"/>
                </a:cxn>
                <a:cxn ang="0">
                  <a:pos x="92" y="21"/>
                </a:cxn>
                <a:cxn ang="0">
                  <a:pos x="85" y="7"/>
                </a:cxn>
                <a:cxn ang="0">
                  <a:pos x="70" y="0"/>
                </a:cxn>
                <a:cxn ang="0">
                  <a:pos x="56" y="7"/>
                </a:cxn>
                <a:cxn ang="0">
                  <a:pos x="35" y="21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21" y="7"/>
                </a:cxn>
                <a:cxn ang="0">
                  <a:pos x="7" y="14"/>
                </a:cxn>
                <a:cxn ang="0">
                  <a:pos x="7" y="14"/>
                </a:cxn>
                <a:cxn ang="0">
                  <a:pos x="7" y="14"/>
                </a:cxn>
                <a:cxn ang="0">
                  <a:pos x="14" y="14"/>
                </a:cxn>
                <a:cxn ang="0">
                  <a:pos x="21" y="14"/>
                </a:cxn>
                <a:cxn ang="0">
                  <a:pos x="21" y="21"/>
                </a:cxn>
                <a:cxn ang="0">
                  <a:pos x="21" y="35"/>
                </a:cxn>
                <a:cxn ang="0">
                  <a:pos x="21" y="98"/>
                </a:cxn>
              </a:cxnLst>
              <a:rect l="txL" t="txT" r="txR" b="txB"/>
              <a:pathLst>
                <a:path w="169" h="119">
                  <a:moveTo>
                    <a:pt x="21" y="98"/>
                  </a:moveTo>
                  <a:lnTo>
                    <a:pt x="21" y="112"/>
                  </a:lnTo>
                  <a:lnTo>
                    <a:pt x="14" y="119"/>
                  </a:lnTo>
                  <a:lnTo>
                    <a:pt x="0" y="119"/>
                  </a:lnTo>
                  <a:lnTo>
                    <a:pt x="49" y="119"/>
                  </a:lnTo>
                  <a:lnTo>
                    <a:pt x="42" y="119"/>
                  </a:lnTo>
                  <a:lnTo>
                    <a:pt x="35" y="105"/>
                  </a:lnTo>
                  <a:lnTo>
                    <a:pt x="35" y="28"/>
                  </a:lnTo>
                  <a:lnTo>
                    <a:pt x="42" y="21"/>
                  </a:lnTo>
                  <a:lnTo>
                    <a:pt x="63" y="14"/>
                  </a:lnTo>
                  <a:lnTo>
                    <a:pt x="77" y="21"/>
                  </a:lnTo>
                  <a:lnTo>
                    <a:pt x="77" y="42"/>
                  </a:lnTo>
                  <a:lnTo>
                    <a:pt x="77" y="98"/>
                  </a:lnTo>
                  <a:lnTo>
                    <a:pt x="77" y="112"/>
                  </a:lnTo>
                  <a:lnTo>
                    <a:pt x="70" y="119"/>
                  </a:lnTo>
                  <a:lnTo>
                    <a:pt x="63" y="119"/>
                  </a:lnTo>
                  <a:lnTo>
                    <a:pt x="113" y="119"/>
                  </a:lnTo>
                  <a:lnTo>
                    <a:pt x="106" y="119"/>
                  </a:lnTo>
                  <a:lnTo>
                    <a:pt x="99" y="112"/>
                  </a:lnTo>
                  <a:lnTo>
                    <a:pt x="99" y="98"/>
                  </a:lnTo>
                  <a:lnTo>
                    <a:pt x="99" y="28"/>
                  </a:lnTo>
                  <a:lnTo>
                    <a:pt x="106" y="21"/>
                  </a:lnTo>
                  <a:lnTo>
                    <a:pt x="120" y="14"/>
                  </a:lnTo>
                  <a:lnTo>
                    <a:pt x="134" y="21"/>
                  </a:lnTo>
                  <a:lnTo>
                    <a:pt x="134" y="42"/>
                  </a:lnTo>
                  <a:lnTo>
                    <a:pt x="134" y="98"/>
                  </a:lnTo>
                  <a:lnTo>
                    <a:pt x="134" y="112"/>
                  </a:lnTo>
                  <a:lnTo>
                    <a:pt x="120" y="119"/>
                  </a:lnTo>
                  <a:lnTo>
                    <a:pt x="169" y="119"/>
                  </a:lnTo>
                  <a:lnTo>
                    <a:pt x="162" y="119"/>
                  </a:lnTo>
                  <a:lnTo>
                    <a:pt x="155" y="112"/>
                  </a:lnTo>
                  <a:lnTo>
                    <a:pt x="155" y="98"/>
                  </a:lnTo>
                  <a:lnTo>
                    <a:pt x="155" y="49"/>
                  </a:lnTo>
                  <a:lnTo>
                    <a:pt x="155" y="14"/>
                  </a:lnTo>
                  <a:lnTo>
                    <a:pt x="141" y="7"/>
                  </a:lnTo>
                  <a:lnTo>
                    <a:pt x="127" y="0"/>
                  </a:lnTo>
                  <a:lnTo>
                    <a:pt x="106" y="7"/>
                  </a:lnTo>
                  <a:lnTo>
                    <a:pt x="92" y="21"/>
                  </a:lnTo>
                  <a:lnTo>
                    <a:pt x="85" y="7"/>
                  </a:lnTo>
                  <a:lnTo>
                    <a:pt x="70" y="0"/>
                  </a:lnTo>
                  <a:lnTo>
                    <a:pt x="56" y="7"/>
                  </a:lnTo>
                  <a:lnTo>
                    <a:pt x="35" y="21"/>
                  </a:lnTo>
                  <a:lnTo>
                    <a:pt x="35" y="0"/>
                  </a:lnTo>
                  <a:lnTo>
                    <a:pt x="21" y="7"/>
                  </a:lnTo>
                  <a:lnTo>
                    <a:pt x="7" y="14"/>
                  </a:lnTo>
                  <a:lnTo>
                    <a:pt x="14" y="14"/>
                  </a:lnTo>
                  <a:lnTo>
                    <a:pt x="21" y="14"/>
                  </a:lnTo>
                  <a:lnTo>
                    <a:pt x="21" y="21"/>
                  </a:lnTo>
                  <a:lnTo>
                    <a:pt x="21" y="35"/>
                  </a:lnTo>
                  <a:lnTo>
                    <a:pt x="21" y="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6" name="Freeform 1078"/>
            <p:cNvSpPr>
              <a:spLocks noChangeAspect="1" noEditPoints="1"/>
            </p:cNvSpPr>
            <p:nvPr/>
          </p:nvSpPr>
          <p:spPr>
            <a:xfrm>
              <a:off x="4624" y="2545"/>
              <a:ext cx="99" cy="175"/>
            </a:xfrm>
            <a:custGeom>
              <a:avLst/>
              <a:gdLst>
                <a:gd name="txL" fmla="*/ 0 w 99"/>
                <a:gd name="txT" fmla="*/ 0 h 175"/>
                <a:gd name="txR" fmla="*/ 99 w 99"/>
                <a:gd name="txB" fmla="*/ 175 h 175"/>
              </a:gdLst>
              <a:ahLst/>
              <a:cxnLst>
                <a:cxn ang="0">
                  <a:pos x="14" y="154"/>
                </a:cxn>
                <a:cxn ang="0">
                  <a:pos x="14" y="168"/>
                </a:cxn>
                <a:cxn ang="0">
                  <a:pos x="0" y="175"/>
                </a:cxn>
                <a:cxn ang="0">
                  <a:pos x="0" y="175"/>
                </a:cxn>
                <a:cxn ang="0">
                  <a:pos x="49" y="175"/>
                </a:cxn>
                <a:cxn ang="0">
                  <a:pos x="49" y="175"/>
                </a:cxn>
                <a:cxn ang="0">
                  <a:pos x="35" y="168"/>
                </a:cxn>
                <a:cxn ang="0">
                  <a:pos x="28" y="154"/>
                </a:cxn>
                <a:cxn ang="0">
                  <a:pos x="28" y="112"/>
                </a:cxn>
                <a:cxn ang="0">
                  <a:pos x="42" y="119"/>
                </a:cxn>
                <a:cxn ang="0">
                  <a:pos x="56" y="126"/>
                </a:cxn>
                <a:cxn ang="0">
                  <a:pos x="78" y="119"/>
                </a:cxn>
                <a:cxn ang="0">
                  <a:pos x="92" y="105"/>
                </a:cxn>
                <a:cxn ang="0">
                  <a:pos x="99" y="56"/>
                </a:cxn>
                <a:cxn ang="0">
                  <a:pos x="92" y="14"/>
                </a:cxn>
                <a:cxn ang="0">
                  <a:pos x="78" y="7"/>
                </a:cxn>
                <a:cxn ang="0">
                  <a:pos x="63" y="0"/>
                </a:cxn>
                <a:cxn ang="0">
                  <a:pos x="42" y="7"/>
                </a:cxn>
                <a:cxn ang="0">
                  <a:pos x="28" y="21"/>
                </a:cxn>
                <a:cxn ang="0">
                  <a:pos x="28" y="21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14" y="7"/>
                </a:cxn>
                <a:cxn ang="0">
                  <a:pos x="0" y="14"/>
                </a:cxn>
                <a:cxn ang="0">
                  <a:pos x="0" y="21"/>
                </a:cxn>
                <a:cxn ang="0">
                  <a:pos x="0" y="14"/>
                </a:cxn>
                <a:cxn ang="0">
                  <a:pos x="7" y="14"/>
                </a:cxn>
                <a:cxn ang="0">
                  <a:pos x="14" y="21"/>
                </a:cxn>
                <a:cxn ang="0">
                  <a:pos x="14" y="35"/>
                </a:cxn>
                <a:cxn ang="0">
                  <a:pos x="14" y="154"/>
                </a:cxn>
                <a:cxn ang="0">
                  <a:pos x="28" y="35"/>
                </a:cxn>
                <a:cxn ang="0">
                  <a:pos x="42" y="21"/>
                </a:cxn>
                <a:cxn ang="0">
                  <a:pos x="49" y="14"/>
                </a:cxn>
                <a:cxn ang="0">
                  <a:pos x="63" y="21"/>
                </a:cxn>
                <a:cxn ang="0">
                  <a:pos x="78" y="35"/>
                </a:cxn>
                <a:cxn ang="0">
                  <a:pos x="78" y="56"/>
                </a:cxn>
                <a:cxn ang="0">
                  <a:pos x="78" y="63"/>
                </a:cxn>
                <a:cxn ang="0">
                  <a:pos x="78" y="91"/>
                </a:cxn>
                <a:cxn ang="0">
                  <a:pos x="70" y="105"/>
                </a:cxn>
                <a:cxn ang="0">
                  <a:pos x="63" y="112"/>
                </a:cxn>
                <a:cxn ang="0">
                  <a:pos x="56" y="112"/>
                </a:cxn>
                <a:cxn ang="0">
                  <a:pos x="35" y="105"/>
                </a:cxn>
                <a:cxn ang="0">
                  <a:pos x="28" y="98"/>
                </a:cxn>
                <a:cxn ang="0">
                  <a:pos x="28" y="35"/>
                </a:cxn>
              </a:cxnLst>
              <a:rect l="txL" t="txT" r="txR" b="txB"/>
              <a:pathLst>
                <a:path w="99" h="175">
                  <a:moveTo>
                    <a:pt x="14" y="154"/>
                  </a:moveTo>
                  <a:lnTo>
                    <a:pt x="14" y="168"/>
                  </a:lnTo>
                  <a:lnTo>
                    <a:pt x="0" y="175"/>
                  </a:lnTo>
                  <a:lnTo>
                    <a:pt x="49" y="175"/>
                  </a:lnTo>
                  <a:lnTo>
                    <a:pt x="35" y="168"/>
                  </a:lnTo>
                  <a:lnTo>
                    <a:pt x="28" y="154"/>
                  </a:lnTo>
                  <a:lnTo>
                    <a:pt x="28" y="112"/>
                  </a:lnTo>
                  <a:lnTo>
                    <a:pt x="42" y="119"/>
                  </a:lnTo>
                  <a:lnTo>
                    <a:pt x="56" y="126"/>
                  </a:lnTo>
                  <a:lnTo>
                    <a:pt x="78" y="119"/>
                  </a:lnTo>
                  <a:lnTo>
                    <a:pt x="92" y="105"/>
                  </a:lnTo>
                  <a:lnTo>
                    <a:pt x="99" y="56"/>
                  </a:lnTo>
                  <a:lnTo>
                    <a:pt x="92" y="14"/>
                  </a:lnTo>
                  <a:lnTo>
                    <a:pt x="78" y="7"/>
                  </a:lnTo>
                  <a:lnTo>
                    <a:pt x="63" y="0"/>
                  </a:lnTo>
                  <a:lnTo>
                    <a:pt x="42" y="7"/>
                  </a:lnTo>
                  <a:lnTo>
                    <a:pt x="28" y="21"/>
                  </a:lnTo>
                  <a:lnTo>
                    <a:pt x="28" y="0"/>
                  </a:lnTo>
                  <a:lnTo>
                    <a:pt x="14" y="7"/>
                  </a:lnTo>
                  <a:lnTo>
                    <a:pt x="0" y="14"/>
                  </a:lnTo>
                  <a:lnTo>
                    <a:pt x="0" y="21"/>
                  </a:lnTo>
                  <a:lnTo>
                    <a:pt x="0" y="14"/>
                  </a:lnTo>
                  <a:lnTo>
                    <a:pt x="7" y="14"/>
                  </a:lnTo>
                  <a:lnTo>
                    <a:pt x="14" y="21"/>
                  </a:lnTo>
                  <a:lnTo>
                    <a:pt x="14" y="35"/>
                  </a:lnTo>
                  <a:lnTo>
                    <a:pt x="14" y="154"/>
                  </a:lnTo>
                  <a:close/>
                  <a:moveTo>
                    <a:pt x="28" y="35"/>
                  </a:moveTo>
                  <a:lnTo>
                    <a:pt x="42" y="21"/>
                  </a:lnTo>
                  <a:lnTo>
                    <a:pt x="49" y="14"/>
                  </a:lnTo>
                  <a:lnTo>
                    <a:pt x="63" y="21"/>
                  </a:lnTo>
                  <a:lnTo>
                    <a:pt x="78" y="35"/>
                  </a:lnTo>
                  <a:lnTo>
                    <a:pt x="78" y="56"/>
                  </a:lnTo>
                  <a:lnTo>
                    <a:pt x="78" y="63"/>
                  </a:lnTo>
                  <a:lnTo>
                    <a:pt x="78" y="91"/>
                  </a:lnTo>
                  <a:lnTo>
                    <a:pt x="70" y="105"/>
                  </a:lnTo>
                  <a:lnTo>
                    <a:pt x="63" y="112"/>
                  </a:lnTo>
                  <a:lnTo>
                    <a:pt x="56" y="112"/>
                  </a:lnTo>
                  <a:lnTo>
                    <a:pt x="35" y="105"/>
                  </a:lnTo>
                  <a:lnTo>
                    <a:pt x="28" y="98"/>
                  </a:lnTo>
                  <a:lnTo>
                    <a:pt x="28" y="3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7" name="Freeform 1079"/>
            <p:cNvSpPr>
              <a:spLocks noChangeAspect="1" noEditPoints="1"/>
            </p:cNvSpPr>
            <p:nvPr/>
          </p:nvSpPr>
          <p:spPr>
            <a:xfrm>
              <a:off x="2174" y="2516"/>
              <a:ext cx="127" cy="176"/>
            </a:xfrm>
            <a:custGeom>
              <a:avLst/>
              <a:gdLst>
                <a:gd name="txL" fmla="*/ 0 w 127"/>
                <a:gd name="txT" fmla="*/ 0 h 176"/>
                <a:gd name="txR" fmla="*/ 127 w 127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14" y="0"/>
                </a:cxn>
                <a:cxn ang="0">
                  <a:pos x="21" y="7"/>
                </a:cxn>
                <a:cxn ang="0">
                  <a:pos x="21" y="29"/>
                </a:cxn>
                <a:cxn ang="0">
                  <a:pos x="21" y="141"/>
                </a:cxn>
                <a:cxn ang="0">
                  <a:pos x="21" y="162"/>
                </a:cxn>
                <a:cxn ang="0">
                  <a:pos x="14" y="169"/>
                </a:cxn>
                <a:cxn ang="0">
                  <a:pos x="0" y="169"/>
                </a:cxn>
                <a:cxn ang="0">
                  <a:pos x="0" y="176"/>
                </a:cxn>
                <a:cxn ang="0">
                  <a:pos x="77" y="176"/>
                </a:cxn>
                <a:cxn ang="0">
                  <a:pos x="106" y="169"/>
                </a:cxn>
                <a:cxn ang="0">
                  <a:pos x="120" y="155"/>
                </a:cxn>
                <a:cxn ang="0">
                  <a:pos x="127" y="141"/>
                </a:cxn>
                <a:cxn ang="0">
                  <a:pos x="127" y="127"/>
                </a:cxn>
                <a:cxn ang="0">
                  <a:pos x="120" y="92"/>
                </a:cxn>
                <a:cxn ang="0">
                  <a:pos x="91" y="78"/>
                </a:cxn>
                <a:cxn ang="0">
                  <a:pos x="91" y="78"/>
                </a:cxn>
                <a:cxn ang="0">
                  <a:pos x="113" y="71"/>
                </a:cxn>
                <a:cxn ang="0">
                  <a:pos x="120" y="64"/>
                </a:cxn>
                <a:cxn ang="0">
                  <a:pos x="120" y="43"/>
                </a:cxn>
                <a:cxn ang="0">
                  <a:pos x="113" y="21"/>
                </a:cxn>
                <a:cxn ang="0">
                  <a:pos x="99" y="7"/>
                </a:cxn>
                <a:cxn ang="0">
                  <a:pos x="84" y="0"/>
                </a:cxn>
                <a:cxn ang="0">
                  <a:pos x="63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9" y="85"/>
                </a:cxn>
                <a:cxn ang="0">
                  <a:pos x="70" y="85"/>
                </a:cxn>
                <a:cxn ang="0">
                  <a:pos x="84" y="92"/>
                </a:cxn>
                <a:cxn ang="0">
                  <a:pos x="99" y="99"/>
                </a:cxn>
                <a:cxn ang="0">
                  <a:pos x="106" y="127"/>
                </a:cxn>
                <a:cxn ang="0">
                  <a:pos x="99" y="148"/>
                </a:cxn>
                <a:cxn ang="0">
                  <a:pos x="91" y="155"/>
                </a:cxn>
                <a:cxn ang="0">
                  <a:pos x="63" y="162"/>
                </a:cxn>
                <a:cxn ang="0">
                  <a:pos x="49" y="162"/>
                </a:cxn>
                <a:cxn ang="0">
                  <a:pos x="49" y="155"/>
                </a:cxn>
                <a:cxn ang="0">
                  <a:pos x="49" y="85"/>
                </a:cxn>
                <a:cxn ang="0">
                  <a:pos x="49" y="14"/>
                </a:cxn>
                <a:cxn ang="0">
                  <a:pos x="49" y="14"/>
                </a:cxn>
                <a:cxn ang="0">
                  <a:pos x="49" y="7"/>
                </a:cxn>
                <a:cxn ang="0">
                  <a:pos x="56" y="7"/>
                </a:cxn>
                <a:cxn ang="0">
                  <a:pos x="63" y="7"/>
                </a:cxn>
                <a:cxn ang="0">
                  <a:pos x="84" y="14"/>
                </a:cxn>
                <a:cxn ang="0">
                  <a:pos x="99" y="29"/>
                </a:cxn>
                <a:cxn ang="0">
                  <a:pos x="99" y="43"/>
                </a:cxn>
                <a:cxn ang="0">
                  <a:pos x="91" y="64"/>
                </a:cxn>
                <a:cxn ang="0">
                  <a:pos x="84" y="71"/>
                </a:cxn>
                <a:cxn ang="0">
                  <a:pos x="77" y="78"/>
                </a:cxn>
                <a:cxn ang="0">
                  <a:pos x="70" y="78"/>
                </a:cxn>
                <a:cxn ang="0">
                  <a:pos x="49" y="78"/>
                </a:cxn>
                <a:cxn ang="0">
                  <a:pos x="49" y="14"/>
                </a:cxn>
              </a:cxnLst>
              <a:rect l="txL" t="txT" r="txR" b="txB"/>
              <a:pathLst>
                <a:path w="127" h="176">
                  <a:moveTo>
                    <a:pt x="0" y="0"/>
                  </a:moveTo>
                  <a:lnTo>
                    <a:pt x="14" y="0"/>
                  </a:lnTo>
                  <a:lnTo>
                    <a:pt x="21" y="7"/>
                  </a:lnTo>
                  <a:lnTo>
                    <a:pt x="21" y="29"/>
                  </a:lnTo>
                  <a:lnTo>
                    <a:pt x="21" y="141"/>
                  </a:lnTo>
                  <a:lnTo>
                    <a:pt x="21" y="162"/>
                  </a:lnTo>
                  <a:lnTo>
                    <a:pt x="14" y="169"/>
                  </a:lnTo>
                  <a:lnTo>
                    <a:pt x="0" y="169"/>
                  </a:lnTo>
                  <a:lnTo>
                    <a:pt x="0" y="176"/>
                  </a:lnTo>
                  <a:lnTo>
                    <a:pt x="77" y="176"/>
                  </a:lnTo>
                  <a:lnTo>
                    <a:pt x="106" y="169"/>
                  </a:lnTo>
                  <a:lnTo>
                    <a:pt x="120" y="155"/>
                  </a:lnTo>
                  <a:lnTo>
                    <a:pt x="127" y="141"/>
                  </a:lnTo>
                  <a:lnTo>
                    <a:pt x="127" y="127"/>
                  </a:lnTo>
                  <a:lnTo>
                    <a:pt x="120" y="92"/>
                  </a:lnTo>
                  <a:lnTo>
                    <a:pt x="91" y="78"/>
                  </a:lnTo>
                  <a:lnTo>
                    <a:pt x="113" y="71"/>
                  </a:lnTo>
                  <a:lnTo>
                    <a:pt x="120" y="64"/>
                  </a:lnTo>
                  <a:lnTo>
                    <a:pt x="120" y="43"/>
                  </a:lnTo>
                  <a:lnTo>
                    <a:pt x="113" y="21"/>
                  </a:lnTo>
                  <a:lnTo>
                    <a:pt x="99" y="7"/>
                  </a:lnTo>
                  <a:lnTo>
                    <a:pt x="84" y="0"/>
                  </a:lnTo>
                  <a:lnTo>
                    <a:pt x="63" y="0"/>
                  </a:lnTo>
                  <a:lnTo>
                    <a:pt x="0" y="0"/>
                  </a:lnTo>
                  <a:close/>
                  <a:moveTo>
                    <a:pt x="49" y="85"/>
                  </a:moveTo>
                  <a:lnTo>
                    <a:pt x="70" y="85"/>
                  </a:lnTo>
                  <a:lnTo>
                    <a:pt x="84" y="92"/>
                  </a:lnTo>
                  <a:lnTo>
                    <a:pt x="99" y="99"/>
                  </a:lnTo>
                  <a:lnTo>
                    <a:pt x="106" y="127"/>
                  </a:lnTo>
                  <a:lnTo>
                    <a:pt x="99" y="148"/>
                  </a:lnTo>
                  <a:lnTo>
                    <a:pt x="91" y="155"/>
                  </a:lnTo>
                  <a:lnTo>
                    <a:pt x="63" y="162"/>
                  </a:lnTo>
                  <a:lnTo>
                    <a:pt x="49" y="162"/>
                  </a:lnTo>
                  <a:lnTo>
                    <a:pt x="49" y="155"/>
                  </a:lnTo>
                  <a:lnTo>
                    <a:pt x="49" y="85"/>
                  </a:lnTo>
                  <a:close/>
                  <a:moveTo>
                    <a:pt x="49" y="14"/>
                  </a:moveTo>
                  <a:lnTo>
                    <a:pt x="49" y="14"/>
                  </a:lnTo>
                  <a:lnTo>
                    <a:pt x="49" y="7"/>
                  </a:lnTo>
                  <a:lnTo>
                    <a:pt x="56" y="7"/>
                  </a:lnTo>
                  <a:lnTo>
                    <a:pt x="63" y="7"/>
                  </a:lnTo>
                  <a:lnTo>
                    <a:pt x="84" y="14"/>
                  </a:lnTo>
                  <a:lnTo>
                    <a:pt x="99" y="29"/>
                  </a:lnTo>
                  <a:lnTo>
                    <a:pt x="99" y="43"/>
                  </a:lnTo>
                  <a:lnTo>
                    <a:pt x="91" y="64"/>
                  </a:lnTo>
                  <a:lnTo>
                    <a:pt x="84" y="71"/>
                  </a:lnTo>
                  <a:lnTo>
                    <a:pt x="77" y="78"/>
                  </a:lnTo>
                  <a:lnTo>
                    <a:pt x="70" y="78"/>
                  </a:lnTo>
                  <a:lnTo>
                    <a:pt x="49" y="78"/>
                  </a:lnTo>
                  <a:lnTo>
                    <a:pt x="49" y="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8" name="Freeform 1080"/>
            <p:cNvSpPr>
              <a:spLocks noChangeAspect="1" noEditPoints="1"/>
            </p:cNvSpPr>
            <p:nvPr/>
          </p:nvSpPr>
          <p:spPr>
            <a:xfrm>
              <a:off x="2329" y="2566"/>
              <a:ext cx="91" cy="126"/>
            </a:xfrm>
            <a:custGeom>
              <a:avLst/>
              <a:gdLst>
                <a:gd name="txL" fmla="*/ 0 w 91"/>
                <a:gd name="txT" fmla="*/ 0 h 126"/>
                <a:gd name="txR" fmla="*/ 91 w 91"/>
                <a:gd name="txB" fmla="*/ 126 h 126"/>
              </a:gdLst>
              <a:ahLst/>
              <a:cxnLst>
                <a:cxn ang="0">
                  <a:pos x="56" y="91"/>
                </a:cxn>
                <a:cxn ang="0">
                  <a:pos x="56" y="98"/>
                </a:cxn>
                <a:cxn ang="0">
                  <a:pos x="49" y="105"/>
                </a:cxn>
                <a:cxn ang="0">
                  <a:pos x="42" y="112"/>
                </a:cxn>
                <a:cxn ang="0">
                  <a:pos x="35" y="112"/>
                </a:cxn>
                <a:cxn ang="0">
                  <a:pos x="28" y="105"/>
                </a:cxn>
                <a:cxn ang="0">
                  <a:pos x="21" y="91"/>
                </a:cxn>
                <a:cxn ang="0">
                  <a:pos x="21" y="91"/>
                </a:cxn>
                <a:cxn ang="0">
                  <a:pos x="28" y="70"/>
                </a:cxn>
                <a:cxn ang="0">
                  <a:pos x="35" y="63"/>
                </a:cxn>
                <a:cxn ang="0">
                  <a:pos x="56" y="49"/>
                </a:cxn>
                <a:cxn ang="0">
                  <a:pos x="56" y="91"/>
                </a:cxn>
                <a:cxn ang="0">
                  <a:pos x="91" y="105"/>
                </a:cxn>
                <a:cxn ang="0">
                  <a:pos x="84" y="112"/>
                </a:cxn>
                <a:cxn ang="0">
                  <a:pos x="77" y="112"/>
                </a:cxn>
                <a:cxn ang="0">
                  <a:pos x="70" y="105"/>
                </a:cxn>
                <a:cxn ang="0">
                  <a:pos x="70" y="98"/>
                </a:cxn>
                <a:cxn ang="0">
                  <a:pos x="70" y="42"/>
                </a:cxn>
                <a:cxn ang="0">
                  <a:pos x="70" y="14"/>
                </a:cxn>
                <a:cxn ang="0">
                  <a:pos x="56" y="7"/>
                </a:cxn>
                <a:cxn ang="0">
                  <a:pos x="42" y="0"/>
                </a:cxn>
                <a:cxn ang="0">
                  <a:pos x="28" y="7"/>
                </a:cxn>
                <a:cxn ang="0">
                  <a:pos x="14" y="14"/>
                </a:cxn>
                <a:cxn ang="0">
                  <a:pos x="7" y="28"/>
                </a:cxn>
                <a:cxn ang="0">
                  <a:pos x="7" y="35"/>
                </a:cxn>
                <a:cxn ang="0">
                  <a:pos x="14" y="42"/>
                </a:cxn>
                <a:cxn ang="0">
                  <a:pos x="21" y="35"/>
                </a:cxn>
                <a:cxn ang="0">
                  <a:pos x="21" y="28"/>
                </a:cxn>
                <a:cxn ang="0">
                  <a:pos x="21" y="28"/>
                </a:cxn>
                <a:cxn ang="0">
                  <a:pos x="21" y="21"/>
                </a:cxn>
                <a:cxn ang="0">
                  <a:pos x="28" y="14"/>
                </a:cxn>
                <a:cxn ang="0">
                  <a:pos x="35" y="7"/>
                </a:cxn>
                <a:cxn ang="0">
                  <a:pos x="49" y="14"/>
                </a:cxn>
                <a:cxn ang="0">
                  <a:pos x="56" y="28"/>
                </a:cxn>
                <a:cxn ang="0">
                  <a:pos x="56" y="49"/>
                </a:cxn>
                <a:cxn ang="0">
                  <a:pos x="14" y="70"/>
                </a:cxn>
                <a:cxn ang="0">
                  <a:pos x="7" y="84"/>
                </a:cxn>
                <a:cxn ang="0">
                  <a:pos x="0" y="98"/>
                </a:cxn>
                <a:cxn ang="0">
                  <a:pos x="7" y="119"/>
                </a:cxn>
                <a:cxn ang="0">
                  <a:pos x="21" y="126"/>
                </a:cxn>
                <a:cxn ang="0">
                  <a:pos x="42" y="119"/>
                </a:cxn>
                <a:cxn ang="0">
                  <a:pos x="56" y="105"/>
                </a:cxn>
                <a:cxn ang="0">
                  <a:pos x="56" y="119"/>
                </a:cxn>
                <a:cxn ang="0">
                  <a:pos x="63" y="126"/>
                </a:cxn>
                <a:cxn ang="0">
                  <a:pos x="70" y="126"/>
                </a:cxn>
                <a:cxn ang="0">
                  <a:pos x="77" y="126"/>
                </a:cxn>
                <a:cxn ang="0">
                  <a:pos x="91" y="112"/>
                </a:cxn>
                <a:cxn ang="0">
                  <a:pos x="91" y="105"/>
                </a:cxn>
              </a:cxnLst>
              <a:rect l="txL" t="txT" r="txR" b="txB"/>
              <a:pathLst>
                <a:path w="91" h="126">
                  <a:moveTo>
                    <a:pt x="56" y="91"/>
                  </a:moveTo>
                  <a:lnTo>
                    <a:pt x="56" y="98"/>
                  </a:lnTo>
                  <a:lnTo>
                    <a:pt x="49" y="105"/>
                  </a:lnTo>
                  <a:lnTo>
                    <a:pt x="42" y="112"/>
                  </a:lnTo>
                  <a:lnTo>
                    <a:pt x="35" y="112"/>
                  </a:lnTo>
                  <a:lnTo>
                    <a:pt x="28" y="105"/>
                  </a:lnTo>
                  <a:lnTo>
                    <a:pt x="21" y="91"/>
                  </a:lnTo>
                  <a:lnTo>
                    <a:pt x="28" y="70"/>
                  </a:lnTo>
                  <a:lnTo>
                    <a:pt x="35" y="63"/>
                  </a:lnTo>
                  <a:lnTo>
                    <a:pt x="56" y="49"/>
                  </a:lnTo>
                  <a:lnTo>
                    <a:pt x="56" y="91"/>
                  </a:lnTo>
                  <a:close/>
                  <a:moveTo>
                    <a:pt x="91" y="105"/>
                  </a:moveTo>
                  <a:lnTo>
                    <a:pt x="84" y="112"/>
                  </a:lnTo>
                  <a:lnTo>
                    <a:pt x="77" y="112"/>
                  </a:lnTo>
                  <a:lnTo>
                    <a:pt x="70" y="105"/>
                  </a:lnTo>
                  <a:lnTo>
                    <a:pt x="70" y="98"/>
                  </a:lnTo>
                  <a:lnTo>
                    <a:pt x="70" y="42"/>
                  </a:lnTo>
                  <a:lnTo>
                    <a:pt x="70" y="14"/>
                  </a:lnTo>
                  <a:lnTo>
                    <a:pt x="56" y="7"/>
                  </a:lnTo>
                  <a:lnTo>
                    <a:pt x="42" y="0"/>
                  </a:lnTo>
                  <a:lnTo>
                    <a:pt x="28" y="7"/>
                  </a:lnTo>
                  <a:lnTo>
                    <a:pt x="14" y="14"/>
                  </a:lnTo>
                  <a:lnTo>
                    <a:pt x="7" y="28"/>
                  </a:lnTo>
                  <a:lnTo>
                    <a:pt x="7" y="35"/>
                  </a:lnTo>
                  <a:lnTo>
                    <a:pt x="14" y="42"/>
                  </a:lnTo>
                  <a:lnTo>
                    <a:pt x="21" y="35"/>
                  </a:lnTo>
                  <a:lnTo>
                    <a:pt x="21" y="28"/>
                  </a:lnTo>
                  <a:lnTo>
                    <a:pt x="21" y="21"/>
                  </a:lnTo>
                  <a:lnTo>
                    <a:pt x="28" y="14"/>
                  </a:lnTo>
                  <a:lnTo>
                    <a:pt x="35" y="7"/>
                  </a:lnTo>
                  <a:lnTo>
                    <a:pt x="49" y="14"/>
                  </a:lnTo>
                  <a:lnTo>
                    <a:pt x="56" y="28"/>
                  </a:lnTo>
                  <a:lnTo>
                    <a:pt x="56" y="49"/>
                  </a:lnTo>
                  <a:lnTo>
                    <a:pt x="14" y="70"/>
                  </a:lnTo>
                  <a:lnTo>
                    <a:pt x="7" y="84"/>
                  </a:lnTo>
                  <a:lnTo>
                    <a:pt x="0" y="98"/>
                  </a:lnTo>
                  <a:lnTo>
                    <a:pt x="7" y="119"/>
                  </a:lnTo>
                  <a:lnTo>
                    <a:pt x="21" y="126"/>
                  </a:lnTo>
                  <a:lnTo>
                    <a:pt x="42" y="119"/>
                  </a:lnTo>
                  <a:lnTo>
                    <a:pt x="56" y="105"/>
                  </a:lnTo>
                  <a:lnTo>
                    <a:pt x="56" y="119"/>
                  </a:lnTo>
                  <a:lnTo>
                    <a:pt x="63" y="126"/>
                  </a:lnTo>
                  <a:lnTo>
                    <a:pt x="70" y="126"/>
                  </a:lnTo>
                  <a:lnTo>
                    <a:pt x="77" y="126"/>
                  </a:lnTo>
                  <a:lnTo>
                    <a:pt x="91" y="112"/>
                  </a:lnTo>
                  <a:lnTo>
                    <a:pt x="91" y="10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9" name="Freeform 1081"/>
            <p:cNvSpPr>
              <a:spLocks noChangeAspect="1"/>
            </p:cNvSpPr>
            <p:nvPr/>
          </p:nvSpPr>
          <p:spPr>
            <a:xfrm>
              <a:off x="2420" y="2537"/>
              <a:ext cx="57" cy="155"/>
            </a:xfrm>
            <a:custGeom>
              <a:avLst/>
              <a:gdLst>
                <a:gd name="txL" fmla="*/ 0 w 57"/>
                <a:gd name="txT" fmla="*/ 0 h 155"/>
                <a:gd name="txR" fmla="*/ 57 w 57"/>
                <a:gd name="txB" fmla="*/ 155 h 155"/>
              </a:gdLst>
              <a:ahLst/>
              <a:cxnLst>
                <a:cxn ang="0">
                  <a:pos x="57" y="36"/>
                </a:cxn>
                <a:cxn ang="0">
                  <a:pos x="29" y="36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21" y="15"/>
                </a:cxn>
                <a:cxn ang="0">
                  <a:pos x="7" y="29"/>
                </a:cxn>
                <a:cxn ang="0">
                  <a:pos x="7" y="36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4" y="43"/>
                </a:cxn>
                <a:cxn ang="0">
                  <a:pos x="14" y="120"/>
                </a:cxn>
                <a:cxn ang="0">
                  <a:pos x="14" y="141"/>
                </a:cxn>
                <a:cxn ang="0">
                  <a:pos x="21" y="148"/>
                </a:cxn>
                <a:cxn ang="0">
                  <a:pos x="36" y="155"/>
                </a:cxn>
                <a:cxn ang="0">
                  <a:pos x="50" y="148"/>
                </a:cxn>
                <a:cxn ang="0">
                  <a:pos x="57" y="134"/>
                </a:cxn>
                <a:cxn ang="0">
                  <a:pos x="57" y="134"/>
                </a:cxn>
                <a:cxn ang="0">
                  <a:pos x="50" y="141"/>
                </a:cxn>
                <a:cxn ang="0">
                  <a:pos x="43" y="141"/>
                </a:cxn>
                <a:cxn ang="0">
                  <a:pos x="29" y="134"/>
                </a:cxn>
                <a:cxn ang="0">
                  <a:pos x="29" y="120"/>
                </a:cxn>
                <a:cxn ang="0">
                  <a:pos x="29" y="43"/>
                </a:cxn>
                <a:cxn ang="0">
                  <a:pos x="57" y="43"/>
                </a:cxn>
                <a:cxn ang="0">
                  <a:pos x="57" y="36"/>
                </a:cxn>
              </a:cxnLst>
              <a:rect l="txL" t="txT" r="txR" b="txB"/>
              <a:pathLst>
                <a:path w="57" h="155">
                  <a:moveTo>
                    <a:pt x="57" y="36"/>
                  </a:moveTo>
                  <a:lnTo>
                    <a:pt x="29" y="36"/>
                  </a:lnTo>
                  <a:lnTo>
                    <a:pt x="29" y="0"/>
                  </a:lnTo>
                  <a:lnTo>
                    <a:pt x="21" y="15"/>
                  </a:lnTo>
                  <a:lnTo>
                    <a:pt x="7" y="29"/>
                  </a:lnTo>
                  <a:lnTo>
                    <a:pt x="7" y="36"/>
                  </a:lnTo>
                  <a:lnTo>
                    <a:pt x="0" y="43"/>
                  </a:lnTo>
                  <a:lnTo>
                    <a:pt x="14" y="43"/>
                  </a:lnTo>
                  <a:lnTo>
                    <a:pt x="14" y="120"/>
                  </a:lnTo>
                  <a:lnTo>
                    <a:pt x="14" y="141"/>
                  </a:lnTo>
                  <a:lnTo>
                    <a:pt x="21" y="148"/>
                  </a:lnTo>
                  <a:lnTo>
                    <a:pt x="36" y="155"/>
                  </a:lnTo>
                  <a:lnTo>
                    <a:pt x="50" y="148"/>
                  </a:lnTo>
                  <a:lnTo>
                    <a:pt x="57" y="134"/>
                  </a:lnTo>
                  <a:lnTo>
                    <a:pt x="50" y="141"/>
                  </a:lnTo>
                  <a:lnTo>
                    <a:pt x="43" y="141"/>
                  </a:lnTo>
                  <a:lnTo>
                    <a:pt x="29" y="134"/>
                  </a:lnTo>
                  <a:lnTo>
                    <a:pt x="29" y="120"/>
                  </a:lnTo>
                  <a:lnTo>
                    <a:pt x="29" y="43"/>
                  </a:lnTo>
                  <a:lnTo>
                    <a:pt x="57" y="43"/>
                  </a:lnTo>
                  <a:lnTo>
                    <a:pt x="57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0" name="Freeform 1082"/>
            <p:cNvSpPr>
              <a:spLocks noChangeAspect="1"/>
            </p:cNvSpPr>
            <p:nvPr/>
          </p:nvSpPr>
          <p:spPr>
            <a:xfrm>
              <a:off x="2484" y="2537"/>
              <a:ext cx="56" cy="155"/>
            </a:xfrm>
            <a:custGeom>
              <a:avLst/>
              <a:gdLst>
                <a:gd name="txL" fmla="*/ 0 w 56"/>
                <a:gd name="txT" fmla="*/ 0 h 155"/>
                <a:gd name="txR" fmla="*/ 56 w 56"/>
                <a:gd name="txB" fmla="*/ 155 h 155"/>
              </a:gdLst>
              <a:ahLst/>
              <a:cxnLst>
                <a:cxn ang="0">
                  <a:pos x="49" y="36"/>
                </a:cxn>
                <a:cxn ang="0">
                  <a:pos x="28" y="36"/>
                </a:cxn>
                <a:cxn ang="0">
                  <a:pos x="28" y="0"/>
                </a:cxn>
                <a:cxn ang="0">
                  <a:pos x="28" y="0"/>
                </a:cxn>
                <a:cxn ang="0">
                  <a:pos x="21" y="15"/>
                </a:cxn>
                <a:cxn ang="0">
                  <a:pos x="7" y="29"/>
                </a:cxn>
                <a:cxn ang="0">
                  <a:pos x="0" y="36"/>
                </a:cxn>
                <a:cxn ang="0">
                  <a:pos x="0" y="43"/>
                </a:cxn>
                <a:cxn ang="0">
                  <a:pos x="0" y="43"/>
                </a:cxn>
                <a:cxn ang="0">
                  <a:pos x="14" y="43"/>
                </a:cxn>
                <a:cxn ang="0">
                  <a:pos x="14" y="120"/>
                </a:cxn>
                <a:cxn ang="0">
                  <a:pos x="14" y="141"/>
                </a:cxn>
                <a:cxn ang="0">
                  <a:pos x="21" y="148"/>
                </a:cxn>
                <a:cxn ang="0">
                  <a:pos x="28" y="155"/>
                </a:cxn>
                <a:cxn ang="0">
                  <a:pos x="42" y="148"/>
                </a:cxn>
                <a:cxn ang="0">
                  <a:pos x="56" y="134"/>
                </a:cxn>
                <a:cxn ang="0">
                  <a:pos x="56" y="134"/>
                </a:cxn>
                <a:cxn ang="0">
                  <a:pos x="49" y="141"/>
                </a:cxn>
                <a:cxn ang="0">
                  <a:pos x="42" y="141"/>
                </a:cxn>
                <a:cxn ang="0">
                  <a:pos x="28" y="134"/>
                </a:cxn>
                <a:cxn ang="0">
                  <a:pos x="28" y="120"/>
                </a:cxn>
                <a:cxn ang="0">
                  <a:pos x="28" y="43"/>
                </a:cxn>
                <a:cxn ang="0">
                  <a:pos x="49" y="43"/>
                </a:cxn>
                <a:cxn ang="0">
                  <a:pos x="49" y="36"/>
                </a:cxn>
              </a:cxnLst>
              <a:rect l="txL" t="txT" r="txR" b="txB"/>
              <a:pathLst>
                <a:path w="56" h="155">
                  <a:moveTo>
                    <a:pt x="49" y="36"/>
                  </a:moveTo>
                  <a:lnTo>
                    <a:pt x="28" y="36"/>
                  </a:lnTo>
                  <a:lnTo>
                    <a:pt x="28" y="0"/>
                  </a:lnTo>
                  <a:lnTo>
                    <a:pt x="21" y="15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43"/>
                  </a:lnTo>
                  <a:lnTo>
                    <a:pt x="14" y="43"/>
                  </a:lnTo>
                  <a:lnTo>
                    <a:pt x="14" y="120"/>
                  </a:lnTo>
                  <a:lnTo>
                    <a:pt x="14" y="141"/>
                  </a:lnTo>
                  <a:lnTo>
                    <a:pt x="21" y="148"/>
                  </a:lnTo>
                  <a:lnTo>
                    <a:pt x="28" y="155"/>
                  </a:lnTo>
                  <a:lnTo>
                    <a:pt x="42" y="148"/>
                  </a:lnTo>
                  <a:lnTo>
                    <a:pt x="56" y="134"/>
                  </a:lnTo>
                  <a:lnTo>
                    <a:pt x="49" y="141"/>
                  </a:lnTo>
                  <a:lnTo>
                    <a:pt x="42" y="141"/>
                  </a:lnTo>
                  <a:lnTo>
                    <a:pt x="28" y="134"/>
                  </a:lnTo>
                  <a:lnTo>
                    <a:pt x="28" y="120"/>
                  </a:lnTo>
                  <a:lnTo>
                    <a:pt x="28" y="43"/>
                  </a:lnTo>
                  <a:lnTo>
                    <a:pt x="49" y="43"/>
                  </a:lnTo>
                  <a:lnTo>
                    <a:pt x="49" y="3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1" name="Freeform 1083"/>
            <p:cNvSpPr>
              <a:spLocks noChangeAspect="1" noEditPoints="1"/>
            </p:cNvSpPr>
            <p:nvPr/>
          </p:nvSpPr>
          <p:spPr>
            <a:xfrm>
              <a:off x="2547" y="2566"/>
              <a:ext cx="85" cy="126"/>
            </a:xfrm>
            <a:custGeom>
              <a:avLst/>
              <a:gdLst>
                <a:gd name="txL" fmla="*/ 0 w 85"/>
                <a:gd name="txT" fmla="*/ 0 h 126"/>
                <a:gd name="txR" fmla="*/ 85 w 85"/>
                <a:gd name="txB" fmla="*/ 126 h 126"/>
              </a:gdLst>
              <a:ahLst/>
              <a:cxnLst>
                <a:cxn ang="0">
                  <a:pos x="85" y="77"/>
                </a:cxn>
                <a:cxn ang="0">
                  <a:pos x="71" y="98"/>
                </a:cxn>
                <a:cxn ang="0">
                  <a:pos x="49" y="105"/>
                </a:cxn>
                <a:cxn ang="0">
                  <a:pos x="35" y="105"/>
                </a:cxn>
                <a:cxn ang="0">
                  <a:pos x="28" y="98"/>
                </a:cxn>
                <a:cxn ang="0">
                  <a:pos x="21" y="77"/>
                </a:cxn>
                <a:cxn ang="0">
                  <a:pos x="14" y="49"/>
                </a:cxn>
                <a:cxn ang="0">
                  <a:pos x="85" y="49"/>
                </a:cxn>
                <a:cxn ang="0">
                  <a:pos x="78" y="28"/>
                </a:cxn>
                <a:cxn ang="0">
                  <a:pos x="71" y="14"/>
                </a:cxn>
                <a:cxn ang="0">
                  <a:pos x="42" y="0"/>
                </a:cxn>
                <a:cxn ang="0">
                  <a:pos x="28" y="7"/>
                </a:cxn>
                <a:cxn ang="0">
                  <a:pos x="14" y="14"/>
                </a:cxn>
                <a:cxn ang="0">
                  <a:pos x="7" y="42"/>
                </a:cxn>
                <a:cxn ang="0">
                  <a:pos x="0" y="70"/>
                </a:cxn>
                <a:cxn ang="0">
                  <a:pos x="14" y="112"/>
                </a:cxn>
                <a:cxn ang="0">
                  <a:pos x="21" y="119"/>
                </a:cxn>
                <a:cxn ang="0">
                  <a:pos x="42" y="126"/>
                </a:cxn>
                <a:cxn ang="0">
                  <a:pos x="63" y="119"/>
                </a:cxn>
                <a:cxn ang="0">
                  <a:pos x="78" y="105"/>
                </a:cxn>
                <a:cxn ang="0">
                  <a:pos x="85" y="91"/>
                </a:cxn>
                <a:cxn ang="0">
                  <a:pos x="85" y="84"/>
                </a:cxn>
                <a:cxn ang="0">
                  <a:pos x="85" y="77"/>
                </a:cxn>
                <a:cxn ang="0">
                  <a:pos x="14" y="42"/>
                </a:cxn>
                <a:cxn ang="0">
                  <a:pos x="28" y="21"/>
                </a:cxn>
                <a:cxn ang="0">
                  <a:pos x="42" y="14"/>
                </a:cxn>
                <a:cxn ang="0">
                  <a:pos x="56" y="21"/>
                </a:cxn>
                <a:cxn ang="0">
                  <a:pos x="63" y="42"/>
                </a:cxn>
                <a:cxn ang="0">
                  <a:pos x="14" y="42"/>
                </a:cxn>
              </a:cxnLst>
              <a:rect l="txL" t="txT" r="txR" b="txB"/>
              <a:pathLst>
                <a:path w="85" h="126">
                  <a:moveTo>
                    <a:pt x="85" y="77"/>
                  </a:moveTo>
                  <a:lnTo>
                    <a:pt x="71" y="98"/>
                  </a:lnTo>
                  <a:lnTo>
                    <a:pt x="49" y="105"/>
                  </a:lnTo>
                  <a:lnTo>
                    <a:pt x="35" y="105"/>
                  </a:lnTo>
                  <a:lnTo>
                    <a:pt x="28" y="98"/>
                  </a:lnTo>
                  <a:lnTo>
                    <a:pt x="21" y="77"/>
                  </a:lnTo>
                  <a:lnTo>
                    <a:pt x="14" y="49"/>
                  </a:lnTo>
                  <a:lnTo>
                    <a:pt x="85" y="49"/>
                  </a:lnTo>
                  <a:lnTo>
                    <a:pt x="78" y="28"/>
                  </a:lnTo>
                  <a:lnTo>
                    <a:pt x="71" y="14"/>
                  </a:lnTo>
                  <a:lnTo>
                    <a:pt x="42" y="0"/>
                  </a:lnTo>
                  <a:lnTo>
                    <a:pt x="28" y="7"/>
                  </a:lnTo>
                  <a:lnTo>
                    <a:pt x="14" y="14"/>
                  </a:lnTo>
                  <a:lnTo>
                    <a:pt x="7" y="42"/>
                  </a:lnTo>
                  <a:lnTo>
                    <a:pt x="0" y="70"/>
                  </a:lnTo>
                  <a:lnTo>
                    <a:pt x="14" y="112"/>
                  </a:lnTo>
                  <a:lnTo>
                    <a:pt x="21" y="119"/>
                  </a:lnTo>
                  <a:lnTo>
                    <a:pt x="42" y="126"/>
                  </a:lnTo>
                  <a:lnTo>
                    <a:pt x="63" y="119"/>
                  </a:lnTo>
                  <a:lnTo>
                    <a:pt x="78" y="105"/>
                  </a:lnTo>
                  <a:lnTo>
                    <a:pt x="85" y="91"/>
                  </a:lnTo>
                  <a:lnTo>
                    <a:pt x="85" y="84"/>
                  </a:lnTo>
                  <a:lnTo>
                    <a:pt x="85" y="77"/>
                  </a:lnTo>
                  <a:close/>
                  <a:moveTo>
                    <a:pt x="14" y="42"/>
                  </a:moveTo>
                  <a:lnTo>
                    <a:pt x="28" y="21"/>
                  </a:lnTo>
                  <a:lnTo>
                    <a:pt x="42" y="14"/>
                  </a:lnTo>
                  <a:lnTo>
                    <a:pt x="56" y="21"/>
                  </a:lnTo>
                  <a:lnTo>
                    <a:pt x="63" y="42"/>
                  </a:lnTo>
                  <a:lnTo>
                    <a:pt x="14" y="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2" name="Freeform 1084"/>
            <p:cNvSpPr>
              <a:spLocks noChangeAspect="1"/>
            </p:cNvSpPr>
            <p:nvPr/>
          </p:nvSpPr>
          <p:spPr>
            <a:xfrm>
              <a:off x="2639" y="2566"/>
              <a:ext cx="77" cy="126"/>
            </a:xfrm>
            <a:custGeom>
              <a:avLst/>
              <a:gdLst>
                <a:gd name="txL" fmla="*/ 0 w 77"/>
                <a:gd name="txT" fmla="*/ 0 h 126"/>
                <a:gd name="txR" fmla="*/ 77 w 77"/>
                <a:gd name="txB" fmla="*/ 126 h 126"/>
              </a:gdLst>
              <a:ahLst/>
              <a:cxnLst>
                <a:cxn ang="0">
                  <a:pos x="14" y="98"/>
                </a:cxn>
                <a:cxn ang="0">
                  <a:pos x="14" y="112"/>
                </a:cxn>
                <a:cxn ang="0">
                  <a:pos x="14" y="119"/>
                </a:cxn>
                <a:cxn ang="0">
                  <a:pos x="0" y="119"/>
                </a:cxn>
                <a:cxn ang="0">
                  <a:pos x="0" y="126"/>
                </a:cxn>
                <a:cxn ang="0">
                  <a:pos x="56" y="126"/>
                </a:cxn>
                <a:cxn ang="0">
                  <a:pos x="56" y="119"/>
                </a:cxn>
                <a:cxn ang="0">
                  <a:pos x="42" y="119"/>
                </a:cxn>
                <a:cxn ang="0">
                  <a:pos x="35" y="112"/>
                </a:cxn>
                <a:cxn ang="0">
                  <a:pos x="35" y="98"/>
                </a:cxn>
                <a:cxn ang="0">
                  <a:pos x="35" y="42"/>
                </a:cxn>
                <a:cxn ang="0">
                  <a:pos x="42" y="28"/>
                </a:cxn>
                <a:cxn ang="0">
                  <a:pos x="49" y="21"/>
                </a:cxn>
                <a:cxn ang="0">
                  <a:pos x="56" y="28"/>
                </a:cxn>
                <a:cxn ang="0">
                  <a:pos x="63" y="28"/>
                </a:cxn>
                <a:cxn ang="0">
                  <a:pos x="70" y="21"/>
                </a:cxn>
                <a:cxn ang="0">
                  <a:pos x="77" y="14"/>
                </a:cxn>
                <a:cxn ang="0">
                  <a:pos x="70" y="7"/>
                </a:cxn>
                <a:cxn ang="0">
                  <a:pos x="63" y="0"/>
                </a:cxn>
                <a:cxn ang="0">
                  <a:pos x="49" y="7"/>
                </a:cxn>
                <a:cxn ang="0">
                  <a:pos x="35" y="28"/>
                </a:cxn>
                <a:cxn ang="0">
                  <a:pos x="35" y="28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21" y="7"/>
                </a:cxn>
                <a:cxn ang="0">
                  <a:pos x="0" y="14"/>
                </a:cxn>
                <a:cxn ang="0">
                  <a:pos x="0" y="21"/>
                </a:cxn>
                <a:cxn ang="0">
                  <a:pos x="7" y="21"/>
                </a:cxn>
                <a:cxn ang="0">
                  <a:pos x="7" y="21"/>
                </a:cxn>
                <a:cxn ang="0">
                  <a:pos x="14" y="21"/>
                </a:cxn>
                <a:cxn ang="0">
                  <a:pos x="14" y="35"/>
                </a:cxn>
                <a:cxn ang="0">
                  <a:pos x="14" y="98"/>
                </a:cxn>
              </a:cxnLst>
              <a:rect l="txL" t="txT" r="txR" b="txB"/>
              <a:pathLst>
                <a:path w="77" h="126">
                  <a:moveTo>
                    <a:pt x="14" y="98"/>
                  </a:moveTo>
                  <a:lnTo>
                    <a:pt x="14" y="112"/>
                  </a:lnTo>
                  <a:lnTo>
                    <a:pt x="14" y="119"/>
                  </a:lnTo>
                  <a:lnTo>
                    <a:pt x="0" y="119"/>
                  </a:lnTo>
                  <a:lnTo>
                    <a:pt x="0" y="126"/>
                  </a:lnTo>
                  <a:lnTo>
                    <a:pt x="56" y="126"/>
                  </a:lnTo>
                  <a:lnTo>
                    <a:pt x="56" y="119"/>
                  </a:lnTo>
                  <a:lnTo>
                    <a:pt x="42" y="119"/>
                  </a:lnTo>
                  <a:lnTo>
                    <a:pt x="35" y="112"/>
                  </a:lnTo>
                  <a:lnTo>
                    <a:pt x="35" y="98"/>
                  </a:lnTo>
                  <a:lnTo>
                    <a:pt x="35" y="42"/>
                  </a:lnTo>
                  <a:lnTo>
                    <a:pt x="42" y="28"/>
                  </a:lnTo>
                  <a:lnTo>
                    <a:pt x="49" y="21"/>
                  </a:lnTo>
                  <a:lnTo>
                    <a:pt x="56" y="28"/>
                  </a:lnTo>
                  <a:lnTo>
                    <a:pt x="63" y="28"/>
                  </a:lnTo>
                  <a:lnTo>
                    <a:pt x="70" y="21"/>
                  </a:lnTo>
                  <a:lnTo>
                    <a:pt x="77" y="14"/>
                  </a:lnTo>
                  <a:lnTo>
                    <a:pt x="70" y="7"/>
                  </a:lnTo>
                  <a:lnTo>
                    <a:pt x="63" y="0"/>
                  </a:lnTo>
                  <a:lnTo>
                    <a:pt x="49" y="7"/>
                  </a:lnTo>
                  <a:lnTo>
                    <a:pt x="35" y="28"/>
                  </a:lnTo>
                  <a:lnTo>
                    <a:pt x="35" y="0"/>
                  </a:lnTo>
                  <a:lnTo>
                    <a:pt x="21" y="7"/>
                  </a:lnTo>
                  <a:lnTo>
                    <a:pt x="0" y="14"/>
                  </a:lnTo>
                  <a:lnTo>
                    <a:pt x="0" y="21"/>
                  </a:lnTo>
                  <a:lnTo>
                    <a:pt x="7" y="21"/>
                  </a:lnTo>
                  <a:lnTo>
                    <a:pt x="14" y="21"/>
                  </a:lnTo>
                  <a:lnTo>
                    <a:pt x="14" y="35"/>
                  </a:lnTo>
                  <a:lnTo>
                    <a:pt x="14" y="9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3" name="Freeform 1085"/>
            <p:cNvSpPr>
              <a:spLocks noChangeAspect="1"/>
            </p:cNvSpPr>
            <p:nvPr/>
          </p:nvSpPr>
          <p:spPr>
            <a:xfrm>
              <a:off x="2716" y="2573"/>
              <a:ext cx="99" cy="175"/>
            </a:xfrm>
            <a:custGeom>
              <a:avLst/>
              <a:gdLst>
                <a:gd name="txL" fmla="*/ 0 w 99"/>
                <a:gd name="txT" fmla="*/ 0 h 175"/>
                <a:gd name="txR" fmla="*/ 99 w 99"/>
                <a:gd name="txB" fmla="*/ 175 h 175"/>
              </a:gdLst>
              <a:ahLst/>
              <a:cxnLst>
                <a:cxn ang="0">
                  <a:pos x="99" y="0"/>
                </a:cxn>
                <a:cxn ang="0">
                  <a:pos x="70" y="0"/>
                </a:cxn>
                <a:cxn ang="0">
                  <a:pos x="70" y="0"/>
                </a:cxn>
                <a:cxn ang="0">
                  <a:pos x="78" y="7"/>
                </a:cxn>
                <a:cxn ang="0">
                  <a:pos x="85" y="7"/>
                </a:cxn>
                <a:cxn ang="0">
                  <a:pos x="85" y="21"/>
                </a:cxn>
                <a:cxn ang="0">
                  <a:pos x="78" y="28"/>
                </a:cxn>
                <a:cxn ang="0">
                  <a:pos x="56" y="84"/>
                </a:cxn>
                <a:cxn ang="0">
                  <a:pos x="35" y="21"/>
                </a:cxn>
                <a:cxn ang="0">
                  <a:pos x="35" y="14"/>
                </a:cxn>
                <a:cxn ang="0">
                  <a:pos x="35" y="7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4" y="7"/>
                </a:cxn>
                <a:cxn ang="0">
                  <a:pos x="35" y="77"/>
                </a:cxn>
                <a:cxn ang="0">
                  <a:pos x="42" y="98"/>
                </a:cxn>
                <a:cxn ang="0">
                  <a:pos x="49" y="112"/>
                </a:cxn>
                <a:cxn ang="0">
                  <a:pos x="49" y="119"/>
                </a:cxn>
                <a:cxn ang="0">
                  <a:pos x="42" y="133"/>
                </a:cxn>
                <a:cxn ang="0">
                  <a:pos x="35" y="147"/>
                </a:cxn>
                <a:cxn ang="0">
                  <a:pos x="28" y="154"/>
                </a:cxn>
                <a:cxn ang="0">
                  <a:pos x="21" y="154"/>
                </a:cxn>
                <a:cxn ang="0">
                  <a:pos x="14" y="147"/>
                </a:cxn>
                <a:cxn ang="0">
                  <a:pos x="0" y="154"/>
                </a:cxn>
                <a:cxn ang="0">
                  <a:pos x="0" y="161"/>
                </a:cxn>
                <a:cxn ang="0">
                  <a:pos x="7" y="168"/>
                </a:cxn>
                <a:cxn ang="0">
                  <a:pos x="21" y="175"/>
                </a:cxn>
                <a:cxn ang="0">
                  <a:pos x="28" y="168"/>
                </a:cxn>
                <a:cxn ang="0">
                  <a:pos x="42" y="161"/>
                </a:cxn>
                <a:cxn ang="0">
                  <a:pos x="56" y="119"/>
                </a:cxn>
                <a:cxn ang="0">
                  <a:pos x="92" y="14"/>
                </a:cxn>
                <a:cxn ang="0">
                  <a:pos x="99" y="0"/>
                </a:cxn>
                <a:cxn ang="0">
                  <a:pos x="99" y="0"/>
                </a:cxn>
                <a:cxn ang="0">
                  <a:pos x="99" y="0"/>
                </a:cxn>
              </a:cxnLst>
              <a:rect l="txL" t="txT" r="txR" b="txB"/>
              <a:pathLst>
                <a:path w="99" h="175">
                  <a:moveTo>
                    <a:pt x="99" y="0"/>
                  </a:moveTo>
                  <a:lnTo>
                    <a:pt x="70" y="0"/>
                  </a:lnTo>
                  <a:lnTo>
                    <a:pt x="78" y="7"/>
                  </a:lnTo>
                  <a:lnTo>
                    <a:pt x="85" y="7"/>
                  </a:lnTo>
                  <a:lnTo>
                    <a:pt x="85" y="21"/>
                  </a:lnTo>
                  <a:lnTo>
                    <a:pt x="78" y="28"/>
                  </a:lnTo>
                  <a:lnTo>
                    <a:pt x="56" y="84"/>
                  </a:lnTo>
                  <a:lnTo>
                    <a:pt x="35" y="21"/>
                  </a:lnTo>
                  <a:lnTo>
                    <a:pt x="35" y="14"/>
                  </a:lnTo>
                  <a:lnTo>
                    <a:pt x="35" y="7"/>
                  </a:lnTo>
                  <a:lnTo>
                    <a:pt x="4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4" y="7"/>
                  </a:lnTo>
                  <a:lnTo>
                    <a:pt x="35" y="77"/>
                  </a:lnTo>
                  <a:lnTo>
                    <a:pt x="42" y="98"/>
                  </a:lnTo>
                  <a:lnTo>
                    <a:pt x="49" y="112"/>
                  </a:lnTo>
                  <a:lnTo>
                    <a:pt x="49" y="119"/>
                  </a:lnTo>
                  <a:lnTo>
                    <a:pt x="42" y="133"/>
                  </a:lnTo>
                  <a:lnTo>
                    <a:pt x="35" y="147"/>
                  </a:lnTo>
                  <a:lnTo>
                    <a:pt x="28" y="154"/>
                  </a:lnTo>
                  <a:lnTo>
                    <a:pt x="21" y="154"/>
                  </a:lnTo>
                  <a:lnTo>
                    <a:pt x="14" y="147"/>
                  </a:lnTo>
                  <a:lnTo>
                    <a:pt x="0" y="154"/>
                  </a:lnTo>
                  <a:lnTo>
                    <a:pt x="0" y="161"/>
                  </a:lnTo>
                  <a:lnTo>
                    <a:pt x="7" y="168"/>
                  </a:lnTo>
                  <a:lnTo>
                    <a:pt x="21" y="175"/>
                  </a:lnTo>
                  <a:lnTo>
                    <a:pt x="28" y="168"/>
                  </a:lnTo>
                  <a:lnTo>
                    <a:pt x="42" y="161"/>
                  </a:lnTo>
                  <a:lnTo>
                    <a:pt x="56" y="119"/>
                  </a:lnTo>
                  <a:lnTo>
                    <a:pt x="92" y="14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4" name="Freeform 1086"/>
            <p:cNvSpPr>
              <a:spLocks noChangeAspect="1"/>
            </p:cNvSpPr>
            <p:nvPr/>
          </p:nvSpPr>
          <p:spPr>
            <a:xfrm>
              <a:off x="1801" y="1610"/>
              <a:ext cx="211" cy="98"/>
            </a:xfrm>
            <a:custGeom>
              <a:avLst/>
              <a:gdLst>
                <a:gd name="txL" fmla="*/ 0 w 211"/>
                <a:gd name="txT" fmla="*/ 0 h 98"/>
                <a:gd name="txR" fmla="*/ 211 w 211"/>
                <a:gd name="txB" fmla="*/ 98 h 98"/>
              </a:gdLst>
              <a:ahLst/>
              <a:cxnLst>
                <a:cxn ang="0">
                  <a:pos x="105" y="98"/>
                </a:cxn>
                <a:cxn ang="0">
                  <a:pos x="148" y="98"/>
                </a:cxn>
                <a:cxn ang="0">
                  <a:pos x="183" y="84"/>
                </a:cxn>
                <a:cxn ang="0">
                  <a:pos x="204" y="70"/>
                </a:cxn>
                <a:cxn ang="0">
                  <a:pos x="211" y="49"/>
                </a:cxn>
                <a:cxn ang="0">
                  <a:pos x="204" y="28"/>
                </a:cxn>
                <a:cxn ang="0">
                  <a:pos x="183" y="14"/>
                </a:cxn>
                <a:cxn ang="0">
                  <a:pos x="148" y="7"/>
                </a:cxn>
                <a:cxn ang="0">
                  <a:pos x="105" y="0"/>
                </a:cxn>
                <a:cxn ang="0">
                  <a:pos x="63" y="7"/>
                </a:cxn>
                <a:cxn ang="0">
                  <a:pos x="35" y="14"/>
                </a:cxn>
                <a:cxn ang="0">
                  <a:pos x="7" y="28"/>
                </a:cxn>
                <a:cxn ang="0">
                  <a:pos x="0" y="49"/>
                </a:cxn>
                <a:cxn ang="0">
                  <a:pos x="7" y="70"/>
                </a:cxn>
                <a:cxn ang="0">
                  <a:pos x="35" y="84"/>
                </a:cxn>
                <a:cxn ang="0">
                  <a:pos x="63" y="98"/>
                </a:cxn>
                <a:cxn ang="0">
                  <a:pos x="105" y="98"/>
                </a:cxn>
                <a:cxn ang="0">
                  <a:pos x="105" y="98"/>
                </a:cxn>
              </a:cxnLst>
              <a:rect l="txL" t="txT" r="txR" b="txB"/>
              <a:pathLst>
                <a:path w="211" h="98">
                  <a:moveTo>
                    <a:pt x="105" y="98"/>
                  </a:moveTo>
                  <a:lnTo>
                    <a:pt x="148" y="98"/>
                  </a:lnTo>
                  <a:lnTo>
                    <a:pt x="183" y="84"/>
                  </a:lnTo>
                  <a:lnTo>
                    <a:pt x="204" y="70"/>
                  </a:lnTo>
                  <a:lnTo>
                    <a:pt x="211" y="49"/>
                  </a:lnTo>
                  <a:lnTo>
                    <a:pt x="204" y="28"/>
                  </a:lnTo>
                  <a:lnTo>
                    <a:pt x="183" y="14"/>
                  </a:lnTo>
                  <a:lnTo>
                    <a:pt x="148" y="7"/>
                  </a:lnTo>
                  <a:lnTo>
                    <a:pt x="105" y="0"/>
                  </a:lnTo>
                  <a:lnTo>
                    <a:pt x="63" y="7"/>
                  </a:lnTo>
                  <a:lnTo>
                    <a:pt x="35" y="14"/>
                  </a:lnTo>
                  <a:lnTo>
                    <a:pt x="7" y="28"/>
                  </a:lnTo>
                  <a:lnTo>
                    <a:pt x="0" y="49"/>
                  </a:lnTo>
                  <a:lnTo>
                    <a:pt x="7" y="70"/>
                  </a:lnTo>
                  <a:lnTo>
                    <a:pt x="35" y="84"/>
                  </a:lnTo>
                  <a:lnTo>
                    <a:pt x="63" y="98"/>
                  </a:lnTo>
                  <a:lnTo>
                    <a:pt x="105" y="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5" name="Freeform 1087"/>
            <p:cNvSpPr>
              <a:spLocks noChangeAspect="1"/>
            </p:cNvSpPr>
            <p:nvPr/>
          </p:nvSpPr>
          <p:spPr>
            <a:xfrm>
              <a:off x="1906" y="1659"/>
              <a:ext cx="106" cy="49"/>
            </a:xfrm>
            <a:custGeom>
              <a:avLst/>
              <a:gdLst>
                <a:gd name="txL" fmla="*/ 0 w 106"/>
                <a:gd name="txT" fmla="*/ 0 h 49"/>
                <a:gd name="txR" fmla="*/ 106 w 106"/>
                <a:gd name="txB" fmla="*/ 49 h 49"/>
              </a:gdLst>
              <a:ahLst/>
              <a:cxnLst>
                <a:cxn ang="0">
                  <a:pos x="0" y="49"/>
                </a:cxn>
                <a:cxn ang="0">
                  <a:pos x="43" y="49"/>
                </a:cxn>
                <a:cxn ang="0">
                  <a:pos x="78" y="35"/>
                </a:cxn>
                <a:cxn ang="0">
                  <a:pos x="99" y="21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9" y="21"/>
                </a:cxn>
                <a:cxn ang="0">
                  <a:pos x="78" y="35"/>
                </a:cxn>
                <a:cxn ang="0">
                  <a:pos x="43" y="49"/>
                </a:cxn>
                <a:cxn ang="0">
                  <a:pos x="0" y="49"/>
                </a:cxn>
                <a:cxn ang="0">
                  <a:pos x="0" y="49"/>
                </a:cxn>
              </a:cxnLst>
              <a:rect l="txL" t="txT" r="txR" b="txB"/>
              <a:pathLst>
                <a:path w="106" h="49">
                  <a:moveTo>
                    <a:pt x="0" y="49"/>
                  </a:moveTo>
                  <a:lnTo>
                    <a:pt x="43" y="49"/>
                  </a:lnTo>
                  <a:lnTo>
                    <a:pt x="78" y="35"/>
                  </a:lnTo>
                  <a:lnTo>
                    <a:pt x="99" y="21"/>
                  </a:lnTo>
                  <a:lnTo>
                    <a:pt x="106" y="0"/>
                  </a:lnTo>
                  <a:lnTo>
                    <a:pt x="99" y="21"/>
                  </a:lnTo>
                  <a:lnTo>
                    <a:pt x="78" y="35"/>
                  </a:lnTo>
                  <a:lnTo>
                    <a:pt x="43" y="49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6" name="Freeform 1088"/>
            <p:cNvSpPr>
              <a:spLocks noChangeAspect="1" noEditPoints="1"/>
            </p:cNvSpPr>
            <p:nvPr/>
          </p:nvSpPr>
          <p:spPr>
            <a:xfrm>
              <a:off x="1906" y="1610"/>
              <a:ext cx="106" cy="49"/>
            </a:xfrm>
            <a:custGeom>
              <a:avLst/>
              <a:gdLst>
                <a:gd name="txL" fmla="*/ 0 w 106"/>
                <a:gd name="txT" fmla="*/ 0 h 49"/>
                <a:gd name="txR" fmla="*/ 106 w 106"/>
                <a:gd name="txB" fmla="*/ 49 h 49"/>
              </a:gdLst>
              <a:ahLst/>
              <a:cxnLst>
                <a:cxn ang="0">
                  <a:pos x="106" y="49"/>
                </a:cxn>
                <a:cxn ang="0">
                  <a:pos x="99" y="28"/>
                </a:cxn>
                <a:cxn ang="0">
                  <a:pos x="78" y="14"/>
                </a:cxn>
                <a:cxn ang="0">
                  <a:pos x="43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3" y="7"/>
                </a:cxn>
                <a:cxn ang="0">
                  <a:pos x="78" y="14"/>
                </a:cxn>
                <a:cxn ang="0">
                  <a:pos x="99" y="28"/>
                </a:cxn>
                <a:cxn ang="0">
                  <a:pos x="106" y="49"/>
                </a:cxn>
                <a:cxn ang="0">
                  <a:pos x="106" y="49"/>
                </a:cxn>
                <a:cxn ang="0">
                  <a:pos x="106" y="49"/>
                </a:cxn>
                <a:cxn ang="0">
                  <a:pos x="106" y="49"/>
                </a:cxn>
                <a:cxn ang="0">
                  <a:pos x="106" y="49"/>
                </a:cxn>
              </a:cxnLst>
              <a:rect l="txL" t="txT" r="txR" b="txB"/>
              <a:pathLst>
                <a:path w="106" h="49">
                  <a:moveTo>
                    <a:pt x="106" y="49"/>
                  </a:moveTo>
                  <a:lnTo>
                    <a:pt x="99" y="28"/>
                  </a:lnTo>
                  <a:lnTo>
                    <a:pt x="78" y="14"/>
                  </a:lnTo>
                  <a:lnTo>
                    <a:pt x="43" y="7"/>
                  </a:lnTo>
                  <a:lnTo>
                    <a:pt x="0" y="0"/>
                  </a:lnTo>
                  <a:lnTo>
                    <a:pt x="43" y="7"/>
                  </a:lnTo>
                  <a:lnTo>
                    <a:pt x="78" y="14"/>
                  </a:lnTo>
                  <a:lnTo>
                    <a:pt x="99" y="28"/>
                  </a:lnTo>
                  <a:lnTo>
                    <a:pt x="106" y="49"/>
                  </a:lnTo>
                  <a:close/>
                  <a:moveTo>
                    <a:pt x="106" y="49"/>
                  </a:moveTo>
                  <a:lnTo>
                    <a:pt x="106" y="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7" name="Freeform 1089"/>
            <p:cNvSpPr>
              <a:spLocks noChangeAspect="1" noEditPoints="1"/>
            </p:cNvSpPr>
            <p:nvPr/>
          </p:nvSpPr>
          <p:spPr>
            <a:xfrm>
              <a:off x="1801" y="1610"/>
              <a:ext cx="105" cy="49"/>
            </a:xfrm>
            <a:custGeom>
              <a:avLst/>
              <a:gdLst>
                <a:gd name="txL" fmla="*/ 0 w 105"/>
                <a:gd name="txT" fmla="*/ 0 h 49"/>
                <a:gd name="txR" fmla="*/ 105 w 105"/>
                <a:gd name="txB" fmla="*/ 49 h 49"/>
              </a:gdLst>
              <a:ahLst/>
              <a:cxnLst>
                <a:cxn ang="0">
                  <a:pos x="105" y="0"/>
                </a:cxn>
                <a:cxn ang="0">
                  <a:pos x="63" y="7"/>
                </a:cxn>
                <a:cxn ang="0">
                  <a:pos x="35" y="14"/>
                </a:cxn>
                <a:cxn ang="0">
                  <a:pos x="7" y="28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7" y="28"/>
                </a:cxn>
                <a:cxn ang="0">
                  <a:pos x="35" y="14"/>
                </a:cxn>
                <a:cxn ang="0">
                  <a:pos x="63" y="7"/>
                </a:cxn>
                <a:cxn ang="0">
                  <a:pos x="105" y="0"/>
                </a:cxn>
                <a:cxn ang="0">
                  <a:pos x="105" y="0"/>
                </a:cxn>
                <a:cxn ang="0">
                  <a:pos x="105" y="0"/>
                </a:cxn>
                <a:cxn ang="0">
                  <a:pos x="105" y="0"/>
                </a:cxn>
                <a:cxn ang="0">
                  <a:pos x="105" y="0"/>
                </a:cxn>
              </a:cxnLst>
              <a:rect l="txL" t="txT" r="txR" b="txB"/>
              <a:pathLst>
                <a:path w="105" h="49">
                  <a:moveTo>
                    <a:pt x="105" y="0"/>
                  </a:moveTo>
                  <a:lnTo>
                    <a:pt x="63" y="7"/>
                  </a:lnTo>
                  <a:lnTo>
                    <a:pt x="35" y="14"/>
                  </a:lnTo>
                  <a:lnTo>
                    <a:pt x="7" y="28"/>
                  </a:lnTo>
                  <a:lnTo>
                    <a:pt x="0" y="49"/>
                  </a:lnTo>
                  <a:lnTo>
                    <a:pt x="7" y="28"/>
                  </a:lnTo>
                  <a:lnTo>
                    <a:pt x="35" y="14"/>
                  </a:lnTo>
                  <a:lnTo>
                    <a:pt x="63" y="7"/>
                  </a:lnTo>
                  <a:lnTo>
                    <a:pt x="105" y="0"/>
                  </a:lnTo>
                  <a:close/>
                  <a:moveTo>
                    <a:pt x="105" y="0"/>
                  </a:moveTo>
                  <a:lnTo>
                    <a:pt x="10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8" name="Freeform 1090"/>
            <p:cNvSpPr>
              <a:spLocks noChangeAspect="1" noEditPoints="1"/>
            </p:cNvSpPr>
            <p:nvPr/>
          </p:nvSpPr>
          <p:spPr>
            <a:xfrm>
              <a:off x="1801" y="1659"/>
              <a:ext cx="105" cy="49"/>
            </a:xfrm>
            <a:custGeom>
              <a:avLst/>
              <a:gdLst>
                <a:gd name="txL" fmla="*/ 0 w 105"/>
                <a:gd name="txT" fmla="*/ 0 h 49"/>
                <a:gd name="txR" fmla="*/ 105 w 105"/>
                <a:gd name="txB" fmla="*/ 49 h 49"/>
              </a:gdLst>
              <a:ahLst/>
              <a:cxnLst>
                <a:cxn ang="0">
                  <a:pos x="0" y="0"/>
                </a:cxn>
                <a:cxn ang="0">
                  <a:pos x="7" y="21"/>
                </a:cxn>
                <a:cxn ang="0">
                  <a:pos x="35" y="35"/>
                </a:cxn>
                <a:cxn ang="0">
                  <a:pos x="63" y="49"/>
                </a:cxn>
                <a:cxn ang="0">
                  <a:pos x="105" y="49"/>
                </a:cxn>
                <a:cxn ang="0">
                  <a:pos x="105" y="49"/>
                </a:cxn>
                <a:cxn ang="0">
                  <a:pos x="63" y="49"/>
                </a:cxn>
                <a:cxn ang="0">
                  <a:pos x="35" y="35"/>
                </a:cxn>
                <a:cxn ang="0">
                  <a:pos x="7" y="2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5" h="49">
                  <a:moveTo>
                    <a:pt x="0" y="0"/>
                  </a:moveTo>
                  <a:lnTo>
                    <a:pt x="7" y="21"/>
                  </a:lnTo>
                  <a:lnTo>
                    <a:pt x="35" y="35"/>
                  </a:lnTo>
                  <a:lnTo>
                    <a:pt x="63" y="49"/>
                  </a:lnTo>
                  <a:lnTo>
                    <a:pt x="105" y="49"/>
                  </a:lnTo>
                  <a:lnTo>
                    <a:pt x="63" y="49"/>
                  </a:lnTo>
                  <a:lnTo>
                    <a:pt x="35" y="35"/>
                  </a:lnTo>
                  <a:lnTo>
                    <a:pt x="7" y="2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9" name="Freeform 1091"/>
            <p:cNvSpPr>
              <a:spLocks noChangeAspect="1"/>
            </p:cNvSpPr>
            <p:nvPr/>
          </p:nvSpPr>
          <p:spPr>
            <a:xfrm>
              <a:off x="1906" y="1708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0" name="Freeform 1092"/>
            <p:cNvSpPr>
              <a:spLocks noChangeAspect="1"/>
            </p:cNvSpPr>
            <p:nvPr/>
          </p:nvSpPr>
          <p:spPr>
            <a:xfrm>
              <a:off x="1801" y="1659"/>
              <a:ext cx="1" cy="197"/>
            </a:xfrm>
            <a:custGeom>
              <a:avLst/>
              <a:gdLst>
                <a:gd name="txL" fmla="*/ 0 w 1"/>
                <a:gd name="txT" fmla="*/ 0 h 197"/>
                <a:gd name="txR" fmla="*/ 1 w 1"/>
                <a:gd name="txB" fmla="*/ 197 h 197"/>
              </a:gdLst>
              <a:ahLst/>
              <a:cxnLst>
                <a:cxn ang="0">
                  <a:pos x="0" y="0"/>
                </a:cxn>
                <a:cxn ang="0">
                  <a:pos x="0" y="19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97">
                  <a:moveTo>
                    <a:pt x="0" y="0"/>
                  </a:moveTo>
                  <a:lnTo>
                    <a:pt x="0" y="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1" name="Freeform 1093"/>
            <p:cNvSpPr>
              <a:spLocks noChangeAspect="1" noEditPoints="1"/>
            </p:cNvSpPr>
            <p:nvPr/>
          </p:nvSpPr>
          <p:spPr>
            <a:xfrm>
              <a:off x="1801" y="1856"/>
              <a:ext cx="105" cy="49"/>
            </a:xfrm>
            <a:custGeom>
              <a:avLst/>
              <a:gdLst>
                <a:gd name="txL" fmla="*/ 0 w 105"/>
                <a:gd name="txT" fmla="*/ 0 h 49"/>
                <a:gd name="txR" fmla="*/ 105 w 105"/>
                <a:gd name="txB" fmla="*/ 49 h 49"/>
              </a:gdLst>
              <a:ahLst/>
              <a:cxnLst>
                <a:cxn ang="0">
                  <a:pos x="0" y="0"/>
                </a:cxn>
                <a:cxn ang="0">
                  <a:pos x="7" y="21"/>
                </a:cxn>
                <a:cxn ang="0">
                  <a:pos x="35" y="35"/>
                </a:cxn>
                <a:cxn ang="0">
                  <a:pos x="63" y="49"/>
                </a:cxn>
                <a:cxn ang="0">
                  <a:pos x="105" y="49"/>
                </a:cxn>
                <a:cxn ang="0">
                  <a:pos x="105" y="49"/>
                </a:cxn>
                <a:cxn ang="0">
                  <a:pos x="63" y="49"/>
                </a:cxn>
                <a:cxn ang="0">
                  <a:pos x="35" y="35"/>
                </a:cxn>
                <a:cxn ang="0">
                  <a:pos x="7" y="2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5" h="49">
                  <a:moveTo>
                    <a:pt x="0" y="0"/>
                  </a:moveTo>
                  <a:lnTo>
                    <a:pt x="7" y="21"/>
                  </a:lnTo>
                  <a:lnTo>
                    <a:pt x="35" y="35"/>
                  </a:lnTo>
                  <a:lnTo>
                    <a:pt x="63" y="49"/>
                  </a:lnTo>
                  <a:lnTo>
                    <a:pt x="105" y="49"/>
                  </a:lnTo>
                  <a:lnTo>
                    <a:pt x="63" y="49"/>
                  </a:lnTo>
                  <a:lnTo>
                    <a:pt x="35" y="35"/>
                  </a:lnTo>
                  <a:lnTo>
                    <a:pt x="7" y="2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2" name="Freeform 1094"/>
            <p:cNvSpPr>
              <a:spLocks noChangeAspect="1" noEditPoints="1"/>
            </p:cNvSpPr>
            <p:nvPr/>
          </p:nvSpPr>
          <p:spPr>
            <a:xfrm>
              <a:off x="1906" y="1856"/>
              <a:ext cx="106" cy="49"/>
            </a:xfrm>
            <a:custGeom>
              <a:avLst/>
              <a:gdLst>
                <a:gd name="txL" fmla="*/ 0 w 106"/>
                <a:gd name="txT" fmla="*/ 0 h 49"/>
                <a:gd name="txR" fmla="*/ 106 w 106"/>
                <a:gd name="txB" fmla="*/ 49 h 49"/>
              </a:gdLst>
              <a:ahLst/>
              <a:cxnLst>
                <a:cxn ang="0">
                  <a:pos x="0" y="49"/>
                </a:cxn>
                <a:cxn ang="0">
                  <a:pos x="43" y="49"/>
                </a:cxn>
                <a:cxn ang="0">
                  <a:pos x="78" y="35"/>
                </a:cxn>
                <a:cxn ang="0">
                  <a:pos x="99" y="21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9" y="21"/>
                </a:cxn>
                <a:cxn ang="0">
                  <a:pos x="78" y="35"/>
                </a:cxn>
                <a:cxn ang="0">
                  <a:pos x="43" y="4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49"/>
                </a:cxn>
              </a:cxnLst>
              <a:rect l="txL" t="txT" r="txR" b="txB"/>
              <a:pathLst>
                <a:path w="106" h="49">
                  <a:moveTo>
                    <a:pt x="0" y="49"/>
                  </a:moveTo>
                  <a:lnTo>
                    <a:pt x="43" y="49"/>
                  </a:lnTo>
                  <a:lnTo>
                    <a:pt x="78" y="35"/>
                  </a:lnTo>
                  <a:lnTo>
                    <a:pt x="99" y="21"/>
                  </a:lnTo>
                  <a:lnTo>
                    <a:pt x="106" y="0"/>
                  </a:lnTo>
                  <a:lnTo>
                    <a:pt x="99" y="21"/>
                  </a:lnTo>
                  <a:lnTo>
                    <a:pt x="78" y="35"/>
                  </a:lnTo>
                  <a:lnTo>
                    <a:pt x="43" y="49"/>
                  </a:lnTo>
                  <a:lnTo>
                    <a:pt x="0" y="49"/>
                  </a:lnTo>
                  <a:close/>
                  <a:moveTo>
                    <a:pt x="0" y="49"/>
                  </a:moveTo>
                  <a:lnTo>
                    <a:pt x="0" y="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3" name="Freeform 1095"/>
            <p:cNvSpPr>
              <a:spLocks noChangeAspect="1" noEditPoints="1"/>
            </p:cNvSpPr>
            <p:nvPr/>
          </p:nvSpPr>
          <p:spPr>
            <a:xfrm>
              <a:off x="2012" y="1659"/>
              <a:ext cx="1" cy="197"/>
            </a:xfrm>
            <a:custGeom>
              <a:avLst/>
              <a:gdLst>
                <a:gd name="txL" fmla="*/ 0 w 1"/>
                <a:gd name="txT" fmla="*/ 0 h 197"/>
                <a:gd name="txR" fmla="*/ 1 w 1"/>
                <a:gd name="txB" fmla="*/ 197 h 197"/>
              </a:gdLst>
              <a:ahLst/>
              <a:cxnLst>
                <a:cxn ang="0">
                  <a:pos x="0" y="197"/>
                </a:cxn>
                <a:cxn ang="0">
                  <a:pos x="0" y="0"/>
                </a:cxn>
                <a:cxn ang="0">
                  <a:pos x="0" y="197"/>
                </a:cxn>
                <a:cxn ang="0">
                  <a:pos x="0" y="197"/>
                </a:cxn>
                <a:cxn ang="0">
                  <a:pos x="0" y="197"/>
                </a:cxn>
                <a:cxn ang="0">
                  <a:pos x="0" y="197"/>
                </a:cxn>
                <a:cxn ang="0">
                  <a:pos x="0" y="197"/>
                </a:cxn>
              </a:cxnLst>
              <a:rect l="txL" t="txT" r="txR" b="txB"/>
              <a:pathLst>
                <a:path w="1" h="197">
                  <a:moveTo>
                    <a:pt x="0" y="197"/>
                  </a:moveTo>
                  <a:lnTo>
                    <a:pt x="0" y="0"/>
                  </a:lnTo>
                  <a:lnTo>
                    <a:pt x="0" y="197"/>
                  </a:lnTo>
                  <a:close/>
                  <a:moveTo>
                    <a:pt x="0" y="197"/>
                  </a:moveTo>
                  <a:lnTo>
                    <a:pt x="0" y="1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4" name="Freeform 1096"/>
            <p:cNvSpPr>
              <a:spLocks noChangeAspect="1"/>
            </p:cNvSpPr>
            <p:nvPr/>
          </p:nvSpPr>
          <p:spPr>
            <a:xfrm>
              <a:off x="2413" y="1434"/>
              <a:ext cx="219" cy="92"/>
            </a:xfrm>
            <a:custGeom>
              <a:avLst/>
              <a:gdLst>
                <a:gd name="txL" fmla="*/ 0 w 219"/>
                <a:gd name="txT" fmla="*/ 0 h 92"/>
                <a:gd name="txR" fmla="*/ 219 w 219"/>
                <a:gd name="txB" fmla="*/ 92 h 92"/>
              </a:gdLst>
              <a:ahLst/>
              <a:cxnLst>
                <a:cxn ang="0">
                  <a:pos x="106" y="92"/>
                </a:cxn>
                <a:cxn ang="0">
                  <a:pos x="148" y="92"/>
                </a:cxn>
                <a:cxn ang="0">
                  <a:pos x="183" y="78"/>
                </a:cxn>
                <a:cxn ang="0">
                  <a:pos x="212" y="63"/>
                </a:cxn>
                <a:cxn ang="0">
                  <a:pos x="219" y="49"/>
                </a:cxn>
                <a:cxn ang="0">
                  <a:pos x="212" y="28"/>
                </a:cxn>
                <a:cxn ang="0">
                  <a:pos x="183" y="14"/>
                </a:cxn>
                <a:cxn ang="0">
                  <a:pos x="148" y="7"/>
                </a:cxn>
                <a:cxn ang="0">
                  <a:pos x="106" y="0"/>
                </a:cxn>
                <a:cxn ang="0">
                  <a:pos x="64" y="7"/>
                </a:cxn>
                <a:cxn ang="0">
                  <a:pos x="36" y="14"/>
                </a:cxn>
                <a:cxn ang="0">
                  <a:pos x="7" y="28"/>
                </a:cxn>
                <a:cxn ang="0">
                  <a:pos x="0" y="49"/>
                </a:cxn>
                <a:cxn ang="0">
                  <a:pos x="7" y="63"/>
                </a:cxn>
                <a:cxn ang="0">
                  <a:pos x="36" y="78"/>
                </a:cxn>
                <a:cxn ang="0">
                  <a:pos x="64" y="92"/>
                </a:cxn>
                <a:cxn ang="0">
                  <a:pos x="106" y="92"/>
                </a:cxn>
                <a:cxn ang="0">
                  <a:pos x="106" y="92"/>
                </a:cxn>
              </a:cxnLst>
              <a:rect l="txL" t="txT" r="txR" b="txB"/>
              <a:pathLst>
                <a:path w="219" h="92">
                  <a:moveTo>
                    <a:pt x="106" y="92"/>
                  </a:moveTo>
                  <a:lnTo>
                    <a:pt x="148" y="92"/>
                  </a:lnTo>
                  <a:lnTo>
                    <a:pt x="183" y="78"/>
                  </a:lnTo>
                  <a:lnTo>
                    <a:pt x="212" y="63"/>
                  </a:lnTo>
                  <a:lnTo>
                    <a:pt x="219" y="49"/>
                  </a:lnTo>
                  <a:lnTo>
                    <a:pt x="212" y="28"/>
                  </a:lnTo>
                  <a:lnTo>
                    <a:pt x="183" y="14"/>
                  </a:lnTo>
                  <a:lnTo>
                    <a:pt x="148" y="7"/>
                  </a:lnTo>
                  <a:lnTo>
                    <a:pt x="106" y="0"/>
                  </a:lnTo>
                  <a:lnTo>
                    <a:pt x="64" y="7"/>
                  </a:lnTo>
                  <a:lnTo>
                    <a:pt x="36" y="14"/>
                  </a:lnTo>
                  <a:lnTo>
                    <a:pt x="7" y="28"/>
                  </a:lnTo>
                  <a:lnTo>
                    <a:pt x="0" y="49"/>
                  </a:lnTo>
                  <a:lnTo>
                    <a:pt x="7" y="63"/>
                  </a:lnTo>
                  <a:lnTo>
                    <a:pt x="36" y="78"/>
                  </a:lnTo>
                  <a:lnTo>
                    <a:pt x="64" y="92"/>
                  </a:lnTo>
                  <a:lnTo>
                    <a:pt x="106" y="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5" name="Freeform 1097"/>
            <p:cNvSpPr>
              <a:spLocks noChangeAspect="1"/>
            </p:cNvSpPr>
            <p:nvPr/>
          </p:nvSpPr>
          <p:spPr>
            <a:xfrm>
              <a:off x="2519" y="1483"/>
              <a:ext cx="113" cy="43"/>
            </a:xfrm>
            <a:custGeom>
              <a:avLst/>
              <a:gdLst>
                <a:gd name="txL" fmla="*/ 0 w 113"/>
                <a:gd name="txT" fmla="*/ 0 h 43"/>
                <a:gd name="txR" fmla="*/ 113 w 113"/>
                <a:gd name="txB" fmla="*/ 43 h 43"/>
              </a:gdLst>
              <a:ahLst/>
              <a:cxnLst>
                <a:cxn ang="0">
                  <a:pos x="0" y="43"/>
                </a:cxn>
                <a:cxn ang="0">
                  <a:pos x="42" y="43"/>
                </a:cxn>
                <a:cxn ang="0">
                  <a:pos x="77" y="29"/>
                </a:cxn>
                <a:cxn ang="0">
                  <a:pos x="106" y="14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06" y="14"/>
                </a:cxn>
                <a:cxn ang="0">
                  <a:pos x="77" y="29"/>
                </a:cxn>
                <a:cxn ang="0">
                  <a:pos x="42" y="43"/>
                </a:cxn>
                <a:cxn ang="0">
                  <a:pos x="0" y="43"/>
                </a:cxn>
                <a:cxn ang="0">
                  <a:pos x="0" y="43"/>
                </a:cxn>
              </a:cxnLst>
              <a:rect l="txL" t="txT" r="txR" b="txB"/>
              <a:pathLst>
                <a:path w="113" h="43">
                  <a:moveTo>
                    <a:pt x="0" y="43"/>
                  </a:moveTo>
                  <a:lnTo>
                    <a:pt x="42" y="43"/>
                  </a:lnTo>
                  <a:lnTo>
                    <a:pt x="77" y="29"/>
                  </a:lnTo>
                  <a:lnTo>
                    <a:pt x="106" y="14"/>
                  </a:lnTo>
                  <a:lnTo>
                    <a:pt x="113" y="0"/>
                  </a:lnTo>
                  <a:lnTo>
                    <a:pt x="106" y="14"/>
                  </a:lnTo>
                  <a:lnTo>
                    <a:pt x="77" y="29"/>
                  </a:lnTo>
                  <a:lnTo>
                    <a:pt x="42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6" name="Freeform 1098"/>
            <p:cNvSpPr>
              <a:spLocks noChangeAspect="1" noEditPoints="1"/>
            </p:cNvSpPr>
            <p:nvPr/>
          </p:nvSpPr>
          <p:spPr>
            <a:xfrm>
              <a:off x="2519" y="1434"/>
              <a:ext cx="113" cy="49"/>
            </a:xfrm>
            <a:custGeom>
              <a:avLst/>
              <a:gdLst>
                <a:gd name="txL" fmla="*/ 0 w 113"/>
                <a:gd name="txT" fmla="*/ 0 h 49"/>
                <a:gd name="txR" fmla="*/ 113 w 113"/>
                <a:gd name="txB" fmla="*/ 49 h 49"/>
              </a:gdLst>
              <a:ahLst/>
              <a:cxnLst>
                <a:cxn ang="0">
                  <a:pos x="113" y="49"/>
                </a:cxn>
                <a:cxn ang="0">
                  <a:pos x="106" y="28"/>
                </a:cxn>
                <a:cxn ang="0">
                  <a:pos x="77" y="14"/>
                </a:cxn>
                <a:cxn ang="0">
                  <a:pos x="42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2" y="7"/>
                </a:cxn>
                <a:cxn ang="0">
                  <a:pos x="77" y="14"/>
                </a:cxn>
                <a:cxn ang="0">
                  <a:pos x="106" y="28"/>
                </a:cxn>
                <a:cxn ang="0">
                  <a:pos x="113" y="49"/>
                </a:cxn>
                <a:cxn ang="0">
                  <a:pos x="113" y="49"/>
                </a:cxn>
                <a:cxn ang="0">
                  <a:pos x="113" y="49"/>
                </a:cxn>
                <a:cxn ang="0">
                  <a:pos x="113" y="49"/>
                </a:cxn>
                <a:cxn ang="0">
                  <a:pos x="113" y="49"/>
                </a:cxn>
              </a:cxnLst>
              <a:rect l="txL" t="txT" r="txR" b="txB"/>
              <a:pathLst>
                <a:path w="113" h="49">
                  <a:moveTo>
                    <a:pt x="113" y="49"/>
                  </a:moveTo>
                  <a:lnTo>
                    <a:pt x="106" y="28"/>
                  </a:lnTo>
                  <a:lnTo>
                    <a:pt x="77" y="14"/>
                  </a:lnTo>
                  <a:lnTo>
                    <a:pt x="42" y="7"/>
                  </a:lnTo>
                  <a:lnTo>
                    <a:pt x="0" y="0"/>
                  </a:lnTo>
                  <a:lnTo>
                    <a:pt x="42" y="7"/>
                  </a:lnTo>
                  <a:lnTo>
                    <a:pt x="77" y="14"/>
                  </a:lnTo>
                  <a:lnTo>
                    <a:pt x="106" y="28"/>
                  </a:lnTo>
                  <a:lnTo>
                    <a:pt x="113" y="49"/>
                  </a:lnTo>
                  <a:close/>
                  <a:moveTo>
                    <a:pt x="113" y="49"/>
                  </a:moveTo>
                  <a:lnTo>
                    <a:pt x="113" y="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7" name="Freeform 1099"/>
            <p:cNvSpPr>
              <a:spLocks noChangeAspect="1" noEditPoints="1"/>
            </p:cNvSpPr>
            <p:nvPr/>
          </p:nvSpPr>
          <p:spPr>
            <a:xfrm>
              <a:off x="2413" y="1434"/>
              <a:ext cx="106" cy="49"/>
            </a:xfrm>
            <a:custGeom>
              <a:avLst/>
              <a:gdLst>
                <a:gd name="txL" fmla="*/ 0 w 106"/>
                <a:gd name="txT" fmla="*/ 0 h 49"/>
                <a:gd name="txR" fmla="*/ 106 w 106"/>
                <a:gd name="txB" fmla="*/ 49 h 49"/>
              </a:gdLst>
              <a:ahLst/>
              <a:cxnLst>
                <a:cxn ang="0">
                  <a:pos x="106" y="0"/>
                </a:cxn>
                <a:cxn ang="0">
                  <a:pos x="64" y="7"/>
                </a:cxn>
                <a:cxn ang="0">
                  <a:pos x="36" y="14"/>
                </a:cxn>
                <a:cxn ang="0">
                  <a:pos x="7" y="28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7" y="28"/>
                </a:cxn>
                <a:cxn ang="0">
                  <a:pos x="36" y="14"/>
                </a:cxn>
                <a:cxn ang="0">
                  <a:pos x="64" y="7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106" y="0"/>
                </a:cxn>
              </a:cxnLst>
              <a:rect l="txL" t="txT" r="txR" b="txB"/>
              <a:pathLst>
                <a:path w="106" h="49">
                  <a:moveTo>
                    <a:pt x="106" y="0"/>
                  </a:moveTo>
                  <a:lnTo>
                    <a:pt x="64" y="7"/>
                  </a:lnTo>
                  <a:lnTo>
                    <a:pt x="36" y="14"/>
                  </a:lnTo>
                  <a:lnTo>
                    <a:pt x="7" y="28"/>
                  </a:lnTo>
                  <a:lnTo>
                    <a:pt x="0" y="49"/>
                  </a:lnTo>
                  <a:lnTo>
                    <a:pt x="7" y="28"/>
                  </a:lnTo>
                  <a:lnTo>
                    <a:pt x="36" y="14"/>
                  </a:lnTo>
                  <a:lnTo>
                    <a:pt x="64" y="7"/>
                  </a:lnTo>
                  <a:lnTo>
                    <a:pt x="106" y="0"/>
                  </a:lnTo>
                  <a:close/>
                  <a:moveTo>
                    <a:pt x="106" y="0"/>
                  </a:moveTo>
                  <a:lnTo>
                    <a:pt x="10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8" name="Freeform 1100"/>
            <p:cNvSpPr>
              <a:spLocks noChangeAspect="1" noEditPoints="1"/>
            </p:cNvSpPr>
            <p:nvPr/>
          </p:nvSpPr>
          <p:spPr>
            <a:xfrm>
              <a:off x="2413" y="1483"/>
              <a:ext cx="106" cy="43"/>
            </a:xfrm>
            <a:custGeom>
              <a:avLst/>
              <a:gdLst>
                <a:gd name="txL" fmla="*/ 0 w 106"/>
                <a:gd name="txT" fmla="*/ 0 h 43"/>
                <a:gd name="txR" fmla="*/ 106 w 106"/>
                <a:gd name="txB" fmla="*/ 43 h 43"/>
              </a:gdLst>
              <a:ahLst/>
              <a:cxnLst>
                <a:cxn ang="0">
                  <a:pos x="0" y="0"/>
                </a:cxn>
                <a:cxn ang="0">
                  <a:pos x="7" y="14"/>
                </a:cxn>
                <a:cxn ang="0">
                  <a:pos x="36" y="29"/>
                </a:cxn>
                <a:cxn ang="0">
                  <a:pos x="64" y="43"/>
                </a:cxn>
                <a:cxn ang="0">
                  <a:pos x="106" y="43"/>
                </a:cxn>
                <a:cxn ang="0">
                  <a:pos x="106" y="43"/>
                </a:cxn>
                <a:cxn ang="0">
                  <a:pos x="64" y="43"/>
                </a:cxn>
                <a:cxn ang="0">
                  <a:pos x="36" y="29"/>
                </a:cxn>
                <a:cxn ang="0">
                  <a:pos x="7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6" h="43">
                  <a:moveTo>
                    <a:pt x="0" y="0"/>
                  </a:moveTo>
                  <a:lnTo>
                    <a:pt x="7" y="14"/>
                  </a:lnTo>
                  <a:lnTo>
                    <a:pt x="36" y="29"/>
                  </a:lnTo>
                  <a:lnTo>
                    <a:pt x="64" y="43"/>
                  </a:lnTo>
                  <a:lnTo>
                    <a:pt x="106" y="43"/>
                  </a:lnTo>
                  <a:lnTo>
                    <a:pt x="64" y="43"/>
                  </a:lnTo>
                  <a:lnTo>
                    <a:pt x="36" y="29"/>
                  </a:lnTo>
                  <a:lnTo>
                    <a:pt x="7" y="1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9" name="Freeform 1101"/>
            <p:cNvSpPr>
              <a:spLocks noChangeAspect="1"/>
            </p:cNvSpPr>
            <p:nvPr/>
          </p:nvSpPr>
          <p:spPr>
            <a:xfrm>
              <a:off x="2519" y="1526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0" name="Freeform 1102"/>
            <p:cNvSpPr>
              <a:spLocks noChangeAspect="1"/>
            </p:cNvSpPr>
            <p:nvPr/>
          </p:nvSpPr>
          <p:spPr>
            <a:xfrm>
              <a:off x="2413" y="1483"/>
              <a:ext cx="1" cy="197"/>
            </a:xfrm>
            <a:custGeom>
              <a:avLst/>
              <a:gdLst>
                <a:gd name="txL" fmla="*/ 0 w 1"/>
                <a:gd name="txT" fmla="*/ 0 h 197"/>
                <a:gd name="txR" fmla="*/ 1 w 1"/>
                <a:gd name="txB" fmla="*/ 197 h 197"/>
              </a:gdLst>
              <a:ahLst/>
              <a:cxnLst>
                <a:cxn ang="0">
                  <a:pos x="0" y="0"/>
                </a:cxn>
                <a:cxn ang="0">
                  <a:pos x="0" y="197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97">
                  <a:moveTo>
                    <a:pt x="0" y="0"/>
                  </a:moveTo>
                  <a:lnTo>
                    <a:pt x="0" y="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1" name="Freeform 1103"/>
            <p:cNvSpPr>
              <a:spLocks noChangeAspect="1" noEditPoints="1"/>
            </p:cNvSpPr>
            <p:nvPr/>
          </p:nvSpPr>
          <p:spPr>
            <a:xfrm>
              <a:off x="2413" y="1680"/>
              <a:ext cx="106" cy="49"/>
            </a:xfrm>
            <a:custGeom>
              <a:avLst/>
              <a:gdLst>
                <a:gd name="txL" fmla="*/ 0 w 106"/>
                <a:gd name="txT" fmla="*/ 0 h 49"/>
                <a:gd name="txR" fmla="*/ 106 w 106"/>
                <a:gd name="txB" fmla="*/ 49 h 49"/>
              </a:gdLst>
              <a:ahLst/>
              <a:cxnLst>
                <a:cxn ang="0">
                  <a:pos x="0" y="0"/>
                </a:cxn>
                <a:cxn ang="0">
                  <a:pos x="7" y="21"/>
                </a:cxn>
                <a:cxn ang="0">
                  <a:pos x="36" y="35"/>
                </a:cxn>
                <a:cxn ang="0">
                  <a:pos x="64" y="49"/>
                </a:cxn>
                <a:cxn ang="0">
                  <a:pos x="106" y="49"/>
                </a:cxn>
                <a:cxn ang="0">
                  <a:pos x="106" y="49"/>
                </a:cxn>
                <a:cxn ang="0">
                  <a:pos x="64" y="49"/>
                </a:cxn>
                <a:cxn ang="0">
                  <a:pos x="36" y="35"/>
                </a:cxn>
                <a:cxn ang="0">
                  <a:pos x="7" y="2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06" h="49">
                  <a:moveTo>
                    <a:pt x="0" y="0"/>
                  </a:moveTo>
                  <a:lnTo>
                    <a:pt x="7" y="21"/>
                  </a:lnTo>
                  <a:lnTo>
                    <a:pt x="36" y="35"/>
                  </a:lnTo>
                  <a:lnTo>
                    <a:pt x="64" y="49"/>
                  </a:lnTo>
                  <a:lnTo>
                    <a:pt x="106" y="49"/>
                  </a:lnTo>
                  <a:lnTo>
                    <a:pt x="64" y="49"/>
                  </a:lnTo>
                  <a:lnTo>
                    <a:pt x="36" y="35"/>
                  </a:lnTo>
                  <a:lnTo>
                    <a:pt x="7" y="2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2" name="Freeform 1104"/>
            <p:cNvSpPr>
              <a:spLocks noChangeAspect="1" noEditPoints="1"/>
            </p:cNvSpPr>
            <p:nvPr/>
          </p:nvSpPr>
          <p:spPr>
            <a:xfrm>
              <a:off x="2519" y="1680"/>
              <a:ext cx="113" cy="49"/>
            </a:xfrm>
            <a:custGeom>
              <a:avLst/>
              <a:gdLst>
                <a:gd name="txL" fmla="*/ 0 w 113"/>
                <a:gd name="txT" fmla="*/ 0 h 49"/>
                <a:gd name="txR" fmla="*/ 113 w 113"/>
                <a:gd name="txB" fmla="*/ 49 h 49"/>
              </a:gdLst>
              <a:ahLst/>
              <a:cxnLst>
                <a:cxn ang="0">
                  <a:pos x="0" y="49"/>
                </a:cxn>
                <a:cxn ang="0">
                  <a:pos x="42" y="49"/>
                </a:cxn>
                <a:cxn ang="0">
                  <a:pos x="77" y="35"/>
                </a:cxn>
                <a:cxn ang="0">
                  <a:pos x="106" y="2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06" y="21"/>
                </a:cxn>
                <a:cxn ang="0">
                  <a:pos x="77" y="35"/>
                </a:cxn>
                <a:cxn ang="0">
                  <a:pos x="42" y="4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49"/>
                </a:cxn>
                <a:cxn ang="0">
                  <a:pos x="0" y="49"/>
                </a:cxn>
              </a:cxnLst>
              <a:rect l="txL" t="txT" r="txR" b="txB"/>
              <a:pathLst>
                <a:path w="113" h="49">
                  <a:moveTo>
                    <a:pt x="0" y="49"/>
                  </a:moveTo>
                  <a:lnTo>
                    <a:pt x="42" y="49"/>
                  </a:lnTo>
                  <a:lnTo>
                    <a:pt x="77" y="35"/>
                  </a:lnTo>
                  <a:lnTo>
                    <a:pt x="106" y="21"/>
                  </a:lnTo>
                  <a:lnTo>
                    <a:pt x="113" y="0"/>
                  </a:lnTo>
                  <a:lnTo>
                    <a:pt x="106" y="21"/>
                  </a:lnTo>
                  <a:lnTo>
                    <a:pt x="77" y="35"/>
                  </a:lnTo>
                  <a:lnTo>
                    <a:pt x="42" y="49"/>
                  </a:lnTo>
                  <a:lnTo>
                    <a:pt x="0" y="49"/>
                  </a:lnTo>
                  <a:close/>
                  <a:moveTo>
                    <a:pt x="0" y="49"/>
                  </a:moveTo>
                  <a:lnTo>
                    <a:pt x="0" y="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3" name="Freeform 1105"/>
            <p:cNvSpPr>
              <a:spLocks noChangeAspect="1" noEditPoints="1"/>
            </p:cNvSpPr>
            <p:nvPr/>
          </p:nvSpPr>
          <p:spPr>
            <a:xfrm>
              <a:off x="2632" y="1483"/>
              <a:ext cx="1" cy="197"/>
            </a:xfrm>
            <a:custGeom>
              <a:avLst/>
              <a:gdLst>
                <a:gd name="txL" fmla="*/ 0 w 1"/>
                <a:gd name="txT" fmla="*/ 0 h 197"/>
                <a:gd name="txR" fmla="*/ 1 w 1"/>
                <a:gd name="txB" fmla="*/ 197 h 197"/>
              </a:gdLst>
              <a:ahLst/>
              <a:cxnLst>
                <a:cxn ang="0">
                  <a:pos x="0" y="197"/>
                </a:cxn>
                <a:cxn ang="0">
                  <a:pos x="0" y="0"/>
                </a:cxn>
                <a:cxn ang="0">
                  <a:pos x="0" y="197"/>
                </a:cxn>
                <a:cxn ang="0">
                  <a:pos x="0" y="197"/>
                </a:cxn>
                <a:cxn ang="0">
                  <a:pos x="0" y="197"/>
                </a:cxn>
                <a:cxn ang="0">
                  <a:pos x="0" y="197"/>
                </a:cxn>
                <a:cxn ang="0">
                  <a:pos x="0" y="197"/>
                </a:cxn>
              </a:cxnLst>
              <a:rect l="txL" t="txT" r="txR" b="txB"/>
              <a:pathLst>
                <a:path w="1" h="197">
                  <a:moveTo>
                    <a:pt x="0" y="197"/>
                  </a:moveTo>
                  <a:lnTo>
                    <a:pt x="0" y="0"/>
                  </a:lnTo>
                  <a:lnTo>
                    <a:pt x="0" y="197"/>
                  </a:lnTo>
                  <a:close/>
                  <a:moveTo>
                    <a:pt x="0" y="197"/>
                  </a:moveTo>
                  <a:lnTo>
                    <a:pt x="0" y="19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4" name="Freeform 1106"/>
            <p:cNvSpPr>
              <a:spLocks noChangeAspect="1"/>
            </p:cNvSpPr>
            <p:nvPr/>
          </p:nvSpPr>
          <p:spPr>
            <a:xfrm>
              <a:off x="4483" y="1069"/>
              <a:ext cx="465" cy="1335"/>
            </a:xfrm>
            <a:custGeom>
              <a:avLst/>
              <a:gdLst>
                <a:gd name="txL" fmla="*/ 0 w 465"/>
                <a:gd name="txT" fmla="*/ 0 h 1335"/>
                <a:gd name="txR" fmla="*/ 465 w 465"/>
                <a:gd name="txB" fmla="*/ 1335 h 1335"/>
              </a:gdLst>
              <a:ahLst/>
              <a:cxnLst>
                <a:cxn ang="0">
                  <a:pos x="233" y="1335"/>
                </a:cxn>
                <a:cxn ang="0">
                  <a:pos x="282" y="1321"/>
                </a:cxn>
                <a:cxn ang="0">
                  <a:pos x="324" y="1286"/>
                </a:cxn>
                <a:cxn ang="0">
                  <a:pos x="359" y="1223"/>
                </a:cxn>
                <a:cxn ang="0">
                  <a:pos x="395" y="1138"/>
                </a:cxn>
                <a:cxn ang="0">
                  <a:pos x="423" y="1040"/>
                </a:cxn>
                <a:cxn ang="0">
                  <a:pos x="444" y="927"/>
                </a:cxn>
                <a:cxn ang="0">
                  <a:pos x="458" y="801"/>
                </a:cxn>
                <a:cxn ang="0">
                  <a:pos x="465" y="667"/>
                </a:cxn>
                <a:cxn ang="0">
                  <a:pos x="458" y="534"/>
                </a:cxn>
                <a:cxn ang="0">
                  <a:pos x="444" y="407"/>
                </a:cxn>
                <a:cxn ang="0">
                  <a:pos x="423" y="295"/>
                </a:cxn>
                <a:cxn ang="0">
                  <a:pos x="395" y="197"/>
                </a:cxn>
                <a:cxn ang="0">
                  <a:pos x="359" y="112"/>
                </a:cxn>
                <a:cxn ang="0">
                  <a:pos x="324" y="56"/>
                </a:cxn>
                <a:cxn ang="0">
                  <a:pos x="282" y="14"/>
                </a:cxn>
                <a:cxn ang="0">
                  <a:pos x="254" y="7"/>
                </a:cxn>
                <a:cxn ang="0">
                  <a:pos x="233" y="0"/>
                </a:cxn>
                <a:cxn ang="0">
                  <a:pos x="211" y="7"/>
                </a:cxn>
                <a:cxn ang="0">
                  <a:pos x="183" y="14"/>
                </a:cxn>
                <a:cxn ang="0">
                  <a:pos x="141" y="56"/>
                </a:cxn>
                <a:cxn ang="0">
                  <a:pos x="106" y="112"/>
                </a:cxn>
                <a:cxn ang="0">
                  <a:pos x="71" y="197"/>
                </a:cxn>
                <a:cxn ang="0">
                  <a:pos x="42" y="295"/>
                </a:cxn>
                <a:cxn ang="0">
                  <a:pos x="21" y="407"/>
                </a:cxn>
                <a:cxn ang="0">
                  <a:pos x="7" y="534"/>
                </a:cxn>
                <a:cxn ang="0">
                  <a:pos x="0" y="667"/>
                </a:cxn>
                <a:cxn ang="0">
                  <a:pos x="7" y="801"/>
                </a:cxn>
                <a:cxn ang="0">
                  <a:pos x="21" y="927"/>
                </a:cxn>
                <a:cxn ang="0">
                  <a:pos x="42" y="1040"/>
                </a:cxn>
                <a:cxn ang="0">
                  <a:pos x="71" y="1138"/>
                </a:cxn>
                <a:cxn ang="0">
                  <a:pos x="106" y="1223"/>
                </a:cxn>
                <a:cxn ang="0">
                  <a:pos x="141" y="1286"/>
                </a:cxn>
                <a:cxn ang="0">
                  <a:pos x="183" y="1321"/>
                </a:cxn>
                <a:cxn ang="0">
                  <a:pos x="233" y="1335"/>
                </a:cxn>
                <a:cxn ang="0">
                  <a:pos x="233" y="1335"/>
                </a:cxn>
              </a:cxnLst>
              <a:rect l="txL" t="txT" r="txR" b="txB"/>
              <a:pathLst>
                <a:path w="465" h="1335">
                  <a:moveTo>
                    <a:pt x="233" y="1335"/>
                  </a:moveTo>
                  <a:lnTo>
                    <a:pt x="282" y="1321"/>
                  </a:lnTo>
                  <a:lnTo>
                    <a:pt x="324" y="1286"/>
                  </a:lnTo>
                  <a:lnTo>
                    <a:pt x="359" y="1223"/>
                  </a:lnTo>
                  <a:lnTo>
                    <a:pt x="395" y="1138"/>
                  </a:lnTo>
                  <a:lnTo>
                    <a:pt x="423" y="1040"/>
                  </a:lnTo>
                  <a:lnTo>
                    <a:pt x="444" y="927"/>
                  </a:lnTo>
                  <a:lnTo>
                    <a:pt x="458" y="801"/>
                  </a:lnTo>
                  <a:lnTo>
                    <a:pt x="465" y="667"/>
                  </a:lnTo>
                  <a:lnTo>
                    <a:pt x="458" y="534"/>
                  </a:lnTo>
                  <a:lnTo>
                    <a:pt x="444" y="407"/>
                  </a:lnTo>
                  <a:lnTo>
                    <a:pt x="423" y="295"/>
                  </a:lnTo>
                  <a:lnTo>
                    <a:pt x="395" y="197"/>
                  </a:lnTo>
                  <a:lnTo>
                    <a:pt x="359" y="112"/>
                  </a:lnTo>
                  <a:lnTo>
                    <a:pt x="324" y="56"/>
                  </a:lnTo>
                  <a:lnTo>
                    <a:pt x="282" y="14"/>
                  </a:lnTo>
                  <a:lnTo>
                    <a:pt x="254" y="7"/>
                  </a:lnTo>
                  <a:lnTo>
                    <a:pt x="233" y="0"/>
                  </a:lnTo>
                  <a:lnTo>
                    <a:pt x="211" y="7"/>
                  </a:lnTo>
                  <a:lnTo>
                    <a:pt x="183" y="14"/>
                  </a:lnTo>
                  <a:lnTo>
                    <a:pt x="141" y="56"/>
                  </a:lnTo>
                  <a:lnTo>
                    <a:pt x="106" y="112"/>
                  </a:lnTo>
                  <a:lnTo>
                    <a:pt x="71" y="197"/>
                  </a:lnTo>
                  <a:lnTo>
                    <a:pt x="42" y="295"/>
                  </a:lnTo>
                  <a:lnTo>
                    <a:pt x="21" y="407"/>
                  </a:lnTo>
                  <a:lnTo>
                    <a:pt x="7" y="534"/>
                  </a:lnTo>
                  <a:lnTo>
                    <a:pt x="0" y="667"/>
                  </a:lnTo>
                  <a:lnTo>
                    <a:pt x="7" y="801"/>
                  </a:lnTo>
                  <a:lnTo>
                    <a:pt x="21" y="927"/>
                  </a:lnTo>
                  <a:lnTo>
                    <a:pt x="42" y="1040"/>
                  </a:lnTo>
                  <a:lnTo>
                    <a:pt x="71" y="1138"/>
                  </a:lnTo>
                  <a:lnTo>
                    <a:pt x="106" y="1223"/>
                  </a:lnTo>
                  <a:lnTo>
                    <a:pt x="141" y="1286"/>
                  </a:lnTo>
                  <a:lnTo>
                    <a:pt x="183" y="1321"/>
                  </a:lnTo>
                  <a:lnTo>
                    <a:pt x="233" y="13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5" name="Freeform 1107"/>
            <p:cNvSpPr>
              <a:spLocks noChangeAspect="1"/>
            </p:cNvSpPr>
            <p:nvPr/>
          </p:nvSpPr>
          <p:spPr>
            <a:xfrm>
              <a:off x="4716" y="1736"/>
              <a:ext cx="232" cy="668"/>
            </a:xfrm>
            <a:custGeom>
              <a:avLst/>
              <a:gdLst>
                <a:gd name="txL" fmla="*/ 0 w 232"/>
                <a:gd name="txT" fmla="*/ 0 h 668"/>
                <a:gd name="txR" fmla="*/ 232 w 232"/>
                <a:gd name="txB" fmla="*/ 668 h 668"/>
              </a:gdLst>
              <a:ahLst/>
              <a:cxnLst>
                <a:cxn ang="0">
                  <a:pos x="0" y="668"/>
                </a:cxn>
                <a:cxn ang="0">
                  <a:pos x="49" y="654"/>
                </a:cxn>
                <a:cxn ang="0">
                  <a:pos x="91" y="619"/>
                </a:cxn>
                <a:cxn ang="0">
                  <a:pos x="126" y="556"/>
                </a:cxn>
                <a:cxn ang="0">
                  <a:pos x="162" y="471"/>
                </a:cxn>
                <a:cxn ang="0">
                  <a:pos x="190" y="373"/>
                </a:cxn>
                <a:cxn ang="0">
                  <a:pos x="211" y="260"/>
                </a:cxn>
                <a:cxn ang="0">
                  <a:pos x="225" y="134"/>
                </a:cxn>
                <a:cxn ang="0">
                  <a:pos x="232" y="0"/>
                </a:cxn>
                <a:cxn ang="0">
                  <a:pos x="232" y="0"/>
                </a:cxn>
                <a:cxn ang="0">
                  <a:pos x="225" y="134"/>
                </a:cxn>
                <a:cxn ang="0">
                  <a:pos x="211" y="260"/>
                </a:cxn>
                <a:cxn ang="0">
                  <a:pos x="190" y="373"/>
                </a:cxn>
                <a:cxn ang="0">
                  <a:pos x="162" y="471"/>
                </a:cxn>
                <a:cxn ang="0">
                  <a:pos x="126" y="556"/>
                </a:cxn>
                <a:cxn ang="0">
                  <a:pos x="91" y="619"/>
                </a:cxn>
                <a:cxn ang="0">
                  <a:pos x="49" y="654"/>
                </a:cxn>
                <a:cxn ang="0">
                  <a:pos x="0" y="668"/>
                </a:cxn>
                <a:cxn ang="0">
                  <a:pos x="0" y="668"/>
                </a:cxn>
              </a:cxnLst>
              <a:rect l="txL" t="txT" r="txR" b="txB"/>
              <a:pathLst>
                <a:path w="232" h="668">
                  <a:moveTo>
                    <a:pt x="0" y="668"/>
                  </a:moveTo>
                  <a:lnTo>
                    <a:pt x="49" y="654"/>
                  </a:lnTo>
                  <a:lnTo>
                    <a:pt x="91" y="619"/>
                  </a:lnTo>
                  <a:lnTo>
                    <a:pt x="126" y="556"/>
                  </a:lnTo>
                  <a:lnTo>
                    <a:pt x="162" y="471"/>
                  </a:lnTo>
                  <a:lnTo>
                    <a:pt x="190" y="373"/>
                  </a:lnTo>
                  <a:lnTo>
                    <a:pt x="211" y="260"/>
                  </a:lnTo>
                  <a:lnTo>
                    <a:pt x="225" y="134"/>
                  </a:lnTo>
                  <a:lnTo>
                    <a:pt x="232" y="0"/>
                  </a:lnTo>
                  <a:lnTo>
                    <a:pt x="225" y="134"/>
                  </a:lnTo>
                  <a:lnTo>
                    <a:pt x="211" y="260"/>
                  </a:lnTo>
                  <a:lnTo>
                    <a:pt x="190" y="373"/>
                  </a:lnTo>
                  <a:lnTo>
                    <a:pt x="162" y="471"/>
                  </a:lnTo>
                  <a:lnTo>
                    <a:pt x="126" y="556"/>
                  </a:lnTo>
                  <a:lnTo>
                    <a:pt x="91" y="619"/>
                  </a:lnTo>
                  <a:lnTo>
                    <a:pt x="49" y="654"/>
                  </a:lnTo>
                  <a:lnTo>
                    <a:pt x="0" y="66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6" name="Freeform 1108"/>
            <p:cNvSpPr>
              <a:spLocks noChangeAspect="1" noEditPoints="1"/>
            </p:cNvSpPr>
            <p:nvPr/>
          </p:nvSpPr>
          <p:spPr>
            <a:xfrm>
              <a:off x="4716" y="1069"/>
              <a:ext cx="232" cy="667"/>
            </a:xfrm>
            <a:custGeom>
              <a:avLst/>
              <a:gdLst>
                <a:gd name="txL" fmla="*/ 0 w 232"/>
                <a:gd name="txT" fmla="*/ 0 h 667"/>
                <a:gd name="txR" fmla="*/ 232 w 232"/>
                <a:gd name="txB" fmla="*/ 667 h 667"/>
              </a:gdLst>
              <a:ahLst/>
              <a:cxnLst>
                <a:cxn ang="0">
                  <a:pos x="232" y="667"/>
                </a:cxn>
                <a:cxn ang="0">
                  <a:pos x="225" y="534"/>
                </a:cxn>
                <a:cxn ang="0">
                  <a:pos x="211" y="407"/>
                </a:cxn>
                <a:cxn ang="0">
                  <a:pos x="190" y="295"/>
                </a:cxn>
                <a:cxn ang="0">
                  <a:pos x="162" y="197"/>
                </a:cxn>
                <a:cxn ang="0">
                  <a:pos x="126" y="112"/>
                </a:cxn>
                <a:cxn ang="0">
                  <a:pos x="91" y="56"/>
                </a:cxn>
                <a:cxn ang="0">
                  <a:pos x="49" y="14"/>
                </a:cxn>
                <a:cxn ang="0">
                  <a:pos x="21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" y="7"/>
                </a:cxn>
                <a:cxn ang="0">
                  <a:pos x="49" y="14"/>
                </a:cxn>
                <a:cxn ang="0">
                  <a:pos x="91" y="56"/>
                </a:cxn>
                <a:cxn ang="0">
                  <a:pos x="126" y="112"/>
                </a:cxn>
                <a:cxn ang="0">
                  <a:pos x="162" y="197"/>
                </a:cxn>
                <a:cxn ang="0">
                  <a:pos x="190" y="295"/>
                </a:cxn>
                <a:cxn ang="0">
                  <a:pos x="211" y="407"/>
                </a:cxn>
                <a:cxn ang="0">
                  <a:pos x="225" y="534"/>
                </a:cxn>
                <a:cxn ang="0">
                  <a:pos x="232" y="667"/>
                </a:cxn>
                <a:cxn ang="0">
                  <a:pos x="232" y="667"/>
                </a:cxn>
                <a:cxn ang="0">
                  <a:pos x="232" y="667"/>
                </a:cxn>
                <a:cxn ang="0">
                  <a:pos x="232" y="667"/>
                </a:cxn>
                <a:cxn ang="0">
                  <a:pos x="232" y="667"/>
                </a:cxn>
              </a:cxnLst>
              <a:rect l="txL" t="txT" r="txR" b="txB"/>
              <a:pathLst>
                <a:path w="232" h="667">
                  <a:moveTo>
                    <a:pt x="232" y="667"/>
                  </a:moveTo>
                  <a:lnTo>
                    <a:pt x="225" y="534"/>
                  </a:lnTo>
                  <a:lnTo>
                    <a:pt x="211" y="407"/>
                  </a:lnTo>
                  <a:lnTo>
                    <a:pt x="190" y="295"/>
                  </a:lnTo>
                  <a:lnTo>
                    <a:pt x="162" y="197"/>
                  </a:lnTo>
                  <a:lnTo>
                    <a:pt x="126" y="112"/>
                  </a:lnTo>
                  <a:lnTo>
                    <a:pt x="91" y="56"/>
                  </a:lnTo>
                  <a:lnTo>
                    <a:pt x="49" y="14"/>
                  </a:lnTo>
                  <a:lnTo>
                    <a:pt x="21" y="7"/>
                  </a:lnTo>
                  <a:lnTo>
                    <a:pt x="0" y="0"/>
                  </a:lnTo>
                  <a:lnTo>
                    <a:pt x="21" y="7"/>
                  </a:lnTo>
                  <a:lnTo>
                    <a:pt x="49" y="14"/>
                  </a:lnTo>
                  <a:lnTo>
                    <a:pt x="91" y="56"/>
                  </a:lnTo>
                  <a:lnTo>
                    <a:pt x="126" y="112"/>
                  </a:lnTo>
                  <a:lnTo>
                    <a:pt x="162" y="197"/>
                  </a:lnTo>
                  <a:lnTo>
                    <a:pt x="190" y="295"/>
                  </a:lnTo>
                  <a:lnTo>
                    <a:pt x="211" y="407"/>
                  </a:lnTo>
                  <a:lnTo>
                    <a:pt x="225" y="534"/>
                  </a:lnTo>
                  <a:lnTo>
                    <a:pt x="232" y="667"/>
                  </a:lnTo>
                  <a:close/>
                  <a:moveTo>
                    <a:pt x="232" y="667"/>
                  </a:moveTo>
                  <a:lnTo>
                    <a:pt x="232" y="6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7" name="Freeform 1109"/>
            <p:cNvSpPr>
              <a:spLocks noChangeAspect="1" noEditPoints="1"/>
            </p:cNvSpPr>
            <p:nvPr/>
          </p:nvSpPr>
          <p:spPr>
            <a:xfrm>
              <a:off x="4483" y="1069"/>
              <a:ext cx="233" cy="667"/>
            </a:xfrm>
            <a:custGeom>
              <a:avLst/>
              <a:gdLst>
                <a:gd name="txL" fmla="*/ 0 w 233"/>
                <a:gd name="txT" fmla="*/ 0 h 667"/>
                <a:gd name="txR" fmla="*/ 233 w 233"/>
                <a:gd name="txB" fmla="*/ 667 h 667"/>
              </a:gdLst>
              <a:ahLst/>
              <a:cxnLst>
                <a:cxn ang="0">
                  <a:pos x="233" y="0"/>
                </a:cxn>
                <a:cxn ang="0">
                  <a:pos x="211" y="7"/>
                </a:cxn>
                <a:cxn ang="0">
                  <a:pos x="183" y="14"/>
                </a:cxn>
                <a:cxn ang="0">
                  <a:pos x="141" y="56"/>
                </a:cxn>
                <a:cxn ang="0">
                  <a:pos x="106" y="112"/>
                </a:cxn>
                <a:cxn ang="0">
                  <a:pos x="71" y="197"/>
                </a:cxn>
                <a:cxn ang="0">
                  <a:pos x="42" y="295"/>
                </a:cxn>
                <a:cxn ang="0">
                  <a:pos x="21" y="407"/>
                </a:cxn>
                <a:cxn ang="0">
                  <a:pos x="7" y="534"/>
                </a:cxn>
                <a:cxn ang="0">
                  <a:pos x="0" y="667"/>
                </a:cxn>
                <a:cxn ang="0">
                  <a:pos x="0" y="667"/>
                </a:cxn>
                <a:cxn ang="0">
                  <a:pos x="7" y="534"/>
                </a:cxn>
                <a:cxn ang="0">
                  <a:pos x="21" y="407"/>
                </a:cxn>
                <a:cxn ang="0">
                  <a:pos x="42" y="295"/>
                </a:cxn>
                <a:cxn ang="0">
                  <a:pos x="71" y="197"/>
                </a:cxn>
                <a:cxn ang="0">
                  <a:pos x="106" y="112"/>
                </a:cxn>
                <a:cxn ang="0">
                  <a:pos x="141" y="56"/>
                </a:cxn>
                <a:cxn ang="0">
                  <a:pos x="183" y="14"/>
                </a:cxn>
                <a:cxn ang="0">
                  <a:pos x="211" y="7"/>
                </a:cxn>
                <a:cxn ang="0">
                  <a:pos x="233" y="0"/>
                </a:cxn>
                <a:cxn ang="0">
                  <a:pos x="233" y="0"/>
                </a:cxn>
                <a:cxn ang="0">
                  <a:pos x="233" y="0"/>
                </a:cxn>
                <a:cxn ang="0">
                  <a:pos x="233" y="0"/>
                </a:cxn>
                <a:cxn ang="0">
                  <a:pos x="233" y="0"/>
                </a:cxn>
              </a:cxnLst>
              <a:rect l="txL" t="txT" r="txR" b="txB"/>
              <a:pathLst>
                <a:path w="233" h="667">
                  <a:moveTo>
                    <a:pt x="233" y="0"/>
                  </a:moveTo>
                  <a:lnTo>
                    <a:pt x="211" y="7"/>
                  </a:lnTo>
                  <a:lnTo>
                    <a:pt x="183" y="14"/>
                  </a:lnTo>
                  <a:lnTo>
                    <a:pt x="141" y="56"/>
                  </a:lnTo>
                  <a:lnTo>
                    <a:pt x="106" y="112"/>
                  </a:lnTo>
                  <a:lnTo>
                    <a:pt x="71" y="197"/>
                  </a:lnTo>
                  <a:lnTo>
                    <a:pt x="42" y="295"/>
                  </a:lnTo>
                  <a:lnTo>
                    <a:pt x="21" y="407"/>
                  </a:lnTo>
                  <a:lnTo>
                    <a:pt x="7" y="534"/>
                  </a:lnTo>
                  <a:lnTo>
                    <a:pt x="0" y="667"/>
                  </a:lnTo>
                  <a:lnTo>
                    <a:pt x="7" y="534"/>
                  </a:lnTo>
                  <a:lnTo>
                    <a:pt x="21" y="407"/>
                  </a:lnTo>
                  <a:lnTo>
                    <a:pt x="42" y="295"/>
                  </a:lnTo>
                  <a:lnTo>
                    <a:pt x="71" y="197"/>
                  </a:lnTo>
                  <a:lnTo>
                    <a:pt x="106" y="112"/>
                  </a:lnTo>
                  <a:lnTo>
                    <a:pt x="141" y="56"/>
                  </a:lnTo>
                  <a:lnTo>
                    <a:pt x="183" y="14"/>
                  </a:lnTo>
                  <a:lnTo>
                    <a:pt x="211" y="7"/>
                  </a:lnTo>
                  <a:lnTo>
                    <a:pt x="233" y="0"/>
                  </a:lnTo>
                  <a:close/>
                  <a:moveTo>
                    <a:pt x="233" y="0"/>
                  </a:moveTo>
                  <a:lnTo>
                    <a:pt x="23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8" name="Freeform 1110"/>
            <p:cNvSpPr>
              <a:spLocks noChangeAspect="1" noEditPoints="1"/>
            </p:cNvSpPr>
            <p:nvPr/>
          </p:nvSpPr>
          <p:spPr>
            <a:xfrm>
              <a:off x="4483" y="1736"/>
              <a:ext cx="233" cy="668"/>
            </a:xfrm>
            <a:custGeom>
              <a:avLst/>
              <a:gdLst>
                <a:gd name="txL" fmla="*/ 0 w 233"/>
                <a:gd name="txT" fmla="*/ 0 h 668"/>
                <a:gd name="txR" fmla="*/ 233 w 233"/>
                <a:gd name="txB" fmla="*/ 668 h 668"/>
              </a:gdLst>
              <a:ahLst/>
              <a:cxnLst>
                <a:cxn ang="0">
                  <a:pos x="0" y="0"/>
                </a:cxn>
                <a:cxn ang="0">
                  <a:pos x="7" y="134"/>
                </a:cxn>
                <a:cxn ang="0">
                  <a:pos x="21" y="260"/>
                </a:cxn>
                <a:cxn ang="0">
                  <a:pos x="42" y="373"/>
                </a:cxn>
                <a:cxn ang="0">
                  <a:pos x="71" y="471"/>
                </a:cxn>
                <a:cxn ang="0">
                  <a:pos x="106" y="556"/>
                </a:cxn>
                <a:cxn ang="0">
                  <a:pos x="141" y="619"/>
                </a:cxn>
                <a:cxn ang="0">
                  <a:pos x="183" y="654"/>
                </a:cxn>
                <a:cxn ang="0">
                  <a:pos x="233" y="668"/>
                </a:cxn>
                <a:cxn ang="0">
                  <a:pos x="233" y="668"/>
                </a:cxn>
                <a:cxn ang="0">
                  <a:pos x="183" y="654"/>
                </a:cxn>
                <a:cxn ang="0">
                  <a:pos x="141" y="619"/>
                </a:cxn>
                <a:cxn ang="0">
                  <a:pos x="106" y="556"/>
                </a:cxn>
                <a:cxn ang="0">
                  <a:pos x="71" y="471"/>
                </a:cxn>
                <a:cxn ang="0">
                  <a:pos x="42" y="373"/>
                </a:cxn>
                <a:cxn ang="0">
                  <a:pos x="21" y="260"/>
                </a:cxn>
                <a:cxn ang="0">
                  <a:pos x="7" y="13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33" h="668">
                  <a:moveTo>
                    <a:pt x="0" y="0"/>
                  </a:moveTo>
                  <a:lnTo>
                    <a:pt x="7" y="134"/>
                  </a:lnTo>
                  <a:lnTo>
                    <a:pt x="21" y="260"/>
                  </a:lnTo>
                  <a:lnTo>
                    <a:pt x="42" y="373"/>
                  </a:lnTo>
                  <a:lnTo>
                    <a:pt x="71" y="471"/>
                  </a:lnTo>
                  <a:lnTo>
                    <a:pt x="106" y="556"/>
                  </a:lnTo>
                  <a:lnTo>
                    <a:pt x="141" y="619"/>
                  </a:lnTo>
                  <a:lnTo>
                    <a:pt x="183" y="654"/>
                  </a:lnTo>
                  <a:lnTo>
                    <a:pt x="233" y="668"/>
                  </a:lnTo>
                  <a:lnTo>
                    <a:pt x="183" y="654"/>
                  </a:lnTo>
                  <a:lnTo>
                    <a:pt x="141" y="619"/>
                  </a:lnTo>
                  <a:lnTo>
                    <a:pt x="106" y="556"/>
                  </a:lnTo>
                  <a:lnTo>
                    <a:pt x="71" y="471"/>
                  </a:lnTo>
                  <a:lnTo>
                    <a:pt x="42" y="373"/>
                  </a:lnTo>
                  <a:lnTo>
                    <a:pt x="21" y="260"/>
                  </a:lnTo>
                  <a:lnTo>
                    <a:pt x="7" y="13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9" name="Freeform 1111"/>
            <p:cNvSpPr>
              <a:spLocks noChangeAspect="1"/>
            </p:cNvSpPr>
            <p:nvPr/>
          </p:nvSpPr>
          <p:spPr>
            <a:xfrm>
              <a:off x="4716" y="240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0" name="Freeform 1112"/>
            <p:cNvSpPr>
              <a:spLocks noChangeAspect="1"/>
            </p:cNvSpPr>
            <p:nvPr/>
          </p:nvSpPr>
          <p:spPr>
            <a:xfrm>
              <a:off x="2519" y="1195"/>
              <a:ext cx="1521" cy="288"/>
            </a:xfrm>
            <a:custGeom>
              <a:avLst/>
              <a:gdLst>
                <a:gd name="txL" fmla="*/ 0 w 1521"/>
                <a:gd name="txT" fmla="*/ 0 h 288"/>
                <a:gd name="txR" fmla="*/ 1521 w 1521"/>
                <a:gd name="txB" fmla="*/ 288 h 288"/>
              </a:gdLst>
              <a:ahLst/>
              <a:cxnLst>
                <a:cxn ang="0">
                  <a:pos x="0" y="288"/>
                </a:cxn>
                <a:cxn ang="0">
                  <a:pos x="7" y="281"/>
                </a:cxn>
                <a:cxn ang="0">
                  <a:pos x="42" y="267"/>
                </a:cxn>
                <a:cxn ang="0">
                  <a:pos x="84" y="239"/>
                </a:cxn>
                <a:cxn ang="0">
                  <a:pos x="148" y="204"/>
                </a:cxn>
                <a:cxn ang="0">
                  <a:pos x="225" y="169"/>
                </a:cxn>
                <a:cxn ang="0">
                  <a:pos x="317" y="134"/>
                </a:cxn>
                <a:cxn ang="0">
                  <a:pos x="415" y="92"/>
                </a:cxn>
                <a:cxn ang="0">
                  <a:pos x="528" y="64"/>
                </a:cxn>
                <a:cxn ang="0">
                  <a:pos x="648" y="35"/>
                </a:cxn>
                <a:cxn ang="0">
                  <a:pos x="767" y="14"/>
                </a:cxn>
                <a:cxn ang="0">
                  <a:pos x="894" y="0"/>
                </a:cxn>
                <a:cxn ang="0">
                  <a:pos x="1021" y="7"/>
                </a:cxn>
                <a:cxn ang="0">
                  <a:pos x="1148" y="28"/>
                </a:cxn>
                <a:cxn ang="0">
                  <a:pos x="1274" y="64"/>
                </a:cxn>
                <a:cxn ang="0">
                  <a:pos x="1401" y="120"/>
                </a:cxn>
                <a:cxn ang="0">
                  <a:pos x="1521" y="197"/>
                </a:cxn>
                <a:cxn ang="0">
                  <a:pos x="1521" y="197"/>
                </a:cxn>
                <a:cxn ang="0">
                  <a:pos x="1401" y="120"/>
                </a:cxn>
                <a:cxn ang="0">
                  <a:pos x="1274" y="64"/>
                </a:cxn>
                <a:cxn ang="0">
                  <a:pos x="1148" y="28"/>
                </a:cxn>
                <a:cxn ang="0">
                  <a:pos x="1021" y="7"/>
                </a:cxn>
                <a:cxn ang="0">
                  <a:pos x="894" y="0"/>
                </a:cxn>
                <a:cxn ang="0">
                  <a:pos x="767" y="14"/>
                </a:cxn>
                <a:cxn ang="0">
                  <a:pos x="648" y="35"/>
                </a:cxn>
                <a:cxn ang="0">
                  <a:pos x="528" y="64"/>
                </a:cxn>
                <a:cxn ang="0">
                  <a:pos x="415" y="92"/>
                </a:cxn>
                <a:cxn ang="0">
                  <a:pos x="317" y="134"/>
                </a:cxn>
                <a:cxn ang="0">
                  <a:pos x="225" y="169"/>
                </a:cxn>
                <a:cxn ang="0">
                  <a:pos x="148" y="204"/>
                </a:cxn>
                <a:cxn ang="0">
                  <a:pos x="84" y="239"/>
                </a:cxn>
                <a:cxn ang="0">
                  <a:pos x="42" y="267"/>
                </a:cxn>
                <a:cxn ang="0">
                  <a:pos x="7" y="281"/>
                </a:cxn>
                <a:cxn ang="0">
                  <a:pos x="0" y="288"/>
                </a:cxn>
                <a:cxn ang="0">
                  <a:pos x="0" y="288"/>
                </a:cxn>
              </a:cxnLst>
              <a:rect l="txL" t="txT" r="txR" b="txB"/>
              <a:pathLst>
                <a:path w="1521" h="288">
                  <a:moveTo>
                    <a:pt x="0" y="288"/>
                  </a:moveTo>
                  <a:lnTo>
                    <a:pt x="7" y="281"/>
                  </a:lnTo>
                  <a:lnTo>
                    <a:pt x="42" y="267"/>
                  </a:lnTo>
                  <a:lnTo>
                    <a:pt x="84" y="239"/>
                  </a:lnTo>
                  <a:lnTo>
                    <a:pt x="148" y="204"/>
                  </a:lnTo>
                  <a:lnTo>
                    <a:pt x="225" y="169"/>
                  </a:lnTo>
                  <a:lnTo>
                    <a:pt x="317" y="134"/>
                  </a:lnTo>
                  <a:lnTo>
                    <a:pt x="415" y="92"/>
                  </a:lnTo>
                  <a:lnTo>
                    <a:pt x="528" y="64"/>
                  </a:lnTo>
                  <a:lnTo>
                    <a:pt x="648" y="35"/>
                  </a:lnTo>
                  <a:lnTo>
                    <a:pt x="767" y="14"/>
                  </a:lnTo>
                  <a:lnTo>
                    <a:pt x="894" y="0"/>
                  </a:lnTo>
                  <a:lnTo>
                    <a:pt x="1021" y="7"/>
                  </a:lnTo>
                  <a:lnTo>
                    <a:pt x="1148" y="28"/>
                  </a:lnTo>
                  <a:lnTo>
                    <a:pt x="1274" y="64"/>
                  </a:lnTo>
                  <a:lnTo>
                    <a:pt x="1401" y="120"/>
                  </a:lnTo>
                  <a:lnTo>
                    <a:pt x="1521" y="197"/>
                  </a:lnTo>
                  <a:lnTo>
                    <a:pt x="1401" y="120"/>
                  </a:lnTo>
                  <a:lnTo>
                    <a:pt x="1274" y="64"/>
                  </a:lnTo>
                  <a:lnTo>
                    <a:pt x="1148" y="28"/>
                  </a:lnTo>
                  <a:lnTo>
                    <a:pt x="1021" y="7"/>
                  </a:lnTo>
                  <a:lnTo>
                    <a:pt x="894" y="0"/>
                  </a:lnTo>
                  <a:lnTo>
                    <a:pt x="767" y="14"/>
                  </a:lnTo>
                  <a:lnTo>
                    <a:pt x="648" y="35"/>
                  </a:lnTo>
                  <a:lnTo>
                    <a:pt x="528" y="64"/>
                  </a:lnTo>
                  <a:lnTo>
                    <a:pt x="415" y="92"/>
                  </a:lnTo>
                  <a:lnTo>
                    <a:pt x="317" y="134"/>
                  </a:lnTo>
                  <a:lnTo>
                    <a:pt x="225" y="169"/>
                  </a:lnTo>
                  <a:lnTo>
                    <a:pt x="148" y="204"/>
                  </a:lnTo>
                  <a:lnTo>
                    <a:pt x="84" y="239"/>
                  </a:lnTo>
                  <a:lnTo>
                    <a:pt x="42" y="267"/>
                  </a:lnTo>
                  <a:lnTo>
                    <a:pt x="7" y="281"/>
                  </a:lnTo>
                  <a:lnTo>
                    <a:pt x="0" y="28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1" name="Freeform 1113"/>
            <p:cNvSpPr>
              <a:spLocks noChangeAspect="1"/>
            </p:cNvSpPr>
            <p:nvPr/>
          </p:nvSpPr>
          <p:spPr>
            <a:xfrm>
              <a:off x="1906" y="1659"/>
              <a:ext cx="2141" cy="661"/>
            </a:xfrm>
            <a:custGeom>
              <a:avLst/>
              <a:gdLst>
                <a:gd name="txL" fmla="*/ 0 w 2141"/>
                <a:gd name="txT" fmla="*/ 0 h 661"/>
                <a:gd name="txR" fmla="*/ 2141 w 2141"/>
                <a:gd name="txB" fmla="*/ 661 h 661"/>
              </a:gdLst>
              <a:ahLst/>
              <a:cxnLst>
                <a:cxn ang="0">
                  <a:pos x="0" y="0"/>
                </a:cxn>
                <a:cxn ang="0">
                  <a:pos x="14" y="14"/>
                </a:cxn>
                <a:cxn ang="0">
                  <a:pos x="50" y="49"/>
                </a:cxn>
                <a:cxn ang="0">
                  <a:pos x="113" y="98"/>
                </a:cxn>
                <a:cxn ang="0">
                  <a:pos x="191" y="169"/>
                </a:cxn>
                <a:cxn ang="0">
                  <a:pos x="289" y="246"/>
                </a:cxn>
                <a:cxn ang="0">
                  <a:pos x="409" y="323"/>
                </a:cxn>
                <a:cxn ang="0">
                  <a:pos x="543" y="401"/>
                </a:cxn>
                <a:cxn ang="0">
                  <a:pos x="683" y="478"/>
                </a:cxn>
                <a:cxn ang="0">
                  <a:pos x="845" y="548"/>
                </a:cxn>
                <a:cxn ang="0">
                  <a:pos x="1014" y="604"/>
                </a:cxn>
                <a:cxn ang="0">
                  <a:pos x="1190" y="647"/>
                </a:cxn>
                <a:cxn ang="0">
                  <a:pos x="1373" y="661"/>
                </a:cxn>
                <a:cxn ang="0">
                  <a:pos x="1465" y="661"/>
                </a:cxn>
                <a:cxn ang="0">
                  <a:pos x="1563" y="654"/>
                </a:cxn>
                <a:cxn ang="0">
                  <a:pos x="1655" y="640"/>
                </a:cxn>
                <a:cxn ang="0">
                  <a:pos x="1754" y="611"/>
                </a:cxn>
                <a:cxn ang="0">
                  <a:pos x="1852" y="583"/>
                </a:cxn>
                <a:cxn ang="0">
                  <a:pos x="1951" y="541"/>
                </a:cxn>
                <a:cxn ang="0">
                  <a:pos x="2042" y="492"/>
                </a:cxn>
                <a:cxn ang="0">
                  <a:pos x="2141" y="429"/>
                </a:cxn>
                <a:cxn ang="0">
                  <a:pos x="2141" y="429"/>
                </a:cxn>
                <a:cxn ang="0">
                  <a:pos x="2042" y="492"/>
                </a:cxn>
                <a:cxn ang="0">
                  <a:pos x="1951" y="541"/>
                </a:cxn>
                <a:cxn ang="0">
                  <a:pos x="1852" y="583"/>
                </a:cxn>
                <a:cxn ang="0">
                  <a:pos x="1754" y="611"/>
                </a:cxn>
                <a:cxn ang="0">
                  <a:pos x="1655" y="640"/>
                </a:cxn>
                <a:cxn ang="0">
                  <a:pos x="1563" y="654"/>
                </a:cxn>
                <a:cxn ang="0">
                  <a:pos x="1465" y="661"/>
                </a:cxn>
                <a:cxn ang="0">
                  <a:pos x="1373" y="661"/>
                </a:cxn>
                <a:cxn ang="0">
                  <a:pos x="1190" y="647"/>
                </a:cxn>
                <a:cxn ang="0">
                  <a:pos x="1014" y="604"/>
                </a:cxn>
                <a:cxn ang="0">
                  <a:pos x="845" y="548"/>
                </a:cxn>
                <a:cxn ang="0">
                  <a:pos x="683" y="478"/>
                </a:cxn>
                <a:cxn ang="0">
                  <a:pos x="543" y="401"/>
                </a:cxn>
                <a:cxn ang="0">
                  <a:pos x="409" y="323"/>
                </a:cxn>
                <a:cxn ang="0">
                  <a:pos x="289" y="246"/>
                </a:cxn>
                <a:cxn ang="0">
                  <a:pos x="191" y="169"/>
                </a:cxn>
                <a:cxn ang="0">
                  <a:pos x="113" y="98"/>
                </a:cxn>
                <a:cxn ang="0">
                  <a:pos x="50" y="49"/>
                </a:cxn>
                <a:cxn ang="0">
                  <a:pos x="14" y="14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41" h="661">
                  <a:moveTo>
                    <a:pt x="0" y="0"/>
                  </a:moveTo>
                  <a:lnTo>
                    <a:pt x="14" y="14"/>
                  </a:lnTo>
                  <a:lnTo>
                    <a:pt x="50" y="49"/>
                  </a:lnTo>
                  <a:lnTo>
                    <a:pt x="113" y="98"/>
                  </a:lnTo>
                  <a:lnTo>
                    <a:pt x="191" y="169"/>
                  </a:lnTo>
                  <a:lnTo>
                    <a:pt x="289" y="246"/>
                  </a:lnTo>
                  <a:lnTo>
                    <a:pt x="409" y="323"/>
                  </a:lnTo>
                  <a:lnTo>
                    <a:pt x="543" y="401"/>
                  </a:lnTo>
                  <a:lnTo>
                    <a:pt x="683" y="478"/>
                  </a:lnTo>
                  <a:lnTo>
                    <a:pt x="845" y="548"/>
                  </a:lnTo>
                  <a:lnTo>
                    <a:pt x="1014" y="604"/>
                  </a:lnTo>
                  <a:lnTo>
                    <a:pt x="1190" y="647"/>
                  </a:lnTo>
                  <a:lnTo>
                    <a:pt x="1373" y="661"/>
                  </a:lnTo>
                  <a:lnTo>
                    <a:pt x="1465" y="661"/>
                  </a:lnTo>
                  <a:lnTo>
                    <a:pt x="1563" y="654"/>
                  </a:lnTo>
                  <a:lnTo>
                    <a:pt x="1655" y="640"/>
                  </a:lnTo>
                  <a:lnTo>
                    <a:pt x="1754" y="611"/>
                  </a:lnTo>
                  <a:lnTo>
                    <a:pt x="1852" y="583"/>
                  </a:lnTo>
                  <a:lnTo>
                    <a:pt x="1951" y="541"/>
                  </a:lnTo>
                  <a:lnTo>
                    <a:pt x="2042" y="492"/>
                  </a:lnTo>
                  <a:lnTo>
                    <a:pt x="2141" y="429"/>
                  </a:lnTo>
                  <a:lnTo>
                    <a:pt x="2042" y="492"/>
                  </a:lnTo>
                  <a:lnTo>
                    <a:pt x="1951" y="541"/>
                  </a:lnTo>
                  <a:lnTo>
                    <a:pt x="1852" y="583"/>
                  </a:lnTo>
                  <a:lnTo>
                    <a:pt x="1754" y="611"/>
                  </a:lnTo>
                  <a:lnTo>
                    <a:pt x="1655" y="640"/>
                  </a:lnTo>
                  <a:lnTo>
                    <a:pt x="1563" y="654"/>
                  </a:lnTo>
                  <a:lnTo>
                    <a:pt x="1465" y="661"/>
                  </a:lnTo>
                  <a:lnTo>
                    <a:pt x="1373" y="661"/>
                  </a:lnTo>
                  <a:lnTo>
                    <a:pt x="1190" y="647"/>
                  </a:lnTo>
                  <a:lnTo>
                    <a:pt x="1014" y="604"/>
                  </a:lnTo>
                  <a:lnTo>
                    <a:pt x="845" y="548"/>
                  </a:lnTo>
                  <a:lnTo>
                    <a:pt x="683" y="478"/>
                  </a:lnTo>
                  <a:lnTo>
                    <a:pt x="543" y="401"/>
                  </a:lnTo>
                  <a:lnTo>
                    <a:pt x="409" y="323"/>
                  </a:lnTo>
                  <a:lnTo>
                    <a:pt x="289" y="246"/>
                  </a:lnTo>
                  <a:lnTo>
                    <a:pt x="191" y="169"/>
                  </a:lnTo>
                  <a:lnTo>
                    <a:pt x="113" y="98"/>
                  </a:lnTo>
                  <a:lnTo>
                    <a:pt x="50" y="49"/>
                  </a:lnTo>
                  <a:lnTo>
                    <a:pt x="1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53" name="文本框 1"/>
          <p:cNvSpPr txBox="1"/>
          <p:nvPr/>
        </p:nvSpPr>
        <p:spPr>
          <a:xfrm>
            <a:off x="1281113" y="6264275"/>
            <a:ext cx="1800225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实物连接</a:t>
            </a:r>
            <a:r>
              <a:rPr lang="zh-CN" altLang="en-US" sz="1800" dirty="0">
                <a:solidFill>
                  <a:srgbClr val="FF0000"/>
                </a:solidFill>
              </a:rPr>
              <a:t>示意图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27654" name="文本框 102"/>
          <p:cNvSpPr txBox="1"/>
          <p:nvPr/>
        </p:nvSpPr>
        <p:spPr>
          <a:xfrm>
            <a:off x="5421313" y="6248400"/>
            <a:ext cx="2262187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等效的</a:t>
            </a:r>
            <a:r>
              <a:rPr lang="zh-CN" altLang="en-US" sz="1800" dirty="0">
                <a:solidFill>
                  <a:srgbClr val="FF0000"/>
                </a:solidFill>
              </a:rPr>
              <a:t>电路图</a:t>
            </a:r>
            <a:r>
              <a:rPr lang="zh-CN" altLang="en-US" sz="1800" dirty="0"/>
              <a:t>。。。</a:t>
            </a:r>
            <a:endParaRPr lang="zh-CN" altLang="en-US" sz="1800" dirty="0"/>
          </a:p>
        </p:txBody>
      </p:sp>
      <p:sp>
        <p:nvSpPr>
          <p:cNvPr id="27655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6831013" y="6389688"/>
            <a:ext cx="2133600" cy="457200"/>
          </a:xfrm>
        </p:spPr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box 378"/>
          <p:cNvSpPr/>
          <p:nvPr/>
        </p:nvSpPr>
        <p:spPr>
          <a:xfrm>
            <a:off x="815301" y="545289"/>
            <a:ext cx="7987030" cy="3531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31110" algn="l" rtl="0" eaLnBrk="0" fontAlgn="auto" hangingPunct="1">
              <a:lnSpc>
                <a:spcPct val="86000"/>
              </a:lnSpc>
            </a:pPr>
            <a:r>
              <a:rPr sz="3100" b="1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电路的组成</a:t>
            </a:r>
            <a:endParaRPr sz="3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880" algn="l" rtl="0" eaLnBrk="0" fontAlgn="auto" hangingPunct="1">
              <a:lnSpc>
                <a:spcPct val="86000"/>
              </a:lnSpc>
              <a:spcBef>
                <a:spcPts val="730"/>
              </a:spcBef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电路主要由电源、负载、连接导线</a:t>
            </a: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及开关等构成。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5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595" algn="l" rtl="0" eaLnBrk="0" fontAlgn="auto" hangingPunct="1">
              <a:lnSpc>
                <a:spcPct val="86000"/>
              </a:lnSpc>
              <a:spcBef>
                <a:spcPts val="730"/>
              </a:spcBef>
            </a:pPr>
            <a:r>
              <a:rPr sz="2400" b="1" kern="0" spc="-7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电源</a:t>
            </a: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400" b="1" i="1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source</a:t>
            </a:r>
            <a:r>
              <a:rPr sz="2400" b="1" i="1" kern="0" spc="-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b="1" kern="0" spc="-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提供能量或信号。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5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11375" indent="-2098675" algn="l" rtl="0" eaLnBrk="0" fontAlgn="auto" hangingPunct="1">
              <a:lnSpc>
                <a:spcPct val="93000"/>
              </a:lnSpc>
              <a:spcBef>
                <a:spcPts val="725"/>
              </a:spcBef>
            </a:pPr>
            <a:r>
              <a:rPr sz="2400" b="1" kern="0" spc="-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负载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400" b="1" i="1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load</a:t>
            </a:r>
            <a:r>
              <a:rPr sz="2400" b="1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</a:t>
            </a: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将电能转化为其他形式的能量，或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对信号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进行处理。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9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" algn="l" rtl="0" eaLnBrk="0" fontAlgn="auto" hangingPunct="1">
              <a:lnSpc>
                <a:spcPct val="86000"/>
              </a:lnSpc>
              <a:spcBef>
                <a:spcPts val="0"/>
              </a:spcBef>
            </a:pPr>
            <a:r>
              <a:rPr sz="2400" b="1" kern="0" spc="-5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导线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sz="2400" b="1" i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line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）、开关（</a:t>
            </a:r>
            <a:r>
              <a:rPr sz="2400" b="1" i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switch</a:t>
            </a:r>
            <a:r>
              <a:rPr sz="2400" b="1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）等：将电源与负载接</a:t>
            </a:r>
            <a:r>
              <a:rPr sz="2400" b="1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成通路。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0" name="path 380"/>
          <p:cNvSpPr/>
          <p:nvPr/>
        </p:nvSpPr>
        <p:spPr>
          <a:xfrm>
            <a:off x="1600117" y="6378041"/>
            <a:ext cx="3441953" cy="38100"/>
          </a:xfrm>
          <a:custGeom>
            <a:avLst/>
            <a:gdLst/>
            <a:ahLst/>
            <a:cxnLst/>
            <a:rect l="0" t="0" r="0" b="0"/>
            <a:pathLst>
              <a:path w="5420" h="60">
                <a:moveTo>
                  <a:pt x="0" y="30"/>
                </a:moveTo>
                <a:lnTo>
                  <a:pt x="5420" y="30"/>
                </a:lnTo>
              </a:path>
            </a:pathLst>
          </a:custGeom>
          <a:noFill/>
          <a:ln w="38100" cap="flat">
            <a:solidFill>
              <a:srgbClr val="B6DCDF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367644" y="4386998"/>
            <a:ext cx="4144485" cy="20100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box 396"/>
          <p:cNvSpPr/>
          <p:nvPr/>
        </p:nvSpPr>
        <p:spPr>
          <a:xfrm>
            <a:off x="544836" y="1677299"/>
            <a:ext cx="3175000" cy="141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9000"/>
              </a:lnSpc>
            </a:pPr>
            <a:r>
              <a:rPr sz="28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电路建模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 fontAlgn="auto" hangingPunct="1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 fontAlgn="auto" hangingPunct="1">
              <a:lnSpc>
                <a:spcPct val="100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86000"/>
              </a:lnSpc>
              <a:spcBef>
                <a:spcPts val="5"/>
              </a:spcBef>
            </a:pPr>
            <a:r>
              <a:rPr sz="2800" b="1" kern="0" spc="-2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模型和精度的折中。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8" name="path 398"/>
          <p:cNvSpPr/>
          <p:nvPr/>
        </p:nvSpPr>
        <p:spPr>
          <a:xfrm>
            <a:off x="5439568" y="3968750"/>
            <a:ext cx="693737" cy="19050"/>
          </a:xfrm>
          <a:custGeom>
            <a:avLst/>
            <a:gdLst/>
            <a:ahLst/>
            <a:cxnLst/>
            <a:rect l="0" t="0" r="0" b="0"/>
            <a:pathLst>
              <a:path w="1092" h="30">
                <a:moveTo>
                  <a:pt x="0" y="15"/>
                </a:moveTo>
                <a:lnTo>
                  <a:pt x="1092" y="15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7100099" y="4462462"/>
            <a:ext cx="184150" cy="395287"/>
            <a:chOff x="0" y="0"/>
            <a:chExt cx="184150" cy="395287"/>
          </a:xfrm>
        </p:grpSpPr>
        <p:sp>
          <p:nvSpPr>
            <p:cNvPr id="400" name="path 400"/>
            <p:cNvSpPr/>
            <p:nvPr/>
          </p:nvSpPr>
          <p:spPr>
            <a:xfrm>
              <a:off x="15875" y="0"/>
              <a:ext cx="168275" cy="395287"/>
            </a:xfrm>
            <a:custGeom>
              <a:avLst/>
              <a:gdLst/>
              <a:ahLst/>
              <a:cxnLst/>
              <a:rect l="0" t="0" r="0" b="0"/>
              <a:pathLst>
                <a:path w="265" h="622">
                  <a:moveTo>
                    <a:pt x="0" y="25"/>
                  </a:moveTo>
                  <a:lnTo>
                    <a:pt x="240" y="25"/>
                  </a:lnTo>
                  <a:lnTo>
                    <a:pt x="240" y="597"/>
                  </a:lnTo>
                  <a:lnTo>
                    <a:pt x="0" y="597"/>
                  </a:lnTo>
                </a:path>
              </a:pathLst>
            </a:custGeom>
            <a:noFill/>
            <a:ln w="3175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02" name="path 402"/>
            <p:cNvSpPr/>
            <p:nvPr/>
          </p:nvSpPr>
          <p:spPr>
            <a:xfrm>
              <a:off x="0" y="0"/>
              <a:ext cx="184150" cy="395287"/>
            </a:xfrm>
            <a:custGeom>
              <a:avLst/>
              <a:gdLst/>
              <a:ahLst/>
              <a:cxnLst/>
              <a:rect l="0" t="0" r="0" b="0"/>
              <a:pathLst>
                <a:path w="290" h="622">
                  <a:moveTo>
                    <a:pt x="25" y="25"/>
                  </a:moveTo>
                  <a:moveTo>
                    <a:pt x="25" y="25"/>
                  </a:moveTo>
                  <a:lnTo>
                    <a:pt x="265" y="25"/>
                  </a:lnTo>
                  <a:lnTo>
                    <a:pt x="265" y="597"/>
                  </a:lnTo>
                  <a:lnTo>
                    <a:pt x="25" y="597"/>
                  </a:lnTo>
                  <a:lnTo>
                    <a:pt x="25" y="25"/>
                  </a:lnTo>
                  <a:close/>
                </a:path>
              </a:pathLst>
            </a:custGeom>
            <a:solidFill>
              <a:srgbClr val="00FFC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aphicFrame>
        <p:nvGraphicFramePr>
          <p:cNvPr id="404" name="table 404"/>
          <p:cNvGraphicFramePr>
            <a:graphicFrameLocks noGrp="1"/>
          </p:cNvGraphicFramePr>
          <p:nvPr/>
        </p:nvGraphicFramePr>
        <p:xfrm>
          <a:off x="5277649" y="3910012"/>
          <a:ext cx="1923415" cy="1474470"/>
        </p:xfrm>
        <a:graphic>
          <a:graphicData uri="http://schemas.openxmlformats.org/drawingml/2006/table">
            <a:tbl>
              <a:tblPr/>
              <a:tblGrid>
                <a:gridCol w="161925"/>
                <a:gridCol w="152400"/>
                <a:gridCol w="646430"/>
                <a:gridCol w="962660"/>
              </a:tblGrid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0" algn="l" rtl="0" eaLnBrk="0">
                        <a:lnSpc>
                          <a:spcPct val="79000"/>
                        </a:lnSpc>
                      </a:pPr>
                      <a:r>
                        <a:rPr sz="3000" b="1" i="1" kern="0" spc="40" baseline="5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R</a:t>
                      </a:r>
                      <a:r>
                        <a:rPr sz="2100" b="1" i="1" kern="0" spc="40" baseline="-15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2100" baseline="-15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260" algn="l" rtl="0" eaLnBrk="0">
                        <a:lnSpc>
                          <a:spcPct val="79000"/>
                        </a:lnSpc>
                        <a:spcBef>
                          <a:spcPts val="0"/>
                        </a:spcBef>
                      </a:pPr>
                      <a:r>
                        <a:rPr sz="3000" b="1" i="1" kern="0" spc="50" baseline="5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U</a:t>
                      </a:r>
                      <a:r>
                        <a:rPr sz="2100" b="1" i="1" kern="0" spc="50" baseline="-15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2100" baseline="-150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1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190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6" name="textbox 406"/>
          <p:cNvSpPr/>
          <p:nvPr/>
        </p:nvSpPr>
        <p:spPr>
          <a:xfrm>
            <a:off x="2232336" y="6154026"/>
            <a:ext cx="4872354" cy="34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实际电路</a:t>
            </a:r>
            <a:r>
              <a:rPr sz="24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sz="2400" b="1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电路模型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08" name="picture 4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840267" y="4553849"/>
            <a:ext cx="349037" cy="630923"/>
          </a:xfrm>
          <a:prstGeom prst="rect">
            <a:avLst/>
          </a:prstGeom>
        </p:spPr>
      </p:pic>
      <p:graphicFrame>
        <p:nvGraphicFramePr>
          <p:cNvPr id="410" name="table 410"/>
          <p:cNvGraphicFramePr>
            <a:graphicFrameLocks noGrp="1"/>
          </p:cNvGraphicFramePr>
          <p:nvPr/>
        </p:nvGraphicFramePr>
        <p:xfrm>
          <a:off x="2660640" y="3942918"/>
          <a:ext cx="461010" cy="302260"/>
        </p:xfrm>
        <a:graphic>
          <a:graphicData uri="http://schemas.openxmlformats.org/drawingml/2006/table">
            <a:tbl>
              <a:tblPr/>
              <a:tblGrid>
                <a:gridCol w="461010"/>
              </a:tblGrid>
              <a:tr h="299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36" name="group 36"/>
          <p:cNvGrpSpPr/>
          <p:nvPr/>
        </p:nvGrpSpPr>
        <p:grpSpPr>
          <a:xfrm rot="21600000">
            <a:off x="2680100" y="3962475"/>
            <a:ext cx="421943" cy="263806"/>
            <a:chOff x="0" y="0"/>
            <a:chExt cx="421943" cy="263806"/>
          </a:xfrm>
        </p:grpSpPr>
        <p:sp>
          <p:nvSpPr>
            <p:cNvPr id="412" name="path 412"/>
            <p:cNvSpPr/>
            <p:nvPr/>
          </p:nvSpPr>
          <p:spPr>
            <a:xfrm>
              <a:off x="0" y="0"/>
              <a:ext cx="421943" cy="263806"/>
            </a:xfrm>
            <a:custGeom>
              <a:avLst/>
              <a:gdLst/>
              <a:ahLst/>
              <a:cxnLst/>
              <a:rect l="0" t="0" r="0" b="0"/>
              <a:pathLst>
                <a:path w="664" h="415">
                  <a:moveTo>
                    <a:pt x="483" y="88"/>
                  </a:moveTo>
                  <a:lnTo>
                    <a:pt x="501" y="90"/>
                  </a:lnTo>
                  <a:lnTo>
                    <a:pt x="518" y="94"/>
                  </a:lnTo>
                  <a:lnTo>
                    <a:pt x="535" y="100"/>
                  </a:lnTo>
                  <a:lnTo>
                    <a:pt x="551" y="109"/>
                  </a:lnTo>
                  <a:lnTo>
                    <a:pt x="565" y="120"/>
                  </a:lnTo>
                  <a:lnTo>
                    <a:pt x="577" y="133"/>
                  </a:lnTo>
                  <a:lnTo>
                    <a:pt x="587" y="148"/>
                  </a:lnTo>
                  <a:lnTo>
                    <a:pt x="595" y="163"/>
                  </a:lnTo>
                  <a:lnTo>
                    <a:pt x="600" y="181"/>
                  </a:lnTo>
                  <a:lnTo>
                    <a:pt x="603" y="198"/>
                  </a:lnTo>
                  <a:lnTo>
                    <a:pt x="603" y="216"/>
                  </a:lnTo>
                  <a:lnTo>
                    <a:pt x="600" y="233"/>
                  </a:lnTo>
                  <a:lnTo>
                    <a:pt x="595" y="250"/>
                  </a:lnTo>
                  <a:lnTo>
                    <a:pt x="587" y="266"/>
                  </a:lnTo>
                  <a:lnTo>
                    <a:pt x="577" y="281"/>
                  </a:lnTo>
                  <a:lnTo>
                    <a:pt x="565" y="294"/>
                  </a:lnTo>
                  <a:lnTo>
                    <a:pt x="551" y="305"/>
                  </a:lnTo>
                  <a:lnTo>
                    <a:pt x="535" y="314"/>
                  </a:lnTo>
                  <a:lnTo>
                    <a:pt x="518" y="320"/>
                  </a:lnTo>
                  <a:lnTo>
                    <a:pt x="501" y="324"/>
                  </a:lnTo>
                  <a:lnTo>
                    <a:pt x="483" y="326"/>
                  </a:lnTo>
                  <a:lnTo>
                    <a:pt x="464" y="324"/>
                  </a:lnTo>
                  <a:lnTo>
                    <a:pt x="447" y="320"/>
                  </a:lnTo>
                  <a:lnTo>
                    <a:pt x="430" y="314"/>
                  </a:lnTo>
                  <a:lnTo>
                    <a:pt x="415" y="305"/>
                  </a:lnTo>
                  <a:lnTo>
                    <a:pt x="400" y="294"/>
                  </a:lnTo>
                  <a:lnTo>
                    <a:pt x="389" y="281"/>
                  </a:lnTo>
                  <a:lnTo>
                    <a:pt x="378" y="266"/>
                  </a:lnTo>
                  <a:lnTo>
                    <a:pt x="370" y="250"/>
                  </a:lnTo>
                  <a:lnTo>
                    <a:pt x="365" y="233"/>
                  </a:lnTo>
                  <a:lnTo>
                    <a:pt x="362" y="216"/>
                  </a:lnTo>
                  <a:lnTo>
                    <a:pt x="362" y="198"/>
                  </a:lnTo>
                  <a:lnTo>
                    <a:pt x="365" y="181"/>
                  </a:lnTo>
                  <a:lnTo>
                    <a:pt x="370" y="163"/>
                  </a:lnTo>
                  <a:lnTo>
                    <a:pt x="378" y="148"/>
                  </a:lnTo>
                  <a:lnTo>
                    <a:pt x="389" y="133"/>
                  </a:lnTo>
                  <a:lnTo>
                    <a:pt x="400" y="120"/>
                  </a:lnTo>
                  <a:lnTo>
                    <a:pt x="415" y="109"/>
                  </a:lnTo>
                  <a:lnTo>
                    <a:pt x="430" y="100"/>
                  </a:lnTo>
                  <a:lnTo>
                    <a:pt x="447" y="94"/>
                  </a:lnTo>
                  <a:lnTo>
                    <a:pt x="464" y="90"/>
                  </a:lnTo>
                  <a:lnTo>
                    <a:pt x="483" y="88"/>
                  </a:lnTo>
                  <a:close/>
                  <a:moveTo>
                    <a:pt x="558" y="148"/>
                  </a:moveTo>
                  <a:lnTo>
                    <a:pt x="437" y="148"/>
                  </a:lnTo>
                  <a:lnTo>
                    <a:pt x="437" y="177"/>
                  </a:lnTo>
                  <a:lnTo>
                    <a:pt x="423" y="177"/>
                  </a:lnTo>
                  <a:lnTo>
                    <a:pt x="423" y="192"/>
                  </a:lnTo>
                  <a:lnTo>
                    <a:pt x="407" y="192"/>
                  </a:lnTo>
                  <a:lnTo>
                    <a:pt x="407" y="222"/>
                  </a:lnTo>
                  <a:lnTo>
                    <a:pt x="423" y="222"/>
                  </a:lnTo>
                  <a:lnTo>
                    <a:pt x="423" y="237"/>
                  </a:lnTo>
                  <a:lnTo>
                    <a:pt x="437" y="237"/>
                  </a:lnTo>
                  <a:lnTo>
                    <a:pt x="437" y="266"/>
                  </a:lnTo>
                  <a:lnTo>
                    <a:pt x="558" y="266"/>
                  </a:lnTo>
                  <a:lnTo>
                    <a:pt x="558" y="148"/>
                  </a:lnTo>
                  <a:close/>
                  <a:moveTo>
                    <a:pt x="256" y="148"/>
                  </a:moveTo>
                  <a:lnTo>
                    <a:pt x="136" y="148"/>
                  </a:lnTo>
                  <a:lnTo>
                    <a:pt x="136" y="177"/>
                  </a:lnTo>
                  <a:lnTo>
                    <a:pt x="120" y="177"/>
                  </a:lnTo>
                  <a:lnTo>
                    <a:pt x="120" y="192"/>
                  </a:lnTo>
                  <a:lnTo>
                    <a:pt x="106" y="192"/>
                  </a:lnTo>
                  <a:lnTo>
                    <a:pt x="106" y="222"/>
                  </a:lnTo>
                  <a:lnTo>
                    <a:pt x="120" y="222"/>
                  </a:lnTo>
                  <a:lnTo>
                    <a:pt x="120" y="237"/>
                  </a:lnTo>
                  <a:lnTo>
                    <a:pt x="136" y="237"/>
                  </a:lnTo>
                  <a:lnTo>
                    <a:pt x="136" y="266"/>
                  </a:lnTo>
                  <a:lnTo>
                    <a:pt x="256" y="266"/>
                  </a:lnTo>
                  <a:lnTo>
                    <a:pt x="256" y="148"/>
                  </a:lnTo>
                  <a:close/>
                  <a:moveTo>
                    <a:pt x="181" y="88"/>
                  </a:moveTo>
                  <a:lnTo>
                    <a:pt x="199" y="90"/>
                  </a:lnTo>
                  <a:lnTo>
                    <a:pt x="216" y="94"/>
                  </a:lnTo>
                  <a:lnTo>
                    <a:pt x="233" y="100"/>
                  </a:lnTo>
                  <a:lnTo>
                    <a:pt x="249" y="109"/>
                  </a:lnTo>
                  <a:lnTo>
                    <a:pt x="263" y="120"/>
                  </a:lnTo>
                  <a:lnTo>
                    <a:pt x="276" y="133"/>
                  </a:lnTo>
                  <a:lnTo>
                    <a:pt x="285" y="148"/>
                  </a:lnTo>
                  <a:lnTo>
                    <a:pt x="293" y="163"/>
                  </a:lnTo>
                  <a:lnTo>
                    <a:pt x="299" y="181"/>
                  </a:lnTo>
                  <a:lnTo>
                    <a:pt x="301" y="198"/>
                  </a:lnTo>
                  <a:lnTo>
                    <a:pt x="301" y="216"/>
                  </a:lnTo>
                  <a:lnTo>
                    <a:pt x="299" y="233"/>
                  </a:lnTo>
                  <a:lnTo>
                    <a:pt x="293" y="250"/>
                  </a:lnTo>
                  <a:lnTo>
                    <a:pt x="285" y="266"/>
                  </a:lnTo>
                  <a:lnTo>
                    <a:pt x="276" y="281"/>
                  </a:lnTo>
                  <a:lnTo>
                    <a:pt x="263" y="294"/>
                  </a:lnTo>
                  <a:lnTo>
                    <a:pt x="249" y="305"/>
                  </a:lnTo>
                  <a:lnTo>
                    <a:pt x="233" y="314"/>
                  </a:lnTo>
                  <a:lnTo>
                    <a:pt x="216" y="320"/>
                  </a:lnTo>
                  <a:lnTo>
                    <a:pt x="199" y="324"/>
                  </a:lnTo>
                  <a:lnTo>
                    <a:pt x="181" y="326"/>
                  </a:lnTo>
                  <a:lnTo>
                    <a:pt x="163" y="324"/>
                  </a:lnTo>
                  <a:lnTo>
                    <a:pt x="145" y="320"/>
                  </a:lnTo>
                  <a:lnTo>
                    <a:pt x="129" y="314"/>
                  </a:lnTo>
                  <a:lnTo>
                    <a:pt x="113" y="305"/>
                  </a:lnTo>
                  <a:lnTo>
                    <a:pt x="99" y="294"/>
                  </a:lnTo>
                  <a:lnTo>
                    <a:pt x="87" y="281"/>
                  </a:lnTo>
                  <a:lnTo>
                    <a:pt x="76" y="266"/>
                  </a:lnTo>
                  <a:lnTo>
                    <a:pt x="69" y="250"/>
                  </a:lnTo>
                  <a:lnTo>
                    <a:pt x="63" y="233"/>
                  </a:lnTo>
                  <a:lnTo>
                    <a:pt x="60" y="216"/>
                  </a:lnTo>
                  <a:lnTo>
                    <a:pt x="60" y="198"/>
                  </a:lnTo>
                  <a:lnTo>
                    <a:pt x="63" y="181"/>
                  </a:lnTo>
                  <a:lnTo>
                    <a:pt x="69" y="163"/>
                  </a:lnTo>
                  <a:lnTo>
                    <a:pt x="76" y="148"/>
                  </a:lnTo>
                  <a:lnTo>
                    <a:pt x="87" y="133"/>
                  </a:lnTo>
                  <a:lnTo>
                    <a:pt x="99" y="120"/>
                  </a:lnTo>
                  <a:lnTo>
                    <a:pt x="113" y="109"/>
                  </a:lnTo>
                  <a:lnTo>
                    <a:pt x="129" y="100"/>
                  </a:lnTo>
                  <a:lnTo>
                    <a:pt x="145" y="94"/>
                  </a:lnTo>
                  <a:lnTo>
                    <a:pt x="163" y="90"/>
                  </a:lnTo>
                  <a:lnTo>
                    <a:pt x="181" y="88"/>
                  </a:lnTo>
                  <a:close/>
                  <a:moveTo>
                    <a:pt x="0" y="415"/>
                  </a:moveTo>
                  <a:lnTo>
                    <a:pt x="664" y="415"/>
                  </a:lnTo>
                  <a:lnTo>
                    <a:pt x="664" y="0"/>
                  </a:lnTo>
                  <a:lnTo>
                    <a:pt x="0" y="0"/>
                  </a:lnTo>
                  <a:lnTo>
                    <a:pt x="0" y="415"/>
                  </a:lnTo>
                  <a:close/>
                </a:path>
              </a:pathLst>
            </a:custGeom>
            <a:noFill/>
            <a:ln w="438" cap="sq">
              <a:solidFill>
                <a:srgbClr val="000000"/>
              </a:solidFill>
              <a:prstDash val="solid"/>
              <a:miter lim="10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14" name="path 414"/>
            <p:cNvSpPr/>
            <p:nvPr/>
          </p:nvSpPr>
          <p:spPr>
            <a:xfrm>
              <a:off x="92467" y="114224"/>
              <a:ext cx="228600" cy="38100"/>
            </a:xfrm>
            <a:custGeom>
              <a:avLst/>
              <a:gdLst/>
              <a:ahLst/>
              <a:cxnLst/>
              <a:rect l="0" t="0" r="0" b="0"/>
              <a:pathLst>
                <a:path w="360" h="60">
                  <a:moveTo>
                    <a:pt x="0" y="30"/>
                  </a:moveTo>
                  <a:lnTo>
                    <a:pt x="360" y="30"/>
                  </a:lnTo>
                </a:path>
              </a:pathLst>
            </a:custGeom>
            <a:noFill/>
            <a:ln w="381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21600000">
            <a:off x="3077368" y="4089401"/>
            <a:ext cx="923925" cy="1003300"/>
            <a:chOff x="0" y="0"/>
            <a:chExt cx="923925" cy="1003300"/>
          </a:xfrm>
        </p:grpSpPr>
        <p:sp>
          <p:nvSpPr>
            <p:cNvPr id="416" name="path 416"/>
            <p:cNvSpPr/>
            <p:nvPr/>
          </p:nvSpPr>
          <p:spPr>
            <a:xfrm>
              <a:off x="0" y="0"/>
              <a:ext cx="914400" cy="1003300"/>
            </a:xfrm>
            <a:custGeom>
              <a:avLst/>
              <a:gdLst/>
              <a:ahLst/>
              <a:cxnLst/>
              <a:rect l="0" t="0" r="0" b="0"/>
              <a:pathLst>
                <a:path w="1440" h="1580">
                  <a:moveTo>
                    <a:pt x="0" y="10"/>
                  </a:moveTo>
                  <a:lnTo>
                    <a:pt x="523" y="10"/>
                  </a:lnTo>
                  <a:lnTo>
                    <a:pt x="523" y="1570"/>
                  </a:lnTo>
                  <a:lnTo>
                    <a:pt x="1440" y="157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18" name="path 418"/>
            <p:cNvSpPr/>
            <p:nvPr/>
          </p:nvSpPr>
          <p:spPr>
            <a:xfrm>
              <a:off x="556551" y="261937"/>
              <a:ext cx="367373" cy="406366"/>
            </a:xfrm>
            <a:custGeom>
              <a:avLst/>
              <a:gdLst/>
              <a:ahLst/>
              <a:cxnLst/>
              <a:rect l="0" t="0" r="0" b="0"/>
              <a:pathLst>
                <a:path w="578" h="639">
                  <a:moveTo>
                    <a:pt x="216" y="630"/>
                  </a:moveTo>
                  <a:lnTo>
                    <a:pt x="1" y="607"/>
                  </a:lnTo>
                  <a:moveTo>
                    <a:pt x="568" y="0"/>
                  </a:moveTo>
                  <a:lnTo>
                    <a:pt x="568" y="165"/>
                  </a:lnTo>
                  <a:moveTo>
                    <a:pt x="202" y="78"/>
                  </a:moveTo>
                  <a:lnTo>
                    <a:pt x="324" y="223"/>
                  </a:lnTo>
                  <a:moveTo>
                    <a:pt x="75" y="330"/>
                  </a:moveTo>
                  <a:lnTo>
                    <a:pt x="211" y="396"/>
                  </a:lnTo>
                </a:path>
              </a:pathLst>
            </a:custGeom>
            <a:noFill/>
            <a:ln w="12700" cap="flat">
              <a:solidFill>
                <a:srgbClr val="FF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 rot="21600000">
            <a:off x="1775618" y="4487864"/>
            <a:ext cx="469900" cy="774700"/>
            <a:chOff x="0" y="0"/>
            <a:chExt cx="469900" cy="774700"/>
          </a:xfrm>
        </p:grpSpPr>
        <p:sp>
          <p:nvSpPr>
            <p:cNvPr id="420" name="path 420"/>
            <p:cNvSpPr/>
            <p:nvPr/>
          </p:nvSpPr>
          <p:spPr>
            <a:xfrm>
              <a:off x="6350" y="101598"/>
              <a:ext cx="457200" cy="666750"/>
            </a:xfrm>
            <a:custGeom>
              <a:avLst/>
              <a:gdLst/>
              <a:ahLst/>
              <a:cxnLst/>
              <a:rect l="0" t="0" r="0" b="0"/>
              <a:pathLst>
                <a:path w="720" h="1050">
                  <a:moveTo>
                    <a:pt x="0" y="0"/>
                  </a:moveTo>
                  <a:moveTo>
                    <a:pt x="0" y="0"/>
                  </a:moveTo>
                  <a:cubicBezTo>
                    <a:pt x="0" y="82"/>
                    <a:pt x="161" y="150"/>
                    <a:pt x="360" y="150"/>
                  </a:cubicBezTo>
                  <a:cubicBezTo>
                    <a:pt x="558" y="150"/>
                    <a:pt x="720" y="82"/>
                    <a:pt x="720" y="0"/>
                  </a:cubicBezTo>
                  <a:lnTo>
                    <a:pt x="720" y="900"/>
                  </a:lnTo>
                  <a:cubicBezTo>
                    <a:pt x="720" y="982"/>
                    <a:pt x="558" y="1050"/>
                    <a:pt x="360" y="1050"/>
                  </a:cubicBezTo>
                  <a:cubicBezTo>
                    <a:pt x="161" y="1050"/>
                    <a:pt x="0" y="982"/>
                    <a:pt x="0" y="9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FF3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22" name="path 422"/>
            <p:cNvSpPr/>
            <p:nvPr/>
          </p:nvSpPr>
          <p:spPr>
            <a:xfrm>
              <a:off x="6350" y="6348"/>
              <a:ext cx="457200" cy="190500"/>
            </a:xfrm>
            <a:custGeom>
              <a:avLst/>
              <a:gdLst/>
              <a:ahLst/>
              <a:cxnLst/>
              <a:rect l="0" t="0" r="0" b="0"/>
              <a:pathLst>
                <a:path w="720" h="300">
                  <a:moveTo>
                    <a:pt x="0" y="150"/>
                  </a:moveTo>
                  <a:cubicBezTo>
                    <a:pt x="0" y="67"/>
                    <a:pt x="161" y="0"/>
                    <a:pt x="360" y="0"/>
                  </a:cubicBezTo>
                  <a:cubicBezTo>
                    <a:pt x="558" y="0"/>
                    <a:pt x="720" y="67"/>
                    <a:pt x="720" y="150"/>
                  </a:cubicBezTo>
                  <a:cubicBezTo>
                    <a:pt x="720" y="232"/>
                    <a:pt x="558" y="300"/>
                    <a:pt x="360" y="300"/>
                  </a:cubicBezTo>
                  <a:cubicBezTo>
                    <a:pt x="161" y="300"/>
                    <a:pt x="0" y="232"/>
                    <a:pt x="0" y="150"/>
                  </a:cubicBezTo>
                </a:path>
              </a:pathLst>
            </a:custGeom>
            <a:solidFill>
              <a:srgbClr val="E0FF8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24" name="path 424"/>
            <p:cNvSpPr/>
            <p:nvPr/>
          </p:nvSpPr>
          <p:spPr>
            <a:xfrm>
              <a:off x="0" y="0"/>
              <a:ext cx="469900" cy="774700"/>
            </a:xfrm>
            <a:custGeom>
              <a:avLst/>
              <a:gdLst/>
              <a:ahLst/>
              <a:cxnLst/>
              <a:rect l="0" t="0" r="0" b="0"/>
              <a:pathLst>
                <a:path w="740" h="1220">
                  <a:moveTo>
                    <a:pt x="730" y="160"/>
                  </a:moveTo>
                  <a:cubicBezTo>
                    <a:pt x="730" y="242"/>
                    <a:pt x="568" y="310"/>
                    <a:pt x="370" y="310"/>
                  </a:cubicBezTo>
                  <a:cubicBezTo>
                    <a:pt x="171" y="310"/>
                    <a:pt x="10" y="242"/>
                    <a:pt x="10" y="160"/>
                  </a:cubicBezTo>
                  <a:cubicBezTo>
                    <a:pt x="10" y="77"/>
                    <a:pt x="171" y="10"/>
                    <a:pt x="370" y="10"/>
                  </a:cubicBezTo>
                  <a:cubicBezTo>
                    <a:pt x="568" y="10"/>
                    <a:pt x="730" y="77"/>
                    <a:pt x="730" y="160"/>
                  </a:cubicBezTo>
                  <a:moveTo>
                    <a:pt x="730" y="160"/>
                  </a:moveTo>
                  <a:lnTo>
                    <a:pt x="730" y="1060"/>
                  </a:lnTo>
                  <a:cubicBezTo>
                    <a:pt x="730" y="1142"/>
                    <a:pt x="568" y="1210"/>
                    <a:pt x="370" y="1210"/>
                  </a:cubicBezTo>
                  <a:cubicBezTo>
                    <a:pt x="171" y="1210"/>
                    <a:pt x="10" y="1142"/>
                    <a:pt x="10" y="1060"/>
                  </a:cubicBezTo>
                  <a:lnTo>
                    <a:pt x="10" y="160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26" name="path 426"/>
            <p:cNvSpPr/>
            <p:nvPr/>
          </p:nvSpPr>
          <p:spPr>
            <a:xfrm>
              <a:off x="158750" y="37175"/>
              <a:ext cx="152400" cy="104114"/>
            </a:xfrm>
            <a:custGeom>
              <a:avLst/>
              <a:gdLst/>
              <a:ahLst/>
              <a:cxnLst/>
              <a:rect l="0" t="0" r="0" b="0"/>
              <a:pathLst>
                <a:path w="240" h="163">
                  <a:moveTo>
                    <a:pt x="0" y="0"/>
                  </a:moveTo>
                  <a:cubicBezTo>
                    <a:pt x="0" y="26"/>
                    <a:pt x="53" y="48"/>
                    <a:pt x="120" y="48"/>
                  </a:cubicBezTo>
                  <a:cubicBezTo>
                    <a:pt x="186" y="48"/>
                    <a:pt x="240" y="26"/>
                    <a:pt x="240" y="0"/>
                  </a:cubicBezTo>
                  <a:lnTo>
                    <a:pt x="240" y="115"/>
                  </a:lnTo>
                  <a:cubicBezTo>
                    <a:pt x="240" y="142"/>
                    <a:pt x="186" y="163"/>
                    <a:pt x="120" y="163"/>
                  </a:cubicBezTo>
                  <a:cubicBezTo>
                    <a:pt x="53" y="163"/>
                    <a:pt x="0" y="142"/>
                    <a:pt x="0" y="1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FF33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28" name="path 428"/>
            <p:cNvSpPr/>
            <p:nvPr/>
          </p:nvSpPr>
          <p:spPr>
            <a:xfrm>
              <a:off x="158750" y="6352"/>
              <a:ext cx="152400" cy="61645"/>
            </a:xfrm>
            <a:custGeom>
              <a:avLst/>
              <a:gdLst/>
              <a:ahLst/>
              <a:cxnLst/>
              <a:rect l="0" t="0" r="0" b="0"/>
              <a:pathLst>
                <a:path w="240" h="97">
                  <a:moveTo>
                    <a:pt x="0" y="48"/>
                  </a:moveTo>
                  <a:cubicBezTo>
                    <a:pt x="0" y="21"/>
                    <a:pt x="53" y="0"/>
                    <a:pt x="120" y="0"/>
                  </a:cubicBezTo>
                  <a:cubicBezTo>
                    <a:pt x="186" y="0"/>
                    <a:pt x="240" y="21"/>
                    <a:pt x="240" y="48"/>
                  </a:cubicBezTo>
                  <a:cubicBezTo>
                    <a:pt x="240" y="75"/>
                    <a:pt x="186" y="97"/>
                    <a:pt x="120" y="97"/>
                  </a:cubicBezTo>
                  <a:cubicBezTo>
                    <a:pt x="53" y="97"/>
                    <a:pt x="0" y="75"/>
                    <a:pt x="0" y="48"/>
                  </a:cubicBezTo>
                </a:path>
              </a:pathLst>
            </a:custGeom>
            <a:solidFill>
              <a:srgbClr val="E0FF8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30" name="path 430"/>
            <p:cNvSpPr/>
            <p:nvPr/>
          </p:nvSpPr>
          <p:spPr>
            <a:xfrm>
              <a:off x="152400" y="2"/>
              <a:ext cx="165100" cy="147637"/>
            </a:xfrm>
            <a:custGeom>
              <a:avLst/>
              <a:gdLst/>
              <a:ahLst/>
              <a:cxnLst/>
              <a:rect l="0" t="0" r="0" b="0"/>
              <a:pathLst>
                <a:path w="260" h="232">
                  <a:moveTo>
                    <a:pt x="250" y="58"/>
                  </a:moveTo>
                  <a:cubicBezTo>
                    <a:pt x="250" y="85"/>
                    <a:pt x="196" y="107"/>
                    <a:pt x="130" y="107"/>
                  </a:cubicBezTo>
                  <a:cubicBezTo>
                    <a:pt x="63" y="107"/>
                    <a:pt x="10" y="85"/>
                    <a:pt x="10" y="58"/>
                  </a:cubicBezTo>
                  <a:cubicBezTo>
                    <a:pt x="10" y="31"/>
                    <a:pt x="63" y="10"/>
                    <a:pt x="130" y="10"/>
                  </a:cubicBezTo>
                  <a:cubicBezTo>
                    <a:pt x="196" y="10"/>
                    <a:pt x="250" y="31"/>
                    <a:pt x="250" y="58"/>
                  </a:cubicBezTo>
                  <a:moveTo>
                    <a:pt x="250" y="58"/>
                  </a:moveTo>
                  <a:lnTo>
                    <a:pt x="250" y="173"/>
                  </a:lnTo>
                  <a:cubicBezTo>
                    <a:pt x="250" y="200"/>
                    <a:pt x="196" y="222"/>
                    <a:pt x="130" y="222"/>
                  </a:cubicBezTo>
                  <a:cubicBezTo>
                    <a:pt x="63" y="222"/>
                    <a:pt x="10" y="200"/>
                    <a:pt x="10" y="173"/>
                  </a:cubicBezTo>
                  <a:lnTo>
                    <a:pt x="10" y="58"/>
                  </a:lnTo>
                </a:path>
              </a:pathLst>
            </a:custGeom>
            <a:noFill/>
            <a:ln w="1270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432" name="path 432"/>
          <p:cNvSpPr/>
          <p:nvPr/>
        </p:nvSpPr>
        <p:spPr>
          <a:xfrm>
            <a:off x="2004218" y="5162551"/>
            <a:ext cx="1993900" cy="387350"/>
          </a:xfrm>
          <a:custGeom>
            <a:avLst/>
            <a:gdLst/>
            <a:ahLst/>
            <a:cxnLst/>
            <a:rect l="0" t="0" r="0" b="0"/>
            <a:pathLst>
              <a:path w="3140" h="610">
                <a:moveTo>
                  <a:pt x="3130" y="0"/>
                </a:moveTo>
                <a:lnTo>
                  <a:pt x="3130" y="600"/>
                </a:lnTo>
                <a:lnTo>
                  <a:pt x="10" y="600"/>
                </a:lnTo>
                <a:lnTo>
                  <a:pt x="10" y="12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2505386" y="3498138"/>
            <a:ext cx="622934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开关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3660610" y="3963276"/>
            <a:ext cx="622934" cy="34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灯泡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2829229" y="5612688"/>
            <a:ext cx="615950" cy="339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6000"/>
              </a:lnSpc>
            </a:pPr>
            <a:r>
              <a:rPr sz="2400" b="1" kern="0" spc="-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导线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0" name="textbox 440"/>
          <p:cNvSpPr/>
          <p:nvPr/>
        </p:nvSpPr>
        <p:spPr>
          <a:xfrm>
            <a:off x="1319774" y="4647025"/>
            <a:ext cx="333375" cy="630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eaVert" wrap="square" lIns="0" tIns="0" rIns="0" bIns="0"/>
          <a:lstStyle/>
          <a:p>
            <a:pPr algn="l" rtl="0" eaLnBrk="0" fontAlgn="auto" hangingPunct="1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83000"/>
              </a:lnSpc>
            </a:pPr>
            <a:r>
              <a:rPr sz="24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电池</a:t>
            </a:r>
            <a:endParaRPr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2" name="path 442"/>
          <p:cNvSpPr/>
          <p:nvPr/>
        </p:nvSpPr>
        <p:spPr>
          <a:xfrm>
            <a:off x="4518818" y="4624330"/>
            <a:ext cx="543882" cy="238242"/>
          </a:xfrm>
          <a:custGeom>
            <a:avLst/>
            <a:gdLst/>
            <a:ahLst/>
            <a:cxnLst/>
            <a:rect l="0" t="0" r="0" b="0"/>
            <a:pathLst>
              <a:path w="856" h="375">
                <a:moveTo>
                  <a:pt x="10" y="97"/>
                </a:moveTo>
                <a:lnTo>
                  <a:pt x="640" y="97"/>
                </a:lnTo>
                <a:lnTo>
                  <a:pt x="640" y="7"/>
                </a:lnTo>
                <a:lnTo>
                  <a:pt x="850" y="187"/>
                </a:lnTo>
                <a:lnTo>
                  <a:pt x="640" y="367"/>
                </a:lnTo>
                <a:lnTo>
                  <a:pt x="640" y="277"/>
                </a:lnTo>
                <a:lnTo>
                  <a:pt x="10" y="277"/>
                </a:lnTo>
                <a:lnTo>
                  <a:pt x="10" y="97"/>
                </a:lnTo>
                <a:close/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42" name="group 42"/>
          <p:cNvGrpSpPr/>
          <p:nvPr/>
        </p:nvGrpSpPr>
        <p:grpSpPr>
          <a:xfrm rot="21600000">
            <a:off x="6163689" y="3612267"/>
            <a:ext cx="348878" cy="363387"/>
            <a:chOff x="0" y="0"/>
            <a:chExt cx="348878" cy="363387"/>
          </a:xfrm>
        </p:grpSpPr>
        <p:sp>
          <p:nvSpPr>
            <p:cNvPr id="444" name="path 444"/>
            <p:cNvSpPr/>
            <p:nvPr/>
          </p:nvSpPr>
          <p:spPr>
            <a:xfrm>
              <a:off x="0" y="147958"/>
              <a:ext cx="251971" cy="215428"/>
            </a:xfrm>
            <a:custGeom>
              <a:avLst/>
              <a:gdLst/>
              <a:ahLst/>
              <a:cxnLst/>
              <a:rect l="0" t="0" r="0" b="0"/>
              <a:pathLst>
                <a:path w="396" h="339">
                  <a:moveTo>
                    <a:pt x="9" y="11"/>
                  </a:moveTo>
                  <a:lnTo>
                    <a:pt x="387" y="327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46" name="path 446"/>
            <p:cNvSpPr/>
            <p:nvPr/>
          </p:nvSpPr>
          <p:spPr>
            <a:xfrm>
              <a:off x="156559" y="0"/>
              <a:ext cx="192318" cy="168680"/>
            </a:xfrm>
            <a:custGeom>
              <a:avLst/>
              <a:gdLst/>
              <a:ahLst/>
              <a:cxnLst/>
              <a:rect l="0" t="0" r="0" b="0"/>
              <a:pathLst>
                <a:path w="302" h="265">
                  <a:moveTo>
                    <a:pt x="293" y="11"/>
                  </a:moveTo>
                  <a:lnTo>
                    <a:pt x="9" y="254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48" name="path 448"/>
            <p:cNvSpPr/>
            <p:nvPr/>
          </p:nvSpPr>
          <p:spPr>
            <a:xfrm>
              <a:off x="75976" y="124250"/>
              <a:ext cx="121221" cy="111582"/>
            </a:xfrm>
            <a:custGeom>
              <a:avLst/>
              <a:gdLst/>
              <a:ahLst/>
              <a:cxnLst/>
              <a:rect l="0" t="0" r="0" b="0"/>
              <a:pathLst>
                <a:path w="190" h="175">
                  <a:moveTo>
                    <a:pt x="112" y="0"/>
                  </a:moveTo>
                  <a:lnTo>
                    <a:pt x="0" y="175"/>
                  </a:lnTo>
                  <a:lnTo>
                    <a:pt x="190" y="9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450" name="path 450"/>
          <p:cNvSpPr/>
          <p:nvPr/>
        </p:nvSpPr>
        <p:spPr>
          <a:xfrm>
            <a:off x="6344443" y="3910012"/>
            <a:ext cx="847726" cy="127000"/>
          </a:xfrm>
          <a:custGeom>
            <a:avLst/>
            <a:gdLst/>
            <a:ahLst/>
            <a:cxnLst/>
            <a:rect l="0" t="0" r="0" b="0"/>
            <a:pathLst>
              <a:path w="1335" h="200">
                <a:moveTo>
                  <a:pt x="15" y="100"/>
                </a:moveTo>
                <a:cubicBezTo>
                  <a:pt x="15" y="53"/>
                  <a:pt x="53" y="15"/>
                  <a:pt x="100" y="15"/>
                </a:cubicBezTo>
                <a:cubicBezTo>
                  <a:pt x="146" y="15"/>
                  <a:pt x="185" y="53"/>
                  <a:pt x="185" y="100"/>
                </a:cubicBezTo>
                <a:cubicBezTo>
                  <a:pt x="185" y="146"/>
                  <a:pt x="146" y="185"/>
                  <a:pt x="100" y="185"/>
                </a:cubicBezTo>
                <a:cubicBezTo>
                  <a:pt x="53" y="185"/>
                  <a:pt x="15" y="146"/>
                  <a:pt x="15" y="100"/>
                </a:cubicBezTo>
                <a:moveTo>
                  <a:pt x="185" y="107"/>
                </a:moveTo>
                <a:lnTo>
                  <a:pt x="1335" y="107"/>
                </a:lnTo>
              </a:path>
            </a:pathLst>
          </a:custGeom>
          <a:noFill/>
          <a:ln w="190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44" name="group 44"/>
          <p:cNvGrpSpPr/>
          <p:nvPr/>
        </p:nvGrpSpPr>
        <p:grpSpPr>
          <a:xfrm rot="21600000">
            <a:off x="5347499" y="4362450"/>
            <a:ext cx="184150" cy="555624"/>
            <a:chOff x="0" y="0"/>
            <a:chExt cx="184150" cy="555624"/>
          </a:xfrm>
        </p:grpSpPr>
        <p:sp>
          <p:nvSpPr>
            <p:cNvPr id="452" name="path 452"/>
            <p:cNvSpPr/>
            <p:nvPr/>
          </p:nvSpPr>
          <p:spPr>
            <a:xfrm>
              <a:off x="0" y="0"/>
              <a:ext cx="184150" cy="395287"/>
            </a:xfrm>
            <a:custGeom>
              <a:avLst/>
              <a:gdLst/>
              <a:ahLst/>
              <a:cxnLst/>
              <a:rect l="0" t="0" r="0" b="0"/>
              <a:pathLst>
                <a:path w="290" h="622">
                  <a:moveTo>
                    <a:pt x="25" y="25"/>
                  </a:moveTo>
                  <a:lnTo>
                    <a:pt x="265" y="25"/>
                  </a:lnTo>
                  <a:lnTo>
                    <a:pt x="265" y="597"/>
                  </a:lnTo>
                  <a:lnTo>
                    <a:pt x="25" y="597"/>
                  </a:lnTo>
                  <a:lnTo>
                    <a:pt x="25" y="25"/>
                  </a:lnTo>
                  <a:close/>
                </a:path>
              </a:pathLst>
            </a:custGeom>
            <a:solidFill>
              <a:srgbClr val="00FFCC">
                <a:alpha val="100000"/>
              </a:srgbClr>
            </a:solidFill>
            <a:ln w="31750" cap="flat">
              <a:solidFill>
                <a:srgbClr val="000000"/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454" name="path 454"/>
            <p:cNvSpPr/>
            <p:nvPr/>
          </p:nvSpPr>
          <p:spPr>
            <a:xfrm>
              <a:off x="82543" y="373062"/>
              <a:ext cx="19050" cy="182562"/>
            </a:xfrm>
            <a:custGeom>
              <a:avLst/>
              <a:gdLst/>
              <a:ahLst/>
              <a:cxnLst/>
              <a:rect l="0" t="0" r="0" b="0"/>
              <a:pathLst>
                <a:path w="30" h="287">
                  <a:moveTo>
                    <a:pt x="15" y="0"/>
                  </a:moveTo>
                  <a:lnTo>
                    <a:pt x="15" y="287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</a:ln>
          </p:spPr>
          <p:txBody>
            <a:bodyPr rtlCol="0"/>
            <a:lstStyle/>
            <a:p>
              <a:pPr algn="ctr" eaLnBrk="1" fontAlgn="auto" hangingPunct="1"/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456" name="textbox 456"/>
          <p:cNvSpPr/>
          <p:nvPr/>
        </p:nvSpPr>
        <p:spPr>
          <a:xfrm>
            <a:off x="7357217" y="4578477"/>
            <a:ext cx="291465" cy="299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 fontAlgn="auto" hangingPunct="1">
              <a:lnSpc>
                <a:spcPct val="92000"/>
              </a:lnSpc>
            </a:pPr>
            <a:r>
              <a:rPr sz="3000" b="1" i="1" kern="0" spc="160" baseline="7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100" b="1" i="1" kern="0" spc="160" baseline="-1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endParaRPr sz="2100" baseline="-1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8" name="path 458"/>
          <p:cNvSpPr/>
          <p:nvPr/>
        </p:nvSpPr>
        <p:spPr>
          <a:xfrm>
            <a:off x="7100099" y="4478337"/>
            <a:ext cx="31750" cy="363537"/>
          </a:xfrm>
          <a:custGeom>
            <a:avLst/>
            <a:gdLst/>
            <a:ahLst/>
            <a:cxnLst/>
            <a:rect l="0" t="0" r="0" b="0"/>
            <a:pathLst>
              <a:path w="50" h="572">
                <a:moveTo>
                  <a:pt x="25" y="572"/>
                </a:moveTo>
                <a:lnTo>
                  <a:pt x="25" y="0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miter lim="800000"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60" name="textbox 460"/>
          <p:cNvSpPr/>
          <p:nvPr/>
        </p:nvSpPr>
        <p:spPr>
          <a:xfrm rot="5400000">
            <a:off x="2610044" y="4089297"/>
            <a:ext cx="81280" cy="1270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 fontAlgn="auto" hangingPunct="1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 fontAlgn="auto" hangingPunct="1">
              <a:lnSpc>
                <a:spcPct val="72000"/>
              </a:lnSpc>
            </a:pPr>
            <a:r>
              <a:rPr sz="1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0BASE-T</a:t>
            </a:r>
            <a:r>
              <a:rPr sz="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wall</a:t>
            </a:r>
            <a:r>
              <a:rPr sz="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plat</a:t>
            </a:r>
            <a:r>
              <a:rPr sz="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2" name="path 462"/>
          <p:cNvSpPr/>
          <p:nvPr/>
        </p:nvSpPr>
        <p:spPr>
          <a:xfrm>
            <a:off x="2010568" y="4089401"/>
            <a:ext cx="685800" cy="12700"/>
          </a:xfrm>
          <a:custGeom>
            <a:avLst/>
            <a:gdLst/>
            <a:ahLst/>
            <a:cxnLst/>
            <a:rect l="0" t="0" r="0" b="0"/>
            <a:pathLst>
              <a:path w="1080" h="20">
                <a:moveTo>
                  <a:pt x="0" y="10"/>
                </a:moveTo>
                <a:lnTo>
                  <a:pt x="1080" y="1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64" name="path 464"/>
          <p:cNvSpPr/>
          <p:nvPr/>
        </p:nvSpPr>
        <p:spPr>
          <a:xfrm>
            <a:off x="4209119" y="4540184"/>
            <a:ext cx="98694" cy="66810"/>
          </a:xfrm>
          <a:custGeom>
            <a:avLst/>
            <a:gdLst/>
            <a:ahLst/>
            <a:cxnLst/>
            <a:rect l="0" t="0" r="0" b="0"/>
            <a:pathLst>
              <a:path w="155" h="105">
                <a:moveTo>
                  <a:pt x="150" y="8"/>
                </a:moveTo>
                <a:lnTo>
                  <a:pt x="5" y="96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66" name="path 466"/>
          <p:cNvSpPr/>
          <p:nvPr/>
        </p:nvSpPr>
        <p:spPr>
          <a:xfrm>
            <a:off x="2004218" y="4095751"/>
            <a:ext cx="12700" cy="381000"/>
          </a:xfrm>
          <a:custGeom>
            <a:avLst/>
            <a:gdLst/>
            <a:ahLst/>
            <a:cxnLst/>
            <a:rect l="0" t="0" r="0" b="0"/>
            <a:pathLst>
              <a:path w="20" h="600">
                <a:moveTo>
                  <a:pt x="10" y="600"/>
                </a:moveTo>
                <a:lnTo>
                  <a:pt x="10" y="0"/>
                </a:lnTo>
              </a:path>
            </a:pathLst>
          </a:custGeom>
          <a:noFill/>
          <a:ln w="1270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68" name="path 468"/>
          <p:cNvSpPr/>
          <p:nvPr/>
        </p:nvSpPr>
        <p:spPr>
          <a:xfrm>
            <a:off x="5363368" y="5016500"/>
            <a:ext cx="152400" cy="31750"/>
          </a:xfrm>
          <a:custGeom>
            <a:avLst/>
            <a:gdLst/>
            <a:ahLst/>
            <a:cxnLst/>
            <a:rect l="0" t="0" r="0" b="0"/>
            <a:pathLst>
              <a:path w="240" h="50">
                <a:moveTo>
                  <a:pt x="0" y="25"/>
                </a:moveTo>
                <a:lnTo>
                  <a:pt x="240" y="25"/>
                </a:lnTo>
              </a:path>
            </a:pathLst>
          </a:custGeom>
          <a:noFill/>
          <a:ln w="31750" cap="flat">
            <a:solidFill>
              <a:srgbClr val="00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70" name="path 470"/>
          <p:cNvSpPr/>
          <p:nvPr/>
        </p:nvSpPr>
        <p:spPr>
          <a:xfrm>
            <a:off x="4138732" y="4397268"/>
            <a:ext cx="56907" cy="82767"/>
          </a:xfrm>
          <a:custGeom>
            <a:avLst/>
            <a:gdLst/>
            <a:ahLst/>
            <a:cxnLst/>
            <a:rect l="0" t="0" r="0" b="0"/>
            <a:pathLst>
              <a:path w="89" h="130">
                <a:moveTo>
                  <a:pt x="81" y="5"/>
                </a:moveTo>
                <a:lnTo>
                  <a:pt x="8" y="125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72" name="path 472"/>
          <p:cNvSpPr/>
          <p:nvPr/>
        </p:nvSpPr>
        <p:spPr>
          <a:xfrm>
            <a:off x="4280536" y="4723058"/>
            <a:ext cx="103501" cy="40786"/>
          </a:xfrm>
          <a:custGeom>
            <a:avLst/>
            <a:gdLst/>
            <a:ahLst/>
            <a:cxnLst/>
            <a:rect l="0" t="0" r="0" b="0"/>
            <a:pathLst>
              <a:path w="162" h="64">
                <a:moveTo>
                  <a:pt x="160" y="9"/>
                </a:moveTo>
                <a:lnTo>
                  <a:pt x="2" y="54"/>
                </a:lnTo>
              </a:path>
            </a:pathLst>
          </a:custGeom>
          <a:noFill/>
          <a:ln w="12700" cap="flat">
            <a:solidFill>
              <a:srgbClr val="FF0000"/>
            </a:solidFill>
            <a:prstDash val="solid"/>
            <a:round/>
          </a:ln>
        </p:spPr>
        <p:txBody>
          <a:bodyPr rtlCol="0"/>
          <a:lstStyle/>
          <a:p>
            <a:pPr algn="ctr" eaLnBrk="1" fontAlgn="auto" hangingPunct="1"/>
            <a:endParaRPr lang="zh-CN" altLang="en-US" sz="180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3624580" cy="1371600"/>
          </a:xfrm>
        </p:spPr>
        <p:txBody>
          <a:bodyPr/>
          <a:lstStyle/>
          <a:p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+mn-ea"/>
              </a:rPr>
              <a:t>收音机电路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  <a:sym typeface="+mn-ea"/>
              </a:rPr>
              <a:t>1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2"/>
          </p:nvPr>
        </p:nvPicPr>
        <p:blipFill>
          <a:blip r:embed="rId1"/>
          <a:stretch>
            <a:fillRect/>
          </a:stretch>
        </p:blipFill>
        <p:spPr>
          <a:xfrm>
            <a:off x="509270" y="2098675"/>
            <a:ext cx="8177530" cy="33032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31790" y="854075"/>
            <a:ext cx="311848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DC: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直流（direct current）</a:t>
            </a:r>
            <a:endParaRPr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42410" y="1460500"/>
            <a:ext cx="4827905" cy="3683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直流电压源：direct current </a:t>
            </a:r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voltage source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1055" y="5517515"/>
            <a:ext cx="226187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R:resistance;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电阻</a:t>
            </a:r>
            <a:endParaRPr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22320" y="5517515"/>
            <a:ext cx="263017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C:  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capacitor;</a:t>
            </a:r>
            <a:r>
              <a:rPr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电容器</a:t>
            </a:r>
            <a:r>
              <a:rPr 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；</a:t>
            </a:r>
            <a:endParaRPr 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35370" y="5473065"/>
            <a:ext cx="263017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L:  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电感</a:t>
            </a:r>
            <a:r>
              <a:rPr 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； inductance</a:t>
            </a:r>
            <a:endParaRPr 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2170" y="6067425"/>
            <a:ext cx="289306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为什么电感用</a:t>
            </a:r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表示？？？</a:t>
            </a:r>
            <a:endParaRPr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10050" y="6105525"/>
            <a:ext cx="4660900" cy="368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I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表示电流了，纪念科学家</a:t>
            </a:r>
            <a:r>
              <a:rPr lang="en-US" altLang="zh-CN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LENZ.......</a:t>
            </a:r>
            <a:endParaRPr lang="en-US" altLang="zh-CN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33235" y="3924300"/>
            <a:ext cx="2168525" cy="9220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电流</a:t>
            </a:r>
            <a:r>
              <a:rPr lang="en-US" altLang="zh-CN"/>
              <a:t>I;I是Intensity，intensity of electron flow的第一个字母</a:t>
            </a:r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8" grpId="0" bldLvl="0" animBg="1"/>
      <p:bldP spid="8" grpId="1" animBg="1"/>
      <p:bldP spid="9" grpId="0" animBg="1"/>
      <p:bldP spid="9" grpId="1" animBg="1"/>
      <p:bldP spid="10" grpId="0" animBg="1"/>
      <p:bldP spid="10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12" grpId="0" animBg="1"/>
      <p:bldP spid="1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814070"/>
            <a:ext cx="8063230" cy="1676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" y="2581275"/>
            <a:ext cx="8015605" cy="3105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00020" y="116205"/>
            <a:ext cx="2819400" cy="4603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计量单位制</a:t>
            </a:r>
            <a:endParaRPr lang="zh-CN" altLang="en-US" sz="24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1505" y="6921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电荷的基本概念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71196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4"/>
            </p:custDataLst>
          </p:nvPr>
        </p:nvSpPr>
        <p:spPr>
          <a:xfrm>
            <a:off x="1187450" y="1700530"/>
            <a:ext cx="171450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基本定义</a:t>
            </a:r>
            <a:endParaRPr lang="en-US" sz="24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>
            <p:custDataLst>
              <p:tags r:id="rId5"/>
            </p:custDataLst>
          </p:nvPr>
        </p:nvCxnSpPr>
        <p:spPr>
          <a:xfrm rot="-15626">
            <a:off x="676286" y="2243138"/>
            <a:ext cx="2095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676275" y="2760980"/>
            <a:ext cx="2371725" cy="2381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</a:t>
            </a:r>
            <a:r>
              <a:rPr lang="en-US" sz="2000" b="0" i="0" u="none" strike="noStrike" kern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是物质的一种基本属性，是构成一切电磁现象的基础。</a:t>
            </a:r>
            <a:endParaRPr lang="en-US" sz="2000" b="0" i="0" u="none" strike="noStrike" kern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0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sz="2000" b="0" i="0" u="none" strike="noStrike" kern="0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微观构成：</a:t>
            </a:r>
            <a:endParaRPr lang="en-US" sz="2000" b="0" i="0" u="none" strike="noStrike" kern="0">
              <a:solidFill>
                <a:schemeClr val="accent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kern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所有物质均由带电粒子组成，如带正电的质子和带负电的电子。</a:t>
            </a:r>
            <a:endParaRPr lang="en-US" sz="2000" b="0" i="0" u="none" strike="noStrike" kern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23615" y="1762125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3904615" y="1743075"/>
            <a:ext cx="171450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核心性质</a:t>
            </a:r>
            <a:endParaRPr lang="en-US" sz="24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11"/>
            </p:custDataLst>
          </p:nvPr>
        </p:nvCxnSpPr>
        <p:spPr>
          <a:xfrm rot="-15626">
            <a:off x="3523626" y="2138363"/>
            <a:ext cx="2095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3523615" y="2760980"/>
            <a:ext cx="2095500" cy="2381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Char char="•"/>
              <a:defRPr/>
            </a:pPr>
            <a:r>
              <a:rPr lang="en-US" sz="2000" b="1" i="0" u="none" strike="noStrike" kern="0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两种电荷：</a:t>
            </a:r>
            <a:r>
              <a:rPr lang="en-US" sz="2000" b="0" i="0" u="none" strike="noStrike" kern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正电荷(质子)与负电荷(电子)。</a:t>
            </a:r>
            <a:endParaRPr lang="en-US" sz="1600" kern="0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77800" indent="-17780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Char char="•"/>
            </a:pPr>
            <a:r>
              <a:rPr lang="en-US" sz="2000" b="1" i="0" u="none" strike="noStrike" kern="0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相互作用：</a:t>
            </a:r>
            <a:r>
              <a:rPr lang="en-US" sz="2000" b="0" i="0" u="none" strike="noStrike" kern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同种相斥，异种相吸。</a:t>
            </a:r>
            <a:endParaRPr lang="en-US" sz="2000" b="0" i="0" u="none" strike="noStrike" kern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Char char="•"/>
            </a:pPr>
            <a:r>
              <a:rPr lang="en-US" sz="2000" b="1" i="0" u="none" strike="noStrike" kern="0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守恒定律：</a:t>
            </a:r>
            <a:r>
              <a:rPr lang="en-US" sz="2000" b="0" i="0" u="none" strike="noStrike" kern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电荷不能被创造或消灭，只能转移。</a:t>
            </a:r>
            <a:endParaRPr lang="en-US" sz="2000" b="0" i="0" u="none" strike="noStrike" kern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85865" y="1762125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6666865" y="1743075"/>
            <a:ext cx="171450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物理单位</a:t>
            </a:r>
            <a:endParaRPr lang="en-US" sz="24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17"/>
            </p:custDataLst>
          </p:nvPr>
        </p:nvCxnSpPr>
        <p:spPr>
          <a:xfrm rot="-15626">
            <a:off x="6285876" y="2138363"/>
            <a:ext cx="2095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6227445" y="2328545"/>
            <a:ext cx="2344420" cy="29705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库仑 (C)</a:t>
            </a:r>
            <a:endParaRPr lang="en-US" sz="1600" kern="0">
              <a:solidFill>
                <a:schemeClr val="accent2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为纪念物理学家查尔斯·库仑而命名。</a:t>
            </a:r>
            <a:br>
              <a:rPr lang="en-US" sz="24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24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kern="0">
                <a:solidFill>
                  <a:schemeClr val="accent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基本常量：</a:t>
            </a:r>
            <a:endParaRPr lang="en-US" sz="2000" b="1" i="0" u="none" strike="noStrike" kern="0">
              <a:solidFill>
                <a:schemeClr val="accent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元电荷 (电子电荷量)：</a:t>
            </a:r>
            <a:endParaRPr lang="en-US" sz="1800" b="0" i="0" u="none" strike="noStrike" kern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 ≈ 1.602 × 10⁻¹⁹ C</a:t>
            </a:r>
            <a:endParaRPr lang="en-US" sz="1800" b="0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9750" y="3619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电流的定义与单位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2095500"/>
            <a:ext cx="3905250" cy="161925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238375"/>
            <a:ext cx="266700" cy="2667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95375" y="2238375"/>
            <a:ext cx="31432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基本定义</a:t>
            </a:r>
            <a:endParaRPr lang="en-US" sz="1350" b="1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571750"/>
            <a:ext cx="352425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电流是指单位时间内通过导体横截面的电荷量。简单来说，电流就是电荷的定向移动形成的物理量。</a:t>
            </a:r>
            <a:endParaRPr lang="en-US" sz="1600" b="0" i="0" u="none" strike="noStrike" kern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" y="3905250"/>
            <a:ext cx="3905250" cy="161925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048125"/>
            <a:ext cx="266700" cy="2667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43940" y="4048125"/>
            <a:ext cx="31432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单位与换算</a:t>
            </a:r>
            <a:endParaRPr lang="en-US" sz="1350" b="1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11505" y="4436745"/>
            <a:ext cx="3985895" cy="1248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Char char="•"/>
              <a:defRPr/>
            </a:pPr>
            <a:r>
              <a:rPr lang="en-US" sz="1600" b="0" i="0" u="none" strike="noStrike" kern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主单位：安培 (A)，定义为 1库仑/秒 (1C/s)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77800" indent="-17780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Char char="•"/>
            </a:pPr>
            <a:r>
              <a:rPr lang="en-US" sz="1600" b="0" i="0" u="none" strike="noStrike" kern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辅助单位：毫安 (mA, 10⁻³A)、微安 (μA, 10⁻⁶A)</a:t>
            </a:r>
            <a:endParaRPr lang="en-US" sz="1600" b="0" i="0" u="none" strike="noStrike" kern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67250" y="2095500"/>
            <a:ext cx="3905250" cy="3429000"/>
          </a:xfrm>
          <a:prstGeom prst="roundRect">
            <a:avLst>
              <a:gd name="adj" fmla="val 2777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7750" y="2238375"/>
            <a:ext cx="266700" cy="2667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91125" y="2238375"/>
            <a:ext cx="31432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数学表达式</a:t>
            </a:r>
            <a:endParaRPr lang="en-US" sz="1350" b="1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857750" y="2667000"/>
            <a:ext cx="3524250" cy="952500"/>
          </a:xfrm>
          <a:prstGeom prst="roundRect">
            <a:avLst>
              <a:gd name="adj" fmla="val 5000"/>
            </a:avLst>
          </a:prstGeom>
          <a:solidFill>
            <a:srgbClr val="0F172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4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00625" y="2762250"/>
            <a:ext cx="3238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恒定电流 (平均电流)</a:t>
            </a:r>
            <a:endParaRPr lang="en-US" sz="2000" b="1" i="0" u="none" strike="noStrike" kern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00625" y="3048000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0" i="1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= Δq / Δt</a:t>
            </a:r>
            <a:endParaRPr lang="en-US" sz="1500" b="0" i="1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857750" y="3860800"/>
            <a:ext cx="3524250" cy="952500"/>
          </a:xfrm>
          <a:prstGeom prst="roundRect">
            <a:avLst>
              <a:gd name="adj" fmla="val 5000"/>
            </a:avLst>
          </a:prstGeom>
          <a:solidFill>
            <a:srgbClr val="0F172A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00625" y="3857625"/>
            <a:ext cx="32385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随时间变化的电流 (瞬时值)</a:t>
            </a:r>
            <a:endParaRPr lang="en-US" sz="1800" b="1" i="0" u="none" strike="noStrike" kern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00625" y="4143375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0" i="1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dq(t) / dt</a:t>
            </a:r>
            <a:endParaRPr lang="en-US" sz="1500" b="0" i="1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4450" y="-27940"/>
            <a:ext cx="294322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3811905" y="4876165"/>
            <a:ext cx="4589145" cy="821690"/>
          </a:xfrm>
          <a:ln w="76200" cmpd="tri"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ctr"/>
          <a:lstStyle/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Arial Black" panose="020B0A04020102020204" pitchFamily="34" charset="0"/>
              </a:rPr>
              <a:t>电荷的单位为库伦（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C</a:t>
            </a:r>
            <a:r>
              <a:rPr lang="zh-CN" altLang="en-US" sz="2800" b="1" dirty="0">
                <a:latin typeface="Arial Black" panose="020B0A04020102020204" pitchFamily="34" charset="0"/>
              </a:rPr>
              <a:t>）</a:t>
            </a:r>
            <a:endParaRPr lang="zh-CN" altLang="en-US" sz="28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1747" name="Object 3"/>
          <p:cNvGraphicFramePr/>
          <p:nvPr>
            <p:ph sz="half" idx="1"/>
          </p:nvPr>
        </p:nvGraphicFramePr>
        <p:xfrm>
          <a:off x="1763713" y="2884488"/>
          <a:ext cx="1223962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4325600" imgH="13411200" progId="">
                  <p:embed/>
                </p:oleObj>
              </mc:Choice>
              <mc:Fallback>
                <p:oleObj name="" r:id="rId1" imgW="14325600" imgH="13411200" progId="">
                  <p:embed/>
                  <p:pic>
                    <p:nvPicPr>
                      <p:cNvPr id="0" name="图片 1024" descr="image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3713" y="2884488"/>
                        <a:ext cx="1223962" cy="1144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5"/>
          <p:cNvGraphicFramePr/>
          <p:nvPr>
            <p:ph sz="half" idx="1"/>
          </p:nvPr>
        </p:nvGraphicFramePr>
        <p:xfrm>
          <a:off x="5627688" y="3090863"/>
          <a:ext cx="16557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9507200" imgH="9448800" progId="">
                  <p:embed/>
                </p:oleObj>
              </mc:Choice>
              <mc:Fallback>
                <p:oleObj name="" r:id="rId3" imgW="19507200" imgH="9448800" progId="">
                  <p:embed/>
                  <p:pic>
                    <p:nvPicPr>
                      <p:cNvPr id="0" name="图片 1025" descr="image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27688" y="3090863"/>
                        <a:ext cx="1655762" cy="801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6"/>
          <p:cNvSpPr txBox="1"/>
          <p:nvPr/>
        </p:nvSpPr>
        <p:spPr>
          <a:xfrm>
            <a:off x="2776538" y="4070033"/>
            <a:ext cx="3673475" cy="5889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cs typeface="Arial" panose="020B0604020202020204" pitchFamily="34" charset="0"/>
              </a:rPr>
              <a:t> </a:t>
            </a:r>
            <a:r>
              <a:rPr lang="zh-CN" altLang="en-US" b="1" dirty="0">
                <a:cs typeface="Arial" panose="020B0604020202020204" pitchFamily="34" charset="0"/>
              </a:rPr>
              <a:t>安培</a:t>
            </a:r>
            <a:r>
              <a:rPr lang="en-US" altLang="zh-CN" b="1" dirty="0">
                <a:cs typeface="Arial" panose="020B0604020202020204" pitchFamily="34" charset="0"/>
              </a:rPr>
              <a:t>  =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zh-CN" altLang="en-US" b="1" dirty="0">
                <a:cs typeface="Arial" panose="020B0604020202020204" pitchFamily="34" charset="0"/>
              </a:rPr>
              <a:t>库伦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cs typeface="Arial" panose="020B0604020202020204" pitchFamily="34" charset="0"/>
              </a:rPr>
              <a:t>秒</a:t>
            </a:r>
            <a:endParaRPr lang="en-US" altLang="zh-CN" b="1" dirty="0">
              <a:ea typeface="Arial" panose="020B0604020202020204" pitchFamily="34" charset="0"/>
            </a:endParaRPr>
          </a:p>
        </p:txBody>
      </p:sp>
      <p:sp>
        <p:nvSpPr>
          <p:cNvPr id="31750" name="Text Box 19"/>
          <p:cNvSpPr txBox="1"/>
          <p:nvPr/>
        </p:nvSpPr>
        <p:spPr>
          <a:xfrm>
            <a:off x="915988" y="638175"/>
            <a:ext cx="10033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电流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1" name="Text Box 7"/>
          <p:cNvSpPr txBox="1"/>
          <p:nvPr/>
        </p:nvSpPr>
        <p:spPr>
          <a:xfrm>
            <a:off x="900113" y="5876925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注：请自学简单微积分知识</a:t>
            </a:r>
            <a:endParaRPr lang="zh-CN" altLang="en-US" sz="2400" b="1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31752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53" name="文本框 1"/>
          <p:cNvSpPr txBox="1"/>
          <p:nvPr/>
        </p:nvSpPr>
        <p:spPr>
          <a:xfrm>
            <a:off x="611188" y="3255963"/>
            <a:ext cx="954087" cy="4016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微分式</a:t>
            </a:r>
            <a:endParaRPr lang="zh-CN" altLang="en-US" sz="2000" b="1" dirty="0"/>
          </a:p>
        </p:txBody>
      </p:sp>
      <p:sp>
        <p:nvSpPr>
          <p:cNvPr id="31754" name="文本框 9"/>
          <p:cNvSpPr txBox="1"/>
          <p:nvPr/>
        </p:nvSpPr>
        <p:spPr>
          <a:xfrm>
            <a:off x="4564063" y="3317875"/>
            <a:ext cx="954087" cy="4016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积分式</a:t>
            </a:r>
            <a:endParaRPr lang="zh-CN" altLang="en-US" sz="2000" b="1" dirty="0"/>
          </a:p>
        </p:txBody>
      </p:sp>
      <p:sp>
        <p:nvSpPr>
          <p:cNvPr id="2" name="Rectangle 2"/>
          <p:cNvSpPr>
            <a:spLocks noGrp="1"/>
          </p:cNvSpPr>
          <p:nvPr/>
        </p:nvSpPr>
        <p:spPr>
          <a:xfrm>
            <a:off x="487363" y="1479550"/>
            <a:ext cx="8423275" cy="1068388"/>
          </a:xfrm>
          <a:prstGeom prst="rect">
            <a:avLst/>
          </a:prstGeom>
          <a:noFill/>
          <a:ln w="76200" cmpd="tri"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电流</a:t>
            </a:r>
            <a:r>
              <a:rPr lang="zh-CN" altLang="en-US" sz="3200" b="1" dirty="0">
                <a:latin typeface="Arial Black" panose="020B0A04020102020204" pitchFamily="34" charset="0"/>
              </a:rPr>
              <a:t>是指电荷的时间变化率，单位为安培（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Arial Black" panose="020B0A04020102020204" pitchFamily="34" charset="0"/>
              </a:rPr>
              <a:t>）</a:t>
            </a:r>
            <a:endParaRPr lang="en-US" altLang="zh-CN" sz="3200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4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4"/>
          <p:cNvSpPr>
            <a:spLocks noGrp="1"/>
          </p:cNvSpPr>
          <p:nvPr>
            <p:ph idx="1"/>
          </p:nvPr>
        </p:nvSpPr>
        <p:spPr>
          <a:xfrm>
            <a:off x="690563" y="1851025"/>
            <a:ext cx="7627937" cy="647700"/>
          </a:xfrm>
          <a:ln w="76200" cmpd="tri">
            <a:solidFill>
              <a:schemeClr val="tx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/>
          <a:lstStyle/>
          <a:p>
            <a:pPr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直流电流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(DC)</a:t>
            </a:r>
            <a:r>
              <a:rPr lang="zh-CN" altLang="en-US" b="1" dirty="0">
                <a:latin typeface="Arial Black" panose="020B0A04020102020204" pitchFamily="34" charset="0"/>
              </a:rPr>
              <a:t>是随</a:t>
            </a:r>
            <a:r>
              <a:rPr lang="zh-CN" altLang="en-US" b="1" dirty="0">
                <a:solidFill>
                  <a:srgbClr val="002060"/>
                </a:solidFill>
                <a:latin typeface="Arial Black" panose="020B0A04020102020204" pitchFamily="34" charset="0"/>
              </a:rPr>
              <a:t>时间</a:t>
            </a:r>
            <a:r>
              <a:rPr lang="zh-CN" altLang="en-US" b="1" dirty="0">
                <a:latin typeface="Arial Black" panose="020B0A04020102020204" pitchFamily="34" charset="0"/>
              </a:rPr>
              <a:t>保持恒定的电流。</a:t>
            </a:r>
            <a:endParaRPr lang="en-US" altLang="zh-CN" b="1" dirty="0">
              <a:latin typeface="Arial Black" panose="020B0A04020102020204" pitchFamily="34" charset="0"/>
            </a:endParaRPr>
          </a:p>
        </p:txBody>
      </p:sp>
      <p:sp>
        <p:nvSpPr>
          <p:cNvPr id="33795" name="Line 5"/>
          <p:cNvSpPr/>
          <p:nvPr/>
        </p:nvSpPr>
        <p:spPr>
          <a:xfrm>
            <a:off x="3348038" y="5776913"/>
            <a:ext cx="1587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6" name="Line 6"/>
          <p:cNvSpPr/>
          <p:nvPr/>
        </p:nvSpPr>
        <p:spPr>
          <a:xfrm flipV="1">
            <a:off x="3276600" y="3544888"/>
            <a:ext cx="1588" cy="2160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7" name="Line 7"/>
          <p:cNvSpPr/>
          <p:nvPr/>
        </p:nvSpPr>
        <p:spPr>
          <a:xfrm>
            <a:off x="2989263" y="4697413"/>
            <a:ext cx="2232025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798" name="Line 8"/>
          <p:cNvSpPr/>
          <p:nvPr/>
        </p:nvSpPr>
        <p:spPr>
          <a:xfrm>
            <a:off x="2916238" y="5345113"/>
            <a:ext cx="2376487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9" name="Text Box 9"/>
          <p:cNvSpPr txBox="1"/>
          <p:nvPr/>
        </p:nvSpPr>
        <p:spPr>
          <a:xfrm>
            <a:off x="2989263" y="5345113"/>
            <a:ext cx="236537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400" dirty="0">
                <a:cs typeface="Arial" panose="020B0604020202020204" pitchFamily="34" charset="0"/>
              </a:rPr>
              <a:t>0</a:t>
            </a:r>
            <a:endParaRPr lang="en-US" altLang="zh-CN" sz="1400" dirty="0">
              <a:ea typeface="Arial" panose="020B0604020202020204" pitchFamily="34" charset="0"/>
            </a:endParaRPr>
          </a:p>
        </p:txBody>
      </p:sp>
      <p:sp>
        <p:nvSpPr>
          <p:cNvPr id="33800" name="Text Box 10"/>
          <p:cNvSpPr txBox="1"/>
          <p:nvPr/>
        </p:nvSpPr>
        <p:spPr>
          <a:xfrm>
            <a:off x="2911475" y="3386138"/>
            <a:ext cx="2365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</a:t>
            </a:r>
            <a:endParaRPr lang="en-US" altLang="zh-CN" sz="1800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3801" name="Text Box 11"/>
          <p:cNvSpPr txBox="1"/>
          <p:nvPr/>
        </p:nvSpPr>
        <p:spPr>
          <a:xfrm>
            <a:off x="5189538" y="5343525"/>
            <a:ext cx="2159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0000"/>
                </a:solidFill>
                <a:cs typeface="Arial" panose="020B0604020202020204" pitchFamily="34" charset="0"/>
              </a:rPr>
              <a:t>t</a:t>
            </a:r>
            <a:endParaRPr lang="en-US" altLang="zh-CN" sz="1800" dirty="0">
              <a:solidFill>
                <a:srgbClr val="FF0000"/>
              </a:solidFill>
              <a:ea typeface="Arial" panose="020B0604020202020204" pitchFamily="34" charset="0"/>
            </a:endParaRPr>
          </a:p>
        </p:txBody>
      </p:sp>
      <p:sp>
        <p:nvSpPr>
          <p:cNvPr id="33802" name="Text Box 14"/>
          <p:cNvSpPr txBox="1"/>
          <p:nvPr/>
        </p:nvSpPr>
        <p:spPr>
          <a:xfrm>
            <a:off x="1190625" y="908050"/>
            <a:ext cx="18256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直流电流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80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04" name="文本框 1"/>
          <p:cNvSpPr txBox="1"/>
          <p:nvPr/>
        </p:nvSpPr>
        <p:spPr>
          <a:xfrm>
            <a:off x="908050" y="2787968"/>
            <a:ext cx="1474788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（时不变）</a:t>
            </a:r>
            <a:endParaRPr lang="zh-CN" altLang="en-US" sz="2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5945505"/>
            <a:ext cx="5243830" cy="576580"/>
          </a:xfrm>
          <a:prstGeom prst="rect">
            <a:avLst/>
          </a:prstGeom>
          <a:ln>
            <a:solidFill>
              <a:srgbClr val="FFC000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5591810" y="2716530"/>
            <a:ext cx="2989580" cy="2584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直流电（Direct Current，简称DC），是指方向不随</a:t>
            </a:r>
            <a:r>
              <a:rPr lang="zh-CN" altLang="en-US"/>
              <a:t>时间作周期性变化的电流，但电流大小可能不固定，而产生波形。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恒定电流是直流电的一种，是大小和方向都不变的直流电，它是由爱迪生发现的。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369888" y="1508125"/>
            <a:ext cx="8261350" cy="584200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交流电流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随时间按正弦规律变化的电流。</a:t>
            </a:r>
            <a:endParaRPr lang="en-US" altLang="zh-CN" b="1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sp>
        <p:nvSpPr>
          <p:cNvPr id="34819" name="Text Box 5"/>
          <p:cNvSpPr txBox="1"/>
          <p:nvPr/>
        </p:nvSpPr>
        <p:spPr>
          <a:xfrm>
            <a:off x="395288" y="4652963"/>
            <a:ext cx="30956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34820" name="Text Box 6"/>
          <p:cNvSpPr txBox="1"/>
          <p:nvPr/>
        </p:nvSpPr>
        <p:spPr>
          <a:xfrm>
            <a:off x="4500563" y="5143500"/>
            <a:ext cx="4283075" cy="390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None/>
            </a:pPr>
            <a:endParaRPr lang="zh-CN" altLang="zh-CN" sz="28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pic>
        <p:nvPicPr>
          <p:cNvPr id="34821" name="Picture 27"/>
          <p:cNvPicPr>
            <a:picLocks noChangeAspect="1"/>
          </p:cNvPicPr>
          <p:nvPr/>
        </p:nvPicPr>
        <p:blipFill>
          <a:blip r:embed="rId1"/>
          <a:srcRect t="7895" b="10233"/>
          <a:stretch>
            <a:fillRect/>
          </a:stretch>
        </p:blipFill>
        <p:spPr>
          <a:xfrm>
            <a:off x="2124075" y="3141663"/>
            <a:ext cx="4248150" cy="2501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2" name="Text Box 31"/>
          <p:cNvSpPr txBox="1"/>
          <p:nvPr/>
        </p:nvSpPr>
        <p:spPr>
          <a:xfrm>
            <a:off x="1030288" y="704850"/>
            <a:ext cx="18256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交流电流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4" name="文本框 8"/>
          <p:cNvSpPr txBox="1"/>
          <p:nvPr/>
        </p:nvSpPr>
        <p:spPr>
          <a:xfrm>
            <a:off x="3754438" y="3508375"/>
            <a:ext cx="1492250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时变 </a:t>
            </a:r>
            <a:r>
              <a:rPr lang="en-US" altLang="zh-CN" sz="2000" b="1" dirty="0"/>
              <a:t>---- </a:t>
            </a:r>
            <a:r>
              <a:rPr lang="en-US" altLang="zh-CN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i(t)</a:t>
            </a:r>
            <a:endParaRPr lang="zh-CN" altLang="en-US" sz="2000" b="1" i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2476500"/>
            <a:ext cx="4043680" cy="368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AC; alternating current；交替的电流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935" y="2544445"/>
            <a:ext cx="3319780" cy="300355"/>
          </a:xfrm>
          <a:prstGeom prst="rect">
            <a:avLst/>
          </a:prstGeom>
          <a:ln>
            <a:solidFill>
              <a:srgbClr val="FFC000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720725" y="407988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40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电流的流动</a:t>
            </a:r>
            <a:r>
              <a:rPr lang="zh-CN" altLang="en-US" sz="4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</a:t>
            </a:r>
            <a:endParaRPr lang="en-US" altLang="zh-CN" sz="4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457835" y="5775325"/>
            <a:ext cx="3245485" cy="28321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 </a:t>
            </a:r>
            <a:r>
              <a:rPr lang="en-US" altLang="zh-CN" sz="1600" b="1" dirty="0">
                <a:latin typeface="Times New Roman" panose="02020603050405020304" pitchFamily="18" charset="0"/>
              </a:rPr>
              <a:t>(a) </a:t>
            </a:r>
            <a:r>
              <a:rPr lang="zh-CN" altLang="en-US" sz="16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</a:t>
            </a:r>
            <a:r>
              <a:rPr lang="zh-CN" altLang="en-US" sz="1600" b="1" dirty="0">
                <a:latin typeface="Times New Roman" panose="02020603050405020304" pitchFamily="18" charset="0"/>
              </a:rPr>
              <a:t>电流</a:t>
            </a:r>
            <a:r>
              <a:rPr lang="en-US" altLang="zh-CN" sz="1600" b="1" dirty="0">
                <a:latin typeface="Times New Roman" panose="02020603050405020304" pitchFamily="18" charset="0"/>
              </a:rPr>
              <a:t>                   (b) </a:t>
            </a:r>
            <a:r>
              <a:rPr lang="zh-CN" altLang="en-US" sz="1600" b="1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</a:t>
            </a:r>
            <a:r>
              <a:rPr lang="zh-CN" altLang="en-US" sz="1600" b="1" dirty="0">
                <a:latin typeface="Times New Roman" panose="02020603050405020304" pitchFamily="18" charset="0"/>
              </a:rPr>
              <a:t>电流</a:t>
            </a:r>
            <a:endParaRPr lang="en-US" altLang="zh-CN" sz="16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sz="1600" b="1" dirty="0">
              <a:latin typeface="Times New Roman" panose="02020603050405020304" pitchFamily="18" charset="0"/>
            </a:endParaRPr>
          </a:p>
        </p:txBody>
      </p:sp>
      <p:grpSp>
        <p:nvGrpSpPr>
          <p:cNvPr id="35844" name="Group 4"/>
          <p:cNvGrpSpPr>
            <a:grpSpLocks noChangeAspect="1"/>
          </p:cNvGrpSpPr>
          <p:nvPr/>
        </p:nvGrpSpPr>
        <p:grpSpPr>
          <a:xfrm>
            <a:off x="569595" y="3437890"/>
            <a:ext cx="3021330" cy="1724025"/>
            <a:chOff x="933" y="1049"/>
            <a:chExt cx="3893" cy="2221"/>
          </a:xfrm>
        </p:grpSpPr>
        <p:sp>
          <p:nvSpPr>
            <p:cNvPr id="35846" name="Freeform 5"/>
            <p:cNvSpPr>
              <a:spLocks noChangeAspect="1"/>
            </p:cNvSpPr>
            <p:nvPr/>
          </p:nvSpPr>
          <p:spPr>
            <a:xfrm>
              <a:off x="1225" y="1057"/>
              <a:ext cx="1359" cy="1681"/>
            </a:xfrm>
            <a:custGeom>
              <a:avLst/>
              <a:gdLst>
                <a:gd name="txL" fmla="*/ 0 w 1113"/>
                <a:gd name="txT" fmla="*/ 0 h 1320"/>
                <a:gd name="txR" fmla="*/ 1113 w 1113"/>
                <a:gd name="txB" fmla="*/ 1320 h 1320"/>
              </a:gdLst>
              <a:ahLst/>
              <a:cxnLst>
                <a:cxn ang="0">
                  <a:pos x="0" y="4904770"/>
                </a:cxn>
                <a:cxn ang="0">
                  <a:pos x="0" y="4879844"/>
                </a:cxn>
                <a:cxn ang="0">
                  <a:pos x="0" y="4857935"/>
                </a:cxn>
                <a:cxn ang="0">
                  <a:pos x="0" y="4791079"/>
                </a:cxn>
                <a:cxn ang="0">
                  <a:pos x="0" y="4699593"/>
                </a:cxn>
                <a:cxn ang="0">
                  <a:pos x="5221" y="4479227"/>
                </a:cxn>
                <a:cxn ang="0">
                  <a:pos x="16002" y="4192659"/>
                </a:cxn>
                <a:cxn ang="0">
                  <a:pos x="32593" y="3837933"/>
                </a:cxn>
                <a:cxn ang="0">
                  <a:pos x="53032" y="3463033"/>
                </a:cxn>
                <a:cxn ang="0">
                  <a:pos x="79843" y="3039243"/>
                </a:cxn>
                <a:cxn ang="0">
                  <a:pos x="122988" y="2594989"/>
                </a:cxn>
                <a:cxn ang="0">
                  <a:pos x="175744" y="2151788"/>
                </a:cxn>
                <a:cxn ang="0">
                  <a:pos x="238311" y="1708199"/>
                </a:cxn>
                <a:cxn ang="0">
                  <a:pos x="318662" y="1307042"/>
                </a:cxn>
                <a:cxn ang="0">
                  <a:pos x="414828" y="935223"/>
                </a:cxn>
                <a:cxn ang="0">
                  <a:pos x="526167" y="597678"/>
                </a:cxn>
                <a:cxn ang="0">
                  <a:pos x="658763" y="311064"/>
                </a:cxn>
                <a:cxn ang="0">
                  <a:pos x="734037" y="201710"/>
                </a:cxn>
                <a:cxn ang="0">
                  <a:pos x="812636" y="109552"/>
                </a:cxn>
                <a:cxn ang="0">
                  <a:pos x="898113" y="43717"/>
                </a:cxn>
                <a:cxn ang="0">
                  <a:pos x="988647" y="0"/>
                </a:cxn>
                <a:cxn ang="0">
                  <a:pos x="988647" y="0"/>
                </a:cxn>
                <a:cxn ang="0">
                  <a:pos x="898113" y="43717"/>
                </a:cxn>
                <a:cxn ang="0">
                  <a:pos x="812636" y="109552"/>
                </a:cxn>
                <a:cxn ang="0">
                  <a:pos x="734037" y="201710"/>
                </a:cxn>
                <a:cxn ang="0">
                  <a:pos x="658763" y="311064"/>
                </a:cxn>
                <a:cxn ang="0">
                  <a:pos x="526167" y="597678"/>
                </a:cxn>
                <a:cxn ang="0">
                  <a:pos x="414828" y="935223"/>
                </a:cxn>
                <a:cxn ang="0">
                  <a:pos x="318662" y="1307042"/>
                </a:cxn>
                <a:cxn ang="0">
                  <a:pos x="238311" y="1708199"/>
                </a:cxn>
                <a:cxn ang="0">
                  <a:pos x="175744" y="2151788"/>
                </a:cxn>
                <a:cxn ang="0">
                  <a:pos x="122988" y="2594989"/>
                </a:cxn>
                <a:cxn ang="0">
                  <a:pos x="79843" y="3039243"/>
                </a:cxn>
                <a:cxn ang="0">
                  <a:pos x="53032" y="3463033"/>
                </a:cxn>
                <a:cxn ang="0">
                  <a:pos x="32593" y="3837933"/>
                </a:cxn>
                <a:cxn ang="0">
                  <a:pos x="16002" y="4192659"/>
                </a:cxn>
                <a:cxn ang="0">
                  <a:pos x="5221" y="4479227"/>
                </a:cxn>
                <a:cxn ang="0">
                  <a:pos x="0" y="4699593"/>
                </a:cxn>
                <a:cxn ang="0">
                  <a:pos x="0" y="4791079"/>
                </a:cxn>
                <a:cxn ang="0">
                  <a:pos x="0" y="4857935"/>
                </a:cxn>
                <a:cxn ang="0">
                  <a:pos x="0" y="4879844"/>
                </a:cxn>
                <a:cxn ang="0">
                  <a:pos x="0" y="4904770"/>
                </a:cxn>
                <a:cxn ang="0">
                  <a:pos x="0" y="4904770"/>
                </a:cxn>
              </a:cxnLst>
              <a:rect l="txL" t="txT" r="txR" b="txB"/>
              <a:pathLst>
                <a:path w="1113" h="1320">
                  <a:moveTo>
                    <a:pt x="0" y="1320"/>
                  </a:moveTo>
                  <a:lnTo>
                    <a:pt x="0" y="1314"/>
                  </a:lnTo>
                  <a:lnTo>
                    <a:pt x="0" y="1308"/>
                  </a:lnTo>
                  <a:lnTo>
                    <a:pt x="0" y="1290"/>
                  </a:lnTo>
                  <a:lnTo>
                    <a:pt x="0" y="1266"/>
                  </a:lnTo>
                  <a:lnTo>
                    <a:pt x="6" y="1206"/>
                  </a:lnTo>
                  <a:lnTo>
                    <a:pt x="18" y="1129"/>
                  </a:lnTo>
                  <a:lnTo>
                    <a:pt x="36" y="1033"/>
                  </a:lnTo>
                  <a:lnTo>
                    <a:pt x="60" y="932"/>
                  </a:lnTo>
                  <a:lnTo>
                    <a:pt x="90" y="818"/>
                  </a:lnTo>
                  <a:lnTo>
                    <a:pt x="138" y="699"/>
                  </a:lnTo>
                  <a:lnTo>
                    <a:pt x="198" y="579"/>
                  </a:lnTo>
                  <a:lnTo>
                    <a:pt x="269" y="460"/>
                  </a:lnTo>
                  <a:lnTo>
                    <a:pt x="359" y="352"/>
                  </a:lnTo>
                  <a:lnTo>
                    <a:pt x="467" y="251"/>
                  </a:lnTo>
                  <a:lnTo>
                    <a:pt x="592" y="161"/>
                  </a:lnTo>
                  <a:lnTo>
                    <a:pt x="742" y="84"/>
                  </a:lnTo>
                  <a:lnTo>
                    <a:pt x="826" y="54"/>
                  </a:lnTo>
                  <a:lnTo>
                    <a:pt x="915" y="30"/>
                  </a:lnTo>
                  <a:lnTo>
                    <a:pt x="1011" y="12"/>
                  </a:lnTo>
                  <a:lnTo>
                    <a:pt x="1113" y="0"/>
                  </a:lnTo>
                  <a:lnTo>
                    <a:pt x="1011" y="12"/>
                  </a:lnTo>
                  <a:lnTo>
                    <a:pt x="915" y="30"/>
                  </a:lnTo>
                  <a:lnTo>
                    <a:pt x="826" y="54"/>
                  </a:lnTo>
                  <a:lnTo>
                    <a:pt x="742" y="84"/>
                  </a:lnTo>
                  <a:lnTo>
                    <a:pt x="592" y="161"/>
                  </a:lnTo>
                  <a:lnTo>
                    <a:pt x="467" y="251"/>
                  </a:lnTo>
                  <a:lnTo>
                    <a:pt x="359" y="352"/>
                  </a:lnTo>
                  <a:lnTo>
                    <a:pt x="269" y="460"/>
                  </a:lnTo>
                  <a:lnTo>
                    <a:pt x="198" y="579"/>
                  </a:lnTo>
                  <a:lnTo>
                    <a:pt x="138" y="699"/>
                  </a:lnTo>
                  <a:lnTo>
                    <a:pt x="90" y="818"/>
                  </a:lnTo>
                  <a:lnTo>
                    <a:pt x="60" y="932"/>
                  </a:lnTo>
                  <a:lnTo>
                    <a:pt x="36" y="1033"/>
                  </a:lnTo>
                  <a:lnTo>
                    <a:pt x="18" y="1129"/>
                  </a:lnTo>
                  <a:lnTo>
                    <a:pt x="6" y="1206"/>
                  </a:lnTo>
                  <a:lnTo>
                    <a:pt x="0" y="1266"/>
                  </a:lnTo>
                  <a:lnTo>
                    <a:pt x="0" y="1290"/>
                  </a:lnTo>
                  <a:lnTo>
                    <a:pt x="0" y="1308"/>
                  </a:lnTo>
                  <a:lnTo>
                    <a:pt x="0" y="1314"/>
                  </a:lnTo>
                  <a:lnTo>
                    <a:pt x="0" y="132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19050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7" name="Freeform 6"/>
            <p:cNvSpPr>
              <a:spLocks noChangeAspect="1"/>
            </p:cNvSpPr>
            <p:nvPr/>
          </p:nvSpPr>
          <p:spPr>
            <a:xfrm>
              <a:off x="933" y="1535"/>
              <a:ext cx="88" cy="176"/>
            </a:xfrm>
            <a:custGeom>
              <a:avLst/>
              <a:gdLst>
                <a:gd name="txL" fmla="*/ 0 w 72"/>
                <a:gd name="txT" fmla="*/ 0 h 138"/>
                <a:gd name="txR" fmla="*/ 72 w 72"/>
                <a:gd name="txB" fmla="*/ 138 h 138"/>
              </a:gdLst>
              <a:ahLst/>
              <a:cxnLst>
                <a:cxn ang="0">
                  <a:pos x="27367" y="69700"/>
                </a:cxn>
                <a:cxn ang="0">
                  <a:pos x="54859" y="69700"/>
                </a:cxn>
                <a:cxn ang="0">
                  <a:pos x="54859" y="69700"/>
                </a:cxn>
                <a:cxn ang="0">
                  <a:pos x="60957" y="69700"/>
                </a:cxn>
                <a:cxn ang="0">
                  <a:pos x="66556" y="0"/>
                </a:cxn>
                <a:cxn ang="0">
                  <a:pos x="60957" y="0"/>
                </a:cxn>
                <a:cxn ang="0">
                  <a:pos x="60957" y="0"/>
                </a:cxn>
                <a:cxn ang="0">
                  <a:pos x="54859" y="0"/>
                </a:cxn>
                <a:cxn ang="0">
                  <a:pos x="21835" y="0"/>
                </a:cxn>
                <a:cxn ang="0">
                  <a:pos x="5359" y="185879"/>
                </a:cxn>
                <a:cxn ang="0">
                  <a:pos x="5359" y="210786"/>
                </a:cxn>
                <a:cxn ang="0">
                  <a:pos x="5359" y="210786"/>
                </a:cxn>
                <a:cxn ang="0">
                  <a:pos x="21835" y="210786"/>
                </a:cxn>
                <a:cxn ang="0">
                  <a:pos x="33387" y="235181"/>
                </a:cxn>
                <a:cxn ang="0">
                  <a:pos x="44554" y="280035"/>
                </a:cxn>
                <a:cxn ang="0">
                  <a:pos x="49874" y="375056"/>
                </a:cxn>
                <a:cxn ang="0">
                  <a:pos x="44554" y="470258"/>
                </a:cxn>
                <a:cxn ang="0">
                  <a:pos x="33387" y="491772"/>
                </a:cxn>
                <a:cxn ang="0">
                  <a:pos x="21835" y="470258"/>
                </a:cxn>
                <a:cxn ang="0">
                  <a:pos x="5359" y="444308"/>
                </a:cxn>
                <a:cxn ang="0">
                  <a:pos x="0" y="470258"/>
                </a:cxn>
                <a:cxn ang="0">
                  <a:pos x="0" y="491772"/>
                </a:cxn>
                <a:cxn ang="0">
                  <a:pos x="5359" y="514003"/>
                </a:cxn>
                <a:cxn ang="0">
                  <a:pos x="21835" y="539232"/>
                </a:cxn>
                <a:cxn ang="0">
                  <a:pos x="38312" y="514003"/>
                </a:cxn>
                <a:cxn ang="0">
                  <a:pos x="49874" y="491772"/>
                </a:cxn>
                <a:cxn ang="0">
                  <a:pos x="60957" y="422807"/>
                </a:cxn>
                <a:cxn ang="0">
                  <a:pos x="60957" y="352237"/>
                </a:cxn>
                <a:cxn ang="0">
                  <a:pos x="60957" y="280035"/>
                </a:cxn>
                <a:cxn ang="0">
                  <a:pos x="54859" y="210786"/>
                </a:cxn>
                <a:cxn ang="0">
                  <a:pos x="38312" y="165275"/>
                </a:cxn>
                <a:cxn ang="0">
                  <a:pos x="16457" y="141763"/>
                </a:cxn>
                <a:cxn ang="0">
                  <a:pos x="27367" y="69700"/>
                </a:cxn>
              </a:cxnLst>
              <a:rect l="txL" t="txT" r="txR" b="txB"/>
              <a:pathLst>
                <a:path w="72" h="138">
                  <a:moveTo>
                    <a:pt x="30" y="18"/>
                  </a:moveTo>
                  <a:lnTo>
                    <a:pt x="60" y="18"/>
                  </a:lnTo>
                  <a:lnTo>
                    <a:pt x="66" y="18"/>
                  </a:lnTo>
                  <a:lnTo>
                    <a:pt x="72" y="0"/>
                  </a:lnTo>
                  <a:lnTo>
                    <a:pt x="66" y="0"/>
                  </a:lnTo>
                  <a:lnTo>
                    <a:pt x="60" y="0"/>
                  </a:lnTo>
                  <a:lnTo>
                    <a:pt x="24" y="0"/>
                  </a:lnTo>
                  <a:lnTo>
                    <a:pt x="6" y="48"/>
                  </a:lnTo>
                  <a:lnTo>
                    <a:pt x="6" y="54"/>
                  </a:lnTo>
                  <a:lnTo>
                    <a:pt x="24" y="54"/>
                  </a:lnTo>
                  <a:lnTo>
                    <a:pt x="36" y="60"/>
                  </a:lnTo>
                  <a:lnTo>
                    <a:pt x="48" y="72"/>
                  </a:lnTo>
                  <a:lnTo>
                    <a:pt x="54" y="96"/>
                  </a:lnTo>
                  <a:lnTo>
                    <a:pt x="48" y="120"/>
                  </a:lnTo>
                  <a:lnTo>
                    <a:pt x="36" y="126"/>
                  </a:lnTo>
                  <a:lnTo>
                    <a:pt x="24" y="120"/>
                  </a:lnTo>
                  <a:lnTo>
                    <a:pt x="6" y="114"/>
                  </a:lnTo>
                  <a:lnTo>
                    <a:pt x="0" y="120"/>
                  </a:lnTo>
                  <a:lnTo>
                    <a:pt x="0" y="126"/>
                  </a:lnTo>
                  <a:lnTo>
                    <a:pt x="6" y="132"/>
                  </a:lnTo>
                  <a:lnTo>
                    <a:pt x="24" y="138"/>
                  </a:lnTo>
                  <a:lnTo>
                    <a:pt x="42" y="132"/>
                  </a:lnTo>
                  <a:lnTo>
                    <a:pt x="54" y="126"/>
                  </a:lnTo>
                  <a:lnTo>
                    <a:pt x="66" y="108"/>
                  </a:lnTo>
                  <a:lnTo>
                    <a:pt x="66" y="90"/>
                  </a:lnTo>
                  <a:lnTo>
                    <a:pt x="66" y="72"/>
                  </a:lnTo>
                  <a:lnTo>
                    <a:pt x="60" y="54"/>
                  </a:lnTo>
                  <a:lnTo>
                    <a:pt x="42" y="42"/>
                  </a:lnTo>
                  <a:lnTo>
                    <a:pt x="18" y="36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8" name="Freeform 7"/>
            <p:cNvSpPr>
              <a:spLocks noChangeAspect="1" noEditPoints="1"/>
            </p:cNvSpPr>
            <p:nvPr/>
          </p:nvSpPr>
          <p:spPr>
            <a:xfrm>
              <a:off x="1072" y="1535"/>
              <a:ext cx="138" cy="169"/>
            </a:xfrm>
            <a:custGeom>
              <a:avLst/>
              <a:gdLst>
                <a:gd name="txL" fmla="*/ 0 w 113"/>
                <a:gd name="txT" fmla="*/ 0 h 132"/>
                <a:gd name="txR" fmla="*/ 113 w 113"/>
                <a:gd name="txB" fmla="*/ 132 h 132"/>
              </a:gdLst>
              <a:ahLst/>
              <a:cxnLst>
                <a:cxn ang="0">
                  <a:pos x="101346" y="560138"/>
                </a:cxn>
                <a:cxn ang="0">
                  <a:pos x="95696" y="560138"/>
                </a:cxn>
                <a:cxn ang="0">
                  <a:pos x="89495" y="507695"/>
                </a:cxn>
                <a:cxn ang="0">
                  <a:pos x="52540" y="0"/>
                </a:cxn>
                <a:cxn ang="0">
                  <a:pos x="47203" y="0"/>
                </a:cxn>
                <a:cxn ang="0">
                  <a:pos x="21221" y="425614"/>
                </a:cxn>
                <a:cxn ang="0">
                  <a:pos x="16118" y="507695"/>
                </a:cxn>
                <a:cxn ang="0">
                  <a:pos x="10807" y="560138"/>
                </a:cxn>
                <a:cxn ang="0">
                  <a:pos x="5238" y="560138"/>
                </a:cxn>
                <a:cxn ang="0">
                  <a:pos x="0" y="560138"/>
                </a:cxn>
                <a:cxn ang="0">
                  <a:pos x="0" y="589388"/>
                </a:cxn>
                <a:cxn ang="0">
                  <a:pos x="32717" y="589388"/>
                </a:cxn>
                <a:cxn ang="0">
                  <a:pos x="32717" y="560138"/>
                </a:cxn>
                <a:cxn ang="0">
                  <a:pos x="26853" y="560138"/>
                </a:cxn>
                <a:cxn ang="0">
                  <a:pos x="21221" y="536101"/>
                </a:cxn>
                <a:cxn ang="0">
                  <a:pos x="21221" y="536101"/>
                </a:cxn>
                <a:cxn ang="0">
                  <a:pos x="21221" y="507695"/>
                </a:cxn>
                <a:cxn ang="0">
                  <a:pos x="26853" y="400393"/>
                </a:cxn>
                <a:cxn ang="0">
                  <a:pos x="63531" y="400393"/>
                </a:cxn>
                <a:cxn ang="0">
                  <a:pos x="73282" y="483467"/>
                </a:cxn>
                <a:cxn ang="0">
                  <a:pos x="73282" y="507695"/>
                </a:cxn>
                <a:cxn ang="0">
                  <a:pos x="73282" y="536101"/>
                </a:cxn>
                <a:cxn ang="0">
                  <a:pos x="68603" y="560138"/>
                </a:cxn>
                <a:cxn ang="0">
                  <a:pos x="63531" y="560138"/>
                </a:cxn>
                <a:cxn ang="0">
                  <a:pos x="63531" y="589388"/>
                </a:cxn>
                <a:cxn ang="0">
                  <a:pos x="101346" y="589388"/>
                </a:cxn>
                <a:cxn ang="0">
                  <a:pos x="101346" y="560138"/>
                </a:cxn>
                <a:cxn ang="0">
                  <a:pos x="32717" y="377619"/>
                </a:cxn>
                <a:cxn ang="0">
                  <a:pos x="47203" y="134313"/>
                </a:cxn>
                <a:cxn ang="0">
                  <a:pos x="63531" y="377619"/>
                </a:cxn>
                <a:cxn ang="0">
                  <a:pos x="32717" y="377619"/>
                </a:cxn>
              </a:cxnLst>
              <a:rect l="txL" t="txT" r="txR" b="txB"/>
              <a:pathLst>
                <a:path w="113" h="132">
                  <a:moveTo>
                    <a:pt x="113" y="126"/>
                  </a:moveTo>
                  <a:lnTo>
                    <a:pt x="107" y="126"/>
                  </a:lnTo>
                  <a:lnTo>
                    <a:pt x="101" y="114"/>
                  </a:lnTo>
                  <a:lnTo>
                    <a:pt x="59" y="0"/>
                  </a:lnTo>
                  <a:lnTo>
                    <a:pt x="53" y="0"/>
                  </a:lnTo>
                  <a:lnTo>
                    <a:pt x="24" y="96"/>
                  </a:lnTo>
                  <a:lnTo>
                    <a:pt x="18" y="114"/>
                  </a:lnTo>
                  <a:lnTo>
                    <a:pt x="12" y="126"/>
                  </a:lnTo>
                  <a:lnTo>
                    <a:pt x="6" y="126"/>
                  </a:lnTo>
                  <a:lnTo>
                    <a:pt x="0" y="126"/>
                  </a:lnTo>
                  <a:lnTo>
                    <a:pt x="0" y="132"/>
                  </a:lnTo>
                  <a:lnTo>
                    <a:pt x="36" y="132"/>
                  </a:lnTo>
                  <a:lnTo>
                    <a:pt x="36" y="126"/>
                  </a:lnTo>
                  <a:lnTo>
                    <a:pt x="30" y="126"/>
                  </a:lnTo>
                  <a:lnTo>
                    <a:pt x="24" y="120"/>
                  </a:lnTo>
                  <a:lnTo>
                    <a:pt x="24" y="114"/>
                  </a:lnTo>
                  <a:lnTo>
                    <a:pt x="30" y="90"/>
                  </a:lnTo>
                  <a:lnTo>
                    <a:pt x="71" y="90"/>
                  </a:lnTo>
                  <a:lnTo>
                    <a:pt x="83" y="108"/>
                  </a:lnTo>
                  <a:lnTo>
                    <a:pt x="83" y="114"/>
                  </a:lnTo>
                  <a:lnTo>
                    <a:pt x="83" y="120"/>
                  </a:lnTo>
                  <a:lnTo>
                    <a:pt x="77" y="126"/>
                  </a:lnTo>
                  <a:lnTo>
                    <a:pt x="71" y="126"/>
                  </a:lnTo>
                  <a:lnTo>
                    <a:pt x="71" y="132"/>
                  </a:lnTo>
                  <a:lnTo>
                    <a:pt x="113" y="132"/>
                  </a:lnTo>
                  <a:lnTo>
                    <a:pt x="113" y="126"/>
                  </a:lnTo>
                  <a:close/>
                  <a:moveTo>
                    <a:pt x="36" y="84"/>
                  </a:moveTo>
                  <a:lnTo>
                    <a:pt x="53" y="30"/>
                  </a:lnTo>
                  <a:lnTo>
                    <a:pt x="71" y="84"/>
                  </a:lnTo>
                  <a:lnTo>
                    <a:pt x="36" y="8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9" name="Freeform 8"/>
            <p:cNvSpPr>
              <a:spLocks noChangeAspect="1"/>
            </p:cNvSpPr>
            <p:nvPr/>
          </p:nvSpPr>
          <p:spPr>
            <a:xfrm>
              <a:off x="1656" y="3057"/>
              <a:ext cx="51" cy="213"/>
            </a:xfrm>
            <a:custGeom>
              <a:avLst/>
              <a:gdLst>
                <a:gd name="txL" fmla="*/ 0 w 42"/>
                <a:gd name="txT" fmla="*/ 0 h 167"/>
                <a:gd name="txR" fmla="*/ 42 w 42"/>
                <a:gd name="txB" fmla="*/ 167 h 167"/>
              </a:gdLst>
              <a:ahLst/>
              <a:cxnLst>
                <a:cxn ang="0">
                  <a:pos x="30755" y="0"/>
                </a:cxn>
                <a:cxn ang="0">
                  <a:pos x="9266" y="141872"/>
                </a:cxn>
                <a:cxn ang="0">
                  <a:pos x="4361" y="211051"/>
                </a:cxn>
                <a:cxn ang="0">
                  <a:pos x="0" y="300330"/>
                </a:cxn>
                <a:cxn ang="0">
                  <a:pos x="0" y="369524"/>
                </a:cxn>
                <a:cxn ang="0">
                  <a:pos x="4361" y="442881"/>
                </a:cxn>
                <a:cxn ang="0">
                  <a:pos x="9266" y="535585"/>
                </a:cxn>
                <a:cxn ang="0">
                  <a:pos x="21784" y="609676"/>
                </a:cxn>
                <a:cxn ang="0">
                  <a:pos x="30755" y="655460"/>
                </a:cxn>
                <a:cxn ang="0">
                  <a:pos x="30755" y="628511"/>
                </a:cxn>
                <a:cxn ang="0">
                  <a:pos x="21784" y="558522"/>
                </a:cxn>
                <a:cxn ang="0">
                  <a:pos x="17403" y="466170"/>
                </a:cxn>
                <a:cxn ang="0">
                  <a:pos x="13663" y="369524"/>
                </a:cxn>
                <a:cxn ang="0">
                  <a:pos x="13663" y="300330"/>
                </a:cxn>
                <a:cxn ang="0">
                  <a:pos x="13663" y="186207"/>
                </a:cxn>
                <a:cxn ang="0">
                  <a:pos x="17403" y="95791"/>
                </a:cxn>
                <a:cxn ang="0">
                  <a:pos x="26452" y="46167"/>
                </a:cxn>
                <a:cxn ang="0">
                  <a:pos x="30755" y="0"/>
                </a:cxn>
                <a:cxn ang="0">
                  <a:pos x="30755" y="0"/>
                </a:cxn>
              </a:cxnLst>
              <a:rect l="txL" t="txT" r="txR" b="txB"/>
              <a:pathLst>
                <a:path w="42" h="167">
                  <a:moveTo>
                    <a:pt x="42" y="0"/>
                  </a:moveTo>
                  <a:lnTo>
                    <a:pt x="12" y="36"/>
                  </a:lnTo>
                  <a:lnTo>
                    <a:pt x="6" y="54"/>
                  </a:lnTo>
                  <a:lnTo>
                    <a:pt x="0" y="77"/>
                  </a:lnTo>
                  <a:lnTo>
                    <a:pt x="0" y="95"/>
                  </a:lnTo>
                  <a:lnTo>
                    <a:pt x="6" y="113"/>
                  </a:lnTo>
                  <a:lnTo>
                    <a:pt x="12" y="137"/>
                  </a:lnTo>
                  <a:lnTo>
                    <a:pt x="30" y="155"/>
                  </a:lnTo>
                  <a:lnTo>
                    <a:pt x="42" y="167"/>
                  </a:lnTo>
                  <a:lnTo>
                    <a:pt x="42" y="161"/>
                  </a:lnTo>
                  <a:lnTo>
                    <a:pt x="30" y="143"/>
                  </a:lnTo>
                  <a:lnTo>
                    <a:pt x="24" y="119"/>
                  </a:lnTo>
                  <a:lnTo>
                    <a:pt x="18" y="95"/>
                  </a:lnTo>
                  <a:lnTo>
                    <a:pt x="18" y="77"/>
                  </a:lnTo>
                  <a:lnTo>
                    <a:pt x="18" y="48"/>
                  </a:lnTo>
                  <a:lnTo>
                    <a:pt x="24" y="24"/>
                  </a:lnTo>
                  <a:lnTo>
                    <a:pt x="36" y="1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0" name="Freeform 9"/>
            <p:cNvSpPr>
              <a:spLocks noChangeAspect="1" noEditPoints="1"/>
            </p:cNvSpPr>
            <p:nvPr/>
          </p:nvSpPr>
          <p:spPr>
            <a:xfrm>
              <a:off x="1722" y="3111"/>
              <a:ext cx="80" cy="113"/>
            </a:xfrm>
            <a:custGeom>
              <a:avLst/>
              <a:gdLst>
                <a:gd name="txL" fmla="*/ 0 w 66"/>
                <a:gd name="txT" fmla="*/ 0 h 89"/>
                <a:gd name="txR" fmla="*/ 66 w 66"/>
                <a:gd name="txB" fmla="*/ 89 h 89"/>
              </a:gdLst>
              <a:ahLst/>
              <a:cxnLst>
                <a:cxn ang="0">
                  <a:pos x="28979" y="219170"/>
                </a:cxn>
                <a:cxn ang="0">
                  <a:pos x="28979" y="237662"/>
                </a:cxn>
                <a:cxn ang="0">
                  <a:pos x="24952" y="257198"/>
                </a:cxn>
                <a:cxn ang="0">
                  <a:pos x="20585" y="257198"/>
                </a:cxn>
                <a:cxn ang="0">
                  <a:pos x="16272" y="257198"/>
                </a:cxn>
                <a:cxn ang="0">
                  <a:pos x="12629" y="237662"/>
                </a:cxn>
                <a:cxn ang="0">
                  <a:pos x="12629" y="219170"/>
                </a:cxn>
                <a:cxn ang="0">
                  <a:pos x="12629" y="219170"/>
                </a:cxn>
                <a:cxn ang="0">
                  <a:pos x="16272" y="177134"/>
                </a:cxn>
                <a:cxn ang="0">
                  <a:pos x="20585" y="157253"/>
                </a:cxn>
                <a:cxn ang="0">
                  <a:pos x="28979" y="116117"/>
                </a:cxn>
                <a:cxn ang="0">
                  <a:pos x="28979" y="219170"/>
                </a:cxn>
                <a:cxn ang="0">
                  <a:pos x="46124" y="257198"/>
                </a:cxn>
                <a:cxn ang="0">
                  <a:pos x="46124" y="257198"/>
                </a:cxn>
                <a:cxn ang="0">
                  <a:pos x="41967" y="257198"/>
                </a:cxn>
                <a:cxn ang="0">
                  <a:pos x="37257" y="257198"/>
                </a:cxn>
                <a:cxn ang="0">
                  <a:pos x="37257" y="237662"/>
                </a:cxn>
                <a:cxn ang="0">
                  <a:pos x="37257" y="97549"/>
                </a:cxn>
                <a:cxn ang="0">
                  <a:pos x="37257" y="38086"/>
                </a:cxn>
                <a:cxn ang="0">
                  <a:pos x="28979" y="22799"/>
                </a:cxn>
                <a:cxn ang="0">
                  <a:pos x="20585" y="0"/>
                </a:cxn>
                <a:cxn ang="0">
                  <a:pos x="8596" y="22799"/>
                </a:cxn>
                <a:cxn ang="0">
                  <a:pos x="3982" y="77952"/>
                </a:cxn>
                <a:cxn ang="0">
                  <a:pos x="3982" y="97549"/>
                </a:cxn>
                <a:cxn ang="0">
                  <a:pos x="8596" y="97549"/>
                </a:cxn>
                <a:cxn ang="0">
                  <a:pos x="12629" y="97549"/>
                </a:cxn>
                <a:cxn ang="0">
                  <a:pos x="12629" y="77952"/>
                </a:cxn>
                <a:cxn ang="0">
                  <a:pos x="12629" y="60513"/>
                </a:cxn>
                <a:cxn ang="0">
                  <a:pos x="12629" y="38086"/>
                </a:cxn>
                <a:cxn ang="0">
                  <a:pos x="16272" y="22799"/>
                </a:cxn>
                <a:cxn ang="0">
                  <a:pos x="20585" y="22799"/>
                </a:cxn>
                <a:cxn ang="0">
                  <a:pos x="24952" y="22799"/>
                </a:cxn>
                <a:cxn ang="0">
                  <a:pos x="28979" y="60513"/>
                </a:cxn>
                <a:cxn ang="0">
                  <a:pos x="28979" y="97549"/>
                </a:cxn>
                <a:cxn ang="0">
                  <a:pos x="8596" y="177134"/>
                </a:cxn>
                <a:cxn ang="0">
                  <a:pos x="3982" y="198781"/>
                </a:cxn>
                <a:cxn ang="0">
                  <a:pos x="0" y="237662"/>
                </a:cxn>
                <a:cxn ang="0">
                  <a:pos x="3982" y="278272"/>
                </a:cxn>
                <a:cxn ang="0">
                  <a:pos x="12629" y="297453"/>
                </a:cxn>
                <a:cxn ang="0">
                  <a:pos x="20585" y="278272"/>
                </a:cxn>
                <a:cxn ang="0">
                  <a:pos x="28979" y="257198"/>
                </a:cxn>
                <a:cxn ang="0">
                  <a:pos x="33045" y="297453"/>
                </a:cxn>
                <a:cxn ang="0">
                  <a:pos x="37257" y="297453"/>
                </a:cxn>
                <a:cxn ang="0">
                  <a:pos x="41967" y="297453"/>
                </a:cxn>
                <a:cxn ang="0">
                  <a:pos x="46124" y="278272"/>
                </a:cxn>
                <a:cxn ang="0">
                  <a:pos x="46124" y="257198"/>
                </a:cxn>
              </a:cxnLst>
              <a:rect l="txL" t="txT" r="txR" b="txB"/>
              <a:pathLst>
                <a:path w="66" h="89">
                  <a:moveTo>
                    <a:pt x="42" y="65"/>
                  </a:moveTo>
                  <a:lnTo>
                    <a:pt x="42" y="71"/>
                  </a:lnTo>
                  <a:lnTo>
                    <a:pt x="36" y="77"/>
                  </a:lnTo>
                  <a:lnTo>
                    <a:pt x="30" y="77"/>
                  </a:lnTo>
                  <a:lnTo>
                    <a:pt x="24" y="77"/>
                  </a:lnTo>
                  <a:lnTo>
                    <a:pt x="18" y="71"/>
                  </a:lnTo>
                  <a:lnTo>
                    <a:pt x="18" y="65"/>
                  </a:lnTo>
                  <a:lnTo>
                    <a:pt x="24" y="53"/>
                  </a:lnTo>
                  <a:lnTo>
                    <a:pt x="30" y="47"/>
                  </a:lnTo>
                  <a:lnTo>
                    <a:pt x="42" y="35"/>
                  </a:lnTo>
                  <a:lnTo>
                    <a:pt x="42" y="65"/>
                  </a:lnTo>
                  <a:close/>
                  <a:moveTo>
                    <a:pt x="66" y="77"/>
                  </a:moveTo>
                  <a:lnTo>
                    <a:pt x="66" y="77"/>
                  </a:lnTo>
                  <a:lnTo>
                    <a:pt x="60" y="77"/>
                  </a:lnTo>
                  <a:lnTo>
                    <a:pt x="54" y="77"/>
                  </a:lnTo>
                  <a:lnTo>
                    <a:pt x="54" y="71"/>
                  </a:lnTo>
                  <a:lnTo>
                    <a:pt x="54" y="29"/>
                  </a:lnTo>
                  <a:lnTo>
                    <a:pt x="54" y="12"/>
                  </a:lnTo>
                  <a:lnTo>
                    <a:pt x="42" y="6"/>
                  </a:lnTo>
                  <a:lnTo>
                    <a:pt x="30" y="0"/>
                  </a:lnTo>
                  <a:lnTo>
                    <a:pt x="12" y="6"/>
                  </a:lnTo>
                  <a:lnTo>
                    <a:pt x="6" y="24"/>
                  </a:lnTo>
                  <a:lnTo>
                    <a:pt x="6" y="29"/>
                  </a:lnTo>
                  <a:lnTo>
                    <a:pt x="12" y="29"/>
                  </a:lnTo>
                  <a:lnTo>
                    <a:pt x="18" y="29"/>
                  </a:lnTo>
                  <a:lnTo>
                    <a:pt x="18" y="24"/>
                  </a:lnTo>
                  <a:lnTo>
                    <a:pt x="18" y="18"/>
                  </a:lnTo>
                  <a:lnTo>
                    <a:pt x="18" y="12"/>
                  </a:lnTo>
                  <a:lnTo>
                    <a:pt x="24" y="6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18"/>
                  </a:lnTo>
                  <a:lnTo>
                    <a:pt x="42" y="29"/>
                  </a:lnTo>
                  <a:lnTo>
                    <a:pt x="12" y="53"/>
                  </a:lnTo>
                  <a:lnTo>
                    <a:pt x="6" y="59"/>
                  </a:lnTo>
                  <a:lnTo>
                    <a:pt x="0" y="71"/>
                  </a:lnTo>
                  <a:lnTo>
                    <a:pt x="6" y="83"/>
                  </a:lnTo>
                  <a:lnTo>
                    <a:pt x="18" y="89"/>
                  </a:lnTo>
                  <a:lnTo>
                    <a:pt x="30" y="83"/>
                  </a:lnTo>
                  <a:lnTo>
                    <a:pt x="42" y="77"/>
                  </a:lnTo>
                  <a:lnTo>
                    <a:pt x="48" y="89"/>
                  </a:lnTo>
                  <a:lnTo>
                    <a:pt x="54" y="89"/>
                  </a:lnTo>
                  <a:lnTo>
                    <a:pt x="60" y="89"/>
                  </a:lnTo>
                  <a:lnTo>
                    <a:pt x="66" y="83"/>
                  </a:lnTo>
                  <a:lnTo>
                    <a:pt x="66" y="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1" name="Freeform 10"/>
            <p:cNvSpPr>
              <a:spLocks noChangeAspect="1"/>
            </p:cNvSpPr>
            <p:nvPr/>
          </p:nvSpPr>
          <p:spPr>
            <a:xfrm>
              <a:off x="1810" y="3057"/>
              <a:ext cx="51" cy="213"/>
            </a:xfrm>
            <a:custGeom>
              <a:avLst/>
              <a:gdLst>
                <a:gd name="txL" fmla="*/ 0 w 42"/>
                <a:gd name="txT" fmla="*/ 0 h 167"/>
                <a:gd name="txR" fmla="*/ 42 w 42"/>
                <a:gd name="txB" fmla="*/ 167 h 167"/>
              </a:gdLst>
              <a:ahLst/>
              <a:cxnLst>
                <a:cxn ang="0">
                  <a:pos x="0" y="655460"/>
                </a:cxn>
                <a:cxn ang="0">
                  <a:pos x="13663" y="583938"/>
                </a:cxn>
                <a:cxn ang="0">
                  <a:pos x="21784" y="513905"/>
                </a:cxn>
                <a:cxn ang="0">
                  <a:pos x="30755" y="323329"/>
                </a:cxn>
                <a:cxn ang="0">
                  <a:pos x="26452" y="211051"/>
                </a:cxn>
                <a:cxn ang="0">
                  <a:pos x="21784" y="114464"/>
                </a:cxn>
                <a:cxn ang="0">
                  <a:pos x="13663" y="46167"/>
                </a:cxn>
                <a:cxn ang="0">
                  <a:pos x="4361" y="0"/>
                </a:cxn>
                <a:cxn ang="0">
                  <a:pos x="0" y="0"/>
                </a:cxn>
                <a:cxn ang="0">
                  <a:pos x="13663" y="69762"/>
                </a:cxn>
                <a:cxn ang="0">
                  <a:pos x="17403" y="165472"/>
                </a:cxn>
                <a:cxn ang="0">
                  <a:pos x="21784" y="256021"/>
                </a:cxn>
                <a:cxn ang="0">
                  <a:pos x="21784" y="323329"/>
                </a:cxn>
                <a:cxn ang="0">
                  <a:pos x="21784" y="466170"/>
                </a:cxn>
                <a:cxn ang="0">
                  <a:pos x="13663" y="535585"/>
                </a:cxn>
                <a:cxn ang="0">
                  <a:pos x="9266" y="583938"/>
                </a:cxn>
                <a:cxn ang="0">
                  <a:pos x="0" y="628511"/>
                </a:cxn>
                <a:cxn ang="0">
                  <a:pos x="0" y="655460"/>
                </a:cxn>
              </a:cxnLst>
              <a:rect l="txL" t="txT" r="txR" b="txB"/>
              <a:pathLst>
                <a:path w="42" h="167">
                  <a:moveTo>
                    <a:pt x="0" y="167"/>
                  </a:moveTo>
                  <a:lnTo>
                    <a:pt x="18" y="149"/>
                  </a:lnTo>
                  <a:lnTo>
                    <a:pt x="30" y="131"/>
                  </a:lnTo>
                  <a:lnTo>
                    <a:pt x="42" y="83"/>
                  </a:lnTo>
                  <a:lnTo>
                    <a:pt x="36" y="54"/>
                  </a:lnTo>
                  <a:lnTo>
                    <a:pt x="30" y="30"/>
                  </a:lnTo>
                  <a:lnTo>
                    <a:pt x="18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18" y="18"/>
                  </a:lnTo>
                  <a:lnTo>
                    <a:pt x="24" y="42"/>
                  </a:lnTo>
                  <a:lnTo>
                    <a:pt x="30" y="66"/>
                  </a:lnTo>
                  <a:lnTo>
                    <a:pt x="30" y="83"/>
                  </a:lnTo>
                  <a:lnTo>
                    <a:pt x="30" y="119"/>
                  </a:lnTo>
                  <a:lnTo>
                    <a:pt x="18" y="137"/>
                  </a:lnTo>
                  <a:lnTo>
                    <a:pt x="12" y="149"/>
                  </a:lnTo>
                  <a:lnTo>
                    <a:pt x="0" y="161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Freeform 11"/>
            <p:cNvSpPr>
              <a:spLocks noChangeAspect="1"/>
            </p:cNvSpPr>
            <p:nvPr/>
          </p:nvSpPr>
          <p:spPr>
            <a:xfrm>
              <a:off x="3482" y="1049"/>
              <a:ext cx="1344" cy="1696"/>
            </a:xfrm>
            <a:custGeom>
              <a:avLst/>
              <a:gdLst>
                <a:gd name="txL" fmla="*/ 0 w 1101"/>
                <a:gd name="txT" fmla="*/ 0 h 1332"/>
                <a:gd name="txR" fmla="*/ 1101 w 1101"/>
                <a:gd name="txB" fmla="*/ 1332 h 1332"/>
              </a:gdLst>
              <a:ahLst/>
              <a:cxnLst>
                <a:cxn ang="0">
                  <a:pos x="0" y="4917053"/>
                </a:cxn>
                <a:cxn ang="0">
                  <a:pos x="0" y="4893861"/>
                </a:cxn>
                <a:cxn ang="0">
                  <a:pos x="0" y="4874327"/>
                </a:cxn>
                <a:cxn ang="0">
                  <a:pos x="0" y="4808212"/>
                </a:cxn>
                <a:cxn ang="0">
                  <a:pos x="0" y="4719535"/>
                </a:cxn>
                <a:cxn ang="0">
                  <a:pos x="5077" y="4476994"/>
                </a:cxn>
                <a:cxn ang="0">
                  <a:pos x="15881" y="4191231"/>
                </a:cxn>
                <a:cxn ang="0">
                  <a:pos x="32457" y="3836400"/>
                </a:cxn>
                <a:cxn ang="0">
                  <a:pos x="52548" y="3442700"/>
                </a:cxn>
                <a:cxn ang="0">
                  <a:pos x="79322" y="2998989"/>
                </a:cxn>
                <a:cxn ang="0">
                  <a:pos x="120637" y="2559233"/>
                </a:cxn>
                <a:cxn ang="0">
                  <a:pos x="173873" y="2116223"/>
                </a:cxn>
                <a:cxn ang="0">
                  <a:pos x="238473" y="1676061"/>
                </a:cxn>
                <a:cxn ang="0">
                  <a:pos x="316232" y="1255507"/>
                </a:cxn>
                <a:cxn ang="0">
                  <a:pos x="411716" y="882134"/>
                </a:cxn>
                <a:cxn ang="0">
                  <a:pos x="522463" y="550166"/>
                </a:cxn>
                <a:cxn ang="0">
                  <a:pos x="647625" y="285964"/>
                </a:cxn>
                <a:cxn ang="0">
                  <a:pos x="722467" y="176388"/>
                </a:cxn>
                <a:cxn ang="0">
                  <a:pos x="801068" y="108799"/>
                </a:cxn>
                <a:cxn ang="0">
                  <a:pos x="879053" y="43315"/>
                </a:cxn>
                <a:cxn ang="0">
                  <a:pos x="969815" y="0"/>
                </a:cxn>
                <a:cxn ang="0">
                  <a:pos x="969815" y="0"/>
                </a:cxn>
                <a:cxn ang="0">
                  <a:pos x="879053" y="43315"/>
                </a:cxn>
                <a:cxn ang="0">
                  <a:pos x="801068" y="108799"/>
                </a:cxn>
                <a:cxn ang="0">
                  <a:pos x="722467" y="176388"/>
                </a:cxn>
                <a:cxn ang="0">
                  <a:pos x="647625" y="285964"/>
                </a:cxn>
                <a:cxn ang="0">
                  <a:pos x="522463" y="550166"/>
                </a:cxn>
                <a:cxn ang="0">
                  <a:pos x="411716" y="882134"/>
                </a:cxn>
                <a:cxn ang="0">
                  <a:pos x="316232" y="1255507"/>
                </a:cxn>
                <a:cxn ang="0">
                  <a:pos x="238473" y="1676061"/>
                </a:cxn>
                <a:cxn ang="0">
                  <a:pos x="173873" y="2116223"/>
                </a:cxn>
                <a:cxn ang="0">
                  <a:pos x="120637" y="2559233"/>
                </a:cxn>
                <a:cxn ang="0">
                  <a:pos x="79322" y="2998989"/>
                </a:cxn>
                <a:cxn ang="0">
                  <a:pos x="52548" y="3442700"/>
                </a:cxn>
                <a:cxn ang="0">
                  <a:pos x="32457" y="3836400"/>
                </a:cxn>
                <a:cxn ang="0">
                  <a:pos x="15881" y="4191231"/>
                </a:cxn>
                <a:cxn ang="0">
                  <a:pos x="5077" y="4476994"/>
                </a:cxn>
                <a:cxn ang="0">
                  <a:pos x="0" y="4719535"/>
                </a:cxn>
                <a:cxn ang="0">
                  <a:pos x="0" y="4808212"/>
                </a:cxn>
                <a:cxn ang="0">
                  <a:pos x="0" y="4874327"/>
                </a:cxn>
                <a:cxn ang="0">
                  <a:pos x="0" y="4893861"/>
                </a:cxn>
                <a:cxn ang="0">
                  <a:pos x="0" y="4917053"/>
                </a:cxn>
                <a:cxn ang="0">
                  <a:pos x="0" y="4917053"/>
                </a:cxn>
              </a:cxnLst>
              <a:rect l="txL" t="txT" r="txR" b="txB"/>
              <a:pathLst>
                <a:path w="1101" h="1332">
                  <a:moveTo>
                    <a:pt x="0" y="1332"/>
                  </a:moveTo>
                  <a:lnTo>
                    <a:pt x="0" y="1326"/>
                  </a:lnTo>
                  <a:lnTo>
                    <a:pt x="0" y="1320"/>
                  </a:lnTo>
                  <a:lnTo>
                    <a:pt x="0" y="1302"/>
                  </a:lnTo>
                  <a:lnTo>
                    <a:pt x="0" y="1278"/>
                  </a:lnTo>
                  <a:lnTo>
                    <a:pt x="6" y="1212"/>
                  </a:lnTo>
                  <a:lnTo>
                    <a:pt x="18" y="1135"/>
                  </a:lnTo>
                  <a:lnTo>
                    <a:pt x="36" y="1039"/>
                  </a:lnTo>
                  <a:lnTo>
                    <a:pt x="60" y="932"/>
                  </a:lnTo>
                  <a:lnTo>
                    <a:pt x="90" y="812"/>
                  </a:lnTo>
                  <a:lnTo>
                    <a:pt x="138" y="693"/>
                  </a:lnTo>
                  <a:lnTo>
                    <a:pt x="198" y="573"/>
                  </a:lnTo>
                  <a:lnTo>
                    <a:pt x="270" y="454"/>
                  </a:lnTo>
                  <a:lnTo>
                    <a:pt x="359" y="340"/>
                  </a:lnTo>
                  <a:lnTo>
                    <a:pt x="467" y="239"/>
                  </a:lnTo>
                  <a:lnTo>
                    <a:pt x="593" y="149"/>
                  </a:lnTo>
                  <a:lnTo>
                    <a:pt x="736" y="78"/>
                  </a:lnTo>
                  <a:lnTo>
                    <a:pt x="820" y="48"/>
                  </a:lnTo>
                  <a:lnTo>
                    <a:pt x="910" y="30"/>
                  </a:lnTo>
                  <a:lnTo>
                    <a:pt x="999" y="12"/>
                  </a:lnTo>
                  <a:lnTo>
                    <a:pt x="1101" y="0"/>
                  </a:lnTo>
                  <a:lnTo>
                    <a:pt x="999" y="12"/>
                  </a:lnTo>
                  <a:lnTo>
                    <a:pt x="910" y="30"/>
                  </a:lnTo>
                  <a:lnTo>
                    <a:pt x="820" y="48"/>
                  </a:lnTo>
                  <a:lnTo>
                    <a:pt x="736" y="78"/>
                  </a:lnTo>
                  <a:lnTo>
                    <a:pt x="593" y="149"/>
                  </a:lnTo>
                  <a:lnTo>
                    <a:pt x="467" y="239"/>
                  </a:lnTo>
                  <a:lnTo>
                    <a:pt x="359" y="340"/>
                  </a:lnTo>
                  <a:lnTo>
                    <a:pt x="270" y="454"/>
                  </a:lnTo>
                  <a:lnTo>
                    <a:pt x="198" y="573"/>
                  </a:lnTo>
                  <a:lnTo>
                    <a:pt x="138" y="693"/>
                  </a:lnTo>
                  <a:lnTo>
                    <a:pt x="90" y="812"/>
                  </a:lnTo>
                  <a:lnTo>
                    <a:pt x="60" y="932"/>
                  </a:lnTo>
                  <a:lnTo>
                    <a:pt x="36" y="1039"/>
                  </a:lnTo>
                  <a:lnTo>
                    <a:pt x="18" y="1135"/>
                  </a:lnTo>
                  <a:lnTo>
                    <a:pt x="6" y="1212"/>
                  </a:lnTo>
                  <a:lnTo>
                    <a:pt x="0" y="1278"/>
                  </a:lnTo>
                  <a:lnTo>
                    <a:pt x="0" y="1302"/>
                  </a:lnTo>
                  <a:lnTo>
                    <a:pt x="0" y="1320"/>
                  </a:lnTo>
                  <a:lnTo>
                    <a:pt x="0" y="1326"/>
                  </a:lnTo>
                  <a:lnTo>
                    <a:pt x="0" y="1332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19050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3" name="Rectangle 12"/>
            <p:cNvSpPr>
              <a:spLocks noChangeAspect="1"/>
            </p:cNvSpPr>
            <p:nvPr/>
          </p:nvSpPr>
          <p:spPr>
            <a:xfrm>
              <a:off x="3066" y="1620"/>
              <a:ext cx="102" cy="15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35854" name="Freeform 13"/>
            <p:cNvSpPr>
              <a:spLocks noChangeAspect="1"/>
            </p:cNvSpPr>
            <p:nvPr/>
          </p:nvSpPr>
          <p:spPr>
            <a:xfrm>
              <a:off x="3175" y="1520"/>
              <a:ext cx="88" cy="176"/>
            </a:xfrm>
            <a:custGeom>
              <a:avLst/>
              <a:gdLst>
                <a:gd name="txL" fmla="*/ 0 w 72"/>
                <a:gd name="txT" fmla="*/ 0 h 138"/>
                <a:gd name="txR" fmla="*/ 72 w 72"/>
                <a:gd name="txB" fmla="*/ 138 h 138"/>
              </a:gdLst>
              <a:ahLst/>
              <a:cxnLst>
                <a:cxn ang="0">
                  <a:pos x="21835" y="95568"/>
                </a:cxn>
                <a:cxn ang="0">
                  <a:pos x="54859" y="95568"/>
                </a:cxn>
                <a:cxn ang="0">
                  <a:pos x="54859" y="95568"/>
                </a:cxn>
                <a:cxn ang="0">
                  <a:pos x="60957" y="69700"/>
                </a:cxn>
                <a:cxn ang="0">
                  <a:pos x="66556" y="25830"/>
                </a:cxn>
                <a:cxn ang="0">
                  <a:pos x="60957" y="0"/>
                </a:cxn>
                <a:cxn ang="0">
                  <a:pos x="60957" y="25830"/>
                </a:cxn>
                <a:cxn ang="0">
                  <a:pos x="54859" y="25830"/>
                </a:cxn>
                <a:cxn ang="0">
                  <a:pos x="21835" y="25830"/>
                </a:cxn>
                <a:cxn ang="0">
                  <a:pos x="5359" y="210786"/>
                </a:cxn>
                <a:cxn ang="0">
                  <a:pos x="5359" y="210786"/>
                </a:cxn>
                <a:cxn ang="0">
                  <a:pos x="33387" y="255742"/>
                </a:cxn>
                <a:cxn ang="0">
                  <a:pos x="44554" y="302341"/>
                </a:cxn>
                <a:cxn ang="0">
                  <a:pos x="49874" y="375056"/>
                </a:cxn>
                <a:cxn ang="0">
                  <a:pos x="44554" y="491772"/>
                </a:cxn>
                <a:cxn ang="0">
                  <a:pos x="27367" y="514003"/>
                </a:cxn>
                <a:cxn ang="0">
                  <a:pos x="16457" y="491772"/>
                </a:cxn>
                <a:cxn ang="0">
                  <a:pos x="5359" y="470258"/>
                </a:cxn>
                <a:cxn ang="0">
                  <a:pos x="0" y="491772"/>
                </a:cxn>
                <a:cxn ang="0">
                  <a:pos x="0" y="491772"/>
                </a:cxn>
                <a:cxn ang="0">
                  <a:pos x="5359" y="514003"/>
                </a:cxn>
                <a:cxn ang="0">
                  <a:pos x="21835" y="539232"/>
                </a:cxn>
                <a:cxn ang="0">
                  <a:pos x="38312" y="514003"/>
                </a:cxn>
                <a:cxn ang="0">
                  <a:pos x="49874" y="491772"/>
                </a:cxn>
                <a:cxn ang="0">
                  <a:pos x="60957" y="422807"/>
                </a:cxn>
                <a:cxn ang="0">
                  <a:pos x="60957" y="352237"/>
                </a:cxn>
                <a:cxn ang="0">
                  <a:pos x="60957" y="302341"/>
                </a:cxn>
                <a:cxn ang="0">
                  <a:pos x="54859" y="235181"/>
                </a:cxn>
                <a:cxn ang="0">
                  <a:pos x="38312" y="185879"/>
                </a:cxn>
                <a:cxn ang="0">
                  <a:pos x="16457" y="165275"/>
                </a:cxn>
                <a:cxn ang="0">
                  <a:pos x="21835" y="95568"/>
                </a:cxn>
              </a:cxnLst>
              <a:rect l="txL" t="txT" r="txR" b="txB"/>
              <a:pathLst>
                <a:path w="72" h="138">
                  <a:moveTo>
                    <a:pt x="24" y="24"/>
                  </a:moveTo>
                  <a:lnTo>
                    <a:pt x="60" y="24"/>
                  </a:lnTo>
                  <a:lnTo>
                    <a:pt x="66" y="18"/>
                  </a:lnTo>
                  <a:lnTo>
                    <a:pt x="72" y="6"/>
                  </a:lnTo>
                  <a:lnTo>
                    <a:pt x="66" y="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24" y="6"/>
                  </a:lnTo>
                  <a:lnTo>
                    <a:pt x="6" y="54"/>
                  </a:lnTo>
                  <a:lnTo>
                    <a:pt x="36" y="66"/>
                  </a:lnTo>
                  <a:lnTo>
                    <a:pt x="48" y="78"/>
                  </a:lnTo>
                  <a:lnTo>
                    <a:pt x="54" y="96"/>
                  </a:lnTo>
                  <a:lnTo>
                    <a:pt x="48" y="126"/>
                  </a:lnTo>
                  <a:lnTo>
                    <a:pt x="30" y="132"/>
                  </a:lnTo>
                  <a:lnTo>
                    <a:pt x="18" y="126"/>
                  </a:lnTo>
                  <a:lnTo>
                    <a:pt x="6" y="120"/>
                  </a:lnTo>
                  <a:lnTo>
                    <a:pt x="0" y="126"/>
                  </a:lnTo>
                  <a:lnTo>
                    <a:pt x="6" y="132"/>
                  </a:lnTo>
                  <a:lnTo>
                    <a:pt x="24" y="138"/>
                  </a:lnTo>
                  <a:lnTo>
                    <a:pt x="42" y="132"/>
                  </a:lnTo>
                  <a:lnTo>
                    <a:pt x="54" y="126"/>
                  </a:lnTo>
                  <a:lnTo>
                    <a:pt x="66" y="108"/>
                  </a:lnTo>
                  <a:lnTo>
                    <a:pt x="66" y="90"/>
                  </a:lnTo>
                  <a:lnTo>
                    <a:pt x="66" y="78"/>
                  </a:lnTo>
                  <a:lnTo>
                    <a:pt x="60" y="60"/>
                  </a:lnTo>
                  <a:lnTo>
                    <a:pt x="42" y="48"/>
                  </a:lnTo>
                  <a:lnTo>
                    <a:pt x="18" y="42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5" name="Freeform 14"/>
            <p:cNvSpPr>
              <a:spLocks noChangeAspect="1" noEditPoints="1"/>
            </p:cNvSpPr>
            <p:nvPr/>
          </p:nvSpPr>
          <p:spPr>
            <a:xfrm>
              <a:off x="3314" y="1528"/>
              <a:ext cx="139" cy="168"/>
            </a:xfrm>
            <a:custGeom>
              <a:avLst/>
              <a:gdLst>
                <a:gd name="txL" fmla="*/ 0 w 114"/>
                <a:gd name="txT" fmla="*/ 0 h 132"/>
                <a:gd name="txR" fmla="*/ 114 w 114"/>
                <a:gd name="txB" fmla="*/ 132 h 132"/>
              </a:gdLst>
              <a:ahLst/>
              <a:cxnLst>
                <a:cxn ang="0">
                  <a:pos x="96211" y="458672"/>
                </a:cxn>
                <a:cxn ang="0">
                  <a:pos x="91507" y="458672"/>
                </a:cxn>
                <a:cxn ang="0">
                  <a:pos x="91507" y="438836"/>
                </a:cxn>
                <a:cxn ang="0">
                  <a:pos x="85837" y="389973"/>
                </a:cxn>
                <a:cxn ang="0">
                  <a:pos x="51008" y="0"/>
                </a:cxn>
                <a:cxn ang="0">
                  <a:pos x="45680" y="0"/>
                </a:cxn>
                <a:cxn ang="0">
                  <a:pos x="19936" y="347484"/>
                </a:cxn>
                <a:cxn ang="0">
                  <a:pos x="15523" y="389973"/>
                </a:cxn>
                <a:cxn ang="0">
                  <a:pos x="10441" y="438836"/>
                </a:cxn>
                <a:cxn ang="0">
                  <a:pos x="10441" y="438836"/>
                </a:cxn>
                <a:cxn ang="0">
                  <a:pos x="4976" y="458672"/>
                </a:cxn>
                <a:cxn ang="0">
                  <a:pos x="0" y="458672"/>
                </a:cxn>
                <a:cxn ang="0">
                  <a:pos x="0" y="479399"/>
                </a:cxn>
                <a:cxn ang="0">
                  <a:pos x="30726" y="479399"/>
                </a:cxn>
                <a:cxn ang="0">
                  <a:pos x="30726" y="458672"/>
                </a:cxn>
                <a:cxn ang="0">
                  <a:pos x="25858" y="458672"/>
                </a:cxn>
                <a:cxn ang="0">
                  <a:pos x="19936" y="438836"/>
                </a:cxn>
                <a:cxn ang="0">
                  <a:pos x="19936" y="414901"/>
                </a:cxn>
                <a:cxn ang="0">
                  <a:pos x="19936" y="414901"/>
                </a:cxn>
                <a:cxn ang="0">
                  <a:pos x="25858" y="328857"/>
                </a:cxn>
                <a:cxn ang="0">
                  <a:pos x="61039" y="328857"/>
                </a:cxn>
                <a:cxn ang="0">
                  <a:pos x="70399" y="389973"/>
                </a:cxn>
                <a:cxn ang="0">
                  <a:pos x="70399" y="414901"/>
                </a:cxn>
                <a:cxn ang="0">
                  <a:pos x="70399" y="438836"/>
                </a:cxn>
                <a:cxn ang="0">
                  <a:pos x="65866" y="458672"/>
                </a:cxn>
                <a:cxn ang="0">
                  <a:pos x="61039" y="458672"/>
                </a:cxn>
                <a:cxn ang="0">
                  <a:pos x="61039" y="479399"/>
                </a:cxn>
                <a:cxn ang="0">
                  <a:pos x="96211" y="479399"/>
                </a:cxn>
                <a:cxn ang="0">
                  <a:pos x="96211" y="458672"/>
                </a:cxn>
                <a:cxn ang="0">
                  <a:pos x="30726" y="283160"/>
                </a:cxn>
                <a:cxn ang="0">
                  <a:pos x="45680" y="88442"/>
                </a:cxn>
                <a:cxn ang="0">
                  <a:pos x="61039" y="283160"/>
                </a:cxn>
                <a:cxn ang="0">
                  <a:pos x="30726" y="283160"/>
                </a:cxn>
              </a:cxnLst>
              <a:rect l="txL" t="txT" r="txR" b="txB"/>
              <a:pathLst>
                <a:path w="114" h="132">
                  <a:moveTo>
                    <a:pt x="114" y="126"/>
                  </a:moveTo>
                  <a:lnTo>
                    <a:pt x="108" y="126"/>
                  </a:lnTo>
                  <a:lnTo>
                    <a:pt x="108" y="120"/>
                  </a:lnTo>
                  <a:lnTo>
                    <a:pt x="102" y="108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24" y="96"/>
                  </a:lnTo>
                  <a:lnTo>
                    <a:pt x="18" y="108"/>
                  </a:lnTo>
                  <a:lnTo>
                    <a:pt x="12" y="120"/>
                  </a:lnTo>
                  <a:lnTo>
                    <a:pt x="6" y="126"/>
                  </a:lnTo>
                  <a:lnTo>
                    <a:pt x="0" y="126"/>
                  </a:lnTo>
                  <a:lnTo>
                    <a:pt x="0" y="132"/>
                  </a:lnTo>
                  <a:lnTo>
                    <a:pt x="36" y="132"/>
                  </a:lnTo>
                  <a:lnTo>
                    <a:pt x="36" y="126"/>
                  </a:lnTo>
                  <a:lnTo>
                    <a:pt x="30" y="126"/>
                  </a:lnTo>
                  <a:lnTo>
                    <a:pt x="24" y="120"/>
                  </a:lnTo>
                  <a:lnTo>
                    <a:pt x="24" y="114"/>
                  </a:lnTo>
                  <a:lnTo>
                    <a:pt x="30" y="90"/>
                  </a:lnTo>
                  <a:lnTo>
                    <a:pt x="72" y="90"/>
                  </a:lnTo>
                  <a:lnTo>
                    <a:pt x="84" y="108"/>
                  </a:lnTo>
                  <a:lnTo>
                    <a:pt x="84" y="114"/>
                  </a:lnTo>
                  <a:lnTo>
                    <a:pt x="84" y="120"/>
                  </a:lnTo>
                  <a:lnTo>
                    <a:pt x="78" y="126"/>
                  </a:lnTo>
                  <a:lnTo>
                    <a:pt x="72" y="126"/>
                  </a:lnTo>
                  <a:lnTo>
                    <a:pt x="72" y="132"/>
                  </a:lnTo>
                  <a:lnTo>
                    <a:pt x="114" y="132"/>
                  </a:lnTo>
                  <a:lnTo>
                    <a:pt x="114" y="126"/>
                  </a:lnTo>
                  <a:close/>
                  <a:moveTo>
                    <a:pt x="36" y="78"/>
                  </a:moveTo>
                  <a:lnTo>
                    <a:pt x="54" y="24"/>
                  </a:lnTo>
                  <a:lnTo>
                    <a:pt x="72" y="78"/>
                  </a:lnTo>
                  <a:lnTo>
                    <a:pt x="36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6" name="Freeform 15"/>
            <p:cNvSpPr>
              <a:spLocks noChangeAspect="1"/>
            </p:cNvSpPr>
            <p:nvPr/>
          </p:nvSpPr>
          <p:spPr>
            <a:xfrm>
              <a:off x="3898" y="3057"/>
              <a:ext cx="51" cy="213"/>
            </a:xfrm>
            <a:custGeom>
              <a:avLst/>
              <a:gdLst>
                <a:gd name="txL" fmla="*/ 0 w 42"/>
                <a:gd name="txT" fmla="*/ 0 h 167"/>
                <a:gd name="txR" fmla="*/ 42 w 42"/>
                <a:gd name="txB" fmla="*/ 167 h 167"/>
              </a:gdLst>
              <a:ahLst/>
              <a:cxnLst>
                <a:cxn ang="0">
                  <a:pos x="30755" y="0"/>
                </a:cxn>
                <a:cxn ang="0">
                  <a:pos x="9266" y="141872"/>
                </a:cxn>
                <a:cxn ang="0">
                  <a:pos x="4361" y="235470"/>
                </a:cxn>
                <a:cxn ang="0">
                  <a:pos x="0" y="323329"/>
                </a:cxn>
                <a:cxn ang="0">
                  <a:pos x="4361" y="442881"/>
                </a:cxn>
                <a:cxn ang="0">
                  <a:pos x="9266" y="535585"/>
                </a:cxn>
                <a:cxn ang="0">
                  <a:pos x="17403" y="609676"/>
                </a:cxn>
                <a:cxn ang="0">
                  <a:pos x="30755" y="655460"/>
                </a:cxn>
                <a:cxn ang="0">
                  <a:pos x="30755" y="628511"/>
                </a:cxn>
                <a:cxn ang="0">
                  <a:pos x="21784" y="558522"/>
                </a:cxn>
                <a:cxn ang="0">
                  <a:pos x="17403" y="466170"/>
                </a:cxn>
                <a:cxn ang="0">
                  <a:pos x="13663" y="369524"/>
                </a:cxn>
                <a:cxn ang="0">
                  <a:pos x="13663" y="300330"/>
                </a:cxn>
                <a:cxn ang="0">
                  <a:pos x="13663" y="186207"/>
                </a:cxn>
                <a:cxn ang="0">
                  <a:pos x="17403" y="95791"/>
                </a:cxn>
                <a:cxn ang="0">
                  <a:pos x="26452" y="46167"/>
                </a:cxn>
                <a:cxn ang="0">
                  <a:pos x="30755" y="25838"/>
                </a:cxn>
                <a:cxn ang="0">
                  <a:pos x="30755" y="0"/>
                </a:cxn>
              </a:cxnLst>
              <a:rect l="txL" t="txT" r="txR" b="txB"/>
              <a:pathLst>
                <a:path w="42" h="167">
                  <a:moveTo>
                    <a:pt x="42" y="0"/>
                  </a:moveTo>
                  <a:lnTo>
                    <a:pt x="12" y="36"/>
                  </a:lnTo>
                  <a:lnTo>
                    <a:pt x="6" y="60"/>
                  </a:lnTo>
                  <a:lnTo>
                    <a:pt x="0" y="83"/>
                  </a:lnTo>
                  <a:lnTo>
                    <a:pt x="6" y="113"/>
                  </a:lnTo>
                  <a:lnTo>
                    <a:pt x="12" y="137"/>
                  </a:lnTo>
                  <a:lnTo>
                    <a:pt x="24" y="155"/>
                  </a:lnTo>
                  <a:lnTo>
                    <a:pt x="42" y="167"/>
                  </a:lnTo>
                  <a:lnTo>
                    <a:pt x="42" y="161"/>
                  </a:lnTo>
                  <a:lnTo>
                    <a:pt x="30" y="143"/>
                  </a:lnTo>
                  <a:lnTo>
                    <a:pt x="24" y="119"/>
                  </a:lnTo>
                  <a:lnTo>
                    <a:pt x="18" y="95"/>
                  </a:lnTo>
                  <a:lnTo>
                    <a:pt x="18" y="77"/>
                  </a:lnTo>
                  <a:lnTo>
                    <a:pt x="18" y="48"/>
                  </a:lnTo>
                  <a:lnTo>
                    <a:pt x="24" y="24"/>
                  </a:lnTo>
                  <a:lnTo>
                    <a:pt x="36" y="12"/>
                  </a:lnTo>
                  <a:lnTo>
                    <a:pt x="42" y="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7" name="Freeform 16"/>
            <p:cNvSpPr>
              <a:spLocks noChangeAspect="1" noEditPoints="1"/>
            </p:cNvSpPr>
            <p:nvPr/>
          </p:nvSpPr>
          <p:spPr>
            <a:xfrm>
              <a:off x="3957" y="3057"/>
              <a:ext cx="95" cy="167"/>
            </a:xfrm>
            <a:custGeom>
              <a:avLst/>
              <a:gdLst>
                <a:gd name="txL" fmla="*/ 0 w 78"/>
                <a:gd name="txT" fmla="*/ 0 h 131"/>
                <a:gd name="txR" fmla="*/ 78 w 78"/>
                <a:gd name="txB" fmla="*/ 131 h 131"/>
              </a:gdLst>
              <a:ahLst/>
              <a:cxnLst>
                <a:cxn ang="0">
                  <a:pos x="19242" y="275009"/>
                </a:cxn>
                <a:cxn ang="0">
                  <a:pos x="24935" y="229550"/>
                </a:cxn>
                <a:cxn ang="0">
                  <a:pos x="34519" y="208067"/>
                </a:cxn>
                <a:cxn ang="0">
                  <a:pos x="43572" y="229550"/>
                </a:cxn>
                <a:cxn ang="0">
                  <a:pos x="48943" y="252348"/>
                </a:cxn>
                <a:cxn ang="0">
                  <a:pos x="53068" y="365356"/>
                </a:cxn>
                <a:cxn ang="0">
                  <a:pos x="48943" y="437089"/>
                </a:cxn>
                <a:cxn ang="0">
                  <a:pos x="43572" y="481634"/>
                </a:cxn>
                <a:cxn ang="0">
                  <a:pos x="34519" y="481634"/>
                </a:cxn>
                <a:cxn ang="0">
                  <a:pos x="24935" y="481634"/>
                </a:cxn>
                <a:cxn ang="0">
                  <a:pos x="19242" y="459135"/>
                </a:cxn>
                <a:cxn ang="0">
                  <a:pos x="19242" y="275009"/>
                </a:cxn>
                <a:cxn ang="0">
                  <a:pos x="10108" y="459135"/>
                </a:cxn>
                <a:cxn ang="0">
                  <a:pos x="14994" y="481634"/>
                </a:cxn>
                <a:cxn ang="0">
                  <a:pos x="19242" y="504042"/>
                </a:cxn>
                <a:cxn ang="0">
                  <a:pos x="29373" y="504042"/>
                </a:cxn>
                <a:cxn ang="0">
                  <a:pos x="43572" y="481634"/>
                </a:cxn>
                <a:cxn ang="0">
                  <a:pos x="53068" y="437089"/>
                </a:cxn>
                <a:cxn ang="0">
                  <a:pos x="63957" y="319428"/>
                </a:cxn>
                <a:cxn ang="0">
                  <a:pos x="58525" y="208067"/>
                </a:cxn>
                <a:cxn ang="0">
                  <a:pos x="48943" y="184141"/>
                </a:cxn>
                <a:cxn ang="0">
                  <a:pos x="38893" y="163214"/>
                </a:cxn>
                <a:cxn ang="0">
                  <a:pos x="29373" y="184141"/>
                </a:cxn>
                <a:cxn ang="0">
                  <a:pos x="19242" y="229550"/>
                </a:cxn>
                <a:cxn ang="0">
                  <a:pos x="19242" y="229550"/>
                </a:cxn>
                <a:cxn ang="0">
                  <a:pos x="19242" y="0"/>
                </a:cxn>
                <a:cxn ang="0">
                  <a:pos x="19242" y="0"/>
                </a:cxn>
                <a:cxn ang="0">
                  <a:pos x="10108" y="25608"/>
                </a:cxn>
                <a:cxn ang="0">
                  <a:pos x="0" y="25608"/>
                </a:cxn>
                <a:cxn ang="0">
                  <a:pos x="0" y="45794"/>
                </a:cxn>
                <a:cxn ang="0">
                  <a:pos x="4651" y="45794"/>
                </a:cxn>
                <a:cxn ang="0">
                  <a:pos x="4651" y="45794"/>
                </a:cxn>
                <a:cxn ang="0">
                  <a:pos x="10108" y="45794"/>
                </a:cxn>
                <a:cxn ang="0">
                  <a:pos x="10108" y="68179"/>
                </a:cxn>
                <a:cxn ang="0">
                  <a:pos x="10108" y="459135"/>
                </a:cxn>
              </a:cxnLst>
              <a:rect l="txL" t="txT" r="txR" b="txB"/>
              <a:pathLst>
                <a:path w="78" h="131">
                  <a:moveTo>
                    <a:pt x="24" y="71"/>
                  </a:moveTo>
                  <a:lnTo>
                    <a:pt x="30" y="60"/>
                  </a:lnTo>
                  <a:lnTo>
                    <a:pt x="42" y="54"/>
                  </a:lnTo>
                  <a:lnTo>
                    <a:pt x="54" y="60"/>
                  </a:lnTo>
                  <a:lnTo>
                    <a:pt x="60" y="66"/>
                  </a:lnTo>
                  <a:lnTo>
                    <a:pt x="66" y="95"/>
                  </a:lnTo>
                  <a:lnTo>
                    <a:pt x="60" y="113"/>
                  </a:lnTo>
                  <a:lnTo>
                    <a:pt x="54" y="125"/>
                  </a:lnTo>
                  <a:lnTo>
                    <a:pt x="42" y="125"/>
                  </a:lnTo>
                  <a:lnTo>
                    <a:pt x="30" y="125"/>
                  </a:lnTo>
                  <a:lnTo>
                    <a:pt x="24" y="119"/>
                  </a:lnTo>
                  <a:lnTo>
                    <a:pt x="24" y="71"/>
                  </a:lnTo>
                  <a:close/>
                  <a:moveTo>
                    <a:pt x="12" y="119"/>
                  </a:moveTo>
                  <a:lnTo>
                    <a:pt x="18" y="125"/>
                  </a:lnTo>
                  <a:lnTo>
                    <a:pt x="24" y="131"/>
                  </a:lnTo>
                  <a:lnTo>
                    <a:pt x="36" y="131"/>
                  </a:lnTo>
                  <a:lnTo>
                    <a:pt x="54" y="125"/>
                  </a:lnTo>
                  <a:lnTo>
                    <a:pt x="66" y="113"/>
                  </a:lnTo>
                  <a:lnTo>
                    <a:pt x="78" y="83"/>
                  </a:lnTo>
                  <a:lnTo>
                    <a:pt x="72" y="54"/>
                  </a:lnTo>
                  <a:lnTo>
                    <a:pt x="60" y="48"/>
                  </a:lnTo>
                  <a:lnTo>
                    <a:pt x="48" y="42"/>
                  </a:lnTo>
                  <a:lnTo>
                    <a:pt x="36" y="48"/>
                  </a:lnTo>
                  <a:lnTo>
                    <a:pt x="24" y="60"/>
                  </a:lnTo>
                  <a:lnTo>
                    <a:pt x="24" y="0"/>
                  </a:lnTo>
                  <a:lnTo>
                    <a:pt x="12" y="6"/>
                  </a:lnTo>
                  <a:lnTo>
                    <a:pt x="0" y="6"/>
                  </a:lnTo>
                  <a:lnTo>
                    <a:pt x="0" y="12"/>
                  </a:lnTo>
                  <a:lnTo>
                    <a:pt x="6" y="12"/>
                  </a:lnTo>
                  <a:lnTo>
                    <a:pt x="12" y="12"/>
                  </a:lnTo>
                  <a:lnTo>
                    <a:pt x="12" y="18"/>
                  </a:lnTo>
                  <a:lnTo>
                    <a:pt x="12" y="11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8" name="Freeform 17"/>
            <p:cNvSpPr>
              <a:spLocks noChangeAspect="1"/>
            </p:cNvSpPr>
            <p:nvPr/>
          </p:nvSpPr>
          <p:spPr>
            <a:xfrm>
              <a:off x="4066" y="3057"/>
              <a:ext cx="52" cy="213"/>
            </a:xfrm>
            <a:custGeom>
              <a:avLst/>
              <a:gdLst>
                <a:gd name="txL" fmla="*/ 0 w 42"/>
                <a:gd name="txT" fmla="*/ 0 h 167"/>
                <a:gd name="txR" fmla="*/ 42 w 42"/>
                <a:gd name="txB" fmla="*/ 167 h 167"/>
              </a:gdLst>
              <a:ahLst/>
              <a:cxnLst>
                <a:cxn ang="0">
                  <a:pos x="0" y="655460"/>
                </a:cxn>
                <a:cxn ang="0">
                  <a:pos x="42998" y="513905"/>
                </a:cxn>
                <a:cxn ang="0">
                  <a:pos x="59488" y="416488"/>
                </a:cxn>
                <a:cxn ang="0">
                  <a:pos x="59488" y="323329"/>
                </a:cxn>
                <a:cxn ang="0">
                  <a:pos x="51364" y="211051"/>
                </a:cxn>
                <a:cxn ang="0">
                  <a:pos x="42998" y="114464"/>
                </a:cxn>
                <a:cxn ang="0">
                  <a:pos x="24988" y="46167"/>
                </a:cxn>
                <a:cxn ang="0">
                  <a:pos x="0" y="0"/>
                </a:cxn>
                <a:cxn ang="0">
                  <a:pos x="0" y="25838"/>
                </a:cxn>
                <a:cxn ang="0">
                  <a:pos x="18299" y="95791"/>
                </a:cxn>
                <a:cxn ang="0">
                  <a:pos x="34729" y="186207"/>
                </a:cxn>
                <a:cxn ang="0">
                  <a:pos x="34729" y="279582"/>
                </a:cxn>
                <a:cxn ang="0">
                  <a:pos x="34729" y="349264"/>
                </a:cxn>
                <a:cxn ang="0">
                  <a:pos x="34729" y="466170"/>
                </a:cxn>
                <a:cxn ang="0">
                  <a:pos x="24988" y="535585"/>
                </a:cxn>
                <a:cxn ang="0">
                  <a:pos x="18299" y="583938"/>
                </a:cxn>
                <a:cxn ang="0">
                  <a:pos x="0" y="628511"/>
                </a:cxn>
                <a:cxn ang="0">
                  <a:pos x="0" y="655460"/>
                </a:cxn>
              </a:cxnLst>
              <a:rect l="txL" t="txT" r="txR" b="txB"/>
              <a:pathLst>
                <a:path w="42" h="167">
                  <a:moveTo>
                    <a:pt x="0" y="167"/>
                  </a:moveTo>
                  <a:lnTo>
                    <a:pt x="30" y="131"/>
                  </a:lnTo>
                  <a:lnTo>
                    <a:pt x="42" y="107"/>
                  </a:lnTo>
                  <a:lnTo>
                    <a:pt x="42" y="83"/>
                  </a:lnTo>
                  <a:lnTo>
                    <a:pt x="36" y="54"/>
                  </a:lnTo>
                  <a:lnTo>
                    <a:pt x="30" y="30"/>
                  </a:lnTo>
                  <a:lnTo>
                    <a:pt x="18" y="12"/>
                  </a:lnTo>
                  <a:lnTo>
                    <a:pt x="0" y="0"/>
                  </a:lnTo>
                  <a:lnTo>
                    <a:pt x="0" y="6"/>
                  </a:lnTo>
                  <a:lnTo>
                    <a:pt x="12" y="24"/>
                  </a:lnTo>
                  <a:lnTo>
                    <a:pt x="24" y="48"/>
                  </a:lnTo>
                  <a:lnTo>
                    <a:pt x="24" y="71"/>
                  </a:lnTo>
                  <a:lnTo>
                    <a:pt x="24" y="89"/>
                  </a:lnTo>
                  <a:lnTo>
                    <a:pt x="24" y="119"/>
                  </a:lnTo>
                  <a:lnTo>
                    <a:pt x="18" y="137"/>
                  </a:lnTo>
                  <a:lnTo>
                    <a:pt x="12" y="149"/>
                  </a:lnTo>
                  <a:lnTo>
                    <a:pt x="0" y="161"/>
                  </a:lnTo>
                  <a:lnTo>
                    <a:pt x="0" y="16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9" name="Line 18"/>
            <p:cNvSpPr>
              <a:spLocks noChangeAspect="1"/>
            </p:cNvSpPr>
            <p:nvPr/>
          </p:nvSpPr>
          <p:spPr>
            <a:xfrm flipH="1">
              <a:off x="3489" y="1497"/>
              <a:ext cx="190" cy="38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0" name="Freeform 19"/>
            <p:cNvSpPr>
              <a:spLocks noChangeAspect="1"/>
            </p:cNvSpPr>
            <p:nvPr/>
          </p:nvSpPr>
          <p:spPr>
            <a:xfrm>
              <a:off x="3489" y="1497"/>
              <a:ext cx="190" cy="381"/>
            </a:xfrm>
            <a:custGeom>
              <a:avLst/>
              <a:gdLst>
                <a:gd name="txL" fmla="*/ 0 w 156"/>
                <a:gd name="txT" fmla="*/ 0 h 299"/>
                <a:gd name="txR" fmla="*/ 156 w 156"/>
                <a:gd name="txB" fmla="*/ 299 h 299"/>
              </a:gdLst>
              <a:ahLst/>
              <a:cxnLst>
                <a:cxn ang="0">
                  <a:pos x="126954" y="0"/>
                </a:cxn>
                <a:cxn ang="0">
                  <a:pos x="0" y="1130983"/>
                </a:cxn>
                <a:cxn ang="0">
                  <a:pos x="126954" y="0"/>
                </a:cxn>
                <a:cxn ang="0">
                  <a:pos x="126954" y="0"/>
                </a:cxn>
              </a:cxnLst>
              <a:rect l="txL" t="txT" r="txR" b="txB"/>
              <a:pathLst>
                <a:path w="156" h="299">
                  <a:moveTo>
                    <a:pt x="156" y="0"/>
                  </a:moveTo>
                  <a:lnTo>
                    <a:pt x="0" y="29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1" name="Freeform 20"/>
            <p:cNvSpPr>
              <a:spLocks noChangeAspect="1"/>
            </p:cNvSpPr>
            <p:nvPr/>
          </p:nvSpPr>
          <p:spPr>
            <a:xfrm>
              <a:off x="3424" y="1825"/>
              <a:ext cx="116" cy="191"/>
            </a:xfrm>
            <a:custGeom>
              <a:avLst/>
              <a:gdLst>
                <a:gd name="txL" fmla="*/ 0 w 95"/>
                <a:gd name="txT" fmla="*/ 0 h 150"/>
                <a:gd name="txR" fmla="*/ 95 w 95"/>
                <a:gd name="txB" fmla="*/ 150 h 150"/>
              </a:gdLst>
              <a:ahLst/>
              <a:cxnLst>
                <a:cxn ang="0">
                  <a:pos x="32630" y="0"/>
                </a:cxn>
                <a:cxn ang="0">
                  <a:pos x="0" y="552701"/>
                </a:cxn>
                <a:cxn ang="0">
                  <a:pos x="84532" y="152570"/>
                </a:cxn>
                <a:cxn ang="0">
                  <a:pos x="32630" y="0"/>
                </a:cxn>
                <a:cxn ang="0">
                  <a:pos x="32630" y="0"/>
                </a:cxn>
              </a:cxnLst>
              <a:rect l="txL" t="txT" r="txR" b="txB"/>
              <a:pathLst>
                <a:path w="95" h="150">
                  <a:moveTo>
                    <a:pt x="36" y="0"/>
                  </a:moveTo>
                  <a:lnTo>
                    <a:pt x="0" y="150"/>
                  </a:lnTo>
                  <a:lnTo>
                    <a:pt x="95" y="42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2" name="Line 21"/>
            <p:cNvSpPr>
              <a:spLocks noChangeAspect="1"/>
            </p:cNvSpPr>
            <p:nvPr/>
          </p:nvSpPr>
          <p:spPr>
            <a:xfrm flipV="1">
              <a:off x="1240" y="1505"/>
              <a:ext cx="190" cy="38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63" name="Freeform 22"/>
            <p:cNvSpPr>
              <a:spLocks noChangeAspect="1"/>
            </p:cNvSpPr>
            <p:nvPr/>
          </p:nvSpPr>
          <p:spPr>
            <a:xfrm>
              <a:off x="1240" y="1505"/>
              <a:ext cx="190" cy="381"/>
            </a:xfrm>
            <a:custGeom>
              <a:avLst/>
              <a:gdLst>
                <a:gd name="txL" fmla="*/ 0 w 156"/>
                <a:gd name="txT" fmla="*/ 0 h 299"/>
                <a:gd name="txR" fmla="*/ 156 w 156"/>
                <a:gd name="txB" fmla="*/ 299 h 299"/>
              </a:gdLst>
              <a:ahLst/>
              <a:cxnLst>
                <a:cxn ang="0">
                  <a:pos x="0" y="1130983"/>
                </a:cxn>
                <a:cxn ang="0">
                  <a:pos x="126954" y="0"/>
                </a:cxn>
                <a:cxn ang="0">
                  <a:pos x="0" y="1130983"/>
                </a:cxn>
                <a:cxn ang="0">
                  <a:pos x="0" y="1130983"/>
                </a:cxn>
              </a:cxnLst>
              <a:rect l="txL" t="txT" r="txR" b="txB"/>
              <a:pathLst>
                <a:path w="156" h="299">
                  <a:moveTo>
                    <a:pt x="0" y="299"/>
                  </a:moveTo>
                  <a:lnTo>
                    <a:pt x="156" y="0"/>
                  </a:lnTo>
                  <a:lnTo>
                    <a:pt x="0" y="29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Freeform 23"/>
            <p:cNvSpPr>
              <a:spLocks noChangeAspect="1"/>
            </p:cNvSpPr>
            <p:nvPr/>
          </p:nvSpPr>
          <p:spPr>
            <a:xfrm>
              <a:off x="1379" y="1376"/>
              <a:ext cx="117" cy="190"/>
            </a:xfrm>
            <a:custGeom>
              <a:avLst/>
              <a:gdLst>
                <a:gd name="txL" fmla="*/ 0 w 96"/>
                <a:gd name="txT" fmla="*/ 0 h 149"/>
                <a:gd name="txR" fmla="*/ 96 w 96"/>
                <a:gd name="txB" fmla="*/ 149 h 149"/>
              </a:gdLst>
              <a:ahLst/>
              <a:cxnLst>
                <a:cxn ang="0">
                  <a:pos x="50027" y="578229"/>
                </a:cxn>
                <a:cxn ang="0">
                  <a:pos x="79994" y="0"/>
                </a:cxn>
                <a:cxn ang="0">
                  <a:pos x="0" y="414658"/>
                </a:cxn>
                <a:cxn ang="0">
                  <a:pos x="50027" y="578229"/>
                </a:cxn>
                <a:cxn ang="0">
                  <a:pos x="50027" y="578229"/>
                </a:cxn>
              </a:cxnLst>
              <a:rect l="txL" t="txT" r="txR" b="txB"/>
              <a:pathLst>
                <a:path w="96" h="149">
                  <a:moveTo>
                    <a:pt x="60" y="149"/>
                  </a:moveTo>
                  <a:lnTo>
                    <a:pt x="96" y="0"/>
                  </a:lnTo>
                  <a:lnTo>
                    <a:pt x="0" y="107"/>
                  </a:lnTo>
                  <a:lnTo>
                    <a:pt x="60" y="14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45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0150" y="1578610"/>
            <a:ext cx="5329555" cy="20618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2330" y="4362450"/>
            <a:ext cx="4003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图</a:t>
            </a:r>
            <a:r>
              <a:rPr lang="en-US" altLang="zh-CN"/>
              <a:t>(</a:t>
            </a:r>
            <a:r>
              <a:rPr lang="en-US" altLang="en-US"/>
              <a:t>a)</a:t>
            </a:r>
            <a:r>
              <a:rPr lang="zh-CN" altLang="en-US"/>
              <a:t>和图</a:t>
            </a:r>
            <a:r>
              <a:rPr lang="en-US" altLang="en-US"/>
              <a:t> (b)</a:t>
            </a:r>
            <a:r>
              <a:rPr lang="zh-CN" altLang="en-US"/>
              <a:t>描述的是一样的电流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7230" y="1346200"/>
            <a:ext cx="3381375" cy="333375"/>
          </a:xfrm>
          <a:prstGeom prst="rect">
            <a:avLst/>
          </a:prstGeom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" y="2131695"/>
            <a:ext cx="7844155" cy="443230"/>
          </a:xfrm>
          <a:prstGeom prst="rect">
            <a:avLst/>
          </a:prstGeom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05" y="2986405"/>
            <a:ext cx="4581525" cy="257175"/>
          </a:xfrm>
          <a:prstGeom prst="rect">
            <a:avLst/>
          </a:prstGeom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328930" y="3729355"/>
            <a:ext cx="7968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解</a:t>
            </a:r>
            <a:r>
              <a:rPr lang="zh-CN" altLang="en-US" dirty="0" smtClean="0"/>
              <a:t>：</a:t>
            </a:r>
            <a:r>
              <a:rPr lang="en-US" altLang="zh-CN" dirty="0" smtClean="0"/>
              <a:t>Q=1.602×10</a:t>
            </a:r>
            <a:r>
              <a:rPr lang="en-US" altLang="zh-CN" baseline="30000" dirty="0" smtClean="0">
                <a:solidFill>
                  <a:schemeClr val="tx1"/>
                </a:solidFill>
                <a:uFillTx/>
              </a:rPr>
              <a:t>-19</a:t>
            </a:r>
            <a:r>
              <a:rPr lang="en-US" altLang="zh-CN" dirty="0" smtClean="0">
                <a:sym typeface="+mn-ea"/>
              </a:rPr>
              <a:t>C×6 </a:t>
            </a:r>
            <a:r>
              <a:rPr lang="en-US" altLang="zh-CN" dirty="0">
                <a:sym typeface="+mn-ea"/>
              </a:rPr>
              <a:t>667 000 000 =1.0680535×10</a:t>
            </a:r>
            <a:r>
              <a:rPr lang="en-US" altLang="zh-CN" baseline="30000" dirty="0">
                <a:uFillTx/>
                <a:sym typeface="+mn-ea"/>
              </a:rPr>
              <a:t>-9</a:t>
            </a:r>
            <a:r>
              <a:rPr lang="en-US" altLang="zh-CN" dirty="0">
                <a:sym typeface="+mn-ea"/>
              </a:rPr>
              <a:t>C</a:t>
            </a:r>
            <a:endParaRPr lang="en-US" altLang="zh-CN" baseline="30000" dirty="0">
              <a:solidFill>
                <a:schemeClr val="tx1"/>
              </a:solidFill>
              <a:uFillTx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50" y="4393565"/>
            <a:ext cx="6699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=</a:t>
            </a:r>
            <a:r>
              <a:rPr lang="en-US" altLang="zh-CN">
                <a:sym typeface="+mn-ea"/>
              </a:rPr>
              <a:t>1.0680535 nC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825" y="5093970"/>
            <a:ext cx="3230245" cy="65722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1111250" y="443865"/>
            <a:ext cx="6008370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3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电荷量的计算</a:t>
            </a:r>
            <a:endParaRPr lang="zh-CN" altLang="en-US" sz="3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11200" y="925830"/>
            <a:ext cx="6591300" cy="361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540510"/>
            <a:ext cx="6386830" cy="9480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895350" y="2679065"/>
                <a:ext cx="683831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800"/>
                  <a:t>注意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</m:oMath>
                </a14:m>
                <a:r>
                  <a:rPr lang="zh-CN" altLang="en-US" sz="1800"/>
                  <a:t>的取值，非三角函数中取</a:t>
                </a:r>
                <a:r>
                  <a:rPr lang="en-US" altLang="zh-CN" sz="1800"/>
                  <a:t>3.14</a:t>
                </a:r>
                <a:r>
                  <a:rPr lang="zh-CN" altLang="en-US" sz="1800"/>
                  <a:t>，三角函数中取值为</a:t>
                </a:r>
                <a:r>
                  <a:rPr lang="en-US" altLang="zh-CN" sz="1800"/>
                  <a:t>180</a:t>
                </a:r>
                <a:r>
                  <a:rPr lang="zh-CN" altLang="en-US" sz="1800"/>
                  <a:t>度。</a:t>
                </a:r>
                <a:endParaRPr lang="zh-CN" altLang="en-US" sz="180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350" y="2679065"/>
                <a:ext cx="6838315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>
            <a:hlinkClick r:id="" action="ppaction://ole?verb=0"/>
          </p:cNvPr>
          <p:cNvGraphicFramePr/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4" imgW="2743200" imgH="5181600" progId="">
                  <p:embed/>
                </p:oleObj>
              </mc:Choice>
              <mc:Fallback>
                <p:oleObj name="" r:id="rId4" imgW="2743200" imgH="5181600" progId="">
                  <p:embed/>
                  <p:pic>
                    <p:nvPicPr>
                      <p:cNvPr id="0" name="图片 2048" descr="image1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" y="3370580"/>
            <a:ext cx="7954645" cy="3987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385570" y="4177665"/>
            <a:ext cx="5647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解：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dq</a:t>
            </a:r>
            <a:r>
              <a:rPr lang="en-US" altLang="zh-CN" sz="2000" dirty="0"/>
              <a:t>/</a:t>
            </a:r>
            <a:r>
              <a:rPr lang="en-US" altLang="zh-CN" sz="2000" dirty="0" err="1"/>
              <a:t>dt</a:t>
            </a:r>
            <a:r>
              <a:rPr lang="en-US" altLang="zh-CN" sz="2000" dirty="0"/>
              <a:t>=(-10)(-2)(</a:t>
            </a:r>
            <a:r>
              <a:rPr lang="en-US" altLang="zh-CN" sz="2000" dirty="0" smtClean="0"/>
              <a:t>e</a:t>
            </a:r>
            <a:r>
              <a:rPr lang="en-US" altLang="zh-CN" sz="2000" baseline="30000" dirty="0" smtClean="0">
                <a:solidFill>
                  <a:schemeClr val="tx1"/>
                </a:solidFill>
                <a:uFillTx/>
              </a:rPr>
              <a:t>-2t</a:t>
            </a:r>
            <a:r>
              <a:rPr lang="en-US" altLang="zh-CN" sz="2000" dirty="0" smtClean="0"/>
              <a:t>)</a:t>
            </a:r>
            <a:r>
              <a:rPr lang="en-US" altLang="zh-CN" sz="2000" dirty="0" err="1" smtClean="0"/>
              <a:t>mA</a:t>
            </a:r>
            <a:endParaRPr lang="en-US" altLang="zh-CN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1229360" y="5269230"/>
            <a:ext cx="5057152" cy="1101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err="1"/>
              <a:t>i</a:t>
            </a:r>
            <a:r>
              <a:rPr lang="en-US" altLang="zh-CN" sz="1800" dirty="0"/>
              <a:t>  =20 e</a:t>
            </a:r>
            <a:r>
              <a:rPr lang="en-US" altLang="zh-CN" sz="1800" baseline="30000" dirty="0">
                <a:solidFill>
                  <a:schemeClr val="tx1"/>
                </a:solidFill>
                <a:uFillTx/>
              </a:rPr>
              <a:t> -2  </a:t>
            </a:r>
            <a:r>
              <a:rPr lang="en-US" altLang="zh-CN" sz="1800" dirty="0" err="1" smtClean="0">
                <a:sym typeface="+mn-ea"/>
              </a:rPr>
              <a:t>mA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=  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20/e</a:t>
            </a:r>
            <a:r>
              <a:rPr lang="en-US" altLang="zh-CN" sz="1800" baseline="30000" dirty="0">
                <a:solidFill>
                  <a:schemeClr val="tx1"/>
                </a:solidFill>
                <a:uFillTx/>
                <a:sym typeface="+mn-ea"/>
              </a:rPr>
              <a:t>2  </a:t>
            </a:r>
            <a:r>
              <a:rPr lang="en-US" altLang="zh-CN" sz="1800" dirty="0" err="1" smtClean="0">
                <a:sym typeface="+mn-ea"/>
              </a:rPr>
              <a:t>mA</a:t>
            </a:r>
            <a:r>
              <a:rPr lang="en-US" altLang="zh-CN" sz="1800" dirty="0" smtClean="0">
                <a:sym typeface="+mn-ea"/>
              </a:rPr>
              <a:t>= </a:t>
            </a:r>
            <a:r>
              <a:rPr lang="en-US" altLang="zh-CN" sz="1800" dirty="0">
                <a:sym typeface="+mn-ea"/>
              </a:rPr>
              <a:t>2.7067 </a:t>
            </a:r>
            <a:r>
              <a:rPr lang="en-US" altLang="zh-CN" sz="1800" dirty="0" err="1">
                <a:sym typeface="+mn-ea"/>
              </a:rPr>
              <a:t>mA</a:t>
            </a:r>
            <a:endParaRPr lang="en-US" altLang="zh-CN" sz="1800" dirty="0" err="1">
              <a:sym typeface="+mn-ea"/>
            </a:endParaRPr>
          </a:p>
          <a:p>
            <a:endParaRPr lang="en-US" altLang="zh-CN" sz="1800" baseline="30000" dirty="0">
              <a:solidFill>
                <a:schemeClr val="tx1"/>
              </a:solidFill>
              <a:uFillTx/>
              <a:sym typeface="+mn-ea"/>
            </a:endParaRPr>
          </a:p>
          <a:p>
            <a:endParaRPr lang="en-US" altLang="zh-CN" sz="1800" dirty="0">
              <a:solidFill>
                <a:schemeClr val="tx1"/>
              </a:solidFill>
              <a:uFillTx/>
              <a:sym typeface="+mn-ea"/>
            </a:endParaRPr>
          </a:p>
          <a:p>
            <a:r>
              <a:rPr lang="zh-CN" altLang="en-US" sz="1800" dirty="0">
                <a:solidFill>
                  <a:schemeClr val="tx1"/>
                </a:solidFill>
                <a:uFillTx/>
                <a:sym typeface="+mn-ea"/>
              </a:rPr>
              <a:t>说明：</a:t>
            </a:r>
            <a:r>
              <a:rPr lang="en-US" altLang="zh-CN" sz="1800" dirty="0">
                <a:solidFill>
                  <a:schemeClr val="tx1"/>
                </a:solidFill>
                <a:uFillTx/>
                <a:sym typeface="+mn-ea"/>
              </a:rPr>
              <a:t>e=2.71828</a:t>
            </a:r>
            <a:endParaRPr lang="en-US" altLang="zh-CN" sz="1800" dirty="0">
              <a:solidFill>
                <a:schemeClr val="tx1"/>
              </a:solidFill>
              <a:uFillTx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99845" y="4689475"/>
            <a:ext cx="1976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t=1.0s  </a:t>
            </a:r>
            <a:r>
              <a:rPr lang="zh-CN" altLang="en-US" sz="1800"/>
              <a:t>时</a:t>
            </a:r>
            <a:endParaRPr lang="zh-CN" altLang="en-US" sz="1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6325" y="6021070"/>
            <a:ext cx="1529080" cy="2952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68350" y="458470"/>
            <a:ext cx="581977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电流的计算</a:t>
            </a:r>
            <a:endParaRPr lang="zh-CN" altLang="en-US" sz="1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6" r="36"/>
          <a:stretch>
            <a:fillRect/>
          </a:stretch>
        </p:blipFill>
        <p:spPr>
          <a:xfrm>
            <a:off x="669290" y="857250"/>
            <a:ext cx="7490460" cy="421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827405" y="33274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电流瞬时值计算详解</a:t>
            </a:r>
            <a:endParaRPr lang="en-US" sz="27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27405" y="105283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基于电荷量随时间变化函数的导数求解</a:t>
            </a:r>
            <a:endParaRPr lang="en-US" sz="2400" b="0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7090" y="857250"/>
            <a:ext cx="7414260" cy="41706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5605" y="692150"/>
            <a:ext cx="8388985" cy="47193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5" r="35"/>
          <a:stretch>
            <a:fillRect/>
          </a:stretch>
        </p:blipFill>
        <p:spPr>
          <a:xfrm>
            <a:off x="635635" y="732155"/>
            <a:ext cx="7572375" cy="426275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005" y="857250"/>
            <a:ext cx="7720965" cy="4343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5465" y="743585"/>
            <a:ext cx="7821930" cy="439991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43000" y="1143000"/>
            <a:ext cx="6858000" cy="385762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6100" y="995045"/>
            <a:ext cx="7755890" cy="436308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36" r="36"/>
          <a:stretch>
            <a:fillRect/>
          </a:stretch>
        </p:blipFill>
        <p:spPr>
          <a:xfrm>
            <a:off x="862330" y="1428750"/>
            <a:ext cx="7488555" cy="42157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5650" y="404495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最终计算</a:t>
            </a:r>
            <a:endParaRPr lang="en-US" sz="27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15340" y="1553845"/>
            <a:ext cx="7444740" cy="41884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6080" y="779145"/>
            <a:ext cx="8268970" cy="465137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9750" y="476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回顾与总结</a:t>
            </a:r>
            <a:endParaRPr lang="en-US" sz="27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571500" y="2381250"/>
            <a:ext cx="3905250" cy="1524000"/>
          </a:xfrm>
          <a:prstGeom prst="roundRect">
            <a:avLst>
              <a:gd name="adj" fmla="val 6250"/>
            </a:avLst>
          </a:prstGeom>
          <a:solidFill>
            <a:srgbClr val="F0F4F8">
              <a:alpha val="100000"/>
            </a:srgbClr>
          </a:solidFill>
          <a:ln cap="flat" cmpd="sng">
            <a:solidFill>
              <a:srgbClr val="C1D0DF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57175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143000" y="2571750"/>
            <a:ext cx="314325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核心概念：电流定义</a:t>
            </a:r>
            <a:endParaRPr lang="en-US" sz="15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>
            <p:custDataLst>
              <p:tags r:id="rId6"/>
            </p:custDataLst>
          </p:nvPr>
        </p:nvCxnSpPr>
        <p:spPr>
          <a:xfrm rot="-9291">
            <a:off x="762007" y="2928938"/>
            <a:ext cx="352425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62000" y="3028950"/>
            <a:ext cx="35242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电流是电荷量对时间的导数 i(t) = dq/dt。</a:t>
            </a:r>
            <a:endParaRPr lang="en-US" sz="1600" b="0" i="0" u="none" strike="noStrike" kern="0">
              <a:solidFill>
                <a:srgbClr val="4555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667250" y="2381250"/>
            <a:ext cx="3905250" cy="1524000"/>
          </a:xfrm>
          <a:prstGeom prst="roundRect">
            <a:avLst>
              <a:gd name="adj" fmla="val 6250"/>
            </a:avLst>
          </a:prstGeom>
          <a:solidFill>
            <a:srgbClr val="F0F4F8">
              <a:alpha val="100000"/>
            </a:srgbClr>
          </a:solidFill>
          <a:ln cap="flat" cmpd="sng">
            <a:solidFill>
              <a:srgbClr val="C1D0DF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7750" y="257175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238750" y="2571750"/>
            <a:ext cx="314325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数学工具：求导法则</a:t>
            </a:r>
            <a:endParaRPr lang="en-US" sz="15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13"/>
            </p:custDataLst>
          </p:nvPr>
        </p:nvCxnSpPr>
        <p:spPr>
          <a:xfrm rot="-9291">
            <a:off x="4857757" y="2928938"/>
            <a:ext cx="352425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857750" y="3028950"/>
            <a:ext cx="35242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在求解复杂函数时，灵活运用：</a:t>
            </a:r>
            <a:endParaRPr lang="en-US" sz="103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03200" indent="-20320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Char char="•"/>
            </a:pPr>
            <a:r>
              <a:rPr lang="en-US" sz="1600" b="0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乘积法则 (Product Rule)</a:t>
            </a:r>
            <a:endParaRPr lang="en-US" sz="1600" b="0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Char char="•"/>
            </a:pPr>
            <a:r>
              <a:rPr lang="en-US" sz="1600" b="0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链式法则 (Chain Rule)</a:t>
            </a:r>
            <a:endParaRPr lang="en-US" sz="1600" b="0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71500" y="4095750"/>
            <a:ext cx="3905250" cy="1524000"/>
          </a:xfrm>
          <a:prstGeom prst="roundRect">
            <a:avLst>
              <a:gd name="adj" fmla="val 6250"/>
            </a:avLst>
          </a:prstGeom>
          <a:solidFill>
            <a:srgbClr val="F0F4F8">
              <a:alpha val="100000"/>
            </a:srgbClr>
          </a:solidFill>
          <a:ln cap="flat" cmpd="sng">
            <a:solidFill>
              <a:srgbClr val="C1D0DF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2000" y="428625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1143000" y="4286250"/>
            <a:ext cx="314325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标准解题步骤</a:t>
            </a:r>
            <a:endParaRPr lang="en-US" sz="15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20"/>
            </p:custDataLst>
          </p:nvPr>
        </p:nvCxnSpPr>
        <p:spPr>
          <a:xfrm rot="-9291">
            <a:off x="762007" y="4643438"/>
            <a:ext cx="352425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762000" y="4743450"/>
            <a:ext cx="35242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求导得到电流的一般表达式</a:t>
            </a:r>
            <a:endParaRPr lang="en-US" sz="103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4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代入具体时间值进行计算</a:t>
            </a:r>
            <a:endParaRPr lang="en-US" sz="1600" b="0" i="0" u="none" strike="noStrike" kern="0">
              <a:solidFill>
                <a:srgbClr val="4555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4667250" y="4095750"/>
            <a:ext cx="3905250" cy="1524000"/>
          </a:xfrm>
          <a:prstGeom prst="roundRect">
            <a:avLst>
              <a:gd name="adj" fmla="val 6250"/>
            </a:avLst>
          </a:prstGeom>
          <a:solidFill>
            <a:srgbClr val="F0F4F8">
              <a:alpha val="100000"/>
            </a:srgbClr>
          </a:solidFill>
          <a:ln cap="flat" cmpd="sng">
            <a:solidFill>
              <a:srgbClr val="C1D0DF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857750" y="428625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6"/>
            </p:custDataLst>
          </p:nvPr>
        </p:nvSpPr>
        <p:spPr>
          <a:xfrm>
            <a:off x="5238750" y="4286250"/>
            <a:ext cx="314325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关键技巧：特殊角记忆</a:t>
            </a:r>
            <a:endParaRPr lang="en-US" sz="15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>
            <p:custDataLst>
              <p:tags r:id="rId27"/>
            </p:custDataLst>
          </p:nvPr>
        </p:nvCxnSpPr>
        <p:spPr>
          <a:xfrm rot="-9291">
            <a:off x="4857757" y="4643438"/>
            <a:ext cx="352425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1B2A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4857750" y="4743450"/>
            <a:ext cx="35242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4555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计算时注意三角函数的特殊值：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sin(2π) = 0, cos(2π) = 1</a:t>
            </a:r>
            <a:endParaRPr lang="en-US" sz="1800" b="0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57200" y="1428750"/>
            <a:ext cx="8229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常见电流-电荷量关系求导速查表</a:t>
            </a:r>
            <a:endParaRPr lang="en-US" sz="24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714500" y="2190750"/>
            <a:ext cx="5715000" cy="1524000"/>
          </a:xfrm>
          <a:prstGeom prst="roundRect">
            <a:avLst>
              <a:gd name="adj" fmla="val 6250"/>
            </a:avLst>
          </a:prstGeom>
          <a:solidFill>
            <a:srgbClr val="0D1B2A">
              <a:alpha val="5000"/>
            </a:srgbClr>
          </a:solidFill>
          <a:ln w="25400" cap="flat" cmpd="sng">
            <a:solidFill>
              <a:srgbClr val="0D1B2A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0250" y="2524125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571750" y="2428875"/>
            <a:ext cx="4572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核心定义公式</a:t>
            </a:r>
            <a:endParaRPr lang="en-US" sz="2000" b="0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571750" y="2714625"/>
            <a:ext cx="4572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dq/dt</a:t>
            </a:r>
            <a:endParaRPr lang="en-US" sz="21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57200" y="4000500"/>
            <a:ext cx="82296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速查表结构预览</a:t>
            </a:r>
            <a:endParaRPr lang="en-US" sz="1600" b="0" i="0" u="none" strike="noStrike" kern="0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952500" y="4381500"/>
            <a:ext cx="2286000" cy="1143000"/>
          </a:xfrm>
          <a:prstGeom prst="roundRect">
            <a:avLst>
              <a:gd name="adj" fmla="val 4166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524375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524000" y="4524375"/>
            <a:ext cx="1524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恒定电荷量</a:t>
            </a:r>
            <a:endParaRPr lang="en-US" sz="105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1143000" y="4857750"/>
            <a:ext cx="1905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Q (常数)</a:t>
            </a:r>
            <a:br>
              <a:rPr lang="en-US" sz="14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0</a:t>
            </a:r>
            <a:endParaRPr lang="en-US" sz="14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429000" y="4381500"/>
            <a:ext cx="2286000" cy="1143000"/>
          </a:xfrm>
          <a:prstGeom prst="roundRect">
            <a:avLst>
              <a:gd name="adj" fmla="val 4166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19500" y="4524375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4000500" y="4524375"/>
            <a:ext cx="1524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线性变化</a:t>
            </a:r>
            <a:endParaRPr lang="en-US" sz="105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3619500" y="4857750"/>
            <a:ext cx="1905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kt</a:t>
            </a:r>
            <a:br>
              <a:rPr lang="en-US" sz="14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k (常数)</a:t>
            </a:r>
            <a:endParaRPr lang="en-US" sz="14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5905500" y="4381500"/>
            <a:ext cx="2286000" cy="1143000"/>
          </a:xfrm>
          <a:prstGeom prst="roundRect">
            <a:avLst>
              <a:gd name="adj" fmla="val 4166"/>
            </a:avLst>
          </a:prstGeom>
          <a:solidFill>
            <a:srgbClr val="F5F5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96000" y="4524375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6477000" y="4524375"/>
            <a:ext cx="1524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非线性变化</a:t>
            </a:r>
            <a:endParaRPr lang="en-US" sz="105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6096000" y="4857750"/>
            <a:ext cx="1905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0" i="0" u="none" strike="noStrike" kern="0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t² 或 e^(at)</a:t>
            </a:r>
            <a:br>
              <a:rPr lang="en-US" sz="14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2t 或 a·e^(at)</a:t>
            </a:r>
            <a:endParaRPr lang="en-US" sz="14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核心定义回顾</a:t>
            </a:r>
            <a:endParaRPr lang="en-US" sz="27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2381250"/>
            <a:ext cx="3810000" cy="2667000"/>
          </a:xfrm>
          <a:prstGeom prst="roundRect">
            <a:avLst>
              <a:gd name="adj" fmla="val 3571"/>
            </a:avLst>
          </a:prstGeom>
          <a:solidFill>
            <a:srgbClr val="1B263B">
              <a:alpha val="5000"/>
            </a:srgbClr>
          </a:solidFill>
          <a:ln cap="flat" cmpd="sng">
            <a:solidFill>
              <a:srgbClr val="0C1322">
                <a:alpha val="5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2667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38250" y="2647950"/>
            <a:ext cx="285750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电流的定义</a:t>
            </a:r>
            <a:endParaRPr lang="en-US" sz="18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0110">
            <a:off x="857257" y="3043238"/>
            <a:ext cx="32385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263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57250" y="3190875"/>
            <a:ext cx="3592195" cy="1619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在电路分析中，</a:t>
            </a: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 (Current)</a:t>
            </a:r>
            <a:r>
              <a:rPr lang="en-US" sz="18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的定义是电荷量随时间的瞬时变化率。</a:t>
            </a:r>
            <a:endParaRPr lang="en-US" sz="18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这意味着电流本质上是电荷量对时间的</a:t>
            </a: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一阶导数</a:t>
            </a:r>
            <a:r>
              <a:rPr lang="en-US" sz="1800" b="0" i="0" u="none" strike="noStrike" kern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b="0" i="0" u="none" strike="noStrike" kern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67250" y="2381250"/>
            <a:ext cx="3810000" cy="2667000"/>
          </a:xfrm>
          <a:prstGeom prst="roundRect">
            <a:avLst>
              <a:gd name="adj" fmla="val 3571"/>
            </a:avLst>
          </a:prstGeom>
          <a:solidFill>
            <a:srgbClr val="1B263B">
              <a:alpha val="5000"/>
            </a:srgbClr>
          </a:solidFill>
          <a:ln cap="flat" cmpd="sng">
            <a:solidFill>
              <a:srgbClr val="0C1322">
                <a:alpha val="5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266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647950"/>
            <a:ext cx="285750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数学表达</a:t>
            </a:r>
            <a:endParaRPr lang="en-US" sz="18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0110">
            <a:off x="4953007" y="3043238"/>
            <a:ext cx="32385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263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953000" y="3238500"/>
            <a:ext cx="3238500" cy="762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B263B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53000" y="3381375"/>
            <a:ext cx="32385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1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dq / dt</a:t>
            </a:r>
            <a:endParaRPr lang="en-US" sz="21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953000" y="4095750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基于此公式，我们将推导出常见的 q(t) 函数形式及其对应的电流 i(t)。</a:t>
            </a:r>
            <a:endParaRPr lang="en-US" sz="1600" b="0" i="0" u="none" strike="noStrike" kern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一、基本函数形式</a:t>
            </a:r>
            <a:endParaRPr lang="en-US" sz="27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2381250"/>
            <a:ext cx="2476500" cy="2857500"/>
          </a:xfrm>
          <a:prstGeom prst="roundRect">
            <a:avLst>
              <a:gd name="adj" fmla="val 384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57175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143000" y="257175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常数函数形式</a:t>
            </a:r>
            <a:endParaRPr lang="en-US" sz="16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5626">
            <a:off x="762011" y="2947988"/>
            <a:ext cx="2095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095625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电荷量 q(t)：</a:t>
            </a:r>
            <a:br>
              <a:rPr lang="en-US" sz="18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C (常数)</a:t>
            </a:r>
            <a:endParaRPr lang="en-US" sz="20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83895" y="38608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 i(t)：</a:t>
            </a:r>
            <a:br>
              <a:rPr lang="en-US" sz="18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0</a:t>
            </a:r>
            <a:endParaRPr lang="en-US" sz="20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55650" y="436499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说明：电荷量不随时间变化，电路中无电流。</a:t>
            </a:r>
            <a:endParaRPr lang="en-US" sz="1600" b="0" i="0" u="none" strike="noStrike" kern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333750" y="2381250"/>
            <a:ext cx="2476500" cy="2857500"/>
          </a:xfrm>
          <a:prstGeom prst="roundRect">
            <a:avLst>
              <a:gd name="adj" fmla="val 384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250" y="257175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05250" y="257175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线性函数形式</a:t>
            </a:r>
            <a:endParaRPr lang="en-US" sz="16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3524261" y="2947988"/>
            <a:ext cx="2095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524250" y="3095625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电荷量 q(t)：</a:t>
            </a:r>
            <a:br>
              <a:rPr lang="en-US" sz="18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kt (k为常数)</a:t>
            </a:r>
            <a:endParaRPr lang="en-US" sz="20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20110" y="38608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 i(t)：</a:t>
            </a:r>
            <a:br>
              <a:rPr lang="en-US" sz="18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k</a:t>
            </a:r>
            <a:endParaRPr lang="en-US" sz="20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259455" y="4364990"/>
            <a:ext cx="235712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说明：电荷量随时间线性变化，电路中为恒定电流。</a:t>
            </a:r>
            <a:endParaRPr lang="en-US" sz="1600" b="0" i="0" u="none" strike="noStrike" kern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096000" y="2381250"/>
            <a:ext cx="2476500" cy="2857500"/>
          </a:xfrm>
          <a:prstGeom prst="roundRect">
            <a:avLst>
              <a:gd name="adj" fmla="val 384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257175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667500" y="257175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幂函数形式</a:t>
            </a:r>
            <a:endParaRPr lang="en-US" sz="16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15626">
            <a:off x="6286511" y="2947988"/>
            <a:ext cx="2095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286500" y="3095625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电荷量 q(t)：</a:t>
            </a:r>
            <a:br>
              <a:rPr lang="en-US" sz="18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kt^n</a:t>
            </a:r>
            <a:endParaRPr lang="en-US" sz="20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92850" y="3810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 i(t)：</a:t>
            </a:r>
            <a:br>
              <a:rPr lang="en-US" sz="18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nkt^(n-1)</a:t>
            </a:r>
            <a:endParaRPr lang="en-US" sz="20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00470" y="42418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说明：应用幂函数求导法则，指数前置并减一。</a:t>
            </a:r>
            <a:endParaRPr lang="en-US" sz="1600" b="0" i="0" u="none" strike="noStrike" kern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3850" y="476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二、三角函数形式</a:t>
            </a:r>
            <a:endParaRPr lang="en-US" sz="27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2381250"/>
            <a:ext cx="8001000" cy="1428750"/>
          </a:xfrm>
          <a:prstGeom prst="roundRect">
            <a:avLst>
              <a:gd name="adj" fmla="val 6666"/>
            </a:avLst>
          </a:prstGeom>
          <a:solidFill>
            <a:srgbClr val="F0F4F8">
              <a:alpha val="100000"/>
            </a:srgbClr>
          </a:solidFill>
          <a:ln cap="flat" cmpd="sng">
            <a:solidFill>
              <a:srgbClr val="C1D0DF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20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71500" y="2381250"/>
            <a:ext cx="76200" cy="1428750"/>
          </a:xfrm>
          <a:prstGeom prst="roundRect">
            <a:avLst>
              <a:gd name="adj" fmla="val 125000"/>
            </a:avLst>
          </a:prstGeom>
          <a:solidFill>
            <a:srgbClr val="1B26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57175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59840" y="2420620"/>
            <a:ext cx="433324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正弦变化 (Sine Function)</a:t>
            </a:r>
            <a:endParaRPr lang="en-US" sz="20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384">
            <a:off x="838203" y="2900363"/>
            <a:ext cx="74676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263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38200" y="3000375"/>
            <a:ext cx="952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电荷量 q(t)</a:t>
            </a:r>
            <a:endParaRPr lang="en-US" sz="1800" b="1" i="0" u="none" strike="noStrike" kern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809750" y="2853055"/>
            <a:ext cx="2857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A · sin(ωt + φ)</a:t>
            </a:r>
            <a:endParaRPr lang="en-US" sz="18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38200" y="3286125"/>
            <a:ext cx="952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 i(t)</a:t>
            </a:r>
            <a:endParaRPr lang="en-US" sz="1800" b="1" i="0" u="none" strike="noStrike" kern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809750" y="3286125"/>
            <a:ext cx="2857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Aω · cos(ωt + φ)</a:t>
            </a:r>
            <a:endParaRPr lang="en-US" sz="18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860290" y="2724150"/>
            <a:ext cx="352425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说明：应用链式法则求导，电流相位超前电压90度，呈现余弦形式。</a:t>
            </a:r>
            <a:endParaRPr lang="en-US" sz="2000" b="0" i="0" u="none" strike="noStrike" kern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71500" y="4000500"/>
            <a:ext cx="8001000" cy="1428750"/>
          </a:xfrm>
          <a:prstGeom prst="roundRect">
            <a:avLst>
              <a:gd name="adj" fmla="val 6666"/>
            </a:avLst>
          </a:prstGeom>
          <a:solidFill>
            <a:srgbClr val="F0F4F8">
              <a:alpha val="100000"/>
            </a:srgbClr>
          </a:solidFill>
          <a:ln cap="flat" cmpd="sng">
            <a:solidFill>
              <a:srgbClr val="C1D0DF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71500" y="4000500"/>
            <a:ext cx="76200" cy="1428750"/>
          </a:xfrm>
          <a:prstGeom prst="roundRect">
            <a:avLst>
              <a:gd name="adj" fmla="val 125000"/>
            </a:avLst>
          </a:prstGeom>
          <a:solidFill>
            <a:srgbClr val="1B26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4191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38250" y="4171950"/>
            <a:ext cx="4333240" cy="333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余弦变化 (Cosine Function)</a:t>
            </a:r>
            <a:endParaRPr lang="en-US" sz="20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4384">
            <a:off x="857253" y="4862513"/>
            <a:ext cx="74676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263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8200" y="4619625"/>
            <a:ext cx="952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电荷量 q(t)</a:t>
            </a:r>
            <a:endParaRPr lang="en-US" sz="1800" b="1" i="0" u="none" strike="noStrike" kern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809750" y="4512310"/>
            <a:ext cx="2857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A · cos(ωt + φ)</a:t>
            </a:r>
            <a:endParaRPr lang="en-US" sz="18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38200" y="4905375"/>
            <a:ext cx="952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 i(t)</a:t>
            </a:r>
            <a:endParaRPr lang="en-US" sz="1800" b="1" i="0" u="none" strike="noStrike" kern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809750" y="4905375"/>
            <a:ext cx="2857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-Aω · sin(ωt + φ)</a:t>
            </a:r>
            <a:endParaRPr lang="en-US" sz="18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4860290" y="4381500"/>
            <a:ext cx="3524250" cy="666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说明：应用链式法则求导，余弦函数的导数为负的正弦函数，需注意负号的存在。</a:t>
            </a:r>
            <a:endParaRPr lang="en-US" sz="2000" b="0" i="0" u="none" strike="noStrike" kern="0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9705" y="1059815"/>
            <a:ext cx="8488680" cy="105473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>
                <a:solidFill>
                  <a:srgbClr val="000000"/>
                </a:solidFill>
              </a:rPr>
              <a:t>在相位上，</a:t>
            </a:r>
            <a:r>
              <a:rPr lang="en-US" altLang="zh-CN" sz="2400" b="0">
                <a:solidFill>
                  <a:srgbClr val="000000"/>
                </a:solidFill>
              </a:rPr>
              <a:t>Aω⋅cos(ωt+φ)</a:t>
            </a:r>
            <a:r>
              <a:rPr lang="en-US" altLang="zh-CN" sz="2000" b="0">
                <a:solidFill>
                  <a:srgbClr val="000000"/>
                </a:solidFill>
              </a:rPr>
              <a:t> </a:t>
            </a:r>
            <a:r>
              <a:rPr lang="zh-CN" altLang="en-US" sz="2000" b="0">
                <a:solidFill>
                  <a:srgbClr val="000000"/>
                </a:solidFill>
              </a:rPr>
              <a:t>等价于 </a:t>
            </a:r>
            <a:r>
              <a:rPr lang="en-US" altLang="zh-CN" sz="2400" b="0">
                <a:solidFill>
                  <a:srgbClr val="000000"/>
                </a:solidFill>
              </a:rPr>
              <a:t>Aω⋅sin(ωt+φ+90∘)</a:t>
            </a:r>
            <a:r>
              <a:rPr lang="zh-CN" altLang="en-US" sz="2000" b="0">
                <a:solidFill>
                  <a:srgbClr val="000000"/>
                </a:solidFill>
              </a:rPr>
              <a:t>。因此，我们说余弦形式的信号比正弦形式的信号</a:t>
            </a:r>
            <a:r>
              <a:rPr lang="zh-CN" altLang="en-US" sz="2000" b="1">
                <a:solidFill>
                  <a:srgbClr val="000000"/>
                </a:solidFill>
              </a:rPr>
              <a:t>相位超前了 </a:t>
            </a:r>
            <a:r>
              <a:rPr lang="en-US" altLang="zh-CN" sz="2000" b="1">
                <a:solidFill>
                  <a:srgbClr val="000000"/>
                </a:solidFill>
              </a:rPr>
              <a:t>90 </a:t>
            </a:r>
            <a:r>
              <a:rPr lang="zh-CN" altLang="en-US" sz="2000" b="1">
                <a:solidFill>
                  <a:srgbClr val="000000"/>
                </a:solidFill>
              </a:rPr>
              <a:t>度</a:t>
            </a:r>
            <a:r>
              <a:rPr lang="zh-CN" altLang="en-US" sz="2000" b="0">
                <a:solidFill>
                  <a:srgbClr val="000000"/>
                </a:solidFill>
              </a:rPr>
              <a:t>。</a:t>
            </a:r>
            <a:endParaRPr lang="zh-CN" altLang="en-US" sz="2000" b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三、指数函数形式</a:t>
            </a:r>
            <a:endParaRPr lang="en-US" sz="27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952500" y="2762250"/>
            <a:ext cx="762000" cy="762000"/>
          </a:xfrm>
          <a:prstGeom prst="ellipse">
            <a:avLst/>
          </a:prstGeom>
          <a:solidFill>
            <a:srgbClr val="1B26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375" y="2905125"/>
            <a:ext cx="476250" cy="476250"/>
          </a:xfrm>
          <a:prstGeom prst="rect">
            <a:avLst/>
          </a:prstGeom>
        </p:spPr>
      </p:pic>
      <p:cxnSp>
        <p:nvCxnSpPr>
          <p:cNvPr id="6" name="Connector 6"/>
          <p:cNvCxnSpPr/>
          <p:nvPr/>
        </p:nvCxnSpPr>
        <p:spPr>
          <a:xfrm rot="5382811">
            <a:off x="1143000" y="3614750"/>
            <a:ext cx="19050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B263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1250" y="2667000"/>
            <a:ext cx="228600" cy="228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667000" y="2647950"/>
            <a:ext cx="5524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电荷量 \( q(t) \) (单位: C)</a:t>
            </a:r>
            <a:endParaRPr lang="en-US" sz="135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095750" y="2981325"/>
            <a:ext cx="552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(其中 A, λ 为常数)</a:t>
            </a:r>
            <a:endParaRPr lang="en-US" sz="1800" b="0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81250" y="3429000"/>
            <a:ext cx="228600" cy="228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667000" y="3531394"/>
            <a:ext cx="5524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  (单位: A)</a:t>
            </a:r>
            <a:endParaRPr lang="en-US" sz="135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71500" y="5048250"/>
            <a:ext cx="8001000" cy="571500"/>
          </a:xfrm>
          <a:prstGeom prst="roundRect">
            <a:avLst>
              <a:gd name="adj" fmla="val 16666"/>
            </a:avLst>
          </a:prstGeom>
          <a:solidFill>
            <a:srgbClr val="1B263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5181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5162550"/>
            <a:ext cx="7239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说明：指数变化的电荷量，应用指数函数求导法则。常用于描述电路的暂态过程（如RC/RL电路充放电）。</a:t>
            </a:r>
            <a:endParaRPr lang="en-US" sz="1200" b="0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4135" y="2981325"/>
            <a:ext cx="1393031" cy="550069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4201" y="3986213"/>
            <a:ext cx="1464469" cy="500063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7995" y="619125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四、常用求导法则</a:t>
            </a:r>
            <a:endParaRPr lang="en-US" sz="36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571500" y="2190750"/>
            <a:ext cx="3905250" cy="1666875"/>
          </a:xfrm>
          <a:prstGeom prst="roundRect">
            <a:avLst>
              <a:gd name="adj" fmla="val 571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333625"/>
            <a:ext cx="228600" cy="228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047750" y="2305050"/>
            <a:ext cx="363855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和差法则 (Sum/Difference Rule)</a:t>
            </a:r>
            <a:endParaRPr lang="en-US" sz="18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>
            <p:custDataLst>
              <p:tags r:id="rId6"/>
            </p:custDataLst>
          </p:nvPr>
        </p:nvCxnSpPr>
        <p:spPr>
          <a:xfrm rot="-9291">
            <a:off x="762007" y="2614613"/>
            <a:ext cx="352425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62000" y="2667000"/>
            <a:ext cx="3524250" cy="1047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函数形式：</a:t>
            </a:r>
            <a:r>
              <a:rPr lang="en-US" sz="1800" b="0" i="1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f(t) + g(t)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导数结果：</a:t>
            </a: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f'(t) + g'(t)</a:t>
            </a:r>
            <a:endParaRPr lang="en-US" sz="18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667250" y="2190750"/>
            <a:ext cx="3905250" cy="1666875"/>
          </a:xfrm>
          <a:prstGeom prst="roundRect">
            <a:avLst>
              <a:gd name="adj" fmla="val 571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7750" y="2333625"/>
            <a:ext cx="228600" cy="228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143500" y="2305050"/>
            <a:ext cx="3238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08. 乘积法则 (Product Rule)</a:t>
            </a:r>
            <a:endParaRPr lang="en-US" sz="20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13"/>
            </p:custDataLst>
          </p:nvPr>
        </p:nvCxnSpPr>
        <p:spPr>
          <a:xfrm rot="-9291">
            <a:off x="4857757" y="2614613"/>
            <a:ext cx="352425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857750" y="2667000"/>
            <a:ext cx="3524250" cy="1047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函数形式：</a:t>
            </a:r>
            <a:r>
              <a:rPr lang="en-US" sz="1800" b="0" i="1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f(t) · g(t)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导数结果：</a:t>
            </a: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f'(t)g(t) + f(t)g'(t)</a:t>
            </a:r>
            <a:endParaRPr lang="en-US" sz="18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示例：d/dt [5t sin(4πt)] = 5sin(4πt) + 20πt cos(4πt)</a:t>
            </a:r>
            <a:endParaRPr lang="en-US" sz="1400" b="0" i="0" u="none" strike="noStrike" kern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71500" y="4000500"/>
            <a:ext cx="3905250" cy="1666875"/>
          </a:xfrm>
          <a:prstGeom prst="roundRect">
            <a:avLst>
              <a:gd name="adj" fmla="val 571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2000" y="4143375"/>
            <a:ext cx="228600" cy="228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1047750" y="4114800"/>
            <a:ext cx="3238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09. 商数法则 (Quotient Rule)</a:t>
            </a:r>
            <a:endParaRPr lang="en-US" sz="20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20"/>
            </p:custDataLst>
          </p:nvPr>
        </p:nvCxnSpPr>
        <p:spPr>
          <a:xfrm rot="-9291">
            <a:off x="762007" y="4424363"/>
            <a:ext cx="352425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762000" y="4476750"/>
            <a:ext cx="3524250" cy="1047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函数形式：</a:t>
            </a:r>
            <a:r>
              <a:rPr lang="en-US" sz="1800" b="0" i="1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f(t) / g(t)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导数结果：</a:t>
            </a: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[f'(t)g(t) - f(t)g'(t)] / [g(t)]²</a:t>
            </a:r>
            <a:endParaRPr lang="en-US" sz="18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4667250" y="4000500"/>
            <a:ext cx="3905250" cy="1666875"/>
          </a:xfrm>
          <a:prstGeom prst="roundRect">
            <a:avLst>
              <a:gd name="adj" fmla="val 5714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857750" y="4143375"/>
            <a:ext cx="228600" cy="2286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6"/>
            </p:custDataLst>
          </p:nvPr>
        </p:nvSpPr>
        <p:spPr>
          <a:xfrm>
            <a:off x="5143500" y="4114800"/>
            <a:ext cx="3238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10. 链式法则 (Chain Rule)</a:t>
            </a:r>
            <a:endParaRPr lang="en-US" sz="2000" b="1" i="0" u="none" strike="noStrike" kern="0">
              <a:solidFill>
                <a:srgbClr val="0D1B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>
            <p:custDataLst>
              <p:tags r:id="rId27"/>
            </p:custDataLst>
          </p:nvPr>
        </p:nvCxnSpPr>
        <p:spPr>
          <a:xfrm rot="-9291">
            <a:off x="4857757" y="4424363"/>
            <a:ext cx="352425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8"/>
            </p:custDataLst>
          </p:nvPr>
        </p:nvSpPr>
        <p:spPr>
          <a:xfrm>
            <a:off x="4857750" y="4476750"/>
            <a:ext cx="3524250" cy="1047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函数形式：</a:t>
            </a:r>
            <a:r>
              <a:rPr lang="en-US" sz="1800" b="0" i="1" u="none" strike="noStrike" kern="0">
                <a:solidFill>
                  <a:srgbClr val="0D1B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q(t) = f(g(t))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导数结果：</a:t>
            </a:r>
            <a:r>
              <a:rPr lang="en-US" sz="1800" b="1" i="0" u="none" strike="noStrike" kern="0">
                <a:solidFill>
                  <a:srgbClr val="1B26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f'(g(t)) · g'(t)</a:t>
            </a:r>
            <a:endParaRPr lang="en-US" sz="1800" b="1" i="0" u="none" strike="noStrike" kern="0">
              <a:solidFill>
                <a:srgbClr val="1B263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kern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示例：d/dt [sin(4πt)] = 4π cos(4πt)</a:t>
            </a:r>
            <a:endParaRPr lang="en-US" sz="1400" b="0" i="0" u="none" strike="noStrike" kern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 t="14259"/>
          <a:stretch>
            <a:fillRect/>
          </a:stretch>
        </p:blipFill>
        <p:spPr>
          <a:xfrm>
            <a:off x="510540" y="1088390"/>
            <a:ext cx="7920355" cy="5880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68350" y="474345"/>
            <a:ext cx="581977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电荷的计算</a:t>
            </a:r>
            <a:endParaRPr lang="zh-CN" altLang="en-US" sz="1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85" y="1931035"/>
            <a:ext cx="5829300" cy="123380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35785" y="1412875"/>
            <a:ext cx="4756785" cy="53740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68350" y="474345"/>
            <a:ext cx="5819775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1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sym typeface="+mn-ea"/>
              </a:rPr>
              <a:t>电荷的计算</a:t>
            </a:r>
            <a:r>
              <a:rPr lang="zh-CN" altLang="en-US" sz="18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（续）</a:t>
            </a:r>
            <a:endParaRPr lang="zh-CN" altLang="en-US" sz="18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40" y="188595"/>
            <a:ext cx="5100955" cy="11525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90830" y="908685"/>
            <a:ext cx="7623810" cy="51435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90750"/>
            <a:ext cx="228600" cy="228600"/>
          </a:xfrm>
          <a:prstGeom prst="rect">
            <a:avLst/>
          </a:prstGeom>
        </p:spPr>
      </p:pic>
      <p:cxnSp>
        <p:nvCxnSpPr>
          <p:cNvPr id="8" name="Connector 8"/>
          <p:cNvCxnSpPr/>
          <p:nvPr/>
        </p:nvCxnSpPr>
        <p:spPr>
          <a:xfrm rot="-4297">
            <a:off x="762003" y="2519363"/>
            <a:ext cx="76200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99795" y="2348865"/>
            <a:ext cx="7620000" cy="3832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解：</a:t>
            </a: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q = ∫₀² </a:t>
            </a:r>
            <a:r>
              <a:rPr lang="en-US" sz="3200" b="0" i="0" u="none" strike="noStrike" kern="0" dirty="0" err="1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(t) dt = ∫₀¹ </a:t>
            </a:r>
            <a:r>
              <a:rPr lang="en-US" sz="3200" b="0" i="0" u="none" strike="noStrike" kern="0" dirty="0" err="1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(t) dt + ∫₁² </a:t>
            </a:r>
            <a:r>
              <a:rPr lang="en-US" sz="3200" b="0" i="0" u="none" strike="noStrike" kern="0" dirty="0" err="1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(t) dt</a:t>
            </a:r>
            <a:endParaRPr lang="en-US" sz="1600" kern="0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 eaLnBrk="1" fontAlgn="auto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= ∫₀¹ 4 dt + ∫₁² 4t² dt</a:t>
            </a:r>
            <a:endParaRPr lang="en-US" sz="3200" b="0" i="0" u="none" strike="noStrike" kern="0" dirty="0">
              <a:solidFill>
                <a:srgbClr val="E5E7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 eaLnBrk="1" fontAlgn="auto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= 4t |₀¹ + (4/3)t³ |₁²</a:t>
            </a:r>
            <a:endParaRPr lang="en-US" sz="3200" b="0" i="0" u="none" strike="noStrike" kern="0" dirty="0">
              <a:solidFill>
                <a:srgbClr val="E5E7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 eaLnBrk="1" fontAlgn="auto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= 4(1-0) + (4/3)(2³ - 1³)</a:t>
            </a:r>
            <a:endParaRPr lang="en-US" sz="3200" b="0" i="0" u="none" strike="noStrike" kern="0" dirty="0">
              <a:solidFill>
                <a:srgbClr val="E5E7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 eaLnBrk="1" fontAlgn="auto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= 4 + (4/3)(8-1)</a:t>
            </a:r>
            <a:endParaRPr lang="en-US" sz="3200" b="0" i="0" u="none" strike="noStrike" kern="0" dirty="0">
              <a:solidFill>
                <a:srgbClr val="E5E7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 eaLnBrk="1" fontAlgn="auto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= 4 + 28/3</a:t>
            </a:r>
            <a:endParaRPr lang="en-US" sz="3200" b="0" i="0" u="none" strike="noStrike" kern="0" dirty="0">
              <a:solidFill>
                <a:srgbClr val="E5E7E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algn="ctr" eaLnBrk="1" fontAlgn="auto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0" i="0" u="none" strike="noStrike" kern="0" dirty="0">
                <a:solidFill>
                  <a:srgbClr val="E5E7EB"/>
                </a:solidFill>
                <a:latin typeface="Roboto"/>
                <a:ea typeface="Roboto"/>
                <a:cs typeface="Roboto"/>
                <a:sym typeface="Roboto"/>
              </a:rPr>
              <a:t>= (12 + 28)/3 = 40/3 ≈ 13.33 C</a:t>
            </a:r>
            <a:endParaRPr lang="en-US" sz="3200" b="0" i="0" u="none" strike="noStrike" kern="0" dirty="0">
              <a:solidFill>
                <a:srgbClr val="E5E7E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985" y="620395"/>
            <a:ext cx="5100955" cy="1152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3895" y="476885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电流与电荷量计算示例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83895" y="126873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kern="0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基于定积分的物理问题求解</a:t>
            </a:r>
            <a:endParaRPr lang="en-US" sz="2400" b="0" i="0" u="none" strike="noStrike" kern="0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7">
            <a:off x="755653" y="1777683"/>
            <a:ext cx="76200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43255" y="1898650"/>
            <a:ext cx="2381250" cy="2286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505" y="1917065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119505" y="2002790"/>
            <a:ext cx="1905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建立物理模型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08025" y="2433320"/>
            <a:ext cx="2292985" cy="15608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分析电路中电流随时间变化的规律，确定电流函数 I(t) 的表达式，明确积分上下限。</a:t>
            </a:r>
            <a:endParaRPr lang="en-US" sz="1800" b="0" i="0" u="none" strike="noStrike" kern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3262630" y="1898650"/>
            <a:ext cx="2381250" cy="2286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0110" y="197612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3851910" y="1988820"/>
            <a:ext cx="1905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构建积分方程</a:t>
            </a:r>
            <a:endParaRPr lang="en-US" sz="20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3500755" y="2550160"/>
            <a:ext cx="1905000" cy="14439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利用微元法思想，将总电荷量 Q 表示为电流 I(t) 对时间 t 的定积分，即 Q = ∫I(t)dt。</a:t>
            </a:r>
            <a:endParaRPr lang="en-US" sz="1800" b="0" i="0" u="none" strike="noStrike" kern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882005" y="1898650"/>
            <a:ext cx="2381250" cy="2286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12180" y="200279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6516370" y="2132965"/>
            <a:ext cx="19050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计算与验证</a:t>
            </a:r>
            <a:endParaRPr lang="en-US" sz="24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6156325" y="2603500"/>
            <a:ext cx="2183130" cy="13373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代入具体数值进行积分运算，求解总电荷量，并对结果的物理意义和单位进行验证。</a:t>
            </a:r>
            <a:endParaRPr lang="en-US" sz="1800" b="0" i="0" u="none" strike="noStrike" kern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问题陈述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523901" y="2364251"/>
            <a:ext cx="3832666" cy="2874499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351" y="2651700"/>
            <a:ext cx="306613" cy="306613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194618" y="2651700"/>
            <a:ext cx="2874499" cy="3066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已知条件：电流函数</a:t>
            </a:r>
            <a:endParaRPr lang="en-US" sz="1500" b="1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>
            <p:custDataLst>
              <p:tags r:id="rId6"/>
            </p:custDataLst>
          </p:nvPr>
        </p:nvCxnSpPr>
        <p:spPr>
          <a:xfrm rot="-10110">
            <a:off x="811358" y="3078085"/>
            <a:ext cx="3257766" cy="958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519430" y="3418234"/>
            <a:ext cx="3567573" cy="172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电路中某端点的电流随时间变化的函数为：</a:t>
            </a:r>
            <a:endParaRPr lang="en-US" sz="2000" b="0" i="0" u="none" strike="noStrike" kern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03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3t² - t</a:t>
            </a:r>
            <a:endParaRPr lang="en-US" sz="24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sz="1400" b="0" i="0" u="none" strike="noStrike" kern="0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其中：电流 i 的单位为安培 (A)，时间 t 的单位为秒 (s)。</a:t>
            </a:r>
            <a:endParaRPr lang="en-US" sz="1800" b="0" i="0" u="none" strike="noStrike" kern="0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739834" y="2364251"/>
            <a:ext cx="3832666" cy="2874499"/>
          </a:xfrm>
          <a:prstGeom prst="roundRect">
            <a:avLst>
              <a:gd name="adj" fmla="val 3333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27284" y="2651700"/>
            <a:ext cx="306613" cy="306613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410551" y="2651700"/>
            <a:ext cx="2874499" cy="30661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求解目标：总电荷量</a:t>
            </a:r>
            <a:endParaRPr lang="en-US" sz="1500" b="1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13"/>
            </p:custDataLst>
          </p:nvPr>
        </p:nvCxnSpPr>
        <p:spPr>
          <a:xfrm rot="-10110">
            <a:off x="5027291" y="3078085"/>
            <a:ext cx="3257766" cy="958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5027284" y="3226600"/>
            <a:ext cx="3257766" cy="172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计算在指定时间间隔内，流入该端点的总电荷量 q：</a:t>
            </a:r>
            <a:endParaRPr lang="en-US" sz="12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 = 1s 到 t = 2s</a:t>
            </a:r>
            <a:br>
              <a:rPr lang="en-US" sz="1200" b="0" i="0" u="none" strike="noStrike" kern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2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 u="none" strike="noStrike" kern="0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提示：利用电流与电荷的积分关系进行求解。</a:t>
            </a:r>
            <a:endParaRPr lang="en-US" sz="1600" b="0" i="0" u="none" strike="noStrike" kern="0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4287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核心物理公式：电荷量与电流的积分关系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2190750"/>
            <a:ext cx="8001000" cy="1333500"/>
          </a:xfrm>
          <a:prstGeom prst="roundRect">
            <a:avLst>
              <a:gd name="adj" fmla="val 7142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71500" y="2428875"/>
            <a:ext cx="8001000" cy="857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1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= ∫ i(t) dt</a:t>
            </a:r>
            <a:r>
              <a:rPr lang="en-US" sz="1350" b="0" i="0" u="none" strike="noStrike" kern="0" baseline="-10000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t₂</a:t>
            </a:r>
            <a:r>
              <a:rPr lang="en-US" sz="1350" b="0" i="0" u="none" strike="noStrike" kern="0" baseline="10000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t₁</a:t>
            </a:r>
            <a:endParaRPr lang="en-US" sz="1350" b="0" i="0" u="none" strike="noStrike" kern="0" baseline="10000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71500" y="3810000"/>
            <a:ext cx="2476500" cy="1524000"/>
          </a:xfrm>
          <a:prstGeom prst="roundRect">
            <a:avLst>
              <a:gd name="adj" fmla="val 625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400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143000" y="4000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电荷量 (q)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>
            <p:custDataLst>
              <p:tags r:id="rId6"/>
            </p:custDataLst>
          </p:nvPr>
        </p:nvCxnSpPr>
        <p:spPr>
          <a:xfrm rot="-15626">
            <a:off x="762011" y="4376738"/>
            <a:ext cx="20955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447675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单位：库仑 (C)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kern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表示单位时间内通过导体横截面的总电量。</a:t>
            </a:r>
            <a:endParaRPr lang="en-US" sz="1400" b="0" i="0" u="none" strike="noStrike" kern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3333750" y="3810000"/>
            <a:ext cx="2476500" cy="1524000"/>
          </a:xfrm>
          <a:prstGeom prst="roundRect">
            <a:avLst>
              <a:gd name="adj" fmla="val 625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24250" y="400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3905250" y="4000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电流函数 (i(t))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>
            <p:custDataLst>
              <p:tags r:id="rId13"/>
            </p:custDataLst>
          </p:nvPr>
        </p:nvCxnSpPr>
        <p:spPr>
          <a:xfrm rot="-15626">
            <a:off x="3524261" y="4376738"/>
            <a:ext cx="20955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3524250" y="447675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单位：安培 (A)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kern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随时间变化的电流瞬时值，是被积函数。</a:t>
            </a:r>
            <a:endParaRPr lang="en-US" sz="1400" b="0" i="0" u="none" strike="noStrike" kern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6096000" y="3810000"/>
            <a:ext cx="2476500" cy="1524000"/>
          </a:xfrm>
          <a:prstGeom prst="roundRect">
            <a:avLst>
              <a:gd name="adj" fmla="val 625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86500" y="4000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667500" y="4000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时间区间 (t₁, t₂)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>
            <p:custDataLst>
              <p:tags r:id="rId20"/>
            </p:custDataLst>
          </p:nvPr>
        </p:nvCxnSpPr>
        <p:spPr>
          <a:xfrm rot="-15626">
            <a:off x="6286511" y="4376738"/>
            <a:ext cx="20955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6286500" y="4476750"/>
            <a:ext cx="209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单位：秒 (s)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kern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积分的上下限，表示测量或计算的起始和终止时刻。</a:t>
            </a:r>
            <a:endParaRPr lang="en-US" sz="1400" b="0" i="0" u="none" strike="noStrike" kern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代入已知条件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571500" y="2381250"/>
            <a:ext cx="3810000" cy="24765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571750"/>
            <a:ext cx="228600" cy="228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047750" y="2552700"/>
            <a:ext cx="2857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提取题目参数</a:t>
            </a:r>
            <a:endParaRPr lang="en-US" sz="2000" b="1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>
            <p:custDataLst>
              <p:tags r:id="rId6"/>
            </p:custDataLst>
          </p:nvPr>
        </p:nvCxnSpPr>
        <p:spPr>
          <a:xfrm rot="-9549">
            <a:off x="762007" y="2900363"/>
            <a:ext cx="34290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62000" y="3048000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电流函数 i(t)：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i(t) = 3t² - t</a:t>
            </a:r>
            <a:endParaRPr lang="en-US" sz="2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755650" y="4004945"/>
            <a:ext cx="342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时间区间 [a, b]：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[1, 2]</a:t>
            </a:r>
            <a:endParaRPr lang="en-US" sz="2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24375" y="3429000"/>
            <a:ext cx="285750" cy="28575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4953000" y="2381250"/>
            <a:ext cx="3619500" cy="2476500"/>
          </a:xfrm>
          <a:prstGeom prst="roundRect">
            <a:avLst>
              <a:gd name="adj" fmla="val 384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43500" y="2571750"/>
            <a:ext cx="228600" cy="228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6"/>
            </p:custDataLst>
          </p:nvPr>
        </p:nvSpPr>
        <p:spPr>
          <a:xfrm>
            <a:off x="5429250" y="2552700"/>
            <a:ext cx="2857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构建定积分模型</a:t>
            </a:r>
            <a:endParaRPr lang="en-US" sz="2000" b="1" i="0" u="none" strike="noStrike" kern="0">
              <a:solidFill>
                <a:srgbClr val="38BDF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>
            <p:custDataLst>
              <p:tags r:id="rId17"/>
            </p:custDataLst>
          </p:nvPr>
        </p:nvCxnSpPr>
        <p:spPr>
          <a:xfrm rot="-10110">
            <a:off x="5143507" y="2900363"/>
            <a:ext cx="32385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5143500" y="3095625"/>
            <a:ext cx="3238500" cy="1143000"/>
          </a:xfrm>
          <a:prstGeom prst="roundRect">
            <a:avLst>
              <a:gd name="adj" fmla="val 8333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5143500" y="3286125"/>
            <a:ext cx="323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= ∫ (3t² - t) dt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ctr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(上限 2，下限 1)</a:t>
            </a:r>
            <a:endParaRPr lang="en-US" sz="1800" b="0" i="0" u="none" strike="noStrike" kern="0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5143500" y="4333875"/>
            <a:ext cx="323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结论：问题转化为求解该定积分</a:t>
            </a:r>
            <a:endParaRPr lang="en-US" sz="1600" b="0" i="0" u="none" strike="noStrike" kern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求解原函数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2381250"/>
            <a:ext cx="8001000" cy="190500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67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266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拆分被积函数</a:t>
            </a:r>
            <a:endParaRPr lang="en-US" sz="1800" b="1" i="0" u="none" strike="noStrike" kern="0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52500" y="3000375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∫ (3t² - t) dt</a:t>
            </a:r>
            <a:endParaRPr lang="en-US" sz="20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75445">
            <a:off x="2762250" y="3329005"/>
            <a:ext cx="1333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0" y="266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095750" y="2667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分项积分运算</a:t>
            </a:r>
            <a:endParaRPr lang="en-US" sz="1800" b="1" i="0" u="none" strike="noStrike" kern="0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714750" y="3000375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∫ 3t² dt - ∫ t dt</a:t>
            </a:r>
            <a:endParaRPr lang="en-US" sz="20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75445">
            <a:off x="5524500" y="3329005"/>
            <a:ext cx="1333500" cy="9525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66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26670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得到原函数</a:t>
            </a:r>
            <a:endParaRPr lang="en-US" sz="1800" b="1" i="0" u="none" strike="noStrike" kern="0">
              <a:solidFill>
                <a:srgbClr val="93C5F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3000375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t³ - (1/2)t² + C</a:t>
            </a:r>
            <a:endParaRPr lang="en-US" sz="20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71500" y="4476750"/>
            <a:ext cx="8001000" cy="762000"/>
          </a:xfrm>
          <a:prstGeom prst="roundRect">
            <a:avLst>
              <a:gd name="adj" fmla="val 12500"/>
            </a:avLst>
          </a:prstGeom>
          <a:solidFill>
            <a:srgbClr val="1E3A8A">
              <a:alpha val="50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6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705350"/>
            <a:ext cx="228600" cy="228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95375" y="4619625"/>
            <a:ext cx="733425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注：其中 C 为积分常数，在后续计算定积分时，由于上下限相减，C 会被消去，因此在计算定积分时通常可以省略。</a:t>
            </a:r>
            <a:endParaRPr lang="en-US" sz="1600" b="0" i="0" u="none" strike="noStrike" kern="0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计算定积分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571500" y="2476500"/>
            <a:ext cx="2476500" cy="2667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678180" y="2714625"/>
            <a:ext cx="2370455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1：代入上下限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>
            <p:custDataLst>
              <p:tags r:id="rId3"/>
            </p:custDataLst>
          </p:nvPr>
        </p:nvCxnSpPr>
        <p:spPr>
          <a:xfrm rot="-16215">
            <a:off x="800111" y="3090863"/>
            <a:ext cx="20193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3238500"/>
            <a:ext cx="2095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将原函数代入上限 t=2 和下限 t=1：</a:t>
            </a:r>
            <a:endParaRPr lang="en-US" sz="1600" b="0" i="0" u="none" strike="noStrike" kern="0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8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= [t³ - ½t²]₁²</a:t>
            </a:r>
            <a:endParaRPr lang="en-US" sz="18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(8 - 2) - (1 - 0.5)</a:t>
            </a:r>
            <a:endParaRPr lang="en-US" sz="18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3333750" y="2476500"/>
            <a:ext cx="2476500" cy="2667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3467735" y="2714625"/>
            <a:ext cx="2190115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2：分别求值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>
            <p:custDataLst>
              <p:tags r:id="rId7"/>
            </p:custDataLst>
          </p:nvPr>
        </p:nvCxnSpPr>
        <p:spPr>
          <a:xfrm rot="-16215">
            <a:off x="3562361" y="3090863"/>
            <a:ext cx="20193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3524250" y="3238500"/>
            <a:ext cx="2095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0" i="0" u="none" strike="noStrike" kern="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分别计算上限和下限的函数值：</a:t>
            </a:r>
            <a:endParaRPr lang="en-US"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sz="18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上限值：8 - 2 = 6</a:t>
            </a:r>
            <a:endParaRPr lang="en-US" sz="18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下限值：1 - 0.5 = 0.5</a:t>
            </a:r>
            <a:endParaRPr lang="en-US" sz="18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6096000" y="2476500"/>
            <a:ext cx="2476500" cy="2667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93C5FD">
                <a:alpha val="3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20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346190" y="2714625"/>
            <a:ext cx="222631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 3：计算差值</a:t>
            </a:r>
            <a:endParaRPr lang="en-US" sz="18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11"/>
            </p:custDataLst>
          </p:nvPr>
        </p:nvCxnSpPr>
        <p:spPr>
          <a:xfrm rot="-16215">
            <a:off x="6324611" y="3090863"/>
            <a:ext cx="2019300" cy="95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6286500" y="3238500"/>
            <a:ext cx="2095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kern="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上限值减去下限值，得到最终电荷量：</a:t>
            </a:r>
            <a:endParaRPr lang="en-US" sz="2000" b="0" i="0" u="none" strike="noStrike" kern="0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= 6 - 0.5</a:t>
            </a:r>
            <a:endParaRPr lang="en-US" sz="20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kern="0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5.5 C</a:t>
            </a:r>
            <a:endParaRPr lang="en-US" sz="2400" b="1" i="0" u="none" strike="noStrike" kern="0">
              <a:solidFill>
                <a:srgbClr val="60A5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3A8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619250"/>
            <a:ext cx="8001000" cy="4762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</a:t>
            </a:r>
            <a:endParaRPr lang="en-US" sz="2700" b="1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714500" y="2476500"/>
            <a:ext cx="5715000" cy="17145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47625" tIns="47625" rIns="47625" bIns="47625"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sz="1050" kern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8575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667000" y="2905125"/>
            <a:ext cx="4381500" cy="2857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t=1s 到 t=2s 流入端点的总电荷量</a:t>
            </a:r>
            <a:endParaRPr lang="en-US" sz="1200" b="0" i="0" u="none" strike="noStrike" kern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667000" y="3190875"/>
            <a:ext cx="438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kern="0">
                <a:solidFill>
                  <a:srgbClr val="38BDF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5.5</a:t>
            </a:r>
            <a:r>
              <a:rPr lang="en-US" sz="1800" b="0" i="0" u="none" strike="noStrike" kern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库仑 (C)</a:t>
            </a:r>
            <a:endParaRPr lang="en-US" sz="1800" b="0" i="0" u="none" strike="noStrike" kern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714500" y="4381500"/>
            <a:ext cx="571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eaLnBrk="1" fontAlgn="auto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0" i="0" u="none" strike="noStrike" kern="0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总结：通过将电流对时间积分，我们成功求解了特定时间段内的总电荷量，展示了微积分在物理问题中的实际应用。</a:t>
            </a:r>
            <a:endParaRPr lang="en-US" sz="1200" b="0" i="0" u="none" strike="noStrike" kern="0">
              <a:solidFill>
                <a:srgbClr val="E2E8F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323850" y="169863"/>
            <a:ext cx="8229600" cy="1100137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1.4 </a:t>
            </a:r>
            <a:r>
              <a:rPr lang="zh-CN" altLang="en-US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电压</a:t>
            </a:r>
            <a:endParaRPr lang="en-US" altLang="zh-CN" b="1" dirty="0">
              <a:solidFill>
                <a:srgbClr val="0000FF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type="body" sz="half" idx="1"/>
          </p:nvPr>
        </p:nvSpPr>
        <p:spPr>
          <a:xfrm>
            <a:off x="539750" y="1557338"/>
            <a:ext cx="7416800" cy="1295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</a:rPr>
              <a:t>电动势</a:t>
            </a:r>
            <a:r>
              <a:rPr lang="en-US" altLang="zh-CN" b="1" dirty="0">
                <a:latin typeface="Times New Roman" panose="02020603050405020304" pitchFamily="18" charset="0"/>
              </a:rPr>
              <a:t> (Electromotive force /emf)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b="1" dirty="0">
                <a:latin typeface="Times New Roman" panose="02020603050405020304" pitchFamily="18" charset="0"/>
              </a:rPr>
              <a:t>电位差（</a:t>
            </a:r>
            <a:r>
              <a:rPr lang="en-US" altLang="zh-CN" b="1" dirty="0">
                <a:latin typeface="Times New Roman" panose="02020603050405020304" pitchFamily="18" charset="0"/>
              </a:rPr>
              <a:t> Potential difference </a:t>
            </a:r>
            <a:r>
              <a:rPr lang="zh-CN" altLang="en-US" b="1" dirty="0">
                <a:latin typeface="Times New Roman" panose="02020603050405020304" pitchFamily="18" charset="0"/>
              </a:rPr>
              <a:t>）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6868" name="Object 4"/>
          <p:cNvGraphicFramePr/>
          <p:nvPr>
            <p:ph sz="quarter" idx="2"/>
          </p:nvPr>
        </p:nvGraphicFramePr>
        <p:xfrm>
          <a:off x="7308850" y="1414463"/>
          <a:ext cx="1584325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" imgW="15240000" imgH="11582400" progId="">
                  <p:embed/>
                </p:oleObj>
              </mc:Choice>
              <mc:Fallback>
                <p:oleObj name="" r:id="rId1" imgW="15240000" imgH="11582400" progId="">
                  <p:embed/>
                  <p:pic>
                    <p:nvPicPr>
                      <p:cNvPr id="0" name="图片 3072" descr="image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08850" y="1414463"/>
                        <a:ext cx="1584325" cy="120332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5"/>
          <p:cNvSpPr txBox="1"/>
          <p:nvPr/>
        </p:nvSpPr>
        <p:spPr>
          <a:xfrm>
            <a:off x="684213" y="2852738"/>
            <a:ext cx="777557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伏特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= 1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焦耳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库伦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= 1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牛顿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米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库伦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395288" y="4437063"/>
            <a:ext cx="8316913" cy="1077913"/>
          </a:xfrm>
          <a:prstGeom prst="rect">
            <a:avLst/>
          </a:prstGeom>
          <a:noFill/>
          <a:ln w="76200" cmpd="tri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电压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(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电位差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)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是指移动单位电荷通过某个元件所需的能量，单位是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伏特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6871" name="Text Box 7"/>
          <p:cNvSpPr txBox="1"/>
          <p:nvPr/>
        </p:nvSpPr>
        <p:spPr>
          <a:xfrm>
            <a:off x="827088" y="3860800"/>
            <a:ext cx="17272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电压</a:t>
            </a:r>
            <a:endParaRPr lang="en-US" altLang="zh-CN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72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969963" y="6029325"/>
            <a:ext cx="6842125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点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）电位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vs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电压（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差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123315" y="1376045"/>
            <a:ext cx="2842260" cy="64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电动势、电位差、电压：什么关系？</a:t>
            </a:r>
            <a:endParaRPr lang="zh-CN" altLang="en-US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32705" y="1416685"/>
            <a:ext cx="3192145" cy="6451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是一个意思，不同的名称而已，都是指的电压。</a:t>
            </a:r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493010"/>
            <a:ext cx="7951470" cy="4121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428433" y="527050"/>
            <a:ext cx="6842125" cy="5842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点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）电位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vs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电压（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差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00125" y="3307080"/>
            <a:ext cx="6236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电势、电位和电压又是什么关系？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" y="3781425"/>
            <a:ext cx="82003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电势就是电位，电势差有时候就叫做电位差，也就是电压。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160655" y="4447540"/>
            <a:ext cx="8846185" cy="1808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solidFill>
                  <a:schemeClr val="tx1"/>
                </a:solidFill>
              </a:rPr>
              <a:t>在电路中设定一个参考点，规定其电位为零，即接地点，有时未必接大地，只是接电源的负极。其余各点对参考点的电压值，就是该点的电位值。</a:t>
            </a:r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  <a:p>
            <a:r>
              <a:rPr lang="zh-CN" altLang="en-US" sz="2000">
                <a:solidFill>
                  <a:schemeClr val="tx1"/>
                </a:solidFill>
              </a:rPr>
              <a:t>电压等于电位差。参考点不同则各点电位值不同，但是各点之间的电压不变。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7" grpId="0" bldLvl="0" animBg="1"/>
      <p:bldP spid="7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528445"/>
            <a:ext cx="4038600" cy="3886200"/>
          </a:xfrm>
        </p:spPr>
        <p:txBody>
          <a:bodyPr/>
          <a:lstStyle/>
          <a:p>
            <a:r>
              <a:rPr lang="zh-CN" altLang="en-US" sz="2800"/>
              <a:t>如右图，a 是参考点，电位 Va = 0 ，Vb = E1 ，Ve = - E2 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电压 U1 = Vb - Vc ，U2 = Vc - Vd 。</a:t>
            </a:r>
            <a:endParaRPr lang="zh-CN" altLang="en-US" sz="280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2"/>
          </p:nvPr>
        </p:nvPicPr>
        <p:blipFill>
          <a:blip r:embed="rId1"/>
          <a:srcRect l="1342" r="7052"/>
          <a:stretch>
            <a:fillRect/>
          </a:stretch>
        </p:blipFill>
        <p:spPr>
          <a:xfrm>
            <a:off x="5038090" y="1637030"/>
            <a:ext cx="3255645" cy="3596640"/>
          </a:xfrm>
          <a:prstGeom prst="rect">
            <a:avLst/>
          </a:prstGeom>
        </p:spPr>
      </p:pic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013143" y="565150"/>
            <a:ext cx="6842125" cy="5835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点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）电位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vs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电压（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差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）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--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续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7" descr="ac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5788" y="4056063"/>
            <a:ext cx="5759450" cy="2649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63" name="Picture 6" descr="dc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0713" y="920750"/>
            <a:ext cx="5689600" cy="2765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4" name="Rectangle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-263525" y="368300"/>
            <a:ext cx="6573838" cy="792163"/>
          </a:xfrm>
        </p:spPr>
        <p:txBody>
          <a:bodyPr vert="horz" wrap="square" lIns="91440" tIns="45720" rIns="91440" bIns="45720" anchor="t"/>
          <a:lstStyle/>
          <a:p>
            <a:pPr algn="ctr" eaLnBrk="1" hangingPunct="1"/>
            <a:r>
              <a:rPr lang="zh-CN" altLang="en-US" sz="3600" b="1" dirty="0">
                <a:solidFill>
                  <a:srgbClr val="FF0000"/>
                </a:solidFill>
              </a:rPr>
              <a:t>直流电压</a:t>
            </a:r>
            <a:r>
              <a:rPr lang="en-US" altLang="zh-CN" sz="3600" b="1" dirty="0"/>
              <a:t> </a:t>
            </a:r>
            <a:r>
              <a:rPr lang="zh-CN" altLang="en-US" sz="3600" b="1" dirty="0"/>
              <a:t>用</a:t>
            </a:r>
            <a:r>
              <a:rPr lang="en-US" altLang="zh-CN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zh-CN" alt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（大写）</a:t>
            </a:r>
            <a:r>
              <a:rPr lang="zh-CN" altLang="en-US" sz="3600" b="1" dirty="0"/>
              <a:t>来表示：</a:t>
            </a:r>
            <a:endParaRPr lang="en-US" altLang="zh-CN" sz="3600" b="1" dirty="0"/>
          </a:p>
        </p:txBody>
      </p:sp>
      <p:sp>
        <p:nvSpPr>
          <p:cNvPr id="38915" name="Text Box 3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3850" y="3549650"/>
            <a:ext cx="7163435" cy="6451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交流电压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（小写）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来表示：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6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7" name="文本框 2"/>
          <p:cNvSpPr txBox="1"/>
          <p:nvPr>
            <p:custDataLst>
              <p:tags r:id="rId7"/>
            </p:custDataLst>
          </p:nvPr>
        </p:nvSpPr>
        <p:spPr>
          <a:xfrm>
            <a:off x="3995738" y="1431925"/>
            <a:ext cx="1466850" cy="4016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（时不变）</a:t>
            </a:r>
            <a:endParaRPr lang="zh-CN" altLang="en-US" sz="2000" b="1" dirty="0"/>
          </a:p>
        </p:txBody>
      </p:sp>
      <p:sp>
        <p:nvSpPr>
          <p:cNvPr id="40968" name="文本框 9"/>
          <p:cNvSpPr txBox="1"/>
          <p:nvPr>
            <p:custDataLst>
              <p:tags r:id="rId8"/>
            </p:custDataLst>
          </p:nvPr>
        </p:nvSpPr>
        <p:spPr>
          <a:xfrm>
            <a:off x="4000500" y="4610100"/>
            <a:ext cx="1217613" cy="4000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（时变）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228715" y="1196975"/>
            <a:ext cx="1426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n>
                  <a:solidFill>
                    <a:sysClr val="windowText" lastClr="000000"/>
                  </a:solidFill>
                </a:ln>
              </a:rPr>
              <a:t>v</a:t>
            </a:r>
            <a:r>
              <a:rPr lang="zh-CN" altLang="en-US">
                <a:ln>
                  <a:solidFill>
                    <a:sysClr val="windowText" lastClr="000000"/>
                  </a:solidFill>
                </a:ln>
              </a:rPr>
              <a:t>：</a:t>
            </a:r>
            <a:r>
              <a:rPr lang="en-US" altLang="zh-CN">
                <a:ln>
                  <a:solidFill>
                    <a:sysClr val="windowText" lastClr="000000"/>
                  </a:solidFill>
                </a:ln>
              </a:rPr>
              <a:t>voltage</a:t>
            </a:r>
            <a:endParaRPr lang="en-US" altLang="zh-CN">
              <a:ln>
                <a:solidFill>
                  <a:sysClr val="windowText" lastClr="000000"/>
                </a:solidFill>
              </a:ln>
            </a:endParaRPr>
          </a:p>
          <a:p>
            <a:r>
              <a:rPr lang="zh-CN" altLang="en-US">
                <a:ln>
                  <a:solidFill>
                    <a:sysClr val="windowText" lastClr="000000"/>
                  </a:solidFill>
                </a:ln>
              </a:rPr>
              <a:t>伏特</a:t>
            </a:r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511175" y="344488"/>
            <a:ext cx="8229600" cy="792162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1.5 </a:t>
            </a:r>
            <a:r>
              <a:rPr lang="zh-CN" altLang="en-US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功率与能量</a:t>
            </a:r>
            <a:endParaRPr lang="en-US" altLang="zh-CN" b="1" dirty="0">
              <a:solidFill>
                <a:srgbClr val="0000FF"/>
              </a:solidFill>
              <a:latin typeface="Franklin Gothic Medium" panose="020B0603020102020204" pitchFamily="34" charset="0"/>
            </a:endParaRPr>
          </a:p>
        </p:txBody>
      </p:sp>
      <p:graphicFrame>
        <p:nvGraphicFramePr>
          <p:cNvPr id="41987" name="Object 3"/>
          <p:cNvGraphicFramePr/>
          <p:nvPr>
            <p:ph sz="half" idx="1"/>
          </p:nvPr>
        </p:nvGraphicFramePr>
        <p:xfrm>
          <a:off x="843598" y="3322955"/>
          <a:ext cx="208915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" r:id="rId1" imgW="11887200" imgH="9448800" progId="">
                  <p:embed/>
                </p:oleObj>
              </mc:Choice>
              <mc:Fallback>
                <p:oleObj name="" r:id="rId1" imgW="11887200" imgH="9448800" progId="">
                  <p:embed/>
                  <p:pic>
                    <p:nvPicPr>
                      <p:cNvPr id="0" name="图片 4096" descr="image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3598" y="3322955"/>
                        <a:ext cx="2089150" cy="1306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Text Box 4"/>
          <p:cNvSpPr txBox="1"/>
          <p:nvPr/>
        </p:nvSpPr>
        <p:spPr>
          <a:xfrm>
            <a:off x="287338" y="1923098"/>
            <a:ext cx="8569325" cy="1077912"/>
          </a:xfrm>
          <a:prstGeom prst="rect">
            <a:avLst/>
          </a:prstGeom>
          <a:noFill/>
          <a:ln w="76200" cap="flat" cmpd="tri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 功率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是消耗或者吸收能量的时间变化率，单位是</a:t>
            </a: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瓦特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）。</a:t>
            </a:r>
            <a:endParaRPr lang="en-US" altLang="zh-CN" b="1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41989" name="Object 5"/>
          <p:cNvGraphicFramePr/>
          <p:nvPr>
            <p:ph sz="half" idx="2"/>
          </p:nvPr>
        </p:nvGraphicFramePr>
        <p:xfrm>
          <a:off x="5292090" y="4629468"/>
          <a:ext cx="172878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r:id="rId3" imgW="9753600" imgH="4572000" progId="">
                  <p:embed/>
                </p:oleObj>
              </mc:Choice>
              <mc:Fallback>
                <p:oleObj name="" r:id="rId3" imgW="9753600" imgH="4572000" progId="">
                  <p:embed/>
                  <p:pic>
                    <p:nvPicPr>
                      <p:cNvPr id="0" name="图片 4097" descr="image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92090" y="4629468"/>
                        <a:ext cx="1728788" cy="80803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6"/>
          <p:cNvSpPr txBox="1"/>
          <p:nvPr/>
        </p:nvSpPr>
        <p:spPr>
          <a:xfrm>
            <a:off x="3780155" y="4940618"/>
            <a:ext cx="10795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dirty="0">
                <a:latin typeface="Arial Black" panose="020B0A04020102020204" pitchFamily="34" charset="0"/>
                <a:cs typeface="Arial" panose="020B0604020202020204" pitchFamily="34" charset="0"/>
              </a:rPr>
              <a:t>或</a:t>
            </a:r>
            <a:endParaRPr lang="en-US" altLang="zh-CN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sp>
        <p:nvSpPr>
          <p:cNvPr id="41991" name="Text Box 7"/>
          <p:cNvSpPr txBox="1"/>
          <p:nvPr/>
        </p:nvSpPr>
        <p:spPr>
          <a:xfrm>
            <a:off x="574675" y="5764213"/>
            <a:ext cx="874871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71500" lvl="0" indent="-571500" eaLnBrk="1" hangingPunct="1">
              <a:spcBef>
                <a:spcPct val="50000"/>
              </a:spcBef>
              <a:buSzTx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功率</a:t>
            </a:r>
            <a:r>
              <a:rPr lang="en-US" altLang="zh-CN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是一个时变量，称为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瞬时功率 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p(t)</a:t>
            </a:r>
            <a:r>
              <a:rPr lang="en-US" altLang="zh-CN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。</a:t>
            </a:r>
            <a:endParaRPr lang="zh-CN" altLang="en-US" b="1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sp>
        <p:nvSpPr>
          <p:cNvPr id="41992" name="Text Box 9"/>
          <p:cNvSpPr txBox="1"/>
          <p:nvPr/>
        </p:nvSpPr>
        <p:spPr>
          <a:xfrm>
            <a:off x="574675" y="1237933"/>
            <a:ext cx="18716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功率</a:t>
            </a:r>
            <a:endParaRPr lang="en-US" altLang="zh-CN" b="1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9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810" y="3215005"/>
            <a:ext cx="4418965" cy="10845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/>
          <p:cNvSpPr txBox="1"/>
          <p:nvPr/>
        </p:nvSpPr>
        <p:spPr>
          <a:xfrm>
            <a:off x="546100" y="1370013"/>
            <a:ext cx="8147050" cy="2032000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Clr>
                <a:srgbClr val="002060"/>
              </a:buClr>
              <a:buSzTx/>
            </a:pPr>
            <a:r>
              <a:rPr lang="zh-CN" alt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当电流从元件的</a:t>
            </a:r>
            <a:r>
              <a:rPr lang="zh-CN" altLang="en-US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正极流入，负极流出</a:t>
            </a:r>
            <a:r>
              <a:rPr lang="zh-CN" alt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时，</a:t>
            </a:r>
            <a:r>
              <a:rPr lang="zh-CN" altLang="en-US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满足</a:t>
            </a:r>
            <a:r>
              <a:rPr lang="zh-CN" alt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关联参考方向，则             </a:t>
            </a:r>
            <a:r>
              <a:rPr lang="zh-CN" altLang="en-US" sz="2800" dirty="0">
                <a:latin typeface="Arial Black" panose="020B0A04020102020204" pitchFamily="34" charset="0"/>
                <a:cs typeface="Arial" panose="020B0604020202020204" pitchFamily="34" charset="0"/>
              </a:rPr>
              <a:t>。</a:t>
            </a:r>
            <a:endParaRPr lang="en-US" altLang="zh-CN" sz="28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457200" lvl="0" indent="-457200" eaLnBrk="1" hangingPunct="1">
              <a:spcBef>
                <a:spcPct val="50000"/>
              </a:spcBef>
              <a:buClr>
                <a:srgbClr val="002060"/>
              </a:buClr>
              <a:buSzTx/>
            </a:pPr>
            <a:r>
              <a:rPr lang="zh-CN" alt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当电流从元件的负极流入，正极流出时，不满足关联参考方向，则              </a:t>
            </a:r>
            <a:r>
              <a:rPr lang="zh-CN" altLang="en-US" sz="2800" dirty="0">
                <a:latin typeface="Arial Black" panose="020B0A04020102020204" pitchFamily="34" charset="0"/>
                <a:cs typeface="Arial" panose="020B0604020202020204" pitchFamily="34" charset="0"/>
              </a:rPr>
              <a:t>。</a:t>
            </a:r>
            <a:endParaRPr lang="en-US" altLang="zh-CN" sz="2000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type="body" sz="half" idx="1"/>
          </p:nvPr>
        </p:nvSpPr>
        <p:spPr>
          <a:xfrm>
            <a:off x="911225" y="5059363"/>
            <a:ext cx="7321550" cy="11064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如果功率值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，该元件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吸收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消耗</a:t>
            </a:r>
            <a:r>
              <a:rPr lang="zh-CN" altLang="en-US" sz="2800" b="1" dirty="0">
                <a:latin typeface="Times New Roman" panose="02020603050405020304" pitchFamily="18" charset="0"/>
              </a:rPr>
              <a:t>功率。</a:t>
            </a:r>
            <a:r>
              <a:rPr lang="en-US" altLang="zh-CN" sz="2800" b="1" dirty="0">
                <a:latin typeface="Times New Roman" panose="02020603050405020304" pitchFamily="18" charset="0"/>
              </a:rPr>
              <a:t>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</a:rPr>
              <a:t>如果功率值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&lt;0</a:t>
            </a:r>
            <a:r>
              <a:rPr lang="zh-CN" altLang="en-US" sz="2800" b="1" dirty="0">
                <a:latin typeface="Times New Roman" panose="02020603050405020304" pitchFamily="18" charset="0"/>
              </a:rPr>
              <a:t>，元件对外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提供</a:t>
            </a:r>
            <a:r>
              <a:rPr lang="zh-CN" altLang="en-US" sz="2800" b="1" dirty="0">
                <a:latin typeface="Times New Roman" panose="02020603050405020304" pitchFamily="18" charset="0"/>
              </a:rPr>
              <a:t>或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释放</a:t>
            </a:r>
            <a:r>
              <a:rPr lang="zh-CN" altLang="en-US" sz="2800" b="1" dirty="0">
                <a:latin typeface="Times New Roman" panose="02020603050405020304" pitchFamily="18" charset="0"/>
              </a:rPr>
              <a:t>功率。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4036" name="Object 3"/>
          <p:cNvGraphicFramePr/>
          <p:nvPr>
            <p:ph sz="quarter" idx="2"/>
          </p:nvPr>
        </p:nvGraphicFramePr>
        <p:xfrm>
          <a:off x="3983355" y="1728153"/>
          <a:ext cx="151288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r:id="rId1" imgW="12192000" imgH="4572000" progId="">
                  <p:embed/>
                </p:oleObj>
              </mc:Choice>
              <mc:Fallback>
                <p:oleObj name="" r:id="rId1" imgW="12192000" imgH="4572000" progId="">
                  <p:embed/>
                  <p:pic>
                    <p:nvPicPr>
                      <p:cNvPr id="0" name="图片 5120" descr="image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83355" y="1728153"/>
                        <a:ext cx="1512888" cy="566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/>
          <p:cNvGraphicFramePr/>
          <p:nvPr>
            <p:ph sz="quarter" idx="3"/>
          </p:nvPr>
        </p:nvGraphicFramePr>
        <p:xfrm>
          <a:off x="4379913" y="2819400"/>
          <a:ext cx="165735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" r:id="rId3" imgW="11887200" imgH="4572000" progId="">
                  <p:embed/>
                </p:oleObj>
              </mc:Choice>
              <mc:Fallback>
                <p:oleObj name="" r:id="rId3" imgW="11887200" imgH="4572000" progId="">
                  <p:embed/>
                  <p:pic>
                    <p:nvPicPr>
                      <p:cNvPr id="0" name="图片 5121" descr="image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79913" y="2819400"/>
                        <a:ext cx="1657350" cy="636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6"/>
          <p:cNvSpPr txBox="1"/>
          <p:nvPr/>
        </p:nvSpPr>
        <p:spPr>
          <a:xfrm>
            <a:off x="90488" y="692150"/>
            <a:ext cx="86042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ClrTx/>
              <a:buSzTx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关联参考方向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无源符号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：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aphicFrame>
        <p:nvGraphicFramePr>
          <p:cNvPr id="44039" name="Object 3"/>
          <p:cNvGraphicFramePr/>
          <p:nvPr/>
        </p:nvGraphicFramePr>
        <p:xfrm>
          <a:off x="1908175" y="3722688"/>
          <a:ext cx="15430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" r:id="rId5" imgW="11887200" imgH="9448800" progId="">
                  <p:embed/>
                </p:oleObj>
              </mc:Choice>
              <mc:Fallback>
                <p:oleObj name="" r:id="rId5" imgW="11887200" imgH="9448800" progId="">
                  <p:embed/>
                  <p:pic>
                    <p:nvPicPr>
                      <p:cNvPr id="0" name="图片 5122" descr="image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8175" y="3722688"/>
                        <a:ext cx="1543050" cy="9652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0" name="Object 5"/>
          <p:cNvGraphicFramePr/>
          <p:nvPr/>
        </p:nvGraphicFramePr>
        <p:xfrm>
          <a:off x="5003800" y="3897313"/>
          <a:ext cx="177641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" r:id="rId7" imgW="14020800" imgH="4876800" progId="">
                  <p:embed/>
                </p:oleObj>
              </mc:Choice>
              <mc:Fallback>
                <p:oleObj name="" r:id="rId7" imgW="14020800" imgH="4876800" progId="">
                  <p:embed/>
                  <p:pic>
                    <p:nvPicPr>
                      <p:cNvPr id="0" name="图片 5123" descr="image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3800" y="3897313"/>
                        <a:ext cx="1776413" cy="61753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42" name="文本框 1"/>
          <p:cNvSpPr txBox="1"/>
          <p:nvPr/>
        </p:nvSpPr>
        <p:spPr>
          <a:xfrm>
            <a:off x="6037263" y="769938"/>
            <a:ext cx="203200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无规则，不方圆！</a:t>
            </a:r>
            <a:endParaRPr lang="zh-CN" altLang="en-US" sz="1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3"/>
          <p:cNvGrpSpPr/>
          <p:nvPr/>
        </p:nvGrpSpPr>
        <p:grpSpPr>
          <a:xfrm>
            <a:off x="2124075" y="1773238"/>
            <a:ext cx="4103688" cy="4697412"/>
            <a:chOff x="1259" y="766"/>
            <a:chExt cx="3196" cy="2813"/>
          </a:xfrm>
        </p:grpSpPr>
        <p:sp>
          <p:nvSpPr>
            <p:cNvPr id="46086" name="Freeform 4"/>
            <p:cNvSpPr>
              <a:spLocks noEditPoints="1"/>
            </p:cNvSpPr>
            <p:nvPr/>
          </p:nvSpPr>
          <p:spPr>
            <a:xfrm>
              <a:off x="1488" y="2980"/>
              <a:ext cx="150" cy="142"/>
            </a:xfrm>
            <a:custGeom>
              <a:avLst/>
              <a:gdLst>
                <a:gd name="txL" fmla="*/ 0 w 150"/>
                <a:gd name="txT" fmla="*/ 0 h 142"/>
                <a:gd name="txR" fmla="*/ 150 w 150"/>
                <a:gd name="txB" fmla="*/ 142 h 142"/>
              </a:gdLst>
              <a:ahLst/>
              <a:cxnLst>
                <a:cxn ang="0">
                  <a:pos x="126" y="24"/>
                </a:cxn>
                <a:cxn ang="0">
                  <a:pos x="118" y="48"/>
                </a:cxn>
                <a:cxn ang="0">
                  <a:pos x="110" y="71"/>
                </a:cxn>
                <a:cxn ang="0">
                  <a:pos x="87" y="87"/>
                </a:cxn>
                <a:cxn ang="0">
                  <a:pos x="63" y="95"/>
                </a:cxn>
                <a:cxn ang="0">
                  <a:pos x="55" y="95"/>
                </a:cxn>
                <a:cxn ang="0">
                  <a:pos x="55" y="87"/>
                </a:cxn>
                <a:cxn ang="0">
                  <a:pos x="55" y="79"/>
                </a:cxn>
                <a:cxn ang="0">
                  <a:pos x="63" y="63"/>
                </a:cxn>
                <a:cxn ang="0">
                  <a:pos x="71" y="32"/>
                </a:cxn>
                <a:cxn ang="0">
                  <a:pos x="87" y="16"/>
                </a:cxn>
                <a:cxn ang="0">
                  <a:pos x="110" y="8"/>
                </a:cxn>
                <a:cxn ang="0">
                  <a:pos x="126" y="16"/>
                </a:cxn>
                <a:cxn ang="0">
                  <a:pos x="126" y="24"/>
                </a:cxn>
                <a:cxn ang="0">
                  <a:pos x="126" y="24"/>
                </a:cxn>
                <a:cxn ang="0">
                  <a:pos x="31" y="8"/>
                </a:cxn>
                <a:cxn ang="0">
                  <a:pos x="39" y="8"/>
                </a:cxn>
                <a:cxn ang="0">
                  <a:pos x="47" y="8"/>
                </a:cxn>
                <a:cxn ang="0">
                  <a:pos x="55" y="16"/>
                </a:cxn>
                <a:cxn ang="0">
                  <a:pos x="55" y="24"/>
                </a:cxn>
                <a:cxn ang="0">
                  <a:pos x="47" y="32"/>
                </a:cxn>
                <a:cxn ang="0">
                  <a:pos x="39" y="63"/>
                </a:cxn>
                <a:cxn ang="0">
                  <a:pos x="23" y="103"/>
                </a:cxn>
                <a:cxn ang="0">
                  <a:pos x="16" y="126"/>
                </a:cxn>
                <a:cxn ang="0">
                  <a:pos x="8" y="134"/>
                </a:cxn>
                <a:cxn ang="0">
                  <a:pos x="0" y="134"/>
                </a:cxn>
                <a:cxn ang="0">
                  <a:pos x="0" y="142"/>
                </a:cxn>
                <a:cxn ang="0">
                  <a:pos x="55" y="142"/>
                </a:cxn>
                <a:cxn ang="0">
                  <a:pos x="55" y="134"/>
                </a:cxn>
                <a:cxn ang="0">
                  <a:pos x="47" y="134"/>
                </a:cxn>
                <a:cxn ang="0">
                  <a:pos x="39" y="126"/>
                </a:cxn>
                <a:cxn ang="0">
                  <a:pos x="39" y="126"/>
                </a:cxn>
                <a:cxn ang="0">
                  <a:pos x="47" y="111"/>
                </a:cxn>
                <a:cxn ang="0">
                  <a:pos x="47" y="95"/>
                </a:cxn>
                <a:cxn ang="0">
                  <a:pos x="71" y="95"/>
                </a:cxn>
                <a:cxn ang="0">
                  <a:pos x="102" y="87"/>
                </a:cxn>
                <a:cxn ang="0">
                  <a:pos x="126" y="71"/>
                </a:cxn>
                <a:cxn ang="0">
                  <a:pos x="142" y="56"/>
                </a:cxn>
                <a:cxn ang="0">
                  <a:pos x="150" y="24"/>
                </a:cxn>
                <a:cxn ang="0">
                  <a:pos x="142" y="8"/>
                </a:cxn>
                <a:cxn ang="0">
                  <a:pos x="118" y="0"/>
                </a:cxn>
                <a:cxn ang="0">
                  <a:pos x="87" y="8"/>
                </a:cxn>
                <a:cxn ang="0">
                  <a:pos x="71" y="24"/>
                </a:cxn>
                <a:cxn ang="0">
                  <a:pos x="71" y="24"/>
                </a:cxn>
                <a:cxn ang="0">
                  <a:pos x="79" y="0"/>
                </a:cxn>
                <a:cxn ang="0">
                  <a:pos x="79" y="0"/>
                </a:cxn>
                <a:cxn ang="0">
                  <a:pos x="31" y="0"/>
                </a:cxn>
                <a:cxn ang="0">
                  <a:pos x="31" y="8"/>
                </a:cxn>
              </a:cxnLst>
              <a:rect l="txL" t="txT" r="txR" b="txB"/>
              <a:pathLst>
                <a:path w="150" h="142">
                  <a:moveTo>
                    <a:pt x="126" y="24"/>
                  </a:moveTo>
                  <a:lnTo>
                    <a:pt x="118" y="48"/>
                  </a:lnTo>
                  <a:lnTo>
                    <a:pt x="110" y="71"/>
                  </a:lnTo>
                  <a:lnTo>
                    <a:pt x="87" y="87"/>
                  </a:lnTo>
                  <a:lnTo>
                    <a:pt x="63" y="95"/>
                  </a:lnTo>
                  <a:lnTo>
                    <a:pt x="55" y="95"/>
                  </a:lnTo>
                  <a:lnTo>
                    <a:pt x="55" y="87"/>
                  </a:lnTo>
                  <a:lnTo>
                    <a:pt x="55" y="79"/>
                  </a:lnTo>
                  <a:lnTo>
                    <a:pt x="63" y="63"/>
                  </a:lnTo>
                  <a:lnTo>
                    <a:pt x="71" y="32"/>
                  </a:lnTo>
                  <a:lnTo>
                    <a:pt x="87" y="16"/>
                  </a:lnTo>
                  <a:lnTo>
                    <a:pt x="110" y="8"/>
                  </a:lnTo>
                  <a:lnTo>
                    <a:pt x="126" y="16"/>
                  </a:lnTo>
                  <a:lnTo>
                    <a:pt x="126" y="24"/>
                  </a:lnTo>
                  <a:close/>
                  <a:moveTo>
                    <a:pt x="31" y="8"/>
                  </a:moveTo>
                  <a:lnTo>
                    <a:pt x="39" y="8"/>
                  </a:lnTo>
                  <a:lnTo>
                    <a:pt x="47" y="8"/>
                  </a:lnTo>
                  <a:lnTo>
                    <a:pt x="55" y="16"/>
                  </a:lnTo>
                  <a:lnTo>
                    <a:pt x="55" y="24"/>
                  </a:lnTo>
                  <a:lnTo>
                    <a:pt x="47" y="32"/>
                  </a:lnTo>
                  <a:lnTo>
                    <a:pt x="39" y="63"/>
                  </a:lnTo>
                  <a:lnTo>
                    <a:pt x="23" y="103"/>
                  </a:lnTo>
                  <a:lnTo>
                    <a:pt x="16" y="126"/>
                  </a:lnTo>
                  <a:lnTo>
                    <a:pt x="8" y="134"/>
                  </a:lnTo>
                  <a:lnTo>
                    <a:pt x="0" y="134"/>
                  </a:lnTo>
                  <a:lnTo>
                    <a:pt x="0" y="142"/>
                  </a:lnTo>
                  <a:lnTo>
                    <a:pt x="55" y="142"/>
                  </a:lnTo>
                  <a:lnTo>
                    <a:pt x="55" y="134"/>
                  </a:lnTo>
                  <a:lnTo>
                    <a:pt x="47" y="134"/>
                  </a:lnTo>
                  <a:lnTo>
                    <a:pt x="39" y="126"/>
                  </a:lnTo>
                  <a:lnTo>
                    <a:pt x="47" y="111"/>
                  </a:lnTo>
                  <a:lnTo>
                    <a:pt x="47" y="95"/>
                  </a:lnTo>
                  <a:lnTo>
                    <a:pt x="71" y="95"/>
                  </a:lnTo>
                  <a:lnTo>
                    <a:pt x="102" y="87"/>
                  </a:lnTo>
                  <a:lnTo>
                    <a:pt x="126" y="71"/>
                  </a:lnTo>
                  <a:lnTo>
                    <a:pt x="142" y="56"/>
                  </a:lnTo>
                  <a:lnTo>
                    <a:pt x="150" y="24"/>
                  </a:lnTo>
                  <a:lnTo>
                    <a:pt x="142" y="8"/>
                  </a:lnTo>
                  <a:lnTo>
                    <a:pt x="118" y="0"/>
                  </a:lnTo>
                  <a:lnTo>
                    <a:pt x="87" y="8"/>
                  </a:lnTo>
                  <a:lnTo>
                    <a:pt x="71" y="24"/>
                  </a:lnTo>
                  <a:lnTo>
                    <a:pt x="79" y="0"/>
                  </a:lnTo>
                  <a:lnTo>
                    <a:pt x="31" y="0"/>
                  </a:lnTo>
                  <a:lnTo>
                    <a:pt x="31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7" name="Freeform 5"/>
            <p:cNvSpPr>
              <a:spLocks noEditPoints="1"/>
            </p:cNvSpPr>
            <p:nvPr/>
          </p:nvSpPr>
          <p:spPr>
            <a:xfrm>
              <a:off x="1732" y="2988"/>
              <a:ext cx="142" cy="63"/>
            </a:xfrm>
            <a:custGeom>
              <a:avLst/>
              <a:gdLst>
                <a:gd name="txL" fmla="*/ 0 w 142"/>
                <a:gd name="txT" fmla="*/ 0 h 63"/>
                <a:gd name="txR" fmla="*/ 142 w 142"/>
                <a:gd name="txB" fmla="*/ 63 h 63"/>
              </a:gdLst>
              <a:ahLst/>
              <a:cxnLst>
                <a:cxn ang="0">
                  <a:pos x="142" y="0"/>
                </a:cxn>
                <a:cxn ang="0">
                  <a:pos x="0" y="0"/>
                </a:cxn>
                <a:cxn ang="0">
                  <a:pos x="0" y="16"/>
                </a:cxn>
                <a:cxn ang="0">
                  <a:pos x="142" y="16"/>
                </a:cxn>
                <a:cxn ang="0">
                  <a:pos x="142" y="0"/>
                </a:cxn>
                <a:cxn ang="0">
                  <a:pos x="142" y="48"/>
                </a:cxn>
                <a:cxn ang="0">
                  <a:pos x="0" y="48"/>
                </a:cxn>
                <a:cxn ang="0">
                  <a:pos x="0" y="63"/>
                </a:cxn>
                <a:cxn ang="0">
                  <a:pos x="142" y="63"/>
                </a:cxn>
                <a:cxn ang="0">
                  <a:pos x="142" y="48"/>
                </a:cxn>
              </a:cxnLst>
              <a:rect l="txL" t="txT" r="txR" b="txB"/>
              <a:pathLst>
                <a:path w="142" h="63">
                  <a:moveTo>
                    <a:pt x="142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42" y="16"/>
                  </a:lnTo>
                  <a:lnTo>
                    <a:pt x="142" y="0"/>
                  </a:lnTo>
                  <a:close/>
                  <a:moveTo>
                    <a:pt x="142" y="48"/>
                  </a:moveTo>
                  <a:lnTo>
                    <a:pt x="0" y="48"/>
                  </a:lnTo>
                  <a:lnTo>
                    <a:pt x="0" y="63"/>
                  </a:lnTo>
                  <a:lnTo>
                    <a:pt x="142" y="63"/>
                  </a:lnTo>
                  <a:lnTo>
                    <a:pt x="14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8" name="Freeform 6"/>
            <p:cNvSpPr/>
            <p:nvPr/>
          </p:nvSpPr>
          <p:spPr>
            <a:xfrm>
              <a:off x="1961" y="2965"/>
              <a:ext cx="150" cy="110"/>
            </a:xfrm>
            <a:custGeom>
              <a:avLst/>
              <a:gdLst>
                <a:gd name="txL" fmla="*/ 0 w 150"/>
                <a:gd name="txT" fmla="*/ 0 h 110"/>
                <a:gd name="txR" fmla="*/ 150 w 150"/>
                <a:gd name="txB" fmla="*/ 110 h 110"/>
              </a:gdLst>
              <a:ahLst/>
              <a:cxnLst>
                <a:cxn ang="0">
                  <a:pos x="63" y="47"/>
                </a:cxn>
                <a:cxn ang="0">
                  <a:pos x="0" y="47"/>
                </a:cxn>
                <a:cxn ang="0">
                  <a:pos x="0" y="63"/>
                </a:cxn>
                <a:cxn ang="0">
                  <a:pos x="63" y="63"/>
                </a:cxn>
                <a:cxn ang="0">
                  <a:pos x="63" y="110"/>
                </a:cxn>
                <a:cxn ang="0">
                  <a:pos x="87" y="110"/>
                </a:cxn>
                <a:cxn ang="0">
                  <a:pos x="87" y="63"/>
                </a:cxn>
                <a:cxn ang="0">
                  <a:pos x="150" y="63"/>
                </a:cxn>
                <a:cxn ang="0">
                  <a:pos x="150" y="47"/>
                </a:cxn>
                <a:cxn ang="0">
                  <a:pos x="87" y="47"/>
                </a:cxn>
                <a:cxn ang="0">
                  <a:pos x="87" y="0"/>
                </a:cxn>
                <a:cxn ang="0">
                  <a:pos x="63" y="0"/>
                </a:cxn>
                <a:cxn ang="0">
                  <a:pos x="63" y="47"/>
                </a:cxn>
              </a:cxnLst>
              <a:rect l="txL" t="txT" r="txR" b="txB"/>
              <a:pathLst>
                <a:path w="150" h="110">
                  <a:moveTo>
                    <a:pt x="63" y="47"/>
                  </a:moveTo>
                  <a:lnTo>
                    <a:pt x="0" y="47"/>
                  </a:lnTo>
                  <a:lnTo>
                    <a:pt x="0" y="63"/>
                  </a:lnTo>
                  <a:lnTo>
                    <a:pt x="63" y="63"/>
                  </a:lnTo>
                  <a:lnTo>
                    <a:pt x="63" y="110"/>
                  </a:lnTo>
                  <a:lnTo>
                    <a:pt x="87" y="110"/>
                  </a:lnTo>
                  <a:lnTo>
                    <a:pt x="87" y="63"/>
                  </a:lnTo>
                  <a:lnTo>
                    <a:pt x="150" y="63"/>
                  </a:lnTo>
                  <a:lnTo>
                    <a:pt x="150" y="47"/>
                  </a:lnTo>
                  <a:lnTo>
                    <a:pt x="87" y="47"/>
                  </a:lnTo>
                  <a:lnTo>
                    <a:pt x="87" y="0"/>
                  </a:lnTo>
                  <a:lnTo>
                    <a:pt x="63" y="0"/>
                  </a:lnTo>
                  <a:lnTo>
                    <a:pt x="63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89" name="Freeform 7"/>
            <p:cNvSpPr/>
            <p:nvPr/>
          </p:nvSpPr>
          <p:spPr>
            <a:xfrm>
              <a:off x="2119" y="2988"/>
              <a:ext cx="111" cy="95"/>
            </a:xfrm>
            <a:custGeom>
              <a:avLst/>
              <a:gdLst>
                <a:gd name="txL" fmla="*/ 0 w 111"/>
                <a:gd name="txT" fmla="*/ 0 h 95"/>
                <a:gd name="txR" fmla="*/ 111 w 111"/>
                <a:gd name="txB" fmla="*/ 95 h 95"/>
              </a:gdLst>
              <a:ahLst/>
              <a:cxnLst>
                <a:cxn ang="0">
                  <a:pos x="0" y="8"/>
                </a:cxn>
                <a:cxn ang="0">
                  <a:pos x="16" y="8"/>
                </a:cxn>
                <a:cxn ang="0">
                  <a:pos x="24" y="8"/>
                </a:cxn>
                <a:cxn ang="0">
                  <a:pos x="24" y="24"/>
                </a:cxn>
                <a:cxn ang="0">
                  <a:pos x="32" y="55"/>
                </a:cxn>
                <a:cxn ang="0">
                  <a:pos x="32" y="87"/>
                </a:cxn>
                <a:cxn ang="0">
                  <a:pos x="40" y="95"/>
                </a:cxn>
                <a:cxn ang="0">
                  <a:pos x="40" y="95"/>
                </a:cxn>
                <a:cxn ang="0">
                  <a:pos x="47" y="87"/>
                </a:cxn>
                <a:cxn ang="0">
                  <a:pos x="63" y="71"/>
                </a:cxn>
                <a:cxn ang="0">
                  <a:pos x="71" y="63"/>
                </a:cxn>
                <a:cxn ang="0">
                  <a:pos x="87" y="48"/>
                </a:cxn>
                <a:cxn ang="0">
                  <a:pos x="103" y="24"/>
                </a:cxn>
                <a:cxn ang="0">
                  <a:pos x="111" y="8"/>
                </a:cxn>
                <a:cxn ang="0">
                  <a:pos x="103" y="0"/>
                </a:cxn>
                <a:cxn ang="0">
                  <a:pos x="95" y="0"/>
                </a:cxn>
                <a:cxn ang="0">
                  <a:pos x="95" y="0"/>
                </a:cxn>
                <a:cxn ang="0">
                  <a:pos x="87" y="8"/>
                </a:cxn>
                <a:cxn ang="0">
                  <a:pos x="95" y="16"/>
                </a:cxn>
                <a:cxn ang="0">
                  <a:pos x="103" y="24"/>
                </a:cxn>
                <a:cxn ang="0">
                  <a:pos x="103" y="32"/>
                </a:cxn>
                <a:cxn ang="0">
                  <a:pos x="87" y="48"/>
                </a:cxn>
                <a:cxn ang="0">
                  <a:pos x="63" y="63"/>
                </a:cxn>
                <a:cxn ang="0">
                  <a:pos x="55" y="71"/>
                </a:cxn>
                <a:cxn ang="0">
                  <a:pos x="47" y="40"/>
                </a:cxn>
                <a:cxn ang="0">
                  <a:pos x="40" y="0"/>
                </a:cxn>
                <a:cxn ang="0">
                  <a:pos x="40" y="0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"/>
                </a:cxn>
              </a:cxnLst>
              <a:rect l="txL" t="txT" r="txR" b="txB"/>
              <a:pathLst>
                <a:path w="111" h="95">
                  <a:moveTo>
                    <a:pt x="0" y="8"/>
                  </a:moveTo>
                  <a:lnTo>
                    <a:pt x="16" y="8"/>
                  </a:lnTo>
                  <a:lnTo>
                    <a:pt x="24" y="8"/>
                  </a:lnTo>
                  <a:lnTo>
                    <a:pt x="24" y="24"/>
                  </a:lnTo>
                  <a:lnTo>
                    <a:pt x="32" y="55"/>
                  </a:lnTo>
                  <a:lnTo>
                    <a:pt x="32" y="87"/>
                  </a:lnTo>
                  <a:lnTo>
                    <a:pt x="40" y="95"/>
                  </a:lnTo>
                  <a:lnTo>
                    <a:pt x="47" y="87"/>
                  </a:lnTo>
                  <a:lnTo>
                    <a:pt x="63" y="71"/>
                  </a:lnTo>
                  <a:lnTo>
                    <a:pt x="71" y="63"/>
                  </a:lnTo>
                  <a:lnTo>
                    <a:pt x="87" y="48"/>
                  </a:lnTo>
                  <a:lnTo>
                    <a:pt x="103" y="24"/>
                  </a:lnTo>
                  <a:lnTo>
                    <a:pt x="111" y="8"/>
                  </a:lnTo>
                  <a:lnTo>
                    <a:pt x="103" y="0"/>
                  </a:lnTo>
                  <a:lnTo>
                    <a:pt x="95" y="0"/>
                  </a:lnTo>
                  <a:lnTo>
                    <a:pt x="87" y="8"/>
                  </a:lnTo>
                  <a:lnTo>
                    <a:pt x="95" y="16"/>
                  </a:lnTo>
                  <a:lnTo>
                    <a:pt x="103" y="24"/>
                  </a:lnTo>
                  <a:lnTo>
                    <a:pt x="103" y="32"/>
                  </a:lnTo>
                  <a:lnTo>
                    <a:pt x="87" y="48"/>
                  </a:lnTo>
                  <a:lnTo>
                    <a:pt x="63" y="63"/>
                  </a:lnTo>
                  <a:lnTo>
                    <a:pt x="55" y="71"/>
                  </a:lnTo>
                  <a:lnTo>
                    <a:pt x="47" y="40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0" name="Freeform 8"/>
            <p:cNvSpPr>
              <a:spLocks noEditPoints="1"/>
            </p:cNvSpPr>
            <p:nvPr/>
          </p:nvSpPr>
          <p:spPr>
            <a:xfrm>
              <a:off x="2253" y="2933"/>
              <a:ext cx="63" cy="142"/>
            </a:xfrm>
            <a:custGeom>
              <a:avLst/>
              <a:gdLst>
                <a:gd name="txL" fmla="*/ 0 w 63"/>
                <a:gd name="txT" fmla="*/ 0 h 142"/>
                <a:gd name="txR" fmla="*/ 63 w 63"/>
                <a:gd name="txB" fmla="*/ 142 h 142"/>
              </a:gdLst>
              <a:ahLst/>
              <a:cxnLst>
                <a:cxn ang="0">
                  <a:pos x="48" y="118"/>
                </a:cxn>
                <a:cxn ang="0">
                  <a:pos x="40" y="126"/>
                </a:cxn>
                <a:cxn ang="0">
                  <a:pos x="24" y="134"/>
                </a:cxn>
                <a:cxn ang="0">
                  <a:pos x="24" y="134"/>
                </a:cxn>
                <a:cxn ang="0">
                  <a:pos x="24" y="126"/>
                </a:cxn>
                <a:cxn ang="0">
                  <a:pos x="24" y="118"/>
                </a:cxn>
                <a:cxn ang="0">
                  <a:pos x="55" y="47"/>
                </a:cxn>
                <a:cxn ang="0">
                  <a:pos x="48" y="47"/>
                </a:cxn>
                <a:cxn ang="0">
                  <a:pos x="32" y="47"/>
                </a:cxn>
                <a:cxn ang="0">
                  <a:pos x="8" y="55"/>
                </a:cxn>
                <a:cxn ang="0">
                  <a:pos x="8" y="55"/>
                </a:cxn>
                <a:cxn ang="0">
                  <a:pos x="24" y="55"/>
                </a:cxn>
                <a:cxn ang="0">
                  <a:pos x="24" y="63"/>
                </a:cxn>
                <a:cxn ang="0">
                  <a:pos x="24" y="71"/>
                </a:cxn>
                <a:cxn ang="0">
                  <a:pos x="16" y="95"/>
                </a:cxn>
                <a:cxn ang="0">
                  <a:pos x="8" y="118"/>
                </a:cxn>
                <a:cxn ang="0">
                  <a:pos x="0" y="134"/>
                </a:cxn>
                <a:cxn ang="0">
                  <a:pos x="0" y="142"/>
                </a:cxn>
                <a:cxn ang="0">
                  <a:pos x="16" y="142"/>
                </a:cxn>
                <a:cxn ang="0">
                  <a:pos x="40" y="134"/>
                </a:cxn>
                <a:cxn ang="0">
                  <a:pos x="55" y="118"/>
                </a:cxn>
                <a:cxn ang="0">
                  <a:pos x="48" y="118"/>
                </a:cxn>
                <a:cxn ang="0">
                  <a:pos x="63" y="8"/>
                </a:cxn>
                <a:cxn ang="0">
                  <a:pos x="55" y="8"/>
                </a:cxn>
                <a:cxn ang="0">
                  <a:pos x="48" y="0"/>
                </a:cxn>
                <a:cxn ang="0">
                  <a:pos x="40" y="0"/>
                </a:cxn>
                <a:cxn ang="0">
                  <a:pos x="32" y="8"/>
                </a:cxn>
                <a:cxn ang="0">
                  <a:pos x="40" y="16"/>
                </a:cxn>
                <a:cxn ang="0">
                  <a:pos x="48" y="24"/>
                </a:cxn>
                <a:cxn ang="0">
                  <a:pos x="55" y="16"/>
                </a:cxn>
                <a:cxn ang="0">
                  <a:pos x="63" y="8"/>
                </a:cxn>
                <a:cxn ang="0">
                  <a:pos x="63" y="8"/>
                </a:cxn>
              </a:cxnLst>
              <a:rect l="txL" t="txT" r="txR" b="txB"/>
              <a:pathLst>
                <a:path w="63" h="142">
                  <a:moveTo>
                    <a:pt x="48" y="118"/>
                  </a:moveTo>
                  <a:lnTo>
                    <a:pt x="40" y="126"/>
                  </a:lnTo>
                  <a:lnTo>
                    <a:pt x="24" y="134"/>
                  </a:lnTo>
                  <a:lnTo>
                    <a:pt x="24" y="126"/>
                  </a:lnTo>
                  <a:lnTo>
                    <a:pt x="24" y="118"/>
                  </a:lnTo>
                  <a:lnTo>
                    <a:pt x="55" y="47"/>
                  </a:lnTo>
                  <a:lnTo>
                    <a:pt x="48" y="47"/>
                  </a:lnTo>
                  <a:lnTo>
                    <a:pt x="32" y="47"/>
                  </a:lnTo>
                  <a:lnTo>
                    <a:pt x="8" y="55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1"/>
                  </a:lnTo>
                  <a:lnTo>
                    <a:pt x="16" y="95"/>
                  </a:lnTo>
                  <a:lnTo>
                    <a:pt x="8" y="118"/>
                  </a:lnTo>
                  <a:lnTo>
                    <a:pt x="0" y="134"/>
                  </a:lnTo>
                  <a:lnTo>
                    <a:pt x="0" y="142"/>
                  </a:lnTo>
                  <a:lnTo>
                    <a:pt x="16" y="142"/>
                  </a:lnTo>
                  <a:lnTo>
                    <a:pt x="40" y="134"/>
                  </a:lnTo>
                  <a:lnTo>
                    <a:pt x="55" y="118"/>
                  </a:lnTo>
                  <a:lnTo>
                    <a:pt x="48" y="118"/>
                  </a:lnTo>
                  <a:close/>
                  <a:moveTo>
                    <a:pt x="63" y="8"/>
                  </a:moveTo>
                  <a:lnTo>
                    <a:pt x="55" y="8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55" y="16"/>
                  </a:lnTo>
                  <a:lnTo>
                    <a:pt x="63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1" name="Freeform 9"/>
            <p:cNvSpPr/>
            <p:nvPr/>
          </p:nvSpPr>
          <p:spPr>
            <a:xfrm>
              <a:off x="1717" y="3390"/>
              <a:ext cx="71" cy="189"/>
            </a:xfrm>
            <a:custGeom>
              <a:avLst/>
              <a:gdLst>
                <a:gd name="txL" fmla="*/ 0 w 71"/>
                <a:gd name="txT" fmla="*/ 0 h 189"/>
                <a:gd name="txR" fmla="*/ 71 w 71"/>
                <a:gd name="txB" fmla="*/ 189 h 189"/>
              </a:gdLst>
              <a:ahLst/>
              <a:cxnLst>
                <a:cxn ang="0">
                  <a:pos x="71" y="0"/>
                </a:cxn>
                <a:cxn ang="0">
                  <a:pos x="39" y="16"/>
                </a:cxn>
                <a:cxn ang="0">
                  <a:pos x="15" y="40"/>
                </a:cxn>
                <a:cxn ang="0">
                  <a:pos x="8" y="63"/>
                </a:cxn>
                <a:cxn ang="0">
                  <a:pos x="0" y="95"/>
                </a:cxn>
                <a:cxn ang="0">
                  <a:pos x="8" y="134"/>
                </a:cxn>
                <a:cxn ang="0">
                  <a:pos x="23" y="158"/>
                </a:cxn>
                <a:cxn ang="0">
                  <a:pos x="39" y="173"/>
                </a:cxn>
                <a:cxn ang="0">
                  <a:pos x="71" y="189"/>
                </a:cxn>
                <a:cxn ang="0">
                  <a:pos x="71" y="181"/>
                </a:cxn>
                <a:cxn ang="0">
                  <a:pos x="47" y="158"/>
                </a:cxn>
                <a:cxn ang="0">
                  <a:pos x="31" y="134"/>
                </a:cxn>
                <a:cxn ang="0">
                  <a:pos x="23" y="110"/>
                </a:cxn>
                <a:cxn ang="0">
                  <a:pos x="23" y="95"/>
                </a:cxn>
                <a:cxn ang="0">
                  <a:pos x="31" y="63"/>
                </a:cxn>
                <a:cxn ang="0">
                  <a:pos x="39" y="32"/>
                </a:cxn>
                <a:cxn ang="0">
                  <a:pos x="55" y="16"/>
                </a:cxn>
                <a:cxn ang="0">
                  <a:pos x="71" y="8"/>
                </a:cxn>
                <a:cxn ang="0">
                  <a:pos x="71" y="0"/>
                </a:cxn>
              </a:cxnLst>
              <a:rect l="txL" t="txT" r="txR" b="txB"/>
              <a:pathLst>
                <a:path w="71" h="189">
                  <a:moveTo>
                    <a:pt x="71" y="0"/>
                  </a:moveTo>
                  <a:lnTo>
                    <a:pt x="39" y="16"/>
                  </a:lnTo>
                  <a:lnTo>
                    <a:pt x="15" y="40"/>
                  </a:lnTo>
                  <a:lnTo>
                    <a:pt x="8" y="63"/>
                  </a:lnTo>
                  <a:lnTo>
                    <a:pt x="0" y="95"/>
                  </a:lnTo>
                  <a:lnTo>
                    <a:pt x="8" y="134"/>
                  </a:lnTo>
                  <a:lnTo>
                    <a:pt x="23" y="158"/>
                  </a:lnTo>
                  <a:lnTo>
                    <a:pt x="39" y="173"/>
                  </a:lnTo>
                  <a:lnTo>
                    <a:pt x="71" y="189"/>
                  </a:lnTo>
                  <a:lnTo>
                    <a:pt x="71" y="181"/>
                  </a:lnTo>
                  <a:lnTo>
                    <a:pt x="47" y="158"/>
                  </a:lnTo>
                  <a:lnTo>
                    <a:pt x="31" y="134"/>
                  </a:lnTo>
                  <a:lnTo>
                    <a:pt x="23" y="110"/>
                  </a:lnTo>
                  <a:lnTo>
                    <a:pt x="23" y="95"/>
                  </a:lnTo>
                  <a:lnTo>
                    <a:pt x="31" y="63"/>
                  </a:lnTo>
                  <a:lnTo>
                    <a:pt x="39" y="32"/>
                  </a:lnTo>
                  <a:lnTo>
                    <a:pt x="55" y="16"/>
                  </a:lnTo>
                  <a:lnTo>
                    <a:pt x="71" y="8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2" name="Freeform 10"/>
            <p:cNvSpPr>
              <a:spLocks noEditPoints="1"/>
            </p:cNvSpPr>
            <p:nvPr/>
          </p:nvSpPr>
          <p:spPr>
            <a:xfrm>
              <a:off x="1803" y="3437"/>
              <a:ext cx="119" cy="103"/>
            </a:xfrm>
            <a:custGeom>
              <a:avLst/>
              <a:gdLst>
                <a:gd name="txL" fmla="*/ 0 w 119"/>
                <a:gd name="txT" fmla="*/ 0 h 103"/>
                <a:gd name="txR" fmla="*/ 119 w 119"/>
                <a:gd name="txB" fmla="*/ 103 h 103"/>
              </a:gdLst>
              <a:ahLst/>
              <a:cxnLst>
                <a:cxn ang="0">
                  <a:pos x="79" y="79"/>
                </a:cxn>
                <a:cxn ang="0">
                  <a:pos x="71" y="87"/>
                </a:cxn>
                <a:cxn ang="0">
                  <a:pos x="64" y="87"/>
                </a:cxn>
                <a:cxn ang="0">
                  <a:pos x="56" y="95"/>
                </a:cxn>
                <a:cxn ang="0">
                  <a:pos x="48" y="95"/>
                </a:cxn>
                <a:cxn ang="0">
                  <a:pos x="40" y="87"/>
                </a:cxn>
                <a:cxn ang="0">
                  <a:pos x="32" y="79"/>
                </a:cxn>
                <a:cxn ang="0">
                  <a:pos x="32" y="71"/>
                </a:cxn>
                <a:cxn ang="0">
                  <a:pos x="32" y="71"/>
                </a:cxn>
                <a:cxn ang="0">
                  <a:pos x="40" y="63"/>
                </a:cxn>
                <a:cxn ang="0">
                  <a:pos x="56" y="56"/>
                </a:cxn>
                <a:cxn ang="0">
                  <a:pos x="79" y="48"/>
                </a:cxn>
                <a:cxn ang="0">
                  <a:pos x="79" y="79"/>
                </a:cxn>
                <a:cxn ang="0">
                  <a:pos x="119" y="87"/>
                </a:cxn>
                <a:cxn ang="0">
                  <a:pos x="119" y="95"/>
                </a:cxn>
                <a:cxn ang="0">
                  <a:pos x="111" y="95"/>
                </a:cxn>
                <a:cxn ang="0">
                  <a:pos x="95" y="87"/>
                </a:cxn>
                <a:cxn ang="0">
                  <a:pos x="95" y="79"/>
                </a:cxn>
                <a:cxn ang="0">
                  <a:pos x="95" y="40"/>
                </a:cxn>
                <a:cxn ang="0">
                  <a:pos x="87" y="16"/>
                </a:cxn>
                <a:cxn ang="0">
                  <a:pos x="79" y="8"/>
                </a:cxn>
                <a:cxn ang="0">
                  <a:pos x="56" y="0"/>
                </a:cxn>
                <a:cxn ang="0">
                  <a:pos x="24" y="8"/>
                </a:cxn>
                <a:cxn ang="0">
                  <a:pos x="8" y="24"/>
                </a:cxn>
                <a:cxn ang="0">
                  <a:pos x="16" y="32"/>
                </a:cxn>
                <a:cxn ang="0">
                  <a:pos x="24" y="40"/>
                </a:cxn>
                <a:cxn ang="0">
                  <a:pos x="32" y="32"/>
                </a:cxn>
                <a:cxn ang="0">
                  <a:pos x="32" y="24"/>
                </a:cxn>
                <a:cxn ang="0">
                  <a:pos x="32" y="24"/>
                </a:cxn>
                <a:cxn ang="0">
                  <a:pos x="32" y="16"/>
                </a:cxn>
                <a:cxn ang="0">
                  <a:pos x="40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79" y="24"/>
                </a:cxn>
                <a:cxn ang="0">
                  <a:pos x="79" y="40"/>
                </a:cxn>
                <a:cxn ang="0">
                  <a:pos x="48" y="48"/>
                </a:cxn>
                <a:cxn ang="0">
                  <a:pos x="24" y="63"/>
                </a:cxn>
                <a:cxn ang="0">
                  <a:pos x="8" y="71"/>
                </a:cxn>
                <a:cxn ang="0">
                  <a:pos x="0" y="79"/>
                </a:cxn>
                <a:cxn ang="0">
                  <a:pos x="8" y="95"/>
                </a:cxn>
                <a:cxn ang="0">
                  <a:pos x="32" y="103"/>
                </a:cxn>
                <a:cxn ang="0">
                  <a:pos x="56" y="95"/>
                </a:cxn>
                <a:cxn ang="0">
                  <a:pos x="79" y="87"/>
                </a:cxn>
                <a:cxn ang="0">
                  <a:pos x="87" y="103"/>
                </a:cxn>
                <a:cxn ang="0">
                  <a:pos x="95" y="103"/>
                </a:cxn>
                <a:cxn ang="0">
                  <a:pos x="111" y="103"/>
                </a:cxn>
                <a:cxn ang="0">
                  <a:pos x="119" y="95"/>
                </a:cxn>
                <a:cxn ang="0">
                  <a:pos x="119" y="87"/>
                </a:cxn>
              </a:cxnLst>
              <a:rect l="txL" t="txT" r="txR" b="txB"/>
              <a:pathLst>
                <a:path w="119" h="103">
                  <a:moveTo>
                    <a:pt x="79" y="79"/>
                  </a:moveTo>
                  <a:lnTo>
                    <a:pt x="71" y="87"/>
                  </a:lnTo>
                  <a:lnTo>
                    <a:pt x="64" y="87"/>
                  </a:lnTo>
                  <a:lnTo>
                    <a:pt x="56" y="95"/>
                  </a:lnTo>
                  <a:lnTo>
                    <a:pt x="48" y="95"/>
                  </a:lnTo>
                  <a:lnTo>
                    <a:pt x="40" y="87"/>
                  </a:lnTo>
                  <a:lnTo>
                    <a:pt x="32" y="79"/>
                  </a:lnTo>
                  <a:lnTo>
                    <a:pt x="32" y="71"/>
                  </a:lnTo>
                  <a:lnTo>
                    <a:pt x="40" y="63"/>
                  </a:lnTo>
                  <a:lnTo>
                    <a:pt x="56" y="56"/>
                  </a:lnTo>
                  <a:lnTo>
                    <a:pt x="79" y="48"/>
                  </a:lnTo>
                  <a:lnTo>
                    <a:pt x="79" y="79"/>
                  </a:lnTo>
                  <a:close/>
                  <a:moveTo>
                    <a:pt x="119" y="87"/>
                  </a:moveTo>
                  <a:lnTo>
                    <a:pt x="119" y="95"/>
                  </a:lnTo>
                  <a:lnTo>
                    <a:pt x="111" y="95"/>
                  </a:lnTo>
                  <a:lnTo>
                    <a:pt x="95" y="87"/>
                  </a:lnTo>
                  <a:lnTo>
                    <a:pt x="95" y="79"/>
                  </a:lnTo>
                  <a:lnTo>
                    <a:pt x="95" y="40"/>
                  </a:lnTo>
                  <a:lnTo>
                    <a:pt x="87" y="16"/>
                  </a:lnTo>
                  <a:lnTo>
                    <a:pt x="79" y="8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4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56" y="8"/>
                  </a:lnTo>
                  <a:lnTo>
                    <a:pt x="71" y="8"/>
                  </a:lnTo>
                  <a:lnTo>
                    <a:pt x="79" y="24"/>
                  </a:lnTo>
                  <a:lnTo>
                    <a:pt x="79" y="40"/>
                  </a:lnTo>
                  <a:lnTo>
                    <a:pt x="48" y="48"/>
                  </a:lnTo>
                  <a:lnTo>
                    <a:pt x="24" y="63"/>
                  </a:lnTo>
                  <a:lnTo>
                    <a:pt x="8" y="71"/>
                  </a:lnTo>
                  <a:lnTo>
                    <a:pt x="0" y="79"/>
                  </a:lnTo>
                  <a:lnTo>
                    <a:pt x="8" y="95"/>
                  </a:lnTo>
                  <a:lnTo>
                    <a:pt x="32" y="103"/>
                  </a:lnTo>
                  <a:lnTo>
                    <a:pt x="56" y="95"/>
                  </a:lnTo>
                  <a:lnTo>
                    <a:pt x="79" y="87"/>
                  </a:lnTo>
                  <a:lnTo>
                    <a:pt x="87" y="103"/>
                  </a:lnTo>
                  <a:lnTo>
                    <a:pt x="95" y="103"/>
                  </a:lnTo>
                  <a:lnTo>
                    <a:pt x="111" y="103"/>
                  </a:lnTo>
                  <a:lnTo>
                    <a:pt x="119" y="95"/>
                  </a:lnTo>
                  <a:lnTo>
                    <a:pt x="119" y="8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3" name="Freeform 11"/>
            <p:cNvSpPr/>
            <p:nvPr/>
          </p:nvSpPr>
          <p:spPr>
            <a:xfrm>
              <a:off x="1930" y="3390"/>
              <a:ext cx="79" cy="189"/>
            </a:xfrm>
            <a:custGeom>
              <a:avLst/>
              <a:gdLst>
                <a:gd name="txL" fmla="*/ 0 w 79"/>
                <a:gd name="txT" fmla="*/ 0 h 189"/>
                <a:gd name="txR" fmla="*/ 79 w 79"/>
                <a:gd name="txB" fmla="*/ 189 h 189"/>
              </a:gdLst>
              <a:ahLst/>
              <a:cxnLst>
                <a:cxn ang="0">
                  <a:pos x="8" y="189"/>
                </a:cxn>
                <a:cxn ang="0">
                  <a:pos x="55" y="150"/>
                </a:cxn>
                <a:cxn ang="0">
                  <a:pos x="71" y="126"/>
                </a:cxn>
                <a:cxn ang="0">
                  <a:pos x="79" y="95"/>
                </a:cxn>
                <a:cxn ang="0">
                  <a:pos x="71" y="63"/>
                </a:cxn>
                <a:cxn ang="0">
                  <a:pos x="55" y="40"/>
                </a:cxn>
                <a:cxn ang="0">
                  <a:pos x="31" y="16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31" y="32"/>
                </a:cxn>
                <a:cxn ang="0">
                  <a:pos x="39" y="55"/>
                </a:cxn>
                <a:cxn ang="0">
                  <a:pos x="47" y="79"/>
                </a:cxn>
                <a:cxn ang="0">
                  <a:pos x="47" y="103"/>
                </a:cxn>
                <a:cxn ang="0">
                  <a:pos x="47" y="134"/>
                </a:cxn>
                <a:cxn ang="0">
                  <a:pos x="31" y="158"/>
                </a:cxn>
                <a:cxn ang="0">
                  <a:pos x="15" y="173"/>
                </a:cxn>
                <a:cxn ang="0">
                  <a:pos x="0" y="181"/>
                </a:cxn>
                <a:cxn ang="0">
                  <a:pos x="8" y="189"/>
                </a:cxn>
              </a:cxnLst>
              <a:rect l="txL" t="txT" r="txR" b="txB"/>
              <a:pathLst>
                <a:path w="79" h="189">
                  <a:moveTo>
                    <a:pt x="8" y="189"/>
                  </a:moveTo>
                  <a:lnTo>
                    <a:pt x="55" y="150"/>
                  </a:lnTo>
                  <a:lnTo>
                    <a:pt x="71" y="126"/>
                  </a:lnTo>
                  <a:lnTo>
                    <a:pt x="79" y="95"/>
                  </a:lnTo>
                  <a:lnTo>
                    <a:pt x="71" y="63"/>
                  </a:lnTo>
                  <a:lnTo>
                    <a:pt x="55" y="40"/>
                  </a:lnTo>
                  <a:lnTo>
                    <a:pt x="31" y="16"/>
                  </a:lnTo>
                  <a:lnTo>
                    <a:pt x="8" y="0"/>
                  </a:lnTo>
                  <a:lnTo>
                    <a:pt x="0" y="8"/>
                  </a:lnTo>
                  <a:lnTo>
                    <a:pt x="31" y="32"/>
                  </a:lnTo>
                  <a:lnTo>
                    <a:pt x="39" y="55"/>
                  </a:lnTo>
                  <a:lnTo>
                    <a:pt x="47" y="79"/>
                  </a:lnTo>
                  <a:lnTo>
                    <a:pt x="47" y="103"/>
                  </a:lnTo>
                  <a:lnTo>
                    <a:pt x="47" y="134"/>
                  </a:lnTo>
                  <a:lnTo>
                    <a:pt x="31" y="158"/>
                  </a:lnTo>
                  <a:lnTo>
                    <a:pt x="15" y="173"/>
                  </a:lnTo>
                  <a:lnTo>
                    <a:pt x="0" y="181"/>
                  </a:lnTo>
                  <a:lnTo>
                    <a:pt x="8" y="18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4" name="Freeform 12"/>
            <p:cNvSpPr/>
            <p:nvPr/>
          </p:nvSpPr>
          <p:spPr>
            <a:xfrm>
              <a:off x="2301" y="1948"/>
              <a:ext cx="110" cy="95"/>
            </a:xfrm>
            <a:custGeom>
              <a:avLst/>
              <a:gdLst>
                <a:gd name="txL" fmla="*/ 0 w 110"/>
                <a:gd name="txT" fmla="*/ 0 h 95"/>
                <a:gd name="txR" fmla="*/ 110 w 110"/>
                <a:gd name="txB" fmla="*/ 95 h 95"/>
              </a:gdLst>
              <a:ahLst/>
              <a:cxnLst>
                <a:cxn ang="0">
                  <a:pos x="0" y="8"/>
                </a:cxn>
                <a:cxn ang="0">
                  <a:pos x="15" y="8"/>
                </a:cxn>
                <a:cxn ang="0">
                  <a:pos x="23" y="8"/>
                </a:cxn>
                <a:cxn ang="0">
                  <a:pos x="23" y="24"/>
                </a:cxn>
                <a:cxn ang="0">
                  <a:pos x="31" y="55"/>
                </a:cxn>
                <a:cxn ang="0">
                  <a:pos x="31" y="87"/>
                </a:cxn>
                <a:cxn ang="0">
                  <a:pos x="31" y="95"/>
                </a:cxn>
                <a:cxn ang="0">
                  <a:pos x="39" y="95"/>
                </a:cxn>
                <a:cxn ang="0">
                  <a:pos x="47" y="87"/>
                </a:cxn>
                <a:cxn ang="0">
                  <a:pos x="63" y="71"/>
                </a:cxn>
                <a:cxn ang="0">
                  <a:pos x="71" y="63"/>
                </a:cxn>
                <a:cxn ang="0">
                  <a:pos x="86" y="47"/>
                </a:cxn>
                <a:cxn ang="0">
                  <a:pos x="102" y="24"/>
                </a:cxn>
                <a:cxn ang="0">
                  <a:pos x="110" y="8"/>
                </a:cxn>
                <a:cxn ang="0">
                  <a:pos x="102" y="0"/>
                </a:cxn>
                <a:cxn ang="0">
                  <a:pos x="94" y="0"/>
                </a:cxn>
                <a:cxn ang="0">
                  <a:pos x="86" y="0"/>
                </a:cxn>
                <a:cxn ang="0">
                  <a:pos x="86" y="8"/>
                </a:cxn>
                <a:cxn ang="0">
                  <a:pos x="94" y="16"/>
                </a:cxn>
                <a:cxn ang="0">
                  <a:pos x="94" y="24"/>
                </a:cxn>
                <a:cxn ang="0">
                  <a:pos x="94" y="32"/>
                </a:cxn>
                <a:cxn ang="0">
                  <a:pos x="86" y="47"/>
                </a:cxn>
                <a:cxn ang="0">
                  <a:pos x="63" y="63"/>
                </a:cxn>
                <a:cxn ang="0">
                  <a:pos x="55" y="71"/>
                </a:cxn>
                <a:cxn ang="0">
                  <a:pos x="47" y="40"/>
                </a:cxn>
                <a:cxn ang="0">
                  <a:pos x="39" y="0"/>
                </a:cxn>
                <a:cxn ang="0">
                  <a:pos x="39" y="0"/>
                </a:cxn>
                <a:cxn ang="0">
                  <a:pos x="31" y="0"/>
                </a:cxn>
                <a:cxn ang="0">
                  <a:pos x="23" y="0"/>
                </a:cxn>
                <a:cxn ang="0">
                  <a:pos x="0" y="0"/>
                </a:cxn>
                <a:cxn ang="0">
                  <a:pos x="0" y="8"/>
                </a:cxn>
              </a:cxnLst>
              <a:rect l="txL" t="txT" r="txR" b="txB"/>
              <a:pathLst>
                <a:path w="110" h="95">
                  <a:moveTo>
                    <a:pt x="0" y="8"/>
                  </a:moveTo>
                  <a:lnTo>
                    <a:pt x="15" y="8"/>
                  </a:lnTo>
                  <a:lnTo>
                    <a:pt x="23" y="8"/>
                  </a:lnTo>
                  <a:lnTo>
                    <a:pt x="23" y="24"/>
                  </a:lnTo>
                  <a:lnTo>
                    <a:pt x="31" y="55"/>
                  </a:lnTo>
                  <a:lnTo>
                    <a:pt x="31" y="87"/>
                  </a:lnTo>
                  <a:lnTo>
                    <a:pt x="31" y="95"/>
                  </a:lnTo>
                  <a:lnTo>
                    <a:pt x="39" y="95"/>
                  </a:lnTo>
                  <a:lnTo>
                    <a:pt x="47" y="87"/>
                  </a:lnTo>
                  <a:lnTo>
                    <a:pt x="63" y="71"/>
                  </a:lnTo>
                  <a:lnTo>
                    <a:pt x="71" y="63"/>
                  </a:lnTo>
                  <a:lnTo>
                    <a:pt x="86" y="47"/>
                  </a:lnTo>
                  <a:lnTo>
                    <a:pt x="102" y="24"/>
                  </a:lnTo>
                  <a:lnTo>
                    <a:pt x="110" y="8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86" y="0"/>
                  </a:lnTo>
                  <a:lnTo>
                    <a:pt x="86" y="8"/>
                  </a:lnTo>
                  <a:lnTo>
                    <a:pt x="94" y="16"/>
                  </a:lnTo>
                  <a:lnTo>
                    <a:pt x="94" y="24"/>
                  </a:lnTo>
                  <a:lnTo>
                    <a:pt x="94" y="32"/>
                  </a:lnTo>
                  <a:lnTo>
                    <a:pt x="86" y="47"/>
                  </a:lnTo>
                  <a:lnTo>
                    <a:pt x="63" y="63"/>
                  </a:lnTo>
                  <a:lnTo>
                    <a:pt x="55" y="71"/>
                  </a:lnTo>
                  <a:lnTo>
                    <a:pt x="47" y="40"/>
                  </a:lnTo>
                  <a:lnTo>
                    <a:pt x="39" y="0"/>
                  </a:lnTo>
                  <a:lnTo>
                    <a:pt x="31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5" name="Freeform 13"/>
            <p:cNvSpPr/>
            <p:nvPr/>
          </p:nvSpPr>
          <p:spPr>
            <a:xfrm>
              <a:off x="2277" y="1271"/>
              <a:ext cx="150" cy="110"/>
            </a:xfrm>
            <a:custGeom>
              <a:avLst/>
              <a:gdLst>
                <a:gd name="txL" fmla="*/ 0 w 150"/>
                <a:gd name="txT" fmla="*/ 0 h 110"/>
                <a:gd name="txR" fmla="*/ 150 w 150"/>
                <a:gd name="txB" fmla="*/ 110 h 110"/>
              </a:gdLst>
              <a:ahLst/>
              <a:cxnLst>
                <a:cxn ang="0">
                  <a:pos x="63" y="47"/>
                </a:cxn>
                <a:cxn ang="0">
                  <a:pos x="0" y="47"/>
                </a:cxn>
                <a:cxn ang="0">
                  <a:pos x="0" y="63"/>
                </a:cxn>
                <a:cxn ang="0">
                  <a:pos x="63" y="63"/>
                </a:cxn>
                <a:cxn ang="0">
                  <a:pos x="63" y="110"/>
                </a:cxn>
                <a:cxn ang="0">
                  <a:pos x="87" y="110"/>
                </a:cxn>
                <a:cxn ang="0">
                  <a:pos x="87" y="63"/>
                </a:cxn>
                <a:cxn ang="0">
                  <a:pos x="150" y="63"/>
                </a:cxn>
                <a:cxn ang="0">
                  <a:pos x="150" y="47"/>
                </a:cxn>
                <a:cxn ang="0">
                  <a:pos x="87" y="47"/>
                </a:cxn>
                <a:cxn ang="0">
                  <a:pos x="87" y="0"/>
                </a:cxn>
                <a:cxn ang="0">
                  <a:pos x="63" y="0"/>
                </a:cxn>
                <a:cxn ang="0">
                  <a:pos x="63" y="47"/>
                </a:cxn>
              </a:cxnLst>
              <a:rect l="txL" t="txT" r="txR" b="txB"/>
              <a:pathLst>
                <a:path w="150" h="110">
                  <a:moveTo>
                    <a:pt x="63" y="47"/>
                  </a:moveTo>
                  <a:lnTo>
                    <a:pt x="0" y="47"/>
                  </a:lnTo>
                  <a:lnTo>
                    <a:pt x="0" y="63"/>
                  </a:lnTo>
                  <a:lnTo>
                    <a:pt x="63" y="63"/>
                  </a:lnTo>
                  <a:lnTo>
                    <a:pt x="63" y="110"/>
                  </a:lnTo>
                  <a:lnTo>
                    <a:pt x="87" y="110"/>
                  </a:lnTo>
                  <a:lnTo>
                    <a:pt x="87" y="63"/>
                  </a:lnTo>
                  <a:lnTo>
                    <a:pt x="150" y="63"/>
                  </a:lnTo>
                  <a:lnTo>
                    <a:pt x="150" y="47"/>
                  </a:lnTo>
                  <a:lnTo>
                    <a:pt x="87" y="47"/>
                  </a:lnTo>
                  <a:lnTo>
                    <a:pt x="87" y="0"/>
                  </a:lnTo>
                  <a:lnTo>
                    <a:pt x="63" y="0"/>
                  </a:lnTo>
                  <a:lnTo>
                    <a:pt x="63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6" name="Rectangle 14"/>
            <p:cNvSpPr/>
            <p:nvPr/>
          </p:nvSpPr>
          <p:spPr>
            <a:xfrm>
              <a:off x="2269" y="2602"/>
              <a:ext cx="150" cy="16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46097" name="Freeform 15"/>
            <p:cNvSpPr/>
            <p:nvPr/>
          </p:nvSpPr>
          <p:spPr>
            <a:xfrm>
              <a:off x="1409" y="1160"/>
              <a:ext cx="876" cy="1"/>
            </a:xfrm>
            <a:custGeom>
              <a:avLst/>
              <a:gdLst>
                <a:gd name="txL" fmla="*/ 0 w 876"/>
                <a:gd name="txT" fmla="*/ 0 h 1"/>
                <a:gd name="txR" fmla="*/ 876 w 876"/>
                <a:gd name="txB" fmla="*/ 1 h 1"/>
              </a:gdLst>
              <a:ahLst/>
              <a:cxnLst>
                <a:cxn ang="0">
                  <a:pos x="876" y="0"/>
                </a:cxn>
                <a:cxn ang="0">
                  <a:pos x="0" y="0"/>
                </a:cxn>
                <a:cxn ang="0">
                  <a:pos x="876" y="0"/>
                </a:cxn>
                <a:cxn ang="0">
                  <a:pos x="876" y="0"/>
                </a:cxn>
              </a:cxnLst>
              <a:rect l="txL" t="txT" r="txR" b="txB"/>
              <a:pathLst>
                <a:path w="876" h="1">
                  <a:moveTo>
                    <a:pt x="876" y="0"/>
                  </a:moveTo>
                  <a:lnTo>
                    <a:pt x="0" y="0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8" name="Freeform 16"/>
            <p:cNvSpPr>
              <a:spLocks noEditPoints="1"/>
            </p:cNvSpPr>
            <p:nvPr/>
          </p:nvSpPr>
          <p:spPr>
            <a:xfrm>
              <a:off x="1409" y="1160"/>
              <a:ext cx="1" cy="1608"/>
            </a:xfrm>
            <a:custGeom>
              <a:avLst/>
              <a:gdLst>
                <a:gd name="txL" fmla="*/ 0 w 1"/>
                <a:gd name="txT" fmla="*/ 0 h 1608"/>
                <a:gd name="txR" fmla="*/ 1 w 1"/>
                <a:gd name="txB" fmla="*/ 1608 h 1608"/>
              </a:gdLst>
              <a:ahLst/>
              <a:cxnLst>
                <a:cxn ang="0">
                  <a:pos x="0" y="0"/>
                </a:cxn>
                <a:cxn ang="0">
                  <a:pos x="0" y="160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608">
                  <a:moveTo>
                    <a:pt x="0" y="0"/>
                  </a:moveTo>
                  <a:lnTo>
                    <a:pt x="0" y="160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99" name="Freeform 17"/>
            <p:cNvSpPr>
              <a:spLocks noEditPoints="1"/>
            </p:cNvSpPr>
            <p:nvPr/>
          </p:nvSpPr>
          <p:spPr>
            <a:xfrm>
              <a:off x="1409" y="2768"/>
              <a:ext cx="876" cy="1"/>
            </a:xfrm>
            <a:custGeom>
              <a:avLst/>
              <a:gdLst>
                <a:gd name="txL" fmla="*/ 0 w 876"/>
                <a:gd name="txT" fmla="*/ 0 h 1"/>
                <a:gd name="txR" fmla="*/ 876 w 87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76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76" h="1">
                  <a:moveTo>
                    <a:pt x="0" y="0"/>
                  </a:moveTo>
                  <a:lnTo>
                    <a:pt x="876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0" name="Freeform 18"/>
            <p:cNvSpPr/>
            <p:nvPr/>
          </p:nvSpPr>
          <p:spPr>
            <a:xfrm>
              <a:off x="2285" y="1113"/>
              <a:ext cx="134" cy="102"/>
            </a:xfrm>
            <a:custGeom>
              <a:avLst/>
              <a:gdLst>
                <a:gd name="txL" fmla="*/ 0 w 134"/>
                <a:gd name="txT" fmla="*/ 0 h 102"/>
                <a:gd name="txR" fmla="*/ 134 w 134"/>
                <a:gd name="txB" fmla="*/ 102 h 102"/>
              </a:gdLst>
              <a:ahLst/>
              <a:cxnLst>
                <a:cxn ang="0">
                  <a:pos x="63" y="102"/>
                </a:cxn>
                <a:cxn ang="0">
                  <a:pos x="94" y="102"/>
                </a:cxn>
                <a:cxn ang="0">
                  <a:pos x="110" y="87"/>
                </a:cxn>
                <a:cxn ang="0">
                  <a:pos x="126" y="71"/>
                </a:cxn>
                <a:cxn ang="0">
                  <a:pos x="134" y="47"/>
                </a:cxn>
                <a:cxn ang="0">
                  <a:pos x="126" y="31"/>
                </a:cxn>
                <a:cxn ang="0">
                  <a:pos x="110" y="16"/>
                </a:cxn>
                <a:cxn ang="0">
                  <a:pos x="94" y="8"/>
                </a:cxn>
                <a:cxn ang="0">
                  <a:pos x="63" y="0"/>
                </a:cxn>
                <a:cxn ang="0">
                  <a:pos x="39" y="8"/>
                </a:cxn>
                <a:cxn ang="0">
                  <a:pos x="23" y="16"/>
                </a:cxn>
                <a:cxn ang="0">
                  <a:pos x="8" y="31"/>
                </a:cxn>
                <a:cxn ang="0">
                  <a:pos x="0" y="47"/>
                </a:cxn>
                <a:cxn ang="0">
                  <a:pos x="8" y="71"/>
                </a:cxn>
                <a:cxn ang="0">
                  <a:pos x="23" y="87"/>
                </a:cxn>
                <a:cxn ang="0">
                  <a:pos x="39" y="102"/>
                </a:cxn>
                <a:cxn ang="0">
                  <a:pos x="63" y="102"/>
                </a:cxn>
                <a:cxn ang="0">
                  <a:pos x="63" y="102"/>
                </a:cxn>
              </a:cxnLst>
              <a:rect l="txL" t="txT" r="txR" b="txB"/>
              <a:pathLst>
                <a:path w="134" h="102">
                  <a:moveTo>
                    <a:pt x="63" y="102"/>
                  </a:moveTo>
                  <a:lnTo>
                    <a:pt x="94" y="102"/>
                  </a:lnTo>
                  <a:lnTo>
                    <a:pt x="110" y="87"/>
                  </a:lnTo>
                  <a:lnTo>
                    <a:pt x="126" y="71"/>
                  </a:lnTo>
                  <a:lnTo>
                    <a:pt x="134" y="47"/>
                  </a:lnTo>
                  <a:lnTo>
                    <a:pt x="126" y="31"/>
                  </a:lnTo>
                  <a:lnTo>
                    <a:pt x="110" y="16"/>
                  </a:lnTo>
                  <a:lnTo>
                    <a:pt x="94" y="8"/>
                  </a:lnTo>
                  <a:lnTo>
                    <a:pt x="63" y="0"/>
                  </a:lnTo>
                  <a:lnTo>
                    <a:pt x="39" y="8"/>
                  </a:lnTo>
                  <a:lnTo>
                    <a:pt x="23" y="16"/>
                  </a:lnTo>
                  <a:lnTo>
                    <a:pt x="8" y="31"/>
                  </a:lnTo>
                  <a:lnTo>
                    <a:pt x="0" y="47"/>
                  </a:lnTo>
                  <a:lnTo>
                    <a:pt x="8" y="71"/>
                  </a:lnTo>
                  <a:lnTo>
                    <a:pt x="23" y="87"/>
                  </a:lnTo>
                  <a:lnTo>
                    <a:pt x="39" y="102"/>
                  </a:lnTo>
                  <a:lnTo>
                    <a:pt x="63" y="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1" name="Freeform 19"/>
            <p:cNvSpPr/>
            <p:nvPr/>
          </p:nvSpPr>
          <p:spPr>
            <a:xfrm>
              <a:off x="2348" y="1160"/>
              <a:ext cx="71" cy="55"/>
            </a:xfrm>
            <a:custGeom>
              <a:avLst/>
              <a:gdLst>
                <a:gd name="txL" fmla="*/ 0 w 71"/>
                <a:gd name="txT" fmla="*/ 0 h 55"/>
                <a:gd name="txR" fmla="*/ 71 w 71"/>
                <a:gd name="txB" fmla="*/ 55 h 55"/>
              </a:gdLst>
              <a:ahLst/>
              <a:cxnLst>
                <a:cxn ang="0">
                  <a:pos x="0" y="55"/>
                </a:cxn>
                <a:cxn ang="0">
                  <a:pos x="31" y="55"/>
                </a:cxn>
                <a:cxn ang="0">
                  <a:pos x="47" y="40"/>
                </a:cxn>
                <a:cxn ang="0">
                  <a:pos x="63" y="24"/>
                </a:cxn>
                <a:cxn ang="0">
                  <a:pos x="71" y="0"/>
                </a:cxn>
                <a:cxn ang="0">
                  <a:pos x="71" y="0"/>
                </a:cxn>
                <a:cxn ang="0">
                  <a:pos x="63" y="24"/>
                </a:cxn>
                <a:cxn ang="0">
                  <a:pos x="47" y="40"/>
                </a:cxn>
                <a:cxn ang="0">
                  <a:pos x="31" y="55"/>
                </a:cxn>
                <a:cxn ang="0">
                  <a:pos x="0" y="55"/>
                </a:cxn>
                <a:cxn ang="0">
                  <a:pos x="0" y="55"/>
                </a:cxn>
              </a:cxnLst>
              <a:rect l="txL" t="txT" r="txR" b="txB"/>
              <a:pathLst>
                <a:path w="71" h="55">
                  <a:moveTo>
                    <a:pt x="0" y="55"/>
                  </a:moveTo>
                  <a:lnTo>
                    <a:pt x="31" y="55"/>
                  </a:lnTo>
                  <a:lnTo>
                    <a:pt x="47" y="40"/>
                  </a:lnTo>
                  <a:lnTo>
                    <a:pt x="63" y="24"/>
                  </a:lnTo>
                  <a:lnTo>
                    <a:pt x="71" y="0"/>
                  </a:lnTo>
                  <a:lnTo>
                    <a:pt x="63" y="24"/>
                  </a:lnTo>
                  <a:lnTo>
                    <a:pt x="47" y="40"/>
                  </a:lnTo>
                  <a:lnTo>
                    <a:pt x="31" y="5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2" name="Freeform 20"/>
            <p:cNvSpPr>
              <a:spLocks noEditPoints="1"/>
            </p:cNvSpPr>
            <p:nvPr/>
          </p:nvSpPr>
          <p:spPr>
            <a:xfrm>
              <a:off x="2348" y="1113"/>
              <a:ext cx="71" cy="47"/>
            </a:xfrm>
            <a:custGeom>
              <a:avLst/>
              <a:gdLst>
                <a:gd name="txL" fmla="*/ 0 w 71"/>
                <a:gd name="txT" fmla="*/ 0 h 47"/>
                <a:gd name="txR" fmla="*/ 71 w 71"/>
                <a:gd name="txB" fmla="*/ 47 h 47"/>
              </a:gdLst>
              <a:ahLst/>
              <a:cxnLst>
                <a:cxn ang="0">
                  <a:pos x="71" y="47"/>
                </a:cxn>
                <a:cxn ang="0">
                  <a:pos x="63" y="31"/>
                </a:cxn>
                <a:cxn ang="0">
                  <a:pos x="47" y="16"/>
                </a:cxn>
                <a:cxn ang="0">
                  <a:pos x="31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1" y="8"/>
                </a:cxn>
                <a:cxn ang="0">
                  <a:pos x="47" y="16"/>
                </a:cxn>
                <a:cxn ang="0">
                  <a:pos x="63" y="31"/>
                </a:cxn>
                <a:cxn ang="0">
                  <a:pos x="71" y="47"/>
                </a:cxn>
                <a:cxn ang="0">
                  <a:pos x="71" y="47"/>
                </a:cxn>
                <a:cxn ang="0">
                  <a:pos x="71" y="47"/>
                </a:cxn>
                <a:cxn ang="0">
                  <a:pos x="71" y="47"/>
                </a:cxn>
                <a:cxn ang="0">
                  <a:pos x="71" y="47"/>
                </a:cxn>
              </a:cxnLst>
              <a:rect l="txL" t="txT" r="txR" b="txB"/>
              <a:pathLst>
                <a:path w="71" h="47">
                  <a:moveTo>
                    <a:pt x="71" y="47"/>
                  </a:moveTo>
                  <a:lnTo>
                    <a:pt x="63" y="31"/>
                  </a:lnTo>
                  <a:lnTo>
                    <a:pt x="47" y="16"/>
                  </a:lnTo>
                  <a:lnTo>
                    <a:pt x="31" y="8"/>
                  </a:lnTo>
                  <a:lnTo>
                    <a:pt x="0" y="0"/>
                  </a:lnTo>
                  <a:lnTo>
                    <a:pt x="31" y="8"/>
                  </a:lnTo>
                  <a:lnTo>
                    <a:pt x="47" y="16"/>
                  </a:lnTo>
                  <a:lnTo>
                    <a:pt x="63" y="31"/>
                  </a:lnTo>
                  <a:lnTo>
                    <a:pt x="71" y="47"/>
                  </a:lnTo>
                  <a:close/>
                  <a:moveTo>
                    <a:pt x="71" y="47"/>
                  </a:moveTo>
                  <a:lnTo>
                    <a:pt x="71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3" name="Freeform 21"/>
            <p:cNvSpPr>
              <a:spLocks noEditPoints="1"/>
            </p:cNvSpPr>
            <p:nvPr/>
          </p:nvSpPr>
          <p:spPr>
            <a:xfrm>
              <a:off x="2285" y="1113"/>
              <a:ext cx="63" cy="47"/>
            </a:xfrm>
            <a:custGeom>
              <a:avLst/>
              <a:gdLst>
                <a:gd name="txL" fmla="*/ 0 w 63"/>
                <a:gd name="txT" fmla="*/ 0 h 47"/>
                <a:gd name="txR" fmla="*/ 63 w 63"/>
                <a:gd name="txB" fmla="*/ 47 h 47"/>
              </a:gdLst>
              <a:ahLst/>
              <a:cxnLst>
                <a:cxn ang="0">
                  <a:pos x="63" y="0"/>
                </a:cxn>
                <a:cxn ang="0">
                  <a:pos x="39" y="8"/>
                </a:cxn>
                <a:cxn ang="0">
                  <a:pos x="23" y="16"/>
                </a:cxn>
                <a:cxn ang="0">
                  <a:pos x="8" y="31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8" y="31"/>
                </a:cxn>
                <a:cxn ang="0">
                  <a:pos x="23" y="16"/>
                </a:cxn>
                <a:cxn ang="0">
                  <a:pos x="39" y="8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</a:cxnLst>
              <a:rect l="txL" t="txT" r="txR" b="txB"/>
              <a:pathLst>
                <a:path w="63" h="47">
                  <a:moveTo>
                    <a:pt x="63" y="0"/>
                  </a:moveTo>
                  <a:lnTo>
                    <a:pt x="39" y="8"/>
                  </a:lnTo>
                  <a:lnTo>
                    <a:pt x="23" y="16"/>
                  </a:lnTo>
                  <a:lnTo>
                    <a:pt x="8" y="31"/>
                  </a:lnTo>
                  <a:lnTo>
                    <a:pt x="0" y="47"/>
                  </a:lnTo>
                  <a:lnTo>
                    <a:pt x="8" y="31"/>
                  </a:lnTo>
                  <a:lnTo>
                    <a:pt x="23" y="16"/>
                  </a:lnTo>
                  <a:lnTo>
                    <a:pt x="39" y="8"/>
                  </a:lnTo>
                  <a:lnTo>
                    <a:pt x="63" y="0"/>
                  </a:lnTo>
                  <a:close/>
                  <a:moveTo>
                    <a:pt x="63" y="0"/>
                  </a:moveTo>
                  <a:lnTo>
                    <a:pt x="6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4" name="Freeform 22"/>
            <p:cNvSpPr>
              <a:spLocks noEditPoints="1"/>
            </p:cNvSpPr>
            <p:nvPr/>
          </p:nvSpPr>
          <p:spPr>
            <a:xfrm>
              <a:off x="2285" y="1160"/>
              <a:ext cx="63" cy="55"/>
            </a:xfrm>
            <a:custGeom>
              <a:avLst/>
              <a:gdLst>
                <a:gd name="txL" fmla="*/ 0 w 63"/>
                <a:gd name="txT" fmla="*/ 0 h 55"/>
                <a:gd name="txR" fmla="*/ 63 w 63"/>
                <a:gd name="txB" fmla="*/ 55 h 55"/>
              </a:gdLst>
              <a:ahLst/>
              <a:cxnLst>
                <a:cxn ang="0">
                  <a:pos x="0" y="0"/>
                </a:cxn>
                <a:cxn ang="0">
                  <a:pos x="8" y="24"/>
                </a:cxn>
                <a:cxn ang="0">
                  <a:pos x="23" y="40"/>
                </a:cxn>
                <a:cxn ang="0">
                  <a:pos x="39" y="55"/>
                </a:cxn>
                <a:cxn ang="0">
                  <a:pos x="63" y="55"/>
                </a:cxn>
                <a:cxn ang="0">
                  <a:pos x="63" y="55"/>
                </a:cxn>
                <a:cxn ang="0">
                  <a:pos x="39" y="55"/>
                </a:cxn>
                <a:cxn ang="0">
                  <a:pos x="23" y="40"/>
                </a:cxn>
                <a:cxn ang="0">
                  <a:pos x="8" y="2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" h="55">
                  <a:moveTo>
                    <a:pt x="0" y="0"/>
                  </a:moveTo>
                  <a:lnTo>
                    <a:pt x="8" y="24"/>
                  </a:lnTo>
                  <a:lnTo>
                    <a:pt x="23" y="40"/>
                  </a:lnTo>
                  <a:lnTo>
                    <a:pt x="39" y="55"/>
                  </a:lnTo>
                  <a:lnTo>
                    <a:pt x="63" y="55"/>
                  </a:lnTo>
                  <a:lnTo>
                    <a:pt x="39" y="55"/>
                  </a:lnTo>
                  <a:lnTo>
                    <a:pt x="23" y="40"/>
                  </a:lnTo>
                  <a:lnTo>
                    <a:pt x="8" y="2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5" name="Freeform 23"/>
            <p:cNvSpPr/>
            <p:nvPr/>
          </p:nvSpPr>
          <p:spPr>
            <a:xfrm>
              <a:off x="2348" y="121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6" name="Freeform 24"/>
            <p:cNvSpPr/>
            <p:nvPr/>
          </p:nvSpPr>
          <p:spPr>
            <a:xfrm>
              <a:off x="2277" y="2720"/>
              <a:ext cx="134" cy="95"/>
            </a:xfrm>
            <a:custGeom>
              <a:avLst/>
              <a:gdLst>
                <a:gd name="txL" fmla="*/ 0 w 134"/>
                <a:gd name="txT" fmla="*/ 0 h 95"/>
                <a:gd name="txR" fmla="*/ 134 w 134"/>
                <a:gd name="txB" fmla="*/ 95 h 95"/>
              </a:gdLst>
              <a:ahLst/>
              <a:cxnLst>
                <a:cxn ang="0">
                  <a:pos x="63" y="95"/>
                </a:cxn>
                <a:cxn ang="0">
                  <a:pos x="95" y="95"/>
                </a:cxn>
                <a:cxn ang="0">
                  <a:pos x="110" y="79"/>
                </a:cxn>
                <a:cxn ang="0">
                  <a:pos x="126" y="63"/>
                </a:cxn>
                <a:cxn ang="0">
                  <a:pos x="134" y="48"/>
                </a:cxn>
                <a:cxn ang="0">
                  <a:pos x="126" y="24"/>
                </a:cxn>
                <a:cxn ang="0">
                  <a:pos x="110" y="16"/>
                </a:cxn>
                <a:cxn ang="0">
                  <a:pos x="63" y="0"/>
                </a:cxn>
                <a:cxn ang="0">
                  <a:pos x="24" y="16"/>
                </a:cxn>
                <a:cxn ang="0">
                  <a:pos x="8" y="24"/>
                </a:cxn>
                <a:cxn ang="0">
                  <a:pos x="0" y="48"/>
                </a:cxn>
                <a:cxn ang="0">
                  <a:pos x="8" y="63"/>
                </a:cxn>
                <a:cxn ang="0">
                  <a:pos x="24" y="79"/>
                </a:cxn>
                <a:cxn ang="0">
                  <a:pos x="39" y="95"/>
                </a:cxn>
                <a:cxn ang="0">
                  <a:pos x="63" y="95"/>
                </a:cxn>
                <a:cxn ang="0">
                  <a:pos x="63" y="95"/>
                </a:cxn>
              </a:cxnLst>
              <a:rect l="txL" t="txT" r="txR" b="txB"/>
              <a:pathLst>
                <a:path w="134" h="95">
                  <a:moveTo>
                    <a:pt x="63" y="95"/>
                  </a:moveTo>
                  <a:lnTo>
                    <a:pt x="95" y="95"/>
                  </a:lnTo>
                  <a:lnTo>
                    <a:pt x="110" y="79"/>
                  </a:lnTo>
                  <a:lnTo>
                    <a:pt x="126" y="63"/>
                  </a:lnTo>
                  <a:lnTo>
                    <a:pt x="134" y="48"/>
                  </a:lnTo>
                  <a:lnTo>
                    <a:pt x="126" y="24"/>
                  </a:lnTo>
                  <a:lnTo>
                    <a:pt x="110" y="16"/>
                  </a:lnTo>
                  <a:lnTo>
                    <a:pt x="63" y="0"/>
                  </a:lnTo>
                  <a:lnTo>
                    <a:pt x="24" y="16"/>
                  </a:lnTo>
                  <a:lnTo>
                    <a:pt x="8" y="24"/>
                  </a:lnTo>
                  <a:lnTo>
                    <a:pt x="0" y="48"/>
                  </a:lnTo>
                  <a:lnTo>
                    <a:pt x="8" y="63"/>
                  </a:lnTo>
                  <a:lnTo>
                    <a:pt x="24" y="79"/>
                  </a:lnTo>
                  <a:lnTo>
                    <a:pt x="39" y="95"/>
                  </a:lnTo>
                  <a:lnTo>
                    <a:pt x="63" y="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7" name="Freeform 25"/>
            <p:cNvSpPr/>
            <p:nvPr/>
          </p:nvSpPr>
          <p:spPr>
            <a:xfrm>
              <a:off x="2340" y="2768"/>
              <a:ext cx="71" cy="47"/>
            </a:xfrm>
            <a:custGeom>
              <a:avLst/>
              <a:gdLst>
                <a:gd name="txL" fmla="*/ 0 w 71"/>
                <a:gd name="txT" fmla="*/ 0 h 47"/>
                <a:gd name="txR" fmla="*/ 71 w 71"/>
                <a:gd name="txB" fmla="*/ 47 h 47"/>
              </a:gdLst>
              <a:ahLst/>
              <a:cxnLst>
                <a:cxn ang="0">
                  <a:pos x="0" y="47"/>
                </a:cxn>
                <a:cxn ang="0">
                  <a:pos x="32" y="47"/>
                </a:cxn>
                <a:cxn ang="0">
                  <a:pos x="47" y="31"/>
                </a:cxn>
                <a:cxn ang="0">
                  <a:pos x="63" y="15"/>
                </a:cxn>
                <a:cxn ang="0">
                  <a:pos x="71" y="0"/>
                </a:cxn>
                <a:cxn ang="0">
                  <a:pos x="71" y="0"/>
                </a:cxn>
                <a:cxn ang="0">
                  <a:pos x="63" y="15"/>
                </a:cxn>
                <a:cxn ang="0">
                  <a:pos x="47" y="31"/>
                </a:cxn>
                <a:cxn ang="0">
                  <a:pos x="32" y="47"/>
                </a:cxn>
                <a:cxn ang="0">
                  <a:pos x="0" y="47"/>
                </a:cxn>
                <a:cxn ang="0">
                  <a:pos x="0" y="47"/>
                </a:cxn>
              </a:cxnLst>
              <a:rect l="txL" t="txT" r="txR" b="txB"/>
              <a:pathLst>
                <a:path w="71" h="47">
                  <a:moveTo>
                    <a:pt x="0" y="47"/>
                  </a:moveTo>
                  <a:lnTo>
                    <a:pt x="32" y="47"/>
                  </a:lnTo>
                  <a:lnTo>
                    <a:pt x="47" y="31"/>
                  </a:lnTo>
                  <a:lnTo>
                    <a:pt x="63" y="15"/>
                  </a:lnTo>
                  <a:lnTo>
                    <a:pt x="71" y="0"/>
                  </a:lnTo>
                  <a:lnTo>
                    <a:pt x="63" y="15"/>
                  </a:lnTo>
                  <a:lnTo>
                    <a:pt x="47" y="31"/>
                  </a:lnTo>
                  <a:lnTo>
                    <a:pt x="32" y="47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8" name="Freeform 26"/>
            <p:cNvSpPr>
              <a:spLocks noEditPoints="1"/>
            </p:cNvSpPr>
            <p:nvPr/>
          </p:nvSpPr>
          <p:spPr>
            <a:xfrm>
              <a:off x="2340" y="2720"/>
              <a:ext cx="71" cy="48"/>
            </a:xfrm>
            <a:custGeom>
              <a:avLst/>
              <a:gdLst>
                <a:gd name="txL" fmla="*/ 0 w 71"/>
                <a:gd name="txT" fmla="*/ 0 h 48"/>
                <a:gd name="txR" fmla="*/ 71 w 71"/>
                <a:gd name="txB" fmla="*/ 48 h 48"/>
              </a:gdLst>
              <a:ahLst/>
              <a:cxnLst>
                <a:cxn ang="0">
                  <a:pos x="71" y="48"/>
                </a:cxn>
                <a:cxn ang="0">
                  <a:pos x="63" y="24"/>
                </a:cxn>
                <a:cxn ang="0">
                  <a:pos x="47" y="1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7" y="16"/>
                </a:cxn>
                <a:cxn ang="0">
                  <a:pos x="63" y="24"/>
                </a:cxn>
                <a:cxn ang="0">
                  <a:pos x="71" y="48"/>
                </a:cxn>
                <a:cxn ang="0">
                  <a:pos x="71" y="48"/>
                </a:cxn>
                <a:cxn ang="0">
                  <a:pos x="71" y="48"/>
                </a:cxn>
                <a:cxn ang="0">
                  <a:pos x="71" y="48"/>
                </a:cxn>
                <a:cxn ang="0">
                  <a:pos x="71" y="48"/>
                </a:cxn>
              </a:cxnLst>
              <a:rect l="txL" t="txT" r="txR" b="txB"/>
              <a:pathLst>
                <a:path w="71" h="48">
                  <a:moveTo>
                    <a:pt x="71" y="48"/>
                  </a:moveTo>
                  <a:lnTo>
                    <a:pt x="63" y="24"/>
                  </a:lnTo>
                  <a:lnTo>
                    <a:pt x="47" y="16"/>
                  </a:lnTo>
                  <a:lnTo>
                    <a:pt x="0" y="0"/>
                  </a:lnTo>
                  <a:lnTo>
                    <a:pt x="47" y="16"/>
                  </a:lnTo>
                  <a:lnTo>
                    <a:pt x="63" y="24"/>
                  </a:lnTo>
                  <a:lnTo>
                    <a:pt x="71" y="48"/>
                  </a:lnTo>
                  <a:close/>
                  <a:moveTo>
                    <a:pt x="71" y="48"/>
                  </a:moveTo>
                  <a:lnTo>
                    <a:pt x="71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09" name="Freeform 27"/>
            <p:cNvSpPr>
              <a:spLocks noEditPoints="1"/>
            </p:cNvSpPr>
            <p:nvPr/>
          </p:nvSpPr>
          <p:spPr>
            <a:xfrm>
              <a:off x="2277" y="2720"/>
              <a:ext cx="63" cy="48"/>
            </a:xfrm>
            <a:custGeom>
              <a:avLst/>
              <a:gdLst>
                <a:gd name="txL" fmla="*/ 0 w 63"/>
                <a:gd name="txT" fmla="*/ 0 h 48"/>
                <a:gd name="txR" fmla="*/ 63 w 63"/>
                <a:gd name="txB" fmla="*/ 48 h 48"/>
              </a:gdLst>
              <a:ahLst/>
              <a:cxnLst>
                <a:cxn ang="0">
                  <a:pos x="63" y="0"/>
                </a:cxn>
                <a:cxn ang="0">
                  <a:pos x="24" y="16"/>
                </a:cxn>
                <a:cxn ang="0">
                  <a:pos x="8" y="24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8" y="24"/>
                </a:cxn>
                <a:cxn ang="0">
                  <a:pos x="24" y="16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</a:cxnLst>
              <a:rect l="txL" t="txT" r="txR" b="txB"/>
              <a:pathLst>
                <a:path w="63" h="48">
                  <a:moveTo>
                    <a:pt x="63" y="0"/>
                  </a:moveTo>
                  <a:lnTo>
                    <a:pt x="24" y="16"/>
                  </a:lnTo>
                  <a:lnTo>
                    <a:pt x="8" y="24"/>
                  </a:lnTo>
                  <a:lnTo>
                    <a:pt x="0" y="48"/>
                  </a:lnTo>
                  <a:lnTo>
                    <a:pt x="8" y="24"/>
                  </a:lnTo>
                  <a:lnTo>
                    <a:pt x="24" y="16"/>
                  </a:lnTo>
                  <a:lnTo>
                    <a:pt x="63" y="0"/>
                  </a:lnTo>
                  <a:close/>
                  <a:moveTo>
                    <a:pt x="63" y="0"/>
                  </a:moveTo>
                  <a:lnTo>
                    <a:pt x="6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0" name="Freeform 28"/>
            <p:cNvSpPr>
              <a:spLocks noEditPoints="1"/>
            </p:cNvSpPr>
            <p:nvPr/>
          </p:nvSpPr>
          <p:spPr>
            <a:xfrm>
              <a:off x="2277" y="2768"/>
              <a:ext cx="63" cy="47"/>
            </a:xfrm>
            <a:custGeom>
              <a:avLst/>
              <a:gdLst>
                <a:gd name="txL" fmla="*/ 0 w 63"/>
                <a:gd name="txT" fmla="*/ 0 h 47"/>
                <a:gd name="txR" fmla="*/ 63 w 63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8" y="15"/>
                </a:cxn>
                <a:cxn ang="0">
                  <a:pos x="24" y="31"/>
                </a:cxn>
                <a:cxn ang="0">
                  <a:pos x="39" y="47"/>
                </a:cxn>
                <a:cxn ang="0">
                  <a:pos x="63" y="47"/>
                </a:cxn>
                <a:cxn ang="0">
                  <a:pos x="63" y="47"/>
                </a:cxn>
                <a:cxn ang="0">
                  <a:pos x="39" y="47"/>
                </a:cxn>
                <a:cxn ang="0">
                  <a:pos x="24" y="31"/>
                </a:cxn>
                <a:cxn ang="0">
                  <a:pos x="8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" h="47">
                  <a:moveTo>
                    <a:pt x="0" y="0"/>
                  </a:moveTo>
                  <a:lnTo>
                    <a:pt x="8" y="15"/>
                  </a:lnTo>
                  <a:lnTo>
                    <a:pt x="24" y="31"/>
                  </a:lnTo>
                  <a:lnTo>
                    <a:pt x="39" y="47"/>
                  </a:lnTo>
                  <a:lnTo>
                    <a:pt x="63" y="47"/>
                  </a:lnTo>
                  <a:lnTo>
                    <a:pt x="39" y="47"/>
                  </a:lnTo>
                  <a:lnTo>
                    <a:pt x="24" y="31"/>
                  </a:lnTo>
                  <a:lnTo>
                    <a:pt x="8" y="1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1" name="Freeform 29"/>
            <p:cNvSpPr/>
            <p:nvPr/>
          </p:nvSpPr>
          <p:spPr>
            <a:xfrm>
              <a:off x="2340" y="281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2" name="Freeform 30"/>
            <p:cNvSpPr/>
            <p:nvPr/>
          </p:nvSpPr>
          <p:spPr>
            <a:xfrm>
              <a:off x="1259" y="1649"/>
              <a:ext cx="308" cy="638"/>
            </a:xfrm>
            <a:custGeom>
              <a:avLst/>
              <a:gdLst>
                <a:gd name="txL" fmla="*/ 0 w 308"/>
                <a:gd name="txT" fmla="*/ 0 h 638"/>
                <a:gd name="txR" fmla="*/ 308 w 308"/>
                <a:gd name="txB" fmla="*/ 638 h 638"/>
              </a:gdLst>
              <a:ahLst/>
              <a:cxnLst>
                <a:cxn ang="0">
                  <a:pos x="308" y="638"/>
                </a:cxn>
                <a:cxn ang="0">
                  <a:pos x="308" y="0"/>
                </a:cxn>
                <a:cxn ang="0">
                  <a:pos x="0" y="0"/>
                </a:cxn>
                <a:cxn ang="0">
                  <a:pos x="0" y="638"/>
                </a:cxn>
                <a:cxn ang="0">
                  <a:pos x="308" y="638"/>
                </a:cxn>
                <a:cxn ang="0">
                  <a:pos x="308" y="638"/>
                </a:cxn>
              </a:cxnLst>
              <a:rect l="txL" t="txT" r="txR" b="txB"/>
              <a:pathLst>
                <a:path w="308" h="638">
                  <a:moveTo>
                    <a:pt x="308" y="638"/>
                  </a:moveTo>
                  <a:lnTo>
                    <a:pt x="308" y="0"/>
                  </a:lnTo>
                  <a:lnTo>
                    <a:pt x="0" y="0"/>
                  </a:lnTo>
                  <a:lnTo>
                    <a:pt x="0" y="638"/>
                  </a:lnTo>
                  <a:lnTo>
                    <a:pt x="308" y="63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3" name="Freeform 31"/>
            <p:cNvSpPr/>
            <p:nvPr/>
          </p:nvSpPr>
          <p:spPr>
            <a:xfrm>
              <a:off x="1567" y="1649"/>
              <a:ext cx="1" cy="638"/>
            </a:xfrm>
            <a:custGeom>
              <a:avLst/>
              <a:gdLst>
                <a:gd name="txL" fmla="*/ 0 w 1"/>
                <a:gd name="txT" fmla="*/ 0 h 638"/>
                <a:gd name="txR" fmla="*/ 1 w 1"/>
                <a:gd name="txB" fmla="*/ 638 h 638"/>
              </a:gdLst>
              <a:ahLst/>
              <a:cxnLst>
                <a:cxn ang="0">
                  <a:pos x="0" y="638"/>
                </a:cxn>
                <a:cxn ang="0">
                  <a:pos x="0" y="0"/>
                </a:cxn>
                <a:cxn ang="0">
                  <a:pos x="0" y="638"/>
                </a:cxn>
                <a:cxn ang="0">
                  <a:pos x="0" y="638"/>
                </a:cxn>
              </a:cxnLst>
              <a:rect l="txL" t="txT" r="txR" b="txB"/>
              <a:pathLst>
                <a:path w="1" h="638">
                  <a:moveTo>
                    <a:pt x="0" y="638"/>
                  </a:moveTo>
                  <a:lnTo>
                    <a:pt x="0" y="0"/>
                  </a:lnTo>
                  <a:lnTo>
                    <a:pt x="0" y="6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4" name="Freeform 32"/>
            <p:cNvSpPr>
              <a:spLocks noEditPoints="1"/>
            </p:cNvSpPr>
            <p:nvPr/>
          </p:nvSpPr>
          <p:spPr>
            <a:xfrm>
              <a:off x="1259" y="1649"/>
              <a:ext cx="308" cy="1"/>
            </a:xfrm>
            <a:custGeom>
              <a:avLst/>
              <a:gdLst>
                <a:gd name="txL" fmla="*/ 0 w 308"/>
                <a:gd name="txT" fmla="*/ 0 h 1"/>
                <a:gd name="txR" fmla="*/ 308 w 308"/>
                <a:gd name="txB" fmla="*/ 1 h 1"/>
              </a:gdLst>
              <a:ahLst/>
              <a:cxnLst>
                <a:cxn ang="0">
                  <a:pos x="308" y="0"/>
                </a:cxn>
                <a:cxn ang="0">
                  <a:pos x="0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  <a:cxn ang="0">
                  <a:pos x="308" y="0"/>
                </a:cxn>
              </a:cxnLst>
              <a:rect l="txL" t="txT" r="txR" b="txB"/>
              <a:pathLst>
                <a:path w="308" h="1">
                  <a:moveTo>
                    <a:pt x="308" y="0"/>
                  </a:moveTo>
                  <a:lnTo>
                    <a:pt x="0" y="0"/>
                  </a:lnTo>
                  <a:lnTo>
                    <a:pt x="308" y="0"/>
                  </a:lnTo>
                  <a:close/>
                  <a:moveTo>
                    <a:pt x="308" y="0"/>
                  </a:moveTo>
                  <a:lnTo>
                    <a:pt x="30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5" name="Freeform 33"/>
            <p:cNvSpPr>
              <a:spLocks noEditPoints="1"/>
            </p:cNvSpPr>
            <p:nvPr/>
          </p:nvSpPr>
          <p:spPr>
            <a:xfrm>
              <a:off x="1259" y="1649"/>
              <a:ext cx="1" cy="638"/>
            </a:xfrm>
            <a:custGeom>
              <a:avLst/>
              <a:gdLst>
                <a:gd name="txL" fmla="*/ 0 w 1"/>
                <a:gd name="txT" fmla="*/ 0 h 638"/>
                <a:gd name="txR" fmla="*/ 1 w 1"/>
                <a:gd name="txB" fmla="*/ 638 h 638"/>
              </a:gdLst>
              <a:ahLst/>
              <a:cxnLst>
                <a:cxn ang="0">
                  <a:pos x="0" y="0"/>
                </a:cxn>
                <a:cxn ang="0">
                  <a:pos x="0" y="63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638">
                  <a:moveTo>
                    <a:pt x="0" y="0"/>
                  </a:moveTo>
                  <a:lnTo>
                    <a:pt x="0" y="63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6" name="Freeform 34"/>
            <p:cNvSpPr>
              <a:spLocks noEditPoints="1"/>
            </p:cNvSpPr>
            <p:nvPr/>
          </p:nvSpPr>
          <p:spPr>
            <a:xfrm>
              <a:off x="1259" y="2287"/>
              <a:ext cx="308" cy="1"/>
            </a:xfrm>
            <a:custGeom>
              <a:avLst/>
              <a:gdLst>
                <a:gd name="txL" fmla="*/ 0 w 308"/>
                <a:gd name="txT" fmla="*/ 0 h 1"/>
                <a:gd name="txR" fmla="*/ 308 w 30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08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08" h="1">
                  <a:moveTo>
                    <a:pt x="0" y="0"/>
                  </a:moveTo>
                  <a:lnTo>
                    <a:pt x="308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7" name="Freeform 35"/>
            <p:cNvSpPr/>
            <p:nvPr/>
          </p:nvSpPr>
          <p:spPr>
            <a:xfrm>
              <a:off x="1567" y="228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8" name="Freeform 36"/>
            <p:cNvSpPr>
              <a:spLocks noEditPoints="1"/>
            </p:cNvSpPr>
            <p:nvPr/>
          </p:nvSpPr>
          <p:spPr>
            <a:xfrm>
              <a:off x="3516" y="2980"/>
              <a:ext cx="157" cy="142"/>
            </a:xfrm>
            <a:custGeom>
              <a:avLst/>
              <a:gdLst>
                <a:gd name="txL" fmla="*/ 0 w 157"/>
                <a:gd name="txT" fmla="*/ 0 h 142"/>
                <a:gd name="txR" fmla="*/ 157 w 157"/>
                <a:gd name="txB" fmla="*/ 142 h 142"/>
              </a:gdLst>
              <a:ahLst/>
              <a:cxnLst>
                <a:cxn ang="0">
                  <a:pos x="134" y="24"/>
                </a:cxn>
                <a:cxn ang="0">
                  <a:pos x="126" y="48"/>
                </a:cxn>
                <a:cxn ang="0">
                  <a:pos x="118" y="71"/>
                </a:cxn>
                <a:cxn ang="0">
                  <a:pos x="94" y="87"/>
                </a:cxn>
                <a:cxn ang="0">
                  <a:pos x="71" y="95"/>
                </a:cxn>
                <a:cxn ang="0">
                  <a:pos x="63" y="95"/>
                </a:cxn>
                <a:cxn ang="0">
                  <a:pos x="55" y="87"/>
                </a:cxn>
                <a:cxn ang="0">
                  <a:pos x="55" y="79"/>
                </a:cxn>
                <a:cxn ang="0">
                  <a:pos x="63" y="63"/>
                </a:cxn>
                <a:cxn ang="0">
                  <a:pos x="79" y="32"/>
                </a:cxn>
                <a:cxn ang="0">
                  <a:pos x="94" y="16"/>
                </a:cxn>
                <a:cxn ang="0">
                  <a:pos x="118" y="8"/>
                </a:cxn>
                <a:cxn ang="0">
                  <a:pos x="134" y="16"/>
                </a:cxn>
                <a:cxn ang="0">
                  <a:pos x="134" y="24"/>
                </a:cxn>
                <a:cxn ang="0">
                  <a:pos x="134" y="24"/>
                </a:cxn>
                <a:cxn ang="0">
                  <a:pos x="39" y="8"/>
                </a:cxn>
                <a:cxn ang="0">
                  <a:pos x="47" y="8"/>
                </a:cxn>
                <a:cxn ang="0">
                  <a:pos x="55" y="8"/>
                </a:cxn>
                <a:cxn ang="0">
                  <a:pos x="63" y="16"/>
                </a:cxn>
                <a:cxn ang="0">
                  <a:pos x="63" y="24"/>
                </a:cxn>
                <a:cxn ang="0">
                  <a:pos x="55" y="32"/>
                </a:cxn>
                <a:cxn ang="0">
                  <a:pos x="47" y="63"/>
                </a:cxn>
                <a:cxn ang="0">
                  <a:pos x="31" y="103"/>
                </a:cxn>
                <a:cxn ang="0">
                  <a:pos x="23" y="126"/>
                </a:cxn>
                <a:cxn ang="0">
                  <a:pos x="15" y="134"/>
                </a:cxn>
                <a:cxn ang="0">
                  <a:pos x="0" y="134"/>
                </a:cxn>
                <a:cxn ang="0">
                  <a:pos x="0" y="142"/>
                </a:cxn>
                <a:cxn ang="0">
                  <a:pos x="63" y="142"/>
                </a:cxn>
                <a:cxn ang="0">
                  <a:pos x="63" y="134"/>
                </a:cxn>
                <a:cxn ang="0">
                  <a:pos x="55" y="134"/>
                </a:cxn>
                <a:cxn ang="0">
                  <a:pos x="47" y="126"/>
                </a:cxn>
                <a:cxn ang="0">
                  <a:pos x="47" y="126"/>
                </a:cxn>
                <a:cxn ang="0">
                  <a:pos x="55" y="111"/>
                </a:cxn>
                <a:cxn ang="0">
                  <a:pos x="55" y="95"/>
                </a:cxn>
                <a:cxn ang="0">
                  <a:pos x="63" y="95"/>
                </a:cxn>
                <a:cxn ang="0">
                  <a:pos x="71" y="95"/>
                </a:cxn>
                <a:cxn ang="0">
                  <a:pos x="102" y="87"/>
                </a:cxn>
                <a:cxn ang="0">
                  <a:pos x="126" y="71"/>
                </a:cxn>
                <a:cxn ang="0">
                  <a:pos x="150" y="56"/>
                </a:cxn>
                <a:cxn ang="0">
                  <a:pos x="157" y="24"/>
                </a:cxn>
                <a:cxn ang="0">
                  <a:pos x="150" y="8"/>
                </a:cxn>
                <a:cxn ang="0">
                  <a:pos x="126" y="0"/>
                </a:cxn>
                <a:cxn ang="0">
                  <a:pos x="94" y="8"/>
                </a:cxn>
                <a:cxn ang="0">
                  <a:pos x="79" y="24"/>
                </a:cxn>
                <a:cxn ang="0">
                  <a:pos x="79" y="24"/>
                </a:cxn>
                <a:cxn ang="0">
                  <a:pos x="86" y="0"/>
                </a:cxn>
                <a:cxn ang="0">
                  <a:pos x="86" y="0"/>
                </a:cxn>
                <a:cxn ang="0">
                  <a:pos x="39" y="0"/>
                </a:cxn>
                <a:cxn ang="0">
                  <a:pos x="39" y="8"/>
                </a:cxn>
              </a:cxnLst>
              <a:rect l="txL" t="txT" r="txR" b="txB"/>
              <a:pathLst>
                <a:path w="157" h="142">
                  <a:moveTo>
                    <a:pt x="134" y="24"/>
                  </a:moveTo>
                  <a:lnTo>
                    <a:pt x="126" y="48"/>
                  </a:lnTo>
                  <a:lnTo>
                    <a:pt x="118" y="71"/>
                  </a:lnTo>
                  <a:lnTo>
                    <a:pt x="94" y="87"/>
                  </a:lnTo>
                  <a:lnTo>
                    <a:pt x="71" y="95"/>
                  </a:lnTo>
                  <a:lnTo>
                    <a:pt x="63" y="95"/>
                  </a:lnTo>
                  <a:lnTo>
                    <a:pt x="55" y="87"/>
                  </a:lnTo>
                  <a:lnTo>
                    <a:pt x="55" y="79"/>
                  </a:lnTo>
                  <a:lnTo>
                    <a:pt x="63" y="63"/>
                  </a:lnTo>
                  <a:lnTo>
                    <a:pt x="79" y="32"/>
                  </a:lnTo>
                  <a:lnTo>
                    <a:pt x="94" y="16"/>
                  </a:lnTo>
                  <a:lnTo>
                    <a:pt x="118" y="8"/>
                  </a:lnTo>
                  <a:lnTo>
                    <a:pt x="134" y="16"/>
                  </a:lnTo>
                  <a:lnTo>
                    <a:pt x="134" y="24"/>
                  </a:lnTo>
                  <a:close/>
                  <a:moveTo>
                    <a:pt x="39" y="8"/>
                  </a:moveTo>
                  <a:lnTo>
                    <a:pt x="47" y="8"/>
                  </a:lnTo>
                  <a:lnTo>
                    <a:pt x="55" y="8"/>
                  </a:lnTo>
                  <a:lnTo>
                    <a:pt x="63" y="16"/>
                  </a:lnTo>
                  <a:lnTo>
                    <a:pt x="63" y="24"/>
                  </a:lnTo>
                  <a:lnTo>
                    <a:pt x="55" y="32"/>
                  </a:lnTo>
                  <a:lnTo>
                    <a:pt x="47" y="63"/>
                  </a:lnTo>
                  <a:lnTo>
                    <a:pt x="31" y="103"/>
                  </a:lnTo>
                  <a:lnTo>
                    <a:pt x="23" y="126"/>
                  </a:lnTo>
                  <a:lnTo>
                    <a:pt x="15" y="134"/>
                  </a:lnTo>
                  <a:lnTo>
                    <a:pt x="0" y="134"/>
                  </a:lnTo>
                  <a:lnTo>
                    <a:pt x="0" y="142"/>
                  </a:lnTo>
                  <a:lnTo>
                    <a:pt x="63" y="142"/>
                  </a:lnTo>
                  <a:lnTo>
                    <a:pt x="63" y="134"/>
                  </a:lnTo>
                  <a:lnTo>
                    <a:pt x="55" y="134"/>
                  </a:lnTo>
                  <a:lnTo>
                    <a:pt x="47" y="126"/>
                  </a:lnTo>
                  <a:lnTo>
                    <a:pt x="55" y="111"/>
                  </a:lnTo>
                  <a:lnTo>
                    <a:pt x="55" y="95"/>
                  </a:lnTo>
                  <a:lnTo>
                    <a:pt x="63" y="95"/>
                  </a:lnTo>
                  <a:lnTo>
                    <a:pt x="71" y="95"/>
                  </a:lnTo>
                  <a:lnTo>
                    <a:pt x="102" y="87"/>
                  </a:lnTo>
                  <a:lnTo>
                    <a:pt x="126" y="71"/>
                  </a:lnTo>
                  <a:lnTo>
                    <a:pt x="150" y="56"/>
                  </a:lnTo>
                  <a:lnTo>
                    <a:pt x="157" y="24"/>
                  </a:lnTo>
                  <a:lnTo>
                    <a:pt x="150" y="8"/>
                  </a:lnTo>
                  <a:lnTo>
                    <a:pt x="126" y="0"/>
                  </a:lnTo>
                  <a:lnTo>
                    <a:pt x="94" y="8"/>
                  </a:lnTo>
                  <a:lnTo>
                    <a:pt x="79" y="24"/>
                  </a:lnTo>
                  <a:lnTo>
                    <a:pt x="86" y="0"/>
                  </a:lnTo>
                  <a:lnTo>
                    <a:pt x="39" y="0"/>
                  </a:lnTo>
                  <a:lnTo>
                    <a:pt x="39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19" name="Freeform 37"/>
            <p:cNvSpPr>
              <a:spLocks noEditPoints="1"/>
            </p:cNvSpPr>
            <p:nvPr/>
          </p:nvSpPr>
          <p:spPr>
            <a:xfrm>
              <a:off x="3768" y="2988"/>
              <a:ext cx="142" cy="63"/>
            </a:xfrm>
            <a:custGeom>
              <a:avLst/>
              <a:gdLst>
                <a:gd name="txL" fmla="*/ 0 w 142"/>
                <a:gd name="txT" fmla="*/ 0 h 63"/>
                <a:gd name="txR" fmla="*/ 142 w 142"/>
                <a:gd name="txB" fmla="*/ 63 h 63"/>
              </a:gdLst>
              <a:ahLst/>
              <a:cxnLst>
                <a:cxn ang="0">
                  <a:pos x="142" y="0"/>
                </a:cxn>
                <a:cxn ang="0">
                  <a:pos x="0" y="0"/>
                </a:cxn>
                <a:cxn ang="0">
                  <a:pos x="0" y="16"/>
                </a:cxn>
                <a:cxn ang="0">
                  <a:pos x="142" y="16"/>
                </a:cxn>
                <a:cxn ang="0">
                  <a:pos x="142" y="0"/>
                </a:cxn>
                <a:cxn ang="0">
                  <a:pos x="142" y="48"/>
                </a:cxn>
                <a:cxn ang="0">
                  <a:pos x="0" y="48"/>
                </a:cxn>
                <a:cxn ang="0">
                  <a:pos x="0" y="63"/>
                </a:cxn>
                <a:cxn ang="0">
                  <a:pos x="142" y="63"/>
                </a:cxn>
                <a:cxn ang="0">
                  <a:pos x="142" y="48"/>
                </a:cxn>
              </a:cxnLst>
              <a:rect l="txL" t="txT" r="txR" b="txB"/>
              <a:pathLst>
                <a:path w="142" h="63">
                  <a:moveTo>
                    <a:pt x="142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142" y="16"/>
                  </a:lnTo>
                  <a:lnTo>
                    <a:pt x="142" y="0"/>
                  </a:lnTo>
                  <a:close/>
                  <a:moveTo>
                    <a:pt x="142" y="48"/>
                  </a:moveTo>
                  <a:lnTo>
                    <a:pt x="0" y="48"/>
                  </a:lnTo>
                  <a:lnTo>
                    <a:pt x="0" y="63"/>
                  </a:lnTo>
                  <a:lnTo>
                    <a:pt x="142" y="63"/>
                  </a:lnTo>
                  <a:lnTo>
                    <a:pt x="142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0" name="Rectangle 38"/>
            <p:cNvSpPr/>
            <p:nvPr/>
          </p:nvSpPr>
          <p:spPr>
            <a:xfrm>
              <a:off x="3997" y="3012"/>
              <a:ext cx="150" cy="16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46121" name="Freeform 39"/>
            <p:cNvSpPr/>
            <p:nvPr/>
          </p:nvSpPr>
          <p:spPr>
            <a:xfrm>
              <a:off x="4155" y="2988"/>
              <a:ext cx="110" cy="95"/>
            </a:xfrm>
            <a:custGeom>
              <a:avLst/>
              <a:gdLst>
                <a:gd name="txL" fmla="*/ 0 w 110"/>
                <a:gd name="txT" fmla="*/ 0 h 95"/>
                <a:gd name="txR" fmla="*/ 110 w 110"/>
                <a:gd name="txB" fmla="*/ 95 h 95"/>
              </a:gdLst>
              <a:ahLst/>
              <a:cxnLst>
                <a:cxn ang="0">
                  <a:pos x="0" y="8"/>
                </a:cxn>
                <a:cxn ang="0">
                  <a:pos x="16" y="8"/>
                </a:cxn>
                <a:cxn ang="0">
                  <a:pos x="23" y="24"/>
                </a:cxn>
                <a:cxn ang="0">
                  <a:pos x="31" y="55"/>
                </a:cxn>
                <a:cxn ang="0">
                  <a:pos x="31" y="87"/>
                </a:cxn>
                <a:cxn ang="0">
                  <a:pos x="31" y="95"/>
                </a:cxn>
                <a:cxn ang="0">
                  <a:pos x="31" y="95"/>
                </a:cxn>
                <a:cxn ang="0">
                  <a:pos x="39" y="87"/>
                </a:cxn>
                <a:cxn ang="0">
                  <a:pos x="47" y="79"/>
                </a:cxn>
                <a:cxn ang="0">
                  <a:pos x="63" y="71"/>
                </a:cxn>
                <a:cxn ang="0">
                  <a:pos x="71" y="63"/>
                </a:cxn>
                <a:cxn ang="0">
                  <a:pos x="87" y="48"/>
                </a:cxn>
                <a:cxn ang="0">
                  <a:pos x="102" y="24"/>
                </a:cxn>
                <a:cxn ang="0">
                  <a:pos x="110" y="8"/>
                </a:cxn>
                <a:cxn ang="0">
                  <a:pos x="102" y="0"/>
                </a:cxn>
                <a:cxn ang="0">
                  <a:pos x="95" y="0"/>
                </a:cxn>
                <a:cxn ang="0">
                  <a:pos x="87" y="0"/>
                </a:cxn>
                <a:cxn ang="0">
                  <a:pos x="79" y="8"/>
                </a:cxn>
                <a:cxn ang="0">
                  <a:pos x="87" y="16"/>
                </a:cxn>
                <a:cxn ang="0">
                  <a:pos x="95" y="24"/>
                </a:cxn>
                <a:cxn ang="0">
                  <a:pos x="95" y="32"/>
                </a:cxn>
                <a:cxn ang="0">
                  <a:pos x="79" y="48"/>
                </a:cxn>
                <a:cxn ang="0">
                  <a:pos x="55" y="63"/>
                </a:cxn>
                <a:cxn ang="0">
                  <a:pos x="47" y="71"/>
                </a:cxn>
                <a:cxn ang="0">
                  <a:pos x="47" y="40"/>
                </a:cxn>
                <a:cxn ang="0">
                  <a:pos x="39" y="0"/>
                </a:cxn>
                <a:cxn ang="0">
                  <a:pos x="31" y="0"/>
                </a:cxn>
                <a:cxn ang="0">
                  <a:pos x="31" y="0"/>
                </a:cxn>
                <a:cxn ang="0">
                  <a:pos x="23" y="0"/>
                </a:cxn>
                <a:cxn ang="0">
                  <a:pos x="0" y="0"/>
                </a:cxn>
                <a:cxn ang="0">
                  <a:pos x="0" y="8"/>
                </a:cxn>
              </a:cxnLst>
              <a:rect l="txL" t="txT" r="txR" b="txB"/>
              <a:pathLst>
                <a:path w="110" h="95">
                  <a:moveTo>
                    <a:pt x="0" y="8"/>
                  </a:moveTo>
                  <a:lnTo>
                    <a:pt x="16" y="8"/>
                  </a:lnTo>
                  <a:lnTo>
                    <a:pt x="23" y="24"/>
                  </a:lnTo>
                  <a:lnTo>
                    <a:pt x="31" y="55"/>
                  </a:lnTo>
                  <a:lnTo>
                    <a:pt x="31" y="87"/>
                  </a:lnTo>
                  <a:lnTo>
                    <a:pt x="31" y="95"/>
                  </a:lnTo>
                  <a:lnTo>
                    <a:pt x="39" y="87"/>
                  </a:lnTo>
                  <a:lnTo>
                    <a:pt x="47" y="79"/>
                  </a:lnTo>
                  <a:lnTo>
                    <a:pt x="63" y="71"/>
                  </a:lnTo>
                  <a:lnTo>
                    <a:pt x="71" y="63"/>
                  </a:lnTo>
                  <a:lnTo>
                    <a:pt x="87" y="48"/>
                  </a:lnTo>
                  <a:lnTo>
                    <a:pt x="102" y="24"/>
                  </a:lnTo>
                  <a:lnTo>
                    <a:pt x="110" y="8"/>
                  </a:lnTo>
                  <a:lnTo>
                    <a:pt x="102" y="0"/>
                  </a:lnTo>
                  <a:lnTo>
                    <a:pt x="95" y="0"/>
                  </a:lnTo>
                  <a:lnTo>
                    <a:pt x="87" y="0"/>
                  </a:lnTo>
                  <a:lnTo>
                    <a:pt x="79" y="8"/>
                  </a:lnTo>
                  <a:lnTo>
                    <a:pt x="87" y="16"/>
                  </a:lnTo>
                  <a:lnTo>
                    <a:pt x="95" y="24"/>
                  </a:lnTo>
                  <a:lnTo>
                    <a:pt x="95" y="32"/>
                  </a:lnTo>
                  <a:lnTo>
                    <a:pt x="79" y="48"/>
                  </a:lnTo>
                  <a:lnTo>
                    <a:pt x="55" y="63"/>
                  </a:lnTo>
                  <a:lnTo>
                    <a:pt x="47" y="71"/>
                  </a:lnTo>
                  <a:lnTo>
                    <a:pt x="47" y="40"/>
                  </a:lnTo>
                  <a:lnTo>
                    <a:pt x="39" y="0"/>
                  </a:lnTo>
                  <a:lnTo>
                    <a:pt x="31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2" name="Freeform 40"/>
            <p:cNvSpPr>
              <a:spLocks noEditPoints="1"/>
            </p:cNvSpPr>
            <p:nvPr/>
          </p:nvSpPr>
          <p:spPr>
            <a:xfrm>
              <a:off x="4281" y="2933"/>
              <a:ext cx="63" cy="142"/>
            </a:xfrm>
            <a:custGeom>
              <a:avLst/>
              <a:gdLst>
                <a:gd name="txL" fmla="*/ 0 w 63"/>
                <a:gd name="txT" fmla="*/ 0 h 142"/>
                <a:gd name="txR" fmla="*/ 63 w 63"/>
                <a:gd name="txB" fmla="*/ 142 h 142"/>
              </a:gdLst>
              <a:ahLst/>
              <a:cxnLst>
                <a:cxn ang="0">
                  <a:pos x="55" y="118"/>
                </a:cxn>
                <a:cxn ang="0">
                  <a:pos x="40" y="126"/>
                </a:cxn>
                <a:cxn ang="0">
                  <a:pos x="32" y="134"/>
                </a:cxn>
                <a:cxn ang="0">
                  <a:pos x="24" y="134"/>
                </a:cxn>
                <a:cxn ang="0">
                  <a:pos x="24" y="134"/>
                </a:cxn>
                <a:cxn ang="0">
                  <a:pos x="32" y="126"/>
                </a:cxn>
                <a:cxn ang="0">
                  <a:pos x="32" y="118"/>
                </a:cxn>
                <a:cxn ang="0">
                  <a:pos x="55" y="47"/>
                </a:cxn>
                <a:cxn ang="0">
                  <a:pos x="55" y="47"/>
                </a:cxn>
                <a:cxn ang="0">
                  <a:pos x="32" y="47"/>
                </a:cxn>
                <a:cxn ang="0">
                  <a:pos x="8" y="55"/>
                </a:cxn>
                <a:cxn ang="0">
                  <a:pos x="8" y="55"/>
                </a:cxn>
                <a:cxn ang="0">
                  <a:pos x="24" y="55"/>
                </a:cxn>
                <a:cxn ang="0">
                  <a:pos x="24" y="63"/>
                </a:cxn>
                <a:cxn ang="0">
                  <a:pos x="24" y="71"/>
                </a:cxn>
                <a:cxn ang="0">
                  <a:pos x="16" y="95"/>
                </a:cxn>
                <a:cxn ang="0">
                  <a:pos x="8" y="118"/>
                </a:cxn>
                <a:cxn ang="0">
                  <a:pos x="0" y="134"/>
                </a:cxn>
                <a:cxn ang="0">
                  <a:pos x="0" y="142"/>
                </a:cxn>
                <a:cxn ang="0">
                  <a:pos x="16" y="142"/>
                </a:cxn>
                <a:cxn ang="0">
                  <a:pos x="40" y="134"/>
                </a:cxn>
                <a:cxn ang="0">
                  <a:pos x="55" y="118"/>
                </a:cxn>
                <a:cxn ang="0">
                  <a:pos x="55" y="118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40" y="8"/>
                </a:cxn>
                <a:cxn ang="0">
                  <a:pos x="47" y="16"/>
                </a:cxn>
                <a:cxn ang="0">
                  <a:pos x="47" y="24"/>
                </a:cxn>
                <a:cxn ang="0">
                  <a:pos x="63" y="16"/>
                </a:cxn>
                <a:cxn ang="0">
                  <a:pos x="63" y="8"/>
                </a:cxn>
                <a:cxn ang="0">
                  <a:pos x="63" y="8"/>
                </a:cxn>
              </a:cxnLst>
              <a:rect l="txL" t="txT" r="txR" b="txB"/>
              <a:pathLst>
                <a:path w="63" h="142">
                  <a:moveTo>
                    <a:pt x="55" y="118"/>
                  </a:moveTo>
                  <a:lnTo>
                    <a:pt x="40" y="126"/>
                  </a:lnTo>
                  <a:lnTo>
                    <a:pt x="32" y="134"/>
                  </a:lnTo>
                  <a:lnTo>
                    <a:pt x="24" y="134"/>
                  </a:lnTo>
                  <a:lnTo>
                    <a:pt x="32" y="126"/>
                  </a:lnTo>
                  <a:lnTo>
                    <a:pt x="32" y="118"/>
                  </a:lnTo>
                  <a:lnTo>
                    <a:pt x="55" y="47"/>
                  </a:lnTo>
                  <a:lnTo>
                    <a:pt x="32" y="47"/>
                  </a:lnTo>
                  <a:lnTo>
                    <a:pt x="8" y="55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1"/>
                  </a:lnTo>
                  <a:lnTo>
                    <a:pt x="16" y="95"/>
                  </a:lnTo>
                  <a:lnTo>
                    <a:pt x="8" y="118"/>
                  </a:lnTo>
                  <a:lnTo>
                    <a:pt x="0" y="134"/>
                  </a:lnTo>
                  <a:lnTo>
                    <a:pt x="0" y="142"/>
                  </a:lnTo>
                  <a:lnTo>
                    <a:pt x="16" y="142"/>
                  </a:lnTo>
                  <a:lnTo>
                    <a:pt x="40" y="134"/>
                  </a:lnTo>
                  <a:lnTo>
                    <a:pt x="55" y="118"/>
                  </a:lnTo>
                  <a:close/>
                  <a:moveTo>
                    <a:pt x="63" y="8"/>
                  </a:moveTo>
                  <a:lnTo>
                    <a:pt x="63" y="8"/>
                  </a:lnTo>
                  <a:lnTo>
                    <a:pt x="47" y="0"/>
                  </a:lnTo>
                  <a:lnTo>
                    <a:pt x="40" y="8"/>
                  </a:lnTo>
                  <a:lnTo>
                    <a:pt x="47" y="16"/>
                  </a:lnTo>
                  <a:lnTo>
                    <a:pt x="47" y="24"/>
                  </a:lnTo>
                  <a:lnTo>
                    <a:pt x="63" y="16"/>
                  </a:lnTo>
                  <a:lnTo>
                    <a:pt x="63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3" name="Freeform 41"/>
            <p:cNvSpPr/>
            <p:nvPr/>
          </p:nvSpPr>
          <p:spPr>
            <a:xfrm>
              <a:off x="3729" y="3398"/>
              <a:ext cx="71" cy="181"/>
            </a:xfrm>
            <a:custGeom>
              <a:avLst/>
              <a:gdLst>
                <a:gd name="txL" fmla="*/ 0 w 71"/>
                <a:gd name="txT" fmla="*/ 0 h 181"/>
                <a:gd name="txR" fmla="*/ 71 w 71"/>
                <a:gd name="txB" fmla="*/ 181 h 181"/>
              </a:gdLst>
              <a:ahLst/>
              <a:cxnLst>
                <a:cxn ang="0">
                  <a:pos x="71" y="0"/>
                </a:cxn>
                <a:cxn ang="0">
                  <a:pos x="39" y="16"/>
                </a:cxn>
                <a:cxn ang="0">
                  <a:pos x="16" y="32"/>
                </a:cxn>
                <a:cxn ang="0">
                  <a:pos x="8" y="55"/>
                </a:cxn>
                <a:cxn ang="0">
                  <a:pos x="0" y="87"/>
                </a:cxn>
                <a:cxn ang="0">
                  <a:pos x="8" y="126"/>
                </a:cxn>
                <a:cxn ang="0">
                  <a:pos x="23" y="150"/>
                </a:cxn>
                <a:cxn ang="0">
                  <a:pos x="47" y="165"/>
                </a:cxn>
                <a:cxn ang="0">
                  <a:pos x="71" y="181"/>
                </a:cxn>
                <a:cxn ang="0">
                  <a:pos x="71" y="181"/>
                </a:cxn>
                <a:cxn ang="0">
                  <a:pos x="47" y="158"/>
                </a:cxn>
                <a:cxn ang="0">
                  <a:pos x="31" y="134"/>
                </a:cxn>
                <a:cxn ang="0">
                  <a:pos x="23" y="110"/>
                </a:cxn>
                <a:cxn ang="0">
                  <a:pos x="23" y="87"/>
                </a:cxn>
                <a:cxn ang="0">
                  <a:pos x="31" y="55"/>
                </a:cxn>
                <a:cxn ang="0">
                  <a:pos x="39" y="32"/>
                </a:cxn>
                <a:cxn ang="0">
                  <a:pos x="71" y="0"/>
                </a:cxn>
                <a:cxn ang="0">
                  <a:pos x="71" y="0"/>
                </a:cxn>
              </a:cxnLst>
              <a:rect l="txL" t="txT" r="txR" b="txB"/>
              <a:pathLst>
                <a:path w="71" h="181">
                  <a:moveTo>
                    <a:pt x="71" y="0"/>
                  </a:moveTo>
                  <a:lnTo>
                    <a:pt x="39" y="16"/>
                  </a:lnTo>
                  <a:lnTo>
                    <a:pt x="16" y="32"/>
                  </a:lnTo>
                  <a:lnTo>
                    <a:pt x="8" y="55"/>
                  </a:lnTo>
                  <a:lnTo>
                    <a:pt x="0" y="87"/>
                  </a:lnTo>
                  <a:lnTo>
                    <a:pt x="8" y="126"/>
                  </a:lnTo>
                  <a:lnTo>
                    <a:pt x="23" y="150"/>
                  </a:lnTo>
                  <a:lnTo>
                    <a:pt x="47" y="165"/>
                  </a:lnTo>
                  <a:lnTo>
                    <a:pt x="71" y="181"/>
                  </a:lnTo>
                  <a:lnTo>
                    <a:pt x="47" y="158"/>
                  </a:lnTo>
                  <a:lnTo>
                    <a:pt x="31" y="134"/>
                  </a:lnTo>
                  <a:lnTo>
                    <a:pt x="23" y="110"/>
                  </a:lnTo>
                  <a:lnTo>
                    <a:pt x="23" y="87"/>
                  </a:lnTo>
                  <a:lnTo>
                    <a:pt x="31" y="55"/>
                  </a:lnTo>
                  <a:lnTo>
                    <a:pt x="39" y="32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4" name="Freeform 42"/>
            <p:cNvSpPr>
              <a:spLocks noEditPoints="1"/>
            </p:cNvSpPr>
            <p:nvPr/>
          </p:nvSpPr>
          <p:spPr>
            <a:xfrm>
              <a:off x="3808" y="3390"/>
              <a:ext cx="134" cy="150"/>
            </a:xfrm>
            <a:custGeom>
              <a:avLst/>
              <a:gdLst>
                <a:gd name="txL" fmla="*/ 0 w 134"/>
                <a:gd name="txT" fmla="*/ 0 h 150"/>
                <a:gd name="txR" fmla="*/ 134 w 134"/>
                <a:gd name="txB" fmla="*/ 150 h 150"/>
              </a:gdLst>
              <a:ahLst/>
              <a:cxnLst>
                <a:cxn ang="0">
                  <a:pos x="47" y="79"/>
                </a:cxn>
                <a:cxn ang="0">
                  <a:pos x="55" y="71"/>
                </a:cxn>
                <a:cxn ang="0">
                  <a:pos x="71" y="63"/>
                </a:cxn>
                <a:cxn ang="0">
                  <a:pos x="94" y="71"/>
                </a:cxn>
                <a:cxn ang="0">
                  <a:pos x="102" y="79"/>
                </a:cxn>
                <a:cxn ang="0">
                  <a:pos x="110" y="110"/>
                </a:cxn>
                <a:cxn ang="0">
                  <a:pos x="110" y="118"/>
                </a:cxn>
                <a:cxn ang="0">
                  <a:pos x="102" y="134"/>
                </a:cxn>
                <a:cxn ang="0">
                  <a:pos x="94" y="142"/>
                </a:cxn>
                <a:cxn ang="0">
                  <a:pos x="71" y="150"/>
                </a:cxn>
                <a:cxn ang="0">
                  <a:pos x="55" y="142"/>
                </a:cxn>
                <a:cxn ang="0">
                  <a:pos x="47" y="134"/>
                </a:cxn>
                <a:cxn ang="0">
                  <a:pos x="47" y="79"/>
                </a:cxn>
                <a:cxn ang="0">
                  <a:pos x="23" y="142"/>
                </a:cxn>
                <a:cxn ang="0">
                  <a:pos x="31" y="150"/>
                </a:cxn>
                <a:cxn ang="0">
                  <a:pos x="39" y="150"/>
                </a:cxn>
                <a:cxn ang="0">
                  <a:pos x="55" y="150"/>
                </a:cxn>
                <a:cxn ang="0">
                  <a:pos x="63" y="150"/>
                </a:cxn>
                <a:cxn ang="0">
                  <a:pos x="94" y="142"/>
                </a:cxn>
                <a:cxn ang="0">
                  <a:pos x="118" y="134"/>
                </a:cxn>
                <a:cxn ang="0">
                  <a:pos x="134" y="118"/>
                </a:cxn>
                <a:cxn ang="0">
                  <a:pos x="134" y="103"/>
                </a:cxn>
                <a:cxn ang="0">
                  <a:pos x="126" y="71"/>
                </a:cxn>
                <a:cxn ang="0">
                  <a:pos x="110" y="63"/>
                </a:cxn>
                <a:cxn ang="0">
                  <a:pos x="86" y="55"/>
                </a:cxn>
                <a:cxn ang="0">
                  <a:pos x="55" y="63"/>
                </a:cxn>
                <a:cxn ang="0">
                  <a:pos x="47" y="71"/>
                </a:cxn>
                <a:cxn ang="0">
                  <a:pos x="47" y="71"/>
                </a:cxn>
                <a:cxn ang="0">
                  <a:pos x="47" y="0"/>
                </a:cxn>
                <a:cxn ang="0">
                  <a:pos x="47" y="0"/>
                </a:cxn>
                <a:cxn ang="0">
                  <a:pos x="23" y="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23" y="24"/>
                </a:cxn>
                <a:cxn ang="0">
                  <a:pos x="23" y="24"/>
                </a:cxn>
                <a:cxn ang="0">
                  <a:pos x="23" y="142"/>
                </a:cxn>
              </a:cxnLst>
              <a:rect l="txL" t="txT" r="txR" b="txB"/>
              <a:pathLst>
                <a:path w="134" h="150">
                  <a:moveTo>
                    <a:pt x="47" y="79"/>
                  </a:moveTo>
                  <a:lnTo>
                    <a:pt x="55" y="71"/>
                  </a:lnTo>
                  <a:lnTo>
                    <a:pt x="71" y="63"/>
                  </a:lnTo>
                  <a:lnTo>
                    <a:pt x="94" y="71"/>
                  </a:lnTo>
                  <a:lnTo>
                    <a:pt x="102" y="79"/>
                  </a:lnTo>
                  <a:lnTo>
                    <a:pt x="110" y="110"/>
                  </a:lnTo>
                  <a:lnTo>
                    <a:pt x="110" y="118"/>
                  </a:lnTo>
                  <a:lnTo>
                    <a:pt x="102" y="134"/>
                  </a:lnTo>
                  <a:lnTo>
                    <a:pt x="94" y="142"/>
                  </a:lnTo>
                  <a:lnTo>
                    <a:pt x="71" y="150"/>
                  </a:lnTo>
                  <a:lnTo>
                    <a:pt x="55" y="142"/>
                  </a:lnTo>
                  <a:lnTo>
                    <a:pt x="47" y="134"/>
                  </a:lnTo>
                  <a:lnTo>
                    <a:pt x="47" y="79"/>
                  </a:lnTo>
                  <a:close/>
                  <a:moveTo>
                    <a:pt x="23" y="142"/>
                  </a:moveTo>
                  <a:lnTo>
                    <a:pt x="31" y="150"/>
                  </a:lnTo>
                  <a:lnTo>
                    <a:pt x="39" y="150"/>
                  </a:lnTo>
                  <a:lnTo>
                    <a:pt x="55" y="150"/>
                  </a:lnTo>
                  <a:lnTo>
                    <a:pt x="63" y="150"/>
                  </a:lnTo>
                  <a:lnTo>
                    <a:pt x="94" y="142"/>
                  </a:lnTo>
                  <a:lnTo>
                    <a:pt x="118" y="134"/>
                  </a:lnTo>
                  <a:lnTo>
                    <a:pt x="134" y="118"/>
                  </a:lnTo>
                  <a:lnTo>
                    <a:pt x="134" y="103"/>
                  </a:lnTo>
                  <a:lnTo>
                    <a:pt x="126" y="71"/>
                  </a:lnTo>
                  <a:lnTo>
                    <a:pt x="110" y="63"/>
                  </a:lnTo>
                  <a:lnTo>
                    <a:pt x="86" y="55"/>
                  </a:lnTo>
                  <a:lnTo>
                    <a:pt x="55" y="63"/>
                  </a:lnTo>
                  <a:lnTo>
                    <a:pt x="47" y="71"/>
                  </a:lnTo>
                  <a:lnTo>
                    <a:pt x="47" y="0"/>
                  </a:lnTo>
                  <a:lnTo>
                    <a:pt x="23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23" y="24"/>
                  </a:lnTo>
                  <a:lnTo>
                    <a:pt x="23" y="14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5" name="Freeform 43"/>
            <p:cNvSpPr/>
            <p:nvPr/>
          </p:nvSpPr>
          <p:spPr>
            <a:xfrm>
              <a:off x="3958" y="3398"/>
              <a:ext cx="78" cy="181"/>
            </a:xfrm>
            <a:custGeom>
              <a:avLst/>
              <a:gdLst>
                <a:gd name="txL" fmla="*/ 0 w 78"/>
                <a:gd name="txT" fmla="*/ 0 h 181"/>
                <a:gd name="txR" fmla="*/ 78 w 78"/>
                <a:gd name="txB" fmla="*/ 181 h 181"/>
              </a:gdLst>
              <a:ahLst/>
              <a:cxnLst>
                <a:cxn ang="0">
                  <a:pos x="7" y="181"/>
                </a:cxn>
                <a:cxn ang="0">
                  <a:pos x="39" y="165"/>
                </a:cxn>
                <a:cxn ang="0">
                  <a:pos x="55" y="142"/>
                </a:cxn>
                <a:cxn ang="0">
                  <a:pos x="71" y="118"/>
                </a:cxn>
                <a:cxn ang="0">
                  <a:pos x="78" y="95"/>
                </a:cxn>
                <a:cxn ang="0">
                  <a:pos x="71" y="55"/>
                </a:cxn>
                <a:cxn ang="0">
                  <a:pos x="55" y="32"/>
                </a:cxn>
                <a:cxn ang="0">
                  <a:pos x="31" y="8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31" y="24"/>
                </a:cxn>
                <a:cxn ang="0">
                  <a:pos x="47" y="47"/>
                </a:cxn>
                <a:cxn ang="0">
                  <a:pos x="55" y="71"/>
                </a:cxn>
                <a:cxn ang="0">
                  <a:pos x="55" y="95"/>
                </a:cxn>
                <a:cxn ang="0">
                  <a:pos x="47" y="126"/>
                </a:cxn>
                <a:cxn ang="0">
                  <a:pos x="39" y="150"/>
                </a:cxn>
                <a:cxn ang="0">
                  <a:pos x="0" y="181"/>
                </a:cxn>
                <a:cxn ang="0">
                  <a:pos x="7" y="181"/>
                </a:cxn>
              </a:cxnLst>
              <a:rect l="txL" t="txT" r="txR" b="txB"/>
              <a:pathLst>
                <a:path w="78" h="181">
                  <a:moveTo>
                    <a:pt x="7" y="181"/>
                  </a:moveTo>
                  <a:lnTo>
                    <a:pt x="39" y="165"/>
                  </a:lnTo>
                  <a:lnTo>
                    <a:pt x="55" y="142"/>
                  </a:lnTo>
                  <a:lnTo>
                    <a:pt x="71" y="118"/>
                  </a:lnTo>
                  <a:lnTo>
                    <a:pt x="78" y="95"/>
                  </a:lnTo>
                  <a:lnTo>
                    <a:pt x="71" y="55"/>
                  </a:lnTo>
                  <a:lnTo>
                    <a:pt x="55" y="32"/>
                  </a:lnTo>
                  <a:lnTo>
                    <a:pt x="31" y="8"/>
                  </a:lnTo>
                  <a:lnTo>
                    <a:pt x="7" y="0"/>
                  </a:lnTo>
                  <a:lnTo>
                    <a:pt x="0" y="0"/>
                  </a:lnTo>
                  <a:lnTo>
                    <a:pt x="31" y="24"/>
                  </a:lnTo>
                  <a:lnTo>
                    <a:pt x="47" y="47"/>
                  </a:lnTo>
                  <a:lnTo>
                    <a:pt x="55" y="71"/>
                  </a:lnTo>
                  <a:lnTo>
                    <a:pt x="55" y="95"/>
                  </a:lnTo>
                  <a:lnTo>
                    <a:pt x="47" y="126"/>
                  </a:lnTo>
                  <a:lnTo>
                    <a:pt x="39" y="150"/>
                  </a:lnTo>
                  <a:lnTo>
                    <a:pt x="0" y="181"/>
                  </a:lnTo>
                  <a:lnTo>
                    <a:pt x="7" y="1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6" name="Freeform 44"/>
            <p:cNvSpPr/>
            <p:nvPr/>
          </p:nvSpPr>
          <p:spPr>
            <a:xfrm>
              <a:off x="4336" y="1948"/>
              <a:ext cx="111" cy="95"/>
            </a:xfrm>
            <a:custGeom>
              <a:avLst/>
              <a:gdLst>
                <a:gd name="txL" fmla="*/ 0 w 111"/>
                <a:gd name="txT" fmla="*/ 0 h 95"/>
                <a:gd name="txR" fmla="*/ 111 w 111"/>
                <a:gd name="txB" fmla="*/ 95 h 95"/>
              </a:gdLst>
              <a:ahLst/>
              <a:cxnLst>
                <a:cxn ang="0">
                  <a:pos x="0" y="8"/>
                </a:cxn>
                <a:cxn ang="0">
                  <a:pos x="16" y="8"/>
                </a:cxn>
                <a:cxn ang="0">
                  <a:pos x="24" y="24"/>
                </a:cxn>
                <a:cxn ang="0">
                  <a:pos x="32" y="55"/>
                </a:cxn>
                <a:cxn ang="0">
                  <a:pos x="32" y="87"/>
                </a:cxn>
                <a:cxn ang="0">
                  <a:pos x="32" y="95"/>
                </a:cxn>
                <a:cxn ang="0">
                  <a:pos x="32" y="95"/>
                </a:cxn>
                <a:cxn ang="0">
                  <a:pos x="48" y="87"/>
                </a:cxn>
                <a:cxn ang="0">
                  <a:pos x="63" y="71"/>
                </a:cxn>
                <a:cxn ang="0">
                  <a:pos x="71" y="63"/>
                </a:cxn>
                <a:cxn ang="0">
                  <a:pos x="87" y="47"/>
                </a:cxn>
                <a:cxn ang="0">
                  <a:pos x="103" y="24"/>
                </a:cxn>
                <a:cxn ang="0">
                  <a:pos x="111" y="8"/>
                </a:cxn>
                <a:cxn ang="0">
                  <a:pos x="103" y="0"/>
                </a:cxn>
                <a:cxn ang="0">
                  <a:pos x="95" y="0"/>
                </a:cxn>
                <a:cxn ang="0">
                  <a:pos x="87" y="0"/>
                </a:cxn>
                <a:cxn ang="0">
                  <a:pos x="87" y="8"/>
                </a:cxn>
                <a:cxn ang="0">
                  <a:pos x="95" y="16"/>
                </a:cxn>
                <a:cxn ang="0">
                  <a:pos x="95" y="24"/>
                </a:cxn>
                <a:cxn ang="0">
                  <a:pos x="87" y="47"/>
                </a:cxn>
                <a:cxn ang="0">
                  <a:pos x="63" y="63"/>
                </a:cxn>
                <a:cxn ang="0">
                  <a:pos x="56" y="71"/>
                </a:cxn>
                <a:cxn ang="0">
                  <a:pos x="48" y="40"/>
                </a:cxn>
                <a:cxn ang="0">
                  <a:pos x="40" y="0"/>
                </a:cxn>
                <a:cxn ang="0">
                  <a:pos x="40" y="0"/>
                </a:cxn>
                <a:cxn ang="0">
                  <a:pos x="32" y="0"/>
                </a:cxn>
                <a:cxn ang="0">
                  <a:pos x="24" y="0"/>
                </a:cxn>
                <a:cxn ang="0">
                  <a:pos x="0" y="0"/>
                </a:cxn>
                <a:cxn ang="0">
                  <a:pos x="0" y="8"/>
                </a:cxn>
              </a:cxnLst>
              <a:rect l="txL" t="txT" r="txR" b="txB"/>
              <a:pathLst>
                <a:path w="111" h="95">
                  <a:moveTo>
                    <a:pt x="0" y="8"/>
                  </a:moveTo>
                  <a:lnTo>
                    <a:pt x="16" y="8"/>
                  </a:lnTo>
                  <a:lnTo>
                    <a:pt x="24" y="24"/>
                  </a:lnTo>
                  <a:lnTo>
                    <a:pt x="32" y="55"/>
                  </a:lnTo>
                  <a:lnTo>
                    <a:pt x="32" y="87"/>
                  </a:lnTo>
                  <a:lnTo>
                    <a:pt x="32" y="95"/>
                  </a:lnTo>
                  <a:lnTo>
                    <a:pt x="48" y="87"/>
                  </a:lnTo>
                  <a:lnTo>
                    <a:pt x="63" y="71"/>
                  </a:lnTo>
                  <a:lnTo>
                    <a:pt x="71" y="63"/>
                  </a:lnTo>
                  <a:lnTo>
                    <a:pt x="87" y="47"/>
                  </a:lnTo>
                  <a:lnTo>
                    <a:pt x="103" y="24"/>
                  </a:lnTo>
                  <a:lnTo>
                    <a:pt x="111" y="8"/>
                  </a:lnTo>
                  <a:lnTo>
                    <a:pt x="103" y="0"/>
                  </a:lnTo>
                  <a:lnTo>
                    <a:pt x="95" y="0"/>
                  </a:lnTo>
                  <a:lnTo>
                    <a:pt x="87" y="0"/>
                  </a:lnTo>
                  <a:lnTo>
                    <a:pt x="87" y="8"/>
                  </a:lnTo>
                  <a:lnTo>
                    <a:pt x="95" y="16"/>
                  </a:lnTo>
                  <a:lnTo>
                    <a:pt x="95" y="24"/>
                  </a:lnTo>
                  <a:lnTo>
                    <a:pt x="87" y="47"/>
                  </a:lnTo>
                  <a:lnTo>
                    <a:pt x="63" y="63"/>
                  </a:lnTo>
                  <a:lnTo>
                    <a:pt x="56" y="71"/>
                  </a:lnTo>
                  <a:lnTo>
                    <a:pt x="48" y="40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7" name="Freeform 45"/>
            <p:cNvSpPr/>
            <p:nvPr/>
          </p:nvSpPr>
          <p:spPr>
            <a:xfrm>
              <a:off x="4313" y="1271"/>
              <a:ext cx="142" cy="110"/>
            </a:xfrm>
            <a:custGeom>
              <a:avLst/>
              <a:gdLst>
                <a:gd name="txL" fmla="*/ 0 w 142"/>
                <a:gd name="txT" fmla="*/ 0 h 110"/>
                <a:gd name="txR" fmla="*/ 142 w 142"/>
                <a:gd name="txB" fmla="*/ 110 h 110"/>
              </a:gdLst>
              <a:ahLst/>
              <a:cxnLst>
                <a:cxn ang="0">
                  <a:pos x="63" y="47"/>
                </a:cxn>
                <a:cxn ang="0">
                  <a:pos x="0" y="47"/>
                </a:cxn>
                <a:cxn ang="0">
                  <a:pos x="0" y="63"/>
                </a:cxn>
                <a:cxn ang="0">
                  <a:pos x="63" y="63"/>
                </a:cxn>
                <a:cxn ang="0">
                  <a:pos x="63" y="110"/>
                </a:cxn>
                <a:cxn ang="0">
                  <a:pos x="79" y="110"/>
                </a:cxn>
                <a:cxn ang="0">
                  <a:pos x="79" y="63"/>
                </a:cxn>
                <a:cxn ang="0">
                  <a:pos x="142" y="63"/>
                </a:cxn>
                <a:cxn ang="0">
                  <a:pos x="142" y="47"/>
                </a:cxn>
                <a:cxn ang="0">
                  <a:pos x="79" y="47"/>
                </a:cxn>
                <a:cxn ang="0">
                  <a:pos x="79" y="0"/>
                </a:cxn>
                <a:cxn ang="0">
                  <a:pos x="63" y="0"/>
                </a:cxn>
                <a:cxn ang="0">
                  <a:pos x="63" y="47"/>
                </a:cxn>
              </a:cxnLst>
              <a:rect l="txL" t="txT" r="txR" b="txB"/>
              <a:pathLst>
                <a:path w="142" h="110">
                  <a:moveTo>
                    <a:pt x="63" y="47"/>
                  </a:moveTo>
                  <a:lnTo>
                    <a:pt x="0" y="47"/>
                  </a:lnTo>
                  <a:lnTo>
                    <a:pt x="0" y="63"/>
                  </a:lnTo>
                  <a:lnTo>
                    <a:pt x="63" y="63"/>
                  </a:lnTo>
                  <a:lnTo>
                    <a:pt x="63" y="110"/>
                  </a:lnTo>
                  <a:lnTo>
                    <a:pt x="79" y="110"/>
                  </a:lnTo>
                  <a:lnTo>
                    <a:pt x="79" y="63"/>
                  </a:lnTo>
                  <a:lnTo>
                    <a:pt x="142" y="63"/>
                  </a:lnTo>
                  <a:lnTo>
                    <a:pt x="142" y="47"/>
                  </a:lnTo>
                  <a:lnTo>
                    <a:pt x="79" y="47"/>
                  </a:lnTo>
                  <a:lnTo>
                    <a:pt x="79" y="0"/>
                  </a:lnTo>
                  <a:lnTo>
                    <a:pt x="63" y="0"/>
                  </a:lnTo>
                  <a:lnTo>
                    <a:pt x="63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28" name="Rectangle 46"/>
            <p:cNvSpPr/>
            <p:nvPr/>
          </p:nvSpPr>
          <p:spPr>
            <a:xfrm>
              <a:off x="4305" y="2602"/>
              <a:ext cx="150" cy="16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46129" name="Freeform 47"/>
            <p:cNvSpPr/>
            <p:nvPr/>
          </p:nvSpPr>
          <p:spPr>
            <a:xfrm>
              <a:off x="3445" y="1160"/>
              <a:ext cx="868" cy="1"/>
            </a:xfrm>
            <a:custGeom>
              <a:avLst/>
              <a:gdLst>
                <a:gd name="txL" fmla="*/ 0 w 868"/>
                <a:gd name="txT" fmla="*/ 0 h 1"/>
                <a:gd name="txR" fmla="*/ 868 w 868"/>
                <a:gd name="txB" fmla="*/ 1 h 1"/>
              </a:gdLst>
              <a:ahLst/>
              <a:cxnLst>
                <a:cxn ang="0">
                  <a:pos x="868" y="0"/>
                </a:cxn>
                <a:cxn ang="0">
                  <a:pos x="0" y="0"/>
                </a:cxn>
                <a:cxn ang="0">
                  <a:pos x="868" y="0"/>
                </a:cxn>
                <a:cxn ang="0">
                  <a:pos x="868" y="0"/>
                </a:cxn>
              </a:cxnLst>
              <a:rect l="txL" t="txT" r="txR" b="txB"/>
              <a:pathLst>
                <a:path w="868" h="1">
                  <a:moveTo>
                    <a:pt x="868" y="0"/>
                  </a:moveTo>
                  <a:lnTo>
                    <a:pt x="0" y="0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0" name="Freeform 48"/>
            <p:cNvSpPr>
              <a:spLocks noEditPoints="1"/>
            </p:cNvSpPr>
            <p:nvPr/>
          </p:nvSpPr>
          <p:spPr>
            <a:xfrm>
              <a:off x="3445" y="1160"/>
              <a:ext cx="1" cy="1608"/>
            </a:xfrm>
            <a:custGeom>
              <a:avLst/>
              <a:gdLst>
                <a:gd name="txL" fmla="*/ 0 w 1"/>
                <a:gd name="txT" fmla="*/ 0 h 1608"/>
                <a:gd name="txR" fmla="*/ 1 w 1"/>
                <a:gd name="txB" fmla="*/ 1608 h 1608"/>
              </a:gdLst>
              <a:ahLst/>
              <a:cxnLst>
                <a:cxn ang="0">
                  <a:pos x="0" y="0"/>
                </a:cxn>
                <a:cxn ang="0">
                  <a:pos x="0" y="160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608">
                  <a:moveTo>
                    <a:pt x="0" y="0"/>
                  </a:moveTo>
                  <a:lnTo>
                    <a:pt x="0" y="160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1" name="Freeform 49"/>
            <p:cNvSpPr>
              <a:spLocks noEditPoints="1"/>
            </p:cNvSpPr>
            <p:nvPr/>
          </p:nvSpPr>
          <p:spPr>
            <a:xfrm>
              <a:off x="3445" y="2768"/>
              <a:ext cx="868" cy="1"/>
            </a:xfrm>
            <a:custGeom>
              <a:avLst/>
              <a:gdLst>
                <a:gd name="txL" fmla="*/ 0 w 868"/>
                <a:gd name="txT" fmla="*/ 0 h 1"/>
                <a:gd name="txR" fmla="*/ 868 w 86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68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68" h="1">
                  <a:moveTo>
                    <a:pt x="0" y="0"/>
                  </a:moveTo>
                  <a:lnTo>
                    <a:pt x="868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2" name="Freeform 50"/>
            <p:cNvSpPr/>
            <p:nvPr/>
          </p:nvSpPr>
          <p:spPr>
            <a:xfrm>
              <a:off x="4313" y="1113"/>
              <a:ext cx="134" cy="102"/>
            </a:xfrm>
            <a:custGeom>
              <a:avLst/>
              <a:gdLst>
                <a:gd name="txL" fmla="*/ 0 w 134"/>
                <a:gd name="txT" fmla="*/ 0 h 102"/>
                <a:gd name="txR" fmla="*/ 134 w 134"/>
                <a:gd name="txB" fmla="*/ 102 h 102"/>
              </a:gdLst>
              <a:ahLst/>
              <a:cxnLst>
                <a:cxn ang="0">
                  <a:pos x="71" y="102"/>
                </a:cxn>
                <a:cxn ang="0">
                  <a:pos x="94" y="102"/>
                </a:cxn>
                <a:cxn ang="0">
                  <a:pos x="118" y="87"/>
                </a:cxn>
                <a:cxn ang="0">
                  <a:pos x="126" y="71"/>
                </a:cxn>
                <a:cxn ang="0">
                  <a:pos x="134" y="47"/>
                </a:cxn>
                <a:cxn ang="0">
                  <a:pos x="126" y="31"/>
                </a:cxn>
                <a:cxn ang="0">
                  <a:pos x="118" y="16"/>
                </a:cxn>
                <a:cxn ang="0">
                  <a:pos x="94" y="8"/>
                </a:cxn>
                <a:cxn ang="0">
                  <a:pos x="71" y="0"/>
                </a:cxn>
                <a:cxn ang="0">
                  <a:pos x="47" y="8"/>
                </a:cxn>
                <a:cxn ang="0">
                  <a:pos x="23" y="16"/>
                </a:cxn>
                <a:cxn ang="0">
                  <a:pos x="8" y="31"/>
                </a:cxn>
                <a:cxn ang="0">
                  <a:pos x="0" y="47"/>
                </a:cxn>
                <a:cxn ang="0">
                  <a:pos x="8" y="71"/>
                </a:cxn>
                <a:cxn ang="0">
                  <a:pos x="23" y="87"/>
                </a:cxn>
                <a:cxn ang="0">
                  <a:pos x="47" y="102"/>
                </a:cxn>
                <a:cxn ang="0">
                  <a:pos x="71" y="102"/>
                </a:cxn>
                <a:cxn ang="0">
                  <a:pos x="71" y="102"/>
                </a:cxn>
              </a:cxnLst>
              <a:rect l="txL" t="txT" r="txR" b="txB"/>
              <a:pathLst>
                <a:path w="134" h="102">
                  <a:moveTo>
                    <a:pt x="71" y="102"/>
                  </a:moveTo>
                  <a:lnTo>
                    <a:pt x="94" y="102"/>
                  </a:lnTo>
                  <a:lnTo>
                    <a:pt x="118" y="87"/>
                  </a:lnTo>
                  <a:lnTo>
                    <a:pt x="126" y="71"/>
                  </a:lnTo>
                  <a:lnTo>
                    <a:pt x="134" y="47"/>
                  </a:lnTo>
                  <a:lnTo>
                    <a:pt x="126" y="31"/>
                  </a:lnTo>
                  <a:lnTo>
                    <a:pt x="118" y="16"/>
                  </a:lnTo>
                  <a:lnTo>
                    <a:pt x="94" y="8"/>
                  </a:lnTo>
                  <a:lnTo>
                    <a:pt x="71" y="0"/>
                  </a:lnTo>
                  <a:lnTo>
                    <a:pt x="47" y="8"/>
                  </a:lnTo>
                  <a:lnTo>
                    <a:pt x="23" y="16"/>
                  </a:lnTo>
                  <a:lnTo>
                    <a:pt x="8" y="31"/>
                  </a:lnTo>
                  <a:lnTo>
                    <a:pt x="0" y="47"/>
                  </a:lnTo>
                  <a:lnTo>
                    <a:pt x="8" y="71"/>
                  </a:lnTo>
                  <a:lnTo>
                    <a:pt x="23" y="87"/>
                  </a:lnTo>
                  <a:lnTo>
                    <a:pt x="47" y="102"/>
                  </a:lnTo>
                  <a:lnTo>
                    <a:pt x="71" y="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3" name="Freeform 51"/>
            <p:cNvSpPr/>
            <p:nvPr/>
          </p:nvSpPr>
          <p:spPr>
            <a:xfrm>
              <a:off x="4384" y="1160"/>
              <a:ext cx="63" cy="55"/>
            </a:xfrm>
            <a:custGeom>
              <a:avLst/>
              <a:gdLst>
                <a:gd name="txL" fmla="*/ 0 w 63"/>
                <a:gd name="txT" fmla="*/ 0 h 55"/>
                <a:gd name="txR" fmla="*/ 63 w 63"/>
                <a:gd name="txB" fmla="*/ 55 h 55"/>
              </a:gdLst>
              <a:ahLst/>
              <a:cxnLst>
                <a:cxn ang="0">
                  <a:pos x="0" y="55"/>
                </a:cxn>
                <a:cxn ang="0">
                  <a:pos x="23" y="55"/>
                </a:cxn>
                <a:cxn ang="0">
                  <a:pos x="47" y="40"/>
                </a:cxn>
                <a:cxn ang="0">
                  <a:pos x="55" y="24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55" y="24"/>
                </a:cxn>
                <a:cxn ang="0">
                  <a:pos x="47" y="40"/>
                </a:cxn>
                <a:cxn ang="0">
                  <a:pos x="23" y="55"/>
                </a:cxn>
                <a:cxn ang="0">
                  <a:pos x="0" y="55"/>
                </a:cxn>
                <a:cxn ang="0">
                  <a:pos x="0" y="55"/>
                </a:cxn>
              </a:cxnLst>
              <a:rect l="txL" t="txT" r="txR" b="txB"/>
              <a:pathLst>
                <a:path w="63" h="55">
                  <a:moveTo>
                    <a:pt x="0" y="55"/>
                  </a:moveTo>
                  <a:lnTo>
                    <a:pt x="23" y="55"/>
                  </a:lnTo>
                  <a:lnTo>
                    <a:pt x="47" y="40"/>
                  </a:lnTo>
                  <a:lnTo>
                    <a:pt x="55" y="24"/>
                  </a:lnTo>
                  <a:lnTo>
                    <a:pt x="63" y="0"/>
                  </a:lnTo>
                  <a:lnTo>
                    <a:pt x="55" y="24"/>
                  </a:lnTo>
                  <a:lnTo>
                    <a:pt x="47" y="40"/>
                  </a:lnTo>
                  <a:lnTo>
                    <a:pt x="23" y="55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4" name="Freeform 52"/>
            <p:cNvSpPr>
              <a:spLocks noEditPoints="1"/>
            </p:cNvSpPr>
            <p:nvPr/>
          </p:nvSpPr>
          <p:spPr>
            <a:xfrm>
              <a:off x="4384" y="1113"/>
              <a:ext cx="63" cy="47"/>
            </a:xfrm>
            <a:custGeom>
              <a:avLst/>
              <a:gdLst>
                <a:gd name="txL" fmla="*/ 0 w 63"/>
                <a:gd name="txT" fmla="*/ 0 h 47"/>
                <a:gd name="txR" fmla="*/ 63 w 63"/>
                <a:gd name="txB" fmla="*/ 47 h 47"/>
              </a:gdLst>
              <a:ahLst/>
              <a:cxnLst>
                <a:cxn ang="0">
                  <a:pos x="63" y="47"/>
                </a:cxn>
                <a:cxn ang="0">
                  <a:pos x="55" y="31"/>
                </a:cxn>
                <a:cxn ang="0">
                  <a:pos x="47" y="16"/>
                </a:cxn>
                <a:cxn ang="0">
                  <a:pos x="23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" y="8"/>
                </a:cxn>
                <a:cxn ang="0">
                  <a:pos x="47" y="16"/>
                </a:cxn>
                <a:cxn ang="0">
                  <a:pos x="55" y="31"/>
                </a:cxn>
                <a:cxn ang="0">
                  <a:pos x="63" y="47"/>
                </a:cxn>
                <a:cxn ang="0">
                  <a:pos x="63" y="47"/>
                </a:cxn>
                <a:cxn ang="0">
                  <a:pos x="63" y="47"/>
                </a:cxn>
                <a:cxn ang="0">
                  <a:pos x="63" y="47"/>
                </a:cxn>
                <a:cxn ang="0">
                  <a:pos x="63" y="47"/>
                </a:cxn>
              </a:cxnLst>
              <a:rect l="txL" t="txT" r="txR" b="txB"/>
              <a:pathLst>
                <a:path w="63" h="47">
                  <a:moveTo>
                    <a:pt x="63" y="47"/>
                  </a:moveTo>
                  <a:lnTo>
                    <a:pt x="55" y="31"/>
                  </a:lnTo>
                  <a:lnTo>
                    <a:pt x="47" y="16"/>
                  </a:lnTo>
                  <a:lnTo>
                    <a:pt x="23" y="8"/>
                  </a:lnTo>
                  <a:lnTo>
                    <a:pt x="0" y="0"/>
                  </a:lnTo>
                  <a:lnTo>
                    <a:pt x="23" y="8"/>
                  </a:lnTo>
                  <a:lnTo>
                    <a:pt x="47" y="16"/>
                  </a:lnTo>
                  <a:lnTo>
                    <a:pt x="55" y="31"/>
                  </a:lnTo>
                  <a:lnTo>
                    <a:pt x="63" y="47"/>
                  </a:lnTo>
                  <a:close/>
                  <a:moveTo>
                    <a:pt x="63" y="47"/>
                  </a:moveTo>
                  <a:lnTo>
                    <a:pt x="63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5" name="Freeform 53"/>
            <p:cNvSpPr>
              <a:spLocks noEditPoints="1"/>
            </p:cNvSpPr>
            <p:nvPr/>
          </p:nvSpPr>
          <p:spPr>
            <a:xfrm>
              <a:off x="4313" y="1113"/>
              <a:ext cx="71" cy="47"/>
            </a:xfrm>
            <a:custGeom>
              <a:avLst/>
              <a:gdLst>
                <a:gd name="txL" fmla="*/ 0 w 71"/>
                <a:gd name="txT" fmla="*/ 0 h 47"/>
                <a:gd name="txR" fmla="*/ 71 w 71"/>
                <a:gd name="txB" fmla="*/ 47 h 47"/>
              </a:gdLst>
              <a:ahLst/>
              <a:cxnLst>
                <a:cxn ang="0">
                  <a:pos x="71" y="0"/>
                </a:cxn>
                <a:cxn ang="0">
                  <a:pos x="47" y="8"/>
                </a:cxn>
                <a:cxn ang="0">
                  <a:pos x="23" y="16"/>
                </a:cxn>
                <a:cxn ang="0">
                  <a:pos x="8" y="31"/>
                </a:cxn>
                <a:cxn ang="0">
                  <a:pos x="0" y="47"/>
                </a:cxn>
                <a:cxn ang="0">
                  <a:pos x="0" y="47"/>
                </a:cxn>
                <a:cxn ang="0">
                  <a:pos x="8" y="31"/>
                </a:cxn>
                <a:cxn ang="0">
                  <a:pos x="23" y="16"/>
                </a:cxn>
                <a:cxn ang="0">
                  <a:pos x="47" y="8"/>
                </a:cxn>
                <a:cxn ang="0">
                  <a:pos x="71" y="0"/>
                </a:cxn>
                <a:cxn ang="0">
                  <a:pos x="71" y="0"/>
                </a:cxn>
                <a:cxn ang="0">
                  <a:pos x="71" y="0"/>
                </a:cxn>
                <a:cxn ang="0">
                  <a:pos x="71" y="0"/>
                </a:cxn>
                <a:cxn ang="0">
                  <a:pos x="71" y="0"/>
                </a:cxn>
              </a:cxnLst>
              <a:rect l="txL" t="txT" r="txR" b="txB"/>
              <a:pathLst>
                <a:path w="71" h="47">
                  <a:moveTo>
                    <a:pt x="71" y="0"/>
                  </a:moveTo>
                  <a:lnTo>
                    <a:pt x="47" y="8"/>
                  </a:lnTo>
                  <a:lnTo>
                    <a:pt x="23" y="16"/>
                  </a:lnTo>
                  <a:lnTo>
                    <a:pt x="8" y="31"/>
                  </a:lnTo>
                  <a:lnTo>
                    <a:pt x="0" y="47"/>
                  </a:lnTo>
                  <a:lnTo>
                    <a:pt x="8" y="31"/>
                  </a:lnTo>
                  <a:lnTo>
                    <a:pt x="23" y="16"/>
                  </a:lnTo>
                  <a:lnTo>
                    <a:pt x="47" y="8"/>
                  </a:lnTo>
                  <a:lnTo>
                    <a:pt x="71" y="0"/>
                  </a:lnTo>
                  <a:close/>
                  <a:moveTo>
                    <a:pt x="71" y="0"/>
                  </a:moveTo>
                  <a:lnTo>
                    <a:pt x="7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6" name="Freeform 54"/>
            <p:cNvSpPr>
              <a:spLocks noEditPoints="1"/>
            </p:cNvSpPr>
            <p:nvPr/>
          </p:nvSpPr>
          <p:spPr>
            <a:xfrm>
              <a:off x="4313" y="1160"/>
              <a:ext cx="71" cy="55"/>
            </a:xfrm>
            <a:custGeom>
              <a:avLst/>
              <a:gdLst>
                <a:gd name="txL" fmla="*/ 0 w 71"/>
                <a:gd name="txT" fmla="*/ 0 h 55"/>
                <a:gd name="txR" fmla="*/ 71 w 71"/>
                <a:gd name="txB" fmla="*/ 55 h 55"/>
              </a:gdLst>
              <a:ahLst/>
              <a:cxnLst>
                <a:cxn ang="0">
                  <a:pos x="0" y="0"/>
                </a:cxn>
                <a:cxn ang="0">
                  <a:pos x="8" y="24"/>
                </a:cxn>
                <a:cxn ang="0">
                  <a:pos x="23" y="40"/>
                </a:cxn>
                <a:cxn ang="0">
                  <a:pos x="47" y="55"/>
                </a:cxn>
                <a:cxn ang="0">
                  <a:pos x="71" y="55"/>
                </a:cxn>
                <a:cxn ang="0">
                  <a:pos x="71" y="55"/>
                </a:cxn>
                <a:cxn ang="0">
                  <a:pos x="47" y="55"/>
                </a:cxn>
                <a:cxn ang="0">
                  <a:pos x="23" y="40"/>
                </a:cxn>
                <a:cxn ang="0">
                  <a:pos x="8" y="2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1" h="55">
                  <a:moveTo>
                    <a:pt x="0" y="0"/>
                  </a:moveTo>
                  <a:lnTo>
                    <a:pt x="8" y="24"/>
                  </a:lnTo>
                  <a:lnTo>
                    <a:pt x="23" y="40"/>
                  </a:lnTo>
                  <a:lnTo>
                    <a:pt x="47" y="55"/>
                  </a:lnTo>
                  <a:lnTo>
                    <a:pt x="71" y="55"/>
                  </a:lnTo>
                  <a:lnTo>
                    <a:pt x="47" y="55"/>
                  </a:lnTo>
                  <a:lnTo>
                    <a:pt x="23" y="40"/>
                  </a:lnTo>
                  <a:lnTo>
                    <a:pt x="8" y="2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7" name="Freeform 55"/>
            <p:cNvSpPr/>
            <p:nvPr/>
          </p:nvSpPr>
          <p:spPr>
            <a:xfrm>
              <a:off x="4384" y="121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8" name="Freeform 56"/>
            <p:cNvSpPr/>
            <p:nvPr/>
          </p:nvSpPr>
          <p:spPr>
            <a:xfrm>
              <a:off x="4313" y="2720"/>
              <a:ext cx="126" cy="95"/>
            </a:xfrm>
            <a:custGeom>
              <a:avLst/>
              <a:gdLst>
                <a:gd name="txL" fmla="*/ 0 w 126"/>
                <a:gd name="txT" fmla="*/ 0 h 95"/>
                <a:gd name="txR" fmla="*/ 126 w 126"/>
                <a:gd name="txB" fmla="*/ 95 h 95"/>
              </a:gdLst>
              <a:ahLst/>
              <a:cxnLst>
                <a:cxn ang="0">
                  <a:pos x="63" y="95"/>
                </a:cxn>
                <a:cxn ang="0">
                  <a:pos x="86" y="95"/>
                </a:cxn>
                <a:cxn ang="0">
                  <a:pos x="110" y="79"/>
                </a:cxn>
                <a:cxn ang="0">
                  <a:pos x="118" y="63"/>
                </a:cxn>
                <a:cxn ang="0">
                  <a:pos x="126" y="48"/>
                </a:cxn>
                <a:cxn ang="0">
                  <a:pos x="118" y="24"/>
                </a:cxn>
                <a:cxn ang="0">
                  <a:pos x="110" y="16"/>
                </a:cxn>
                <a:cxn ang="0">
                  <a:pos x="63" y="0"/>
                </a:cxn>
                <a:cxn ang="0">
                  <a:pos x="15" y="16"/>
                </a:cxn>
                <a:cxn ang="0">
                  <a:pos x="8" y="24"/>
                </a:cxn>
                <a:cxn ang="0">
                  <a:pos x="0" y="48"/>
                </a:cxn>
                <a:cxn ang="0">
                  <a:pos x="8" y="63"/>
                </a:cxn>
                <a:cxn ang="0">
                  <a:pos x="15" y="79"/>
                </a:cxn>
                <a:cxn ang="0">
                  <a:pos x="39" y="95"/>
                </a:cxn>
                <a:cxn ang="0">
                  <a:pos x="63" y="95"/>
                </a:cxn>
                <a:cxn ang="0">
                  <a:pos x="63" y="95"/>
                </a:cxn>
              </a:cxnLst>
              <a:rect l="txL" t="txT" r="txR" b="txB"/>
              <a:pathLst>
                <a:path w="126" h="95">
                  <a:moveTo>
                    <a:pt x="63" y="95"/>
                  </a:moveTo>
                  <a:lnTo>
                    <a:pt x="86" y="95"/>
                  </a:lnTo>
                  <a:lnTo>
                    <a:pt x="110" y="79"/>
                  </a:lnTo>
                  <a:lnTo>
                    <a:pt x="118" y="63"/>
                  </a:lnTo>
                  <a:lnTo>
                    <a:pt x="126" y="48"/>
                  </a:lnTo>
                  <a:lnTo>
                    <a:pt x="118" y="24"/>
                  </a:lnTo>
                  <a:lnTo>
                    <a:pt x="110" y="16"/>
                  </a:lnTo>
                  <a:lnTo>
                    <a:pt x="63" y="0"/>
                  </a:lnTo>
                  <a:lnTo>
                    <a:pt x="15" y="16"/>
                  </a:lnTo>
                  <a:lnTo>
                    <a:pt x="8" y="24"/>
                  </a:lnTo>
                  <a:lnTo>
                    <a:pt x="0" y="48"/>
                  </a:lnTo>
                  <a:lnTo>
                    <a:pt x="8" y="63"/>
                  </a:lnTo>
                  <a:lnTo>
                    <a:pt x="15" y="79"/>
                  </a:lnTo>
                  <a:lnTo>
                    <a:pt x="39" y="95"/>
                  </a:lnTo>
                  <a:lnTo>
                    <a:pt x="63" y="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39" name="Freeform 57"/>
            <p:cNvSpPr/>
            <p:nvPr/>
          </p:nvSpPr>
          <p:spPr>
            <a:xfrm>
              <a:off x="4376" y="2768"/>
              <a:ext cx="63" cy="47"/>
            </a:xfrm>
            <a:custGeom>
              <a:avLst/>
              <a:gdLst>
                <a:gd name="txL" fmla="*/ 0 w 63"/>
                <a:gd name="txT" fmla="*/ 0 h 47"/>
                <a:gd name="txR" fmla="*/ 63 w 63"/>
                <a:gd name="txB" fmla="*/ 47 h 47"/>
              </a:gdLst>
              <a:ahLst/>
              <a:cxnLst>
                <a:cxn ang="0">
                  <a:pos x="0" y="47"/>
                </a:cxn>
                <a:cxn ang="0">
                  <a:pos x="23" y="47"/>
                </a:cxn>
                <a:cxn ang="0">
                  <a:pos x="47" y="31"/>
                </a:cxn>
                <a:cxn ang="0">
                  <a:pos x="55" y="15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55" y="15"/>
                </a:cxn>
                <a:cxn ang="0">
                  <a:pos x="47" y="31"/>
                </a:cxn>
                <a:cxn ang="0">
                  <a:pos x="23" y="47"/>
                </a:cxn>
                <a:cxn ang="0">
                  <a:pos x="0" y="47"/>
                </a:cxn>
                <a:cxn ang="0">
                  <a:pos x="0" y="47"/>
                </a:cxn>
              </a:cxnLst>
              <a:rect l="txL" t="txT" r="txR" b="txB"/>
              <a:pathLst>
                <a:path w="63" h="47">
                  <a:moveTo>
                    <a:pt x="0" y="47"/>
                  </a:moveTo>
                  <a:lnTo>
                    <a:pt x="23" y="47"/>
                  </a:lnTo>
                  <a:lnTo>
                    <a:pt x="47" y="31"/>
                  </a:lnTo>
                  <a:lnTo>
                    <a:pt x="55" y="15"/>
                  </a:lnTo>
                  <a:lnTo>
                    <a:pt x="63" y="0"/>
                  </a:lnTo>
                  <a:lnTo>
                    <a:pt x="55" y="15"/>
                  </a:lnTo>
                  <a:lnTo>
                    <a:pt x="47" y="31"/>
                  </a:lnTo>
                  <a:lnTo>
                    <a:pt x="23" y="47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0" name="Freeform 58"/>
            <p:cNvSpPr>
              <a:spLocks noEditPoints="1"/>
            </p:cNvSpPr>
            <p:nvPr/>
          </p:nvSpPr>
          <p:spPr>
            <a:xfrm>
              <a:off x="4376" y="2720"/>
              <a:ext cx="63" cy="48"/>
            </a:xfrm>
            <a:custGeom>
              <a:avLst/>
              <a:gdLst>
                <a:gd name="txL" fmla="*/ 0 w 63"/>
                <a:gd name="txT" fmla="*/ 0 h 48"/>
                <a:gd name="txR" fmla="*/ 63 w 63"/>
                <a:gd name="txB" fmla="*/ 48 h 48"/>
              </a:gdLst>
              <a:ahLst/>
              <a:cxnLst>
                <a:cxn ang="0">
                  <a:pos x="63" y="48"/>
                </a:cxn>
                <a:cxn ang="0">
                  <a:pos x="55" y="24"/>
                </a:cxn>
                <a:cxn ang="0">
                  <a:pos x="47" y="1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7" y="16"/>
                </a:cxn>
                <a:cxn ang="0">
                  <a:pos x="55" y="24"/>
                </a:cxn>
                <a:cxn ang="0">
                  <a:pos x="63" y="48"/>
                </a:cxn>
                <a:cxn ang="0">
                  <a:pos x="63" y="48"/>
                </a:cxn>
                <a:cxn ang="0">
                  <a:pos x="63" y="48"/>
                </a:cxn>
                <a:cxn ang="0">
                  <a:pos x="63" y="48"/>
                </a:cxn>
                <a:cxn ang="0">
                  <a:pos x="63" y="48"/>
                </a:cxn>
              </a:cxnLst>
              <a:rect l="txL" t="txT" r="txR" b="txB"/>
              <a:pathLst>
                <a:path w="63" h="48">
                  <a:moveTo>
                    <a:pt x="63" y="48"/>
                  </a:moveTo>
                  <a:lnTo>
                    <a:pt x="55" y="24"/>
                  </a:lnTo>
                  <a:lnTo>
                    <a:pt x="47" y="16"/>
                  </a:lnTo>
                  <a:lnTo>
                    <a:pt x="0" y="0"/>
                  </a:lnTo>
                  <a:lnTo>
                    <a:pt x="47" y="16"/>
                  </a:lnTo>
                  <a:lnTo>
                    <a:pt x="55" y="24"/>
                  </a:lnTo>
                  <a:lnTo>
                    <a:pt x="63" y="48"/>
                  </a:lnTo>
                  <a:close/>
                  <a:moveTo>
                    <a:pt x="63" y="48"/>
                  </a:moveTo>
                  <a:lnTo>
                    <a:pt x="63" y="4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1" name="Freeform 59"/>
            <p:cNvSpPr>
              <a:spLocks noEditPoints="1"/>
            </p:cNvSpPr>
            <p:nvPr/>
          </p:nvSpPr>
          <p:spPr>
            <a:xfrm>
              <a:off x="4313" y="2720"/>
              <a:ext cx="63" cy="48"/>
            </a:xfrm>
            <a:custGeom>
              <a:avLst/>
              <a:gdLst>
                <a:gd name="txL" fmla="*/ 0 w 63"/>
                <a:gd name="txT" fmla="*/ 0 h 48"/>
                <a:gd name="txR" fmla="*/ 63 w 63"/>
                <a:gd name="txB" fmla="*/ 48 h 48"/>
              </a:gdLst>
              <a:ahLst/>
              <a:cxnLst>
                <a:cxn ang="0">
                  <a:pos x="63" y="0"/>
                </a:cxn>
                <a:cxn ang="0">
                  <a:pos x="15" y="16"/>
                </a:cxn>
                <a:cxn ang="0">
                  <a:pos x="8" y="24"/>
                </a:cxn>
                <a:cxn ang="0">
                  <a:pos x="0" y="48"/>
                </a:cxn>
                <a:cxn ang="0">
                  <a:pos x="0" y="48"/>
                </a:cxn>
                <a:cxn ang="0">
                  <a:pos x="8" y="24"/>
                </a:cxn>
                <a:cxn ang="0">
                  <a:pos x="15" y="16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</a:cxnLst>
              <a:rect l="txL" t="txT" r="txR" b="txB"/>
              <a:pathLst>
                <a:path w="63" h="48">
                  <a:moveTo>
                    <a:pt x="63" y="0"/>
                  </a:moveTo>
                  <a:lnTo>
                    <a:pt x="15" y="16"/>
                  </a:lnTo>
                  <a:lnTo>
                    <a:pt x="8" y="24"/>
                  </a:lnTo>
                  <a:lnTo>
                    <a:pt x="0" y="48"/>
                  </a:lnTo>
                  <a:lnTo>
                    <a:pt x="8" y="24"/>
                  </a:lnTo>
                  <a:lnTo>
                    <a:pt x="15" y="16"/>
                  </a:lnTo>
                  <a:lnTo>
                    <a:pt x="63" y="0"/>
                  </a:lnTo>
                  <a:close/>
                  <a:moveTo>
                    <a:pt x="63" y="0"/>
                  </a:moveTo>
                  <a:lnTo>
                    <a:pt x="6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2" name="Freeform 60"/>
            <p:cNvSpPr>
              <a:spLocks noEditPoints="1"/>
            </p:cNvSpPr>
            <p:nvPr/>
          </p:nvSpPr>
          <p:spPr>
            <a:xfrm>
              <a:off x="4313" y="2768"/>
              <a:ext cx="63" cy="47"/>
            </a:xfrm>
            <a:custGeom>
              <a:avLst/>
              <a:gdLst>
                <a:gd name="txL" fmla="*/ 0 w 63"/>
                <a:gd name="txT" fmla="*/ 0 h 47"/>
                <a:gd name="txR" fmla="*/ 63 w 63"/>
                <a:gd name="txB" fmla="*/ 47 h 47"/>
              </a:gdLst>
              <a:ahLst/>
              <a:cxnLst>
                <a:cxn ang="0">
                  <a:pos x="0" y="0"/>
                </a:cxn>
                <a:cxn ang="0">
                  <a:pos x="8" y="15"/>
                </a:cxn>
                <a:cxn ang="0">
                  <a:pos x="15" y="31"/>
                </a:cxn>
                <a:cxn ang="0">
                  <a:pos x="39" y="47"/>
                </a:cxn>
                <a:cxn ang="0">
                  <a:pos x="63" y="47"/>
                </a:cxn>
                <a:cxn ang="0">
                  <a:pos x="63" y="47"/>
                </a:cxn>
                <a:cxn ang="0">
                  <a:pos x="39" y="47"/>
                </a:cxn>
                <a:cxn ang="0">
                  <a:pos x="15" y="31"/>
                </a:cxn>
                <a:cxn ang="0">
                  <a:pos x="8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" h="47">
                  <a:moveTo>
                    <a:pt x="0" y="0"/>
                  </a:moveTo>
                  <a:lnTo>
                    <a:pt x="8" y="15"/>
                  </a:lnTo>
                  <a:lnTo>
                    <a:pt x="15" y="31"/>
                  </a:lnTo>
                  <a:lnTo>
                    <a:pt x="39" y="47"/>
                  </a:lnTo>
                  <a:lnTo>
                    <a:pt x="63" y="47"/>
                  </a:lnTo>
                  <a:lnTo>
                    <a:pt x="39" y="47"/>
                  </a:lnTo>
                  <a:lnTo>
                    <a:pt x="15" y="31"/>
                  </a:lnTo>
                  <a:lnTo>
                    <a:pt x="8" y="15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3" name="Freeform 61"/>
            <p:cNvSpPr/>
            <p:nvPr/>
          </p:nvSpPr>
          <p:spPr>
            <a:xfrm>
              <a:off x="4376" y="2815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4" name="Freeform 62"/>
            <p:cNvSpPr/>
            <p:nvPr/>
          </p:nvSpPr>
          <p:spPr>
            <a:xfrm>
              <a:off x="3287" y="1649"/>
              <a:ext cx="315" cy="638"/>
            </a:xfrm>
            <a:custGeom>
              <a:avLst/>
              <a:gdLst>
                <a:gd name="txL" fmla="*/ 0 w 315"/>
                <a:gd name="txT" fmla="*/ 0 h 638"/>
                <a:gd name="txR" fmla="*/ 315 w 315"/>
                <a:gd name="txB" fmla="*/ 638 h 638"/>
              </a:gdLst>
              <a:ahLst/>
              <a:cxnLst>
                <a:cxn ang="0">
                  <a:pos x="315" y="638"/>
                </a:cxn>
                <a:cxn ang="0">
                  <a:pos x="315" y="0"/>
                </a:cxn>
                <a:cxn ang="0">
                  <a:pos x="0" y="0"/>
                </a:cxn>
                <a:cxn ang="0">
                  <a:pos x="0" y="638"/>
                </a:cxn>
                <a:cxn ang="0">
                  <a:pos x="315" y="638"/>
                </a:cxn>
                <a:cxn ang="0">
                  <a:pos x="315" y="638"/>
                </a:cxn>
              </a:cxnLst>
              <a:rect l="txL" t="txT" r="txR" b="txB"/>
              <a:pathLst>
                <a:path w="315" h="638">
                  <a:moveTo>
                    <a:pt x="315" y="638"/>
                  </a:moveTo>
                  <a:lnTo>
                    <a:pt x="315" y="0"/>
                  </a:lnTo>
                  <a:lnTo>
                    <a:pt x="0" y="0"/>
                  </a:lnTo>
                  <a:lnTo>
                    <a:pt x="0" y="638"/>
                  </a:lnTo>
                  <a:lnTo>
                    <a:pt x="315" y="63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5" name="Freeform 63"/>
            <p:cNvSpPr/>
            <p:nvPr/>
          </p:nvSpPr>
          <p:spPr>
            <a:xfrm>
              <a:off x="3602" y="1649"/>
              <a:ext cx="1" cy="638"/>
            </a:xfrm>
            <a:custGeom>
              <a:avLst/>
              <a:gdLst>
                <a:gd name="txL" fmla="*/ 0 w 1"/>
                <a:gd name="txT" fmla="*/ 0 h 638"/>
                <a:gd name="txR" fmla="*/ 1 w 1"/>
                <a:gd name="txB" fmla="*/ 638 h 638"/>
              </a:gdLst>
              <a:ahLst/>
              <a:cxnLst>
                <a:cxn ang="0">
                  <a:pos x="0" y="638"/>
                </a:cxn>
                <a:cxn ang="0">
                  <a:pos x="0" y="0"/>
                </a:cxn>
                <a:cxn ang="0">
                  <a:pos x="0" y="638"/>
                </a:cxn>
                <a:cxn ang="0">
                  <a:pos x="0" y="638"/>
                </a:cxn>
              </a:cxnLst>
              <a:rect l="txL" t="txT" r="txR" b="txB"/>
              <a:pathLst>
                <a:path w="1" h="638">
                  <a:moveTo>
                    <a:pt x="0" y="638"/>
                  </a:moveTo>
                  <a:lnTo>
                    <a:pt x="0" y="0"/>
                  </a:lnTo>
                  <a:lnTo>
                    <a:pt x="0" y="63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6" name="Freeform 64"/>
            <p:cNvSpPr>
              <a:spLocks noEditPoints="1"/>
            </p:cNvSpPr>
            <p:nvPr/>
          </p:nvSpPr>
          <p:spPr>
            <a:xfrm>
              <a:off x="3287" y="1649"/>
              <a:ext cx="315" cy="1"/>
            </a:xfrm>
            <a:custGeom>
              <a:avLst/>
              <a:gdLst>
                <a:gd name="txL" fmla="*/ 0 w 315"/>
                <a:gd name="txT" fmla="*/ 0 h 1"/>
                <a:gd name="txR" fmla="*/ 315 w 315"/>
                <a:gd name="txB" fmla="*/ 1 h 1"/>
              </a:gdLst>
              <a:ahLst/>
              <a:cxnLst>
                <a:cxn ang="0">
                  <a:pos x="315" y="0"/>
                </a:cxn>
                <a:cxn ang="0">
                  <a:pos x="0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  <a:cxn ang="0">
                  <a:pos x="315" y="0"/>
                </a:cxn>
              </a:cxnLst>
              <a:rect l="txL" t="txT" r="txR" b="txB"/>
              <a:pathLst>
                <a:path w="315" h="1">
                  <a:moveTo>
                    <a:pt x="315" y="0"/>
                  </a:moveTo>
                  <a:lnTo>
                    <a:pt x="0" y="0"/>
                  </a:lnTo>
                  <a:lnTo>
                    <a:pt x="315" y="0"/>
                  </a:lnTo>
                  <a:close/>
                  <a:moveTo>
                    <a:pt x="315" y="0"/>
                  </a:moveTo>
                  <a:lnTo>
                    <a:pt x="31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7" name="Freeform 65"/>
            <p:cNvSpPr>
              <a:spLocks noEditPoints="1"/>
            </p:cNvSpPr>
            <p:nvPr/>
          </p:nvSpPr>
          <p:spPr>
            <a:xfrm>
              <a:off x="3287" y="1649"/>
              <a:ext cx="1" cy="638"/>
            </a:xfrm>
            <a:custGeom>
              <a:avLst/>
              <a:gdLst>
                <a:gd name="txL" fmla="*/ 0 w 1"/>
                <a:gd name="txT" fmla="*/ 0 h 638"/>
                <a:gd name="txR" fmla="*/ 1 w 1"/>
                <a:gd name="txB" fmla="*/ 638 h 638"/>
              </a:gdLst>
              <a:ahLst/>
              <a:cxnLst>
                <a:cxn ang="0">
                  <a:pos x="0" y="0"/>
                </a:cxn>
                <a:cxn ang="0">
                  <a:pos x="0" y="63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638">
                  <a:moveTo>
                    <a:pt x="0" y="0"/>
                  </a:moveTo>
                  <a:lnTo>
                    <a:pt x="0" y="63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8" name="Freeform 66"/>
            <p:cNvSpPr>
              <a:spLocks noEditPoints="1"/>
            </p:cNvSpPr>
            <p:nvPr/>
          </p:nvSpPr>
          <p:spPr>
            <a:xfrm>
              <a:off x="3287" y="2287"/>
              <a:ext cx="315" cy="1"/>
            </a:xfrm>
            <a:custGeom>
              <a:avLst/>
              <a:gdLst>
                <a:gd name="txL" fmla="*/ 0 w 315"/>
                <a:gd name="txT" fmla="*/ 0 h 1"/>
                <a:gd name="txR" fmla="*/ 315 w 31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15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315" h="1">
                  <a:moveTo>
                    <a:pt x="0" y="0"/>
                  </a:moveTo>
                  <a:lnTo>
                    <a:pt x="315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49" name="Freeform 67"/>
            <p:cNvSpPr/>
            <p:nvPr/>
          </p:nvSpPr>
          <p:spPr>
            <a:xfrm>
              <a:off x="3602" y="228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0" name="Freeform 68"/>
            <p:cNvSpPr/>
            <p:nvPr/>
          </p:nvSpPr>
          <p:spPr>
            <a:xfrm>
              <a:off x="3555" y="1026"/>
              <a:ext cx="545" cy="1"/>
            </a:xfrm>
            <a:custGeom>
              <a:avLst/>
              <a:gdLst>
                <a:gd name="txL" fmla="*/ 0 w 545"/>
                <a:gd name="txT" fmla="*/ 0 h 1"/>
                <a:gd name="txR" fmla="*/ 545 w 54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545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45" h="1">
                  <a:moveTo>
                    <a:pt x="0" y="0"/>
                  </a:moveTo>
                  <a:lnTo>
                    <a:pt x="54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1" name="Freeform 69"/>
            <p:cNvSpPr/>
            <p:nvPr/>
          </p:nvSpPr>
          <p:spPr>
            <a:xfrm>
              <a:off x="4060" y="987"/>
              <a:ext cx="221" cy="87"/>
            </a:xfrm>
            <a:custGeom>
              <a:avLst/>
              <a:gdLst>
                <a:gd name="txL" fmla="*/ 0 w 221"/>
                <a:gd name="txT" fmla="*/ 0 h 87"/>
                <a:gd name="txR" fmla="*/ 221 w 221"/>
                <a:gd name="txB" fmla="*/ 87 h 87"/>
              </a:gdLst>
              <a:ahLst/>
              <a:cxnLst>
                <a:cxn ang="0">
                  <a:pos x="0" y="87"/>
                </a:cxn>
                <a:cxn ang="0">
                  <a:pos x="221" y="39"/>
                </a:cxn>
                <a:cxn ang="0">
                  <a:pos x="0" y="0"/>
                </a:cxn>
                <a:cxn ang="0">
                  <a:pos x="0" y="87"/>
                </a:cxn>
                <a:cxn ang="0">
                  <a:pos x="0" y="87"/>
                </a:cxn>
              </a:cxnLst>
              <a:rect l="txL" t="txT" r="txR" b="txB"/>
              <a:pathLst>
                <a:path w="221" h="87">
                  <a:moveTo>
                    <a:pt x="0" y="87"/>
                  </a:moveTo>
                  <a:lnTo>
                    <a:pt x="221" y="39"/>
                  </a:lnTo>
                  <a:lnTo>
                    <a:pt x="0" y="0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2" name="Freeform 70"/>
            <p:cNvSpPr>
              <a:spLocks noEditPoints="1"/>
            </p:cNvSpPr>
            <p:nvPr/>
          </p:nvSpPr>
          <p:spPr>
            <a:xfrm>
              <a:off x="3894" y="766"/>
              <a:ext cx="64" cy="142"/>
            </a:xfrm>
            <a:custGeom>
              <a:avLst/>
              <a:gdLst>
                <a:gd name="txL" fmla="*/ 0 w 64"/>
                <a:gd name="txT" fmla="*/ 0 h 142"/>
                <a:gd name="txR" fmla="*/ 64 w 64"/>
                <a:gd name="txB" fmla="*/ 142 h 142"/>
              </a:gdLst>
              <a:ahLst/>
              <a:cxnLst>
                <a:cxn ang="0">
                  <a:pos x="48" y="118"/>
                </a:cxn>
                <a:cxn ang="0">
                  <a:pos x="40" y="126"/>
                </a:cxn>
                <a:cxn ang="0">
                  <a:pos x="24" y="134"/>
                </a:cxn>
                <a:cxn ang="0">
                  <a:pos x="24" y="134"/>
                </a:cxn>
                <a:cxn ang="0">
                  <a:pos x="24" y="126"/>
                </a:cxn>
                <a:cxn ang="0">
                  <a:pos x="24" y="118"/>
                </a:cxn>
                <a:cxn ang="0">
                  <a:pos x="56" y="48"/>
                </a:cxn>
                <a:cxn ang="0">
                  <a:pos x="48" y="48"/>
                </a:cxn>
                <a:cxn ang="0">
                  <a:pos x="32" y="48"/>
                </a:cxn>
                <a:cxn ang="0">
                  <a:pos x="8" y="48"/>
                </a:cxn>
                <a:cxn ang="0">
                  <a:pos x="8" y="55"/>
                </a:cxn>
                <a:cxn ang="0">
                  <a:pos x="24" y="55"/>
                </a:cxn>
                <a:cxn ang="0">
                  <a:pos x="24" y="63"/>
                </a:cxn>
                <a:cxn ang="0">
                  <a:pos x="24" y="71"/>
                </a:cxn>
                <a:cxn ang="0">
                  <a:pos x="16" y="95"/>
                </a:cxn>
                <a:cxn ang="0">
                  <a:pos x="8" y="118"/>
                </a:cxn>
                <a:cxn ang="0">
                  <a:pos x="0" y="134"/>
                </a:cxn>
                <a:cxn ang="0">
                  <a:pos x="0" y="142"/>
                </a:cxn>
                <a:cxn ang="0">
                  <a:pos x="16" y="142"/>
                </a:cxn>
                <a:cxn ang="0">
                  <a:pos x="40" y="134"/>
                </a:cxn>
                <a:cxn ang="0">
                  <a:pos x="56" y="118"/>
                </a:cxn>
                <a:cxn ang="0">
                  <a:pos x="48" y="118"/>
                </a:cxn>
                <a:cxn ang="0">
                  <a:pos x="64" y="8"/>
                </a:cxn>
                <a:cxn ang="0">
                  <a:pos x="56" y="8"/>
                </a:cxn>
                <a:cxn ang="0">
                  <a:pos x="48" y="0"/>
                </a:cxn>
                <a:cxn ang="0">
                  <a:pos x="40" y="0"/>
                </a:cxn>
                <a:cxn ang="0">
                  <a:pos x="32" y="8"/>
                </a:cxn>
                <a:cxn ang="0">
                  <a:pos x="40" y="16"/>
                </a:cxn>
                <a:cxn ang="0">
                  <a:pos x="48" y="24"/>
                </a:cxn>
                <a:cxn ang="0">
                  <a:pos x="56" y="16"/>
                </a:cxn>
                <a:cxn ang="0">
                  <a:pos x="64" y="8"/>
                </a:cxn>
                <a:cxn ang="0">
                  <a:pos x="64" y="8"/>
                </a:cxn>
              </a:cxnLst>
              <a:rect l="txL" t="txT" r="txR" b="txB"/>
              <a:pathLst>
                <a:path w="64" h="142">
                  <a:moveTo>
                    <a:pt x="48" y="118"/>
                  </a:moveTo>
                  <a:lnTo>
                    <a:pt x="40" y="126"/>
                  </a:lnTo>
                  <a:lnTo>
                    <a:pt x="24" y="134"/>
                  </a:lnTo>
                  <a:lnTo>
                    <a:pt x="24" y="126"/>
                  </a:lnTo>
                  <a:lnTo>
                    <a:pt x="24" y="118"/>
                  </a:lnTo>
                  <a:lnTo>
                    <a:pt x="56" y="48"/>
                  </a:lnTo>
                  <a:lnTo>
                    <a:pt x="48" y="48"/>
                  </a:lnTo>
                  <a:lnTo>
                    <a:pt x="32" y="48"/>
                  </a:lnTo>
                  <a:lnTo>
                    <a:pt x="8" y="48"/>
                  </a:lnTo>
                  <a:lnTo>
                    <a:pt x="8" y="55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1"/>
                  </a:lnTo>
                  <a:lnTo>
                    <a:pt x="16" y="95"/>
                  </a:lnTo>
                  <a:lnTo>
                    <a:pt x="8" y="118"/>
                  </a:lnTo>
                  <a:lnTo>
                    <a:pt x="0" y="134"/>
                  </a:lnTo>
                  <a:lnTo>
                    <a:pt x="0" y="142"/>
                  </a:lnTo>
                  <a:lnTo>
                    <a:pt x="16" y="142"/>
                  </a:lnTo>
                  <a:lnTo>
                    <a:pt x="40" y="134"/>
                  </a:lnTo>
                  <a:lnTo>
                    <a:pt x="56" y="118"/>
                  </a:lnTo>
                  <a:lnTo>
                    <a:pt x="48" y="118"/>
                  </a:lnTo>
                  <a:close/>
                  <a:moveTo>
                    <a:pt x="64" y="8"/>
                  </a:moveTo>
                  <a:lnTo>
                    <a:pt x="56" y="8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56" y="16"/>
                  </a:lnTo>
                  <a:lnTo>
                    <a:pt x="64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3" name="Freeform 71"/>
            <p:cNvSpPr/>
            <p:nvPr/>
          </p:nvSpPr>
          <p:spPr>
            <a:xfrm>
              <a:off x="1756" y="1026"/>
              <a:ext cx="552" cy="1"/>
            </a:xfrm>
            <a:custGeom>
              <a:avLst/>
              <a:gdLst>
                <a:gd name="txL" fmla="*/ 0 w 552"/>
                <a:gd name="txT" fmla="*/ 0 h 1"/>
                <a:gd name="txR" fmla="*/ 552 w 552"/>
                <a:gd name="txB" fmla="*/ 1 h 1"/>
              </a:gdLst>
              <a:ahLst/>
              <a:cxnLst>
                <a:cxn ang="0">
                  <a:pos x="552" y="0"/>
                </a:cxn>
                <a:cxn ang="0">
                  <a:pos x="0" y="0"/>
                </a:cxn>
                <a:cxn ang="0">
                  <a:pos x="552" y="0"/>
                </a:cxn>
                <a:cxn ang="0">
                  <a:pos x="552" y="0"/>
                </a:cxn>
              </a:cxnLst>
              <a:rect l="txL" t="txT" r="txR" b="txB"/>
              <a:pathLst>
                <a:path w="552" h="1">
                  <a:moveTo>
                    <a:pt x="552" y="0"/>
                  </a:moveTo>
                  <a:lnTo>
                    <a:pt x="0" y="0"/>
                  </a:lnTo>
                  <a:lnTo>
                    <a:pt x="552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4" name="Freeform 72"/>
            <p:cNvSpPr/>
            <p:nvPr/>
          </p:nvSpPr>
          <p:spPr>
            <a:xfrm>
              <a:off x="1575" y="987"/>
              <a:ext cx="221" cy="87"/>
            </a:xfrm>
            <a:custGeom>
              <a:avLst/>
              <a:gdLst>
                <a:gd name="txL" fmla="*/ 0 w 221"/>
                <a:gd name="txT" fmla="*/ 0 h 87"/>
                <a:gd name="txR" fmla="*/ 221 w 221"/>
                <a:gd name="txB" fmla="*/ 87 h 87"/>
              </a:gdLst>
              <a:ahLst/>
              <a:cxnLst>
                <a:cxn ang="0">
                  <a:pos x="221" y="0"/>
                </a:cxn>
                <a:cxn ang="0">
                  <a:pos x="0" y="39"/>
                </a:cxn>
                <a:cxn ang="0">
                  <a:pos x="221" y="87"/>
                </a:cxn>
                <a:cxn ang="0">
                  <a:pos x="221" y="0"/>
                </a:cxn>
                <a:cxn ang="0">
                  <a:pos x="221" y="0"/>
                </a:cxn>
              </a:cxnLst>
              <a:rect l="txL" t="txT" r="txR" b="txB"/>
              <a:pathLst>
                <a:path w="221" h="87">
                  <a:moveTo>
                    <a:pt x="221" y="0"/>
                  </a:moveTo>
                  <a:lnTo>
                    <a:pt x="0" y="39"/>
                  </a:lnTo>
                  <a:lnTo>
                    <a:pt x="221" y="87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55" name="Freeform 73"/>
            <p:cNvSpPr>
              <a:spLocks noEditPoints="1"/>
            </p:cNvSpPr>
            <p:nvPr/>
          </p:nvSpPr>
          <p:spPr>
            <a:xfrm>
              <a:off x="1898" y="766"/>
              <a:ext cx="63" cy="142"/>
            </a:xfrm>
            <a:custGeom>
              <a:avLst/>
              <a:gdLst>
                <a:gd name="txL" fmla="*/ 0 w 63"/>
                <a:gd name="txT" fmla="*/ 0 h 142"/>
                <a:gd name="txR" fmla="*/ 63 w 63"/>
                <a:gd name="txB" fmla="*/ 142 h 142"/>
              </a:gdLst>
              <a:ahLst/>
              <a:cxnLst>
                <a:cxn ang="0">
                  <a:pos x="47" y="118"/>
                </a:cxn>
                <a:cxn ang="0">
                  <a:pos x="40" y="126"/>
                </a:cxn>
                <a:cxn ang="0">
                  <a:pos x="24" y="134"/>
                </a:cxn>
                <a:cxn ang="0">
                  <a:pos x="24" y="134"/>
                </a:cxn>
                <a:cxn ang="0">
                  <a:pos x="24" y="126"/>
                </a:cxn>
                <a:cxn ang="0">
                  <a:pos x="24" y="126"/>
                </a:cxn>
                <a:cxn ang="0">
                  <a:pos x="24" y="118"/>
                </a:cxn>
                <a:cxn ang="0">
                  <a:pos x="55" y="48"/>
                </a:cxn>
                <a:cxn ang="0">
                  <a:pos x="55" y="48"/>
                </a:cxn>
                <a:cxn ang="0">
                  <a:pos x="32" y="48"/>
                </a:cxn>
                <a:cxn ang="0">
                  <a:pos x="8" y="48"/>
                </a:cxn>
                <a:cxn ang="0">
                  <a:pos x="8" y="55"/>
                </a:cxn>
                <a:cxn ang="0">
                  <a:pos x="24" y="55"/>
                </a:cxn>
                <a:cxn ang="0">
                  <a:pos x="24" y="63"/>
                </a:cxn>
                <a:cxn ang="0">
                  <a:pos x="24" y="71"/>
                </a:cxn>
                <a:cxn ang="0">
                  <a:pos x="16" y="95"/>
                </a:cxn>
                <a:cxn ang="0">
                  <a:pos x="8" y="111"/>
                </a:cxn>
                <a:cxn ang="0">
                  <a:pos x="0" y="126"/>
                </a:cxn>
                <a:cxn ang="0">
                  <a:pos x="0" y="134"/>
                </a:cxn>
                <a:cxn ang="0">
                  <a:pos x="16" y="142"/>
                </a:cxn>
                <a:cxn ang="0">
                  <a:pos x="40" y="134"/>
                </a:cxn>
                <a:cxn ang="0">
                  <a:pos x="55" y="118"/>
                </a:cxn>
                <a:cxn ang="0">
                  <a:pos x="47" y="118"/>
                </a:cxn>
                <a:cxn ang="0">
                  <a:pos x="63" y="8"/>
                </a:cxn>
                <a:cxn ang="0">
                  <a:pos x="55" y="8"/>
                </a:cxn>
                <a:cxn ang="0">
                  <a:pos x="47" y="0"/>
                </a:cxn>
                <a:cxn ang="0">
                  <a:pos x="40" y="0"/>
                </a:cxn>
                <a:cxn ang="0">
                  <a:pos x="32" y="8"/>
                </a:cxn>
                <a:cxn ang="0">
                  <a:pos x="40" y="16"/>
                </a:cxn>
                <a:cxn ang="0">
                  <a:pos x="47" y="24"/>
                </a:cxn>
                <a:cxn ang="0">
                  <a:pos x="55" y="16"/>
                </a:cxn>
                <a:cxn ang="0">
                  <a:pos x="63" y="8"/>
                </a:cxn>
                <a:cxn ang="0">
                  <a:pos x="63" y="8"/>
                </a:cxn>
              </a:cxnLst>
              <a:rect l="txL" t="txT" r="txR" b="txB"/>
              <a:pathLst>
                <a:path w="63" h="142">
                  <a:moveTo>
                    <a:pt x="47" y="118"/>
                  </a:moveTo>
                  <a:lnTo>
                    <a:pt x="40" y="126"/>
                  </a:lnTo>
                  <a:lnTo>
                    <a:pt x="24" y="134"/>
                  </a:lnTo>
                  <a:lnTo>
                    <a:pt x="24" y="126"/>
                  </a:lnTo>
                  <a:lnTo>
                    <a:pt x="24" y="118"/>
                  </a:lnTo>
                  <a:lnTo>
                    <a:pt x="55" y="48"/>
                  </a:lnTo>
                  <a:lnTo>
                    <a:pt x="32" y="48"/>
                  </a:lnTo>
                  <a:lnTo>
                    <a:pt x="8" y="48"/>
                  </a:lnTo>
                  <a:lnTo>
                    <a:pt x="8" y="55"/>
                  </a:lnTo>
                  <a:lnTo>
                    <a:pt x="24" y="55"/>
                  </a:lnTo>
                  <a:lnTo>
                    <a:pt x="24" y="63"/>
                  </a:lnTo>
                  <a:lnTo>
                    <a:pt x="24" y="71"/>
                  </a:lnTo>
                  <a:lnTo>
                    <a:pt x="16" y="95"/>
                  </a:lnTo>
                  <a:lnTo>
                    <a:pt x="8" y="111"/>
                  </a:lnTo>
                  <a:lnTo>
                    <a:pt x="0" y="126"/>
                  </a:lnTo>
                  <a:lnTo>
                    <a:pt x="0" y="134"/>
                  </a:lnTo>
                  <a:lnTo>
                    <a:pt x="16" y="142"/>
                  </a:lnTo>
                  <a:lnTo>
                    <a:pt x="40" y="134"/>
                  </a:lnTo>
                  <a:lnTo>
                    <a:pt x="55" y="118"/>
                  </a:lnTo>
                  <a:lnTo>
                    <a:pt x="47" y="118"/>
                  </a:lnTo>
                  <a:close/>
                  <a:moveTo>
                    <a:pt x="63" y="8"/>
                  </a:moveTo>
                  <a:lnTo>
                    <a:pt x="55" y="8"/>
                  </a:lnTo>
                  <a:lnTo>
                    <a:pt x="47" y="0"/>
                  </a:lnTo>
                  <a:lnTo>
                    <a:pt x="40" y="0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7" y="24"/>
                  </a:lnTo>
                  <a:lnTo>
                    <a:pt x="55" y="16"/>
                  </a:lnTo>
                  <a:lnTo>
                    <a:pt x="63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6083" name="Object 5"/>
          <p:cNvGraphicFramePr/>
          <p:nvPr/>
        </p:nvGraphicFramePr>
        <p:xfrm>
          <a:off x="4849813" y="733425"/>
          <a:ext cx="1741487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" r:id="rId1" imgW="14020800" imgH="4876800" progId="">
                  <p:embed/>
                </p:oleObj>
              </mc:Choice>
              <mc:Fallback>
                <p:oleObj name="" r:id="rId1" imgW="14020800" imgH="4876800" progId="">
                  <p:embed/>
                  <p:pic>
                    <p:nvPicPr>
                      <p:cNvPr id="0" name="图片 6144" descr="image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49813" y="733425"/>
                        <a:ext cx="1741487" cy="60483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文本框 76"/>
          <p:cNvSpPr txBox="1"/>
          <p:nvPr/>
        </p:nvSpPr>
        <p:spPr>
          <a:xfrm>
            <a:off x="1119188" y="793750"/>
            <a:ext cx="45720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defRPr/>
            </a:pP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Arial" panose="020B0604020202020204" pitchFamily="34" charset="0"/>
              </a:rPr>
              <a:t>是否符合</a:t>
            </a:r>
            <a:r>
              <a:rPr kumimoji="0" lang="zh-CN" altLang="en-US" sz="24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Arial" panose="020B0604020202020204" pitchFamily="34" charset="0"/>
              </a:rPr>
              <a:t>关联参考方向</a:t>
            </a:r>
            <a:r>
              <a:rPr kumimoji="0" lang="zh-CN" altLang="en-US" sz="2400" b="1" kern="1200" cap="none" spc="0" normalizeH="0" baseline="0" noProof="0" dirty="0">
                <a:latin typeface="+mn-ea"/>
                <a:ea typeface="+mn-ea"/>
                <a:cs typeface="Arial" panose="020B0604020202020204" pitchFamily="34" charset="0"/>
              </a:rPr>
              <a:t>？</a:t>
            </a:r>
            <a:endParaRPr kumimoji="0" lang="zh-CN" altLang="en-US" sz="2400" kern="1200" cap="none" spc="0" normalizeH="0" baseline="0" noProof="0" dirty="0">
              <a:latin typeface="+mn-ea"/>
              <a:ea typeface="+mn-ea"/>
              <a:cs typeface="+mn-cs"/>
            </a:endParaRPr>
          </a:p>
        </p:txBody>
      </p:sp>
      <p:sp>
        <p:nvSpPr>
          <p:cNvPr id="46085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/>
          </p:cNvSpPr>
          <p:nvPr>
            <p:ph type="body" sz="half" idx="1"/>
          </p:nvPr>
        </p:nvSpPr>
        <p:spPr>
          <a:xfrm>
            <a:off x="517525" y="2335213"/>
            <a:ext cx="4038600" cy="3886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spcBef>
                <a:spcPct val="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2800" b="1" dirty="0"/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</a:pPr>
            <a:endParaRPr lang="en-US" altLang="zh-CN" sz="2400" b="1" dirty="0"/>
          </a:p>
        </p:txBody>
      </p:sp>
      <p:sp>
        <p:nvSpPr>
          <p:cNvPr id="48131" name="Rectangle 4"/>
          <p:cNvSpPr/>
          <p:nvPr/>
        </p:nvSpPr>
        <p:spPr>
          <a:xfrm>
            <a:off x="815975" y="3135313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48132" name="Text Box 5"/>
          <p:cNvSpPr txBox="1"/>
          <p:nvPr/>
        </p:nvSpPr>
        <p:spPr>
          <a:xfrm>
            <a:off x="360363" y="4176713"/>
            <a:ext cx="4103687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元件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吸收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功率为</a:t>
            </a:r>
            <a:r>
              <a:rPr lang="en-US" altLang="zh-CN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12W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的两种情况：</a:t>
            </a:r>
            <a:endParaRPr lang="en-US" altLang="zh-CN" sz="20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48133" name="Rectangle 6"/>
          <p:cNvSpPr/>
          <p:nvPr/>
        </p:nvSpPr>
        <p:spPr>
          <a:xfrm>
            <a:off x="960438" y="6145213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ea typeface="Arial" panose="020B0604020202020204" pitchFamily="34" charset="0"/>
            </a:endParaRPr>
          </a:p>
        </p:txBody>
      </p:sp>
      <p:sp>
        <p:nvSpPr>
          <p:cNvPr id="48134" name="Text Box 8"/>
          <p:cNvSpPr txBox="1"/>
          <p:nvPr/>
        </p:nvSpPr>
        <p:spPr>
          <a:xfrm>
            <a:off x="5208588" y="3925888"/>
            <a:ext cx="41402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000" b="1" dirty="0">
                <a:cs typeface="Arial" panose="020B0604020202020204" pitchFamily="34" charset="0"/>
              </a:rPr>
              <a:t>元件</a:t>
            </a:r>
            <a:r>
              <a:rPr lang="zh-CN" altLang="en-US" sz="2000" b="1" dirty="0">
                <a:solidFill>
                  <a:srgbClr val="FF0000"/>
                </a:solidFill>
                <a:cs typeface="Arial" panose="020B0604020202020204" pitchFamily="34" charset="0"/>
              </a:rPr>
              <a:t>发出</a:t>
            </a:r>
            <a:r>
              <a:rPr lang="zh-CN" altLang="en-US" sz="2000" b="1" dirty="0">
                <a:cs typeface="Arial" panose="020B0604020202020204" pitchFamily="34" charset="0"/>
              </a:rPr>
              <a:t>功率为</a:t>
            </a:r>
            <a:r>
              <a:rPr lang="en-US" altLang="zh-CN" sz="2000" b="1" dirty="0">
                <a:cs typeface="Arial" panose="020B0604020202020204" pitchFamily="34" charset="0"/>
              </a:rPr>
              <a:t>12W</a:t>
            </a:r>
            <a:r>
              <a:rPr lang="zh-CN" altLang="en-US" sz="2000" b="1" dirty="0">
                <a:cs typeface="Arial" panose="020B0604020202020204" pitchFamily="34" charset="0"/>
              </a:rPr>
              <a:t>的两种情况</a:t>
            </a:r>
            <a:r>
              <a:rPr lang="en-US" altLang="zh-CN" sz="2000" b="1" dirty="0">
                <a:cs typeface="Arial" panose="020B0604020202020204" pitchFamily="34" charset="0"/>
              </a:rPr>
              <a:t>:</a:t>
            </a:r>
            <a:endParaRPr lang="en-US" altLang="zh-CN" sz="2000" b="1" dirty="0">
              <a:ea typeface="Arial" panose="020B0604020202020204" pitchFamily="34" charset="0"/>
            </a:endParaRPr>
          </a:p>
        </p:txBody>
      </p:sp>
      <p:pic>
        <p:nvPicPr>
          <p:cNvPr id="48135" name="Picture 1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" y="542925"/>
            <a:ext cx="8364538" cy="3392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6" name="Text Box 14"/>
          <p:cNvSpPr txBox="1"/>
          <p:nvPr/>
        </p:nvSpPr>
        <p:spPr>
          <a:xfrm>
            <a:off x="5413375" y="4437063"/>
            <a:ext cx="3730625" cy="2246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cs typeface="Arial" panose="020B0604020202020204" pitchFamily="34" charset="0"/>
              </a:rPr>
              <a:t>(c)       p = - (4 *3) = -12(W)</a:t>
            </a:r>
            <a:endParaRPr lang="en-US" altLang="zh-CN" sz="2000" dirty="0">
              <a:cs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cs typeface="Arial" panose="020B0604020202020204" pitchFamily="34" charset="0"/>
              </a:rPr>
              <a:t>     </a:t>
            </a:r>
            <a:r>
              <a:rPr lang="zh-CN" altLang="en-US" sz="2000" dirty="0">
                <a:cs typeface="Arial" panose="020B0604020202020204" pitchFamily="34" charset="0"/>
              </a:rPr>
              <a:t>或</a:t>
            </a:r>
            <a:r>
              <a:rPr lang="en-US" altLang="zh-CN" sz="2000" dirty="0">
                <a:cs typeface="Arial" panose="020B0604020202020204" pitchFamily="34" charset="0"/>
              </a:rPr>
              <a:t> p = 4 * (-3) = -12(W)</a:t>
            </a:r>
            <a:endParaRPr lang="en-US" altLang="zh-CN" sz="2000" dirty="0">
              <a:cs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cs typeface="Arial" panose="020B0604020202020204" pitchFamily="34" charset="0"/>
              </a:rPr>
              <a:t>(d)       p = - (4 *3) = -12(W) </a:t>
            </a:r>
            <a:endParaRPr lang="en-US" altLang="zh-CN" sz="2000" dirty="0">
              <a:cs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cs typeface="Arial" panose="020B0604020202020204" pitchFamily="34" charset="0"/>
              </a:rPr>
              <a:t>     </a:t>
            </a:r>
            <a:r>
              <a:rPr lang="zh-CN" altLang="en-US" sz="2000" dirty="0">
                <a:cs typeface="Arial" panose="020B0604020202020204" pitchFamily="34" charset="0"/>
              </a:rPr>
              <a:t>或</a:t>
            </a:r>
            <a:r>
              <a:rPr lang="en-US" altLang="zh-CN" sz="2000" dirty="0">
                <a:cs typeface="Arial" panose="020B0604020202020204" pitchFamily="34" charset="0"/>
              </a:rPr>
              <a:t> p = 4 * (-3) = -12(W)</a:t>
            </a:r>
            <a:endParaRPr lang="en-US" altLang="zh-CN" sz="2000" dirty="0">
              <a:cs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000" dirty="0">
              <a:ea typeface="Arial" panose="020B0604020202020204" pitchFamily="34" charset="0"/>
            </a:endParaRPr>
          </a:p>
        </p:txBody>
      </p:sp>
      <p:sp>
        <p:nvSpPr>
          <p:cNvPr id="48137" name="Text Box 15"/>
          <p:cNvSpPr txBox="1"/>
          <p:nvPr/>
        </p:nvSpPr>
        <p:spPr>
          <a:xfrm>
            <a:off x="1025525" y="4603750"/>
            <a:ext cx="3494088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AutoNum type="alphaLcParenBoth"/>
            </a:pPr>
            <a:r>
              <a:rPr lang="en-US" altLang="zh-CN" sz="2000" dirty="0">
                <a:cs typeface="Arial" panose="020B0604020202020204" pitchFamily="34" charset="0"/>
              </a:rPr>
              <a:t> p = 4 * 3 = 12(W)</a:t>
            </a:r>
            <a:endParaRPr lang="en-US" altLang="zh-CN" sz="2000" dirty="0">
              <a:cs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AutoNum type="alphaLcParenBoth"/>
            </a:pPr>
            <a:r>
              <a:rPr lang="en-US" altLang="zh-CN" sz="2000" dirty="0">
                <a:cs typeface="Arial" panose="020B0604020202020204" pitchFamily="34" charset="0"/>
              </a:rPr>
              <a:t> p = 4 * 3 = 12(W)</a:t>
            </a:r>
            <a:endParaRPr lang="en-US" altLang="zh-CN" sz="2000" dirty="0">
              <a:ea typeface="Arial" panose="020B0604020202020204" pitchFamily="34" charset="0"/>
            </a:endParaRPr>
          </a:p>
        </p:txBody>
      </p:sp>
      <p:sp>
        <p:nvSpPr>
          <p:cNvPr id="48138" name="矩形 1"/>
          <p:cNvSpPr/>
          <p:nvPr/>
        </p:nvSpPr>
        <p:spPr>
          <a:xfrm>
            <a:off x="5935663" y="3167063"/>
            <a:ext cx="568325" cy="4000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cs typeface="Arial" panose="020B0604020202020204" pitchFamily="34" charset="0"/>
              </a:rPr>
              <a:t>(c)</a:t>
            </a:r>
            <a:r>
              <a:rPr lang="en-US" altLang="zh-CN" sz="2000" dirty="0">
                <a:cs typeface="Arial" panose="020B0604020202020204" pitchFamily="34" charset="0"/>
              </a:rPr>
              <a:t> </a:t>
            </a:r>
            <a:endParaRPr lang="en-US" altLang="zh-CN" sz="2000" dirty="0">
              <a:ea typeface="Arial" panose="020B0604020202020204" pitchFamily="34" charset="0"/>
            </a:endParaRPr>
          </a:p>
        </p:txBody>
      </p:sp>
      <p:sp>
        <p:nvSpPr>
          <p:cNvPr id="48139" name="矩形 10"/>
          <p:cNvSpPr/>
          <p:nvPr/>
        </p:nvSpPr>
        <p:spPr>
          <a:xfrm>
            <a:off x="7715250" y="3144838"/>
            <a:ext cx="582613" cy="4000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cs typeface="Arial" panose="020B0604020202020204" pitchFamily="34" charset="0"/>
              </a:rPr>
              <a:t>(d)</a:t>
            </a:r>
            <a:r>
              <a:rPr lang="en-US" altLang="zh-CN" sz="2000" dirty="0">
                <a:cs typeface="Arial" panose="020B0604020202020204" pitchFamily="34" charset="0"/>
              </a:rPr>
              <a:t> </a:t>
            </a:r>
            <a:endParaRPr lang="en-US" altLang="zh-CN" sz="2000" dirty="0">
              <a:ea typeface="Arial" panose="020B0604020202020204" pitchFamily="34" charset="0"/>
            </a:endParaRPr>
          </a:p>
        </p:txBody>
      </p:sp>
      <p:sp>
        <p:nvSpPr>
          <p:cNvPr id="48140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xfrm>
            <a:off x="698500" y="4164013"/>
            <a:ext cx="7624763" cy="1027112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sz="32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zh-CN" altLang="en-US" sz="32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3200" b="1" dirty="0">
                <a:latin typeface="Times New Roman" panose="02020603050405020304" pitchFamily="18" charset="0"/>
              </a:rPr>
              <a:t>任何电路都必须遵守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能量守恒定律</a:t>
            </a:r>
            <a:r>
              <a:rPr lang="zh-CN" altLang="en-US" sz="3200" b="1" dirty="0">
                <a:latin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49155" name="Object 3"/>
          <p:cNvGraphicFramePr/>
          <p:nvPr>
            <p:ph sz="half" idx="1"/>
          </p:nvPr>
        </p:nvGraphicFramePr>
        <p:xfrm>
          <a:off x="3409950" y="5191125"/>
          <a:ext cx="187166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" r:id="rId1" imgW="13411200" imgH="6096000" progId="">
                  <p:embed/>
                </p:oleObj>
              </mc:Choice>
              <mc:Fallback>
                <p:oleObj name="" r:id="rId1" imgW="13411200" imgH="6096000" progId="">
                  <p:embed/>
                  <p:pic>
                    <p:nvPicPr>
                      <p:cNvPr id="0" name="图片 7168" descr="image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09950" y="5191125"/>
                        <a:ext cx="1871663" cy="84931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4"/>
          <p:cNvGraphicFramePr/>
          <p:nvPr>
            <p:ph sz="half" idx="2"/>
          </p:nvPr>
        </p:nvGraphicFramePr>
        <p:xfrm>
          <a:off x="504825" y="2139950"/>
          <a:ext cx="3887788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" r:id="rId3" imgW="28041600" imgH="8534400" progId="">
                  <p:embed/>
                </p:oleObj>
              </mc:Choice>
              <mc:Fallback>
                <p:oleObj name="" r:id="rId3" imgW="28041600" imgH="8534400" progId="">
                  <p:embed/>
                  <p:pic>
                    <p:nvPicPr>
                      <p:cNvPr id="0" name="图片 7169" descr="image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4825" y="2139950"/>
                        <a:ext cx="3887788" cy="1184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Text Box 5"/>
          <p:cNvSpPr txBox="1"/>
          <p:nvPr/>
        </p:nvSpPr>
        <p:spPr>
          <a:xfrm>
            <a:off x="576263" y="1196975"/>
            <a:ext cx="7777162" cy="584200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能量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是指做功的能力，单位为</a:t>
            </a: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焦耳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。</a:t>
            </a:r>
            <a:endParaRPr lang="en-US" altLang="zh-CN" b="1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sp>
        <p:nvSpPr>
          <p:cNvPr id="49158" name="Text Box 6"/>
          <p:cNvSpPr txBox="1"/>
          <p:nvPr/>
        </p:nvSpPr>
        <p:spPr>
          <a:xfrm>
            <a:off x="4824413" y="2066925"/>
            <a:ext cx="381635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1 Wh =3,600 J 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Arial" panose="020B0604020202020204" pitchFamily="34" charset="0"/>
              </a:rPr>
              <a:t>度电＝１千瓦小时</a:t>
            </a:r>
            <a:endParaRPr lang="zh-CN" altLang="en-US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9" name="Text Box 7"/>
          <p:cNvSpPr txBox="1"/>
          <p:nvPr/>
        </p:nvSpPr>
        <p:spPr>
          <a:xfrm>
            <a:off x="936625" y="544513"/>
            <a:ext cx="345598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能量</a:t>
            </a:r>
            <a:endParaRPr lang="en-US" altLang="zh-CN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60" name="Rectangle 8"/>
          <p:cNvSpPr/>
          <p:nvPr/>
        </p:nvSpPr>
        <p:spPr>
          <a:xfrm>
            <a:off x="931863" y="5876925"/>
            <a:ext cx="7623175" cy="9556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吸收的正功率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=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发出的负功率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49161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6948488" y="6308725"/>
            <a:ext cx="2133600" cy="457200"/>
          </a:xfrm>
        </p:spPr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/>
          <a:srcRect t="7047" b="7204"/>
          <a:stretch>
            <a:fillRect/>
          </a:stretch>
        </p:blipFill>
        <p:spPr>
          <a:xfrm>
            <a:off x="462280" y="1184275"/>
            <a:ext cx="7833995" cy="2426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38985" y="4051300"/>
            <a:ext cx="47453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解：（</a:t>
            </a:r>
            <a:r>
              <a:rPr lang="en-US" altLang="zh-CN" dirty="0"/>
              <a:t>a</a:t>
            </a:r>
            <a:r>
              <a:rPr lang="en-US" altLang="zh-CN" dirty="0" smtClean="0"/>
              <a:t>)=(25J)/(5C)=5V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(b</a:t>
            </a:r>
            <a:r>
              <a:rPr lang="en-US" altLang="zh-CN" dirty="0" smtClean="0"/>
              <a:t>)=(25J)/(-</a:t>
            </a:r>
            <a:r>
              <a:rPr lang="en-US" altLang="zh-CN" dirty="0"/>
              <a:t>10C)=-2.5V</a:t>
            </a:r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/>
          </p:cNvSpPr>
          <p:nvPr>
            <p:ph type="body" sz="half" idx="1"/>
          </p:nvPr>
        </p:nvSpPr>
        <p:spPr>
          <a:xfrm>
            <a:off x="179388" y="1412875"/>
            <a:ext cx="8567737" cy="38163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1-5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计算在</a:t>
            </a:r>
            <a:r>
              <a:rPr lang="en-US" altLang="zh-CN" sz="3600" b="1" i="1" u="sng" dirty="0">
                <a:latin typeface="Times New Roman" panose="02020603050405020304" pitchFamily="18" charset="0"/>
              </a:rPr>
              <a:t>t</a:t>
            </a:r>
            <a:r>
              <a:rPr lang="en-US" altLang="zh-CN" sz="3600" b="1" u="sng" dirty="0">
                <a:latin typeface="Times New Roman" panose="02020603050405020304" pitchFamily="18" charset="0"/>
              </a:rPr>
              <a:t> = 3 ms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时该元件所吸收的功率，如果流入某元件正极的电流为：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          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</a:t>
            </a:r>
            <a:r>
              <a:rPr lang="zh-CN" altLang="en-US" sz="3600" b="1" dirty="0">
                <a:latin typeface="Times New Roman" panose="02020603050405020304" pitchFamily="18" charset="0"/>
              </a:rPr>
              <a:t>且该元件两端的电压为：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(a)</a:t>
            </a: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 </a:t>
            </a: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= 3</a:t>
            </a:r>
            <a:r>
              <a:rPr lang="en-US" altLang="zh-CN" sz="36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 </a:t>
            </a:r>
            <a:endParaRPr lang="en-US" altLang="zh-CN" sz="36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                                </a:t>
            </a: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(b)</a:t>
            </a: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36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= 3 </a:t>
            </a:r>
            <a:r>
              <a:rPr lang="en-US" altLang="zh-CN" sz="36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di/dt</a:t>
            </a:r>
            <a:r>
              <a:rPr lang="en-US" altLang="zh-CN" sz="36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en-US" altLang="zh-CN" sz="36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36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   </a:t>
            </a:r>
            <a:endParaRPr lang="en-US" altLang="zh-CN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51203" name="Object 3"/>
          <p:cNvGraphicFramePr/>
          <p:nvPr>
            <p:ph sz="half" idx="2"/>
          </p:nvPr>
        </p:nvGraphicFramePr>
        <p:xfrm>
          <a:off x="2555875" y="3321050"/>
          <a:ext cx="340042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" r:id="rId1" imgW="23164800" imgH="4876800" progId="">
                  <p:embed/>
                </p:oleObj>
              </mc:Choice>
              <mc:Fallback>
                <p:oleObj name="" r:id="rId1" imgW="23164800" imgH="4876800" progId="">
                  <p:embed/>
                  <p:pic>
                    <p:nvPicPr>
                      <p:cNvPr id="0" name="图片 8192" descr="image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875" y="3321050"/>
                        <a:ext cx="3400425" cy="715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8"/>
          <p:cNvSpPr>
            <a:spLocks noGrp="1"/>
          </p:cNvSpPr>
          <p:nvPr>
            <p:ph idx="1"/>
          </p:nvPr>
        </p:nvSpPr>
        <p:spPr>
          <a:xfrm>
            <a:off x="611188" y="1385888"/>
            <a:ext cx="8135937" cy="54721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None/>
            </a:pPr>
            <a:r>
              <a:rPr lang="zh-CN" altLang="en-US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</a:t>
            </a:r>
            <a:endParaRPr lang="en-US" altLang="zh-CN" sz="36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   </a:t>
            </a: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(a)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电压为</a:t>
            </a:r>
            <a:r>
              <a:rPr lang="en-US" altLang="zh-CN" sz="3600" b="1" dirty="0">
                <a:latin typeface="Times New Roman" panose="02020603050405020304" pitchFamily="18" charset="0"/>
              </a:rPr>
              <a:t>                                                                                                           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sz="3600" b="1" dirty="0">
                <a:latin typeface="Times New Roman" panose="02020603050405020304" pitchFamily="18" charset="0"/>
              </a:rPr>
              <a:t>因此功率为：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   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sz="3600" b="1" dirty="0">
                <a:latin typeface="Times New Roman" panose="02020603050405020304" pitchFamily="18" charset="0"/>
              </a:rPr>
              <a:t>在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i="1" u="sng" dirty="0">
                <a:latin typeface="Times New Roman" panose="02020603050405020304" pitchFamily="18" charset="0"/>
              </a:rPr>
              <a:t>t </a:t>
            </a:r>
            <a:r>
              <a:rPr lang="en-US" altLang="zh-CN" sz="3600" b="1" u="sng" dirty="0">
                <a:latin typeface="Times New Roman" panose="02020603050405020304" pitchFamily="18" charset="0"/>
              </a:rPr>
              <a:t>=3ms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时，所求功率为：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sz="36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/>
            <a:endParaRPr lang="en-US" altLang="zh-CN" dirty="0"/>
          </a:p>
        </p:txBody>
      </p:sp>
      <p:graphicFrame>
        <p:nvGraphicFramePr>
          <p:cNvPr id="53251" name="Object 19"/>
          <p:cNvGraphicFramePr/>
          <p:nvPr/>
        </p:nvGraphicFramePr>
        <p:xfrm>
          <a:off x="3627438" y="2155825"/>
          <a:ext cx="37449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" r:id="rId1" imgW="28346400" imgH="4267200" progId="">
                  <p:embed/>
                </p:oleObj>
              </mc:Choice>
              <mc:Fallback>
                <p:oleObj name="" r:id="rId1" imgW="28346400" imgH="4267200" progId="">
                  <p:embed/>
                  <p:pic>
                    <p:nvPicPr>
                      <p:cNvPr id="0" name="图片 9216" descr="image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27438" y="2155825"/>
                        <a:ext cx="3744912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20"/>
          <p:cNvGraphicFramePr/>
          <p:nvPr/>
        </p:nvGraphicFramePr>
        <p:xfrm>
          <a:off x="3595688" y="2786063"/>
          <a:ext cx="44640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" r:id="rId3" imgW="34442400" imgH="5486400" progId="">
                  <p:embed/>
                </p:oleObj>
              </mc:Choice>
              <mc:Fallback>
                <p:oleObj name="" r:id="rId3" imgW="34442400" imgH="5486400" progId="">
                  <p:embed/>
                  <p:pic>
                    <p:nvPicPr>
                      <p:cNvPr id="0" name="图片 9217" descr="image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5688" y="2786063"/>
                        <a:ext cx="4464050" cy="71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3" name="Object 21"/>
          <p:cNvGraphicFramePr/>
          <p:nvPr/>
        </p:nvGraphicFramePr>
        <p:xfrm>
          <a:off x="1258888" y="4805363"/>
          <a:ext cx="7754937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" r:id="rId5" imgW="62788800" imgH="10972800" progId="">
                  <p:embed/>
                </p:oleObj>
              </mc:Choice>
              <mc:Fallback>
                <p:oleObj name="" r:id="rId5" imgW="62788800" imgH="10972800" progId="">
                  <p:embed/>
                  <p:pic>
                    <p:nvPicPr>
                      <p:cNvPr id="0" name="图片 9218" descr="image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4805363"/>
                        <a:ext cx="7754937" cy="1379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文本框 6"/>
          <p:cNvSpPr txBox="1"/>
          <p:nvPr/>
        </p:nvSpPr>
        <p:spPr>
          <a:xfrm>
            <a:off x="6156325" y="374650"/>
            <a:ext cx="2663825" cy="1231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，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(a)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 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= 3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,  </a:t>
            </a:r>
            <a:endParaRPr lang="en-US" altLang="zh-CN" sz="28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(b)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= 3 </a:t>
            </a:r>
            <a:r>
              <a:rPr lang="en-US" altLang="zh-CN" sz="28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di/dt</a:t>
            </a:r>
            <a:endParaRPr lang="en-US" altLang="zh-CN" sz="28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endParaRPr lang="en-US" altLang="zh-CN" sz="1800" b="1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graphicFrame>
        <p:nvGraphicFramePr>
          <p:cNvPr id="53255" name="Object 3"/>
          <p:cNvGraphicFramePr/>
          <p:nvPr/>
        </p:nvGraphicFramePr>
        <p:xfrm>
          <a:off x="3811588" y="427038"/>
          <a:ext cx="234473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" r:id="rId7" imgW="23164800" imgH="4876800" progId="">
                  <p:embed/>
                </p:oleObj>
              </mc:Choice>
              <mc:Fallback>
                <p:oleObj name="" r:id="rId7" imgW="23164800" imgH="4876800" progId="">
                  <p:embed/>
                  <p:pic>
                    <p:nvPicPr>
                      <p:cNvPr id="0" name="图片 9219" descr="image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1588" y="427038"/>
                        <a:ext cx="2344737" cy="493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文本框 3"/>
          <p:cNvSpPr txBox="1"/>
          <p:nvPr/>
        </p:nvSpPr>
        <p:spPr>
          <a:xfrm>
            <a:off x="2544763" y="396875"/>
            <a:ext cx="126682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已知：</a:t>
            </a:r>
            <a:endParaRPr lang="zh-CN" altLang="en-US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19455" y="6283325"/>
                <a:ext cx="3552825" cy="6572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注意：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180</m:t>
                    </m:r>
                    <m:r>
                      <a:rPr lang="zh-CN" altLang="en-US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度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不是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3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14</m:t>
                    </m:r>
                  </m:oMath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55" y="6283325"/>
                <a:ext cx="3552825" cy="65722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02150" y="3226118"/>
          <a:ext cx="139700" cy="405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0" imgW="139700" imgH="405765" progId="Equation.KSEE3">
                  <p:embed/>
                </p:oleObj>
              </mc:Choice>
              <mc:Fallback>
                <p:oleObj name="" r:id="rId10" imgW="139700" imgH="4057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02150" y="3226118"/>
                        <a:ext cx="139700" cy="405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02150" y="3226118"/>
          <a:ext cx="139700" cy="405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2" imgW="139700" imgH="405765" progId="Equation.KSEE3">
                  <p:embed/>
                </p:oleObj>
              </mc:Choice>
              <mc:Fallback>
                <p:oleObj name="" r:id="rId12" imgW="139700" imgH="4057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02150" y="3226118"/>
                        <a:ext cx="139700" cy="405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/>
          </p:cNvSpPr>
          <p:nvPr>
            <p:ph type="body" sz="half" idx="1"/>
          </p:nvPr>
        </p:nvSpPr>
        <p:spPr>
          <a:xfrm>
            <a:off x="-252412" y="1109663"/>
            <a:ext cx="8569325" cy="59039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(b)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在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i="1" u="sng" dirty="0">
                <a:latin typeface="Times New Roman" panose="02020603050405020304" pitchFamily="18" charset="0"/>
              </a:rPr>
              <a:t>t </a:t>
            </a:r>
            <a:r>
              <a:rPr lang="en-US" altLang="zh-CN" sz="3600" b="1" u="sng" dirty="0">
                <a:latin typeface="Times New Roman" panose="02020603050405020304" pitchFamily="18" charset="0"/>
              </a:rPr>
              <a:t>=3ms</a:t>
            </a: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时，所求功率为：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55299" name="Group 3"/>
          <p:cNvGrpSpPr/>
          <p:nvPr/>
        </p:nvGrpSpPr>
        <p:grpSpPr>
          <a:xfrm>
            <a:off x="863600" y="1052513"/>
            <a:ext cx="8280400" cy="2087562"/>
            <a:chOff x="1066" y="879"/>
            <a:chExt cx="3401" cy="756"/>
          </a:xfrm>
        </p:grpSpPr>
        <p:graphicFrame>
          <p:nvGraphicFramePr>
            <p:cNvPr id="55306" name="Object 4"/>
            <p:cNvGraphicFramePr/>
            <p:nvPr/>
          </p:nvGraphicFramePr>
          <p:xfrm>
            <a:off x="1066" y="879"/>
            <a:ext cx="3401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1" name="" r:id="rId1" imgW="69799200" imgH="9448800" progId="">
                    <p:embed/>
                  </p:oleObj>
                </mc:Choice>
                <mc:Fallback>
                  <p:oleObj name="" r:id="rId1" imgW="69799200" imgH="9448800" progId="">
                    <p:embed/>
                    <p:pic>
                      <p:nvPicPr>
                        <p:cNvPr id="0" name="图片 10240" descr="image5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66" y="879"/>
                          <a:ext cx="3401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7" name="Object 5"/>
            <p:cNvGraphicFramePr/>
            <p:nvPr/>
          </p:nvGraphicFramePr>
          <p:xfrm>
            <a:off x="1066" y="1389"/>
            <a:ext cx="2676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2" name="" r:id="rId3" imgW="53035200" imgH="4876800" progId="">
                    <p:embed/>
                  </p:oleObj>
                </mc:Choice>
                <mc:Fallback>
                  <p:oleObj name="" r:id="rId3" imgW="53035200" imgH="4876800" progId="">
                    <p:embed/>
                    <p:pic>
                      <p:nvPicPr>
                        <p:cNvPr id="0" name="图片 10241" descr="image5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66" y="1389"/>
                          <a:ext cx="2676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300" name="Group 6"/>
          <p:cNvGrpSpPr/>
          <p:nvPr/>
        </p:nvGrpSpPr>
        <p:grpSpPr>
          <a:xfrm>
            <a:off x="1189038" y="4719638"/>
            <a:ext cx="7694612" cy="1254125"/>
            <a:chOff x="1083" y="2412"/>
            <a:chExt cx="3497" cy="569"/>
          </a:xfrm>
        </p:grpSpPr>
        <p:graphicFrame>
          <p:nvGraphicFramePr>
            <p:cNvPr id="55304" name="Object 7"/>
            <p:cNvGraphicFramePr/>
            <p:nvPr/>
          </p:nvGraphicFramePr>
          <p:xfrm>
            <a:off x="1083" y="2412"/>
            <a:ext cx="2268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" r:id="rId5" imgW="50292000" imgH="4876800" progId="">
                    <p:embed/>
                  </p:oleObj>
                </mc:Choice>
                <mc:Fallback>
                  <p:oleObj name="" r:id="rId5" imgW="50292000" imgH="4876800" progId="">
                    <p:embed/>
                    <p:pic>
                      <p:nvPicPr>
                        <p:cNvPr id="0" name="图片 10242" descr="image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83" y="2412"/>
                          <a:ext cx="2268" cy="2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305" name="Object 8"/>
            <p:cNvGraphicFramePr/>
            <p:nvPr/>
          </p:nvGraphicFramePr>
          <p:xfrm>
            <a:off x="1214" y="2738"/>
            <a:ext cx="336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" r:id="rId7" imgW="67665600" imgH="4876800" progId="">
                    <p:embed/>
                  </p:oleObj>
                </mc:Choice>
                <mc:Fallback>
                  <p:oleObj name="" r:id="rId7" imgW="67665600" imgH="4876800" progId="">
                    <p:embed/>
                    <p:pic>
                      <p:nvPicPr>
                        <p:cNvPr id="0" name="图片 10243" descr="image5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14" y="2738"/>
                          <a:ext cx="3366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301" name="对象 3"/>
          <p:cNvGraphicFramePr/>
          <p:nvPr/>
        </p:nvGraphicFramePr>
        <p:xfrm>
          <a:off x="1692275" y="369888"/>
          <a:ext cx="309562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" r:id="rId9" imgW="23164800" imgH="4876800" progId="">
                  <p:embed/>
                </p:oleObj>
              </mc:Choice>
              <mc:Fallback>
                <p:oleObj name="" r:id="rId9" imgW="23164800" imgH="4876800" progId="">
                  <p:embed/>
                  <p:pic>
                    <p:nvPicPr>
                      <p:cNvPr id="0" name="图片 10244" descr="image4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92275" y="369888"/>
                        <a:ext cx="3095625" cy="652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文本框 9"/>
          <p:cNvSpPr txBox="1"/>
          <p:nvPr/>
        </p:nvSpPr>
        <p:spPr>
          <a:xfrm>
            <a:off x="592138" y="373063"/>
            <a:ext cx="12668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已知：</a:t>
            </a:r>
            <a:endParaRPr lang="zh-CN" altLang="en-US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30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1053465" y="6045200"/>
                <a:ext cx="5691505" cy="3683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>
                    <a:ln>
                      <a:solidFill>
                        <a:srgbClr val="002060"/>
                      </a:solidFill>
                    </a:ln>
                    <a:solidFill>
                      <a:srgbClr val="FF0000"/>
                    </a:solidFill>
                  </a:rPr>
                  <a:t>注意：三角函数中，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π</m:t>
                    </m:r>
                  </m:oMath>
                </a14:m>
                <a:r>
                  <a:rPr lang="en-US" altLang="zh-CN">
                    <a:ln>
                      <a:solidFill>
                        <a:srgbClr val="002060"/>
                      </a:solidFill>
                    </a:ln>
                    <a:solidFill>
                      <a:srgbClr val="FF0000"/>
                    </a:solidFill>
                  </a:rPr>
                  <a:t>=180</a:t>
                </a:r>
                <a:r>
                  <a:rPr lang="zh-CN" altLang="en-US">
                    <a:ln>
                      <a:solidFill>
                        <a:srgbClr val="002060"/>
                      </a:solidFill>
                    </a:ln>
                    <a:solidFill>
                      <a:srgbClr val="FF0000"/>
                    </a:solidFill>
                  </a:rPr>
                  <a:t>度；否则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n>
                          <a:solidFill>
                            <a:srgbClr val="00206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π</m:t>
                    </m:r>
                  </m:oMath>
                </a14:m>
                <a:r>
                  <a:rPr lang="en-US" altLang="zh-CN">
                    <a:ln>
                      <a:solidFill>
                        <a:srgbClr val="002060"/>
                      </a:solidFill>
                    </a:ln>
                    <a:solidFill>
                      <a:srgbClr val="FF0000"/>
                    </a:solidFill>
                    <a:sym typeface="+mn-ea"/>
                  </a:rPr>
                  <a:t>=</a:t>
                </a:r>
                <a:r>
                  <a:rPr lang="en-US" altLang="zh-CN">
                    <a:ln>
                      <a:solidFill>
                        <a:srgbClr val="002060"/>
                      </a:solidFill>
                    </a:ln>
                    <a:solidFill>
                      <a:srgbClr val="FF0000"/>
                    </a:solidFill>
                  </a:rPr>
                  <a:t>3.14</a:t>
                </a:r>
                <a:endParaRPr lang="en-US" altLang="zh-CN">
                  <a:ln>
                    <a:solidFill>
                      <a:srgbClr val="002060"/>
                    </a:solidFill>
                  </a:ln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465" y="6045200"/>
                <a:ext cx="5691505" cy="368300"/>
              </a:xfrm>
              <a:prstGeom prst="rect">
                <a:avLst/>
              </a:prstGeom>
              <a:blipFill rotWithShape="1">
                <a:blip r:embed="rId11"/>
                <a:stretch>
                  <a:fillRect l="-89" t="-1379" r="-78" b="-120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6205"/>
            <a:ext cx="7477125" cy="78613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6690" t="6214" r="22431"/>
          <a:stretch>
            <a:fillRect/>
          </a:stretch>
        </p:blipFill>
        <p:spPr>
          <a:xfrm>
            <a:off x="1691640" y="692150"/>
            <a:ext cx="3888740" cy="2175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500755"/>
            <a:ext cx="8582025" cy="2600325"/>
          </a:xfrm>
          <a:prstGeom prst="rect">
            <a:avLst/>
          </a:prstGeom>
        </p:spPr>
      </p:pic>
      <p:graphicFrame>
        <p:nvGraphicFramePr>
          <p:cNvPr id="55301" name="对象 3"/>
          <p:cNvGraphicFramePr/>
          <p:nvPr/>
        </p:nvGraphicFramePr>
        <p:xfrm>
          <a:off x="2411730" y="2852420"/>
          <a:ext cx="2524760" cy="52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" r:id="rId4" imgW="23164800" imgH="4876800" progId="">
                  <p:embed/>
                </p:oleObj>
              </mc:Choice>
              <mc:Fallback>
                <p:oleObj name="" r:id="rId4" imgW="23164800" imgH="4876800" progId="">
                  <p:embed/>
                  <p:pic>
                    <p:nvPicPr>
                      <p:cNvPr id="0" name="图片 10244" descr="image4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1730" y="2852420"/>
                        <a:ext cx="2524760" cy="5219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2" name="文本框 9"/>
          <p:cNvSpPr txBox="1"/>
          <p:nvPr/>
        </p:nvSpPr>
        <p:spPr>
          <a:xfrm>
            <a:off x="611505" y="2852420"/>
            <a:ext cx="857885" cy="28003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已知：</a:t>
            </a:r>
            <a:endParaRPr lang="zh-CN" altLang="en-US" sz="28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404495"/>
            <a:ext cx="5581650" cy="2428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C:\Users\Administrator\Pictures\2022-09-26 1\1 001.jpg"/>
          <p:cNvPicPr>
            <a:picLocks noChangeAspect="1" noChangeArrowheads="1"/>
          </p:cNvPicPr>
          <p:nvPr/>
        </p:nvPicPr>
        <p:blipFill>
          <a:blip r:embed="rId1"/>
          <a:srcRect b="56023"/>
          <a:stretch>
            <a:fillRect/>
          </a:stretch>
        </p:blipFill>
        <p:spPr bwMode="auto">
          <a:xfrm>
            <a:off x="642910" y="1000108"/>
            <a:ext cx="7772400" cy="4700583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16205"/>
            <a:ext cx="7477125" cy="7861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056640"/>
            <a:ext cx="6358890" cy="26136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23818"/>
          <a:stretch>
            <a:fillRect/>
          </a:stretch>
        </p:blipFill>
        <p:spPr>
          <a:xfrm>
            <a:off x="971550" y="3644900"/>
            <a:ext cx="6050280" cy="29051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16205"/>
            <a:ext cx="7477125" cy="7861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61925" y="1043940"/>
            <a:ext cx="80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(b)</a:t>
            </a:r>
            <a:r>
              <a:rPr lang="zh-CN" altLang="en-US"/>
              <a:t>解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052195"/>
            <a:ext cx="6537325" cy="30105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331595" y="4365307"/>
                <a:ext cx="5080000" cy="843280"/>
              </a:xfrm>
              <a:prstGeom prst="rect">
                <a:avLst/>
              </a:prstGeom>
            </p:spPr>
            <p:txBody>
              <a:bodyPr>
                <a:spAutoFit/>
              </a:bodyPr>
              <a:p>
                <a:r>
                  <a:rPr lang="zh-CN" altLang="en-US" sz="2400">
                    <a:solidFill>
                      <a:srgbClr val="FF0000"/>
                    </a:solidFill>
                  </a:rPr>
                  <a:t>注意：三角函数中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π</m:t>
                    </m:r>
                  </m:oMath>
                </a14:m>
                <a:r>
                  <a:rPr lang="en-US" altLang="zh-CN" sz="2400">
                    <a:solidFill>
                      <a:srgbClr val="FF0000"/>
                    </a:solidFill>
                  </a:rPr>
                  <a:t>=180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度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”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，</m:t>
                    </m:r>
                    <m:r>
                      <a:rPr lang="zh-CN" altLang="en-US" sz="2400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非三角函数中</m:t>
                    </m:r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“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π</m:t>
                    </m:r>
                  </m:oMath>
                </a14:m>
                <a:r>
                  <a:rPr lang="en-US" altLang="zh-CN" sz="2400">
                    <a:solidFill>
                      <a:srgbClr val="FF0000"/>
                    </a:solidFill>
                    <a:sym typeface="+mn-ea"/>
                  </a:rPr>
                  <a:t>=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 3.14”</a:t>
                </a:r>
                <a:endParaRPr lang="en-US" altLang="zh-CN" sz="24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595" y="4365307"/>
                <a:ext cx="5080000" cy="843280"/>
              </a:xfrm>
              <a:prstGeom prst="rect">
                <a:avLst/>
              </a:prstGeom>
              <a:blipFill rotWithShape="1">
                <a:blip r:embed="rId2"/>
                <a:stretch>
                  <a:fillRect t="-38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116205"/>
            <a:ext cx="8297545" cy="8724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AutoShape 20"/>
              <p:cNvSpPr/>
              <p:nvPr/>
            </p:nvSpPr>
            <p:spPr>
              <a:xfrm>
                <a:off x="683895" y="988695"/>
                <a:ext cx="5775325" cy="63627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1600" b="1" i="0" u="none" strike="noStrike">
                    <a:solidFill>
                      <a:srgbClr val="646464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已知条件：</a:t>
                </a:r>
                <a:r>
                  <a:rPr lang="en-US" sz="1600" b="0" i="0" u="none" strike="noStrike">
                    <a:solidFill>
                      <a:srgbClr val="323232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i = 5cos(60πt) A,      v = 10 + 5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16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</m:ctrlPr>
                      </m:naryPr>
                      <m:sub>
                        <m:r>
                          <a:rPr lang="en-US" sz="16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0</m:t>
                        </m:r>
                      </m:sub>
                      <m:sup>
                        <m:r>
                          <a:rPr lang="en-US" sz="16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𝑡</m:t>
                        </m:r>
                      </m:sup>
                      <m:e>
                        <m:r>
                          <a:rPr lang="en-US" sz="1600" b="0" i="1" u="none" strike="noStrike">
                            <a:solidFill>
                              <a:srgbClr val="323232"/>
                            </a:solidFill>
                            <a:latin typeface="Cambria Math" panose="02040503050406030204" charset="0"/>
                            <a:ea typeface="Noto Sans SC" panose="020B0200000000000000" charset="-122"/>
                            <a:cs typeface="Cambria Math" panose="02040503050406030204" charset="0"/>
                            <a:sym typeface="Noto Sans SC" panose="020B0200000000000000" charset="-122"/>
                          </a:rPr>
                          <m:t>𝑖</m:t>
                        </m:r>
                      </m:e>
                    </m:nary>
                  </m:oMath>
                </a14:m>
                <a:r>
                  <a:rPr lang="en-US" sz="1600" b="0" i="0" u="none" strike="noStrike">
                    <a:solidFill>
                      <a:srgbClr val="323232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dt    V</a:t>
                </a:r>
                <a:endParaRPr lang="en-US" sz="1600" b="0" i="0" u="none" strike="noStrike">
                  <a:solidFill>
                    <a:srgbClr val="323232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mc:Choice>
        <mc:Fallback>
          <p:sp>
            <p:nvSpPr>
              <p:cNvPr id="20" name="AutoShap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95" y="988695"/>
                <a:ext cx="5775325" cy="6362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2732"/>
          <a:stretch>
            <a:fillRect/>
          </a:stretch>
        </p:blipFill>
        <p:spPr>
          <a:xfrm>
            <a:off x="251460" y="1624965"/>
            <a:ext cx="5918200" cy="1835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95" y="3644900"/>
            <a:ext cx="6210300" cy="26282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4525" y="1144905"/>
            <a:ext cx="3181350" cy="3238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62315" cy="846455"/>
          </a:xfrm>
        </p:spPr>
        <p:txBody>
          <a:bodyPr/>
          <a:p>
            <a:r>
              <a:rPr lang="zh-CN" altLang="en-US" sz="2000"/>
              <a:t>以下是电路基础课程中最常用的积分公式，涵盖了基本函数、三角函数和指数函数的积分，这些公式在求解电压、电流、能量等问题时经常用到：</a:t>
            </a:r>
            <a:endParaRPr lang="zh-CN" altLang="en-US" sz="2000"/>
          </a:p>
        </p:txBody>
      </p:sp>
      <p:pic>
        <p:nvPicPr>
          <p:cNvPr id="6" name="内容占位符 5"/>
          <p:cNvPicPr>
            <a:picLocks noChangeAspect="1"/>
          </p:cNvPicPr>
          <p:nvPr>
            <p:ph sz="quarter" idx="2"/>
          </p:nvPr>
        </p:nvPicPr>
        <p:blipFill>
          <a:blip r:embed="rId1"/>
          <a:stretch>
            <a:fillRect/>
          </a:stretch>
        </p:blipFill>
        <p:spPr>
          <a:xfrm>
            <a:off x="2065020" y="1340485"/>
            <a:ext cx="3489960" cy="20758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3572510"/>
            <a:ext cx="4114800" cy="27336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548640"/>
            <a:ext cx="3914775" cy="1524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53535" b="15254"/>
          <a:stretch>
            <a:fillRect/>
          </a:stretch>
        </p:blipFill>
        <p:spPr>
          <a:xfrm>
            <a:off x="1259840" y="2204720"/>
            <a:ext cx="4248785" cy="31680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27380" y="5663565"/>
            <a:ext cx="76206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这些是电路基础中最核心的积分工具，熟练掌握它们对于分析动态电路（如含有电容和电感的电路）至关重要。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/>
          </p:cNvSpPr>
          <p:nvPr>
            <p:ph type="body" sz="half" idx="1"/>
          </p:nvPr>
        </p:nvSpPr>
        <p:spPr>
          <a:xfrm>
            <a:off x="539750" y="765175"/>
            <a:ext cx="8075613" cy="50419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1-6 </a:t>
            </a: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endParaRPr lang="en-US" altLang="zh-CN" sz="4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1800" b="1" dirty="0">
                <a:latin typeface="Times New Roman" panose="02020603050405020304" pitchFamily="18" charset="0"/>
              </a:rPr>
              <a:t>            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一个</a:t>
            </a:r>
            <a:r>
              <a:rPr lang="en-US" altLang="zh-CN" sz="3600" b="1" dirty="0">
                <a:latin typeface="Times New Roman" panose="02020603050405020304" pitchFamily="18" charset="0"/>
              </a:rPr>
              <a:t>100W</a:t>
            </a:r>
            <a:r>
              <a:rPr lang="zh-CN" altLang="en-US" sz="3600" b="1" dirty="0">
                <a:latin typeface="Times New Roman" panose="02020603050405020304" pitchFamily="18" charset="0"/>
              </a:rPr>
              <a:t>的电灯泡</a:t>
            </a:r>
            <a:r>
              <a:rPr lang="en-US" altLang="zh-CN" sz="3600" b="1" dirty="0">
                <a:latin typeface="Times New Roman" panose="02020603050405020304" pitchFamily="18" charset="0"/>
              </a:rPr>
              <a:t>2h</a:t>
            </a:r>
            <a:r>
              <a:rPr lang="zh-CN" altLang="en-US" sz="3600" b="1" dirty="0">
                <a:latin typeface="Times New Roman" panose="02020603050405020304" pitchFamily="18" charset="0"/>
              </a:rPr>
              <a:t>消耗的电能是多少？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sz="3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:</a:t>
            </a:r>
            <a:endParaRPr lang="en-US" altLang="zh-CN" sz="36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36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endParaRPr lang="en-US" altLang="zh-CN" sz="36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600" b="1" dirty="0">
                <a:latin typeface="Times New Roman" panose="02020603050405020304" pitchFamily="18" charset="0"/>
              </a:rPr>
              <a:t>     </a:t>
            </a:r>
            <a:r>
              <a:rPr lang="zh-CN" altLang="en-US" sz="3600" b="1" dirty="0">
                <a:latin typeface="Times New Roman" panose="02020603050405020304" pitchFamily="18" charset="0"/>
              </a:rPr>
              <a:t>即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57347" name="Group 3"/>
          <p:cNvGrpSpPr/>
          <p:nvPr/>
        </p:nvGrpSpPr>
        <p:grpSpPr>
          <a:xfrm>
            <a:off x="971550" y="3573463"/>
            <a:ext cx="7991475" cy="1162050"/>
            <a:chOff x="930" y="981"/>
            <a:chExt cx="3538" cy="514"/>
          </a:xfrm>
        </p:grpSpPr>
        <p:graphicFrame>
          <p:nvGraphicFramePr>
            <p:cNvPr id="57350" name="Object 4"/>
            <p:cNvGraphicFramePr/>
            <p:nvPr/>
          </p:nvGraphicFramePr>
          <p:xfrm>
            <a:off x="930" y="981"/>
            <a:ext cx="3538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5" name="" r:id="rId1" imgW="71018400" imgH="4876800" progId="">
                    <p:embed/>
                  </p:oleObj>
                </mc:Choice>
                <mc:Fallback>
                  <p:oleObj name="" r:id="rId1" imgW="71018400" imgH="4876800" progId="">
                    <p:embed/>
                    <p:pic>
                      <p:nvPicPr>
                        <p:cNvPr id="0" name="图片 11264" descr="image5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30" y="981"/>
                          <a:ext cx="3538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51" name="Object 5"/>
            <p:cNvGraphicFramePr/>
            <p:nvPr/>
          </p:nvGraphicFramePr>
          <p:xfrm>
            <a:off x="1111" y="1253"/>
            <a:ext cx="154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66" name="" r:id="rId3" imgW="31089600" imgH="4876800" progId="">
                    <p:embed/>
                  </p:oleObj>
                </mc:Choice>
                <mc:Fallback>
                  <p:oleObj name="" r:id="rId3" imgW="31089600" imgH="4876800" progId="">
                    <p:embed/>
                    <p:pic>
                      <p:nvPicPr>
                        <p:cNvPr id="0" name="图片 11265" descr="image5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11" y="1253"/>
                          <a:ext cx="1542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48" name="Object 6"/>
          <p:cNvGraphicFramePr/>
          <p:nvPr/>
        </p:nvGraphicFramePr>
        <p:xfrm>
          <a:off x="971550" y="5549900"/>
          <a:ext cx="576103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" r:id="rId5" imgW="43281600" imgH="4876800" progId="">
                  <p:embed/>
                </p:oleObj>
              </mc:Choice>
              <mc:Fallback>
                <p:oleObj name="" r:id="rId5" imgW="43281600" imgH="4876800" progId="">
                  <p:embed/>
                  <p:pic>
                    <p:nvPicPr>
                      <p:cNvPr id="0" name="图片 11266" descr="image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550" y="5549900"/>
                        <a:ext cx="5761038" cy="646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5" y="967740"/>
            <a:ext cx="7496175" cy="8286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2910" y="2285992"/>
            <a:ext cx="7572428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解：</a:t>
            </a:r>
            <a:r>
              <a:rPr lang="en-US" altLang="zh-CN" dirty="0" smtClean="0"/>
              <a:t>w=pt=v*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*t=110Vx10Ax6h=6600wh=6.6</a:t>
            </a:r>
            <a:r>
              <a:rPr lang="zh-CN" altLang="en-US" dirty="0" smtClean="0"/>
              <a:t>千瓦时</a:t>
            </a:r>
            <a:endParaRPr lang="zh-CN" altLang="en-US" dirty="0" smtClean="0"/>
          </a:p>
          <a:p>
            <a:endParaRPr lang="zh-CN" altLang="en-US" dirty="0" smtClean="0"/>
          </a:p>
          <a:p>
            <a:r>
              <a:rPr lang="en-US" altLang="zh-CN" dirty="0" smtClean="0"/>
              <a:t>1 </a:t>
            </a:r>
            <a:r>
              <a:rPr lang="zh-CN" altLang="en-US" dirty="0" smtClean="0"/>
              <a:t>度电</a:t>
            </a:r>
            <a:r>
              <a:rPr lang="en-US" altLang="zh-CN" dirty="0" smtClean="0"/>
              <a:t> = 1 </a:t>
            </a:r>
            <a:r>
              <a:rPr lang="zh-CN" altLang="en-US" dirty="0" smtClean="0"/>
              <a:t>千瓦时（</a:t>
            </a:r>
            <a:r>
              <a:rPr lang="en-US" altLang="zh-CN" dirty="0" smtClean="0"/>
              <a:t>kWh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endParaRPr lang="zh-CN" altLang="en-US" dirty="0" smtClean="0"/>
          </a:p>
          <a:p>
            <a:r>
              <a:rPr lang="zh-CN" altLang="en-US" dirty="0" smtClean="0"/>
              <a:t>一度电，就是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千瓦时。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纸质版教材上</a:t>
            </a:r>
            <a:r>
              <a:rPr lang="en-US" altLang="zh-CN" dirty="0" smtClean="0"/>
              <a:t>,</a:t>
            </a:r>
            <a:r>
              <a:rPr lang="zh-CN" altLang="en-US" dirty="0" smtClean="0"/>
              <a:t>连接至</a:t>
            </a:r>
            <a:r>
              <a:rPr lang="en-US" altLang="zh-CN" dirty="0" smtClean="0"/>
              <a:t>115V</a:t>
            </a:r>
            <a:r>
              <a:rPr lang="zh-CN" altLang="en-US" dirty="0" smtClean="0"/>
              <a:t>电压：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w=pt=v*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*t=115vx10Ax6h=6900wh=6.9</a:t>
            </a:r>
            <a:r>
              <a:rPr lang="zh-CN" altLang="en-US" dirty="0" smtClean="0"/>
              <a:t>千瓦时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468313" y="549275"/>
            <a:ext cx="8229600" cy="955675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1.6 </a:t>
            </a:r>
            <a:r>
              <a:rPr lang="zh-CN" altLang="en-US" b="1" dirty="0">
                <a:solidFill>
                  <a:srgbClr val="0000FF"/>
                </a:solidFill>
                <a:latin typeface="Franklin Gothic Medium" panose="020B0603020102020204" pitchFamily="34" charset="0"/>
              </a:rPr>
              <a:t>电路元件</a:t>
            </a:r>
            <a:endParaRPr lang="en-US" altLang="zh-CN" b="1" dirty="0">
              <a:solidFill>
                <a:srgbClr val="0000FF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611188" y="1643063"/>
            <a:ext cx="8229600" cy="115887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无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</a:rPr>
              <a:t>源</a:t>
            </a:r>
            <a:r>
              <a:rPr lang="zh-CN" altLang="en-US" b="1" dirty="0">
                <a:latin typeface="Times New Roman" panose="02020603050405020304" pitchFamily="18" charset="0"/>
              </a:rPr>
              <a:t>器件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element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/>
              <a:t>有</a:t>
            </a:r>
            <a:r>
              <a:rPr lang="zh-CN" altLang="en-US" b="1" dirty="0">
                <a:solidFill>
                  <a:srgbClr val="002060"/>
                </a:solidFill>
              </a:rPr>
              <a:t>源</a:t>
            </a:r>
            <a:r>
              <a:rPr lang="zh-CN" altLang="en-US" b="1" dirty="0"/>
              <a:t>器件</a:t>
            </a:r>
            <a:r>
              <a:rPr lang="en-US" altLang="zh-CN" b="1" dirty="0"/>
              <a:t>(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element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59396" name="Text Box 4"/>
          <p:cNvSpPr txBox="1"/>
          <p:nvPr/>
        </p:nvSpPr>
        <p:spPr>
          <a:xfrm>
            <a:off x="0" y="3711575"/>
            <a:ext cx="853281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理想独立源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(ideal independent source )</a:t>
            </a:r>
            <a:endParaRPr lang="zh-CN" alt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9397" name="Text Box 5"/>
          <p:cNvSpPr txBox="1"/>
          <p:nvPr/>
        </p:nvSpPr>
        <p:spPr>
          <a:xfrm>
            <a:off x="539750" y="4295775"/>
            <a:ext cx="7813675" cy="1076325"/>
          </a:xfrm>
          <a:prstGeom prst="rect">
            <a:avLst/>
          </a:prstGeom>
          <a:noFill/>
          <a:ln w="76200" cap="flat" cmpd="tri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   理想独立源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是指能够提供特定电压或电流，而与其外接电路</a:t>
            </a:r>
            <a:r>
              <a:rPr lang="zh-CN" altLang="en-US" b="1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完全无关</a:t>
            </a:r>
            <a:r>
              <a:rPr lang="zh-CN" alt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的有源元件。</a:t>
            </a:r>
            <a:endParaRPr lang="en-US" altLang="zh-CN" b="1" dirty="0"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sp>
        <p:nvSpPr>
          <p:cNvPr id="59398" name="Text Box 6"/>
          <p:cNvSpPr txBox="1"/>
          <p:nvPr/>
        </p:nvSpPr>
        <p:spPr>
          <a:xfrm>
            <a:off x="447675" y="5910263"/>
            <a:ext cx="6321425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59399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4"/>
          <p:cNvSpPr txBox="1"/>
          <p:nvPr/>
        </p:nvSpPr>
        <p:spPr>
          <a:xfrm>
            <a:off x="3443288" y="674688"/>
            <a:ext cx="5330825" cy="3908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理想独立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电压</a:t>
            </a:r>
            <a:r>
              <a:rPr lang="en-US" altLang="zh-CN" b="1" i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源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</a:pP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</a:pP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</a:pPr>
            <a:endParaRPr lang="en-US" altLang="zh-CN" sz="24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</a:pPr>
            <a:endParaRPr lang="en-US" altLang="zh-CN" sz="24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理想独立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电流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源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pic>
        <p:nvPicPr>
          <p:cNvPr id="61443" name="Picture 5" descr="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0538" y="4508500"/>
            <a:ext cx="3960812" cy="1836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44" name="Picture 6" descr="i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88" y="1250950"/>
            <a:ext cx="4657725" cy="2232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45" name="Text Box 7"/>
          <p:cNvSpPr txBox="1"/>
          <p:nvPr/>
        </p:nvSpPr>
        <p:spPr>
          <a:xfrm>
            <a:off x="373063" y="1557338"/>
            <a:ext cx="2468562" cy="954087"/>
          </a:xfrm>
          <a:prstGeom prst="rect">
            <a:avLst/>
          </a:prstGeom>
          <a:noFill/>
          <a:ln w="57150" cap="flat" cmpd="thickThin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cs typeface="Arial" panose="020B0604020202020204" pitchFamily="34" charset="0"/>
              </a:rPr>
              <a:t>  </a:t>
            </a:r>
            <a:r>
              <a:rPr lang="en-US" altLang="zh-CN" sz="2800" b="1" dirty="0">
                <a:solidFill>
                  <a:srgbClr val="C00000"/>
                </a:solidFill>
                <a:cs typeface="Arial" panose="020B0604020202020204" pitchFamily="34" charset="0"/>
              </a:rPr>
              <a:t>VCR</a:t>
            </a:r>
            <a:r>
              <a:rPr lang="en-US" altLang="zh-CN" sz="2800" b="1" dirty="0">
                <a:cs typeface="Arial" panose="020B0604020202020204" pitchFamily="34" charset="0"/>
              </a:rPr>
              <a:t>—</a:t>
            </a:r>
            <a:endParaRPr lang="en-US" altLang="zh-CN" sz="2800" b="1" dirty="0"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cs typeface="Arial" panose="020B0604020202020204" pitchFamily="34" charset="0"/>
              </a:rPr>
              <a:t>电压</a:t>
            </a:r>
            <a:r>
              <a:rPr lang="en-US" altLang="zh-CN" sz="2800" b="1" dirty="0">
                <a:cs typeface="Arial" panose="020B0604020202020204" pitchFamily="34" charset="0"/>
              </a:rPr>
              <a:t>-</a:t>
            </a:r>
            <a:r>
              <a:rPr lang="zh-CN" altLang="en-US" sz="2800" b="1" dirty="0">
                <a:cs typeface="Arial" panose="020B0604020202020204" pitchFamily="34" charset="0"/>
              </a:rPr>
              <a:t>电流关系</a:t>
            </a:r>
            <a:endParaRPr lang="en-US" altLang="zh-CN" sz="2800" b="1" dirty="0">
              <a:ea typeface="Arial" panose="020B0604020202020204" pitchFamily="34" charset="0"/>
            </a:endParaRPr>
          </a:p>
        </p:txBody>
      </p:sp>
      <p:sp>
        <p:nvSpPr>
          <p:cNvPr id="61446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6804025" y="6345238"/>
            <a:ext cx="2133600" cy="457200"/>
          </a:xfrm>
        </p:spPr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Group 2"/>
          <p:cNvGrpSpPr>
            <a:grpSpLocks noChangeAspect="1"/>
          </p:cNvGrpSpPr>
          <p:nvPr/>
        </p:nvGrpSpPr>
        <p:grpSpPr>
          <a:xfrm>
            <a:off x="244475" y="1597025"/>
            <a:ext cx="4679950" cy="3467100"/>
            <a:chOff x="960" y="767"/>
            <a:chExt cx="3777" cy="2798"/>
          </a:xfrm>
        </p:grpSpPr>
        <p:sp>
          <p:nvSpPr>
            <p:cNvPr id="62496" name="Freeform 3"/>
            <p:cNvSpPr>
              <a:spLocks noChangeAspect="1"/>
            </p:cNvSpPr>
            <p:nvPr/>
          </p:nvSpPr>
          <p:spPr>
            <a:xfrm>
              <a:off x="3763" y="831"/>
              <a:ext cx="846" cy="1"/>
            </a:xfrm>
            <a:custGeom>
              <a:avLst/>
              <a:gdLst>
                <a:gd name="txL" fmla="*/ 0 w 846"/>
                <a:gd name="txT" fmla="*/ 0 h 1"/>
                <a:gd name="txR" fmla="*/ 846 w 846"/>
                <a:gd name="txB" fmla="*/ 1 h 1"/>
              </a:gdLst>
              <a:ahLst/>
              <a:cxnLst>
                <a:cxn ang="0">
                  <a:pos x="846" y="0"/>
                </a:cxn>
                <a:cxn ang="0">
                  <a:pos x="0" y="0"/>
                </a:cxn>
                <a:cxn ang="0">
                  <a:pos x="846" y="0"/>
                </a:cxn>
                <a:cxn ang="0">
                  <a:pos x="846" y="0"/>
                </a:cxn>
              </a:cxnLst>
              <a:rect l="txL" t="txT" r="txR" b="txB"/>
              <a:pathLst>
                <a:path w="846" h="1">
                  <a:moveTo>
                    <a:pt x="846" y="0"/>
                  </a:moveTo>
                  <a:lnTo>
                    <a:pt x="0" y="0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Freeform 4"/>
            <p:cNvSpPr>
              <a:spLocks noChangeAspect="1" noEditPoints="1"/>
            </p:cNvSpPr>
            <p:nvPr/>
          </p:nvSpPr>
          <p:spPr>
            <a:xfrm>
              <a:off x="3763" y="831"/>
              <a:ext cx="1" cy="2088"/>
            </a:xfrm>
            <a:custGeom>
              <a:avLst/>
              <a:gdLst>
                <a:gd name="txL" fmla="*/ 0 w 1"/>
                <a:gd name="txT" fmla="*/ 0 h 2088"/>
                <a:gd name="txR" fmla="*/ 1 w 1"/>
                <a:gd name="txB" fmla="*/ 2088 h 2088"/>
              </a:gdLst>
              <a:ahLst/>
              <a:cxnLst>
                <a:cxn ang="0">
                  <a:pos x="0" y="0"/>
                </a:cxn>
                <a:cxn ang="0">
                  <a:pos x="0" y="208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088">
                  <a:moveTo>
                    <a:pt x="0" y="0"/>
                  </a:moveTo>
                  <a:lnTo>
                    <a:pt x="0" y="208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Freeform 5"/>
            <p:cNvSpPr>
              <a:spLocks noChangeAspect="1" noEditPoints="1"/>
            </p:cNvSpPr>
            <p:nvPr/>
          </p:nvSpPr>
          <p:spPr>
            <a:xfrm>
              <a:off x="3763" y="2919"/>
              <a:ext cx="846" cy="1"/>
            </a:xfrm>
            <a:custGeom>
              <a:avLst/>
              <a:gdLst>
                <a:gd name="txL" fmla="*/ 0 w 846"/>
                <a:gd name="txT" fmla="*/ 0 h 1"/>
                <a:gd name="txR" fmla="*/ 846 w 84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46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46" h="1">
                  <a:moveTo>
                    <a:pt x="0" y="0"/>
                  </a:moveTo>
                  <a:lnTo>
                    <a:pt x="846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9" name="Freeform 6"/>
            <p:cNvSpPr>
              <a:spLocks noChangeAspect="1"/>
            </p:cNvSpPr>
            <p:nvPr/>
          </p:nvSpPr>
          <p:spPr>
            <a:xfrm>
              <a:off x="3276" y="1763"/>
              <a:ext cx="167" cy="192"/>
            </a:xfrm>
            <a:custGeom>
              <a:avLst/>
              <a:gdLst>
                <a:gd name="txL" fmla="*/ 0 w 167"/>
                <a:gd name="txT" fmla="*/ 0 h 192"/>
                <a:gd name="txR" fmla="*/ 167 w 167"/>
                <a:gd name="txB" fmla="*/ 192 h 192"/>
              </a:gdLst>
              <a:ahLst/>
              <a:cxnLst>
                <a:cxn ang="0">
                  <a:pos x="167" y="0"/>
                </a:cxn>
                <a:cxn ang="0">
                  <a:pos x="120" y="0"/>
                </a:cxn>
                <a:cxn ang="0">
                  <a:pos x="120" y="8"/>
                </a:cxn>
                <a:cxn ang="0">
                  <a:pos x="128" y="8"/>
                </a:cxn>
                <a:cxn ang="0">
                  <a:pos x="136" y="16"/>
                </a:cxn>
                <a:cxn ang="0">
                  <a:pos x="128" y="32"/>
                </a:cxn>
                <a:cxn ang="0">
                  <a:pos x="120" y="48"/>
                </a:cxn>
                <a:cxn ang="0">
                  <a:pos x="64" y="144"/>
                </a:cxn>
                <a:cxn ang="0">
                  <a:pos x="64" y="144"/>
                </a:cxn>
                <a:cxn ang="0">
                  <a:pos x="48" y="24"/>
                </a:cxn>
                <a:cxn ang="0">
                  <a:pos x="56" y="8"/>
                </a:cxn>
                <a:cxn ang="0">
                  <a:pos x="64" y="8"/>
                </a:cxn>
                <a:cxn ang="0">
                  <a:pos x="64" y="0"/>
                </a:cxn>
                <a:cxn ang="0">
                  <a:pos x="0" y="0"/>
                </a:cxn>
                <a:cxn ang="0">
                  <a:pos x="0" y="8"/>
                </a:cxn>
                <a:cxn ang="0">
                  <a:pos x="16" y="16"/>
                </a:cxn>
                <a:cxn ang="0">
                  <a:pos x="16" y="24"/>
                </a:cxn>
                <a:cxn ang="0">
                  <a:pos x="24" y="40"/>
                </a:cxn>
                <a:cxn ang="0">
                  <a:pos x="48" y="192"/>
                </a:cxn>
                <a:cxn ang="0">
                  <a:pos x="48" y="192"/>
                </a:cxn>
                <a:cxn ang="0">
                  <a:pos x="151" y="16"/>
                </a:cxn>
                <a:cxn ang="0">
                  <a:pos x="159" y="16"/>
                </a:cxn>
                <a:cxn ang="0">
                  <a:pos x="167" y="8"/>
                </a:cxn>
                <a:cxn ang="0">
                  <a:pos x="167" y="0"/>
                </a:cxn>
              </a:cxnLst>
              <a:rect l="txL" t="txT" r="txR" b="txB"/>
              <a:pathLst>
                <a:path w="167" h="192">
                  <a:moveTo>
                    <a:pt x="167" y="0"/>
                  </a:moveTo>
                  <a:lnTo>
                    <a:pt x="120" y="0"/>
                  </a:lnTo>
                  <a:lnTo>
                    <a:pt x="120" y="8"/>
                  </a:lnTo>
                  <a:lnTo>
                    <a:pt x="128" y="8"/>
                  </a:lnTo>
                  <a:lnTo>
                    <a:pt x="136" y="16"/>
                  </a:lnTo>
                  <a:lnTo>
                    <a:pt x="128" y="32"/>
                  </a:lnTo>
                  <a:lnTo>
                    <a:pt x="120" y="48"/>
                  </a:lnTo>
                  <a:lnTo>
                    <a:pt x="64" y="144"/>
                  </a:lnTo>
                  <a:lnTo>
                    <a:pt x="48" y="24"/>
                  </a:lnTo>
                  <a:lnTo>
                    <a:pt x="56" y="8"/>
                  </a:lnTo>
                  <a:lnTo>
                    <a:pt x="64" y="8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24" y="40"/>
                  </a:lnTo>
                  <a:lnTo>
                    <a:pt x="48" y="192"/>
                  </a:lnTo>
                  <a:lnTo>
                    <a:pt x="151" y="16"/>
                  </a:lnTo>
                  <a:lnTo>
                    <a:pt x="159" y="16"/>
                  </a:lnTo>
                  <a:lnTo>
                    <a:pt x="167" y="8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0" name="Freeform 7"/>
            <p:cNvSpPr>
              <a:spLocks noChangeAspect="1"/>
            </p:cNvSpPr>
            <p:nvPr/>
          </p:nvSpPr>
          <p:spPr>
            <a:xfrm>
              <a:off x="4226" y="3326"/>
              <a:ext cx="72" cy="239"/>
            </a:xfrm>
            <a:custGeom>
              <a:avLst/>
              <a:gdLst>
                <a:gd name="txL" fmla="*/ 0 w 72"/>
                <a:gd name="txT" fmla="*/ 0 h 239"/>
                <a:gd name="txR" fmla="*/ 72 w 72"/>
                <a:gd name="txB" fmla="*/ 239 h 239"/>
              </a:gdLst>
              <a:ahLst/>
              <a:cxnLst>
                <a:cxn ang="0">
                  <a:pos x="72" y="0"/>
                </a:cxn>
                <a:cxn ang="0">
                  <a:pos x="40" y="24"/>
                </a:cxn>
                <a:cxn ang="0">
                  <a:pos x="16" y="48"/>
                </a:cxn>
                <a:cxn ang="0">
                  <a:pos x="8" y="88"/>
                </a:cxn>
                <a:cxn ang="0">
                  <a:pos x="0" y="120"/>
                </a:cxn>
                <a:cxn ang="0">
                  <a:pos x="0" y="143"/>
                </a:cxn>
                <a:cxn ang="0">
                  <a:pos x="8" y="167"/>
                </a:cxn>
                <a:cxn ang="0">
                  <a:pos x="24" y="199"/>
                </a:cxn>
                <a:cxn ang="0">
                  <a:pos x="48" y="223"/>
                </a:cxn>
                <a:cxn ang="0">
                  <a:pos x="72" y="239"/>
                </a:cxn>
                <a:cxn ang="0">
                  <a:pos x="72" y="239"/>
                </a:cxn>
                <a:cxn ang="0">
                  <a:pos x="48" y="207"/>
                </a:cxn>
                <a:cxn ang="0">
                  <a:pos x="32" y="175"/>
                </a:cxn>
                <a:cxn ang="0">
                  <a:pos x="24" y="143"/>
                </a:cxn>
                <a:cxn ang="0">
                  <a:pos x="24" y="112"/>
                </a:cxn>
                <a:cxn ang="0">
                  <a:pos x="32" y="64"/>
                </a:cxn>
                <a:cxn ang="0">
                  <a:pos x="40" y="40"/>
                </a:cxn>
                <a:cxn ang="0">
                  <a:pos x="56" y="24"/>
                </a:cxn>
                <a:cxn ang="0">
                  <a:pos x="72" y="8"/>
                </a:cxn>
                <a:cxn ang="0">
                  <a:pos x="72" y="0"/>
                </a:cxn>
              </a:cxnLst>
              <a:rect l="txL" t="txT" r="txR" b="txB"/>
              <a:pathLst>
                <a:path w="72" h="239">
                  <a:moveTo>
                    <a:pt x="72" y="0"/>
                  </a:moveTo>
                  <a:lnTo>
                    <a:pt x="40" y="24"/>
                  </a:lnTo>
                  <a:lnTo>
                    <a:pt x="16" y="48"/>
                  </a:lnTo>
                  <a:lnTo>
                    <a:pt x="8" y="88"/>
                  </a:lnTo>
                  <a:lnTo>
                    <a:pt x="0" y="120"/>
                  </a:lnTo>
                  <a:lnTo>
                    <a:pt x="0" y="143"/>
                  </a:lnTo>
                  <a:lnTo>
                    <a:pt x="8" y="167"/>
                  </a:lnTo>
                  <a:lnTo>
                    <a:pt x="24" y="199"/>
                  </a:lnTo>
                  <a:lnTo>
                    <a:pt x="48" y="223"/>
                  </a:lnTo>
                  <a:lnTo>
                    <a:pt x="72" y="239"/>
                  </a:lnTo>
                  <a:lnTo>
                    <a:pt x="48" y="207"/>
                  </a:lnTo>
                  <a:lnTo>
                    <a:pt x="32" y="175"/>
                  </a:lnTo>
                  <a:lnTo>
                    <a:pt x="24" y="143"/>
                  </a:lnTo>
                  <a:lnTo>
                    <a:pt x="24" y="112"/>
                  </a:lnTo>
                  <a:lnTo>
                    <a:pt x="32" y="64"/>
                  </a:lnTo>
                  <a:lnTo>
                    <a:pt x="40" y="40"/>
                  </a:lnTo>
                  <a:lnTo>
                    <a:pt x="56" y="24"/>
                  </a:lnTo>
                  <a:lnTo>
                    <a:pt x="72" y="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1" name="Freeform 8"/>
            <p:cNvSpPr>
              <a:spLocks noChangeAspect="1" noEditPoints="1"/>
            </p:cNvSpPr>
            <p:nvPr/>
          </p:nvSpPr>
          <p:spPr>
            <a:xfrm>
              <a:off x="4306" y="3326"/>
              <a:ext cx="136" cy="191"/>
            </a:xfrm>
            <a:custGeom>
              <a:avLst/>
              <a:gdLst>
                <a:gd name="txL" fmla="*/ 0 w 136"/>
                <a:gd name="txT" fmla="*/ 0 h 191"/>
                <a:gd name="txR" fmla="*/ 136 w 136"/>
                <a:gd name="txB" fmla="*/ 191 h 191"/>
              </a:gdLst>
              <a:ahLst/>
              <a:cxnLst>
                <a:cxn ang="0">
                  <a:pos x="48" y="104"/>
                </a:cxn>
                <a:cxn ang="0">
                  <a:pos x="56" y="88"/>
                </a:cxn>
                <a:cxn ang="0">
                  <a:pos x="72" y="80"/>
                </a:cxn>
                <a:cxn ang="0">
                  <a:pos x="88" y="88"/>
                </a:cxn>
                <a:cxn ang="0">
                  <a:pos x="96" y="96"/>
                </a:cxn>
                <a:cxn ang="0">
                  <a:pos x="104" y="135"/>
                </a:cxn>
                <a:cxn ang="0">
                  <a:pos x="104" y="167"/>
                </a:cxn>
                <a:cxn ang="0">
                  <a:pos x="88" y="175"/>
                </a:cxn>
                <a:cxn ang="0">
                  <a:pos x="72" y="183"/>
                </a:cxn>
                <a:cxn ang="0">
                  <a:pos x="56" y="183"/>
                </a:cxn>
                <a:cxn ang="0">
                  <a:pos x="48" y="175"/>
                </a:cxn>
                <a:cxn ang="0">
                  <a:pos x="48" y="104"/>
                </a:cxn>
                <a:cxn ang="0">
                  <a:pos x="24" y="175"/>
                </a:cxn>
                <a:cxn ang="0">
                  <a:pos x="32" y="183"/>
                </a:cxn>
                <a:cxn ang="0">
                  <a:pos x="40" y="183"/>
                </a:cxn>
                <a:cxn ang="0">
                  <a:pos x="64" y="191"/>
                </a:cxn>
                <a:cxn ang="0">
                  <a:pos x="96" y="183"/>
                </a:cxn>
                <a:cxn ang="0">
                  <a:pos x="120" y="167"/>
                </a:cxn>
                <a:cxn ang="0">
                  <a:pos x="128" y="151"/>
                </a:cxn>
                <a:cxn ang="0">
                  <a:pos x="136" y="127"/>
                </a:cxn>
                <a:cxn ang="0">
                  <a:pos x="120" y="88"/>
                </a:cxn>
                <a:cxn ang="0">
                  <a:pos x="104" y="72"/>
                </a:cxn>
                <a:cxn ang="0">
                  <a:pos x="80" y="64"/>
                </a:cxn>
                <a:cxn ang="0">
                  <a:pos x="56" y="72"/>
                </a:cxn>
                <a:cxn ang="0">
                  <a:pos x="48" y="88"/>
                </a:cxn>
                <a:cxn ang="0">
                  <a:pos x="48" y="88"/>
                </a:cxn>
                <a:cxn ang="0">
                  <a:pos x="48" y="0"/>
                </a:cxn>
                <a:cxn ang="0">
                  <a:pos x="40" y="0"/>
                </a:cxn>
                <a:cxn ang="0">
                  <a:pos x="24" y="8"/>
                </a:cxn>
                <a:cxn ang="0">
                  <a:pos x="0" y="8"/>
                </a:cxn>
                <a:cxn ang="0">
                  <a:pos x="0" y="16"/>
                </a:cxn>
                <a:cxn ang="0">
                  <a:pos x="8" y="16"/>
                </a:cxn>
                <a:cxn ang="0">
                  <a:pos x="8" y="16"/>
                </a:cxn>
                <a:cxn ang="0">
                  <a:pos x="24" y="24"/>
                </a:cxn>
                <a:cxn ang="0">
                  <a:pos x="24" y="32"/>
                </a:cxn>
                <a:cxn ang="0">
                  <a:pos x="24" y="175"/>
                </a:cxn>
              </a:cxnLst>
              <a:rect l="txL" t="txT" r="txR" b="txB"/>
              <a:pathLst>
                <a:path w="136" h="191">
                  <a:moveTo>
                    <a:pt x="48" y="104"/>
                  </a:moveTo>
                  <a:lnTo>
                    <a:pt x="56" y="88"/>
                  </a:lnTo>
                  <a:lnTo>
                    <a:pt x="72" y="80"/>
                  </a:lnTo>
                  <a:lnTo>
                    <a:pt x="88" y="88"/>
                  </a:lnTo>
                  <a:lnTo>
                    <a:pt x="96" y="96"/>
                  </a:lnTo>
                  <a:lnTo>
                    <a:pt x="104" y="135"/>
                  </a:lnTo>
                  <a:lnTo>
                    <a:pt x="104" y="167"/>
                  </a:lnTo>
                  <a:lnTo>
                    <a:pt x="88" y="175"/>
                  </a:lnTo>
                  <a:lnTo>
                    <a:pt x="72" y="183"/>
                  </a:lnTo>
                  <a:lnTo>
                    <a:pt x="56" y="183"/>
                  </a:lnTo>
                  <a:lnTo>
                    <a:pt x="48" y="175"/>
                  </a:lnTo>
                  <a:lnTo>
                    <a:pt x="48" y="104"/>
                  </a:lnTo>
                  <a:close/>
                  <a:moveTo>
                    <a:pt x="24" y="175"/>
                  </a:moveTo>
                  <a:lnTo>
                    <a:pt x="32" y="183"/>
                  </a:lnTo>
                  <a:lnTo>
                    <a:pt x="40" y="183"/>
                  </a:lnTo>
                  <a:lnTo>
                    <a:pt x="64" y="191"/>
                  </a:lnTo>
                  <a:lnTo>
                    <a:pt x="96" y="183"/>
                  </a:lnTo>
                  <a:lnTo>
                    <a:pt x="120" y="167"/>
                  </a:lnTo>
                  <a:lnTo>
                    <a:pt x="128" y="151"/>
                  </a:lnTo>
                  <a:lnTo>
                    <a:pt x="136" y="127"/>
                  </a:lnTo>
                  <a:lnTo>
                    <a:pt x="120" y="88"/>
                  </a:lnTo>
                  <a:lnTo>
                    <a:pt x="104" y="72"/>
                  </a:lnTo>
                  <a:lnTo>
                    <a:pt x="80" y="64"/>
                  </a:lnTo>
                  <a:lnTo>
                    <a:pt x="56" y="72"/>
                  </a:lnTo>
                  <a:lnTo>
                    <a:pt x="48" y="88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24" y="8"/>
                  </a:lnTo>
                  <a:lnTo>
                    <a:pt x="0" y="8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24" y="17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2" name="Freeform 9"/>
            <p:cNvSpPr>
              <a:spLocks noChangeAspect="1"/>
            </p:cNvSpPr>
            <p:nvPr/>
          </p:nvSpPr>
          <p:spPr>
            <a:xfrm>
              <a:off x="4458" y="3326"/>
              <a:ext cx="71" cy="239"/>
            </a:xfrm>
            <a:custGeom>
              <a:avLst/>
              <a:gdLst>
                <a:gd name="txL" fmla="*/ 0 w 71"/>
                <a:gd name="txT" fmla="*/ 0 h 239"/>
                <a:gd name="txR" fmla="*/ 71 w 71"/>
                <a:gd name="txB" fmla="*/ 239 h 239"/>
              </a:gdLst>
              <a:ahLst/>
              <a:cxnLst>
                <a:cxn ang="0">
                  <a:pos x="0" y="239"/>
                </a:cxn>
                <a:cxn ang="0">
                  <a:pos x="48" y="191"/>
                </a:cxn>
                <a:cxn ang="0">
                  <a:pos x="63" y="159"/>
                </a:cxn>
                <a:cxn ang="0">
                  <a:pos x="71" y="127"/>
                </a:cxn>
                <a:cxn ang="0">
                  <a:pos x="63" y="80"/>
                </a:cxn>
                <a:cxn ang="0">
                  <a:pos x="48" y="48"/>
                </a:cxn>
                <a:cxn ang="0">
                  <a:pos x="24" y="24"/>
                </a:cxn>
                <a:cxn ang="0">
                  <a:pos x="0" y="0"/>
                </a:cxn>
                <a:cxn ang="0">
                  <a:pos x="0" y="8"/>
                </a:cxn>
                <a:cxn ang="0">
                  <a:pos x="32" y="32"/>
                </a:cxn>
                <a:cxn ang="0">
                  <a:pos x="40" y="64"/>
                </a:cxn>
                <a:cxn ang="0">
                  <a:pos x="48" y="96"/>
                </a:cxn>
                <a:cxn ang="0">
                  <a:pos x="48" y="127"/>
                </a:cxn>
                <a:cxn ang="0">
                  <a:pos x="40" y="175"/>
                </a:cxn>
                <a:cxn ang="0">
                  <a:pos x="32" y="207"/>
                </a:cxn>
                <a:cxn ang="0">
                  <a:pos x="16" y="223"/>
                </a:cxn>
                <a:cxn ang="0">
                  <a:pos x="0" y="239"/>
                </a:cxn>
                <a:cxn ang="0">
                  <a:pos x="0" y="239"/>
                </a:cxn>
              </a:cxnLst>
              <a:rect l="txL" t="txT" r="txR" b="txB"/>
              <a:pathLst>
                <a:path w="71" h="239">
                  <a:moveTo>
                    <a:pt x="0" y="239"/>
                  </a:moveTo>
                  <a:lnTo>
                    <a:pt x="48" y="191"/>
                  </a:lnTo>
                  <a:lnTo>
                    <a:pt x="63" y="159"/>
                  </a:lnTo>
                  <a:lnTo>
                    <a:pt x="71" y="127"/>
                  </a:lnTo>
                  <a:lnTo>
                    <a:pt x="63" y="80"/>
                  </a:lnTo>
                  <a:lnTo>
                    <a:pt x="48" y="48"/>
                  </a:lnTo>
                  <a:lnTo>
                    <a:pt x="24" y="24"/>
                  </a:lnTo>
                  <a:lnTo>
                    <a:pt x="0" y="0"/>
                  </a:lnTo>
                  <a:lnTo>
                    <a:pt x="0" y="8"/>
                  </a:lnTo>
                  <a:lnTo>
                    <a:pt x="32" y="32"/>
                  </a:lnTo>
                  <a:lnTo>
                    <a:pt x="40" y="64"/>
                  </a:lnTo>
                  <a:lnTo>
                    <a:pt x="48" y="96"/>
                  </a:lnTo>
                  <a:lnTo>
                    <a:pt x="48" y="127"/>
                  </a:lnTo>
                  <a:lnTo>
                    <a:pt x="40" y="175"/>
                  </a:lnTo>
                  <a:lnTo>
                    <a:pt x="32" y="207"/>
                  </a:lnTo>
                  <a:lnTo>
                    <a:pt x="16" y="223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3" name="Freeform 10"/>
            <p:cNvSpPr>
              <a:spLocks noChangeAspect="1"/>
            </p:cNvSpPr>
            <p:nvPr/>
          </p:nvSpPr>
          <p:spPr>
            <a:xfrm>
              <a:off x="3292" y="1405"/>
              <a:ext cx="143" cy="143"/>
            </a:xfrm>
            <a:custGeom>
              <a:avLst/>
              <a:gdLst>
                <a:gd name="txL" fmla="*/ 0 w 143"/>
                <a:gd name="txT" fmla="*/ 0 h 143"/>
                <a:gd name="txR" fmla="*/ 143 w 143"/>
                <a:gd name="txB" fmla="*/ 143 h 143"/>
              </a:gdLst>
              <a:ahLst/>
              <a:cxnLst>
                <a:cxn ang="0">
                  <a:pos x="64" y="63"/>
                </a:cxn>
                <a:cxn ang="0">
                  <a:pos x="0" y="63"/>
                </a:cxn>
                <a:cxn ang="0">
                  <a:pos x="0" y="79"/>
                </a:cxn>
                <a:cxn ang="0">
                  <a:pos x="64" y="79"/>
                </a:cxn>
                <a:cxn ang="0">
                  <a:pos x="64" y="143"/>
                </a:cxn>
                <a:cxn ang="0">
                  <a:pos x="80" y="143"/>
                </a:cxn>
                <a:cxn ang="0">
                  <a:pos x="80" y="79"/>
                </a:cxn>
                <a:cxn ang="0">
                  <a:pos x="143" y="79"/>
                </a:cxn>
                <a:cxn ang="0">
                  <a:pos x="143" y="63"/>
                </a:cxn>
                <a:cxn ang="0">
                  <a:pos x="80" y="63"/>
                </a:cxn>
                <a:cxn ang="0">
                  <a:pos x="80" y="0"/>
                </a:cxn>
                <a:cxn ang="0">
                  <a:pos x="64" y="0"/>
                </a:cxn>
                <a:cxn ang="0">
                  <a:pos x="64" y="63"/>
                </a:cxn>
              </a:cxnLst>
              <a:rect l="txL" t="txT" r="txR" b="txB"/>
              <a:pathLst>
                <a:path w="143" h="143">
                  <a:moveTo>
                    <a:pt x="64" y="63"/>
                  </a:moveTo>
                  <a:lnTo>
                    <a:pt x="0" y="63"/>
                  </a:lnTo>
                  <a:lnTo>
                    <a:pt x="0" y="79"/>
                  </a:lnTo>
                  <a:lnTo>
                    <a:pt x="64" y="79"/>
                  </a:lnTo>
                  <a:lnTo>
                    <a:pt x="64" y="143"/>
                  </a:lnTo>
                  <a:lnTo>
                    <a:pt x="80" y="143"/>
                  </a:lnTo>
                  <a:lnTo>
                    <a:pt x="80" y="79"/>
                  </a:lnTo>
                  <a:lnTo>
                    <a:pt x="143" y="79"/>
                  </a:lnTo>
                  <a:lnTo>
                    <a:pt x="143" y="63"/>
                  </a:lnTo>
                  <a:lnTo>
                    <a:pt x="80" y="63"/>
                  </a:lnTo>
                  <a:lnTo>
                    <a:pt x="80" y="0"/>
                  </a:lnTo>
                  <a:lnTo>
                    <a:pt x="64" y="0"/>
                  </a:lnTo>
                  <a:lnTo>
                    <a:pt x="64" y="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4" name="Rectangle 11"/>
            <p:cNvSpPr>
              <a:spLocks noChangeAspect="1"/>
            </p:cNvSpPr>
            <p:nvPr/>
          </p:nvSpPr>
          <p:spPr>
            <a:xfrm>
              <a:off x="3292" y="2170"/>
              <a:ext cx="143" cy="16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62505" name="Freeform 12"/>
            <p:cNvSpPr>
              <a:spLocks noChangeAspect="1"/>
            </p:cNvSpPr>
            <p:nvPr/>
          </p:nvSpPr>
          <p:spPr>
            <a:xfrm>
              <a:off x="3659" y="1835"/>
              <a:ext cx="216" cy="88"/>
            </a:xfrm>
            <a:custGeom>
              <a:avLst/>
              <a:gdLst>
                <a:gd name="txL" fmla="*/ 0 w 216"/>
                <a:gd name="txT" fmla="*/ 0 h 88"/>
                <a:gd name="txR" fmla="*/ 216 w 216"/>
                <a:gd name="txB" fmla="*/ 88 h 88"/>
              </a:gdLst>
              <a:ahLst/>
              <a:cxnLst>
                <a:cxn ang="0">
                  <a:pos x="0" y="88"/>
                </a:cxn>
                <a:cxn ang="0">
                  <a:pos x="0" y="0"/>
                </a:cxn>
                <a:cxn ang="0">
                  <a:pos x="216" y="0"/>
                </a:cxn>
                <a:cxn ang="0">
                  <a:pos x="216" y="88"/>
                </a:cxn>
                <a:cxn ang="0">
                  <a:pos x="0" y="88"/>
                </a:cxn>
                <a:cxn ang="0">
                  <a:pos x="0" y="88"/>
                </a:cxn>
              </a:cxnLst>
              <a:rect l="txL" t="txT" r="txR" b="txB"/>
              <a:pathLst>
                <a:path w="216" h="88">
                  <a:moveTo>
                    <a:pt x="0" y="88"/>
                  </a:moveTo>
                  <a:lnTo>
                    <a:pt x="0" y="0"/>
                  </a:lnTo>
                  <a:lnTo>
                    <a:pt x="216" y="0"/>
                  </a:lnTo>
                  <a:lnTo>
                    <a:pt x="216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9525" cap="flat" cmpd="sng">
              <a:solidFill>
                <a:schemeClr val="bg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6" name="Freeform 13"/>
            <p:cNvSpPr>
              <a:spLocks noChangeAspect="1"/>
            </p:cNvSpPr>
            <p:nvPr/>
          </p:nvSpPr>
          <p:spPr>
            <a:xfrm>
              <a:off x="3763" y="1835"/>
              <a:ext cx="192" cy="1"/>
            </a:xfrm>
            <a:custGeom>
              <a:avLst/>
              <a:gdLst>
                <a:gd name="txL" fmla="*/ 0 w 192"/>
                <a:gd name="txT" fmla="*/ 0 h 1"/>
                <a:gd name="txR" fmla="*/ 192 w 19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92" h="1">
                  <a:moveTo>
                    <a:pt x="0" y="0"/>
                  </a:moveTo>
                  <a:lnTo>
                    <a:pt x="1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7" name="Freeform 14"/>
            <p:cNvSpPr>
              <a:spLocks noChangeAspect="1"/>
            </p:cNvSpPr>
            <p:nvPr/>
          </p:nvSpPr>
          <p:spPr>
            <a:xfrm>
              <a:off x="3763" y="1923"/>
              <a:ext cx="120" cy="1"/>
            </a:xfrm>
            <a:custGeom>
              <a:avLst/>
              <a:gdLst>
                <a:gd name="txL" fmla="*/ 0 w 120"/>
                <a:gd name="txT" fmla="*/ 0 h 1"/>
                <a:gd name="txR" fmla="*/ 120 w 12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2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20" h="1">
                  <a:moveTo>
                    <a:pt x="0" y="0"/>
                  </a:moveTo>
                  <a:lnTo>
                    <a:pt x="1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8" name="Freeform 15"/>
            <p:cNvSpPr>
              <a:spLocks noChangeAspect="1"/>
            </p:cNvSpPr>
            <p:nvPr/>
          </p:nvSpPr>
          <p:spPr>
            <a:xfrm>
              <a:off x="3571" y="1835"/>
              <a:ext cx="192" cy="1"/>
            </a:xfrm>
            <a:custGeom>
              <a:avLst/>
              <a:gdLst>
                <a:gd name="txL" fmla="*/ 0 w 192"/>
                <a:gd name="txT" fmla="*/ 0 h 1"/>
                <a:gd name="txR" fmla="*/ 192 w 192"/>
                <a:gd name="txB" fmla="*/ 1 h 1"/>
              </a:gdLst>
              <a:ahLst/>
              <a:cxnLst>
                <a:cxn ang="0">
                  <a:pos x="192" y="0"/>
                </a:cxn>
                <a:cxn ang="0">
                  <a:pos x="0" y="0"/>
                </a:cxn>
                <a:cxn ang="0">
                  <a:pos x="192" y="0"/>
                </a:cxn>
                <a:cxn ang="0">
                  <a:pos x="192" y="0"/>
                </a:cxn>
              </a:cxnLst>
              <a:rect l="txL" t="txT" r="txR" b="txB"/>
              <a:pathLst>
                <a:path w="192" h="1">
                  <a:moveTo>
                    <a:pt x="192" y="0"/>
                  </a:moveTo>
                  <a:lnTo>
                    <a:pt x="0" y="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9" name="Freeform 16"/>
            <p:cNvSpPr>
              <a:spLocks noChangeAspect="1"/>
            </p:cNvSpPr>
            <p:nvPr/>
          </p:nvSpPr>
          <p:spPr>
            <a:xfrm>
              <a:off x="3651" y="1923"/>
              <a:ext cx="112" cy="1"/>
            </a:xfrm>
            <a:custGeom>
              <a:avLst/>
              <a:gdLst>
                <a:gd name="txL" fmla="*/ 0 w 112"/>
                <a:gd name="txT" fmla="*/ 0 h 1"/>
                <a:gd name="txR" fmla="*/ 112 w 112"/>
                <a:gd name="txB" fmla="*/ 1 h 1"/>
              </a:gdLst>
              <a:ahLst/>
              <a:cxnLst>
                <a:cxn ang="0">
                  <a:pos x="112" y="0"/>
                </a:cxn>
                <a:cxn ang="0">
                  <a:pos x="0" y="0"/>
                </a:cxn>
                <a:cxn ang="0">
                  <a:pos x="112" y="0"/>
                </a:cxn>
                <a:cxn ang="0">
                  <a:pos x="112" y="0"/>
                </a:cxn>
              </a:cxnLst>
              <a:rect l="txL" t="txT" r="txR" b="txB"/>
              <a:pathLst>
                <a:path w="112" h="1">
                  <a:moveTo>
                    <a:pt x="112" y="0"/>
                  </a:moveTo>
                  <a:lnTo>
                    <a:pt x="0" y="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F0027F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0" name="Freeform 17"/>
            <p:cNvSpPr>
              <a:spLocks noChangeAspect="1"/>
            </p:cNvSpPr>
            <p:nvPr/>
          </p:nvSpPr>
          <p:spPr>
            <a:xfrm>
              <a:off x="4609" y="767"/>
              <a:ext cx="128" cy="127"/>
            </a:xfrm>
            <a:custGeom>
              <a:avLst/>
              <a:gdLst>
                <a:gd name="txL" fmla="*/ 0 w 128"/>
                <a:gd name="txT" fmla="*/ 0 h 127"/>
                <a:gd name="txR" fmla="*/ 128 w 128"/>
                <a:gd name="txB" fmla="*/ 127 h 127"/>
              </a:gdLst>
              <a:ahLst/>
              <a:cxnLst>
                <a:cxn ang="0">
                  <a:pos x="64" y="127"/>
                </a:cxn>
                <a:cxn ang="0">
                  <a:pos x="88" y="119"/>
                </a:cxn>
                <a:cxn ang="0">
                  <a:pos x="112" y="111"/>
                </a:cxn>
                <a:cxn ang="0">
                  <a:pos x="120" y="88"/>
                </a:cxn>
                <a:cxn ang="0">
                  <a:pos x="128" y="64"/>
                </a:cxn>
                <a:cxn ang="0">
                  <a:pos x="120" y="40"/>
                </a:cxn>
                <a:cxn ang="0">
                  <a:pos x="112" y="24"/>
                </a:cxn>
                <a:cxn ang="0">
                  <a:pos x="88" y="8"/>
                </a:cxn>
                <a:cxn ang="0">
                  <a:pos x="64" y="0"/>
                </a:cxn>
                <a:cxn ang="0">
                  <a:pos x="40" y="8"/>
                </a:cxn>
                <a:cxn ang="0">
                  <a:pos x="24" y="24"/>
                </a:cxn>
                <a:cxn ang="0">
                  <a:pos x="8" y="40"/>
                </a:cxn>
                <a:cxn ang="0">
                  <a:pos x="0" y="64"/>
                </a:cxn>
                <a:cxn ang="0">
                  <a:pos x="8" y="88"/>
                </a:cxn>
                <a:cxn ang="0">
                  <a:pos x="24" y="111"/>
                </a:cxn>
                <a:cxn ang="0">
                  <a:pos x="40" y="119"/>
                </a:cxn>
                <a:cxn ang="0">
                  <a:pos x="64" y="127"/>
                </a:cxn>
                <a:cxn ang="0">
                  <a:pos x="64" y="127"/>
                </a:cxn>
              </a:cxnLst>
              <a:rect l="txL" t="txT" r="txR" b="txB"/>
              <a:pathLst>
                <a:path w="128" h="127">
                  <a:moveTo>
                    <a:pt x="64" y="127"/>
                  </a:moveTo>
                  <a:lnTo>
                    <a:pt x="88" y="119"/>
                  </a:lnTo>
                  <a:lnTo>
                    <a:pt x="112" y="111"/>
                  </a:lnTo>
                  <a:lnTo>
                    <a:pt x="120" y="88"/>
                  </a:lnTo>
                  <a:lnTo>
                    <a:pt x="128" y="64"/>
                  </a:lnTo>
                  <a:lnTo>
                    <a:pt x="120" y="40"/>
                  </a:lnTo>
                  <a:lnTo>
                    <a:pt x="112" y="24"/>
                  </a:lnTo>
                  <a:lnTo>
                    <a:pt x="88" y="8"/>
                  </a:lnTo>
                  <a:lnTo>
                    <a:pt x="64" y="0"/>
                  </a:lnTo>
                  <a:lnTo>
                    <a:pt x="40" y="8"/>
                  </a:lnTo>
                  <a:lnTo>
                    <a:pt x="24" y="24"/>
                  </a:lnTo>
                  <a:lnTo>
                    <a:pt x="8" y="40"/>
                  </a:lnTo>
                  <a:lnTo>
                    <a:pt x="0" y="64"/>
                  </a:lnTo>
                  <a:lnTo>
                    <a:pt x="8" y="88"/>
                  </a:lnTo>
                  <a:lnTo>
                    <a:pt x="24" y="111"/>
                  </a:lnTo>
                  <a:lnTo>
                    <a:pt x="40" y="119"/>
                  </a:lnTo>
                  <a:lnTo>
                    <a:pt x="64" y="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1" name="Freeform 18"/>
            <p:cNvSpPr>
              <a:spLocks noChangeAspect="1"/>
            </p:cNvSpPr>
            <p:nvPr/>
          </p:nvSpPr>
          <p:spPr>
            <a:xfrm>
              <a:off x="4673" y="831"/>
              <a:ext cx="64" cy="63"/>
            </a:xfrm>
            <a:custGeom>
              <a:avLst/>
              <a:gdLst>
                <a:gd name="txL" fmla="*/ 0 w 64"/>
                <a:gd name="txT" fmla="*/ 0 h 63"/>
                <a:gd name="txR" fmla="*/ 64 w 64"/>
                <a:gd name="txB" fmla="*/ 63 h 63"/>
              </a:gdLst>
              <a:ahLst/>
              <a:cxnLst>
                <a:cxn ang="0">
                  <a:pos x="0" y="63"/>
                </a:cxn>
                <a:cxn ang="0">
                  <a:pos x="24" y="55"/>
                </a:cxn>
                <a:cxn ang="0">
                  <a:pos x="48" y="47"/>
                </a:cxn>
                <a:cxn ang="0">
                  <a:pos x="56" y="24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56" y="24"/>
                </a:cxn>
                <a:cxn ang="0">
                  <a:pos x="48" y="47"/>
                </a:cxn>
                <a:cxn ang="0">
                  <a:pos x="24" y="55"/>
                </a:cxn>
                <a:cxn ang="0">
                  <a:pos x="0" y="63"/>
                </a:cxn>
                <a:cxn ang="0">
                  <a:pos x="0" y="63"/>
                </a:cxn>
              </a:cxnLst>
              <a:rect l="txL" t="txT" r="txR" b="txB"/>
              <a:pathLst>
                <a:path w="64" h="63">
                  <a:moveTo>
                    <a:pt x="0" y="63"/>
                  </a:moveTo>
                  <a:lnTo>
                    <a:pt x="24" y="55"/>
                  </a:lnTo>
                  <a:lnTo>
                    <a:pt x="48" y="47"/>
                  </a:lnTo>
                  <a:lnTo>
                    <a:pt x="56" y="24"/>
                  </a:lnTo>
                  <a:lnTo>
                    <a:pt x="64" y="0"/>
                  </a:lnTo>
                  <a:lnTo>
                    <a:pt x="56" y="24"/>
                  </a:lnTo>
                  <a:lnTo>
                    <a:pt x="48" y="47"/>
                  </a:lnTo>
                  <a:lnTo>
                    <a:pt x="24" y="55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2" name="Freeform 19"/>
            <p:cNvSpPr>
              <a:spLocks noChangeAspect="1" noEditPoints="1"/>
            </p:cNvSpPr>
            <p:nvPr/>
          </p:nvSpPr>
          <p:spPr>
            <a:xfrm>
              <a:off x="4673" y="767"/>
              <a:ext cx="64" cy="64"/>
            </a:xfrm>
            <a:custGeom>
              <a:avLst/>
              <a:gdLst>
                <a:gd name="txL" fmla="*/ 0 w 64"/>
                <a:gd name="txT" fmla="*/ 0 h 64"/>
                <a:gd name="txR" fmla="*/ 64 w 64"/>
                <a:gd name="txB" fmla="*/ 64 h 64"/>
              </a:gdLst>
              <a:ahLst/>
              <a:cxnLst>
                <a:cxn ang="0">
                  <a:pos x="64" y="64"/>
                </a:cxn>
                <a:cxn ang="0">
                  <a:pos x="56" y="40"/>
                </a:cxn>
                <a:cxn ang="0">
                  <a:pos x="48" y="24"/>
                </a:cxn>
                <a:cxn ang="0">
                  <a:pos x="24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4" y="8"/>
                </a:cxn>
                <a:cxn ang="0">
                  <a:pos x="48" y="24"/>
                </a:cxn>
                <a:cxn ang="0">
                  <a:pos x="56" y="40"/>
                </a:cxn>
                <a:cxn ang="0">
                  <a:pos x="64" y="64"/>
                </a:cxn>
                <a:cxn ang="0">
                  <a:pos x="64" y="64"/>
                </a:cxn>
                <a:cxn ang="0">
                  <a:pos x="64" y="64"/>
                </a:cxn>
                <a:cxn ang="0">
                  <a:pos x="64" y="64"/>
                </a:cxn>
                <a:cxn ang="0">
                  <a:pos x="64" y="64"/>
                </a:cxn>
              </a:cxnLst>
              <a:rect l="txL" t="txT" r="txR" b="txB"/>
              <a:pathLst>
                <a:path w="64" h="64">
                  <a:moveTo>
                    <a:pt x="64" y="64"/>
                  </a:moveTo>
                  <a:lnTo>
                    <a:pt x="56" y="40"/>
                  </a:lnTo>
                  <a:lnTo>
                    <a:pt x="48" y="24"/>
                  </a:lnTo>
                  <a:lnTo>
                    <a:pt x="24" y="8"/>
                  </a:lnTo>
                  <a:lnTo>
                    <a:pt x="0" y="0"/>
                  </a:lnTo>
                  <a:lnTo>
                    <a:pt x="24" y="8"/>
                  </a:lnTo>
                  <a:lnTo>
                    <a:pt x="48" y="24"/>
                  </a:lnTo>
                  <a:lnTo>
                    <a:pt x="56" y="40"/>
                  </a:lnTo>
                  <a:lnTo>
                    <a:pt x="64" y="64"/>
                  </a:lnTo>
                  <a:close/>
                  <a:moveTo>
                    <a:pt x="64" y="64"/>
                  </a:moveTo>
                  <a:lnTo>
                    <a:pt x="64" y="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3" name="Freeform 20"/>
            <p:cNvSpPr>
              <a:spLocks noChangeAspect="1" noEditPoints="1"/>
            </p:cNvSpPr>
            <p:nvPr/>
          </p:nvSpPr>
          <p:spPr>
            <a:xfrm>
              <a:off x="4609" y="767"/>
              <a:ext cx="64" cy="64"/>
            </a:xfrm>
            <a:custGeom>
              <a:avLst/>
              <a:gdLst>
                <a:gd name="txL" fmla="*/ 0 w 64"/>
                <a:gd name="txT" fmla="*/ 0 h 64"/>
                <a:gd name="txR" fmla="*/ 64 w 64"/>
                <a:gd name="txB" fmla="*/ 64 h 64"/>
              </a:gdLst>
              <a:ahLst/>
              <a:cxnLst>
                <a:cxn ang="0">
                  <a:pos x="64" y="0"/>
                </a:cxn>
                <a:cxn ang="0">
                  <a:pos x="40" y="8"/>
                </a:cxn>
                <a:cxn ang="0">
                  <a:pos x="24" y="24"/>
                </a:cxn>
                <a:cxn ang="0">
                  <a:pos x="8" y="40"/>
                </a:cxn>
                <a:cxn ang="0">
                  <a:pos x="0" y="64"/>
                </a:cxn>
                <a:cxn ang="0">
                  <a:pos x="0" y="64"/>
                </a:cxn>
                <a:cxn ang="0">
                  <a:pos x="8" y="40"/>
                </a:cxn>
                <a:cxn ang="0">
                  <a:pos x="24" y="24"/>
                </a:cxn>
                <a:cxn ang="0">
                  <a:pos x="40" y="8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64" y="0"/>
                </a:cxn>
              </a:cxnLst>
              <a:rect l="txL" t="txT" r="txR" b="txB"/>
              <a:pathLst>
                <a:path w="64" h="64">
                  <a:moveTo>
                    <a:pt x="64" y="0"/>
                  </a:moveTo>
                  <a:lnTo>
                    <a:pt x="40" y="8"/>
                  </a:lnTo>
                  <a:lnTo>
                    <a:pt x="24" y="24"/>
                  </a:lnTo>
                  <a:lnTo>
                    <a:pt x="8" y="40"/>
                  </a:lnTo>
                  <a:lnTo>
                    <a:pt x="0" y="64"/>
                  </a:lnTo>
                  <a:lnTo>
                    <a:pt x="8" y="40"/>
                  </a:lnTo>
                  <a:lnTo>
                    <a:pt x="24" y="24"/>
                  </a:lnTo>
                  <a:lnTo>
                    <a:pt x="40" y="8"/>
                  </a:lnTo>
                  <a:lnTo>
                    <a:pt x="64" y="0"/>
                  </a:lnTo>
                  <a:close/>
                  <a:moveTo>
                    <a:pt x="64" y="0"/>
                  </a:moveTo>
                  <a:lnTo>
                    <a:pt x="6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4" name="Freeform 21"/>
            <p:cNvSpPr>
              <a:spLocks noChangeAspect="1" noEditPoints="1"/>
            </p:cNvSpPr>
            <p:nvPr/>
          </p:nvSpPr>
          <p:spPr>
            <a:xfrm>
              <a:off x="4609" y="831"/>
              <a:ext cx="64" cy="63"/>
            </a:xfrm>
            <a:custGeom>
              <a:avLst/>
              <a:gdLst>
                <a:gd name="txL" fmla="*/ 0 w 64"/>
                <a:gd name="txT" fmla="*/ 0 h 63"/>
                <a:gd name="txR" fmla="*/ 64 w 64"/>
                <a:gd name="txB" fmla="*/ 63 h 63"/>
              </a:gdLst>
              <a:ahLst/>
              <a:cxnLst>
                <a:cxn ang="0">
                  <a:pos x="0" y="0"/>
                </a:cxn>
                <a:cxn ang="0">
                  <a:pos x="8" y="24"/>
                </a:cxn>
                <a:cxn ang="0">
                  <a:pos x="24" y="47"/>
                </a:cxn>
                <a:cxn ang="0">
                  <a:pos x="40" y="55"/>
                </a:cxn>
                <a:cxn ang="0">
                  <a:pos x="64" y="63"/>
                </a:cxn>
                <a:cxn ang="0">
                  <a:pos x="64" y="63"/>
                </a:cxn>
                <a:cxn ang="0">
                  <a:pos x="40" y="55"/>
                </a:cxn>
                <a:cxn ang="0">
                  <a:pos x="24" y="47"/>
                </a:cxn>
                <a:cxn ang="0">
                  <a:pos x="8" y="2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4" h="63">
                  <a:moveTo>
                    <a:pt x="0" y="0"/>
                  </a:moveTo>
                  <a:lnTo>
                    <a:pt x="8" y="24"/>
                  </a:lnTo>
                  <a:lnTo>
                    <a:pt x="24" y="47"/>
                  </a:lnTo>
                  <a:lnTo>
                    <a:pt x="40" y="55"/>
                  </a:lnTo>
                  <a:lnTo>
                    <a:pt x="64" y="63"/>
                  </a:lnTo>
                  <a:lnTo>
                    <a:pt x="40" y="55"/>
                  </a:lnTo>
                  <a:lnTo>
                    <a:pt x="24" y="47"/>
                  </a:lnTo>
                  <a:lnTo>
                    <a:pt x="8" y="2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5" name="Freeform 22"/>
            <p:cNvSpPr>
              <a:spLocks noChangeAspect="1"/>
            </p:cNvSpPr>
            <p:nvPr/>
          </p:nvSpPr>
          <p:spPr>
            <a:xfrm>
              <a:off x="4673" y="8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6" name="Freeform 23"/>
            <p:cNvSpPr>
              <a:spLocks noChangeAspect="1"/>
            </p:cNvSpPr>
            <p:nvPr/>
          </p:nvSpPr>
          <p:spPr>
            <a:xfrm>
              <a:off x="4601" y="2856"/>
              <a:ext cx="136" cy="127"/>
            </a:xfrm>
            <a:custGeom>
              <a:avLst/>
              <a:gdLst>
                <a:gd name="txL" fmla="*/ 0 w 136"/>
                <a:gd name="txT" fmla="*/ 0 h 127"/>
                <a:gd name="txR" fmla="*/ 136 w 136"/>
                <a:gd name="txB" fmla="*/ 127 h 127"/>
              </a:gdLst>
              <a:ahLst/>
              <a:cxnLst>
                <a:cxn ang="0">
                  <a:pos x="72" y="127"/>
                </a:cxn>
                <a:cxn ang="0">
                  <a:pos x="96" y="119"/>
                </a:cxn>
                <a:cxn ang="0">
                  <a:pos x="120" y="111"/>
                </a:cxn>
                <a:cxn ang="0">
                  <a:pos x="128" y="87"/>
                </a:cxn>
                <a:cxn ang="0">
                  <a:pos x="136" y="63"/>
                </a:cxn>
                <a:cxn ang="0">
                  <a:pos x="128" y="39"/>
                </a:cxn>
                <a:cxn ang="0">
                  <a:pos x="120" y="16"/>
                </a:cxn>
                <a:cxn ang="0">
                  <a:pos x="96" y="8"/>
                </a:cxn>
                <a:cxn ang="0">
                  <a:pos x="72" y="0"/>
                </a:cxn>
                <a:cxn ang="0">
                  <a:pos x="48" y="8"/>
                </a:cxn>
                <a:cxn ang="0">
                  <a:pos x="24" y="16"/>
                </a:cxn>
                <a:cxn ang="0">
                  <a:pos x="8" y="39"/>
                </a:cxn>
                <a:cxn ang="0">
                  <a:pos x="0" y="63"/>
                </a:cxn>
                <a:cxn ang="0">
                  <a:pos x="8" y="87"/>
                </a:cxn>
                <a:cxn ang="0">
                  <a:pos x="24" y="111"/>
                </a:cxn>
                <a:cxn ang="0">
                  <a:pos x="48" y="119"/>
                </a:cxn>
                <a:cxn ang="0">
                  <a:pos x="72" y="127"/>
                </a:cxn>
                <a:cxn ang="0">
                  <a:pos x="72" y="127"/>
                </a:cxn>
              </a:cxnLst>
              <a:rect l="txL" t="txT" r="txR" b="txB"/>
              <a:pathLst>
                <a:path w="136" h="127">
                  <a:moveTo>
                    <a:pt x="72" y="127"/>
                  </a:moveTo>
                  <a:lnTo>
                    <a:pt x="96" y="119"/>
                  </a:lnTo>
                  <a:lnTo>
                    <a:pt x="120" y="111"/>
                  </a:lnTo>
                  <a:lnTo>
                    <a:pt x="128" y="87"/>
                  </a:lnTo>
                  <a:lnTo>
                    <a:pt x="136" y="63"/>
                  </a:lnTo>
                  <a:lnTo>
                    <a:pt x="128" y="39"/>
                  </a:lnTo>
                  <a:lnTo>
                    <a:pt x="120" y="16"/>
                  </a:lnTo>
                  <a:lnTo>
                    <a:pt x="96" y="8"/>
                  </a:lnTo>
                  <a:lnTo>
                    <a:pt x="72" y="0"/>
                  </a:lnTo>
                  <a:lnTo>
                    <a:pt x="48" y="8"/>
                  </a:lnTo>
                  <a:lnTo>
                    <a:pt x="24" y="16"/>
                  </a:lnTo>
                  <a:lnTo>
                    <a:pt x="8" y="39"/>
                  </a:lnTo>
                  <a:lnTo>
                    <a:pt x="0" y="63"/>
                  </a:lnTo>
                  <a:lnTo>
                    <a:pt x="8" y="87"/>
                  </a:lnTo>
                  <a:lnTo>
                    <a:pt x="24" y="111"/>
                  </a:lnTo>
                  <a:lnTo>
                    <a:pt x="48" y="119"/>
                  </a:lnTo>
                  <a:lnTo>
                    <a:pt x="72" y="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7" name="Freeform 24"/>
            <p:cNvSpPr>
              <a:spLocks noChangeAspect="1"/>
            </p:cNvSpPr>
            <p:nvPr/>
          </p:nvSpPr>
          <p:spPr>
            <a:xfrm>
              <a:off x="4673" y="2919"/>
              <a:ext cx="64" cy="64"/>
            </a:xfrm>
            <a:custGeom>
              <a:avLst/>
              <a:gdLst>
                <a:gd name="txL" fmla="*/ 0 w 64"/>
                <a:gd name="txT" fmla="*/ 0 h 64"/>
                <a:gd name="txR" fmla="*/ 64 w 64"/>
                <a:gd name="txB" fmla="*/ 64 h 64"/>
              </a:gdLst>
              <a:ahLst/>
              <a:cxnLst>
                <a:cxn ang="0">
                  <a:pos x="0" y="64"/>
                </a:cxn>
                <a:cxn ang="0">
                  <a:pos x="24" y="56"/>
                </a:cxn>
                <a:cxn ang="0">
                  <a:pos x="48" y="48"/>
                </a:cxn>
                <a:cxn ang="0">
                  <a:pos x="56" y="24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56" y="24"/>
                </a:cxn>
                <a:cxn ang="0">
                  <a:pos x="48" y="48"/>
                </a:cxn>
                <a:cxn ang="0">
                  <a:pos x="24" y="56"/>
                </a:cxn>
                <a:cxn ang="0">
                  <a:pos x="0" y="64"/>
                </a:cxn>
                <a:cxn ang="0">
                  <a:pos x="0" y="64"/>
                </a:cxn>
              </a:cxnLst>
              <a:rect l="txL" t="txT" r="txR" b="txB"/>
              <a:pathLst>
                <a:path w="64" h="64">
                  <a:moveTo>
                    <a:pt x="0" y="64"/>
                  </a:moveTo>
                  <a:lnTo>
                    <a:pt x="24" y="56"/>
                  </a:lnTo>
                  <a:lnTo>
                    <a:pt x="48" y="48"/>
                  </a:lnTo>
                  <a:lnTo>
                    <a:pt x="56" y="24"/>
                  </a:lnTo>
                  <a:lnTo>
                    <a:pt x="64" y="0"/>
                  </a:lnTo>
                  <a:lnTo>
                    <a:pt x="56" y="24"/>
                  </a:lnTo>
                  <a:lnTo>
                    <a:pt x="48" y="48"/>
                  </a:lnTo>
                  <a:lnTo>
                    <a:pt x="24" y="5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8" name="Freeform 25"/>
            <p:cNvSpPr>
              <a:spLocks noChangeAspect="1" noEditPoints="1"/>
            </p:cNvSpPr>
            <p:nvPr/>
          </p:nvSpPr>
          <p:spPr>
            <a:xfrm>
              <a:off x="4673" y="2856"/>
              <a:ext cx="64" cy="63"/>
            </a:xfrm>
            <a:custGeom>
              <a:avLst/>
              <a:gdLst>
                <a:gd name="txL" fmla="*/ 0 w 64"/>
                <a:gd name="txT" fmla="*/ 0 h 63"/>
                <a:gd name="txR" fmla="*/ 64 w 64"/>
                <a:gd name="txB" fmla="*/ 63 h 63"/>
              </a:gdLst>
              <a:ahLst/>
              <a:cxnLst>
                <a:cxn ang="0">
                  <a:pos x="64" y="63"/>
                </a:cxn>
                <a:cxn ang="0">
                  <a:pos x="56" y="39"/>
                </a:cxn>
                <a:cxn ang="0">
                  <a:pos x="48" y="16"/>
                </a:cxn>
                <a:cxn ang="0">
                  <a:pos x="24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4" y="8"/>
                </a:cxn>
                <a:cxn ang="0">
                  <a:pos x="48" y="16"/>
                </a:cxn>
                <a:cxn ang="0">
                  <a:pos x="56" y="39"/>
                </a:cxn>
                <a:cxn ang="0">
                  <a:pos x="64" y="63"/>
                </a:cxn>
                <a:cxn ang="0">
                  <a:pos x="64" y="63"/>
                </a:cxn>
                <a:cxn ang="0">
                  <a:pos x="64" y="63"/>
                </a:cxn>
                <a:cxn ang="0">
                  <a:pos x="64" y="63"/>
                </a:cxn>
                <a:cxn ang="0">
                  <a:pos x="64" y="63"/>
                </a:cxn>
              </a:cxnLst>
              <a:rect l="txL" t="txT" r="txR" b="txB"/>
              <a:pathLst>
                <a:path w="64" h="63">
                  <a:moveTo>
                    <a:pt x="64" y="63"/>
                  </a:moveTo>
                  <a:lnTo>
                    <a:pt x="56" y="39"/>
                  </a:lnTo>
                  <a:lnTo>
                    <a:pt x="48" y="16"/>
                  </a:lnTo>
                  <a:lnTo>
                    <a:pt x="24" y="8"/>
                  </a:lnTo>
                  <a:lnTo>
                    <a:pt x="0" y="0"/>
                  </a:lnTo>
                  <a:lnTo>
                    <a:pt x="24" y="8"/>
                  </a:lnTo>
                  <a:lnTo>
                    <a:pt x="48" y="16"/>
                  </a:lnTo>
                  <a:lnTo>
                    <a:pt x="56" y="39"/>
                  </a:lnTo>
                  <a:lnTo>
                    <a:pt x="64" y="63"/>
                  </a:lnTo>
                  <a:close/>
                  <a:moveTo>
                    <a:pt x="64" y="63"/>
                  </a:moveTo>
                  <a:lnTo>
                    <a:pt x="64" y="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19" name="Freeform 26"/>
            <p:cNvSpPr>
              <a:spLocks noChangeAspect="1" noEditPoints="1"/>
            </p:cNvSpPr>
            <p:nvPr/>
          </p:nvSpPr>
          <p:spPr>
            <a:xfrm>
              <a:off x="4601" y="2856"/>
              <a:ext cx="72" cy="63"/>
            </a:xfrm>
            <a:custGeom>
              <a:avLst/>
              <a:gdLst>
                <a:gd name="txL" fmla="*/ 0 w 72"/>
                <a:gd name="txT" fmla="*/ 0 h 63"/>
                <a:gd name="txR" fmla="*/ 72 w 72"/>
                <a:gd name="txB" fmla="*/ 63 h 63"/>
              </a:gdLst>
              <a:ahLst/>
              <a:cxnLst>
                <a:cxn ang="0">
                  <a:pos x="72" y="0"/>
                </a:cxn>
                <a:cxn ang="0">
                  <a:pos x="48" y="8"/>
                </a:cxn>
                <a:cxn ang="0">
                  <a:pos x="24" y="16"/>
                </a:cxn>
                <a:cxn ang="0">
                  <a:pos x="8" y="39"/>
                </a:cxn>
                <a:cxn ang="0">
                  <a:pos x="8" y="63"/>
                </a:cxn>
                <a:cxn ang="0">
                  <a:pos x="0" y="63"/>
                </a:cxn>
                <a:cxn ang="0">
                  <a:pos x="8" y="39"/>
                </a:cxn>
                <a:cxn ang="0">
                  <a:pos x="24" y="16"/>
                </a:cxn>
                <a:cxn ang="0">
                  <a:pos x="48" y="8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2" y="0"/>
                </a:cxn>
              </a:cxnLst>
              <a:rect l="txL" t="txT" r="txR" b="txB"/>
              <a:pathLst>
                <a:path w="72" h="63">
                  <a:moveTo>
                    <a:pt x="72" y="0"/>
                  </a:moveTo>
                  <a:lnTo>
                    <a:pt x="48" y="8"/>
                  </a:lnTo>
                  <a:lnTo>
                    <a:pt x="24" y="16"/>
                  </a:lnTo>
                  <a:lnTo>
                    <a:pt x="8" y="39"/>
                  </a:lnTo>
                  <a:lnTo>
                    <a:pt x="8" y="63"/>
                  </a:lnTo>
                  <a:lnTo>
                    <a:pt x="0" y="63"/>
                  </a:lnTo>
                  <a:lnTo>
                    <a:pt x="8" y="39"/>
                  </a:lnTo>
                  <a:lnTo>
                    <a:pt x="24" y="16"/>
                  </a:lnTo>
                  <a:lnTo>
                    <a:pt x="48" y="8"/>
                  </a:lnTo>
                  <a:lnTo>
                    <a:pt x="72" y="0"/>
                  </a:lnTo>
                  <a:close/>
                  <a:moveTo>
                    <a:pt x="72" y="0"/>
                  </a:moveTo>
                  <a:lnTo>
                    <a:pt x="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0" name="Freeform 27"/>
            <p:cNvSpPr>
              <a:spLocks noChangeAspect="1" noEditPoints="1"/>
            </p:cNvSpPr>
            <p:nvPr/>
          </p:nvSpPr>
          <p:spPr>
            <a:xfrm>
              <a:off x="4601" y="2919"/>
              <a:ext cx="72" cy="64"/>
            </a:xfrm>
            <a:custGeom>
              <a:avLst/>
              <a:gdLst>
                <a:gd name="txL" fmla="*/ 0 w 72"/>
                <a:gd name="txT" fmla="*/ 0 h 64"/>
                <a:gd name="txR" fmla="*/ 72 w 72"/>
                <a:gd name="txB" fmla="*/ 64 h 64"/>
              </a:gdLst>
              <a:ahLst/>
              <a:cxnLst>
                <a:cxn ang="0">
                  <a:pos x="0" y="0"/>
                </a:cxn>
                <a:cxn ang="0">
                  <a:pos x="8" y="24"/>
                </a:cxn>
                <a:cxn ang="0">
                  <a:pos x="24" y="48"/>
                </a:cxn>
                <a:cxn ang="0">
                  <a:pos x="48" y="56"/>
                </a:cxn>
                <a:cxn ang="0">
                  <a:pos x="72" y="64"/>
                </a:cxn>
                <a:cxn ang="0">
                  <a:pos x="72" y="64"/>
                </a:cxn>
                <a:cxn ang="0">
                  <a:pos x="48" y="56"/>
                </a:cxn>
                <a:cxn ang="0">
                  <a:pos x="24" y="48"/>
                </a:cxn>
                <a:cxn ang="0">
                  <a:pos x="8" y="24"/>
                </a:cxn>
                <a:cxn ang="0">
                  <a:pos x="8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2" h="64">
                  <a:moveTo>
                    <a:pt x="0" y="0"/>
                  </a:moveTo>
                  <a:lnTo>
                    <a:pt x="8" y="24"/>
                  </a:lnTo>
                  <a:lnTo>
                    <a:pt x="24" y="48"/>
                  </a:lnTo>
                  <a:lnTo>
                    <a:pt x="48" y="56"/>
                  </a:lnTo>
                  <a:lnTo>
                    <a:pt x="72" y="64"/>
                  </a:lnTo>
                  <a:lnTo>
                    <a:pt x="48" y="56"/>
                  </a:lnTo>
                  <a:lnTo>
                    <a:pt x="24" y="48"/>
                  </a:lnTo>
                  <a:lnTo>
                    <a:pt x="8" y="24"/>
                  </a:lnTo>
                  <a:lnTo>
                    <a:pt x="8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1" name="Freeform 28"/>
            <p:cNvSpPr>
              <a:spLocks noChangeAspect="1"/>
            </p:cNvSpPr>
            <p:nvPr/>
          </p:nvSpPr>
          <p:spPr>
            <a:xfrm>
              <a:off x="4673" y="29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2" name="Freeform 29"/>
            <p:cNvSpPr>
              <a:spLocks noChangeAspect="1"/>
            </p:cNvSpPr>
            <p:nvPr/>
          </p:nvSpPr>
          <p:spPr>
            <a:xfrm>
              <a:off x="1463" y="831"/>
              <a:ext cx="847" cy="1"/>
            </a:xfrm>
            <a:custGeom>
              <a:avLst/>
              <a:gdLst>
                <a:gd name="txL" fmla="*/ 0 w 847"/>
                <a:gd name="txT" fmla="*/ 0 h 1"/>
                <a:gd name="txR" fmla="*/ 847 w 847"/>
                <a:gd name="txB" fmla="*/ 1 h 1"/>
              </a:gdLst>
              <a:ahLst/>
              <a:cxnLst>
                <a:cxn ang="0">
                  <a:pos x="847" y="0"/>
                </a:cxn>
                <a:cxn ang="0">
                  <a:pos x="0" y="0"/>
                </a:cxn>
                <a:cxn ang="0">
                  <a:pos x="847" y="0"/>
                </a:cxn>
                <a:cxn ang="0">
                  <a:pos x="847" y="0"/>
                </a:cxn>
              </a:cxnLst>
              <a:rect l="txL" t="txT" r="txR" b="txB"/>
              <a:pathLst>
                <a:path w="847" h="1">
                  <a:moveTo>
                    <a:pt x="847" y="0"/>
                  </a:moveTo>
                  <a:lnTo>
                    <a:pt x="0" y="0"/>
                  </a:lnTo>
                  <a:lnTo>
                    <a:pt x="84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3" name="Freeform 30"/>
            <p:cNvSpPr>
              <a:spLocks noChangeAspect="1" noEditPoints="1"/>
            </p:cNvSpPr>
            <p:nvPr/>
          </p:nvSpPr>
          <p:spPr>
            <a:xfrm>
              <a:off x="1463" y="831"/>
              <a:ext cx="1" cy="2088"/>
            </a:xfrm>
            <a:custGeom>
              <a:avLst/>
              <a:gdLst>
                <a:gd name="txL" fmla="*/ 0 w 1"/>
                <a:gd name="txT" fmla="*/ 0 h 2088"/>
                <a:gd name="txR" fmla="*/ 1 w 1"/>
                <a:gd name="txB" fmla="*/ 2088 h 2088"/>
              </a:gdLst>
              <a:ahLst/>
              <a:cxnLst>
                <a:cxn ang="0">
                  <a:pos x="0" y="0"/>
                </a:cxn>
                <a:cxn ang="0">
                  <a:pos x="0" y="208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088">
                  <a:moveTo>
                    <a:pt x="0" y="0"/>
                  </a:moveTo>
                  <a:lnTo>
                    <a:pt x="0" y="208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4" name="Freeform 31"/>
            <p:cNvSpPr>
              <a:spLocks noChangeAspect="1" noEditPoints="1"/>
            </p:cNvSpPr>
            <p:nvPr/>
          </p:nvSpPr>
          <p:spPr>
            <a:xfrm>
              <a:off x="1463" y="2919"/>
              <a:ext cx="847" cy="1"/>
            </a:xfrm>
            <a:custGeom>
              <a:avLst/>
              <a:gdLst>
                <a:gd name="txL" fmla="*/ 0 w 847"/>
                <a:gd name="txT" fmla="*/ 0 h 1"/>
                <a:gd name="txR" fmla="*/ 847 w 84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4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847" h="1">
                  <a:moveTo>
                    <a:pt x="0" y="0"/>
                  </a:moveTo>
                  <a:lnTo>
                    <a:pt x="84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5" name="Freeform 32"/>
            <p:cNvSpPr>
              <a:spLocks noChangeAspect="1"/>
            </p:cNvSpPr>
            <p:nvPr/>
          </p:nvSpPr>
          <p:spPr>
            <a:xfrm>
              <a:off x="960" y="1843"/>
              <a:ext cx="112" cy="120"/>
            </a:xfrm>
            <a:custGeom>
              <a:avLst/>
              <a:gdLst>
                <a:gd name="txL" fmla="*/ 0 w 112"/>
                <a:gd name="txT" fmla="*/ 0 h 120"/>
                <a:gd name="txR" fmla="*/ 112 w 112"/>
                <a:gd name="txB" fmla="*/ 120 h 120"/>
              </a:gdLst>
              <a:ahLst/>
              <a:cxnLst>
                <a:cxn ang="0">
                  <a:pos x="0" y="8"/>
                </a:cxn>
                <a:cxn ang="0">
                  <a:pos x="16" y="8"/>
                </a:cxn>
                <a:cxn ang="0">
                  <a:pos x="16" y="16"/>
                </a:cxn>
                <a:cxn ang="0">
                  <a:pos x="24" y="32"/>
                </a:cxn>
                <a:cxn ang="0">
                  <a:pos x="24" y="48"/>
                </a:cxn>
                <a:cxn ang="0">
                  <a:pos x="32" y="72"/>
                </a:cxn>
                <a:cxn ang="0">
                  <a:pos x="32" y="96"/>
                </a:cxn>
                <a:cxn ang="0">
                  <a:pos x="32" y="112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40" y="112"/>
                </a:cxn>
                <a:cxn ang="0">
                  <a:pos x="48" y="104"/>
                </a:cxn>
                <a:cxn ang="0">
                  <a:pos x="64" y="96"/>
                </a:cxn>
                <a:cxn ang="0">
                  <a:pos x="72" y="80"/>
                </a:cxn>
                <a:cxn ang="0">
                  <a:pos x="88" y="64"/>
                </a:cxn>
                <a:cxn ang="0">
                  <a:pos x="104" y="40"/>
                </a:cxn>
                <a:cxn ang="0">
                  <a:pos x="112" y="16"/>
                </a:cxn>
                <a:cxn ang="0">
                  <a:pos x="104" y="8"/>
                </a:cxn>
                <a:cxn ang="0">
                  <a:pos x="96" y="0"/>
                </a:cxn>
                <a:cxn ang="0">
                  <a:pos x="88" y="0"/>
                </a:cxn>
                <a:cxn ang="0">
                  <a:pos x="80" y="8"/>
                </a:cxn>
                <a:cxn ang="0">
                  <a:pos x="80" y="16"/>
                </a:cxn>
                <a:cxn ang="0">
                  <a:pos x="88" y="24"/>
                </a:cxn>
                <a:cxn ang="0">
                  <a:pos x="96" y="24"/>
                </a:cxn>
                <a:cxn ang="0">
                  <a:pos x="96" y="32"/>
                </a:cxn>
                <a:cxn ang="0">
                  <a:pos x="96" y="40"/>
                </a:cxn>
                <a:cxn ang="0">
                  <a:pos x="80" y="56"/>
                </a:cxn>
                <a:cxn ang="0">
                  <a:pos x="56" y="88"/>
                </a:cxn>
                <a:cxn ang="0">
                  <a:pos x="48" y="96"/>
                </a:cxn>
                <a:cxn ang="0">
                  <a:pos x="48" y="56"/>
                </a:cxn>
                <a:cxn ang="0">
                  <a:pos x="40" y="8"/>
                </a:cxn>
                <a:cxn ang="0">
                  <a:pos x="40" y="0"/>
                </a:cxn>
                <a:cxn ang="0">
                  <a:pos x="32" y="0"/>
                </a:cxn>
                <a:cxn ang="0">
                  <a:pos x="24" y="0"/>
                </a:cxn>
                <a:cxn ang="0">
                  <a:pos x="0" y="8"/>
                </a:cxn>
                <a:cxn ang="0">
                  <a:pos x="0" y="8"/>
                </a:cxn>
              </a:cxnLst>
              <a:rect l="txL" t="txT" r="txR" b="txB"/>
              <a:pathLst>
                <a:path w="112" h="120">
                  <a:moveTo>
                    <a:pt x="0" y="8"/>
                  </a:moveTo>
                  <a:lnTo>
                    <a:pt x="16" y="8"/>
                  </a:lnTo>
                  <a:lnTo>
                    <a:pt x="16" y="16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32" y="72"/>
                  </a:lnTo>
                  <a:lnTo>
                    <a:pt x="32" y="96"/>
                  </a:lnTo>
                  <a:lnTo>
                    <a:pt x="32" y="112"/>
                  </a:lnTo>
                  <a:lnTo>
                    <a:pt x="32" y="120"/>
                  </a:lnTo>
                  <a:lnTo>
                    <a:pt x="40" y="112"/>
                  </a:lnTo>
                  <a:lnTo>
                    <a:pt x="48" y="104"/>
                  </a:lnTo>
                  <a:lnTo>
                    <a:pt x="64" y="96"/>
                  </a:lnTo>
                  <a:lnTo>
                    <a:pt x="72" y="80"/>
                  </a:lnTo>
                  <a:lnTo>
                    <a:pt x="88" y="64"/>
                  </a:lnTo>
                  <a:lnTo>
                    <a:pt x="104" y="40"/>
                  </a:lnTo>
                  <a:lnTo>
                    <a:pt x="112" y="16"/>
                  </a:lnTo>
                  <a:lnTo>
                    <a:pt x="104" y="8"/>
                  </a:lnTo>
                  <a:lnTo>
                    <a:pt x="96" y="0"/>
                  </a:lnTo>
                  <a:lnTo>
                    <a:pt x="88" y="0"/>
                  </a:lnTo>
                  <a:lnTo>
                    <a:pt x="80" y="8"/>
                  </a:lnTo>
                  <a:lnTo>
                    <a:pt x="80" y="16"/>
                  </a:lnTo>
                  <a:lnTo>
                    <a:pt x="88" y="24"/>
                  </a:lnTo>
                  <a:lnTo>
                    <a:pt x="96" y="24"/>
                  </a:lnTo>
                  <a:lnTo>
                    <a:pt x="96" y="32"/>
                  </a:lnTo>
                  <a:lnTo>
                    <a:pt x="96" y="40"/>
                  </a:lnTo>
                  <a:lnTo>
                    <a:pt x="80" y="56"/>
                  </a:lnTo>
                  <a:lnTo>
                    <a:pt x="56" y="88"/>
                  </a:lnTo>
                  <a:lnTo>
                    <a:pt x="48" y="96"/>
                  </a:lnTo>
                  <a:lnTo>
                    <a:pt x="48" y="56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6" name="Freeform 33"/>
            <p:cNvSpPr>
              <a:spLocks noChangeAspect="1"/>
            </p:cNvSpPr>
            <p:nvPr/>
          </p:nvSpPr>
          <p:spPr>
            <a:xfrm>
              <a:off x="1926" y="3326"/>
              <a:ext cx="72" cy="239"/>
            </a:xfrm>
            <a:custGeom>
              <a:avLst/>
              <a:gdLst>
                <a:gd name="txL" fmla="*/ 0 w 72"/>
                <a:gd name="txT" fmla="*/ 0 h 239"/>
                <a:gd name="txR" fmla="*/ 72 w 72"/>
                <a:gd name="txB" fmla="*/ 239 h 239"/>
              </a:gdLst>
              <a:ahLst/>
              <a:cxnLst>
                <a:cxn ang="0">
                  <a:pos x="72" y="0"/>
                </a:cxn>
                <a:cxn ang="0">
                  <a:pos x="40" y="24"/>
                </a:cxn>
                <a:cxn ang="0">
                  <a:pos x="16" y="48"/>
                </a:cxn>
                <a:cxn ang="0">
                  <a:pos x="8" y="88"/>
                </a:cxn>
                <a:cxn ang="0">
                  <a:pos x="0" y="120"/>
                </a:cxn>
                <a:cxn ang="0">
                  <a:pos x="0" y="143"/>
                </a:cxn>
                <a:cxn ang="0">
                  <a:pos x="8" y="167"/>
                </a:cxn>
                <a:cxn ang="0">
                  <a:pos x="24" y="199"/>
                </a:cxn>
                <a:cxn ang="0">
                  <a:pos x="48" y="223"/>
                </a:cxn>
                <a:cxn ang="0">
                  <a:pos x="72" y="239"/>
                </a:cxn>
                <a:cxn ang="0">
                  <a:pos x="72" y="239"/>
                </a:cxn>
                <a:cxn ang="0">
                  <a:pos x="48" y="207"/>
                </a:cxn>
                <a:cxn ang="0">
                  <a:pos x="32" y="175"/>
                </a:cxn>
                <a:cxn ang="0">
                  <a:pos x="24" y="143"/>
                </a:cxn>
                <a:cxn ang="0">
                  <a:pos x="24" y="112"/>
                </a:cxn>
                <a:cxn ang="0">
                  <a:pos x="32" y="64"/>
                </a:cxn>
                <a:cxn ang="0">
                  <a:pos x="40" y="40"/>
                </a:cxn>
                <a:cxn ang="0">
                  <a:pos x="56" y="24"/>
                </a:cxn>
                <a:cxn ang="0">
                  <a:pos x="72" y="8"/>
                </a:cxn>
                <a:cxn ang="0">
                  <a:pos x="72" y="0"/>
                </a:cxn>
              </a:cxnLst>
              <a:rect l="txL" t="txT" r="txR" b="txB"/>
              <a:pathLst>
                <a:path w="72" h="239">
                  <a:moveTo>
                    <a:pt x="72" y="0"/>
                  </a:moveTo>
                  <a:lnTo>
                    <a:pt x="40" y="24"/>
                  </a:lnTo>
                  <a:lnTo>
                    <a:pt x="16" y="48"/>
                  </a:lnTo>
                  <a:lnTo>
                    <a:pt x="8" y="88"/>
                  </a:lnTo>
                  <a:lnTo>
                    <a:pt x="0" y="120"/>
                  </a:lnTo>
                  <a:lnTo>
                    <a:pt x="0" y="143"/>
                  </a:lnTo>
                  <a:lnTo>
                    <a:pt x="8" y="167"/>
                  </a:lnTo>
                  <a:lnTo>
                    <a:pt x="24" y="199"/>
                  </a:lnTo>
                  <a:lnTo>
                    <a:pt x="48" y="223"/>
                  </a:lnTo>
                  <a:lnTo>
                    <a:pt x="72" y="239"/>
                  </a:lnTo>
                  <a:lnTo>
                    <a:pt x="48" y="207"/>
                  </a:lnTo>
                  <a:lnTo>
                    <a:pt x="32" y="175"/>
                  </a:lnTo>
                  <a:lnTo>
                    <a:pt x="24" y="143"/>
                  </a:lnTo>
                  <a:lnTo>
                    <a:pt x="24" y="112"/>
                  </a:lnTo>
                  <a:lnTo>
                    <a:pt x="32" y="64"/>
                  </a:lnTo>
                  <a:lnTo>
                    <a:pt x="40" y="40"/>
                  </a:lnTo>
                  <a:lnTo>
                    <a:pt x="56" y="24"/>
                  </a:lnTo>
                  <a:lnTo>
                    <a:pt x="72" y="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7" name="Freeform 34"/>
            <p:cNvSpPr>
              <a:spLocks noChangeAspect="1" noEditPoints="1"/>
            </p:cNvSpPr>
            <p:nvPr/>
          </p:nvSpPr>
          <p:spPr>
            <a:xfrm>
              <a:off x="2014" y="3390"/>
              <a:ext cx="120" cy="127"/>
            </a:xfrm>
            <a:custGeom>
              <a:avLst/>
              <a:gdLst>
                <a:gd name="txL" fmla="*/ 0 w 120"/>
                <a:gd name="txT" fmla="*/ 0 h 127"/>
                <a:gd name="txR" fmla="*/ 120 w 120"/>
                <a:gd name="txB" fmla="*/ 127 h 127"/>
              </a:gdLst>
              <a:ahLst/>
              <a:cxnLst>
                <a:cxn ang="0">
                  <a:pos x="72" y="95"/>
                </a:cxn>
                <a:cxn ang="0">
                  <a:pos x="72" y="103"/>
                </a:cxn>
                <a:cxn ang="0">
                  <a:pos x="64" y="111"/>
                </a:cxn>
                <a:cxn ang="0">
                  <a:pos x="56" y="111"/>
                </a:cxn>
                <a:cxn ang="0">
                  <a:pos x="48" y="111"/>
                </a:cxn>
                <a:cxn ang="0">
                  <a:pos x="32" y="103"/>
                </a:cxn>
                <a:cxn ang="0">
                  <a:pos x="24" y="95"/>
                </a:cxn>
                <a:cxn ang="0">
                  <a:pos x="24" y="87"/>
                </a:cxn>
                <a:cxn ang="0">
                  <a:pos x="32" y="71"/>
                </a:cxn>
                <a:cxn ang="0">
                  <a:pos x="48" y="63"/>
                </a:cxn>
                <a:cxn ang="0">
                  <a:pos x="72" y="48"/>
                </a:cxn>
                <a:cxn ang="0">
                  <a:pos x="72" y="95"/>
                </a:cxn>
                <a:cxn ang="0">
                  <a:pos x="120" y="111"/>
                </a:cxn>
                <a:cxn ang="0">
                  <a:pos x="112" y="111"/>
                </a:cxn>
                <a:cxn ang="0">
                  <a:pos x="104" y="111"/>
                </a:cxn>
                <a:cxn ang="0">
                  <a:pos x="96" y="103"/>
                </a:cxn>
                <a:cxn ang="0">
                  <a:pos x="96" y="95"/>
                </a:cxn>
                <a:cxn ang="0">
                  <a:pos x="96" y="40"/>
                </a:cxn>
                <a:cxn ang="0">
                  <a:pos x="88" y="16"/>
                </a:cxn>
                <a:cxn ang="0">
                  <a:pos x="80" y="8"/>
                </a:cxn>
                <a:cxn ang="0">
                  <a:pos x="56" y="0"/>
                </a:cxn>
                <a:cxn ang="0">
                  <a:pos x="24" y="8"/>
                </a:cxn>
                <a:cxn ang="0">
                  <a:pos x="8" y="32"/>
                </a:cxn>
                <a:cxn ang="0">
                  <a:pos x="8" y="40"/>
                </a:cxn>
                <a:cxn ang="0">
                  <a:pos x="24" y="40"/>
                </a:cxn>
                <a:cxn ang="0">
                  <a:pos x="32" y="40"/>
                </a:cxn>
                <a:cxn ang="0">
                  <a:pos x="32" y="32"/>
                </a:cxn>
                <a:cxn ang="0">
                  <a:pos x="32" y="24"/>
                </a:cxn>
                <a:cxn ang="0">
                  <a:pos x="32" y="16"/>
                </a:cxn>
                <a:cxn ang="0">
                  <a:pos x="40" y="8"/>
                </a:cxn>
                <a:cxn ang="0">
                  <a:pos x="48" y="8"/>
                </a:cxn>
                <a:cxn ang="0">
                  <a:pos x="64" y="8"/>
                </a:cxn>
                <a:cxn ang="0">
                  <a:pos x="72" y="24"/>
                </a:cxn>
                <a:cxn ang="0">
                  <a:pos x="72" y="48"/>
                </a:cxn>
                <a:cxn ang="0">
                  <a:pos x="40" y="56"/>
                </a:cxn>
                <a:cxn ang="0">
                  <a:pos x="16" y="71"/>
                </a:cxn>
                <a:cxn ang="0">
                  <a:pos x="8" y="87"/>
                </a:cxn>
                <a:cxn ang="0">
                  <a:pos x="0" y="103"/>
                </a:cxn>
                <a:cxn ang="0">
                  <a:pos x="8" y="119"/>
                </a:cxn>
                <a:cxn ang="0">
                  <a:pos x="32" y="127"/>
                </a:cxn>
                <a:cxn ang="0">
                  <a:pos x="56" y="119"/>
                </a:cxn>
                <a:cxn ang="0">
                  <a:pos x="72" y="111"/>
                </a:cxn>
                <a:cxn ang="0">
                  <a:pos x="80" y="127"/>
                </a:cxn>
                <a:cxn ang="0">
                  <a:pos x="88" y="127"/>
                </a:cxn>
                <a:cxn ang="0">
                  <a:pos x="104" y="127"/>
                </a:cxn>
                <a:cxn ang="0">
                  <a:pos x="120" y="119"/>
                </a:cxn>
                <a:cxn ang="0">
                  <a:pos x="120" y="111"/>
                </a:cxn>
              </a:cxnLst>
              <a:rect l="txL" t="txT" r="txR" b="txB"/>
              <a:pathLst>
                <a:path w="120" h="127">
                  <a:moveTo>
                    <a:pt x="72" y="95"/>
                  </a:moveTo>
                  <a:lnTo>
                    <a:pt x="72" y="103"/>
                  </a:lnTo>
                  <a:lnTo>
                    <a:pt x="64" y="111"/>
                  </a:lnTo>
                  <a:lnTo>
                    <a:pt x="56" y="111"/>
                  </a:lnTo>
                  <a:lnTo>
                    <a:pt x="48" y="111"/>
                  </a:lnTo>
                  <a:lnTo>
                    <a:pt x="32" y="103"/>
                  </a:lnTo>
                  <a:lnTo>
                    <a:pt x="24" y="95"/>
                  </a:lnTo>
                  <a:lnTo>
                    <a:pt x="24" y="87"/>
                  </a:lnTo>
                  <a:lnTo>
                    <a:pt x="32" y="71"/>
                  </a:lnTo>
                  <a:lnTo>
                    <a:pt x="48" y="63"/>
                  </a:lnTo>
                  <a:lnTo>
                    <a:pt x="72" y="48"/>
                  </a:lnTo>
                  <a:lnTo>
                    <a:pt x="72" y="95"/>
                  </a:lnTo>
                  <a:close/>
                  <a:moveTo>
                    <a:pt x="120" y="111"/>
                  </a:moveTo>
                  <a:lnTo>
                    <a:pt x="112" y="111"/>
                  </a:lnTo>
                  <a:lnTo>
                    <a:pt x="104" y="111"/>
                  </a:lnTo>
                  <a:lnTo>
                    <a:pt x="96" y="103"/>
                  </a:lnTo>
                  <a:lnTo>
                    <a:pt x="96" y="95"/>
                  </a:lnTo>
                  <a:lnTo>
                    <a:pt x="96" y="40"/>
                  </a:lnTo>
                  <a:lnTo>
                    <a:pt x="88" y="16"/>
                  </a:lnTo>
                  <a:lnTo>
                    <a:pt x="80" y="8"/>
                  </a:lnTo>
                  <a:lnTo>
                    <a:pt x="56" y="0"/>
                  </a:lnTo>
                  <a:lnTo>
                    <a:pt x="24" y="8"/>
                  </a:lnTo>
                  <a:lnTo>
                    <a:pt x="8" y="32"/>
                  </a:lnTo>
                  <a:lnTo>
                    <a:pt x="8" y="40"/>
                  </a:lnTo>
                  <a:lnTo>
                    <a:pt x="24" y="40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24"/>
                  </a:lnTo>
                  <a:lnTo>
                    <a:pt x="32" y="16"/>
                  </a:lnTo>
                  <a:lnTo>
                    <a:pt x="40" y="8"/>
                  </a:lnTo>
                  <a:lnTo>
                    <a:pt x="48" y="8"/>
                  </a:lnTo>
                  <a:lnTo>
                    <a:pt x="64" y="8"/>
                  </a:lnTo>
                  <a:lnTo>
                    <a:pt x="72" y="24"/>
                  </a:lnTo>
                  <a:lnTo>
                    <a:pt x="72" y="48"/>
                  </a:lnTo>
                  <a:lnTo>
                    <a:pt x="40" y="56"/>
                  </a:lnTo>
                  <a:lnTo>
                    <a:pt x="16" y="71"/>
                  </a:lnTo>
                  <a:lnTo>
                    <a:pt x="8" y="87"/>
                  </a:lnTo>
                  <a:lnTo>
                    <a:pt x="0" y="103"/>
                  </a:lnTo>
                  <a:lnTo>
                    <a:pt x="8" y="119"/>
                  </a:lnTo>
                  <a:lnTo>
                    <a:pt x="32" y="127"/>
                  </a:lnTo>
                  <a:lnTo>
                    <a:pt x="56" y="119"/>
                  </a:lnTo>
                  <a:lnTo>
                    <a:pt x="72" y="111"/>
                  </a:lnTo>
                  <a:lnTo>
                    <a:pt x="80" y="127"/>
                  </a:lnTo>
                  <a:lnTo>
                    <a:pt x="88" y="127"/>
                  </a:lnTo>
                  <a:lnTo>
                    <a:pt x="104" y="127"/>
                  </a:lnTo>
                  <a:lnTo>
                    <a:pt x="120" y="119"/>
                  </a:lnTo>
                  <a:lnTo>
                    <a:pt x="120" y="11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8" name="Freeform 35"/>
            <p:cNvSpPr>
              <a:spLocks noChangeAspect="1"/>
            </p:cNvSpPr>
            <p:nvPr/>
          </p:nvSpPr>
          <p:spPr>
            <a:xfrm>
              <a:off x="2142" y="3326"/>
              <a:ext cx="72" cy="239"/>
            </a:xfrm>
            <a:custGeom>
              <a:avLst/>
              <a:gdLst>
                <a:gd name="txL" fmla="*/ 0 w 72"/>
                <a:gd name="txT" fmla="*/ 0 h 239"/>
                <a:gd name="txR" fmla="*/ 72 w 72"/>
                <a:gd name="txB" fmla="*/ 239 h 239"/>
              </a:gdLst>
              <a:ahLst/>
              <a:cxnLst>
                <a:cxn ang="0">
                  <a:pos x="0" y="239"/>
                </a:cxn>
                <a:cxn ang="0">
                  <a:pos x="48" y="191"/>
                </a:cxn>
                <a:cxn ang="0">
                  <a:pos x="64" y="159"/>
                </a:cxn>
                <a:cxn ang="0">
                  <a:pos x="72" y="127"/>
                </a:cxn>
                <a:cxn ang="0">
                  <a:pos x="64" y="80"/>
                </a:cxn>
                <a:cxn ang="0">
                  <a:pos x="48" y="48"/>
                </a:cxn>
                <a:cxn ang="0">
                  <a:pos x="24" y="24"/>
                </a:cxn>
                <a:cxn ang="0">
                  <a:pos x="0" y="0"/>
                </a:cxn>
                <a:cxn ang="0">
                  <a:pos x="0" y="8"/>
                </a:cxn>
                <a:cxn ang="0">
                  <a:pos x="32" y="32"/>
                </a:cxn>
                <a:cxn ang="0">
                  <a:pos x="40" y="64"/>
                </a:cxn>
                <a:cxn ang="0">
                  <a:pos x="48" y="96"/>
                </a:cxn>
                <a:cxn ang="0">
                  <a:pos x="48" y="127"/>
                </a:cxn>
                <a:cxn ang="0">
                  <a:pos x="40" y="175"/>
                </a:cxn>
                <a:cxn ang="0">
                  <a:pos x="32" y="207"/>
                </a:cxn>
                <a:cxn ang="0">
                  <a:pos x="16" y="223"/>
                </a:cxn>
                <a:cxn ang="0">
                  <a:pos x="0" y="239"/>
                </a:cxn>
                <a:cxn ang="0">
                  <a:pos x="0" y="239"/>
                </a:cxn>
              </a:cxnLst>
              <a:rect l="txL" t="txT" r="txR" b="txB"/>
              <a:pathLst>
                <a:path w="72" h="239">
                  <a:moveTo>
                    <a:pt x="0" y="239"/>
                  </a:moveTo>
                  <a:lnTo>
                    <a:pt x="48" y="191"/>
                  </a:lnTo>
                  <a:lnTo>
                    <a:pt x="64" y="159"/>
                  </a:lnTo>
                  <a:lnTo>
                    <a:pt x="72" y="127"/>
                  </a:lnTo>
                  <a:lnTo>
                    <a:pt x="64" y="80"/>
                  </a:lnTo>
                  <a:lnTo>
                    <a:pt x="48" y="48"/>
                  </a:lnTo>
                  <a:lnTo>
                    <a:pt x="24" y="24"/>
                  </a:lnTo>
                  <a:lnTo>
                    <a:pt x="0" y="0"/>
                  </a:lnTo>
                  <a:lnTo>
                    <a:pt x="0" y="8"/>
                  </a:lnTo>
                  <a:lnTo>
                    <a:pt x="32" y="32"/>
                  </a:lnTo>
                  <a:lnTo>
                    <a:pt x="40" y="64"/>
                  </a:lnTo>
                  <a:lnTo>
                    <a:pt x="48" y="96"/>
                  </a:lnTo>
                  <a:lnTo>
                    <a:pt x="48" y="127"/>
                  </a:lnTo>
                  <a:lnTo>
                    <a:pt x="40" y="175"/>
                  </a:lnTo>
                  <a:lnTo>
                    <a:pt x="32" y="207"/>
                  </a:lnTo>
                  <a:lnTo>
                    <a:pt x="16" y="223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29" name="Freeform 36"/>
            <p:cNvSpPr>
              <a:spLocks noChangeAspect="1"/>
            </p:cNvSpPr>
            <p:nvPr/>
          </p:nvSpPr>
          <p:spPr>
            <a:xfrm>
              <a:off x="2310" y="767"/>
              <a:ext cx="127" cy="127"/>
            </a:xfrm>
            <a:custGeom>
              <a:avLst/>
              <a:gdLst>
                <a:gd name="txL" fmla="*/ 0 w 127"/>
                <a:gd name="txT" fmla="*/ 0 h 127"/>
                <a:gd name="txR" fmla="*/ 127 w 127"/>
                <a:gd name="txB" fmla="*/ 127 h 127"/>
              </a:gdLst>
              <a:ahLst/>
              <a:cxnLst>
                <a:cxn ang="0">
                  <a:pos x="63" y="127"/>
                </a:cxn>
                <a:cxn ang="0">
                  <a:pos x="87" y="119"/>
                </a:cxn>
                <a:cxn ang="0">
                  <a:pos x="111" y="111"/>
                </a:cxn>
                <a:cxn ang="0">
                  <a:pos x="119" y="88"/>
                </a:cxn>
                <a:cxn ang="0">
                  <a:pos x="127" y="64"/>
                </a:cxn>
                <a:cxn ang="0">
                  <a:pos x="119" y="40"/>
                </a:cxn>
                <a:cxn ang="0">
                  <a:pos x="111" y="24"/>
                </a:cxn>
                <a:cxn ang="0">
                  <a:pos x="87" y="8"/>
                </a:cxn>
                <a:cxn ang="0">
                  <a:pos x="63" y="0"/>
                </a:cxn>
                <a:cxn ang="0">
                  <a:pos x="39" y="8"/>
                </a:cxn>
                <a:cxn ang="0">
                  <a:pos x="23" y="24"/>
                </a:cxn>
                <a:cxn ang="0">
                  <a:pos x="8" y="40"/>
                </a:cxn>
                <a:cxn ang="0">
                  <a:pos x="0" y="64"/>
                </a:cxn>
                <a:cxn ang="0">
                  <a:pos x="8" y="88"/>
                </a:cxn>
                <a:cxn ang="0">
                  <a:pos x="23" y="111"/>
                </a:cxn>
                <a:cxn ang="0">
                  <a:pos x="39" y="119"/>
                </a:cxn>
                <a:cxn ang="0">
                  <a:pos x="63" y="127"/>
                </a:cxn>
                <a:cxn ang="0">
                  <a:pos x="63" y="127"/>
                </a:cxn>
              </a:cxnLst>
              <a:rect l="txL" t="txT" r="txR" b="txB"/>
              <a:pathLst>
                <a:path w="127" h="127">
                  <a:moveTo>
                    <a:pt x="63" y="127"/>
                  </a:moveTo>
                  <a:lnTo>
                    <a:pt x="87" y="119"/>
                  </a:lnTo>
                  <a:lnTo>
                    <a:pt x="111" y="111"/>
                  </a:lnTo>
                  <a:lnTo>
                    <a:pt x="119" y="88"/>
                  </a:lnTo>
                  <a:lnTo>
                    <a:pt x="127" y="64"/>
                  </a:lnTo>
                  <a:lnTo>
                    <a:pt x="119" y="40"/>
                  </a:lnTo>
                  <a:lnTo>
                    <a:pt x="111" y="24"/>
                  </a:lnTo>
                  <a:lnTo>
                    <a:pt x="87" y="8"/>
                  </a:lnTo>
                  <a:lnTo>
                    <a:pt x="63" y="0"/>
                  </a:lnTo>
                  <a:lnTo>
                    <a:pt x="39" y="8"/>
                  </a:lnTo>
                  <a:lnTo>
                    <a:pt x="23" y="24"/>
                  </a:lnTo>
                  <a:lnTo>
                    <a:pt x="8" y="40"/>
                  </a:lnTo>
                  <a:lnTo>
                    <a:pt x="0" y="64"/>
                  </a:lnTo>
                  <a:lnTo>
                    <a:pt x="8" y="88"/>
                  </a:lnTo>
                  <a:lnTo>
                    <a:pt x="23" y="111"/>
                  </a:lnTo>
                  <a:lnTo>
                    <a:pt x="39" y="119"/>
                  </a:lnTo>
                  <a:lnTo>
                    <a:pt x="63" y="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0" name="Freeform 37"/>
            <p:cNvSpPr>
              <a:spLocks noChangeAspect="1"/>
            </p:cNvSpPr>
            <p:nvPr/>
          </p:nvSpPr>
          <p:spPr>
            <a:xfrm>
              <a:off x="2373" y="831"/>
              <a:ext cx="64" cy="63"/>
            </a:xfrm>
            <a:custGeom>
              <a:avLst/>
              <a:gdLst>
                <a:gd name="txL" fmla="*/ 0 w 64"/>
                <a:gd name="txT" fmla="*/ 0 h 63"/>
                <a:gd name="txR" fmla="*/ 64 w 64"/>
                <a:gd name="txB" fmla="*/ 63 h 63"/>
              </a:gdLst>
              <a:ahLst/>
              <a:cxnLst>
                <a:cxn ang="0">
                  <a:pos x="0" y="63"/>
                </a:cxn>
                <a:cxn ang="0">
                  <a:pos x="24" y="55"/>
                </a:cxn>
                <a:cxn ang="0">
                  <a:pos x="48" y="47"/>
                </a:cxn>
                <a:cxn ang="0">
                  <a:pos x="56" y="24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56" y="24"/>
                </a:cxn>
                <a:cxn ang="0">
                  <a:pos x="48" y="47"/>
                </a:cxn>
                <a:cxn ang="0">
                  <a:pos x="24" y="55"/>
                </a:cxn>
                <a:cxn ang="0">
                  <a:pos x="0" y="63"/>
                </a:cxn>
                <a:cxn ang="0">
                  <a:pos x="0" y="63"/>
                </a:cxn>
              </a:cxnLst>
              <a:rect l="txL" t="txT" r="txR" b="txB"/>
              <a:pathLst>
                <a:path w="64" h="63">
                  <a:moveTo>
                    <a:pt x="0" y="63"/>
                  </a:moveTo>
                  <a:lnTo>
                    <a:pt x="24" y="55"/>
                  </a:lnTo>
                  <a:lnTo>
                    <a:pt x="48" y="47"/>
                  </a:lnTo>
                  <a:lnTo>
                    <a:pt x="56" y="24"/>
                  </a:lnTo>
                  <a:lnTo>
                    <a:pt x="64" y="0"/>
                  </a:lnTo>
                  <a:lnTo>
                    <a:pt x="56" y="24"/>
                  </a:lnTo>
                  <a:lnTo>
                    <a:pt x="48" y="47"/>
                  </a:lnTo>
                  <a:lnTo>
                    <a:pt x="24" y="55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1" name="Freeform 38"/>
            <p:cNvSpPr>
              <a:spLocks noChangeAspect="1" noEditPoints="1"/>
            </p:cNvSpPr>
            <p:nvPr/>
          </p:nvSpPr>
          <p:spPr>
            <a:xfrm>
              <a:off x="2373" y="767"/>
              <a:ext cx="64" cy="64"/>
            </a:xfrm>
            <a:custGeom>
              <a:avLst/>
              <a:gdLst>
                <a:gd name="txL" fmla="*/ 0 w 64"/>
                <a:gd name="txT" fmla="*/ 0 h 64"/>
                <a:gd name="txR" fmla="*/ 64 w 64"/>
                <a:gd name="txB" fmla="*/ 64 h 64"/>
              </a:gdLst>
              <a:ahLst/>
              <a:cxnLst>
                <a:cxn ang="0">
                  <a:pos x="64" y="64"/>
                </a:cxn>
                <a:cxn ang="0">
                  <a:pos x="56" y="40"/>
                </a:cxn>
                <a:cxn ang="0">
                  <a:pos x="48" y="24"/>
                </a:cxn>
                <a:cxn ang="0">
                  <a:pos x="24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4" y="8"/>
                </a:cxn>
                <a:cxn ang="0">
                  <a:pos x="48" y="24"/>
                </a:cxn>
                <a:cxn ang="0">
                  <a:pos x="56" y="40"/>
                </a:cxn>
                <a:cxn ang="0">
                  <a:pos x="64" y="64"/>
                </a:cxn>
                <a:cxn ang="0">
                  <a:pos x="64" y="64"/>
                </a:cxn>
                <a:cxn ang="0">
                  <a:pos x="64" y="64"/>
                </a:cxn>
                <a:cxn ang="0">
                  <a:pos x="64" y="64"/>
                </a:cxn>
                <a:cxn ang="0">
                  <a:pos x="64" y="64"/>
                </a:cxn>
              </a:cxnLst>
              <a:rect l="txL" t="txT" r="txR" b="txB"/>
              <a:pathLst>
                <a:path w="64" h="64">
                  <a:moveTo>
                    <a:pt x="64" y="64"/>
                  </a:moveTo>
                  <a:lnTo>
                    <a:pt x="56" y="40"/>
                  </a:lnTo>
                  <a:lnTo>
                    <a:pt x="48" y="24"/>
                  </a:lnTo>
                  <a:lnTo>
                    <a:pt x="24" y="8"/>
                  </a:lnTo>
                  <a:lnTo>
                    <a:pt x="0" y="0"/>
                  </a:lnTo>
                  <a:lnTo>
                    <a:pt x="24" y="8"/>
                  </a:lnTo>
                  <a:lnTo>
                    <a:pt x="48" y="24"/>
                  </a:lnTo>
                  <a:lnTo>
                    <a:pt x="56" y="40"/>
                  </a:lnTo>
                  <a:lnTo>
                    <a:pt x="64" y="64"/>
                  </a:lnTo>
                  <a:close/>
                  <a:moveTo>
                    <a:pt x="64" y="64"/>
                  </a:moveTo>
                  <a:lnTo>
                    <a:pt x="64" y="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2" name="Freeform 39"/>
            <p:cNvSpPr>
              <a:spLocks noChangeAspect="1" noEditPoints="1"/>
            </p:cNvSpPr>
            <p:nvPr/>
          </p:nvSpPr>
          <p:spPr>
            <a:xfrm>
              <a:off x="2310" y="767"/>
              <a:ext cx="63" cy="64"/>
            </a:xfrm>
            <a:custGeom>
              <a:avLst/>
              <a:gdLst>
                <a:gd name="txL" fmla="*/ 0 w 63"/>
                <a:gd name="txT" fmla="*/ 0 h 64"/>
                <a:gd name="txR" fmla="*/ 63 w 63"/>
                <a:gd name="txB" fmla="*/ 64 h 64"/>
              </a:gdLst>
              <a:ahLst/>
              <a:cxnLst>
                <a:cxn ang="0">
                  <a:pos x="63" y="0"/>
                </a:cxn>
                <a:cxn ang="0">
                  <a:pos x="39" y="8"/>
                </a:cxn>
                <a:cxn ang="0">
                  <a:pos x="23" y="24"/>
                </a:cxn>
                <a:cxn ang="0">
                  <a:pos x="8" y="40"/>
                </a:cxn>
                <a:cxn ang="0">
                  <a:pos x="0" y="64"/>
                </a:cxn>
                <a:cxn ang="0">
                  <a:pos x="0" y="64"/>
                </a:cxn>
                <a:cxn ang="0">
                  <a:pos x="8" y="40"/>
                </a:cxn>
                <a:cxn ang="0">
                  <a:pos x="23" y="24"/>
                </a:cxn>
                <a:cxn ang="0">
                  <a:pos x="39" y="8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</a:cxnLst>
              <a:rect l="txL" t="txT" r="txR" b="txB"/>
              <a:pathLst>
                <a:path w="63" h="64">
                  <a:moveTo>
                    <a:pt x="63" y="0"/>
                  </a:moveTo>
                  <a:lnTo>
                    <a:pt x="39" y="8"/>
                  </a:lnTo>
                  <a:lnTo>
                    <a:pt x="23" y="24"/>
                  </a:lnTo>
                  <a:lnTo>
                    <a:pt x="8" y="40"/>
                  </a:lnTo>
                  <a:lnTo>
                    <a:pt x="0" y="64"/>
                  </a:lnTo>
                  <a:lnTo>
                    <a:pt x="8" y="40"/>
                  </a:lnTo>
                  <a:lnTo>
                    <a:pt x="23" y="24"/>
                  </a:lnTo>
                  <a:lnTo>
                    <a:pt x="39" y="8"/>
                  </a:lnTo>
                  <a:lnTo>
                    <a:pt x="63" y="0"/>
                  </a:lnTo>
                  <a:close/>
                  <a:moveTo>
                    <a:pt x="63" y="0"/>
                  </a:moveTo>
                  <a:lnTo>
                    <a:pt x="6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3" name="Freeform 40"/>
            <p:cNvSpPr>
              <a:spLocks noChangeAspect="1" noEditPoints="1"/>
            </p:cNvSpPr>
            <p:nvPr/>
          </p:nvSpPr>
          <p:spPr>
            <a:xfrm>
              <a:off x="2310" y="831"/>
              <a:ext cx="63" cy="63"/>
            </a:xfrm>
            <a:custGeom>
              <a:avLst/>
              <a:gdLst>
                <a:gd name="txL" fmla="*/ 0 w 63"/>
                <a:gd name="txT" fmla="*/ 0 h 63"/>
                <a:gd name="txR" fmla="*/ 63 w 63"/>
                <a:gd name="txB" fmla="*/ 63 h 63"/>
              </a:gdLst>
              <a:ahLst/>
              <a:cxnLst>
                <a:cxn ang="0">
                  <a:pos x="0" y="0"/>
                </a:cxn>
                <a:cxn ang="0">
                  <a:pos x="8" y="24"/>
                </a:cxn>
                <a:cxn ang="0">
                  <a:pos x="23" y="47"/>
                </a:cxn>
                <a:cxn ang="0">
                  <a:pos x="39" y="55"/>
                </a:cxn>
                <a:cxn ang="0">
                  <a:pos x="63" y="63"/>
                </a:cxn>
                <a:cxn ang="0">
                  <a:pos x="63" y="63"/>
                </a:cxn>
                <a:cxn ang="0">
                  <a:pos x="39" y="55"/>
                </a:cxn>
                <a:cxn ang="0">
                  <a:pos x="23" y="47"/>
                </a:cxn>
                <a:cxn ang="0">
                  <a:pos x="8" y="2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" h="63">
                  <a:moveTo>
                    <a:pt x="0" y="0"/>
                  </a:moveTo>
                  <a:lnTo>
                    <a:pt x="8" y="24"/>
                  </a:lnTo>
                  <a:lnTo>
                    <a:pt x="23" y="47"/>
                  </a:lnTo>
                  <a:lnTo>
                    <a:pt x="39" y="55"/>
                  </a:lnTo>
                  <a:lnTo>
                    <a:pt x="63" y="63"/>
                  </a:lnTo>
                  <a:lnTo>
                    <a:pt x="39" y="55"/>
                  </a:lnTo>
                  <a:lnTo>
                    <a:pt x="23" y="47"/>
                  </a:lnTo>
                  <a:lnTo>
                    <a:pt x="8" y="2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4" name="Freeform 41"/>
            <p:cNvSpPr>
              <a:spLocks noChangeAspect="1"/>
            </p:cNvSpPr>
            <p:nvPr/>
          </p:nvSpPr>
          <p:spPr>
            <a:xfrm>
              <a:off x="2373" y="89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5" name="Freeform 42"/>
            <p:cNvSpPr>
              <a:spLocks noChangeAspect="1"/>
            </p:cNvSpPr>
            <p:nvPr/>
          </p:nvSpPr>
          <p:spPr>
            <a:xfrm>
              <a:off x="2302" y="2856"/>
              <a:ext cx="127" cy="127"/>
            </a:xfrm>
            <a:custGeom>
              <a:avLst/>
              <a:gdLst>
                <a:gd name="txL" fmla="*/ 0 w 127"/>
                <a:gd name="txT" fmla="*/ 0 h 127"/>
                <a:gd name="txR" fmla="*/ 127 w 127"/>
                <a:gd name="txB" fmla="*/ 127 h 127"/>
              </a:gdLst>
              <a:ahLst/>
              <a:cxnLst>
                <a:cxn ang="0">
                  <a:pos x="63" y="127"/>
                </a:cxn>
                <a:cxn ang="0">
                  <a:pos x="87" y="119"/>
                </a:cxn>
                <a:cxn ang="0">
                  <a:pos x="111" y="111"/>
                </a:cxn>
                <a:cxn ang="0">
                  <a:pos x="119" y="87"/>
                </a:cxn>
                <a:cxn ang="0">
                  <a:pos x="127" y="63"/>
                </a:cxn>
                <a:cxn ang="0">
                  <a:pos x="119" y="39"/>
                </a:cxn>
                <a:cxn ang="0">
                  <a:pos x="111" y="16"/>
                </a:cxn>
                <a:cxn ang="0">
                  <a:pos x="87" y="8"/>
                </a:cxn>
                <a:cxn ang="0">
                  <a:pos x="63" y="0"/>
                </a:cxn>
                <a:cxn ang="0">
                  <a:pos x="39" y="8"/>
                </a:cxn>
                <a:cxn ang="0">
                  <a:pos x="24" y="16"/>
                </a:cxn>
                <a:cxn ang="0">
                  <a:pos x="8" y="39"/>
                </a:cxn>
                <a:cxn ang="0">
                  <a:pos x="0" y="63"/>
                </a:cxn>
                <a:cxn ang="0">
                  <a:pos x="8" y="87"/>
                </a:cxn>
                <a:cxn ang="0">
                  <a:pos x="24" y="111"/>
                </a:cxn>
                <a:cxn ang="0">
                  <a:pos x="39" y="119"/>
                </a:cxn>
                <a:cxn ang="0">
                  <a:pos x="63" y="127"/>
                </a:cxn>
                <a:cxn ang="0">
                  <a:pos x="63" y="127"/>
                </a:cxn>
              </a:cxnLst>
              <a:rect l="txL" t="txT" r="txR" b="txB"/>
              <a:pathLst>
                <a:path w="127" h="127">
                  <a:moveTo>
                    <a:pt x="63" y="127"/>
                  </a:moveTo>
                  <a:lnTo>
                    <a:pt x="87" y="119"/>
                  </a:lnTo>
                  <a:lnTo>
                    <a:pt x="111" y="111"/>
                  </a:lnTo>
                  <a:lnTo>
                    <a:pt x="119" y="87"/>
                  </a:lnTo>
                  <a:lnTo>
                    <a:pt x="127" y="63"/>
                  </a:lnTo>
                  <a:lnTo>
                    <a:pt x="119" y="39"/>
                  </a:lnTo>
                  <a:lnTo>
                    <a:pt x="111" y="16"/>
                  </a:lnTo>
                  <a:lnTo>
                    <a:pt x="87" y="8"/>
                  </a:lnTo>
                  <a:lnTo>
                    <a:pt x="63" y="0"/>
                  </a:lnTo>
                  <a:lnTo>
                    <a:pt x="39" y="8"/>
                  </a:lnTo>
                  <a:lnTo>
                    <a:pt x="24" y="16"/>
                  </a:lnTo>
                  <a:lnTo>
                    <a:pt x="8" y="39"/>
                  </a:lnTo>
                  <a:lnTo>
                    <a:pt x="0" y="63"/>
                  </a:lnTo>
                  <a:lnTo>
                    <a:pt x="8" y="87"/>
                  </a:lnTo>
                  <a:lnTo>
                    <a:pt x="24" y="111"/>
                  </a:lnTo>
                  <a:lnTo>
                    <a:pt x="39" y="119"/>
                  </a:lnTo>
                  <a:lnTo>
                    <a:pt x="63" y="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6" name="Freeform 43"/>
            <p:cNvSpPr>
              <a:spLocks noChangeAspect="1"/>
            </p:cNvSpPr>
            <p:nvPr/>
          </p:nvSpPr>
          <p:spPr>
            <a:xfrm>
              <a:off x="2365" y="2919"/>
              <a:ext cx="64" cy="64"/>
            </a:xfrm>
            <a:custGeom>
              <a:avLst/>
              <a:gdLst>
                <a:gd name="txL" fmla="*/ 0 w 64"/>
                <a:gd name="txT" fmla="*/ 0 h 64"/>
                <a:gd name="txR" fmla="*/ 64 w 64"/>
                <a:gd name="txB" fmla="*/ 64 h 64"/>
              </a:gdLst>
              <a:ahLst/>
              <a:cxnLst>
                <a:cxn ang="0">
                  <a:pos x="0" y="64"/>
                </a:cxn>
                <a:cxn ang="0">
                  <a:pos x="24" y="56"/>
                </a:cxn>
                <a:cxn ang="0">
                  <a:pos x="48" y="48"/>
                </a:cxn>
                <a:cxn ang="0">
                  <a:pos x="56" y="24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56" y="24"/>
                </a:cxn>
                <a:cxn ang="0">
                  <a:pos x="48" y="48"/>
                </a:cxn>
                <a:cxn ang="0">
                  <a:pos x="24" y="56"/>
                </a:cxn>
                <a:cxn ang="0">
                  <a:pos x="0" y="64"/>
                </a:cxn>
                <a:cxn ang="0">
                  <a:pos x="0" y="64"/>
                </a:cxn>
              </a:cxnLst>
              <a:rect l="txL" t="txT" r="txR" b="txB"/>
              <a:pathLst>
                <a:path w="64" h="64">
                  <a:moveTo>
                    <a:pt x="0" y="64"/>
                  </a:moveTo>
                  <a:lnTo>
                    <a:pt x="24" y="56"/>
                  </a:lnTo>
                  <a:lnTo>
                    <a:pt x="48" y="48"/>
                  </a:lnTo>
                  <a:lnTo>
                    <a:pt x="56" y="24"/>
                  </a:lnTo>
                  <a:lnTo>
                    <a:pt x="64" y="0"/>
                  </a:lnTo>
                  <a:lnTo>
                    <a:pt x="56" y="24"/>
                  </a:lnTo>
                  <a:lnTo>
                    <a:pt x="48" y="48"/>
                  </a:lnTo>
                  <a:lnTo>
                    <a:pt x="24" y="5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7" name="Freeform 44"/>
            <p:cNvSpPr>
              <a:spLocks noChangeAspect="1" noEditPoints="1"/>
            </p:cNvSpPr>
            <p:nvPr/>
          </p:nvSpPr>
          <p:spPr>
            <a:xfrm>
              <a:off x="2365" y="2856"/>
              <a:ext cx="64" cy="63"/>
            </a:xfrm>
            <a:custGeom>
              <a:avLst/>
              <a:gdLst>
                <a:gd name="txL" fmla="*/ 0 w 64"/>
                <a:gd name="txT" fmla="*/ 0 h 63"/>
                <a:gd name="txR" fmla="*/ 64 w 64"/>
                <a:gd name="txB" fmla="*/ 63 h 63"/>
              </a:gdLst>
              <a:ahLst/>
              <a:cxnLst>
                <a:cxn ang="0">
                  <a:pos x="64" y="63"/>
                </a:cxn>
                <a:cxn ang="0">
                  <a:pos x="56" y="39"/>
                </a:cxn>
                <a:cxn ang="0">
                  <a:pos x="48" y="16"/>
                </a:cxn>
                <a:cxn ang="0">
                  <a:pos x="24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4" y="8"/>
                </a:cxn>
                <a:cxn ang="0">
                  <a:pos x="48" y="16"/>
                </a:cxn>
                <a:cxn ang="0">
                  <a:pos x="56" y="39"/>
                </a:cxn>
                <a:cxn ang="0">
                  <a:pos x="64" y="63"/>
                </a:cxn>
                <a:cxn ang="0">
                  <a:pos x="64" y="63"/>
                </a:cxn>
                <a:cxn ang="0">
                  <a:pos x="64" y="63"/>
                </a:cxn>
                <a:cxn ang="0">
                  <a:pos x="64" y="63"/>
                </a:cxn>
                <a:cxn ang="0">
                  <a:pos x="64" y="63"/>
                </a:cxn>
              </a:cxnLst>
              <a:rect l="txL" t="txT" r="txR" b="txB"/>
              <a:pathLst>
                <a:path w="64" h="63">
                  <a:moveTo>
                    <a:pt x="64" y="63"/>
                  </a:moveTo>
                  <a:lnTo>
                    <a:pt x="56" y="39"/>
                  </a:lnTo>
                  <a:lnTo>
                    <a:pt x="48" y="16"/>
                  </a:lnTo>
                  <a:lnTo>
                    <a:pt x="24" y="8"/>
                  </a:lnTo>
                  <a:lnTo>
                    <a:pt x="0" y="0"/>
                  </a:lnTo>
                  <a:lnTo>
                    <a:pt x="24" y="8"/>
                  </a:lnTo>
                  <a:lnTo>
                    <a:pt x="48" y="16"/>
                  </a:lnTo>
                  <a:lnTo>
                    <a:pt x="56" y="39"/>
                  </a:lnTo>
                  <a:lnTo>
                    <a:pt x="64" y="63"/>
                  </a:lnTo>
                  <a:close/>
                  <a:moveTo>
                    <a:pt x="64" y="63"/>
                  </a:moveTo>
                  <a:lnTo>
                    <a:pt x="64" y="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8" name="Freeform 45"/>
            <p:cNvSpPr>
              <a:spLocks noChangeAspect="1" noEditPoints="1"/>
            </p:cNvSpPr>
            <p:nvPr/>
          </p:nvSpPr>
          <p:spPr>
            <a:xfrm>
              <a:off x="2302" y="2856"/>
              <a:ext cx="63" cy="63"/>
            </a:xfrm>
            <a:custGeom>
              <a:avLst/>
              <a:gdLst>
                <a:gd name="txL" fmla="*/ 0 w 63"/>
                <a:gd name="txT" fmla="*/ 0 h 63"/>
                <a:gd name="txR" fmla="*/ 63 w 63"/>
                <a:gd name="txB" fmla="*/ 63 h 63"/>
              </a:gdLst>
              <a:ahLst/>
              <a:cxnLst>
                <a:cxn ang="0">
                  <a:pos x="63" y="0"/>
                </a:cxn>
                <a:cxn ang="0">
                  <a:pos x="39" y="8"/>
                </a:cxn>
                <a:cxn ang="0">
                  <a:pos x="24" y="16"/>
                </a:cxn>
                <a:cxn ang="0">
                  <a:pos x="8" y="39"/>
                </a:cxn>
                <a:cxn ang="0">
                  <a:pos x="0" y="63"/>
                </a:cxn>
                <a:cxn ang="0">
                  <a:pos x="0" y="63"/>
                </a:cxn>
                <a:cxn ang="0">
                  <a:pos x="8" y="39"/>
                </a:cxn>
                <a:cxn ang="0">
                  <a:pos x="24" y="16"/>
                </a:cxn>
                <a:cxn ang="0">
                  <a:pos x="39" y="8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  <a:cxn ang="0">
                  <a:pos x="63" y="0"/>
                </a:cxn>
              </a:cxnLst>
              <a:rect l="txL" t="txT" r="txR" b="txB"/>
              <a:pathLst>
                <a:path w="63" h="63">
                  <a:moveTo>
                    <a:pt x="63" y="0"/>
                  </a:moveTo>
                  <a:lnTo>
                    <a:pt x="39" y="8"/>
                  </a:lnTo>
                  <a:lnTo>
                    <a:pt x="24" y="16"/>
                  </a:lnTo>
                  <a:lnTo>
                    <a:pt x="8" y="39"/>
                  </a:lnTo>
                  <a:lnTo>
                    <a:pt x="0" y="63"/>
                  </a:lnTo>
                  <a:lnTo>
                    <a:pt x="8" y="39"/>
                  </a:lnTo>
                  <a:lnTo>
                    <a:pt x="24" y="16"/>
                  </a:lnTo>
                  <a:lnTo>
                    <a:pt x="39" y="8"/>
                  </a:lnTo>
                  <a:lnTo>
                    <a:pt x="63" y="0"/>
                  </a:lnTo>
                  <a:close/>
                  <a:moveTo>
                    <a:pt x="63" y="0"/>
                  </a:moveTo>
                  <a:lnTo>
                    <a:pt x="63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9" name="Freeform 46"/>
            <p:cNvSpPr>
              <a:spLocks noChangeAspect="1" noEditPoints="1"/>
            </p:cNvSpPr>
            <p:nvPr/>
          </p:nvSpPr>
          <p:spPr>
            <a:xfrm>
              <a:off x="2302" y="2919"/>
              <a:ext cx="63" cy="64"/>
            </a:xfrm>
            <a:custGeom>
              <a:avLst/>
              <a:gdLst>
                <a:gd name="txL" fmla="*/ 0 w 63"/>
                <a:gd name="txT" fmla="*/ 0 h 64"/>
                <a:gd name="txR" fmla="*/ 63 w 63"/>
                <a:gd name="txB" fmla="*/ 64 h 64"/>
              </a:gdLst>
              <a:ahLst/>
              <a:cxnLst>
                <a:cxn ang="0">
                  <a:pos x="0" y="0"/>
                </a:cxn>
                <a:cxn ang="0">
                  <a:pos x="8" y="24"/>
                </a:cxn>
                <a:cxn ang="0">
                  <a:pos x="24" y="48"/>
                </a:cxn>
                <a:cxn ang="0">
                  <a:pos x="39" y="56"/>
                </a:cxn>
                <a:cxn ang="0">
                  <a:pos x="63" y="64"/>
                </a:cxn>
                <a:cxn ang="0">
                  <a:pos x="63" y="64"/>
                </a:cxn>
                <a:cxn ang="0">
                  <a:pos x="39" y="56"/>
                </a:cxn>
                <a:cxn ang="0">
                  <a:pos x="24" y="48"/>
                </a:cxn>
                <a:cxn ang="0">
                  <a:pos x="8" y="2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" h="64">
                  <a:moveTo>
                    <a:pt x="0" y="0"/>
                  </a:moveTo>
                  <a:lnTo>
                    <a:pt x="8" y="24"/>
                  </a:lnTo>
                  <a:lnTo>
                    <a:pt x="24" y="48"/>
                  </a:lnTo>
                  <a:lnTo>
                    <a:pt x="39" y="56"/>
                  </a:lnTo>
                  <a:lnTo>
                    <a:pt x="63" y="64"/>
                  </a:lnTo>
                  <a:lnTo>
                    <a:pt x="39" y="56"/>
                  </a:lnTo>
                  <a:lnTo>
                    <a:pt x="24" y="48"/>
                  </a:lnTo>
                  <a:lnTo>
                    <a:pt x="8" y="24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0" name="Freeform 47"/>
            <p:cNvSpPr>
              <a:spLocks noChangeAspect="1"/>
            </p:cNvSpPr>
            <p:nvPr/>
          </p:nvSpPr>
          <p:spPr>
            <a:xfrm>
              <a:off x="2365" y="298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1" name="Freeform 48"/>
            <p:cNvSpPr>
              <a:spLocks noChangeAspect="1"/>
            </p:cNvSpPr>
            <p:nvPr/>
          </p:nvSpPr>
          <p:spPr>
            <a:xfrm>
              <a:off x="1232" y="1636"/>
              <a:ext cx="471" cy="478"/>
            </a:xfrm>
            <a:custGeom>
              <a:avLst/>
              <a:gdLst>
                <a:gd name="txL" fmla="*/ 0 w 471"/>
                <a:gd name="txT" fmla="*/ 0 h 478"/>
                <a:gd name="txR" fmla="*/ 471 w 471"/>
                <a:gd name="txB" fmla="*/ 478 h 478"/>
              </a:gdLst>
              <a:ahLst/>
              <a:cxnLst>
                <a:cxn ang="0">
                  <a:pos x="231" y="478"/>
                </a:cxn>
                <a:cxn ang="0">
                  <a:pos x="279" y="470"/>
                </a:cxn>
                <a:cxn ang="0">
                  <a:pos x="319" y="462"/>
                </a:cxn>
                <a:cxn ang="0">
                  <a:pos x="367" y="438"/>
                </a:cxn>
                <a:cxn ang="0">
                  <a:pos x="399" y="406"/>
                </a:cxn>
                <a:cxn ang="0">
                  <a:pos x="431" y="375"/>
                </a:cxn>
                <a:cxn ang="0">
                  <a:pos x="455" y="335"/>
                </a:cxn>
                <a:cxn ang="0">
                  <a:pos x="463" y="287"/>
                </a:cxn>
                <a:cxn ang="0">
                  <a:pos x="471" y="239"/>
                </a:cxn>
                <a:cxn ang="0">
                  <a:pos x="463" y="191"/>
                </a:cxn>
                <a:cxn ang="0">
                  <a:pos x="455" y="151"/>
                </a:cxn>
                <a:cxn ang="0">
                  <a:pos x="431" y="111"/>
                </a:cxn>
                <a:cxn ang="0">
                  <a:pos x="399" y="72"/>
                </a:cxn>
                <a:cxn ang="0">
                  <a:pos x="367" y="40"/>
                </a:cxn>
                <a:cxn ang="0">
                  <a:pos x="319" y="16"/>
                </a:cxn>
                <a:cxn ang="0">
                  <a:pos x="279" y="8"/>
                </a:cxn>
                <a:cxn ang="0">
                  <a:pos x="231" y="0"/>
                </a:cxn>
                <a:cxn ang="0">
                  <a:pos x="183" y="8"/>
                </a:cxn>
                <a:cxn ang="0">
                  <a:pos x="143" y="16"/>
                </a:cxn>
                <a:cxn ang="0">
                  <a:pos x="103" y="40"/>
                </a:cxn>
                <a:cxn ang="0">
                  <a:pos x="71" y="72"/>
                </a:cxn>
                <a:cxn ang="0">
                  <a:pos x="15" y="151"/>
                </a:cxn>
                <a:cxn ang="0">
                  <a:pos x="7" y="191"/>
                </a:cxn>
                <a:cxn ang="0">
                  <a:pos x="0" y="239"/>
                </a:cxn>
                <a:cxn ang="0">
                  <a:pos x="7" y="287"/>
                </a:cxn>
                <a:cxn ang="0">
                  <a:pos x="15" y="335"/>
                </a:cxn>
                <a:cxn ang="0">
                  <a:pos x="71" y="406"/>
                </a:cxn>
                <a:cxn ang="0">
                  <a:pos x="103" y="438"/>
                </a:cxn>
                <a:cxn ang="0">
                  <a:pos x="143" y="462"/>
                </a:cxn>
                <a:cxn ang="0">
                  <a:pos x="183" y="470"/>
                </a:cxn>
                <a:cxn ang="0">
                  <a:pos x="231" y="478"/>
                </a:cxn>
                <a:cxn ang="0">
                  <a:pos x="231" y="478"/>
                </a:cxn>
              </a:cxnLst>
              <a:rect l="txL" t="txT" r="txR" b="txB"/>
              <a:pathLst>
                <a:path w="471" h="478">
                  <a:moveTo>
                    <a:pt x="231" y="478"/>
                  </a:moveTo>
                  <a:lnTo>
                    <a:pt x="279" y="470"/>
                  </a:lnTo>
                  <a:lnTo>
                    <a:pt x="319" y="462"/>
                  </a:lnTo>
                  <a:lnTo>
                    <a:pt x="367" y="438"/>
                  </a:lnTo>
                  <a:lnTo>
                    <a:pt x="399" y="406"/>
                  </a:lnTo>
                  <a:lnTo>
                    <a:pt x="431" y="375"/>
                  </a:lnTo>
                  <a:lnTo>
                    <a:pt x="455" y="335"/>
                  </a:lnTo>
                  <a:lnTo>
                    <a:pt x="463" y="287"/>
                  </a:lnTo>
                  <a:lnTo>
                    <a:pt x="471" y="239"/>
                  </a:lnTo>
                  <a:lnTo>
                    <a:pt x="463" y="191"/>
                  </a:lnTo>
                  <a:lnTo>
                    <a:pt x="455" y="151"/>
                  </a:lnTo>
                  <a:lnTo>
                    <a:pt x="431" y="111"/>
                  </a:lnTo>
                  <a:lnTo>
                    <a:pt x="399" y="72"/>
                  </a:lnTo>
                  <a:lnTo>
                    <a:pt x="367" y="40"/>
                  </a:lnTo>
                  <a:lnTo>
                    <a:pt x="319" y="16"/>
                  </a:lnTo>
                  <a:lnTo>
                    <a:pt x="279" y="8"/>
                  </a:lnTo>
                  <a:lnTo>
                    <a:pt x="231" y="0"/>
                  </a:lnTo>
                  <a:lnTo>
                    <a:pt x="183" y="8"/>
                  </a:lnTo>
                  <a:lnTo>
                    <a:pt x="143" y="16"/>
                  </a:lnTo>
                  <a:lnTo>
                    <a:pt x="103" y="40"/>
                  </a:lnTo>
                  <a:lnTo>
                    <a:pt x="71" y="72"/>
                  </a:lnTo>
                  <a:lnTo>
                    <a:pt x="15" y="151"/>
                  </a:lnTo>
                  <a:lnTo>
                    <a:pt x="7" y="191"/>
                  </a:lnTo>
                  <a:lnTo>
                    <a:pt x="0" y="239"/>
                  </a:lnTo>
                  <a:lnTo>
                    <a:pt x="7" y="287"/>
                  </a:lnTo>
                  <a:lnTo>
                    <a:pt x="15" y="335"/>
                  </a:lnTo>
                  <a:lnTo>
                    <a:pt x="71" y="406"/>
                  </a:lnTo>
                  <a:lnTo>
                    <a:pt x="103" y="438"/>
                  </a:lnTo>
                  <a:lnTo>
                    <a:pt x="143" y="462"/>
                  </a:lnTo>
                  <a:lnTo>
                    <a:pt x="183" y="470"/>
                  </a:lnTo>
                  <a:lnTo>
                    <a:pt x="231" y="47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rgbClr val="006666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2" name="Freeform 49"/>
            <p:cNvSpPr>
              <a:spLocks noChangeAspect="1"/>
            </p:cNvSpPr>
            <p:nvPr/>
          </p:nvSpPr>
          <p:spPr>
            <a:xfrm>
              <a:off x="1463" y="1875"/>
              <a:ext cx="240" cy="239"/>
            </a:xfrm>
            <a:custGeom>
              <a:avLst/>
              <a:gdLst>
                <a:gd name="txL" fmla="*/ 0 w 240"/>
                <a:gd name="txT" fmla="*/ 0 h 239"/>
                <a:gd name="txR" fmla="*/ 240 w 240"/>
                <a:gd name="txB" fmla="*/ 239 h 239"/>
              </a:gdLst>
              <a:ahLst/>
              <a:cxnLst>
                <a:cxn ang="0">
                  <a:pos x="0" y="239"/>
                </a:cxn>
                <a:cxn ang="0">
                  <a:pos x="48" y="231"/>
                </a:cxn>
                <a:cxn ang="0">
                  <a:pos x="88" y="223"/>
                </a:cxn>
                <a:cxn ang="0">
                  <a:pos x="136" y="199"/>
                </a:cxn>
                <a:cxn ang="0">
                  <a:pos x="168" y="167"/>
                </a:cxn>
                <a:cxn ang="0">
                  <a:pos x="200" y="136"/>
                </a:cxn>
                <a:cxn ang="0">
                  <a:pos x="224" y="96"/>
                </a:cxn>
                <a:cxn ang="0">
                  <a:pos x="232" y="48"/>
                </a:cxn>
                <a:cxn ang="0">
                  <a:pos x="240" y="0"/>
                </a:cxn>
                <a:cxn ang="0">
                  <a:pos x="240" y="0"/>
                </a:cxn>
                <a:cxn ang="0">
                  <a:pos x="232" y="48"/>
                </a:cxn>
                <a:cxn ang="0">
                  <a:pos x="224" y="96"/>
                </a:cxn>
                <a:cxn ang="0">
                  <a:pos x="200" y="136"/>
                </a:cxn>
                <a:cxn ang="0">
                  <a:pos x="168" y="167"/>
                </a:cxn>
                <a:cxn ang="0">
                  <a:pos x="136" y="199"/>
                </a:cxn>
                <a:cxn ang="0">
                  <a:pos x="88" y="223"/>
                </a:cxn>
                <a:cxn ang="0">
                  <a:pos x="48" y="231"/>
                </a:cxn>
                <a:cxn ang="0">
                  <a:pos x="0" y="239"/>
                </a:cxn>
                <a:cxn ang="0">
                  <a:pos x="0" y="239"/>
                </a:cxn>
              </a:cxnLst>
              <a:rect l="txL" t="txT" r="txR" b="txB"/>
              <a:pathLst>
                <a:path w="240" h="239">
                  <a:moveTo>
                    <a:pt x="0" y="239"/>
                  </a:moveTo>
                  <a:lnTo>
                    <a:pt x="48" y="231"/>
                  </a:lnTo>
                  <a:lnTo>
                    <a:pt x="88" y="223"/>
                  </a:lnTo>
                  <a:lnTo>
                    <a:pt x="136" y="199"/>
                  </a:lnTo>
                  <a:lnTo>
                    <a:pt x="168" y="167"/>
                  </a:lnTo>
                  <a:lnTo>
                    <a:pt x="200" y="136"/>
                  </a:lnTo>
                  <a:lnTo>
                    <a:pt x="224" y="96"/>
                  </a:lnTo>
                  <a:lnTo>
                    <a:pt x="232" y="48"/>
                  </a:lnTo>
                  <a:lnTo>
                    <a:pt x="240" y="0"/>
                  </a:lnTo>
                  <a:lnTo>
                    <a:pt x="232" y="48"/>
                  </a:lnTo>
                  <a:lnTo>
                    <a:pt x="224" y="96"/>
                  </a:lnTo>
                  <a:lnTo>
                    <a:pt x="200" y="136"/>
                  </a:lnTo>
                  <a:lnTo>
                    <a:pt x="168" y="167"/>
                  </a:lnTo>
                  <a:lnTo>
                    <a:pt x="136" y="199"/>
                  </a:lnTo>
                  <a:lnTo>
                    <a:pt x="88" y="223"/>
                  </a:lnTo>
                  <a:lnTo>
                    <a:pt x="48" y="231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3" name="Freeform 50"/>
            <p:cNvSpPr>
              <a:spLocks noChangeAspect="1" noEditPoints="1"/>
            </p:cNvSpPr>
            <p:nvPr/>
          </p:nvSpPr>
          <p:spPr>
            <a:xfrm>
              <a:off x="1463" y="1636"/>
              <a:ext cx="240" cy="239"/>
            </a:xfrm>
            <a:custGeom>
              <a:avLst/>
              <a:gdLst>
                <a:gd name="txL" fmla="*/ 0 w 240"/>
                <a:gd name="txT" fmla="*/ 0 h 239"/>
                <a:gd name="txR" fmla="*/ 240 w 240"/>
                <a:gd name="txB" fmla="*/ 239 h 239"/>
              </a:gdLst>
              <a:ahLst/>
              <a:cxnLst>
                <a:cxn ang="0">
                  <a:pos x="240" y="239"/>
                </a:cxn>
                <a:cxn ang="0">
                  <a:pos x="232" y="191"/>
                </a:cxn>
                <a:cxn ang="0">
                  <a:pos x="224" y="151"/>
                </a:cxn>
                <a:cxn ang="0">
                  <a:pos x="200" y="111"/>
                </a:cxn>
                <a:cxn ang="0">
                  <a:pos x="168" y="72"/>
                </a:cxn>
                <a:cxn ang="0">
                  <a:pos x="136" y="40"/>
                </a:cxn>
                <a:cxn ang="0">
                  <a:pos x="88" y="16"/>
                </a:cxn>
                <a:cxn ang="0">
                  <a:pos x="48" y="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48" y="8"/>
                </a:cxn>
                <a:cxn ang="0">
                  <a:pos x="88" y="16"/>
                </a:cxn>
                <a:cxn ang="0">
                  <a:pos x="136" y="40"/>
                </a:cxn>
                <a:cxn ang="0">
                  <a:pos x="168" y="72"/>
                </a:cxn>
                <a:cxn ang="0">
                  <a:pos x="200" y="111"/>
                </a:cxn>
                <a:cxn ang="0">
                  <a:pos x="224" y="151"/>
                </a:cxn>
                <a:cxn ang="0">
                  <a:pos x="232" y="191"/>
                </a:cxn>
                <a:cxn ang="0">
                  <a:pos x="240" y="239"/>
                </a:cxn>
                <a:cxn ang="0">
                  <a:pos x="240" y="239"/>
                </a:cxn>
                <a:cxn ang="0">
                  <a:pos x="240" y="239"/>
                </a:cxn>
                <a:cxn ang="0">
                  <a:pos x="240" y="239"/>
                </a:cxn>
                <a:cxn ang="0">
                  <a:pos x="240" y="239"/>
                </a:cxn>
              </a:cxnLst>
              <a:rect l="txL" t="txT" r="txR" b="txB"/>
              <a:pathLst>
                <a:path w="240" h="239">
                  <a:moveTo>
                    <a:pt x="240" y="239"/>
                  </a:moveTo>
                  <a:lnTo>
                    <a:pt x="232" y="191"/>
                  </a:lnTo>
                  <a:lnTo>
                    <a:pt x="224" y="151"/>
                  </a:lnTo>
                  <a:lnTo>
                    <a:pt x="200" y="111"/>
                  </a:lnTo>
                  <a:lnTo>
                    <a:pt x="168" y="72"/>
                  </a:lnTo>
                  <a:lnTo>
                    <a:pt x="136" y="40"/>
                  </a:lnTo>
                  <a:lnTo>
                    <a:pt x="88" y="16"/>
                  </a:lnTo>
                  <a:lnTo>
                    <a:pt x="48" y="8"/>
                  </a:lnTo>
                  <a:lnTo>
                    <a:pt x="0" y="0"/>
                  </a:lnTo>
                  <a:lnTo>
                    <a:pt x="48" y="8"/>
                  </a:lnTo>
                  <a:lnTo>
                    <a:pt x="88" y="16"/>
                  </a:lnTo>
                  <a:lnTo>
                    <a:pt x="136" y="40"/>
                  </a:lnTo>
                  <a:lnTo>
                    <a:pt x="168" y="72"/>
                  </a:lnTo>
                  <a:lnTo>
                    <a:pt x="200" y="111"/>
                  </a:lnTo>
                  <a:lnTo>
                    <a:pt x="224" y="151"/>
                  </a:lnTo>
                  <a:lnTo>
                    <a:pt x="232" y="191"/>
                  </a:lnTo>
                  <a:lnTo>
                    <a:pt x="240" y="239"/>
                  </a:lnTo>
                  <a:close/>
                  <a:moveTo>
                    <a:pt x="240" y="239"/>
                  </a:moveTo>
                  <a:lnTo>
                    <a:pt x="240" y="2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4" name="Freeform 51"/>
            <p:cNvSpPr>
              <a:spLocks noChangeAspect="1" noEditPoints="1"/>
            </p:cNvSpPr>
            <p:nvPr/>
          </p:nvSpPr>
          <p:spPr>
            <a:xfrm>
              <a:off x="1232" y="1636"/>
              <a:ext cx="231" cy="239"/>
            </a:xfrm>
            <a:custGeom>
              <a:avLst/>
              <a:gdLst>
                <a:gd name="txL" fmla="*/ 0 w 231"/>
                <a:gd name="txT" fmla="*/ 0 h 239"/>
                <a:gd name="txR" fmla="*/ 231 w 231"/>
                <a:gd name="txB" fmla="*/ 239 h 239"/>
              </a:gdLst>
              <a:ahLst/>
              <a:cxnLst>
                <a:cxn ang="0">
                  <a:pos x="231" y="0"/>
                </a:cxn>
                <a:cxn ang="0">
                  <a:pos x="183" y="8"/>
                </a:cxn>
                <a:cxn ang="0">
                  <a:pos x="143" y="16"/>
                </a:cxn>
                <a:cxn ang="0">
                  <a:pos x="103" y="40"/>
                </a:cxn>
                <a:cxn ang="0">
                  <a:pos x="71" y="72"/>
                </a:cxn>
                <a:cxn ang="0">
                  <a:pos x="15" y="151"/>
                </a:cxn>
                <a:cxn ang="0">
                  <a:pos x="7" y="191"/>
                </a:cxn>
                <a:cxn ang="0">
                  <a:pos x="0" y="239"/>
                </a:cxn>
                <a:cxn ang="0">
                  <a:pos x="0" y="239"/>
                </a:cxn>
                <a:cxn ang="0">
                  <a:pos x="7" y="191"/>
                </a:cxn>
                <a:cxn ang="0">
                  <a:pos x="15" y="151"/>
                </a:cxn>
                <a:cxn ang="0">
                  <a:pos x="71" y="72"/>
                </a:cxn>
                <a:cxn ang="0">
                  <a:pos x="103" y="40"/>
                </a:cxn>
                <a:cxn ang="0">
                  <a:pos x="143" y="16"/>
                </a:cxn>
                <a:cxn ang="0">
                  <a:pos x="183" y="8"/>
                </a:cxn>
                <a:cxn ang="0">
                  <a:pos x="231" y="0"/>
                </a:cxn>
                <a:cxn ang="0">
                  <a:pos x="231" y="0"/>
                </a:cxn>
                <a:cxn ang="0">
                  <a:pos x="231" y="0"/>
                </a:cxn>
                <a:cxn ang="0">
                  <a:pos x="231" y="0"/>
                </a:cxn>
                <a:cxn ang="0">
                  <a:pos x="231" y="0"/>
                </a:cxn>
              </a:cxnLst>
              <a:rect l="txL" t="txT" r="txR" b="txB"/>
              <a:pathLst>
                <a:path w="231" h="239">
                  <a:moveTo>
                    <a:pt x="231" y="0"/>
                  </a:moveTo>
                  <a:lnTo>
                    <a:pt x="183" y="8"/>
                  </a:lnTo>
                  <a:lnTo>
                    <a:pt x="143" y="16"/>
                  </a:lnTo>
                  <a:lnTo>
                    <a:pt x="103" y="40"/>
                  </a:lnTo>
                  <a:lnTo>
                    <a:pt x="71" y="72"/>
                  </a:lnTo>
                  <a:lnTo>
                    <a:pt x="15" y="151"/>
                  </a:lnTo>
                  <a:lnTo>
                    <a:pt x="7" y="191"/>
                  </a:lnTo>
                  <a:lnTo>
                    <a:pt x="0" y="239"/>
                  </a:lnTo>
                  <a:lnTo>
                    <a:pt x="7" y="191"/>
                  </a:lnTo>
                  <a:lnTo>
                    <a:pt x="15" y="151"/>
                  </a:lnTo>
                  <a:lnTo>
                    <a:pt x="71" y="72"/>
                  </a:lnTo>
                  <a:lnTo>
                    <a:pt x="103" y="40"/>
                  </a:lnTo>
                  <a:lnTo>
                    <a:pt x="143" y="16"/>
                  </a:lnTo>
                  <a:lnTo>
                    <a:pt x="183" y="8"/>
                  </a:lnTo>
                  <a:lnTo>
                    <a:pt x="231" y="0"/>
                  </a:lnTo>
                  <a:close/>
                  <a:moveTo>
                    <a:pt x="231" y="0"/>
                  </a:moveTo>
                  <a:lnTo>
                    <a:pt x="231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5" name="Freeform 52"/>
            <p:cNvSpPr>
              <a:spLocks noChangeAspect="1" noEditPoints="1"/>
            </p:cNvSpPr>
            <p:nvPr/>
          </p:nvSpPr>
          <p:spPr>
            <a:xfrm>
              <a:off x="1232" y="1875"/>
              <a:ext cx="231" cy="239"/>
            </a:xfrm>
            <a:custGeom>
              <a:avLst/>
              <a:gdLst>
                <a:gd name="txL" fmla="*/ 0 w 231"/>
                <a:gd name="txT" fmla="*/ 0 h 239"/>
                <a:gd name="txR" fmla="*/ 231 w 231"/>
                <a:gd name="txB" fmla="*/ 239 h 239"/>
              </a:gdLst>
              <a:ahLst/>
              <a:cxnLst>
                <a:cxn ang="0">
                  <a:pos x="0" y="0"/>
                </a:cxn>
                <a:cxn ang="0">
                  <a:pos x="7" y="48"/>
                </a:cxn>
                <a:cxn ang="0">
                  <a:pos x="15" y="96"/>
                </a:cxn>
                <a:cxn ang="0">
                  <a:pos x="71" y="167"/>
                </a:cxn>
                <a:cxn ang="0">
                  <a:pos x="103" y="199"/>
                </a:cxn>
                <a:cxn ang="0">
                  <a:pos x="143" y="223"/>
                </a:cxn>
                <a:cxn ang="0">
                  <a:pos x="183" y="231"/>
                </a:cxn>
                <a:cxn ang="0">
                  <a:pos x="231" y="239"/>
                </a:cxn>
                <a:cxn ang="0">
                  <a:pos x="231" y="239"/>
                </a:cxn>
                <a:cxn ang="0">
                  <a:pos x="183" y="231"/>
                </a:cxn>
                <a:cxn ang="0">
                  <a:pos x="143" y="223"/>
                </a:cxn>
                <a:cxn ang="0">
                  <a:pos x="103" y="199"/>
                </a:cxn>
                <a:cxn ang="0">
                  <a:pos x="71" y="167"/>
                </a:cxn>
                <a:cxn ang="0">
                  <a:pos x="15" y="96"/>
                </a:cxn>
                <a:cxn ang="0">
                  <a:pos x="7" y="4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31" h="239">
                  <a:moveTo>
                    <a:pt x="0" y="0"/>
                  </a:moveTo>
                  <a:lnTo>
                    <a:pt x="7" y="48"/>
                  </a:lnTo>
                  <a:lnTo>
                    <a:pt x="15" y="96"/>
                  </a:lnTo>
                  <a:lnTo>
                    <a:pt x="71" y="167"/>
                  </a:lnTo>
                  <a:lnTo>
                    <a:pt x="103" y="199"/>
                  </a:lnTo>
                  <a:lnTo>
                    <a:pt x="143" y="223"/>
                  </a:lnTo>
                  <a:lnTo>
                    <a:pt x="183" y="231"/>
                  </a:lnTo>
                  <a:lnTo>
                    <a:pt x="231" y="239"/>
                  </a:lnTo>
                  <a:lnTo>
                    <a:pt x="183" y="231"/>
                  </a:lnTo>
                  <a:lnTo>
                    <a:pt x="143" y="223"/>
                  </a:lnTo>
                  <a:lnTo>
                    <a:pt x="103" y="199"/>
                  </a:lnTo>
                  <a:lnTo>
                    <a:pt x="71" y="167"/>
                  </a:lnTo>
                  <a:lnTo>
                    <a:pt x="15" y="96"/>
                  </a:lnTo>
                  <a:lnTo>
                    <a:pt x="7" y="4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6" name="Freeform 53"/>
            <p:cNvSpPr>
              <a:spLocks noChangeAspect="1"/>
            </p:cNvSpPr>
            <p:nvPr/>
          </p:nvSpPr>
          <p:spPr>
            <a:xfrm>
              <a:off x="1463" y="211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7" name="Freeform 54"/>
            <p:cNvSpPr>
              <a:spLocks noChangeAspect="1"/>
            </p:cNvSpPr>
            <p:nvPr/>
          </p:nvSpPr>
          <p:spPr>
            <a:xfrm>
              <a:off x="1391" y="1716"/>
              <a:ext cx="144" cy="143"/>
            </a:xfrm>
            <a:custGeom>
              <a:avLst/>
              <a:gdLst>
                <a:gd name="txL" fmla="*/ 0 w 144"/>
                <a:gd name="txT" fmla="*/ 0 h 143"/>
                <a:gd name="txR" fmla="*/ 144 w 144"/>
                <a:gd name="txB" fmla="*/ 143 h 143"/>
              </a:gdLst>
              <a:ahLst/>
              <a:cxnLst>
                <a:cxn ang="0">
                  <a:pos x="64" y="63"/>
                </a:cxn>
                <a:cxn ang="0">
                  <a:pos x="0" y="63"/>
                </a:cxn>
                <a:cxn ang="0">
                  <a:pos x="0" y="79"/>
                </a:cxn>
                <a:cxn ang="0">
                  <a:pos x="64" y="79"/>
                </a:cxn>
                <a:cxn ang="0">
                  <a:pos x="64" y="143"/>
                </a:cxn>
                <a:cxn ang="0">
                  <a:pos x="80" y="143"/>
                </a:cxn>
                <a:cxn ang="0">
                  <a:pos x="80" y="79"/>
                </a:cxn>
                <a:cxn ang="0">
                  <a:pos x="144" y="79"/>
                </a:cxn>
                <a:cxn ang="0">
                  <a:pos x="144" y="63"/>
                </a:cxn>
                <a:cxn ang="0">
                  <a:pos x="80" y="63"/>
                </a:cxn>
                <a:cxn ang="0">
                  <a:pos x="80" y="0"/>
                </a:cxn>
                <a:cxn ang="0">
                  <a:pos x="64" y="0"/>
                </a:cxn>
                <a:cxn ang="0">
                  <a:pos x="64" y="63"/>
                </a:cxn>
              </a:cxnLst>
              <a:rect l="txL" t="txT" r="txR" b="txB"/>
              <a:pathLst>
                <a:path w="144" h="143">
                  <a:moveTo>
                    <a:pt x="64" y="63"/>
                  </a:moveTo>
                  <a:lnTo>
                    <a:pt x="0" y="63"/>
                  </a:lnTo>
                  <a:lnTo>
                    <a:pt x="0" y="79"/>
                  </a:lnTo>
                  <a:lnTo>
                    <a:pt x="64" y="79"/>
                  </a:lnTo>
                  <a:lnTo>
                    <a:pt x="64" y="143"/>
                  </a:lnTo>
                  <a:lnTo>
                    <a:pt x="80" y="143"/>
                  </a:lnTo>
                  <a:lnTo>
                    <a:pt x="80" y="79"/>
                  </a:lnTo>
                  <a:lnTo>
                    <a:pt x="144" y="79"/>
                  </a:lnTo>
                  <a:lnTo>
                    <a:pt x="144" y="63"/>
                  </a:lnTo>
                  <a:lnTo>
                    <a:pt x="80" y="63"/>
                  </a:lnTo>
                  <a:lnTo>
                    <a:pt x="80" y="0"/>
                  </a:lnTo>
                  <a:lnTo>
                    <a:pt x="64" y="0"/>
                  </a:lnTo>
                  <a:lnTo>
                    <a:pt x="64" y="6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8" name="Rectangle 55"/>
            <p:cNvSpPr>
              <a:spLocks noChangeAspect="1"/>
            </p:cNvSpPr>
            <p:nvPr/>
          </p:nvSpPr>
          <p:spPr>
            <a:xfrm>
              <a:off x="1391" y="1971"/>
              <a:ext cx="152" cy="16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</p:grpSp>
      <p:grpSp>
        <p:nvGrpSpPr>
          <p:cNvPr id="62467" name="Group 56"/>
          <p:cNvGrpSpPr>
            <a:grpSpLocks noChangeAspect="1"/>
          </p:cNvGrpSpPr>
          <p:nvPr/>
        </p:nvGrpSpPr>
        <p:grpSpPr>
          <a:xfrm>
            <a:off x="6511925" y="1924050"/>
            <a:ext cx="1952625" cy="3009900"/>
            <a:chOff x="2020" y="865"/>
            <a:chExt cx="1674" cy="2580"/>
          </a:xfrm>
        </p:grpSpPr>
        <p:sp>
          <p:nvSpPr>
            <p:cNvPr id="62472" name="Freeform 57"/>
            <p:cNvSpPr>
              <a:spLocks noChangeAspect="1"/>
            </p:cNvSpPr>
            <p:nvPr/>
          </p:nvSpPr>
          <p:spPr>
            <a:xfrm>
              <a:off x="2540" y="942"/>
              <a:ext cx="999" cy="1"/>
            </a:xfrm>
            <a:custGeom>
              <a:avLst/>
              <a:gdLst>
                <a:gd name="txL" fmla="*/ 0 w 999"/>
                <a:gd name="txT" fmla="*/ 0 h 1"/>
                <a:gd name="txR" fmla="*/ 999 w 999"/>
                <a:gd name="txB" fmla="*/ 1 h 1"/>
              </a:gdLst>
              <a:ahLst/>
              <a:cxnLst>
                <a:cxn ang="0">
                  <a:pos x="999" y="0"/>
                </a:cxn>
                <a:cxn ang="0">
                  <a:pos x="0" y="0"/>
                </a:cxn>
                <a:cxn ang="0">
                  <a:pos x="999" y="0"/>
                </a:cxn>
                <a:cxn ang="0">
                  <a:pos x="999" y="0"/>
                </a:cxn>
              </a:cxnLst>
              <a:rect l="txL" t="txT" r="txR" b="txB"/>
              <a:pathLst>
                <a:path w="999" h="1">
                  <a:moveTo>
                    <a:pt x="999" y="0"/>
                  </a:moveTo>
                  <a:lnTo>
                    <a:pt x="0" y="0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3" name="Freeform 58"/>
            <p:cNvSpPr>
              <a:spLocks noChangeAspect="1" noEditPoints="1"/>
            </p:cNvSpPr>
            <p:nvPr/>
          </p:nvSpPr>
          <p:spPr>
            <a:xfrm>
              <a:off x="2540" y="942"/>
              <a:ext cx="1" cy="2431"/>
            </a:xfrm>
            <a:custGeom>
              <a:avLst/>
              <a:gdLst>
                <a:gd name="txL" fmla="*/ 0 w 1"/>
                <a:gd name="txT" fmla="*/ 0 h 2431"/>
                <a:gd name="txR" fmla="*/ 1 w 1"/>
                <a:gd name="txB" fmla="*/ 2431 h 2431"/>
              </a:gdLst>
              <a:ahLst/>
              <a:cxnLst>
                <a:cxn ang="0">
                  <a:pos x="0" y="0"/>
                </a:cxn>
                <a:cxn ang="0">
                  <a:pos x="0" y="243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431">
                  <a:moveTo>
                    <a:pt x="0" y="0"/>
                  </a:moveTo>
                  <a:lnTo>
                    <a:pt x="0" y="2431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4" name="Freeform 59"/>
            <p:cNvSpPr>
              <a:spLocks noChangeAspect="1" noEditPoints="1"/>
            </p:cNvSpPr>
            <p:nvPr/>
          </p:nvSpPr>
          <p:spPr>
            <a:xfrm>
              <a:off x="2540" y="3373"/>
              <a:ext cx="999" cy="1"/>
            </a:xfrm>
            <a:custGeom>
              <a:avLst/>
              <a:gdLst>
                <a:gd name="txL" fmla="*/ 0 w 999"/>
                <a:gd name="txT" fmla="*/ 0 h 1"/>
                <a:gd name="txR" fmla="*/ 999 w 99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999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99" h="1">
                  <a:moveTo>
                    <a:pt x="0" y="0"/>
                  </a:moveTo>
                  <a:lnTo>
                    <a:pt x="999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5" name="Freeform 60"/>
            <p:cNvSpPr>
              <a:spLocks noChangeAspect="1"/>
            </p:cNvSpPr>
            <p:nvPr/>
          </p:nvSpPr>
          <p:spPr>
            <a:xfrm>
              <a:off x="3539" y="865"/>
              <a:ext cx="155" cy="155"/>
            </a:xfrm>
            <a:custGeom>
              <a:avLst/>
              <a:gdLst>
                <a:gd name="txL" fmla="*/ 0 w 155"/>
                <a:gd name="txT" fmla="*/ 0 h 155"/>
                <a:gd name="txR" fmla="*/ 155 w 155"/>
                <a:gd name="txB" fmla="*/ 155 h 155"/>
              </a:gdLst>
              <a:ahLst/>
              <a:cxnLst>
                <a:cxn ang="0">
                  <a:pos x="77" y="155"/>
                </a:cxn>
                <a:cxn ang="0">
                  <a:pos x="107" y="149"/>
                </a:cxn>
                <a:cxn ang="0">
                  <a:pos x="131" y="131"/>
                </a:cxn>
                <a:cxn ang="0">
                  <a:pos x="149" y="107"/>
                </a:cxn>
                <a:cxn ang="0">
                  <a:pos x="155" y="77"/>
                </a:cxn>
                <a:cxn ang="0">
                  <a:pos x="149" y="48"/>
                </a:cxn>
                <a:cxn ang="0">
                  <a:pos x="131" y="24"/>
                </a:cxn>
                <a:cxn ang="0">
                  <a:pos x="107" y="6"/>
                </a:cxn>
                <a:cxn ang="0">
                  <a:pos x="77" y="0"/>
                </a:cxn>
                <a:cxn ang="0">
                  <a:pos x="48" y="6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77"/>
                </a:cxn>
                <a:cxn ang="0">
                  <a:pos x="6" y="107"/>
                </a:cxn>
                <a:cxn ang="0">
                  <a:pos x="24" y="131"/>
                </a:cxn>
                <a:cxn ang="0">
                  <a:pos x="48" y="149"/>
                </a:cxn>
                <a:cxn ang="0">
                  <a:pos x="77" y="155"/>
                </a:cxn>
                <a:cxn ang="0">
                  <a:pos x="77" y="155"/>
                </a:cxn>
              </a:cxnLst>
              <a:rect l="txL" t="txT" r="txR" b="txB"/>
              <a:pathLst>
                <a:path w="155" h="155">
                  <a:moveTo>
                    <a:pt x="77" y="155"/>
                  </a:moveTo>
                  <a:lnTo>
                    <a:pt x="107" y="149"/>
                  </a:lnTo>
                  <a:lnTo>
                    <a:pt x="131" y="131"/>
                  </a:lnTo>
                  <a:lnTo>
                    <a:pt x="149" y="107"/>
                  </a:lnTo>
                  <a:lnTo>
                    <a:pt x="155" y="77"/>
                  </a:lnTo>
                  <a:lnTo>
                    <a:pt x="149" y="48"/>
                  </a:lnTo>
                  <a:lnTo>
                    <a:pt x="131" y="24"/>
                  </a:lnTo>
                  <a:lnTo>
                    <a:pt x="107" y="6"/>
                  </a:lnTo>
                  <a:lnTo>
                    <a:pt x="77" y="0"/>
                  </a:lnTo>
                  <a:lnTo>
                    <a:pt x="48" y="6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77"/>
                  </a:lnTo>
                  <a:lnTo>
                    <a:pt x="6" y="107"/>
                  </a:lnTo>
                  <a:lnTo>
                    <a:pt x="24" y="131"/>
                  </a:lnTo>
                  <a:lnTo>
                    <a:pt x="48" y="149"/>
                  </a:lnTo>
                  <a:lnTo>
                    <a:pt x="77" y="1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6" name="Freeform 61"/>
            <p:cNvSpPr>
              <a:spLocks noChangeAspect="1"/>
            </p:cNvSpPr>
            <p:nvPr/>
          </p:nvSpPr>
          <p:spPr>
            <a:xfrm>
              <a:off x="3616" y="942"/>
              <a:ext cx="78" cy="78"/>
            </a:xfrm>
            <a:custGeom>
              <a:avLst/>
              <a:gdLst>
                <a:gd name="txL" fmla="*/ 0 w 78"/>
                <a:gd name="txT" fmla="*/ 0 h 78"/>
                <a:gd name="txR" fmla="*/ 78 w 78"/>
                <a:gd name="txB" fmla="*/ 78 h 78"/>
              </a:gdLst>
              <a:ahLst/>
              <a:cxnLst>
                <a:cxn ang="0">
                  <a:pos x="0" y="78"/>
                </a:cxn>
                <a:cxn ang="0">
                  <a:pos x="30" y="72"/>
                </a:cxn>
                <a:cxn ang="0">
                  <a:pos x="54" y="54"/>
                </a:cxn>
                <a:cxn ang="0">
                  <a:pos x="72" y="30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72" y="30"/>
                </a:cxn>
                <a:cxn ang="0">
                  <a:pos x="54" y="54"/>
                </a:cxn>
                <a:cxn ang="0">
                  <a:pos x="30" y="72"/>
                </a:cxn>
                <a:cxn ang="0">
                  <a:pos x="0" y="78"/>
                </a:cxn>
                <a:cxn ang="0">
                  <a:pos x="0" y="78"/>
                </a:cxn>
              </a:cxnLst>
              <a:rect l="txL" t="txT" r="txR" b="txB"/>
              <a:pathLst>
                <a:path w="78" h="78">
                  <a:moveTo>
                    <a:pt x="0" y="78"/>
                  </a:moveTo>
                  <a:lnTo>
                    <a:pt x="30" y="72"/>
                  </a:lnTo>
                  <a:lnTo>
                    <a:pt x="54" y="54"/>
                  </a:lnTo>
                  <a:lnTo>
                    <a:pt x="72" y="30"/>
                  </a:lnTo>
                  <a:lnTo>
                    <a:pt x="78" y="0"/>
                  </a:lnTo>
                  <a:lnTo>
                    <a:pt x="72" y="30"/>
                  </a:lnTo>
                  <a:lnTo>
                    <a:pt x="54" y="54"/>
                  </a:lnTo>
                  <a:lnTo>
                    <a:pt x="30" y="72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7" name="Freeform 62"/>
            <p:cNvSpPr>
              <a:spLocks noChangeAspect="1" noEditPoints="1"/>
            </p:cNvSpPr>
            <p:nvPr/>
          </p:nvSpPr>
          <p:spPr>
            <a:xfrm>
              <a:off x="3616" y="865"/>
              <a:ext cx="78" cy="77"/>
            </a:xfrm>
            <a:custGeom>
              <a:avLst/>
              <a:gdLst>
                <a:gd name="txL" fmla="*/ 0 w 78"/>
                <a:gd name="txT" fmla="*/ 0 h 77"/>
                <a:gd name="txR" fmla="*/ 78 w 78"/>
                <a:gd name="txB" fmla="*/ 77 h 77"/>
              </a:gdLst>
              <a:ahLst/>
              <a:cxnLst>
                <a:cxn ang="0">
                  <a:pos x="78" y="77"/>
                </a:cxn>
                <a:cxn ang="0">
                  <a:pos x="72" y="48"/>
                </a:cxn>
                <a:cxn ang="0">
                  <a:pos x="54" y="24"/>
                </a:cxn>
                <a:cxn ang="0">
                  <a:pos x="3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0" y="6"/>
                </a:cxn>
                <a:cxn ang="0">
                  <a:pos x="54" y="24"/>
                </a:cxn>
                <a:cxn ang="0">
                  <a:pos x="72" y="48"/>
                </a:cxn>
                <a:cxn ang="0">
                  <a:pos x="78" y="77"/>
                </a:cxn>
                <a:cxn ang="0">
                  <a:pos x="78" y="77"/>
                </a:cxn>
                <a:cxn ang="0">
                  <a:pos x="78" y="77"/>
                </a:cxn>
                <a:cxn ang="0">
                  <a:pos x="78" y="77"/>
                </a:cxn>
                <a:cxn ang="0">
                  <a:pos x="78" y="77"/>
                </a:cxn>
              </a:cxnLst>
              <a:rect l="txL" t="txT" r="txR" b="txB"/>
              <a:pathLst>
                <a:path w="78" h="77">
                  <a:moveTo>
                    <a:pt x="78" y="77"/>
                  </a:moveTo>
                  <a:lnTo>
                    <a:pt x="72" y="48"/>
                  </a:lnTo>
                  <a:lnTo>
                    <a:pt x="54" y="24"/>
                  </a:lnTo>
                  <a:lnTo>
                    <a:pt x="30" y="6"/>
                  </a:lnTo>
                  <a:lnTo>
                    <a:pt x="0" y="0"/>
                  </a:lnTo>
                  <a:lnTo>
                    <a:pt x="30" y="6"/>
                  </a:lnTo>
                  <a:lnTo>
                    <a:pt x="54" y="24"/>
                  </a:lnTo>
                  <a:lnTo>
                    <a:pt x="72" y="48"/>
                  </a:lnTo>
                  <a:lnTo>
                    <a:pt x="78" y="77"/>
                  </a:lnTo>
                  <a:close/>
                  <a:moveTo>
                    <a:pt x="78" y="77"/>
                  </a:moveTo>
                  <a:lnTo>
                    <a:pt x="78" y="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8" name="Freeform 63"/>
            <p:cNvSpPr>
              <a:spLocks noChangeAspect="1" noEditPoints="1"/>
            </p:cNvSpPr>
            <p:nvPr/>
          </p:nvSpPr>
          <p:spPr>
            <a:xfrm>
              <a:off x="3539" y="865"/>
              <a:ext cx="77" cy="77"/>
            </a:xfrm>
            <a:custGeom>
              <a:avLst/>
              <a:gdLst>
                <a:gd name="txL" fmla="*/ 0 w 77"/>
                <a:gd name="txT" fmla="*/ 0 h 77"/>
                <a:gd name="txR" fmla="*/ 77 w 77"/>
                <a:gd name="txB" fmla="*/ 77 h 77"/>
              </a:gdLst>
              <a:ahLst/>
              <a:cxnLst>
                <a:cxn ang="0">
                  <a:pos x="77" y="0"/>
                </a:cxn>
                <a:cxn ang="0">
                  <a:pos x="48" y="6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6" y="48"/>
                </a:cxn>
                <a:cxn ang="0">
                  <a:pos x="24" y="24"/>
                </a:cxn>
                <a:cxn ang="0">
                  <a:pos x="48" y="6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</a:cxnLst>
              <a:rect l="txL" t="txT" r="txR" b="txB"/>
              <a:pathLst>
                <a:path w="77" h="77">
                  <a:moveTo>
                    <a:pt x="77" y="0"/>
                  </a:moveTo>
                  <a:lnTo>
                    <a:pt x="48" y="6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77"/>
                  </a:lnTo>
                  <a:lnTo>
                    <a:pt x="6" y="48"/>
                  </a:lnTo>
                  <a:lnTo>
                    <a:pt x="24" y="24"/>
                  </a:lnTo>
                  <a:lnTo>
                    <a:pt x="48" y="6"/>
                  </a:lnTo>
                  <a:lnTo>
                    <a:pt x="77" y="0"/>
                  </a:lnTo>
                  <a:close/>
                  <a:moveTo>
                    <a:pt x="77" y="0"/>
                  </a:moveTo>
                  <a:lnTo>
                    <a:pt x="7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9" name="Freeform 64"/>
            <p:cNvSpPr>
              <a:spLocks noChangeAspect="1" noEditPoints="1"/>
            </p:cNvSpPr>
            <p:nvPr/>
          </p:nvSpPr>
          <p:spPr>
            <a:xfrm>
              <a:off x="3539" y="942"/>
              <a:ext cx="77" cy="78"/>
            </a:xfrm>
            <a:custGeom>
              <a:avLst/>
              <a:gdLst>
                <a:gd name="txL" fmla="*/ 0 w 77"/>
                <a:gd name="txT" fmla="*/ 0 h 78"/>
                <a:gd name="txR" fmla="*/ 77 w 77"/>
                <a:gd name="txB" fmla="*/ 78 h 78"/>
              </a:gdLst>
              <a:ahLst/>
              <a:cxnLst>
                <a:cxn ang="0">
                  <a:pos x="0" y="0"/>
                </a:cxn>
                <a:cxn ang="0">
                  <a:pos x="6" y="30"/>
                </a:cxn>
                <a:cxn ang="0">
                  <a:pos x="24" y="54"/>
                </a:cxn>
                <a:cxn ang="0">
                  <a:pos x="48" y="72"/>
                </a:cxn>
                <a:cxn ang="0">
                  <a:pos x="77" y="78"/>
                </a:cxn>
                <a:cxn ang="0">
                  <a:pos x="77" y="78"/>
                </a:cxn>
                <a:cxn ang="0">
                  <a:pos x="48" y="72"/>
                </a:cxn>
                <a:cxn ang="0">
                  <a:pos x="24" y="54"/>
                </a:cxn>
                <a:cxn ang="0">
                  <a:pos x="6" y="3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7" h="78">
                  <a:moveTo>
                    <a:pt x="0" y="0"/>
                  </a:moveTo>
                  <a:lnTo>
                    <a:pt x="6" y="30"/>
                  </a:lnTo>
                  <a:lnTo>
                    <a:pt x="24" y="54"/>
                  </a:lnTo>
                  <a:lnTo>
                    <a:pt x="48" y="72"/>
                  </a:lnTo>
                  <a:lnTo>
                    <a:pt x="77" y="78"/>
                  </a:lnTo>
                  <a:lnTo>
                    <a:pt x="48" y="72"/>
                  </a:lnTo>
                  <a:lnTo>
                    <a:pt x="24" y="54"/>
                  </a:lnTo>
                  <a:lnTo>
                    <a:pt x="6" y="3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0" name="Freeform 65"/>
            <p:cNvSpPr>
              <a:spLocks noChangeAspect="1"/>
            </p:cNvSpPr>
            <p:nvPr/>
          </p:nvSpPr>
          <p:spPr>
            <a:xfrm>
              <a:off x="3616" y="102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1" name="Freeform 66"/>
            <p:cNvSpPr>
              <a:spLocks noChangeAspect="1"/>
            </p:cNvSpPr>
            <p:nvPr/>
          </p:nvSpPr>
          <p:spPr>
            <a:xfrm>
              <a:off x="3533" y="3295"/>
              <a:ext cx="155" cy="149"/>
            </a:xfrm>
            <a:custGeom>
              <a:avLst/>
              <a:gdLst>
                <a:gd name="txL" fmla="*/ 0 w 155"/>
                <a:gd name="txT" fmla="*/ 0 h 149"/>
                <a:gd name="txR" fmla="*/ 155 w 155"/>
                <a:gd name="txB" fmla="*/ 149 h 149"/>
              </a:gdLst>
              <a:ahLst/>
              <a:cxnLst>
                <a:cxn ang="0">
                  <a:pos x="77" y="149"/>
                </a:cxn>
                <a:cxn ang="0">
                  <a:pos x="107" y="143"/>
                </a:cxn>
                <a:cxn ang="0">
                  <a:pos x="131" y="125"/>
                </a:cxn>
                <a:cxn ang="0">
                  <a:pos x="149" y="102"/>
                </a:cxn>
                <a:cxn ang="0">
                  <a:pos x="155" y="72"/>
                </a:cxn>
                <a:cxn ang="0">
                  <a:pos x="149" y="42"/>
                </a:cxn>
                <a:cxn ang="0">
                  <a:pos x="131" y="18"/>
                </a:cxn>
                <a:cxn ang="0">
                  <a:pos x="107" y="6"/>
                </a:cxn>
                <a:cxn ang="0">
                  <a:pos x="77" y="0"/>
                </a:cxn>
                <a:cxn ang="0">
                  <a:pos x="48" y="6"/>
                </a:cxn>
                <a:cxn ang="0">
                  <a:pos x="24" y="18"/>
                </a:cxn>
                <a:cxn ang="0">
                  <a:pos x="6" y="42"/>
                </a:cxn>
                <a:cxn ang="0">
                  <a:pos x="0" y="72"/>
                </a:cxn>
                <a:cxn ang="0">
                  <a:pos x="6" y="102"/>
                </a:cxn>
                <a:cxn ang="0">
                  <a:pos x="24" y="125"/>
                </a:cxn>
                <a:cxn ang="0">
                  <a:pos x="48" y="143"/>
                </a:cxn>
                <a:cxn ang="0">
                  <a:pos x="77" y="149"/>
                </a:cxn>
                <a:cxn ang="0">
                  <a:pos x="77" y="149"/>
                </a:cxn>
              </a:cxnLst>
              <a:rect l="txL" t="txT" r="txR" b="txB"/>
              <a:pathLst>
                <a:path w="155" h="149">
                  <a:moveTo>
                    <a:pt x="77" y="149"/>
                  </a:moveTo>
                  <a:lnTo>
                    <a:pt x="107" y="143"/>
                  </a:lnTo>
                  <a:lnTo>
                    <a:pt x="131" y="125"/>
                  </a:lnTo>
                  <a:lnTo>
                    <a:pt x="149" y="102"/>
                  </a:lnTo>
                  <a:lnTo>
                    <a:pt x="155" y="72"/>
                  </a:lnTo>
                  <a:lnTo>
                    <a:pt x="149" y="42"/>
                  </a:lnTo>
                  <a:lnTo>
                    <a:pt x="131" y="18"/>
                  </a:lnTo>
                  <a:lnTo>
                    <a:pt x="107" y="6"/>
                  </a:lnTo>
                  <a:lnTo>
                    <a:pt x="77" y="0"/>
                  </a:lnTo>
                  <a:lnTo>
                    <a:pt x="48" y="6"/>
                  </a:lnTo>
                  <a:lnTo>
                    <a:pt x="24" y="18"/>
                  </a:lnTo>
                  <a:lnTo>
                    <a:pt x="6" y="42"/>
                  </a:lnTo>
                  <a:lnTo>
                    <a:pt x="0" y="72"/>
                  </a:lnTo>
                  <a:lnTo>
                    <a:pt x="6" y="102"/>
                  </a:lnTo>
                  <a:lnTo>
                    <a:pt x="24" y="125"/>
                  </a:lnTo>
                  <a:lnTo>
                    <a:pt x="48" y="143"/>
                  </a:lnTo>
                  <a:lnTo>
                    <a:pt x="77" y="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2" name="Freeform 67"/>
            <p:cNvSpPr>
              <a:spLocks noChangeAspect="1"/>
            </p:cNvSpPr>
            <p:nvPr/>
          </p:nvSpPr>
          <p:spPr>
            <a:xfrm>
              <a:off x="3610" y="3367"/>
              <a:ext cx="78" cy="77"/>
            </a:xfrm>
            <a:custGeom>
              <a:avLst/>
              <a:gdLst>
                <a:gd name="txL" fmla="*/ 0 w 78"/>
                <a:gd name="txT" fmla="*/ 0 h 77"/>
                <a:gd name="txR" fmla="*/ 78 w 78"/>
                <a:gd name="txB" fmla="*/ 77 h 77"/>
              </a:gdLst>
              <a:ahLst/>
              <a:cxnLst>
                <a:cxn ang="0">
                  <a:pos x="0" y="77"/>
                </a:cxn>
                <a:cxn ang="0">
                  <a:pos x="30" y="71"/>
                </a:cxn>
                <a:cxn ang="0">
                  <a:pos x="54" y="53"/>
                </a:cxn>
                <a:cxn ang="0">
                  <a:pos x="72" y="30"/>
                </a:cxn>
                <a:cxn ang="0">
                  <a:pos x="78" y="0"/>
                </a:cxn>
                <a:cxn ang="0">
                  <a:pos x="78" y="0"/>
                </a:cxn>
                <a:cxn ang="0">
                  <a:pos x="72" y="30"/>
                </a:cxn>
                <a:cxn ang="0">
                  <a:pos x="54" y="53"/>
                </a:cxn>
                <a:cxn ang="0">
                  <a:pos x="30" y="71"/>
                </a:cxn>
                <a:cxn ang="0">
                  <a:pos x="0" y="77"/>
                </a:cxn>
                <a:cxn ang="0">
                  <a:pos x="0" y="77"/>
                </a:cxn>
              </a:cxnLst>
              <a:rect l="txL" t="txT" r="txR" b="txB"/>
              <a:pathLst>
                <a:path w="78" h="77">
                  <a:moveTo>
                    <a:pt x="0" y="77"/>
                  </a:moveTo>
                  <a:lnTo>
                    <a:pt x="30" y="71"/>
                  </a:lnTo>
                  <a:lnTo>
                    <a:pt x="54" y="53"/>
                  </a:lnTo>
                  <a:lnTo>
                    <a:pt x="72" y="30"/>
                  </a:lnTo>
                  <a:lnTo>
                    <a:pt x="78" y="0"/>
                  </a:lnTo>
                  <a:lnTo>
                    <a:pt x="72" y="30"/>
                  </a:lnTo>
                  <a:lnTo>
                    <a:pt x="54" y="53"/>
                  </a:lnTo>
                  <a:lnTo>
                    <a:pt x="30" y="71"/>
                  </a:lnTo>
                  <a:lnTo>
                    <a:pt x="0" y="7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3" name="Freeform 68"/>
            <p:cNvSpPr>
              <a:spLocks noChangeAspect="1" noEditPoints="1"/>
            </p:cNvSpPr>
            <p:nvPr/>
          </p:nvSpPr>
          <p:spPr>
            <a:xfrm>
              <a:off x="3610" y="3295"/>
              <a:ext cx="78" cy="72"/>
            </a:xfrm>
            <a:custGeom>
              <a:avLst/>
              <a:gdLst>
                <a:gd name="txL" fmla="*/ 0 w 78"/>
                <a:gd name="txT" fmla="*/ 0 h 72"/>
                <a:gd name="txR" fmla="*/ 78 w 78"/>
                <a:gd name="txB" fmla="*/ 72 h 72"/>
              </a:gdLst>
              <a:ahLst/>
              <a:cxnLst>
                <a:cxn ang="0">
                  <a:pos x="78" y="72"/>
                </a:cxn>
                <a:cxn ang="0">
                  <a:pos x="72" y="42"/>
                </a:cxn>
                <a:cxn ang="0">
                  <a:pos x="54" y="18"/>
                </a:cxn>
                <a:cxn ang="0">
                  <a:pos x="3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30" y="6"/>
                </a:cxn>
                <a:cxn ang="0">
                  <a:pos x="54" y="18"/>
                </a:cxn>
                <a:cxn ang="0">
                  <a:pos x="72" y="42"/>
                </a:cxn>
                <a:cxn ang="0">
                  <a:pos x="78" y="72"/>
                </a:cxn>
                <a:cxn ang="0">
                  <a:pos x="78" y="72"/>
                </a:cxn>
                <a:cxn ang="0">
                  <a:pos x="78" y="72"/>
                </a:cxn>
                <a:cxn ang="0">
                  <a:pos x="78" y="72"/>
                </a:cxn>
                <a:cxn ang="0">
                  <a:pos x="78" y="72"/>
                </a:cxn>
              </a:cxnLst>
              <a:rect l="txL" t="txT" r="txR" b="txB"/>
              <a:pathLst>
                <a:path w="78" h="72">
                  <a:moveTo>
                    <a:pt x="78" y="72"/>
                  </a:moveTo>
                  <a:lnTo>
                    <a:pt x="72" y="42"/>
                  </a:lnTo>
                  <a:lnTo>
                    <a:pt x="54" y="18"/>
                  </a:lnTo>
                  <a:lnTo>
                    <a:pt x="30" y="6"/>
                  </a:lnTo>
                  <a:lnTo>
                    <a:pt x="0" y="0"/>
                  </a:lnTo>
                  <a:lnTo>
                    <a:pt x="30" y="6"/>
                  </a:lnTo>
                  <a:lnTo>
                    <a:pt x="54" y="18"/>
                  </a:lnTo>
                  <a:lnTo>
                    <a:pt x="72" y="42"/>
                  </a:lnTo>
                  <a:lnTo>
                    <a:pt x="78" y="72"/>
                  </a:lnTo>
                  <a:close/>
                  <a:moveTo>
                    <a:pt x="78" y="72"/>
                  </a:moveTo>
                  <a:lnTo>
                    <a:pt x="78" y="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4" name="Freeform 69"/>
            <p:cNvSpPr>
              <a:spLocks noChangeAspect="1" noEditPoints="1"/>
            </p:cNvSpPr>
            <p:nvPr/>
          </p:nvSpPr>
          <p:spPr>
            <a:xfrm>
              <a:off x="3533" y="3295"/>
              <a:ext cx="77" cy="72"/>
            </a:xfrm>
            <a:custGeom>
              <a:avLst/>
              <a:gdLst>
                <a:gd name="txL" fmla="*/ 0 w 77"/>
                <a:gd name="txT" fmla="*/ 0 h 72"/>
                <a:gd name="txR" fmla="*/ 77 w 77"/>
                <a:gd name="txB" fmla="*/ 72 h 72"/>
              </a:gdLst>
              <a:ahLst/>
              <a:cxnLst>
                <a:cxn ang="0">
                  <a:pos x="77" y="0"/>
                </a:cxn>
                <a:cxn ang="0">
                  <a:pos x="48" y="6"/>
                </a:cxn>
                <a:cxn ang="0">
                  <a:pos x="24" y="18"/>
                </a:cxn>
                <a:cxn ang="0">
                  <a:pos x="6" y="42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6" y="42"/>
                </a:cxn>
                <a:cxn ang="0">
                  <a:pos x="24" y="18"/>
                </a:cxn>
                <a:cxn ang="0">
                  <a:pos x="48" y="6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  <a:cxn ang="0">
                  <a:pos x="77" y="0"/>
                </a:cxn>
              </a:cxnLst>
              <a:rect l="txL" t="txT" r="txR" b="txB"/>
              <a:pathLst>
                <a:path w="77" h="72">
                  <a:moveTo>
                    <a:pt x="77" y="0"/>
                  </a:moveTo>
                  <a:lnTo>
                    <a:pt x="48" y="6"/>
                  </a:lnTo>
                  <a:lnTo>
                    <a:pt x="24" y="18"/>
                  </a:lnTo>
                  <a:lnTo>
                    <a:pt x="6" y="42"/>
                  </a:lnTo>
                  <a:lnTo>
                    <a:pt x="0" y="72"/>
                  </a:lnTo>
                  <a:lnTo>
                    <a:pt x="6" y="42"/>
                  </a:lnTo>
                  <a:lnTo>
                    <a:pt x="24" y="18"/>
                  </a:lnTo>
                  <a:lnTo>
                    <a:pt x="48" y="6"/>
                  </a:lnTo>
                  <a:lnTo>
                    <a:pt x="77" y="0"/>
                  </a:lnTo>
                  <a:close/>
                  <a:moveTo>
                    <a:pt x="77" y="0"/>
                  </a:moveTo>
                  <a:lnTo>
                    <a:pt x="7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5" name="Freeform 70"/>
            <p:cNvSpPr>
              <a:spLocks noChangeAspect="1" noEditPoints="1"/>
            </p:cNvSpPr>
            <p:nvPr/>
          </p:nvSpPr>
          <p:spPr>
            <a:xfrm>
              <a:off x="3533" y="3367"/>
              <a:ext cx="77" cy="77"/>
            </a:xfrm>
            <a:custGeom>
              <a:avLst/>
              <a:gdLst>
                <a:gd name="txL" fmla="*/ 0 w 77"/>
                <a:gd name="txT" fmla="*/ 0 h 77"/>
                <a:gd name="txR" fmla="*/ 77 w 77"/>
                <a:gd name="txB" fmla="*/ 77 h 77"/>
              </a:gdLst>
              <a:ahLst/>
              <a:cxnLst>
                <a:cxn ang="0">
                  <a:pos x="0" y="0"/>
                </a:cxn>
                <a:cxn ang="0">
                  <a:pos x="6" y="30"/>
                </a:cxn>
                <a:cxn ang="0">
                  <a:pos x="24" y="53"/>
                </a:cxn>
                <a:cxn ang="0">
                  <a:pos x="48" y="71"/>
                </a:cxn>
                <a:cxn ang="0">
                  <a:pos x="77" y="77"/>
                </a:cxn>
                <a:cxn ang="0">
                  <a:pos x="77" y="77"/>
                </a:cxn>
                <a:cxn ang="0">
                  <a:pos x="48" y="71"/>
                </a:cxn>
                <a:cxn ang="0">
                  <a:pos x="24" y="53"/>
                </a:cxn>
                <a:cxn ang="0">
                  <a:pos x="6" y="3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7" h="77">
                  <a:moveTo>
                    <a:pt x="0" y="0"/>
                  </a:moveTo>
                  <a:lnTo>
                    <a:pt x="6" y="30"/>
                  </a:lnTo>
                  <a:lnTo>
                    <a:pt x="24" y="53"/>
                  </a:lnTo>
                  <a:lnTo>
                    <a:pt x="48" y="71"/>
                  </a:lnTo>
                  <a:lnTo>
                    <a:pt x="77" y="77"/>
                  </a:lnTo>
                  <a:lnTo>
                    <a:pt x="48" y="71"/>
                  </a:lnTo>
                  <a:lnTo>
                    <a:pt x="24" y="53"/>
                  </a:lnTo>
                  <a:lnTo>
                    <a:pt x="6" y="3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6" name="Freeform 71"/>
            <p:cNvSpPr>
              <a:spLocks noChangeAspect="1"/>
            </p:cNvSpPr>
            <p:nvPr/>
          </p:nvSpPr>
          <p:spPr>
            <a:xfrm>
              <a:off x="3610" y="3444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7" name="Freeform 72"/>
            <p:cNvSpPr>
              <a:spLocks noChangeAspect="1"/>
            </p:cNvSpPr>
            <p:nvPr/>
          </p:nvSpPr>
          <p:spPr>
            <a:xfrm>
              <a:off x="2289" y="1898"/>
              <a:ext cx="556" cy="555"/>
            </a:xfrm>
            <a:custGeom>
              <a:avLst/>
              <a:gdLst>
                <a:gd name="txL" fmla="*/ 0 w 556"/>
                <a:gd name="txT" fmla="*/ 0 h 555"/>
                <a:gd name="txR" fmla="*/ 556 w 556"/>
                <a:gd name="txB" fmla="*/ 555 h 555"/>
              </a:gdLst>
              <a:ahLst/>
              <a:cxnLst>
                <a:cxn ang="0">
                  <a:pos x="275" y="555"/>
                </a:cxn>
                <a:cxn ang="0">
                  <a:pos x="335" y="549"/>
                </a:cxn>
                <a:cxn ang="0">
                  <a:pos x="383" y="531"/>
                </a:cxn>
                <a:cxn ang="0">
                  <a:pos x="431" y="507"/>
                </a:cxn>
                <a:cxn ang="0">
                  <a:pos x="472" y="471"/>
                </a:cxn>
                <a:cxn ang="0">
                  <a:pos x="508" y="430"/>
                </a:cxn>
                <a:cxn ang="0">
                  <a:pos x="532" y="382"/>
                </a:cxn>
                <a:cxn ang="0">
                  <a:pos x="550" y="334"/>
                </a:cxn>
                <a:cxn ang="0">
                  <a:pos x="556" y="274"/>
                </a:cxn>
                <a:cxn ang="0">
                  <a:pos x="550" y="221"/>
                </a:cxn>
                <a:cxn ang="0">
                  <a:pos x="532" y="167"/>
                </a:cxn>
                <a:cxn ang="0">
                  <a:pos x="508" y="119"/>
                </a:cxn>
                <a:cxn ang="0">
                  <a:pos x="472" y="83"/>
                </a:cxn>
                <a:cxn ang="0">
                  <a:pos x="431" y="48"/>
                </a:cxn>
                <a:cxn ang="0">
                  <a:pos x="383" y="24"/>
                </a:cxn>
                <a:cxn ang="0">
                  <a:pos x="335" y="6"/>
                </a:cxn>
                <a:cxn ang="0">
                  <a:pos x="275" y="0"/>
                </a:cxn>
                <a:cxn ang="0">
                  <a:pos x="221" y="6"/>
                </a:cxn>
                <a:cxn ang="0">
                  <a:pos x="167" y="24"/>
                </a:cxn>
                <a:cxn ang="0">
                  <a:pos x="120" y="48"/>
                </a:cxn>
                <a:cxn ang="0">
                  <a:pos x="84" y="83"/>
                </a:cxn>
                <a:cxn ang="0">
                  <a:pos x="48" y="119"/>
                </a:cxn>
                <a:cxn ang="0">
                  <a:pos x="24" y="167"/>
                </a:cxn>
                <a:cxn ang="0">
                  <a:pos x="6" y="221"/>
                </a:cxn>
                <a:cxn ang="0">
                  <a:pos x="0" y="274"/>
                </a:cxn>
                <a:cxn ang="0">
                  <a:pos x="6" y="334"/>
                </a:cxn>
                <a:cxn ang="0">
                  <a:pos x="24" y="382"/>
                </a:cxn>
                <a:cxn ang="0">
                  <a:pos x="48" y="430"/>
                </a:cxn>
                <a:cxn ang="0">
                  <a:pos x="84" y="471"/>
                </a:cxn>
                <a:cxn ang="0">
                  <a:pos x="120" y="507"/>
                </a:cxn>
                <a:cxn ang="0">
                  <a:pos x="167" y="531"/>
                </a:cxn>
                <a:cxn ang="0">
                  <a:pos x="221" y="549"/>
                </a:cxn>
                <a:cxn ang="0">
                  <a:pos x="275" y="555"/>
                </a:cxn>
                <a:cxn ang="0">
                  <a:pos x="275" y="555"/>
                </a:cxn>
              </a:cxnLst>
              <a:rect l="txL" t="txT" r="txR" b="txB"/>
              <a:pathLst>
                <a:path w="556" h="555">
                  <a:moveTo>
                    <a:pt x="275" y="555"/>
                  </a:moveTo>
                  <a:lnTo>
                    <a:pt x="335" y="549"/>
                  </a:lnTo>
                  <a:lnTo>
                    <a:pt x="383" y="531"/>
                  </a:lnTo>
                  <a:lnTo>
                    <a:pt x="431" y="507"/>
                  </a:lnTo>
                  <a:lnTo>
                    <a:pt x="472" y="471"/>
                  </a:lnTo>
                  <a:lnTo>
                    <a:pt x="508" y="430"/>
                  </a:lnTo>
                  <a:lnTo>
                    <a:pt x="532" y="382"/>
                  </a:lnTo>
                  <a:lnTo>
                    <a:pt x="550" y="334"/>
                  </a:lnTo>
                  <a:lnTo>
                    <a:pt x="556" y="274"/>
                  </a:lnTo>
                  <a:lnTo>
                    <a:pt x="550" y="221"/>
                  </a:lnTo>
                  <a:lnTo>
                    <a:pt x="532" y="167"/>
                  </a:lnTo>
                  <a:lnTo>
                    <a:pt x="508" y="119"/>
                  </a:lnTo>
                  <a:lnTo>
                    <a:pt x="472" y="83"/>
                  </a:lnTo>
                  <a:lnTo>
                    <a:pt x="431" y="48"/>
                  </a:lnTo>
                  <a:lnTo>
                    <a:pt x="383" y="24"/>
                  </a:lnTo>
                  <a:lnTo>
                    <a:pt x="335" y="6"/>
                  </a:lnTo>
                  <a:lnTo>
                    <a:pt x="275" y="0"/>
                  </a:lnTo>
                  <a:lnTo>
                    <a:pt x="221" y="6"/>
                  </a:lnTo>
                  <a:lnTo>
                    <a:pt x="167" y="24"/>
                  </a:lnTo>
                  <a:lnTo>
                    <a:pt x="120" y="48"/>
                  </a:lnTo>
                  <a:lnTo>
                    <a:pt x="84" y="83"/>
                  </a:lnTo>
                  <a:lnTo>
                    <a:pt x="48" y="119"/>
                  </a:lnTo>
                  <a:lnTo>
                    <a:pt x="24" y="167"/>
                  </a:lnTo>
                  <a:lnTo>
                    <a:pt x="6" y="221"/>
                  </a:lnTo>
                  <a:lnTo>
                    <a:pt x="0" y="274"/>
                  </a:lnTo>
                  <a:lnTo>
                    <a:pt x="6" y="334"/>
                  </a:lnTo>
                  <a:lnTo>
                    <a:pt x="24" y="382"/>
                  </a:lnTo>
                  <a:lnTo>
                    <a:pt x="48" y="430"/>
                  </a:lnTo>
                  <a:lnTo>
                    <a:pt x="84" y="471"/>
                  </a:lnTo>
                  <a:lnTo>
                    <a:pt x="120" y="507"/>
                  </a:lnTo>
                  <a:lnTo>
                    <a:pt x="167" y="531"/>
                  </a:lnTo>
                  <a:lnTo>
                    <a:pt x="221" y="549"/>
                  </a:lnTo>
                  <a:lnTo>
                    <a:pt x="275" y="555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8" name="Freeform 73"/>
            <p:cNvSpPr>
              <a:spLocks noChangeAspect="1"/>
            </p:cNvSpPr>
            <p:nvPr/>
          </p:nvSpPr>
          <p:spPr>
            <a:xfrm>
              <a:off x="2564" y="2172"/>
              <a:ext cx="281" cy="281"/>
            </a:xfrm>
            <a:custGeom>
              <a:avLst/>
              <a:gdLst>
                <a:gd name="txL" fmla="*/ 0 w 281"/>
                <a:gd name="txT" fmla="*/ 0 h 281"/>
                <a:gd name="txR" fmla="*/ 281 w 281"/>
                <a:gd name="txB" fmla="*/ 281 h 281"/>
              </a:gdLst>
              <a:ahLst/>
              <a:cxnLst>
                <a:cxn ang="0">
                  <a:pos x="0" y="281"/>
                </a:cxn>
                <a:cxn ang="0">
                  <a:pos x="60" y="275"/>
                </a:cxn>
                <a:cxn ang="0">
                  <a:pos x="108" y="257"/>
                </a:cxn>
                <a:cxn ang="0">
                  <a:pos x="156" y="233"/>
                </a:cxn>
                <a:cxn ang="0">
                  <a:pos x="197" y="197"/>
                </a:cxn>
                <a:cxn ang="0">
                  <a:pos x="233" y="156"/>
                </a:cxn>
                <a:cxn ang="0">
                  <a:pos x="257" y="108"/>
                </a:cxn>
                <a:cxn ang="0">
                  <a:pos x="275" y="60"/>
                </a:cxn>
                <a:cxn ang="0">
                  <a:pos x="281" y="0"/>
                </a:cxn>
                <a:cxn ang="0">
                  <a:pos x="281" y="0"/>
                </a:cxn>
                <a:cxn ang="0">
                  <a:pos x="275" y="60"/>
                </a:cxn>
                <a:cxn ang="0">
                  <a:pos x="257" y="108"/>
                </a:cxn>
                <a:cxn ang="0">
                  <a:pos x="233" y="156"/>
                </a:cxn>
                <a:cxn ang="0">
                  <a:pos x="197" y="197"/>
                </a:cxn>
                <a:cxn ang="0">
                  <a:pos x="156" y="233"/>
                </a:cxn>
                <a:cxn ang="0">
                  <a:pos x="108" y="257"/>
                </a:cxn>
                <a:cxn ang="0">
                  <a:pos x="60" y="275"/>
                </a:cxn>
                <a:cxn ang="0">
                  <a:pos x="0" y="281"/>
                </a:cxn>
                <a:cxn ang="0">
                  <a:pos x="0" y="281"/>
                </a:cxn>
              </a:cxnLst>
              <a:rect l="txL" t="txT" r="txR" b="txB"/>
              <a:pathLst>
                <a:path w="281" h="281">
                  <a:moveTo>
                    <a:pt x="0" y="281"/>
                  </a:moveTo>
                  <a:lnTo>
                    <a:pt x="60" y="275"/>
                  </a:lnTo>
                  <a:lnTo>
                    <a:pt x="108" y="257"/>
                  </a:lnTo>
                  <a:lnTo>
                    <a:pt x="156" y="233"/>
                  </a:lnTo>
                  <a:lnTo>
                    <a:pt x="197" y="197"/>
                  </a:lnTo>
                  <a:lnTo>
                    <a:pt x="233" y="156"/>
                  </a:lnTo>
                  <a:lnTo>
                    <a:pt x="257" y="108"/>
                  </a:lnTo>
                  <a:lnTo>
                    <a:pt x="275" y="60"/>
                  </a:lnTo>
                  <a:lnTo>
                    <a:pt x="281" y="0"/>
                  </a:lnTo>
                  <a:lnTo>
                    <a:pt x="275" y="60"/>
                  </a:lnTo>
                  <a:lnTo>
                    <a:pt x="257" y="108"/>
                  </a:lnTo>
                  <a:lnTo>
                    <a:pt x="233" y="156"/>
                  </a:lnTo>
                  <a:lnTo>
                    <a:pt x="197" y="197"/>
                  </a:lnTo>
                  <a:lnTo>
                    <a:pt x="156" y="233"/>
                  </a:lnTo>
                  <a:lnTo>
                    <a:pt x="108" y="257"/>
                  </a:lnTo>
                  <a:lnTo>
                    <a:pt x="60" y="275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9" name="Freeform 74"/>
            <p:cNvSpPr>
              <a:spLocks noChangeAspect="1" noEditPoints="1"/>
            </p:cNvSpPr>
            <p:nvPr/>
          </p:nvSpPr>
          <p:spPr>
            <a:xfrm>
              <a:off x="2564" y="1898"/>
              <a:ext cx="281" cy="274"/>
            </a:xfrm>
            <a:custGeom>
              <a:avLst/>
              <a:gdLst>
                <a:gd name="txL" fmla="*/ 0 w 281"/>
                <a:gd name="txT" fmla="*/ 0 h 274"/>
                <a:gd name="txR" fmla="*/ 281 w 281"/>
                <a:gd name="txB" fmla="*/ 274 h 274"/>
              </a:gdLst>
              <a:ahLst/>
              <a:cxnLst>
                <a:cxn ang="0">
                  <a:pos x="281" y="274"/>
                </a:cxn>
                <a:cxn ang="0">
                  <a:pos x="275" y="221"/>
                </a:cxn>
                <a:cxn ang="0">
                  <a:pos x="257" y="167"/>
                </a:cxn>
                <a:cxn ang="0">
                  <a:pos x="233" y="119"/>
                </a:cxn>
                <a:cxn ang="0">
                  <a:pos x="197" y="83"/>
                </a:cxn>
                <a:cxn ang="0">
                  <a:pos x="156" y="48"/>
                </a:cxn>
                <a:cxn ang="0">
                  <a:pos x="108" y="24"/>
                </a:cxn>
                <a:cxn ang="0">
                  <a:pos x="60" y="6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60" y="6"/>
                </a:cxn>
                <a:cxn ang="0">
                  <a:pos x="108" y="24"/>
                </a:cxn>
                <a:cxn ang="0">
                  <a:pos x="156" y="48"/>
                </a:cxn>
                <a:cxn ang="0">
                  <a:pos x="197" y="83"/>
                </a:cxn>
                <a:cxn ang="0">
                  <a:pos x="233" y="119"/>
                </a:cxn>
                <a:cxn ang="0">
                  <a:pos x="257" y="167"/>
                </a:cxn>
                <a:cxn ang="0">
                  <a:pos x="275" y="221"/>
                </a:cxn>
                <a:cxn ang="0">
                  <a:pos x="281" y="274"/>
                </a:cxn>
                <a:cxn ang="0">
                  <a:pos x="281" y="274"/>
                </a:cxn>
                <a:cxn ang="0">
                  <a:pos x="281" y="274"/>
                </a:cxn>
                <a:cxn ang="0">
                  <a:pos x="281" y="274"/>
                </a:cxn>
                <a:cxn ang="0">
                  <a:pos x="281" y="274"/>
                </a:cxn>
              </a:cxnLst>
              <a:rect l="txL" t="txT" r="txR" b="txB"/>
              <a:pathLst>
                <a:path w="281" h="274">
                  <a:moveTo>
                    <a:pt x="281" y="274"/>
                  </a:moveTo>
                  <a:lnTo>
                    <a:pt x="275" y="221"/>
                  </a:lnTo>
                  <a:lnTo>
                    <a:pt x="257" y="167"/>
                  </a:lnTo>
                  <a:lnTo>
                    <a:pt x="233" y="119"/>
                  </a:lnTo>
                  <a:lnTo>
                    <a:pt x="197" y="83"/>
                  </a:lnTo>
                  <a:lnTo>
                    <a:pt x="156" y="48"/>
                  </a:lnTo>
                  <a:lnTo>
                    <a:pt x="108" y="24"/>
                  </a:lnTo>
                  <a:lnTo>
                    <a:pt x="60" y="6"/>
                  </a:lnTo>
                  <a:lnTo>
                    <a:pt x="0" y="0"/>
                  </a:lnTo>
                  <a:lnTo>
                    <a:pt x="60" y="6"/>
                  </a:lnTo>
                  <a:lnTo>
                    <a:pt x="108" y="24"/>
                  </a:lnTo>
                  <a:lnTo>
                    <a:pt x="156" y="48"/>
                  </a:lnTo>
                  <a:lnTo>
                    <a:pt x="197" y="83"/>
                  </a:lnTo>
                  <a:lnTo>
                    <a:pt x="233" y="119"/>
                  </a:lnTo>
                  <a:lnTo>
                    <a:pt x="257" y="167"/>
                  </a:lnTo>
                  <a:lnTo>
                    <a:pt x="275" y="221"/>
                  </a:lnTo>
                  <a:lnTo>
                    <a:pt x="281" y="274"/>
                  </a:lnTo>
                  <a:close/>
                  <a:moveTo>
                    <a:pt x="281" y="274"/>
                  </a:moveTo>
                  <a:lnTo>
                    <a:pt x="281" y="27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0" name="Freeform 75"/>
            <p:cNvSpPr>
              <a:spLocks noChangeAspect="1" noEditPoints="1"/>
            </p:cNvSpPr>
            <p:nvPr/>
          </p:nvSpPr>
          <p:spPr>
            <a:xfrm>
              <a:off x="2289" y="1898"/>
              <a:ext cx="275" cy="274"/>
            </a:xfrm>
            <a:custGeom>
              <a:avLst/>
              <a:gdLst>
                <a:gd name="txL" fmla="*/ 0 w 275"/>
                <a:gd name="txT" fmla="*/ 0 h 274"/>
                <a:gd name="txR" fmla="*/ 275 w 275"/>
                <a:gd name="txB" fmla="*/ 274 h 274"/>
              </a:gdLst>
              <a:ahLst/>
              <a:cxnLst>
                <a:cxn ang="0">
                  <a:pos x="275" y="0"/>
                </a:cxn>
                <a:cxn ang="0">
                  <a:pos x="221" y="6"/>
                </a:cxn>
                <a:cxn ang="0">
                  <a:pos x="167" y="24"/>
                </a:cxn>
                <a:cxn ang="0">
                  <a:pos x="120" y="48"/>
                </a:cxn>
                <a:cxn ang="0">
                  <a:pos x="84" y="83"/>
                </a:cxn>
                <a:cxn ang="0">
                  <a:pos x="48" y="119"/>
                </a:cxn>
                <a:cxn ang="0">
                  <a:pos x="24" y="167"/>
                </a:cxn>
                <a:cxn ang="0">
                  <a:pos x="6" y="221"/>
                </a:cxn>
                <a:cxn ang="0">
                  <a:pos x="0" y="274"/>
                </a:cxn>
                <a:cxn ang="0">
                  <a:pos x="0" y="274"/>
                </a:cxn>
                <a:cxn ang="0">
                  <a:pos x="6" y="221"/>
                </a:cxn>
                <a:cxn ang="0">
                  <a:pos x="24" y="167"/>
                </a:cxn>
                <a:cxn ang="0">
                  <a:pos x="48" y="119"/>
                </a:cxn>
                <a:cxn ang="0">
                  <a:pos x="84" y="83"/>
                </a:cxn>
                <a:cxn ang="0">
                  <a:pos x="120" y="48"/>
                </a:cxn>
                <a:cxn ang="0">
                  <a:pos x="167" y="24"/>
                </a:cxn>
                <a:cxn ang="0">
                  <a:pos x="221" y="6"/>
                </a:cxn>
                <a:cxn ang="0">
                  <a:pos x="275" y="0"/>
                </a:cxn>
                <a:cxn ang="0">
                  <a:pos x="275" y="0"/>
                </a:cxn>
                <a:cxn ang="0">
                  <a:pos x="275" y="0"/>
                </a:cxn>
                <a:cxn ang="0">
                  <a:pos x="275" y="0"/>
                </a:cxn>
                <a:cxn ang="0">
                  <a:pos x="275" y="0"/>
                </a:cxn>
              </a:cxnLst>
              <a:rect l="txL" t="txT" r="txR" b="txB"/>
              <a:pathLst>
                <a:path w="275" h="274">
                  <a:moveTo>
                    <a:pt x="275" y="0"/>
                  </a:moveTo>
                  <a:lnTo>
                    <a:pt x="221" y="6"/>
                  </a:lnTo>
                  <a:lnTo>
                    <a:pt x="167" y="24"/>
                  </a:lnTo>
                  <a:lnTo>
                    <a:pt x="120" y="48"/>
                  </a:lnTo>
                  <a:lnTo>
                    <a:pt x="84" y="83"/>
                  </a:lnTo>
                  <a:lnTo>
                    <a:pt x="48" y="119"/>
                  </a:lnTo>
                  <a:lnTo>
                    <a:pt x="24" y="167"/>
                  </a:lnTo>
                  <a:lnTo>
                    <a:pt x="6" y="221"/>
                  </a:lnTo>
                  <a:lnTo>
                    <a:pt x="0" y="274"/>
                  </a:lnTo>
                  <a:lnTo>
                    <a:pt x="6" y="221"/>
                  </a:lnTo>
                  <a:lnTo>
                    <a:pt x="24" y="167"/>
                  </a:lnTo>
                  <a:lnTo>
                    <a:pt x="48" y="119"/>
                  </a:lnTo>
                  <a:lnTo>
                    <a:pt x="84" y="83"/>
                  </a:lnTo>
                  <a:lnTo>
                    <a:pt x="120" y="48"/>
                  </a:lnTo>
                  <a:lnTo>
                    <a:pt x="167" y="24"/>
                  </a:lnTo>
                  <a:lnTo>
                    <a:pt x="221" y="6"/>
                  </a:lnTo>
                  <a:lnTo>
                    <a:pt x="275" y="0"/>
                  </a:lnTo>
                  <a:close/>
                  <a:moveTo>
                    <a:pt x="275" y="0"/>
                  </a:moveTo>
                  <a:lnTo>
                    <a:pt x="27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1" name="Freeform 76"/>
            <p:cNvSpPr>
              <a:spLocks noChangeAspect="1" noEditPoints="1"/>
            </p:cNvSpPr>
            <p:nvPr/>
          </p:nvSpPr>
          <p:spPr>
            <a:xfrm>
              <a:off x="2289" y="2172"/>
              <a:ext cx="275" cy="281"/>
            </a:xfrm>
            <a:custGeom>
              <a:avLst/>
              <a:gdLst>
                <a:gd name="txL" fmla="*/ 0 w 275"/>
                <a:gd name="txT" fmla="*/ 0 h 281"/>
                <a:gd name="txR" fmla="*/ 275 w 275"/>
                <a:gd name="txB" fmla="*/ 281 h 281"/>
              </a:gdLst>
              <a:ahLst/>
              <a:cxnLst>
                <a:cxn ang="0">
                  <a:pos x="0" y="0"/>
                </a:cxn>
                <a:cxn ang="0">
                  <a:pos x="6" y="60"/>
                </a:cxn>
                <a:cxn ang="0">
                  <a:pos x="24" y="108"/>
                </a:cxn>
                <a:cxn ang="0">
                  <a:pos x="48" y="156"/>
                </a:cxn>
                <a:cxn ang="0">
                  <a:pos x="84" y="197"/>
                </a:cxn>
                <a:cxn ang="0">
                  <a:pos x="120" y="233"/>
                </a:cxn>
                <a:cxn ang="0">
                  <a:pos x="167" y="257"/>
                </a:cxn>
                <a:cxn ang="0">
                  <a:pos x="221" y="275"/>
                </a:cxn>
                <a:cxn ang="0">
                  <a:pos x="275" y="281"/>
                </a:cxn>
                <a:cxn ang="0">
                  <a:pos x="275" y="281"/>
                </a:cxn>
                <a:cxn ang="0">
                  <a:pos x="221" y="275"/>
                </a:cxn>
                <a:cxn ang="0">
                  <a:pos x="167" y="257"/>
                </a:cxn>
                <a:cxn ang="0">
                  <a:pos x="120" y="233"/>
                </a:cxn>
                <a:cxn ang="0">
                  <a:pos x="84" y="197"/>
                </a:cxn>
                <a:cxn ang="0">
                  <a:pos x="48" y="156"/>
                </a:cxn>
                <a:cxn ang="0">
                  <a:pos x="24" y="108"/>
                </a:cxn>
                <a:cxn ang="0">
                  <a:pos x="6" y="6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5" h="281">
                  <a:moveTo>
                    <a:pt x="0" y="0"/>
                  </a:moveTo>
                  <a:lnTo>
                    <a:pt x="6" y="60"/>
                  </a:lnTo>
                  <a:lnTo>
                    <a:pt x="24" y="108"/>
                  </a:lnTo>
                  <a:lnTo>
                    <a:pt x="48" y="156"/>
                  </a:lnTo>
                  <a:lnTo>
                    <a:pt x="84" y="197"/>
                  </a:lnTo>
                  <a:lnTo>
                    <a:pt x="120" y="233"/>
                  </a:lnTo>
                  <a:lnTo>
                    <a:pt x="167" y="257"/>
                  </a:lnTo>
                  <a:lnTo>
                    <a:pt x="221" y="275"/>
                  </a:lnTo>
                  <a:lnTo>
                    <a:pt x="275" y="281"/>
                  </a:lnTo>
                  <a:lnTo>
                    <a:pt x="221" y="275"/>
                  </a:lnTo>
                  <a:lnTo>
                    <a:pt x="167" y="257"/>
                  </a:lnTo>
                  <a:lnTo>
                    <a:pt x="120" y="233"/>
                  </a:lnTo>
                  <a:lnTo>
                    <a:pt x="84" y="197"/>
                  </a:lnTo>
                  <a:lnTo>
                    <a:pt x="48" y="156"/>
                  </a:lnTo>
                  <a:lnTo>
                    <a:pt x="24" y="108"/>
                  </a:lnTo>
                  <a:lnTo>
                    <a:pt x="6" y="6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2" name="Freeform 77"/>
            <p:cNvSpPr>
              <a:spLocks noChangeAspect="1"/>
            </p:cNvSpPr>
            <p:nvPr/>
          </p:nvSpPr>
          <p:spPr>
            <a:xfrm>
              <a:off x="2564" y="2453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3" name="Freeform 78"/>
            <p:cNvSpPr>
              <a:spLocks noChangeAspect="1"/>
            </p:cNvSpPr>
            <p:nvPr/>
          </p:nvSpPr>
          <p:spPr>
            <a:xfrm>
              <a:off x="2546" y="2149"/>
              <a:ext cx="1" cy="215"/>
            </a:xfrm>
            <a:custGeom>
              <a:avLst/>
              <a:gdLst>
                <a:gd name="txL" fmla="*/ 0 w 1"/>
                <a:gd name="txT" fmla="*/ 0 h 215"/>
                <a:gd name="txR" fmla="*/ 1 w 1"/>
                <a:gd name="txB" fmla="*/ 215 h 215"/>
              </a:gdLst>
              <a:ahLst/>
              <a:cxnLst>
                <a:cxn ang="0">
                  <a:pos x="0" y="215"/>
                </a:cxn>
                <a:cxn ang="0">
                  <a:pos x="0" y="0"/>
                </a:cxn>
                <a:cxn ang="0">
                  <a:pos x="0" y="215"/>
                </a:cxn>
                <a:cxn ang="0">
                  <a:pos x="0" y="215"/>
                </a:cxn>
              </a:cxnLst>
              <a:rect l="txL" t="txT" r="txR" b="txB"/>
              <a:pathLst>
                <a:path w="1" h="215">
                  <a:moveTo>
                    <a:pt x="0" y="215"/>
                  </a:moveTo>
                  <a:lnTo>
                    <a:pt x="0" y="0"/>
                  </a:lnTo>
                  <a:lnTo>
                    <a:pt x="0" y="21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4" name="Freeform 79"/>
            <p:cNvSpPr>
              <a:spLocks noChangeAspect="1"/>
            </p:cNvSpPr>
            <p:nvPr/>
          </p:nvSpPr>
          <p:spPr>
            <a:xfrm>
              <a:off x="2480" y="1946"/>
              <a:ext cx="132" cy="250"/>
            </a:xfrm>
            <a:custGeom>
              <a:avLst/>
              <a:gdLst>
                <a:gd name="txL" fmla="*/ 0 w 132"/>
                <a:gd name="txT" fmla="*/ 0 h 250"/>
                <a:gd name="txR" fmla="*/ 132 w 132"/>
                <a:gd name="txB" fmla="*/ 250 h 250"/>
              </a:gdLst>
              <a:ahLst/>
              <a:cxnLst>
                <a:cxn ang="0">
                  <a:pos x="132" y="250"/>
                </a:cxn>
                <a:cxn ang="0">
                  <a:pos x="66" y="0"/>
                </a:cxn>
                <a:cxn ang="0">
                  <a:pos x="0" y="250"/>
                </a:cxn>
                <a:cxn ang="0">
                  <a:pos x="132" y="250"/>
                </a:cxn>
                <a:cxn ang="0">
                  <a:pos x="132" y="250"/>
                </a:cxn>
              </a:cxnLst>
              <a:rect l="txL" t="txT" r="txR" b="txB"/>
              <a:pathLst>
                <a:path w="132" h="250">
                  <a:moveTo>
                    <a:pt x="132" y="250"/>
                  </a:moveTo>
                  <a:lnTo>
                    <a:pt x="66" y="0"/>
                  </a:lnTo>
                  <a:lnTo>
                    <a:pt x="0" y="250"/>
                  </a:lnTo>
                  <a:lnTo>
                    <a:pt x="132" y="25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5" name="Freeform 80"/>
            <p:cNvSpPr>
              <a:spLocks noChangeAspect="1" noEditPoints="1"/>
            </p:cNvSpPr>
            <p:nvPr/>
          </p:nvSpPr>
          <p:spPr>
            <a:xfrm>
              <a:off x="2020" y="2053"/>
              <a:ext cx="72" cy="221"/>
            </a:xfrm>
            <a:custGeom>
              <a:avLst/>
              <a:gdLst>
                <a:gd name="txL" fmla="*/ 0 w 72"/>
                <a:gd name="txT" fmla="*/ 0 h 221"/>
                <a:gd name="txR" fmla="*/ 72 w 72"/>
                <a:gd name="txB" fmla="*/ 221 h 221"/>
              </a:gdLst>
              <a:ahLst/>
              <a:cxnLst>
                <a:cxn ang="0">
                  <a:pos x="60" y="179"/>
                </a:cxn>
                <a:cxn ang="0">
                  <a:pos x="42" y="197"/>
                </a:cxn>
                <a:cxn ang="0">
                  <a:pos x="30" y="203"/>
                </a:cxn>
                <a:cxn ang="0">
                  <a:pos x="30" y="203"/>
                </a:cxn>
                <a:cxn ang="0">
                  <a:pos x="24" y="197"/>
                </a:cxn>
                <a:cxn ang="0">
                  <a:pos x="30" y="191"/>
                </a:cxn>
                <a:cxn ang="0">
                  <a:pos x="30" y="179"/>
                </a:cxn>
                <a:cxn ang="0">
                  <a:pos x="60" y="72"/>
                </a:cxn>
                <a:cxn ang="0">
                  <a:pos x="60" y="72"/>
                </a:cxn>
                <a:cxn ang="0">
                  <a:pos x="48" y="72"/>
                </a:cxn>
                <a:cxn ang="0">
                  <a:pos x="36" y="78"/>
                </a:cxn>
                <a:cxn ang="0">
                  <a:pos x="18" y="78"/>
                </a:cxn>
                <a:cxn ang="0">
                  <a:pos x="6" y="78"/>
                </a:cxn>
                <a:cxn ang="0">
                  <a:pos x="6" y="84"/>
                </a:cxn>
                <a:cxn ang="0">
                  <a:pos x="24" y="84"/>
                </a:cxn>
                <a:cxn ang="0">
                  <a:pos x="30" y="96"/>
                </a:cxn>
                <a:cxn ang="0">
                  <a:pos x="30" y="102"/>
                </a:cxn>
                <a:cxn ang="0">
                  <a:pos x="24" y="113"/>
                </a:cxn>
                <a:cxn ang="0">
                  <a:pos x="18" y="143"/>
                </a:cxn>
                <a:cxn ang="0">
                  <a:pos x="6" y="179"/>
                </a:cxn>
                <a:cxn ang="0">
                  <a:pos x="0" y="191"/>
                </a:cxn>
                <a:cxn ang="0">
                  <a:pos x="0" y="197"/>
                </a:cxn>
                <a:cxn ang="0">
                  <a:pos x="0" y="209"/>
                </a:cxn>
                <a:cxn ang="0">
                  <a:pos x="6" y="221"/>
                </a:cxn>
                <a:cxn ang="0">
                  <a:pos x="18" y="221"/>
                </a:cxn>
                <a:cxn ang="0">
                  <a:pos x="30" y="221"/>
                </a:cxn>
                <a:cxn ang="0">
                  <a:pos x="42" y="209"/>
                </a:cxn>
                <a:cxn ang="0">
                  <a:pos x="60" y="185"/>
                </a:cxn>
                <a:cxn ang="0">
                  <a:pos x="60" y="179"/>
                </a:cxn>
                <a:cxn ang="0">
                  <a:pos x="72" y="18"/>
                </a:cxn>
                <a:cxn ang="0">
                  <a:pos x="66" y="6"/>
                </a:cxn>
                <a:cxn ang="0">
                  <a:pos x="54" y="0"/>
                </a:cxn>
                <a:cxn ang="0">
                  <a:pos x="48" y="6"/>
                </a:cxn>
                <a:cxn ang="0">
                  <a:pos x="42" y="18"/>
                </a:cxn>
                <a:cxn ang="0">
                  <a:pos x="48" y="30"/>
                </a:cxn>
                <a:cxn ang="0">
                  <a:pos x="54" y="36"/>
                </a:cxn>
                <a:cxn ang="0">
                  <a:pos x="66" y="30"/>
                </a:cxn>
                <a:cxn ang="0">
                  <a:pos x="72" y="18"/>
                </a:cxn>
                <a:cxn ang="0">
                  <a:pos x="72" y="18"/>
                </a:cxn>
              </a:cxnLst>
              <a:rect l="txL" t="txT" r="txR" b="txB"/>
              <a:pathLst>
                <a:path w="72" h="221">
                  <a:moveTo>
                    <a:pt x="60" y="179"/>
                  </a:moveTo>
                  <a:lnTo>
                    <a:pt x="42" y="197"/>
                  </a:lnTo>
                  <a:lnTo>
                    <a:pt x="30" y="203"/>
                  </a:lnTo>
                  <a:lnTo>
                    <a:pt x="24" y="197"/>
                  </a:lnTo>
                  <a:lnTo>
                    <a:pt x="30" y="191"/>
                  </a:lnTo>
                  <a:lnTo>
                    <a:pt x="30" y="179"/>
                  </a:lnTo>
                  <a:lnTo>
                    <a:pt x="60" y="72"/>
                  </a:lnTo>
                  <a:lnTo>
                    <a:pt x="48" y="72"/>
                  </a:lnTo>
                  <a:lnTo>
                    <a:pt x="36" y="78"/>
                  </a:lnTo>
                  <a:lnTo>
                    <a:pt x="18" y="78"/>
                  </a:lnTo>
                  <a:lnTo>
                    <a:pt x="6" y="78"/>
                  </a:lnTo>
                  <a:lnTo>
                    <a:pt x="6" y="84"/>
                  </a:lnTo>
                  <a:lnTo>
                    <a:pt x="24" y="84"/>
                  </a:lnTo>
                  <a:lnTo>
                    <a:pt x="30" y="96"/>
                  </a:lnTo>
                  <a:lnTo>
                    <a:pt x="30" y="102"/>
                  </a:lnTo>
                  <a:lnTo>
                    <a:pt x="24" y="113"/>
                  </a:lnTo>
                  <a:lnTo>
                    <a:pt x="18" y="143"/>
                  </a:lnTo>
                  <a:lnTo>
                    <a:pt x="6" y="179"/>
                  </a:lnTo>
                  <a:lnTo>
                    <a:pt x="0" y="191"/>
                  </a:lnTo>
                  <a:lnTo>
                    <a:pt x="0" y="197"/>
                  </a:lnTo>
                  <a:lnTo>
                    <a:pt x="0" y="209"/>
                  </a:lnTo>
                  <a:lnTo>
                    <a:pt x="6" y="221"/>
                  </a:lnTo>
                  <a:lnTo>
                    <a:pt x="18" y="221"/>
                  </a:lnTo>
                  <a:lnTo>
                    <a:pt x="30" y="221"/>
                  </a:lnTo>
                  <a:lnTo>
                    <a:pt x="42" y="209"/>
                  </a:lnTo>
                  <a:lnTo>
                    <a:pt x="60" y="185"/>
                  </a:lnTo>
                  <a:lnTo>
                    <a:pt x="60" y="179"/>
                  </a:lnTo>
                  <a:close/>
                  <a:moveTo>
                    <a:pt x="72" y="18"/>
                  </a:moveTo>
                  <a:lnTo>
                    <a:pt x="66" y="6"/>
                  </a:lnTo>
                  <a:lnTo>
                    <a:pt x="54" y="0"/>
                  </a:lnTo>
                  <a:lnTo>
                    <a:pt x="48" y="6"/>
                  </a:lnTo>
                  <a:lnTo>
                    <a:pt x="42" y="18"/>
                  </a:lnTo>
                  <a:lnTo>
                    <a:pt x="48" y="30"/>
                  </a:lnTo>
                  <a:lnTo>
                    <a:pt x="54" y="36"/>
                  </a:lnTo>
                  <a:lnTo>
                    <a:pt x="66" y="30"/>
                  </a:lnTo>
                  <a:lnTo>
                    <a:pt x="72" y="1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68" name="Text Box 81"/>
          <p:cNvSpPr txBox="1"/>
          <p:nvPr/>
        </p:nvSpPr>
        <p:spPr>
          <a:xfrm>
            <a:off x="822325" y="5564188"/>
            <a:ext cx="4243388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独立电压源</a:t>
            </a:r>
            <a:endParaRPr lang="en-US" altLang="zh-CN" sz="2000" b="1" dirty="0">
              <a:solidFill>
                <a:srgbClr val="00206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AutoNum type="alphaLcParenBoth"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可表示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直流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电压源或</a:t>
            </a:r>
            <a:r>
              <a:rPr lang="zh-CN" alt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交流</a:t>
            </a: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电压源</a:t>
            </a:r>
            <a:endParaRPr lang="en-US" altLang="zh-CN" sz="20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AutoNum type="alphaLcParenBoth"/>
            </a:pPr>
            <a:r>
              <a:rPr lang="zh-CN" altLang="en-US" sz="2000" b="1" dirty="0">
                <a:latin typeface="Times New Roman" panose="02020603050405020304" pitchFamily="18" charset="0"/>
                <a:cs typeface="Arial" panose="020B0604020202020204" pitchFamily="34" charset="0"/>
              </a:rPr>
              <a:t>表示直流电压源</a:t>
            </a:r>
            <a:endParaRPr lang="en-US" altLang="zh-CN" sz="18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62469" name="Text Box 82"/>
          <p:cNvSpPr txBox="1"/>
          <p:nvPr/>
        </p:nvSpPr>
        <p:spPr>
          <a:xfrm>
            <a:off x="7048500" y="5626100"/>
            <a:ext cx="1689100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002060"/>
                </a:solidFill>
                <a:cs typeface="Arial" panose="020B0604020202020204" pitchFamily="34" charset="0"/>
              </a:rPr>
              <a:t>独立电流源</a:t>
            </a:r>
            <a:endParaRPr lang="en-US" altLang="zh-CN" sz="2000" b="1" dirty="0">
              <a:solidFill>
                <a:srgbClr val="002060"/>
              </a:solidFill>
              <a:ea typeface="Arial" panose="020B0604020202020204" pitchFamily="34" charset="0"/>
            </a:endParaRPr>
          </a:p>
        </p:txBody>
      </p:sp>
      <p:sp>
        <p:nvSpPr>
          <p:cNvPr id="62470" name="文本框 83"/>
          <p:cNvSpPr txBox="1"/>
          <p:nvPr/>
        </p:nvSpPr>
        <p:spPr>
          <a:xfrm>
            <a:off x="1668463" y="552450"/>
            <a:ext cx="26860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电路符号：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71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4"/>
          <p:cNvSpPr>
            <a:spLocks noGrp="1"/>
          </p:cNvSpPr>
          <p:nvPr>
            <p:ph idx="1"/>
          </p:nvPr>
        </p:nvSpPr>
        <p:spPr>
          <a:xfrm>
            <a:off x="457200" y="1844675"/>
            <a:ext cx="7642225" cy="1016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 Black" panose="020B0A04020102020204" pitchFamily="34" charset="0"/>
              </a:rPr>
              <a:t>理想的非独立源（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受控源</a:t>
            </a:r>
            <a:r>
              <a:rPr lang="zh-CN" altLang="en-US" b="1" dirty="0">
                <a:latin typeface="Arial Black" panose="020B0A04020102020204" pitchFamily="34" charset="0"/>
              </a:rPr>
              <a:t>）</a:t>
            </a:r>
            <a:endParaRPr lang="zh-CN" altLang="en-US" b="1" dirty="0">
              <a:latin typeface="Arial Black" panose="020B0A0402010202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i="1" dirty="0">
              <a:latin typeface="Arial Black" panose="020B0A04020102020204" pitchFamily="34" charset="0"/>
            </a:endParaRPr>
          </a:p>
        </p:txBody>
      </p:sp>
      <p:sp>
        <p:nvSpPr>
          <p:cNvPr id="61443" name="Text Box 5"/>
          <p:cNvSpPr txBox="1">
            <a:spLocks noChangeArrowheads="1"/>
          </p:cNvSpPr>
          <p:nvPr/>
        </p:nvSpPr>
        <p:spPr bwMode="auto">
          <a:xfrm>
            <a:off x="900113" y="2643188"/>
            <a:ext cx="7786688" cy="1571625"/>
          </a:xfrm>
          <a:prstGeom prst="rect">
            <a:avLst/>
          </a:prstGeom>
          <a:noFill/>
          <a:ln w="76200" cmpd="tri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理想的非独立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(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或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受控源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Arial" panose="020B0604020202020204" pitchFamily="34" charset="0"/>
              </a:rPr>
              <a:t>)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是指其所提供的电压或电流受到其他电压或电流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控制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的有源元件。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anose="020B0A040201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3492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4"/>
          <p:cNvSpPr txBox="1"/>
          <p:nvPr/>
        </p:nvSpPr>
        <p:spPr>
          <a:xfrm>
            <a:off x="31750" y="2274888"/>
            <a:ext cx="4465638" cy="32813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80000"/>
              </a:lnSpc>
              <a:spcBef>
                <a:spcPct val="3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电压控制电压源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(VCVS)</a:t>
            </a:r>
            <a:endParaRPr lang="en-US" altLang="zh-CN" sz="2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30000"/>
              </a:spcBef>
              <a:buClrTx/>
              <a:buSzTx/>
              <a:buFontTx/>
              <a:buAutoNum type="arabicPeriod"/>
            </a:pPr>
            <a:endParaRPr lang="en-US" altLang="zh-CN" sz="28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3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电流控制电压源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(CCVS)</a:t>
            </a:r>
            <a:endParaRPr lang="en-US" altLang="zh-CN" sz="2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30000"/>
              </a:spcBef>
              <a:buClrTx/>
              <a:buSzTx/>
              <a:buFontTx/>
              <a:buAutoNum type="arabicPeriod"/>
            </a:pPr>
            <a:endParaRPr lang="en-US" altLang="zh-CN" sz="28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3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电压控制电流源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(VCCS)</a:t>
            </a:r>
            <a:endParaRPr lang="en-US" altLang="zh-CN" sz="28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30000"/>
              </a:spcBef>
              <a:buClrTx/>
              <a:buSzTx/>
              <a:buFontTx/>
              <a:buAutoNum type="arabicPeriod"/>
            </a:pPr>
            <a:endParaRPr lang="en-US" altLang="zh-CN" sz="28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80000"/>
              </a:lnSpc>
              <a:spcBef>
                <a:spcPct val="3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电流控制电流源</a:t>
            </a:r>
            <a:r>
              <a:rPr lang="en-US" altLang="zh-CN" sz="28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(CCCS)</a:t>
            </a:r>
            <a:endParaRPr lang="en-US" altLang="zh-CN" sz="2800" b="1" dirty="0">
              <a:solidFill>
                <a:srgbClr val="FF0000"/>
              </a:solidFill>
              <a:latin typeface="Arial Black" panose="020B0A04020102020204" pitchFamily="34" charset="0"/>
              <a:ea typeface="Arial" panose="020B0604020202020204" pitchFamily="34" charset="0"/>
            </a:endParaRPr>
          </a:p>
        </p:txBody>
      </p:sp>
      <p:grpSp>
        <p:nvGrpSpPr>
          <p:cNvPr id="64515" name="Group 5"/>
          <p:cNvGrpSpPr>
            <a:grpSpLocks noChangeAspect="1"/>
          </p:cNvGrpSpPr>
          <p:nvPr/>
        </p:nvGrpSpPr>
        <p:grpSpPr>
          <a:xfrm>
            <a:off x="4859338" y="692150"/>
            <a:ext cx="4032250" cy="3006725"/>
            <a:chOff x="1030" y="809"/>
            <a:chExt cx="3655" cy="2725"/>
          </a:xfrm>
        </p:grpSpPr>
        <p:sp>
          <p:nvSpPr>
            <p:cNvPr id="64518" name="Freeform 6"/>
            <p:cNvSpPr>
              <a:spLocks noChangeAspect="1"/>
            </p:cNvSpPr>
            <p:nvPr/>
          </p:nvSpPr>
          <p:spPr>
            <a:xfrm>
              <a:off x="1734" y="3297"/>
              <a:ext cx="72" cy="237"/>
            </a:xfrm>
            <a:custGeom>
              <a:avLst/>
              <a:gdLst>
                <a:gd name="txL" fmla="*/ 0 w 72"/>
                <a:gd name="txT" fmla="*/ 0 h 237"/>
                <a:gd name="txR" fmla="*/ 72 w 72"/>
                <a:gd name="txB" fmla="*/ 237 h 237"/>
              </a:gdLst>
              <a:ahLst/>
              <a:cxnLst>
                <a:cxn ang="0">
                  <a:pos x="64" y="0"/>
                </a:cxn>
                <a:cxn ang="0">
                  <a:pos x="21" y="50"/>
                </a:cxn>
                <a:cxn ang="0">
                  <a:pos x="7" y="79"/>
                </a:cxn>
                <a:cxn ang="0">
                  <a:pos x="0" y="115"/>
                </a:cxn>
                <a:cxn ang="0">
                  <a:pos x="7" y="158"/>
                </a:cxn>
                <a:cxn ang="0">
                  <a:pos x="21" y="194"/>
                </a:cxn>
                <a:cxn ang="0">
                  <a:pos x="43" y="215"/>
                </a:cxn>
                <a:cxn ang="0">
                  <a:pos x="64" y="237"/>
                </a:cxn>
                <a:cxn ang="0">
                  <a:pos x="72" y="229"/>
                </a:cxn>
                <a:cxn ang="0">
                  <a:pos x="50" y="201"/>
                </a:cxn>
                <a:cxn ang="0">
                  <a:pos x="36" y="172"/>
                </a:cxn>
                <a:cxn ang="0">
                  <a:pos x="28" y="143"/>
                </a:cxn>
                <a:cxn ang="0">
                  <a:pos x="28" y="115"/>
                </a:cxn>
                <a:cxn ang="0">
                  <a:pos x="36" y="72"/>
                </a:cxn>
                <a:cxn ang="0">
                  <a:pos x="43" y="43"/>
                </a:cxn>
                <a:cxn ang="0">
                  <a:pos x="57" y="22"/>
                </a:cxn>
                <a:cxn ang="0">
                  <a:pos x="72" y="7"/>
                </a:cxn>
                <a:cxn ang="0">
                  <a:pos x="64" y="0"/>
                </a:cxn>
              </a:cxnLst>
              <a:rect l="txL" t="txT" r="txR" b="txB"/>
              <a:pathLst>
                <a:path w="72" h="237">
                  <a:moveTo>
                    <a:pt x="64" y="0"/>
                  </a:moveTo>
                  <a:lnTo>
                    <a:pt x="21" y="50"/>
                  </a:lnTo>
                  <a:lnTo>
                    <a:pt x="7" y="79"/>
                  </a:lnTo>
                  <a:lnTo>
                    <a:pt x="0" y="115"/>
                  </a:lnTo>
                  <a:lnTo>
                    <a:pt x="7" y="158"/>
                  </a:lnTo>
                  <a:lnTo>
                    <a:pt x="21" y="194"/>
                  </a:lnTo>
                  <a:lnTo>
                    <a:pt x="43" y="215"/>
                  </a:lnTo>
                  <a:lnTo>
                    <a:pt x="64" y="237"/>
                  </a:lnTo>
                  <a:lnTo>
                    <a:pt x="72" y="229"/>
                  </a:lnTo>
                  <a:lnTo>
                    <a:pt x="50" y="201"/>
                  </a:lnTo>
                  <a:lnTo>
                    <a:pt x="36" y="172"/>
                  </a:lnTo>
                  <a:lnTo>
                    <a:pt x="28" y="143"/>
                  </a:lnTo>
                  <a:lnTo>
                    <a:pt x="28" y="115"/>
                  </a:lnTo>
                  <a:lnTo>
                    <a:pt x="36" y="72"/>
                  </a:lnTo>
                  <a:lnTo>
                    <a:pt x="43" y="43"/>
                  </a:lnTo>
                  <a:lnTo>
                    <a:pt x="57" y="22"/>
                  </a:lnTo>
                  <a:lnTo>
                    <a:pt x="72" y="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19" name="Freeform 7"/>
            <p:cNvSpPr>
              <a:spLocks noChangeAspect="1" noEditPoints="1"/>
            </p:cNvSpPr>
            <p:nvPr/>
          </p:nvSpPr>
          <p:spPr>
            <a:xfrm>
              <a:off x="1820" y="3354"/>
              <a:ext cx="100" cy="129"/>
            </a:xfrm>
            <a:custGeom>
              <a:avLst/>
              <a:gdLst>
                <a:gd name="txL" fmla="*/ 0 w 100"/>
                <a:gd name="txT" fmla="*/ 0 h 129"/>
                <a:gd name="txR" fmla="*/ 100 w 100"/>
                <a:gd name="txB" fmla="*/ 129 h 129"/>
              </a:gdLst>
              <a:ahLst/>
              <a:cxnLst>
                <a:cxn ang="0">
                  <a:pos x="64" y="94"/>
                </a:cxn>
                <a:cxn ang="0">
                  <a:pos x="64" y="101"/>
                </a:cxn>
                <a:cxn ang="0">
                  <a:pos x="57" y="108"/>
                </a:cxn>
                <a:cxn ang="0">
                  <a:pos x="50" y="115"/>
                </a:cxn>
                <a:cxn ang="0">
                  <a:pos x="43" y="115"/>
                </a:cxn>
                <a:cxn ang="0">
                  <a:pos x="29" y="108"/>
                </a:cxn>
                <a:cxn ang="0">
                  <a:pos x="21" y="94"/>
                </a:cxn>
                <a:cxn ang="0">
                  <a:pos x="21" y="94"/>
                </a:cxn>
                <a:cxn ang="0">
                  <a:pos x="29" y="79"/>
                </a:cxn>
                <a:cxn ang="0">
                  <a:pos x="43" y="72"/>
                </a:cxn>
                <a:cxn ang="0">
                  <a:pos x="64" y="58"/>
                </a:cxn>
                <a:cxn ang="0">
                  <a:pos x="64" y="94"/>
                </a:cxn>
                <a:cxn ang="0">
                  <a:pos x="100" y="108"/>
                </a:cxn>
                <a:cxn ang="0">
                  <a:pos x="100" y="115"/>
                </a:cxn>
                <a:cxn ang="0">
                  <a:pos x="93" y="115"/>
                </a:cxn>
                <a:cxn ang="0">
                  <a:pos x="86" y="108"/>
                </a:cxn>
                <a:cxn ang="0">
                  <a:pos x="86" y="101"/>
                </a:cxn>
                <a:cxn ang="0">
                  <a:pos x="86" y="43"/>
                </a:cxn>
                <a:cxn ang="0">
                  <a:pos x="79" y="15"/>
                </a:cxn>
                <a:cxn ang="0">
                  <a:pos x="72" y="8"/>
                </a:cxn>
                <a:cxn ang="0">
                  <a:pos x="50" y="0"/>
                </a:cxn>
                <a:cxn ang="0">
                  <a:pos x="29" y="8"/>
                </a:cxn>
                <a:cxn ang="0">
                  <a:pos x="14" y="15"/>
                </a:cxn>
                <a:cxn ang="0">
                  <a:pos x="7" y="36"/>
                </a:cxn>
                <a:cxn ang="0">
                  <a:pos x="7" y="43"/>
                </a:cxn>
                <a:cxn ang="0">
                  <a:pos x="14" y="43"/>
                </a:cxn>
                <a:cxn ang="0">
                  <a:pos x="21" y="43"/>
                </a:cxn>
                <a:cxn ang="0">
                  <a:pos x="29" y="36"/>
                </a:cxn>
                <a:cxn ang="0">
                  <a:pos x="29" y="29"/>
                </a:cxn>
                <a:cxn ang="0">
                  <a:pos x="29" y="22"/>
                </a:cxn>
                <a:cxn ang="0">
                  <a:pos x="36" y="15"/>
                </a:cxn>
                <a:cxn ang="0">
                  <a:pos x="43" y="8"/>
                </a:cxn>
                <a:cxn ang="0">
                  <a:pos x="57" y="15"/>
                </a:cxn>
                <a:cxn ang="0">
                  <a:pos x="64" y="29"/>
                </a:cxn>
                <a:cxn ang="0">
                  <a:pos x="64" y="51"/>
                </a:cxn>
                <a:cxn ang="0">
                  <a:pos x="36" y="65"/>
                </a:cxn>
                <a:cxn ang="0">
                  <a:pos x="14" y="72"/>
                </a:cxn>
                <a:cxn ang="0">
                  <a:pos x="7" y="86"/>
                </a:cxn>
                <a:cxn ang="0">
                  <a:pos x="0" y="101"/>
                </a:cxn>
                <a:cxn ang="0">
                  <a:pos x="7" y="122"/>
                </a:cxn>
                <a:cxn ang="0">
                  <a:pos x="29" y="129"/>
                </a:cxn>
                <a:cxn ang="0">
                  <a:pos x="50" y="122"/>
                </a:cxn>
                <a:cxn ang="0">
                  <a:pos x="64" y="115"/>
                </a:cxn>
                <a:cxn ang="0">
                  <a:pos x="72" y="129"/>
                </a:cxn>
                <a:cxn ang="0">
                  <a:pos x="79" y="129"/>
                </a:cxn>
                <a:cxn ang="0">
                  <a:pos x="93" y="129"/>
                </a:cxn>
                <a:cxn ang="0">
                  <a:pos x="100" y="115"/>
                </a:cxn>
                <a:cxn ang="0">
                  <a:pos x="100" y="108"/>
                </a:cxn>
              </a:cxnLst>
              <a:rect l="txL" t="txT" r="txR" b="txB"/>
              <a:pathLst>
                <a:path w="100" h="129">
                  <a:moveTo>
                    <a:pt x="64" y="94"/>
                  </a:moveTo>
                  <a:lnTo>
                    <a:pt x="64" y="101"/>
                  </a:lnTo>
                  <a:lnTo>
                    <a:pt x="57" y="108"/>
                  </a:lnTo>
                  <a:lnTo>
                    <a:pt x="50" y="115"/>
                  </a:lnTo>
                  <a:lnTo>
                    <a:pt x="43" y="115"/>
                  </a:lnTo>
                  <a:lnTo>
                    <a:pt x="29" y="108"/>
                  </a:lnTo>
                  <a:lnTo>
                    <a:pt x="21" y="94"/>
                  </a:lnTo>
                  <a:lnTo>
                    <a:pt x="29" y="79"/>
                  </a:lnTo>
                  <a:lnTo>
                    <a:pt x="43" y="72"/>
                  </a:lnTo>
                  <a:lnTo>
                    <a:pt x="64" y="58"/>
                  </a:lnTo>
                  <a:lnTo>
                    <a:pt x="64" y="94"/>
                  </a:lnTo>
                  <a:close/>
                  <a:moveTo>
                    <a:pt x="100" y="108"/>
                  </a:moveTo>
                  <a:lnTo>
                    <a:pt x="100" y="115"/>
                  </a:lnTo>
                  <a:lnTo>
                    <a:pt x="93" y="115"/>
                  </a:lnTo>
                  <a:lnTo>
                    <a:pt x="86" y="108"/>
                  </a:lnTo>
                  <a:lnTo>
                    <a:pt x="86" y="101"/>
                  </a:lnTo>
                  <a:lnTo>
                    <a:pt x="86" y="43"/>
                  </a:lnTo>
                  <a:lnTo>
                    <a:pt x="79" y="15"/>
                  </a:lnTo>
                  <a:lnTo>
                    <a:pt x="72" y="8"/>
                  </a:lnTo>
                  <a:lnTo>
                    <a:pt x="50" y="0"/>
                  </a:lnTo>
                  <a:lnTo>
                    <a:pt x="29" y="8"/>
                  </a:lnTo>
                  <a:lnTo>
                    <a:pt x="14" y="15"/>
                  </a:lnTo>
                  <a:lnTo>
                    <a:pt x="7" y="36"/>
                  </a:lnTo>
                  <a:lnTo>
                    <a:pt x="7" y="43"/>
                  </a:lnTo>
                  <a:lnTo>
                    <a:pt x="14" y="43"/>
                  </a:lnTo>
                  <a:lnTo>
                    <a:pt x="21" y="43"/>
                  </a:lnTo>
                  <a:lnTo>
                    <a:pt x="29" y="36"/>
                  </a:lnTo>
                  <a:lnTo>
                    <a:pt x="29" y="29"/>
                  </a:lnTo>
                  <a:lnTo>
                    <a:pt x="29" y="22"/>
                  </a:lnTo>
                  <a:lnTo>
                    <a:pt x="36" y="15"/>
                  </a:lnTo>
                  <a:lnTo>
                    <a:pt x="43" y="8"/>
                  </a:lnTo>
                  <a:lnTo>
                    <a:pt x="57" y="15"/>
                  </a:lnTo>
                  <a:lnTo>
                    <a:pt x="64" y="29"/>
                  </a:lnTo>
                  <a:lnTo>
                    <a:pt x="64" y="51"/>
                  </a:lnTo>
                  <a:lnTo>
                    <a:pt x="36" y="65"/>
                  </a:lnTo>
                  <a:lnTo>
                    <a:pt x="14" y="72"/>
                  </a:lnTo>
                  <a:lnTo>
                    <a:pt x="7" y="86"/>
                  </a:lnTo>
                  <a:lnTo>
                    <a:pt x="0" y="101"/>
                  </a:lnTo>
                  <a:lnTo>
                    <a:pt x="7" y="122"/>
                  </a:lnTo>
                  <a:lnTo>
                    <a:pt x="29" y="129"/>
                  </a:lnTo>
                  <a:lnTo>
                    <a:pt x="50" y="122"/>
                  </a:lnTo>
                  <a:lnTo>
                    <a:pt x="64" y="115"/>
                  </a:lnTo>
                  <a:lnTo>
                    <a:pt x="72" y="129"/>
                  </a:lnTo>
                  <a:lnTo>
                    <a:pt x="79" y="129"/>
                  </a:lnTo>
                  <a:lnTo>
                    <a:pt x="93" y="129"/>
                  </a:lnTo>
                  <a:lnTo>
                    <a:pt x="100" y="115"/>
                  </a:lnTo>
                  <a:lnTo>
                    <a:pt x="100" y="1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0" name="Freeform 8"/>
            <p:cNvSpPr>
              <a:spLocks noChangeAspect="1"/>
            </p:cNvSpPr>
            <p:nvPr/>
          </p:nvSpPr>
          <p:spPr>
            <a:xfrm>
              <a:off x="1935" y="3297"/>
              <a:ext cx="64" cy="237"/>
            </a:xfrm>
            <a:custGeom>
              <a:avLst/>
              <a:gdLst>
                <a:gd name="txL" fmla="*/ 0 w 64"/>
                <a:gd name="txT" fmla="*/ 0 h 237"/>
                <a:gd name="txR" fmla="*/ 64 w 64"/>
                <a:gd name="txB" fmla="*/ 237 h 237"/>
              </a:gdLst>
              <a:ahLst/>
              <a:cxnLst>
                <a:cxn ang="0">
                  <a:pos x="0" y="237"/>
                </a:cxn>
                <a:cxn ang="0">
                  <a:pos x="43" y="186"/>
                </a:cxn>
                <a:cxn ang="0">
                  <a:pos x="57" y="158"/>
                </a:cxn>
                <a:cxn ang="0">
                  <a:pos x="64" y="122"/>
                </a:cxn>
                <a:cxn ang="0">
                  <a:pos x="57" y="79"/>
                </a:cxn>
                <a:cxn ang="0">
                  <a:pos x="43" y="43"/>
                </a:cxn>
                <a:cxn ang="0">
                  <a:pos x="21" y="22"/>
                </a:cxn>
                <a:cxn ang="0">
                  <a:pos x="0" y="0"/>
                </a:cxn>
                <a:cxn ang="0">
                  <a:pos x="0" y="7"/>
                </a:cxn>
                <a:cxn ang="0">
                  <a:pos x="28" y="36"/>
                </a:cxn>
                <a:cxn ang="0">
                  <a:pos x="36" y="65"/>
                </a:cxn>
                <a:cxn ang="0">
                  <a:pos x="43" y="93"/>
                </a:cxn>
                <a:cxn ang="0">
                  <a:pos x="43" y="122"/>
                </a:cxn>
                <a:cxn ang="0">
                  <a:pos x="36" y="165"/>
                </a:cxn>
                <a:cxn ang="0">
                  <a:pos x="28" y="201"/>
                </a:cxn>
                <a:cxn ang="0">
                  <a:pos x="14" y="215"/>
                </a:cxn>
                <a:cxn ang="0">
                  <a:pos x="0" y="229"/>
                </a:cxn>
                <a:cxn ang="0">
                  <a:pos x="0" y="237"/>
                </a:cxn>
              </a:cxnLst>
              <a:rect l="txL" t="txT" r="txR" b="txB"/>
              <a:pathLst>
                <a:path w="64" h="237">
                  <a:moveTo>
                    <a:pt x="0" y="237"/>
                  </a:moveTo>
                  <a:lnTo>
                    <a:pt x="43" y="186"/>
                  </a:lnTo>
                  <a:lnTo>
                    <a:pt x="57" y="158"/>
                  </a:lnTo>
                  <a:lnTo>
                    <a:pt x="64" y="122"/>
                  </a:lnTo>
                  <a:lnTo>
                    <a:pt x="57" y="79"/>
                  </a:lnTo>
                  <a:lnTo>
                    <a:pt x="43" y="43"/>
                  </a:lnTo>
                  <a:lnTo>
                    <a:pt x="21" y="22"/>
                  </a:lnTo>
                  <a:lnTo>
                    <a:pt x="0" y="0"/>
                  </a:lnTo>
                  <a:lnTo>
                    <a:pt x="0" y="7"/>
                  </a:lnTo>
                  <a:lnTo>
                    <a:pt x="28" y="36"/>
                  </a:lnTo>
                  <a:lnTo>
                    <a:pt x="36" y="65"/>
                  </a:lnTo>
                  <a:lnTo>
                    <a:pt x="43" y="93"/>
                  </a:lnTo>
                  <a:lnTo>
                    <a:pt x="43" y="122"/>
                  </a:lnTo>
                  <a:lnTo>
                    <a:pt x="36" y="165"/>
                  </a:lnTo>
                  <a:lnTo>
                    <a:pt x="28" y="201"/>
                  </a:lnTo>
                  <a:lnTo>
                    <a:pt x="14" y="215"/>
                  </a:lnTo>
                  <a:lnTo>
                    <a:pt x="0" y="229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1" name="Freeform 9"/>
            <p:cNvSpPr>
              <a:spLocks noChangeAspect="1"/>
            </p:cNvSpPr>
            <p:nvPr/>
          </p:nvSpPr>
          <p:spPr>
            <a:xfrm>
              <a:off x="3938" y="3297"/>
              <a:ext cx="65" cy="237"/>
            </a:xfrm>
            <a:custGeom>
              <a:avLst/>
              <a:gdLst>
                <a:gd name="txL" fmla="*/ 0 w 65"/>
                <a:gd name="txT" fmla="*/ 0 h 237"/>
                <a:gd name="txR" fmla="*/ 65 w 65"/>
                <a:gd name="txB" fmla="*/ 237 h 237"/>
              </a:gdLst>
              <a:ahLst/>
              <a:cxnLst>
                <a:cxn ang="0">
                  <a:pos x="65" y="0"/>
                </a:cxn>
                <a:cxn ang="0">
                  <a:pos x="36" y="22"/>
                </a:cxn>
                <a:cxn ang="0">
                  <a:pos x="14" y="50"/>
                </a:cxn>
                <a:cxn ang="0">
                  <a:pos x="7" y="79"/>
                </a:cxn>
                <a:cxn ang="0">
                  <a:pos x="0" y="115"/>
                </a:cxn>
                <a:cxn ang="0">
                  <a:pos x="7" y="158"/>
                </a:cxn>
                <a:cxn ang="0">
                  <a:pos x="22" y="194"/>
                </a:cxn>
                <a:cxn ang="0">
                  <a:pos x="36" y="215"/>
                </a:cxn>
                <a:cxn ang="0">
                  <a:pos x="65" y="237"/>
                </a:cxn>
                <a:cxn ang="0">
                  <a:pos x="65" y="229"/>
                </a:cxn>
                <a:cxn ang="0">
                  <a:pos x="43" y="201"/>
                </a:cxn>
                <a:cxn ang="0">
                  <a:pos x="29" y="172"/>
                </a:cxn>
                <a:cxn ang="0">
                  <a:pos x="22" y="143"/>
                </a:cxn>
                <a:cxn ang="0">
                  <a:pos x="22" y="115"/>
                </a:cxn>
                <a:cxn ang="0">
                  <a:pos x="29" y="72"/>
                </a:cxn>
                <a:cxn ang="0">
                  <a:pos x="36" y="43"/>
                </a:cxn>
                <a:cxn ang="0">
                  <a:pos x="50" y="22"/>
                </a:cxn>
                <a:cxn ang="0">
                  <a:pos x="65" y="7"/>
                </a:cxn>
                <a:cxn ang="0">
                  <a:pos x="65" y="0"/>
                </a:cxn>
              </a:cxnLst>
              <a:rect l="txL" t="txT" r="txR" b="txB"/>
              <a:pathLst>
                <a:path w="65" h="237">
                  <a:moveTo>
                    <a:pt x="65" y="0"/>
                  </a:moveTo>
                  <a:lnTo>
                    <a:pt x="36" y="22"/>
                  </a:lnTo>
                  <a:lnTo>
                    <a:pt x="14" y="50"/>
                  </a:lnTo>
                  <a:lnTo>
                    <a:pt x="7" y="79"/>
                  </a:lnTo>
                  <a:lnTo>
                    <a:pt x="0" y="115"/>
                  </a:lnTo>
                  <a:lnTo>
                    <a:pt x="7" y="158"/>
                  </a:lnTo>
                  <a:lnTo>
                    <a:pt x="22" y="194"/>
                  </a:lnTo>
                  <a:lnTo>
                    <a:pt x="36" y="215"/>
                  </a:lnTo>
                  <a:lnTo>
                    <a:pt x="65" y="237"/>
                  </a:lnTo>
                  <a:lnTo>
                    <a:pt x="65" y="229"/>
                  </a:lnTo>
                  <a:lnTo>
                    <a:pt x="43" y="201"/>
                  </a:lnTo>
                  <a:lnTo>
                    <a:pt x="29" y="172"/>
                  </a:lnTo>
                  <a:lnTo>
                    <a:pt x="22" y="143"/>
                  </a:lnTo>
                  <a:lnTo>
                    <a:pt x="22" y="115"/>
                  </a:lnTo>
                  <a:lnTo>
                    <a:pt x="29" y="72"/>
                  </a:lnTo>
                  <a:lnTo>
                    <a:pt x="36" y="43"/>
                  </a:lnTo>
                  <a:lnTo>
                    <a:pt x="50" y="22"/>
                  </a:lnTo>
                  <a:lnTo>
                    <a:pt x="65" y="7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2" name="Freeform 10"/>
            <p:cNvSpPr>
              <a:spLocks noChangeAspect="1" noEditPoints="1"/>
            </p:cNvSpPr>
            <p:nvPr/>
          </p:nvSpPr>
          <p:spPr>
            <a:xfrm>
              <a:off x="4010" y="3297"/>
              <a:ext cx="122" cy="186"/>
            </a:xfrm>
            <a:custGeom>
              <a:avLst/>
              <a:gdLst>
                <a:gd name="txL" fmla="*/ 0 w 122"/>
                <a:gd name="txT" fmla="*/ 0 h 186"/>
                <a:gd name="txR" fmla="*/ 122 w 122"/>
                <a:gd name="txB" fmla="*/ 186 h 186"/>
              </a:gdLst>
              <a:ahLst/>
              <a:cxnLst>
                <a:cxn ang="0">
                  <a:pos x="43" y="100"/>
                </a:cxn>
                <a:cxn ang="0">
                  <a:pos x="43" y="86"/>
                </a:cxn>
                <a:cxn ang="0">
                  <a:pos x="50" y="79"/>
                </a:cxn>
                <a:cxn ang="0">
                  <a:pos x="65" y="79"/>
                </a:cxn>
                <a:cxn ang="0">
                  <a:pos x="79" y="86"/>
                </a:cxn>
                <a:cxn ang="0">
                  <a:pos x="93" y="93"/>
                </a:cxn>
                <a:cxn ang="0">
                  <a:pos x="100" y="129"/>
                </a:cxn>
                <a:cxn ang="0">
                  <a:pos x="93" y="165"/>
                </a:cxn>
                <a:cxn ang="0">
                  <a:pos x="86" y="172"/>
                </a:cxn>
                <a:cxn ang="0">
                  <a:pos x="65" y="179"/>
                </a:cxn>
                <a:cxn ang="0">
                  <a:pos x="50" y="179"/>
                </a:cxn>
                <a:cxn ang="0">
                  <a:pos x="43" y="165"/>
                </a:cxn>
                <a:cxn ang="0">
                  <a:pos x="43" y="100"/>
                </a:cxn>
                <a:cxn ang="0">
                  <a:pos x="14" y="172"/>
                </a:cxn>
                <a:cxn ang="0">
                  <a:pos x="21" y="179"/>
                </a:cxn>
                <a:cxn ang="0">
                  <a:pos x="29" y="179"/>
                </a:cxn>
                <a:cxn ang="0">
                  <a:pos x="57" y="186"/>
                </a:cxn>
                <a:cxn ang="0">
                  <a:pos x="86" y="179"/>
                </a:cxn>
                <a:cxn ang="0">
                  <a:pos x="108" y="165"/>
                </a:cxn>
                <a:cxn ang="0">
                  <a:pos x="122" y="143"/>
                </a:cxn>
                <a:cxn ang="0">
                  <a:pos x="122" y="122"/>
                </a:cxn>
                <a:cxn ang="0">
                  <a:pos x="108" y="79"/>
                </a:cxn>
                <a:cxn ang="0">
                  <a:pos x="93" y="65"/>
                </a:cxn>
                <a:cxn ang="0">
                  <a:pos x="72" y="57"/>
                </a:cxn>
                <a:cxn ang="0">
                  <a:pos x="65" y="65"/>
                </a:cxn>
                <a:cxn ang="0">
                  <a:pos x="50" y="72"/>
                </a:cxn>
                <a:cxn ang="0">
                  <a:pos x="43" y="79"/>
                </a:cxn>
                <a:cxn ang="0">
                  <a:pos x="43" y="79"/>
                </a:cxn>
                <a:cxn ang="0">
                  <a:pos x="43" y="79"/>
                </a:cxn>
                <a:cxn ang="0">
                  <a:pos x="43" y="0"/>
                </a:cxn>
                <a:cxn ang="0">
                  <a:pos x="36" y="0"/>
                </a:cxn>
                <a:cxn ang="0">
                  <a:pos x="21" y="7"/>
                </a:cxn>
                <a:cxn ang="0">
                  <a:pos x="0" y="7"/>
                </a:cxn>
                <a:cxn ang="0">
                  <a:pos x="0" y="14"/>
                </a:cxn>
                <a:cxn ang="0">
                  <a:pos x="7" y="14"/>
                </a:cxn>
                <a:cxn ang="0">
                  <a:pos x="7" y="14"/>
                </a:cxn>
                <a:cxn ang="0">
                  <a:pos x="14" y="22"/>
                </a:cxn>
                <a:cxn ang="0">
                  <a:pos x="14" y="29"/>
                </a:cxn>
                <a:cxn ang="0">
                  <a:pos x="14" y="172"/>
                </a:cxn>
              </a:cxnLst>
              <a:rect l="txL" t="txT" r="txR" b="txB"/>
              <a:pathLst>
                <a:path w="122" h="186">
                  <a:moveTo>
                    <a:pt x="43" y="100"/>
                  </a:moveTo>
                  <a:lnTo>
                    <a:pt x="43" y="86"/>
                  </a:lnTo>
                  <a:lnTo>
                    <a:pt x="50" y="79"/>
                  </a:lnTo>
                  <a:lnTo>
                    <a:pt x="65" y="79"/>
                  </a:lnTo>
                  <a:lnTo>
                    <a:pt x="79" y="86"/>
                  </a:lnTo>
                  <a:lnTo>
                    <a:pt x="93" y="93"/>
                  </a:lnTo>
                  <a:lnTo>
                    <a:pt x="100" y="129"/>
                  </a:lnTo>
                  <a:lnTo>
                    <a:pt x="93" y="165"/>
                  </a:lnTo>
                  <a:lnTo>
                    <a:pt x="86" y="172"/>
                  </a:lnTo>
                  <a:lnTo>
                    <a:pt x="65" y="179"/>
                  </a:lnTo>
                  <a:lnTo>
                    <a:pt x="50" y="179"/>
                  </a:lnTo>
                  <a:lnTo>
                    <a:pt x="43" y="165"/>
                  </a:lnTo>
                  <a:lnTo>
                    <a:pt x="43" y="100"/>
                  </a:lnTo>
                  <a:close/>
                  <a:moveTo>
                    <a:pt x="14" y="172"/>
                  </a:moveTo>
                  <a:lnTo>
                    <a:pt x="21" y="179"/>
                  </a:lnTo>
                  <a:lnTo>
                    <a:pt x="29" y="179"/>
                  </a:lnTo>
                  <a:lnTo>
                    <a:pt x="57" y="186"/>
                  </a:lnTo>
                  <a:lnTo>
                    <a:pt x="86" y="179"/>
                  </a:lnTo>
                  <a:lnTo>
                    <a:pt x="108" y="165"/>
                  </a:lnTo>
                  <a:lnTo>
                    <a:pt x="122" y="143"/>
                  </a:lnTo>
                  <a:lnTo>
                    <a:pt x="122" y="122"/>
                  </a:lnTo>
                  <a:lnTo>
                    <a:pt x="108" y="79"/>
                  </a:lnTo>
                  <a:lnTo>
                    <a:pt x="93" y="65"/>
                  </a:lnTo>
                  <a:lnTo>
                    <a:pt x="72" y="57"/>
                  </a:lnTo>
                  <a:lnTo>
                    <a:pt x="65" y="65"/>
                  </a:lnTo>
                  <a:lnTo>
                    <a:pt x="50" y="72"/>
                  </a:lnTo>
                  <a:lnTo>
                    <a:pt x="43" y="79"/>
                  </a:lnTo>
                  <a:lnTo>
                    <a:pt x="43" y="0"/>
                  </a:lnTo>
                  <a:lnTo>
                    <a:pt x="36" y="0"/>
                  </a:lnTo>
                  <a:lnTo>
                    <a:pt x="21" y="7"/>
                  </a:lnTo>
                  <a:lnTo>
                    <a:pt x="0" y="7"/>
                  </a:lnTo>
                  <a:lnTo>
                    <a:pt x="0" y="14"/>
                  </a:lnTo>
                  <a:lnTo>
                    <a:pt x="7" y="14"/>
                  </a:lnTo>
                  <a:lnTo>
                    <a:pt x="14" y="22"/>
                  </a:lnTo>
                  <a:lnTo>
                    <a:pt x="14" y="29"/>
                  </a:lnTo>
                  <a:lnTo>
                    <a:pt x="14" y="172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3" name="Freeform 11"/>
            <p:cNvSpPr>
              <a:spLocks noChangeAspect="1"/>
            </p:cNvSpPr>
            <p:nvPr/>
          </p:nvSpPr>
          <p:spPr>
            <a:xfrm>
              <a:off x="4146" y="3297"/>
              <a:ext cx="65" cy="237"/>
            </a:xfrm>
            <a:custGeom>
              <a:avLst/>
              <a:gdLst>
                <a:gd name="txL" fmla="*/ 0 w 65"/>
                <a:gd name="txT" fmla="*/ 0 h 237"/>
                <a:gd name="txR" fmla="*/ 65 w 65"/>
                <a:gd name="txB" fmla="*/ 237 h 237"/>
              </a:gdLst>
              <a:ahLst/>
              <a:cxnLst>
                <a:cxn ang="0">
                  <a:pos x="0" y="237"/>
                </a:cxn>
                <a:cxn ang="0">
                  <a:pos x="29" y="215"/>
                </a:cxn>
                <a:cxn ang="0">
                  <a:pos x="51" y="186"/>
                </a:cxn>
                <a:cxn ang="0">
                  <a:pos x="58" y="158"/>
                </a:cxn>
                <a:cxn ang="0">
                  <a:pos x="65" y="122"/>
                </a:cxn>
                <a:cxn ang="0">
                  <a:pos x="58" y="79"/>
                </a:cxn>
                <a:cxn ang="0">
                  <a:pos x="43" y="43"/>
                </a:cxn>
                <a:cxn ang="0">
                  <a:pos x="22" y="22"/>
                </a:cxn>
                <a:cxn ang="0">
                  <a:pos x="0" y="0"/>
                </a:cxn>
                <a:cxn ang="0">
                  <a:pos x="0" y="7"/>
                </a:cxn>
                <a:cxn ang="0">
                  <a:pos x="29" y="36"/>
                </a:cxn>
                <a:cxn ang="0">
                  <a:pos x="36" y="65"/>
                </a:cxn>
                <a:cxn ang="0">
                  <a:pos x="43" y="93"/>
                </a:cxn>
                <a:cxn ang="0">
                  <a:pos x="43" y="122"/>
                </a:cxn>
                <a:cxn ang="0">
                  <a:pos x="43" y="165"/>
                </a:cxn>
                <a:cxn ang="0">
                  <a:pos x="29" y="201"/>
                </a:cxn>
                <a:cxn ang="0">
                  <a:pos x="15" y="215"/>
                </a:cxn>
                <a:cxn ang="0">
                  <a:pos x="0" y="229"/>
                </a:cxn>
                <a:cxn ang="0">
                  <a:pos x="0" y="237"/>
                </a:cxn>
              </a:cxnLst>
              <a:rect l="txL" t="txT" r="txR" b="txB"/>
              <a:pathLst>
                <a:path w="65" h="237">
                  <a:moveTo>
                    <a:pt x="0" y="237"/>
                  </a:moveTo>
                  <a:lnTo>
                    <a:pt x="29" y="215"/>
                  </a:lnTo>
                  <a:lnTo>
                    <a:pt x="51" y="186"/>
                  </a:lnTo>
                  <a:lnTo>
                    <a:pt x="58" y="158"/>
                  </a:lnTo>
                  <a:lnTo>
                    <a:pt x="65" y="122"/>
                  </a:lnTo>
                  <a:lnTo>
                    <a:pt x="58" y="79"/>
                  </a:lnTo>
                  <a:lnTo>
                    <a:pt x="43" y="43"/>
                  </a:lnTo>
                  <a:lnTo>
                    <a:pt x="22" y="22"/>
                  </a:lnTo>
                  <a:lnTo>
                    <a:pt x="0" y="0"/>
                  </a:lnTo>
                  <a:lnTo>
                    <a:pt x="0" y="7"/>
                  </a:lnTo>
                  <a:lnTo>
                    <a:pt x="29" y="36"/>
                  </a:lnTo>
                  <a:lnTo>
                    <a:pt x="36" y="65"/>
                  </a:lnTo>
                  <a:lnTo>
                    <a:pt x="43" y="93"/>
                  </a:lnTo>
                  <a:lnTo>
                    <a:pt x="43" y="122"/>
                  </a:lnTo>
                  <a:lnTo>
                    <a:pt x="43" y="165"/>
                  </a:lnTo>
                  <a:lnTo>
                    <a:pt x="29" y="201"/>
                  </a:lnTo>
                  <a:lnTo>
                    <a:pt x="15" y="215"/>
                  </a:lnTo>
                  <a:lnTo>
                    <a:pt x="0" y="229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4" name="Freeform 12"/>
            <p:cNvSpPr>
              <a:spLocks noChangeAspect="1"/>
            </p:cNvSpPr>
            <p:nvPr/>
          </p:nvSpPr>
          <p:spPr>
            <a:xfrm>
              <a:off x="1569" y="866"/>
              <a:ext cx="775" cy="1"/>
            </a:xfrm>
            <a:custGeom>
              <a:avLst/>
              <a:gdLst>
                <a:gd name="txL" fmla="*/ 0 w 775"/>
                <a:gd name="txT" fmla="*/ 0 h 1"/>
                <a:gd name="txR" fmla="*/ 775 w 775"/>
                <a:gd name="txB" fmla="*/ 1 h 1"/>
              </a:gdLst>
              <a:ahLst/>
              <a:cxnLst>
                <a:cxn ang="0">
                  <a:pos x="775" y="0"/>
                </a:cxn>
                <a:cxn ang="0">
                  <a:pos x="0" y="0"/>
                </a:cxn>
                <a:cxn ang="0">
                  <a:pos x="775" y="0"/>
                </a:cxn>
                <a:cxn ang="0">
                  <a:pos x="775" y="0"/>
                </a:cxn>
              </a:cxnLst>
              <a:rect l="txL" t="txT" r="txR" b="txB"/>
              <a:pathLst>
                <a:path w="775" h="1">
                  <a:moveTo>
                    <a:pt x="775" y="0"/>
                  </a:moveTo>
                  <a:lnTo>
                    <a:pt x="0" y="0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5" name="Freeform 13"/>
            <p:cNvSpPr>
              <a:spLocks noChangeAspect="1" noEditPoints="1"/>
            </p:cNvSpPr>
            <p:nvPr/>
          </p:nvSpPr>
          <p:spPr>
            <a:xfrm>
              <a:off x="1569" y="866"/>
              <a:ext cx="1" cy="2030"/>
            </a:xfrm>
            <a:custGeom>
              <a:avLst/>
              <a:gdLst>
                <a:gd name="txL" fmla="*/ 0 w 1"/>
                <a:gd name="txT" fmla="*/ 0 h 2030"/>
                <a:gd name="txR" fmla="*/ 1 w 1"/>
                <a:gd name="txB" fmla="*/ 2030 h 2030"/>
              </a:gdLst>
              <a:ahLst/>
              <a:cxnLst>
                <a:cxn ang="0">
                  <a:pos x="0" y="0"/>
                </a:cxn>
                <a:cxn ang="0">
                  <a:pos x="0" y="203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030">
                  <a:moveTo>
                    <a:pt x="0" y="0"/>
                  </a:moveTo>
                  <a:lnTo>
                    <a:pt x="0" y="203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6" name="Freeform 14"/>
            <p:cNvSpPr>
              <a:spLocks noChangeAspect="1" noEditPoints="1"/>
            </p:cNvSpPr>
            <p:nvPr/>
          </p:nvSpPr>
          <p:spPr>
            <a:xfrm>
              <a:off x="1569" y="2896"/>
              <a:ext cx="775" cy="1"/>
            </a:xfrm>
            <a:custGeom>
              <a:avLst/>
              <a:gdLst>
                <a:gd name="txL" fmla="*/ 0 w 775"/>
                <a:gd name="txT" fmla="*/ 0 h 1"/>
                <a:gd name="txR" fmla="*/ 775 w 77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75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75" h="1">
                  <a:moveTo>
                    <a:pt x="0" y="0"/>
                  </a:moveTo>
                  <a:lnTo>
                    <a:pt x="775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7" name="Freeform 15"/>
            <p:cNvSpPr>
              <a:spLocks noChangeAspect="1"/>
            </p:cNvSpPr>
            <p:nvPr/>
          </p:nvSpPr>
          <p:spPr>
            <a:xfrm>
              <a:off x="2344" y="809"/>
              <a:ext cx="122" cy="122"/>
            </a:xfrm>
            <a:custGeom>
              <a:avLst/>
              <a:gdLst>
                <a:gd name="txL" fmla="*/ 0 w 122"/>
                <a:gd name="txT" fmla="*/ 0 h 122"/>
                <a:gd name="txR" fmla="*/ 122 w 122"/>
                <a:gd name="txB" fmla="*/ 122 h 122"/>
              </a:gdLst>
              <a:ahLst/>
              <a:cxnLst>
                <a:cxn ang="0">
                  <a:pos x="65" y="122"/>
                </a:cxn>
                <a:cxn ang="0">
                  <a:pos x="86" y="115"/>
                </a:cxn>
                <a:cxn ang="0">
                  <a:pos x="108" y="100"/>
                </a:cxn>
                <a:cxn ang="0">
                  <a:pos x="115" y="86"/>
                </a:cxn>
                <a:cxn ang="0">
                  <a:pos x="122" y="57"/>
                </a:cxn>
                <a:cxn ang="0">
                  <a:pos x="115" y="36"/>
                </a:cxn>
                <a:cxn ang="0">
                  <a:pos x="108" y="22"/>
                </a:cxn>
                <a:cxn ang="0">
                  <a:pos x="86" y="7"/>
                </a:cxn>
                <a:cxn ang="0">
                  <a:pos x="65" y="0"/>
                </a:cxn>
                <a:cxn ang="0">
                  <a:pos x="43" y="7"/>
                </a:cxn>
                <a:cxn ang="0">
                  <a:pos x="22" y="22"/>
                </a:cxn>
                <a:cxn ang="0">
                  <a:pos x="7" y="36"/>
                </a:cxn>
                <a:cxn ang="0">
                  <a:pos x="0" y="57"/>
                </a:cxn>
                <a:cxn ang="0">
                  <a:pos x="7" y="86"/>
                </a:cxn>
                <a:cxn ang="0">
                  <a:pos x="22" y="100"/>
                </a:cxn>
                <a:cxn ang="0">
                  <a:pos x="43" y="115"/>
                </a:cxn>
                <a:cxn ang="0">
                  <a:pos x="65" y="122"/>
                </a:cxn>
                <a:cxn ang="0">
                  <a:pos x="65" y="122"/>
                </a:cxn>
              </a:cxnLst>
              <a:rect l="txL" t="txT" r="txR" b="txB"/>
              <a:pathLst>
                <a:path w="122" h="122">
                  <a:moveTo>
                    <a:pt x="65" y="122"/>
                  </a:moveTo>
                  <a:lnTo>
                    <a:pt x="86" y="115"/>
                  </a:lnTo>
                  <a:lnTo>
                    <a:pt x="108" y="100"/>
                  </a:lnTo>
                  <a:lnTo>
                    <a:pt x="115" y="86"/>
                  </a:lnTo>
                  <a:lnTo>
                    <a:pt x="122" y="57"/>
                  </a:lnTo>
                  <a:lnTo>
                    <a:pt x="115" y="36"/>
                  </a:lnTo>
                  <a:lnTo>
                    <a:pt x="108" y="22"/>
                  </a:lnTo>
                  <a:lnTo>
                    <a:pt x="86" y="7"/>
                  </a:lnTo>
                  <a:lnTo>
                    <a:pt x="65" y="0"/>
                  </a:lnTo>
                  <a:lnTo>
                    <a:pt x="43" y="7"/>
                  </a:lnTo>
                  <a:lnTo>
                    <a:pt x="22" y="22"/>
                  </a:lnTo>
                  <a:lnTo>
                    <a:pt x="7" y="36"/>
                  </a:lnTo>
                  <a:lnTo>
                    <a:pt x="0" y="57"/>
                  </a:lnTo>
                  <a:lnTo>
                    <a:pt x="7" y="86"/>
                  </a:lnTo>
                  <a:lnTo>
                    <a:pt x="22" y="100"/>
                  </a:lnTo>
                  <a:lnTo>
                    <a:pt x="43" y="115"/>
                  </a:lnTo>
                  <a:lnTo>
                    <a:pt x="65" y="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8" name="Freeform 16"/>
            <p:cNvSpPr>
              <a:spLocks noChangeAspect="1"/>
            </p:cNvSpPr>
            <p:nvPr/>
          </p:nvSpPr>
          <p:spPr>
            <a:xfrm>
              <a:off x="2409" y="866"/>
              <a:ext cx="57" cy="65"/>
            </a:xfrm>
            <a:custGeom>
              <a:avLst/>
              <a:gdLst>
                <a:gd name="txL" fmla="*/ 0 w 57"/>
                <a:gd name="txT" fmla="*/ 0 h 65"/>
                <a:gd name="txR" fmla="*/ 57 w 57"/>
                <a:gd name="txB" fmla="*/ 65 h 65"/>
              </a:gdLst>
              <a:ahLst/>
              <a:cxnLst>
                <a:cxn ang="0">
                  <a:pos x="0" y="65"/>
                </a:cxn>
                <a:cxn ang="0">
                  <a:pos x="21" y="58"/>
                </a:cxn>
                <a:cxn ang="0">
                  <a:pos x="43" y="43"/>
                </a:cxn>
                <a:cxn ang="0">
                  <a:pos x="50" y="29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0" y="29"/>
                </a:cxn>
                <a:cxn ang="0">
                  <a:pos x="43" y="43"/>
                </a:cxn>
                <a:cxn ang="0">
                  <a:pos x="21" y="58"/>
                </a:cxn>
                <a:cxn ang="0">
                  <a:pos x="0" y="65"/>
                </a:cxn>
                <a:cxn ang="0">
                  <a:pos x="0" y="65"/>
                </a:cxn>
              </a:cxnLst>
              <a:rect l="txL" t="txT" r="txR" b="txB"/>
              <a:pathLst>
                <a:path w="57" h="65">
                  <a:moveTo>
                    <a:pt x="0" y="65"/>
                  </a:moveTo>
                  <a:lnTo>
                    <a:pt x="21" y="58"/>
                  </a:lnTo>
                  <a:lnTo>
                    <a:pt x="43" y="43"/>
                  </a:lnTo>
                  <a:lnTo>
                    <a:pt x="50" y="29"/>
                  </a:lnTo>
                  <a:lnTo>
                    <a:pt x="57" y="0"/>
                  </a:lnTo>
                  <a:lnTo>
                    <a:pt x="50" y="29"/>
                  </a:lnTo>
                  <a:lnTo>
                    <a:pt x="43" y="43"/>
                  </a:lnTo>
                  <a:lnTo>
                    <a:pt x="21" y="58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29" name="Freeform 17"/>
            <p:cNvSpPr>
              <a:spLocks noChangeAspect="1" noEditPoints="1"/>
            </p:cNvSpPr>
            <p:nvPr/>
          </p:nvSpPr>
          <p:spPr>
            <a:xfrm>
              <a:off x="2409" y="809"/>
              <a:ext cx="57" cy="57"/>
            </a:xfrm>
            <a:custGeom>
              <a:avLst/>
              <a:gdLst>
                <a:gd name="txL" fmla="*/ 0 w 57"/>
                <a:gd name="txT" fmla="*/ 0 h 57"/>
                <a:gd name="txR" fmla="*/ 57 w 57"/>
                <a:gd name="txB" fmla="*/ 57 h 57"/>
              </a:gdLst>
              <a:ahLst/>
              <a:cxnLst>
                <a:cxn ang="0">
                  <a:pos x="57" y="57"/>
                </a:cxn>
                <a:cxn ang="0">
                  <a:pos x="50" y="36"/>
                </a:cxn>
                <a:cxn ang="0">
                  <a:pos x="43" y="22"/>
                </a:cxn>
                <a:cxn ang="0">
                  <a:pos x="21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1" y="7"/>
                </a:cxn>
                <a:cxn ang="0">
                  <a:pos x="43" y="22"/>
                </a:cxn>
                <a:cxn ang="0">
                  <a:pos x="50" y="36"/>
                </a:cxn>
                <a:cxn ang="0">
                  <a:pos x="57" y="57"/>
                </a:cxn>
                <a:cxn ang="0">
                  <a:pos x="57" y="57"/>
                </a:cxn>
                <a:cxn ang="0">
                  <a:pos x="57" y="57"/>
                </a:cxn>
                <a:cxn ang="0">
                  <a:pos x="57" y="57"/>
                </a:cxn>
                <a:cxn ang="0">
                  <a:pos x="57" y="57"/>
                </a:cxn>
              </a:cxnLst>
              <a:rect l="txL" t="txT" r="txR" b="txB"/>
              <a:pathLst>
                <a:path w="57" h="57">
                  <a:moveTo>
                    <a:pt x="57" y="57"/>
                  </a:moveTo>
                  <a:lnTo>
                    <a:pt x="50" y="36"/>
                  </a:lnTo>
                  <a:lnTo>
                    <a:pt x="43" y="22"/>
                  </a:lnTo>
                  <a:lnTo>
                    <a:pt x="21" y="7"/>
                  </a:lnTo>
                  <a:lnTo>
                    <a:pt x="0" y="0"/>
                  </a:lnTo>
                  <a:lnTo>
                    <a:pt x="21" y="7"/>
                  </a:lnTo>
                  <a:lnTo>
                    <a:pt x="43" y="22"/>
                  </a:lnTo>
                  <a:lnTo>
                    <a:pt x="50" y="36"/>
                  </a:lnTo>
                  <a:lnTo>
                    <a:pt x="57" y="57"/>
                  </a:lnTo>
                  <a:close/>
                  <a:moveTo>
                    <a:pt x="57" y="57"/>
                  </a:moveTo>
                  <a:lnTo>
                    <a:pt x="57" y="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0" name="Freeform 18"/>
            <p:cNvSpPr>
              <a:spLocks noChangeAspect="1" noEditPoints="1"/>
            </p:cNvSpPr>
            <p:nvPr/>
          </p:nvSpPr>
          <p:spPr>
            <a:xfrm>
              <a:off x="2344" y="809"/>
              <a:ext cx="65" cy="57"/>
            </a:xfrm>
            <a:custGeom>
              <a:avLst/>
              <a:gdLst>
                <a:gd name="txL" fmla="*/ 0 w 65"/>
                <a:gd name="txT" fmla="*/ 0 h 57"/>
                <a:gd name="txR" fmla="*/ 65 w 65"/>
                <a:gd name="txB" fmla="*/ 57 h 57"/>
              </a:gdLst>
              <a:ahLst/>
              <a:cxnLst>
                <a:cxn ang="0">
                  <a:pos x="65" y="0"/>
                </a:cxn>
                <a:cxn ang="0">
                  <a:pos x="43" y="7"/>
                </a:cxn>
                <a:cxn ang="0">
                  <a:pos x="22" y="22"/>
                </a:cxn>
                <a:cxn ang="0">
                  <a:pos x="14" y="36"/>
                </a:cxn>
                <a:cxn ang="0">
                  <a:pos x="7" y="57"/>
                </a:cxn>
                <a:cxn ang="0">
                  <a:pos x="0" y="57"/>
                </a:cxn>
                <a:cxn ang="0">
                  <a:pos x="7" y="36"/>
                </a:cxn>
                <a:cxn ang="0">
                  <a:pos x="22" y="22"/>
                </a:cxn>
                <a:cxn ang="0">
                  <a:pos x="43" y="7"/>
                </a:cxn>
                <a:cxn ang="0">
                  <a:pos x="65" y="0"/>
                </a:cxn>
                <a:cxn ang="0">
                  <a:pos x="65" y="0"/>
                </a:cxn>
                <a:cxn ang="0">
                  <a:pos x="65" y="0"/>
                </a:cxn>
                <a:cxn ang="0">
                  <a:pos x="65" y="0"/>
                </a:cxn>
                <a:cxn ang="0">
                  <a:pos x="65" y="0"/>
                </a:cxn>
              </a:cxnLst>
              <a:rect l="txL" t="txT" r="txR" b="txB"/>
              <a:pathLst>
                <a:path w="65" h="57">
                  <a:moveTo>
                    <a:pt x="65" y="0"/>
                  </a:moveTo>
                  <a:lnTo>
                    <a:pt x="43" y="7"/>
                  </a:lnTo>
                  <a:lnTo>
                    <a:pt x="22" y="22"/>
                  </a:lnTo>
                  <a:lnTo>
                    <a:pt x="14" y="36"/>
                  </a:lnTo>
                  <a:lnTo>
                    <a:pt x="7" y="57"/>
                  </a:lnTo>
                  <a:lnTo>
                    <a:pt x="0" y="57"/>
                  </a:lnTo>
                  <a:lnTo>
                    <a:pt x="7" y="36"/>
                  </a:lnTo>
                  <a:lnTo>
                    <a:pt x="22" y="22"/>
                  </a:lnTo>
                  <a:lnTo>
                    <a:pt x="43" y="7"/>
                  </a:lnTo>
                  <a:lnTo>
                    <a:pt x="65" y="0"/>
                  </a:lnTo>
                  <a:close/>
                  <a:moveTo>
                    <a:pt x="65" y="0"/>
                  </a:moveTo>
                  <a:lnTo>
                    <a:pt x="65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1" name="Freeform 19"/>
            <p:cNvSpPr>
              <a:spLocks noChangeAspect="1" noEditPoints="1"/>
            </p:cNvSpPr>
            <p:nvPr/>
          </p:nvSpPr>
          <p:spPr>
            <a:xfrm>
              <a:off x="2344" y="866"/>
              <a:ext cx="65" cy="65"/>
            </a:xfrm>
            <a:custGeom>
              <a:avLst/>
              <a:gdLst>
                <a:gd name="txL" fmla="*/ 0 w 65"/>
                <a:gd name="txT" fmla="*/ 0 h 65"/>
                <a:gd name="txR" fmla="*/ 65 w 65"/>
                <a:gd name="txB" fmla="*/ 65 h 65"/>
              </a:gdLst>
              <a:ahLst/>
              <a:cxnLst>
                <a:cxn ang="0">
                  <a:pos x="0" y="0"/>
                </a:cxn>
                <a:cxn ang="0">
                  <a:pos x="7" y="29"/>
                </a:cxn>
                <a:cxn ang="0">
                  <a:pos x="22" y="43"/>
                </a:cxn>
                <a:cxn ang="0">
                  <a:pos x="43" y="58"/>
                </a:cxn>
                <a:cxn ang="0">
                  <a:pos x="65" y="65"/>
                </a:cxn>
                <a:cxn ang="0">
                  <a:pos x="65" y="65"/>
                </a:cxn>
                <a:cxn ang="0">
                  <a:pos x="43" y="58"/>
                </a:cxn>
                <a:cxn ang="0">
                  <a:pos x="22" y="43"/>
                </a:cxn>
                <a:cxn ang="0">
                  <a:pos x="14" y="29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5" h="65">
                  <a:moveTo>
                    <a:pt x="0" y="0"/>
                  </a:moveTo>
                  <a:lnTo>
                    <a:pt x="7" y="29"/>
                  </a:lnTo>
                  <a:lnTo>
                    <a:pt x="22" y="43"/>
                  </a:lnTo>
                  <a:lnTo>
                    <a:pt x="43" y="58"/>
                  </a:lnTo>
                  <a:lnTo>
                    <a:pt x="65" y="65"/>
                  </a:lnTo>
                  <a:lnTo>
                    <a:pt x="43" y="58"/>
                  </a:lnTo>
                  <a:lnTo>
                    <a:pt x="22" y="43"/>
                  </a:lnTo>
                  <a:lnTo>
                    <a:pt x="14" y="29"/>
                  </a:lnTo>
                  <a:lnTo>
                    <a:pt x="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2" name="Freeform 20"/>
            <p:cNvSpPr>
              <a:spLocks noChangeAspect="1"/>
            </p:cNvSpPr>
            <p:nvPr/>
          </p:nvSpPr>
          <p:spPr>
            <a:xfrm>
              <a:off x="2409" y="931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3" name="Freeform 21"/>
            <p:cNvSpPr>
              <a:spLocks noChangeAspect="1"/>
            </p:cNvSpPr>
            <p:nvPr/>
          </p:nvSpPr>
          <p:spPr>
            <a:xfrm>
              <a:off x="2344" y="2831"/>
              <a:ext cx="115" cy="129"/>
            </a:xfrm>
            <a:custGeom>
              <a:avLst/>
              <a:gdLst>
                <a:gd name="txL" fmla="*/ 0 w 115"/>
                <a:gd name="txT" fmla="*/ 0 h 129"/>
                <a:gd name="txR" fmla="*/ 115 w 115"/>
                <a:gd name="txB" fmla="*/ 129 h 129"/>
              </a:gdLst>
              <a:ahLst/>
              <a:cxnLst>
                <a:cxn ang="0">
                  <a:pos x="57" y="129"/>
                </a:cxn>
                <a:cxn ang="0">
                  <a:pos x="79" y="122"/>
                </a:cxn>
                <a:cxn ang="0">
                  <a:pos x="101" y="108"/>
                </a:cxn>
                <a:cxn ang="0">
                  <a:pos x="108" y="93"/>
                </a:cxn>
                <a:cxn ang="0">
                  <a:pos x="115" y="65"/>
                </a:cxn>
                <a:cxn ang="0">
                  <a:pos x="108" y="43"/>
                </a:cxn>
                <a:cxn ang="0">
                  <a:pos x="101" y="22"/>
                </a:cxn>
                <a:cxn ang="0">
                  <a:pos x="79" y="7"/>
                </a:cxn>
                <a:cxn ang="0">
                  <a:pos x="57" y="0"/>
                </a:cxn>
                <a:cxn ang="0">
                  <a:pos x="36" y="7"/>
                </a:cxn>
                <a:cxn ang="0">
                  <a:pos x="14" y="22"/>
                </a:cxn>
                <a:cxn ang="0">
                  <a:pos x="7" y="43"/>
                </a:cxn>
                <a:cxn ang="0">
                  <a:pos x="0" y="65"/>
                </a:cxn>
                <a:cxn ang="0">
                  <a:pos x="7" y="93"/>
                </a:cxn>
                <a:cxn ang="0">
                  <a:pos x="14" y="108"/>
                </a:cxn>
                <a:cxn ang="0">
                  <a:pos x="36" y="122"/>
                </a:cxn>
                <a:cxn ang="0">
                  <a:pos x="57" y="129"/>
                </a:cxn>
                <a:cxn ang="0">
                  <a:pos x="57" y="129"/>
                </a:cxn>
              </a:cxnLst>
              <a:rect l="txL" t="txT" r="txR" b="txB"/>
              <a:pathLst>
                <a:path w="115" h="129">
                  <a:moveTo>
                    <a:pt x="57" y="129"/>
                  </a:moveTo>
                  <a:lnTo>
                    <a:pt x="79" y="122"/>
                  </a:lnTo>
                  <a:lnTo>
                    <a:pt x="101" y="108"/>
                  </a:lnTo>
                  <a:lnTo>
                    <a:pt x="108" y="93"/>
                  </a:lnTo>
                  <a:lnTo>
                    <a:pt x="115" y="65"/>
                  </a:lnTo>
                  <a:lnTo>
                    <a:pt x="108" y="43"/>
                  </a:lnTo>
                  <a:lnTo>
                    <a:pt x="101" y="22"/>
                  </a:lnTo>
                  <a:lnTo>
                    <a:pt x="79" y="7"/>
                  </a:lnTo>
                  <a:lnTo>
                    <a:pt x="57" y="0"/>
                  </a:lnTo>
                  <a:lnTo>
                    <a:pt x="36" y="7"/>
                  </a:lnTo>
                  <a:lnTo>
                    <a:pt x="14" y="22"/>
                  </a:lnTo>
                  <a:lnTo>
                    <a:pt x="7" y="43"/>
                  </a:lnTo>
                  <a:lnTo>
                    <a:pt x="0" y="65"/>
                  </a:lnTo>
                  <a:lnTo>
                    <a:pt x="7" y="93"/>
                  </a:lnTo>
                  <a:lnTo>
                    <a:pt x="14" y="108"/>
                  </a:lnTo>
                  <a:lnTo>
                    <a:pt x="36" y="122"/>
                  </a:lnTo>
                  <a:lnTo>
                    <a:pt x="57" y="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4" name="Freeform 22"/>
            <p:cNvSpPr>
              <a:spLocks noChangeAspect="1"/>
            </p:cNvSpPr>
            <p:nvPr/>
          </p:nvSpPr>
          <p:spPr>
            <a:xfrm>
              <a:off x="2401" y="2896"/>
              <a:ext cx="58" cy="64"/>
            </a:xfrm>
            <a:custGeom>
              <a:avLst/>
              <a:gdLst>
                <a:gd name="txL" fmla="*/ 0 w 58"/>
                <a:gd name="txT" fmla="*/ 0 h 64"/>
                <a:gd name="txR" fmla="*/ 58 w 58"/>
                <a:gd name="txB" fmla="*/ 64 h 64"/>
              </a:gdLst>
              <a:ahLst/>
              <a:cxnLst>
                <a:cxn ang="0">
                  <a:pos x="0" y="64"/>
                </a:cxn>
                <a:cxn ang="0">
                  <a:pos x="22" y="57"/>
                </a:cxn>
                <a:cxn ang="0">
                  <a:pos x="44" y="43"/>
                </a:cxn>
                <a:cxn ang="0">
                  <a:pos x="51" y="28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51" y="28"/>
                </a:cxn>
                <a:cxn ang="0">
                  <a:pos x="44" y="43"/>
                </a:cxn>
                <a:cxn ang="0">
                  <a:pos x="22" y="57"/>
                </a:cxn>
                <a:cxn ang="0">
                  <a:pos x="0" y="64"/>
                </a:cxn>
                <a:cxn ang="0">
                  <a:pos x="0" y="64"/>
                </a:cxn>
              </a:cxnLst>
              <a:rect l="txL" t="txT" r="txR" b="txB"/>
              <a:pathLst>
                <a:path w="58" h="64">
                  <a:moveTo>
                    <a:pt x="0" y="64"/>
                  </a:moveTo>
                  <a:lnTo>
                    <a:pt x="22" y="57"/>
                  </a:lnTo>
                  <a:lnTo>
                    <a:pt x="44" y="43"/>
                  </a:lnTo>
                  <a:lnTo>
                    <a:pt x="51" y="28"/>
                  </a:lnTo>
                  <a:lnTo>
                    <a:pt x="58" y="0"/>
                  </a:lnTo>
                  <a:lnTo>
                    <a:pt x="51" y="28"/>
                  </a:lnTo>
                  <a:lnTo>
                    <a:pt x="44" y="43"/>
                  </a:lnTo>
                  <a:lnTo>
                    <a:pt x="22" y="57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5" name="Freeform 23"/>
            <p:cNvSpPr>
              <a:spLocks noChangeAspect="1" noEditPoints="1"/>
            </p:cNvSpPr>
            <p:nvPr/>
          </p:nvSpPr>
          <p:spPr>
            <a:xfrm>
              <a:off x="2401" y="2831"/>
              <a:ext cx="58" cy="65"/>
            </a:xfrm>
            <a:custGeom>
              <a:avLst/>
              <a:gdLst>
                <a:gd name="txL" fmla="*/ 0 w 58"/>
                <a:gd name="txT" fmla="*/ 0 h 65"/>
                <a:gd name="txR" fmla="*/ 58 w 58"/>
                <a:gd name="txB" fmla="*/ 65 h 65"/>
              </a:gdLst>
              <a:ahLst/>
              <a:cxnLst>
                <a:cxn ang="0">
                  <a:pos x="58" y="65"/>
                </a:cxn>
                <a:cxn ang="0">
                  <a:pos x="51" y="43"/>
                </a:cxn>
                <a:cxn ang="0">
                  <a:pos x="44" y="22"/>
                </a:cxn>
                <a:cxn ang="0">
                  <a:pos x="22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2" y="7"/>
                </a:cxn>
                <a:cxn ang="0">
                  <a:pos x="44" y="22"/>
                </a:cxn>
                <a:cxn ang="0">
                  <a:pos x="51" y="43"/>
                </a:cxn>
                <a:cxn ang="0">
                  <a:pos x="58" y="65"/>
                </a:cxn>
                <a:cxn ang="0">
                  <a:pos x="58" y="65"/>
                </a:cxn>
                <a:cxn ang="0">
                  <a:pos x="58" y="65"/>
                </a:cxn>
                <a:cxn ang="0">
                  <a:pos x="58" y="65"/>
                </a:cxn>
                <a:cxn ang="0">
                  <a:pos x="58" y="65"/>
                </a:cxn>
              </a:cxnLst>
              <a:rect l="txL" t="txT" r="txR" b="txB"/>
              <a:pathLst>
                <a:path w="58" h="65">
                  <a:moveTo>
                    <a:pt x="58" y="65"/>
                  </a:moveTo>
                  <a:lnTo>
                    <a:pt x="51" y="43"/>
                  </a:lnTo>
                  <a:lnTo>
                    <a:pt x="44" y="22"/>
                  </a:lnTo>
                  <a:lnTo>
                    <a:pt x="22" y="7"/>
                  </a:lnTo>
                  <a:lnTo>
                    <a:pt x="0" y="0"/>
                  </a:lnTo>
                  <a:lnTo>
                    <a:pt x="22" y="7"/>
                  </a:lnTo>
                  <a:lnTo>
                    <a:pt x="44" y="22"/>
                  </a:lnTo>
                  <a:lnTo>
                    <a:pt x="51" y="43"/>
                  </a:lnTo>
                  <a:lnTo>
                    <a:pt x="58" y="65"/>
                  </a:lnTo>
                  <a:close/>
                  <a:moveTo>
                    <a:pt x="58" y="65"/>
                  </a:moveTo>
                  <a:lnTo>
                    <a:pt x="58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6" name="Freeform 24"/>
            <p:cNvSpPr>
              <a:spLocks noChangeAspect="1" noEditPoints="1"/>
            </p:cNvSpPr>
            <p:nvPr/>
          </p:nvSpPr>
          <p:spPr>
            <a:xfrm>
              <a:off x="2344" y="2831"/>
              <a:ext cx="57" cy="65"/>
            </a:xfrm>
            <a:custGeom>
              <a:avLst/>
              <a:gdLst>
                <a:gd name="txL" fmla="*/ 0 w 57"/>
                <a:gd name="txT" fmla="*/ 0 h 65"/>
                <a:gd name="txR" fmla="*/ 57 w 57"/>
                <a:gd name="txB" fmla="*/ 65 h 65"/>
              </a:gdLst>
              <a:ahLst/>
              <a:cxnLst>
                <a:cxn ang="0">
                  <a:pos x="57" y="0"/>
                </a:cxn>
                <a:cxn ang="0">
                  <a:pos x="36" y="7"/>
                </a:cxn>
                <a:cxn ang="0">
                  <a:pos x="14" y="22"/>
                </a:cxn>
                <a:cxn ang="0">
                  <a:pos x="7" y="43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7" y="43"/>
                </a:cxn>
                <a:cxn ang="0">
                  <a:pos x="14" y="22"/>
                </a:cxn>
                <a:cxn ang="0">
                  <a:pos x="36" y="7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</a:cxnLst>
              <a:rect l="txL" t="txT" r="txR" b="txB"/>
              <a:pathLst>
                <a:path w="57" h="65">
                  <a:moveTo>
                    <a:pt x="57" y="0"/>
                  </a:moveTo>
                  <a:lnTo>
                    <a:pt x="36" y="7"/>
                  </a:lnTo>
                  <a:lnTo>
                    <a:pt x="14" y="22"/>
                  </a:lnTo>
                  <a:lnTo>
                    <a:pt x="7" y="43"/>
                  </a:lnTo>
                  <a:lnTo>
                    <a:pt x="0" y="65"/>
                  </a:lnTo>
                  <a:lnTo>
                    <a:pt x="7" y="43"/>
                  </a:lnTo>
                  <a:lnTo>
                    <a:pt x="14" y="22"/>
                  </a:lnTo>
                  <a:lnTo>
                    <a:pt x="36" y="7"/>
                  </a:lnTo>
                  <a:lnTo>
                    <a:pt x="57" y="0"/>
                  </a:lnTo>
                  <a:close/>
                  <a:moveTo>
                    <a:pt x="57" y="0"/>
                  </a:moveTo>
                  <a:lnTo>
                    <a:pt x="5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7" name="Freeform 25"/>
            <p:cNvSpPr>
              <a:spLocks noChangeAspect="1" noEditPoints="1"/>
            </p:cNvSpPr>
            <p:nvPr/>
          </p:nvSpPr>
          <p:spPr>
            <a:xfrm>
              <a:off x="2344" y="2896"/>
              <a:ext cx="57" cy="64"/>
            </a:xfrm>
            <a:custGeom>
              <a:avLst/>
              <a:gdLst>
                <a:gd name="txL" fmla="*/ 0 w 57"/>
                <a:gd name="txT" fmla="*/ 0 h 64"/>
                <a:gd name="txR" fmla="*/ 57 w 57"/>
                <a:gd name="txB" fmla="*/ 64 h 64"/>
              </a:gdLst>
              <a:ahLst/>
              <a:cxnLst>
                <a:cxn ang="0">
                  <a:pos x="0" y="0"/>
                </a:cxn>
                <a:cxn ang="0">
                  <a:pos x="7" y="28"/>
                </a:cxn>
                <a:cxn ang="0">
                  <a:pos x="14" y="43"/>
                </a:cxn>
                <a:cxn ang="0">
                  <a:pos x="36" y="57"/>
                </a:cxn>
                <a:cxn ang="0">
                  <a:pos x="57" y="64"/>
                </a:cxn>
                <a:cxn ang="0">
                  <a:pos x="57" y="64"/>
                </a:cxn>
                <a:cxn ang="0">
                  <a:pos x="36" y="57"/>
                </a:cxn>
                <a:cxn ang="0">
                  <a:pos x="14" y="43"/>
                </a:cxn>
                <a:cxn ang="0">
                  <a:pos x="7" y="2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64">
                  <a:moveTo>
                    <a:pt x="0" y="0"/>
                  </a:moveTo>
                  <a:lnTo>
                    <a:pt x="7" y="28"/>
                  </a:lnTo>
                  <a:lnTo>
                    <a:pt x="14" y="43"/>
                  </a:lnTo>
                  <a:lnTo>
                    <a:pt x="36" y="57"/>
                  </a:lnTo>
                  <a:lnTo>
                    <a:pt x="57" y="64"/>
                  </a:lnTo>
                  <a:lnTo>
                    <a:pt x="36" y="57"/>
                  </a:lnTo>
                  <a:lnTo>
                    <a:pt x="14" y="43"/>
                  </a:lnTo>
                  <a:lnTo>
                    <a:pt x="7" y="2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8" name="Freeform 26"/>
            <p:cNvSpPr>
              <a:spLocks noChangeAspect="1"/>
            </p:cNvSpPr>
            <p:nvPr/>
          </p:nvSpPr>
          <p:spPr>
            <a:xfrm>
              <a:off x="2401" y="296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9" name="Freeform 27"/>
            <p:cNvSpPr>
              <a:spLocks noChangeAspect="1"/>
            </p:cNvSpPr>
            <p:nvPr/>
          </p:nvSpPr>
          <p:spPr>
            <a:xfrm>
              <a:off x="1030" y="1820"/>
              <a:ext cx="101" cy="122"/>
            </a:xfrm>
            <a:custGeom>
              <a:avLst/>
              <a:gdLst>
                <a:gd name="txL" fmla="*/ 0 w 101"/>
                <a:gd name="txT" fmla="*/ 0 h 122"/>
                <a:gd name="txR" fmla="*/ 101 w 101"/>
                <a:gd name="txB" fmla="*/ 122 h 122"/>
              </a:gdLst>
              <a:ahLst/>
              <a:cxnLst>
                <a:cxn ang="0">
                  <a:pos x="0" y="14"/>
                </a:cxn>
                <a:cxn ang="0">
                  <a:pos x="14" y="14"/>
                </a:cxn>
                <a:cxn ang="0">
                  <a:pos x="22" y="36"/>
                </a:cxn>
                <a:cxn ang="0">
                  <a:pos x="29" y="50"/>
                </a:cxn>
                <a:cxn ang="0">
                  <a:pos x="29" y="72"/>
                </a:cxn>
                <a:cxn ang="0">
                  <a:pos x="29" y="93"/>
                </a:cxn>
                <a:cxn ang="0">
                  <a:pos x="29" y="108"/>
                </a:cxn>
                <a:cxn ang="0">
                  <a:pos x="29" y="115"/>
                </a:cxn>
                <a:cxn ang="0">
                  <a:pos x="29" y="122"/>
                </a:cxn>
                <a:cxn ang="0">
                  <a:pos x="43" y="115"/>
                </a:cxn>
                <a:cxn ang="0">
                  <a:pos x="57" y="93"/>
                </a:cxn>
                <a:cxn ang="0">
                  <a:pos x="65" y="79"/>
                </a:cxn>
                <a:cxn ang="0">
                  <a:pos x="79" y="65"/>
                </a:cxn>
                <a:cxn ang="0">
                  <a:pos x="93" y="36"/>
                </a:cxn>
                <a:cxn ang="0">
                  <a:pos x="101" y="14"/>
                </a:cxn>
                <a:cxn ang="0">
                  <a:pos x="93" y="7"/>
                </a:cxn>
                <a:cxn ang="0">
                  <a:pos x="86" y="0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6" y="22"/>
                </a:cxn>
                <a:cxn ang="0">
                  <a:pos x="86" y="29"/>
                </a:cxn>
                <a:cxn ang="0">
                  <a:pos x="79" y="57"/>
                </a:cxn>
                <a:cxn ang="0">
                  <a:pos x="57" y="86"/>
                </a:cxn>
                <a:cxn ang="0">
                  <a:pos x="50" y="93"/>
                </a:cxn>
                <a:cxn ang="0">
                  <a:pos x="43" y="50"/>
                </a:cxn>
                <a:cxn ang="0">
                  <a:pos x="36" y="7"/>
                </a:cxn>
                <a:cxn ang="0">
                  <a:pos x="36" y="0"/>
                </a:cxn>
                <a:cxn ang="0">
                  <a:pos x="29" y="0"/>
                </a:cxn>
                <a:cxn ang="0">
                  <a:pos x="22" y="7"/>
                </a:cxn>
                <a:cxn ang="0">
                  <a:pos x="0" y="7"/>
                </a:cxn>
                <a:cxn ang="0">
                  <a:pos x="0" y="14"/>
                </a:cxn>
              </a:cxnLst>
              <a:rect l="txL" t="txT" r="txR" b="txB"/>
              <a:pathLst>
                <a:path w="101" h="122">
                  <a:moveTo>
                    <a:pt x="0" y="14"/>
                  </a:moveTo>
                  <a:lnTo>
                    <a:pt x="14" y="14"/>
                  </a:lnTo>
                  <a:lnTo>
                    <a:pt x="22" y="36"/>
                  </a:lnTo>
                  <a:lnTo>
                    <a:pt x="29" y="50"/>
                  </a:lnTo>
                  <a:lnTo>
                    <a:pt x="29" y="72"/>
                  </a:lnTo>
                  <a:lnTo>
                    <a:pt x="29" y="93"/>
                  </a:lnTo>
                  <a:lnTo>
                    <a:pt x="29" y="108"/>
                  </a:lnTo>
                  <a:lnTo>
                    <a:pt x="29" y="115"/>
                  </a:lnTo>
                  <a:lnTo>
                    <a:pt x="29" y="122"/>
                  </a:lnTo>
                  <a:lnTo>
                    <a:pt x="43" y="115"/>
                  </a:lnTo>
                  <a:lnTo>
                    <a:pt x="57" y="93"/>
                  </a:lnTo>
                  <a:lnTo>
                    <a:pt x="65" y="79"/>
                  </a:lnTo>
                  <a:lnTo>
                    <a:pt x="79" y="65"/>
                  </a:lnTo>
                  <a:lnTo>
                    <a:pt x="93" y="36"/>
                  </a:lnTo>
                  <a:lnTo>
                    <a:pt x="101" y="14"/>
                  </a:lnTo>
                  <a:lnTo>
                    <a:pt x="93" y="7"/>
                  </a:lnTo>
                  <a:lnTo>
                    <a:pt x="86" y="0"/>
                  </a:lnTo>
                  <a:lnTo>
                    <a:pt x="79" y="7"/>
                  </a:lnTo>
                  <a:lnTo>
                    <a:pt x="86" y="22"/>
                  </a:lnTo>
                  <a:lnTo>
                    <a:pt x="86" y="29"/>
                  </a:lnTo>
                  <a:lnTo>
                    <a:pt x="79" y="57"/>
                  </a:lnTo>
                  <a:lnTo>
                    <a:pt x="57" y="86"/>
                  </a:lnTo>
                  <a:lnTo>
                    <a:pt x="50" y="93"/>
                  </a:lnTo>
                  <a:lnTo>
                    <a:pt x="43" y="50"/>
                  </a:lnTo>
                  <a:lnTo>
                    <a:pt x="36" y="7"/>
                  </a:lnTo>
                  <a:lnTo>
                    <a:pt x="36" y="0"/>
                  </a:lnTo>
                  <a:lnTo>
                    <a:pt x="29" y="0"/>
                  </a:lnTo>
                  <a:lnTo>
                    <a:pt x="22" y="7"/>
                  </a:lnTo>
                  <a:lnTo>
                    <a:pt x="0" y="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0" name="Freeform 28"/>
            <p:cNvSpPr>
              <a:spLocks noChangeAspect="1"/>
            </p:cNvSpPr>
            <p:nvPr/>
          </p:nvSpPr>
          <p:spPr>
            <a:xfrm>
              <a:off x="1281" y="1569"/>
              <a:ext cx="575" cy="617"/>
            </a:xfrm>
            <a:custGeom>
              <a:avLst/>
              <a:gdLst>
                <a:gd name="txL" fmla="*/ 0 w 575"/>
                <a:gd name="txT" fmla="*/ 0 h 617"/>
                <a:gd name="txR" fmla="*/ 575 w 575"/>
                <a:gd name="txB" fmla="*/ 617 h 617"/>
              </a:gdLst>
              <a:ahLst/>
              <a:cxnLst>
                <a:cxn ang="0">
                  <a:pos x="575" y="308"/>
                </a:cxn>
                <a:cxn ang="0">
                  <a:pos x="288" y="0"/>
                </a:cxn>
                <a:cxn ang="0">
                  <a:pos x="0" y="308"/>
                </a:cxn>
                <a:cxn ang="0">
                  <a:pos x="288" y="617"/>
                </a:cxn>
                <a:cxn ang="0">
                  <a:pos x="575" y="308"/>
                </a:cxn>
                <a:cxn ang="0">
                  <a:pos x="575" y="308"/>
                </a:cxn>
              </a:cxnLst>
              <a:rect l="txL" t="txT" r="txR" b="txB"/>
              <a:pathLst>
                <a:path w="575" h="617">
                  <a:moveTo>
                    <a:pt x="575" y="308"/>
                  </a:moveTo>
                  <a:lnTo>
                    <a:pt x="288" y="0"/>
                  </a:lnTo>
                  <a:lnTo>
                    <a:pt x="0" y="308"/>
                  </a:lnTo>
                  <a:lnTo>
                    <a:pt x="288" y="617"/>
                  </a:lnTo>
                  <a:lnTo>
                    <a:pt x="575" y="30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1" name="Freeform 29"/>
            <p:cNvSpPr>
              <a:spLocks noChangeAspect="1"/>
            </p:cNvSpPr>
            <p:nvPr/>
          </p:nvSpPr>
          <p:spPr>
            <a:xfrm>
              <a:off x="1569" y="1569"/>
              <a:ext cx="287" cy="308"/>
            </a:xfrm>
            <a:custGeom>
              <a:avLst/>
              <a:gdLst>
                <a:gd name="txL" fmla="*/ 0 w 287"/>
                <a:gd name="txT" fmla="*/ 0 h 308"/>
                <a:gd name="txR" fmla="*/ 287 w 287"/>
                <a:gd name="txB" fmla="*/ 308 h 308"/>
              </a:gdLst>
              <a:ahLst/>
              <a:cxnLst>
                <a:cxn ang="0">
                  <a:pos x="287" y="308"/>
                </a:cxn>
                <a:cxn ang="0">
                  <a:pos x="0" y="0"/>
                </a:cxn>
                <a:cxn ang="0">
                  <a:pos x="287" y="308"/>
                </a:cxn>
                <a:cxn ang="0">
                  <a:pos x="287" y="308"/>
                </a:cxn>
              </a:cxnLst>
              <a:rect l="txL" t="txT" r="txR" b="txB"/>
              <a:pathLst>
                <a:path w="287" h="308">
                  <a:moveTo>
                    <a:pt x="287" y="308"/>
                  </a:moveTo>
                  <a:lnTo>
                    <a:pt x="0" y="0"/>
                  </a:lnTo>
                  <a:lnTo>
                    <a:pt x="287" y="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2" name="Freeform 30"/>
            <p:cNvSpPr>
              <a:spLocks noChangeAspect="1" noEditPoints="1"/>
            </p:cNvSpPr>
            <p:nvPr/>
          </p:nvSpPr>
          <p:spPr>
            <a:xfrm>
              <a:off x="1281" y="1569"/>
              <a:ext cx="288" cy="308"/>
            </a:xfrm>
            <a:custGeom>
              <a:avLst/>
              <a:gdLst>
                <a:gd name="txL" fmla="*/ 0 w 288"/>
                <a:gd name="txT" fmla="*/ 0 h 308"/>
                <a:gd name="txR" fmla="*/ 288 w 288"/>
                <a:gd name="txB" fmla="*/ 308 h 308"/>
              </a:gdLst>
              <a:ahLst/>
              <a:cxnLst>
                <a:cxn ang="0">
                  <a:pos x="288" y="0"/>
                </a:cxn>
                <a:cxn ang="0">
                  <a:pos x="0" y="308"/>
                </a:cxn>
                <a:cxn ang="0">
                  <a:pos x="288" y="0"/>
                </a:cxn>
                <a:cxn ang="0">
                  <a:pos x="288" y="0"/>
                </a:cxn>
                <a:cxn ang="0">
                  <a:pos x="288" y="0"/>
                </a:cxn>
                <a:cxn ang="0">
                  <a:pos x="288" y="0"/>
                </a:cxn>
                <a:cxn ang="0">
                  <a:pos x="288" y="0"/>
                </a:cxn>
              </a:cxnLst>
              <a:rect l="txL" t="txT" r="txR" b="txB"/>
              <a:pathLst>
                <a:path w="288" h="308">
                  <a:moveTo>
                    <a:pt x="288" y="0"/>
                  </a:moveTo>
                  <a:lnTo>
                    <a:pt x="0" y="308"/>
                  </a:lnTo>
                  <a:lnTo>
                    <a:pt x="288" y="0"/>
                  </a:lnTo>
                  <a:close/>
                  <a:moveTo>
                    <a:pt x="288" y="0"/>
                  </a:moveTo>
                  <a:lnTo>
                    <a:pt x="288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3" name="Freeform 31"/>
            <p:cNvSpPr>
              <a:spLocks noChangeAspect="1" noEditPoints="1"/>
            </p:cNvSpPr>
            <p:nvPr/>
          </p:nvSpPr>
          <p:spPr>
            <a:xfrm>
              <a:off x="1281" y="1877"/>
              <a:ext cx="288" cy="309"/>
            </a:xfrm>
            <a:custGeom>
              <a:avLst/>
              <a:gdLst>
                <a:gd name="txL" fmla="*/ 0 w 288"/>
                <a:gd name="txT" fmla="*/ 0 h 309"/>
                <a:gd name="txR" fmla="*/ 288 w 288"/>
                <a:gd name="txB" fmla="*/ 309 h 309"/>
              </a:gdLst>
              <a:ahLst/>
              <a:cxnLst>
                <a:cxn ang="0">
                  <a:pos x="0" y="0"/>
                </a:cxn>
                <a:cxn ang="0">
                  <a:pos x="288" y="30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88" h="309">
                  <a:moveTo>
                    <a:pt x="0" y="0"/>
                  </a:moveTo>
                  <a:lnTo>
                    <a:pt x="288" y="30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4" name="Freeform 32"/>
            <p:cNvSpPr>
              <a:spLocks noChangeAspect="1" noEditPoints="1"/>
            </p:cNvSpPr>
            <p:nvPr/>
          </p:nvSpPr>
          <p:spPr>
            <a:xfrm>
              <a:off x="1569" y="1877"/>
              <a:ext cx="287" cy="309"/>
            </a:xfrm>
            <a:custGeom>
              <a:avLst/>
              <a:gdLst>
                <a:gd name="txL" fmla="*/ 0 w 287"/>
                <a:gd name="txT" fmla="*/ 0 h 309"/>
                <a:gd name="txR" fmla="*/ 287 w 287"/>
                <a:gd name="txB" fmla="*/ 309 h 309"/>
              </a:gdLst>
              <a:ahLst/>
              <a:cxnLst>
                <a:cxn ang="0">
                  <a:pos x="0" y="309"/>
                </a:cxn>
                <a:cxn ang="0">
                  <a:pos x="287" y="0"/>
                </a:cxn>
                <a:cxn ang="0">
                  <a:pos x="0" y="309"/>
                </a:cxn>
                <a:cxn ang="0">
                  <a:pos x="0" y="309"/>
                </a:cxn>
                <a:cxn ang="0">
                  <a:pos x="0" y="309"/>
                </a:cxn>
                <a:cxn ang="0">
                  <a:pos x="0" y="309"/>
                </a:cxn>
                <a:cxn ang="0">
                  <a:pos x="0" y="309"/>
                </a:cxn>
              </a:cxnLst>
              <a:rect l="txL" t="txT" r="txR" b="txB"/>
              <a:pathLst>
                <a:path w="287" h="309">
                  <a:moveTo>
                    <a:pt x="0" y="309"/>
                  </a:moveTo>
                  <a:lnTo>
                    <a:pt x="287" y="0"/>
                  </a:lnTo>
                  <a:lnTo>
                    <a:pt x="0" y="309"/>
                  </a:lnTo>
                  <a:close/>
                  <a:moveTo>
                    <a:pt x="0" y="309"/>
                  </a:moveTo>
                  <a:lnTo>
                    <a:pt x="0" y="3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5" name="Freeform 33"/>
            <p:cNvSpPr>
              <a:spLocks noChangeAspect="1"/>
            </p:cNvSpPr>
            <p:nvPr/>
          </p:nvSpPr>
          <p:spPr>
            <a:xfrm>
              <a:off x="1856" y="187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6" name="Freeform 34"/>
            <p:cNvSpPr>
              <a:spLocks noChangeAspect="1"/>
            </p:cNvSpPr>
            <p:nvPr/>
          </p:nvSpPr>
          <p:spPr>
            <a:xfrm>
              <a:off x="1504" y="1698"/>
              <a:ext cx="129" cy="136"/>
            </a:xfrm>
            <a:custGeom>
              <a:avLst/>
              <a:gdLst>
                <a:gd name="txL" fmla="*/ 0 w 129"/>
                <a:gd name="txT" fmla="*/ 0 h 136"/>
                <a:gd name="txR" fmla="*/ 129 w 129"/>
                <a:gd name="txB" fmla="*/ 136 h 136"/>
              </a:gdLst>
              <a:ahLst/>
              <a:cxnLst>
                <a:cxn ang="0">
                  <a:pos x="57" y="57"/>
                </a:cxn>
                <a:cxn ang="0">
                  <a:pos x="0" y="57"/>
                </a:cxn>
                <a:cxn ang="0">
                  <a:pos x="0" y="79"/>
                </a:cxn>
                <a:cxn ang="0">
                  <a:pos x="57" y="79"/>
                </a:cxn>
                <a:cxn ang="0">
                  <a:pos x="57" y="136"/>
                </a:cxn>
                <a:cxn ang="0">
                  <a:pos x="72" y="136"/>
                </a:cxn>
                <a:cxn ang="0">
                  <a:pos x="72" y="79"/>
                </a:cxn>
                <a:cxn ang="0">
                  <a:pos x="129" y="79"/>
                </a:cxn>
                <a:cxn ang="0">
                  <a:pos x="129" y="57"/>
                </a:cxn>
                <a:cxn ang="0">
                  <a:pos x="72" y="57"/>
                </a:cxn>
                <a:cxn ang="0">
                  <a:pos x="72" y="0"/>
                </a:cxn>
                <a:cxn ang="0">
                  <a:pos x="57" y="0"/>
                </a:cxn>
                <a:cxn ang="0">
                  <a:pos x="57" y="57"/>
                </a:cxn>
              </a:cxnLst>
              <a:rect l="txL" t="txT" r="txR" b="txB"/>
              <a:pathLst>
                <a:path w="129" h="136">
                  <a:moveTo>
                    <a:pt x="57" y="57"/>
                  </a:moveTo>
                  <a:lnTo>
                    <a:pt x="0" y="57"/>
                  </a:lnTo>
                  <a:lnTo>
                    <a:pt x="0" y="79"/>
                  </a:lnTo>
                  <a:lnTo>
                    <a:pt x="57" y="79"/>
                  </a:lnTo>
                  <a:lnTo>
                    <a:pt x="57" y="136"/>
                  </a:lnTo>
                  <a:lnTo>
                    <a:pt x="72" y="136"/>
                  </a:lnTo>
                  <a:lnTo>
                    <a:pt x="72" y="79"/>
                  </a:lnTo>
                  <a:lnTo>
                    <a:pt x="129" y="79"/>
                  </a:lnTo>
                  <a:lnTo>
                    <a:pt x="129" y="57"/>
                  </a:lnTo>
                  <a:lnTo>
                    <a:pt x="72" y="57"/>
                  </a:lnTo>
                  <a:lnTo>
                    <a:pt x="72" y="0"/>
                  </a:lnTo>
                  <a:lnTo>
                    <a:pt x="57" y="0"/>
                  </a:lnTo>
                  <a:lnTo>
                    <a:pt x="57" y="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7" name="Rectangle 35"/>
            <p:cNvSpPr>
              <a:spLocks noChangeAspect="1"/>
            </p:cNvSpPr>
            <p:nvPr/>
          </p:nvSpPr>
          <p:spPr>
            <a:xfrm>
              <a:off x="1504" y="1999"/>
              <a:ext cx="129" cy="15"/>
            </a:xfrm>
            <a:prstGeom prst="rect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ea typeface="Arial" panose="020B0604020202020204" pitchFamily="34" charset="0"/>
              </a:endParaRPr>
            </a:p>
          </p:txBody>
        </p:sp>
        <p:sp>
          <p:nvSpPr>
            <p:cNvPr id="64548" name="Freeform 36"/>
            <p:cNvSpPr>
              <a:spLocks noChangeAspect="1"/>
            </p:cNvSpPr>
            <p:nvPr/>
          </p:nvSpPr>
          <p:spPr>
            <a:xfrm>
              <a:off x="3787" y="866"/>
              <a:ext cx="776" cy="1"/>
            </a:xfrm>
            <a:custGeom>
              <a:avLst/>
              <a:gdLst>
                <a:gd name="txL" fmla="*/ 0 w 776"/>
                <a:gd name="txT" fmla="*/ 0 h 1"/>
                <a:gd name="txR" fmla="*/ 776 w 776"/>
                <a:gd name="txB" fmla="*/ 1 h 1"/>
              </a:gdLst>
              <a:ahLst/>
              <a:cxnLst>
                <a:cxn ang="0">
                  <a:pos x="776" y="0"/>
                </a:cxn>
                <a:cxn ang="0">
                  <a:pos x="0" y="0"/>
                </a:cxn>
                <a:cxn ang="0">
                  <a:pos x="776" y="0"/>
                </a:cxn>
                <a:cxn ang="0">
                  <a:pos x="776" y="0"/>
                </a:cxn>
              </a:cxnLst>
              <a:rect l="txL" t="txT" r="txR" b="txB"/>
              <a:pathLst>
                <a:path w="776" h="1">
                  <a:moveTo>
                    <a:pt x="776" y="0"/>
                  </a:moveTo>
                  <a:lnTo>
                    <a:pt x="0" y="0"/>
                  </a:lnTo>
                  <a:lnTo>
                    <a:pt x="776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9" name="Freeform 37"/>
            <p:cNvSpPr>
              <a:spLocks noChangeAspect="1" noEditPoints="1"/>
            </p:cNvSpPr>
            <p:nvPr/>
          </p:nvSpPr>
          <p:spPr>
            <a:xfrm>
              <a:off x="3787" y="866"/>
              <a:ext cx="1" cy="2030"/>
            </a:xfrm>
            <a:custGeom>
              <a:avLst/>
              <a:gdLst>
                <a:gd name="txL" fmla="*/ 0 w 1"/>
                <a:gd name="txT" fmla="*/ 0 h 2030"/>
                <a:gd name="txR" fmla="*/ 1 w 1"/>
                <a:gd name="txB" fmla="*/ 2030 h 2030"/>
              </a:gdLst>
              <a:ahLst/>
              <a:cxnLst>
                <a:cxn ang="0">
                  <a:pos x="0" y="0"/>
                </a:cxn>
                <a:cxn ang="0">
                  <a:pos x="0" y="203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2030">
                  <a:moveTo>
                    <a:pt x="0" y="0"/>
                  </a:moveTo>
                  <a:lnTo>
                    <a:pt x="0" y="203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0" name="Freeform 38"/>
            <p:cNvSpPr>
              <a:spLocks noChangeAspect="1" noEditPoints="1"/>
            </p:cNvSpPr>
            <p:nvPr/>
          </p:nvSpPr>
          <p:spPr>
            <a:xfrm>
              <a:off x="3787" y="2896"/>
              <a:ext cx="776" cy="1"/>
            </a:xfrm>
            <a:custGeom>
              <a:avLst/>
              <a:gdLst>
                <a:gd name="txL" fmla="*/ 0 w 776"/>
                <a:gd name="txT" fmla="*/ 0 h 1"/>
                <a:gd name="txR" fmla="*/ 776 w 77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776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76" h="1">
                  <a:moveTo>
                    <a:pt x="0" y="0"/>
                  </a:moveTo>
                  <a:lnTo>
                    <a:pt x="776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1" name="Freeform 39"/>
            <p:cNvSpPr>
              <a:spLocks noChangeAspect="1"/>
            </p:cNvSpPr>
            <p:nvPr/>
          </p:nvSpPr>
          <p:spPr>
            <a:xfrm>
              <a:off x="4563" y="809"/>
              <a:ext cx="122" cy="122"/>
            </a:xfrm>
            <a:custGeom>
              <a:avLst/>
              <a:gdLst>
                <a:gd name="txL" fmla="*/ 0 w 122"/>
                <a:gd name="txT" fmla="*/ 0 h 122"/>
                <a:gd name="txR" fmla="*/ 122 w 122"/>
                <a:gd name="txB" fmla="*/ 122 h 122"/>
              </a:gdLst>
              <a:ahLst/>
              <a:cxnLst>
                <a:cxn ang="0">
                  <a:pos x="57" y="122"/>
                </a:cxn>
                <a:cxn ang="0">
                  <a:pos x="86" y="115"/>
                </a:cxn>
                <a:cxn ang="0">
                  <a:pos x="100" y="100"/>
                </a:cxn>
                <a:cxn ang="0">
                  <a:pos x="115" y="86"/>
                </a:cxn>
                <a:cxn ang="0">
                  <a:pos x="122" y="57"/>
                </a:cxn>
                <a:cxn ang="0">
                  <a:pos x="115" y="36"/>
                </a:cxn>
                <a:cxn ang="0">
                  <a:pos x="100" y="22"/>
                </a:cxn>
                <a:cxn ang="0">
                  <a:pos x="86" y="7"/>
                </a:cxn>
                <a:cxn ang="0">
                  <a:pos x="57" y="0"/>
                </a:cxn>
                <a:cxn ang="0">
                  <a:pos x="36" y="7"/>
                </a:cxn>
                <a:cxn ang="0">
                  <a:pos x="21" y="22"/>
                </a:cxn>
                <a:cxn ang="0">
                  <a:pos x="7" y="36"/>
                </a:cxn>
                <a:cxn ang="0">
                  <a:pos x="0" y="57"/>
                </a:cxn>
                <a:cxn ang="0">
                  <a:pos x="7" y="86"/>
                </a:cxn>
                <a:cxn ang="0">
                  <a:pos x="21" y="100"/>
                </a:cxn>
                <a:cxn ang="0">
                  <a:pos x="36" y="115"/>
                </a:cxn>
                <a:cxn ang="0">
                  <a:pos x="57" y="122"/>
                </a:cxn>
                <a:cxn ang="0">
                  <a:pos x="57" y="122"/>
                </a:cxn>
              </a:cxnLst>
              <a:rect l="txL" t="txT" r="txR" b="txB"/>
              <a:pathLst>
                <a:path w="122" h="122">
                  <a:moveTo>
                    <a:pt x="57" y="122"/>
                  </a:moveTo>
                  <a:lnTo>
                    <a:pt x="86" y="115"/>
                  </a:lnTo>
                  <a:lnTo>
                    <a:pt x="100" y="100"/>
                  </a:lnTo>
                  <a:lnTo>
                    <a:pt x="115" y="86"/>
                  </a:lnTo>
                  <a:lnTo>
                    <a:pt x="122" y="57"/>
                  </a:lnTo>
                  <a:lnTo>
                    <a:pt x="115" y="36"/>
                  </a:lnTo>
                  <a:lnTo>
                    <a:pt x="100" y="22"/>
                  </a:lnTo>
                  <a:lnTo>
                    <a:pt x="86" y="7"/>
                  </a:lnTo>
                  <a:lnTo>
                    <a:pt x="57" y="0"/>
                  </a:lnTo>
                  <a:lnTo>
                    <a:pt x="36" y="7"/>
                  </a:lnTo>
                  <a:lnTo>
                    <a:pt x="21" y="22"/>
                  </a:lnTo>
                  <a:lnTo>
                    <a:pt x="7" y="36"/>
                  </a:lnTo>
                  <a:lnTo>
                    <a:pt x="0" y="57"/>
                  </a:lnTo>
                  <a:lnTo>
                    <a:pt x="7" y="86"/>
                  </a:lnTo>
                  <a:lnTo>
                    <a:pt x="21" y="100"/>
                  </a:lnTo>
                  <a:lnTo>
                    <a:pt x="36" y="115"/>
                  </a:lnTo>
                  <a:lnTo>
                    <a:pt x="57" y="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2" name="Freeform 40"/>
            <p:cNvSpPr>
              <a:spLocks noChangeAspect="1"/>
            </p:cNvSpPr>
            <p:nvPr/>
          </p:nvSpPr>
          <p:spPr>
            <a:xfrm>
              <a:off x="4620" y="866"/>
              <a:ext cx="65" cy="65"/>
            </a:xfrm>
            <a:custGeom>
              <a:avLst/>
              <a:gdLst>
                <a:gd name="txL" fmla="*/ 0 w 65"/>
                <a:gd name="txT" fmla="*/ 0 h 65"/>
                <a:gd name="txR" fmla="*/ 65 w 65"/>
                <a:gd name="txB" fmla="*/ 65 h 65"/>
              </a:gdLst>
              <a:ahLst/>
              <a:cxnLst>
                <a:cxn ang="0">
                  <a:pos x="0" y="65"/>
                </a:cxn>
                <a:cxn ang="0">
                  <a:pos x="29" y="58"/>
                </a:cxn>
                <a:cxn ang="0">
                  <a:pos x="43" y="43"/>
                </a:cxn>
                <a:cxn ang="0">
                  <a:pos x="58" y="29"/>
                </a:cxn>
                <a:cxn ang="0">
                  <a:pos x="65" y="0"/>
                </a:cxn>
                <a:cxn ang="0">
                  <a:pos x="65" y="0"/>
                </a:cxn>
                <a:cxn ang="0">
                  <a:pos x="58" y="29"/>
                </a:cxn>
                <a:cxn ang="0">
                  <a:pos x="43" y="43"/>
                </a:cxn>
                <a:cxn ang="0">
                  <a:pos x="29" y="58"/>
                </a:cxn>
                <a:cxn ang="0">
                  <a:pos x="0" y="65"/>
                </a:cxn>
                <a:cxn ang="0">
                  <a:pos x="0" y="65"/>
                </a:cxn>
              </a:cxnLst>
              <a:rect l="txL" t="txT" r="txR" b="txB"/>
              <a:pathLst>
                <a:path w="65" h="65">
                  <a:moveTo>
                    <a:pt x="0" y="65"/>
                  </a:moveTo>
                  <a:lnTo>
                    <a:pt x="29" y="58"/>
                  </a:lnTo>
                  <a:lnTo>
                    <a:pt x="43" y="43"/>
                  </a:lnTo>
                  <a:lnTo>
                    <a:pt x="58" y="29"/>
                  </a:lnTo>
                  <a:lnTo>
                    <a:pt x="65" y="0"/>
                  </a:lnTo>
                  <a:lnTo>
                    <a:pt x="58" y="29"/>
                  </a:lnTo>
                  <a:lnTo>
                    <a:pt x="43" y="43"/>
                  </a:lnTo>
                  <a:lnTo>
                    <a:pt x="29" y="58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3" name="Freeform 41"/>
            <p:cNvSpPr>
              <a:spLocks noChangeAspect="1" noEditPoints="1"/>
            </p:cNvSpPr>
            <p:nvPr/>
          </p:nvSpPr>
          <p:spPr>
            <a:xfrm>
              <a:off x="4620" y="809"/>
              <a:ext cx="65" cy="57"/>
            </a:xfrm>
            <a:custGeom>
              <a:avLst/>
              <a:gdLst>
                <a:gd name="txL" fmla="*/ 0 w 65"/>
                <a:gd name="txT" fmla="*/ 0 h 57"/>
                <a:gd name="txR" fmla="*/ 65 w 65"/>
                <a:gd name="txB" fmla="*/ 57 h 57"/>
              </a:gdLst>
              <a:ahLst/>
              <a:cxnLst>
                <a:cxn ang="0">
                  <a:pos x="65" y="57"/>
                </a:cxn>
                <a:cxn ang="0">
                  <a:pos x="58" y="36"/>
                </a:cxn>
                <a:cxn ang="0">
                  <a:pos x="43" y="22"/>
                </a:cxn>
                <a:cxn ang="0">
                  <a:pos x="29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7"/>
                </a:cxn>
                <a:cxn ang="0">
                  <a:pos x="43" y="22"/>
                </a:cxn>
                <a:cxn ang="0">
                  <a:pos x="58" y="36"/>
                </a:cxn>
                <a:cxn ang="0">
                  <a:pos x="65" y="57"/>
                </a:cxn>
                <a:cxn ang="0">
                  <a:pos x="65" y="57"/>
                </a:cxn>
                <a:cxn ang="0">
                  <a:pos x="65" y="57"/>
                </a:cxn>
                <a:cxn ang="0">
                  <a:pos x="65" y="57"/>
                </a:cxn>
                <a:cxn ang="0">
                  <a:pos x="65" y="57"/>
                </a:cxn>
              </a:cxnLst>
              <a:rect l="txL" t="txT" r="txR" b="txB"/>
              <a:pathLst>
                <a:path w="65" h="57">
                  <a:moveTo>
                    <a:pt x="65" y="57"/>
                  </a:moveTo>
                  <a:lnTo>
                    <a:pt x="58" y="36"/>
                  </a:lnTo>
                  <a:lnTo>
                    <a:pt x="43" y="22"/>
                  </a:lnTo>
                  <a:lnTo>
                    <a:pt x="29" y="7"/>
                  </a:lnTo>
                  <a:lnTo>
                    <a:pt x="0" y="0"/>
                  </a:lnTo>
                  <a:lnTo>
                    <a:pt x="29" y="7"/>
                  </a:lnTo>
                  <a:lnTo>
                    <a:pt x="43" y="22"/>
                  </a:lnTo>
                  <a:lnTo>
                    <a:pt x="58" y="36"/>
                  </a:lnTo>
                  <a:lnTo>
                    <a:pt x="65" y="57"/>
                  </a:lnTo>
                  <a:close/>
                  <a:moveTo>
                    <a:pt x="65" y="57"/>
                  </a:moveTo>
                  <a:lnTo>
                    <a:pt x="65" y="57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4" name="Freeform 42"/>
            <p:cNvSpPr>
              <a:spLocks noChangeAspect="1" noEditPoints="1"/>
            </p:cNvSpPr>
            <p:nvPr/>
          </p:nvSpPr>
          <p:spPr>
            <a:xfrm>
              <a:off x="4563" y="809"/>
              <a:ext cx="57" cy="57"/>
            </a:xfrm>
            <a:custGeom>
              <a:avLst/>
              <a:gdLst>
                <a:gd name="txL" fmla="*/ 0 w 57"/>
                <a:gd name="txT" fmla="*/ 0 h 57"/>
                <a:gd name="txR" fmla="*/ 57 w 57"/>
                <a:gd name="txB" fmla="*/ 57 h 57"/>
              </a:gdLst>
              <a:ahLst/>
              <a:cxnLst>
                <a:cxn ang="0">
                  <a:pos x="57" y="0"/>
                </a:cxn>
                <a:cxn ang="0">
                  <a:pos x="36" y="7"/>
                </a:cxn>
                <a:cxn ang="0">
                  <a:pos x="21" y="22"/>
                </a:cxn>
                <a:cxn ang="0">
                  <a:pos x="7" y="36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7" y="36"/>
                </a:cxn>
                <a:cxn ang="0">
                  <a:pos x="21" y="22"/>
                </a:cxn>
                <a:cxn ang="0">
                  <a:pos x="36" y="7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57" y="0"/>
                </a:cxn>
              </a:cxnLst>
              <a:rect l="txL" t="txT" r="txR" b="txB"/>
              <a:pathLst>
                <a:path w="57" h="57">
                  <a:moveTo>
                    <a:pt x="57" y="0"/>
                  </a:moveTo>
                  <a:lnTo>
                    <a:pt x="36" y="7"/>
                  </a:lnTo>
                  <a:lnTo>
                    <a:pt x="21" y="22"/>
                  </a:lnTo>
                  <a:lnTo>
                    <a:pt x="7" y="36"/>
                  </a:lnTo>
                  <a:lnTo>
                    <a:pt x="0" y="57"/>
                  </a:lnTo>
                  <a:lnTo>
                    <a:pt x="7" y="36"/>
                  </a:lnTo>
                  <a:lnTo>
                    <a:pt x="21" y="22"/>
                  </a:lnTo>
                  <a:lnTo>
                    <a:pt x="36" y="7"/>
                  </a:lnTo>
                  <a:lnTo>
                    <a:pt x="57" y="0"/>
                  </a:lnTo>
                  <a:close/>
                  <a:moveTo>
                    <a:pt x="57" y="0"/>
                  </a:moveTo>
                  <a:lnTo>
                    <a:pt x="5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5" name="Freeform 43"/>
            <p:cNvSpPr>
              <a:spLocks noChangeAspect="1" noEditPoints="1"/>
            </p:cNvSpPr>
            <p:nvPr/>
          </p:nvSpPr>
          <p:spPr>
            <a:xfrm>
              <a:off x="4563" y="866"/>
              <a:ext cx="57" cy="65"/>
            </a:xfrm>
            <a:custGeom>
              <a:avLst/>
              <a:gdLst>
                <a:gd name="txL" fmla="*/ 0 w 57"/>
                <a:gd name="txT" fmla="*/ 0 h 65"/>
                <a:gd name="txR" fmla="*/ 57 w 57"/>
                <a:gd name="txB" fmla="*/ 65 h 65"/>
              </a:gdLst>
              <a:ahLst/>
              <a:cxnLst>
                <a:cxn ang="0">
                  <a:pos x="0" y="0"/>
                </a:cxn>
                <a:cxn ang="0">
                  <a:pos x="7" y="29"/>
                </a:cxn>
                <a:cxn ang="0">
                  <a:pos x="21" y="43"/>
                </a:cxn>
                <a:cxn ang="0">
                  <a:pos x="36" y="58"/>
                </a:cxn>
                <a:cxn ang="0">
                  <a:pos x="57" y="65"/>
                </a:cxn>
                <a:cxn ang="0">
                  <a:pos x="57" y="65"/>
                </a:cxn>
                <a:cxn ang="0">
                  <a:pos x="36" y="58"/>
                </a:cxn>
                <a:cxn ang="0">
                  <a:pos x="21" y="43"/>
                </a:cxn>
                <a:cxn ang="0">
                  <a:pos x="7" y="2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7" h="65">
                  <a:moveTo>
                    <a:pt x="0" y="0"/>
                  </a:moveTo>
                  <a:lnTo>
                    <a:pt x="7" y="29"/>
                  </a:lnTo>
                  <a:lnTo>
                    <a:pt x="21" y="43"/>
                  </a:lnTo>
                  <a:lnTo>
                    <a:pt x="36" y="58"/>
                  </a:lnTo>
                  <a:lnTo>
                    <a:pt x="57" y="65"/>
                  </a:lnTo>
                  <a:lnTo>
                    <a:pt x="36" y="58"/>
                  </a:lnTo>
                  <a:lnTo>
                    <a:pt x="21" y="43"/>
                  </a:lnTo>
                  <a:lnTo>
                    <a:pt x="7" y="2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6" name="Freeform 44"/>
            <p:cNvSpPr>
              <a:spLocks noChangeAspect="1"/>
            </p:cNvSpPr>
            <p:nvPr/>
          </p:nvSpPr>
          <p:spPr>
            <a:xfrm>
              <a:off x="4620" y="931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7" name="Freeform 45"/>
            <p:cNvSpPr>
              <a:spLocks noChangeAspect="1"/>
            </p:cNvSpPr>
            <p:nvPr/>
          </p:nvSpPr>
          <p:spPr>
            <a:xfrm>
              <a:off x="4556" y="2831"/>
              <a:ext cx="122" cy="129"/>
            </a:xfrm>
            <a:custGeom>
              <a:avLst/>
              <a:gdLst>
                <a:gd name="txL" fmla="*/ 0 w 122"/>
                <a:gd name="txT" fmla="*/ 0 h 129"/>
                <a:gd name="txR" fmla="*/ 122 w 122"/>
                <a:gd name="txB" fmla="*/ 129 h 129"/>
              </a:gdLst>
              <a:ahLst/>
              <a:cxnLst>
                <a:cxn ang="0">
                  <a:pos x="64" y="129"/>
                </a:cxn>
                <a:cxn ang="0">
                  <a:pos x="86" y="122"/>
                </a:cxn>
                <a:cxn ang="0">
                  <a:pos x="107" y="108"/>
                </a:cxn>
                <a:cxn ang="0">
                  <a:pos x="115" y="93"/>
                </a:cxn>
                <a:cxn ang="0">
                  <a:pos x="122" y="65"/>
                </a:cxn>
                <a:cxn ang="0">
                  <a:pos x="115" y="43"/>
                </a:cxn>
                <a:cxn ang="0">
                  <a:pos x="107" y="22"/>
                </a:cxn>
                <a:cxn ang="0">
                  <a:pos x="86" y="7"/>
                </a:cxn>
                <a:cxn ang="0">
                  <a:pos x="64" y="0"/>
                </a:cxn>
                <a:cxn ang="0">
                  <a:pos x="43" y="7"/>
                </a:cxn>
                <a:cxn ang="0">
                  <a:pos x="21" y="22"/>
                </a:cxn>
                <a:cxn ang="0">
                  <a:pos x="7" y="43"/>
                </a:cxn>
                <a:cxn ang="0">
                  <a:pos x="0" y="65"/>
                </a:cxn>
                <a:cxn ang="0">
                  <a:pos x="7" y="93"/>
                </a:cxn>
                <a:cxn ang="0">
                  <a:pos x="21" y="108"/>
                </a:cxn>
                <a:cxn ang="0">
                  <a:pos x="43" y="122"/>
                </a:cxn>
                <a:cxn ang="0">
                  <a:pos x="64" y="129"/>
                </a:cxn>
                <a:cxn ang="0">
                  <a:pos x="64" y="129"/>
                </a:cxn>
              </a:cxnLst>
              <a:rect l="txL" t="txT" r="txR" b="txB"/>
              <a:pathLst>
                <a:path w="122" h="129">
                  <a:moveTo>
                    <a:pt x="64" y="129"/>
                  </a:moveTo>
                  <a:lnTo>
                    <a:pt x="86" y="122"/>
                  </a:lnTo>
                  <a:lnTo>
                    <a:pt x="107" y="108"/>
                  </a:lnTo>
                  <a:lnTo>
                    <a:pt x="115" y="93"/>
                  </a:lnTo>
                  <a:lnTo>
                    <a:pt x="122" y="65"/>
                  </a:lnTo>
                  <a:lnTo>
                    <a:pt x="115" y="43"/>
                  </a:lnTo>
                  <a:lnTo>
                    <a:pt x="107" y="22"/>
                  </a:lnTo>
                  <a:lnTo>
                    <a:pt x="86" y="7"/>
                  </a:lnTo>
                  <a:lnTo>
                    <a:pt x="64" y="0"/>
                  </a:lnTo>
                  <a:lnTo>
                    <a:pt x="43" y="7"/>
                  </a:lnTo>
                  <a:lnTo>
                    <a:pt x="21" y="22"/>
                  </a:lnTo>
                  <a:lnTo>
                    <a:pt x="7" y="43"/>
                  </a:lnTo>
                  <a:lnTo>
                    <a:pt x="0" y="65"/>
                  </a:lnTo>
                  <a:lnTo>
                    <a:pt x="7" y="93"/>
                  </a:lnTo>
                  <a:lnTo>
                    <a:pt x="21" y="108"/>
                  </a:lnTo>
                  <a:lnTo>
                    <a:pt x="43" y="122"/>
                  </a:lnTo>
                  <a:lnTo>
                    <a:pt x="64" y="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8" name="Freeform 46"/>
            <p:cNvSpPr>
              <a:spLocks noChangeAspect="1"/>
            </p:cNvSpPr>
            <p:nvPr/>
          </p:nvSpPr>
          <p:spPr>
            <a:xfrm>
              <a:off x="4620" y="2896"/>
              <a:ext cx="58" cy="64"/>
            </a:xfrm>
            <a:custGeom>
              <a:avLst/>
              <a:gdLst>
                <a:gd name="txL" fmla="*/ 0 w 58"/>
                <a:gd name="txT" fmla="*/ 0 h 64"/>
                <a:gd name="txR" fmla="*/ 58 w 58"/>
                <a:gd name="txB" fmla="*/ 64 h 64"/>
              </a:gdLst>
              <a:ahLst/>
              <a:cxnLst>
                <a:cxn ang="0">
                  <a:pos x="0" y="64"/>
                </a:cxn>
                <a:cxn ang="0">
                  <a:pos x="22" y="57"/>
                </a:cxn>
                <a:cxn ang="0">
                  <a:pos x="43" y="43"/>
                </a:cxn>
                <a:cxn ang="0">
                  <a:pos x="51" y="28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51" y="28"/>
                </a:cxn>
                <a:cxn ang="0">
                  <a:pos x="43" y="43"/>
                </a:cxn>
                <a:cxn ang="0">
                  <a:pos x="22" y="57"/>
                </a:cxn>
                <a:cxn ang="0">
                  <a:pos x="0" y="64"/>
                </a:cxn>
                <a:cxn ang="0">
                  <a:pos x="0" y="64"/>
                </a:cxn>
              </a:cxnLst>
              <a:rect l="txL" t="txT" r="txR" b="txB"/>
              <a:pathLst>
                <a:path w="58" h="64">
                  <a:moveTo>
                    <a:pt x="0" y="64"/>
                  </a:moveTo>
                  <a:lnTo>
                    <a:pt x="22" y="57"/>
                  </a:lnTo>
                  <a:lnTo>
                    <a:pt x="43" y="43"/>
                  </a:lnTo>
                  <a:lnTo>
                    <a:pt x="51" y="28"/>
                  </a:lnTo>
                  <a:lnTo>
                    <a:pt x="58" y="0"/>
                  </a:lnTo>
                  <a:lnTo>
                    <a:pt x="51" y="28"/>
                  </a:lnTo>
                  <a:lnTo>
                    <a:pt x="43" y="43"/>
                  </a:lnTo>
                  <a:lnTo>
                    <a:pt x="22" y="57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59" name="Freeform 47"/>
            <p:cNvSpPr>
              <a:spLocks noChangeAspect="1" noEditPoints="1"/>
            </p:cNvSpPr>
            <p:nvPr/>
          </p:nvSpPr>
          <p:spPr>
            <a:xfrm>
              <a:off x="4620" y="2831"/>
              <a:ext cx="58" cy="65"/>
            </a:xfrm>
            <a:custGeom>
              <a:avLst/>
              <a:gdLst>
                <a:gd name="txL" fmla="*/ 0 w 58"/>
                <a:gd name="txT" fmla="*/ 0 h 65"/>
                <a:gd name="txR" fmla="*/ 58 w 58"/>
                <a:gd name="txB" fmla="*/ 65 h 65"/>
              </a:gdLst>
              <a:ahLst/>
              <a:cxnLst>
                <a:cxn ang="0">
                  <a:pos x="58" y="65"/>
                </a:cxn>
                <a:cxn ang="0">
                  <a:pos x="51" y="43"/>
                </a:cxn>
                <a:cxn ang="0">
                  <a:pos x="43" y="22"/>
                </a:cxn>
                <a:cxn ang="0">
                  <a:pos x="22" y="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2" y="7"/>
                </a:cxn>
                <a:cxn ang="0">
                  <a:pos x="43" y="22"/>
                </a:cxn>
                <a:cxn ang="0">
                  <a:pos x="51" y="43"/>
                </a:cxn>
                <a:cxn ang="0">
                  <a:pos x="58" y="65"/>
                </a:cxn>
                <a:cxn ang="0">
                  <a:pos x="58" y="65"/>
                </a:cxn>
                <a:cxn ang="0">
                  <a:pos x="58" y="65"/>
                </a:cxn>
                <a:cxn ang="0">
                  <a:pos x="58" y="65"/>
                </a:cxn>
                <a:cxn ang="0">
                  <a:pos x="58" y="65"/>
                </a:cxn>
              </a:cxnLst>
              <a:rect l="txL" t="txT" r="txR" b="txB"/>
              <a:pathLst>
                <a:path w="58" h="65">
                  <a:moveTo>
                    <a:pt x="58" y="65"/>
                  </a:moveTo>
                  <a:lnTo>
                    <a:pt x="51" y="43"/>
                  </a:lnTo>
                  <a:lnTo>
                    <a:pt x="43" y="22"/>
                  </a:lnTo>
                  <a:lnTo>
                    <a:pt x="22" y="7"/>
                  </a:lnTo>
                  <a:lnTo>
                    <a:pt x="0" y="0"/>
                  </a:lnTo>
                  <a:lnTo>
                    <a:pt x="22" y="7"/>
                  </a:lnTo>
                  <a:lnTo>
                    <a:pt x="43" y="22"/>
                  </a:lnTo>
                  <a:lnTo>
                    <a:pt x="51" y="43"/>
                  </a:lnTo>
                  <a:lnTo>
                    <a:pt x="58" y="65"/>
                  </a:lnTo>
                  <a:close/>
                  <a:moveTo>
                    <a:pt x="58" y="65"/>
                  </a:moveTo>
                  <a:lnTo>
                    <a:pt x="58" y="65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0" name="Freeform 48"/>
            <p:cNvSpPr>
              <a:spLocks noChangeAspect="1" noEditPoints="1"/>
            </p:cNvSpPr>
            <p:nvPr/>
          </p:nvSpPr>
          <p:spPr>
            <a:xfrm>
              <a:off x="4556" y="2831"/>
              <a:ext cx="64" cy="65"/>
            </a:xfrm>
            <a:custGeom>
              <a:avLst/>
              <a:gdLst>
                <a:gd name="txL" fmla="*/ 0 w 64"/>
                <a:gd name="txT" fmla="*/ 0 h 65"/>
                <a:gd name="txR" fmla="*/ 64 w 64"/>
                <a:gd name="txB" fmla="*/ 65 h 65"/>
              </a:gdLst>
              <a:ahLst/>
              <a:cxnLst>
                <a:cxn ang="0">
                  <a:pos x="64" y="0"/>
                </a:cxn>
                <a:cxn ang="0">
                  <a:pos x="43" y="7"/>
                </a:cxn>
                <a:cxn ang="0">
                  <a:pos x="21" y="22"/>
                </a:cxn>
                <a:cxn ang="0">
                  <a:pos x="7" y="43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7" y="43"/>
                </a:cxn>
                <a:cxn ang="0">
                  <a:pos x="21" y="22"/>
                </a:cxn>
                <a:cxn ang="0">
                  <a:pos x="43" y="7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64" y="0"/>
                </a:cxn>
              </a:cxnLst>
              <a:rect l="txL" t="txT" r="txR" b="txB"/>
              <a:pathLst>
                <a:path w="64" h="65">
                  <a:moveTo>
                    <a:pt x="64" y="0"/>
                  </a:moveTo>
                  <a:lnTo>
                    <a:pt x="43" y="7"/>
                  </a:lnTo>
                  <a:lnTo>
                    <a:pt x="21" y="22"/>
                  </a:lnTo>
                  <a:lnTo>
                    <a:pt x="7" y="43"/>
                  </a:lnTo>
                  <a:lnTo>
                    <a:pt x="0" y="65"/>
                  </a:lnTo>
                  <a:lnTo>
                    <a:pt x="7" y="43"/>
                  </a:lnTo>
                  <a:lnTo>
                    <a:pt x="21" y="22"/>
                  </a:lnTo>
                  <a:lnTo>
                    <a:pt x="43" y="7"/>
                  </a:lnTo>
                  <a:lnTo>
                    <a:pt x="64" y="0"/>
                  </a:lnTo>
                  <a:close/>
                  <a:moveTo>
                    <a:pt x="64" y="0"/>
                  </a:moveTo>
                  <a:lnTo>
                    <a:pt x="64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1" name="Freeform 49"/>
            <p:cNvSpPr>
              <a:spLocks noChangeAspect="1" noEditPoints="1"/>
            </p:cNvSpPr>
            <p:nvPr/>
          </p:nvSpPr>
          <p:spPr>
            <a:xfrm>
              <a:off x="4556" y="2896"/>
              <a:ext cx="64" cy="64"/>
            </a:xfrm>
            <a:custGeom>
              <a:avLst/>
              <a:gdLst>
                <a:gd name="txL" fmla="*/ 0 w 64"/>
                <a:gd name="txT" fmla="*/ 0 h 64"/>
                <a:gd name="txR" fmla="*/ 64 w 64"/>
                <a:gd name="txB" fmla="*/ 64 h 64"/>
              </a:gdLst>
              <a:ahLst/>
              <a:cxnLst>
                <a:cxn ang="0">
                  <a:pos x="0" y="0"/>
                </a:cxn>
                <a:cxn ang="0">
                  <a:pos x="7" y="28"/>
                </a:cxn>
                <a:cxn ang="0">
                  <a:pos x="21" y="43"/>
                </a:cxn>
                <a:cxn ang="0">
                  <a:pos x="43" y="57"/>
                </a:cxn>
                <a:cxn ang="0">
                  <a:pos x="64" y="64"/>
                </a:cxn>
                <a:cxn ang="0">
                  <a:pos x="64" y="64"/>
                </a:cxn>
                <a:cxn ang="0">
                  <a:pos x="43" y="57"/>
                </a:cxn>
                <a:cxn ang="0">
                  <a:pos x="21" y="43"/>
                </a:cxn>
                <a:cxn ang="0">
                  <a:pos x="7" y="28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4" h="64">
                  <a:moveTo>
                    <a:pt x="0" y="0"/>
                  </a:moveTo>
                  <a:lnTo>
                    <a:pt x="7" y="28"/>
                  </a:lnTo>
                  <a:lnTo>
                    <a:pt x="21" y="43"/>
                  </a:lnTo>
                  <a:lnTo>
                    <a:pt x="43" y="57"/>
                  </a:lnTo>
                  <a:lnTo>
                    <a:pt x="64" y="64"/>
                  </a:lnTo>
                  <a:lnTo>
                    <a:pt x="43" y="57"/>
                  </a:lnTo>
                  <a:lnTo>
                    <a:pt x="21" y="43"/>
                  </a:lnTo>
                  <a:lnTo>
                    <a:pt x="7" y="28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2" name="Freeform 50"/>
            <p:cNvSpPr>
              <a:spLocks noChangeAspect="1"/>
            </p:cNvSpPr>
            <p:nvPr/>
          </p:nvSpPr>
          <p:spPr>
            <a:xfrm>
              <a:off x="4620" y="2960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3" name="Freeform 51"/>
            <p:cNvSpPr>
              <a:spLocks noChangeAspect="1" noEditPoints="1"/>
            </p:cNvSpPr>
            <p:nvPr/>
          </p:nvSpPr>
          <p:spPr>
            <a:xfrm>
              <a:off x="3299" y="1784"/>
              <a:ext cx="58" cy="187"/>
            </a:xfrm>
            <a:custGeom>
              <a:avLst/>
              <a:gdLst>
                <a:gd name="txL" fmla="*/ 0 w 58"/>
                <a:gd name="txT" fmla="*/ 0 h 187"/>
                <a:gd name="txR" fmla="*/ 58 w 58"/>
                <a:gd name="txB" fmla="*/ 187 h 187"/>
              </a:gdLst>
              <a:ahLst/>
              <a:cxnLst>
                <a:cxn ang="0">
                  <a:pos x="43" y="151"/>
                </a:cxn>
                <a:cxn ang="0">
                  <a:pos x="36" y="165"/>
                </a:cxn>
                <a:cxn ang="0">
                  <a:pos x="22" y="172"/>
                </a:cxn>
                <a:cxn ang="0">
                  <a:pos x="22" y="172"/>
                </a:cxn>
                <a:cxn ang="0">
                  <a:pos x="22" y="165"/>
                </a:cxn>
                <a:cxn ang="0">
                  <a:pos x="22" y="158"/>
                </a:cxn>
                <a:cxn ang="0">
                  <a:pos x="22" y="151"/>
                </a:cxn>
                <a:cxn ang="0">
                  <a:pos x="50" y="58"/>
                </a:cxn>
                <a:cxn ang="0">
                  <a:pos x="43" y="58"/>
                </a:cxn>
                <a:cxn ang="0">
                  <a:pos x="29" y="65"/>
                </a:cxn>
                <a:cxn ang="0">
                  <a:pos x="7" y="65"/>
                </a:cxn>
                <a:cxn ang="0">
                  <a:pos x="7" y="72"/>
                </a:cxn>
                <a:cxn ang="0">
                  <a:pos x="22" y="72"/>
                </a:cxn>
                <a:cxn ang="0">
                  <a:pos x="22" y="79"/>
                </a:cxn>
                <a:cxn ang="0">
                  <a:pos x="22" y="93"/>
                </a:cxn>
                <a:cxn ang="0">
                  <a:pos x="14" y="122"/>
                </a:cxn>
                <a:cxn ang="0">
                  <a:pos x="7" y="144"/>
                </a:cxn>
                <a:cxn ang="0">
                  <a:pos x="0" y="165"/>
                </a:cxn>
                <a:cxn ang="0">
                  <a:pos x="0" y="179"/>
                </a:cxn>
                <a:cxn ang="0">
                  <a:pos x="14" y="187"/>
                </a:cxn>
                <a:cxn ang="0">
                  <a:pos x="36" y="179"/>
                </a:cxn>
                <a:cxn ang="0">
                  <a:pos x="50" y="151"/>
                </a:cxn>
                <a:cxn ang="0">
                  <a:pos x="43" y="151"/>
                </a:cxn>
                <a:cxn ang="0">
                  <a:pos x="58" y="14"/>
                </a:cxn>
                <a:cxn ang="0">
                  <a:pos x="50" y="7"/>
                </a:cxn>
                <a:cxn ang="0">
                  <a:pos x="43" y="0"/>
                </a:cxn>
                <a:cxn ang="0">
                  <a:pos x="36" y="7"/>
                </a:cxn>
                <a:cxn ang="0">
                  <a:pos x="29" y="14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50" y="22"/>
                </a:cxn>
                <a:cxn ang="0">
                  <a:pos x="58" y="14"/>
                </a:cxn>
                <a:cxn ang="0">
                  <a:pos x="58" y="14"/>
                </a:cxn>
              </a:cxnLst>
              <a:rect l="txL" t="txT" r="txR" b="txB"/>
              <a:pathLst>
                <a:path w="58" h="187">
                  <a:moveTo>
                    <a:pt x="43" y="151"/>
                  </a:moveTo>
                  <a:lnTo>
                    <a:pt x="36" y="165"/>
                  </a:lnTo>
                  <a:lnTo>
                    <a:pt x="22" y="172"/>
                  </a:lnTo>
                  <a:lnTo>
                    <a:pt x="22" y="165"/>
                  </a:lnTo>
                  <a:lnTo>
                    <a:pt x="22" y="158"/>
                  </a:lnTo>
                  <a:lnTo>
                    <a:pt x="22" y="151"/>
                  </a:lnTo>
                  <a:lnTo>
                    <a:pt x="50" y="58"/>
                  </a:lnTo>
                  <a:lnTo>
                    <a:pt x="43" y="58"/>
                  </a:lnTo>
                  <a:lnTo>
                    <a:pt x="29" y="65"/>
                  </a:lnTo>
                  <a:lnTo>
                    <a:pt x="7" y="65"/>
                  </a:lnTo>
                  <a:lnTo>
                    <a:pt x="7" y="72"/>
                  </a:lnTo>
                  <a:lnTo>
                    <a:pt x="22" y="72"/>
                  </a:lnTo>
                  <a:lnTo>
                    <a:pt x="22" y="79"/>
                  </a:lnTo>
                  <a:lnTo>
                    <a:pt x="22" y="93"/>
                  </a:lnTo>
                  <a:lnTo>
                    <a:pt x="14" y="122"/>
                  </a:lnTo>
                  <a:lnTo>
                    <a:pt x="7" y="144"/>
                  </a:lnTo>
                  <a:lnTo>
                    <a:pt x="0" y="165"/>
                  </a:lnTo>
                  <a:lnTo>
                    <a:pt x="0" y="179"/>
                  </a:lnTo>
                  <a:lnTo>
                    <a:pt x="14" y="187"/>
                  </a:lnTo>
                  <a:lnTo>
                    <a:pt x="36" y="179"/>
                  </a:lnTo>
                  <a:lnTo>
                    <a:pt x="50" y="151"/>
                  </a:lnTo>
                  <a:lnTo>
                    <a:pt x="43" y="151"/>
                  </a:lnTo>
                  <a:close/>
                  <a:moveTo>
                    <a:pt x="58" y="14"/>
                  </a:moveTo>
                  <a:lnTo>
                    <a:pt x="50" y="7"/>
                  </a:lnTo>
                  <a:lnTo>
                    <a:pt x="43" y="0"/>
                  </a:lnTo>
                  <a:lnTo>
                    <a:pt x="36" y="7"/>
                  </a:lnTo>
                  <a:lnTo>
                    <a:pt x="29" y="14"/>
                  </a:lnTo>
                  <a:lnTo>
                    <a:pt x="36" y="29"/>
                  </a:lnTo>
                  <a:lnTo>
                    <a:pt x="43" y="29"/>
                  </a:lnTo>
                  <a:lnTo>
                    <a:pt x="50" y="22"/>
                  </a:lnTo>
                  <a:lnTo>
                    <a:pt x="58" y="1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4" name="Freeform 52"/>
            <p:cNvSpPr>
              <a:spLocks noChangeAspect="1"/>
            </p:cNvSpPr>
            <p:nvPr/>
          </p:nvSpPr>
          <p:spPr>
            <a:xfrm>
              <a:off x="3493" y="1569"/>
              <a:ext cx="574" cy="617"/>
            </a:xfrm>
            <a:custGeom>
              <a:avLst/>
              <a:gdLst>
                <a:gd name="txL" fmla="*/ 0 w 574"/>
                <a:gd name="txT" fmla="*/ 0 h 617"/>
                <a:gd name="txR" fmla="*/ 574 w 574"/>
                <a:gd name="txB" fmla="*/ 617 h 617"/>
              </a:gdLst>
              <a:ahLst/>
              <a:cxnLst>
                <a:cxn ang="0">
                  <a:pos x="574" y="308"/>
                </a:cxn>
                <a:cxn ang="0">
                  <a:pos x="287" y="0"/>
                </a:cxn>
                <a:cxn ang="0">
                  <a:pos x="0" y="308"/>
                </a:cxn>
                <a:cxn ang="0">
                  <a:pos x="287" y="617"/>
                </a:cxn>
                <a:cxn ang="0">
                  <a:pos x="574" y="308"/>
                </a:cxn>
                <a:cxn ang="0">
                  <a:pos x="574" y="308"/>
                </a:cxn>
              </a:cxnLst>
              <a:rect l="txL" t="txT" r="txR" b="txB"/>
              <a:pathLst>
                <a:path w="574" h="617">
                  <a:moveTo>
                    <a:pt x="574" y="308"/>
                  </a:moveTo>
                  <a:lnTo>
                    <a:pt x="287" y="0"/>
                  </a:lnTo>
                  <a:lnTo>
                    <a:pt x="0" y="308"/>
                  </a:lnTo>
                  <a:lnTo>
                    <a:pt x="287" y="617"/>
                  </a:lnTo>
                  <a:lnTo>
                    <a:pt x="574" y="308"/>
                  </a:lnTo>
                  <a:close/>
                </a:path>
              </a:pathLst>
            </a:custGeom>
            <a:solidFill>
              <a:srgbClr val="006666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5" name="Freeform 53"/>
            <p:cNvSpPr>
              <a:spLocks noChangeAspect="1"/>
            </p:cNvSpPr>
            <p:nvPr/>
          </p:nvSpPr>
          <p:spPr>
            <a:xfrm>
              <a:off x="3780" y="1569"/>
              <a:ext cx="287" cy="308"/>
            </a:xfrm>
            <a:custGeom>
              <a:avLst/>
              <a:gdLst>
                <a:gd name="txL" fmla="*/ 0 w 287"/>
                <a:gd name="txT" fmla="*/ 0 h 308"/>
                <a:gd name="txR" fmla="*/ 287 w 287"/>
                <a:gd name="txB" fmla="*/ 308 h 308"/>
              </a:gdLst>
              <a:ahLst/>
              <a:cxnLst>
                <a:cxn ang="0">
                  <a:pos x="287" y="308"/>
                </a:cxn>
                <a:cxn ang="0">
                  <a:pos x="0" y="0"/>
                </a:cxn>
                <a:cxn ang="0">
                  <a:pos x="287" y="308"/>
                </a:cxn>
                <a:cxn ang="0">
                  <a:pos x="287" y="308"/>
                </a:cxn>
              </a:cxnLst>
              <a:rect l="txL" t="txT" r="txR" b="txB"/>
              <a:pathLst>
                <a:path w="287" h="308">
                  <a:moveTo>
                    <a:pt x="287" y="308"/>
                  </a:moveTo>
                  <a:lnTo>
                    <a:pt x="0" y="0"/>
                  </a:lnTo>
                  <a:lnTo>
                    <a:pt x="287" y="3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6" name="Freeform 54"/>
            <p:cNvSpPr>
              <a:spLocks noChangeAspect="1" noEditPoints="1"/>
            </p:cNvSpPr>
            <p:nvPr/>
          </p:nvSpPr>
          <p:spPr>
            <a:xfrm>
              <a:off x="3493" y="1569"/>
              <a:ext cx="287" cy="308"/>
            </a:xfrm>
            <a:custGeom>
              <a:avLst/>
              <a:gdLst>
                <a:gd name="txL" fmla="*/ 0 w 287"/>
                <a:gd name="txT" fmla="*/ 0 h 308"/>
                <a:gd name="txR" fmla="*/ 287 w 287"/>
                <a:gd name="txB" fmla="*/ 308 h 308"/>
              </a:gdLst>
              <a:ahLst/>
              <a:cxnLst>
                <a:cxn ang="0">
                  <a:pos x="287" y="0"/>
                </a:cxn>
                <a:cxn ang="0">
                  <a:pos x="0" y="308"/>
                </a:cxn>
                <a:cxn ang="0">
                  <a:pos x="287" y="0"/>
                </a:cxn>
                <a:cxn ang="0">
                  <a:pos x="287" y="0"/>
                </a:cxn>
                <a:cxn ang="0">
                  <a:pos x="287" y="0"/>
                </a:cxn>
                <a:cxn ang="0">
                  <a:pos x="287" y="0"/>
                </a:cxn>
                <a:cxn ang="0">
                  <a:pos x="287" y="0"/>
                </a:cxn>
              </a:cxnLst>
              <a:rect l="txL" t="txT" r="txR" b="txB"/>
              <a:pathLst>
                <a:path w="287" h="308">
                  <a:moveTo>
                    <a:pt x="287" y="0"/>
                  </a:moveTo>
                  <a:lnTo>
                    <a:pt x="0" y="308"/>
                  </a:lnTo>
                  <a:lnTo>
                    <a:pt x="287" y="0"/>
                  </a:lnTo>
                  <a:close/>
                  <a:moveTo>
                    <a:pt x="287" y="0"/>
                  </a:moveTo>
                  <a:lnTo>
                    <a:pt x="287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7" name="Freeform 55"/>
            <p:cNvSpPr>
              <a:spLocks noChangeAspect="1" noEditPoints="1"/>
            </p:cNvSpPr>
            <p:nvPr/>
          </p:nvSpPr>
          <p:spPr>
            <a:xfrm>
              <a:off x="3493" y="1877"/>
              <a:ext cx="287" cy="309"/>
            </a:xfrm>
            <a:custGeom>
              <a:avLst/>
              <a:gdLst>
                <a:gd name="txL" fmla="*/ 0 w 287"/>
                <a:gd name="txT" fmla="*/ 0 h 309"/>
                <a:gd name="txR" fmla="*/ 287 w 287"/>
                <a:gd name="txB" fmla="*/ 309 h 309"/>
              </a:gdLst>
              <a:ahLst/>
              <a:cxnLst>
                <a:cxn ang="0">
                  <a:pos x="0" y="0"/>
                </a:cxn>
                <a:cxn ang="0">
                  <a:pos x="287" y="30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87" h="309">
                  <a:moveTo>
                    <a:pt x="0" y="0"/>
                  </a:moveTo>
                  <a:lnTo>
                    <a:pt x="287" y="309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8" name="Freeform 56"/>
            <p:cNvSpPr>
              <a:spLocks noChangeAspect="1" noEditPoints="1"/>
            </p:cNvSpPr>
            <p:nvPr/>
          </p:nvSpPr>
          <p:spPr>
            <a:xfrm>
              <a:off x="3780" y="1877"/>
              <a:ext cx="287" cy="309"/>
            </a:xfrm>
            <a:custGeom>
              <a:avLst/>
              <a:gdLst>
                <a:gd name="txL" fmla="*/ 0 w 287"/>
                <a:gd name="txT" fmla="*/ 0 h 309"/>
                <a:gd name="txR" fmla="*/ 287 w 287"/>
                <a:gd name="txB" fmla="*/ 309 h 309"/>
              </a:gdLst>
              <a:ahLst/>
              <a:cxnLst>
                <a:cxn ang="0">
                  <a:pos x="0" y="309"/>
                </a:cxn>
                <a:cxn ang="0">
                  <a:pos x="287" y="0"/>
                </a:cxn>
                <a:cxn ang="0">
                  <a:pos x="0" y="309"/>
                </a:cxn>
                <a:cxn ang="0">
                  <a:pos x="0" y="309"/>
                </a:cxn>
                <a:cxn ang="0">
                  <a:pos x="0" y="309"/>
                </a:cxn>
                <a:cxn ang="0">
                  <a:pos x="0" y="309"/>
                </a:cxn>
                <a:cxn ang="0">
                  <a:pos x="0" y="309"/>
                </a:cxn>
              </a:cxnLst>
              <a:rect l="txL" t="txT" r="txR" b="txB"/>
              <a:pathLst>
                <a:path w="287" h="309">
                  <a:moveTo>
                    <a:pt x="0" y="309"/>
                  </a:moveTo>
                  <a:lnTo>
                    <a:pt x="287" y="0"/>
                  </a:lnTo>
                  <a:lnTo>
                    <a:pt x="0" y="309"/>
                  </a:lnTo>
                  <a:close/>
                  <a:moveTo>
                    <a:pt x="0" y="309"/>
                  </a:moveTo>
                  <a:lnTo>
                    <a:pt x="0" y="30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69" name="Freeform 57"/>
            <p:cNvSpPr>
              <a:spLocks noChangeAspect="1"/>
            </p:cNvSpPr>
            <p:nvPr/>
          </p:nvSpPr>
          <p:spPr>
            <a:xfrm>
              <a:off x="4067" y="1877"/>
              <a:ext cx="1" cy="1"/>
            </a:xfrm>
            <a:custGeom>
              <a:avLst/>
              <a:gdLst>
                <a:gd name="txL" fmla="*/ 0 w 1"/>
                <a:gd name="txT" fmla="*/ 0 h 1"/>
                <a:gd name="txR" fmla="*/ 1 w 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70" name="Freeform 58"/>
            <p:cNvSpPr>
              <a:spLocks noChangeAspect="1"/>
            </p:cNvSpPr>
            <p:nvPr/>
          </p:nvSpPr>
          <p:spPr>
            <a:xfrm>
              <a:off x="3787" y="1870"/>
              <a:ext cx="1" cy="179"/>
            </a:xfrm>
            <a:custGeom>
              <a:avLst/>
              <a:gdLst>
                <a:gd name="txL" fmla="*/ 0 w 1"/>
                <a:gd name="txT" fmla="*/ 0 h 179"/>
                <a:gd name="txR" fmla="*/ 1 w 1"/>
                <a:gd name="txB" fmla="*/ 179 h 179"/>
              </a:gdLst>
              <a:ahLst/>
              <a:cxnLst>
                <a:cxn ang="0">
                  <a:pos x="0" y="179"/>
                </a:cxn>
                <a:cxn ang="0">
                  <a:pos x="0" y="0"/>
                </a:cxn>
                <a:cxn ang="0">
                  <a:pos x="0" y="179"/>
                </a:cxn>
                <a:cxn ang="0">
                  <a:pos x="0" y="179"/>
                </a:cxn>
              </a:cxnLst>
              <a:rect l="txL" t="txT" r="txR" b="txB"/>
              <a:pathLst>
                <a:path w="1" h="179">
                  <a:moveTo>
                    <a:pt x="0" y="179"/>
                  </a:moveTo>
                  <a:lnTo>
                    <a:pt x="0" y="0"/>
                  </a:lnTo>
                  <a:lnTo>
                    <a:pt x="0" y="17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71" name="Freeform 59"/>
            <p:cNvSpPr>
              <a:spLocks noChangeAspect="1"/>
            </p:cNvSpPr>
            <p:nvPr/>
          </p:nvSpPr>
          <p:spPr>
            <a:xfrm>
              <a:off x="3730" y="1698"/>
              <a:ext cx="108" cy="208"/>
            </a:xfrm>
            <a:custGeom>
              <a:avLst/>
              <a:gdLst>
                <a:gd name="txL" fmla="*/ 0 w 108"/>
                <a:gd name="txT" fmla="*/ 0 h 208"/>
                <a:gd name="txR" fmla="*/ 108 w 108"/>
                <a:gd name="txB" fmla="*/ 208 h 208"/>
              </a:gdLst>
              <a:ahLst/>
              <a:cxnLst>
                <a:cxn ang="0">
                  <a:pos x="108" y="208"/>
                </a:cxn>
                <a:cxn ang="0">
                  <a:pos x="57" y="0"/>
                </a:cxn>
                <a:cxn ang="0">
                  <a:pos x="0" y="208"/>
                </a:cxn>
                <a:cxn ang="0">
                  <a:pos x="108" y="208"/>
                </a:cxn>
                <a:cxn ang="0">
                  <a:pos x="108" y="208"/>
                </a:cxn>
              </a:cxnLst>
              <a:rect l="txL" t="txT" r="txR" b="txB"/>
              <a:pathLst>
                <a:path w="108" h="208">
                  <a:moveTo>
                    <a:pt x="108" y="208"/>
                  </a:moveTo>
                  <a:lnTo>
                    <a:pt x="57" y="0"/>
                  </a:lnTo>
                  <a:lnTo>
                    <a:pt x="0" y="208"/>
                  </a:lnTo>
                  <a:lnTo>
                    <a:pt x="108" y="208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516" name="Text Box 60"/>
          <p:cNvSpPr txBox="1"/>
          <p:nvPr/>
        </p:nvSpPr>
        <p:spPr>
          <a:xfrm>
            <a:off x="5770563" y="4017963"/>
            <a:ext cx="4211637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cs typeface="Arial" panose="020B0604020202020204" pitchFamily="34" charset="0"/>
              </a:rPr>
              <a:t>    </a:t>
            </a:r>
            <a:r>
              <a:rPr lang="zh-CN" altLang="en-US" sz="2400" b="1" dirty="0">
                <a:solidFill>
                  <a:srgbClr val="002060"/>
                </a:solidFill>
                <a:cs typeface="Arial" panose="020B0604020202020204" pitchFamily="34" charset="0"/>
              </a:rPr>
              <a:t>电路</a:t>
            </a:r>
            <a:r>
              <a:rPr lang="zh-CN" alt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符号</a:t>
            </a:r>
            <a:r>
              <a:rPr lang="en-US" altLang="zh-C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altLang="zh-CN" sz="2400" b="1" dirty="0">
              <a:solidFill>
                <a:srgbClr val="00206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AutoNum type="alphaLcParenBoth"/>
            </a:pP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受控电压源</a:t>
            </a:r>
            <a:endParaRPr lang="en-US" altLang="zh-CN" sz="2400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50000"/>
              </a:spcBef>
              <a:buClrTx/>
              <a:buSzTx/>
              <a:buFontTx/>
              <a:buAutoNum type="alphaLcParenBoth"/>
            </a:pP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受控电流源</a:t>
            </a:r>
            <a:endParaRPr lang="en-US" altLang="zh-CN" sz="24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6451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538" y="1125538"/>
            <a:ext cx="5119687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椭圆 1"/>
          <p:cNvSpPr/>
          <p:nvPr/>
        </p:nvSpPr>
        <p:spPr>
          <a:xfrm>
            <a:off x="6119813" y="1989138"/>
            <a:ext cx="1511300" cy="1295400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6564" name="文本框 8"/>
          <p:cNvSpPr txBox="1"/>
          <p:nvPr/>
        </p:nvSpPr>
        <p:spPr>
          <a:xfrm>
            <a:off x="4484688" y="4135438"/>
            <a:ext cx="4572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 </a:t>
            </a:r>
            <a:r>
              <a:rPr lang="zh-CN" altLang="en-US" sz="2000" b="1" dirty="0"/>
              <a:t>这是什么类型的受控源？。。。</a:t>
            </a:r>
            <a:endParaRPr lang="zh-CN" altLang="en-US" sz="2000" b="1" dirty="0"/>
          </a:p>
        </p:txBody>
      </p:sp>
      <p:sp>
        <p:nvSpPr>
          <p:cNvPr id="66565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8538" y="1125538"/>
            <a:ext cx="5119687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7" name="Text Box 3"/>
          <p:cNvSpPr txBox="1"/>
          <p:nvPr/>
        </p:nvSpPr>
        <p:spPr>
          <a:xfrm>
            <a:off x="1908175" y="4941888"/>
            <a:ext cx="59785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A: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电流控制的电压源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67588" name="Text Box 4"/>
          <p:cNvSpPr txBox="1"/>
          <p:nvPr/>
        </p:nvSpPr>
        <p:spPr>
          <a:xfrm>
            <a:off x="2286000" y="5516563"/>
            <a:ext cx="54546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大小和单位：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en-US" altLang="zh-CN" sz="2400" b="1" dirty="0">
                <a:latin typeface="Monotype Corsiva" panose="03010101010201010101" pitchFamily="66" charset="0"/>
                <a:cs typeface="Arial" panose="020B0604020202020204" pitchFamily="34" charset="0"/>
              </a:rPr>
              <a:t>i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，不是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 10</a:t>
            </a:r>
            <a:r>
              <a:rPr lang="en-US" altLang="zh-CN" sz="2400" b="1" dirty="0">
                <a:latin typeface="Monotype Corsiva" panose="03010101010201010101" pitchFamily="66" charset="0"/>
                <a:cs typeface="Arial" panose="020B0604020202020204" pitchFamily="34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  <a:cs typeface="Arial" panose="020B0604020202020204" pitchFamily="34" charset="0"/>
              </a:rPr>
              <a:t>！</a:t>
            </a:r>
            <a:endParaRPr lang="en-US" altLang="zh-CN" sz="2400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6119813" y="1989138"/>
            <a:ext cx="1511300" cy="1295400"/>
          </a:xfrm>
          <a:prstGeom prst="ellipse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590" name="文本框 8"/>
          <p:cNvSpPr txBox="1"/>
          <p:nvPr/>
        </p:nvSpPr>
        <p:spPr>
          <a:xfrm>
            <a:off x="4484688" y="4135438"/>
            <a:ext cx="4572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 </a:t>
            </a:r>
            <a:r>
              <a:rPr lang="zh-CN" altLang="en-US" sz="2000" b="1" dirty="0"/>
              <a:t>这是什么类型的受控源？</a:t>
            </a:r>
            <a:endParaRPr lang="zh-CN" altLang="en-US" sz="2000" b="1" dirty="0"/>
          </a:p>
        </p:txBody>
      </p:sp>
      <p:sp>
        <p:nvSpPr>
          <p:cNvPr id="67591" name="灯片编号占位符 2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2428875"/>
            <a:ext cx="6218237" cy="3168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5" name="Text Box 3"/>
          <p:cNvSpPr txBox="1"/>
          <p:nvPr/>
        </p:nvSpPr>
        <p:spPr>
          <a:xfrm>
            <a:off x="395288" y="476250"/>
            <a:ext cx="5545137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例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1-7 </a:t>
            </a:r>
            <a:r>
              <a:rPr lang="zh-CN" altLang="en-US" sz="4000" b="1" dirty="0">
                <a:solidFill>
                  <a:schemeClr val="folHlink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（堂练）</a:t>
            </a:r>
            <a:endParaRPr lang="zh-CN" altLang="en-US" sz="4000" b="1" dirty="0">
              <a:solidFill>
                <a:schemeClr val="folHlink"/>
              </a:solidFill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69636" name="Text Box 5"/>
          <p:cNvSpPr txBox="1"/>
          <p:nvPr/>
        </p:nvSpPr>
        <p:spPr>
          <a:xfrm>
            <a:off x="611188" y="1260475"/>
            <a:ext cx="80645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  计算图中各元件所发出或吸收的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功率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6963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8" name="文本框 6"/>
          <p:cNvSpPr txBox="1"/>
          <p:nvPr/>
        </p:nvSpPr>
        <p:spPr>
          <a:xfrm>
            <a:off x="2987675" y="6107113"/>
            <a:ext cx="45720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（解题规范：打标签。。。）</a:t>
            </a:r>
            <a:r>
              <a:rPr lang="en-US" altLang="zh-CN" sz="18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endParaRPr lang="zh-CN" altLang="en-US" sz="1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4"/>
          <p:cNvSpPr>
            <a:spLocks noGrp="1"/>
          </p:cNvSpPr>
          <p:nvPr>
            <p:ph type="body" sz="half" idx="1"/>
          </p:nvPr>
        </p:nvSpPr>
        <p:spPr>
          <a:xfrm>
            <a:off x="246063" y="557213"/>
            <a:ext cx="7715250" cy="3886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rgbClr val="0000FF"/>
                </a:solidFill>
              </a:rPr>
              <a:t>解</a:t>
            </a:r>
            <a:r>
              <a:rPr lang="en-US" altLang="zh-CN" sz="3600" b="1" dirty="0">
                <a:solidFill>
                  <a:srgbClr val="0000FF"/>
                </a:solidFill>
              </a:rPr>
              <a:t>:</a:t>
            </a:r>
            <a:endParaRPr lang="en-US" altLang="zh-CN" sz="3600" b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（解题规范）</a:t>
            </a:r>
            <a:r>
              <a:rPr lang="en-US" altLang="zh-CN" sz="2800" b="1" dirty="0">
                <a:latin typeface="Times New Roman" panose="02020603050405020304" pitchFamily="18" charset="0"/>
              </a:rPr>
              <a:t>  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根据图示</a:t>
            </a:r>
            <a:r>
              <a:rPr lang="zh-CN" altLang="en-US" b="1" dirty="0">
                <a:solidFill>
                  <a:srgbClr val="002060"/>
                </a:solidFill>
                <a:latin typeface="Times New Roman" panose="02020603050405020304" pitchFamily="18" charset="0"/>
              </a:rPr>
              <a:t>标签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2800" b="1" dirty="0"/>
          </a:p>
        </p:txBody>
      </p:sp>
      <p:graphicFrame>
        <p:nvGraphicFramePr>
          <p:cNvPr id="70659" name="Object 5"/>
          <p:cNvGraphicFramePr/>
          <p:nvPr>
            <p:ph sz="quarter" idx="2"/>
          </p:nvPr>
        </p:nvGraphicFramePr>
        <p:xfrm>
          <a:off x="1065213" y="2946400"/>
          <a:ext cx="73850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" r:id="rId1" imgW="65836800" imgH="5181600" progId="">
                  <p:embed/>
                </p:oleObj>
              </mc:Choice>
              <mc:Fallback>
                <p:oleObj name="" r:id="rId1" imgW="65836800" imgH="5181600" progId="">
                  <p:embed/>
                  <p:pic>
                    <p:nvPicPr>
                      <p:cNvPr id="0" name="图片 12288" descr="image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5213" y="2946400"/>
                        <a:ext cx="7385050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8"/>
          <p:cNvGraphicFramePr/>
          <p:nvPr>
            <p:ph sz="quarter" idx="3"/>
          </p:nvPr>
        </p:nvGraphicFramePr>
        <p:xfrm>
          <a:off x="966788" y="3619500"/>
          <a:ext cx="7121525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" r:id="rId3" imgW="60045600" imgH="10972800" progId="">
                  <p:embed/>
                </p:oleObj>
              </mc:Choice>
              <mc:Fallback>
                <p:oleObj name="" r:id="rId3" imgW="60045600" imgH="10972800" progId="">
                  <p:embed/>
                  <p:pic>
                    <p:nvPicPr>
                      <p:cNvPr id="0" name="图片 12289" descr="image6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6788" y="3619500"/>
                        <a:ext cx="7121525" cy="1301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11"/>
          <p:cNvGraphicFramePr/>
          <p:nvPr/>
        </p:nvGraphicFramePr>
        <p:xfrm>
          <a:off x="931863" y="5087938"/>
          <a:ext cx="8328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" r:id="rId5" imgW="82905600" imgH="5181600" progId="">
                  <p:embed/>
                </p:oleObj>
              </mc:Choice>
              <mc:Fallback>
                <p:oleObj name="" r:id="rId5" imgW="82905600" imgH="5181600" progId="">
                  <p:embed/>
                  <p:pic>
                    <p:nvPicPr>
                      <p:cNvPr id="0" name="图片 12290" descr="image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1863" y="5087938"/>
                        <a:ext cx="8328025" cy="53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2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8400" y="130175"/>
            <a:ext cx="5172075" cy="2636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5745163" y="3000375"/>
            <a:ext cx="2705100" cy="527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024438" y="3721100"/>
            <a:ext cx="2952750" cy="1079500"/>
          </a:xfrm>
          <a:prstGeom prst="round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681788" y="5013325"/>
            <a:ext cx="2806700" cy="723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0666" name="文本框 7"/>
          <p:cNvSpPr txBox="1"/>
          <p:nvPr/>
        </p:nvSpPr>
        <p:spPr>
          <a:xfrm>
            <a:off x="5513388" y="2992438"/>
            <a:ext cx="24479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发出</a:t>
            </a:r>
            <a:r>
              <a:rPr lang="zh-CN" altLang="en-US" sz="2800" b="1" dirty="0">
                <a:cs typeface="Arial" panose="020B0604020202020204" pitchFamily="34" charset="0"/>
              </a:rPr>
              <a:t>功率</a:t>
            </a:r>
            <a:endParaRPr lang="zh-CN" altLang="en-US" sz="2800" b="1" dirty="0">
              <a:ea typeface="Arial" panose="020B0604020202020204" pitchFamily="34" charset="0"/>
            </a:endParaRPr>
          </a:p>
        </p:txBody>
      </p:sp>
      <p:sp>
        <p:nvSpPr>
          <p:cNvPr id="70667" name="文本框 12"/>
          <p:cNvSpPr txBox="1"/>
          <p:nvPr/>
        </p:nvSpPr>
        <p:spPr>
          <a:xfrm>
            <a:off x="4953000" y="3609975"/>
            <a:ext cx="24479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吸收</a:t>
            </a:r>
            <a:r>
              <a:rPr lang="zh-CN" altLang="en-US" sz="2800" b="1" dirty="0">
                <a:cs typeface="Arial" panose="020B0604020202020204" pitchFamily="34" charset="0"/>
              </a:rPr>
              <a:t>功率</a:t>
            </a:r>
            <a:endParaRPr lang="zh-CN" altLang="en-US" sz="2800" b="1" dirty="0">
              <a:ea typeface="Arial" panose="020B0604020202020204" pitchFamily="34" charset="0"/>
            </a:endParaRPr>
          </a:p>
        </p:txBody>
      </p:sp>
      <p:sp>
        <p:nvSpPr>
          <p:cNvPr id="70668" name="文本框 13"/>
          <p:cNvSpPr txBox="1"/>
          <p:nvPr/>
        </p:nvSpPr>
        <p:spPr>
          <a:xfrm>
            <a:off x="4953000" y="4260850"/>
            <a:ext cx="24479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吸收</a:t>
            </a:r>
            <a:r>
              <a:rPr lang="zh-CN" altLang="en-US" sz="2800" b="1" dirty="0">
                <a:cs typeface="Arial" panose="020B0604020202020204" pitchFamily="34" charset="0"/>
              </a:rPr>
              <a:t>功率</a:t>
            </a:r>
            <a:endParaRPr lang="zh-CN" altLang="en-US" sz="2800" b="1" dirty="0">
              <a:ea typeface="Arial" panose="020B0604020202020204" pitchFamily="34" charset="0"/>
            </a:endParaRPr>
          </a:p>
        </p:txBody>
      </p:sp>
      <p:sp>
        <p:nvSpPr>
          <p:cNvPr id="70669" name="文本框 14"/>
          <p:cNvSpPr txBox="1"/>
          <p:nvPr/>
        </p:nvSpPr>
        <p:spPr>
          <a:xfrm>
            <a:off x="6477000" y="5081588"/>
            <a:ext cx="24479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提供</a:t>
            </a:r>
            <a:r>
              <a:rPr lang="zh-CN" altLang="en-US" sz="2800" b="1" dirty="0">
                <a:cs typeface="Arial" panose="020B0604020202020204" pitchFamily="34" charset="0"/>
              </a:rPr>
              <a:t>功率</a:t>
            </a:r>
            <a:endParaRPr lang="zh-CN" altLang="en-US" sz="2800" b="1" dirty="0">
              <a:ea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61288" y="3567113"/>
            <a:ext cx="431800" cy="6492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0671" name="Object 9"/>
          <p:cNvGraphicFramePr/>
          <p:nvPr/>
        </p:nvGraphicFramePr>
        <p:xfrm>
          <a:off x="328613" y="6024563"/>
          <a:ext cx="76327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" r:id="rId8" imgW="92354400" imgH="7010400" progId="">
                  <p:embed/>
                </p:oleObj>
              </mc:Choice>
              <mc:Fallback>
                <p:oleObj name="" r:id="rId8" imgW="92354400" imgH="7010400" progId="">
                  <p:embed/>
                  <p:pic>
                    <p:nvPicPr>
                      <p:cNvPr id="0" name="图片 12291" descr="image6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8613" y="6024563"/>
                        <a:ext cx="7632700" cy="579437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FF0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2" name="灯片编号占位符 4"/>
          <p:cNvSpPr txBox="1">
            <a:spLocks noGrp="1"/>
          </p:cNvSpPr>
          <p:nvPr>
            <p:ph type="sldNum" sz="quarter" idx="11"/>
          </p:nvPr>
        </p:nvSpPr>
        <p:spPr>
          <a:xfrm>
            <a:off x="7010400" y="6361113"/>
            <a:ext cx="2133600" cy="457200"/>
          </a:xfrm>
        </p:spPr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sz="quarter" idx="2"/>
          </p:nvPr>
        </p:nvPicPr>
        <p:blipFill>
          <a:blip r:embed="rId1"/>
          <a:stretch>
            <a:fillRect/>
          </a:stretch>
        </p:blipFill>
        <p:spPr>
          <a:xfrm>
            <a:off x="876300" y="837565"/>
            <a:ext cx="6800850" cy="3486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725" y="1436370"/>
            <a:ext cx="2633980" cy="20434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135" y="5466715"/>
            <a:ext cx="4615180" cy="4191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7830" y="1721485"/>
            <a:ext cx="321881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解：</a:t>
            </a:r>
            <a:r>
              <a:rPr lang="en-US" altLang="zh-CN" dirty="0"/>
              <a:t>p1</a:t>
            </a:r>
            <a:r>
              <a:rPr lang="en-US" altLang="zh-CN" dirty="0" smtClean="0"/>
              <a:t>=(-5v)x(9A)=-</a:t>
            </a:r>
            <a:r>
              <a:rPr lang="en-US" altLang="zh-CN" dirty="0"/>
              <a:t>45W;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       </a:t>
            </a:r>
            <a:r>
              <a:rPr lang="en-US" altLang="zh-CN" dirty="0" smtClean="0">
                <a:sym typeface="+mn-ea"/>
              </a:rPr>
              <a:t>p2=2Vx9A=18W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       </a:t>
            </a:r>
            <a:r>
              <a:rPr lang="en-US" altLang="zh-CN" dirty="0" smtClean="0">
                <a:sym typeface="+mn-ea"/>
              </a:rPr>
              <a:t>p3=4Ax0.6x5A=12W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>
              <a:sym typeface="+mn-ea"/>
            </a:endParaRPr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       </a:t>
            </a:r>
            <a:r>
              <a:rPr lang="en-US" altLang="zh-CN" dirty="0" smtClean="0">
                <a:sym typeface="+mn-ea"/>
              </a:rPr>
              <a:t>p4=5Ax3V=15W</a:t>
            </a:r>
            <a:r>
              <a:rPr lang="en-US" altLang="zh-CN" dirty="0">
                <a:sym typeface="+mn-ea"/>
              </a:rPr>
              <a:t>;</a:t>
            </a:r>
            <a:endParaRPr lang="en-US" altLang="zh-CN" dirty="0">
              <a:sym typeface="+mn-ea"/>
            </a:endParaRP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/>
              <a:t>      p1+p2+p3+p4=0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3"/>
          <p:cNvSpPr>
            <a:spLocks noGrp="1"/>
          </p:cNvSpPr>
          <p:nvPr>
            <p:ph type="title"/>
          </p:nvPr>
        </p:nvSpPr>
        <p:spPr>
          <a:xfrm>
            <a:off x="684213" y="2420938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2060"/>
                </a:solidFill>
              </a:rPr>
              <a:t>1.7 </a:t>
            </a:r>
            <a:r>
              <a:rPr lang="zh-CN" altLang="en-US" b="1" dirty="0">
                <a:solidFill>
                  <a:srgbClr val="002060"/>
                </a:solidFill>
              </a:rPr>
              <a:t>应用实例</a:t>
            </a:r>
            <a:endParaRPr lang="en-US" altLang="zh-CN" b="1" dirty="0">
              <a:solidFill>
                <a:srgbClr val="002060"/>
              </a:solidFill>
            </a:endParaRPr>
          </a:p>
        </p:txBody>
      </p:sp>
      <p:sp>
        <p:nvSpPr>
          <p:cNvPr id="7168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4"/>
          <p:cNvSpPr txBox="1"/>
          <p:nvPr/>
        </p:nvSpPr>
        <p:spPr>
          <a:xfrm>
            <a:off x="323850" y="1557338"/>
            <a:ext cx="8459788" cy="403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    某家庭一月份耗电量为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400 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，按照如下电费标准，确定该家庭当月的电费账单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每月的基本供电服务费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$12.00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每月第一个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100kW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按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16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美分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/kW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计费。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之后的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200kW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按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美分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/kW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计费。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超过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200 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按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美分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/kW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计费。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72707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4"/>
          <p:cNvSpPr/>
          <p:nvPr/>
        </p:nvSpPr>
        <p:spPr>
          <a:xfrm>
            <a:off x="395288" y="404813"/>
            <a:ext cx="8353425" cy="50784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solidFill>
                  <a:schemeClr val="bg2"/>
                </a:solidFill>
                <a:cs typeface="Arial" panose="020B0604020202020204" pitchFamily="34" charset="0"/>
              </a:rPr>
              <a:t>解</a:t>
            </a:r>
            <a:r>
              <a:rPr lang="en-US" altLang="zh-CN" sz="3600" b="1" dirty="0">
                <a:solidFill>
                  <a:schemeClr val="bg2"/>
                </a:solidFill>
                <a:cs typeface="Arial" panose="020B0604020202020204" pitchFamily="34" charset="0"/>
              </a:rPr>
              <a:t>:</a:t>
            </a:r>
            <a:endParaRPr lang="en-US" altLang="zh-CN" sz="3600" b="1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电费账单计算如下：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 每月的基本供电服务费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= $12.00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第一个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100 kWh ×$0.16/kW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 = $16.00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之后的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200 kWh × $0.10/kW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 =$20.00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 剩余的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100 kWh × $0.06/kW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 = $6.00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                               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总电费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= $54.00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  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平均价格 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=                                  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美分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/ kW</a:t>
            </a:r>
            <a:r>
              <a:rPr lang="en-US" altLang="zh-CN" b="1" dirty="0">
                <a:latin typeface="Times New Roman" panose="02020603050405020304" pitchFamily="18" charset="0"/>
                <a:ea typeface="Arial" panose="020B0604020202020204" pitchFamily="34" charset="0"/>
              </a:rPr>
              <a:t>·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h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74755" name="Object 5"/>
          <p:cNvGraphicFramePr/>
          <p:nvPr/>
        </p:nvGraphicFramePr>
        <p:xfrm>
          <a:off x="2627313" y="4652963"/>
          <a:ext cx="33131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" r:id="rId1" imgW="33528000" imgH="9448800" progId="">
                  <p:embed/>
                </p:oleObj>
              </mc:Choice>
              <mc:Fallback>
                <p:oleObj name="" r:id="rId1" imgW="33528000" imgH="9448800" progId="">
                  <p:embed/>
                  <p:pic>
                    <p:nvPicPr>
                      <p:cNvPr id="0" name="图片 13312" descr="image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27313" y="4652963"/>
                        <a:ext cx="3313112" cy="933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14664"/>
          <a:stretch>
            <a:fillRect/>
          </a:stretch>
        </p:blipFill>
        <p:spPr>
          <a:xfrm>
            <a:off x="248285" y="1053465"/>
            <a:ext cx="8570595" cy="4018609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85336"/>
          <a:stretch>
            <a:fillRect/>
          </a:stretch>
        </p:blipFill>
        <p:spPr>
          <a:xfrm>
            <a:off x="357158" y="571480"/>
            <a:ext cx="8570595" cy="6905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596" y="1500174"/>
            <a:ext cx="8429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解：平均电费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$12+$0.16*100+$0.10*200+$0.06*50</a:t>
            </a:r>
            <a:r>
              <a:rPr lang="zh-CN" altLang="en-US" dirty="0" smtClean="0"/>
              <a:t>）</a:t>
            </a:r>
            <a:r>
              <a:rPr lang="en-US" altLang="zh-CN" dirty="0" smtClean="0"/>
              <a:t>/350 </a:t>
            </a:r>
            <a:r>
              <a:rPr lang="en-US" altLang="zh-CN" dirty="0" err="1" smtClean="0"/>
              <a:t>kW·h</a:t>
            </a:r>
            <a:r>
              <a:rPr lang="en-US" altLang="zh-CN" dirty="0" smtClean="0"/>
              <a:t>    =$0.1456 /</a:t>
            </a:r>
            <a:r>
              <a:rPr lang="en-US" altLang="zh-CN" dirty="0" err="1" smtClean="0"/>
              <a:t>kW·h</a:t>
            </a:r>
            <a:r>
              <a:rPr lang="en-US" altLang="zh-CN" dirty="0" smtClean="0"/>
              <a:t> =14.56</a:t>
            </a:r>
            <a:r>
              <a:rPr lang="zh-CN" altLang="en-US" dirty="0" smtClean="0"/>
              <a:t>美分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kW·h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665" y="1053465"/>
            <a:ext cx="6886575" cy="19862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31215" y="3428365"/>
            <a:ext cx="6908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解：</a:t>
            </a:r>
            <a:r>
              <a:rPr lang="en-US" altLang="zh-CN"/>
              <a:t>(V1-5)/2+V1/8+(V1+3)/4=0     (kcl)</a:t>
            </a:r>
            <a:endParaRPr lang="en-US" altLang="zh-CN"/>
          </a:p>
          <a:p>
            <a:r>
              <a:rPr lang="en-US" altLang="zh-CN"/>
              <a:t>     </a:t>
            </a:r>
            <a:endParaRPr lang="en-US" altLang="zh-CN"/>
          </a:p>
          <a:p>
            <a:r>
              <a:rPr lang="en-US" altLang="zh-CN"/>
              <a:t>       i8 = V1/8 (A)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       =0.25A</a:t>
            </a:r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/>
          <p:cNvSpPr>
            <a:spLocks noGrp="1"/>
          </p:cNvSpPr>
          <p:nvPr>
            <p:ph type="title"/>
          </p:nvPr>
        </p:nvSpPr>
        <p:spPr>
          <a:xfrm>
            <a:off x="595313" y="457200"/>
            <a:ext cx="8229600" cy="1100138"/>
          </a:xfrm>
        </p:spPr>
        <p:txBody>
          <a:bodyPr vert="horz" wrap="square" lIns="91440" tIns="45720" rIns="91440" bIns="45720" anchor="ctr"/>
          <a:lstStyle/>
          <a:p>
            <a:pPr eaLnBrk="1" hangingPunct="1">
              <a:spcBef>
                <a:spcPct val="50000"/>
              </a:spcBef>
            </a:pPr>
            <a:r>
              <a:rPr lang="zh-CN" altLang="en-US" sz="4000" b="1" dirty="0"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本章小结：</a:t>
            </a:r>
            <a:endParaRPr lang="en-US" altLang="zh-CN" sz="4000" b="1" dirty="0">
              <a:solidFill>
                <a:srgbClr val="00206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6803" name="Text Box 4"/>
          <p:cNvSpPr txBox="1"/>
          <p:nvPr/>
        </p:nvSpPr>
        <p:spPr>
          <a:xfrm>
            <a:off x="323850" y="1557338"/>
            <a:ext cx="8424863" cy="4278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</a:pPr>
            <a:r>
              <a:rPr lang="zh-CN" altLang="en-US" dirty="0">
                <a:cs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电路</a:t>
            </a:r>
            <a:r>
              <a:rPr lang="zh-CN" altLang="en-US" b="1" dirty="0">
                <a:cs typeface="Arial" panose="020B0604020202020204" pitchFamily="34" charset="0"/>
              </a:rPr>
              <a:t>由若干相互连接在一起的电路</a:t>
            </a:r>
            <a:r>
              <a:rPr lang="zh-CN" altLang="en-US" b="1" dirty="0">
                <a:solidFill>
                  <a:srgbClr val="FF0000"/>
                </a:solidFill>
                <a:cs typeface="Arial" panose="020B0604020202020204" pitchFamily="34" charset="0"/>
              </a:rPr>
              <a:t>元件</a:t>
            </a:r>
            <a:r>
              <a:rPr lang="zh-CN" altLang="en-US" b="1" dirty="0">
                <a:cs typeface="Arial" panose="020B0604020202020204" pitchFamily="34" charset="0"/>
              </a:rPr>
              <a:t>构成。</a:t>
            </a:r>
            <a:endParaRPr lang="en-US" altLang="zh-CN" b="1" dirty="0"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电流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是在给定方向下某点电荷变化的速率：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</a:pP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</a:pP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电压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是指移动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1C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电荷所需要的能量：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</a:pP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graphicFrame>
        <p:nvGraphicFramePr>
          <p:cNvPr id="76804" name="Object 3"/>
          <p:cNvGraphicFramePr/>
          <p:nvPr/>
        </p:nvGraphicFramePr>
        <p:xfrm>
          <a:off x="3635375" y="2922588"/>
          <a:ext cx="1295400" cy="1217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" r:id="rId1" imgW="10058400" imgH="9448800" progId="">
                  <p:embed/>
                </p:oleObj>
              </mc:Choice>
              <mc:Fallback>
                <p:oleObj name="" r:id="rId1" imgW="10058400" imgH="9448800" progId="">
                  <p:embed/>
                  <p:pic>
                    <p:nvPicPr>
                      <p:cNvPr id="0" name="图片 14336" descr="image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5375" y="2922588"/>
                        <a:ext cx="1295400" cy="1217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4"/>
          <p:cNvGraphicFramePr/>
          <p:nvPr/>
        </p:nvGraphicFramePr>
        <p:xfrm>
          <a:off x="3635375" y="5013325"/>
          <a:ext cx="13684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" r:id="rId3" imgW="11277600" imgH="10058400" progId="">
                  <p:embed/>
                </p:oleObj>
              </mc:Choice>
              <mc:Fallback>
                <p:oleObj name="" r:id="rId3" imgW="11277600" imgH="10058400" progId="">
                  <p:embed/>
                  <p:pic>
                    <p:nvPicPr>
                      <p:cNvPr id="0" name="图片 14337" descr="image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5375" y="5013325"/>
                        <a:ext cx="1368425" cy="1219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404813"/>
            <a:ext cx="8435975" cy="4537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功率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是指单位时间所发出或吸收的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能量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，也可以用电压与电流的乘积表示：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按照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关联参考方向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，如果电流从元件电压的正极流入，则功率计算式的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符号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为取正。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77827" name="Object 7"/>
          <p:cNvGraphicFramePr/>
          <p:nvPr>
            <p:ph sz="quarter" idx="3"/>
          </p:nvPr>
        </p:nvGraphicFramePr>
        <p:xfrm>
          <a:off x="3348038" y="2133600"/>
          <a:ext cx="216058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" r:id="rId1" imgW="18288000" imgH="9448800" progId="">
                  <p:embed/>
                </p:oleObj>
              </mc:Choice>
              <mc:Fallback>
                <p:oleObj name="" r:id="rId1" imgW="18288000" imgH="9448800" progId="">
                  <p:embed/>
                  <p:pic>
                    <p:nvPicPr>
                      <p:cNvPr id="0" name="图片 15360" descr="image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48038" y="2133600"/>
                        <a:ext cx="2160587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/>
          <p:nvPr/>
        </p:nvSpPr>
        <p:spPr>
          <a:xfrm>
            <a:off x="684213" y="908050"/>
            <a:ext cx="8029575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一个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理想的独立电压源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，无论两端连接什么元件，总是给出特定的电位差；一个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理想的独立电流源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，无论其两端连接什么元件，总会产生特定的电流。</a:t>
            </a: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b="1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</a:pP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电压源和电流源可以是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受控源</a:t>
            </a:r>
            <a:r>
              <a:rPr lang="zh-CN" altLang="en-US" b="1" dirty="0">
                <a:latin typeface="Times New Roman" panose="02020603050405020304" pitchFamily="18" charset="0"/>
                <a:cs typeface="Arial" panose="020B0604020202020204" pitchFamily="34" charset="0"/>
              </a:rPr>
              <a:t>，也可以是独立源，受控源的大小受电路中其他变量的控制。</a:t>
            </a:r>
            <a:endParaRPr lang="en-US" altLang="zh-CN" b="1" dirty="0">
              <a:latin typeface="Times New Roman" panose="02020603050405020304" pitchFamily="18" charset="0"/>
              <a:ea typeface="Arial" panose="020B0604020202020204" pitchFamily="34" charset="0"/>
            </a:endParaRPr>
          </a:p>
        </p:txBody>
      </p:sp>
      <p:sp>
        <p:nvSpPr>
          <p:cNvPr id="78851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/>
          </p:cNvSpPr>
          <p:nvPr>
            <p:ph type="title"/>
          </p:nvPr>
        </p:nvSpPr>
        <p:spPr>
          <a:xfrm>
            <a:off x="468313" y="692150"/>
            <a:ext cx="8229600" cy="1371600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chemeClr val="bg2"/>
                </a:solidFill>
                <a:ea typeface="华文新魏" panose="02010800040101010101" pitchFamily="2" charset="-122"/>
              </a:rPr>
              <a:t>本章重点与难点</a:t>
            </a:r>
            <a:endParaRPr lang="zh-CN" altLang="en-US" b="1" dirty="0">
              <a:solidFill>
                <a:schemeClr val="bg2"/>
              </a:solidFill>
              <a:ea typeface="华文新魏" panose="02010800040101010101" pitchFamily="2" charset="-122"/>
            </a:endParaRPr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1187450" y="2276475"/>
            <a:ext cx="7632700" cy="3313113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Monotype Corsiva" panose="03010101010201010101" pitchFamily="66" charset="0"/>
              </a:rPr>
              <a:t>i</a:t>
            </a:r>
            <a:r>
              <a:rPr lang="en-US" altLang="zh-CN" b="1" dirty="0">
                <a:latin typeface="Monotype Corsiva" panose="03010101010201010101" pitchFamily="66" charset="0"/>
              </a:rPr>
              <a:t> , </a:t>
            </a:r>
            <a:r>
              <a:rPr lang="en-US" altLang="zh-CN" b="1" dirty="0">
                <a:solidFill>
                  <a:srgbClr val="FF0000"/>
                </a:solidFill>
                <a:latin typeface="Monotype Corsiva" panose="03010101010201010101" pitchFamily="66" charset="0"/>
              </a:rPr>
              <a:t>v</a:t>
            </a:r>
            <a:r>
              <a:rPr lang="en-US" altLang="zh-CN" b="1" dirty="0">
                <a:latin typeface="Monotype Corsiva" panose="03010101010201010101" pitchFamily="66" charset="0"/>
              </a:rPr>
              <a:t>, </a:t>
            </a:r>
            <a:r>
              <a:rPr lang="en-US" altLang="zh-CN" b="1" dirty="0">
                <a:solidFill>
                  <a:srgbClr val="FF0000"/>
                </a:solidFill>
                <a:latin typeface="Monotype Corsiva" panose="03010101010201010101" pitchFamily="66" charset="0"/>
              </a:rPr>
              <a:t>p</a:t>
            </a:r>
            <a:r>
              <a:rPr lang="en-US" altLang="zh-CN" b="1" dirty="0">
                <a:latin typeface="Monotype Corsiva" panose="03010101010201010101" pitchFamily="66" charset="0"/>
              </a:rPr>
              <a:t> </a:t>
            </a:r>
            <a:r>
              <a:rPr lang="zh-CN" altLang="en-US" b="1" dirty="0"/>
              <a:t>正负号的确定及其物理意义（代数，代数！）；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关联参考方向</a:t>
            </a:r>
            <a:r>
              <a:rPr lang="en-US" altLang="zh-CN" b="1" dirty="0"/>
              <a:t>/</a:t>
            </a:r>
            <a:r>
              <a:rPr lang="zh-CN" altLang="en-US" b="1" dirty="0"/>
              <a:t>无源符号约定（</a:t>
            </a:r>
            <a:r>
              <a:rPr lang="zh-CN" altLang="en-US" b="1" dirty="0">
                <a:solidFill>
                  <a:srgbClr val="FF0000"/>
                </a:solidFill>
              </a:rPr>
              <a:t>规则</a:t>
            </a:r>
            <a:r>
              <a:rPr lang="zh-CN" altLang="en-US" b="1" dirty="0"/>
              <a:t>）；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受</a:t>
            </a:r>
            <a:r>
              <a:rPr lang="zh-CN" altLang="en-US" b="1" dirty="0">
                <a:solidFill>
                  <a:srgbClr val="FF0000"/>
                </a:solidFill>
              </a:rPr>
              <a:t>控</a:t>
            </a:r>
            <a:r>
              <a:rPr lang="zh-CN" altLang="en-US" b="1" dirty="0"/>
              <a:t>源是（对某种功能</a:t>
            </a:r>
            <a:r>
              <a:rPr lang="zh-CN" altLang="en-US" b="1" u="sng" dirty="0"/>
              <a:t>电路</a:t>
            </a:r>
            <a:r>
              <a:rPr lang="zh-CN" altLang="en-US" b="1" dirty="0"/>
              <a:t>）的一种</a:t>
            </a:r>
            <a:r>
              <a:rPr lang="zh-CN" altLang="en-US" b="1" u="sng" dirty="0"/>
              <a:t>数学模型</a:t>
            </a:r>
            <a:r>
              <a:rPr lang="zh-CN" altLang="en-US" b="1" dirty="0"/>
              <a:t>或</a:t>
            </a:r>
            <a:r>
              <a:rPr lang="zh-CN" altLang="en-US" b="1" u="sng" dirty="0"/>
              <a:t>电路模型</a:t>
            </a:r>
            <a:r>
              <a:rPr lang="zh-CN" altLang="en-US" b="1" dirty="0"/>
              <a:t>，不是具体的某种电子</a:t>
            </a:r>
            <a:r>
              <a:rPr lang="zh-CN" altLang="en-US" b="1" u="sng" dirty="0"/>
              <a:t>器件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sp>
        <p:nvSpPr>
          <p:cNvPr id="79876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3680"/>
            <a:ext cx="8229600" cy="500380"/>
          </a:xfrm>
        </p:spPr>
        <p:txBody>
          <a:bodyPr/>
          <a:lstStyle/>
          <a:p>
            <a:pPr algn="ctr"/>
            <a:r>
              <a:rPr lang="zh-CN" altLang="en-US" sz="2800"/>
              <a:t>测验题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65" y="5233670"/>
            <a:ext cx="3962400" cy="514350"/>
          </a:xfrm>
          <a:prstGeom prst="rect">
            <a:avLst/>
          </a:prstGeom>
        </p:spPr>
      </p:pic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965" y="915670"/>
            <a:ext cx="7666990" cy="42329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答案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980" y="2699385"/>
            <a:ext cx="8672830" cy="15481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xfrm>
            <a:off x="2627313" y="620713"/>
            <a:ext cx="3240087" cy="1027112"/>
          </a:xfrm>
        </p:spPr>
        <p:txBody>
          <a:bodyPr vert="horz" wrap="square" lIns="91440" tIns="45720" rIns="91440" bIns="45720" anchor="ctr"/>
          <a:lstStyle/>
          <a:p>
            <a:pPr eaLnBrk="1" hangingPunct="1"/>
            <a:r>
              <a:rPr lang="zh-CN" altLang="en-US" b="1" dirty="0">
                <a:solidFill>
                  <a:schemeClr val="bg2"/>
                </a:solidFill>
                <a:ea typeface="华文新魏" panose="02010800040101010101" pitchFamily="2" charset="-122"/>
              </a:rPr>
              <a:t>本章作业</a:t>
            </a:r>
            <a:endParaRPr lang="zh-CN" altLang="en-US" b="1" dirty="0">
              <a:solidFill>
                <a:schemeClr val="bg2"/>
              </a:solidFill>
              <a:ea typeface="华文新魏" panose="02010800040101010101" pitchFamily="2" charset="-122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1258888" y="1647825"/>
            <a:ext cx="6985000" cy="4805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画出本章思维导图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1.18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（功率）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1.20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（电压，电流）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1.23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（能量，功率）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1.36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（能量，电流）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原题所述“额定功率”应为“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额定容量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自学：微积分初步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0900" name="灯片编号占位符 1"/>
          <p:cNvSpPr txBox="1">
            <a:spLocks noGrp="1"/>
          </p:cNvSpPr>
          <p:nvPr>
            <p:ph type="sldNum" sz="quarter" idx="11"/>
          </p:nvPr>
        </p:nvSpPr>
        <p:spPr>
          <a:xfrm>
            <a:off x="6732588" y="6237288"/>
            <a:ext cx="2133600" cy="457200"/>
          </a:xfrm>
        </p:spPr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4"/>
          <p:cNvSpPr>
            <a:spLocks noGrp="1"/>
          </p:cNvSpPr>
          <p:nvPr>
            <p:ph idx="1"/>
          </p:nvPr>
        </p:nvSpPr>
        <p:spPr>
          <a:xfrm>
            <a:off x="539750" y="1485900"/>
            <a:ext cx="8280400" cy="3886200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en-US" altLang="zh-CN" dirty="0"/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注：</a:t>
            </a:r>
            <a:r>
              <a:rPr lang="zh-CN" altLang="en-US" b="1" dirty="0"/>
              <a:t>请各位独立完成。</a:t>
            </a:r>
            <a:r>
              <a:rPr lang="en-US" altLang="zh-CN" b="1" dirty="0"/>
              <a:t>   </a:t>
            </a:r>
            <a:r>
              <a:rPr lang="zh-CN" altLang="en-US" b="1" dirty="0"/>
              <a:t>计算结果请以</a:t>
            </a:r>
            <a:r>
              <a:rPr lang="zh-CN" altLang="en-US" b="1" dirty="0">
                <a:solidFill>
                  <a:srgbClr val="FF0000"/>
                </a:solidFill>
              </a:rPr>
              <a:t>小数形式</a:t>
            </a:r>
            <a:r>
              <a:rPr lang="zh-CN" altLang="en-US" b="1" dirty="0"/>
              <a:t>呈现，勿使用分数形式。</a:t>
            </a:r>
            <a:endParaRPr lang="zh-CN" altLang="en-US" b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dirty="0"/>
          </a:p>
        </p:txBody>
      </p:sp>
      <p:sp>
        <p:nvSpPr>
          <p:cNvPr id="81923" name="灯片编号占位符 1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cs typeface="Arial" panose="020B0604020202020204" pitchFamily="34" charset="0"/>
              </a:rPr>
            </a:fld>
            <a:endParaRPr lang="en-US" altLang="zh-CN" sz="1200" dirty="0">
              <a:latin typeface="Arial Black" panose="020B0A040201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40,&quot;left&quot;:45,&quot;top&quot;:130,&quot;width&quot;:855}"/>
</p:tagLst>
</file>

<file path=ppt/tags/tag2.xml><?xml version="1.0" encoding="utf-8"?>
<p:tagLst xmlns:p="http://schemas.openxmlformats.org/presentationml/2006/main">
  <p:tag name="KSO_WM_DIAGRAM_VIRTUALLY_FRAME" val="{&quot;height&quot;:340,&quot;left&quot;:45,&quot;top&quot;:130,&quot;width&quot;:855}"/>
</p:tagLst>
</file>

<file path=ppt/tags/tag3.xml><?xml version="1.0" encoding="utf-8"?>
<p:tagLst xmlns:p="http://schemas.openxmlformats.org/presentationml/2006/main">
  <p:tag name="KSO_WM_DIAGRAM_VIRTUALLY_FRAME" val="{&quot;height&quot;:340,&quot;left&quot;:45,&quot;top&quot;:130,&quot;width&quot;:855}"/>
</p:tagLst>
</file>

<file path=ppt/tags/tag4.xml><?xml version="1.0" encoding="utf-8"?>
<p:tagLst xmlns:p="http://schemas.openxmlformats.org/presentationml/2006/main">
  <p:tag name="KSO_WM_DIAGRAM_VIRTUALLY_FRAME" val="{&quot;height&quot;:340,&quot;left&quot;:45,&quot;top&quot;:130,&quot;width&quot;:855}"/>
</p:tagLst>
</file>

<file path=ppt/tags/tag5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6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7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8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9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10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11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12.xml><?xml version="1.0" encoding="utf-8"?>
<p:tagLst xmlns:p="http://schemas.openxmlformats.org/presentationml/2006/main">
  <p:tag name="KSO_WM_DIAGRAM_VIRTUALLY_FRAME" val="{&quot;height&quot;:344.65,&quot;left&quot;:44.95,&quot;top&quot;:88.75,&quot;width&quot;:855}"/>
</p:tagLst>
</file>

<file path=ppt/tags/tag13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14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15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16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17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18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19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0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1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2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3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4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5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6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7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8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29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30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31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32.xml><?xml version="1.0" encoding="utf-8"?>
<p:tagLst xmlns:p="http://schemas.openxmlformats.org/presentationml/2006/main">
  <p:tag name="KSO_WM_DIAGRAM_VIRTUALLY_FRAME" val="{&quot;height&quot;:314.25,&quot;left&quot;:42.5,&quot;top&quot;:128.25,&quot;width&quot;:632.5}"/>
</p:tagLst>
</file>

<file path=ppt/tags/tag33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34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35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36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37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38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39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40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41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42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43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44.xml><?xml version="1.0" encoding="utf-8"?>
<p:tagLst xmlns:p="http://schemas.openxmlformats.org/presentationml/2006/main">
  <p:tag name="KSO_WM_DIAGRAM_VIRTUALLY_FRAME" val="{&quot;height&quot;:90,&quot;left&quot;:75,&quot;top&quot;:345,&quot;width&quot;:570}"/>
</p:tagLst>
</file>

<file path=ppt/tags/tag45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46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47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48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49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0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1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2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3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4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5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6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7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8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59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60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61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62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63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64.xml><?xml version="1.0" encoding="utf-8"?>
<p:tagLst xmlns:p="http://schemas.openxmlformats.org/presentationml/2006/main">
  <p:tag name="KSO_WM_DIAGRAM_VIRTUALLY_FRAME" val="{&quot;height&quot;:273.75,&quot;left&quot;:45,&quot;top&quot;:172.5,&quot;width&quot;:630}"/>
</p:tagLst>
</file>

<file path=ppt/tags/tag65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66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67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68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69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0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1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2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3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4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5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6.xml><?xml version="1.0" encoding="utf-8"?>
<p:tagLst xmlns:p="http://schemas.openxmlformats.org/presentationml/2006/main">
  <p:tag name="KSO_WM_DIAGRAM_VIRTUALLY_FRAME" val="{&quot;height&quot;:180,&quot;left&quot;:48.15,&quot;top&quot;:149.5,&quot;width&quot;:614.95}"/>
</p:tagLst>
</file>

<file path=ppt/tags/tag77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78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79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0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1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2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3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4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5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6.xml><?xml version="1.0" encoding="utf-8"?>
<p:tagLst xmlns:p="http://schemas.openxmlformats.org/presentationml/2006/main">
  <p:tag name="KSO_WM_DIAGRAM_VIRTUALLY_FRAME" val="{&quot;height&quot;:230.18854207979695,&quot;left&quot;:16.5,&quot;top&quot;:186.16145792020305,&quot;width&quot;:658.5}"/>
</p:tagLst>
</file>

<file path=ppt/tags/tag87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88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89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0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1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2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3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4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5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6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7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8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99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100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101.xml><?xml version="1.0" encoding="utf-8"?>
<p:tagLst xmlns:p="http://schemas.openxmlformats.org/presentationml/2006/main">
  <p:tag name="KSO_WM_DIAGRAM_VIRTUALLY_FRAME" val="{&quot;height&quot;:120,&quot;left&quot;:45,&quot;top&quot;:300,&quot;width&quot;:630}"/>
</p:tagLst>
</file>

<file path=ppt/tags/tag102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03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04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05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06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07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08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09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10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11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12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13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14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15.xml><?xml version="1.0" encoding="utf-8"?>
<p:tagLst xmlns:p="http://schemas.openxmlformats.org/presentationml/2006/main">
  <p:tag name="KSO_WM_DIAGRAM_VIRTUALLY_FRAME" val="{&quot;height&quot;:195,&quot;left&quot;:45,&quot;top&quot;:187.5,&quot;width&quot;:630}"/>
</p:tagLst>
</file>

<file path=ppt/tags/tag116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17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18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19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0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1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2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3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4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5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6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7.xml><?xml version="1.0" encoding="utf-8"?>
<p:tagLst xmlns:p="http://schemas.openxmlformats.org/presentationml/2006/main">
  <p:tag name="KSO_WM_DIAGRAM_VIRTUALLY_FRAME" val="{&quot;height&quot;:210,&quot;left&quot;:45,&quot;top&quot;:195,&quot;width&quot;:630}"/>
</p:tagLst>
</file>

<file path=ppt/tags/tag128.xml><?xml version="1.0" encoding="utf-8"?>
<p:tagLst xmlns:p="http://schemas.openxmlformats.org/presentationml/2006/main">
  <p:tag name="KSO_WM_DIAGRAM_VIRTUALLY_FRAME" val="{&quot;height&quot;:499,&quot;left&quot;:-20.75,&quot;top&quot;:29,&quot;width&quot;:520.3750393700788}"/>
</p:tagLst>
</file>

<file path=ppt/tags/tag129.xml><?xml version="1.0" encoding="utf-8"?>
<p:tagLst xmlns:p="http://schemas.openxmlformats.org/presentationml/2006/main">
  <p:tag name="KSO_WM_DIAGRAM_VIRTUALLY_FRAME" val="{&quot;height&quot;:499,&quot;left&quot;:-20.75,&quot;top&quot;:29,&quot;width&quot;:520.3750393700788}"/>
</p:tagLst>
</file>

<file path=ppt/tags/tag130.xml><?xml version="1.0" encoding="utf-8"?>
<p:tagLst xmlns:p="http://schemas.openxmlformats.org/presentationml/2006/main">
  <p:tag name="KSO_WM_DIAGRAM_VIRTUALLY_FRAME" val="{&quot;height&quot;:499,&quot;left&quot;:-20.75,&quot;top&quot;:29,&quot;width&quot;:520.3750393700788}"/>
</p:tagLst>
</file>

<file path=ppt/tags/tag131.xml><?xml version="1.0" encoding="utf-8"?>
<p:tagLst xmlns:p="http://schemas.openxmlformats.org/presentationml/2006/main">
  <p:tag name="KSO_WM_DIAGRAM_VIRTUALLY_FRAME" val="{&quot;height&quot;:499,&quot;left&quot;:-20.75,&quot;top&quot;:29,&quot;width&quot;:520.3750393700788}"/>
</p:tagLst>
</file>

<file path=ppt/tags/tag132.xml><?xml version="1.0" encoding="utf-8"?>
<p:tagLst xmlns:p="http://schemas.openxmlformats.org/presentationml/2006/main">
  <p:tag name="KSO_WM_DIAGRAM_VIRTUALLY_FRAME" val="{&quot;height&quot;:499,&quot;left&quot;:-20.75,&quot;top&quot;:29,&quot;width&quot;:520.3750393700788}"/>
</p:tagLst>
</file>

<file path=ppt/tags/tag133.xml><?xml version="1.0" encoding="utf-8"?>
<p:tagLst xmlns:p="http://schemas.openxmlformats.org/presentationml/2006/main">
  <p:tag name="KSO_WM_DIAGRAM_VIRTUALLY_FRAME" val="{&quot;height&quot;:499,&quot;left&quot;:-20.75,&quot;top&quot;:29,&quot;width&quot;:520.3750393700788}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9587</Words>
  <Application>WPS 演示</Application>
  <PresentationFormat>全屏显示(4:3)</PresentationFormat>
  <Paragraphs>1255</Paragraphs>
  <Slides>106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106</vt:i4>
      </vt:variant>
    </vt:vector>
  </HeadingPairs>
  <TitlesOfParts>
    <vt:vector size="137" baseType="lpstr">
      <vt:lpstr>Arial</vt:lpstr>
      <vt:lpstr>宋体</vt:lpstr>
      <vt:lpstr>Wingdings</vt:lpstr>
      <vt:lpstr>Arial Black</vt:lpstr>
      <vt:lpstr>Times New Roman</vt:lpstr>
      <vt:lpstr>Arial</vt:lpstr>
      <vt:lpstr>楷体_GB2312</vt:lpstr>
      <vt:lpstr>新宋体</vt:lpstr>
      <vt:lpstr>华文新魏</vt:lpstr>
      <vt:lpstr>华文细黑</vt:lpstr>
      <vt:lpstr>Monotype Corsiva</vt:lpstr>
      <vt:lpstr>Times New Roman</vt:lpstr>
      <vt:lpstr>微软雅黑</vt:lpstr>
      <vt:lpstr>Arial Unicode MS</vt:lpstr>
      <vt:lpstr>Verdana</vt:lpstr>
      <vt:lpstr>黑体</vt:lpstr>
      <vt:lpstr>Franklin Gothic Medium</vt:lpstr>
      <vt:lpstr>Noto Sans SC</vt:lpstr>
      <vt:lpstr>Cambria Math</vt:lpstr>
      <vt:lpstr>Roboto</vt:lpstr>
      <vt:lpstr>MS Mincho</vt:lpstr>
      <vt:lpstr>Segoe Print</vt:lpstr>
      <vt:lpstr>Pixel</vt:lpstr>
      <vt:lpstr>默认主题</vt:lpstr>
      <vt:lpstr>1_默认主题</vt:lpstr>
      <vt:lpstr>2_默认主题</vt:lpstr>
      <vt:lpstr>Office theme</vt:lpstr>
      <vt:lpstr>3_默认主题</vt:lpstr>
      <vt:lpstr>4_默认主题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电路理论基础</vt:lpstr>
      <vt:lpstr>PowerPoint 演示文稿</vt:lpstr>
      <vt:lpstr>教 与 学</vt:lpstr>
      <vt:lpstr>教 与 学（续）</vt:lpstr>
      <vt:lpstr>第一章                           基本概念</vt:lpstr>
      <vt:lpstr>1.1 介绍</vt:lpstr>
      <vt:lpstr>PowerPoint 演示文稿</vt:lpstr>
      <vt:lpstr>PowerPoint 演示文稿</vt:lpstr>
      <vt:lpstr> 收音机电路1</vt:lpstr>
      <vt:lpstr>PowerPoint 演示文稿</vt:lpstr>
      <vt:lpstr>PowerPoint 演示文稿</vt:lpstr>
      <vt:lpstr>PowerPoint 演示文稿</vt:lpstr>
      <vt:lpstr>电荷的单位为库伦（C）</vt:lpstr>
      <vt:lpstr>PowerPoint 演示文稿</vt:lpstr>
      <vt:lpstr>PowerPoint 演示文稿</vt:lpstr>
      <vt:lpstr>电流的流动方向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1.4 电压</vt:lpstr>
      <vt:lpstr>PowerPoint 演示文稿</vt:lpstr>
      <vt:lpstr>PowerPoint 演示文稿</vt:lpstr>
      <vt:lpstr>PowerPoint 演示文稿</vt:lpstr>
      <vt:lpstr>1.5 功率与能量</vt:lpstr>
      <vt:lpstr>PowerPoint 演示文稿</vt:lpstr>
      <vt:lpstr>PowerPoint 演示文稿</vt:lpstr>
      <vt:lpstr>PowerPoint 演示文稿</vt:lpstr>
      <vt:lpstr>注意：任何电路都必须遵守能量守恒定律。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以下是电路基础课程中最常用的积分公式，涵盖了基本函数、三角函数和指数函数的积分，这些公式在求解电压、电流、能量等问题时经常用到：</vt:lpstr>
      <vt:lpstr>PowerPoint 演示文稿</vt:lpstr>
      <vt:lpstr>PowerPoint 演示文稿</vt:lpstr>
      <vt:lpstr>PowerPoint 演示文稿</vt:lpstr>
      <vt:lpstr>1.6 电路元件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1.7 应用实例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本章小结：</vt:lpstr>
      <vt:lpstr>PowerPoint 演示文稿</vt:lpstr>
      <vt:lpstr>PowerPoint 演示文稿</vt:lpstr>
      <vt:lpstr>本章重点与难点</vt:lpstr>
      <vt:lpstr>测验题</vt:lpstr>
      <vt:lpstr>答案</vt:lpstr>
      <vt:lpstr>本章作业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50tuy</dc:title>
  <dc:creator>微软用户</dc:creator>
  <cp:lastModifiedBy>周杰英</cp:lastModifiedBy>
  <cp:revision>401</cp:revision>
  <dcterms:created xsi:type="dcterms:W3CDTF">2006-03-09T04:01:00Z</dcterms:created>
  <dcterms:modified xsi:type="dcterms:W3CDTF">2026-03-02T03:31:25Z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611A845AAB614EA2B5D3F9C4541C48E0_13</vt:lpwstr>
  </property>
</Properties>
</file>