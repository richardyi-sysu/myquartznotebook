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sldIdLst>
    <p:sldId id="257" r:id="rId2"/>
    <p:sldId id="338" r:id="rId3"/>
    <p:sldId id="258" r:id="rId4"/>
    <p:sldId id="339" r:id="rId5"/>
    <p:sldId id="470" r:id="rId6"/>
    <p:sldId id="467" r:id="rId7"/>
    <p:sldId id="468" r:id="rId8"/>
    <p:sldId id="260" r:id="rId9"/>
    <p:sldId id="261" r:id="rId10"/>
    <p:sldId id="262" r:id="rId11"/>
    <p:sldId id="263" r:id="rId12"/>
    <p:sldId id="264" r:id="rId13"/>
    <p:sldId id="471" r:id="rId14"/>
    <p:sldId id="265" r:id="rId15"/>
    <p:sldId id="266" r:id="rId16"/>
    <p:sldId id="267" r:id="rId17"/>
    <p:sldId id="268" r:id="rId18"/>
    <p:sldId id="472" r:id="rId19"/>
    <p:sldId id="340" r:id="rId20"/>
    <p:sldId id="269" r:id="rId21"/>
    <p:sldId id="270" r:id="rId22"/>
    <p:sldId id="271" r:id="rId23"/>
    <p:sldId id="473" r:id="rId24"/>
    <p:sldId id="272" r:id="rId25"/>
    <p:sldId id="273" r:id="rId26"/>
    <p:sldId id="274" r:id="rId27"/>
    <p:sldId id="474" r:id="rId28"/>
    <p:sldId id="275" r:id="rId29"/>
    <p:sldId id="276" r:id="rId30"/>
    <p:sldId id="277" r:id="rId31"/>
    <p:sldId id="278" r:id="rId32"/>
    <p:sldId id="475" r:id="rId33"/>
    <p:sldId id="279" r:id="rId34"/>
    <p:sldId id="280" r:id="rId35"/>
    <p:sldId id="281" r:id="rId36"/>
    <p:sldId id="476" r:id="rId37"/>
    <p:sldId id="282" r:id="rId38"/>
    <p:sldId id="283" r:id="rId39"/>
    <p:sldId id="285" r:id="rId40"/>
    <p:sldId id="286" r:id="rId41"/>
    <p:sldId id="287" r:id="rId42"/>
    <p:sldId id="288" r:id="rId43"/>
    <p:sldId id="289" r:id="rId44"/>
    <p:sldId id="290" r:id="rId45"/>
    <p:sldId id="291" r:id="rId46"/>
    <p:sldId id="477" r:id="rId47"/>
    <p:sldId id="292" r:id="rId48"/>
    <p:sldId id="293" r:id="rId49"/>
    <p:sldId id="294" r:id="rId50"/>
    <p:sldId id="295" r:id="rId51"/>
    <p:sldId id="478" r:id="rId52"/>
    <p:sldId id="296" r:id="rId53"/>
    <p:sldId id="297" r:id="rId54"/>
    <p:sldId id="479" r:id="rId55"/>
    <p:sldId id="298" r:id="rId56"/>
    <p:sldId id="300" r:id="rId57"/>
    <p:sldId id="301" r:id="rId58"/>
    <p:sldId id="302" r:id="rId59"/>
    <p:sldId id="480" r:id="rId60"/>
    <p:sldId id="303" r:id="rId61"/>
    <p:sldId id="481" r:id="rId62"/>
    <p:sldId id="304" r:id="rId63"/>
    <p:sldId id="305" r:id="rId64"/>
    <p:sldId id="306" r:id="rId65"/>
    <p:sldId id="307" r:id="rId66"/>
    <p:sldId id="482" r:id="rId67"/>
    <p:sldId id="308" r:id="rId68"/>
    <p:sldId id="309" r:id="rId69"/>
    <p:sldId id="310" r:id="rId70"/>
    <p:sldId id="311" r:id="rId71"/>
    <p:sldId id="312" r:id="rId72"/>
    <p:sldId id="313" r:id="rId73"/>
    <p:sldId id="314" r:id="rId74"/>
    <p:sldId id="547" r:id="rId75"/>
    <p:sldId id="548" r:id="rId76"/>
    <p:sldId id="550" r:id="rId77"/>
    <p:sldId id="315" r:id="rId78"/>
    <p:sldId id="316" r:id="rId79"/>
    <p:sldId id="549" r:id="rId80"/>
    <p:sldId id="317" r:id="rId81"/>
    <p:sldId id="318" r:id="rId82"/>
    <p:sldId id="551" r:id="rId83"/>
    <p:sldId id="319" r:id="rId84"/>
    <p:sldId id="320" r:id="rId85"/>
    <p:sldId id="552" r:id="rId86"/>
    <p:sldId id="553" r:id="rId87"/>
    <p:sldId id="554" r:id="rId88"/>
    <p:sldId id="555" r:id="rId89"/>
    <p:sldId id="556" r:id="rId90"/>
    <p:sldId id="321" r:id="rId91"/>
    <p:sldId id="337" r:id="rId92"/>
  </p:sldIdLst>
  <p:sldSz cx="9144000" cy="6858000" type="screen4x3"/>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184" autoAdjust="0"/>
    <p:restoredTop sz="87518" autoAdjust="0"/>
  </p:normalViewPr>
  <p:slideViewPr>
    <p:cSldViewPr>
      <p:cViewPr varScale="1">
        <p:scale>
          <a:sx n="76" d="100"/>
          <a:sy n="76" d="100"/>
        </p:scale>
        <p:origin x="108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9"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0.png"/></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8.wmf"/><Relationship Id="rId7" Type="http://schemas.openxmlformats.org/officeDocument/2006/relationships/image" Target="../media/image112.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17.wmf"/><Relationship Id="rId1" Type="http://schemas.openxmlformats.org/officeDocument/2006/relationships/image" Target="../media/image11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5" Type="http://schemas.openxmlformats.org/officeDocument/2006/relationships/image" Target="../media/image123.wmf"/><Relationship Id="rId4" Type="http://schemas.openxmlformats.org/officeDocument/2006/relationships/image" Target="../media/image122.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image" Target="../media/image127.wmf"/><Relationship Id="rId7" Type="http://schemas.openxmlformats.org/officeDocument/2006/relationships/image" Target="../media/image131.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4" Type="http://schemas.openxmlformats.org/officeDocument/2006/relationships/image" Target="../media/image14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 Id="rId5" Type="http://schemas.openxmlformats.org/officeDocument/2006/relationships/image" Target="../media/image146.wmf"/><Relationship Id="rId4" Type="http://schemas.openxmlformats.org/officeDocument/2006/relationships/image" Target="../media/image145.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9.wmf"/><Relationship Id="rId7" Type="http://schemas.openxmlformats.org/officeDocument/2006/relationships/image" Target="../media/image153.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 Id="rId4" Type="http://schemas.openxmlformats.org/officeDocument/2006/relationships/image" Target="../media/image161.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69.wmf"/><Relationship Id="rId1" Type="http://schemas.openxmlformats.org/officeDocument/2006/relationships/image" Target="../media/image16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73.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77.wmf"/><Relationship Id="rId1" Type="http://schemas.openxmlformats.org/officeDocument/2006/relationships/image" Target="../media/image176.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 Id="rId4" Type="http://schemas.openxmlformats.org/officeDocument/2006/relationships/image" Target="../media/image182.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05.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 Id="rId5" Type="http://schemas.openxmlformats.org/officeDocument/2006/relationships/image" Target="../media/image211.wmf"/><Relationship Id="rId4" Type="http://schemas.openxmlformats.org/officeDocument/2006/relationships/image" Target="../media/image210.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16.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2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28.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31.w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34.wmf"/><Relationship Id="rId5" Type="http://schemas.openxmlformats.org/officeDocument/2006/relationships/image" Target="../media/image233.wmf"/><Relationship Id="rId4" Type="http://schemas.openxmlformats.org/officeDocument/2006/relationships/image" Target="../media/image232.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4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4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2.wmf"/><Relationship Id="rId2" Type="http://schemas.openxmlformats.org/officeDocument/2006/relationships/image" Target="../media/image251.wmf"/><Relationship Id="rId1" Type="http://schemas.openxmlformats.org/officeDocument/2006/relationships/image" Target="../media/image250.wmf"/><Relationship Id="rId4" Type="http://schemas.openxmlformats.org/officeDocument/2006/relationships/image" Target="../media/image253.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58.wmf"/><Relationship Id="rId1" Type="http://schemas.openxmlformats.org/officeDocument/2006/relationships/image" Target="../media/image2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03340E-E14E-4807-A626-40B65482E92B}" type="datetimeFigureOut">
              <a:rPr lang="zh-CN" altLang="en-US" smtClean="0"/>
              <a:t>2022/10/19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511C8E-5CE7-407A-963C-A5815BBF3E0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道生一，一生二，二生三，三生万物！</a:t>
            </a:r>
          </a:p>
        </p:txBody>
      </p:sp>
      <p:sp>
        <p:nvSpPr>
          <p:cNvPr id="717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25000">
                <a:solidFill>
                  <a:schemeClr val="tx1"/>
                </a:solidFill>
                <a:latin typeface="Arial" panose="020B0604020202020204" pitchFamily="34" charset="0"/>
                <a:ea typeface="宋体" panose="02010600030101010101" pitchFamily="2" charset="-122"/>
              </a:defRPr>
            </a:lvl1pPr>
            <a:lvl2pPr marL="742950" indent="-285750">
              <a:defRPr sz="2000" baseline="-25000">
                <a:solidFill>
                  <a:schemeClr val="tx1"/>
                </a:solidFill>
                <a:latin typeface="Arial" panose="020B0604020202020204" pitchFamily="34" charset="0"/>
                <a:ea typeface="宋体" panose="02010600030101010101" pitchFamily="2" charset="-122"/>
              </a:defRPr>
            </a:lvl2pPr>
            <a:lvl3pPr marL="1143000" indent="-228600">
              <a:defRPr sz="2000" baseline="-25000">
                <a:solidFill>
                  <a:schemeClr val="tx1"/>
                </a:solidFill>
                <a:latin typeface="Arial" panose="020B0604020202020204" pitchFamily="34" charset="0"/>
                <a:ea typeface="宋体" panose="02010600030101010101" pitchFamily="2" charset="-122"/>
              </a:defRPr>
            </a:lvl3pPr>
            <a:lvl4pPr marL="1600200" indent="-228600">
              <a:defRPr sz="2000" baseline="-25000">
                <a:solidFill>
                  <a:schemeClr val="tx1"/>
                </a:solidFill>
                <a:latin typeface="Arial" panose="020B0604020202020204" pitchFamily="34" charset="0"/>
                <a:ea typeface="宋体" panose="02010600030101010101" pitchFamily="2" charset="-122"/>
              </a:defRPr>
            </a:lvl4pPr>
            <a:lvl5pPr marL="2057400" indent="-228600">
              <a:defRPr sz="2000"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aseline="-25000">
                <a:solidFill>
                  <a:schemeClr val="tx1"/>
                </a:solidFill>
                <a:latin typeface="Arial" panose="020B0604020202020204" pitchFamily="34" charset="0"/>
                <a:ea typeface="宋体" panose="02010600030101010101" pitchFamily="2" charset="-122"/>
              </a:defRPr>
            </a:lvl9pPr>
          </a:lstStyle>
          <a:p>
            <a:fld id="{06BBA4E4-C721-4A71-A763-73720F901827}" type="slidenum">
              <a:rPr lang="zh-CN" altLang="en-US" sz="1200"/>
              <a:t>2</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ln>
        </p:spPr>
      </p:sp>
      <p:sp>
        <p:nvSpPr>
          <p:cNvPr id="71683"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dirty="0"/>
              <a:t>道</a:t>
            </a:r>
            <a:r>
              <a:rPr lang="en-US" altLang="zh-CN" dirty="0"/>
              <a:t>—</a:t>
            </a:r>
            <a:r>
              <a:rPr lang="zh-CN" altLang="en-US" dirty="0"/>
              <a:t>术</a:t>
            </a:r>
            <a:r>
              <a:rPr lang="en-US" altLang="zh-CN" dirty="0"/>
              <a:t>—</a:t>
            </a:r>
            <a:r>
              <a:rPr lang="zh-CN" altLang="en-US" dirty="0"/>
              <a:t>术</a:t>
            </a:r>
            <a:r>
              <a:rPr lang="en-US" altLang="zh-CN" dirty="0"/>
              <a:t>—</a:t>
            </a:r>
            <a:r>
              <a:rPr lang="zh-CN" altLang="en-US" dirty="0"/>
              <a:t>道</a:t>
            </a:r>
            <a:endParaRPr lang="en-US" altLang="zh-CN" dirty="0"/>
          </a:p>
        </p:txBody>
      </p:sp>
      <p:sp>
        <p:nvSpPr>
          <p:cNvPr id="71684" name="灯片编号占位符 3"/>
          <p:cNvSpPr>
            <a:spLocks noGrp="1"/>
          </p:cNvSpPr>
          <p:nvPr>
            <p:ph type="sldNum" sz="quarter" idx="5"/>
          </p:nvPr>
        </p:nvSpPr>
        <p:spPr bwMode="auto">
          <a:noFill/>
          <a:ln>
            <a:miter lim="800000"/>
          </a:ln>
        </p:spPr>
        <p:txBody>
          <a:bodyPr/>
          <a:lstStyle/>
          <a:p>
            <a:fld id="{DC1D2EFD-B353-4BA6-BF96-D7B2398D3A61}" type="slidenum">
              <a:rPr lang="en-US" altLang="zh-CN">
                <a:solidFill>
                  <a:prstClr val="black"/>
                </a:solidFill>
              </a:rPr>
              <a:t>3</a:t>
            </a:fld>
            <a:endParaRPr lang="en-US" altLang="zh-CN">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ln>
        </p:spPr>
      </p:sp>
      <p:sp>
        <p:nvSpPr>
          <p:cNvPr id="7270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dirty="0"/>
              <a:t>叠加性：各个输入之和的响应等于每个输入单独作用时的响应之和。以电阻为例，当输入为</a:t>
            </a:r>
            <a:r>
              <a:rPr lang="en-US" altLang="zh-CN" dirty="0"/>
              <a:t>i1</a:t>
            </a:r>
            <a:r>
              <a:rPr lang="zh-CN" altLang="en-US" dirty="0"/>
              <a:t>的时候，响应电压为</a:t>
            </a:r>
            <a:r>
              <a:rPr lang="en-US" altLang="zh-CN" dirty="0"/>
              <a:t>v1,</a:t>
            </a:r>
            <a:r>
              <a:rPr lang="zh-CN" altLang="en-US" dirty="0"/>
              <a:t>当输入为</a:t>
            </a:r>
            <a:r>
              <a:rPr lang="en-US" altLang="zh-CN" dirty="0"/>
              <a:t>i2</a:t>
            </a:r>
            <a:r>
              <a:rPr lang="zh-CN" altLang="en-US" dirty="0"/>
              <a:t>的时候，响应电压为</a:t>
            </a:r>
            <a:r>
              <a:rPr lang="en-US" altLang="zh-CN" dirty="0"/>
              <a:t>v2, </a:t>
            </a:r>
            <a:r>
              <a:rPr lang="zh-CN" altLang="en-US" dirty="0"/>
              <a:t>那么当输入为</a:t>
            </a:r>
            <a:r>
              <a:rPr lang="en-US" altLang="zh-CN" dirty="0"/>
              <a:t>i1+i2</a:t>
            </a:r>
            <a:r>
              <a:rPr lang="zh-CN" altLang="en-US" dirty="0"/>
              <a:t>的时候，</a:t>
            </a:r>
            <a:r>
              <a:rPr lang="en-US" altLang="zh-CN" dirty="0"/>
              <a:t>v=(i1+i2)R=v1+v2. </a:t>
            </a:r>
            <a:endParaRPr lang="en-US" dirty="0">
              <a:ea typeface="宋体" panose="02010600030101010101" pitchFamily="2" charset="-122"/>
            </a:endParaRPr>
          </a:p>
          <a:p>
            <a:pPr eaLnBrk="1" hangingPunct="1">
              <a:spcBef>
                <a:spcPct val="0"/>
              </a:spcBef>
            </a:pPr>
            <a:endParaRPr lang="en-US" altLang="zh-CN" dirty="0"/>
          </a:p>
        </p:txBody>
      </p:sp>
      <p:sp>
        <p:nvSpPr>
          <p:cNvPr id="72708" name="灯片编号占位符 3"/>
          <p:cNvSpPr>
            <a:spLocks noGrp="1"/>
          </p:cNvSpPr>
          <p:nvPr>
            <p:ph type="sldNum" sz="quarter" idx="5"/>
          </p:nvPr>
        </p:nvSpPr>
        <p:spPr bwMode="auto">
          <a:noFill/>
          <a:ln>
            <a:miter lim="800000"/>
          </a:ln>
        </p:spPr>
        <p:txBody>
          <a:bodyPr/>
          <a:lstStyle/>
          <a:p>
            <a:fld id="{AD1A60A2-E975-472F-BACD-A5FECB34077F}" type="slidenum">
              <a:rPr lang="en-US" altLang="zh-CN">
                <a:solidFill>
                  <a:prstClr val="black"/>
                </a:solidFill>
              </a:rPr>
              <a:t>5</a:t>
            </a:fld>
            <a:endParaRPr lang="en-US" altLang="zh-CN">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ChangeArrowheads="1" noTextEdit="1"/>
          </p:cNvSpPr>
          <p:nvPr>
            <p:ph type="sldImg"/>
          </p:nvPr>
        </p:nvSpPr>
        <p:spPr bwMode="auto">
          <a:noFill/>
          <a:ln>
            <a:solidFill>
              <a:srgbClr val="000000"/>
            </a:solidFill>
            <a:miter lim="800000"/>
          </a:ln>
        </p:spPr>
      </p:sp>
      <p:sp>
        <p:nvSpPr>
          <p:cNvPr id="73731" name="备注占位符 2"/>
          <p:cNvSpPr>
            <a:spLocks noGrp="1" noChangeArrowheads="1"/>
          </p:cNvSpPr>
          <p:nvPr>
            <p:ph type="body" idx="1"/>
          </p:nvPr>
        </p:nvSpPr>
        <p:spPr bwMode="auto">
          <a:noFill/>
        </p:spPr>
        <p:txBody>
          <a:bodyPr wrap="square" numCol="1" anchor="t" anchorCtr="0" compatLnSpc="1"/>
          <a:lstStyle/>
          <a:p>
            <a:r>
              <a:rPr lang="zh-CN" altLang="en-US" dirty="0"/>
              <a:t>系统的概念：输入，输出。激励，响应。</a:t>
            </a:r>
          </a:p>
        </p:txBody>
      </p:sp>
      <p:sp>
        <p:nvSpPr>
          <p:cNvPr id="73732" name="灯片编号占位符 3"/>
          <p:cNvSpPr>
            <a:spLocks noGrp="1" noChangeArrowheads="1"/>
          </p:cNvSpPr>
          <p:nvPr>
            <p:ph type="sldNum" sz="quarter" idx="5"/>
          </p:nvPr>
        </p:nvSpPr>
        <p:spPr bwMode="auto">
          <a:noFill/>
          <a:ln>
            <a:miter lim="800000"/>
          </a:ln>
        </p:spPr>
        <p:txBody>
          <a:bodyPr/>
          <a:lstStyle/>
          <a:p>
            <a:fld id="{74CC9349-B2B4-45D2-81C9-6350BFC85A7F}" type="slidenum">
              <a:rPr lang="en-US" altLang="zh-CN">
                <a:solidFill>
                  <a:prstClr val="black"/>
                </a:solidFill>
              </a:rPr>
              <a:t>8</a:t>
            </a:fld>
            <a:endParaRPr lang="en-US" altLang="zh-CN">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511C8E-5CE7-407A-963C-A5815BBF3E05}"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511C8E-5CE7-407A-963C-A5815BBF3E05}" type="slidenum">
              <a:rPr lang="zh-CN" altLang="en-US" smtClean="0"/>
              <a:t>15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请</a:t>
            </a:r>
            <a:r>
              <a:rPr lang="en-US" altLang="zh-CN" dirty="0"/>
              <a:t>3</a:t>
            </a:r>
            <a:r>
              <a:rPr lang="zh-CN" altLang="en-US" dirty="0"/>
              <a:t>位同学上来画分电路图。不必求解。</a:t>
            </a:r>
          </a:p>
        </p:txBody>
      </p:sp>
      <p:sp>
        <p:nvSpPr>
          <p:cNvPr id="4" name="灯片编号占位符 3"/>
          <p:cNvSpPr>
            <a:spLocks noGrp="1"/>
          </p:cNvSpPr>
          <p:nvPr>
            <p:ph type="sldNum" sz="quarter" idx="5"/>
          </p:nvPr>
        </p:nvSpPr>
        <p:spPr/>
        <p:txBody>
          <a:bodyPr/>
          <a:lstStyle/>
          <a:p>
            <a:fld id="{58511C8E-5CE7-407A-963C-A5815BBF3E05}" type="slidenum">
              <a:rPr lang="zh-CN" altLang="en-US" smtClean="0"/>
              <a:t>24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bwMode="auto">
          <a:noFill/>
          <a:ln>
            <a:solidFill>
              <a:srgbClr val="000000"/>
            </a:solidFill>
            <a:miter lim="800000"/>
          </a:ln>
        </p:spPr>
      </p:sp>
      <p:sp>
        <p:nvSpPr>
          <p:cNvPr id="74755" name="备注占位符 2"/>
          <p:cNvSpPr>
            <a:spLocks noGrp="1" noChangeArrowheads="1"/>
          </p:cNvSpPr>
          <p:nvPr>
            <p:ph type="body" idx="1"/>
          </p:nvPr>
        </p:nvSpPr>
        <p:spPr bwMode="auto">
          <a:noFill/>
        </p:spPr>
        <p:txBody>
          <a:bodyPr wrap="square" numCol="1" anchor="t" anchorCtr="0" compatLnSpc="1"/>
          <a:lstStyle/>
          <a:p>
            <a:endParaRPr lang="zh-CN" altLang="en-US"/>
          </a:p>
        </p:txBody>
      </p:sp>
      <p:sp>
        <p:nvSpPr>
          <p:cNvPr id="74756" name="灯片编号占位符 3"/>
          <p:cNvSpPr>
            <a:spLocks noGrp="1" noChangeArrowheads="1"/>
          </p:cNvSpPr>
          <p:nvPr>
            <p:ph type="sldNum" sz="quarter" idx="5"/>
          </p:nvPr>
        </p:nvSpPr>
        <p:spPr bwMode="auto">
          <a:noFill/>
          <a:ln>
            <a:miter lim="800000"/>
          </a:ln>
        </p:spPr>
        <p:txBody>
          <a:bodyPr/>
          <a:lstStyle/>
          <a:p>
            <a:fld id="{0DE9B642-2B1D-41B6-B948-082E09E60D4B}" type="slidenum">
              <a:rPr lang="en-US" altLang="zh-CN">
                <a:solidFill>
                  <a:prstClr val="black"/>
                </a:solidFill>
              </a:rPr>
              <a:t>25</a:t>
            </a:fld>
            <a:endParaRPr lang="en-US" altLang="zh-CN">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p:nvPr>
        </p:nvSpPr>
        <p:spPr bwMode="auto">
          <a:noFill/>
          <a:ln>
            <a:solidFill>
              <a:srgbClr val="000000"/>
            </a:solidFill>
            <a:miter lim="800000"/>
          </a:ln>
        </p:spPr>
      </p:sp>
      <p:sp>
        <p:nvSpPr>
          <p:cNvPr id="75779" name="备注占位符 2"/>
          <p:cNvSpPr>
            <a:spLocks noGrp="1" noChangeArrowheads="1"/>
          </p:cNvSpPr>
          <p:nvPr>
            <p:ph type="body" idx="1"/>
          </p:nvPr>
        </p:nvSpPr>
        <p:spPr bwMode="auto">
          <a:noFill/>
        </p:spPr>
        <p:txBody>
          <a:bodyPr wrap="square" numCol="1" anchor="t" anchorCtr="0" compatLnSpc="1"/>
          <a:lstStyle/>
          <a:p>
            <a:endParaRPr lang="zh-CN" altLang="en-US"/>
          </a:p>
        </p:txBody>
      </p:sp>
      <p:sp>
        <p:nvSpPr>
          <p:cNvPr id="75780" name="灯片编号占位符 3"/>
          <p:cNvSpPr>
            <a:spLocks noGrp="1" noChangeArrowheads="1"/>
          </p:cNvSpPr>
          <p:nvPr>
            <p:ph type="sldNum" sz="quarter" idx="5"/>
          </p:nvPr>
        </p:nvSpPr>
        <p:spPr bwMode="auto">
          <a:noFill/>
          <a:ln>
            <a:miter lim="800000"/>
          </a:ln>
        </p:spPr>
        <p:txBody>
          <a:bodyPr/>
          <a:lstStyle/>
          <a:p>
            <a:fld id="{F5367EF2-E676-40B6-881F-BF1A12E1226A}" type="slidenum">
              <a:rPr lang="en-US" altLang="zh-CN">
                <a:solidFill>
                  <a:prstClr val="black"/>
                </a:solidFill>
              </a:rPr>
              <a:t>26</a:t>
            </a:fld>
            <a:endParaRPr lang="en-US" altLang="zh-CN">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p:nvPr>
        </p:nvSpPr>
        <p:spPr bwMode="auto">
          <a:noFill/>
          <a:ln>
            <a:solidFill>
              <a:srgbClr val="000000"/>
            </a:solidFill>
            <a:miter lim="800000"/>
          </a:ln>
        </p:spPr>
      </p:sp>
      <p:sp>
        <p:nvSpPr>
          <p:cNvPr id="76803" name="备注占位符 2"/>
          <p:cNvSpPr>
            <a:spLocks noGrp="1" noChangeArrowheads="1"/>
          </p:cNvSpPr>
          <p:nvPr>
            <p:ph type="body" idx="1"/>
          </p:nvPr>
        </p:nvSpPr>
        <p:spPr bwMode="auto">
          <a:noFill/>
        </p:spPr>
        <p:txBody>
          <a:bodyPr wrap="square" numCol="1" anchor="t" anchorCtr="0" compatLnSpc="1"/>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rgbClr val="0000FF"/>
                </a:solidFill>
                <a:latin typeface="Times New Roman" panose="02020603050405020304" pitchFamily="18" charset="0"/>
              </a:rPr>
              <a:t>1.</a:t>
            </a:r>
            <a:r>
              <a:rPr lang="zh-CN" altLang="en-US" sz="1200" b="1" dirty="0">
                <a:solidFill>
                  <a:srgbClr val="0000FF"/>
                </a:solidFill>
                <a:latin typeface="Times New Roman" panose="02020603050405020304" pitchFamily="18" charset="0"/>
              </a:rPr>
              <a:t>为什么电流源的箭头指向电压源的正极。。除了从实际电源非关联参考方向来解释，也可以看端口的电流和电压，左边电压源端口接上负载电流从</a:t>
            </a:r>
            <a:r>
              <a:rPr lang="en-US" altLang="zh-CN" sz="1200" b="1" dirty="0">
                <a:solidFill>
                  <a:srgbClr val="0000FF"/>
                </a:solidFill>
                <a:latin typeface="Times New Roman" panose="02020603050405020304" pitchFamily="18" charset="0"/>
              </a:rPr>
              <a:t>a</a:t>
            </a:r>
            <a:r>
              <a:rPr lang="zh-CN" altLang="en-US" sz="1200" b="1" dirty="0">
                <a:solidFill>
                  <a:srgbClr val="0000FF"/>
                </a:solidFill>
                <a:latin typeface="Times New Roman" panose="02020603050405020304" pitchFamily="18" charset="0"/>
              </a:rPr>
              <a:t>指向</a:t>
            </a:r>
            <a:r>
              <a:rPr lang="en-US" altLang="zh-CN" sz="1200" b="1" dirty="0">
                <a:solidFill>
                  <a:srgbClr val="0000FF"/>
                </a:solidFill>
                <a:latin typeface="Times New Roman" panose="02020603050405020304" pitchFamily="18" charset="0"/>
              </a:rPr>
              <a:t>b,</a:t>
            </a:r>
            <a:r>
              <a:rPr lang="en-US" altLang="zh-CN" sz="1200" b="1" baseline="0" dirty="0">
                <a:solidFill>
                  <a:srgbClr val="0000FF"/>
                </a:solidFill>
                <a:latin typeface="Times New Roman" panose="02020603050405020304" pitchFamily="18" charset="0"/>
              </a:rPr>
              <a:t> </a:t>
            </a:r>
            <a:r>
              <a:rPr lang="zh-CN" altLang="en-US" sz="1200" b="1" baseline="0" dirty="0">
                <a:solidFill>
                  <a:srgbClr val="0000FF"/>
                </a:solidFill>
                <a:latin typeface="Times New Roman" panose="02020603050405020304" pitchFamily="18" charset="0"/>
              </a:rPr>
              <a:t>和右边一样。同理，右边电流源是</a:t>
            </a:r>
            <a:r>
              <a:rPr lang="en-US" altLang="zh-CN" sz="1200" b="1" baseline="0" dirty="0" err="1">
                <a:solidFill>
                  <a:srgbClr val="0000FF"/>
                </a:solidFill>
                <a:latin typeface="Times New Roman" panose="02020603050405020304" pitchFamily="18" charset="0"/>
              </a:rPr>
              <a:t>ab</a:t>
            </a:r>
            <a:r>
              <a:rPr lang="zh-CN" altLang="en-US" sz="1200" b="1" baseline="0" dirty="0">
                <a:solidFill>
                  <a:srgbClr val="0000FF"/>
                </a:solidFill>
                <a:latin typeface="Times New Roman" panose="02020603050405020304" pitchFamily="18" charset="0"/>
              </a:rPr>
              <a:t>端口电压上正下负，和左边一样。即外部等效。</a:t>
            </a:r>
            <a:endParaRPr lang="en-US" altLang="zh-CN" sz="1200" b="1" baseline="0" dirty="0">
              <a:solidFill>
                <a:srgbClr val="0000FF"/>
              </a:solidFill>
              <a:latin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1200" b="1" baseline="0" dirty="0">
                <a:solidFill>
                  <a:srgbClr val="0000FF"/>
                </a:solidFill>
                <a:latin typeface="Times New Roman" panose="02020603050405020304" pitchFamily="18" charset="0"/>
              </a:rPr>
              <a:t>2.</a:t>
            </a:r>
            <a:r>
              <a:rPr lang="zh-CN" altLang="en-US" sz="1200" b="1" baseline="0" dirty="0">
                <a:solidFill>
                  <a:srgbClr val="0000FF"/>
                </a:solidFill>
                <a:latin typeface="Times New Roman" panose="02020603050405020304" pitchFamily="18" charset="0"/>
              </a:rPr>
              <a:t>不能。</a:t>
            </a:r>
            <a:endParaRPr lang="en-US" altLang="zh-CN" sz="1200" b="1" dirty="0">
              <a:solidFill>
                <a:srgbClr val="0000FF"/>
              </a:solidFill>
              <a:latin typeface="Times New Roman" panose="02020603050405020304" pitchFamily="18" charset="0"/>
            </a:endParaRPr>
          </a:p>
          <a:p>
            <a:endParaRPr lang="zh-CN" altLang="en-US" dirty="0"/>
          </a:p>
        </p:txBody>
      </p:sp>
      <p:sp>
        <p:nvSpPr>
          <p:cNvPr id="76804" name="灯片编号占位符 3"/>
          <p:cNvSpPr>
            <a:spLocks noGrp="1" noChangeArrowheads="1"/>
          </p:cNvSpPr>
          <p:nvPr>
            <p:ph type="sldNum" sz="quarter" idx="5"/>
          </p:nvPr>
        </p:nvSpPr>
        <p:spPr bwMode="auto">
          <a:noFill/>
          <a:ln>
            <a:miter lim="800000"/>
          </a:ln>
        </p:spPr>
        <p:txBody>
          <a:bodyPr/>
          <a:lstStyle/>
          <a:p>
            <a:fld id="{6139E22F-170A-4CEA-86B3-CDDA384577E1}" type="slidenum">
              <a:rPr lang="en-US" altLang="zh-CN">
                <a:solidFill>
                  <a:prstClr val="black"/>
                </a:solidFill>
              </a:rPr>
              <a:t>29</a:t>
            </a:fld>
            <a:endParaRPr lang="en-US" altLang="zh-CN">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ChangeArrowheads="1" noTextEdit="1"/>
          </p:cNvSpPr>
          <p:nvPr>
            <p:ph type="sldImg"/>
          </p:nvPr>
        </p:nvSpPr>
        <p:spPr bwMode="auto">
          <a:noFill/>
          <a:ln>
            <a:solidFill>
              <a:srgbClr val="000000"/>
            </a:solidFill>
            <a:miter lim="800000"/>
          </a:ln>
        </p:spPr>
      </p:sp>
      <p:sp>
        <p:nvSpPr>
          <p:cNvPr id="77827" name="备注占位符 2"/>
          <p:cNvSpPr>
            <a:spLocks noGrp="1" noChangeArrowheads="1"/>
          </p:cNvSpPr>
          <p:nvPr>
            <p:ph type="body" idx="1"/>
          </p:nvPr>
        </p:nvSpPr>
        <p:spPr bwMode="auto">
          <a:noFill/>
        </p:spPr>
        <p:txBody>
          <a:bodyPr wrap="square" numCol="1" anchor="t" anchorCtr="0" compatLnSpc="1"/>
          <a:lstStyle/>
          <a:p>
            <a:r>
              <a:rPr lang="zh-CN" altLang="en-US" dirty="0"/>
              <a:t>对</a:t>
            </a:r>
            <a:r>
              <a:rPr lang="en-US" altLang="zh-CN" dirty="0"/>
              <a:t>8</a:t>
            </a:r>
            <a:r>
              <a:rPr lang="zh-CN" altLang="en-US" dirty="0"/>
              <a:t>欧电阻（看成负载）的外电路等效。</a:t>
            </a:r>
          </a:p>
        </p:txBody>
      </p:sp>
      <p:sp>
        <p:nvSpPr>
          <p:cNvPr id="77828" name="灯片编号占位符 3"/>
          <p:cNvSpPr>
            <a:spLocks noGrp="1" noChangeArrowheads="1"/>
          </p:cNvSpPr>
          <p:nvPr>
            <p:ph type="sldNum" sz="quarter" idx="5"/>
          </p:nvPr>
        </p:nvSpPr>
        <p:spPr bwMode="auto">
          <a:noFill/>
          <a:ln>
            <a:miter lim="800000"/>
          </a:ln>
        </p:spPr>
        <p:txBody>
          <a:bodyPr/>
          <a:lstStyle/>
          <a:p>
            <a:fld id="{4964E735-05D0-4FD2-8A0F-B70EE23FC642}" type="slidenum">
              <a:rPr lang="en-US" altLang="zh-CN">
                <a:solidFill>
                  <a:prstClr val="black"/>
                </a:solidFill>
              </a:rPr>
              <a:t>30</a:t>
            </a:fld>
            <a:endParaRPr lang="en-US" altLang="zh-CN">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ln>
        </p:spPr>
      </p:sp>
      <p:sp>
        <p:nvSpPr>
          <p:cNvPr id="78851" name="备注占位符 2"/>
          <p:cNvSpPr>
            <a:spLocks noGrp="1"/>
          </p:cNvSpPr>
          <p:nvPr>
            <p:ph type="body" idx="1"/>
          </p:nvPr>
        </p:nvSpPr>
        <p:spPr bwMode="auto">
          <a:noFill/>
        </p:spPr>
        <p:txBody>
          <a:bodyPr wrap="square" numCol="1" anchor="t" anchorCtr="0" compatLnSpc="1"/>
          <a:lstStyle/>
          <a:p>
            <a:r>
              <a:rPr lang="zh-CN" altLang="en-US" dirty="0"/>
              <a:t>这里是中间</a:t>
            </a:r>
            <a:r>
              <a:rPr lang="en-US" altLang="zh-CN" dirty="0"/>
              <a:t>8</a:t>
            </a:r>
            <a:r>
              <a:rPr lang="zh-CN" altLang="en-US" dirty="0"/>
              <a:t>欧电阻保持不变，然后化简电路其它部分得到</a:t>
            </a:r>
            <a:r>
              <a:rPr lang="en-US" altLang="zh-CN" dirty="0"/>
              <a:t>(c), </a:t>
            </a:r>
            <a:r>
              <a:rPr lang="zh-CN" altLang="en-US" dirty="0"/>
              <a:t>也可以把</a:t>
            </a:r>
            <a:r>
              <a:rPr lang="en-US" altLang="zh-CN" dirty="0"/>
              <a:t>8</a:t>
            </a:r>
            <a:r>
              <a:rPr lang="zh-CN" altLang="en-US" dirty="0"/>
              <a:t>欧电阻和其它并联的合并了；注意：若要求电流</a:t>
            </a:r>
            <a:r>
              <a:rPr lang="en-US" altLang="zh-CN" dirty="0" err="1"/>
              <a:t>i</a:t>
            </a:r>
            <a:r>
              <a:rPr lang="zh-CN" altLang="en-US" dirty="0"/>
              <a:t>，则不能合并。</a:t>
            </a:r>
            <a:endParaRPr lang="en-US" dirty="0">
              <a:ea typeface="宋体" panose="02010600030101010101" pitchFamily="2" charset="-122"/>
            </a:endParaRPr>
          </a:p>
        </p:txBody>
      </p:sp>
      <p:sp>
        <p:nvSpPr>
          <p:cNvPr id="78852" name="灯片编号占位符 3"/>
          <p:cNvSpPr>
            <a:spLocks noGrp="1"/>
          </p:cNvSpPr>
          <p:nvPr>
            <p:ph type="sldNum" sz="quarter" idx="5"/>
          </p:nvPr>
        </p:nvSpPr>
        <p:spPr bwMode="auto">
          <a:noFill/>
          <a:ln>
            <a:miter lim="800000"/>
          </a:ln>
        </p:spPr>
        <p:txBody>
          <a:bodyPr/>
          <a:lstStyle/>
          <a:p>
            <a:fld id="{DB0041D4-BE62-4746-BDFF-F6A50567DF0D}" type="slidenum">
              <a:rPr lang="en-US" altLang="zh-CN">
                <a:solidFill>
                  <a:prstClr val="black"/>
                </a:solidFill>
              </a:rPr>
              <a:t>31</a:t>
            </a:fld>
            <a:endParaRPr lang="en-US" altLang="zh-CN">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1-2</a:t>
            </a:r>
            <a:r>
              <a:rPr lang="zh-CN" altLang="en-US" dirty="0"/>
              <a:t>节点不要变动，不影响所求。也可看成是对空载负载的外电路等效。</a:t>
            </a:r>
          </a:p>
        </p:txBody>
      </p:sp>
      <p:sp>
        <p:nvSpPr>
          <p:cNvPr id="4" name="灯片编号占位符 3"/>
          <p:cNvSpPr>
            <a:spLocks noGrp="1"/>
          </p:cNvSpPr>
          <p:nvPr>
            <p:ph type="sldNum" sz="quarter" idx="5"/>
          </p:nvPr>
        </p:nvSpPr>
        <p:spPr/>
        <p:txBody>
          <a:bodyPr/>
          <a:lstStyle/>
          <a:p>
            <a:fld id="{58511C8E-5CE7-407A-963C-A5815BBF3E05}" type="slidenum">
              <a:rPr lang="zh-CN" altLang="en-US" smtClean="0"/>
              <a:t>34</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noFill/>
          <a:ln>
            <a:solidFill>
              <a:srgbClr val="000000"/>
            </a:solidFill>
            <a:miter lim="800000"/>
          </a:ln>
        </p:spPr>
      </p:sp>
      <p:sp>
        <p:nvSpPr>
          <p:cNvPr id="79875"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dirty="0"/>
              <a:t>在实际电路中经常出现这样的情况：负载是可变的，而其它元件则是固定不变的。典型的例子是家中的电源插座，它可以连接不同的电器，形成可变负载。每改变一次可变元件，就要对电路重新分析一遍，为避免这个问题，戴维南定理提供了一种有效方法。</a:t>
            </a:r>
            <a:endParaRPr lang="en-US" dirty="0">
              <a:ea typeface="宋体" panose="02010600030101010101" pitchFamily="2" charset="-122"/>
            </a:endParaRPr>
          </a:p>
          <a:p>
            <a:pPr eaLnBrk="1" hangingPunct="1">
              <a:spcBef>
                <a:spcPct val="0"/>
              </a:spcBef>
            </a:pPr>
            <a:endParaRPr lang="en-US" altLang="zh-CN" dirty="0"/>
          </a:p>
        </p:txBody>
      </p:sp>
      <p:sp>
        <p:nvSpPr>
          <p:cNvPr id="79876" name="灯片编号占位符 3"/>
          <p:cNvSpPr>
            <a:spLocks noGrp="1"/>
          </p:cNvSpPr>
          <p:nvPr>
            <p:ph type="sldNum" sz="quarter" idx="5"/>
          </p:nvPr>
        </p:nvSpPr>
        <p:spPr bwMode="auto">
          <a:noFill/>
          <a:ln>
            <a:miter lim="800000"/>
          </a:ln>
        </p:spPr>
        <p:txBody>
          <a:bodyPr/>
          <a:lstStyle/>
          <a:p>
            <a:fld id="{32FDAF97-0425-4B90-9BF4-D0D55D33DCF2}" type="slidenum">
              <a:rPr lang="en-US" altLang="zh-CN">
                <a:solidFill>
                  <a:prstClr val="black"/>
                </a:solidFill>
              </a:rPr>
              <a:t>37</a:t>
            </a:fld>
            <a:endParaRPr lang="en-US" altLang="zh-CN">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a:t>
            </a:r>
            <a:r>
              <a:rPr lang="zh-CN" altLang="en-US" b="1" dirty="0"/>
              <a:t>电路系统</a:t>
            </a:r>
            <a:r>
              <a:rPr lang="zh-CN" altLang="en-US" dirty="0"/>
              <a:t>框图。</a:t>
            </a:r>
          </a:p>
        </p:txBody>
      </p:sp>
      <p:sp>
        <p:nvSpPr>
          <p:cNvPr id="4" name="灯片编号占位符 3"/>
          <p:cNvSpPr>
            <a:spLocks noGrp="1"/>
          </p:cNvSpPr>
          <p:nvPr>
            <p:ph type="sldNum" sz="quarter" idx="5"/>
          </p:nvPr>
        </p:nvSpPr>
        <p:spPr/>
        <p:txBody>
          <a:bodyPr/>
          <a:lstStyle/>
          <a:p>
            <a:fld id="{58511C8E-5CE7-407A-963C-A5815BBF3E05}" type="slidenum">
              <a:rPr lang="zh-CN" altLang="en-US" smtClean="0"/>
              <a:t>38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a:t>
            </a:r>
            <a:r>
              <a:rPr lang="en-US" altLang="zh-CN" dirty="0" err="1"/>
              <a:t>Rth</a:t>
            </a:r>
            <a:r>
              <a:rPr lang="zh-CN" altLang="en-US" dirty="0"/>
              <a:t>方法三： “开路电压</a:t>
            </a:r>
            <a:r>
              <a:rPr lang="en-US" altLang="zh-CN" dirty="0"/>
              <a:t>+</a:t>
            </a:r>
            <a:r>
              <a:rPr lang="zh-CN" altLang="en-US" dirty="0"/>
              <a:t>短路电流” 法</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511C8E-5CE7-407A-963C-A5815BBF3E05}" type="slidenum">
              <a:rPr lang="zh-CN" altLang="en-US" smtClean="0"/>
              <a:t>40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p:spPr>
      </p:sp>
      <p:sp>
        <p:nvSpPr>
          <p:cNvPr id="80899" name="备注占位符 2"/>
          <p:cNvSpPr>
            <a:spLocks noGrp="1"/>
          </p:cNvSpPr>
          <p:nvPr>
            <p:ph type="body" idx="1"/>
          </p:nvPr>
        </p:nvSpPr>
        <p:spPr bwMode="auto">
          <a:noFill/>
        </p:spPr>
        <p:txBody>
          <a:bodyPr wrap="square" numCol="1" anchor="t" anchorCtr="0" compatLnSpc="1"/>
          <a:lstStyle/>
          <a:p>
            <a:pPr eaLnBrk="1" hangingPunct="1"/>
            <a:r>
              <a:rPr lang="zh-CN" altLang="en-US"/>
              <a:t>电阻不可能提供能量，所以一定是受控源</a:t>
            </a:r>
            <a:endParaRPr lang="en-US" altLang="zh-CN"/>
          </a:p>
        </p:txBody>
      </p:sp>
      <p:sp>
        <p:nvSpPr>
          <p:cNvPr id="80900" name="灯片编号占位符 3"/>
          <p:cNvSpPr>
            <a:spLocks noGrp="1"/>
          </p:cNvSpPr>
          <p:nvPr>
            <p:ph type="sldNum" sz="quarter" idx="5"/>
          </p:nvPr>
        </p:nvSpPr>
        <p:spPr bwMode="auto">
          <a:noFill/>
          <a:ln>
            <a:miter lim="800000"/>
          </a:ln>
        </p:spPr>
        <p:txBody>
          <a:bodyPr/>
          <a:lstStyle/>
          <a:p>
            <a:fld id="{81D92DF1-A6F8-4315-A9C2-F8E3AB9565A9}" type="slidenum">
              <a:rPr lang="en-US" altLang="zh-CN">
                <a:solidFill>
                  <a:prstClr val="black"/>
                </a:solidFill>
              </a:rPr>
              <a:t>41</a:t>
            </a:fld>
            <a:endParaRPr lang="en-US" altLang="zh-CN">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其实，</a:t>
            </a:r>
            <a:r>
              <a:rPr lang="en-US" altLang="zh-CN" dirty="0"/>
              <a:t>2</a:t>
            </a:r>
            <a:r>
              <a:rPr lang="el-GR" altLang="zh-CN" dirty="0"/>
              <a:t>Ω</a:t>
            </a:r>
            <a:r>
              <a:rPr lang="zh-CN" altLang="en-US" dirty="0"/>
              <a:t>支路可开路，不影响解题。。。。</a:t>
            </a:r>
          </a:p>
        </p:txBody>
      </p:sp>
      <p:sp>
        <p:nvSpPr>
          <p:cNvPr id="4" name="灯片编号占位符 3"/>
          <p:cNvSpPr>
            <a:spLocks noGrp="1"/>
          </p:cNvSpPr>
          <p:nvPr>
            <p:ph type="sldNum" sz="quarter" idx="5"/>
          </p:nvPr>
        </p:nvSpPr>
        <p:spPr/>
        <p:txBody>
          <a:bodyPr/>
          <a:lstStyle/>
          <a:p>
            <a:fld id="{58511C8E-5CE7-407A-963C-A5815BBF3E05}" type="slidenum">
              <a:rPr lang="zh-CN" altLang="en-US" smtClean="0"/>
              <a:t>48</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ChangeArrowheads="1" noTextEdit="1"/>
          </p:cNvSpPr>
          <p:nvPr>
            <p:ph type="sldImg"/>
          </p:nvPr>
        </p:nvSpPr>
        <p:spPr bwMode="auto">
          <a:noFill/>
          <a:ln>
            <a:solidFill>
              <a:srgbClr val="000000"/>
            </a:solidFill>
            <a:miter lim="800000"/>
          </a:ln>
        </p:spPr>
      </p:sp>
      <p:sp>
        <p:nvSpPr>
          <p:cNvPr id="81923" name="备注占位符 2"/>
          <p:cNvSpPr>
            <a:spLocks noGrp="1" noChangeArrowheads="1"/>
          </p:cNvSpPr>
          <p:nvPr>
            <p:ph type="body" idx="1"/>
          </p:nvPr>
        </p:nvSpPr>
        <p:spPr bwMode="auto">
          <a:noFill/>
        </p:spPr>
        <p:txBody>
          <a:bodyPr wrap="square" numCol="1" anchor="t" anchorCtr="0" compatLnSpc="1"/>
          <a:lstStyle/>
          <a:p>
            <a:endParaRPr lang="zh-CN" altLang="en-US" dirty="0"/>
          </a:p>
        </p:txBody>
      </p:sp>
      <p:sp>
        <p:nvSpPr>
          <p:cNvPr id="81924" name="灯片编号占位符 3"/>
          <p:cNvSpPr>
            <a:spLocks noGrp="1" noChangeArrowheads="1"/>
          </p:cNvSpPr>
          <p:nvPr>
            <p:ph type="sldNum" sz="quarter" idx="5"/>
          </p:nvPr>
        </p:nvSpPr>
        <p:spPr bwMode="auto">
          <a:noFill/>
          <a:ln>
            <a:miter lim="800000"/>
          </a:ln>
        </p:spPr>
        <p:txBody>
          <a:bodyPr/>
          <a:lstStyle/>
          <a:p>
            <a:fld id="{477EA2E3-64C1-4C87-B709-DA85050309FD}" type="slidenum">
              <a:rPr lang="en-US" altLang="zh-CN">
                <a:solidFill>
                  <a:prstClr val="black"/>
                </a:solidFill>
              </a:rPr>
              <a:t>49</a:t>
            </a:fld>
            <a:endParaRPr lang="en-US" altLang="zh-CN">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ln>
        </p:spPr>
      </p:sp>
      <p:sp>
        <p:nvSpPr>
          <p:cNvPr id="82947" name="备注占位符 2"/>
          <p:cNvSpPr>
            <a:spLocks noGrp="1"/>
          </p:cNvSpPr>
          <p:nvPr>
            <p:ph type="body" idx="1"/>
          </p:nvPr>
        </p:nvSpPr>
        <p:spPr bwMode="auto">
          <a:noFill/>
        </p:spPr>
        <p:txBody>
          <a:bodyPr wrap="square" numCol="1" anchor="t" anchorCtr="0" compatLnSpc="1"/>
          <a:lstStyle/>
          <a:p>
            <a:r>
              <a:rPr lang="zh-CN" altLang="en-US" dirty="0"/>
              <a:t>也可以直接从图</a:t>
            </a:r>
            <a:r>
              <a:rPr lang="en-US" altLang="zh-CN" dirty="0"/>
              <a:t>a</a:t>
            </a:r>
            <a:r>
              <a:rPr lang="zh-CN" altLang="en-US" dirty="0"/>
              <a:t>看：根据节点电流，端口电流为</a:t>
            </a:r>
            <a:r>
              <a:rPr lang="en-US" altLang="zh-CN" dirty="0"/>
              <a:t>(</a:t>
            </a:r>
            <a:r>
              <a:rPr lang="zh-CN" altLang="en-US" dirty="0"/>
              <a:t>逆时针</a:t>
            </a:r>
            <a:r>
              <a:rPr lang="en-US" altLang="zh-CN" dirty="0"/>
              <a:t>)0.5i</a:t>
            </a:r>
            <a:r>
              <a:rPr lang="en-US" altLang="zh-CN" baseline="-25000" dirty="0"/>
              <a:t>x</a:t>
            </a:r>
            <a:r>
              <a:rPr lang="en-US" altLang="zh-CN" dirty="0"/>
              <a:t>, </a:t>
            </a:r>
            <a:r>
              <a:rPr lang="zh-CN" altLang="en-US" dirty="0"/>
              <a:t>而端口电压为（上负下正）</a:t>
            </a:r>
            <a:r>
              <a:rPr lang="en-US" altLang="zh-CN" dirty="0"/>
              <a:t>2i</a:t>
            </a:r>
            <a:r>
              <a:rPr lang="en-US" altLang="zh-CN" baseline="-25000" dirty="0"/>
              <a:t>x</a:t>
            </a:r>
            <a:r>
              <a:rPr lang="zh-CN" altLang="en-US" dirty="0"/>
              <a:t>，电压和电流方向相反，故等效电阻为</a:t>
            </a:r>
            <a:r>
              <a:rPr lang="en-US" altLang="zh-CN" dirty="0"/>
              <a:t>-4</a:t>
            </a:r>
            <a:r>
              <a:rPr lang="zh-CN" altLang="en-US" dirty="0"/>
              <a:t>欧。</a:t>
            </a:r>
            <a:endParaRPr lang="en-US" altLang="zh-CN" dirty="0"/>
          </a:p>
          <a:p>
            <a:r>
              <a:rPr lang="zh-CN" altLang="en-US" dirty="0"/>
              <a:t>为了避免更多未知数，这里也可将</a:t>
            </a:r>
            <a:r>
              <a:rPr lang="en-US" altLang="zh-CN" dirty="0"/>
              <a:t>i</a:t>
            </a:r>
            <a:r>
              <a:rPr lang="en-US" altLang="zh-CN" baseline="-25000" dirty="0"/>
              <a:t>0</a:t>
            </a:r>
            <a:r>
              <a:rPr lang="zh-CN" altLang="en-US" dirty="0"/>
              <a:t>假设位</a:t>
            </a:r>
            <a:r>
              <a:rPr lang="en-US" altLang="zh-CN" dirty="0"/>
              <a:t>1A</a:t>
            </a:r>
            <a:r>
              <a:rPr lang="zh-CN" altLang="en-US" dirty="0"/>
              <a:t>。</a:t>
            </a:r>
            <a:endParaRPr lang="en-US" dirty="0">
              <a:ea typeface="宋体" panose="02010600030101010101" pitchFamily="2" charset="-122"/>
            </a:endParaRPr>
          </a:p>
        </p:txBody>
      </p:sp>
      <p:sp>
        <p:nvSpPr>
          <p:cNvPr id="82948" name="灯片编号占位符 3"/>
          <p:cNvSpPr>
            <a:spLocks noGrp="1"/>
          </p:cNvSpPr>
          <p:nvPr>
            <p:ph type="sldNum" sz="quarter" idx="5"/>
          </p:nvPr>
        </p:nvSpPr>
        <p:spPr bwMode="auto">
          <a:noFill/>
          <a:ln>
            <a:miter lim="800000"/>
          </a:ln>
        </p:spPr>
        <p:txBody>
          <a:bodyPr/>
          <a:lstStyle/>
          <a:p>
            <a:fld id="{FC00BB37-CA40-46E6-B200-FC5468681680}" type="slidenum">
              <a:rPr lang="en-US" altLang="zh-CN">
                <a:solidFill>
                  <a:prstClr val="black"/>
                </a:solidFill>
              </a:rPr>
              <a:t>52</a:t>
            </a:fld>
            <a:endParaRPr lang="en-US" altLang="zh-CN">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ChangeArrowheads="1" noTextEdit="1"/>
          </p:cNvSpPr>
          <p:nvPr>
            <p:ph type="sldImg"/>
          </p:nvPr>
        </p:nvSpPr>
        <p:spPr bwMode="auto">
          <a:noFill/>
          <a:ln>
            <a:solidFill>
              <a:srgbClr val="000000"/>
            </a:solidFill>
            <a:miter lim="800000"/>
          </a:ln>
        </p:spPr>
      </p:sp>
      <p:sp>
        <p:nvSpPr>
          <p:cNvPr id="83971" name="备注占位符 2"/>
          <p:cNvSpPr>
            <a:spLocks noGrp="1" noChangeArrowheads="1"/>
          </p:cNvSpPr>
          <p:nvPr>
            <p:ph type="body" idx="1"/>
          </p:nvPr>
        </p:nvSpPr>
        <p:spPr bwMode="auto">
          <a:noFill/>
        </p:spPr>
        <p:txBody>
          <a:bodyPr wrap="square" numCol="1" anchor="t" anchorCtr="0" compatLnSpc="1"/>
          <a:lstStyle/>
          <a:p>
            <a:endParaRPr lang="zh-CN" altLang="en-US"/>
          </a:p>
        </p:txBody>
      </p:sp>
      <p:sp>
        <p:nvSpPr>
          <p:cNvPr id="83972" name="灯片编号占位符 3"/>
          <p:cNvSpPr>
            <a:spLocks noGrp="1" noChangeArrowheads="1"/>
          </p:cNvSpPr>
          <p:nvPr>
            <p:ph type="sldNum" sz="quarter" idx="5"/>
          </p:nvPr>
        </p:nvSpPr>
        <p:spPr bwMode="auto">
          <a:noFill/>
          <a:ln>
            <a:miter lim="800000"/>
          </a:ln>
        </p:spPr>
        <p:txBody>
          <a:bodyPr/>
          <a:lstStyle/>
          <a:p>
            <a:fld id="{56072219-6082-4229-B2FA-6D737A6F430D}" type="slidenum">
              <a:rPr lang="en-US" altLang="zh-CN">
                <a:solidFill>
                  <a:prstClr val="black"/>
                </a:solidFill>
              </a:rPr>
              <a:t>53</a:t>
            </a:fld>
            <a:endParaRPr lang="en-US" altLang="zh-CN">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p:spPr>
      </p:sp>
      <p:sp>
        <p:nvSpPr>
          <p:cNvPr id="84995" name="备注占位符 2"/>
          <p:cNvSpPr>
            <a:spLocks noGrp="1"/>
          </p:cNvSpPr>
          <p:nvPr>
            <p:ph type="body" idx="1"/>
          </p:nvPr>
        </p:nvSpPr>
        <p:spPr bwMode="auto">
          <a:noFill/>
        </p:spPr>
        <p:txBody>
          <a:bodyPr wrap="square" numCol="1" anchor="t" anchorCtr="0" compatLnSpc="1"/>
          <a:lstStyle/>
          <a:p>
            <a:endParaRPr lang="en-US" dirty="0">
              <a:ea typeface="宋体" panose="02010600030101010101" pitchFamily="2" charset="-122"/>
            </a:endParaRPr>
          </a:p>
        </p:txBody>
      </p:sp>
      <p:sp>
        <p:nvSpPr>
          <p:cNvPr id="84996" name="灯片编号占位符 3"/>
          <p:cNvSpPr>
            <a:spLocks noGrp="1"/>
          </p:cNvSpPr>
          <p:nvPr>
            <p:ph type="sldNum" sz="quarter" idx="5"/>
          </p:nvPr>
        </p:nvSpPr>
        <p:spPr bwMode="auto">
          <a:noFill/>
          <a:ln>
            <a:miter lim="800000"/>
          </a:ln>
        </p:spPr>
        <p:txBody>
          <a:bodyPr/>
          <a:lstStyle/>
          <a:p>
            <a:fld id="{46059FB4-3C64-4341-A1A5-AB92F85B04CE}" type="slidenum">
              <a:rPr lang="en-US" altLang="zh-CN">
                <a:solidFill>
                  <a:prstClr val="black"/>
                </a:solidFill>
              </a:rPr>
              <a:t>58</a:t>
            </a:fld>
            <a:endParaRPr lang="en-US" altLang="zh-CN">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ln>
        </p:spPr>
      </p:sp>
      <p:sp>
        <p:nvSpPr>
          <p:cNvPr id="86019" name="备注占位符 2"/>
          <p:cNvSpPr>
            <a:spLocks noGrp="1"/>
          </p:cNvSpPr>
          <p:nvPr>
            <p:ph type="body" idx="1"/>
          </p:nvPr>
        </p:nvSpPr>
        <p:spPr bwMode="auto">
          <a:noFill/>
        </p:spPr>
        <p:txBody>
          <a:bodyPr wrap="square" numCol="1" anchor="t" anchorCtr="0" compatLnSpc="1"/>
          <a:lstStyle/>
          <a:p>
            <a:r>
              <a:rPr lang="zh-CN" altLang="en-US"/>
              <a:t>第一问求等效电阻的时候也可以用：端口的电阻的电压为：</a:t>
            </a:r>
            <a:r>
              <a:rPr lang="en-US" altLang="zh-CN"/>
              <a:t>5ix,</a:t>
            </a:r>
            <a:r>
              <a:rPr lang="zh-CN" altLang="en-US"/>
              <a:t>而根据</a:t>
            </a:r>
            <a:r>
              <a:rPr lang="en-US" altLang="zh-CN"/>
              <a:t>KCL</a:t>
            </a:r>
            <a:r>
              <a:rPr lang="zh-CN" altLang="en-US"/>
              <a:t>电流为</a:t>
            </a:r>
            <a:r>
              <a:rPr lang="en-US" altLang="zh-CN"/>
              <a:t>3ix,</a:t>
            </a:r>
            <a:r>
              <a:rPr lang="zh-CN" altLang="en-US"/>
              <a:t>故等效电阻为</a:t>
            </a:r>
            <a:r>
              <a:rPr lang="en-US" altLang="zh-CN"/>
              <a:t>1.67</a:t>
            </a:r>
            <a:r>
              <a:rPr lang="zh-CN" altLang="en-US"/>
              <a:t>欧</a:t>
            </a:r>
            <a:endParaRPr lang="en-US">
              <a:ea typeface="宋体" panose="02010600030101010101" pitchFamily="2" charset="-122"/>
            </a:endParaRPr>
          </a:p>
        </p:txBody>
      </p:sp>
      <p:sp>
        <p:nvSpPr>
          <p:cNvPr id="86020" name="灯片编号占位符 3"/>
          <p:cNvSpPr>
            <a:spLocks noGrp="1"/>
          </p:cNvSpPr>
          <p:nvPr>
            <p:ph type="sldNum" sz="quarter" idx="5"/>
          </p:nvPr>
        </p:nvSpPr>
        <p:spPr bwMode="auto">
          <a:noFill/>
          <a:ln>
            <a:miter lim="800000"/>
          </a:ln>
        </p:spPr>
        <p:txBody>
          <a:bodyPr/>
          <a:lstStyle/>
          <a:p>
            <a:fld id="{A2620E81-93CB-4276-A363-DE69CC66243F}" type="slidenum">
              <a:rPr lang="en-US" altLang="zh-CN">
                <a:solidFill>
                  <a:prstClr val="black"/>
                </a:solidFill>
              </a:rPr>
              <a:t>60</a:t>
            </a:fld>
            <a:endParaRPr lang="en-US" altLang="zh-CN">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ln>
        </p:spPr>
      </p:sp>
      <p:sp>
        <p:nvSpPr>
          <p:cNvPr id="87043" name="备注占位符 2"/>
          <p:cNvSpPr>
            <a:spLocks noGrp="1"/>
          </p:cNvSpPr>
          <p:nvPr>
            <p:ph type="body" idx="1"/>
          </p:nvPr>
        </p:nvSpPr>
        <p:spPr bwMode="auto">
          <a:noFill/>
        </p:spPr>
        <p:txBody>
          <a:bodyPr wrap="square" numCol="1" anchor="t" anchorCtr="0" compatLnSpc="1"/>
          <a:lstStyle/>
          <a:p>
            <a:pPr eaLnBrk="1" hangingPunct="1"/>
            <a:r>
              <a:rPr lang="zh-CN" altLang="en-US" dirty="0"/>
              <a:t>为负载传递最大功率的时候，会造成电路内部损耗大于或等于传输给负载的功率</a:t>
            </a:r>
            <a:endParaRPr lang="en-US" altLang="zh-CN" dirty="0"/>
          </a:p>
        </p:txBody>
      </p:sp>
      <p:sp>
        <p:nvSpPr>
          <p:cNvPr id="87044" name="灯片编号占位符 3"/>
          <p:cNvSpPr>
            <a:spLocks noGrp="1"/>
          </p:cNvSpPr>
          <p:nvPr>
            <p:ph type="sldNum" sz="quarter" idx="5"/>
          </p:nvPr>
        </p:nvSpPr>
        <p:spPr bwMode="auto">
          <a:noFill/>
          <a:ln>
            <a:miter lim="800000"/>
          </a:ln>
        </p:spPr>
        <p:txBody>
          <a:bodyPr/>
          <a:lstStyle/>
          <a:p>
            <a:fld id="{F3196AD9-BE4F-4C36-9FF1-E138F01EFEC3}" type="slidenum">
              <a:rPr lang="en-US" altLang="zh-CN">
                <a:solidFill>
                  <a:prstClr val="black"/>
                </a:solidFill>
              </a:rPr>
              <a:t>62</a:t>
            </a:fld>
            <a:endParaRPr lang="en-US" altLang="zh-CN">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ChangeArrowheads="1" noTextEdit="1"/>
          </p:cNvSpPr>
          <p:nvPr>
            <p:ph type="sldImg"/>
          </p:nvPr>
        </p:nvSpPr>
        <p:spPr bwMode="auto">
          <a:noFill/>
          <a:ln>
            <a:solidFill>
              <a:srgbClr val="000000"/>
            </a:solidFill>
            <a:miter lim="800000"/>
          </a:ln>
        </p:spPr>
      </p:sp>
      <p:sp>
        <p:nvSpPr>
          <p:cNvPr id="88067" name="备注占位符 2"/>
          <p:cNvSpPr>
            <a:spLocks noGrp="1" noChangeArrowheads="1"/>
          </p:cNvSpPr>
          <p:nvPr>
            <p:ph type="body" idx="1"/>
          </p:nvPr>
        </p:nvSpPr>
        <p:spPr bwMode="auto">
          <a:noFill/>
        </p:spPr>
        <p:txBody>
          <a:bodyPr wrap="square" numCol="1" anchor="t" anchorCtr="0" compatLnSpc="1"/>
          <a:lstStyle/>
          <a:p>
            <a:endParaRPr lang="zh-CN" altLang="en-US" dirty="0"/>
          </a:p>
        </p:txBody>
      </p:sp>
      <p:sp>
        <p:nvSpPr>
          <p:cNvPr id="88068" name="灯片编号占位符 3"/>
          <p:cNvSpPr>
            <a:spLocks noGrp="1" noChangeArrowheads="1"/>
          </p:cNvSpPr>
          <p:nvPr>
            <p:ph type="sldNum" sz="quarter" idx="5"/>
          </p:nvPr>
        </p:nvSpPr>
        <p:spPr bwMode="auto">
          <a:noFill/>
          <a:ln>
            <a:miter lim="800000"/>
          </a:ln>
        </p:spPr>
        <p:txBody>
          <a:bodyPr/>
          <a:lstStyle/>
          <a:p>
            <a:fld id="{584D042F-55A8-4946-B765-2A9357FE93F6}" type="slidenum">
              <a:rPr lang="en-US" altLang="zh-CN">
                <a:solidFill>
                  <a:prstClr val="black"/>
                </a:solidFill>
              </a:rPr>
              <a:t>70</a:t>
            </a:fld>
            <a:endParaRPr lang="en-US" altLang="zh-CN">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ln>
        </p:spPr>
      </p:sp>
      <p:sp>
        <p:nvSpPr>
          <p:cNvPr id="89091" name="备注占位符 2"/>
          <p:cNvSpPr>
            <a:spLocks noGrp="1"/>
          </p:cNvSpPr>
          <p:nvPr>
            <p:ph type="body" idx="1"/>
          </p:nvPr>
        </p:nvSpPr>
        <p:spPr bwMode="auto">
          <a:noFill/>
        </p:spPr>
        <p:txBody>
          <a:bodyPr wrap="square" numCol="1" anchor="t" anchorCtr="0" compatLnSpc="1"/>
          <a:lstStyle/>
          <a:p>
            <a:pPr eaLnBrk="1" hangingPunct="1"/>
            <a:r>
              <a:rPr lang="en-US" altLang="zh-CN"/>
              <a:t>Wheatstone bridge</a:t>
            </a:r>
            <a:r>
              <a:rPr lang="zh-CN" altLang="en-US"/>
              <a:t>惠斯顿电桥。</a:t>
            </a:r>
            <a:r>
              <a:rPr lang="en-US" altLang="zh-CN"/>
              <a:t>Galvanometer[ˌgælvə‘nɒmətə] </a:t>
            </a:r>
            <a:r>
              <a:rPr lang="zh-CN" altLang="en-US"/>
              <a:t>电流表</a:t>
            </a:r>
            <a:endParaRPr lang="en-US" altLang="zh-CN"/>
          </a:p>
        </p:txBody>
      </p:sp>
      <p:sp>
        <p:nvSpPr>
          <p:cNvPr id="89092" name="灯片编号占位符 3"/>
          <p:cNvSpPr>
            <a:spLocks noGrp="1"/>
          </p:cNvSpPr>
          <p:nvPr>
            <p:ph type="sldNum" sz="quarter" idx="5"/>
          </p:nvPr>
        </p:nvSpPr>
        <p:spPr bwMode="auto">
          <a:noFill/>
          <a:ln>
            <a:miter lim="800000"/>
          </a:ln>
        </p:spPr>
        <p:txBody>
          <a:bodyPr/>
          <a:lstStyle/>
          <a:p>
            <a:fld id="{E5811666-6D4A-4FCB-9E9E-FCE7607F37FB}" type="slidenum">
              <a:rPr lang="en-US" altLang="zh-CN">
                <a:solidFill>
                  <a:prstClr val="black"/>
                </a:solidFill>
              </a:rPr>
              <a:t>77</a:t>
            </a:fld>
            <a:endParaRPr lang="en-US" altLang="zh-CN">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ln>
        </p:spPr>
      </p:sp>
      <p:sp>
        <p:nvSpPr>
          <p:cNvPr id="90115" name="备注占位符 2"/>
          <p:cNvSpPr>
            <a:spLocks noGrp="1"/>
          </p:cNvSpPr>
          <p:nvPr>
            <p:ph type="body" idx="1"/>
          </p:nvPr>
        </p:nvSpPr>
        <p:spPr bwMode="auto">
          <a:noFill/>
        </p:spPr>
        <p:txBody>
          <a:bodyPr wrap="square" numCol="1" anchor="t" anchorCtr="0" compatLnSpc="1"/>
          <a:lstStyle/>
          <a:p>
            <a:pPr eaLnBrk="1" hangingPunct="1"/>
            <a:endParaRPr lang="en-US" altLang="zh-CN" dirty="0"/>
          </a:p>
        </p:txBody>
      </p:sp>
      <p:sp>
        <p:nvSpPr>
          <p:cNvPr id="90116" name="灯片编号占位符 3"/>
          <p:cNvSpPr>
            <a:spLocks noGrp="1"/>
          </p:cNvSpPr>
          <p:nvPr>
            <p:ph type="sldNum" sz="quarter" idx="5"/>
          </p:nvPr>
        </p:nvSpPr>
        <p:spPr bwMode="auto">
          <a:noFill/>
          <a:ln>
            <a:miter lim="800000"/>
          </a:ln>
        </p:spPr>
        <p:txBody>
          <a:bodyPr/>
          <a:lstStyle/>
          <a:p>
            <a:fld id="{11FE8E99-8AF4-47F1-949C-4339C81CD33F}" type="slidenum">
              <a:rPr lang="en-US" altLang="zh-CN">
                <a:solidFill>
                  <a:prstClr val="black"/>
                </a:solidFill>
              </a:rPr>
              <a:t>83</a:t>
            </a:fld>
            <a:endParaRPr lang="en-US" altLang="zh-CN">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29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a:t>4.16</a:t>
            </a:r>
            <a:r>
              <a:rPr lang="zh-CN" altLang="en-US"/>
              <a:t>题，图电流</a:t>
            </a:r>
            <a:r>
              <a:rPr lang="en-US" altLang="zh-CN"/>
              <a:t>/</a:t>
            </a:r>
            <a:r>
              <a:rPr lang="zh-CN" altLang="en-US"/>
              <a:t>压源有错。</a:t>
            </a:r>
          </a:p>
        </p:txBody>
      </p:sp>
      <p:sp>
        <p:nvSpPr>
          <p:cNvPr id="829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ea typeface="宋体" panose="02010600030101010101" pitchFamily="2" charset="-122"/>
              </a:defRPr>
            </a:lvl1pPr>
            <a:lvl2pPr marL="742950" indent="-285750">
              <a:defRPr sz="2000">
                <a:solidFill>
                  <a:schemeClr val="tx1"/>
                </a:solidFill>
                <a:latin typeface="Times New Roman" panose="02020603050405020304" pitchFamily="18" charset="0"/>
                <a:ea typeface="宋体" panose="02010600030101010101" pitchFamily="2" charset="-122"/>
              </a:defRPr>
            </a:lvl2pPr>
            <a:lvl3pPr marL="1143000" indent="-228600">
              <a:defRPr sz="2000">
                <a:solidFill>
                  <a:schemeClr val="tx1"/>
                </a:solidFill>
                <a:latin typeface="Times New Roman" panose="02020603050405020304" pitchFamily="18" charset="0"/>
                <a:ea typeface="宋体" panose="02010600030101010101" pitchFamily="2" charset="-122"/>
              </a:defRPr>
            </a:lvl3pPr>
            <a:lvl4pPr marL="1600200" indent="-228600">
              <a:defRPr sz="2000">
                <a:solidFill>
                  <a:schemeClr val="tx1"/>
                </a:solidFill>
                <a:latin typeface="Times New Roman" panose="02020603050405020304" pitchFamily="18" charset="0"/>
                <a:ea typeface="宋体" panose="02010600030101010101" pitchFamily="2" charset="-122"/>
              </a:defRPr>
            </a:lvl4pPr>
            <a:lvl5pPr marL="2057400" indent="-22860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fld id="{319F4C04-26CC-4302-B210-A6E1D55E5A0D}" type="slidenum">
              <a:rPr lang="zh-CN" altLang="en-US" sz="1200"/>
              <a:t>91</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zh-CN" sz="2400">
                <a:solidFill>
                  <a:srgbClr val="000000"/>
                </a:solidFill>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grpSp>
          <p:nvGrpSpPr>
            <p:cNvPr id="3"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solidFill>
                <a:srgbClr val="000000"/>
              </a:solidFill>
            </a:endParaRPr>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20" name="Rectangle 18"/>
          <p:cNvSpPr>
            <a:spLocks noGrp="1" noChangeArrowheads="1"/>
          </p:cNvSpPr>
          <p:nvPr>
            <p:ph type="sldNum" sz="quarter" idx="12"/>
          </p:nvPr>
        </p:nvSpPr>
        <p:spPr/>
        <p:txBody>
          <a:bodyPr/>
          <a:lstStyle>
            <a:lvl1pPr>
              <a:defRPr/>
            </a:lvl1pPr>
          </a:lstStyle>
          <a:p>
            <a:pPr>
              <a:defRPr/>
            </a:pPr>
            <a:fld id="{B90ADF71-9479-4A13-8B0D-716530A5C15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p:txBody>
          <a:bodyPr/>
          <a:lstStyle>
            <a:lvl1pPr>
              <a:defRPr/>
            </a:lvl1pPr>
          </a:lstStyle>
          <a:p>
            <a:pPr>
              <a:defRPr/>
            </a:pPr>
            <a:fld id="{939C9064-C0EA-4A07-ACBE-489AD4D1ABAD}" type="slidenum">
              <a:rPr lang="en-US" altLang="zh-CN">
                <a:solidFill>
                  <a:srgbClr val="000000"/>
                </a:solidFill>
              </a:rPr>
              <a:t>‹#›</a:t>
            </a:fld>
            <a:endParaRPr lang="en-US" altLang="zh-CN">
              <a:solidFill>
                <a:srgbClr val="000000"/>
              </a:solidFill>
            </a:endParaRPr>
          </a:p>
        </p:txBody>
      </p:sp>
      <p:sp>
        <p:nvSpPr>
          <p:cNvPr id="6"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p:txBody>
          <a:bodyPr/>
          <a:lstStyle>
            <a:lvl1pPr>
              <a:defRPr/>
            </a:lvl1pPr>
          </a:lstStyle>
          <a:p>
            <a:pPr>
              <a:defRPr/>
            </a:pPr>
            <a:fld id="{4F698ED2-0355-40A2-86BC-499B64B559DC}" type="slidenum">
              <a:rPr lang="en-US" altLang="zh-CN">
                <a:solidFill>
                  <a:srgbClr val="000000"/>
                </a:solidFill>
              </a:rPr>
              <a:t>‹#›</a:t>
            </a:fld>
            <a:endParaRPr lang="en-US" altLang="zh-CN">
              <a:solidFill>
                <a:srgbClr val="000000"/>
              </a:solidFill>
            </a:endParaRPr>
          </a:p>
        </p:txBody>
      </p:sp>
      <p:sp>
        <p:nvSpPr>
          <p:cNvPr id="6"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p:txBody>
          <a:bodyPr/>
          <a:lstStyle>
            <a:lvl1pPr>
              <a:defRPr/>
            </a:lvl1pPr>
          </a:lstStyle>
          <a:p>
            <a:pPr>
              <a:defRPr/>
            </a:pPr>
            <a:fld id="{8F389F86-7872-4F02-9ECE-1C5A44E3582C}" type="slidenum">
              <a:rPr lang="en-US" altLang="zh-CN">
                <a:solidFill>
                  <a:srgbClr val="000000"/>
                </a:solidFill>
              </a:rPr>
              <a:t>‹#›</a:t>
            </a:fld>
            <a:endParaRPr lang="en-US" altLang="zh-CN">
              <a:solidFill>
                <a:srgbClr val="000000"/>
              </a:solidFill>
            </a:endParaRPr>
          </a:p>
        </p:txBody>
      </p:sp>
      <p:sp>
        <p:nvSpPr>
          <p:cNvPr id="7"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8" name="Rectangle 3"/>
          <p:cNvSpPr>
            <a:spLocks noGrp="1" noChangeArrowheads="1"/>
          </p:cNvSpPr>
          <p:nvPr>
            <p:ph type="sldNum" sz="quarter" idx="11"/>
          </p:nvPr>
        </p:nvSpPr>
        <p:spPr/>
        <p:txBody>
          <a:bodyPr/>
          <a:lstStyle>
            <a:lvl1pPr>
              <a:defRPr/>
            </a:lvl1pPr>
          </a:lstStyle>
          <a:p>
            <a:pPr>
              <a:defRPr/>
            </a:pPr>
            <a:fld id="{031DAC42-F607-4BF8-8CA2-038CA3F992AD}" type="slidenum">
              <a:rPr lang="en-US" altLang="zh-CN">
                <a:solidFill>
                  <a:srgbClr val="000000"/>
                </a:solidFill>
              </a:rPr>
              <a:t>‹#›</a:t>
            </a:fld>
            <a:endParaRPr lang="en-US" altLang="zh-CN">
              <a:solidFill>
                <a:srgbClr val="000000"/>
              </a:solidFill>
            </a:endParaRPr>
          </a:p>
        </p:txBody>
      </p:sp>
      <p:sp>
        <p:nvSpPr>
          <p:cNvPr id="9"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4" name="Rectangle 3"/>
          <p:cNvSpPr>
            <a:spLocks noGrp="1" noChangeArrowheads="1"/>
          </p:cNvSpPr>
          <p:nvPr>
            <p:ph type="sldNum" sz="quarter" idx="11"/>
          </p:nvPr>
        </p:nvSpPr>
        <p:spPr/>
        <p:txBody>
          <a:bodyPr/>
          <a:lstStyle>
            <a:lvl1pPr>
              <a:defRPr/>
            </a:lvl1pPr>
          </a:lstStyle>
          <a:p>
            <a:pPr>
              <a:defRPr/>
            </a:pPr>
            <a:fld id="{82779A35-335A-4103-8681-986FC0B08139}" type="slidenum">
              <a:rPr lang="en-US" altLang="zh-CN">
                <a:solidFill>
                  <a:srgbClr val="000000"/>
                </a:solidFill>
              </a:rPr>
              <a:t>‹#›</a:t>
            </a:fld>
            <a:endParaRPr lang="en-US" altLang="zh-CN">
              <a:solidFill>
                <a:srgbClr val="000000"/>
              </a:solidFill>
            </a:endParaRPr>
          </a:p>
        </p:txBody>
      </p:sp>
      <p:sp>
        <p:nvSpPr>
          <p:cNvPr id="5"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3" name="Rectangle 3"/>
          <p:cNvSpPr>
            <a:spLocks noGrp="1" noChangeArrowheads="1"/>
          </p:cNvSpPr>
          <p:nvPr>
            <p:ph type="sldNum" sz="quarter" idx="11"/>
          </p:nvPr>
        </p:nvSpPr>
        <p:spPr/>
        <p:txBody>
          <a:bodyPr/>
          <a:lstStyle>
            <a:lvl1pPr>
              <a:defRPr/>
            </a:lvl1pPr>
          </a:lstStyle>
          <a:p>
            <a:pPr>
              <a:defRPr/>
            </a:pPr>
            <a:fld id="{D776A882-B7EA-4411-9FBB-12412DA587FB}" type="slidenum">
              <a:rPr lang="en-US" altLang="zh-CN">
                <a:solidFill>
                  <a:srgbClr val="000000"/>
                </a:solidFill>
              </a:rPr>
              <a:t>‹#›</a:t>
            </a:fld>
            <a:endParaRPr lang="en-US" altLang="zh-CN">
              <a:solidFill>
                <a:srgbClr val="000000"/>
              </a:solidFill>
            </a:endParaRPr>
          </a:p>
        </p:txBody>
      </p:sp>
      <p:sp>
        <p:nvSpPr>
          <p:cNvPr id="4"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p:txBody>
          <a:bodyPr/>
          <a:lstStyle>
            <a:lvl1pPr>
              <a:defRPr/>
            </a:lvl1pPr>
          </a:lstStyle>
          <a:p>
            <a:pPr>
              <a:defRPr/>
            </a:pPr>
            <a:fld id="{C7E8523E-99DB-4E6A-A596-E63F4ECD9CB7}" type="slidenum">
              <a:rPr lang="en-US" altLang="zh-CN">
                <a:solidFill>
                  <a:srgbClr val="000000"/>
                </a:solidFill>
              </a:rPr>
              <a:t>‹#›</a:t>
            </a:fld>
            <a:endParaRPr lang="en-US" altLang="zh-CN">
              <a:solidFill>
                <a:srgbClr val="000000"/>
              </a:solidFill>
            </a:endParaRPr>
          </a:p>
        </p:txBody>
      </p:sp>
      <p:sp>
        <p:nvSpPr>
          <p:cNvPr id="7"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p:txBody>
          <a:bodyPr/>
          <a:lstStyle>
            <a:lvl1pPr>
              <a:defRPr/>
            </a:lvl1pPr>
          </a:lstStyle>
          <a:p>
            <a:pPr>
              <a:defRPr/>
            </a:pPr>
            <a:fld id="{83D6E621-F8D4-4381-9FBB-E6CE9CC53EAF}" type="slidenum">
              <a:rPr lang="en-US" altLang="zh-CN">
                <a:solidFill>
                  <a:srgbClr val="000000"/>
                </a:solidFill>
              </a:rPr>
              <a:t>‹#›</a:t>
            </a:fld>
            <a:endParaRPr lang="en-US" altLang="zh-CN">
              <a:solidFill>
                <a:srgbClr val="000000"/>
              </a:solidFill>
            </a:endParaRPr>
          </a:p>
        </p:txBody>
      </p:sp>
      <p:sp>
        <p:nvSpPr>
          <p:cNvPr id="7"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p:txBody>
          <a:bodyPr/>
          <a:lstStyle>
            <a:lvl1pPr>
              <a:defRPr/>
            </a:lvl1pPr>
          </a:lstStyle>
          <a:p>
            <a:pPr>
              <a:defRPr/>
            </a:pPr>
            <a:fld id="{B6E170DD-2B66-47E5-A34E-E8A3648EB591}" type="slidenum">
              <a:rPr lang="en-US" altLang="zh-CN">
                <a:solidFill>
                  <a:srgbClr val="000000"/>
                </a:solidFill>
              </a:rPr>
              <a:t>‹#›</a:t>
            </a:fld>
            <a:endParaRPr lang="en-US" altLang="zh-CN">
              <a:solidFill>
                <a:srgbClr val="000000"/>
              </a:solidFill>
            </a:endParaRPr>
          </a:p>
        </p:txBody>
      </p:sp>
      <p:sp>
        <p:nvSpPr>
          <p:cNvPr id="6"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p:txBody>
          <a:bodyPr/>
          <a:lstStyle>
            <a:lvl1pPr>
              <a:defRPr/>
            </a:lvl1pPr>
          </a:lstStyle>
          <a:p>
            <a:pPr>
              <a:defRPr/>
            </a:pPr>
            <a:fld id="{748338DA-E646-4061-A95F-B0D6CFA1D783}" type="slidenum">
              <a:rPr lang="en-US" altLang="zh-CN">
                <a:solidFill>
                  <a:srgbClr val="000000"/>
                </a:solidFill>
              </a:rPr>
              <a:t>‹#›</a:t>
            </a:fld>
            <a:endParaRPr lang="en-US" altLang="zh-CN">
              <a:solidFill>
                <a:srgbClr val="000000"/>
              </a:solidFill>
            </a:endParaRPr>
          </a:p>
        </p:txBody>
      </p:sp>
      <p:sp>
        <p:nvSpPr>
          <p:cNvPr id="6"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8" name="Rectangle 3"/>
          <p:cNvSpPr>
            <a:spLocks noGrp="1" noChangeArrowheads="1"/>
          </p:cNvSpPr>
          <p:nvPr>
            <p:ph type="sldNum" sz="quarter" idx="11"/>
          </p:nvPr>
        </p:nvSpPr>
        <p:spPr/>
        <p:txBody>
          <a:bodyPr/>
          <a:lstStyle>
            <a:lvl1pPr>
              <a:defRPr/>
            </a:lvl1pPr>
          </a:lstStyle>
          <a:p>
            <a:pPr>
              <a:defRPr/>
            </a:pPr>
            <a:fld id="{B4882483-F3CB-4D5A-8CC8-181CAB4ED700}" type="slidenum">
              <a:rPr lang="en-US" altLang="zh-CN">
                <a:solidFill>
                  <a:srgbClr val="000000"/>
                </a:solidFill>
              </a:rPr>
              <a:t>‹#›</a:t>
            </a:fld>
            <a:endParaRPr lang="en-US" altLang="zh-CN">
              <a:solidFill>
                <a:srgbClr val="000000"/>
              </a:solidFill>
            </a:endParaRPr>
          </a:p>
        </p:txBody>
      </p:sp>
      <p:sp>
        <p:nvSpPr>
          <p:cNvPr id="9"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4" name="Rectangle 3"/>
          <p:cNvSpPr>
            <a:spLocks noGrp="1" noChangeArrowheads="1"/>
          </p:cNvSpPr>
          <p:nvPr>
            <p:ph type="sldNum" sz="quarter" idx="11"/>
          </p:nvPr>
        </p:nvSpPr>
        <p:spPr/>
        <p:txBody>
          <a:bodyPr/>
          <a:lstStyle>
            <a:lvl1pPr>
              <a:defRPr/>
            </a:lvl1pPr>
          </a:lstStyle>
          <a:p>
            <a:pPr>
              <a:defRPr/>
            </a:pPr>
            <a:fld id="{B5E5724E-2106-4ECF-A33D-8E4B743D716F}" type="slidenum">
              <a:rPr lang="en-US" altLang="zh-CN">
                <a:solidFill>
                  <a:srgbClr val="000000"/>
                </a:solidFill>
              </a:rPr>
              <a:t>‹#›</a:t>
            </a:fld>
            <a:endParaRPr lang="en-US" altLang="zh-CN">
              <a:solidFill>
                <a:srgbClr val="000000"/>
              </a:solidFill>
            </a:endParaRPr>
          </a:p>
        </p:txBody>
      </p:sp>
      <p:sp>
        <p:nvSpPr>
          <p:cNvPr id="5"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p:txBody>
          <a:bodyPr/>
          <a:lstStyle>
            <a:lvl1pPr>
              <a:defRPr/>
            </a:lvl1pPr>
          </a:lstStyle>
          <a:p>
            <a:pPr>
              <a:defRPr/>
            </a:pPr>
            <a:endParaRPr lang="en-US" altLang="zh-CN">
              <a:solidFill>
                <a:srgbClr val="000000"/>
              </a:solidFill>
            </a:endParaRPr>
          </a:p>
        </p:txBody>
      </p:sp>
      <p:sp>
        <p:nvSpPr>
          <p:cNvPr id="7" name="Rectangle 3"/>
          <p:cNvSpPr>
            <a:spLocks noGrp="1" noChangeArrowheads="1"/>
          </p:cNvSpPr>
          <p:nvPr>
            <p:ph type="sldNum" sz="quarter" idx="11"/>
          </p:nvPr>
        </p:nvSpPr>
        <p:spPr/>
        <p:txBody>
          <a:bodyPr/>
          <a:lstStyle>
            <a:lvl1pPr>
              <a:defRPr/>
            </a:lvl1pPr>
          </a:lstStyle>
          <a:p>
            <a:pPr>
              <a:defRPr/>
            </a:pPr>
            <a:fld id="{B4B73163-A66D-4D54-9D0B-1A3A291F3030}" type="slidenum">
              <a:rPr lang="en-US" altLang="zh-CN">
                <a:solidFill>
                  <a:srgbClr val="000000"/>
                </a:solidFill>
              </a:rPr>
              <a:t>‹#›</a:t>
            </a:fld>
            <a:endParaRPr lang="en-US" altLang="zh-CN">
              <a:solidFill>
                <a:srgbClr val="000000"/>
              </a:solidFill>
            </a:endParaRPr>
          </a:p>
        </p:txBody>
      </p:sp>
      <p:sp>
        <p:nvSpPr>
          <p:cNvPr id="8" name="Rectangle 16"/>
          <p:cNvSpPr>
            <a:spLocks noGrp="1" noChangeArrowheads="1"/>
          </p:cNvSpPr>
          <p:nvPr>
            <p:ph type="dt" sz="half" idx="12"/>
          </p:nvPr>
        </p:nvSpPr>
        <p:spPr/>
        <p:txBody>
          <a:bodyPr/>
          <a:lstStyle>
            <a:lvl1pPr>
              <a:defRPr/>
            </a:lvl1pPr>
          </a:lstStyle>
          <a:p>
            <a:pPr>
              <a:defRPr/>
            </a:pPr>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mn-lt"/>
                <a:ea typeface="宋体" panose="02010600030101010101" pitchFamily="2" charset="-122"/>
              </a:defRPr>
            </a:lvl1pPr>
          </a:lstStyle>
          <a:p>
            <a:pPr fontAlgn="base">
              <a:spcBef>
                <a:spcPct val="0"/>
              </a:spcBef>
              <a:spcAft>
                <a:spcPct val="0"/>
              </a:spcAft>
              <a:defRPr/>
            </a:pPr>
            <a:endParaRPr lang="en-US" altLang="zh-CN">
              <a:solidFill>
                <a:srgbClr val="000000"/>
              </a:solidFill>
            </a:endParaRPr>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Black" panose="020B0A04020102020204" pitchFamily="34" charset="0"/>
              </a:defRPr>
            </a:lvl1pPr>
          </a:lstStyle>
          <a:p>
            <a:pPr fontAlgn="base">
              <a:spcBef>
                <a:spcPct val="0"/>
              </a:spcBef>
              <a:spcAft>
                <a:spcPct val="0"/>
              </a:spcAft>
              <a:defRPr/>
            </a:pPr>
            <a:fld id="{41ABA3D2-5A12-47CA-93A8-34CD055A5202}" type="slidenum">
              <a:rPr lang="en-US" altLang="zh-CN">
                <a:solidFill>
                  <a:srgbClr val="000000"/>
                </a:solidFill>
              </a:rPr>
              <a:t>‹#›</a:t>
            </a:fld>
            <a:endParaRPr lang="en-US" altLang="zh-CN">
              <a:solidFill>
                <a:srgbClr val="000000"/>
              </a:solidFill>
            </a:endParaRPr>
          </a:p>
        </p:txBody>
      </p:sp>
      <p:grpSp>
        <p:nvGrpSpPr>
          <p:cNvPr id="2" name="Group 4"/>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zh-CN" sz="2400">
                <a:solidFill>
                  <a:srgbClr val="000000"/>
                </a:solidFill>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666699"/>
                </a:solidFill>
                <a:latin typeface="Arial" panose="020B0604020202020204" pitchFamily="34" charset="0"/>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666699"/>
                </a:solidFill>
                <a:latin typeface="Arial" panose="020B0604020202020204" pitchFamily="34" charset="0"/>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9999CC"/>
                </a:solidFill>
                <a:latin typeface="Arial" panose="020B0604020202020204" pitchFamily="34" charset="0"/>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666699"/>
                </a:solidFill>
                <a:latin typeface="Arial" panose="020B0604020202020204" pitchFamily="34" charset="0"/>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2400">
                <a:solidFill>
                  <a:srgbClr val="000000"/>
                </a:solidFill>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9999CC"/>
                </a:solidFill>
                <a:latin typeface="Arial" panose="020B0604020202020204" pitchFamily="34" charset="0"/>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p:spPr>
          <p:txBody>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defRPr/>
              </a:pPr>
              <a:endParaRPr lang="zh-CN" altLang="zh-CN" sz="1800">
                <a:solidFill>
                  <a:srgbClr val="9999CC"/>
                </a:solidFill>
                <a:latin typeface="Arial" panose="020B0604020202020204" pitchFamily="34"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mn-lt"/>
                <a:ea typeface="宋体" panose="02010600030101010101" pitchFamily="2" charset="-122"/>
              </a:defRPr>
            </a:lvl1pPr>
          </a:lstStyle>
          <a:p>
            <a:pPr fontAlgn="base">
              <a:spcBef>
                <a:spcPct val="0"/>
              </a:spcBef>
              <a:spcAft>
                <a:spcPct val="0"/>
              </a:spcAft>
              <a:defRPr/>
            </a:pPr>
            <a:endParaRPr lang="en-US" altLang="zh-CN">
              <a:solidFill>
                <a:srgbClr val="00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oleObject" Target="../embeddings/oleObject2.bin"/><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wmf"/><Relationship Id="rId3" Type="http://schemas.openxmlformats.org/officeDocument/2006/relationships/notesSlide" Target="../notesSlides/notesSlide3.xml"/><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png"/><Relationship Id="rId5" Type="http://schemas.openxmlformats.org/officeDocument/2006/relationships/image" Target="../media/image6.w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notesSlide" Target="../notesSlides/notesSlide7.xml"/><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2.bin"/><Relationship Id="rId4" Type="http://schemas.openxmlformats.org/officeDocument/2006/relationships/image" Target="../media/image16.wmf"/><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16.bin"/><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1.bin"/><Relationship Id="rId18" Type="http://schemas.openxmlformats.org/officeDocument/2006/relationships/oleObject" Target="../embeddings/oleObject24.bin"/><Relationship Id="rId3" Type="http://schemas.openxmlformats.org/officeDocument/2006/relationships/image" Target="../media/image30.png"/><Relationship Id="rId7" Type="http://schemas.openxmlformats.org/officeDocument/2006/relationships/oleObject" Target="../embeddings/oleObject18.bin"/><Relationship Id="rId12" Type="http://schemas.openxmlformats.org/officeDocument/2006/relationships/image" Target="../media/image26.wmf"/><Relationship Id="rId17" Type="http://schemas.openxmlformats.org/officeDocument/2006/relationships/oleObject" Target="../embeddings/oleObject23.bin"/><Relationship Id="rId2" Type="http://schemas.openxmlformats.org/officeDocument/2006/relationships/slideLayout" Target="../slideLayouts/slideLayout2.xml"/><Relationship Id="rId16" Type="http://schemas.openxmlformats.org/officeDocument/2006/relationships/image" Target="../media/image28.wmf"/><Relationship Id="rId1" Type="http://schemas.openxmlformats.org/officeDocument/2006/relationships/vmlDrawing" Target="../drawings/vmlDrawing8.vml"/><Relationship Id="rId6" Type="http://schemas.openxmlformats.org/officeDocument/2006/relationships/image" Target="../media/image23.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5.wmf"/><Relationship Id="rId19" Type="http://schemas.openxmlformats.org/officeDocument/2006/relationships/image" Target="../media/image29.wmf"/><Relationship Id="rId4" Type="http://schemas.openxmlformats.org/officeDocument/2006/relationships/image" Target="../media/image31.png"/><Relationship Id="rId9" Type="http://schemas.openxmlformats.org/officeDocument/2006/relationships/oleObject" Target="../embeddings/oleObject19.bin"/><Relationship Id="rId14" Type="http://schemas.openxmlformats.org/officeDocument/2006/relationships/image" Target="../media/image27.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6.wmf"/><Relationship Id="rId3" Type="http://schemas.openxmlformats.org/officeDocument/2006/relationships/image" Target="../media/image37.png"/><Relationship Id="rId7" Type="http://schemas.openxmlformats.org/officeDocument/2006/relationships/image" Target="../media/image33.wmf"/><Relationship Id="rId12"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6.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4.wmf"/><Relationship Id="rId1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0.wmf"/><Relationship Id="rId4" Type="http://schemas.openxmlformats.org/officeDocument/2006/relationships/oleObject" Target="../embeddings/oleObject30.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6.wmf"/><Relationship Id="rId18" Type="http://schemas.openxmlformats.org/officeDocument/2006/relationships/oleObject" Target="../embeddings/oleObject38.bin"/><Relationship Id="rId3" Type="http://schemas.openxmlformats.org/officeDocument/2006/relationships/oleObject" Target="../embeddings/oleObject31.bin"/><Relationship Id="rId7" Type="http://schemas.openxmlformats.org/officeDocument/2006/relationships/image" Target="../media/image43.wmf"/><Relationship Id="rId12" Type="http://schemas.openxmlformats.org/officeDocument/2006/relationships/oleObject" Target="../embeddings/oleObject35.bin"/><Relationship Id="rId17" Type="http://schemas.openxmlformats.org/officeDocument/2006/relationships/image" Target="../media/image48.wmf"/><Relationship Id="rId2" Type="http://schemas.openxmlformats.org/officeDocument/2006/relationships/slideLayout" Target="../slideLayouts/slideLayout2.xml"/><Relationship Id="rId16" Type="http://schemas.openxmlformats.org/officeDocument/2006/relationships/oleObject" Target="../embeddings/oleObject37.bin"/><Relationship Id="rId1" Type="http://schemas.openxmlformats.org/officeDocument/2006/relationships/vmlDrawing" Target="../drawings/vmlDrawing11.vml"/><Relationship Id="rId6" Type="http://schemas.openxmlformats.org/officeDocument/2006/relationships/oleObject" Target="../embeddings/oleObject32.bin"/><Relationship Id="rId11" Type="http://schemas.openxmlformats.org/officeDocument/2006/relationships/image" Target="../media/image45.wmf"/><Relationship Id="rId5" Type="http://schemas.openxmlformats.org/officeDocument/2006/relationships/image" Target="../media/image50.png"/><Relationship Id="rId15" Type="http://schemas.openxmlformats.org/officeDocument/2006/relationships/image" Target="../media/image47.wmf"/><Relationship Id="rId10" Type="http://schemas.openxmlformats.org/officeDocument/2006/relationships/oleObject" Target="../embeddings/oleObject34.bin"/><Relationship Id="rId19" Type="http://schemas.openxmlformats.org/officeDocument/2006/relationships/image" Target="../media/image49.wmf"/><Relationship Id="rId4" Type="http://schemas.openxmlformats.org/officeDocument/2006/relationships/image" Target="../media/image42.wmf"/><Relationship Id="rId9" Type="http://schemas.openxmlformats.org/officeDocument/2006/relationships/image" Target="../media/image44.wmf"/><Relationship Id="rId14" Type="http://schemas.openxmlformats.org/officeDocument/2006/relationships/oleObject" Target="../embeddings/oleObject36.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55.wmf"/><Relationship Id="rId3" Type="http://schemas.openxmlformats.org/officeDocument/2006/relationships/image" Target="../media/image58.png"/><Relationship Id="rId7" Type="http://schemas.openxmlformats.org/officeDocument/2006/relationships/image" Target="../media/image52.wmf"/><Relationship Id="rId12" Type="http://schemas.openxmlformats.org/officeDocument/2006/relationships/oleObject" Target="../embeddings/oleObject43.bin"/><Relationship Id="rId17" Type="http://schemas.openxmlformats.org/officeDocument/2006/relationships/image" Target="../media/image57.wmf"/><Relationship Id="rId2" Type="http://schemas.openxmlformats.org/officeDocument/2006/relationships/slideLayout" Target="../slideLayouts/slideLayout2.xml"/><Relationship Id="rId16" Type="http://schemas.openxmlformats.org/officeDocument/2006/relationships/oleObject" Target="../embeddings/oleObject45.bin"/><Relationship Id="rId1" Type="http://schemas.openxmlformats.org/officeDocument/2006/relationships/vmlDrawing" Target="../drawings/vmlDrawing12.vml"/><Relationship Id="rId6" Type="http://schemas.openxmlformats.org/officeDocument/2006/relationships/oleObject" Target="../embeddings/oleObject40.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53.wmf"/><Relationship Id="rId1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1.wmf"/><Relationship Id="rId5" Type="http://schemas.openxmlformats.org/officeDocument/2006/relationships/oleObject" Target="../embeddings/oleObject46.bin"/><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1.bin"/><Relationship Id="rId3" Type="http://schemas.openxmlformats.org/officeDocument/2006/relationships/notesSlide" Target="../notesSlides/notesSlide10.xml"/><Relationship Id="rId7" Type="http://schemas.openxmlformats.org/officeDocument/2006/relationships/image" Target="../media/image64.wmf"/><Relationship Id="rId12" Type="http://schemas.openxmlformats.org/officeDocument/2006/relationships/image" Target="../media/image69.png"/><Relationship Id="rId2" Type="http://schemas.openxmlformats.org/officeDocument/2006/relationships/slideLayout" Target="../slideLayouts/slideLayout2.xml"/><Relationship Id="rId16" Type="http://schemas.openxmlformats.org/officeDocument/2006/relationships/image" Target="../media/image68.wmf"/><Relationship Id="rId1" Type="http://schemas.openxmlformats.org/officeDocument/2006/relationships/vmlDrawing" Target="../drawings/vmlDrawing14.vml"/><Relationship Id="rId6" Type="http://schemas.openxmlformats.org/officeDocument/2006/relationships/oleObject" Target="../embeddings/oleObject48.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oleObject" Target="../embeddings/oleObject52.bin"/><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65.wmf"/><Relationship Id="rId14" Type="http://schemas.openxmlformats.org/officeDocument/2006/relationships/image" Target="../media/image67.wmf"/></Relationships>
</file>

<file path=ppt/slides/_rels/slide26.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73.wmf"/><Relationship Id="rId18" Type="http://schemas.openxmlformats.org/officeDocument/2006/relationships/oleObject" Target="../embeddings/oleObject59.bin"/><Relationship Id="rId3" Type="http://schemas.openxmlformats.org/officeDocument/2006/relationships/notesSlide" Target="../notesSlides/notesSlide11.xml"/><Relationship Id="rId21" Type="http://schemas.openxmlformats.org/officeDocument/2006/relationships/image" Target="../media/image77.wmf"/><Relationship Id="rId7" Type="http://schemas.openxmlformats.org/officeDocument/2006/relationships/oleObject" Target="../embeddings/oleObject54.bin"/><Relationship Id="rId12" Type="http://schemas.openxmlformats.org/officeDocument/2006/relationships/oleObject" Target="../embeddings/oleObject56.bin"/><Relationship Id="rId17" Type="http://schemas.openxmlformats.org/officeDocument/2006/relationships/image" Target="../media/image75.wmf"/><Relationship Id="rId2" Type="http://schemas.openxmlformats.org/officeDocument/2006/relationships/slideLayout" Target="../slideLayouts/slideLayout2.xml"/><Relationship Id="rId16" Type="http://schemas.openxmlformats.org/officeDocument/2006/relationships/oleObject" Target="../embeddings/oleObject58.bin"/><Relationship Id="rId20" Type="http://schemas.openxmlformats.org/officeDocument/2006/relationships/oleObject" Target="../embeddings/oleObject60.bin"/><Relationship Id="rId1" Type="http://schemas.openxmlformats.org/officeDocument/2006/relationships/vmlDrawing" Target="../drawings/vmlDrawing15.vml"/><Relationship Id="rId6" Type="http://schemas.openxmlformats.org/officeDocument/2006/relationships/image" Target="../media/image70.wmf"/><Relationship Id="rId11" Type="http://schemas.openxmlformats.org/officeDocument/2006/relationships/image" Target="../media/image80.png"/><Relationship Id="rId5" Type="http://schemas.openxmlformats.org/officeDocument/2006/relationships/oleObject" Target="../embeddings/oleObject53.bin"/><Relationship Id="rId15" Type="http://schemas.openxmlformats.org/officeDocument/2006/relationships/image" Target="../media/image74.wmf"/><Relationship Id="rId23" Type="http://schemas.openxmlformats.org/officeDocument/2006/relationships/image" Target="../media/image78.wmf"/><Relationship Id="rId10" Type="http://schemas.openxmlformats.org/officeDocument/2006/relationships/image" Target="../media/image72.wmf"/><Relationship Id="rId19" Type="http://schemas.openxmlformats.org/officeDocument/2006/relationships/image" Target="../media/image76.wmf"/><Relationship Id="rId4" Type="http://schemas.openxmlformats.org/officeDocument/2006/relationships/image" Target="../media/image79.png"/><Relationship Id="rId9" Type="http://schemas.openxmlformats.org/officeDocument/2006/relationships/oleObject" Target="../embeddings/oleObject55.bin"/><Relationship Id="rId14" Type="http://schemas.openxmlformats.org/officeDocument/2006/relationships/oleObject" Target="../embeddings/oleObject57.bin"/><Relationship Id="rId22" Type="http://schemas.openxmlformats.org/officeDocument/2006/relationships/oleObject" Target="../embeddings/oleObject61.bin"/></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83.w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84.wmf"/><Relationship Id="rId4" Type="http://schemas.openxmlformats.org/officeDocument/2006/relationships/oleObject" Target="../embeddings/oleObject6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notesSlide" Target="../notesSlides/notesSlide14.xml"/><Relationship Id="rId7" Type="http://schemas.openxmlformats.org/officeDocument/2006/relationships/oleObject" Target="../embeddings/oleObject64.bin"/><Relationship Id="rId12" Type="http://schemas.openxmlformats.org/officeDocument/2006/relationships/image" Target="../media/image87.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90.png"/><Relationship Id="rId11" Type="http://schemas.openxmlformats.org/officeDocument/2006/relationships/oleObject" Target="../embeddings/oleObject66.bin"/><Relationship Id="rId5" Type="http://schemas.openxmlformats.org/officeDocument/2006/relationships/image" Target="../media/image89.png"/><Relationship Id="rId10" Type="http://schemas.openxmlformats.org/officeDocument/2006/relationships/image" Target="../media/image86.wmf"/><Relationship Id="rId4" Type="http://schemas.openxmlformats.org/officeDocument/2006/relationships/image" Target="../media/image88.png"/><Relationship Id="rId9" Type="http://schemas.openxmlformats.org/officeDocument/2006/relationships/oleObject" Target="../embeddings/oleObject65.bin"/></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notesSlide" Target="../notesSlides/notesSlide15.xml"/><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98.png"/><Relationship Id="rId5" Type="http://schemas.openxmlformats.org/officeDocument/2006/relationships/image" Target="../media/image97.png"/><Relationship Id="rId10" Type="http://schemas.openxmlformats.org/officeDocument/2006/relationships/image" Target="../media/image96.wmf"/><Relationship Id="rId4" Type="http://schemas.openxmlformats.org/officeDocument/2006/relationships/image" Target="../media/image94.png"/><Relationship Id="rId9" Type="http://schemas.openxmlformats.org/officeDocument/2006/relationships/oleObject" Target="../embeddings/oleObject68.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99.wmf"/></Relationships>
</file>

<file path=ppt/slides/_rels/slide3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00.png"/><Relationship Id="rId5" Type="http://schemas.openxmlformats.org/officeDocument/2006/relationships/oleObject" Target="../embeddings/oleObject70.bin"/><Relationship Id="rId4" Type="http://schemas.openxmlformats.org/officeDocument/2006/relationships/image" Target="../media/image102.png"/></Relationships>
</file>

<file path=ppt/slides/_rels/slide3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notesSlide" Target="../notesSlides/notesSlide17.xml"/><Relationship Id="rId7" Type="http://schemas.openxmlformats.org/officeDocument/2006/relationships/image" Target="../media/image105.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72.bin"/><Relationship Id="rId5" Type="http://schemas.openxmlformats.org/officeDocument/2006/relationships/image" Target="../media/image104.wmf"/><Relationship Id="rId4" Type="http://schemas.openxmlformats.org/officeDocument/2006/relationships/oleObject" Target="../embeddings/oleObject71.bin"/><Relationship Id="rId9" Type="http://schemas.openxmlformats.org/officeDocument/2006/relationships/oleObject" Target="../embeddings/oleObject74.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110.wmf"/><Relationship Id="rId18" Type="http://schemas.openxmlformats.org/officeDocument/2006/relationships/oleObject" Target="../embeddings/oleObject82.bin"/><Relationship Id="rId3" Type="http://schemas.openxmlformats.org/officeDocument/2006/relationships/notesSlide" Target="../notesSlides/notesSlide18.xml"/><Relationship Id="rId7" Type="http://schemas.openxmlformats.org/officeDocument/2006/relationships/image" Target="../media/image107.wmf"/><Relationship Id="rId12" Type="http://schemas.openxmlformats.org/officeDocument/2006/relationships/oleObject" Target="../embeddings/oleObject79.bin"/><Relationship Id="rId17" Type="http://schemas.openxmlformats.org/officeDocument/2006/relationships/image" Target="../media/image112.wmf"/><Relationship Id="rId2" Type="http://schemas.openxmlformats.org/officeDocument/2006/relationships/slideLayout" Target="../slideLayouts/slideLayout12.xml"/><Relationship Id="rId16" Type="http://schemas.openxmlformats.org/officeDocument/2006/relationships/oleObject" Target="../embeddings/oleObject81.bin"/><Relationship Id="rId1" Type="http://schemas.openxmlformats.org/officeDocument/2006/relationships/vmlDrawing" Target="../drawings/vmlDrawing23.vml"/><Relationship Id="rId6" Type="http://schemas.openxmlformats.org/officeDocument/2006/relationships/oleObject" Target="../embeddings/oleObject76.bin"/><Relationship Id="rId11" Type="http://schemas.openxmlformats.org/officeDocument/2006/relationships/image" Target="../media/image109.wmf"/><Relationship Id="rId5" Type="http://schemas.openxmlformats.org/officeDocument/2006/relationships/image" Target="../media/image106.wmf"/><Relationship Id="rId15" Type="http://schemas.openxmlformats.org/officeDocument/2006/relationships/image" Target="../media/image111.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108.wmf"/><Relationship Id="rId14" Type="http://schemas.openxmlformats.org/officeDocument/2006/relationships/oleObject" Target="../embeddings/oleObject80.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14.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84.bin"/><Relationship Id="rId5" Type="http://schemas.openxmlformats.org/officeDocument/2006/relationships/image" Target="../media/image113.wmf"/><Relationship Id="rId4" Type="http://schemas.openxmlformats.org/officeDocument/2006/relationships/oleObject" Target="../embeddings/oleObject83.bin"/></Relationships>
</file>

<file path=ppt/slides/_rels/slide4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03.png"/><Relationship Id="rId7" Type="http://schemas.openxmlformats.org/officeDocument/2006/relationships/image" Target="../media/image117.wmf"/><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oleObject" Target="../embeddings/oleObject86.bin"/><Relationship Id="rId5" Type="http://schemas.openxmlformats.org/officeDocument/2006/relationships/image" Target="../media/image116.wmf"/><Relationship Id="rId4" Type="http://schemas.openxmlformats.org/officeDocument/2006/relationships/oleObject" Target="../embeddings/oleObject85.bin"/></Relationships>
</file>

<file path=ppt/slides/_rels/slide44.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image" Target="../media/image123.wmf"/><Relationship Id="rId3" Type="http://schemas.openxmlformats.org/officeDocument/2006/relationships/oleObject" Target="../embeddings/oleObject87.bin"/><Relationship Id="rId7" Type="http://schemas.openxmlformats.org/officeDocument/2006/relationships/oleObject" Target="../embeddings/oleObject89.bin"/><Relationship Id="rId12" Type="http://schemas.openxmlformats.org/officeDocument/2006/relationships/oleObject" Target="../embeddings/oleObject91.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image" Target="../media/image120.wmf"/><Relationship Id="rId11" Type="http://schemas.openxmlformats.org/officeDocument/2006/relationships/image" Target="../media/image124.png"/><Relationship Id="rId5" Type="http://schemas.openxmlformats.org/officeDocument/2006/relationships/oleObject" Target="../embeddings/oleObject88.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90.bin"/></Relationships>
</file>

<file path=ppt/slides/_rels/slide45.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97.bin"/><Relationship Id="rId18" Type="http://schemas.openxmlformats.org/officeDocument/2006/relationships/oleObject" Target="../embeddings/oleObject99.bin"/><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129.wmf"/><Relationship Id="rId17" Type="http://schemas.openxmlformats.org/officeDocument/2006/relationships/image" Target="../media/image131.wmf"/><Relationship Id="rId2" Type="http://schemas.openxmlformats.org/officeDocument/2006/relationships/slideLayout" Target="../slideLayouts/slideLayout14.xml"/><Relationship Id="rId16" Type="http://schemas.openxmlformats.org/officeDocument/2006/relationships/oleObject" Target="../embeddings/oleObject98.bin"/><Relationship Id="rId20" Type="http://schemas.openxmlformats.org/officeDocument/2006/relationships/image" Target="../media/image103.png"/><Relationship Id="rId1" Type="http://schemas.openxmlformats.org/officeDocument/2006/relationships/vmlDrawing" Target="../drawings/vmlDrawing27.vml"/><Relationship Id="rId6" Type="http://schemas.openxmlformats.org/officeDocument/2006/relationships/image" Target="../media/image126.w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image" Target="../media/image133.png"/><Relationship Id="rId10" Type="http://schemas.openxmlformats.org/officeDocument/2006/relationships/image" Target="../media/image128.wmf"/><Relationship Id="rId19" Type="http://schemas.openxmlformats.org/officeDocument/2006/relationships/image" Target="../media/image132.wmf"/><Relationship Id="rId4" Type="http://schemas.openxmlformats.org/officeDocument/2006/relationships/image" Target="../media/image125.wmf"/><Relationship Id="rId9" Type="http://schemas.openxmlformats.org/officeDocument/2006/relationships/oleObject" Target="../embeddings/oleObject95.bin"/><Relationship Id="rId14" Type="http://schemas.openxmlformats.org/officeDocument/2006/relationships/image" Target="../media/image130.wmf"/></Relationships>
</file>

<file path=ppt/slides/_rels/slide4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36.png"/><Relationship Id="rId3" Type="http://schemas.openxmlformats.org/officeDocument/2006/relationships/notesSlide" Target="../notesSlides/notesSlide20.xml"/><Relationship Id="rId7" Type="http://schemas.openxmlformats.org/officeDocument/2006/relationships/oleObject" Target="../embeddings/oleObject101.bin"/><Relationship Id="rId12" Type="http://schemas.openxmlformats.org/officeDocument/2006/relationships/image" Target="../media/image140.wmf"/><Relationship Id="rId2" Type="http://schemas.openxmlformats.org/officeDocument/2006/relationships/slideLayout" Target="../slideLayouts/slideLayout13.xml"/><Relationship Id="rId1" Type="http://schemas.openxmlformats.org/officeDocument/2006/relationships/vmlDrawing" Target="../drawings/vmlDrawing28.vml"/><Relationship Id="rId6" Type="http://schemas.openxmlformats.org/officeDocument/2006/relationships/image" Target="../media/image137.wmf"/><Relationship Id="rId11" Type="http://schemas.openxmlformats.org/officeDocument/2006/relationships/oleObject" Target="../embeddings/oleObject103.bin"/><Relationship Id="rId5" Type="http://schemas.openxmlformats.org/officeDocument/2006/relationships/oleObject" Target="../embeddings/oleObject100.bin"/><Relationship Id="rId10" Type="http://schemas.openxmlformats.org/officeDocument/2006/relationships/image" Target="../media/image139.wmf"/><Relationship Id="rId4" Type="http://schemas.openxmlformats.org/officeDocument/2006/relationships/image" Target="../media/image141.png"/><Relationship Id="rId9" Type="http://schemas.openxmlformats.org/officeDocument/2006/relationships/oleObject" Target="../embeddings/oleObject102.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46.wmf"/><Relationship Id="rId3" Type="http://schemas.openxmlformats.org/officeDocument/2006/relationships/notesSlide" Target="../notesSlides/notesSlide21.xml"/><Relationship Id="rId7" Type="http://schemas.openxmlformats.org/officeDocument/2006/relationships/image" Target="../media/image143.wmf"/><Relationship Id="rId12" Type="http://schemas.openxmlformats.org/officeDocument/2006/relationships/oleObject" Target="../embeddings/oleObject108.bin"/><Relationship Id="rId2" Type="http://schemas.openxmlformats.org/officeDocument/2006/relationships/slideLayout" Target="../slideLayouts/slideLayout13.xml"/><Relationship Id="rId1" Type="http://schemas.openxmlformats.org/officeDocument/2006/relationships/vmlDrawing" Target="../drawings/vmlDrawing29.vml"/><Relationship Id="rId6" Type="http://schemas.openxmlformats.org/officeDocument/2006/relationships/oleObject" Target="../embeddings/oleObject105.bin"/><Relationship Id="rId11" Type="http://schemas.openxmlformats.org/officeDocument/2006/relationships/image" Target="../media/image145.wmf"/><Relationship Id="rId5" Type="http://schemas.openxmlformats.org/officeDocument/2006/relationships/image" Target="../media/image142.w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44.wmf"/><Relationship Id="rId14" Type="http://schemas.openxmlformats.org/officeDocument/2006/relationships/image" Target="../media/image141.png"/></Relationships>
</file>

<file path=ppt/slides/_rels/slide50.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13.bin"/><Relationship Id="rId18" Type="http://schemas.openxmlformats.org/officeDocument/2006/relationships/image" Target="../media/image153.wmf"/><Relationship Id="rId3" Type="http://schemas.openxmlformats.org/officeDocument/2006/relationships/image" Target="../media/image154.png"/><Relationship Id="rId7" Type="http://schemas.openxmlformats.org/officeDocument/2006/relationships/oleObject" Target="../embeddings/oleObject110.bin"/><Relationship Id="rId12" Type="http://schemas.openxmlformats.org/officeDocument/2006/relationships/image" Target="../media/image150.wmf"/><Relationship Id="rId17" Type="http://schemas.openxmlformats.org/officeDocument/2006/relationships/oleObject" Target="../embeddings/oleObject115.bin"/><Relationship Id="rId2" Type="http://schemas.openxmlformats.org/officeDocument/2006/relationships/slideLayout" Target="../slideLayouts/slideLayout13.xml"/><Relationship Id="rId16" Type="http://schemas.openxmlformats.org/officeDocument/2006/relationships/image" Target="../media/image152.wmf"/><Relationship Id="rId1" Type="http://schemas.openxmlformats.org/officeDocument/2006/relationships/vmlDrawing" Target="../drawings/vmlDrawing30.vml"/><Relationship Id="rId6" Type="http://schemas.openxmlformats.org/officeDocument/2006/relationships/image" Target="../media/image147.wmf"/><Relationship Id="rId11" Type="http://schemas.openxmlformats.org/officeDocument/2006/relationships/oleObject" Target="../embeddings/oleObject112.bin"/><Relationship Id="rId5" Type="http://schemas.openxmlformats.org/officeDocument/2006/relationships/oleObject" Target="../embeddings/oleObject109.bin"/><Relationship Id="rId15" Type="http://schemas.openxmlformats.org/officeDocument/2006/relationships/oleObject" Target="../embeddings/oleObject114.bin"/><Relationship Id="rId10" Type="http://schemas.openxmlformats.org/officeDocument/2006/relationships/image" Target="../media/image149.wmf"/><Relationship Id="rId4" Type="http://schemas.openxmlformats.org/officeDocument/2006/relationships/image" Target="../media/image155.png"/><Relationship Id="rId9" Type="http://schemas.openxmlformats.org/officeDocument/2006/relationships/oleObject" Target="../embeddings/oleObject111.bin"/><Relationship Id="rId14" Type="http://schemas.openxmlformats.org/officeDocument/2006/relationships/image" Target="../media/image151.wmf"/></Relationships>
</file>

<file path=ppt/slides/_rels/slide5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notesSlide" Target="../notesSlides/notesSlide22.xml"/><Relationship Id="rId7" Type="http://schemas.openxmlformats.org/officeDocument/2006/relationships/oleObject" Target="../embeddings/oleObject117.bin"/><Relationship Id="rId12" Type="http://schemas.openxmlformats.org/officeDocument/2006/relationships/image" Target="../media/image161.wmf"/><Relationship Id="rId2" Type="http://schemas.openxmlformats.org/officeDocument/2006/relationships/slideLayout" Target="../slideLayouts/slideLayout13.xml"/><Relationship Id="rId1" Type="http://schemas.openxmlformats.org/officeDocument/2006/relationships/vmlDrawing" Target="../drawings/vmlDrawing31.vml"/><Relationship Id="rId6" Type="http://schemas.openxmlformats.org/officeDocument/2006/relationships/image" Target="../media/image158.wmf"/><Relationship Id="rId11" Type="http://schemas.openxmlformats.org/officeDocument/2006/relationships/oleObject" Target="../embeddings/oleObject119.bin"/><Relationship Id="rId5" Type="http://schemas.openxmlformats.org/officeDocument/2006/relationships/oleObject" Target="../embeddings/oleObject116.bin"/><Relationship Id="rId10" Type="http://schemas.openxmlformats.org/officeDocument/2006/relationships/image" Target="../media/image160.wmf"/><Relationship Id="rId4" Type="http://schemas.openxmlformats.org/officeDocument/2006/relationships/image" Target="../media/image162.png"/><Relationship Id="rId9" Type="http://schemas.openxmlformats.org/officeDocument/2006/relationships/oleObject" Target="../embeddings/oleObject118.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notesSlide" Target="../notesSlides/notesSlide23.xml"/><Relationship Id="rId7" Type="http://schemas.openxmlformats.org/officeDocument/2006/relationships/image" Target="../media/image164.wmf"/><Relationship Id="rId2" Type="http://schemas.openxmlformats.org/officeDocument/2006/relationships/slideLayout" Target="../slideLayouts/slideLayout13.xml"/><Relationship Id="rId1" Type="http://schemas.openxmlformats.org/officeDocument/2006/relationships/vmlDrawing" Target="../drawings/vmlDrawing32.vml"/><Relationship Id="rId6" Type="http://schemas.openxmlformats.org/officeDocument/2006/relationships/oleObject" Target="../embeddings/oleObject121.bin"/><Relationship Id="rId5" Type="http://schemas.openxmlformats.org/officeDocument/2006/relationships/image" Target="../media/image163.wmf"/><Relationship Id="rId4" Type="http://schemas.openxmlformats.org/officeDocument/2006/relationships/oleObject" Target="../embeddings/oleObject120.bin"/><Relationship Id="rId9" Type="http://schemas.openxmlformats.org/officeDocument/2006/relationships/image" Target="../media/image165.wmf"/></Relationships>
</file>

<file path=ppt/slides/_rels/slide5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oleObject" Target="../embeddings/oleObject123.bin"/><Relationship Id="rId7" Type="http://schemas.openxmlformats.org/officeDocument/2006/relationships/image" Target="../media/image169.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124.bin"/><Relationship Id="rId5" Type="http://schemas.openxmlformats.org/officeDocument/2006/relationships/image" Target="../media/image170.png"/><Relationship Id="rId4" Type="http://schemas.openxmlformats.org/officeDocument/2006/relationships/image" Target="../media/image168.wmf"/><Relationship Id="rId9" Type="http://schemas.openxmlformats.org/officeDocument/2006/relationships/image" Target="../media/image172.png"/></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26.bin"/><Relationship Id="rId7" Type="http://schemas.openxmlformats.org/officeDocument/2006/relationships/image" Target="../media/image178.png"/><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77.wmf"/><Relationship Id="rId5" Type="http://schemas.openxmlformats.org/officeDocument/2006/relationships/oleObject" Target="../embeddings/oleObject127.bin"/><Relationship Id="rId4" Type="http://schemas.openxmlformats.org/officeDocument/2006/relationships/image" Target="../media/image176.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30.bin"/><Relationship Id="rId3" Type="http://schemas.openxmlformats.org/officeDocument/2006/relationships/notesSlide" Target="../notesSlides/notesSlide24.xml"/><Relationship Id="rId7" Type="http://schemas.openxmlformats.org/officeDocument/2006/relationships/image" Target="../media/image180.wmf"/><Relationship Id="rId12" Type="http://schemas.openxmlformats.org/officeDocument/2006/relationships/image" Target="../media/image183.png"/><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129.bin"/><Relationship Id="rId11" Type="http://schemas.openxmlformats.org/officeDocument/2006/relationships/image" Target="../media/image182.wmf"/><Relationship Id="rId5" Type="http://schemas.openxmlformats.org/officeDocument/2006/relationships/image" Target="../media/image179.w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81.wmf"/></Relationships>
</file>

<file path=ppt/slides/_rels/slide59.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186.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image" Target="../media/image191.wmf"/><Relationship Id="rId18" Type="http://schemas.openxmlformats.org/officeDocument/2006/relationships/image" Target="../media/image195.png"/><Relationship Id="rId3" Type="http://schemas.openxmlformats.org/officeDocument/2006/relationships/notesSlide" Target="../notesSlides/notesSlide25.xml"/><Relationship Id="rId7" Type="http://schemas.openxmlformats.org/officeDocument/2006/relationships/image" Target="../media/image188.wmf"/><Relationship Id="rId12" Type="http://schemas.openxmlformats.org/officeDocument/2006/relationships/oleObject" Target="../embeddings/oleObject136.bin"/><Relationship Id="rId17" Type="http://schemas.openxmlformats.org/officeDocument/2006/relationships/image" Target="../media/image194.png"/><Relationship Id="rId2" Type="http://schemas.openxmlformats.org/officeDocument/2006/relationships/slideLayout" Target="../slideLayouts/slideLayout14.xml"/><Relationship Id="rId16" Type="http://schemas.openxmlformats.org/officeDocument/2006/relationships/image" Target="../media/image193.png"/><Relationship Id="rId1" Type="http://schemas.openxmlformats.org/officeDocument/2006/relationships/vmlDrawing" Target="../drawings/vmlDrawing37.vml"/><Relationship Id="rId6" Type="http://schemas.openxmlformats.org/officeDocument/2006/relationships/oleObject" Target="../embeddings/oleObject133.bin"/><Relationship Id="rId11" Type="http://schemas.openxmlformats.org/officeDocument/2006/relationships/image" Target="../media/image190.wmf"/><Relationship Id="rId5" Type="http://schemas.openxmlformats.org/officeDocument/2006/relationships/image" Target="../media/image187.wmf"/><Relationship Id="rId15" Type="http://schemas.openxmlformats.org/officeDocument/2006/relationships/image" Target="../media/image192.wmf"/><Relationship Id="rId10" Type="http://schemas.openxmlformats.org/officeDocument/2006/relationships/oleObject" Target="../embeddings/oleObject135.bin"/><Relationship Id="rId4" Type="http://schemas.openxmlformats.org/officeDocument/2006/relationships/oleObject" Target="../embeddings/oleObject132.bin"/><Relationship Id="rId9" Type="http://schemas.openxmlformats.org/officeDocument/2006/relationships/image" Target="../media/image189.wmf"/><Relationship Id="rId14" Type="http://schemas.openxmlformats.org/officeDocument/2006/relationships/oleObject" Target="../embeddings/oleObject137.bin"/></Relationships>
</file>

<file path=ppt/slides/_rels/slide61.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6.png"/><Relationship Id="rId1" Type="http://schemas.openxmlformats.org/officeDocument/2006/relationships/slideLayout" Target="../slideLayouts/slideLayout14.xml"/><Relationship Id="rId4" Type="http://schemas.openxmlformats.org/officeDocument/2006/relationships/image" Target="../media/image198.png"/></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notesSlide" Target="../notesSlides/notesSlide26.xml"/><Relationship Id="rId7" Type="http://schemas.openxmlformats.org/officeDocument/2006/relationships/image" Target="../media/image199.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138.bin"/><Relationship Id="rId11" Type="http://schemas.openxmlformats.org/officeDocument/2006/relationships/image" Target="../media/image201.wmf"/><Relationship Id="rId5" Type="http://schemas.openxmlformats.org/officeDocument/2006/relationships/image" Target="../media/image203.png"/><Relationship Id="rId10" Type="http://schemas.openxmlformats.org/officeDocument/2006/relationships/oleObject" Target="../embeddings/oleObject140.bin"/><Relationship Id="rId4" Type="http://schemas.openxmlformats.org/officeDocument/2006/relationships/image" Target="../media/image202.png"/><Relationship Id="rId9" Type="http://schemas.openxmlformats.org/officeDocument/2006/relationships/image" Target="../media/image200.wmf"/></Relationships>
</file>

<file path=ppt/slides/_rels/slide63.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206.png"/><Relationship Id="rId5" Type="http://schemas.openxmlformats.org/officeDocument/2006/relationships/image" Target="../media/image205.wmf"/><Relationship Id="rId4" Type="http://schemas.openxmlformats.org/officeDocument/2006/relationships/oleObject" Target="../embeddings/oleObject141.bin"/></Relationships>
</file>

<file path=ppt/slides/_rels/slide65.xml.rels><?xml version="1.0" encoding="UTF-8" standalone="yes"?>
<Relationships xmlns="http://schemas.openxmlformats.org/package/2006/relationships"><Relationship Id="rId8" Type="http://schemas.openxmlformats.org/officeDocument/2006/relationships/image" Target="../media/image209.wmf"/><Relationship Id="rId13" Type="http://schemas.openxmlformats.org/officeDocument/2006/relationships/image" Target="../media/image212.png"/><Relationship Id="rId3" Type="http://schemas.openxmlformats.org/officeDocument/2006/relationships/oleObject" Target="../embeddings/oleObject142.bin"/><Relationship Id="rId7" Type="http://schemas.openxmlformats.org/officeDocument/2006/relationships/oleObject" Target="../embeddings/oleObject144.bin"/><Relationship Id="rId12" Type="http://schemas.openxmlformats.org/officeDocument/2006/relationships/image" Target="../media/image211.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208.wmf"/><Relationship Id="rId11" Type="http://schemas.openxmlformats.org/officeDocument/2006/relationships/oleObject" Target="../embeddings/oleObject146.bin"/><Relationship Id="rId5" Type="http://schemas.openxmlformats.org/officeDocument/2006/relationships/oleObject" Target="../embeddings/oleObject143.bin"/><Relationship Id="rId10" Type="http://schemas.openxmlformats.org/officeDocument/2006/relationships/image" Target="../media/image210.wmf"/><Relationship Id="rId4" Type="http://schemas.openxmlformats.org/officeDocument/2006/relationships/image" Target="../media/image207.wmf"/><Relationship Id="rId9" Type="http://schemas.openxmlformats.org/officeDocument/2006/relationships/oleObject" Target="../embeddings/oleObject145.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13.wmf"/><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147.bin"/><Relationship Id="rId5" Type="http://schemas.openxmlformats.org/officeDocument/2006/relationships/image" Target="../media/image215.png"/><Relationship Id="rId4" Type="http://schemas.openxmlformats.org/officeDocument/2006/relationships/image" Target="../media/image214.png"/></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48.bin"/><Relationship Id="rId7" Type="http://schemas.openxmlformats.org/officeDocument/2006/relationships/image" Target="../media/image219.png"/><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wmf"/></Relationships>
</file>

<file path=ppt/slides/_rels/slide6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7.png"/><Relationship Id="rId1" Type="http://schemas.openxmlformats.org/officeDocument/2006/relationships/slideLayout" Target="../slideLayouts/slideLayout2.xml"/><Relationship Id="rId5" Type="http://schemas.openxmlformats.org/officeDocument/2006/relationships/image" Target="../media/image218.png"/><Relationship Id="rId4" Type="http://schemas.openxmlformats.org/officeDocument/2006/relationships/image" Target="../media/image221.png"/></Relationships>
</file>

<file path=ppt/slides/_rels/slide69.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17.png"/><Relationship Id="rId3" Type="http://schemas.openxmlformats.org/officeDocument/2006/relationships/notesSlide" Target="../notesSlides/notesSlide28.xml"/><Relationship Id="rId7" Type="http://schemas.openxmlformats.org/officeDocument/2006/relationships/image" Target="../media/image221.png"/><Relationship Id="rId12" Type="http://schemas.openxmlformats.org/officeDocument/2006/relationships/image" Target="../media/image224.wmf"/><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220.png"/><Relationship Id="rId11" Type="http://schemas.openxmlformats.org/officeDocument/2006/relationships/oleObject" Target="../embeddings/oleObject151.bin"/><Relationship Id="rId5" Type="http://schemas.openxmlformats.org/officeDocument/2006/relationships/image" Target="../media/image222.wmf"/><Relationship Id="rId10" Type="http://schemas.openxmlformats.org/officeDocument/2006/relationships/image" Target="../media/image223.wmf"/><Relationship Id="rId4" Type="http://schemas.openxmlformats.org/officeDocument/2006/relationships/oleObject" Target="../embeddings/oleObject149.bin"/><Relationship Id="rId9" Type="http://schemas.openxmlformats.org/officeDocument/2006/relationships/oleObject" Target="../embeddings/oleObject150.bin"/></Relationships>
</file>

<file path=ppt/slides/_rels/slide71.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oleObject" Target="../embeddings/oleObject152.bin"/><Relationship Id="rId7" Type="http://schemas.openxmlformats.org/officeDocument/2006/relationships/image" Target="../media/image220.png"/><Relationship Id="rId12" Type="http://schemas.openxmlformats.org/officeDocument/2006/relationships/image" Target="../media/image227.wmf"/><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218.png"/><Relationship Id="rId11" Type="http://schemas.openxmlformats.org/officeDocument/2006/relationships/oleObject" Target="../embeddings/oleObject154.bin"/><Relationship Id="rId5" Type="http://schemas.openxmlformats.org/officeDocument/2006/relationships/image" Target="../media/image217.png"/><Relationship Id="rId10" Type="http://schemas.openxmlformats.org/officeDocument/2006/relationships/image" Target="../media/image226.wmf"/><Relationship Id="rId4" Type="http://schemas.openxmlformats.org/officeDocument/2006/relationships/image" Target="../media/image225.wmf"/><Relationship Id="rId9" Type="http://schemas.openxmlformats.org/officeDocument/2006/relationships/oleObject" Target="../embeddings/oleObject153.bin"/></Relationships>
</file>

<file path=ppt/slides/_rels/slide72.xml.rels><?xml version="1.0" encoding="UTF-8" standalone="yes"?>
<Relationships xmlns="http://schemas.openxmlformats.org/package/2006/relationships"><Relationship Id="rId8" Type="http://schemas.openxmlformats.org/officeDocument/2006/relationships/image" Target="../media/image228.wmf"/><Relationship Id="rId3" Type="http://schemas.openxmlformats.org/officeDocument/2006/relationships/image" Target="../media/image217.png"/><Relationship Id="rId7" Type="http://schemas.openxmlformats.org/officeDocument/2006/relationships/oleObject" Target="../embeddings/oleObject155.bin"/><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8.png"/></Relationships>
</file>

<file path=ppt/slides/_rels/slide73.xml.rels><?xml version="1.0" encoding="UTF-8" standalone="yes"?>
<Relationships xmlns="http://schemas.openxmlformats.org/package/2006/relationships"><Relationship Id="rId8" Type="http://schemas.openxmlformats.org/officeDocument/2006/relationships/image" Target="../media/image231.wmf"/><Relationship Id="rId13" Type="http://schemas.openxmlformats.org/officeDocument/2006/relationships/oleObject" Target="../embeddings/oleObject161.bin"/><Relationship Id="rId18" Type="http://schemas.openxmlformats.org/officeDocument/2006/relationships/image" Target="../media/image221.png"/><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233.wmf"/><Relationship Id="rId17" Type="http://schemas.openxmlformats.org/officeDocument/2006/relationships/image" Target="../media/image220.png"/><Relationship Id="rId2" Type="http://schemas.openxmlformats.org/officeDocument/2006/relationships/slideLayout" Target="../slideLayouts/slideLayout2.xml"/><Relationship Id="rId16" Type="http://schemas.openxmlformats.org/officeDocument/2006/relationships/image" Target="../media/image218.png"/><Relationship Id="rId1" Type="http://schemas.openxmlformats.org/officeDocument/2006/relationships/vmlDrawing" Target="../drawings/vmlDrawing46.vml"/><Relationship Id="rId6" Type="http://schemas.openxmlformats.org/officeDocument/2006/relationships/image" Target="../media/image230.wmf"/><Relationship Id="rId11" Type="http://schemas.openxmlformats.org/officeDocument/2006/relationships/oleObject" Target="../embeddings/oleObject160.bin"/><Relationship Id="rId5" Type="http://schemas.openxmlformats.org/officeDocument/2006/relationships/oleObject" Target="../embeddings/oleObject157.bin"/><Relationship Id="rId15" Type="http://schemas.openxmlformats.org/officeDocument/2006/relationships/image" Target="../media/image217.png"/><Relationship Id="rId10" Type="http://schemas.openxmlformats.org/officeDocument/2006/relationships/image" Target="../media/image232.wmf"/><Relationship Id="rId19" Type="http://schemas.openxmlformats.org/officeDocument/2006/relationships/image" Target="../media/image235.png"/><Relationship Id="rId4" Type="http://schemas.openxmlformats.org/officeDocument/2006/relationships/image" Target="../media/image229.wmf"/><Relationship Id="rId9" Type="http://schemas.openxmlformats.org/officeDocument/2006/relationships/oleObject" Target="../embeddings/oleObject159.bin"/><Relationship Id="rId14" Type="http://schemas.openxmlformats.org/officeDocument/2006/relationships/image" Target="../media/image234.wmf"/></Relationships>
</file>

<file path=ppt/slides/_rels/slide74.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oleObject" Target="../embeddings/oleObject164.bin"/><Relationship Id="rId3" Type="http://schemas.openxmlformats.org/officeDocument/2006/relationships/notesSlide" Target="../notesSlides/notesSlide29.xml"/><Relationship Id="rId7" Type="http://schemas.openxmlformats.org/officeDocument/2006/relationships/image" Target="../media/image240.wmf"/><Relationship Id="rId12" Type="http://schemas.openxmlformats.org/officeDocument/2006/relationships/image" Target="../media/image246.png"/><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oleObject" Target="../embeddings/oleObject163.bin"/><Relationship Id="rId11" Type="http://schemas.openxmlformats.org/officeDocument/2006/relationships/image" Target="../media/image245.png"/><Relationship Id="rId5" Type="http://schemas.openxmlformats.org/officeDocument/2006/relationships/image" Target="../media/image239.wmf"/><Relationship Id="rId10" Type="http://schemas.openxmlformats.org/officeDocument/2006/relationships/image" Target="../media/image244.png"/><Relationship Id="rId4" Type="http://schemas.openxmlformats.org/officeDocument/2006/relationships/oleObject" Target="../embeddings/oleObject162.bin"/><Relationship Id="rId9" Type="http://schemas.openxmlformats.org/officeDocument/2006/relationships/image" Target="../media/image243.png"/><Relationship Id="rId14" Type="http://schemas.openxmlformats.org/officeDocument/2006/relationships/image" Target="../media/image241.wmf"/></Relationships>
</file>

<file path=ppt/slides/_rels/slide78.xml.rels><?xml version="1.0" encoding="UTF-8" standalone="yes"?>
<Relationships xmlns="http://schemas.openxmlformats.org/package/2006/relationships"><Relationship Id="rId8" Type="http://schemas.openxmlformats.org/officeDocument/2006/relationships/image" Target="../media/image245.png"/><Relationship Id="rId3" Type="http://schemas.openxmlformats.org/officeDocument/2006/relationships/oleObject" Target="../embeddings/oleObject165.bin"/><Relationship Id="rId7" Type="http://schemas.openxmlformats.org/officeDocument/2006/relationships/image" Target="../media/image244.png"/><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7.wmf"/><Relationship Id="rId9" Type="http://schemas.openxmlformats.org/officeDocument/2006/relationships/image" Target="../media/image246.png"/></Relationships>
</file>

<file path=ppt/slides/_rels/slide79.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44.png"/><Relationship Id="rId7" Type="http://schemas.openxmlformats.org/officeDocument/2006/relationships/image" Target="../media/image249.wmf"/><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oleObject" Target="../embeddings/oleObject166.bin"/><Relationship Id="rId5" Type="http://schemas.openxmlformats.org/officeDocument/2006/relationships/image" Target="../media/image242.png"/><Relationship Id="rId4" Type="http://schemas.openxmlformats.org/officeDocument/2006/relationships/image" Target="../media/image243.png"/></Relationships>
</file>

<file path=ppt/slides/_rels/slide81.xml.rels><?xml version="1.0" encoding="UTF-8" standalone="yes"?>
<Relationships xmlns="http://schemas.openxmlformats.org/package/2006/relationships"><Relationship Id="rId8" Type="http://schemas.openxmlformats.org/officeDocument/2006/relationships/image" Target="../media/image252.wmf"/><Relationship Id="rId13" Type="http://schemas.openxmlformats.org/officeDocument/2006/relationships/image" Target="../media/image244.png"/><Relationship Id="rId3" Type="http://schemas.openxmlformats.org/officeDocument/2006/relationships/oleObject" Target="../embeddings/oleObject167.bin"/><Relationship Id="rId7" Type="http://schemas.openxmlformats.org/officeDocument/2006/relationships/oleObject" Target="../embeddings/oleObject169.bin"/><Relationship Id="rId12" Type="http://schemas.openxmlformats.org/officeDocument/2006/relationships/image" Target="../media/image245.png"/><Relationship Id="rId2" Type="http://schemas.openxmlformats.org/officeDocument/2006/relationships/slideLayout" Target="../slideLayouts/slideLayout2.xml"/><Relationship Id="rId16" Type="http://schemas.openxmlformats.org/officeDocument/2006/relationships/image" Target="../media/image254.png"/><Relationship Id="rId1" Type="http://schemas.openxmlformats.org/officeDocument/2006/relationships/vmlDrawing" Target="../drawings/vmlDrawing50.vml"/><Relationship Id="rId6" Type="http://schemas.openxmlformats.org/officeDocument/2006/relationships/image" Target="../media/image251.wmf"/><Relationship Id="rId11" Type="http://schemas.openxmlformats.org/officeDocument/2006/relationships/image" Target="../media/image246.png"/><Relationship Id="rId5" Type="http://schemas.openxmlformats.org/officeDocument/2006/relationships/oleObject" Target="../embeddings/oleObject168.bin"/><Relationship Id="rId15" Type="http://schemas.openxmlformats.org/officeDocument/2006/relationships/image" Target="../media/image242.png"/><Relationship Id="rId10" Type="http://schemas.openxmlformats.org/officeDocument/2006/relationships/image" Target="../media/image253.wmf"/><Relationship Id="rId4" Type="http://schemas.openxmlformats.org/officeDocument/2006/relationships/image" Target="../media/image250.wmf"/><Relationship Id="rId9" Type="http://schemas.openxmlformats.org/officeDocument/2006/relationships/oleObject" Target="../embeddings/oleObject170.bin"/><Relationship Id="rId14" Type="http://schemas.openxmlformats.org/officeDocument/2006/relationships/image" Target="../media/image243.png"/></Relationships>
</file>

<file path=ppt/slides/_rels/slide82.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258.wmf"/><Relationship Id="rId5" Type="http://schemas.openxmlformats.org/officeDocument/2006/relationships/oleObject" Target="../embeddings/oleObject172.bin"/><Relationship Id="rId4" Type="http://schemas.openxmlformats.org/officeDocument/2006/relationships/image" Target="../media/image257.wmf"/></Relationships>
</file>

<file path=ppt/slides/_rels/slide85.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60350"/>
            <a:ext cx="9467850" cy="1371600"/>
          </a:xfrm>
        </p:spPr>
        <p:txBody>
          <a:bodyPr/>
          <a:lstStyle/>
          <a:p>
            <a:pPr eaLnBrk="1" hangingPunct="1"/>
            <a:r>
              <a:rPr lang="zh-CN" altLang="en-US" sz="3600" b="1" dirty="0">
                <a:solidFill>
                  <a:schemeClr val="tx1"/>
                </a:solidFill>
                <a:latin typeface="Verdana" panose="020B0604030504040204" pitchFamily="34" charset="0"/>
                <a:ea typeface="黑体" panose="02010609060101010101" pitchFamily="49" charset="-122"/>
              </a:rPr>
              <a:t>    第四章</a:t>
            </a:r>
            <a:r>
              <a:rPr lang="en-US" altLang="zh-CN" sz="3600" b="1" dirty="0">
                <a:solidFill>
                  <a:schemeClr val="tx1"/>
                </a:solidFill>
                <a:latin typeface="Verdana" panose="020B0604030504040204" pitchFamily="34" charset="0"/>
                <a:ea typeface="黑体" panose="02010609060101010101" pitchFamily="49" charset="-122"/>
              </a:rPr>
              <a:t> </a:t>
            </a:r>
            <a:br>
              <a:rPr lang="en-US" altLang="zh-CN" sz="3600" b="1" dirty="0">
                <a:solidFill>
                  <a:schemeClr val="tx1"/>
                </a:solidFill>
                <a:latin typeface="Verdana" panose="020B0604030504040204" pitchFamily="34" charset="0"/>
                <a:ea typeface="黑体" panose="02010609060101010101" pitchFamily="49" charset="-122"/>
              </a:rPr>
            </a:br>
            <a:r>
              <a:rPr lang="en-US" altLang="zh-CN" sz="3600" b="1" dirty="0">
                <a:solidFill>
                  <a:schemeClr val="tx1"/>
                </a:solidFill>
                <a:latin typeface="Verdana" panose="020B0604030504040204" pitchFamily="34" charset="0"/>
                <a:ea typeface="黑体" panose="02010609060101010101" pitchFamily="49" charset="-122"/>
              </a:rPr>
              <a:t>                           </a:t>
            </a:r>
            <a:r>
              <a:rPr lang="zh-CN" altLang="en-US" sz="4800" b="1" dirty="0">
                <a:solidFill>
                  <a:schemeClr val="tx1"/>
                </a:solidFill>
                <a:latin typeface="Verdana" panose="020B0604030504040204" pitchFamily="34" charset="0"/>
                <a:ea typeface="黑体" panose="02010609060101010101" pitchFamily="49" charset="-122"/>
              </a:rPr>
              <a:t>电路定理</a:t>
            </a:r>
            <a:endParaRPr lang="en-US" altLang="zh-CN" sz="4800" b="1" dirty="0">
              <a:solidFill>
                <a:schemeClr val="tx1"/>
              </a:solidFill>
              <a:latin typeface="Verdana" panose="020B0604030504040204" pitchFamily="34" charset="0"/>
              <a:ea typeface="黑体" panose="02010609060101010101" pitchFamily="49" charset="-122"/>
            </a:endParaRPr>
          </a:p>
        </p:txBody>
      </p:sp>
      <p:sp>
        <p:nvSpPr>
          <p:cNvPr id="3075" name="Rectangle 3"/>
          <p:cNvSpPr>
            <a:spLocks noGrp="1" noChangeArrowheads="1"/>
          </p:cNvSpPr>
          <p:nvPr>
            <p:ph type="subTitle" idx="1"/>
          </p:nvPr>
        </p:nvSpPr>
        <p:spPr>
          <a:xfrm>
            <a:off x="4716463" y="4365625"/>
            <a:ext cx="3816350" cy="935038"/>
          </a:xfrm>
          <a:noFill/>
          <a:ln>
            <a:solidFill>
              <a:schemeClr val="tx1"/>
            </a:solidFill>
          </a:ln>
        </p:spPr>
        <p:txBody>
          <a:bodyPr/>
          <a:lstStyle/>
          <a:p>
            <a:pPr eaLnBrk="1" hangingPunct="1"/>
            <a:r>
              <a:rPr lang="en-US" altLang="zh-CN" sz="5400" b="1"/>
              <a:t>— </a:t>
            </a:r>
            <a:r>
              <a:rPr lang="zh-CN" altLang="en-US" sz="5400" b="1"/>
              <a:t>电路基础</a:t>
            </a:r>
          </a:p>
        </p:txBody>
      </p:sp>
      <p:sp>
        <p:nvSpPr>
          <p:cNvPr id="2" name="灯片编号占位符 1"/>
          <p:cNvSpPr>
            <a:spLocks noGrp="1"/>
          </p:cNvSpPr>
          <p:nvPr>
            <p:ph type="sldNum" sz="quarter" idx="12"/>
          </p:nvPr>
        </p:nvSpPr>
        <p:spPr/>
        <p:txBody>
          <a:bodyPr/>
          <a:lstStyle/>
          <a:p>
            <a:pPr>
              <a:defRPr/>
            </a:pPr>
            <a:fld id="{B90ADF71-9479-4A13-8B0D-716530A5C152}" type="slidenum">
              <a:rPr lang="en-US" altLang="zh-CN" smtClean="0">
                <a:solidFill>
                  <a:srgbClr val="000000"/>
                </a:solidFill>
              </a:rPr>
              <a:t>1</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2"/>
          <p:cNvSpPr>
            <a:spLocks noGrp="1"/>
          </p:cNvSpPr>
          <p:nvPr>
            <p:ph idx="1"/>
          </p:nvPr>
        </p:nvSpPr>
        <p:spPr>
          <a:xfrm>
            <a:off x="1116013" y="908050"/>
            <a:ext cx="7096125" cy="606425"/>
          </a:xfrm>
          <a:ln>
            <a:solidFill>
              <a:srgbClr val="FF0000"/>
            </a:solidFill>
          </a:ln>
        </p:spPr>
        <p:txBody>
          <a:bodyPr/>
          <a:lstStyle/>
          <a:p>
            <a:pPr eaLnBrk="1" hangingPunct="1">
              <a:buFont typeface="Wingdings" panose="05000000000000000000" pitchFamily="2" charset="2"/>
              <a:buNone/>
              <a:defRPr/>
            </a:pPr>
            <a:r>
              <a:rPr lang="en-US" altLang="zh-CN" sz="2800" dirty="0">
                <a:solidFill>
                  <a:schemeClr val="accent1">
                    <a:lumMod val="25000"/>
                  </a:schemeClr>
                </a:solidFill>
                <a:latin typeface="Arial Black" panose="020B0A04020102020204" pitchFamily="34" charset="0"/>
              </a:rPr>
              <a:t>Fundamentals of Electric Circuit</a:t>
            </a:r>
          </a:p>
          <a:p>
            <a:pPr eaLnBrk="1" hangingPunct="1">
              <a:buFont typeface="Wingdings" panose="05000000000000000000" pitchFamily="2" charset="2"/>
              <a:buNone/>
              <a:defRPr/>
            </a:pPr>
            <a:r>
              <a:rPr lang="en-US" altLang="zh-CN" dirty="0"/>
              <a:t>                          </a:t>
            </a:r>
            <a:endParaRPr lang="en-US" altLang="zh-CN" sz="2400" dirty="0">
              <a:latin typeface="Segoe Print" panose="02000600000000000000" pitchFamily="2" charset="0"/>
            </a:endParaRPr>
          </a:p>
        </p:txBody>
      </p:sp>
      <p:sp>
        <p:nvSpPr>
          <p:cNvPr id="2" name="TextBox 1"/>
          <p:cNvSpPr txBox="1"/>
          <p:nvPr/>
        </p:nvSpPr>
        <p:spPr>
          <a:xfrm>
            <a:off x="3563938" y="2582863"/>
            <a:ext cx="1108075" cy="1385887"/>
          </a:xfrm>
          <a:prstGeom prst="rect">
            <a:avLst/>
          </a:prstGeom>
          <a:noFill/>
          <a:ln>
            <a:solidFill>
              <a:srgbClr val="FF0000"/>
            </a:solidFill>
          </a:ln>
        </p:spPr>
        <p:txBody>
          <a:bodyPr>
            <a:spAutoFit/>
          </a:bodyPr>
          <a:lstStyle/>
          <a:p>
            <a:pPr eaLnBrk="1" hangingPunct="1">
              <a:defRPr/>
            </a:pPr>
            <a:r>
              <a:rPr lang="en-US" altLang="zh-CN" sz="2800" baseline="0" dirty="0">
                <a:solidFill>
                  <a:srgbClr val="002060"/>
                </a:solidFill>
                <a:latin typeface="Arial Black" panose="020B0A04020102020204" pitchFamily="34" charset="0"/>
                <a:ea typeface="+mn-ea"/>
              </a:rPr>
              <a:t>KCL</a:t>
            </a:r>
          </a:p>
          <a:p>
            <a:pPr eaLnBrk="1" hangingPunct="1">
              <a:defRPr/>
            </a:pPr>
            <a:r>
              <a:rPr lang="en-US" altLang="zh-CN" sz="2800" baseline="0" dirty="0">
                <a:solidFill>
                  <a:srgbClr val="002060"/>
                </a:solidFill>
                <a:latin typeface="Arial Black" panose="020B0A04020102020204" pitchFamily="34" charset="0"/>
                <a:ea typeface="+mn-ea"/>
              </a:rPr>
              <a:t>KVL</a:t>
            </a:r>
          </a:p>
          <a:p>
            <a:pPr eaLnBrk="1" hangingPunct="1">
              <a:defRPr/>
            </a:pPr>
            <a:r>
              <a:rPr lang="en-US" altLang="zh-CN" sz="2800" baseline="0" dirty="0">
                <a:solidFill>
                  <a:srgbClr val="002060"/>
                </a:solidFill>
                <a:latin typeface="Arial Black" panose="020B0A04020102020204" pitchFamily="34" charset="0"/>
                <a:ea typeface="+mn-ea"/>
              </a:rPr>
              <a:t>VCR</a:t>
            </a:r>
            <a:endParaRPr lang="zh-CN" altLang="en-US" sz="2800" baseline="0" dirty="0">
              <a:solidFill>
                <a:srgbClr val="002060"/>
              </a:solidFill>
              <a:latin typeface="Arial Black" panose="020B0A04020102020204" pitchFamily="34" charset="0"/>
              <a:ea typeface="+mn-ea"/>
            </a:endParaRPr>
          </a:p>
        </p:txBody>
      </p:sp>
      <p:sp>
        <p:nvSpPr>
          <p:cNvPr id="3" name="TextBox 2"/>
          <p:cNvSpPr txBox="1"/>
          <p:nvPr/>
        </p:nvSpPr>
        <p:spPr>
          <a:xfrm>
            <a:off x="3549650" y="5175250"/>
            <a:ext cx="792163" cy="1200150"/>
          </a:xfrm>
          <a:prstGeom prst="rect">
            <a:avLst/>
          </a:prstGeom>
          <a:noFill/>
          <a:ln>
            <a:solidFill>
              <a:srgbClr val="FF0000"/>
            </a:solidFill>
          </a:ln>
        </p:spPr>
        <p:txBody>
          <a:bodyPr>
            <a:spAutoFit/>
          </a:bodyPr>
          <a:lstStyle/>
          <a:p>
            <a:pPr eaLnBrk="1" hangingPunct="1">
              <a:defRPr/>
            </a:pP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 I (</a:t>
            </a:r>
            <a:r>
              <a:rPr lang="en-US" altLang="zh-CN" sz="2400" b="1" i="1" baseline="0" dirty="0" err="1">
                <a:solidFill>
                  <a:srgbClr val="002060"/>
                </a:solidFill>
                <a:latin typeface="Times New Roman" panose="02020603050405020304" pitchFamily="18" charset="0"/>
                <a:ea typeface="+mn-ea"/>
                <a:cs typeface="Times New Roman" panose="02020603050405020304" pitchFamily="18" charset="0"/>
              </a:rPr>
              <a:t>i</a:t>
            </a: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a:t>
            </a:r>
          </a:p>
          <a:p>
            <a:pPr eaLnBrk="1" hangingPunct="1">
              <a:defRPr/>
            </a:pP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V (</a:t>
            </a:r>
            <a:r>
              <a:rPr lang="en-US" altLang="zh-CN" sz="2400" b="1" i="1" baseline="0" dirty="0">
                <a:solidFill>
                  <a:srgbClr val="002060"/>
                </a:solidFill>
                <a:latin typeface="Times New Roman" panose="02020603050405020304" pitchFamily="18" charset="0"/>
                <a:ea typeface="+mn-ea"/>
                <a:cs typeface="Times New Roman" panose="02020603050405020304" pitchFamily="18" charset="0"/>
              </a:rPr>
              <a:t>v</a:t>
            </a: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a:t>
            </a:r>
          </a:p>
          <a:p>
            <a:pPr eaLnBrk="1" hangingPunct="1">
              <a:defRPr/>
            </a:pP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P (</a:t>
            </a:r>
            <a:r>
              <a:rPr lang="en-US" altLang="zh-CN" sz="2400" b="1" i="1" baseline="0" dirty="0">
                <a:solidFill>
                  <a:srgbClr val="002060"/>
                </a:solidFill>
                <a:latin typeface="Times New Roman" panose="02020603050405020304" pitchFamily="18" charset="0"/>
                <a:ea typeface="+mn-ea"/>
                <a:cs typeface="Times New Roman" panose="02020603050405020304" pitchFamily="18" charset="0"/>
              </a:rPr>
              <a:t>p</a:t>
            </a:r>
            <a:r>
              <a:rPr lang="en-US" altLang="zh-CN" sz="2400" b="1" baseline="0" dirty="0">
                <a:solidFill>
                  <a:srgbClr val="002060"/>
                </a:solidFill>
                <a:latin typeface="Times New Roman" panose="02020603050405020304" pitchFamily="18" charset="0"/>
                <a:ea typeface="+mn-ea"/>
                <a:cs typeface="Times New Roman" panose="02020603050405020304" pitchFamily="18" charset="0"/>
              </a:rPr>
              <a:t>)</a:t>
            </a:r>
            <a:endParaRPr lang="zh-CN" altLang="en-US" sz="2400" b="1" baseline="0" dirty="0">
              <a:solidFill>
                <a:srgbClr val="002060"/>
              </a:solidFill>
              <a:latin typeface="Times New Roman" panose="02020603050405020304" pitchFamily="18" charset="0"/>
              <a:ea typeface="+mn-ea"/>
              <a:cs typeface="Times New Roman" panose="02020603050405020304" pitchFamily="18" charset="0"/>
            </a:endParaRPr>
          </a:p>
        </p:txBody>
      </p:sp>
      <p:sp>
        <p:nvSpPr>
          <p:cNvPr id="6149" name="文本框 4"/>
          <p:cNvSpPr txBox="1">
            <a:spLocks noChangeArrowheads="1"/>
          </p:cNvSpPr>
          <p:nvPr/>
        </p:nvSpPr>
        <p:spPr bwMode="auto">
          <a:xfrm>
            <a:off x="1116013" y="2582863"/>
            <a:ext cx="1422400" cy="83185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拓扑约束</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元件约束</a:t>
            </a:r>
          </a:p>
        </p:txBody>
      </p:sp>
      <p:sp>
        <p:nvSpPr>
          <p:cNvPr id="6150" name="文本框 4"/>
          <p:cNvSpPr txBox="1">
            <a:spLocks noChangeArrowheads="1"/>
          </p:cNvSpPr>
          <p:nvPr/>
        </p:nvSpPr>
        <p:spPr bwMode="auto">
          <a:xfrm>
            <a:off x="6011863" y="2589213"/>
            <a:ext cx="2351087" cy="3786187"/>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b="1" baseline="0" dirty="0">
                <a:solidFill>
                  <a:srgbClr val="002060"/>
                </a:solidFill>
                <a:latin typeface="黑体" panose="02010609060101010101" pitchFamily="49" charset="-122"/>
                <a:ea typeface="黑体" panose="02010609060101010101" pitchFamily="49" charset="-122"/>
              </a:rPr>
              <a:t>2</a:t>
            </a:r>
            <a:r>
              <a:rPr lang="zh-CN" altLang="en-US" sz="2400" b="1" baseline="0" dirty="0">
                <a:solidFill>
                  <a:srgbClr val="002060"/>
                </a:solidFill>
                <a:latin typeface="黑体" panose="02010609060101010101" pitchFamily="49" charset="-122"/>
                <a:ea typeface="黑体" panose="02010609060101010101" pitchFamily="49" charset="-122"/>
              </a:rPr>
              <a:t>大基本法：</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en-US" altLang="zh-CN" sz="2400" b="1" baseline="0" dirty="0">
                <a:solidFill>
                  <a:srgbClr val="002060"/>
                </a:solidFill>
                <a:latin typeface="黑体" panose="02010609060101010101" pitchFamily="49" charset="-122"/>
                <a:ea typeface="黑体" panose="02010609060101010101" pitchFamily="49" charset="-122"/>
              </a:rPr>
              <a:t>5</a:t>
            </a:r>
            <a:r>
              <a:rPr lang="zh-CN" altLang="en-US" sz="2400" b="1" baseline="0" dirty="0">
                <a:solidFill>
                  <a:srgbClr val="002060"/>
                </a:solidFill>
                <a:latin typeface="黑体" panose="02010609060101010101" pitchFamily="49" charset="-122"/>
                <a:ea typeface="黑体" panose="02010609060101010101" pitchFamily="49" charset="-122"/>
              </a:rPr>
              <a:t>大定理：</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元件（</a:t>
            </a:r>
            <a:r>
              <a:rPr lang="en-US" altLang="zh-CN" sz="2400" b="1" baseline="0" dirty="0">
                <a:solidFill>
                  <a:srgbClr val="002060"/>
                </a:solidFill>
                <a:latin typeface="黑体" panose="02010609060101010101" pitchFamily="49" charset="-122"/>
                <a:ea typeface="黑体" panose="02010609060101010101" pitchFamily="49" charset="-122"/>
              </a:rPr>
              <a:t>R,C,L</a:t>
            </a:r>
            <a:r>
              <a:rPr lang="zh-CN" altLang="en-US" sz="2400" b="1" baseline="0" dirty="0">
                <a:solidFill>
                  <a:srgbClr val="002060"/>
                </a:solidFill>
                <a:latin typeface="黑体" panose="02010609060101010101" pitchFamily="49" charset="-122"/>
                <a:ea typeface="黑体" panose="02010609060101010101" pitchFamily="49" charset="-122"/>
              </a:rPr>
              <a:t>）</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电路（</a:t>
            </a:r>
            <a:r>
              <a:rPr lang="en-US" altLang="zh-CN" sz="2400" b="1" baseline="0" dirty="0">
                <a:solidFill>
                  <a:srgbClr val="002060"/>
                </a:solidFill>
                <a:latin typeface="黑体" panose="02010609060101010101" pitchFamily="49" charset="-122"/>
                <a:ea typeface="黑体" panose="02010609060101010101" pitchFamily="49" charset="-122"/>
              </a:rPr>
              <a:t>DC,AC</a:t>
            </a:r>
            <a:r>
              <a:rPr lang="zh-CN" altLang="en-US" sz="2400" b="1" baseline="0" dirty="0">
                <a:solidFill>
                  <a:srgbClr val="002060"/>
                </a:solidFill>
                <a:latin typeface="黑体" panose="02010609060101010101" pitchFamily="49" charset="-122"/>
                <a:ea typeface="黑体" panose="02010609060101010101" pitchFamily="49" charset="-122"/>
              </a:rPr>
              <a:t>）</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暂态，稳态</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时域，频域</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电耦合，磁耦合</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baseline="0" dirty="0">
                <a:solidFill>
                  <a:srgbClr val="002060"/>
                </a:solidFill>
                <a:latin typeface="黑体" panose="02010609060101010101" pitchFamily="49" charset="-122"/>
                <a:ea typeface="黑体" panose="02010609060101010101" pitchFamily="49" charset="-122"/>
              </a:rPr>
              <a:t>。</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2</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11560" y="577800"/>
            <a:ext cx="8229600" cy="884238"/>
          </a:xfrm>
        </p:spPr>
        <p:txBody>
          <a:bodyPr/>
          <a:lstStyle/>
          <a:p>
            <a:pPr eaLnBrk="1" hangingPunct="1"/>
            <a:r>
              <a:rPr lang="en-US" altLang="zh-CN" dirty="0">
                <a:solidFill>
                  <a:srgbClr val="0000FF"/>
                </a:solidFill>
                <a:latin typeface="Franklin Gothic Medium" panose="020B0603020102020204" pitchFamily="34" charset="0"/>
              </a:rPr>
              <a:t>4.1  </a:t>
            </a:r>
            <a:r>
              <a:rPr lang="zh-CN" altLang="en-US" b="1" dirty="0">
                <a:solidFill>
                  <a:srgbClr val="0000FF"/>
                </a:solidFill>
                <a:latin typeface="Franklin Gothic Medium" panose="020B0603020102020204" pitchFamily="34" charset="0"/>
              </a:rPr>
              <a:t>介绍</a:t>
            </a:r>
            <a:endParaRPr lang="en-US" altLang="zh-CN" b="1" dirty="0">
              <a:solidFill>
                <a:srgbClr val="0000FF"/>
              </a:solidFill>
              <a:latin typeface="Franklin Gothic Medium" panose="020B0603020102020204" pitchFamily="34" charset="0"/>
            </a:endParaRPr>
          </a:p>
        </p:txBody>
      </p:sp>
      <p:sp>
        <p:nvSpPr>
          <p:cNvPr id="4099" name="Rectangle 3"/>
          <p:cNvSpPr>
            <a:spLocks noGrp="1" noChangeArrowheads="1"/>
          </p:cNvSpPr>
          <p:nvPr>
            <p:ph type="body" idx="1"/>
          </p:nvPr>
        </p:nvSpPr>
        <p:spPr>
          <a:xfrm>
            <a:off x="1187624" y="1772816"/>
            <a:ext cx="6623967" cy="1447800"/>
          </a:xfrm>
        </p:spPr>
        <p:txBody>
          <a:bodyPr/>
          <a:lstStyle/>
          <a:p>
            <a:pPr marL="0" indent="0" eaLnBrk="1" hangingPunct="1">
              <a:spcBef>
                <a:spcPct val="50000"/>
              </a:spcBef>
              <a:buNone/>
              <a:defRPr/>
            </a:pPr>
            <a:r>
              <a:rPr lang="zh-CN" altLang="en-US" sz="2400" b="1" kern="1200" dirty="0">
                <a:latin typeface="Times New Roman" panose="02020603050405020304" pitchFamily="18" charset="0"/>
              </a:rPr>
              <a:t>        使用基尔霍夫定律（第三章）分析电路的一个主要优点，是我们可以在不改变电路原始结构的情况下分析电路；而缺点则是对于一个大的、复杂的电路，计算繁琐。</a:t>
            </a:r>
            <a:endParaRPr lang="en-US" altLang="zh-CN" sz="2400" b="1" kern="1200" dirty="0">
              <a:latin typeface="Times New Roman" panose="02020603050405020304" pitchFamily="18" charset="0"/>
            </a:endParaRPr>
          </a:p>
        </p:txBody>
      </p:sp>
      <p:sp>
        <p:nvSpPr>
          <p:cNvPr id="4" name="文本框 4"/>
          <p:cNvSpPr txBox="1">
            <a:spLocks noChangeArrowheads="1"/>
          </p:cNvSpPr>
          <p:nvPr/>
        </p:nvSpPr>
        <p:spPr bwMode="auto">
          <a:xfrm>
            <a:off x="683568" y="4313308"/>
            <a:ext cx="2592287" cy="14465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b="1" baseline="0" dirty="0">
                <a:solidFill>
                  <a:srgbClr val="002060"/>
                </a:solidFill>
                <a:latin typeface="黑体" panose="02010609060101010101" pitchFamily="49" charset="-122"/>
                <a:ea typeface="黑体" panose="02010609060101010101" pitchFamily="49" charset="-122"/>
              </a:rPr>
              <a:t>2</a:t>
            </a:r>
            <a:r>
              <a:rPr lang="zh-CN" altLang="en-US" sz="2400" b="1" baseline="0" dirty="0">
                <a:solidFill>
                  <a:srgbClr val="002060"/>
                </a:solidFill>
                <a:latin typeface="黑体" panose="02010609060101010101" pitchFamily="49" charset="-122"/>
                <a:ea typeface="黑体" panose="02010609060101010101" pitchFamily="49" charset="-122"/>
              </a:rPr>
              <a:t>大基本法：</a:t>
            </a:r>
            <a:endParaRPr lang="en-US" altLang="zh-CN" sz="2400" b="1" baseline="0"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en-US" altLang="zh-CN" sz="2400" b="1" dirty="0">
                <a:solidFill>
                  <a:srgbClr val="002060"/>
                </a:solidFill>
                <a:latin typeface="黑体" panose="02010609060101010101" pitchFamily="49" charset="-122"/>
                <a:ea typeface="黑体" panose="02010609060101010101" pitchFamily="49" charset="-122"/>
              </a:rPr>
              <a:t> </a:t>
            </a:r>
            <a:r>
              <a:rPr lang="en-US" altLang="zh-CN" sz="2000" b="1" dirty="0">
                <a:solidFill>
                  <a:srgbClr val="002060"/>
                </a:solidFill>
                <a:latin typeface="黑体" panose="02010609060101010101" pitchFamily="49" charset="-122"/>
                <a:ea typeface="黑体" panose="02010609060101010101" pitchFamily="49" charset="-122"/>
              </a:rPr>
              <a:t>-</a:t>
            </a:r>
            <a:r>
              <a:rPr lang="zh-CN" altLang="en-US" sz="2000" b="1" dirty="0">
                <a:solidFill>
                  <a:srgbClr val="002060"/>
                </a:solidFill>
                <a:latin typeface="黑体" panose="02010609060101010101" pitchFamily="49" charset="-122"/>
                <a:ea typeface="黑体" panose="02010609060101010101" pitchFamily="49" charset="-122"/>
              </a:rPr>
              <a:t>原始简单</a:t>
            </a:r>
            <a:endParaRPr lang="en-US" altLang="zh-CN" sz="2000" b="1"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en-US" altLang="zh-CN" sz="2000" b="1" dirty="0">
                <a:solidFill>
                  <a:srgbClr val="002060"/>
                </a:solidFill>
                <a:latin typeface="黑体" panose="02010609060101010101" pitchFamily="49" charset="-122"/>
                <a:ea typeface="黑体" panose="02010609060101010101" pitchFamily="49" charset="-122"/>
              </a:rPr>
              <a:t> -</a:t>
            </a:r>
            <a:r>
              <a:rPr lang="zh-CN" altLang="en-US" sz="2000" b="1" dirty="0">
                <a:solidFill>
                  <a:srgbClr val="002060"/>
                </a:solidFill>
                <a:latin typeface="黑体" panose="02010609060101010101" pitchFamily="49" charset="-122"/>
                <a:ea typeface="黑体" panose="02010609060101010101" pitchFamily="49" charset="-122"/>
              </a:rPr>
              <a:t>直白僵化</a:t>
            </a:r>
            <a:endParaRPr lang="en-US" altLang="zh-CN" sz="2000" b="1" dirty="0">
              <a:solidFill>
                <a:srgbClr val="002060"/>
              </a:solidFill>
              <a:latin typeface="黑体" panose="02010609060101010101" pitchFamily="49" charset="-122"/>
              <a:ea typeface="黑体" panose="02010609060101010101" pitchFamily="49" charset="-122"/>
            </a:endParaRPr>
          </a:p>
          <a:p>
            <a:pPr>
              <a:spcBef>
                <a:spcPct val="0"/>
              </a:spcBef>
              <a:buClrTx/>
              <a:buSzTx/>
              <a:buFontTx/>
              <a:buNone/>
            </a:pPr>
            <a:r>
              <a:rPr lang="en-US" altLang="zh-CN" sz="2000" b="1" baseline="0" dirty="0">
                <a:solidFill>
                  <a:srgbClr val="002060"/>
                </a:solidFill>
                <a:latin typeface="黑体" panose="02010609060101010101" pitchFamily="49" charset="-122"/>
                <a:ea typeface="黑体" panose="02010609060101010101" pitchFamily="49" charset="-122"/>
              </a:rPr>
              <a:t> -</a:t>
            </a:r>
            <a:r>
              <a:rPr lang="zh-CN" altLang="en-US" sz="2000" b="1" baseline="0" dirty="0">
                <a:solidFill>
                  <a:srgbClr val="002060"/>
                </a:solidFill>
                <a:latin typeface="黑体" panose="02010609060101010101" pitchFamily="49" charset="-122"/>
                <a:ea typeface="黑体" panose="02010609060101010101" pitchFamily="49" charset="-122"/>
              </a:rPr>
              <a:t>适合计算机</a:t>
            </a:r>
            <a:endParaRPr lang="en-US" altLang="zh-CN" sz="2000" b="1" baseline="0" dirty="0">
              <a:solidFill>
                <a:srgbClr val="002060"/>
              </a:solidFill>
              <a:latin typeface="黑体" panose="02010609060101010101" pitchFamily="49" charset="-122"/>
              <a:ea typeface="黑体" panose="02010609060101010101" pitchFamily="49" charset="-122"/>
            </a:endParaRPr>
          </a:p>
        </p:txBody>
      </p:sp>
      <p:sp>
        <p:nvSpPr>
          <p:cNvPr id="6" name="文本框 5"/>
          <p:cNvSpPr txBox="1"/>
          <p:nvPr/>
        </p:nvSpPr>
        <p:spPr>
          <a:xfrm>
            <a:off x="5364088" y="4296156"/>
            <a:ext cx="2736304" cy="1446550"/>
          </a:xfrm>
          <a:prstGeom prst="rect">
            <a:avLst/>
          </a:prstGeom>
          <a:noFill/>
        </p:spPr>
        <p:txBody>
          <a:bodyPr wrap="square">
            <a:spAutoFit/>
          </a:bodyPr>
          <a:lstStyle/>
          <a:p>
            <a:r>
              <a:rPr lang="en-US" altLang="zh-CN" sz="2400" b="1" baseline="0" dirty="0">
                <a:solidFill>
                  <a:srgbClr val="002060"/>
                </a:solidFill>
                <a:latin typeface="黑体" panose="02010609060101010101" pitchFamily="49" charset="-122"/>
                <a:ea typeface="黑体" panose="02010609060101010101" pitchFamily="49" charset="-122"/>
              </a:rPr>
              <a:t>5</a:t>
            </a:r>
            <a:r>
              <a:rPr lang="zh-CN" altLang="en-US" sz="2400" b="1" baseline="0" dirty="0">
                <a:solidFill>
                  <a:srgbClr val="002060"/>
                </a:solidFill>
                <a:latin typeface="黑体" panose="02010609060101010101" pitchFamily="49" charset="-122"/>
                <a:ea typeface="黑体" panose="02010609060101010101" pitchFamily="49" charset="-122"/>
              </a:rPr>
              <a:t>大定理：</a:t>
            </a:r>
            <a:endParaRPr lang="en-US" altLang="zh-CN" sz="2400" b="1" baseline="0" dirty="0">
              <a:solidFill>
                <a:srgbClr val="002060"/>
              </a:solidFill>
              <a:latin typeface="黑体" panose="02010609060101010101" pitchFamily="49" charset="-122"/>
              <a:ea typeface="黑体" panose="02010609060101010101" pitchFamily="49" charset="-122"/>
            </a:endParaRPr>
          </a:p>
          <a:p>
            <a:r>
              <a:rPr lang="en-US" altLang="zh-CN" sz="2400" b="1" dirty="0">
                <a:solidFill>
                  <a:srgbClr val="002060"/>
                </a:solidFill>
                <a:latin typeface="黑体" panose="02010609060101010101" pitchFamily="49" charset="-122"/>
                <a:ea typeface="黑体" panose="02010609060101010101" pitchFamily="49" charset="-122"/>
              </a:rPr>
              <a:t> </a:t>
            </a:r>
            <a:r>
              <a:rPr lang="en-US" altLang="zh-CN" sz="2000" b="1" dirty="0">
                <a:solidFill>
                  <a:srgbClr val="002060"/>
                </a:solidFill>
                <a:latin typeface="黑体" panose="02010609060101010101" pitchFamily="49" charset="-122"/>
                <a:ea typeface="黑体" panose="02010609060101010101" pitchFamily="49" charset="-122"/>
              </a:rPr>
              <a:t>-</a:t>
            </a:r>
            <a:r>
              <a:rPr lang="zh-CN" altLang="en-US" sz="2000" b="1" dirty="0">
                <a:solidFill>
                  <a:srgbClr val="002060"/>
                </a:solidFill>
                <a:latin typeface="黑体" panose="02010609060101010101" pitchFamily="49" charset="-122"/>
                <a:ea typeface="黑体" panose="02010609060101010101" pitchFamily="49" charset="-122"/>
              </a:rPr>
              <a:t>等效化简</a:t>
            </a:r>
            <a:endParaRPr lang="en-US" altLang="zh-CN" sz="2000" b="1" dirty="0">
              <a:solidFill>
                <a:srgbClr val="002060"/>
              </a:solidFill>
              <a:latin typeface="黑体" panose="02010609060101010101" pitchFamily="49" charset="-122"/>
              <a:ea typeface="黑体" panose="02010609060101010101" pitchFamily="49" charset="-122"/>
            </a:endParaRPr>
          </a:p>
          <a:p>
            <a:r>
              <a:rPr lang="en-US" altLang="zh-CN" sz="2000" b="1" dirty="0">
                <a:solidFill>
                  <a:srgbClr val="002060"/>
                </a:solidFill>
                <a:latin typeface="黑体" panose="02010609060101010101" pitchFamily="49" charset="-122"/>
                <a:ea typeface="黑体" panose="02010609060101010101" pitchFamily="49" charset="-122"/>
              </a:rPr>
              <a:t> -</a:t>
            </a:r>
            <a:r>
              <a:rPr lang="zh-CN" altLang="en-US" sz="2000" b="1" dirty="0">
                <a:solidFill>
                  <a:srgbClr val="002060"/>
                </a:solidFill>
                <a:latin typeface="黑体" panose="02010609060101010101" pitchFamily="49" charset="-122"/>
                <a:ea typeface="黑体" panose="02010609060101010101" pitchFamily="49" charset="-122"/>
              </a:rPr>
              <a:t>直击灵魂</a:t>
            </a:r>
            <a:endParaRPr lang="en-US" altLang="zh-CN" sz="2000" b="1" dirty="0">
              <a:solidFill>
                <a:srgbClr val="002060"/>
              </a:solidFill>
              <a:latin typeface="黑体" panose="02010609060101010101" pitchFamily="49" charset="-122"/>
              <a:ea typeface="黑体" panose="02010609060101010101" pitchFamily="49" charset="-122"/>
            </a:endParaRPr>
          </a:p>
          <a:p>
            <a:r>
              <a:rPr lang="en-US" altLang="zh-CN" sz="2000" b="1" dirty="0">
                <a:solidFill>
                  <a:srgbClr val="002060"/>
                </a:solidFill>
                <a:latin typeface="黑体" panose="02010609060101010101" pitchFamily="49" charset="-122"/>
                <a:ea typeface="黑体" panose="02010609060101010101" pitchFamily="49" charset="-122"/>
              </a:rPr>
              <a:t> -</a:t>
            </a:r>
            <a:r>
              <a:rPr lang="zh-CN" altLang="en-US" sz="2000" b="1" dirty="0">
                <a:solidFill>
                  <a:srgbClr val="002060"/>
                </a:solidFill>
                <a:latin typeface="黑体" panose="02010609060101010101" pitchFamily="49" charset="-122"/>
                <a:ea typeface="黑体" panose="02010609060101010101" pitchFamily="49" charset="-122"/>
              </a:rPr>
              <a:t>适合人类</a:t>
            </a:r>
            <a:endParaRPr lang="zh-CN" altLang="en-US" sz="2000" dirty="0"/>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323528" y="188640"/>
          <a:ext cx="5729482" cy="3587143"/>
        </p:xfrm>
        <a:graphic>
          <a:graphicData uri="http://schemas.openxmlformats.org/presentationml/2006/ole">
            <mc:AlternateContent xmlns:mc="http://schemas.openxmlformats.org/markup-compatibility/2006">
              <mc:Choice xmlns:v="urn:schemas-microsoft-com:vml" Requires="v">
                <p:oleObj spid="_x0000_s1093" name="Photo Editor 照片" r:id="rId3" imgW="24460200" imgH="16744950" progId="">
                  <p:embed/>
                </p:oleObj>
              </mc:Choice>
              <mc:Fallback>
                <p:oleObj name="Photo Editor 照片" r:id="rId3" imgW="24460200" imgH="16744950" progId="">
                  <p:embed/>
                  <p:pic>
                    <p:nvPicPr>
                      <p:cNvPr id="0" name="图片 1024"/>
                      <p:cNvPicPr>
                        <a:picLocks noChangeAspect="1"/>
                      </p:cNvPicPr>
                      <p:nvPr/>
                    </p:nvPicPr>
                    <p:blipFill>
                      <a:blip r:embed="rId4"/>
                      <a:srcRect b="8495"/>
                      <a:stretch>
                        <a:fillRect/>
                      </a:stretch>
                    </p:blipFill>
                    <p:spPr>
                      <a:xfrm>
                        <a:off x="323528" y="188640"/>
                        <a:ext cx="5729482" cy="3587143"/>
                      </a:xfrm>
                      <a:prstGeom prst="rect">
                        <a:avLst/>
                      </a:prstGeom>
                      <a:noFill/>
                      <a:ln w="9525">
                        <a:noFill/>
                      </a:ln>
                    </p:spPr>
                  </p:pic>
                </p:oleObj>
              </mc:Fallback>
            </mc:AlternateContent>
          </a:graphicData>
        </a:graphic>
      </p:graphicFrame>
      <p:graphicFrame>
        <p:nvGraphicFramePr>
          <p:cNvPr id="5" name="Object 4"/>
          <p:cNvGraphicFramePr>
            <a:graphicFrameLocks noChangeAspect="1"/>
          </p:cNvGraphicFramePr>
          <p:nvPr/>
        </p:nvGraphicFramePr>
        <p:xfrm>
          <a:off x="323528" y="4141732"/>
          <a:ext cx="5369555" cy="2533759"/>
        </p:xfrm>
        <a:graphic>
          <a:graphicData uri="http://schemas.openxmlformats.org/presentationml/2006/ole">
            <mc:AlternateContent xmlns:mc="http://schemas.openxmlformats.org/markup-compatibility/2006">
              <mc:Choice xmlns:v="urn:schemas-microsoft-com:vml" Requires="v">
                <p:oleObj spid="_x0000_s1094" name="Photo Editor 照片" r:id="rId5" imgW="24164925" imgH="11401425" progId="">
                  <p:embed/>
                </p:oleObj>
              </mc:Choice>
              <mc:Fallback>
                <p:oleObj name="Photo Editor 照片" r:id="rId5" imgW="24164925" imgH="11401425" progId="">
                  <p:embed/>
                  <p:pic>
                    <p:nvPicPr>
                      <p:cNvPr id="0" name="图片 1079"/>
                      <p:cNvPicPr>
                        <a:picLocks noChangeAspect="1"/>
                      </p:cNvPicPr>
                      <p:nvPr/>
                    </p:nvPicPr>
                    <p:blipFill>
                      <a:blip r:embed="rId6"/>
                      <a:stretch>
                        <a:fillRect/>
                      </a:stretch>
                    </p:blipFill>
                    <p:spPr>
                      <a:xfrm>
                        <a:off x="323528" y="4141732"/>
                        <a:ext cx="5369555" cy="2533759"/>
                      </a:xfrm>
                      <a:prstGeom prst="rect">
                        <a:avLst/>
                      </a:prstGeom>
                      <a:noFill/>
                      <a:ln w="9525">
                        <a:noFill/>
                      </a:ln>
                    </p:spPr>
                  </p:pic>
                </p:oleObj>
              </mc:Fallback>
            </mc:AlternateContent>
          </a:graphicData>
        </a:graphic>
      </p:graphicFrame>
      <p:graphicFrame>
        <p:nvGraphicFramePr>
          <p:cNvPr id="6" name="Object 4"/>
          <p:cNvGraphicFramePr>
            <a:graphicFrameLocks noChangeAspect="1"/>
          </p:cNvGraphicFramePr>
          <p:nvPr/>
        </p:nvGraphicFramePr>
        <p:xfrm>
          <a:off x="6444208" y="4869160"/>
          <a:ext cx="2080924" cy="864096"/>
        </p:xfrm>
        <a:graphic>
          <a:graphicData uri="http://schemas.openxmlformats.org/presentationml/2006/ole">
            <mc:AlternateContent xmlns:mc="http://schemas.openxmlformats.org/markup-compatibility/2006">
              <mc:Choice xmlns:v="urn:schemas-microsoft-com:vml" Requires="v">
                <p:oleObj spid="_x0000_s1095" name="Photo Editor 照片" r:id="rId7" imgW="9667875" imgH="4010025" progId="">
                  <p:embed/>
                </p:oleObj>
              </mc:Choice>
              <mc:Fallback>
                <p:oleObj name="Photo Editor 照片" r:id="rId7" imgW="9667875" imgH="4010025" progId="">
                  <p:embed/>
                  <p:pic>
                    <p:nvPicPr>
                      <p:cNvPr id="0" name="图片 1080"/>
                      <p:cNvPicPr>
                        <a:picLocks noChangeAspect="1"/>
                      </p:cNvPicPr>
                      <p:nvPr/>
                    </p:nvPicPr>
                    <p:blipFill>
                      <a:blip r:embed="rId8"/>
                      <a:stretch>
                        <a:fillRect/>
                      </a:stretch>
                    </p:blipFill>
                    <p:spPr>
                      <a:xfrm>
                        <a:off x="6444208" y="4869160"/>
                        <a:ext cx="2080924" cy="864096"/>
                      </a:xfrm>
                      <a:prstGeom prst="rect">
                        <a:avLst/>
                      </a:prstGeom>
                      <a:noFill/>
                      <a:ln w="9525">
                        <a:noFill/>
                      </a:ln>
                    </p:spPr>
                  </p:pic>
                </p:oleObj>
              </mc:Fallback>
            </mc:AlternateContent>
          </a:graphicData>
        </a:graphic>
      </p:graphicFrame>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p:cNvGraphicFramePr>
            <a:graphicFrameLocks noGrp="1" noChangeAspect="1"/>
          </p:cNvGraphicFramePr>
          <p:nvPr>
            <p:ph sz="half" idx="1"/>
          </p:nvPr>
        </p:nvGraphicFramePr>
        <p:xfrm>
          <a:off x="3423424" y="4348556"/>
          <a:ext cx="1008063" cy="885825"/>
        </p:xfrm>
        <a:graphic>
          <a:graphicData uri="http://schemas.openxmlformats.org/presentationml/2006/ole">
            <mc:AlternateContent xmlns:mc="http://schemas.openxmlformats.org/markup-compatibility/2006">
              <mc:Choice xmlns:v="urn:schemas-microsoft-com:vml" Requires="v">
                <p:oleObj spid="_x0000_s2159" name="公式" r:id="rId4" imgW="12496800" imgH="10972800" progId="">
                  <p:embed/>
                </p:oleObj>
              </mc:Choice>
              <mc:Fallback>
                <p:oleObj name="公式" r:id="rId4" imgW="12496800" imgH="10972800" progId="">
                  <p:embed/>
                  <p:pic>
                    <p:nvPicPr>
                      <p:cNvPr id="0" name="图片 2048"/>
                      <p:cNvPicPr>
                        <a:picLocks noGrp="1" noChangeAspect="1"/>
                      </p:cNvPicPr>
                      <p:nvPr/>
                    </p:nvPicPr>
                    <p:blipFill>
                      <a:blip r:embed="rId5"/>
                      <a:stretch>
                        <a:fillRect/>
                      </a:stretch>
                    </p:blipFill>
                    <p:spPr>
                      <a:xfrm>
                        <a:off x="3423424" y="4348556"/>
                        <a:ext cx="1008063" cy="885825"/>
                      </a:xfrm>
                      <a:prstGeom prst="rect">
                        <a:avLst/>
                      </a:prstGeom>
                      <a:noFill/>
                      <a:ln w="9525">
                        <a:noFill/>
                      </a:ln>
                    </p:spPr>
                  </p:pic>
                </p:oleObj>
              </mc:Fallback>
            </mc:AlternateContent>
          </a:graphicData>
        </a:graphic>
      </p:graphicFrame>
      <p:sp>
        <p:nvSpPr>
          <p:cNvPr id="5124" name="Text Box 9"/>
          <p:cNvSpPr txBox="1">
            <a:spLocks noChangeArrowheads="1"/>
          </p:cNvSpPr>
          <p:nvPr/>
        </p:nvSpPr>
        <p:spPr bwMode="auto">
          <a:xfrm>
            <a:off x="1509589" y="4248912"/>
            <a:ext cx="3097212" cy="396875"/>
          </a:xfrm>
          <a:prstGeom prst="rect">
            <a:avLst/>
          </a:prstGeom>
          <a:noFill/>
          <a:ln w="9525">
            <a:noFill/>
            <a:miter lim="800000"/>
          </a:ln>
        </p:spPr>
        <p:txBody>
          <a:bodyPr>
            <a:spAutoFit/>
          </a:bodyPr>
          <a:lstStyle/>
          <a:p>
            <a:pPr fontAlgn="base">
              <a:spcBef>
                <a:spcPct val="50000"/>
              </a:spcBef>
              <a:spcAft>
                <a:spcPct val="0"/>
              </a:spcAft>
            </a:pPr>
            <a:r>
              <a:rPr lang="en-US" altLang="zh-CN" sz="2000" b="1" dirty="0">
                <a:solidFill>
                  <a:srgbClr val="00007D"/>
                </a:solidFill>
                <a:latin typeface="Times New Roman" panose="02020603050405020304" pitchFamily="18" charset="0"/>
              </a:rPr>
              <a:t>2.</a:t>
            </a:r>
            <a:r>
              <a:rPr lang="zh-CN" altLang="en-US" sz="2000" b="1" dirty="0">
                <a:solidFill>
                  <a:srgbClr val="00007D"/>
                </a:solidFill>
                <a:latin typeface="Times New Roman" panose="02020603050405020304" pitchFamily="18" charset="0"/>
              </a:rPr>
              <a:t>叠加性</a:t>
            </a:r>
            <a:endParaRPr lang="en-US" altLang="zh-CN" sz="2000" b="1" dirty="0">
              <a:solidFill>
                <a:srgbClr val="00007D"/>
              </a:solidFill>
              <a:latin typeface="Times New Roman" panose="02020603050405020304" pitchFamily="18" charset="0"/>
            </a:endParaRPr>
          </a:p>
        </p:txBody>
      </p:sp>
      <p:grpSp>
        <p:nvGrpSpPr>
          <p:cNvPr id="2" name="Group 11"/>
          <p:cNvGrpSpPr/>
          <p:nvPr/>
        </p:nvGrpSpPr>
        <p:grpSpPr bwMode="auto">
          <a:xfrm>
            <a:off x="2627915" y="5363471"/>
            <a:ext cx="3816350" cy="427037"/>
            <a:chOff x="1610" y="1207"/>
            <a:chExt cx="2404" cy="269"/>
          </a:xfrm>
        </p:grpSpPr>
        <p:graphicFrame>
          <p:nvGraphicFramePr>
            <p:cNvPr id="5128" name="Object 8"/>
            <p:cNvGraphicFramePr>
              <a:graphicFrameLocks noChangeAspect="1"/>
            </p:cNvGraphicFramePr>
            <p:nvPr/>
          </p:nvGraphicFramePr>
          <p:xfrm>
            <a:off x="1701" y="1207"/>
            <a:ext cx="2223" cy="269"/>
          </p:xfrm>
          <a:graphic>
            <a:graphicData uri="http://schemas.openxmlformats.org/presentationml/2006/ole">
              <mc:AlternateContent xmlns:mc="http://schemas.openxmlformats.org/markup-compatibility/2006">
                <mc:Choice xmlns:v="urn:schemas-microsoft-com:vml" Requires="v">
                  <p:oleObj spid="_x0000_s2160" name="公式" r:id="rId6" imgW="46939200" imgH="5181600" progId="">
                    <p:embed/>
                  </p:oleObj>
                </mc:Choice>
                <mc:Fallback>
                  <p:oleObj name="公式" r:id="rId6" imgW="46939200" imgH="5181600" progId="">
                    <p:embed/>
                    <p:pic>
                      <p:nvPicPr>
                        <p:cNvPr id="0" name="图片 2137"/>
                        <p:cNvPicPr>
                          <a:picLocks noChangeAspect="1"/>
                        </p:cNvPicPr>
                        <p:nvPr/>
                      </p:nvPicPr>
                      <p:blipFill>
                        <a:blip r:embed="rId7"/>
                        <a:stretch>
                          <a:fillRect/>
                        </a:stretch>
                      </p:blipFill>
                      <p:spPr>
                        <a:xfrm>
                          <a:off x="1701" y="1207"/>
                          <a:ext cx="2223" cy="269"/>
                        </a:xfrm>
                        <a:prstGeom prst="rect">
                          <a:avLst/>
                        </a:prstGeom>
                        <a:noFill/>
                        <a:ln w="9525">
                          <a:noFill/>
                        </a:ln>
                      </p:spPr>
                    </p:pic>
                  </p:oleObj>
                </mc:Fallback>
              </mc:AlternateContent>
            </a:graphicData>
          </a:graphic>
        </p:graphicFrame>
        <p:sp>
          <p:nvSpPr>
            <p:cNvPr id="5129" name="Text Box 10"/>
            <p:cNvSpPr txBox="1">
              <a:spLocks noChangeArrowheads="1"/>
            </p:cNvSpPr>
            <p:nvPr/>
          </p:nvSpPr>
          <p:spPr bwMode="auto">
            <a:xfrm>
              <a:off x="1610" y="1207"/>
              <a:ext cx="2404" cy="258"/>
            </a:xfrm>
            <a:prstGeom prst="rect">
              <a:avLst/>
            </a:prstGeom>
            <a:noFill/>
            <a:ln w="12700">
              <a:solidFill>
                <a:schemeClr val="tx1"/>
              </a:solidFill>
              <a:miter lim="800000"/>
            </a:ln>
          </p:spPr>
          <p:txBody>
            <a:bodyPr>
              <a:spAutoFit/>
            </a:bodyPr>
            <a:lstStyle/>
            <a:p>
              <a:pPr fontAlgn="base">
                <a:spcBef>
                  <a:spcPct val="50000"/>
                </a:spcBef>
                <a:spcAft>
                  <a:spcPct val="0"/>
                </a:spcAft>
              </a:pPr>
              <a:endParaRPr lang="zh-CN" altLang="zh-CN" sz="2000">
                <a:solidFill>
                  <a:srgbClr val="000000"/>
                </a:solidFill>
                <a:latin typeface="Times New Roman" panose="02020603050405020304" pitchFamily="18" charset="0"/>
              </a:endParaRPr>
            </a:p>
          </p:txBody>
        </p:sp>
      </p:grpSp>
      <p:graphicFrame>
        <p:nvGraphicFramePr>
          <p:cNvPr id="5126" name="Object 12"/>
          <p:cNvGraphicFramePr>
            <a:graphicFrameLocks noChangeAspect="1"/>
          </p:cNvGraphicFramePr>
          <p:nvPr/>
        </p:nvGraphicFramePr>
        <p:xfrm>
          <a:off x="4514850" y="5986115"/>
          <a:ext cx="114300" cy="215900"/>
        </p:xfrm>
        <a:graphic>
          <a:graphicData uri="http://schemas.openxmlformats.org/presentationml/2006/ole">
            <mc:AlternateContent xmlns:mc="http://schemas.openxmlformats.org/markup-compatibility/2006">
              <mc:Choice xmlns:v="urn:schemas-microsoft-com:vml" Requires="v">
                <p:oleObj spid="_x0000_s2161" name="公式" r:id="rId8" imgW="2743200" imgH="5181600" progId="">
                  <p:embed/>
                </p:oleObj>
              </mc:Choice>
              <mc:Fallback>
                <p:oleObj name="公式" r:id="rId8" imgW="2743200" imgH="5181600" progId="">
                  <p:embed/>
                  <p:pic>
                    <p:nvPicPr>
                      <p:cNvPr id="0" name="图片 2138"/>
                      <p:cNvPicPr>
                        <a:picLocks noChangeAspect="1"/>
                      </p:cNvPicPr>
                      <p:nvPr/>
                    </p:nvPicPr>
                    <p:blipFill>
                      <a:blip r:embed="rId9"/>
                      <a:stretch>
                        <a:fillRect/>
                      </a:stretch>
                    </p:blipFill>
                    <p:spPr>
                      <a:xfrm>
                        <a:off x="4514850" y="5986115"/>
                        <a:ext cx="114300" cy="215900"/>
                      </a:xfrm>
                      <a:prstGeom prst="rect">
                        <a:avLst/>
                      </a:prstGeom>
                      <a:noFill/>
                      <a:ln w="9525">
                        <a:noFill/>
                      </a:ln>
                    </p:spPr>
                  </p:pic>
                </p:oleObj>
              </mc:Fallback>
            </mc:AlternateContent>
          </a:graphicData>
        </a:graphic>
      </p:graphicFrame>
      <p:sp>
        <p:nvSpPr>
          <p:cNvPr id="5127" name="TextBox 1"/>
          <p:cNvSpPr txBox="1">
            <a:spLocks noChangeArrowheads="1"/>
          </p:cNvSpPr>
          <p:nvPr/>
        </p:nvSpPr>
        <p:spPr bwMode="auto">
          <a:xfrm>
            <a:off x="899195" y="6092762"/>
            <a:ext cx="7632650" cy="398780"/>
          </a:xfrm>
          <a:prstGeom prst="rect">
            <a:avLst/>
          </a:prstGeom>
          <a:noFill/>
          <a:ln w="9525">
            <a:noFill/>
            <a:miter lim="800000"/>
          </a:ln>
        </p:spPr>
        <p:txBody>
          <a:bodyPr wrap="squar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叠加性：各个输入之和的响应等于每个输入单独作用时的响应之和。</a:t>
            </a:r>
            <a:endParaRPr lang="en-US" altLang="zh-CN" sz="2000" b="1" dirty="0">
              <a:solidFill>
                <a:srgbClr val="000000"/>
              </a:solidFill>
              <a:latin typeface="Times New Roman" panose="02020603050405020304" pitchFamily="18" charset="0"/>
            </a:endParaRPr>
          </a:p>
        </p:txBody>
      </p:sp>
      <p:sp>
        <p:nvSpPr>
          <p:cNvPr id="10" name="Text Box 4"/>
          <p:cNvSpPr txBox="1">
            <a:spLocks noChangeArrowheads="1"/>
          </p:cNvSpPr>
          <p:nvPr/>
        </p:nvSpPr>
        <p:spPr bwMode="auto">
          <a:xfrm>
            <a:off x="322138" y="476672"/>
            <a:ext cx="8642350" cy="707886"/>
          </a:xfrm>
          <a:prstGeom prst="rect">
            <a:avLst/>
          </a:prstGeom>
          <a:noFill/>
          <a:ln w="9525">
            <a:noFill/>
            <a:miter lim="800000"/>
          </a:ln>
        </p:spPr>
        <p:txBody>
          <a:bodyPr>
            <a:spAutoFit/>
          </a:bodyPr>
          <a:lstStyle/>
          <a:p>
            <a:pPr fontAlgn="base">
              <a:spcBef>
                <a:spcPct val="50000"/>
              </a:spcBef>
              <a:spcAft>
                <a:spcPct val="0"/>
              </a:spcAft>
            </a:pPr>
            <a:r>
              <a:rPr lang="en-US" altLang="zh-CN" sz="4000" b="1" dirty="0">
                <a:solidFill>
                  <a:srgbClr val="0000FF"/>
                </a:solidFill>
                <a:latin typeface="Franklin Gothic Medium" panose="020B0603020102020204" pitchFamily="34" charset="0"/>
              </a:rPr>
              <a:t>4.2   </a:t>
            </a:r>
            <a:r>
              <a:rPr lang="zh-CN" altLang="en-US" sz="3600" b="1" dirty="0">
                <a:solidFill>
                  <a:srgbClr val="0000FF"/>
                </a:solidFill>
                <a:latin typeface="Franklin Gothic Medium" panose="020B0603020102020204" pitchFamily="34" charset="0"/>
              </a:rPr>
              <a:t>线性特性</a:t>
            </a:r>
            <a:endParaRPr lang="en-US" altLang="zh-CN" sz="4000" b="1" dirty="0">
              <a:solidFill>
                <a:srgbClr val="0000FF"/>
              </a:solidFill>
              <a:latin typeface="Franklin Gothic Medium" panose="020B0603020102020204" pitchFamily="34" charset="0"/>
            </a:endParaRPr>
          </a:p>
        </p:txBody>
      </p:sp>
      <p:sp>
        <p:nvSpPr>
          <p:cNvPr id="11" name="Text Box 5"/>
          <p:cNvSpPr txBox="1">
            <a:spLocks noChangeArrowheads="1"/>
          </p:cNvSpPr>
          <p:nvPr/>
        </p:nvSpPr>
        <p:spPr bwMode="auto">
          <a:xfrm>
            <a:off x="755675" y="1408063"/>
            <a:ext cx="8280400" cy="1938992"/>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0000"/>
                </a:solidFill>
                <a:latin typeface="Times New Roman" panose="02020603050405020304" pitchFamily="18" charset="0"/>
              </a:rPr>
              <a:t>线性是齐次性</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比例性</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和叠加性的结合。</a:t>
            </a:r>
            <a:endParaRPr lang="en-US" altLang="zh-CN" sz="2400" b="1" dirty="0">
              <a:solidFill>
                <a:srgbClr val="000000"/>
              </a:solidFill>
              <a:latin typeface="Times New Roman" panose="02020603050405020304" pitchFamily="18" charset="0"/>
            </a:endParaRPr>
          </a:p>
          <a:p>
            <a:pPr fontAlgn="base">
              <a:spcBef>
                <a:spcPct val="50000"/>
              </a:spcBef>
              <a:spcAft>
                <a:spcPct val="0"/>
              </a:spcAft>
            </a:pPr>
            <a:r>
              <a:rPr lang="zh-CN" altLang="en-US" sz="2400" b="1" dirty="0">
                <a:solidFill>
                  <a:srgbClr val="FF0000"/>
                </a:solidFill>
                <a:latin typeface="Arial Black" panose="020B0A04020102020204" pitchFamily="34" charset="0"/>
              </a:rPr>
              <a:t>线性电路</a:t>
            </a:r>
            <a:r>
              <a:rPr lang="zh-CN" altLang="en-US" sz="2400" b="1" dirty="0">
                <a:solidFill>
                  <a:srgbClr val="000000"/>
                </a:solidFill>
                <a:latin typeface="Arial Black" panose="020B0A04020102020204" pitchFamily="34" charset="0"/>
              </a:rPr>
              <a:t>是输出与输入线性相关</a:t>
            </a:r>
            <a:r>
              <a:rPr lang="en-US" altLang="zh-CN" sz="2400" b="1" dirty="0">
                <a:solidFill>
                  <a:srgbClr val="000000"/>
                </a:solidFill>
                <a:latin typeface="Arial Black" panose="020B0A04020102020204" pitchFamily="34" charset="0"/>
              </a:rPr>
              <a:t>(</a:t>
            </a:r>
            <a:r>
              <a:rPr lang="zh-CN" altLang="en-US" sz="2400" b="1" dirty="0">
                <a:solidFill>
                  <a:srgbClr val="000000"/>
                </a:solidFill>
                <a:latin typeface="Arial Black" panose="020B0A04020102020204" pitchFamily="34" charset="0"/>
              </a:rPr>
              <a:t>或成正比</a:t>
            </a:r>
            <a:r>
              <a:rPr lang="en-US" altLang="zh-CN" sz="2400" b="1" dirty="0">
                <a:solidFill>
                  <a:srgbClr val="000000"/>
                </a:solidFill>
                <a:latin typeface="Arial Black" panose="020B0A04020102020204" pitchFamily="34" charset="0"/>
              </a:rPr>
              <a:t>)</a:t>
            </a:r>
            <a:r>
              <a:rPr lang="zh-CN" altLang="en-US" sz="2400" b="1" dirty="0">
                <a:solidFill>
                  <a:srgbClr val="000000"/>
                </a:solidFill>
                <a:latin typeface="Arial Black" panose="020B0A04020102020204" pitchFamily="34" charset="0"/>
              </a:rPr>
              <a:t>的电路。</a:t>
            </a:r>
            <a:endParaRPr lang="en-US" altLang="zh-CN" sz="2400"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ndParaRPr>
          </a:p>
          <a:p>
            <a:pPr fontAlgn="base">
              <a:spcBef>
                <a:spcPct val="50000"/>
              </a:spcBef>
              <a:spcAft>
                <a:spcPct val="0"/>
              </a:spcAft>
            </a:pPr>
            <a:r>
              <a:rPr lang="en-US" altLang="zh-CN" sz="2000" b="1" i="1" dirty="0">
                <a:solidFill>
                  <a:srgbClr val="0000FF"/>
                </a:solidFill>
                <a:latin typeface="Times New Roman" panose="02020603050405020304" pitchFamily="18" charset="0"/>
              </a:rPr>
              <a:t>           </a:t>
            </a:r>
            <a:r>
              <a:rPr lang="en-US" altLang="zh-CN" sz="2000" b="1" dirty="0">
                <a:solidFill>
                  <a:srgbClr val="00007D"/>
                </a:solidFill>
                <a:latin typeface="Times New Roman" panose="02020603050405020304" pitchFamily="18" charset="0"/>
              </a:rPr>
              <a:t>1. </a:t>
            </a:r>
            <a:r>
              <a:rPr lang="zh-CN" altLang="en-US" sz="2000" b="1" dirty="0">
                <a:solidFill>
                  <a:srgbClr val="00007D"/>
                </a:solidFill>
                <a:latin typeface="Times New Roman" panose="02020603050405020304" pitchFamily="18" charset="0"/>
              </a:rPr>
              <a:t>齐次性</a:t>
            </a:r>
            <a:endParaRPr lang="en-US" altLang="zh-CN" sz="2000" b="1" dirty="0">
              <a:solidFill>
                <a:srgbClr val="00007D"/>
              </a:solidFill>
              <a:latin typeface="Times New Roman" panose="02020603050405020304" pitchFamily="18" charset="0"/>
            </a:endParaRPr>
          </a:p>
        </p:txBody>
      </p:sp>
      <p:graphicFrame>
        <p:nvGraphicFramePr>
          <p:cNvPr id="12" name="Object 7"/>
          <p:cNvGraphicFramePr>
            <a:graphicFrameLocks noChangeAspect="1"/>
          </p:cNvGraphicFramePr>
          <p:nvPr/>
        </p:nvGraphicFramePr>
        <p:xfrm>
          <a:off x="3567284" y="3012061"/>
          <a:ext cx="863600" cy="377825"/>
        </p:xfrm>
        <a:graphic>
          <a:graphicData uri="http://schemas.openxmlformats.org/presentationml/2006/ole">
            <mc:AlternateContent xmlns:mc="http://schemas.openxmlformats.org/markup-compatibility/2006">
              <mc:Choice xmlns:v="urn:schemas-microsoft-com:vml" Requires="v">
                <p:oleObj spid="_x0000_s2162" name="公式" r:id="rId10" imgW="9753600" imgH="4267200" progId="">
                  <p:embed/>
                </p:oleObj>
              </mc:Choice>
              <mc:Fallback>
                <p:oleObj name="公式" r:id="rId10" imgW="9753600" imgH="4267200" progId="">
                  <p:embed/>
                  <p:pic>
                    <p:nvPicPr>
                      <p:cNvPr id="0" name="图片 2139"/>
                      <p:cNvPicPr>
                        <a:picLocks noChangeAspect="1"/>
                      </p:cNvPicPr>
                      <p:nvPr/>
                    </p:nvPicPr>
                    <p:blipFill>
                      <a:blip r:embed="rId11"/>
                      <a:stretch>
                        <a:fillRect/>
                      </a:stretch>
                    </p:blipFill>
                    <p:spPr>
                      <a:xfrm>
                        <a:off x="3567284" y="3012061"/>
                        <a:ext cx="863600" cy="377825"/>
                      </a:xfrm>
                      <a:prstGeom prst="rect">
                        <a:avLst/>
                      </a:prstGeom>
                      <a:noFill/>
                      <a:ln w="9525">
                        <a:noFill/>
                      </a:ln>
                    </p:spPr>
                  </p:pic>
                </p:oleObj>
              </mc:Fallback>
            </mc:AlternateContent>
          </a:graphicData>
        </a:graphic>
      </p:graphicFrame>
      <p:graphicFrame>
        <p:nvGraphicFramePr>
          <p:cNvPr id="13" name="Object 8"/>
          <p:cNvGraphicFramePr>
            <a:graphicFrameLocks noChangeAspect="1"/>
          </p:cNvGraphicFramePr>
          <p:nvPr/>
        </p:nvGraphicFramePr>
        <p:xfrm>
          <a:off x="3386309" y="3499423"/>
          <a:ext cx="1223962" cy="398463"/>
        </p:xfrm>
        <a:graphic>
          <a:graphicData uri="http://schemas.openxmlformats.org/presentationml/2006/ole">
            <mc:AlternateContent xmlns:mc="http://schemas.openxmlformats.org/markup-compatibility/2006">
              <mc:Choice xmlns:v="urn:schemas-microsoft-com:vml" Requires="v">
                <p:oleObj spid="_x0000_s2163" name="公式" r:id="rId12" imgW="13106400" imgH="4267200" progId="">
                  <p:embed/>
                </p:oleObj>
              </mc:Choice>
              <mc:Fallback>
                <p:oleObj name="公式" r:id="rId12" imgW="13106400" imgH="4267200" progId="">
                  <p:embed/>
                  <p:pic>
                    <p:nvPicPr>
                      <p:cNvPr id="0" name="图片 2140"/>
                      <p:cNvPicPr>
                        <a:picLocks noChangeAspect="1"/>
                      </p:cNvPicPr>
                      <p:nvPr/>
                    </p:nvPicPr>
                    <p:blipFill>
                      <a:blip r:embed="rId13"/>
                      <a:stretch>
                        <a:fillRect/>
                      </a:stretch>
                    </p:blipFill>
                    <p:spPr>
                      <a:xfrm>
                        <a:off x="3386309" y="3499423"/>
                        <a:ext cx="1223962" cy="398463"/>
                      </a:xfrm>
                      <a:prstGeom prst="rect">
                        <a:avLst/>
                      </a:prstGeom>
                      <a:noFill/>
                      <a:ln w="9525">
                        <a:noFill/>
                      </a:ln>
                    </p:spPr>
                  </p:pic>
                </p:oleObj>
              </mc:Fallback>
            </mc:AlternateContent>
          </a:graphicData>
        </a:graphic>
      </p:graphicFrame>
      <p:sp>
        <p:nvSpPr>
          <p:cNvPr id="14" name="Text Box 9"/>
          <p:cNvSpPr txBox="1">
            <a:spLocks noChangeArrowheads="1"/>
          </p:cNvSpPr>
          <p:nvPr/>
        </p:nvSpPr>
        <p:spPr bwMode="auto">
          <a:xfrm>
            <a:off x="3251371" y="3466086"/>
            <a:ext cx="1368425" cy="409575"/>
          </a:xfrm>
          <a:prstGeom prst="rect">
            <a:avLst/>
          </a:prstGeom>
          <a:noFill/>
          <a:ln w="12700">
            <a:solidFill>
              <a:schemeClr val="tx1"/>
            </a:solidFill>
            <a:miter lim="800000"/>
          </a:ln>
        </p:spPr>
        <p:txBody>
          <a:bodyPr>
            <a:spAutoFit/>
          </a:bodyPr>
          <a:lstStyle/>
          <a:p>
            <a:pPr fontAlgn="base">
              <a:spcBef>
                <a:spcPct val="50000"/>
              </a:spcBef>
              <a:spcAft>
                <a:spcPct val="0"/>
              </a:spcAft>
            </a:pPr>
            <a:endParaRPr lang="zh-CN" altLang="zh-CN" sz="2000">
              <a:solidFill>
                <a:srgbClr val="000000"/>
              </a:solidFill>
              <a:latin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8F389F86-7872-4F02-9ECE-1C5A44E3582C}" type="slidenum">
              <a:rPr lang="en-US" altLang="zh-CN" smtClean="0">
                <a:solidFill>
                  <a:srgbClr val="000000"/>
                </a:solidFill>
              </a:rPr>
              <a:t>5</a:t>
            </a:fld>
            <a:endParaRPr lang="en-US" altLang="zh-CN">
              <a:solidFill>
                <a:srgbClr val="000000"/>
              </a:solidFill>
            </a:endParaRPr>
          </a:p>
        </p:txBody>
      </p:sp>
      <p:sp>
        <p:nvSpPr>
          <p:cNvPr id="4" name="文本框 3"/>
          <p:cNvSpPr txBox="1"/>
          <p:nvPr/>
        </p:nvSpPr>
        <p:spPr>
          <a:xfrm>
            <a:off x="5292090" y="2744470"/>
            <a:ext cx="2969260" cy="645160"/>
          </a:xfrm>
          <a:prstGeom prst="rect">
            <a:avLst/>
          </a:prstGeom>
          <a:noFill/>
          <a:ln>
            <a:solidFill>
              <a:schemeClr val="accent1"/>
            </a:solidFill>
          </a:ln>
        </p:spPr>
        <p:txBody>
          <a:bodyPr wrap="square" rtlCol="0">
            <a:spAutoFit/>
          </a:bodyPr>
          <a:lstStyle/>
          <a:p>
            <a:r>
              <a:rPr lang="zh-CN" altLang="en-US"/>
              <a:t>齐次性：输入乘以</a:t>
            </a:r>
            <a:r>
              <a:rPr lang="en-US" altLang="zh-CN"/>
              <a:t>K</a:t>
            </a:r>
            <a:r>
              <a:rPr lang="zh-CN" altLang="en-US"/>
              <a:t>，输出也乘以</a:t>
            </a:r>
            <a:r>
              <a:rPr lang="en-US" altLang="zh-CN"/>
              <a:t>K</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6</a:t>
            </a:fld>
            <a:endParaRPr lang="en-US" altLang="zh-CN">
              <a:solidFill>
                <a:srgbClr val="000000"/>
              </a:solidFill>
            </a:endParaRPr>
          </a:p>
        </p:txBody>
      </p:sp>
      <p:pic>
        <p:nvPicPr>
          <p:cNvPr id="5" name="内容占位符 4"/>
          <p:cNvPicPr>
            <a:picLocks noGrp="1" noChangeAspect="1"/>
          </p:cNvPicPr>
          <p:nvPr>
            <p:ph idx="1"/>
            <p:custDataLst>
              <p:tags r:id="rId1"/>
            </p:custDataLst>
          </p:nvPr>
        </p:nvPicPr>
        <p:blipFill>
          <a:blip r:embed="rId4"/>
          <a:stretch>
            <a:fillRect/>
          </a:stretch>
        </p:blipFill>
        <p:spPr>
          <a:xfrm>
            <a:off x="611505" y="764540"/>
            <a:ext cx="5692140" cy="754380"/>
          </a:xfrm>
          <a:prstGeom prst="rect">
            <a:avLst/>
          </a:prstGeom>
        </p:spPr>
      </p:pic>
      <p:pic>
        <p:nvPicPr>
          <p:cNvPr id="6" name="图片 5"/>
          <p:cNvPicPr>
            <a:picLocks noChangeAspect="1"/>
          </p:cNvPicPr>
          <p:nvPr/>
        </p:nvPicPr>
        <p:blipFill>
          <a:blip r:embed="rId5"/>
          <a:stretch>
            <a:fillRect/>
          </a:stretch>
        </p:blipFill>
        <p:spPr>
          <a:xfrm>
            <a:off x="4932045" y="2204720"/>
            <a:ext cx="4175760" cy="2712720"/>
          </a:xfrm>
          <a:prstGeom prst="rect">
            <a:avLst/>
          </a:prstGeom>
        </p:spPr>
      </p:pic>
      <p:sp>
        <p:nvSpPr>
          <p:cNvPr id="8" name="文本框 7"/>
          <p:cNvSpPr txBox="1"/>
          <p:nvPr/>
        </p:nvSpPr>
        <p:spPr>
          <a:xfrm>
            <a:off x="215900" y="1628775"/>
            <a:ext cx="4864735" cy="4246245"/>
          </a:xfrm>
          <a:prstGeom prst="rect">
            <a:avLst/>
          </a:prstGeom>
          <a:noFill/>
        </p:spPr>
        <p:txBody>
          <a:bodyPr wrap="square" rtlCol="0">
            <a:spAutoFit/>
          </a:bodyPr>
          <a:lstStyle/>
          <a:p>
            <a:r>
              <a:rPr lang="zh-CN" altLang="en-US" dirty="0"/>
              <a:t>解：解法</a:t>
            </a:r>
            <a:r>
              <a:rPr lang="en-US" altLang="zh-CN" dirty="0"/>
              <a:t>1.</a:t>
            </a:r>
            <a:endParaRPr lang="zh-CN" altLang="en-US" dirty="0"/>
          </a:p>
          <a:p>
            <a:endParaRPr lang="zh-CN" altLang="en-US" dirty="0"/>
          </a:p>
          <a:p>
            <a:endParaRPr lang="zh-CN" altLang="en-US" dirty="0"/>
          </a:p>
          <a:p>
            <a:r>
              <a:rPr lang="en-US" altLang="zh-CN" dirty="0"/>
              <a:t>(1)Vs=12V</a:t>
            </a:r>
            <a:endParaRPr lang="zh-CN" altLang="en-US" dirty="0"/>
          </a:p>
          <a:p>
            <a:endParaRPr lang="zh-CN" altLang="en-US" dirty="0"/>
          </a:p>
          <a:p>
            <a:r>
              <a:rPr lang="en-US" altLang="zh-CN" dirty="0"/>
              <a:t>12xi1-4xi2+12=0         </a:t>
            </a:r>
            <a:r>
              <a:rPr lang="zh-CN" altLang="en-US" dirty="0"/>
              <a:t>。。。（</a:t>
            </a:r>
            <a:r>
              <a:rPr lang="en-US" altLang="zh-CN" dirty="0"/>
              <a:t>1</a:t>
            </a:r>
            <a:r>
              <a:rPr lang="zh-CN" altLang="en-US" dirty="0"/>
              <a:t>）</a:t>
            </a:r>
            <a:endParaRPr lang="en-US" altLang="zh-CN" dirty="0"/>
          </a:p>
          <a:p>
            <a:r>
              <a:rPr lang="en-US" altLang="zh-CN" dirty="0"/>
              <a:t>-10xi1+16xi2-12=0    </a:t>
            </a:r>
            <a:r>
              <a:rPr lang="zh-CN" altLang="en-US" dirty="0"/>
              <a:t>。。。（</a:t>
            </a:r>
            <a:r>
              <a:rPr lang="en-US" altLang="zh-CN" dirty="0"/>
              <a:t>2</a:t>
            </a:r>
            <a:r>
              <a:rPr lang="zh-CN" altLang="en-US" dirty="0"/>
              <a:t>）</a:t>
            </a:r>
          </a:p>
          <a:p>
            <a:r>
              <a:rPr lang="zh-CN" altLang="en-US" dirty="0"/>
              <a:t>（</a:t>
            </a:r>
            <a:r>
              <a:rPr lang="en-US" altLang="zh-CN" dirty="0"/>
              <a:t>1</a:t>
            </a:r>
            <a:r>
              <a:rPr lang="zh-CN" altLang="en-US" dirty="0"/>
              <a:t>）</a:t>
            </a:r>
            <a:r>
              <a:rPr lang="en-US" altLang="zh-CN" dirty="0"/>
              <a:t>+</a:t>
            </a:r>
            <a:r>
              <a:rPr lang="zh-CN" altLang="en-US" dirty="0"/>
              <a:t>（</a:t>
            </a:r>
            <a:r>
              <a:rPr lang="en-US" altLang="zh-CN" dirty="0"/>
              <a:t>2</a:t>
            </a:r>
            <a:r>
              <a:rPr lang="zh-CN" altLang="en-US" dirty="0"/>
              <a:t>）得</a:t>
            </a:r>
            <a:r>
              <a:rPr lang="en-US" altLang="zh-CN" dirty="0"/>
              <a:t>:</a:t>
            </a:r>
          </a:p>
          <a:p>
            <a:r>
              <a:rPr lang="en-US" altLang="zh-CN" dirty="0"/>
              <a:t>2xi1+12xi2=0</a:t>
            </a:r>
          </a:p>
          <a:p>
            <a:r>
              <a:rPr lang="en-US" altLang="zh-CN" dirty="0"/>
              <a:t>i1=-6xi2</a:t>
            </a:r>
          </a:p>
          <a:p>
            <a:r>
              <a:rPr lang="en-US" altLang="zh-CN" dirty="0"/>
              <a:t>i2=12/76=6/38=3/19</a:t>
            </a:r>
          </a:p>
          <a:p>
            <a:r>
              <a:rPr lang="en-US" altLang="zh-CN" dirty="0"/>
              <a:t> </a:t>
            </a:r>
            <a:endParaRPr lang="en-US" altLang="zh-CN" i="1" dirty="0">
              <a:latin typeface="Arial" panose="020B0604020202020204" pitchFamily="34" charset="0"/>
              <a:cs typeface="Arial" panose="020B0604020202020204" pitchFamily="34" charset="0"/>
              <a:sym typeface="+mn-ea"/>
            </a:endParaRPr>
          </a:p>
          <a:p>
            <a:r>
              <a:rPr lang="en-US" altLang="zh-CN" i="1" dirty="0">
                <a:latin typeface="Arial" panose="020B0604020202020204" pitchFamily="34" charset="0"/>
                <a:cs typeface="Arial" panose="020B0604020202020204" pitchFamily="34" charset="0"/>
                <a:sym typeface="+mn-ea"/>
              </a:rPr>
              <a:t>(2)Vs=24V</a:t>
            </a:r>
            <a:r>
              <a:rPr lang="zh-CN" altLang="en-US" i="1" dirty="0">
                <a:latin typeface="Arial" panose="020B0604020202020204" pitchFamily="34" charset="0"/>
                <a:cs typeface="Arial" panose="020B0604020202020204" pitchFamily="34" charset="0"/>
                <a:sym typeface="+mn-ea"/>
              </a:rPr>
              <a:t>时：</a:t>
            </a:r>
            <a:r>
              <a:rPr lang="en-US" altLang="zh-CN" i="1" dirty="0">
                <a:latin typeface="Arial" panose="020B0604020202020204" pitchFamily="34" charset="0"/>
                <a:cs typeface="Arial" panose="020B0604020202020204" pitchFamily="34" charset="0"/>
                <a:sym typeface="+mn-ea"/>
              </a:rPr>
              <a:t>i0=i2=2x(3/19)=6/19</a:t>
            </a:r>
          </a:p>
          <a:p>
            <a:endParaRPr lang="en-US" altLang="zh-CN" dirty="0"/>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7</a:t>
            </a:fld>
            <a:endParaRPr lang="en-US" altLang="zh-CN">
              <a:solidFill>
                <a:srgbClr val="000000"/>
              </a:solidFill>
            </a:endParaRPr>
          </a:p>
        </p:txBody>
      </p:sp>
      <p:pic>
        <p:nvPicPr>
          <p:cNvPr id="5" name="内容占位符 4"/>
          <p:cNvPicPr>
            <a:picLocks noGrp="1" noChangeAspect="1"/>
          </p:cNvPicPr>
          <p:nvPr>
            <p:ph idx="1"/>
            <p:custDataLst>
              <p:tags r:id="rId1"/>
            </p:custDataLst>
          </p:nvPr>
        </p:nvPicPr>
        <p:blipFill>
          <a:blip r:embed="rId4"/>
          <a:stretch>
            <a:fillRect/>
          </a:stretch>
        </p:blipFill>
        <p:spPr>
          <a:xfrm>
            <a:off x="611505" y="764540"/>
            <a:ext cx="5692140" cy="754380"/>
          </a:xfrm>
          <a:prstGeom prst="rect">
            <a:avLst/>
          </a:prstGeom>
        </p:spPr>
      </p:pic>
      <p:pic>
        <p:nvPicPr>
          <p:cNvPr id="6" name="图片 5"/>
          <p:cNvPicPr>
            <a:picLocks noChangeAspect="1"/>
          </p:cNvPicPr>
          <p:nvPr/>
        </p:nvPicPr>
        <p:blipFill>
          <a:blip r:embed="rId5"/>
          <a:stretch>
            <a:fillRect/>
          </a:stretch>
        </p:blipFill>
        <p:spPr>
          <a:xfrm>
            <a:off x="4932045" y="2204720"/>
            <a:ext cx="4175760" cy="2712720"/>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215900" y="1628775"/>
                <a:ext cx="4864735" cy="5257165"/>
              </a:xfrm>
              <a:prstGeom prst="rect">
                <a:avLst/>
              </a:prstGeom>
              <a:noFill/>
            </p:spPr>
            <p:txBody>
              <a:bodyPr wrap="square" rtlCol="0">
                <a:spAutoFit/>
              </a:bodyPr>
              <a:lstStyle/>
              <a:p>
                <a:r>
                  <a:rPr lang="zh-CN" altLang="en-US"/>
                  <a:t>解法</a:t>
                </a:r>
                <a:r>
                  <a:rPr lang="en-US" altLang="zh-CN"/>
                  <a:t>2</a:t>
                </a:r>
                <a:r>
                  <a:rPr lang="zh-CN" altLang="en-US"/>
                  <a:t>：</a:t>
                </a:r>
                <a:r>
                  <a:rPr lang="en-US" altLang="zh-CN"/>
                  <a:t>(1)Vs=12V</a:t>
                </a:r>
                <a:endParaRPr lang="zh-CN" altLang="en-US"/>
              </a:p>
              <a:p>
                <a:endParaRPr lang="zh-CN" altLang="en-US"/>
              </a:p>
              <a:p>
                <a:r>
                  <a:rPr lang="en-US" altLang="zh-CN"/>
                  <a:t>12xi1-4xi2+12=0         </a:t>
                </a:r>
                <a:r>
                  <a:rPr lang="zh-CN" altLang="en-US"/>
                  <a:t>。。。（</a:t>
                </a:r>
                <a:r>
                  <a:rPr lang="en-US" altLang="zh-CN"/>
                  <a:t>1</a:t>
                </a:r>
                <a:r>
                  <a:rPr lang="zh-CN" altLang="en-US"/>
                  <a:t>）</a:t>
                </a:r>
                <a:endParaRPr lang="en-US" altLang="zh-CN"/>
              </a:p>
              <a:p>
                <a:r>
                  <a:rPr lang="en-US" altLang="zh-CN"/>
                  <a:t>i2=3xi1+3  </a:t>
                </a:r>
              </a:p>
              <a:p>
                <a:r>
                  <a:rPr lang="en-US" altLang="zh-CN"/>
                  <a:t> 3xi1-i2=-3...... (1)</a:t>
                </a:r>
              </a:p>
              <a:p>
                <a:r>
                  <a:rPr lang="en-US" altLang="zh-CN"/>
                  <a:t>16xi2-4xi1-3x2xi1-12=0   </a:t>
                </a:r>
              </a:p>
              <a:p>
                <a:r>
                  <a:rPr lang="en-US" altLang="zh-CN">
                    <a:sym typeface="+mn-ea"/>
                  </a:rPr>
                  <a:t>16xi2-10xi1-12=0</a:t>
                </a:r>
                <a:r>
                  <a:rPr lang="en-US" altLang="zh-CN"/>
                  <a:t> </a:t>
                </a:r>
              </a:p>
              <a:p>
                <a:r>
                  <a:rPr lang="en-US" altLang="zh-CN"/>
                  <a:t>-10xi1+16xi2-12=0    </a:t>
                </a:r>
                <a:r>
                  <a:rPr lang="zh-CN" altLang="en-US"/>
                  <a:t>。。。（</a:t>
                </a:r>
                <a:r>
                  <a:rPr lang="en-US" altLang="zh-CN"/>
                  <a:t>2</a:t>
                </a:r>
                <a:r>
                  <a:rPr lang="zh-CN" altLang="en-US"/>
                  <a:t>）</a:t>
                </a:r>
                <a:endParaRPr lang="en-US" altLang="zh-CN"/>
              </a:p>
              <a:p>
                <a:r>
                  <a:rPr lang="en-US" altLang="zh-CN">
                    <a:sym typeface="+mn-ea"/>
                  </a:rPr>
                  <a:t>8xi2-5xi1-6=0  </a:t>
                </a:r>
              </a:p>
              <a:p>
                <a:r>
                  <a:rPr lang="en-US" altLang="zh-CN">
                    <a:sym typeface="+mn-ea"/>
                  </a:rPr>
                  <a:t>-5xi1+8xi2=6---  (2)</a:t>
                </a:r>
                <a:endParaRPr lang="en-US" altLang="zh-CN"/>
              </a:p>
              <a:p>
                <a:r>
                  <a:rPr lang="en-US" altLang="zh-CN"/>
                  <a:t> </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m>
                          <m:mPr>
                            <m:mcs>
                              <m:mc>
                                <m:mcPr>
                                  <m:count m:val="2"/>
                                  <m:mcJc m:val="center"/>
                                </m:mcPr>
                              </m:mc>
                            </m:mcs>
                            <m:ctrlPr>
                              <a:rPr lang="en-US" altLang="zh-CN" i="1">
                                <a:latin typeface="Cambria Math" panose="02040503050406030204" pitchFamily="18" charset="0"/>
                                <a:cs typeface="Cambria Math" panose="02040503050406030204" pitchFamily="18" charset="0"/>
                              </a:rPr>
                            </m:ctrlPr>
                          </m:mPr>
                          <m:mr>
                            <m:e>
                              <m:r>
                                <a:rPr lang="en-US" altLang="zh-CN" i="1">
                                  <a:latin typeface="Cambria Math" panose="02040503050406030204" pitchFamily="18" charset="0"/>
                                  <a:cs typeface="Cambria Math" panose="02040503050406030204" pitchFamily="18" charset="0"/>
                                </a:rPr>
                                <m:t>3</m:t>
                              </m:r>
                            </m:e>
                            <m:e>
                              <m:r>
                                <a:rPr lang="en-US" altLang="zh-CN" i="1">
                                  <a:latin typeface="Cambria Math" panose="02040503050406030204" pitchFamily="18" charset="0"/>
                                  <a:cs typeface="Cambria Math" panose="02040503050406030204" pitchFamily="18" charset="0"/>
                                </a:rPr>
                                <m:t>−1</m:t>
                              </m:r>
                            </m:e>
                          </m:mr>
                          <m:mr>
                            <m:e>
                              <m:r>
                                <a:rPr lang="en-US" altLang="zh-CN" i="1">
                                  <a:latin typeface="Cambria Math" panose="02040503050406030204" pitchFamily="18" charset="0"/>
                                  <a:cs typeface="Cambria Math" panose="02040503050406030204" pitchFamily="18" charset="0"/>
                                </a:rPr>
                                <m:t>−5</m:t>
                              </m:r>
                            </m:e>
                            <m:e>
                              <m:r>
                                <a:rPr lang="en-US" altLang="zh-CN" i="1">
                                  <a:latin typeface="Cambria Math" panose="02040503050406030204" pitchFamily="18" charset="0"/>
                                  <a:cs typeface="Cambria Math" panose="02040503050406030204" pitchFamily="18" charset="0"/>
                                </a:rPr>
                                <m:t>8</m:t>
                              </m:r>
                            </m:e>
                          </m:mr>
                        </m:m>
                      </m:e>
                    </m:d>
                    <m:d>
                      <m:dPr>
                        <m:begChr m:val="["/>
                        <m:endChr m:val="]"/>
                        <m:ctrlPr>
                          <a:rPr lang="en-US" altLang="zh-CN" i="1">
                            <a:latin typeface="Cambria Math" panose="02040503050406030204" pitchFamily="18" charset="0"/>
                            <a:cs typeface="Cambria Math" panose="02040503050406030204" pitchFamily="18" charset="0"/>
                          </a:rPr>
                        </m:ctrlPr>
                      </m:dPr>
                      <m:e>
                        <m:m>
                          <m:mPr>
                            <m:mcs>
                              <m:mc>
                                <m:mcPr>
                                  <m:count m:val="1"/>
                                  <m:mcJc m:val="center"/>
                                </m:mcPr>
                              </m:mc>
                            </m:mcs>
                            <m:ctrlPr>
                              <a:rPr lang="en-US" altLang="zh-CN" i="1">
                                <a:latin typeface="Cambria Math" panose="02040503050406030204" pitchFamily="18" charset="0"/>
                                <a:cs typeface="Cambria Math" panose="02040503050406030204" pitchFamily="18" charset="0"/>
                              </a:rPr>
                            </m:ctrlPr>
                          </m:mPr>
                          <m:mr>
                            <m:e>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1</m:t>
                              </m:r>
                            </m:e>
                          </m:mr>
                          <m:mr>
                            <m:e>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2</m:t>
                              </m:r>
                            </m:e>
                          </m:mr>
                        </m:m>
                      </m:e>
                    </m:d>
                  </m:oMath>
                </a14:m>
                <a:r>
                  <a:rPr lang="en-US" altLang="zh-CN"/>
                  <a:t>=</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m>
                          <m:mPr>
                            <m:mcs>
                              <m:mc>
                                <m:mcPr>
                                  <m:count m:val="1"/>
                                  <m:mcJc m:val="center"/>
                                </m:mcPr>
                              </m:mc>
                            </m:mcs>
                            <m:ctrlPr>
                              <a:rPr lang="en-US" altLang="zh-CN" i="1">
                                <a:latin typeface="Cambria Math" panose="02040503050406030204" pitchFamily="18" charset="0"/>
                                <a:cs typeface="Cambria Math" panose="02040503050406030204" pitchFamily="18" charset="0"/>
                              </a:rPr>
                            </m:ctrlPr>
                          </m:mPr>
                          <m:mr>
                            <m:e>
                              <m:r>
                                <a:rPr lang="en-US" altLang="zh-CN" i="1">
                                  <a:latin typeface="Cambria Math" panose="02040503050406030204" pitchFamily="18" charset="0"/>
                                  <a:cs typeface="Cambria Math" panose="02040503050406030204" pitchFamily="18" charset="0"/>
                                </a:rPr>
                                <m:t>−3</m:t>
                              </m:r>
                            </m:e>
                          </m:mr>
                          <m:mr>
                            <m:e>
                              <m:r>
                                <a:rPr lang="en-US" altLang="zh-CN" i="1">
                                  <a:latin typeface="Cambria Math" panose="02040503050406030204" pitchFamily="18" charset="0"/>
                                  <a:cs typeface="Cambria Math" panose="02040503050406030204" pitchFamily="18" charset="0"/>
                                </a:rPr>
                                <m:t>6</m:t>
                              </m:r>
                            </m:e>
                          </m:mr>
                        </m:m>
                      </m:e>
                    </m:d>
                  </m:oMath>
                </a14:m>
                <a:r>
                  <a:rPr lang="en-US" altLang="zh-CN"/>
                  <a:t>,</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m>
                          <m:mPr>
                            <m:mcs>
                              <m:mc>
                                <m:mcPr>
                                  <m:count m:val="2"/>
                                  <m:mcJc m:val="center"/>
                                </m:mcPr>
                              </m:mc>
                            </m:mcs>
                            <m:ctrlPr>
                              <a:rPr lang="en-US" altLang="zh-CN" i="1">
                                <a:latin typeface="Cambria Math" panose="02040503050406030204" pitchFamily="18" charset="0"/>
                                <a:cs typeface="Cambria Math" panose="02040503050406030204" pitchFamily="18" charset="0"/>
                              </a:rPr>
                            </m:ctrlPr>
                          </m:mPr>
                          <m:mr>
                            <m:e>
                              <m:r>
                                <a:rPr lang="en-US" altLang="zh-CN" i="1">
                                  <a:latin typeface="Cambria Math" panose="02040503050406030204" pitchFamily="18" charset="0"/>
                                  <a:cs typeface="Cambria Math" panose="02040503050406030204" pitchFamily="18" charset="0"/>
                                </a:rPr>
                                <m:t>−3</m:t>
                              </m:r>
                            </m:e>
                            <m:e>
                              <m:r>
                                <a:rPr lang="en-US" altLang="zh-CN" i="1">
                                  <a:latin typeface="Cambria Math" panose="02040503050406030204" pitchFamily="18" charset="0"/>
                                  <a:cs typeface="Cambria Math" panose="02040503050406030204" pitchFamily="18" charset="0"/>
                                </a:rPr>
                                <m:t>−1</m:t>
                              </m:r>
                            </m:e>
                          </m:mr>
                          <m:mr>
                            <m:e>
                              <m:r>
                                <a:rPr lang="en-US" altLang="zh-CN" i="1">
                                  <a:latin typeface="Cambria Math" panose="02040503050406030204" pitchFamily="18" charset="0"/>
                                  <a:cs typeface="Cambria Math" panose="02040503050406030204" pitchFamily="18" charset="0"/>
                                </a:rPr>
                                <m:t>6</m:t>
                              </m:r>
                            </m:e>
                            <m:e>
                              <m:r>
                                <a:rPr lang="en-US" altLang="zh-CN" i="1">
                                  <a:latin typeface="Cambria Math" panose="02040503050406030204" pitchFamily="18" charset="0"/>
                                  <a:cs typeface="Cambria Math" panose="02040503050406030204" pitchFamily="18" charset="0"/>
                                </a:rPr>
                                <m:t>8</m:t>
                              </m:r>
                            </m:e>
                          </m:mr>
                        </m:m>
                      </m:e>
                    </m:d>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m>
                          <m:mPr>
                            <m:mcs>
                              <m:mc>
                                <m:mcPr>
                                  <m:count m:val="2"/>
                                  <m:mcJc m:val="center"/>
                                </m:mcPr>
                              </m:mc>
                            </m:mcs>
                            <m:ctrlPr>
                              <a:rPr lang="en-US" altLang="zh-CN" i="1">
                                <a:latin typeface="Cambria Math" panose="02040503050406030204" pitchFamily="18" charset="0"/>
                                <a:cs typeface="Cambria Math" panose="02040503050406030204" pitchFamily="18" charset="0"/>
                              </a:rPr>
                            </m:ctrlPr>
                          </m:mPr>
                          <m:mr>
                            <m:e>
                              <m:r>
                                <a:rPr lang="en-US" altLang="zh-CN" i="1">
                                  <a:latin typeface="Cambria Math" panose="02040503050406030204" pitchFamily="18" charset="0"/>
                                  <a:cs typeface="Cambria Math" panose="02040503050406030204" pitchFamily="18" charset="0"/>
                                </a:rPr>
                                <m:t>3</m:t>
                              </m:r>
                            </m:e>
                            <m:e>
                              <m:r>
                                <a:rPr lang="en-US" altLang="zh-CN" i="1">
                                  <a:latin typeface="Cambria Math" panose="02040503050406030204" pitchFamily="18" charset="0"/>
                                  <a:cs typeface="Cambria Math" panose="02040503050406030204" pitchFamily="18" charset="0"/>
                                </a:rPr>
                                <m:t>−3</m:t>
                              </m:r>
                            </m:e>
                          </m:mr>
                          <m:mr>
                            <m:e>
                              <m:r>
                                <a:rPr lang="en-US" altLang="zh-CN" i="1">
                                  <a:latin typeface="Cambria Math" panose="02040503050406030204" pitchFamily="18" charset="0"/>
                                  <a:cs typeface="Cambria Math" panose="02040503050406030204" pitchFamily="18" charset="0"/>
                                </a:rPr>
                                <m:t>−5</m:t>
                              </m:r>
                            </m:e>
                            <m:e>
                              <m:r>
                                <a:rPr lang="en-US" altLang="zh-CN" i="1">
                                  <a:latin typeface="Cambria Math" panose="02040503050406030204" pitchFamily="18" charset="0"/>
                                  <a:cs typeface="Cambria Math" panose="02040503050406030204" pitchFamily="18" charset="0"/>
                                </a:rPr>
                                <m:t>6</m:t>
                              </m:r>
                            </m:e>
                          </m:mr>
                        </m:m>
                      </m:e>
                    </m:d>
                  </m:oMath>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endParaRPr>
              </a:p>
              <a:p>
                <a:r>
                  <a:rPr lang="en-US" altLang="zh-CN" i="1">
                    <a:latin typeface="Arial" panose="020B0604020202020204" pitchFamily="34" charset="0"/>
                    <a:cs typeface="Arial" panose="020B0604020202020204" pitchFamily="34" charset="0"/>
                  </a:rPr>
                  <a:t>∆=24-5=19</a:t>
                </a:r>
                <a:r>
                  <a:rPr lang="zh-CN" altLang="en-US" i="1">
                    <a:latin typeface="Arial" panose="020B0604020202020204" pitchFamily="34" charset="0"/>
                    <a:cs typeface="Arial" panose="020B0604020202020204" pitchFamily="34" charset="0"/>
                  </a:rPr>
                  <a:t>，</a:t>
                </a:r>
                <a:r>
                  <a:rPr lang="en-US" altLang="zh-CN" i="1">
                    <a:latin typeface="Arial" panose="020B0604020202020204" pitchFamily="34" charset="0"/>
                    <a:cs typeface="Arial" panose="020B0604020202020204" pitchFamily="34" charset="0"/>
                    <a:sym typeface="+mn-ea"/>
                  </a:rPr>
                  <a:t>∆1=-24+6=-18</a:t>
                </a:r>
                <a:r>
                  <a:rPr lang="zh-CN" altLang="en-US" i="1">
                    <a:latin typeface="Arial" panose="020B0604020202020204" pitchFamily="34" charset="0"/>
                    <a:cs typeface="Arial" panose="020B0604020202020204" pitchFamily="34" charset="0"/>
                    <a:sym typeface="+mn-ea"/>
                  </a:rPr>
                  <a:t>，</a:t>
                </a:r>
                <a:r>
                  <a:rPr lang="en-US" altLang="zh-CN" i="1">
                    <a:latin typeface="Arial" panose="020B0604020202020204" pitchFamily="34" charset="0"/>
                    <a:cs typeface="Arial" panose="020B0604020202020204" pitchFamily="34" charset="0"/>
                    <a:sym typeface="+mn-ea"/>
                  </a:rPr>
                  <a:t>∆2=18-15=3</a:t>
                </a:r>
              </a:p>
              <a:p>
                <a:r>
                  <a:rPr lang="en-US" altLang="zh-CN" i="1">
                    <a:latin typeface="Arial" panose="020B0604020202020204" pitchFamily="34" charset="0"/>
                    <a:cs typeface="Arial" panose="020B0604020202020204" pitchFamily="34" charset="0"/>
                    <a:sym typeface="+mn-ea"/>
                  </a:rPr>
                  <a:t>i0=i2=(∆2)/∆=3/19</a:t>
                </a:r>
              </a:p>
              <a:p>
                <a:endParaRPr lang="en-US" altLang="zh-CN" i="1">
                  <a:latin typeface="Arial" panose="020B0604020202020204" pitchFamily="34" charset="0"/>
                  <a:cs typeface="Arial" panose="020B0604020202020204" pitchFamily="34" charset="0"/>
                  <a:sym typeface="+mn-ea"/>
                </a:endParaRPr>
              </a:p>
              <a:p>
                <a:r>
                  <a:rPr lang="en-US" altLang="zh-CN" i="1">
                    <a:latin typeface="Arial" panose="020B0604020202020204" pitchFamily="34" charset="0"/>
                    <a:cs typeface="Arial" panose="020B0604020202020204" pitchFamily="34" charset="0"/>
                    <a:sym typeface="+mn-ea"/>
                  </a:rPr>
                  <a:t>(2)Vs=24V</a:t>
                </a:r>
                <a:r>
                  <a:rPr lang="zh-CN" altLang="en-US" i="1">
                    <a:latin typeface="Arial" panose="020B0604020202020204" pitchFamily="34" charset="0"/>
                    <a:cs typeface="Arial" panose="020B0604020202020204" pitchFamily="34" charset="0"/>
                    <a:sym typeface="+mn-ea"/>
                  </a:rPr>
                  <a:t>时：</a:t>
                </a:r>
                <a:r>
                  <a:rPr lang="en-US" altLang="zh-CN" i="1">
                    <a:latin typeface="Arial" panose="020B0604020202020204" pitchFamily="34" charset="0"/>
                    <a:cs typeface="Arial" panose="020B0604020202020204" pitchFamily="34" charset="0"/>
                    <a:sym typeface="+mn-ea"/>
                  </a:rPr>
                  <a:t>i0=i2=2x(3/19)=6/19</a:t>
                </a:r>
              </a:p>
              <a:p>
                <a:endParaRPr lang="en-US" altLang="zh-CN"/>
              </a:p>
              <a:p>
                <a:endParaRPr lang="en-US" altLang="zh-CN"/>
              </a:p>
            </p:txBody>
          </p:sp>
        </mc:Choice>
        <mc:Fallback xmlns="">
          <p:sp>
            <p:nvSpPr>
              <p:cNvPr id="8" name="文本框 7"/>
              <p:cNvSpPr txBox="1">
                <a:spLocks noRot="1" noChangeAspect="1" noMove="1" noResize="1" noEditPoints="1" noAdjustHandles="1" noChangeArrowheads="1" noChangeShapeType="1" noTextEdit="1"/>
              </p:cNvSpPr>
              <p:nvPr/>
            </p:nvSpPr>
            <p:spPr>
              <a:xfrm>
                <a:off x="215900" y="1628775"/>
                <a:ext cx="4864735" cy="525716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6"/>
          <p:cNvSpPr txBox="1">
            <a:spLocks noChangeArrowheads="1"/>
          </p:cNvSpPr>
          <p:nvPr/>
        </p:nvSpPr>
        <p:spPr bwMode="auto">
          <a:xfrm>
            <a:off x="611560" y="962025"/>
            <a:ext cx="8208963" cy="5112233"/>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3300"/>
                </a:solidFill>
                <a:latin typeface="Times New Roman" panose="02020603050405020304" pitchFamily="18" charset="0"/>
              </a:rPr>
              <a:t>举例  </a:t>
            </a:r>
            <a:r>
              <a:rPr lang="en-US" altLang="zh-CN" sz="2000" b="1" dirty="0">
                <a:solidFill>
                  <a:srgbClr val="FF3300"/>
                </a:solidFill>
                <a:latin typeface="Times New Roman" panose="02020603050405020304" pitchFamily="18" charset="0"/>
              </a:rPr>
              <a:t>4.1</a:t>
            </a:r>
          </a:p>
          <a:p>
            <a:pPr fontAlgn="base">
              <a:spcBef>
                <a:spcPct val="50000"/>
              </a:spcBef>
              <a:spcAft>
                <a:spcPct val="0"/>
              </a:spcAft>
            </a:pPr>
            <a:r>
              <a:rPr lang="zh-CN" altLang="en-US" sz="2000" b="1" dirty="0">
                <a:solidFill>
                  <a:srgbClr val="000000"/>
                </a:solidFill>
                <a:latin typeface="Times New Roman" panose="02020603050405020304" pitchFamily="18" charset="0"/>
              </a:rPr>
              <a:t>     对于图中的电路，当</a:t>
            </a:r>
            <a:r>
              <a:rPr lang="en-US" altLang="zh-CN" sz="2000" b="1" i="1" dirty="0" err="1">
                <a:solidFill>
                  <a:srgbClr val="000000"/>
                </a:solidFill>
                <a:latin typeface="Century Schoolbook" pitchFamily="18" charset="0"/>
              </a:rPr>
              <a:t>v</a:t>
            </a:r>
            <a:r>
              <a:rPr lang="en-US" altLang="zh-CN" sz="2000" b="1" i="1" baseline="-25000" dirty="0" err="1">
                <a:solidFill>
                  <a:srgbClr val="000000"/>
                </a:solidFill>
                <a:latin typeface="Century Schoolbook" pitchFamily="18" charset="0"/>
              </a:rPr>
              <a:t>s</a:t>
            </a:r>
            <a:r>
              <a:rPr lang="en-US" altLang="zh-CN" sz="2000" b="1" dirty="0">
                <a:solidFill>
                  <a:srgbClr val="000000"/>
                </a:solidFill>
                <a:latin typeface="Times New Roman" panose="02020603050405020304" pitchFamily="18" charset="0"/>
              </a:rPr>
              <a:t> =12V </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 </a:t>
            </a:r>
            <a:r>
              <a:rPr lang="en-US" altLang="zh-CN" sz="2000" b="1" i="1" dirty="0" err="1">
                <a:solidFill>
                  <a:srgbClr val="000000"/>
                </a:solidFill>
                <a:latin typeface="Century Schoolbook" pitchFamily="18" charset="0"/>
              </a:rPr>
              <a:t>v</a:t>
            </a:r>
            <a:r>
              <a:rPr lang="en-US" altLang="zh-CN" sz="2000" b="1" i="1" baseline="-25000" dirty="0" err="1">
                <a:solidFill>
                  <a:srgbClr val="000000"/>
                </a:solidFill>
                <a:latin typeface="Century Schoolbook" pitchFamily="18" charset="0"/>
              </a:rPr>
              <a:t>s</a:t>
            </a:r>
            <a:r>
              <a:rPr lang="en-US" altLang="zh-CN" sz="2000" b="1" dirty="0">
                <a:solidFill>
                  <a:srgbClr val="000000"/>
                </a:solidFill>
                <a:latin typeface="Times New Roman" panose="02020603050405020304" pitchFamily="18" charset="0"/>
              </a:rPr>
              <a:t> =24V</a:t>
            </a:r>
            <a:r>
              <a:rPr lang="zh-CN" altLang="en-US" sz="2000" b="1" dirty="0">
                <a:solidFill>
                  <a:srgbClr val="000000"/>
                </a:solidFill>
                <a:latin typeface="Times New Roman" panose="02020603050405020304" pitchFamily="18" charset="0"/>
              </a:rPr>
              <a:t>时，求</a:t>
            </a:r>
            <a:r>
              <a:rPr lang="en-US" altLang="zh-CN" sz="2000" b="1" i="1" dirty="0">
                <a:solidFill>
                  <a:srgbClr val="000000"/>
                </a:solidFill>
                <a:latin typeface="Century Schoolbook" pitchFamily="18" charset="0"/>
              </a:rPr>
              <a:t>i</a:t>
            </a:r>
            <a:r>
              <a:rPr lang="en-US" altLang="zh-CN" sz="2000" b="1" i="1" baseline="-25000" dirty="0">
                <a:solidFill>
                  <a:srgbClr val="000000"/>
                </a:solidFill>
                <a:latin typeface="Century Schoolbook" pitchFamily="18" charset="0"/>
              </a:rPr>
              <a:t>0</a:t>
            </a:r>
            <a:r>
              <a:rPr lang="en-US" altLang="zh-CN" sz="2000" b="1" dirty="0">
                <a:solidFill>
                  <a:srgbClr val="000000"/>
                </a:solidFill>
                <a:latin typeface="Times New Roman" panose="02020603050405020304" pitchFamily="18" charset="0"/>
              </a:rPr>
              <a:t> .</a:t>
            </a: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lnSpc>
                <a:spcPct val="150000"/>
              </a:lnSpc>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
            </a:r>
            <a:br>
              <a:rPr lang="en-US" altLang="zh-CN" sz="2000" b="1" dirty="0">
                <a:solidFill>
                  <a:srgbClr val="0000FF"/>
                </a:solidFill>
                <a:latin typeface="Times New Roman" panose="02020603050405020304" pitchFamily="18" charset="0"/>
              </a:rPr>
            </a:br>
            <a:r>
              <a:rPr lang="en-US" altLang="zh-CN" sz="2000" b="1" dirty="0">
                <a:solidFill>
                  <a:srgbClr val="0000FF"/>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利用网孔法，将基尔霍夫电压定律应用于两个网孔即可。</a:t>
            </a:r>
            <a:endParaRPr lang="en-US" altLang="zh-CN" sz="2000" b="1" dirty="0">
              <a:solidFill>
                <a:srgbClr val="000000"/>
              </a:solidFill>
              <a:latin typeface="Times New Roman" panose="02020603050405020304" pitchFamily="18" charset="0"/>
            </a:endParaRPr>
          </a:p>
        </p:txBody>
      </p:sp>
      <p:graphicFrame>
        <p:nvGraphicFramePr>
          <p:cNvPr id="6147" name="Object 1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079" name="公式" r:id="rId4" imgW="2743200" imgH="5181600" progId="">
                  <p:embed/>
                </p:oleObj>
              </mc:Choice>
              <mc:Fallback>
                <p:oleObj name="公式" r:id="rId4" imgW="2743200" imgH="5181600" progId="">
                  <p:embed/>
                  <p:pic>
                    <p:nvPicPr>
                      <p:cNvPr id="0" name="图片 3072"/>
                      <p:cNvPicPr>
                        <a:picLocks noChangeAspect="1"/>
                      </p:cNvPicPr>
                      <p:nvPr/>
                    </p:nvPicPr>
                    <p:blipFill>
                      <a:blip r:embed="rId5"/>
                      <a:stretch>
                        <a:fillRect/>
                      </a:stretch>
                    </p:blipFill>
                    <p:spPr>
                      <a:xfrm>
                        <a:off x="4514850" y="3321050"/>
                        <a:ext cx="114300" cy="215900"/>
                      </a:xfrm>
                      <a:prstGeom prst="rect">
                        <a:avLst/>
                      </a:prstGeom>
                      <a:noFill/>
                      <a:ln w="9525">
                        <a:noFill/>
                      </a:ln>
                    </p:spPr>
                  </p:pic>
                </p:oleObj>
              </mc:Fallback>
            </mc:AlternateContent>
          </a:graphicData>
        </a:graphic>
      </p:graphicFrame>
      <p:pic>
        <p:nvPicPr>
          <p:cNvPr id="6148" name="Picture 2"/>
          <p:cNvPicPr>
            <a:picLocks noChangeAspect="1" noChangeArrowheads="1"/>
          </p:cNvPicPr>
          <p:nvPr/>
        </p:nvPicPr>
        <p:blipFill>
          <a:blip r:embed="rId6" cstate="print"/>
          <a:srcRect/>
          <a:stretch>
            <a:fillRect/>
          </a:stretch>
        </p:blipFill>
        <p:spPr bwMode="auto">
          <a:xfrm>
            <a:off x="2063750" y="1916832"/>
            <a:ext cx="4902200" cy="2449513"/>
          </a:xfrm>
          <a:prstGeom prst="rect">
            <a:avLst/>
          </a:prstGeom>
          <a:noFill/>
          <a:ln w="9525">
            <a:noFill/>
            <a:miter lim="800000"/>
            <a:headEnd/>
            <a:tailEnd/>
          </a:ln>
        </p:spPr>
      </p:pic>
      <p:sp>
        <p:nvSpPr>
          <p:cNvPr id="2" name="文本框 1"/>
          <p:cNvSpPr txBox="1"/>
          <p:nvPr/>
        </p:nvSpPr>
        <p:spPr>
          <a:xfrm>
            <a:off x="6372200" y="6198672"/>
            <a:ext cx="877163" cy="369332"/>
          </a:xfrm>
          <a:prstGeom prst="rect">
            <a:avLst/>
          </a:prstGeom>
          <a:noFill/>
        </p:spPr>
        <p:txBody>
          <a:bodyPr wrap="none" rtlCol="0">
            <a:spAutoFit/>
          </a:bodyPr>
          <a:lstStyle/>
          <a:p>
            <a:r>
              <a:rPr lang="zh-CN" altLang="en-US" dirty="0"/>
              <a:t>。。。</a:t>
            </a:r>
          </a:p>
        </p:txBody>
      </p:sp>
      <p:sp>
        <p:nvSpPr>
          <p:cNvPr id="3" name="灯片编号占位符 2"/>
          <p:cNvSpPr>
            <a:spLocks noGrp="1"/>
          </p:cNvSpPr>
          <p:nvPr>
            <p:ph type="sldNum" sz="quarter" idx="11"/>
          </p:nvPr>
        </p:nvSpPr>
        <p:spPr/>
        <p:txBody>
          <a:bodyPr/>
          <a:lstStyle/>
          <a:p>
            <a:pPr>
              <a:defRPr/>
            </a:pPr>
            <a:fld id="{D776A882-B7EA-4411-9FBB-12412DA587FB}" type="slidenum">
              <a:rPr lang="en-US" altLang="zh-CN" smtClean="0">
                <a:solidFill>
                  <a:srgbClr val="000000"/>
                </a:solidFill>
              </a:rPr>
              <a:t>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4" cstate="print"/>
          <a:srcRect/>
          <a:stretch>
            <a:fillRect/>
          </a:stretch>
        </p:blipFill>
        <p:spPr bwMode="auto">
          <a:xfrm>
            <a:off x="1443038" y="892175"/>
            <a:ext cx="5834062" cy="2914650"/>
          </a:xfrm>
          <a:prstGeom prst="rect">
            <a:avLst/>
          </a:prstGeom>
          <a:noFill/>
          <a:ln w="9525">
            <a:noFill/>
            <a:miter lim="800000"/>
            <a:headEnd/>
            <a:tailEnd/>
          </a:ln>
        </p:spPr>
      </p:pic>
      <p:pic>
        <p:nvPicPr>
          <p:cNvPr id="7171" name="图片 2"/>
          <p:cNvPicPr>
            <a:picLocks noChangeAspect="1" noChangeArrowheads="1"/>
          </p:cNvPicPr>
          <p:nvPr/>
        </p:nvPicPr>
        <p:blipFill>
          <a:blip r:embed="rId5" cstate="print"/>
          <a:srcRect/>
          <a:stretch>
            <a:fillRect/>
          </a:stretch>
        </p:blipFill>
        <p:spPr bwMode="auto">
          <a:xfrm>
            <a:off x="1339818" y="4320625"/>
            <a:ext cx="5624512" cy="495300"/>
          </a:xfrm>
          <a:prstGeom prst="rect">
            <a:avLst/>
          </a:prstGeom>
          <a:noFill/>
          <a:ln w="9525">
            <a:noFill/>
            <a:miter lim="800000"/>
            <a:headEnd/>
            <a:tailEnd/>
          </a:ln>
        </p:spPr>
      </p:pic>
      <p:pic>
        <p:nvPicPr>
          <p:cNvPr id="7172" name="图片 6"/>
          <p:cNvPicPr>
            <a:picLocks noChangeAspect="1" noChangeArrowheads="1"/>
          </p:cNvPicPr>
          <p:nvPr/>
        </p:nvPicPr>
        <p:blipFill>
          <a:blip r:embed="rId6" cstate="print"/>
          <a:srcRect/>
          <a:stretch>
            <a:fillRect/>
          </a:stretch>
        </p:blipFill>
        <p:spPr bwMode="auto">
          <a:xfrm>
            <a:off x="1331913" y="5027613"/>
            <a:ext cx="6659562" cy="495300"/>
          </a:xfrm>
          <a:prstGeom prst="rect">
            <a:avLst/>
          </a:prstGeom>
          <a:noFill/>
          <a:ln w="9525">
            <a:noFill/>
            <a:miter lim="800000"/>
            <a:headEnd/>
            <a:tailEnd/>
          </a:ln>
        </p:spPr>
      </p:pic>
      <p:sp>
        <p:nvSpPr>
          <p:cNvPr id="2" name="文本框 1"/>
          <p:cNvSpPr txBox="1"/>
          <p:nvPr/>
        </p:nvSpPr>
        <p:spPr>
          <a:xfrm>
            <a:off x="916415" y="4368220"/>
            <a:ext cx="442750" cy="400110"/>
          </a:xfrm>
          <a:prstGeom prst="rect">
            <a:avLst/>
          </a:prstGeom>
          <a:noFill/>
        </p:spPr>
        <p:txBody>
          <a:bodyPr wrap="none" rtlCol="0">
            <a:spAutoFit/>
          </a:bodyPr>
          <a:lstStyle/>
          <a:p>
            <a:r>
              <a:rPr lang="zh-CN" altLang="en-US" sz="2000" b="1" dirty="0">
                <a:latin typeface="宋体" panose="02010600030101010101" pitchFamily="2" charset="-122"/>
                <a:ea typeface="宋体" panose="02010600030101010101" pitchFamily="2" charset="-122"/>
              </a:rPr>
              <a:t>①</a:t>
            </a:r>
            <a:endParaRPr lang="zh-CN" altLang="en-US" sz="2000" b="1" dirty="0"/>
          </a:p>
        </p:txBody>
      </p:sp>
      <p:sp>
        <p:nvSpPr>
          <p:cNvPr id="6" name="文本框 5"/>
          <p:cNvSpPr txBox="1"/>
          <p:nvPr/>
        </p:nvSpPr>
        <p:spPr>
          <a:xfrm>
            <a:off x="916415" y="5153581"/>
            <a:ext cx="442750" cy="400110"/>
          </a:xfrm>
          <a:prstGeom prst="rect">
            <a:avLst/>
          </a:prstGeom>
          <a:noFill/>
        </p:spPr>
        <p:txBody>
          <a:bodyPr wrap="none" rtlCol="0">
            <a:spAutoFit/>
          </a:bodyPr>
          <a:lstStyle/>
          <a:p>
            <a:r>
              <a:rPr lang="zh-CN" altLang="en-US" sz="2000" b="1" dirty="0">
                <a:latin typeface="宋体" panose="02010600030101010101" pitchFamily="2" charset="-122"/>
                <a:ea typeface="宋体" panose="02010600030101010101" pitchFamily="2" charset="-122"/>
              </a:rPr>
              <a:t>②</a:t>
            </a:r>
            <a:endParaRPr lang="zh-CN" altLang="en-US" sz="2000" b="1" dirty="0"/>
          </a:p>
        </p:txBody>
      </p:sp>
      <p:graphicFrame>
        <p:nvGraphicFramePr>
          <p:cNvPr id="4" name="Object 170"/>
          <p:cNvGraphicFramePr>
            <a:graphicFrameLocks noChangeAspect="1"/>
          </p:cNvGraphicFramePr>
          <p:nvPr/>
        </p:nvGraphicFramePr>
        <p:xfrm>
          <a:off x="1547664" y="6008688"/>
          <a:ext cx="932164" cy="453940"/>
        </p:xfrm>
        <a:graphic>
          <a:graphicData uri="http://schemas.openxmlformats.org/presentationml/2006/ole">
            <mc:AlternateContent xmlns:mc="http://schemas.openxmlformats.org/markup-compatibility/2006">
              <mc:Choice xmlns:v="urn:schemas-microsoft-com:vml" Requires="v">
                <p:oleObj spid="_x0000_s4103" name="公式" r:id="rId7" imgW="11277600" imgH="5486400" progId="">
                  <p:embed/>
                </p:oleObj>
              </mc:Choice>
              <mc:Fallback>
                <p:oleObj name="公式" r:id="rId7" imgW="11277600" imgH="5486400" progId="">
                  <p:embed/>
                  <p:pic>
                    <p:nvPicPr>
                      <p:cNvPr id="0" name="图片 4096"/>
                      <p:cNvPicPr>
                        <a:picLocks noChangeAspect="1"/>
                      </p:cNvPicPr>
                      <p:nvPr/>
                    </p:nvPicPr>
                    <p:blipFill>
                      <a:blip r:embed="rId8"/>
                      <a:stretch>
                        <a:fillRect/>
                      </a:stretch>
                    </p:blipFill>
                    <p:spPr>
                      <a:xfrm>
                        <a:off x="1547664" y="6008688"/>
                        <a:ext cx="932164" cy="453940"/>
                      </a:xfrm>
                      <a:prstGeom prst="rect">
                        <a:avLst/>
                      </a:prstGeom>
                      <a:noFill/>
                      <a:ln w="9525">
                        <a:noFill/>
                      </a:ln>
                    </p:spPr>
                  </p:pic>
                </p:oleObj>
              </mc:Fallback>
            </mc:AlternateContent>
          </a:graphicData>
        </a:graphic>
      </p:graphicFrame>
      <p:sp>
        <p:nvSpPr>
          <p:cNvPr id="5" name="矩形 176"/>
          <p:cNvSpPr>
            <a:spLocks noChangeArrowheads="1"/>
          </p:cNvSpPr>
          <p:nvPr/>
        </p:nvSpPr>
        <p:spPr bwMode="auto">
          <a:xfrm>
            <a:off x="917840" y="6026254"/>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③</a:t>
            </a: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Text Box 2"/>
          <p:cNvSpPr txBox="1">
            <a:spLocks noChangeArrowheads="1"/>
          </p:cNvSpPr>
          <p:nvPr/>
        </p:nvSpPr>
        <p:spPr bwMode="auto">
          <a:xfrm>
            <a:off x="936426" y="2519462"/>
            <a:ext cx="8496300" cy="4400550"/>
          </a:xfrm>
          <a:prstGeom prst="rect">
            <a:avLst/>
          </a:prstGeom>
          <a:noFill/>
          <a:ln w="9525">
            <a:noFill/>
            <a:miter lim="800000"/>
          </a:ln>
        </p:spPr>
        <p:txBody>
          <a:bodyPr>
            <a:spAutoFit/>
          </a:bodyPr>
          <a:lstStyle/>
          <a:p>
            <a:pPr fontAlgn="base">
              <a:spcBef>
                <a:spcPct val="50000"/>
              </a:spcBef>
              <a:spcAft>
                <a:spcPct val="0"/>
              </a:spcAft>
            </a:pPr>
            <a:r>
              <a:rPr lang="en-US" altLang="zh-CN" sz="2000" dirty="0">
                <a:solidFill>
                  <a:srgbClr val="000000"/>
                </a:solidFill>
                <a:latin typeface="Times New Roman" panose="02020603050405020304" pitchFamily="18" charset="0"/>
              </a:rPr>
              <a:t> </a:t>
            </a:r>
          </a:p>
          <a:p>
            <a:pPr fontAlgn="base">
              <a:spcBef>
                <a:spcPct val="50000"/>
              </a:spcBef>
              <a:spcAft>
                <a:spcPct val="0"/>
              </a:spcAft>
            </a:pPr>
            <a:r>
              <a:rPr lang="zh-CN" altLang="en-US" sz="2000" b="1" dirty="0">
                <a:solidFill>
                  <a:srgbClr val="000000"/>
                </a:solidFill>
                <a:latin typeface="Times New Roman" panose="02020603050405020304" pitchFamily="18" charset="0"/>
              </a:rPr>
              <a:t>解得：</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b="1" dirty="0">
                <a:solidFill>
                  <a:srgbClr val="000000"/>
                </a:solidFill>
                <a:latin typeface="Times New Roman" panose="02020603050405020304" pitchFamily="18" charset="0"/>
              </a:rPr>
              <a:t>                     </a:t>
            </a:r>
          </a:p>
          <a:p>
            <a:pPr fontAlgn="base">
              <a:spcBef>
                <a:spcPct val="5000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当</a:t>
            </a:r>
            <a:r>
              <a:rPr lang="en-US" altLang="zh-CN" sz="2000" b="1" dirty="0">
                <a:solidFill>
                  <a:srgbClr val="000000"/>
                </a:solidFill>
                <a:latin typeface="Times New Roman" panose="02020603050405020304" pitchFamily="18" charset="0"/>
              </a:rPr>
              <a:t>   </a:t>
            </a:r>
            <a:r>
              <a:rPr lang="en-US" altLang="zh-CN" sz="2000" b="1" i="1" dirty="0">
                <a:solidFill>
                  <a:srgbClr val="000000"/>
                </a:solidFill>
                <a:latin typeface="Century Schoolbook" pitchFamily="18" charset="0"/>
              </a:rPr>
              <a:t>v</a:t>
            </a:r>
            <a:r>
              <a:rPr lang="en-US" altLang="zh-CN" sz="2000" b="1" i="1" baseline="-25000" dirty="0">
                <a:solidFill>
                  <a:srgbClr val="000000"/>
                </a:solidFill>
                <a:latin typeface="Century Schoolbook" pitchFamily="18" charset="0"/>
              </a:rPr>
              <a:t>s</a:t>
            </a:r>
            <a:r>
              <a:rPr lang="en-US" altLang="zh-CN" sz="2000" b="1" dirty="0">
                <a:solidFill>
                  <a:srgbClr val="000000"/>
                </a:solidFill>
                <a:latin typeface="Times New Roman" panose="02020603050405020304" pitchFamily="18" charset="0"/>
              </a:rPr>
              <a:t>= 12V,</a:t>
            </a:r>
            <a:br>
              <a:rPr lang="en-US" altLang="zh-CN" sz="2000" b="1" dirty="0">
                <a:solidFill>
                  <a:srgbClr val="000000"/>
                </a:solidFill>
                <a:latin typeface="Times New Roman" panose="02020603050405020304" pitchFamily="18" charset="0"/>
              </a:rPr>
            </a:b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当</a:t>
            </a:r>
            <a:r>
              <a:rPr lang="en-US" altLang="zh-CN" sz="2000" b="1" dirty="0">
                <a:solidFill>
                  <a:srgbClr val="000000"/>
                </a:solidFill>
                <a:latin typeface="Times New Roman" panose="02020603050405020304" pitchFamily="18" charset="0"/>
              </a:rPr>
              <a:t>   </a:t>
            </a:r>
            <a:r>
              <a:rPr lang="en-US" altLang="zh-CN" sz="2000" b="1" i="1" dirty="0">
                <a:solidFill>
                  <a:srgbClr val="000000"/>
                </a:solidFill>
                <a:latin typeface="Century Schoolbook" pitchFamily="18" charset="0"/>
              </a:rPr>
              <a:t>v</a:t>
            </a:r>
            <a:r>
              <a:rPr lang="en-US" altLang="zh-CN" sz="2000" b="1" i="1" baseline="-25000" dirty="0">
                <a:solidFill>
                  <a:srgbClr val="000000"/>
                </a:solidFill>
                <a:latin typeface="Century Schoolbook" pitchFamily="18" charset="0"/>
              </a:rPr>
              <a:t>s</a:t>
            </a:r>
            <a:r>
              <a:rPr lang="en-US" altLang="zh-CN" sz="2000" b="1" dirty="0">
                <a:solidFill>
                  <a:srgbClr val="000000"/>
                </a:solidFill>
                <a:latin typeface="Times New Roman" panose="02020603050405020304" pitchFamily="18" charset="0"/>
              </a:rPr>
              <a:t>=24V</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b="1" dirty="0">
                <a:solidFill>
                  <a:srgbClr val="000000"/>
                </a:solidFill>
                <a:latin typeface="Times New Roman" panose="02020603050405020304" pitchFamily="18" charset="0"/>
              </a:rPr>
              <a:t>                                    </a:t>
            </a: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                               线性电路系统：当电源值翻倍时，电流也翻倍。</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FF3300"/>
              </a:solidFill>
              <a:latin typeface="Times New Roman" panose="02020603050405020304" pitchFamily="18" charset="0"/>
            </a:endParaRPr>
          </a:p>
        </p:txBody>
      </p:sp>
      <p:graphicFrame>
        <p:nvGraphicFramePr>
          <p:cNvPr id="8195" name="Object 171"/>
          <p:cNvGraphicFramePr>
            <a:graphicFrameLocks noChangeAspect="1"/>
          </p:cNvGraphicFramePr>
          <p:nvPr/>
        </p:nvGraphicFramePr>
        <p:xfrm>
          <a:off x="1907704" y="2889662"/>
          <a:ext cx="2879725" cy="646112"/>
        </p:xfrm>
        <a:graphic>
          <a:graphicData uri="http://schemas.openxmlformats.org/presentationml/2006/ole">
            <mc:AlternateContent xmlns:mc="http://schemas.openxmlformats.org/markup-compatibility/2006">
              <mc:Choice xmlns:v="urn:schemas-microsoft-com:vml" Requires="v">
                <p:oleObj spid="_x0000_s5189" name="公式" r:id="rId3" imgW="42062400" imgH="9448800" progId="">
                  <p:embed/>
                </p:oleObj>
              </mc:Choice>
              <mc:Fallback>
                <p:oleObj name="公式" r:id="rId3" imgW="42062400" imgH="9448800" progId="">
                  <p:embed/>
                  <p:pic>
                    <p:nvPicPr>
                      <p:cNvPr id="0" name="图片 5120"/>
                      <p:cNvPicPr>
                        <a:picLocks noChangeAspect="1"/>
                      </p:cNvPicPr>
                      <p:nvPr/>
                    </p:nvPicPr>
                    <p:blipFill>
                      <a:blip r:embed="rId4"/>
                      <a:stretch>
                        <a:fillRect/>
                      </a:stretch>
                    </p:blipFill>
                    <p:spPr>
                      <a:xfrm>
                        <a:off x="1907704" y="2889662"/>
                        <a:ext cx="2879725" cy="646112"/>
                      </a:xfrm>
                      <a:prstGeom prst="rect">
                        <a:avLst/>
                      </a:prstGeom>
                      <a:noFill/>
                      <a:ln w="9525">
                        <a:noFill/>
                      </a:ln>
                    </p:spPr>
                  </p:pic>
                </p:oleObj>
              </mc:Fallback>
            </mc:AlternateContent>
          </a:graphicData>
        </a:graphic>
      </p:graphicFrame>
      <p:graphicFrame>
        <p:nvGraphicFramePr>
          <p:cNvPr id="8196" name="Object 172"/>
          <p:cNvGraphicFramePr>
            <a:graphicFrameLocks noChangeAspect="1"/>
          </p:cNvGraphicFramePr>
          <p:nvPr/>
        </p:nvGraphicFramePr>
        <p:xfrm>
          <a:off x="4355976" y="3797314"/>
          <a:ext cx="1368425" cy="633413"/>
        </p:xfrm>
        <a:graphic>
          <a:graphicData uri="http://schemas.openxmlformats.org/presentationml/2006/ole">
            <mc:AlternateContent xmlns:mc="http://schemas.openxmlformats.org/markup-compatibility/2006">
              <mc:Choice xmlns:v="urn:schemas-microsoft-com:vml" Requires="v">
                <p:oleObj spid="_x0000_s5190" name="公式" r:id="rId5" imgW="20421600" imgH="9448800" progId="">
                  <p:embed/>
                </p:oleObj>
              </mc:Choice>
              <mc:Fallback>
                <p:oleObj name="公式" r:id="rId5" imgW="20421600" imgH="9448800" progId="">
                  <p:embed/>
                  <p:pic>
                    <p:nvPicPr>
                      <p:cNvPr id="0" name="图片 5175"/>
                      <p:cNvPicPr>
                        <a:picLocks noChangeAspect="1"/>
                      </p:cNvPicPr>
                      <p:nvPr/>
                    </p:nvPicPr>
                    <p:blipFill>
                      <a:blip r:embed="rId6"/>
                      <a:stretch>
                        <a:fillRect/>
                      </a:stretch>
                    </p:blipFill>
                    <p:spPr>
                      <a:xfrm>
                        <a:off x="4355976" y="3797314"/>
                        <a:ext cx="1368425" cy="633413"/>
                      </a:xfrm>
                      <a:prstGeom prst="rect">
                        <a:avLst/>
                      </a:prstGeom>
                      <a:noFill/>
                      <a:ln w="9525">
                        <a:noFill/>
                      </a:ln>
                    </p:spPr>
                  </p:pic>
                </p:oleObj>
              </mc:Fallback>
            </mc:AlternateContent>
          </a:graphicData>
        </a:graphic>
      </p:graphicFrame>
      <p:graphicFrame>
        <p:nvGraphicFramePr>
          <p:cNvPr id="8197" name="Object 173"/>
          <p:cNvGraphicFramePr>
            <a:graphicFrameLocks noChangeAspect="1"/>
          </p:cNvGraphicFramePr>
          <p:nvPr/>
        </p:nvGraphicFramePr>
        <p:xfrm>
          <a:off x="4427983" y="4581415"/>
          <a:ext cx="1368425" cy="622300"/>
        </p:xfrm>
        <a:graphic>
          <a:graphicData uri="http://schemas.openxmlformats.org/presentationml/2006/ole">
            <mc:AlternateContent xmlns:mc="http://schemas.openxmlformats.org/markup-compatibility/2006">
              <mc:Choice xmlns:v="urn:schemas-microsoft-com:vml" Requires="v">
                <p:oleObj spid="_x0000_s5191" name="公式" r:id="rId7" imgW="20726400" imgH="9448800" progId="">
                  <p:embed/>
                </p:oleObj>
              </mc:Choice>
              <mc:Fallback>
                <p:oleObj name="公式" r:id="rId7" imgW="20726400" imgH="9448800" progId="">
                  <p:embed/>
                  <p:pic>
                    <p:nvPicPr>
                      <p:cNvPr id="0" name="图片 5176"/>
                      <p:cNvPicPr>
                        <a:picLocks noChangeAspect="1"/>
                      </p:cNvPicPr>
                      <p:nvPr/>
                    </p:nvPicPr>
                    <p:blipFill>
                      <a:blip r:embed="rId8"/>
                      <a:stretch>
                        <a:fillRect/>
                      </a:stretch>
                    </p:blipFill>
                    <p:spPr>
                      <a:xfrm>
                        <a:off x="4427983" y="4581415"/>
                        <a:ext cx="1368425" cy="622300"/>
                      </a:xfrm>
                      <a:prstGeom prst="rect">
                        <a:avLst/>
                      </a:prstGeom>
                      <a:noFill/>
                      <a:ln w="9525">
                        <a:noFill/>
                      </a:ln>
                    </p:spPr>
                  </p:pic>
                </p:oleObj>
              </mc:Fallback>
            </mc:AlternateContent>
          </a:graphicData>
        </a:graphic>
      </p:graphicFrame>
      <p:pic>
        <p:nvPicPr>
          <p:cNvPr id="3" name="Picture 2"/>
          <p:cNvPicPr>
            <a:picLocks noChangeAspect="1" noChangeArrowheads="1"/>
          </p:cNvPicPr>
          <p:nvPr/>
        </p:nvPicPr>
        <p:blipFill>
          <a:blip r:embed="rId9" cstate="print"/>
          <a:srcRect/>
          <a:stretch>
            <a:fillRect/>
          </a:stretch>
        </p:blipFill>
        <p:spPr bwMode="auto">
          <a:xfrm>
            <a:off x="4665456" y="427361"/>
            <a:ext cx="4405118" cy="2200761"/>
          </a:xfrm>
          <a:prstGeom prst="rect">
            <a:avLst/>
          </a:prstGeom>
          <a:noFill/>
          <a:ln w="9525">
            <a:noFill/>
            <a:miter lim="800000"/>
            <a:headEnd/>
            <a:tailEnd/>
          </a:ln>
        </p:spPr>
      </p:pic>
      <p:sp>
        <p:nvSpPr>
          <p:cNvPr id="4" name="文本框 3"/>
          <p:cNvSpPr txBox="1"/>
          <p:nvPr/>
        </p:nvSpPr>
        <p:spPr>
          <a:xfrm>
            <a:off x="2051720" y="3905974"/>
            <a:ext cx="442750" cy="400110"/>
          </a:xfrm>
          <a:prstGeom prst="rect">
            <a:avLst/>
          </a:prstGeom>
          <a:noFill/>
        </p:spPr>
        <p:txBody>
          <a:bodyPr wrap="none" rtlCol="0">
            <a:spAutoFit/>
          </a:bodyPr>
          <a:lstStyle/>
          <a:p>
            <a:r>
              <a:rPr lang="zh-CN" altLang="en-US" sz="2000" b="1" dirty="0">
                <a:latin typeface="宋体" panose="02010600030101010101" pitchFamily="2" charset="-122"/>
                <a:ea typeface="宋体" panose="02010600030101010101" pitchFamily="2" charset="-122"/>
              </a:rPr>
              <a:t>①</a:t>
            </a:r>
            <a:endParaRPr lang="zh-CN" altLang="en-US" sz="2000" b="1" dirty="0"/>
          </a:p>
        </p:txBody>
      </p:sp>
      <p:sp>
        <p:nvSpPr>
          <p:cNvPr id="5" name="文本框 4"/>
          <p:cNvSpPr txBox="1"/>
          <p:nvPr/>
        </p:nvSpPr>
        <p:spPr>
          <a:xfrm>
            <a:off x="2018080" y="4660829"/>
            <a:ext cx="442750" cy="400110"/>
          </a:xfrm>
          <a:prstGeom prst="rect">
            <a:avLst/>
          </a:prstGeom>
          <a:noFill/>
        </p:spPr>
        <p:txBody>
          <a:bodyPr wrap="none" rtlCol="0">
            <a:spAutoFit/>
          </a:bodyPr>
          <a:lstStyle/>
          <a:p>
            <a:r>
              <a:rPr lang="zh-CN" altLang="en-US" sz="2000" b="1" dirty="0">
                <a:latin typeface="宋体" panose="02010600030101010101" pitchFamily="2" charset="-122"/>
                <a:ea typeface="宋体" panose="02010600030101010101" pitchFamily="2" charset="-122"/>
              </a:rPr>
              <a:t>②</a:t>
            </a:r>
            <a:endParaRPr lang="zh-CN" altLang="en-US" sz="2000" b="1" dirty="0"/>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10</a:t>
            </a:fld>
            <a:endParaRPr lang="en-US" altLang="zh-CN">
              <a:solidFill>
                <a:srgbClr val="000000"/>
              </a:solidFill>
            </a:endParaRPr>
          </a:p>
        </p:txBody>
      </p:sp>
      <p:sp>
        <p:nvSpPr>
          <p:cNvPr id="6" name="文本框 5"/>
          <p:cNvSpPr txBox="1"/>
          <p:nvPr/>
        </p:nvSpPr>
        <p:spPr>
          <a:xfrm>
            <a:off x="6403340" y="3601720"/>
            <a:ext cx="1409065" cy="14763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t>注：最后结果需要继续化简，化到最简，或用小数表示。</a:t>
            </a:r>
          </a:p>
        </p:txBody>
      </p:sp>
      <p:sp>
        <p:nvSpPr>
          <p:cNvPr id="7" name="文本框 6"/>
          <p:cNvSpPr txBox="1"/>
          <p:nvPr/>
        </p:nvSpPr>
        <p:spPr>
          <a:xfrm>
            <a:off x="539750" y="1396365"/>
            <a:ext cx="363855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solidFill>
                  <a:srgbClr val="FF0000"/>
                </a:solidFill>
              </a:rPr>
              <a:t>线性法对于功率的运算是否可用？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bldLvl="0" animBg="1"/>
      <p:bldP spid="7"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
          <p:cNvGrpSpPr/>
          <p:nvPr/>
        </p:nvGrpSpPr>
        <p:grpSpPr bwMode="auto">
          <a:xfrm>
            <a:off x="611188" y="3500438"/>
            <a:ext cx="6972300" cy="1752600"/>
            <a:chOff x="121" y="1188"/>
            <a:chExt cx="5502" cy="2001"/>
          </a:xfrm>
        </p:grpSpPr>
        <p:sp>
          <p:nvSpPr>
            <p:cNvPr id="9222" name="Freeform 4"/>
            <p:cNvSpPr/>
            <p:nvPr/>
          </p:nvSpPr>
          <p:spPr bwMode="auto">
            <a:xfrm>
              <a:off x="5414" y="1522"/>
              <a:ext cx="1" cy="1666"/>
            </a:xfrm>
            <a:custGeom>
              <a:avLst/>
              <a:gdLst>
                <a:gd name="T0" fmla="*/ 0 w 1"/>
                <a:gd name="T1" fmla="*/ 1666 h 1666"/>
                <a:gd name="T2" fmla="*/ 0 w 1"/>
                <a:gd name="T3" fmla="*/ 0 h 1666"/>
                <a:gd name="T4" fmla="*/ 0 w 1"/>
                <a:gd name="T5" fmla="*/ 1666 h 1666"/>
                <a:gd name="T6" fmla="*/ 0 w 1"/>
                <a:gd name="T7" fmla="*/ 1666 h 1666"/>
                <a:gd name="T8" fmla="*/ 0 60000 65536"/>
                <a:gd name="T9" fmla="*/ 0 60000 65536"/>
                <a:gd name="T10" fmla="*/ 0 60000 65536"/>
                <a:gd name="T11" fmla="*/ 0 60000 65536"/>
                <a:gd name="T12" fmla="*/ 0 w 1"/>
                <a:gd name="T13" fmla="*/ 0 h 1666"/>
                <a:gd name="T14" fmla="*/ 1 w 1"/>
                <a:gd name="T15" fmla="*/ 1666 h 1666"/>
              </a:gdLst>
              <a:ahLst/>
              <a:cxnLst>
                <a:cxn ang="T8">
                  <a:pos x="T0" y="T1"/>
                </a:cxn>
                <a:cxn ang="T9">
                  <a:pos x="T2" y="T3"/>
                </a:cxn>
                <a:cxn ang="T10">
                  <a:pos x="T4" y="T5"/>
                </a:cxn>
                <a:cxn ang="T11">
                  <a:pos x="T6" y="T7"/>
                </a:cxn>
              </a:cxnLst>
              <a:rect l="T12" t="T13" r="T14" b="T15"/>
              <a:pathLst>
                <a:path w="1" h="1666">
                  <a:moveTo>
                    <a:pt x="0" y="1666"/>
                  </a:moveTo>
                  <a:lnTo>
                    <a:pt x="0" y="0"/>
                  </a:lnTo>
                  <a:lnTo>
                    <a:pt x="0" y="166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3" name="Freeform 5"/>
            <p:cNvSpPr>
              <a:spLocks noEditPoints="1"/>
            </p:cNvSpPr>
            <p:nvPr/>
          </p:nvSpPr>
          <p:spPr bwMode="auto">
            <a:xfrm>
              <a:off x="1066" y="1522"/>
              <a:ext cx="4348" cy="1"/>
            </a:xfrm>
            <a:custGeom>
              <a:avLst/>
              <a:gdLst>
                <a:gd name="T0" fmla="*/ 4348 w 4348"/>
                <a:gd name="T1" fmla="*/ 0 h 1"/>
                <a:gd name="T2" fmla="*/ 0 w 4348"/>
                <a:gd name="T3" fmla="*/ 0 h 1"/>
                <a:gd name="T4" fmla="*/ 4348 w 4348"/>
                <a:gd name="T5" fmla="*/ 0 h 1"/>
                <a:gd name="T6" fmla="*/ 4348 w 4348"/>
                <a:gd name="T7" fmla="*/ 0 h 1"/>
                <a:gd name="T8" fmla="*/ 4348 w 4348"/>
                <a:gd name="T9" fmla="*/ 0 h 1"/>
                <a:gd name="T10" fmla="*/ 4348 w 4348"/>
                <a:gd name="T11" fmla="*/ 0 h 1"/>
                <a:gd name="T12" fmla="*/ 4348 w 4348"/>
                <a:gd name="T13" fmla="*/ 0 h 1"/>
                <a:gd name="T14" fmla="*/ 0 60000 65536"/>
                <a:gd name="T15" fmla="*/ 0 60000 65536"/>
                <a:gd name="T16" fmla="*/ 0 60000 65536"/>
                <a:gd name="T17" fmla="*/ 0 60000 65536"/>
                <a:gd name="T18" fmla="*/ 0 60000 65536"/>
                <a:gd name="T19" fmla="*/ 0 60000 65536"/>
                <a:gd name="T20" fmla="*/ 0 60000 65536"/>
                <a:gd name="T21" fmla="*/ 0 w 4348"/>
                <a:gd name="T22" fmla="*/ 0 h 1"/>
                <a:gd name="T23" fmla="*/ 4348 w 4348"/>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48" h="1">
                  <a:moveTo>
                    <a:pt x="4348" y="0"/>
                  </a:moveTo>
                  <a:lnTo>
                    <a:pt x="0" y="0"/>
                  </a:lnTo>
                  <a:lnTo>
                    <a:pt x="4348" y="0"/>
                  </a:lnTo>
                  <a:close/>
                  <a:moveTo>
                    <a:pt x="4348" y="0"/>
                  </a:moveTo>
                  <a:lnTo>
                    <a:pt x="43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4" name="Freeform 6"/>
            <p:cNvSpPr>
              <a:spLocks noEditPoints="1"/>
            </p:cNvSpPr>
            <p:nvPr/>
          </p:nvSpPr>
          <p:spPr bwMode="auto">
            <a:xfrm>
              <a:off x="1066" y="1522"/>
              <a:ext cx="1" cy="1666"/>
            </a:xfrm>
            <a:custGeom>
              <a:avLst/>
              <a:gdLst>
                <a:gd name="T0" fmla="*/ 0 w 1"/>
                <a:gd name="T1" fmla="*/ 0 h 1666"/>
                <a:gd name="T2" fmla="*/ 0 w 1"/>
                <a:gd name="T3" fmla="*/ 1666 h 1666"/>
                <a:gd name="T4" fmla="*/ 0 w 1"/>
                <a:gd name="T5" fmla="*/ 0 h 1666"/>
                <a:gd name="T6" fmla="*/ 0 w 1"/>
                <a:gd name="T7" fmla="*/ 0 h 1666"/>
                <a:gd name="T8" fmla="*/ 0 w 1"/>
                <a:gd name="T9" fmla="*/ 0 h 1666"/>
                <a:gd name="T10" fmla="*/ 0 w 1"/>
                <a:gd name="T11" fmla="*/ 0 h 1666"/>
                <a:gd name="T12" fmla="*/ 0 w 1"/>
                <a:gd name="T13" fmla="*/ 0 h 1666"/>
                <a:gd name="T14" fmla="*/ 0 60000 65536"/>
                <a:gd name="T15" fmla="*/ 0 60000 65536"/>
                <a:gd name="T16" fmla="*/ 0 60000 65536"/>
                <a:gd name="T17" fmla="*/ 0 60000 65536"/>
                <a:gd name="T18" fmla="*/ 0 60000 65536"/>
                <a:gd name="T19" fmla="*/ 0 60000 65536"/>
                <a:gd name="T20" fmla="*/ 0 60000 65536"/>
                <a:gd name="T21" fmla="*/ 0 w 1"/>
                <a:gd name="T22" fmla="*/ 0 h 1666"/>
                <a:gd name="T23" fmla="*/ 1 w 1"/>
                <a:gd name="T24" fmla="*/ 1666 h 1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666">
                  <a:moveTo>
                    <a:pt x="0" y="0"/>
                  </a:moveTo>
                  <a:lnTo>
                    <a:pt x="0" y="166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5" name="Freeform 7"/>
            <p:cNvSpPr>
              <a:spLocks noEditPoints="1"/>
            </p:cNvSpPr>
            <p:nvPr/>
          </p:nvSpPr>
          <p:spPr bwMode="auto">
            <a:xfrm>
              <a:off x="1066" y="3188"/>
              <a:ext cx="4348" cy="1"/>
            </a:xfrm>
            <a:custGeom>
              <a:avLst/>
              <a:gdLst>
                <a:gd name="T0" fmla="*/ 0 w 4348"/>
                <a:gd name="T1" fmla="*/ 0 h 1"/>
                <a:gd name="T2" fmla="*/ 4348 w 4348"/>
                <a:gd name="T3" fmla="*/ 0 h 1"/>
                <a:gd name="T4" fmla="*/ 0 w 4348"/>
                <a:gd name="T5" fmla="*/ 0 h 1"/>
                <a:gd name="T6" fmla="*/ 0 w 4348"/>
                <a:gd name="T7" fmla="*/ 0 h 1"/>
                <a:gd name="T8" fmla="*/ 0 w 4348"/>
                <a:gd name="T9" fmla="*/ 0 h 1"/>
                <a:gd name="T10" fmla="*/ 0 w 4348"/>
                <a:gd name="T11" fmla="*/ 0 h 1"/>
                <a:gd name="T12" fmla="*/ 0 w 4348"/>
                <a:gd name="T13" fmla="*/ 0 h 1"/>
                <a:gd name="T14" fmla="*/ 0 60000 65536"/>
                <a:gd name="T15" fmla="*/ 0 60000 65536"/>
                <a:gd name="T16" fmla="*/ 0 60000 65536"/>
                <a:gd name="T17" fmla="*/ 0 60000 65536"/>
                <a:gd name="T18" fmla="*/ 0 60000 65536"/>
                <a:gd name="T19" fmla="*/ 0 60000 65536"/>
                <a:gd name="T20" fmla="*/ 0 60000 65536"/>
                <a:gd name="T21" fmla="*/ 0 w 4348"/>
                <a:gd name="T22" fmla="*/ 0 h 1"/>
                <a:gd name="T23" fmla="*/ 4348 w 4348"/>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48" h="1">
                  <a:moveTo>
                    <a:pt x="0" y="0"/>
                  </a:moveTo>
                  <a:lnTo>
                    <a:pt x="4348"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6" name="Freeform 8"/>
            <p:cNvSpPr/>
            <p:nvPr/>
          </p:nvSpPr>
          <p:spPr bwMode="auto">
            <a:xfrm>
              <a:off x="5414" y="318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7" name="Freeform 9"/>
            <p:cNvSpPr/>
            <p:nvPr/>
          </p:nvSpPr>
          <p:spPr bwMode="auto">
            <a:xfrm>
              <a:off x="2531" y="1528"/>
              <a:ext cx="1" cy="1660"/>
            </a:xfrm>
            <a:custGeom>
              <a:avLst/>
              <a:gdLst>
                <a:gd name="T0" fmla="*/ 0 w 1"/>
                <a:gd name="T1" fmla="*/ 0 h 1660"/>
                <a:gd name="T2" fmla="*/ 0 w 1"/>
                <a:gd name="T3" fmla="*/ 1660 h 1660"/>
                <a:gd name="T4" fmla="*/ 0 w 1"/>
                <a:gd name="T5" fmla="*/ 0 h 1660"/>
                <a:gd name="T6" fmla="*/ 0 w 1"/>
                <a:gd name="T7" fmla="*/ 0 h 1660"/>
                <a:gd name="T8" fmla="*/ 0 60000 65536"/>
                <a:gd name="T9" fmla="*/ 0 60000 65536"/>
                <a:gd name="T10" fmla="*/ 0 60000 65536"/>
                <a:gd name="T11" fmla="*/ 0 60000 65536"/>
                <a:gd name="T12" fmla="*/ 0 w 1"/>
                <a:gd name="T13" fmla="*/ 0 h 1660"/>
                <a:gd name="T14" fmla="*/ 1 w 1"/>
                <a:gd name="T15" fmla="*/ 1660 h 1660"/>
              </a:gdLst>
              <a:ahLst/>
              <a:cxnLst>
                <a:cxn ang="T8">
                  <a:pos x="T0" y="T1"/>
                </a:cxn>
                <a:cxn ang="T9">
                  <a:pos x="T2" y="T3"/>
                </a:cxn>
                <a:cxn ang="T10">
                  <a:pos x="T4" y="T5"/>
                </a:cxn>
                <a:cxn ang="T11">
                  <a:pos x="T6" y="T7"/>
                </a:cxn>
              </a:cxnLst>
              <a:rect l="T12" t="T13" r="T14" b="T15"/>
              <a:pathLst>
                <a:path w="1" h="1660">
                  <a:moveTo>
                    <a:pt x="0" y="0"/>
                  </a:moveTo>
                  <a:lnTo>
                    <a:pt x="0" y="166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8" name="Freeform 10"/>
            <p:cNvSpPr/>
            <p:nvPr/>
          </p:nvSpPr>
          <p:spPr bwMode="auto">
            <a:xfrm>
              <a:off x="3099" y="1462"/>
              <a:ext cx="383" cy="126"/>
            </a:xfrm>
            <a:custGeom>
              <a:avLst/>
              <a:gdLst>
                <a:gd name="T0" fmla="*/ 383 w 383"/>
                <a:gd name="T1" fmla="*/ 60 h 126"/>
                <a:gd name="T2" fmla="*/ 359 w 383"/>
                <a:gd name="T3" fmla="*/ 126 h 126"/>
                <a:gd name="T4" fmla="*/ 335 w 383"/>
                <a:gd name="T5" fmla="*/ 60 h 126"/>
                <a:gd name="T6" fmla="*/ 311 w 383"/>
                <a:gd name="T7" fmla="*/ 0 h 126"/>
                <a:gd name="T8" fmla="*/ 287 w 383"/>
                <a:gd name="T9" fmla="*/ 60 h 126"/>
                <a:gd name="T10" fmla="*/ 287 w 383"/>
                <a:gd name="T11" fmla="*/ 60 h 126"/>
                <a:gd name="T12" fmla="*/ 263 w 383"/>
                <a:gd name="T13" fmla="*/ 126 h 126"/>
                <a:gd name="T14" fmla="*/ 239 w 383"/>
                <a:gd name="T15" fmla="*/ 60 h 126"/>
                <a:gd name="T16" fmla="*/ 216 w 383"/>
                <a:gd name="T17" fmla="*/ 0 h 126"/>
                <a:gd name="T18" fmla="*/ 192 w 383"/>
                <a:gd name="T19" fmla="*/ 60 h 126"/>
                <a:gd name="T20" fmla="*/ 168 w 383"/>
                <a:gd name="T21" fmla="*/ 126 h 126"/>
                <a:gd name="T22" fmla="*/ 144 w 383"/>
                <a:gd name="T23" fmla="*/ 60 h 126"/>
                <a:gd name="T24" fmla="*/ 120 w 383"/>
                <a:gd name="T25" fmla="*/ 0 h 126"/>
                <a:gd name="T26" fmla="*/ 96 w 383"/>
                <a:gd name="T27" fmla="*/ 60 h 126"/>
                <a:gd name="T28" fmla="*/ 72 w 383"/>
                <a:gd name="T29" fmla="*/ 126 h 126"/>
                <a:gd name="T30" fmla="*/ 48 w 383"/>
                <a:gd name="T31" fmla="*/ 60 h 126"/>
                <a:gd name="T32" fmla="*/ 24 w 383"/>
                <a:gd name="T33" fmla="*/ 0 h 126"/>
                <a:gd name="T34" fmla="*/ 0 w 383"/>
                <a:gd name="T35" fmla="*/ 60 h 126"/>
                <a:gd name="T36" fmla="*/ 383 w 383"/>
                <a:gd name="T37" fmla="*/ 60 h 126"/>
                <a:gd name="T38" fmla="*/ 383 w 383"/>
                <a:gd name="T39" fmla="*/ 60 h 1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3"/>
                <a:gd name="T61" fmla="*/ 0 h 126"/>
                <a:gd name="T62" fmla="*/ 383 w 383"/>
                <a:gd name="T63" fmla="*/ 126 h 1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3" h="126">
                  <a:moveTo>
                    <a:pt x="383" y="60"/>
                  </a:moveTo>
                  <a:lnTo>
                    <a:pt x="359" y="126"/>
                  </a:lnTo>
                  <a:lnTo>
                    <a:pt x="335" y="60"/>
                  </a:lnTo>
                  <a:lnTo>
                    <a:pt x="311" y="0"/>
                  </a:lnTo>
                  <a:lnTo>
                    <a:pt x="287" y="60"/>
                  </a:lnTo>
                  <a:lnTo>
                    <a:pt x="263" y="126"/>
                  </a:lnTo>
                  <a:lnTo>
                    <a:pt x="239" y="60"/>
                  </a:lnTo>
                  <a:lnTo>
                    <a:pt x="216" y="0"/>
                  </a:lnTo>
                  <a:lnTo>
                    <a:pt x="192" y="60"/>
                  </a:lnTo>
                  <a:lnTo>
                    <a:pt x="168" y="126"/>
                  </a:lnTo>
                  <a:lnTo>
                    <a:pt x="144" y="60"/>
                  </a:lnTo>
                  <a:lnTo>
                    <a:pt x="120" y="0"/>
                  </a:lnTo>
                  <a:lnTo>
                    <a:pt x="96" y="60"/>
                  </a:lnTo>
                  <a:lnTo>
                    <a:pt x="72" y="126"/>
                  </a:lnTo>
                  <a:lnTo>
                    <a:pt x="48" y="60"/>
                  </a:lnTo>
                  <a:lnTo>
                    <a:pt x="24" y="0"/>
                  </a:lnTo>
                  <a:lnTo>
                    <a:pt x="0" y="60"/>
                  </a:lnTo>
                  <a:lnTo>
                    <a:pt x="38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29" name="Freeform 11"/>
            <p:cNvSpPr/>
            <p:nvPr/>
          </p:nvSpPr>
          <p:spPr bwMode="auto">
            <a:xfrm>
              <a:off x="3099" y="1498"/>
              <a:ext cx="383" cy="54"/>
            </a:xfrm>
            <a:custGeom>
              <a:avLst/>
              <a:gdLst>
                <a:gd name="T0" fmla="*/ 0 w 383"/>
                <a:gd name="T1" fmla="*/ 54 h 54"/>
                <a:gd name="T2" fmla="*/ 0 w 383"/>
                <a:gd name="T3" fmla="*/ 0 h 54"/>
                <a:gd name="T4" fmla="*/ 383 w 383"/>
                <a:gd name="T5" fmla="*/ 0 h 54"/>
                <a:gd name="T6" fmla="*/ 383 w 383"/>
                <a:gd name="T7" fmla="*/ 54 h 54"/>
                <a:gd name="T8" fmla="*/ 0 w 383"/>
                <a:gd name="T9" fmla="*/ 54 h 54"/>
                <a:gd name="T10" fmla="*/ 0 w 383"/>
                <a:gd name="T11" fmla="*/ 54 h 54"/>
                <a:gd name="T12" fmla="*/ 0 60000 65536"/>
                <a:gd name="T13" fmla="*/ 0 60000 65536"/>
                <a:gd name="T14" fmla="*/ 0 60000 65536"/>
                <a:gd name="T15" fmla="*/ 0 60000 65536"/>
                <a:gd name="T16" fmla="*/ 0 60000 65536"/>
                <a:gd name="T17" fmla="*/ 0 60000 65536"/>
                <a:gd name="T18" fmla="*/ 0 w 383"/>
                <a:gd name="T19" fmla="*/ 0 h 54"/>
                <a:gd name="T20" fmla="*/ 383 w 383"/>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83" h="54">
                  <a:moveTo>
                    <a:pt x="0" y="54"/>
                  </a:moveTo>
                  <a:lnTo>
                    <a:pt x="0" y="0"/>
                  </a:lnTo>
                  <a:lnTo>
                    <a:pt x="383" y="0"/>
                  </a:lnTo>
                  <a:lnTo>
                    <a:pt x="383"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0" name="Freeform 12"/>
            <p:cNvSpPr/>
            <p:nvPr/>
          </p:nvSpPr>
          <p:spPr bwMode="auto">
            <a:xfrm>
              <a:off x="3458"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1" name="Freeform 13"/>
            <p:cNvSpPr>
              <a:spLocks noEditPoints="1"/>
            </p:cNvSpPr>
            <p:nvPr/>
          </p:nvSpPr>
          <p:spPr bwMode="auto">
            <a:xfrm>
              <a:off x="3434"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2" name="Freeform 14"/>
            <p:cNvSpPr>
              <a:spLocks noEditPoints="1"/>
            </p:cNvSpPr>
            <p:nvPr/>
          </p:nvSpPr>
          <p:spPr bwMode="auto">
            <a:xfrm>
              <a:off x="3410"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3" name="Freeform 15"/>
            <p:cNvSpPr>
              <a:spLocks noEditPoints="1"/>
            </p:cNvSpPr>
            <p:nvPr/>
          </p:nvSpPr>
          <p:spPr bwMode="auto">
            <a:xfrm>
              <a:off x="3386"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4" name="Freeform 16"/>
            <p:cNvSpPr>
              <a:spLocks noEditPoints="1"/>
            </p:cNvSpPr>
            <p:nvPr/>
          </p:nvSpPr>
          <p:spPr bwMode="auto">
            <a:xfrm>
              <a:off x="3386"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5" name="Freeform 17"/>
            <p:cNvSpPr>
              <a:spLocks noEditPoints="1"/>
            </p:cNvSpPr>
            <p:nvPr/>
          </p:nvSpPr>
          <p:spPr bwMode="auto">
            <a:xfrm>
              <a:off x="3362"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6" name="Freeform 18"/>
            <p:cNvSpPr>
              <a:spLocks noEditPoints="1"/>
            </p:cNvSpPr>
            <p:nvPr/>
          </p:nvSpPr>
          <p:spPr bwMode="auto">
            <a:xfrm>
              <a:off x="3338"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7" name="Freeform 19"/>
            <p:cNvSpPr>
              <a:spLocks noEditPoints="1"/>
            </p:cNvSpPr>
            <p:nvPr/>
          </p:nvSpPr>
          <p:spPr bwMode="auto">
            <a:xfrm>
              <a:off x="3315" y="1462"/>
              <a:ext cx="23" cy="60"/>
            </a:xfrm>
            <a:custGeom>
              <a:avLst/>
              <a:gdLst>
                <a:gd name="T0" fmla="*/ 23 w 23"/>
                <a:gd name="T1" fmla="*/ 60 h 60"/>
                <a:gd name="T2" fmla="*/ 0 w 23"/>
                <a:gd name="T3" fmla="*/ 0 h 60"/>
                <a:gd name="T4" fmla="*/ 23 w 23"/>
                <a:gd name="T5" fmla="*/ 60 h 60"/>
                <a:gd name="T6" fmla="*/ 23 w 23"/>
                <a:gd name="T7" fmla="*/ 60 h 60"/>
                <a:gd name="T8" fmla="*/ 23 w 23"/>
                <a:gd name="T9" fmla="*/ 60 h 60"/>
                <a:gd name="T10" fmla="*/ 23 w 23"/>
                <a:gd name="T11" fmla="*/ 60 h 60"/>
                <a:gd name="T12" fmla="*/ 23 w 23"/>
                <a:gd name="T13" fmla="*/ 60 h 60"/>
                <a:gd name="T14" fmla="*/ 0 60000 65536"/>
                <a:gd name="T15" fmla="*/ 0 60000 65536"/>
                <a:gd name="T16" fmla="*/ 0 60000 65536"/>
                <a:gd name="T17" fmla="*/ 0 60000 65536"/>
                <a:gd name="T18" fmla="*/ 0 60000 65536"/>
                <a:gd name="T19" fmla="*/ 0 60000 65536"/>
                <a:gd name="T20" fmla="*/ 0 60000 65536"/>
                <a:gd name="T21" fmla="*/ 0 w 23"/>
                <a:gd name="T22" fmla="*/ 0 h 60"/>
                <a:gd name="T23" fmla="*/ 23 w 23"/>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0">
                  <a:moveTo>
                    <a:pt x="23" y="60"/>
                  </a:moveTo>
                  <a:lnTo>
                    <a:pt x="0" y="0"/>
                  </a:lnTo>
                  <a:lnTo>
                    <a:pt x="23" y="60"/>
                  </a:lnTo>
                  <a:close/>
                  <a:moveTo>
                    <a:pt x="23" y="60"/>
                  </a:moveTo>
                  <a:lnTo>
                    <a:pt x="2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8" name="Freeform 20"/>
            <p:cNvSpPr>
              <a:spLocks noEditPoints="1"/>
            </p:cNvSpPr>
            <p:nvPr/>
          </p:nvSpPr>
          <p:spPr bwMode="auto">
            <a:xfrm>
              <a:off x="3291"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39" name="Freeform 21"/>
            <p:cNvSpPr>
              <a:spLocks noEditPoints="1"/>
            </p:cNvSpPr>
            <p:nvPr/>
          </p:nvSpPr>
          <p:spPr bwMode="auto">
            <a:xfrm>
              <a:off x="3267"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0" name="Freeform 22"/>
            <p:cNvSpPr>
              <a:spLocks noEditPoints="1"/>
            </p:cNvSpPr>
            <p:nvPr/>
          </p:nvSpPr>
          <p:spPr bwMode="auto">
            <a:xfrm>
              <a:off x="3243"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1" name="Freeform 23"/>
            <p:cNvSpPr>
              <a:spLocks noEditPoints="1"/>
            </p:cNvSpPr>
            <p:nvPr/>
          </p:nvSpPr>
          <p:spPr bwMode="auto">
            <a:xfrm>
              <a:off x="3219"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2" name="Freeform 24"/>
            <p:cNvSpPr>
              <a:spLocks noEditPoints="1"/>
            </p:cNvSpPr>
            <p:nvPr/>
          </p:nvSpPr>
          <p:spPr bwMode="auto">
            <a:xfrm>
              <a:off x="3195"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3" name="Freeform 25"/>
            <p:cNvSpPr>
              <a:spLocks noEditPoints="1"/>
            </p:cNvSpPr>
            <p:nvPr/>
          </p:nvSpPr>
          <p:spPr bwMode="auto">
            <a:xfrm>
              <a:off x="3171"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4" name="Freeform 26"/>
            <p:cNvSpPr>
              <a:spLocks noEditPoints="1"/>
            </p:cNvSpPr>
            <p:nvPr/>
          </p:nvSpPr>
          <p:spPr bwMode="auto">
            <a:xfrm>
              <a:off x="3147"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5" name="Freeform 27"/>
            <p:cNvSpPr>
              <a:spLocks noEditPoints="1"/>
            </p:cNvSpPr>
            <p:nvPr/>
          </p:nvSpPr>
          <p:spPr bwMode="auto">
            <a:xfrm>
              <a:off x="3123"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6" name="Freeform 28"/>
            <p:cNvSpPr>
              <a:spLocks noEditPoints="1"/>
            </p:cNvSpPr>
            <p:nvPr/>
          </p:nvSpPr>
          <p:spPr bwMode="auto">
            <a:xfrm>
              <a:off x="3099"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7" name="Freeform 29"/>
            <p:cNvSpPr/>
            <p:nvPr/>
          </p:nvSpPr>
          <p:spPr bwMode="auto">
            <a:xfrm>
              <a:off x="4517" y="1462"/>
              <a:ext cx="382" cy="126"/>
            </a:xfrm>
            <a:custGeom>
              <a:avLst/>
              <a:gdLst>
                <a:gd name="T0" fmla="*/ 382 w 382"/>
                <a:gd name="T1" fmla="*/ 60 h 126"/>
                <a:gd name="T2" fmla="*/ 358 w 382"/>
                <a:gd name="T3" fmla="*/ 126 h 126"/>
                <a:gd name="T4" fmla="*/ 335 w 382"/>
                <a:gd name="T5" fmla="*/ 60 h 126"/>
                <a:gd name="T6" fmla="*/ 311 w 382"/>
                <a:gd name="T7" fmla="*/ 0 h 126"/>
                <a:gd name="T8" fmla="*/ 287 w 382"/>
                <a:gd name="T9" fmla="*/ 60 h 126"/>
                <a:gd name="T10" fmla="*/ 287 w 382"/>
                <a:gd name="T11" fmla="*/ 60 h 126"/>
                <a:gd name="T12" fmla="*/ 263 w 382"/>
                <a:gd name="T13" fmla="*/ 126 h 126"/>
                <a:gd name="T14" fmla="*/ 239 w 382"/>
                <a:gd name="T15" fmla="*/ 60 h 126"/>
                <a:gd name="T16" fmla="*/ 215 w 382"/>
                <a:gd name="T17" fmla="*/ 0 h 126"/>
                <a:gd name="T18" fmla="*/ 191 w 382"/>
                <a:gd name="T19" fmla="*/ 60 h 126"/>
                <a:gd name="T20" fmla="*/ 167 w 382"/>
                <a:gd name="T21" fmla="*/ 126 h 126"/>
                <a:gd name="T22" fmla="*/ 143 w 382"/>
                <a:gd name="T23" fmla="*/ 60 h 126"/>
                <a:gd name="T24" fmla="*/ 119 w 382"/>
                <a:gd name="T25" fmla="*/ 0 h 126"/>
                <a:gd name="T26" fmla="*/ 95 w 382"/>
                <a:gd name="T27" fmla="*/ 60 h 126"/>
                <a:gd name="T28" fmla="*/ 71 w 382"/>
                <a:gd name="T29" fmla="*/ 126 h 126"/>
                <a:gd name="T30" fmla="*/ 47 w 382"/>
                <a:gd name="T31" fmla="*/ 60 h 126"/>
                <a:gd name="T32" fmla="*/ 24 w 382"/>
                <a:gd name="T33" fmla="*/ 0 h 126"/>
                <a:gd name="T34" fmla="*/ 0 w 382"/>
                <a:gd name="T35" fmla="*/ 60 h 126"/>
                <a:gd name="T36" fmla="*/ 382 w 382"/>
                <a:gd name="T37" fmla="*/ 60 h 126"/>
                <a:gd name="T38" fmla="*/ 382 w 382"/>
                <a:gd name="T39" fmla="*/ 60 h 1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2"/>
                <a:gd name="T61" fmla="*/ 0 h 126"/>
                <a:gd name="T62" fmla="*/ 382 w 382"/>
                <a:gd name="T63" fmla="*/ 126 h 1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2" h="126">
                  <a:moveTo>
                    <a:pt x="382" y="60"/>
                  </a:moveTo>
                  <a:lnTo>
                    <a:pt x="358" y="126"/>
                  </a:lnTo>
                  <a:lnTo>
                    <a:pt x="335" y="60"/>
                  </a:lnTo>
                  <a:lnTo>
                    <a:pt x="311" y="0"/>
                  </a:lnTo>
                  <a:lnTo>
                    <a:pt x="287" y="60"/>
                  </a:lnTo>
                  <a:lnTo>
                    <a:pt x="263" y="126"/>
                  </a:lnTo>
                  <a:lnTo>
                    <a:pt x="239" y="60"/>
                  </a:lnTo>
                  <a:lnTo>
                    <a:pt x="215" y="0"/>
                  </a:lnTo>
                  <a:lnTo>
                    <a:pt x="191" y="60"/>
                  </a:lnTo>
                  <a:lnTo>
                    <a:pt x="167" y="126"/>
                  </a:lnTo>
                  <a:lnTo>
                    <a:pt x="143" y="60"/>
                  </a:lnTo>
                  <a:lnTo>
                    <a:pt x="119" y="0"/>
                  </a:lnTo>
                  <a:lnTo>
                    <a:pt x="95" y="60"/>
                  </a:lnTo>
                  <a:lnTo>
                    <a:pt x="71" y="126"/>
                  </a:lnTo>
                  <a:lnTo>
                    <a:pt x="47" y="60"/>
                  </a:lnTo>
                  <a:lnTo>
                    <a:pt x="24" y="0"/>
                  </a:lnTo>
                  <a:lnTo>
                    <a:pt x="0" y="60"/>
                  </a:lnTo>
                  <a:lnTo>
                    <a:pt x="382"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8" name="Freeform 30"/>
            <p:cNvSpPr/>
            <p:nvPr/>
          </p:nvSpPr>
          <p:spPr bwMode="auto">
            <a:xfrm>
              <a:off x="4517" y="1498"/>
              <a:ext cx="382" cy="54"/>
            </a:xfrm>
            <a:custGeom>
              <a:avLst/>
              <a:gdLst>
                <a:gd name="T0" fmla="*/ 0 w 382"/>
                <a:gd name="T1" fmla="*/ 54 h 54"/>
                <a:gd name="T2" fmla="*/ 0 w 382"/>
                <a:gd name="T3" fmla="*/ 0 h 54"/>
                <a:gd name="T4" fmla="*/ 382 w 382"/>
                <a:gd name="T5" fmla="*/ 0 h 54"/>
                <a:gd name="T6" fmla="*/ 382 w 382"/>
                <a:gd name="T7" fmla="*/ 54 h 54"/>
                <a:gd name="T8" fmla="*/ 0 w 382"/>
                <a:gd name="T9" fmla="*/ 54 h 54"/>
                <a:gd name="T10" fmla="*/ 0 w 382"/>
                <a:gd name="T11" fmla="*/ 54 h 54"/>
                <a:gd name="T12" fmla="*/ 0 60000 65536"/>
                <a:gd name="T13" fmla="*/ 0 60000 65536"/>
                <a:gd name="T14" fmla="*/ 0 60000 65536"/>
                <a:gd name="T15" fmla="*/ 0 60000 65536"/>
                <a:gd name="T16" fmla="*/ 0 60000 65536"/>
                <a:gd name="T17" fmla="*/ 0 60000 65536"/>
                <a:gd name="T18" fmla="*/ 0 w 382"/>
                <a:gd name="T19" fmla="*/ 0 h 54"/>
                <a:gd name="T20" fmla="*/ 382 w 382"/>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82" h="54">
                  <a:moveTo>
                    <a:pt x="0" y="54"/>
                  </a:moveTo>
                  <a:lnTo>
                    <a:pt x="0" y="0"/>
                  </a:lnTo>
                  <a:lnTo>
                    <a:pt x="382" y="0"/>
                  </a:lnTo>
                  <a:lnTo>
                    <a:pt x="382"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49" name="Freeform 31"/>
            <p:cNvSpPr>
              <a:spLocks noEditPoints="1"/>
            </p:cNvSpPr>
            <p:nvPr/>
          </p:nvSpPr>
          <p:spPr bwMode="auto">
            <a:xfrm>
              <a:off x="4684"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0" name="Freeform 32"/>
            <p:cNvSpPr>
              <a:spLocks noEditPoints="1"/>
            </p:cNvSpPr>
            <p:nvPr/>
          </p:nvSpPr>
          <p:spPr bwMode="auto">
            <a:xfrm>
              <a:off x="4660"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1" name="Freeform 33"/>
            <p:cNvSpPr>
              <a:spLocks noEditPoints="1"/>
            </p:cNvSpPr>
            <p:nvPr/>
          </p:nvSpPr>
          <p:spPr bwMode="auto">
            <a:xfrm>
              <a:off x="4636"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2" name="Freeform 34"/>
            <p:cNvSpPr>
              <a:spLocks noEditPoints="1"/>
            </p:cNvSpPr>
            <p:nvPr/>
          </p:nvSpPr>
          <p:spPr bwMode="auto">
            <a:xfrm>
              <a:off x="4612"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3" name="Freeform 35"/>
            <p:cNvSpPr>
              <a:spLocks noEditPoints="1"/>
            </p:cNvSpPr>
            <p:nvPr/>
          </p:nvSpPr>
          <p:spPr bwMode="auto">
            <a:xfrm>
              <a:off x="4588"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4" name="Freeform 36"/>
            <p:cNvSpPr>
              <a:spLocks noEditPoints="1"/>
            </p:cNvSpPr>
            <p:nvPr/>
          </p:nvSpPr>
          <p:spPr bwMode="auto">
            <a:xfrm>
              <a:off x="4564"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5" name="Freeform 37"/>
            <p:cNvSpPr>
              <a:spLocks noEditPoints="1"/>
            </p:cNvSpPr>
            <p:nvPr/>
          </p:nvSpPr>
          <p:spPr bwMode="auto">
            <a:xfrm>
              <a:off x="4541" y="1462"/>
              <a:ext cx="23" cy="60"/>
            </a:xfrm>
            <a:custGeom>
              <a:avLst/>
              <a:gdLst>
                <a:gd name="T0" fmla="*/ 23 w 23"/>
                <a:gd name="T1" fmla="*/ 60 h 60"/>
                <a:gd name="T2" fmla="*/ 0 w 23"/>
                <a:gd name="T3" fmla="*/ 0 h 60"/>
                <a:gd name="T4" fmla="*/ 23 w 23"/>
                <a:gd name="T5" fmla="*/ 60 h 60"/>
                <a:gd name="T6" fmla="*/ 23 w 23"/>
                <a:gd name="T7" fmla="*/ 60 h 60"/>
                <a:gd name="T8" fmla="*/ 23 w 23"/>
                <a:gd name="T9" fmla="*/ 60 h 60"/>
                <a:gd name="T10" fmla="*/ 23 w 23"/>
                <a:gd name="T11" fmla="*/ 60 h 60"/>
                <a:gd name="T12" fmla="*/ 23 w 23"/>
                <a:gd name="T13" fmla="*/ 60 h 60"/>
                <a:gd name="T14" fmla="*/ 0 60000 65536"/>
                <a:gd name="T15" fmla="*/ 0 60000 65536"/>
                <a:gd name="T16" fmla="*/ 0 60000 65536"/>
                <a:gd name="T17" fmla="*/ 0 60000 65536"/>
                <a:gd name="T18" fmla="*/ 0 60000 65536"/>
                <a:gd name="T19" fmla="*/ 0 60000 65536"/>
                <a:gd name="T20" fmla="*/ 0 60000 65536"/>
                <a:gd name="T21" fmla="*/ 0 w 23"/>
                <a:gd name="T22" fmla="*/ 0 h 60"/>
                <a:gd name="T23" fmla="*/ 23 w 23"/>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0">
                  <a:moveTo>
                    <a:pt x="23" y="60"/>
                  </a:moveTo>
                  <a:lnTo>
                    <a:pt x="0" y="0"/>
                  </a:lnTo>
                  <a:lnTo>
                    <a:pt x="23" y="60"/>
                  </a:lnTo>
                  <a:close/>
                  <a:moveTo>
                    <a:pt x="23" y="60"/>
                  </a:moveTo>
                  <a:lnTo>
                    <a:pt x="2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6" name="Freeform 38"/>
            <p:cNvSpPr>
              <a:spLocks noEditPoints="1"/>
            </p:cNvSpPr>
            <p:nvPr/>
          </p:nvSpPr>
          <p:spPr bwMode="auto">
            <a:xfrm>
              <a:off x="4517"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7" name="Freeform 39"/>
            <p:cNvSpPr/>
            <p:nvPr/>
          </p:nvSpPr>
          <p:spPr bwMode="auto">
            <a:xfrm>
              <a:off x="5497" y="1767"/>
              <a:ext cx="72" cy="137"/>
            </a:xfrm>
            <a:custGeom>
              <a:avLst/>
              <a:gdLst>
                <a:gd name="T0" fmla="*/ 0 w 72"/>
                <a:gd name="T1" fmla="*/ 137 h 137"/>
                <a:gd name="T2" fmla="*/ 48 w 72"/>
                <a:gd name="T3" fmla="*/ 137 h 137"/>
                <a:gd name="T4" fmla="*/ 48 w 72"/>
                <a:gd name="T5" fmla="*/ 131 h 137"/>
                <a:gd name="T6" fmla="*/ 36 w 72"/>
                <a:gd name="T7" fmla="*/ 131 h 137"/>
                <a:gd name="T8" fmla="*/ 30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36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36" y="131"/>
                  </a:lnTo>
                  <a:lnTo>
                    <a:pt x="30" y="125"/>
                  </a:lnTo>
                  <a:lnTo>
                    <a:pt x="36" y="119"/>
                  </a:lnTo>
                  <a:lnTo>
                    <a:pt x="36" y="113"/>
                  </a:lnTo>
                  <a:lnTo>
                    <a:pt x="60" y="18"/>
                  </a:lnTo>
                  <a:lnTo>
                    <a:pt x="66" y="6"/>
                  </a:lnTo>
                  <a:lnTo>
                    <a:pt x="72" y="0"/>
                  </a:lnTo>
                  <a:lnTo>
                    <a:pt x="30" y="0"/>
                  </a:lnTo>
                  <a:lnTo>
                    <a:pt x="36" y="6"/>
                  </a:lnTo>
                  <a:lnTo>
                    <a:pt x="42" y="12"/>
                  </a:lnTo>
                  <a:lnTo>
                    <a:pt x="42" y="18"/>
                  </a:lnTo>
                  <a:lnTo>
                    <a:pt x="36"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8" name="Freeform 40"/>
            <p:cNvSpPr>
              <a:spLocks noEditPoints="1"/>
            </p:cNvSpPr>
            <p:nvPr/>
          </p:nvSpPr>
          <p:spPr bwMode="auto">
            <a:xfrm>
              <a:off x="5563" y="1886"/>
              <a:ext cx="60" cy="72"/>
            </a:xfrm>
            <a:custGeom>
              <a:avLst/>
              <a:gdLst>
                <a:gd name="T0" fmla="*/ 42 w 60"/>
                <a:gd name="T1" fmla="*/ 0 h 72"/>
                <a:gd name="T2" fmla="*/ 30 w 60"/>
                <a:gd name="T3" fmla="*/ 6 h 72"/>
                <a:gd name="T4" fmla="*/ 12 w 60"/>
                <a:gd name="T5" fmla="*/ 18 h 72"/>
                <a:gd name="T6" fmla="*/ 6 w 60"/>
                <a:gd name="T7" fmla="*/ 30 h 72"/>
                <a:gd name="T8" fmla="*/ 0 w 60"/>
                <a:gd name="T9" fmla="*/ 48 h 72"/>
                <a:gd name="T10" fmla="*/ 6 w 60"/>
                <a:gd name="T11" fmla="*/ 66 h 72"/>
                <a:gd name="T12" fmla="*/ 24 w 60"/>
                <a:gd name="T13" fmla="*/ 72 h 72"/>
                <a:gd name="T14" fmla="*/ 36 w 60"/>
                <a:gd name="T15" fmla="*/ 66 h 72"/>
                <a:gd name="T16" fmla="*/ 48 w 60"/>
                <a:gd name="T17" fmla="*/ 54 h 72"/>
                <a:gd name="T18" fmla="*/ 60 w 60"/>
                <a:gd name="T19" fmla="*/ 42 h 72"/>
                <a:gd name="T20" fmla="*/ 60 w 60"/>
                <a:gd name="T21" fmla="*/ 24 h 72"/>
                <a:gd name="T22" fmla="*/ 60 w 60"/>
                <a:gd name="T23" fmla="*/ 6 h 72"/>
                <a:gd name="T24" fmla="*/ 54 w 60"/>
                <a:gd name="T25" fmla="*/ 0 h 72"/>
                <a:gd name="T26" fmla="*/ 42 w 60"/>
                <a:gd name="T27" fmla="*/ 0 h 72"/>
                <a:gd name="T28" fmla="*/ 42 w 60"/>
                <a:gd name="T29" fmla="*/ 0 h 72"/>
                <a:gd name="T30" fmla="*/ 42 w 60"/>
                <a:gd name="T31" fmla="*/ 6 h 72"/>
                <a:gd name="T32" fmla="*/ 48 w 60"/>
                <a:gd name="T33" fmla="*/ 12 h 72"/>
                <a:gd name="T34" fmla="*/ 48 w 60"/>
                <a:gd name="T35" fmla="*/ 18 h 72"/>
                <a:gd name="T36" fmla="*/ 42 w 60"/>
                <a:gd name="T37" fmla="*/ 48 h 72"/>
                <a:gd name="T38" fmla="*/ 36 w 60"/>
                <a:gd name="T39" fmla="*/ 60 h 72"/>
                <a:gd name="T40" fmla="*/ 24 w 60"/>
                <a:gd name="T41" fmla="*/ 66 h 72"/>
                <a:gd name="T42" fmla="*/ 18 w 60"/>
                <a:gd name="T43" fmla="*/ 66 h 72"/>
                <a:gd name="T44" fmla="*/ 12 w 60"/>
                <a:gd name="T45" fmla="*/ 54 h 72"/>
                <a:gd name="T46" fmla="*/ 18 w 60"/>
                <a:gd name="T47" fmla="*/ 24 h 72"/>
                <a:gd name="T48" fmla="*/ 30 w 60"/>
                <a:gd name="T49" fmla="*/ 12 h 72"/>
                <a:gd name="T50" fmla="*/ 42 w 60"/>
                <a:gd name="T51" fmla="*/ 6 h 72"/>
                <a:gd name="T52" fmla="*/ 42 w 60"/>
                <a:gd name="T53" fmla="*/ 6 h 7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0"/>
                <a:gd name="T82" fmla="*/ 0 h 72"/>
                <a:gd name="T83" fmla="*/ 60 w 60"/>
                <a:gd name="T84" fmla="*/ 72 h 7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0" h="72">
                  <a:moveTo>
                    <a:pt x="42" y="0"/>
                  </a:moveTo>
                  <a:lnTo>
                    <a:pt x="30" y="6"/>
                  </a:lnTo>
                  <a:lnTo>
                    <a:pt x="12" y="18"/>
                  </a:lnTo>
                  <a:lnTo>
                    <a:pt x="6" y="30"/>
                  </a:lnTo>
                  <a:lnTo>
                    <a:pt x="0" y="48"/>
                  </a:lnTo>
                  <a:lnTo>
                    <a:pt x="6" y="66"/>
                  </a:lnTo>
                  <a:lnTo>
                    <a:pt x="24" y="72"/>
                  </a:lnTo>
                  <a:lnTo>
                    <a:pt x="36" y="66"/>
                  </a:lnTo>
                  <a:lnTo>
                    <a:pt x="48" y="54"/>
                  </a:lnTo>
                  <a:lnTo>
                    <a:pt x="60" y="42"/>
                  </a:lnTo>
                  <a:lnTo>
                    <a:pt x="60" y="24"/>
                  </a:lnTo>
                  <a:lnTo>
                    <a:pt x="60" y="6"/>
                  </a:lnTo>
                  <a:lnTo>
                    <a:pt x="54" y="0"/>
                  </a:lnTo>
                  <a:lnTo>
                    <a:pt x="42" y="0"/>
                  </a:lnTo>
                  <a:close/>
                  <a:moveTo>
                    <a:pt x="42" y="6"/>
                  </a:moveTo>
                  <a:lnTo>
                    <a:pt x="48" y="12"/>
                  </a:lnTo>
                  <a:lnTo>
                    <a:pt x="48" y="18"/>
                  </a:lnTo>
                  <a:lnTo>
                    <a:pt x="42" y="48"/>
                  </a:lnTo>
                  <a:lnTo>
                    <a:pt x="36" y="60"/>
                  </a:lnTo>
                  <a:lnTo>
                    <a:pt x="24" y="66"/>
                  </a:lnTo>
                  <a:lnTo>
                    <a:pt x="18" y="66"/>
                  </a:lnTo>
                  <a:lnTo>
                    <a:pt x="12" y="54"/>
                  </a:lnTo>
                  <a:lnTo>
                    <a:pt x="18" y="24"/>
                  </a:lnTo>
                  <a:lnTo>
                    <a:pt x="30" y="12"/>
                  </a:lnTo>
                  <a:lnTo>
                    <a:pt x="42"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59" name="Freeform 41"/>
            <p:cNvSpPr/>
            <p:nvPr/>
          </p:nvSpPr>
          <p:spPr bwMode="auto">
            <a:xfrm>
              <a:off x="1269" y="1259"/>
              <a:ext cx="78" cy="138"/>
            </a:xfrm>
            <a:custGeom>
              <a:avLst/>
              <a:gdLst>
                <a:gd name="T0" fmla="*/ 0 w 78"/>
                <a:gd name="T1" fmla="*/ 138 h 138"/>
                <a:gd name="T2" fmla="*/ 48 w 78"/>
                <a:gd name="T3" fmla="*/ 138 h 138"/>
                <a:gd name="T4" fmla="*/ 48 w 78"/>
                <a:gd name="T5" fmla="*/ 132 h 138"/>
                <a:gd name="T6" fmla="*/ 42 w 78"/>
                <a:gd name="T7" fmla="*/ 132 h 138"/>
                <a:gd name="T8" fmla="*/ 36 w 78"/>
                <a:gd name="T9" fmla="*/ 126 h 138"/>
                <a:gd name="T10" fmla="*/ 36 w 78"/>
                <a:gd name="T11" fmla="*/ 108 h 138"/>
                <a:gd name="T12" fmla="*/ 60 w 78"/>
                <a:gd name="T13" fmla="*/ 18 h 138"/>
                <a:gd name="T14" fmla="*/ 66 w 78"/>
                <a:gd name="T15" fmla="*/ 6 h 138"/>
                <a:gd name="T16" fmla="*/ 78 w 78"/>
                <a:gd name="T17" fmla="*/ 0 h 138"/>
                <a:gd name="T18" fmla="*/ 78 w 78"/>
                <a:gd name="T19" fmla="*/ 0 h 138"/>
                <a:gd name="T20" fmla="*/ 30 w 78"/>
                <a:gd name="T21" fmla="*/ 0 h 138"/>
                <a:gd name="T22" fmla="*/ 30 w 78"/>
                <a:gd name="T23" fmla="*/ 0 h 138"/>
                <a:gd name="T24" fmla="*/ 36 w 78"/>
                <a:gd name="T25" fmla="*/ 0 h 138"/>
                <a:gd name="T26" fmla="*/ 42 w 78"/>
                <a:gd name="T27" fmla="*/ 12 h 138"/>
                <a:gd name="T28" fmla="*/ 42 w 78"/>
                <a:gd name="T29" fmla="*/ 18 h 138"/>
                <a:gd name="T30" fmla="*/ 42 w 78"/>
                <a:gd name="T31" fmla="*/ 24 h 138"/>
                <a:gd name="T32" fmla="*/ 18 w 78"/>
                <a:gd name="T33" fmla="*/ 114 h 138"/>
                <a:gd name="T34" fmla="*/ 12 w 78"/>
                <a:gd name="T35" fmla="*/ 126 h 138"/>
                <a:gd name="T36" fmla="*/ 12 w 78"/>
                <a:gd name="T37" fmla="*/ 132 h 138"/>
                <a:gd name="T38" fmla="*/ 0 w 78"/>
                <a:gd name="T39" fmla="*/ 132 h 138"/>
                <a:gd name="T40" fmla="*/ 0 w 78"/>
                <a:gd name="T41" fmla="*/ 138 h 1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8"/>
                <a:gd name="T64" fmla="*/ 0 h 138"/>
                <a:gd name="T65" fmla="*/ 78 w 78"/>
                <a:gd name="T66" fmla="*/ 138 h 1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8" h="138">
                  <a:moveTo>
                    <a:pt x="0" y="138"/>
                  </a:moveTo>
                  <a:lnTo>
                    <a:pt x="48" y="138"/>
                  </a:lnTo>
                  <a:lnTo>
                    <a:pt x="48" y="132"/>
                  </a:lnTo>
                  <a:lnTo>
                    <a:pt x="42" y="132"/>
                  </a:lnTo>
                  <a:lnTo>
                    <a:pt x="36" y="126"/>
                  </a:lnTo>
                  <a:lnTo>
                    <a:pt x="36" y="108"/>
                  </a:lnTo>
                  <a:lnTo>
                    <a:pt x="60" y="18"/>
                  </a:lnTo>
                  <a:lnTo>
                    <a:pt x="66" y="6"/>
                  </a:lnTo>
                  <a:lnTo>
                    <a:pt x="78" y="0"/>
                  </a:lnTo>
                  <a:lnTo>
                    <a:pt x="30" y="0"/>
                  </a:lnTo>
                  <a:lnTo>
                    <a:pt x="36" y="0"/>
                  </a:lnTo>
                  <a:lnTo>
                    <a:pt x="42" y="12"/>
                  </a:lnTo>
                  <a:lnTo>
                    <a:pt x="42" y="18"/>
                  </a:lnTo>
                  <a:lnTo>
                    <a:pt x="42" y="24"/>
                  </a:lnTo>
                  <a:lnTo>
                    <a:pt x="18" y="114"/>
                  </a:lnTo>
                  <a:lnTo>
                    <a:pt x="12" y="126"/>
                  </a:lnTo>
                  <a:lnTo>
                    <a:pt x="12" y="132"/>
                  </a:lnTo>
                  <a:lnTo>
                    <a:pt x="0"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0" name="Freeform 42"/>
            <p:cNvSpPr>
              <a:spLocks noEditPoints="1"/>
            </p:cNvSpPr>
            <p:nvPr/>
          </p:nvSpPr>
          <p:spPr bwMode="auto">
            <a:xfrm>
              <a:off x="1341" y="1343"/>
              <a:ext cx="66" cy="101"/>
            </a:xfrm>
            <a:custGeom>
              <a:avLst/>
              <a:gdLst>
                <a:gd name="T0" fmla="*/ 66 w 66"/>
                <a:gd name="T1" fmla="*/ 66 h 101"/>
                <a:gd name="T2" fmla="*/ 48 w 66"/>
                <a:gd name="T3" fmla="*/ 66 h 101"/>
                <a:gd name="T4" fmla="*/ 48 w 66"/>
                <a:gd name="T5" fmla="*/ 0 h 101"/>
                <a:gd name="T6" fmla="*/ 42 w 66"/>
                <a:gd name="T7" fmla="*/ 0 h 101"/>
                <a:gd name="T8" fmla="*/ 0 w 66"/>
                <a:gd name="T9" fmla="*/ 66 h 101"/>
                <a:gd name="T10" fmla="*/ 0 w 66"/>
                <a:gd name="T11" fmla="*/ 78 h 101"/>
                <a:gd name="T12" fmla="*/ 42 w 66"/>
                <a:gd name="T13" fmla="*/ 78 h 101"/>
                <a:gd name="T14" fmla="*/ 42 w 66"/>
                <a:gd name="T15" fmla="*/ 101 h 101"/>
                <a:gd name="T16" fmla="*/ 48 w 66"/>
                <a:gd name="T17" fmla="*/ 101 h 101"/>
                <a:gd name="T18" fmla="*/ 48 w 66"/>
                <a:gd name="T19" fmla="*/ 78 h 101"/>
                <a:gd name="T20" fmla="*/ 66 w 66"/>
                <a:gd name="T21" fmla="*/ 78 h 101"/>
                <a:gd name="T22" fmla="*/ 66 w 66"/>
                <a:gd name="T23" fmla="*/ 66 h 101"/>
                <a:gd name="T24" fmla="*/ 42 w 66"/>
                <a:gd name="T25" fmla="*/ 66 h 101"/>
                <a:gd name="T26" fmla="*/ 6 w 66"/>
                <a:gd name="T27" fmla="*/ 66 h 101"/>
                <a:gd name="T28" fmla="*/ 36 w 66"/>
                <a:gd name="T29" fmla="*/ 12 h 101"/>
                <a:gd name="T30" fmla="*/ 42 w 66"/>
                <a:gd name="T31" fmla="*/ 12 h 101"/>
                <a:gd name="T32" fmla="*/ 42 w 66"/>
                <a:gd name="T33" fmla="*/ 66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6"/>
                <a:gd name="T52" fmla="*/ 0 h 101"/>
                <a:gd name="T53" fmla="*/ 66 w 66"/>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6" h="101">
                  <a:moveTo>
                    <a:pt x="66" y="66"/>
                  </a:moveTo>
                  <a:lnTo>
                    <a:pt x="48" y="66"/>
                  </a:lnTo>
                  <a:lnTo>
                    <a:pt x="48" y="0"/>
                  </a:lnTo>
                  <a:lnTo>
                    <a:pt x="42" y="0"/>
                  </a:lnTo>
                  <a:lnTo>
                    <a:pt x="0" y="66"/>
                  </a:lnTo>
                  <a:lnTo>
                    <a:pt x="0" y="78"/>
                  </a:lnTo>
                  <a:lnTo>
                    <a:pt x="42" y="78"/>
                  </a:lnTo>
                  <a:lnTo>
                    <a:pt x="42" y="101"/>
                  </a:lnTo>
                  <a:lnTo>
                    <a:pt x="48" y="101"/>
                  </a:lnTo>
                  <a:lnTo>
                    <a:pt x="48" y="78"/>
                  </a:lnTo>
                  <a:lnTo>
                    <a:pt x="66" y="78"/>
                  </a:lnTo>
                  <a:lnTo>
                    <a:pt x="66" y="66"/>
                  </a:lnTo>
                  <a:close/>
                  <a:moveTo>
                    <a:pt x="42" y="66"/>
                  </a:moveTo>
                  <a:lnTo>
                    <a:pt x="6" y="66"/>
                  </a:lnTo>
                  <a:lnTo>
                    <a:pt x="36" y="12"/>
                  </a:lnTo>
                  <a:lnTo>
                    <a:pt x="42" y="12"/>
                  </a:lnTo>
                  <a:lnTo>
                    <a:pt x="42" y="6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1" name="Freeform 43"/>
            <p:cNvSpPr/>
            <p:nvPr/>
          </p:nvSpPr>
          <p:spPr bwMode="auto">
            <a:xfrm>
              <a:off x="2770" y="1253"/>
              <a:ext cx="72" cy="138"/>
            </a:xfrm>
            <a:custGeom>
              <a:avLst/>
              <a:gdLst>
                <a:gd name="T0" fmla="*/ 0 w 72"/>
                <a:gd name="T1" fmla="*/ 138 h 138"/>
                <a:gd name="T2" fmla="*/ 42 w 72"/>
                <a:gd name="T3" fmla="*/ 138 h 138"/>
                <a:gd name="T4" fmla="*/ 42 w 72"/>
                <a:gd name="T5" fmla="*/ 138 h 138"/>
                <a:gd name="T6" fmla="*/ 36 w 72"/>
                <a:gd name="T7" fmla="*/ 138 h 138"/>
                <a:gd name="T8" fmla="*/ 30 w 72"/>
                <a:gd name="T9" fmla="*/ 132 h 138"/>
                <a:gd name="T10" fmla="*/ 30 w 72"/>
                <a:gd name="T11" fmla="*/ 126 h 138"/>
                <a:gd name="T12" fmla="*/ 36 w 72"/>
                <a:gd name="T13" fmla="*/ 114 h 138"/>
                <a:gd name="T14" fmla="*/ 54 w 72"/>
                <a:gd name="T15" fmla="*/ 24 h 138"/>
                <a:gd name="T16" fmla="*/ 60 w 72"/>
                <a:gd name="T17" fmla="*/ 12 h 138"/>
                <a:gd name="T18" fmla="*/ 60 w 72"/>
                <a:gd name="T19" fmla="*/ 6 h 138"/>
                <a:gd name="T20" fmla="*/ 72 w 72"/>
                <a:gd name="T21" fmla="*/ 6 h 138"/>
                <a:gd name="T22" fmla="*/ 72 w 72"/>
                <a:gd name="T23" fmla="*/ 0 h 138"/>
                <a:gd name="T24" fmla="*/ 24 w 72"/>
                <a:gd name="T25" fmla="*/ 0 h 138"/>
                <a:gd name="T26" fmla="*/ 24 w 72"/>
                <a:gd name="T27" fmla="*/ 6 h 138"/>
                <a:gd name="T28" fmla="*/ 36 w 72"/>
                <a:gd name="T29" fmla="*/ 6 h 138"/>
                <a:gd name="T30" fmla="*/ 42 w 72"/>
                <a:gd name="T31" fmla="*/ 18 h 138"/>
                <a:gd name="T32" fmla="*/ 42 w 72"/>
                <a:gd name="T33" fmla="*/ 24 h 138"/>
                <a:gd name="T34" fmla="*/ 36 w 72"/>
                <a:gd name="T35" fmla="*/ 30 h 138"/>
                <a:gd name="T36" fmla="*/ 12 w 72"/>
                <a:gd name="T37" fmla="*/ 120 h 138"/>
                <a:gd name="T38" fmla="*/ 6 w 72"/>
                <a:gd name="T39" fmla="*/ 132 h 138"/>
                <a:gd name="T40" fmla="*/ 0 w 72"/>
                <a:gd name="T41" fmla="*/ 138 h 138"/>
                <a:gd name="T42" fmla="*/ 0 w 72"/>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2"/>
                <a:gd name="T67" fmla="*/ 0 h 138"/>
                <a:gd name="T68" fmla="*/ 72 w 72"/>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2" h="138">
                  <a:moveTo>
                    <a:pt x="0" y="138"/>
                  </a:moveTo>
                  <a:lnTo>
                    <a:pt x="42" y="138"/>
                  </a:lnTo>
                  <a:lnTo>
                    <a:pt x="36" y="138"/>
                  </a:lnTo>
                  <a:lnTo>
                    <a:pt x="30" y="132"/>
                  </a:lnTo>
                  <a:lnTo>
                    <a:pt x="30" y="126"/>
                  </a:lnTo>
                  <a:lnTo>
                    <a:pt x="36" y="114"/>
                  </a:lnTo>
                  <a:lnTo>
                    <a:pt x="54" y="24"/>
                  </a:lnTo>
                  <a:lnTo>
                    <a:pt x="60" y="12"/>
                  </a:lnTo>
                  <a:lnTo>
                    <a:pt x="60" y="6"/>
                  </a:lnTo>
                  <a:lnTo>
                    <a:pt x="72" y="6"/>
                  </a:lnTo>
                  <a:lnTo>
                    <a:pt x="72" y="0"/>
                  </a:lnTo>
                  <a:lnTo>
                    <a:pt x="24" y="0"/>
                  </a:lnTo>
                  <a:lnTo>
                    <a:pt x="24" y="6"/>
                  </a:lnTo>
                  <a:lnTo>
                    <a:pt x="36" y="6"/>
                  </a:lnTo>
                  <a:lnTo>
                    <a:pt x="42" y="18"/>
                  </a:lnTo>
                  <a:lnTo>
                    <a:pt x="42" y="24"/>
                  </a:lnTo>
                  <a:lnTo>
                    <a:pt x="36" y="30"/>
                  </a:lnTo>
                  <a:lnTo>
                    <a:pt x="12" y="120"/>
                  </a:lnTo>
                  <a:lnTo>
                    <a:pt x="6"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2" name="Freeform 44"/>
            <p:cNvSpPr/>
            <p:nvPr/>
          </p:nvSpPr>
          <p:spPr bwMode="auto">
            <a:xfrm>
              <a:off x="2842" y="1337"/>
              <a:ext cx="60" cy="107"/>
            </a:xfrm>
            <a:custGeom>
              <a:avLst/>
              <a:gdLst>
                <a:gd name="T0" fmla="*/ 60 w 60"/>
                <a:gd name="T1" fmla="*/ 90 h 107"/>
                <a:gd name="T2" fmla="*/ 60 w 60"/>
                <a:gd name="T3" fmla="*/ 90 h 107"/>
                <a:gd name="T4" fmla="*/ 54 w 60"/>
                <a:gd name="T5" fmla="*/ 96 h 107"/>
                <a:gd name="T6" fmla="*/ 48 w 60"/>
                <a:gd name="T7" fmla="*/ 96 h 107"/>
                <a:gd name="T8" fmla="*/ 12 w 60"/>
                <a:gd name="T9" fmla="*/ 96 h 107"/>
                <a:gd name="T10" fmla="*/ 36 w 60"/>
                <a:gd name="T11" fmla="*/ 72 h 107"/>
                <a:gd name="T12" fmla="*/ 48 w 60"/>
                <a:gd name="T13" fmla="*/ 54 h 107"/>
                <a:gd name="T14" fmla="*/ 54 w 60"/>
                <a:gd name="T15" fmla="*/ 30 h 107"/>
                <a:gd name="T16" fmla="*/ 48 w 60"/>
                <a:gd name="T17" fmla="*/ 6 h 107"/>
                <a:gd name="T18" fmla="*/ 30 w 60"/>
                <a:gd name="T19" fmla="*/ 0 h 107"/>
                <a:gd name="T20" fmla="*/ 12 w 60"/>
                <a:gd name="T21" fmla="*/ 12 h 107"/>
                <a:gd name="T22" fmla="*/ 0 w 60"/>
                <a:gd name="T23" fmla="*/ 36 h 107"/>
                <a:gd name="T24" fmla="*/ 0 w 60"/>
                <a:gd name="T25" fmla="*/ 36 h 107"/>
                <a:gd name="T26" fmla="*/ 12 w 60"/>
                <a:gd name="T27" fmla="*/ 18 h 107"/>
                <a:gd name="T28" fmla="*/ 24 w 60"/>
                <a:gd name="T29" fmla="*/ 12 h 107"/>
                <a:gd name="T30" fmla="*/ 30 w 60"/>
                <a:gd name="T31" fmla="*/ 18 h 107"/>
                <a:gd name="T32" fmla="*/ 36 w 60"/>
                <a:gd name="T33" fmla="*/ 24 h 107"/>
                <a:gd name="T34" fmla="*/ 42 w 60"/>
                <a:gd name="T35" fmla="*/ 36 h 107"/>
                <a:gd name="T36" fmla="*/ 36 w 60"/>
                <a:gd name="T37" fmla="*/ 60 h 107"/>
                <a:gd name="T38" fmla="*/ 24 w 60"/>
                <a:gd name="T39" fmla="*/ 78 h 107"/>
                <a:gd name="T40" fmla="*/ 0 w 60"/>
                <a:gd name="T41" fmla="*/ 107 h 107"/>
                <a:gd name="T42" fmla="*/ 0 w 60"/>
                <a:gd name="T43" fmla="*/ 107 h 107"/>
                <a:gd name="T44" fmla="*/ 54 w 60"/>
                <a:gd name="T45" fmla="*/ 107 h 107"/>
                <a:gd name="T46" fmla="*/ 60 w 60"/>
                <a:gd name="T47" fmla="*/ 90 h 1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0"/>
                <a:gd name="T73" fmla="*/ 0 h 107"/>
                <a:gd name="T74" fmla="*/ 60 w 60"/>
                <a:gd name="T75" fmla="*/ 107 h 1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0" h="107">
                  <a:moveTo>
                    <a:pt x="60" y="90"/>
                  </a:moveTo>
                  <a:lnTo>
                    <a:pt x="60" y="90"/>
                  </a:lnTo>
                  <a:lnTo>
                    <a:pt x="54" y="96"/>
                  </a:lnTo>
                  <a:lnTo>
                    <a:pt x="48" y="96"/>
                  </a:lnTo>
                  <a:lnTo>
                    <a:pt x="12" y="96"/>
                  </a:lnTo>
                  <a:lnTo>
                    <a:pt x="36" y="72"/>
                  </a:lnTo>
                  <a:lnTo>
                    <a:pt x="48" y="54"/>
                  </a:lnTo>
                  <a:lnTo>
                    <a:pt x="54" y="30"/>
                  </a:lnTo>
                  <a:lnTo>
                    <a:pt x="48" y="6"/>
                  </a:lnTo>
                  <a:lnTo>
                    <a:pt x="30" y="0"/>
                  </a:lnTo>
                  <a:lnTo>
                    <a:pt x="12" y="12"/>
                  </a:lnTo>
                  <a:lnTo>
                    <a:pt x="0" y="36"/>
                  </a:lnTo>
                  <a:lnTo>
                    <a:pt x="12" y="18"/>
                  </a:lnTo>
                  <a:lnTo>
                    <a:pt x="24" y="12"/>
                  </a:lnTo>
                  <a:lnTo>
                    <a:pt x="30" y="18"/>
                  </a:lnTo>
                  <a:lnTo>
                    <a:pt x="36" y="24"/>
                  </a:lnTo>
                  <a:lnTo>
                    <a:pt x="42" y="36"/>
                  </a:lnTo>
                  <a:lnTo>
                    <a:pt x="36" y="60"/>
                  </a:lnTo>
                  <a:lnTo>
                    <a:pt x="24" y="78"/>
                  </a:lnTo>
                  <a:lnTo>
                    <a:pt x="0" y="107"/>
                  </a:lnTo>
                  <a:lnTo>
                    <a:pt x="54" y="107"/>
                  </a:lnTo>
                  <a:lnTo>
                    <a:pt x="60"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3" name="Freeform 45"/>
            <p:cNvSpPr/>
            <p:nvPr/>
          </p:nvSpPr>
          <p:spPr bwMode="auto">
            <a:xfrm>
              <a:off x="2615" y="1767"/>
              <a:ext cx="72" cy="137"/>
            </a:xfrm>
            <a:custGeom>
              <a:avLst/>
              <a:gdLst>
                <a:gd name="T0" fmla="*/ 0 w 72"/>
                <a:gd name="T1" fmla="*/ 137 h 137"/>
                <a:gd name="T2" fmla="*/ 48 w 72"/>
                <a:gd name="T3" fmla="*/ 137 h 137"/>
                <a:gd name="T4" fmla="*/ 48 w 72"/>
                <a:gd name="T5" fmla="*/ 131 h 137"/>
                <a:gd name="T6" fmla="*/ 42 w 72"/>
                <a:gd name="T7" fmla="*/ 131 h 137"/>
                <a:gd name="T8" fmla="*/ 36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42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42" y="131"/>
                  </a:lnTo>
                  <a:lnTo>
                    <a:pt x="36" y="125"/>
                  </a:lnTo>
                  <a:lnTo>
                    <a:pt x="36" y="119"/>
                  </a:lnTo>
                  <a:lnTo>
                    <a:pt x="36" y="113"/>
                  </a:lnTo>
                  <a:lnTo>
                    <a:pt x="60" y="18"/>
                  </a:lnTo>
                  <a:lnTo>
                    <a:pt x="66" y="6"/>
                  </a:lnTo>
                  <a:lnTo>
                    <a:pt x="72" y="0"/>
                  </a:lnTo>
                  <a:lnTo>
                    <a:pt x="30" y="0"/>
                  </a:lnTo>
                  <a:lnTo>
                    <a:pt x="36" y="6"/>
                  </a:lnTo>
                  <a:lnTo>
                    <a:pt x="42" y="12"/>
                  </a:lnTo>
                  <a:lnTo>
                    <a:pt x="42" y="18"/>
                  </a:lnTo>
                  <a:lnTo>
                    <a:pt x="42"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4" name="Freeform 46"/>
            <p:cNvSpPr/>
            <p:nvPr/>
          </p:nvSpPr>
          <p:spPr bwMode="auto">
            <a:xfrm>
              <a:off x="2693" y="1851"/>
              <a:ext cx="53" cy="107"/>
            </a:xfrm>
            <a:custGeom>
              <a:avLst/>
              <a:gdLst>
                <a:gd name="T0" fmla="*/ 12 w 53"/>
                <a:gd name="T1" fmla="*/ 53 h 107"/>
                <a:gd name="T2" fmla="*/ 24 w 53"/>
                <a:gd name="T3" fmla="*/ 53 h 107"/>
                <a:gd name="T4" fmla="*/ 30 w 53"/>
                <a:gd name="T5" fmla="*/ 59 h 107"/>
                <a:gd name="T6" fmla="*/ 41 w 53"/>
                <a:gd name="T7" fmla="*/ 65 h 107"/>
                <a:gd name="T8" fmla="*/ 41 w 53"/>
                <a:gd name="T9" fmla="*/ 77 h 107"/>
                <a:gd name="T10" fmla="*/ 35 w 53"/>
                <a:gd name="T11" fmla="*/ 95 h 107"/>
                <a:gd name="T12" fmla="*/ 24 w 53"/>
                <a:gd name="T13" fmla="*/ 101 h 107"/>
                <a:gd name="T14" fmla="*/ 12 w 53"/>
                <a:gd name="T15" fmla="*/ 101 h 107"/>
                <a:gd name="T16" fmla="*/ 6 w 53"/>
                <a:gd name="T17" fmla="*/ 95 h 107"/>
                <a:gd name="T18" fmla="*/ 0 w 53"/>
                <a:gd name="T19" fmla="*/ 95 h 107"/>
                <a:gd name="T20" fmla="*/ 0 w 53"/>
                <a:gd name="T21" fmla="*/ 101 h 107"/>
                <a:gd name="T22" fmla="*/ 6 w 53"/>
                <a:gd name="T23" fmla="*/ 107 h 107"/>
                <a:gd name="T24" fmla="*/ 12 w 53"/>
                <a:gd name="T25" fmla="*/ 107 h 107"/>
                <a:gd name="T26" fmla="*/ 41 w 53"/>
                <a:gd name="T27" fmla="*/ 101 h 107"/>
                <a:gd name="T28" fmla="*/ 53 w 53"/>
                <a:gd name="T29" fmla="*/ 89 h 107"/>
                <a:gd name="T30" fmla="*/ 53 w 53"/>
                <a:gd name="T31" fmla="*/ 71 h 107"/>
                <a:gd name="T32" fmla="*/ 53 w 53"/>
                <a:gd name="T33" fmla="*/ 59 h 107"/>
                <a:gd name="T34" fmla="*/ 47 w 53"/>
                <a:gd name="T35" fmla="*/ 47 h 107"/>
                <a:gd name="T36" fmla="*/ 35 w 53"/>
                <a:gd name="T37" fmla="*/ 41 h 107"/>
                <a:gd name="T38" fmla="*/ 41 w 53"/>
                <a:gd name="T39" fmla="*/ 29 h 107"/>
                <a:gd name="T40" fmla="*/ 47 w 53"/>
                <a:gd name="T41" fmla="*/ 17 h 107"/>
                <a:gd name="T42" fmla="*/ 41 w 53"/>
                <a:gd name="T43" fmla="*/ 5 h 107"/>
                <a:gd name="T44" fmla="*/ 24 w 53"/>
                <a:gd name="T45" fmla="*/ 0 h 107"/>
                <a:gd name="T46" fmla="*/ 12 w 53"/>
                <a:gd name="T47" fmla="*/ 5 h 107"/>
                <a:gd name="T48" fmla="*/ 0 w 53"/>
                <a:gd name="T49" fmla="*/ 23 h 107"/>
                <a:gd name="T50" fmla="*/ 0 w 53"/>
                <a:gd name="T51" fmla="*/ 23 h 107"/>
                <a:gd name="T52" fmla="*/ 6 w 53"/>
                <a:gd name="T53" fmla="*/ 11 h 107"/>
                <a:gd name="T54" fmla="*/ 18 w 53"/>
                <a:gd name="T55" fmla="*/ 5 h 107"/>
                <a:gd name="T56" fmla="*/ 30 w 53"/>
                <a:gd name="T57" fmla="*/ 11 h 107"/>
                <a:gd name="T58" fmla="*/ 35 w 53"/>
                <a:gd name="T59" fmla="*/ 23 h 107"/>
                <a:gd name="T60" fmla="*/ 30 w 53"/>
                <a:gd name="T61" fmla="*/ 41 h 107"/>
                <a:gd name="T62" fmla="*/ 12 w 53"/>
                <a:gd name="T63" fmla="*/ 53 h 107"/>
                <a:gd name="T64" fmla="*/ 12 w 53"/>
                <a:gd name="T65" fmla="*/ 53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3"/>
                <a:gd name="T100" fmla="*/ 0 h 107"/>
                <a:gd name="T101" fmla="*/ 53 w 53"/>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3" h="107">
                  <a:moveTo>
                    <a:pt x="12" y="53"/>
                  </a:moveTo>
                  <a:lnTo>
                    <a:pt x="24" y="53"/>
                  </a:lnTo>
                  <a:lnTo>
                    <a:pt x="30" y="59"/>
                  </a:lnTo>
                  <a:lnTo>
                    <a:pt x="41" y="65"/>
                  </a:lnTo>
                  <a:lnTo>
                    <a:pt x="41" y="77"/>
                  </a:lnTo>
                  <a:lnTo>
                    <a:pt x="35" y="95"/>
                  </a:lnTo>
                  <a:lnTo>
                    <a:pt x="24" y="101"/>
                  </a:lnTo>
                  <a:lnTo>
                    <a:pt x="12" y="101"/>
                  </a:lnTo>
                  <a:lnTo>
                    <a:pt x="6" y="95"/>
                  </a:lnTo>
                  <a:lnTo>
                    <a:pt x="0" y="95"/>
                  </a:lnTo>
                  <a:lnTo>
                    <a:pt x="0" y="101"/>
                  </a:lnTo>
                  <a:lnTo>
                    <a:pt x="6" y="107"/>
                  </a:lnTo>
                  <a:lnTo>
                    <a:pt x="12" y="107"/>
                  </a:lnTo>
                  <a:lnTo>
                    <a:pt x="41" y="101"/>
                  </a:lnTo>
                  <a:lnTo>
                    <a:pt x="53" y="89"/>
                  </a:lnTo>
                  <a:lnTo>
                    <a:pt x="53" y="71"/>
                  </a:lnTo>
                  <a:lnTo>
                    <a:pt x="53" y="59"/>
                  </a:lnTo>
                  <a:lnTo>
                    <a:pt x="47" y="47"/>
                  </a:lnTo>
                  <a:lnTo>
                    <a:pt x="35" y="41"/>
                  </a:lnTo>
                  <a:lnTo>
                    <a:pt x="41" y="29"/>
                  </a:lnTo>
                  <a:lnTo>
                    <a:pt x="47" y="17"/>
                  </a:lnTo>
                  <a:lnTo>
                    <a:pt x="41" y="5"/>
                  </a:lnTo>
                  <a:lnTo>
                    <a:pt x="24" y="0"/>
                  </a:lnTo>
                  <a:lnTo>
                    <a:pt x="12" y="5"/>
                  </a:lnTo>
                  <a:lnTo>
                    <a:pt x="0" y="23"/>
                  </a:lnTo>
                  <a:lnTo>
                    <a:pt x="6" y="11"/>
                  </a:lnTo>
                  <a:lnTo>
                    <a:pt x="18" y="5"/>
                  </a:lnTo>
                  <a:lnTo>
                    <a:pt x="30" y="11"/>
                  </a:lnTo>
                  <a:lnTo>
                    <a:pt x="35" y="23"/>
                  </a:lnTo>
                  <a:lnTo>
                    <a:pt x="30" y="41"/>
                  </a:lnTo>
                  <a:lnTo>
                    <a:pt x="12" y="5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5" name="Freeform 47"/>
            <p:cNvSpPr/>
            <p:nvPr/>
          </p:nvSpPr>
          <p:spPr bwMode="auto">
            <a:xfrm>
              <a:off x="2459" y="1253"/>
              <a:ext cx="114" cy="144"/>
            </a:xfrm>
            <a:custGeom>
              <a:avLst/>
              <a:gdLst>
                <a:gd name="T0" fmla="*/ 114 w 114"/>
                <a:gd name="T1" fmla="*/ 0 h 144"/>
                <a:gd name="T2" fmla="*/ 78 w 114"/>
                <a:gd name="T3" fmla="*/ 0 h 144"/>
                <a:gd name="T4" fmla="*/ 78 w 114"/>
                <a:gd name="T5" fmla="*/ 6 h 144"/>
                <a:gd name="T6" fmla="*/ 84 w 114"/>
                <a:gd name="T7" fmla="*/ 6 h 144"/>
                <a:gd name="T8" fmla="*/ 90 w 114"/>
                <a:gd name="T9" fmla="*/ 12 h 144"/>
                <a:gd name="T10" fmla="*/ 84 w 114"/>
                <a:gd name="T11" fmla="*/ 24 h 144"/>
                <a:gd name="T12" fmla="*/ 78 w 114"/>
                <a:gd name="T13" fmla="*/ 36 h 144"/>
                <a:gd name="T14" fmla="*/ 78 w 114"/>
                <a:gd name="T15" fmla="*/ 36 h 144"/>
                <a:gd name="T16" fmla="*/ 42 w 114"/>
                <a:gd name="T17" fmla="*/ 114 h 144"/>
                <a:gd name="T18" fmla="*/ 42 w 114"/>
                <a:gd name="T19" fmla="*/ 114 h 144"/>
                <a:gd name="T20" fmla="*/ 30 w 114"/>
                <a:gd name="T21" fmla="*/ 18 h 144"/>
                <a:gd name="T22" fmla="*/ 30 w 114"/>
                <a:gd name="T23" fmla="*/ 6 h 144"/>
                <a:gd name="T24" fmla="*/ 42 w 114"/>
                <a:gd name="T25" fmla="*/ 6 h 144"/>
                <a:gd name="T26" fmla="*/ 42 w 114"/>
                <a:gd name="T27" fmla="*/ 0 h 144"/>
                <a:gd name="T28" fmla="*/ 0 w 114"/>
                <a:gd name="T29" fmla="*/ 0 h 144"/>
                <a:gd name="T30" fmla="*/ 0 w 114"/>
                <a:gd name="T31" fmla="*/ 6 h 144"/>
                <a:gd name="T32" fmla="*/ 6 w 114"/>
                <a:gd name="T33" fmla="*/ 12 h 144"/>
                <a:gd name="T34" fmla="*/ 6 w 114"/>
                <a:gd name="T35" fmla="*/ 18 h 144"/>
                <a:gd name="T36" fmla="*/ 12 w 114"/>
                <a:gd name="T37" fmla="*/ 36 h 144"/>
                <a:gd name="T38" fmla="*/ 30 w 114"/>
                <a:gd name="T39" fmla="*/ 144 h 144"/>
                <a:gd name="T40" fmla="*/ 30 w 114"/>
                <a:gd name="T41" fmla="*/ 144 h 144"/>
                <a:gd name="T42" fmla="*/ 102 w 114"/>
                <a:gd name="T43" fmla="*/ 12 h 144"/>
                <a:gd name="T44" fmla="*/ 108 w 114"/>
                <a:gd name="T45" fmla="*/ 12 h 144"/>
                <a:gd name="T46" fmla="*/ 114 w 114"/>
                <a:gd name="T47" fmla="*/ 6 h 144"/>
                <a:gd name="T48" fmla="*/ 114 w 114"/>
                <a:gd name="T49" fmla="*/ 0 h 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4"/>
                <a:gd name="T76" fmla="*/ 0 h 144"/>
                <a:gd name="T77" fmla="*/ 114 w 114"/>
                <a:gd name="T78" fmla="*/ 144 h 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4" h="144">
                  <a:moveTo>
                    <a:pt x="114" y="0"/>
                  </a:moveTo>
                  <a:lnTo>
                    <a:pt x="78" y="0"/>
                  </a:lnTo>
                  <a:lnTo>
                    <a:pt x="78" y="6"/>
                  </a:lnTo>
                  <a:lnTo>
                    <a:pt x="84" y="6"/>
                  </a:lnTo>
                  <a:lnTo>
                    <a:pt x="90" y="12"/>
                  </a:lnTo>
                  <a:lnTo>
                    <a:pt x="84" y="24"/>
                  </a:lnTo>
                  <a:lnTo>
                    <a:pt x="78" y="36"/>
                  </a:lnTo>
                  <a:lnTo>
                    <a:pt x="42" y="114"/>
                  </a:lnTo>
                  <a:lnTo>
                    <a:pt x="30" y="18"/>
                  </a:lnTo>
                  <a:lnTo>
                    <a:pt x="30" y="6"/>
                  </a:lnTo>
                  <a:lnTo>
                    <a:pt x="42" y="6"/>
                  </a:lnTo>
                  <a:lnTo>
                    <a:pt x="42" y="0"/>
                  </a:lnTo>
                  <a:lnTo>
                    <a:pt x="0" y="0"/>
                  </a:lnTo>
                  <a:lnTo>
                    <a:pt x="0" y="6"/>
                  </a:lnTo>
                  <a:lnTo>
                    <a:pt x="6" y="12"/>
                  </a:lnTo>
                  <a:lnTo>
                    <a:pt x="6" y="18"/>
                  </a:lnTo>
                  <a:lnTo>
                    <a:pt x="12" y="36"/>
                  </a:lnTo>
                  <a:lnTo>
                    <a:pt x="30" y="144"/>
                  </a:lnTo>
                  <a:lnTo>
                    <a:pt x="102" y="12"/>
                  </a:lnTo>
                  <a:lnTo>
                    <a:pt x="108" y="12"/>
                  </a:lnTo>
                  <a:lnTo>
                    <a:pt x="114" y="6"/>
                  </a:lnTo>
                  <a:lnTo>
                    <a:pt x="11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6" name="Freeform 48"/>
            <p:cNvSpPr/>
            <p:nvPr/>
          </p:nvSpPr>
          <p:spPr bwMode="auto">
            <a:xfrm>
              <a:off x="2561" y="1337"/>
              <a:ext cx="60" cy="107"/>
            </a:xfrm>
            <a:custGeom>
              <a:avLst/>
              <a:gdLst>
                <a:gd name="T0" fmla="*/ 60 w 60"/>
                <a:gd name="T1" fmla="*/ 90 h 107"/>
                <a:gd name="T2" fmla="*/ 60 w 60"/>
                <a:gd name="T3" fmla="*/ 84 h 107"/>
                <a:gd name="T4" fmla="*/ 54 w 60"/>
                <a:gd name="T5" fmla="*/ 96 h 107"/>
                <a:gd name="T6" fmla="*/ 48 w 60"/>
                <a:gd name="T7" fmla="*/ 96 h 107"/>
                <a:gd name="T8" fmla="*/ 12 w 60"/>
                <a:gd name="T9" fmla="*/ 96 h 107"/>
                <a:gd name="T10" fmla="*/ 36 w 60"/>
                <a:gd name="T11" fmla="*/ 72 h 107"/>
                <a:gd name="T12" fmla="*/ 48 w 60"/>
                <a:gd name="T13" fmla="*/ 54 h 107"/>
                <a:gd name="T14" fmla="*/ 54 w 60"/>
                <a:gd name="T15" fmla="*/ 30 h 107"/>
                <a:gd name="T16" fmla="*/ 48 w 60"/>
                <a:gd name="T17" fmla="*/ 6 h 107"/>
                <a:gd name="T18" fmla="*/ 30 w 60"/>
                <a:gd name="T19" fmla="*/ 0 h 107"/>
                <a:gd name="T20" fmla="*/ 12 w 60"/>
                <a:gd name="T21" fmla="*/ 12 h 107"/>
                <a:gd name="T22" fmla="*/ 0 w 60"/>
                <a:gd name="T23" fmla="*/ 36 h 107"/>
                <a:gd name="T24" fmla="*/ 0 w 60"/>
                <a:gd name="T25" fmla="*/ 36 h 107"/>
                <a:gd name="T26" fmla="*/ 12 w 60"/>
                <a:gd name="T27" fmla="*/ 18 h 107"/>
                <a:gd name="T28" fmla="*/ 24 w 60"/>
                <a:gd name="T29" fmla="*/ 12 h 107"/>
                <a:gd name="T30" fmla="*/ 30 w 60"/>
                <a:gd name="T31" fmla="*/ 18 h 107"/>
                <a:gd name="T32" fmla="*/ 36 w 60"/>
                <a:gd name="T33" fmla="*/ 24 h 107"/>
                <a:gd name="T34" fmla="*/ 42 w 60"/>
                <a:gd name="T35" fmla="*/ 36 h 107"/>
                <a:gd name="T36" fmla="*/ 36 w 60"/>
                <a:gd name="T37" fmla="*/ 54 h 107"/>
                <a:gd name="T38" fmla="*/ 24 w 60"/>
                <a:gd name="T39" fmla="*/ 78 h 107"/>
                <a:gd name="T40" fmla="*/ 0 w 60"/>
                <a:gd name="T41" fmla="*/ 107 h 107"/>
                <a:gd name="T42" fmla="*/ 0 w 60"/>
                <a:gd name="T43" fmla="*/ 107 h 107"/>
                <a:gd name="T44" fmla="*/ 54 w 60"/>
                <a:gd name="T45" fmla="*/ 107 h 107"/>
                <a:gd name="T46" fmla="*/ 60 w 60"/>
                <a:gd name="T47" fmla="*/ 90 h 1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0"/>
                <a:gd name="T73" fmla="*/ 0 h 107"/>
                <a:gd name="T74" fmla="*/ 60 w 60"/>
                <a:gd name="T75" fmla="*/ 107 h 1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0" h="107">
                  <a:moveTo>
                    <a:pt x="60" y="90"/>
                  </a:moveTo>
                  <a:lnTo>
                    <a:pt x="60" y="84"/>
                  </a:lnTo>
                  <a:lnTo>
                    <a:pt x="54" y="96"/>
                  </a:lnTo>
                  <a:lnTo>
                    <a:pt x="48" y="96"/>
                  </a:lnTo>
                  <a:lnTo>
                    <a:pt x="12" y="96"/>
                  </a:lnTo>
                  <a:lnTo>
                    <a:pt x="36" y="72"/>
                  </a:lnTo>
                  <a:lnTo>
                    <a:pt x="48" y="54"/>
                  </a:lnTo>
                  <a:lnTo>
                    <a:pt x="54" y="30"/>
                  </a:lnTo>
                  <a:lnTo>
                    <a:pt x="48" y="6"/>
                  </a:lnTo>
                  <a:lnTo>
                    <a:pt x="30" y="0"/>
                  </a:lnTo>
                  <a:lnTo>
                    <a:pt x="12" y="12"/>
                  </a:lnTo>
                  <a:lnTo>
                    <a:pt x="0" y="36"/>
                  </a:lnTo>
                  <a:lnTo>
                    <a:pt x="12" y="18"/>
                  </a:lnTo>
                  <a:lnTo>
                    <a:pt x="24" y="12"/>
                  </a:lnTo>
                  <a:lnTo>
                    <a:pt x="30" y="18"/>
                  </a:lnTo>
                  <a:lnTo>
                    <a:pt x="36" y="24"/>
                  </a:lnTo>
                  <a:lnTo>
                    <a:pt x="42" y="36"/>
                  </a:lnTo>
                  <a:lnTo>
                    <a:pt x="36" y="54"/>
                  </a:lnTo>
                  <a:lnTo>
                    <a:pt x="24" y="78"/>
                  </a:lnTo>
                  <a:lnTo>
                    <a:pt x="0" y="107"/>
                  </a:lnTo>
                  <a:lnTo>
                    <a:pt x="54" y="107"/>
                  </a:lnTo>
                  <a:lnTo>
                    <a:pt x="60"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7" name="Freeform 49"/>
            <p:cNvSpPr>
              <a:spLocks noEditPoints="1"/>
            </p:cNvSpPr>
            <p:nvPr/>
          </p:nvSpPr>
          <p:spPr bwMode="auto">
            <a:xfrm>
              <a:off x="1688" y="1194"/>
              <a:ext cx="78" cy="143"/>
            </a:xfrm>
            <a:custGeom>
              <a:avLst/>
              <a:gdLst>
                <a:gd name="T0" fmla="*/ 78 w 78"/>
                <a:gd name="T1" fmla="*/ 0 h 143"/>
                <a:gd name="T2" fmla="*/ 48 w 78"/>
                <a:gd name="T3" fmla="*/ 6 h 143"/>
                <a:gd name="T4" fmla="*/ 24 w 78"/>
                <a:gd name="T5" fmla="*/ 24 h 143"/>
                <a:gd name="T6" fmla="*/ 6 w 78"/>
                <a:gd name="T7" fmla="*/ 53 h 143"/>
                <a:gd name="T8" fmla="*/ 0 w 78"/>
                <a:gd name="T9" fmla="*/ 83 h 143"/>
                <a:gd name="T10" fmla="*/ 6 w 78"/>
                <a:gd name="T11" fmla="*/ 113 h 143"/>
                <a:gd name="T12" fmla="*/ 12 w 78"/>
                <a:gd name="T13" fmla="*/ 131 h 143"/>
                <a:gd name="T14" fmla="*/ 24 w 78"/>
                <a:gd name="T15" fmla="*/ 137 h 143"/>
                <a:gd name="T16" fmla="*/ 42 w 78"/>
                <a:gd name="T17" fmla="*/ 143 h 143"/>
                <a:gd name="T18" fmla="*/ 60 w 78"/>
                <a:gd name="T19" fmla="*/ 137 h 143"/>
                <a:gd name="T20" fmla="*/ 72 w 78"/>
                <a:gd name="T21" fmla="*/ 125 h 143"/>
                <a:gd name="T22" fmla="*/ 78 w 78"/>
                <a:gd name="T23" fmla="*/ 95 h 143"/>
                <a:gd name="T24" fmla="*/ 72 w 78"/>
                <a:gd name="T25" fmla="*/ 65 h 143"/>
                <a:gd name="T26" fmla="*/ 60 w 78"/>
                <a:gd name="T27" fmla="*/ 59 h 143"/>
                <a:gd name="T28" fmla="*/ 48 w 78"/>
                <a:gd name="T29" fmla="*/ 53 h 143"/>
                <a:gd name="T30" fmla="*/ 36 w 78"/>
                <a:gd name="T31" fmla="*/ 53 h 143"/>
                <a:gd name="T32" fmla="*/ 18 w 78"/>
                <a:gd name="T33" fmla="*/ 59 h 143"/>
                <a:gd name="T34" fmla="*/ 36 w 78"/>
                <a:gd name="T35" fmla="*/ 24 h 143"/>
                <a:gd name="T36" fmla="*/ 54 w 78"/>
                <a:gd name="T37" fmla="*/ 6 h 143"/>
                <a:gd name="T38" fmla="*/ 78 w 78"/>
                <a:gd name="T39" fmla="*/ 0 h 143"/>
                <a:gd name="T40" fmla="*/ 78 w 78"/>
                <a:gd name="T41" fmla="*/ 0 h 143"/>
                <a:gd name="T42" fmla="*/ 36 w 78"/>
                <a:gd name="T43" fmla="*/ 65 h 143"/>
                <a:gd name="T44" fmla="*/ 48 w 78"/>
                <a:gd name="T45" fmla="*/ 71 h 143"/>
                <a:gd name="T46" fmla="*/ 60 w 78"/>
                <a:gd name="T47" fmla="*/ 77 h 143"/>
                <a:gd name="T48" fmla="*/ 60 w 78"/>
                <a:gd name="T49" fmla="*/ 107 h 143"/>
                <a:gd name="T50" fmla="*/ 60 w 78"/>
                <a:gd name="T51" fmla="*/ 125 h 143"/>
                <a:gd name="T52" fmla="*/ 54 w 78"/>
                <a:gd name="T53" fmla="*/ 131 h 143"/>
                <a:gd name="T54" fmla="*/ 42 w 78"/>
                <a:gd name="T55" fmla="*/ 137 h 143"/>
                <a:gd name="T56" fmla="*/ 36 w 78"/>
                <a:gd name="T57" fmla="*/ 137 h 143"/>
                <a:gd name="T58" fmla="*/ 24 w 78"/>
                <a:gd name="T59" fmla="*/ 125 h 143"/>
                <a:gd name="T60" fmla="*/ 18 w 78"/>
                <a:gd name="T61" fmla="*/ 113 h 143"/>
                <a:gd name="T62" fmla="*/ 18 w 78"/>
                <a:gd name="T63" fmla="*/ 89 h 143"/>
                <a:gd name="T64" fmla="*/ 18 w 78"/>
                <a:gd name="T65" fmla="*/ 77 h 143"/>
                <a:gd name="T66" fmla="*/ 18 w 78"/>
                <a:gd name="T67" fmla="*/ 71 h 143"/>
                <a:gd name="T68" fmla="*/ 30 w 78"/>
                <a:gd name="T69" fmla="*/ 65 h 143"/>
                <a:gd name="T70" fmla="*/ 36 w 78"/>
                <a:gd name="T71" fmla="*/ 65 h 143"/>
                <a:gd name="T72" fmla="*/ 36 w 78"/>
                <a:gd name="T73" fmla="*/ 65 h 14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
                <a:gd name="T112" fmla="*/ 0 h 143"/>
                <a:gd name="T113" fmla="*/ 78 w 78"/>
                <a:gd name="T114" fmla="*/ 143 h 14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 h="143">
                  <a:moveTo>
                    <a:pt x="78" y="0"/>
                  </a:moveTo>
                  <a:lnTo>
                    <a:pt x="48" y="6"/>
                  </a:lnTo>
                  <a:lnTo>
                    <a:pt x="24" y="24"/>
                  </a:lnTo>
                  <a:lnTo>
                    <a:pt x="6" y="53"/>
                  </a:lnTo>
                  <a:lnTo>
                    <a:pt x="0" y="83"/>
                  </a:lnTo>
                  <a:lnTo>
                    <a:pt x="6" y="113"/>
                  </a:lnTo>
                  <a:lnTo>
                    <a:pt x="12" y="131"/>
                  </a:lnTo>
                  <a:lnTo>
                    <a:pt x="24" y="137"/>
                  </a:lnTo>
                  <a:lnTo>
                    <a:pt x="42" y="143"/>
                  </a:lnTo>
                  <a:lnTo>
                    <a:pt x="60" y="137"/>
                  </a:lnTo>
                  <a:lnTo>
                    <a:pt x="72" y="125"/>
                  </a:lnTo>
                  <a:lnTo>
                    <a:pt x="78" y="95"/>
                  </a:lnTo>
                  <a:lnTo>
                    <a:pt x="72" y="65"/>
                  </a:lnTo>
                  <a:lnTo>
                    <a:pt x="60" y="59"/>
                  </a:lnTo>
                  <a:lnTo>
                    <a:pt x="48" y="53"/>
                  </a:lnTo>
                  <a:lnTo>
                    <a:pt x="36" y="53"/>
                  </a:lnTo>
                  <a:lnTo>
                    <a:pt x="18" y="59"/>
                  </a:lnTo>
                  <a:lnTo>
                    <a:pt x="36" y="24"/>
                  </a:lnTo>
                  <a:lnTo>
                    <a:pt x="54" y="6"/>
                  </a:lnTo>
                  <a:lnTo>
                    <a:pt x="78" y="0"/>
                  </a:lnTo>
                  <a:close/>
                  <a:moveTo>
                    <a:pt x="36" y="65"/>
                  </a:moveTo>
                  <a:lnTo>
                    <a:pt x="48" y="71"/>
                  </a:lnTo>
                  <a:lnTo>
                    <a:pt x="60" y="77"/>
                  </a:lnTo>
                  <a:lnTo>
                    <a:pt x="60" y="107"/>
                  </a:lnTo>
                  <a:lnTo>
                    <a:pt x="60" y="125"/>
                  </a:lnTo>
                  <a:lnTo>
                    <a:pt x="54" y="131"/>
                  </a:lnTo>
                  <a:lnTo>
                    <a:pt x="42" y="137"/>
                  </a:lnTo>
                  <a:lnTo>
                    <a:pt x="36" y="137"/>
                  </a:lnTo>
                  <a:lnTo>
                    <a:pt x="24" y="125"/>
                  </a:lnTo>
                  <a:lnTo>
                    <a:pt x="18" y="113"/>
                  </a:lnTo>
                  <a:lnTo>
                    <a:pt x="18" y="89"/>
                  </a:lnTo>
                  <a:lnTo>
                    <a:pt x="18" y="77"/>
                  </a:lnTo>
                  <a:lnTo>
                    <a:pt x="18" y="71"/>
                  </a:lnTo>
                  <a:lnTo>
                    <a:pt x="30" y="65"/>
                  </a:lnTo>
                  <a:lnTo>
                    <a:pt x="36" y="6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8" name="Freeform 50"/>
            <p:cNvSpPr/>
            <p:nvPr/>
          </p:nvSpPr>
          <p:spPr bwMode="auto">
            <a:xfrm>
              <a:off x="1825" y="1194"/>
              <a:ext cx="132" cy="143"/>
            </a:xfrm>
            <a:custGeom>
              <a:avLst/>
              <a:gdLst>
                <a:gd name="T0" fmla="*/ 54 w 132"/>
                <a:gd name="T1" fmla="*/ 113 h 143"/>
                <a:gd name="T2" fmla="*/ 42 w 132"/>
                <a:gd name="T3" fmla="*/ 107 h 143"/>
                <a:gd name="T4" fmla="*/ 36 w 132"/>
                <a:gd name="T5" fmla="*/ 101 h 143"/>
                <a:gd name="T6" fmla="*/ 30 w 132"/>
                <a:gd name="T7" fmla="*/ 89 h 143"/>
                <a:gd name="T8" fmla="*/ 24 w 132"/>
                <a:gd name="T9" fmla="*/ 71 h 143"/>
                <a:gd name="T10" fmla="*/ 24 w 132"/>
                <a:gd name="T11" fmla="*/ 53 h 143"/>
                <a:gd name="T12" fmla="*/ 30 w 132"/>
                <a:gd name="T13" fmla="*/ 36 h 143"/>
                <a:gd name="T14" fmla="*/ 36 w 132"/>
                <a:gd name="T15" fmla="*/ 18 h 143"/>
                <a:gd name="T16" fmla="*/ 54 w 132"/>
                <a:gd name="T17" fmla="*/ 6 h 143"/>
                <a:gd name="T18" fmla="*/ 66 w 132"/>
                <a:gd name="T19" fmla="*/ 6 h 143"/>
                <a:gd name="T20" fmla="*/ 78 w 132"/>
                <a:gd name="T21" fmla="*/ 6 h 143"/>
                <a:gd name="T22" fmla="*/ 90 w 132"/>
                <a:gd name="T23" fmla="*/ 18 h 143"/>
                <a:gd name="T24" fmla="*/ 102 w 132"/>
                <a:gd name="T25" fmla="*/ 36 h 143"/>
                <a:gd name="T26" fmla="*/ 108 w 132"/>
                <a:gd name="T27" fmla="*/ 53 h 143"/>
                <a:gd name="T28" fmla="*/ 108 w 132"/>
                <a:gd name="T29" fmla="*/ 71 h 143"/>
                <a:gd name="T30" fmla="*/ 102 w 132"/>
                <a:gd name="T31" fmla="*/ 89 h 143"/>
                <a:gd name="T32" fmla="*/ 96 w 132"/>
                <a:gd name="T33" fmla="*/ 101 h 143"/>
                <a:gd name="T34" fmla="*/ 90 w 132"/>
                <a:gd name="T35" fmla="*/ 107 h 143"/>
                <a:gd name="T36" fmla="*/ 78 w 132"/>
                <a:gd name="T37" fmla="*/ 113 h 143"/>
                <a:gd name="T38" fmla="*/ 78 w 132"/>
                <a:gd name="T39" fmla="*/ 143 h 143"/>
                <a:gd name="T40" fmla="*/ 132 w 132"/>
                <a:gd name="T41" fmla="*/ 143 h 143"/>
                <a:gd name="T42" fmla="*/ 132 w 132"/>
                <a:gd name="T43" fmla="*/ 107 h 143"/>
                <a:gd name="T44" fmla="*/ 126 w 132"/>
                <a:gd name="T45" fmla="*/ 107 h 143"/>
                <a:gd name="T46" fmla="*/ 120 w 132"/>
                <a:gd name="T47" fmla="*/ 119 h 143"/>
                <a:gd name="T48" fmla="*/ 114 w 132"/>
                <a:gd name="T49" fmla="*/ 119 h 143"/>
                <a:gd name="T50" fmla="*/ 84 w 132"/>
                <a:gd name="T51" fmla="*/ 119 h 143"/>
                <a:gd name="T52" fmla="*/ 84 w 132"/>
                <a:gd name="T53" fmla="*/ 113 h 143"/>
                <a:gd name="T54" fmla="*/ 102 w 132"/>
                <a:gd name="T55" fmla="*/ 107 h 143"/>
                <a:gd name="T56" fmla="*/ 114 w 132"/>
                <a:gd name="T57" fmla="*/ 95 h 143"/>
                <a:gd name="T58" fmla="*/ 126 w 132"/>
                <a:gd name="T59" fmla="*/ 77 h 143"/>
                <a:gd name="T60" fmla="*/ 126 w 132"/>
                <a:gd name="T61" fmla="*/ 59 h 143"/>
                <a:gd name="T62" fmla="*/ 120 w 132"/>
                <a:gd name="T63" fmla="*/ 30 h 143"/>
                <a:gd name="T64" fmla="*/ 108 w 132"/>
                <a:gd name="T65" fmla="*/ 18 h 143"/>
                <a:gd name="T66" fmla="*/ 96 w 132"/>
                <a:gd name="T67" fmla="*/ 6 h 143"/>
                <a:gd name="T68" fmla="*/ 84 w 132"/>
                <a:gd name="T69" fmla="*/ 0 h 143"/>
                <a:gd name="T70" fmla="*/ 66 w 132"/>
                <a:gd name="T71" fmla="*/ 0 h 143"/>
                <a:gd name="T72" fmla="*/ 48 w 132"/>
                <a:gd name="T73" fmla="*/ 0 h 143"/>
                <a:gd name="T74" fmla="*/ 30 w 132"/>
                <a:gd name="T75" fmla="*/ 6 h 143"/>
                <a:gd name="T76" fmla="*/ 24 w 132"/>
                <a:gd name="T77" fmla="*/ 18 h 143"/>
                <a:gd name="T78" fmla="*/ 12 w 132"/>
                <a:gd name="T79" fmla="*/ 30 h 143"/>
                <a:gd name="T80" fmla="*/ 6 w 132"/>
                <a:gd name="T81" fmla="*/ 59 h 143"/>
                <a:gd name="T82" fmla="*/ 12 w 132"/>
                <a:gd name="T83" fmla="*/ 95 h 143"/>
                <a:gd name="T84" fmla="*/ 24 w 132"/>
                <a:gd name="T85" fmla="*/ 107 h 143"/>
                <a:gd name="T86" fmla="*/ 42 w 132"/>
                <a:gd name="T87" fmla="*/ 113 h 143"/>
                <a:gd name="T88" fmla="*/ 42 w 132"/>
                <a:gd name="T89" fmla="*/ 119 h 143"/>
                <a:gd name="T90" fmla="*/ 12 w 132"/>
                <a:gd name="T91" fmla="*/ 119 h 143"/>
                <a:gd name="T92" fmla="*/ 6 w 132"/>
                <a:gd name="T93" fmla="*/ 119 h 143"/>
                <a:gd name="T94" fmla="*/ 0 w 132"/>
                <a:gd name="T95" fmla="*/ 107 h 143"/>
                <a:gd name="T96" fmla="*/ 0 w 132"/>
                <a:gd name="T97" fmla="*/ 107 h 143"/>
                <a:gd name="T98" fmla="*/ 0 w 132"/>
                <a:gd name="T99" fmla="*/ 143 h 143"/>
                <a:gd name="T100" fmla="*/ 54 w 132"/>
                <a:gd name="T101" fmla="*/ 143 h 143"/>
                <a:gd name="T102" fmla="*/ 54 w 132"/>
                <a:gd name="T103" fmla="*/ 113 h 14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3"/>
                <a:gd name="T158" fmla="*/ 132 w 132"/>
                <a:gd name="T159" fmla="*/ 143 h 143"/>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3">
                  <a:moveTo>
                    <a:pt x="54" y="113"/>
                  </a:moveTo>
                  <a:lnTo>
                    <a:pt x="42" y="107"/>
                  </a:lnTo>
                  <a:lnTo>
                    <a:pt x="36" y="101"/>
                  </a:lnTo>
                  <a:lnTo>
                    <a:pt x="30" y="89"/>
                  </a:lnTo>
                  <a:lnTo>
                    <a:pt x="24" y="71"/>
                  </a:lnTo>
                  <a:lnTo>
                    <a:pt x="24" y="53"/>
                  </a:lnTo>
                  <a:lnTo>
                    <a:pt x="30" y="36"/>
                  </a:lnTo>
                  <a:lnTo>
                    <a:pt x="36" y="18"/>
                  </a:lnTo>
                  <a:lnTo>
                    <a:pt x="54" y="6"/>
                  </a:lnTo>
                  <a:lnTo>
                    <a:pt x="66" y="6"/>
                  </a:lnTo>
                  <a:lnTo>
                    <a:pt x="78" y="6"/>
                  </a:lnTo>
                  <a:lnTo>
                    <a:pt x="90" y="18"/>
                  </a:lnTo>
                  <a:lnTo>
                    <a:pt x="102" y="36"/>
                  </a:lnTo>
                  <a:lnTo>
                    <a:pt x="108" y="53"/>
                  </a:lnTo>
                  <a:lnTo>
                    <a:pt x="108" y="71"/>
                  </a:lnTo>
                  <a:lnTo>
                    <a:pt x="102" y="89"/>
                  </a:lnTo>
                  <a:lnTo>
                    <a:pt x="96" y="101"/>
                  </a:lnTo>
                  <a:lnTo>
                    <a:pt x="90" y="107"/>
                  </a:lnTo>
                  <a:lnTo>
                    <a:pt x="78" y="113"/>
                  </a:lnTo>
                  <a:lnTo>
                    <a:pt x="78" y="143"/>
                  </a:lnTo>
                  <a:lnTo>
                    <a:pt x="132" y="143"/>
                  </a:lnTo>
                  <a:lnTo>
                    <a:pt x="132" y="107"/>
                  </a:lnTo>
                  <a:lnTo>
                    <a:pt x="126" y="107"/>
                  </a:lnTo>
                  <a:lnTo>
                    <a:pt x="120" y="119"/>
                  </a:lnTo>
                  <a:lnTo>
                    <a:pt x="114" y="119"/>
                  </a:lnTo>
                  <a:lnTo>
                    <a:pt x="84" y="119"/>
                  </a:lnTo>
                  <a:lnTo>
                    <a:pt x="84" y="113"/>
                  </a:lnTo>
                  <a:lnTo>
                    <a:pt x="102" y="107"/>
                  </a:lnTo>
                  <a:lnTo>
                    <a:pt x="114" y="95"/>
                  </a:lnTo>
                  <a:lnTo>
                    <a:pt x="126" y="77"/>
                  </a:lnTo>
                  <a:lnTo>
                    <a:pt x="126" y="59"/>
                  </a:lnTo>
                  <a:lnTo>
                    <a:pt x="120" y="30"/>
                  </a:lnTo>
                  <a:lnTo>
                    <a:pt x="108" y="18"/>
                  </a:lnTo>
                  <a:lnTo>
                    <a:pt x="96" y="6"/>
                  </a:lnTo>
                  <a:lnTo>
                    <a:pt x="84" y="0"/>
                  </a:lnTo>
                  <a:lnTo>
                    <a:pt x="66" y="0"/>
                  </a:lnTo>
                  <a:lnTo>
                    <a:pt x="48" y="0"/>
                  </a:lnTo>
                  <a:lnTo>
                    <a:pt x="30" y="6"/>
                  </a:lnTo>
                  <a:lnTo>
                    <a:pt x="24" y="18"/>
                  </a:lnTo>
                  <a:lnTo>
                    <a:pt x="12" y="30"/>
                  </a:lnTo>
                  <a:lnTo>
                    <a:pt x="6" y="59"/>
                  </a:lnTo>
                  <a:lnTo>
                    <a:pt x="12" y="95"/>
                  </a:lnTo>
                  <a:lnTo>
                    <a:pt x="24" y="107"/>
                  </a:lnTo>
                  <a:lnTo>
                    <a:pt x="42" y="113"/>
                  </a:lnTo>
                  <a:lnTo>
                    <a:pt x="42" y="119"/>
                  </a:lnTo>
                  <a:lnTo>
                    <a:pt x="12" y="119"/>
                  </a:lnTo>
                  <a:lnTo>
                    <a:pt x="6" y="119"/>
                  </a:lnTo>
                  <a:lnTo>
                    <a:pt x="0" y="107"/>
                  </a:lnTo>
                  <a:lnTo>
                    <a:pt x="0" y="143"/>
                  </a:lnTo>
                  <a:lnTo>
                    <a:pt x="54" y="143"/>
                  </a:lnTo>
                  <a:lnTo>
                    <a:pt x="54"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69" name="Freeform 51"/>
            <p:cNvSpPr/>
            <p:nvPr/>
          </p:nvSpPr>
          <p:spPr bwMode="auto">
            <a:xfrm>
              <a:off x="3153" y="1194"/>
              <a:ext cx="78" cy="143"/>
            </a:xfrm>
            <a:custGeom>
              <a:avLst/>
              <a:gdLst>
                <a:gd name="T0" fmla="*/ 78 w 78"/>
                <a:gd name="T1" fmla="*/ 113 h 143"/>
                <a:gd name="T2" fmla="*/ 78 w 78"/>
                <a:gd name="T3" fmla="*/ 113 h 143"/>
                <a:gd name="T4" fmla="*/ 72 w 78"/>
                <a:gd name="T5" fmla="*/ 125 h 143"/>
                <a:gd name="T6" fmla="*/ 60 w 78"/>
                <a:gd name="T7" fmla="*/ 125 h 143"/>
                <a:gd name="T8" fmla="*/ 18 w 78"/>
                <a:gd name="T9" fmla="*/ 125 h 143"/>
                <a:gd name="T10" fmla="*/ 48 w 78"/>
                <a:gd name="T11" fmla="*/ 89 h 143"/>
                <a:gd name="T12" fmla="*/ 60 w 78"/>
                <a:gd name="T13" fmla="*/ 65 h 143"/>
                <a:gd name="T14" fmla="*/ 72 w 78"/>
                <a:gd name="T15" fmla="*/ 53 h 143"/>
                <a:gd name="T16" fmla="*/ 72 w 78"/>
                <a:gd name="T17" fmla="*/ 36 h 143"/>
                <a:gd name="T18" fmla="*/ 72 w 78"/>
                <a:gd name="T19" fmla="*/ 18 h 143"/>
                <a:gd name="T20" fmla="*/ 60 w 78"/>
                <a:gd name="T21" fmla="*/ 12 h 143"/>
                <a:gd name="T22" fmla="*/ 36 w 78"/>
                <a:gd name="T23" fmla="*/ 0 h 143"/>
                <a:gd name="T24" fmla="*/ 18 w 78"/>
                <a:gd name="T25" fmla="*/ 12 h 143"/>
                <a:gd name="T26" fmla="*/ 6 w 78"/>
                <a:gd name="T27" fmla="*/ 24 h 143"/>
                <a:gd name="T28" fmla="*/ 0 w 78"/>
                <a:gd name="T29" fmla="*/ 41 h 143"/>
                <a:gd name="T30" fmla="*/ 0 w 78"/>
                <a:gd name="T31" fmla="*/ 41 h 143"/>
                <a:gd name="T32" fmla="*/ 12 w 78"/>
                <a:gd name="T33" fmla="*/ 24 h 143"/>
                <a:gd name="T34" fmla="*/ 30 w 78"/>
                <a:gd name="T35" fmla="*/ 18 h 143"/>
                <a:gd name="T36" fmla="*/ 42 w 78"/>
                <a:gd name="T37" fmla="*/ 24 h 143"/>
                <a:gd name="T38" fmla="*/ 48 w 78"/>
                <a:gd name="T39" fmla="*/ 30 h 143"/>
                <a:gd name="T40" fmla="*/ 54 w 78"/>
                <a:gd name="T41" fmla="*/ 47 h 143"/>
                <a:gd name="T42" fmla="*/ 48 w 78"/>
                <a:gd name="T43" fmla="*/ 71 h 143"/>
                <a:gd name="T44" fmla="*/ 30 w 78"/>
                <a:gd name="T45" fmla="*/ 101 h 143"/>
                <a:gd name="T46" fmla="*/ 0 w 78"/>
                <a:gd name="T47" fmla="*/ 137 h 143"/>
                <a:gd name="T48" fmla="*/ 0 w 78"/>
                <a:gd name="T49" fmla="*/ 143 h 143"/>
                <a:gd name="T50" fmla="*/ 72 w 78"/>
                <a:gd name="T51" fmla="*/ 143 h 143"/>
                <a:gd name="T52" fmla="*/ 78 w 78"/>
                <a:gd name="T53" fmla="*/ 113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
                <a:gd name="T82" fmla="*/ 0 h 143"/>
                <a:gd name="T83" fmla="*/ 78 w 78"/>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 h="143">
                  <a:moveTo>
                    <a:pt x="78" y="113"/>
                  </a:moveTo>
                  <a:lnTo>
                    <a:pt x="78" y="113"/>
                  </a:lnTo>
                  <a:lnTo>
                    <a:pt x="72" y="125"/>
                  </a:lnTo>
                  <a:lnTo>
                    <a:pt x="60" y="125"/>
                  </a:lnTo>
                  <a:lnTo>
                    <a:pt x="18" y="125"/>
                  </a:lnTo>
                  <a:lnTo>
                    <a:pt x="48" y="89"/>
                  </a:lnTo>
                  <a:lnTo>
                    <a:pt x="60" y="65"/>
                  </a:lnTo>
                  <a:lnTo>
                    <a:pt x="72" y="53"/>
                  </a:lnTo>
                  <a:lnTo>
                    <a:pt x="72" y="36"/>
                  </a:lnTo>
                  <a:lnTo>
                    <a:pt x="72" y="18"/>
                  </a:lnTo>
                  <a:lnTo>
                    <a:pt x="60" y="12"/>
                  </a:lnTo>
                  <a:lnTo>
                    <a:pt x="36" y="0"/>
                  </a:lnTo>
                  <a:lnTo>
                    <a:pt x="18" y="12"/>
                  </a:lnTo>
                  <a:lnTo>
                    <a:pt x="6" y="24"/>
                  </a:lnTo>
                  <a:lnTo>
                    <a:pt x="0" y="41"/>
                  </a:lnTo>
                  <a:lnTo>
                    <a:pt x="12" y="24"/>
                  </a:lnTo>
                  <a:lnTo>
                    <a:pt x="30" y="18"/>
                  </a:lnTo>
                  <a:lnTo>
                    <a:pt x="42" y="24"/>
                  </a:lnTo>
                  <a:lnTo>
                    <a:pt x="48" y="30"/>
                  </a:lnTo>
                  <a:lnTo>
                    <a:pt x="54" y="47"/>
                  </a:lnTo>
                  <a:lnTo>
                    <a:pt x="48" y="71"/>
                  </a:lnTo>
                  <a:lnTo>
                    <a:pt x="30" y="101"/>
                  </a:lnTo>
                  <a:lnTo>
                    <a:pt x="0" y="137"/>
                  </a:lnTo>
                  <a:lnTo>
                    <a:pt x="0" y="143"/>
                  </a:lnTo>
                  <a:lnTo>
                    <a:pt x="72" y="143"/>
                  </a:lnTo>
                  <a:lnTo>
                    <a:pt x="7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0" name="Freeform 52"/>
            <p:cNvSpPr/>
            <p:nvPr/>
          </p:nvSpPr>
          <p:spPr bwMode="auto">
            <a:xfrm>
              <a:off x="3291" y="1188"/>
              <a:ext cx="131" cy="149"/>
            </a:xfrm>
            <a:custGeom>
              <a:avLst/>
              <a:gdLst>
                <a:gd name="T0" fmla="*/ 53 w 131"/>
                <a:gd name="T1" fmla="*/ 113 h 149"/>
                <a:gd name="T2" fmla="*/ 42 w 131"/>
                <a:gd name="T3" fmla="*/ 113 h 149"/>
                <a:gd name="T4" fmla="*/ 36 w 131"/>
                <a:gd name="T5" fmla="*/ 101 h 149"/>
                <a:gd name="T6" fmla="*/ 30 w 131"/>
                <a:gd name="T7" fmla="*/ 89 h 149"/>
                <a:gd name="T8" fmla="*/ 24 w 131"/>
                <a:gd name="T9" fmla="*/ 77 h 149"/>
                <a:gd name="T10" fmla="*/ 24 w 131"/>
                <a:gd name="T11" fmla="*/ 59 h 149"/>
                <a:gd name="T12" fmla="*/ 36 w 131"/>
                <a:gd name="T13" fmla="*/ 18 h 149"/>
                <a:gd name="T14" fmla="*/ 53 w 131"/>
                <a:gd name="T15" fmla="*/ 12 h 149"/>
                <a:gd name="T16" fmla="*/ 65 w 131"/>
                <a:gd name="T17" fmla="*/ 12 h 149"/>
                <a:gd name="T18" fmla="*/ 77 w 131"/>
                <a:gd name="T19" fmla="*/ 12 h 149"/>
                <a:gd name="T20" fmla="*/ 89 w 131"/>
                <a:gd name="T21" fmla="*/ 18 h 149"/>
                <a:gd name="T22" fmla="*/ 101 w 131"/>
                <a:gd name="T23" fmla="*/ 36 h 149"/>
                <a:gd name="T24" fmla="*/ 107 w 131"/>
                <a:gd name="T25" fmla="*/ 59 h 149"/>
                <a:gd name="T26" fmla="*/ 107 w 131"/>
                <a:gd name="T27" fmla="*/ 77 h 149"/>
                <a:gd name="T28" fmla="*/ 101 w 131"/>
                <a:gd name="T29" fmla="*/ 89 h 149"/>
                <a:gd name="T30" fmla="*/ 95 w 131"/>
                <a:gd name="T31" fmla="*/ 101 h 149"/>
                <a:gd name="T32" fmla="*/ 89 w 131"/>
                <a:gd name="T33" fmla="*/ 113 h 149"/>
                <a:gd name="T34" fmla="*/ 77 w 131"/>
                <a:gd name="T35" fmla="*/ 113 h 149"/>
                <a:gd name="T36" fmla="*/ 77 w 131"/>
                <a:gd name="T37" fmla="*/ 149 h 149"/>
                <a:gd name="T38" fmla="*/ 131 w 131"/>
                <a:gd name="T39" fmla="*/ 149 h 149"/>
                <a:gd name="T40" fmla="*/ 131 w 131"/>
                <a:gd name="T41" fmla="*/ 113 h 149"/>
                <a:gd name="T42" fmla="*/ 125 w 131"/>
                <a:gd name="T43" fmla="*/ 113 h 149"/>
                <a:gd name="T44" fmla="*/ 119 w 131"/>
                <a:gd name="T45" fmla="*/ 125 h 149"/>
                <a:gd name="T46" fmla="*/ 113 w 131"/>
                <a:gd name="T47" fmla="*/ 125 h 149"/>
                <a:gd name="T48" fmla="*/ 83 w 131"/>
                <a:gd name="T49" fmla="*/ 125 h 149"/>
                <a:gd name="T50" fmla="*/ 83 w 131"/>
                <a:gd name="T51" fmla="*/ 119 h 149"/>
                <a:gd name="T52" fmla="*/ 101 w 131"/>
                <a:gd name="T53" fmla="*/ 107 h 149"/>
                <a:gd name="T54" fmla="*/ 113 w 131"/>
                <a:gd name="T55" fmla="*/ 95 h 149"/>
                <a:gd name="T56" fmla="*/ 125 w 131"/>
                <a:gd name="T57" fmla="*/ 83 h 149"/>
                <a:gd name="T58" fmla="*/ 125 w 131"/>
                <a:gd name="T59" fmla="*/ 65 h 149"/>
                <a:gd name="T60" fmla="*/ 119 w 131"/>
                <a:gd name="T61" fmla="*/ 36 h 149"/>
                <a:gd name="T62" fmla="*/ 113 w 131"/>
                <a:gd name="T63" fmla="*/ 24 h 149"/>
                <a:gd name="T64" fmla="*/ 107 w 131"/>
                <a:gd name="T65" fmla="*/ 18 h 149"/>
                <a:gd name="T66" fmla="*/ 95 w 131"/>
                <a:gd name="T67" fmla="*/ 12 h 149"/>
                <a:gd name="T68" fmla="*/ 83 w 131"/>
                <a:gd name="T69" fmla="*/ 6 h 149"/>
                <a:gd name="T70" fmla="*/ 65 w 131"/>
                <a:gd name="T71" fmla="*/ 0 h 149"/>
                <a:gd name="T72" fmla="*/ 47 w 131"/>
                <a:gd name="T73" fmla="*/ 6 h 149"/>
                <a:gd name="T74" fmla="*/ 30 w 131"/>
                <a:gd name="T75" fmla="*/ 12 h 149"/>
                <a:gd name="T76" fmla="*/ 24 w 131"/>
                <a:gd name="T77" fmla="*/ 18 h 149"/>
                <a:gd name="T78" fmla="*/ 18 w 131"/>
                <a:gd name="T79" fmla="*/ 24 h 149"/>
                <a:gd name="T80" fmla="*/ 12 w 131"/>
                <a:gd name="T81" fmla="*/ 36 h 149"/>
                <a:gd name="T82" fmla="*/ 6 w 131"/>
                <a:gd name="T83" fmla="*/ 65 h 149"/>
                <a:gd name="T84" fmla="*/ 12 w 131"/>
                <a:gd name="T85" fmla="*/ 95 h 149"/>
                <a:gd name="T86" fmla="*/ 24 w 131"/>
                <a:gd name="T87" fmla="*/ 107 h 149"/>
                <a:gd name="T88" fmla="*/ 42 w 131"/>
                <a:gd name="T89" fmla="*/ 119 h 149"/>
                <a:gd name="T90" fmla="*/ 42 w 131"/>
                <a:gd name="T91" fmla="*/ 125 h 149"/>
                <a:gd name="T92" fmla="*/ 12 w 131"/>
                <a:gd name="T93" fmla="*/ 125 h 149"/>
                <a:gd name="T94" fmla="*/ 6 w 131"/>
                <a:gd name="T95" fmla="*/ 125 h 149"/>
                <a:gd name="T96" fmla="*/ 0 w 131"/>
                <a:gd name="T97" fmla="*/ 113 h 149"/>
                <a:gd name="T98" fmla="*/ 0 w 131"/>
                <a:gd name="T99" fmla="*/ 113 h 149"/>
                <a:gd name="T100" fmla="*/ 0 w 131"/>
                <a:gd name="T101" fmla="*/ 149 h 149"/>
                <a:gd name="T102" fmla="*/ 53 w 131"/>
                <a:gd name="T103" fmla="*/ 149 h 149"/>
                <a:gd name="T104" fmla="*/ 53 w 131"/>
                <a:gd name="T105" fmla="*/ 113 h 14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1"/>
                <a:gd name="T160" fmla="*/ 0 h 149"/>
                <a:gd name="T161" fmla="*/ 131 w 131"/>
                <a:gd name="T162" fmla="*/ 149 h 14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1" h="149">
                  <a:moveTo>
                    <a:pt x="53" y="113"/>
                  </a:moveTo>
                  <a:lnTo>
                    <a:pt x="42" y="113"/>
                  </a:lnTo>
                  <a:lnTo>
                    <a:pt x="36" y="101"/>
                  </a:lnTo>
                  <a:lnTo>
                    <a:pt x="30" y="89"/>
                  </a:lnTo>
                  <a:lnTo>
                    <a:pt x="24" y="77"/>
                  </a:lnTo>
                  <a:lnTo>
                    <a:pt x="24" y="59"/>
                  </a:lnTo>
                  <a:lnTo>
                    <a:pt x="36" y="18"/>
                  </a:lnTo>
                  <a:lnTo>
                    <a:pt x="53" y="12"/>
                  </a:lnTo>
                  <a:lnTo>
                    <a:pt x="65" y="12"/>
                  </a:lnTo>
                  <a:lnTo>
                    <a:pt x="77" y="12"/>
                  </a:lnTo>
                  <a:lnTo>
                    <a:pt x="89" y="18"/>
                  </a:lnTo>
                  <a:lnTo>
                    <a:pt x="101" y="36"/>
                  </a:lnTo>
                  <a:lnTo>
                    <a:pt x="107" y="59"/>
                  </a:lnTo>
                  <a:lnTo>
                    <a:pt x="107" y="77"/>
                  </a:lnTo>
                  <a:lnTo>
                    <a:pt x="101" y="89"/>
                  </a:lnTo>
                  <a:lnTo>
                    <a:pt x="95" y="101"/>
                  </a:lnTo>
                  <a:lnTo>
                    <a:pt x="89" y="113"/>
                  </a:lnTo>
                  <a:lnTo>
                    <a:pt x="77" y="113"/>
                  </a:lnTo>
                  <a:lnTo>
                    <a:pt x="77" y="149"/>
                  </a:lnTo>
                  <a:lnTo>
                    <a:pt x="131" y="149"/>
                  </a:lnTo>
                  <a:lnTo>
                    <a:pt x="131" y="113"/>
                  </a:lnTo>
                  <a:lnTo>
                    <a:pt x="125" y="113"/>
                  </a:lnTo>
                  <a:lnTo>
                    <a:pt x="119" y="125"/>
                  </a:lnTo>
                  <a:lnTo>
                    <a:pt x="113" y="125"/>
                  </a:lnTo>
                  <a:lnTo>
                    <a:pt x="83" y="125"/>
                  </a:lnTo>
                  <a:lnTo>
                    <a:pt x="83" y="119"/>
                  </a:lnTo>
                  <a:lnTo>
                    <a:pt x="101" y="107"/>
                  </a:lnTo>
                  <a:lnTo>
                    <a:pt x="113" y="95"/>
                  </a:lnTo>
                  <a:lnTo>
                    <a:pt x="125" y="83"/>
                  </a:lnTo>
                  <a:lnTo>
                    <a:pt x="125" y="65"/>
                  </a:lnTo>
                  <a:lnTo>
                    <a:pt x="119" y="36"/>
                  </a:lnTo>
                  <a:lnTo>
                    <a:pt x="113" y="24"/>
                  </a:lnTo>
                  <a:lnTo>
                    <a:pt x="107" y="18"/>
                  </a:lnTo>
                  <a:lnTo>
                    <a:pt x="95" y="12"/>
                  </a:lnTo>
                  <a:lnTo>
                    <a:pt x="83" y="6"/>
                  </a:lnTo>
                  <a:lnTo>
                    <a:pt x="65" y="0"/>
                  </a:lnTo>
                  <a:lnTo>
                    <a:pt x="47" y="6"/>
                  </a:lnTo>
                  <a:lnTo>
                    <a:pt x="30" y="12"/>
                  </a:lnTo>
                  <a:lnTo>
                    <a:pt x="24" y="18"/>
                  </a:lnTo>
                  <a:lnTo>
                    <a:pt x="18" y="24"/>
                  </a:lnTo>
                  <a:lnTo>
                    <a:pt x="12" y="36"/>
                  </a:lnTo>
                  <a:lnTo>
                    <a:pt x="6" y="65"/>
                  </a:lnTo>
                  <a:lnTo>
                    <a:pt x="12" y="95"/>
                  </a:lnTo>
                  <a:lnTo>
                    <a:pt x="24" y="107"/>
                  </a:lnTo>
                  <a:lnTo>
                    <a:pt x="42" y="119"/>
                  </a:lnTo>
                  <a:lnTo>
                    <a:pt x="42" y="125"/>
                  </a:lnTo>
                  <a:lnTo>
                    <a:pt x="12" y="125"/>
                  </a:lnTo>
                  <a:lnTo>
                    <a:pt x="6" y="125"/>
                  </a:lnTo>
                  <a:lnTo>
                    <a:pt x="0" y="113"/>
                  </a:lnTo>
                  <a:lnTo>
                    <a:pt x="0" y="149"/>
                  </a:lnTo>
                  <a:lnTo>
                    <a:pt x="53" y="149"/>
                  </a:lnTo>
                  <a:lnTo>
                    <a:pt x="53"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1" name="Freeform 53"/>
            <p:cNvSpPr/>
            <p:nvPr/>
          </p:nvSpPr>
          <p:spPr bwMode="auto">
            <a:xfrm>
              <a:off x="2262" y="1194"/>
              <a:ext cx="78" cy="143"/>
            </a:xfrm>
            <a:custGeom>
              <a:avLst/>
              <a:gdLst>
                <a:gd name="T0" fmla="*/ 78 w 78"/>
                <a:gd name="T1" fmla="*/ 113 h 143"/>
                <a:gd name="T2" fmla="*/ 78 w 78"/>
                <a:gd name="T3" fmla="*/ 113 h 143"/>
                <a:gd name="T4" fmla="*/ 72 w 78"/>
                <a:gd name="T5" fmla="*/ 125 h 143"/>
                <a:gd name="T6" fmla="*/ 60 w 78"/>
                <a:gd name="T7" fmla="*/ 125 h 143"/>
                <a:gd name="T8" fmla="*/ 18 w 78"/>
                <a:gd name="T9" fmla="*/ 125 h 143"/>
                <a:gd name="T10" fmla="*/ 48 w 78"/>
                <a:gd name="T11" fmla="*/ 89 h 143"/>
                <a:gd name="T12" fmla="*/ 60 w 78"/>
                <a:gd name="T13" fmla="*/ 65 h 143"/>
                <a:gd name="T14" fmla="*/ 72 w 78"/>
                <a:gd name="T15" fmla="*/ 53 h 143"/>
                <a:gd name="T16" fmla="*/ 72 w 78"/>
                <a:gd name="T17" fmla="*/ 36 h 143"/>
                <a:gd name="T18" fmla="*/ 72 w 78"/>
                <a:gd name="T19" fmla="*/ 18 h 143"/>
                <a:gd name="T20" fmla="*/ 60 w 78"/>
                <a:gd name="T21" fmla="*/ 12 h 143"/>
                <a:gd name="T22" fmla="*/ 36 w 78"/>
                <a:gd name="T23" fmla="*/ 0 h 143"/>
                <a:gd name="T24" fmla="*/ 18 w 78"/>
                <a:gd name="T25" fmla="*/ 12 h 143"/>
                <a:gd name="T26" fmla="*/ 6 w 78"/>
                <a:gd name="T27" fmla="*/ 24 h 143"/>
                <a:gd name="T28" fmla="*/ 0 w 78"/>
                <a:gd name="T29" fmla="*/ 41 h 143"/>
                <a:gd name="T30" fmla="*/ 0 w 78"/>
                <a:gd name="T31" fmla="*/ 41 h 143"/>
                <a:gd name="T32" fmla="*/ 12 w 78"/>
                <a:gd name="T33" fmla="*/ 24 h 143"/>
                <a:gd name="T34" fmla="*/ 30 w 78"/>
                <a:gd name="T35" fmla="*/ 18 h 143"/>
                <a:gd name="T36" fmla="*/ 42 w 78"/>
                <a:gd name="T37" fmla="*/ 24 h 143"/>
                <a:gd name="T38" fmla="*/ 48 w 78"/>
                <a:gd name="T39" fmla="*/ 30 h 143"/>
                <a:gd name="T40" fmla="*/ 54 w 78"/>
                <a:gd name="T41" fmla="*/ 47 h 143"/>
                <a:gd name="T42" fmla="*/ 48 w 78"/>
                <a:gd name="T43" fmla="*/ 71 h 143"/>
                <a:gd name="T44" fmla="*/ 30 w 78"/>
                <a:gd name="T45" fmla="*/ 101 h 143"/>
                <a:gd name="T46" fmla="*/ 0 w 78"/>
                <a:gd name="T47" fmla="*/ 137 h 143"/>
                <a:gd name="T48" fmla="*/ 0 w 78"/>
                <a:gd name="T49" fmla="*/ 143 h 143"/>
                <a:gd name="T50" fmla="*/ 72 w 78"/>
                <a:gd name="T51" fmla="*/ 143 h 143"/>
                <a:gd name="T52" fmla="*/ 78 w 78"/>
                <a:gd name="T53" fmla="*/ 113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
                <a:gd name="T82" fmla="*/ 0 h 143"/>
                <a:gd name="T83" fmla="*/ 78 w 78"/>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 h="143">
                  <a:moveTo>
                    <a:pt x="78" y="113"/>
                  </a:moveTo>
                  <a:lnTo>
                    <a:pt x="78" y="113"/>
                  </a:lnTo>
                  <a:lnTo>
                    <a:pt x="72" y="125"/>
                  </a:lnTo>
                  <a:lnTo>
                    <a:pt x="60" y="125"/>
                  </a:lnTo>
                  <a:lnTo>
                    <a:pt x="18" y="125"/>
                  </a:lnTo>
                  <a:lnTo>
                    <a:pt x="48" y="89"/>
                  </a:lnTo>
                  <a:lnTo>
                    <a:pt x="60" y="65"/>
                  </a:lnTo>
                  <a:lnTo>
                    <a:pt x="72" y="53"/>
                  </a:lnTo>
                  <a:lnTo>
                    <a:pt x="72" y="36"/>
                  </a:lnTo>
                  <a:lnTo>
                    <a:pt x="72" y="18"/>
                  </a:lnTo>
                  <a:lnTo>
                    <a:pt x="60" y="12"/>
                  </a:lnTo>
                  <a:lnTo>
                    <a:pt x="36" y="0"/>
                  </a:lnTo>
                  <a:lnTo>
                    <a:pt x="18" y="12"/>
                  </a:lnTo>
                  <a:lnTo>
                    <a:pt x="6" y="24"/>
                  </a:lnTo>
                  <a:lnTo>
                    <a:pt x="0" y="41"/>
                  </a:lnTo>
                  <a:lnTo>
                    <a:pt x="12" y="24"/>
                  </a:lnTo>
                  <a:lnTo>
                    <a:pt x="30" y="18"/>
                  </a:lnTo>
                  <a:lnTo>
                    <a:pt x="42" y="24"/>
                  </a:lnTo>
                  <a:lnTo>
                    <a:pt x="48" y="30"/>
                  </a:lnTo>
                  <a:lnTo>
                    <a:pt x="54" y="47"/>
                  </a:lnTo>
                  <a:lnTo>
                    <a:pt x="48" y="71"/>
                  </a:lnTo>
                  <a:lnTo>
                    <a:pt x="30" y="101"/>
                  </a:lnTo>
                  <a:lnTo>
                    <a:pt x="0" y="137"/>
                  </a:lnTo>
                  <a:lnTo>
                    <a:pt x="0" y="143"/>
                  </a:lnTo>
                  <a:lnTo>
                    <a:pt x="72" y="143"/>
                  </a:lnTo>
                  <a:lnTo>
                    <a:pt x="7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2" name="Freeform 54"/>
            <p:cNvSpPr/>
            <p:nvPr/>
          </p:nvSpPr>
          <p:spPr bwMode="auto">
            <a:xfrm>
              <a:off x="4989" y="2274"/>
              <a:ext cx="72" cy="150"/>
            </a:xfrm>
            <a:custGeom>
              <a:avLst/>
              <a:gdLst>
                <a:gd name="T0" fmla="*/ 24 w 72"/>
                <a:gd name="T1" fmla="*/ 24 h 150"/>
                <a:gd name="T2" fmla="*/ 60 w 72"/>
                <a:gd name="T3" fmla="*/ 24 h 150"/>
                <a:gd name="T4" fmla="*/ 66 w 72"/>
                <a:gd name="T5" fmla="*/ 24 h 150"/>
                <a:gd name="T6" fmla="*/ 66 w 72"/>
                <a:gd name="T7" fmla="*/ 18 h 150"/>
                <a:gd name="T8" fmla="*/ 72 w 72"/>
                <a:gd name="T9" fmla="*/ 0 h 150"/>
                <a:gd name="T10" fmla="*/ 72 w 72"/>
                <a:gd name="T11" fmla="*/ 0 h 150"/>
                <a:gd name="T12" fmla="*/ 66 w 72"/>
                <a:gd name="T13" fmla="*/ 6 h 150"/>
                <a:gd name="T14" fmla="*/ 60 w 72"/>
                <a:gd name="T15" fmla="*/ 6 h 150"/>
                <a:gd name="T16" fmla="*/ 24 w 72"/>
                <a:gd name="T17" fmla="*/ 6 h 150"/>
                <a:gd name="T18" fmla="*/ 6 w 72"/>
                <a:gd name="T19" fmla="*/ 54 h 150"/>
                <a:gd name="T20" fmla="*/ 6 w 72"/>
                <a:gd name="T21" fmla="*/ 60 h 150"/>
                <a:gd name="T22" fmla="*/ 6 w 72"/>
                <a:gd name="T23" fmla="*/ 60 h 150"/>
                <a:gd name="T24" fmla="*/ 24 w 72"/>
                <a:gd name="T25" fmla="*/ 60 h 150"/>
                <a:gd name="T26" fmla="*/ 42 w 72"/>
                <a:gd name="T27" fmla="*/ 66 h 150"/>
                <a:gd name="T28" fmla="*/ 54 w 72"/>
                <a:gd name="T29" fmla="*/ 78 h 150"/>
                <a:gd name="T30" fmla="*/ 60 w 72"/>
                <a:gd name="T31" fmla="*/ 102 h 150"/>
                <a:gd name="T32" fmla="*/ 60 w 72"/>
                <a:gd name="T33" fmla="*/ 120 h 150"/>
                <a:gd name="T34" fmla="*/ 48 w 72"/>
                <a:gd name="T35" fmla="*/ 132 h 150"/>
                <a:gd name="T36" fmla="*/ 30 w 72"/>
                <a:gd name="T37" fmla="*/ 138 h 150"/>
                <a:gd name="T38" fmla="*/ 18 w 72"/>
                <a:gd name="T39" fmla="*/ 132 h 150"/>
                <a:gd name="T40" fmla="*/ 6 w 72"/>
                <a:gd name="T41" fmla="*/ 126 h 150"/>
                <a:gd name="T42" fmla="*/ 0 w 72"/>
                <a:gd name="T43" fmla="*/ 132 h 150"/>
                <a:gd name="T44" fmla="*/ 0 w 72"/>
                <a:gd name="T45" fmla="*/ 132 h 150"/>
                <a:gd name="T46" fmla="*/ 6 w 72"/>
                <a:gd name="T47" fmla="*/ 144 h 150"/>
                <a:gd name="T48" fmla="*/ 24 w 72"/>
                <a:gd name="T49" fmla="*/ 150 h 150"/>
                <a:gd name="T50" fmla="*/ 42 w 72"/>
                <a:gd name="T51" fmla="*/ 144 h 150"/>
                <a:gd name="T52" fmla="*/ 60 w 72"/>
                <a:gd name="T53" fmla="*/ 132 h 150"/>
                <a:gd name="T54" fmla="*/ 66 w 72"/>
                <a:gd name="T55" fmla="*/ 120 h 150"/>
                <a:gd name="T56" fmla="*/ 72 w 72"/>
                <a:gd name="T57" fmla="*/ 96 h 150"/>
                <a:gd name="T58" fmla="*/ 66 w 72"/>
                <a:gd name="T59" fmla="*/ 78 h 150"/>
                <a:gd name="T60" fmla="*/ 60 w 72"/>
                <a:gd name="T61" fmla="*/ 60 h 150"/>
                <a:gd name="T62" fmla="*/ 42 w 72"/>
                <a:gd name="T63" fmla="*/ 48 h 150"/>
                <a:gd name="T64" fmla="*/ 18 w 72"/>
                <a:gd name="T65" fmla="*/ 42 h 150"/>
                <a:gd name="T66" fmla="*/ 24 w 72"/>
                <a:gd name="T67" fmla="*/ 24 h 1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
                <a:gd name="T103" fmla="*/ 0 h 150"/>
                <a:gd name="T104" fmla="*/ 72 w 72"/>
                <a:gd name="T105" fmla="*/ 150 h 1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 h="150">
                  <a:moveTo>
                    <a:pt x="24" y="24"/>
                  </a:moveTo>
                  <a:lnTo>
                    <a:pt x="60" y="24"/>
                  </a:lnTo>
                  <a:lnTo>
                    <a:pt x="66" y="24"/>
                  </a:lnTo>
                  <a:lnTo>
                    <a:pt x="66" y="18"/>
                  </a:lnTo>
                  <a:lnTo>
                    <a:pt x="72" y="0"/>
                  </a:lnTo>
                  <a:lnTo>
                    <a:pt x="66" y="6"/>
                  </a:lnTo>
                  <a:lnTo>
                    <a:pt x="60" y="6"/>
                  </a:lnTo>
                  <a:lnTo>
                    <a:pt x="24" y="6"/>
                  </a:lnTo>
                  <a:lnTo>
                    <a:pt x="6" y="54"/>
                  </a:lnTo>
                  <a:lnTo>
                    <a:pt x="6" y="60"/>
                  </a:lnTo>
                  <a:lnTo>
                    <a:pt x="24" y="60"/>
                  </a:lnTo>
                  <a:lnTo>
                    <a:pt x="42" y="66"/>
                  </a:lnTo>
                  <a:lnTo>
                    <a:pt x="54" y="78"/>
                  </a:lnTo>
                  <a:lnTo>
                    <a:pt x="60" y="102"/>
                  </a:lnTo>
                  <a:lnTo>
                    <a:pt x="60" y="120"/>
                  </a:lnTo>
                  <a:lnTo>
                    <a:pt x="48" y="132"/>
                  </a:lnTo>
                  <a:lnTo>
                    <a:pt x="30" y="138"/>
                  </a:lnTo>
                  <a:lnTo>
                    <a:pt x="18" y="132"/>
                  </a:lnTo>
                  <a:lnTo>
                    <a:pt x="6" y="126"/>
                  </a:lnTo>
                  <a:lnTo>
                    <a:pt x="0" y="132"/>
                  </a:lnTo>
                  <a:lnTo>
                    <a:pt x="6" y="144"/>
                  </a:lnTo>
                  <a:lnTo>
                    <a:pt x="24" y="150"/>
                  </a:lnTo>
                  <a:lnTo>
                    <a:pt x="42" y="144"/>
                  </a:lnTo>
                  <a:lnTo>
                    <a:pt x="60" y="132"/>
                  </a:lnTo>
                  <a:lnTo>
                    <a:pt x="66" y="120"/>
                  </a:lnTo>
                  <a:lnTo>
                    <a:pt x="72" y="96"/>
                  </a:lnTo>
                  <a:lnTo>
                    <a:pt x="66" y="78"/>
                  </a:lnTo>
                  <a:lnTo>
                    <a:pt x="60" y="60"/>
                  </a:lnTo>
                  <a:lnTo>
                    <a:pt x="42" y="48"/>
                  </a:lnTo>
                  <a:lnTo>
                    <a:pt x="18" y="42"/>
                  </a:lnTo>
                  <a:lnTo>
                    <a:pt x="24" y="2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3" name="Freeform 55"/>
            <p:cNvSpPr/>
            <p:nvPr/>
          </p:nvSpPr>
          <p:spPr bwMode="auto">
            <a:xfrm>
              <a:off x="5127" y="2274"/>
              <a:ext cx="125" cy="144"/>
            </a:xfrm>
            <a:custGeom>
              <a:avLst/>
              <a:gdLst>
                <a:gd name="T0" fmla="*/ 48 w 125"/>
                <a:gd name="T1" fmla="*/ 114 h 144"/>
                <a:gd name="T2" fmla="*/ 42 w 125"/>
                <a:gd name="T3" fmla="*/ 108 h 144"/>
                <a:gd name="T4" fmla="*/ 36 w 125"/>
                <a:gd name="T5" fmla="*/ 102 h 144"/>
                <a:gd name="T6" fmla="*/ 30 w 125"/>
                <a:gd name="T7" fmla="*/ 90 h 144"/>
                <a:gd name="T8" fmla="*/ 24 w 125"/>
                <a:gd name="T9" fmla="*/ 72 h 144"/>
                <a:gd name="T10" fmla="*/ 24 w 125"/>
                <a:gd name="T11" fmla="*/ 54 h 144"/>
                <a:gd name="T12" fmla="*/ 24 w 125"/>
                <a:gd name="T13" fmla="*/ 36 h 144"/>
                <a:gd name="T14" fmla="*/ 36 w 125"/>
                <a:gd name="T15" fmla="*/ 18 h 144"/>
                <a:gd name="T16" fmla="*/ 48 w 125"/>
                <a:gd name="T17" fmla="*/ 6 h 144"/>
                <a:gd name="T18" fmla="*/ 65 w 125"/>
                <a:gd name="T19" fmla="*/ 6 h 144"/>
                <a:gd name="T20" fmla="*/ 77 w 125"/>
                <a:gd name="T21" fmla="*/ 6 h 144"/>
                <a:gd name="T22" fmla="*/ 89 w 125"/>
                <a:gd name="T23" fmla="*/ 18 h 144"/>
                <a:gd name="T24" fmla="*/ 101 w 125"/>
                <a:gd name="T25" fmla="*/ 36 h 144"/>
                <a:gd name="T26" fmla="*/ 107 w 125"/>
                <a:gd name="T27" fmla="*/ 54 h 144"/>
                <a:gd name="T28" fmla="*/ 107 w 125"/>
                <a:gd name="T29" fmla="*/ 72 h 144"/>
                <a:gd name="T30" fmla="*/ 101 w 125"/>
                <a:gd name="T31" fmla="*/ 90 h 144"/>
                <a:gd name="T32" fmla="*/ 95 w 125"/>
                <a:gd name="T33" fmla="*/ 102 h 144"/>
                <a:gd name="T34" fmla="*/ 89 w 125"/>
                <a:gd name="T35" fmla="*/ 108 h 144"/>
                <a:gd name="T36" fmla="*/ 77 w 125"/>
                <a:gd name="T37" fmla="*/ 114 h 144"/>
                <a:gd name="T38" fmla="*/ 71 w 125"/>
                <a:gd name="T39" fmla="*/ 144 h 144"/>
                <a:gd name="T40" fmla="*/ 125 w 125"/>
                <a:gd name="T41" fmla="*/ 144 h 144"/>
                <a:gd name="T42" fmla="*/ 125 w 125"/>
                <a:gd name="T43" fmla="*/ 108 h 144"/>
                <a:gd name="T44" fmla="*/ 125 w 125"/>
                <a:gd name="T45" fmla="*/ 108 h 144"/>
                <a:gd name="T46" fmla="*/ 119 w 125"/>
                <a:gd name="T47" fmla="*/ 120 h 144"/>
                <a:gd name="T48" fmla="*/ 113 w 125"/>
                <a:gd name="T49" fmla="*/ 126 h 144"/>
                <a:gd name="T50" fmla="*/ 83 w 125"/>
                <a:gd name="T51" fmla="*/ 126 h 144"/>
                <a:gd name="T52" fmla="*/ 83 w 125"/>
                <a:gd name="T53" fmla="*/ 120 h 144"/>
                <a:gd name="T54" fmla="*/ 101 w 125"/>
                <a:gd name="T55" fmla="*/ 108 h 144"/>
                <a:gd name="T56" fmla="*/ 113 w 125"/>
                <a:gd name="T57" fmla="*/ 96 h 144"/>
                <a:gd name="T58" fmla="*/ 125 w 125"/>
                <a:gd name="T59" fmla="*/ 60 h 144"/>
                <a:gd name="T60" fmla="*/ 119 w 125"/>
                <a:gd name="T61" fmla="*/ 30 h 144"/>
                <a:gd name="T62" fmla="*/ 107 w 125"/>
                <a:gd name="T63" fmla="*/ 18 h 144"/>
                <a:gd name="T64" fmla="*/ 95 w 125"/>
                <a:gd name="T65" fmla="*/ 6 h 144"/>
                <a:gd name="T66" fmla="*/ 83 w 125"/>
                <a:gd name="T67" fmla="*/ 0 h 144"/>
                <a:gd name="T68" fmla="*/ 65 w 125"/>
                <a:gd name="T69" fmla="*/ 0 h 144"/>
                <a:gd name="T70" fmla="*/ 42 w 125"/>
                <a:gd name="T71" fmla="*/ 0 h 144"/>
                <a:gd name="T72" fmla="*/ 30 w 125"/>
                <a:gd name="T73" fmla="*/ 6 h 144"/>
                <a:gd name="T74" fmla="*/ 24 w 125"/>
                <a:gd name="T75" fmla="*/ 18 h 144"/>
                <a:gd name="T76" fmla="*/ 12 w 125"/>
                <a:gd name="T77" fmla="*/ 30 h 144"/>
                <a:gd name="T78" fmla="*/ 6 w 125"/>
                <a:gd name="T79" fmla="*/ 60 h 144"/>
                <a:gd name="T80" fmla="*/ 12 w 125"/>
                <a:gd name="T81" fmla="*/ 96 h 144"/>
                <a:gd name="T82" fmla="*/ 24 w 125"/>
                <a:gd name="T83" fmla="*/ 108 h 144"/>
                <a:gd name="T84" fmla="*/ 42 w 125"/>
                <a:gd name="T85" fmla="*/ 120 h 144"/>
                <a:gd name="T86" fmla="*/ 42 w 125"/>
                <a:gd name="T87" fmla="*/ 126 h 144"/>
                <a:gd name="T88" fmla="*/ 12 w 125"/>
                <a:gd name="T89" fmla="*/ 126 h 144"/>
                <a:gd name="T90" fmla="*/ 6 w 125"/>
                <a:gd name="T91" fmla="*/ 120 h 144"/>
                <a:gd name="T92" fmla="*/ 0 w 125"/>
                <a:gd name="T93" fmla="*/ 108 h 144"/>
                <a:gd name="T94" fmla="*/ 0 w 125"/>
                <a:gd name="T95" fmla="*/ 108 h 144"/>
                <a:gd name="T96" fmla="*/ 0 w 125"/>
                <a:gd name="T97" fmla="*/ 144 h 144"/>
                <a:gd name="T98" fmla="*/ 53 w 125"/>
                <a:gd name="T99" fmla="*/ 144 h 144"/>
                <a:gd name="T100" fmla="*/ 48 w 125"/>
                <a:gd name="T101" fmla="*/ 114 h 14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25"/>
                <a:gd name="T154" fmla="*/ 0 h 144"/>
                <a:gd name="T155" fmla="*/ 125 w 125"/>
                <a:gd name="T156" fmla="*/ 144 h 14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25" h="144">
                  <a:moveTo>
                    <a:pt x="48" y="114"/>
                  </a:moveTo>
                  <a:lnTo>
                    <a:pt x="42" y="108"/>
                  </a:lnTo>
                  <a:lnTo>
                    <a:pt x="36" y="102"/>
                  </a:lnTo>
                  <a:lnTo>
                    <a:pt x="30" y="90"/>
                  </a:lnTo>
                  <a:lnTo>
                    <a:pt x="24" y="72"/>
                  </a:lnTo>
                  <a:lnTo>
                    <a:pt x="24" y="54"/>
                  </a:lnTo>
                  <a:lnTo>
                    <a:pt x="24" y="36"/>
                  </a:lnTo>
                  <a:lnTo>
                    <a:pt x="36" y="18"/>
                  </a:lnTo>
                  <a:lnTo>
                    <a:pt x="48" y="6"/>
                  </a:lnTo>
                  <a:lnTo>
                    <a:pt x="65" y="6"/>
                  </a:lnTo>
                  <a:lnTo>
                    <a:pt x="77" y="6"/>
                  </a:lnTo>
                  <a:lnTo>
                    <a:pt x="89" y="18"/>
                  </a:lnTo>
                  <a:lnTo>
                    <a:pt x="101" y="36"/>
                  </a:lnTo>
                  <a:lnTo>
                    <a:pt x="107" y="54"/>
                  </a:lnTo>
                  <a:lnTo>
                    <a:pt x="107" y="72"/>
                  </a:lnTo>
                  <a:lnTo>
                    <a:pt x="101" y="90"/>
                  </a:lnTo>
                  <a:lnTo>
                    <a:pt x="95" y="102"/>
                  </a:lnTo>
                  <a:lnTo>
                    <a:pt x="89" y="108"/>
                  </a:lnTo>
                  <a:lnTo>
                    <a:pt x="77" y="114"/>
                  </a:lnTo>
                  <a:lnTo>
                    <a:pt x="71" y="144"/>
                  </a:lnTo>
                  <a:lnTo>
                    <a:pt x="125" y="144"/>
                  </a:lnTo>
                  <a:lnTo>
                    <a:pt x="125" y="108"/>
                  </a:lnTo>
                  <a:lnTo>
                    <a:pt x="119" y="120"/>
                  </a:lnTo>
                  <a:lnTo>
                    <a:pt x="113" y="126"/>
                  </a:lnTo>
                  <a:lnTo>
                    <a:pt x="83" y="126"/>
                  </a:lnTo>
                  <a:lnTo>
                    <a:pt x="83" y="120"/>
                  </a:lnTo>
                  <a:lnTo>
                    <a:pt x="101" y="108"/>
                  </a:lnTo>
                  <a:lnTo>
                    <a:pt x="113" y="96"/>
                  </a:lnTo>
                  <a:lnTo>
                    <a:pt x="125" y="60"/>
                  </a:lnTo>
                  <a:lnTo>
                    <a:pt x="119" y="30"/>
                  </a:lnTo>
                  <a:lnTo>
                    <a:pt x="107" y="18"/>
                  </a:lnTo>
                  <a:lnTo>
                    <a:pt x="95" y="6"/>
                  </a:lnTo>
                  <a:lnTo>
                    <a:pt x="83" y="0"/>
                  </a:lnTo>
                  <a:lnTo>
                    <a:pt x="65" y="0"/>
                  </a:lnTo>
                  <a:lnTo>
                    <a:pt x="42"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3" y="144"/>
                  </a:lnTo>
                  <a:lnTo>
                    <a:pt x="48"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4" name="Freeform 56"/>
            <p:cNvSpPr/>
            <p:nvPr/>
          </p:nvSpPr>
          <p:spPr bwMode="auto">
            <a:xfrm>
              <a:off x="2101" y="2280"/>
              <a:ext cx="83" cy="138"/>
            </a:xfrm>
            <a:custGeom>
              <a:avLst/>
              <a:gdLst>
                <a:gd name="T0" fmla="*/ 83 w 83"/>
                <a:gd name="T1" fmla="*/ 0 h 138"/>
                <a:gd name="T2" fmla="*/ 11 w 83"/>
                <a:gd name="T3" fmla="*/ 0 h 138"/>
                <a:gd name="T4" fmla="*/ 11 w 83"/>
                <a:gd name="T5" fmla="*/ 6 h 138"/>
                <a:gd name="T6" fmla="*/ 0 w 83"/>
                <a:gd name="T7" fmla="*/ 30 h 138"/>
                <a:gd name="T8" fmla="*/ 6 w 83"/>
                <a:gd name="T9" fmla="*/ 30 h 138"/>
                <a:gd name="T10" fmla="*/ 17 w 83"/>
                <a:gd name="T11" fmla="*/ 18 h 138"/>
                <a:gd name="T12" fmla="*/ 29 w 83"/>
                <a:gd name="T13" fmla="*/ 12 h 138"/>
                <a:gd name="T14" fmla="*/ 65 w 83"/>
                <a:gd name="T15" fmla="*/ 12 h 138"/>
                <a:gd name="T16" fmla="*/ 29 w 83"/>
                <a:gd name="T17" fmla="*/ 138 h 138"/>
                <a:gd name="T18" fmla="*/ 41 w 83"/>
                <a:gd name="T19" fmla="*/ 138 h 138"/>
                <a:gd name="T20" fmla="*/ 83 w 83"/>
                <a:gd name="T21" fmla="*/ 0 h 138"/>
                <a:gd name="T22" fmla="*/ 83 w 83"/>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3"/>
                <a:gd name="T37" fmla="*/ 0 h 138"/>
                <a:gd name="T38" fmla="*/ 83 w 83"/>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3" h="138">
                  <a:moveTo>
                    <a:pt x="83" y="0"/>
                  </a:moveTo>
                  <a:lnTo>
                    <a:pt x="11" y="0"/>
                  </a:lnTo>
                  <a:lnTo>
                    <a:pt x="11" y="6"/>
                  </a:lnTo>
                  <a:lnTo>
                    <a:pt x="0" y="30"/>
                  </a:lnTo>
                  <a:lnTo>
                    <a:pt x="6" y="30"/>
                  </a:lnTo>
                  <a:lnTo>
                    <a:pt x="17" y="18"/>
                  </a:lnTo>
                  <a:lnTo>
                    <a:pt x="29" y="12"/>
                  </a:lnTo>
                  <a:lnTo>
                    <a:pt x="65" y="12"/>
                  </a:lnTo>
                  <a:lnTo>
                    <a:pt x="29" y="138"/>
                  </a:lnTo>
                  <a:lnTo>
                    <a:pt x="41" y="138"/>
                  </a:lnTo>
                  <a:lnTo>
                    <a:pt x="8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5" name="Freeform 57"/>
            <p:cNvSpPr/>
            <p:nvPr/>
          </p:nvSpPr>
          <p:spPr bwMode="auto">
            <a:xfrm>
              <a:off x="2244" y="2274"/>
              <a:ext cx="132" cy="144"/>
            </a:xfrm>
            <a:custGeom>
              <a:avLst/>
              <a:gdLst>
                <a:gd name="T0" fmla="*/ 54 w 132"/>
                <a:gd name="T1" fmla="*/ 114 h 144"/>
                <a:gd name="T2" fmla="*/ 42 w 132"/>
                <a:gd name="T3" fmla="*/ 108 h 144"/>
                <a:gd name="T4" fmla="*/ 36 w 132"/>
                <a:gd name="T5" fmla="*/ 102 h 144"/>
                <a:gd name="T6" fmla="*/ 30 w 132"/>
                <a:gd name="T7" fmla="*/ 90 h 144"/>
                <a:gd name="T8" fmla="*/ 24 w 132"/>
                <a:gd name="T9" fmla="*/ 72 h 144"/>
                <a:gd name="T10" fmla="*/ 24 w 132"/>
                <a:gd name="T11" fmla="*/ 54 h 144"/>
                <a:gd name="T12" fmla="*/ 30 w 132"/>
                <a:gd name="T13" fmla="*/ 36 h 144"/>
                <a:gd name="T14" fmla="*/ 36 w 132"/>
                <a:gd name="T15" fmla="*/ 18 h 144"/>
                <a:gd name="T16" fmla="*/ 54 w 132"/>
                <a:gd name="T17" fmla="*/ 6 h 144"/>
                <a:gd name="T18" fmla="*/ 66 w 132"/>
                <a:gd name="T19" fmla="*/ 6 h 144"/>
                <a:gd name="T20" fmla="*/ 78 w 132"/>
                <a:gd name="T21" fmla="*/ 6 h 144"/>
                <a:gd name="T22" fmla="*/ 90 w 132"/>
                <a:gd name="T23" fmla="*/ 18 h 144"/>
                <a:gd name="T24" fmla="*/ 102 w 132"/>
                <a:gd name="T25" fmla="*/ 36 h 144"/>
                <a:gd name="T26" fmla="*/ 108 w 132"/>
                <a:gd name="T27" fmla="*/ 54 h 144"/>
                <a:gd name="T28" fmla="*/ 108 w 132"/>
                <a:gd name="T29" fmla="*/ 72 h 144"/>
                <a:gd name="T30" fmla="*/ 102 w 132"/>
                <a:gd name="T31" fmla="*/ 90 h 144"/>
                <a:gd name="T32" fmla="*/ 96 w 132"/>
                <a:gd name="T33" fmla="*/ 102 h 144"/>
                <a:gd name="T34" fmla="*/ 90 w 132"/>
                <a:gd name="T35" fmla="*/ 108 h 144"/>
                <a:gd name="T36" fmla="*/ 78 w 132"/>
                <a:gd name="T37" fmla="*/ 114 h 144"/>
                <a:gd name="T38" fmla="*/ 72 w 132"/>
                <a:gd name="T39" fmla="*/ 144 h 144"/>
                <a:gd name="T40" fmla="*/ 132 w 132"/>
                <a:gd name="T41" fmla="*/ 144 h 144"/>
                <a:gd name="T42" fmla="*/ 132 w 132"/>
                <a:gd name="T43" fmla="*/ 108 h 144"/>
                <a:gd name="T44" fmla="*/ 126 w 132"/>
                <a:gd name="T45" fmla="*/ 108 h 144"/>
                <a:gd name="T46" fmla="*/ 120 w 132"/>
                <a:gd name="T47" fmla="*/ 120 h 144"/>
                <a:gd name="T48" fmla="*/ 114 w 132"/>
                <a:gd name="T49" fmla="*/ 126 h 144"/>
                <a:gd name="T50" fmla="*/ 84 w 132"/>
                <a:gd name="T51" fmla="*/ 126 h 144"/>
                <a:gd name="T52" fmla="*/ 84 w 132"/>
                <a:gd name="T53" fmla="*/ 120 h 144"/>
                <a:gd name="T54" fmla="*/ 102 w 132"/>
                <a:gd name="T55" fmla="*/ 108 h 144"/>
                <a:gd name="T56" fmla="*/ 114 w 132"/>
                <a:gd name="T57" fmla="*/ 96 h 144"/>
                <a:gd name="T58" fmla="*/ 126 w 132"/>
                <a:gd name="T59" fmla="*/ 78 h 144"/>
                <a:gd name="T60" fmla="*/ 126 w 132"/>
                <a:gd name="T61" fmla="*/ 60 h 144"/>
                <a:gd name="T62" fmla="*/ 120 w 132"/>
                <a:gd name="T63" fmla="*/ 30 h 144"/>
                <a:gd name="T64" fmla="*/ 108 w 132"/>
                <a:gd name="T65" fmla="*/ 18 h 144"/>
                <a:gd name="T66" fmla="*/ 96 w 132"/>
                <a:gd name="T67" fmla="*/ 6 h 144"/>
                <a:gd name="T68" fmla="*/ 84 w 132"/>
                <a:gd name="T69" fmla="*/ 0 h 144"/>
                <a:gd name="T70" fmla="*/ 66 w 132"/>
                <a:gd name="T71" fmla="*/ 0 h 144"/>
                <a:gd name="T72" fmla="*/ 48 w 132"/>
                <a:gd name="T73" fmla="*/ 0 h 144"/>
                <a:gd name="T74" fmla="*/ 30 w 132"/>
                <a:gd name="T75" fmla="*/ 6 h 144"/>
                <a:gd name="T76" fmla="*/ 24 w 132"/>
                <a:gd name="T77" fmla="*/ 18 h 144"/>
                <a:gd name="T78" fmla="*/ 12 w 132"/>
                <a:gd name="T79" fmla="*/ 30 h 144"/>
                <a:gd name="T80" fmla="*/ 6 w 132"/>
                <a:gd name="T81" fmla="*/ 60 h 144"/>
                <a:gd name="T82" fmla="*/ 12 w 132"/>
                <a:gd name="T83" fmla="*/ 96 h 144"/>
                <a:gd name="T84" fmla="*/ 24 w 132"/>
                <a:gd name="T85" fmla="*/ 108 h 144"/>
                <a:gd name="T86" fmla="*/ 42 w 132"/>
                <a:gd name="T87" fmla="*/ 120 h 144"/>
                <a:gd name="T88" fmla="*/ 42 w 132"/>
                <a:gd name="T89" fmla="*/ 126 h 144"/>
                <a:gd name="T90" fmla="*/ 12 w 132"/>
                <a:gd name="T91" fmla="*/ 126 h 144"/>
                <a:gd name="T92" fmla="*/ 6 w 132"/>
                <a:gd name="T93" fmla="*/ 120 h 144"/>
                <a:gd name="T94" fmla="*/ 0 w 132"/>
                <a:gd name="T95" fmla="*/ 108 h 144"/>
                <a:gd name="T96" fmla="*/ 0 w 132"/>
                <a:gd name="T97" fmla="*/ 108 h 144"/>
                <a:gd name="T98" fmla="*/ 0 w 132"/>
                <a:gd name="T99" fmla="*/ 144 h 144"/>
                <a:gd name="T100" fmla="*/ 54 w 132"/>
                <a:gd name="T101" fmla="*/ 144 h 144"/>
                <a:gd name="T102" fmla="*/ 54 w 132"/>
                <a:gd name="T103" fmla="*/ 114 h 1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4"/>
                <a:gd name="T158" fmla="*/ 132 w 132"/>
                <a:gd name="T159" fmla="*/ 144 h 14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4">
                  <a:moveTo>
                    <a:pt x="54" y="114"/>
                  </a:moveTo>
                  <a:lnTo>
                    <a:pt x="42" y="108"/>
                  </a:lnTo>
                  <a:lnTo>
                    <a:pt x="36" y="102"/>
                  </a:lnTo>
                  <a:lnTo>
                    <a:pt x="30" y="90"/>
                  </a:lnTo>
                  <a:lnTo>
                    <a:pt x="24" y="72"/>
                  </a:lnTo>
                  <a:lnTo>
                    <a:pt x="24" y="54"/>
                  </a:lnTo>
                  <a:lnTo>
                    <a:pt x="30" y="36"/>
                  </a:lnTo>
                  <a:lnTo>
                    <a:pt x="36" y="18"/>
                  </a:lnTo>
                  <a:lnTo>
                    <a:pt x="54" y="6"/>
                  </a:lnTo>
                  <a:lnTo>
                    <a:pt x="66" y="6"/>
                  </a:lnTo>
                  <a:lnTo>
                    <a:pt x="78" y="6"/>
                  </a:lnTo>
                  <a:lnTo>
                    <a:pt x="90" y="18"/>
                  </a:lnTo>
                  <a:lnTo>
                    <a:pt x="102" y="36"/>
                  </a:lnTo>
                  <a:lnTo>
                    <a:pt x="108" y="54"/>
                  </a:lnTo>
                  <a:lnTo>
                    <a:pt x="108" y="72"/>
                  </a:lnTo>
                  <a:lnTo>
                    <a:pt x="102" y="90"/>
                  </a:lnTo>
                  <a:lnTo>
                    <a:pt x="96" y="102"/>
                  </a:lnTo>
                  <a:lnTo>
                    <a:pt x="90" y="108"/>
                  </a:lnTo>
                  <a:lnTo>
                    <a:pt x="78" y="114"/>
                  </a:lnTo>
                  <a:lnTo>
                    <a:pt x="72" y="144"/>
                  </a:lnTo>
                  <a:lnTo>
                    <a:pt x="132" y="144"/>
                  </a:lnTo>
                  <a:lnTo>
                    <a:pt x="132" y="108"/>
                  </a:lnTo>
                  <a:lnTo>
                    <a:pt x="126" y="108"/>
                  </a:lnTo>
                  <a:lnTo>
                    <a:pt x="120" y="120"/>
                  </a:lnTo>
                  <a:lnTo>
                    <a:pt x="114" y="126"/>
                  </a:lnTo>
                  <a:lnTo>
                    <a:pt x="84" y="126"/>
                  </a:lnTo>
                  <a:lnTo>
                    <a:pt x="84" y="120"/>
                  </a:lnTo>
                  <a:lnTo>
                    <a:pt x="102" y="108"/>
                  </a:lnTo>
                  <a:lnTo>
                    <a:pt x="114" y="96"/>
                  </a:lnTo>
                  <a:lnTo>
                    <a:pt x="126" y="78"/>
                  </a:lnTo>
                  <a:lnTo>
                    <a:pt x="126" y="60"/>
                  </a:lnTo>
                  <a:lnTo>
                    <a:pt x="120" y="30"/>
                  </a:lnTo>
                  <a:lnTo>
                    <a:pt x="108" y="18"/>
                  </a:lnTo>
                  <a:lnTo>
                    <a:pt x="96" y="6"/>
                  </a:lnTo>
                  <a:lnTo>
                    <a:pt x="84" y="0"/>
                  </a:lnTo>
                  <a:lnTo>
                    <a:pt x="66" y="0"/>
                  </a:lnTo>
                  <a:lnTo>
                    <a:pt x="48"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4" y="144"/>
                  </a:lnTo>
                  <a:lnTo>
                    <a:pt x="54"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6" name="Freeform 58"/>
            <p:cNvSpPr/>
            <p:nvPr/>
          </p:nvSpPr>
          <p:spPr bwMode="auto">
            <a:xfrm>
              <a:off x="3996" y="1528"/>
              <a:ext cx="1" cy="1660"/>
            </a:xfrm>
            <a:custGeom>
              <a:avLst/>
              <a:gdLst>
                <a:gd name="T0" fmla="*/ 0 w 1"/>
                <a:gd name="T1" fmla="*/ 0 h 1660"/>
                <a:gd name="T2" fmla="*/ 0 w 1"/>
                <a:gd name="T3" fmla="*/ 1660 h 1660"/>
                <a:gd name="T4" fmla="*/ 0 w 1"/>
                <a:gd name="T5" fmla="*/ 0 h 1660"/>
                <a:gd name="T6" fmla="*/ 0 w 1"/>
                <a:gd name="T7" fmla="*/ 0 h 1660"/>
                <a:gd name="T8" fmla="*/ 0 60000 65536"/>
                <a:gd name="T9" fmla="*/ 0 60000 65536"/>
                <a:gd name="T10" fmla="*/ 0 60000 65536"/>
                <a:gd name="T11" fmla="*/ 0 60000 65536"/>
                <a:gd name="T12" fmla="*/ 0 w 1"/>
                <a:gd name="T13" fmla="*/ 0 h 1660"/>
                <a:gd name="T14" fmla="*/ 1 w 1"/>
                <a:gd name="T15" fmla="*/ 1660 h 1660"/>
              </a:gdLst>
              <a:ahLst/>
              <a:cxnLst>
                <a:cxn ang="T8">
                  <a:pos x="T0" y="T1"/>
                </a:cxn>
                <a:cxn ang="T9">
                  <a:pos x="T2" y="T3"/>
                </a:cxn>
                <a:cxn ang="T10">
                  <a:pos x="T4" y="T5"/>
                </a:cxn>
                <a:cxn ang="T11">
                  <a:pos x="T6" y="T7"/>
                </a:cxn>
              </a:cxnLst>
              <a:rect l="T12" t="T13" r="T14" b="T15"/>
              <a:pathLst>
                <a:path w="1" h="1660">
                  <a:moveTo>
                    <a:pt x="0" y="0"/>
                  </a:moveTo>
                  <a:lnTo>
                    <a:pt x="0" y="166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7" name="Freeform 59"/>
            <p:cNvSpPr/>
            <p:nvPr/>
          </p:nvSpPr>
          <p:spPr bwMode="auto">
            <a:xfrm>
              <a:off x="4080" y="1767"/>
              <a:ext cx="72" cy="137"/>
            </a:xfrm>
            <a:custGeom>
              <a:avLst/>
              <a:gdLst>
                <a:gd name="T0" fmla="*/ 0 w 72"/>
                <a:gd name="T1" fmla="*/ 137 h 137"/>
                <a:gd name="T2" fmla="*/ 48 w 72"/>
                <a:gd name="T3" fmla="*/ 137 h 137"/>
                <a:gd name="T4" fmla="*/ 48 w 72"/>
                <a:gd name="T5" fmla="*/ 131 h 137"/>
                <a:gd name="T6" fmla="*/ 42 w 72"/>
                <a:gd name="T7" fmla="*/ 131 h 137"/>
                <a:gd name="T8" fmla="*/ 36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42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42" y="131"/>
                  </a:lnTo>
                  <a:lnTo>
                    <a:pt x="36" y="125"/>
                  </a:lnTo>
                  <a:lnTo>
                    <a:pt x="36" y="119"/>
                  </a:lnTo>
                  <a:lnTo>
                    <a:pt x="36" y="113"/>
                  </a:lnTo>
                  <a:lnTo>
                    <a:pt x="60" y="18"/>
                  </a:lnTo>
                  <a:lnTo>
                    <a:pt x="66" y="6"/>
                  </a:lnTo>
                  <a:lnTo>
                    <a:pt x="72" y="0"/>
                  </a:lnTo>
                  <a:lnTo>
                    <a:pt x="30" y="0"/>
                  </a:lnTo>
                  <a:lnTo>
                    <a:pt x="36" y="6"/>
                  </a:lnTo>
                  <a:lnTo>
                    <a:pt x="42" y="12"/>
                  </a:lnTo>
                  <a:lnTo>
                    <a:pt x="42" y="18"/>
                  </a:lnTo>
                  <a:lnTo>
                    <a:pt x="42"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8" name="Freeform 60"/>
            <p:cNvSpPr/>
            <p:nvPr/>
          </p:nvSpPr>
          <p:spPr bwMode="auto">
            <a:xfrm>
              <a:off x="4164" y="1851"/>
              <a:ext cx="42" cy="107"/>
            </a:xfrm>
            <a:custGeom>
              <a:avLst/>
              <a:gdLst>
                <a:gd name="T0" fmla="*/ 0 w 42"/>
                <a:gd name="T1" fmla="*/ 107 h 107"/>
                <a:gd name="T2" fmla="*/ 42 w 42"/>
                <a:gd name="T3" fmla="*/ 107 h 107"/>
                <a:gd name="T4" fmla="*/ 42 w 42"/>
                <a:gd name="T5" fmla="*/ 101 h 107"/>
                <a:gd name="T6" fmla="*/ 30 w 42"/>
                <a:gd name="T7" fmla="*/ 101 h 107"/>
                <a:gd name="T8" fmla="*/ 30 w 42"/>
                <a:gd name="T9" fmla="*/ 95 h 107"/>
                <a:gd name="T10" fmla="*/ 30 w 42"/>
                <a:gd name="T11" fmla="*/ 0 h 107"/>
                <a:gd name="T12" fmla="*/ 24 w 42"/>
                <a:gd name="T13" fmla="*/ 0 h 107"/>
                <a:gd name="T14" fmla="*/ 0 w 42"/>
                <a:gd name="T15" fmla="*/ 11 h 107"/>
                <a:gd name="T16" fmla="*/ 0 w 42"/>
                <a:gd name="T17" fmla="*/ 17 h 107"/>
                <a:gd name="T18" fmla="*/ 6 w 42"/>
                <a:gd name="T19" fmla="*/ 11 h 107"/>
                <a:gd name="T20" fmla="*/ 12 w 42"/>
                <a:gd name="T21" fmla="*/ 11 h 107"/>
                <a:gd name="T22" fmla="*/ 18 w 42"/>
                <a:gd name="T23" fmla="*/ 17 h 107"/>
                <a:gd name="T24" fmla="*/ 18 w 42"/>
                <a:gd name="T25" fmla="*/ 17 h 107"/>
                <a:gd name="T26" fmla="*/ 18 w 42"/>
                <a:gd name="T27" fmla="*/ 89 h 107"/>
                <a:gd name="T28" fmla="*/ 12 w 42"/>
                <a:gd name="T29" fmla="*/ 101 h 107"/>
                <a:gd name="T30" fmla="*/ 0 w 42"/>
                <a:gd name="T31" fmla="*/ 101 h 107"/>
                <a:gd name="T32" fmla="*/ 0 w 42"/>
                <a:gd name="T33" fmla="*/ 107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07"/>
                <a:gd name="T53" fmla="*/ 42 w 42"/>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07">
                  <a:moveTo>
                    <a:pt x="0" y="107"/>
                  </a:moveTo>
                  <a:lnTo>
                    <a:pt x="42" y="107"/>
                  </a:lnTo>
                  <a:lnTo>
                    <a:pt x="42" y="101"/>
                  </a:lnTo>
                  <a:lnTo>
                    <a:pt x="30" y="101"/>
                  </a:lnTo>
                  <a:lnTo>
                    <a:pt x="30" y="95"/>
                  </a:lnTo>
                  <a:lnTo>
                    <a:pt x="30" y="0"/>
                  </a:lnTo>
                  <a:lnTo>
                    <a:pt x="24" y="0"/>
                  </a:lnTo>
                  <a:lnTo>
                    <a:pt x="0" y="11"/>
                  </a:lnTo>
                  <a:lnTo>
                    <a:pt x="0" y="17"/>
                  </a:lnTo>
                  <a:lnTo>
                    <a:pt x="6" y="11"/>
                  </a:lnTo>
                  <a:lnTo>
                    <a:pt x="12" y="11"/>
                  </a:lnTo>
                  <a:lnTo>
                    <a:pt x="18" y="17"/>
                  </a:lnTo>
                  <a:lnTo>
                    <a:pt x="18" y="89"/>
                  </a:lnTo>
                  <a:lnTo>
                    <a:pt x="12" y="101"/>
                  </a:lnTo>
                  <a:lnTo>
                    <a:pt x="0" y="101"/>
                  </a:lnTo>
                  <a:lnTo>
                    <a:pt x="0" y="10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79" name="Freeform 61"/>
            <p:cNvSpPr/>
            <p:nvPr/>
          </p:nvSpPr>
          <p:spPr bwMode="auto">
            <a:xfrm>
              <a:off x="3919" y="1259"/>
              <a:ext cx="113" cy="138"/>
            </a:xfrm>
            <a:custGeom>
              <a:avLst/>
              <a:gdLst>
                <a:gd name="T0" fmla="*/ 113 w 113"/>
                <a:gd name="T1" fmla="*/ 0 h 138"/>
                <a:gd name="T2" fmla="*/ 83 w 113"/>
                <a:gd name="T3" fmla="*/ 0 h 138"/>
                <a:gd name="T4" fmla="*/ 83 w 113"/>
                <a:gd name="T5" fmla="*/ 0 h 138"/>
                <a:gd name="T6" fmla="*/ 89 w 113"/>
                <a:gd name="T7" fmla="*/ 0 h 138"/>
                <a:gd name="T8" fmla="*/ 89 w 113"/>
                <a:gd name="T9" fmla="*/ 6 h 138"/>
                <a:gd name="T10" fmla="*/ 89 w 113"/>
                <a:gd name="T11" fmla="*/ 24 h 138"/>
                <a:gd name="T12" fmla="*/ 83 w 113"/>
                <a:gd name="T13" fmla="*/ 36 h 138"/>
                <a:gd name="T14" fmla="*/ 47 w 113"/>
                <a:gd name="T15" fmla="*/ 108 h 138"/>
                <a:gd name="T16" fmla="*/ 41 w 113"/>
                <a:gd name="T17" fmla="*/ 108 h 138"/>
                <a:gd name="T18" fmla="*/ 30 w 113"/>
                <a:gd name="T19" fmla="*/ 18 h 138"/>
                <a:gd name="T20" fmla="*/ 35 w 113"/>
                <a:gd name="T21" fmla="*/ 6 h 138"/>
                <a:gd name="T22" fmla="*/ 47 w 113"/>
                <a:gd name="T23" fmla="*/ 0 h 138"/>
                <a:gd name="T24" fmla="*/ 47 w 113"/>
                <a:gd name="T25" fmla="*/ 0 h 138"/>
                <a:gd name="T26" fmla="*/ 0 w 113"/>
                <a:gd name="T27" fmla="*/ 0 h 138"/>
                <a:gd name="T28" fmla="*/ 0 w 113"/>
                <a:gd name="T29" fmla="*/ 0 h 138"/>
                <a:gd name="T30" fmla="*/ 12 w 113"/>
                <a:gd name="T31" fmla="*/ 6 h 138"/>
                <a:gd name="T32" fmla="*/ 12 w 113"/>
                <a:gd name="T33" fmla="*/ 18 h 138"/>
                <a:gd name="T34" fmla="*/ 18 w 113"/>
                <a:gd name="T35" fmla="*/ 30 h 138"/>
                <a:gd name="T36" fmla="*/ 30 w 113"/>
                <a:gd name="T37" fmla="*/ 138 h 138"/>
                <a:gd name="T38" fmla="*/ 35 w 113"/>
                <a:gd name="T39" fmla="*/ 138 h 138"/>
                <a:gd name="T40" fmla="*/ 107 w 113"/>
                <a:gd name="T41" fmla="*/ 12 h 138"/>
                <a:gd name="T42" fmla="*/ 107 w 113"/>
                <a:gd name="T43" fmla="*/ 6 h 138"/>
                <a:gd name="T44" fmla="*/ 113 w 113"/>
                <a:gd name="T45" fmla="*/ 0 h 138"/>
                <a:gd name="T46" fmla="*/ 113 w 113"/>
                <a:gd name="T47" fmla="*/ 0 h 1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3"/>
                <a:gd name="T73" fmla="*/ 0 h 138"/>
                <a:gd name="T74" fmla="*/ 113 w 113"/>
                <a:gd name="T75" fmla="*/ 138 h 1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3" h="138">
                  <a:moveTo>
                    <a:pt x="113" y="0"/>
                  </a:moveTo>
                  <a:lnTo>
                    <a:pt x="83" y="0"/>
                  </a:lnTo>
                  <a:lnTo>
                    <a:pt x="89" y="0"/>
                  </a:lnTo>
                  <a:lnTo>
                    <a:pt x="89" y="6"/>
                  </a:lnTo>
                  <a:lnTo>
                    <a:pt x="89" y="24"/>
                  </a:lnTo>
                  <a:lnTo>
                    <a:pt x="83" y="36"/>
                  </a:lnTo>
                  <a:lnTo>
                    <a:pt x="47" y="108"/>
                  </a:lnTo>
                  <a:lnTo>
                    <a:pt x="41" y="108"/>
                  </a:lnTo>
                  <a:lnTo>
                    <a:pt x="30" y="18"/>
                  </a:lnTo>
                  <a:lnTo>
                    <a:pt x="35" y="6"/>
                  </a:lnTo>
                  <a:lnTo>
                    <a:pt x="47" y="0"/>
                  </a:lnTo>
                  <a:lnTo>
                    <a:pt x="0" y="0"/>
                  </a:lnTo>
                  <a:lnTo>
                    <a:pt x="12" y="6"/>
                  </a:lnTo>
                  <a:lnTo>
                    <a:pt x="12" y="18"/>
                  </a:lnTo>
                  <a:lnTo>
                    <a:pt x="18" y="30"/>
                  </a:lnTo>
                  <a:lnTo>
                    <a:pt x="30" y="138"/>
                  </a:lnTo>
                  <a:lnTo>
                    <a:pt x="35" y="138"/>
                  </a:lnTo>
                  <a:lnTo>
                    <a:pt x="107" y="12"/>
                  </a:lnTo>
                  <a:lnTo>
                    <a:pt x="107" y="6"/>
                  </a:lnTo>
                  <a:lnTo>
                    <a:pt x="11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0" name="Freeform 62"/>
            <p:cNvSpPr/>
            <p:nvPr/>
          </p:nvSpPr>
          <p:spPr bwMode="auto">
            <a:xfrm>
              <a:off x="4032" y="1343"/>
              <a:ext cx="42" cy="101"/>
            </a:xfrm>
            <a:custGeom>
              <a:avLst/>
              <a:gdLst>
                <a:gd name="T0" fmla="*/ 6 w 42"/>
                <a:gd name="T1" fmla="*/ 101 h 101"/>
                <a:gd name="T2" fmla="*/ 42 w 42"/>
                <a:gd name="T3" fmla="*/ 101 h 101"/>
                <a:gd name="T4" fmla="*/ 42 w 42"/>
                <a:gd name="T5" fmla="*/ 101 h 101"/>
                <a:gd name="T6" fmla="*/ 30 w 42"/>
                <a:gd name="T7" fmla="*/ 101 h 101"/>
                <a:gd name="T8" fmla="*/ 30 w 42"/>
                <a:gd name="T9" fmla="*/ 95 h 101"/>
                <a:gd name="T10" fmla="*/ 30 w 42"/>
                <a:gd name="T11" fmla="*/ 0 h 101"/>
                <a:gd name="T12" fmla="*/ 30 w 42"/>
                <a:gd name="T13" fmla="*/ 0 h 101"/>
                <a:gd name="T14" fmla="*/ 0 w 42"/>
                <a:gd name="T15" fmla="*/ 12 h 101"/>
                <a:gd name="T16" fmla="*/ 0 w 42"/>
                <a:gd name="T17" fmla="*/ 12 h 101"/>
                <a:gd name="T18" fmla="*/ 12 w 42"/>
                <a:gd name="T19" fmla="*/ 12 h 101"/>
                <a:gd name="T20" fmla="*/ 12 w 42"/>
                <a:gd name="T21" fmla="*/ 12 h 101"/>
                <a:gd name="T22" fmla="*/ 18 w 42"/>
                <a:gd name="T23" fmla="*/ 12 h 101"/>
                <a:gd name="T24" fmla="*/ 18 w 42"/>
                <a:gd name="T25" fmla="*/ 18 h 101"/>
                <a:gd name="T26" fmla="*/ 18 w 42"/>
                <a:gd name="T27" fmla="*/ 90 h 101"/>
                <a:gd name="T28" fmla="*/ 12 w 42"/>
                <a:gd name="T29" fmla="*/ 101 h 101"/>
                <a:gd name="T30" fmla="*/ 6 w 42"/>
                <a:gd name="T31" fmla="*/ 101 h 101"/>
                <a:gd name="T32" fmla="*/ 6 w 42"/>
                <a:gd name="T33" fmla="*/ 101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01"/>
                <a:gd name="T53" fmla="*/ 42 w 4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01">
                  <a:moveTo>
                    <a:pt x="6" y="101"/>
                  </a:moveTo>
                  <a:lnTo>
                    <a:pt x="42" y="101"/>
                  </a:lnTo>
                  <a:lnTo>
                    <a:pt x="30" y="101"/>
                  </a:lnTo>
                  <a:lnTo>
                    <a:pt x="30" y="95"/>
                  </a:lnTo>
                  <a:lnTo>
                    <a:pt x="30" y="0"/>
                  </a:lnTo>
                  <a:lnTo>
                    <a:pt x="0" y="12"/>
                  </a:lnTo>
                  <a:lnTo>
                    <a:pt x="12" y="12"/>
                  </a:lnTo>
                  <a:lnTo>
                    <a:pt x="18" y="12"/>
                  </a:lnTo>
                  <a:lnTo>
                    <a:pt x="18" y="18"/>
                  </a:lnTo>
                  <a:lnTo>
                    <a:pt x="18" y="90"/>
                  </a:lnTo>
                  <a:lnTo>
                    <a:pt x="12" y="101"/>
                  </a:lnTo>
                  <a:lnTo>
                    <a:pt x="6" y="10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1" name="Freeform 63"/>
            <p:cNvSpPr/>
            <p:nvPr/>
          </p:nvSpPr>
          <p:spPr bwMode="auto">
            <a:xfrm>
              <a:off x="4570" y="1194"/>
              <a:ext cx="72" cy="143"/>
            </a:xfrm>
            <a:custGeom>
              <a:avLst/>
              <a:gdLst>
                <a:gd name="T0" fmla="*/ 24 w 72"/>
                <a:gd name="T1" fmla="*/ 71 h 143"/>
                <a:gd name="T2" fmla="*/ 36 w 72"/>
                <a:gd name="T3" fmla="*/ 71 h 143"/>
                <a:gd name="T4" fmla="*/ 48 w 72"/>
                <a:gd name="T5" fmla="*/ 77 h 143"/>
                <a:gd name="T6" fmla="*/ 60 w 72"/>
                <a:gd name="T7" fmla="*/ 95 h 143"/>
                <a:gd name="T8" fmla="*/ 60 w 72"/>
                <a:gd name="T9" fmla="*/ 107 h 143"/>
                <a:gd name="T10" fmla="*/ 54 w 72"/>
                <a:gd name="T11" fmla="*/ 125 h 143"/>
                <a:gd name="T12" fmla="*/ 48 w 72"/>
                <a:gd name="T13" fmla="*/ 137 h 143"/>
                <a:gd name="T14" fmla="*/ 36 w 72"/>
                <a:gd name="T15" fmla="*/ 137 h 143"/>
                <a:gd name="T16" fmla="*/ 24 w 72"/>
                <a:gd name="T17" fmla="*/ 131 h 143"/>
                <a:gd name="T18" fmla="*/ 6 w 72"/>
                <a:gd name="T19" fmla="*/ 125 h 143"/>
                <a:gd name="T20" fmla="*/ 6 w 72"/>
                <a:gd name="T21" fmla="*/ 125 h 143"/>
                <a:gd name="T22" fmla="*/ 0 w 72"/>
                <a:gd name="T23" fmla="*/ 131 h 143"/>
                <a:gd name="T24" fmla="*/ 6 w 72"/>
                <a:gd name="T25" fmla="*/ 137 h 143"/>
                <a:gd name="T26" fmla="*/ 12 w 72"/>
                <a:gd name="T27" fmla="*/ 143 h 143"/>
                <a:gd name="T28" fmla="*/ 24 w 72"/>
                <a:gd name="T29" fmla="*/ 143 h 143"/>
                <a:gd name="T30" fmla="*/ 42 w 72"/>
                <a:gd name="T31" fmla="*/ 137 h 143"/>
                <a:gd name="T32" fmla="*/ 60 w 72"/>
                <a:gd name="T33" fmla="*/ 131 h 143"/>
                <a:gd name="T34" fmla="*/ 66 w 72"/>
                <a:gd name="T35" fmla="*/ 113 h 143"/>
                <a:gd name="T36" fmla="*/ 72 w 72"/>
                <a:gd name="T37" fmla="*/ 95 h 143"/>
                <a:gd name="T38" fmla="*/ 72 w 72"/>
                <a:gd name="T39" fmla="*/ 77 h 143"/>
                <a:gd name="T40" fmla="*/ 60 w 72"/>
                <a:gd name="T41" fmla="*/ 65 h 143"/>
                <a:gd name="T42" fmla="*/ 48 w 72"/>
                <a:gd name="T43" fmla="*/ 59 h 143"/>
                <a:gd name="T44" fmla="*/ 60 w 72"/>
                <a:gd name="T45" fmla="*/ 47 h 143"/>
                <a:gd name="T46" fmla="*/ 66 w 72"/>
                <a:gd name="T47" fmla="*/ 30 h 143"/>
                <a:gd name="T48" fmla="*/ 60 w 72"/>
                <a:gd name="T49" fmla="*/ 12 h 143"/>
                <a:gd name="T50" fmla="*/ 54 w 72"/>
                <a:gd name="T51" fmla="*/ 6 h 143"/>
                <a:gd name="T52" fmla="*/ 36 w 72"/>
                <a:gd name="T53" fmla="*/ 0 h 143"/>
                <a:gd name="T54" fmla="*/ 18 w 72"/>
                <a:gd name="T55" fmla="*/ 6 h 143"/>
                <a:gd name="T56" fmla="*/ 6 w 72"/>
                <a:gd name="T57" fmla="*/ 18 h 143"/>
                <a:gd name="T58" fmla="*/ 0 w 72"/>
                <a:gd name="T59" fmla="*/ 36 h 143"/>
                <a:gd name="T60" fmla="*/ 6 w 72"/>
                <a:gd name="T61" fmla="*/ 36 h 143"/>
                <a:gd name="T62" fmla="*/ 12 w 72"/>
                <a:gd name="T63" fmla="*/ 24 h 143"/>
                <a:gd name="T64" fmla="*/ 18 w 72"/>
                <a:gd name="T65" fmla="*/ 18 h 143"/>
                <a:gd name="T66" fmla="*/ 30 w 72"/>
                <a:gd name="T67" fmla="*/ 12 h 143"/>
                <a:gd name="T68" fmla="*/ 48 w 72"/>
                <a:gd name="T69" fmla="*/ 18 h 143"/>
                <a:gd name="T70" fmla="*/ 54 w 72"/>
                <a:gd name="T71" fmla="*/ 36 h 143"/>
                <a:gd name="T72" fmla="*/ 54 w 72"/>
                <a:gd name="T73" fmla="*/ 47 h 143"/>
                <a:gd name="T74" fmla="*/ 42 w 72"/>
                <a:gd name="T75" fmla="*/ 59 h 143"/>
                <a:gd name="T76" fmla="*/ 24 w 72"/>
                <a:gd name="T77" fmla="*/ 71 h 143"/>
                <a:gd name="T78" fmla="*/ 24 w 72"/>
                <a:gd name="T79" fmla="*/ 71 h 14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
                <a:gd name="T121" fmla="*/ 0 h 143"/>
                <a:gd name="T122" fmla="*/ 72 w 72"/>
                <a:gd name="T123" fmla="*/ 143 h 14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 h="143">
                  <a:moveTo>
                    <a:pt x="24" y="71"/>
                  </a:moveTo>
                  <a:lnTo>
                    <a:pt x="36" y="71"/>
                  </a:lnTo>
                  <a:lnTo>
                    <a:pt x="48" y="77"/>
                  </a:lnTo>
                  <a:lnTo>
                    <a:pt x="60" y="95"/>
                  </a:lnTo>
                  <a:lnTo>
                    <a:pt x="60" y="107"/>
                  </a:lnTo>
                  <a:lnTo>
                    <a:pt x="54" y="125"/>
                  </a:lnTo>
                  <a:lnTo>
                    <a:pt x="48" y="137"/>
                  </a:lnTo>
                  <a:lnTo>
                    <a:pt x="36" y="137"/>
                  </a:lnTo>
                  <a:lnTo>
                    <a:pt x="24" y="131"/>
                  </a:lnTo>
                  <a:lnTo>
                    <a:pt x="6" y="125"/>
                  </a:lnTo>
                  <a:lnTo>
                    <a:pt x="0" y="131"/>
                  </a:lnTo>
                  <a:lnTo>
                    <a:pt x="6" y="137"/>
                  </a:lnTo>
                  <a:lnTo>
                    <a:pt x="12" y="143"/>
                  </a:lnTo>
                  <a:lnTo>
                    <a:pt x="24" y="143"/>
                  </a:lnTo>
                  <a:lnTo>
                    <a:pt x="42" y="137"/>
                  </a:lnTo>
                  <a:lnTo>
                    <a:pt x="60" y="131"/>
                  </a:lnTo>
                  <a:lnTo>
                    <a:pt x="66" y="113"/>
                  </a:lnTo>
                  <a:lnTo>
                    <a:pt x="72" y="95"/>
                  </a:lnTo>
                  <a:lnTo>
                    <a:pt x="72" y="77"/>
                  </a:lnTo>
                  <a:lnTo>
                    <a:pt x="60" y="65"/>
                  </a:lnTo>
                  <a:lnTo>
                    <a:pt x="48" y="59"/>
                  </a:lnTo>
                  <a:lnTo>
                    <a:pt x="60" y="47"/>
                  </a:lnTo>
                  <a:lnTo>
                    <a:pt x="66" y="30"/>
                  </a:lnTo>
                  <a:lnTo>
                    <a:pt x="60" y="12"/>
                  </a:lnTo>
                  <a:lnTo>
                    <a:pt x="54" y="6"/>
                  </a:lnTo>
                  <a:lnTo>
                    <a:pt x="36" y="0"/>
                  </a:lnTo>
                  <a:lnTo>
                    <a:pt x="18" y="6"/>
                  </a:lnTo>
                  <a:lnTo>
                    <a:pt x="6" y="18"/>
                  </a:lnTo>
                  <a:lnTo>
                    <a:pt x="0" y="36"/>
                  </a:lnTo>
                  <a:lnTo>
                    <a:pt x="6" y="36"/>
                  </a:lnTo>
                  <a:lnTo>
                    <a:pt x="12" y="24"/>
                  </a:lnTo>
                  <a:lnTo>
                    <a:pt x="18" y="18"/>
                  </a:lnTo>
                  <a:lnTo>
                    <a:pt x="30" y="12"/>
                  </a:lnTo>
                  <a:lnTo>
                    <a:pt x="48" y="18"/>
                  </a:lnTo>
                  <a:lnTo>
                    <a:pt x="54" y="36"/>
                  </a:lnTo>
                  <a:lnTo>
                    <a:pt x="54" y="47"/>
                  </a:lnTo>
                  <a:lnTo>
                    <a:pt x="42" y="59"/>
                  </a:lnTo>
                  <a:lnTo>
                    <a:pt x="24" y="7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2" name="Freeform 64"/>
            <p:cNvSpPr/>
            <p:nvPr/>
          </p:nvSpPr>
          <p:spPr bwMode="auto">
            <a:xfrm>
              <a:off x="4708" y="1188"/>
              <a:ext cx="132" cy="149"/>
            </a:xfrm>
            <a:custGeom>
              <a:avLst/>
              <a:gdLst>
                <a:gd name="T0" fmla="*/ 54 w 132"/>
                <a:gd name="T1" fmla="*/ 113 h 149"/>
                <a:gd name="T2" fmla="*/ 42 w 132"/>
                <a:gd name="T3" fmla="*/ 113 h 149"/>
                <a:gd name="T4" fmla="*/ 36 w 132"/>
                <a:gd name="T5" fmla="*/ 101 h 149"/>
                <a:gd name="T6" fmla="*/ 30 w 132"/>
                <a:gd name="T7" fmla="*/ 89 h 149"/>
                <a:gd name="T8" fmla="*/ 24 w 132"/>
                <a:gd name="T9" fmla="*/ 77 h 149"/>
                <a:gd name="T10" fmla="*/ 24 w 132"/>
                <a:gd name="T11" fmla="*/ 59 h 149"/>
                <a:gd name="T12" fmla="*/ 36 w 132"/>
                <a:gd name="T13" fmla="*/ 18 h 149"/>
                <a:gd name="T14" fmla="*/ 54 w 132"/>
                <a:gd name="T15" fmla="*/ 12 h 149"/>
                <a:gd name="T16" fmla="*/ 66 w 132"/>
                <a:gd name="T17" fmla="*/ 12 h 149"/>
                <a:gd name="T18" fmla="*/ 78 w 132"/>
                <a:gd name="T19" fmla="*/ 12 h 149"/>
                <a:gd name="T20" fmla="*/ 90 w 132"/>
                <a:gd name="T21" fmla="*/ 18 h 149"/>
                <a:gd name="T22" fmla="*/ 102 w 132"/>
                <a:gd name="T23" fmla="*/ 36 h 149"/>
                <a:gd name="T24" fmla="*/ 108 w 132"/>
                <a:gd name="T25" fmla="*/ 59 h 149"/>
                <a:gd name="T26" fmla="*/ 108 w 132"/>
                <a:gd name="T27" fmla="*/ 77 h 149"/>
                <a:gd name="T28" fmla="*/ 102 w 132"/>
                <a:gd name="T29" fmla="*/ 89 h 149"/>
                <a:gd name="T30" fmla="*/ 96 w 132"/>
                <a:gd name="T31" fmla="*/ 101 h 149"/>
                <a:gd name="T32" fmla="*/ 90 w 132"/>
                <a:gd name="T33" fmla="*/ 113 h 149"/>
                <a:gd name="T34" fmla="*/ 78 w 132"/>
                <a:gd name="T35" fmla="*/ 113 h 149"/>
                <a:gd name="T36" fmla="*/ 78 w 132"/>
                <a:gd name="T37" fmla="*/ 149 h 149"/>
                <a:gd name="T38" fmla="*/ 132 w 132"/>
                <a:gd name="T39" fmla="*/ 149 h 149"/>
                <a:gd name="T40" fmla="*/ 132 w 132"/>
                <a:gd name="T41" fmla="*/ 113 h 149"/>
                <a:gd name="T42" fmla="*/ 126 w 132"/>
                <a:gd name="T43" fmla="*/ 113 h 149"/>
                <a:gd name="T44" fmla="*/ 120 w 132"/>
                <a:gd name="T45" fmla="*/ 125 h 149"/>
                <a:gd name="T46" fmla="*/ 114 w 132"/>
                <a:gd name="T47" fmla="*/ 125 h 149"/>
                <a:gd name="T48" fmla="*/ 84 w 132"/>
                <a:gd name="T49" fmla="*/ 125 h 149"/>
                <a:gd name="T50" fmla="*/ 84 w 132"/>
                <a:gd name="T51" fmla="*/ 119 h 149"/>
                <a:gd name="T52" fmla="*/ 102 w 132"/>
                <a:gd name="T53" fmla="*/ 107 h 149"/>
                <a:gd name="T54" fmla="*/ 114 w 132"/>
                <a:gd name="T55" fmla="*/ 95 h 149"/>
                <a:gd name="T56" fmla="*/ 126 w 132"/>
                <a:gd name="T57" fmla="*/ 83 h 149"/>
                <a:gd name="T58" fmla="*/ 126 w 132"/>
                <a:gd name="T59" fmla="*/ 65 h 149"/>
                <a:gd name="T60" fmla="*/ 120 w 132"/>
                <a:gd name="T61" fmla="*/ 36 h 149"/>
                <a:gd name="T62" fmla="*/ 114 w 132"/>
                <a:gd name="T63" fmla="*/ 24 h 149"/>
                <a:gd name="T64" fmla="*/ 108 w 132"/>
                <a:gd name="T65" fmla="*/ 18 h 149"/>
                <a:gd name="T66" fmla="*/ 96 w 132"/>
                <a:gd name="T67" fmla="*/ 12 h 149"/>
                <a:gd name="T68" fmla="*/ 84 w 132"/>
                <a:gd name="T69" fmla="*/ 6 h 149"/>
                <a:gd name="T70" fmla="*/ 66 w 132"/>
                <a:gd name="T71" fmla="*/ 0 h 149"/>
                <a:gd name="T72" fmla="*/ 48 w 132"/>
                <a:gd name="T73" fmla="*/ 6 h 149"/>
                <a:gd name="T74" fmla="*/ 30 w 132"/>
                <a:gd name="T75" fmla="*/ 12 h 149"/>
                <a:gd name="T76" fmla="*/ 24 w 132"/>
                <a:gd name="T77" fmla="*/ 18 h 149"/>
                <a:gd name="T78" fmla="*/ 18 w 132"/>
                <a:gd name="T79" fmla="*/ 24 h 149"/>
                <a:gd name="T80" fmla="*/ 12 w 132"/>
                <a:gd name="T81" fmla="*/ 36 h 149"/>
                <a:gd name="T82" fmla="*/ 6 w 132"/>
                <a:gd name="T83" fmla="*/ 65 h 149"/>
                <a:gd name="T84" fmla="*/ 12 w 132"/>
                <a:gd name="T85" fmla="*/ 95 h 149"/>
                <a:gd name="T86" fmla="*/ 24 w 132"/>
                <a:gd name="T87" fmla="*/ 107 h 149"/>
                <a:gd name="T88" fmla="*/ 42 w 132"/>
                <a:gd name="T89" fmla="*/ 119 h 149"/>
                <a:gd name="T90" fmla="*/ 42 w 132"/>
                <a:gd name="T91" fmla="*/ 125 h 149"/>
                <a:gd name="T92" fmla="*/ 12 w 132"/>
                <a:gd name="T93" fmla="*/ 125 h 149"/>
                <a:gd name="T94" fmla="*/ 6 w 132"/>
                <a:gd name="T95" fmla="*/ 125 h 149"/>
                <a:gd name="T96" fmla="*/ 0 w 132"/>
                <a:gd name="T97" fmla="*/ 113 h 149"/>
                <a:gd name="T98" fmla="*/ 0 w 132"/>
                <a:gd name="T99" fmla="*/ 113 h 149"/>
                <a:gd name="T100" fmla="*/ 0 w 132"/>
                <a:gd name="T101" fmla="*/ 149 h 149"/>
                <a:gd name="T102" fmla="*/ 54 w 132"/>
                <a:gd name="T103" fmla="*/ 149 h 149"/>
                <a:gd name="T104" fmla="*/ 54 w 132"/>
                <a:gd name="T105" fmla="*/ 113 h 14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49"/>
                <a:gd name="T161" fmla="*/ 132 w 132"/>
                <a:gd name="T162" fmla="*/ 149 h 14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49">
                  <a:moveTo>
                    <a:pt x="54" y="113"/>
                  </a:moveTo>
                  <a:lnTo>
                    <a:pt x="42" y="113"/>
                  </a:lnTo>
                  <a:lnTo>
                    <a:pt x="36" y="101"/>
                  </a:lnTo>
                  <a:lnTo>
                    <a:pt x="30" y="89"/>
                  </a:lnTo>
                  <a:lnTo>
                    <a:pt x="24" y="77"/>
                  </a:lnTo>
                  <a:lnTo>
                    <a:pt x="24" y="59"/>
                  </a:lnTo>
                  <a:lnTo>
                    <a:pt x="36" y="18"/>
                  </a:lnTo>
                  <a:lnTo>
                    <a:pt x="54" y="12"/>
                  </a:lnTo>
                  <a:lnTo>
                    <a:pt x="66" y="12"/>
                  </a:lnTo>
                  <a:lnTo>
                    <a:pt x="78" y="12"/>
                  </a:lnTo>
                  <a:lnTo>
                    <a:pt x="90" y="18"/>
                  </a:lnTo>
                  <a:lnTo>
                    <a:pt x="102" y="36"/>
                  </a:lnTo>
                  <a:lnTo>
                    <a:pt x="108" y="59"/>
                  </a:lnTo>
                  <a:lnTo>
                    <a:pt x="108" y="77"/>
                  </a:lnTo>
                  <a:lnTo>
                    <a:pt x="102" y="89"/>
                  </a:lnTo>
                  <a:lnTo>
                    <a:pt x="96" y="101"/>
                  </a:lnTo>
                  <a:lnTo>
                    <a:pt x="90" y="113"/>
                  </a:lnTo>
                  <a:lnTo>
                    <a:pt x="78" y="113"/>
                  </a:lnTo>
                  <a:lnTo>
                    <a:pt x="78" y="149"/>
                  </a:lnTo>
                  <a:lnTo>
                    <a:pt x="132" y="149"/>
                  </a:lnTo>
                  <a:lnTo>
                    <a:pt x="132" y="113"/>
                  </a:lnTo>
                  <a:lnTo>
                    <a:pt x="126" y="113"/>
                  </a:lnTo>
                  <a:lnTo>
                    <a:pt x="120" y="125"/>
                  </a:lnTo>
                  <a:lnTo>
                    <a:pt x="114" y="125"/>
                  </a:lnTo>
                  <a:lnTo>
                    <a:pt x="84" y="125"/>
                  </a:lnTo>
                  <a:lnTo>
                    <a:pt x="84" y="119"/>
                  </a:lnTo>
                  <a:lnTo>
                    <a:pt x="102" y="107"/>
                  </a:lnTo>
                  <a:lnTo>
                    <a:pt x="114" y="95"/>
                  </a:lnTo>
                  <a:lnTo>
                    <a:pt x="126" y="83"/>
                  </a:lnTo>
                  <a:lnTo>
                    <a:pt x="126" y="65"/>
                  </a:lnTo>
                  <a:lnTo>
                    <a:pt x="120" y="36"/>
                  </a:lnTo>
                  <a:lnTo>
                    <a:pt x="114" y="24"/>
                  </a:lnTo>
                  <a:lnTo>
                    <a:pt x="108" y="18"/>
                  </a:lnTo>
                  <a:lnTo>
                    <a:pt x="96" y="12"/>
                  </a:lnTo>
                  <a:lnTo>
                    <a:pt x="84" y="6"/>
                  </a:lnTo>
                  <a:lnTo>
                    <a:pt x="66" y="0"/>
                  </a:lnTo>
                  <a:lnTo>
                    <a:pt x="48" y="6"/>
                  </a:lnTo>
                  <a:lnTo>
                    <a:pt x="30" y="12"/>
                  </a:lnTo>
                  <a:lnTo>
                    <a:pt x="24" y="18"/>
                  </a:lnTo>
                  <a:lnTo>
                    <a:pt x="18" y="24"/>
                  </a:lnTo>
                  <a:lnTo>
                    <a:pt x="12" y="36"/>
                  </a:lnTo>
                  <a:lnTo>
                    <a:pt x="6" y="65"/>
                  </a:lnTo>
                  <a:lnTo>
                    <a:pt x="12" y="95"/>
                  </a:lnTo>
                  <a:lnTo>
                    <a:pt x="24" y="107"/>
                  </a:lnTo>
                  <a:lnTo>
                    <a:pt x="42" y="119"/>
                  </a:lnTo>
                  <a:lnTo>
                    <a:pt x="42" y="125"/>
                  </a:lnTo>
                  <a:lnTo>
                    <a:pt x="12" y="125"/>
                  </a:lnTo>
                  <a:lnTo>
                    <a:pt x="6" y="125"/>
                  </a:lnTo>
                  <a:lnTo>
                    <a:pt x="0" y="113"/>
                  </a:lnTo>
                  <a:lnTo>
                    <a:pt x="0" y="149"/>
                  </a:lnTo>
                  <a:lnTo>
                    <a:pt x="54" y="149"/>
                  </a:lnTo>
                  <a:lnTo>
                    <a:pt x="54"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3" name="Freeform 65"/>
            <p:cNvSpPr/>
            <p:nvPr/>
          </p:nvSpPr>
          <p:spPr bwMode="auto">
            <a:xfrm>
              <a:off x="3739" y="1194"/>
              <a:ext cx="54" cy="143"/>
            </a:xfrm>
            <a:custGeom>
              <a:avLst/>
              <a:gdLst>
                <a:gd name="T0" fmla="*/ 0 w 54"/>
                <a:gd name="T1" fmla="*/ 143 h 143"/>
                <a:gd name="T2" fmla="*/ 54 w 54"/>
                <a:gd name="T3" fmla="*/ 143 h 143"/>
                <a:gd name="T4" fmla="*/ 54 w 54"/>
                <a:gd name="T5" fmla="*/ 137 h 143"/>
                <a:gd name="T6" fmla="*/ 42 w 54"/>
                <a:gd name="T7" fmla="*/ 137 h 143"/>
                <a:gd name="T8" fmla="*/ 36 w 54"/>
                <a:gd name="T9" fmla="*/ 137 h 143"/>
                <a:gd name="T10" fmla="*/ 36 w 54"/>
                <a:gd name="T11" fmla="*/ 125 h 143"/>
                <a:gd name="T12" fmla="*/ 36 w 54"/>
                <a:gd name="T13" fmla="*/ 0 h 143"/>
                <a:gd name="T14" fmla="*/ 30 w 54"/>
                <a:gd name="T15" fmla="*/ 0 h 143"/>
                <a:gd name="T16" fmla="*/ 0 w 54"/>
                <a:gd name="T17" fmla="*/ 18 h 143"/>
                <a:gd name="T18" fmla="*/ 0 w 54"/>
                <a:gd name="T19" fmla="*/ 24 h 143"/>
                <a:gd name="T20" fmla="*/ 12 w 54"/>
                <a:gd name="T21" fmla="*/ 18 h 143"/>
                <a:gd name="T22" fmla="*/ 12 w 54"/>
                <a:gd name="T23" fmla="*/ 18 h 143"/>
                <a:gd name="T24" fmla="*/ 18 w 54"/>
                <a:gd name="T25" fmla="*/ 24 h 143"/>
                <a:gd name="T26" fmla="*/ 18 w 54"/>
                <a:gd name="T27" fmla="*/ 30 h 143"/>
                <a:gd name="T28" fmla="*/ 18 w 54"/>
                <a:gd name="T29" fmla="*/ 119 h 143"/>
                <a:gd name="T30" fmla="*/ 18 w 54"/>
                <a:gd name="T31" fmla="*/ 131 h 143"/>
                <a:gd name="T32" fmla="*/ 12 w 54"/>
                <a:gd name="T33" fmla="*/ 137 h 143"/>
                <a:gd name="T34" fmla="*/ 0 w 54"/>
                <a:gd name="T35" fmla="*/ 137 h 143"/>
                <a:gd name="T36" fmla="*/ 0 w 54"/>
                <a:gd name="T37" fmla="*/ 143 h 1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4"/>
                <a:gd name="T58" fmla="*/ 0 h 143"/>
                <a:gd name="T59" fmla="*/ 54 w 54"/>
                <a:gd name="T60" fmla="*/ 143 h 1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4" h="143">
                  <a:moveTo>
                    <a:pt x="0" y="143"/>
                  </a:moveTo>
                  <a:lnTo>
                    <a:pt x="54" y="143"/>
                  </a:lnTo>
                  <a:lnTo>
                    <a:pt x="54" y="137"/>
                  </a:lnTo>
                  <a:lnTo>
                    <a:pt x="42" y="137"/>
                  </a:lnTo>
                  <a:lnTo>
                    <a:pt x="36" y="137"/>
                  </a:lnTo>
                  <a:lnTo>
                    <a:pt x="36" y="125"/>
                  </a:lnTo>
                  <a:lnTo>
                    <a:pt x="36" y="0"/>
                  </a:lnTo>
                  <a:lnTo>
                    <a:pt x="30" y="0"/>
                  </a:lnTo>
                  <a:lnTo>
                    <a:pt x="0" y="18"/>
                  </a:lnTo>
                  <a:lnTo>
                    <a:pt x="0" y="24"/>
                  </a:lnTo>
                  <a:lnTo>
                    <a:pt x="12" y="18"/>
                  </a:lnTo>
                  <a:lnTo>
                    <a:pt x="18" y="24"/>
                  </a:lnTo>
                  <a:lnTo>
                    <a:pt x="18" y="30"/>
                  </a:lnTo>
                  <a:lnTo>
                    <a:pt x="18" y="119"/>
                  </a:lnTo>
                  <a:lnTo>
                    <a:pt x="18" y="131"/>
                  </a:lnTo>
                  <a:lnTo>
                    <a:pt x="12" y="137"/>
                  </a:lnTo>
                  <a:lnTo>
                    <a:pt x="0" y="137"/>
                  </a:lnTo>
                  <a:lnTo>
                    <a:pt x="0" y="14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4" name="Freeform 66"/>
            <p:cNvSpPr>
              <a:spLocks noEditPoints="1"/>
            </p:cNvSpPr>
            <p:nvPr/>
          </p:nvSpPr>
          <p:spPr bwMode="auto">
            <a:xfrm>
              <a:off x="3566" y="2274"/>
              <a:ext cx="83" cy="144"/>
            </a:xfrm>
            <a:custGeom>
              <a:avLst/>
              <a:gdLst>
                <a:gd name="T0" fmla="*/ 83 w 83"/>
                <a:gd name="T1" fmla="*/ 96 h 144"/>
                <a:gd name="T2" fmla="*/ 66 w 83"/>
                <a:gd name="T3" fmla="*/ 96 h 144"/>
                <a:gd name="T4" fmla="*/ 66 w 83"/>
                <a:gd name="T5" fmla="*/ 0 h 144"/>
                <a:gd name="T6" fmla="*/ 60 w 83"/>
                <a:gd name="T7" fmla="*/ 0 h 144"/>
                <a:gd name="T8" fmla="*/ 0 w 83"/>
                <a:gd name="T9" fmla="*/ 96 h 144"/>
                <a:gd name="T10" fmla="*/ 0 w 83"/>
                <a:gd name="T11" fmla="*/ 108 h 144"/>
                <a:gd name="T12" fmla="*/ 54 w 83"/>
                <a:gd name="T13" fmla="*/ 108 h 144"/>
                <a:gd name="T14" fmla="*/ 54 w 83"/>
                <a:gd name="T15" fmla="*/ 144 h 144"/>
                <a:gd name="T16" fmla="*/ 66 w 83"/>
                <a:gd name="T17" fmla="*/ 144 h 144"/>
                <a:gd name="T18" fmla="*/ 66 w 83"/>
                <a:gd name="T19" fmla="*/ 108 h 144"/>
                <a:gd name="T20" fmla="*/ 83 w 83"/>
                <a:gd name="T21" fmla="*/ 108 h 144"/>
                <a:gd name="T22" fmla="*/ 83 w 83"/>
                <a:gd name="T23" fmla="*/ 96 h 144"/>
                <a:gd name="T24" fmla="*/ 54 w 83"/>
                <a:gd name="T25" fmla="*/ 96 h 144"/>
                <a:gd name="T26" fmla="*/ 6 w 83"/>
                <a:gd name="T27" fmla="*/ 96 h 144"/>
                <a:gd name="T28" fmla="*/ 54 w 83"/>
                <a:gd name="T29" fmla="*/ 24 h 144"/>
                <a:gd name="T30" fmla="*/ 54 w 83"/>
                <a:gd name="T31" fmla="*/ 24 h 144"/>
                <a:gd name="T32" fmla="*/ 54 w 83"/>
                <a:gd name="T33" fmla="*/ 96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3"/>
                <a:gd name="T52" fmla="*/ 0 h 144"/>
                <a:gd name="T53" fmla="*/ 83 w 83"/>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3" h="144">
                  <a:moveTo>
                    <a:pt x="83" y="96"/>
                  </a:moveTo>
                  <a:lnTo>
                    <a:pt x="66" y="96"/>
                  </a:lnTo>
                  <a:lnTo>
                    <a:pt x="66" y="0"/>
                  </a:lnTo>
                  <a:lnTo>
                    <a:pt x="60" y="0"/>
                  </a:lnTo>
                  <a:lnTo>
                    <a:pt x="0" y="96"/>
                  </a:lnTo>
                  <a:lnTo>
                    <a:pt x="0" y="108"/>
                  </a:lnTo>
                  <a:lnTo>
                    <a:pt x="54" y="108"/>
                  </a:lnTo>
                  <a:lnTo>
                    <a:pt x="54" y="144"/>
                  </a:lnTo>
                  <a:lnTo>
                    <a:pt x="66" y="144"/>
                  </a:lnTo>
                  <a:lnTo>
                    <a:pt x="66" y="108"/>
                  </a:lnTo>
                  <a:lnTo>
                    <a:pt x="83" y="108"/>
                  </a:lnTo>
                  <a:lnTo>
                    <a:pt x="83" y="96"/>
                  </a:lnTo>
                  <a:close/>
                  <a:moveTo>
                    <a:pt x="54" y="96"/>
                  </a:moveTo>
                  <a:lnTo>
                    <a:pt x="6" y="96"/>
                  </a:lnTo>
                  <a:lnTo>
                    <a:pt x="54" y="24"/>
                  </a:lnTo>
                  <a:lnTo>
                    <a:pt x="54" y="9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5" name="Freeform 67"/>
            <p:cNvSpPr/>
            <p:nvPr/>
          </p:nvSpPr>
          <p:spPr bwMode="auto">
            <a:xfrm>
              <a:off x="3709" y="2274"/>
              <a:ext cx="132" cy="144"/>
            </a:xfrm>
            <a:custGeom>
              <a:avLst/>
              <a:gdLst>
                <a:gd name="T0" fmla="*/ 54 w 132"/>
                <a:gd name="T1" fmla="*/ 114 h 144"/>
                <a:gd name="T2" fmla="*/ 42 w 132"/>
                <a:gd name="T3" fmla="*/ 108 h 144"/>
                <a:gd name="T4" fmla="*/ 36 w 132"/>
                <a:gd name="T5" fmla="*/ 102 h 144"/>
                <a:gd name="T6" fmla="*/ 30 w 132"/>
                <a:gd name="T7" fmla="*/ 90 h 144"/>
                <a:gd name="T8" fmla="*/ 24 w 132"/>
                <a:gd name="T9" fmla="*/ 72 h 144"/>
                <a:gd name="T10" fmla="*/ 24 w 132"/>
                <a:gd name="T11" fmla="*/ 54 h 144"/>
                <a:gd name="T12" fmla="*/ 30 w 132"/>
                <a:gd name="T13" fmla="*/ 36 h 144"/>
                <a:gd name="T14" fmla="*/ 36 w 132"/>
                <a:gd name="T15" fmla="*/ 18 h 144"/>
                <a:gd name="T16" fmla="*/ 54 w 132"/>
                <a:gd name="T17" fmla="*/ 6 h 144"/>
                <a:gd name="T18" fmla="*/ 66 w 132"/>
                <a:gd name="T19" fmla="*/ 6 h 144"/>
                <a:gd name="T20" fmla="*/ 78 w 132"/>
                <a:gd name="T21" fmla="*/ 6 h 144"/>
                <a:gd name="T22" fmla="*/ 90 w 132"/>
                <a:gd name="T23" fmla="*/ 18 h 144"/>
                <a:gd name="T24" fmla="*/ 102 w 132"/>
                <a:gd name="T25" fmla="*/ 36 h 144"/>
                <a:gd name="T26" fmla="*/ 108 w 132"/>
                <a:gd name="T27" fmla="*/ 54 h 144"/>
                <a:gd name="T28" fmla="*/ 108 w 132"/>
                <a:gd name="T29" fmla="*/ 72 h 144"/>
                <a:gd name="T30" fmla="*/ 102 w 132"/>
                <a:gd name="T31" fmla="*/ 90 h 144"/>
                <a:gd name="T32" fmla="*/ 96 w 132"/>
                <a:gd name="T33" fmla="*/ 102 h 144"/>
                <a:gd name="T34" fmla="*/ 90 w 132"/>
                <a:gd name="T35" fmla="*/ 108 h 144"/>
                <a:gd name="T36" fmla="*/ 78 w 132"/>
                <a:gd name="T37" fmla="*/ 114 h 144"/>
                <a:gd name="T38" fmla="*/ 72 w 132"/>
                <a:gd name="T39" fmla="*/ 144 h 144"/>
                <a:gd name="T40" fmla="*/ 132 w 132"/>
                <a:gd name="T41" fmla="*/ 144 h 144"/>
                <a:gd name="T42" fmla="*/ 132 w 132"/>
                <a:gd name="T43" fmla="*/ 108 h 144"/>
                <a:gd name="T44" fmla="*/ 126 w 132"/>
                <a:gd name="T45" fmla="*/ 108 h 144"/>
                <a:gd name="T46" fmla="*/ 120 w 132"/>
                <a:gd name="T47" fmla="*/ 120 h 144"/>
                <a:gd name="T48" fmla="*/ 114 w 132"/>
                <a:gd name="T49" fmla="*/ 126 h 144"/>
                <a:gd name="T50" fmla="*/ 84 w 132"/>
                <a:gd name="T51" fmla="*/ 126 h 144"/>
                <a:gd name="T52" fmla="*/ 84 w 132"/>
                <a:gd name="T53" fmla="*/ 120 h 144"/>
                <a:gd name="T54" fmla="*/ 102 w 132"/>
                <a:gd name="T55" fmla="*/ 108 h 144"/>
                <a:gd name="T56" fmla="*/ 114 w 132"/>
                <a:gd name="T57" fmla="*/ 96 h 144"/>
                <a:gd name="T58" fmla="*/ 126 w 132"/>
                <a:gd name="T59" fmla="*/ 78 h 144"/>
                <a:gd name="T60" fmla="*/ 126 w 132"/>
                <a:gd name="T61" fmla="*/ 60 h 144"/>
                <a:gd name="T62" fmla="*/ 120 w 132"/>
                <a:gd name="T63" fmla="*/ 30 h 144"/>
                <a:gd name="T64" fmla="*/ 108 w 132"/>
                <a:gd name="T65" fmla="*/ 18 h 144"/>
                <a:gd name="T66" fmla="*/ 96 w 132"/>
                <a:gd name="T67" fmla="*/ 6 h 144"/>
                <a:gd name="T68" fmla="*/ 84 w 132"/>
                <a:gd name="T69" fmla="*/ 0 h 144"/>
                <a:gd name="T70" fmla="*/ 66 w 132"/>
                <a:gd name="T71" fmla="*/ 0 h 144"/>
                <a:gd name="T72" fmla="*/ 48 w 132"/>
                <a:gd name="T73" fmla="*/ 0 h 144"/>
                <a:gd name="T74" fmla="*/ 30 w 132"/>
                <a:gd name="T75" fmla="*/ 6 h 144"/>
                <a:gd name="T76" fmla="*/ 24 w 132"/>
                <a:gd name="T77" fmla="*/ 18 h 144"/>
                <a:gd name="T78" fmla="*/ 12 w 132"/>
                <a:gd name="T79" fmla="*/ 30 h 144"/>
                <a:gd name="T80" fmla="*/ 6 w 132"/>
                <a:gd name="T81" fmla="*/ 60 h 144"/>
                <a:gd name="T82" fmla="*/ 12 w 132"/>
                <a:gd name="T83" fmla="*/ 96 h 144"/>
                <a:gd name="T84" fmla="*/ 24 w 132"/>
                <a:gd name="T85" fmla="*/ 108 h 144"/>
                <a:gd name="T86" fmla="*/ 42 w 132"/>
                <a:gd name="T87" fmla="*/ 120 h 144"/>
                <a:gd name="T88" fmla="*/ 42 w 132"/>
                <a:gd name="T89" fmla="*/ 126 h 144"/>
                <a:gd name="T90" fmla="*/ 12 w 132"/>
                <a:gd name="T91" fmla="*/ 126 h 144"/>
                <a:gd name="T92" fmla="*/ 6 w 132"/>
                <a:gd name="T93" fmla="*/ 120 h 144"/>
                <a:gd name="T94" fmla="*/ 0 w 132"/>
                <a:gd name="T95" fmla="*/ 108 h 144"/>
                <a:gd name="T96" fmla="*/ 0 w 132"/>
                <a:gd name="T97" fmla="*/ 108 h 144"/>
                <a:gd name="T98" fmla="*/ 0 w 132"/>
                <a:gd name="T99" fmla="*/ 144 h 144"/>
                <a:gd name="T100" fmla="*/ 54 w 132"/>
                <a:gd name="T101" fmla="*/ 144 h 144"/>
                <a:gd name="T102" fmla="*/ 54 w 132"/>
                <a:gd name="T103" fmla="*/ 114 h 1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4"/>
                <a:gd name="T158" fmla="*/ 132 w 132"/>
                <a:gd name="T159" fmla="*/ 144 h 14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4">
                  <a:moveTo>
                    <a:pt x="54" y="114"/>
                  </a:moveTo>
                  <a:lnTo>
                    <a:pt x="42" y="108"/>
                  </a:lnTo>
                  <a:lnTo>
                    <a:pt x="36" y="102"/>
                  </a:lnTo>
                  <a:lnTo>
                    <a:pt x="30" y="90"/>
                  </a:lnTo>
                  <a:lnTo>
                    <a:pt x="24" y="72"/>
                  </a:lnTo>
                  <a:lnTo>
                    <a:pt x="24" y="54"/>
                  </a:lnTo>
                  <a:lnTo>
                    <a:pt x="30" y="36"/>
                  </a:lnTo>
                  <a:lnTo>
                    <a:pt x="36" y="18"/>
                  </a:lnTo>
                  <a:lnTo>
                    <a:pt x="54" y="6"/>
                  </a:lnTo>
                  <a:lnTo>
                    <a:pt x="66" y="6"/>
                  </a:lnTo>
                  <a:lnTo>
                    <a:pt x="78" y="6"/>
                  </a:lnTo>
                  <a:lnTo>
                    <a:pt x="90" y="18"/>
                  </a:lnTo>
                  <a:lnTo>
                    <a:pt x="102" y="36"/>
                  </a:lnTo>
                  <a:lnTo>
                    <a:pt x="108" y="54"/>
                  </a:lnTo>
                  <a:lnTo>
                    <a:pt x="108" y="72"/>
                  </a:lnTo>
                  <a:lnTo>
                    <a:pt x="102" y="90"/>
                  </a:lnTo>
                  <a:lnTo>
                    <a:pt x="96" y="102"/>
                  </a:lnTo>
                  <a:lnTo>
                    <a:pt x="90" y="108"/>
                  </a:lnTo>
                  <a:lnTo>
                    <a:pt x="78" y="114"/>
                  </a:lnTo>
                  <a:lnTo>
                    <a:pt x="72" y="144"/>
                  </a:lnTo>
                  <a:lnTo>
                    <a:pt x="132" y="144"/>
                  </a:lnTo>
                  <a:lnTo>
                    <a:pt x="132" y="108"/>
                  </a:lnTo>
                  <a:lnTo>
                    <a:pt x="126" y="108"/>
                  </a:lnTo>
                  <a:lnTo>
                    <a:pt x="120" y="120"/>
                  </a:lnTo>
                  <a:lnTo>
                    <a:pt x="114" y="126"/>
                  </a:lnTo>
                  <a:lnTo>
                    <a:pt x="84" y="126"/>
                  </a:lnTo>
                  <a:lnTo>
                    <a:pt x="84" y="120"/>
                  </a:lnTo>
                  <a:lnTo>
                    <a:pt x="102" y="108"/>
                  </a:lnTo>
                  <a:lnTo>
                    <a:pt x="114" y="96"/>
                  </a:lnTo>
                  <a:lnTo>
                    <a:pt x="126" y="78"/>
                  </a:lnTo>
                  <a:lnTo>
                    <a:pt x="126" y="60"/>
                  </a:lnTo>
                  <a:lnTo>
                    <a:pt x="120" y="30"/>
                  </a:lnTo>
                  <a:lnTo>
                    <a:pt x="108" y="18"/>
                  </a:lnTo>
                  <a:lnTo>
                    <a:pt x="96" y="6"/>
                  </a:lnTo>
                  <a:lnTo>
                    <a:pt x="84" y="0"/>
                  </a:lnTo>
                  <a:lnTo>
                    <a:pt x="66" y="0"/>
                  </a:lnTo>
                  <a:lnTo>
                    <a:pt x="48"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4" y="144"/>
                  </a:lnTo>
                  <a:lnTo>
                    <a:pt x="54"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6" name="Freeform 68"/>
            <p:cNvSpPr/>
            <p:nvPr/>
          </p:nvSpPr>
          <p:spPr bwMode="auto">
            <a:xfrm>
              <a:off x="121" y="2274"/>
              <a:ext cx="66" cy="138"/>
            </a:xfrm>
            <a:custGeom>
              <a:avLst/>
              <a:gdLst>
                <a:gd name="T0" fmla="*/ 0 w 66"/>
                <a:gd name="T1" fmla="*/ 138 h 138"/>
                <a:gd name="T2" fmla="*/ 42 w 66"/>
                <a:gd name="T3" fmla="*/ 138 h 138"/>
                <a:gd name="T4" fmla="*/ 42 w 66"/>
                <a:gd name="T5" fmla="*/ 132 h 138"/>
                <a:gd name="T6" fmla="*/ 30 w 66"/>
                <a:gd name="T7" fmla="*/ 132 h 138"/>
                <a:gd name="T8" fmla="*/ 30 w 66"/>
                <a:gd name="T9" fmla="*/ 126 h 138"/>
                <a:gd name="T10" fmla="*/ 30 w 66"/>
                <a:gd name="T11" fmla="*/ 108 h 138"/>
                <a:gd name="T12" fmla="*/ 54 w 66"/>
                <a:gd name="T13" fmla="*/ 18 h 138"/>
                <a:gd name="T14" fmla="*/ 60 w 66"/>
                <a:gd name="T15" fmla="*/ 6 h 138"/>
                <a:gd name="T16" fmla="*/ 66 w 66"/>
                <a:gd name="T17" fmla="*/ 0 h 138"/>
                <a:gd name="T18" fmla="*/ 66 w 66"/>
                <a:gd name="T19" fmla="*/ 0 h 138"/>
                <a:gd name="T20" fmla="*/ 24 w 66"/>
                <a:gd name="T21" fmla="*/ 0 h 138"/>
                <a:gd name="T22" fmla="*/ 24 w 66"/>
                <a:gd name="T23" fmla="*/ 0 h 138"/>
                <a:gd name="T24" fmla="*/ 30 w 66"/>
                <a:gd name="T25" fmla="*/ 6 h 138"/>
                <a:gd name="T26" fmla="*/ 36 w 66"/>
                <a:gd name="T27" fmla="*/ 12 h 138"/>
                <a:gd name="T28" fmla="*/ 36 w 66"/>
                <a:gd name="T29" fmla="*/ 18 h 138"/>
                <a:gd name="T30" fmla="*/ 36 w 66"/>
                <a:gd name="T31" fmla="*/ 24 h 138"/>
                <a:gd name="T32" fmla="*/ 12 w 66"/>
                <a:gd name="T33" fmla="*/ 120 h 138"/>
                <a:gd name="T34" fmla="*/ 6 w 66"/>
                <a:gd name="T35" fmla="*/ 132 h 138"/>
                <a:gd name="T36" fmla="*/ 0 w 66"/>
                <a:gd name="T37" fmla="*/ 132 h 138"/>
                <a:gd name="T38" fmla="*/ 0 w 66"/>
                <a:gd name="T39" fmla="*/ 138 h 1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6"/>
                <a:gd name="T61" fmla="*/ 0 h 138"/>
                <a:gd name="T62" fmla="*/ 66 w 66"/>
                <a:gd name="T63" fmla="*/ 138 h 13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6" h="138">
                  <a:moveTo>
                    <a:pt x="0" y="138"/>
                  </a:moveTo>
                  <a:lnTo>
                    <a:pt x="42" y="138"/>
                  </a:lnTo>
                  <a:lnTo>
                    <a:pt x="42" y="132"/>
                  </a:lnTo>
                  <a:lnTo>
                    <a:pt x="30" y="132"/>
                  </a:lnTo>
                  <a:lnTo>
                    <a:pt x="30" y="126"/>
                  </a:lnTo>
                  <a:lnTo>
                    <a:pt x="30" y="108"/>
                  </a:lnTo>
                  <a:lnTo>
                    <a:pt x="54" y="18"/>
                  </a:lnTo>
                  <a:lnTo>
                    <a:pt x="60" y="6"/>
                  </a:lnTo>
                  <a:lnTo>
                    <a:pt x="66" y="0"/>
                  </a:lnTo>
                  <a:lnTo>
                    <a:pt x="24" y="0"/>
                  </a:lnTo>
                  <a:lnTo>
                    <a:pt x="30" y="6"/>
                  </a:lnTo>
                  <a:lnTo>
                    <a:pt x="36" y="12"/>
                  </a:lnTo>
                  <a:lnTo>
                    <a:pt x="36" y="18"/>
                  </a:lnTo>
                  <a:lnTo>
                    <a:pt x="36" y="24"/>
                  </a:lnTo>
                  <a:lnTo>
                    <a:pt x="12" y="120"/>
                  </a:lnTo>
                  <a:lnTo>
                    <a:pt x="6" y="132"/>
                  </a:lnTo>
                  <a:lnTo>
                    <a:pt x="0"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7" name="Freeform 69"/>
            <p:cNvSpPr/>
            <p:nvPr/>
          </p:nvSpPr>
          <p:spPr bwMode="auto">
            <a:xfrm>
              <a:off x="193" y="2394"/>
              <a:ext cx="48" cy="72"/>
            </a:xfrm>
            <a:custGeom>
              <a:avLst/>
              <a:gdLst>
                <a:gd name="T0" fmla="*/ 0 w 48"/>
                <a:gd name="T1" fmla="*/ 48 h 72"/>
                <a:gd name="T2" fmla="*/ 0 w 48"/>
                <a:gd name="T3" fmla="*/ 72 h 72"/>
                <a:gd name="T4" fmla="*/ 0 w 48"/>
                <a:gd name="T5" fmla="*/ 72 h 72"/>
                <a:gd name="T6" fmla="*/ 0 w 48"/>
                <a:gd name="T7" fmla="*/ 72 h 72"/>
                <a:gd name="T8" fmla="*/ 6 w 48"/>
                <a:gd name="T9" fmla="*/ 66 h 72"/>
                <a:gd name="T10" fmla="*/ 12 w 48"/>
                <a:gd name="T11" fmla="*/ 72 h 72"/>
                <a:gd name="T12" fmla="*/ 18 w 48"/>
                <a:gd name="T13" fmla="*/ 72 h 72"/>
                <a:gd name="T14" fmla="*/ 30 w 48"/>
                <a:gd name="T15" fmla="*/ 66 h 72"/>
                <a:gd name="T16" fmla="*/ 36 w 48"/>
                <a:gd name="T17" fmla="*/ 48 h 72"/>
                <a:gd name="T18" fmla="*/ 30 w 48"/>
                <a:gd name="T19" fmla="*/ 30 h 72"/>
                <a:gd name="T20" fmla="*/ 24 w 48"/>
                <a:gd name="T21" fmla="*/ 12 h 72"/>
                <a:gd name="T22" fmla="*/ 24 w 48"/>
                <a:gd name="T23" fmla="*/ 6 h 72"/>
                <a:gd name="T24" fmla="*/ 30 w 48"/>
                <a:gd name="T25" fmla="*/ 0 h 72"/>
                <a:gd name="T26" fmla="*/ 36 w 48"/>
                <a:gd name="T27" fmla="*/ 6 h 72"/>
                <a:gd name="T28" fmla="*/ 42 w 48"/>
                <a:gd name="T29" fmla="*/ 18 h 72"/>
                <a:gd name="T30" fmla="*/ 42 w 48"/>
                <a:gd name="T31" fmla="*/ 18 h 72"/>
                <a:gd name="T32" fmla="*/ 48 w 48"/>
                <a:gd name="T33" fmla="*/ 0 h 72"/>
                <a:gd name="T34" fmla="*/ 42 w 48"/>
                <a:gd name="T35" fmla="*/ 0 h 72"/>
                <a:gd name="T36" fmla="*/ 42 w 48"/>
                <a:gd name="T37" fmla="*/ 0 h 72"/>
                <a:gd name="T38" fmla="*/ 36 w 48"/>
                <a:gd name="T39" fmla="*/ 0 h 72"/>
                <a:gd name="T40" fmla="*/ 30 w 48"/>
                <a:gd name="T41" fmla="*/ 0 h 72"/>
                <a:gd name="T42" fmla="*/ 18 w 48"/>
                <a:gd name="T43" fmla="*/ 0 h 72"/>
                <a:gd name="T44" fmla="*/ 12 w 48"/>
                <a:gd name="T45" fmla="*/ 6 h 72"/>
                <a:gd name="T46" fmla="*/ 12 w 48"/>
                <a:gd name="T47" fmla="*/ 18 h 72"/>
                <a:gd name="T48" fmla="*/ 18 w 48"/>
                <a:gd name="T49" fmla="*/ 30 h 72"/>
                <a:gd name="T50" fmla="*/ 24 w 48"/>
                <a:gd name="T51" fmla="*/ 36 h 72"/>
                <a:gd name="T52" fmla="*/ 30 w 48"/>
                <a:gd name="T53" fmla="*/ 48 h 72"/>
                <a:gd name="T54" fmla="*/ 30 w 48"/>
                <a:gd name="T55" fmla="*/ 54 h 72"/>
                <a:gd name="T56" fmla="*/ 24 w 48"/>
                <a:gd name="T57" fmla="*/ 60 h 72"/>
                <a:gd name="T58" fmla="*/ 18 w 48"/>
                <a:gd name="T59" fmla="*/ 66 h 72"/>
                <a:gd name="T60" fmla="*/ 6 w 48"/>
                <a:gd name="T61" fmla="*/ 60 h 72"/>
                <a:gd name="T62" fmla="*/ 6 w 48"/>
                <a:gd name="T63" fmla="*/ 48 h 72"/>
                <a:gd name="T64" fmla="*/ 0 w 48"/>
                <a:gd name="T65" fmla="*/ 48 h 7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8"/>
                <a:gd name="T100" fmla="*/ 0 h 72"/>
                <a:gd name="T101" fmla="*/ 48 w 48"/>
                <a:gd name="T102" fmla="*/ 72 h 7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8" h="72">
                  <a:moveTo>
                    <a:pt x="0" y="48"/>
                  </a:moveTo>
                  <a:lnTo>
                    <a:pt x="0" y="72"/>
                  </a:lnTo>
                  <a:lnTo>
                    <a:pt x="6" y="66"/>
                  </a:lnTo>
                  <a:lnTo>
                    <a:pt x="12" y="72"/>
                  </a:lnTo>
                  <a:lnTo>
                    <a:pt x="18" y="72"/>
                  </a:lnTo>
                  <a:lnTo>
                    <a:pt x="30" y="66"/>
                  </a:lnTo>
                  <a:lnTo>
                    <a:pt x="36" y="48"/>
                  </a:lnTo>
                  <a:lnTo>
                    <a:pt x="30" y="30"/>
                  </a:lnTo>
                  <a:lnTo>
                    <a:pt x="24" y="12"/>
                  </a:lnTo>
                  <a:lnTo>
                    <a:pt x="24" y="6"/>
                  </a:lnTo>
                  <a:lnTo>
                    <a:pt x="30" y="0"/>
                  </a:lnTo>
                  <a:lnTo>
                    <a:pt x="36" y="6"/>
                  </a:lnTo>
                  <a:lnTo>
                    <a:pt x="42" y="18"/>
                  </a:lnTo>
                  <a:lnTo>
                    <a:pt x="48" y="0"/>
                  </a:lnTo>
                  <a:lnTo>
                    <a:pt x="42" y="0"/>
                  </a:lnTo>
                  <a:lnTo>
                    <a:pt x="36" y="0"/>
                  </a:lnTo>
                  <a:lnTo>
                    <a:pt x="30" y="0"/>
                  </a:lnTo>
                  <a:lnTo>
                    <a:pt x="18" y="0"/>
                  </a:lnTo>
                  <a:lnTo>
                    <a:pt x="12" y="6"/>
                  </a:lnTo>
                  <a:lnTo>
                    <a:pt x="12" y="18"/>
                  </a:lnTo>
                  <a:lnTo>
                    <a:pt x="18" y="30"/>
                  </a:lnTo>
                  <a:lnTo>
                    <a:pt x="24" y="36"/>
                  </a:lnTo>
                  <a:lnTo>
                    <a:pt x="30" y="48"/>
                  </a:lnTo>
                  <a:lnTo>
                    <a:pt x="30" y="54"/>
                  </a:lnTo>
                  <a:lnTo>
                    <a:pt x="24" y="60"/>
                  </a:lnTo>
                  <a:lnTo>
                    <a:pt x="18" y="66"/>
                  </a:lnTo>
                  <a:lnTo>
                    <a:pt x="6" y="60"/>
                  </a:lnTo>
                  <a:lnTo>
                    <a:pt x="6" y="48"/>
                  </a:lnTo>
                  <a:lnTo>
                    <a:pt x="0" y="4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8" name="Freeform 70"/>
            <p:cNvSpPr>
              <a:spLocks noEditPoints="1"/>
            </p:cNvSpPr>
            <p:nvPr/>
          </p:nvSpPr>
          <p:spPr bwMode="auto">
            <a:xfrm>
              <a:off x="306" y="2328"/>
              <a:ext cx="96" cy="54"/>
            </a:xfrm>
            <a:custGeom>
              <a:avLst/>
              <a:gdLst>
                <a:gd name="T0" fmla="*/ 96 w 96"/>
                <a:gd name="T1" fmla="*/ 0 h 54"/>
                <a:gd name="T2" fmla="*/ 0 w 96"/>
                <a:gd name="T3" fmla="*/ 0 h 54"/>
                <a:gd name="T4" fmla="*/ 0 w 96"/>
                <a:gd name="T5" fmla="*/ 12 h 54"/>
                <a:gd name="T6" fmla="*/ 96 w 96"/>
                <a:gd name="T7" fmla="*/ 12 h 54"/>
                <a:gd name="T8" fmla="*/ 96 w 96"/>
                <a:gd name="T9" fmla="*/ 0 h 54"/>
                <a:gd name="T10" fmla="*/ 96 w 96"/>
                <a:gd name="T11" fmla="*/ 42 h 54"/>
                <a:gd name="T12" fmla="*/ 0 w 96"/>
                <a:gd name="T13" fmla="*/ 42 h 54"/>
                <a:gd name="T14" fmla="*/ 0 w 96"/>
                <a:gd name="T15" fmla="*/ 54 h 54"/>
                <a:gd name="T16" fmla="*/ 96 w 96"/>
                <a:gd name="T17" fmla="*/ 54 h 54"/>
                <a:gd name="T18" fmla="*/ 96 w 96"/>
                <a:gd name="T19" fmla="*/ 42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54"/>
                <a:gd name="T32" fmla="*/ 96 w 96"/>
                <a:gd name="T33" fmla="*/ 54 h 5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54">
                  <a:moveTo>
                    <a:pt x="96" y="0"/>
                  </a:moveTo>
                  <a:lnTo>
                    <a:pt x="0" y="0"/>
                  </a:lnTo>
                  <a:lnTo>
                    <a:pt x="0" y="12"/>
                  </a:lnTo>
                  <a:lnTo>
                    <a:pt x="96" y="12"/>
                  </a:lnTo>
                  <a:lnTo>
                    <a:pt x="96" y="0"/>
                  </a:lnTo>
                  <a:close/>
                  <a:moveTo>
                    <a:pt x="96" y="42"/>
                  </a:moveTo>
                  <a:lnTo>
                    <a:pt x="0" y="42"/>
                  </a:lnTo>
                  <a:lnTo>
                    <a:pt x="0" y="54"/>
                  </a:lnTo>
                  <a:lnTo>
                    <a:pt x="96" y="54"/>
                  </a:lnTo>
                  <a:lnTo>
                    <a:pt x="96" y="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89" name="Freeform 71"/>
            <p:cNvSpPr/>
            <p:nvPr/>
          </p:nvSpPr>
          <p:spPr bwMode="auto">
            <a:xfrm>
              <a:off x="486" y="2268"/>
              <a:ext cx="54" cy="144"/>
            </a:xfrm>
            <a:custGeom>
              <a:avLst/>
              <a:gdLst>
                <a:gd name="T0" fmla="*/ 0 w 54"/>
                <a:gd name="T1" fmla="*/ 144 h 144"/>
                <a:gd name="T2" fmla="*/ 54 w 54"/>
                <a:gd name="T3" fmla="*/ 144 h 144"/>
                <a:gd name="T4" fmla="*/ 54 w 54"/>
                <a:gd name="T5" fmla="*/ 138 h 144"/>
                <a:gd name="T6" fmla="*/ 42 w 54"/>
                <a:gd name="T7" fmla="*/ 138 h 144"/>
                <a:gd name="T8" fmla="*/ 36 w 54"/>
                <a:gd name="T9" fmla="*/ 126 h 144"/>
                <a:gd name="T10" fmla="*/ 36 w 54"/>
                <a:gd name="T11" fmla="*/ 0 h 144"/>
                <a:gd name="T12" fmla="*/ 36 w 54"/>
                <a:gd name="T13" fmla="*/ 0 h 144"/>
                <a:gd name="T14" fmla="*/ 0 w 54"/>
                <a:gd name="T15" fmla="*/ 18 h 144"/>
                <a:gd name="T16" fmla="*/ 0 w 54"/>
                <a:gd name="T17" fmla="*/ 24 h 144"/>
                <a:gd name="T18" fmla="*/ 12 w 54"/>
                <a:gd name="T19" fmla="*/ 18 h 144"/>
                <a:gd name="T20" fmla="*/ 12 w 54"/>
                <a:gd name="T21" fmla="*/ 18 h 144"/>
                <a:gd name="T22" fmla="*/ 18 w 54"/>
                <a:gd name="T23" fmla="*/ 24 h 144"/>
                <a:gd name="T24" fmla="*/ 18 w 54"/>
                <a:gd name="T25" fmla="*/ 24 h 144"/>
                <a:gd name="T26" fmla="*/ 18 w 54"/>
                <a:gd name="T27" fmla="*/ 120 h 144"/>
                <a:gd name="T28" fmla="*/ 18 w 54"/>
                <a:gd name="T29" fmla="*/ 132 h 144"/>
                <a:gd name="T30" fmla="*/ 12 w 54"/>
                <a:gd name="T31" fmla="*/ 138 h 144"/>
                <a:gd name="T32" fmla="*/ 0 w 54"/>
                <a:gd name="T33" fmla="*/ 138 h 144"/>
                <a:gd name="T34" fmla="*/ 0 w 54"/>
                <a:gd name="T35" fmla="*/ 144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144"/>
                <a:gd name="T56" fmla="*/ 54 w 54"/>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144">
                  <a:moveTo>
                    <a:pt x="0" y="144"/>
                  </a:moveTo>
                  <a:lnTo>
                    <a:pt x="54" y="144"/>
                  </a:lnTo>
                  <a:lnTo>
                    <a:pt x="54" y="138"/>
                  </a:lnTo>
                  <a:lnTo>
                    <a:pt x="42" y="138"/>
                  </a:lnTo>
                  <a:lnTo>
                    <a:pt x="36" y="126"/>
                  </a:lnTo>
                  <a:lnTo>
                    <a:pt x="36" y="0"/>
                  </a:lnTo>
                  <a:lnTo>
                    <a:pt x="0" y="18"/>
                  </a:lnTo>
                  <a:lnTo>
                    <a:pt x="0" y="24"/>
                  </a:lnTo>
                  <a:lnTo>
                    <a:pt x="12" y="18"/>
                  </a:lnTo>
                  <a:lnTo>
                    <a:pt x="18" y="24"/>
                  </a:lnTo>
                  <a:lnTo>
                    <a:pt x="18" y="120"/>
                  </a:lnTo>
                  <a:lnTo>
                    <a:pt x="18" y="132"/>
                  </a:lnTo>
                  <a:lnTo>
                    <a:pt x="12" y="138"/>
                  </a:lnTo>
                  <a:lnTo>
                    <a:pt x="0" y="138"/>
                  </a:lnTo>
                  <a:lnTo>
                    <a:pt x="0" y="1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0" name="Freeform 72"/>
            <p:cNvSpPr/>
            <p:nvPr/>
          </p:nvSpPr>
          <p:spPr bwMode="auto">
            <a:xfrm>
              <a:off x="564" y="2263"/>
              <a:ext cx="77" cy="149"/>
            </a:xfrm>
            <a:custGeom>
              <a:avLst/>
              <a:gdLst>
                <a:gd name="T0" fmla="*/ 29 w 77"/>
                <a:gd name="T1" fmla="*/ 23 h 149"/>
                <a:gd name="T2" fmla="*/ 65 w 77"/>
                <a:gd name="T3" fmla="*/ 23 h 149"/>
                <a:gd name="T4" fmla="*/ 65 w 77"/>
                <a:gd name="T5" fmla="*/ 23 h 149"/>
                <a:gd name="T6" fmla="*/ 77 w 77"/>
                <a:gd name="T7" fmla="*/ 5 h 149"/>
                <a:gd name="T8" fmla="*/ 71 w 77"/>
                <a:gd name="T9" fmla="*/ 0 h 149"/>
                <a:gd name="T10" fmla="*/ 71 w 77"/>
                <a:gd name="T11" fmla="*/ 5 h 149"/>
                <a:gd name="T12" fmla="*/ 65 w 77"/>
                <a:gd name="T13" fmla="*/ 5 h 149"/>
                <a:gd name="T14" fmla="*/ 23 w 77"/>
                <a:gd name="T15" fmla="*/ 5 h 149"/>
                <a:gd name="T16" fmla="*/ 6 w 77"/>
                <a:gd name="T17" fmla="*/ 59 h 149"/>
                <a:gd name="T18" fmla="*/ 6 w 77"/>
                <a:gd name="T19" fmla="*/ 59 h 149"/>
                <a:gd name="T20" fmla="*/ 23 w 77"/>
                <a:gd name="T21" fmla="*/ 59 h 149"/>
                <a:gd name="T22" fmla="*/ 41 w 77"/>
                <a:gd name="T23" fmla="*/ 71 h 149"/>
                <a:gd name="T24" fmla="*/ 53 w 77"/>
                <a:gd name="T25" fmla="*/ 83 h 149"/>
                <a:gd name="T26" fmla="*/ 59 w 77"/>
                <a:gd name="T27" fmla="*/ 107 h 149"/>
                <a:gd name="T28" fmla="*/ 53 w 77"/>
                <a:gd name="T29" fmla="*/ 137 h 149"/>
                <a:gd name="T30" fmla="*/ 35 w 77"/>
                <a:gd name="T31" fmla="*/ 143 h 149"/>
                <a:gd name="T32" fmla="*/ 23 w 77"/>
                <a:gd name="T33" fmla="*/ 137 h 149"/>
                <a:gd name="T34" fmla="*/ 6 w 77"/>
                <a:gd name="T35" fmla="*/ 131 h 149"/>
                <a:gd name="T36" fmla="*/ 0 w 77"/>
                <a:gd name="T37" fmla="*/ 137 h 149"/>
                <a:gd name="T38" fmla="*/ 0 w 77"/>
                <a:gd name="T39" fmla="*/ 137 h 149"/>
                <a:gd name="T40" fmla="*/ 6 w 77"/>
                <a:gd name="T41" fmla="*/ 143 h 149"/>
                <a:gd name="T42" fmla="*/ 23 w 77"/>
                <a:gd name="T43" fmla="*/ 149 h 149"/>
                <a:gd name="T44" fmla="*/ 41 w 77"/>
                <a:gd name="T45" fmla="*/ 143 h 149"/>
                <a:gd name="T46" fmla="*/ 59 w 77"/>
                <a:gd name="T47" fmla="*/ 137 h 149"/>
                <a:gd name="T48" fmla="*/ 65 w 77"/>
                <a:gd name="T49" fmla="*/ 119 h 149"/>
                <a:gd name="T50" fmla="*/ 71 w 77"/>
                <a:gd name="T51" fmla="*/ 101 h 149"/>
                <a:gd name="T52" fmla="*/ 71 w 77"/>
                <a:gd name="T53" fmla="*/ 83 h 149"/>
                <a:gd name="T54" fmla="*/ 65 w 77"/>
                <a:gd name="T55" fmla="*/ 65 h 149"/>
                <a:gd name="T56" fmla="*/ 53 w 77"/>
                <a:gd name="T57" fmla="*/ 53 h 149"/>
                <a:gd name="T58" fmla="*/ 41 w 77"/>
                <a:gd name="T59" fmla="*/ 47 h 149"/>
                <a:gd name="T60" fmla="*/ 17 w 77"/>
                <a:gd name="T61" fmla="*/ 41 h 149"/>
                <a:gd name="T62" fmla="*/ 29 w 77"/>
                <a:gd name="T63" fmla="*/ 23 h 14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49"/>
                <a:gd name="T98" fmla="*/ 77 w 77"/>
                <a:gd name="T99" fmla="*/ 149 h 14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49">
                  <a:moveTo>
                    <a:pt x="29" y="23"/>
                  </a:moveTo>
                  <a:lnTo>
                    <a:pt x="65" y="23"/>
                  </a:lnTo>
                  <a:lnTo>
                    <a:pt x="77" y="5"/>
                  </a:lnTo>
                  <a:lnTo>
                    <a:pt x="71" y="0"/>
                  </a:lnTo>
                  <a:lnTo>
                    <a:pt x="71" y="5"/>
                  </a:lnTo>
                  <a:lnTo>
                    <a:pt x="65" y="5"/>
                  </a:lnTo>
                  <a:lnTo>
                    <a:pt x="23" y="5"/>
                  </a:lnTo>
                  <a:lnTo>
                    <a:pt x="6" y="59"/>
                  </a:lnTo>
                  <a:lnTo>
                    <a:pt x="23" y="59"/>
                  </a:lnTo>
                  <a:lnTo>
                    <a:pt x="41" y="71"/>
                  </a:lnTo>
                  <a:lnTo>
                    <a:pt x="53" y="83"/>
                  </a:lnTo>
                  <a:lnTo>
                    <a:pt x="59" y="107"/>
                  </a:lnTo>
                  <a:lnTo>
                    <a:pt x="53" y="137"/>
                  </a:lnTo>
                  <a:lnTo>
                    <a:pt x="35" y="143"/>
                  </a:lnTo>
                  <a:lnTo>
                    <a:pt x="23" y="137"/>
                  </a:lnTo>
                  <a:lnTo>
                    <a:pt x="6" y="131"/>
                  </a:lnTo>
                  <a:lnTo>
                    <a:pt x="0" y="137"/>
                  </a:lnTo>
                  <a:lnTo>
                    <a:pt x="6" y="143"/>
                  </a:lnTo>
                  <a:lnTo>
                    <a:pt x="23" y="149"/>
                  </a:lnTo>
                  <a:lnTo>
                    <a:pt x="41" y="143"/>
                  </a:lnTo>
                  <a:lnTo>
                    <a:pt x="59" y="137"/>
                  </a:lnTo>
                  <a:lnTo>
                    <a:pt x="65" y="119"/>
                  </a:lnTo>
                  <a:lnTo>
                    <a:pt x="71" y="101"/>
                  </a:lnTo>
                  <a:lnTo>
                    <a:pt x="71" y="83"/>
                  </a:lnTo>
                  <a:lnTo>
                    <a:pt x="65" y="65"/>
                  </a:lnTo>
                  <a:lnTo>
                    <a:pt x="53" y="53"/>
                  </a:lnTo>
                  <a:lnTo>
                    <a:pt x="41" y="47"/>
                  </a:lnTo>
                  <a:lnTo>
                    <a:pt x="17" y="41"/>
                  </a:lnTo>
                  <a:lnTo>
                    <a:pt x="29" y="2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1" name="Freeform 73"/>
            <p:cNvSpPr>
              <a:spLocks noEditPoints="1"/>
            </p:cNvSpPr>
            <p:nvPr/>
          </p:nvSpPr>
          <p:spPr bwMode="auto">
            <a:xfrm>
              <a:off x="689" y="2268"/>
              <a:ext cx="126" cy="144"/>
            </a:xfrm>
            <a:custGeom>
              <a:avLst/>
              <a:gdLst>
                <a:gd name="T0" fmla="*/ 126 w 126"/>
                <a:gd name="T1" fmla="*/ 138 h 144"/>
                <a:gd name="T2" fmla="*/ 120 w 126"/>
                <a:gd name="T3" fmla="*/ 138 h 144"/>
                <a:gd name="T4" fmla="*/ 120 w 126"/>
                <a:gd name="T5" fmla="*/ 132 h 144"/>
                <a:gd name="T6" fmla="*/ 114 w 126"/>
                <a:gd name="T7" fmla="*/ 120 h 144"/>
                <a:gd name="T8" fmla="*/ 66 w 126"/>
                <a:gd name="T9" fmla="*/ 0 h 144"/>
                <a:gd name="T10" fmla="*/ 60 w 126"/>
                <a:gd name="T11" fmla="*/ 0 h 144"/>
                <a:gd name="T12" fmla="*/ 24 w 126"/>
                <a:gd name="T13" fmla="*/ 102 h 144"/>
                <a:gd name="T14" fmla="*/ 18 w 126"/>
                <a:gd name="T15" fmla="*/ 120 h 144"/>
                <a:gd name="T16" fmla="*/ 12 w 126"/>
                <a:gd name="T17" fmla="*/ 132 h 144"/>
                <a:gd name="T18" fmla="*/ 6 w 126"/>
                <a:gd name="T19" fmla="*/ 138 h 144"/>
                <a:gd name="T20" fmla="*/ 0 w 126"/>
                <a:gd name="T21" fmla="*/ 138 h 144"/>
                <a:gd name="T22" fmla="*/ 0 w 126"/>
                <a:gd name="T23" fmla="*/ 144 h 144"/>
                <a:gd name="T24" fmla="*/ 36 w 126"/>
                <a:gd name="T25" fmla="*/ 144 h 144"/>
                <a:gd name="T26" fmla="*/ 36 w 126"/>
                <a:gd name="T27" fmla="*/ 138 h 144"/>
                <a:gd name="T28" fmla="*/ 30 w 126"/>
                <a:gd name="T29" fmla="*/ 138 h 144"/>
                <a:gd name="T30" fmla="*/ 24 w 126"/>
                <a:gd name="T31" fmla="*/ 132 h 144"/>
                <a:gd name="T32" fmla="*/ 24 w 126"/>
                <a:gd name="T33" fmla="*/ 126 h 144"/>
                <a:gd name="T34" fmla="*/ 24 w 126"/>
                <a:gd name="T35" fmla="*/ 120 h 144"/>
                <a:gd name="T36" fmla="*/ 36 w 126"/>
                <a:gd name="T37" fmla="*/ 96 h 144"/>
                <a:gd name="T38" fmla="*/ 84 w 126"/>
                <a:gd name="T39" fmla="*/ 96 h 144"/>
                <a:gd name="T40" fmla="*/ 90 w 126"/>
                <a:gd name="T41" fmla="*/ 114 h 144"/>
                <a:gd name="T42" fmla="*/ 96 w 126"/>
                <a:gd name="T43" fmla="*/ 126 h 144"/>
                <a:gd name="T44" fmla="*/ 96 w 126"/>
                <a:gd name="T45" fmla="*/ 132 h 144"/>
                <a:gd name="T46" fmla="*/ 90 w 126"/>
                <a:gd name="T47" fmla="*/ 138 h 144"/>
                <a:gd name="T48" fmla="*/ 78 w 126"/>
                <a:gd name="T49" fmla="*/ 138 h 144"/>
                <a:gd name="T50" fmla="*/ 78 w 126"/>
                <a:gd name="T51" fmla="*/ 144 h 144"/>
                <a:gd name="T52" fmla="*/ 126 w 126"/>
                <a:gd name="T53" fmla="*/ 144 h 144"/>
                <a:gd name="T54" fmla="*/ 126 w 126"/>
                <a:gd name="T55" fmla="*/ 138 h 144"/>
                <a:gd name="T56" fmla="*/ 36 w 126"/>
                <a:gd name="T57" fmla="*/ 90 h 144"/>
                <a:gd name="T58" fmla="*/ 60 w 126"/>
                <a:gd name="T59" fmla="*/ 30 h 144"/>
                <a:gd name="T60" fmla="*/ 78 w 126"/>
                <a:gd name="T61" fmla="*/ 90 h 144"/>
                <a:gd name="T62" fmla="*/ 36 w 126"/>
                <a:gd name="T63" fmla="*/ 90 h 1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6"/>
                <a:gd name="T97" fmla="*/ 0 h 144"/>
                <a:gd name="T98" fmla="*/ 126 w 126"/>
                <a:gd name="T99" fmla="*/ 144 h 14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6" h="144">
                  <a:moveTo>
                    <a:pt x="126" y="138"/>
                  </a:moveTo>
                  <a:lnTo>
                    <a:pt x="120" y="138"/>
                  </a:lnTo>
                  <a:lnTo>
                    <a:pt x="120" y="132"/>
                  </a:lnTo>
                  <a:lnTo>
                    <a:pt x="114" y="120"/>
                  </a:lnTo>
                  <a:lnTo>
                    <a:pt x="66" y="0"/>
                  </a:lnTo>
                  <a:lnTo>
                    <a:pt x="60" y="0"/>
                  </a:lnTo>
                  <a:lnTo>
                    <a:pt x="24" y="102"/>
                  </a:lnTo>
                  <a:lnTo>
                    <a:pt x="18" y="120"/>
                  </a:lnTo>
                  <a:lnTo>
                    <a:pt x="12" y="132"/>
                  </a:lnTo>
                  <a:lnTo>
                    <a:pt x="6" y="138"/>
                  </a:lnTo>
                  <a:lnTo>
                    <a:pt x="0" y="138"/>
                  </a:lnTo>
                  <a:lnTo>
                    <a:pt x="0" y="144"/>
                  </a:lnTo>
                  <a:lnTo>
                    <a:pt x="36" y="144"/>
                  </a:lnTo>
                  <a:lnTo>
                    <a:pt x="36" y="138"/>
                  </a:lnTo>
                  <a:lnTo>
                    <a:pt x="30" y="138"/>
                  </a:lnTo>
                  <a:lnTo>
                    <a:pt x="24" y="132"/>
                  </a:lnTo>
                  <a:lnTo>
                    <a:pt x="24" y="126"/>
                  </a:lnTo>
                  <a:lnTo>
                    <a:pt x="24" y="120"/>
                  </a:lnTo>
                  <a:lnTo>
                    <a:pt x="36" y="96"/>
                  </a:lnTo>
                  <a:lnTo>
                    <a:pt x="84" y="96"/>
                  </a:lnTo>
                  <a:lnTo>
                    <a:pt x="90" y="114"/>
                  </a:lnTo>
                  <a:lnTo>
                    <a:pt x="96" y="126"/>
                  </a:lnTo>
                  <a:lnTo>
                    <a:pt x="96" y="132"/>
                  </a:lnTo>
                  <a:lnTo>
                    <a:pt x="90" y="138"/>
                  </a:lnTo>
                  <a:lnTo>
                    <a:pt x="78" y="138"/>
                  </a:lnTo>
                  <a:lnTo>
                    <a:pt x="78" y="144"/>
                  </a:lnTo>
                  <a:lnTo>
                    <a:pt x="126" y="144"/>
                  </a:lnTo>
                  <a:lnTo>
                    <a:pt x="126" y="138"/>
                  </a:lnTo>
                  <a:close/>
                  <a:moveTo>
                    <a:pt x="36" y="90"/>
                  </a:moveTo>
                  <a:lnTo>
                    <a:pt x="60" y="30"/>
                  </a:lnTo>
                  <a:lnTo>
                    <a:pt x="78"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2" name="Freeform 74"/>
            <p:cNvSpPr/>
            <p:nvPr/>
          </p:nvSpPr>
          <p:spPr bwMode="auto">
            <a:xfrm>
              <a:off x="910" y="2173"/>
              <a:ext cx="311" cy="358"/>
            </a:xfrm>
            <a:custGeom>
              <a:avLst/>
              <a:gdLst>
                <a:gd name="T0" fmla="*/ 156 w 311"/>
                <a:gd name="T1" fmla="*/ 358 h 358"/>
                <a:gd name="T2" fmla="*/ 186 w 311"/>
                <a:gd name="T3" fmla="*/ 352 h 358"/>
                <a:gd name="T4" fmla="*/ 216 w 311"/>
                <a:gd name="T5" fmla="*/ 346 h 358"/>
                <a:gd name="T6" fmla="*/ 246 w 311"/>
                <a:gd name="T7" fmla="*/ 328 h 358"/>
                <a:gd name="T8" fmla="*/ 270 w 311"/>
                <a:gd name="T9" fmla="*/ 304 h 358"/>
                <a:gd name="T10" fmla="*/ 299 w 311"/>
                <a:gd name="T11" fmla="*/ 245 h 358"/>
                <a:gd name="T12" fmla="*/ 311 w 311"/>
                <a:gd name="T13" fmla="*/ 215 h 358"/>
                <a:gd name="T14" fmla="*/ 311 w 311"/>
                <a:gd name="T15" fmla="*/ 179 h 358"/>
                <a:gd name="T16" fmla="*/ 311 w 311"/>
                <a:gd name="T17" fmla="*/ 143 h 358"/>
                <a:gd name="T18" fmla="*/ 299 w 311"/>
                <a:gd name="T19" fmla="*/ 113 h 358"/>
                <a:gd name="T20" fmla="*/ 270 w 311"/>
                <a:gd name="T21" fmla="*/ 54 h 358"/>
                <a:gd name="T22" fmla="*/ 246 w 311"/>
                <a:gd name="T23" fmla="*/ 30 h 358"/>
                <a:gd name="T24" fmla="*/ 216 w 311"/>
                <a:gd name="T25" fmla="*/ 12 h 358"/>
                <a:gd name="T26" fmla="*/ 186 w 311"/>
                <a:gd name="T27" fmla="*/ 6 h 358"/>
                <a:gd name="T28" fmla="*/ 156 w 311"/>
                <a:gd name="T29" fmla="*/ 0 h 358"/>
                <a:gd name="T30" fmla="*/ 126 w 311"/>
                <a:gd name="T31" fmla="*/ 6 h 358"/>
                <a:gd name="T32" fmla="*/ 96 w 311"/>
                <a:gd name="T33" fmla="*/ 12 h 358"/>
                <a:gd name="T34" fmla="*/ 72 w 311"/>
                <a:gd name="T35" fmla="*/ 30 h 358"/>
                <a:gd name="T36" fmla="*/ 48 w 311"/>
                <a:gd name="T37" fmla="*/ 54 h 358"/>
                <a:gd name="T38" fmla="*/ 12 w 311"/>
                <a:gd name="T39" fmla="*/ 113 h 358"/>
                <a:gd name="T40" fmla="*/ 6 w 311"/>
                <a:gd name="T41" fmla="*/ 143 h 358"/>
                <a:gd name="T42" fmla="*/ 0 w 311"/>
                <a:gd name="T43" fmla="*/ 179 h 358"/>
                <a:gd name="T44" fmla="*/ 6 w 311"/>
                <a:gd name="T45" fmla="*/ 215 h 358"/>
                <a:gd name="T46" fmla="*/ 12 w 311"/>
                <a:gd name="T47" fmla="*/ 245 h 358"/>
                <a:gd name="T48" fmla="*/ 48 w 311"/>
                <a:gd name="T49" fmla="*/ 304 h 358"/>
                <a:gd name="T50" fmla="*/ 72 w 311"/>
                <a:gd name="T51" fmla="*/ 328 h 358"/>
                <a:gd name="T52" fmla="*/ 96 w 311"/>
                <a:gd name="T53" fmla="*/ 346 h 358"/>
                <a:gd name="T54" fmla="*/ 126 w 311"/>
                <a:gd name="T55" fmla="*/ 352 h 358"/>
                <a:gd name="T56" fmla="*/ 156 w 311"/>
                <a:gd name="T57" fmla="*/ 358 h 358"/>
                <a:gd name="T58" fmla="*/ 156 w 311"/>
                <a:gd name="T59" fmla="*/ 358 h 3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1"/>
                <a:gd name="T91" fmla="*/ 0 h 358"/>
                <a:gd name="T92" fmla="*/ 311 w 311"/>
                <a:gd name="T93" fmla="*/ 358 h 3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1" h="358">
                  <a:moveTo>
                    <a:pt x="156" y="358"/>
                  </a:moveTo>
                  <a:lnTo>
                    <a:pt x="186" y="352"/>
                  </a:lnTo>
                  <a:lnTo>
                    <a:pt x="216" y="346"/>
                  </a:lnTo>
                  <a:lnTo>
                    <a:pt x="246" y="328"/>
                  </a:lnTo>
                  <a:lnTo>
                    <a:pt x="270" y="304"/>
                  </a:lnTo>
                  <a:lnTo>
                    <a:pt x="299" y="245"/>
                  </a:lnTo>
                  <a:lnTo>
                    <a:pt x="311" y="215"/>
                  </a:lnTo>
                  <a:lnTo>
                    <a:pt x="311" y="179"/>
                  </a:lnTo>
                  <a:lnTo>
                    <a:pt x="311" y="143"/>
                  </a:lnTo>
                  <a:lnTo>
                    <a:pt x="299" y="113"/>
                  </a:lnTo>
                  <a:lnTo>
                    <a:pt x="270" y="54"/>
                  </a:lnTo>
                  <a:lnTo>
                    <a:pt x="246" y="30"/>
                  </a:lnTo>
                  <a:lnTo>
                    <a:pt x="216" y="12"/>
                  </a:lnTo>
                  <a:lnTo>
                    <a:pt x="186" y="6"/>
                  </a:lnTo>
                  <a:lnTo>
                    <a:pt x="156" y="0"/>
                  </a:lnTo>
                  <a:lnTo>
                    <a:pt x="126" y="6"/>
                  </a:lnTo>
                  <a:lnTo>
                    <a:pt x="96" y="12"/>
                  </a:lnTo>
                  <a:lnTo>
                    <a:pt x="72" y="30"/>
                  </a:lnTo>
                  <a:lnTo>
                    <a:pt x="48" y="54"/>
                  </a:lnTo>
                  <a:lnTo>
                    <a:pt x="12" y="113"/>
                  </a:lnTo>
                  <a:lnTo>
                    <a:pt x="6" y="143"/>
                  </a:lnTo>
                  <a:lnTo>
                    <a:pt x="0" y="179"/>
                  </a:lnTo>
                  <a:lnTo>
                    <a:pt x="6" y="215"/>
                  </a:lnTo>
                  <a:lnTo>
                    <a:pt x="12" y="245"/>
                  </a:lnTo>
                  <a:lnTo>
                    <a:pt x="48" y="304"/>
                  </a:lnTo>
                  <a:lnTo>
                    <a:pt x="72" y="328"/>
                  </a:lnTo>
                  <a:lnTo>
                    <a:pt x="96" y="346"/>
                  </a:lnTo>
                  <a:lnTo>
                    <a:pt x="126" y="352"/>
                  </a:lnTo>
                  <a:lnTo>
                    <a:pt x="156" y="358"/>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3" name="Freeform 75"/>
            <p:cNvSpPr/>
            <p:nvPr/>
          </p:nvSpPr>
          <p:spPr bwMode="auto">
            <a:xfrm>
              <a:off x="1066" y="2352"/>
              <a:ext cx="155" cy="179"/>
            </a:xfrm>
            <a:custGeom>
              <a:avLst/>
              <a:gdLst>
                <a:gd name="T0" fmla="*/ 0 w 155"/>
                <a:gd name="T1" fmla="*/ 179 h 179"/>
                <a:gd name="T2" fmla="*/ 30 w 155"/>
                <a:gd name="T3" fmla="*/ 173 h 179"/>
                <a:gd name="T4" fmla="*/ 60 w 155"/>
                <a:gd name="T5" fmla="*/ 167 h 179"/>
                <a:gd name="T6" fmla="*/ 90 w 155"/>
                <a:gd name="T7" fmla="*/ 149 h 179"/>
                <a:gd name="T8" fmla="*/ 114 w 155"/>
                <a:gd name="T9" fmla="*/ 125 h 179"/>
                <a:gd name="T10" fmla="*/ 143 w 155"/>
                <a:gd name="T11" fmla="*/ 66 h 179"/>
                <a:gd name="T12" fmla="*/ 155 w 155"/>
                <a:gd name="T13" fmla="*/ 36 h 179"/>
                <a:gd name="T14" fmla="*/ 155 w 155"/>
                <a:gd name="T15" fmla="*/ 0 h 179"/>
                <a:gd name="T16" fmla="*/ 155 w 155"/>
                <a:gd name="T17" fmla="*/ 0 h 179"/>
                <a:gd name="T18" fmla="*/ 155 w 155"/>
                <a:gd name="T19" fmla="*/ 36 h 179"/>
                <a:gd name="T20" fmla="*/ 143 w 155"/>
                <a:gd name="T21" fmla="*/ 66 h 179"/>
                <a:gd name="T22" fmla="*/ 114 w 155"/>
                <a:gd name="T23" fmla="*/ 125 h 179"/>
                <a:gd name="T24" fmla="*/ 90 w 155"/>
                <a:gd name="T25" fmla="*/ 149 h 179"/>
                <a:gd name="T26" fmla="*/ 60 w 155"/>
                <a:gd name="T27" fmla="*/ 167 h 179"/>
                <a:gd name="T28" fmla="*/ 30 w 155"/>
                <a:gd name="T29" fmla="*/ 173 h 179"/>
                <a:gd name="T30" fmla="*/ 0 w 155"/>
                <a:gd name="T31" fmla="*/ 179 h 179"/>
                <a:gd name="T32" fmla="*/ 0 w 155"/>
                <a:gd name="T33" fmla="*/ 179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
                <a:gd name="T52" fmla="*/ 0 h 179"/>
                <a:gd name="T53" fmla="*/ 155 w 155"/>
                <a:gd name="T54" fmla="*/ 179 h 1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 h="179">
                  <a:moveTo>
                    <a:pt x="0" y="179"/>
                  </a:moveTo>
                  <a:lnTo>
                    <a:pt x="30" y="173"/>
                  </a:lnTo>
                  <a:lnTo>
                    <a:pt x="60" y="167"/>
                  </a:lnTo>
                  <a:lnTo>
                    <a:pt x="90" y="149"/>
                  </a:lnTo>
                  <a:lnTo>
                    <a:pt x="114" y="125"/>
                  </a:lnTo>
                  <a:lnTo>
                    <a:pt x="143" y="66"/>
                  </a:lnTo>
                  <a:lnTo>
                    <a:pt x="155" y="36"/>
                  </a:lnTo>
                  <a:lnTo>
                    <a:pt x="155" y="0"/>
                  </a:lnTo>
                  <a:lnTo>
                    <a:pt x="155" y="36"/>
                  </a:lnTo>
                  <a:lnTo>
                    <a:pt x="143" y="66"/>
                  </a:lnTo>
                  <a:lnTo>
                    <a:pt x="114" y="125"/>
                  </a:lnTo>
                  <a:lnTo>
                    <a:pt x="90" y="149"/>
                  </a:lnTo>
                  <a:lnTo>
                    <a:pt x="60" y="167"/>
                  </a:lnTo>
                  <a:lnTo>
                    <a:pt x="30" y="173"/>
                  </a:lnTo>
                  <a:lnTo>
                    <a:pt x="0"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4" name="Freeform 76"/>
            <p:cNvSpPr>
              <a:spLocks noEditPoints="1"/>
            </p:cNvSpPr>
            <p:nvPr/>
          </p:nvSpPr>
          <p:spPr bwMode="auto">
            <a:xfrm>
              <a:off x="1066" y="2173"/>
              <a:ext cx="155" cy="179"/>
            </a:xfrm>
            <a:custGeom>
              <a:avLst/>
              <a:gdLst>
                <a:gd name="T0" fmla="*/ 155 w 155"/>
                <a:gd name="T1" fmla="*/ 179 h 179"/>
                <a:gd name="T2" fmla="*/ 155 w 155"/>
                <a:gd name="T3" fmla="*/ 143 h 179"/>
                <a:gd name="T4" fmla="*/ 143 w 155"/>
                <a:gd name="T5" fmla="*/ 113 h 179"/>
                <a:gd name="T6" fmla="*/ 114 w 155"/>
                <a:gd name="T7" fmla="*/ 54 h 179"/>
                <a:gd name="T8" fmla="*/ 90 w 155"/>
                <a:gd name="T9" fmla="*/ 30 h 179"/>
                <a:gd name="T10" fmla="*/ 60 w 155"/>
                <a:gd name="T11" fmla="*/ 12 h 179"/>
                <a:gd name="T12" fmla="*/ 30 w 155"/>
                <a:gd name="T13" fmla="*/ 6 h 179"/>
                <a:gd name="T14" fmla="*/ 0 w 155"/>
                <a:gd name="T15" fmla="*/ 0 h 179"/>
                <a:gd name="T16" fmla="*/ 0 w 155"/>
                <a:gd name="T17" fmla="*/ 0 h 179"/>
                <a:gd name="T18" fmla="*/ 30 w 155"/>
                <a:gd name="T19" fmla="*/ 6 h 179"/>
                <a:gd name="T20" fmla="*/ 60 w 155"/>
                <a:gd name="T21" fmla="*/ 12 h 179"/>
                <a:gd name="T22" fmla="*/ 90 w 155"/>
                <a:gd name="T23" fmla="*/ 30 h 179"/>
                <a:gd name="T24" fmla="*/ 114 w 155"/>
                <a:gd name="T25" fmla="*/ 54 h 179"/>
                <a:gd name="T26" fmla="*/ 143 w 155"/>
                <a:gd name="T27" fmla="*/ 113 h 179"/>
                <a:gd name="T28" fmla="*/ 155 w 155"/>
                <a:gd name="T29" fmla="*/ 143 h 179"/>
                <a:gd name="T30" fmla="*/ 155 w 155"/>
                <a:gd name="T31" fmla="*/ 179 h 179"/>
                <a:gd name="T32" fmla="*/ 155 w 155"/>
                <a:gd name="T33" fmla="*/ 179 h 179"/>
                <a:gd name="T34" fmla="*/ 155 w 155"/>
                <a:gd name="T35" fmla="*/ 179 h 179"/>
                <a:gd name="T36" fmla="*/ 155 w 155"/>
                <a:gd name="T37" fmla="*/ 179 h 179"/>
                <a:gd name="T38" fmla="*/ 155 w 155"/>
                <a:gd name="T39" fmla="*/ 179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5"/>
                <a:gd name="T61" fmla="*/ 0 h 179"/>
                <a:gd name="T62" fmla="*/ 155 w 155"/>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5" h="179">
                  <a:moveTo>
                    <a:pt x="155" y="179"/>
                  </a:moveTo>
                  <a:lnTo>
                    <a:pt x="155" y="143"/>
                  </a:lnTo>
                  <a:lnTo>
                    <a:pt x="143" y="113"/>
                  </a:lnTo>
                  <a:lnTo>
                    <a:pt x="114" y="54"/>
                  </a:lnTo>
                  <a:lnTo>
                    <a:pt x="90" y="30"/>
                  </a:lnTo>
                  <a:lnTo>
                    <a:pt x="60" y="12"/>
                  </a:lnTo>
                  <a:lnTo>
                    <a:pt x="30" y="6"/>
                  </a:lnTo>
                  <a:lnTo>
                    <a:pt x="0" y="0"/>
                  </a:lnTo>
                  <a:lnTo>
                    <a:pt x="30" y="6"/>
                  </a:lnTo>
                  <a:lnTo>
                    <a:pt x="60" y="12"/>
                  </a:lnTo>
                  <a:lnTo>
                    <a:pt x="90" y="30"/>
                  </a:lnTo>
                  <a:lnTo>
                    <a:pt x="114" y="54"/>
                  </a:lnTo>
                  <a:lnTo>
                    <a:pt x="143" y="113"/>
                  </a:lnTo>
                  <a:lnTo>
                    <a:pt x="155" y="143"/>
                  </a:lnTo>
                  <a:lnTo>
                    <a:pt x="155" y="179"/>
                  </a:lnTo>
                  <a:close/>
                  <a:moveTo>
                    <a:pt x="155" y="179"/>
                  </a:moveTo>
                  <a:lnTo>
                    <a:pt x="155"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5" name="Freeform 77"/>
            <p:cNvSpPr>
              <a:spLocks noEditPoints="1"/>
            </p:cNvSpPr>
            <p:nvPr/>
          </p:nvSpPr>
          <p:spPr bwMode="auto">
            <a:xfrm>
              <a:off x="910" y="2173"/>
              <a:ext cx="156" cy="179"/>
            </a:xfrm>
            <a:custGeom>
              <a:avLst/>
              <a:gdLst>
                <a:gd name="T0" fmla="*/ 156 w 156"/>
                <a:gd name="T1" fmla="*/ 0 h 179"/>
                <a:gd name="T2" fmla="*/ 126 w 156"/>
                <a:gd name="T3" fmla="*/ 6 h 179"/>
                <a:gd name="T4" fmla="*/ 96 w 156"/>
                <a:gd name="T5" fmla="*/ 12 h 179"/>
                <a:gd name="T6" fmla="*/ 72 w 156"/>
                <a:gd name="T7" fmla="*/ 30 h 179"/>
                <a:gd name="T8" fmla="*/ 48 w 156"/>
                <a:gd name="T9" fmla="*/ 54 h 179"/>
                <a:gd name="T10" fmla="*/ 12 w 156"/>
                <a:gd name="T11" fmla="*/ 113 h 179"/>
                <a:gd name="T12" fmla="*/ 6 w 156"/>
                <a:gd name="T13" fmla="*/ 143 h 179"/>
                <a:gd name="T14" fmla="*/ 0 w 156"/>
                <a:gd name="T15" fmla="*/ 179 h 179"/>
                <a:gd name="T16" fmla="*/ 0 w 156"/>
                <a:gd name="T17" fmla="*/ 179 h 179"/>
                <a:gd name="T18" fmla="*/ 6 w 156"/>
                <a:gd name="T19" fmla="*/ 143 h 179"/>
                <a:gd name="T20" fmla="*/ 12 w 156"/>
                <a:gd name="T21" fmla="*/ 113 h 179"/>
                <a:gd name="T22" fmla="*/ 48 w 156"/>
                <a:gd name="T23" fmla="*/ 54 h 179"/>
                <a:gd name="T24" fmla="*/ 72 w 156"/>
                <a:gd name="T25" fmla="*/ 30 h 179"/>
                <a:gd name="T26" fmla="*/ 96 w 156"/>
                <a:gd name="T27" fmla="*/ 12 h 179"/>
                <a:gd name="T28" fmla="*/ 126 w 156"/>
                <a:gd name="T29" fmla="*/ 6 h 179"/>
                <a:gd name="T30" fmla="*/ 156 w 156"/>
                <a:gd name="T31" fmla="*/ 0 h 179"/>
                <a:gd name="T32" fmla="*/ 156 w 156"/>
                <a:gd name="T33" fmla="*/ 0 h 179"/>
                <a:gd name="T34" fmla="*/ 156 w 156"/>
                <a:gd name="T35" fmla="*/ 0 h 179"/>
                <a:gd name="T36" fmla="*/ 156 w 156"/>
                <a:gd name="T37" fmla="*/ 0 h 179"/>
                <a:gd name="T38" fmla="*/ 156 w 156"/>
                <a:gd name="T39" fmla="*/ 0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6"/>
                <a:gd name="T61" fmla="*/ 0 h 179"/>
                <a:gd name="T62" fmla="*/ 156 w 156"/>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6" h="179">
                  <a:moveTo>
                    <a:pt x="156" y="0"/>
                  </a:moveTo>
                  <a:lnTo>
                    <a:pt x="126" y="6"/>
                  </a:lnTo>
                  <a:lnTo>
                    <a:pt x="96" y="12"/>
                  </a:lnTo>
                  <a:lnTo>
                    <a:pt x="72" y="30"/>
                  </a:lnTo>
                  <a:lnTo>
                    <a:pt x="48" y="54"/>
                  </a:lnTo>
                  <a:lnTo>
                    <a:pt x="12" y="113"/>
                  </a:lnTo>
                  <a:lnTo>
                    <a:pt x="6" y="143"/>
                  </a:lnTo>
                  <a:lnTo>
                    <a:pt x="0" y="179"/>
                  </a:lnTo>
                  <a:lnTo>
                    <a:pt x="6" y="143"/>
                  </a:lnTo>
                  <a:lnTo>
                    <a:pt x="12" y="113"/>
                  </a:lnTo>
                  <a:lnTo>
                    <a:pt x="48" y="54"/>
                  </a:lnTo>
                  <a:lnTo>
                    <a:pt x="72" y="30"/>
                  </a:lnTo>
                  <a:lnTo>
                    <a:pt x="96" y="12"/>
                  </a:lnTo>
                  <a:lnTo>
                    <a:pt x="126" y="6"/>
                  </a:lnTo>
                  <a:lnTo>
                    <a:pt x="156" y="0"/>
                  </a:lnTo>
                  <a:close/>
                  <a:moveTo>
                    <a:pt x="156" y="0"/>
                  </a:moveTo>
                  <a:lnTo>
                    <a:pt x="15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6" name="Freeform 78"/>
            <p:cNvSpPr>
              <a:spLocks noEditPoints="1"/>
            </p:cNvSpPr>
            <p:nvPr/>
          </p:nvSpPr>
          <p:spPr bwMode="auto">
            <a:xfrm>
              <a:off x="910" y="2352"/>
              <a:ext cx="156" cy="179"/>
            </a:xfrm>
            <a:custGeom>
              <a:avLst/>
              <a:gdLst>
                <a:gd name="T0" fmla="*/ 0 w 156"/>
                <a:gd name="T1" fmla="*/ 0 h 179"/>
                <a:gd name="T2" fmla="*/ 6 w 156"/>
                <a:gd name="T3" fmla="*/ 36 h 179"/>
                <a:gd name="T4" fmla="*/ 12 w 156"/>
                <a:gd name="T5" fmla="*/ 66 h 179"/>
                <a:gd name="T6" fmla="*/ 48 w 156"/>
                <a:gd name="T7" fmla="*/ 125 h 179"/>
                <a:gd name="T8" fmla="*/ 72 w 156"/>
                <a:gd name="T9" fmla="*/ 149 h 179"/>
                <a:gd name="T10" fmla="*/ 96 w 156"/>
                <a:gd name="T11" fmla="*/ 167 h 179"/>
                <a:gd name="T12" fmla="*/ 126 w 156"/>
                <a:gd name="T13" fmla="*/ 173 h 179"/>
                <a:gd name="T14" fmla="*/ 156 w 156"/>
                <a:gd name="T15" fmla="*/ 179 h 179"/>
                <a:gd name="T16" fmla="*/ 156 w 156"/>
                <a:gd name="T17" fmla="*/ 179 h 179"/>
                <a:gd name="T18" fmla="*/ 126 w 156"/>
                <a:gd name="T19" fmla="*/ 173 h 179"/>
                <a:gd name="T20" fmla="*/ 96 w 156"/>
                <a:gd name="T21" fmla="*/ 167 h 179"/>
                <a:gd name="T22" fmla="*/ 72 w 156"/>
                <a:gd name="T23" fmla="*/ 149 h 179"/>
                <a:gd name="T24" fmla="*/ 48 w 156"/>
                <a:gd name="T25" fmla="*/ 125 h 179"/>
                <a:gd name="T26" fmla="*/ 12 w 156"/>
                <a:gd name="T27" fmla="*/ 66 h 179"/>
                <a:gd name="T28" fmla="*/ 6 w 156"/>
                <a:gd name="T29" fmla="*/ 36 h 179"/>
                <a:gd name="T30" fmla="*/ 0 w 156"/>
                <a:gd name="T31" fmla="*/ 0 h 179"/>
                <a:gd name="T32" fmla="*/ 0 w 156"/>
                <a:gd name="T33" fmla="*/ 0 h 179"/>
                <a:gd name="T34" fmla="*/ 0 w 156"/>
                <a:gd name="T35" fmla="*/ 0 h 179"/>
                <a:gd name="T36" fmla="*/ 0 w 156"/>
                <a:gd name="T37" fmla="*/ 0 h 179"/>
                <a:gd name="T38" fmla="*/ 0 w 156"/>
                <a:gd name="T39" fmla="*/ 0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6"/>
                <a:gd name="T61" fmla="*/ 0 h 179"/>
                <a:gd name="T62" fmla="*/ 156 w 156"/>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6" h="179">
                  <a:moveTo>
                    <a:pt x="0" y="0"/>
                  </a:moveTo>
                  <a:lnTo>
                    <a:pt x="6" y="36"/>
                  </a:lnTo>
                  <a:lnTo>
                    <a:pt x="12" y="66"/>
                  </a:lnTo>
                  <a:lnTo>
                    <a:pt x="48" y="125"/>
                  </a:lnTo>
                  <a:lnTo>
                    <a:pt x="72" y="149"/>
                  </a:lnTo>
                  <a:lnTo>
                    <a:pt x="96" y="167"/>
                  </a:lnTo>
                  <a:lnTo>
                    <a:pt x="126" y="173"/>
                  </a:lnTo>
                  <a:lnTo>
                    <a:pt x="156" y="179"/>
                  </a:lnTo>
                  <a:lnTo>
                    <a:pt x="126" y="173"/>
                  </a:lnTo>
                  <a:lnTo>
                    <a:pt x="96" y="167"/>
                  </a:lnTo>
                  <a:lnTo>
                    <a:pt x="72" y="149"/>
                  </a:lnTo>
                  <a:lnTo>
                    <a:pt x="48" y="125"/>
                  </a:lnTo>
                  <a:lnTo>
                    <a:pt x="12" y="66"/>
                  </a:lnTo>
                  <a:lnTo>
                    <a:pt x="6" y="3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7" name="Freeform 79"/>
            <p:cNvSpPr/>
            <p:nvPr/>
          </p:nvSpPr>
          <p:spPr bwMode="auto">
            <a:xfrm>
              <a:off x="1066" y="253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8" name="Freeform 80"/>
            <p:cNvSpPr/>
            <p:nvPr/>
          </p:nvSpPr>
          <p:spPr bwMode="auto">
            <a:xfrm>
              <a:off x="1066" y="2352"/>
              <a:ext cx="1" cy="137"/>
            </a:xfrm>
            <a:custGeom>
              <a:avLst/>
              <a:gdLst>
                <a:gd name="T0" fmla="*/ 0 w 1"/>
                <a:gd name="T1" fmla="*/ 137 h 137"/>
                <a:gd name="T2" fmla="*/ 0 w 1"/>
                <a:gd name="T3" fmla="*/ 0 h 137"/>
                <a:gd name="T4" fmla="*/ 0 w 1"/>
                <a:gd name="T5" fmla="*/ 137 h 137"/>
                <a:gd name="T6" fmla="*/ 0 w 1"/>
                <a:gd name="T7" fmla="*/ 137 h 137"/>
                <a:gd name="T8" fmla="*/ 0 60000 65536"/>
                <a:gd name="T9" fmla="*/ 0 60000 65536"/>
                <a:gd name="T10" fmla="*/ 0 60000 65536"/>
                <a:gd name="T11" fmla="*/ 0 60000 65536"/>
                <a:gd name="T12" fmla="*/ 0 w 1"/>
                <a:gd name="T13" fmla="*/ 0 h 137"/>
                <a:gd name="T14" fmla="*/ 1 w 1"/>
                <a:gd name="T15" fmla="*/ 137 h 137"/>
              </a:gdLst>
              <a:ahLst/>
              <a:cxnLst>
                <a:cxn ang="T8">
                  <a:pos x="T0" y="T1"/>
                </a:cxn>
                <a:cxn ang="T9">
                  <a:pos x="T2" y="T3"/>
                </a:cxn>
                <a:cxn ang="T10">
                  <a:pos x="T4" y="T5"/>
                </a:cxn>
                <a:cxn ang="T11">
                  <a:pos x="T6" y="T7"/>
                </a:cxn>
              </a:cxnLst>
              <a:rect l="T12" t="T13" r="T14" b="T15"/>
              <a:pathLst>
                <a:path w="1" h="137">
                  <a:moveTo>
                    <a:pt x="0" y="137"/>
                  </a:moveTo>
                  <a:lnTo>
                    <a:pt x="0" y="0"/>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299" name="Freeform 81"/>
            <p:cNvSpPr/>
            <p:nvPr/>
          </p:nvSpPr>
          <p:spPr bwMode="auto">
            <a:xfrm>
              <a:off x="1024" y="2221"/>
              <a:ext cx="78" cy="155"/>
            </a:xfrm>
            <a:custGeom>
              <a:avLst/>
              <a:gdLst>
                <a:gd name="T0" fmla="*/ 78 w 78"/>
                <a:gd name="T1" fmla="*/ 155 h 155"/>
                <a:gd name="T2" fmla="*/ 42 w 78"/>
                <a:gd name="T3" fmla="*/ 0 h 155"/>
                <a:gd name="T4" fmla="*/ 0 w 78"/>
                <a:gd name="T5" fmla="*/ 155 h 155"/>
                <a:gd name="T6" fmla="*/ 78 w 78"/>
                <a:gd name="T7" fmla="*/ 155 h 155"/>
                <a:gd name="T8" fmla="*/ 78 w 78"/>
                <a:gd name="T9" fmla="*/ 155 h 155"/>
                <a:gd name="T10" fmla="*/ 0 60000 65536"/>
                <a:gd name="T11" fmla="*/ 0 60000 65536"/>
                <a:gd name="T12" fmla="*/ 0 60000 65536"/>
                <a:gd name="T13" fmla="*/ 0 60000 65536"/>
                <a:gd name="T14" fmla="*/ 0 60000 65536"/>
                <a:gd name="T15" fmla="*/ 0 w 78"/>
                <a:gd name="T16" fmla="*/ 0 h 155"/>
                <a:gd name="T17" fmla="*/ 78 w 78"/>
                <a:gd name="T18" fmla="*/ 155 h 155"/>
              </a:gdLst>
              <a:ahLst/>
              <a:cxnLst>
                <a:cxn ang="T10">
                  <a:pos x="T0" y="T1"/>
                </a:cxn>
                <a:cxn ang="T11">
                  <a:pos x="T2" y="T3"/>
                </a:cxn>
                <a:cxn ang="T12">
                  <a:pos x="T4" y="T5"/>
                </a:cxn>
                <a:cxn ang="T13">
                  <a:pos x="T6" y="T7"/>
                </a:cxn>
                <a:cxn ang="T14">
                  <a:pos x="T8" y="T9"/>
                </a:cxn>
              </a:cxnLst>
              <a:rect l="T15" t="T16" r="T17" b="T18"/>
              <a:pathLst>
                <a:path w="78" h="155">
                  <a:moveTo>
                    <a:pt x="78" y="155"/>
                  </a:moveTo>
                  <a:lnTo>
                    <a:pt x="42" y="0"/>
                  </a:lnTo>
                  <a:lnTo>
                    <a:pt x="0" y="155"/>
                  </a:lnTo>
                  <a:lnTo>
                    <a:pt x="78" y="15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0" name="Freeform 82"/>
            <p:cNvSpPr/>
            <p:nvPr/>
          </p:nvSpPr>
          <p:spPr bwMode="auto">
            <a:xfrm>
              <a:off x="2495" y="1480"/>
              <a:ext cx="78" cy="90"/>
            </a:xfrm>
            <a:custGeom>
              <a:avLst/>
              <a:gdLst>
                <a:gd name="T0" fmla="*/ 36 w 78"/>
                <a:gd name="T1" fmla="*/ 90 h 90"/>
                <a:gd name="T2" fmla="*/ 54 w 78"/>
                <a:gd name="T3" fmla="*/ 90 h 90"/>
                <a:gd name="T4" fmla="*/ 66 w 78"/>
                <a:gd name="T5" fmla="*/ 78 h 90"/>
                <a:gd name="T6" fmla="*/ 78 w 78"/>
                <a:gd name="T7" fmla="*/ 66 h 90"/>
                <a:gd name="T8" fmla="*/ 78 w 78"/>
                <a:gd name="T9" fmla="*/ 48 h 90"/>
                <a:gd name="T10" fmla="*/ 78 w 78"/>
                <a:gd name="T11" fmla="*/ 30 h 90"/>
                <a:gd name="T12" fmla="*/ 66 w 78"/>
                <a:gd name="T13" fmla="*/ 18 h 90"/>
                <a:gd name="T14" fmla="*/ 54 w 78"/>
                <a:gd name="T15" fmla="*/ 6 h 90"/>
                <a:gd name="T16" fmla="*/ 36 w 78"/>
                <a:gd name="T17" fmla="*/ 0 h 90"/>
                <a:gd name="T18" fmla="*/ 24 w 78"/>
                <a:gd name="T19" fmla="*/ 6 h 90"/>
                <a:gd name="T20" fmla="*/ 12 w 78"/>
                <a:gd name="T21" fmla="*/ 18 h 90"/>
                <a:gd name="T22" fmla="*/ 6 w 78"/>
                <a:gd name="T23" fmla="*/ 30 h 90"/>
                <a:gd name="T24" fmla="*/ 0 w 78"/>
                <a:gd name="T25" fmla="*/ 48 h 90"/>
                <a:gd name="T26" fmla="*/ 6 w 78"/>
                <a:gd name="T27" fmla="*/ 66 h 90"/>
                <a:gd name="T28" fmla="*/ 12 w 78"/>
                <a:gd name="T29" fmla="*/ 78 h 90"/>
                <a:gd name="T30" fmla="*/ 24 w 78"/>
                <a:gd name="T31" fmla="*/ 90 h 90"/>
                <a:gd name="T32" fmla="*/ 36 w 78"/>
                <a:gd name="T33" fmla="*/ 90 h 90"/>
                <a:gd name="T34" fmla="*/ 36 w 78"/>
                <a:gd name="T35" fmla="*/ 90 h 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8"/>
                <a:gd name="T55" fmla="*/ 0 h 90"/>
                <a:gd name="T56" fmla="*/ 78 w 78"/>
                <a:gd name="T57" fmla="*/ 90 h 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8" h="90">
                  <a:moveTo>
                    <a:pt x="36" y="90"/>
                  </a:moveTo>
                  <a:lnTo>
                    <a:pt x="54" y="90"/>
                  </a:lnTo>
                  <a:lnTo>
                    <a:pt x="66" y="78"/>
                  </a:lnTo>
                  <a:lnTo>
                    <a:pt x="78" y="66"/>
                  </a:lnTo>
                  <a:lnTo>
                    <a:pt x="78" y="48"/>
                  </a:lnTo>
                  <a:lnTo>
                    <a:pt x="78" y="30"/>
                  </a:lnTo>
                  <a:lnTo>
                    <a:pt x="66" y="18"/>
                  </a:lnTo>
                  <a:lnTo>
                    <a:pt x="54" y="6"/>
                  </a:lnTo>
                  <a:lnTo>
                    <a:pt x="36" y="0"/>
                  </a:lnTo>
                  <a:lnTo>
                    <a:pt x="24" y="6"/>
                  </a:lnTo>
                  <a:lnTo>
                    <a:pt x="12" y="18"/>
                  </a:lnTo>
                  <a:lnTo>
                    <a:pt x="6" y="30"/>
                  </a:lnTo>
                  <a:lnTo>
                    <a:pt x="0" y="48"/>
                  </a:lnTo>
                  <a:lnTo>
                    <a:pt x="6" y="66"/>
                  </a:lnTo>
                  <a:lnTo>
                    <a:pt x="12" y="78"/>
                  </a:lnTo>
                  <a:lnTo>
                    <a:pt x="24"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1" name="Freeform 83"/>
            <p:cNvSpPr/>
            <p:nvPr/>
          </p:nvSpPr>
          <p:spPr bwMode="auto">
            <a:xfrm>
              <a:off x="3960" y="1480"/>
              <a:ext cx="72" cy="90"/>
            </a:xfrm>
            <a:custGeom>
              <a:avLst/>
              <a:gdLst>
                <a:gd name="T0" fmla="*/ 36 w 72"/>
                <a:gd name="T1" fmla="*/ 90 h 90"/>
                <a:gd name="T2" fmla="*/ 54 w 72"/>
                <a:gd name="T3" fmla="*/ 90 h 90"/>
                <a:gd name="T4" fmla="*/ 66 w 72"/>
                <a:gd name="T5" fmla="*/ 78 h 90"/>
                <a:gd name="T6" fmla="*/ 72 w 72"/>
                <a:gd name="T7" fmla="*/ 48 h 90"/>
                <a:gd name="T8" fmla="*/ 66 w 72"/>
                <a:gd name="T9" fmla="*/ 18 h 90"/>
                <a:gd name="T10" fmla="*/ 54 w 72"/>
                <a:gd name="T11" fmla="*/ 6 h 90"/>
                <a:gd name="T12" fmla="*/ 36 w 72"/>
                <a:gd name="T13" fmla="*/ 0 h 90"/>
                <a:gd name="T14" fmla="*/ 24 w 72"/>
                <a:gd name="T15" fmla="*/ 6 h 90"/>
                <a:gd name="T16" fmla="*/ 12 w 72"/>
                <a:gd name="T17" fmla="*/ 18 h 90"/>
                <a:gd name="T18" fmla="*/ 6 w 72"/>
                <a:gd name="T19" fmla="*/ 30 h 90"/>
                <a:gd name="T20" fmla="*/ 0 w 72"/>
                <a:gd name="T21" fmla="*/ 48 h 90"/>
                <a:gd name="T22" fmla="*/ 6 w 72"/>
                <a:gd name="T23" fmla="*/ 66 h 90"/>
                <a:gd name="T24" fmla="*/ 12 w 72"/>
                <a:gd name="T25" fmla="*/ 78 h 90"/>
                <a:gd name="T26" fmla="*/ 24 w 72"/>
                <a:gd name="T27" fmla="*/ 90 h 90"/>
                <a:gd name="T28" fmla="*/ 36 w 72"/>
                <a:gd name="T29" fmla="*/ 90 h 90"/>
                <a:gd name="T30" fmla="*/ 36 w 72"/>
                <a:gd name="T31" fmla="*/ 90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90"/>
                <a:gd name="T50" fmla="*/ 72 w 72"/>
                <a:gd name="T51" fmla="*/ 90 h 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90">
                  <a:moveTo>
                    <a:pt x="36" y="90"/>
                  </a:moveTo>
                  <a:lnTo>
                    <a:pt x="54" y="90"/>
                  </a:lnTo>
                  <a:lnTo>
                    <a:pt x="66" y="78"/>
                  </a:lnTo>
                  <a:lnTo>
                    <a:pt x="72" y="48"/>
                  </a:lnTo>
                  <a:lnTo>
                    <a:pt x="66" y="18"/>
                  </a:lnTo>
                  <a:lnTo>
                    <a:pt x="54" y="6"/>
                  </a:lnTo>
                  <a:lnTo>
                    <a:pt x="36" y="0"/>
                  </a:lnTo>
                  <a:lnTo>
                    <a:pt x="24" y="6"/>
                  </a:lnTo>
                  <a:lnTo>
                    <a:pt x="12" y="18"/>
                  </a:lnTo>
                  <a:lnTo>
                    <a:pt x="6" y="30"/>
                  </a:lnTo>
                  <a:lnTo>
                    <a:pt x="0" y="48"/>
                  </a:lnTo>
                  <a:lnTo>
                    <a:pt x="6" y="66"/>
                  </a:lnTo>
                  <a:lnTo>
                    <a:pt x="12" y="78"/>
                  </a:lnTo>
                  <a:lnTo>
                    <a:pt x="24"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2" name="Freeform 84"/>
            <p:cNvSpPr/>
            <p:nvPr/>
          </p:nvSpPr>
          <p:spPr bwMode="auto">
            <a:xfrm>
              <a:off x="1287" y="1480"/>
              <a:ext cx="138" cy="84"/>
            </a:xfrm>
            <a:custGeom>
              <a:avLst/>
              <a:gdLst>
                <a:gd name="T0" fmla="*/ 0 w 138"/>
                <a:gd name="T1" fmla="*/ 84 h 84"/>
                <a:gd name="T2" fmla="*/ 138 w 138"/>
                <a:gd name="T3" fmla="*/ 42 h 84"/>
                <a:gd name="T4" fmla="*/ 0 w 138"/>
                <a:gd name="T5" fmla="*/ 0 h 84"/>
                <a:gd name="T6" fmla="*/ 0 w 138"/>
                <a:gd name="T7" fmla="*/ 84 h 84"/>
                <a:gd name="T8" fmla="*/ 0 w 138"/>
                <a:gd name="T9" fmla="*/ 84 h 84"/>
                <a:gd name="T10" fmla="*/ 0 60000 65536"/>
                <a:gd name="T11" fmla="*/ 0 60000 65536"/>
                <a:gd name="T12" fmla="*/ 0 60000 65536"/>
                <a:gd name="T13" fmla="*/ 0 60000 65536"/>
                <a:gd name="T14" fmla="*/ 0 60000 65536"/>
                <a:gd name="T15" fmla="*/ 0 w 138"/>
                <a:gd name="T16" fmla="*/ 0 h 84"/>
                <a:gd name="T17" fmla="*/ 138 w 138"/>
                <a:gd name="T18" fmla="*/ 84 h 84"/>
              </a:gdLst>
              <a:ahLst/>
              <a:cxnLst>
                <a:cxn ang="T10">
                  <a:pos x="T0" y="T1"/>
                </a:cxn>
                <a:cxn ang="T11">
                  <a:pos x="T2" y="T3"/>
                </a:cxn>
                <a:cxn ang="T12">
                  <a:pos x="T4" y="T5"/>
                </a:cxn>
                <a:cxn ang="T13">
                  <a:pos x="T6" y="T7"/>
                </a:cxn>
                <a:cxn ang="T14">
                  <a:pos x="T8" y="T9"/>
                </a:cxn>
              </a:cxnLst>
              <a:rect l="T15" t="T16" r="T17" b="T18"/>
              <a:pathLst>
                <a:path w="138" h="84">
                  <a:moveTo>
                    <a:pt x="0" y="84"/>
                  </a:moveTo>
                  <a:lnTo>
                    <a:pt x="138" y="42"/>
                  </a:lnTo>
                  <a:lnTo>
                    <a:pt x="0" y="0"/>
                  </a:lnTo>
                  <a:lnTo>
                    <a:pt x="0" y="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3" name="Freeform 85"/>
            <p:cNvSpPr/>
            <p:nvPr/>
          </p:nvSpPr>
          <p:spPr bwMode="auto">
            <a:xfrm>
              <a:off x="2764" y="1480"/>
              <a:ext cx="144" cy="84"/>
            </a:xfrm>
            <a:custGeom>
              <a:avLst/>
              <a:gdLst>
                <a:gd name="T0" fmla="*/ 0 w 144"/>
                <a:gd name="T1" fmla="*/ 84 h 84"/>
                <a:gd name="T2" fmla="*/ 144 w 144"/>
                <a:gd name="T3" fmla="*/ 42 h 84"/>
                <a:gd name="T4" fmla="*/ 0 w 144"/>
                <a:gd name="T5" fmla="*/ 0 h 84"/>
                <a:gd name="T6" fmla="*/ 0 w 144"/>
                <a:gd name="T7" fmla="*/ 84 h 84"/>
                <a:gd name="T8" fmla="*/ 0 w 144"/>
                <a:gd name="T9" fmla="*/ 84 h 84"/>
                <a:gd name="T10" fmla="*/ 0 60000 65536"/>
                <a:gd name="T11" fmla="*/ 0 60000 65536"/>
                <a:gd name="T12" fmla="*/ 0 60000 65536"/>
                <a:gd name="T13" fmla="*/ 0 60000 65536"/>
                <a:gd name="T14" fmla="*/ 0 60000 65536"/>
                <a:gd name="T15" fmla="*/ 0 w 144"/>
                <a:gd name="T16" fmla="*/ 0 h 84"/>
                <a:gd name="T17" fmla="*/ 144 w 144"/>
                <a:gd name="T18" fmla="*/ 84 h 84"/>
              </a:gdLst>
              <a:ahLst/>
              <a:cxnLst>
                <a:cxn ang="T10">
                  <a:pos x="T0" y="T1"/>
                </a:cxn>
                <a:cxn ang="T11">
                  <a:pos x="T2" y="T3"/>
                </a:cxn>
                <a:cxn ang="T12">
                  <a:pos x="T4" y="T5"/>
                </a:cxn>
                <a:cxn ang="T13">
                  <a:pos x="T6" y="T7"/>
                </a:cxn>
                <a:cxn ang="T14">
                  <a:pos x="T8" y="T9"/>
                </a:cxn>
              </a:cxnLst>
              <a:rect l="T15" t="T16" r="T17" b="T18"/>
              <a:pathLst>
                <a:path w="144" h="84">
                  <a:moveTo>
                    <a:pt x="0" y="84"/>
                  </a:moveTo>
                  <a:lnTo>
                    <a:pt x="144" y="42"/>
                  </a:lnTo>
                  <a:lnTo>
                    <a:pt x="0" y="0"/>
                  </a:lnTo>
                  <a:lnTo>
                    <a:pt x="0" y="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4" name="Freeform 86"/>
            <p:cNvSpPr/>
            <p:nvPr/>
          </p:nvSpPr>
          <p:spPr bwMode="auto">
            <a:xfrm>
              <a:off x="2495" y="1779"/>
              <a:ext cx="78" cy="161"/>
            </a:xfrm>
            <a:custGeom>
              <a:avLst/>
              <a:gdLst>
                <a:gd name="T0" fmla="*/ 0 w 78"/>
                <a:gd name="T1" fmla="*/ 0 h 161"/>
                <a:gd name="T2" fmla="*/ 36 w 78"/>
                <a:gd name="T3" fmla="*/ 161 h 161"/>
                <a:gd name="T4" fmla="*/ 78 w 78"/>
                <a:gd name="T5" fmla="*/ 0 h 161"/>
                <a:gd name="T6" fmla="*/ 0 w 78"/>
                <a:gd name="T7" fmla="*/ 0 h 161"/>
                <a:gd name="T8" fmla="*/ 0 w 78"/>
                <a:gd name="T9" fmla="*/ 0 h 161"/>
                <a:gd name="T10" fmla="*/ 0 60000 65536"/>
                <a:gd name="T11" fmla="*/ 0 60000 65536"/>
                <a:gd name="T12" fmla="*/ 0 60000 65536"/>
                <a:gd name="T13" fmla="*/ 0 60000 65536"/>
                <a:gd name="T14" fmla="*/ 0 60000 65536"/>
                <a:gd name="T15" fmla="*/ 0 w 78"/>
                <a:gd name="T16" fmla="*/ 0 h 161"/>
                <a:gd name="T17" fmla="*/ 78 w 78"/>
                <a:gd name="T18" fmla="*/ 161 h 161"/>
              </a:gdLst>
              <a:ahLst/>
              <a:cxnLst>
                <a:cxn ang="T10">
                  <a:pos x="T0" y="T1"/>
                </a:cxn>
                <a:cxn ang="T11">
                  <a:pos x="T2" y="T3"/>
                </a:cxn>
                <a:cxn ang="T12">
                  <a:pos x="T4" y="T5"/>
                </a:cxn>
                <a:cxn ang="T13">
                  <a:pos x="T6" y="T7"/>
                </a:cxn>
                <a:cxn ang="T14">
                  <a:pos x="T8" y="T9"/>
                </a:cxn>
              </a:cxnLst>
              <a:rect l="T15" t="T16" r="T17" b="T18"/>
              <a:pathLst>
                <a:path w="78" h="161">
                  <a:moveTo>
                    <a:pt x="0" y="0"/>
                  </a:moveTo>
                  <a:lnTo>
                    <a:pt x="36" y="161"/>
                  </a:lnTo>
                  <a:lnTo>
                    <a:pt x="78"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5" name="Freeform 87"/>
            <p:cNvSpPr/>
            <p:nvPr/>
          </p:nvSpPr>
          <p:spPr bwMode="auto">
            <a:xfrm>
              <a:off x="3960" y="1779"/>
              <a:ext cx="72" cy="161"/>
            </a:xfrm>
            <a:custGeom>
              <a:avLst/>
              <a:gdLst>
                <a:gd name="T0" fmla="*/ 0 w 72"/>
                <a:gd name="T1" fmla="*/ 0 h 161"/>
                <a:gd name="T2" fmla="*/ 36 w 72"/>
                <a:gd name="T3" fmla="*/ 161 h 161"/>
                <a:gd name="T4" fmla="*/ 72 w 72"/>
                <a:gd name="T5" fmla="*/ 0 h 161"/>
                <a:gd name="T6" fmla="*/ 0 w 72"/>
                <a:gd name="T7" fmla="*/ 0 h 161"/>
                <a:gd name="T8" fmla="*/ 0 w 72"/>
                <a:gd name="T9" fmla="*/ 0 h 161"/>
                <a:gd name="T10" fmla="*/ 0 60000 65536"/>
                <a:gd name="T11" fmla="*/ 0 60000 65536"/>
                <a:gd name="T12" fmla="*/ 0 60000 65536"/>
                <a:gd name="T13" fmla="*/ 0 60000 65536"/>
                <a:gd name="T14" fmla="*/ 0 60000 65536"/>
                <a:gd name="T15" fmla="*/ 0 w 72"/>
                <a:gd name="T16" fmla="*/ 0 h 161"/>
                <a:gd name="T17" fmla="*/ 72 w 72"/>
                <a:gd name="T18" fmla="*/ 161 h 161"/>
              </a:gdLst>
              <a:ahLst/>
              <a:cxnLst>
                <a:cxn ang="T10">
                  <a:pos x="T0" y="T1"/>
                </a:cxn>
                <a:cxn ang="T11">
                  <a:pos x="T2" y="T3"/>
                </a:cxn>
                <a:cxn ang="T12">
                  <a:pos x="T4" y="T5"/>
                </a:cxn>
                <a:cxn ang="T13">
                  <a:pos x="T6" y="T7"/>
                </a:cxn>
                <a:cxn ang="T14">
                  <a:pos x="T8" y="T9"/>
                </a:cxn>
              </a:cxnLst>
              <a:rect l="T15" t="T16" r="T17" b="T18"/>
              <a:pathLst>
                <a:path w="72" h="161">
                  <a:moveTo>
                    <a:pt x="0" y="0"/>
                  </a:moveTo>
                  <a:lnTo>
                    <a:pt x="36" y="161"/>
                  </a:lnTo>
                  <a:lnTo>
                    <a:pt x="72"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6" name="Freeform 88"/>
            <p:cNvSpPr/>
            <p:nvPr/>
          </p:nvSpPr>
          <p:spPr bwMode="auto">
            <a:xfrm>
              <a:off x="5378" y="1779"/>
              <a:ext cx="72" cy="161"/>
            </a:xfrm>
            <a:custGeom>
              <a:avLst/>
              <a:gdLst>
                <a:gd name="T0" fmla="*/ 0 w 72"/>
                <a:gd name="T1" fmla="*/ 0 h 161"/>
                <a:gd name="T2" fmla="*/ 36 w 72"/>
                <a:gd name="T3" fmla="*/ 161 h 161"/>
                <a:gd name="T4" fmla="*/ 72 w 72"/>
                <a:gd name="T5" fmla="*/ 0 h 161"/>
                <a:gd name="T6" fmla="*/ 0 w 72"/>
                <a:gd name="T7" fmla="*/ 0 h 161"/>
                <a:gd name="T8" fmla="*/ 0 w 72"/>
                <a:gd name="T9" fmla="*/ 0 h 161"/>
                <a:gd name="T10" fmla="*/ 0 60000 65536"/>
                <a:gd name="T11" fmla="*/ 0 60000 65536"/>
                <a:gd name="T12" fmla="*/ 0 60000 65536"/>
                <a:gd name="T13" fmla="*/ 0 60000 65536"/>
                <a:gd name="T14" fmla="*/ 0 60000 65536"/>
                <a:gd name="T15" fmla="*/ 0 w 72"/>
                <a:gd name="T16" fmla="*/ 0 h 161"/>
                <a:gd name="T17" fmla="*/ 72 w 72"/>
                <a:gd name="T18" fmla="*/ 161 h 161"/>
              </a:gdLst>
              <a:ahLst/>
              <a:cxnLst>
                <a:cxn ang="T10">
                  <a:pos x="T0" y="T1"/>
                </a:cxn>
                <a:cxn ang="T11">
                  <a:pos x="T2" y="T3"/>
                </a:cxn>
                <a:cxn ang="T12">
                  <a:pos x="T4" y="T5"/>
                </a:cxn>
                <a:cxn ang="T13">
                  <a:pos x="T6" y="T7"/>
                </a:cxn>
                <a:cxn ang="T14">
                  <a:pos x="T8" y="T9"/>
                </a:cxn>
              </a:cxnLst>
              <a:rect l="T15" t="T16" r="T17" b="T18"/>
              <a:pathLst>
                <a:path w="72" h="161">
                  <a:moveTo>
                    <a:pt x="0" y="0"/>
                  </a:moveTo>
                  <a:lnTo>
                    <a:pt x="36" y="161"/>
                  </a:lnTo>
                  <a:lnTo>
                    <a:pt x="72"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7" name="Freeform 89"/>
            <p:cNvSpPr/>
            <p:nvPr/>
          </p:nvSpPr>
          <p:spPr bwMode="auto">
            <a:xfrm>
              <a:off x="1634" y="1498"/>
              <a:ext cx="377" cy="54"/>
            </a:xfrm>
            <a:custGeom>
              <a:avLst/>
              <a:gdLst>
                <a:gd name="T0" fmla="*/ 0 w 377"/>
                <a:gd name="T1" fmla="*/ 54 h 54"/>
                <a:gd name="T2" fmla="*/ 0 w 377"/>
                <a:gd name="T3" fmla="*/ 0 h 54"/>
                <a:gd name="T4" fmla="*/ 377 w 377"/>
                <a:gd name="T5" fmla="*/ 0 h 54"/>
                <a:gd name="T6" fmla="*/ 377 w 377"/>
                <a:gd name="T7" fmla="*/ 54 h 54"/>
                <a:gd name="T8" fmla="*/ 0 w 377"/>
                <a:gd name="T9" fmla="*/ 54 h 54"/>
                <a:gd name="T10" fmla="*/ 0 w 377"/>
                <a:gd name="T11" fmla="*/ 54 h 54"/>
                <a:gd name="T12" fmla="*/ 0 60000 65536"/>
                <a:gd name="T13" fmla="*/ 0 60000 65536"/>
                <a:gd name="T14" fmla="*/ 0 60000 65536"/>
                <a:gd name="T15" fmla="*/ 0 60000 65536"/>
                <a:gd name="T16" fmla="*/ 0 60000 65536"/>
                <a:gd name="T17" fmla="*/ 0 60000 65536"/>
                <a:gd name="T18" fmla="*/ 0 w 377"/>
                <a:gd name="T19" fmla="*/ 0 h 54"/>
                <a:gd name="T20" fmla="*/ 377 w 377"/>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77" h="54">
                  <a:moveTo>
                    <a:pt x="0" y="54"/>
                  </a:moveTo>
                  <a:lnTo>
                    <a:pt x="0" y="0"/>
                  </a:lnTo>
                  <a:lnTo>
                    <a:pt x="377" y="0"/>
                  </a:lnTo>
                  <a:lnTo>
                    <a:pt x="377"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8" name="Freeform 90"/>
            <p:cNvSpPr/>
            <p:nvPr/>
          </p:nvSpPr>
          <p:spPr bwMode="auto">
            <a:xfrm>
              <a:off x="1987"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09" name="Freeform 91"/>
            <p:cNvSpPr>
              <a:spLocks noEditPoints="1"/>
            </p:cNvSpPr>
            <p:nvPr/>
          </p:nvSpPr>
          <p:spPr bwMode="auto">
            <a:xfrm>
              <a:off x="1963"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0" name="Freeform 92"/>
            <p:cNvSpPr>
              <a:spLocks noEditPoints="1"/>
            </p:cNvSpPr>
            <p:nvPr/>
          </p:nvSpPr>
          <p:spPr bwMode="auto">
            <a:xfrm>
              <a:off x="1939"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1" name="Freeform 93"/>
            <p:cNvSpPr>
              <a:spLocks noEditPoints="1"/>
            </p:cNvSpPr>
            <p:nvPr/>
          </p:nvSpPr>
          <p:spPr bwMode="auto">
            <a:xfrm>
              <a:off x="1915"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2" name="Freeform 94"/>
            <p:cNvSpPr>
              <a:spLocks noEditPoints="1"/>
            </p:cNvSpPr>
            <p:nvPr/>
          </p:nvSpPr>
          <p:spPr bwMode="auto">
            <a:xfrm>
              <a:off x="1915"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3" name="Freeform 95"/>
            <p:cNvSpPr>
              <a:spLocks noEditPoints="1"/>
            </p:cNvSpPr>
            <p:nvPr/>
          </p:nvSpPr>
          <p:spPr bwMode="auto">
            <a:xfrm>
              <a:off x="1891"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4" name="Freeform 96"/>
            <p:cNvSpPr>
              <a:spLocks noEditPoints="1"/>
            </p:cNvSpPr>
            <p:nvPr/>
          </p:nvSpPr>
          <p:spPr bwMode="auto">
            <a:xfrm>
              <a:off x="1867"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5" name="Freeform 97"/>
            <p:cNvSpPr>
              <a:spLocks noEditPoints="1"/>
            </p:cNvSpPr>
            <p:nvPr/>
          </p:nvSpPr>
          <p:spPr bwMode="auto">
            <a:xfrm>
              <a:off x="1843"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6" name="Freeform 98"/>
            <p:cNvSpPr>
              <a:spLocks noEditPoints="1"/>
            </p:cNvSpPr>
            <p:nvPr/>
          </p:nvSpPr>
          <p:spPr bwMode="auto">
            <a:xfrm>
              <a:off x="1819"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7" name="Freeform 99"/>
            <p:cNvSpPr>
              <a:spLocks noEditPoints="1"/>
            </p:cNvSpPr>
            <p:nvPr/>
          </p:nvSpPr>
          <p:spPr bwMode="auto">
            <a:xfrm>
              <a:off x="1796" y="1522"/>
              <a:ext cx="23" cy="66"/>
            </a:xfrm>
            <a:custGeom>
              <a:avLst/>
              <a:gdLst>
                <a:gd name="T0" fmla="*/ 23 w 23"/>
                <a:gd name="T1" fmla="*/ 0 h 66"/>
                <a:gd name="T2" fmla="*/ 0 w 23"/>
                <a:gd name="T3" fmla="*/ 66 h 66"/>
                <a:gd name="T4" fmla="*/ 23 w 23"/>
                <a:gd name="T5" fmla="*/ 0 h 66"/>
                <a:gd name="T6" fmla="*/ 23 w 23"/>
                <a:gd name="T7" fmla="*/ 0 h 66"/>
                <a:gd name="T8" fmla="*/ 23 w 23"/>
                <a:gd name="T9" fmla="*/ 0 h 66"/>
                <a:gd name="T10" fmla="*/ 23 w 23"/>
                <a:gd name="T11" fmla="*/ 0 h 66"/>
                <a:gd name="T12" fmla="*/ 23 w 23"/>
                <a:gd name="T13" fmla="*/ 0 h 66"/>
                <a:gd name="T14" fmla="*/ 0 60000 65536"/>
                <a:gd name="T15" fmla="*/ 0 60000 65536"/>
                <a:gd name="T16" fmla="*/ 0 60000 65536"/>
                <a:gd name="T17" fmla="*/ 0 60000 65536"/>
                <a:gd name="T18" fmla="*/ 0 60000 65536"/>
                <a:gd name="T19" fmla="*/ 0 60000 65536"/>
                <a:gd name="T20" fmla="*/ 0 60000 65536"/>
                <a:gd name="T21" fmla="*/ 0 w 23"/>
                <a:gd name="T22" fmla="*/ 0 h 66"/>
                <a:gd name="T23" fmla="*/ 23 w 23"/>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6">
                  <a:moveTo>
                    <a:pt x="23" y="0"/>
                  </a:moveTo>
                  <a:lnTo>
                    <a:pt x="0" y="66"/>
                  </a:lnTo>
                  <a:lnTo>
                    <a:pt x="23" y="0"/>
                  </a:lnTo>
                  <a:close/>
                  <a:moveTo>
                    <a:pt x="23" y="0"/>
                  </a:moveTo>
                  <a:lnTo>
                    <a:pt x="23"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8" name="Freeform 100"/>
            <p:cNvSpPr>
              <a:spLocks noEditPoints="1"/>
            </p:cNvSpPr>
            <p:nvPr/>
          </p:nvSpPr>
          <p:spPr bwMode="auto">
            <a:xfrm>
              <a:off x="1772"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19" name="Freeform 101"/>
            <p:cNvSpPr>
              <a:spLocks noEditPoints="1"/>
            </p:cNvSpPr>
            <p:nvPr/>
          </p:nvSpPr>
          <p:spPr bwMode="auto">
            <a:xfrm>
              <a:off x="1748"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0" name="Freeform 102"/>
            <p:cNvSpPr>
              <a:spLocks noEditPoints="1"/>
            </p:cNvSpPr>
            <p:nvPr/>
          </p:nvSpPr>
          <p:spPr bwMode="auto">
            <a:xfrm>
              <a:off x="1724"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1" name="Freeform 103"/>
            <p:cNvSpPr>
              <a:spLocks noEditPoints="1"/>
            </p:cNvSpPr>
            <p:nvPr/>
          </p:nvSpPr>
          <p:spPr bwMode="auto">
            <a:xfrm>
              <a:off x="1706" y="1522"/>
              <a:ext cx="18" cy="66"/>
            </a:xfrm>
            <a:custGeom>
              <a:avLst/>
              <a:gdLst>
                <a:gd name="T0" fmla="*/ 18 w 18"/>
                <a:gd name="T1" fmla="*/ 0 h 66"/>
                <a:gd name="T2" fmla="*/ 0 w 18"/>
                <a:gd name="T3" fmla="*/ 66 h 66"/>
                <a:gd name="T4" fmla="*/ 18 w 18"/>
                <a:gd name="T5" fmla="*/ 0 h 66"/>
                <a:gd name="T6" fmla="*/ 18 w 18"/>
                <a:gd name="T7" fmla="*/ 0 h 66"/>
                <a:gd name="T8" fmla="*/ 18 w 18"/>
                <a:gd name="T9" fmla="*/ 0 h 66"/>
                <a:gd name="T10" fmla="*/ 18 w 18"/>
                <a:gd name="T11" fmla="*/ 0 h 66"/>
                <a:gd name="T12" fmla="*/ 18 w 18"/>
                <a:gd name="T13" fmla="*/ 0 h 66"/>
                <a:gd name="T14" fmla="*/ 0 60000 65536"/>
                <a:gd name="T15" fmla="*/ 0 60000 65536"/>
                <a:gd name="T16" fmla="*/ 0 60000 65536"/>
                <a:gd name="T17" fmla="*/ 0 60000 65536"/>
                <a:gd name="T18" fmla="*/ 0 60000 65536"/>
                <a:gd name="T19" fmla="*/ 0 60000 65536"/>
                <a:gd name="T20" fmla="*/ 0 60000 65536"/>
                <a:gd name="T21" fmla="*/ 0 w 18"/>
                <a:gd name="T22" fmla="*/ 0 h 66"/>
                <a:gd name="T23" fmla="*/ 18 w 18"/>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66">
                  <a:moveTo>
                    <a:pt x="18" y="0"/>
                  </a:moveTo>
                  <a:lnTo>
                    <a:pt x="0" y="66"/>
                  </a:lnTo>
                  <a:lnTo>
                    <a:pt x="18" y="0"/>
                  </a:lnTo>
                  <a:close/>
                  <a:moveTo>
                    <a:pt x="18" y="0"/>
                  </a:moveTo>
                  <a:lnTo>
                    <a:pt x="18"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2" name="Freeform 104"/>
            <p:cNvSpPr>
              <a:spLocks noEditPoints="1"/>
            </p:cNvSpPr>
            <p:nvPr/>
          </p:nvSpPr>
          <p:spPr bwMode="auto">
            <a:xfrm>
              <a:off x="1682"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3" name="Freeform 105"/>
            <p:cNvSpPr>
              <a:spLocks noEditPoints="1"/>
            </p:cNvSpPr>
            <p:nvPr/>
          </p:nvSpPr>
          <p:spPr bwMode="auto">
            <a:xfrm>
              <a:off x="1658"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4" name="Freeform 106"/>
            <p:cNvSpPr>
              <a:spLocks noEditPoints="1"/>
            </p:cNvSpPr>
            <p:nvPr/>
          </p:nvSpPr>
          <p:spPr bwMode="auto">
            <a:xfrm>
              <a:off x="1628" y="1456"/>
              <a:ext cx="30" cy="72"/>
            </a:xfrm>
            <a:custGeom>
              <a:avLst/>
              <a:gdLst>
                <a:gd name="T0" fmla="*/ 30 w 30"/>
                <a:gd name="T1" fmla="*/ 0 h 72"/>
                <a:gd name="T2" fmla="*/ 0 w 30"/>
                <a:gd name="T3" fmla="*/ 72 h 72"/>
                <a:gd name="T4" fmla="*/ 30 w 30"/>
                <a:gd name="T5" fmla="*/ 0 h 72"/>
                <a:gd name="T6" fmla="*/ 30 w 30"/>
                <a:gd name="T7" fmla="*/ 0 h 72"/>
                <a:gd name="T8" fmla="*/ 30 w 30"/>
                <a:gd name="T9" fmla="*/ 0 h 72"/>
                <a:gd name="T10" fmla="*/ 30 w 30"/>
                <a:gd name="T11" fmla="*/ 0 h 72"/>
                <a:gd name="T12" fmla="*/ 30 w 30"/>
                <a:gd name="T13" fmla="*/ 0 h 72"/>
                <a:gd name="T14" fmla="*/ 0 60000 65536"/>
                <a:gd name="T15" fmla="*/ 0 60000 65536"/>
                <a:gd name="T16" fmla="*/ 0 60000 65536"/>
                <a:gd name="T17" fmla="*/ 0 60000 65536"/>
                <a:gd name="T18" fmla="*/ 0 60000 65536"/>
                <a:gd name="T19" fmla="*/ 0 60000 65536"/>
                <a:gd name="T20" fmla="*/ 0 60000 65536"/>
                <a:gd name="T21" fmla="*/ 0 w 30"/>
                <a:gd name="T22" fmla="*/ 0 h 72"/>
                <a:gd name="T23" fmla="*/ 30 w 30"/>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2">
                  <a:moveTo>
                    <a:pt x="30" y="0"/>
                  </a:moveTo>
                  <a:lnTo>
                    <a:pt x="0" y="72"/>
                  </a:lnTo>
                  <a:lnTo>
                    <a:pt x="30" y="0"/>
                  </a:lnTo>
                  <a:close/>
                  <a:moveTo>
                    <a:pt x="30" y="0"/>
                  </a:moveTo>
                  <a:lnTo>
                    <a:pt x="3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5" name="Freeform 107"/>
            <p:cNvSpPr/>
            <p:nvPr/>
          </p:nvSpPr>
          <p:spPr bwMode="auto">
            <a:xfrm>
              <a:off x="2507" y="2137"/>
              <a:ext cx="48" cy="424"/>
            </a:xfrm>
            <a:custGeom>
              <a:avLst/>
              <a:gdLst>
                <a:gd name="T0" fmla="*/ 0 w 48"/>
                <a:gd name="T1" fmla="*/ 0 h 424"/>
                <a:gd name="T2" fmla="*/ 48 w 48"/>
                <a:gd name="T3" fmla="*/ 0 h 424"/>
                <a:gd name="T4" fmla="*/ 48 w 48"/>
                <a:gd name="T5" fmla="*/ 424 h 424"/>
                <a:gd name="T6" fmla="*/ 0 w 48"/>
                <a:gd name="T7" fmla="*/ 424 h 424"/>
                <a:gd name="T8" fmla="*/ 0 w 48"/>
                <a:gd name="T9" fmla="*/ 0 h 424"/>
                <a:gd name="T10" fmla="*/ 0 w 48"/>
                <a:gd name="T11" fmla="*/ 0 h 424"/>
                <a:gd name="T12" fmla="*/ 0 60000 65536"/>
                <a:gd name="T13" fmla="*/ 0 60000 65536"/>
                <a:gd name="T14" fmla="*/ 0 60000 65536"/>
                <a:gd name="T15" fmla="*/ 0 60000 65536"/>
                <a:gd name="T16" fmla="*/ 0 60000 65536"/>
                <a:gd name="T17" fmla="*/ 0 60000 65536"/>
                <a:gd name="T18" fmla="*/ 0 w 48"/>
                <a:gd name="T19" fmla="*/ 0 h 424"/>
                <a:gd name="T20" fmla="*/ 48 w 48"/>
                <a:gd name="T21" fmla="*/ 424 h 424"/>
              </a:gdLst>
              <a:ahLst/>
              <a:cxnLst>
                <a:cxn ang="T12">
                  <a:pos x="T0" y="T1"/>
                </a:cxn>
                <a:cxn ang="T13">
                  <a:pos x="T2" y="T3"/>
                </a:cxn>
                <a:cxn ang="T14">
                  <a:pos x="T4" y="T5"/>
                </a:cxn>
                <a:cxn ang="T15">
                  <a:pos x="T6" y="T7"/>
                </a:cxn>
                <a:cxn ang="T16">
                  <a:pos x="T8" y="T9"/>
                </a:cxn>
                <a:cxn ang="T17">
                  <a:pos x="T10" y="T11"/>
                </a:cxn>
              </a:cxnLst>
              <a:rect l="T18" t="T19" r="T20" b="T21"/>
              <a:pathLst>
                <a:path w="48" h="424">
                  <a:moveTo>
                    <a:pt x="0" y="0"/>
                  </a:moveTo>
                  <a:lnTo>
                    <a:pt x="48" y="0"/>
                  </a:lnTo>
                  <a:lnTo>
                    <a:pt x="48" y="424"/>
                  </a:lnTo>
                  <a:lnTo>
                    <a:pt x="0" y="424"/>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6" name="Freeform 108"/>
            <p:cNvSpPr/>
            <p:nvPr/>
          </p:nvSpPr>
          <p:spPr bwMode="auto">
            <a:xfrm>
              <a:off x="2477" y="2537"/>
              <a:ext cx="60" cy="30"/>
            </a:xfrm>
            <a:custGeom>
              <a:avLst/>
              <a:gdLst>
                <a:gd name="T0" fmla="*/ 60 w 60"/>
                <a:gd name="T1" fmla="*/ 30 h 30"/>
                <a:gd name="T2" fmla="*/ 0 w 60"/>
                <a:gd name="T3" fmla="*/ 0 h 30"/>
                <a:gd name="T4" fmla="*/ 60 w 60"/>
                <a:gd name="T5" fmla="*/ 30 h 30"/>
                <a:gd name="T6" fmla="*/ 60 w 60"/>
                <a:gd name="T7" fmla="*/ 30 h 30"/>
                <a:gd name="T8" fmla="*/ 0 60000 65536"/>
                <a:gd name="T9" fmla="*/ 0 60000 65536"/>
                <a:gd name="T10" fmla="*/ 0 60000 65536"/>
                <a:gd name="T11" fmla="*/ 0 60000 65536"/>
                <a:gd name="T12" fmla="*/ 0 w 60"/>
                <a:gd name="T13" fmla="*/ 0 h 30"/>
                <a:gd name="T14" fmla="*/ 60 w 60"/>
                <a:gd name="T15" fmla="*/ 30 h 30"/>
              </a:gdLst>
              <a:ahLst/>
              <a:cxnLst>
                <a:cxn ang="T8">
                  <a:pos x="T0" y="T1"/>
                </a:cxn>
                <a:cxn ang="T9">
                  <a:pos x="T2" y="T3"/>
                </a:cxn>
                <a:cxn ang="T10">
                  <a:pos x="T4" y="T5"/>
                </a:cxn>
                <a:cxn ang="T11">
                  <a:pos x="T6" y="T7"/>
                </a:cxn>
              </a:cxnLst>
              <a:rect l="T12" t="T13" r="T14" b="T15"/>
              <a:pathLst>
                <a:path w="60" h="30">
                  <a:moveTo>
                    <a:pt x="60" y="30"/>
                  </a:moveTo>
                  <a:lnTo>
                    <a:pt x="0" y="0"/>
                  </a:ln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7" name="Freeform 109"/>
            <p:cNvSpPr>
              <a:spLocks noEditPoints="1"/>
            </p:cNvSpPr>
            <p:nvPr/>
          </p:nvSpPr>
          <p:spPr bwMode="auto">
            <a:xfrm>
              <a:off x="2477" y="2513"/>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8" name="Freeform 110"/>
            <p:cNvSpPr>
              <a:spLocks noEditPoints="1"/>
            </p:cNvSpPr>
            <p:nvPr/>
          </p:nvSpPr>
          <p:spPr bwMode="auto">
            <a:xfrm>
              <a:off x="2537" y="2483"/>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29" name="Freeform 111"/>
            <p:cNvSpPr>
              <a:spLocks noEditPoints="1"/>
            </p:cNvSpPr>
            <p:nvPr/>
          </p:nvSpPr>
          <p:spPr bwMode="auto">
            <a:xfrm>
              <a:off x="2537" y="2460"/>
              <a:ext cx="54" cy="23"/>
            </a:xfrm>
            <a:custGeom>
              <a:avLst/>
              <a:gdLst>
                <a:gd name="T0" fmla="*/ 54 w 54"/>
                <a:gd name="T1" fmla="*/ 23 h 23"/>
                <a:gd name="T2" fmla="*/ 0 w 54"/>
                <a:gd name="T3" fmla="*/ 0 h 23"/>
                <a:gd name="T4" fmla="*/ 54 w 54"/>
                <a:gd name="T5" fmla="*/ 23 h 23"/>
                <a:gd name="T6" fmla="*/ 54 w 54"/>
                <a:gd name="T7" fmla="*/ 23 h 23"/>
                <a:gd name="T8" fmla="*/ 54 w 54"/>
                <a:gd name="T9" fmla="*/ 23 h 23"/>
                <a:gd name="T10" fmla="*/ 54 w 54"/>
                <a:gd name="T11" fmla="*/ 23 h 23"/>
                <a:gd name="T12" fmla="*/ 54 w 54"/>
                <a:gd name="T13" fmla="*/ 23 h 23"/>
                <a:gd name="T14" fmla="*/ 0 60000 65536"/>
                <a:gd name="T15" fmla="*/ 0 60000 65536"/>
                <a:gd name="T16" fmla="*/ 0 60000 65536"/>
                <a:gd name="T17" fmla="*/ 0 60000 65536"/>
                <a:gd name="T18" fmla="*/ 0 60000 65536"/>
                <a:gd name="T19" fmla="*/ 0 60000 65536"/>
                <a:gd name="T20" fmla="*/ 0 60000 65536"/>
                <a:gd name="T21" fmla="*/ 0 w 54"/>
                <a:gd name="T22" fmla="*/ 0 h 23"/>
                <a:gd name="T23" fmla="*/ 54 w 5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3">
                  <a:moveTo>
                    <a:pt x="54" y="23"/>
                  </a:moveTo>
                  <a:lnTo>
                    <a:pt x="0" y="0"/>
                  </a:lnTo>
                  <a:lnTo>
                    <a:pt x="54" y="23"/>
                  </a:lnTo>
                  <a:close/>
                  <a:moveTo>
                    <a:pt x="54" y="23"/>
                  </a:moveTo>
                  <a:lnTo>
                    <a:pt x="54"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0" name="Freeform 112"/>
            <p:cNvSpPr>
              <a:spLocks noEditPoints="1"/>
            </p:cNvSpPr>
            <p:nvPr/>
          </p:nvSpPr>
          <p:spPr bwMode="auto">
            <a:xfrm>
              <a:off x="2537"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1" name="Freeform 113"/>
            <p:cNvSpPr>
              <a:spLocks noEditPoints="1"/>
            </p:cNvSpPr>
            <p:nvPr/>
          </p:nvSpPr>
          <p:spPr bwMode="auto">
            <a:xfrm>
              <a:off x="2477" y="2430"/>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2" name="Freeform 114"/>
            <p:cNvSpPr>
              <a:spLocks noEditPoints="1"/>
            </p:cNvSpPr>
            <p:nvPr/>
          </p:nvSpPr>
          <p:spPr bwMode="auto">
            <a:xfrm>
              <a:off x="2477" y="2406"/>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3" name="Freeform 115"/>
            <p:cNvSpPr>
              <a:spLocks noEditPoints="1"/>
            </p:cNvSpPr>
            <p:nvPr/>
          </p:nvSpPr>
          <p:spPr bwMode="auto">
            <a:xfrm>
              <a:off x="2537" y="237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4" name="Freeform 116"/>
            <p:cNvSpPr>
              <a:spLocks noEditPoints="1"/>
            </p:cNvSpPr>
            <p:nvPr/>
          </p:nvSpPr>
          <p:spPr bwMode="auto">
            <a:xfrm>
              <a:off x="2537" y="2352"/>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5" name="Freeform 117"/>
            <p:cNvSpPr>
              <a:spLocks noEditPoints="1"/>
            </p:cNvSpPr>
            <p:nvPr/>
          </p:nvSpPr>
          <p:spPr bwMode="auto">
            <a:xfrm>
              <a:off x="2477" y="2322"/>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6" name="Freeform 118"/>
            <p:cNvSpPr>
              <a:spLocks noEditPoints="1"/>
            </p:cNvSpPr>
            <p:nvPr/>
          </p:nvSpPr>
          <p:spPr bwMode="auto">
            <a:xfrm>
              <a:off x="2477" y="2292"/>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7" name="Freeform 119"/>
            <p:cNvSpPr>
              <a:spLocks noEditPoints="1"/>
            </p:cNvSpPr>
            <p:nvPr/>
          </p:nvSpPr>
          <p:spPr bwMode="auto">
            <a:xfrm>
              <a:off x="2537" y="2268"/>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8" name="Freeform 120"/>
            <p:cNvSpPr>
              <a:spLocks noEditPoints="1"/>
            </p:cNvSpPr>
            <p:nvPr/>
          </p:nvSpPr>
          <p:spPr bwMode="auto">
            <a:xfrm>
              <a:off x="2537" y="2239"/>
              <a:ext cx="54" cy="29"/>
            </a:xfrm>
            <a:custGeom>
              <a:avLst/>
              <a:gdLst>
                <a:gd name="T0" fmla="*/ 54 w 54"/>
                <a:gd name="T1" fmla="*/ 29 h 29"/>
                <a:gd name="T2" fmla="*/ 0 w 54"/>
                <a:gd name="T3" fmla="*/ 0 h 29"/>
                <a:gd name="T4" fmla="*/ 54 w 54"/>
                <a:gd name="T5" fmla="*/ 29 h 29"/>
                <a:gd name="T6" fmla="*/ 54 w 54"/>
                <a:gd name="T7" fmla="*/ 29 h 29"/>
                <a:gd name="T8" fmla="*/ 54 w 54"/>
                <a:gd name="T9" fmla="*/ 29 h 29"/>
                <a:gd name="T10" fmla="*/ 54 w 54"/>
                <a:gd name="T11" fmla="*/ 29 h 29"/>
                <a:gd name="T12" fmla="*/ 54 w 54"/>
                <a:gd name="T13" fmla="*/ 29 h 29"/>
                <a:gd name="T14" fmla="*/ 0 60000 65536"/>
                <a:gd name="T15" fmla="*/ 0 60000 65536"/>
                <a:gd name="T16" fmla="*/ 0 60000 65536"/>
                <a:gd name="T17" fmla="*/ 0 60000 65536"/>
                <a:gd name="T18" fmla="*/ 0 60000 65536"/>
                <a:gd name="T19" fmla="*/ 0 60000 65536"/>
                <a:gd name="T20" fmla="*/ 0 60000 65536"/>
                <a:gd name="T21" fmla="*/ 0 w 54"/>
                <a:gd name="T22" fmla="*/ 0 h 29"/>
                <a:gd name="T23" fmla="*/ 54 w 5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9">
                  <a:moveTo>
                    <a:pt x="54" y="29"/>
                  </a:moveTo>
                  <a:lnTo>
                    <a:pt x="0" y="0"/>
                  </a:lnTo>
                  <a:lnTo>
                    <a:pt x="54" y="29"/>
                  </a:lnTo>
                  <a:close/>
                  <a:moveTo>
                    <a:pt x="54" y="29"/>
                  </a:moveTo>
                  <a:lnTo>
                    <a:pt x="54"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39" name="Freeform 121"/>
            <p:cNvSpPr>
              <a:spLocks noEditPoints="1"/>
            </p:cNvSpPr>
            <p:nvPr/>
          </p:nvSpPr>
          <p:spPr bwMode="auto">
            <a:xfrm>
              <a:off x="2477" y="2215"/>
              <a:ext cx="60" cy="24"/>
            </a:xfrm>
            <a:custGeom>
              <a:avLst/>
              <a:gdLst>
                <a:gd name="T0" fmla="*/ 60 w 60"/>
                <a:gd name="T1" fmla="*/ 24 h 24"/>
                <a:gd name="T2" fmla="*/ 0 w 60"/>
                <a:gd name="T3" fmla="*/ 0 h 24"/>
                <a:gd name="T4" fmla="*/ 60 w 60"/>
                <a:gd name="T5" fmla="*/ 24 h 24"/>
                <a:gd name="T6" fmla="*/ 60 w 60"/>
                <a:gd name="T7" fmla="*/ 24 h 24"/>
                <a:gd name="T8" fmla="*/ 60 w 60"/>
                <a:gd name="T9" fmla="*/ 24 h 24"/>
                <a:gd name="T10" fmla="*/ 60 w 60"/>
                <a:gd name="T11" fmla="*/ 24 h 24"/>
                <a:gd name="T12" fmla="*/ 6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60" y="24"/>
                  </a:moveTo>
                  <a:lnTo>
                    <a:pt x="0" y="0"/>
                  </a:lnTo>
                  <a:lnTo>
                    <a:pt x="60" y="24"/>
                  </a:lnTo>
                  <a:close/>
                  <a:moveTo>
                    <a:pt x="60" y="24"/>
                  </a:moveTo>
                  <a:lnTo>
                    <a:pt x="6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0" name="Freeform 122"/>
            <p:cNvSpPr>
              <a:spLocks noEditPoints="1"/>
            </p:cNvSpPr>
            <p:nvPr/>
          </p:nvSpPr>
          <p:spPr bwMode="auto">
            <a:xfrm>
              <a:off x="2477" y="2185"/>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1" name="Freeform 123"/>
            <p:cNvSpPr>
              <a:spLocks noEditPoints="1"/>
            </p:cNvSpPr>
            <p:nvPr/>
          </p:nvSpPr>
          <p:spPr bwMode="auto">
            <a:xfrm>
              <a:off x="2537" y="2161"/>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2" name="Freeform 124"/>
            <p:cNvSpPr>
              <a:spLocks noEditPoints="1"/>
            </p:cNvSpPr>
            <p:nvPr/>
          </p:nvSpPr>
          <p:spPr bwMode="auto">
            <a:xfrm>
              <a:off x="2531"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3" name="Freeform 125"/>
            <p:cNvSpPr/>
            <p:nvPr/>
          </p:nvSpPr>
          <p:spPr bwMode="auto">
            <a:xfrm>
              <a:off x="3972" y="2137"/>
              <a:ext cx="48" cy="424"/>
            </a:xfrm>
            <a:custGeom>
              <a:avLst/>
              <a:gdLst>
                <a:gd name="T0" fmla="*/ 0 w 48"/>
                <a:gd name="T1" fmla="*/ 0 h 424"/>
                <a:gd name="T2" fmla="*/ 48 w 48"/>
                <a:gd name="T3" fmla="*/ 0 h 424"/>
                <a:gd name="T4" fmla="*/ 48 w 48"/>
                <a:gd name="T5" fmla="*/ 424 h 424"/>
                <a:gd name="T6" fmla="*/ 0 w 48"/>
                <a:gd name="T7" fmla="*/ 424 h 424"/>
                <a:gd name="T8" fmla="*/ 0 w 48"/>
                <a:gd name="T9" fmla="*/ 0 h 424"/>
                <a:gd name="T10" fmla="*/ 0 w 48"/>
                <a:gd name="T11" fmla="*/ 0 h 424"/>
                <a:gd name="T12" fmla="*/ 0 60000 65536"/>
                <a:gd name="T13" fmla="*/ 0 60000 65536"/>
                <a:gd name="T14" fmla="*/ 0 60000 65536"/>
                <a:gd name="T15" fmla="*/ 0 60000 65536"/>
                <a:gd name="T16" fmla="*/ 0 60000 65536"/>
                <a:gd name="T17" fmla="*/ 0 60000 65536"/>
                <a:gd name="T18" fmla="*/ 0 w 48"/>
                <a:gd name="T19" fmla="*/ 0 h 424"/>
                <a:gd name="T20" fmla="*/ 48 w 48"/>
                <a:gd name="T21" fmla="*/ 424 h 424"/>
              </a:gdLst>
              <a:ahLst/>
              <a:cxnLst>
                <a:cxn ang="T12">
                  <a:pos x="T0" y="T1"/>
                </a:cxn>
                <a:cxn ang="T13">
                  <a:pos x="T2" y="T3"/>
                </a:cxn>
                <a:cxn ang="T14">
                  <a:pos x="T4" y="T5"/>
                </a:cxn>
                <a:cxn ang="T15">
                  <a:pos x="T6" y="T7"/>
                </a:cxn>
                <a:cxn ang="T16">
                  <a:pos x="T8" y="T9"/>
                </a:cxn>
                <a:cxn ang="T17">
                  <a:pos x="T10" y="T11"/>
                </a:cxn>
              </a:cxnLst>
              <a:rect l="T18" t="T19" r="T20" b="T21"/>
              <a:pathLst>
                <a:path w="48" h="424">
                  <a:moveTo>
                    <a:pt x="0" y="0"/>
                  </a:moveTo>
                  <a:lnTo>
                    <a:pt x="48" y="0"/>
                  </a:lnTo>
                  <a:lnTo>
                    <a:pt x="48" y="424"/>
                  </a:lnTo>
                  <a:lnTo>
                    <a:pt x="0" y="424"/>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4" name="Freeform 126"/>
            <p:cNvSpPr/>
            <p:nvPr/>
          </p:nvSpPr>
          <p:spPr bwMode="auto">
            <a:xfrm>
              <a:off x="3943" y="2543"/>
              <a:ext cx="59" cy="24"/>
            </a:xfrm>
            <a:custGeom>
              <a:avLst/>
              <a:gdLst>
                <a:gd name="T0" fmla="*/ 59 w 59"/>
                <a:gd name="T1" fmla="*/ 24 h 24"/>
                <a:gd name="T2" fmla="*/ 0 w 59"/>
                <a:gd name="T3" fmla="*/ 0 h 24"/>
                <a:gd name="T4" fmla="*/ 59 w 59"/>
                <a:gd name="T5" fmla="*/ 24 h 24"/>
                <a:gd name="T6" fmla="*/ 59 w 59"/>
                <a:gd name="T7" fmla="*/ 24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59" y="24"/>
                  </a:moveTo>
                  <a:lnTo>
                    <a:pt x="0" y="0"/>
                  </a:lnTo>
                  <a:lnTo>
                    <a:pt x="59"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5" name="Freeform 127"/>
            <p:cNvSpPr>
              <a:spLocks noEditPoints="1"/>
            </p:cNvSpPr>
            <p:nvPr/>
          </p:nvSpPr>
          <p:spPr bwMode="auto">
            <a:xfrm>
              <a:off x="3943" y="2513"/>
              <a:ext cx="59" cy="30"/>
            </a:xfrm>
            <a:custGeom>
              <a:avLst/>
              <a:gdLst>
                <a:gd name="T0" fmla="*/ 0 w 59"/>
                <a:gd name="T1" fmla="*/ 30 h 30"/>
                <a:gd name="T2" fmla="*/ 59 w 59"/>
                <a:gd name="T3" fmla="*/ 0 h 30"/>
                <a:gd name="T4" fmla="*/ 0 w 59"/>
                <a:gd name="T5" fmla="*/ 30 h 30"/>
                <a:gd name="T6" fmla="*/ 0 w 59"/>
                <a:gd name="T7" fmla="*/ 30 h 30"/>
                <a:gd name="T8" fmla="*/ 0 w 59"/>
                <a:gd name="T9" fmla="*/ 30 h 30"/>
                <a:gd name="T10" fmla="*/ 0 w 59"/>
                <a:gd name="T11" fmla="*/ 30 h 30"/>
                <a:gd name="T12" fmla="*/ 0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0" y="30"/>
                  </a:moveTo>
                  <a:lnTo>
                    <a:pt x="59"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6" name="Freeform 128"/>
            <p:cNvSpPr>
              <a:spLocks noEditPoints="1"/>
            </p:cNvSpPr>
            <p:nvPr/>
          </p:nvSpPr>
          <p:spPr bwMode="auto">
            <a:xfrm>
              <a:off x="4002" y="2489"/>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7" name="Freeform 129"/>
            <p:cNvSpPr>
              <a:spLocks noEditPoints="1"/>
            </p:cNvSpPr>
            <p:nvPr/>
          </p:nvSpPr>
          <p:spPr bwMode="auto">
            <a:xfrm>
              <a:off x="4002" y="2460"/>
              <a:ext cx="54" cy="29"/>
            </a:xfrm>
            <a:custGeom>
              <a:avLst/>
              <a:gdLst>
                <a:gd name="T0" fmla="*/ 54 w 54"/>
                <a:gd name="T1" fmla="*/ 29 h 29"/>
                <a:gd name="T2" fmla="*/ 0 w 54"/>
                <a:gd name="T3" fmla="*/ 0 h 29"/>
                <a:gd name="T4" fmla="*/ 54 w 54"/>
                <a:gd name="T5" fmla="*/ 29 h 29"/>
                <a:gd name="T6" fmla="*/ 54 w 54"/>
                <a:gd name="T7" fmla="*/ 29 h 29"/>
                <a:gd name="T8" fmla="*/ 54 w 54"/>
                <a:gd name="T9" fmla="*/ 29 h 29"/>
                <a:gd name="T10" fmla="*/ 54 w 54"/>
                <a:gd name="T11" fmla="*/ 29 h 29"/>
                <a:gd name="T12" fmla="*/ 54 w 54"/>
                <a:gd name="T13" fmla="*/ 29 h 29"/>
                <a:gd name="T14" fmla="*/ 0 60000 65536"/>
                <a:gd name="T15" fmla="*/ 0 60000 65536"/>
                <a:gd name="T16" fmla="*/ 0 60000 65536"/>
                <a:gd name="T17" fmla="*/ 0 60000 65536"/>
                <a:gd name="T18" fmla="*/ 0 60000 65536"/>
                <a:gd name="T19" fmla="*/ 0 60000 65536"/>
                <a:gd name="T20" fmla="*/ 0 60000 65536"/>
                <a:gd name="T21" fmla="*/ 0 w 54"/>
                <a:gd name="T22" fmla="*/ 0 h 29"/>
                <a:gd name="T23" fmla="*/ 54 w 5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9">
                  <a:moveTo>
                    <a:pt x="54" y="29"/>
                  </a:moveTo>
                  <a:lnTo>
                    <a:pt x="0" y="0"/>
                  </a:lnTo>
                  <a:lnTo>
                    <a:pt x="54" y="29"/>
                  </a:lnTo>
                  <a:close/>
                  <a:moveTo>
                    <a:pt x="54" y="29"/>
                  </a:moveTo>
                  <a:lnTo>
                    <a:pt x="54"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8" name="Freeform 130"/>
            <p:cNvSpPr>
              <a:spLocks noEditPoints="1"/>
            </p:cNvSpPr>
            <p:nvPr/>
          </p:nvSpPr>
          <p:spPr bwMode="auto">
            <a:xfrm>
              <a:off x="4002"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49" name="Freeform 131"/>
            <p:cNvSpPr>
              <a:spLocks noEditPoints="1"/>
            </p:cNvSpPr>
            <p:nvPr/>
          </p:nvSpPr>
          <p:spPr bwMode="auto">
            <a:xfrm>
              <a:off x="3943" y="2436"/>
              <a:ext cx="59" cy="24"/>
            </a:xfrm>
            <a:custGeom>
              <a:avLst/>
              <a:gdLst>
                <a:gd name="T0" fmla="*/ 59 w 59"/>
                <a:gd name="T1" fmla="*/ 24 h 24"/>
                <a:gd name="T2" fmla="*/ 0 w 59"/>
                <a:gd name="T3" fmla="*/ 0 h 24"/>
                <a:gd name="T4" fmla="*/ 59 w 59"/>
                <a:gd name="T5" fmla="*/ 24 h 24"/>
                <a:gd name="T6" fmla="*/ 59 w 59"/>
                <a:gd name="T7" fmla="*/ 24 h 24"/>
                <a:gd name="T8" fmla="*/ 59 w 59"/>
                <a:gd name="T9" fmla="*/ 24 h 24"/>
                <a:gd name="T10" fmla="*/ 59 w 59"/>
                <a:gd name="T11" fmla="*/ 24 h 24"/>
                <a:gd name="T12" fmla="*/ 59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59" y="24"/>
                  </a:moveTo>
                  <a:lnTo>
                    <a:pt x="0" y="0"/>
                  </a:lnTo>
                  <a:lnTo>
                    <a:pt x="59" y="24"/>
                  </a:lnTo>
                  <a:close/>
                  <a:moveTo>
                    <a:pt x="59" y="24"/>
                  </a:moveTo>
                  <a:lnTo>
                    <a:pt x="59"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0" name="Freeform 132"/>
            <p:cNvSpPr>
              <a:spLocks noEditPoints="1"/>
            </p:cNvSpPr>
            <p:nvPr/>
          </p:nvSpPr>
          <p:spPr bwMode="auto">
            <a:xfrm>
              <a:off x="3943" y="2406"/>
              <a:ext cx="59" cy="30"/>
            </a:xfrm>
            <a:custGeom>
              <a:avLst/>
              <a:gdLst>
                <a:gd name="T0" fmla="*/ 0 w 59"/>
                <a:gd name="T1" fmla="*/ 30 h 30"/>
                <a:gd name="T2" fmla="*/ 59 w 59"/>
                <a:gd name="T3" fmla="*/ 0 h 30"/>
                <a:gd name="T4" fmla="*/ 0 w 59"/>
                <a:gd name="T5" fmla="*/ 30 h 30"/>
                <a:gd name="T6" fmla="*/ 0 w 59"/>
                <a:gd name="T7" fmla="*/ 30 h 30"/>
                <a:gd name="T8" fmla="*/ 0 w 59"/>
                <a:gd name="T9" fmla="*/ 30 h 30"/>
                <a:gd name="T10" fmla="*/ 0 w 59"/>
                <a:gd name="T11" fmla="*/ 30 h 30"/>
                <a:gd name="T12" fmla="*/ 0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0" y="30"/>
                  </a:moveTo>
                  <a:lnTo>
                    <a:pt x="59"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1" name="Freeform 133"/>
            <p:cNvSpPr>
              <a:spLocks noEditPoints="1"/>
            </p:cNvSpPr>
            <p:nvPr/>
          </p:nvSpPr>
          <p:spPr bwMode="auto">
            <a:xfrm>
              <a:off x="4002" y="237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2" name="Freeform 134"/>
            <p:cNvSpPr>
              <a:spLocks noEditPoints="1"/>
            </p:cNvSpPr>
            <p:nvPr/>
          </p:nvSpPr>
          <p:spPr bwMode="auto">
            <a:xfrm>
              <a:off x="4002" y="2352"/>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3" name="Freeform 135"/>
            <p:cNvSpPr>
              <a:spLocks noEditPoints="1"/>
            </p:cNvSpPr>
            <p:nvPr/>
          </p:nvSpPr>
          <p:spPr bwMode="auto">
            <a:xfrm>
              <a:off x="3943" y="2322"/>
              <a:ext cx="59" cy="30"/>
            </a:xfrm>
            <a:custGeom>
              <a:avLst/>
              <a:gdLst>
                <a:gd name="T0" fmla="*/ 59 w 59"/>
                <a:gd name="T1" fmla="*/ 30 h 30"/>
                <a:gd name="T2" fmla="*/ 0 w 59"/>
                <a:gd name="T3" fmla="*/ 0 h 30"/>
                <a:gd name="T4" fmla="*/ 59 w 59"/>
                <a:gd name="T5" fmla="*/ 30 h 30"/>
                <a:gd name="T6" fmla="*/ 59 w 59"/>
                <a:gd name="T7" fmla="*/ 30 h 30"/>
                <a:gd name="T8" fmla="*/ 59 w 59"/>
                <a:gd name="T9" fmla="*/ 30 h 30"/>
                <a:gd name="T10" fmla="*/ 59 w 59"/>
                <a:gd name="T11" fmla="*/ 30 h 30"/>
                <a:gd name="T12" fmla="*/ 59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30"/>
                  </a:moveTo>
                  <a:lnTo>
                    <a:pt x="0" y="0"/>
                  </a:lnTo>
                  <a:lnTo>
                    <a:pt x="59" y="30"/>
                  </a:lnTo>
                  <a:close/>
                  <a:moveTo>
                    <a:pt x="59" y="30"/>
                  </a:moveTo>
                  <a:lnTo>
                    <a:pt x="59"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4" name="Freeform 136"/>
            <p:cNvSpPr>
              <a:spLocks noEditPoints="1"/>
            </p:cNvSpPr>
            <p:nvPr/>
          </p:nvSpPr>
          <p:spPr bwMode="auto">
            <a:xfrm>
              <a:off x="3943" y="2298"/>
              <a:ext cx="59" cy="24"/>
            </a:xfrm>
            <a:custGeom>
              <a:avLst/>
              <a:gdLst>
                <a:gd name="T0" fmla="*/ 0 w 59"/>
                <a:gd name="T1" fmla="*/ 24 h 24"/>
                <a:gd name="T2" fmla="*/ 59 w 59"/>
                <a:gd name="T3" fmla="*/ 0 h 24"/>
                <a:gd name="T4" fmla="*/ 0 w 59"/>
                <a:gd name="T5" fmla="*/ 24 h 24"/>
                <a:gd name="T6" fmla="*/ 0 w 59"/>
                <a:gd name="T7" fmla="*/ 24 h 24"/>
                <a:gd name="T8" fmla="*/ 0 w 59"/>
                <a:gd name="T9" fmla="*/ 24 h 24"/>
                <a:gd name="T10" fmla="*/ 0 w 59"/>
                <a:gd name="T11" fmla="*/ 24 h 24"/>
                <a:gd name="T12" fmla="*/ 0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0" y="24"/>
                  </a:moveTo>
                  <a:lnTo>
                    <a:pt x="59"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5" name="Freeform 137"/>
            <p:cNvSpPr>
              <a:spLocks noEditPoints="1"/>
            </p:cNvSpPr>
            <p:nvPr/>
          </p:nvSpPr>
          <p:spPr bwMode="auto">
            <a:xfrm>
              <a:off x="4002" y="2268"/>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6" name="Freeform 138"/>
            <p:cNvSpPr>
              <a:spLocks noEditPoints="1"/>
            </p:cNvSpPr>
            <p:nvPr/>
          </p:nvSpPr>
          <p:spPr bwMode="auto">
            <a:xfrm>
              <a:off x="4002" y="2245"/>
              <a:ext cx="54" cy="23"/>
            </a:xfrm>
            <a:custGeom>
              <a:avLst/>
              <a:gdLst>
                <a:gd name="T0" fmla="*/ 54 w 54"/>
                <a:gd name="T1" fmla="*/ 23 h 23"/>
                <a:gd name="T2" fmla="*/ 0 w 54"/>
                <a:gd name="T3" fmla="*/ 0 h 23"/>
                <a:gd name="T4" fmla="*/ 54 w 54"/>
                <a:gd name="T5" fmla="*/ 23 h 23"/>
                <a:gd name="T6" fmla="*/ 54 w 54"/>
                <a:gd name="T7" fmla="*/ 23 h 23"/>
                <a:gd name="T8" fmla="*/ 54 w 54"/>
                <a:gd name="T9" fmla="*/ 23 h 23"/>
                <a:gd name="T10" fmla="*/ 54 w 54"/>
                <a:gd name="T11" fmla="*/ 23 h 23"/>
                <a:gd name="T12" fmla="*/ 54 w 54"/>
                <a:gd name="T13" fmla="*/ 23 h 23"/>
                <a:gd name="T14" fmla="*/ 0 60000 65536"/>
                <a:gd name="T15" fmla="*/ 0 60000 65536"/>
                <a:gd name="T16" fmla="*/ 0 60000 65536"/>
                <a:gd name="T17" fmla="*/ 0 60000 65536"/>
                <a:gd name="T18" fmla="*/ 0 60000 65536"/>
                <a:gd name="T19" fmla="*/ 0 60000 65536"/>
                <a:gd name="T20" fmla="*/ 0 60000 65536"/>
                <a:gd name="T21" fmla="*/ 0 w 54"/>
                <a:gd name="T22" fmla="*/ 0 h 23"/>
                <a:gd name="T23" fmla="*/ 54 w 5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3">
                  <a:moveTo>
                    <a:pt x="54" y="23"/>
                  </a:moveTo>
                  <a:lnTo>
                    <a:pt x="0" y="0"/>
                  </a:lnTo>
                  <a:lnTo>
                    <a:pt x="54" y="23"/>
                  </a:lnTo>
                  <a:close/>
                  <a:moveTo>
                    <a:pt x="54" y="23"/>
                  </a:moveTo>
                  <a:lnTo>
                    <a:pt x="54"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7" name="Freeform 139"/>
            <p:cNvSpPr>
              <a:spLocks noEditPoints="1"/>
            </p:cNvSpPr>
            <p:nvPr/>
          </p:nvSpPr>
          <p:spPr bwMode="auto">
            <a:xfrm>
              <a:off x="3943" y="2215"/>
              <a:ext cx="59" cy="30"/>
            </a:xfrm>
            <a:custGeom>
              <a:avLst/>
              <a:gdLst>
                <a:gd name="T0" fmla="*/ 59 w 59"/>
                <a:gd name="T1" fmla="*/ 30 h 30"/>
                <a:gd name="T2" fmla="*/ 0 w 59"/>
                <a:gd name="T3" fmla="*/ 0 h 30"/>
                <a:gd name="T4" fmla="*/ 59 w 59"/>
                <a:gd name="T5" fmla="*/ 30 h 30"/>
                <a:gd name="T6" fmla="*/ 59 w 59"/>
                <a:gd name="T7" fmla="*/ 30 h 30"/>
                <a:gd name="T8" fmla="*/ 59 w 59"/>
                <a:gd name="T9" fmla="*/ 30 h 30"/>
                <a:gd name="T10" fmla="*/ 59 w 59"/>
                <a:gd name="T11" fmla="*/ 30 h 30"/>
                <a:gd name="T12" fmla="*/ 59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30"/>
                  </a:moveTo>
                  <a:lnTo>
                    <a:pt x="0" y="0"/>
                  </a:lnTo>
                  <a:lnTo>
                    <a:pt x="59" y="30"/>
                  </a:lnTo>
                  <a:close/>
                  <a:moveTo>
                    <a:pt x="59" y="30"/>
                  </a:moveTo>
                  <a:lnTo>
                    <a:pt x="59"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8" name="Freeform 140"/>
            <p:cNvSpPr>
              <a:spLocks noEditPoints="1"/>
            </p:cNvSpPr>
            <p:nvPr/>
          </p:nvSpPr>
          <p:spPr bwMode="auto">
            <a:xfrm>
              <a:off x="3943" y="2191"/>
              <a:ext cx="59" cy="24"/>
            </a:xfrm>
            <a:custGeom>
              <a:avLst/>
              <a:gdLst>
                <a:gd name="T0" fmla="*/ 0 w 59"/>
                <a:gd name="T1" fmla="*/ 24 h 24"/>
                <a:gd name="T2" fmla="*/ 59 w 59"/>
                <a:gd name="T3" fmla="*/ 0 h 24"/>
                <a:gd name="T4" fmla="*/ 0 w 59"/>
                <a:gd name="T5" fmla="*/ 24 h 24"/>
                <a:gd name="T6" fmla="*/ 0 w 59"/>
                <a:gd name="T7" fmla="*/ 24 h 24"/>
                <a:gd name="T8" fmla="*/ 0 w 59"/>
                <a:gd name="T9" fmla="*/ 24 h 24"/>
                <a:gd name="T10" fmla="*/ 0 w 59"/>
                <a:gd name="T11" fmla="*/ 24 h 24"/>
                <a:gd name="T12" fmla="*/ 0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0" y="24"/>
                  </a:moveTo>
                  <a:lnTo>
                    <a:pt x="59"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59" name="Freeform 141"/>
            <p:cNvSpPr>
              <a:spLocks noEditPoints="1"/>
            </p:cNvSpPr>
            <p:nvPr/>
          </p:nvSpPr>
          <p:spPr bwMode="auto">
            <a:xfrm>
              <a:off x="4002" y="2161"/>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0" name="Freeform 142"/>
            <p:cNvSpPr>
              <a:spLocks noEditPoints="1"/>
            </p:cNvSpPr>
            <p:nvPr/>
          </p:nvSpPr>
          <p:spPr bwMode="auto">
            <a:xfrm>
              <a:off x="3996"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1" name="Freeform 143"/>
            <p:cNvSpPr/>
            <p:nvPr/>
          </p:nvSpPr>
          <p:spPr bwMode="auto">
            <a:xfrm>
              <a:off x="5390" y="2137"/>
              <a:ext cx="48" cy="430"/>
            </a:xfrm>
            <a:custGeom>
              <a:avLst/>
              <a:gdLst>
                <a:gd name="T0" fmla="*/ 0 w 48"/>
                <a:gd name="T1" fmla="*/ 0 h 430"/>
                <a:gd name="T2" fmla="*/ 48 w 48"/>
                <a:gd name="T3" fmla="*/ 0 h 430"/>
                <a:gd name="T4" fmla="*/ 48 w 48"/>
                <a:gd name="T5" fmla="*/ 430 h 430"/>
                <a:gd name="T6" fmla="*/ 0 w 48"/>
                <a:gd name="T7" fmla="*/ 430 h 430"/>
                <a:gd name="T8" fmla="*/ 0 w 48"/>
                <a:gd name="T9" fmla="*/ 0 h 430"/>
                <a:gd name="T10" fmla="*/ 0 w 48"/>
                <a:gd name="T11" fmla="*/ 0 h 430"/>
                <a:gd name="T12" fmla="*/ 0 60000 65536"/>
                <a:gd name="T13" fmla="*/ 0 60000 65536"/>
                <a:gd name="T14" fmla="*/ 0 60000 65536"/>
                <a:gd name="T15" fmla="*/ 0 60000 65536"/>
                <a:gd name="T16" fmla="*/ 0 60000 65536"/>
                <a:gd name="T17" fmla="*/ 0 60000 65536"/>
                <a:gd name="T18" fmla="*/ 0 w 48"/>
                <a:gd name="T19" fmla="*/ 0 h 430"/>
                <a:gd name="T20" fmla="*/ 48 w 48"/>
                <a:gd name="T21" fmla="*/ 430 h 430"/>
              </a:gdLst>
              <a:ahLst/>
              <a:cxnLst>
                <a:cxn ang="T12">
                  <a:pos x="T0" y="T1"/>
                </a:cxn>
                <a:cxn ang="T13">
                  <a:pos x="T2" y="T3"/>
                </a:cxn>
                <a:cxn ang="T14">
                  <a:pos x="T4" y="T5"/>
                </a:cxn>
                <a:cxn ang="T15">
                  <a:pos x="T6" y="T7"/>
                </a:cxn>
                <a:cxn ang="T16">
                  <a:pos x="T8" y="T9"/>
                </a:cxn>
                <a:cxn ang="T17">
                  <a:pos x="T10" y="T11"/>
                </a:cxn>
              </a:cxnLst>
              <a:rect l="T18" t="T19" r="T20" b="T21"/>
              <a:pathLst>
                <a:path w="48" h="430">
                  <a:moveTo>
                    <a:pt x="0" y="0"/>
                  </a:moveTo>
                  <a:lnTo>
                    <a:pt x="48" y="0"/>
                  </a:lnTo>
                  <a:lnTo>
                    <a:pt x="48" y="430"/>
                  </a:lnTo>
                  <a:lnTo>
                    <a:pt x="0" y="430"/>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2" name="Freeform 144"/>
            <p:cNvSpPr/>
            <p:nvPr/>
          </p:nvSpPr>
          <p:spPr bwMode="auto">
            <a:xfrm>
              <a:off x="5360" y="2543"/>
              <a:ext cx="54" cy="30"/>
            </a:xfrm>
            <a:custGeom>
              <a:avLst/>
              <a:gdLst>
                <a:gd name="T0" fmla="*/ 54 w 54"/>
                <a:gd name="T1" fmla="*/ 30 h 30"/>
                <a:gd name="T2" fmla="*/ 0 w 54"/>
                <a:gd name="T3" fmla="*/ 0 h 30"/>
                <a:gd name="T4" fmla="*/ 54 w 54"/>
                <a:gd name="T5" fmla="*/ 30 h 30"/>
                <a:gd name="T6" fmla="*/ 54 w 54"/>
                <a:gd name="T7" fmla="*/ 30 h 30"/>
                <a:gd name="T8" fmla="*/ 0 60000 65536"/>
                <a:gd name="T9" fmla="*/ 0 60000 65536"/>
                <a:gd name="T10" fmla="*/ 0 60000 65536"/>
                <a:gd name="T11" fmla="*/ 0 60000 65536"/>
                <a:gd name="T12" fmla="*/ 0 w 54"/>
                <a:gd name="T13" fmla="*/ 0 h 30"/>
                <a:gd name="T14" fmla="*/ 54 w 54"/>
                <a:gd name="T15" fmla="*/ 30 h 30"/>
              </a:gdLst>
              <a:ahLst/>
              <a:cxnLst>
                <a:cxn ang="T8">
                  <a:pos x="T0" y="T1"/>
                </a:cxn>
                <a:cxn ang="T9">
                  <a:pos x="T2" y="T3"/>
                </a:cxn>
                <a:cxn ang="T10">
                  <a:pos x="T4" y="T5"/>
                </a:cxn>
                <a:cxn ang="T11">
                  <a:pos x="T6" y="T7"/>
                </a:cxn>
              </a:cxnLst>
              <a:rect l="T12" t="T13" r="T14" b="T15"/>
              <a:pathLst>
                <a:path w="54" h="30">
                  <a:moveTo>
                    <a:pt x="54" y="30"/>
                  </a:moveTo>
                  <a:lnTo>
                    <a:pt x="0" y="0"/>
                  </a:ln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3" name="Freeform 145"/>
            <p:cNvSpPr>
              <a:spLocks noEditPoints="1"/>
            </p:cNvSpPr>
            <p:nvPr/>
          </p:nvSpPr>
          <p:spPr bwMode="auto">
            <a:xfrm>
              <a:off x="5360" y="2513"/>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4" name="Freeform 146"/>
            <p:cNvSpPr>
              <a:spLocks noEditPoints="1"/>
            </p:cNvSpPr>
            <p:nvPr/>
          </p:nvSpPr>
          <p:spPr bwMode="auto">
            <a:xfrm>
              <a:off x="5414" y="2489"/>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5" name="Freeform 147"/>
            <p:cNvSpPr>
              <a:spLocks noEditPoints="1"/>
            </p:cNvSpPr>
            <p:nvPr/>
          </p:nvSpPr>
          <p:spPr bwMode="auto">
            <a:xfrm>
              <a:off x="5414" y="2460"/>
              <a:ext cx="60" cy="29"/>
            </a:xfrm>
            <a:custGeom>
              <a:avLst/>
              <a:gdLst>
                <a:gd name="T0" fmla="*/ 60 w 60"/>
                <a:gd name="T1" fmla="*/ 29 h 29"/>
                <a:gd name="T2" fmla="*/ 0 w 60"/>
                <a:gd name="T3" fmla="*/ 0 h 29"/>
                <a:gd name="T4" fmla="*/ 60 w 60"/>
                <a:gd name="T5" fmla="*/ 29 h 29"/>
                <a:gd name="T6" fmla="*/ 60 w 60"/>
                <a:gd name="T7" fmla="*/ 29 h 29"/>
                <a:gd name="T8" fmla="*/ 60 w 60"/>
                <a:gd name="T9" fmla="*/ 29 h 29"/>
                <a:gd name="T10" fmla="*/ 60 w 60"/>
                <a:gd name="T11" fmla="*/ 29 h 29"/>
                <a:gd name="T12" fmla="*/ 60 w 60"/>
                <a:gd name="T13" fmla="*/ 29 h 29"/>
                <a:gd name="T14" fmla="*/ 0 60000 65536"/>
                <a:gd name="T15" fmla="*/ 0 60000 65536"/>
                <a:gd name="T16" fmla="*/ 0 60000 65536"/>
                <a:gd name="T17" fmla="*/ 0 60000 65536"/>
                <a:gd name="T18" fmla="*/ 0 60000 65536"/>
                <a:gd name="T19" fmla="*/ 0 60000 65536"/>
                <a:gd name="T20" fmla="*/ 0 60000 65536"/>
                <a:gd name="T21" fmla="*/ 0 w 60"/>
                <a:gd name="T22" fmla="*/ 0 h 29"/>
                <a:gd name="T23" fmla="*/ 60 w 60"/>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9">
                  <a:moveTo>
                    <a:pt x="60" y="29"/>
                  </a:moveTo>
                  <a:lnTo>
                    <a:pt x="0" y="0"/>
                  </a:lnTo>
                  <a:lnTo>
                    <a:pt x="60" y="29"/>
                  </a:lnTo>
                  <a:close/>
                  <a:moveTo>
                    <a:pt x="60" y="29"/>
                  </a:moveTo>
                  <a:lnTo>
                    <a:pt x="60"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6" name="Freeform 148"/>
            <p:cNvSpPr>
              <a:spLocks noEditPoints="1"/>
            </p:cNvSpPr>
            <p:nvPr/>
          </p:nvSpPr>
          <p:spPr bwMode="auto">
            <a:xfrm>
              <a:off x="5414"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7" name="Freeform 149"/>
            <p:cNvSpPr>
              <a:spLocks noEditPoints="1"/>
            </p:cNvSpPr>
            <p:nvPr/>
          </p:nvSpPr>
          <p:spPr bwMode="auto">
            <a:xfrm>
              <a:off x="5360" y="2436"/>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8" name="Freeform 150"/>
            <p:cNvSpPr>
              <a:spLocks noEditPoints="1"/>
            </p:cNvSpPr>
            <p:nvPr/>
          </p:nvSpPr>
          <p:spPr bwMode="auto">
            <a:xfrm>
              <a:off x="5360" y="240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69" name="Freeform 151"/>
            <p:cNvSpPr>
              <a:spLocks noEditPoints="1"/>
            </p:cNvSpPr>
            <p:nvPr/>
          </p:nvSpPr>
          <p:spPr bwMode="auto">
            <a:xfrm>
              <a:off x="5414" y="2382"/>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0" name="Freeform 152"/>
            <p:cNvSpPr>
              <a:spLocks noEditPoints="1"/>
            </p:cNvSpPr>
            <p:nvPr/>
          </p:nvSpPr>
          <p:spPr bwMode="auto">
            <a:xfrm>
              <a:off x="5414" y="2352"/>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1" name="Freeform 153"/>
            <p:cNvSpPr>
              <a:spLocks noEditPoints="1"/>
            </p:cNvSpPr>
            <p:nvPr/>
          </p:nvSpPr>
          <p:spPr bwMode="auto">
            <a:xfrm>
              <a:off x="5360" y="2322"/>
              <a:ext cx="54" cy="30"/>
            </a:xfrm>
            <a:custGeom>
              <a:avLst/>
              <a:gdLst>
                <a:gd name="T0" fmla="*/ 54 w 54"/>
                <a:gd name="T1" fmla="*/ 30 h 30"/>
                <a:gd name="T2" fmla="*/ 0 w 54"/>
                <a:gd name="T3" fmla="*/ 0 h 30"/>
                <a:gd name="T4" fmla="*/ 54 w 54"/>
                <a:gd name="T5" fmla="*/ 30 h 30"/>
                <a:gd name="T6" fmla="*/ 54 w 54"/>
                <a:gd name="T7" fmla="*/ 30 h 30"/>
                <a:gd name="T8" fmla="*/ 54 w 54"/>
                <a:gd name="T9" fmla="*/ 30 h 30"/>
                <a:gd name="T10" fmla="*/ 54 w 54"/>
                <a:gd name="T11" fmla="*/ 30 h 30"/>
                <a:gd name="T12" fmla="*/ 54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54" y="30"/>
                  </a:moveTo>
                  <a:lnTo>
                    <a:pt x="0" y="0"/>
                  </a:lnTo>
                  <a:lnTo>
                    <a:pt x="54" y="30"/>
                  </a:lnTo>
                  <a:close/>
                  <a:moveTo>
                    <a:pt x="54" y="30"/>
                  </a:move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2" name="Freeform 154"/>
            <p:cNvSpPr>
              <a:spLocks noEditPoints="1"/>
            </p:cNvSpPr>
            <p:nvPr/>
          </p:nvSpPr>
          <p:spPr bwMode="auto">
            <a:xfrm>
              <a:off x="5360" y="2298"/>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3" name="Freeform 155"/>
            <p:cNvSpPr>
              <a:spLocks noEditPoints="1"/>
            </p:cNvSpPr>
            <p:nvPr/>
          </p:nvSpPr>
          <p:spPr bwMode="auto">
            <a:xfrm>
              <a:off x="5414" y="2268"/>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4" name="Freeform 156"/>
            <p:cNvSpPr>
              <a:spLocks noEditPoints="1"/>
            </p:cNvSpPr>
            <p:nvPr/>
          </p:nvSpPr>
          <p:spPr bwMode="auto">
            <a:xfrm>
              <a:off x="5414" y="2245"/>
              <a:ext cx="60" cy="23"/>
            </a:xfrm>
            <a:custGeom>
              <a:avLst/>
              <a:gdLst>
                <a:gd name="T0" fmla="*/ 60 w 60"/>
                <a:gd name="T1" fmla="*/ 23 h 23"/>
                <a:gd name="T2" fmla="*/ 0 w 60"/>
                <a:gd name="T3" fmla="*/ 0 h 23"/>
                <a:gd name="T4" fmla="*/ 60 w 60"/>
                <a:gd name="T5" fmla="*/ 23 h 23"/>
                <a:gd name="T6" fmla="*/ 60 w 60"/>
                <a:gd name="T7" fmla="*/ 23 h 23"/>
                <a:gd name="T8" fmla="*/ 60 w 60"/>
                <a:gd name="T9" fmla="*/ 23 h 23"/>
                <a:gd name="T10" fmla="*/ 60 w 60"/>
                <a:gd name="T11" fmla="*/ 23 h 23"/>
                <a:gd name="T12" fmla="*/ 60 w 60"/>
                <a:gd name="T13" fmla="*/ 23 h 23"/>
                <a:gd name="T14" fmla="*/ 0 60000 65536"/>
                <a:gd name="T15" fmla="*/ 0 60000 65536"/>
                <a:gd name="T16" fmla="*/ 0 60000 65536"/>
                <a:gd name="T17" fmla="*/ 0 60000 65536"/>
                <a:gd name="T18" fmla="*/ 0 60000 65536"/>
                <a:gd name="T19" fmla="*/ 0 60000 65536"/>
                <a:gd name="T20" fmla="*/ 0 60000 65536"/>
                <a:gd name="T21" fmla="*/ 0 w 60"/>
                <a:gd name="T22" fmla="*/ 0 h 23"/>
                <a:gd name="T23" fmla="*/ 60 w 60"/>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3">
                  <a:moveTo>
                    <a:pt x="60" y="23"/>
                  </a:moveTo>
                  <a:lnTo>
                    <a:pt x="0" y="0"/>
                  </a:lnTo>
                  <a:lnTo>
                    <a:pt x="60" y="23"/>
                  </a:lnTo>
                  <a:close/>
                  <a:moveTo>
                    <a:pt x="60" y="23"/>
                  </a:moveTo>
                  <a:lnTo>
                    <a:pt x="60"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5" name="Freeform 157"/>
            <p:cNvSpPr>
              <a:spLocks noEditPoints="1"/>
            </p:cNvSpPr>
            <p:nvPr/>
          </p:nvSpPr>
          <p:spPr bwMode="auto">
            <a:xfrm>
              <a:off x="5360" y="2215"/>
              <a:ext cx="54" cy="30"/>
            </a:xfrm>
            <a:custGeom>
              <a:avLst/>
              <a:gdLst>
                <a:gd name="T0" fmla="*/ 54 w 54"/>
                <a:gd name="T1" fmla="*/ 30 h 30"/>
                <a:gd name="T2" fmla="*/ 0 w 54"/>
                <a:gd name="T3" fmla="*/ 0 h 30"/>
                <a:gd name="T4" fmla="*/ 54 w 54"/>
                <a:gd name="T5" fmla="*/ 30 h 30"/>
                <a:gd name="T6" fmla="*/ 54 w 54"/>
                <a:gd name="T7" fmla="*/ 30 h 30"/>
                <a:gd name="T8" fmla="*/ 54 w 54"/>
                <a:gd name="T9" fmla="*/ 30 h 30"/>
                <a:gd name="T10" fmla="*/ 54 w 54"/>
                <a:gd name="T11" fmla="*/ 30 h 30"/>
                <a:gd name="T12" fmla="*/ 54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54" y="30"/>
                  </a:moveTo>
                  <a:lnTo>
                    <a:pt x="0" y="0"/>
                  </a:lnTo>
                  <a:lnTo>
                    <a:pt x="54" y="30"/>
                  </a:lnTo>
                  <a:close/>
                  <a:moveTo>
                    <a:pt x="54" y="30"/>
                  </a:move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6" name="Freeform 158"/>
            <p:cNvSpPr>
              <a:spLocks noEditPoints="1"/>
            </p:cNvSpPr>
            <p:nvPr/>
          </p:nvSpPr>
          <p:spPr bwMode="auto">
            <a:xfrm>
              <a:off x="5360" y="2191"/>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7" name="Freeform 159"/>
            <p:cNvSpPr>
              <a:spLocks noEditPoints="1"/>
            </p:cNvSpPr>
            <p:nvPr/>
          </p:nvSpPr>
          <p:spPr bwMode="auto">
            <a:xfrm>
              <a:off x="5414" y="2161"/>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8" name="Freeform 160"/>
            <p:cNvSpPr>
              <a:spLocks noEditPoints="1"/>
            </p:cNvSpPr>
            <p:nvPr/>
          </p:nvSpPr>
          <p:spPr bwMode="auto">
            <a:xfrm>
              <a:off x="5414"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79" name="Freeform 161"/>
            <p:cNvSpPr/>
            <p:nvPr/>
          </p:nvSpPr>
          <p:spPr bwMode="auto">
            <a:xfrm>
              <a:off x="4875"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0" name="Freeform 162"/>
            <p:cNvSpPr>
              <a:spLocks noEditPoints="1"/>
            </p:cNvSpPr>
            <p:nvPr/>
          </p:nvSpPr>
          <p:spPr bwMode="auto">
            <a:xfrm>
              <a:off x="4852" y="1522"/>
              <a:ext cx="23" cy="66"/>
            </a:xfrm>
            <a:custGeom>
              <a:avLst/>
              <a:gdLst>
                <a:gd name="T0" fmla="*/ 23 w 23"/>
                <a:gd name="T1" fmla="*/ 66 h 66"/>
                <a:gd name="T2" fmla="*/ 0 w 23"/>
                <a:gd name="T3" fmla="*/ 0 h 66"/>
                <a:gd name="T4" fmla="*/ 23 w 23"/>
                <a:gd name="T5" fmla="*/ 66 h 66"/>
                <a:gd name="T6" fmla="*/ 23 w 23"/>
                <a:gd name="T7" fmla="*/ 66 h 66"/>
                <a:gd name="T8" fmla="*/ 23 w 23"/>
                <a:gd name="T9" fmla="*/ 66 h 66"/>
                <a:gd name="T10" fmla="*/ 23 w 23"/>
                <a:gd name="T11" fmla="*/ 66 h 66"/>
                <a:gd name="T12" fmla="*/ 23 w 23"/>
                <a:gd name="T13" fmla="*/ 66 h 66"/>
                <a:gd name="T14" fmla="*/ 0 60000 65536"/>
                <a:gd name="T15" fmla="*/ 0 60000 65536"/>
                <a:gd name="T16" fmla="*/ 0 60000 65536"/>
                <a:gd name="T17" fmla="*/ 0 60000 65536"/>
                <a:gd name="T18" fmla="*/ 0 60000 65536"/>
                <a:gd name="T19" fmla="*/ 0 60000 65536"/>
                <a:gd name="T20" fmla="*/ 0 60000 65536"/>
                <a:gd name="T21" fmla="*/ 0 w 23"/>
                <a:gd name="T22" fmla="*/ 0 h 66"/>
                <a:gd name="T23" fmla="*/ 23 w 23"/>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6">
                  <a:moveTo>
                    <a:pt x="23" y="66"/>
                  </a:moveTo>
                  <a:lnTo>
                    <a:pt x="0" y="0"/>
                  </a:lnTo>
                  <a:lnTo>
                    <a:pt x="23" y="66"/>
                  </a:lnTo>
                  <a:close/>
                  <a:moveTo>
                    <a:pt x="23" y="66"/>
                  </a:moveTo>
                  <a:lnTo>
                    <a:pt x="23"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1" name="Freeform 163"/>
            <p:cNvSpPr>
              <a:spLocks noEditPoints="1"/>
            </p:cNvSpPr>
            <p:nvPr/>
          </p:nvSpPr>
          <p:spPr bwMode="auto">
            <a:xfrm>
              <a:off x="4828"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2" name="Freeform 164"/>
            <p:cNvSpPr>
              <a:spLocks noEditPoints="1"/>
            </p:cNvSpPr>
            <p:nvPr/>
          </p:nvSpPr>
          <p:spPr bwMode="auto">
            <a:xfrm>
              <a:off x="4804"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3" name="Freeform 165"/>
            <p:cNvSpPr>
              <a:spLocks noEditPoints="1"/>
            </p:cNvSpPr>
            <p:nvPr/>
          </p:nvSpPr>
          <p:spPr bwMode="auto">
            <a:xfrm>
              <a:off x="4804"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4" name="Freeform 166"/>
            <p:cNvSpPr>
              <a:spLocks noEditPoints="1"/>
            </p:cNvSpPr>
            <p:nvPr/>
          </p:nvSpPr>
          <p:spPr bwMode="auto">
            <a:xfrm>
              <a:off x="4780"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5" name="Freeform 167"/>
            <p:cNvSpPr>
              <a:spLocks noEditPoints="1"/>
            </p:cNvSpPr>
            <p:nvPr/>
          </p:nvSpPr>
          <p:spPr bwMode="auto">
            <a:xfrm>
              <a:off x="4756"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6" name="Freeform 168"/>
            <p:cNvSpPr>
              <a:spLocks noEditPoints="1"/>
            </p:cNvSpPr>
            <p:nvPr/>
          </p:nvSpPr>
          <p:spPr bwMode="auto">
            <a:xfrm>
              <a:off x="4732"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9387" name="Freeform 169"/>
            <p:cNvSpPr>
              <a:spLocks noEditPoints="1"/>
            </p:cNvSpPr>
            <p:nvPr/>
          </p:nvSpPr>
          <p:spPr bwMode="auto">
            <a:xfrm>
              <a:off x="4708"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3" name="Group 174"/>
          <p:cNvGrpSpPr/>
          <p:nvPr/>
        </p:nvGrpSpPr>
        <p:grpSpPr bwMode="auto">
          <a:xfrm>
            <a:off x="379413" y="736600"/>
            <a:ext cx="8496300" cy="2062163"/>
            <a:chOff x="194" y="282"/>
            <a:chExt cx="5352" cy="1299"/>
          </a:xfrm>
        </p:grpSpPr>
        <p:sp>
          <p:nvSpPr>
            <p:cNvPr id="9220" name="Text Box 2"/>
            <p:cNvSpPr txBox="1">
              <a:spLocks noChangeArrowheads="1"/>
            </p:cNvSpPr>
            <p:nvPr/>
          </p:nvSpPr>
          <p:spPr bwMode="auto">
            <a:xfrm>
              <a:off x="194" y="282"/>
              <a:ext cx="5352" cy="1299"/>
            </a:xfrm>
            <a:prstGeom prst="rect">
              <a:avLst/>
            </a:prstGeom>
            <a:noFill/>
            <a:ln w="9525">
              <a:noFill/>
              <a:miter lim="800000"/>
            </a:ln>
          </p:spPr>
          <p:txBody>
            <a:bodyPr>
              <a:spAutoFit/>
            </a:bodyPr>
            <a:lstStyle/>
            <a:p>
              <a:pPr fontAlgn="base">
                <a:spcBef>
                  <a:spcPct val="50000"/>
                </a:spcBef>
                <a:spcAft>
                  <a:spcPct val="0"/>
                </a:spcAft>
              </a:pPr>
              <a:endParaRPr lang="en-US" altLang="zh-CN" sz="2000">
                <a:solidFill>
                  <a:srgbClr val="FF3300"/>
                </a:solidFill>
                <a:latin typeface="Times New Roman" panose="02020603050405020304" pitchFamily="18" charset="0"/>
              </a:endParaRPr>
            </a:p>
            <a:p>
              <a:pPr fontAlgn="base">
                <a:spcBef>
                  <a:spcPct val="50000"/>
                </a:spcBef>
                <a:spcAft>
                  <a:spcPct val="0"/>
                </a:spcAft>
              </a:pPr>
              <a:r>
                <a:rPr lang="zh-CN" altLang="en-US" sz="2400" b="1">
                  <a:solidFill>
                    <a:srgbClr val="FF3300"/>
                  </a:solidFill>
                  <a:latin typeface="Times New Roman" panose="02020603050405020304" pitchFamily="18" charset="0"/>
                </a:rPr>
                <a:t>举例</a:t>
              </a:r>
              <a:r>
                <a:rPr lang="en-US" altLang="zh-CN" sz="2400" b="1">
                  <a:solidFill>
                    <a:srgbClr val="FF3300"/>
                  </a:solidFill>
                  <a:latin typeface="Times New Roman" panose="02020603050405020304" pitchFamily="18" charset="0"/>
                </a:rPr>
                <a:t>  4.2</a:t>
              </a:r>
              <a:r>
                <a:rPr lang="zh-CN" altLang="en-US" sz="2400" b="1">
                  <a:solidFill>
                    <a:srgbClr val="CCCCE6"/>
                  </a:solidFill>
                  <a:latin typeface="Times New Roman" panose="02020603050405020304" pitchFamily="18" charset="0"/>
                </a:rPr>
                <a:t>（略）</a:t>
              </a:r>
            </a:p>
            <a:p>
              <a:pPr fontAlgn="base">
                <a:spcBef>
                  <a:spcPct val="50000"/>
                </a:spcBef>
                <a:spcAft>
                  <a:spcPct val="0"/>
                </a:spcAft>
              </a:pPr>
              <a:r>
                <a:rPr lang="zh-CN" altLang="en-US" sz="2400">
                  <a:solidFill>
                    <a:srgbClr val="000000"/>
                  </a:solidFill>
                  <a:latin typeface="Times New Roman" panose="02020603050405020304" pitchFamily="18" charset="0"/>
                </a:rPr>
                <a:t>对于图</a:t>
              </a:r>
              <a:r>
                <a:rPr lang="en-US" altLang="zh-CN" sz="2400">
                  <a:solidFill>
                    <a:srgbClr val="000000"/>
                  </a:solidFill>
                  <a:latin typeface="Times New Roman" panose="02020603050405020304" pitchFamily="18" charset="0"/>
                </a:rPr>
                <a:t>4.4</a:t>
              </a:r>
              <a:r>
                <a:rPr lang="zh-CN" altLang="en-US" sz="2400">
                  <a:solidFill>
                    <a:srgbClr val="000000"/>
                  </a:solidFill>
                  <a:latin typeface="Times New Roman" panose="02020603050405020304" pitchFamily="18" charset="0"/>
                </a:rPr>
                <a:t>中的电路，求</a:t>
              </a:r>
              <a:r>
                <a:rPr lang="en-US" altLang="zh-CN" sz="2400" i="1">
                  <a:solidFill>
                    <a:srgbClr val="0000FF"/>
                  </a:solidFill>
                  <a:latin typeface="Times New Roman" panose="02020603050405020304" pitchFamily="18" charset="0"/>
                </a:rPr>
                <a:t>I</a:t>
              </a:r>
              <a:r>
                <a:rPr lang="en-US" altLang="zh-CN" sz="2400" i="1" baseline="-25000">
                  <a:solidFill>
                    <a:srgbClr val="0000FF"/>
                  </a:solidFill>
                  <a:latin typeface="Times New Roman" panose="02020603050405020304" pitchFamily="18" charset="0"/>
                </a:rPr>
                <a:t>0</a:t>
              </a:r>
              <a:endParaRPr lang="en-US" altLang="zh-CN" sz="2400">
                <a:solidFill>
                  <a:srgbClr val="000000"/>
                </a:solidFill>
                <a:latin typeface="Times New Roman" panose="02020603050405020304" pitchFamily="18" charset="0"/>
              </a:endParaRPr>
            </a:p>
            <a:p>
              <a:pPr fontAlgn="base">
                <a:spcBef>
                  <a:spcPct val="50000"/>
                </a:spcBef>
                <a:spcAft>
                  <a:spcPct val="0"/>
                </a:spcAft>
              </a:pPr>
              <a:r>
                <a:rPr lang="en-US" altLang="zh-CN" sz="2400">
                  <a:solidFill>
                    <a:srgbClr val="000000"/>
                  </a:solidFill>
                  <a:latin typeface="Times New Roman" panose="02020603050405020304" pitchFamily="18" charset="0"/>
                </a:rPr>
                <a:t>(</a:t>
              </a:r>
              <a:r>
                <a:rPr lang="zh-CN" altLang="en-US" sz="2400">
                  <a:solidFill>
                    <a:srgbClr val="000000"/>
                  </a:solidFill>
                  <a:latin typeface="Times New Roman" panose="02020603050405020304" pitchFamily="18" charset="0"/>
                </a:rPr>
                <a:t>你可以假设</a:t>
              </a:r>
              <a:r>
                <a:rPr lang="en-US" altLang="zh-CN" sz="2400">
                  <a:solidFill>
                    <a:srgbClr val="0000FF"/>
                  </a:solidFill>
                  <a:latin typeface="Times New Roman" panose="02020603050405020304" pitchFamily="18" charset="0"/>
                </a:rPr>
                <a:t> </a:t>
              </a:r>
              <a:r>
                <a:rPr lang="en-US" altLang="zh-CN" sz="2400" i="1">
                  <a:solidFill>
                    <a:srgbClr val="0000FF"/>
                  </a:solidFill>
                  <a:latin typeface="Times New Roman" panose="02020603050405020304" pitchFamily="18" charset="0"/>
                </a:rPr>
                <a:t>I</a:t>
              </a:r>
              <a:r>
                <a:rPr lang="en-US" altLang="zh-CN" sz="2400" i="1" baseline="-25000">
                  <a:solidFill>
                    <a:srgbClr val="0000FF"/>
                  </a:solidFill>
                  <a:latin typeface="Times New Roman" panose="02020603050405020304" pitchFamily="18" charset="0"/>
                </a:rPr>
                <a:t>0</a:t>
              </a:r>
              <a:r>
                <a:rPr lang="en-US" altLang="zh-CN" sz="2400">
                  <a:solidFill>
                    <a:srgbClr val="0000FF"/>
                  </a:solidFill>
                  <a:latin typeface="Times New Roman" panose="02020603050405020304" pitchFamily="18" charset="0"/>
                </a:rPr>
                <a:t>=1A </a:t>
              </a:r>
              <a:r>
                <a:rPr lang="zh-CN" altLang="en-US" sz="2400">
                  <a:solidFill>
                    <a:srgbClr val="000000"/>
                  </a:solidFill>
                  <a:latin typeface="Times New Roman" panose="02020603050405020304" pitchFamily="18" charset="0"/>
                </a:rPr>
                <a:t>并使用线性特性</a:t>
              </a:r>
              <a:r>
                <a:rPr lang="en-US" altLang="zh-CN" sz="2400">
                  <a:solidFill>
                    <a:srgbClr val="000000"/>
                  </a:solidFill>
                  <a:latin typeface="Times New Roman" panose="02020603050405020304" pitchFamily="18" charset="0"/>
                </a:rPr>
                <a:t>)</a:t>
              </a:r>
            </a:p>
          </p:txBody>
        </p:sp>
        <p:graphicFrame>
          <p:nvGraphicFramePr>
            <p:cNvPr id="9221" name="Object 170"/>
            <p:cNvGraphicFramePr>
              <a:graphicFrameLocks noChangeAspect="1"/>
            </p:cNvGraphicFramePr>
            <p:nvPr/>
          </p:nvGraphicFramePr>
          <p:xfrm>
            <a:off x="2206" y="353"/>
            <a:ext cx="122" cy="229"/>
          </p:xfrm>
          <a:graphic>
            <a:graphicData uri="http://schemas.openxmlformats.org/presentationml/2006/ole">
              <mc:AlternateContent xmlns:mc="http://schemas.openxmlformats.org/markup-compatibility/2006">
                <mc:Choice xmlns:v="urn:schemas-microsoft-com:vml" Requires="v">
                  <p:oleObj spid="_x0000_s6151" name="公式" r:id="rId3" imgW="2743200" imgH="5181600" progId="">
                    <p:embed/>
                  </p:oleObj>
                </mc:Choice>
                <mc:Fallback>
                  <p:oleObj name="公式" r:id="rId3" imgW="2743200" imgH="5181600" progId="">
                    <p:embed/>
                    <p:pic>
                      <p:nvPicPr>
                        <p:cNvPr id="0" name="图片 6144"/>
                        <p:cNvPicPr>
                          <a:picLocks noChangeAspect="1"/>
                        </p:cNvPicPr>
                        <p:nvPr/>
                      </p:nvPicPr>
                      <p:blipFill>
                        <a:blip r:embed="rId4"/>
                        <a:stretch>
                          <a:fillRect/>
                        </a:stretch>
                      </p:blipFill>
                      <p:spPr>
                        <a:xfrm>
                          <a:off x="2206" y="353"/>
                          <a:ext cx="122" cy="229"/>
                        </a:xfrm>
                        <a:prstGeom prst="rect">
                          <a:avLst/>
                        </a:prstGeom>
                        <a:noFill/>
                        <a:ln w="9525">
                          <a:noFill/>
                        </a:ln>
                      </p:spPr>
                    </p:pic>
                  </p:oleObj>
                </mc:Fallback>
              </mc:AlternateContent>
            </a:graphicData>
          </a:graphic>
        </p:graphicFrame>
      </p:grpSp>
      <p:sp>
        <p:nvSpPr>
          <p:cNvPr id="4" name="灯片编号占位符 3"/>
          <p:cNvSpPr>
            <a:spLocks noGrp="1"/>
          </p:cNvSpPr>
          <p:nvPr>
            <p:ph type="sldNum" sz="quarter" idx="11"/>
          </p:nvPr>
        </p:nvSpPr>
        <p:spPr/>
        <p:txBody>
          <a:bodyPr/>
          <a:lstStyle/>
          <a:p>
            <a:pPr>
              <a:defRPr/>
            </a:pPr>
            <a:fld id="{D776A882-B7EA-4411-9FBB-12412DA587FB}" type="slidenum">
              <a:rPr lang="en-US" altLang="zh-CN" smtClean="0">
                <a:solidFill>
                  <a:srgbClr val="000000"/>
                </a:solidFill>
              </a:rPr>
              <a:t>11</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50825" y="549275"/>
            <a:ext cx="8642350" cy="5399088"/>
          </a:xfrm>
          <a:prstGeom prst="rect">
            <a:avLst/>
          </a:prstGeom>
          <a:noFill/>
          <a:ln w="9525">
            <a:noFill/>
            <a:miter lim="800000"/>
          </a:ln>
        </p:spPr>
        <p:txBody>
          <a:bodyPr/>
          <a:lstStyle/>
          <a:p>
            <a:pPr fontAlgn="base">
              <a:spcBef>
                <a:spcPct val="50000"/>
              </a:spcBef>
              <a:spcAft>
                <a:spcPct val="0"/>
              </a:spcAft>
            </a:pPr>
            <a:r>
              <a:rPr lang="zh-CN" altLang="en-US" sz="2000" b="1">
                <a:solidFill>
                  <a:srgbClr val="000000"/>
                </a:solidFill>
                <a:latin typeface="Times New Roman" panose="02020603050405020304" pitchFamily="18" charset="0"/>
              </a:rPr>
              <a:t>解决方案</a:t>
            </a:r>
            <a:r>
              <a:rPr lang="en-US" altLang="zh-CN" sz="2000" b="1">
                <a:solidFill>
                  <a:srgbClr val="000000"/>
                </a:solidFill>
                <a:latin typeface="Times New Roman" panose="02020603050405020304" pitchFamily="18" charset="0"/>
              </a:rPr>
              <a:t>:</a:t>
            </a:r>
          </a:p>
        </p:txBody>
      </p:sp>
      <p:sp>
        <p:nvSpPr>
          <p:cNvPr id="10243" name="Text Box 3"/>
          <p:cNvSpPr txBox="1">
            <a:spLocks noChangeArrowheads="1"/>
          </p:cNvSpPr>
          <p:nvPr/>
        </p:nvSpPr>
        <p:spPr bwMode="auto">
          <a:xfrm>
            <a:off x="0" y="908050"/>
            <a:ext cx="9144000" cy="5399088"/>
          </a:xfrm>
          <a:prstGeom prst="rect">
            <a:avLst/>
          </a:prstGeom>
          <a:noFill/>
          <a:ln w="9525">
            <a:noFill/>
            <a:miter lim="800000"/>
          </a:ln>
        </p:spPr>
        <p:txBody>
          <a:bodyPr/>
          <a:lstStyle/>
          <a:p>
            <a:pPr fontAlgn="base">
              <a:spcBef>
                <a:spcPct val="50000"/>
              </a:spcBef>
              <a:spcAft>
                <a:spcPct val="0"/>
              </a:spcAft>
            </a:pPr>
            <a:endParaRPr lang="zh-CN" altLang="zh-CN" sz="2000">
              <a:solidFill>
                <a:srgbClr val="000000"/>
              </a:solidFill>
              <a:latin typeface="Times New Roman" panose="02020603050405020304" pitchFamily="18" charset="0"/>
            </a:endParaRPr>
          </a:p>
        </p:txBody>
      </p:sp>
      <p:sp>
        <p:nvSpPr>
          <p:cNvPr id="10244" name="Rectangle 4"/>
          <p:cNvSpPr>
            <a:spLocks noGrp="1" noChangeArrowheads="1"/>
          </p:cNvSpPr>
          <p:nvPr>
            <p:ph type="title" sz="quarter"/>
          </p:nvPr>
        </p:nvSpPr>
        <p:spPr>
          <a:xfrm>
            <a:off x="7938" y="993775"/>
            <a:ext cx="9144000" cy="360363"/>
          </a:xfrm>
        </p:spPr>
        <p:txBody>
          <a:bodyPr/>
          <a:lstStyle/>
          <a:p>
            <a:pPr eaLnBrk="1" hangingPunct="1"/>
            <a:r>
              <a:rPr lang="zh-CN" altLang="en-US" sz="2000">
                <a:latin typeface="Times New Roman" panose="02020603050405020304" pitchFamily="18" charset="0"/>
              </a:rPr>
              <a:t>如果</a:t>
            </a:r>
            <a:r>
              <a:rPr lang="en-US" altLang="zh-CN" sz="2000">
                <a:latin typeface="Times New Roman" panose="02020603050405020304" pitchFamily="18" charset="0"/>
              </a:rPr>
              <a:t> </a:t>
            </a:r>
            <a:r>
              <a:rPr lang="en-US" altLang="zh-CN" sz="2000" i="1">
                <a:latin typeface="Times New Roman" panose="02020603050405020304" pitchFamily="18" charset="0"/>
              </a:rPr>
              <a:t>I</a:t>
            </a:r>
            <a:r>
              <a:rPr lang="en-US" altLang="zh-CN" sz="2000" i="1" baseline="-25000">
                <a:latin typeface="Times New Roman" panose="02020603050405020304" pitchFamily="18" charset="0"/>
              </a:rPr>
              <a:t>0</a:t>
            </a:r>
            <a:r>
              <a:rPr lang="en-US" altLang="zh-CN" sz="2000">
                <a:latin typeface="Times New Roman" panose="02020603050405020304" pitchFamily="18" charset="0"/>
              </a:rPr>
              <a:t>=1A  </a:t>
            </a:r>
            <a:r>
              <a:rPr lang="zh-CN" altLang="en-US" sz="2000">
                <a:latin typeface="Times New Roman" panose="02020603050405020304" pitchFamily="18" charset="0"/>
              </a:rPr>
              <a:t>则</a:t>
            </a:r>
            <a:r>
              <a:rPr lang="en-US" altLang="zh-CN" sz="2000">
                <a:latin typeface="Times New Roman" panose="02020603050405020304" pitchFamily="18" charset="0"/>
              </a:rPr>
              <a:t>  </a:t>
            </a:r>
            <a:r>
              <a:rPr lang="en-US" altLang="zh-CN" sz="2000" i="1">
                <a:latin typeface="Times New Roman" panose="02020603050405020304" pitchFamily="18" charset="0"/>
              </a:rPr>
              <a:t>V</a:t>
            </a:r>
            <a:r>
              <a:rPr lang="en-US" altLang="zh-CN" sz="2000" i="1" baseline="-25000">
                <a:latin typeface="Times New Roman" panose="02020603050405020304" pitchFamily="18" charset="0"/>
              </a:rPr>
              <a:t>1</a:t>
            </a:r>
            <a:r>
              <a:rPr lang="en-US" altLang="zh-CN" sz="2000">
                <a:latin typeface="Times New Roman" panose="02020603050405020304" pitchFamily="18" charset="0"/>
              </a:rPr>
              <a:t>=(3+5)</a:t>
            </a:r>
            <a:r>
              <a:rPr lang="en-US" altLang="zh-CN" sz="2000" i="1">
                <a:latin typeface="Times New Roman" panose="02020603050405020304" pitchFamily="18" charset="0"/>
              </a:rPr>
              <a:t>I</a:t>
            </a:r>
            <a:r>
              <a:rPr lang="en-US" altLang="zh-CN" sz="2000" i="1" baseline="-25000">
                <a:latin typeface="Times New Roman" panose="02020603050405020304" pitchFamily="18" charset="0"/>
              </a:rPr>
              <a:t>0</a:t>
            </a:r>
            <a:r>
              <a:rPr lang="en-US" altLang="zh-CN" sz="2000">
                <a:latin typeface="Times New Roman" panose="02020603050405020304" pitchFamily="18" charset="0"/>
              </a:rPr>
              <a:t>=8V  </a:t>
            </a:r>
            <a:r>
              <a:rPr lang="zh-CN" altLang="en-US" sz="2000">
                <a:latin typeface="Times New Roman" panose="02020603050405020304" pitchFamily="18" charset="0"/>
              </a:rPr>
              <a:t>，</a:t>
            </a:r>
            <a:r>
              <a:rPr lang="en-US" altLang="zh-CN" sz="2000">
                <a:latin typeface="Times New Roman" panose="02020603050405020304" pitchFamily="18" charset="0"/>
              </a:rPr>
              <a:t> </a:t>
            </a:r>
            <a:r>
              <a:rPr lang="en-US" altLang="zh-CN" sz="2000" i="1">
                <a:latin typeface="Times New Roman" panose="02020603050405020304" pitchFamily="18" charset="0"/>
              </a:rPr>
              <a:t>I</a:t>
            </a:r>
            <a:r>
              <a:rPr lang="en-US" altLang="zh-CN" sz="2000" i="1" baseline="-25000">
                <a:latin typeface="Times New Roman" panose="02020603050405020304" pitchFamily="18" charset="0"/>
              </a:rPr>
              <a:t>1</a:t>
            </a:r>
            <a:r>
              <a:rPr lang="en-US" altLang="zh-CN" sz="2000">
                <a:latin typeface="Times New Roman" panose="02020603050405020304" pitchFamily="18" charset="0"/>
              </a:rPr>
              <a:t>=</a:t>
            </a:r>
            <a:r>
              <a:rPr lang="en-US" altLang="zh-CN" sz="2000" i="1">
                <a:latin typeface="Times New Roman" panose="02020603050405020304" pitchFamily="18" charset="0"/>
              </a:rPr>
              <a:t>V</a:t>
            </a:r>
            <a:r>
              <a:rPr lang="en-US" altLang="zh-CN" sz="2000" i="1" baseline="-25000">
                <a:latin typeface="Times New Roman" panose="02020603050405020304" pitchFamily="18" charset="0"/>
              </a:rPr>
              <a:t>1</a:t>
            </a:r>
            <a:r>
              <a:rPr lang="en-US" altLang="zh-CN" sz="2000">
                <a:latin typeface="Times New Roman" panose="02020603050405020304" pitchFamily="18" charset="0"/>
              </a:rPr>
              <a:t>/4=2A . </a:t>
            </a:r>
            <a:r>
              <a:rPr lang="zh-CN" altLang="en-US" sz="2000">
                <a:latin typeface="Times New Roman" panose="02020603050405020304" pitchFamily="18" charset="0"/>
              </a:rPr>
              <a:t>应用基尔霍夫电流定律于节点</a:t>
            </a:r>
            <a:r>
              <a:rPr lang="en-US" altLang="zh-CN" sz="2000">
                <a:latin typeface="Times New Roman" panose="02020603050405020304" pitchFamily="18" charset="0"/>
              </a:rPr>
              <a:t>1</a:t>
            </a:r>
            <a:r>
              <a:rPr lang="zh-CN" altLang="en-US" sz="2000">
                <a:latin typeface="Times New Roman" panose="02020603050405020304" pitchFamily="18" charset="0"/>
              </a:rPr>
              <a:t>得：</a:t>
            </a:r>
            <a:endParaRPr lang="en-US" altLang="zh-CN" sz="1800">
              <a:latin typeface="Times New Roman" panose="02020603050405020304" pitchFamily="18" charset="0"/>
            </a:endParaRPr>
          </a:p>
        </p:txBody>
      </p:sp>
      <p:graphicFrame>
        <p:nvGraphicFramePr>
          <p:cNvPr id="10245" name="Object 8"/>
          <p:cNvGraphicFramePr>
            <a:graphicFrameLocks noGrp="1" noChangeAspect="1"/>
          </p:cNvGraphicFramePr>
          <p:nvPr>
            <p:ph sz="quarter" idx="4"/>
          </p:nvPr>
        </p:nvGraphicFramePr>
        <p:xfrm>
          <a:off x="2122488" y="1563688"/>
          <a:ext cx="4751387" cy="1100137"/>
        </p:xfrm>
        <a:graphic>
          <a:graphicData uri="http://schemas.openxmlformats.org/presentationml/2006/ole">
            <mc:AlternateContent xmlns:mc="http://schemas.openxmlformats.org/markup-compatibility/2006">
              <mc:Choice xmlns:v="urn:schemas-microsoft-com:vml" Requires="v">
                <p:oleObj spid="_x0000_s7216" name="公式" r:id="rId3" imgW="65836800" imgH="15240000" progId="">
                  <p:embed/>
                </p:oleObj>
              </mc:Choice>
              <mc:Fallback>
                <p:oleObj name="公式" r:id="rId3" imgW="65836800" imgH="15240000" progId="">
                  <p:embed/>
                  <p:pic>
                    <p:nvPicPr>
                      <p:cNvPr id="0" name="图片 7168"/>
                      <p:cNvPicPr>
                        <a:picLocks noGrp="1" noChangeAspect="1"/>
                      </p:cNvPicPr>
                      <p:nvPr/>
                    </p:nvPicPr>
                    <p:blipFill>
                      <a:blip r:embed="rId4"/>
                      <a:stretch>
                        <a:fillRect/>
                      </a:stretch>
                    </p:blipFill>
                    <p:spPr>
                      <a:xfrm>
                        <a:off x="2122488" y="1563688"/>
                        <a:ext cx="4751387" cy="1100137"/>
                      </a:xfrm>
                      <a:prstGeom prst="rect">
                        <a:avLst/>
                      </a:prstGeom>
                      <a:noFill/>
                      <a:ln w="9525">
                        <a:noFill/>
                      </a:ln>
                    </p:spPr>
                  </p:pic>
                </p:oleObj>
              </mc:Fallback>
            </mc:AlternateContent>
          </a:graphicData>
        </a:graphic>
      </p:graphicFrame>
      <p:graphicFrame>
        <p:nvGraphicFramePr>
          <p:cNvPr id="10246" name="Object 9"/>
          <p:cNvGraphicFramePr>
            <a:graphicFrameLocks noChangeAspect="1"/>
          </p:cNvGraphicFramePr>
          <p:nvPr/>
        </p:nvGraphicFramePr>
        <p:xfrm>
          <a:off x="3563938" y="3429000"/>
          <a:ext cx="1812925" cy="392113"/>
        </p:xfrm>
        <a:graphic>
          <a:graphicData uri="http://schemas.openxmlformats.org/presentationml/2006/ole">
            <mc:AlternateContent xmlns:mc="http://schemas.openxmlformats.org/markup-compatibility/2006">
              <mc:Choice xmlns:v="urn:schemas-microsoft-com:vml" Requires="v">
                <p:oleObj spid="_x0000_s7217" name="公式" r:id="rId5" imgW="25298400" imgH="5486400" progId="">
                  <p:embed/>
                </p:oleObj>
              </mc:Choice>
              <mc:Fallback>
                <p:oleObj name="公式" r:id="rId5" imgW="25298400" imgH="5486400" progId="">
                  <p:embed/>
                  <p:pic>
                    <p:nvPicPr>
                      <p:cNvPr id="0" name="图片 7206"/>
                      <p:cNvPicPr>
                        <a:picLocks noChangeAspect="1"/>
                      </p:cNvPicPr>
                      <p:nvPr/>
                    </p:nvPicPr>
                    <p:blipFill>
                      <a:blip r:embed="rId6"/>
                      <a:stretch>
                        <a:fillRect/>
                      </a:stretch>
                    </p:blipFill>
                    <p:spPr>
                      <a:xfrm>
                        <a:off x="3563938" y="3429000"/>
                        <a:ext cx="1812925" cy="392113"/>
                      </a:xfrm>
                      <a:prstGeom prst="rect">
                        <a:avLst/>
                      </a:prstGeom>
                      <a:noFill/>
                      <a:ln w="9525">
                        <a:noFill/>
                      </a:ln>
                    </p:spPr>
                  </p:pic>
                </p:oleObj>
              </mc:Fallback>
            </mc:AlternateContent>
          </a:graphicData>
        </a:graphic>
      </p:graphicFrame>
      <p:sp>
        <p:nvSpPr>
          <p:cNvPr id="10247" name="Text Box 10"/>
          <p:cNvSpPr txBox="1">
            <a:spLocks noChangeArrowheads="1"/>
          </p:cNvSpPr>
          <p:nvPr/>
        </p:nvSpPr>
        <p:spPr bwMode="auto">
          <a:xfrm>
            <a:off x="395288" y="2852738"/>
            <a:ext cx="8135937" cy="396875"/>
          </a:xfrm>
          <a:prstGeom prst="rect">
            <a:avLst/>
          </a:prstGeom>
          <a:noFill/>
          <a:ln w="9525">
            <a:noFill/>
            <a:miter lim="800000"/>
          </a:ln>
        </p:spPr>
        <p:txBody>
          <a:bodyPr>
            <a:spAutoFit/>
          </a:bodyPr>
          <a:lstStyle/>
          <a:p>
            <a:pPr fontAlgn="base">
              <a:spcBef>
                <a:spcPct val="50000"/>
              </a:spcBef>
              <a:spcAft>
                <a:spcPct val="0"/>
              </a:spcAft>
            </a:pPr>
            <a:r>
              <a:rPr lang="zh-CN" altLang="en-US" sz="2000">
                <a:solidFill>
                  <a:srgbClr val="000000"/>
                </a:solidFill>
                <a:latin typeface="Times New Roman" panose="02020603050405020304" pitchFamily="18" charset="0"/>
              </a:rPr>
              <a:t>应用基尔霍夫电流定律于节点</a:t>
            </a:r>
            <a:r>
              <a:rPr lang="en-US" altLang="zh-CN" sz="2000">
                <a:solidFill>
                  <a:srgbClr val="000000"/>
                </a:solidFill>
                <a:latin typeface="Times New Roman" panose="02020603050405020304" pitchFamily="18" charset="0"/>
              </a:rPr>
              <a:t>2</a:t>
            </a:r>
            <a:r>
              <a:rPr lang="zh-CN" altLang="en-US" sz="2000">
                <a:solidFill>
                  <a:srgbClr val="000000"/>
                </a:solidFill>
                <a:latin typeface="Times New Roman" panose="02020603050405020304" pitchFamily="18" charset="0"/>
              </a:rPr>
              <a:t>得：</a:t>
            </a:r>
            <a:endParaRPr lang="en-US" altLang="zh-CN" sz="2000">
              <a:solidFill>
                <a:srgbClr val="000000"/>
              </a:solidFill>
              <a:latin typeface="Times New Roman" panose="02020603050405020304" pitchFamily="18" charset="0"/>
            </a:endParaRPr>
          </a:p>
        </p:txBody>
      </p:sp>
      <p:sp>
        <p:nvSpPr>
          <p:cNvPr id="10248" name="Text Box 12"/>
          <p:cNvSpPr txBox="1">
            <a:spLocks noChangeArrowheads="1"/>
          </p:cNvSpPr>
          <p:nvPr/>
        </p:nvSpPr>
        <p:spPr bwMode="auto">
          <a:xfrm>
            <a:off x="395288" y="4005263"/>
            <a:ext cx="8351837" cy="862012"/>
          </a:xfrm>
          <a:prstGeom prst="rect">
            <a:avLst/>
          </a:prstGeom>
          <a:noFill/>
          <a:ln w="9525">
            <a:noFill/>
            <a:miter lim="800000"/>
          </a:ln>
        </p:spPr>
        <p:txBody>
          <a:bodyPr>
            <a:spAutoFit/>
          </a:bodyPr>
          <a:lstStyle/>
          <a:p>
            <a:pPr fontAlgn="base">
              <a:spcBef>
                <a:spcPct val="50000"/>
              </a:spcBef>
              <a:spcAft>
                <a:spcPct val="0"/>
              </a:spcAft>
            </a:pPr>
            <a:r>
              <a:rPr lang="zh-CN" altLang="en-US" sz="2000">
                <a:solidFill>
                  <a:srgbClr val="000000"/>
                </a:solidFill>
                <a:latin typeface="Times New Roman" panose="02020603050405020304" pitchFamily="18" charset="0"/>
              </a:rPr>
              <a:t>因此</a:t>
            </a:r>
            <a:r>
              <a:rPr lang="en-US" altLang="zh-CN" sz="2000">
                <a:solidFill>
                  <a:srgbClr val="000000"/>
                </a:solidFill>
                <a:latin typeface="Times New Roman" panose="02020603050405020304" pitchFamily="18" charset="0"/>
              </a:rPr>
              <a:t> , </a:t>
            </a:r>
            <a:r>
              <a:rPr lang="en-US" altLang="zh-CN" sz="2000" i="1">
                <a:solidFill>
                  <a:srgbClr val="000000"/>
                </a:solidFill>
                <a:latin typeface="Times New Roman" panose="02020603050405020304" pitchFamily="18" charset="0"/>
              </a:rPr>
              <a:t>I</a:t>
            </a:r>
            <a:r>
              <a:rPr lang="en-US" altLang="zh-CN" sz="2000" i="1" baseline="-25000">
                <a:solidFill>
                  <a:srgbClr val="000000"/>
                </a:solidFill>
                <a:latin typeface="Times New Roman" panose="02020603050405020304" pitchFamily="18" charset="0"/>
              </a:rPr>
              <a:t>s</a:t>
            </a:r>
            <a:r>
              <a:rPr lang="en-US" altLang="zh-CN" sz="2000">
                <a:solidFill>
                  <a:srgbClr val="000000"/>
                </a:solidFill>
                <a:latin typeface="Times New Roman" panose="02020603050405020304" pitchFamily="18" charset="0"/>
              </a:rPr>
              <a:t>=5A .</a:t>
            </a:r>
            <a:r>
              <a:rPr lang="zh-CN" altLang="en-US" sz="2000">
                <a:solidFill>
                  <a:srgbClr val="000000"/>
                </a:solidFill>
                <a:latin typeface="Times New Roman" panose="02020603050405020304" pitchFamily="18" charset="0"/>
              </a:rPr>
              <a:t>这表面假设</a:t>
            </a:r>
            <a:r>
              <a:rPr lang="en-US" altLang="zh-CN" sz="2000">
                <a:solidFill>
                  <a:srgbClr val="000000"/>
                </a:solidFill>
                <a:latin typeface="Times New Roman" panose="02020603050405020304" pitchFamily="18" charset="0"/>
              </a:rPr>
              <a:t> </a:t>
            </a:r>
            <a:r>
              <a:rPr lang="en-US" altLang="zh-CN" sz="2000" i="1">
                <a:solidFill>
                  <a:srgbClr val="000000"/>
                </a:solidFill>
                <a:latin typeface="Times New Roman" panose="02020603050405020304" pitchFamily="18" charset="0"/>
              </a:rPr>
              <a:t>I</a:t>
            </a:r>
            <a:r>
              <a:rPr lang="en-US" altLang="zh-CN" sz="2000" i="1" baseline="-25000">
                <a:solidFill>
                  <a:srgbClr val="000000"/>
                </a:solidFill>
                <a:latin typeface="Times New Roman" panose="02020603050405020304" pitchFamily="18" charset="0"/>
              </a:rPr>
              <a:t>0</a:t>
            </a:r>
            <a:r>
              <a:rPr lang="en-US" altLang="zh-CN" sz="2000">
                <a:solidFill>
                  <a:srgbClr val="000000"/>
                </a:solidFill>
                <a:latin typeface="Times New Roman" panose="02020603050405020304" pitchFamily="18" charset="0"/>
              </a:rPr>
              <a:t>=1 </a:t>
            </a:r>
            <a:r>
              <a:rPr lang="zh-CN" altLang="en-US" sz="2000">
                <a:solidFill>
                  <a:srgbClr val="000000"/>
                </a:solidFill>
                <a:latin typeface="Times New Roman" panose="02020603050405020304" pitchFamily="18" charset="0"/>
              </a:rPr>
              <a:t>得</a:t>
            </a:r>
            <a:r>
              <a:rPr lang="en-US" altLang="zh-CN" sz="2000">
                <a:solidFill>
                  <a:srgbClr val="000000"/>
                </a:solidFill>
                <a:latin typeface="Times New Roman" panose="02020603050405020304" pitchFamily="18" charset="0"/>
              </a:rPr>
              <a:t> </a:t>
            </a:r>
            <a:r>
              <a:rPr lang="en-US" altLang="zh-CN" sz="2000" i="1">
                <a:solidFill>
                  <a:srgbClr val="000000"/>
                </a:solidFill>
                <a:latin typeface="Times New Roman" panose="02020603050405020304" pitchFamily="18" charset="0"/>
              </a:rPr>
              <a:t>I</a:t>
            </a:r>
            <a:r>
              <a:rPr lang="en-US" altLang="zh-CN" sz="2000" i="1" baseline="-25000">
                <a:solidFill>
                  <a:srgbClr val="000000"/>
                </a:solidFill>
                <a:latin typeface="Times New Roman" panose="02020603050405020304" pitchFamily="18" charset="0"/>
              </a:rPr>
              <a:t>s</a:t>
            </a:r>
            <a:r>
              <a:rPr lang="en-US" altLang="zh-CN" sz="2000">
                <a:solidFill>
                  <a:srgbClr val="000000"/>
                </a:solidFill>
                <a:latin typeface="Times New Roman" panose="02020603050405020304" pitchFamily="18" charset="0"/>
              </a:rPr>
              <a:t>=5A;</a:t>
            </a:r>
          </a:p>
          <a:p>
            <a:pPr fontAlgn="base">
              <a:spcBef>
                <a:spcPct val="50000"/>
              </a:spcBef>
              <a:spcAft>
                <a:spcPct val="0"/>
              </a:spcAft>
            </a:pPr>
            <a:r>
              <a:rPr lang="en-US" altLang="zh-CN" sz="2000">
                <a:solidFill>
                  <a:srgbClr val="000000"/>
                </a:solidFill>
                <a:latin typeface="Times New Roman" panose="02020603050405020304" pitchFamily="18" charset="0"/>
              </a:rPr>
              <a:t>15 A</a:t>
            </a:r>
            <a:r>
              <a:rPr lang="zh-CN" altLang="en-US" sz="2000">
                <a:solidFill>
                  <a:srgbClr val="000000"/>
                </a:solidFill>
                <a:latin typeface="Times New Roman" panose="02020603050405020304" pitchFamily="18" charset="0"/>
              </a:rPr>
              <a:t>的实际电流源将给出</a:t>
            </a:r>
            <a:r>
              <a:rPr lang="en-US" altLang="zh-CN" sz="2000" i="1">
                <a:solidFill>
                  <a:srgbClr val="000000"/>
                </a:solidFill>
                <a:latin typeface="Times New Roman" panose="02020603050405020304" pitchFamily="18" charset="0"/>
              </a:rPr>
              <a:t>I</a:t>
            </a:r>
            <a:r>
              <a:rPr lang="en-US" altLang="zh-CN" sz="2000" i="1" baseline="-25000">
                <a:solidFill>
                  <a:srgbClr val="000000"/>
                </a:solidFill>
                <a:latin typeface="Times New Roman" panose="02020603050405020304" pitchFamily="18" charset="0"/>
              </a:rPr>
              <a:t>0</a:t>
            </a:r>
            <a:r>
              <a:rPr lang="en-US" altLang="zh-CN" sz="2000">
                <a:solidFill>
                  <a:srgbClr val="000000"/>
                </a:solidFill>
                <a:latin typeface="Times New Roman" panose="02020603050405020304" pitchFamily="18" charset="0"/>
              </a:rPr>
              <a:t>=3A </a:t>
            </a:r>
            <a:r>
              <a:rPr lang="zh-CN" altLang="en-US" sz="2000">
                <a:solidFill>
                  <a:srgbClr val="000000"/>
                </a:solidFill>
                <a:latin typeface="Times New Roman" panose="02020603050405020304" pitchFamily="18" charset="0"/>
              </a:rPr>
              <a:t>作为实际值</a:t>
            </a:r>
            <a:r>
              <a:rPr lang="en-US" altLang="zh-CN" sz="2000">
                <a:solidFill>
                  <a:srgbClr val="000000"/>
                </a:solidFill>
                <a:latin typeface="Times New Roman" panose="02020603050405020304" pitchFamily="18" charset="0"/>
              </a:rPr>
              <a:t>.</a:t>
            </a:r>
          </a:p>
        </p:txBody>
      </p:sp>
      <p:grpSp>
        <p:nvGrpSpPr>
          <p:cNvPr id="2" name="Group 3"/>
          <p:cNvGrpSpPr/>
          <p:nvPr/>
        </p:nvGrpSpPr>
        <p:grpSpPr bwMode="auto">
          <a:xfrm>
            <a:off x="827088" y="4941888"/>
            <a:ext cx="6972300" cy="1752600"/>
            <a:chOff x="121" y="1188"/>
            <a:chExt cx="5502" cy="2001"/>
          </a:xfrm>
        </p:grpSpPr>
        <p:sp>
          <p:nvSpPr>
            <p:cNvPr id="10250" name="Freeform 4"/>
            <p:cNvSpPr/>
            <p:nvPr/>
          </p:nvSpPr>
          <p:spPr bwMode="auto">
            <a:xfrm>
              <a:off x="5414" y="1522"/>
              <a:ext cx="1" cy="1666"/>
            </a:xfrm>
            <a:custGeom>
              <a:avLst/>
              <a:gdLst>
                <a:gd name="T0" fmla="*/ 0 w 1"/>
                <a:gd name="T1" fmla="*/ 1666 h 1666"/>
                <a:gd name="T2" fmla="*/ 0 w 1"/>
                <a:gd name="T3" fmla="*/ 0 h 1666"/>
                <a:gd name="T4" fmla="*/ 0 w 1"/>
                <a:gd name="T5" fmla="*/ 1666 h 1666"/>
                <a:gd name="T6" fmla="*/ 0 w 1"/>
                <a:gd name="T7" fmla="*/ 1666 h 1666"/>
                <a:gd name="T8" fmla="*/ 0 60000 65536"/>
                <a:gd name="T9" fmla="*/ 0 60000 65536"/>
                <a:gd name="T10" fmla="*/ 0 60000 65536"/>
                <a:gd name="T11" fmla="*/ 0 60000 65536"/>
                <a:gd name="T12" fmla="*/ 0 w 1"/>
                <a:gd name="T13" fmla="*/ 0 h 1666"/>
                <a:gd name="T14" fmla="*/ 1 w 1"/>
                <a:gd name="T15" fmla="*/ 1666 h 1666"/>
              </a:gdLst>
              <a:ahLst/>
              <a:cxnLst>
                <a:cxn ang="T8">
                  <a:pos x="T0" y="T1"/>
                </a:cxn>
                <a:cxn ang="T9">
                  <a:pos x="T2" y="T3"/>
                </a:cxn>
                <a:cxn ang="T10">
                  <a:pos x="T4" y="T5"/>
                </a:cxn>
                <a:cxn ang="T11">
                  <a:pos x="T6" y="T7"/>
                </a:cxn>
              </a:cxnLst>
              <a:rect l="T12" t="T13" r="T14" b="T15"/>
              <a:pathLst>
                <a:path w="1" h="1666">
                  <a:moveTo>
                    <a:pt x="0" y="1666"/>
                  </a:moveTo>
                  <a:lnTo>
                    <a:pt x="0" y="0"/>
                  </a:lnTo>
                  <a:lnTo>
                    <a:pt x="0" y="166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1" name="Freeform 5"/>
            <p:cNvSpPr>
              <a:spLocks noEditPoints="1"/>
            </p:cNvSpPr>
            <p:nvPr/>
          </p:nvSpPr>
          <p:spPr bwMode="auto">
            <a:xfrm>
              <a:off x="1066" y="1522"/>
              <a:ext cx="4348" cy="1"/>
            </a:xfrm>
            <a:custGeom>
              <a:avLst/>
              <a:gdLst>
                <a:gd name="T0" fmla="*/ 4348 w 4348"/>
                <a:gd name="T1" fmla="*/ 0 h 1"/>
                <a:gd name="T2" fmla="*/ 0 w 4348"/>
                <a:gd name="T3" fmla="*/ 0 h 1"/>
                <a:gd name="T4" fmla="*/ 4348 w 4348"/>
                <a:gd name="T5" fmla="*/ 0 h 1"/>
                <a:gd name="T6" fmla="*/ 4348 w 4348"/>
                <a:gd name="T7" fmla="*/ 0 h 1"/>
                <a:gd name="T8" fmla="*/ 4348 w 4348"/>
                <a:gd name="T9" fmla="*/ 0 h 1"/>
                <a:gd name="T10" fmla="*/ 4348 w 4348"/>
                <a:gd name="T11" fmla="*/ 0 h 1"/>
                <a:gd name="T12" fmla="*/ 4348 w 4348"/>
                <a:gd name="T13" fmla="*/ 0 h 1"/>
                <a:gd name="T14" fmla="*/ 0 60000 65536"/>
                <a:gd name="T15" fmla="*/ 0 60000 65536"/>
                <a:gd name="T16" fmla="*/ 0 60000 65536"/>
                <a:gd name="T17" fmla="*/ 0 60000 65536"/>
                <a:gd name="T18" fmla="*/ 0 60000 65536"/>
                <a:gd name="T19" fmla="*/ 0 60000 65536"/>
                <a:gd name="T20" fmla="*/ 0 60000 65536"/>
                <a:gd name="T21" fmla="*/ 0 w 4348"/>
                <a:gd name="T22" fmla="*/ 0 h 1"/>
                <a:gd name="T23" fmla="*/ 4348 w 4348"/>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48" h="1">
                  <a:moveTo>
                    <a:pt x="4348" y="0"/>
                  </a:moveTo>
                  <a:lnTo>
                    <a:pt x="0" y="0"/>
                  </a:lnTo>
                  <a:lnTo>
                    <a:pt x="4348" y="0"/>
                  </a:lnTo>
                  <a:close/>
                  <a:moveTo>
                    <a:pt x="4348" y="0"/>
                  </a:moveTo>
                  <a:lnTo>
                    <a:pt x="43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2" name="Freeform 6"/>
            <p:cNvSpPr>
              <a:spLocks noEditPoints="1"/>
            </p:cNvSpPr>
            <p:nvPr/>
          </p:nvSpPr>
          <p:spPr bwMode="auto">
            <a:xfrm>
              <a:off x="1066" y="1522"/>
              <a:ext cx="1" cy="1666"/>
            </a:xfrm>
            <a:custGeom>
              <a:avLst/>
              <a:gdLst>
                <a:gd name="T0" fmla="*/ 0 w 1"/>
                <a:gd name="T1" fmla="*/ 0 h 1666"/>
                <a:gd name="T2" fmla="*/ 0 w 1"/>
                <a:gd name="T3" fmla="*/ 1666 h 1666"/>
                <a:gd name="T4" fmla="*/ 0 w 1"/>
                <a:gd name="T5" fmla="*/ 0 h 1666"/>
                <a:gd name="T6" fmla="*/ 0 w 1"/>
                <a:gd name="T7" fmla="*/ 0 h 1666"/>
                <a:gd name="T8" fmla="*/ 0 w 1"/>
                <a:gd name="T9" fmla="*/ 0 h 1666"/>
                <a:gd name="T10" fmla="*/ 0 w 1"/>
                <a:gd name="T11" fmla="*/ 0 h 1666"/>
                <a:gd name="T12" fmla="*/ 0 w 1"/>
                <a:gd name="T13" fmla="*/ 0 h 1666"/>
                <a:gd name="T14" fmla="*/ 0 60000 65536"/>
                <a:gd name="T15" fmla="*/ 0 60000 65536"/>
                <a:gd name="T16" fmla="*/ 0 60000 65536"/>
                <a:gd name="T17" fmla="*/ 0 60000 65536"/>
                <a:gd name="T18" fmla="*/ 0 60000 65536"/>
                <a:gd name="T19" fmla="*/ 0 60000 65536"/>
                <a:gd name="T20" fmla="*/ 0 60000 65536"/>
                <a:gd name="T21" fmla="*/ 0 w 1"/>
                <a:gd name="T22" fmla="*/ 0 h 1666"/>
                <a:gd name="T23" fmla="*/ 1 w 1"/>
                <a:gd name="T24" fmla="*/ 1666 h 1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666">
                  <a:moveTo>
                    <a:pt x="0" y="0"/>
                  </a:moveTo>
                  <a:lnTo>
                    <a:pt x="0" y="166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3" name="Freeform 7"/>
            <p:cNvSpPr>
              <a:spLocks noEditPoints="1"/>
            </p:cNvSpPr>
            <p:nvPr/>
          </p:nvSpPr>
          <p:spPr bwMode="auto">
            <a:xfrm>
              <a:off x="1066" y="3188"/>
              <a:ext cx="4348" cy="1"/>
            </a:xfrm>
            <a:custGeom>
              <a:avLst/>
              <a:gdLst>
                <a:gd name="T0" fmla="*/ 0 w 4348"/>
                <a:gd name="T1" fmla="*/ 0 h 1"/>
                <a:gd name="T2" fmla="*/ 4348 w 4348"/>
                <a:gd name="T3" fmla="*/ 0 h 1"/>
                <a:gd name="T4" fmla="*/ 0 w 4348"/>
                <a:gd name="T5" fmla="*/ 0 h 1"/>
                <a:gd name="T6" fmla="*/ 0 w 4348"/>
                <a:gd name="T7" fmla="*/ 0 h 1"/>
                <a:gd name="T8" fmla="*/ 0 w 4348"/>
                <a:gd name="T9" fmla="*/ 0 h 1"/>
                <a:gd name="T10" fmla="*/ 0 w 4348"/>
                <a:gd name="T11" fmla="*/ 0 h 1"/>
                <a:gd name="T12" fmla="*/ 0 w 4348"/>
                <a:gd name="T13" fmla="*/ 0 h 1"/>
                <a:gd name="T14" fmla="*/ 0 60000 65536"/>
                <a:gd name="T15" fmla="*/ 0 60000 65536"/>
                <a:gd name="T16" fmla="*/ 0 60000 65536"/>
                <a:gd name="T17" fmla="*/ 0 60000 65536"/>
                <a:gd name="T18" fmla="*/ 0 60000 65536"/>
                <a:gd name="T19" fmla="*/ 0 60000 65536"/>
                <a:gd name="T20" fmla="*/ 0 60000 65536"/>
                <a:gd name="T21" fmla="*/ 0 w 4348"/>
                <a:gd name="T22" fmla="*/ 0 h 1"/>
                <a:gd name="T23" fmla="*/ 4348 w 4348"/>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48" h="1">
                  <a:moveTo>
                    <a:pt x="0" y="0"/>
                  </a:moveTo>
                  <a:lnTo>
                    <a:pt x="4348"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4" name="Freeform 8"/>
            <p:cNvSpPr/>
            <p:nvPr/>
          </p:nvSpPr>
          <p:spPr bwMode="auto">
            <a:xfrm>
              <a:off x="5414" y="318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5" name="Freeform 9"/>
            <p:cNvSpPr/>
            <p:nvPr/>
          </p:nvSpPr>
          <p:spPr bwMode="auto">
            <a:xfrm>
              <a:off x="2531" y="1528"/>
              <a:ext cx="1" cy="1660"/>
            </a:xfrm>
            <a:custGeom>
              <a:avLst/>
              <a:gdLst>
                <a:gd name="T0" fmla="*/ 0 w 1"/>
                <a:gd name="T1" fmla="*/ 0 h 1660"/>
                <a:gd name="T2" fmla="*/ 0 w 1"/>
                <a:gd name="T3" fmla="*/ 1660 h 1660"/>
                <a:gd name="T4" fmla="*/ 0 w 1"/>
                <a:gd name="T5" fmla="*/ 0 h 1660"/>
                <a:gd name="T6" fmla="*/ 0 w 1"/>
                <a:gd name="T7" fmla="*/ 0 h 1660"/>
                <a:gd name="T8" fmla="*/ 0 60000 65536"/>
                <a:gd name="T9" fmla="*/ 0 60000 65536"/>
                <a:gd name="T10" fmla="*/ 0 60000 65536"/>
                <a:gd name="T11" fmla="*/ 0 60000 65536"/>
                <a:gd name="T12" fmla="*/ 0 w 1"/>
                <a:gd name="T13" fmla="*/ 0 h 1660"/>
                <a:gd name="T14" fmla="*/ 1 w 1"/>
                <a:gd name="T15" fmla="*/ 1660 h 1660"/>
              </a:gdLst>
              <a:ahLst/>
              <a:cxnLst>
                <a:cxn ang="T8">
                  <a:pos x="T0" y="T1"/>
                </a:cxn>
                <a:cxn ang="T9">
                  <a:pos x="T2" y="T3"/>
                </a:cxn>
                <a:cxn ang="T10">
                  <a:pos x="T4" y="T5"/>
                </a:cxn>
                <a:cxn ang="T11">
                  <a:pos x="T6" y="T7"/>
                </a:cxn>
              </a:cxnLst>
              <a:rect l="T12" t="T13" r="T14" b="T15"/>
              <a:pathLst>
                <a:path w="1" h="1660">
                  <a:moveTo>
                    <a:pt x="0" y="0"/>
                  </a:moveTo>
                  <a:lnTo>
                    <a:pt x="0" y="166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6" name="Freeform 10"/>
            <p:cNvSpPr/>
            <p:nvPr/>
          </p:nvSpPr>
          <p:spPr bwMode="auto">
            <a:xfrm>
              <a:off x="3099" y="1462"/>
              <a:ext cx="383" cy="126"/>
            </a:xfrm>
            <a:custGeom>
              <a:avLst/>
              <a:gdLst>
                <a:gd name="T0" fmla="*/ 383 w 383"/>
                <a:gd name="T1" fmla="*/ 60 h 126"/>
                <a:gd name="T2" fmla="*/ 359 w 383"/>
                <a:gd name="T3" fmla="*/ 126 h 126"/>
                <a:gd name="T4" fmla="*/ 335 w 383"/>
                <a:gd name="T5" fmla="*/ 60 h 126"/>
                <a:gd name="T6" fmla="*/ 311 w 383"/>
                <a:gd name="T7" fmla="*/ 0 h 126"/>
                <a:gd name="T8" fmla="*/ 287 w 383"/>
                <a:gd name="T9" fmla="*/ 60 h 126"/>
                <a:gd name="T10" fmla="*/ 287 w 383"/>
                <a:gd name="T11" fmla="*/ 60 h 126"/>
                <a:gd name="T12" fmla="*/ 263 w 383"/>
                <a:gd name="T13" fmla="*/ 126 h 126"/>
                <a:gd name="T14" fmla="*/ 239 w 383"/>
                <a:gd name="T15" fmla="*/ 60 h 126"/>
                <a:gd name="T16" fmla="*/ 216 w 383"/>
                <a:gd name="T17" fmla="*/ 0 h 126"/>
                <a:gd name="T18" fmla="*/ 192 w 383"/>
                <a:gd name="T19" fmla="*/ 60 h 126"/>
                <a:gd name="T20" fmla="*/ 168 w 383"/>
                <a:gd name="T21" fmla="*/ 126 h 126"/>
                <a:gd name="T22" fmla="*/ 144 w 383"/>
                <a:gd name="T23" fmla="*/ 60 h 126"/>
                <a:gd name="T24" fmla="*/ 120 w 383"/>
                <a:gd name="T25" fmla="*/ 0 h 126"/>
                <a:gd name="T26" fmla="*/ 96 w 383"/>
                <a:gd name="T27" fmla="*/ 60 h 126"/>
                <a:gd name="T28" fmla="*/ 72 w 383"/>
                <a:gd name="T29" fmla="*/ 126 h 126"/>
                <a:gd name="T30" fmla="*/ 48 w 383"/>
                <a:gd name="T31" fmla="*/ 60 h 126"/>
                <a:gd name="T32" fmla="*/ 24 w 383"/>
                <a:gd name="T33" fmla="*/ 0 h 126"/>
                <a:gd name="T34" fmla="*/ 0 w 383"/>
                <a:gd name="T35" fmla="*/ 60 h 126"/>
                <a:gd name="T36" fmla="*/ 383 w 383"/>
                <a:gd name="T37" fmla="*/ 60 h 126"/>
                <a:gd name="T38" fmla="*/ 383 w 383"/>
                <a:gd name="T39" fmla="*/ 60 h 1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3"/>
                <a:gd name="T61" fmla="*/ 0 h 126"/>
                <a:gd name="T62" fmla="*/ 383 w 383"/>
                <a:gd name="T63" fmla="*/ 126 h 1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3" h="126">
                  <a:moveTo>
                    <a:pt x="383" y="60"/>
                  </a:moveTo>
                  <a:lnTo>
                    <a:pt x="359" y="126"/>
                  </a:lnTo>
                  <a:lnTo>
                    <a:pt x="335" y="60"/>
                  </a:lnTo>
                  <a:lnTo>
                    <a:pt x="311" y="0"/>
                  </a:lnTo>
                  <a:lnTo>
                    <a:pt x="287" y="60"/>
                  </a:lnTo>
                  <a:lnTo>
                    <a:pt x="263" y="126"/>
                  </a:lnTo>
                  <a:lnTo>
                    <a:pt x="239" y="60"/>
                  </a:lnTo>
                  <a:lnTo>
                    <a:pt x="216" y="0"/>
                  </a:lnTo>
                  <a:lnTo>
                    <a:pt x="192" y="60"/>
                  </a:lnTo>
                  <a:lnTo>
                    <a:pt x="168" y="126"/>
                  </a:lnTo>
                  <a:lnTo>
                    <a:pt x="144" y="60"/>
                  </a:lnTo>
                  <a:lnTo>
                    <a:pt x="120" y="0"/>
                  </a:lnTo>
                  <a:lnTo>
                    <a:pt x="96" y="60"/>
                  </a:lnTo>
                  <a:lnTo>
                    <a:pt x="72" y="126"/>
                  </a:lnTo>
                  <a:lnTo>
                    <a:pt x="48" y="60"/>
                  </a:lnTo>
                  <a:lnTo>
                    <a:pt x="24" y="0"/>
                  </a:lnTo>
                  <a:lnTo>
                    <a:pt x="0" y="60"/>
                  </a:lnTo>
                  <a:lnTo>
                    <a:pt x="38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7" name="Freeform 11"/>
            <p:cNvSpPr/>
            <p:nvPr/>
          </p:nvSpPr>
          <p:spPr bwMode="auto">
            <a:xfrm>
              <a:off x="3099" y="1498"/>
              <a:ext cx="383" cy="54"/>
            </a:xfrm>
            <a:custGeom>
              <a:avLst/>
              <a:gdLst>
                <a:gd name="T0" fmla="*/ 0 w 383"/>
                <a:gd name="T1" fmla="*/ 54 h 54"/>
                <a:gd name="T2" fmla="*/ 0 w 383"/>
                <a:gd name="T3" fmla="*/ 0 h 54"/>
                <a:gd name="T4" fmla="*/ 383 w 383"/>
                <a:gd name="T5" fmla="*/ 0 h 54"/>
                <a:gd name="T6" fmla="*/ 383 w 383"/>
                <a:gd name="T7" fmla="*/ 54 h 54"/>
                <a:gd name="T8" fmla="*/ 0 w 383"/>
                <a:gd name="T9" fmla="*/ 54 h 54"/>
                <a:gd name="T10" fmla="*/ 0 w 383"/>
                <a:gd name="T11" fmla="*/ 54 h 54"/>
                <a:gd name="T12" fmla="*/ 0 60000 65536"/>
                <a:gd name="T13" fmla="*/ 0 60000 65536"/>
                <a:gd name="T14" fmla="*/ 0 60000 65536"/>
                <a:gd name="T15" fmla="*/ 0 60000 65536"/>
                <a:gd name="T16" fmla="*/ 0 60000 65536"/>
                <a:gd name="T17" fmla="*/ 0 60000 65536"/>
                <a:gd name="T18" fmla="*/ 0 w 383"/>
                <a:gd name="T19" fmla="*/ 0 h 54"/>
                <a:gd name="T20" fmla="*/ 383 w 383"/>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83" h="54">
                  <a:moveTo>
                    <a:pt x="0" y="54"/>
                  </a:moveTo>
                  <a:lnTo>
                    <a:pt x="0" y="0"/>
                  </a:lnTo>
                  <a:lnTo>
                    <a:pt x="383" y="0"/>
                  </a:lnTo>
                  <a:lnTo>
                    <a:pt x="383"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8" name="Freeform 12"/>
            <p:cNvSpPr/>
            <p:nvPr/>
          </p:nvSpPr>
          <p:spPr bwMode="auto">
            <a:xfrm>
              <a:off x="3458"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59" name="Freeform 13"/>
            <p:cNvSpPr>
              <a:spLocks noEditPoints="1"/>
            </p:cNvSpPr>
            <p:nvPr/>
          </p:nvSpPr>
          <p:spPr bwMode="auto">
            <a:xfrm>
              <a:off x="3434"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0" name="Freeform 14"/>
            <p:cNvSpPr>
              <a:spLocks noEditPoints="1"/>
            </p:cNvSpPr>
            <p:nvPr/>
          </p:nvSpPr>
          <p:spPr bwMode="auto">
            <a:xfrm>
              <a:off x="3410"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1" name="Freeform 15"/>
            <p:cNvSpPr>
              <a:spLocks noEditPoints="1"/>
            </p:cNvSpPr>
            <p:nvPr/>
          </p:nvSpPr>
          <p:spPr bwMode="auto">
            <a:xfrm>
              <a:off x="3386"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2" name="Freeform 16"/>
            <p:cNvSpPr>
              <a:spLocks noEditPoints="1"/>
            </p:cNvSpPr>
            <p:nvPr/>
          </p:nvSpPr>
          <p:spPr bwMode="auto">
            <a:xfrm>
              <a:off x="3386"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3" name="Freeform 17"/>
            <p:cNvSpPr>
              <a:spLocks noEditPoints="1"/>
            </p:cNvSpPr>
            <p:nvPr/>
          </p:nvSpPr>
          <p:spPr bwMode="auto">
            <a:xfrm>
              <a:off x="3362"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4" name="Freeform 18"/>
            <p:cNvSpPr>
              <a:spLocks noEditPoints="1"/>
            </p:cNvSpPr>
            <p:nvPr/>
          </p:nvSpPr>
          <p:spPr bwMode="auto">
            <a:xfrm>
              <a:off x="3338"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5" name="Freeform 19"/>
            <p:cNvSpPr>
              <a:spLocks noEditPoints="1"/>
            </p:cNvSpPr>
            <p:nvPr/>
          </p:nvSpPr>
          <p:spPr bwMode="auto">
            <a:xfrm>
              <a:off x="3315" y="1462"/>
              <a:ext cx="23" cy="60"/>
            </a:xfrm>
            <a:custGeom>
              <a:avLst/>
              <a:gdLst>
                <a:gd name="T0" fmla="*/ 23 w 23"/>
                <a:gd name="T1" fmla="*/ 60 h 60"/>
                <a:gd name="T2" fmla="*/ 0 w 23"/>
                <a:gd name="T3" fmla="*/ 0 h 60"/>
                <a:gd name="T4" fmla="*/ 23 w 23"/>
                <a:gd name="T5" fmla="*/ 60 h 60"/>
                <a:gd name="T6" fmla="*/ 23 w 23"/>
                <a:gd name="T7" fmla="*/ 60 h 60"/>
                <a:gd name="T8" fmla="*/ 23 w 23"/>
                <a:gd name="T9" fmla="*/ 60 h 60"/>
                <a:gd name="T10" fmla="*/ 23 w 23"/>
                <a:gd name="T11" fmla="*/ 60 h 60"/>
                <a:gd name="T12" fmla="*/ 23 w 23"/>
                <a:gd name="T13" fmla="*/ 60 h 60"/>
                <a:gd name="T14" fmla="*/ 0 60000 65536"/>
                <a:gd name="T15" fmla="*/ 0 60000 65536"/>
                <a:gd name="T16" fmla="*/ 0 60000 65536"/>
                <a:gd name="T17" fmla="*/ 0 60000 65536"/>
                <a:gd name="T18" fmla="*/ 0 60000 65536"/>
                <a:gd name="T19" fmla="*/ 0 60000 65536"/>
                <a:gd name="T20" fmla="*/ 0 60000 65536"/>
                <a:gd name="T21" fmla="*/ 0 w 23"/>
                <a:gd name="T22" fmla="*/ 0 h 60"/>
                <a:gd name="T23" fmla="*/ 23 w 23"/>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0">
                  <a:moveTo>
                    <a:pt x="23" y="60"/>
                  </a:moveTo>
                  <a:lnTo>
                    <a:pt x="0" y="0"/>
                  </a:lnTo>
                  <a:lnTo>
                    <a:pt x="23" y="60"/>
                  </a:lnTo>
                  <a:close/>
                  <a:moveTo>
                    <a:pt x="23" y="60"/>
                  </a:moveTo>
                  <a:lnTo>
                    <a:pt x="2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6" name="Freeform 20"/>
            <p:cNvSpPr>
              <a:spLocks noEditPoints="1"/>
            </p:cNvSpPr>
            <p:nvPr/>
          </p:nvSpPr>
          <p:spPr bwMode="auto">
            <a:xfrm>
              <a:off x="3291"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7" name="Freeform 21"/>
            <p:cNvSpPr>
              <a:spLocks noEditPoints="1"/>
            </p:cNvSpPr>
            <p:nvPr/>
          </p:nvSpPr>
          <p:spPr bwMode="auto">
            <a:xfrm>
              <a:off x="3267"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8" name="Freeform 22"/>
            <p:cNvSpPr>
              <a:spLocks noEditPoints="1"/>
            </p:cNvSpPr>
            <p:nvPr/>
          </p:nvSpPr>
          <p:spPr bwMode="auto">
            <a:xfrm>
              <a:off x="3243"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69" name="Freeform 23"/>
            <p:cNvSpPr>
              <a:spLocks noEditPoints="1"/>
            </p:cNvSpPr>
            <p:nvPr/>
          </p:nvSpPr>
          <p:spPr bwMode="auto">
            <a:xfrm>
              <a:off x="3219"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0" name="Freeform 24"/>
            <p:cNvSpPr>
              <a:spLocks noEditPoints="1"/>
            </p:cNvSpPr>
            <p:nvPr/>
          </p:nvSpPr>
          <p:spPr bwMode="auto">
            <a:xfrm>
              <a:off x="3195"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1" name="Freeform 25"/>
            <p:cNvSpPr>
              <a:spLocks noEditPoints="1"/>
            </p:cNvSpPr>
            <p:nvPr/>
          </p:nvSpPr>
          <p:spPr bwMode="auto">
            <a:xfrm>
              <a:off x="3171"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2" name="Freeform 26"/>
            <p:cNvSpPr>
              <a:spLocks noEditPoints="1"/>
            </p:cNvSpPr>
            <p:nvPr/>
          </p:nvSpPr>
          <p:spPr bwMode="auto">
            <a:xfrm>
              <a:off x="3147"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3" name="Freeform 27"/>
            <p:cNvSpPr>
              <a:spLocks noEditPoints="1"/>
            </p:cNvSpPr>
            <p:nvPr/>
          </p:nvSpPr>
          <p:spPr bwMode="auto">
            <a:xfrm>
              <a:off x="3123"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4" name="Freeform 28"/>
            <p:cNvSpPr>
              <a:spLocks noEditPoints="1"/>
            </p:cNvSpPr>
            <p:nvPr/>
          </p:nvSpPr>
          <p:spPr bwMode="auto">
            <a:xfrm>
              <a:off x="3099"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5" name="Freeform 29"/>
            <p:cNvSpPr/>
            <p:nvPr/>
          </p:nvSpPr>
          <p:spPr bwMode="auto">
            <a:xfrm>
              <a:off x="4517" y="1462"/>
              <a:ext cx="382" cy="126"/>
            </a:xfrm>
            <a:custGeom>
              <a:avLst/>
              <a:gdLst>
                <a:gd name="T0" fmla="*/ 382 w 382"/>
                <a:gd name="T1" fmla="*/ 60 h 126"/>
                <a:gd name="T2" fmla="*/ 358 w 382"/>
                <a:gd name="T3" fmla="*/ 126 h 126"/>
                <a:gd name="T4" fmla="*/ 335 w 382"/>
                <a:gd name="T5" fmla="*/ 60 h 126"/>
                <a:gd name="T6" fmla="*/ 311 w 382"/>
                <a:gd name="T7" fmla="*/ 0 h 126"/>
                <a:gd name="T8" fmla="*/ 287 w 382"/>
                <a:gd name="T9" fmla="*/ 60 h 126"/>
                <a:gd name="T10" fmla="*/ 287 w 382"/>
                <a:gd name="T11" fmla="*/ 60 h 126"/>
                <a:gd name="T12" fmla="*/ 263 w 382"/>
                <a:gd name="T13" fmla="*/ 126 h 126"/>
                <a:gd name="T14" fmla="*/ 239 w 382"/>
                <a:gd name="T15" fmla="*/ 60 h 126"/>
                <a:gd name="T16" fmla="*/ 215 w 382"/>
                <a:gd name="T17" fmla="*/ 0 h 126"/>
                <a:gd name="T18" fmla="*/ 191 w 382"/>
                <a:gd name="T19" fmla="*/ 60 h 126"/>
                <a:gd name="T20" fmla="*/ 167 w 382"/>
                <a:gd name="T21" fmla="*/ 126 h 126"/>
                <a:gd name="T22" fmla="*/ 143 w 382"/>
                <a:gd name="T23" fmla="*/ 60 h 126"/>
                <a:gd name="T24" fmla="*/ 119 w 382"/>
                <a:gd name="T25" fmla="*/ 0 h 126"/>
                <a:gd name="T26" fmla="*/ 95 w 382"/>
                <a:gd name="T27" fmla="*/ 60 h 126"/>
                <a:gd name="T28" fmla="*/ 71 w 382"/>
                <a:gd name="T29" fmla="*/ 126 h 126"/>
                <a:gd name="T30" fmla="*/ 47 w 382"/>
                <a:gd name="T31" fmla="*/ 60 h 126"/>
                <a:gd name="T32" fmla="*/ 24 w 382"/>
                <a:gd name="T33" fmla="*/ 0 h 126"/>
                <a:gd name="T34" fmla="*/ 0 w 382"/>
                <a:gd name="T35" fmla="*/ 60 h 126"/>
                <a:gd name="T36" fmla="*/ 382 w 382"/>
                <a:gd name="T37" fmla="*/ 60 h 126"/>
                <a:gd name="T38" fmla="*/ 382 w 382"/>
                <a:gd name="T39" fmla="*/ 60 h 1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2"/>
                <a:gd name="T61" fmla="*/ 0 h 126"/>
                <a:gd name="T62" fmla="*/ 382 w 382"/>
                <a:gd name="T63" fmla="*/ 126 h 1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2" h="126">
                  <a:moveTo>
                    <a:pt x="382" y="60"/>
                  </a:moveTo>
                  <a:lnTo>
                    <a:pt x="358" y="126"/>
                  </a:lnTo>
                  <a:lnTo>
                    <a:pt x="335" y="60"/>
                  </a:lnTo>
                  <a:lnTo>
                    <a:pt x="311" y="0"/>
                  </a:lnTo>
                  <a:lnTo>
                    <a:pt x="287" y="60"/>
                  </a:lnTo>
                  <a:lnTo>
                    <a:pt x="263" y="126"/>
                  </a:lnTo>
                  <a:lnTo>
                    <a:pt x="239" y="60"/>
                  </a:lnTo>
                  <a:lnTo>
                    <a:pt x="215" y="0"/>
                  </a:lnTo>
                  <a:lnTo>
                    <a:pt x="191" y="60"/>
                  </a:lnTo>
                  <a:lnTo>
                    <a:pt x="167" y="126"/>
                  </a:lnTo>
                  <a:lnTo>
                    <a:pt x="143" y="60"/>
                  </a:lnTo>
                  <a:lnTo>
                    <a:pt x="119" y="0"/>
                  </a:lnTo>
                  <a:lnTo>
                    <a:pt x="95" y="60"/>
                  </a:lnTo>
                  <a:lnTo>
                    <a:pt x="71" y="126"/>
                  </a:lnTo>
                  <a:lnTo>
                    <a:pt x="47" y="60"/>
                  </a:lnTo>
                  <a:lnTo>
                    <a:pt x="24" y="0"/>
                  </a:lnTo>
                  <a:lnTo>
                    <a:pt x="0" y="60"/>
                  </a:lnTo>
                  <a:lnTo>
                    <a:pt x="382"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6" name="Freeform 30"/>
            <p:cNvSpPr/>
            <p:nvPr/>
          </p:nvSpPr>
          <p:spPr bwMode="auto">
            <a:xfrm>
              <a:off x="4517" y="1498"/>
              <a:ext cx="382" cy="54"/>
            </a:xfrm>
            <a:custGeom>
              <a:avLst/>
              <a:gdLst>
                <a:gd name="T0" fmla="*/ 0 w 382"/>
                <a:gd name="T1" fmla="*/ 54 h 54"/>
                <a:gd name="T2" fmla="*/ 0 w 382"/>
                <a:gd name="T3" fmla="*/ 0 h 54"/>
                <a:gd name="T4" fmla="*/ 382 w 382"/>
                <a:gd name="T5" fmla="*/ 0 h 54"/>
                <a:gd name="T6" fmla="*/ 382 w 382"/>
                <a:gd name="T7" fmla="*/ 54 h 54"/>
                <a:gd name="T8" fmla="*/ 0 w 382"/>
                <a:gd name="T9" fmla="*/ 54 h 54"/>
                <a:gd name="T10" fmla="*/ 0 w 382"/>
                <a:gd name="T11" fmla="*/ 54 h 54"/>
                <a:gd name="T12" fmla="*/ 0 60000 65536"/>
                <a:gd name="T13" fmla="*/ 0 60000 65536"/>
                <a:gd name="T14" fmla="*/ 0 60000 65536"/>
                <a:gd name="T15" fmla="*/ 0 60000 65536"/>
                <a:gd name="T16" fmla="*/ 0 60000 65536"/>
                <a:gd name="T17" fmla="*/ 0 60000 65536"/>
                <a:gd name="T18" fmla="*/ 0 w 382"/>
                <a:gd name="T19" fmla="*/ 0 h 54"/>
                <a:gd name="T20" fmla="*/ 382 w 382"/>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82" h="54">
                  <a:moveTo>
                    <a:pt x="0" y="54"/>
                  </a:moveTo>
                  <a:lnTo>
                    <a:pt x="0" y="0"/>
                  </a:lnTo>
                  <a:lnTo>
                    <a:pt x="382" y="0"/>
                  </a:lnTo>
                  <a:lnTo>
                    <a:pt x="382"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7" name="Freeform 31"/>
            <p:cNvSpPr>
              <a:spLocks noEditPoints="1"/>
            </p:cNvSpPr>
            <p:nvPr/>
          </p:nvSpPr>
          <p:spPr bwMode="auto">
            <a:xfrm>
              <a:off x="4684"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8" name="Freeform 32"/>
            <p:cNvSpPr>
              <a:spLocks noEditPoints="1"/>
            </p:cNvSpPr>
            <p:nvPr/>
          </p:nvSpPr>
          <p:spPr bwMode="auto">
            <a:xfrm>
              <a:off x="4660"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79" name="Freeform 33"/>
            <p:cNvSpPr>
              <a:spLocks noEditPoints="1"/>
            </p:cNvSpPr>
            <p:nvPr/>
          </p:nvSpPr>
          <p:spPr bwMode="auto">
            <a:xfrm>
              <a:off x="4636"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0" name="Freeform 34"/>
            <p:cNvSpPr>
              <a:spLocks noEditPoints="1"/>
            </p:cNvSpPr>
            <p:nvPr/>
          </p:nvSpPr>
          <p:spPr bwMode="auto">
            <a:xfrm>
              <a:off x="4612"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1" name="Freeform 35"/>
            <p:cNvSpPr>
              <a:spLocks noEditPoints="1"/>
            </p:cNvSpPr>
            <p:nvPr/>
          </p:nvSpPr>
          <p:spPr bwMode="auto">
            <a:xfrm>
              <a:off x="4588"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2" name="Freeform 36"/>
            <p:cNvSpPr>
              <a:spLocks noEditPoints="1"/>
            </p:cNvSpPr>
            <p:nvPr/>
          </p:nvSpPr>
          <p:spPr bwMode="auto">
            <a:xfrm>
              <a:off x="4564"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3" name="Freeform 37"/>
            <p:cNvSpPr>
              <a:spLocks noEditPoints="1"/>
            </p:cNvSpPr>
            <p:nvPr/>
          </p:nvSpPr>
          <p:spPr bwMode="auto">
            <a:xfrm>
              <a:off x="4541" y="1462"/>
              <a:ext cx="23" cy="60"/>
            </a:xfrm>
            <a:custGeom>
              <a:avLst/>
              <a:gdLst>
                <a:gd name="T0" fmla="*/ 23 w 23"/>
                <a:gd name="T1" fmla="*/ 60 h 60"/>
                <a:gd name="T2" fmla="*/ 0 w 23"/>
                <a:gd name="T3" fmla="*/ 0 h 60"/>
                <a:gd name="T4" fmla="*/ 23 w 23"/>
                <a:gd name="T5" fmla="*/ 60 h 60"/>
                <a:gd name="T6" fmla="*/ 23 w 23"/>
                <a:gd name="T7" fmla="*/ 60 h 60"/>
                <a:gd name="T8" fmla="*/ 23 w 23"/>
                <a:gd name="T9" fmla="*/ 60 h 60"/>
                <a:gd name="T10" fmla="*/ 23 w 23"/>
                <a:gd name="T11" fmla="*/ 60 h 60"/>
                <a:gd name="T12" fmla="*/ 23 w 23"/>
                <a:gd name="T13" fmla="*/ 60 h 60"/>
                <a:gd name="T14" fmla="*/ 0 60000 65536"/>
                <a:gd name="T15" fmla="*/ 0 60000 65536"/>
                <a:gd name="T16" fmla="*/ 0 60000 65536"/>
                <a:gd name="T17" fmla="*/ 0 60000 65536"/>
                <a:gd name="T18" fmla="*/ 0 60000 65536"/>
                <a:gd name="T19" fmla="*/ 0 60000 65536"/>
                <a:gd name="T20" fmla="*/ 0 60000 65536"/>
                <a:gd name="T21" fmla="*/ 0 w 23"/>
                <a:gd name="T22" fmla="*/ 0 h 60"/>
                <a:gd name="T23" fmla="*/ 23 w 23"/>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0">
                  <a:moveTo>
                    <a:pt x="23" y="60"/>
                  </a:moveTo>
                  <a:lnTo>
                    <a:pt x="0" y="0"/>
                  </a:lnTo>
                  <a:lnTo>
                    <a:pt x="23" y="60"/>
                  </a:lnTo>
                  <a:close/>
                  <a:moveTo>
                    <a:pt x="23" y="60"/>
                  </a:moveTo>
                  <a:lnTo>
                    <a:pt x="23"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4" name="Freeform 38"/>
            <p:cNvSpPr>
              <a:spLocks noEditPoints="1"/>
            </p:cNvSpPr>
            <p:nvPr/>
          </p:nvSpPr>
          <p:spPr bwMode="auto">
            <a:xfrm>
              <a:off x="4517"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5" name="Freeform 39"/>
            <p:cNvSpPr/>
            <p:nvPr/>
          </p:nvSpPr>
          <p:spPr bwMode="auto">
            <a:xfrm>
              <a:off x="5497" y="1767"/>
              <a:ext cx="72" cy="137"/>
            </a:xfrm>
            <a:custGeom>
              <a:avLst/>
              <a:gdLst>
                <a:gd name="T0" fmla="*/ 0 w 72"/>
                <a:gd name="T1" fmla="*/ 137 h 137"/>
                <a:gd name="T2" fmla="*/ 48 w 72"/>
                <a:gd name="T3" fmla="*/ 137 h 137"/>
                <a:gd name="T4" fmla="*/ 48 w 72"/>
                <a:gd name="T5" fmla="*/ 131 h 137"/>
                <a:gd name="T6" fmla="*/ 36 w 72"/>
                <a:gd name="T7" fmla="*/ 131 h 137"/>
                <a:gd name="T8" fmla="*/ 30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36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36" y="131"/>
                  </a:lnTo>
                  <a:lnTo>
                    <a:pt x="30" y="125"/>
                  </a:lnTo>
                  <a:lnTo>
                    <a:pt x="36" y="119"/>
                  </a:lnTo>
                  <a:lnTo>
                    <a:pt x="36" y="113"/>
                  </a:lnTo>
                  <a:lnTo>
                    <a:pt x="60" y="18"/>
                  </a:lnTo>
                  <a:lnTo>
                    <a:pt x="66" y="6"/>
                  </a:lnTo>
                  <a:lnTo>
                    <a:pt x="72" y="0"/>
                  </a:lnTo>
                  <a:lnTo>
                    <a:pt x="30" y="0"/>
                  </a:lnTo>
                  <a:lnTo>
                    <a:pt x="36" y="6"/>
                  </a:lnTo>
                  <a:lnTo>
                    <a:pt x="42" y="12"/>
                  </a:lnTo>
                  <a:lnTo>
                    <a:pt x="42" y="18"/>
                  </a:lnTo>
                  <a:lnTo>
                    <a:pt x="36"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6" name="Freeform 40"/>
            <p:cNvSpPr>
              <a:spLocks noEditPoints="1"/>
            </p:cNvSpPr>
            <p:nvPr/>
          </p:nvSpPr>
          <p:spPr bwMode="auto">
            <a:xfrm>
              <a:off x="5563" y="1886"/>
              <a:ext cx="60" cy="72"/>
            </a:xfrm>
            <a:custGeom>
              <a:avLst/>
              <a:gdLst>
                <a:gd name="T0" fmla="*/ 42 w 60"/>
                <a:gd name="T1" fmla="*/ 0 h 72"/>
                <a:gd name="T2" fmla="*/ 30 w 60"/>
                <a:gd name="T3" fmla="*/ 6 h 72"/>
                <a:gd name="T4" fmla="*/ 12 w 60"/>
                <a:gd name="T5" fmla="*/ 18 h 72"/>
                <a:gd name="T6" fmla="*/ 6 w 60"/>
                <a:gd name="T7" fmla="*/ 30 h 72"/>
                <a:gd name="T8" fmla="*/ 0 w 60"/>
                <a:gd name="T9" fmla="*/ 48 h 72"/>
                <a:gd name="T10" fmla="*/ 6 w 60"/>
                <a:gd name="T11" fmla="*/ 66 h 72"/>
                <a:gd name="T12" fmla="*/ 24 w 60"/>
                <a:gd name="T13" fmla="*/ 72 h 72"/>
                <a:gd name="T14" fmla="*/ 36 w 60"/>
                <a:gd name="T15" fmla="*/ 66 h 72"/>
                <a:gd name="T16" fmla="*/ 48 w 60"/>
                <a:gd name="T17" fmla="*/ 54 h 72"/>
                <a:gd name="T18" fmla="*/ 60 w 60"/>
                <a:gd name="T19" fmla="*/ 42 h 72"/>
                <a:gd name="T20" fmla="*/ 60 w 60"/>
                <a:gd name="T21" fmla="*/ 24 h 72"/>
                <a:gd name="T22" fmla="*/ 60 w 60"/>
                <a:gd name="T23" fmla="*/ 6 h 72"/>
                <a:gd name="T24" fmla="*/ 54 w 60"/>
                <a:gd name="T25" fmla="*/ 0 h 72"/>
                <a:gd name="T26" fmla="*/ 42 w 60"/>
                <a:gd name="T27" fmla="*/ 0 h 72"/>
                <a:gd name="T28" fmla="*/ 42 w 60"/>
                <a:gd name="T29" fmla="*/ 0 h 72"/>
                <a:gd name="T30" fmla="*/ 42 w 60"/>
                <a:gd name="T31" fmla="*/ 6 h 72"/>
                <a:gd name="T32" fmla="*/ 48 w 60"/>
                <a:gd name="T33" fmla="*/ 12 h 72"/>
                <a:gd name="T34" fmla="*/ 48 w 60"/>
                <a:gd name="T35" fmla="*/ 18 h 72"/>
                <a:gd name="T36" fmla="*/ 42 w 60"/>
                <a:gd name="T37" fmla="*/ 48 h 72"/>
                <a:gd name="T38" fmla="*/ 36 w 60"/>
                <a:gd name="T39" fmla="*/ 60 h 72"/>
                <a:gd name="T40" fmla="*/ 24 w 60"/>
                <a:gd name="T41" fmla="*/ 66 h 72"/>
                <a:gd name="T42" fmla="*/ 18 w 60"/>
                <a:gd name="T43" fmla="*/ 66 h 72"/>
                <a:gd name="T44" fmla="*/ 12 w 60"/>
                <a:gd name="T45" fmla="*/ 54 h 72"/>
                <a:gd name="T46" fmla="*/ 18 w 60"/>
                <a:gd name="T47" fmla="*/ 24 h 72"/>
                <a:gd name="T48" fmla="*/ 30 w 60"/>
                <a:gd name="T49" fmla="*/ 12 h 72"/>
                <a:gd name="T50" fmla="*/ 42 w 60"/>
                <a:gd name="T51" fmla="*/ 6 h 72"/>
                <a:gd name="T52" fmla="*/ 42 w 60"/>
                <a:gd name="T53" fmla="*/ 6 h 7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0"/>
                <a:gd name="T82" fmla="*/ 0 h 72"/>
                <a:gd name="T83" fmla="*/ 60 w 60"/>
                <a:gd name="T84" fmla="*/ 72 h 7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0" h="72">
                  <a:moveTo>
                    <a:pt x="42" y="0"/>
                  </a:moveTo>
                  <a:lnTo>
                    <a:pt x="30" y="6"/>
                  </a:lnTo>
                  <a:lnTo>
                    <a:pt x="12" y="18"/>
                  </a:lnTo>
                  <a:lnTo>
                    <a:pt x="6" y="30"/>
                  </a:lnTo>
                  <a:lnTo>
                    <a:pt x="0" y="48"/>
                  </a:lnTo>
                  <a:lnTo>
                    <a:pt x="6" y="66"/>
                  </a:lnTo>
                  <a:lnTo>
                    <a:pt x="24" y="72"/>
                  </a:lnTo>
                  <a:lnTo>
                    <a:pt x="36" y="66"/>
                  </a:lnTo>
                  <a:lnTo>
                    <a:pt x="48" y="54"/>
                  </a:lnTo>
                  <a:lnTo>
                    <a:pt x="60" y="42"/>
                  </a:lnTo>
                  <a:lnTo>
                    <a:pt x="60" y="24"/>
                  </a:lnTo>
                  <a:lnTo>
                    <a:pt x="60" y="6"/>
                  </a:lnTo>
                  <a:lnTo>
                    <a:pt x="54" y="0"/>
                  </a:lnTo>
                  <a:lnTo>
                    <a:pt x="42" y="0"/>
                  </a:lnTo>
                  <a:close/>
                  <a:moveTo>
                    <a:pt x="42" y="6"/>
                  </a:moveTo>
                  <a:lnTo>
                    <a:pt x="48" y="12"/>
                  </a:lnTo>
                  <a:lnTo>
                    <a:pt x="48" y="18"/>
                  </a:lnTo>
                  <a:lnTo>
                    <a:pt x="42" y="48"/>
                  </a:lnTo>
                  <a:lnTo>
                    <a:pt x="36" y="60"/>
                  </a:lnTo>
                  <a:lnTo>
                    <a:pt x="24" y="66"/>
                  </a:lnTo>
                  <a:lnTo>
                    <a:pt x="18" y="66"/>
                  </a:lnTo>
                  <a:lnTo>
                    <a:pt x="12" y="54"/>
                  </a:lnTo>
                  <a:lnTo>
                    <a:pt x="18" y="24"/>
                  </a:lnTo>
                  <a:lnTo>
                    <a:pt x="30" y="12"/>
                  </a:lnTo>
                  <a:lnTo>
                    <a:pt x="42"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7" name="Freeform 41"/>
            <p:cNvSpPr/>
            <p:nvPr/>
          </p:nvSpPr>
          <p:spPr bwMode="auto">
            <a:xfrm>
              <a:off x="1269" y="1259"/>
              <a:ext cx="78" cy="138"/>
            </a:xfrm>
            <a:custGeom>
              <a:avLst/>
              <a:gdLst>
                <a:gd name="T0" fmla="*/ 0 w 78"/>
                <a:gd name="T1" fmla="*/ 138 h 138"/>
                <a:gd name="T2" fmla="*/ 48 w 78"/>
                <a:gd name="T3" fmla="*/ 138 h 138"/>
                <a:gd name="T4" fmla="*/ 48 w 78"/>
                <a:gd name="T5" fmla="*/ 132 h 138"/>
                <a:gd name="T6" fmla="*/ 42 w 78"/>
                <a:gd name="T7" fmla="*/ 132 h 138"/>
                <a:gd name="T8" fmla="*/ 36 w 78"/>
                <a:gd name="T9" fmla="*/ 126 h 138"/>
                <a:gd name="T10" fmla="*/ 36 w 78"/>
                <a:gd name="T11" fmla="*/ 108 h 138"/>
                <a:gd name="T12" fmla="*/ 60 w 78"/>
                <a:gd name="T13" fmla="*/ 18 h 138"/>
                <a:gd name="T14" fmla="*/ 66 w 78"/>
                <a:gd name="T15" fmla="*/ 6 h 138"/>
                <a:gd name="T16" fmla="*/ 78 w 78"/>
                <a:gd name="T17" fmla="*/ 0 h 138"/>
                <a:gd name="T18" fmla="*/ 78 w 78"/>
                <a:gd name="T19" fmla="*/ 0 h 138"/>
                <a:gd name="T20" fmla="*/ 30 w 78"/>
                <a:gd name="T21" fmla="*/ 0 h 138"/>
                <a:gd name="T22" fmla="*/ 30 w 78"/>
                <a:gd name="T23" fmla="*/ 0 h 138"/>
                <a:gd name="T24" fmla="*/ 36 w 78"/>
                <a:gd name="T25" fmla="*/ 0 h 138"/>
                <a:gd name="T26" fmla="*/ 42 w 78"/>
                <a:gd name="T27" fmla="*/ 12 h 138"/>
                <a:gd name="T28" fmla="*/ 42 w 78"/>
                <a:gd name="T29" fmla="*/ 18 h 138"/>
                <a:gd name="T30" fmla="*/ 42 w 78"/>
                <a:gd name="T31" fmla="*/ 24 h 138"/>
                <a:gd name="T32" fmla="*/ 18 w 78"/>
                <a:gd name="T33" fmla="*/ 114 h 138"/>
                <a:gd name="T34" fmla="*/ 12 w 78"/>
                <a:gd name="T35" fmla="*/ 126 h 138"/>
                <a:gd name="T36" fmla="*/ 12 w 78"/>
                <a:gd name="T37" fmla="*/ 132 h 138"/>
                <a:gd name="T38" fmla="*/ 0 w 78"/>
                <a:gd name="T39" fmla="*/ 132 h 138"/>
                <a:gd name="T40" fmla="*/ 0 w 78"/>
                <a:gd name="T41" fmla="*/ 138 h 1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8"/>
                <a:gd name="T64" fmla="*/ 0 h 138"/>
                <a:gd name="T65" fmla="*/ 78 w 78"/>
                <a:gd name="T66" fmla="*/ 138 h 1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8" h="138">
                  <a:moveTo>
                    <a:pt x="0" y="138"/>
                  </a:moveTo>
                  <a:lnTo>
                    <a:pt x="48" y="138"/>
                  </a:lnTo>
                  <a:lnTo>
                    <a:pt x="48" y="132"/>
                  </a:lnTo>
                  <a:lnTo>
                    <a:pt x="42" y="132"/>
                  </a:lnTo>
                  <a:lnTo>
                    <a:pt x="36" y="126"/>
                  </a:lnTo>
                  <a:lnTo>
                    <a:pt x="36" y="108"/>
                  </a:lnTo>
                  <a:lnTo>
                    <a:pt x="60" y="18"/>
                  </a:lnTo>
                  <a:lnTo>
                    <a:pt x="66" y="6"/>
                  </a:lnTo>
                  <a:lnTo>
                    <a:pt x="78" y="0"/>
                  </a:lnTo>
                  <a:lnTo>
                    <a:pt x="30" y="0"/>
                  </a:lnTo>
                  <a:lnTo>
                    <a:pt x="36" y="0"/>
                  </a:lnTo>
                  <a:lnTo>
                    <a:pt x="42" y="12"/>
                  </a:lnTo>
                  <a:lnTo>
                    <a:pt x="42" y="18"/>
                  </a:lnTo>
                  <a:lnTo>
                    <a:pt x="42" y="24"/>
                  </a:lnTo>
                  <a:lnTo>
                    <a:pt x="18" y="114"/>
                  </a:lnTo>
                  <a:lnTo>
                    <a:pt x="12" y="126"/>
                  </a:lnTo>
                  <a:lnTo>
                    <a:pt x="12" y="132"/>
                  </a:lnTo>
                  <a:lnTo>
                    <a:pt x="0"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8" name="Freeform 42"/>
            <p:cNvSpPr>
              <a:spLocks noEditPoints="1"/>
            </p:cNvSpPr>
            <p:nvPr/>
          </p:nvSpPr>
          <p:spPr bwMode="auto">
            <a:xfrm>
              <a:off x="1341" y="1343"/>
              <a:ext cx="66" cy="101"/>
            </a:xfrm>
            <a:custGeom>
              <a:avLst/>
              <a:gdLst>
                <a:gd name="T0" fmla="*/ 66 w 66"/>
                <a:gd name="T1" fmla="*/ 66 h 101"/>
                <a:gd name="T2" fmla="*/ 48 w 66"/>
                <a:gd name="T3" fmla="*/ 66 h 101"/>
                <a:gd name="T4" fmla="*/ 48 w 66"/>
                <a:gd name="T5" fmla="*/ 0 h 101"/>
                <a:gd name="T6" fmla="*/ 42 w 66"/>
                <a:gd name="T7" fmla="*/ 0 h 101"/>
                <a:gd name="T8" fmla="*/ 0 w 66"/>
                <a:gd name="T9" fmla="*/ 66 h 101"/>
                <a:gd name="T10" fmla="*/ 0 w 66"/>
                <a:gd name="T11" fmla="*/ 78 h 101"/>
                <a:gd name="T12" fmla="*/ 42 w 66"/>
                <a:gd name="T13" fmla="*/ 78 h 101"/>
                <a:gd name="T14" fmla="*/ 42 w 66"/>
                <a:gd name="T15" fmla="*/ 101 h 101"/>
                <a:gd name="T16" fmla="*/ 48 w 66"/>
                <a:gd name="T17" fmla="*/ 101 h 101"/>
                <a:gd name="T18" fmla="*/ 48 w 66"/>
                <a:gd name="T19" fmla="*/ 78 h 101"/>
                <a:gd name="T20" fmla="*/ 66 w 66"/>
                <a:gd name="T21" fmla="*/ 78 h 101"/>
                <a:gd name="T22" fmla="*/ 66 w 66"/>
                <a:gd name="T23" fmla="*/ 66 h 101"/>
                <a:gd name="T24" fmla="*/ 42 w 66"/>
                <a:gd name="T25" fmla="*/ 66 h 101"/>
                <a:gd name="T26" fmla="*/ 6 w 66"/>
                <a:gd name="T27" fmla="*/ 66 h 101"/>
                <a:gd name="T28" fmla="*/ 36 w 66"/>
                <a:gd name="T29" fmla="*/ 12 h 101"/>
                <a:gd name="T30" fmla="*/ 42 w 66"/>
                <a:gd name="T31" fmla="*/ 12 h 101"/>
                <a:gd name="T32" fmla="*/ 42 w 66"/>
                <a:gd name="T33" fmla="*/ 66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6"/>
                <a:gd name="T52" fmla="*/ 0 h 101"/>
                <a:gd name="T53" fmla="*/ 66 w 66"/>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6" h="101">
                  <a:moveTo>
                    <a:pt x="66" y="66"/>
                  </a:moveTo>
                  <a:lnTo>
                    <a:pt x="48" y="66"/>
                  </a:lnTo>
                  <a:lnTo>
                    <a:pt x="48" y="0"/>
                  </a:lnTo>
                  <a:lnTo>
                    <a:pt x="42" y="0"/>
                  </a:lnTo>
                  <a:lnTo>
                    <a:pt x="0" y="66"/>
                  </a:lnTo>
                  <a:lnTo>
                    <a:pt x="0" y="78"/>
                  </a:lnTo>
                  <a:lnTo>
                    <a:pt x="42" y="78"/>
                  </a:lnTo>
                  <a:lnTo>
                    <a:pt x="42" y="101"/>
                  </a:lnTo>
                  <a:lnTo>
                    <a:pt x="48" y="101"/>
                  </a:lnTo>
                  <a:lnTo>
                    <a:pt x="48" y="78"/>
                  </a:lnTo>
                  <a:lnTo>
                    <a:pt x="66" y="78"/>
                  </a:lnTo>
                  <a:lnTo>
                    <a:pt x="66" y="66"/>
                  </a:lnTo>
                  <a:close/>
                  <a:moveTo>
                    <a:pt x="42" y="66"/>
                  </a:moveTo>
                  <a:lnTo>
                    <a:pt x="6" y="66"/>
                  </a:lnTo>
                  <a:lnTo>
                    <a:pt x="36" y="12"/>
                  </a:lnTo>
                  <a:lnTo>
                    <a:pt x="42" y="12"/>
                  </a:lnTo>
                  <a:lnTo>
                    <a:pt x="42" y="6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89" name="Freeform 43"/>
            <p:cNvSpPr/>
            <p:nvPr/>
          </p:nvSpPr>
          <p:spPr bwMode="auto">
            <a:xfrm>
              <a:off x="2770" y="1253"/>
              <a:ext cx="72" cy="138"/>
            </a:xfrm>
            <a:custGeom>
              <a:avLst/>
              <a:gdLst>
                <a:gd name="T0" fmla="*/ 0 w 72"/>
                <a:gd name="T1" fmla="*/ 138 h 138"/>
                <a:gd name="T2" fmla="*/ 42 w 72"/>
                <a:gd name="T3" fmla="*/ 138 h 138"/>
                <a:gd name="T4" fmla="*/ 42 w 72"/>
                <a:gd name="T5" fmla="*/ 138 h 138"/>
                <a:gd name="T6" fmla="*/ 36 w 72"/>
                <a:gd name="T7" fmla="*/ 138 h 138"/>
                <a:gd name="T8" fmla="*/ 30 w 72"/>
                <a:gd name="T9" fmla="*/ 132 h 138"/>
                <a:gd name="T10" fmla="*/ 30 w 72"/>
                <a:gd name="T11" fmla="*/ 126 h 138"/>
                <a:gd name="T12" fmla="*/ 36 w 72"/>
                <a:gd name="T13" fmla="*/ 114 h 138"/>
                <a:gd name="T14" fmla="*/ 54 w 72"/>
                <a:gd name="T15" fmla="*/ 24 h 138"/>
                <a:gd name="T16" fmla="*/ 60 w 72"/>
                <a:gd name="T17" fmla="*/ 12 h 138"/>
                <a:gd name="T18" fmla="*/ 60 w 72"/>
                <a:gd name="T19" fmla="*/ 6 h 138"/>
                <a:gd name="T20" fmla="*/ 72 w 72"/>
                <a:gd name="T21" fmla="*/ 6 h 138"/>
                <a:gd name="T22" fmla="*/ 72 w 72"/>
                <a:gd name="T23" fmla="*/ 0 h 138"/>
                <a:gd name="T24" fmla="*/ 24 w 72"/>
                <a:gd name="T25" fmla="*/ 0 h 138"/>
                <a:gd name="T26" fmla="*/ 24 w 72"/>
                <a:gd name="T27" fmla="*/ 6 h 138"/>
                <a:gd name="T28" fmla="*/ 36 w 72"/>
                <a:gd name="T29" fmla="*/ 6 h 138"/>
                <a:gd name="T30" fmla="*/ 42 w 72"/>
                <a:gd name="T31" fmla="*/ 18 h 138"/>
                <a:gd name="T32" fmla="*/ 42 w 72"/>
                <a:gd name="T33" fmla="*/ 24 h 138"/>
                <a:gd name="T34" fmla="*/ 36 w 72"/>
                <a:gd name="T35" fmla="*/ 30 h 138"/>
                <a:gd name="T36" fmla="*/ 12 w 72"/>
                <a:gd name="T37" fmla="*/ 120 h 138"/>
                <a:gd name="T38" fmla="*/ 6 w 72"/>
                <a:gd name="T39" fmla="*/ 132 h 138"/>
                <a:gd name="T40" fmla="*/ 0 w 72"/>
                <a:gd name="T41" fmla="*/ 138 h 138"/>
                <a:gd name="T42" fmla="*/ 0 w 72"/>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2"/>
                <a:gd name="T67" fmla="*/ 0 h 138"/>
                <a:gd name="T68" fmla="*/ 72 w 72"/>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2" h="138">
                  <a:moveTo>
                    <a:pt x="0" y="138"/>
                  </a:moveTo>
                  <a:lnTo>
                    <a:pt x="42" y="138"/>
                  </a:lnTo>
                  <a:lnTo>
                    <a:pt x="36" y="138"/>
                  </a:lnTo>
                  <a:lnTo>
                    <a:pt x="30" y="132"/>
                  </a:lnTo>
                  <a:lnTo>
                    <a:pt x="30" y="126"/>
                  </a:lnTo>
                  <a:lnTo>
                    <a:pt x="36" y="114"/>
                  </a:lnTo>
                  <a:lnTo>
                    <a:pt x="54" y="24"/>
                  </a:lnTo>
                  <a:lnTo>
                    <a:pt x="60" y="12"/>
                  </a:lnTo>
                  <a:lnTo>
                    <a:pt x="60" y="6"/>
                  </a:lnTo>
                  <a:lnTo>
                    <a:pt x="72" y="6"/>
                  </a:lnTo>
                  <a:lnTo>
                    <a:pt x="72" y="0"/>
                  </a:lnTo>
                  <a:lnTo>
                    <a:pt x="24" y="0"/>
                  </a:lnTo>
                  <a:lnTo>
                    <a:pt x="24" y="6"/>
                  </a:lnTo>
                  <a:lnTo>
                    <a:pt x="36" y="6"/>
                  </a:lnTo>
                  <a:lnTo>
                    <a:pt x="42" y="18"/>
                  </a:lnTo>
                  <a:lnTo>
                    <a:pt x="42" y="24"/>
                  </a:lnTo>
                  <a:lnTo>
                    <a:pt x="36" y="30"/>
                  </a:lnTo>
                  <a:lnTo>
                    <a:pt x="12" y="120"/>
                  </a:lnTo>
                  <a:lnTo>
                    <a:pt x="6"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0" name="Freeform 44"/>
            <p:cNvSpPr/>
            <p:nvPr/>
          </p:nvSpPr>
          <p:spPr bwMode="auto">
            <a:xfrm>
              <a:off x="2842" y="1337"/>
              <a:ext cx="60" cy="107"/>
            </a:xfrm>
            <a:custGeom>
              <a:avLst/>
              <a:gdLst>
                <a:gd name="T0" fmla="*/ 60 w 60"/>
                <a:gd name="T1" fmla="*/ 90 h 107"/>
                <a:gd name="T2" fmla="*/ 60 w 60"/>
                <a:gd name="T3" fmla="*/ 90 h 107"/>
                <a:gd name="T4" fmla="*/ 54 w 60"/>
                <a:gd name="T5" fmla="*/ 96 h 107"/>
                <a:gd name="T6" fmla="*/ 48 w 60"/>
                <a:gd name="T7" fmla="*/ 96 h 107"/>
                <a:gd name="T8" fmla="*/ 12 w 60"/>
                <a:gd name="T9" fmla="*/ 96 h 107"/>
                <a:gd name="T10" fmla="*/ 36 w 60"/>
                <a:gd name="T11" fmla="*/ 72 h 107"/>
                <a:gd name="T12" fmla="*/ 48 w 60"/>
                <a:gd name="T13" fmla="*/ 54 h 107"/>
                <a:gd name="T14" fmla="*/ 54 w 60"/>
                <a:gd name="T15" fmla="*/ 30 h 107"/>
                <a:gd name="T16" fmla="*/ 48 w 60"/>
                <a:gd name="T17" fmla="*/ 6 h 107"/>
                <a:gd name="T18" fmla="*/ 30 w 60"/>
                <a:gd name="T19" fmla="*/ 0 h 107"/>
                <a:gd name="T20" fmla="*/ 12 w 60"/>
                <a:gd name="T21" fmla="*/ 12 h 107"/>
                <a:gd name="T22" fmla="*/ 0 w 60"/>
                <a:gd name="T23" fmla="*/ 36 h 107"/>
                <a:gd name="T24" fmla="*/ 0 w 60"/>
                <a:gd name="T25" fmla="*/ 36 h 107"/>
                <a:gd name="T26" fmla="*/ 12 w 60"/>
                <a:gd name="T27" fmla="*/ 18 h 107"/>
                <a:gd name="T28" fmla="*/ 24 w 60"/>
                <a:gd name="T29" fmla="*/ 12 h 107"/>
                <a:gd name="T30" fmla="*/ 30 w 60"/>
                <a:gd name="T31" fmla="*/ 18 h 107"/>
                <a:gd name="T32" fmla="*/ 36 w 60"/>
                <a:gd name="T33" fmla="*/ 24 h 107"/>
                <a:gd name="T34" fmla="*/ 42 w 60"/>
                <a:gd name="T35" fmla="*/ 36 h 107"/>
                <a:gd name="T36" fmla="*/ 36 w 60"/>
                <a:gd name="T37" fmla="*/ 60 h 107"/>
                <a:gd name="T38" fmla="*/ 24 w 60"/>
                <a:gd name="T39" fmla="*/ 78 h 107"/>
                <a:gd name="T40" fmla="*/ 0 w 60"/>
                <a:gd name="T41" fmla="*/ 107 h 107"/>
                <a:gd name="T42" fmla="*/ 0 w 60"/>
                <a:gd name="T43" fmla="*/ 107 h 107"/>
                <a:gd name="T44" fmla="*/ 54 w 60"/>
                <a:gd name="T45" fmla="*/ 107 h 107"/>
                <a:gd name="T46" fmla="*/ 60 w 60"/>
                <a:gd name="T47" fmla="*/ 90 h 1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0"/>
                <a:gd name="T73" fmla="*/ 0 h 107"/>
                <a:gd name="T74" fmla="*/ 60 w 60"/>
                <a:gd name="T75" fmla="*/ 107 h 1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0" h="107">
                  <a:moveTo>
                    <a:pt x="60" y="90"/>
                  </a:moveTo>
                  <a:lnTo>
                    <a:pt x="60" y="90"/>
                  </a:lnTo>
                  <a:lnTo>
                    <a:pt x="54" y="96"/>
                  </a:lnTo>
                  <a:lnTo>
                    <a:pt x="48" y="96"/>
                  </a:lnTo>
                  <a:lnTo>
                    <a:pt x="12" y="96"/>
                  </a:lnTo>
                  <a:lnTo>
                    <a:pt x="36" y="72"/>
                  </a:lnTo>
                  <a:lnTo>
                    <a:pt x="48" y="54"/>
                  </a:lnTo>
                  <a:lnTo>
                    <a:pt x="54" y="30"/>
                  </a:lnTo>
                  <a:lnTo>
                    <a:pt x="48" y="6"/>
                  </a:lnTo>
                  <a:lnTo>
                    <a:pt x="30" y="0"/>
                  </a:lnTo>
                  <a:lnTo>
                    <a:pt x="12" y="12"/>
                  </a:lnTo>
                  <a:lnTo>
                    <a:pt x="0" y="36"/>
                  </a:lnTo>
                  <a:lnTo>
                    <a:pt x="12" y="18"/>
                  </a:lnTo>
                  <a:lnTo>
                    <a:pt x="24" y="12"/>
                  </a:lnTo>
                  <a:lnTo>
                    <a:pt x="30" y="18"/>
                  </a:lnTo>
                  <a:lnTo>
                    <a:pt x="36" y="24"/>
                  </a:lnTo>
                  <a:lnTo>
                    <a:pt x="42" y="36"/>
                  </a:lnTo>
                  <a:lnTo>
                    <a:pt x="36" y="60"/>
                  </a:lnTo>
                  <a:lnTo>
                    <a:pt x="24" y="78"/>
                  </a:lnTo>
                  <a:lnTo>
                    <a:pt x="0" y="107"/>
                  </a:lnTo>
                  <a:lnTo>
                    <a:pt x="54" y="107"/>
                  </a:lnTo>
                  <a:lnTo>
                    <a:pt x="60"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1" name="Freeform 45"/>
            <p:cNvSpPr/>
            <p:nvPr/>
          </p:nvSpPr>
          <p:spPr bwMode="auto">
            <a:xfrm>
              <a:off x="2615" y="1767"/>
              <a:ext cx="72" cy="137"/>
            </a:xfrm>
            <a:custGeom>
              <a:avLst/>
              <a:gdLst>
                <a:gd name="T0" fmla="*/ 0 w 72"/>
                <a:gd name="T1" fmla="*/ 137 h 137"/>
                <a:gd name="T2" fmla="*/ 48 w 72"/>
                <a:gd name="T3" fmla="*/ 137 h 137"/>
                <a:gd name="T4" fmla="*/ 48 w 72"/>
                <a:gd name="T5" fmla="*/ 131 h 137"/>
                <a:gd name="T6" fmla="*/ 42 w 72"/>
                <a:gd name="T7" fmla="*/ 131 h 137"/>
                <a:gd name="T8" fmla="*/ 36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42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42" y="131"/>
                  </a:lnTo>
                  <a:lnTo>
                    <a:pt x="36" y="125"/>
                  </a:lnTo>
                  <a:lnTo>
                    <a:pt x="36" y="119"/>
                  </a:lnTo>
                  <a:lnTo>
                    <a:pt x="36" y="113"/>
                  </a:lnTo>
                  <a:lnTo>
                    <a:pt x="60" y="18"/>
                  </a:lnTo>
                  <a:lnTo>
                    <a:pt x="66" y="6"/>
                  </a:lnTo>
                  <a:lnTo>
                    <a:pt x="72" y="0"/>
                  </a:lnTo>
                  <a:lnTo>
                    <a:pt x="30" y="0"/>
                  </a:lnTo>
                  <a:lnTo>
                    <a:pt x="36" y="6"/>
                  </a:lnTo>
                  <a:lnTo>
                    <a:pt x="42" y="12"/>
                  </a:lnTo>
                  <a:lnTo>
                    <a:pt x="42" y="18"/>
                  </a:lnTo>
                  <a:lnTo>
                    <a:pt x="42"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2" name="Freeform 46"/>
            <p:cNvSpPr/>
            <p:nvPr/>
          </p:nvSpPr>
          <p:spPr bwMode="auto">
            <a:xfrm>
              <a:off x="2693" y="1851"/>
              <a:ext cx="53" cy="107"/>
            </a:xfrm>
            <a:custGeom>
              <a:avLst/>
              <a:gdLst>
                <a:gd name="T0" fmla="*/ 12 w 53"/>
                <a:gd name="T1" fmla="*/ 53 h 107"/>
                <a:gd name="T2" fmla="*/ 24 w 53"/>
                <a:gd name="T3" fmla="*/ 53 h 107"/>
                <a:gd name="T4" fmla="*/ 30 w 53"/>
                <a:gd name="T5" fmla="*/ 59 h 107"/>
                <a:gd name="T6" fmla="*/ 41 w 53"/>
                <a:gd name="T7" fmla="*/ 65 h 107"/>
                <a:gd name="T8" fmla="*/ 41 w 53"/>
                <a:gd name="T9" fmla="*/ 77 h 107"/>
                <a:gd name="T10" fmla="*/ 35 w 53"/>
                <a:gd name="T11" fmla="*/ 95 h 107"/>
                <a:gd name="T12" fmla="*/ 24 w 53"/>
                <a:gd name="T13" fmla="*/ 101 h 107"/>
                <a:gd name="T14" fmla="*/ 12 w 53"/>
                <a:gd name="T15" fmla="*/ 101 h 107"/>
                <a:gd name="T16" fmla="*/ 6 w 53"/>
                <a:gd name="T17" fmla="*/ 95 h 107"/>
                <a:gd name="T18" fmla="*/ 0 w 53"/>
                <a:gd name="T19" fmla="*/ 95 h 107"/>
                <a:gd name="T20" fmla="*/ 0 w 53"/>
                <a:gd name="T21" fmla="*/ 101 h 107"/>
                <a:gd name="T22" fmla="*/ 6 w 53"/>
                <a:gd name="T23" fmla="*/ 107 h 107"/>
                <a:gd name="T24" fmla="*/ 12 w 53"/>
                <a:gd name="T25" fmla="*/ 107 h 107"/>
                <a:gd name="T26" fmla="*/ 41 w 53"/>
                <a:gd name="T27" fmla="*/ 101 h 107"/>
                <a:gd name="T28" fmla="*/ 53 w 53"/>
                <a:gd name="T29" fmla="*/ 89 h 107"/>
                <a:gd name="T30" fmla="*/ 53 w 53"/>
                <a:gd name="T31" fmla="*/ 71 h 107"/>
                <a:gd name="T32" fmla="*/ 53 w 53"/>
                <a:gd name="T33" fmla="*/ 59 h 107"/>
                <a:gd name="T34" fmla="*/ 47 w 53"/>
                <a:gd name="T35" fmla="*/ 47 h 107"/>
                <a:gd name="T36" fmla="*/ 35 w 53"/>
                <a:gd name="T37" fmla="*/ 41 h 107"/>
                <a:gd name="T38" fmla="*/ 41 w 53"/>
                <a:gd name="T39" fmla="*/ 29 h 107"/>
                <a:gd name="T40" fmla="*/ 47 w 53"/>
                <a:gd name="T41" fmla="*/ 17 h 107"/>
                <a:gd name="T42" fmla="*/ 41 w 53"/>
                <a:gd name="T43" fmla="*/ 5 h 107"/>
                <a:gd name="T44" fmla="*/ 24 w 53"/>
                <a:gd name="T45" fmla="*/ 0 h 107"/>
                <a:gd name="T46" fmla="*/ 12 w 53"/>
                <a:gd name="T47" fmla="*/ 5 h 107"/>
                <a:gd name="T48" fmla="*/ 0 w 53"/>
                <a:gd name="T49" fmla="*/ 23 h 107"/>
                <a:gd name="T50" fmla="*/ 0 w 53"/>
                <a:gd name="T51" fmla="*/ 23 h 107"/>
                <a:gd name="T52" fmla="*/ 6 w 53"/>
                <a:gd name="T53" fmla="*/ 11 h 107"/>
                <a:gd name="T54" fmla="*/ 18 w 53"/>
                <a:gd name="T55" fmla="*/ 5 h 107"/>
                <a:gd name="T56" fmla="*/ 30 w 53"/>
                <a:gd name="T57" fmla="*/ 11 h 107"/>
                <a:gd name="T58" fmla="*/ 35 w 53"/>
                <a:gd name="T59" fmla="*/ 23 h 107"/>
                <a:gd name="T60" fmla="*/ 30 w 53"/>
                <a:gd name="T61" fmla="*/ 41 h 107"/>
                <a:gd name="T62" fmla="*/ 12 w 53"/>
                <a:gd name="T63" fmla="*/ 53 h 107"/>
                <a:gd name="T64" fmla="*/ 12 w 53"/>
                <a:gd name="T65" fmla="*/ 53 h 1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3"/>
                <a:gd name="T100" fmla="*/ 0 h 107"/>
                <a:gd name="T101" fmla="*/ 53 w 53"/>
                <a:gd name="T102" fmla="*/ 107 h 10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3" h="107">
                  <a:moveTo>
                    <a:pt x="12" y="53"/>
                  </a:moveTo>
                  <a:lnTo>
                    <a:pt x="24" y="53"/>
                  </a:lnTo>
                  <a:lnTo>
                    <a:pt x="30" y="59"/>
                  </a:lnTo>
                  <a:lnTo>
                    <a:pt x="41" y="65"/>
                  </a:lnTo>
                  <a:lnTo>
                    <a:pt x="41" y="77"/>
                  </a:lnTo>
                  <a:lnTo>
                    <a:pt x="35" y="95"/>
                  </a:lnTo>
                  <a:lnTo>
                    <a:pt x="24" y="101"/>
                  </a:lnTo>
                  <a:lnTo>
                    <a:pt x="12" y="101"/>
                  </a:lnTo>
                  <a:lnTo>
                    <a:pt x="6" y="95"/>
                  </a:lnTo>
                  <a:lnTo>
                    <a:pt x="0" y="95"/>
                  </a:lnTo>
                  <a:lnTo>
                    <a:pt x="0" y="101"/>
                  </a:lnTo>
                  <a:lnTo>
                    <a:pt x="6" y="107"/>
                  </a:lnTo>
                  <a:lnTo>
                    <a:pt x="12" y="107"/>
                  </a:lnTo>
                  <a:lnTo>
                    <a:pt x="41" y="101"/>
                  </a:lnTo>
                  <a:lnTo>
                    <a:pt x="53" y="89"/>
                  </a:lnTo>
                  <a:lnTo>
                    <a:pt x="53" y="71"/>
                  </a:lnTo>
                  <a:lnTo>
                    <a:pt x="53" y="59"/>
                  </a:lnTo>
                  <a:lnTo>
                    <a:pt x="47" y="47"/>
                  </a:lnTo>
                  <a:lnTo>
                    <a:pt x="35" y="41"/>
                  </a:lnTo>
                  <a:lnTo>
                    <a:pt x="41" y="29"/>
                  </a:lnTo>
                  <a:lnTo>
                    <a:pt x="47" y="17"/>
                  </a:lnTo>
                  <a:lnTo>
                    <a:pt x="41" y="5"/>
                  </a:lnTo>
                  <a:lnTo>
                    <a:pt x="24" y="0"/>
                  </a:lnTo>
                  <a:lnTo>
                    <a:pt x="12" y="5"/>
                  </a:lnTo>
                  <a:lnTo>
                    <a:pt x="0" y="23"/>
                  </a:lnTo>
                  <a:lnTo>
                    <a:pt x="6" y="11"/>
                  </a:lnTo>
                  <a:lnTo>
                    <a:pt x="18" y="5"/>
                  </a:lnTo>
                  <a:lnTo>
                    <a:pt x="30" y="11"/>
                  </a:lnTo>
                  <a:lnTo>
                    <a:pt x="35" y="23"/>
                  </a:lnTo>
                  <a:lnTo>
                    <a:pt x="30" y="41"/>
                  </a:lnTo>
                  <a:lnTo>
                    <a:pt x="12" y="5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3" name="Freeform 47"/>
            <p:cNvSpPr/>
            <p:nvPr/>
          </p:nvSpPr>
          <p:spPr bwMode="auto">
            <a:xfrm>
              <a:off x="2459" y="1253"/>
              <a:ext cx="114" cy="144"/>
            </a:xfrm>
            <a:custGeom>
              <a:avLst/>
              <a:gdLst>
                <a:gd name="T0" fmla="*/ 114 w 114"/>
                <a:gd name="T1" fmla="*/ 0 h 144"/>
                <a:gd name="T2" fmla="*/ 78 w 114"/>
                <a:gd name="T3" fmla="*/ 0 h 144"/>
                <a:gd name="T4" fmla="*/ 78 w 114"/>
                <a:gd name="T5" fmla="*/ 6 h 144"/>
                <a:gd name="T6" fmla="*/ 84 w 114"/>
                <a:gd name="T7" fmla="*/ 6 h 144"/>
                <a:gd name="T8" fmla="*/ 90 w 114"/>
                <a:gd name="T9" fmla="*/ 12 h 144"/>
                <a:gd name="T10" fmla="*/ 84 w 114"/>
                <a:gd name="T11" fmla="*/ 24 h 144"/>
                <a:gd name="T12" fmla="*/ 78 w 114"/>
                <a:gd name="T13" fmla="*/ 36 h 144"/>
                <a:gd name="T14" fmla="*/ 78 w 114"/>
                <a:gd name="T15" fmla="*/ 36 h 144"/>
                <a:gd name="T16" fmla="*/ 42 w 114"/>
                <a:gd name="T17" fmla="*/ 114 h 144"/>
                <a:gd name="T18" fmla="*/ 42 w 114"/>
                <a:gd name="T19" fmla="*/ 114 h 144"/>
                <a:gd name="T20" fmla="*/ 30 w 114"/>
                <a:gd name="T21" fmla="*/ 18 h 144"/>
                <a:gd name="T22" fmla="*/ 30 w 114"/>
                <a:gd name="T23" fmla="*/ 6 h 144"/>
                <a:gd name="T24" fmla="*/ 42 w 114"/>
                <a:gd name="T25" fmla="*/ 6 h 144"/>
                <a:gd name="T26" fmla="*/ 42 w 114"/>
                <a:gd name="T27" fmla="*/ 0 h 144"/>
                <a:gd name="T28" fmla="*/ 0 w 114"/>
                <a:gd name="T29" fmla="*/ 0 h 144"/>
                <a:gd name="T30" fmla="*/ 0 w 114"/>
                <a:gd name="T31" fmla="*/ 6 h 144"/>
                <a:gd name="T32" fmla="*/ 6 w 114"/>
                <a:gd name="T33" fmla="*/ 12 h 144"/>
                <a:gd name="T34" fmla="*/ 6 w 114"/>
                <a:gd name="T35" fmla="*/ 18 h 144"/>
                <a:gd name="T36" fmla="*/ 12 w 114"/>
                <a:gd name="T37" fmla="*/ 36 h 144"/>
                <a:gd name="T38" fmla="*/ 30 w 114"/>
                <a:gd name="T39" fmla="*/ 144 h 144"/>
                <a:gd name="T40" fmla="*/ 30 w 114"/>
                <a:gd name="T41" fmla="*/ 144 h 144"/>
                <a:gd name="T42" fmla="*/ 102 w 114"/>
                <a:gd name="T43" fmla="*/ 12 h 144"/>
                <a:gd name="T44" fmla="*/ 108 w 114"/>
                <a:gd name="T45" fmla="*/ 12 h 144"/>
                <a:gd name="T46" fmla="*/ 114 w 114"/>
                <a:gd name="T47" fmla="*/ 6 h 144"/>
                <a:gd name="T48" fmla="*/ 114 w 114"/>
                <a:gd name="T49" fmla="*/ 0 h 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4"/>
                <a:gd name="T76" fmla="*/ 0 h 144"/>
                <a:gd name="T77" fmla="*/ 114 w 114"/>
                <a:gd name="T78" fmla="*/ 144 h 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4" h="144">
                  <a:moveTo>
                    <a:pt x="114" y="0"/>
                  </a:moveTo>
                  <a:lnTo>
                    <a:pt x="78" y="0"/>
                  </a:lnTo>
                  <a:lnTo>
                    <a:pt x="78" y="6"/>
                  </a:lnTo>
                  <a:lnTo>
                    <a:pt x="84" y="6"/>
                  </a:lnTo>
                  <a:lnTo>
                    <a:pt x="90" y="12"/>
                  </a:lnTo>
                  <a:lnTo>
                    <a:pt x="84" y="24"/>
                  </a:lnTo>
                  <a:lnTo>
                    <a:pt x="78" y="36"/>
                  </a:lnTo>
                  <a:lnTo>
                    <a:pt x="42" y="114"/>
                  </a:lnTo>
                  <a:lnTo>
                    <a:pt x="30" y="18"/>
                  </a:lnTo>
                  <a:lnTo>
                    <a:pt x="30" y="6"/>
                  </a:lnTo>
                  <a:lnTo>
                    <a:pt x="42" y="6"/>
                  </a:lnTo>
                  <a:lnTo>
                    <a:pt x="42" y="0"/>
                  </a:lnTo>
                  <a:lnTo>
                    <a:pt x="0" y="0"/>
                  </a:lnTo>
                  <a:lnTo>
                    <a:pt x="0" y="6"/>
                  </a:lnTo>
                  <a:lnTo>
                    <a:pt x="6" y="12"/>
                  </a:lnTo>
                  <a:lnTo>
                    <a:pt x="6" y="18"/>
                  </a:lnTo>
                  <a:lnTo>
                    <a:pt x="12" y="36"/>
                  </a:lnTo>
                  <a:lnTo>
                    <a:pt x="30" y="144"/>
                  </a:lnTo>
                  <a:lnTo>
                    <a:pt x="102" y="12"/>
                  </a:lnTo>
                  <a:lnTo>
                    <a:pt x="108" y="12"/>
                  </a:lnTo>
                  <a:lnTo>
                    <a:pt x="114" y="6"/>
                  </a:lnTo>
                  <a:lnTo>
                    <a:pt x="11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4" name="Freeform 48"/>
            <p:cNvSpPr/>
            <p:nvPr/>
          </p:nvSpPr>
          <p:spPr bwMode="auto">
            <a:xfrm>
              <a:off x="2561" y="1337"/>
              <a:ext cx="60" cy="107"/>
            </a:xfrm>
            <a:custGeom>
              <a:avLst/>
              <a:gdLst>
                <a:gd name="T0" fmla="*/ 60 w 60"/>
                <a:gd name="T1" fmla="*/ 90 h 107"/>
                <a:gd name="T2" fmla="*/ 60 w 60"/>
                <a:gd name="T3" fmla="*/ 84 h 107"/>
                <a:gd name="T4" fmla="*/ 54 w 60"/>
                <a:gd name="T5" fmla="*/ 96 h 107"/>
                <a:gd name="T6" fmla="*/ 48 w 60"/>
                <a:gd name="T7" fmla="*/ 96 h 107"/>
                <a:gd name="T8" fmla="*/ 12 w 60"/>
                <a:gd name="T9" fmla="*/ 96 h 107"/>
                <a:gd name="T10" fmla="*/ 36 w 60"/>
                <a:gd name="T11" fmla="*/ 72 h 107"/>
                <a:gd name="T12" fmla="*/ 48 w 60"/>
                <a:gd name="T13" fmla="*/ 54 h 107"/>
                <a:gd name="T14" fmla="*/ 54 w 60"/>
                <a:gd name="T15" fmla="*/ 30 h 107"/>
                <a:gd name="T16" fmla="*/ 48 w 60"/>
                <a:gd name="T17" fmla="*/ 6 h 107"/>
                <a:gd name="T18" fmla="*/ 30 w 60"/>
                <a:gd name="T19" fmla="*/ 0 h 107"/>
                <a:gd name="T20" fmla="*/ 12 w 60"/>
                <a:gd name="T21" fmla="*/ 12 h 107"/>
                <a:gd name="T22" fmla="*/ 0 w 60"/>
                <a:gd name="T23" fmla="*/ 36 h 107"/>
                <a:gd name="T24" fmla="*/ 0 w 60"/>
                <a:gd name="T25" fmla="*/ 36 h 107"/>
                <a:gd name="T26" fmla="*/ 12 w 60"/>
                <a:gd name="T27" fmla="*/ 18 h 107"/>
                <a:gd name="T28" fmla="*/ 24 w 60"/>
                <a:gd name="T29" fmla="*/ 12 h 107"/>
                <a:gd name="T30" fmla="*/ 30 w 60"/>
                <a:gd name="T31" fmla="*/ 18 h 107"/>
                <a:gd name="T32" fmla="*/ 36 w 60"/>
                <a:gd name="T33" fmla="*/ 24 h 107"/>
                <a:gd name="T34" fmla="*/ 42 w 60"/>
                <a:gd name="T35" fmla="*/ 36 h 107"/>
                <a:gd name="T36" fmla="*/ 36 w 60"/>
                <a:gd name="T37" fmla="*/ 54 h 107"/>
                <a:gd name="T38" fmla="*/ 24 w 60"/>
                <a:gd name="T39" fmla="*/ 78 h 107"/>
                <a:gd name="T40" fmla="*/ 0 w 60"/>
                <a:gd name="T41" fmla="*/ 107 h 107"/>
                <a:gd name="T42" fmla="*/ 0 w 60"/>
                <a:gd name="T43" fmla="*/ 107 h 107"/>
                <a:gd name="T44" fmla="*/ 54 w 60"/>
                <a:gd name="T45" fmla="*/ 107 h 107"/>
                <a:gd name="T46" fmla="*/ 60 w 60"/>
                <a:gd name="T47" fmla="*/ 90 h 1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0"/>
                <a:gd name="T73" fmla="*/ 0 h 107"/>
                <a:gd name="T74" fmla="*/ 60 w 60"/>
                <a:gd name="T75" fmla="*/ 107 h 1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0" h="107">
                  <a:moveTo>
                    <a:pt x="60" y="90"/>
                  </a:moveTo>
                  <a:lnTo>
                    <a:pt x="60" y="84"/>
                  </a:lnTo>
                  <a:lnTo>
                    <a:pt x="54" y="96"/>
                  </a:lnTo>
                  <a:lnTo>
                    <a:pt x="48" y="96"/>
                  </a:lnTo>
                  <a:lnTo>
                    <a:pt x="12" y="96"/>
                  </a:lnTo>
                  <a:lnTo>
                    <a:pt x="36" y="72"/>
                  </a:lnTo>
                  <a:lnTo>
                    <a:pt x="48" y="54"/>
                  </a:lnTo>
                  <a:lnTo>
                    <a:pt x="54" y="30"/>
                  </a:lnTo>
                  <a:lnTo>
                    <a:pt x="48" y="6"/>
                  </a:lnTo>
                  <a:lnTo>
                    <a:pt x="30" y="0"/>
                  </a:lnTo>
                  <a:lnTo>
                    <a:pt x="12" y="12"/>
                  </a:lnTo>
                  <a:lnTo>
                    <a:pt x="0" y="36"/>
                  </a:lnTo>
                  <a:lnTo>
                    <a:pt x="12" y="18"/>
                  </a:lnTo>
                  <a:lnTo>
                    <a:pt x="24" y="12"/>
                  </a:lnTo>
                  <a:lnTo>
                    <a:pt x="30" y="18"/>
                  </a:lnTo>
                  <a:lnTo>
                    <a:pt x="36" y="24"/>
                  </a:lnTo>
                  <a:lnTo>
                    <a:pt x="42" y="36"/>
                  </a:lnTo>
                  <a:lnTo>
                    <a:pt x="36" y="54"/>
                  </a:lnTo>
                  <a:lnTo>
                    <a:pt x="24" y="78"/>
                  </a:lnTo>
                  <a:lnTo>
                    <a:pt x="0" y="107"/>
                  </a:lnTo>
                  <a:lnTo>
                    <a:pt x="54" y="107"/>
                  </a:lnTo>
                  <a:lnTo>
                    <a:pt x="60"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5" name="Freeform 49"/>
            <p:cNvSpPr>
              <a:spLocks noEditPoints="1"/>
            </p:cNvSpPr>
            <p:nvPr/>
          </p:nvSpPr>
          <p:spPr bwMode="auto">
            <a:xfrm>
              <a:off x="1688" y="1194"/>
              <a:ext cx="78" cy="143"/>
            </a:xfrm>
            <a:custGeom>
              <a:avLst/>
              <a:gdLst>
                <a:gd name="T0" fmla="*/ 78 w 78"/>
                <a:gd name="T1" fmla="*/ 0 h 143"/>
                <a:gd name="T2" fmla="*/ 48 w 78"/>
                <a:gd name="T3" fmla="*/ 6 h 143"/>
                <a:gd name="T4" fmla="*/ 24 w 78"/>
                <a:gd name="T5" fmla="*/ 24 h 143"/>
                <a:gd name="T6" fmla="*/ 6 w 78"/>
                <a:gd name="T7" fmla="*/ 53 h 143"/>
                <a:gd name="T8" fmla="*/ 0 w 78"/>
                <a:gd name="T9" fmla="*/ 83 h 143"/>
                <a:gd name="T10" fmla="*/ 6 w 78"/>
                <a:gd name="T11" fmla="*/ 113 h 143"/>
                <a:gd name="T12" fmla="*/ 12 w 78"/>
                <a:gd name="T13" fmla="*/ 131 h 143"/>
                <a:gd name="T14" fmla="*/ 24 w 78"/>
                <a:gd name="T15" fmla="*/ 137 h 143"/>
                <a:gd name="T16" fmla="*/ 42 w 78"/>
                <a:gd name="T17" fmla="*/ 143 h 143"/>
                <a:gd name="T18" fmla="*/ 60 w 78"/>
                <a:gd name="T19" fmla="*/ 137 h 143"/>
                <a:gd name="T20" fmla="*/ 72 w 78"/>
                <a:gd name="T21" fmla="*/ 125 h 143"/>
                <a:gd name="T22" fmla="*/ 78 w 78"/>
                <a:gd name="T23" fmla="*/ 95 h 143"/>
                <a:gd name="T24" fmla="*/ 72 w 78"/>
                <a:gd name="T25" fmla="*/ 65 h 143"/>
                <a:gd name="T26" fmla="*/ 60 w 78"/>
                <a:gd name="T27" fmla="*/ 59 h 143"/>
                <a:gd name="T28" fmla="*/ 48 w 78"/>
                <a:gd name="T29" fmla="*/ 53 h 143"/>
                <a:gd name="T30" fmla="*/ 36 w 78"/>
                <a:gd name="T31" fmla="*/ 53 h 143"/>
                <a:gd name="T32" fmla="*/ 18 w 78"/>
                <a:gd name="T33" fmla="*/ 59 h 143"/>
                <a:gd name="T34" fmla="*/ 36 w 78"/>
                <a:gd name="T35" fmla="*/ 24 h 143"/>
                <a:gd name="T36" fmla="*/ 54 w 78"/>
                <a:gd name="T37" fmla="*/ 6 h 143"/>
                <a:gd name="T38" fmla="*/ 78 w 78"/>
                <a:gd name="T39" fmla="*/ 0 h 143"/>
                <a:gd name="T40" fmla="*/ 78 w 78"/>
                <a:gd name="T41" fmla="*/ 0 h 143"/>
                <a:gd name="T42" fmla="*/ 36 w 78"/>
                <a:gd name="T43" fmla="*/ 65 h 143"/>
                <a:gd name="T44" fmla="*/ 48 w 78"/>
                <a:gd name="T45" fmla="*/ 71 h 143"/>
                <a:gd name="T46" fmla="*/ 60 w 78"/>
                <a:gd name="T47" fmla="*/ 77 h 143"/>
                <a:gd name="T48" fmla="*/ 60 w 78"/>
                <a:gd name="T49" fmla="*/ 107 h 143"/>
                <a:gd name="T50" fmla="*/ 60 w 78"/>
                <a:gd name="T51" fmla="*/ 125 h 143"/>
                <a:gd name="T52" fmla="*/ 54 w 78"/>
                <a:gd name="T53" fmla="*/ 131 h 143"/>
                <a:gd name="T54" fmla="*/ 42 w 78"/>
                <a:gd name="T55" fmla="*/ 137 h 143"/>
                <a:gd name="T56" fmla="*/ 36 w 78"/>
                <a:gd name="T57" fmla="*/ 137 h 143"/>
                <a:gd name="T58" fmla="*/ 24 w 78"/>
                <a:gd name="T59" fmla="*/ 125 h 143"/>
                <a:gd name="T60" fmla="*/ 18 w 78"/>
                <a:gd name="T61" fmla="*/ 113 h 143"/>
                <a:gd name="T62" fmla="*/ 18 w 78"/>
                <a:gd name="T63" fmla="*/ 89 h 143"/>
                <a:gd name="T64" fmla="*/ 18 w 78"/>
                <a:gd name="T65" fmla="*/ 77 h 143"/>
                <a:gd name="T66" fmla="*/ 18 w 78"/>
                <a:gd name="T67" fmla="*/ 71 h 143"/>
                <a:gd name="T68" fmla="*/ 30 w 78"/>
                <a:gd name="T69" fmla="*/ 65 h 143"/>
                <a:gd name="T70" fmla="*/ 36 w 78"/>
                <a:gd name="T71" fmla="*/ 65 h 143"/>
                <a:gd name="T72" fmla="*/ 36 w 78"/>
                <a:gd name="T73" fmla="*/ 65 h 14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
                <a:gd name="T112" fmla="*/ 0 h 143"/>
                <a:gd name="T113" fmla="*/ 78 w 78"/>
                <a:gd name="T114" fmla="*/ 143 h 14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 h="143">
                  <a:moveTo>
                    <a:pt x="78" y="0"/>
                  </a:moveTo>
                  <a:lnTo>
                    <a:pt x="48" y="6"/>
                  </a:lnTo>
                  <a:lnTo>
                    <a:pt x="24" y="24"/>
                  </a:lnTo>
                  <a:lnTo>
                    <a:pt x="6" y="53"/>
                  </a:lnTo>
                  <a:lnTo>
                    <a:pt x="0" y="83"/>
                  </a:lnTo>
                  <a:lnTo>
                    <a:pt x="6" y="113"/>
                  </a:lnTo>
                  <a:lnTo>
                    <a:pt x="12" y="131"/>
                  </a:lnTo>
                  <a:lnTo>
                    <a:pt x="24" y="137"/>
                  </a:lnTo>
                  <a:lnTo>
                    <a:pt x="42" y="143"/>
                  </a:lnTo>
                  <a:lnTo>
                    <a:pt x="60" y="137"/>
                  </a:lnTo>
                  <a:lnTo>
                    <a:pt x="72" y="125"/>
                  </a:lnTo>
                  <a:lnTo>
                    <a:pt x="78" y="95"/>
                  </a:lnTo>
                  <a:lnTo>
                    <a:pt x="72" y="65"/>
                  </a:lnTo>
                  <a:lnTo>
                    <a:pt x="60" y="59"/>
                  </a:lnTo>
                  <a:lnTo>
                    <a:pt x="48" y="53"/>
                  </a:lnTo>
                  <a:lnTo>
                    <a:pt x="36" y="53"/>
                  </a:lnTo>
                  <a:lnTo>
                    <a:pt x="18" y="59"/>
                  </a:lnTo>
                  <a:lnTo>
                    <a:pt x="36" y="24"/>
                  </a:lnTo>
                  <a:lnTo>
                    <a:pt x="54" y="6"/>
                  </a:lnTo>
                  <a:lnTo>
                    <a:pt x="78" y="0"/>
                  </a:lnTo>
                  <a:close/>
                  <a:moveTo>
                    <a:pt x="36" y="65"/>
                  </a:moveTo>
                  <a:lnTo>
                    <a:pt x="48" y="71"/>
                  </a:lnTo>
                  <a:lnTo>
                    <a:pt x="60" y="77"/>
                  </a:lnTo>
                  <a:lnTo>
                    <a:pt x="60" y="107"/>
                  </a:lnTo>
                  <a:lnTo>
                    <a:pt x="60" y="125"/>
                  </a:lnTo>
                  <a:lnTo>
                    <a:pt x="54" y="131"/>
                  </a:lnTo>
                  <a:lnTo>
                    <a:pt x="42" y="137"/>
                  </a:lnTo>
                  <a:lnTo>
                    <a:pt x="36" y="137"/>
                  </a:lnTo>
                  <a:lnTo>
                    <a:pt x="24" y="125"/>
                  </a:lnTo>
                  <a:lnTo>
                    <a:pt x="18" y="113"/>
                  </a:lnTo>
                  <a:lnTo>
                    <a:pt x="18" y="89"/>
                  </a:lnTo>
                  <a:lnTo>
                    <a:pt x="18" y="77"/>
                  </a:lnTo>
                  <a:lnTo>
                    <a:pt x="18" y="71"/>
                  </a:lnTo>
                  <a:lnTo>
                    <a:pt x="30" y="65"/>
                  </a:lnTo>
                  <a:lnTo>
                    <a:pt x="36" y="6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6" name="Freeform 50"/>
            <p:cNvSpPr/>
            <p:nvPr/>
          </p:nvSpPr>
          <p:spPr bwMode="auto">
            <a:xfrm>
              <a:off x="1825" y="1194"/>
              <a:ext cx="132" cy="143"/>
            </a:xfrm>
            <a:custGeom>
              <a:avLst/>
              <a:gdLst>
                <a:gd name="T0" fmla="*/ 54 w 132"/>
                <a:gd name="T1" fmla="*/ 113 h 143"/>
                <a:gd name="T2" fmla="*/ 42 w 132"/>
                <a:gd name="T3" fmla="*/ 107 h 143"/>
                <a:gd name="T4" fmla="*/ 36 w 132"/>
                <a:gd name="T5" fmla="*/ 101 h 143"/>
                <a:gd name="T6" fmla="*/ 30 w 132"/>
                <a:gd name="T7" fmla="*/ 89 h 143"/>
                <a:gd name="T8" fmla="*/ 24 w 132"/>
                <a:gd name="T9" fmla="*/ 71 h 143"/>
                <a:gd name="T10" fmla="*/ 24 w 132"/>
                <a:gd name="T11" fmla="*/ 53 h 143"/>
                <a:gd name="T12" fmla="*/ 30 w 132"/>
                <a:gd name="T13" fmla="*/ 36 h 143"/>
                <a:gd name="T14" fmla="*/ 36 w 132"/>
                <a:gd name="T15" fmla="*/ 18 h 143"/>
                <a:gd name="T16" fmla="*/ 54 w 132"/>
                <a:gd name="T17" fmla="*/ 6 h 143"/>
                <a:gd name="T18" fmla="*/ 66 w 132"/>
                <a:gd name="T19" fmla="*/ 6 h 143"/>
                <a:gd name="T20" fmla="*/ 78 w 132"/>
                <a:gd name="T21" fmla="*/ 6 h 143"/>
                <a:gd name="T22" fmla="*/ 90 w 132"/>
                <a:gd name="T23" fmla="*/ 18 h 143"/>
                <a:gd name="T24" fmla="*/ 102 w 132"/>
                <a:gd name="T25" fmla="*/ 36 h 143"/>
                <a:gd name="T26" fmla="*/ 108 w 132"/>
                <a:gd name="T27" fmla="*/ 53 h 143"/>
                <a:gd name="T28" fmla="*/ 108 w 132"/>
                <a:gd name="T29" fmla="*/ 71 h 143"/>
                <a:gd name="T30" fmla="*/ 102 w 132"/>
                <a:gd name="T31" fmla="*/ 89 h 143"/>
                <a:gd name="T32" fmla="*/ 96 w 132"/>
                <a:gd name="T33" fmla="*/ 101 h 143"/>
                <a:gd name="T34" fmla="*/ 90 w 132"/>
                <a:gd name="T35" fmla="*/ 107 h 143"/>
                <a:gd name="T36" fmla="*/ 78 w 132"/>
                <a:gd name="T37" fmla="*/ 113 h 143"/>
                <a:gd name="T38" fmla="*/ 78 w 132"/>
                <a:gd name="T39" fmla="*/ 143 h 143"/>
                <a:gd name="T40" fmla="*/ 132 w 132"/>
                <a:gd name="T41" fmla="*/ 143 h 143"/>
                <a:gd name="T42" fmla="*/ 132 w 132"/>
                <a:gd name="T43" fmla="*/ 107 h 143"/>
                <a:gd name="T44" fmla="*/ 126 w 132"/>
                <a:gd name="T45" fmla="*/ 107 h 143"/>
                <a:gd name="T46" fmla="*/ 120 w 132"/>
                <a:gd name="T47" fmla="*/ 119 h 143"/>
                <a:gd name="T48" fmla="*/ 114 w 132"/>
                <a:gd name="T49" fmla="*/ 119 h 143"/>
                <a:gd name="T50" fmla="*/ 84 w 132"/>
                <a:gd name="T51" fmla="*/ 119 h 143"/>
                <a:gd name="T52" fmla="*/ 84 w 132"/>
                <a:gd name="T53" fmla="*/ 113 h 143"/>
                <a:gd name="T54" fmla="*/ 102 w 132"/>
                <a:gd name="T55" fmla="*/ 107 h 143"/>
                <a:gd name="T56" fmla="*/ 114 w 132"/>
                <a:gd name="T57" fmla="*/ 95 h 143"/>
                <a:gd name="T58" fmla="*/ 126 w 132"/>
                <a:gd name="T59" fmla="*/ 77 h 143"/>
                <a:gd name="T60" fmla="*/ 126 w 132"/>
                <a:gd name="T61" fmla="*/ 59 h 143"/>
                <a:gd name="T62" fmla="*/ 120 w 132"/>
                <a:gd name="T63" fmla="*/ 30 h 143"/>
                <a:gd name="T64" fmla="*/ 108 w 132"/>
                <a:gd name="T65" fmla="*/ 18 h 143"/>
                <a:gd name="T66" fmla="*/ 96 w 132"/>
                <a:gd name="T67" fmla="*/ 6 h 143"/>
                <a:gd name="T68" fmla="*/ 84 w 132"/>
                <a:gd name="T69" fmla="*/ 0 h 143"/>
                <a:gd name="T70" fmla="*/ 66 w 132"/>
                <a:gd name="T71" fmla="*/ 0 h 143"/>
                <a:gd name="T72" fmla="*/ 48 w 132"/>
                <a:gd name="T73" fmla="*/ 0 h 143"/>
                <a:gd name="T74" fmla="*/ 30 w 132"/>
                <a:gd name="T75" fmla="*/ 6 h 143"/>
                <a:gd name="T76" fmla="*/ 24 w 132"/>
                <a:gd name="T77" fmla="*/ 18 h 143"/>
                <a:gd name="T78" fmla="*/ 12 w 132"/>
                <a:gd name="T79" fmla="*/ 30 h 143"/>
                <a:gd name="T80" fmla="*/ 6 w 132"/>
                <a:gd name="T81" fmla="*/ 59 h 143"/>
                <a:gd name="T82" fmla="*/ 12 w 132"/>
                <a:gd name="T83" fmla="*/ 95 h 143"/>
                <a:gd name="T84" fmla="*/ 24 w 132"/>
                <a:gd name="T85" fmla="*/ 107 h 143"/>
                <a:gd name="T86" fmla="*/ 42 w 132"/>
                <a:gd name="T87" fmla="*/ 113 h 143"/>
                <a:gd name="T88" fmla="*/ 42 w 132"/>
                <a:gd name="T89" fmla="*/ 119 h 143"/>
                <a:gd name="T90" fmla="*/ 12 w 132"/>
                <a:gd name="T91" fmla="*/ 119 h 143"/>
                <a:gd name="T92" fmla="*/ 6 w 132"/>
                <a:gd name="T93" fmla="*/ 119 h 143"/>
                <a:gd name="T94" fmla="*/ 0 w 132"/>
                <a:gd name="T95" fmla="*/ 107 h 143"/>
                <a:gd name="T96" fmla="*/ 0 w 132"/>
                <a:gd name="T97" fmla="*/ 107 h 143"/>
                <a:gd name="T98" fmla="*/ 0 w 132"/>
                <a:gd name="T99" fmla="*/ 143 h 143"/>
                <a:gd name="T100" fmla="*/ 54 w 132"/>
                <a:gd name="T101" fmla="*/ 143 h 143"/>
                <a:gd name="T102" fmla="*/ 54 w 132"/>
                <a:gd name="T103" fmla="*/ 113 h 14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3"/>
                <a:gd name="T158" fmla="*/ 132 w 132"/>
                <a:gd name="T159" fmla="*/ 143 h 143"/>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3">
                  <a:moveTo>
                    <a:pt x="54" y="113"/>
                  </a:moveTo>
                  <a:lnTo>
                    <a:pt x="42" y="107"/>
                  </a:lnTo>
                  <a:lnTo>
                    <a:pt x="36" y="101"/>
                  </a:lnTo>
                  <a:lnTo>
                    <a:pt x="30" y="89"/>
                  </a:lnTo>
                  <a:lnTo>
                    <a:pt x="24" y="71"/>
                  </a:lnTo>
                  <a:lnTo>
                    <a:pt x="24" y="53"/>
                  </a:lnTo>
                  <a:lnTo>
                    <a:pt x="30" y="36"/>
                  </a:lnTo>
                  <a:lnTo>
                    <a:pt x="36" y="18"/>
                  </a:lnTo>
                  <a:lnTo>
                    <a:pt x="54" y="6"/>
                  </a:lnTo>
                  <a:lnTo>
                    <a:pt x="66" y="6"/>
                  </a:lnTo>
                  <a:lnTo>
                    <a:pt x="78" y="6"/>
                  </a:lnTo>
                  <a:lnTo>
                    <a:pt x="90" y="18"/>
                  </a:lnTo>
                  <a:lnTo>
                    <a:pt x="102" y="36"/>
                  </a:lnTo>
                  <a:lnTo>
                    <a:pt x="108" y="53"/>
                  </a:lnTo>
                  <a:lnTo>
                    <a:pt x="108" y="71"/>
                  </a:lnTo>
                  <a:lnTo>
                    <a:pt x="102" y="89"/>
                  </a:lnTo>
                  <a:lnTo>
                    <a:pt x="96" y="101"/>
                  </a:lnTo>
                  <a:lnTo>
                    <a:pt x="90" y="107"/>
                  </a:lnTo>
                  <a:lnTo>
                    <a:pt x="78" y="113"/>
                  </a:lnTo>
                  <a:lnTo>
                    <a:pt x="78" y="143"/>
                  </a:lnTo>
                  <a:lnTo>
                    <a:pt x="132" y="143"/>
                  </a:lnTo>
                  <a:lnTo>
                    <a:pt x="132" y="107"/>
                  </a:lnTo>
                  <a:lnTo>
                    <a:pt x="126" y="107"/>
                  </a:lnTo>
                  <a:lnTo>
                    <a:pt x="120" y="119"/>
                  </a:lnTo>
                  <a:lnTo>
                    <a:pt x="114" y="119"/>
                  </a:lnTo>
                  <a:lnTo>
                    <a:pt x="84" y="119"/>
                  </a:lnTo>
                  <a:lnTo>
                    <a:pt x="84" y="113"/>
                  </a:lnTo>
                  <a:lnTo>
                    <a:pt x="102" y="107"/>
                  </a:lnTo>
                  <a:lnTo>
                    <a:pt x="114" y="95"/>
                  </a:lnTo>
                  <a:lnTo>
                    <a:pt x="126" y="77"/>
                  </a:lnTo>
                  <a:lnTo>
                    <a:pt x="126" y="59"/>
                  </a:lnTo>
                  <a:lnTo>
                    <a:pt x="120" y="30"/>
                  </a:lnTo>
                  <a:lnTo>
                    <a:pt x="108" y="18"/>
                  </a:lnTo>
                  <a:lnTo>
                    <a:pt x="96" y="6"/>
                  </a:lnTo>
                  <a:lnTo>
                    <a:pt x="84" y="0"/>
                  </a:lnTo>
                  <a:lnTo>
                    <a:pt x="66" y="0"/>
                  </a:lnTo>
                  <a:lnTo>
                    <a:pt x="48" y="0"/>
                  </a:lnTo>
                  <a:lnTo>
                    <a:pt x="30" y="6"/>
                  </a:lnTo>
                  <a:lnTo>
                    <a:pt x="24" y="18"/>
                  </a:lnTo>
                  <a:lnTo>
                    <a:pt x="12" y="30"/>
                  </a:lnTo>
                  <a:lnTo>
                    <a:pt x="6" y="59"/>
                  </a:lnTo>
                  <a:lnTo>
                    <a:pt x="12" y="95"/>
                  </a:lnTo>
                  <a:lnTo>
                    <a:pt x="24" y="107"/>
                  </a:lnTo>
                  <a:lnTo>
                    <a:pt x="42" y="113"/>
                  </a:lnTo>
                  <a:lnTo>
                    <a:pt x="42" y="119"/>
                  </a:lnTo>
                  <a:lnTo>
                    <a:pt x="12" y="119"/>
                  </a:lnTo>
                  <a:lnTo>
                    <a:pt x="6" y="119"/>
                  </a:lnTo>
                  <a:lnTo>
                    <a:pt x="0" y="107"/>
                  </a:lnTo>
                  <a:lnTo>
                    <a:pt x="0" y="143"/>
                  </a:lnTo>
                  <a:lnTo>
                    <a:pt x="54" y="143"/>
                  </a:lnTo>
                  <a:lnTo>
                    <a:pt x="54"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7" name="Freeform 51"/>
            <p:cNvSpPr/>
            <p:nvPr/>
          </p:nvSpPr>
          <p:spPr bwMode="auto">
            <a:xfrm>
              <a:off x="3153" y="1194"/>
              <a:ext cx="78" cy="143"/>
            </a:xfrm>
            <a:custGeom>
              <a:avLst/>
              <a:gdLst>
                <a:gd name="T0" fmla="*/ 78 w 78"/>
                <a:gd name="T1" fmla="*/ 113 h 143"/>
                <a:gd name="T2" fmla="*/ 78 w 78"/>
                <a:gd name="T3" fmla="*/ 113 h 143"/>
                <a:gd name="T4" fmla="*/ 72 w 78"/>
                <a:gd name="T5" fmla="*/ 125 h 143"/>
                <a:gd name="T6" fmla="*/ 60 w 78"/>
                <a:gd name="T7" fmla="*/ 125 h 143"/>
                <a:gd name="T8" fmla="*/ 18 w 78"/>
                <a:gd name="T9" fmla="*/ 125 h 143"/>
                <a:gd name="T10" fmla="*/ 48 w 78"/>
                <a:gd name="T11" fmla="*/ 89 h 143"/>
                <a:gd name="T12" fmla="*/ 60 w 78"/>
                <a:gd name="T13" fmla="*/ 65 h 143"/>
                <a:gd name="T14" fmla="*/ 72 w 78"/>
                <a:gd name="T15" fmla="*/ 53 h 143"/>
                <a:gd name="T16" fmla="*/ 72 w 78"/>
                <a:gd name="T17" fmla="*/ 36 h 143"/>
                <a:gd name="T18" fmla="*/ 72 w 78"/>
                <a:gd name="T19" fmla="*/ 18 h 143"/>
                <a:gd name="T20" fmla="*/ 60 w 78"/>
                <a:gd name="T21" fmla="*/ 12 h 143"/>
                <a:gd name="T22" fmla="*/ 36 w 78"/>
                <a:gd name="T23" fmla="*/ 0 h 143"/>
                <a:gd name="T24" fmla="*/ 18 w 78"/>
                <a:gd name="T25" fmla="*/ 12 h 143"/>
                <a:gd name="T26" fmla="*/ 6 w 78"/>
                <a:gd name="T27" fmla="*/ 24 h 143"/>
                <a:gd name="T28" fmla="*/ 0 w 78"/>
                <a:gd name="T29" fmla="*/ 41 h 143"/>
                <a:gd name="T30" fmla="*/ 0 w 78"/>
                <a:gd name="T31" fmla="*/ 41 h 143"/>
                <a:gd name="T32" fmla="*/ 12 w 78"/>
                <a:gd name="T33" fmla="*/ 24 h 143"/>
                <a:gd name="T34" fmla="*/ 30 w 78"/>
                <a:gd name="T35" fmla="*/ 18 h 143"/>
                <a:gd name="T36" fmla="*/ 42 w 78"/>
                <a:gd name="T37" fmla="*/ 24 h 143"/>
                <a:gd name="T38" fmla="*/ 48 w 78"/>
                <a:gd name="T39" fmla="*/ 30 h 143"/>
                <a:gd name="T40" fmla="*/ 54 w 78"/>
                <a:gd name="T41" fmla="*/ 47 h 143"/>
                <a:gd name="T42" fmla="*/ 48 w 78"/>
                <a:gd name="T43" fmla="*/ 71 h 143"/>
                <a:gd name="T44" fmla="*/ 30 w 78"/>
                <a:gd name="T45" fmla="*/ 101 h 143"/>
                <a:gd name="T46" fmla="*/ 0 w 78"/>
                <a:gd name="T47" fmla="*/ 137 h 143"/>
                <a:gd name="T48" fmla="*/ 0 w 78"/>
                <a:gd name="T49" fmla="*/ 143 h 143"/>
                <a:gd name="T50" fmla="*/ 72 w 78"/>
                <a:gd name="T51" fmla="*/ 143 h 143"/>
                <a:gd name="T52" fmla="*/ 78 w 78"/>
                <a:gd name="T53" fmla="*/ 113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
                <a:gd name="T82" fmla="*/ 0 h 143"/>
                <a:gd name="T83" fmla="*/ 78 w 78"/>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 h="143">
                  <a:moveTo>
                    <a:pt x="78" y="113"/>
                  </a:moveTo>
                  <a:lnTo>
                    <a:pt x="78" y="113"/>
                  </a:lnTo>
                  <a:lnTo>
                    <a:pt x="72" y="125"/>
                  </a:lnTo>
                  <a:lnTo>
                    <a:pt x="60" y="125"/>
                  </a:lnTo>
                  <a:lnTo>
                    <a:pt x="18" y="125"/>
                  </a:lnTo>
                  <a:lnTo>
                    <a:pt x="48" y="89"/>
                  </a:lnTo>
                  <a:lnTo>
                    <a:pt x="60" y="65"/>
                  </a:lnTo>
                  <a:lnTo>
                    <a:pt x="72" y="53"/>
                  </a:lnTo>
                  <a:lnTo>
                    <a:pt x="72" y="36"/>
                  </a:lnTo>
                  <a:lnTo>
                    <a:pt x="72" y="18"/>
                  </a:lnTo>
                  <a:lnTo>
                    <a:pt x="60" y="12"/>
                  </a:lnTo>
                  <a:lnTo>
                    <a:pt x="36" y="0"/>
                  </a:lnTo>
                  <a:lnTo>
                    <a:pt x="18" y="12"/>
                  </a:lnTo>
                  <a:lnTo>
                    <a:pt x="6" y="24"/>
                  </a:lnTo>
                  <a:lnTo>
                    <a:pt x="0" y="41"/>
                  </a:lnTo>
                  <a:lnTo>
                    <a:pt x="12" y="24"/>
                  </a:lnTo>
                  <a:lnTo>
                    <a:pt x="30" y="18"/>
                  </a:lnTo>
                  <a:lnTo>
                    <a:pt x="42" y="24"/>
                  </a:lnTo>
                  <a:lnTo>
                    <a:pt x="48" y="30"/>
                  </a:lnTo>
                  <a:lnTo>
                    <a:pt x="54" y="47"/>
                  </a:lnTo>
                  <a:lnTo>
                    <a:pt x="48" y="71"/>
                  </a:lnTo>
                  <a:lnTo>
                    <a:pt x="30" y="101"/>
                  </a:lnTo>
                  <a:lnTo>
                    <a:pt x="0" y="137"/>
                  </a:lnTo>
                  <a:lnTo>
                    <a:pt x="0" y="143"/>
                  </a:lnTo>
                  <a:lnTo>
                    <a:pt x="72" y="143"/>
                  </a:lnTo>
                  <a:lnTo>
                    <a:pt x="7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8" name="Freeform 52"/>
            <p:cNvSpPr/>
            <p:nvPr/>
          </p:nvSpPr>
          <p:spPr bwMode="auto">
            <a:xfrm>
              <a:off x="3291" y="1188"/>
              <a:ext cx="131" cy="149"/>
            </a:xfrm>
            <a:custGeom>
              <a:avLst/>
              <a:gdLst>
                <a:gd name="T0" fmla="*/ 53 w 131"/>
                <a:gd name="T1" fmla="*/ 113 h 149"/>
                <a:gd name="T2" fmla="*/ 42 w 131"/>
                <a:gd name="T3" fmla="*/ 113 h 149"/>
                <a:gd name="T4" fmla="*/ 36 w 131"/>
                <a:gd name="T5" fmla="*/ 101 h 149"/>
                <a:gd name="T6" fmla="*/ 30 w 131"/>
                <a:gd name="T7" fmla="*/ 89 h 149"/>
                <a:gd name="T8" fmla="*/ 24 w 131"/>
                <a:gd name="T9" fmla="*/ 77 h 149"/>
                <a:gd name="T10" fmla="*/ 24 w 131"/>
                <a:gd name="T11" fmla="*/ 59 h 149"/>
                <a:gd name="T12" fmla="*/ 36 w 131"/>
                <a:gd name="T13" fmla="*/ 18 h 149"/>
                <a:gd name="T14" fmla="*/ 53 w 131"/>
                <a:gd name="T15" fmla="*/ 12 h 149"/>
                <a:gd name="T16" fmla="*/ 65 w 131"/>
                <a:gd name="T17" fmla="*/ 12 h 149"/>
                <a:gd name="T18" fmla="*/ 77 w 131"/>
                <a:gd name="T19" fmla="*/ 12 h 149"/>
                <a:gd name="T20" fmla="*/ 89 w 131"/>
                <a:gd name="T21" fmla="*/ 18 h 149"/>
                <a:gd name="T22" fmla="*/ 101 w 131"/>
                <a:gd name="T23" fmla="*/ 36 h 149"/>
                <a:gd name="T24" fmla="*/ 107 w 131"/>
                <a:gd name="T25" fmla="*/ 59 h 149"/>
                <a:gd name="T26" fmla="*/ 107 w 131"/>
                <a:gd name="T27" fmla="*/ 77 h 149"/>
                <a:gd name="T28" fmla="*/ 101 w 131"/>
                <a:gd name="T29" fmla="*/ 89 h 149"/>
                <a:gd name="T30" fmla="*/ 95 w 131"/>
                <a:gd name="T31" fmla="*/ 101 h 149"/>
                <a:gd name="T32" fmla="*/ 89 w 131"/>
                <a:gd name="T33" fmla="*/ 113 h 149"/>
                <a:gd name="T34" fmla="*/ 77 w 131"/>
                <a:gd name="T35" fmla="*/ 113 h 149"/>
                <a:gd name="T36" fmla="*/ 77 w 131"/>
                <a:gd name="T37" fmla="*/ 149 h 149"/>
                <a:gd name="T38" fmla="*/ 131 w 131"/>
                <a:gd name="T39" fmla="*/ 149 h 149"/>
                <a:gd name="T40" fmla="*/ 131 w 131"/>
                <a:gd name="T41" fmla="*/ 113 h 149"/>
                <a:gd name="T42" fmla="*/ 125 w 131"/>
                <a:gd name="T43" fmla="*/ 113 h 149"/>
                <a:gd name="T44" fmla="*/ 119 w 131"/>
                <a:gd name="T45" fmla="*/ 125 h 149"/>
                <a:gd name="T46" fmla="*/ 113 w 131"/>
                <a:gd name="T47" fmla="*/ 125 h 149"/>
                <a:gd name="T48" fmla="*/ 83 w 131"/>
                <a:gd name="T49" fmla="*/ 125 h 149"/>
                <a:gd name="T50" fmla="*/ 83 w 131"/>
                <a:gd name="T51" fmla="*/ 119 h 149"/>
                <a:gd name="T52" fmla="*/ 101 w 131"/>
                <a:gd name="T53" fmla="*/ 107 h 149"/>
                <a:gd name="T54" fmla="*/ 113 w 131"/>
                <a:gd name="T55" fmla="*/ 95 h 149"/>
                <a:gd name="T56" fmla="*/ 125 w 131"/>
                <a:gd name="T57" fmla="*/ 83 h 149"/>
                <a:gd name="T58" fmla="*/ 125 w 131"/>
                <a:gd name="T59" fmla="*/ 65 h 149"/>
                <a:gd name="T60" fmla="*/ 119 w 131"/>
                <a:gd name="T61" fmla="*/ 36 h 149"/>
                <a:gd name="T62" fmla="*/ 113 w 131"/>
                <a:gd name="T63" fmla="*/ 24 h 149"/>
                <a:gd name="T64" fmla="*/ 107 w 131"/>
                <a:gd name="T65" fmla="*/ 18 h 149"/>
                <a:gd name="T66" fmla="*/ 95 w 131"/>
                <a:gd name="T67" fmla="*/ 12 h 149"/>
                <a:gd name="T68" fmla="*/ 83 w 131"/>
                <a:gd name="T69" fmla="*/ 6 h 149"/>
                <a:gd name="T70" fmla="*/ 65 w 131"/>
                <a:gd name="T71" fmla="*/ 0 h 149"/>
                <a:gd name="T72" fmla="*/ 47 w 131"/>
                <a:gd name="T73" fmla="*/ 6 h 149"/>
                <a:gd name="T74" fmla="*/ 30 w 131"/>
                <a:gd name="T75" fmla="*/ 12 h 149"/>
                <a:gd name="T76" fmla="*/ 24 w 131"/>
                <a:gd name="T77" fmla="*/ 18 h 149"/>
                <a:gd name="T78" fmla="*/ 18 w 131"/>
                <a:gd name="T79" fmla="*/ 24 h 149"/>
                <a:gd name="T80" fmla="*/ 12 w 131"/>
                <a:gd name="T81" fmla="*/ 36 h 149"/>
                <a:gd name="T82" fmla="*/ 6 w 131"/>
                <a:gd name="T83" fmla="*/ 65 h 149"/>
                <a:gd name="T84" fmla="*/ 12 w 131"/>
                <a:gd name="T85" fmla="*/ 95 h 149"/>
                <a:gd name="T86" fmla="*/ 24 w 131"/>
                <a:gd name="T87" fmla="*/ 107 h 149"/>
                <a:gd name="T88" fmla="*/ 42 w 131"/>
                <a:gd name="T89" fmla="*/ 119 h 149"/>
                <a:gd name="T90" fmla="*/ 42 w 131"/>
                <a:gd name="T91" fmla="*/ 125 h 149"/>
                <a:gd name="T92" fmla="*/ 12 w 131"/>
                <a:gd name="T93" fmla="*/ 125 h 149"/>
                <a:gd name="T94" fmla="*/ 6 w 131"/>
                <a:gd name="T95" fmla="*/ 125 h 149"/>
                <a:gd name="T96" fmla="*/ 0 w 131"/>
                <a:gd name="T97" fmla="*/ 113 h 149"/>
                <a:gd name="T98" fmla="*/ 0 w 131"/>
                <a:gd name="T99" fmla="*/ 113 h 149"/>
                <a:gd name="T100" fmla="*/ 0 w 131"/>
                <a:gd name="T101" fmla="*/ 149 h 149"/>
                <a:gd name="T102" fmla="*/ 53 w 131"/>
                <a:gd name="T103" fmla="*/ 149 h 149"/>
                <a:gd name="T104" fmla="*/ 53 w 131"/>
                <a:gd name="T105" fmla="*/ 113 h 14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1"/>
                <a:gd name="T160" fmla="*/ 0 h 149"/>
                <a:gd name="T161" fmla="*/ 131 w 131"/>
                <a:gd name="T162" fmla="*/ 149 h 14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1" h="149">
                  <a:moveTo>
                    <a:pt x="53" y="113"/>
                  </a:moveTo>
                  <a:lnTo>
                    <a:pt x="42" y="113"/>
                  </a:lnTo>
                  <a:lnTo>
                    <a:pt x="36" y="101"/>
                  </a:lnTo>
                  <a:lnTo>
                    <a:pt x="30" y="89"/>
                  </a:lnTo>
                  <a:lnTo>
                    <a:pt x="24" y="77"/>
                  </a:lnTo>
                  <a:lnTo>
                    <a:pt x="24" y="59"/>
                  </a:lnTo>
                  <a:lnTo>
                    <a:pt x="36" y="18"/>
                  </a:lnTo>
                  <a:lnTo>
                    <a:pt x="53" y="12"/>
                  </a:lnTo>
                  <a:lnTo>
                    <a:pt x="65" y="12"/>
                  </a:lnTo>
                  <a:lnTo>
                    <a:pt x="77" y="12"/>
                  </a:lnTo>
                  <a:lnTo>
                    <a:pt x="89" y="18"/>
                  </a:lnTo>
                  <a:lnTo>
                    <a:pt x="101" y="36"/>
                  </a:lnTo>
                  <a:lnTo>
                    <a:pt x="107" y="59"/>
                  </a:lnTo>
                  <a:lnTo>
                    <a:pt x="107" y="77"/>
                  </a:lnTo>
                  <a:lnTo>
                    <a:pt x="101" y="89"/>
                  </a:lnTo>
                  <a:lnTo>
                    <a:pt x="95" y="101"/>
                  </a:lnTo>
                  <a:lnTo>
                    <a:pt x="89" y="113"/>
                  </a:lnTo>
                  <a:lnTo>
                    <a:pt x="77" y="113"/>
                  </a:lnTo>
                  <a:lnTo>
                    <a:pt x="77" y="149"/>
                  </a:lnTo>
                  <a:lnTo>
                    <a:pt x="131" y="149"/>
                  </a:lnTo>
                  <a:lnTo>
                    <a:pt x="131" y="113"/>
                  </a:lnTo>
                  <a:lnTo>
                    <a:pt x="125" y="113"/>
                  </a:lnTo>
                  <a:lnTo>
                    <a:pt x="119" y="125"/>
                  </a:lnTo>
                  <a:lnTo>
                    <a:pt x="113" y="125"/>
                  </a:lnTo>
                  <a:lnTo>
                    <a:pt x="83" y="125"/>
                  </a:lnTo>
                  <a:lnTo>
                    <a:pt x="83" y="119"/>
                  </a:lnTo>
                  <a:lnTo>
                    <a:pt x="101" y="107"/>
                  </a:lnTo>
                  <a:lnTo>
                    <a:pt x="113" y="95"/>
                  </a:lnTo>
                  <a:lnTo>
                    <a:pt x="125" y="83"/>
                  </a:lnTo>
                  <a:lnTo>
                    <a:pt x="125" y="65"/>
                  </a:lnTo>
                  <a:lnTo>
                    <a:pt x="119" y="36"/>
                  </a:lnTo>
                  <a:lnTo>
                    <a:pt x="113" y="24"/>
                  </a:lnTo>
                  <a:lnTo>
                    <a:pt x="107" y="18"/>
                  </a:lnTo>
                  <a:lnTo>
                    <a:pt x="95" y="12"/>
                  </a:lnTo>
                  <a:lnTo>
                    <a:pt x="83" y="6"/>
                  </a:lnTo>
                  <a:lnTo>
                    <a:pt x="65" y="0"/>
                  </a:lnTo>
                  <a:lnTo>
                    <a:pt x="47" y="6"/>
                  </a:lnTo>
                  <a:lnTo>
                    <a:pt x="30" y="12"/>
                  </a:lnTo>
                  <a:lnTo>
                    <a:pt x="24" y="18"/>
                  </a:lnTo>
                  <a:lnTo>
                    <a:pt x="18" y="24"/>
                  </a:lnTo>
                  <a:lnTo>
                    <a:pt x="12" y="36"/>
                  </a:lnTo>
                  <a:lnTo>
                    <a:pt x="6" y="65"/>
                  </a:lnTo>
                  <a:lnTo>
                    <a:pt x="12" y="95"/>
                  </a:lnTo>
                  <a:lnTo>
                    <a:pt x="24" y="107"/>
                  </a:lnTo>
                  <a:lnTo>
                    <a:pt x="42" y="119"/>
                  </a:lnTo>
                  <a:lnTo>
                    <a:pt x="42" y="125"/>
                  </a:lnTo>
                  <a:lnTo>
                    <a:pt x="12" y="125"/>
                  </a:lnTo>
                  <a:lnTo>
                    <a:pt x="6" y="125"/>
                  </a:lnTo>
                  <a:lnTo>
                    <a:pt x="0" y="113"/>
                  </a:lnTo>
                  <a:lnTo>
                    <a:pt x="0" y="149"/>
                  </a:lnTo>
                  <a:lnTo>
                    <a:pt x="53" y="149"/>
                  </a:lnTo>
                  <a:lnTo>
                    <a:pt x="53"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299" name="Freeform 53"/>
            <p:cNvSpPr/>
            <p:nvPr/>
          </p:nvSpPr>
          <p:spPr bwMode="auto">
            <a:xfrm>
              <a:off x="2262" y="1194"/>
              <a:ext cx="78" cy="143"/>
            </a:xfrm>
            <a:custGeom>
              <a:avLst/>
              <a:gdLst>
                <a:gd name="T0" fmla="*/ 78 w 78"/>
                <a:gd name="T1" fmla="*/ 113 h 143"/>
                <a:gd name="T2" fmla="*/ 78 w 78"/>
                <a:gd name="T3" fmla="*/ 113 h 143"/>
                <a:gd name="T4" fmla="*/ 72 w 78"/>
                <a:gd name="T5" fmla="*/ 125 h 143"/>
                <a:gd name="T6" fmla="*/ 60 w 78"/>
                <a:gd name="T7" fmla="*/ 125 h 143"/>
                <a:gd name="T8" fmla="*/ 18 w 78"/>
                <a:gd name="T9" fmla="*/ 125 h 143"/>
                <a:gd name="T10" fmla="*/ 48 w 78"/>
                <a:gd name="T11" fmla="*/ 89 h 143"/>
                <a:gd name="T12" fmla="*/ 60 w 78"/>
                <a:gd name="T13" fmla="*/ 65 h 143"/>
                <a:gd name="T14" fmla="*/ 72 w 78"/>
                <a:gd name="T15" fmla="*/ 53 h 143"/>
                <a:gd name="T16" fmla="*/ 72 w 78"/>
                <a:gd name="T17" fmla="*/ 36 h 143"/>
                <a:gd name="T18" fmla="*/ 72 w 78"/>
                <a:gd name="T19" fmla="*/ 18 h 143"/>
                <a:gd name="T20" fmla="*/ 60 w 78"/>
                <a:gd name="T21" fmla="*/ 12 h 143"/>
                <a:gd name="T22" fmla="*/ 36 w 78"/>
                <a:gd name="T23" fmla="*/ 0 h 143"/>
                <a:gd name="T24" fmla="*/ 18 w 78"/>
                <a:gd name="T25" fmla="*/ 12 h 143"/>
                <a:gd name="T26" fmla="*/ 6 w 78"/>
                <a:gd name="T27" fmla="*/ 24 h 143"/>
                <a:gd name="T28" fmla="*/ 0 w 78"/>
                <a:gd name="T29" fmla="*/ 41 h 143"/>
                <a:gd name="T30" fmla="*/ 0 w 78"/>
                <a:gd name="T31" fmla="*/ 41 h 143"/>
                <a:gd name="T32" fmla="*/ 12 w 78"/>
                <a:gd name="T33" fmla="*/ 24 h 143"/>
                <a:gd name="T34" fmla="*/ 30 w 78"/>
                <a:gd name="T35" fmla="*/ 18 h 143"/>
                <a:gd name="T36" fmla="*/ 42 w 78"/>
                <a:gd name="T37" fmla="*/ 24 h 143"/>
                <a:gd name="T38" fmla="*/ 48 w 78"/>
                <a:gd name="T39" fmla="*/ 30 h 143"/>
                <a:gd name="T40" fmla="*/ 54 w 78"/>
                <a:gd name="T41" fmla="*/ 47 h 143"/>
                <a:gd name="T42" fmla="*/ 48 w 78"/>
                <a:gd name="T43" fmla="*/ 71 h 143"/>
                <a:gd name="T44" fmla="*/ 30 w 78"/>
                <a:gd name="T45" fmla="*/ 101 h 143"/>
                <a:gd name="T46" fmla="*/ 0 w 78"/>
                <a:gd name="T47" fmla="*/ 137 h 143"/>
                <a:gd name="T48" fmla="*/ 0 w 78"/>
                <a:gd name="T49" fmla="*/ 143 h 143"/>
                <a:gd name="T50" fmla="*/ 72 w 78"/>
                <a:gd name="T51" fmla="*/ 143 h 143"/>
                <a:gd name="T52" fmla="*/ 78 w 78"/>
                <a:gd name="T53" fmla="*/ 113 h 1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
                <a:gd name="T82" fmla="*/ 0 h 143"/>
                <a:gd name="T83" fmla="*/ 78 w 78"/>
                <a:gd name="T84" fmla="*/ 143 h 1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 h="143">
                  <a:moveTo>
                    <a:pt x="78" y="113"/>
                  </a:moveTo>
                  <a:lnTo>
                    <a:pt x="78" y="113"/>
                  </a:lnTo>
                  <a:lnTo>
                    <a:pt x="72" y="125"/>
                  </a:lnTo>
                  <a:lnTo>
                    <a:pt x="60" y="125"/>
                  </a:lnTo>
                  <a:lnTo>
                    <a:pt x="18" y="125"/>
                  </a:lnTo>
                  <a:lnTo>
                    <a:pt x="48" y="89"/>
                  </a:lnTo>
                  <a:lnTo>
                    <a:pt x="60" y="65"/>
                  </a:lnTo>
                  <a:lnTo>
                    <a:pt x="72" y="53"/>
                  </a:lnTo>
                  <a:lnTo>
                    <a:pt x="72" y="36"/>
                  </a:lnTo>
                  <a:lnTo>
                    <a:pt x="72" y="18"/>
                  </a:lnTo>
                  <a:lnTo>
                    <a:pt x="60" y="12"/>
                  </a:lnTo>
                  <a:lnTo>
                    <a:pt x="36" y="0"/>
                  </a:lnTo>
                  <a:lnTo>
                    <a:pt x="18" y="12"/>
                  </a:lnTo>
                  <a:lnTo>
                    <a:pt x="6" y="24"/>
                  </a:lnTo>
                  <a:lnTo>
                    <a:pt x="0" y="41"/>
                  </a:lnTo>
                  <a:lnTo>
                    <a:pt x="12" y="24"/>
                  </a:lnTo>
                  <a:lnTo>
                    <a:pt x="30" y="18"/>
                  </a:lnTo>
                  <a:lnTo>
                    <a:pt x="42" y="24"/>
                  </a:lnTo>
                  <a:lnTo>
                    <a:pt x="48" y="30"/>
                  </a:lnTo>
                  <a:lnTo>
                    <a:pt x="54" y="47"/>
                  </a:lnTo>
                  <a:lnTo>
                    <a:pt x="48" y="71"/>
                  </a:lnTo>
                  <a:lnTo>
                    <a:pt x="30" y="101"/>
                  </a:lnTo>
                  <a:lnTo>
                    <a:pt x="0" y="137"/>
                  </a:lnTo>
                  <a:lnTo>
                    <a:pt x="0" y="143"/>
                  </a:lnTo>
                  <a:lnTo>
                    <a:pt x="72" y="143"/>
                  </a:lnTo>
                  <a:lnTo>
                    <a:pt x="7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0" name="Freeform 54"/>
            <p:cNvSpPr/>
            <p:nvPr/>
          </p:nvSpPr>
          <p:spPr bwMode="auto">
            <a:xfrm>
              <a:off x="4989" y="2274"/>
              <a:ext cx="72" cy="150"/>
            </a:xfrm>
            <a:custGeom>
              <a:avLst/>
              <a:gdLst>
                <a:gd name="T0" fmla="*/ 24 w 72"/>
                <a:gd name="T1" fmla="*/ 24 h 150"/>
                <a:gd name="T2" fmla="*/ 60 w 72"/>
                <a:gd name="T3" fmla="*/ 24 h 150"/>
                <a:gd name="T4" fmla="*/ 66 w 72"/>
                <a:gd name="T5" fmla="*/ 24 h 150"/>
                <a:gd name="T6" fmla="*/ 66 w 72"/>
                <a:gd name="T7" fmla="*/ 18 h 150"/>
                <a:gd name="T8" fmla="*/ 72 w 72"/>
                <a:gd name="T9" fmla="*/ 0 h 150"/>
                <a:gd name="T10" fmla="*/ 72 w 72"/>
                <a:gd name="T11" fmla="*/ 0 h 150"/>
                <a:gd name="T12" fmla="*/ 66 w 72"/>
                <a:gd name="T13" fmla="*/ 6 h 150"/>
                <a:gd name="T14" fmla="*/ 60 w 72"/>
                <a:gd name="T15" fmla="*/ 6 h 150"/>
                <a:gd name="T16" fmla="*/ 24 w 72"/>
                <a:gd name="T17" fmla="*/ 6 h 150"/>
                <a:gd name="T18" fmla="*/ 6 w 72"/>
                <a:gd name="T19" fmla="*/ 54 h 150"/>
                <a:gd name="T20" fmla="*/ 6 w 72"/>
                <a:gd name="T21" fmla="*/ 60 h 150"/>
                <a:gd name="T22" fmla="*/ 6 w 72"/>
                <a:gd name="T23" fmla="*/ 60 h 150"/>
                <a:gd name="T24" fmla="*/ 24 w 72"/>
                <a:gd name="T25" fmla="*/ 60 h 150"/>
                <a:gd name="T26" fmla="*/ 42 w 72"/>
                <a:gd name="T27" fmla="*/ 66 h 150"/>
                <a:gd name="T28" fmla="*/ 54 w 72"/>
                <a:gd name="T29" fmla="*/ 78 h 150"/>
                <a:gd name="T30" fmla="*/ 60 w 72"/>
                <a:gd name="T31" fmla="*/ 102 h 150"/>
                <a:gd name="T32" fmla="*/ 60 w 72"/>
                <a:gd name="T33" fmla="*/ 120 h 150"/>
                <a:gd name="T34" fmla="*/ 48 w 72"/>
                <a:gd name="T35" fmla="*/ 132 h 150"/>
                <a:gd name="T36" fmla="*/ 30 w 72"/>
                <a:gd name="T37" fmla="*/ 138 h 150"/>
                <a:gd name="T38" fmla="*/ 18 w 72"/>
                <a:gd name="T39" fmla="*/ 132 h 150"/>
                <a:gd name="T40" fmla="*/ 6 w 72"/>
                <a:gd name="T41" fmla="*/ 126 h 150"/>
                <a:gd name="T42" fmla="*/ 0 w 72"/>
                <a:gd name="T43" fmla="*/ 132 h 150"/>
                <a:gd name="T44" fmla="*/ 0 w 72"/>
                <a:gd name="T45" fmla="*/ 132 h 150"/>
                <a:gd name="T46" fmla="*/ 6 w 72"/>
                <a:gd name="T47" fmla="*/ 144 h 150"/>
                <a:gd name="T48" fmla="*/ 24 w 72"/>
                <a:gd name="T49" fmla="*/ 150 h 150"/>
                <a:gd name="T50" fmla="*/ 42 w 72"/>
                <a:gd name="T51" fmla="*/ 144 h 150"/>
                <a:gd name="T52" fmla="*/ 60 w 72"/>
                <a:gd name="T53" fmla="*/ 132 h 150"/>
                <a:gd name="T54" fmla="*/ 66 w 72"/>
                <a:gd name="T55" fmla="*/ 120 h 150"/>
                <a:gd name="T56" fmla="*/ 72 w 72"/>
                <a:gd name="T57" fmla="*/ 96 h 150"/>
                <a:gd name="T58" fmla="*/ 66 w 72"/>
                <a:gd name="T59" fmla="*/ 78 h 150"/>
                <a:gd name="T60" fmla="*/ 60 w 72"/>
                <a:gd name="T61" fmla="*/ 60 h 150"/>
                <a:gd name="T62" fmla="*/ 42 w 72"/>
                <a:gd name="T63" fmla="*/ 48 h 150"/>
                <a:gd name="T64" fmla="*/ 18 w 72"/>
                <a:gd name="T65" fmla="*/ 42 h 150"/>
                <a:gd name="T66" fmla="*/ 24 w 72"/>
                <a:gd name="T67" fmla="*/ 24 h 1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
                <a:gd name="T103" fmla="*/ 0 h 150"/>
                <a:gd name="T104" fmla="*/ 72 w 72"/>
                <a:gd name="T105" fmla="*/ 150 h 1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 h="150">
                  <a:moveTo>
                    <a:pt x="24" y="24"/>
                  </a:moveTo>
                  <a:lnTo>
                    <a:pt x="60" y="24"/>
                  </a:lnTo>
                  <a:lnTo>
                    <a:pt x="66" y="24"/>
                  </a:lnTo>
                  <a:lnTo>
                    <a:pt x="66" y="18"/>
                  </a:lnTo>
                  <a:lnTo>
                    <a:pt x="72" y="0"/>
                  </a:lnTo>
                  <a:lnTo>
                    <a:pt x="66" y="6"/>
                  </a:lnTo>
                  <a:lnTo>
                    <a:pt x="60" y="6"/>
                  </a:lnTo>
                  <a:lnTo>
                    <a:pt x="24" y="6"/>
                  </a:lnTo>
                  <a:lnTo>
                    <a:pt x="6" y="54"/>
                  </a:lnTo>
                  <a:lnTo>
                    <a:pt x="6" y="60"/>
                  </a:lnTo>
                  <a:lnTo>
                    <a:pt x="24" y="60"/>
                  </a:lnTo>
                  <a:lnTo>
                    <a:pt x="42" y="66"/>
                  </a:lnTo>
                  <a:lnTo>
                    <a:pt x="54" y="78"/>
                  </a:lnTo>
                  <a:lnTo>
                    <a:pt x="60" y="102"/>
                  </a:lnTo>
                  <a:lnTo>
                    <a:pt x="60" y="120"/>
                  </a:lnTo>
                  <a:lnTo>
                    <a:pt x="48" y="132"/>
                  </a:lnTo>
                  <a:lnTo>
                    <a:pt x="30" y="138"/>
                  </a:lnTo>
                  <a:lnTo>
                    <a:pt x="18" y="132"/>
                  </a:lnTo>
                  <a:lnTo>
                    <a:pt x="6" y="126"/>
                  </a:lnTo>
                  <a:lnTo>
                    <a:pt x="0" y="132"/>
                  </a:lnTo>
                  <a:lnTo>
                    <a:pt x="6" y="144"/>
                  </a:lnTo>
                  <a:lnTo>
                    <a:pt x="24" y="150"/>
                  </a:lnTo>
                  <a:lnTo>
                    <a:pt x="42" y="144"/>
                  </a:lnTo>
                  <a:lnTo>
                    <a:pt x="60" y="132"/>
                  </a:lnTo>
                  <a:lnTo>
                    <a:pt x="66" y="120"/>
                  </a:lnTo>
                  <a:lnTo>
                    <a:pt x="72" y="96"/>
                  </a:lnTo>
                  <a:lnTo>
                    <a:pt x="66" y="78"/>
                  </a:lnTo>
                  <a:lnTo>
                    <a:pt x="60" y="60"/>
                  </a:lnTo>
                  <a:lnTo>
                    <a:pt x="42" y="48"/>
                  </a:lnTo>
                  <a:lnTo>
                    <a:pt x="18" y="42"/>
                  </a:lnTo>
                  <a:lnTo>
                    <a:pt x="24" y="2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1" name="Freeform 55"/>
            <p:cNvSpPr/>
            <p:nvPr/>
          </p:nvSpPr>
          <p:spPr bwMode="auto">
            <a:xfrm>
              <a:off x="5127" y="2274"/>
              <a:ext cx="125" cy="144"/>
            </a:xfrm>
            <a:custGeom>
              <a:avLst/>
              <a:gdLst>
                <a:gd name="T0" fmla="*/ 48 w 125"/>
                <a:gd name="T1" fmla="*/ 114 h 144"/>
                <a:gd name="T2" fmla="*/ 42 w 125"/>
                <a:gd name="T3" fmla="*/ 108 h 144"/>
                <a:gd name="T4" fmla="*/ 36 w 125"/>
                <a:gd name="T5" fmla="*/ 102 h 144"/>
                <a:gd name="T6" fmla="*/ 30 w 125"/>
                <a:gd name="T7" fmla="*/ 90 h 144"/>
                <a:gd name="T8" fmla="*/ 24 w 125"/>
                <a:gd name="T9" fmla="*/ 72 h 144"/>
                <a:gd name="T10" fmla="*/ 24 w 125"/>
                <a:gd name="T11" fmla="*/ 54 h 144"/>
                <a:gd name="T12" fmla="*/ 24 w 125"/>
                <a:gd name="T13" fmla="*/ 36 h 144"/>
                <a:gd name="T14" fmla="*/ 36 w 125"/>
                <a:gd name="T15" fmla="*/ 18 h 144"/>
                <a:gd name="T16" fmla="*/ 48 w 125"/>
                <a:gd name="T17" fmla="*/ 6 h 144"/>
                <a:gd name="T18" fmla="*/ 65 w 125"/>
                <a:gd name="T19" fmla="*/ 6 h 144"/>
                <a:gd name="T20" fmla="*/ 77 w 125"/>
                <a:gd name="T21" fmla="*/ 6 h 144"/>
                <a:gd name="T22" fmla="*/ 89 w 125"/>
                <a:gd name="T23" fmla="*/ 18 h 144"/>
                <a:gd name="T24" fmla="*/ 101 w 125"/>
                <a:gd name="T25" fmla="*/ 36 h 144"/>
                <a:gd name="T26" fmla="*/ 107 w 125"/>
                <a:gd name="T27" fmla="*/ 54 h 144"/>
                <a:gd name="T28" fmla="*/ 107 w 125"/>
                <a:gd name="T29" fmla="*/ 72 h 144"/>
                <a:gd name="T30" fmla="*/ 101 w 125"/>
                <a:gd name="T31" fmla="*/ 90 h 144"/>
                <a:gd name="T32" fmla="*/ 95 w 125"/>
                <a:gd name="T33" fmla="*/ 102 h 144"/>
                <a:gd name="T34" fmla="*/ 89 w 125"/>
                <a:gd name="T35" fmla="*/ 108 h 144"/>
                <a:gd name="T36" fmla="*/ 77 w 125"/>
                <a:gd name="T37" fmla="*/ 114 h 144"/>
                <a:gd name="T38" fmla="*/ 71 w 125"/>
                <a:gd name="T39" fmla="*/ 144 h 144"/>
                <a:gd name="T40" fmla="*/ 125 w 125"/>
                <a:gd name="T41" fmla="*/ 144 h 144"/>
                <a:gd name="T42" fmla="*/ 125 w 125"/>
                <a:gd name="T43" fmla="*/ 108 h 144"/>
                <a:gd name="T44" fmla="*/ 125 w 125"/>
                <a:gd name="T45" fmla="*/ 108 h 144"/>
                <a:gd name="T46" fmla="*/ 119 w 125"/>
                <a:gd name="T47" fmla="*/ 120 h 144"/>
                <a:gd name="T48" fmla="*/ 113 w 125"/>
                <a:gd name="T49" fmla="*/ 126 h 144"/>
                <a:gd name="T50" fmla="*/ 83 w 125"/>
                <a:gd name="T51" fmla="*/ 126 h 144"/>
                <a:gd name="T52" fmla="*/ 83 w 125"/>
                <a:gd name="T53" fmla="*/ 120 h 144"/>
                <a:gd name="T54" fmla="*/ 101 w 125"/>
                <a:gd name="T55" fmla="*/ 108 h 144"/>
                <a:gd name="T56" fmla="*/ 113 w 125"/>
                <a:gd name="T57" fmla="*/ 96 h 144"/>
                <a:gd name="T58" fmla="*/ 125 w 125"/>
                <a:gd name="T59" fmla="*/ 60 h 144"/>
                <a:gd name="T60" fmla="*/ 119 w 125"/>
                <a:gd name="T61" fmla="*/ 30 h 144"/>
                <a:gd name="T62" fmla="*/ 107 w 125"/>
                <a:gd name="T63" fmla="*/ 18 h 144"/>
                <a:gd name="T64" fmla="*/ 95 w 125"/>
                <a:gd name="T65" fmla="*/ 6 h 144"/>
                <a:gd name="T66" fmla="*/ 83 w 125"/>
                <a:gd name="T67" fmla="*/ 0 h 144"/>
                <a:gd name="T68" fmla="*/ 65 w 125"/>
                <a:gd name="T69" fmla="*/ 0 h 144"/>
                <a:gd name="T70" fmla="*/ 42 w 125"/>
                <a:gd name="T71" fmla="*/ 0 h 144"/>
                <a:gd name="T72" fmla="*/ 30 w 125"/>
                <a:gd name="T73" fmla="*/ 6 h 144"/>
                <a:gd name="T74" fmla="*/ 24 w 125"/>
                <a:gd name="T75" fmla="*/ 18 h 144"/>
                <a:gd name="T76" fmla="*/ 12 w 125"/>
                <a:gd name="T77" fmla="*/ 30 h 144"/>
                <a:gd name="T78" fmla="*/ 6 w 125"/>
                <a:gd name="T79" fmla="*/ 60 h 144"/>
                <a:gd name="T80" fmla="*/ 12 w 125"/>
                <a:gd name="T81" fmla="*/ 96 h 144"/>
                <a:gd name="T82" fmla="*/ 24 w 125"/>
                <a:gd name="T83" fmla="*/ 108 h 144"/>
                <a:gd name="T84" fmla="*/ 42 w 125"/>
                <a:gd name="T85" fmla="*/ 120 h 144"/>
                <a:gd name="T86" fmla="*/ 42 w 125"/>
                <a:gd name="T87" fmla="*/ 126 h 144"/>
                <a:gd name="T88" fmla="*/ 12 w 125"/>
                <a:gd name="T89" fmla="*/ 126 h 144"/>
                <a:gd name="T90" fmla="*/ 6 w 125"/>
                <a:gd name="T91" fmla="*/ 120 h 144"/>
                <a:gd name="T92" fmla="*/ 0 w 125"/>
                <a:gd name="T93" fmla="*/ 108 h 144"/>
                <a:gd name="T94" fmla="*/ 0 w 125"/>
                <a:gd name="T95" fmla="*/ 108 h 144"/>
                <a:gd name="T96" fmla="*/ 0 w 125"/>
                <a:gd name="T97" fmla="*/ 144 h 144"/>
                <a:gd name="T98" fmla="*/ 53 w 125"/>
                <a:gd name="T99" fmla="*/ 144 h 144"/>
                <a:gd name="T100" fmla="*/ 48 w 125"/>
                <a:gd name="T101" fmla="*/ 114 h 14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25"/>
                <a:gd name="T154" fmla="*/ 0 h 144"/>
                <a:gd name="T155" fmla="*/ 125 w 125"/>
                <a:gd name="T156" fmla="*/ 144 h 14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25" h="144">
                  <a:moveTo>
                    <a:pt x="48" y="114"/>
                  </a:moveTo>
                  <a:lnTo>
                    <a:pt x="42" y="108"/>
                  </a:lnTo>
                  <a:lnTo>
                    <a:pt x="36" y="102"/>
                  </a:lnTo>
                  <a:lnTo>
                    <a:pt x="30" y="90"/>
                  </a:lnTo>
                  <a:lnTo>
                    <a:pt x="24" y="72"/>
                  </a:lnTo>
                  <a:lnTo>
                    <a:pt x="24" y="54"/>
                  </a:lnTo>
                  <a:lnTo>
                    <a:pt x="24" y="36"/>
                  </a:lnTo>
                  <a:lnTo>
                    <a:pt x="36" y="18"/>
                  </a:lnTo>
                  <a:lnTo>
                    <a:pt x="48" y="6"/>
                  </a:lnTo>
                  <a:lnTo>
                    <a:pt x="65" y="6"/>
                  </a:lnTo>
                  <a:lnTo>
                    <a:pt x="77" y="6"/>
                  </a:lnTo>
                  <a:lnTo>
                    <a:pt x="89" y="18"/>
                  </a:lnTo>
                  <a:lnTo>
                    <a:pt x="101" y="36"/>
                  </a:lnTo>
                  <a:lnTo>
                    <a:pt x="107" y="54"/>
                  </a:lnTo>
                  <a:lnTo>
                    <a:pt x="107" y="72"/>
                  </a:lnTo>
                  <a:lnTo>
                    <a:pt x="101" y="90"/>
                  </a:lnTo>
                  <a:lnTo>
                    <a:pt x="95" y="102"/>
                  </a:lnTo>
                  <a:lnTo>
                    <a:pt x="89" y="108"/>
                  </a:lnTo>
                  <a:lnTo>
                    <a:pt x="77" y="114"/>
                  </a:lnTo>
                  <a:lnTo>
                    <a:pt x="71" y="144"/>
                  </a:lnTo>
                  <a:lnTo>
                    <a:pt x="125" y="144"/>
                  </a:lnTo>
                  <a:lnTo>
                    <a:pt x="125" y="108"/>
                  </a:lnTo>
                  <a:lnTo>
                    <a:pt x="119" y="120"/>
                  </a:lnTo>
                  <a:lnTo>
                    <a:pt x="113" y="126"/>
                  </a:lnTo>
                  <a:lnTo>
                    <a:pt x="83" y="126"/>
                  </a:lnTo>
                  <a:lnTo>
                    <a:pt x="83" y="120"/>
                  </a:lnTo>
                  <a:lnTo>
                    <a:pt x="101" y="108"/>
                  </a:lnTo>
                  <a:lnTo>
                    <a:pt x="113" y="96"/>
                  </a:lnTo>
                  <a:lnTo>
                    <a:pt x="125" y="60"/>
                  </a:lnTo>
                  <a:lnTo>
                    <a:pt x="119" y="30"/>
                  </a:lnTo>
                  <a:lnTo>
                    <a:pt x="107" y="18"/>
                  </a:lnTo>
                  <a:lnTo>
                    <a:pt x="95" y="6"/>
                  </a:lnTo>
                  <a:lnTo>
                    <a:pt x="83" y="0"/>
                  </a:lnTo>
                  <a:lnTo>
                    <a:pt x="65" y="0"/>
                  </a:lnTo>
                  <a:lnTo>
                    <a:pt x="42"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3" y="144"/>
                  </a:lnTo>
                  <a:lnTo>
                    <a:pt x="48"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2" name="Freeform 56"/>
            <p:cNvSpPr/>
            <p:nvPr/>
          </p:nvSpPr>
          <p:spPr bwMode="auto">
            <a:xfrm>
              <a:off x="2101" y="2280"/>
              <a:ext cx="83" cy="138"/>
            </a:xfrm>
            <a:custGeom>
              <a:avLst/>
              <a:gdLst>
                <a:gd name="T0" fmla="*/ 83 w 83"/>
                <a:gd name="T1" fmla="*/ 0 h 138"/>
                <a:gd name="T2" fmla="*/ 11 w 83"/>
                <a:gd name="T3" fmla="*/ 0 h 138"/>
                <a:gd name="T4" fmla="*/ 11 w 83"/>
                <a:gd name="T5" fmla="*/ 6 h 138"/>
                <a:gd name="T6" fmla="*/ 0 w 83"/>
                <a:gd name="T7" fmla="*/ 30 h 138"/>
                <a:gd name="T8" fmla="*/ 6 w 83"/>
                <a:gd name="T9" fmla="*/ 30 h 138"/>
                <a:gd name="T10" fmla="*/ 17 w 83"/>
                <a:gd name="T11" fmla="*/ 18 h 138"/>
                <a:gd name="T12" fmla="*/ 29 w 83"/>
                <a:gd name="T13" fmla="*/ 12 h 138"/>
                <a:gd name="T14" fmla="*/ 65 w 83"/>
                <a:gd name="T15" fmla="*/ 12 h 138"/>
                <a:gd name="T16" fmla="*/ 29 w 83"/>
                <a:gd name="T17" fmla="*/ 138 h 138"/>
                <a:gd name="T18" fmla="*/ 41 w 83"/>
                <a:gd name="T19" fmla="*/ 138 h 138"/>
                <a:gd name="T20" fmla="*/ 83 w 83"/>
                <a:gd name="T21" fmla="*/ 0 h 138"/>
                <a:gd name="T22" fmla="*/ 83 w 83"/>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3"/>
                <a:gd name="T37" fmla="*/ 0 h 138"/>
                <a:gd name="T38" fmla="*/ 83 w 83"/>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3" h="138">
                  <a:moveTo>
                    <a:pt x="83" y="0"/>
                  </a:moveTo>
                  <a:lnTo>
                    <a:pt x="11" y="0"/>
                  </a:lnTo>
                  <a:lnTo>
                    <a:pt x="11" y="6"/>
                  </a:lnTo>
                  <a:lnTo>
                    <a:pt x="0" y="30"/>
                  </a:lnTo>
                  <a:lnTo>
                    <a:pt x="6" y="30"/>
                  </a:lnTo>
                  <a:lnTo>
                    <a:pt x="17" y="18"/>
                  </a:lnTo>
                  <a:lnTo>
                    <a:pt x="29" y="12"/>
                  </a:lnTo>
                  <a:lnTo>
                    <a:pt x="65" y="12"/>
                  </a:lnTo>
                  <a:lnTo>
                    <a:pt x="29" y="138"/>
                  </a:lnTo>
                  <a:lnTo>
                    <a:pt x="41" y="138"/>
                  </a:lnTo>
                  <a:lnTo>
                    <a:pt x="8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3" name="Freeform 57"/>
            <p:cNvSpPr/>
            <p:nvPr/>
          </p:nvSpPr>
          <p:spPr bwMode="auto">
            <a:xfrm>
              <a:off x="2244" y="2274"/>
              <a:ext cx="132" cy="144"/>
            </a:xfrm>
            <a:custGeom>
              <a:avLst/>
              <a:gdLst>
                <a:gd name="T0" fmla="*/ 54 w 132"/>
                <a:gd name="T1" fmla="*/ 114 h 144"/>
                <a:gd name="T2" fmla="*/ 42 w 132"/>
                <a:gd name="T3" fmla="*/ 108 h 144"/>
                <a:gd name="T4" fmla="*/ 36 w 132"/>
                <a:gd name="T5" fmla="*/ 102 h 144"/>
                <a:gd name="T6" fmla="*/ 30 w 132"/>
                <a:gd name="T7" fmla="*/ 90 h 144"/>
                <a:gd name="T8" fmla="*/ 24 w 132"/>
                <a:gd name="T9" fmla="*/ 72 h 144"/>
                <a:gd name="T10" fmla="*/ 24 w 132"/>
                <a:gd name="T11" fmla="*/ 54 h 144"/>
                <a:gd name="T12" fmla="*/ 30 w 132"/>
                <a:gd name="T13" fmla="*/ 36 h 144"/>
                <a:gd name="T14" fmla="*/ 36 w 132"/>
                <a:gd name="T15" fmla="*/ 18 h 144"/>
                <a:gd name="T16" fmla="*/ 54 w 132"/>
                <a:gd name="T17" fmla="*/ 6 h 144"/>
                <a:gd name="T18" fmla="*/ 66 w 132"/>
                <a:gd name="T19" fmla="*/ 6 h 144"/>
                <a:gd name="T20" fmla="*/ 78 w 132"/>
                <a:gd name="T21" fmla="*/ 6 h 144"/>
                <a:gd name="T22" fmla="*/ 90 w 132"/>
                <a:gd name="T23" fmla="*/ 18 h 144"/>
                <a:gd name="T24" fmla="*/ 102 w 132"/>
                <a:gd name="T25" fmla="*/ 36 h 144"/>
                <a:gd name="T26" fmla="*/ 108 w 132"/>
                <a:gd name="T27" fmla="*/ 54 h 144"/>
                <a:gd name="T28" fmla="*/ 108 w 132"/>
                <a:gd name="T29" fmla="*/ 72 h 144"/>
                <a:gd name="T30" fmla="*/ 102 w 132"/>
                <a:gd name="T31" fmla="*/ 90 h 144"/>
                <a:gd name="T32" fmla="*/ 96 w 132"/>
                <a:gd name="T33" fmla="*/ 102 h 144"/>
                <a:gd name="T34" fmla="*/ 90 w 132"/>
                <a:gd name="T35" fmla="*/ 108 h 144"/>
                <a:gd name="T36" fmla="*/ 78 w 132"/>
                <a:gd name="T37" fmla="*/ 114 h 144"/>
                <a:gd name="T38" fmla="*/ 72 w 132"/>
                <a:gd name="T39" fmla="*/ 144 h 144"/>
                <a:gd name="T40" fmla="*/ 132 w 132"/>
                <a:gd name="T41" fmla="*/ 144 h 144"/>
                <a:gd name="T42" fmla="*/ 132 w 132"/>
                <a:gd name="T43" fmla="*/ 108 h 144"/>
                <a:gd name="T44" fmla="*/ 126 w 132"/>
                <a:gd name="T45" fmla="*/ 108 h 144"/>
                <a:gd name="T46" fmla="*/ 120 w 132"/>
                <a:gd name="T47" fmla="*/ 120 h 144"/>
                <a:gd name="T48" fmla="*/ 114 w 132"/>
                <a:gd name="T49" fmla="*/ 126 h 144"/>
                <a:gd name="T50" fmla="*/ 84 w 132"/>
                <a:gd name="T51" fmla="*/ 126 h 144"/>
                <a:gd name="T52" fmla="*/ 84 w 132"/>
                <a:gd name="T53" fmla="*/ 120 h 144"/>
                <a:gd name="T54" fmla="*/ 102 w 132"/>
                <a:gd name="T55" fmla="*/ 108 h 144"/>
                <a:gd name="T56" fmla="*/ 114 w 132"/>
                <a:gd name="T57" fmla="*/ 96 h 144"/>
                <a:gd name="T58" fmla="*/ 126 w 132"/>
                <a:gd name="T59" fmla="*/ 78 h 144"/>
                <a:gd name="T60" fmla="*/ 126 w 132"/>
                <a:gd name="T61" fmla="*/ 60 h 144"/>
                <a:gd name="T62" fmla="*/ 120 w 132"/>
                <a:gd name="T63" fmla="*/ 30 h 144"/>
                <a:gd name="T64" fmla="*/ 108 w 132"/>
                <a:gd name="T65" fmla="*/ 18 h 144"/>
                <a:gd name="T66" fmla="*/ 96 w 132"/>
                <a:gd name="T67" fmla="*/ 6 h 144"/>
                <a:gd name="T68" fmla="*/ 84 w 132"/>
                <a:gd name="T69" fmla="*/ 0 h 144"/>
                <a:gd name="T70" fmla="*/ 66 w 132"/>
                <a:gd name="T71" fmla="*/ 0 h 144"/>
                <a:gd name="T72" fmla="*/ 48 w 132"/>
                <a:gd name="T73" fmla="*/ 0 h 144"/>
                <a:gd name="T74" fmla="*/ 30 w 132"/>
                <a:gd name="T75" fmla="*/ 6 h 144"/>
                <a:gd name="T76" fmla="*/ 24 w 132"/>
                <a:gd name="T77" fmla="*/ 18 h 144"/>
                <a:gd name="T78" fmla="*/ 12 w 132"/>
                <a:gd name="T79" fmla="*/ 30 h 144"/>
                <a:gd name="T80" fmla="*/ 6 w 132"/>
                <a:gd name="T81" fmla="*/ 60 h 144"/>
                <a:gd name="T82" fmla="*/ 12 w 132"/>
                <a:gd name="T83" fmla="*/ 96 h 144"/>
                <a:gd name="T84" fmla="*/ 24 w 132"/>
                <a:gd name="T85" fmla="*/ 108 h 144"/>
                <a:gd name="T86" fmla="*/ 42 w 132"/>
                <a:gd name="T87" fmla="*/ 120 h 144"/>
                <a:gd name="T88" fmla="*/ 42 w 132"/>
                <a:gd name="T89" fmla="*/ 126 h 144"/>
                <a:gd name="T90" fmla="*/ 12 w 132"/>
                <a:gd name="T91" fmla="*/ 126 h 144"/>
                <a:gd name="T92" fmla="*/ 6 w 132"/>
                <a:gd name="T93" fmla="*/ 120 h 144"/>
                <a:gd name="T94" fmla="*/ 0 w 132"/>
                <a:gd name="T95" fmla="*/ 108 h 144"/>
                <a:gd name="T96" fmla="*/ 0 w 132"/>
                <a:gd name="T97" fmla="*/ 108 h 144"/>
                <a:gd name="T98" fmla="*/ 0 w 132"/>
                <a:gd name="T99" fmla="*/ 144 h 144"/>
                <a:gd name="T100" fmla="*/ 54 w 132"/>
                <a:gd name="T101" fmla="*/ 144 h 144"/>
                <a:gd name="T102" fmla="*/ 54 w 132"/>
                <a:gd name="T103" fmla="*/ 114 h 1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4"/>
                <a:gd name="T158" fmla="*/ 132 w 132"/>
                <a:gd name="T159" fmla="*/ 144 h 14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4">
                  <a:moveTo>
                    <a:pt x="54" y="114"/>
                  </a:moveTo>
                  <a:lnTo>
                    <a:pt x="42" y="108"/>
                  </a:lnTo>
                  <a:lnTo>
                    <a:pt x="36" y="102"/>
                  </a:lnTo>
                  <a:lnTo>
                    <a:pt x="30" y="90"/>
                  </a:lnTo>
                  <a:lnTo>
                    <a:pt x="24" y="72"/>
                  </a:lnTo>
                  <a:lnTo>
                    <a:pt x="24" y="54"/>
                  </a:lnTo>
                  <a:lnTo>
                    <a:pt x="30" y="36"/>
                  </a:lnTo>
                  <a:lnTo>
                    <a:pt x="36" y="18"/>
                  </a:lnTo>
                  <a:lnTo>
                    <a:pt x="54" y="6"/>
                  </a:lnTo>
                  <a:lnTo>
                    <a:pt x="66" y="6"/>
                  </a:lnTo>
                  <a:lnTo>
                    <a:pt x="78" y="6"/>
                  </a:lnTo>
                  <a:lnTo>
                    <a:pt x="90" y="18"/>
                  </a:lnTo>
                  <a:lnTo>
                    <a:pt x="102" y="36"/>
                  </a:lnTo>
                  <a:lnTo>
                    <a:pt x="108" y="54"/>
                  </a:lnTo>
                  <a:lnTo>
                    <a:pt x="108" y="72"/>
                  </a:lnTo>
                  <a:lnTo>
                    <a:pt x="102" y="90"/>
                  </a:lnTo>
                  <a:lnTo>
                    <a:pt x="96" y="102"/>
                  </a:lnTo>
                  <a:lnTo>
                    <a:pt x="90" y="108"/>
                  </a:lnTo>
                  <a:lnTo>
                    <a:pt x="78" y="114"/>
                  </a:lnTo>
                  <a:lnTo>
                    <a:pt x="72" y="144"/>
                  </a:lnTo>
                  <a:lnTo>
                    <a:pt x="132" y="144"/>
                  </a:lnTo>
                  <a:lnTo>
                    <a:pt x="132" y="108"/>
                  </a:lnTo>
                  <a:lnTo>
                    <a:pt x="126" y="108"/>
                  </a:lnTo>
                  <a:lnTo>
                    <a:pt x="120" y="120"/>
                  </a:lnTo>
                  <a:lnTo>
                    <a:pt x="114" y="126"/>
                  </a:lnTo>
                  <a:lnTo>
                    <a:pt x="84" y="126"/>
                  </a:lnTo>
                  <a:lnTo>
                    <a:pt x="84" y="120"/>
                  </a:lnTo>
                  <a:lnTo>
                    <a:pt x="102" y="108"/>
                  </a:lnTo>
                  <a:lnTo>
                    <a:pt x="114" y="96"/>
                  </a:lnTo>
                  <a:lnTo>
                    <a:pt x="126" y="78"/>
                  </a:lnTo>
                  <a:lnTo>
                    <a:pt x="126" y="60"/>
                  </a:lnTo>
                  <a:lnTo>
                    <a:pt x="120" y="30"/>
                  </a:lnTo>
                  <a:lnTo>
                    <a:pt x="108" y="18"/>
                  </a:lnTo>
                  <a:lnTo>
                    <a:pt x="96" y="6"/>
                  </a:lnTo>
                  <a:lnTo>
                    <a:pt x="84" y="0"/>
                  </a:lnTo>
                  <a:lnTo>
                    <a:pt x="66" y="0"/>
                  </a:lnTo>
                  <a:lnTo>
                    <a:pt x="48"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4" y="144"/>
                  </a:lnTo>
                  <a:lnTo>
                    <a:pt x="54"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4" name="Freeform 58"/>
            <p:cNvSpPr/>
            <p:nvPr/>
          </p:nvSpPr>
          <p:spPr bwMode="auto">
            <a:xfrm>
              <a:off x="3996" y="1528"/>
              <a:ext cx="1" cy="1660"/>
            </a:xfrm>
            <a:custGeom>
              <a:avLst/>
              <a:gdLst>
                <a:gd name="T0" fmla="*/ 0 w 1"/>
                <a:gd name="T1" fmla="*/ 0 h 1660"/>
                <a:gd name="T2" fmla="*/ 0 w 1"/>
                <a:gd name="T3" fmla="*/ 1660 h 1660"/>
                <a:gd name="T4" fmla="*/ 0 w 1"/>
                <a:gd name="T5" fmla="*/ 0 h 1660"/>
                <a:gd name="T6" fmla="*/ 0 w 1"/>
                <a:gd name="T7" fmla="*/ 0 h 1660"/>
                <a:gd name="T8" fmla="*/ 0 60000 65536"/>
                <a:gd name="T9" fmla="*/ 0 60000 65536"/>
                <a:gd name="T10" fmla="*/ 0 60000 65536"/>
                <a:gd name="T11" fmla="*/ 0 60000 65536"/>
                <a:gd name="T12" fmla="*/ 0 w 1"/>
                <a:gd name="T13" fmla="*/ 0 h 1660"/>
                <a:gd name="T14" fmla="*/ 1 w 1"/>
                <a:gd name="T15" fmla="*/ 1660 h 1660"/>
              </a:gdLst>
              <a:ahLst/>
              <a:cxnLst>
                <a:cxn ang="T8">
                  <a:pos x="T0" y="T1"/>
                </a:cxn>
                <a:cxn ang="T9">
                  <a:pos x="T2" y="T3"/>
                </a:cxn>
                <a:cxn ang="T10">
                  <a:pos x="T4" y="T5"/>
                </a:cxn>
                <a:cxn ang="T11">
                  <a:pos x="T6" y="T7"/>
                </a:cxn>
              </a:cxnLst>
              <a:rect l="T12" t="T13" r="T14" b="T15"/>
              <a:pathLst>
                <a:path w="1" h="1660">
                  <a:moveTo>
                    <a:pt x="0" y="0"/>
                  </a:moveTo>
                  <a:lnTo>
                    <a:pt x="0" y="166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5" name="Freeform 59"/>
            <p:cNvSpPr/>
            <p:nvPr/>
          </p:nvSpPr>
          <p:spPr bwMode="auto">
            <a:xfrm>
              <a:off x="4080" y="1767"/>
              <a:ext cx="72" cy="137"/>
            </a:xfrm>
            <a:custGeom>
              <a:avLst/>
              <a:gdLst>
                <a:gd name="T0" fmla="*/ 0 w 72"/>
                <a:gd name="T1" fmla="*/ 137 h 137"/>
                <a:gd name="T2" fmla="*/ 48 w 72"/>
                <a:gd name="T3" fmla="*/ 137 h 137"/>
                <a:gd name="T4" fmla="*/ 48 w 72"/>
                <a:gd name="T5" fmla="*/ 131 h 137"/>
                <a:gd name="T6" fmla="*/ 42 w 72"/>
                <a:gd name="T7" fmla="*/ 131 h 137"/>
                <a:gd name="T8" fmla="*/ 36 w 72"/>
                <a:gd name="T9" fmla="*/ 125 h 137"/>
                <a:gd name="T10" fmla="*/ 36 w 72"/>
                <a:gd name="T11" fmla="*/ 119 h 137"/>
                <a:gd name="T12" fmla="*/ 36 w 72"/>
                <a:gd name="T13" fmla="*/ 113 h 137"/>
                <a:gd name="T14" fmla="*/ 60 w 72"/>
                <a:gd name="T15" fmla="*/ 18 h 137"/>
                <a:gd name="T16" fmla="*/ 66 w 72"/>
                <a:gd name="T17" fmla="*/ 6 h 137"/>
                <a:gd name="T18" fmla="*/ 72 w 72"/>
                <a:gd name="T19" fmla="*/ 0 h 137"/>
                <a:gd name="T20" fmla="*/ 72 w 72"/>
                <a:gd name="T21" fmla="*/ 0 h 137"/>
                <a:gd name="T22" fmla="*/ 30 w 72"/>
                <a:gd name="T23" fmla="*/ 0 h 137"/>
                <a:gd name="T24" fmla="*/ 30 w 72"/>
                <a:gd name="T25" fmla="*/ 0 h 137"/>
                <a:gd name="T26" fmla="*/ 36 w 72"/>
                <a:gd name="T27" fmla="*/ 6 h 137"/>
                <a:gd name="T28" fmla="*/ 42 w 72"/>
                <a:gd name="T29" fmla="*/ 12 h 137"/>
                <a:gd name="T30" fmla="*/ 42 w 72"/>
                <a:gd name="T31" fmla="*/ 18 h 137"/>
                <a:gd name="T32" fmla="*/ 42 w 72"/>
                <a:gd name="T33" fmla="*/ 24 h 137"/>
                <a:gd name="T34" fmla="*/ 18 w 72"/>
                <a:gd name="T35" fmla="*/ 119 h 137"/>
                <a:gd name="T36" fmla="*/ 12 w 72"/>
                <a:gd name="T37" fmla="*/ 131 h 137"/>
                <a:gd name="T38" fmla="*/ 0 w 72"/>
                <a:gd name="T39" fmla="*/ 131 h 137"/>
                <a:gd name="T40" fmla="*/ 0 w 72"/>
                <a:gd name="T41" fmla="*/ 137 h 1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137"/>
                <a:gd name="T65" fmla="*/ 72 w 72"/>
                <a:gd name="T66" fmla="*/ 137 h 1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137">
                  <a:moveTo>
                    <a:pt x="0" y="137"/>
                  </a:moveTo>
                  <a:lnTo>
                    <a:pt x="48" y="137"/>
                  </a:lnTo>
                  <a:lnTo>
                    <a:pt x="48" y="131"/>
                  </a:lnTo>
                  <a:lnTo>
                    <a:pt x="42" y="131"/>
                  </a:lnTo>
                  <a:lnTo>
                    <a:pt x="36" y="125"/>
                  </a:lnTo>
                  <a:lnTo>
                    <a:pt x="36" y="119"/>
                  </a:lnTo>
                  <a:lnTo>
                    <a:pt x="36" y="113"/>
                  </a:lnTo>
                  <a:lnTo>
                    <a:pt x="60" y="18"/>
                  </a:lnTo>
                  <a:lnTo>
                    <a:pt x="66" y="6"/>
                  </a:lnTo>
                  <a:lnTo>
                    <a:pt x="72" y="0"/>
                  </a:lnTo>
                  <a:lnTo>
                    <a:pt x="30" y="0"/>
                  </a:lnTo>
                  <a:lnTo>
                    <a:pt x="36" y="6"/>
                  </a:lnTo>
                  <a:lnTo>
                    <a:pt x="42" y="12"/>
                  </a:lnTo>
                  <a:lnTo>
                    <a:pt x="42" y="18"/>
                  </a:lnTo>
                  <a:lnTo>
                    <a:pt x="42" y="24"/>
                  </a:lnTo>
                  <a:lnTo>
                    <a:pt x="18" y="119"/>
                  </a:lnTo>
                  <a:lnTo>
                    <a:pt x="12" y="131"/>
                  </a:lnTo>
                  <a:lnTo>
                    <a:pt x="0" y="131"/>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6" name="Freeform 60"/>
            <p:cNvSpPr/>
            <p:nvPr/>
          </p:nvSpPr>
          <p:spPr bwMode="auto">
            <a:xfrm>
              <a:off x="4164" y="1851"/>
              <a:ext cx="42" cy="107"/>
            </a:xfrm>
            <a:custGeom>
              <a:avLst/>
              <a:gdLst>
                <a:gd name="T0" fmla="*/ 0 w 42"/>
                <a:gd name="T1" fmla="*/ 107 h 107"/>
                <a:gd name="T2" fmla="*/ 42 w 42"/>
                <a:gd name="T3" fmla="*/ 107 h 107"/>
                <a:gd name="T4" fmla="*/ 42 w 42"/>
                <a:gd name="T5" fmla="*/ 101 h 107"/>
                <a:gd name="T6" fmla="*/ 30 w 42"/>
                <a:gd name="T7" fmla="*/ 101 h 107"/>
                <a:gd name="T8" fmla="*/ 30 w 42"/>
                <a:gd name="T9" fmla="*/ 95 h 107"/>
                <a:gd name="T10" fmla="*/ 30 w 42"/>
                <a:gd name="T11" fmla="*/ 0 h 107"/>
                <a:gd name="T12" fmla="*/ 24 w 42"/>
                <a:gd name="T13" fmla="*/ 0 h 107"/>
                <a:gd name="T14" fmla="*/ 0 w 42"/>
                <a:gd name="T15" fmla="*/ 11 h 107"/>
                <a:gd name="T16" fmla="*/ 0 w 42"/>
                <a:gd name="T17" fmla="*/ 17 h 107"/>
                <a:gd name="T18" fmla="*/ 6 w 42"/>
                <a:gd name="T19" fmla="*/ 11 h 107"/>
                <a:gd name="T20" fmla="*/ 12 w 42"/>
                <a:gd name="T21" fmla="*/ 11 h 107"/>
                <a:gd name="T22" fmla="*/ 18 w 42"/>
                <a:gd name="T23" fmla="*/ 17 h 107"/>
                <a:gd name="T24" fmla="*/ 18 w 42"/>
                <a:gd name="T25" fmla="*/ 17 h 107"/>
                <a:gd name="T26" fmla="*/ 18 w 42"/>
                <a:gd name="T27" fmla="*/ 89 h 107"/>
                <a:gd name="T28" fmla="*/ 12 w 42"/>
                <a:gd name="T29" fmla="*/ 101 h 107"/>
                <a:gd name="T30" fmla="*/ 0 w 42"/>
                <a:gd name="T31" fmla="*/ 101 h 107"/>
                <a:gd name="T32" fmla="*/ 0 w 42"/>
                <a:gd name="T33" fmla="*/ 107 h 10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07"/>
                <a:gd name="T53" fmla="*/ 42 w 42"/>
                <a:gd name="T54" fmla="*/ 107 h 10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07">
                  <a:moveTo>
                    <a:pt x="0" y="107"/>
                  </a:moveTo>
                  <a:lnTo>
                    <a:pt x="42" y="107"/>
                  </a:lnTo>
                  <a:lnTo>
                    <a:pt x="42" y="101"/>
                  </a:lnTo>
                  <a:lnTo>
                    <a:pt x="30" y="101"/>
                  </a:lnTo>
                  <a:lnTo>
                    <a:pt x="30" y="95"/>
                  </a:lnTo>
                  <a:lnTo>
                    <a:pt x="30" y="0"/>
                  </a:lnTo>
                  <a:lnTo>
                    <a:pt x="24" y="0"/>
                  </a:lnTo>
                  <a:lnTo>
                    <a:pt x="0" y="11"/>
                  </a:lnTo>
                  <a:lnTo>
                    <a:pt x="0" y="17"/>
                  </a:lnTo>
                  <a:lnTo>
                    <a:pt x="6" y="11"/>
                  </a:lnTo>
                  <a:lnTo>
                    <a:pt x="12" y="11"/>
                  </a:lnTo>
                  <a:lnTo>
                    <a:pt x="18" y="17"/>
                  </a:lnTo>
                  <a:lnTo>
                    <a:pt x="18" y="89"/>
                  </a:lnTo>
                  <a:lnTo>
                    <a:pt x="12" y="101"/>
                  </a:lnTo>
                  <a:lnTo>
                    <a:pt x="0" y="101"/>
                  </a:lnTo>
                  <a:lnTo>
                    <a:pt x="0" y="10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7" name="Freeform 61"/>
            <p:cNvSpPr/>
            <p:nvPr/>
          </p:nvSpPr>
          <p:spPr bwMode="auto">
            <a:xfrm>
              <a:off x="3919" y="1259"/>
              <a:ext cx="113" cy="138"/>
            </a:xfrm>
            <a:custGeom>
              <a:avLst/>
              <a:gdLst>
                <a:gd name="T0" fmla="*/ 113 w 113"/>
                <a:gd name="T1" fmla="*/ 0 h 138"/>
                <a:gd name="T2" fmla="*/ 83 w 113"/>
                <a:gd name="T3" fmla="*/ 0 h 138"/>
                <a:gd name="T4" fmla="*/ 83 w 113"/>
                <a:gd name="T5" fmla="*/ 0 h 138"/>
                <a:gd name="T6" fmla="*/ 89 w 113"/>
                <a:gd name="T7" fmla="*/ 0 h 138"/>
                <a:gd name="T8" fmla="*/ 89 w 113"/>
                <a:gd name="T9" fmla="*/ 6 h 138"/>
                <a:gd name="T10" fmla="*/ 89 w 113"/>
                <a:gd name="T11" fmla="*/ 24 h 138"/>
                <a:gd name="T12" fmla="*/ 83 w 113"/>
                <a:gd name="T13" fmla="*/ 36 h 138"/>
                <a:gd name="T14" fmla="*/ 47 w 113"/>
                <a:gd name="T15" fmla="*/ 108 h 138"/>
                <a:gd name="T16" fmla="*/ 41 w 113"/>
                <a:gd name="T17" fmla="*/ 108 h 138"/>
                <a:gd name="T18" fmla="*/ 30 w 113"/>
                <a:gd name="T19" fmla="*/ 18 h 138"/>
                <a:gd name="T20" fmla="*/ 35 w 113"/>
                <a:gd name="T21" fmla="*/ 6 h 138"/>
                <a:gd name="T22" fmla="*/ 47 w 113"/>
                <a:gd name="T23" fmla="*/ 0 h 138"/>
                <a:gd name="T24" fmla="*/ 47 w 113"/>
                <a:gd name="T25" fmla="*/ 0 h 138"/>
                <a:gd name="T26" fmla="*/ 0 w 113"/>
                <a:gd name="T27" fmla="*/ 0 h 138"/>
                <a:gd name="T28" fmla="*/ 0 w 113"/>
                <a:gd name="T29" fmla="*/ 0 h 138"/>
                <a:gd name="T30" fmla="*/ 12 w 113"/>
                <a:gd name="T31" fmla="*/ 6 h 138"/>
                <a:gd name="T32" fmla="*/ 12 w 113"/>
                <a:gd name="T33" fmla="*/ 18 h 138"/>
                <a:gd name="T34" fmla="*/ 18 w 113"/>
                <a:gd name="T35" fmla="*/ 30 h 138"/>
                <a:gd name="T36" fmla="*/ 30 w 113"/>
                <a:gd name="T37" fmla="*/ 138 h 138"/>
                <a:gd name="T38" fmla="*/ 35 w 113"/>
                <a:gd name="T39" fmla="*/ 138 h 138"/>
                <a:gd name="T40" fmla="*/ 107 w 113"/>
                <a:gd name="T41" fmla="*/ 12 h 138"/>
                <a:gd name="T42" fmla="*/ 107 w 113"/>
                <a:gd name="T43" fmla="*/ 6 h 138"/>
                <a:gd name="T44" fmla="*/ 113 w 113"/>
                <a:gd name="T45" fmla="*/ 0 h 138"/>
                <a:gd name="T46" fmla="*/ 113 w 113"/>
                <a:gd name="T47" fmla="*/ 0 h 1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3"/>
                <a:gd name="T73" fmla="*/ 0 h 138"/>
                <a:gd name="T74" fmla="*/ 113 w 113"/>
                <a:gd name="T75" fmla="*/ 138 h 1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3" h="138">
                  <a:moveTo>
                    <a:pt x="113" y="0"/>
                  </a:moveTo>
                  <a:lnTo>
                    <a:pt x="83" y="0"/>
                  </a:lnTo>
                  <a:lnTo>
                    <a:pt x="89" y="0"/>
                  </a:lnTo>
                  <a:lnTo>
                    <a:pt x="89" y="6"/>
                  </a:lnTo>
                  <a:lnTo>
                    <a:pt x="89" y="24"/>
                  </a:lnTo>
                  <a:lnTo>
                    <a:pt x="83" y="36"/>
                  </a:lnTo>
                  <a:lnTo>
                    <a:pt x="47" y="108"/>
                  </a:lnTo>
                  <a:lnTo>
                    <a:pt x="41" y="108"/>
                  </a:lnTo>
                  <a:lnTo>
                    <a:pt x="30" y="18"/>
                  </a:lnTo>
                  <a:lnTo>
                    <a:pt x="35" y="6"/>
                  </a:lnTo>
                  <a:lnTo>
                    <a:pt x="47" y="0"/>
                  </a:lnTo>
                  <a:lnTo>
                    <a:pt x="0" y="0"/>
                  </a:lnTo>
                  <a:lnTo>
                    <a:pt x="12" y="6"/>
                  </a:lnTo>
                  <a:lnTo>
                    <a:pt x="12" y="18"/>
                  </a:lnTo>
                  <a:lnTo>
                    <a:pt x="18" y="30"/>
                  </a:lnTo>
                  <a:lnTo>
                    <a:pt x="30" y="138"/>
                  </a:lnTo>
                  <a:lnTo>
                    <a:pt x="35" y="138"/>
                  </a:lnTo>
                  <a:lnTo>
                    <a:pt x="107" y="12"/>
                  </a:lnTo>
                  <a:lnTo>
                    <a:pt x="107" y="6"/>
                  </a:lnTo>
                  <a:lnTo>
                    <a:pt x="11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8" name="Freeform 62"/>
            <p:cNvSpPr/>
            <p:nvPr/>
          </p:nvSpPr>
          <p:spPr bwMode="auto">
            <a:xfrm>
              <a:off x="4032" y="1343"/>
              <a:ext cx="42" cy="101"/>
            </a:xfrm>
            <a:custGeom>
              <a:avLst/>
              <a:gdLst>
                <a:gd name="T0" fmla="*/ 6 w 42"/>
                <a:gd name="T1" fmla="*/ 101 h 101"/>
                <a:gd name="T2" fmla="*/ 42 w 42"/>
                <a:gd name="T3" fmla="*/ 101 h 101"/>
                <a:gd name="T4" fmla="*/ 42 w 42"/>
                <a:gd name="T5" fmla="*/ 101 h 101"/>
                <a:gd name="T6" fmla="*/ 30 w 42"/>
                <a:gd name="T7" fmla="*/ 101 h 101"/>
                <a:gd name="T8" fmla="*/ 30 w 42"/>
                <a:gd name="T9" fmla="*/ 95 h 101"/>
                <a:gd name="T10" fmla="*/ 30 w 42"/>
                <a:gd name="T11" fmla="*/ 0 h 101"/>
                <a:gd name="T12" fmla="*/ 30 w 42"/>
                <a:gd name="T13" fmla="*/ 0 h 101"/>
                <a:gd name="T14" fmla="*/ 0 w 42"/>
                <a:gd name="T15" fmla="*/ 12 h 101"/>
                <a:gd name="T16" fmla="*/ 0 w 42"/>
                <a:gd name="T17" fmla="*/ 12 h 101"/>
                <a:gd name="T18" fmla="*/ 12 w 42"/>
                <a:gd name="T19" fmla="*/ 12 h 101"/>
                <a:gd name="T20" fmla="*/ 12 w 42"/>
                <a:gd name="T21" fmla="*/ 12 h 101"/>
                <a:gd name="T22" fmla="*/ 18 w 42"/>
                <a:gd name="T23" fmla="*/ 12 h 101"/>
                <a:gd name="T24" fmla="*/ 18 w 42"/>
                <a:gd name="T25" fmla="*/ 18 h 101"/>
                <a:gd name="T26" fmla="*/ 18 w 42"/>
                <a:gd name="T27" fmla="*/ 90 h 101"/>
                <a:gd name="T28" fmla="*/ 12 w 42"/>
                <a:gd name="T29" fmla="*/ 101 h 101"/>
                <a:gd name="T30" fmla="*/ 6 w 42"/>
                <a:gd name="T31" fmla="*/ 101 h 101"/>
                <a:gd name="T32" fmla="*/ 6 w 42"/>
                <a:gd name="T33" fmla="*/ 101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101"/>
                <a:gd name="T53" fmla="*/ 42 w 4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101">
                  <a:moveTo>
                    <a:pt x="6" y="101"/>
                  </a:moveTo>
                  <a:lnTo>
                    <a:pt x="42" y="101"/>
                  </a:lnTo>
                  <a:lnTo>
                    <a:pt x="30" y="101"/>
                  </a:lnTo>
                  <a:lnTo>
                    <a:pt x="30" y="95"/>
                  </a:lnTo>
                  <a:lnTo>
                    <a:pt x="30" y="0"/>
                  </a:lnTo>
                  <a:lnTo>
                    <a:pt x="0" y="12"/>
                  </a:lnTo>
                  <a:lnTo>
                    <a:pt x="12" y="12"/>
                  </a:lnTo>
                  <a:lnTo>
                    <a:pt x="18" y="12"/>
                  </a:lnTo>
                  <a:lnTo>
                    <a:pt x="18" y="18"/>
                  </a:lnTo>
                  <a:lnTo>
                    <a:pt x="18" y="90"/>
                  </a:lnTo>
                  <a:lnTo>
                    <a:pt x="12" y="101"/>
                  </a:lnTo>
                  <a:lnTo>
                    <a:pt x="6" y="10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09" name="Freeform 63"/>
            <p:cNvSpPr/>
            <p:nvPr/>
          </p:nvSpPr>
          <p:spPr bwMode="auto">
            <a:xfrm>
              <a:off x="4570" y="1194"/>
              <a:ext cx="72" cy="143"/>
            </a:xfrm>
            <a:custGeom>
              <a:avLst/>
              <a:gdLst>
                <a:gd name="T0" fmla="*/ 24 w 72"/>
                <a:gd name="T1" fmla="*/ 71 h 143"/>
                <a:gd name="T2" fmla="*/ 36 w 72"/>
                <a:gd name="T3" fmla="*/ 71 h 143"/>
                <a:gd name="T4" fmla="*/ 48 w 72"/>
                <a:gd name="T5" fmla="*/ 77 h 143"/>
                <a:gd name="T6" fmla="*/ 60 w 72"/>
                <a:gd name="T7" fmla="*/ 95 h 143"/>
                <a:gd name="T8" fmla="*/ 60 w 72"/>
                <a:gd name="T9" fmla="*/ 107 h 143"/>
                <a:gd name="T10" fmla="*/ 54 w 72"/>
                <a:gd name="T11" fmla="*/ 125 h 143"/>
                <a:gd name="T12" fmla="*/ 48 w 72"/>
                <a:gd name="T13" fmla="*/ 137 h 143"/>
                <a:gd name="T14" fmla="*/ 36 w 72"/>
                <a:gd name="T15" fmla="*/ 137 h 143"/>
                <a:gd name="T16" fmla="*/ 24 w 72"/>
                <a:gd name="T17" fmla="*/ 131 h 143"/>
                <a:gd name="T18" fmla="*/ 6 w 72"/>
                <a:gd name="T19" fmla="*/ 125 h 143"/>
                <a:gd name="T20" fmla="*/ 6 w 72"/>
                <a:gd name="T21" fmla="*/ 125 h 143"/>
                <a:gd name="T22" fmla="*/ 0 w 72"/>
                <a:gd name="T23" fmla="*/ 131 h 143"/>
                <a:gd name="T24" fmla="*/ 6 w 72"/>
                <a:gd name="T25" fmla="*/ 137 h 143"/>
                <a:gd name="T26" fmla="*/ 12 w 72"/>
                <a:gd name="T27" fmla="*/ 143 h 143"/>
                <a:gd name="T28" fmla="*/ 24 w 72"/>
                <a:gd name="T29" fmla="*/ 143 h 143"/>
                <a:gd name="T30" fmla="*/ 42 w 72"/>
                <a:gd name="T31" fmla="*/ 137 h 143"/>
                <a:gd name="T32" fmla="*/ 60 w 72"/>
                <a:gd name="T33" fmla="*/ 131 h 143"/>
                <a:gd name="T34" fmla="*/ 66 w 72"/>
                <a:gd name="T35" fmla="*/ 113 h 143"/>
                <a:gd name="T36" fmla="*/ 72 w 72"/>
                <a:gd name="T37" fmla="*/ 95 h 143"/>
                <a:gd name="T38" fmla="*/ 72 w 72"/>
                <a:gd name="T39" fmla="*/ 77 h 143"/>
                <a:gd name="T40" fmla="*/ 60 w 72"/>
                <a:gd name="T41" fmla="*/ 65 h 143"/>
                <a:gd name="T42" fmla="*/ 48 w 72"/>
                <a:gd name="T43" fmla="*/ 59 h 143"/>
                <a:gd name="T44" fmla="*/ 60 w 72"/>
                <a:gd name="T45" fmla="*/ 47 h 143"/>
                <a:gd name="T46" fmla="*/ 66 w 72"/>
                <a:gd name="T47" fmla="*/ 30 h 143"/>
                <a:gd name="T48" fmla="*/ 60 w 72"/>
                <a:gd name="T49" fmla="*/ 12 h 143"/>
                <a:gd name="T50" fmla="*/ 54 w 72"/>
                <a:gd name="T51" fmla="*/ 6 h 143"/>
                <a:gd name="T52" fmla="*/ 36 w 72"/>
                <a:gd name="T53" fmla="*/ 0 h 143"/>
                <a:gd name="T54" fmla="*/ 18 w 72"/>
                <a:gd name="T55" fmla="*/ 6 h 143"/>
                <a:gd name="T56" fmla="*/ 6 w 72"/>
                <a:gd name="T57" fmla="*/ 18 h 143"/>
                <a:gd name="T58" fmla="*/ 0 w 72"/>
                <a:gd name="T59" fmla="*/ 36 h 143"/>
                <a:gd name="T60" fmla="*/ 6 w 72"/>
                <a:gd name="T61" fmla="*/ 36 h 143"/>
                <a:gd name="T62" fmla="*/ 12 w 72"/>
                <a:gd name="T63" fmla="*/ 24 h 143"/>
                <a:gd name="T64" fmla="*/ 18 w 72"/>
                <a:gd name="T65" fmla="*/ 18 h 143"/>
                <a:gd name="T66" fmla="*/ 30 w 72"/>
                <a:gd name="T67" fmla="*/ 12 h 143"/>
                <a:gd name="T68" fmla="*/ 48 w 72"/>
                <a:gd name="T69" fmla="*/ 18 h 143"/>
                <a:gd name="T70" fmla="*/ 54 w 72"/>
                <a:gd name="T71" fmla="*/ 36 h 143"/>
                <a:gd name="T72" fmla="*/ 54 w 72"/>
                <a:gd name="T73" fmla="*/ 47 h 143"/>
                <a:gd name="T74" fmla="*/ 42 w 72"/>
                <a:gd name="T75" fmla="*/ 59 h 143"/>
                <a:gd name="T76" fmla="*/ 24 w 72"/>
                <a:gd name="T77" fmla="*/ 71 h 143"/>
                <a:gd name="T78" fmla="*/ 24 w 72"/>
                <a:gd name="T79" fmla="*/ 71 h 14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
                <a:gd name="T121" fmla="*/ 0 h 143"/>
                <a:gd name="T122" fmla="*/ 72 w 72"/>
                <a:gd name="T123" fmla="*/ 143 h 14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 h="143">
                  <a:moveTo>
                    <a:pt x="24" y="71"/>
                  </a:moveTo>
                  <a:lnTo>
                    <a:pt x="36" y="71"/>
                  </a:lnTo>
                  <a:lnTo>
                    <a:pt x="48" y="77"/>
                  </a:lnTo>
                  <a:lnTo>
                    <a:pt x="60" y="95"/>
                  </a:lnTo>
                  <a:lnTo>
                    <a:pt x="60" y="107"/>
                  </a:lnTo>
                  <a:lnTo>
                    <a:pt x="54" y="125"/>
                  </a:lnTo>
                  <a:lnTo>
                    <a:pt x="48" y="137"/>
                  </a:lnTo>
                  <a:lnTo>
                    <a:pt x="36" y="137"/>
                  </a:lnTo>
                  <a:lnTo>
                    <a:pt x="24" y="131"/>
                  </a:lnTo>
                  <a:lnTo>
                    <a:pt x="6" y="125"/>
                  </a:lnTo>
                  <a:lnTo>
                    <a:pt x="0" y="131"/>
                  </a:lnTo>
                  <a:lnTo>
                    <a:pt x="6" y="137"/>
                  </a:lnTo>
                  <a:lnTo>
                    <a:pt x="12" y="143"/>
                  </a:lnTo>
                  <a:lnTo>
                    <a:pt x="24" y="143"/>
                  </a:lnTo>
                  <a:lnTo>
                    <a:pt x="42" y="137"/>
                  </a:lnTo>
                  <a:lnTo>
                    <a:pt x="60" y="131"/>
                  </a:lnTo>
                  <a:lnTo>
                    <a:pt x="66" y="113"/>
                  </a:lnTo>
                  <a:lnTo>
                    <a:pt x="72" y="95"/>
                  </a:lnTo>
                  <a:lnTo>
                    <a:pt x="72" y="77"/>
                  </a:lnTo>
                  <a:lnTo>
                    <a:pt x="60" y="65"/>
                  </a:lnTo>
                  <a:lnTo>
                    <a:pt x="48" y="59"/>
                  </a:lnTo>
                  <a:lnTo>
                    <a:pt x="60" y="47"/>
                  </a:lnTo>
                  <a:lnTo>
                    <a:pt x="66" y="30"/>
                  </a:lnTo>
                  <a:lnTo>
                    <a:pt x="60" y="12"/>
                  </a:lnTo>
                  <a:lnTo>
                    <a:pt x="54" y="6"/>
                  </a:lnTo>
                  <a:lnTo>
                    <a:pt x="36" y="0"/>
                  </a:lnTo>
                  <a:lnTo>
                    <a:pt x="18" y="6"/>
                  </a:lnTo>
                  <a:lnTo>
                    <a:pt x="6" y="18"/>
                  </a:lnTo>
                  <a:lnTo>
                    <a:pt x="0" y="36"/>
                  </a:lnTo>
                  <a:lnTo>
                    <a:pt x="6" y="36"/>
                  </a:lnTo>
                  <a:lnTo>
                    <a:pt x="12" y="24"/>
                  </a:lnTo>
                  <a:lnTo>
                    <a:pt x="18" y="18"/>
                  </a:lnTo>
                  <a:lnTo>
                    <a:pt x="30" y="12"/>
                  </a:lnTo>
                  <a:lnTo>
                    <a:pt x="48" y="18"/>
                  </a:lnTo>
                  <a:lnTo>
                    <a:pt x="54" y="36"/>
                  </a:lnTo>
                  <a:lnTo>
                    <a:pt x="54" y="47"/>
                  </a:lnTo>
                  <a:lnTo>
                    <a:pt x="42" y="59"/>
                  </a:lnTo>
                  <a:lnTo>
                    <a:pt x="24" y="7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0" name="Freeform 64"/>
            <p:cNvSpPr/>
            <p:nvPr/>
          </p:nvSpPr>
          <p:spPr bwMode="auto">
            <a:xfrm>
              <a:off x="4708" y="1188"/>
              <a:ext cx="132" cy="149"/>
            </a:xfrm>
            <a:custGeom>
              <a:avLst/>
              <a:gdLst>
                <a:gd name="T0" fmla="*/ 54 w 132"/>
                <a:gd name="T1" fmla="*/ 113 h 149"/>
                <a:gd name="T2" fmla="*/ 42 w 132"/>
                <a:gd name="T3" fmla="*/ 113 h 149"/>
                <a:gd name="T4" fmla="*/ 36 w 132"/>
                <a:gd name="T5" fmla="*/ 101 h 149"/>
                <a:gd name="T6" fmla="*/ 30 w 132"/>
                <a:gd name="T7" fmla="*/ 89 h 149"/>
                <a:gd name="T8" fmla="*/ 24 w 132"/>
                <a:gd name="T9" fmla="*/ 77 h 149"/>
                <a:gd name="T10" fmla="*/ 24 w 132"/>
                <a:gd name="T11" fmla="*/ 59 h 149"/>
                <a:gd name="T12" fmla="*/ 36 w 132"/>
                <a:gd name="T13" fmla="*/ 18 h 149"/>
                <a:gd name="T14" fmla="*/ 54 w 132"/>
                <a:gd name="T15" fmla="*/ 12 h 149"/>
                <a:gd name="T16" fmla="*/ 66 w 132"/>
                <a:gd name="T17" fmla="*/ 12 h 149"/>
                <a:gd name="T18" fmla="*/ 78 w 132"/>
                <a:gd name="T19" fmla="*/ 12 h 149"/>
                <a:gd name="T20" fmla="*/ 90 w 132"/>
                <a:gd name="T21" fmla="*/ 18 h 149"/>
                <a:gd name="T22" fmla="*/ 102 w 132"/>
                <a:gd name="T23" fmla="*/ 36 h 149"/>
                <a:gd name="T24" fmla="*/ 108 w 132"/>
                <a:gd name="T25" fmla="*/ 59 h 149"/>
                <a:gd name="T26" fmla="*/ 108 w 132"/>
                <a:gd name="T27" fmla="*/ 77 h 149"/>
                <a:gd name="T28" fmla="*/ 102 w 132"/>
                <a:gd name="T29" fmla="*/ 89 h 149"/>
                <a:gd name="T30" fmla="*/ 96 w 132"/>
                <a:gd name="T31" fmla="*/ 101 h 149"/>
                <a:gd name="T32" fmla="*/ 90 w 132"/>
                <a:gd name="T33" fmla="*/ 113 h 149"/>
                <a:gd name="T34" fmla="*/ 78 w 132"/>
                <a:gd name="T35" fmla="*/ 113 h 149"/>
                <a:gd name="T36" fmla="*/ 78 w 132"/>
                <a:gd name="T37" fmla="*/ 149 h 149"/>
                <a:gd name="T38" fmla="*/ 132 w 132"/>
                <a:gd name="T39" fmla="*/ 149 h 149"/>
                <a:gd name="T40" fmla="*/ 132 w 132"/>
                <a:gd name="T41" fmla="*/ 113 h 149"/>
                <a:gd name="T42" fmla="*/ 126 w 132"/>
                <a:gd name="T43" fmla="*/ 113 h 149"/>
                <a:gd name="T44" fmla="*/ 120 w 132"/>
                <a:gd name="T45" fmla="*/ 125 h 149"/>
                <a:gd name="T46" fmla="*/ 114 w 132"/>
                <a:gd name="T47" fmla="*/ 125 h 149"/>
                <a:gd name="T48" fmla="*/ 84 w 132"/>
                <a:gd name="T49" fmla="*/ 125 h 149"/>
                <a:gd name="T50" fmla="*/ 84 w 132"/>
                <a:gd name="T51" fmla="*/ 119 h 149"/>
                <a:gd name="T52" fmla="*/ 102 w 132"/>
                <a:gd name="T53" fmla="*/ 107 h 149"/>
                <a:gd name="T54" fmla="*/ 114 w 132"/>
                <a:gd name="T55" fmla="*/ 95 h 149"/>
                <a:gd name="T56" fmla="*/ 126 w 132"/>
                <a:gd name="T57" fmla="*/ 83 h 149"/>
                <a:gd name="T58" fmla="*/ 126 w 132"/>
                <a:gd name="T59" fmla="*/ 65 h 149"/>
                <a:gd name="T60" fmla="*/ 120 w 132"/>
                <a:gd name="T61" fmla="*/ 36 h 149"/>
                <a:gd name="T62" fmla="*/ 114 w 132"/>
                <a:gd name="T63" fmla="*/ 24 h 149"/>
                <a:gd name="T64" fmla="*/ 108 w 132"/>
                <a:gd name="T65" fmla="*/ 18 h 149"/>
                <a:gd name="T66" fmla="*/ 96 w 132"/>
                <a:gd name="T67" fmla="*/ 12 h 149"/>
                <a:gd name="T68" fmla="*/ 84 w 132"/>
                <a:gd name="T69" fmla="*/ 6 h 149"/>
                <a:gd name="T70" fmla="*/ 66 w 132"/>
                <a:gd name="T71" fmla="*/ 0 h 149"/>
                <a:gd name="T72" fmla="*/ 48 w 132"/>
                <a:gd name="T73" fmla="*/ 6 h 149"/>
                <a:gd name="T74" fmla="*/ 30 w 132"/>
                <a:gd name="T75" fmla="*/ 12 h 149"/>
                <a:gd name="T76" fmla="*/ 24 w 132"/>
                <a:gd name="T77" fmla="*/ 18 h 149"/>
                <a:gd name="T78" fmla="*/ 18 w 132"/>
                <a:gd name="T79" fmla="*/ 24 h 149"/>
                <a:gd name="T80" fmla="*/ 12 w 132"/>
                <a:gd name="T81" fmla="*/ 36 h 149"/>
                <a:gd name="T82" fmla="*/ 6 w 132"/>
                <a:gd name="T83" fmla="*/ 65 h 149"/>
                <a:gd name="T84" fmla="*/ 12 w 132"/>
                <a:gd name="T85" fmla="*/ 95 h 149"/>
                <a:gd name="T86" fmla="*/ 24 w 132"/>
                <a:gd name="T87" fmla="*/ 107 h 149"/>
                <a:gd name="T88" fmla="*/ 42 w 132"/>
                <a:gd name="T89" fmla="*/ 119 h 149"/>
                <a:gd name="T90" fmla="*/ 42 w 132"/>
                <a:gd name="T91" fmla="*/ 125 h 149"/>
                <a:gd name="T92" fmla="*/ 12 w 132"/>
                <a:gd name="T93" fmla="*/ 125 h 149"/>
                <a:gd name="T94" fmla="*/ 6 w 132"/>
                <a:gd name="T95" fmla="*/ 125 h 149"/>
                <a:gd name="T96" fmla="*/ 0 w 132"/>
                <a:gd name="T97" fmla="*/ 113 h 149"/>
                <a:gd name="T98" fmla="*/ 0 w 132"/>
                <a:gd name="T99" fmla="*/ 113 h 149"/>
                <a:gd name="T100" fmla="*/ 0 w 132"/>
                <a:gd name="T101" fmla="*/ 149 h 149"/>
                <a:gd name="T102" fmla="*/ 54 w 132"/>
                <a:gd name="T103" fmla="*/ 149 h 149"/>
                <a:gd name="T104" fmla="*/ 54 w 132"/>
                <a:gd name="T105" fmla="*/ 113 h 14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
                <a:gd name="T160" fmla="*/ 0 h 149"/>
                <a:gd name="T161" fmla="*/ 132 w 132"/>
                <a:gd name="T162" fmla="*/ 149 h 14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 h="149">
                  <a:moveTo>
                    <a:pt x="54" y="113"/>
                  </a:moveTo>
                  <a:lnTo>
                    <a:pt x="42" y="113"/>
                  </a:lnTo>
                  <a:lnTo>
                    <a:pt x="36" y="101"/>
                  </a:lnTo>
                  <a:lnTo>
                    <a:pt x="30" y="89"/>
                  </a:lnTo>
                  <a:lnTo>
                    <a:pt x="24" y="77"/>
                  </a:lnTo>
                  <a:lnTo>
                    <a:pt x="24" y="59"/>
                  </a:lnTo>
                  <a:lnTo>
                    <a:pt x="36" y="18"/>
                  </a:lnTo>
                  <a:lnTo>
                    <a:pt x="54" y="12"/>
                  </a:lnTo>
                  <a:lnTo>
                    <a:pt x="66" y="12"/>
                  </a:lnTo>
                  <a:lnTo>
                    <a:pt x="78" y="12"/>
                  </a:lnTo>
                  <a:lnTo>
                    <a:pt x="90" y="18"/>
                  </a:lnTo>
                  <a:lnTo>
                    <a:pt x="102" y="36"/>
                  </a:lnTo>
                  <a:lnTo>
                    <a:pt x="108" y="59"/>
                  </a:lnTo>
                  <a:lnTo>
                    <a:pt x="108" y="77"/>
                  </a:lnTo>
                  <a:lnTo>
                    <a:pt x="102" y="89"/>
                  </a:lnTo>
                  <a:lnTo>
                    <a:pt x="96" y="101"/>
                  </a:lnTo>
                  <a:lnTo>
                    <a:pt x="90" y="113"/>
                  </a:lnTo>
                  <a:lnTo>
                    <a:pt x="78" y="113"/>
                  </a:lnTo>
                  <a:lnTo>
                    <a:pt x="78" y="149"/>
                  </a:lnTo>
                  <a:lnTo>
                    <a:pt x="132" y="149"/>
                  </a:lnTo>
                  <a:lnTo>
                    <a:pt x="132" y="113"/>
                  </a:lnTo>
                  <a:lnTo>
                    <a:pt x="126" y="113"/>
                  </a:lnTo>
                  <a:lnTo>
                    <a:pt x="120" y="125"/>
                  </a:lnTo>
                  <a:lnTo>
                    <a:pt x="114" y="125"/>
                  </a:lnTo>
                  <a:lnTo>
                    <a:pt x="84" y="125"/>
                  </a:lnTo>
                  <a:lnTo>
                    <a:pt x="84" y="119"/>
                  </a:lnTo>
                  <a:lnTo>
                    <a:pt x="102" y="107"/>
                  </a:lnTo>
                  <a:lnTo>
                    <a:pt x="114" y="95"/>
                  </a:lnTo>
                  <a:lnTo>
                    <a:pt x="126" y="83"/>
                  </a:lnTo>
                  <a:lnTo>
                    <a:pt x="126" y="65"/>
                  </a:lnTo>
                  <a:lnTo>
                    <a:pt x="120" y="36"/>
                  </a:lnTo>
                  <a:lnTo>
                    <a:pt x="114" y="24"/>
                  </a:lnTo>
                  <a:lnTo>
                    <a:pt x="108" y="18"/>
                  </a:lnTo>
                  <a:lnTo>
                    <a:pt x="96" y="12"/>
                  </a:lnTo>
                  <a:lnTo>
                    <a:pt x="84" y="6"/>
                  </a:lnTo>
                  <a:lnTo>
                    <a:pt x="66" y="0"/>
                  </a:lnTo>
                  <a:lnTo>
                    <a:pt x="48" y="6"/>
                  </a:lnTo>
                  <a:lnTo>
                    <a:pt x="30" y="12"/>
                  </a:lnTo>
                  <a:lnTo>
                    <a:pt x="24" y="18"/>
                  </a:lnTo>
                  <a:lnTo>
                    <a:pt x="18" y="24"/>
                  </a:lnTo>
                  <a:lnTo>
                    <a:pt x="12" y="36"/>
                  </a:lnTo>
                  <a:lnTo>
                    <a:pt x="6" y="65"/>
                  </a:lnTo>
                  <a:lnTo>
                    <a:pt x="12" y="95"/>
                  </a:lnTo>
                  <a:lnTo>
                    <a:pt x="24" y="107"/>
                  </a:lnTo>
                  <a:lnTo>
                    <a:pt x="42" y="119"/>
                  </a:lnTo>
                  <a:lnTo>
                    <a:pt x="42" y="125"/>
                  </a:lnTo>
                  <a:lnTo>
                    <a:pt x="12" y="125"/>
                  </a:lnTo>
                  <a:lnTo>
                    <a:pt x="6" y="125"/>
                  </a:lnTo>
                  <a:lnTo>
                    <a:pt x="0" y="113"/>
                  </a:lnTo>
                  <a:lnTo>
                    <a:pt x="0" y="149"/>
                  </a:lnTo>
                  <a:lnTo>
                    <a:pt x="54" y="149"/>
                  </a:lnTo>
                  <a:lnTo>
                    <a:pt x="54"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1" name="Freeform 65"/>
            <p:cNvSpPr/>
            <p:nvPr/>
          </p:nvSpPr>
          <p:spPr bwMode="auto">
            <a:xfrm>
              <a:off x="3739" y="1194"/>
              <a:ext cx="54" cy="143"/>
            </a:xfrm>
            <a:custGeom>
              <a:avLst/>
              <a:gdLst>
                <a:gd name="T0" fmla="*/ 0 w 54"/>
                <a:gd name="T1" fmla="*/ 143 h 143"/>
                <a:gd name="T2" fmla="*/ 54 w 54"/>
                <a:gd name="T3" fmla="*/ 143 h 143"/>
                <a:gd name="T4" fmla="*/ 54 w 54"/>
                <a:gd name="T5" fmla="*/ 137 h 143"/>
                <a:gd name="T6" fmla="*/ 42 w 54"/>
                <a:gd name="T7" fmla="*/ 137 h 143"/>
                <a:gd name="T8" fmla="*/ 36 w 54"/>
                <a:gd name="T9" fmla="*/ 137 h 143"/>
                <a:gd name="T10" fmla="*/ 36 w 54"/>
                <a:gd name="T11" fmla="*/ 125 h 143"/>
                <a:gd name="T12" fmla="*/ 36 w 54"/>
                <a:gd name="T13" fmla="*/ 0 h 143"/>
                <a:gd name="T14" fmla="*/ 30 w 54"/>
                <a:gd name="T15" fmla="*/ 0 h 143"/>
                <a:gd name="T16" fmla="*/ 0 w 54"/>
                <a:gd name="T17" fmla="*/ 18 h 143"/>
                <a:gd name="T18" fmla="*/ 0 w 54"/>
                <a:gd name="T19" fmla="*/ 24 h 143"/>
                <a:gd name="T20" fmla="*/ 12 w 54"/>
                <a:gd name="T21" fmla="*/ 18 h 143"/>
                <a:gd name="T22" fmla="*/ 12 w 54"/>
                <a:gd name="T23" fmla="*/ 18 h 143"/>
                <a:gd name="T24" fmla="*/ 18 w 54"/>
                <a:gd name="T25" fmla="*/ 24 h 143"/>
                <a:gd name="T26" fmla="*/ 18 w 54"/>
                <a:gd name="T27" fmla="*/ 30 h 143"/>
                <a:gd name="T28" fmla="*/ 18 w 54"/>
                <a:gd name="T29" fmla="*/ 119 h 143"/>
                <a:gd name="T30" fmla="*/ 18 w 54"/>
                <a:gd name="T31" fmla="*/ 131 h 143"/>
                <a:gd name="T32" fmla="*/ 12 w 54"/>
                <a:gd name="T33" fmla="*/ 137 h 143"/>
                <a:gd name="T34" fmla="*/ 0 w 54"/>
                <a:gd name="T35" fmla="*/ 137 h 143"/>
                <a:gd name="T36" fmla="*/ 0 w 54"/>
                <a:gd name="T37" fmla="*/ 143 h 1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4"/>
                <a:gd name="T58" fmla="*/ 0 h 143"/>
                <a:gd name="T59" fmla="*/ 54 w 54"/>
                <a:gd name="T60" fmla="*/ 143 h 1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4" h="143">
                  <a:moveTo>
                    <a:pt x="0" y="143"/>
                  </a:moveTo>
                  <a:lnTo>
                    <a:pt x="54" y="143"/>
                  </a:lnTo>
                  <a:lnTo>
                    <a:pt x="54" y="137"/>
                  </a:lnTo>
                  <a:lnTo>
                    <a:pt x="42" y="137"/>
                  </a:lnTo>
                  <a:lnTo>
                    <a:pt x="36" y="137"/>
                  </a:lnTo>
                  <a:lnTo>
                    <a:pt x="36" y="125"/>
                  </a:lnTo>
                  <a:lnTo>
                    <a:pt x="36" y="0"/>
                  </a:lnTo>
                  <a:lnTo>
                    <a:pt x="30" y="0"/>
                  </a:lnTo>
                  <a:lnTo>
                    <a:pt x="0" y="18"/>
                  </a:lnTo>
                  <a:lnTo>
                    <a:pt x="0" y="24"/>
                  </a:lnTo>
                  <a:lnTo>
                    <a:pt x="12" y="18"/>
                  </a:lnTo>
                  <a:lnTo>
                    <a:pt x="18" y="24"/>
                  </a:lnTo>
                  <a:lnTo>
                    <a:pt x="18" y="30"/>
                  </a:lnTo>
                  <a:lnTo>
                    <a:pt x="18" y="119"/>
                  </a:lnTo>
                  <a:lnTo>
                    <a:pt x="18" y="131"/>
                  </a:lnTo>
                  <a:lnTo>
                    <a:pt x="12" y="137"/>
                  </a:lnTo>
                  <a:lnTo>
                    <a:pt x="0" y="137"/>
                  </a:lnTo>
                  <a:lnTo>
                    <a:pt x="0" y="14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2" name="Freeform 66"/>
            <p:cNvSpPr>
              <a:spLocks noEditPoints="1"/>
            </p:cNvSpPr>
            <p:nvPr/>
          </p:nvSpPr>
          <p:spPr bwMode="auto">
            <a:xfrm>
              <a:off x="3566" y="2274"/>
              <a:ext cx="83" cy="144"/>
            </a:xfrm>
            <a:custGeom>
              <a:avLst/>
              <a:gdLst>
                <a:gd name="T0" fmla="*/ 83 w 83"/>
                <a:gd name="T1" fmla="*/ 96 h 144"/>
                <a:gd name="T2" fmla="*/ 66 w 83"/>
                <a:gd name="T3" fmla="*/ 96 h 144"/>
                <a:gd name="T4" fmla="*/ 66 w 83"/>
                <a:gd name="T5" fmla="*/ 0 h 144"/>
                <a:gd name="T6" fmla="*/ 60 w 83"/>
                <a:gd name="T7" fmla="*/ 0 h 144"/>
                <a:gd name="T8" fmla="*/ 0 w 83"/>
                <a:gd name="T9" fmla="*/ 96 h 144"/>
                <a:gd name="T10" fmla="*/ 0 w 83"/>
                <a:gd name="T11" fmla="*/ 108 h 144"/>
                <a:gd name="T12" fmla="*/ 54 w 83"/>
                <a:gd name="T13" fmla="*/ 108 h 144"/>
                <a:gd name="T14" fmla="*/ 54 w 83"/>
                <a:gd name="T15" fmla="*/ 144 h 144"/>
                <a:gd name="T16" fmla="*/ 66 w 83"/>
                <a:gd name="T17" fmla="*/ 144 h 144"/>
                <a:gd name="T18" fmla="*/ 66 w 83"/>
                <a:gd name="T19" fmla="*/ 108 h 144"/>
                <a:gd name="T20" fmla="*/ 83 w 83"/>
                <a:gd name="T21" fmla="*/ 108 h 144"/>
                <a:gd name="T22" fmla="*/ 83 w 83"/>
                <a:gd name="T23" fmla="*/ 96 h 144"/>
                <a:gd name="T24" fmla="*/ 54 w 83"/>
                <a:gd name="T25" fmla="*/ 96 h 144"/>
                <a:gd name="T26" fmla="*/ 6 w 83"/>
                <a:gd name="T27" fmla="*/ 96 h 144"/>
                <a:gd name="T28" fmla="*/ 54 w 83"/>
                <a:gd name="T29" fmla="*/ 24 h 144"/>
                <a:gd name="T30" fmla="*/ 54 w 83"/>
                <a:gd name="T31" fmla="*/ 24 h 144"/>
                <a:gd name="T32" fmla="*/ 54 w 83"/>
                <a:gd name="T33" fmla="*/ 96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3"/>
                <a:gd name="T52" fmla="*/ 0 h 144"/>
                <a:gd name="T53" fmla="*/ 83 w 83"/>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3" h="144">
                  <a:moveTo>
                    <a:pt x="83" y="96"/>
                  </a:moveTo>
                  <a:lnTo>
                    <a:pt x="66" y="96"/>
                  </a:lnTo>
                  <a:lnTo>
                    <a:pt x="66" y="0"/>
                  </a:lnTo>
                  <a:lnTo>
                    <a:pt x="60" y="0"/>
                  </a:lnTo>
                  <a:lnTo>
                    <a:pt x="0" y="96"/>
                  </a:lnTo>
                  <a:lnTo>
                    <a:pt x="0" y="108"/>
                  </a:lnTo>
                  <a:lnTo>
                    <a:pt x="54" y="108"/>
                  </a:lnTo>
                  <a:lnTo>
                    <a:pt x="54" y="144"/>
                  </a:lnTo>
                  <a:lnTo>
                    <a:pt x="66" y="144"/>
                  </a:lnTo>
                  <a:lnTo>
                    <a:pt x="66" y="108"/>
                  </a:lnTo>
                  <a:lnTo>
                    <a:pt x="83" y="108"/>
                  </a:lnTo>
                  <a:lnTo>
                    <a:pt x="83" y="96"/>
                  </a:lnTo>
                  <a:close/>
                  <a:moveTo>
                    <a:pt x="54" y="96"/>
                  </a:moveTo>
                  <a:lnTo>
                    <a:pt x="6" y="96"/>
                  </a:lnTo>
                  <a:lnTo>
                    <a:pt x="54" y="24"/>
                  </a:lnTo>
                  <a:lnTo>
                    <a:pt x="54" y="9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3" name="Freeform 67"/>
            <p:cNvSpPr/>
            <p:nvPr/>
          </p:nvSpPr>
          <p:spPr bwMode="auto">
            <a:xfrm>
              <a:off x="3709" y="2274"/>
              <a:ext cx="132" cy="144"/>
            </a:xfrm>
            <a:custGeom>
              <a:avLst/>
              <a:gdLst>
                <a:gd name="T0" fmla="*/ 54 w 132"/>
                <a:gd name="T1" fmla="*/ 114 h 144"/>
                <a:gd name="T2" fmla="*/ 42 w 132"/>
                <a:gd name="T3" fmla="*/ 108 h 144"/>
                <a:gd name="T4" fmla="*/ 36 w 132"/>
                <a:gd name="T5" fmla="*/ 102 h 144"/>
                <a:gd name="T6" fmla="*/ 30 w 132"/>
                <a:gd name="T7" fmla="*/ 90 h 144"/>
                <a:gd name="T8" fmla="*/ 24 w 132"/>
                <a:gd name="T9" fmla="*/ 72 h 144"/>
                <a:gd name="T10" fmla="*/ 24 w 132"/>
                <a:gd name="T11" fmla="*/ 54 h 144"/>
                <a:gd name="T12" fmla="*/ 30 w 132"/>
                <a:gd name="T13" fmla="*/ 36 h 144"/>
                <a:gd name="T14" fmla="*/ 36 w 132"/>
                <a:gd name="T15" fmla="*/ 18 h 144"/>
                <a:gd name="T16" fmla="*/ 54 w 132"/>
                <a:gd name="T17" fmla="*/ 6 h 144"/>
                <a:gd name="T18" fmla="*/ 66 w 132"/>
                <a:gd name="T19" fmla="*/ 6 h 144"/>
                <a:gd name="T20" fmla="*/ 78 w 132"/>
                <a:gd name="T21" fmla="*/ 6 h 144"/>
                <a:gd name="T22" fmla="*/ 90 w 132"/>
                <a:gd name="T23" fmla="*/ 18 h 144"/>
                <a:gd name="T24" fmla="*/ 102 w 132"/>
                <a:gd name="T25" fmla="*/ 36 h 144"/>
                <a:gd name="T26" fmla="*/ 108 w 132"/>
                <a:gd name="T27" fmla="*/ 54 h 144"/>
                <a:gd name="T28" fmla="*/ 108 w 132"/>
                <a:gd name="T29" fmla="*/ 72 h 144"/>
                <a:gd name="T30" fmla="*/ 102 w 132"/>
                <a:gd name="T31" fmla="*/ 90 h 144"/>
                <a:gd name="T32" fmla="*/ 96 w 132"/>
                <a:gd name="T33" fmla="*/ 102 h 144"/>
                <a:gd name="T34" fmla="*/ 90 w 132"/>
                <a:gd name="T35" fmla="*/ 108 h 144"/>
                <a:gd name="T36" fmla="*/ 78 w 132"/>
                <a:gd name="T37" fmla="*/ 114 h 144"/>
                <a:gd name="T38" fmla="*/ 72 w 132"/>
                <a:gd name="T39" fmla="*/ 144 h 144"/>
                <a:gd name="T40" fmla="*/ 132 w 132"/>
                <a:gd name="T41" fmla="*/ 144 h 144"/>
                <a:gd name="T42" fmla="*/ 132 w 132"/>
                <a:gd name="T43" fmla="*/ 108 h 144"/>
                <a:gd name="T44" fmla="*/ 126 w 132"/>
                <a:gd name="T45" fmla="*/ 108 h 144"/>
                <a:gd name="T46" fmla="*/ 120 w 132"/>
                <a:gd name="T47" fmla="*/ 120 h 144"/>
                <a:gd name="T48" fmla="*/ 114 w 132"/>
                <a:gd name="T49" fmla="*/ 126 h 144"/>
                <a:gd name="T50" fmla="*/ 84 w 132"/>
                <a:gd name="T51" fmla="*/ 126 h 144"/>
                <a:gd name="T52" fmla="*/ 84 w 132"/>
                <a:gd name="T53" fmla="*/ 120 h 144"/>
                <a:gd name="T54" fmla="*/ 102 w 132"/>
                <a:gd name="T55" fmla="*/ 108 h 144"/>
                <a:gd name="T56" fmla="*/ 114 w 132"/>
                <a:gd name="T57" fmla="*/ 96 h 144"/>
                <a:gd name="T58" fmla="*/ 126 w 132"/>
                <a:gd name="T59" fmla="*/ 78 h 144"/>
                <a:gd name="T60" fmla="*/ 126 w 132"/>
                <a:gd name="T61" fmla="*/ 60 h 144"/>
                <a:gd name="T62" fmla="*/ 120 w 132"/>
                <a:gd name="T63" fmla="*/ 30 h 144"/>
                <a:gd name="T64" fmla="*/ 108 w 132"/>
                <a:gd name="T65" fmla="*/ 18 h 144"/>
                <a:gd name="T66" fmla="*/ 96 w 132"/>
                <a:gd name="T67" fmla="*/ 6 h 144"/>
                <a:gd name="T68" fmla="*/ 84 w 132"/>
                <a:gd name="T69" fmla="*/ 0 h 144"/>
                <a:gd name="T70" fmla="*/ 66 w 132"/>
                <a:gd name="T71" fmla="*/ 0 h 144"/>
                <a:gd name="T72" fmla="*/ 48 w 132"/>
                <a:gd name="T73" fmla="*/ 0 h 144"/>
                <a:gd name="T74" fmla="*/ 30 w 132"/>
                <a:gd name="T75" fmla="*/ 6 h 144"/>
                <a:gd name="T76" fmla="*/ 24 w 132"/>
                <a:gd name="T77" fmla="*/ 18 h 144"/>
                <a:gd name="T78" fmla="*/ 12 w 132"/>
                <a:gd name="T79" fmla="*/ 30 h 144"/>
                <a:gd name="T80" fmla="*/ 6 w 132"/>
                <a:gd name="T81" fmla="*/ 60 h 144"/>
                <a:gd name="T82" fmla="*/ 12 w 132"/>
                <a:gd name="T83" fmla="*/ 96 h 144"/>
                <a:gd name="T84" fmla="*/ 24 w 132"/>
                <a:gd name="T85" fmla="*/ 108 h 144"/>
                <a:gd name="T86" fmla="*/ 42 w 132"/>
                <a:gd name="T87" fmla="*/ 120 h 144"/>
                <a:gd name="T88" fmla="*/ 42 w 132"/>
                <a:gd name="T89" fmla="*/ 126 h 144"/>
                <a:gd name="T90" fmla="*/ 12 w 132"/>
                <a:gd name="T91" fmla="*/ 126 h 144"/>
                <a:gd name="T92" fmla="*/ 6 w 132"/>
                <a:gd name="T93" fmla="*/ 120 h 144"/>
                <a:gd name="T94" fmla="*/ 0 w 132"/>
                <a:gd name="T95" fmla="*/ 108 h 144"/>
                <a:gd name="T96" fmla="*/ 0 w 132"/>
                <a:gd name="T97" fmla="*/ 108 h 144"/>
                <a:gd name="T98" fmla="*/ 0 w 132"/>
                <a:gd name="T99" fmla="*/ 144 h 144"/>
                <a:gd name="T100" fmla="*/ 54 w 132"/>
                <a:gd name="T101" fmla="*/ 144 h 144"/>
                <a:gd name="T102" fmla="*/ 54 w 132"/>
                <a:gd name="T103" fmla="*/ 114 h 1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2"/>
                <a:gd name="T157" fmla="*/ 0 h 144"/>
                <a:gd name="T158" fmla="*/ 132 w 132"/>
                <a:gd name="T159" fmla="*/ 144 h 14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2" h="144">
                  <a:moveTo>
                    <a:pt x="54" y="114"/>
                  </a:moveTo>
                  <a:lnTo>
                    <a:pt x="42" y="108"/>
                  </a:lnTo>
                  <a:lnTo>
                    <a:pt x="36" y="102"/>
                  </a:lnTo>
                  <a:lnTo>
                    <a:pt x="30" y="90"/>
                  </a:lnTo>
                  <a:lnTo>
                    <a:pt x="24" y="72"/>
                  </a:lnTo>
                  <a:lnTo>
                    <a:pt x="24" y="54"/>
                  </a:lnTo>
                  <a:lnTo>
                    <a:pt x="30" y="36"/>
                  </a:lnTo>
                  <a:lnTo>
                    <a:pt x="36" y="18"/>
                  </a:lnTo>
                  <a:lnTo>
                    <a:pt x="54" y="6"/>
                  </a:lnTo>
                  <a:lnTo>
                    <a:pt x="66" y="6"/>
                  </a:lnTo>
                  <a:lnTo>
                    <a:pt x="78" y="6"/>
                  </a:lnTo>
                  <a:lnTo>
                    <a:pt x="90" y="18"/>
                  </a:lnTo>
                  <a:lnTo>
                    <a:pt x="102" y="36"/>
                  </a:lnTo>
                  <a:lnTo>
                    <a:pt x="108" y="54"/>
                  </a:lnTo>
                  <a:lnTo>
                    <a:pt x="108" y="72"/>
                  </a:lnTo>
                  <a:lnTo>
                    <a:pt x="102" y="90"/>
                  </a:lnTo>
                  <a:lnTo>
                    <a:pt x="96" y="102"/>
                  </a:lnTo>
                  <a:lnTo>
                    <a:pt x="90" y="108"/>
                  </a:lnTo>
                  <a:lnTo>
                    <a:pt x="78" y="114"/>
                  </a:lnTo>
                  <a:lnTo>
                    <a:pt x="72" y="144"/>
                  </a:lnTo>
                  <a:lnTo>
                    <a:pt x="132" y="144"/>
                  </a:lnTo>
                  <a:lnTo>
                    <a:pt x="132" y="108"/>
                  </a:lnTo>
                  <a:lnTo>
                    <a:pt x="126" y="108"/>
                  </a:lnTo>
                  <a:lnTo>
                    <a:pt x="120" y="120"/>
                  </a:lnTo>
                  <a:lnTo>
                    <a:pt x="114" y="126"/>
                  </a:lnTo>
                  <a:lnTo>
                    <a:pt x="84" y="126"/>
                  </a:lnTo>
                  <a:lnTo>
                    <a:pt x="84" y="120"/>
                  </a:lnTo>
                  <a:lnTo>
                    <a:pt x="102" y="108"/>
                  </a:lnTo>
                  <a:lnTo>
                    <a:pt x="114" y="96"/>
                  </a:lnTo>
                  <a:lnTo>
                    <a:pt x="126" y="78"/>
                  </a:lnTo>
                  <a:lnTo>
                    <a:pt x="126" y="60"/>
                  </a:lnTo>
                  <a:lnTo>
                    <a:pt x="120" y="30"/>
                  </a:lnTo>
                  <a:lnTo>
                    <a:pt x="108" y="18"/>
                  </a:lnTo>
                  <a:lnTo>
                    <a:pt x="96" y="6"/>
                  </a:lnTo>
                  <a:lnTo>
                    <a:pt x="84" y="0"/>
                  </a:lnTo>
                  <a:lnTo>
                    <a:pt x="66" y="0"/>
                  </a:lnTo>
                  <a:lnTo>
                    <a:pt x="48" y="0"/>
                  </a:lnTo>
                  <a:lnTo>
                    <a:pt x="30" y="6"/>
                  </a:lnTo>
                  <a:lnTo>
                    <a:pt x="24" y="18"/>
                  </a:lnTo>
                  <a:lnTo>
                    <a:pt x="12" y="30"/>
                  </a:lnTo>
                  <a:lnTo>
                    <a:pt x="6" y="60"/>
                  </a:lnTo>
                  <a:lnTo>
                    <a:pt x="12" y="96"/>
                  </a:lnTo>
                  <a:lnTo>
                    <a:pt x="24" y="108"/>
                  </a:lnTo>
                  <a:lnTo>
                    <a:pt x="42" y="120"/>
                  </a:lnTo>
                  <a:lnTo>
                    <a:pt x="42" y="126"/>
                  </a:lnTo>
                  <a:lnTo>
                    <a:pt x="12" y="126"/>
                  </a:lnTo>
                  <a:lnTo>
                    <a:pt x="6" y="120"/>
                  </a:lnTo>
                  <a:lnTo>
                    <a:pt x="0" y="108"/>
                  </a:lnTo>
                  <a:lnTo>
                    <a:pt x="0" y="144"/>
                  </a:lnTo>
                  <a:lnTo>
                    <a:pt x="54" y="144"/>
                  </a:lnTo>
                  <a:lnTo>
                    <a:pt x="54"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4" name="Freeform 68"/>
            <p:cNvSpPr/>
            <p:nvPr/>
          </p:nvSpPr>
          <p:spPr bwMode="auto">
            <a:xfrm>
              <a:off x="121" y="2274"/>
              <a:ext cx="66" cy="138"/>
            </a:xfrm>
            <a:custGeom>
              <a:avLst/>
              <a:gdLst>
                <a:gd name="T0" fmla="*/ 0 w 66"/>
                <a:gd name="T1" fmla="*/ 138 h 138"/>
                <a:gd name="T2" fmla="*/ 42 w 66"/>
                <a:gd name="T3" fmla="*/ 138 h 138"/>
                <a:gd name="T4" fmla="*/ 42 w 66"/>
                <a:gd name="T5" fmla="*/ 132 h 138"/>
                <a:gd name="T6" fmla="*/ 30 w 66"/>
                <a:gd name="T7" fmla="*/ 132 h 138"/>
                <a:gd name="T8" fmla="*/ 30 w 66"/>
                <a:gd name="T9" fmla="*/ 126 h 138"/>
                <a:gd name="T10" fmla="*/ 30 w 66"/>
                <a:gd name="T11" fmla="*/ 108 h 138"/>
                <a:gd name="T12" fmla="*/ 54 w 66"/>
                <a:gd name="T13" fmla="*/ 18 h 138"/>
                <a:gd name="T14" fmla="*/ 60 w 66"/>
                <a:gd name="T15" fmla="*/ 6 h 138"/>
                <a:gd name="T16" fmla="*/ 66 w 66"/>
                <a:gd name="T17" fmla="*/ 0 h 138"/>
                <a:gd name="T18" fmla="*/ 66 w 66"/>
                <a:gd name="T19" fmla="*/ 0 h 138"/>
                <a:gd name="T20" fmla="*/ 24 w 66"/>
                <a:gd name="T21" fmla="*/ 0 h 138"/>
                <a:gd name="T22" fmla="*/ 24 w 66"/>
                <a:gd name="T23" fmla="*/ 0 h 138"/>
                <a:gd name="T24" fmla="*/ 30 w 66"/>
                <a:gd name="T25" fmla="*/ 6 h 138"/>
                <a:gd name="T26" fmla="*/ 36 w 66"/>
                <a:gd name="T27" fmla="*/ 12 h 138"/>
                <a:gd name="T28" fmla="*/ 36 w 66"/>
                <a:gd name="T29" fmla="*/ 18 h 138"/>
                <a:gd name="T30" fmla="*/ 36 w 66"/>
                <a:gd name="T31" fmla="*/ 24 h 138"/>
                <a:gd name="T32" fmla="*/ 12 w 66"/>
                <a:gd name="T33" fmla="*/ 120 h 138"/>
                <a:gd name="T34" fmla="*/ 6 w 66"/>
                <a:gd name="T35" fmla="*/ 132 h 138"/>
                <a:gd name="T36" fmla="*/ 0 w 66"/>
                <a:gd name="T37" fmla="*/ 132 h 138"/>
                <a:gd name="T38" fmla="*/ 0 w 66"/>
                <a:gd name="T39" fmla="*/ 138 h 1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6"/>
                <a:gd name="T61" fmla="*/ 0 h 138"/>
                <a:gd name="T62" fmla="*/ 66 w 66"/>
                <a:gd name="T63" fmla="*/ 138 h 13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6" h="138">
                  <a:moveTo>
                    <a:pt x="0" y="138"/>
                  </a:moveTo>
                  <a:lnTo>
                    <a:pt x="42" y="138"/>
                  </a:lnTo>
                  <a:lnTo>
                    <a:pt x="42" y="132"/>
                  </a:lnTo>
                  <a:lnTo>
                    <a:pt x="30" y="132"/>
                  </a:lnTo>
                  <a:lnTo>
                    <a:pt x="30" y="126"/>
                  </a:lnTo>
                  <a:lnTo>
                    <a:pt x="30" y="108"/>
                  </a:lnTo>
                  <a:lnTo>
                    <a:pt x="54" y="18"/>
                  </a:lnTo>
                  <a:lnTo>
                    <a:pt x="60" y="6"/>
                  </a:lnTo>
                  <a:lnTo>
                    <a:pt x="66" y="0"/>
                  </a:lnTo>
                  <a:lnTo>
                    <a:pt x="24" y="0"/>
                  </a:lnTo>
                  <a:lnTo>
                    <a:pt x="30" y="6"/>
                  </a:lnTo>
                  <a:lnTo>
                    <a:pt x="36" y="12"/>
                  </a:lnTo>
                  <a:lnTo>
                    <a:pt x="36" y="18"/>
                  </a:lnTo>
                  <a:lnTo>
                    <a:pt x="36" y="24"/>
                  </a:lnTo>
                  <a:lnTo>
                    <a:pt x="12" y="120"/>
                  </a:lnTo>
                  <a:lnTo>
                    <a:pt x="6" y="132"/>
                  </a:lnTo>
                  <a:lnTo>
                    <a:pt x="0" y="132"/>
                  </a:lnTo>
                  <a:lnTo>
                    <a:pt x="0" y="1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5" name="Freeform 69"/>
            <p:cNvSpPr/>
            <p:nvPr/>
          </p:nvSpPr>
          <p:spPr bwMode="auto">
            <a:xfrm>
              <a:off x="193" y="2394"/>
              <a:ext cx="48" cy="72"/>
            </a:xfrm>
            <a:custGeom>
              <a:avLst/>
              <a:gdLst>
                <a:gd name="T0" fmla="*/ 0 w 48"/>
                <a:gd name="T1" fmla="*/ 48 h 72"/>
                <a:gd name="T2" fmla="*/ 0 w 48"/>
                <a:gd name="T3" fmla="*/ 72 h 72"/>
                <a:gd name="T4" fmla="*/ 0 w 48"/>
                <a:gd name="T5" fmla="*/ 72 h 72"/>
                <a:gd name="T6" fmla="*/ 0 w 48"/>
                <a:gd name="T7" fmla="*/ 72 h 72"/>
                <a:gd name="T8" fmla="*/ 6 w 48"/>
                <a:gd name="T9" fmla="*/ 66 h 72"/>
                <a:gd name="T10" fmla="*/ 12 w 48"/>
                <a:gd name="T11" fmla="*/ 72 h 72"/>
                <a:gd name="T12" fmla="*/ 18 w 48"/>
                <a:gd name="T13" fmla="*/ 72 h 72"/>
                <a:gd name="T14" fmla="*/ 30 w 48"/>
                <a:gd name="T15" fmla="*/ 66 h 72"/>
                <a:gd name="T16" fmla="*/ 36 w 48"/>
                <a:gd name="T17" fmla="*/ 48 h 72"/>
                <a:gd name="T18" fmla="*/ 30 w 48"/>
                <a:gd name="T19" fmla="*/ 30 h 72"/>
                <a:gd name="T20" fmla="*/ 24 w 48"/>
                <a:gd name="T21" fmla="*/ 12 h 72"/>
                <a:gd name="T22" fmla="*/ 24 w 48"/>
                <a:gd name="T23" fmla="*/ 6 h 72"/>
                <a:gd name="T24" fmla="*/ 30 w 48"/>
                <a:gd name="T25" fmla="*/ 0 h 72"/>
                <a:gd name="T26" fmla="*/ 36 w 48"/>
                <a:gd name="T27" fmla="*/ 6 h 72"/>
                <a:gd name="T28" fmla="*/ 42 w 48"/>
                <a:gd name="T29" fmla="*/ 18 h 72"/>
                <a:gd name="T30" fmla="*/ 42 w 48"/>
                <a:gd name="T31" fmla="*/ 18 h 72"/>
                <a:gd name="T32" fmla="*/ 48 w 48"/>
                <a:gd name="T33" fmla="*/ 0 h 72"/>
                <a:gd name="T34" fmla="*/ 42 w 48"/>
                <a:gd name="T35" fmla="*/ 0 h 72"/>
                <a:gd name="T36" fmla="*/ 42 w 48"/>
                <a:gd name="T37" fmla="*/ 0 h 72"/>
                <a:gd name="T38" fmla="*/ 36 w 48"/>
                <a:gd name="T39" fmla="*/ 0 h 72"/>
                <a:gd name="T40" fmla="*/ 30 w 48"/>
                <a:gd name="T41" fmla="*/ 0 h 72"/>
                <a:gd name="T42" fmla="*/ 18 w 48"/>
                <a:gd name="T43" fmla="*/ 0 h 72"/>
                <a:gd name="T44" fmla="*/ 12 w 48"/>
                <a:gd name="T45" fmla="*/ 6 h 72"/>
                <a:gd name="T46" fmla="*/ 12 w 48"/>
                <a:gd name="T47" fmla="*/ 18 h 72"/>
                <a:gd name="T48" fmla="*/ 18 w 48"/>
                <a:gd name="T49" fmla="*/ 30 h 72"/>
                <a:gd name="T50" fmla="*/ 24 w 48"/>
                <a:gd name="T51" fmla="*/ 36 h 72"/>
                <a:gd name="T52" fmla="*/ 30 w 48"/>
                <a:gd name="T53" fmla="*/ 48 h 72"/>
                <a:gd name="T54" fmla="*/ 30 w 48"/>
                <a:gd name="T55" fmla="*/ 54 h 72"/>
                <a:gd name="T56" fmla="*/ 24 w 48"/>
                <a:gd name="T57" fmla="*/ 60 h 72"/>
                <a:gd name="T58" fmla="*/ 18 w 48"/>
                <a:gd name="T59" fmla="*/ 66 h 72"/>
                <a:gd name="T60" fmla="*/ 6 w 48"/>
                <a:gd name="T61" fmla="*/ 60 h 72"/>
                <a:gd name="T62" fmla="*/ 6 w 48"/>
                <a:gd name="T63" fmla="*/ 48 h 72"/>
                <a:gd name="T64" fmla="*/ 0 w 48"/>
                <a:gd name="T65" fmla="*/ 48 h 7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8"/>
                <a:gd name="T100" fmla="*/ 0 h 72"/>
                <a:gd name="T101" fmla="*/ 48 w 48"/>
                <a:gd name="T102" fmla="*/ 72 h 7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8" h="72">
                  <a:moveTo>
                    <a:pt x="0" y="48"/>
                  </a:moveTo>
                  <a:lnTo>
                    <a:pt x="0" y="72"/>
                  </a:lnTo>
                  <a:lnTo>
                    <a:pt x="6" y="66"/>
                  </a:lnTo>
                  <a:lnTo>
                    <a:pt x="12" y="72"/>
                  </a:lnTo>
                  <a:lnTo>
                    <a:pt x="18" y="72"/>
                  </a:lnTo>
                  <a:lnTo>
                    <a:pt x="30" y="66"/>
                  </a:lnTo>
                  <a:lnTo>
                    <a:pt x="36" y="48"/>
                  </a:lnTo>
                  <a:lnTo>
                    <a:pt x="30" y="30"/>
                  </a:lnTo>
                  <a:lnTo>
                    <a:pt x="24" y="12"/>
                  </a:lnTo>
                  <a:lnTo>
                    <a:pt x="24" y="6"/>
                  </a:lnTo>
                  <a:lnTo>
                    <a:pt x="30" y="0"/>
                  </a:lnTo>
                  <a:lnTo>
                    <a:pt x="36" y="6"/>
                  </a:lnTo>
                  <a:lnTo>
                    <a:pt x="42" y="18"/>
                  </a:lnTo>
                  <a:lnTo>
                    <a:pt x="48" y="0"/>
                  </a:lnTo>
                  <a:lnTo>
                    <a:pt x="42" y="0"/>
                  </a:lnTo>
                  <a:lnTo>
                    <a:pt x="36" y="0"/>
                  </a:lnTo>
                  <a:lnTo>
                    <a:pt x="30" y="0"/>
                  </a:lnTo>
                  <a:lnTo>
                    <a:pt x="18" y="0"/>
                  </a:lnTo>
                  <a:lnTo>
                    <a:pt x="12" y="6"/>
                  </a:lnTo>
                  <a:lnTo>
                    <a:pt x="12" y="18"/>
                  </a:lnTo>
                  <a:lnTo>
                    <a:pt x="18" y="30"/>
                  </a:lnTo>
                  <a:lnTo>
                    <a:pt x="24" y="36"/>
                  </a:lnTo>
                  <a:lnTo>
                    <a:pt x="30" y="48"/>
                  </a:lnTo>
                  <a:lnTo>
                    <a:pt x="30" y="54"/>
                  </a:lnTo>
                  <a:lnTo>
                    <a:pt x="24" y="60"/>
                  </a:lnTo>
                  <a:lnTo>
                    <a:pt x="18" y="66"/>
                  </a:lnTo>
                  <a:lnTo>
                    <a:pt x="6" y="60"/>
                  </a:lnTo>
                  <a:lnTo>
                    <a:pt x="6" y="48"/>
                  </a:lnTo>
                  <a:lnTo>
                    <a:pt x="0" y="4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6" name="Freeform 70"/>
            <p:cNvSpPr>
              <a:spLocks noEditPoints="1"/>
            </p:cNvSpPr>
            <p:nvPr/>
          </p:nvSpPr>
          <p:spPr bwMode="auto">
            <a:xfrm>
              <a:off x="306" y="2328"/>
              <a:ext cx="96" cy="54"/>
            </a:xfrm>
            <a:custGeom>
              <a:avLst/>
              <a:gdLst>
                <a:gd name="T0" fmla="*/ 96 w 96"/>
                <a:gd name="T1" fmla="*/ 0 h 54"/>
                <a:gd name="T2" fmla="*/ 0 w 96"/>
                <a:gd name="T3" fmla="*/ 0 h 54"/>
                <a:gd name="T4" fmla="*/ 0 w 96"/>
                <a:gd name="T5" fmla="*/ 12 h 54"/>
                <a:gd name="T6" fmla="*/ 96 w 96"/>
                <a:gd name="T7" fmla="*/ 12 h 54"/>
                <a:gd name="T8" fmla="*/ 96 w 96"/>
                <a:gd name="T9" fmla="*/ 0 h 54"/>
                <a:gd name="T10" fmla="*/ 96 w 96"/>
                <a:gd name="T11" fmla="*/ 42 h 54"/>
                <a:gd name="T12" fmla="*/ 0 w 96"/>
                <a:gd name="T13" fmla="*/ 42 h 54"/>
                <a:gd name="T14" fmla="*/ 0 w 96"/>
                <a:gd name="T15" fmla="*/ 54 h 54"/>
                <a:gd name="T16" fmla="*/ 96 w 96"/>
                <a:gd name="T17" fmla="*/ 54 h 54"/>
                <a:gd name="T18" fmla="*/ 96 w 96"/>
                <a:gd name="T19" fmla="*/ 42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54"/>
                <a:gd name="T32" fmla="*/ 96 w 96"/>
                <a:gd name="T33" fmla="*/ 54 h 5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54">
                  <a:moveTo>
                    <a:pt x="96" y="0"/>
                  </a:moveTo>
                  <a:lnTo>
                    <a:pt x="0" y="0"/>
                  </a:lnTo>
                  <a:lnTo>
                    <a:pt x="0" y="12"/>
                  </a:lnTo>
                  <a:lnTo>
                    <a:pt x="96" y="12"/>
                  </a:lnTo>
                  <a:lnTo>
                    <a:pt x="96" y="0"/>
                  </a:lnTo>
                  <a:close/>
                  <a:moveTo>
                    <a:pt x="96" y="42"/>
                  </a:moveTo>
                  <a:lnTo>
                    <a:pt x="0" y="42"/>
                  </a:lnTo>
                  <a:lnTo>
                    <a:pt x="0" y="54"/>
                  </a:lnTo>
                  <a:lnTo>
                    <a:pt x="96" y="54"/>
                  </a:lnTo>
                  <a:lnTo>
                    <a:pt x="96" y="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7" name="Freeform 71"/>
            <p:cNvSpPr/>
            <p:nvPr/>
          </p:nvSpPr>
          <p:spPr bwMode="auto">
            <a:xfrm>
              <a:off x="486" y="2268"/>
              <a:ext cx="54" cy="144"/>
            </a:xfrm>
            <a:custGeom>
              <a:avLst/>
              <a:gdLst>
                <a:gd name="T0" fmla="*/ 0 w 54"/>
                <a:gd name="T1" fmla="*/ 144 h 144"/>
                <a:gd name="T2" fmla="*/ 54 w 54"/>
                <a:gd name="T3" fmla="*/ 144 h 144"/>
                <a:gd name="T4" fmla="*/ 54 w 54"/>
                <a:gd name="T5" fmla="*/ 138 h 144"/>
                <a:gd name="T6" fmla="*/ 42 w 54"/>
                <a:gd name="T7" fmla="*/ 138 h 144"/>
                <a:gd name="T8" fmla="*/ 36 w 54"/>
                <a:gd name="T9" fmla="*/ 126 h 144"/>
                <a:gd name="T10" fmla="*/ 36 w 54"/>
                <a:gd name="T11" fmla="*/ 0 h 144"/>
                <a:gd name="T12" fmla="*/ 36 w 54"/>
                <a:gd name="T13" fmla="*/ 0 h 144"/>
                <a:gd name="T14" fmla="*/ 0 w 54"/>
                <a:gd name="T15" fmla="*/ 18 h 144"/>
                <a:gd name="T16" fmla="*/ 0 w 54"/>
                <a:gd name="T17" fmla="*/ 24 h 144"/>
                <a:gd name="T18" fmla="*/ 12 w 54"/>
                <a:gd name="T19" fmla="*/ 18 h 144"/>
                <a:gd name="T20" fmla="*/ 12 w 54"/>
                <a:gd name="T21" fmla="*/ 18 h 144"/>
                <a:gd name="T22" fmla="*/ 18 w 54"/>
                <a:gd name="T23" fmla="*/ 24 h 144"/>
                <a:gd name="T24" fmla="*/ 18 w 54"/>
                <a:gd name="T25" fmla="*/ 24 h 144"/>
                <a:gd name="T26" fmla="*/ 18 w 54"/>
                <a:gd name="T27" fmla="*/ 120 h 144"/>
                <a:gd name="T28" fmla="*/ 18 w 54"/>
                <a:gd name="T29" fmla="*/ 132 h 144"/>
                <a:gd name="T30" fmla="*/ 12 w 54"/>
                <a:gd name="T31" fmla="*/ 138 h 144"/>
                <a:gd name="T32" fmla="*/ 0 w 54"/>
                <a:gd name="T33" fmla="*/ 138 h 144"/>
                <a:gd name="T34" fmla="*/ 0 w 54"/>
                <a:gd name="T35" fmla="*/ 144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144"/>
                <a:gd name="T56" fmla="*/ 54 w 54"/>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144">
                  <a:moveTo>
                    <a:pt x="0" y="144"/>
                  </a:moveTo>
                  <a:lnTo>
                    <a:pt x="54" y="144"/>
                  </a:lnTo>
                  <a:lnTo>
                    <a:pt x="54" y="138"/>
                  </a:lnTo>
                  <a:lnTo>
                    <a:pt x="42" y="138"/>
                  </a:lnTo>
                  <a:lnTo>
                    <a:pt x="36" y="126"/>
                  </a:lnTo>
                  <a:lnTo>
                    <a:pt x="36" y="0"/>
                  </a:lnTo>
                  <a:lnTo>
                    <a:pt x="0" y="18"/>
                  </a:lnTo>
                  <a:lnTo>
                    <a:pt x="0" y="24"/>
                  </a:lnTo>
                  <a:lnTo>
                    <a:pt x="12" y="18"/>
                  </a:lnTo>
                  <a:lnTo>
                    <a:pt x="18" y="24"/>
                  </a:lnTo>
                  <a:lnTo>
                    <a:pt x="18" y="120"/>
                  </a:lnTo>
                  <a:lnTo>
                    <a:pt x="18" y="132"/>
                  </a:lnTo>
                  <a:lnTo>
                    <a:pt x="12" y="138"/>
                  </a:lnTo>
                  <a:lnTo>
                    <a:pt x="0" y="138"/>
                  </a:lnTo>
                  <a:lnTo>
                    <a:pt x="0" y="1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8" name="Freeform 72"/>
            <p:cNvSpPr/>
            <p:nvPr/>
          </p:nvSpPr>
          <p:spPr bwMode="auto">
            <a:xfrm>
              <a:off x="564" y="2263"/>
              <a:ext cx="77" cy="149"/>
            </a:xfrm>
            <a:custGeom>
              <a:avLst/>
              <a:gdLst>
                <a:gd name="T0" fmla="*/ 29 w 77"/>
                <a:gd name="T1" fmla="*/ 23 h 149"/>
                <a:gd name="T2" fmla="*/ 65 w 77"/>
                <a:gd name="T3" fmla="*/ 23 h 149"/>
                <a:gd name="T4" fmla="*/ 65 w 77"/>
                <a:gd name="T5" fmla="*/ 23 h 149"/>
                <a:gd name="T6" fmla="*/ 77 w 77"/>
                <a:gd name="T7" fmla="*/ 5 h 149"/>
                <a:gd name="T8" fmla="*/ 71 w 77"/>
                <a:gd name="T9" fmla="*/ 0 h 149"/>
                <a:gd name="T10" fmla="*/ 71 w 77"/>
                <a:gd name="T11" fmla="*/ 5 h 149"/>
                <a:gd name="T12" fmla="*/ 65 w 77"/>
                <a:gd name="T13" fmla="*/ 5 h 149"/>
                <a:gd name="T14" fmla="*/ 23 w 77"/>
                <a:gd name="T15" fmla="*/ 5 h 149"/>
                <a:gd name="T16" fmla="*/ 6 w 77"/>
                <a:gd name="T17" fmla="*/ 59 h 149"/>
                <a:gd name="T18" fmla="*/ 6 w 77"/>
                <a:gd name="T19" fmla="*/ 59 h 149"/>
                <a:gd name="T20" fmla="*/ 23 w 77"/>
                <a:gd name="T21" fmla="*/ 59 h 149"/>
                <a:gd name="T22" fmla="*/ 41 w 77"/>
                <a:gd name="T23" fmla="*/ 71 h 149"/>
                <a:gd name="T24" fmla="*/ 53 w 77"/>
                <a:gd name="T25" fmla="*/ 83 h 149"/>
                <a:gd name="T26" fmla="*/ 59 w 77"/>
                <a:gd name="T27" fmla="*/ 107 h 149"/>
                <a:gd name="T28" fmla="*/ 53 w 77"/>
                <a:gd name="T29" fmla="*/ 137 h 149"/>
                <a:gd name="T30" fmla="*/ 35 w 77"/>
                <a:gd name="T31" fmla="*/ 143 h 149"/>
                <a:gd name="T32" fmla="*/ 23 w 77"/>
                <a:gd name="T33" fmla="*/ 137 h 149"/>
                <a:gd name="T34" fmla="*/ 6 w 77"/>
                <a:gd name="T35" fmla="*/ 131 h 149"/>
                <a:gd name="T36" fmla="*/ 0 w 77"/>
                <a:gd name="T37" fmla="*/ 137 h 149"/>
                <a:gd name="T38" fmla="*/ 0 w 77"/>
                <a:gd name="T39" fmla="*/ 137 h 149"/>
                <a:gd name="T40" fmla="*/ 6 w 77"/>
                <a:gd name="T41" fmla="*/ 143 h 149"/>
                <a:gd name="T42" fmla="*/ 23 w 77"/>
                <a:gd name="T43" fmla="*/ 149 h 149"/>
                <a:gd name="T44" fmla="*/ 41 w 77"/>
                <a:gd name="T45" fmla="*/ 143 h 149"/>
                <a:gd name="T46" fmla="*/ 59 w 77"/>
                <a:gd name="T47" fmla="*/ 137 h 149"/>
                <a:gd name="T48" fmla="*/ 65 w 77"/>
                <a:gd name="T49" fmla="*/ 119 h 149"/>
                <a:gd name="T50" fmla="*/ 71 w 77"/>
                <a:gd name="T51" fmla="*/ 101 h 149"/>
                <a:gd name="T52" fmla="*/ 71 w 77"/>
                <a:gd name="T53" fmla="*/ 83 h 149"/>
                <a:gd name="T54" fmla="*/ 65 w 77"/>
                <a:gd name="T55" fmla="*/ 65 h 149"/>
                <a:gd name="T56" fmla="*/ 53 w 77"/>
                <a:gd name="T57" fmla="*/ 53 h 149"/>
                <a:gd name="T58" fmla="*/ 41 w 77"/>
                <a:gd name="T59" fmla="*/ 47 h 149"/>
                <a:gd name="T60" fmla="*/ 17 w 77"/>
                <a:gd name="T61" fmla="*/ 41 h 149"/>
                <a:gd name="T62" fmla="*/ 29 w 77"/>
                <a:gd name="T63" fmla="*/ 23 h 14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49"/>
                <a:gd name="T98" fmla="*/ 77 w 77"/>
                <a:gd name="T99" fmla="*/ 149 h 14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49">
                  <a:moveTo>
                    <a:pt x="29" y="23"/>
                  </a:moveTo>
                  <a:lnTo>
                    <a:pt x="65" y="23"/>
                  </a:lnTo>
                  <a:lnTo>
                    <a:pt x="77" y="5"/>
                  </a:lnTo>
                  <a:lnTo>
                    <a:pt x="71" y="0"/>
                  </a:lnTo>
                  <a:lnTo>
                    <a:pt x="71" y="5"/>
                  </a:lnTo>
                  <a:lnTo>
                    <a:pt x="65" y="5"/>
                  </a:lnTo>
                  <a:lnTo>
                    <a:pt x="23" y="5"/>
                  </a:lnTo>
                  <a:lnTo>
                    <a:pt x="6" y="59"/>
                  </a:lnTo>
                  <a:lnTo>
                    <a:pt x="23" y="59"/>
                  </a:lnTo>
                  <a:lnTo>
                    <a:pt x="41" y="71"/>
                  </a:lnTo>
                  <a:lnTo>
                    <a:pt x="53" y="83"/>
                  </a:lnTo>
                  <a:lnTo>
                    <a:pt x="59" y="107"/>
                  </a:lnTo>
                  <a:lnTo>
                    <a:pt x="53" y="137"/>
                  </a:lnTo>
                  <a:lnTo>
                    <a:pt x="35" y="143"/>
                  </a:lnTo>
                  <a:lnTo>
                    <a:pt x="23" y="137"/>
                  </a:lnTo>
                  <a:lnTo>
                    <a:pt x="6" y="131"/>
                  </a:lnTo>
                  <a:lnTo>
                    <a:pt x="0" y="137"/>
                  </a:lnTo>
                  <a:lnTo>
                    <a:pt x="6" y="143"/>
                  </a:lnTo>
                  <a:lnTo>
                    <a:pt x="23" y="149"/>
                  </a:lnTo>
                  <a:lnTo>
                    <a:pt x="41" y="143"/>
                  </a:lnTo>
                  <a:lnTo>
                    <a:pt x="59" y="137"/>
                  </a:lnTo>
                  <a:lnTo>
                    <a:pt x="65" y="119"/>
                  </a:lnTo>
                  <a:lnTo>
                    <a:pt x="71" y="101"/>
                  </a:lnTo>
                  <a:lnTo>
                    <a:pt x="71" y="83"/>
                  </a:lnTo>
                  <a:lnTo>
                    <a:pt x="65" y="65"/>
                  </a:lnTo>
                  <a:lnTo>
                    <a:pt x="53" y="53"/>
                  </a:lnTo>
                  <a:lnTo>
                    <a:pt x="41" y="47"/>
                  </a:lnTo>
                  <a:lnTo>
                    <a:pt x="17" y="41"/>
                  </a:lnTo>
                  <a:lnTo>
                    <a:pt x="29" y="2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19" name="Freeform 73"/>
            <p:cNvSpPr>
              <a:spLocks noEditPoints="1"/>
            </p:cNvSpPr>
            <p:nvPr/>
          </p:nvSpPr>
          <p:spPr bwMode="auto">
            <a:xfrm>
              <a:off x="689" y="2268"/>
              <a:ext cx="126" cy="144"/>
            </a:xfrm>
            <a:custGeom>
              <a:avLst/>
              <a:gdLst>
                <a:gd name="T0" fmla="*/ 126 w 126"/>
                <a:gd name="T1" fmla="*/ 138 h 144"/>
                <a:gd name="T2" fmla="*/ 120 w 126"/>
                <a:gd name="T3" fmla="*/ 138 h 144"/>
                <a:gd name="T4" fmla="*/ 120 w 126"/>
                <a:gd name="T5" fmla="*/ 132 h 144"/>
                <a:gd name="T6" fmla="*/ 114 w 126"/>
                <a:gd name="T7" fmla="*/ 120 h 144"/>
                <a:gd name="T8" fmla="*/ 66 w 126"/>
                <a:gd name="T9" fmla="*/ 0 h 144"/>
                <a:gd name="T10" fmla="*/ 60 w 126"/>
                <a:gd name="T11" fmla="*/ 0 h 144"/>
                <a:gd name="T12" fmla="*/ 24 w 126"/>
                <a:gd name="T13" fmla="*/ 102 h 144"/>
                <a:gd name="T14" fmla="*/ 18 w 126"/>
                <a:gd name="T15" fmla="*/ 120 h 144"/>
                <a:gd name="T16" fmla="*/ 12 w 126"/>
                <a:gd name="T17" fmla="*/ 132 h 144"/>
                <a:gd name="T18" fmla="*/ 6 w 126"/>
                <a:gd name="T19" fmla="*/ 138 h 144"/>
                <a:gd name="T20" fmla="*/ 0 w 126"/>
                <a:gd name="T21" fmla="*/ 138 h 144"/>
                <a:gd name="T22" fmla="*/ 0 w 126"/>
                <a:gd name="T23" fmla="*/ 144 h 144"/>
                <a:gd name="T24" fmla="*/ 36 w 126"/>
                <a:gd name="T25" fmla="*/ 144 h 144"/>
                <a:gd name="T26" fmla="*/ 36 w 126"/>
                <a:gd name="T27" fmla="*/ 138 h 144"/>
                <a:gd name="T28" fmla="*/ 30 w 126"/>
                <a:gd name="T29" fmla="*/ 138 h 144"/>
                <a:gd name="T30" fmla="*/ 24 w 126"/>
                <a:gd name="T31" fmla="*/ 132 h 144"/>
                <a:gd name="T32" fmla="*/ 24 w 126"/>
                <a:gd name="T33" fmla="*/ 126 h 144"/>
                <a:gd name="T34" fmla="*/ 24 w 126"/>
                <a:gd name="T35" fmla="*/ 120 h 144"/>
                <a:gd name="T36" fmla="*/ 36 w 126"/>
                <a:gd name="T37" fmla="*/ 96 h 144"/>
                <a:gd name="T38" fmla="*/ 84 w 126"/>
                <a:gd name="T39" fmla="*/ 96 h 144"/>
                <a:gd name="T40" fmla="*/ 90 w 126"/>
                <a:gd name="T41" fmla="*/ 114 h 144"/>
                <a:gd name="T42" fmla="*/ 96 w 126"/>
                <a:gd name="T43" fmla="*/ 126 h 144"/>
                <a:gd name="T44" fmla="*/ 96 w 126"/>
                <a:gd name="T45" fmla="*/ 132 h 144"/>
                <a:gd name="T46" fmla="*/ 90 w 126"/>
                <a:gd name="T47" fmla="*/ 138 h 144"/>
                <a:gd name="T48" fmla="*/ 78 w 126"/>
                <a:gd name="T49" fmla="*/ 138 h 144"/>
                <a:gd name="T50" fmla="*/ 78 w 126"/>
                <a:gd name="T51" fmla="*/ 144 h 144"/>
                <a:gd name="T52" fmla="*/ 126 w 126"/>
                <a:gd name="T53" fmla="*/ 144 h 144"/>
                <a:gd name="T54" fmla="*/ 126 w 126"/>
                <a:gd name="T55" fmla="*/ 138 h 144"/>
                <a:gd name="T56" fmla="*/ 36 w 126"/>
                <a:gd name="T57" fmla="*/ 90 h 144"/>
                <a:gd name="T58" fmla="*/ 60 w 126"/>
                <a:gd name="T59" fmla="*/ 30 h 144"/>
                <a:gd name="T60" fmla="*/ 78 w 126"/>
                <a:gd name="T61" fmla="*/ 90 h 144"/>
                <a:gd name="T62" fmla="*/ 36 w 126"/>
                <a:gd name="T63" fmla="*/ 90 h 1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6"/>
                <a:gd name="T97" fmla="*/ 0 h 144"/>
                <a:gd name="T98" fmla="*/ 126 w 126"/>
                <a:gd name="T99" fmla="*/ 144 h 14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6" h="144">
                  <a:moveTo>
                    <a:pt x="126" y="138"/>
                  </a:moveTo>
                  <a:lnTo>
                    <a:pt x="120" y="138"/>
                  </a:lnTo>
                  <a:lnTo>
                    <a:pt x="120" y="132"/>
                  </a:lnTo>
                  <a:lnTo>
                    <a:pt x="114" y="120"/>
                  </a:lnTo>
                  <a:lnTo>
                    <a:pt x="66" y="0"/>
                  </a:lnTo>
                  <a:lnTo>
                    <a:pt x="60" y="0"/>
                  </a:lnTo>
                  <a:lnTo>
                    <a:pt x="24" y="102"/>
                  </a:lnTo>
                  <a:lnTo>
                    <a:pt x="18" y="120"/>
                  </a:lnTo>
                  <a:lnTo>
                    <a:pt x="12" y="132"/>
                  </a:lnTo>
                  <a:lnTo>
                    <a:pt x="6" y="138"/>
                  </a:lnTo>
                  <a:lnTo>
                    <a:pt x="0" y="138"/>
                  </a:lnTo>
                  <a:lnTo>
                    <a:pt x="0" y="144"/>
                  </a:lnTo>
                  <a:lnTo>
                    <a:pt x="36" y="144"/>
                  </a:lnTo>
                  <a:lnTo>
                    <a:pt x="36" y="138"/>
                  </a:lnTo>
                  <a:lnTo>
                    <a:pt x="30" y="138"/>
                  </a:lnTo>
                  <a:lnTo>
                    <a:pt x="24" y="132"/>
                  </a:lnTo>
                  <a:lnTo>
                    <a:pt x="24" y="126"/>
                  </a:lnTo>
                  <a:lnTo>
                    <a:pt x="24" y="120"/>
                  </a:lnTo>
                  <a:lnTo>
                    <a:pt x="36" y="96"/>
                  </a:lnTo>
                  <a:lnTo>
                    <a:pt x="84" y="96"/>
                  </a:lnTo>
                  <a:lnTo>
                    <a:pt x="90" y="114"/>
                  </a:lnTo>
                  <a:lnTo>
                    <a:pt x="96" y="126"/>
                  </a:lnTo>
                  <a:lnTo>
                    <a:pt x="96" y="132"/>
                  </a:lnTo>
                  <a:lnTo>
                    <a:pt x="90" y="138"/>
                  </a:lnTo>
                  <a:lnTo>
                    <a:pt x="78" y="138"/>
                  </a:lnTo>
                  <a:lnTo>
                    <a:pt x="78" y="144"/>
                  </a:lnTo>
                  <a:lnTo>
                    <a:pt x="126" y="144"/>
                  </a:lnTo>
                  <a:lnTo>
                    <a:pt x="126" y="138"/>
                  </a:lnTo>
                  <a:close/>
                  <a:moveTo>
                    <a:pt x="36" y="90"/>
                  </a:moveTo>
                  <a:lnTo>
                    <a:pt x="60" y="30"/>
                  </a:lnTo>
                  <a:lnTo>
                    <a:pt x="78"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0" name="Freeform 74"/>
            <p:cNvSpPr/>
            <p:nvPr/>
          </p:nvSpPr>
          <p:spPr bwMode="auto">
            <a:xfrm>
              <a:off x="910" y="2173"/>
              <a:ext cx="311" cy="358"/>
            </a:xfrm>
            <a:custGeom>
              <a:avLst/>
              <a:gdLst>
                <a:gd name="T0" fmla="*/ 156 w 311"/>
                <a:gd name="T1" fmla="*/ 358 h 358"/>
                <a:gd name="T2" fmla="*/ 186 w 311"/>
                <a:gd name="T3" fmla="*/ 352 h 358"/>
                <a:gd name="T4" fmla="*/ 216 w 311"/>
                <a:gd name="T5" fmla="*/ 346 h 358"/>
                <a:gd name="T6" fmla="*/ 246 w 311"/>
                <a:gd name="T7" fmla="*/ 328 h 358"/>
                <a:gd name="T8" fmla="*/ 270 w 311"/>
                <a:gd name="T9" fmla="*/ 304 h 358"/>
                <a:gd name="T10" fmla="*/ 299 w 311"/>
                <a:gd name="T11" fmla="*/ 245 h 358"/>
                <a:gd name="T12" fmla="*/ 311 w 311"/>
                <a:gd name="T13" fmla="*/ 215 h 358"/>
                <a:gd name="T14" fmla="*/ 311 w 311"/>
                <a:gd name="T15" fmla="*/ 179 h 358"/>
                <a:gd name="T16" fmla="*/ 311 w 311"/>
                <a:gd name="T17" fmla="*/ 143 h 358"/>
                <a:gd name="T18" fmla="*/ 299 w 311"/>
                <a:gd name="T19" fmla="*/ 113 h 358"/>
                <a:gd name="T20" fmla="*/ 270 w 311"/>
                <a:gd name="T21" fmla="*/ 54 h 358"/>
                <a:gd name="T22" fmla="*/ 246 w 311"/>
                <a:gd name="T23" fmla="*/ 30 h 358"/>
                <a:gd name="T24" fmla="*/ 216 w 311"/>
                <a:gd name="T25" fmla="*/ 12 h 358"/>
                <a:gd name="T26" fmla="*/ 186 w 311"/>
                <a:gd name="T27" fmla="*/ 6 h 358"/>
                <a:gd name="T28" fmla="*/ 156 w 311"/>
                <a:gd name="T29" fmla="*/ 0 h 358"/>
                <a:gd name="T30" fmla="*/ 126 w 311"/>
                <a:gd name="T31" fmla="*/ 6 h 358"/>
                <a:gd name="T32" fmla="*/ 96 w 311"/>
                <a:gd name="T33" fmla="*/ 12 h 358"/>
                <a:gd name="T34" fmla="*/ 72 w 311"/>
                <a:gd name="T35" fmla="*/ 30 h 358"/>
                <a:gd name="T36" fmla="*/ 48 w 311"/>
                <a:gd name="T37" fmla="*/ 54 h 358"/>
                <a:gd name="T38" fmla="*/ 12 w 311"/>
                <a:gd name="T39" fmla="*/ 113 h 358"/>
                <a:gd name="T40" fmla="*/ 6 w 311"/>
                <a:gd name="T41" fmla="*/ 143 h 358"/>
                <a:gd name="T42" fmla="*/ 0 w 311"/>
                <a:gd name="T43" fmla="*/ 179 h 358"/>
                <a:gd name="T44" fmla="*/ 6 w 311"/>
                <a:gd name="T45" fmla="*/ 215 h 358"/>
                <a:gd name="T46" fmla="*/ 12 w 311"/>
                <a:gd name="T47" fmla="*/ 245 h 358"/>
                <a:gd name="T48" fmla="*/ 48 w 311"/>
                <a:gd name="T49" fmla="*/ 304 h 358"/>
                <a:gd name="T50" fmla="*/ 72 w 311"/>
                <a:gd name="T51" fmla="*/ 328 h 358"/>
                <a:gd name="T52" fmla="*/ 96 w 311"/>
                <a:gd name="T53" fmla="*/ 346 h 358"/>
                <a:gd name="T54" fmla="*/ 126 w 311"/>
                <a:gd name="T55" fmla="*/ 352 h 358"/>
                <a:gd name="T56" fmla="*/ 156 w 311"/>
                <a:gd name="T57" fmla="*/ 358 h 358"/>
                <a:gd name="T58" fmla="*/ 156 w 311"/>
                <a:gd name="T59" fmla="*/ 358 h 3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1"/>
                <a:gd name="T91" fmla="*/ 0 h 358"/>
                <a:gd name="T92" fmla="*/ 311 w 311"/>
                <a:gd name="T93" fmla="*/ 358 h 3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1" h="358">
                  <a:moveTo>
                    <a:pt x="156" y="358"/>
                  </a:moveTo>
                  <a:lnTo>
                    <a:pt x="186" y="352"/>
                  </a:lnTo>
                  <a:lnTo>
                    <a:pt x="216" y="346"/>
                  </a:lnTo>
                  <a:lnTo>
                    <a:pt x="246" y="328"/>
                  </a:lnTo>
                  <a:lnTo>
                    <a:pt x="270" y="304"/>
                  </a:lnTo>
                  <a:lnTo>
                    <a:pt x="299" y="245"/>
                  </a:lnTo>
                  <a:lnTo>
                    <a:pt x="311" y="215"/>
                  </a:lnTo>
                  <a:lnTo>
                    <a:pt x="311" y="179"/>
                  </a:lnTo>
                  <a:lnTo>
                    <a:pt x="311" y="143"/>
                  </a:lnTo>
                  <a:lnTo>
                    <a:pt x="299" y="113"/>
                  </a:lnTo>
                  <a:lnTo>
                    <a:pt x="270" y="54"/>
                  </a:lnTo>
                  <a:lnTo>
                    <a:pt x="246" y="30"/>
                  </a:lnTo>
                  <a:lnTo>
                    <a:pt x="216" y="12"/>
                  </a:lnTo>
                  <a:lnTo>
                    <a:pt x="186" y="6"/>
                  </a:lnTo>
                  <a:lnTo>
                    <a:pt x="156" y="0"/>
                  </a:lnTo>
                  <a:lnTo>
                    <a:pt x="126" y="6"/>
                  </a:lnTo>
                  <a:lnTo>
                    <a:pt x="96" y="12"/>
                  </a:lnTo>
                  <a:lnTo>
                    <a:pt x="72" y="30"/>
                  </a:lnTo>
                  <a:lnTo>
                    <a:pt x="48" y="54"/>
                  </a:lnTo>
                  <a:lnTo>
                    <a:pt x="12" y="113"/>
                  </a:lnTo>
                  <a:lnTo>
                    <a:pt x="6" y="143"/>
                  </a:lnTo>
                  <a:lnTo>
                    <a:pt x="0" y="179"/>
                  </a:lnTo>
                  <a:lnTo>
                    <a:pt x="6" y="215"/>
                  </a:lnTo>
                  <a:lnTo>
                    <a:pt x="12" y="245"/>
                  </a:lnTo>
                  <a:lnTo>
                    <a:pt x="48" y="304"/>
                  </a:lnTo>
                  <a:lnTo>
                    <a:pt x="72" y="328"/>
                  </a:lnTo>
                  <a:lnTo>
                    <a:pt x="96" y="346"/>
                  </a:lnTo>
                  <a:lnTo>
                    <a:pt x="126" y="352"/>
                  </a:lnTo>
                  <a:lnTo>
                    <a:pt x="156" y="358"/>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1" name="Freeform 75"/>
            <p:cNvSpPr/>
            <p:nvPr/>
          </p:nvSpPr>
          <p:spPr bwMode="auto">
            <a:xfrm>
              <a:off x="1066" y="2352"/>
              <a:ext cx="155" cy="179"/>
            </a:xfrm>
            <a:custGeom>
              <a:avLst/>
              <a:gdLst>
                <a:gd name="T0" fmla="*/ 0 w 155"/>
                <a:gd name="T1" fmla="*/ 179 h 179"/>
                <a:gd name="T2" fmla="*/ 30 w 155"/>
                <a:gd name="T3" fmla="*/ 173 h 179"/>
                <a:gd name="T4" fmla="*/ 60 w 155"/>
                <a:gd name="T5" fmla="*/ 167 h 179"/>
                <a:gd name="T6" fmla="*/ 90 w 155"/>
                <a:gd name="T7" fmla="*/ 149 h 179"/>
                <a:gd name="T8" fmla="*/ 114 w 155"/>
                <a:gd name="T9" fmla="*/ 125 h 179"/>
                <a:gd name="T10" fmla="*/ 143 w 155"/>
                <a:gd name="T11" fmla="*/ 66 h 179"/>
                <a:gd name="T12" fmla="*/ 155 w 155"/>
                <a:gd name="T13" fmla="*/ 36 h 179"/>
                <a:gd name="T14" fmla="*/ 155 w 155"/>
                <a:gd name="T15" fmla="*/ 0 h 179"/>
                <a:gd name="T16" fmla="*/ 155 w 155"/>
                <a:gd name="T17" fmla="*/ 0 h 179"/>
                <a:gd name="T18" fmla="*/ 155 w 155"/>
                <a:gd name="T19" fmla="*/ 36 h 179"/>
                <a:gd name="T20" fmla="*/ 143 w 155"/>
                <a:gd name="T21" fmla="*/ 66 h 179"/>
                <a:gd name="T22" fmla="*/ 114 w 155"/>
                <a:gd name="T23" fmla="*/ 125 h 179"/>
                <a:gd name="T24" fmla="*/ 90 w 155"/>
                <a:gd name="T25" fmla="*/ 149 h 179"/>
                <a:gd name="T26" fmla="*/ 60 w 155"/>
                <a:gd name="T27" fmla="*/ 167 h 179"/>
                <a:gd name="T28" fmla="*/ 30 w 155"/>
                <a:gd name="T29" fmla="*/ 173 h 179"/>
                <a:gd name="T30" fmla="*/ 0 w 155"/>
                <a:gd name="T31" fmla="*/ 179 h 179"/>
                <a:gd name="T32" fmla="*/ 0 w 155"/>
                <a:gd name="T33" fmla="*/ 179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
                <a:gd name="T52" fmla="*/ 0 h 179"/>
                <a:gd name="T53" fmla="*/ 155 w 155"/>
                <a:gd name="T54" fmla="*/ 179 h 1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 h="179">
                  <a:moveTo>
                    <a:pt x="0" y="179"/>
                  </a:moveTo>
                  <a:lnTo>
                    <a:pt x="30" y="173"/>
                  </a:lnTo>
                  <a:lnTo>
                    <a:pt x="60" y="167"/>
                  </a:lnTo>
                  <a:lnTo>
                    <a:pt x="90" y="149"/>
                  </a:lnTo>
                  <a:lnTo>
                    <a:pt x="114" y="125"/>
                  </a:lnTo>
                  <a:lnTo>
                    <a:pt x="143" y="66"/>
                  </a:lnTo>
                  <a:lnTo>
                    <a:pt x="155" y="36"/>
                  </a:lnTo>
                  <a:lnTo>
                    <a:pt x="155" y="0"/>
                  </a:lnTo>
                  <a:lnTo>
                    <a:pt x="155" y="36"/>
                  </a:lnTo>
                  <a:lnTo>
                    <a:pt x="143" y="66"/>
                  </a:lnTo>
                  <a:lnTo>
                    <a:pt x="114" y="125"/>
                  </a:lnTo>
                  <a:lnTo>
                    <a:pt x="90" y="149"/>
                  </a:lnTo>
                  <a:lnTo>
                    <a:pt x="60" y="167"/>
                  </a:lnTo>
                  <a:lnTo>
                    <a:pt x="30" y="173"/>
                  </a:lnTo>
                  <a:lnTo>
                    <a:pt x="0"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2" name="Freeform 76"/>
            <p:cNvSpPr>
              <a:spLocks noEditPoints="1"/>
            </p:cNvSpPr>
            <p:nvPr/>
          </p:nvSpPr>
          <p:spPr bwMode="auto">
            <a:xfrm>
              <a:off x="1066" y="2173"/>
              <a:ext cx="155" cy="179"/>
            </a:xfrm>
            <a:custGeom>
              <a:avLst/>
              <a:gdLst>
                <a:gd name="T0" fmla="*/ 155 w 155"/>
                <a:gd name="T1" fmla="*/ 179 h 179"/>
                <a:gd name="T2" fmla="*/ 155 w 155"/>
                <a:gd name="T3" fmla="*/ 143 h 179"/>
                <a:gd name="T4" fmla="*/ 143 w 155"/>
                <a:gd name="T5" fmla="*/ 113 h 179"/>
                <a:gd name="T6" fmla="*/ 114 w 155"/>
                <a:gd name="T7" fmla="*/ 54 h 179"/>
                <a:gd name="T8" fmla="*/ 90 w 155"/>
                <a:gd name="T9" fmla="*/ 30 h 179"/>
                <a:gd name="T10" fmla="*/ 60 w 155"/>
                <a:gd name="T11" fmla="*/ 12 h 179"/>
                <a:gd name="T12" fmla="*/ 30 w 155"/>
                <a:gd name="T13" fmla="*/ 6 h 179"/>
                <a:gd name="T14" fmla="*/ 0 w 155"/>
                <a:gd name="T15" fmla="*/ 0 h 179"/>
                <a:gd name="T16" fmla="*/ 0 w 155"/>
                <a:gd name="T17" fmla="*/ 0 h 179"/>
                <a:gd name="T18" fmla="*/ 30 w 155"/>
                <a:gd name="T19" fmla="*/ 6 h 179"/>
                <a:gd name="T20" fmla="*/ 60 w 155"/>
                <a:gd name="T21" fmla="*/ 12 h 179"/>
                <a:gd name="T22" fmla="*/ 90 w 155"/>
                <a:gd name="T23" fmla="*/ 30 h 179"/>
                <a:gd name="T24" fmla="*/ 114 w 155"/>
                <a:gd name="T25" fmla="*/ 54 h 179"/>
                <a:gd name="T26" fmla="*/ 143 w 155"/>
                <a:gd name="T27" fmla="*/ 113 h 179"/>
                <a:gd name="T28" fmla="*/ 155 w 155"/>
                <a:gd name="T29" fmla="*/ 143 h 179"/>
                <a:gd name="T30" fmla="*/ 155 w 155"/>
                <a:gd name="T31" fmla="*/ 179 h 179"/>
                <a:gd name="T32" fmla="*/ 155 w 155"/>
                <a:gd name="T33" fmla="*/ 179 h 179"/>
                <a:gd name="T34" fmla="*/ 155 w 155"/>
                <a:gd name="T35" fmla="*/ 179 h 179"/>
                <a:gd name="T36" fmla="*/ 155 w 155"/>
                <a:gd name="T37" fmla="*/ 179 h 179"/>
                <a:gd name="T38" fmla="*/ 155 w 155"/>
                <a:gd name="T39" fmla="*/ 179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5"/>
                <a:gd name="T61" fmla="*/ 0 h 179"/>
                <a:gd name="T62" fmla="*/ 155 w 155"/>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5" h="179">
                  <a:moveTo>
                    <a:pt x="155" y="179"/>
                  </a:moveTo>
                  <a:lnTo>
                    <a:pt x="155" y="143"/>
                  </a:lnTo>
                  <a:lnTo>
                    <a:pt x="143" y="113"/>
                  </a:lnTo>
                  <a:lnTo>
                    <a:pt x="114" y="54"/>
                  </a:lnTo>
                  <a:lnTo>
                    <a:pt x="90" y="30"/>
                  </a:lnTo>
                  <a:lnTo>
                    <a:pt x="60" y="12"/>
                  </a:lnTo>
                  <a:lnTo>
                    <a:pt x="30" y="6"/>
                  </a:lnTo>
                  <a:lnTo>
                    <a:pt x="0" y="0"/>
                  </a:lnTo>
                  <a:lnTo>
                    <a:pt x="30" y="6"/>
                  </a:lnTo>
                  <a:lnTo>
                    <a:pt x="60" y="12"/>
                  </a:lnTo>
                  <a:lnTo>
                    <a:pt x="90" y="30"/>
                  </a:lnTo>
                  <a:lnTo>
                    <a:pt x="114" y="54"/>
                  </a:lnTo>
                  <a:lnTo>
                    <a:pt x="143" y="113"/>
                  </a:lnTo>
                  <a:lnTo>
                    <a:pt x="155" y="143"/>
                  </a:lnTo>
                  <a:lnTo>
                    <a:pt x="155" y="179"/>
                  </a:lnTo>
                  <a:close/>
                  <a:moveTo>
                    <a:pt x="155" y="179"/>
                  </a:moveTo>
                  <a:lnTo>
                    <a:pt x="155"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3" name="Freeform 77"/>
            <p:cNvSpPr>
              <a:spLocks noEditPoints="1"/>
            </p:cNvSpPr>
            <p:nvPr/>
          </p:nvSpPr>
          <p:spPr bwMode="auto">
            <a:xfrm>
              <a:off x="910" y="2173"/>
              <a:ext cx="156" cy="179"/>
            </a:xfrm>
            <a:custGeom>
              <a:avLst/>
              <a:gdLst>
                <a:gd name="T0" fmla="*/ 156 w 156"/>
                <a:gd name="T1" fmla="*/ 0 h 179"/>
                <a:gd name="T2" fmla="*/ 126 w 156"/>
                <a:gd name="T3" fmla="*/ 6 h 179"/>
                <a:gd name="T4" fmla="*/ 96 w 156"/>
                <a:gd name="T5" fmla="*/ 12 h 179"/>
                <a:gd name="T6" fmla="*/ 72 w 156"/>
                <a:gd name="T7" fmla="*/ 30 h 179"/>
                <a:gd name="T8" fmla="*/ 48 w 156"/>
                <a:gd name="T9" fmla="*/ 54 h 179"/>
                <a:gd name="T10" fmla="*/ 12 w 156"/>
                <a:gd name="T11" fmla="*/ 113 h 179"/>
                <a:gd name="T12" fmla="*/ 6 w 156"/>
                <a:gd name="T13" fmla="*/ 143 h 179"/>
                <a:gd name="T14" fmla="*/ 0 w 156"/>
                <a:gd name="T15" fmla="*/ 179 h 179"/>
                <a:gd name="T16" fmla="*/ 0 w 156"/>
                <a:gd name="T17" fmla="*/ 179 h 179"/>
                <a:gd name="T18" fmla="*/ 6 w 156"/>
                <a:gd name="T19" fmla="*/ 143 h 179"/>
                <a:gd name="T20" fmla="*/ 12 w 156"/>
                <a:gd name="T21" fmla="*/ 113 h 179"/>
                <a:gd name="T22" fmla="*/ 48 w 156"/>
                <a:gd name="T23" fmla="*/ 54 h 179"/>
                <a:gd name="T24" fmla="*/ 72 w 156"/>
                <a:gd name="T25" fmla="*/ 30 h 179"/>
                <a:gd name="T26" fmla="*/ 96 w 156"/>
                <a:gd name="T27" fmla="*/ 12 h 179"/>
                <a:gd name="T28" fmla="*/ 126 w 156"/>
                <a:gd name="T29" fmla="*/ 6 h 179"/>
                <a:gd name="T30" fmla="*/ 156 w 156"/>
                <a:gd name="T31" fmla="*/ 0 h 179"/>
                <a:gd name="T32" fmla="*/ 156 w 156"/>
                <a:gd name="T33" fmla="*/ 0 h 179"/>
                <a:gd name="T34" fmla="*/ 156 w 156"/>
                <a:gd name="T35" fmla="*/ 0 h 179"/>
                <a:gd name="T36" fmla="*/ 156 w 156"/>
                <a:gd name="T37" fmla="*/ 0 h 179"/>
                <a:gd name="T38" fmla="*/ 156 w 156"/>
                <a:gd name="T39" fmla="*/ 0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6"/>
                <a:gd name="T61" fmla="*/ 0 h 179"/>
                <a:gd name="T62" fmla="*/ 156 w 156"/>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6" h="179">
                  <a:moveTo>
                    <a:pt x="156" y="0"/>
                  </a:moveTo>
                  <a:lnTo>
                    <a:pt x="126" y="6"/>
                  </a:lnTo>
                  <a:lnTo>
                    <a:pt x="96" y="12"/>
                  </a:lnTo>
                  <a:lnTo>
                    <a:pt x="72" y="30"/>
                  </a:lnTo>
                  <a:lnTo>
                    <a:pt x="48" y="54"/>
                  </a:lnTo>
                  <a:lnTo>
                    <a:pt x="12" y="113"/>
                  </a:lnTo>
                  <a:lnTo>
                    <a:pt x="6" y="143"/>
                  </a:lnTo>
                  <a:lnTo>
                    <a:pt x="0" y="179"/>
                  </a:lnTo>
                  <a:lnTo>
                    <a:pt x="6" y="143"/>
                  </a:lnTo>
                  <a:lnTo>
                    <a:pt x="12" y="113"/>
                  </a:lnTo>
                  <a:lnTo>
                    <a:pt x="48" y="54"/>
                  </a:lnTo>
                  <a:lnTo>
                    <a:pt x="72" y="30"/>
                  </a:lnTo>
                  <a:lnTo>
                    <a:pt x="96" y="12"/>
                  </a:lnTo>
                  <a:lnTo>
                    <a:pt x="126" y="6"/>
                  </a:lnTo>
                  <a:lnTo>
                    <a:pt x="156" y="0"/>
                  </a:lnTo>
                  <a:close/>
                  <a:moveTo>
                    <a:pt x="156" y="0"/>
                  </a:moveTo>
                  <a:lnTo>
                    <a:pt x="15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4" name="Freeform 78"/>
            <p:cNvSpPr>
              <a:spLocks noEditPoints="1"/>
            </p:cNvSpPr>
            <p:nvPr/>
          </p:nvSpPr>
          <p:spPr bwMode="auto">
            <a:xfrm>
              <a:off x="910" y="2352"/>
              <a:ext cx="156" cy="179"/>
            </a:xfrm>
            <a:custGeom>
              <a:avLst/>
              <a:gdLst>
                <a:gd name="T0" fmla="*/ 0 w 156"/>
                <a:gd name="T1" fmla="*/ 0 h 179"/>
                <a:gd name="T2" fmla="*/ 6 w 156"/>
                <a:gd name="T3" fmla="*/ 36 h 179"/>
                <a:gd name="T4" fmla="*/ 12 w 156"/>
                <a:gd name="T5" fmla="*/ 66 h 179"/>
                <a:gd name="T6" fmla="*/ 48 w 156"/>
                <a:gd name="T7" fmla="*/ 125 h 179"/>
                <a:gd name="T8" fmla="*/ 72 w 156"/>
                <a:gd name="T9" fmla="*/ 149 h 179"/>
                <a:gd name="T10" fmla="*/ 96 w 156"/>
                <a:gd name="T11" fmla="*/ 167 h 179"/>
                <a:gd name="T12" fmla="*/ 126 w 156"/>
                <a:gd name="T13" fmla="*/ 173 h 179"/>
                <a:gd name="T14" fmla="*/ 156 w 156"/>
                <a:gd name="T15" fmla="*/ 179 h 179"/>
                <a:gd name="T16" fmla="*/ 156 w 156"/>
                <a:gd name="T17" fmla="*/ 179 h 179"/>
                <a:gd name="T18" fmla="*/ 126 w 156"/>
                <a:gd name="T19" fmla="*/ 173 h 179"/>
                <a:gd name="T20" fmla="*/ 96 w 156"/>
                <a:gd name="T21" fmla="*/ 167 h 179"/>
                <a:gd name="T22" fmla="*/ 72 w 156"/>
                <a:gd name="T23" fmla="*/ 149 h 179"/>
                <a:gd name="T24" fmla="*/ 48 w 156"/>
                <a:gd name="T25" fmla="*/ 125 h 179"/>
                <a:gd name="T26" fmla="*/ 12 w 156"/>
                <a:gd name="T27" fmla="*/ 66 h 179"/>
                <a:gd name="T28" fmla="*/ 6 w 156"/>
                <a:gd name="T29" fmla="*/ 36 h 179"/>
                <a:gd name="T30" fmla="*/ 0 w 156"/>
                <a:gd name="T31" fmla="*/ 0 h 179"/>
                <a:gd name="T32" fmla="*/ 0 w 156"/>
                <a:gd name="T33" fmla="*/ 0 h 179"/>
                <a:gd name="T34" fmla="*/ 0 w 156"/>
                <a:gd name="T35" fmla="*/ 0 h 179"/>
                <a:gd name="T36" fmla="*/ 0 w 156"/>
                <a:gd name="T37" fmla="*/ 0 h 179"/>
                <a:gd name="T38" fmla="*/ 0 w 156"/>
                <a:gd name="T39" fmla="*/ 0 h 1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6"/>
                <a:gd name="T61" fmla="*/ 0 h 179"/>
                <a:gd name="T62" fmla="*/ 156 w 156"/>
                <a:gd name="T63" fmla="*/ 179 h 1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6" h="179">
                  <a:moveTo>
                    <a:pt x="0" y="0"/>
                  </a:moveTo>
                  <a:lnTo>
                    <a:pt x="6" y="36"/>
                  </a:lnTo>
                  <a:lnTo>
                    <a:pt x="12" y="66"/>
                  </a:lnTo>
                  <a:lnTo>
                    <a:pt x="48" y="125"/>
                  </a:lnTo>
                  <a:lnTo>
                    <a:pt x="72" y="149"/>
                  </a:lnTo>
                  <a:lnTo>
                    <a:pt x="96" y="167"/>
                  </a:lnTo>
                  <a:lnTo>
                    <a:pt x="126" y="173"/>
                  </a:lnTo>
                  <a:lnTo>
                    <a:pt x="156" y="179"/>
                  </a:lnTo>
                  <a:lnTo>
                    <a:pt x="126" y="173"/>
                  </a:lnTo>
                  <a:lnTo>
                    <a:pt x="96" y="167"/>
                  </a:lnTo>
                  <a:lnTo>
                    <a:pt x="72" y="149"/>
                  </a:lnTo>
                  <a:lnTo>
                    <a:pt x="48" y="125"/>
                  </a:lnTo>
                  <a:lnTo>
                    <a:pt x="12" y="66"/>
                  </a:lnTo>
                  <a:lnTo>
                    <a:pt x="6" y="3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5" name="Freeform 79"/>
            <p:cNvSpPr/>
            <p:nvPr/>
          </p:nvSpPr>
          <p:spPr bwMode="auto">
            <a:xfrm>
              <a:off x="1066" y="253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6" name="Freeform 80"/>
            <p:cNvSpPr/>
            <p:nvPr/>
          </p:nvSpPr>
          <p:spPr bwMode="auto">
            <a:xfrm>
              <a:off x="1066" y="2352"/>
              <a:ext cx="1" cy="137"/>
            </a:xfrm>
            <a:custGeom>
              <a:avLst/>
              <a:gdLst>
                <a:gd name="T0" fmla="*/ 0 w 1"/>
                <a:gd name="T1" fmla="*/ 137 h 137"/>
                <a:gd name="T2" fmla="*/ 0 w 1"/>
                <a:gd name="T3" fmla="*/ 0 h 137"/>
                <a:gd name="T4" fmla="*/ 0 w 1"/>
                <a:gd name="T5" fmla="*/ 137 h 137"/>
                <a:gd name="T6" fmla="*/ 0 w 1"/>
                <a:gd name="T7" fmla="*/ 137 h 137"/>
                <a:gd name="T8" fmla="*/ 0 60000 65536"/>
                <a:gd name="T9" fmla="*/ 0 60000 65536"/>
                <a:gd name="T10" fmla="*/ 0 60000 65536"/>
                <a:gd name="T11" fmla="*/ 0 60000 65536"/>
                <a:gd name="T12" fmla="*/ 0 w 1"/>
                <a:gd name="T13" fmla="*/ 0 h 137"/>
                <a:gd name="T14" fmla="*/ 1 w 1"/>
                <a:gd name="T15" fmla="*/ 137 h 137"/>
              </a:gdLst>
              <a:ahLst/>
              <a:cxnLst>
                <a:cxn ang="T8">
                  <a:pos x="T0" y="T1"/>
                </a:cxn>
                <a:cxn ang="T9">
                  <a:pos x="T2" y="T3"/>
                </a:cxn>
                <a:cxn ang="T10">
                  <a:pos x="T4" y="T5"/>
                </a:cxn>
                <a:cxn ang="T11">
                  <a:pos x="T6" y="T7"/>
                </a:cxn>
              </a:cxnLst>
              <a:rect l="T12" t="T13" r="T14" b="T15"/>
              <a:pathLst>
                <a:path w="1" h="137">
                  <a:moveTo>
                    <a:pt x="0" y="137"/>
                  </a:moveTo>
                  <a:lnTo>
                    <a:pt x="0" y="0"/>
                  </a:lnTo>
                  <a:lnTo>
                    <a:pt x="0" y="13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7" name="Freeform 81"/>
            <p:cNvSpPr/>
            <p:nvPr/>
          </p:nvSpPr>
          <p:spPr bwMode="auto">
            <a:xfrm>
              <a:off x="1024" y="2221"/>
              <a:ext cx="78" cy="155"/>
            </a:xfrm>
            <a:custGeom>
              <a:avLst/>
              <a:gdLst>
                <a:gd name="T0" fmla="*/ 78 w 78"/>
                <a:gd name="T1" fmla="*/ 155 h 155"/>
                <a:gd name="T2" fmla="*/ 42 w 78"/>
                <a:gd name="T3" fmla="*/ 0 h 155"/>
                <a:gd name="T4" fmla="*/ 0 w 78"/>
                <a:gd name="T5" fmla="*/ 155 h 155"/>
                <a:gd name="T6" fmla="*/ 78 w 78"/>
                <a:gd name="T7" fmla="*/ 155 h 155"/>
                <a:gd name="T8" fmla="*/ 78 w 78"/>
                <a:gd name="T9" fmla="*/ 155 h 155"/>
                <a:gd name="T10" fmla="*/ 0 60000 65536"/>
                <a:gd name="T11" fmla="*/ 0 60000 65536"/>
                <a:gd name="T12" fmla="*/ 0 60000 65536"/>
                <a:gd name="T13" fmla="*/ 0 60000 65536"/>
                <a:gd name="T14" fmla="*/ 0 60000 65536"/>
                <a:gd name="T15" fmla="*/ 0 w 78"/>
                <a:gd name="T16" fmla="*/ 0 h 155"/>
                <a:gd name="T17" fmla="*/ 78 w 78"/>
                <a:gd name="T18" fmla="*/ 155 h 155"/>
              </a:gdLst>
              <a:ahLst/>
              <a:cxnLst>
                <a:cxn ang="T10">
                  <a:pos x="T0" y="T1"/>
                </a:cxn>
                <a:cxn ang="T11">
                  <a:pos x="T2" y="T3"/>
                </a:cxn>
                <a:cxn ang="T12">
                  <a:pos x="T4" y="T5"/>
                </a:cxn>
                <a:cxn ang="T13">
                  <a:pos x="T6" y="T7"/>
                </a:cxn>
                <a:cxn ang="T14">
                  <a:pos x="T8" y="T9"/>
                </a:cxn>
              </a:cxnLst>
              <a:rect l="T15" t="T16" r="T17" b="T18"/>
              <a:pathLst>
                <a:path w="78" h="155">
                  <a:moveTo>
                    <a:pt x="78" y="155"/>
                  </a:moveTo>
                  <a:lnTo>
                    <a:pt x="42" y="0"/>
                  </a:lnTo>
                  <a:lnTo>
                    <a:pt x="0" y="155"/>
                  </a:lnTo>
                  <a:lnTo>
                    <a:pt x="78" y="15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8" name="Freeform 82"/>
            <p:cNvSpPr/>
            <p:nvPr/>
          </p:nvSpPr>
          <p:spPr bwMode="auto">
            <a:xfrm>
              <a:off x="2495" y="1480"/>
              <a:ext cx="78" cy="90"/>
            </a:xfrm>
            <a:custGeom>
              <a:avLst/>
              <a:gdLst>
                <a:gd name="T0" fmla="*/ 36 w 78"/>
                <a:gd name="T1" fmla="*/ 90 h 90"/>
                <a:gd name="T2" fmla="*/ 54 w 78"/>
                <a:gd name="T3" fmla="*/ 90 h 90"/>
                <a:gd name="T4" fmla="*/ 66 w 78"/>
                <a:gd name="T5" fmla="*/ 78 h 90"/>
                <a:gd name="T6" fmla="*/ 78 w 78"/>
                <a:gd name="T7" fmla="*/ 66 h 90"/>
                <a:gd name="T8" fmla="*/ 78 w 78"/>
                <a:gd name="T9" fmla="*/ 48 h 90"/>
                <a:gd name="T10" fmla="*/ 78 w 78"/>
                <a:gd name="T11" fmla="*/ 30 h 90"/>
                <a:gd name="T12" fmla="*/ 66 w 78"/>
                <a:gd name="T13" fmla="*/ 18 h 90"/>
                <a:gd name="T14" fmla="*/ 54 w 78"/>
                <a:gd name="T15" fmla="*/ 6 h 90"/>
                <a:gd name="T16" fmla="*/ 36 w 78"/>
                <a:gd name="T17" fmla="*/ 0 h 90"/>
                <a:gd name="T18" fmla="*/ 24 w 78"/>
                <a:gd name="T19" fmla="*/ 6 h 90"/>
                <a:gd name="T20" fmla="*/ 12 w 78"/>
                <a:gd name="T21" fmla="*/ 18 h 90"/>
                <a:gd name="T22" fmla="*/ 6 w 78"/>
                <a:gd name="T23" fmla="*/ 30 h 90"/>
                <a:gd name="T24" fmla="*/ 0 w 78"/>
                <a:gd name="T25" fmla="*/ 48 h 90"/>
                <a:gd name="T26" fmla="*/ 6 w 78"/>
                <a:gd name="T27" fmla="*/ 66 h 90"/>
                <a:gd name="T28" fmla="*/ 12 w 78"/>
                <a:gd name="T29" fmla="*/ 78 h 90"/>
                <a:gd name="T30" fmla="*/ 24 w 78"/>
                <a:gd name="T31" fmla="*/ 90 h 90"/>
                <a:gd name="T32" fmla="*/ 36 w 78"/>
                <a:gd name="T33" fmla="*/ 90 h 90"/>
                <a:gd name="T34" fmla="*/ 36 w 78"/>
                <a:gd name="T35" fmla="*/ 90 h 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8"/>
                <a:gd name="T55" fmla="*/ 0 h 90"/>
                <a:gd name="T56" fmla="*/ 78 w 78"/>
                <a:gd name="T57" fmla="*/ 90 h 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8" h="90">
                  <a:moveTo>
                    <a:pt x="36" y="90"/>
                  </a:moveTo>
                  <a:lnTo>
                    <a:pt x="54" y="90"/>
                  </a:lnTo>
                  <a:lnTo>
                    <a:pt x="66" y="78"/>
                  </a:lnTo>
                  <a:lnTo>
                    <a:pt x="78" y="66"/>
                  </a:lnTo>
                  <a:lnTo>
                    <a:pt x="78" y="48"/>
                  </a:lnTo>
                  <a:lnTo>
                    <a:pt x="78" y="30"/>
                  </a:lnTo>
                  <a:lnTo>
                    <a:pt x="66" y="18"/>
                  </a:lnTo>
                  <a:lnTo>
                    <a:pt x="54" y="6"/>
                  </a:lnTo>
                  <a:lnTo>
                    <a:pt x="36" y="0"/>
                  </a:lnTo>
                  <a:lnTo>
                    <a:pt x="24" y="6"/>
                  </a:lnTo>
                  <a:lnTo>
                    <a:pt x="12" y="18"/>
                  </a:lnTo>
                  <a:lnTo>
                    <a:pt x="6" y="30"/>
                  </a:lnTo>
                  <a:lnTo>
                    <a:pt x="0" y="48"/>
                  </a:lnTo>
                  <a:lnTo>
                    <a:pt x="6" y="66"/>
                  </a:lnTo>
                  <a:lnTo>
                    <a:pt x="12" y="78"/>
                  </a:lnTo>
                  <a:lnTo>
                    <a:pt x="24"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29" name="Freeform 83"/>
            <p:cNvSpPr/>
            <p:nvPr/>
          </p:nvSpPr>
          <p:spPr bwMode="auto">
            <a:xfrm>
              <a:off x="3960" y="1480"/>
              <a:ext cx="72" cy="90"/>
            </a:xfrm>
            <a:custGeom>
              <a:avLst/>
              <a:gdLst>
                <a:gd name="T0" fmla="*/ 36 w 72"/>
                <a:gd name="T1" fmla="*/ 90 h 90"/>
                <a:gd name="T2" fmla="*/ 54 w 72"/>
                <a:gd name="T3" fmla="*/ 90 h 90"/>
                <a:gd name="T4" fmla="*/ 66 w 72"/>
                <a:gd name="T5" fmla="*/ 78 h 90"/>
                <a:gd name="T6" fmla="*/ 72 w 72"/>
                <a:gd name="T7" fmla="*/ 48 h 90"/>
                <a:gd name="T8" fmla="*/ 66 w 72"/>
                <a:gd name="T9" fmla="*/ 18 h 90"/>
                <a:gd name="T10" fmla="*/ 54 w 72"/>
                <a:gd name="T11" fmla="*/ 6 h 90"/>
                <a:gd name="T12" fmla="*/ 36 w 72"/>
                <a:gd name="T13" fmla="*/ 0 h 90"/>
                <a:gd name="T14" fmla="*/ 24 w 72"/>
                <a:gd name="T15" fmla="*/ 6 h 90"/>
                <a:gd name="T16" fmla="*/ 12 w 72"/>
                <a:gd name="T17" fmla="*/ 18 h 90"/>
                <a:gd name="T18" fmla="*/ 6 w 72"/>
                <a:gd name="T19" fmla="*/ 30 h 90"/>
                <a:gd name="T20" fmla="*/ 0 w 72"/>
                <a:gd name="T21" fmla="*/ 48 h 90"/>
                <a:gd name="T22" fmla="*/ 6 w 72"/>
                <a:gd name="T23" fmla="*/ 66 h 90"/>
                <a:gd name="T24" fmla="*/ 12 w 72"/>
                <a:gd name="T25" fmla="*/ 78 h 90"/>
                <a:gd name="T26" fmla="*/ 24 w 72"/>
                <a:gd name="T27" fmla="*/ 90 h 90"/>
                <a:gd name="T28" fmla="*/ 36 w 72"/>
                <a:gd name="T29" fmla="*/ 90 h 90"/>
                <a:gd name="T30" fmla="*/ 36 w 72"/>
                <a:gd name="T31" fmla="*/ 90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90"/>
                <a:gd name="T50" fmla="*/ 72 w 72"/>
                <a:gd name="T51" fmla="*/ 90 h 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90">
                  <a:moveTo>
                    <a:pt x="36" y="90"/>
                  </a:moveTo>
                  <a:lnTo>
                    <a:pt x="54" y="90"/>
                  </a:lnTo>
                  <a:lnTo>
                    <a:pt x="66" y="78"/>
                  </a:lnTo>
                  <a:lnTo>
                    <a:pt x="72" y="48"/>
                  </a:lnTo>
                  <a:lnTo>
                    <a:pt x="66" y="18"/>
                  </a:lnTo>
                  <a:lnTo>
                    <a:pt x="54" y="6"/>
                  </a:lnTo>
                  <a:lnTo>
                    <a:pt x="36" y="0"/>
                  </a:lnTo>
                  <a:lnTo>
                    <a:pt x="24" y="6"/>
                  </a:lnTo>
                  <a:lnTo>
                    <a:pt x="12" y="18"/>
                  </a:lnTo>
                  <a:lnTo>
                    <a:pt x="6" y="30"/>
                  </a:lnTo>
                  <a:lnTo>
                    <a:pt x="0" y="48"/>
                  </a:lnTo>
                  <a:lnTo>
                    <a:pt x="6" y="66"/>
                  </a:lnTo>
                  <a:lnTo>
                    <a:pt x="12" y="78"/>
                  </a:lnTo>
                  <a:lnTo>
                    <a:pt x="24" y="90"/>
                  </a:lnTo>
                  <a:lnTo>
                    <a:pt x="36"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0" name="Freeform 84"/>
            <p:cNvSpPr/>
            <p:nvPr/>
          </p:nvSpPr>
          <p:spPr bwMode="auto">
            <a:xfrm>
              <a:off x="1287" y="1480"/>
              <a:ext cx="138" cy="84"/>
            </a:xfrm>
            <a:custGeom>
              <a:avLst/>
              <a:gdLst>
                <a:gd name="T0" fmla="*/ 0 w 138"/>
                <a:gd name="T1" fmla="*/ 84 h 84"/>
                <a:gd name="T2" fmla="*/ 138 w 138"/>
                <a:gd name="T3" fmla="*/ 42 h 84"/>
                <a:gd name="T4" fmla="*/ 0 w 138"/>
                <a:gd name="T5" fmla="*/ 0 h 84"/>
                <a:gd name="T6" fmla="*/ 0 w 138"/>
                <a:gd name="T7" fmla="*/ 84 h 84"/>
                <a:gd name="T8" fmla="*/ 0 w 138"/>
                <a:gd name="T9" fmla="*/ 84 h 84"/>
                <a:gd name="T10" fmla="*/ 0 60000 65536"/>
                <a:gd name="T11" fmla="*/ 0 60000 65536"/>
                <a:gd name="T12" fmla="*/ 0 60000 65536"/>
                <a:gd name="T13" fmla="*/ 0 60000 65536"/>
                <a:gd name="T14" fmla="*/ 0 60000 65536"/>
                <a:gd name="T15" fmla="*/ 0 w 138"/>
                <a:gd name="T16" fmla="*/ 0 h 84"/>
                <a:gd name="T17" fmla="*/ 138 w 138"/>
                <a:gd name="T18" fmla="*/ 84 h 84"/>
              </a:gdLst>
              <a:ahLst/>
              <a:cxnLst>
                <a:cxn ang="T10">
                  <a:pos x="T0" y="T1"/>
                </a:cxn>
                <a:cxn ang="T11">
                  <a:pos x="T2" y="T3"/>
                </a:cxn>
                <a:cxn ang="T12">
                  <a:pos x="T4" y="T5"/>
                </a:cxn>
                <a:cxn ang="T13">
                  <a:pos x="T6" y="T7"/>
                </a:cxn>
                <a:cxn ang="T14">
                  <a:pos x="T8" y="T9"/>
                </a:cxn>
              </a:cxnLst>
              <a:rect l="T15" t="T16" r="T17" b="T18"/>
              <a:pathLst>
                <a:path w="138" h="84">
                  <a:moveTo>
                    <a:pt x="0" y="84"/>
                  </a:moveTo>
                  <a:lnTo>
                    <a:pt x="138" y="42"/>
                  </a:lnTo>
                  <a:lnTo>
                    <a:pt x="0" y="0"/>
                  </a:lnTo>
                  <a:lnTo>
                    <a:pt x="0" y="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1" name="Freeform 85"/>
            <p:cNvSpPr/>
            <p:nvPr/>
          </p:nvSpPr>
          <p:spPr bwMode="auto">
            <a:xfrm>
              <a:off x="2764" y="1480"/>
              <a:ext cx="144" cy="84"/>
            </a:xfrm>
            <a:custGeom>
              <a:avLst/>
              <a:gdLst>
                <a:gd name="T0" fmla="*/ 0 w 144"/>
                <a:gd name="T1" fmla="*/ 84 h 84"/>
                <a:gd name="T2" fmla="*/ 144 w 144"/>
                <a:gd name="T3" fmla="*/ 42 h 84"/>
                <a:gd name="T4" fmla="*/ 0 w 144"/>
                <a:gd name="T5" fmla="*/ 0 h 84"/>
                <a:gd name="T6" fmla="*/ 0 w 144"/>
                <a:gd name="T7" fmla="*/ 84 h 84"/>
                <a:gd name="T8" fmla="*/ 0 w 144"/>
                <a:gd name="T9" fmla="*/ 84 h 84"/>
                <a:gd name="T10" fmla="*/ 0 60000 65536"/>
                <a:gd name="T11" fmla="*/ 0 60000 65536"/>
                <a:gd name="T12" fmla="*/ 0 60000 65536"/>
                <a:gd name="T13" fmla="*/ 0 60000 65536"/>
                <a:gd name="T14" fmla="*/ 0 60000 65536"/>
                <a:gd name="T15" fmla="*/ 0 w 144"/>
                <a:gd name="T16" fmla="*/ 0 h 84"/>
                <a:gd name="T17" fmla="*/ 144 w 144"/>
                <a:gd name="T18" fmla="*/ 84 h 84"/>
              </a:gdLst>
              <a:ahLst/>
              <a:cxnLst>
                <a:cxn ang="T10">
                  <a:pos x="T0" y="T1"/>
                </a:cxn>
                <a:cxn ang="T11">
                  <a:pos x="T2" y="T3"/>
                </a:cxn>
                <a:cxn ang="T12">
                  <a:pos x="T4" y="T5"/>
                </a:cxn>
                <a:cxn ang="T13">
                  <a:pos x="T6" y="T7"/>
                </a:cxn>
                <a:cxn ang="T14">
                  <a:pos x="T8" y="T9"/>
                </a:cxn>
              </a:cxnLst>
              <a:rect l="T15" t="T16" r="T17" b="T18"/>
              <a:pathLst>
                <a:path w="144" h="84">
                  <a:moveTo>
                    <a:pt x="0" y="84"/>
                  </a:moveTo>
                  <a:lnTo>
                    <a:pt x="144" y="42"/>
                  </a:lnTo>
                  <a:lnTo>
                    <a:pt x="0" y="0"/>
                  </a:lnTo>
                  <a:lnTo>
                    <a:pt x="0" y="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2" name="Freeform 86"/>
            <p:cNvSpPr/>
            <p:nvPr/>
          </p:nvSpPr>
          <p:spPr bwMode="auto">
            <a:xfrm>
              <a:off x="2495" y="1779"/>
              <a:ext cx="78" cy="161"/>
            </a:xfrm>
            <a:custGeom>
              <a:avLst/>
              <a:gdLst>
                <a:gd name="T0" fmla="*/ 0 w 78"/>
                <a:gd name="T1" fmla="*/ 0 h 161"/>
                <a:gd name="T2" fmla="*/ 36 w 78"/>
                <a:gd name="T3" fmla="*/ 161 h 161"/>
                <a:gd name="T4" fmla="*/ 78 w 78"/>
                <a:gd name="T5" fmla="*/ 0 h 161"/>
                <a:gd name="T6" fmla="*/ 0 w 78"/>
                <a:gd name="T7" fmla="*/ 0 h 161"/>
                <a:gd name="T8" fmla="*/ 0 w 78"/>
                <a:gd name="T9" fmla="*/ 0 h 161"/>
                <a:gd name="T10" fmla="*/ 0 60000 65536"/>
                <a:gd name="T11" fmla="*/ 0 60000 65536"/>
                <a:gd name="T12" fmla="*/ 0 60000 65536"/>
                <a:gd name="T13" fmla="*/ 0 60000 65536"/>
                <a:gd name="T14" fmla="*/ 0 60000 65536"/>
                <a:gd name="T15" fmla="*/ 0 w 78"/>
                <a:gd name="T16" fmla="*/ 0 h 161"/>
                <a:gd name="T17" fmla="*/ 78 w 78"/>
                <a:gd name="T18" fmla="*/ 161 h 161"/>
              </a:gdLst>
              <a:ahLst/>
              <a:cxnLst>
                <a:cxn ang="T10">
                  <a:pos x="T0" y="T1"/>
                </a:cxn>
                <a:cxn ang="T11">
                  <a:pos x="T2" y="T3"/>
                </a:cxn>
                <a:cxn ang="T12">
                  <a:pos x="T4" y="T5"/>
                </a:cxn>
                <a:cxn ang="T13">
                  <a:pos x="T6" y="T7"/>
                </a:cxn>
                <a:cxn ang="T14">
                  <a:pos x="T8" y="T9"/>
                </a:cxn>
              </a:cxnLst>
              <a:rect l="T15" t="T16" r="T17" b="T18"/>
              <a:pathLst>
                <a:path w="78" h="161">
                  <a:moveTo>
                    <a:pt x="0" y="0"/>
                  </a:moveTo>
                  <a:lnTo>
                    <a:pt x="36" y="161"/>
                  </a:lnTo>
                  <a:lnTo>
                    <a:pt x="78"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3" name="Freeform 87"/>
            <p:cNvSpPr/>
            <p:nvPr/>
          </p:nvSpPr>
          <p:spPr bwMode="auto">
            <a:xfrm>
              <a:off x="3960" y="1779"/>
              <a:ext cx="72" cy="161"/>
            </a:xfrm>
            <a:custGeom>
              <a:avLst/>
              <a:gdLst>
                <a:gd name="T0" fmla="*/ 0 w 72"/>
                <a:gd name="T1" fmla="*/ 0 h 161"/>
                <a:gd name="T2" fmla="*/ 36 w 72"/>
                <a:gd name="T3" fmla="*/ 161 h 161"/>
                <a:gd name="T4" fmla="*/ 72 w 72"/>
                <a:gd name="T5" fmla="*/ 0 h 161"/>
                <a:gd name="T6" fmla="*/ 0 w 72"/>
                <a:gd name="T7" fmla="*/ 0 h 161"/>
                <a:gd name="T8" fmla="*/ 0 w 72"/>
                <a:gd name="T9" fmla="*/ 0 h 161"/>
                <a:gd name="T10" fmla="*/ 0 60000 65536"/>
                <a:gd name="T11" fmla="*/ 0 60000 65536"/>
                <a:gd name="T12" fmla="*/ 0 60000 65536"/>
                <a:gd name="T13" fmla="*/ 0 60000 65536"/>
                <a:gd name="T14" fmla="*/ 0 60000 65536"/>
                <a:gd name="T15" fmla="*/ 0 w 72"/>
                <a:gd name="T16" fmla="*/ 0 h 161"/>
                <a:gd name="T17" fmla="*/ 72 w 72"/>
                <a:gd name="T18" fmla="*/ 161 h 161"/>
              </a:gdLst>
              <a:ahLst/>
              <a:cxnLst>
                <a:cxn ang="T10">
                  <a:pos x="T0" y="T1"/>
                </a:cxn>
                <a:cxn ang="T11">
                  <a:pos x="T2" y="T3"/>
                </a:cxn>
                <a:cxn ang="T12">
                  <a:pos x="T4" y="T5"/>
                </a:cxn>
                <a:cxn ang="T13">
                  <a:pos x="T6" y="T7"/>
                </a:cxn>
                <a:cxn ang="T14">
                  <a:pos x="T8" y="T9"/>
                </a:cxn>
              </a:cxnLst>
              <a:rect l="T15" t="T16" r="T17" b="T18"/>
              <a:pathLst>
                <a:path w="72" h="161">
                  <a:moveTo>
                    <a:pt x="0" y="0"/>
                  </a:moveTo>
                  <a:lnTo>
                    <a:pt x="36" y="161"/>
                  </a:lnTo>
                  <a:lnTo>
                    <a:pt x="72"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4" name="Freeform 88"/>
            <p:cNvSpPr/>
            <p:nvPr/>
          </p:nvSpPr>
          <p:spPr bwMode="auto">
            <a:xfrm>
              <a:off x="5378" y="1779"/>
              <a:ext cx="72" cy="161"/>
            </a:xfrm>
            <a:custGeom>
              <a:avLst/>
              <a:gdLst>
                <a:gd name="T0" fmla="*/ 0 w 72"/>
                <a:gd name="T1" fmla="*/ 0 h 161"/>
                <a:gd name="T2" fmla="*/ 36 w 72"/>
                <a:gd name="T3" fmla="*/ 161 h 161"/>
                <a:gd name="T4" fmla="*/ 72 w 72"/>
                <a:gd name="T5" fmla="*/ 0 h 161"/>
                <a:gd name="T6" fmla="*/ 0 w 72"/>
                <a:gd name="T7" fmla="*/ 0 h 161"/>
                <a:gd name="T8" fmla="*/ 0 w 72"/>
                <a:gd name="T9" fmla="*/ 0 h 161"/>
                <a:gd name="T10" fmla="*/ 0 60000 65536"/>
                <a:gd name="T11" fmla="*/ 0 60000 65536"/>
                <a:gd name="T12" fmla="*/ 0 60000 65536"/>
                <a:gd name="T13" fmla="*/ 0 60000 65536"/>
                <a:gd name="T14" fmla="*/ 0 60000 65536"/>
                <a:gd name="T15" fmla="*/ 0 w 72"/>
                <a:gd name="T16" fmla="*/ 0 h 161"/>
                <a:gd name="T17" fmla="*/ 72 w 72"/>
                <a:gd name="T18" fmla="*/ 161 h 161"/>
              </a:gdLst>
              <a:ahLst/>
              <a:cxnLst>
                <a:cxn ang="T10">
                  <a:pos x="T0" y="T1"/>
                </a:cxn>
                <a:cxn ang="T11">
                  <a:pos x="T2" y="T3"/>
                </a:cxn>
                <a:cxn ang="T12">
                  <a:pos x="T4" y="T5"/>
                </a:cxn>
                <a:cxn ang="T13">
                  <a:pos x="T6" y="T7"/>
                </a:cxn>
                <a:cxn ang="T14">
                  <a:pos x="T8" y="T9"/>
                </a:cxn>
              </a:cxnLst>
              <a:rect l="T15" t="T16" r="T17" b="T18"/>
              <a:pathLst>
                <a:path w="72" h="161">
                  <a:moveTo>
                    <a:pt x="0" y="0"/>
                  </a:moveTo>
                  <a:lnTo>
                    <a:pt x="36" y="161"/>
                  </a:lnTo>
                  <a:lnTo>
                    <a:pt x="72"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5" name="Freeform 89"/>
            <p:cNvSpPr/>
            <p:nvPr/>
          </p:nvSpPr>
          <p:spPr bwMode="auto">
            <a:xfrm>
              <a:off x="1634" y="1498"/>
              <a:ext cx="377" cy="54"/>
            </a:xfrm>
            <a:custGeom>
              <a:avLst/>
              <a:gdLst>
                <a:gd name="T0" fmla="*/ 0 w 377"/>
                <a:gd name="T1" fmla="*/ 54 h 54"/>
                <a:gd name="T2" fmla="*/ 0 w 377"/>
                <a:gd name="T3" fmla="*/ 0 h 54"/>
                <a:gd name="T4" fmla="*/ 377 w 377"/>
                <a:gd name="T5" fmla="*/ 0 h 54"/>
                <a:gd name="T6" fmla="*/ 377 w 377"/>
                <a:gd name="T7" fmla="*/ 54 h 54"/>
                <a:gd name="T8" fmla="*/ 0 w 377"/>
                <a:gd name="T9" fmla="*/ 54 h 54"/>
                <a:gd name="T10" fmla="*/ 0 w 377"/>
                <a:gd name="T11" fmla="*/ 54 h 54"/>
                <a:gd name="T12" fmla="*/ 0 60000 65536"/>
                <a:gd name="T13" fmla="*/ 0 60000 65536"/>
                <a:gd name="T14" fmla="*/ 0 60000 65536"/>
                <a:gd name="T15" fmla="*/ 0 60000 65536"/>
                <a:gd name="T16" fmla="*/ 0 60000 65536"/>
                <a:gd name="T17" fmla="*/ 0 60000 65536"/>
                <a:gd name="T18" fmla="*/ 0 w 377"/>
                <a:gd name="T19" fmla="*/ 0 h 54"/>
                <a:gd name="T20" fmla="*/ 377 w 377"/>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377" h="54">
                  <a:moveTo>
                    <a:pt x="0" y="54"/>
                  </a:moveTo>
                  <a:lnTo>
                    <a:pt x="0" y="0"/>
                  </a:lnTo>
                  <a:lnTo>
                    <a:pt x="377" y="0"/>
                  </a:lnTo>
                  <a:lnTo>
                    <a:pt x="377" y="54"/>
                  </a:lnTo>
                  <a:lnTo>
                    <a:pt x="0" y="54"/>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6" name="Freeform 90"/>
            <p:cNvSpPr/>
            <p:nvPr/>
          </p:nvSpPr>
          <p:spPr bwMode="auto">
            <a:xfrm>
              <a:off x="1987"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7" name="Freeform 91"/>
            <p:cNvSpPr>
              <a:spLocks noEditPoints="1"/>
            </p:cNvSpPr>
            <p:nvPr/>
          </p:nvSpPr>
          <p:spPr bwMode="auto">
            <a:xfrm>
              <a:off x="1963"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8" name="Freeform 92"/>
            <p:cNvSpPr>
              <a:spLocks noEditPoints="1"/>
            </p:cNvSpPr>
            <p:nvPr/>
          </p:nvSpPr>
          <p:spPr bwMode="auto">
            <a:xfrm>
              <a:off x="1939"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39" name="Freeform 93"/>
            <p:cNvSpPr>
              <a:spLocks noEditPoints="1"/>
            </p:cNvSpPr>
            <p:nvPr/>
          </p:nvSpPr>
          <p:spPr bwMode="auto">
            <a:xfrm>
              <a:off x="1915"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0" name="Freeform 94"/>
            <p:cNvSpPr>
              <a:spLocks noEditPoints="1"/>
            </p:cNvSpPr>
            <p:nvPr/>
          </p:nvSpPr>
          <p:spPr bwMode="auto">
            <a:xfrm>
              <a:off x="1915"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1" name="Freeform 95"/>
            <p:cNvSpPr>
              <a:spLocks noEditPoints="1"/>
            </p:cNvSpPr>
            <p:nvPr/>
          </p:nvSpPr>
          <p:spPr bwMode="auto">
            <a:xfrm>
              <a:off x="1891"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2" name="Freeform 96"/>
            <p:cNvSpPr>
              <a:spLocks noEditPoints="1"/>
            </p:cNvSpPr>
            <p:nvPr/>
          </p:nvSpPr>
          <p:spPr bwMode="auto">
            <a:xfrm>
              <a:off x="1867"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3" name="Freeform 97"/>
            <p:cNvSpPr>
              <a:spLocks noEditPoints="1"/>
            </p:cNvSpPr>
            <p:nvPr/>
          </p:nvSpPr>
          <p:spPr bwMode="auto">
            <a:xfrm>
              <a:off x="1843"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4" name="Freeform 98"/>
            <p:cNvSpPr>
              <a:spLocks noEditPoints="1"/>
            </p:cNvSpPr>
            <p:nvPr/>
          </p:nvSpPr>
          <p:spPr bwMode="auto">
            <a:xfrm>
              <a:off x="1819"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5" name="Freeform 99"/>
            <p:cNvSpPr>
              <a:spLocks noEditPoints="1"/>
            </p:cNvSpPr>
            <p:nvPr/>
          </p:nvSpPr>
          <p:spPr bwMode="auto">
            <a:xfrm>
              <a:off x="1796" y="1522"/>
              <a:ext cx="23" cy="66"/>
            </a:xfrm>
            <a:custGeom>
              <a:avLst/>
              <a:gdLst>
                <a:gd name="T0" fmla="*/ 23 w 23"/>
                <a:gd name="T1" fmla="*/ 0 h 66"/>
                <a:gd name="T2" fmla="*/ 0 w 23"/>
                <a:gd name="T3" fmla="*/ 66 h 66"/>
                <a:gd name="T4" fmla="*/ 23 w 23"/>
                <a:gd name="T5" fmla="*/ 0 h 66"/>
                <a:gd name="T6" fmla="*/ 23 w 23"/>
                <a:gd name="T7" fmla="*/ 0 h 66"/>
                <a:gd name="T8" fmla="*/ 23 w 23"/>
                <a:gd name="T9" fmla="*/ 0 h 66"/>
                <a:gd name="T10" fmla="*/ 23 w 23"/>
                <a:gd name="T11" fmla="*/ 0 h 66"/>
                <a:gd name="T12" fmla="*/ 23 w 23"/>
                <a:gd name="T13" fmla="*/ 0 h 66"/>
                <a:gd name="T14" fmla="*/ 0 60000 65536"/>
                <a:gd name="T15" fmla="*/ 0 60000 65536"/>
                <a:gd name="T16" fmla="*/ 0 60000 65536"/>
                <a:gd name="T17" fmla="*/ 0 60000 65536"/>
                <a:gd name="T18" fmla="*/ 0 60000 65536"/>
                <a:gd name="T19" fmla="*/ 0 60000 65536"/>
                <a:gd name="T20" fmla="*/ 0 60000 65536"/>
                <a:gd name="T21" fmla="*/ 0 w 23"/>
                <a:gd name="T22" fmla="*/ 0 h 66"/>
                <a:gd name="T23" fmla="*/ 23 w 23"/>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6">
                  <a:moveTo>
                    <a:pt x="23" y="0"/>
                  </a:moveTo>
                  <a:lnTo>
                    <a:pt x="0" y="66"/>
                  </a:lnTo>
                  <a:lnTo>
                    <a:pt x="23" y="0"/>
                  </a:lnTo>
                  <a:close/>
                  <a:moveTo>
                    <a:pt x="23" y="0"/>
                  </a:moveTo>
                  <a:lnTo>
                    <a:pt x="23"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6" name="Freeform 100"/>
            <p:cNvSpPr>
              <a:spLocks noEditPoints="1"/>
            </p:cNvSpPr>
            <p:nvPr/>
          </p:nvSpPr>
          <p:spPr bwMode="auto">
            <a:xfrm>
              <a:off x="1772"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7" name="Freeform 101"/>
            <p:cNvSpPr>
              <a:spLocks noEditPoints="1"/>
            </p:cNvSpPr>
            <p:nvPr/>
          </p:nvSpPr>
          <p:spPr bwMode="auto">
            <a:xfrm>
              <a:off x="1748"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8" name="Freeform 102"/>
            <p:cNvSpPr>
              <a:spLocks noEditPoints="1"/>
            </p:cNvSpPr>
            <p:nvPr/>
          </p:nvSpPr>
          <p:spPr bwMode="auto">
            <a:xfrm>
              <a:off x="1724" y="1456"/>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49" name="Freeform 103"/>
            <p:cNvSpPr>
              <a:spLocks noEditPoints="1"/>
            </p:cNvSpPr>
            <p:nvPr/>
          </p:nvSpPr>
          <p:spPr bwMode="auto">
            <a:xfrm>
              <a:off x="1706" y="1522"/>
              <a:ext cx="18" cy="66"/>
            </a:xfrm>
            <a:custGeom>
              <a:avLst/>
              <a:gdLst>
                <a:gd name="T0" fmla="*/ 18 w 18"/>
                <a:gd name="T1" fmla="*/ 0 h 66"/>
                <a:gd name="T2" fmla="*/ 0 w 18"/>
                <a:gd name="T3" fmla="*/ 66 h 66"/>
                <a:gd name="T4" fmla="*/ 18 w 18"/>
                <a:gd name="T5" fmla="*/ 0 h 66"/>
                <a:gd name="T6" fmla="*/ 18 w 18"/>
                <a:gd name="T7" fmla="*/ 0 h 66"/>
                <a:gd name="T8" fmla="*/ 18 w 18"/>
                <a:gd name="T9" fmla="*/ 0 h 66"/>
                <a:gd name="T10" fmla="*/ 18 w 18"/>
                <a:gd name="T11" fmla="*/ 0 h 66"/>
                <a:gd name="T12" fmla="*/ 18 w 18"/>
                <a:gd name="T13" fmla="*/ 0 h 66"/>
                <a:gd name="T14" fmla="*/ 0 60000 65536"/>
                <a:gd name="T15" fmla="*/ 0 60000 65536"/>
                <a:gd name="T16" fmla="*/ 0 60000 65536"/>
                <a:gd name="T17" fmla="*/ 0 60000 65536"/>
                <a:gd name="T18" fmla="*/ 0 60000 65536"/>
                <a:gd name="T19" fmla="*/ 0 60000 65536"/>
                <a:gd name="T20" fmla="*/ 0 60000 65536"/>
                <a:gd name="T21" fmla="*/ 0 w 18"/>
                <a:gd name="T22" fmla="*/ 0 h 66"/>
                <a:gd name="T23" fmla="*/ 18 w 18"/>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66">
                  <a:moveTo>
                    <a:pt x="18" y="0"/>
                  </a:moveTo>
                  <a:lnTo>
                    <a:pt x="0" y="66"/>
                  </a:lnTo>
                  <a:lnTo>
                    <a:pt x="18" y="0"/>
                  </a:lnTo>
                  <a:close/>
                  <a:moveTo>
                    <a:pt x="18" y="0"/>
                  </a:moveTo>
                  <a:lnTo>
                    <a:pt x="18"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0" name="Freeform 104"/>
            <p:cNvSpPr>
              <a:spLocks noEditPoints="1"/>
            </p:cNvSpPr>
            <p:nvPr/>
          </p:nvSpPr>
          <p:spPr bwMode="auto">
            <a:xfrm>
              <a:off x="1682"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1" name="Freeform 105"/>
            <p:cNvSpPr>
              <a:spLocks noEditPoints="1"/>
            </p:cNvSpPr>
            <p:nvPr/>
          </p:nvSpPr>
          <p:spPr bwMode="auto">
            <a:xfrm>
              <a:off x="1658" y="1456"/>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2" name="Freeform 106"/>
            <p:cNvSpPr>
              <a:spLocks noEditPoints="1"/>
            </p:cNvSpPr>
            <p:nvPr/>
          </p:nvSpPr>
          <p:spPr bwMode="auto">
            <a:xfrm>
              <a:off x="1628" y="1456"/>
              <a:ext cx="30" cy="72"/>
            </a:xfrm>
            <a:custGeom>
              <a:avLst/>
              <a:gdLst>
                <a:gd name="T0" fmla="*/ 30 w 30"/>
                <a:gd name="T1" fmla="*/ 0 h 72"/>
                <a:gd name="T2" fmla="*/ 0 w 30"/>
                <a:gd name="T3" fmla="*/ 72 h 72"/>
                <a:gd name="T4" fmla="*/ 30 w 30"/>
                <a:gd name="T5" fmla="*/ 0 h 72"/>
                <a:gd name="T6" fmla="*/ 30 w 30"/>
                <a:gd name="T7" fmla="*/ 0 h 72"/>
                <a:gd name="T8" fmla="*/ 30 w 30"/>
                <a:gd name="T9" fmla="*/ 0 h 72"/>
                <a:gd name="T10" fmla="*/ 30 w 30"/>
                <a:gd name="T11" fmla="*/ 0 h 72"/>
                <a:gd name="T12" fmla="*/ 30 w 30"/>
                <a:gd name="T13" fmla="*/ 0 h 72"/>
                <a:gd name="T14" fmla="*/ 0 60000 65536"/>
                <a:gd name="T15" fmla="*/ 0 60000 65536"/>
                <a:gd name="T16" fmla="*/ 0 60000 65536"/>
                <a:gd name="T17" fmla="*/ 0 60000 65536"/>
                <a:gd name="T18" fmla="*/ 0 60000 65536"/>
                <a:gd name="T19" fmla="*/ 0 60000 65536"/>
                <a:gd name="T20" fmla="*/ 0 60000 65536"/>
                <a:gd name="T21" fmla="*/ 0 w 30"/>
                <a:gd name="T22" fmla="*/ 0 h 72"/>
                <a:gd name="T23" fmla="*/ 30 w 30"/>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2">
                  <a:moveTo>
                    <a:pt x="30" y="0"/>
                  </a:moveTo>
                  <a:lnTo>
                    <a:pt x="0" y="72"/>
                  </a:lnTo>
                  <a:lnTo>
                    <a:pt x="30" y="0"/>
                  </a:lnTo>
                  <a:close/>
                  <a:moveTo>
                    <a:pt x="30" y="0"/>
                  </a:moveTo>
                  <a:lnTo>
                    <a:pt x="3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3" name="Freeform 107"/>
            <p:cNvSpPr/>
            <p:nvPr/>
          </p:nvSpPr>
          <p:spPr bwMode="auto">
            <a:xfrm>
              <a:off x="2507" y="2137"/>
              <a:ext cx="48" cy="424"/>
            </a:xfrm>
            <a:custGeom>
              <a:avLst/>
              <a:gdLst>
                <a:gd name="T0" fmla="*/ 0 w 48"/>
                <a:gd name="T1" fmla="*/ 0 h 424"/>
                <a:gd name="T2" fmla="*/ 48 w 48"/>
                <a:gd name="T3" fmla="*/ 0 h 424"/>
                <a:gd name="T4" fmla="*/ 48 w 48"/>
                <a:gd name="T5" fmla="*/ 424 h 424"/>
                <a:gd name="T6" fmla="*/ 0 w 48"/>
                <a:gd name="T7" fmla="*/ 424 h 424"/>
                <a:gd name="T8" fmla="*/ 0 w 48"/>
                <a:gd name="T9" fmla="*/ 0 h 424"/>
                <a:gd name="T10" fmla="*/ 0 w 48"/>
                <a:gd name="T11" fmla="*/ 0 h 424"/>
                <a:gd name="T12" fmla="*/ 0 60000 65536"/>
                <a:gd name="T13" fmla="*/ 0 60000 65536"/>
                <a:gd name="T14" fmla="*/ 0 60000 65536"/>
                <a:gd name="T15" fmla="*/ 0 60000 65536"/>
                <a:gd name="T16" fmla="*/ 0 60000 65536"/>
                <a:gd name="T17" fmla="*/ 0 60000 65536"/>
                <a:gd name="T18" fmla="*/ 0 w 48"/>
                <a:gd name="T19" fmla="*/ 0 h 424"/>
                <a:gd name="T20" fmla="*/ 48 w 48"/>
                <a:gd name="T21" fmla="*/ 424 h 424"/>
              </a:gdLst>
              <a:ahLst/>
              <a:cxnLst>
                <a:cxn ang="T12">
                  <a:pos x="T0" y="T1"/>
                </a:cxn>
                <a:cxn ang="T13">
                  <a:pos x="T2" y="T3"/>
                </a:cxn>
                <a:cxn ang="T14">
                  <a:pos x="T4" y="T5"/>
                </a:cxn>
                <a:cxn ang="T15">
                  <a:pos x="T6" y="T7"/>
                </a:cxn>
                <a:cxn ang="T16">
                  <a:pos x="T8" y="T9"/>
                </a:cxn>
                <a:cxn ang="T17">
                  <a:pos x="T10" y="T11"/>
                </a:cxn>
              </a:cxnLst>
              <a:rect l="T18" t="T19" r="T20" b="T21"/>
              <a:pathLst>
                <a:path w="48" h="424">
                  <a:moveTo>
                    <a:pt x="0" y="0"/>
                  </a:moveTo>
                  <a:lnTo>
                    <a:pt x="48" y="0"/>
                  </a:lnTo>
                  <a:lnTo>
                    <a:pt x="48" y="424"/>
                  </a:lnTo>
                  <a:lnTo>
                    <a:pt x="0" y="424"/>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4" name="Freeform 108"/>
            <p:cNvSpPr/>
            <p:nvPr/>
          </p:nvSpPr>
          <p:spPr bwMode="auto">
            <a:xfrm>
              <a:off x="2477" y="2537"/>
              <a:ext cx="60" cy="30"/>
            </a:xfrm>
            <a:custGeom>
              <a:avLst/>
              <a:gdLst>
                <a:gd name="T0" fmla="*/ 60 w 60"/>
                <a:gd name="T1" fmla="*/ 30 h 30"/>
                <a:gd name="T2" fmla="*/ 0 w 60"/>
                <a:gd name="T3" fmla="*/ 0 h 30"/>
                <a:gd name="T4" fmla="*/ 60 w 60"/>
                <a:gd name="T5" fmla="*/ 30 h 30"/>
                <a:gd name="T6" fmla="*/ 60 w 60"/>
                <a:gd name="T7" fmla="*/ 30 h 30"/>
                <a:gd name="T8" fmla="*/ 0 60000 65536"/>
                <a:gd name="T9" fmla="*/ 0 60000 65536"/>
                <a:gd name="T10" fmla="*/ 0 60000 65536"/>
                <a:gd name="T11" fmla="*/ 0 60000 65536"/>
                <a:gd name="T12" fmla="*/ 0 w 60"/>
                <a:gd name="T13" fmla="*/ 0 h 30"/>
                <a:gd name="T14" fmla="*/ 60 w 60"/>
                <a:gd name="T15" fmla="*/ 30 h 30"/>
              </a:gdLst>
              <a:ahLst/>
              <a:cxnLst>
                <a:cxn ang="T8">
                  <a:pos x="T0" y="T1"/>
                </a:cxn>
                <a:cxn ang="T9">
                  <a:pos x="T2" y="T3"/>
                </a:cxn>
                <a:cxn ang="T10">
                  <a:pos x="T4" y="T5"/>
                </a:cxn>
                <a:cxn ang="T11">
                  <a:pos x="T6" y="T7"/>
                </a:cxn>
              </a:cxnLst>
              <a:rect l="T12" t="T13" r="T14" b="T15"/>
              <a:pathLst>
                <a:path w="60" h="30">
                  <a:moveTo>
                    <a:pt x="60" y="30"/>
                  </a:moveTo>
                  <a:lnTo>
                    <a:pt x="0" y="0"/>
                  </a:ln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5" name="Freeform 109"/>
            <p:cNvSpPr>
              <a:spLocks noEditPoints="1"/>
            </p:cNvSpPr>
            <p:nvPr/>
          </p:nvSpPr>
          <p:spPr bwMode="auto">
            <a:xfrm>
              <a:off x="2477" y="2513"/>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6" name="Freeform 110"/>
            <p:cNvSpPr>
              <a:spLocks noEditPoints="1"/>
            </p:cNvSpPr>
            <p:nvPr/>
          </p:nvSpPr>
          <p:spPr bwMode="auto">
            <a:xfrm>
              <a:off x="2537" y="2483"/>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7" name="Freeform 111"/>
            <p:cNvSpPr>
              <a:spLocks noEditPoints="1"/>
            </p:cNvSpPr>
            <p:nvPr/>
          </p:nvSpPr>
          <p:spPr bwMode="auto">
            <a:xfrm>
              <a:off x="2537" y="2460"/>
              <a:ext cx="54" cy="23"/>
            </a:xfrm>
            <a:custGeom>
              <a:avLst/>
              <a:gdLst>
                <a:gd name="T0" fmla="*/ 54 w 54"/>
                <a:gd name="T1" fmla="*/ 23 h 23"/>
                <a:gd name="T2" fmla="*/ 0 w 54"/>
                <a:gd name="T3" fmla="*/ 0 h 23"/>
                <a:gd name="T4" fmla="*/ 54 w 54"/>
                <a:gd name="T5" fmla="*/ 23 h 23"/>
                <a:gd name="T6" fmla="*/ 54 w 54"/>
                <a:gd name="T7" fmla="*/ 23 h 23"/>
                <a:gd name="T8" fmla="*/ 54 w 54"/>
                <a:gd name="T9" fmla="*/ 23 h 23"/>
                <a:gd name="T10" fmla="*/ 54 w 54"/>
                <a:gd name="T11" fmla="*/ 23 h 23"/>
                <a:gd name="T12" fmla="*/ 54 w 54"/>
                <a:gd name="T13" fmla="*/ 23 h 23"/>
                <a:gd name="T14" fmla="*/ 0 60000 65536"/>
                <a:gd name="T15" fmla="*/ 0 60000 65536"/>
                <a:gd name="T16" fmla="*/ 0 60000 65536"/>
                <a:gd name="T17" fmla="*/ 0 60000 65536"/>
                <a:gd name="T18" fmla="*/ 0 60000 65536"/>
                <a:gd name="T19" fmla="*/ 0 60000 65536"/>
                <a:gd name="T20" fmla="*/ 0 60000 65536"/>
                <a:gd name="T21" fmla="*/ 0 w 54"/>
                <a:gd name="T22" fmla="*/ 0 h 23"/>
                <a:gd name="T23" fmla="*/ 54 w 5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3">
                  <a:moveTo>
                    <a:pt x="54" y="23"/>
                  </a:moveTo>
                  <a:lnTo>
                    <a:pt x="0" y="0"/>
                  </a:lnTo>
                  <a:lnTo>
                    <a:pt x="54" y="23"/>
                  </a:lnTo>
                  <a:close/>
                  <a:moveTo>
                    <a:pt x="54" y="23"/>
                  </a:moveTo>
                  <a:lnTo>
                    <a:pt x="54"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8" name="Freeform 112"/>
            <p:cNvSpPr>
              <a:spLocks noEditPoints="1"/>
            </p:cNvSpPr>
            <p:nvPr/>
          </p:nvSpPr>
          <p:spPr bwMode="auto">
            <a:xfrm>
              <a:off x="2537"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59" name="Freeform 113"/>
            <p:cNvSpPr>
              <a:spLocks noEditPoints="1"/>
            </p:cNvSpPr>
            <p:nvPr/>
          </p:nvSpPr>
          <p:spPr bwMode="auto">
            <a:xfrm>
              <a:off x="2477" y="2430"/>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0" name="Freeform 114"/>
            <p:cNvSpPr>
              <a:spLocks noEditPoints="1"/>
            </p:cNvSpPr>
            <p:nvPr/>
          </p:nvSpPr>
          <p:spPr bwMode="auto">
            <a:xfrm>
              <a:off x="2477" y="2406"/>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1" name="Freeform 115"/>
            <p:cNvSpPr>
              <a:spLocks noEditPoints="1"/>
            </p:cNvSpPr>
            <p:nvPr/>
          </p:nvSpPr>
          <p:spPr bwMode="auto">
            <a:xfrm>
              <a:off x="2537" y="237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2" name="Freeform 116"/>
            <p:cNvSpPr>
              <a:spLocks noEditPoints="1"/>
            </p:cNvSpPr>
            <p:nvPr/>
          </p:nvSpPr>
          <p:spPr bwMode="auto">
            <a:xfrm>
              <a:off x="2537" y="2352"/>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3" name="Freeform 117"/>
            <p:cNvSpPr>
              <a:spLocks noEditPoints="1"/>
            </p:cNvSpPr>
            <p:nvPr/>
          </p:nvSpPr>
          <p:spPr bwMode="auto">
            <a:xfrm>
              <a:off x="2477" y="2322"/>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4" name="Freeform 118"/>
            <p:cNvSpPr>
              <a:spLocks noEditPoints="1"/>
            </p:cNvSpPr>
            <p:nvPr/>
          </p:nvSpPr>
          <p:spPr bwMode="auto">
            <a:xfrm>
              <a:off x="2477" y="2292"/>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5" name="Freeform 119"/>
            <p:cNvSpPr>
              <a:spLocks noEditPoints="1"/>
            </p:cNvSpPr>
            <p:nvPr/>
          </p:nvSpPr>
          <p:spPr bwMode="auto">
            <a:xfrm>
              <a:off x="2537" y="2268"/>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6" name="Freeform 120"/>
            <p:cNvSpPr>
              <a:spLocks noEditPoints="1"/>
            </p:cNvSpPr>
            <p:nvPr/>
          </p:nvSpPr>
          <p:spPr bwMode="auto">
            <a:xfrm>
              <a:off x="2537" y="2239"/>
              <a:ext cx="54" cy="29"/>
            </a:xfrm>
            <a:custGeom>
              <a:avLst/>
              <a:gdLst>
                <a:gd name="T0" fmla="*/ 54 w 54"/>
                <a:gd name="T1" fmla="*/ 29 h 29"/>
                <a:gd name="T2" fmla="*/ 0 w 54"/>
                <a:gd name="T3" fmla="*/ 0 h 29"/>
                <a:gd name="T4" fmla="*/ 54 w 54"/>
                <a:gd name="T5" fmla="*/ 29 h 29"/>
                <a:gd name="T6" fmla="*/ 54 w 54"/>
                <a:gd name="T7" fmla="*/ 29 h 29"/>
                <a:gd name="T8" fmla="*/ 54 w 54"/>
                <a:gd name="T9" fmla="*/ 29 h 29"/>
                <a:gd name="T10" fmla="*/ 54 w 54"/>
                <a:gd name="T11" fmla="*/ 29 h 29"/>
                <a:gd name="T12" fmla="*/ 54 w 54"/>
                <a:gd name="T13" fmla="*/ 29 h 29"/>
                <a:gd name="T14" fmla="*/ 0 60000 65536"/>
                <a:gd name="T15" fmla="*/ 0 60000 65536"/>
                <a:gd name="T16" fmla="*/ 0 60000 65536"/>
                <a:gd name="T17" fmla="*/ 0 60000 65536"/>
                <a:gd name="T18" fmla="*/ 0 60000 65536"/>
                <a:gd name="T19" fmla="*/ 0 60000 65536"/>
                <a:gd name="T20" fmla="*/ 0 60000 65536"/>
                <a:gd name="T21" fmla="*/ 0 w 54"/>
                <a:gd name="T22" fmla="*/ 0 h 29"/>
                <a:gd name="T23" fmla="*/ 54 w 5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9">
                  <a:moveTo>
                    <a:pt x="54" y="29"/>
                  </a:moveTo>
                  <a:lnTo>
                    <a:pt x="0" y="0"/>
                  </a:lnTo>
                  <a:lnTo>
                    <a:pt x="54" y="29"/>
                  </a:lnTo>
                  <a:close/>
                  <a:moveTo>
                    <a:pt x="54" y="29"/>
                  </a:moveTo>
                  <a:lnTo>
                    <a:pt x="54"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7" name="Freeform 121"/>
            <p:cNvSpPr>
              <a:spLocks noEditPoints="1"/>
            </p:cNvSpPr>
            <p:nvPr/>
          </p:nvSpPr>
          <p:spPr bwMode="auto">
            <a:xfrm>
              <a:off x="2477" y="2215"/>
              <a:ext cx="60" cy="24"/>
            </a:xfrm>
            <a:custGeom>
              <a:avLst/>
              <a:gdLst>
                <a:gd name="T0" fmla="*/ 60 w 60"/>
                <a:gd name="T1" fmla="*/ 24 h 24"/>
                <a:gd name="T2" fmla="*/ 0 w 60"/>
                <a:gd name="T3" fmla="*/ 0 h 24"/>
                <a:gd name="T4" fmla="*/ 60 w 60"/>
                <a:gd name="T5" fmla="*/ 24 h 24"/>
                <a:gd name="T6" fmla="*/ 60 w 60"/>
                <a:gd name="T7" fmla="*/ 24 h 24"/>
                <a:gd name="T8" fmla="*/ 60 w 60"/>
                <a:gd name="T9" fmla="*/ 24 h 24"/>
                <a:gd name="T10" fmla="*/ 60 w 60"/>
                <a:gd name="T11" fmla="*/ 24 h 24"/>
                <a:gd name="T12" fmla="*/ 6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60" y="24"/>
                  </a:moveTo>
                  <a:lnTo>
                    <a:pt x="0" y="0"/>
                  </a:lnTo>
                  <a:lnTo>
                    <a:pt x="60" y="24"/>
                  </a:lnTo>
                  <a:close/>
                  <a:moveTo>
                    <a:pt x="60" y="24"/>
                  </a:moveTo>
                  <a:lnTo>
                    <a:pt x="6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8" name="Freeform 122"/>
            <p:cNvSpPr>
              <a:spLocks noEditPoints="1"/>
            </p:cNvSpPr>
            <p:nvPr/>
          </p:nvSpPr>
          <p:spPr bwMode="auto">
            <a:xfrm>
              <a:off x="2477" y="2185"/>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69" name="Freeform 123"/>
            <p:cNvSpPr>
              <a:spLocks noEditPoints="1"/>
            </p:cNvSpPr>
            <p:nvPr/>
          </p:nvSpPr>
          <p:spPr bwMode="auto">
            <a:xfrm>
              <a:off x="2537" y="2161"/>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0" name="Freeform 124"/>
            <p:cNvSpPr>
              <a:spLocks noEditPoints="1"/>
            </p:cNvSpPr>
            <p:nvPr/>
          </p:nvSpPr>
          <p:spPr bwMode="auto">
            <a:xfrm>
              <a:off x="2531"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1" name="Freeform 125"/>
            <p:cNvSpPr/>
            <p:nvPr/>
          </p:nvSpPr>
          <p:spPr bwMode="auto">
            <a:xfrm>
              <a:off x="3972" y="2137"/>
              <a:ext cx="48" cy="424"/>
            </a:xfrm>
            <a:custGeom>
              <a:avLst/>
              <a:gdLst>
                <a:gd name="T0" fmla="*/ 0 w 48"/>
                <a:gd name="T1" fmla="*/ 0 h 424"/>
                <a:gd name="T2" fmla="*/ 48 w 48"/>
                <a:gd name="T3" fmla="*/ 0 h 424"/>
                <a:gd name="T4" fmla="*/ 48 w 48"/>
                <a:gd name="T5" fmla="*/ 424 h 424"/>
                <a:gd name="T6" fmla="*/ 0 w 48"/>
                <a:gd name="T7" fmla="*/ 424 h 424"/>
                <a:gd name="T8" fmla="*/ 0 w 48"/>
                <a:gd name="T9" fmla="*/ 0 h 424"/>
                <a:gd name="T10" fmla="*/ 0 w 48"/>
                <a:gd name="T11" fmla="*/ 0 h 424"/>
                <a:gd name="T12" fmla="*/ 0 60000 65536"/>
                <a:gd name="T13" fmla="*/ 0 60000 65536"/>
                <a:gd name="T14" fmla="*/ 0 60000 65536"/>
                <a:gd name="T15" fmla="*/ 0 60000 65536"/>
                <a:gd name="T16" fmla="*/ 0 60000 65536"/>
                <a:gd name="T17" fmla="*/ 0 60000 65536"/>
                <a:gd name="T18" fmla="*/ 0 w 48"/>
                <a:gd name="T19" fmla="*/ 0 h 424"/>
                <a:gd name="T20" fmla="*/ 48 w 48"/>
                <a:gd name="T21" fmla="*/ 424 h 424"/>
              </a:gdLst>
              <a:ahLst/>
              <a:cxnLst>
                <a:cxn ang="T12">
                  <a:pos x="T0" y="T1"/>
                </a:cxn>
                <a:cxn ang="T13">
                  <a:pos x="T2" y="T3"/>
                </a:cxn>
                <a:cxn ang="T14">
                  <a:pos x="T4" y="T5"/>
                </a:cxn>
                <a:cxn ang="T15">
                  <a:pos x="T6" y="T7"/>
                </a:cxn>
                <a:cxn ang="T16">
                  <a:pos x="T8" y="T9"/>
                </a:cxn>
                <a:cxn ang="T17">
                  <a:pos x="T10" y="T11"/>
                </a:cxn>
              </a:cxnLst>
              <a:rect l="T18" t="T19" r="T20" b="T21"/>
              <a:pathLst>
                <a:path w="48" h="424">
                  <a:moveTo>
                    <a:pt x="0" y="0"/>
                  </a:moveTo>
                  <a:lnTo>
                    <a:pt x="48" y="0"/>
                  </a:lnTo>
                  <a:lnTo>
                    <a:pt x="48" y="424"/>
                  </a:lnTo>
                  <a:lnTo>
                    <a:pt x="0" y="424"/>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2" name="Freeform 126"/>
            <p:cNvSpPr/>
            <p:nvPr/>
          </p:nvSpPr>
          <p:spPr bwMode="auto">
            <a:xfrm>
              <a:off x="3943" y="2543"/>
              <a:ext cx="59" cy="24"/>
            </a:xfrm>
            <a:custGeom>
              <a:avLst/>
              <a:gdLst>
                <a:gd name="T0" fmla="*/ 59 w 59"/>
                <a:gd name="T1" fmla="*/ 24 h 24"/>
                <a:gd name="T2" fmla="*/ 0 w 59"/>
                <a:gd name="T3" fmla="*/ 0 h 24"/>
                <a:gd name="T4" fmla="*/ 59 w 59"/>
                <a:gd name="T5" fmla="*/ 24 h 24"/>
                <a:gd name="T6" fmla="*/ 59 w 59"/>
                <a:gd name="T7" fmla="*/ 24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59" y="24"/>
                  </a:moveTo>
                  <a:lnTo>
                    <a:pt x="0" y="0"/>
                  </a:lnTo>
                  <a:lnTo>
                    <a:pt x="59"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3" name="Freeform 127"/>
            <p:cNvSpPr>
              <a:spLocks noEditPoints="1"/>
            </p:cNvSpPr>
            <p:nvPr/>
          </p:nvSpPr>
          <p:spPr bwMode="auto">
            <a:xfrm>
              <a:off x="3943" y="2513"/>
              <a:ext cx="59" cy="30"/>
            </a:xfrm>
            <a:custGeom>
              <a:avLst/>
              <a:gdLst>
                <a:gd name="T0" fmla="*/ 0 w 59"/>
                <a:gd name="T1" fmla="*/ 30 h 30"/>
                <a:gd name="T2" fmla="*/ 59 w 59"/>
                <a:gd name="T3" fmla="*/ 0 h 30"/>
                <a:gd name="T4" fmla="*/ 0 w 59"/>
                <a:gd name="T5" fmla="*/ 30 h 30"/>
                <a:gd name="T6" fmla="*/ 0 w 59"/>
                <a:gd name="T7" fmla="*/ 30 h 30"/>
                <a:gd name="T8" fmla="*/ 0 w 59"/>
                <a:gd name="T9" fmla="*/ 30 h 30"/>
                <a:gd name="T10" fmla="*/ 0 w 59"/>
                <a:gd name="T11" fmla="*/ 30 h 30"/>
                <a:gd name="T12" fmla="*/ 0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0" y="30"/>
                  </a:moveTo>
                  <a:lnTo>
                    <a:pt x="59"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4" name="Freeform 128"/>
            <p:cNvSpPr>
              <a:spLocks noEditPoints="1"/>
            </p:cNvSpPr>
            <p:nvPr/>
          </p:nvSpPr>
          <p:spPr bwMode="auto">
            <a:xfrm>
              <a:off x="4002" y="2489"/>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5" name="Freeform 129"/>
            <p:cNvSpPr>
              <a:spLocks noEditPoints="1"/>
            </p:cNvSpPr>
            <p:nvPr/>
          </p:nvSpPr>
          <p:spPr bwMode="auto">
            <a:xfrm>
              <a:off x="4002" y="2460"/>
              <a:ext cx="54" cy="29"/>
            </a:xfrm>
            <a:custGeom>
              <a:avLst/>
              <a:gdLst>
                <a:gd name="T0" fmla="*/ 54 w 54"/>
                <a:gd name="T1" fmla="*/ 29 h 29"/>
                <a:gd name="T2" fmla="*/ 0 w 54"/>
                <a:gd name="T3" fmla="*/ 0 h 29"/>
                <a:gd name="T4" fmla="*/ 54 w 54"/>
                <a:gd name="T5" fmla="*/ 29 h 29"/>
                <a:gd name="T6" fmla="*/ 54 w 54"/>
                <a:gd name="T7" fmla="*/ 29 h 29"/>
                <a:gd name="T8" fmla="*/ 54 w 54"/>
                <a:gd name="T9" fmla="*/ 29 h 29"/>
                <a:gd name="T10" fmla="*/ 54 w 54"/>
                <a:gd name="T11" fmla="*/ 29 h 29"/>
                <a:gd name="T12" fmla="*/ 54 w 54"/>
                <a:gd name="T13" fmla="*/ 29 h 29"/>
                <a:gd name="T14" fmla="*/ 0 60000 65536"/>
                <a:gd name="T15" fmla="*/ 0 60000 65536"/>
                <a:gd name="T16" fmla="*/ 0 60000 65536"/>
                <a:gd name="T17" fmla="*/ 0 60000 65536"/>
                <a:gd name="T18" fmla="*/ 0 60000 65536"/>
                <a:gd name="T19" fmla="*/ 0 60000 65536"/>
                <a:gd name="T20" fmla="*/ 0 60000 65536"/>
                <a:gd name="T21" fmla="*/ 0 w 54"/>
                <a:gd name="T22" fmla="*/ 0 h 29"/>
                <a:gd name="T23" fmla="*/ 54 w 5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9">
                  <a:moveTo>
                    <a:pt x="54" y="29"/>
                  </a:moveTo>
                  <a:lnTo>
                    <a:pt x="0" y="0"/>
                  </a:lnTo>
                  <a:lnTo>
                    <a:pt x="54" y="29"/>
                  </a:lnTo>
                  <a:close/>
                  <a:moveTo>
                    <a:pt x="54" y="29"/>
                  </a:moveTo>
                  <a:lnTo>
                    <a:pt x="54"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6" name="Freeform 130"/>
            <p:cNvSpPr>
              <a:spLocks noEditPoints="1"/>
            </p:cNvSpPr>
            <p:nvPr/>
          </p:nvSpPr>
          <p:spPr bwMode="auto">
            <a:xfrm>
              <a:off x="4002"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7" name="Freeform 131"/>
            <p:cNvSpPr>
              <a:spLocks noEditPoints="1"/>
            </p:cNvSpPr>
            <p:nvPr/>
          </p:nvSpPr>
          <p:spPr bwMode="auto">
            <a:xfrm>
              <a:off x="3943" y="2436"/>
              <a:ext cx="59" cy="24"/>
            </a:xfrm>
            <a:custGeom>
              <a:avLst/>
              <a:gdLst>
                <a:gd name="T0" fmla="*/ 59 w 59"/>
                <a:gd name="T1" fmla="*/ 24 h 24"/>
                <a:gd name="T2" fmla="*/ 0 w 59"/>
                <a:gd name="T3" fmla="*/ 0 h 24"/>
                <a:gd name="T4" fmla="*/ 59 w 59"/>
                <a:gd name="T5" fmla="*/ 24 h 24"/>
                <a:gd name="T6" fmla="*/ 59 w 59"/>
                <a:gd name="T7" fmla="*/ 24 h 24"/>
                <a:gd name="T8" fmla="*/ 59 w 59"/>
                <a:gd name="T9" fmla="*/ 24 h 24"/>
                <a:gd name="T10" fmla="*/ 59 w 59"/>
                <a:gd name="T11" fmla="*/ 24 h 24"/>
                <a:gd name="T12" fmla="*/ 59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59" y="24"/>
                  </a:moveTo>
                  <a:lnTo>
                    <a:pt x="0" y="0"/>
                  </a:lnTo>
                  <a:lnTo>
                    <a:pt x="59" y="24"/>
                  </a:lnTo>
                  <a:close/>
                  <a:moveTo>
                    <a:pt x="59" y="24"/>
                  </a:moveTo>
                  <a:lnTo>
                    <a:pt x="59"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8" name="Freeform 132"/>
            <p:cNvSpPr>
              <a:spLocks noEditPoints="1"/>
            </p:cNvSpPr>
            <p:nvPr/>
          </p:nvSpPr>
          <p:spPr bwMode="auto">
            <a:xfrm>
              <a:off x="3943" y="2406"/>
              <a:ext cx="59" cy="30"/>
            </a:xfrm>
            <a:custGeom>
              <a:avLst/>
              <a:gdLst>
                <a:gd name="T0" fmla="*/ 0 w 59"/>
                <a:gd name="T1" fmla="*/ 30 h 30"/>
                <a:gd name="T2" fmla="*/ 59 w 59"/>
                <a:gd name="T3" fmla="*/ 0 h 30"/>
                <a:gd name="T4" fmla="*/ 0 w 59"/>
                <a:gd name="T5" fmla="*/ 30 h 30"/>
                <a:gd name="T6" fmla="*/ 0 w 59"/>
                <a:gd name="T7" fmla="*/ 30 h 30"/>
                <a:gd name="T8" fmla="*/ 0 w 59"/>
                <a:gd name="T9" fmla="*/ 30 h 30"/>
                <a:gd name="T10" fmla="*/ 0 w 59"/>
                <a:gd name="T11" fmla="*/ 30 h 30"/>
                <a:gd name="T12" fmla="*/ 0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0" y="30"/>
                  </a:moveTo>
                  <a:lnTo>
                    <a:pt x="59"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79" name="Freeform 133"/>
            <p:cNvSpPr>
              <a:spLocks noEditPoints="1"/>
            </p:cNvSpPr>
            <p:nvPr/>
          </p:nvSpPr>
          <p:spPr bwMode="auto">
            <a:xfrm>
              <a:off x="4002" y="237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0" name="Freeform 134"/>
            <p:cNvSpPr>
              <a:spLocks noEditPoints="1"/>
            </p:cNvSpPr>
            <p:nvPr/>
          </p:nvSpPr>
          <p:spPr bwMode="auto">
            <a:xfrm>
              <a:off x="4002" y="2352"/>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1" name="Freeform 135"/>
            <p:cNvSpPr>
              <a:spLocks noEditPoints="1"/>
            </p:cNvSpPr>
            <p:nvPr/>
          </p:nvSpPr>
          <p:spPr bwMode="auto">
            <a:xfrm>
              <a:off x="3943" y="2322"/>
              <a:ext cx="59" cy="30"/>
            </a:xfrm>
            <a:custGeom>
              <a:avLst/>
              <a:gdLst>
                <a:gd name="T0" fmla="*/ 59 w 59"/>
                <a:gd name="T1" fmla="*/ 30 h 30"/>
                <a:gd name="T2" fmla="*/ 0 w 59"/>
                <a:gd name="T3" fmla="*/ 0 h 30"/>
                <a:gd name="T4" fmla="*/ 59 w 59"/>
                <a:gd name="T5" fmla="*/ 30 h 30"/>
                <a:gd name="T6" fmla="*/ 59 w 59"/>
                <a:gd name="T7" fmla="*/ 30 h 30"/>
                <a:gd name="T8" fmla="*/ 59 w 59"/>
                <a:gd name="T9" fmla="*/ 30 h 30"/>
                <a:gd name="T10" fmla="*/ 59 w 59"/>
                <a:gd name="T11" fmla="*/ 30 h 30"/>
                <a:gd name="T12" fmla="*/ 59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30"/>
                  </a:moveTo>
                  <a:lnTo>
                    <a:pt x="0" y="0"/>
                  </a:lnTo>
                  <a:lnTo>
                    <a:pt x="59" y="30"/>
                  </a:lnTo>
                  <a:close/>
                  <a:moveTo>
                    <a:pt x="59" y="30"/>
                  </a:moveTo>
                  <a:lnTo>
                    <a:pt x="59"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2" name="Freeform 136"/>
            <p:cNvSpPr>
              <a:spLocks noEditPoints="1"/>
            </p:cNvSpPr>
            <p:nvPr/>
          </p:nvSpPr>
          <p:spPr bwMode="auto">
            <a:xfrm>
              <a:off x="3943" y="2298"/>
              <a:ext cx="59" cy="24"/>
            </a:xfrm>
            <a:custGeom>
              <a:avLst/>
              <a:gdLst>
                <a:gd name="T0" fmla="*/ 0 w 59"/>
                <a:gd name="T1" fmla="*/ 24 h 24"/>
                <a:gd name="T2" fmla="*/ 59 w 59"/>
                <a:gd name="T3" fmla="*/ 0 h 24"/>
                <a:gd name="T4" fmla="*/ 0 w 59"/>
                <a:gd name="T5" fmla="*/ 24 h 24"/>
                <a:gd name="T6" fmla="*/ 0 w 59"/>
                <a:gd name="T7" fmla="*/ 24 h 24"/>
                <a:gd name="T8" fmla="*/ 0 w 59"/>
                <a:gd name="T9" fmla="*/ 24 h 24"/>
                <a:gd name="T10" fmla="*/ 0 w 59"/>
                <a:gd name="T11" fmla="*/ 24 h 24"/>
                <a:gd name="T12" fmla="*/ 0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0" y="24"/>
                  </a:moveTo>
                  <a:lnTo>
                    <a:pt x="59"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3" name="Freeform 137"/>
            <p:cNvSpPr>
              <a:spLocks noEditPoints="1"/>
            </p:cNvSpPr>
            <p:nvPr/>
          </p:nvSpPr>
          <p:spPr bwMode="auto">
            <a:xfrm>
              <a:off x="4002" y="2268"/>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4" name="Freeform 138"/>
            <p:cNvSpPr>
              <a:spLocks noEditPoints="1"/>
            </p:cNvSpPr>
            <p:nvPr/>
          </p:nvSpPr>
          <p:spPr bwMode="auto">
            <a:xfrm>
              <a:off x="4002" y="2245"/>
              <a:ext cx="54" cy="23"/>
            </a:xfrm>
            <a:custGeom>
              <a:avLst/>
              <a:gdLst>
                <a:gd name="T0" fmla="*/ 54 w 54"/>
                <a:gd name="T1" fmla="*/ 23 h 23"/>
                <a:gd name="T2" fmla="*/ 0 w 54"/>
                <a:gd name="T3" fmla="*/ 0 h 23"/>
                <a:gd name="T4" fmla="*/ 54 w 54"/>
                <a:gd name="T5" fmla="*/ 23 h 23"/>
                <a:gd name="T6" fmla="*/ 54 w 54"/>
                <a:gd name="T7" fmla="*/ 23 h 23"/>
                <a:gd name="T8" fmla="*/ 54 w 54"/>
                <a:gd name="T9" fmla="*/ 23 h 23"/>
                <a:gd name="T10" fmla="*/ 54 w 54"/>
                <a:gd name="T11" fmla="*/ 23 h 23"/>
                <a:gd name="T12" fmla="*/ 54 w 54"/>
                <a:gd name="T13" fmla="*/ 23 h 23"/>
                <a:gd name="T14" fmla="*/ 0 60000 65536"/>
                <a:gd name="T15" fmla="*/ 0 60000 65536"/>
                <a:gd name="T16" fmla="*/ 0 60000 65536"/>
                <a:gd name="T17" fmla="*/ 0 60000 65536"/>
                <a:gd name="T18" fmla="*/ 0 60000 65536"/>
                <a:gd name="T19" fmla="*/ 0 60000 65536"/>
                <a:gd name="T20" fmla="*/ 0 60000 65536"/>
                <a:gd name="T21" fmla="*/ 0 w 54"/>
                <a:gd name="T22" fmla="*/ 0 h 23"/>
                <a:gd name="T23" fmla="*/ 54 w 5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3">
                  <a:moveTo>
                    <a:pt x="54" y="23"/>
                  </a:moveTo>
                  <a:lnTo>
                    <a:pt x="0" y="0"/>
                  </a:lnTo>
                  <a:lnTo>
                    <a:pt x="54" y="23"/>
                  </a:lnTo>
                  <a:close/>
                  <a:moveTo>
                    <a:pt x="54" y="23"/>
                  </a:moveTo>
                  <a:lnTo>
                    <a:pt x="54"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5" name="Freeform 139"/>
            <p:cNvSpPr>
              <a:spLocks noEditPoints="1"/>
            </p:cNvSpPr>
            <p:nvPr/>
          </p:nvSpPr>
          <p:spPr bwMode="auto">
            <a:xfrm>
              <a:off x="3943" y="2215"/>
              <a:ext cx="59" cy="30"/>
            </a:xfrm>
            <a:custGeom>
              <a:avLst/>
              <a:gdLst>
                <a:gd name="T0" fmla="*/ 59 w 59"/>
                <a:gd name="T1" fmla="*/ 30 h 30"/>
                <a:gd name="T2" fmla="*/ 0 w 59"/>
                <a:gd name="T3" fmla="*/ 0 h 30"/>
                <a:gd name="T4" fmla="*/ 59 w 59"/>
                <a:gd name="T5" fmla="*/ 30 h 30"/>
                <a:gd name="T6" fmla="*/ 59 w 59"/>
                <a:gd name="T7" fmla="*/ 30 h 30"/>
                <a:gd name="T8" fmla="*/ 59 w 59"/>
                <a:gd name="T9" fmla="*/ 30 h 30"/>
                <a:gd name="T10" fmla="*/ 59 w 59"/>
                <a:gd name="T11" fmla="*/ 30 h 30"/>
                <a:gd name="T12" fmla="*/ 59 w 59"/>
                <a:gd name="T13" fmla="*/ 3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30"/>
                  </a:moveTo>
                  <a:lnTo>
                    <a:pt x="0" y="0"/>
                  </a:lnTo>
                  <a:lnTo>
                    <a:pt x="59" y="30"/>
                  </a:lnTo>
                  <a:close/>
                  <a:moveTo>
                    <a:pt x="59" y="30"/>
                  </a:moveTo>
                  <a:lnTo>
                    <a:pt x="59"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6" name="Freeform 140"/>
            <p:cNvSpPr>
              <a:spLocks noEditPoints="1"/>
            </p:cNvSpPr>
            <p:nvPr/>
          </p:nvSpPr>
          <p:spPr bwMode="auto">
            <a:xfrm>
              <a:off x="3943" y="2191"/>
              <a:ext cx="59" cy="24"/>
            </a:xfrm>
            <a:custGeom>
              <a:avLst/>
              <a:gdLst>
                <a:gd name="T0" fmla="*/ 0 w 59"/>
                <a:gd name="T1" fmla="*/ 24 h 24"/>
                <a:gd name="T2" fmla="*/ 59 w 59"/>
                <a:gd name="T3" fmla="*/ 0 h 24"/>
                <a:gd name="T4" fmla="*/ 0 w 59"/>
                <a:gd name="T5" fmla="*/ 24 h 24"/>
                <a:gd name="T6" fmla="*/ 0 w 59"/>
                <a:gd name="T7" fmla="*/ 24 h 24"/>
                <a:gd name="T8" fmla="*/ 0 w 59"/>
                <a:gd name="T9" fmla="*/ 24 h 24"/>
                <a:gd name="T10" fmla="*/ 0 w 59"/>
                <a:gd name="T11" fmla="*/ 24 h 24"/>
                <a:gd name="T12" fmla="*/ 0 w 59"/>
                <a:gd name="T13" fmla="*/ 24 h 24"/>
                <a:gd name="T14" fmla="*/ 0 60000 65536"/>
                <a:gd name="T15" fmla="*/ 0 60000 65536"/>
                <a:gd name="T16" fmla="*/ 0 60000 65536"/>
                <a:gd name="T17" fmla="*/ 0 60000 65536"/>
                <a:gd name="T18" fmla="*/ 0 60000 65536"/>
                <a:gd name="T19" fmla="*/ 0 60000 65536"/>
                <a:gd name="T20" fmla="*/ 0 60000 65536"/>
                <a:gd name="T21" fmla="*/ 0 w 59"/>
                <a:gd name="T22" fmla="*/ 0 h 24"/>
                <a:gd name="T23" fmla="*/ 59 w 59"/>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4">
                  <a:moveTo>
                    <a:pt x="0" y="24"/>
                  </a:moveTo>
                  <a:lnTo>
                    <a:pt x="59"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7" name="Freeform 141"/>
            <p:cNvSpPr>
              <a:spLocks noEditPoints="1"/>
            </p:cNvSpPr>
            <p:nvPr/>
          </p:nvSpPr>
          <p:spPr bwMode="auto">
            <a:xfrm>
              <a:off x="4002" y="2161"/>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8" name="Freeform 142"/>
            <p:cNvSpPr>
              <a:spLocks noEditPoints="1"/>
            </p:cNvSpPr>
            <p:nvPr/>
          </p:nvSpPr>
          <p:spPr bwMode="auto">
            <a:xfrm>
              <a:off x="3996"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89" name="Freeform 143"/>
            <p:cNvSpPr/>
            <p:nvPr/>
          </p:nvSpPr>
          <p:spPr bwMode="auto">
            <a:xfrm>
              <a:off x="5390" y="2137"/>
              <a:ext cx="48" cy="430"/>
            </a:xfrm>
            <a:custGeom>
              <a:avLst/>
              <a:gdLst>
                <a:gd name="T0" fmla="*/ 0 w 48"/>
                <a:gd name="T1" fmla="*/ 0 h 430"/>
                <a:gd name="T2" fmla="*/ 48 w 48"/>
                <a:gd name="T3" fmla="*/ 0 h 430"/>
                <a:gd name="T4" fmla="*/ 48 w 48"/>
                <a:gd name="T5" fmla="*/ 430 h 430"/>
                <a:gd name="T6" fmla="*/ 0 w 48"/>
                <a:gd name="T7" fmla="*/ 430 h 430"/>
                <a:gd name="T8" fmla="*/ 0 w 48"/>
                <a:gd name="T9" fmla="*/ 0 h 430"/>
                <a:gd name="T10" fmla="*/ 0 w 48"/>
                <a:gd name="T11" fmla="*/ 0 h 430"/>
                <a:gd name="T12" fmla="*/ 0 60000 65536"/>
                <a:gd name="T13" fmla="*/ 0 60000 65536"/>
                <a:gd name="T14" fmla="*/ 0 60000 65536"/>
                <a:gd name="T15" fmla="*/ 0 60000 65536"/>
                <a:gd name="T16" fmla="*/ 0 60000 65536"/>
                <a:gd name="T17" fmla="*/ 0 60000 65536"/>
                <a:gd name="T18" fmla="*/ 0 w 48"/>
                <a:gd name="T19" fmla="*/ 0 h 430"/>
                <a:gd name="T20" fmla="*/ 48 w 48"/>
                <a:gd name="T21" fmla="*/ 430 h 430"/>
              </a:gdLst>
              <a:ahLst/>
              <a:cxnLst>
                <a:cxn ang="T12">
                  <a:pos x="T0" y="T1"/>
                </a:cxn>
                <a:cxn ang="T13">
                  <a:pos x="T2" y="T3"/>
                </a:cxn>
                <a:cxn ang="T14">
                  <a:pos x="T4" y="T5"/>
                </a:cxn>
                <a:cxn ang="T15">
                  <a:pos x="T6" y="T7"/>
                </a:cxn>
                <a:cxn ang="T16">
                  <a:pos x="T8" y="T9"/>
                </a:cxn>
                <a:cxn ang="T17">
                  <a:pos x="T10" y="T11"/>
                </a:cxn>
              </a:cxnLst>
              <a:rect l="T18" t="T19" r="T20" b="T21"/>
              <a:pathLst>
                <a:path w="48" h="430">
                  <a:moveTo>
                    <a:pt x="0" y="0"/>
                  </a:moveTo>
                  <a:lnTo>
                    <a:pt x="48" y="0"/>
                  </a:lnTo>
                  <a:lnTo>
                    <a:pt x="48" y="430"/>
                  </a:lnTo>
                  <a:lnTo>
                    <a:pt x="0" y="430"/>
                  </a:lnTo>
                  <a:lnTo>
                    <a:pt x="0" y="0"/>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0" name="Freeform 144"/>
            <p:cNvSpPr/>
            <p:nvPr/>
          </p:nvSpPr>
          <p:spPr bwMode="auto">
            <a:xfrm>
              <a:off x="5360" y="2543"/>
              <a:ext cx="54" cy="30"/>
            </a:xfrm>
            <a:custGeom>
              <a:avLst/>
              <a:gdLst>
                <a:gd name="T0" fmla="*/ 54 w 54"/>
                <a:gd name="T1" fmla="*/ 30 h 30"/>
                <a:gd name="T2" fmla="*/ 0 w 54"/>
                <a:gd name="T3" fmla="*/ 0 h 30"/>
                <a:gd name="T4" fmla="*/ 54 w 54"/>
                <a:gd name="T5" fmla="*/ 30 h 30"/>
                <a:gd name="T6" fmla="*/ 54 w 54"/>
                <a:gd name="T7" fmla="*/ 30 h 30"/>
                <a:gd name="T8" fmla="*/ 0 60000 65536"/>
                <a:gd name="T9" fmla="*/ 0 60000 65536"/>
                <a:gd name="T10" fmla="*/ 0 60000 65536"/>
                <a:gd name="T11" fmla="*/ 0 60000 65536"/>
                <a:gd name="T12" fmla="*/ 0 w 54"/>
                <a:gd name="T13" fmla="*/ 0 h 30"/>
                <a:gd name="T14" fmla="*/ 54 w 54"/>
                <a:gd name="T15" fmla="*/ 30 h 30"/>
              </a:gdLst>
              <a:ahLst/>
              <a:cxnLst>
                <a:cxn ang="T8">
                  <a:pos x="T0" y="T1"/>
                </a:cxn>
                <a:cxn ang="T9">
                  <a:pos x="T2" y="T3"/>
                </a:cxn>
                <a:cxn ang="T10">
                  <a:pos x="T4" y="T5"/>
                </a:cxn>
                <a:cxn ang="T11">
                  <a:pos x="T6" y="T7"/>
                </a:cxn>
              </a:cxnLst>
              <a:rect l="T12" t="T13" r="T14" b="T15"/>
              <a:pathLst>
                <a:path w="54" h="30">
                  <a:moveTo>
                    <a:pt x="54" y="30"/>
                  </a:moveTo>
                  <a:lnTo>
                    <a:pt x="0" y="0"/>
                  </a:ln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1" name="Freeform 145"/>
            <p:cNvSpPr>
              <a:spLocks noEditPoints="1"/>
            </p:cNvSpPr>
            <p:nvPr/>
          </p:nvSpPr>
          <p:spPr bwMode="auto">
            <a:xfrm>
              <a:off x="5360" y="2513"/>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2" name="Freeform 146"/>
            <p:cNvSpPr>
              <a:spLocks noEditPoints="1"/>
            </p:cNvSpPr>
            <p:nvPr/>
          </p:nvSpPr>
          <p:spPr bwMode="auto">
            <a:xfrm>
              <a:off x="5414" y="2489"/>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3" name="Freeform 147"/>
            <p:cNvSpPr>
              <a:spLocks noEditPoints="1"/>
            </p:cNvSpPr>
            <p:nvPr/>
          </p:nvSpPr>
          <p:spPr bwMode="auto">
            <a:xfrm>
              <a:off x="5414" y="2460"/>
              <a:ext cx="60" cy="29"/>
            </a:xfrm>
            <a:custGeom>
              <a:avLst/>
              <a:gdLst>
                <a:gd name="T0" fmla="*/ 60 w 60"/>
                <a:gd name="T1" fmla="*/ 29 h 29"/>
                <a:gd name="T2" fmla="*/ 0 w 60"/>
                <a:gd name="T3" fmla="*/ 0 h 29"/>
                <a:gd name="T4" fmla="*/ 60 w 60"/>
                <a:gd name="T5" fmla="*/ 29 h 29"/>
                <a:gd name="T6" fmla="*/ 60 w 60"/>
                <a:gd name="T7" fmla="*/ 29 h 29"/>
                <a:gd name="T8" fmla="*/ 60 w 60"/>
                <a:gd name="T9" fmla="*/ 29 h 29"/>
                <a:gd name="T10" fmla="*/ 60 w 60"/>
                <a:gd name="T11" fmla="*/ 29 h 29"/>
                <a:gd name="T12" fmla="*/ 60 w 60"/>
                <a:gd name="T13" fmla="*/ 29 h 29"/>
                <a:gd name="T14" fmla="*/ 0 60000 65536"/>
                <a:gd name="T15" fmla="*/ 0 60000 65536"/>
                <a:gd name="T16" fmla="*/ 0 60000 65536"/>
                <a:gd name="T17" fmla="*/ 0 60000 65536"/>
                <a:gd name="T18" fmla="*/ 0 60000 65536"/>
                <a:gd name="T19" fmla="*/ 0 60000 65536"/>
                <a:gd name="T20" fmla="*/ 0 60000 65536"/>
                <a:gd name="T21" fmla="*/ 0 w 60"/>
                <a:gd name="T22" fmla="*/ 0 h 29"/>
                <a:gd name="T23" fmla="*/ 60 w 60"/>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9">
                  <a:moveTo>
                    <a:pt x="60" y="29"/>
                  </a:moveTo>
                  <a:lnTo>
                    <a:pt x="0" y="0"/>
                  </a:lnTo>
                  <a:lnTo>
                    <a:pt x="60" y="29"/>
                  </a:lnTo>
                  <a:close/>
                  <a:moveTo>
                    <a:pt x="60" y="29"/>
                  </a:moveTo>
                  <a:lnTo>
                    <a:pt x="60" y="29"/>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4" name="Freeform 148"/>
            <p:cNvSpPr>
              <a:spLocks noEditPoints="1"/>
            </p:cNvSpPr>
            <p:nvPr/>
          </p:nvSpPr>
          <p:spPr bwMode="auto">
            <a:xfrm>
              <a:off x="5414" y="2460"/>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5" name="Freeform 149"/>
            <p:cNvSpPr>
              <a:spLocks noEditPoints="1"/>
            </p:cNvSpPr>
            <p:nvPr/>
          </p:nvSpPr>
          <p:spPr bwMode="auto">
            <a:xfrm>
              <a:off x="5360" y="2436"/>
              <a:ext cx="54" cy="24"/>
            </a:xfrm>
            <a:custGeom>
              <a:avLst/>
              <a:gdLst>
                <a:gd name="T0" fmla="*/ 54 w 54"/>
                <a:gd name="T1" fmla="*/ 24 h 24"/>
                <a:gd name="T2" fmla="*/ 0 w 54"/>
                <a:gd name="T3" fmla="*/ 0 h 24"/>
                <a:gd name="T4" fmla="*/ 54 w 54"/>
                <a:gd name="T5" fmla="*/ 24 h 24"/>
                <a:gd name="T6" fmla="*/ 54 w 54"/>
                <a:gd name="T7" fmla="*/ 24 h 24"/>
                <a:gd name="T8" fmla="*/ 54 w 54"/>
                <a:gd name="T9" fmla="*/ 24 h 24"/>
                <a:gd name="T10" fmla="*/ 54 w 54"/>
                <a:gd name="T11" fmla="*/ 24 h 24"/>
                <a:gd name="T12" fmla="*/ 54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54" y="24"/>
                  </a:moveTo>
                  <a:lnTo>
                    <a:pt x="0" y="0"/>
                  </a:lnTo>
                  <a:lnTo>
                    <a:pt x="54" y="24"/>
                  </a:lnTo>
                  <a:close/>
                  <a:moveTo>
                    <a:pt x="54" y="24"/>
                  </a:moveTo>
                  <a:lnTo>
                    <a:pt x="54"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6" name="Freeform 150"/>
            <p:cNvSpPr>
              <a:spLocks noEditPoints="1"/>
            </p:cNvSpPr>
            <p:nvPr/>
          </p:nvSpPr>
          <p:spPr bwMode="auto">
            <a:xfrm>
              <a:off x="5360" y="2406"/>
              <a:ext cx="54" cy="30"/>
            </a:xfrm>
            <a:custGeom>
              <a:avLst/>
              <a:gdLst>
                <a:gd name="T0" fmla="*/ 0 w 54"/>
                <a:gd name="T1" fmla="*/ 30 h 30"/>
                <a:gd name="T2" fmla="*/ 54 w 54"/>
                <a:gd name="T3" fmla="*/ 0 h 30"/>
                <a:gd name="T4" fmla="*/ 0 w 54"/>
                <a:gd name="T5" fmla="*/ 30 h 30"/>
                <a:gd name="T6" fmla="*/ 0 w 54"/>
                <a:gd name="T7" fmla="*/ 30 h 30"/>
                <a:gd name="T8" fmla="*/ 0 w 54"/>
                <a:gd name="T9" fmla="*/ 30 h 30"/>
                <a:gd name="T10" fmla="*/ 0 w 54"/>
                <a:gd name="T11" fmla="*/ 30 h 30"/>
                <a:gd name="T12" fmla="*/ 0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0" y="30"/>
                  </a:moveTo>
                  <a:lnTo>
                    <a:pt x="54"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7" name="Freeform 151"/>
            <p:cNvSpPr>
              <a:spLocks noEditPoints="1"/>
            </p:cNvSpPr>
            <p:nvPr/>
          </p:nvSpPr>
          <p:spPr bwMode="auto">
            <a:xfrm>
              <a:off x="5414" y="2382"/>
              <a:ext cx="60" cy="24"/>
            </a:xfrm>
            <a:custGeom>
              <a:avLst/>
              <a:gdLst>
                <a:gd name="T0" fmla="*/ 0 w 60"/>
                <a:gd name="T1" fmla="*/ 24 h 24"/>
                <a:gd name="T2" fmla="*/ 60 w 60"/>
                <a:gd name="T3" fmla="*/ 0 h 24"/>
                <a:gd name="T4" fmla="*/ 0 w 60"/>
                <a:gd name="T5" fmla="*/ 24 h 24"/>
                <a:gd name="T6" fmla="*/ 0 w 60"/>
                <a:gd name="T7" fmla="*/ 24 h 24"/>
                <a:gd name="T8" fmla="*/ 0 w 60"/>
                <a:gd name="T9" fmla="*/ 24 h 24"/>
                <a:gd name="T10" fmla="*/ 0 w 60"/>
                <a:gd name="T11" fmla="*/ 24 h 24"/>
                <a:gd name="T12" fmla="*/ 0 w 60"/>
                <a:gd name="T13" fmla="*/ 24 h 24"/>
                <a:gd name="T14" fmla="*/ 0 60000 65536"/>
                <a:gd name="T15" fmla="*/ 0 60000 65536"/>
                <a:gd name="T16" fmla="*/ 0 60000 65536"/>
                <a:gd name="T17" fmla="*/ 0 60000 65536"/>
                <a:gd name="T18" fmla="*/ 0 60000 65536"/>
                <a:gd name="T19" fmla="*/ 0 60000 65536"/>
                <a:gd name="T20" fmla="*/ 0 60000 65536"/>
                <a:gd name="T21" fmla="*/ 0 w 60"/>
                <a:gd name="T22" fmla="*/ 0 h 24"/>
                <a:gd name="T23" fmla="*/ 60 w 6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4">
                  <a:moveTo>
                    <a:pt x="0" y="24"/>
                  </a:moveTo>
                  <a:lnTo>
                    <a:pt x="60"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8" name="Freeform 152"/>
            <p:cNvSpPr>
              <a:spLocks noEditPoints="1"/>
            </p:cNvSpPr>
            <p:nvPr/>
          </p:nvSpPr>
          <p:spPr bwMode="auto">
            <a:xfrm>
              <a:off x="5414" y="2352"/>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399" name="Freeform 153"/>
            <p:cNvSpPr>
              <a:spLocks noEditPoints="1"/>
            </p:cNvSpPr>
            <p:nvPr/>
          </p:nvSpPr>
          <p:spPr bwMode="auto">
            <a:xfrm>
              <a:off x="5360" y="2322"/>
              <a:ext cx="54" cy="30"/>
            </a:xfrm>
            <a:custGeom>
              <a:avLst/>
              <a:gdLst>
                <a:gd name="T0" fmla="*/ 54 w 54"/>
                <a:gd name="T1" fmla="*/ 30 h 30"/>
                <a:gd name="T2" fmla="*/ 0 w 54"/>
                <a:gd name="T3" fmla="*/ 0 h 30"/>
                <a:gd name="T4" fmla="*/ 54 w 54"/>
                <a:gd name="T5" fmla="*/ 30 h 30"/>
                <a:gd name="T6" fmla="*/ 54 w 54"/>
                <a:gd name="T7" fmla="*/ 30 h 30"/>
                <a:gd name="T8" fmla="*/ 54 w 54"/>
                <a:gd name="T9" fmla="*/ 30 h 30"/>
                <a:gd name="T10" fmla="*/ 54 w 54"/>
                <a:gd name="T11" fmla="*/ 30 h 30"/>
                <a:gd name="T12" fmla="*/ 54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54" y="30"/>
                  </a:moveTo>
                  <a:lnTo>
                    <a:pt x="0" y="0"/>
                  </a:lnTo>
                  <a:lnTo>
                    <a:pt x="54" y="30"/>
                  </a:lnTo>
                  <a:close/>
                  <a:moveTo>
                    <a:pt x="54" y="30"/>
                  </a:move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0" name="Freeform 154"/>
            <p:cNvSpPr>
              <a:spLocks noEditPoints="1"/>
            </p:cNvSpPr>
            <p:nvPr/>
          </p:nvSpPr>
          <p:spPr bwMode="auto">
            <a:xfrm>
              <a:off x="5360" y="2298"/>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1" name="Freeform 155"/>
            <p:cNvSpPr>
              <a:spLocks noEditPoints="1"/>
            </p:cNvSpPr>
            <p:nvPr/>
          </p:nvSpPr>
          <p:spPr bwMode="auto">
            <a:xfrm>
              <a:off x="5414" y="2268"/>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2" name="Freeform 156"/>
            <p:cNvSpPr>
              <a:spLocks noEditPoints="1"/>
            </p:cNvSpPr>
            <p:nvPr/>
          </p:nvSpPr>
          <p:spPr bwMode="auto">
            <a:xfrm>
              <a:off x="5414" y="2245"/>
              <a:ext cx="60" cy="23"/>
            </a:xfrm>
            <a:custGeom>
              <a:avLst/>
              <a:gdLst>
                <a:gd name="T0" fmla="*/ 60 w 60"/>
                <a:gd name="T1" fmla="*/ 23 h 23"/>
                <a:gd name="T2" fmla="*/ 0 w 60"/>
                <a:gd name="T3" fmla="*/ 0 h 23"/>
                <a:gd name="T4" fmla="*/ 60 w 60"/>
                <a:gd name="T5" fmla="*/ 23 h 23"/>
                <a:gd name="T6" fmla="*/ 60 w 60"/>
                <a:gd name="T7" fmla="*/ 23 h 23"/>
                <a:gd name="T8" fmla="*/ 60 w 60"/>
                <a:gd name="T9" fmla="*/ 23 h 23"/>
                <a:gd name="T10" fmla="*/ 60 w 60"/>
                <a:gd name="T11" fmla="*/ 23 h 23"/>
                <a:gd name="T12" fmla="*/ 60 w 60"/>
                <a:gd name="T13" fmla="*/ 23 h 23"/>
                <a:gd name="T14" fmla="*/ 0 60000 65536"/>
                <a:gd name="T15" fmla="*/ 0 60000 65536"/>
                <a:gd name="T16" fmla="*/ 0 60000 65536"/>
                <a:gd name="T17" fmla="*/ 0 60000 65536"/>
                <a:gd name="T18" fmla="*/ 0 60000 65536"/>
                <a:gd name="T19" fmla="*/ 0 60000 65536"/>
                <a:gd name="T20" fmla="*/ 0 60000 65536"/>
                <a:gd name="T21" fmla="*/ 0 w 60"/>
                <a:gd name="T22" fmla="*/ 0 h 23"/>
                <a:gd name="T23" fmla="*/ 60 w 60"/>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23">
                  <a:moveTo>
                    <a:pt x="60" y="23"/>
                  </a:moveTo>
                  <a:lnTo>
                    <a:pt x="0" y="0"/>
                  </a:lnTo>
                  <a:lnTo>
                    <a:pt x="60" y="23"/>
                  </a:lnTo>
                  <a:close/>
                  <a:moveTo>
                    <a:pt x="60" y="23"/>
                  </a:moveTo>
                  <a:lnTo>
                    <a:pt x="60" y="2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3" name="Freeform 157"/>
            <p:cNvSpPr>
              <a:spLocks noEditPoints="1"/>
            </p:cNvSpPr>
            <p:nvPr/>
          </p:nvSpPr>
          <p:spPr bwMode="auto">
            <a:xfrm>
              <a:off x="5360" y="2215"/>
              <a:ext cx="54" cy="30"/>
            </a:xfrm>
            <a:custGeom>
              <a:avLst/>
              <a:gdLst>
                <a:gd name="T0" fmla="*/ 54 w 54"/>
                <a:gd name="T1" fmla="*/ 30 h 30"/>
                <a:gd name="T2" fmla="*/ 0 w 54"/>
                <a:gd name="T3" fmla="*/ 0 h 30"/>
                <a:gd name="T4" fmla="*/ 54 w 54"/>
                <a:gd name="T5" fmla="*/ 30 h 30"/>
                <a:gd name="T6" fmla="*/ 54 w 54"/>
                <a:gd name="T7" fmla="*/ 30 h 30"/>
                <a:gd name="T8" fmla="*/ 54 w 54"/>
                <a:gd name="T9" fmla="*/ 30 h 30"/>
                <a:gd name="T10" fmla="*/ 54 w 54"/>
                <a:gd name="T11" fmla="*/ 30 h 30"/>
                <a:gd name="T12" fmla="*/ 54 w 54"/>
                <a:gd name="T13" fmla="*/ 30 h 30"/>
                <a:gd name="T14" fmla="*/ 0 60000 65536"/>
                <a:gd name="T15" fmla="*/ 0 60000 65536"/>
                <a:gd name="T16" fmla="*/ 0 60000 65536"/>
                <a:gd name="T17" fmla="*/ 0 60000 65536"/>
                <a:gd name="T18" fmla="*/ 0 60000 65536"/>
                <a:gd name="T19" fmla="*/ 0 60000 65536"/>
                <a:gd name="T20" fmla="*/ 0 60000 65536"/>
                <a:gd name="T21" fmla="*/ 0 w 54"/>
                <a:gd name="T22" fmla="*/ 0 h 30"/>
                <a:gd name="T23" fmla="*/ 54 w 5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30">
                  <a:moveTo>
                    <a:pt x="54" y="30"/>
                  </a:moveTo>
                  <a:lnTo>
                    <a:pt x="0" y="0"/>
                  </a:lnTo>
                  <a:lnTo>
                    <a:pt x="54" y="30"/>
                  </a:lnTo>
                  <a:close/>
                  <a:moveTo>
                    <a:pt x="54" y="30"/>
                  </a:moveTo>
                  <a:lnTo>
                    <a:pt x="54"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4" name="Freeform 158"/>
            <p:cNvSpPr>
              <a:spLocks noEditPoints="1"/>
            </p:cNvSpPr>
            <p:nvPr/>
          </p:nvSpPr>
          <p:spPr bwMode="auto">
            <a:xfrm>
              <a:off x="5360" y="2191"/>
              <a:ext cx="54" cy="24"/>
            </a:xfrm>
            <a:custGeom>
              <a:avLst/>
              <a:gdLst>
                <a:gd name="T0" fmla="*/ 0 w 54"/>
                <a:gd name="T1" fmla="*/ 24 h 24"/>
                <a:gd name="T2" fmla="*/ 54 w 54"/>
                <a:gd name="T3" fmla="*/ 0 h 24"/>
                <a:gd name="T4" fmla="*/ 0 w 54"/>
                <a:gd name="T5" fmla="*/ 24 h 24"/>
                <a:gd name="T6" fmla="*/ 0 w 54"/>
                <a:gd name="T7" fmla="*/ 24 h 24"/>
                <a:gd name="T8" fmla="*/ 0 w 54"/>
                <a:gd name="T9" fmla="*/ 24 h 24"/>
                <a:gd name="T10" fmla="*/ 0 w 54"/>
                <a:gd name="T11" fmla="*/ 24 h 24"/>
                <a:gd name="T12" fmla="*/ 0 w 54"/>
                <a:gd name="T13" fmla="*/ 24 h 24"/>
                <a:gd name="T14" fmla="*/ 0 60000 65536"/>
                <a:gd name="T15" fmla="*/ 0 60000 65536"/>
                <a:gd name="T16" fmla="*/ 0 60000 65536"/>
                <a:gd name="T17" fmla="*/ 0 60000 65536"/>
                <a:gd name="T18" fmla="*/ 0 60000 65536"/>
                <a:gd name="T19" fmla="*/ 0 60000 65536"/>
                <a:gd name="T20" fmla="*/ 0 60000 65536"/>
                <a:gd name="T21" fmla="*/ 0 w 54"/>
                <a:gd name="T22" fmla="*/ 0 h 24"/>
                <a:gd name="T23" fmla="*/ 54 w 5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24">
                  <a:moveTo>
                    <a:pt x="0" y="24"/>
                  </a:moveTo>
                  <a:lnTo>
                    <a:pt x="54" y="0"/>
                  </a:lnTo>
                  <a:lnTo>
                    <a:pt x="0" y="24"/>
                  </a:lnTo>
                  <a:close/>
                  <a:moveTo>
                    <a:pt x="0" y="24"/>
                  </a:moveTo>
                  <a:lnTo>
                    <a:pt x="0" y="24"/>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5" name="Freeform 159"/>
            <p:cNvSpPr>
              <a:spLocks noEditPoints="1"/>
            </p:cNvSpPr>
            <p:nvPr/>
          </p:nvSpPr>
          <p:spPr bwMode="auto">
            <a:xfrm>
              <a:off x="5414" y="2161"/>
              <a:ext cx="60" cy="30"/>
            </a:xfrm>
            <a:custGeom>
              <a:avLst/>
              <a:gdLst>
                <a:gd name="T0" fmla="*/ 0 w 60"/>
                <a:gd name="T1" fmla="*/ 30 h 30"/>
                <a:gd name="T2" fmla="*/ 60 w 60"/>
                <a:gd name="T3" fmla="*/ 0 h 30"/>
                <a:gd name="T4" fmla="*/ 0 w 60"/>
                <a:gd name="T5" fmla="*/ 30 h 30"/>
                <a:gd name="T6" fmla="*/ 0 w 60"/>
                <a:gd name="T7" fmla="*/ 30 h 30"/>
                <a:gd name="T8" fmla="*/ 0 w 60"/>
                <a:gd name="T9" fmla="*/ 30 h 30"/>
                <a:gd name="T10" fmla="*/ 0 w 60"/>
                <a:gd name="T11" fmla="*/ 30 h 30"/>
                <a:gd name="T12" fmla="*/ 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0" y="30"/>
                  </a:moveTo>
                  <a:lnTo>
                    <a:pt x="60" y="0"/>
                  </a:lnTo>
                  <a:lnTo>
                    <a:pt x="0" y="30"/>
                  </a:lnTo>
                  <a:close/>
                  <a:moveTo>
                    <a:pt x="0" y="30"/>
                  </a:moveTo>
                  <a:lnTo>
                    <a:pt x="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6" name="Freeform 160"/>
            <p:cNvSpPr>
              <a:spLocks noEditPoints="1"/>
            </p:cNvSpPr>
            <p:nvPr/>
          </p:nvSpPr>
          <p:spPr bwMode="auto">
            <a:xfrm>
              <a:off x="5414" y="2131"/>
              <a:ext cx="60" cy="30"/>
            </a:xfrm>
            <a:custGeom>
              <a:avLst/>
              <a:gdLst>
                <a:gd name="T0" fmla="*/ 60 w 60"/>
                <a:gd name="T1" fmla="*/ 30 h 30"/>
                <a:gd name="T2" fmla="*/ 0 w 60"/>
                <a:gd name="T3" fmla="*/ 0 h 30"/>
                <a:gd name="T4" fmla="*/ 60 w 60"/>
                <a:gd name="T5" fmla="*/ 30 h 30"/>
                <a:gd name="T6" fmla="*/ 60 w 60"/>
                <a:gd name="T7" fmla="*/ 30 h 30"/>
                <a:gd name="T8" fmla="*/ 60 w 60"/>
                <a:gd name="T9" fmla="*/ 30 h 30"/>
                <a:gd name="T10" fmla="*/ 60 w 60"/>
                <a:gd name="T11" fmla="*/ 30 h 30"/>
                <a:gd name="T12" fmla="*/ 60 w 60"/>
                <a:gd name="T13" fmla="*/ 30 h 30"/>
                <a:gd name="T14" fmla="*/ 0 60000 65536"/>
                <a:gd name="T15" fmla="*/ 0 60000 65536"/>
                <a:gd name="T16" fmla="*/ 0 60000 65536"/>
                <a:gd name="T17" fmla="*/ 0 60000 65536"/>
                <a:gd name="T18" fmla="*/ 0 60000 65536"/>
                <a:gd name="T19" fmla="*/ 0 60000 65536"/>
                <a:gd name="T20" fmla="*/ 0 60000 65536"/>
                <a:gd name="T21" fmla="*/ 0 w 60"/>
                <a:gd name="T22" fmla="*/ 0 h 30"/>
                <a:gd name="T23" fmla="*/ 60 w 60"/>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0">
                  <a:moveTo>
                    <a:pt x="60" y="30"/>
                  </a:moveTo>
                  <a:lnTo>
                    <a:pt x="0" y="0"/>
                  </a:lnTo>
                  <a:lnTo>
                    <a:pt x="60" y="30"/>
                  </a:lnTo>
                  <a:close/>
                  <a:moveTo>
                    <a:pt x="60" y="30"/>
                  </a:moveTo>
                  <a:lnTo>
                    <a:pt x="60" y="3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7" name="Freeform 161"/>
            <p:cNvSpPr/>
            <p:nvPr/>
          </p:nvSpPr>
          <p:spPr bwMode="auto">
            <a:xfrm>
              <a:off x="4875" y="1522"/>
              <a:ext cx="24" cy="66"/>
            </a:xfrm>
            <a:custGeom>
              <a:avLst/>
              <a:gdLst>
                <a:gd name="T0" fmla="*/ 24 w 24"/>
                <a:gd name="T1" fmla="*/ 0 h 66"/>
                <a:gd name="T2" fmla="*/ 0 w 24"/>
                <a:gd name="T3" fmla="*/ 66 h 66"/>
                <a:gd name="T4" fmla="*/ 24 w 24"/>
                <a:gd name="T5" fmla="*/ 0 h 66"/>
                <a:gd name="T6" fmla="*/ 24 w 24"/>
                <a:gd name="T7" fmla="*/ 0 h 66"/>
                <a:gd name="T8" fmla="*/ 0 60000 65536"/>
                <a:gd name="T9" fmla="*/ 0 60000 65536"/>
                <a:gd name="T10" fmla="*/ 0 60000 65536"/>
                <a:gd name="T11" fmla="*/ 0 60000 65536"/>
                <a:gd name="T12" fmla="*/ 0 w 24"/>
                <a:gd name="T13" fmla="*/ 0 h 66"/>
                <a:gd name="T14" fmla="*/ 24 w 24"/>
                <a:gd name="T15" fmla="*/ 66 h 66"/>
              </a:gdLst>
              <a:ahLst/>
              <a:cxnLst>
                <a:cxn ang="T8">
                  <a:pos x="T0" y="T1"/>
                </a:cxn>
                <a:cxn ang="T9">
                  <a:pos x="T2" y="T3"/>
                </a:cxn>
                <a:cxn ang="T10">
                  <a:pos x="T4" y="T5"/>
                </a:cxn>
                <a:cxn ang="T11">
                  <a:pos x="T6" y="T7"/>
                </a:cxn>
              </a:cxnLst>
              <a:rect l="T12" t="T13" r="T14" b="T15"/>
              <a:pathLst>
                <a:path w="24" h="66">
                  <a:moveTo>
                    <a:pt x="24" y="0"/>
                  </a:moveTo>
                  <a:lnTo>
                    <a:pt x="0" y="66"/>
                  </a:ln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8" name="Freeform 162"/>
            <p:cNvSpPr>
              <a:spLocks noEditPoints="1"/>
            </p:cNvSpPr>
            <p:nvPr/>
          </p:nvSpPr>
          <p:spPr bwMode="auto">
            <a:xfrm>
              <a:off x="4852" y="1522"/>
              <a:ext cx="23" cy="66"/>
            </a:xfrm>
            <a:custGeom>
              <a:avLst/>
              <a:gdLst>
                <a:gd name="T0" fmla="*/ 23 w 23"/>
                <a:gd name="T1" fmla="*/ 66 h 66"/>
                <a:gd name="T2" fmla="*/ 0 w 23"/>
                <a:gd name="T3" fmla="*/ 0 h 66"/>
                <a:gd name="T4" fmla="*/ 23 w 23"/>
                <a:gd name="T5" fmla="*/ 66 h 66"/>
                <a:gd name="T6" fmla="*/ 23 w 23"/>
                <a:gd name="T7" fmla="*/ 66 h 66"/>
                <a:gd name="T8" fmla="*/ 23 w 23"/>
                <a:gd name="T9" fmla="*/ 66 h 66"/>
                <a:gd name="T10" fmla="*/ 23 w 23"/>
                <a:gd name="T11" fmla="*/ 66 h 66"/>
                <a:gd name="T12" fmla="*/ 23 w 23"/>
                <a:gd name="T13" fmla="*/ 66 h 66"/>
                <a:gd name="T14" fmla="*/ 0 60000 65536"/>
                <a:gd name="T15" fmla="*/ 0 60000 65536"/>
                <a:gd name="T16" fmla="*/ 0 60000 65536"/>
                <a:gd name="T17" fmla="*/ 0 60000 65536"/>
                <a:gd name="T18" fmla="*/ 0 60000 65536"/>
                <a:gd name="T19" fmla="*/ 0 60000 65536"/>
                <a:gd name="T20" fmla="*/ 0 60000 65536"/>
                <a:gd name="T21" fmla="*/ 0 w 23"/>
                <a:gd name="T22" fmla="*/ 0 h 66"/>
                <a:gd name="T23" fmla="*/ 23 w 23"/>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6">
                  <a:moveTo>
                    <a:pt x="23" y="66"/>
                  </a:moveTo>
                  <a:lnTo>
                    <a:pt x="0" y="0"/>
                  </a:lnTo>
                  <a:lnTo>
                    <a:pt x="23" y="66"/>
                  </a:lnTo>
                  <a:close/>
                  <a:moveTo>
                    <a:pt x="23" y="66"/>
                  </a:moveTo>
                  <a:lnTo>
                    <a:pt x="23"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09" name="Freeform 163"/>
            <p:cNvSpPr>
              <a:spLocks noEditPoints="1"/>
            </p:cNvSpPr>
            <p:nvPr/>
          </p:nvSpPr>
          <p:spPr bwMode="auto">
            <a:xfrm>
              <a:off x="4828"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0" name="Freeform 164"/>
            <p:cNvSpPr>
              <a:spLocks noEditPoints="1"/>
            </p:cNvSpPr>
            <p:nvPr/>
          </p:nvSpPr>
          <p:spPr bwMode="auto">
            <a:xfrm>
              <a:off x="4804"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1" name="Freeform 165"/>
            <p:cNvSpPr>
              <a:spLocks noEditPoints="1"/>
            </p:cNvSpPr>
            <p:nvPr/>
          </p:nvSpPr>
          <p:spPr bwMode="auto">
            <a:xfrm>
              <a:off x="4804" y="1522"/>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2" name="Freeform 166"/>
            <p:cNvSpPr>
              <a:spLocks noEditPoints="1"/>
            </p:cNvSpPr>
            <p:nvPr/>
          </p:nvSpPr>
          <p:spPr bwMode="auto">
            <a:xfrm>
              <a:off x="4780" y="1522"/>
              <a:ext cx="24" cy="66"/>
            </a:xfrm>
            <a:custGeom>
              <a:avLst/>
              <a:gdLst>
                <a:gd name="T0" fmla="*/ 24 w 24"/>
                <a:gd name="T1" fmla="*/ 0 h 66"/>
                <a:gd name="T2" fmla="*/ 0 w 24"/>
                <a:gd name="T3" fmla="*/ 66 h 66"/>
                <a:gd name="T4" fmla="*/ 24 w 24"/>
                <a:gd name="T5" fmla="*/ 0 h 66"/>
                <a:gd name="T6" fmla="*/ 24 w 24"/>
                <a:gd name="T7" fmla="*/ 0 h 66"/>
                <a:gd name="T8" fmla="*/ 24 w 24"/>
                <a:gd name="T9" fmla="*/ 0 h 66"/>
                <a:gd name="T10" fmla="*/ 24 w 24"/>
                <a:gd name="T11" fmla="*/ 0 h 66"/>
                <a:gd name="T12" fmla="*/ 24 w 24"/>
                <a:gd name="T13" fmla="*/ 0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0"/>
                  </a:moveTo>
                  <a:lnTo>
                    <a:pt x="0" y="66"/>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3" name="Freeform 167"/>
            <p:cNvSpPr>
              <a:spLocks noEditPoints="1"/>
            </p:cNvSpPr>
            <p:nvPr/>
          </p:nvSpPr>
          <p:spPr bwMode="auto">
            <a:xfrm>
              <a:off x="4756" y="1522"/>
              <a:ext cx="24" cy="66"/>
            </a:xfrm>
            <a:custGeom>
              <a:avLst/>
              <a:gdLst>
                <a:gd name="T0" fmla="*/ 24 w 24"/>
                <a:gd name="T1" fmla="*/ 66 h 66"/>
                <a:gd name="T2" fmla="*/ 0 w 24"/>
                <a:gd name="T3" fmla="*/ 0 h 66"/>
                <a:gd name="T4" fmla="*/ 24 w 24"/>
                <a:gd name="T5" fmla="*/ 66 h 66"/>
                <a:gd name="T6" fmla="*/ 24 w 24"/>
                <a:gd name="T7" fmla="*/ 66 h 66"/>
                <a:gd name="T8" fmla="*/ 24 w 24"/>
                <a:gd name="T9" fmla="*/ 66 h 66"/>
                <a:gd name="T10" fmla="*/ 24 w 24"/>
                <a:gd name="T11" fmla="*/ 66 h 66"/>
                <a:gd name="T12" fmla="*/ 24 w 24"/>
                <a:gd name="T13" fmla="*/ 66 h 66"/>
                <a:gd name="T14" fmla="*/ 0 60000 65536"/>
                <a:gd name="T15" fmla="*/ 0 60000 65536"/>
                <a:gd name="T16" fmla="*/ 0 60000 65536"/>
                <a:gd name="T17" fmla="*/ 0 60000 65536"/>
                <a:gd name="T18" fmla="*/ 0 60000 65536"/>
                <a:gd name="T19" fmla="*/ 0 60000 65536"/>
                <a:gd name="T20" fmla="*/ 0 60000 65536"/>
                <a:gd name="T21" fmla="*/ 0 w 24"/>
                <a:gd name="T22" fmla="*/ 0 h 66"/>
                <a:gd name="T23" fmla="*/ 24 w 24"/>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6">
                  <a:moveTo>
                    <a:pt x="24" y="66"/>
                  </a:moveTo>
                  <a:lnTo>
                    <a:pt x="0" y="0"/>
                  </a:lnTo>
                  <a:lnTo>
                    <a:pt x="24" y="66"/>
                  </a:lnTo>
                  <a:close/>
                  <a:moveTo>
                    <a:pt x="24" y="66"/>
                  </a:moveTo>
                  <a:lnTo>
                    <a:pt x="24" y="66"/>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4" name="Freeform 168"/>
            <p:cNvSpPr>
              <a:spLocks noEditPoints="1"/>
            </p:cNvSpPr>
            <p:nvPr/>
          </p:nvSpPr>
          <p:spPr bwMode="auto">
            <a:xfrm>
              <a:off x="4732" y="1462"/>
              <a:ext cx="24" cy="60"/>
            </a:xfrm>
            <a:custGeom>
              <a:avLst/>
              <a:gdLst>
                <a:gd name="T0" fmla="*/ 24 w 24"/>
                <a:gd name="T1" fmla="*/ 60 h 60"/>
                <a:gd name="T2" fmla="*/ 0 w 24"/>
                <a:gd name="T3" fmla="*/ 0 h 60"/>
                <a:gd name="T4" fmla="*/ 24 w 24"/>
                <a:gd name="T5" fmla="*/ 60 h 60"/>
                <a:gd name="T6" fmla="*/ 24 w 24"/>
                <a:gd name="T7" fmla="*/ 60 h 60"/>
                <a:gd name="T8" fmla="*/ 24 w 24"/>
                <a:gd name="T9" fmla="*/ 60 h 60"/>
                <a:gd name="T10" fmla="*/ 24 w 24"/>
                <a:gd name="T11" fmla="*/ 60 h 60"/>
                <a:gd name="T12" fmla="*/ 24 w 24"/>
                <a:gd name="T13" fmla="*/ 6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60"/>
                  </a:moveTo>
                  <a:lnTo>
                    <a:pt x="0" y="0"/>
                  </a:lnTo>
                  <a:lnTo>
                    <a:pt x="24" y="60"/>
                  </a:lnTo>
                  <a:close/>
                  <a:moveTo>
                    <a:pt x="24" y="60"/>
                  </a:moveTo>
                  <a:lnTo>
                    <a:pt x="24" y="6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0415" name="Freeform 169"/>
            <p:cNvSpPr>
              <a:spLocks noEditPoints="1"/>
            </p:cNvSpPr>
            <p:nvPr/>
          </p:nvSpPr>
          <p:spPr bwMode="auto">
            <a:xfrm>
              <a:off x="4708" y="1462"/>
              <a:ext cx="24" cy="60"/>
            </a:xfrm>
            <a:custGeom>
              <a:avLst/>
              <a:gdLst>
                <a:gd name="T0" fmla="*/ 24 w 24"/>
                <a:gd name="T1" fmla="*/ 0 h 60"/>
                <a:gd name="T2" fmla="*/ 0 w 24"/>
                <a:gd name="T3" fmla="*/ 60 h 60"/>
                <a:gd name="T4" fmla="*/ 24 w 24"/>
                <a:gd name="T5" fmla="*/ 0 h 60"/>
                <a:gd name="T6" fmla="*/ 24 w 24"/>
                <a:gd name="T7" fmla="*/ 0 h 60"/>
                <a:gd name="T8" fmla="*/ 24 w 24"/>
                <a:gd name="T9" fmla="*/ 0 h 60"/>
                <a:gd name="T10" fmla="*/ 24 w 24"/>
                <a:gd name="T11" fmla="*/ 0 h 60"/>
                <a:gd name="T12" fmla="*/ 24 w 24"/>
                <a:gd name="T13" fmla="*/ 0 h 60"/>
                <a:gd name="T14" fmla="*/ 0 60000 65536"/>
                <a:gd name="T15" fmla="*/ 0 60000 65536"/>
                <a:gd name="T16" fmla="*/ 0 60000 65536"/>
                <a:gd name="T17" fmla="*/ 0 60000 65536"/>
                <a:gd name="T18" fmla="*/ 0 60000 65536"/>
                <a:gd name="T19" fmla="*/ 0 60000 65536"/>
                <a:gd name="T20" fmla="*/ 0 60000 65536"/>
                <a:gd name="T21" fmla="*/ 0 w 24"/>
                <a:gd name="T22" fmla="*/ 0 h 60"/>
                <a:gd name="T23" fmla="*/ 24 w 2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60">
                  <a:moveTo>
                    <a:pt x="24" y="0"/>
                  </a:moveTo>
                  <a:lnTo>
                    <a:pt x="0" y="60"/>
                  </a:lnTo>
                  <a:lnTo>
                    <a:pt x="24" y="0"/>
                  </a:lnTo>
                  <a:close/>
                  <a:moveTo>
                    <a:pt x="24" y="0"/>
                  </a:moveTo>
                  <a:lnTo>
                    <a:pt x="24" y="0"/>
                  </a:lnTo>
                  <a:close/>
                </a:path>
              </a:pathLst>
            </a:custGeom>
            <a:solidFill>
              <a:schemeClr val="bg1"/>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3" name="灯片编号占位符 2"/>
          <p:cNvSpPr>
            <a:spLocks noGrp="1"/>
          </p:cNvSpPr>
          <p:nvPr>
            <p:ph type="sldNum" sz="quarter" idx="11"/>
          </p:nvPr>
        </p:nvSpPr>
        <p:spPr/>
        <p:txBody>
          <a:bodyPr/>
          <a:lstStyle/>
          <a:p>
            <a:pPr>
              <a:defRPr/>
            </a:pPr>
            <a:fld id="{B4882483-F3CB-4D5A-8CC8-181CAB4ED700}" type="slidenum">
              <a:rPr lang="en-US" altLang="zh-CN" smtClean="0">
                <a:solidFill>
                  <a:srgbClr val="000000"/>
                </a:solidFill>
              </a:rPr>
              <a:t>12</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13</a:t>
            </a:fld>
            <a:endParaRPr lang="en-US" altLang="zh-CN">
              <a:solidFill>
                <a:srgbClr val="000000"/>
              </a:solidFill>
            </a:endParaRPr>
          </a:p>
        </p:txBody>
      </p:sp>
      <p:pic>
        <p:nvPicPr>
          <p:cNvPr id="5" name="内容占位符 4"/>
          <p:cNvPicPr>
            <a:picLocks noGrp="1" noChangeAspect="1"/>
          </p:cNvPicPr>
          <p:nvPr>
            <p:ph idx="1"/>
          </p:nvPr>
        </p:nvPicPr>
        <p:blipFill>
          <a:blip r:embed="rId2"/>
          <a:stretch>
            <a:fillRect/>
          </a:stretch>
        </p:blipFill>
        <p:spPr>
          <a:xfrm>
            <a:off x="203200" y="981075"/>
            <a:ext cx="8736965" cy="316230"/>
          </a:xfrm>
          <a:prstGeom prst="rect">
            <a:avLst/>
          </a:prstGeom>
        </p:spPr>
      </p:pic>
      <p:pic>
        <p:nvPicPr>
          <p:cNvPr id="6" name="图片 5"/>
          <p:cNvPicPr>
            <a:picLocks noChangeAspect="1"/>
          </p:cNvPicPr>
          <p:nvPr/>
        </p:nvPicPr>
        <p:blipFill>
          <a:blip r:embed="rId3"/>
          <a:stretch>
            <a:fillRect/>
          </a:stretch>
        </p:blipFill>
        <p:spPr>
          <a:xfrm>
            <a:off x="5579745" y="2421255"/>
            <a:ext cx="3360420" cy="1706880"/>
          </a:xfrm>
          <a:prstGeom prst="rect">
            <a:avLst/>
          </a:prstGeom>
        </p:spPr>
      </p:pic>
      <p:sp>
        <p:nvSpPr>
          <p:cNvPr id="8" name="文本框 7"/>
          <p:cNvSpPr txBox="1"/>
          <p:nvPr/>
        </p:nvSpPr>
        <p:spPr>
          <a:xfrm>
            <a:off x="971550" y="2061210"/>
            <a:ext cx="3223895" cy="1753235"/>
          </a:xfrm>
          <a:prstGeom prst="rect">
            <a:avLst/>
          </a:prstGeom>
          <a:noFill/>
        </p:spPr>
        <p:txBody>
          <a:bodyPr wrap="square" rtlCol="0">
            <a:spAutoFit/>
          </a:bodyPr>
          <a:lstStyle/>
          <a:p>
            <a:r>
              <a:rPr lang="zh-CN" altLang="en-US"/>
              <a:t>解：</a:t>
            </a:r>
            <a:r>
              <a:rPr lang="en-US" altLang="zh-CN"/>
              <a:t>I0=1/8A</a:t>
            </a:r>
          </a:p>
          <a:p>
            <a:r>
              <a:rPr lang="en-US" altLang="zh-CN"/>
              <a:t>V1=(12+8)X1/8=20/8 (V)</a:t>
            </a:r>
          </a:p>
          <a:p>
            <a:endParaRPr lang="en-US" altLang="zh-CN"/>
          </a:p>
          <a:p>
            <a:r>
              <a:rPr lang="en-US" altLang="zh-CN"/>
              <a:t>40/(20/8)=16</a:t>
            </a:r>
          </a:p>
          <a:p>
            <a:endParaRPr lang="en-US" altLang="zh-CN"/>
          </a:p>
          <a:p>
            <a:r>
              <a:rPr lang="en-US" altLang="zh-CN"/>
              <a:t>V0=16V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457200"/>
            <a:ext cx="8229600" cy="811213"/>
          </a:xfrm>
        </p:spPr>
        <p:txBody>
          <a:bodyPr/>
          <a:lstStyle/>
          <a:p>
            <a:pPr eaLnBrk="1" hangingPunct="1"/>
            <a:r>
              <a:rPr lang="en-US" altLang="zh-CN" dirty="0">
                <a:solidFill>
                  <a:srgbClr val="0000FF"/>
                </a:solidFill>
                <a:latin typeface="Franklin Gothic Medium" panose="020B0603020102020204" pitchFamily="34" charset="0"/>
              </a:rPr>
              <a:t>4.3  </a:t>
            </a:r>
            <a:r>
              <a:rPr lang="zh-CN" altLang="en-US" sz="4000" b="1" dirty="0">
                <a:solidFill>
                  <a:srgbClr val="0000FF"/>
                </a:solidFill>
                <a:latin typeface="Franklin Gothic Medium" panose="020B0603020102020204" pitchFamily="34" charset="0"/>
              </a:rPr>
              <a:t>叠加定理</a:t>
            </a:r>
            <a:endParaRPr lang="en-US" altLang="zh-CN" b="1" dirty="0">
              <a:solidFill>
                <a:srgbClr val="0000FF"/>
              </a:solidFill>
              <a:latin typeface="Franklin Gothic Medium" panose="020B0603020102020204" pitchFamily="34" charset="0"/>
            </a:endParaRPr>
          </a:p>
        </p:txBody>
      </p:sp>
      <p:sp>
        <p:nvSpPr>
          <p:cNvPr id="11267" name="Text Box 4"/>
          <p:cNvSpPr txBox="1">
            <a:spLocks noChangeArrowheads="1"/>
          </p:cNvSpPr>
          <p:nvPr/>
        </p:nvSpPr>
        <p:spPr bwMode="auto">
          <a:xfrm>
            <a:off x="971599" y="1738024"/>
            <a:ext cx="7056785" cy="1690976"/>
          </a:xfrm>
          <a:prstGeom prst="rect">
            <a:avLst/>
          </a:prstGeom>
          <a:noFill/>
          <a:ln w="76200" cmpd="tri">
            <a:solidFill>
              <a:schemeClr val="tx1"/>
            </a:solidFill>
            <a:miter lim="800000"/>
          </a:ln>
        </p:spPr>
        <p:txBody>
          <a:bodyPr wrap="square">
            <a:spAutoFit/>
          </a:bodyPr>
          <a:lstStyle/>
          <a:p>
            <a:pPr fontAlgn="base">
              <a:lnSpc>
                <a:spcPct val="150000"/>
              </a:lnSpc>
              <a:spcBef>
                <a:spcPct val="50000"/>
              </a:spcBef>
              <a:spcAft>
                <a:spcPct val="0"/>
              </a:spcAft>
            </a:pPr>
            <a:r>
              <a:rPr lang="zh-CN" altLang="en-US" sz="2400" b="1" dirty="0">
                <a:solidFill>
                  <a:srgbClr val="000000"/>
                </a:solidFill>
                <a:latin typeface="Arial Black" panose="020B0A04020102020204" pitchFamily="34" charset="0"/>
              </a:rPr>
              <a:t>    叠加定理：在线性电路中，元件两端的电压或者电流 是每个独立源单独作用下 在该元件两端产生的电压或者电流的 代数和。</a:t>
            </a:r>
            <a:endParaRPr lang="en-US" altLang="zh-CN" sz="2400" b="1" dirty="0">
              <a:solidFill>
                <a:srgbClr val="000000"/>
              </a:solidFill>
              <a:latin typeface="Arial Black" panose="020B0A04020102020204" pitchFamily="34" charset="0"/>
            </a:endParaRPr>
          </a:p>
        </p:txBody>
      </p:sp>
      <p:sp>
        <p:nvSpPr>
          <p:cNvPr id="11268" name="Text Box 6"/>
          <p:cNvSpPr txBox="1">
            <a:spLocks noChangeArrowheads="1"/>
          </p:cNvSpPr>
          <p:nvPr/>
        </p:nvSpPr>
        <p:spPr bwMode="auto">
          <a:xfrm>
            <a:off x="540506" y="4005064"/>
            <a:ext cx="8350250" cy="2124075"/>
          </a:xfrm>
          <a:prstGeom prst="rect">
            <a:avLst/>
          </a:prstGeom>
          <a:noFill/>
          <a:ln w="9525">
            <a:noFill/>
            <a:miter lim="800000"/>
          </a:ln>
        </p:spPr>
        <p:txBody>
          <a:bodyPr>
            <a:spAutoFit/>
          </a:bodyPr>
          <a:lstStyle/>
          <a:p>
            <a:pPr marL="342900" indent="-342900" fontAlgn="base">
              <a:spcBef>
                <a:spcPct val="50000"/>
              </a:spcBef>
              <a:spcAft>
                <a:spcPct val="0"/>
              </a:spcAft>
              <a:buFontTx/>
              <a:buAutoNum type="arabicPeriod"/>
            </a:pPr>
            <a:r>
              <a:rPr lang="zh-CN" altLang="en-US" sz="2400" b="1" dirty="0">
                <a:solidFill>
                  <a:srgbClr val="000000"/>
                </a:solidFill>
                <a:latin typeface="Arial Black" panose="020B0A04020102020204" pitchFamily="34" charset="0"/>
              </a:rPr>
              <a:t>我们每次只考虑一个</a:t>
            </a:r>
            <a:r>
              <a:rPr lang="zh-CN" altLang="en-US" sz="2400" b="1" dirty="0">
                <a:solidFill>
                  <a:srgbClr val="FF0000"/>
                </a:solidFill>
                <a:latin typeface="Arial Black" panose="020B0A04020102020204" pitchFamily="34" charset="0"/>
              </a:rPr>
              <a:t>独立源</a:t>
            </a:r>
            <a:r>
              <a:rPr lang="zh-CN" altLang="en-US" sz="2400" b="1" dirty="0">
                <a:solidFill>
                  <a:srgbClr val="000000"/>
                </a:solidFill>
                <a:latin typeface="Arial Black" panose="020B0A04020102020204" pitchFamily="34" charset="0"/>
              </a:rPr>
              <a:t>，而关闭所有其他独立源。</a:t>
            </a:r>
            <a:r>
              <a:rPr lang="zh-CN" altLang="en-US" sz="2400" b="1" dirty="0">
                <a:latin typeface="Arial Black" panose="020B0A04020102020204" pitchFamily="34" charset="0"/>
              </a:rPr>
              <a:t>这意味着我们用</a:t>
            </a:r>
            <a:r>
              <a:rPr lang="en-US" altLang="zh-CN" sz="2400" b="1" dirty="0">
                <a:solidFill>
                  <a:srgbClr val="FF0000"/>
                </a:solidFill>
                <a:effectLst>
                  <a:outerShdw blurRad="38100" dist="25400" dir="5400000" algn="ctr" rotWithShape="0">
                    <a:srgbClr val="6E747A">
                      <a:alpha val="43000"/>
                    </a:srgbClr>
                  </a:outerShdw>
                </a:effectLst>
                <a:highlight>
                  <a:srgbClr val="FFFF00"/>
                </a:highlight>
                <a:latin typeface="Times New Roman" panose="02020603050405020304" pitchFamily="18" charset="0"/>
              </a:rPr>
              <a:t>0V</a:t>
            </a:r>
            <a:r>
              <a:rPr lang="zh-CN" altLang="en-US" sz="2400" b="1" dirty="0">
                <a:solidFill>
                  <a:srgbClr val="FF0000"/>
                </a:solidFill>
                <a:effectLst>
                  <a:outerShdw blurRad="38100" dist="25400" dir="5400000" algn="ctr" rotWithShape="0">
                    <a:srgbClr val="6E747A">
                      <a:alpha val="43000"/>
                    </a:srgbClr>
                  </a:outerShdw>
                </a:effectLst>
                <a:highlight>
                  <a:srgbClr val="FFFF00"/>
                </a:highlight>
                <a:latin typeface="Arial Black" panose="020B0A04020102020204" pitchFamily="34" charset="0"/>
              </a:rPr>
              <a:t>（或短路）替换每个电压源</a:t>
            </a:r>
            <a:r>
              <a:rPr lang="zh-CN" altLang="en-US" sz="2400" b="1" dirty="0">
                <a:latin typeface="Arial Black" panose="020B0A04020102020204" pitchFamily="34" charset="0"/>
              </a:rPr>
              <a:t>，</a:t>
            </a:r>
            <a:r>
              <a:rPr lang="zh-CN" altLang="en-US" sz="2400" b="1" dirty="0">
                <a:solidFill>
                  <a:schemeClr val="accent1"/>
                </a:solidFill>
                <a:effectLst>
                  <a:outerShdw blurRad="38100" dist="25400" dir="5400000" algn="ctr" rotWithShape="0">
                    <a:srgbClr val="6E747A">
                      <a:alpha val="43000"/>
                    </a:srgbClr>
                  </a:outerShdw>
                </a:effectLst>
                <a:highlight>
                  <a:srgbClr val="FFFF00"/>
                </a:highlight>
                <a:latin typeface="Arial Black" panose="020B0A04020102020204" pitchFamily="34" charset="0"/>
              </a:rPr>
              <a:t>用</a:t>
            </a:r>
            <a:r>
              <a:rPr lang="en-US" altLang="zh-CN" sz="2400" b="1" dirty="0">
                <a:solidFill>
                  <a:schemeClr val="accent1"/>
                </a:solidFill>
                <a:effectLst>
                  <a:outerShdw blurRad="38100" dist="25400" dir="5400000" algn="ctr" rotWithShape="0">
                    <a:srgbClr val="6E747A">
                      <a:alpha val="43000"/>
                    </a:srgbClr>
                  </a:outerShdw>
                </a:effectLst>
                <a:highlight>
                  <a:srgbClr val="FFFF00"/>
                </a:highlight>
                <a:latin typeface="Times New Roman" panose="02020603050405020304" pitchFamily="18" charset="0"/>
              </a:rPr>
              <a:t>0A(</a:t>
            </a:r>
            <a:r>
              <a:rPr lang="zh-CN" altLang="en-US" sz="2400" b="1" dirty="0">
                <a:solidFill>
                  <a:schemeClr val="accent1"/>
                </a:solidFill>
                <a:effectLst>
                  <a:outerShdw blurRad="38100" dist="25400" dir="5400000" algn="ctr" rotWithShape="0">
                    <a:srgbClr val="6E747A">
                      <a:alpha val="43000"/>
                    </a:srgbClr>
                  </a:outerShdw>
                </a:effectLst>
                <a:highlight>
                  <a:srgbClr val="FFFF00"/>
                </a:highlight>
                <a:latin typeface="Times New Roman" panose="02020603050405020304" pitchFamily="18" charset="0"/>
              </a:rPr>
              <a:t>或开路</a:t>
            </a:r>
            <a:r>
              <a:rPr lang="en-US" altLang="zh-CN" sz="2400" b="1" dirty="0">
                <a:solidFill>
                  <a:schemeClr val="accent1"/>
                </a:solidFill>
                <a:effectLst>
                  <a:outerShdw blurRad="38100" dist="25400" dir="5400000" algn="ctr" rotWithShape="0">
                    <a:srgbClr val="6E747A">
                      <a:alpha val="43000"/>
                    </a:srgbClr>
                  </a:outerShdw>
                </a:effectLst>
                <a:highlight>
                  <a:srgbClr val="FFFF00"/>
                </a:highlight>
                <a:latin typeface="Times New Roman" panose="02020603050405020304" pitchFamily="18" charset="0"/>
              </a:rPr>
              <a:t>)</a:t>
            </a:r>
            <a:r>
              <a:rPr lang="zh-CN" altLang="en-US" sz="2400" b="1" dirty="0">
                <a:solidFill>
                  <a:schemeClr val="accent1"/>
                </a:solidFill>
                <a:effectLst>
                  <a:outerShdw blurRad="38100" dist="25400" dir="5400000" algn="ctr" rotWithShape="0">
                    <a:srgbClr val="6E747A">
                      <a:alpha val="43000"/>
                    </a:srgbClr>
                  </a:outerShdw>
                </a:effectLst>
                <a:highlight>
                  <a:srgbClr val="FFFF00"/>
                </a:highlight>
                <a:latin typeface="Arial Black" panose="020B0A04020102020204" pitchFamily="34" charset="0"/>
              </a:rPr>
              <a:t>替换每个电流源</a:t>
            </a:r>
            <a:r>
              <a:rPr lang="zh-CN" altLang="en-US" sz="2400" b="1" dirty="0">
                <a:latin typeface="Arial Black" panose="020B0A04020102020204" pitchFamily="34" charset="0"/>
              </a:rPr>
              <a:t>。这样我们就得到了一个更简单、更易于管理的电路</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a:p>
            <a:pPr marL="342900" indent="-342900" fontAlgn="base">
              <a:spcBef>
                <a:spcPct val="50000"/>
              </a:spcBef>
              <a:spcAft>
                <a:spcPct val="0"/>
              </a:spcAft>
              <a:buFontTx/>
              <a:buAutoNum type="arabicPeriod"/>
            </a:pPr>
            <a:r>
              <a:rPr lang="zh-CN" altLang="en-US" sz="2400" b="1" dirty="0">
                <a:solidFill>
                  <a:srgbClr val="FF0000"/>
                </a:solidFill>
                <a:latin typeface="Arial Black" panose="020B0A04020102020204" pitchFamily="34" charset="0"/>
              </a:rPr>
              <a:t>受控源</a:t>
            </a:r>
            <a:r>
              <a:rPr lang="zh-CN" altLang="en-US" sz="2400" b="1" dirty="0">
                <a:solidFill>
                  <a:srgbClr val="000000"/>
                </a:solidFill>
                <a:latin typeface="Arial Black" panose="020B0A04020102020204" pitchFamily="34" charset="0"/>
              </a:rPr>
              <a:t>保持完整，因为它们是由电路变量控制的。</a:t>
            </a:r>
            <a:endParaRPr lang="en-US" altLang="zh-CN" sz="2400" b="1" dirty="0">
              <a:solidFill>
                <a:srgbClr val="000000"/>
              </a:solidFill>
              <a:latin typeface="Arial Black" panose="020B0A04020102020204" pitchFamily="34" charset="0"/>
            </a:endParaRP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14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4"/>
          <p:cNvSpPr txBox="1">
            <a:spLocks noChangeArrowheads="1"/>
          </p:cNvSpPr>
          <p:nvPr/>
        </p:nvSpPr>
        <p:spPr bwMode="auto">
          <a:xfrm>
            <a:off x="1043608" y="1196752"/>
            <a:ext cx="7128346" cy="3785652"/>
          </a:xfrm>
          <a:prstGeom prst="rect">
            <a:avLst/>
          </a:prstGeom>
          <a:noFill/>
          <a:ln w="28575">
            <a:solidFill>
              <a:schemeClr val="tx1"/>
            </a:solidFill>
            <a:miter lim="800000"/>
          </a:ln>
        </p:spPr>
        <p:txBody>
          <a:bodyPr wrap="square">
            <a:spAutoFit/>
          </a:bodyPr>
          <a:lstStyle/>
          <a:p>
            <a:pPr marL="342900" indent="-342900" fontAlgn="base">
              <a:spcBef>
                <a:spcPct val="50000"/>
              </a:spcBef>
              <a:spcAft>
                <a:spcPct val="0"/>
              </a:spcAft>
            </a:pPr>
            <a:r>
              <a:rPr lang="zh-CN" altLang="en-US" sz="2400" b="1" dirty="0">
                <a:solidFill>
                  <a:srgbClr val="000000"/>
                </a:solidFill>
                <a:latin typeface="Arial Black" panose="020B0A04020102020204" pitchFamily="34" charset="0"/>
              </a:rPr>
              <a:t>    应用叠加定理的步骤</a:t>
            </a:r>
            <a:r>
              <a:rPr lang="en-US" altLang="zh-CN" sz="2400" b="1" dirty="0">
                <a:solidFill>
                  <a:srgbClr val="000000"/>
                </a:solidFill>
                <a:latin typeface="Arial Black" panose="020B0A04020102020204" pitchFamily="34" charset="0"/>
              </a:rPr>
              <a:t>:</a:t>
            </a:r>
          </a:p>
          <a:p>
            <a:pPr marL="342900" indent="-342900" fontAlgn="base">
              <a:lnSpc>
                <a:spcPct val="150000"/>
              </a:lnSpc>
              <a:spcBef>
                <a:spcPct val="50000"/>
              </a:spcBef>
              <a:spcAft>
                <a:spcPct val="0"/>
              </a:spcAft>
              <a:buFontTx/>
              <a:buAutoNum type="arabicPeriod"/>
            </a:pPr>
            <a:r>
              <a:rPr lang="zh-CN" altLang="en-US" sz="2400" b="1" dirty="0">
                <a:solidFill>
                  <a:srgbClr val="000000"/>
                </a:solidFill>
                <a:latin typeface="Times New Roman" panose="02020603050405020304" pitchFamily="18" charset="0"/>
              </a:rPr>
              <a:t>关闭除一个独立源外的所有独立源。使用节点分析或网孔分析法找出该独立源作用于电路的输出</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电压或电流</a:t>
            </a:r>
            <a:r>
              <a:rPr lang="en-US"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a:t>
            </a:r>
            <a:endParaRPr lang="en-US" altLang="zh-CN" sz="2400" b="1" dirty="0">
              <a:solidFill>
                <a:srgbClr val="000000"/>
              </a:solidFill>
              <a:latin typeface="Times New Roman" panose="02020603050405020304" pitchFamily="18" charset="0"/>
            </a:endParaRPr>
          </a:p>
          <a:p>
            <a:pPr marL="342900" indent="-342900" fontAlgn="base">
              <a:spcBef>
                <a:spcPct val="50000"/>
              </a:spcBef>
              <a:spcAft>
                <a:spcPct val="0"/>
              </a:spcAft>
              <a:buFontTx/>
              <a:buAutoNum type="arabicPeriod"/>
            </a:pPr>
            <a:r>
              <a:rPr lang="zh-CN" altLang="en-US" sz="2400" b="1" dirty="0">
                <a:solidFill>
                  <a:srgbClr val="000000"/>
                </a:solidFill>
                <a:latin typeface="Times New Roman" panose="02020603050405020304" pitchFamily="18" charset="0"/>
              </a:rPr>
              <a:t>对其他独立源重复步骤</a:t>
            </a:r>
            <a:r>
              <a:rPr lang="en-US" altLang="zh-CN" sz="2400" b="1" dirty="0">
                <a:solidFill>
                  <a:srgbClr val="000000"/>
                </a:solidFill>
                <a:latin typeface="Times New Roman" panose="02020603050405020304" pitchFamily="18" charset="0"/>
              </a:rPr>
              <a:t>1</a:t>
            </a:r>
            <a:r>
              <a:rPr lang="zh-CN" altLang="en-US" sz="2400" b="1" dirty="0">
                <a:solidFill>
                  <a:srgbClr val="000000"/>
                </a:solidFill>
                <a:latin typeface="Times New Roman" panose="02020603050405020304" pitchFamily="18" charset="0"/>
              </a:rPr>
              <a:t>。</a:t>
            </a:r>
            <a:endParaRPr lang="en-US" altLang="zh-CN" sz="2400" b="1" dirty="0">
              <a:solidFill>
                <a:srgbClr val="000000"/>
              </a:solidFill>
              <a:latin typeface="Times New Roman" panose="02020603050405020304" pitchFamily="18" charset="0"/>
            </a:endParaRPr>
          </a:p>
          <a:p>
            <a:pPr marL="342900" indent="-342900" fontAlgn="base">
              <a:spcBef>
                <a:spcPct val="50000"/>
              </a:spcBef>
              <a:spcAft>
                <a:spcPct val="0"/>
              </a:spcAft>
              <a:buFontTx/>
              <a:buAutoNum type="arabicPeriod"/>
            </a:pPr>
            <a:r>
              <a:rPr lang="zh-CN" altLang="en-US" sz="2400" b="1" dirty="0">
                <a:solidFill>
                  <a:srgbClr val="000000"/>
                </a:solidFill>
                <a:latin typeface="Times New Roman" panose="02020603050405020304" pitchFamily="18" charset="0"/>
              </a:rPr>
              <a:t>通过代数方法将独立源的所有值得相加，求出总贡献值。</a:t>
            </a:r>
            <a:endParaRPr lang="en-US" altLang="zh-CN" sz="2400" b="1" dirty="0">
              <a:solidFill>
                <a:srgbClr val="000000"/>
              </a:solidFill>
              <a:latin typeface="Times New Roman" panose="02020603050405020304" pitchFamily="18" charset="0"/>
            </a:endParaRPr>
          </a:p>
        </p:txBody>
      </p:sp>
      <p:sp>
        <p:nvSpPr>
          <p:cNvPr id="4" name="文本框 3"/>
          <p:cNvSpPr txBox="1"/>
          <p:nvPr/>
        </p:nvSpPr>
        <p:spPr>
          <a:xfrm>
            <a:off x="1619672" y="5805264"/>
            <a:ext cx="6480720" cy="400110"/>
          </a:xfrm>
          <a:prstGeom prst="rect">
            <a:avLst/>
          </a:prstGeom>
          <a:noFill/>
        </p:spPr>
        <p:txBody>
          <a:bodyPr wrap="square">
            <a:spAutoFit/>
          </a:bodyPr>
          <a:lstStyle/>
          <a:p>
            <a:r>
              <a:rPr lang="zh-CN" altLang="en-US" sz="2000" b="1" dirty="0">
                <a:solidFill>
                  <a:srgbClr val="FF0000"/>
                </a:solidFill>
              </a:rPr>
              <a:t>对每个独立源的作用分别画出 </a:t>
            </a:r>
            <a:r>
              <a:rPr lang="zh-CN" altLang="en-US" sz="2000" b="1" u="sng" dirty="0">
                <a:solidFill>
                  <a:srgbClr val="FF0000"/>
                </a:solidFill>
              </a:rPr>
              <a:t>分电路图</a:t>
            </a:r>
            <a:r>
              <a:rPr lang="zh-CN" altLang="en-US" sz="2000" b="1" dirty="0">
                <a:solidFill>
                  <a:srgbClr val="FF0000"/>
                </a:solidFill>
              </a:rPr>
              <a:t>，最后结果相加。</a:t>
            </a: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15</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p:cNvSpPr txBox="1">
            <a:spLocks noChangeArrowheads="1"/>
          </p:cNvSpPr>
          <p:nvPr/>
        </p:nvSpPr>
        <p:spPr bwMode="auto">
          <a:xfrm>
            <a:off x="468313" y="404813"/>
            <a:ext cx="1871662"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例：</a:t>
            </a:r>
            <a:endParaRPr lang="en-US" altLang="zh-CN" sz="2000" b="1" dirty="0">
              <a:solidFill>
                <a:srgbClr val="FF0000"/>
              </a:solidFill>
              <a:latin typeface="Times New Roman" panose="02020603050405020304" pitchFamily="18" charset="0"/>
            </a:endParaRPr>
          </a:p>
        </p:txBody>
      </p:sp>
      <p:pic>
        <p:nvPicPr>
          <p:cNvPr id="13315" name="Picture 6"/>
          <p:cNvPicPr>
            <a:picLocks noChangeAspect="1" noChangeArrowheads="1"/>
          </p:cNvPicPr>
          <p:nvPr/>
        </p:nvPicPr>
        <p:blipFill>
          <a:blip r:embed="rId3" cstate="print"/>
          <a:srcRect/>
          <a:stretch>
            <a:fillRect/>
          </a:stretch>
        </p:blipFill>
        <p:spPr bwMode="auto">
          <a:xfrm>
            <a:off x="5196042" y="260648"/>
            <a:ext cx="3774140" cy="1656184"/>
          </a:xfrm>
          <a:prstGeom prst="rect">
            <a:avLst/>
          </a:prstGeom>
          <a:noFill/>
          <a:ln w="9525">
            <a:noFill/>
            <a:miter lim="800000"/>
            <a:headEnd/>
            <a:tailEnd/>
          </a:ln>
        </p:spPr>
      </p:pic>
      <p:pic>
        <p:nvPicPr>
          <p:cNvPr id="13316" name="Picture 7"/>
          <p:cNvPicPr>
            <a:picLocks noChangeAspect="1" noChangeArrowheads="1"/>
          </p:cNvPicPr>
          <p:nvPr/>
        </p:nvPicPr>
        <p:blipFill>
          <a:blip r:embed="rId4" cstate="print"/>
          <a:srcRect/>
          <a:stretch>
            <a:fillRect/>
          </a:stretch>
        </p:blipFill>
        <p:spPr bwMode="auto">
          <a:xfrm>
            <a:off x="5508625" y="3716338"/>
            <a:ext cx="3167063" cy="2079625"/>
          </a:xfrm>
          <a:prstGeom prst="rect">
            <a:avLst/>
          </a:prstGeom>
          <a:noFill/>
          <a:ln w="9525">
            <a:noFill/>
            <a:miter lim="800000"/>
            <a:headEnd/>
            <a:tailEnd/>
          </a:ln>
        </p:spPr>
      </p:pic>
      <p:graphicFrame>
        <p:nvGraphicFramePr>
          <p:cNvPr id="13318" name="Object 10"/>
          <p:cNvGraphicFramePr>
            <a:graphicFrameLocks noChangeAspect="1"/>
          </p:cNvGraphicFramePr>
          <p:nvPr/>
        </p:nvGraphicFramePr>
        <p:xfrm>
          <a:off x="2268538" y="2565400"/>
          <a:ext cx="1366837" cy="465138"/>
        </p:xfrm>
        <a:graphic>
          <a:graphicData uri="http://schemas.openxmlformats.org/presentationml/2006/ole">
            <mc:AlternateContent xmlns:mc="http://schemas.openxmlformats.org/markup-compatibility/2006">
              <mc:Choice xmlns:v="urn:schemas-microsoft-com:vml" Requires="v">
                <p:oleObj spid="_x0000_s8366" name="公式" r:id="rId5" imgW="15240000" imgH="5181600" progId="">
                  <p:embed/>
                </p:oleObj>
              </mc:Choice>
              <mc:Fallback>
                <p:oleObj name="公式" r:id="rId5" imgW="15240000" imgH="5181600" progId="">
                  <p:embed/>
                  <p:pic>
                    <p:nvPicPr>
                      <p:cNvPr id="0" name="图片 8192"/>
                      <p:cNvPicPr>
                        <a:picLocks noChangeAspect="1"/>
                      </p:cNvPicPr>
                      <p:nvPr/>
                    </p:nvPicPr>
                    <p:blipFill>
                      <a:blip r:embed="rId6"/>
                      <a:stretch>
                        <a:fillRect/>
                      </a:stretch>
                    </p:blipFill>
                    <p:spPr>
                      <a:xfrm>
                        <a:off x="2268538" y="2565400"/>
                        <a:ext cx="1366837" cy="465138"/>
                      </a:xfrm>
                      <a:prstGeom prst="rect">
                        <a:avLst/>
                      </a:prstGeom>
                      <a:noFill/>
                      <a:ln w="9525">
                        <a:noFill/>
                      </a:ln>
                    </p:spPr>
                  </p:pic>
                </p:oleObj>
              </mc:Fallback>
            </mc:AlternateContent>
          </a:graphicData>
        </a:graphic>
      </p:graphicFrame>
      <p:grpSp>
        <p:nvGrpSpPr>
          <p:cNvPr id="3" name="Group 14"/>
          <p:cNvGrpSpPr/>
          <p:nvPr/>
        </p:nvGrpSpPr>
        <p:grpSpPr bwMode="auto">
          <a:xfrm>
            <a:off x="554352" y="917575"/>
            <a:ext cx="5543550" cy="4954588"/>
            <a:chOff x="307" y="632"/>
            <a:chExt cx="3175" cy="3121"/>
          </a:xfrm>
        </p:grpSpPr>
        <p:sp>
          <p:nvSpPr>
            <p:cNvPr id="2" name="Text Box 5"/>
            <p:cNvSpPr txBox="1">
              <a:spLocks noChangeArrowheads="1"/>
            </p:cNvSpPr>
            <p:nvPr/>
          </p:nvSpPr>
          <p:spPr bwMode="auto">
            <a:xfrm>
              <a:off x="307" y="632"/>
              <a:ext cx="3175" cy="3121"/>
            </a:xfrm>
            <a:prstGeom prst="rect">
              <a:avLst/>
            </a:prstGeom>
            <a:noFill/>
            <a:ln>
              <a:noFill/>
            </a:ln>
          </p:spPr>
          <p:txBody>
            <a:bodyPr>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fontAlgn="base" hangingPunct="1">
                <a:spcBef>
                  <a:spcPct val="50000"/>
                </a:spcBef>
                <a:spcAft>
                  <a:spcPct val="0"/>
                </a:spcAft>
                <a:buClrTx/>
                <a:buSzTx/>
                <a:buFontTx/>
                <a:buNone/>
                <a:defRPr/>
              </a:pPr>
              <a:r>
                <a:rPr lang="zh-CN" altLang="en-US" sz="2000" b="1" dirty="0">
                  <a:solidFill>
                    <a:srgbClr val="000000"/>
                  </a:solidFill>
                  <a:latin typeface="Times New Roman" panose="02020603050405020304" pitchFamily="18" charset="0"/>
                </a:rPr>
                <a:t>    利用叠加定理求出图中电路中的</a:t>
              </a:r>
              <a:r>
                <a:rPr lang="en-US" altLang="zh-CN" b="1" i="1" dirty="0">
                  <a:solidFill>
                    <a:srgbClr val="0000FF"/>
                  </a:solidFill>
                  <a:latin typeface="Times New Roman" panose="02020603050405020304" pitchFamily="18" charset="0"/>
                </a:rPr>
                <a:t>v</a:t>
              </a:r>
              <a:r>
                <a:rPr lang="zh-CN" altLang="en-US" sz="2000" b="1" dirty="0">
                  <a:solidFill>
                    <a:srgbClr val="000000"/>
                  </a:solidFill>
                  <a:latin typeface="Times New Roman" panose="02020603050405020304" pitchFamily="18" charset="0"/>
                </a:rPr>
                <a:t>。</a:t>
              </a:r>
              <a:endParaRPr lang="en-US" altLang="zh-CN" sz="2000" b="1" dirty="0">
                <a:solidFill>
                  <a:srgbClr val="9999FF">
                    <a:lumMod val="50000"/>
                  </a:srgbClr>
                </a:solidFill>
                <a:latin typeface="Times New Roman" panose="02020603050405020304" pitchFamily="18" charset="0"/>
              </a:endParaRPr>
            </a:p>
            <a:p>
              <a:pPr eaLnBrk="1" fontAlgn="base" hangingPunct="1">
                <a:spcBef>
                  <a:spcPct val="50000"/>
                </a:spcBef>
                <a:spcAft>
                  <a:spcPct val="0"/>
                </a:spcAft>
                <a:buClrTx/>
                <a:buSzTx/>
                <a:buFontTx/>
                <a:buNone/>
                <a:defRPr/>
              </a:pPr>
              <a:r>
                <a:rPr lang="zh-CN" altLang="en-US" sz="2000" b="1" dirty="0">
                  <a:solidFill>
                    <a:srgbClr val="9999FF">
                      <a:lumMod val="50000"/>
                    </a:srgbClr>
                  </a:solidFill>
                  <a:latin typeface="Times New Roman" panose="02020603050405020304" pitchFamily="18" charset="0"/>
                </a:rPr>
                <a:t>解决方案</a:t>
              </a:r>
              <a:r>
                <a:rPr lang="en-US" altLang="zh-CN" sz="2000" b="1" dirty="0">
                  <a:solidFill>
                    <a:srgbClr val="9999FF">
                      <a:lumMod val="50000"/>
                    </a:srgbClr>
                  </a:solidFill>
                  <a:latin typeface="Times New Roman" panose="02020603050405020304" pitchFamily="18" charset="0"/>
                </a:rPr>
                <a:t>:</a:t>
              </a:r>
            </a:p>
            <a:p>
              <a:pPr eaLnBrk="1" fontAlgn="base" hangingPunct="1">
                <a:lnSpc>
                  <a:spcPct val="150000"/>
                </a:lnSpc>
                <a:spcBef>
                  <a:spcPct val="50000"/>
                </a:spcBef>
                <a:spcAft>
                  <a:spcPct val="0"/>
                </a:spcAft>
                <a:buClrTx/>
                <a:buSzTx/>
                <a:buFontTx/>
                <a:buNone/>
                <a:defRPr/>
              </a:pPr>
              <a:r>
                <a:rPr lang="zh-CN" altLang="en-US" sz="2000" b="1" dirty="0">
                  <a:solidFill>
                    <a:srgbClr val="000000"/>
                  </a:solidFill>
                  <a:latin typeface="Times New Roman" panose="02020603050405020304" pitchFamily="18" charset="0"/>
                </a:rPr>
                <a:t>        原电路有两个电源</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则</a:t>
              </a:r>
              <a:endParaRPr lang="en-US" altLang="zh-CN" sz="2000" b="1" dirty="0">
                <a:solidFill>
                  <a:srgbClr val="000000"/>
                </a:solidFill>
                <a:latin typeface="Times New Roman" panose="02020603050405020304" pitchFamily="18" charset="0"/>
              </a:endParaRPr>
            </a:p>
            <a:p>
              <a:pPr eaLnBrk="1" fontAlgn="base" hangingPunct="1">
                <a:lnSpc>
                  <a:spcPct val="150000"/>
                </a:lnSpc>
                <a:spcBef>
                  <a:spcPct val="50000"/>
                </a:spcBef>
                <a:spcAft>
                  <a:spcPct val="0"/>
                </a:spcAft>
                <a:buClrTx/>
                <a:buSzTx/>
                <a:buFontTx/>
                <a:buNone/>
                <a:defRPr/>
              </a:pPr>
              <a:r>
                <a:rPr lang="zh-CN" altLang="en-US" sz="2000" b="1" dirty="0">
                  <a:solidFill>
                    <a:srgbClr val="000000"/>
                  </a:solidFill>
                  <a:latin typeface="Times New Roman" panose="02020603050405020304" pitchFamily="18" charset="0"/>
                </a:rPr>
                <a:t>            和      分别为</a:t>
              </a:r>
              <a:r>
                <a:rPr lang="en-US" altLang="zh-CN" sz="2000" b="1" dirty="0">
                  <a:solidFill>
                    <a:srgbClr val="000000"/>
                  </a:solidFill>
                  <a:latin typeface="Times New Roman" panose="02020603050405020304" pitchFamily="18" charset="0"/>
                </a:rPr>
                <a:t>6V</a:t>
              </a:r>
              <a:r>
                <a:rPr lang="zh-CN" altLang="en-US" sz="2000" b="1" dirty="0">
                  <a:solidFill>
                    <a:srgbClr val="000000"/>
                  </a:solidFill>
                  <a:latin typeface="Times New Roman" panose="02020603050405020304" pitchFamily="18" charset="0"/>
                </a:rPr>
                <a:t>电压源和</a:t>
              </a:r>
              <a:r>
                <a:rPr lang="en-US" altLang="zh-CN" sz="2000" b="1" dirty="0">
                  <a:solidFill>
                    <a:srgbClr val="000000"/>
                  </a:solidFill>
                  <a:latin typeface="Times New Roman" panose="02020603050405020304" pitchFamily="18" charset="0"/>
                </a:rPr>
                <a:t>3A</a:t>
              </a:r>
              <a:r>
                <a:rPr lang="zh-CN" altLang="en-US" sz="2000" b="1" dirty="0">
                  <a:solidFill>
                    <a:srgbClr val="000000"/>
                  </a:solidFill>
                  <a:latin typeface="Times New Roman" panose="02020603050405020304" pitchFamily="18" charset="0"/>
                </a:rPr>
                <a:t>电流源的贡献</a:t>
              </a:r>
              <a:r>
                <a:rPr lang="zh-CN" altLang="en-US" b="1" dirty="0">
                  <a:solidFill>
                    <a:srgbClr val="000000"/>
                  </a:solidFill>
                </a:rPr>
                <a:t>。</a:t>
              </a:r>
              <a:endParaRPr lang="en-US" altLang="zh-CN" sz="2000" b="1" dirty="0">
                <a:solidFill>
                  <a:srgbClr val="000000"/>
                </a:solidFill>
                <a:latin typeface="Times New Roman" panose="02020603050405020304" pitchFamily="18" charset="0"/>
              </a:endParaRPr>
            </a:p>
            <a:p>
              <a:pPr eaLnBrk="1" fontAlgn="base" hangingPunct="1">
                <a:spcBef>
                  <a:spcPct val="50000"/>
                </a:spcBef>
                <a:spcAft>
                  <a:spcPct val="0"/>
                </a:spcAft>
                <a:buClrTx/>
                <a:buSzTx/>
                <a:buFontTx/>
                <a:buNone/>
                <a:defRPr/>
              </a:pPr>
              <a:endParaRPr lang="en-US" altLang="zh-CN" sz="2000" b="1" dirty="0">
                <a:latin typeface="Times New Roman" panose="02020603050405020304" pitchFamily="18" charset="0"/>
              </a:endParaRPr>
            </a:p>
            <a:p>
              <a:pPr eaLnBrk="1" fontAlgn="base" hangingPunct="1">
                <a:spcBef>
                  <a:spcPct val="50000"/>
                </a:spcBef>
                <a:spcAft>
                  <a:spcPct val="0"/>
                </a:spcAft>
                <a:buClrTx/>
                <a:buSzTx/>
                <a:buFontTx/>
                <a:buNone/>
                <a:defRPr/>
              </a:pPr>
              <a:r>
                <a:rPr lang="zh-CN" altLang="en-US" sz="2000" b="1" dirty="0">
                  <a:latin typeface="Times New Roman" panose="02020603050405020304" pitchFamily="18" charset="0"/>
                </a:rPr>
                <a:t>为了得到     </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我们将电流源置</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eaLnBrk="1" fontAlgn="base" hangingPunct="1">
                <a:spcBef>
                  <a:spcPct val="50000"/>
                </a:spcBef>
                <a:spcAft>
                  <a:spcPct val="0"/>
                </a:spcAft>
                <a:buClrTx/>
                <a:buSzTx/>
                <a:buFontTx/>
                <a:buNone/>
                <a:defRPr/>
              </a:pPr>
              <a:r>
                <a:rPr lang="zh-CN" altLang="en-US" sz="2000" b="1" dirty="0">
                  <a:solidFill>
                    <a:srgbClr val="000000"/>
                  </a:solidFill>
                  <a:latin typeface="Times New Roman" panose="02020603050405020304" pitchFamily="18" charset="0"/>
                </a:rPr>
                <a:t>    因此</a:t>
              </a:r>
              <a:r>
                <a:rPr lang="en-US" altLang="zh-CN" sz="2000" b="1" dirty="0">
                  <a:solidFill>
                    <a:srgbClr val="000000"/>
                  </a:solidFill>
                  <a:latin typeface="Times New Roman" panose="02020603050405020304" pitchFamily="18" charset="0"/>
                </a:rPr>
                <a:t>,</a:t>
              </a:r>
            </a:p>
            <a:p>
              <a:pPr eaLnBrk="1" fontAlgn="base" hangingPunct="1">
                <a:spcBef>
                  <a:spcPct val="50000"/>
                </a:spcBef>
                <a:spcAft>
                  <a:spcPct val="0"/>
                </a:spcAft>
                <a:buClrTx/>
                <a:buSzTx/>
                <a:buFontTx/>
                <a:buNone/>
                <a:defRPr/>
              </a:pPr>
              <a:endParaRPr lang="en-US" altLang="zh-CN" sz="2000" dirty="0">
                <a:solidFill>
                  <a:srgbClr val="000000"/>
                </a:solidFill>
                <a:latin typeface="Times New Roman" panose="02020603050405020304" pitchFamily="18" charset="0"/>
              </a:endParaRPr>
            </a:p>
            <a:p>
              <a:pPr eaLnBrk="1" fontAlgn="base" hangingPunct="1">
                <a:spcBef>
                  <a:spcPct val="50000"/>
                </a:spcBef>
                <a:spcAft>
                  <a:spcPct val="0"/>
                </a:spcAft>
                <a:buClrTx/>
                <a:buSzTx/>
                <a:buFontTx/>
                <a:buNone/>
                <a:defRPr/>
              </a:pPr>
              <a:r>
                <a:rPr lang="en-US" altLang="zh-CN" sz="2000" dirty="0">
                  <a:solidFill>
                    <a:srgbClr val="000000"/>
                  </a:solidFill>
                  <a:latin typeface="Times New Roman" panose="02020603050405020304" pitchFamily="18" charset="0"/>
                </a:rPr>
                <a:t> </a:t>
              </a:r>
            </a:p>
          </p:txBody>
        </p:sp>
        <p:graphicFrame>
          <p:nvGraphicFramePr>
            <p:cNvPr id="13328" name="Object 11"/>
            <p:cNvGraphicFramePr>
              <a:graphicFrameLocks noChangeAspect="1"/>
            </p:cNvGraphicFramePr>
            <p:nvPr/>
          </p:nvGraphicFramePr>
          <p:xfrm>
            <a:off x="635" y="1945"/>
            <a:ext cx="146" cy="226"/>
          </p:xfrm>
          <a:graphic>
            <a:graphicData uri="http://schemas.openxmlformats.org/presentationml/2006/ole">
              <mc:AlternateContent xmlns:mc="http://schemas.openxmlformats.org/markup-compatibility/2006">
                <mc:Choice xmlns:v="urn:schemas-microsoft-com:vml" Requires="v">
                  <p:oleObj spid="_x0000_s8367" name="公式" r:id="rId7" imgW="3352800" imgH="5181600" progId="">
                    <p:embed/>
                  </p:oleObj>
                </mc:Choice>
                <mc:Fallback>
                  <p:oleObj name="公式" r:id="rId7" imgW="3352800" imgH="5181600" progId="">
                    <p:embed/>
                    <p:pic>
                      <p:nvPicPr>
                        <p:cNvPr id="0" name="图片 8332"/>
                        <p:cNvPicPr>
                          <a:picLocks noChangeAspect="1"/>
                        </p:cNvPicPr>
                        <p:nvPr/>
                      </p:nvPicPr>
                      <p:blipFill>
                        <a:blip r:embed="rId8"/>
                        <a:stretch>
                          <a:fillRect/>
                        </a:stretch>
                      </p:blipFill>
                      <p:spPr>
                        <a:xfrm>
                          <a:off x="635" y="1945"/>
                          <a:ext cx="146" cy="226"/>
                        </a:xfrm>
                        <a:prstGeom prst="rect">
                          <a:avLst/>
                        </a:prstGeom>
                        <a:noFill/>
                        <a:ln w="9525">
                          <a:noFill/>
                        </a:ln>
                      </p:spPr>
                    </p:pic>
                  </p:oleObj>
                </mc:Fallback>
              </mc:AlternateContent>
            </a:graphicData>
          </a:graphic>
        </p:graphicFrame>
        <p:graphicFrame>
          <p:nvGraphicFramePr>
            <p:cNvPr id="13329" name="Object 12"/>
            <p:cNvGraphicFramePr>
              <a:graphicFrameLocks noChangeAspect="1"/>
            </p:cNvGraphicFramePr>
            <p:nvPr/>
          </p:nvGraphicFramePr>
          <p:xfrm>
            <a:off x="959" y="1945"/>
            <a:ext cx="173" cy="226"/>
          </p:xfrm>
          <a:graphic>
            <a:graphicData uri="http://schemas.openxmlformats.org/presentationml/2006/ole">
              <mc:AlternateContent xmlns:mc="http://schemas.openxmlformats.org/markup-compatibility/2006">
                <mc:Choice xmlns:v="urn:schemas-microsoft-com:vml" Requires="v">
                  <p:oleObj spid="_x0000_s8368" name="公式" r:id="rId9" imgW="3962400" imgH="5181600" progId="">
                    <p:embed/>
                  </p:oleObj>
                </mc:Choice>
                <mc:Fallback>
                  <p:oleObj name="公式" r:id="rId9" imgW="3962400" imgH="5181600" progId="">
                    <p:embed/>
                    <p:pic>
                      <p:nvPicPr>
                        <p:cNvPr id="0" name="图片 8333"/>
                        <p:cNvPicPr>
                          <a:picLocks noChangeAspect="1"/>
                        </p:cNvPicPr>
                        <p:nvPr/>
                      </p:nvPicPr>
                      <p:blipFill>
                        <a:blip r:embed="rId10"/>
                        <a:stretch>
                          <a:fillRect/>
                        </a:stretch>
                      </p:blipFill>
                      <p:spPr>
                        <a:xfrm>
                          <a:off x="959" y="1945"/>
                          <a:ext cx="173" cy="226"/>
                        </a:xfrm>
                        <a:prstGeom prst="rect">
                          <a:avLst/>
                        </a:prstGeom>
                        <a:noFill/>
                        <a:ln w="9525">
                          <a:noFill/>
                        </a:ln>
                      </p:spPr>
                    </p:pic>
                  </p:oleObj>
                </mc:Fallback>
              </mc:AlternateContent>
            </a:graphicData>
          </a:graphic>
        </p:graphicFrame>
      </p:grpSp>
      <p:graphicFrame>
        <p:nvGraphicFramePr>
          <p:cNvPr id="13320" name="Object 16"/>
          <p:cNvGraphicFramePr>
            <a:graphicFrameLocks noChangeAspect="1"/>
          </p:cNvGraphicFramePr>
          <p:nvPr/>
        </p:nvGraphicFramePr>
        <p:xfrm>
          <a:off x="899592" y="4996169"/>
          <a:ext cx="3870325" cy="422275"/>
        </p:xfrm>
        <a:graphic>
          <a:graphicData uri="http://schemas.openxmlformats.org/presentationml/2006/ole">
            <mc:AlternateContent xmlns:mc="http://schemas.openxmlformats.org/markup-compatibility/2006">
              <mc:Choice xmlns:v="urn:schemas-microsoft-com:vml" Requires="v">
                <p:oleObj spid="_x0000_s8369" name="Equation" r:id="rId11" imgW="50292000" imgH="5486400" progId="">
                  <p:embed/>
                </p:oleObj>
              </mc:Choice>
              <mc:Fallback>
                <p:oleObj name="Equation" r:id="rId11" imgW="50292000" imgH="5486400" progId="">
                  <p:embed/>
                  <p:pic>
                    <p:nvPicPr>
                      <p:cNvPr id="0" name="图片 8334"/>
                      <p:cNvPicPr>
                        <a:picLocks noChangeAspect="1"/>
                      </p:cNvPicPr>
                      <p:nvPr/>
                    </p:nvPicPr>
                    <p:blipFill>
                      <a:blip r:embed="rId12"/>
                      <a:stretch>
                        <a:fillRect/>
                      </a:stretch>
                    </p:blipFill>
                    <p:spPr>
                      <a:xfrm>
                        <a:off x="899592" y="4996169"/>
                        <a:ext cx="3870325" cy="422275"/>
                      </a:xfrm>
                      <a:prstGeom prst="rect">
                        <a:avLst/>
                      </a:prstGeom>
                      <a:noFill/>
                      <a:ln w="9525">
                        <a:noFill/>
                      </a:ln>
                    </p:spPr>
                  </p:pic>
                </p:oleObj>
              </mc:Fallback>
            </mc:AlternateContent>
          </a:graphicData>
        </a:graphic>
      </p:graphicFrame>
      <p:graphicFrame>
        <p:nvGraphicFramePr>
          <p:cNvPr id="13321" name="Object 17"/>
          <p:cNvGraphicFramePr>
            <a:graphicFrameLocks noChangeAspect="1"/>
          </p:cNvGraphicFramePr>
          <p:nvPr/>
        </p:nvGraphicFramePr>
        <p:xfrm>
          <a:off x="1583531" y="5538278"/>
          <a:ext cx="1512888" cy="401638"/>
        </p:xfrm>
        <a:graphic>
          <a:graphicData uri="http://schemas.openxmlformats.org/presentationml/2006/ole">
            <mc:AlternateContent xmlns:mc="http://schemas.openxmlformats.org/markup-compatibility/2006">
              <mc:Choice xmlns:v="urn:schemas-microsoft-com:vml" Requires="v">
                <p:oleObj spid="_x0000_s8370" name="公式" r:id="rId13" imgW="19507200" imgH="5181600" progId="">
                  <p:embed/>
                </p:oleObj>
              </mc:Choice>
              <mc:Fallback>
                <p:oleObj name="公式" r:id="rId13" imgW="19507200" imgH="5181600" progId="">
                  <p:embed/>
                  <p:pic>
                    <p:nvPicPr>
                      <p:cNvPr id="0" name="图片 8335"/>
                      <p:cNvPicPr>
                        <a:picLocks noChangeAspect="1"/>
                      </p:cNvPicPr>
                      <p:nvPr/>
                    </p:nvPicPr>
                    <p:blipFill>
                      <a:blip r:embed="rId14"/>
                      <a:stretch>
                        <a:fillRect/>
                      </a:stretch>
                    </p:blipFill>
                    <p:spPr>
                      <a:xfrm>
                        <a:off x="1583531" y="5538278"/>
                        <a:ext cx="1512888" cy="401638"/>
                      </a:xfrm>
                      <a:prstGeom prst="rect">
                        <a:avLst/>
                      </a:prstGeom>
                      <a:noFill/>
                      <a:ln w="9525">
                        <a:noFill/>
                      </a:ln>
                    </p:spPr>
                  </p:pic>
                </p:oleObj>
              </mc:Fallback>
            </mc:AlternateContent>
          </a:graphicData>
        </a:graphic>
      </p:graphicFrame>
      <p:grpSp>
        <p:nvGrpSpPr>
          <p:cNvPr id="4" name="Group 19"/>
          <p:cNvGrpSpPr/>
          <p:nvPr/>
        </p:nvGrpSpPr>
        <p:grpSpPr bwMode="auto">
          <a:xfrm>
            <a:off x="7527610" y="5472113"/>
            <a:ext cx="2124075" cy="400050"/>
            <a:chOff x="4037" y="3702"/>
            <a:chExt cx="1338" cy="252"/>
          </a:xfrm>
        </p:grpSpPr>
        <p:sp>
          <p:nvSpPr>
            <p:cNvPr id="13325" name="Text Box 9"/>
            <p:cNvSpPr txBox="1">
              <a:spLocks noChangeArrowheads="1"/>
            </p:cNvSpPr>
            <p:nvPr/>
          </p:nvSpPr>
          <p:spPr bwMode="auto">
            <a:xfrm>
              <a:off x="4037" y="3702"/>
              <a:ext cx="1338" cy="252"/>
            </a:xfrm>
            <a:prstGeom prst="rect">
              <a:avLst/>
            </a:prstGeom>
            <a:noFill/>
            <a:ln w="9525">
              <a:noFill/>
              <a:miter lim="800000"/>
            </a:ln>
          </p:spPr>
          <p:txBody>
            <a:bodyPr>
              <a:spAutoFit/>
            </a:bodyPr>
            <a:lstStyle/>
            <a:p>
              <a:pPr fontAlgn="base">
                <a:spcBef>
                  <a:spcPct val="50000"/>
                </a:spcBef>
                <a:spcAft>
                  <a:spcPct val="0"/>
                </a:spcAft>
              </a:pPr>
              <a:r>
                <a:rPr lang="zh-CN" altLang="en-US" dirty="0">
                  <a:solidFill>
                    <a:srgbClr val="000000"/>
                  </a:solidFill>
                </a:rPr>
                <a:t>计算</a:t>
              </a:r>
              <a:r>
                <a:rPr lang="en-US" altLang="zh-CN" sz="2000" dirty="0">
                  <a:solidFill>
                    <a:srgbClr val="000000"/>
                  </a:solidFill>
                  <a:latin typeface="Times New Roman" panose="02020603050405020304" pitchFamily="18" charset="0"/>
                </a:rPr>
                <a:t>     </a:t>
              </a:r>
            </a:p>
          </p:txBody>
        </p:sp>
        <p:graphicFrame>
          <p:nvGraphicFramePr>
            <p:cNvPr id="13326" name="Object 18"/>
            <p:cNvGraphicFramePr>
              <a:graphicFrameLocks noChangeAspect="1"/>
            </p:cNvGraphicFramePr>
            <p:nvPr/>
          </p:nvGraphicFramePr>
          <p:xfrm>
            <a:off x="4395" y="3702"/>
            <a:ext cx="176" cy="226"/>
          </p:xfrm>
          <a:graphic>
            <a:graphicData uri="http://schemas.openxmlformats.org/presentationml/2006/ole">
              <mc:AlternateContent xmlns:mc="http://schemas.openxmlformats.org/markup-compatibility/2006">
                <mc:Choice xmlns:v="urn:schemas-microsoft-com:vml" Requires="v">
                  <p:oleObj spid="_x0000_s8371" name="公式" r:id="rId15" imgW="3352800" imgH="5181600" progId="">
                    <p:embed/>
                  </p:oleObj>
                </mc:Choice>
                <mc:Fallback>
                  <p:oleObj name="公式" r:id="rId15" imgW="3352800" imgH="5181600" progId="">
                    <p:embed/>
                    <p:pic>
                      <p:nvPicPr>
                        <p:cNvPr id="0" name="图片 8336"/>
                        <p:cNvPicPr>
                          <a:picLocks noChangeAspect="1"/>
                        </p:cNvPicPr>
                        <p:nvPr/>
                      </p:nvPicPr>
                      <p:blipFill>
                        <a:blip r:embed="rId16"/>
                        <a:stretch>
                          <a:fillRect/>
                        </a:stretch>
                      </p:blipFill>
                      <p:spPr>
                        <a:xfrm>
                          <a:off x="4395" y="3702"/>
                          <a:ext cx="176" cy="226"/>
                        </a:xfrm>
                        <a:prstGeom prst="rect">
                          <a:avLst/>
                        </a:prstGeom>
                        <a:noFill/>
                        <a:ln w="9525">
                          <a:noFill/>
                        </a:ln>
                      </p:spPr>
                    </p:pic>
                  </p:oleObj>
                </mc:Fallback>
              </mc:AlternateContent>
            </a:graphicData>
          </a:graphic>
        </p:graphicFrame>
      </p:grpSp>
      <p:sp>
        <p:nvSpPr>
          <p:cNvPr id="13323" name="矩形 18"/>
          <p:cNvSpPr>
            <a:spLocks noChangeArrowheads="1"/>
          </p:cNvSpPr>
          <p:nvPr/>
        </p:nvSpPr>
        <p:spPr bwMode="auto">
          <a:xfrm>
            <a:off x="92075" y="4005064"/>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①</a:t>
            </a:r>
          </a:p>
        </p:txBody>
      </p:sp>
      <p:graphicFrame>
        <p:nvGraphicFramePr>
          <p:cNvPr id="13324" name="Object 11"/>
          <p:cNvGraphicFramePr>
            <a:graphicFrameLocks noChangeAspect="1"/>
          </p:cNvGraphicFramePr>
          <p:nvPr/>
        </p:nvGraphicFramePr>
        <p:xfrm>
          <a:off x="1676816" y="4053378"/>
          <a:ext cx="255587" cy="358775"/>
        </p:xfrm>
        <a:graphic>
          <a:graphicData uri="http://schemas.openxmlformats.org/presentationml/2006/ole">
            <mc:AlternateContent xmlns:mc="http://schemas.openxmlformats.org/markup-compatibility/2006">
              <mc:Choice xmlns:v="urn:schemas-microsoft-com:vml" Requires="v">
                <p:oleObj spid="_x0000_s8372" name="公式" r:id="rId17" imgW="3352800" imgH="5181600" progId="">
                  <p:embed/>
                </p:oleObj>
              </mc:Choice>
              <mc:Fallback>
                <p:oleObj name="公式" r:id="rId17" imgW="3352800" imgH="5181600" progId="">
                  <p:embed/>
                  <p:pic>
                    <p:nvPicPr>
                      <p:cNvPr id="0" name="图片 8337"/>
                      <p:cNvPicPr>
                        <a:picLocks noChangeAspect="1"/>
                      </p:cNvPicPr>
                      <p:nvPr/>
                    </p:nvPicPr>
                    <p:blipFill>
                      <a:blip r:embed="rId8"/>
                      <a:stretch>
                        <a:fillRect/>
                      </a:stretch>
                    </p:blipFill>
                    <p:spPr>
                      <a:xfrm>
                        <a:off x="1676816" y="4053378"/>
                        <a:ext cx="255587" cy="358775"/>
                      </a:xfrm>
                      <a:prstGeom prst="rect">
                        <a:avLst/>
                      </a:prstGeom>
                      <a:noFill/>
                      <a:ln w="9525">
                        <a:noFill/>
                      </a:ln>
                    </p:spPr>
                  </p:pic>
                </p:oleObj>
              </mc:Fallback>
            </mc:AlternateContent>
          </a:graphicData>
        </a:graphic>
      </p:graphicFrame>
      <p:graphicFrame>
        <p:nvGraphicFramePr>
          <p:cNvPr id="18" name="Object 8"/>
          <p:cNvGraphicFramePr>
            <a:graphicFrameLocks noChangeAspect="1"/>
          </p:cNvGraphicFramePr>
          <p:nvPr/>
        </p:nvGraphicFramePr>
        <p:xfrm>
          <a:off x="2951956" y="5988050"/>
          <a:ext cx="2159000" cy="733425"/>
        </p:xfrm>
        <a:graphic>
          <a:graphicData uri="http://schemas.openxmlformats.org/presentationml/2006/ole">
            <mc:AlternateContent xmlns:mc="http://schemas.openxmlformats.org/markup-compatibility/2006">
              <mc:Choice xmlns:v="urn:schemas-microsoft-com:vml" Requires="v">
                <p:oleObj spid="_x0000_s8373" name="公式" r:id="rId18" imgW="27736800" imgH="9448800" progId="">
                  <p:embed/>
                </p:oleObj>
              </mc:Choice>
              <mc:Fallback>
                <p:oleObj name="公式" r:id="rId18" imgW="27736800" imgH="9448800" progId="">
                  <p:embed/>
                  <p:pic>
                    <p:nvPicPr>
                      <p:cNvPr id="0" name="图片 8338"/>
                      <p:cNvPicPr>
                        <a:picLocks noChangeAspect="1"/>
                      </p:cNvPicPr>
                      <p:nvPr/>
                    </p:nvPicPr>
                    <p:blipFill>
                      <a:blip r:embed="rId19"/>
                      <a:stretch>
                        <a:fillRect/>
                      </a:stretch>
                    </p:blipFill>
                    <p:spPr>
                      <a:xfrm>
                        <a:off x="2951956" y="5988050"/>
                        <a:ext cx="2159000" cy="733425"/>
                      </a:xfrm>
                      <a:prstGeom prst="rect">
                        <a:avLst/>
                      </a:prstGeom>
                      <a:noFill/>
                      <a:ln w="9525">
                        <a:noFill/>
                      </a:ln>
                    </p:spPr>
                  </p:pic>
                </p:oleObj>
              </mc:Fallback>
            </mc:AlternateContent>
          </a:graphicData>
        </a:graphic>
      </p:graphicFrame>
      <p:sp>
        <p:nvSpPr>
          <p:cNvPr id="20" name="文本框 19"/>
          <p:cNvSpPr txBox="1"/>
          <p:nvPr/>
        </p:nvSpPr>
        <p:spPr>
          <a:xfrm>
            <a:off x="909012" y="6033505"/>
            <a:ext cx="1798720" cy="495585"/>
          </a:xfrm>
          <a:prstGeom prst="rect">
            <a:avLst/>
          </a:prstGeom>
          <a:noFill/>
        </p:spPr>
        <p:txBody>
          <a:bodyPr wrap="square">
            <a:spAutoFit/>
          </a:bodyPr>
          <a:lstStyle/>
          <a:p>
            <a:pPr fontAlgn="base">
              <a:lnSpc>
                <a:spcPct val="150000"/>
              </a:lnSpc>
              <a:spcBef>
                <a:spcPct val="50000"/>
              </a:spcBef>
              <a:spcAft>
                <a:spcPct val="0"/>
              </a:spcAft>
            </a:pPr>
            <a:r>
              <a:rPr lang="zh-CN" altLang="en-US" sz="2000" b="1" dirty="0">
                <a:solidFill>
                  <a:srgbClr val="000000"/>
                </a:solidFill>
                <a:latin typeface="Times New Roman" panose="02020603050405020304" pitchFamily="18" charset="0"/>
              </a:rPr>
              <a:t>或用分压公式：</a:t>
            </a:r>
            <a:endParaRPr lang="en-US" altLang="zh-CN" sz="2000" b="1" dirty="0">
              <a:solidFill>
                <a:srgbClr val="000000"/>
              </a:solidFill>
              <a:latin typeface="Times New Roman" panose="02020603050405020304" pitchFamily="18" charset="0"/>
            </a:endParaRPr>
          </a:p>
        </p:txBody>
      </p:sp>
      <p:sp>
        <p:nvSpPr>
          <p:cNvPr id="5" name="灯片编号占位符 4"/>
          <p:cNvSpPr>
            <a:spLocks noGrp="1"/>
          </p:cNvSpPr>
          <p:nvPr>
            <p:ph type="sldNum" sz="quarter" idx="11"/>
          </p:nvPr>
        </p:nvSpPr>
        <p:spPr/>
        <p:txBody>
          <a:bodyPr/>
          <a:lstStyle/>
          <a:p>
            <a:pPr>
              <a:defRPr/>
            </a:pPr>
            <a:fld id="{939C9064-C0EA-4A07-ACBE-489AD4D1ABAD}" type="slidenum">
              <a:rPr lang="en-US" altLang="zh-CN" smtClean="0">
                <a:solidFill>
                  <a:srgbClr val="000000"/>
                </a:solidFill>
              </a:rPr>
              <a:t>16</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p:cNvPicPr>
            <a:picLocks noChangeAspect="1" noChangeArrowheads="1"/>
          </p:cNvPicPr>
          <p:nvPr/>
        </p:nvPicPr>
        <p:blipFill>
          <a:blip r:embed="rId3" cstate="print"/>
          <a:srcRect/>
          <a:stretch>
            <a:fillRect/>
          </a:stretch>
        </p:blipFill>
        <p:spPr bwMode="auto">
          <a:xfrm>
            <a:off x="5193654" y="3240910"/>
            <a:ext cx="3555404" cy="2616634"/>
          </a:xfrm>
          <a:prstGeom prst="rect">
            <a:avLst/>
          </a:prstGeom>
          <a:noFill/>
          <a:ln w="9525">
            <a:noFill/>
            <a:miter lim="800000"/>
            <a:headEnd/>
            <a:tailEnd/>
          </a:ln>
        </p:spPr>
      </p:pic>
      <p:grpSp>
        <p:nvGrpSpPr>
          <p:cNvPr id="2" name="Group 13"/>
          <p:cNvGrpSpPr/>
          <p:nvPr/>
        </p:nvGrpSpPr>
        <p:grpSpPr bwMode="auto">
          <a:xfrm>
            <a:off x="693308" y="670799"/>
            <a:ext cx="5184775" cy="5016501"/>
            <a:chOff x="399" y="57"/>
            <a:chExt cx="3266" cy="3160"/>
          </a:xfrm>
        </p:grpSpPr>
        <p:sp>
          <p:nvSpPr>
            <p:cNvPr id="14349" name="Text Box 4"/>
            <p:cNvSpPr txBox="1">
              <a:spLocks noChangeArrowheads="1"/>
            </p:cNvSpPr>
            <p:nvPr/>
          </p:nvSpPr>
          <p:spPr bwMode="auto">
            <a:xfrm>
              <a:off x="399" y="57"/>
              <a:ext cx="3266" cy="3160"/>
            </a:xfrm>
            <a:prstGeom prst="rect">
              <a:avLst/>
            </a:prstGeom>
            <a:noFill/>
            <a:ln w="9525">
              <a:noFill/>
              <a:miter lim="800000"/>
            </a:ln>
          </p:spPr>
          <p:txBody>
            <a:bodyPr>
              <a:spAutoFit/>
            </a:bodyPr>
            <a:lstStyle/>
            <a:p>
              <a:pPr fontAlgn="base">
                <a:lnSpc>
                  <a:spcPct val="150000"/>
                </a:lnSpc>
                <a:spcBef>
                  <a:spcPct val="50000"/>
                </a:spcBef>
                <a:spcAft>
                  <a:spcPct val="0"/>
                </a:spcAft>
              </a:pPr>
              <a:endParaRPr lang="en-US" altLang="zh-CN" sz="2000" dirty="0">
                <a:solidFill>
                  <a:srgbClr val="000000"/>
                </a:solidFill>
                <a:latin typeface="Times New Roman" panose="02020603050405020304" pitchFamily="18" charset="0"/>
              </a:endParaRPr>
            </a:p>
            <a:p>
              <a:pPr fontAlgn="base">
                <a:lnSpc>
                  <a:spcPct val="150000"/>
                </a:lnSpc>
                <a:spcBef>
                  <a:spcPct val="50000"/>
                </a:spcBef>
                <a:spcAft>
                  <a:spcPct val="0"/>
                </a:spcAft>
              </a:pPr>
              <a:endParaRPr lang="en-US" altLang="zh-CN" sz="2000" dirty="0">
                <a:solidFill>
                  <a:srgbClr val="000000"/>
                </a:solidFill>
                <a:latin typeface="Times New Roman" panose="02020603050405020304" pitchFamily="18" charset="0"/>
              </a:endParaRPr>
            </a:p>
            <a:p>
              <a:pPr fontAlgn="base">
                <a:lnSpc>
                  <a:spcPct val="150000"/>
                </a:lnSpc>
                <a:spcBef>
                  <a:spcPct val="50000"/>
                </a:spcBef>
                <a:spcAft>
                  <a:spcPct val="0"/>
                </a:spcAft>
              </a:pPr>
              <a:r>
                <a:rPr lang="en-US" altLang="zh-CN" sz="2000" dirty="0">
                  <a:solidFill>
                    <a:srgbClr val="00007D"/>
                  </a:solidFill>
                  <a:latin typeface="Times New Roman" panose="02020603050405020304" pitchFamily="18" charset="0"/>
                </a:rPr>
                <a:t>  </a:t>
              </a:r>
              <a:r>
                <a:rPr lang="zh-CN" altLang="en-US" sz="2000" b="1" dirty="0">
                  <a:latin typeface="Times New Roman" panose="02020603050405020304" pitchFamily="18" charset="0"/>
                </a:rPr>
                <a:t>为了得到</a:t>
              </a:r>
              <a:r>
                <a:rPr lang="en-US" altLang="zh-CN" sz="2000" b="1" dirty="0">
                  <a:latin typeface="Times New Roman" panose="02020603050405020304" pitchFamily="18" charset="0"/>
                </a:rPr>
                <a:t>      </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我们把电压源置</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因此</a:t>
              </a:r>
              <a:r>
                <a:rPr lang="en-US" altLang="zh-CN" sz="2000" b="1" dirty="0">
                  <a:solidFill>
                    <a:srgbClr val="000000"/>
                  </a:solidFill>
                  <a:latin typeface="Times New Roman" panose="02020603050405020304" pitchFamily="18" charset="0"/>
                </a:rPr>
                <a:t>, </a:t>
              </a: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latin typeface="Times New Roman" panose="02020603050405020304" pitchFamily="18" charset="0"/>
                </a:rPr>
                <a:t>叠加后</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p:txBody>
        </p:sp>
        <p:graphicFrame>
          <p:nvGraphicFramePr>
            <p:cNvPr id="14351" name="Object 9"/>
            <p:cNvGraphicFramePr>
              <a:graphicFrameLocks noChangeAspect="1"/>
            </p:cNvGraphicFramePr>
            <p:nvPr/>
          </p:nvGraphicFramePr>
          <p:xfrm>
            <a:off x="1178" y="890"/>
            <a:ext cx="227" cy="225"/>
          </p:xfrm>
          <a:graphic>
            <a:graphicData uri="http://schemas.openxmlformats.org/presentationml/2006/ole">
              <mc:AlternateContent xmlns:mc="http://schemas.openxmlformats.org/markup-compatibility/2006">
                <mc:Choice xmlns:v="urn:schemas-microsoft-com:vml" Requires="v">
                  <p:oleObj spid="_x0000_s9327" name="公式" r:id="rId4" imgW="3962400" imgH="5181600" progId="">
                    <p:embed/>
                  </p:oleObj>
                </mc:Choice>
                <mc:Fallback>
                  <p:oleObj name="公式" r:id="rId4" imgW="3962400" imgH="5181600" progId="">
                    <p:embed/>
                    <p:pic>
                      <p:nvPicPr>
                        <p:cNvPr id="0" name="图片 9216"/>
                        <p:cNvPicPr>
                          <a:picLocks noChangeAspect="1"/>
                        </p:cNvPicPr>
                        <p:nvPr/>
                      </p:nvPicPr>
                      <p:blipFill>
                        <a:blip r:embed="rId5"/>
                        <a:stretch>
                          <a:fillRect/>
                        </a:stretch>
                      </p:blipFill>
                      <p:spPr>
                        <a:xfrm>
                          <a:off x="1178" y="890"/>
                          <a:ext cx="227" cy="225"/>
                        </a:xfrm>
                        <a:prstGeom prst="rect">
                          <a:avLst/>
                        </a:prstGeom>
                        <a:noFill/>
                        <a:ln w="9525">
                          <a:noFill/>
                        </a:ln>
                      </p:spPr>
                    </p:pic>
                  </p:oleObj>
                </mc:Fallback>
              </mc:AlternateContent>
            </a:graphicData>
          </a:graphic>
        </p:graphicFrame>
      </p:grpSp>
      <p:graphicFrame>
        <p:nvGraphicFramePr>
          <p:cNvPr id="14341" name="Object 10"/>
          <p:cNvGraphicFramePr>
            <a:graphicFrameLocks noChangeAspect="1"/>
          </p:cNvGraphicFramePr>
          <p:nvPr/>
        </p:nvGraphicFramePr>
        <p:xfrm>
          <a:off x="1725218" y="2478997"/>
          <a:ext cx="2160588" cy="727075"/>
        </p:xfrm>
        <a:graphic>
          <a:graphicData uri="http://schemas.openxmlformats.org/presentationml/2006/ole">
            <mc:AlternateContent xmlns:mc="http://schemas.openxmlformats.org/markup-compatibility/2006">
              <mc:Choice xmlns:v="urn:schemas-microsoft-com:vml" Requires="v">
                <p:oleObj spid="_x0000_s9328" name="公式" r:id="rId6" imgW="27127200" imgH="9448800" progId="">
                  <p:embed/>
                </p:oleObj>
              </mc:Choice>
              <mc:Fallback>
                <p:oleObj name="公式" r:id="rId6" imgW="27127200" imgH="9448800" progId="">
                  <p:embed/>
                  <p:pic>
                    <p:nvPicPr>
                      <p:cNvPr id="0" name="图片 9305"/>
                      <p:cNvPicPr>
                        <a:picLocks noChangeAspect="1"/>
                      </p:cNvPicPr>
                      <p:nvPr/>
                    </p:nvPicPr>
                    <p:blipFill>
                      <a:blip r:embed="rId7"/>
                      <a:stretch>
                        <a:fillRect/>
                      </a:stretch>
                    </p:blipFill>
                    <p:spPr>
                      <a:xfrm>
                        <a:off x="1725218" y="2478997"/>
                        <a:ext cx="2160588" cy="727075"/>
                      </a:xfrm>
                      <a:prstGeom prst="rect">
                        <a:avLst/>
                      </a:prstGeom>
                      <a:noFill/>
                      <a:ln w="9525">
                        <a:noFill/>
                      </a:ln>
                    </p:spPr>
                  </p:pic>
                </p:oleObj>
              </mc:Fallback>
            </mc:AlternateContent>
          </a:graphicData>
        </a:graphic>
      </p:graphicFrame>
      <p:graphicFrame>
        <p:nvGraphicFramePr>
          <p:cNvPr id="14342" name="Object 11"/>
          <p:cNvGraphicFramePr>
            <a:graphicFrameLocks noChangeAspect="1"/>
          </p:cNvGraphicFramePr>
          <p:nvPr/>
        </p:nvGraphicFramePr>
        <p:xfrm>
          <a:off x="1620061" y="3791842"/>
          <a:ext cx="2016125" cy="423862"/>
        </p:xfrm>
        <a:graphic>
          <a:graphicData uri="http://schemas.openxmlformats.org/presentationml/2006/ole">
            <mc:AlternateContent xmlns:mc="http://schemas.openxmlformats.org/markup-compatibility/2006">
              <mc:Choice xmlns:v="urn:schemas-microsoft-com:vml" Requires="v">
                <p:oleObj spid="_x0000_s9329" name="公式" r:id="rId8" imgW="20116800" imgH="5486400" progId="">
                  <p:embed/>
                </p:oleObj>
              </mc:Choice>
              <mc:Fallback>
                <p:oleObj name="公式" r:id="rId8" imgW="20116800" imgH="5486400" progId="">
                  <p:embed/>
                  <p:pic>
                    <p:nvPicPr>
                      <p:cNvPr id="0" name="图片 9306"/>
                      <p:cNvPicPr>
                        <a:picLocks noChangeAspect="1"/>
                      </p:cNvPicPr>
                      <p:nvPr/>
                    </p:nvPicPr>
                    <p:blipFill>
                      <a:blip r:embed="rId9"/>
                      <a:stretch>
                        <a:fillRect/>
                      </a:stretch>
                    </p:blipFill>
                    <p:spPr>
                      <a:xfrm>
                        <a:off x="1620061" y="3791842"/>
                        <a:ext cx="2016125" cy="423862"/>
                      </a:xfrm>
                      <a:prstGeom prst="rect">
                        <a:avLst/>
                      </a:prstGeom>
                      <a:noFill/>
                      <a:ln w="9525">
                        <a:noFill/>
                      </a:ln>
                    </p:spPr>
                  </p:pic>
                </p:oleObj>
              </mc:Fallback>
            </mc:AlternateContent>
          </a:graphicData>
        </a:graphic>
      </p:graphicFrame>
      <p:graphicFrame>
        <p:nvGraphicFramePr>
          <p:cNvPr id="14343" name="Object 12"/>
          <p:cNvGraphicFramePr>
            <a:graphicFrameLocks noChangeAspect="1"/>
          </p:cNvGraphicFramePr>
          <p:nvPr/>
        </p:nvGraphicFramePr>
        <p:xfrm>
          <a:off x="741727" y="5656726"/>
          <a:ext cx="2736850" cy="401637"/>
        </p:xfrm>
        <a:graphic>
          <a:graphicData uri="http://schemas.openxmlformats.org/presentationml/2006/ole">
            <mc:AlternateContent xmlns:mc="http://schemas.openxmlformats.org/markup-compatibility/2006">
              <mc:Choice xmlns:v="urn:schemas-microsoft-com:vml" Requires="v">
                <p:oleObj spid="_x0000_s9330" name="公式" r:id="rId10" imgW="35356800" imgH="5181600" progId="">
                  <p:embed/>
                </p:oleObj>
              </mc:Choice>
              <mc:Fallback>
                <p:oleObj name="公式" r:id="rId10" imgW="35356800" imgH="5181600" progId="">
                  <p:embed/>
                  <p:pic>
                    <p:nvPicPr>
                      <p:cNvPr id="0" name="图片 9307"/>
                      <p:cNvPicPr>
                        <a:picLocks noChangeAspect="1"/>
                      </p:cNvPicPr>
                      <p:nvPr/>
                    </p:nvPicPr>
                    <p:blipFill>
                      <a:blip r:embed="rId11"/>
                      <a:stretch>
                        <a:fillRect/>
                      </a:stretch>
                    </p:blipFill>
                    <p:spPr>
                      <a:xfrm>
                        <a:off x="741727" y="5656726"/>
                        <a:ext cx="2736850" cy="401637"/>
                      </a:xfrm>
                      <a:prstGeom prst="rect">
                        <a:avLst/>
                      </a:prstGeom>
                      <a:noFill/>
                      <a:ln w="9525">
                        <a:noFill/>
                      </a:ln>
                    </p:spPr>
                  </p:pic>
                </p:oleObj>
              </mc:Fallback>
            </mc:AlternateContent>
          </a:graphicData>
        </a:graphic>
      </p:graphicFrame>
      <p:grpSp>
        <p:nvGrpSpPr>
          <p:cNvPr id="3" name="Group 15"/>
          <p:cNvGrpSpPr/>
          <p:nvPr/>
        </p:nvGrpSpPr>
        <p:grpSpPr bwMode="auto">
          <a:xfrm>
            <a:off x="6813910" y="5328525"/>
            <a:ext cx="1658005" cy="358775"/>
            <a:chOff x="3843" y="3205"/>
            <a:chExt cx="2041" cy="226"/>
          </a:xfrm>
        </p:grpSpPr>
        <p:sp>
          <p:nvSpPr>
            <p:cNvPr id="14347" name="Text Box 6"/>
            <p:cNvSpPr txBox="1">
              <a:spLocks noChangeArrowheads="1"/>
            </p:cNvSpPr>
            <p:nvPr/>
          </p:nvSpPr>
          <p:spPr bwMode="auto">
            <a:xfrm>
              <a:off x="3843" y="3218"/>
              <a:ext cx="2041" cy="213"/>
            </a:xfrm>
            <a:prstGeom prst="rect">
              <a:avLst/>
            </a:prstGeom>
            <a:noFill/>
            <a:ln w="9525">
              <a:noFill/>
              <a:miter lim="800000"/>
            </a:ln>
          </p:spPr>
          <p:txBody>
            <a:bodyPr>
              <a:spAutoFit/>
            </a:bodyPr>
            <a:lstStyle/>
            <a:p>
              <a:pPr fontAlgn="base">
                <a:spcBef>
                  <a:spcPct val="50000"/>
                </a:spcBef>
                <a:spcAft>
                  <a:spcPct val="0"/>
                </a:spcAft>
              </a:pPr>
              <a:r>
                <a:rPr lang="zh-CN" altLang="en-US" sz="1600" dirty="0">
                  <a:solidFill>
                    <a:srgbClr val="000000"/>
                  </a:solidFill>
                </a:rPr>
                <a:t>计算</a:t>
              </a:r>
              <a:endParaRPr lang="en-US" altLang="zh-CN" dirty="0">
                <a:solidFill>
                  <a:srgbClr val="000000"/>
                </a:solidFill>
                <a:latin typeface="Times New Roman" panose="02020603050405020304" pitchFamily="18" charset="0"/>
              </a:endParaRPr>
            </a:p>
          </p:txBody>
        </p:sp>
        <p:graphicFrame>
          <p:nvGraphicFramePr>
            <p:cNvPr id="14348" name="Object 14"/>
            <p:cNvGraphicFramePr>
              <a:graphicFrameLocks noChangeAspect="1"/>
            </p:cNvGraphicFramePr>
            <p:nvPr/>
          </p:nvGraphicFramePr>
          <p:xfrm>
            <a:off x="4560" y="3205"/>
            <a:ext cx="172" cy="226"/>
          </p:xfrm>
          <a:graphic>
            <a:graphicData uri="http://schemas.openxmlformats.org/presentationml/2006/ole">
              <mc:AlternateContent xmlns:mc="http://schemas.openxmlformats.org/markup-compatibility/2006">
                <mc:Choice xmlns:v="urn:schemas-microsoft-com:vml" Requires="v">
                  <p:oleObj spid="_x0000_s9331" name="公式" r:id="rId12" imgW="3962400" imgH="5181600" progId="">
                    <p:embed/>
                  </p:oleObj>
                </mc:Choice>
                <mc:Fallback>
                  <p:oleObj name="公式" r:id="rId12" imgW="3962400" imgH="5181600" progId="">
                    <p:embed/>
                    <p:pic>
                      <p:nvPicPr>
                        <p:cNvPr id="0" name="图片 9308"/>
                        <p:cNvPicPr>
                          <a:picLocks noChangeAspect="1"/>
                        </p:cNvPicPr>
                        <p:nvPr/>
                      </p:nvPicPr>
                      <p:blipFill>
                        <a:blip r:embed="rId13"/>
                        <a:stretch>
                          <a:fillRect/>
                        </a:stretch>
                      </p:blipFill>
                      <p:spPr>
                        <a:xfrm>
                          <a:off x="4560" y="3205"/>
                          <a:ext cx="172" cy="226"/>
                        </a:xfrm>
                        <a:prstGeom prst="rect">
                          <a:avLst/>
                        </a:prstGeom>
                        <a:noFill/>
                        <a:ln w="9525">
                          <a:noFill/>
                        </a:ln>
                      </p:spPr>
                    </p:pic>
                  </p:oleObj>
                </mc:Fallback>
              </mc:AlternateContent>
            </a:graphicData>
          </a:graphic>
        </p:graphicFrame>
      </p:grpSp>
      <p:sp>
        <p:nvSpPr>
          <p:cNvPr id="14345" name="矩形 15"/>
          <p:cNvSpPr>
            <a:spLocks noChangeArrowheads="1"/>
          </p:cNvSpPr>
          <p:nvPr/>
        </p:nvSpPr>
        <p:spPr bwMode="auto">
          <a:xfrm>
            <a:off x="421411" y="1993088"/>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②</a:t>
            </a:r>
          </a:p>
        </p:txBody>
      </p:sp>
      <p:sp>
        <p:nvSpPr>
          <p:cNvPr id="14346" name="矩形 16"/>
          <p:cNvSpPr>
            <a:spLocks noChangeArrowheads="1"/>
          </p:cNvSpPr>
          <p:nvPr/>
        </p:nvSpPr>
        <p:spPr bwMode="auto">
          <a:xfrm>
            <a:off x="336697" y="5242383"/>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③</a:t>
            </a:r>
          </a:p>
        </p:txBody>
      </p:sp>
      <p:pic>
        <p:nvPicPr>
          <p:cNvPr id="14" name="Picture 6"/>
          <p:cNvPicPr>
            <a:picLocks noChangeAspect="1" noChangeArrowheads="1"/>
          </p:cNvPicPr>
          <p:nvPr/>
        </p:nvPicPr>
        <p:blipFill>
          <a:blip r:embed="rId14" cstate="print"/>
          <a:srcRect/>
          <a:stretch>
            <a:fillRect/>
          </a:stretch>
        </p:blipFill>
        <p:spPr bwMode="auto">
          <a:xfrm>
            <a:off x="3306584" y="189969"/>
            <a:ext cx="3774140" cy="1656184"/>
          </a:xfrm>
          <a:prstGeom prst="rect">
            <a:avLst/>
          </a:prstGeom>
          <a:noFill/>
          <a:ln w="9525">
            <a:noFill/>
            <a:miter lim="800000"/>
            <a:headEnd/>
            <a:tailEnd/>
          </a:ln>
        </p:spPr>
      </p:pic>
      <p:sp>
        <p:nvSpPr>
          <p:cNvPr id="4" name="文本框 3"/>
          <p:cNvSpPr txBox="1"/>
          <p:nvPr/>
        </p:nvSpPr>
        <p:spPr>
          <a:xfrm>
            <a:off x="5534195" y="1837913"/>
            <a:ext cx="646331" cy="369332"/>
          </a:xfrm>
          <a:prstGeom prst="rect">
            <a:avLst/>
          </a:prstGeom>
          <a:noFill/>
        </p:spPr>
        <p:txBody>
          <a:bodyPr wrap="none" rtlCol="0">
            <a:spAutoFit/>
          </a:bodyPr>
          <a:lstStyle/>
          <a:p>
            <a:r>
              <a:rPr lang="zh-CN" altLang="en-US" dirty="0"/>
              <a:t>题图</a:t>
            </a:r>
          </a:p>
        </p:txBody>
      </p:sp>
      <p:sp>
        <p:nvSpPr>
          <p:cNvPr id="5" name="灯片编号占位符 4"/>
          <p:cNvSpPr>
            <a:spLocks noGrp="1"/>
          </p:cNvSpPr>
          <p:nvPr>
            <p:ph type="sldNum" sz="quarter" idx="11"/>
          </p:nvPr>
        </p:nvSpPr>
        <p:spPr/>
        <p:txBody>
          <a:bodyPr/>
          <a:lstStyle/>
          <a:p>
            <a:pPr>
              <a:defRPr/>
            </a:pPr>
            <a:fld id="{939C9064-C0EA-4A07-ACBE-489AD4D1ABAD}" type="slidenum">
              <a:rPr lang="en-US" altLang="zh-CN" smtClean="0">
                <a:solidFill>
                  <a:srgbClr val="000000"/>
                </a:solidFill>
              </a:rPr>
              <a:t>17</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18</a:t>
            </a:fld>
            <a:endParaRPr lang="en-US" altLang="zh-CN">
              <a:solidFill>
                <a:srgbClr val="000000"/>
              </a:solidFill>
            </a:endParaRPr>
          </a:p>
        </p:txBody>
      </p:sp>
      <p:pic>
        <p:nvPicPr>
          <p:cNvPr id="5" name="内容占位符 4"/>
          <p:cNvPicPr>
            <a:picLocks noGrp="1" noChangeAspect="1"/>
          </p:cNvPicPr>
          <p:nvPr>
            <p:ph idx="1"/>
          </p:nvPr>
        </p:nvPicPr>
        <p:blipFill>
          <a:blip r:embed="rId2"/>
          <a:stretch>
            <a:fillRect/>
          </a:stretch>
        </p:blipFill>
        <p:spPr>
          <a:xfrm>
            <a:off x="683895" y="765175"/>
            <a:ext cx="6019800" cy="388620"/>
          </a:xfrm>
          <a:prstGeom prst="rect">
            <a:avLst/>
          </a:prstGeom>
        </p:spPr>
      </p:pic>
      <p:pic>
        <p:nvPicPr>
          <p:cNvPr id="6" name="图片 5"/>
          <p:cNvPicPr>
            <a:picLocks noChangeAspect="1"/>
          </p:cNvPicPr>
          <p:nvPr/>
        </p:nvPicPr>
        <p:blipFill>
          <a:blip r:embed="rId3"/>
          <a:stretch>
            <a:fillRect/>
          </a:stretch>
        </p:blipFill>
        <p:spPr>
          <a:xfrm>
            <a:off x="5292090" y="1485265"/>
            <a:ext cx="3413760" cy="1874520"/>
          </a:xfrm>
          <a:prstGeom prst="rect">
            <a:avLst/>
          </a:prstGeom>
        </p:spPr>
      </p:pic>
      <p:sp>
        <p:nvSpPr>
          <p:cNvPr id="7" name="文本框 6"/>
          <p:cNvSpPr txBox="1"/>
          <p:nvPr/>
        </p:nvSpPr>
        <p:spPr>
          <a:xfrm>
            <a:off x="553085" y="1404620"/>
            <a:ext cx="4523105" cy="3138170"/>
          </a:xfrm>
          <a:prstGeom prst="rect">
            <a:avLst/>
          </a:prstGeom>
          <a:noFill/>
        </p:spPr>
        <p:txBody>
          <a:bodyPr wrap="square" rtlCol="0">
            <a:spAutoFit/>
          </a:bodyPr>
          <a:lstStyle/>
          <a:p>
            <a:r>
              <a:rPr lang="zh-CN" altLang="en-US"/>
              <a:t>解：（</a:t>
            </a:r>
            <a:r>
              <a:rPr lang="en-US" altLang="zh-CN"/>
              <a:t>1</a:t>
            </a:r>
            <a:r>
              <a:rPr lang="zh-CN" altLang="en-US"/>
              <a:t>）只有</a:t>
            </a:r>
            <a:r>
              <a:rPr lang="en-US" altLang="zh-CN"/>
              <a:t>40V</a:t>
            </a:r>
            <a:r>
              <a:rPr lang="zh-CN" altLang="en-US"/>
              <a:t>电源的情况：</a:t>
            </a:r>
          </a:p>
          <a:p>
            <a:endParaRPr lang="zh-CN" altLang="en-US"/>
          </a:p>
          <a:p>
            <a:r>
              <a:rPr lang="en-US" altLang="zh-CN"/>
              <a:t>v0(1)=(2/10)x40=8V</a:t>
            </a:r>
          </a:p>
          <a:p>
            <a:endParaRPr lang="en-US" altLang="zh-CN"/>
          </a:p>
          <a:p>
            <a:r>
              <a:rPr lang="en-US" altLang="zh-CN"/>
              <a:t>(2)</a:t>
            </a:r>
            <a:r>
              <a:rPr lang="zh-CN" altLang="en-US"/>
              <a:t>只有</a:t>
            </a:r>
            <a:r>
              <a:rPr lang="en-US" altLang="zh-CN">
                <a:solidFill>
                  <a:srgbClr val="FF0000"/>
                </a:solidFill>
                <a:highlight>
                  <a:srgbClr val="FFFF00"/>
                </a:highlight>
              </a:rPr>
              <a:t>8A</a:t>
            </a:r>
            <a:r>
              <a:rPr lang="zh-CN" altLang="en-US"/>
              <a:t>电流源的情况</a:t>
            </a:r>
            <a:r>
              <a:rPr lang="en-US" altLang="zh-CN"/>
              <a:t>  </a:t>
            </a:r>
            <a:r>
              <a:rPr lang="zh-CN" altLang="en-US"/>
              <a:t>（图上电流的单位错了）</a:t>
            </a:r>
          </a:p>
          <a:p>
            <a:endParaRPr lang="zh-CN" altLang="en-US"/>
          </a:p>
          <a:p>
            <a:r>
              <a:rPr lang="en-US" altLang="zh-CN"/>
              <a:t>V0(2)=2X4=8V</a:t>
            </a:r>
          </a:p>
          <a:p>
            <a:endParaRPr lang="en-US" altLang="zh-CN"/>
          </a:p>
          <a:p>
            <a:r>
              <a:rPr lang="en-US" altLang="zh-CN"/>
              <a:t>(3) V0=V0(1)+V0(2)=16V</a:t>
            </a:r>
            <a:endParaRPr lang="zh-CN" altLang="en-US"/>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692696"/>
            <a:ext cx="8229600" cy="1371600"/>
          </a:xfrm>
        </p:spPr>
        <p:txBody>
          <a:bodyPr/>
          <a:lstStyle/>
          <a:p>
            <a:r>
              <a:rPr lang="zh-CN" altLang="en-US" dirty="0">
                <a:solidFill>
                  <a:srgbClr val="002060"/>
                </a:solidFill>
                <a:latin typeface="黑体" panose="02010609060101010101" pitchFamily="49" charset="-122"/>
                <a:ea typeface="黑体" panose="02010609060101010101" pitchFamily="49" charset="-122"/>
              </a:rPr>
              <a:t>考核形式</a:t>
            </a:r>
          </a:p>
        </p:txBody>
      </p:sp>
      <p:sp>
        <p:nvSpPr>
          <p:cNvPr id="3" name="内容占位符 2"/>
          <p:cNvSpPr>
            <a:spLocks noGrp="1"/>
          </p:cNvSpPr>
          <p:nvPr>
            <p:ph idx="1"/>
          </p:nvPr>
        </p:nvSpPr>
        <p:spPr>
          <a:xfrm>
            <a:off x="1187624" y="2780928"/>
            <a:ext cx="6995120" cy="3886200"/>
          </a:xfrm>
        </p:spPr>
        <p:txBody>
          <a:bodyPr/>
          <a:lstStyle/>
          <a:p>
            <a:r>
              <a:rPr lang="zh-CN" altLang="en-US" dirty="0"/>
              <a:t>平时成绩：</a:t>
            </a:r>
            <a:r>
              <a:rPr lang="en-US" altLang="zh-CN" dirty="0"/>
              <a:t>50%</a:t>
            </a:r>
            <a:r>
              <a:rPr lang="zh-CN" altLang="en-US" dirty="0"/>
              <a:t>，含作业，考勤，小测，课堂互动。。。。</a:t>
            </a:r>
            <a:endParaRPr lang="en-US" altLang="zh-CN" dirty="0"/>
          </a:p>
          <a:p>
            <a:r>
              <a:rPr lang="zh-CN" altLang="en-US" dirty="0"/>
              <a:t>期末考试：</a:t>
            </a:r>
            <a:r>
              <a:rPr lang="en-US" altLang="zh-CN" dirty="0"/>
              <a:t>50%</a:t>
            </a:r>
          </a:p>
          <a:p>
            <a:r>
              <a:rPr lang="zh-CN" altLang="en-US" dirty="0"/>
              <a:t>不设期中考试。</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19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468313" y="404813"/>
            <a:ext cx="4608512" cy="39878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例</a:t>
            </a:r>
            <a:r>
              <a:rPr lang="en-US" altLang="zh-CN" sz="2000" b="1" dirty="0">
                <a:solidFill>
                  <a:srgbClr val="FF0000"/>
                </a:solidFill>
                <a:latin typeface="Times New Roman" panose="02020603050405020304" pitchFamily="18" charset="0"/>
              </a:rPr>
              <a:t>4-4</a:t>
            </a: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   </a:t>
            </a:r>
            <a:r>
              <a:rPr lang="en-US" altLang="zh-CN" sz="2000" b="1" dirty="0">
                <a:solidFill>
                  <a:srgbClr val="CCCCE6"/>
                </a:solidFill>
                <a:latin typeface="Times New Roman" panose="02020603050405020304" pitchFamily="18" charset="0"/>
              </a:rPr>
              <a:t>(</a:t>
            </a:r>
            <a:r>
              <a:rPr lang="zh-CN" altLang="en-US" sz="2000" b="1" dirty="0">
                <a:solidFill>
                  <a:srgbClr val="CCCCE6"/>
                </a:solidFill>
                <a:latin typeface="Times New Roman" panose="02020603050405020304" pitchFamily="18" charset="0"/>
              </a:rPr>
              <a:t>含受控源，堂练</a:t>
            </a:r>
            <a:r>
              <a:rPr lang="en-US" altLang="zh-CN" sz="2000" b="1" dirty="0">
                <a:solidFill>
                  <a:srgbClr val="CCCCE6"/>
                </a:solidFill>
                <a:latin typeface="Times New Roman" panose="02020603050405020304" pitchFamily="18" charset="0"/>
              </a:rPr>
              <a:t>)</a:t>
            </a:r>
          </a:p>
        </p:txBody>
      </p:sp>
      <p:sp>
        <p:nvSpPr>
          <p:cNvPr id="15363" name="Text Box 5"/>
          <p:cNvSpPr txBox="1">
            <a:spLocks noChangeArrowheads="1"/>
          </p:cNvSpPr>
          <p:nvPr/>
        </p:nvSpPr>
        <p:spPr bwMode="auto">
          <a:xfrm>
            <a:off x="468313" y="908050"/>
            <a:ext cx="6048375" cy="40005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用叠加定理求出图中电路中的</a:t>
            </a:r>
            <a:endParaRPr lang="en-US" altLang="zh-CN" sz="2000" b="1" dirty="0">
              <a:solidFill>
                <a:srgbClr val="000000"/>
              </a:solidFill>
              <a:latin typeface="Times New Roman" panose="02020603050405020304" pitchFamily="18" charset="0"/>
            </a:endParaRPr>
          </a:p>
        </p:txBody>
      </p:sp>
      <p:pic>
        <p:nvPicPr>
          <p:cNvPr id="15364" name="Picture 7"/>
          <p:cNvPicPr>
            <a:picLocks noChangeAspect="1" noChangeArrowheads="1"/>
          </p:cNvPicPr>
          <p:nvPr/>
        </p:nvPicPr>
        <p:blipFill>
          <a:blip r:embed="rId3" cstate="print"/>
          <a:srcRect/>
          <a:stretch>
            <a:fillRect/>
          </a:stretch>
        </p:blipFill>
        <p:spPr bwMode="auto">
          <a:xfrm>
            <a:off x="1619250" y="1550842"/>
            <a:ext cx="6121102" cy="4456258"/>
          </a:xfrm>
          <a:prstGeom prst="rect">
            <a:avLst/>
          </a:prstGeom>
          <a:noFill/>
          <a:ln w="9525">
            <a:noFill/>
            <a:miter lim="800000"/>
            <a:headEnd/>
            <a:tailEnd/>
          </a:ln>
        </p:spPr>
      </p:pic>
      <p:graphicFrame>
        <p:nvGraphicFramePr>
          <p:cNvPr id="15366" name="Object 9"/>
          <p:cNvGraphicFramePr>
            <a:graphicFrameLocks noChangeAspect="1"/>
          </p:cNvGraphicFramePr>
          <p:nvPr/>
        </p:nvGraphicFramePr>
        <p:xfrm>
          <a:off x="3924300" y="892175"/>
          <a:ext cx="241300" cy="433388"/>
        </p:xfrm>
        <a:graphic>
          <a:graphicData uri="http://schemas.openxmlformats.org/presentationml/2006/ole">
            <mc:AlternateContent xmlns:mc="http://schemas.openxmlformats.org/markup-compatibility/2006">
              <mc:Choice xmlns:v="urn:schemas-microsoft-com:vml" Requires="v">
                <p:oleObj spid="_x0000_s10247" name="公式" r:id="rId4" imgW="3048000" imgH="5486400" progId="">
                  <p:embed/>
                </p:oleObj>
              </mc:Choice>
              <mc:Fallback>
                <p:oleObj name="公式" r:id="rId4" imgW="3048000" imgH="5486400" progId="">
                  <p:embed/>
                  <p:pic>
                    <p:nvPicPr>
                      <p:cNvPr id="0" name="图片 10240"/>
                      <p:cNvPicPr>
                        <a:picLocks noChangeAspect="1"/>
                      </p:cNvPicPr>
                      <p:nvPr/>
                    </p:nvPicPr>
                    <p:blipFill>
                      <a:blip r:embed="rId5"/>
                      <a:stretch>
                        <a:fillRect/>
                      </a:stretch>
                    </p:blipFill>
                    <p:spPr>
                      <a:xfrm>
                        <a:off x="3924300" y="892175"/>
                        <a:ext cx="241300" cy="433388"/>
                      </a:xfrm>
                      <a:prstGeom prst="rect">
                        <a:avLst/>
                      </a:prstGeom>
                      <a:noFill/>
                      <a:ln w="9525">
                        <a:noFill/>
                      </a:ln>
                    </p:spPr>
                  </p:pic>
                </p:oleObj>
              </mc:Fallback>
            </mc:AlternateContent>
          </a:graphicData>
        </a:graphic>
      </p:graphicFrame>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20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168746" y="3608186"/>
            <a:ext cx="8640763" cy="2225675"/>
          </a:xfrm>
          <a:prstGeom prst="rect">
            <a:avLst/>
          </a:prstGeom>
          <a:noFill/>
          <a:ln w="9525">
            <a:noFill/>
            <a:miter lim="800000"/>
          </a:ln>
        </p:spPr>
        <p:txBody>
          <a:bodyPr>
            <a:spAutoFit/>
          </a:bodyPr>
          <a:lstStyle/>
          <a:p>
            <a:pPr fontAlgn="base">
              <a:spcBef>
                <a:spcPct val="0"/>
              </a:spcBef>
              <a:spcAft>
                <a:spcPct val="0"/>
              </a:spcAft>
            </a:pPr>
            <a:r>
              <a:rPr lang="zh-CN" altLang="en-US" sz="2000" b="1" dirty="0">
                <a:solidFill>
                  <a:schemeClr val="bg2"/>
                </a:solidFill>
                <a:latin typeface="Times New Roman" panose="02020603050405020304" pitchFamily="18" charset="0"/>
              </a:rPr>
              <a:t>               回路</a:t>
            </a:r>
            <a:r>
              <a:rPr lang="en-US" altLang="zh-CN" sz="2000" b="1" dirty="0">
                <a:solidFill>
                  <a:schemeClr val="bg2"/>
                </a:solidFill>
                <a:latin typeface="Times New Roman" panose="02020603050405020304" pitchFamily="18" charset="0"/>
              </a:rPr>
              <a:t>1</a:t>
            </a:r>
            <a:r>
              <a:rPr lang="zh-CN" altLang="en-US" sz="2000" b="1" dirty="0">
                <a:solidFill>
                  <a:schemeClr val="bg2"/>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0"/>
              </a:spcBef>
              <a:spcAft>
                <a:spcPct val="0"/>
              </a:spcAft>
            </a:pPr>
            <a:endParaRPr lang="en-US" altLang="zh-CN" sz="2000" b="1" dirty="0">
              <a:solidFill>
                <a:srgbClr val="000000"/>
              </a:solidFill>
              <a:latin typeface="Times New Roman" panose="02020603050405020304" pitchFamily="18" charset="0"/>
            </a:endParaRPr>
          </a:p>
          <a:p>
            <a:pPr fontAlgn="base">
              <a:spcBef>
                <a:spcPct val="0"/>
              </a:spcBef>
              <a:spcAft>
                <a:spcPct val="0"/>
              </a:spcAft>
            </a:pPr>
            <a:r>
              <a:rPr lang="zh-CN" altLang="en-US" sz="2000" b="1" dirty="0">
                <a:solidFill>
                  <a:schemeClr val="bg2"/>
                </a:solidFill>
                <a:latin typeface="Times New Roman" panose="02020603050405020304" pitchFamily="18" charset="0"/>
              </a:rPr>
              <a:t>               回路</a:t>
            </a:r>
            <a:r>
              <a:rPr lang="en-US" altLang="zh-CN" sz="2000" b="1" dirty="0">
                <a:solidFill>
                  <a:schemeClr val="bg2"/>
                </a:solidFill>
                <a:latin typeface="Times New Roman" panose="02020603050405020304" pitchFamily="18" charset="0"/>
              </a:rPr>
              <a:t>2</a:t>
            </a:r>
            <a:r>
              <a:rPr lang="zh-CN" altLang="en-US" sz="2000" b="1" dirty="0">
                <a:solidFill>
                  <a:schemeClr val="bg2"/>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0"/>
              </a:spcBef>
              <a:spcAft>
                <a:spcPct val="0"/>
              </a:spcAft>
            </a:pPr>
            <a:endParaRPr lang="en-US" altLang="zh-CN" sz="2000" b="1" dirty="0">
              <a:solidFill>
                <a:srgbClr val="000000"/>
              </a:solidFill>
              <a:latin typeface="Times New Roman" panose="02020603050405020304" pitchFamily="18" charset="0"/>
            </a:endParaRPr>
          </a:p>
          <a:p>
            <a:pPr fontAlgn="base">
              <a:spcBef>
                <a:spcPct val="0"/>
              </a:spcBef>
              <a:spcAft>
                <a:spcPct val="0"/>
              </a:spcAft>
            </a:pPr>
            <a:r>
              <a:rPr lang="zh-CN" altLang="en-US" sz="2000" b="1" dirty="0">
                <a:solidFill>
                  <a:schemeClr val="bg2"/>
                </a:solidFill>
                <a:latin typeface="Times New Roman" panose="02020603050405020304" pitchFamily="18" charset="0"/>
              </a:rPr>
              <a:t>               回路</a:t>
            </a:r>
            <a:r>
              <a:rPr lang="en-US" altLang="zh-CN" sz="2000" b="1" dirty="0">
                <a:solidFill>
                  <a:schemeClr val="bg2"/>
                </a:solidFill>
                <a:latin typeface="Times New Roman" panose="02020603050405020304" pitchFamily="18" charset="0"/>
              </a:rPr>
              <a:t>3</a:t>
            </a:r>
            <a:r>
              <a:rPr lang="zh-CN" altLang="en-US" sz="2000" b="1" dirty="0">
                <a:solidFill>
                  <a:schemeClr val="bg2"/>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0"/>
              </a:spcBef>
              <a:spcAft>
                <a:spcPct val="0"/>
              </a:spcAft>
            </a:pPr>
            <a:endParaRPr lang="en-US" altLang="zh-CN" sz="2000" b="1" dirty="0">
              <a:solidFill>
                <a:srgbClr val="000000"/>
              </a:solidFill>
              <a:latin typeface="Times New Roman" panose="02020603050405020304" pitchFamily="18" charset="0"/>
            </a:endParaRPr>
          </a:p>
          <a:p>
            <a:pPr fontAlgn="base">
              <a:spcBef>
                <a:spcPct val="0"/>
              </a:spcBef>
              <a:spcAft>
                <a:spcPct val="0"/>
              </a:spcAft>
            </a:pPr>
            <a:r>
              <a:rPr lang="zh-CN" altLang="en-US" sz="2000" b="1" dirty="0">
                <a:solidFill>
                  <a:schemeClr val="bg2"/>
                </a:solidFill>
                <a:latin typeface="Times New Roman" panose="02020603050405020304" pitchFamily="18" charset="0"/>
              </a:rPr>
              <a:t>              节点</a:t>
            </a:r>
            <a:r>
              <a:rPr lang="en-US" altLang="zh-CN" sz="2000" b="1" dirty="0">
                <a:solidFill>
                  <a:schemeClr val="bg2"/>
                </a:solidFill>
                <a:latin typeface="Times New Roman" panose="02020603050405020304" pitchFamily="18" charset="0"/>
              </a:rPr>
              <a:t>0</a:t>
            </a:r>
            <a:r>
              <a:rPr lang="zh-CN" altLang="en-US" sz="2000" b="1" dirty="0">
                <a:solidFill>
                  <a:schemeClr val="bg2"/>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p:txBody>
      </p:sp>
      <p:grpSp>
        <p:nvGrpSpPr>
          <p:cNvPr id="2" name="Group 20"/>
          <p:cNvGrpSpPr/>
          <p:nvPr/>
        </p:nvGrpSpPr>
        <p:grpSpPr bwMode="auto">
          <a:xfrm>
            <a:off x="6515572" y="3570086"/>
            <a:ext cx="2371725" cy="431800"/>
            <a:chOff x="4040" y="2474"/>
            <a:chExt cx="1494" cy="272"/>
          </a:xfrm>
        </p:grpSpPr>
        <p:sp>
          <p:nvSpPr>
            <p:cNvPr id="16410" name="Text Box 8"/>
            <p:cNvSpPr txBox="1">
              <a:spLocks noChangeArrowheads="1"/>
            </p:cNvSpPr>
            <p:nvPr/>
          </p:nvSpPr>
          <p:spPr bwMode="auto">
            <a:xfrm>
              <a:off x="4040" y="2474"/>
              <a:ext cx="1494" cy="233"/>
            </a:xfrm>
            <a:prstGeom prst="rect">
              <a:avLst/>
            </a:prstGeom>
            <a:noFill/>
            <a:ln w="9525">
              <a:noFill/>
              <a:miter lim="800000"/>
            </a:ln>
          </p:spPr>
          <p:txBody>
            <a:bodyPr wrap="square">
              <a:spAutoFit/>
            </a:bodyPr>
            <a:lstStyle/>
            <a:p>
              <a:pPr fontAlgn="base">
                <a:spcBef>
                  <a:spcPct val="50000"/>
                </a:spcBef>
                <a:spcAft>
                  <a:spcPct val="0"/>
                </a:spcAft>
              </a:pPr>
              <a:r>
                <a:rPr lang="en-US" altLang="zh-CN" dirty="0">
                  <a:solidFill>
                    <a:srgbClr val="000000"/>
                  </a:solidFill>
                </a:rPr>
                <a:t>(a)  </a:t>
              </a:r>
              <a:r>
                <a:rPr lang="zh-CN" altLang="en-US" dirty="0">
                  <a:solidFill>
                    <a:srgbClr val="000000"/>
                  </a:solidFill>
                </a:rPr>
                <a:t>求</a:t>
              </a:r>
              <a:endParaRPr lang="en-US" altLang="zh-CN" dirty="0">
                <a:solidFill>
                  <a:srgbClr val="000000"/>
                </a:solidFill>
              </a:endParaRPr>
            </a:p>
          </p:txBody>
        </p:sp>
        <p:graphicFrame>
          <p:nvGraphicFramePr>
            <p:cNvPr id="16411" name="Object 19"/>
            <p:cNvGraphicFramePr>
              <a:graphicFrameLocks noChangeAspect="1"/>
            </p:cNvGraphicFramePr>
            <p:nvPr/>
          </p:nvGraphicFramePr>
          <p:xfrm>
            <a:off x="4525" y="2474"/>
            <a:ext cx="151" cy="272"/>
          </p:xfrm>
          <a:graphic>
            <a:graphicData uri="http://schemas.openxmlformats.org/presentationml/2006/ole">
              <mc:AlternateContent xmlns:mc="http://schemas.openxmlformats.org/markup-compatibility/2006">
                <mc:Choice xmlns:v="urn:schemas-microsoft-com:vml" Requires="v">
                  <p:oleObj spid="_x0000_s11438" name="公式" r:id="rId3" imgW="3048000" imgH="5486400" progId="">
                    <p:embed/>
                  </p:oleObj>
                </mc:Choice>
                <mc:Fallback>
                  <p:oleObj name="公式" r:id="rId3" imgW="3048000" imgH="5486400" progId="">
                    <p:embed/>
                    <p:pic>
                      <p:nvPicPr>
                        <p:cNvPr id="0" name="图片 11264"/>
                        <p:cNvPicPr>
                          <a:picLocks noChangeAspect="1"/>
                        </p:cNvPicPr>
                        <p:nvPr/>
                      </p:nvPicPr>
                      <p:blipFill>
                        <a:blip r:embed="rId4"/>
                        <a:stretch>
                          <a:fillRect/>
                        </a:stretch>
                      </p:blipFill>
                      <p:spPr>
                        <a:xfrm>
                          <a:off x="4525" y="2474"/>
                          <a:ext cx="151" cy="272"/>
                        </a:xfrm>
                        <a:prstGeom prst="rect">
                          <a:avLst/>
                        </a:prstGeom>
                        <a:noFill/>
                        <a:ln w="9525">
                          <a:noFill/>
                        </a:ln>
                      </p:spPr>
                    </p:pic>
                  </p:oleObj>
                </mc:Fallback>
              </mc:AlternateContent>
            </a:graphicData>
          </a:graphic>
        </p:graphicFrame>
      </p:grpSp>
      <p:grpSp>
        <p:nvGrpSpPr>
          <p:cNvPr id="3" name="Group 31"/>
          <p:cNvGrpSpPr/>
          <p:nvPr/>
        </p:nvGrpSpPr>
        <p:grpSpPr bwMode="auto">
          <a:xfrm>
            <a:off x="265994" y="420958"/>
            <a:ext cx="8713788" cy="2995612"/>
            <a:chOff x="158" y="255"/>
            <a:chExt cx="5489" cy="1887"/>
          </a:xfrm>
        </p:grpSpPr>
        <p:pic>
          <p:nvPicPr>
            <p:cNvPr id="16404" name="Picture 5"/>
            <p:cNvPicPr>
              <a:picLocks noChangeAspect="1" noChangeArrowheads="1"/>
            </p:cNvPicPr>
            <p:nvPr/>
          </p:nvPicPr>
          <p:blipFill>
            <a:blip r:embed="rId5" cstate="print"/>
            <a:srcRect/>
            <a:stretch>
              <a:fillRect/>
            </a:stretch>
          </p:blipFill>
          <p:spPr bwMode="auto">
            <a:xfrm>
              <a:off x="2835" y="255"/>
              <a:ext cx="2812" cy="1863"/>
            </a:xfrm>
            <a:prstGeom prst="rect">
              <a:avLst/>
            </a:prstGeom>
            <a:noFill/>
            <a:ln w="9525">
              <a:noFill/>
              <a:miter lim="800000"/>
              <a:headEnd/>
              <a:tailEnd/>
            </a:ln>
          </p:spPr>
        </p:pic>
        <p:grpSp>
          <p:nvGrpSpPr>
            <p:cNvPr id="4" name="Group 18"/>
            <p:cNvGrpSpPr/>
            <p:nvPr/>
          </p:nvGrpSpPr>
          <p:grpSpPr bwMode="auto">
            <a:xfrm>
              <a:off x="158" y="300"/>
              <a:ext cx="2677" cy="1842"/>
              <a:chOff x="158" y="482"/>
              <a:chExt cx="2677" cy="1842"/>
            </a:xfrm>
          </p:grpSpPr>
          <p:sp>
            <p:nvSpPr>
              <p:cNvPr id="16407" name="Text Box 7"/>
              <p:cNvSpPr txBox="1">
                <a:spLocks noChangeArrowheads="1"/>
              </p:cNvSpPr>
              <p:nvPr/>
            </p:nvSpPr>
            <p:spPr bwMode="auto">
              <a:xfrm>
                <a:off x="158" y="482"/>
                <a:ext cx="2677" cy="1842"/>
              </a:xfrm>
              <a:prstGeom prst="rect">
                <a:avLst/>
              </a:prstGeom>
              <a:noFill/>
              <a:ln w="9525">
                <a:noFill/>
                <a:miter lim="800000"/>
              </a:ln>
            </p:spPr>
            <p:txBody>
              <a:bodyPr wrap="square">
                <a:spAutoFit/>
              </a:bodyPr>
              <a:lstStyle/>
              <a:p>
                <a:pPr fontAlgn="base">
                  <a:spcBef>
                    <a:spcPct val="0"/>
                  </a:spcBef>
                  <a:spcAft>
                    <a:spcPct val="0"/>
                  </a:spcAft>
                </a:pPr>
                <a:r>
                  <a:rPr lang="zh-CN" altLang="en-US" sz="2400" b="1" dirty="0">
                    <a:solidFill>
                      <a:srgbClr val="002060"/>
                    </a:solidFill>
                    <a:latin typeface="Times New Roman" panose="02020603050405020304" pitchFamily="18" charset="0"/>
                  </a:rPr>
                  <a:t>解决方案</a:t>
                </a:r>
                <a:r>
                  <a:rPr lang="en-US" altLang="zh-CN" sz="2400" b="1" dirty="0">
                    <a:solidFill>
                      <a:srgbClr val="002060"/>
                    </a:solidFill>
                    <a:latin typeface="Times New Roman" panose="02020603050405020304" pitchFamily="18" charset="0"/>
                  </a:rPr>
                  <a:t>:</a:t>
                </a:r>
              </a:p>
              <a:p>
                <a:pPr fontAlgn="base">
                  <a:spcBef>
                    <a:spcPct val="0"/>
                  </a:spcBef>
                  <a:spcAft>
                    <a:spcPct val="0"/>
                  </a:spcAft>
                </a:pPr>
                <a:endParaRPr lang="en-US" altLang="zh-CN" sz="2000" b="1" dirty="0">
                  <a:solidFill>
                    <a:srgbClr val="000000"/>
                  </a:solidFill>
                  <a:latin typeface="Times New Roman" panose="02020603050405020304" pitchFamily="18" charset="0"/>
                </a:endParaRPr>
              </a:p>
              <a:p>
                <a:pPr fontAlgn="base">
                  <a:lnSpc>
                    <a:spcPct val="150000"/>
                  </a:lnSpc>
                  <a:spcBef>
                    <a:spcPct val="0"/>
                  </a:spcBef>
                  <a:spcAft>
                    <a:spcPct val="0"/>
                  </a:spcAft>
                </a:pPr>
                <a:r>
                  <a:rPr lang="zh-CN" altLang="en-US" sz="2000" b="1" dirty="0">
                    <a:solidFill>
                      <a:srgbClr val="000000"/>
                    </a:solidFill>
                    <a:latin typeface="Times New Roman" panose="02020603050405020304" pitchFamily="18" charset="0"/>
                  </a:rPr>
                  <a:t>     电路中包含一个受控源，需保留，所以</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b="1" dirty="0">
                    <a:solidFill>
                      <a:srgbClr val="00007D"/>
                    </a:solidFill>
                    <a:latin typeface="Times New Roman" panose="02020603050405020304" pitchFamily="18" charset="0"/>
                  </a:rPr>
                  <a:t>       </a:t>
                </a:r>
              </a:p>
              <a:p>
                <a:pPr fontAlgn="base">
                  <a:spcBef>
                    <a:spcPct val="50000"/>
                  </a:spcBef>
                  <a:spcAft>
                    <a:spcPct val="0"/>
                  </a:spcAft>
                </a:pPr>
                <a:r>
                  <a:rPr lang="en-US" altLang="zh-CN" sz="2000" b="1" dirty="0">
                    <a:solidFill>
                      <a:srgbClr val="00007D"/>
                    </a:solidFill>
                    <a:latin typeface="Times New Roman" panose="02020603050405020304" pitchFamily="18" charset="0"/>
                  </a:rPr>
                  <a:t>      </a:t>
                </a:r>
                <a:r>
                  <a:rPr lang="zh-CN" altLang="en-US" sz="2000" b="1" dirty="0">
                    <a:solidFill>
                      <a:srgbClr val="00007D"/>
                    </a:solidFill>
                    <a:latin typeface="Times New Roman" panose="02020603050405020304" pitchFamily="18" charset="0"/>
                  </a:rPr>
                  <a:t>为了得到</a:t>
                </a:r>
                <a:endParaRPr lang="en-US" altLang="zh-CN" sz="2000" b="1" dirty="0">
                  <a:solidFill>
                    <a:srgbClr val="000000"/>
                  </a:solidFill>
                  <a:latin typeface="Times New Roman" panose="02020603050405020304" pitchFamily="18" charset="0"/>
                </a:endParaRPr>
              </a:p>
            </p:txBody>
          </p:sp>
          <p:graphicFrame>
            <p:nvGraphicFramePr>
              <p:cNvPr id="16408" name="Object 9"/>
              <p:cNvGraphicFramePr>
                <a:graphicFrameLocks noChangeAspect="1"/>
              </p:cNvGraphicFramePr>
              <p:nvPr/>
            </p:nvGraphicFramePr>
            <p:xfrm>
              <a:off x="1153" y="1389"/>
              <a:ext cx="816" cy="300"/>
            </p:xfrm>
            <a:graphic>
              <a:graphicData uri="http://schemas.openxmlformats.org/presentationml/2006/ole">
                <mc:AlternateContent xmlns:mc="http://schemas.openxmlformats.org/markup-compatibility/2006">
                  <mc:Choice xmlns:v="urn:schemas-microsoft-com:vml" Requires="v">
                    <p:oleObj spid="_x0000_s11439" name="公式" r:id="rId6" imgW="14935200" imgH="5486400" progId="">
                      <p:embed/>
                    </p:oleObj>
                  </mc:Choice>
                  <mc:Fallback>
                    <p:oleObj name="公式" r:id="rId6" imgW="14935200" imgH="5486400" progId="">
                      <p:embed/>
                      <p:pic>
                        <p:nvPicPr>
                          <p:cNvPr id="0" name="图片 11404"/>
                          <p:cNvPicPr>
                            <a:picLocks noChangeAspect="1"/>
                          </p:cNvPicPr>
                          <p:nvPr/>
                        </p:nvPicPr>
                        <p:blipFill>
                          <a:blip r:embed="rId7"/>
                          <a:stretch>
                            <a:fillRect/>
                          </a:stretch>
                        </p:blipFill>
                        <p:spPr>
                          <a:xfrm>
                            <a:off x="1153" y="1389"/>
                            <a:ext cx="816" cy="300"/>
                          </a:xfrm>
                          <a:prstGeom prst="rect">
                            <a:avLst/>
                          </a:prstGeom>
                          <a:noFill/>
                          <a:ln w="9525">
                            <a:noFill/>
                          </a:ln>
                        </p:spPr>
                      </p:pic>
                    </p:oleObj>
                  </mc:Fallback>
                </mc:AlternateContent>
              </a:graphicData>
            </a:graphic>
          </p:graphicFrame>
          <p:graphicFrame>
            <p:nvGraphicFramePr>
              <p:cNvPr id="16409" name="Object 25"/>
              <p:cNvGraphicFramePr>
                <a:graphicFrameLocks noChangeAspect="1"/>
              </p:cNvGraphicFramePr>
              <p:nvPr/>
            </p:nvGraphicFramePr>
            <p:xfrm>
              <a:off x="1153" y="2073"/>
              <a:ext cx="126" cy="227"/>
            </p:xfrm>
            <a:graphic>
              <a:graphicData uri="http://schemas.openxmlformats.org/presentationml/2006/ole">
                <mc:AlternateContent xmlns:mc="http://schemas.openxmlformats.org/markup-compatibility/2006">
                  <mc:Choice xmlns:v="urn:schemas-microsoft-com:vml" Requires="v">
                    <p:oleObj spid="_x0000_s11440" name="公式" r:id="rId8" imgW="3048000" imgH="5486400" progId="">
                      <p:embed/>
                    </p:oleObj>
                  </mc:Choice>
                  <mc:Fallback>
                    <p:oleObj name="公式" r:id="rId8" imgW="3048000" imgH="5486400" progId="">
                      <p:embed/>
                      <p:pic>
                        <p:nvPicPr>
                          <p:cNvPr id="0" name="图片 11405"/>
                          <p:cNvPicPr>
                            <a:picLocks noChangeAspect="1"/>
                          </p:cNvPicPr>
                          <p:nvPr/>
                        </p:nvPicPr>
                        <p:blipFill>
                          <a:blip r:embed="rId9"/>
                          <a:stretch>
                            <a:fillRect/>
                          </a:stretch>
                        </p:blipFill>
                        <p:spPr>
                          <a:xfrm>
                            <a:off x="1153" y="2073"/>
                            <a:ext cx="126" cy="227"/>
                          </a:xfrm>
                          <a:prstGeom prst="rect">
                            <a:avLst/>
                          </a:prstGeom>
                          <a:noFill/>
                          <a:ln w="9525">
                            <a:noFill/>
                          </a:ln>
                        </p:spPr>
                      </p:pic>
                    </p:oleObj>
                  </mc:Fallback>
                </mc:AlternateContent>
              </a:graphicData>
            </a:graphic>
          </p:graphicFrame>
        </p:grpSp>
      </p:grpSp>
      <p:graphicFrame>
        <p:nvGraphicFramePr>
          <p:cNvPr id="16402" name="Object 13"/>
          <p:cNvGraphicFramePr>
            <a:graphicFrameLocks noChangeAspect="1"/>
          </p:cNvGraphicFramePr>
          <p:nvPr/>
        </p:nvGraphicFramePr>
        <p:xfrm>
          <a:off x="2627784" y="3649461"/>
          <a:ext cx="792162" cy="363538"/>
        </p:xfrm>
        <a:graphic>
          <a:graphicData uri="http://schemas.openxmlformats.org/presentationml/2006/ole">
            <mc:AlternateContent xmlns:mc="http://schemas.openxmlformats.org/markup-compatibility/2006">
              <mc:Choice xmlns:v="urn:schemas-microsoft-com:vml" Requires="v">
                <p:oleObj spid="_x0000_s11441" name="公式" r:id="rId10" imgW="11277600" imgH="5181600" progId="">
                  <p:embed/>
                </p:oleObj>
              </mc:Choice>
              <mc:Fallback>
                <p:oleObj name="公式" r:id="rId10" imgW="11277600" imgH="5181600" progId="">
                  <p:embed/>
                  <p:pic>
                    <p:nvPicPr>
                      <p:cNvPr id="0" name="图片 11406"/>
                      <p:cNvPicPr>
                        <a:picLocks noChangeAspect="1"/>
                      </p:cNvPicPr>
                      <p:nvPr/>
                    </p:nvPicPr>
                    <p:blipFill>
                      <a:blip r:embed="rId11"/>
                      <a:stretch>
                        <a:fillRect/>
                      </a:stretch>
                    </p:blipFill>
                    <p:spPr>
                      <a:xfrm>
                        <a:off x="2627784" y="3649461"/>
                        <a:ext cx="792162" cy="363538"/>
                      </a:xfrm>
                      <a:prstGeom prst="rect">
                        <a:avLst/>
                      </a:prstGeom>
                      <a:noFill/>
                      <a:ln w="9525">
                        <a:noFill/>
                      </a:ln>
                    </p:spPr>
                  </p:pic>
                </p:oleObj>
              </mc:Fallback>
            </mc:AlternateContent>
          </a:graphicData>
        </a:graphic>
      </p:graphicFrame>
      <p:graphicFrame>
        <p:nvGraphicFramePr>
          <p:cNvPr id="16400" name="Object 15"/>
          <p:cNvGraphicFramePr>
            <a:graphicFrameLocks noChangeAspect="1"/>
          </p:cNvGraphicFramePr>
          <p:nvPr/>
        </p:nvGraphicFramePr>
        <p:xfrm>
          <a:off x="2386484" y="4184448"/>
          <a:ext cx="2521722" cy="406400"/>
        </p:xfrm>
        <a:graphic>
          <a:graphicData uri="http://schemas.openxmlformats.org/presentationml/2006/ole">
            <mc:AlternateContent xmlns:mc="http://schemas.openxmlformats.org/markup-compatibility/2006">
              <mc:Choice xmlns:v="urn:schemas-microsoft-com:vml" Requires="v">
                <p:oleObj spid="_x0000_s11442" name="Equation" r:id="rId12" imgW="34137600" imgH="5486400" progId="">
                  <p:embed/>
                </p:oleObj>
              </mc:Choice>
              <mc:Fallback>
                <p:oleObj name="Equation" r:id="rId12" imgW="34137600" imgH="5486400" progId="">
                  <p:embed/>
                  <p:pic>
                    <p:nvPicPr>
                      <p:cNvPr id="0" name="图片 11407"/>
                      <p:cNvPicPr>
                        <a:picLocks noChangeAspect="1"/>
                      </p:cNvPicPr>
                      <p:nvPr/>
                    </p:nvPicPr>
                    <p:blipFill>
                      <a:blip r:embed="rId13"/>
                      <a:stretch>
                        <a:fillRect/>
                      </a:stretch>
                    </p:blipFill>
                    <p:spPr>
                      <a:xfrm>
                        <a:off x="2386484" y="4184448"/>
                        <a:ext cx="2521722" cy="406400"/>
                      </a:xfrm>
                      <a:prstGeom prst="rect">
                        <a:avLst/>
                      </a:prstGeom>
                      <a:noFill/>
                      <a:ln w="9525">
                        <a:noFill/>
                      </a:ln>
                    </p:spPr>
                  </p:pic>
                </p:oleObj>
              </mc:Fallback>
            </mc:AlternateContent>
          </a:graphicData>
        </a:graphic>
      </p:graphicFrame>
      <p:graphicFrame>
        <p:nvGraphicFramePr>
          <p:cNvPr id="16398" name="Object 16"/>
          <p:cNvGraphicFramePr>
            <a:graphicFrameLocks noChangeAspect="1"/>
          </p:cNvGraphicFramePr>
          <p:nvPr/>
        </p:nvGraphicFramePr>
        <p:xfrm>
          <a:off x="2386484" y="4789286"/>
          <a:ext cx="2664649" cy="409575"/>
        </p:xfrm>
        <a:graphic>
          <a:graphicData uri="http://schemas.openxmlformats.org/presentationml/2006/ole">
            <mc:AlternateContent xmlns:mc="http://schemas.openxmlformats.org/markup-compatibility/2006">
              <mc:Choice xmlns:v="urn:schemas-microsoft-com:vml" Requires="v">
                <p:oleObj spid="_x0000_s11443" name="公式" r:id="rId14" imgW="35661600" imgH="5486400" progId="">
                  <p:embed/>
                </p:oleObj>
              </mc:Choice>
              <mc:Fallback>
                <p:oleObj name="公式" r:id="rId14" imgW="35661600" imgH="5486400" progId="">
                  <p:embed/>
                  <p:pic>
                    <p:nvPicPr>
                      <p:cNvPr id="0" name="图片 11408"/>
                      <p:cNvPicPr>
                        <a:picLocks noChangeAspect="1"/>
                      </p:cNvPicPr>
                      <p:nvPr/>
                    </p:nvPicPr>
                    <p:blipFill>
                      <a:blip r:embed="rId15"/>
                      <a:stretch>
                        <a:fillRect/>
                      </a:stretch>
                    </p:blipFill>
                    <p:spPr>
                      <a:xfrm>
                        <a:off x="2386484" y="4789286"/>
                        <a:ext cx="2664649" cy="409575"/>
                      </a:xfrm>
                      <a:prstGeom prst="rect">
                        <a:avLst/>
                      </a:prstGeom>
                      <a:noFill/>
                      <a:ln w="9525">
                        <a:noFill/>
                      </a:ln>
                    </p:spPr>
                  </p:pic>
                </p:oleObj>
              </mc:Fallback>
            </mc:AlternateContent>
          </a:graphicData>
        </a:graphic>
      </p:graphicFrame>
      <p:graphicFrame>
        <p:nvGraphicFramePr>
          <p:cNvPr id="16396" name="Object 17"/>
          <p:cNvGraphicFramePr>
            <a:graphicFrameLocks noChangeAspect="1"/>
          </p:cNvGraphicFramePr>
          <p:nvPr/>
        </p:nvGraphicFramePr>
        <p:xfrm>
          <a:off x="2413471" y="5414761"/>
          <a:ext cx="1944688" cy="422275"/>
        </p:xfrm>
        <a:graphic>
          <a:graphicData uri="http://schemas.openxmlformats.org/presentationml/2006/ole">
            <mc:AlternateContent xmlns:mc="http://schemas.openxmlformats.org/markup-compatibility/2006">
              <mc:Choice xmlns:v="urn:schemas-microsoft-com:vml" Requires="v">
                <p:oleObj spid="_x0000_s11444" name="公式" r:id="rId16" imgW="25298400" imgH="5486400" progId="">
                  <p:embed/>
                </p:oleObj>
              </mc:Choice>
              <mc:Fallback>
                <p:oleObj name="公式" r:id="rId16" imgW="25298400" imgH="5486400" progId="">
                  <p:embed/>
                  <p:pic>
                    <p:nvPicPr>
                      <p:cNvPr id="0" name="图片 11409"/>
                      <p:cNvPicPr>
                        <a:picLocks noChangeAspect="1"/>
                      </p:cNvPicPr>
                      <p:nvPr/>
                    </p:nvPicPr>
                    <p:blipFill>
                      <a:blip r:embed="rId17"/>
                      <a:stretch>
                        <a:fillRect/>
                      </a:stretch>
                    </p:blipFill>
                    <p:spPr>
                      <a:xfrm>
                        <a:off x="2413471" y="5414761"/>
                        <a:ext cx="1944688" cy="422275"/>
                      </a:xfrm>
                      <a:prstGeom prst="rect">
                        <a:avLst/>
                      </a:prstGeom>
                      <a:noFill/>
                      <a:ln w="9525">
                        <a:noFill/>
                      </a:ln>
                    </p:spPr>
                  </p:pic>
                </p:oleObj>
              </mc:Fallback>
            </mc:AlternateContent>
          </a:graphicData>
        </a:graphic>
      </p:graphicFrame>
      <p:sp>
        <p:nvSpPr>
          <p:cNvPr id="16393" name="矩形 29"/>
          <p:cNvSpPr>
            <a:spLocks noChangeArrowheads="1"/>
          </p:cNvSpPr>
          <p:nvPr/>
        </p:nvSpPr>
        <p:spPr bwMode="auto">
          <a:xfrm>
            <a:off x="204317" y="2980262"/>
            <a:ext cx="474662" cy="400050"/>
          </a:xfrm>
          <a:prstGeom prst="rect">
            <a:avLst/>
          </a:prstGeom>
          <a:noFill/>
          <a:ln w="9525">
            <a:noFill/>
            <a:miter lim="800000"/>
          </a:ln>
        </p:spPr>
        <p:txBody>
          <a:bodyPr>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①</a:t>
            </a:r>
          </a:p>
        </p:txBody>
      </p:sp>
      <p:sp>
        <p:nvSpPr>
          <p:cNvPr id="16394" name="TextBox 1"/>
          <p:cNvSpPr txBox="1">
            <a:spLocks noChangeArrowheads="1"/>
          </p:cNvSpPr>
          <p:nvPr/>
        </p:nvSpPr>
        <p:spPr bwMode="auto">
          <a:xfrm>
            <a:off x="678979" y="6250751"/>
            <a:ext cx="1345240" cy="40011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可解得：</a:t>
            </a:r>
            <a:r>
              <a:rPr lang="en-US" altLang="zh-CN" sz="2000" b="1" dirty="0">
                <a:solidFill>
                  <a:srgbClr val="000000"/>
                </a:solidFill>
                <a:latin typeface="Times New Roman" panose="02020603050405020304" pitchFamily="18" charset="0"/>
              </a:rPr>
              <a:t>  </a:t>
            </a:r>
            <a:endParaRPr lang="zh-CN" altLang="en-US" sz="2000" b="1" dirty="0">
              <a:solidFill>
                <a:srgbClr val="000000"/>
              </a:solidFill>
              <a:latin typeface="Times New Roman" panose="02020603050405020304" pitchFamily="18" charset="0"/>
            </a:endParaRPr>
          </a:p>
        </p:txBody>
      </p:sp>
      <p:graphicFrame>
        <p:nvGraphicFramePr>
          <p:cNvPr id="16395" name="Object 12"/>
          <p:cNvGraphicFramePr>
            <a:graphicFrameLocks noChangeAspect="1"/>
          </p:cNvGraphicFramePr>
          <p:nvPr/>
        </p:nvGraphicFramePr>
        <p:xfrm>
          <a:off x="1945569" y="6140449"/>
          <a:ext cx="739775" cy="620713"/>
        </p:xfrm>
        <a:graphic>
          <a:graphicData uri="http://schemas.openxmlformats.org/presentationml/2006/ole">
            <mc:AlternateContent xmlns:mc="http://schemas.openxmlformats.org/markup-compatibility/2006">
              <mc:Choice xmlns:v="urn:schemas-microsoft-com:vml" Requires="v">
                <p:oleObj spid="_x0000_s11445" name="Equation" r:id="rId18" imgW="11277600" imgH="9448800" progId="">
                  <p:embed/>
                </p:oleObj>
              </mc:Choice>
              <mc:Fallback>
                <p:oleObj name="Equation" r:id="rId18" imgW="11277600" imgH="9448800" progId="">
                  <p:embed/>
                  <p:pic>
                    <p:nvPicPr>
                      <p:cNvPr id="0" name="图片 11410"/>
                      <p:cNvPicPr>
                        <a:picLocks noChangeAspect="1"/>
                      </p:cNvPicPr>
                      <p:nvPr/>
                    </p:nvPicPr>
                    <p:blipFill>
                      <a:blip r:embed="rId19"/>
                      <a:stretch>
                        <a:fillRect/>
                      </a:stretch>
                    </p:blipFill>
                    <p:spPr>
                      <a:xfrm>
                        <a:off x="1945569" y="6140449"/>
                        <a:ext cx="739775" cy="620713"/>
                      </a:xfrm>
                      <a:prstGeom prst="rect">
                        <a:avLst/>
                      </a:prstGeom>
                      <a:noFill/>
                      <a:ln w="9525">
                        <a:noFill/>
                      </a:ln>
                    </p:spPr>
                  </p:pic>
                </p:oleObj>
              </mc:Fallback>
            </mc:AlternateContent>
          </a:graphicData>
        </a:graphic>
      </p:graphicFrame>
      <p:sp>
        <p:nvSpPr>
          <p:cNvPr id="5" name="灯片编号占位符 4"/>
          <p:cNvSpPr>
            <a:spLocks noGrp="1"/>
          </p:cNvSpPr>
          <p:nvPr>
            <p:ph type="sldNum" sz="quarter" idx="11"/>
          </p:nvPr>
        </p:nvSpPr>
        <p:spPr/>
        <p:txBody>
          <a:bodyPr/>
          <a:lstStyle/>
          <a:p>
            <a:pPr>
              <a:defRPr/>
            </a:pPr>
            <a:fld id="{939C9064-C0EA-4A07-ACBE-489AD4D1ABAD}" type="slidenum">
              <a:rPr lang="en-US" altLang="zh-CN" smtClean="0">
                <a:solidFill>
                  <a:srgbClr val="000000"/>
                </a:solidFill>
              </a:rPr>
              <a:t>21</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p:cNvPicPr>
            <a:picLocks noChangeAspect="1" noChangeArrowheads="1"/>
          </p:cNvPicPr>
          <p:nvPr/>
        </p:nvPicPr>
        <p:blipFill>
          <a:blip r:embed="rId3" cstate="print"/>
          <a:srcRect/>
          <a:stretch>
            <a:fillRect/>
          </a:stretch>
        </p:blipFill>
        <p:spPr bwMode="auto">
          <a:xfrm>
            <a:off x="5508625" y="1341438"/>
            <a:ext cx="3635375" cy="3051175"/>
          </a:xfrm>
          <a:prstGeom prst="rect">
            <a:avLst/>
          </a:prstGeom>
          <a:noFill/>
          <a:ln w="9525">
            <a:noFill/>
            <a:miter lim="800000"/>
            <a:headEnd/>
            <a:tailEnd/>
          </a:ln>
        </p:spPr>
      </p:pic>
      <p:graphicFrame>
        <p:nvGraphicFramePr>
          <p:cNvPr id="17411" name="Object 7"/>
          <p:cNvGraphicFramePr>
            <a:graphicFrameLocks noChangeAspect="1"/>
          </p:cNvGraphicFramePr>
          <p:nvPr/>
        </p:nvGraphicFramePr>
        <p:xfrm>
          <a:off x="2268538" y="1700213"/>
          <a:ext cx="1584325" cy="369887"/>
        </p:xfrm>
        <a:graphic>
          <a:graphicData uri="http://schemas.openxmlformats.org/presentationml/2006/ole">
            <mc:AlternateContent xmlns:mc="http://schemas.openxmlformats.org/markup-compatibility/2006">
              <mc:Choice xmlns:v="urn:schemas-microsoft-com:vml" Requires="v">
                <p:oleObj spid="_x0000_s12441" name="公式" r:id="rId4" imgW="23469600" imgH="5486400" progId="">
                  <p:embed/>
                </p:oleObj>
              </mc:Choice>
              <mc:Fallback>
                <p:oleObj name="公式" r:id="rId4" imgW="23469600" imgH="5486400" progId="">
                  <p:embed/>
                  <p:pic>
                    <p:nvPicPr>
                      <p:cNvPr id="0" name="图片 12288"/>
                      <p:cNvPicPr>
                        <a:picLocks noChangeAspect="1"/>
                      </p:cNvPicPr>
                      <p:nvPr/>
                    </p:nvPicPr>
                    <p:blipFill>
                      <a:blip r:embed="rId5"/>
                      <a:stretch>
                        <a:fillRect/>
                      </a:stretch>
                    </p:blipFill>
                    <p:spPr>
                      <a:xfrm>
                        <a:off x="2268538" y="1700213"/>
                        <a:ext cx="1584325" cy="369887"/>
                      </a:xfrm>
                      <a:prstGeom prst="rect">
                        <a:avLst/>
                      </a:prstGeom>
                      <a:noFill/>
                      <a:ln w="9525">
                        <a:noFill/>
                      </a:ln>
                    </p:spPr>
                  </p:pic>
                </p:oleObj>
              </mc:Fallback>
            </mc:AlternateContent>
          </a:graphicData>
        </a:graphic>
      </p:graphicFrame>
      <p:graphicFrame>
        <p:nvGraphicFramePr>
          <p:cNvPr id="17412" name="Object 8"/>
          <p:cNvGraphicFramePr>
            <a:graphicFrameLocks noChangeAspect="1"/>
          </p:cNvGraphicFramePr>
          <p:nvPr/>
        </p:nvGraphicFramePr>
        <p:xfrm>
          <a:off x="1835150" y="2636838"/>
          <a:ext cx="2305050" cy="366712"/>
        </p:xfrm>
        <a:graphic>
          <a:graphicData uri="http://schemas.openxmlformats.org/presentationml/2006/ole">
            <mc:AlternateContent xmlns:mc="http://schemas.openxmlformats.org/markup-compatibility/2006">
              <mc:Choice xmlns:v="urn:schemas-microsoft-com:vml" Requires="v">
                <p:oleObj spid="_x0000_s12442" name="公式" r:id="rId6" imgW="34442400" imgH="5486400" progId="">
                  <p:embed/>
                </p:oleObj>
              </mc:Choice>
              <mc:Fallback>
                <p:oleObj name="公式" r:id="rId6" imgW="34442400" imgH="5486400" progId="">
                  <p:embed/>
                  <p:pic>
                    <p:nvPicPr>
                      <p:cNvPr id="0" name="图片 12411"/>
                      <p:cNvPicPr>
                        <a:picLocks noChangeAspect="1"/>
                      </p:cNvPicPr>
                      <p:nvPr/>
                    </p:nvPicPr>
                    <p:blipFill>
                      <a:blip r:embed="rId7"/>
                      <a:stretch>
                        <a:fillRect/>
                      </a:stretch>
                    </p:blipFill>
                    <p:spPr>
                      <a:xfrm>
                        <a:off x="1835150" y="2636838"/>
                        <a:ext cx="2305050" cy="366712"/>
                      </a:xfrm>
                      <a:prstGeom prst="rect">
                        <a:avLst/>
                      </a:prstGeom>
                      <a:noFill/>
                      <a:ln w="9525">
                        <a:noFill/>
                      </a:ln>
                    </p:spPr>
                  </p:pic>
                </p:oleObj>
              </mc:Fallback>
            </mc:AlternateContent>
          </a:graphicData>
        </a:graphic>
      </p:graphicFrame>
      <p:grpSp>
        <p:nvGrpSpPr>
          <p:cNvPr id="2" name="Group 14"/>
          <p:cNvGrpSpPr/>
          <p:nvPr/>
        </p:nvGrpSpPr>
        <p:grpSpPr bwMode="auto">
          <a:xfrm>
            <a:off x="628650" y="925514"/>
            <a:ext cx="5256212" cy="5478463"/>
            <a:chOff x="396" y="583"/>
            <a:chExt cx="3311" cy="3451"/>
          </a:xfrm>
        </p:grpSpPr>
        <p:sp>
          <p:nvSpPr>
            <p:cNvPr id="17425" name="Text Box 5"/>
            <p:cNvSpPr txBox="1">
              <a:spLocks noChangeArrowheads="1"/>
            </p:cNvSpPr>
            <p:nvPr/>
          </p:nvSpPr>
          <p:spPr bwMode="auto">
            <a:xfrm>
              <a:off x="396" y="583"/>
              <a:ext cx="3311" cy="3451"/>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为了得到</a:t>
              </a:r>
              <a:r>
                <a:rPr lang="en-US" altLang="zh-CN" sz="2000" b="1" dirty="0">
                  <a:solidFill>
                    <a:srgbClr val="000000"/>
                  </a:solidFill>
                  <a:latin typeface="Times New Roman" panose="02020603050405020304" pitchFamily="18" charset="0"/>
                </a:rPr>
                <a:t>    ,</a:t>
              </a:r>
            </a:p>
            <a:p>
              <a:pPr fontAlgn="base">
                <a:spcBef>
                  <a:spcPct val="50000"/>
                </a:spcBef>
                <a:spcAft>
                  <a:spcPct val="0"/>
                </a:spcAft>
              </a:pPr>
              <a:r>
                <a:rPr lang="zh-CN" altLang="en-US" sz="2000" b="1" dirty="0">
                  <a:solidFill>
                    <a:srgbClr val="002060"/>
                  </a:solidFill>
                  <a:latin typeface="Times New Roman" panose="02020603050405020304" pitchFamily="18" charset="0"/>
                </a:rPr>
                <a:t>          回路</a:t>
              </a:r>
              <a:r>
                <a:rPr lang="en-US" altLang="zh-CN" sz="2000" b="1" dirty="0">
                  <a:solidFill>
                    <a:srgbClr val="002060"/>
                  </a:solidFill>
                  <a:latin typeface="Times New Roman" panose="02020603050405020304" pitchFamily="18" charset="0"/>
                </a:rPr>
                <a:t>4</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2060"/>
                  </a:solidFill>
                  <a:latin typeface="Times New Roman" panose="02020603050405020304" pitchFamily="18" charset="0"/>
                </a:rPr>
                <a:t>          回路</a:t>
              </a:r>
              <a:r>
                <a:rPr lang="en-US" altLang="zh-CN" sz="2000" b="1" dirty="0">
                  <a:solidFill>
                    <a:srgbClr val="002060"/>
                  </a:solidFill>
                  <a:latin typeface="Times New Roman" panose="02020603050405020304" pitchFamily="18" charset="0"/>
                </a:rPr>
                <a:t>5</a:t>
              </a:r>
              <a:r>
                <a:rPr lang="zh-CN" altLang="en-US" sz="2000" b="1" dirty="0">
                  <a:solidFill>
                    <a:srgbClr val="00206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r>
                <a:rPr lang="en-US" altLang="zh-CN" sz="2000" b="1" dirty="0">
                  <a:solidFill>
                    <a:srgbClr val="0000FF"/>
                  </a:solidFill>
                  <a:latin typeface="Times New Roman" panose="02020603050405020304" pitchFamily="18" charset="0"/>
                </a:rPr>
                <a:t>           </a:t>
              </a:r>
              <a:r>
                <a:rPr lang="zh-CN" altLang="en-US" sz="2000" b="1" dirty="0">
                  <a:solidFill>
                    <a:srgbClr val="002060"/>
                  </a:solidFill>
                  <a:latin typeface="Times New Roman" panose="02020603050405020304" pitchFamily="18" charset="0"/>
                </a:rPr>
                <a:t>补充方程：</a:t>
              </a:r>
              <a:endParaRPr lang="en-US" altLang="zh-CN" sz="2000" b="1" dirty="0">
                <a:solidFill>
                  <a:srgbClr val="002060"/>
                </a:solidFill>
                <a:latin typeface="Times New Roman" panose="02020603050405020304" pitchFamily="18" charset="0"/>
              </a:endParaRPr>
            </a:p>
            <a:p>
              <a:pPr fontAlgn="base">
                <a:spcBef>
                  <a:spcPct val="50000"/>
                </a:spcBef>
                <a:spcAft>
                  <a:spcPct val="0"/>
                </a:spcAft>
              </a:pPr>
              <a:r>
                <a:rPr lang="en-US" altLang="zh-CN" sz="2000" b="1" dirty="0">
                  <a:solidFill>
                    <a:srgbClr val="000000"/>
                  </a:solidFill>
                  <a:latin typeface="Times New Roman" panose="02020603050405020304" pitchFamily="18" charset="0"/>
                </a:rPr>
                <a:t> </a:t>
              </a:r>
            </a:p>
            <a:p>
              <a:pPr fontAlgn="base">
                <a:spcBef>
                  <a:spcPct val="5000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解得：</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2060"/>
                  </a:solidFill>
                  <a:latin typeface="Times New Roman" panose="02020603050405020304" pitchFamily="18" charset="0"/>
                </a:rPr>
                <a:t>叠加</a:t>
              </a:r>
              <a:r>
                <a:rPr lang="zh-CN" altLang="en-US" sz="2000" b="1" dirty="0">
                  <a:solidFill>
                    <a:srgbClr val="000000"/>
                  </a:solidFill>
                  <a:latin typeface="Times New Roman" panose="02020603050405020304" pitchFamily="18" charset="0"/>
                </a:rPr>
                <a:t>后，可得：</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ndParaRPr>
            </a:p>
          </p:txBody>
        </p:sp>
        <p:graphicFrame>
          <p:nvGraphicFramePr>
            <p:cNvPr id="17426" name="Object 6"/>
            <p:cNvGraphicFramePr>
              <a:graphicFrameLocks noChangeAspect="1"/>
            </p:cNvGraphicFramePr>
            <p:nvPr/>
          </p:nvGraphicFramePr>
          <p:xfrm>
            <a:off x="1126" y="643"/>
            <a:ext cx="111" cy="181"/>
          </p:xfrm>
          <a:graphic>
            <a:graphicData uri="http://schemas.openxmlformats.org/presentationml/2006/ole">
              <mc:AlternateContent xmlns:mc="http://schemas.openxmlformats.org/markup-compatibility/2006">
                <mc:Choice xmlns:v="urn:schemas-microsoft-com:vml" Requires="v">
                  <p:oleObj spid="_x0000_s12443" name="公式" r:id="rId8" imgW="3352800" imgH="5486400" progId="">
                    <p:embed/>
                  </p:oleObj>
                </mc:Choice>
                <mc:Fallback>
                  <p:oleObj name="公式" r:id="rId8" imgW="3352800" imgH="5486400" progId="">
                    <p:embed/>
                    <p:pic>
                      <p:nvPicPr>
                        <p:cNvPr id="0" name="图片 12412"/>
                        <p:cNvPicPr>
                          <a:picLocks noChangeAspect="1"/>
                        </p:cNvPicPr>
                        <p:nvPr/>
                      </p:nvPicPr>
                      <p:blipFill>
                        <a:blip r:embed="rId9"/>
                        <a:stretch>
                          <a:fillRect/>
                        </a:stretch>
                      </p:blipFill>
                      <p:spPr>
                        <a:xfrm>
                          <a:off x="1126" y="643"/>
                          <a:ext cx="111" cy="181"/>
                        </a:xfrm>
                        <a:prstGeom prst="rect">
                          <a:avLst/>
                        </a:prstGeom>
                        <a:noFill/>
                        <a:ln w="9525">
                          <a:noFill/>
                        </a:ln>
                      </p:spPr>
                    </p:pic>
                  </p:oleObj>
                </mc:Fallback>
              </mc:AlternateContent>
            </a:graphicData>
          </a:graphic>
        </p:graphicFrame>
        <p:graphicFrame>
          <p:nvGraphicFramePr>
            <p:cNvPr id="17427" name="Object 9"/>
            <p:cNvGraphicFramePr>
              <a:graphicFrameLocks noChangeAspect="1"/>
            </p:cNvGraphicFramePr>
            <p:nvPr/>
          </p:nvGraphicFramePr>
          <p:xfrm>
            <a:off x="1693" y="2255"/>
            <a:ext cx="499" cy="237"/>
          </p:xfrm>
          <a:graphic>
            <a:graphicData uri="http://schemas.openxmlformats.org/presentationml/2006/ole">
              <mc:AlternateContent xmlns:mc="http://schemas.openxmlformats.org/markup-compatibility/2006">
                <mc:Choice xmlns:v="urn:schemas-microsoft-com:vml" Requires="v">
                  <p:oleObj spid="_x0000_s12444" name="公式" r:id="rId10" imgW="11582400" imgH="5486400" progId="">
                    <p:embed/>
                  </p:oleObj>
                </mc:Choice>
                <mc:Fallback>
                  <p:oleObj name="公式" r:id="rId10" imgW="11582400" imgH="5486400" progId="">
                    <p:embed/>
                    <p:pic>
                      <p:nvPicPr>
                        <p:cNvPr id="0" name="图片 12413"/>
                        <p:cNvPicPr>
                          <a:picLocks noChangeAspect="1"/>
                        </p:cNvPicPr>
                        <p:nvPr/>
                      </p:nvPicPr>
                      <p:blipFill>
                        <a:blip r:embed="rId11"/>
                        <a:stretch>
                          <a:fillRect/>
                        </a:stretch>
                      </p:blipFill>
                      <p:spPr>
                        <a:xfrm>
                          <a:off x="1693" y="2255"/>
                          <a:ext cx="499" cy="237"/>
                        </a:xfrm>
                        <a:prstGeom prst="rect">
                          <a:avLst/>
                        </a:prstGeom>
                        <a:noFill/>
                        <a:ln w="9525">
                          <a:noFill/>
                        </a:ln>
                      </p:spPr>
                    </p:pic>
                  </p:oleObj>
                </mc:Fallback>
              </mc:AlternateContent>
            </a:graphicData>
          </a:graphic>
        </p:graphicFrame>
      </p:grpSp>
      <p:graphicFrame>
        <p:nvGraphicFramePr>
          <p:cNvPr id="17414" name="Object 11"/>
          <p:cNvGraphicFramePr>
            <a:graphicFrameLocks noChangeAspect="1"/>
          </p:cNvGraphicFramePr>
          <p:nvPr/>
        </p:nvGraphicFramePr>
        <p:xfrm>
          <a:off x="1812970" y="5861052"/>
          <a:ext cx="2160587" cy="638175"/>
        </p:xfrm>
        <a:graphic>
          <a:graphicData uri="http://schemas.openxmlformats.org/presentationml/2006/ole">
            <mc:AlternateContent xmlns:mc="http://schemas.openxmlformats.org/markup-compatibility/2006">
              <mc:Choice xmlns:v="urn:schemas-microsoft-com:vml" Requires="v">
                <p:oleObj spid="_x0000_s12445" name="公式" r:id="rId12" imgW="32004000" imgH="9448800" progId="">
                  <p:embed/>
                </p:oleObj>
              </mc:Choice>
              <mc:Fallback>
                <p:oleObj name="公式" r:id="rId12" imgW="32004000" imgH="9448800" progId="">
                  <p:embed/>
                  <p:pic>
                    <p:nvPicPr>
                      <p:cNvPr id="0" name="图片 12414"/>
                      <p:cNvPicPr>
                        <a:picLocks noChangeAspect="1"/>
                      </p:cNvPicPr>
                      <p:nvPr/>
                    </p:nvPicPr>
                    <p:blipFill>
                      <a:blip r:embed="rId13"/>
                      <a:stretch>
                        <a:fillRect/>
                      </a:stretch>
                    </p:blipFill>
                    <p:spPr>
                      <a:xfrm>
                        <a:off x="1812970" y="5861052"/>
                        <a:ext cx="2160587" cy="638175"/>
                      </a:xfrm>
                      <a:prstGeom prst="rect">
                        <a:avLst/>
                      </a:prstGeom>
                      <a:noFill/>
                      <a:ln w="9525">
                        <a:noFill/>
                      </a:ln>
                    </p:spPr>
                  </p:pic>
                </p:oleObj>
              </mc:Fallback>
            </mc:AlternateContent>
          </a:graphicData>
        </a:graphic>
      </p:graphicFrame>
      <p:grpSp>
        <p:nvGrpSpPr>
          <p:cNvPr id="3" name="Group 19"/>
          <p:cNvGrpSpPr/>
          <p:nvPr/>
        </p:nvGrpSpPr>
        <p:grpSpPr bwMode="auto">
          <a:xfrm>
            <a:off x="6516687" y="4783143"/>
            <a:ext cx="1846262" cy="442913"/>
            <a:chOff x="4060" y="3104"/>
            <a:chExt cx="1163" cy="279"/>
          </a:xfrm>
        </p:grpSpPr>
        <p:sp>
          <p:nvSpPr>
            <p:cNvPr id="17423" name="Text Box 12"/>
            <p:cNvSpPr txBox="1">
              <a:spLocks noChangeArrowheads="1"/>
            </p:cNvSpPr>
            <p:nvPr/>
          </p:nvSpPr>
          <p:spPr bwMode="auto">
            <a:xfrm>
              <a:off x="4060" y="3104"/>
              <a:ext cx="1163" cy="250"/>
            </a:xfrm>
            <a:prstGeom prst="rect">
              <a:avLst/>
            </a:prstGeom>
            <a:noFill/>
            <a:ln w="9525">
              <a:noFill/>
              <a:miter lim="800000"/>
            </a:ln>
          </p:spPr>
          <p:txBody>
            <a:bodyPr wrap="square">
              <a:spAutoFit/>
            </a:bodyPr>
            <a:lstStyle/>
            <a:p>
              <a:pPr fontAlgn="base">
                <a:spcBef>
                  <a:spcPct val="50000"/>
                </a:spcBef>
                <a:spcAft>
                  <a:spcPct val="0"/>
                </a:spcAft>
              </a:pPr>
              <a:r>
                <a:rPr lang="en-US" altLang="zh-CN" sz="2000" dirty="0">
                  <a:solidFill>
                    <a:srgbClr val="000000"/>
                  </a:solidFill>
                </a:rPr>
                <a:t>(b) </a:t>
              </a:r>
              <a:r>
                <a:rPr lang="zh-CN" altLang="en-US" sz="2000" dirty="0">
                  <a:solidFill>
                    <a:srgbClr val="000000"/>
                  </a:solidFill>
                </a:rPr>
                <a:t>求</a:t>
              </a:r>
              <a:endParaRPr lang="en-US" altLang="zh-CN" sz="2000" dirty="0">
                <a:solidFill>
                  <a:srgbClr val="000000"/>
                </a:solidFill>
                <a:latin typeface="Times New Roman" panose="02020603050405020304" pitchFamily="18" charset="0"/>
              </a:endParaRPr>
            </a:p>
          </p:txBody>
        </p:sp>
        <p:graphicFrame>
          <p:nvGraphicFramePr>
            <p:cNvPr id="17424" name="Object 13"/>
            <p:cNvGraphicFramePr>
              <a:graphicFrameLocks noChangeAspect="1"/>
            </p:cNvGraphicFramePr>
            <p:nvPr/>
          </p:nvGraphicFramePr>
          <p:xfrm>
            <a:off x="4555" y="3111"/>
            <a:ext cx="167" cy="272"/>
          </p:xfrm>
          <a:graphic>
            <a:graphicData uri="http://schemas.openxmlformats.org/presentationml/2006/ole">
              <mc:AlternateContent xmlns:mc="http://schemas.openxmlformats.org/markup-compatibility/2006">
                <mc:Choice xmlns:v="urn:schemas-microsoft-com:vml" Requires="v">
                  <p:oleObj spid="_x0000_s12446" name="公式" r:id="rId14" imgW="3352800" imgH="5486400" progId="">
                    <p:embed/>
                  </p:oleObj>
                </mc:Choice>
                <mc:Fallback>
                  <p:oleObj name="公式" r:id="rId14" imgW="3352800" imgH="5486400" progId="">
                    <p:embed/>
                    <p:pic>
                      <p:nvPicPr>
                        <p:cNvPr id="0" name="图片 12415"/>
                        <p:cNvPicPr>
                          <a:picLocks noChangeAspect="1"/>
                        </p:cNvPicPr>
                        <p:nvPr/>
                      </p:nvPicPr>
                      <p:blipFill>
                        <a:blip r:embed="rId15"/>
                        <a:stretch>
                          <a:fillRect/>
                        </a:stretch>
                      </p:blipFill>
                      <p:spPr>
                        <a:xfrm>
                          <a:off x="4555" y="3111"/>
                          <a:ext cx="167" cy="272"/>
                        </a:xfrm>
                        <a:prstGeom prst="rect">
                          <a:avLst/>
                        </a:prstGeom>
                        <a:noFill/>
                        <a:ln w="9525">
                          <a:noFill/>
                        </a:ln>
                      </p:spPr>
                    </p:pic>
                  </p:oleObj>
                </mc:Fallback>
              </mc:AlternateContent>
            </a:graphicData>
          </a:graphic>
        </p:graphicFrame>
      </p:grpSp>
      <p:graphicFrame>
        <p:nvGraphicFramePr>
          <p:cNvPr id="17421" name="Object 10"/>
          <p:cNvGraphicFramePr>
            <a:graphicFrameLocks noChangeAspect="1"/>
          </p:cNvGraphicFramePr>
          <p:nvPr/>
        </p:nvGraphicFramePr>
        <p:xfrm>
          <a:off x="1875631" y="4474519"/>
          <a:ext cx="1152525" cy="638175"/>
        </p:xfrm>
        <a:graphic>
          <a:graphicData uri="http://schemas.openxmlformats.org/presentationml/2006/ole">
            <mc:AlternateContent xmlns:mc="http://schemas.openxmlformats.org/markup-compatibility/2006">
              <mc:Choice xmlns:v="urn:schemas-microsoft-com:vml" Requires="v">
                <p:oleObj spid="_x0000_s12447" name="公式" r:id="rId16" imgW="17068800" imgH="9448800" progId="">
                  <p:embed/>
                </p:oleObj>
              </mc:Choice>
              <mc:Fallback>
                <p:oleObj name="公式" r:id="rId16" imgW="17068800" imgH="9448800" progId="">
                  <p:embed/>
                  <p:pic>
                    <p:nvPicPr>
                      <p:cNvPr id="0" name="图片 12416"/>
                      <p:cNvPicPr>
                        <a:picLocks noChangeAspect="1"/>
                      </p:cNvPicPr>
                      <p:nvPr/>
                    </p:nvPicPr>
                    <p:blipFill>
                      <a:blip r:embed="rId17"/>
                      <a:stretch>
                        <a:fillRect/>
                      </a:stretch>
                    </p:blipFill>
                    <p:spPr>
                      <a:xfrm>
                        <a:off x="1875631" y="4474519"/>
                        <a:ext cx="1152525" cy="638175"/>
                      </a:xfrm>
                      <a:prstGeom prst="rect">
                        <a:avLst/>
                      </a:prstGeom>
                      <a:noFill/>
                      <a:ln w="9525">
                        <a:noFill/>
                      </a:ln>
                    </p:spPr>
                  </p:pic>
                </p:oleObj>
              </mc:Fallback>
            </mc:AlternateContent>
          </a:graphicData>
        </a:graphic>
      </p:graphicFrame>
      <p:sp>
        <p:nvSpPr>
          <p:cNvPr id="17419" name="矩形 19"/>
          <p:cNvSpPr>
            <a:spLocks noChangeArrowheads="1"/>
          </p:cNvSpPr>
          <p:nvPr/>
        </p:nvSpPr>
        <p:spPr bwMode="auto">
          <a:xfrm>
            <a:off x="107504" y="924891"/>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②</a:t>
            </a:r>
          </a:p>
        </p:txBody>
      </p:sp>
      <p:sp>
        <p:nvSpPr>
          <p:cNvPr id="17420" name="矩形 20"/>
          <p:cNvSpPr>
            <a:spLocks noChangeArrowheads="1"/>
          </p:cNvSpPr>
          <p:nvPr/>
        </p:nvSpPr>
        <p:spPr bwMode="auto">
          <a:xfrm>
            <a:off x="197901" y="5532436"/>
            <a:ext cx="439738"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③</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22</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23</a:t>
            </a:fld>
            <a:endParaRPr lang="en-US" altLang="zh-CN">
              <a:solidFill>
                <a:srgbClr val="000000"/>
              </a:solidFill>
            </a:endParaRPr>
          </a:p>
        </p:txBody>
      </p:sp>
      <p:pic>
        <p:nvPicPr>
          <p:cNvPr id="5" name="内容占位符 4"/>
          <p:cNvPicPr>
            <a:picLocks noGrp="1" noChangeAspect="1"/>
          </p:cNvPicPr>
          <p:nvPr>
            <p:ph idx="1"/>
          </p:nvPr>
        </p:nvPicPr>
        <p:blipFill>
          <a:blip r:embed="rId2"/>
          <a:stretch>
            <a:fillRect/>
          </a:stretch>
        </p:blipFill>
        <p:spPr>
          <a:xfrm>
            <a:off x="539750" y="548640"/>
            <a:ext cx="7132955" cy="523240"/>
          </a:xfrm>
          <a:prstGeom prst="rect">
            <a:avLst/>
          </a:prstGeom>
        </p:spPr>
      </p:pic>
      <p:pic>
        <p:nvPicPr>
          <p:cNvPr id="6" name="图片 5"/>
          <p:cNvPicPr>
            <a:picLocks noChangeAspect="1"/>
          </p:cNvPicPr>
          <p:nvPr/>
        </p:nvPicPr>
        <p:blipFill>
          <a:blip r:embed="rId3"/>
          <a:stretch>
            <a:fillRect/>
          </a:stretch>
        </p:blipFill>
        <p:spPr>
          <a:xfrm>
            <a:off x="4788535" y="1341120"/>
            <a:ext cx="4122420" cy="2339340"/>
          </a:xfrm>
          <a:prstGeom prst="rect">
            <a:avLst/>
          </a:prstGeom>
        </p:spPr>
      </p:pic>
      <p:sp>
        <p:nvSpPr>
          <p:cNvPr id="7" name="文本框 6"/>
          <p:cNvSpPr txBox="1"/>
          <p:nvPr/>
        </p:nvSpPr>
        <p:spPr>
          <a:xfrm>
            <a:off x="664210" y="1375410"/>
            <a:ext cx="3835400" cy="3415030"/>
          </a:xfrm>
          <a:prstGeom prst="rect">
            <a:avLst/>
          </a:prstGeom>
          <a:noFill/>
        </p:spPr>
        <p:txBody>
          <a:bodyPr wrap="square" rtlCol="0">
            <a:spAutoFit/>
          </a:bodyPr>
          <a:lstStyle/>
          <a:p>
            <a:r>
              <a:rPr lang="zh-CN" altLang="en-US"/>
              <a:t>解：</a:t>
            </a:r>
            <a:r>
              <a:rPr lang="en-US" altLang="zh-CN"/>
              <a:t>(1)</a:t>
            </a:r>
            <a:r>
              <a:rPr lang="zh-CN" altLang="en-US"/>
              <a:t>只有电压源</a:t>
            </a:r>
          </a:p>
          <a:p>
            <a:endParaRPr lang="zh-CN" altLang="en-US"/>
          </a:p>
          <a:p>
            <a:r>
              <a:rPr lang="en-US" altLang="zh-CN"/>
              <a:t>(25-Vx)/20+0.1Vx=Vx/4</a:t>
            </a:r>
          </a:p>
          <a:p>
            <a:endParaRPr lang="en-US" altLang="zh-CN"/>
          </a:p>
          <a:p>
            <a:r>
              <a:rPr lang="en-US" altLang="zh-CN"/>
              <a:t>Vx=25/4</a:t>
            </a:r>
          </a:p>
          <a:p>
            <a:r>
              <a:rPr lang="zh-CN" altLang="en-US"/>
              <a:t>（</a:t>
            </a:r>
            <a:r>
              <a:rPr lang="en-US" altLang="zh-CN"/>
              <a:t>2</a:t>
            </a:r>
            <a:r>
              <a:rPr lang="zh-CN" altLang="en-US"/>
              <a:t>）只有电流源</a:t>
            </a:r>
          </a:p>
          <a:p>
            <a:endParaRPr lang="zh-CN" altLang="en-US"/>
          </a:p>
          <a:p>
            <a:r>
              <a:rPr lang="en-US" altLang="zh-CN"/>
              <a:t>Vx/20+Vx/4=5+0.1Vx</a:t>
            </a:r>
          </a:p>
          <a:p>
            <a:endParaRPr lang="en-US" altLang="zh-CN"/>
          </a:p>
          <a:p>
            <a:r>
              <a:rPr lang="en-US" altLang="zh-CN"/>
              <a:t>Vx=25</a:t>
            </a:r>
          </a:p>
          <a:p>
            <a:endParaRPr lang="en-US" altLang="zh-CN"/>
          </a:p>
          <a:p>
            <a:r>
              <a:rPr lang="en-US" altLang="zh-CN"/>
              <a:t>(3)Vx</a:t>
            </a:r>
            <a:r>
              <a:rPr lang="zh-CN" altLang="en-US"/>
              <a:t>（总）</a:t>
            </a:r>
            <a:r>
              <a:rPr lang="en-US" altLang="zh-CN"/>
              <a:t>=25+25/4=31.25V</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a:spLocks noChangeArrowheads="1"/>
          </p:cNvSpPr>
          <p:nvPr/>
        </p:nvSpPr>
        <p:spPr bwMode="auto">
          <a:xfrm>
            <a:off x="468313" y="785192"/>
            <a:ext cx="4967783" cy="922020"/>
          </a:xfrm>
          <a:prstGeom prst="rect">
            <a:avLst/>
          </a:prstGeom>
          <a:noFill/>
          <a:ln w="9525">
            <a:noFill/>
            <a:miter lim="800000"/>
          </a:ln>
        </p:spPr>
        <p:txBody>
          <a:bodyPr wrap="square">
            <a:spAutoFit/>
          </a:bodyPr>
          <a:lstStyle/>
          <a:p>
            <a:pPr fontAlgn="base">
              <a:spcBef>
                <a:spcPct val="50000"/>
              </a:spcBef>
              <a:spcAft>
                <a:spcPct val="0"/>
              </a:spcAft>
            </a:pPr>
            <a:r>
              <a:rPr lang="zh-CN" altLang="en-US" sz="2400" b="1" dirty="0">
                <a:solidFill>
                  <a:srgbClr val="FF0000"/>
                </a:solidFill>
                <a:latin typeface="Times New Roman" panose="02020603050405020304" pitchFamily="18" charset="0"/>
              </a:rPr>
              <a:t>例</a:t>
            </a:r>
            <a:r>
              <a:rPr lang="en-US" altLang="zh-CN" sz="2000" b="1" dirty="0">
                <a:solidFill>
                  <a:srgbClr val="FF0000"/>
                </a:solidFill>
                <a:latin typeface="Times New Roman" panose="02020603050405020304" pitchFamily="18" charset="0"/>
              </a:rPr>
              <a:t> 4-5 </a:t>
            </a:r>
            <a:r>
              <a:rPr lang="en-US" altLang="zh-CN" sz="2000" b="1" dirty="0">
                <a:solidFill>
                  <a:srgbClr val="CCCCE6"/>
                </a:solidFill>
                <a:latin typeface="Times New Roman" panose="02020603050405020304" pitchFamily="18" charset="0"/>
              </a:rPr>
              <a:t>(</a:t>
            </a:r>
            <a:r>
              <a:rPr lang="zh-CN" altLang="en-US" sz="2000" b="1" dirty="0">
                <a:solidFill>
                  <a:srgbClr val="CCCCE6"/>
                </a:solidFill>
                <a:latin typeface="Times New Roman" panose="02020603050405020304" pitchFamily="18" charset="0"/>
              </a:rPr>
              <a:t>堂练，请</a:t>
            </a:r>
            <a:r>
              <a:rPr lang="en-US" altLang="zh-CN" sz="2000" b="1" dirty="0">
                <a:solidFill>
                  <a:srgbClr val="CCCCE6"/>
                </a:solidFill>
                <a:latin typeface="Times New Roman" panose="02020603050405020304" pitchFamily="18" charset="0"/>
              </a:rPr>
              <a:t>3</a:t>
            </a:r>
            <a:r>
              <a:rPr lang="zh-CN" altLang="en-US" sz="2000" b="1" dirty="0">
                <a:solidFill>
                  <a:srgbClr val="CCCCE6"/>
                </a:solidFill>
                <a:latin typeface="Times New Roman" panose="02020603050405020304" pitchFamily="18" charset="0"/>
              </a:rPr>
              <a:t>位同学上来画分电路图</a:t>
            </a:r>
            <a:r>
              <a:rPr lang="en-US" altLang="zh-CN" sz="2000" b="1" dirty="0">
                <a:solidFill>
                  <a:srgbClr val="CCCCE6"/>
                </a:solidFill>
                <a:latin typeface="Times New Roman" panose="02020603050405020304" pitchFamily="18" charset="0"/>
              </a:rPr>
              <a:t>)</a:t>
            </a:r>
          </a:p>
          <a:p>
            <a:pPr fontAlgn="base">
              <a:spcBef>
                <a:spcPct val="50000"/>
              </a:spcBef>
              <a:spcAft>
                <a:spcPct val="0"/>
              </a:spcAft>
            </a:pPr>
            <a:endParaRPr lang="en-US" altLang="zh-CN" sz="2000" dirty="0">
              <a:solidFill>
                <a:srgbClr val="FF0000"/>
              </a:solidFill>
              <a:latin typeface="Times New Roman" panose="02020603050405020304" pitchFamily="18" charset="0"/>
            </a:endParaRPr>
          </a:p>
        </p:txBody>
      </p:sp>
      <p:pic>
        <p:nvPicPr>
          <p:cNvPr id="18435" name="Picture 6"/>
          <p:cNvPicPr>
            <a:picLocks noChangeAspect="1" noChangeArrowheads="1"/>
          </p:cNvPicPr>
          <p:nvPr/>
        </p:nvPicPr>
        <p:blipFill>
          <a:blip r:embed="rId4" cstate="print"/>
          <a:srcRect/>
          <a:stretch>
            <a:fillRect/>
          </a:stretch>
        </p:blipFill>
        <p:spPr bwMode="auto">
          <a:xfrm>
            <a:off x="1547664" y="2138135"/>
            <a:ext cx="5904260" cy="3825482"/>
          </a:xfrm>
          <a:prstGeom prst="rect">
            <a:avLst/>
          </a:prstGeom>
          <a:noFill/>
          <a:ln w="9525">
            <a:noFill/>
            <a:miter lim="800000"/>
            <a:headEnd/>
            <a:tailEnd/>
          </a:ln>
        </p:spPr>
      </p:pic>
      <p:grpSp>
        <p:nvGrpSpPr>
          <p:cNvPr id="2" name="Group 9"/>
          <p:cNvGrpSpPr/>
          <p:nvPr/>
        </p:nvGrpSpPr>
        <p:grpSpPr bwMode="auto">
          <a:xfrm>
            <a:off x="1079500" y="1276122"/>
            <a:ext cx="8173020" cy="862013"/>
            <a:chOff x="340" y="572"/>
            <a:chExt cx="5080" cy="543"/>
          </a:xfrm>
        </p:grpSpPr>
        <p:sp>
          <p:nvSpPr>
            <p:cNvPr id="18438" name="Text Box 5"/>
            <p:cNvSpPr txBox="1">
              <a:spLocks noChangeArrowheads="1"/>
            </p:cNvSpPr>
            <p:nvPr/>
          </p:nvSpPr>
          <p:spPr bwMode="auto">
            <a:xfrm>
              <a:off x="340" y="572"/>
              <a:ext cx="5080" cy="543"/>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用叠加定理求出图中电路中的</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p:txBody>
        </p:sp>
        <p:graphicFrame>
          <p:nvGraphicFramePr>
            <p:cNvPr id="18439" name="Object 8"/>
            <p:cNvGraphicFramePr>
              <a:graphicFrameLocks noChangeAspect="1"/>
            </p:cNvGraphicFramePr>
            <p:nvPr/>
          </p:nvGraphicFramePr>
          <p:xfrm>
            <a:off x="2466" y="574"/>
            <a:ext cx="122" cy="227"/>
          </p:xfrm>
          <a:graphic>
            <a:graphicData uri="http://schemas.openxmlformats.org/presentationml/2006/ole">
              <mc:AlternateContent xmlns:mc="http://schemas.openxmlformats.org/markup-compatibility/2006">
                <mc:Choice xmlns:v="urn:schemas-microsoft-com:vml" Requires="v">
                  <p:oleObj spid="_x0000_s13319" name="公式" r:id="rId5" imgW="2133600" imgH="3962400" progId="">
                    <p:embed/>
                  </p:oleObj>
                </mc:Choice>
                <mc:Fallback>
                  <p:oleObj name="公式" r:id="rId5" imgW="2133600" imgH="3962400" progId="">
                    <p:embed/>
                    <p:pic>
                      <p:nvPicPr>
                        <p:cNvPr id="0" name="图片 13312"/>
                        <p:cNvPicPr>
                          <a:picLocks noChangeAspect="1"/>
                        </p:cNvPicPr>
                        <p:nvPr/>
                      </p:nvPicPr>
                      <p:blipFill>
                        <a:blip r:embed="rId6"/>
                        <a:stretch>
                          <a:fillRect/>
                        </a:stretch>
                      </p:blipFill>
                      <p:spPr>
                        <a:xfrm>
                          <a:off x="2466" y="574"/>
                          <a:ext cx="122" cy="227"/>
                        </a:xfrm>
                        <a:prstGeom prst="rect">
                          <a:avLst/>
                        </a:prstGeom>
                        <a:noFill/>
                        <a:ln w="9525">
                          <a:noFill/>
                        </a:ln>
                      </p:spPr>
                    </p:pic>
                  </p:oleObj>
                </mc:Fallback>
              </mc:AlternateContent>
            </a:graphicData>
          </a:graphic>
        </p:graphicFrame>
      </p:grpSp>
      <p:sp>
        <p:nvSpPr>
          <p:cNvPr id="3" name="文本框 2"/>
          <p:cNvSpPr txBox="1"/>
          <p:nvPr/>
        </p:nvSpPr>
        <p:spPr>
          <a:xfrm>
            <a:off x="4788024" y="6381328"/>
            <a:ext cx="877163" cy="369332"/>
          </a:xfrm>
          <a:prstGeom prst="rect">
            <a:avLst/>
          </a:prstGeom>
          <a:noFill/>
        </p:spPr>
        <p:txBody>
          <a:bodyPr wrap="none" rtlCol="0">
            <a:spAutoFit/>
          </a:bodyPr>
          <a:lstStyle/>
          <a:p>
            <a:r>
              <a:rPr lang="zh-CN" altLang="en-US" dirty="0"/>
              <a:t>。。。</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24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bwMode="auto">
          <a:xfrm>
            <a:off x="428625" y="3278188"/>
            <a:ext cx="8497887" cy="3324225"/>
            <a:chOff x="270" y="2065"/>
            <a:chExt cx="5353" cy="2094"/>
          </a:xfrm>
        </p:grpSpPr>
        <p:grpSp>
          <p:nvGrpSpPr>
            <p:cNvPr id="3" name="Group 11"/>
            <p:cNvGrpSpPr/>
            <p:nvPr/>
          </p:nvGrpSpPr>
          <p:grpSpPr bwMode="auto">
            <a:xfrm>
              <a:off x="270" y="2065"/>
              <a:ext cx="5353" cy="2094"/>
              <a:chOff x="270" y="2065"/>
              <a:chExt cx="5353" cy="2094"/>
            </a:xfrm>
          </p:grpSpPr>
          <p:sp>
            <p:nvSpPr>
              <p:cNvPr id="19466" name="Text Box 4"/>
              <p:cNvSpPr txBox="1">
                <a:spLocks noChangeArrowheads="1"/>
              </p:cNvSpPr>
              <p:nvPr/>
            </p:nvSpPr>
            <p:spPr bwMode="auto">
              <a:xfrm>
                <a:off x="270" y="2065"/>
                <a:ext cx="5353" cy="2094"/>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a:p>
                <a:pPr fontAlgn="base">
                  <a:spcBef>
                    <a:spcPct val="50000"/>
                  </a:spcBef>
                  <a:spcAft>
                    <a:spcPct val="0"/>
                  </a:spcAft>
                </a:pPr>
                <a:r>
                  <a:rPr lang="zh-CN" altLang="en-US" sz="2000" b="1" dirty="0">
                    <a:solidFill>
                      <a:srgbClr val="000000"/>
                    </a:solidFill>
                    <a:latin typeface="Times New Roman" panose="02020603050405020304" pitchFamily="18" charset="0"/>
                  </a:rPr>
                  <a:t>        在这题中，有三个源</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则：</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       其中  </a:t>
                </a:r>
                <a:r>
                  <a:rPr lang="en-US" altLang="zh-CN" sz="2000" b="1" dirty="0">
                    <a:solidFill>
                      <a:srgbClr val="000000"/>
                    </a:solidFill>
                    <a:latin typeface="Times New Roman" panose="02020603050405020304" pitchFamily="18" charset="0"/>
                  </a:rPr>
                  <a:t>    ,    ,     </a:t>
                </a:r>
                <a:r>
                  <a:rPr lang="zh-CN" altLang="en-US" sz="2000" b="1" dirty="0">
                    <a:solidFill>
                      <a:srgbClr val="000000"/>
                    </a:solidFill>
                    <a:latin typeface="Times New Roman" panose="02020603050405020304" pitchFamily="18" charset="0"/>
                  </a:rPr>
                  <a:t>分别由</a:t>
                </a:r>
                <a:r>
                  <a:rPr lang="en-US" altLang="zh-CN" sz="2000" b="1" dirty="0">
                    <a:solidFill>
                      <a:srgbClr val="000000"/>
                    </a:solidFill>
                    <a:latin typeface="Times New Roman" panose="02020603050405020304" pitchFamily="18" charset="0"/>
                  </a:rPr>
                  <a:t>12V , 24V</a:t>
                </a:r>
                <a:r>
                  <a:rPr lang="zh-CN" altLang="en-US" sz="2000" b="1" dirty="0">
                    <a:solidFill>
                      <a:srgbClr val="000000"/>
                    </a:solidFill>
                    <a:latin typeface="Times New Roman" panose="02020603050405020304" pitchFamily="18" charset="0"/>
                  </a:rPr>
                  <a:t>和</a:t>
                </a:r>
                <a:r>
                  <a:rPr lang="en-US" altLang="zh-CN" sz="2000" b="1" dirty="0">
                    <a:solidFill>
                      <a:srgbClr val="000000"/>
                    </a:solidFill>
                    <a:latin typeface="Times New Roman" panose="02020603050405020304" pitchFamily="18" charset="0"/>
                  </a:rPr>
                  <a:t> 3A </a:t>
                </a:r>
                <a:r>
                  <a:rPr lang="zh-CN" altLang="en-US" sz="2000" b="1" dirty="0">
                    <a:solidFill>
                      <a:srgbClr val="000000"/>
                    </a:solidFill>
                    <a:latin typeface="Times New Roman" panose="02020603050405020304" pitchFamily="18" charset="0"/>
                  </a:rPr>
                  <a:t>源贡献的电流。</a:t>
                </a:r>
                <a:r>
                  <a:rPr lang="en-US" altLang="zh-CN" sz="2000" b="1" dirty="0">
                    <a:solidFill>
                      <a:srgbClr val="000000"/>
                    </a:solidFill>
                    <a:latin typeface="Times New Roman" panose="02020603050405020304" pitchFamily="18" charset="0"/>
                  </a:rPr>
                  <a:t>               </a:t>
                </a:r>
              </a:p>
              <a:p>
                <a:pPr fontAlgn="base">
                  <a:lnSpc>
                    <a:spcPct val="150000"/>
                  </a:lnSpc>
                  <a:spcBef>
                    <a:spcPct val="50000"/>
                  </a:spcBef>
                  <a:spcAft>
                    <a:spcPct val="0"/>
                  </a:spcAft>
                </a:pPr>
                <a:r>
                  <a:rPr lang="en-US" altLang="zh-CN" sz="2000" b="1" dirty="0">
                    <a:solidFill>
                      <a:srgbClr val="0000FF"/>
                    </a:solidFill>
                    <a:latin typeface="Times New Roman" panose="02020603050405020304" pitchFamily="18" charset="0"/>
                  </a:rPr>
                  <a:t>       </a:t>
                </a:r>
                <a:r>
                  <a:rPr lang="zh-CN" altLang="en-US" sz="2000" b="1" dirty="0">
                    <a:solidFill>
                      <a:srgbClr val="0000FF"/>
                    </a:solidFill>
                    <a:latin typeface="Times New Roman" panose="02020603050405020304" pitchFamily="18" charset="0"/>
                  </a:rPr>
                  <a:t>为了得到    </a:t>
                </a:r>
                <a:r>
                  <a:rPr lang="en-US" altLang="zh-CN" sz="2000" b="1" dirty="0">
                    <a:solidFill>
                      <a:srgbClr val="000000"/>
                    </a:solidFill>
                    <a:latin typeface="Times New Roman" panose="02020603050405020304" pitchFamily="18" charset="0"/>
                  </a:rPr>
                  <a:t> , </a:t>
                </a:r>
                <a:r>
                  <a:rPr lang="zh-CN" altLang="en-US" sz="2000" b="1" dirty="0">
                    <a:solidFill>
                      <a:srgbClr val="000000"/>
                    </a:solidFill>
                    <a:latin typeface="Times New Roman" panose="02020603050405020304" pitchFamily="18" charset="0"/>
                  </a:rPr>
                  <a:t>如图</a:t>
                </a:r>
                <a:r>
                  <a:rPr lang="en-US" altLang="zh-CN" sz="2000" b="1" dirty="0">
                    <a:solidFill>
                      <a:srgbClr val="000000"/>
                    </a:solidFill>
                    <a:latin typeface="Times New Roman" panose="02020603050405020304" pitchFamily="18" charset="0"/>
                  </a:rPr>
                  <a:t> (a)</a:t>
                </a:r>
                <a:r>
                  <a:rPr lang="zh-CN" altLang="en-US" sz="2000" b="1" dirty="0">
                    <a:solidFill>
                      <a:srgbClr val="000000"/>
                    </a:solidFill>
                    <a:latin typeface="Times New Roman" panose="02020603050405020304" pitchFamily="18" charset="0"/>
                  </a:rPr>
                  <a:t>所示，化简后易算得：</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b="1" dirty="0">
                    <a:solidFill>
                      <a:srgbClr val="000000"/>
                    </a:solidFill>
                    <a:latin typeface="Times New Roman" panose="02020603050405020304" pitchFamily="18" charset="0"/>
                  </a:rPr>
                  <a:t>                                                                        </a:t>
                </a:r>
              </a:p>
              <a:p>
                <a:pPr fontAlgn="base">
                  <a:spcBef>
                    <a:spcPct val="50000"/>
                  </a:spcBef>
                  <a:spcAft>
                    <a:spcPct val="0"/>
                  </a:spcAft>
                </a:pPr>
                <a:endParaRPr lang="en-US" altLang="zh-CN" sz="2000" dirty="0">
                  <a:solidFill>
                    <a:srgbClr val="000000"/>
                  </a:solidFill>
                  <a:latin typeface="Times New Roman" panose="02020603050405020304" pitchFamily="18" charset="0"/>
                </a:endParaRPr>
              </a:p>
            </p:txBody>
          </p:sp>
          <p:graphicFrame>
            <p:nvGraphicFramePr>
              <p:cNvPr id="19467" name="Object 8"/>
              <p:cNvGraphicFramePr>
                <a:graphicFrameLocks noChangeAspect="1"/>
              </p:cNvGraphicFramePr>
              <p:nvPr/>
            </p:nvGraphicFramePr>
            <p:xfrm>
              <a:off x="986" y="2925"/>
              <a:ext cx="181" cy="227"/>
            </p:xfrm>
            <a:graphic>
              <a:graphicData uri="http://schemas.openxmlformats.org/presentationml/2006/ole">
                <mc:AlternateContent xmlns:mc="http://schemas.openxmlformats.org/markup-compatibility/2006">
                  <mc:Choice xmlns:v="urn:schemas-microsoft-com:vml" Requires="v">
                    <p:oleObj spid="_x0000_s14468" name="公式" r:id="rId4" imgW="2743200" imgH="5181600" progId="">
                      <p:embed/>
                    </p:oleObj>
                  </mc:Choice>
                  <mc:Fallback>
                    <p:oleObj name="公式" r:id="rId4" imgW="2743200" imgH="5181600" progId="">
                      <p:embed/>
                      <p:pic>
                        <p:nvPicPr>
                          <p:cNvPr id="0" name="图片 14336"/>
                          <p:cNvPicPr>
                            <a:picLocks noChangeAspect="1"/>
                          </p:cNvPicPr>
                          <p:nvPr/>
                        </p:nvPicPr>
                        <p:blipFill>
                          <a:blip r:embed="rId5"/>
                          <a:stretch>
                            <a:fillRect/>
                          </a:stretch>
                        </p:blipFill>
                        <p:spPr>
                          <a:xfrm>
                            <a:off x="986" y="2925"/>
                            <a:ext cx="181" cy="227"/>
                          </a:xfrm>
                          <a:prstGeom prst="rect">
                            <a:avLst/>
                          </a:prstGeom>
                          <a:noFill/>
                          <a:ln w="9525">
                            <a:noFill/>
                          </a:ln>
                        </p:spPr>
                      </p:pic>
                    </p:oleObj>
                  </mc:Fallback>
                </mc:AlternateContent>
              </a:graphicData>
            </a:graphic>
          </p:graphicFrame>
          <p:graphicFrame>
            <p:nvGraphicFramePr>
              <p:cNvPr id="19468" name="Object 9"/>
              <p:cNvGraphicFramePr>
                <a:graphicFrameLocks noChangeAspect="1"/>
              </p:cNvGraphicFramePr>
              <p:nvPr/>
            </p:nvGraphicFramePr>
            <p:xfrm>
              <a:off x="1229" y="2931"/>
              <a:ext cx="134" cy="227"/>
            </p:xfrm>
            <a:graphic>
              <a:graphicData uri="http://schemas.openxmlformats.org/presentationml/2006/ole">
                <mc:AlternateContent xmlns:mc="http://schemas.openxmlformats.org/markup-compatibility/2006">
                  <mc:Choice xmlns:v="urn:schemas-microsoft-com:vml" Requires="v">
                    <p:oleObj spid="_x0000_s14469" name="公式" r:id="rId6" imgW="3048000" imgH="5181600" progId="">
                      <p:embed/>
                    </p:oleObj>
                  </mc:Choice>
                  <mc:Fallback>
                    <p:oleObj name="公式" r:id="rId6" imgW="3048000" imgH="5181600" progId="">
                      <p:embed/>
                      <p:pic>
                        <p:nvPicPr>
                          <p:cNvPr id="0" name="图片 14442"/>
                          <p:cNvPicPr>
                            <a:picLocks noChangeAspect="1"/>
                          </p:cNvPicPr>
                          <p:nvPr/>
                        </p:nvPicPr>
                        <p:blipFill>
                          <a:blip r:embed="rId7"/>
                          <a:stretch>
                            <a:fillRect/>
                          </a:stretch>
                        </p:blipFill>
                        <p:spPr>
                          <a:xfrm>
                            <a:off x="1229" y="2931"/>
                            <a:ext cx="134" cy="227"/>
                          </a:xfrm>
                          <a:prstGeom prst="rect">
                            <a:avLst/>
                          </a:prstGeom>
                          <a:noFill/>
                          <a:ln w="9525">
                            <a:noFill/>
                          </a:ln>
                        </p:spPr>
                      </p:pic>
                    </p:oleObj>
                  </mc:Fallback>
                </mc:AlternateContent>
              </a:graphicData>
            </a:graphic>
          </p:graphicFrame>
          <p:graphicFrame>
            <p:nvGraphicFramePr>
              <p:cNvPr id="19469" name="Object 10"/>
              <p:cNvGraphicFramePr>
                <a:graphicFrameLocks noChangeAspect="1"/>
              </p:cNvGraphicFramePr>
              <p:nvPr/>
            </p:nvGraphicFramePr>
            <p:xfrm>
              <a:off x="1440" y="2931"/>
              <a:ext cx="244" cy="252"/>
            </p:xfrm>
            <a:graphic>
              <a:graphicData uri="http://schemas.openxmlformats.org/presentationml/2006/ole">
                <mc:AlternateContent xmlns:mc="http://schemas.openxmlformats.org/markup-compatibility/2006">
                  <mc:Choice xmlns:v="urn:schemas-microsoft-com:vml" Requires="v">
                    <p:oleObj spid="_x0000_s14470" name="公式" r:id="rId8" imgW="3048000" imgH="5486400" progId="">
                      <p:embed/>
                    </p:oleObj>
                  </mc:Choice>
                  <mc:Fallback>
                    <p:oleObj name="公式" r:id="rId8" imgW="3048000" imgH="5486400" progId="">
                      <p:embed/>
                      <p:pic>
                        <p:nvPicPr>
                          <p:cNvPr id="0" name="图片 14443"/>
                          <p:cNvPicPr>
                            <a:picLocks noChangeAspect="1"/>
                          </p:cNvPicPr>
                          <p:nvPr/>
                        </p:nvPicPr>
                        <p:blipFill>
                          <a:blip r:embed="rId9"/>
                          <a:stretch>
                            <a:fillRect/>
                          </a:stretch>
                        </p:blipFill>
                        <p:spPr>
                          <a:xfrm>
                            <a:off x="1440" y="2931"/>
                            <a:ext cx="244" cy="252"/>
                          </a:xfrm>
                          <a:prstGeom prst="rect">
                            <a:avLst/>
                          </a:prstGeom>
                          <a:noFill/>
                          <a:ln w="9525">
                            <a:noFill/>
                          </a:ln>
                        </p:spPr>
                      </p:pic>
                    </p:oleObj>
                  </mc:Fallback>
                </mc:AlternateContent>
              </a:graphicData>
            </a:graphic>
          </p:graphicFrame>
        </p:grpSp>
        <p:graphicFrame>
          <p:nvGraphicFramePr>
            <p:cNvPr id="19465" name="Object 13"/>
            <p:cNvGraphicFramePr>
              <a:graphicFrameLocks noChangeAspect="1"/>
            </p:cNvGraphicFramePr>
            <p:nvPr/>
          </p:nvGraphicFramePr>
          <p:xfrm>
            <a:off x="1296" y="3257"/>
            <a:ext cx="144" cy="272"/>
          </p:xfrm>
          <a:graphic>
            <a:graphicData uri="http://schemas.openxmlformats.org/presentationml/2006/ole">
              <mc:AlternateContent xmlns:mc="http://schemas.openxmlformats.org/markup-compatibility/2006">
                <mc:Choice xmlns:v="urn:schemas-microsoft-com:vml" Requires="v">
                  <p:oleObj spid="_x0000_s14471" name="公式" r:id="rId10" imgW="2743200" imgH="5181600" progId="">
                    <p:embed/>
                  </p:oleObj>
                </mc:Choice>
                <mc:Fallback>
                  <p:oleObj name="公式" r:id="rId10" imgW="2743200" imgH="5181600" progId="">
                    <p:embed/>
                    <p:pic>
                      <p:nvPicPr>
                        <p:cNvPr id="0" name="图片 14444"/>
                        <p:cNvPicPr>
                          <a:picLocks noChangeAspect="1"/>
                        </p:cNvPicPr>
                        <p:nvPr/>
                      </p:nvPicPr>
                      <p:blipFill>
                        <a:blip r:embed="rId11"/>
                        <a:stretch>
                          <a:fillRect/>
                        </a:stretch>
                      </p:blipFill>
                      <p:spPr>
                        <a:xfrm>
                          <a:off x="1296" y="3257"/>
                          <a:ext cx="144" cy="272"/>
                        </a:xfrm>
                        <a:prstGeom prst="rect">
                          <a:avLst/>
                        </a:prstGeom>
                        <a:noFill/>
                        <a:ln w="9525">
                          <a:noFill/>
                        </a:ln>
                      </p:spPr>
                    </p:pic>
                  </p:oleObj>
                </mc:Fallback>
              </mc:AlternateContent>
            </a:graphicData>
          </a:graphic>
        </p:graphicFrame>
      </p:grpSp>
      <p:pic>
        <p:nvPicPr>
          <p:cNvPr id="19458" name="Picture 5"/>
          <p:cNvPicPr>
            <a:picLocks noChangeAspect="1" noChangeArrowheads="1"/>
          </p:cNvPicPr>
          <p:nvPr/>
        </p:nvPicPr>
        <p:blipFill>
          <a:blip r:embed="rId12" cstate="print"/>
          <a:srcRect/>
          <a:stretch>
            <a:fillRect/>
          </a:stretch>
        </p:blipFill>
        <p:spPr bwMode="auto">
          <a:xfrm>
            <a:off x="1259681" y="20098"/>
            <a:ext cx="6624637" cy="3009900"/>
          </a:xfrm>
          <a:prstGeom prst="rect">
            <a:avLst/>
          </a:prstGeom>
          <a:noFill/>
          <a:ln w="9525">
            <a:noFill/>
            <a:miter lim="800000"/>
            <a:headEnd/>
            <a:tailEnd/>
          </a:ln>
        </p:spPr>
      </p:pic>
      <p:sp>
        <p:nvSpPr>
          <p:cNvPr id="19459" name="Text Box 6"/>
          <p:cNvSpPr txBox="1">
            <a:spLocks noChangeArrowheads="1"/>
          </p:cNvSpPr>
          <p:nvPr/>
        </p:nvSpPr>
        <p:spPr bwMode="auto">
          <a:xfrm>
            <a:off x="2760735" y="2911475"/>
            <a:ext cx="1655763" cy="366713"/>
          </a:xfrm>
          <a:prstGeom prst="rect">
            <a:avLst/>
          </a:prstGeom>
          <a:noFill/>
          <a:ln w="9525">
            <a:noFill/>
            <a:miter lim="800000"/>
          </a:ln>
        </p:spPr>
        <p:txBody>
          <a:bodyPr>
            <a:spAutoFit/>
          </a:bodyPr>
          <a:lstStyle/>
          <a:p>
            <a:pPr fontAlgn="base">
              <a:spcBef>
                <a:spcPct val="50000"/>
              </a:spcBef>
              <a:spcAft>
                <a:spcPct val="0"/>
              </a:spcAft>
            </a:pPr>
            <a:r>
              <a:rPr lang="zh-CN" altLang="en-US" dirty="0">
                <a:solidFill>
                  <a:srgbClr val="000000"/>
                </a:solidFill>
                <a:ea typeface="Gulim" pitchFamily="34" charset="-127"/>
              </a:rPr>
              <a:t>图 </a:t>
            </a:r>
            <a:r>
              <a:rPr lang="en-US" altLang="zh-CN" dirty="0">
                <a:solidFill>
                  <a:srgbClr val="000000"/>
                </a:solidFill>
                <a:ea typeface="Gulim" pitchFamily="34" charset="-127"/>
              </a:rPr>
              <a:t>(a)</a:t>
            </a:r>
          </a:p>
        </p:txBody>
      </p:sp>
      <p:graphicFrame>
        <p:nvGraphicFramePr>
          <p:cNvPr id="19460" name="Object 7"/>
          <p:cNvGraphicFramePr>
            <a:graphicFrameLocks noChangeAspect="1"/>
          </p:cNvGraphicFramePr>
          <p:nvPr/>
        </p:nvGraphicFramePr>
        <p:xfrm>
          <a:off x="3275856" y="4149750"/>
          <a:ext cx="1655763" cy="488950"/>
        </p:xfrm>
        <a:graphic>
          <a:graphicData uri="http://schemas.openxmlformats.org/presentationml/2006/ole">
            <mc:AlternateContent xmlns:mc="http://schemas.openxmlformats.org/markup-compatibility/2006">
              <mc:Choice xmlns:v="urn:schemas-microsoft-com:vml" Requires="v">
                <p:oleObj spid="_x0000_s14472" name="公式" r:id="rId13" imgW="18592800" imgH="5486400" progId="">
                  <p:embed/>
                </p:oleObj>
              </mc:Choice>
              <mc:Fallback>
                <p:oleObj name="公式" r:id="rId13" imgW="18592800" imgH="5486400" progId="">
                  <p:embed/>
                  <p:pic>
                    <p:nvPicPr>
                      <p:cNvPr id="0" name="图片 14445"/>
                      <p:cNvPicPr>
                        <a:picLocks noChangeAspect="1"/>
                      </p:cNvPicPr>
                      <p:nvPr/>
                    </p:nvPicPr>
                    <p:blipFill>
                      <a:blip r:embed="rId14"/>
                      <a:stretch>
                        <a:fillRect/>
                      </a:stretch>
                    </p:blipFill>
                    <p:spPr>
                      <a:xfrm>
                        <a:off x="3275856" y="4149750"/>
                        <a:ext cx="1655763" cy="488950"/>
                      </a:xfrm>
                      <a:prstGeom prst="rect">
                        <a:avLst/>
                      </a:prstGeom>
                      <a:noFill/>
                      <a:ln w="9525">
                        <a:noFill/>
                      </a:ln>
                    </p:spPr>
                  </p:pic>
                </p:oleObj>
              </mc:Fallback>
            </mc:AlternateContent>
          </a:graphicData>
        </a:graphic>
      </p:graphicFrame>
      <p:graphicFrame>
        <p:nvGraphicFramePr>
          <p:cNvPr id="19461" name="Object 12"/>
          <p:cNvGraphicFramePr>
            <a:graphicFrameLocks noChangeAspect="1"/>
          </p:cNvGraphicFramePr>
          <p:nvPr/>
        </p:nvGraphicFramePr>
        <p:xfrm>
          <a:off x="3419524" y="5733256"/>
          <a:ext cx="1368425" cy="717550"/>
        </p:xfrm>
        <a:graphic>
          <a:graphicData uri="http://schemas.openxmlformats.org/presentationml/2006/ole">
            <mc:AlternateContent xmlns:mc="http://schemas.openxmlformats.org/markup-compatibility/2006">
              <mc:Choice xmlns:v="urn:schemas-microsoft-com:vml" Requires="v">
                <p:oleObj spid="_x0000_s14473" name="公式" r:id="rId15" imgW="18897600" imgH="9448800" progId="">
                  <p:embed/>
                </p:oleObj>
              </mc:Choice>
              <mc:Fallback>
                <p:oleObj name="公式" r:id="rId15" imgW="18897600" imgH="9448800" progId="">
                  <p:embed/>
                  <p:pic>
                    <p:nvPicPr>
                      <p:cNvPr id="0" name="图片 14446"/>
                      <p:cNvPicPr>
                        <a:picLocks noChangeAspect="1"/>
                      </p:cNvPicPr>
                      <p:nvPr/>
                    </p:nvPicPr>
                    <p:blipFill>
                      <a:blip r:embed="rId16"/>
                      <a:stretch>
                        <a:fillRect/>
                      </a:stretch>
                    </p:blipFill>
                    <p:spPr>
                      <a:xfrm>
                        <a:off x="3419524" y="5733256"/>
                        <a:ext cx="1368425" cy="717550"/>
                      </a:xfrm>
                      <a:prstGeom prst="rect">
                        <a:avLst/>
                      </a:prstGeom>
                      <a:noFill/>
                      <a:ln w="9525">
                        <a:noFill/>
                      </a:ln>
                    </p:spPr>
                  </p:pic>
                </p:oleObj>
              </mc:Fallback>
            </mc:AlternateContent>
          </a:graphicData>
        </a:graphic>
      </p:graphicFrame>
      <p:sp>
        <p:nvSpPr>
          <p:cNvPr id="19463" name="矩形 14"/>
          <p:cNvSpPr>
            <a:spLocks noChangeArrowheads="1"/>
          </p:cNvSpPr>
          <p:nvPr/>
        </p:nvSpPr>
        <p:spPr bwMode="auto">
          <a:xfrm>
            <a:off x="428625" y="5200172"/>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①</a:t>
            </a:r>
          </a:p>
        </p:txBody>
      </p:sp>
      <p:sp>
        <p:nvSpPr>
          <p:cNvPr id="14" name="Text Box 6"/>
          <p:cNvSpPr txBox="1">
            <a:spLocks noChangeArrowheads="1"/>
          </p:cNvSpPr>
          <p:nvPr/>
        </p:nvSpPr>
        <p:spPr bwMode="auto">
          <a:xfrm>
            <a:off x="4571999" y="1628800"/>
            <a:ext cx="1655763" cy="338554"/>
          </a:xfrm>
          <a:prstGeom prst="rect">
            <a:avLst/>
          </a:prstGeom>
          <a:noFill/>
          <a:ln w="9525">
            <a:noFill/>
            <a:miter lim="800000"/>
          </a:ln>
        </p:spPr>
        <p:txBody>
          <a:bodyPr>
            <a:spAutoFit/>
          </a:bodyPr>
          <a:lstStyle/>
          <a:p>
            <a:pPr fontAlgn="base">
              <a:spcBef>
                <a:spcPct val="50000"/>
              </a:spcBef>
              <a:spcAft>
                <a:spcPct val="0"/>
              </a:spcAft>
            </a:pPr>
            <a:r>
              <a:rPr lang="zh-CN" altLang="en-US" sz="1600" dirty="0">
                <a:solidFill>
                  <a:srgbClr val="000000"/>
                </a:solidFill>
                <a:ea typeface="Gulim" pitchFamily="34" charset="-127"/>
              </a:rPr>
              <a:t>化简</a:t>
            </a:r>
            <a:endParaRPr lang="en-US" altLang="zh-CN" sz="1600" dirty="0">
              <a:solidFill>
                <a:srgbClr val="000000"/>
              </a:solidFill>
              <a:ea typeface="Gulim" pitchFamily="34" charset="-127"/>
            </a:endParaRP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25</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4" cstate="print"/>
          <a:srcRect/>
          <a:stretch>
            <a:fillRect/>
          </a:stretch>
        </p:blipFill>
        <p:spPr bwMode="auto">
          <a:xfrm>
            <a:off x="5624393" y="404064"/>
            <a:ext cx="3095625" cy="2695575"/>
          </a:xfrm>
          <a:prstGeom prst="rect">
            <a:avLst/>
          </a:prstGeom>
          <a:noFill/>
          <a:ln w="9525">
            <a:noFill/>
            <a:miter lim="800000"/>
            <a:headEnd/>
            <a:tailEnd/>
          </a:ln>
        </p:spPr>
      </p:pic>
      <p:grpSp>
        <p:nvGrpSpPr>
          <p:cNvPr id="2" name="Group 16"/>
          <p:cNvGrpSpPr/>
          <p:nvPr/>
        </p:nvGrpSpPr>
        <p:grpSpPr bwMode="auto">
          <a:xfrm>
            <a:off x="304415" y="658724"/>
            <a:ext cx="5347201" cy="6434138"/>
            <a:chOff x="204" y="235"/>
            <a:chExt cx="3216" cy="4053"/>
          </a:xfrm>
        </p:grpSpPr>
        <p:grpSp>
          <p:nvGrpSpPr>
            <p:cNvPr id="3" name="Group 13"/>
            <p:cNvGrpSpPr/>
            <p:nvPr/>
          </p:nvGrpSpPr>
          <p:grpSpPr bwMode="auto">
            <a:xfrm>
              <a:off x="204" y="235"/>
              <a:ext cx="3216" cy="4053"/>
              <a:chOff x="204" y="235"/>
              <a:chExt cx="3216" cy="4053"/>
            </a:xfrm>
          </p:grpSpPr>
          <p:sp>
            <p:nvSpPr>
              <p:cNvPr id="20505" name="Text Box 6"/>
              <p:cNvSpPr txBox="1">
                <a:spLocks noChangeArrowheads="1"/>
              </p:cNvSpPr>
              <p:nvPr/>
            </p:nvSpPr>
            <p:spPr bwMode="auto">
              <a:xfrm>
                <a:off x="204" y="255"/>
                <a:ext cx="3216" cy="4033"/>
              </a:xfrm>
              <a:prstGeom prst="rect">
                <a:avLst/>
              </a:prstGeom>
              <a:noFill/>
              <a:ln w="9525">
                <a:noFill/>
                <a:miter lim="800000"/>
              </a:ln>
            </p:spPr>
            <p:txBody>
              <a:bodyPr wrap="square">
                <a:spAutoFit/>
              </a:bodyPr>
              <a:lstStyle/>
              <a:p>
                <a:pPr fontAlgn="base">
                  <a:spcBef>
                    <a:spcPct val="50000"/>
                  </a:spcBef>
                  <a:spcAft>
                    <a:spcPct val="0"/>
                  </a:spcAft>
                </a:pPr>
                <a:r>
                  <a:rPr lang="en-US" altLang="zh-CN" sz="2000" dirty="0">
                    <a:solidFill>
                      <a:srgbClr val="0000FF"/>
                    </a:solidFill>
                    <a:latin typeface="Times New Roman" panose="02020603050405020304" pitchFamily="18" charset="0"/>
                    <a:ea typeface="Gulim" pitchFamily="34" charset="-127"/>
                  </a:rPr>
                  <a:t>     </a:t>
                </a:r>
                <a:r>
                  <a:rPr lang="zh-CN" altLang="en-US" sz="2000" dirty="0">
                    <a:solidFill>
                      <a:srgbClr val="0000FF"/>
                    </a:solidFill>
                    <a:latin typeface="Times New Roman" panose="02020603050405020304" pitchFamily="18" charset="0"/>
                  </a:rPr>
                  <a:t>为了得到</a:t>
                </a:r>
                <a:r>
                  <a:rPr lang="en-US" altLang="zh-CN" sz="2000" dirty="0">
                    <a:solidFill>
                      <a:srgbClr val="0000FF"/>
                    </a:solidFill>
                    <a:latin typeface="Times New Roman" panose="02020603050405020304" pitchFamily="18" charset="0"/>
                  </a:rPr>
                  <a:t>    </a:t>
                </a:r>
                <a:r>
                  <a:rPr lang="en-US" altLang="zh-CN" sz="2000" dirty="0">
                    <a:solidFill>
                      <a:srgbClr val="000000"/>
                    </a:solidFill>
                    <a:latin typeface="Times New Roman" panose="02020603050405020304" pitchFamily="18" charset="0"/>
                    <a:ea typeface="Gulim" pitchFamily="34" charset="-127"/>
                  </a:rPr>
                  <a:t>, </a:t>
                </a:r>
                <a:r>
                  <a:rPr lang="zh-CN" altLang="en-US" sz="2000" dirty="0">
                    <a:solidFill>
                      <a:srgbClr val="000000"/>
                    </a:solidFill>
                    <a:latin typeface="Times New Roman" panose="02020603050405020304" pitchFamily="18" charset="0"/>
                  </a:rPr>
                  <a:t>电路如图</a:t>
                </a:r>
                <a:r>
                  <a:rPr lang="en-US" altLang="zh-CN" sz="2000" dirty="0">
                    <a:solidFill>
                      <a:srgbClr val="000000"/>
                    </a:solidFill>
                    <a:latin typeface="Times New Roman" panose="02020603050405020304" pitchFamily="18" charset="0"/>
                  </a:rPr>
                  <a:t> (b)</a:t>
                </a:r>
                <a:r>
                  <a:rPr lang="zh-CN" altLang="en-US" sz="2000" dirty="0">
                    <a:solidFill>
                      <a:srgbClr val="000000"/>
                    </a:solidFill>
                    <a:latin typeface="Times New Roman" panose="02020603050405020304" pitchFamily="18" charset="0"/>
                  </a:rPr>
                  <a:t>所示</a:t>
                </a:r>
                <a:r>
                  <a:rPr lang="zh-CN" altLang="en-US" sz="2000" dirty="0">
                    <a:solidFill>
                      <a:srgbClr val="000000"/>
                    </a:solidFill>
                    <a:latin typeface="Times New Roman" panose="02020603050405020304" pitchFamily="18" charset="0"/>
                    <a:ea typeface="Gulim" pitchFamily="34" charset="-127"/>
                  </a:rPr>
                  <a:t>。</a:t>
                </a:r>
                <a:r>
                  <a:rPr lang="en-US" altLang="zh-CN" sz="2000" dirty="0">
                    <a:solidFill>
                      <a:srgbClr val="000000"/>
                    </a:solidFill>
                    <a:latin typeface="Times New Roman" panose="02020603050405020304" pitchFamily="18" charset="0"/>
                    <a:ea typeface="Gulim" pitchFamily="34" charset="-127"/>
                  </a:rPr>
                  <a:t> </a:t>
                </a:r>
                <a:r>
                  <a:rPr lang="zh-CN" altLang="en-US" sz="2000" dirty="0">
                    <a:solidFill>
                      <a:srgbClr val="000000"/>
                    </a:solidFill>
                    <a:latin typeface="Times New Roman" panose="02020603050405020304" pitchFamily="18" charset="0"/>
                  </a:rPr>
                  <a:t>用网孔法：</a:t>
                </a: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r>
                  <a:rPr lang="zh-CN" altLang="en-US" sz="2000" dirty="0">
                    <a:solidFill>
                      <a:srgbClr val="000000"/>
                    </a:solidFill>
                    <a:latin typeface="Times New Roman" panose="02020603050405020304" pitchFamily="18" charset="0"/>
                  </a:rPr>
                  <a:t>             可得：</a:t>
                </a:r>
                <a:endParaRPr lang="en-US" altLang="zh-CN" sz="2000"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r>
                  <a:rPr lang="en-US" altLang="zh-CN" sz="2000" dirty="0">
                    <a:solidFill>
                      <a:srgbClr val="0000FF"/>
                    </a:solidFill>
                    <a:latin typeface="Times New Roman" panose="02020603050405020304" pitchFamily="18" charset="0"/>
                    <a:ea typeface="Gulim" pitchFamily="34" charset="-127"/>
                  </a:rPr>
                  <a:t>       </a:t>
                </a:r>
                <a:r>
                  <a:rPr lang="zh-CN" altLang="en-US" sz="2000" dirty="0">
                    <a:solidFill>
                      <a:srgbClr val="0000FF"/>
                    </a:solidFill>
                    <a:latin typeface="Times New Roman" panose="02020603050405020304" pitchFamily="18" charset="0"/>
                  </a:rPr>
                  <a:t>为了得到    ，</a:t>
                </a:r>
                <a:r>
                  <a:rPr lang="zh-CN" altLang="en-US" sz="2000" dirty="0">
                    <a:solidFill>
                      <a:srgbClr val="000000"/>
                    </a:solidFill>
                    <a:latin typeface="Times New Roman" panose="02020603050405020304" pitchFamily="18" charset="0"/>
                  </a:rPr>
                  <a:t>电路如图</a:t>
                </a:r>
                <a:r>
                  <a:rPr lang="en-US" altLang="zh-CN" sz="2000" dirty="0">
                    <a:solidFill>
                      <a:srgbClr val="000000"/>
                    </a:solidFill>
                    <a:latin typeface="Times New Roman" panose="02020603050405020304" pitchFamily="18" charset="0"/>
                    <a:ea typeface="Gulim" pitchFamily="34" charset="-127"/>
                  </a:rPr>
                  <a:t> (c)</a:t>
                </a:r>
                <a:r>
                  <a:rPr lang="zh-CN" altLang="en-US" sz="2000" dirty="0">
                    <a:solidFill>
                      <a:srgbClr val="000000"/>
                    </a:solidFill>
                    <a:latin typeface="Times New Roman" panose="02020603050405020304" pitchFamily="18" charset="0"/>
                    <a:ea typeface="Gulim" pitchFamily="34" charset="-127"/>
                  </a:rPr>
                  <a:t>所示。</a:t>
                </a:r>
                <a:r>
                  <a:rPr lang="zh-CN" altLang="en-US" sz="2000" dirty="0">
                    <a:solidFill>
                      <a:srgbClr val="000000"/>
                    </a:solidFill>
                    <a:latin typeface="Times New Roman" panose="02020603050405020304" pitchFamily="18" charset="0"/>
                  </a:rPr>
                  <a:t>用节点法：</a:t>
                </a:r>
                <a:endParaRPr lang="en-US" altLang="zh-CN" sz="2000"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r>
                  <a:rPr lang="en-US" altLang="zh-CN" sz="2000" dirty="0">
                    <a:solidFill>
                      <a:srgbClr val="000000"/>
                    </a:solidFill>
                    <a:latin typeface="Times New Roman" panose="02020603050405020304" pitchFamily="18" charset="0"/>
                    <a:ea typeface="Gulim" pitchFamily="34" charset="-127"/>
                  </a:rPr>
                  <a:t>             </a:t>
                </a: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a:p>
                <a:pPr fontAlgn="base">
                  <a:spcBef>
                    <a:spcPct val="50000"/>
                  </a:spcBef>
                  <a:spcAft>
                    <a:spcPct val="0"/>
                  </a:spcAft>
                </a:pPr>
                <a:r>
                  <a:rPr lang="zh-CN" altLang="en-US" sz="2000" dirty="0">
                    <a:solidFill>
                      <a:srgbClr val="000000"/>
                    </a:solidFill>
                    <a:latin typeface="Times New Roman" panose="02020603050405020304" pitchFamily="18" charset="0"/>
                    <a:ea typeface="Gulim" pitchFamily="34" charset="-127"/>
                  </a:rPr>
                  <a:t>        叠加后</a:t>
                </a:r>
                <a:r>
                  <a:rPr lang="en-US" altLang="zh-CN" sz="2000" dirty="0">
                    <a:solidFill>
                      <a:srgbClr val="000000"/>
                    </a:solidFill>
                    <a:latin typeface="Times New Roman" panose="02020603050405020304" pitchFamily="18" charset="0"/>
                    <a:ea typeface="Gulim" pitchFamily="34" charset="-127"/>
                  </a:rPr>
                  <a:t>,</a:t>
                </a:r>
              </a:p>
              <a:p>
                <a:pPr fontAlgn="base">
                  <a:spcBef>
                    <a:spcPct val="50000"/>
                  </a:spcBef>
                  <a:spcAft>
                    <a:spcPct val="0"/>
                  </a:spcAft>
                </a:pPr>
                <a:endParaRPr lang="en-US" altLang="zh-CN" sz="2000" dirty="0">
                  <a:solidFill>
                    <a:srgbClr val="000000"/>
                  </a:solidFill>
                  <a:latin typeface="Times New Roman" panose="02020603050405020304" pitchFamily="18" charset="0"/>
                  <a:ea typeface="Gulim" pitchFamily="34" charset="-127"/>
                </a:endParaRPr>
              </a:p>
            </p:txBody>
          </p:sp>
          <p:graphicFrame>
            <p:nvGraphicFramePr>
              <p:cNvPr id="20506" name="Object 8"/>
              <p:cNvGraphicFramePr>
                <a:graphicFrameLocks noChangeAspect="1"/>
              </p:cNvGraphicFramePr>
              <p:nvPr/>
            </p:nvGraphicFramePr>
            <p:xfrm>
              <a:off x="1072" y="235"/>
              <a:ext cx="161" cy="272"/>
            </p:xfrm>
            <a:graphic>
              <a:graphicData uri="http://schemas.openxmlformats.org/presentationml/2006/ole">
                <mc:AlternateContent xmlns:mc="http://schemas.openxmlformats.org/markup-compatibility/2006">
                  <mc:Choice xmlns:v="urn:schemas-microsoft-com:vml" Requires="v">
                    <p:oleObj spid="_x0000_s15555" name="公式" r:id="rId5" imgW="3048000" imgH="5181600" progId="">
                      <p:embed/>
                    </p:oleObj>
                  </mc:Choice>
                  <mc:Fallback>
                    <p:oleObj name="公式" r:id="rId5" imgW="3048000" imgH="5181600" progId="">
                      <p:embed/>
                      <p:pic>
                        <p:nvPicPr>
                          <p:cNvPr id="0" name="图片 15360"/>
                          <p:cNvPicPr>
                            <a:picLocks noChangeAspect="1"/>
                          </p:cNvPicPr>
                          <p:nvPr/>
                        </p:nvPicPr>
                        <p:blipFill>
                          <a:blip r:embed="rId6"/>
                          <a:stretch>
                            <a:fillRect/>
                          </a:stretch>
                        </p:blipFill>
                        <p:spPr>
                          <a:xfrm>
                            <a:off x="1072" y="235"/>
                            <a:ext cx="161" cy="272"/>
                          </a:xfrm>
                          <a:prstGeom prst="rect">
                            <a:avLst/>
                          </a:prstGeom>
                          <a:noFill/>
                          <a:ln w="9525">
                            <a:noFill/>
                          </a:ln>
                        </p:spPr>
                      </p:pic>
                    </p:oleObj>
                  </mc:Fallback>
                </mc:AlternateContent>
              </a:graphicData>
            </a:graphic>
          </p:graphicFrame>
          <p:graphicFrame>
            <p:nvGraphicFramePr>
              <p:cNvPr id="20507" name="Object 12"/>
              <p:cNvGraphicFramePr>
                <a:graphicFrameLocks noChangeAspect="1"/>
              </p:cNvGraphicFramePr>
              <p:nvPr/>
            </p:nvGraphicFramePr>
            <p:xfrm>
              <a:off x="1153" y="1670"/>
              <a:ext cx="151" cy="272"/>
            </p:xfrm>
            <a:graphic>
              <a:graphicData uri="http://schemas.openxmlformats.org/presentationml/2006/ole">
                <mc:AlternateContent xmlns:mc="http://schemas.openxmlformats.org/markup-compatibility/2006">
                  <mc:Choice xmlns:v="urn:schemas-microsoft-com:vml" Requires="v">
                    <p:oleObj spid="_x0000_s15556" name="公式" r:id="rId7" imgW="3048000" imgH="5486400" progId="">
                      <p:embed/>
                    </p:oleObj>
                  </mc:Choice>
                  <mc:Fallback>
                    <p:oleObj name="公式" r:id="rId7" imgW="3048000" imgH="5486400" progId="">
                      <p:embed/>
                      <p:pic>
                        <p:nvPicPr>
                          <p:cNvPr id="0" name="图片 15517"/>
                          <p:cNvPicPr>
                            <a:picLocks noChangeAspect="1"/>
                          </p:cNvPicPr>
                          <p:nvPr/>
                        </p:nvPicPr>
                        <p:blipFill>
                          <a:blip r:embed="rId8"/>
                          <a:stretch>
                            <a:fillRect/>
                          </a:stretch>
                        </p:blipFill>
                        <p:spPr>
                          <a:xfrm>
                            <a:off x="1153" y="1670"/>
                            <a:ext cx="151" cy="272"/>
                          </a:xfrm>
                          <a:prstGeom prst="rect">
                            <a:avLst/>
                          </a:prstGeom>
                          <a:noFill/>
                          <a:ln w="9525">
                            <a:noFill/>
                          </a:ln>
                        </p:spPr>
                      </p:pic>
                    </p:oleObj>
                  </mc:Fallback>
                </mc:AlternateContent>
              </a:graphicData>
            </a:graphic>
          </p:graphicFrame>
        </p:grpSp>
        <p:graphicFrame>
          <p:nvGraphicFramePr>
            <p:cNvPr id="20504" name="Object 15"/>
            <p:cNvGraphicFramePr>
              <a:graphicFrameLocks noChangeAspect="1"/>
            </p:cNvGraphicFramePr>
            <p:nvPr/>
          </p:nvGraphicFramePr>
          <p:xfrm>
            <a:off x="1099" y="3100"/>
            <a:ext cx="408" cy="231"/>
          </p:xfrm>
          <a:graphic>
            <a:graphicData uri="http://schemas.openxmlformats.org/presentationml/2006/ole">
              <mc:AlternateContent xmlns:mc="http://schemas.openxmlformats.org/markup-compatibility/2006">
                <mc:Choice xmlns:v="urn:schemas-microsoft-com:vml" Requires="v">
                  <p:oleObj spid="_x0000_s15557" name="公式" r:id="rId9" imgW="9144000" imgH="5181600" progId="">
                    <p:embed/>
                  </p:oleObj>
                </mc:Choice>
                <mc:Fallback>
                  <p:oleObj name="公式" r:id="rId9" imgW="9144000" imgH="5181600" progId="">
                    <p:embed/>
                    <p:pic>
                      <p:nvPicPr>
                        <p:cNvPr id="0" name="图片 15518"/>
                        <p:cNvPicPr>
                          <a:picLocks noChangeAspect="1"/>
                        </p:cNvPicPr>
                        <p:nvPr/>
                      </p:nvPicPr>
                      <p:blipFill>
                        <a:blip r:embed="rId10"/>
                        <a:stretch>
                          <a:fillRect/>
                        </a:stretch>
                      </p:blipFill>
                      <p:spPr>
                        <a:xfrm>
                          <a:off x="1099" y="3100"/>
                          <a:ext cx="408" cy="231"/>
                        </a:xfrm>
                        <a:prstGeom prst="rect">
                          <a:avLst/>
                        </a:prstGeom>
                        <a:noFill/>
                        <a:ln w="9525">
                          <a:noFill/>
                        </a:ln>
                      </p:spPr>
                    </p:pic>
                  </p:oleObj>
                </mc:Fallback>
              </mc:AlternateContent>
            </a:graphicData>
          </a:graphic>
        </p:graphicFrame>
      </p:grpSp>
      <p:pic>
        <p:nvPicPr>
          <p:cNvPr id="20484" name="Picture 7"/>
          <p:cNvPicPr>
            <a:picLocks noChangeAspect="1" noChangeArrowheads="1"/>
          </p:cNvPicPr>
          <p:nvPr/>
        </p:nvPicPr>
        <p:blipFill>
          <a:blip r:embed="rId11" cstate="print"/>
          <a:srcRect/>
          <a:stretch>
            <a:fillRect/>
          </a:stretch>
        </p:blipFill>
        <p:spPr bwMode="auto">
          <a:xfrm>
            <a:off x="5624393" y="3679076"/>
            <a:ext cx="3500438" cy="2552700"/>
          </a:xfrm>
          <a:prstGeom prst="rect">
            <a:avLst/>
          </a:prstGeom>
          <a:noFill/>
          <a:ln w="9525">
            <a:noFill/>
            <a:miter lim="800000"/>
            <a:headEnd/>
            <a:tailEnd/>
          </a:ln>
        </p:spPr>
      </p:pic>
      <p:graphicFrame>
        <p:nvGraphicFramePr>
          <p:cNvPr id="20502" name="Object 9"/>
          <p:cNvGraphicFramePr>
            <a:graphicFrameLocks noChangeAspect="1"/>
          </p:cNvGraphicFramePr>
          <p:nvPr/>
        </p:nvGraphicFramePr>
        <p:xfrm>
          <a:off x="1858753" y="1145607"/>
          <a:ext cx="1871662" cy="387350"/>
        </p:xfrm>
        <a:graphic>
          <a:graphicData uri="http://schemas.openxmlformats.org/presentationml/2006/ole">
            <mc:AlternateContent xmlns:mc="http://schemas.openxmlformats.org/markup-compatibility/2006">
              <mc:Choice xmlns:v="urn:schemas-microsoft-com:vml" Requires="v">
                <p:oleObj spid="_x0000_s15558" name="公式" r:id="rId12" imgW="26517600" imgH="5486400" progId="">
                  <p:embed/>
                </p:oleObj>
              </mc:Choice>
              <mc:Fallback>
                <p:oleObj name="公式" r:id="rId12" imgW="26517600" imgH="5486400" progId="">
                  <p:embed/>
                  <p:pic>
                    <p:nvPicPr>
                      <p:cNvPr id="0" name="图片 15519"/>
                      <p:cNvPicPr>
                        <a:picLocks noChangeAspect="1"/>
                      </p:cNvPicPr>
                      <p:nvPr/>
                    </p:nvPicPr>
                    <p:blipFill>
                      <a:blip r:embed="rId13"/>
                      <a:stretch>
                        <a:fillRect/>
                      </a:stretch>
                    </p:blipFill>
                    <p:spPr>
                      <a:xfrm>
                        <a:off x="1858753" y="1145607"/>
                        <a:ext cx="1871662" cy="387350"/>
                      </a:xfrm>
                      <a:prstGeom prst="rect">
                        <a:avLst/>
                      </a:prstGeom>
                      <a:noFill/>
                      <a:ln w="9525">
                        <a:noFill/>
                      </a:ln>
                    </p:spPr>
                  </p:pic>
                </p:oleObj>
              </mc:Fallback>
            </mc:AlternateContent>
          </a:graphicData>
        </a:graphic>
      </p:graphicFrame>
      <p:graphicFrame>
        <p:nvGraphicFramePr>
          <p:cNvPr id="20500" name="Object 10"/>
          <p:cNvGraphicFramePr>
            <a:graphicFrameLocks noChangeAspect="1"/>
          </p:cNvGraphicFramePr>
          <p:nvPr/>
        </p:nvGraphicFramePr>
        <p:xfrm>
          <a:off x="1835150" y="1628775"/>
          <a:ext cx="1368425" cy="411163"/>
        </p:xfrm>
        <a:graphic>
          <a:graphicData uri="http://schemas.openxmlformats.org/presentationml/2006/ole">
            <mc:AlternateContent xmlns:mc="http://schemas.openxmlformats.org/markup-compatibility/2006">
              <mc:Choice xmlns:v="urn:schemas-microsoft-com:vml" Requires="v">
                <p:oleObj spid="_x0000_s15559" name="公式" r:id="rId14" imgW="18288000" imgH="5486400" progId="">
                  <p:embed/>
                </p:oleObj>
              </mc:Choice>
              <mc:Fallback>
                <p:oleObj name="公式" r:id="rId14" imgW="18288000" imgH="5486400" progId="">
                  <p:embed/>
                  <p:pic>
                    <p:nvPicPr>
                      <p:cNvPr id="0" name="图片 15520"/>
                      <p:cNvPicPr>
                        <a:picLocks noChangeAspect="1"/>
                      </p:cNvPicPr>
                      <p:nvPr/>
                    </p:nvPicPr>
                    <p:blipFill>
                      <a:blip r:embed="rId15"/>
                      <a:stretch>
                        <a:fillRect/>
                      </a:stretch>
                    </p:blipFill>
                    <p:spPr>
                      <a:xfrm>
                        <a:off x="1835150" y="1628775"/>
                        <a:ext cx="1368425" cy="411163"/>
                      </a:xfrm>
                      <a:prstGeom prst="rect">
                        <a:avLst/>
                      </a:prstGeom>
                      <a:noFill/>
                      <a:ln w="9525">
                        <a:noFill/>
                      </a:ln>
                    </p:spPr>
                  </p:pic>
                </p:oleObj>
              </mc:Fallback>
            </mc:AlternateContent>
          </a:graphicData>
        </a:graphic>
      </p:graphicFrame>
      <p:graphicFrame>
        <p:nvGraphicFramePr>
          <p:cNvPr id="20487" name="Object 11"/>
          <p:cNvGraphicFramePr>
            <a:graphicFrameLocks noChangeAspect="1"/>
          </p:cNvGraphicFramePr>
          <p:nvPr/>
        </p:nvGraphicFramePr>
        <p:xfrm>
          <a:off x="1858753" y="2394969"/>
          <a:ext cx="1225550" cy="400050"/>
        </p:xfrm>
        <a:graphic>
          <a:graphicData uri="http://schemas.openxmlformats.org/presentationml/2006/ole">
            <mc:AlternateContent xmlns:mc="http://schemas.openxmlformats.org/markup-compatibility/2006">
              <mc:Choice xmlns:v="urn:schemas-microsoft-com:vml" Requires="v">
                <p:oleObj spid="_x0000_s15560" name="公式" r:id="rId16" imgW="16764000" imgH="5486400" progId="">
                  <p:embed/>
                </p:oleObj>
              </mc:Choice>
              <mc:Fallback>
                <p:oleObj name="公式" r:id="rId16" imgW="16764000" imgH="5486400" progId="">
                  <p:embed/>
                  <p:pic>
                    <p:nvPicPr>
                      <p:cNvPr id="0" name="图片 15521"/>
                      <p:cNvPicPr>
                        <a:picLocks noChangeAspect="1"/>
                      </p:cNvPicPr>
                      <p:nvPr/>
                    </p:nvPicPr>
                    <p:blipFill>
                      <a:blip r:embed="rId17"/>
                      <a:stretch>
                        <a:fillRect/>
                      </a:stretch>
                    </p:blipFill>
                    <p:spPr>
                      <a:xfrm>
                        <a:off x="1858753" y="2394969"/>
                        <a:ext cx="1225550" cy="400050"/>
                      </a:xfrm>
                      <a:prstGeom prst="rect">
                        <a:avLst/>
                      </a:prstGeom>
                      <a:noFill/>
                      <a:ln w="9525">
                        <a:noFill/>
                      </a:ln>
                    </p:spPr>
                  </p:pic>
                </p:oleObj>
              </mc:Fallback>
            </mc:AlternateContent>
          </a:graphicData>
        </a:graphic>
      </p:graphicFrame>
      <p:graphicFrame>
        <p:nvGraphicFramePr>
          <p:cNvPr id="20488" name="Object 17"/>
          <p:cNvGraphicFramePr>
            <a:graphicFrameLocks noChangeAspect="1"/>
          </p:cNvGraphicFramePr>
          <p:nvPr/>
        </p:nvGraphicFramePr>
        <p:xfrm>
          <a:off x="3568916" y="5105565"/>
          <a:ext cx="1223963" cy="642938"/>
        </p:xfrm>
        <a:graphic>
          <a:graphicData uri="http://schemas.openxmlformats.org/presentationml/2006/ole">
            <mc:AlternateContent xmlns:mc="http://schemas.openxmlformats.org/markup-compatibility/2006">
              <mc:Choice xmlns:v="urn:schemas-microsoft-com:vml" Requires="v">
                <p:oleObj spid="_x0000_s15561" name="公式" r:id="rId18" imgW="17983200" imgH="9448800" progId="">
                  <p:embed/>
                </p:oleObj>
              </mc:Choice>
              <mc:Fallback>
                <p:oleObj name="公式" r:id="rId18" imgW="17983200" imgH="9448800" progId="">
                  <p:embed/>
                  <p:pic>
                    <p:nvPicPr>
                      <p:cNvPr id="0" name="图片 15522"/>
                      <p:cNvPicPr>
                        <a:picLocks noChangeAspect="1"/>
                      </p:cNvPicPr>
                      <p:nvPr/>
                    </p:nvPicPr>
                    <p:blipFill>
                      <a:blip r:embed="rId19"/>
                      <a:stretch>
                        <a:fillRect/>
                      </a:stretch>
                    </p:blipFill>
                    <p:spPr>
                      <a:xfrm>
                        <a:off x="3568916" y="5105565"/>
                        <a:ext cx="1223963" cy="642938"/>
                      </a:xfrm>
                      <a:prstGeom prst="rect">
                        <a:avLst/>
                      </a:prstGeom>
                      <a:noFill/>
                      <a:ln w="9525">
                        <a:noFill/>
                      </a:ln>
                    </p:spPr>
                  </p:pic>
                </p:oleObj>
              </mc:Fallback>
            </mc:AlternateContent>
          </a:graphicData>
        </a:graphic>
      </p:graphicFrame>
      <p:graphicFrame>
        <p:nvGraphicFramePr>
          <p:cNvPr id="20489" name="Object 18"/>
          <p:cNvGraphicFramePr>
            <a:graphicFrameLocks noChangeAspect="1"/>
          </p:cNvGraphicFramePr>
          <p:nvPr/>
        </p:nvGraphicFramePr>
        <p:xfrm>
          <a:off x="1843637" y="6223599"/>
          <a:ext cx="2879725" cy="381000"/>
        </p:xfrm>
        <a:graphic>
          <a:graphicData uri="http://schemas.openxmlformats.org/presentationml/2006/ole">
            <mc:AlternateContent xmlns:mc="http://schemas.openxmlformats.org/markup-compatibility/2006">
              <mc:Choice xmlns:v="urn:schemas-microsoft-com:vml" Requires="v">
                <p:oleObj spid="_x0000_s15562" name="公式" r:id="rId20" imgW="41452800" imgH="5486400" progId="">
                  <p:embed/>
                </p:oleObj>
              </mc:Choice>
              <mc:Fallback>
                <p:oleObj name="公式" r:id="rId20" imgW="41452800" imgH="5486400" progId="">
                  <p:embed/>
                  <p:pic>
                    <p:nvPicPr>
                      <p:cNvPr id="0" name="图片 15523"/>
                      <p:cNvPicPr>
                        <a:picLocks noChangeAspect="1"/>
                      </p:cNvPicPr>
                      <p:nvPr/>
                    </p:nvPicPr>
                    <p:blipFill>
                      <a:blip r:embed="rId21"/>
                      <a:stretch>
                        <a:fillRect/>
                      </a:stretch>
                    </p:blipFill>
                    <p:spPr>
                      <a:xfrm>
                        <a:off x="1843637" y="6223599"/>
                        <a:ext cx="2879725" cy="381000"/>
                      </a:xfrm>
                      <a:prstGeom prst="rect">
                        <a:avLst/>
                      </a:prstGeom>
                      <a:noFill/>
                      <a:ln w="9525">
                        <a:noFill/>
                      </a:ln>
                    </p:spPr>
                  </p:pic>
                </p:oleObj>
              </mc:Fallback>
            </mc:AlternateContent>
          </a:graphicData>
        </a:graphic>
      </p:graphicFrame>
      <p:graphicFrame>
        <p:nvGraphicFramePr>
          <p:cNvPr id="20496" name="Object 14"/>
          <p:cNvGraphicFramePr>
            <a:graphicFrameLocks noChangeAspect="1"/>
          </p:cNvGraphicFramePr>
          <p:nvPr/>
        </p:nvGraphicFramePr>
        <p:xfrm>
          <a:off x="1750273" y="3429000"/>
          <a:ext cx="1728788" cy="1401763"/>
        </p:xfrm>
        <a:graphic>
          <a:graphicData uri="http://schemas.openxmlformats.org/presentationml/2006/ole">
            <mc:AlternateContent xmlns:mc="http://schemas.openxmlformats.org/markup-compatibility/2006">
              <mc:Choice xmlns:v="urn:schemas-microsoft-com:vml" Requires="v">
                <p:oleObj spid="_x0000_s15563" name="公式" r:id="rId22" imgW="24079200" imgH="19507200" progId="">
                  <p:embed/>
                </p:oleObj>
              </mc:Choice>
              <mc:Fallback>
                <p:oleObj name="公式" r:id="rId22" imgW="24079200" imgH="19507200" progId="">
                  <p:embed/>
                  <p:pic>
                    <p:nvPicPr>
                      <p:cNvPr id="0" name="图片 15524"/>
                      <p:cNvPicPr>
                        <a:picLocks noChangeAspect="1"/>
                      </p:cNvPicPr>
                      <p:nvPr/>
                    </p:nvPicPr>
                    <p:blipFill>
                      <a:blip r:embed="rId23"/>
                      <a:stretch>
                        <a:fillRect/>
                      </a:stretch>
                    </p:blipFill>
                    <p:spPr>
                      <a:xfrm>
                        <a:off x="1750273" y="3429000"/>
                        <a:ext cx="1728788" cy="1401763"/>
                      </a:xfrm>
                      <a:prstGeom prst="rect">
                        <a:avLst/>
                      </a:prstGeom>
                      <a:noFill/>
                      <a:ln w="9525">
                        <a:noFill/>
                      </a:ln>
                    </p:spPr>
                  </p:pic>
                </p:oleObj>
              </mc:Fallback>
            </mc:AlternateContent>
          </a:graphicData>
        </a:graphic>
      </p:graphicFrame>
      <p:sp>
        <p:nvSpPr>
          <p:cNvPr id="20491" name="Text Box 26"/>
          <p:cNvSpPr txBox="1">
            <a:spLocks noChangeArrowheads="1"/>
          </p:cNvSpPr>
          <p:nvPr/>
        </p:nvSpPr>
        <p:spPr bwMode="auto">
          <a:xfrm>
            <a:off x="6849595" y="6231776"/>
            <a:ext cx="1727200" cy="366713"/>
          </a:xfrm>
          <a:prstGeom prst="rect">
            <a:avLst/>
          </a:prstGeom>
          <a:noFill/>
          <a:ln w="9525">
            <a:noFill/>
            <a:miter lim="800000"/>
          </a:ln>
        </p:spPr>
        <p:txBody>
          <a:bodyPr>
            <a:spAutoFit/>
          </a:bodyPr>
          <a:lstStyle/>
          <a:p>
            <a:pPr fontAlgn="base">
              <a:spcBef>
                <a:spcPct val="50000"/>
              </a:spcBef>
              <a:spcAft>
                <a:spcPct val="0"/>
              </a:spcAft>
            </a:pPr>
            <a:r>
              <a:rPr lang="zh-CN" altLang="en-US" dirty="0">
                <a:solidFill>
                  <a:srgbClr val="000000"/>
                </a:solidFill>
                <a:ea typeface="Gulim" pitchFamily="34" charset="-127"/>
              </a:rPr>
              <a:t>图</a:t>
            </a:r>
            <a:r>
              <a:rPr lang="en-US" altLang="zh-CN" dirty="0">
                <a:solidFill>
                  <a:srgbClr val="000000"/>
                </a:solidFill>
                <a:ea typeface="Gulim" pitchFamily="34" charset="-127"/>
              </a:rPr>
              <a:t> (c)</a:t>
            </a:r>
          </a:p>
        </p:txBody>
      </p:sp>
      <p:sp>
        <p:nvSpPr>
          <p:cNvPr id="20492" name="Text Box 27"/>
          <p:cNvSpPr txBox="1">
            <a:spLocks noChangeArrowheads="1"/>
          </p:cNvSpPr>
          <p:nvPr/>
        </p:nvSpPr>
        <p:spPr bwMode="auto">
          <a:xfrm>
            <a:off x="6848008" y="3030538"/>
            <a:ext cx="1728787" cy="366712"/>
          </a:xfrm>
          <a:prstGeom prst="rect">
            <a:avLst/>
          </a:prstGeom>
          <a:noFill/>
          <a:ln w="9525">
            <a:noFill/>
            <a:miter lim="800000"/>
          </a:ln>
        </p:spPr>
        <p:txBody>
          <a:bodyPr>
            <a:spAutoFit/>
          </a:bodyPr>
          <a:lstStyle/>
          <a:p>
            <a:pPr fontAlgn="base">
              <a:spcBef>
                <a:spcPct val="50000"/>
              </a:spcBef>
              <a:spcAft>
                <a:spcPct val="0"/>
              </a:spcAft>
            </a:pPr>
            <a:r>
              <a:rPr lang="zh-CN" altLang="en-US" dirty="0">
                <a:solidFill>
                  <a:srgbClr val="000000"/>
                </a:solidFill>
                <a:ea typeface="Gulim" pitchFamily="34" charset="-127"/>
              </a:rPr>
              <a:t>图</a:t>
            </a:r>
            <a:r>
              <a:rPr lang="en-US" altLang="zh-CN" dirty="0">
                <a:solidFill>
                  <a:srgbClr val="000000"/>
                </a:solidFill>
                <a:ea typeface="Gulim" pitchFamily="34" charset="-127"/>
              </a:rPr>
              <a:t> (b)</a:t>
            </a:r>
          </a:p>
        </p:txBody>
      </p:sp>
      <p:sp>
        <p:nvSpPr>
          <p:cNvPr id="20493" name="矩形 26"/>
          <p:cNvSpPr>
            <a:spLocks noChangeArrowheads="1"/>
          </p:cNvSpPr>
          <p:nvPr/>
        </p:nvSpPr>
        <p:spPr bwMode="auto">
          <a:xfrm>
            <a:off x="224421" y="690474"/>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②</a:t>
            </a:r>
          </a:p>
        </p:txBody>
      </p:sp>
      <p:sp>
        <p:nvSpPr>
          <p:cNvPr id="20494" name="矩形 27"/>
          <p:cNvSpPr>
            <a:spLocks noChangeArrowheads="1"/>
          </p:cNvSpPr>
          <p:nvPr/>
        </p:nvSpPr>
        <p:spPr bwMode="auto">
          <a:xfrm>
            <a:off x="297806" y="3005709"/>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③</a:t>
            </a:r>
          </a:p>
        </p:txBody>
      </p:sp>
      <p:sp>
        <p:nvSpPr>
          <p:cNvPr id="20495" name="矩形 28"/>
          <p:cNvSpPr>
            <a:spLocks noChangeArrowheads="1"/>
          </p:cNvSpPr>
          <p:nvPr/>
        </p:nvSpPr>
        <p:spPr bwMode="auto">
          <a:xfrm>
            <a:off x="304415" y="6203949"/>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④</a:t>
            </a:r>
          </a:p>
        </p:txBody>
      </p:sp>
      <p:sp>
        <p:nvSpPr>
          <p:cNvPr id="5" name="文本框 4"/>
          <p:cNvSpPr txBox="1"/>
          <p:nvPr/>
        </p:nvSpPr>
        <p:spPr>
          <a:xfrm>
            <a:off x="984654" y="5206912"/>
            <a:ext cx="2736647" cy="400110"/>
          </a:xfrm>
          <a:prstGeom prst="rect">
            <a:avLst/>
          </a:prstGeom>
          <a:noFill/>
        </p:spPr>
        <p:txBody>
          <a:bodyPr wrap="none" rtlCol="0">
            <a:spAutoFit/>
          </a:bodyPr>
          <a:lstStyle/>
          <a:p>
            <a:r>
              <a:rPr lang="zh-CN" altLang="en-US" sz="2000" dirty="0"/>
              <a:t>可得：                  则：</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26</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27</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395605" y="836930"/>
            <a:ext cx="6088380" cy="556260"/>
          </a:xfrm>
          <a:prstGeom prst="rect">
            <a:avLst/>
          </a:prstGeom>
        </p:spPr>
      </p:pic>
      <p:pic>
        <p:nvPicPr>
          <p:cNvPr id="6" name="图片 5"/>
          <p:cNvPicPr>
            <a:picLocks noChangeAspect="1"/>
          </p:cNvPicPr>
          <p:nvPr/>
        </p:nvPicPr>
        <p:blipFill>
          <a:blip r:embed="rId3"/>
          <a:stretch>
            <a:fillRect/>
          </a:stretch>
        </p:blipFill>
        <p:spPr>
          <a:xfrm>
            <a:off x="4068445" y="1772920"/>
            <a:ext cx="4556760" cy="2125980"/>
          </a:xfrm>
          <a:prstGeom prst="rect">
            <a:avLst/>
          </a:prstGeom>
        </p:spPr>
      </p:pic>
      <p:sp>
        <p:nvSpPr>
          <p:cNvPr id="7" name="文本框 6"/>
          <p:cNvSpPr txBox="1"/>
          <p:nvPr/>
        </p:nvSpPr>
        <p:spPr>
          <a:xfrm>
            <a:off x="314960" y="1705610"/>
            <a:ext cx="3465195" cy="1476375"/>
          </a:xfrm>
          <a:prstGeom prst="rect">
            <a:avLst/>
          </a:prstGeom>
          <a:noFill/>
        </p:spPr>
        <p:txBody>
          <a:bodyPr wrap="square" rtlCol="0">
            <a:spAutoFit/>
          </a:bodyPr>
          <a:lstStyle/>
          <a:p>
            <a:r>
              <a:rPr lang="zh-CN" altLang="en-US"/>
              <a:t>解：</a:t>
            </a:r>
            <a:r>
              <a:rPr lang="en-US" altLang="zh-CN"/>
              <a:t>I1=(8-6)/16=2/16=1/8(A)</a:t>
            </a:r>
          </a:p>
          <a:p>
            <a:endParaRPr lang="en-US" altLang="zh-CN"/>
          </a:p>
          <a:p>
            <a:r>
              <a:rPr lang="en-US" altLang="zh-CN"/>
              <a:t>      I2=2/(2+8+6)X2=4/16=2/8(A)</a:t>
            </a:r>
          </a:p>
          <a:p>
            <a:endParaRPr lang="zh-CN" altLang="en-US"/>
          </a:p>
          <a:p>
            <a:r>
              <a:rPr lang="en-US" altLang="zh-CN"/>
              <a:t>I(</a:t>
            </a:r>
            <a:r>
              <a:rPr lang="zh-CN" altLang="en-US"/>
              <a:t>总）</a:t>
            </a:r>
            <a:r>
              <a:rPr lang="en-US" altLang="zh-CN"/>
              <a:t>=I1+I2=3/8=0.375(V)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333375"/>
            <a:ext cx="8229600" cy="955675"/>
          </a:xfrm>
        </p:spPr>
        <p:txBody>
          <a:bodyPr/>
          <a:lstStyle/>
          <a:p>
            <a:pPr eaLnBrk="1" hangingPunct="1"/>
            <a:r>
              <a:rPr lang="en-US" altLang="zh-CN" sz="4000" dirty="0">
                <a:solidFill>
                  <a:srgbClr val="0000FF"/>
                </a:solidFill>
                <a:latin typeface="Franklin Gothic Medium" panose="020B0603020102020204" pitchFamily="34" charset="0"/>
              </a:rPr>
              <a:t>4.4 </a:t>
            </a:r>
            <a:r>
              <a:rPr lang="zh-CN" altLang="en-US" sz="3600" b="1" dirty="0">
                <a:solidFill>
                  <a:srgbClr val="0000FF"/>
                </a:solidFill>
                <a:latin typeface="Franklin Gothic Medium" panose="020B0603020102020204" pitchFamily="34" charset="0"/>
              </a:rPr>
              <a:t>电源置换</a:t>
            </a:r>
            <a:r>
              <a:rPr lang="en-US" altLang="zh-CN" sz="3600" b="1" dirty="0">
                <a:solidFill>
                  <a:srgbClr val="0000FF"/>
                </a:solidFill>
                <a:latin typeface="Franklin Gothic Medium" panose="020B0603020102020204" pitchFamily="34" charset="0"/>
              </a:rPr>
              <a:t>/</a:t>
            </a:r>
            <a:r>
              <a:rPr lang="zh-CN" altLang="en-US" sz="3600" b="1" dirty="0">
                <a:solidFill>
                  <a:srgbClr val="0000FF"/>
                </a:solidFill>
                <a:latin typeface="Franklin Gothic Medium" panose="020B0603020102020204" pitchFamily="34" charset="0"/>
              </a:rPr>
              <a:t>转换定理</a:t>
            </a:r>
            <a:endParaRPr lang="en-US" altLang="zh-CN" sz="4000" b="1" dirty="0">
              <a:solidFill>
                <a:srgbClr val="0000FF"/>
              </a:solidFill>
              <a:latin typeface="Franklin Gothic Medium" panose="020B0603020102020204" pitchFamily="34" charset="0"/>
            </a:endParaRPr>
          </a:p>
        </p:txBody>
      </p:sp>
      <p:grpSp>
        <p:nvGrpSpPr>
          <p:cNvPr id="2" name="Group 4"/>
          <p:cNvGrpSpPr>
            <a:grpSpLocks noChangeAspect="1"/>
          </p:cNvGrpSpPr>
          <p:nvPr/>
        </p:nvGrpSpPr>
        <p:grpSpPr bwMode="auto">
          <a:xfrm>
            <a:off x="2647950" y="4706500"/>
            <a:ext cx="5976938" cy="1528763"/>
            <a:chOff x="96" y="1428"/>
            <a:chExt cx="5553" cy="1462"/>
          </a:xfrm>
        </p:grpSpPr>
        <p:sp>
          <p:nvSpPr>
            <p:cNvPr id="21513" name="Freeform 5"/>
            <p:cNvSpPr>
              <a:spLocks noChangeAspect="1"/>
            </p:cNvSpPr>
            <p:nvPr/>
          </p:nvSpPr>
          <p:spPr bwMode="auto">
            <a:xfrm>
              <a:off x="4958" y="1773"/>
              <a:ext cx="1" cy="1058"/>
            </a:xfrm>
            <a:custGeom>
              <a:avLst/>
              <a:gdLst>
                <a:gd name="T0" fmla="*/ 0 w 1"/>
                <a:gd name="T1" fmla="*/ 0 h 1058"/>
                <a:gd name="T2" fmla="*/ 0 w 1"/>
                <a:gd name="T3" fmla="*/ 1058 h 1058"/>
                <a:gd name="T4" fmla="*/ 0 w 1"/>
                <a:gd name="T5" fmla="*/ 0 h 1058"/>
                <a:gd name="T6" fmla="*/ 0 w 1"/>
                <a:gd name="T7" fmla="*/ 0 h 1058"/>
                <a:gd name="T8" fmla="*/ 0 60000 65536"/>
                <a:gd name="T9" fmla="*/ 0 60000 65536"/>
                <a:gd name="T10" fmla="*/ 0 60000 65536"/>
                <a:gd name="T11" fmla="*/ 0 60000 65536"/>
                <a:gd name="T12" fmla="*/ 0 w 1"/>
                <a:gd name="T13" fmla="*/ 0 h 1058"/>
                <a:gd name="T14" fmla="*/ 1 w 1"/>
                <a:gd name="T15" fmla="*/ 1058 h 1058"/>
              </a:gdLst>
              <a:ahLst/>
              <a:cxnLst>
                <a:cxn ang="T8">
                  <a:pos x="T0" y="T1"/>
                </a:cxn>
                <a:cxn ang="T9">
                  <a:pos x="T2" y="T3"/>
                </a:cxn>
                <a:cxn ang="T10">
                  <a:pos x="T4" y="T5"/>
                </a:cxn>
                <a:cxn ang="T11">
                  <a:pos x="T6" y="T7"/>
                </a:cxn>
              </a:cxnLst>
              <a:rect l="T12" t="T13" r="T14" b="T15"/>
              <a:pathLst>
                <a:path w="1" h="1058">
                  <a:moveTo>
                    <a:pt x="0" y="0"/>
                  </a:moveTo>
                  <a:lnTo>
                    <a:pt x="0" y="1058"/>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4" name="Freeform 6"/>
            <p:cNvSpPr>
              <a:spLocks noChangeAspect="1"/>
            </p:cNvSpPr>
            <p:nvPr/>
          </p:nvSpPr>
          <p:spPr bwMode="auto">
            <a:xfrm>
              <a:off x="515" y="1766"/>
              <a:ext cx="1655" cy="1"/>
            </a:xfrm>
            <a:custGeom>
              <a:avLst/>
              <a:gdLst>
                <a:gd name="T0" fmla="*/ 1655 w 1655"/>
                <a:gd name="T1" fmla="*/ 0 h 1"/>
                <a:gd name="T2" fmla="*/ 0 w 1655"/>
                <a:gd name="T3" fmla="*/ 0 h 1"/>
                <a:gd name="T4" fmla="*/ 1655 w 1655"/>
                <a:gd name="T5" fmla="*/ 0 h 1"/>
                <a:gd name="T6" fmla="*/ 1655 w 1655"/>
                <a:gd name="T7" fmla="*/ 0 h 1"/>
                <a:gd name="T8" fmla="*/ 0 60000 65536"/>
                <a:gd name="T9" fmla="*/ 0 60000 65536"/>
                <a:gd name="T10" fmla="*/ 0 60000 65536"/>
                <a:gd name="T11" fmla="*/ 0 60000 65536"/>
                <a:gd name="T12" fmla="*/ 0 w 1655"/>
                <a:gd name="T13" fmla="*/ 0 h 1"/>
                <a:gd name="T14" fmla="*/ 1655 w 1655"/>
                <a:gd name="T15" fmla="*/ 1 h 1"/>
              </a:gdLst>
              <a:ahLst/>
              <a:cxnLst>
                <a:cxn ang="T8">
                  <a:pos x="T0" y="T1"/>
                </a:cxn>
                <a:cxn ang="T9">
                  <a:pos x="T2" y="T3"/>
                </a:cxn>
                <a:cxn ang="T10">
                  <a:pos x="T4" y="T5"/>
                </a:cxn>
                <a:cxn ang="T11">
                  <a:pos x="T6" y="T7"/>
                </a:cxn>
              </a:cxnLst>
              <a:rect l="T12" t="T13" r="T14" b="T15"/>
              <a:pathLst>
                <a:path w="1655" h="1">
                  <a:moveTo>
                    <a:pt x="1655" y="0"/>
                  </a:moveTo>
                  <a:lnTo>
                    <a:pt x="0" y="0"/>
                  </a:lnTo>
                  <a:lnTo>
                    <a:pt x="1655"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5" name="Freeform 7"/>
            <p:cNvSpPr>
              <a:spLocks noChangeAspect="1" noEditPoints="1"/>
            </p:cNvSpPr>
            <p:nvPr/>
          </p:nvSpPr>
          <p:spPr bwMode="auto">
            <a:xfrm>
              <a:off x="515" y="1766"/>
              <a:ext cx="1" cy="1065"/>
            </a:xfrm>
            <a:custGeom>
              <a:avLst/>
              <a:gdLst>
                <a:gd name="T0" fmla="*/ 0 w 1"/>
                <a:gd name="T1" fmla="*/ 0 h 1065"/>
                <a:gd name="T2" fmla="*/ 0 w 1"/>
                <a:gd name="T3" fmla="*/ 1065 h 1065"/>
                <a:gd name="T4" fmla="*/ 0 w 1"/>
                <a:gd name="T5" fmla="*/ 0 h 1065"/>
                <a:gd name="T6" fmla="*/ 0 w 1"/>
                <a:gd name="T7" fmla="*/ 0 h 1065"/>
                <a:gd name="T8" fmla="*/ 0 w 1"/>
                <a:gd name="T9" fmla="*/ 0 h 1065"/>
                <a:gd name="T10" fmla="*/ 0 w 1"/>
                <a:gd name="T11" fmla="*/ 0 h 1065"/>
                <a:gd name="T12" fmla="*/ 0 w 1"/>
                <a:gd name="T13" fmla="*/ 0 h 1065"/>
                <a:gd name="T14" fmla="*/ 0 60000 65536"/>
                <a:gd name="T15" fmla="*/ 0 60000 65536"/>
                <a:gd name="T16" fmla="*/ 0 60000 65536"/>
                <a:gd name="T17" fmla="*/ 0 60000 65536"/>
                <a:gd name="T18" fmla="*/ 0 60000 65536"/>
                <a:gd name="T19" fmla="*/ 0 60000 65536"/>
                <a:gd name="T20" fmla="*/ 0 60000 65536"/>
                <a:gd name="T21" fmla="*/ 0 w 1"/>
                <a:gd name="T22" fmla="*/ 0 h 1065"/>
                <a:gd name="T23" fmla="*/ 1 w 1"/>
                <a:gd name="T24" fmla="*/ 1065 h 10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65">
                  <a:moveTo>
                    <a:pt x="0" y="0"/>
                  </a:moveTo>
                  <a:lnTo>
                    <a:pt x="0" y="106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6" name="Freeform 8"/>
            <p:cNvSpPr>
              <a:spLocks noChangeAspect="1" noEditPoints="1"/>
            </p:cNvSpPr>
            <p:nvPr/>
          </p:nvSpPr>
          <p:spPr bwMode="auto">
            <a:xfrm>
              <a:off x="515" y="2831"/>
              <a:ext cx="1655" cy="1"/>
            </a:xfrm>
            <a:custGeom>
              <a:avLst/>
              <a:gdLst>
                <a:gd name="T0" fmla="*/ 0 w 1655"/>
                <a:gd name="T1" fmla="*/ 0 h 1"/>
                <a:gd name="T2" fmla="*/ 1655 w 1655"/>
                <a:gd name="T3" fmla="*/ 0 h 1"/>
                <a:gd name="T4" fmla="*/ 0 w 1655"/>
                <a:gd name="T5" fmla="*/ 0 h 1"/>
                <a:gd name="T6" fmla="*/ 0 w 1655"/>
                <a:gd name="T7" fmla="*/ 0 h 1"/>
                <a:gd name="T8" fmla="*/ 0 w 1655"/>
                <a:gd name="T9" fmla="*/ 0 h 1"/>
                <a:gd name="T10" fmla="*/ 0 w 1655"/>
                <a:gd name="T11" fmla="*/ 0 h 1"/>
                <a:gd name="T12" fmla="*/ 0 w 1655"/>
                <a:gd name="T13" fmla="*/ 0 h 1"/>
                <a:gd name="T14" fmla="*/ 0 60000 65536"/>
                <a:gd name="T15" fmla="*/ 0 60000 65536"/>
                <a:gd name="T16" fmla="*/ 0 60000 65536"/>
                <a:gd name="T17" fmla="*/ 0 60000 65536"/>
                <a:gd name="T18" fmla="*/ 0 60000 65536"/>
                <a:gd name="T19" fmla="*/ 0 60000 65536"/>
                <a:gd name="T20" fmla="*/ 0 60000 65536"/>
                <a:gd name="T21" fmla="*/ 0 w 1655"/>
                <a:gd name="T22" fmla="*/ 0 h 1"/>
                <a:gd name="T23" fmla="*/ 1655 w 165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5" h="1">
                  <a:moveTo>
                    <a:pt x="0" y="0"/>
                  </a:moveTo>
                  <a:lnTo>
                    <a:pt x="1655"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7" name="Freeform 9"/>
            <p:cNvSpPr>
              <a:spLocks noChangeAspect="1"/>
            </p:cNvSpPr>
            <p:nvPr/>
          </p:nvSpPr>
          <p:spPr bwMode="auto">
            <a:xfrm>
              <a:off x="346" y="2111"/>
              <a:ext cx="353" cy="367"/>
            </a:xfrm>
            <a:custGeom>
              <a:avLst/>
              <a:gdLst>
                <a:gd name="T0" fmla="*/ 177 w 353"/>
                <a:gd name="T1" fmla="*/ 367 h 367"/>
                <a:gd name="T2" fmla="*/ 213 w 353"/>
                <a:gd name="T3" fmla="*/ 367 h 367"/>
                <a:gd name="T4" fmla="*/ 243 w 353"/>
                <a:gd name="T5" fmla="*/ 353 h 367"/>
                <a:gd name="T6" fmla="*/ 302 w 353"/>
                <a:gd name="T7" fmla="*/ 316 h 367"/>
                <a:gd name="T8" fmla="*/ 338 w 353"/>
                <a:gd name="T9" fmla="*/ 257 h 367"/>
                <a:gd name="T10" fmla="*/ 353 w 353"/>
                <a:gd name="T11" fmla="*/ 220 h 367"/>
                <a:gd name="T12" fmla="*/ 353 w 353"/>
                <a:gd name="T13" fmla="*/ 184 h 367"/>
                <a:gd name="T14" fmla="*/ 353 w 353"/>
                <a:gd name="T15" fmla="*/ 147 h 367"/>
                <a:gd name="T16" fmla="*/ 338 w 353"/>
                <a:gd name="T17" fmla="*/ 110 h 367"/>
                <a:gd name="T18" fmla="*/ 302 w 353"/>
                <a:gd name="T19" fmla="*/ 52 h 367"/>
                <a:gd name="T20" fmla="*/ 243 w 353"/>
                <a:gd name="T21" fmla="*/ 15 h 367"/>
                <a:gd name="T22" fmla="*/ 213 w 353"/>
                <a:gd name="T23" fmla="*/ 7 h 367"/>
                <a:gd name="T24" fmla="*/ 177 w 353"/>
                <a:gd name="T25" fmla="*/ 0 h 367"/>
                <a:gd name="T26" fmla="*/ 140 w 353"/>
                <a:gd name="T27" fmla="*/ 7 h 367"/>
                <a:gd name="T28" fmla="*/ 110 w 353"/>
                <a:gd name="T29" fmla="*/ 15 h 367"/>
                <a:gd name="T30" fmla="*/ 52 w 353"/>
                <a:gd name="T31" fmla="*/ 52 h 367"/>
                <a:gd name="T32" fmla="*/ 15 w 353"/>
                <a:gd name="T33" fmla="*/ 110 h 367"/>
                <a:gd name="T34" fmla="*/ 7 w 353"/>
                <a:gd name="T35" fmla="*/ 147 h 367"/>
                <a:gd name="T36" fmla="*/ 0 w 353"/>
                <a:gd name="T37" fmla="*/ 184 h 367"/>
                <a:gd name="T38" fmla="*/ 7 w 353"/>
                <a:gd name="T39" fmla="*/ 220 h 367"/>
                <a:gd name="T40" fmla="*/ 15 w 353"/>
                <a:gd name="T41" fmla="*/ 257 h 367"/>
                <a:gd name="T42" fmla="*/ 52 w 353"/>
                <a:gd name="T43" fmla="*/ 316 h 367"/>
                <a:gd name="T44" fmla="*/ 110 w 353"/>
                <a:gd name="T45" fmla="*/ 353 h 367"/>
                <a:gd name="T46" fmla="*/ 140 w 353"/>
                <a:gd name="T47" fmla="*/ 367 h 367"/>
                <a:gd name="T48" fmla="*/ 177 w 353"/>
                <a:gd name="T49" fmla="*/ 367 h 367"/>
                <a:gd name="T50" fmla="*/ 177 w 353"/>
                <a:gd name="T51" fmla="*/ 367 h 36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53"/>
                <a:gd name="T79" fmla="*/ 0 h 367"/>
                <a:gd name="T80" fmla="*/ 353 w 353"/>
                <a:gd name="T81" fmla="*/ 367 h 36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53" h="367">
                  <a:moveTo>
                    <a:pt x="177" y="367"/>
                  </a:moveTo>
                  <a:lnTo>
                    <a:pt x="213" y="367"/>
                  </a:lnTo>
                  <a:lnTo>
                    <a:pt x="243" y="353"/>
                  </a:lnTo>
                  <a:lnTo>
                    <a:pt x="302" y="316"/>
                  </a:lnTo>
                  <a:lnTo>
                    <a:pt x="338" y="257"/>
                  </a:lnTo>
                  <a:lnTo>
                    <a:pt x="353" y="220"/>
                  </a:lnTo>
                  <a:lnTo>
                    <a:pt x="353" y="184"/>
                  </a:lnTo>
                  <a:lnTo>
                    <a:pt x="353" y="147"/>
                  </a:lnTo>
                  <a:lnTo>
                    <a:pt x="338" y="110"/>
                  </a:lnTo>
                  <a:lnTo>
                    <a:pt x="302" y="52"/>
                  </a:lnTo>
                  <a:lnTo>
                    <a:pt x="243" y="15"/>
                  </a:lnTo>
                  <a:lnTo>
                    <a:pt x="213" y="7"/>
                  </a:lnTo>
                  <a:lnTo>
                    <a:pt x="177" y="0"/>
                  </a:lnTo>
                  <a:lnTo>
                    <a:pt x="140" y="7"/>
                  </a:lnTo>
                  <a:lnTo>
                    <a:pt x="110" y="15"/>
                  </a:lnTo>
                  <a:lnTo>
                    <a:pt x="52" y="52"/>
                  </a:lnTo>
                  <a:lnTo>
                    <a:pt x="15" y="110"/>
                  </a:lnTo>
                  <a:lnTo>
                    <a:pt x="7" y="147"/>
                  </a:lnTo>
                  <a:lnTo>
                    <a:pt x="0" y="184"/>
                  </a:lnTo>
                  <a:lnTo>
                    <a:pt x="7" y="220"/>
                  </a:lnTo>
                  <a:lnTo>
                    <a:pt x="15" y="257"/>
                  </a:lnTo>
                  <a:lnTo>
                    <a:pt x="52" y="316"/>
                  </a:lnTo>
                  <a:lnTo>
                    <a:pt x="110" y="353"/>
                  </a:lnTo>
                  <a:lnTo>
                    <a:pt x="140" y="367"/>
                  </a:lnTo>
                  <a:lnTo>
                    <a:pt x="177" y="367"/>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8" name="Freeform 10"/>
            <p:cNvSpPr>
              <a:spLocks noChangeAspect="1"/>
            </p:cNvSpPr>
            <p:nvPr/>
          </p:nvSpPr>
          <p:spPr bwMode="auto">
            <a:xfrm>
              <a:off x="523" y="2295"/>
              <a:ext cx="176" cy="183"/>
            </a:xfrm>
            <a:custGeom>
              <a:avLst/>
              <a:gdLst>
                <a:gd name="T0" fmla="*/ 0 w 176"/>
                <a:gd name="T1" fmla="*/ 183 h 183"/>
                <a:gd name="T2" fmla="*/ 36 w 176"/>
                <a:gd name="T3" fmla="*/ 183 h 183"/>
                <a:gd name="T4" fmla="*/ 66 w 176"/>
                <a:gd name="T5" fmla="*/ 169 h 183"/>
                <a:gd name="T6" fmla="*/ 125 w 176"/>
                <a:gd name="T7" fmla="*/ 132 h 183"/>
                <a:gd name="T8" fmla="*/ 161 w 176"/>
                <a:gd name="T9" fmla="*/ 73 h 183"/>
                <a:gd name="T10" fmla="*/ 176 w 176"/>
                <a:gd name="T11" fmla="*/ 36 h 183"/>
                <a:gd name="T12" fmla="*/ 176 w 176"/>
                <a:gd name="T13" fmla="*/ 0 h 183"/>
                <a:gd name="T14" fmla="*/ 176 w 176"/>
                <a:gd name="T15" fmla="*/ 0 h 183"/>
                <a:gd name="T16" fmla="*/ 176 w 176"/>
                <a:gd name="T17" fmla="*/ 36 h 183"/>
                <a:gd name="T18" fmla="*/ 161 w 176"/>
                <a:gd name="T19" fmla="*/ 73 h 183"/>
                <a:gd name="T20" fmla="*/ 125 w 176"/>
                <a:gd name="T21" fmla="*/ 132 h 183"/>
                <a:gd name="T22" fmla="*/ 66 w 176"/>
                <a:gd name="T23" fmla="*/ 169 h 183"/>
                <a:gd name="T24" fmla="*/ 36 w 176"/>
                <a:gd name="T25" fmla="*/ 183 h 183"/>
                <a:gd name="T26" fmla="*/ 0 w 176"/>
                <a:gd name="T27" fmla="*/ 183 h 183"/>
                <a:gd name="T28" fmla="*/ 0 w 176"/>
                <a:gd name="T29" fmla="*/ 183 h 1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6"/>
                <a:gd name="T46" fmla="*/ 0 h 183"/>
                <a:gd name="T47" fmla="*/ 176 w 176"/>
                <a:gd name="T48" fmla="*/ 183 h 1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6" h="183">
                  <a:moveTo>
                    <a:pt x="0" y="183"/>
                  </a:moveTo>
                  <a:lnTo>
                    <a:pt x="36" y="183"/>
                  </a:lnTo>
                  <a:lnTo>
                    <a:pt x="66" y="169"/>
                  </a:lnTo>
                  <a:lnTo>
                    <a:pt x="125" y="132"/>
                  </a:lnTo>
                  <a:lnTo>
                    <a:pt x="161" y="73"/>
                  </a:lnTo>
                  <a:lnTo>
                    <a:pt x="176" y="36"/>
                  </a:lnTo>
                  <a:lnTo>
                    <a:pt x="176" y="0"/>
                  </a:lnTo>
                  <a:lnTo>
                    <a:pt x="176" y="36"/>
                  </a:lnTo>
                  <a:lnTo>
                    <a:pt x="161" y="73"/>
                  </a:lnTo>
                  <a:lnTo>
                    <a:pt x="125" y="132"/>
                  </a:lnTo>
                  <a:lnTo>
                    <a:pt x="66" y="169"/>
                  </a:lnTo>
                  <a:lnTo>
                    <a:pt x="36" y="183"/>
                  </a:lnTo>
                  <a:lnTo>
                    <a:pt x="0" y="1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19" name="Freeform 11"/>
            <p:cNvSpPr>
              <a:spLocks noChangeAspect="1" noEditPoints="1"/>
            </p:cNvSpPr>
            <p:nvPr/>
          </p:nvSpPr>
          <p:spPr bwMode="auto">
            <a:xfrm>
              <a:off x="523" y="2111"/>
              <a:ext cx="176" cy="184"/>
            </a:xfrm>
            <a:custGeom>
              <a:avLst/>
              <a:gdLst>
                <a:gd name="T0" fmla="*/ 176 w 176"/>
                <a:gd name="T1" fmla="*/ 184 h 184"/>
                <a:gd name="T2" fmla="*/ 176 w 176"/>
                <a:gd name="T3" fmla="*/ 147 h 184"/>
                <a:gd name="T4" fmla="*/ 161 w 176"/>
                <a:gd name="T5" fmla="*/ 110 h 184"/>
                <a:gd name="T6" fmla="*/ 125 w 176"/>
                <a:gd name="T7" fmla="*/ 52 h 184"/>
                <a:gd name="T8" fmla="*/ 66 w 176"/>
                <a:gd name="T9" fmla="*/ 15 h 184"/>
                <a:gd name="T10" fmla="*/ 36 w 176"/>
                <a:gd name="T11" fmla="*/ 7 h 184"/>
                <a:gd name="T12" fmla="*/ 0 w 176"/>
                <a:gd name="T13" fmla="*/ 0 h 184"/>
                <a:gd name="T14" fmla="*/ 0 w 176"/>
                <a:gd name="T15" fmla="*/ 0 h 184"/>
                <a:gd name="T16" fmla="*/ 36 w 176"/>
                <a:gd name="T17" fmla="*/ 7 h 184"/>
                <a:gd name="T18" fmla="*/ 66 w 176"/>
                <a:gd name="T19" fmla="*/ 15 h 184"/>
                <a:gd name="T20" fmla="*/ 125 w 176"/>
                <a:gd name="T21" fmla="*/ 52 h 184"/>
                <a:gd name="T22" fmla="*/ 161 w 176"/>
                <a:gd name="T23" fmla="*/ 110 h 184"/>
                <a:gd name="T24" fmla="*/ 176 w 176"/>
                <a:gd name="T25" fmla="*/ 147 h 184"/>
                <a:gd name="T26" fmla="*/ 176 w 176"/>
                <a:gd name="T27" fmla="*/ 184 h 184"/>
                <a:gd name="T28" fmla="*/ 176 w 176"/>
                <a:gd name="T29" fmla="*/ 184 h 184"/>
                <a:gd name="T30" fmla="*/ 176 w 176"/>
                <a:gd name="T31" fmla="*/ 184 h 184"/>
                <a:gd name="T32" fmla="*/ 176 w 176"/>
                <a:gd name="T33" fmla="*/ 184 h 184"/>
                <a:gd name="T34" fmla="*/ 176 w 176"/>
                <a:gd name="T35" fmla="*/ 184 h 1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6"/>
                <a:gd name="T55" fmla="*/ 0 h 184"/>
                <a:gd name="T56" fmla="*/ 176 w 176"/>
                <a:gd name="T57" fmla="*/ 184 h 1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6" h="184">
                  <a:moveTo>
                    <a:pt x="176" y="184"/>
                  </a:moveTo>
                  <a:lnTo>
                    <a:pt x="176" y="147"/>
                  </a:lnTo>
                  <a:lnTo>
                    <a:pt x="161" y="110"/>
                  </a:lnTo>
                  <a:lnTo>
                    <a:pt x="125" y="52"/>
                  </a:lnTo>
                  <a:lnTo>
                    <a:pt x="66" y="15"/>
                  </a:lnTo>
                  <a:lnTo>
                    <a:pt x="36" y="7"/>
                  </a:lnTo>
                  <a:lnTo>
                    <a:pt x="0" y="0"/>
                  </a:lnTo>
                  <a:lnTo>
                    <a:pt x="36" y="7"/>
                  </a:lnTo>
                  <a:lnTo>
                    <a:pt x="66" y="15"/>
                  </a:lnTo>
                  <a:lnTo>
                    <a:pt x="125" y="52"/>
                  </a:lnTo>
                  <a:lnTo>
                    <a:pt x="161" y="110"/>
                  </a:lnTo>
                  <a:lnTo>
                    <a:pt x="176" y="147"/>
                  </a:lnTo>
                  <a:lnTo>
                    <a:pt x="176" y="184"/>
                  </a:lnTo>
                  <a:close/>
                  <a:moveTo>
                    <a:pt x="176" y="184"/>
                  </a:moveTo>
                  <a:lnTo>
                    <a:pt x="176" y="1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0" name="Freeform 12"/>
            <p:cNvSpPr>
              <a:spLocks noChangeAspect="1" noEditPoints="1"/>
            </p:cNvSpPr>
            <p:nvPr/>
          </p:nvSpPr>
          <p:spPr bwMode="auto">
            <a:xfrm>
              <a:off x="346" y="2111"/>
              <a:ext cx="177" cy="184"/>
            </a:xfrm>
            <a:custGeom>
              <a:avLst/>
              <a:gdLst>
                <a:gd name="T0" fmla="*/ 177 w 177"/>
                <a:gd name="T1" fmla="*/ 0 h 184"/>
                <a:gd name="T2" fmla="*/ 140 w 177"/>
                <a:gd name="T3" fmla="*/ 7 h 184"/>
                <a:gd name="T4" fmla="*/ 110 w 177"/>
                <a:gd name="T5" fmla="*/ 15 h 184"/>
                <a:gd name="T6" fmla="*/ 52 w 177"/>
                <a:gd name="T7" fmla="*/ 52 h 184"/>
                <a:gd name="T8" fmla="*/ 15 w 177"/>
                <a:gd name="T9" fmla="*/ 110 h 184"/>
                <a:gd name="T10" fmla="*/ 7 w 177"/>
                <a:gd name="T11" fmla="*/ 147 h 184"/>
                <a:gd name="T12" fmla="*/ 0 w 177"/>
                <a:gd name="T13" fmla="*/ 184 h 184"/>
                <a:gd name="T14" fmla="*/ 0 w 177"/>
                <a:gd name="T15" fmla="*/ 184 h 184"/>
                <a:gd name="T16" fmla="*/ 7 w 177"/>
                <a:gd name="T17" fmla="*/ 147 h 184"/>
                <a:gd name="T18" fmla="*/ 15 w 177"/>
                <a:gd name="T19" fmla="*/ 110 h 184"/>
                <a:gd name="T20" fmla="*/ 52 w 177"/>
                <a:gd name="T21" fmla="*/ 52 h 184"/>
                <a:gd name="T22" fmla="*/ 110 w 177"/>
                <a:gd name="T23" fmla="*/ 15 h 184"/>
                <a:gd name="T24" fmla="*/ 140 w 177"/>
                <a:gd name="T25" fmla="*/ 7 h 184"/>
                <a:gd name="T26" fmla="*/ 177 w 177"/>
                <a:gd name="T27" fmla="*/ 0 h 184"/>
                <a:gd name="T28" fmla="*/ 177 w 177"/>
                <a:gd name="T29" fmla="*/ 0 h 184"/>
                <a:gd name="T30" fmla="*/ 177 w 177"/>
                <a:gd name="T31" fmla="*/ 0 h 184"/>
                <a:gd name="T32" fmla="*/ 177 w 177"/>
                <a:gd name="T33" fmla="*/ 0 h 184"/>
                <a:gd name="T34" fmla="*/ 177 w 177"/>
                <a:gd name="T35" fmla="*/ 0 h 1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7"/>
                <a:gd name="T55" fmla="*/ 0 h 184"/>
                <a:gd name="T56" fmla="*/ 177 w 177"/>
                <a:gd name="T57" fmla="*/ 184 h 1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7" h="184">
                  <a:moveTo>
                    <a:pt x="177" y="0"/>
                  </a:moveTo>
                  <a:lnTo>
                    <a:pt x="140" y="7"/>
                  </a:lnTo>
                  <a:lnTo>
                    <a:pt x="110" y="15"/>
                  </a:lnTo>
                  <a:lnTo>
                    <a:pt x="52" y="52"/>
                  </a:lnTo>
                  <a:lnTo>
                    <a:pt x="15" y="110"/>
                  </a:lnTo>
                  <a:lnTo>
                    <a:pt x="7" y="147"/>
                  </a:lnTo>
                  <a:lnTo>
                    <a:pt x="0" y="184"/>
                  </a:lnTo>
                  <a:lnTo>
                    <a:pt x="7" y="147"/>
                  </a:lnTo>
                  <a:lnTo>
                    <a:pt x="15" y="110"/>
                  </a:lnTo>
                  <a:lnTo>
                    <a:pt x="52" y="52"/>
                  </a:lnTo>
                  <a:lnTo>
                    <a:pt x="110" y="15"/>
                  </a:lnTo>
                  <a:lnTo>
                    <a:pt x="140" y="7"/>
                  </a:lnTo>
                  <a:lnTo>
                    <a:pt x="177" y="0"/>
                  </a:lnTo>
                  <a:close/>
                  <a:moveTo>
                    <a:pt x="177" y="0"/>
                  </a:moveTo>
                  <a:lnTo>
                    <a:pt x="177"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1" name="Freeform 13"/>
            <p:cNvSpPr>
              <a:spLocks noChangeAspect="1" noEditPoints="1"/>
            </p:cNvSpPr>
            <p:nvPr/>
          </p:nvSpPr>
          <p:spPr bwMode="auto">
            <a:xfrm>
              <a:off x="346" y="2295"/>
              <a:ext cx="177" cy="183"/>
            </a:xfrm>
            <a:custGeom>
              <a:avLst/>
              <a:gdLst>
                <a:gd name="T0" fmla="*/ 0 w 177"/>
                <a:gd name="T1" fmla="*/ 0 h 183"/>
                <a:gd name="T2" fmla="*/ 7 w 177"/>
                <a:gd name="T3" fmla="*/ 36 h 183"/>
                <a:gd name="T4" fmla="*/ 15 w 177"/>
                <a:gd name="T5" fmla="*/ 73 h 183"/>
                <a:gd name="T6" fmla="*/ 52 w 177"/>
                <a:gd name="T7" fmla="*/ 132 h 183"/>
                <a:gd name="T8" fmla="*/ 110 w 177"/>
                <a:gd name="T9" fmla="*/ 169 h 183"/>
                <a:gd name="T10" fmla="*/ 140 w 177"/>
                <a:gd name="T11" fmla="*/ 183 h 183"/>
                <a:gd name="T12" fmla="*/ 177 w 177"/>
                <a:gd name="T13" fmla="*/ 183 h 183"/>
                <a:gd name="T14" fmla="*/ 177 w 177"/>
                <a:gd name="T15" fmla="*/ 183 h 183"/>
                <a:gd name="T16" fmla="*/ 140 w 177"/>
                <a:gd name="T17" fmla="*/ 183 h 183"/>
                <a:gd name="T18" fmla="*/ 110 w 177"/>
                <a:gd name="T19" fmla="*/ 169 h 183"/>
                <a:gd name="T20" fmla="*/ 52 w 177"/>
                <a:gd name="T21" fmla="*/ 132 h 183"/>
                <a:gd name="T22" fmla="*/ 15 w 177"/>
                <a:gd name="T23" fmla="*/ 73 h 183"/>
                <a:gd name="T24" fmla="*/ 7 w 177"/>
                <a:gd name="T25" fmla="*/ 36 h 183"/>
                <a:gd name="T26" fmla="*/ 0 w 177"/>
                <a:gd name="T27" fmla="*/ 0 h 183"/>
                <a:gd name="T28" fmla="*/ 0 w 177"/>
                <a:gd name="T29" fmla="*/ 0 h 183"/>
                <a:gd name="T30" fmla="*/ 0 w 177"/>
                <a:gd name="T31" fmla="*/ 0 h 183"/>
                <a:gd name="T32" fmla="*/ 0 w 177"/>
                <a:gd name="T33" fmla="*/ 0 h 183"/>
                <a:gd name="T34" fmla="*/ 0 w 177"/>
                <a:gd name="T35" fmla="*/ 0 h 1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7"/>
                <a:gd name="T55" fmla="*/ 0 h 183"/>
                <a:gd name="T56" fmla="*/ 177 w 177"/>
                <a:gd name="T57" fmla="*/ 183 h 1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7" h="183">
                  <a:moveTo>
                    <a:pt x="0" y="0"/>
                  </a:moveTo>
                  <a:lnTo>
                    <a:pt x="7" y="36"/>
                  </a:lnTo>
                  <a:lnTo>
                    <a:pt x="15" y="73"/>
                  </a:lnTo>
                  <a:lnTo>
                    <a:pt x="52" y="132"/>
                  </a:lnTo>
                  <a:lnTo>
                    <a:pt x="110" y="169"/>
                  </a:lnTo>
                  <a:lnTo>
                    <a:pt x="140" y="183"/>
                  </a:lnTo>
                  <a:lnTo>
                    <a:pt x="177" y="183"/>
                  </a:lnTo>
                  <a:lnTo>
                    <a:pt x="140" y="183"/>
                  </a:lnTo>
                  <a:lnTo>
                    <a:pt x="110" y="169"/>
                  </a:lnTo>
                  <a:lnTo>
                    <a:pt x="52" y="132"/>
                  </a:lnTo>
                  <a:lnTo>
                    <a:pt x="15" y="73"/>
                  </a:lnTo>
                  <a:lnTo>
                    <a:pt x="7" y="3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2" name="Freeform 14"/>
            <p:cNvSpPr>
              <a:spLocks noChangeAspect="1"/>
            </p:cNvSpPr>
            <p:nvPr/>
          </p:nvSpPr>
          <p:spPr bwMode="auto">
            <a:xfrm>
              <a:off x="523" y="247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3" name="Freeform 15"/>
            <p:cNvSpPr>
              <a:spLocks noChangeAspect="1"/>
            </p:cNvSpPr>
            <p:nvPr/>
          </p:nvSpPr>
          <p:spPr bwMode="auto">
            <a:xfrm>
              <a:off x="471" y="2170"/>
              <a:ext cx="103" cy="110"/>
            </a:xfrm>
            <a:custGeom>
              <a:avLst/>
              <a:gdLst>
                <a:gd name="T0" fmla="*/ 44 w 103"/>
                <a:gd name="T1" fmla="*/ 51 h 110"/>
                <a:gd name="T2" fmla="*/ 0 w 103"/>
                <a:gd name="T3" fmla="*/ 51 h 110"/>
                <a:gd name="T4" fmla="*/ 0 w 103"/>
                <a:gd name="T5" fmla="*/ 66 h 110"/>
                <a:gd name="T6" fmla="*/ 44 w 103"/>
                <a:gd name="T7" fmla="*/ 66 h 110"/>
                <a:gd name="T8" fmla="*/ 44 w 103"/>
                <a:gd name="T9" fmla="*/ 110 h 110"/>
                <a:gd name="T10" fmla="*/ 59 w 103"/>
                <a:gd name="T11" fmla="*/ 110 h 110"/>
                <a:gd name="T12" fmla="*/ 59 w 103"/>
                <a:gd name="T13" fmla="*/ 66 h 110"/>
                <a:gd name="T14" fmla="*/ 103 w 103"/>
                <a:gd name="T15" fmla="*/ 66 h 110"/>
                <a:gd name="T16" fmla="*/ 103 w 103"/>
                <a:gd name="T17" fmla="*/ 51 h 110"/>
                <a:gd name="T18" fmla="*/ 59 w 103"/>
                <a:gd name="T19" fmla="*/ 51 h 110"/>
                <a:gd name="T20" fmla="*/ 59 w 103"/>
                <a:gd name="T21" fmla="*/ 0 h 110"/>
                <a:gd name="T22" fmla="*/ 44 w 103"/>
                <a:gd name="T23" fmla="*/ 0 h 110"/>
                <a:gd name="T24" fmla="*/ 44 w 103"/>
                <a:gd name="T25" fmla="*/ 51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10"/>
                <a:gd name="T41" fmla="*/ 103 w 103"/>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10">
                  <a:moveTo>
                    <a:pt x="44" y="51"/>
                  </a:moveTo>
                  <a:lnTo>
                    <a:pt x="0" y="51"/>
                  </a:lnTo>
                  <a:lnTo>
                    <a:pt x="0" y="66"/>
                  </a:lnTo>
                  <a:lnTo>
                    <a:pt x="44" y="66"/>
                  </a:lnTo>
                  <a:lnTo>
                    <a:pt x="44" y="110"/>
                  </a:lnTo>
                  <a:lnTo>
                    <a:pt x="59" y="110"/>
                  </a:lnTo>
                  <a:lnTo>
                    <a:pt x="59" y="66"/>
                  </a:lnTo>
                  <a:lnTo>
                    <a:pt x="103" y="66"/>
                  </a:lnTo>
                  <a:lnTo>
                    <a:pt x="103" y="51"/>
                  </a:lnTo>
                  <a:lnTo>
                    <a:pt x="59" y="51"/>
                  </a:lnTo>
                  <a:lnTo>
                    <a:pt x="59" y="0"/>
                  </a:lnTo>
                  <a:lnTo>
                    <a:pt x="44" y="0"/>
                  </a:lnTo>
                  <a:lnTo>
                    <a:pt x="44"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4" name="Rectangle 16"/>
            <p:cNvSpPr>
              <a:spLocks noChangeAspect="1" noChangeArrowheads="1"/>
            </p:cNvSpPr>
            <p:nvPr/>
          </p:nvSpPr>
          <p:spPr bwMode="auto">
            <a:xfrm>
              <a:off x="471" y="2368"/>
              <a:ext cx="110" cy="15"/>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1525" name="Freeform 17"/>
            <p:cNvSpPr>
              <a:spLocks noChangeAspect="1"/>
            </p:cNvSpPr>
            <p:nvPr/>
          </p:nvSpPr>
          <p:spPr bwMode="auto">
            <a:xfrm>
              <a:off x="96" y="2236"/>
              <a:ext cx="81" cy="95"/>
            </a:xfrm>
            <a:custGeom>
              <a:avLst/>
              <a:gdLst>
                <a:gd name="T0" fmla="*/ 0 w 81"/>
                <a:gd name="T1" fmla="*/ 7 h 95"/>
                <a:gd name="T2" fmla="*/ 15 w 81"/>
                <a:gd name="T3" fmla="*/ 7 h 95"/>
                <a:gd name="T4" fmla="*/ 15 w 81"/>
                <a:gd name="T5" fmla="*/ 15 h 95"/>
                <a:gd name="T6" fmla="*/ 15 w 81"/>
                <a:gd name="T7" fmla="*/ 29 h 95"/>
                <a:gd name="T8" fmla="*/ 22 w 81"/>
                <a:gd name="T9" fmla="*/ 37 h 95"/>
                <a:gd name="T10" fmla="*/ 22 w 81"/>
                <a:gd name="T11" fmla="*/ 59 h 95"/>
                <a:gd name="T12" fmla="*/ 22 w 81"/>
                <a:gd name="T13" fmla="*/ 73 h 95"/>
                <a:gd name="T14" fmla="*/ 22 w 81"/>
                <a:gd name="T15" fmla="*/ 88 h 95"/>
                <a:gd name="T16" fmla="*/ 22 w 81"/>
                <a:gd name="T17" fmla="*/ 95 h 95"/>
                <a:gd name="T18" fmla="*/ 22 w 81"/>
                <a:gd name="T19" fmla="*/ 95 h 95"/>
                <a:gd name="T20" fmla="*/ 29 w 81"/>
                <a:gd name="T21" fmla="*/ 88 h 95"/>
                <a:gd name="T22" fmla="*/ 44 w 81"/>
                <a:gd name="T23" fmla="*/ 73 h 95"/>
                <a:gd name="T24" fmla="*/ 51 w 81"/>
                <a:gd name="T25" fmla="*/ 66 h 95"/>
                <a:gd name="T26" fmla="*/ 66 w 81"/>
                <a:gd name="T27" fmla="*/ 44 h 95"/>
                <a:gd name="T28" fmla="*/ 74 w 81"/>
                <a:gd name="T29" fmla="*/ 29 h 95"/>
                <a:gd name="T30" fmla="*/ 81 w 81"/>
                <a:gd name="T31" fmla="*/ 15 h 95"/>
                <a:gd name="T32" fmla="*/ 74 w 81"/>
                <a:gd name="T33" fmla="*/ 7 h 95"/>
                <a:gd name="T34" fmla="*/ 66 w 81"/>
                <a:gd name="T35" fmla="*/ 0 h 95"/>
                <a:gd name="T36" fmla="*/ 66 w 81"/>
                <a:gd name="T37" fmla="*/ 0 h 95"/>
                <a:gd name="T38" fmla="*/ 59 w 81"/>
                <a:gd name="T39" fmla="*/ 7 h 95"/>
                <a:gd name="T40" fmla="*/ 66 w 81"/>
                <a:gd name="T41" fmla="*/ 15 h 95"/>
                <a:gd name="T42" fmla="*/ 74 w 81"/>
                <a:gd name="T43" fmla="*/ 22 h 95"/>
                <a:gd name="T44" fmla="*/ 74 w 81"/>
                <a:gd name="T45" fmla="*/ 29 h 95"/>
                <a:gd name="T46" fmla="*/ 59 w 81"/>
                <a:gd name="T47" fmla="*/ 44 h 95"/>
                <a:gd name="T48" fmla="*/ 51 w 81"/>
                <a:gd name="T49" fmla="*/ 59 h 95"/>
                <a:gd name="T50" fmla="*/ 44 w 81"/>
                <a:gd name="T51" fmla="*/ 66 h 95"/>
                <a:gd name="T52" fmla="*/ 37 w 81"/>
                <a:gd name="T53" fmla="*/ 73 h 95"/>
                <a:gd name="T54" fmla="*/ 37 w 81"/>
                <a:gd name="T55" fmla="*/ 37 h 95"/>
                <a:gd name="T56" fmla="*/ 29 w 81"/>
                <a:gd name="T57" fmla="*/ 7 h 95"/>
                <a:gd name="T58" fmla="*/ 29 w 81"/>
                <a:gd name="T59" fmla="*/ 0 h 95"/>
                <a:gd name="T60" fmla="*/ 22 w 81"/>
                <a:gd name="T61" fmla="*/ 0 h 95"/>
                <a:gd name="T62" fmla="*/ 15 w 81"/>
                <a:gd name="T63" fmla="*/ 0 h 95"/>
                <a:gd name="T64" fmla="*/ 0 w 81"/>
                <a:gd name="T65" fmla="*/ 7 h 95"/>
                <a:gd name="T66" fmla="*/ 0 w 81"/>
                <a:gd name="T67" fmla="*/ 7 h 9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1"/>
                <a:gd name="T103" fmla="*/ 0 h 95"/>
                <a:gd name="T104" fmla="*/ 81 w 81"/>
                <a:gd name="T105" fmla="*/ 95 h 9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1" h="95">
                  <a:moveTo>
                    <a:pt x="0" y="7"/>
                  </a:moveTo>
                  <a:lnTo>
                    <a:pt x="15" y="7"/>
                  </a:lnTo>
                  <a:lnTo>
                    <a:pt x="15" y="15"/>
                  </a:lnTo>
                  <a:lnTo>
                    <a:pt x="15" y="29"/>
                  </a:lnTo>
                  <a:lnTo>
                    <a:pt x="22" y="37"/>
                  </a:lnTo>
                  <a:lnTo>
                    <a:pt x="22" y="59"/>
                  </a:lnTo>
                  <a:lnTo>
                    <a:pt x="22" y="73"/>
                  </a:lnTo>
                  <a:lnTo>
                    <a:pt x="22" y="88"/>
                  </a:lnTo>
                  <a:lnTo>
                    <a:pt x="22" y="95"/>
                  </a:lnTo>
                  <a:lnTo>
                    <a:pt x="29" y="88"/>
                  </a:lnTo>
                  <a:lnTo>
                    <a:pt x="44" y="73"/>
                  </a:lnTo>
                  <a:lnTo>
                    <a:pt x="51" y="66"/>
                  </a:lnTo>
                  <a:lnTo>
                    <a:pt x="66" y="44"/>
                  </a:lnTo>
                  <a:lnTo>
                    <a:pt x="74" y="29"/>
                  </a:lnTo>
                  <a:lnTo>
                    <a:pt x="81" y="15"/>
                  </a:lnTo>
                  <a:lnTo>
                    <a:pt x="74" y="7"/>
                  </a:lnTo>
                  <a:lnTo>
                    <a:pt x="66" y="0"/>
                  </a:lnTo>
                  <a:lnTo>
                    <a:pt x="59" y="7"/>
                  </a:lnTo>
                  <a:lnTo>
                    <a:pt x="66" y="15"/>
                  </a:lnTo>
                  <a:lnTo>
                    <a:pt x="74" y="22"/>
                  </a:lnTo>
                  <a:lnTo>
                    <a:pt x="74" y="29"/>
                  </a:lnTo>
                  <a:lnTo>
                    <a:pt x="59" y="44"/>
                  </a:lnTo>
                  <a:lnTo>
                    <a:pt x="51" y="59"/>
                  </a:lnTo>
                  <a:lnTo>
                    <a:pt x="44" y="66"/>
                  </a:lnTo>
                  <a:lnTo>
                    <a:pt x="37" y="73"/>
                  </a:lnTo>
                  <a:lnTo>
                    <a:pt x="37" y="37"/>
                  </a:lnTo>
                  <a:lnTo>
                    <a:pt x="29" y="7"/>
                  </a:lnTo>
                  <a:lnTo>
                    <a:pt x="29" y="0"/>
                  </a:lnTo>
                  <a:lnTo>
                    <a:pt x="22" y="0"/>
                  </a:lnTo>
                  <a:lnTo>
                    <a:pt x="15" y="0"/>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6" name="Freeform 18"/>
            <p:cNvSpPr>
              <a:spLocks noChangeAspect="1"/>
            </p:cNvSpPr>
            <p:nvPr/>
          </p:nvSpPr>
          <p:spPr bwMode="auto">
            <a:xfrm>
              <a:off x="184" y="2309"/>
              <a:ext cx="52" cy="74"/>
            </a:xfrm>
            <a:custGeom>
              <a:avLst/>
              <a:gdLst>
                <a:gd name="T0" fmla="*/ 0 w 52"/>
                <a:gd name="T1" fmla="*/ 44 h 74"/>
                <a:gd name="T2" fmla="*/ 0 w 52"/>
                <a:gd name="T3" fmla="*/ 74 h 74"/>
                <a:gd name="T4" fmla="*/ 0 w 52"/>
                <a:gd name="T5" fmla="*/ 74 h 74"/>
                <a:gd name="T6" fmla="*/ 0 w 52"/>
                <a:gd name="T7" fmla="*/ 74 h 74"/>
                <a:gd name="T8" fmla="*/ 8 w 52"/>
                <a:gd name="T9" fmla="*/ 66 h 74"/>
                <a:gd name="T10" fmla="*/ 15 w 52"/>
                <a:gd name="T11" fmla="*/ 74 h 74"/>
                <a:gd name="T12" fmla="*/ 22 w 52"/>
                <a:gd name="T13" fmla="*/ 74 h 74"/>
                <a:gd name="T14" fmla="*/ 37 w 52"/>
                <a:gd name="T15" fmla="*/ 66 h 74"/>
                <a:gd name="T16" fmla="*/ 44 w 52"/>
                <a:gd name="T17" fmla="*/ 52 h 74"/>
                <a:gd name="T18" fmla="*/ 44 w 52"/>
                <a:gd name="T19" fmla="*/ 44 h 74"/>
                <a:gd name="T20" fmla="*/ 37 w 52"/>
                <a:gd name="T21" fmla="*/ 30 h 74"/>
                <a:gd name="T22" fmla="*/ 30 w 52"/>
                <a:gd name="T23" fmla="*/ 22 h 74"/>
                <a:gd name="T24" fmla="*/ 22 w 52"/>
                <a:gd name="T25" fmla="*/ 15 h 74"/>
                <a:gd name="T26" fmla="*/ 30 w 52"/>
                <a:gd name="T27" fmla="*/ 0 h 74"/>
                <a:gd name="T28" fmla="*/ 37 w 52"/>
                <a:gd name="T29" fmla="*/ 0 h 74"/>
                <a:gd name="T30" fmla="*/ 44 w 52"/>
                <a:gd name="T31" fmla="*/ 8 h 74"/>
                <a:gd name="T32" fmla="*/ 52 w 52"/>
                <a:gd name="T33" fmla="*/ 22 h 74"/>
                <a:gd name="T34" fmla="*/ 52 w 52"/>
                <a:gd name="T35" fmla="*/ 22 h 74"/>
                <a:gd name="T36" fmla="*/ 52 w 52"/>
                <a:gd name="T37" fmla="*/ 0 h 74"/>
                <a:gd name="T38" fmla="*/ 52 w 52"/>
                <a:gd name="T39" fmla="*/ 0 h 74"/>
                <a:gd name="T40" fmla="*/ 52 w 52"/>
                <a:gd name="T41" fmla="*/ 0 h 74"/>
                <a:gd name="T42" fmla="*/ 44 w 52"/>
                <a:gd name="T43" fmla="*/ 0 h 74"/>
                <a:gd name="T44" fmla="*/ 37 w 52"/>
                <a:gd name="T45" fmla="*/ 0 h 74"/>
                <a:gd name="T46" fmla="*/ 30 w 52"/>
                <a:gd name="T47" fmla="*/ 0 h 74"/>
                <a:gd name="T48" fmla="*/ 15 w 52"/>
                <a:gd name="T49" fmla="*/ 8 h 74"/>
                <a:gd name="T50" fmla="*/ 15 w 52"/>
                <a:gd name="T51" fmla="*/ 15 h 74"/>
                <a:gd name="T52" fmla="*/ 22 w 52"/>
                <a:gd name="T53" fmla="*/ 37 h 74"/>
                <a:gd name="T54" fmla="*/ 30 w 52"/>
                <a:gd name="T55" fmla="*/ 59 h 74"/>
                <a:gd name="T56" fmla="*/ 30 w 52"/>
                <a:gd name="T57" fmla="*/ 66 h 74"/>
                <a:gd name="T58" fmla="*/ 22 w 52"/>
                <a:gd name="T59" fmla="*/ 66 h 74"/>
                <a:gd name="T60" fmla="*/ 8 w 52"/>
                <a:gd name="T61" fmla="*/ 59 h 74"/>
                <a:gd name="T62" fmla="*/ 8 w 52"/>
                <a:gd name="T63" fmla="*/ 44 h 74"/>
                <a:gd name="T64" fmla="*/ 0 w 52"/>
                <a:gd name="T65" fmla="*/ 44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
                <a:gd name="T100" fmla="*/ 0 h 74"/>
                <a:gd name="T101" fmla="*/ 52 w 52"/>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 h="74">
                  <a:moveTo>
                    <a:pt x="0" y="44"/>
                  </a:moveTo>
                  <a:lnTo>
                    <a:pt x="0" y="74"/>
                  </a:lnTo>
                  <a:lnTo>
                    <a:pt x="8" y="66"/>
                  </a:lnTo>
                  <a:lnTo>
                    <a:pt x="15" y="74"/>
                  </a:lnTo>
                  <a:lnTo>
                    <a:pt x="22" y="74"/>
                  </a:lnTo>
                  <a:lnTo>
                    <a:pt x="37" y="66"/>
                  </a:lnTo>
                  <a:lnTo>
                    <a:pt x="44" y="52"/>
                  </a:lnTo>
                  <a:lnTo>
                    <a:pt x="44" y="44"/>
                  </a:lnTo>
                  <a:lnTo>
                    <a:pt x="37" y="30"/>
                  </a:lnTo>
                  <a:lnTo>
                    <a:pt x="30" y="22"/>
                  </a:lnTo>
                  <a:lnTo>
                    <a:pt x="22" y="15"/>
                  </a:lnTo>
                  <a:lnTo>
                    <a:pt x="30" y="0"/>
                  </a:lnTo>
                  <a:lnTo>
                    <a:pt x="37" y="0"/>
                  </a:lnTo>
                  <a:lnTo>
                    <a:pt x="44" y="8"/>
                  </a:lnTo>
                  <a:lnTo>
                    <a:pt x="52" y="22"/>
                  </a:lnTo>
                  <a:lnTo>
                    <a:pt x="52" y="0"/>
                  </a:lnTo>
                  <a:lnTo>
                    <a:pt x="44" y="0"/>
                  </a:lnTo>
                  <a:lnTo>
                    <a:pt x="37" y="0"/>
                  </a:lnTo>
                  <a:lnTo>
                    <a:pt x="30" y="0"/>
                  </a:lnTo>
                  <a:lnTo>
                    <a:pt x="15" y="8"/>
                  </a:lnTo>
                  <a:lnTo>
                    <a:pt x="15" y="15"/>
                  </a:lnTo>
                  <a:lnTo>
                    <a:pt x="22" y="37"/>
                  </a:lnTo>
                  <a:lnTo>
                    <a:pt x="30" y="59"/>
                  </a:lnTo>
                  <a:lnTo>
                    <a:pt x="30" y="66"/>
                  </a:lnTo>
                  <a:lnTo>
                    <a:pt x="22" y="66"/>
                  </a:lnTo>
                  <a:lnTo>
                    <a:pt x="8" y="59"/>
                  </a:lnTo>
                  <a:lnTo>
                    <a:pt x="8" y="44"/>
                  </a:lnTo>
                  <a:lnTo>
                    <a:pt x="0" y="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7" name="Freeform 19"/>
            <p:cNvSpPr>
              <a:spLocks noChangeAspect="1" noEditPoints="1"/>
            </p:cNvSpPr>
            <p:nvPr/>
          </p:nvSpPr>
          <p:spPr bwMode="auto">
            <a:xfrm>
              <a:off x="1273" y="1428"/>
              <a:ext cx="125" cy="147"/>
            </a:xfrm>
            <a:custGeom>
              <a:avLst/>
              <a:gdLst>
                <a:gd name="T0" fmla="*/ 118 w 125"/>
                <a:gd name="T1" fmla="*/ 140 h 147"/>
                <a:gd name="T2" fmla="*/ 110 w 125"/>
                <a:gd name="T3" fmla="*/ 132 h 147"/>
                <a:gd name="T4" fmla="*/ 103 w 125"/>
                <a:gd name="T5" fmla="*/ 125 h 147"/>
                <a:gd name="T6" fmla="*/ 81 w 125"/>
                <a:gd name="T7" fmla="*/ 74 h 147"/>
                <a:gd name="T8" fmla="*/ 118 w 125"/>
                <a:gd name="T9" fmla="*/ 59 h 147"/>
                <a:gd name="T10" fmla="*/ 125 w 125"/>
                <a:gd name="T11" fmla="*/ 37 h 147"/>
                <a:gd name="T12" fmla="*/ 118 w 125"/>
                <a:gd name="T13" fmla="*/ 15 h 147"/>
                <a:gd name="T14" fmla="*/ 103 w 125"/>
                <a:gd name="T15" fmla="*/ 7 h 147"/>
                <a:gd name="T16" fmla="*/ 88 w 125"/>
                <a:gd name="T17" fmla="*/ 0 h 147"/>
                <a:gd name="T18" fmla="*/ 81 w 125"/>
                <a:gd name="T19" fmla="*/ 0 h 147"/>
                <a:gd name="T20" fmla="*/ 29 w 125"/>
                <a:gd name="T21" fmla="*/ 0 h 147"/>
                <a:gd name="T22" fmla="*/ 29 w 125"/>
                <a:gd name="T23" fmla="*/ 7 h 147"/>
                <a:gd name="T24" fmla="*/ 37 w 125"/>
                <a:gd name="T25" fmla="*/ 7 h 147"/>
                <a:gd name="T26" fmla="*/ 44 w 125"/>
                <a:gd name="T27" fmla="*/ 15 h 147"/>
                <a:gd name="T28" fmla="*/ 44 w 125"/>
                <a:gd name="T29" fmla="*/ 22 h 147"/>
                <a:gd name="T30" fmla="*/ 37 w 125"/>
                <a:gd name="T31" fmla="*/ 29 h 147"/>
                <a:gd name="T32" fmla="*/ 15 w 125"/>
                <a:gd name="T33" fmla="*/ 125 h 147"/>
                <a:gd name="T34" fmla="*/ 7 w 125"/>
                <a:gd name="T35" fmla="*/ 140 h 147"/>
                <a:gd name="T36" fmla="*/ 0 w 125"/>
                <a:gd name="T37" fmla="*/ 140 h 147"/>
                <a:gd name="T38" fmla="*/ 0 w 125"/>
                <a:gd name="T39" fmla="*/ 147 h 147"/>
                <a:gd name="T40" fmla="*/ 51 w 125"/>
                <a:gd name="T41" fmla="*/ 147 h 147"/>
                <a:gd name="T42" fmla="*/ 51 w 125"/>
                <a:gd name="T43" fmla="*/ 140 h 147"/>
                <a:gd name="T44" fmla="*/ 37 w 125"/>
                <a:gd name="T45" fmla="*/ 140 h 147"/>
                <a:gd name="T46" fmla="*/ 37 w 125"/>
                <a:gd name="T47" fmla="*/ 132 h 147"/>
                <a:gd name="T48" fmla="*/ 37 w 125"/>
                <a:gd name="T49" fmla="*/ 132 h 147"/>
                <a:gd name="T50" fmla="*/ 37 w 125"/>
                <a:gd name="T51" fmla="*/ 118 h 147"/>
                <a:gd name="T52" fmla="*/ 51 w 125"/>
                <a:gd name="T53" fmla="*/ 74 h 147"/>
                <a:gd name="T54" fmla="*/ 59 w 125"/>
                <a:gd name="T55" fmla="*/ 74 h 147"/>
                <a:gd name="T56" fmla="*/ 88 w 125"/>
                <a:gd name="T57" fmla="*/ 147 h 147"/>
                <a:gd name="T58" fmla="*/ 118 w 125"/>
                <a:gd name="T59" fmla="*/ 147 h 147"/>
                <a:gd name="T60" fmla="*/ 118 w 125"/>
                <a:gd name="T61" fmla="*/ 140 h 147"/>
                <a:gd name="T62" fmla="*/ 66 w 125"/>
                <a:gd name="T63" fmla="*/ 15 h 147"/>
                <a:gd name="T64" fmla="*/ 66 w 125"/>
                <a:gd name="T65" fmla="*/ 15 h 147"/>
                <a:gd name="T66" fmla="*/ 73 w 125"/>
                <a:gd name="T67" fmla="*/ 7 h 147"/>
                <a:gd name="T68" fmla="*/ 95 w 125"/>
                <a:gd name="T69" fmla="*/ 15 h 147"/>
                <a:gd name="T70" fmla="*/ 103 w 125"/>
                <a:gd name="T71" fmla="*/ 37 h 147"/>
                <a:gd name="T72" fmla="*/ 95 w 125"/>
                <a:gd name="T73" fmla="*/ 59 h 147"/>
                <a:gd name="T74" fmla="*/ 88 w 125"/>
                <a:gd name="T75" fmla="*/ 66 h 147"/>
                <a:gd name="T76" fmla="*/ 66 w 125"/>
                <a:gd name="T77" fmla="*/ 66 h 147"/>
                <a:gd name="T78" fmla="*/ 59 w 125"/>
                <a:gd name="T79" fmla="*/ 66 h 147"/>
                <a:gd name="T80" fmla="*/ 51 w 125"/>
                <a:gd name="T81" fmla="*/ 66 h 147"/>
                <a:gd name="T82" fmla="*/ 66 w 125"/>
                <a:gd name="T83" fmla="*/ 15 h 14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25"/>
                <a:gd name="T127" fmla="*/ 0 h 147"/>
                <a:gd name="T128" fmla="*/ 125 w 125"/>
                <a:gd name="T129" fmla="*/ 147 h 14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25" h="147">
                  <a:moveTo>
                    <a:pt x="118" y="140"/>
                  </a:moveTo>
                  <a:lnTo>
                    <a:pt x="110" y="132"/>
                  </a:lnTo>
                  <a:lnTo>
                    <a:pt x="103" y="125"/>
                  </a:lnTo>
                  <a:lnTo>
                    <a:pt x="81" y="74"/>
                  </a:lnTo>
                  <a:lnTo>
                    <a:pt x="118" y="59"/>
                  </a:lnTo>
                  <a:lnTo>
                    <a:pt x="125" y="37"/>
                  </a:lnTo>
                  <a:lnTo>
                    <a:pt x="118" y="15"/>
                  </a:lnTo>
                  <a:lnTo>
                    <a:pt x="103" y="7"/>
                  </a:lnTo>
                  <a:lnTo>
                    <a:pt x="88" y="0"/>
                  </a:lnTo>
                  <a:lnTo>
                    <a:pt x="81" y="0"/>
                  </a:lnTo>
                  <a:lnTo>
                    <a:pt x="29" y="0"/>
                  </a:lnTo>
                  <a:lnTo>
                    <a:pt x="29" y="7"/>
                  </a:lnTo>
                  <a:lnTo>
                    <a:pt x="37" y="7"/>
                  </a:lnTo>
                  <a:lnTo>
                    <a:pt x="44" y="15"/>
                  </a:lnTo>
                  <a:lnTo>
                    <a:pt x="44" y="22"/>
                  </a:lnTo>
                  <a:lnTo>
                    <a:pt x="37" y="29"/>
                  </a:lnTo>
                  <a:lnTo>
                    <a:pt x="15" y="125"/>
                  </a:lnTo>
                  <a:lnTo>
                    <a:pt x="7" y="140"/>
                  </a:lnTo>
                  <a:lnTo>
                    <a:pt x="0" y="140"/>
                  </a:lnTo>
                  <a:lnTo>
                    <a:pt x="0" y="147"/>
                  </a:lnTo>
                  <a:lnTo>
                    <a:pt x="51" y="147"/>
                  </a:lnTo>
                  <a:lnTo>
                    <a:pt x="51" y="140"/>
                  </a:lnTo>
                  <a:lnTo>
                    <a:pt x="37" y="140"/>
                  </a:lnTo>
                  <a:lnTo>
                    <a:pt x="37" y="132"/>
                  </a:lnTo>
                  <a:lnTo>
                    <a:pt x="37" y="118"/>
                  </a:lnTo>
                  <a:lnTo>
                    <a:pt x="51" y="74"/>
                  </a:lnTo>
                  <a:lnTo>
                    <a:pt x="59" y="74"/>
                  </a:lnTo>
                  <a:lnTo>
                    <a:pt x="88" y="147"/>
                  </a:lnTo>
                  <a:lnTo>
                    <a:pt x="118" y="147"/>
                  </a:lnTo>
                  <a:lnTo>
                    <a:pt x="118" y="140"/>
                  </a:lnTo>
                  <a:close/>
                  <a:moveTo>
                    <a:pt x="66" y="15"/>
                  </a:moveTo>
                  <a:lnTo>
                    <a:pt x="66" y="15"/>
                  </a:lnTo>
                  <a:lnTo>
                    <a:pt x="73" y="7"/>
                  </a:lnTo>
                  <a:lnTo>
                    <a:pt x="95" y="15"/>
                  </a:lnTo>
                  <a:lnTo>
                    <a:pt x="103" y="37"/>
                  </a:lnTo>
                  <a:lnTo>
                    <a:pt x="95" y="59"/>
                  </a:lnTo>
                  <a:lnTo>
                    <a:pt x="88" y="66"/>
                  </a:lnTo>
                  <a:lnTo>
                    <a:pt x="66" y="66"/>
                  </a:lnTo>
                  <a:lnTo>
                    <a:pt x="59" y="66"/>
                  </a:lnTo>
                  <a:lnTo>
                    <a:pt x="51" y="66"/>
                  </a:lnTo>
                  <a:lnTo>
                    <a:pt x="66" y="1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8" name="Freeform 20"/>
            <p:cNvSpPr>
              <a:spLocks noChangeAspect="1"/>
            </p:cNvSpPr>
            <p:nvPr/>
          </p:nvSpPr>
          <p:spPr bwMode="auto">
            <a:xfrm>
              <a:off x="2119" y="1722"/>
              <a:ext cx="95" cy="95"/>
            </a:xfrm>
            <a:custGeom>
              <a:avLst/>
              <a:gdLst>
                <a:gd name="T0" fmla="*/ 51 w 95"/>
                <a:gd name="T1" fmla="*/ 95 h 95"/>
                <a:gd name="T2" fmla="*/ 66 w 95"/>
                <a:gd name="T3" fmla="*/ 95 h 95"/>
                <a:gd name="T4" fmla="*/ 81 w 95"/>
                <a:gd name="T5" fmla="*/ 81 h 95"/>
                <a:gd name="T6" fmla="*/ 95 w 95"/>
                <a:gd name="T7" fmla="*/ 66 h 95"/>
                <a:gd name="T8" fmla="*/ 95 w 95"/>
                <a:gd name="T9" fmla="*/ 51 h 95"/>
                <a:gd name="T10" fmla="*/ 95 w 95"/>
                <a:gd name="T11" fmla="*/ 29 h 95"/>
                <a:gd name="T12" fmla="*/ 81 w 95"/>
                <a:gd name="T13" fmla="*/ 15 h 95"/>
                <a:gd name="T14" fmla="*/ 66 w 95"/>
                <a:gd name="T15" fmla="*/ 7 h 95"/>
                <a:gd name="T16" fmla="*/ 51 w 95"/>
                <a:gd name="T17" fmla="*/ 0 h 95"/>
                <a:gd name="T18" fmla="*/ 29 w 95"/>
                <a:gd name="T19" fmla="*/ 7 h 95"/>
                <a:gd name="T20" fmla="*/ 14 w 95"/>
                <a:gd name="T21" fmla="*/ 15 h 95"/>
                <a:gd name="T22" fmla="*/ 7 w 95"/>
                <a:gd name="T23" fmla="*/ 29 h 95"/>
                <a:gd name="T24" fmla="*/ 0 w 95"/>
                <a:gd name="T25" fmla="*/ 51 h 95"/>
                <a:gd name="T26" fmla="*/ 7 w 95"/>
                <a:gd name="T27" fmla="*/ 66 h 95"/>
                <a:gd name="T28" fmla="*/ 14 w 95"/>
                <a:gd name="T29" fmla="*/ 81 h 95"/>
                <a:gd name="T30" fmla="*/ 29 w 95"/>
                <a:gd name="T31" fmla="*/ 95 h 95"/>
                <a:gd name="T32" fmla="*/ 51 w 95"/>
                <a:gd name="T33" fmla="*/ 95 h 95"/>
                <a:gd name="T34" fmla="*/ 51 w 95"/>
                <a:gd name="T35" fmla="*/ 95 h 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5"/>
                <a:gd name="T55" fmla="*/ 0 h 95"/>
                <a:gd name="T56" fmla="*/ 95 w 95"/>
                <a:gd name="T57" fmla="*/ 95 h 9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5" h="95">
                  <a:moveTo>
                    <a:pt x="51" y="95"/>
                  </a:moveTo>
                  <a:lnTo>
                    <a:pt x="66" y="95"/>
                  </a:lnTo>
                  <a:lnTo>
                    <a:pt x="81" y="81"/>
                  </a:lnTo>
                  <a:lnTo>
                    <a:pt x="95" y="66"/>
                  </a:lnTo>
                  <a:lnTo>
                    <a:pt x="95" y="51"/>
                  </a:lnTo>
                  <a:lnTo>
                    <a:pt x="95" y="29"/>
                  </a:lnTo>
                  <a:lnTo>
                    <a:pt x="81" y="15"/>
                  </a:lnTo>
                  <a:lnTo>
                    <a:pt x="66" y="7"/>
                  </a:lnTo>
                  <a:lnTo>
                    <a:pt x="51" y="0"/>
                  </a:lnTo>
                  <a:lnTo>
                    <a:pt x="29" y="7"/>
                  </a:lnTo>
                  <a:lnTo>
                    <a:pt x="14" y="15"/>
                  </a:lnTo>
                  <a:lnTo>
                    <a:pt x="7" y="29"/>
                  </a:lnTo>
                  <a:lnTo>
                    <a:pt x="0" y="51"/>
                  </a:lnTo>
                  <a:lnTo>
                    <a:pt x="7" y="66"/>
                  </a:lnTo>
                  <a:lnTo>
                    <a:pt x="14" y="81"/>
                  </a:lnTo>
                  <a:lnTo>
                    <a:pt x="29" y="95"/>
                  </a:lnTo>
                  <a:lnTo>
                    <a:pt x="51" y="95"/>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29" name="Freeform 21"/>
            <p:cNvSpPr>
              <a:spLocks noChangeAspect="1"/>
            </p:cNvSpPr>
            <p:nvPr/>
          </p:nvSpPr>
          <p:spPr bwMode="auto">
            <a:xfrm>
              <a:off x="2170" y="1773"/>
              <a:ext cx="44" cy="44"/>
            </a:xfrm>
            <a:custGeom>
              <a:avLst/>
              <a:gdLst>
                <a:gd name="T0" fmla="*/ 0 w 44"/>
                <a:gd name="T1" fmla="*/ 44 h 44"/>
                <a:gd name="T2" fmla="*/ 15 w 44"/>
                <a:gd name="T3" fmla="*/ 44 h 44"/>
                <a:gd name="T4" fmla="*/ 30 w 44"/>
                <a:gd name="T5" fmla="*/ 30 h 44"/>
                <a:gd name="T6" fmla="*/ 44 w 44"/>
                <a:gd name="T7" fmla="*/ 15 h 44"/>
                <a:gd name="T8" fmla="*/ 44 w 44"/>
                <a:gd name="T9" fmla="*/ 0 h 44"/>
                <a:gd name="T10" fmla="*/ 44 w 44"/>
                <a:gd name="T11" fmla="*/ 0 h 44"/>
                <a:gd name="T12" fmla="*/ 44 w 44"/>
                <a:gd name="T13" fmla="*/ 15 h 44"/>
                <a:gd name="T14" fmla="*/ 30 w 44"/>
                <a:gd name="T15" fmla="*/ 30 h 44"/>
                <a:gd name="T16" fmla="*/ 15 w 44"/>
                <a:gd name="T17" fmla="*/ 44 h 44"/>
                <a:gd name="T18" fmla="*/ 0 w 44"/>
                <a:gd name="T19" fmla="*/ 44 h 44"/>
                <a:gd name="T20" fmla="*/ 0 w 44"/>
                <a:gd name="T21" fmla="*/ 44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0" y="44"/>
                  </a:moveTo>
                  <a:lnTo>
                    <a:pt x="15" y="44"/>
                  </a:lnTo>
                  <a:lnTo>
                    <a:pt x="30" y="30"/>
                  </a:lnTo>
                  <a:lnTo>
                    <a:pt x="44" y="15"/>
                  </a:lnTo>
                  <a:lnTo>
                    <a:pt x="44" y="0"/>
                  </a:lnTo>
                  <a:lnTo>
                    <a:pt x="44" y="15"/>
                  </a:lnTo>
                  <a:lnTo>
                    <a:pt x="30" y="30"/>
                  </a:lnTo>
                  <a:lnTo>
                    <a:pt x="15" y="44"/>
                  </a:lnTo>
                  <a:lnTo>
                    <a:pt x="0" y="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0" name="Freeform 22"/>
            <p:cNvSpPr>
              <a:spLocks noChangeAspect="1" noEditPoints="1"/>
            </p:cNvSpPr>
            <p:nvPr/>
          </p:nvSpPr>
          <p:spPr bwMode="auto">
            <a:xfrm>
              <a:off x="2170" y="1722"/>
              <a:ext cx="44" cy="51"/>
            </a:xfrm>
            <a:custGeom>
              <a:avLst/>
              <a:gdLst>
                <a:gd name="T0" fmla="*/ 44 w 44"/>
                <a:gd name="T1" fmla="*/ 51 h 51"/>
                <a:gd name="T2" fmla="*/ 44 w 44"/>
                <a:gd name="T3" fmla="*/ 29 h 51"/>
                <a:gd name="T4" fmla="*/ 30 w 44"/>
                <a:gd name="T5" fmla="*/ 15 h 51"/>
                <a:gd name="T6" fmla="*/ 15 w 44"/>
                <a:gd name="T7" fmla="*/ 7 h 51"/>
                <a:gd name="T8" fmla="*/ 0 w 44"/>
                <a:gd name="T9" fmla="*/ 0 h 51"/>
                <a:gd name="T10" fmla="*/ 0 w 44"/>
                <a:gd name="T11" fmla="*/ 0 h 51"/>
                <a:gd name="T12" fmla="*/ 15 w 44"/>
                <a:gd name="T13" fmla="*/ 7 h 51"/>
                <a:gd name="T14" fmla="*/ 30 w 44"/>
                <a:gd name="T15" fmla="*/ 15 h 51"/>
                <a:gd name="T16" fmla="*/ 44 w 44"/>
                <a:gd name="T17" fmla="*/ 29 h 51"/>
                <a:gd name="T18" fmla="*/ 44 w 44"/>
                <a:gd name="T19" fmla="*/ 51 h 51"/>
                <a:gd name="T20" fmla="*/ 44 w 44"/>
                <a:gd name="T21" fmla="*/ 51 h 51"/>
                <a:gd name="T22" fmla="*/ 44 w 44"/>
                <a:gd name="T23" fmla="*/ 51 h 51"/>
                <a:gd name="T24" fmla="*/ 44 w 44"/>
                <a:gd name="T25" fmla="*/ 51 h 51"/>
                <a:gd name="T26" fmla="*/ 44 w 44"/>
                <a:gd name="T27" fmla="*/ 51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51"/>
                <a:gd name="T44" fmla="*/ 44 w 44"/>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51">
                  <a:moveTo>
                    <a:pt x="44" y="51"/>
                  </a:moveTo>
                  <a:lnTo>
                    <a:pt x="44" y="29"/>
                  </a:lnTo>
                  <a:lnTo>
                    <a:pt x="30" y="15"/>
                  </a:lnTo>
                  <a:lnTo>
                    <a:pt x="15" y="7"/>
                  </a:lnTo>
                  <a:lnTo>
                    <a:pt x="0" y="0"/>
                  </a:lnTo>
                  <a:lnTo>
                    <a:pt x="15" y="7"/>
                  </a:lnTo>
                  <a:lnTo>
                    <a:pt x="30" y="15"/>
                  </a:lnTo>
                  <a:lnTo>
                    <a:pt x="44" y="29"/>
                  </a:lnTo>
                  <a:lnTo>
                    <a:pt x="44" y="51"/>
                  </a:lnTo>
                  <a:close/>
                  <a:moveTo>
                    <a:pt x="44" y="51"/>
                  </a:moveTo>
                  <a:lnTo>
                    <a:pt x="44"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1" name="Freeform 23"/>
            <p:cNvSpPr>
              <a:spLocks noChangeAspect="1" noEditPoints="1"/>
            </p:cNvSpPr>
            <p:nvPr/>
          </p:nvSpPr>
          <p:spPr bwMode="auto">
            <a:xfrm>
              <a:off x="2119" y="1722"/>
              <a:ext cx="51" cy="51"/>
            </a:xfrm>
            <a:custGeom>
              <a:avLst/>
              <a:gdLst>
                <a:gd name="T0" fmla="*/ 51 w 51"/>
                <a:gd name="T1" fmla="*/ 0 h 51"/>
                <a:gd name="T2" fmla="*/ 29 w 51"/>
                <a:gd name="T3" fmla="*/ 7 h 51"/>
                <a:gd name="T4" fmla="*/ 14 w 51"/>
                <a:gd name="T5" fmla="*/ 15 h 51"/>
                <a:gd name="T6" fmla="*/ 7 w 51"/>
                <a:gd name="T7" fmla="*/ 29 h 51"/>
                <a:gd name="T8" fmla="*/ 0 w 51"/>
                <a:gd name="T9" fmla="*/ 51 h 51"/>
                <a:gd name="T10" fmla="*/ 0 w 51"/>
                <a:gd name="T11" fmla="*/ 51 h 51"/>
                <a:gd name="T12" fmla="*/ 7 w 51"/>
                <a:gd name="T13" fmla="*/ 29 h 51"/>
                <a:gd name="T14" fmla="*/ 14 w 51"/>
                <a:gd name="T15" fmla="*/ 15 h 51"/>
                <a:gd name="T16" fmla="*/ 29 w 51"/>
                <a:gd name="T17" fmla="*/ 7 h 51"/>
                <a:gd name="T18" fmla="*/ 51 w 51"/>
                <a:gd name="T19" fmla="*/ 0 h 51"/>
                <a:gd name="T20" fmla="*/ 51 w 51"/>
                <a:gd name="T21" fmla="*/ 0 h 51"/>
                <a:gd name="T22" fmla="*/ 51 w 51"/>
                <a:gd name="T23" fmla="*/ 0 h 51"/>
                <a:gd name="T24" fmla="*/ 51 w 51"/>
                <a:gd name="T25" fmla="*/ 0 h 51"/>
                <a:gd name="T26" fmla="*/ 51 w 51"/>
                <a:gd name="T27" fmla="*/ 0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1"/>
                <a:gd name="T44" fmla="*/ 51 w 51"/>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1">
                  <a:moveTo>
                    <a:pt x="51" y="0"/>
                  </a:moveTo>
                  <a:lnTo>
                    <a:pt x="29" y="7"/>
                  </a:lnTo>
                  <a:lnTo>
                    <a:pt x="14" y="15"/>
                  </a:lnTo>
                  <a:lnTo>
                    <a:pt x="7" y="29"/>
                  </a:lnTo>
                  <a:lnTo>
                    <a:pt x="0" y="51"/>
                  </a:lnTo>
                  <a:lnTo>
                    <a:pt x="7" y="29"/>
                  </a:lnTo>
                  <a:lnTo>
                    <a:pt x="14" y="15"/>
                  </a:lnTo>
                  <a:lnTo>
                    <a:pt x="29" y="7"/>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2" name="Freeform 24"/>
            <p:cNvSpPr>
              <a:spLocks noChangeAspect="1" noEditPoints="1"/>
            </p:cNvSpPr>
            <p:nvPr/>
          </p:nvSpPr>
          <p:spPr bwMode="auto">
            <a:xfrm>
              <a:off x="2119" y="1773"/>
              <a:ext cx="51" cy="44"/>
            </a:xfrm>
            <a:custGeom>
              <a:avLst/>
              <a:gdLst>
                <a:gd name="T0" fmla="*/ 0 w 51"/>
                <a:gd name="T1" fmla="*/ 0 h 44"/>
                <a:gd name="T2" fmla="*/ 7 w 51"/>
                <a:gd name="T3" fmla="*/ 15 h 44"/>
                <a:gd name="T4" fmla="*/ 14 w 51"/>
                <a:gd name="T5" fmla="*/ 30 h 44"/>
                <a:gd name="T6" fmla="*/ 29 w 51"/>
                <a:gd name="T7" fmla="*/ 44 h 44"/>
                <a:gd name="T8" fmla="*/ 51 w 51"/>
                <a:gd name="T9" fmla="*/ 44 h 44"/>
                <a:gd name="T10" fmla="*/ 51 w 51"/>
                <a:gd name="T11" fmla="*/ 44 h 44"/>
                <a:gd name="T12" fmla="*/ 29 w 51"/>
                <a:gd name="T13" fmla="*/ 44 h 44"/>
                <a:gd name="T14" fmla="*/ 14 w 51"/>
                <a:gd name="T15" fmla="*/ 30 h 44"/>
                <a:gd name="T16" fmla="*/ 7 w 51"/>
                <a:gd name="T17" fmla="*/ 15 h 44"/>
                <a:gd name="T18" fmla="*/ 0 w 51"/>
                <a:gd name="T19" fmla="*/ 0 h 44"/>
                <a:gd name="T20" fmla="*/ 0 w 51"/>
                <a:gd name="T21" fmla="*/ 0 h 44"/>
                <a:gd name="T22" fmla="*/ 0 w 51"/>
                <a:gd name="T23" fmla="*/ 0 h 44"/>
                <a:gd name="T24" fmla="*/ 0 w 51"/>
                <a:gd name="T25" fmla="*/ 0 h 44"/>
                <a:gd name="T26" fmla="*/ 0 w 51"/>
                <a:gd name="T27" fmla="*/ 0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44"/>
                <a:gd name="T44" fmla="*/ 51 w 51"/>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44">
                  <a:moveTo>
                    <a:pt x="0" y="0"/>
                  </a:moveTo>
                  <a:lnTo>
                    <a:pt x="7" y="15"/>
                  </a:lnTo>
                  <a:lnTo>
                    <a:pt x="14" y="30"/>
                  </a:lnTo>
                  <a:lnTo>
                    <a:pt x="29" y="44"/>
                  </a:lnTo>
                  <a:lnTo>
                    <a:pt x="51" y="44"/>
                  </a:lnTo>
                  <a:lnTo>
                    <a:pt x="29" y="44"/>
                  </a:lnTo>
                  <a:lnTo>
                    <a:pt x="14" y="30"/>
                  </a:lnTo>
                  <a:lnTo>
                    <a:pt x="7" y="1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3" name="Freeform 25"/>
            <p:cNvSpPr>
              <a:spLocks noChangeAspect="1"/>
            </p:cNvSpPr>
            <p:nvPr/>
          </p:nvSpPr>
          <p:spPr bwMode="auto">
            <a:xfrm>
              <a:off x="2170" y="1817"/>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4" name="Freeform 26"/>
            <p:cNvSpPr>
              <a:spLocks noChangeAspect="1"/>
            </p:cNvSpPr>
            <p:nvPr/>
          </p:nvSpPr>
          <p:spPr bwMode="auto">
            <a:xfrm>
              <a:off x="2119" y="2779"/>
              <a:ext cx="95" cy="96"/>
            </a:xfrm>
            <a:custGeom>
              <a:avLst/>
              <a:gdLst>
                <a:gd name="T0" fmla="*/ 51 w 95"/>
                <a:gd name="T1" fmla="*/ 96 h 96"/>
                <a:gd name="T2" fmla="*/ 66 w 95"/>
                <a:gd name="T3" fmla="*/ 96 h 96"/>
                <a:gd name="T4" fmla="*/ 81 w 95"/>
                <a:gd name="T5" fmla="*/ 81 h 96"/>
                <a:gd name="T6" fmla="*/ 95 w 95"/>
                <a:gd name="T7" fmla="*/ 67 h 96"/>
                <a:gd name="T8" fmla="*/ 95 w 95"/>
                <a:gd name="T9" fmla="*/ 44 h 96"/>
                <a:gd name="T10" fmla="*/ 95 w 95"/>
                <a:gd name="T11" fmla="*/ 30 h 96"/>
                <a:gd name="T12" fmla="*/ 81 w 95"/>
                <a:gd name="T13" fmla="*/ 15 h 96"/>
                <a:gd name="T14" fmla="*/ 66 w 95"/>
                <a:gd name="T15" fmla="*/ 8 h 96"/>
                <a:gd name="T16" fmla="*/ 51 w 95"/>
                <a:gd name="T17" fmla="*/ 0 h 96"/>
                <a:gd name="T18" fmla="*/ 29 w 95"/>
                <a:gd name="T19" fmla="*/ 8 h 96"/>
                <a:gd name="T20" fmla="*/ 14 w 95"/>
                <a:gd name="T21" fmla="*/ 15 h 96"/>
                <a:gd name="T22" fmla="*/ 7 w 95"/>
                <a:gd name="T23" fmla="*/ 30 h 96"/>
                <a:gd name="T24" fmla="*/ 0 w 95"/>
                <a:gd name="T25" fmla="*/ 44 h 96"/>
                <a:gd name="T26" fmla="*/ 7 w 95"/>
                <a:gd name="T27" fmla="*/ 67 h 96"/>
                <a:gd name="T28" fmla="*/ 14 w 95"/>
                <a:gd name="T29" fmla="*/ 81 h 96"/>
                <a:gd name="T30" fmla="*/ 29 w 95"/>
                <a:gd name="T31" fmla="*/ 96 h 96"/>
                <a:gd name="T32" fmla="*/ 51 w 95"/>
                <a:gd name="T33" fmla="*/ 96 h 96"/>
                <a:gd name="T34" fmla="*/ 51 w 95"/>
                <a:gd name="T35" fmla="*/ 96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5"/>
                <a:gd name="T55" fmla="*/ 0 h 96"/>
                <a:gd name="T56" fmla="*/ 95 w 95"/>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5" h="96">
                  <a:moveTo>
                    <a:pt x="51" y="96"/>
                  </a:moveTo>
                  <a:lnTo>
                    <a:pt x="66" y="96"/>
                  </a:lnTo>
                  <a:lnTo>
                    <a:pt x="81" y="81"/>
                  </a:lnTo>
                  <a:lnTo>
                    <a:pt x="95" y="67"/>
                  </a:lnTo>
                  <a:lnTo>
                    <a:pt x="95" y="44"/>
                  </a:lnTo>
                  <a:lnTo>
                    <a:pt x="95" y="30"/>
                  </a:lnTo>
                  <a:lnTo>
                    <a:pt x="81" y="15"/>
                  </a:lnTo>
                  <a:lnTo>
                    <a:pt x="66" y="8"/>
                  </a:lnTo>
                  <a:lnTo>
                    <a:pt x="51" y="0"/>
                  </a:lnTo>
                  <a:lnTo>
                    <a:pt x="29" y="8"/>
                  </a:lnTo>
                  <a:lnTo>
                    <a:pt x="14" y="15"/>
                  </a:lnTo>
                  <a:lnTo>
                    <a:pt x="7" y="30"/>
                  </a:lnTo>
                  <a:lnTo>
                    <a:pt x="0" y="44"/>
                  </a:lnTo>
                  <a:lnTo>
                    <a:pt x="7" y="67"/>
                  </a:lnTo>
                  <a:lnTo>
                    <a:pt x="14" y="81"/>
                  </a:lnTo>
                  <a:lnTo>
                    <a:pt x="29" y="96"/>
                  </a:lnTo>
                  <a:lnTo>
                    <a:pt x="51" y="96"/>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5" name="Freeform 27"/>
            <p:cNvSpPr>
              <a:spLocks noChangeAspect="1"/>
            </p:cNvSpPr>
            <p:nvPr/>
          </p:nvSpPr>
          <p:spPr bwMode="auto">
            <a:xfrm>
              <a:off x="2170" y="2823"/>
              <a:ext cx="44" cy="52"/>
            </a:xfrm>
            <a:custGeom>
              <a:avLst/>
              <a:gdLst>
                <a:gd name="T0" fmla="*/ 0 w 44"/>
                <a:gd name="T1" fmla="*/ 52 h 52"/>
                <a:gd name="T2" fmla="*/ 15 w 44"/>
                <a:gd name="T3" fmla="*/ 52 h 52"/>
                <a:gd name="T4" fmla="*/ 30 w 44"/>
                <a:gd name="T5" fmla="*/ 37 h 52"/>
                <a:gd name="T6" fmla="*/ 44 w 44"/>
                <a:gd name="T7" fmla="*/ 23 h 52"/>
                <a:gd name="T8" fmla="*/ 44 w 44"/>
                <a:gd name="T9" fmla="*/ 0 h 52"/>
                <a:gd name="T10" fmla="*/ 44 w 44"/>
                <a:gd name="T11" fmla="*/ 0 h 52"/>
                <a:gd name="T12" fmla="*/ 44 w 44"/>
                <a:gd name="T13" fmla="*/ 23 h 52"/>
                <a:gd name="T14" fmla="*/ 30 w 44"/>
                <a:gd name="T15" fmla="*/ 37 h 52"/>
                <a:gd name="T16" fmla="*/ 15 w 44"/>
                <a:gd name="T17" fmla="*/ 52 h 52"/>
                <a:gd name="T18" fmla="*/ 0 w 44"/>
                <a:gd name="T19" fmla="*/ 52 h 52"/>
                <a:gd name="T20" fmla="*/ 0 w 44"/>
                <a:gd name="T21" fmla="*/ 52 h 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52"/>
                <a:gd name="T35" fmla="*/ 44 w 44"/>
                <a:gd name="T36" fmla="*/ 52 h 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52">
                  <a:moveTo>
                    <a:pt x="0" y="52"/>
                  </a:moveTo>
                  <a:lnTo>
                    <a:pt x="15" y="52"/>
                  </a:lnTo>
                  <a:lnTo>
                    <a:pt x="30" y="37"/>
                  </a:lnTo>
                  <a:lnTo>
                    <a:pt x="44" y="23"/>
                  </a:lnTo>
                  <a:lnTo>
                    <a:pt x="44" y="0"/>
                  </a:lnTo>
                  <a:lnTo>
                    <a:pt x="44" y="23"/>
                  </a:lnTo>
                  <a:lnTo>
                    <a:pt x="30" y="37"/>
                  </a:lnTo>
                  <a:lnTo>
                    <a:pt x="15" y="52"/>
                  </a:lnTo>
                  <a:lnTo>
                    <a:pt x="0"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6" name="Freeform 28"/>
            <p:cNvSpPr>
              <a:spLocks noChangeAspect="1" noEditPoints="1"/>
            </p:cNvSpPr>
            <p:nvPr/>
          </p:nvSpPr>
          <p:spPr bwMode="auto">
            <a:xfrm>
              <a:off x="2170" y="2779"/>
              <a:ext cx="44" cy="44"/>
            </a:xfrm>
            <a:custGeom>
              <a:avLst/>
              <a:gdLst>
                <a:gd name="T0" fmla="*/ 44 w 44"/>
                <a:gd name="T1" fmla="*/ 44 h 44"/>
                <a:gd name="T2" fmla="*/ 44 w 44"/>
                <a:gd name="T3" fmla="*/ 30 h 44"/>
                <a:gd name="T4" fmla="*/ 30 w 44"/>
                <a:gd name="T5" fmla="*/ 15 h 44"/>
                <a:gd name="T6" fmla="*/ 15 w 44"/>
                <a:gd name="T7" fmla="*/ 8 h 44"/>
                <a:gd name="T8" fmla="*/ 0 w 44"/>
                <a:gd name="T9" fmla="*/ 0 h 44"/>
                <a:gd name="T10" fmla="*/ 0 w 44"/>
                <a:gd name="T11" fmla="*/ 0 h 44"/>
                <a:gd name="T12" fmla="*/ 15 w 44"/>
                <a:gd name="T13" fmla="*/ 8 h 44"/>
                <a:gd name="T14" fmla="*/ 30 w 44"/>
                <a:gd name="T15" fmla="*/ 15 h 44"/>
                <a:gd name="T16" fmla="*/ 44 w 44"/>
                <a:gd name="T17" fmla="*/ 30 h 44"/>
                <a:gd name="T18" fmla="*/ 44 w 44"/>
                <a:gd name="T19" fmla="*/ 44 h 44"/>
                <a:gd name="T20" fmla="*/ 44 w 44"/>
                <a:gd name="T21" fmla="*/ 44 h 44"/>
                <a:gd name="T22" fmla="*/ 44 w 44"/>
                <a:gd name="T23" fmla="*/ 44 h 44"/>
                <a:gd name="T24" fmla="*/ 44 w 44"/>
                <a:gd name="T25" fmla="*/ 44 h 44"/>
                <a:gd name="T26" fmla="*/ 44 w 44"/>
                <a:gd name="T27" fmla="*/ 44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44"/>
                <a:gd name="T44" fmla="*/ 44 w 44"/>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44">
                  <a:moveTo>
                    <a:pt x="44" y="44"/>
                  </a:moveTo>
                  <a:lnTo>
                    <a:pt x="44" y="30"/>
                  </a:lnTo>
                  <a:lnTo>
                    <a:pt x="30" y="15"/>
                  </a:lnTo>
                  <a:lnTo>
                    <a:pt x="15" y="8"/>
                  </a:lnTo>
                  <a:lnTo>
                    <a:pt x="0" y="0"/>
                  </a:lnTo>
                  <a:lnTo>
                    <a:pt x="15" y="8"/>
                  </a:lnTo>
                  <a:lnTo>
                    <a:pt x="30" y="15"/>
                  </a:lnTo>
                  <a:lnTo>
                    <a:pt x="44" y="30"/>
                  </a:lnTo>
                  <a:lnTo>
                    <a:pt x="44" y="44"/>
                  </a:lnTo>
                  <a:close/>
                  <a:moveTo>
                    <a:pt x="44" y="44"/>
                  </a:moveTo>
                  <a:lnTo>
                    <a:pt x="44" y="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7" name="Freeform 29"/>
            <p:cNvSpPr>
              <a:spLocks noChangeAspect="1" noEditPoints="1"/>
            </p:cNvSpPr>
            <p:nvPr/>
          </p:nvSpPr>
          <p:spPr bwMode="auto">
            <a:xfrm>
              <a:off x="2119" y="2779"/>
              <a:ext cx="51" cy="44"/>
            </a:xfrm>
            <a:custGeom>
              <a:avLst/>
              <a:gdLst>
                <a:gd name="T0" fmla="*/ 51 w 51"/>
                <a:gd name="T1" fmla="*/ 0 h 44"/>
                <a:gd name="T2" fmla="*/ 29 w 51"/>
                <a:gd name="T3" fmla="*/ 8 h 44"/>
                <a:gd name="T4" fmla="*/ 14 w 51"/>
                <a:gd name="T5" fmla="*/ 15 h 44"/>
                <a:gd name="T6" fmla="*/ 7 w 51"/>
                <a:gd name="T7" fmla="*/ 30 h 44"/>
                <a:gd name="T8" fmla="*/ 0 w 51"/>
                <a:gd name="T9" fmla="*/ 44 h 44"/>
                <a:gd name="T10" fmla="*/ 0 w 51"/>
                <a:gd name="T11" fmla="*/ 44 h 44"/>
                <a:gd name="T12" fmla="*/ 7 w 51"/>
                <a:gd name="T13" fmla="*/ 30 h 44"/>
                <a:gd name="T14" fmla="*/ 14 w 51"/>
                <a:gd name="T15" fmla="*/ 15 h 44"/>
                <a:gd name="T16" fmla="*/ 29 w 51"/>
                <a:gd name="T17" fmla="*/ 8 h 44"/>
                <a:gd name="T18" fmla="*/ 51 w 51"/>
                <a:gd name="T19" fmla="*/ 0 h 44"/>
                <a:gd name="T20" fmla="*/ 51 w 51"/>
                <a:gd name="T21" fmla="*/ 0 h 44"/>
                <a:gd name="T22" fmla="*/ 51 w 51"/>
                <a:gd name="T23" fmla="*/ 0 h 44"/>
                <a:gd name="T24" fmla="*/ 51 w 51"/>
                <a:gd name="T25" fmla="*/ 0 h 44"/>
                <a:gd name="T26" fmla="*/ 51 w 51"/>
                <a:gd name="T27" fmla="*/ 0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44"/>
                <a:gd name="T44" fmla="*/ 51 w 51"/>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44">
                  <a:moveTo>
                    <a:pt x="51" y="0"/>
                  </a:moveTo>
                  <a:lnTo>
                    <a:pt x="29" y="8"/>
                  </a:lnTo>
                  <a:lnTo>
                    <a:pt x="14" y="15"/>
                  </a:lnTo>
                  <a:lnTo>
                    <a:pt x="7" y="30"/>
                  </a:lnTo>
                  <a:lnTo>
                    <a:pt x="0" y="44"/>
                  </a:lnTo>
                  <a:lnTo>
                    <a:pt x="7" y="30"/>
                  </a:lnTo>
                  <a:lnTo>
                    <a:pt x="14" y="15"/>
                  </a:lnTo>
                  <a:lnTo>
                    <a:pt x="29" y="8"/>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8" name="Freeform 30"/>
            <p:cNvSpPr>
              <a:spLocks noChangeAspect="1" noEditPoints="1"/>
            </p:cNvSpPr>
            <p:nvPr/>
          </p:nvSpPr>
          <p:spPr bwMode="auto">
            <a:xfrm>
              <a:off x="2119" y="2823"/>
              <a:ext cx="51" cy="52"/>
            </a:xfrm>
            <a:custGeom>
              <a:avLst/>
              <a:gdLst>
                <a:gd name="T0" fmla="*/ 0 w 51"/>
                <a:gd name="T1" fmla="*/ 0 h 52"/>
                <a:gd name="T2" fmla="*/ 7 w 51"/>
                <a:gd name="T3" fmla="*/ 23 h 52"/>
                <a:gd name="T4" fmla="*/ 14 w 51"/>
                <a:gd name="T5" fmla="*/ 37 h 52"/>
                <a:gd name="T6" fmla="*/ 29 w 51"/>
                <a:gd name="T7" fmla="*/ 52 h 52"/>
                <a:gd name="T8" fmla="*/ 51 w 51"/>
                <a:gd name="T9" fmla="*/ 52 h 52"/>
                <a:gd name="T10" fmla="*/ 51 w 51"/>
                <a:gd name="T11" fmla="*/ 52 h 52"/>
                <a:gd name="T12" fmla="*/ 29 w 51"/>
                <a:gd name="T13" fmla="*/ 52 h 52"/>
                <a:gd name="T14" fmla="*/ 14 w 51"/>
                <a:gd name="T15" fmla="*/ 37 h 52"/>
                <a:gd name="T16" fmla="*/ 7 w 51"/>
                <a:gd name="T17" fmla="*/ 23 h 52"/>
                <a:gd name="T18" fmla="*/ 0 w 51"/>
                <a:gd name="T19" fmla="*/ 0 h 52"/>
                <a:gd name="T20" fmla="*/ 0 w 51"/>
                <a:gd name="T21" fmla="*/ 0 h 52"/>
                <a:gd name="T22" fmla="*/ 0 w 51"/>
                <a:gd name="T23" fmla="*/ 0 h 52"/>
                <a:gd name="T24" fmla="*/ 0 w 51"/>
                <a:gd name="T25" fmla="*/ 0 h 52"/>
                <a:gd name="T26" fmla="*/ 0 w 51"/>
                <a:gd name="T27" fmla="*/ 0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2"/>
                <a:gd name="T44" fmla="*/ 51 w 51"/>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2">
                  <a:moveTo>
                    <a:pt x="0" y="0"/>
                  </a:moveTo>
                  <a:lnTo>
                    <a:pt x="7" y="23"/>
                  </a:lnTo>
                  <a:lnTo>
                    <a:pt x="14" y="37"/>
                  </a:lnTo>
                  <a:lnTo>
                    <a:pt x="29" y="52"/>
                  </a:lnTo>
                  <a:lnTo>
                    <a:pt x="51" y="52"/>
                  </a:lnTo>
                  <a:lnTo>
                    <a:pt x="29" y="52"/>
                  </a:lnTo>
                  <a:lnTo>
                    <a:pt x="14" y="37"/>
                  </a:lnTo>
                  <a:lnTo>
                    <a:pt x="7" y="2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39" name="Freeform 31"/>
            <p:cNvSpPr>
              <a:spLocks noChangeAspect="1"/>
            </p:cNvSpPr>
            <p:nvPr/>
          </p:nvSpPr>
          <p:spPr bwMode="auto">
            <a:xfrm>
              <a:off x="2170" y="2875"/>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0" name="Freeform 32"/>
            <p:cNvSpPr>
              <a:spLocks noChangeAspect="1" noEditPoints="1"/>
            </p:cNvSpPr>
            <p:nvPr/>
          </p:nvSpPr>
          <p:spPr bwMode="auto">
            <a:xfrm>
              <a:off x="2325" y="1722"/>
              <a:ext cx="95" cy="103"/>
            </a:xfrm>
            <a:custGeom>
              <a:avLst/>
              <a:gdLst>
                <a:gd name="T0" fmla="*/ 95 w 95"/>
                <a:gd name="T1" fmla="*/ 73 h 103"/>
                <a:gd name="T2" fmla="*/ 81 w 95"/>
                <a:gd name="T3" fmla="*/ 88 h 103"/>
                <a:gd name="T4" fmla="*/ 73 w 95"/>
                <a:gd name="T5" fmla="*/ 88 h 103"/>
                <a:gd name="T6" fmla="*/ 73 w 95"/>
                <a:gd name="T7" fmla="*/ 88 h 103"/>
                <a:gd name="T8" fmla="*/ 73 w 95"/>
                <a:gd name="T9" fmla="*/ 73 h 103"/>
                <a:gd name="T10" fmla="*/ 81 w 95"/>
                <a:gd name="T11" fmla="*/ 44 h 103"/>
                <a:gd name="T12" fmla="*/ 88 w 95"/>
                <a:gd name="T13" fmla="*/ 15 h 103"/>
                <a:gd name="T14" fmla="*/ 95 w 95"/>
                <a:gd name="T15" fmla="*/ 0 h 103"/>
                <a:gd name="T16" fmla="*/ 88 w 95"/>
                <a:gd name="T17" fmla="*/ 0 h 103"/>
                <a:gd name="T18" fmla="*/ 81 w 95"/>
                <a:gd name="T19" fmla="*/ 7 h 103"/>
                <a:gd name="T20" fmla="*/ 81 w 95"/>
                <a:gd name="T21" fmla="*/ 7 h 103"/>
                <a:gd name="T22" fmla="*/ 73 w 95"/>
                <a:gd name="T23" fmla="*/ 15 h 103"/>
                <a:gd name="T24" fmla="*/ 73 w 95"/>
                <a:gd name="T25" fmla="*/ 15 h 103"/>
                <a:gd name="T26" fmla="*/ 66 w 95"/>
                <a:gd name="T27" fmla="*/ 7 h 103"/>
                <a:gd name="T28" fmla="*/ 59 w 95"/>
                <a:gd name="T29" fmla="*/ 0 h 103"/>
                <a:gd name="T30" fmla="*/ 36 w 95"/>
                <a:gd name="T31" fmla="*/ 7 h 103"/>
                <a:gd name="T32" fmla="*/ 22 w 95"/>
                <a:gd name="T33" fmla="*/ 29 h 103"/>
                <a:gd name="T34" fmla="*/ 7 w 95"/>
                <a:gd name="T35" fmla="*/ 51 h 103"/>
                <a:gd name="T36" fmla="*/ 0 w 95"/>
                <a:gd name="T37" fmla="*/ 73 h 103"/>
                <a:gd name="T38" fmla="*/ 0 w 95"/>
                <a:gd name="T39" fmla="*/ 88 h 103"/>
                <a:gd name="T40" fmla="*/ 7 w 95"/>
                <a:gd name="T41" fmla="*/ 103 h 103"/>
                <a:gd name="T42" fmla="*/ 22 w 95"/>
                <a:gd name="T43" fmla="*/ 103 h 103"/>
                <a:gd name="T44" fmla="*/ 44 w 95"/>
                <a:gd name="T45" fmla="*/ 95 h 103"/>
                <a:gd name="T46" fmla="*/ 51 w 95"/>
                <a:gd name="T47" fmla="*/ 88 h 103"/>
                <a:gd name="T48" fmla="*/ 59 w 95"/>
                <a:gd name="T49" fmla="*/ 66 h 103"/>
                <a:gd name="T50" fmla="*/ 59 w 95"/>
                <a:gd name="T51" fmla="*/ 66 h 103"/>
                <a:gd name="T52" fmla="*/ 59 w 95"/>
                <a:gd name="T53" fmla="*/ 81 h 103"/>
                <a:gd name="T54" fmla="*/ 59 w 95"/>
                <a:gd name="T55" fmla="*/ 88 h 103"/>
                <a:gd name="T56" fmla="*/ 59 w 95"/>
                <a:gd name="T57" fmla="*/ 95 h 103"/>
                <a:gd name="T58" fmla="*/ 66 w 95"/>
                <a:gd name="T59" fmla="*/ 103 h 103"/>
                <a:gd name="T60" fmla="*/ 81 w 95"/>
                <a:gd name="T61" fmla="*/ 95 h 103"/>
                <a:gd name="T62" fmla="*/ 95 w 95"/>
                <a:gd name="T63" fmla="*/ 73 h 103"/>
                <a:gd name="T64" fmla="*/ 95 w 95"/>
                <a:gd name="T65" fmla="*/ 73 h 103"/>
                <a:gd name="T66" fmla="*/ 14 w 95"/>
                <a:gd name="T67" fmla="*/ 73 h 103"/>
                <a:gd name="T68" fmla="*/ 22 w 95"/>
                <a:gd name="T69" fmla="*/ 59 h 103"/>
                <a:gd name="T70" fmla="*/ 29 w 95"/>
                <a:gd name="T71" fmla="*/ 37 h 103"/>
                <a:gd name="T72" fmla="*/ 44 w 95"/>
                <a:gd name="T73" fmla="*/ 15 h 103"/>
                <a:gd name="T74" fmla="*/ 59 w 95"/>
                <a:gd name="T75" fmla="*/ 7 h 103"/>
                <a:gd name="T76" fmla="*/ 66 w 95"/>
                <a:gd name="T77" fmla="*/ 15 h 103"/>
                <a:gd name="T78" fmla="*/ 73 w 95"/>
                <a:gd name="T79" fmla="*/ 22 h 103"/>
                <a:gd name="T80" fmla="*/ 73 w 95"/>
                <a:gd name="T81" fmla="*/ 44 h 103"/>
                <a:gd name="T82" fmla="*/ 59 w 95"/>
                <a:gd name="T83" fmla="*/ 66 h 103"/>
                <a:gd name="T84" fmla="*/ 44 w 95"/>
                <a:gd name="T85" fmla="*/ 81 h 103"/>
                <a:gd name="T86" fmla="*/ 29 w 95"/>
                <a:gd name="T87" fmla="*/ 88 h 103"/>
                <a:gd name="T88" fmla="*/ 22 w 95"/>
                <a:gd name="T89" fmla="*/ 88 h 103"/>
                <a:gd name="T90" fmla="*/ 14 w 95"/>
                <a:gd name="T91" fmla="*/ 73 h 103"/>
                <a:gd name="T92" fmla="*/ 14 w 95"/>
                <a:gd name="T93" fmla="*/ 73 h 10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5"/>
                <a:gd name="T142" fmla="*/ 0 h 103"/>
                <a:gd name="T143" fmla="*/ 95 w 95"/>
                <a:gd name="T144" fmla="*/ 103 h 10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5" h="103">
                  <a:moveTo>
                    <a:pt x="95" y="73"/>
                  </a:moveTo>
                  <a:lnTo>
                    <a:pt x="81" y="88"/>
                  </a:lnTo>
                  <a:lnTo>
                    <a:pt x="73" y="88"/>
                  </a:lnTo>
                  <a:lnTo>
                    <a:pt x="73" y="73"/>
                  </a:lnTo>
                  <a:lnTo>
                    <a:pt x="81" y="44"/>
                  </a:lnTo>
                  <a:lnTo>
                    <a:pt x="88" y="15"/>
                  </a:lnTo>
                  <a:lnTo>
                    <a:pt x="95" y="0"/>
                  </a:lnTo>
                  <a:lnTo>
                    <a:pt x="88" y="0"/>
                  </a:lnTo>
                  <a:lnTo>
                    <a:pt x="81" y="7"/>
                  </a:lnTo>
                  <a:lnTo>
                    <a:pt x="73" y="15"/>
                  </a:lnTo>
                  <a:lnTo>
                    <a:pt x="66" y="7"/>
                  </a:lnTo>
                  <a:lnTo>
                    <a:pt x="59" y="0"/>
                  </a:lnTo>
                  <a:lnTo>
                    <a:pt x="36" y="7"/>
                  </a:lnTo>
                  <a:lnTo>
                    <a:pt x="22" y="29"/>
                  </a:lnTo>
                  <a:lnTo>
                    <a:pt x="7" y="51"/>
                  </a:lnTo>
                  <a:lnTo>
                    <a:pt x="0" y="73"/>
                  </a:lnTo>
                  <a:lnTo>
                    <a:pt x="0" y="88"/>
                  </a:lnTo>
                  <a:lnTo>
                    <a:pt x="7" y="103"/>
                  </a:lnTo>
                  <a:lnTo>
                    <a:pt x="22" y="103"/>
                  </a:lnTo>
                  <a:lnTo>
                    <a:pt x="44" y="95"/>
                  </a:lnTo>
                  <a:lnTo>
                    <a:pt x="51" y="88"/>
                  </a:lnTo>
                  <a:lnTo>
                    <a:pt x="59" y="66"/>
                  </a:lnTo>
                  <a:lnTo>
                    <a:pt x="59" y="81"/>
                  </a:lnTo>
                  <a:lnTo>
                    <a:pt x="59" y="88"/>
                  </a:lnTo>
                  <a:lnTo>
                    <a:pt x="59" y="95"/>
                  </a:lnTo>
                  <a:lnTo>
                    <a:pt x="66" y="103"/>
                  </a:lnTo>
                  <a:lnTo>
                    <a:pt x="81" y="95"/>
                  </a:lnTo>
                  <a:lnTo>
                    <a:pt x="95" y="73"/>
                  </a:lnTo>
                  <a:close/>
                  <a:moveTo>
                    <a:pt x="14" y="73"/>
                  </a:moveTo>
                  <a:lnTo>
                    <a:pt x="22" y="59"/>
                  </a:lnTo>
                  <a:lnTo>
                    <a:pt x="29" y="37"/>
                  </a:lnTo>
                  <a:lnTo>
                    <a:pt x="44" y="15"/>
                  </a:lnTo>
                  <a:lnTo>
                    <a:pt x="59" y="7"/>
                  </a:lnTo>
                  <a:lnTo>
                    <a:pt x="66" y="15"/>
                  </a:lnTo>
                  <a:lnTo>
                    <a:pt x="73" y="22"/>
                  </a:lnTo>
                  <a:lnTo>
                    <a:pt x="73" y="44"/>
                  </a:lnTo>
                  <a:lnTo>
                    <a:pt x="59" y="66"/>
                  </a:lnTo>
                  <a:lnTo>
                    <a:pt x="44" y="81"/>
                  </a:lnTo>
                  <a:lnTo>
                    <a:pt x="29" y="88"/>
                  </a:lnTo>
                  <a:lnTo>
                    <a:pt x="22" y="88"/>
                  </a:lnTo>
                  <a:lnTo>
                    <a:pt x="14" y="7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1" name="Freeform 33"/>
            <p:cNvSpPr>
              <a:spLocks noChangeAspect="1" noEditPoints="1"/>
            </p:cNvSpPr>
            <p:nvPr/>
          </p:nvSpPr>
          <p:spPr bwMode="auto">
            <a:xfrm>
              <a:off x="2325" y="2735"/>
              <a:ext cx="88" cy="155"/>
            </a:xfrm>
            <a:custGeom>
              <a:avLst/>
              <a:gdLst>
                <a:gd name="T0" fmla="*/ 73 w 88"/>
                <a:gd name="T1" fmla="*/ 81 h 155"/>
                <a:gd name="T2" fmla="*/ 73 w 88"/>
                <a:gd name="T3" fmla="*/ 103 h 155"/>
                <a:gd name="T4" fmla="*/ 59 w 88"/>
                <a:gd name="T5" fmla="*/ 125 h 155"/>
                <a:gd name="T6" fmla="*/ 44 w 88"/>
                <a:gd name="T7" fmla="*/ 140 h 155"/>
                <a:gd name="T8" fmla="*/ 22 w 88"/>
                <a:gd name="T9" fmla="*/ 147 h 155"/>
                <a:gd name="T10" fmla="*/ 14 w 88"/>
                <a:gd name="T11" fmla="*/ 147 h 155"/>
                <a:gd name="T12" fmla="*/ 14 w 88"/>
                <a:gd name="T13" fmla="*/ 140 h 155"/>
                <a:gd name="T14" fmla="*/ 22 w 88"/>
                <a:gd name="T15" fmla="*/ 118 h 155"/>
                <a:gd name="T16" fmla="*/ 29 w 88"/>
                <a:gd name="T17" fmla="*/ 96 h 155"/>
                <a:gd name="T18" fmla="*/ 44 w 88"/>
                <a:gd name="T19" fmla="*/ 74 h 155"/>
                <a:gd name="T20" fmla="*/ 59 w 88"/>
                <a:gd name="T21" fmla="*/ 66 h 155"/>
                <a:gd name="T22" fmla="*/ 73 w 88"/>
                <a:gd name="T23" fmla="*/ 74 h 155"/>
                <a:gd name="T24" fmla="*/ 73 w 88"/>
                <a:gd name="T25" fmla="*/ 81 h 155"/>
                <a:gd name="T26" fmla="*/ 73 w 88"/>
                <a:gd name="T27" fmla="*/ 81 h 155"/>
                <a:gd name="T28" fmla="*/ 14 w 88"/>
                <a:gd name="T29" fmla="*/ 8 h 155"/>
                <a:gd name="T30" fmla="*/ 29 w 88"/>
                <a:gd name="T31" fmla="*/ 15 h 155"/>
                <a:gd name="T32" fmla="*/ 29 w 88"/>
                <a:gd name="T33" fmla="*/ 15 h 155"/>
                <a:gd name="T34" fmla="*/ 29 w 88"/>
                <a:gd name="T35" fmla="*/ 22 h 155"/>
                <a:gd name="T36" fmla="*/ 22 w 88"/>
                <a:gd name="T37" fmla="*/ 30 h 155"/>
                <a:gd name="T38" fmla="*/ 0 w 88"/>
                <a:gd name="T39" fmla="*/ 140 h 155"/>
                <a:gd name="T40" fmla="*/ 0 w 88"/>
                <a:gd name="T41" fmla="*/ 140 h 155"/>
                <a:gd name="T42" fmla="*/ 7 w 88"/>
                <a:gd name="T43" fmla="*/ 147 h 155"/>
                <a:gd name="T44" fmla="*/ 22 w 88"/>
                <a:gd name="T45" fmla="*/ 155 h 155"/>
                <a:gd name="T46" fmla="*/ 51 w 88"/>
                <a:gd name="T47" fmla="*/ 147 h 155"/>
                <a:gd name="T48" fmla="*/ 66 w 88"/>
                <a:gd name="T49" fmla="*/ 133 h 155"/>
                <a:gd name="T50" fmla="*/ 81 w 88"/>
                <a:gd name="T51" fmla="*/ 111 h 155"/>
                <a:gd name="T52" fmla="*/ 88 w 88"/>
                <a:gd name="T53" fmla="*/ 81 h 155"/>
                <a:gd name="T54" fmla="*/ 81 w 88"/>
                <a:gd name="T55" fmla="*/ 59 h 155"/>
                <a:gd name="T56" fmla="*/ 66 w 88"/>
                <a:gd name="T57" fmla="*/ 52 h 155"/>
                <a:gd name="T58" fmla="*/ 51 w 88"/>
                <a:gd name="T59" fmla="*/ 59 h 155"/>
                <a:gd name="T60" fmla="*/ 44 w 88"/>
                <a:gd name="T61" fmla="*/ 66 h 155"/>
                <a:gd name="T62" fmla="*/ 29 w 88"/>
                <a:gd name="T63" fmla="*/ 88 h 155"/>
                <a:gd name="T64" fmla="*/ 29 w 88"/>
                <a:gd name="T65" fmla="*/ 88 h 155"/>
                <a:gd name="T66" fmla="*/ 44 w 88"/>
                <a:gd name="T67" fmla="*/ 44 h 155"/>
                <a:gd name="T68" fmla="*/ 51 w 88"/>
                <a:gd name="T69" fmla="*/ 0 h 155"/>
                <a:gd name="T70" fmla="*/ 44 w 88"/>
                <a:gd name="T71" fmla="*/ 0 h 155"/>
                <a:gd name="T72" fmla="*/ 29 w 88"/>
                <a:gd name="T73" fmla="*/ 8 h 155"/>
                <a:gd name="T74" fmla="*/ 14 w 88"/>
                <a:gd name="T75" fmla="*/ 8 h 155"/>
                <a:gd name="T76" fmla="*/ 14 w 88"/>
                <a:gd name="T77" fmla="*/ 8 h 1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88"/>
                <a:gd name="T118" fmla="*/ 0 h 155"/>
                <a:gd name="T119" fmla="*/ 88 w 88"/>
                <a:gd name="T120" fmla="*/ 155 h 1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88" h="155">
                  <a:moveTo>
                    <a:pt x="73" y="81"/>
                  </a:moveTo>
                  <a:lnTo>
                    <a:pt x="73" y="103"/>
                  </a:lnTo>
                  <a:lnTo>
                    <a:pt x="59" y="125"/>
                  </a:lnTo>
                  <a:lnTo>
                    <a:pt x="44" y="140"/>
                  </a:lnTo>
                  <a:lnTo>
                    <a:pt x="22" y="147"/>
                  </a:lnTo>
                  <a:lnTo>
                    <a:pt x="14" y="147"/>
                  </a:lnTo>
                  <a:lnTo>
                    <a:pt x="14" y="140"/>
                  </a:lnTo>
                  <a:lnTo>
                    <a:pt x="22" y="118"/>
                  </a:lnTo>
                  <a:lnTo>
                    <a:pt x="29" y="96"/>
                  </a:lnTo>
                  <a:lnTo>
                    <a:pt x="44" y="74"/>
                  </a:lnTo>
                  <a:lnTo>
                    <a:pt x="59" y="66"/>
                  </a:lnTo>
                  <a:lnTo>
                    <a:pt x="73" y="74"/>
                  </a:lnTo>
                  <a:lnTo>
                    <a:pt x="73" y="81"/>
                  </a:lnTo>
                  <a:close/>
                  <a:moveTo>
                    <a:pt x="14" y="8"/>
                  </a:moveTo>
                  <a:lnTo>
                    <a:pt x="29" y="15"/>
                  </a:lnTo>
                  <a:lnTo>
                    <a:pt x="29" y="22"/>
                  </a:lnTo>
                  <a:lnTo>
                    <a:pt x="22" y="30"/>
                  </a:lnTo>
                  <a:lnTo>
                    <a:pt x="0" y="140"/>
                  </a:lnTo>
                  <a:lnTo>
                    <a:pt x="7" y="147"/>
                  </a:lnTo>
                  <a:lnTo>
                    <a:pt x="22" y="155"/>
                  </a:lnTo>
                  <a:lnTo>
                    <a:pt x="51" y="147"/>
                  </a:lnTo>
                  <a:lnTo>
                    <a:pt x="66" y="133"/>
                  </a:lnTo>
                  <a:lnTo>
                    <a:pt x="81" y="111"/>
                  </a:lnTo>
                  <a:lnTo>
                    <a:pt x="88" y="81"/>
                  </a:lnTo>
                  <a:lnTo>
                    <a:pt x="81" y="59"/>
                  </a:lnTo>
                  <a:lnTo>
                    <a:pt x="66" y="52"/>
                  </a:lnTo>
                  <a:lnTo>
                    <a:pt x="51" y="59"/>
                  </a:lnTo>
                  <a:lnTo>
                    <a:pt x="44" y="66"/>
                  </a:lnTo>
                  <a:lnTo>
                    <a:pt x="29" y="88"/>
                  </a:lnTo>
                  <a:lnTo>
                    <a:pt x="44" y="44"/>
                  </a:lnTo>
                  <a:lnTo>
                    <a:pt x="51" y="0"/>
                  </a:lnTo>
                  <a:lnTo>
                    <a:pt x="44" y="0"/>
                  </a:lnTo>
                  <a:lnTo>
                    <a:pt x="29" y="8"/>
                  </a:lnTo>
                  <a:lnTo>
                    <a:pt x="14" y="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2" name="Freeform 34"/>
            <p:cNvSpPr>
              <a:spLocks noChangeAspect="1"/>
            </p:cNvSpPr>
            <p:nvPr/>
          </p:nvSpPr>
          <p:spPr bwMode="auto">
            <a:xfrm>
              <a:off x="3744" y="1766"/>
              <a:ext cx="1655" cy="1"/>
            </a:xfrm>
            <a:custGeom>
              <a:avLst/>
              <a:gdLst>
                <a:gd name="T0" fmla="*/ 1655 w 1655"/>
                <a:gd name="T1" fmla="*/ 0 h 1"/>
                <a:gd name="T2" fmla="*/ 0 w 1655"/>
                <a:gd name="T3" fmla="*/ 0 h 1"/>
                <a:gd name="T4" fmla="*/ 1655 w 1655"/>
                <a:gd name="T5" fmla="*/ 0 h 1"/>
                <a:gd name="T6" fmla="*/ 1655 w 1655"/>
                <a:gd name="T7" fmla="*/ 0 h 1"/>
                <a:gd name="T8" fmla="*/ 0 60000 65536"/>
                <a:gd name="T9" fmla="*/ 0 60000 65536"/>
                <a:gd name="T10" fmla="*/ 0 60000 65536"/>
                <a:gd name="T11" fmla="*/ 0 60000 65536"/>
                <a:gd name="T12" fmla="*/ 0 w 1655"/>
                <a:gd name="T13" fmla="*/ 0 h 1"/>
                <a:gd name="T14" fmla="*/ 1655 w 1655"/>
                <a:gd name="T15" fmla="*/ 1 h 1"/>
              </a:gdLst>
              <a:ahLst/>
              <a:cxnLst>
                <a:cxn ang="T8">
                  <a:pos x="T0" y="T1"/>
                </a:cxn>
                <a:cxn ang="T9">
                  <a:pos x="T2" y="T3"/>
                </a:cxn>
                <a:cxn ang="T10">
                  <a:pos x="T4" y="T5"/>
                </a:cxn>
                <a:cxn ang="T11">
                  <a:pos x="T6" y="T7"/>
                </a:cxn>
              </a:cxnLst>
              <a:rect l="T12" t="T13" r="T14" b="T15"/>
              <a:pathLst>
                <a:path w="1655" h="1">
                  <a:moveTo>
                    <a:pt x="1655" y="0"/>
                  </a:moveTo>
                  <a:lnTo>
                    <a:pt x="0" y="0"/>
                  </a:lnTo>
                  <a:lnTo>
                    <a:pt x="1655"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3" name="Freeform 35"/>
            <p:cNvSpPr>
              <a:spLocks noChangeAspect="1" noEditPoints="1"/>
            </p:cNvSpPr>
            <p:nvPr/>
          </p:nvSpPr>
          <p:spPr bwMode="auto">
            <a:xfrm>
              <a:off x="3744" y="1766"/>
              <a:ext cx="1" cy="1065"/>
            </a:xfrm>
            <a:custGeom>
              <a:avLst/>
              <a:gdLst>
                <a:gd name="T0" fmla="*/ 0 w 1"/>
                <a:gd name="T1" fmla="*/ 0 h 1065"/>
                <a:gd name="T2" fmla="*/ 0 w 1"/>
                <a:gd name="T3" fmla="*/ 1065 h 1065"/>
                <a:gd name="T4" fmla="*/ 0 w 1"/>
                <a:gd name="T5" fmla="*/ 0 h 1065"/>
                <a:gd name="T6" fmla="*/ 0 w 1"/>
                <a:gd name="T7" fmla="*/ 0 h 1065"/>
                <a:gd name="T8" fmla="*/ 0 w 1"/>
                <a:gd name="T9" fmla="*/ 0 h 1065"/>
                <a:gd name="T10" fmla="*/ 0 w 1"/>
                <a:gd name="T11" fmla="*/ 0 h 1065"/>
                <a:gd name="T12" fmla="*/ 0 w 1"/>
                <a:gd name="T13" fmla="*/ 0 h 1065"/>
                <a:gd name="T14" fmla="*/ 0 60000 65536"/>
                <a:gd name="T15" fmla="*/ 0 60000 65536"/>
                <a:gd name="T16" fmla="*/ 0 60000 65536"/>
                <a:gd name="T17" fmla="*/ 0 60000 65536"/>
                <a:gd name="T18" fmla="*/ 0 60000 65536"/>
                <a:gd name="T19" fmla="*/ 0 60000 65536"/>
                <a:gd name="T20" fmla="*/ 0 60000 65536"/>
                <a:gd name="T21" fmla="*/ 0 w 1"/>
                <a:gd name="T22" fmla="*/ 0 h 1065"/>
                <a:gd name="T23" fmla="*/ 1 w 1"/>
                <a:gd name="T24" fmla="*/ 1065 h 10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65">
                  <a:moveTo>
                    <a:pt x="0" y="0"/>
                  </a:moveTo>
                  <a:lnTo>
                    <a:pt x="0" y="106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4" name="Freeform 36"/>
            <p:cNvSpPr>
              <a:spLocks noChangeAspect="1" noEditPoints="1"/>
            </p:cNvSpPr>
            <p:nvPr/>
          </p:nvSpPr>
          <p:spPr bwMode="auto">
            <a:xfrm>
              <a:off x="3744" y="2831"/>
              <a:ext cx="1655" cy="1"/>
            </a:xfrm>
            <a:custGeom>
              <a:avLst/>
              <a:gdLst>
                <a:gd name="T0" fmla="*/ 0 w 1655"/>
                <a:gd name="T1" fmla="*/ 0 h 1"/>
                <a:gd name="T2" fmla="*/ 1655 w 1655"/>
                <a:gd name="T3" fmla="*/ 0 h 1"/>
                <a:gd name="T4" fmla="*/ 0 w 1655"/>
                <a:gd name="T5" fmla="*/ 0 h 1"/>
                <a:gd name="T6" fmla="*/ 0 w 1655"/>
                <a:gd name="T7" fmla="*/ 0 h 1"/>
                <a:gd name="T8" fmla="*/ 0 w 1655"/>
                <a:gd name="T9" fmla="*/ 0 h 1"/>
                <a:gd name="T10" fmla="*/ 0 w 1655"/>
                <a:gd name="T11" fmla="*/ 0 h 1"/>
                <a:gd name="T12" fmla="*/ 0 w 1655"/>
                <a:gd name="T13" fmla="*/ 0 h 1"/>
                <a:gd name="T14" fmla="*/ 0 60000 65536"/>
                <a:gd name="T15" fmla="*/ 0 60000 65536"/>
                <a:gd name="T16" fmla="*/ 0 60000 65536"/>
                <a:gd name="T17" fmla="*/ 0 60000 65536"/>
                <a:gd name="T18" fmla="*/ 0 60000 65536"/>
                <a:gd name="T19" fmla="*/ 0 60000 65536"/>
                <a:gd name="T20" fmla="*/ 0 60000 65536"/>
                <a:gd name="T21" fmla="*/ 0 w 1655"/>
                <a:gd name="T22" fmla="*/ 0 h 1"/>
                <a:gd name="T23" fmla="*/ 1655 w 165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5" h="1">
                  <a:moveTo>
                    <a:pt x="0" y="0"/>
                  </a:moveTo>
                  <a:lnTo>
                    <a:pt x="1655"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5" name="Freeform 37"/>
            <p:cNvSpPr>
              <a:spLocks noChangeAspect="1" noEditPoints="1"/>
            </p:cNvSpPr>
            <p:nvPr/>
          </p:nvSpPr>
          <p:spPr bwMode="auto">
            <a:xfrm>
              <a:off x="3362" y="2221"/>
              <a:ext cx="44" cy="147"/>
            </a:xfrm>
            <a:custGeom>
              <a:avLst/>
              <a:gdLst>
                <a:gd name="T0" fmla="*/ 37 w 44"/>
                <a:gd name="T1" fmla="*/ 118 h 147"/>
                <a:gd name="T2" fmla="*/ 29 w 44"/>
                <a:gd name="T3" fmla="*/ 132 h 147"/>
                <a:gd name="T4" fmla="*/ 22 w 44"/>
                <a:gd name="T5" fmla="*/ 140 h 147"/>
                <a:gd name="T6" fmla="*/ 14 w 44"/>
                <a:gd name="T7" fmla="*/ 140 h 147"/>
                <a:gd name="T8" fmla="*/ 14 w 44"/>
                <a:gd name="T9" fmla="*/ 132 h 147"/>
                <a:gd name="T10" fmla="*/ 22 w 44"/>
                <a:gd name="T11" fmla="*/ 125 h 147"/>
                <a:gd name="T12" fmla="*/ 22 w 44"/>
                <a:gd name="T13" fmla="*/ 118 h 147"/>
                <a:gd name="T14" fmla="*/ 37 w 44"/>
                <a:gd name="T15" fmla="*/ 52 h 147"/>
                <a:gd name="T16" fmla="*/ 37 w 44"/>
                <a:gd name="T17" fmla="*/ 52 h 147"/>
                <a:gd name="T18" fmla="*/ 22 w 44"/>
                <a:gd name="T19" fmla="*/ 52 h 147"/>
                <a:gd name="T20" fmla="*/ 7 w 44"/>
                <a:gd name="T21" fmla="*/ 52 h 147"/>
                <a:gd name="T22" fmla="*/ 7 w 44"/>
                <a:gd name="T23" fmla="*/ 59 h 147"/>
                <a:gd name="T24" fmla="*/ 14 w 44"/>
                <a:gd name="T25" fmla="*/ 59 h 147"/>
                <a:gd name="T26" fmla="*/ 14 w 44"/>
                <a:gd name="T27" fmla="*/ 66 h 147"/>
                <a:gd name="T28" fmla="*/ 14 w 44"/>
                <a:gd name="T29" fmla="*/ 74 h 147"/>
                <a:gd name="T30" fmla="*/ 7 w 44"/>
                <a:gd name="T31" fmla="*/ 96 h 147"/>
                <a:gd name="T32" fmla="*/ 0 w 44"/>
                <a:gd name="T33" fmla="*/ 118 h 147"/>
                <a:gd name="T34" fmla="*/ 0 w 44"/>
                <a:gd name="T35" fmla="*/ 132 h 147"/>
                <a:gd name="T36" fmla="*/ 0 w 44"/>
                <a:gd name="T37" fmla="*/ 140 h 147"/>
                <a:gd name="T38" fmla="*/ 7 w 44"/>
                <a:gd name="T39" fmla="*/ 147 h 147"/>
                <a:gd name="T40" fmla="*/ 22 w 44"/>
                <a:gd name="T41" fmla="*/ 140 h 147"/>
                <a:gd name="T42" fmla="*/ 37 w 44"/>
                <a:gd name="T43" fmla="*/ 125 h 147"/>
                <a:gd name="T44" fmla="*/ 37 w 44"/>
                <a:gd name="T45" fmla="*/ 118 h 147"/>
                <a:gd name="T46" fmla="*/ 44 w 44"/>
                <a:gd name="T47" fmla="*/ 15 h 147"/>
                <a:gd name="T48" fmla="*/ 44 w 44"/>
                <a:gd name="T49" fmla="*/ 8 h 147"/>
                <a:gd name="T50" fmla="*/ 37 w 44"/>
                <a:gd name="T51" fmla="*/ 0 h 147"/>
                <a:gd name="T52" fmla="*/ 29 w 44"/>
                <a:gd name="T53" fmla="*/ 8 h 147"/>
                <a:gd name="T54" fmla="*/ 22 w 44"/>
                <a:gd name="T55" fmla="*/ 15 h 147"/>
                <a:gd name="T56" fmla="*/ 29 w 44"/>
                <a:gd name="T57" fmla="*/ 22 h 147"/>
                <a:gd name="T58" fmla="*/ 37 w 44"/>
                <a:gd name="T59" fmla="*/ 22 h 147"/>
                <a:gd name="T60" fmla="*/ 44 w 44"/>
                <a:gd name="T61" fmla="*/ 22 h 147"/>
                <a:gd name="T62" fmla="*/ 44 w 44"/>
                <a:gd name="T63" fmla="*/ 15 h 147"/>
                <a:gd name="T64" fmla="*/ 44 w 44"/>
                <a:gd name="T65" fmla="*/ 15 h 1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
                <a:gd name="T100" fmla="*/ 0 h 147"/>
                <a:gd name="T101" fmla="*/ 44 w 44"/>
                <a:gd name="T102" fmla="*/ 147 h 1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 h="147">
                  <a:moveTo>
                    <a:pt x="37" y="118"/>
                  </a:moveTo>
                  <a:lnTo>
                    <a:pt x="29" y="132"/>
                  </a:lnTo>
                  <a:lnTo>
                    <a:pt x="22" y="140"/>
                  </a:lnTo>
                  <a:lnTo>
                    <a:pt x="14" y="140"/>
                  </a:lnTo>
                  <a:lnTo>
                    <a:pt x="14" y="132"/>
                  </a:lnTo>
                  <a:lnTo>
                    <a:pt x="22" y="125"/>
                  </a:lnTo>
                  <a:lnTo>
                    <a:pt x="22" y="118"/>
                  </a:lnTo>
                  <a:lnTo>
                    <a:pt x="37" y="52"/>
                  </a:lnTo>
                  <a:lnTo>
                    <a:pt x="22" y="52"/>
                  </a:lnTo>
                  <a:lnTo>
                    <a:pt x="7" y="52"/>
                  </a:lnTo>
                  <a:lnTo>
                    <a:pt x="7" y="59"/>
                  </a:lnTo>
                  <a:lnTo>
                    <a:pt x="14" y="59"/>
                  </a:lnTo>
                  <a:lnTo>
                    <a:pt x="14" y="66"/>
                  </a:lnTo>
                  <a:lnTo>
                    <a:pt x="14" y="74"/>
                  </a:lnTo>
                  <a:lnTo>
                    <a:pt x="7" y="96"/>
                  </a:lnTo>
                  <a:lnTo>
                    <a:pt x="0" y="118"/>
                  </a:lnTo>
                  <a:lnTo>
                    <a:pt x="0" y="132"/>
                  </a:lnTo>
                  <a:lnTo>
                    <a:pt x="0" y="140"/>
                  </a:lnTo>
                  <a:lnTo>
                    <a:pt x="7" y="147"/>
                  </a:lnTo>
                  <a:lnTo>
                    <a:pt x="22" y="140"/>
                  </a:lnTo>
                  <a:lnTo>
                    <a:pt x="37" y="125"/>
                  </a:lnTo>
                  <a:lnTo>
                    <a:pt x="37" y="118"/>
                  </a:lnTo>
                  <a:close/>
                  <a:moveTo>
                    <a:pt x="44" y="15"/>
                  </a:moveTo>
                  <a:lnTo>
                    <a:pt x="44" y="8"/>
                  </a:lnTo>
                  <a:lnTo>
                    <a:pt x="37" y="0"/>
                  </a:lnTo>
                  <a:lnTo>
                    <a:pt x="29" y="8"/>
                  </a:lnTo>
                  <a:lnTo>
                    <a:pt x="22" y="15"/>
                  </a:lnTo>
                  <a:lnTo>
                    <a:pt x="29" y="22"/>
                  </a:lnTo>
                  <a:lnTo>
                    <a:pt x="37" y="22"/>
                  </a:lnTo>
                  <a:lnTo>
                    <a:pt x="44" y="22"/>
                  </a:lnTo>
                  <a:lnTo>
                    <a:pt x="44" y="1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6" name="Freeform 38"/>
            <p:cNvSpPr>
              <a:spLocks noChangeAspect="1"/>
            </p:cNvSpPr>
            <p:nvPr/>
          </p:nvSpPr>
          <p:spPr bwMode="auto">
            <a:xfrm>
              <a:off x="3413" y="2346"/>
              <a:ext cx="52" cy="81"/>
            </a:xfrm>
            <a:custGeom>
              <a:avLst/>
              <a:gdLst>
                <a:gd name="T0" fmla="*/ 0 w 52"/>
                <a:gd name="T1" fmla="*/ 52 h 81"/>
                <a:gd name="T2" fmla="*/ 0 w 52"/>
                <a:gd name="T3" fmla="*/ 81 h 81"/>
                <a:gd name="T4" fmla="*/ 0 w 52"/>
                <a:gd name="T5" fmla="*/ 81 h 81"/>
                <a:gd name="T6" fmla="*/ 8 w 52"/>
                <a:gd name="T7" fmla="*/ 74 h 81"/>
                <a:gd name="T8" fmla="*/ 8 w 52"/>
                <a:gd name="T9" fmla="*/ 74 h 81"/>
                <a:gd name="T10" fmla="*/ 15 w 52"/>
                <a:gd name="T11" fmla="*/ 81 h 81"/>
                <a:gd name="T12" fmla="*/ 22 w 52"/>
                <a:gd name="T13" fmla="*/ 81 h 81"/>
                <a:gd name="T14" fmla="*/ 37 w 52"/>
                <a:gd name="T15" fmla="*/ 74 h 81"/>
                <a:gd name="T16" fmla="*/ 44 w 52"/>
                <a:gd name="T17" fmla="*/ 59 h 81"/>
                <a:gd name="T18" fmla="*/ 44 w 52"/>
                <a:gd name="T19" fmla="*/ 52 h 81"/>
                <a:gd name="T20" fmla="*/ 37 w 52"/>
                <a:gd name="T21" fmla="*/ 37 h 81"/>
                <a:gd name="T22" fmla="*/ 30 w 52"/>
                <a:gd name="T23" fmla="*/ 29 h 81"/>
                <a:gd name="T24" fmla="*/ 22 w 52"/>
                <a:gd name="T25" fmla="*/ 15 h 81"/>
                <a:gd name="T26" fmla="*/ 30 w 52"/>
                <a:gd name="T27" fmla="*/ 7 h 81"/>
                <a:gd name="T28" fmla="*/ 37 w 52"/>
                <a:gd name="T29" fmla="*/ 7 h 81"/>
                <a:gd name="T30" fmla="*/ 44 w 52"/>
                <a:gd name="T31" fmla="*/ 15 h 81"/>
                <a:gd name="T32" fmla="*/ 52 w 52"/>
                <a:gd name="T33" fmla="*/ 29 h 81"/>
                <a:gd name="T34" fmla="*/ 52 w 52"/>
                <a:gd name="T35" fmla="*/ 29 h 81"/>
                <a:gd name="T36" fmla="*/ 52 w 52"/>
                <a:gd name="T37" fmla="*/ 0 h 81"/>
                <a:gd name="T38" fmla="*/ 52 w 52"/>
                <a:gd name="T39" fmla="*/ 0 h 81"/>
                <a:gd name="T40" fmla="*/ 52 w 52"/>
                <a:gd name="T41" fmla="*/ 7 h 81"/>
                <a:gd name="T42" fmla="*/ 52 w 52"/>
                <a:gd name="T43" fmla="*/ 7 h 81"/>
                <a:gd name="T44" fmla="*/ 44 w 52"/>
                <a:gd name="T45" fmla="*/ 7 h 81"/>
                <a:gd name="T46" fmla="*/ 30 w 52"/>
                <a:gd name="T47" fmla="*/ 0 h 81"/>
                <a:gd name="T48" fmla="*/ 15 w 52"/>
                <a:gd name="T49" fmla="*/ 7 h 81"/>
                <a:gd name="T50" fmla="*/ 15 w 52"/>
                <a:gd name="T51" fmla="*/ 22 h 81"/>
                <a:gd name="T52" fmla="*/ 22 w 52"/>
                <a:gd name="T53" fmla="*/ 44 h 81"/>
                <a:gd name="T54" fmla="*/ 30 w 52"/>
                <a:gd name="T55" fmla="*/ 59 h 81"/>
                <a:gd name="T56" fmla="*/ 30 w 52"/>
                <a:gd name="T57" fmla="*/ 66 h 81"/>
                <a:gd name="T58" fmla="*/ 22 w 52"/>
                <a:gd name="T59" fmla="*/ 74 h 81"/>
                <a:gd name="T60" fmla="*/ 8 w 52"/>
                <a:gd name="T61" fmla="*/ 66 h 81"/>
                <a:gd name="T62" fmla="*/ 8 w 52"/>
                <a:gd name="T63" fmla="*/ 52 h 81"/>
                <a:gd name="T64" fmla="*/ 0 w 52"/>
                <a:gd name="T65" fmla="*/ 52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
                <a:gd name="T100" fmla="*/ 0 h 81"/>
                <a:gd name="T101" fmla="*/ 52 w 52"/>
                <a:gd name="T102" fmla="*/ 81 h 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 h="81">
                  <a:moveTo>
                    <a:pt x="0" y="52"/>
                  </a:moveTo>
                  <a:lnTo>
                    <a:pt x="0" y="81"/>
                  </a:lnTo>
                  <a:lnTo>
                    <a:pt x="8" y="74"/>
                  </a:lnTo>
                  <a:lnTo>
                    <a:pt x="15" y="81"/>
                  </a:lnTo>
                  <a:lnTo>
                    <a:pt x="22" y="81"/>
                  </a:lnTo>
                  <a:lnTo>
                    <a:pt x="37" y="74"/>
                  </a:lnTo>
                  <a:lnTo>
                    <a:pt x="44" y="59"/>
                  </a:lnTo>
                  <a:lnTo>
                    <a:pt x="44" y="52"/>
                  </a:lnTo>
                  <a:lnTo>
                    <a:pt x="37" y="37"/>
                  </a:lnTo>
                  <a:lnTo>
                    <a:pt x="30" y="29"/>
                  </a:lnTo>
                  <a:lnTo>
                    <a:pt x="22" y="15"/>
                  </a:lnTo>
                  <a:lnTo>
                    <a:pt x="30" y="7"/>
                  </a:lnTo>
                  <a:lnTo>
                    <a:pt x="37" y="7"/>
                  </a:lnTo>
                  <a:lnTo>
                    <a:pt x="44" y="15"/>
                  </a:lnTo>
                  <a:lnTo>
                    <a:pt x="52" y="29"/>
                  </a:lnTo>
                  <a:lnTo>
                    <a:pt x="52" y="0"/>
                  </a:lnTo>
                  <a:lnTo>
                    <a:pt x="52" y="7"/>
                  </a:lnTo>
                  <a:lnTo>
                    <a:pt x="44" y="7"/>
                  </a:lnTo>
                  <a:lnTo>
                    <a:pt x="30" y="0"/>
                  </a:lnTo>
                  <a:lnTo>
                    <a:pt x="15" y="7"/>
                  </a:lnTo>
                  <a:lnTo>
                    <a:pt x="15" y="22"/>
                  </a:lnTo>
                  <a:lnTo>
                    <a:pt x="22" y="44"/>
                  </a:lnTo>
                  <a:lnTo>
                    <a:pt x="30" y="59"/>
                  </a:lnTo>
                  <a:lnTo>
                    <a:pt x="30" y="66"/>
                  </a:lnTo>
                  <a:lnTo>
                    <a:pt x="22" y="74"/>
                  </a:lnTo>
                  <a:lnTo>
                    <a:pt x="8" y="66"/>
                  </a:lnTo>
                  <a:lnTo>
                    <a:pt x="8" y="52"/>
                  </a:lnTo>
                  <a:lnTo>
                    <a:pt x="0"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7" name="Freeform 39"/>
            <p:cNvSpPr>
              <a:spLocks noChangeAspect="1" noEditPoints="1"/>
            </p:cNvSpPr>
            <p:nvPr/>
          </p:nvSpPr>
          <p:spPr bwMode="auto">
            <a:xfrm>
              <a:off x="5142" y="2229"/>
              <a:ext cx="125" cy="139"/>
            </a:xfrm>
            <a:custGeom>
              <a:avLst/>
              <a:gdLst>
                <a:gd name="T0" fmla="*/ 117 w 125"/>
                <a:gd name="T1" fmla="*/ 139 h 139"/>
                <a:gd name="T2" fmla="*/ 110 w 125"/>
                <a:gd name="T3" fmla="*/ 132 h 139"/>
                <a:gd name="T4" fmla="*/ 103 w 125"/>
                <a:gd name="T5" fmla="*/ 117 h 139"/>
                <a:gd name="T6" fmla="*/ 81 w 125"/>
                <a:gd name="T7" fmla="*/ 66 h 139"/>
                <a:gd name="T8" fmla="*/ 117 w 125"/>
                <a:gd name="T9" fmla="*/ 51 h 139"/>
                <a:gd name="T10" fmla="*/ 125 w 125"/>
                <a:gd name="T11" fmla="*/ 29 h 139"/>
                <a:gd name="T12" fmla="*/ 117 w 125"/>
                <a:gd name="T13" fmla="*/ 14 h 139"/>
                <a:gd name="T14" fmla="*/ 103 w 125"/>
                <a:gd name="T15" fmla="*/ 7 h 139"/>
                <a:gd name="T16" fmla="*/ 88 w 125"/>
                <a:gd name="T17" fmla="*/ 0 h 139"/>
                <a:gd name="T18" fmla="*/ 81 w 125"/>
                <a:gd name="T19" fmla="*/ 0 h 139"/>
                <a:gd name="T20" fmla="*/ 29 w 125"/>
                <a:gd name="T21" fmla="*/ 0 h 139"/>
                <a:gd name="T22" fmla="*/ 29 w 125"/>
                <a:gd name="T23" fmla="*/ 0 h 139"/>
                <a:gd name="T24" fmla="*/ 37 w 125"/>
                <a:gd name="T25" fmla="*/ 0 h 139"/>
                <a:gd name="T26" fmla="*/ 44 w 125"/>
                <a:gd name="T27" fmla="*/ 7 h 139"/>
                <a:gd name="T28" fmla="*/ 44 w 125"/>
                <a:gd name="T29" fmla="*/ 14 h 139"/>
                <a:gd name="T30" fmla="*/ 44 w 125"/>
                <a:gd name="T31" fmla="*/ 22 h 139"/>
                <a:gd name="T32" fmla="*/ 14 w 125"/>
                <a:gd name="T33" fmla="*/ 117 h 139"/>
                <a:gd name="T34" fmla="*/ 7 w 125"/>
                <a:gd name="T35" fmla="*/ 132 h 139"/>
                <a:gd name="T36" fmla="*/ 0 w 125"/>
                <a:gd name="T37" fmla="*/ 139 h 139"/>
                <a:gd name="T38" fmla="*/ 0 w 125"/>
                <a:gd name="T39" fmla="*/ 139 h 139"/>
                <a:gd name="T40" fmla="*/ 51 w 125"/>
                <a:gd name="T41" fmla="*/ 139 h 139"/>
                <a:gd name="T42" fmla="*/ 51 w 125"/>
                <a:gd name="T43" fmla="*/ 139 h 139"/>
                <a:gd name="T44" fmla="*/ 37 w 125"/>
                <a:gd name="T45" fmla="*/ 132 h 139"/>
                <a:gd name="T46" fmla="*/ 37 w 125"/>
                <a:gd name="T47" fmla="*/ 124 h 139"/>
                <a:gd name="T48" fmla="*/ 37 w 125"/>
                <a:gd name="T49" fmla="*/ 124 h 139"/>
                <a:gd name="T50" fmla="*/ 37 w 125"/>
                <a:gd name="T51" fmla="*/ 110 h 139"/>
                <a:gd name="T52" fmla="*/ 51 w 125"/>
                <a:gd name="T53" fmla="*/ 66 h 139"/>
                <a:gd name="T54" fmla="*/ 66 w 125"/>
                <a:gd name="T55" fmla="*/ 66 h 139"/>
                <a:gd name="T56" fmla="*/ 88 w 125"/>
                <a:gd name="T57" fmla="*/ 139 h 139"/>
                <a:gd name="T58" fmla="*/ 117 w 125"/>
                <a:gd name="T59" fmla="*/ 139 h 139"/>
                <a:gd name="T60" fmla="*/ 117 w 125"/>
                <a:gd name="T61" fmla="*/ 139 h 139"/>
                <a:gd name="T62" fmla="*/ 66 w 125"/>
                <a:gd name="T63" fmla="*/ 7 h 139"/>
                <a:gd name="T64" fmla="*/ 66 w 125"/>
                <a:gd name="T65" fmla="*/ 7 h 139"/>
                <a:gd name="T66" fmla="*/ 73 w 125"/>
                <a:gd name="T67" fmla="*/ 0 h 139"/>
                <a:gd name="T68" fmla="*/ 95 w 125"/>
                <a:gd name="T69" fmla="*/ 7 h 139"/>
                <a:gd name="T70" fmla="*/ 103 w 125"/>
                <a:gd name="T71" fmla="*/ 29 h 139"/>
                <a:gd name="T72" fmla="*/ 95 w 125"/>
                <a:gd name="T73" fmla="*/ 51 h 139"/>
                <a:gd name="T74" fmla="*/ 88 w 125"/>
                <a:gd name="T75" fmla="*/ 58 h 139"/>
                <a:gd name="T76" fmla="*/ 66 w 125"/>
                <a:gd name="T77" fmla="*/ 58 h 139"/>
                <a:gd name="T78" fmla="*/ 59 w 125"/>
                <a:gd name="T79" fmla="*/ 58 h 139"/>
                <a:gd name="T80" fmla="*/ 51 w 125"/>
                <a:gd name="T81" fmla="*/ 58 h 139"/>
                <a:gd name="T82" fmla="*/ 66 w 125"/>
                <a:gd name="T83" fmla="*/ 7 h 1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25"/>
                <a:gd name="T127" fmla="*/ 0 h 139"/>
                <a:gd name="T128" fmla="*/ 125 w 125"/>
                <a:gd name="T129" fmla="*/ 139 h 1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25" h="139">
                  <a:moveTo>
                    <a:pt x="117" y="139"/>
                  </a:moveTo>
                  <a:lnTo>
                    <a:pt x="110" y="132"/>
                  </a:lnTo>
                  <a:lnTo>
                    <a:pt x="103" y="117"/>
                  </a:lnTo>
                  <a:lnTo>
                    <a:pt x="81" y="66"/>
                  </a:lnTo>
                  <a:lnTo>
                    <a:pt x="117" y="51"/>
                  </a:lnTo>
                  <a:lnTo>
                    <a:pt x="125" y="29"/>
                  </a:lnTo>
                  <a:lnTo>
                    <a:pt x="117" y="14"/>
                  </a:lnTo>
                  <a:lnTo>
                    <a:pt x="103" y="7"/>
                  </a:lnTo>
                  <a:lnTo>
                    <a:pt x="88" y="0"/>
                  </a:lnTo>
                  <a:lnTo>
                    <a:pt x="81" y="0"/>
                  </a:lnTo>
                  <a:lnTo>
                    <a:pt x="29" y="0"/>
                  </a:lnTo>
                  <a:lnTo>
                    <a:pt x="37" y="0"/>
                  </a:lnTo>
                  <a:lnTo>
                    <a:pt x="44" y="7"/>
                  </a:lnTo>
                  <a:lnTo>
                    <a:pt x="44" y="14"/>
                  </a:lnTo>
                  <a:lnTo>
                    <a:pt x="44" y="22"/>
                  </a:lnTo>
                  <a:lnTo>
                    <a:pt x="14" y="117"/>
                  </a:lnTo>
                  <a:lnTo>
                    <a:pt x="7" y="132"/>
                  </a:lnTo>
                  <a:lnTo>
                    <a:pt x="0" y="139"/>
                  </a:lnTo>
                  <a:lnTo>
                    <a:pt x="51" y="139"/>
                  </a:lnTo>
                  <a:lnTo>
                    <a:pt x="37" y="132"/>
                  </a:lnTo>
                  <a:lnTo>
                    <a:pt x="37" y="124"/>
                  </a:lnTo>
                  <a:lnTo>
                    <a:pt x="37" y="110"/>
                  </a:lnTo>
                  <a:lnTo>
                    <a:pt x="51" y="66"/>
                  </a:lnTo>
                  <a:lnTo>
                    <a:pt x="66" y="66"/>
                  </a:lnTo>
                  <a:lnTo>
                    <a:pt x="88" y="139"/>
                  </a:lnTo>
                  <a:lnTo>
                    <a:pt x="117" y="139"/>
                  </a:lnTo>
                  <a:close/>
                  <a:moveTo>
                    <a:pt x="66" y="7"/>
                  </a:moveTo>
                  <a:lnTo>
                    <a:pt x="66" y="7"/>
                  </a:lnTo>
                  <a:lnTo>
                    <a:pt x="73" y="0"/>
                  </a:lnTo>
                  <a:lnTo>
                    <a:pt x="95" y="7"/>
                  </a:lnTo>
                  <a:lnTo>
                    <a:pt x="103" y="29"/>
                  </a:lnTo>
                  <a:lnTo>
                    <a:pt x="95" y="51"/>
                  </a:lnTo>
                  <a:lnTo>
                    <a:pt x="88" y="58"/>
                  </a:lnTo>
                  <a:lnTo>
                    <a:pt x="66" y="58"/>
                  </a:lnTo>
                  <a:lnTo>
                    <a:pt x="59" y="58"/>
                  </a:lnTo>
                  <a:lnTo>
                    <a:pt x="51" y="58"/>
                  </a:lnTo>
                  <a:lnTo>
                    <a:pt x="66"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8" name="Freeform 40"/>
            <p:cNvSpPr>
              <a:spLocks noChangeAspect="1"/>
            </p:cNvSpPr>
            <p:nvPr/>
          </p:nvSpPr>
          <p:spPr bwMode="auto">
            <a:xfrm>
              <a:off x="5348" y="1722"/>
              <a:ext cx="95" cy="95"/>
            </a:xfrm>
            <a:custGeom>
              <a:avLst/>
              <a:gdLst>
                <a:gd name="T0" fmla="*/ 51 w 95"/>
                <a:gd name="T1" fmla="*/ 95 h 95"/>
                <a:gd name="T2" fmla="*/ 66 w 95"/>
                <a:gd name="T3" fmla="*/ 95 h 95"/>
                <a:gd name="T4" fmla="*/ 81 w 95"/>
                <a:gd name="T5" fmla="*/ 81 h 95"/>
                <a:gd name="T6" fmla="*/ 95 w 95"/>
                <a:gd name="T7" fmla="*/ 66 h 95"/>
                <a:gd name="T8" fmla="*/ 95 w 95"/>
                <a:gd name="T9" fmla="*/ 51 h 95"/>
                <a:gd name="T10" fmla="*/ 95 w 95"/>
                <a:gd name="T11" fmla="*/ 29 h 95"/>
                <a:gd name="T12" fmla="*/ 81 w 95"/>
                <a:gd name="T13" fmla="*/ 15 h 95"/>
                <a:gd name="T14" fmla="*/ 66 w 95"/>
                <a:gd name="T15" fmla="*/ 7 h 95"/>
                <a:gd name="T16" fmla="*/ 51 w 95"/>
                <a:gd name="T17" fmla="*/ 0 h 95"/>
                <a:gd name="T18" fmla="*/ 29 w 95"/>
                <a:gd name="T19" fmla="*/ 7 h 95"/>
                <a:gd name="T20" fmla="*/ 14 w 95"/>
                <a:gd name="T21" fmla="*/ 15 h 95"/>
                <a:gd name="T22" fmla="*/ 7 w 95"/>
                <a:gd name="T23" fmla="*/ 29 h 95"/>
                <a:gd name="T24" fmla="*/ 0 w 95"/>
                <a:gd name="T25" fmla="*/ 51 h 95"/>
                <a:gd name="T26" fmla="*/ 7 w 95"/>
                <a:gd name="T27" fmla="*/ 66 h 95"/>
                <a:gd name="T28" fmla="*/ 14 w 95"/>
                <a:gd name="T29" fmla="*/ 81 h 95"/>
                <a:gd name="T30" fmla="*/ 29 w 95"/>
                <a:gd name="T31" fmla="*/ 95 h 95"/>
                <a:gd name="T32" fmla="*/ 51 w 95"/>
                <a:gd name="T33" fmla="*/ 95 h 95"/>
                <a:gd name="T34" fmla="*/ 51 w 95"/>
                <a:gd name="T35" fmla="*/ 95 h 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5"/>
                <a:gd name="T55" fmla="*/ 0 h 95"/>
                <a:gd name="T56" fmla="*/ 95 w 95"/>
                <a:gd name="T57" fmla="*/ 95 h 9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5" h="95">
                  <a:moveTo>
                    <a:pt x="51" y="95"/>
                  </a:moveTo>
                  <a:lnTo>
                    <a:pt x="66" y="95"/>
                  </a:lnTo>
                  <a:lnTo>
                    <a:pt x="81" y="81"/>
                  </a:lnTo>
                  <a:lnTo>
                    <a:pt x="95" y="66"/>
                  </a:lnTo>
                  <a:lnTo>
                    <a:pt x="95" y="51"/>
                  </a:lnTo>
                  <a:lnTo>
                    <a:pt x="95" y="29"/>
                  </a:lnTo>
                  <a:lnTo>
                    <a:pt x="81" y="15"/>
                  </a:lnTo>
                  <a:lnTo>
                    <a:pt x="66" y="7"/>
                  </a:lnTo>
                  <a:lnTo>
                    <a:pt x="51" y="0"/>
                  </a:lnTo>
                  <a:lnTo>
                    <a:pt x="29" y="7"/>
                  </a:lnTo>
                  <a:lnTo>
                    <a:pt x="14" y="15"/>
                  </a:lnTo>
                  <a:lnTo>
                    <a:pt x="7" y="29"/>
                  </a:lnTo>
                  <a:lnTo>
                    <a:pt x="0" y="51"/>
                  </a:lnTo>
                  <a:lnTo>
                    <a:pt x="7" y="66"/>
                  </a:lnTo>
                  <a:lnTo>
                    <a:pt x="14" y="81"/>
                  </a:lnTo>
                  <a:lnTo>
                    <a:pt x="29" y="95"/>
                  </a:lnTo>
                  <a:lnTo>
                    <a:pt x="51" y="95"/>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49" name="Freeform 41"/>
            <p:cNvSpPr>
              <a:spLocks noChangeAspect="1"/>
            </p:cNvSpPr>
            <p:nvPr/>
          </p:nvSpPr>
          <p:spPr bwMode="auto">
            <a:xfrm>
              <a:off x="5399" y="1773"/>
              <a:ext cx="44" cy="44"/>
            </a:xfrm>
            <a:custGeom>
              <a:avLst/>
              <a:gdLst>
                <a:gd name="T0" fmla="*/ 0 w 44"/>
                <a:gd name="T1" fmla="*/ 44 h 44"/>
                <a:gd name="T2" fmla="*/ 15 w 44"/>
                <a:gd name="T3" fmla="*/ 44 h 44"/>
                <a:gd name="T4" fmla="*/ 30 w 44"/>
                <a:gd name="T5" fmla="*/ 30 h 44"/>
                <a:gd name="T6" fmla="*/ 44 w 44"/>
                <a:gd name="T7" fmla="*/ 15 h 44"/>
                <a:gd name="T8" fmla="*/ 44 w 44"/>
                <a:gd name="T9" fmla="*/ 0 h 44"/>
                <a:gd name="T10" fmla="*/ 44 w 44"/>
                <a:gd name="T11" fmla="*/ 0 h 44"/>
                <a:gd name="T12" fmla="*/ 44 w 44"/>
                <a:gd name="T13" fmla="*/ 15 h 44"/>
                <a:gd name="T14" fmla="*/ 30 w 44"/>
                <a:gd name="T15" fmla="*/ 30 h 44"/>
                <a:gd name="T16" fmla="*/ 15 w 44"/>
                <a:gd name="T17" fmla="*/ 44 h 44"/>
                <a:gd name="T18" fmla="*/ 0 w 44"/>
                <a:gd name="T19" fmla="*/ 44 h 44"/>
                <a:gd name="T20" fmla="*/ 0 w 44"/>
                <a:gd name="T21" fmla="*/ 44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0" y="44"/>
                  </a:moveTo>
                  <a:lnTo>
                    <a:pt x="15" y="44"/>
                  </a:lnTo>
                  <a:lnTo>
                    <a:pt x="30" y="30"/>
                  </a:lnTo>
                  <a:lnTo>
                    <a:pt x="44" y="15"/>
                  </a:lnTo>
                  <a:lnTo>
                    <a:pt x="44" y="0"/>
                  </a:lnTo>
                  <a:lnTo>
                    <a:pt x="44" y="15"/>
                  </a:lnTo>
                  <a:lnTo>
                    <a:pt x="30" y="30"/>
                  </a:lnTo>
                  <a:lnTo>
                    <a:pt x="15" y="44"/>
                  </a:lnTo>
                  <a:lnTo>
                    <a:pt x="0" y="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0" name="Freeform 42"/>
            <p:cNvSpPr>
              <a:spLocks noChangeAspect="1" noEditPoints="1"/>
            </p:cNvSpPr>
            <p:nvPr/>
          </p:nvSpPr>
          <p:spPr bwMode="auto">
            <a:xfrm>
              <a:off x="5399" y="1722"/>
              <a:ext cx="44" cy="51"/>
            </a:xfrm>
            <a:custGeom>
              <a:avLst/>
              <a:gdLst>
                <a:gd name="T0" fmla="*/ 44 w 44"/>
                <a:gd name="T1" fmla="*/ 51 h 51"/>
                <a:gd name="T2" fmla="*/ 44 w 44"/>
                <a:gd name="T3" fmla="*/ 29 h 51"/>
                <a:gd name="T4" fmla="*/ 30 w 44"/>
                <a:gd name="T5" fmla="*/ 15 h 51"/>
                <a:gd name="T6" fmla="*/ 15 w 44"/>
                <a:gd name="T7" fmla="*/ 7 h 51"/>
                <a:gd name="T8" fmla="*/ 0 w 44"/>
                <a:gd name="T9" fmla="*/ 0 h 51"/>
                <a:gd name="T10" fmla="*/ 0 w 44"/>
                <a:gd name="T11" fmla="*/ 0 h 51"/>
                <a:gd name="T12" fmla="*/ 15 w 44"/>
                <a:gd name="T13" fmla="*/ 7 h 51"/>
                <a:gd name="T14" fmla="*/ 30 w 44"/>
                <a:gd name="T15" fmla="*/ 15 h 51"/>
                <a:gd name="T16" fmla="*/ 44 w 44"/>
                <a:gd name="T17" fmla="*/ 29 h 51"/>
                <a:gd name="T18" fmla="*/ 44 w 44"/>
                <a:gd name="T19" fmla="*/ 51 h 51"/>
                <a:gd name="T20" fmla="*/ 44 w 44"/>
                <a:gd name="T21" fmla="*/ 51 h 51"/>
                <a:gd name="T22" fmla="*/ 44 w 44"/>
                <a:gd name="T23" fmla="*/ 51 h 51"/>
                <a:gd name="T24" fmla="*/ 44 w 44"/>
                <a:gd name="T25" fmla="*/ 51 h 51"/>
                <a:gd name="T26" fmla="*/ 44 w 44"/>
                <a:gd name="T27" fmla="*/ 51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51"/>
                <a:gd name="T44" fmla="*/ 44 w 44"/>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51">
                  <a:moveTo>
                    <a:pt x="44" y="51"/>
                  </a:moveTo>
                  <a:lnTo>
                    <a:pt x="44" y="29"/>
                  </a:lnTo>
                  <a:lnTo>
                    <a:pt x="30" y="15"/>
                  </a:lnTo>
                  <a:lnTo>
                    <a:pt x="15" y="7"/>
                  </a:lnTo>
                  <a:lnTo>
                    <a:pt x="0" y="0"/>
                  </a:lnTo>
                  <a:lnTo>
                    <a:pt x="15" y="7"/>
                  </a:lnTo>
                  <a:lnTo>
                    <a:pt x="30" y="15"/>
                  </a:lnTo>
                  <a:lnTo>
                    <a:pt x="44" y="29"/>
                  </a:lnTo>
                  <a:lnTo>
                    <a:pt x="44" y="51"/>
                  </a:lnTo>
                  <a:close/>
                  <a:moveTo>
                    <a:pt x="44" y="51"/>
                  </a:moveTo>
                  <a:lnTo>
                    <a:pt x="44"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1" name="Freeform 43"/>
            <p:cNvSpPr>
              <a:spLocks noChangeAspect="1" noEditPoints="1"/>
            </p:cNvSpPr>
            <p:nvPr/>
          </p:nvSpPr>
          <p:spPr bwMode="auto">
            <a:xfrm>
              <a:off x="5348" y="1722"/>
              <a:ext cx="51" cy="51"/>
            </a:xfrm>
            <a:custGeom>
              <a:avLst/>
              <a:gdLst>
                <a:gd name="T0" fmla="*/ 51 w 51"/>
                <a:gd name="T1" fmla="*/ 0 h 51"/>
                <a:gd name="T2" fmla="*/ 29 w 51"/>
                <a:gd name="T3" fmla="*/ 7 h 51"/>
                <a:gd name="T4" fmla="*/ 14 w 51"/>
                <a:gd name="T5" fmla="*/ 15 h 51"/>
                <a:gd name="T6" fmla="*/ 7 w 51"/>
                <a:gd name="T7" fmla="*/ 29 h 51"/>
                <a:gd name="T8" fmla="*/ 0 w 51"/>
                <a:gd name="T9" fmla="*/ 51 h 51"/>
                <a:gd name="T10" fmla="*/ 0 w 51"/>
                <a:gd name="T11" fmla="*/ 51 h 51"/>
                <a:gd name="T12" fmla="*/ 7 w 51"/>
                <a:gd name="T13" fmla="*/ 29 h 51"/>
                <a:gd name="T14" fmla="*/ 14 w 51"/>
                <a:gd name="T15" fmla="*/ 15 h 51"/>
                <a:gd name="T16" fmla="*/ 29 w 51"/>
                <a:gd name="T17" fmla="*/ 7 h 51"/>
                <a:gd name="T18" fmla="*/ 51 w 51"/>
                <a:gd name="T19" fmla="*/ 0 h 51"/>
                <a:gd name="T20" fmla="*/ 51 w 51"/>
                <a:gd name="T21" fmla="*/ 0 h 51"/>
                <a:gd name="T22" fmla="*/ 51 w 51"/>
                <a:gd name="T23" fmla="*/ 0 h 51"/>
                <a:gd name="T24" fmla="*/ 51 w 51"/>
                <a:gd name="T25" fmla="*/ 0 h 51"/>
                <a:gd name="T26" fmla="*/ 51 w 51"/>
                <a:gd name="T27" fmla="*/ 0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1"/>
                <a:gd name="T44" fmla="*/ 51 w 51"/>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1">
                  <a:moveTo>
                    <a:pt x="51" y="0"/>
                  </a:moveTo>
                  <a:lnTo>
                    <a:pt x="29" y="7"/>
                  </a:lnTo>
                  <a:lnTo>
                    <a:pt x="14" y="15"/>
                  </a:lnTo>
                  <a:lnTo>
                    <a:pt x="7" y="29"/>
                  </a:lnTo>
                  <a:lnTo>
                    <a:pt x="0" y="51"/>
                  </a:lnTo>
                  <a:lnTo>
                    <a:pt x="7" y="29"/>
                  </a:lnTo>
                  <a:lnTo>
                    <a:pt x="14" y="15"/>
                  </a:lnTo>
                  <a:lnTo>
                    <a:pt x="29" y="7"/>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2" name="Freeform 44"/>
            <p:cNvSpPr>
              <a:spLocks noChangeAspect="1" noEditPoints="1"/>
            </p:cNvSpPr>
            <p:nvPr/>
          </p:nvSpPr>
          <p:spPr bwMode="auto">
            <a:xfrm>
              <a:off x="5348" y="1773"/>
              <a:ext cx="51" cy="44"/>
            </a:xfrm>
            <a:custGeom>
              <a:avLst/>
              <a:gdLst>
                <a:gd name="T0" fmla="*/ 0 w 51"/>
                <a:gd name="T1" fmla="*/ 0 h 44"/>
                <a:gd name="T2" fmla="*/ 7 w 51"/>
                <a:gd name="T3" fmla="*/ 15 h 44"/>
                <a:gd name="T4" fmla="*/ 14 w 51"/>
                <a:gd name="T5" fmla="*/ 30 h 44"/>
                <a:gd name="T6" fmla="*/ 29 w 51"/>
                <a:gd name="T7" fmla="*/ 44 h 44"/>
                <a:gd name="T8" fmla="*/ 51 w 51"/>
                <a:gd name="T9" fmla="*/ 44 h 44"/>
                <a:gd name="T10" fmla="*/ 51 w 51"/>
                <a:gd name="T11" fmla="*/ 44 h 44"/>
                <a:gd name="T12" fmla="*/ 29 w 51"/>
                <a:gd name="T13" fmla="*/ 44 h 44"/>
                <a:gd name="T14" fmla="*/ 14 w 51"/>
                <a:gd name="T15" fmla="*/ 30 h 44"/>
                <a:gd name="T16" fmla="*/ 7 w 51"/>
                <a:gd name="T17" fmla="*/ 15 h 44"/>
                <a:gd name="T18" fmla="*/ 0 w 51"/>
                <a:gd name="T19" fmla="*/ 0 h 44"/>
                <a:gd name="T20" fmla="*/ 0 w 51"/>
                <a:gd name="T21" fmla="*/ 0 h 44"/>
                <a:gd name="T22" fmla="*/ 0 w 51"/>
                <a:gd name="T23" fmla="*/ 0 h 44"/>
                <a:gd name="T24" fmla="*/ 0 w 51"/>
                <a:gd name="T25" fmla="*/ 0 h 44"/>
                <a:gd name="T26" fmla="*/ 0 w 51"/>
                <a:gd name="T27" fmla="*/ 0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44"/>
                <a:gd name="T44" fmla="*/ 51 w 51"/>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44">
                  <a:moveTo>
                    <a:pt x="0" y="0"/>
                  </a:moveTo>
                  <a:lnTo>
                    <a:pt x="7" y="15"/>
                  </a:lnTo>
                  <a:lnTo>
                    <a:pt x="14" y="30"/>
                  </a:lnTo>
                  <a:lnTo>
                    <a:pt x="29" y="44"/>
                  </a:lnTo>
                  <a:lnTo>
                    <a:pt x="51" y="44"/>
                  </a:lnTo>
                  <a:lnTo>
                    <a:pt x="29" y="44"/>
                  </a:lnTo>
                  <a:lnTo>
                    <a:pt x="14" y="30"/>
                  </a:lnTo>
                  <a:lnTo>
                    <a:pt x="7" y="1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3" name="Freeform 45"/>
            <p:cNvSpPr>
              <a:spLocks noChangeAspect="1"/>
            </p:cNvSpPr>
            <p:nvPr/>
          </p:nvSpPr>
          <p:spPr bwMode="auto">
            <a:xfrm>
              <a:off x="5399" y="1817"/>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4" name="Freeform 46"/>
            <p:cNvSpPr>
              <a:spLocks noChangeAspect="1"/>
            </p:cNvSpPr>
            <p:nvPr/>
          </p:nvSpPr>
          <p:spPr bwMode="auto">
            <a:xfrm>
              <a:off x="5348" y="2779"/>
              <a:ext cx="95" cy="96"/>
            </a:xfrm>
            <a:custGeom>
              <a:avLst/>
              <a:gdLst>
                <a:gd name="T0" fmla="*/ 51 w 95"/>
                <a:gd name="T1" fmla="*/ 96 h 96"/>
                <a:gd name="T2" fmla="*/ 66 w 95"/>
                <a:gd name="T3" fmla="*/ 96 h 96"/>
                <a:gd name="T4" fmla="*/ 81 w 95"/>
                <a:gd name="T5" fmla="*/ 81 h 96"/>
                <a:gd name="T6" fmla="*/ 95 w 95"/>
                <a:gd name="T7" fmla="*/ 67 h 96"/>
                <a:gd name="T8" fmla="*/ 95 w 95"/>
                <a:gd name="T9" fmla="*/ 44 h 96"/>
                <a:gd name="T10" fmla="*/ 95 w 95"/>
                <a:gd name="T11" fmla="*/ 30 h 96"/>
                <a:gd name="T12" fmla="*/ 81 w 95"/>
                <a:gd name="T13" fmla="*/ 15 h 96"/>
                <a:gd name="T14" fmla="*/ 66 w 95"/>
                <a:gd name="T15" fmla="*/ 8 h 96"/>
                <a:gd name="T16" fmla="*/ 51 w 95"/>
                <a:gd name="T17" fmla="*/ 0 h 96"/>
                <a:gd name="T18" fmla="*/ 29 w 95"/>
                <a:gd name="T19" fmla="*/ 8 h 96"/>
                <a:gd name="T20" fmla="*/ 14 w 95"/>
                <a:gd name="T21" fmla="*/ 15 h 96"/>
                <a:gd name="T22" fmla="*/ 7 w 95"/>
                <a:gd name="T23" fmla="*/ 30 h 96"/>
                <a:gd name="T24" fmla="*/ 0 w 95"/>
                <a:gd name="T25" fmla="*/ 44 h 96"/>
                <a:gd name="T26" fmla="*/ 7 w 95"/>
                <a:gd name="T27" fmla="*/ 67 h 96"/>
                <a:gd name="T28" fmla="*/ 14 w 95"/>
                <a:gd name="T29" fmla="*/ 81 h 96"/>
                <a:gd name="T30" fmla="*/ 29 w 95"/>
                <a:gd name="T31" fmla="*/ 96 h 96"/>
                <a:gd name="T32" fmla="*/ 51 w 95"/>
                <a:gd name="T33" fmla="*/ 96 h 96"/>
                <a:gd name="T34" fmla="*/ 51 w 95"/>
                <a:gd name="T35" fmla="*/ 96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5"/>
                <a:gd name="T55" fmla="*/ 0 h 96"/>
                <a:gd name="T56" fmla="*/ 95 w 95"/>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5" h="96">
                  <a:moveTo>
                    <a:pt x="51" y="96"/>
                  </a:moveTo>
                  <a:lnTo>
                    <a:pt x="66" y="96"/>
                  </a:lnTo>
                  <a:lnTo>
                    <a:pt x="81" y="81"/>
                  </a:lnTo>
                  <a:lnTo>
                    <a:pt x="95" y="67"/>
                  </a:lnTo>
                  <a:lnTo>
                    <a:pt x="95" y="44"/>
                  </a:lnTo>
                  <a:lnTo>
                    <a:pt x="95" y="30"/>
                  </a:lnTo>
                  <a:lnTo>
                    <a:pt x="81" y="15"/>
                  </a:lnTo>
                  <a:lnTo>
                    <a:pt x="66" y="8"/>
                  </a:lnTo>
                  <a:lnTo>
                    <a:pt x="51" y="0"/>
                  </a:lnTo>
                  <a:lnTo>
                    <a:pt x="29" y="8"/>
                  </a:lnTo>
                  <a:lnTo>
                    <a:pt x="14" y="15"/>
                  </a:lnTo>
                  <a:lnTo>
                    <a:pt x="7" y="30"/>
                  </a:lnTo>
                  <a:lnTo>
                    <a:pt x="0" y="44"/>
                  </a:lnTo>
                  <a:lnTo>
                    <a:pt x="7" y="67"/>
                  </a:lnTo>
                  <a:lnTo>
                    <a:pt x="14" y="81"/>
                  </a:lnTo>
                  <a:lnTo>
                    <a:pt x="29" y="96"/>
                  </a:lnTo>
                  <a:lnTo>
                    <a:pt x="51" y="96"/>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5" name="Freeform 47"/>
            <p:cNvSpPr>
              <a:spLocks noChangeAspect="1"/>
            </p:cNvSpPr>
            <p:nvPr/>
          </p:nvSpPr>
          <p:spPr bwMode="auto">
            <a:xfrm>
              <a:off x="5399" y="2823"/>
              <a:ext cx="44" cy="52"/>
            </a:xfrm>
            <a:custGeom>
              <a:avLst/>
              <a:gdLst>
                <a:gd name="T0" fmla="*/ 0 w 44"/>
                <a:gd name="T1" fmla="*/ 52 h 52"/>
                <a:gd name="T2" fmla="*/ 15 w 44"/>
                <a:gd name="T3" fmla="*/ 52 h 52"/>
                <a:gd name="T4" fmla="*/ 30 w 44"/>
                <a:gd name="T5" fmla="*/ 37 h 52"/>
                <a:gd name="T6" fmla="*/ 44 w 44"/>
                <a:gd name="T7" fmla="*/ 23 h 52"/>
                <a:gd name="T8" fmla="*/ 44 w 44"/>
                <a:gd name="T9" fmla="*/ 0 h 52"/>
                <a:gd name="T10" fmla="*/ 44 w 44"/>
                <a:gd name="T11" fmla="*/ 0 h 52"/>
                <a:gd name="T12" fmla="*/ 44 w 44"/>
                <a:gd name="T13" fmla="*/ 23 h 52"/>
                <a:gd name="T14" fmla="*/ 30 w 44"/>
                <a:gd name="T15" fmla="*/ 37 h 52"/>
                <a:gd name="T16" fmla="*/ 15 w 44"/>
                <a:gd name="T17" fmla="*/ 52 h 52"/>
                <a:gd name="T18" fmla="*/ 0 w 44"/>
                <a:gd name="T19" fmla="*/ 52 h 52"/>
                <a:gd name="T20" fmla="*/ 0 w 44"/>
                <a:gd name="T21" fmla="*/ 52 h 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52"/>
                <a:gd name="T35" fmla="*/ 44 w 44"/>
                <a:gd name="T36" fmla="*/ 52 h 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52">
                  <a:moveTo>
                    <a:pt x="0" y="52"/>
                  </a:moveTo>
                  <a:lnTo>
                    <a:pt x="15" y="52"/>
                  </a:lnTo>
                  <a:lnTo>
                    <a:pt x="30" y="37"/>
                  </a:lnTo>
                  <a:lnTo>
                    <a:pt x="44" y="23"/>
                  </a:lnTo>
                  <a:lnTo>
                    <a:pt x="44" y="0"/>
                  </a:lnTo>
                  <a:lnTo>
                    <a:pt x="44" y="23"/>
                  </a:lnTo>
                  <a:lnTo>
                    <a:pt x="30" y="37"/>
                  </a:lnTo>
                  <a:lnTo>
                    <a:pt x="15" y="52"/>
                  </a:lnTo>
                  <a:lnTo>
                    <a:pt x="0"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6" name="Freeform 48"/>
            <p:cNvSpPr>
              <a:spLocks noChangeAspect="1" noEditPoints="1"/>
            </p:cNvSpPr>
            <p:nvPr/>
          </p:nvSpPr>
          <p:spPr bwMode="auto">
            <a:xfrm>
              <a:off x="5399" y="2779"/>
              <a:ext cx="44" cy="44"/>
            </a:xfrm>
            <a:custGeom>
              <a:avLst/>
              <a:gdLst>
                <a:gd name="T0" fmla="*/ 44 w 44"/>
                <a:gd name="T1" fmla="*/ 44 h 44"/>
                <a:gd name="T2" fmla="*/ 44 w 44"/>
                <a:gd name="T3" fmla="*/ 30 h 44"/>
                <a:gd name="T4" fmla="*/ 30 w 44"/>
                <a:gd name="T5" fmla="*/ 15 h 44"/>
                <a:gd name="T6" fmla="*/ 15 w 44"/>
                <a:gd name="T7" fmla="*/ 8 h 44"/>
                <a:gd name="T8" fmla="*/ 0 w 44"/>
                <a:gd name="T9" fmla="*/ 0 h 44"/>
                <a:gd name="T10" fmla="*/ 0 w 44"/>
                <a:gd name="T11" fmla="*/ 0 h 44"/>
                <a:gd name="T12" fmla="*/ 15 w 44"/>
                <a:gd name="T13" fmla="*/ 8 h 44"/>
                <a:gd name="T14" fmla="*/ 30 w 44"/>
                <a:gd name="T15" fmla="*/ 15 h 44"/>
                <a:gd name="T16" fmla="*/ 44 w 44"/>
                <a:gd name="T17" fmla="*/ 30 h 44"/>
                <a:gd name="T18" fmla="*/ 44 w 44"/>
                <a:gd name="T19" fmla="*/ 44 h 44"/>
                <a:gd name="T20" fmla="*/ 44 w 44"/>
                <a:gd name="T21" fmla="*/ 44 h 44"/>
                <a:gd name="T22" fmla="*/ 44 w 44"/>
                <a:gd name="T23" fmla="*/ 44 h 44"/>
                <a:gd name="T24" fmla="*/ 44 w 44"/>
                <a:gd name="T25" fmla="*/ 44 h 44"/>
                <a:gd name="T26" fmla="*/ 44 w 44"/>
                <a:gd name="T27" fmla="*/ 44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44"/>
                <a:gd name="T44" fmla="*/ 44 w 44"/>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44">
                  <a:moveTo>
                    <a:pt x="44" y="44"/>
                  </a:moveTo>
                  <a:lnTo>
                    <a:pt x="44" y="30"/>
                  </a:lnTo>
                  <a:lnTo>
                    <a:pt x="30" y="15"/>
                  </a:lnTo>
                  <a:lnTo>
                    <a:pt x="15" y="8"/>
                  </a:lnTo>
                  <a:lnTo>
                    <a:pt x="0" y="0"/>
                  </a:lnTo>
                  <a:lnTo>
                    <a:pt x="15" y="8"/>
                  </a:lnTo>
                  <a:lnTo>
                    <a:pt x="30" y="15"/>
                  </a:lnTo>
                  <a:lnTo>
                    <a:pt x="44" y="30"/>
                  </a:lnTo>
                  <a:lnTo>
                    <a:pt x="44" y="44"/>
                  </a:lnTo>
                  <a:close/>
                  <a:moveTo>
                    <a:pt x="44" y="44"/>
                  </a:moveTo>
                  <a:lnTo>
                    <a:pt x="44" y="4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7" name="Freeform 49"/>
            <p:cNvSpPr>
              <a:spLocks noChangeAspect="1" noEditPoints="1"/>
            </p:cNvSpPr>
            <p:nvPr/>
          </p:nvSpPr>
          <p:spPr bwMode="auto">
            <a:xfrm>
              <a:off x="5348" y="2779"/>
              <a:ext cx="51" cy="44"/>
            </a:xfrm>
            <a:custGeom>
              <a:avLst/>
              <a:gdLst>
                <a:gd name="T0" fmla="*/ 51 w 51"/>
                <a:gd name="T1" fmla="*/ 0 h 44"/>
                <a:gd name="T2" fmla="*/ 29 w 51"/>
                <a:gd name="T3" fmla="*/ 8 h 44"/>
                <a:gd name="T4" fmla="*/ 14 w 51"/>
                <a:gd name="T5" fmla="*/ 15 h 44"/>
                <a:gd name="T6" fmla="*/ 7 w 51"/>
                <a:gd name="T7" fmla="*/ 30 h 44"/>
                <a:gd name="T8" fmla="*/ 0 w 51"/>
                <a:gd name="T9" fmla="*/ 44 h 44"/>
                <a:gd name="T10" fmla="*/ 0 w 51"/>
                <a:gd name="T11" fmla="*/ 44 h 44"/>
                <a:gd name="T12" fmla="*/ 7 w 51"/>
                <a:gd name="T13" fmla="*/ 30 h 44"/>
                <a:gd name="T14" fmla="*/ 14 w 51"/>
                <a:gd name="T15" fmla="*/ 15 h 44"/>
                <a:gd name="T16" fmla="*/ 29 w 51"/>
                <a:gd name="T17" fmla="*/ 8 h 44"/>
                <a:gd name="T18" fmla="*/ 51 w 51"/>
                <a:gd name="T19" fmla="*/ 0 h 44"/>
                <a:gd name="T20" fmla="*/ 51 w 51"/>
                <a:gd name="T21" fmla="*/ 0 h 44"/>
                <a:gd name="T22" fmla="*/ 51 w 51"/>
                <a:gd name="T23" fmla="*/ 0 h 44"/>
                <a:gd name="T24" fmla="*/ 51 w 51"/>
                <a:gd name="T25" fmla="*/ 0 h 44"/>
                <a:gd name="T26" fmla="*/ 51 w 51"/>
                <a:gd name="T27" fmla="*/ 0 h 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44"/>
                <a:gd name="T44" fmla="*/ 51 w 51"/>
                <a:gd name="T45" fmla="*/ 44 h 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44">
                  <a:moveTo>
                    <a:pt x="51" y="0"/>
                  </a:moveTo>
                  <a:lnTo>
                    <a:pt x="29" y="8"/>
                  </a:lnTo>
                  <a:lnTo>
                    <a:pt x="14" y="15"/>
                  </a:lnTo>
                  <a:lnTo>
                    <a:pt x="7" y="30"/>
                  </a:lnTo>
                  <a:lnTo>
                    <a:pt x="0" y="44"/>
                  </a:lnTo>
                  <a:lnTo>
                    <a:pt x="7" y="30"/>
                  </a:lnTo>
                  <a:lnTo>
                    <a:pt x="14" y="15"/>
                  </a:lnTo>
                  <a:lnTo>
                    <a:pt x="29" y="8"/>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8" name="Freeform 50"/>
            <p:cNvSpPr>
              <a:spLocks noChangeAspect="1" noEditPoints="1"/>
            </p:cNvSpPr>
            <p:nvPr/>
          </p:nvSpPr>
          <p:spPr bwMode="auto">
            <a:xfrm>
              <a:off x="5348" y="2823"/>
              <a:ext cx="51" cy="52"/>
            </a:xfrm>
            <a:custGeom>
              <a:avLst/>
              <a:gdLst>
                <a:gd name="T0" fmla="*/ 0 w 51"/>
                <a:gd name="T1" fmla="*/ 0 h 52"/>
                <a:gd name="T2" fmla="*/ 7 w 51"/>
                <a:gd name="T3" fmla="*/ 23 h 52"/>
                <a:gd name="T4" fmla="*/ 14 w 51"/>
                <a:gd name="T5" fmla="*/ 37 h 52"/>
                <a:gd name="T6" fmla="*/ 29 w 51"/>
                <a:gd name="T7" fmla="*/ 52 h 52"/>
                <a:gd name="T8" fmla="*/ 51 w 51"/>
                <a:gd name="T9" fmla="*/ 52 h 52"/>
                <a:gd name="T10" fmla="*/ 51 w 51"/>
                <a:gd name="T11" fmla="*/ 52 h 52"/>
                <a:gd name="T12" fmla="*/ 29 w 51"/>
                <a:gd name="T13" fmla="*/ 52 h 52"/>
                <a:gd name="T14" fmla="*/ 14 w 51"/>
                <a:gd name="T15" fmla="*/ 37 h 52"/>
                <a:gd name="T16" fmla="*/ 7 w 51"/>
                <a:gd name="T17" fmla="*/ 23 h 52"/>
                <a:gd name="T18" fmla="*/ 0 w 51"/>
                <a:gd name="T19" fmla="*/ 0 h 52"/>
                <a:gd name="T20" fmla="*/ 0 w 51"/>
                <a:gd name="T21" fmla="*/ 0 h 52"/>
                <a:gd name="T22" fmla="*/ 0 w 51"/>
                <a:gd name="T23" fmla="*/ 0 h 52"/>
                <a:gd name="T24" fmla="*/ 0 w 51"/>
                <a:gd name="T25" fmla="*/ 0 h 52"/>
                <a:gd name="T26" fmla="*/ 0 w 51"/>
                <a:gd name="T27" fmla="*/ 0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2"/>
                <a:gd name="T44" fmla="*/ 51 w 51"/>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2">
                  <a:moveTo>
                    <a:pt x="0" y="0"/>
                  </a:moveTo>
                  <a:lnTo>
                    <a:pt x="7" y="23"/>
                  </a:lnTo>
                  <a:lnTo>
                    <a:pt x="14" y="37"/>
                  </a:lnTo>
                  <a:lnTo>
                    <a:pt x="29" y="52"/>
                  </a:lnTo>
                  <a:lnTo>
                    <a:pt x="51" y="52"/>
                  </a:lnTo>
                  <a:lnTo>
                    <a:pt x="29" y="52"/>
                  </a:lnTo>
                  <a:lnTo>
                    <a:pt x="14" y="37"/>
                  </a:lnTo>
                  <a:lnTo>
                    <a:pt x="7" y="2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59" name="Freeform 51"/>
            <p:cNvSpPr>
              <a:spLocks noChangeAspect="1"/>
            </p:cNvSpPr>
            <p:nvPr/>
          </p:nvSpPr>
          <p:spPr bwMode="auto">
            <a:xfrm>
              <a:off x="5399" y="2875"/>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0" name="Freeform 52"/>
            <p:cNvSpPr>
              <a:spLocks noChangeAspect="1" noEditPoints="1"/>
            </p:cNvSpPr>
            <p:nvPr/>
          </p:nvSpPr>
          <p:spPr bwMode="auto">
            <a:xfrm>
              <a:off x="5554" y="1722"/>
              <a:ext cx="95" cy="95"/>
            </a:xfrm>
            <a:custGeom>
              <a:avLst/>
              <a:gdLst>
                <a:gd name="T0" fmla="*/ 95 w 95"/>
                <a:gd name="T1" fmla="*/ 73 h 95"/>
                <a:gd name="T2" fmla="*/ 88 w 95"/>
                <a:gd name="T3" fmla="*/ 81 h 95"/>
                <a:gd name="T4" fmla="*/ 81 w 95"/>
                <a:gd name="T5" fmla="*/ 88 h 95"/>
                <a:gd name="T6" fmla="*/ 73 w 95"/>
                <a:gd name="T7" fmla="*/ 88 h 95"/>
                <a:gd name="T8" fmla="*/ 73 w 95"/>
                <a:gd name="T9" fmla="*/ 81 h 95"/>
                <a:gd name="T10" fmla="*/ 73 w 95"/>
                <a:gd name="T11" fmla="*/ 81 h 95"/>
                <a:gd name="T12" fmla="*/ 81 w 95"/>
                <a:gd name="T13" fmla="*/ 66 h 95"/>
                <a:gd name="T14" fmla="*/ 88 w 95"/>
                <a:gd name="T15" fmla="*/ 44 h 95"/>
                <a:gd name="T16" fmla="*/ 95 w 95"/>
                <a:gd name="T17" fmla="*/ 15 h 95"/>
                <a:gd name="T18" fmla="*/ 95 w 95"/>
                <a:gd name="T19" fmla="*/ 7 h 95"/>
                <a:gd name="T20" fmla="*/ 95 w 95"/>
                <a:gd name="T21" fmla="*/ 0 h 95"/>
                <a:gd name="T22" fmla="*/ 95 w 95"/>
                <a:gd name="T23" fmla="*/ 0 h 95"/>
                <a:gd name="T24" fmla="*/ 81 w 95"/>
                <a:gd name="T25" fmla="*/ 0 h 95"/>
                <a:gd name="T26" fmla="*/ 81 w 95"/>
                <a:gd name="T27" fmla="*/ 0 h 95"/>
                <a:gd name="T28" fmla="*/ 81 w 95"/>
                <a:gd name="T29" fmla="*/ 15 h 95"/>
                <a:gd name="T30" fmla="*/ 81 w 95"/>
                <a:gd name="T31" fmla="*/ 15 h 95"/>
                <a:gd name="T32" fmla="*/ 73 w 95"/>
                <a:gd name="T33" fmla="*/ 7 h 95"/>
                <a:gd name="T34" fmla="*/ 59 w 95"/>
                <a:gd name="T35" fmla="*/ 0 h 95"/>
                <a:gd name="T36" fmla="*/ 44 w 95"/>
                <a:gd name="T37" fmla="*/ 7 h 95"/>
                <a:gd name="T38" fmla="*/ 22 w 95"/>
                <a:gd name="T39" fmla="*/ 29 h 95"/>
                <a:gd name="T40" fmla="*/ 7 w 95"/>
                <a:gd name="T41" fmla="*/ 51 h 95"/>
                <a:gd name="T42" fmla="*/ 0 w 95"/>
                <a:gd name="T43" fmla="*/ 73 h 95"/>
                <a:gd name="T44" fmla="*/ 0 w 95"/>
                <a:gd name="T45" fmla="*/ 88 h 95"/>
                <a:gd name="T46" fmla="*/ 7 w 95"/>
                <a:gd name="T47" fmla="*/ 95 h 95"/>
                <a:gd name="T48" fmla="*/ 22 w 95"/>
                <a:gd name="T49" fmla="*/ 95 h 95"/>
                <a:gd name="T50" fmla="*/ 44 w 95"/>
                <a:gd name="T51" fmla="*/ 95 h 95"/>
                <a:gd name="T52" fmla="*/ 51 w 95"/>
                <a:gd name="T53" fmla="*/ 81 h 95"/>
                <a:gd name="T54" fmla="*/ 66 w 95"/>
                <a:gd name="T55" fmla="*/ 66 h 95"/>
                <a:gd name="T56" fmla="*/ 66 w 95"/>
                <a:gd name="T57" fmla="*/ 66 h 95"/>
                <a:gd name="T58" fmla="*/ 59 w 95"/>
                <a:gd name="T59" fmla="*/ 81 h 95"/>
                <a:gd name="T60" fmla="*/ 59 w 95"/>
                <a:gd name="T61" fmla="*/ 88 h 95"/>
                <a:gd name="T62" fmla="*/ 59 w 95"/>
                <a:gd name="T63" fmla="*/ 95 h 95"/>
                <a:gd name="T64" fmla="*/ 66 w 95"/>
                <a:gd name="T65" fmla="*/ 95 h 95"/>
                <a:gd name="T66" fmla="*/ 81 w 95"/>
                <a:gd name="T67" fmla="*/ 88 h 95"/>
                <a:gd name="T68" fmla="*/ 95 w 95"/>
                <a:gd name="T69" fmla="*/ 73 h 95"/>
                <a:gd name="T70" fmla="*/ 95 w 95"/>
                <a:gd name="T71" fmla="*/ 73 h 95"/>
                <a:gd name="T72" fmla="*/ 22 w 95"/>
                <a:gd name="T73" fmla="*/ 73 h 95"/>
                <a:gd name="T74" fmla="*/ 22 w 95"/>
                <a:gd name="T75" fmla="*/ 51 h 95"/>
                <a:gd name="T76" fmla="*/ 36 w 95"/>
                <a:gd name="T77" fmla="*/ 29 h 95"/>
                <a:gd name="T78" fmla="*/ 44 w 95"/>
                <a:gd name="T79" fmla="*/ 15 h 95"/>
                <a:gd name="T80" fmla="*/ 66 w 95"/>
                <a:gd name="T81" fmla="*/ 7 h 95"/>
                <a:gd name="T82" fmla="*/ 73 w 95"/>
                <a:gd name="T83" fmla="*/ 7 h 95"/>
                <a:gd name="T84" fmla="*/ 73 w 95"/>
                <a:gd name="T85" fmla="*/ 22 h 95"/>
                <a:gd name="T86" fmla="*/ 73 w 95"/>
                <a:gd name="T87" fmla="*/ 44 h 95"/>
                <a:gd name="T88" fmla="*/ 59 w 95"/>
                <a:gd name="T89" fmla="*/ 66 h 95"/>
                <a:gd name="T90" fmla="*/ 44 w 95"/>
                <a:gd name="T91" fmla="*/ 81 h 95"/>
                <a:gd name="T92" fmla="*/ 29 w 95"/>
                <a:gd name="T93" fmla="*/ 88 h 95"/>
                <a:gd name="T94" fmla="*/ 29 w 95"/>
                <a:gd name="T95" fmla="*/ 81 h 95"/>
                <a:gd name="T96" fmla="*/ 22 w 95"/>
                <a:gd name="T97" fmla="*/ 73 h 95"/>
                <a:gd name="T98" fmla="*/ 22 w 95"/>
                <a:gd name="T99" fmla="*/ 73 h 9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5"/>
                <a:gd name="T151" fmla="*/ 0 h 95"/>
                <a:gd name="T152" fmla="*/ 95 w 95"/>
                <a:gd name="T153" fmla="*/ 95 h 9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5" h="95">
                  <a:moveTo>
                    <a:pt x="95" y="73"/>
                  </a:moveTo>
                  <a:lnTo>
                    <a:pt x="88" y="81"/>
                  </a:lnTo>
                  <a:lnTo>
                    <a:pt x="81" y="88"/>
                  </a:lnTo>
                  <a:lnTo>
                    <a:pt x="73" y="88"/>
                  </a:lnTo>
                  <a:lnTo>
                    <a:pt x="73" y="81"/>
                  </a:lnTo>
                  <a:lnTo>
                    <a:pt x="81" y="66"/>
                  </a:lnTo>
                  <a:lnTo>
                    <a:pt x="88" y="44"/>
                  </a:lnTo>
                  <a:lnTo>
                    <a:pt x="95" y="15"/>
                  </a:lnTo>
                  <a:lnTo>
                    <a:pt x="95" y="7"/>
                  </a:lnTo>
                  <a:lnTo>
                    <a:pt x="95" y="0"/>
                  </a:lnTo>
                  <a:lnTo>
                    <a:pt x="81" y="0"/>
                  </a:lnTo>
                  <a:lnTo>
                    <a:pt x="81" y="15"/>
                  </a:lnTo>
                  <a:lnTo>
                    <a:pt x="73" y="7"/>
                  </a:lnTo>
                  <a:lnTo>
                    <a:pt x="59" y="0"/>
                  </a:lnTo>
                  <a:lnTo>
                    <a:pt x="44" y="7"/>
                  </a:lnTo>
                  <a:lnTo>
                    <a:pt x="22" y="29"/>
                  </a:lnTo>
                  <a:lnTo>
                    <a:pt x="7" y="51"/>
                  </a:lnTo>
                  <a:lnTo>
                    <a:pt x="0" y="73"/>
                  </a:lnTo>
                  <a:lnTo>
                    <a:pt x="0" y="88"/>
                  </a:lnTo>
                  <a:lnTo>
                    <a:pt x="7" y="95"/>
                  </a:lnTo>
                  <a:lnTo>
                    <a:pt x="22" y="95"/>
                  </a:lnTo>
                  <a:lnTo>
                    <a:pt x="44" y="95"/>
                  </a:lnTo>
                  <a:lnTo>
                    <a:pt x="51" y="81"/>
                  </a:lnTo>
                  <a:lnTo>
                    <a:pt x="66" y="66"/>
                  </a:lnTo>
                  <a:lnTo>
                    <a:pt x="59" y="81"/>
                  </a:lnTo>
                  <a:lnTo>
                    <a:pt x="59" y="88"/>
                  </a:lnTo>
                  <a:lnTo>
                    <a:pt x="59" y="95"/>
                  </a:lnTo>
                  <a:lnTo>
                    <a:pt x="66" y="95"/>
                  </a:lnTo>
                  <a:lnTo>
                    <a:pt x="81" y="88"/>
                  </a:lnTo>
                  <a:lnTo>
                    <a:pt x="95" y="73"/>
                  </a:lnTo>
                  <a:close/>
                  <a:moveTo>
                    <a:pt x="22" y="73"/>
                  </a:moveTo>
                  <a:lnTo>
                    <a:pt x="22" y="51"/>
                  </a:lnTo>
                  <a:lnTo>
                    <a:pt x="36" y="29"/>
                  </a:lnTo>
                  <a:lnTo>
                    <a:pt x="44" y="15"/>
                  </a:lnTo>
                  <a:lnTo>
                    <a:pt x="66" y="7"/>
                  </a:lnTo>
                  <a:lnTo>
                    <a:pt x="73" y="7"/>
                  </a:lnTo>
                  <a:lnTo>
                    <a:pt x="73" y="22"/>
                  </a:lnTo>
                  <a:lnTo>
                    <a:pt x="73" y="44"/>
                  </a:lnTo>
                  <a:lnTo>
                    <a:pt x="59" y="66"/>
                  </a:lnTo>
                  <a:lnTo>
                    <a:pt x="44" y="81"/>
                  </a:lnTo>
                  <a:lnTo>
                    <a:pt x="29" y="88"/>
                  </a:lnTo>
                  <a:lnTo>
                    <a:pt x="29" y="81"/>
                  </a:lnTo>
                  <a:lnTo>
                    <a:pt x="22" y="7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1" name="Freeform 53"/>
            <p:cNvSpPr>
              <a:spLocks noChangeAspect="1" noEditPoints="1"/>
            </p:cNvSpPr>
            <p:nvPr/>
          </p:nvSpPr>
          <p:spPr bwMode="auto">
            <a:xfrm>
              <a:off x="5554" y="2735"/>
              <a:ext cx="95" cy="155"/>
            </a:xfrm>
            <a:custGeom>
              <a:avLst/>
              <a:gdLst>
                <a:gd name="T0" fmla="*/ 73 w 95"/>
                <a:gd name="T1" fmla="*/ 88 h 155"/>
                <a:gd name="T2" fmla="*/ 73 w 95"/>
                <a:gd name="T3" fmla="*/ 103 h 155"/>
                <a:gd name="T4" fmla="*/ 59 w 95"/>
                <a:gd name="T5" fmla="*/ 125 h 155"/>
                <a:gd name="T6" fmla="*/ 44 w 95"/>
                <a:gd name="T7" fmla="*/ 140 h 155"/>
                <a:gd name="T8" fmla="*/ 29 w 95"/>
                <a:gd name="T9" fmla="*/ 147 h 155"/>
                <a:gd name="T10" fmla="*/ 14 w 95"/>
                <a:gd name="T11" fmla="*/ 147 h 155"/>
                <a:gd name="T12" fmla="*/ 14 w 95"/>
                <a:gd name="T13" fmla="*/ 140 h 155"/>
                <a:gd name="T14" fmla="*/ 22 w 95"/>
                <a:gd name="T15" fmla="*/ 118 h 155"/>
                <a:gd name="T16" fmla="*/ 29 w 95"/>
                <a:gd name="T17" fmla="*/ 96 h 155"/>
                <a:gd name="T18" fmla="*/ 44 w 95"/>
                <a:gd name="T19" fmla="*/ 74 h 155"/>
                <a:gd name="T20" fmla="*/ 59 w 95"/>
                <a:gd name="T21" fmla="*/ 66 h 155"/>
                <a:gd name="T22" fmla="*/ 73 w 95"/>
                <a:gd name="T23" fmla="*/ 74 h 155"/>
                <a:gd name="T24" fmla="*/ 73 w 95"/>
                <a:gd name="T25" fmla="*/ 88 h 155"/>
                <a:gd name="T26" fmla="*/ 73 w 95"/>
                <a:gd name="T27" fmla="*/ 88 h 155"/>
                <a:gd name="T28" fmla="*/ 14 w 95"/>
                <a:gd name="T29" fmla="*/ 15 h 155"/>
                <a:gd name="T30" fmla="*/ 29 w 95"/>
                <a:gd name="T31" fmla="*/ 15 h 155"/>
                <a:gd name="T32" fmla="*/ 29 w 95"/>
                <a:gd name="T33" fmla="*/ 15 h 155"/>
                <a:gd name="T34" fmla="*/ 29 w 95"/>
                <a:gd name="T35" fmla="*/ 22 h 155"/>
                <a:gd name="T36" fmla="*/ 29 w 95"/>
                <a:gd name="T37" fmla="*/ 30 h 155"/>
                <a:gd name="T38" fmla="*/ 0 w 95"/>
                <a:gd name="T39" fmla="*/ 140 h 155"/>
                <a:gd name="T40" fmla="*/ 0 w 95"/>
                <a:gd name="T41" fmla="*/ 147 h 155"/>
                <a:gd name="T42" fmla="*/ 7 w 95"/>
                <a:gd name="T43" fmla="*/ 155 h 155"/>
                <a:gd name="T44" fmla="*/ 29 w 95"/>
                <a:gd name="T45" fmla="*/ 155 h 155"/>
                <a:gd name="T46" fmla="*/ 51 w 95"/>
                <a:gd name="T47" fmla="*/ 147 h 155"/>
                <a:gd name="T48" fmla="*/ 73 w 95"/>
                <a:gd name="T49" fmla="*/ 133 h 155"/>
                <a:gd name="T50" fmla="*/ 88 w 95"/>
                <a:gd name="T51" fmla="*/ 111 h 155"/>
                <a:gd name="T52" fmla="*/ 95 w 95"/>
                <a:gd name="T53" fmla="*/ 81 h 155"/>
                <a:gd name="T54" fmla="*/ 88 w 95"/>
                <a:gd name="T55" fmla="*/ 66 h 155"/>
                <a:gd name="T56" fmla="*/ 66 w 95"/>
                <a:gd name="T57" fmla="*/ 59 h 155"/>
                <a:gd name="T58" fmla="*/ 44 w 95"/>
                <a:gd name="T59" fmla="*/ 66 h 155"/>
                <a:gd name="T60" fmla="*/ 29 w 95"/>
                <a:gd name="T61" fmla="*/ 88 h 155"/>
                <a:gd name="T62" fmla="*/ 29 w 95"/>
                <a:gd name="T63" fmla="*/ 88 h 155"/>
                <a:gd name="T64" fmla="*/ 36 w 95"/>
                <a:gd name="T65" fmla="*/ 66 h 155"/>
                <a:gd name="T66" fmla="*/ 44 w 95"/>
                <a:gd name="T67" fmla="*/ 44 h 155"/>
                <a:gd name="T68" fmla="*/ 44 w 95"/>
                <a:gd name="T69" fmla="*/ 22 h 155"/>
                <a:gd name="T70" fmla="*/ 51 w 95"/>
                <a:gd name="T71" fmla="*/ 8 h 155"/>
                <a:gd name="T72" fmla="*/ 51 w 95"/>
                <a:gd name="T73" fmla="*/ 0 h 155"/>
                <a:gd name="T74" fmla="*/ 36 w 95"/>
                <a:gd name="T75" fmla="*/ 8 h 155"/>
                <a:gd name="T76" fmla="*/ 14 w 95"/>
                <a:gd name="T77" fmla="*/ 8 h 155"/>
                <a:gd name="T78" fmla="*/ 14 w 95"/>
                <a:gd name="T79" fmla="*/ 15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5"/>
                <a:gd name="T121" fmla="*/ 0 h 155"/>
                <a:gd name="T122" fmla="*/ 95 w 95"/>
                <a:gd name="T123" fmla="*/ 155 h 15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5" h="155">
                  <a:moveTo>
                    <a:pt x="73" y="88"/>
                  </a:moveTo>
                  <a:lnTo>
                    <a:pt x="73" y="103"/>
                  </a:lnTo>
                  <a:lnTo>
                    <a:pt x="59" y="125"/>
                  </a:lnTo>
                  <a:lnTo>
                    <a:pt x="44" y="140"/>
                  </a:lnTo>
                  <a:lnTo>
                    <a:pt x="29" y="147"/>
                  </a:lnTo>
                  <a:lnTo>
                    <a:pt x="14" y="147"/>
                  </a:lnTo>
                  <a:lnTo>
                    <a:pt x="14" y="140"/>
                  </a:lnTo>
                  <a:lnTo>
                    <a:pt x="22" y="118"/>
                  </a:lnTo>
                  <a:lnTo>
                    <a:pt x="29" y="96"/>
                  </a:lnTo>
                  <a:lnTo>
                    <a:pt x="44" y="74"/>
                  </a:lnTo>
                  <a:lnTo>
                    <a:pt x="59" y="66"/>
                  </a:lnTo>
                  <a:lnTo>
                    <a:pt x="73" y="74"/>
                  </a:lnTo>
                  <a:lnTo>
                    <a:pt x="73" y="88"/>
                  </a:lnTo>
                  <a:close/>
                  <a:moveTo>
                    <a:pt x="14" y="15"/>
                  </a:moveTo>
                  <a:lnTo>
                    <a:pt x="29" y="15"/>
                  </a:lnTo>
                  <a:lnTo>
                    <a:pt x="29" y="22"/>
                  </a:lnTo>
                  <a:lnTo>
                    <a:pt x="29" y="30"/>
                  </a:lnTo>
                  <a:lnTo>
                    <a:pt x="0" y="140"/>
                  </a:lnTo>
                  <a:lnTo>
                    <a:pt x="0" y="147"/>
                  </a:lnTo>
                  <a:lnTo>
                    <a:pt x="7" y="155"/>
                  </a:lnTo>
                  <a:lnTo>
                    <a:pt x="29" y="155"/>
                  </a:lnTo>
                  <a:lnTo>
                    <a:pt x="51" y="147"/>
                  </a:lnTo>
                  <a:lnTo>
                    <a:pt x="73" y="133"/>
                  </a:lnTo>
                  <a:lnTo>
                    <a:pt x="88" y="111"/>
                  </a:lnTo>
                  <a:lnTo>
                    <a:pt x="95" y="81"/>
                  </a:lnTo>
                  <a:lnTo>
                    <a:pt x="88" y="66"/>
                  </a:lnTo>
                  <a:lnTo>
                    <a:pt x="66" y="59"/>
                  </a:lnTo>
                  <a:lnTo>
                    <a:pt x="44" y="66"/>
                  </a:lnTo>
                  <a:lnTo>
                    <a:pt x="29" y="88"/>
                  </a:lnTo>
                  <a:lnTo>
                    <a:pt x="36" y="66"/>
                  </a:lnTo>
                  <a:lnTo>
                    <a:pt x="44" y="44"/>
                  </a:lnTo>
                  <a:lnTo>
                    <a:pt x="44" y="22"/>
                  </a:lnTo>
                  <a:lnTo>
                    <a:pt x="51" y="8"/>
                  </a:lnTo>
                  <a:lnTo>
                    <a:pt x="51" y="0"/>
                  </a:lnTo>
                  <a:lnTo>
                    <a:pt x="36" y="8"/>
                  </a:lnTo>
                  <a:lnTo>
                    <a:pt x="14" y="8"/>
                  </a:lnTo>
                  <a:lnTo>
                    <a:pt x="14" y="1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2" name="Freeform 54"/>
            <p:cNvSpPr>
              <a:spLocks noChangeAspect="1"/>
            </p:cNvSpPr>
            <p:nvPr/>
          </p:nvSpPr>
          <p:spPr bwMode="auto">
            <a:xfrm>
              <a:off x="2641" y="2302"/>
              <a:ext cx="441" cy="1"/>
            </a:xfrm>
            <a:custGeom>
              <a:avLst/>
              <a:gdLst>
                <a:gd name="T0" fmla="*/ 0 w 441"/>
                <a:gd name="T1" fmla="*/ 0 h 1"/>
                <a:gd name="T2" fmla="*/ 441 w 441"/>
                <a:gd name="T3" fmla="*/ 0 h 1"/>
                <a:gd name="T4" fmla="*/ 0 w 441"/>
                <a:gd name="T5" fmla="*/ 0 h 1"/>
                <a:gd name="T6" fmla="*/ 0 w 441"/>
                <a:gd name="T7" fmla="*/ 0 h 1"/>
                <a:gd name="T8" fmla="*/ 0 60000 65536"/>
                <a:gd name="T9" fmla="*/ 0 60000 65536"/>
                <a:gd name="T10" fmla="*/ 0 60000 65536"/>
                <a:gd name="T11" fmla="*/ 0 60000 65536"/>
                <a:gd name="T12" fmla="*/ 0 w 441"/>
                <a:gd name="T13" fmla="*/ 0 h 1"/>
                <a:gd name="T14" fmla="*/ 441 w 441"/>
                <a:gd name="T15" fmla="*/ 1 h 1"/>
              </a:gdLst>
              <a:ahLst/>
              <a:cxnLst>
                <a:cxn ang="T8">
                  <a:pos x="T0" y="T1"/>
                </a:cxn>
                <a:cxn ang="T9">
                  <a:pos x="T2" y="T3"/>
                </a:cxn>
                <a:cxn ang="T10">
                  <a:pos x="T4" y="T5"/>
                </a:cxn>
                <a:cxn ang="T11">
                  <a:pos x="T6" y="T7"/>
                </a:cxn>
              </a:cxnLst>
              <a:rect l="T12" t="T13" r="T14" b="T15"/>
              <a:pathLst>
                <a:path w="441" h="1">
                  <a:moveTo>
                    <a:pt x="0" y="0"/>
                  </a:moveTo>
                  <a:lnTo>
                    <a:pt x="441" y="0"/>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3" name="Freeform 55"/>
            <p:cNvSpPr>
              <a:spLocks noChangeAspect="1"/>
            </p:cNvSpPr>
            <p:nvPr/>
          </p:nvSpPr>
          <p:spPr bwMode="auto">
            <a:xfrm>
              <a:off x="2509" y="2251"/>
              <a:ext cx="161" cy="95"/>
            </a:xfrm>
            <a:custGeom>
              <a:avLst/>
              <a:gdLst>
                <a:gd name="T0" fmla="*/ 161 w 161"/>
                <a:gd name="T1" fmla="*/ 0 h 95"/>
                <a:gd name="T2" fmla="*/ 0 w 161"/>
                <a:gd name="T3" fmla="*/ 51 h 95"/>
                <a:gd name="T4" fmla="*/ 161 w 161"/>
                <a:gd name="T5" fmla="*/ 95 h 95"/>
                <a:gd name="T6" fmla="*/ 161 w 161"/>
                <a:gd name="T7" fmla="*/ 0 h 95"/>
                <a:gd name="T8" fmla="*/ 161 w 161"/>
                <a:gd name="T9" fmla="*/ 0 h 95"/>
                <a:gd name="T10" fmla="*/ 0 60000 65536"/>
                <a:gd name="T11" fmla="*/ 0 60000 65536"/>
                <a:gd name="T12" fmla="*/ 0 60000 65536"/>
                <a:gd name="T13" fmla="*/ 0 60000 65536"/>
                <a:gd name="T14" fmla="*/ 0 60000 65536"/>
                <a:gd name="T15" fmla="*/ 0 w 161"/>
                <a:gd name="T16" fmla="*/ 0 h 95"/>
                <a:gd name="T17" fmla="*/ 161 w 161"/>
                <a:gd name="T18" fmla="*/ 95 h 95"/>
              </a:gdLst>
              <a:ahLst/>
              <a:cxnLst>
                <a:cxn ang="T10">
                  <a:pos x="T0" y="T1"/>
                </a:cxn>
                <a:cxn ang="T11">
                  <a:pos x="T2" y="T3"/>
                </a:cxn>
                <a:cxn ang="T12">
                  <a:pos x="T4" y="T5"/>
                </a:cxn>
                <a:cxn ang="T13">
                  <a:pos x="T6" y="T7"/>
                </a:cxn>
                <a:cxn ang="T14">
                  <a:pos x="T8" y="T9"/>
                </a:cxn>
              </a:cxnLst>
              <a:rect l="T15" t="T16" r="T17" b="T18"/>
              <a:pathLst>
                <a:path w="161" h="95">
                  <a:moveTo>
                    <a:pt x="161" y="0"/>
                  </a:moveTo>
                  <a:lnTo>
                    <a:pt x="0" y="51"/>
                  </a:lnTo>
                  <a:lnTo>
                    <a:pt x="161" y="95"/>
                  </a:lnTo>
                  <a:lnTo>
                    <a:pt x="161"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4" name="Freeform 56"/>
            <p:cNvSpPr>
              <a:spLocks noChangeAspect="1"/>
            </p:cNvSpPr>
            <p:nvPr/>
          </p:nvSpPr>
          <p:spPr bwMode="auto">
            <a:xfrm>
              <a:off x="3053" y="2251"/>
              <a:ext cx="162" cy="95"/>
            </a:xfrm>
            <a:custGeom>
              <a:avLst/>
              <a:gdLst>
                <a:gd name="T0" fmla="*/ 0 w 162"/>
                <a:gd name="T1" fmla="*/ 95 h 95"/>
                <a:gd name="T2" fmla="*/ 162 w 162"/>
                <a:gd name="T3" fmla="*/ 44 h 95"/>
                <a:gd name="T4" fmla="*/ 0 w 162"/>
                <a:gd name="T5" fmla="*/ 0 h 95"/>
                <a:gd name="T6" fmla="*/ 0 w 162"/>
                <a:gd name="T7" fmla="*/ 95 h 95"/>
                <a:gd name="T8" fmla="*/ 0 w 162"/>
                <a:gd name="T9" fmla="*/ 95 h 95"/>
                <a:gd name="T10" fmla="*/ 0 60000 65536"/>
                <a:gd name="T11" fmla="*/ 0 60000 65536"/>
                <a:gd name="T12" fmla="*/ 0 60000 65536"/>
                <a:gd name="T13" fmla="*/ 0 60000 65536"/>
                <a:gd name="T14" fmla="*/ 0 60000 65536"/>
                <a:gd name="T15" fmla="*/ 0 w 162"/>
                <a:gd name="T16" fmla="*/ 0 h 95"/>
                <a:gd name="T17" fmla="*/ 162 w 162"/>
                <a:gd name="T18" fmla="*/ 95 h 95"/>
              </a:gdLst>
              <a:ahLst/>
              <a:cxnLst>
                <a:cxn ang="T10">
                  <a:pos x="T0" y="T1"/>
                </a:cxn>
                <a:cxn ang="T11">
                  <a:pos x="T2" y="T3"/>
                </a:cxn>
                <a:cxn ang="T12">
                  <a:pos x="T4" y="T5"/>
                </a:cxn>
                <a:cxn ang="T13">
                  <a:pos x="T6" y="T7"/>
                </a:cxn>
                <a:cxn ang="T14">
                  <a:pos x="T8" y="T9"/>
                </a:cxn>
              </a:cxnLst>
              <a:rect l="T15" t="T16" r="T17" b="T18"/>
              <a:pathLst>
                <a:path w="162" h="95">
                  <a:moveTo>
                    <a:pt x="0" y="95"/>
                  </a:moveTo>
                  <a:lnTo>
                    <a:pt x="162" y="44"/>
                  </a:lnTo>
                  <a:lnTo>
                    <a:pt x="0" y="0"/>
                  </a:lnTo>
                  <a:lnTo>
                    <a:pt x="0" y="95"/>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5" name="Freeform 57"/>
            <p:cNvSpPr>
              <a:spLocks noChangeAspect="1"/>
            </p:cNvSpPr>
            <p:nvPr/>
          </p:nvSpPr>
          <p:spPr bwMode="auto">
            <a:xfrm>
              <a:off x="3575" y="2111"/>
              <a:ext cx="353" cy="367"/>
            </a:xfrm>
            <a:custGeom>
              <a:avLst/>
              <a:gdLst>
                <a:gd name="T0" fmla="*/ 177 w 353"/>
                <a:gd name="T1" fmla="*/ 367 h 367"/>
                <a:gd name="T2" fmla="*/ 213 w 353"/>
                <a:gd name="T3" fmla="*/ 367 h 367"/>
                <a:gd name="T4" fmla="*/ 243 w 353"/>
                <a:gd name="T5" fmla="*/ 353 h 367"/>
                <a:gd name="T6" fmla="*/ 302 w 353"/>
                <a:gd name="T7" fmla="*/ 316 h 367"/>
                <a:gd name="T8" fmla="*/ 338 w 353"/>
                <a:gd name="T9" fmla="*/ 257 h 367"/>
                <a:gd name="T10" fmla="*/ 353 w 353"/>
                <a:gd name="T11" fmla="*/ 220 h 367"/>
                <a:gd name="T12" fmla="*/ 353 w 353"/>
                <a:gd name="T13" fmla="*/ 184 h 367"/>
                <a:gd name="T14" fmla="*/ 353 w 353"/>
                <a:gd name="T15" fmla="*/ 147 h 367"/>
                <a:gd name="T16" fmla="*/ 338 w 353"/>
                <a:gd name="T17" fmla="*/ 110 h 367"/>
                <a:gd name="T18" fmla="*/ 302 w 353"/>
                <a:gd name="T19" fmla="*/ 52 h 367"/>
                <a:gd name="T20" fmla="*/ 243 w 353"/>
                <a:gd name="T21" fmla="*/ 15 h 367"/>
                <a:gd name="T22" fmla="*/ 213 w 353"/>
                <a:gd name="T23" fmla="*/ 7 h 367"/>
                <a:gd name="T24" fmla="*/ 177 w 353"/>
                <a:gd name="T25" fmla="*/ 0 h 367"/>
                <a:gd name="T26" fmla="*/ 140 w 353"/>
                <a:gd name="T27" fmla="*/ 7 h 367"/>
                <a:gd name="T28" fmla="*/ 110 w 353"/>
                <a:gd name="T29" fmla="*/ 15 h 367"/>
                <a:gd name="T30" fmla="*/ 52 w 353"/>
                <a:gd name="T31" fmla="*/ 52 h 367"/>
                <a:gd name="T32" fmla="*/ 15 w 353"/>
                <a:gd name="T33" fmla="*/ 110 h 367"/>
                <a:gd name="T34" fmla="*/ 7 w 353"/>
                <a:gd name="T35" fmla="*/ 147 h 367"/>
                <a:gd name="T36" fmla="*/ 0 w 353"/>
                <a:gd name="T37" fmla="*/ 184 h 367"/>
                <a:gd name="T38" fmla="*/ 7 w 353"/>
                <a:gd name="T39" fmla="*/ 220 h 367"/>
                <a:gd name="T40" fmla="*/ 15 w 353"/>
                <a:gd name="T41" fmla="*/ 257 h 367"/>
                <a:gd name="T42" fmla="*/ 52 w 353"/>
                <a:gd name="T43" fmla="*/ 316 h 367"/>
                <a:gd name="T44" fmla="*/ 110 w 353"/>
                <a:gd name="T45" fmla="*/ 353 h 367"/>
                <a:gd name="T46" fmla="*/ 140 w 353"/>
                <a:gd name="T47" fmla="*/ 367 h 367"/>
                <a:gd name="T48" fmla="*/ 177 w 353"/>
                <a:gd name="T49" fmla="*/ 367 h 367"/>
                <a:gd name="T50" fmla="*/ 177 w 353"/>
                <a:gd name="T51" fmla="*/ 367 h 36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53"/>
                <a:gd name="T79" fmla="*/ 0 h 367"/>
                <a:gd name="T80" fmla="*/ 353 w 353"/>
                <a:gd name="T81" fmla="*/ 367 h 36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53" h="367">
                  <a:moveTo>
                    <a:pt x="177" y="367"/>
                  </a:moveTo>
                  <a:lnTo>
                    <a:pt x="213" y="367"/>
                  </a:lnTo>
                  <a:lnTo>
                    <a:pt x="243" y="353"/>
                  </a:lnTo>
                  <a:lnTo>
                    <a:pt x="302" y="316"/>
                  </a:lnTo>
                  <a:lnTo>
                    <a:pt x="338" y="257"/>
                  </a:lnTo>
                  <a:lnTo>
                    <a:pt x="353" y="220"/>
                  </a:lnTo>
                  <a:lnTo>
                    <a:pt x="353" y="184"/>
                  </a:lnTo>
                  <a:lnTo>
                    <a:pt x="353" y="147"/>
                  </a:lnTo>
                  <a:lnTo>
                    <a:pt x="338" y="110"/>
                  </a:lnTo>
                  <a:lnTo>
                    <a:pt x="302" y="52"/>
                  </a:lnTo>
                  <a:lnTo>
                    <a:pt x="243" y="15"/>
                  </a:lnTo>
                  <a:lnTo>
                    <a:pt x="213" y="7"/>
                  </a:lnTo>
                  <a:lnTo>
                    <a:pt x="177" y="0"/>
                  </a:lnTo>
                  <a:lnTo>
                    <a:pt x="140" y="7"/>
                  </a:lnTo>
                  <a:lnTo>
                    <a:pt x="110" y="15"/>
                  </a:lnTo>
                  <a:lnTo>
                    <a:pt x="52" y="52"/>
                  </a:lnTo>
                  <a:lnTo>
                    <a:pt x="15" y="110"/>
                  </a:lnTo>
                  <a:lnTo>
                    <a:pt x="7" y="147"/>
                  </a:lnTo>
                  <a:lnTo>
                    <a:pt x="0" y="184"/>
                  </a:lnTo>
                  <a:lnTo>
                    <a:pt x="7" y="220"/>
                  </a:lnTo>
                  <a:lnTo>
                    <a:pt x="15" y="257"/>
                  </a:lnTo>
                  <a:lnTo>
                    <a:pt x="52" y="316"/>
                  </a:lnTo>
                  <a:lnTo>
                    <a:pt x="110" y="353"/>
                  </a:lnTo>
                  <a:lnTo>
                    <a:pt x="140" y="367"/>
                  </a:lnTo>
                  <a:lnTo>
                    <a:pt x="177" y="367"/>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6" name="Freeform 58"/>
            <p:cNvSpPr>
              <a:spLocks noChangeAspect="1"/>
            </p:cNvSpPr>
            <p:nvPr/>
          </p:nvSpPr>
          <p:spPr bwMode="auto">
            <a:xfrm>
              <a:off x="3752" y="2295"/>
              <a:ext cx="176" cy="183"/>
            </a:xfrm>
            <a:custGeom>
              <a:avLst/>
              <a:gdLst>
                <a:gd name="T0" fmla="*/ 0 w 176"/>
                <a:gd name="T1" fmla="*/ 183 h 183"/>
                <a:gd name="T2" fmla="*/ 36 w 176"/>
                <a:gd name="T3" fmla="*/ 183 h 183"/>
                <a:gd name="T4" fmla="*/ 66 w 176"/>
                <a:gd name="T5" fmla="*/ 169 h 183"/>
                <a:gd name="T6" fmla="*/ 125 w 176"/>
                <a:gd name="T7" fmla="*/ 132 h 183"/>
                <a:gd name="T8" fmla="*/ 161 w 176"/>
                <a:gd name="T9" fmla="*/ 73 h 183"/>
                <a:gd name="T10" fmla="*/ 176 w 176"/>
                <a:gd name="T11" fmla="*/ 36 h 183"/>
                <a:gd name="T12" fmla="*/ 176 w 176"/>
                <a:gd name="T13" fmla="*/ 0 h 183"/>
                <a:gd name="T14" fmla="*/ 176 w 176"/>
                <a:gd name="T15" fmla="*/ 0 h 183"/>
                <a:gd name="T16" fmla="*/ 176 w 176"/>
                <a:gd name="T17" fmla="*/ 36 h 183"/>
                <a:gd name="T18" fmla="*/ 161 w 176"/>
                <a:gd name="T19" fmla="*/ 73 h 183"/>
                <a:gd name="T20" fmla="*/ 125 w 176"/>
                <a:gd name="T21" fmla="*/ 132 h 183"/>
                <a:gd name="T22" fmla="*/ 66 w 176"/>
                <a:gd name="T23" fmla="*/ 169 h 183"/>
                <a:gd name="T24" fmla="*/ 36 w 176"/>
                <a:gd name="T25" fmla="*/ 183 h 183"/>
                <a:gd name="T26" fmla="*/ 0 w 176"/>
                <a:gd name="T27" fmla="*/ 183 h 183"/>
                <a:gd name="T28" fmla="*/ 0 w 176"/>
                <a:gd name="T29" fmla="*/ 183 h 1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6"/>
                <a:gd name="T46" fmla="*/ 0 h 183"/>
                <a:gd name="T47" fmla="*/ 176 w 176"/>
                <a:gd name="T48" fmla="*/ 183 h 1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6" h="183">
                  <a:moveTo>
                    <a:pt x="0" y="183"/>
                  </a:moveTo>
                  <a:lnTo>
                    <a:pt x="36" y="183"/>
                  </a:lnTo>
                  <a:lnTo>
                    <a:pt x="66" y="169"/>
                  </a:lnTo>
                  <a:lnTo>
                    <a:pt x="125" y="132"/>
                  </a:lnTo>
                  <a:lnTo>
                    <a:pt x="161" y="73"/>
                  </a:lnTo>
                  <a:lnTo>
                    <a:pt x="176" y="36"/>
                  </a:lnTo>
                  <a:lnTo>
                    <a:pt x="176" y="0"/>
                  </a:lnTo>
                  <a:lnTo>
                    <a:pt x="176" y="36"/>
                  </a:lnTo>
                  <a:lnTo>
                    <a:pt x="161" y="73"/>
                  </a:lnTo>
                  <a:lnTo>
                    <a:pt x="125" y="132"/>
                  </a:lnTo>
                  <a:lnTo>
                    <a:pt x="66" y="169"/>
                  </a:lnTo>
                  <a:lnTo>
                    <a:pt x="36" y="183"/>
                  </a:lnTo>
                  <a:lnTo>
                    <a:pt x="0" y="1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7" name="Freeform 59"/>
            <p:cNvSpPr>
              <a:spLocks noChangeAspect="1" noEditPoints="1"/>
            </p:cNvSpPr>
            <p:nvPr/>
          </p:nvSpPr>
          <p:spPr bwMode="auto">
            <a:xfrm>
              <a:off x="3752" y="2111"/>
              <a:ext cx="176" cy="184"/>
            </a:xfrm>
            <a:custGeom>
              <a:avLst/>
              <a:gdLst>
                <a:gd name="T0" fmla="*/ 176 w 176"/>
                <a:gd name="T1" fmla="*/ 184 h 184"/>
                <a:gd name="T2" fmla="*/ 176 w 176"/>
                <a:gd name="T3" fmla="*/ 147 h 184"/>
                <a:gd name="T4" fmla="*/ 161 w 176"/>
                <a:gd name="T5" fmla="*/ 110 h 184"/>
                <a:gd name="T6" fmla="*/ 125 w 176"/>
                <a:gd name="T7" fmla="*/ 52 h 184"/>
                <a:gd name="T8" fmla="*/ 66 w 176"/>
                <a:gd name="T9" fmla="*/ 15 h 184"/>
                <a:gd name="T10" fmla="*/ 36 w 176"/>
                <a:gd name="T11" fmla="*/ 7 h 184"/>
                <a:gd name="T12" fmla="*/ 0 w 176"/>
                <a:gd name="T13" fmla="*/ 0 h 184"/>
                <a:gd name="T14" fmla="*/ 0 w 176"/>
                <a:gd name="T15" fmla="*/ 0 h 184"/>
                <a:gd name="T16" fmla="*/ 36 w 176"/>
                <a:gd name="T17" fmla="*/ 7 h 184"/>
                <a:gd name="T18" fmla="*/ 66 w 176"/>
                <a:gd name="T19" fmla="*/ 15 h 184"/>
                <a:gd name="T20" fmla="*/ 125 w 176"/>
                <a:gd name="T21" fmla="*/ 52 h 184"/>
                <a:gd name="T22" fmla="*/ 161 w 176"/>
                <a:gd name="T23" fmla="*/ 110 h 184"/>
                <a:gd name="T24" fmla="*/ 176 w 176"/>
                <a:gd name="T25" fmla="*/ 147 h 184"/>
                <a:gd name="T26" fmla="*/ 176 w 176"/>
                <a:gd name="T27" fmla="*/ 184 h 184"/>
                <a:gd name="T28" fmla="*/ 176 w 176"/>
                <a:gd name="T29" fmla="*/ 184 h 184"/>
                <a:gd name="T30" fmla="*/ 176 w 176"/>
                <a:gd name="T31" fmla="*/ 184 h 184"/>
                <a:gd name="T32" fmla="*/ 176 w 176"/>
                <a:gd name="T33" fmla="*/ 184 h 184"/>
                <a:gd name="T34" fmla="*/ 176 w 176"/>
                <a:gd name="T35" fmla="*/ 184 h 1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6"/>
                <a:gd name="T55" fmla="*/ 0 h 184"/>
                <a:gd name="T56" fmla="*/ 176 w 176"/>
                <a:gd name="T57" fmla="*/ 184 h 1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6" h="184">
                  <a:moveTo>
                    <a:pt x="176" y="184"/>
                  </a:moveTo>
                  <a:lnTo>
                    <a:pt x="176" y="147"/>
                  </a:lnTo>
                  <a:lnTo>
                    <a:pt x="161" y="110"/>
                  </a:lnTo>
                  <a:lnTo>
                    <a:pt x="125" y="52"/>
                  </a:lnTo>
                  <a:lnTo>
                    <a:pt x="66" y="15"/>
                  </a:lnTo>
                  <a:lnTo>
                    <a:pt x="36" y="7"/>
                  </a:lnTo>
                  <a:lnTo>
                    <a:pt x="0" y="0"/>
                  </a:lnTo>
                  <a:lnTo>
                    <a:pt x="36" y="7"/>
                  </a:lnTo>
                  <a:lnTo>
                    <a:pt x="66" y="15"/>
                  </a:lnTo>
                  <a:lnTo>
                    <a:pt x="125" y="52"/>
                  </a:lnTo>
                  <a:lnTo>
                    <a:pt x="161" y="110"/>
                  </a:lnTo>
                  <a:lnTo>
                    <a:pt x="176" y="147"/>
                  </a:lnTo>
                  <a:lnTo>
                    <a:pt x="176" y="184"/>
                  </a:lnTo>
                  <a:close/>
                  <a:moveTo>
                    <a:pt x="176" y="184"/>
                  </a:moveTo>
                  <a:lnTo>
                    <a:pt x="176" y="1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8" name="Freeform 60"/>
            <p:cNvSpPr>
              <a:spLocks noChangeAspect="1" noEditPoints="1"/>
            </p:cNvSpPr>
            <p:nvPr/>
          </p:nvSpPr>
          <p:spPr bwMode="auto">
            <a:xfrm>
              <a:off x="3575" y="2111"/>
              <a:ext cx="177" cy="184"/>
            </a:xfrm>
            <a:custGeom>
              <a:avLst/>
              <a:gdLst>
                <a:gd name="T0" fmla="*/ 177 w 177"/>
                <a:gd name="T1" fmla="*/ 0 h 184"/>
                <a:gd name="T2" fmla="*/ 140 w 177"/>
                <a:gd name="T3" fmla="*/ 7 h 184"/>
                <a:gd name="T4" fmla="*/ 110 w 177"/>
                <a:gd name="T5" fmla="*/ 15 h 184"/>
                <a:gd name="T6" fmla="*/ 52 w 177"/>
                <a:gd name="T7" fmla="*/ 52 h 184"/>
                <a:gd name="T8" fmla="*/ 15 w 177"/>
                <a:gd name="T9" fmla="*/ 110 h 184"/>
                <a:gd name="T10" fmla="*/ 7 w 177"/>
                <a:gd name="T11" fmla="*/ 147 h 184"/>
                <a:gd name="T12" fmla="*/ 0 w 177"/>
                <a:gd name="T13" fmla="*/ 184 h 184"/>
                <a:gd name="T14" fmla="*/ 0 w 177"/>
                <a:gd name="T15" fmla="*/ 184 h 184"/>
                <a:gd name="T16" fmla="*/ 7 w 177"/>
                <a:gd name="T17" fmla="*/ 147 h 184"/>
                <a:gd name="T18" fmla="*/ 15 w 177"/>
                <a:gd name="T19" fmla="*/ 110 h 184"/>
                <a:gd name="T20" fmla="*/ 52 w 177"/>
                <a:gd name="T21" fmla="*/ 52 h 184"/>
                <a:gd name="T22" fmla="*/ 110 w 177"/>
                <a:gd name="T23" fmla="*/ 15 h 184"/>
                <a:gd name="T24" fmla="*/ 140 w 177"/>
                <a:gd name="T25" fmla="*/ 7 h 184"/>
                <a:gd name="T26" fmla="*/ 177 w 177"/>
                <a:gd name="T27" fmla="*/ 0 h 184"/>
                <a:gd name="T28" fmla="*/ 177 w 177"/>
                <a:gd name="T29" fmla="*/ 0 h 184"/>
                <a:gd name="T30" fmla="*/ 177 w 177"/>
                <a:gd name="T31" fmla="*/ 0 h 184"/>
                <a:gd name="T32" fmla="*/ 177 w 177"/>
                <a:gd name="T33" fmla="*/ 0 h 184"/>
                <a:gd name="T34" fmla="*/ 177 w 177"/>
                <a:gd name="T35" fmla="*/ 0 h 1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7"/>
                <a:gd name="T55" fmla="*/ 0 h 184"/>
                <a:gd name="T56" fmla="*/ 177 w 177"/>
                <a:gd name="T57" fmla="*/ 184 h 1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7" h="184">
                  <a:moveTo>
                    <a:pt x="177" y="0"/>
                  </a:moveTo>
                  <a:lnTo>
                    <a:pt x="140" y="7"/>
                  </a:lnTo>
                  <a:lnTo>
                    <a:pt x="110" y="15"/>
                  </a:lnTo>
                  <a:lnTo>
                    <a:pt x="52" y="52"/>
                  </a:lnTo>
                  <a:lnTo>
                    <a:pt x="15" y="110"/>
                  </a:lnTo>
                  <a:lnTo>
                    <a:pt x="7" y="147"/>
                  </a:lnTo>
                  <a:lnTo>
                    <a:pt x="0" y="184"/>
                  </a:lnTo>
                  <a:lnTo>
                    <a:pt x="7" y="147"/>
                  </a:lnTo>
                  <a:lnTo>
                    <a:pt x="15" y="110"/>
                  </a:lnTo>
                  <a:lnTo>
                    <a:pt x="52" y="52"/>
                  </a:lnTo>
                  <a:lnTo>
                    <a:pt x="110" y="15"/>
                  </a:lnTo>
                  <a:lnTo>
                    <a:pt x="140" y="7"/>
                  </a:lnTo>
                  <a:lnTo>
                    <a:pt x="177" y="0"/>
                  </a:lnTo>
                  <a:close/>
                  <a:moveTo>
                    <a:pt x="177" y="0"/>
                  </a:moveTo>
                  <a:lnTo>
                    <a:pt x="177"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69" name="Freeform 61"/>
            <p:cNvSpPr>
              <a:spLocks noChangeAspect="1" noEditPoints="1"/>
            </p:cNvSpPr>
            <p:nvPr/>
          </p:nvSpPr>
          <p:spPr bwMode="auto">
            <a:xfrm>
              <a:off x="3575" y="2295"/>
              <a:ext cx="177" cy="183"/>
            </a:xfrm>
            <a:custGeom>
              <a:avLst/>
              <a:gdLst>
                <a:gd name="T0" fmla="*/ 0 w 177"/>
                <a:gd name="T1" fmla="*/ 0 h 183"/>
                <a:gd name="T2" fmla="*/ 7 w 177"/>
                <a:gd name="T3" fmla="*/ 36 h 183"/>
                <a:gd name="T4" fmla="*/ 15 w 177"/>
                <a:gd name="T5" fmla="*/ 73 h 183"/>
                <a:gd name="T6" fmla="*/ 52 w 177"/>
                <a:gd name="T7" fmla="*/ 132 h 183"/>
                <a:gd name="T8" fmla="*/ 110 w 177"/>
                <a:gd name="T9" fmla="*/ 169 h 183"/>
                <a:gd name="T10" fmla="*/ 140 w 177"/>
                <a:gd name="T11" fmla="*/ 183 h 183"/>
                <a:gd name="T12" fmla="*/ 177 w 177"/>
                <a:gd name="T13" fmla="*/ 183 h 183"/>
                <a:gd name="T14" fmla="*/ 177 w 177"/>
                <a:gd name="T15" fmla="*/ 183 h 183"/>
                <a:gd name="T16" fmla="*/ 140 w 177"/>
                <a:gd name="T17" fmla="*/ 183 h 183"/>
                <a:gd name="T18" fmla="*/ 110 w 177"/>
                <a:gd name="T19" fmla="*/ 169 h 183"/>
                <a:gd name="T20" fmla="*/ 52 w 177"/>
                <a:gd name="T21" fmla="*/ 132 h 183"/>
                <a:gd name="T22" fmla="*/ 15 w 177"/>
                <a:gd name="T23" fmla="*/ 73 h 183"/>
                <a:gd name="T24" fmla="*/ 7 w 177"/>
                <a:gd name="T25" fmla="*/ 36 h 183"/>
                <a:gd name="T26" fmla="*/ 0 w 177"/>
                <a:gd name="T27" fmla="*/ 0 h 183"/>
                <a:gd name="T28" fmla="*/ 0 w 177"/>
                <a:gd name="T29" fmla="*/ 0 h 183"/>
                <a:gd name="T30" fmla="*/ 0 w 177"/>
                <a:gd name="T31" fmla="*/ 0 h 183"/>
                <a:gd name="T32" fmla="*/ 0 w 177"/>
                <a:gd name="T33" fmla="*/ 0 h 183"/>
                <a:gd name="T34" fmla="*/ 0 w 177"/>
                <a:gd name="T35" fmla="*/ 0 h 1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7"/>
                <a:gd name="T55" fmla="*/ 0 h 183"/>
                <a:gd name="T56" fmla="*/ 177 w 177"/>
                <a:gd name="T57" fmla="*/ 183 h 1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7" h="183">
                  <a:moveTo>
                    <a:pt x="0" y="0"/>
                  </a:moveTo>
                  <a:lnTo>
                    <a:pt x="7" y="36"/>
                  </a:lnTo>
                  <a:lnTo>
                    <a:pt x="15" y="73"/>
                  </a:lnTo>
                  <a:lnTo>
                    <a:pt x="52" y="132"/>
                  </a:lnTo>
                  <a:lnTo>
                    <a:pt x="110" y="169"/>
                  </a:lnTo>
                  <a:lnTo>
                    <a:pt x="140" y="183"/>
                  </a:lnTo>
                  <a:lnTo>
                    <a:pt x="177" y="183"/>
                  </a:lnTo>
                  <a:lnTo>
                    <a:pt x="140" y="183"/>
                  </a:lnTo>
                  <a:lnTo>
                    <a:pt x="110" y="169"/>
                  </a:lnTo>
                  <a:lnTo>
                    <a:pt x="52" y="132"/>
                  </a:lnTo>
                  <a:lnTo>
                    <a:pt x="15" y="73"/>
                  </a:lnTo>
                  <a:lnTo>
                    <a:pt x="7" y="3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0" name="Freeform 62"/>
            <p:cNvSpPr>
              <a:spLocks noChangeAspect="1"/>
            </p:cNvSpPr>
            <p:nvPr/>
          </p:nvSpPr>
          <p:spPr bwMode="auto">
            <a:xfrm>
              <a:off x="3752" y="247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1" name="Freeform 63"/>
            <p:cNvSpPr>
              <a:spLocks noChangeAspect="1"/>
            </p:cNvSpPr>
            <p:nvPr/>
          </p:nvSpPr>
          <p:spPr bwMode="auto">
            <a:xfrm>
              <a:off x="3752" y="2295"/>
              <a:ext cx="1" cy="139"/>
            </a:xfrm>
            <a:custGeom>
              <a:avLst/>
              <a:gdLst>
                <a:gd name="T0" fmla="*/ 0 w 1"/>
                <a:gd name="T1" fmla="*/ 139 h 139"/>
                <a:gd name="T2" fmla="*/ 0 w 1"/>
                <a:gd name="T3" fmla="*/ 0 h 139"/>
                <a:gd name="T4" fmla="*/ 0 w 1"/>
                <a:gd name="T5" fmla="*/ 139 h 139"/>
                <a:gd name="T6" fmla="*/ 0 w 1"/>
                <a:gd name="T7" fmla="*/ 139 h 139"/>
                <a:gd name="T8" fmla="*/ 0 60000 65536"/>
                <a:gd name="T9" fmla="*/ 0 60000 65536"/>
                <a:gd name="T10" fmla="*/ 0 60000 65536"/>
                <a:gd name="T11" fmla="*/ 0 60000 65536"/>
                <a:gd name="T12" fmla="*/ 0 w 1"/>
                <a:gd name="T13" fmla="*/ 0 h 139"/>
                <a:gd name="T14" fmla="*/ 1 w 1"/>
                <a:gd name="T15" fmla="*/ 139 h 139"/>
              </a:gdLst>
              <a:ahLst/>
              <a:cxnLst>
                <a:cxn ang="T8">
                  <a:pos x="T0" y="T1"/>
                </a:cxn>
                <a:cxn ang="T9">
                  <a:pos x="T2" y="T3"/>
                </a:cxn>
                <a:cxn ang="T10">
                  <a:pos x="T4" y="T5"/>
                </a:cxn>
                <a:cxn ang="T11">
                  <a:pos x="T6" y="T7"/>
                </a:cxn>
              </a:cxnLst>
              <a:rect l="T12" t="T13" r="T14" b="T15"/>
              <a:pathLst>
                <a:path w="1" h="139">
                  <a:moveTo>
                    <a:pt x="0" y="139"/>
                  </a:moveTo>
                  <a:lnTo>
                    <a:pt x="0" y="0"/>
                  </a:lnTo>
                  <a:lnTo>
                    <a:pt x="0" y="1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2" name="Freeform 64"/>
            <p:cNvSpPr>
              <a:spLocks noChangeAspect="1"/>
            </p:cNvSpPr>
            <p:nvPr/>
          </p:nvSpPr>
          <p:spPr bwMode="auto">
            <a:xfrm>
              <a:off x="3707" y="2155"/>
              <a:ext cx="89" cy="169"/>
            </a:xfrm>
            <a:custGeom>
              <a:avLst/>
              <a:gdLst>
                <a:gd name="T0" fmla="*/ 89 w 89"/>
                <a:gd name="T1" fmla="*/ 169 h 169"/>
                <a:gd name="T2" fmla="*/ 45 w 89"/>
                <a:gd name="T3" fmla="*/ 0 h 169"/>
                <a:gd name="T4" fmla="*/ 0 w 89"/>
                <a:gd name="T5" fmla="*/ 169 h 169"/>
                <a:gd name="T6" fmla="*/ 89 w 89"/>
                <a:gd name="T7" fmla="*/ 169 h 169"/>
                <a:gd name="T8" fmla="*/ 89 w 89"/>
                <a:gd name="T9" fmla="*/ 169 h 169"/>
                <a:gd name="T10" fmla="*/ 0 60000 65536"/>
                <a:gd name="T11" fmla="*/ 0 60000 65536"/>
                <a:gd name="T12" fmla="*/ 0 60000 65536"/>
                <a:gd name="T13" fmla="*/ 0 60000 65536"/>
                <a:gd name="T14" fmla="*/ 0 60000 65536"/>
                <a:gd name="T15" fmla="*/ 0 w 89"/>
                <a:gd name="T16" fmla="*/ 0 h 169"/>
                <a:gd name="T17" fmla="*/ 89 w 89"/>
                <a:gd name="T18" fmla="*/ 169 h 169"/>
              </a:gdLst>
              <a:ahLst/>
              <a:cxnLst>
                <a:cxn ang="T10">
                  <a:pos x="T0" y="T1"/>
                </a:cxn>
                <a:cxn ang="T11">
                  <a:pos x="T2" y="T3"/>
                </a:cxn>
                <a:cxn ang="T12">
                  <a:pos x="T4" y="T5"/>
                </a:cxn>
                <a:cxn ang="T13">
                  <a:pos x="T6" y="T7"/>
                </a:cxn>
                <a:cxn ang="T14">
                  <a:pos x="T8" y="T9"/>
                </a:cxn>
              </a:cxnLst>
              <a:rect l="T15" t="T16" r="T17" b="T18"/>
              <a:pathLst>
                <a:path w="89" h="169">
                  <a:moveTo>
                    <a:pt x="89" y="169"/>
                  </a:moveTo>
                  <a:lnTo>
                    <a:pt x="45" y="0"/>
                  </a:lnTo>
                  <a:lnTo>
                    <a:pt x="0" y="169"/>
                  </a:lnTo>
                  <a:lnTo>
                    <a:pt x="89" y="16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3" name="Freeform 65"/>
            <p:cNvSpPr>
              <a:spLocks noChangeAspect="1"/>
            </p:cNvSpPr>
            <p:nvPr/>
          </p:nvSpPr>
          <p:spPr bwMode="auto">
            <a:xfrm>
              <a:off x="1133" y="1744"/>
              <a:ext cx="419" cy="51"/>
            </a:xfrm>
            <a:custGeom>
              <a:avLst/>
              <a:gdLst>
                <a:gd name="T0" fmla="*/ 0 w 419"/>
                <a:gd name="T1" fmla="*/ 51 h 51"/>
                <a:gd name="T2" fmla="*/ 0 w 419"/>
                <a:gd name="T3" fmla="*/ 0 h 51"/>
                <a:gd name="T4" fmla="*/ 419 w 419"/>
                <a:gd name="T5" fmla="*/ 0 h 51"/>
                <a:gd name="T6" fmla="*/ 419 w 419"/>
                <a:gd name="T7" fmla="*/ 51 h 51"/>
                <a:gd name="T8" fmla="*/ 0 w 419"/>
                <a:gd name="T9" fmla="*/ 51 h 51"/>
                <a:gd name="T10" fmla="*/ 0 w 419"/>
                <a:gd name="T11" fmla="*/ 51 h 51"/>
                <a:gd name="T12" fmla="*/ 0 60000 65536"/>
                <a:gd name="T13" fmla="*/ 0 60000 65536"/>
                <a:gd name="T14" fmla="*/ 0 60000 65536"/>
                <a:gd name="T15" fmla="*/ 0 60000 65536"/>
                <a:gd name="T16" fmla="*/ 0 60000 65536"/>
                <a:gd name="T17" fmla="*/ 0 60000 65536"/>
                <a:gd name="T18" fmla="*/ 0 w 419"/>
                <a:gd name="T19" fmla="*/ 0 h 51"/>
                <a:gd name="T20" fmla="*/ 419 w 419"/>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419" h="51">
                  <a:moveTo>
                    <a:pt x="0" y="51"/>
                  </a:moveTo>
                  <a:lnTo>
                    <a:pt x="0" y="0"/>
                  </a:lnTo>
                  <a:lnTo>
                    <a:pt x="419" y="0"/>
                  </a:lnTo>
                  <a:lnTo>
                    <a:pt x="419" y="51"/>
                  </a:lnTo>
                  <a:lnTo>
                    <a:pt x="0" y="51"/>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4" name="Freeform 66"/>
            <p:cNvSpPr>
              <a:spLocks noChangeAspect="1"/>
            </p:cNvSpPr>
            <p:nvPr/>
          </p:nvSpPr>
          <p:spPr bwMode="auto">
            <a:xfrm>
              <a:off x="1530" y="1766"/>
              <a:ext cx="30" cy="66"/>
            </a:xfrm>
            <a:custGeom>
              <a:avLst/>
              <a:gdLst>
                <a:gd name="T0" fmla="*/ 30 w 30"/>
                <a:gd name="T1" fmla="*/ 0 h 66"/>
                <a:gd name="T2" fmla="*/ 0 w 30"/>
                <a:gd name="T3" fmla="*/ 66 h 66"/>
                <a:gd name="T4" fmla="*/ 30 w 30"/>
                <a:gd name="T5" fmla="*/ 0 h 66"/>
                <a:gd name="T6" fmla="*/ 30 w 30"/>
                <a:gd name="T7" fmla="*/ 0 h 66"/>
                <a:gd name="T8" fmla="*/ 0 60000 65536"/>
                <a:gd name="T9" fmla="*/ 0 60000 65536"/>
                <a:gd name="T10" fmla="*/ 0 60000 65536"/>
                <a:gd name="T11" fmla="*/ 0 60000 65536"/>
                <a:gd name="T12" fmla="*/ 0 w 30"/>
                <a:gd name="T13" fmla="*/ 0 h 66"/>
                <a:gd name="T14" fmla="*/ 30 w 30"/>
                <a:gd name="T15" fmla="*/ 66 h 66"/>
              </a:gdLst>
              <a:ahLst/>
              <a:cxnLst>
                <a:cxn ang="T8">
                  <a:pos x="T0" y="T1"/>
                </a:cxn>
                <a:cxn ang="T9">
                  <a:pos x="T2" y="T3"/>
                </a:cxn>
                <a:cxn ang="T10">
                  <a:pos x="T4" y="T5"/>
                </a:cxn>
                <a:cxn ang="T11">
                  <a:pos x="T6" y="T7"/>
                </a:cxn>
              </a:cxnLst>
              <a:rect l="T12" t="T13" r="T14" b="T15"/>
              <a:pathLst>
                <a:path w="30" h="66">
                  <a:moveTo>
                    <a:pt x="30" y="0"/>
                  </a:moveTo>
                  <a:lnTo>
                    <a:pt x="0" y="66"/>
                  </a:lnTo>
                  <a:lnTo>
                    <a:pt x="3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5" name="Freeform 67"/>
            <p:cNvSpPr>
              <a:spLocks noChangeAspect="1" noEditPoints="1"/>
            </p:cNvSpPr>
            <p:nvPr/>
          </p:nvSpPr>
          <p:spPr bwMode="auto">
            <a:xfrm>
              <a:off x="1501" y="1766"/>
              <a:ext cx="29" cy="66"/>
            </a:xfrm>
            <a:custGeom>
              <a:avLst/>
              <a:gdLst>
                <a:gd name="T0" fmla="*/ 29 w 29"/>
                <a:gd name="T1" fmla="*/ 66 h 66"/>
                <a:gd name="T2" fmla="*/ 0 w 29"/>
                <a:gd name="T3" fmla="*/ 0 h 66"/>
                <a:gd name="T4" fmla="*/ 29 w 29"/>
                <a:gd name="T5" fmla="*/ 66 h 66"/>
                <a:gd name="T6" fmla="*/ 29 w 29"/>
                <a:gd name="T7" fmla="*/ 66 h 66"/>
                <a:gd name="T8" fmla="*/ 29 w 29"/>
                <a:gd name="T9" fmla="*/ 66 h 66"/>
                <a:gd name="T10" fmla="*/ 29 w 29"/>
                <a:gd name="T11" fmla="*/ 66 h 66"/>
                <a:gd name="T12" fmla="*/ 29 w 29"/>
                <a:gd name="T13" fmla="*/ 66 h 66"/>
                <a:gd name="T14" fmla="*/ 0 60000 65536"/>
                <a:gd name="T15" fmla="*/ 0 60000 65536"/>
                <a:gd name="T16" fmla="*/ 0 60000 65536"/>
                <a:gd name="T17" fmla="*/ 0 60000 65536"/>
                <a:gd name="T18" fmla="*/ 0 60000 65536"/>
                <a:gd name="T19" fmla="*/ 0 60000 65536"/>
                <a:gd name="T20" fmla="*/ 0 60000 65536"/>
                <a:gd name="T21" fmla="*/ 0 w 29"/>
                <a:gd name="T22" fmla="*/ 0 h 66"/>
                <a:gd name="T23" fmla="*/ 29 w 29"/>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66">
                  <a:moveTo>
                    <a:pt x="29" y="66"/>
                  </a:moveTo>
                  <a:lnTo>
                    <a:pt x="0" y="0"/>
                  </a:lnTo>
                  <a:lnTo>
                    <a:pt x="29" y="66"/>
                  </a:lnTo>
                  <a:close/>
                  <a:moveTo>
                    <a:pt x="29" y="66"/>
                  </a:moveTo>
                  <a:lnTo>
                    <a:pt x="29"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6" name="Freeform 68"/>
            <p:cNvSpPr>
              <a:spLocks noChangeAspect="1" noEditPoints="1"/>
            </p:cNvSpPr>
            <p:nvPr/>
          </p:nvSpPr>
          <p:spPr bwMode="auto">
            <a:xfrm>
              <a:off x="1479" y="1700"/>
              <a:ext cx="22" cy="66"/>
            </a:xfrm>
            <a:custGeom>
              <a:avLst/>
              <a:gdLst>
                <a:gd name="T0" fmla="*/ 22 w 22"/>
                <a:gd name="T1" fmla="*/ 66 h 66"/>
                <a:gd name="T2" fmla="*/ 0 w 22"/>
                <a:gd name="T3" fmla="*/ 0 h 66"/>
                <a:gd name="T4" fmla="*/ 22 w 22"/>
                <a:gd name="T5" fmla="*/ 66 h 66"/>
                <a:gd name="T6" fmla="*/ 22 w 22"/>
                <a:gd name="T7" fmla="*/ 66 h 66"/>
                <a:gd name="T8" fmla="*/ 22 w 22"/>
                <a:gd name="T9" fmla="*/ 66 h 66"/>
                <a:gd name="T10" fmla="*/ 22 w 22"/>
                <a:gd name="T11" fmla="*/ 66 h 66"/>
                <a:gd name="T12" fmla="*/ 22 w 22"/>
                <a:gd name="T13" fmla="*/ 66 h 66"/>
                <a:gd name="T14" fmla="*/ 0 60000 65536"/>
                <a:gd name="T15" fmla="*/ 0 60000 65536"/>
                <a:gd name="T16" fmla="*/ 0 60000 65536"/>
                <a:gd name="T17" fmla="*/ 0 60000 65536"/>
                <a:gd name="T18" fmla="*/ 0 60000 65536"/>
                <a:gd name="T19" fmla="*/ 0 60000 65536"/>
                <a:gd name="T20" fmla="*/ 0 60000 65536"/>
                <a:gd name="T21" fmla="*/ 0 w 22"/>
                <a:gd name="T22" fmla="*/ 0 h 66"/>
                <a:gd name="T23" fmla="*/ 22 w 22"/>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66">
                  <a:moveTo>
                    <a:pt x="22" y="66"/>
                  </a:moveTo>
                  <a:lnTo>
                    <a:pt x="0" y="0"/>
                  </a:lnTo>
                  <a:lnTo>
                    <a:pt x="22" y="66"/>
                  </a:lnTo>
                  <a:close/>
                  <a:moveTo>
                    <a:pt x="22" y="66"/>
                  </a:moveTo>
                  <a:lnTo>
                    <a:pt x="22"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7" name="Freeform 69"/>
            <p:cNvSpPr>
              <a:spLocks noChangeAspect="1" noEditPoints="1"/>
            </p:cNvSpPr>
            <p:nvPr/>
          </p:nvSpPr>
          <p:spPr bwMode="auto">
            <a:xfrm>
              <a:off x="1449" y="1700"/>
              <a:ext cx="30" cy="66"/>
            </a:xfrm>
            <a:custGeom>
              <a:avLst/>
              <a:gdLst>
                <a:gd name="T0" fmla="*/ 30 w 30"/>
                <a:gd name="T1" fmla="*/ 0 h 66"/>
                <a:gd name="T2" fmla="*/ 0 w 30"/>
                <a:gd name="T3" fmla="*/ 66 h 66"/>
                <a:gd name="T4" fmla="*/ 30 w 30"/>
                <a:gd name="T5" fmla="*/ 0 h 66"/>
                <a:gd name="T6" fmla="*/ 30 w 30"/>
                <a:gd name="T7" fmla="*/ 0 h 66"/>
                <a:gd name="T8" fmla="*/ 30 w 30"/>
                <a:gd name="T9" fmla="*/ 0 h 66"/>
                <a:gd name="T10" fmla="*/ 30 w 30"/>
                <a:gd name="T11" fmla="*/ 0 h 66"/>
                <a:gd name="T12" fmla="*/ 30 w 30"/>
                <a:gd name="T13" fmla="*/ 0 h 66"/>
                <a:gd name="T14" fmla="*/ 0 60000 65536"/>
                <a:gd name="T15" fmla="*/ 0 60000 65536"/>
                <a:gd name="T16" fmla="*/ 0 60000 65536"/>
                <a:gd name="T17" fmla="*/ 0 60000 65536"/>
                <a:gd name="T18" fmla="*/ 0 60000 65536"/>
                <a:gd name="T19" fmla="*/ 0 60000 65536"/>
                <a:gd name="T20" fmla="*/ 0 60000 65536"/>
                <a:gd name="T21" fmla="*/ 0 w 30"/>
                <a:gd name="T22" fmla="*/ 0 h 66"/>
                <a:gd name="T23" fmla="*/ 30 w 30"/>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66">
                  <a:moveTo>
                    <a:pt x="30" y="0"/>
                  </a:moveTo>
                  <a:lnTo>
                    <a:pt x="0" y="66"/>
                  </a:lnTo>
                  <a:lnTo>
                    <a:pt x="30" y="0"/>
                  </a:lnTo>
                  <a:close/>
                  <a:moveTo>
                    <a:pt x="30" y="0"/>
                  </a:moveTo>
                  <a:lnTo>
                    <a:pt x="3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8" name="Freeform 70"/>
            <p:cNvSpPr>
              <a:spLocks noChangeAspect="1" noEditPoints="1"/>
            </p:cNvSpPr>
            <p:nvPr/>
          </p:nvSpPr>
          <p:spPr bwMode="auto">
            <a:xfrm>
              <a:off x="1449" y="176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79" name="Freeform 71"/>
            <p:cNvSpPr>
              <a:spLocks noChangeAspect="1" noEditPoints="1"/>
            </p:cNvSpPr>
            <p:nvPr/>
          </p:nvSpPr>
          <p:spPr bwMode="auto">
            <a:xfrm>
              <a:off x="1420" y="1766"/>
              <a:ext cx="29" cy="66"/>
            </a:xfrm>
            <a:custGeom>
              <a:avLst/>
              <a:gdLst>
                <a:gd name="T0" fmla="*/ 29 w 29"/>
                <a:gd name="T1" fmla="*/ 0 h 66"/>
                <a:gd name="T2" fmla="*/ 0 w 29"/>
                <a:gd name="T3" fmla="*/ 66 h 66"/>
                <a:gd name="T4" fmla="*/ 29 w 29"/>
                <a:gd name="T5" fmla="*/ 0 h 66"/>
                <a:gd name="T6" fmla="*/ 29 w 29"/>
                <a:gd name="T7" fmla="*/ 0 h 66"/>
                <a:gd name="T8" fmla="*/ 29 w 29"/>
                <a:gd name="T9" fmla="*/ 0 h 66"/>
                <a:gd name="T10" fmla="*/ 29 w 29"/>
                <a:gd name="T11" fmla="*/ 0 h 66"/>
                <a:gd name="T12" fmla="*/ 29 w 29"/>
                <a:gd name="T13" fmla="*/ 0 h 66"/>
                <a:gd name="T14" fmla="*/ 0 60000 65536"/>
                <a:gd name="T15" fmla="*/ 0 60000 65536"/>
                <a:gd name="T16" fmla="*/ 0 60000 65536"/>
                <a:gd name="T17" fmla="*/ 0 60000 65536"/>
                <a:gd name="T18" fmla="*/ 0 60000 65536"/>
                <a:gd name="T19" fmla="*/ 0 60000 65536"/>
                <a:gd name="T20" fmla="*/ 0 60000 65536"/>
                <a:gd name="T21" fmla="*/ 0 w 29"/>
                <a:gd name="T22" fmla="*/ 0 h 66"/>
                <a:gd name="T23" fmla="*/ 29 w 29"/>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66">
                  <a:moveTo>
                    <a:pt x="29" y="0"/>
                  </a:moveTo>
                  <a:lnTo>
                    <a:pt x="0" y="66"/>
                  </a:lnTo>
                  <a:lnTo>
                    <a:pt x="29" y="0"/>
                  </a:lnTo>
                  <a:close/>
                  <a:moveTo>
                    <a:pt x="29" y="0"/>
                  </a:moveTo>
                  <a:lnTo>
                    <a:pt x="2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0" name="Freeform 72"/>
            <p:cNvSpPr>
              <a:spLocks noChangeAspect="1" noEditPoints="1"/>
            </p:cNvSpPr>
            <p:nvPr/>
          </p:nvSpPr>
          <p:spPr bwMode="auto">
            <a:xfrm>
              <a:off x="1398" y="1766"/>
              <a:ext cx="22" cy="66"/>
            </a:xfrm>
            <a:custGeom>
              <a:avLst/>
              <a:gdLst>
                <a:gd name="T0" fmla="*/ 22 w 22"/>
                <a:gd name="T1" fmla="*/ 66 h 66"/>
                <a:gd name="T2" fmla="*/ 0 w 22"/>
                <a:gd name="T3" fmla="*/ 0 h 66"/>
                <a:gd name="T4" fmla="*/ 22 w 22"/>
                <a:gd name="T5" fmla="*/ 66 h 66"/>
                <a:gd name="T6" fmla="*/ 22 w 22"/>
                <a:gd name="T7" fmla="*/ 66 h 66"/>
                <a:gd name="T8" fmla="*/ 22 w 22"/>
                <a:gd name="T9" fmla="*/ 66 h 66"/>
                <a:gd name="T10" fmla="*/ 22 w 22"/>
                <a:gd name="T11" fmla="*/ 66 h 66"/>
                <a:gd name="T12" fmla="*/ 22 w 22"/>
                <a:gd name="T13" fmla="*/ 66 h 66"/>
                <a:gd name="T14" fmla="*/ 0 60000 65536"/>
                <a:gd name="T15" fmla="*/ 0 60000 65536"/>
                <a:gd name="T16" fmla="*/ 0 60000 65536"/>
                <a:gd name="T17" fmla="*/ 0 60000 65536"/>
                <a:gd name="T18" fmla="*/ 0 60000 65536"/>
                <a:gd name="T19" fmla="*/ 0 60000 65536"/>
                <a:gd name="T20" fmla="*/ 0 60000 65536"/>
                <a:gd name="T21" fmla="*/ 0 w 22"/>
                <a:gd name="T22" fmla="*/ 0 h 66"/>
                <a:gd name="T23" fmla="*/ 22 w 22"/>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66">
                  <a:moveTo>
                    <a:pt x="22" y="66"/>
                  </a:moveTo>
                  <a:lnTo>
                    <a:pt x="0" y="0"/>
                  </a:lnTo>
                  <a:lnTo>
                    <a:pt x="22" y="66"/>
                  </a:lnTo>
                  <a:close/>
                  <a:moveTo>
                    <a:pt x="22" y="66"/>
                  </a:moveTo>
                  <a:lnTo>
                    <a:pt x="22"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1" name="Freeform 73"/>
            <p:cNvSpPr>
              <a:spLocks noChangeAspect="1" noEditPoints="1"/>
            </p:cNvSpPr>
            <p:nvPr/>
          </p:nvSpPr>
          <p:spPr bwMode="auto">
            <a:xfrm>
              <a:off x="1368" y="1700"/>
              <a:ext cx="30" cy="66"/>
            </a:xfrm>
            <a:custGeom>
              <a:avLst/>
              <a:gdLst>
                <a:gd name="T0" fmla="*/ 30 w 30"/>
                <a:gd name="T1" fmla="*/ 66 h 66"/>
                <a:gd name="T2" fmla="*/ 0 w 30"/>
                <a:gd name="T3" fmla="*/ 0 h 66"/>
                <a:gd name="T4" fmla="*/ 30 w 30"/>
                <a:gd name="T5" fmla="*/ 66 h 66"/>
                <a:gd name="T6" fmla="*/ 30 w 30"/>
                <a:gd name="T7" fmla="*/ 66 h 66"/>
                <a:gd name="T8" fmla="*/ 30 w 30"/>
                <a:gd name="T9" fmla="*/ 66 h 66"/>
                <a:gd name="T10" fmla="*/ 30 w 30"/>
                <a:gd name="T11" fmla="*/ 66 h 66"/>
                <a:gd name="T12" fmla="*/ 30 w 30"/>
                <a:gd name="T13" fmla="*/ 66 h 66"/>
                <a:gd name="T14" fmla="*/ 0 60000 65536"/>
                <a:gd name="T15" fmla="*/ 0 60000 65536"/>
                <a:gd name="T16" fmla="*/ 0 60000 65536"/>
                <a:gd name="T17" fmla="*/ 0 60000 65536"/>
                <a:gd name="T18" fmla="*/ 0 60000 65536"/>
                <a:gd name="T19" fmla="*/ 0 60000 65536"/>
                <a:gd name="T20" fmla="*/ 0 60000 65536"/>
                <a:gd name="T21" fmla="*/ 0 w 30"/>
                <a:gd name="T22" fmla="*/ 0 h 66"/>
                <a:gd name="T23" fmla="*/ 30 w 30"/>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66">
                  <a:moveTo>
                    <a:pt x="30" y="66"/>
                  </a:moveTo>
                  <a:lnTo>
                    <a:pt x="0" y="0"/>
                  </a:lnTo>
                  <a:lnTo>
                    <a:pt x="30" y="66"/>
                  </a:lnTo>
                  <a:close/>
                  <a:moveTo>
                    <a:pt x="30" y="66"/>
                  </a:moveTo>
                  <a:lnTo>
                    <a:pt x="30"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2" name="Freeform 74"/>
            <p:cNvSpPr>
              <a:spLocks noChangeAspect="1" noEditPoints="1"/>
            </p:cNvSpPr>
            <p:nvPr/>
          </p:nvSpPr>
          <p:spPr bwMode="auto">
            <a:xfrm>
              <a:off x="1339" y="1700"/>
              <a:ext cx="29" cy="66"/>
            </a:xfrm>
            <a:custGeom>
              <a:avLst/>
              <a:gdLst>
                <a:gd name="T0" fmla="*/ 29 w 29"/>
                <a:gd name="T1" fmla="*/ 0 h 66"/>
                <a:gd name="T2" fmla="*/ 0 w 29"/>
                <a:gd name="T3" fmla="*/ 66 h 66"/>
                <a:gd name="T4" fmla="*/ 29 w 29"/>
                <a:gd name="T5" fmla="*/ 0 h 66"/>
                <a:gd name="T6" fmla="*/ 29 w 29"/>
                <a:gd name="T7" fmla="*/ 0 h 66"/>
                <a:gd name="T8" fmla="*/ 29 w 29"/>
                <a:gd name="T9" fmla="*/ 0 h 66"/>
                <a:gd name="T10" fmla="*/ 29 w 29"/>
                <a:gd name="T11" fmla="*/ 0 h 66"/>
                <a:gd name="T12" fmla="*/ 29 w 29"/>
                <a:gd name="T13" fmla="*/ 0 h 66"/>
                <a:gd name="T14" fmla="*/ 0 60000 65536"/>
                <a:gd name="T15" fmla="*/ 0 60000 65536"/>
                <a:gd name="T16" fmla="*/ 0 60000 65536"/>
                <a:gd name="T17" fmla="*/ 0 60000 65536"/>
                <a:gd name="T18" fmla="*/ 0 60000 65536"/>
                <a:gd name="T19" fmla="*/ 0 60000 65536"/>
                <a:gd name="T20" fmla="*/ 0 60000 65536"/>
                <a:gd name="T21" fmla="*/ 0 w 29"/>
                <a:gd name="T22" fmla="*/ 0 h 66"/>
                <a:gd name="T23" fmla="*/ 29 w 29"/>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66">
                  <a:moveTo>
                    <a:pt x="29" y="0"/>
                  </a:moveTo>
                  <a:lnTo>
                    <a:pt x="0" y="66"/>
                  </a:lnTo>
                  <a:lnTo>
                    <a:pt x="29" y="0"/>
                  </a:lnTo>
                  <a:close/>
                  <a:moveTo>
                    <a:pt x="29" y="0"/>
                  </a:moveTo>
                  <a:lnTo>
                    <a:pt x="2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3" name="Freeform 75"/>
            <p:cNvSpPr>
              <a:spLocks noChangeAspect="1" noEditPoints="1"/>
            </p:cNvSpPr>
            <p:nvPr/>
          </p:nvSpPr>
          <p:spPr bwMode="auto">
            <a:xfrm>
              <a:off x="1317" y="1766"/>
              <a:ext cx="22" cy="66"/>
            </a:xfrm>
            <a:custGeom>
              <a:avLst/>
              <a:gdLst>
                <a:gd name="T0" fmla="*/ 22 w 22"/>
                <a:gd name="T1" fmla="*/ 0 h 66"/>
                <a:gd name="T2" fmla="*/ 0 w 22"/>
                <a:gd name="T3" fmla="*/ 66 h 66"/>
                <a:gd name="T4" fmla="*/ 22 w 22"/>
                <a:gd name="T5" fmla="*/ 0 h 66"/>
                <a:gd name="T6" fmla="*/ 22 w 22"/>
                <a:gd name="T7" fmla="*/ 0 h 66"/>
                <a:gd name="T8" fmla="*/ 22 w 22"/>
                <a:gd name="T9" fmla="*/ 0 h 66"/>
                <a:gd name="T10" fmla="*/ 22 w 22"/>
                <a:gd name="T11" fmla="*/ 0 h 66"/>
                <a:gd name="T12" fmla="*/ 22 w 22"/>
                <a:gd name="T13" fmla="*/ 0 h 66"/>
                <a:gd name="T14" fmla="*/ 0 60000 65536"/>
                <a:gd name="T15" fmla="*/ 0 60000 65536"/>
                <a:gd name="T16" fmla="*/ 0 60000 65536"/>
                <a:gd name="T17" fmla="*/ 0 60000 65536"/>
                <a:gd name="T18" fmla="*/ 0 60000 65536"/>
                <a:gd name="T19" fmla="*/ 0 60000 65536"/>
                <a:gd name="T20" fmla="*/ 0 60000 65536"/>
                <a:gd name="T21" fmla="*/ 0 w 22"/>
                <a:gd name="T22" fmla="*/ 0 h 66"/>
                <a:gd name="T23" fmla="*/ 22 w 22"/>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66">
                  <a:moveTo>
                    <a:pt x="22" y="0"/>
                  </a:moveTo>
                  <a:lnTo>
                    <a:pt x="0" y="66"/>
                  </a:lnTo>
                  <a:lnTo>
                    <a:pt x="22" y="0"/>
                  </a:lnTo>
                  <a:close/>
                  <a:moveTo>
                    <a:pt x="22" y="0"/>
                  </a:moveTo>
                  <a:lnTo>
                    <a:pt x="22"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4" name="Freeform 76"/>
            <p:cNvSpPr>
              <a:spLocks noChangeAspect="1" noEditPoints="1"/>
            </p:cNvSpPr>
            <p:nvPr/>
          </p:nvSpPr>
          <p:spPr bwMode="auto">
            <a:xfrm>
              <a:off x="1288" y="1766"/>
              <a:ext cx="29" cy="66"/>
            </a:xfrm>
            <a:custGeom>
              <a:avLst/>
              <a:gdLst>
                <a:gd name="T0" fmla="*/ 29 w 29"/>
                <a:gd name="T1" fmla="*/ 66 h 66"/>
                <a:gd name="T2" fmla="*/ 0 w 29"/>
                <a:gd name="T3" fmla="*/ 0 h 66"/>
                <a:gd name="T4" fmla="*/ 29 w 29"/>
                <a:gd name="T5" fmla="*/ 66 h 66"/>
                <a:gd name="T6" fmla="*/ 29 w 29"/>
                <a:gd name="T7" fmla="*/ 66 h 66"/>
                <a:gd name="T8" fmla="*/ 29 w 29"/>
                <a:gd name="T9" fmla="*/ 66 h 66"/>
                <a:gd name="T10" fmla="*/ 29 w 29"/>
                <a:gd name="T11" fmla="*/ 66 h 66"/>
                <a:gd name="T12" fmla="*/ 29 w 29"/>
                <a:gd name="T13" fmla="*/ 66 h 66"/>
                <a:gd name="T14" fmla="*/ 0 60000 65536"/>
                <a:gd name="T15" fmla="*/ 0 60000 65536"/>
                <a:gd name="T16" fmla="*/ 0 60000 65536"/>
                <a:gd name="T17" fmla="*/ 0 60000 65536"/>
                <a:gd name="T18" fmla="*/ 0 60000 65536"/>
                <a:gd name="T19" fmla="*/ 0 60000 65536"/>
                <a:gd name="T20" fmla="*/ 0 60000 65536"/>
                <a:gd name="T21" fmla="*/ 0 w 29"/>
                <a:gd name="T22" fmla="*/ 0 h 66"/>
                <a:gd name="T23" fmla="*/ 29 w 29"/>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66">
                  <a:moveTo>
                    <a:pt x="29" y="66"/>
                  </a:moveTo>
                  <a:lnTo>
                    <a:pt x="0" y="0"/>
                  </a:lnTo>
                  <a:lnTo>
                    <a:pt x="29" y="66"/>
                  </a:lnTo>
                  <a:close/>
                  <a:moveTo>
                    <a:pt x="29" y="66"/>
                  </a:moveTo>
                  <a:lnTo>
                    <a:pt x="29"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5" name="Freeform 77"/>
            <p:cNvSpPr>
              <a:spLocks noChangeAspect="1" noEditPoints="1"/>
            </p:cNvSpPr>
            <p:nvPr/>
          </p:nvSpPr>
          <p:spPr bwMode="auto">
            <a:xfrm>
              <a:off x="1258" y="1700"/>
              <a:ext cx="30" cy="66"/>
            </a:xfrm>
            <a:custGeom>
              <a:avLst/>
              <a:gdLst>
                <a:gd name="T0" fmla="*/ 30 w 30"/>
                <a:gd name="T1" fmla="*/ 66 h 66"/>
                <a:gd name="T2" fmla="*/ 0 w 30"/>
                <a:gd name="T3" fmla="*/ 0 h 66"/>
                <a:gd name="T4" fmla="*/ 30 w 30"/>
                <a:gd name="T5" fmla="*/ 66 h 66"/>
                <a:gd name="T6" fmla="*/ 30 w 30"/>
                <a:gd name="T7" fmla="*/ 66 h 66"/>
                <a:gd name="T8" fmla="*/ 30 w 30"/>
                <a:gd name="T9" fmla="*/ 66 h 66"/>
                <a:gd name="T10" fmla="*/ 30 w 30"/>
                <a:gd name="T11" fmla="*/ 66 h 66"/>
                <a:gd name="T12" fmla="*/ 30 w 30"/>
                <a:gd name="T13" fmla="*/ 66 h 66"/>
                <a:gd name="T14" fmla="*/ 0 60000 65536"/>
                <a:gd name="T15" fmla="*/ 0 60000 65536"/>
                <a:gd name="T16" fmla="*/ 0 60000 65536"/>
                <a:gd name="T17" fmla="*/ 0 60000 65536"/>
                <a:gd name="T18" fmla="*/ 0 60000 65536"/>
                <a:gd name="T19" fmla="*/ 0 60000 65536"/>
                <a:gd name="T20" fmla="*/ 0 60000 65536"/>
                <a:gd name="T21" fmla="*/ 0 w 30"/>
                <a:gd name="T22" fmla="*/ 0 h 66"/>
                <a:gd name="T23" fmla="*/ 30 w 30"/>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66">
                  <a:moveTo>
                    <a:pt x="30" y="66"/>
                  </a:moveTo>
                  <a:lnTo>
                    <a:pt x="0" y="0"/>
                  </a:lnTo>
                  <a:lnTo>
                    <a:pt x="30" y="66"/>
                  </a:lnTo>
                  <a:close/>
                  <a:moveTo>
                    <a:pt x="30" y="66"/>
                  </a:moveTo>
                  <a:lnTo>
                    <a:pt x="30"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6" name="Freeform 78"/>
            <p:cNvSpPr>
              <a:spLocks noChangeAspect="1" noEditPoints="1"/>
            </p:cNvSpPr>
            <p:nvPr/>
          </p:nvSpPr>
          <p:spPr bwMode="auto">
            <a:xfrm>
              <a:off x="1236" y="1700"/>
              <a:ext cx="22" cy="66"/>
            </a:xfrm>
            <a:custGeom>
              <a:avLst/>
              <a:gdLst>
                <a:gd name="T0" fmla="*/ 22 w 22"/>
                <a:gd name="T1" fmla="*/ 0 h 66"/>
                <a:gd name="T2" fmla="*/ 0 w 22"/>
                <a:gd name="T3" fmla="*/ 66 h 66"/>
                <a:gd name="T4" fmla="*/ 22 w 22"/>
                <a:gd name="T5" fmla="*/ 0 h 66"/>
                <a:gd name="T6" fmla="*/ 22 w 22"/>
                <a:gd name="T7" fmla="*/ 0 h 66"/>
                <a:gd name="T8" fmla="*/ 22 w 22"/>
                <a:gd name="T9" fmla="*/ 0 h 66"/>
                <a:gd name="T10" fmla="*/ 22 w 22"/>
                <a:gd name="T11" fmla="*/ 0 h 66"/>
                <a:gd name="T12" fmla="*/ 22 w 22"/>
                <a:gd name="T13" fmla="*/ 0 h 66"/>
                <a:gd name="T14" fmla="*/ 0 60000 65536"/>
                <a:gd name="T15" fmla="*/ 0 60000 65536"/>
                <a:gd name="T16" fmla="*/ 0 60000 65536"/>
                <a:gd name="T17" fmla="*/ 0 60000 65536"/>
                <a:gd name="T18" fmla="*/ 0 60000 65536"/>
                <a:gd name="T19" fmla="*/ 0 60000 65536"/>
                <a:gd name="T20" fmla="*/ 0 60000 65536"/>
                <a:gd name="T21" fmla="*/ 0 w 22"/>
                <a:gd name="T22" fmla="*/ 0 h 66"/>
                <a:gd name="T23" fmla="*/ 22 w 22"/>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66">
                  <a:moveTo>
                    <a:pt x="22" y="0"/>
                  </a:moveTo>
                  <a:lnTo>
                    <a:pt x="0" y="66"/>
                  </a:lnTo>
                  <a:lnTo>
                    <a:pt x="22" y="0"/>
                  </a:lnTo>
                  <a:close/>
                  <a:moveTo>
                    <a:pt x="22" y="0"/>
                  </a:moveTo>
                  <a:lnTo>
                    <a:pt x="22"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7" name="Freeform 79"/>
            <p:cNvSpPr>
              <a:spLocks noChangeAspect="1" noEditPoints="1"/>
            </p:cNvSpPr>
            <p:nvPr/>
          </p:nvSpPr>
          <p:spPr bwMode="auto">
            <a:xfrm>
              <a:off x="1207" y="1766"/>
              <a:ext cx="29" cy="66"/>
            </a:xfrm>
            <a:custGeom>
              <a:avLst/>
              <a:gdLst>
                <a:gd name="T0" fmla="*/ 29 w 29"/>
                <a:gd name="T1" fmla="*/ 0 h 66"/>
                <a:gd name="T2" fmla="*/ 0 w 29"/>
                <a:gd name="T3" fmla="*/ 66 h 66"/>
                <a:gd name="T4" fmla="*/ 29 w 29"/>
                <a:gd name="T5" fmla="*/ 0 h 66"/>
                <a:gd name="T6" fmla="*/ 29 w 29"/>
                <a:gd name="T7" fmla="*/ 0 h 66"/>
                <a:gd name="T8" fmla="*/ 29 w 29"/>
                <a:gd name="T9" fmla="*/ 0 h 66"/>
                <a:gd name="T10" fmla="*/ 29 w 29"/>
                <a:gd name="T11" fmla="*/ 0 h 66"/>
                <a:gd name="T12" fmla="*/ 29 w 29"/>
                <a:gd name="T13" fmla="*/ 0 h 66"/>
                <a:gd name="T14" fmla="*/ 0 60000 65536"/>
                <a:gd name="T15" fmla="*/ 0 60000 65536"/>
                <a:gd name="T16" fmla="*/ 0 60000 65536"/>
                <a:gd name="T17" fmla="*/ 0 60000 65536"/>
                <a:gd name="T18" fmla="*/ 0 60000 65536"/>
                <a:gd name="T19" fmla="*/ 0 60000 65536"/>
                <a:gd name="T20" fmla="*/ 0 60000 65536"/>
                <a:gd name="T21" fmla="*/ 0 w 29"/>
                <a:gd name="T22" fmla="*/ 0 h 66"/>
                <a:gd name="T23" fmla="*/ 29 w 29"/>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66">
                  <a:moveTo>
                    <a:pt x="29" y="0"/>
                  </a:moveTo>
                  <a:lnTo>
                    <a:pt x="0" y="66"/>
                  </a:lnTo>
                  <a:lnTo>
                    <a:pt x="29" y="0"/>
                  </a:lnTo>
                  <a:close/>
                  <a:moveTo>
                    <a:pt x="29" y="0"/>
                  </a:moveTo>
                  <a:lnTo>
                    <a:pt x="2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8" name="Freeform 80"/>
            <p:cNvSpPr>
              <a:spLocks noChangeAspect="1" noEditPoints="1"/>
            </p:cNvSpPr>
            <p:nvPr/>
          </p:nvSpPr>
          <p:spPr bwMode="auto">
            <a:xfrm>
              <a:off x="1177" y="1766"/>
              <a:ext cx="30" cy="66"/>
            </a:xfrm>
            <a:custGeom>
              <a:avLst/>
              <a:gdLst>
                <a:gd name="T0" fmla="*/ 30 w 30"/>
                <a:gd name="T1" fmla="*/ 66 h 66"/>
                <a:gd name="T2" fmla="*/ 0 w 30"/>
                <a:gd name="T3" fmla="*/ 0 h 66"/>
                <a:gd name="T4" fmla="*/ 30 w 30"/>
                <a:gd name="T5" fmla="*/ 66 h 66"/>
                <a:gd name="T6" fmla="*/ 30 w 30"/>
                <a:gd name="T7" fmla="*/ 66 h 66"/>
                <a:gd name="T8" fmla="*/ 30 w 30"/>
                <a:gd name="T9" fmla="*/ 66 h 66"/>
                <a:gd name="T10" fmla="*/ 30 w 30"/>
                <a:gd name="T11" fmla="*/ 66 h 66"/>
                <a:gd name="T12" fmla="*/ 30 w 30"/>
                <a:gd name="T13" fmla="*/ 66 h 66"/>
                <a:gd name="T14" fmla="*/ 0 60000 65536"/>
                <a:gd name="T15" fmla="*/ 0 60000 65536"/>
                <a:gd name="T16" fmla="*/ 0 60000 65536"/>
                <a:gd name="T17" fmla="*/ 0 60000 65536"/>
                <a:gd name="T18" fmla="*/ 0 60000 65536"/>
                <a:gd name="T19" fmla="*/ 0 60000 65536"/>
                <a:gd name="T20" fmla="*/ 0 60000 65536"/>
                <a:gd name="T21" fmla="*/ 0 w 30"/>
                <a:gd name="T22" fmla="*/ 0 h 66"/>
                <a:gd name="T23" fmla="*/ 30 w 30"/>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66">
                  <a:moveTo>
                    <a:pt x="30" y="66"/>
                  </a:moveTo>
                  <a:lnTo>
                    <a:pt x="0" y="0"/>
                  </a:lnTo>
                  <a:lnTo>
                    <a:pt x="30" y="66"/>
                  </a:lnTo>
                  <a:close/>
                  <a:moveTo>
                    <a:pt x="30" y="66"/>
                  </a:moveTo>
                  <a:lnTo>
                    <a:pt x="30"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89" name="Freeform 81"/>
            <p:cNvSpPr>
              <a:spLocks noChangeAspect="1" noEditPoints="1"/>
            </p:cNvSpPr>
            <p:nvPr/>
          </p:nvSpPr>
          <p:spPr bwMode="auto">
            <a:xfrm>
              <a:off x="1155" y="1700"/>
              <a:ext cx="22" cy="66"/>
            </a:xfrm>
            <a:custGeom>
              <a:avLst/>
              <a:gdLst>
                <a:gd name="T0" fmla="*/ 22 w 22"/>
                <a:gd name="T1" fmla="*/ 66 h 66"/>
                <a:gd name="T2" fmla="*/ 0 w 22"/>
                <a:gd name="T3" fmla="*/ 0 h 66"/>
                <a:gd name="T4" fmla="*/ 22 w 22"/>
                <a:gd name="T5" fmla="*/ 66 h 66"/>
                <a:gd name="T6" fmla="*/ 22 w 22"/>
                <a:gd name="T7" fmla="*/ 66 h 66"/>
                <a:gd name="T8" fmla="*/ 22 w 22"/>
                <a:gd name="T9" fmla="*/ 66 h 66"/>
                <a:gd name="T10" fmla="*/ 22 w 22"/>
                <a:gd name="T11" fmla="*/ 66 h 66"/>
                <a:gd name="T12" fmla="*/ 22 w 22"/>
                <a:gd name="T13" fmla="*/ 66 h 66"/>
                <a:gd name="T14" fmla="*/ 0 60000 65536"/>
                <a:gd name="T15" fmla="*/ 0 60000 65536"/>
                <a:gd name="T16" fmla="*/ 0 60000 65536"/>
                <a:gd name="T17" fmla="*/ 0 60000 65536"/>
                <a:gd name="T18" fmla="*/ 0 60000 65536"/>
                <a:gd name="T19" fmla="*/ 0 60000 65536"/>
                <a:gd name="T20" fmla="*/ 0 60000 65536"/>
                <a:gd name="T21" fmla="*/ 0 w 22"/>
                <a:gd name="T22" fmla="*/ 0 h 66"/>
                <a:gd name="T23" fmla="*/ 22 w 22"/>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66">
                  <a:moveTo>
                    <a:pt x="22" y="66"/>
                  </a:moveTo>
                  <a:lnTo>
                    <a:pt x="0" y="0"/>
                  </a:lnTo>
                  <a:lnTo>
                    <a:pt x="22" y="66"/>
                  </a:lnTo>
                  <a:close/>
                  <a:moveTo>
                    <a:pt x="22" y="66"/>
                  </a:moveTo>
                  <a:lnTo>
                    <a:pt x="22" y="6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0" name="Freeform 82"/>
            <p:cNvSpPr>
              <a:spLocks noChangeAspect="1" noEditPoints="1"/>
            </p:cNvSpPr>
            <p:nvPr/>
          </p:nvSpPr>
          <p:spPr bwMode="auto">
            <a:xfrm>
              <a:off x="1126" y="1700"/>
              <a:ext cx="29" cy="73"/>
            </a:xfrm>
            <a:custGeom>
              <a:avLst/>
              <a:gdLst>
                <a:gd name="T0" fmla="*/ 29 w 29"/>
                <a:gd name="T1" fmla="*/ 0 h 73"/>
                <a:gd name="T2" fmla="*/ 0 w 29"/>
                <a:gd name="T3" fmla="*/ 73 h 73"/>
                <a:gd name="T4" fmla="*/ 29 w 29"/>
                <a:gd name="T5" fmla="*/ 0 h 73"/>
                <a:gd name="T6" fmla="*/ 29 w 29"/>
                <a:gd name="T7" fmla="*/ 0 h 73"/>
                <a:gd name="T8" fmla="*/ 29 w 29"/>
                <a:gd name="T9" fmla="*/ 0 h 73"/>
                <a:gd name="T10" fmla="*/ 29 w 29"/>
                <a:gd name="T11" fmla="*/ 0 h 73"/>
                <a:gd name="T12" fmla="*/ 29 w 29"/>
                <a:gd name="T13" fmla="*/ 0 h 73"/>
                <a:gd name="T14" fmla="*/ 0 60000 65536"/>
                <a:gd name="T15" fmla="*/ 0 60000 65536"/>
                <a:gd name="T16" fmla="*/ 0 60000 65536"/>
                <a:gd name="T17" fmla="*/ 0 60000 65536"/>
                <a:gd name="T18" fmla="*/ 0 60000 65536"/>
                <a:gd name="T19" fmla="*/ 0 60000 65536"/>
                <a:gd name="T20" fmla="*/ 0 60000 65536"/>
                <a:gd name="T21" fmla="*/ 0 w 29"/>
                <a:gd name="T22" fmla="*/ 0 h 73"/>
                <a:gd name="T23" fmla="*/ 29 w 29"/>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73">
                  <a:moveTo>
                    <a:pt x="29" y="0"/>
                  </a:moveTo>
                  <a:lnTo>
                    <a:pt x="0" y="73"/>
                  </a:lnTo>
                  <a:lnTo>
                    <a:pt x="29" y="0"/>
                  </a:lnTo>
                  <a:close/>
                  <a:moveTo>
                    <a:pt x="29" y="0"/>
                  </a:moveTo>
                  <a:lnTo>
                    <a:pt x="2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1" name="Freeform 83"/>
            <p:cNvSpPr>
              <a:spLocks noChangeAspect="1"/>
            </p:cNvSpPr>
            <p:nvPr/>
          </p:nvSpPr>
          <p:spPr bwMode="auto">
            <a:xfrm>
              <a:off x="4936" y="2074"/>
              <a:ext cx="51" cy="441"/>
            </a:xfrm>
            <a:custGeom>
              <a:avLst/>
              <a:gdLst>
                <a:gd name="T0" fmla="*/ 51 w 51"/>
                <a:gd name="T1" fmla="*/ 441 h 441"/>
                <a:gd name="T2" fmla="*/ 0 w 51"/>
                <a:gd name="T3" fmla="*/ 441 h 441"/>
                <a:gd name="T4" fmla="*/ 0 w 51"/>
                <a:gd name="T5" fmla="*/ 0 h 441"/>
                <a:gd name="T6" fmla="*/ 51 w 51"/>
                <a:gd name="T7" fmla="*/ 0 h 441"/>
                <a:gd name="T8" fmla="*/ 51 w 51"/>
                <a:gd name="T9" fmla="*/ 441 h 441"/>
                <a:gd name="T10" fmla="*/ 51 w 51"/>
                <a:gd name="T11" fmla="*/ 441 h 441"/>
                <a:gd name="T12" fmla="*/ 0 60000 65536"/>
                <a:gd name="T13" fmla="*/ 0 60000 65536"/>
                <a:gd name="T14" fmla="*/ 0 60000 65536"/>
                <a:gd name="T15" fmla="*/ 0 60000 65536"/>
                <a:gd name="T16" fmla="*/ 0 60000 65536"/>
                <a:gd name="T17" fmla="*/ 0 60000 65536"/>
                <a:gd name="T18" fmla="*/ 0 w 51"/>
                <a:gd name="T19" fmla="*/ 0 h 441"/>
                <a:gd name="T20" fmla="*/ 51 w 51"/>
                <a:gd name="T21" fmla="*/ 441 h 441"/>
              </a:gdLst>
              <a:ahLst/>
              <a:cxnLst>
                <a:cxn ang="T12">
                  <a:pos x="T0" y="T1"/>
                </a:cxn>
                <a:cxn ang="T13">
                  <a:pos x="T2" y="T3"/>
                </a:cxn>
                <a:cxn ang="T14">
                  <a:pos x="T4" y="T5"/>
                </a:cxn>
                <a:cxn ang="T15">
                  <a:pos x="T6" y="T7"/>
                </a:cxn>
                <a:cxn ang="T16">
                  <a:pos x="T8" y="T9"/>
                </a:cxn>
                <a:cxn ang="T17">
                  <a:pos x="T10" y="T11"/>
                </a:cxn>
              </a:cxnLst>
              <a:rect l="T18" t="T19" r="T20" b="T21"/>
              <a:pathLst>
                <a:path w="51" h="441">
                  <a:moveTo>
                    <a:pt x="51" y="441"/>
                  </a:moveTo>
                  <a:lnTo>
                    <a:pt x="0" y="441"/>
                  </a:lnTo>
                  <a:lnTo>
                    <a:pt x="0" y="0"/>
                  </a:lnTo>
                  <a:lnTo>
                    <a:pt x="51" y="0"/>
                  </a:lnTo>
                  <a:lnTo>
                    <a:pt x="51" y="441"/>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2" name="Freeform 84"/>
            <p:cNvSpPr>
              <a:spLocks noChangeAspect="1"/>
            </p:cNvSpPr>
            <p:nvPr/>
          </p:nvSpPr>
          <p:spPr bwMode="auto">
            <a:xfrm>
              <a:off x="4958" y="2067"/>
              <a:ext cx="59" cy="29"/>
            </a:xfrm>
            <a:custGeom>
              <a:avLst/>
              <a:gdLst>
                <a:gd name="T0" fmla="*/ 0 w 59"/>
                <a:gd name="T1" fmla="*/ 0 h 29"/>
                <a:gd name="T2" fmla="*/ 59 w 59"/>
                <a:gd name="T3" fmla="*/ 29 h 29"/>
                <a:gd name="T4" fmla="*/ 0 w 59"/>
                <a:gd name="T5" fmla="*/ 0 h 29"/>
                <a:gd name="T6" fmla="*/ 0 w 59"/>
                <a:gd name="T7" fmla="*/ 0 h 29"/>
                <a:gd name="T8" fmla="*/ 0 60000 65536"/>
                <a:gd name="T9" fmla="*/ 0 60000 65536"/>
                <a:gd name="T10" fmla="*/ 0 60000 65536"/>
                <a:gd name="T11" fmla="*/ 0 60000 65536"/>
                <a:gd name="T12" fmla="*/ 0 w 59"/>
                <a:gd name="T13" fmla="*/ 0 h 29"/>
                <a:gd name="T14" fmla="*/ 59 w 59"/>
                <a:gd name="T15" fmla="*/ 29 h 29"/>
              </a:gdLst>
              <a:ahLst/>
              <a:cxnLst>
                <a:cxn ang="T8">
                  <a:pos x="T0" y="T1"/>
                </a:cxn>
                <a:cxn ang="T9">
                  <a:pos x="T2" y="T3"/>
                </a:cxn>
                <a:cxn ang="T10">
                  <a:pos x="T4" y="T5"/>
                </a:cxn>
                <a:cxn ang="T11">
                  <a:pos x="T6" y="T7"/>
                </a:cxn>
              </a:cxnLst>
              <a:rect l="T12" t="T13" r="T14" b="T15"/>
              <a:pathLst>
                <a:path w="59" h="29">
                  <a:moveTo>
                    <a:pt x="0" y="0"/>
                  </a:moveTo>
                  <a:lnTo>
                    <a:pt x="59" y="29"/>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3" name="Freeform 85"/>
            <p:cNvSpPr>
              <a:spLocks noChangeAspect="1" noEditPoints="1"/>
            </p:cNvSpPr>
            <p:nvPr/>
          </p:nvSpPr>
          <p:spPr bwMode="auto">
            <a:xfrm>
              <a:off x="4958" y="2096"/>
              <a:ext cx="59" cy="30"/>
            </a:xfrm>
            <a:custGeom>
              <a:avLst/>
              <a:gdLst>
                <a:gd name="T0" fmla="*/ 59 w 59"/>
                <a:gd name="T1" fmla="*/ 0 h 30"/>
                <a:gd name="T2" fmla="*/ 0 w 59"/>
                <a:gd name="T3" fmla="*/ 30 h 30"/>
                <a:gd name="T4" fmla="*/ 59 w 59"/>
                <a:gd name="T5" fmla="*/ 0 h 30"/>
                <a:gd name="T6" fmla="*/ 59 w 59"/>
                <a:gd name="T7" fmla="*/ 0 h 30"/>
                <a:gd name="T8" fmla="*/ 59 w 59"/>
                <a:gd name="T9" fmla="*/ 0 h 30"/>
                <a:gd name="T10" fmla="*/ 59 w 59"/>
                <a:gd name="T11" fmla="*/ 0 h 30"/>
                <a:gd name="T12" fmla="*/ 59 w 59"/>
                <a:gd name="T13" fmla="*/ 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0"/>
                  </a:moveTo>
                  <a:lnTo>
                    <a:pt x="0" y="30"/>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4" name="Freeform 86"/>
            <p:cNvSpPr>
              <a:spLocks noChangeAspect="1" noEditPoints="1"/>
            </p:cNvSpPr>
            <p:nvPr/>
          </p:nvSpPr>
          <p:spPr bwMode="auto">
            <a:xfrm>
              <a:off x="4892" y="2126"/>
              <a:ext cx="66" cy="29"/>
            </a:xfrm>
            <a:custGeom>
              <a:avLst/>
              <a:gdLst>
                <a:gd name="T0" fmla="*/ 66 w 66"/>
                <a:gd name="T1" fmla="*/ 0 h 29"/>
                <a:gd name="T2" fmla="*/ 0 w 66"/>
                <a:gd name="T3" fmla="*/ 29 h 29"/>
                <a:gd name="T4" fmla="*/ 66 w 66"/>
                <a:gd name="T5" fmla="*/ 0 h 29"/>
                <a:gd name="T6" fmla="*/ 66 w 66"/>
                <a:gd name="T7" fmla="*/ 0 h 29"/>
                <a:gd name="T8" fmla="*/ 66 w 66"/>
                <a:gd name="T9" fmla="*/ 0 h 29"/>
                <a:gd name="T10" fmla="*/ 66 w 66"/>
                <a:gd name="T11" fmla="*/ 0 h 29"/>
                <a:gd name="T12" fmla="*/ 66 w 66"/>
                <a:gd name="T13" fmla="*/ 0 h 29"/>
                <a:gd name="T14" fmla="*/ 0 60000 65536"/>
                <a:gd name="T15" fmla="*/ 0 60000 65536"/>
                <a:gd name="T16" fmla="*/ 0 60000 65536"/>
                <a:gd name="T17" fmla="*/ 0 60000 65536"/>
                <a:gd name="T18" fmla="*/ 0 60000 65536"/>
                <a:gd name="T19" fmla="*/ 0 60000 65536"/>
                <a:gd name="T20" fmla="*/ 0 60000 65536"/>
                <a:gd name="T21" fmla="*/ 0 w 66"/>
                <a:gd name="T22" fmla="*/ 0 h 29"/>
                <a:gd name="T23" fmla="*/ 66 w 66"/>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9">
                  <a:moveTo>
                    <a:pt x="66" y="0"/>
                  </a:moveTo>
                  <a:lnTo>
                    <a:pt x="0" y="29"/>
                  </a:lnTo>
                  <a:lnTo>
                    <a:pt x="66" y="0"/>
                  </a:lnTo>
                  <a:close/>
                  <a:moveTo>
                    <a:pt x="66" y="0"/>
                  </a:moveTo>
                  <a:lnTo>
                    <a:pt x="66"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5" name="Freeform 87"/>
            <p:cNvSpPr>
              <a:spLocks noChangeAspect="1" noEditPoints="1"/>
            </p:cNvSpPr>
            <p:nvPr/>
          </p:nvSpPr>
          <p:spPr bwMode="auto">
            <a:xfrm>
              <a:off x="4892" y="2155"/>
              <a:ext cx="66" cy="30"/>
            </a:xfrm>
            <a:custGeom>
              <a:avLst/>
              <a:gdLst>
                <a:gd name="T0" fmla="*/ 0 w 66"/>
                <a:gd name="T1" fmla="*/ 0 h 30"/>
                <a:gd name="T2" fmla="*/ 66 w 66"/>
                <a:gd name="T3" fmla="*/ 30 h 30"/>
                <a:gd name="T4" fmla="*/ 0 w 66"/>
                <a:gd name="T5" fmla="*/ 0 h 30"/>
                <a:gd name="T6" fmla="*/ 0 w 66"/>
                <a:gd name="T7" fmla="*/ 0 h 30"/>
                <a:gd name="T8" fmla="*/ 0 w 66"/>
                <a:gd name="T9" fmla="*/ 0 h 30"/>
                <a:gd name="T10" fmla="*/ 0 w 66"/>
                <a:gd name="T11" fmla="*/ 0 h 30"/>
                <a:gd name="T12" fmla="*/ 0 w 66"/>
                <a:gd name="T13" fmla="*/ 0 h 30"/>
                <a:gd name="T14" fmla="*/ 0 60000 65536"/>
                <a:gd name="T15" fmla="*/ 0 60000 65536"/>
                <a:gd name="T16" fmla="*/ 0 60000 65536"/>
                <a:gd name="T17" fmla="*/ 0 60000 65536"/>
                <a:gd name="T18" fmla="*/ 0 60000 65536"/>
                <a:gd name="T19" fmla="*/ 0 60000 65536"/>
                <a:gd name="T20" fmla="*/ 0 60000 65536"/>
                <a:gd name="T21" fmla="*/ 0 w 66"/>
                <a:gd name="T22" fmla="*/ 0 h 30"/>
                <a:gd name="T23" fmla="*/ 66 w 66"/>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0">
                  <a:moveTo>
                    <a:pt x="0" y="0"/>
                  </a:moveTo>
                  <a:lnTo>
                    <a:pt x="66" y="30"/>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6" name="Freeform 88"/>
            <p:cNvSpPr>
              <a:spLocks noChangeAspect="1" noEditPoints="1"/>
            </p:cNvSpPr>
            <p:nvPr/>
          </p:nvSpPr>
          <p:spPr bwMode="auto">
            <a:xfrm>
              <a:off x="4958" y="2185"/>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7" name="Freeform 89"/>
            <p:cNvSpPr>
              <a:spLocks noChangeAspect="1" noEditPoints="1"/>
            </p:cNvSpPr>
            <p:nvPr/>
          </p:nvSpPr>
          <p:spPr bwMode="auto">
            <a:xfrm>
              <a:off x="4958" y="2185"/>
              <a:ext cx="59" cy="22"/>
            </a:xfrm>
            <a:custGeom>
              <a:avLst/>
              <a:gdLst>
                <a:gd name="T0" fmla="*/ 0 w 59"/>
                <a:gd name="T1" fmla="*/ 0 h 22"/>
                <a:gd name="T2" fmla="*/ 59 w 59"/>
                <a:gd name="T3" fmla="*/ 22 h 22"/>
                <a:gd name="T4" fmla="*/ 0 w 59"/>
                <a:gd name="T5" fmla="*/ 0 h 22"/>
                <a:gd name="T6" fmla="*/ 0 w 59"/>
                <a:gd name="T7" fmla="*/ 0 h 22"/>
                <a:gd name="T8" fmla="*/ 0 w 59"/>
                <a:gd name="T9" fmla="*/ 0 h 22"/>
                <a:gd name="T10" fmla="*/ 0 w 59"/>
                <a:gd name="T11" fmla="*/ 0 h 22"/>
                <a:gd name="T12" fmla="*/ 0 w 59"/>
                <a:gd name="T13" fmla="*/ 0 h 22"/>
                <a:gd name="T14" fmla="*/ 0 60000 65536"/>
                <a:gd name="T15" fmla="*/ 0 60000 65536"/>
                <a:gd name="T16" fmla="*/ 0 60000 65536"/>
                <a:gd name="T17" fmla="*/ 0 60000 65536"/>
                <a:gd name="T18" fmla="*/ 0 60000 65536"/>
                <a:gd name="T19" fmla="*/ 0 60000 65536"/>
                <a:gd name="T20" fmla="*/ 0 60000 65536"/>
                <a:gd name="T21" fmla="*/ 0 w 59"/>
                <a:gd name="T22" fmla="*/ 0 h 22"/>
                <a:gd name="T23" fmla="*/ 59 w 59"/>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2">
                  <a:moveTo>
                    <a:pt x="0" y="0"/>
                  </a:moveTo>
                  <a:lnTo>
                    <a:pt x="59" y="22"/>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8" name="Freeform 90"/>
            <p:cNvSpPr>
              <a:spLocks noChangeAspect="1" noEditPoints="1"/>
            </p:cNvSpPr>
            <p:nvPr/>
          </p:nvSpPr>
          <p:spPr bwMode="auto">
            <a:xfrm>
              <a:off x="4958" y="2207"/>
              <a:ext cx="59" cy="29"/>
            </a:xfrm>
            <a:custGeom>
              <a:avLst/>
              <a:gdLst>
                <a:gd name="T0" fmla="*/ 59 w 59"/>
                <a:gd name="T1" fmla="*/ 0 h 29"/>
                <a:gd name="T2" fmla="*/ 0 w 59"/>
                <a:gd name="T3" fmla="*/ 29 h 29"/>
                <a:gd name="T4" fmla="*/ 59 w 59"/>
                <a:gd name="T5" fmla="*/ 0 h 29"/>
                <a:gd name="T6" fmla="*/ 59 w 59"/>
                <a:gd name="T7" fmla="*/ 0 h 29"/>
                <a:gd name="T8" fmla="*/ 59 w 59"/>
                <a:gd name="T9" fmla="*/ 0 h 29"/>
                <a:gd name="T10" fmla="*/ 59 w 59"/>
                <a:gd name="T11" fmla="*/ 0 h 29"/>
                <a:gd name="T12" fmla="*/ 59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59" y="0"/>
                  </a:moveTo>
                  <a:lnTo>
                    <a:pt x="0" y="29"/>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599" name="Freeform 91"/>
            <p:cNvSpPr>
              <a:spLocks noChangeAspect="1" noEditPoints="1"/>
            </p:cNvSpPr>
            <p:nvPr/>
          </p:nvSpPr>
          <p:spPr bwMode="auto">
            <a:xfrm>
              <a:off x="4892" y="2236"/>
              <a:ext cx="66" cy="29"/>
            </a:xfrm>
            <a:custGeom>
              <a:avLst/>
              <a:gdLst>
                <a:gd name="T0" fmla="*/ 66 w 66"/>
                <a:gd name="T1" fmla="*/ 0 h 29"/>
                <a:gd name="T2" fmla="*/ 0 w 66"/>
                <a:gd name="T3" fmla="*/ 29 h 29"/>
                <a:gd name="T4" fmla="*/ 66 w 66"/>
                <a:gd name="T5" fmla="*/ 0 h 29"/>
                <a:gd name="T6" fmla="*/ 66 w 66"/>
                <a:gd name="T7" fmla="*/ 0 h 29"/>
                <a:gd name="T8" fmla="*/ 66 w 66"/>
                <a:gd name="T9" fmla="*/ 0 h 29"/>
                <a:gd name="T10" fmla="*/ 66 w 66"/>
                <a:gd name="T11" fmla="*/ 0 h 29"/>
                <a:gd name="T12" fmla="*/ 66 w 66"/>
                <a:gd name="T13" fmla="*/ 0 h 29"/>
                <a:gd name="T14" fmla="*/ 0 60000 65536"/>
                <a:gd name="T15" fmla="*/ 0 60000 65536"/>
                <a:gd name="T16" fmla="*/ 0 60000 65536"/>
                <a:gd name="T17" fmla="*/ 0 60000 65536"/>
                <a:gd name="T18" fmla="*/ 0 60000 65536"/>
                <a:gd name="T19" fmla="*/ 0 60000 65536"/>
                <a:gd name="T20" fmla="*/ 0 60000 65536"/>
                <a:gd name="T21" fmla="*/ 0 w 66"/>
                <a:gd name="T22" fmla="*/ 0 h 29"/>
                <a:gd name="T23" fmla="*/ 66 w 66"/>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9">
                  <a:moveTo>
                    <a:pt x="66" y="0"/>
                  </a:moveTo>
                  <a:lnTo>
                    <a:pt x="0" y="29"/>
                  </a:lnTo>
                  <a:lnTo>
                    <a:pt x="66" y="0"/>
                  </a:lnTo>
                  <a:close/>
                  <a:moveTo>
                    <a:pt x="66" y="0"/>
                  </a:moveTo>
                  <a:lnTo>
                    <a:pt x="66"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0" name="Freeform 92"/>
            <p:cNvSpPr>
              <a:spLocks noChangeAspect="1" noEditPoints="1"/>
            </p:cNvSpPr>
            <p:nvPr/>
          </p:nvSpPr>
          <p:spPr bwMode="auto">
            <a:xfrm>
              <a:off x="4892" y="2265"/>
              <a:ext cx="66" cy="30"/>
            </a:xfrm>
            <a:custGeom>
              <a:avLst/>
              <a:gdLst>
                <a:gd name="T0" fmla="*/ 0 w 66"/>
                <a:gd name="T1" fmla="*/ 0 h 30"/>
                <a:gd name="T2" fmla="*/ 66 w 66"/>
                <a:gd name="T3" fmla="*/ 30 h 30"/>
                <a:gd name="T4" fmla="*/ 0 w 66"/>
                <a:gd name="T5" fmla="*/ 0 h 30"/>
                <a:gd name="T6" fmla="*/ 0 w 66"/>
                <a:gd name="T7" fmla="*/ 0 h 30"/>
                <a:gd name="T8" fmla="*/ 0 w 66"/>
                <a:gd name="T9" fmla="*/ 0 h 30"/>
                <a:gd name="T10" fmla="*/ 0 w 66"/>
                <a:gd name="T11" fmla="*/ 0 h 30"/>
                <a:gd name="T12" fmla="*/ 0 w 66"/>
                <a:gd name="T13" fmla="*/ 0 h 30"/>
                <a:gd name="T14" fmla="*/ 0 60000 65536"/>
                <a:gd name="T15" fmla="*/ 0 60000 65536"/>
                <a:gd name="T16" fmla="*/ 0 60000 65536"/>
                <a:gd name="T17" fmla="*/ 0 60000 65536"/>
                <a:gd name="T18" fmla="*/ 0 60000 65536"/>
                <a:gd name="T19" fmla="*/ 0 60000 65536"/>
                <a:gd name="T20" fmla="*/ 0 60000 65536"/>
                <a:gd name="T21" fmla="*/ 0 w 66"/>
                <a:gd name="T22" fmla="*/ 0 h 30"/>
                <a:gd name="T23" fmla="*/ 66 w 66"/>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0">
                  <a:moveTo>
                    <a:pt x="0" y="0"/>
                  </a:moveTo>
                  <a:lnTo>
                    <a:pt x="66" y="30"/>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1" name="Freeform 93"/>
            <p:cNvSpPr>
              <a:spLocks noChangeAspect="1" noEditPoints="1"/>
            </p:cNvSpPr>
            <p:nvPr/>
          </p:nvSpPr>
          <p:spPr bwMode="auto">
            <a:xfrm>
              <a:off x="4958" y="2295"/>
              <a:ext cx="59" cy="29"/>
            </a:xfrm>
            <a:custGeom>
              <a:avLst/>
              <a:gdLst>
                <a:gd name="T0" fmla="*/ 0 w 59"/>
                <a:gd name="T1" fmla="*/ 0 h 29"/>
                <a:gd name="T2" fmla="*/ 59 w 59"/>
                <a:gd name="T3" fmla="*/ 29 h 29"/>
                <a:gd name="T4" fmla="*/ 0 w 59"/>
                <a:gd name="T5" fmla="*/ 0 h 29"/>
                <a:gd name="T6" fmla="*/ 0 w 59"/>
                <a:gd name="T7" fmla="*/ 0 h 29"/>
                <a:gd name="T8" fmla="*/ 0 w 59"/>
                <a:gd name="T9" fmla="*/ 0 h 29"/>
                <a:gd name="T10" fmla="*/ 0 w 59"/>
                <a:gd name="T11" fmla="*/ 0 h 29"/>
                <a:gd name="T12" fmla="*/ 0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0" y="0"/>
                  </a:moveTo>
                  <a:lnTo>
                    <a:pt x="59"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2" name="Freeform 94"/>
            <p:cNvSpPr>
              <a:spLocks noChangeAspect="1" noEditPoints="1"/>
            </p:cNvSpPr>
            <p:nvPr/>
          </p:nvSpPr>
          <p:spPr bwMode="auto">
            <a:xfrm>
              <a:off x="4958" y="2324"/>
              <a:ext cx="59" cy="29"/>
            </a:xfrm>
            <a:custGeom>
              <a:avLst/>
              <a:gdLst>
                <a:gd name="T0" fmla="*/ 59 w 59"/>
                <a:gd name="T1" fmla="*/ 0 h 29"/>
                <a:gd name="T2" fmla="*/ 0 w 59"/>
                <a:gd name="T3" fmla="*/ 29 h 29"/>
                <a:gd name="T4" fmla="*/ 59 w 59"/>
                <a:gd name="T5" fmla="*/ 0 h 29"/>
                <a:gd name="T6" fmla="*/ 59 w 59"/>
                <a:gd name="T7" fmla="*/ 0 h 29"/>
                <a:gd name="T8" fmla="*/ 59 w 59"/>
                <a:gd name="T9" fmla="*/ 0 h 29"/>
                <a:gd name="T10" fmla="*/ 59 w 59"/>
                <a:gd name="T11" fmla="*/ 0 h 29"/>
                <a:gd name="T12" fmla="*/ 59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59" y="0"/>
                  </a:moveTo>
                  <a:lnTo>
                    <a:pt x="0" y="29"/>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3" name="Freeform 95"/>
            <p:cNvSpPr>
              <a:spLocks noChangeAspect="1" noEditPoints="1"/>
            </p:cNvSpPr>
            <p:nvPr/>
          </p:nvSpPr>
          <p:spPr bwMode="auto">
            <a:xfrm>
              <a:off x="4892" y="2353"/>
              <a:ext cx="66" cy="30"/>
            </a:xfrm>
            <a:custGeom>
              <a:avLst/>
              <a:gdLst>
                <a:gd name="T0" fmla="*/ 66 w 66"/>
                <a:gd name="T1" fmla="*/ 0 h 30"/>
                <a:gd name="T2" fmla="*/ 0 w 66"/>
                <a:gd name="T3" fmla="*/ 30 h 30"/>
                <a:gd name="T4" fmla="*/ 66 w 66"/>
                <a:gd name="T5" fmla="*/ 0 h 30"/>
                <a:gd name="T6" fmla="*/ 66 w 66"/>
                <a:gd name="T7" fmla="*/ 0 h 30"/>
                <a:gd name="T8" fmla="*/ 66 w 66"/>
                <a:gd name="T9" fmla="*/ 0 h 30"/>
                <a:gd name="T10" fmla="*/ 66 w 66"/>
                <a:gd name="T11" fmla="*/ 0 h 30"/>
                <a:gd name="T12" fmla="*/ 66 w 66"/>
                <a:gd name="T13" fmla="*/ 0 h 30"/>
                <a:gd name="T14" fmla="*/ 0 60000 65536"/>
                <a:gd name="T15" fmla="*/ 0 60000 65536"/>
                <a:gd name="T16" fmla="*/ 0 60000 65536"/>
                <a:gd name="T17" fmla="*/ 0 60000 65536"/>
                <a:gd name="T18" fmla="*/ 0 60000 65536"/>
                <a:gd name="T19" fmla="*/ 0 60000 65536"/>
                <a:gd name="T20" fmla="*/ 0 60000 65536"/>
                <a:gd name="T21" fmla="*/ 0 w 66"/>
                <a:gd name="T22" fmla="*/ 0 h 30"/>
                <a:gd name="T23" fmla="*/ 66 w 66"/>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30">
                  <a:moveTo>
                    <a:pt x="66" y="0"/>
                  </a:moveTo>
                  <a:lnTo>
                    <a:pt x="0" y="30"/>
                  </a:lnTo>
                  <a:lnTo>
                    <a:pt x="66" y="0"/>
                  </a:lnTo>
                  <a:close/>
                  <a:moveTo>
                    <a:pt x="66" y="0"/>
                  </a:moveTo>
                  <a:lnTo>
                    <a:pt x="66"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4" name="Freeform 96"/>
            <p:cNvSpPr>
              <a:spLocks noChangeAspect="1" noEditPoints="1"/>
            </p:cNvSpPr>
            <p:nvPr/>
          </p:nvSpPr>
          <p:spPr bwMode="auto">
            <a:xfrm>
              <a:off x="4892" y="2383"/>
              <a:ext cx="66" cy="22"/>
            </a:xfrm>
            <a:custGeom>
              <a:avLst/>
              <a:gdLst>
                <a:gd name="T0" fmla="*/ 0 w 66"/>
                <a:gd name="T1" fmla="*/ 0 h 22"/>
                <a:gd name="T2" fmla="*/ 66 w 66"/>
                <a:gd name="T3" fmla="*/ 22 h 22"/>
                <a:gd name="T4" fmla="*/ 0 w 66"/>
                <a:gd name="T5" fmla="*/ 0 h 22"/>
                <a:gd name="T6" fmla="*/ 0 w 66"/>
                <a:gd name="T7" fmla="*/ 0 h 22"/>
                <a:gd name="T8" fmla="*/ 0 w 66"/>
                <a:gd name="T9" fmla="*/ 0 h 22"/>
                <a:gd name="T10" fmla="*/ 0 w 66"/>
                <a:gd name="T11" fmla="*/ 0 h 22"/>
                <a:gd name="T12" fmla="*/ 0 w 66"/>
                <a:gd name="T13" fmla="*/ 0 h 22"/>
                <a:gd name="T14" fmla="*/ 0 60000 65536"/>
                <a:gd name="T15" fmla="*/ 0 60000 65536"/>
                <a:gd name="T16" fmla="*/ 0 60000 65536"/>
                <a:gd name="T17" fmla="*/ 0 60000 65536"/>
                <a:gd name="T18" fmla="*/ 0 60000 65536"/>
                <a:gd name="T19" fmla="*/ 0 60000 65536"/>
                <a:gd name="T20" fmla="*/ 0 60000 65536"/>
                <a:gd name="T21" fmla="*/ 0 w 66"/>
                <a:gd name="T22" fmla="*/ 0 h 22"/>
                <a:gd name="T23" fmla="*/ 66 w 66"/>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2">
                  <a:moveTo>
                    <a:pt x="0" y="0"/>
                  </a:moveTo>
                  <a:lnTo>
                    <a:pt x="66" y="22"/>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5" name="Freeform 97"/>
            <p:cNvSpPr>
              <a:spLocks noChangeAspect="1" noEditPoints="1"/>
            </p:cNvSpPr>
            <p:nvPr/>
          </p:nvSpPr>
          <p:spPr bwMode="auto">
            <a:xfrm>
              <a:off x="4958" y="2405"/>
              <a:ext cx="59" cy="29"/>
            </a:xfrm>
            <a:custGeom>
              <a:avLst/>
              <a:gdLst>
                <a:gd name="T0" fmla="*/ 0 w 59"/>
                <a:gd name="T1" fmla="*/ 0 h 29"/>
                <a:gd name="T2" fmla="*/ 59 w 59"/>
                <a:gd name="T3" fmla="*/ 29 h 29"/>
                <a:gd name="T4" fmla="*/ 0 w 59"/>
                <a:gd name="T5" fmla="*/ 0 h 29"/>
                <a:gd name="T6" fmla="*/ 0 w 59"/>
                <a:gd name="T7" fmla="*/ 0 h 29"/>
                <a:gd name="T8" fmla="*/ 0 w 59"/>
                <a:gd name="T9" fmla="*/ 0 h 29"/>
                <a:gd name="T10" fmla="*/ 0 w 59"/>
                <a:gd name="T11" fmla="*/ 0 h 29"/>
                <a:gd name="T12" fmla="*/ 0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0" y="0"/>
                  </a:moveTo>
                  <a:lnTo>
                    <a:pt x="59"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6" name="Freeform 98"/>
            <p:cNvSpPr>
              <a:spLocks noChangeAspect="1" noEditPoints="1"/>
            </p:cNvSpPr>
            <p:nvPr/>
          </p:nvSpPr>
          <p:spPr bwMode="auto">
            <a:xfrm>
              <a:off x="4958" y="2434"/>
              <a:ext cx="59" cy="30"/>
            </a:xfrm>
            <a:custGeom>
              <a:avLst/>
              <a:gdLst>
                <a:gd name="T0" fmla="*/ 59 w 59"/>
                <a:gd name="T1" fmla="*/ 0 h 30"/>
                <a:gd name="T2" fmla="*/ 0 w 59"/>
                <a:gd name="T3" fmla="*/ 30 h 30"/>
                <a:gd name="T4" fmla="*/ 59 w 59"/>
                <a:gd name="T5" fmla="*/ 0 h 30"/>
                <a:gd name="T6" fmla="*/ 59 w 59"/>
                <a:gd name="T7" fmla="*/ 0 h 30"/>
                <a:gd name="T8" fmla="*/ 59 w 59"/>
                <a:gd name="T9" fmla="*/ 0 h 30"/>
                <a:gd name="T10" fmla="*/ 59 w 59"/>
                <a:gd name="T11" fmla="*/ 0 h 30"/>
                <a:gd name="T12" fmla="*/ 59 w 59"/>
                <a:gd name="T13" fmla="*/ 0 h 30"/>
                <a:gd name="T14" fmla="*/ 0 60000 65536"/>
                <a:gd name="T15" fmla="*/ 0 60000 65536"/>
                <a:gd name="T16" fmla="*/ 0 60000 65536"/>
                <a:gd name="T17" fmla="*/ 0 60000 65536"/>
                <a:gd name="T18" fmla="*/ 0 60000 65536"/>
                <a:gd name="T19" fmla="*/ 0 60000 65536"/>
                <a:gd name="T20" fmla="*/ 0 60000 65536"/>
                <a:gd name="T21" fmla="*/ 0 w 59"/>
                <a:gd name="T22" fmla="*/ 0 h 30"/>
                <a:gd name="T23" fmla="*/ 59 w 59"/>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0">
                  <a:moveTo>
                    <a:pt x="59" y="0"/>
                  </a:moveTo>
                  <a:lnTo>
                    <a:pt x="0" y="30"/>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7" name="Freeform 99"/>
            <p:cNvSpPr>
              <a:spLocks noChangeAspect="1" noEditPoints="1"/>
            </p:cNvSpPr>
            <p:nvPr/>
          </p:nvSpPr>
          <p:spPr bwMode="auto">
            <a:xfrm>
              <a:off x="4892" y="2464"/>
              <a:ext cx="66" cy="29"/>
            </a:xfrm>
            <a:custGeom>
              <a:avLst/>
              <a:gdLst>
                <a:gd name="T0" fmla="*/ 66 w 66"/>
                <a:gd name="T1" fmla="*/ 0 h 29"/>
                <a:gd name="T2" fmla="*/ 0 w 66"/>
                <a:gd name="T3" fmla="*/ 29 h 29"/>
                <a:gd name="T4" fmla="*/ 66 w 66"/>
                <a:gd name="T5" fmla="*/ 0 h 29"/>
                <a:gd name="T6" fmla="*/ 66 w 66"/>
                <a:gd name="T7" fmla="*/ 0 h 29"/>
                <a:gd name="T8" fmla="*/ 66 w 66"/>
                <a:gd name="T9" fmla="*/ 0 h 29"/>
                <a:gd name="T10" fmla="*/ 66 w 66"/>
                <a:gd name="T11" fmla="*/ 0 h 29"/>
                <a:gd name="T12" fmla="*/ 66 w 66"/>
                <a:gd name="T13" fmla="*/ 0 h 29"/>
                <a:gd name="T14" fmla="*/ 0 60000 65536"/>
                <a:gd name="T15" fmla="*/ 0 60000 65536"/>
                <a:gd name="T16" fmla="*/ 0 60000 65536"/>
                <a:gd name="T17" fmla="*/ 0 60000 65536"/>
                <a:gd name="T18" fmla="*/ 0 60000 65536"/>
                <a:gd name="T19" fmla="*/ 0 60000 65536"/>
                <a:gd name="T20" fmla="*/ 0 60000 65536"/>
                <a:gd name="T21" fmla="*/ 0 w 66"/>
                <a:gd name="T22" fmla="*/ 0 h 29"/>
                <a:gd name="T23" fmla="*/ 66 w 66"/>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9">
                  <a:moveTo>
                    <a:pt x="66" y="0"/>
                  </a:moveTo>
                  <a:lnTo>
                    <a:pt x="0" y="29"/>
                  </a:lnTo>
                  <a:lnTo>
                    <a:pt x="66" y="0"/>
                  </a:lnTo>
                  <a:close/>
                  <a:moveTo>
                    <a:pt x="66" y="0"/>
                  </a:moveTo>
                  <a:lnTo>
                    <a:pt x="66"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608" name="Freeform 100"/>
            <p:cNvSpPr>
              <a:spLocks noChangeAspect="1" noEditPoints="1"/>
            </p:cNvSpPr>
            <p:nvPr/>
          </p:nvSpPr>
          <p:spPr bwMode="auto">
            <a:xfrm>
              <a:off x="4892" y="2493"/>
              <a:ext cx="73" cy="29"/>
            </a:xfrm>
            <a:custGeom>
              <a:avLst/>
              <a:gdLst>
                <a:gd name="T0" fmla="*/ 0 w 73"/>
                <a:gd name="T1" fmla="*/ 0 h 29"/>
                <a:gd name="T2" fmla="*/ 73 w 73"/>
                <a:gd name="T3" fmla="*/ 29 h 29"/>
                <a:gd name="T4" fmla="*/ 0 w 73"/>
                <a:gd name="T5" fmla="*/ 0 h 29"/>
                <a:gd name="T6" fmla="*/ 0 w 73"/>
                <a:gd name="T7" fmla="*/ 0 h 29"/>
                <a:gd name="T8" fmla="*/ 0 w 73"/>
                <a:gd name="T9" fmla="*/ 0 h 29"/>
                <a:gd name="T10" fmla="*/ 0 w 73"/>
                <a:gd name="T11" fmla="*/ 0 h 29"/>
                <a:gd name="T12" fmla="*/ 0 w 73"/>
                <a:gd name="T13" fmla="*/ 0 h 29"/>
                <a:gd name="T14" fmla="*/ 0 60000 65536"/>
                <a:gd name="T15" fmla="*/ 0 60000 65536"/>
                <a:gd name="T16" fmla="*/ 0 60000 65536"/>
                <a:gd name="T17" fmla="*/ 0 60000 65536"/>
                <a:gd name="T18" fmla="*/ 0 60000 65536"/>
                <a:gd name="T19" fmla="*/ 0 60000 65536"/>
                <a:gd name="T20" fmla="*/ 0 60000 65536"/>
                <a:gd name="T21" fmla="*/ 0 w 73"/>
                <a:gd name="T22" fmla="*/ 0 h 29"/>
                <a:gd name="T23" fmla="*/ 73 w 73"/>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 h="29">
                  <a:moveTo>
                    <a:pt x="0" y="0"/>
                  </a:moveTo>
                  <a:lnTo>
                    <a:pt x="73"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21508" name="Text Box 102"/>
          <p:cNvSpPr txBox="1">
            <a:spLocks noChangeArrowheads="1"/>
          </p:cNvSpPr>
          <p:nvPr/>
        </p:nvSpPr>
        <p:spPr bwMode="auto">
          <a:xfrm>
            <a:off x="5047121" y="6511319"/>
            <a:ext cx="2757487" cy="338554"/>
          </a:xfrm>
          <a:prstGeom prst="rect">
            <a:avLst/>
          </a:prstGeom>
          <a:noFill/>
          <a:ln w="9525">
            <a:noFill/>
            <a:miter lim="800000"/>
          </a:ln>
        </p:spPr>
        <p:txBody>
          <a:bodyPr>
            <a:spAutoFit/>
          </a:bodyPr>
          <a:lstStyle/>
          <a:p>
            <a:pPr fontAlgn="base">
              <a:spcBef>
                <a:spcPct val="50000"/>
              </a:spcBef>
              <a:spcAft>
                <a:spcPct val="0"/>
              </a:spcAft>
            </a:pPr>
            <a:r>
              <a:rPr lang="zh-CN" altLang="en-US" sz="1600" dirty="0">
                <a:solidFill>
                  <a:srgbClr val="000000"/>
                </a:solidFill>
                <a:latin typeface="Times New Roman" panose="02020603050405020304" pitchFamily="18" charset="0"/>
              </a:rPr>
              <a:t>独立源的置换</a:t>
            </a:r>
            <a:endParaRPr lang="en-US" altLang="zh-CN" sz="1600" dirty="0">
              <a:solidFill>
                <a:srgbClr val="000000"/>
              </a:solidFill>
              <a:ea typeface="Gulim" pitchFamily="34" charset="-127"/>
            </a:endParaRPr>
          </a:p>
        </p:txBody>
      </p:sp>
      <p:sp>
        <p:nvSpPr>
          <p:cNvPr id="21509" name="Text Box 104"/>
          <p:cNvSpPr txBox="1">
            <a:spLocks noChangeArrowheads="1"/>
          </p:cNvSpPr>
          <p:nvPr/>
        </p:nvSpPr>
        <p:spPr bwMode="auto">
          <a:xfrm>
            <a:off x="1190607" y="1412398"/>
            <a:ext cx="7269574" cy="708025"/>
          </a:xfrm>
          <a:prstGeom prst="rect">
            <a:avLst/>
          </a:prstGeom>
          <a:noFill/>
          <a:ln w="76200" cmpd="tri">
            <a:solidFill>
              <a:schemeClr val="tx1"/>
            </a:solidFill>
            <a:miter lim="800000"/>
          </a:ln>
        </p:spPr>
        <p:txBody>
          <a:bodyPr wrap="square">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cs typeface="Times New Roman" panose="02020603050405020304" pitchFamily="18" charset="0"/>
              </a:rPr>
              <a:t>       电源转换定理</a:t>
            </a:r>
            <a:r>
              <a:rPr lang="zh-CN" altLang="en-US" sz="2000" b="1" dirty="0">
                <a:solidFill>
                  <a:srgbClr val="000000"/>
                </a:solidFill>
                <a:latin typeface="Times New Roman" panose="02020603050405020304" pitchFamily="18" charset="0"/>
                <a:cs typeface="Times New Roman" panose="02020603050405020304" pitchFamily="18" charset="0"/>
              </a:rPr>
              <a:t>：用一个电流源</a:t>
            </a: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400" b="1" i="1" baseline="-25000" dirty="0">
                <a:solidFill>
                  <a:srgbClr val="000000"/>
                </a:solidFill>
                <a:latin typeface="Times New Roman" panose="02020603050405020304" pitchFamily="18" charset="0"/>
                <a:cs typeface="Times New Roman" panose="02020603050405020304" pitchFamily="18" charset="0"/>
              </a:rPr>
              <a:t>s</a:t>
            </a:r>
            <a:r>
              <a:rPr lang="zh-CN" altLang="en-US" sz="2000" b="1" dirty="0">
                <a:solidFill>
                  <a:srgbClr val="000000"/>
                </a:solidFill>
                <a:latin typeface="Times New Roman" panose="02020603050405020304" pitchFamily="18" charset="0"/>
                <a:cs typeface="Times New Roman" panose="02020603050405020304" pitchFamily="18" charset="0"/>
              </a:rPr>
              <a:t>并联一个电阻</a:t>
            </a:r>
            <a:r>
              <a:rPr lang="en-US" altLang="zh-CN" sz="2000" b="1" i="1" dirty="0">
                <a:solidFill>
                  <a:srgbClr val="000000"/>
                </a:solidFill>
                <a:latin typeface="Times New Roman" panose="02020603050405020304" pitchFamily="18" charset="0"/>
                <a:cs typeface="Times New Roman" panose="02020603050405020304" pitchFamily="18" charset="0"/>
              </a:rPr>
              <a:t>R</a:t>
            </a:r>
            <a:r>
              <a:rPr lang="zh-CN" altLang="en-US" sz="2000" b="1" dirty="0">
                <a:solidFill>
                  <a:srgbClr val="000000"/>
                </a:solidFill>
                <a:latin typeface="Times New Roman" panose="02020603050405020304" pitchFamily="18" charset="0"/>
                <a:cs typeface="Times New Roman" panose="02020603050405020304" pitchFamily="18" charset="0"/>
              </a:rPr>
              <a:t>，取代一个电压源</a:t>
            </a:r>
            <a:r>
              <a:rPr lang="en-US" altLang="zh-CN" sz="2000" b="1" i="1" dirty="0">
                <a:solidFill>
                  <a:srgbClr val="000000"/>
                </a:solidFill>
                <a:latin typeface="Times New Roman" panose="02020603050405020304" pitchFamily="18" charset="0"/>
                <a:cs typeface="Times New Roman" panose="02020603050405020304" pitchFamily="18" charset="0"/>
              </a:rPr>
              <a:t>v</a:t>
            </a:r>
            <a:r>
              <a:rPr lang="en-US" altLang="zh-CN" sz="2400" b="1" i="1" baseline="-25000" dirty="0">
                <a:solidFill>
                  <a:srgbClr val="000000"/>
                </a:solidFill>
                <a:latin typeface="Times New Roman" panose="02020603050405020304" pitchFamily="18" charset="0"/>
                <a:cs typeface="Times New Roman" panose="02020603050405020304" pitchFamily="18" charset="0"/>
              </a:rPr>
              <a:t>s</a:t>
            </a:r>
            <a:r>
              <a:rPr lang="zh-CN" altLang="en-US" sz="2000" b="1" dirty="0">
                <a:solidFill>
                  <a:srgbClr val="000000"/>
                </a:solidFill>
                <a:latin typeface="Times New Roman" panose="02020603050405020304" pitchFamily="18" charset="0"/>
                <a:cs typeface="Times New Roman" panose="02020603050405020304" pitchFamily="18" charset="0"/>
              </a:rPr>
              <a:t>串联一个电阻</a:t>
            </a:r>
            <a:r>
              <a:rPr lang="en-US" altLang="zh-CN" sz="2000" b="1" i="1" dirty="0">
                <a:solidFill>
                  <a:srgbClr val="000000"/>
                </a:solidFill>
                <a:latin typeface="Times New Roman" panose="02020603050405020304" pitchFamily="18" charset="0"/>
                <a:cs typeface="Times New Roman" panose="02020603050405020304" pitchFamily="18" charset="0"/>
              </a:rPr>
              <a:t>R</a:t>
            </a:r>
            <a:r>
              <a:rPr lang="zh-CN" altLang="en-US" sz="2000" b="1" dirty="0">
                <a:solidFill>
                  <a:srgbClr val="000000"/>
                </a:solidFill>
                <a:latin typeface="Times New Roman" panose="02020603050405020304" pitchFamily="18" charset="0"/>
                <a:cs typeface="Times New Roman" panose="02020603050405020304" pitchFamily="18" charset="0"/>
              </a:rPr>
              <a:t>的过程，反之亦然。</a:t>
            </a: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sp>
        <p:nvSpPr>
          <p:cNvPr id="21510" name="Text Box 105"/>
          <p:cNvSpPr txBox="1">
            <a:spLocks noChangeArrowheads="1"/>
          </p:cNvSpPr>
          <p:nvPr/>
        </p:nvSpPr>
        <p:spPr bwMode="auto">
          <a:xfrm>
            <a:off x="423629" y="2895237"/>
            <a:ext cx="5615499" cy="400050"/>
          </a:xfrm>
          <a:prstGeom prst="rect">
            <a:avLst/>
          </a:prstGeom>
          <a:noFill/>
          <a:ln w="9525">
            <a:noFill/>
            <a:miter lim="800000"/>
          </a:ln>
        </p:spPr>
        <p:txBody>
          <a:bodyPr wrap="square">
            <a:spAutoFit/>
          </a:bodyPr>
          <a:lstStyle/>
          <a:p>
            <a:pPr fontAlgn="base">
              <a:spcBef>
                <a:spcPct val="50000"/>
              </a:spcBef>
              <a:spcAft>
                <a:spcPct val="0"/>
              </a:spcAft>
              <a:buClr>
                <a:srgbClr val="00007D"/>
              </a:buClr>
              <a:buSzPct val="85000"/>
            </a:pPr>
            <a:r>
              <a:rPr lang="zh-CN" altLang="en-US" sz="2000" b="1" dirty="0">
                <a:solidFill>
                  <a:srgbClr val="FF0000"/>
                </a:solidFill>
                <a:latin typeface="黑体" panose="02010609060101010101" pitchFamily="49" charset="-122"/>
                <a:ea typeface="黑体" panose="02010609060101010101" pitchFamily="49" charset="-122"/>
              </a:rPr>
              <a:t>等效</a:t>
            </a:r>
            <a:r>
              <a:rPr lang="en-US" altLang="zh-CN" sz="2000" b="1" dirty="0">
                <a:solidFill>
                  <a:srgbClr val="0000FF"/>
                </a:solidFill>
                <a:latin typeface="Times New Roman" panose="02020603050405020304" pitchFamily="18" charset="0"/>
              </a:rPr>
              <a:t>: </a:t>
            </a:r>
            <a:r>
              <a:rPr lang="en-US" altLang="zh-CN" sz="2000" i="1" dirty="0">
                <a:solidFill>
                  <a:srgbClr val="000000"/>
                </a:solidFill>
                <a:latin typeface="Comic Sans MS" panose="030F0702030302020204" pitchFamily="66" charset="0"/>
                <a:ea typeface="楷体_GB2312" pitchFamily="49" charset="-122"/>
              </a:rPr>
              <a:t>a-b</a:t>
            </a:r>
            <a:r>
              <a:rPr lang="zh-CN" altLang="en-US" sz="2000" dirty="0">
                <a:solidFill>
                  <a:srgbClr val="000000"/>
                </a:solidFill>
                <a:latin typeface="Comic Sans MS" panose="030F0702030302020204" pitchFamily="66" charset="0"/>
                <a:ea typeface="楷体_GB2312" pitchFamily="49" charset="-122"/>
              </a:rPr>
              <a:t>端电压</a:t>
            </a:r>
            <a:r>
              <a:rPr lang="en-US" altLang="zh-CN" sz="2000" dirty="0">
                <a:solidFill>
                  <a:srgbClr val="000000"/>
                </a:solidFill>
                <a:latin typeface="Comic Sans MS" panose="030F0702030302020204" pitchFamily="66" charset="0"/>
                <a:ea typeface="楷体_GB2312" pitchFamily="49" charset="-122"/>
              </a:rPr>
              <a:t>-</a:t>
            </a:r>
            <a:r>
              <a:rPr lang="zh-CN" altLang="en-US" sz="2000" dirty="0">
                <a:solidFill>
                  <a:srgbClr val="000000"/>
                </a:solidFill>
                <a:latin typeface="Comic Sans MS" panose="030F0702030302020204" pitchFamily="66" charset="0"/>
                <a:ea typeface="楷体_GB2312" pitchFamily="49" charset="-122"/>
              </a:rPr>
              <a:t>电流关系（</a:t>
            </a:r>
            <a:r>
              <a:rPr lang="en-US" altLang="zh-CN" sz="2000" dirty="0">
                <a:solidFill>
                  <a:srgbClr val="000000"/>
                </a:solidFill>
                <a:latin typeface="Comic Sans MS" panose="030F0702030302020204" pitchFamily="66" charset="0"/>
                <a:ea typeface="楷体_GB2312" pitchFamily="49" charset="-122"/>
              </a:rPr>
              <a:t>VCR</a:t>
            </a:r>
            <a:r>
              <a:rPr lang="zh-CN" altLang="en-US" sz="2000" dirty="0">
                <a:solidFill>
                  <a:srgbClr val="000000"/>
                </a:solidFill>
                <a:latin typeface="Comic Sans MS" panose="030F0702030302020204" pitchFamily="66" charset="0"/>
                <a:ea typeface="楷体_GB2312" pitchFamily="49" charset="-122"/>
              </a:rPr>
              <a:t>）相同，包含：</a:t>
            </a:r>
            <a:endParaRPr lang="en-US" altLang="zh-CN" sz="2000" dirty="0">
              <a:solidFill>
                <a:srgbClr val="000000"/>
              </a:solidFill>
              <a:latin typeface="Comic Sans MS" panose="030F0702030302020204" pitchFamily="66" charset="0"/>
              <a:ea typeface="楷体_GB2312" pitchFamily="49" charset="-122"/>
            </a:endParaRPr>
          </a:p>
        </p:txBody>
      </p:sp>
      <p:sp>
        <p:nvSpPr>
          <p:cNvPr id="21511" name="Text Box 106"/>
          <p:cNvSpPr txBox="1">
            <a:spLocks noChangeArrowheads="1"/>
          </p:cNvSpPr>
          <p:nvPr/>
        </p:nvSpPr>
        <p:spPr bwMode="auto">
          <a:xfrm>
            <a:off x="587141" y="3286188"/>
            <a:ext cx="5616575" cy="1323975"/>
          </a:xfrm>
          <a:prstGeom prst="rect">
            <a:avLst/>
          </a:prstGeom>
          <a:noFill/>
          <a:ln w="9525">
            <a:noFill/>
            <a:miter lim="800000"/>
          </a:ln>
        </p:spPr>
        <p:txBody>
          <a:bodyPr>
            <a:spAutoFit/>
          </a:bodyPr>
          <a:lstStyle/>
          <a:p>
            <a:pPr marL="342900" indent="-342900" fontAlgn="base">
              <a:spcBef>
                <a:spcPct val="50000"/>
              </a:spcBef>
              <a:spcAft>
                <a:spcPct val="0"/>
              </a:spcAft>
              <a:buFontTx/>
              <a:buAutoNum type="circleNumDbPlain"/>
            </a:pPr>
            <a:r>
              <a:rPr lang="zh-CN" altLang="en-US" sz="2000" b="1" dirty="0">
                <a:solidFill>
                  <a:srgbClr val="000000"/>
                </a:solidFill>
                <a:latin typeface="Times New Roman" panose="02020603050405020304" pitchFamily="18" charset="0"/>
              </a:rPr>
              <a:t>等效</a:t>
            </a:r>
            <a:r>
              <a:rPr lang="zh-CN" altLang="en-US" sz="2000" b="1" dirty="0">
                <a:solidFill>
                  <a:srgbClr val="0000FF"/>
                </a:solidFill>
                <a:latin typeface="Times New Roman" panose="02020603050405020304" pitchFamily="18" charset="0"/>
              </a:rPr>
              <a:t>电阻</a:t>
            </a:r>
            <a:endParaRPr lang="en-US" altLang="zh-CN" sz="2000" b="1" dirty="0">
              <a:solidFill>
                <a:srgbClr val="0000FF"/>
              </a:solidFill>
              <a:latin typeface="Times New Roman" panose="02020603050405020304" pitchFamily="18" charset="0"/>
            </a:endParaRPr>
          </a:p>
          <a:p>
            <a:pPr marL="342900" indent="-342900" fontAlgn="base">
              <a:spcBef>
                <a:spcPct val="50000"/>
              </a:spcBef>
              <a:spcAft>
                <a:spcPct val="0"/>
              </a:spcAft>
              <a:buFontTx/>
              <a:buAutoNum type="circleNumDbPlain"/>
            </a:pPr>
            <a:r>
              <a:rPr lang="zh-CN" altLang="en-US" sz="2000" b="1" dirty="0">
                <a:solidFill>
                  <a:srgbClr val="000000"/>
                </a:solidFill>
                <a:latin typeface="Times New Roman" panose="02020603050405020304" pitchFamily="18" charset="0"/>
              </a:rPr>
              <a:t>等效</a:t>
            </a:r>
            <a:r>
              <a:rPr lang="zh-CN" altLang="en-US" sz="2000" b="1" dirty="0">
                <a:solidFill>
                  <a:srgbClr val="0000FF"/>
                </a:solidFill>
                <a:latin typeface="Times New Roman" panose="02020603050405020304" pitchFamily="18" charset="0"/>
              </a:rPr>
              <a:t>短路电流</a:t>
            </a:r>
            <a:endParaRPr lang="en-US" altLang="zh-CN" sz="2000" b="1" dirty="0">
              <a:solidFill>
                <a:srgbClr val="0000FF"/>
              </a:solidFill>
              <a:latin typeface="Times New Roman" panose="02020603050405020304" pitchFamily="18" charset="0"/>
            </a:endParaRPr>
          </a:p>
          <a:p>
            <a:pPr marL="342900" indent="-342900" fontAlgn="base">
              <a:spcBef>
                <a:spcPct val="50000"/>
              </a:spcBef>
              <a:spcAft>
                <a:spcPct val="0"/>
              </a:spcAft>
              <a:buFontTx/>
              <a:buAutoNum type="circleNumDbPlain"/>
            </a:pPr>
            <a:r>
              <a:rPr lang="zh-CN" altLang="en-US" sz="2000" b="1" dirty="0">
                <a:solidFill>
                  <a:srgbClr val="000000"/>
                </a:solidFill>
                <a:latin typeface="Times New Roman" panose="02020603050405020304" pitchFamily="18" charset="0"/>
              </a:rPr>
              <a:t>等效</a:t>
            </a:r>
            <a:r>
              <a:rPr lang="zh-CN" altLang="en-US" sz="2000" b="1" dirty="0">
                <a:solidFill>
                  <a:srgbClr val="0000FF"/>
                </a:solidFill>
                <a:latin typeface="Times New Roman" panose="02020603050405020304" pitchFamily="18" charset="0"/>
              </a:rPr>
              <a:t>开路电压</a:t>
            </a:r>
            <a:endParaRPr lang="en-US" altLang="zh-CN" sz="2000" b="1" dirty="0">
              <a:solidFill>
                <a:srgbClr val="0000FF"/>
              </a:solidFill>
              <a:latin typeface="Times New Roman" panose="02020603050405020304" pitchFamily="18" charset="0"/>
            </a:endParaRPr>
          </a:p>
        </p:txBody>
      </p:sp>
      <p:graphicFrame>
        <p:nvGraphicFramePr>
          <p:cNvPr id="21512" name="Object 107"/>
          <p:cNvGraphicFramePr>
            <a:graphicFrameLocks noChangeAspect="1"/>
          </p:cNvGraphicFramePr>
          <p:nvPr/>
        </p:nvGraphicFramePr>
        <p:xfrm>
          <a:off x="4103688" y="3808413"/>
          <a:ext cx="4598987" cy="903287"/>
        </p:xfrm>
        <a:graphic>
          <a:graphicData uri="http://schemas.openxmlformats.org/presentationml/2006/ole">
            <mc:AlternateContent xmlns:mc="http://schemas.openxmlformats.org/markup-compatibility/2006">
              <mc:Choice xmlns:v="urn:schemas-microsoft-com:vml" Requires="v">
                <p:oleObj spid="_x0000_s16391" name="Equation" r:id="rId3" imgW="48158400" imgH="9448800" progId="">
                  <p:embed/>
                </p:oleObj>
              </mc:Choice>
              <mc:Fallback>
                <p:oleObj name="Equation" r:id="rId3" imgW="48158400" imgH="9448800" progId="">
                  <p:embed/>
                  <p:pic>
                    <p:nvPicPr>
                      <p:cNvPr id="0" name="图片 16384"/>
                      <p:cNvPicPr>
                        <a:picLocks noChangeAspect="1"/>
                      </p:cNvPicPr>
                      <p:nvPr/>
                    </p:nvPicPr>
                    <p:blipFill>
                      <a:blip r:embed="rId4"/>
                      <a:stretch>
                        <a:fillRect/>
                      </a:stretch>
                    </p:blipFill>
                    <p:spPr>
                      <a:xfrm>
                        <a:off x="4103688" y="3808413"/>
                        <a:ext cx="4598987" cy="903287"/>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28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4"/>
          <p:cNvGraphicFramePr>
            <a:graphicFrameLocks noChangeAspect="1"/>
          </p:cNvGraphicFramePr>
          <p:nvPr/>
        </p:nvGraphicFramePr>
        <p:xfrm>
          <a:off x="2491283" y="2744777"/>
          <a:ext cx="4391025" cy="903288"/>
        </p:xfrm>
        <a:graphic>
          <a:graphicData uri="http://schemas.openxmlformats.org/presentationml/2006/ole">
            <mc:AlternateContent xmlns:mc="http://schemas.openxmlformats.org/markup-compatibility/2006">
              <mc:Choice xmlns:v="urn:schemas-microsoft-com:vml" Requires="v">
                <p:oleObj spid="_x0000_s17415" name="公式" r:id="rId4" imgW="46024800" imgH="9448800" progId="">
                  <p:embed/>
                </p:oleObj>
              </mc:Choice>
              <mc:Fallback>
                <p:oleObj name="公式" r:id="rId4" imgW="46024800" imgH="9448800" progId="">
                  <p:embed/>
                  <p:pic>
                    <p:nvPicPr>
                      <p:cNvPr id="0" name="图片 17408"/>
                      <p:cNvPicPr>
                        <a:picLocks noChangeAspect="1"/>
                      </p:cNvPicPr>
                      <p:nvPr/>
                    </p:nvPicPr>
                    <p:blipFill>
                      <a:blip r:embed="rId5"/>
                      <a:stretch>
                        <a:fillRect/>
                      </a:stretch>
                    </p:blipFill>
                    <p:spPr>
                      <a:xfrm>
                        <a:off x="2491283" y="2744777"/>
                        <a:ext cx="4391025" cy="90328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pSp>
        <p:nvGrpSpPr>
          <p:cNvPr id="2" name="Group 5"/>
          <p:cNvGrpSpPr>
            <a:grpSpLocks noChangeAspect="1"/>
          </p:cNvGrpSpPr>
          <p:nvPr/>
        </p:nvGrpSpPr>
        <p:grpSpPr bwMode="auto">
          <a:xfrm>
            <a:off x="1403648" y="362744"/>
            <a:ext cx="6048375" cy="1595437"/>
            <a:chOff x="168" y="1357"/>
            <a:chExt cx="5407" cy="1609"/>
          </a:xfrm>
        </p:grpSpPr>
        <p:sp>
          <p:nvSpPr>
            <p:cNvPr id="22536" name="Freeform 6"/>
            <p:cNvSpPr>
              <a:spLocks noChangeAspect="1"/>
            </p:cNvSpPr>
            <p:nvPr/>
          </p:nvSpPr>
          <p:spPr bwMode="auto">
            <a:xfrm>
              <a:off x="4911" y="1726"/>
              <a:ext cx="1" cy="1160"/>
            </a:xfrm>
            <a:custGeom>
              <a:avLst/>
              <a:gdLst>
                <a:gd name="T0" fmla="*/ 0 w 1"/>
                <a:gd name="T1" fmla="*/ 0 h 1160"/>
                <a:gd name="T2" fmla="*/ 0 w 1"/>
                <a:gd name="T3" fmla="*/ 1160 h 1160"/>
                <a:gd name="T4" fmla="*/ 0 w 1"/>
                <a:gd name="T5" fmla="*/ 0 h 1160"/>
                <a:gd name="T6" fmla="*/ 0 w 1"/>
                <a:gd name="T7" fmla="*/ 0 h 1160"/>
                <a:gd name="T8" fmla="*/ 0 60000 65536"/>
                <a:gd name="T9" fmla="*/ 0 60000 65536"/>
                <a:gd name="T10" fmla="*/ 0 60000 65536"/>
                <a:gd name="T11" fmla="*/ 0 60000 65536"/>
                <a:gd name="T12" fmla="*/ 0 w 1"/>
                <a:gd name="T13" fmla="*/ 0 h 1160"/>
                <a:gd name="T14" fmla="*/ 1 w 1"/>
                <a:gd name="T15" fmla="*/ 1160 h 1160"/>
              </a:gdLst>
              <a:ahLst/>
              <a:cxnLst>
                <a:cxn ang="T8">
                  <a:pos x="T0" y="T1"/>
                </a:cxn>
                <a:cxn ang="T9">
                  <a:pos x="T2" y="T3"/>
                </a:cxn>
                <a:cxn ang="T10">
                  <a:pos x="T4" y="T5"/>
                </a:cxn>
                <a:cxn ang="T11">
                  <a:pos x="T6" y="T7"/>
                </a:cxn>
              </a:cxnLst>
              <a:rect l="T12" t="T13" r="T14" b="T15"/>
              <a:pathLst>
                <a:path w="1" h="1160">
                  <a:moveTo>
                    <a:pt x="0" y="0"/>
                  </a:moveTo>
                  <a:lnTo>
                    <a:pt x="0" y="116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37" name="Freeform 7"/>
            <p:cNvSpPr>
              <a:spLocks noChangeAspect="1"/>
            </p:cNvSpPr>
            <p:nvPr/>
          </p:nvSpPr>
          <p:spPr bwMode="auto">
            <a:xfrm>
              <a:off x="631" y="1726"/>
              <a:ext cx="1589" cy="1"/>
            </a:xfrm>
            <a:custGeom>
              <a:avLst/>
              <a:gdLst>
                <a:gd name="T0" fmla="*/ 1589 w 1589"/>
                <a:gd name="T1" fmla="*/ 0 h 1"/>
                <a:gd name="T2" fmla="*/ 0 w 1589"/>
                <a:gd name="T3" fmla="*/ 0 h 1"/>
                <a:gd name="T4" fmla="*/ 1589 w 1589"/>
                <a:gd name="T5" fmla="*/ 0 h 1"/>
                <a:gd name="T6" fmla="*/ 1589 w 1589"/>
                <a:gd name="T7" fmla="*/ 0 h 1"/>
                <a:gd name="T8" fmla="*/ 0 60000 65536"/>
                <a:gd name="T9" fmla="*/ 0 60000 65536"/>
                <a:gd name="T10" fmla="*/ 0 60000 65536"/>
                <a:gd name="T11" fmla="*/ 0 60000 65536"/>
                <a:gd name="T12" fmla="*/ 0 w 1589"/>
                <a:gd name="T13" fmla="*/ 0 h 1"/>
                <a:gd name="T14" fmla="*/ 1589 w 1589"/>
                <a:gd name="T15" fmla="*/ 1 h 1"/>
              </a:gdLst>
              <a:ahLst/>
              <a:cxnLst>
                <a:cxn ang="T8">
                  <a:pos x="T0" y="T1"/>
                </a:cxn>
                <a:cxn ang="T9">
                  <a:pos x="T2" y="T3"/>
                </a:cxn>
                <a:cxn ang="T10">
                  <a:pos x="T4" y="T5"/>
                </a:cxn>
                <a:cxn ang="T11">
                  <a:pos x="T6" y="T7"/>
                </a:cxn>
              </a:cxnLst>
              <a:rect l="T12" t="T13" r="T14" b="T15"/>
              <a:pathLst>
                <a:path w="1589" h="1">
                  <a:moveTo>
                    <a:pt x="1589" y="0"/>
                  </a:moveTo>
                  <a:lnTo>
                    <a:pt x="0" y="0"/>
                  </a:lnTo>
                  <a:lnTo>
                    <a:pt x="158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38" name="Freeform 8"/>
            <p:cNvSpPr>
              <a:spLocks noChangeAspect="1" noEditPoints="1"/>
            </p:cNvSpPr>
            <p:nvPr/>
          </p:nvSpPr>
          <p:spPr bwMode="auto">
            <a:xfrm>
              <a:off x="631" y="1726"/>
              <a:ext cx="1" cy="1160"/>
            </a:xfrm>
            <a:custGeom>
              <a:avLst/>
              <a:gdLst>
                <a:gd name="T0" fmla="*/ 0 w 1"/>
                <a:gd name="T1" fmla="*/ 0 h 1160"/>
                <a:gd name="T2" fmla="*/ 0 w 1"/>
                <a:gd name="T3" fmla="*/ 1160 h 1160"/>
                <a:gd name="T4" fmla="*/ 0 w 1"/>
                <a:gd name="T5" fmla="*/ 0 h 1160"/>
                <a:gd name="T6" fmla="*/ 0 w 1"/>
                <a:gd name="T7" fmla="*/ 0 h 1160"/>
                <a:gd name="T8" fmla="*/ 0 w 1"/>
                <a:gd name="T9" fmla="*/ 0 h 1160"/>
                <a:gd name="T10" fmla="*/ 0 w 1"/>
                <a:gd name="T11" fmla="*/ 0 h 1160"/>
                <a:gd name="T12" fmla="*/ 0 w 1"/>
                <a:gd name="T13" fmla="*/ 0 h 1160"/>
                <a:gd name="T14" fmla="*/ 0 60000 65536"/>
                <a:gd name="T15" fmla="*/ 0 60000 65536"/>
                <a:gd name="T16" fmla="*/ 0 60000 65536"/>
                <a:gd name="T17" fmla="*/ 0 60000 65536"/>
                <a:gd name="T18" fmla="*/ 0 60000 65536"/>
                <a:gd name="T19" fmla="*/ 0 60000 65536"/>
                <a:gd name="T20" fmla="*/ 0 60000 65536"/>
                <a:gd name="T21" fmla="*/ 0 w 1"/>
                <a:gd name="T22" fmla="*/ 0 h 1160"/>
                <a:gd name="T23" fmla="*/ 1 w 1"/>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160">
                  <a:moveTo>
                    <a:pt x="0" y="0"/>
                  </a:moveTo>
                  <a:lnTo>
                    <a:pt x="0" y="116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39" name="Freeform 9"/>
            <p:cNvSpPr>
              <a:spLocks noChangeAspect="1" noEditPoints="1"/>
            </p:cNvSpPr>
            <p:nvPr/>
          </p:nvSpPr>
          <p:spPr bwMode="auto">
            <a:xfrm>
              <a:off x="631" y="2886"/>
              <a:ext cx="1589" cy="1"/>
            </a:xfrm>
            <a:custGeom>
              <a:avLst/>
              <a:gdLst>
                <a:gd name="T0" fmla="*/ 0 w 1589"/>
                <a:gd name="T1" fmla="*/ 0 h 1"/>
                <a:gd name="T2" fmla="*/ 1589 w 1589"/>
                <a:gd name="T3" fmla="*/ 0 h 1"/>
                <a:gd name="T4" fmla="*/ 0 w 1589"/>
                <a:gd name="T5" fmla="*/ 0 h 1"/>
                <a:gd name="T6" fmla="*/ 0 w 1589"/>
                <a:gd name="T7" fmla="*/ 0 h 1"/>
                <a:gd name="T8" fmla="*/ 0 w 1589"/>
                <a:gd name="T9" fmla="*/ 0 h 1"/>
                <a:gd name="T10" fmla="*/ 0 w 1589"/>
                <a:gd name="T11" fmla="*/ 0 h 1"/>
                <a:gd name="T12" fmla="*/ 0 w 1589"/>
                <a:gd name="T13" fmla="*/ 0 h 1"/>
                <a:gd name="T14" fmla="*/ 0 60000 65536"/>
                <a:gd name="T15" fmla="*/ 0 60000 65536"/>
                <a:gd name="T16" fmla="*/ 0 60000 65536"/>
                <a:gd name="T17" fmla="*/ 0 60000 65536"/>
                <a:gd name="T18" fmla="*/ 0 60000 65536"/>
                <a:gd name="T19" fmla="*/ 0 60000 65536"/>
                <a:gd name="T20" fmla="*/ 0 60000 65536"/>
                <a:gd name="T21" fmla="*/ 0 w 1589"/>
                <a:gd name="T22" fmla="*/ 0 h 1"/>
                <a:gd name="T23" fmla="*/ 1589 w 1589"/>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9" h="1">
                  <a:moveTo>
                    <a:pt x="0" y="0"/>
                  </a:moveTo>
                  <a:lnTo>
                    <a:pt x="1589"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0" name="Freeform 10"/>
            <p:cNvSpPr>
              <a:spLocks noChangeAspect="1"/>
            </p:cNvSpPr>
            <p:nvPr/>
          </p:nvSpPr>
          <p:spPr bwMode="auto">
            <a:xfrm>
              <a:off x="168" y="2241"/>
              <a:ext cx="76" cy="102"/>
            </a:xfrm>
            <a:custGeom>
              <a:avLst/>
              <a:gdLst>
                <a:gd name="T0" fmla="*/ 0 w 76"/>
                <a:gd name="T1" fmla="*/ 7 h 102"/>
                <a:gd name="T2" fmla="*/ 8 w 76"/>
                <a:gd name="T3" fmla="*/ 7 h 102"/>
                <a:gd name="T4" fmla="*/ 17 w 76"/>
                <a:gd name="T5" fmla="*/ 15 h 102"/>
                <a:gd name="T6" fmla="*/ 17 w 76"/>
                <a:gd name="T7" fmla="*/ 29 h 102"/>
                <a:gd name="T8" fmla="*/ 17 w 76"/>
                <a:gd name="T9" fmla="*/ 44 h 102"/>
                <a:gd name="T10" fmla="*/ 25 w 76"/>
                <a:gd name="T11" fmla="*/ 65 h 102"/>
                <a:gd name="T12" fmla="*/ 25 w 76"/>
                <a:gd name="T13" fmla="*/ 80 h 102"/>
                <a:gd name="T14" fmla="*/ 25 w 76"/>
                <a:gd name="T15" fmla="*/ 94 h 102"/>
                <a:gd name="T16" fmla="*/ 25 w 76"/>
                <a:gd name="T17" fmla="*/ 102 h 102"/>
                <a:gd name="T18" fmla="*/ 25 w 76"/>
                <a:gd name="T19" fmla="*/ 102 h 102"/>
                <a:gd name="T20" fmla="*/ 34 w 76"/>
                <a:gd name="T21" fmla="*/ 102 h 102"/>
                <a:gd name="T22" fmla="*/ 34 w 76"/>
                <a:gd name="T23" fmla="*/ 94 h 102"/>
                <a:gd name="T24" fmla="*/ 42 w 76"/>
                <a:gd name="T25" fmla="*/ 80 h 102"/>
                <a:gd name="T26" fmla="*/ 50 w 76"/>
                <a:gd name="T27" fmla="*/ 73 h 102"/>
                <a:gd name="T28" fmla="*/ 59 w 76"/>
                <a:gd name="T29" fmla="*/ 51 h 102"/>
                <a:gd name="T30" fmla="*/ 76 w 76"/>
                <a:gd name="T31" fmla="*/ 36 h 102"/>
                <a:gd name="T32" fmla="*/ 76 w 76"/>
                <a:gd name="T33" fmla="*/ 15 h 102"/>
                <a:gd name="T34" fmla="*/ 76 w 76"/>
                <a:gd name="T35" fmla="*/ 7 h 102"/>
                <a:gd name="T36" fmla="*/ 67 w 76"/>
                <a:gd name="T37" fmla="*/ 0 h 102"/>
                <a:gd name="T38" fmla="*/ 59 w 76"/>
                <a:gd name="T39" fmla="*/ 0 h 102"/>
                <a:gd name="T40" fmla="*/ 59 w 76"/>
                <a:gd name="T41" fmla="*/ 7 h 102"/>
                <a:gd name="T42" fmla="*/ 59 w 76"/>
                <a:gd name="T43" fmla="*/ 15 h 102"/>
                <a:gd name="T44" fmla="*/ 67 w 76"/>
                <a:gd name="T45" fmla="*/ 15 h 102"/>
                <a:gd name="T46" fmla="*/ 67 w 76"/>
                <a:gd name="T47" fmla="*/ 22 h 102"/>
                <a:gd name="T48" fmla="*/ 59 w 76"/>
                <a:gd name="T49" fmla="*/ 51 h 102"/>
                <a:gd name="T50" fmla="*/ 50 w 76"/>
                <a:gd name="T51" fmla="*/ 65 h 102"/>
                <a:gd name="T52" fmla="*/ 42 w 76"/>
                <a:gd name="T53" fmla="*/ 73 h 102"/>
                <a:gd name="T54" fmla="*/ 34 w 76"/>
                <a:gd name="T55" fmla="*/ 80 h 102"/>
                <a:gd name="T56" fmla="*/ 34 w 76"/>
                <a:gd name="T57" fmla="*/ 44 h 102"/>
                <a:gd name="T58" fmla="*/ 25 w 76"/>
                <a:gd name="T59" fmla="*/ 7 h 102"/>
                <a:gd name="T60" fmla="*/ 25 w 76"/>
                <a:gd name="T61" fmla="*/ 0 h 102"/>
                <a:gd name="T62" fmla="*/ 25 w 76"/>
                <a:gd name="T63" fmla="*/ 0 h 102"/>
                <a:gd name="T64" fmla="*/ 17 w 76"/>
                <a:gd name="T65" fmla="*/ 0 h 102"/>
                <a:gd name="T66" fmla="*/ 0 w 76"/>
                <a:gd name="T67" fmla="*/ 7 h 102"/>
                <a:gd name="T68" fmla="*/ 0 w 76"/>
                <a:gd name="T69" fmla="*/ 7 h 1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
                <a:gd name="T106" fmla="*/ 0 h 102"/>
                <a:gd name="T107" fmla="*/ 76 w 76"/>
                <a:gd name="T108" fmla="*/ 102 h 10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 h="102">
                  <a:moveTo>
                    <a:pt x="0" y="7"/>
                  </a:moveTo>
                  <a:lnTo>
                    <a:pt x="8" y="7"/>
                  </a:lnTo>
                  <a:lnTo>
                    <a:pt x="17" y="15"/>
                  </a:lnTo>
                  <a:lnTo>
                    <a:pt x="17" y="29"/>
                  </a:lnTo>
                  <a:lnTo>
                    <a:pt x="17" y="44"/>
                  </a:lnTo>
                  <a:lnTo>
                    <a:pt x="25" y="65"/>
                  </a:lnTo>
                  <a:lnTo>
                    <a:pt x="25" y="80"/>
                  </a:lnTo>
                  <a:lnTo>
                    <a:pt x="25" y="94"/>
                  </a:lnTo>
                  <a:lnTo>
                    <a:pt x="25" y="102"/>
                  </a:lnTo>
                  <a:lnTo>
                    <a:pt x="34" y="102"/>
                  </a:lnTo>
                  <a:lnTo>
                    <a:pt x="34" y="94"/>
                  </a:lnTo>
                  <a:lnTo>
                    <a:pt x="42" y="80"/>
                  </a:lnTo>
                  <a:lnTo>
                    <a:pt x="50" y="73"/>
                  </a:lnTo>
                  <a:lnTo>
                    <a:pt x="59" y="51"/>
                  </a:lnTo>
                  <a:lnTo>
                    <a:pt x="76" y="36"/>
                  </a:lnTo>
                  <a:lnTo>
                    <a:pt x="76" y="15"/>
                  </a:lnTo>
                  <a:lnTo>
                    <a:pt x="76" y="7"/>
                  </a:lnTo>
                  <a:lnTo>
                    <a:pt x="67" y="0"/>
                  </a:lnTo>
                  <a:lnTo>
                    <a:pt x="59" y="0"/>
                  </a:lnTo>
                  <a:lnTo>
                    <a:pt x="59" y="7"/>
                  </a:lnTo>
                  <a:lnTo>
                    <a:pt x="59" y="15"/>
                  </a:lnTo>
                  <a:lnTo>
                    <a:pt x="67" y="15"/>
                  </a:lnTo>
                  <a:lnTo>
                    <a:pt x="67" y="22"/>
                  </a:lnTo>
                  <a:lnTo>
                    <a:pt x="59" y="51"/>
                  </a:lnTo>
                  <a:lnTo>
                    <a:pt x="50" y="65"/>
                  </a:lnTo>
                  <a:lnTo>
                    <a:pt x="42" y="73"/>
                  </a:lnTo>
                  <a:lnTo>
                    <a:pt x="34" y="80"/>
                  </a:lnTo>
                  <a:lnTo>
                    <a:pt x="34" y="44"/>
                  </a:lnTo>
                  <a:lnTo>
                    <a:pt x="25" y="7"/>
                  </a:lnTo>
                  <a:lnTo>
                    <a:pt x="25" y="0"/>
                  </a:lnTo>
                  <a:lnTo>
                    <a:pt x="17" y="0"/>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1" name="Freeform 11"/>
            <p:cNvSpPr>
              <a:spLocks noChangeAspect="1"/>
            </p:cNvSpPr>
            <p:nvPr/>
          </p:nvSpPr>
          <p:spPr bwMode="auto">
            <a:xfrm>
              <a:off x="252" y="2321"/>
              <a:ext cx="51" cy="80"/>
            </a:xfrm>
            <a:custGeom>
              <a:avLst/>
              <a:gdLst>
                <a:gd name="T0" fmla="*/ 0 w 51"/>
                <a:gd name="T1" fmla="*/ 51 h 80"/>
                <a:gd name="T2" fmla="*/ 0 w 51"/>
                <a:gd name="T3" fmla="*/ 80 h 80"/>
                <a:gd name="T4" fmla="*/ 0 w 51"/>
                <a:gd name="T5" fmla="*/ 80 h 80"/>
                <a:gd name="T6" fmla="*/ 0 w 51"/>
                <a:gd name="T7" fmla="*/ 80 h 80"/>
                <a:gd name="T8" fmla="*/ 9 w 51"/>
                <a:gd name="T9" fmla="*/ 80 h 80"/>
                <a:gd name="T10" fmla="*/ 17 w 51"/>
                <a:gd name="T11" fmla="*/ 80 h 80"/>
                <a:gd name="T12" fmla="*/ 17 w 51"/>
                <a:gd name="T13" fmla="*/ 80 h 80"/>
                <a:gd name="T14" fmla="*/ 34 w 51"/>
                <a:gd name="T15" fmla="*/ 72 h 80"/>
                <a:gd name="T16" fmla="*/ 42 w 51"/>
                <a:gd name="T17" fmla="*/ 58 h 80"/>
                <a:gd name="T18" fmla="*/ 34 w 51"/>
                <a:gd name="T19" fmla="*/ 36 h 80"/>
                <a:gd name="T20" fmla="*/ 25 w 51"/>
                <a:gd name="T21" fmla="*/ 14 h 80"/>
                <a:gd name="T22" fmla="*/ 25 w 51"/>
                <a:gd name="T23" fmla="*/ 7 h 80"/>
                <a:gd name="T24" fmla="*/ 34 w 51"/>
                <a:gd name="T25" fmla="*/ 0 h 80"/>
                <a:gd name="T26" fmla="*/ 42 w 51"/>
                <a:gd name="T27" fmla="*/ 7 h 80"/>
                <a:gd name="T28" fmla="*/ 51 w 51"/>
                <a:gd name="T29" fmla="*/ 22 h 80"/>
                <a:gd name="T30" fmla="*/ 51 w 51"/>
                <a:gd name="T31" fmla="*/ 22 h 80"/>
                <a:gd name="T32" fmla="*/ 51 w 51"/>
                <a:gd name="T33" fmla="*/ 0 h 80"/>
                <a:gd name="T34" fmla="*/ 51 w 51"/>
                <a:gd name="T35" fmla="*/ 0 h 80"/>
                <a:gd name="T36" fmla="*/ 51 w 51"/>
                <a:gd name="T37" fmla="*/ 0 h 80"/>
                <a:gd name="T38" fmla="*/ 42 w 51"/>
                <a:gd name="T39" fmla="*/ 0 h 80"/>
                <a:gd name="T40" fmla="*/ 42 w 51"/>
                <a:gd name="T41" fmla="*/ 0 h 80"/>
                <a:gd name="T42" fmla="*/ 34 w 51"/>
                <a:gd name="T43" fmla="*/ 0 h 80"/>
                <a:gd name="T44" fmla="*/ 17 w 51"/>
                <a:gd name="T45" fmla="*/ 7 h 80"/>
                <a:gd name="T46" fmla="*/ 17 w 51"/>
                <a:gd name="T47" fmla="*/ 22 h 80"/>
                <a:gd name="T48" fmla="*/ 25 w 51"/>
                <a:gd name="T49" fmla="*/ 43 h 80"/>
                <a:gd name="T50" fmla="*/ 34 w 51"/>
                <a:gd name="T51" fmla="*/ 65 h 80"/>
                <a:gd name="T52" fmla="*/ 25 w 51"/>
                <a:gd name="T53" fmla="*/ 72 h 80"/>
                <a:gd name="T54" fmla="*/ 17 w 51"/>
                <a:gd name="T55" fmla="*/ 80 h 80"/>
                <a:gd name="T56" fmla="*/ 9 w 51"/>
                <a:gd name="T57" fmla="*/ 80 h 80"/>
                <a:gd name="T58" fmla="*/ 9 w 51"/>
                <a:gd name="T59" fmla="*/ 65 h 80"/>
                <a:gd name="T60" fmla="*/ 9 w 51"/>
                <a:gd name="T61" fmla="*/ 51 h 80"/>
                <a:gd name="T62" fmla="*/ 0 w 51"/>
                <a:gd name="T63" fmla="*/ 51 h 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
                <a:gd name="T97" fmla="*/ 0 h 80"/>
                <a:gd name="T98" fmla="*/ 51 w 51"/>
                <a:gd name="T99" fmla="*/ 80 h 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 h="80">
                  <a:moveTo>
                    <a:pt x="0" y="51"/>
                  </a:moveTo>
                  <a:lnTo>
                    <a:pt x="0" y="80"/>
                  </a:lnTo>
                  <a:lnTo>
                    <a:pt x="9" y="80"/>
                  </a:lnTo>
                  <a:lnTo>
                    <a:pt x="17" y="80"/>
                  </a:lnTo>
                  <a:lnTo>
                    <a:pt x="34" y="72"/>
                  </a:lnTo>
                  <a:lnTo>
                    <a:pt x="42" y="58"/>
                  </a:lnTo>
                  <a:lnTo>
                    <a:pt x="34" y="36"/>
                  </a:lnTo>
                  <a:lnTo>
                    <a:pt x="25" y="14"/>
                  </a:lnTo>
                  <a:lnTo>
                    <a:pt x="25" y="7"/>
                  </a:lnTo>
                  <a:lnTo>
                    <a:pt x="34" y="0"/>
                  </a:lnTo>
                  <a:lnTo>
                    <a:pt x="42" y="7"/>
                  </a:lnTo>
                  <a:lnTo>
                    <a:pt x="51" y="22"/>
                  </a:lnTo>
                  <a:lnTo>
                    <a:pt x="51" y="0"/>
                  </a:lnTo>
                  <a:lnTo>
                    <a:pt x="42" y="0"/>
                  </a:lnTo>
                  <a:lnTo>
                    <a:pt x="34" y="0"/>
                  </a:lnTo>
                  <a:lnTo>
                    <a:pt x="17" y="7"/>
                  </a:lnTo>
                  <a:lnTo>
                    <a:pt x="17" y="22"/>
                  </a:lnTo>
                  <a:lnTo>
                    <a:pt x="25" y="43"/>
                  </a:lnTo>
                  <a:lnTo>
                    <a:pt x="34" y="65"/>
                  </a:lnTo>
                  <a:lnTo>
                    <a:pt x="25" y="72"/>
                  </a:lnTo>
                  <a:lnTo>
                    <a:pt x="17" y="80"/>
                  </a:lnTo>
                  <a:lnTo>
                    <a:pt x="9" y="80"/>
                  </a:lnTo>
                  <a:lnTo>
                    <a:pt x="9" y="65"/>
                  </a:lnTo>
                  <a:lnTo>
                    <a:pt x="9" y="51"/>
                  </a:lnTo>
                  <a:lnTo>
                    <a:pt x="0"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2" name="Freeform 12"/>
            <p:cNvSpPr>
              <a:spLocks noChangeAspect="1" noEditPoints="1"/>
            </p:cNvSpPr>
            <p:nvPr/>
          </p:nvSpPr>
          <p:spPr bwMode="auto">
            <a:xfrm>
              <a:off x="1362" y="1357"/>
              <a:ext cx="118" cy="159"/>
            </a:xfrm>
            <a:custGeom>
              <a:avLst/>
              <a:gdLst>
                <a:gd name="T0" fmla="*/ 109 w 118"/>
                <a:gd name="T1" fmla="*/ 152 h 159"/>
                <a:gd name="T2" fmla="*/ 101 w 118"/>
                <a:gd name="T3" fmla="*/ 145 h 159"/>
                <a:gd name="T4" fmla="*/ 93 w 118"/>
                <a:gd name="T5" fmla="*/ 137 h 159"/>
                <a:gd name="T6" fmla="*/ 76 w 118"/>
                <a:gd name="T7" fmla="*/ 79 h 159"/>
                <a:gd name="T8" fmla="*/ 101 w 118"/>
                <a:gd name="T9" fmla="*/ 72 h 159"/>
                <a:gd name="T10" fmla="*/ 109 w 118"/>
                <a:gd name="T11" fmla="*/ 58 h 159"/>
                <a:gd name="T12" fmla="*/ 118 w 118"/>
                <a:gd name="T13" fmla="*/ 36 h 159"/>
                <a:gd name="T14" fmla="*/ 109 w 118"/>
                <a:gd name="T15" fmla="*/ 14 h 159"/>
                <a:gd name="T16" fmla="*/ 101 w 118"/>
                <a:gd name="T17" fmla="*/ 7 h 159"/>
                <a:gd name="T18" fmla="*/ 84 w 118"/>
                <a:gd name="T19" fmla="*/ 0 h 159"/>
                <a:gd name="T20" fmla="*/ 76 w 118"/>
                <a:gd name="T21" fmla="*/ 0 h 159"/>
                <a:gd name="T22" fmla="*/ 25 w 118"/>
                <a:gd name="T23" fmla="*/ 0 h 159"/>
                <a:gd name="T24" fmla="*/ 25 w 118"/>
                <a:gd name="T25" fmla="*/ 7 h 159"/>
                <a:gd name="T26" fmla="*/ 34 w 118"/>
                <a:gd name="T27" fmla="*/ 7 h 159"/>
                <a:gd name="T28" fmla="*/ 42 w 118"/>
                <a:gd name="T29" fmla="*/ 14 h 159"/>
                <a:gd name="T30" fmla="*/ 42 w 118"/>
                <a:gd name="T31" fmla="*/ 21 h 159"/>
                <a:gd name="T32" fmla="*/ 34 w 118"/>
                <a:gd name="T33" fmla="*/ 29 h 159"/>
                <a:gd name="T34" fmla="*/ 9 w 118"/>
                <a:gd name="T35" fmla="*/ 137 h 159"/>
                <a:gd name="T36" fmla="*/ 9 w 118"/>
                <a:gd name="T37" fmla="*/ 152 h 159"/>
                <a:gd name="T38" fmla="*/ 0 w 118"/>
                <a:gd name="T39" fmla="*/ 152 h 159"/>
                <a:gd name="T40" fmla="*/ 0 w 118"/>
                <a:gd name="T41" fmla="*/ 159 h 159"/>
                <a:gd name="T42" fmla="*/ 42 w 118"/>
                <a:gd name="T43" fmla="*/ 159 h 159"/>
                <a:gd name="T44" fmla="*/ 42 w 118"/>
                <a:gd name="T45" fmla="*/ 152 h 159"/>
                <a:gd name="T46" fmla="*/ 34 w 118"/>
                <a:gd name="T47" fmla="*/ 152 h 159"/>
                <a:gd name="T48" fmla="*/ 34 w 118"/>
                <a:gd name="T49" fmla="*/ 145 h 159"/>
                <a:gd name="T50" fmla="*/ 34 w 118"/>
                <a:gd name="T51" fmla="*/ 137 h 159"/>
                <a:gd name="T52" fmla="*/ 34 w 118"/>
                <a:gd name="T53" fmla="*/ 130 h 159"/>
                <a:gd name="T54" fmla="*/ 42 w 118"/>
                <a:gd name="T55" fmla="*/ 79 h 159"/>
                <a:gd name="T56" fmla="*/ 59 w 118"/>
                <a:gd name="T57" fmla="*/ 79 h 159"/>
                <a:gd name="T58" fmla="*/ 84 w 118"/>
                <a:gd name="T59" fmla="*/ 159 h 159"/>
                <a:gd name="T60" fmla="*/ 109 w 118"/>
                <a:gd name="T61" fmla="*/ 159 h 159"/>
                <a:gd name="T62" fmla="*/ 109 w 118"/>
                <a:gd name="T63" fmla="*/ 152 h 159"/>
                <a:gd name="T64" fmla="*/ 59 w 118"/>
                <a:gd name="T65" fmla="*/ 14 h 159"/>
                <a:gd name="T66" fmla="*/ 59 w 118"/>
                <a:gd name="T67" fmla="*/ 7 h 159"/>
                <a:gd name="T68" fmla="*/ 76 w 118"/>
                <a:gd name="T69" fmla="*/ 7 h 159"/>
                <a:gd name="T70" fmla="*/ 84 w 118"/>
                <a:gd name="T71" fmla="*/ 14 h 159"/>
                <a:gd name="T72" fmla="*/ 93 w 118"/>
                <a:gd name="T73" fmla="*/ 36 h 159"/>
                <a:gd name="T74" fmla="*/ 84 w 118"/>
                <a:gd name="T75" fmla="*/ 58 h 159"/>
                <a:gd name="T76" fmla="*/ 76 w 118"/>
                <a:gd name="T77" fmla="*/ 72 h 159"/>
                <a:gd name="T78" fmla="*/ 59 w 118"/>
                <a:gd name="T79" fmla="*/ 72 h 159"/>
                <a:gd name="T80" fmla="*/ 51 w 118"/>
                <a:gd name="T81" fmla="*/ 72 h 159"/>
                <a:gd name="T82" fmla="*/ 51 w 118"/>
                <a:gd name="T83" fmla="*/ 72 h 159"/>
                <a:gd name="T84" fmla="*/ 59 w 118"/>
                <a:gd name="T85" fmla="*/ 14 h 15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8"/>
                <a:gd name="T130" fmla="*/ 0 h 159"/>
                <a:gd name="T131" fmla="*/ 118 w 118"/>
                <a:gd name="T132" fmla="*/ 159 h 15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8" h="159">
                  <a:moveTo>
                    <a:pt x="109" y="152"/>
                  </a:moveTo>
                  <a:lnTo>
                    <a:pt x="101" y="145"/>
                  </a:lnTo>
                  <a:lnTo>
                    <a:pt x="93" y="137"/>
                  </a:lnTo>
                  <a:lnTo>
                    <a:pt x="76" y="79"/>
                  </a:lnTo>
                  <a:lnTo>
                    <a:pt x="101" y="72"/>
                  </a:lnTo>
                  <a:lnTo>
                    <a:pt x="109" y="58"/>
                  </a:lnTo>
                  <a:lnTo>
                    <a:pt x="118" y="36"/>
                  </a:lnTo>
                  <a:lnTo>
                    <a:pt x="109" y="14"/>
                  </a:lnTo>
                  <a:lnTo>
                    <a:pt x="101" y="7"/>
                  </a:lnTo>
                  <a:lnTo>
                    <a:pt x="84" y="0"/>
                  </a:lnTo>
                  <a:lnTo>
                    <a:pt x="76" y="0"/>
                  </a:lnTo>
                  <a:lnTo>
                    <a:pt x="25" y="0"/>
                  </a:lnTo>
                  <a:lnTo>
                    <a:pt x="25" y="7"/>
                  </a:lnTo>
                  <a:lnTo>
                    <a:pt x="34" y="7"/>
                  </a:lnTo>
                  <a:lnTo>
                    <a:pt x="42" y="14"/>
                  </a:lnTo>
                  <a:lnTo>
                    <a:pt x="42" y="21"/>
                  </a:lnTo>
                  <a:lnTo>
                    <a:pt x="34" y="29"/>
                  </a:lnTo>
                  <a:lnTo>
                    <a:pt x="9" y="137"/>
                  </a:lnTo>
                  <a:lnTo>
                    <a:pt x="9" y="152"/>
                  </a:lnTo>
                  <a:lnTo>
                    <a:pt x="0" y="152"/>
                  </a:lnTo>
                  <a:lnTo>
                    <a:pt x="0" y="159"/>
                  </a:lnTo>
                  <a:lnTo>
                    <a:pt x="42" y="159"/>
                  </a:lnTo>
                  <a:lnTo>
                    <a:pt x="42" y="152"/>
                  </a:lnTo>
                  <a:lnTo>
                    <a:pt x="34" y="152"/>
                  </a:lnTo>
                  <a:lnTo>
                    <a:pt x="34" y="145"/>
                  </a:lnTo>
                  <a:lnTo>
                    <a:pt x="34" y="137"/>
                  </a:lnTo>
                  <a:lnTo>
                    <a:pt x="34" y="130"/>
                  </a:lnTo>
                  <a:lnTo>
                    <a:pt x="42" y="79"/>
                  </a:lnTo>
                  <a:lnTo>
                    <a:pt x="59" y="79"/>
                  </a:lnTo>
                  <a:lnTo>
                    <a:pt x="84" y="159"/>
                  </a:lnTo>
                  <a:lnTo>
                    <a:pt x="109" y="159"/>
                  </a:lnTo>
                  <a:lnTo>
                    <a:pt x="109" y="152"/>
                  </a:lnTo>
                  <a:close/>
                  <a:moveTo>
                    <a:pt x="59" y="14"/>
                  </a:moveTo>
                  <a:lnTo>
                    <a:pt x="59" y="7"/>
                  </a:lnTo>
                  <a:lnTo>
                    <a:pt x="76" y="7"/>
                  </a:lnTo>
                  <a:lnTo>
                    <a:pt x="84" y="14"/>
                  </a:lnTo>
                  <a:lnTo>
                    <a:pt x="93" y="36"/>
                  </a:lnTo>
                  <a:lnTo>
                    <a:pt x="84" y="58"/>
                  </a:lnTo>
                  <a:lnTo>
                    <a:pt x="76" y="72"/>
                  </a:lnTo>
                  <a:lnTo>
                    <a:pt x="59" y="72"/>
                  </a:lnTo>
                  <a:lnTo>
                    <a:pt x="51" y="72"/>
                  </a:lnTo>
                  <a:lnTo>
                    <a:pt x="59" y="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3" name="Freeform 13"/>
            <p:cNvSpPr>
              <a:spLocks noChangeAspect="1"/>
            </p:cNvSpPr>
            <p:nvPr/>
          </p:nvSpPr>
          <p:spPr bwMode="auto">
            <a:xfrm>
              <a:off x="2169" y="1676"/>
              <a:ext cx="93" cy="108"/>
            </a:xfrm>
            <a:custGeom>
              <a:avLst/>
              <a:gdLst>
                <a:gd name="T0" fmla="*/ 51 w 93"/>
                <a:gd name="T1" fmla="*/ 108 h 108"/>
                <a:gd name="T2" fmla="*/ 68 w 93"/>
                <a:gd name="T3" fmla="*/ 101 h 108"/>
                <a:gd name="T4" fmla="*/ 85 w 93"/>
                <a:gd name="T5" fmla="*/ 94 h 108"/>
                <a:gd name="T6" fmla="*/ 93 w 93"/>
                <a:gd name="T7" fmla="*/ 50 h 108"/>
                <a:gd name="T8" fmla="*/ 85 w 93"/>
                <a:gd name="T9" fmla="*/ 14 h 108"/>
                <a:gd name="T10" fmla="*/ 68 w 93"/>
                <a:gd name="T11" fmla="*/ 7 h 108"/>
                <a:gd name="T12" fmla="*/ 51 w 93"/>
                <a:gd name="T13" fmla="*/ 0 h 108"/>
                <a:gd name="T14" fmla="*/ 34 w 93"/>
                <a:gd name="T15" fmla="*/ 7 h 108"/>
                <a:gd name="T16" fmla="*/ 17 w 93"/>
                <a:gd name="T17" fmla="*/ 14 h 108"/>
                <a:gd name="T18" fmla="*/ 9 w 93"/>
                <a:gd name="T19" fmla="*/ 29 h 108"/>
                <a:gd name="T20" fmla="*/ 0 w 93"/>
                <a:gd name="T21" fmla="*/ 50 h 108"/>
                <a:gd name="T22" fmla="*/ 9 w 93"/>
                <a:gd name="T23" fmla="*/ 72 h 108"/>
                <a:gd name="T24" fmla="*/ 17 w 93"/>
                <a:gd name="T25" fmla="*/ 94 h 108"/>
                <a:gd name="T26" fmla="*/ 34 w 93"/>
                <a:gd name="T27" fmla="*/ 101 h 108"/>
                <a:gd name="T28" fmla="*/ 51 w 93"/>
                <a:gd name="T29" fmla="*/ 108 h 108"/>
                <a:gd name="T30" fmla="*/ 51 w 93"/>
                <a:gd name="T31" fmla="*/ 108 h 1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108"/>
                <a:gd name="T50" fmla="*/ 93 w 93"/>
                <a:gd name="T51" fmla="*/ 108 h 1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108">
                  <a:moveTo>
                    <a:pt x="51" y="108"/>
                  </a:moveTo>
                  <a:lnTo>
                    <a:pt x="68" y="101"/>
                  </a:lnTo>
                  <a:lnTo>
                    <a:pt x="85" y="94"/>
                  </a:lnTo>
                  <a:lnTo>
                    <a:pt x="93" y="50"/>
                  </a:lnTo>
                  <a:lnTo>
                    <a:pt x="85" y="14"/>
                  </a:lnTo>
                  <a:lnTo>
                    <a:pt x="68" y="7"/>
                  </a:lnTo>
                  <a:lnTo>
                    <a:pt x="51" y="0"/>
                  </a:lnTo>
                  <a:lnTo>
                    <a:pt x="34" y="7"/>
                  </a:lnTo>
                  <a:lnTo>
                    <a:pt x="17" y="14"/>
                  </a:lnTo>
                  <a:lnTo>
                    <a:pt x="9" y="29"/>
                  </a:lnTo>
                  <a:lnTo>
                    <a:pt x="0" y="50"/>
                  </a:lnTo>
                  <a:lnTo>
                    <a:pt x="9" y="72"/>
                  </a:lnTo>
                  <a:lnTo>
                    <a:pt x="17" y="94"/>
                  </a:lnTo>
                  <a:lnTo>
                    <a:pt x="34" y="101"/>
                  </a:lnTo>
                  <a:lnTo>
                    <a:pt x="51" y="108"/>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4" name="Freeform 14"/>
            <p:cNvSpPr>
              <a:spLocks noChangeAspect="1"/>
            </p:cNvSpPr>
            <p:nvPr/>
          </p:nvSpPr>
          <p:spPr bwMode="auto">
            <a:xfrm>
              <a:off x="2220" y="1726"/>
              <a:ext cx="42" cy="58"/>
            </a:xfrm>
            <a:custGeom>
              <a:avLst/>
              <a:gdLst>
                <a:gd name="T0" fmla="*/ 0 w 42"/>
                <a:gd name="T1" fmla="*/ 58 h 58"/>
                <a:gd name="T2" fmla="*/ 17 w 42"/>
                <a:gd name="T3" fmla="*/ 51 h 58"/>
                <a:gd name="T4" fmla="*/ 34 w 42"/>
                <a:gd name="T5" fmla="*/ 44 h 58"/>
                <a:gd name="T6" fmla="*/ 42 w 42"/>
                <a:gd name="T7" fmla="*/ 0 h 58"/>
                <a:gd name="T8" fmla="*/ 42 w 42"/>
                <a:gd name="T9" fmla="*/ 0 h 58"/>
                <a:gd name="T10" fmla="*/ 34 w 42"/>
                <a:gd name="T11" fmla="*/ 44 h 58"/>
                <a:gd name="T12" fmla="*/ 17 w 42"/>
                <a:gd name="T13" fmla="*/ 51 h 58"/>
                <a:gd name="T14" fmla="*/ 0 w 42"/>
                <a:gd name="T15" fmla="*/ 58 h 58"/>
                <a:gd name="T16" fmla="*/ 0 w 42"/>
                <a:gd name="T17" fmla="*/ 58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58"/>
                <a:gd name="T29" fmla="*/ 42 w 42"/>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58">
                  <a:moveTo>
                    <a:pt x="0" y="58"/>
                  </a:moveTo>
                  <a:lnTo>
                    <a:pt x="17" y="51"/>
                  </a:lnTo>
                  <a:lnTo>
                    <a:pt x="34" y="44"/>
                  </a:lnTo>
                  <a:lnTo>
                    <a:pt x="42" y="0"/>
                  </a:lnTo>
                  <a:lnTo>
                    <a:pt x="34" y="44"/>
                  </a:lnTo>
                  <a:lnTo>
                    <a:pt x="17" y="51"/>
                  </a:lnTo>
                  <a:lnTo>
                    <a:pt x="0"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5" name="Freeform 15"/>
            <p:cNvSpPr>
              <a:spLocks noChangeAspect="1" noEditPoints="1"/>
            </p:cNvSpPr>
            <p:nvPr/>
          </p:nvSpPr>
          <p:spPr bwMode="auto">
            <a:xfrm>
              <a:off x="2220" y="1676"/>
              <a:ext cx="42" cy="50"/>
            </a:xfrm>
            <a:custGeom>
              <a:avLst/>
              <a:gdLst>
                <a:gd name="T0" fmla="*/ 42 w 42"/>
                <a:gd name="T1" fmla="*/ 50 h 50"/>
                <a:gd name="T2" fmla="*/ 34 w 42"/>
                <a:gd name="T3" fmla="*/ 14 h 50"/>
                <a:gd name="T4" fmla="*/ 17 w 42"/>
                <a:gd name="T5" fmla="*/ 7 h 50"/>
                <a:gd name="T6" fmla="*/ 0 w 42"/>
                <a:gd name="T7" fmla="*/ 0 h 50"/>
                <a:gd name="T8" fmla="*/ 0 w 42"/>
                <a:gd name="T9" fmla="*/ 0 h 50"/>
                <a:gd name="T10" fmla="*/ 17 w 42"/>
                <a:gd name="T11" fmla="*/ 7 h 50"/>
                <a:gd name="T12" fmla="*/ 34 w 42"/>
                <a:gd name="T13" fmla="*/ 14 h 50"/>
                <a:gd name="T14" fmla="*/ 42 w 42"/>
                <a:gd name="T15" fmla="*/ 50 h 50"/>
                <a:gd name="T16" fmla="*/ 42 w 42"/>
                <a:gd name="T17" fmla="*/ 50 h 50"/>
                <a:gd name="T18" fmla="*/ 42 w 42"/>
                <a:gd name="T19" fmla="*/ 50 h 50"/>
                <a:gd name="T20" fmla="*/ 42 w 42"/>
                <a:gd name="T21" fmla="*/ 50 h 50"/>
                <a:gd name="T22" fmla="*/ 42 w 42"/>
                <a:gd name="T23" fmla="*/ 50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0"/>
                <a:gd name="T38" fmla="*/ 42 w 42"/>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0">
                  <a:moveTo>
                    <a:pt x="42" y="50"/>
                  </a:moveTo>
                  <a:lnTo>
                    <a:pt x="34" y="14"/>
                  </a:lnTo>
                  <a:lnTo>
                    <a:pt x="17" y="7"/>
                  </a:lnTo>
                  <a:lnTo>
                    <a:pt x="0" y="0"/>
                  </a:lnTo>
                  <a:lnTo>
                    <a:pt x="17" y="7"/>
                  </a:lnTo>
                  <a:lnTo>
                    <a:pt x="34" y="14"/>
                  </a:lnTo>
                  <a:lnTo>
                    <a:pt x="42" y="50"/>
                  </a:lnTo>
                  <a:close/>
                  <a:moveTo>
                    <a:pt x="42" y="50"/>
                  </a:moveTo>
                  <a:lnTo>
                    <a:pt x="42" y="5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6" name="Freeform 16"/>
            <p:cNvSpPr>
              <a:spLocks noChangeAspect="1" noEditPoints="1"/>
            </p:cNvSpPr>
            <p:nvPr/>
          </p:nvSpPr>
          <p:spPr bwMode="auto">
            <a:xfrm>
              <a:off x="2169" y="1676"/>
              <a:ext cx="51" cy="50"/>
            </a:xfrm>
            <a:custGeom>
              <a:avLst/>
              <a:gdLst>
                <a:gd name="T0" fmla="*/ 51 w 51"/>
                <a:gd name="T1" fmla="*/ 0 h 50"/>
                <a:gd name="T2" fmla="*/ 34 w 51"/>
                <a:gd name="T3" fmla="*/ 7 h 50"/>
                <a:gd name="T4" fmla="*/ 17 w 51"/>
                <a:gd name="T5" fmla="*/ 14 h 50"/>
                <a:gd name="T6" fmla="*/ 9 w 51"/>
                <a:gd name="T7" fmla="*/ 29 h 50"/>
                <a:gd name="T8" fmla="*/ 0 w 51"/>
                <a:gd name="T9" fmla="*/ 50 h 50"/>
                <a:gd name="T10" fmla="*/ 0 w 51"/>
                <a:gd name="T11" fmla="*/ 50 h 50"/>
                <a:gd name="T12" fmla="*/ 9 w 51"/>
                <a:gd name="T13" fmla="*/ 29 h 50"/>
                <a:gd name="T14" fmla="*/ 17 w 51"/>
                <a:gd name="T15" fmla="*/ 14 h 50"/>
                <a:gd name="T16" fmla="*/ 34 w 51"/>
                <a:gd name="T17" fmla="*/ 7 h 50"/>
                <a:gd name="T18" fmla="*/ 51 w 51"/>
                <a:gd name="T19" fmla="*/ 0 h 50"/>
                <a:gd name="T20" fmla="*/ 51 w 51"/>
                <a:gd name="T21" fmla="*/ 0 h 50"/>
                <a:gd name="T22" fmla="*/ 51 w 51"/>
                <a:gd name="T23" fmla="*/ 0 h 50"/>
                <a:gd name="T24" fmla="*/ 51 w 51"/>
                <a:gd name="T25" fmla="*/ 0 h 50"/>
                <a:gd name="T26" fmla="*/ 51 w 51"/>
                <a:gd name="T27" fmla="*/ 0 h 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0"/>
                <a:gd name="T44" fmla="*/ 51 w 51"/>
                <a:gd name="T45" fmla="*/ 50 h 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0">
                  <a:moveTo>
                    <a:pt x="51" y="0"/>
                  </a:moveTo>
                  <a:lnTo>
                    <a:pt x="34" y="7"/>
                  </a:lnTo>
                  <a:lnTo>
                    <a:pt x="17" y="14"/>
                  </a:lnTo>
                  <a:lnTo>
                    <a:pt x="9" y="29"/>
                  </a:lnTo>
                  <a:lnTo>
                    <a:pt x="0" y="50"/>
                  </a:lnTo>
                  <a:lnTo>
                    <a:pt x="9" y="29"/>
                  </a:lnTo>
                  <a:lnTo>
                    <a:pt x="17" y="14"/>
                  </a:lnTo>
                  <a:lnTo>
                    <a:pt x="34" y="7"/>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7" name="Freeform 17"/>
            <p:cNvSpPr>
              <a:spLocks noChangeAspect="1" noEditPoints="1"/>
            </p:cNvSpPr>
            <p:nvPr/>
          </p:nvSpPr>
          <p:spPr bwMode="auto">
            <a:xfrm>
              <a:off x="2169" y="1726"/>
              <a:ext cx="51" cy="58"/>
            </a:xfrm>
            <a:custGeom>
              <a:avLst/>
              <a:gdLst>
                <a:gd name="T0" fmla="*/ 0 w 51"/>
                <a:gd name="T1" fmla="*/ 0 h 58"/>
                <a:gd name="T2" fmla="*/ 9 w 51"/>
                <a:gd name="T3" fmla="*/ 22 h 58"/>
                <a:gd name="T4" fmla="*/ 17 w 51"/>
                <a:gd name="T5" fmla="*/ 44 h 58"/>
                <a:gd name="T6" fmla="*/ 34 w 51"/>
                <a:gd name="T7" fmla="*/ 51 h 58"/>
                <a:gd name="T8" fmla="*/ 51 w 51"/>
                <a:gd name="T9" fmla="*/ 58 h 58"/>
                <a:gd name="T10" fmla="*/ 51 w 51"/>
                <a:gd name="T11" fmla="*/ 58 h 58"/>
                <a:gd name="T12" fmla="*/ 34 w 51"/>
                <a:gd name="T13" fmla="*/ 51 h 58"/>
                <a:gd name="T14" fmla="*/ 17 w 51"/>
                <a:gd name="T15" fmla="*/ 44 h 58"/>
                <a:gd name="T16" fmla="*/ 9 w 51"/>
                <a:gd name="T17" fmla="*/ 22 h 58"/>
                <a:gd name="T18" fmla="*/ 0 w 51"/>
                <a:gd name="T19" fmla="*/ 0 h 58"/>
                <a:gd name="T20" fmla="*/ 0 w 51"/>
                <a:gd name="T21" fmla="*/ 0 h 58"/>
                <a:gd name="T22" fmla="*/ 0 w 51"/>
                <a:gd name="T23" fmla="*/ 0 h 58"/>
                <a:gd name="T24" fmla="*/ 0 w 51"/>
                <a:gd name="T25" fmla="*/ 0 h 58"/>
                <a:gd name="T26" fmla="*/ 0 w 51"/>
                <a:gd name="T27" fmla="*/ 0 h 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8"/>
                <a:gd name="T44" fmla="*/ 51 w 51"/>
                <a:gd name="T45" fmla="*/ 58 h 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8">
                  <a:moveTo>
                    <a:pt x="0" y="0"/>
                  </a:moveTo>
                  <a:lnTo>
                    <a:pt x="9" y="22"/>
                  </a:lnTo>
                  <a:lnTo>
                    <a:pt x="17" y="44"/>
                  </a:lnTo>
                  <a:lnTo>
                    <a:pt x="34" y="51"/>
                  </a:lnTo>
                  <a:lnTo>
                    <a:pt x="51" y="58"/>
                  </a:lnTo>
                  <a:lnTo>
                    <a:pt x="34" y="51"/>
                  </a:lnTo>
                  <a:lnTo>
                    <a:pt x="17" y="44"/>
                  </a:lnTo>
                  <a:lnTo>
                    <a:pt x="9" y="2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8" name="Freeform 18"/>
            <p:cNvSpPr>
              <a:spLocks noChangeAspect="1"/>
            </p:cNvSpPr>
            <p:nvPr/>
          </p:nvSpPr>
          <p:spPr bwMode="auto">
            <a:xfrm>
              <a:off x="2220" y="178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49" name="Freeform 19"/>
            <p:cNvSpPr>
              <a:spLocks noChangeAspect="1"/>
            </p:cNvSpPr>
            <p:nvPr/>
          </p:nvSpPr>
          <p:spPr bwMode="auto">
            <a:xfrm>
              <a:off x="2169" y="2828"/>
              <a:ext cx="93" cy="109"/>
            </a:xfrm>
            <a:custGeom>
              <a:avLst/>
              <a:gdLst>
                <a:gd name="T0" fmla="*/ 51 w 93"/>
                <a:gd name="T1" fmla="*/ 109 h 109"/>
                <a:gd name="T2" fmla="*/ 68 w 93"/>
                <a:gd name="T3" fmla="*/ 109 h 109"/>
                <a:gd name="T4" fmla="*/ 85 w 93"/>
                <a:gd name="T5" fmla="*/ 95 h 109"/>
                <a:gd name="T6" fmla="*/ 93 w 93"/>
                <a:gd name="T7" fmla="*/ 58 h 109"/>
                <a:gd name="T8" fmla="*/ 85 w 93"/>
                <a:gd name="T9" fmla="*/ 15 h 109"/>
                <a:gd name="T10" fmla="*/ 68 w 93"/>
                <a:gd name="T11" fmla="*/ 8 h 109"/>
                <a:gd name="T12" fmla="*/ 51 w 93"/>
                <a:gd name="T13" fmla="*/ 0 h 109"/>
                <a:gd name="T14" fmla="*/ 34 w 93"/>
                <a:gd name="T15" fmla="*/ 8 h 109"/>
                <a:gd name="T16" fmla="*/ 17 w 93"/>
                <a:gd name="T17" fmla="*/ 15 h 109"/>
                <a:gd name="T18" fmla="*/ 9 w 93"/>
                <a:gd name="T19" fmla="*/ 37 h 109"/>
                <a:gd name="T20" fmla="*/ 0 w 93"/>
                <a:gd name="T21" fmla="*/ 58 h 109"/>
                <a:gd name="T22" fmla="*/ 9 w 93"/>
                <a:gd name="T23" fmla="*/ 80 h 109"/>
                <a:gd name="T24" fmla="*/ 17 w 93"/>
                <a:gd name="T25" fmla="*/ 95 h 109"/>
                <a:gd name="T26" fmla="*/ 34 w 93"/>
                <a:gd name="T27" fmla="*/ 109 h 109"/>
                <a:gd name="T28" fmla="*/ 51 w 93"/>
                <a:gd name="T29" fmla="*/ 109 h 109"/>
                <a:gd name="T30" fmla="*/ 51 w 93"/>
                <a:gd name="T31" fmla="*/ 109 h 10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109"/>
                <a:gd name="T50" fmla="*/ 93 w 93"/>
                <a:gd name="T51" fmla="*/ 109 h 10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109">
                  <a:moveTo>
                    <a:pt x="51" y="109"/>
                  </a:moveTo>
                  <a:lnTo>
                    <a:pt x="68" y="109"/>
                  </a:lnTo>
                  <a:lnTo>
                    <a:pt x="85" y="95"/>
                  </a:lnTo>
                  <a:lnTo>
                    <a:pt x="93" y="58"/>
                  </a:lnTo>
                  <a:lnTo>
                    <a:pt x="85" y="15"/>
                  </a:lnTo>
                  <a:lnTo>
                    <a:pt x="68" y="8"/>
                  </a:lnTo>
                  <a:lnTo>
                    <a:pt x="51" y="0"/>
                  </a:lnTo>
                  <a:lnTo>
                    <a:pt x="34" y="8"/>
                  </a:lnTo>
                  <a:lnTo>
                    <a:pt x="17" y="15"/>
                  </a:lnTo>
                  <a:lnTo>
                    <a:pt x="9" y="37"/>
                  </a:lnTo>
                  <a:lnTo>
                    <a:pt x="0" y="58"/>
                  </a:lnTo>
                  <a:lnTo>
                    <a:pt x="9" y="80"/>
                  </a:lnTo>
                  <a:lnTo>
                    <a:pt x="17" y="95"/>
                  </a:lnTo>
                  <a:lnTo>
                    <a:pt x="34" y="109"/>
                  </a:lnTo>
                  <a:lnTo>
                    <a:pt x="51" y="109"/>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0" name="Freeform 20"/>
            <p:cNvSpPr>
              <a:spLocks noChangeAspect="1"/>
            </p:cNvSpPr>
            <p:nvPr/>
          </p:nvSpPr>
          <p:spPr bwMode="auto">
            <a:xfrm>
              <a:off x="2220" y="2886"/>
              <a:ext cx="42" cy="51"/>
            </a:xfrm>
            <a:custGeom>
              <a:avLst/>
              <a:gdLst>
                <a:gd name="T0" fmla="*/ 0 w 42"/>
                <a:gd name="T1" fmla="*/ 51 h 51"/>
                <a:gd name="T2" fmla="*/ 17 w 42"/>
                <a:gd name="T3" fmla="*/ 51 h 51"/>
                <a:gd name="T4" fmla="*/ 34 w 42"/>
                <a:gd name="T5" fmla="*/ 37 h 51"/>
                <a:gd name="T6" fmla="*/ 42 w 42"/>
                <a:gd name="T7" fmla="*/ 0 h 51"/>
                <a:gd name="T8" fmla="*/ 42 w 42"/>
                <a:gd name="T9" fmla="*/ 0 h 51"/>
                <a:gd name="T10" fmla="*/ 34 w 42"/>
                <a:gd name="T11" fmla="*/ 37 h 51"/>
                <a:gd name="T12" fmla="*/ 17 w 42"/>
                <a:gd name="T13" fmla="*/ 51 h 51"/>
                <a:gd name="T14" fmla="*/ 0 w 42"/>
                <a:gd name="T15" fmla="*/ 51 h 51"/>
                <a:gd name="T16" fmla="*/ 0 w 42"/>
                <a:gd name="T17" fmla="*/ 51 h 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51"/>
                <a:gd name="T29" fmla="*/ 42 w 42"/>
                <a:gd name="T30" fmla="*/ 51 h 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51">
                  <a:moveTo>
                    <a:pt x="0" y="51"/>
                  </a:moveTo>
                  <a:lnTo>
                    <a:pt x="17" y="51"/>
                  </a:lnTo>
                  <a:lnTo>
                    <a:pt x="34" y="37"/>
                  </a:lnTo>
                  <a:lnTo>
                    <a:pt x="42" y="0"/>
                  </a:lnTo>
                  <a:lnTo>
                    <a:pt x="34" y="37"/>
                  </a:lnTo>
                  <a:lnTo>
                    <a:pt x="17" y="51"/>
                  </a:lnTo>
                  <a:lnTo>
                    <a:pt x="0"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1" name="Freeform 21"/>
            <p:cNvSpPr>
              <a:spLocks noChangeAspect="1" noEditPoints="1"/>
            </p:cNvSpPr>
            <p:nvPr/>
          </p:nvSpPr>
          <p:spPr bwMode="auto">
            <a:xfrm>
              <a:off x="2220" y="2828"/>
              <a:ext cx="42" cy="58"/>
            </a:xfrm>
            <a:custGeom>
              <a:avLst/>
              <a:gdLst>
                <a:gd name="T0" fmla="*/ 42 w 42"/>
                <a:gd name="T1" fmla="*/ 58 h 58"/>
                <a:gd name="T2" fmla="*/ 34 w 42"/>
                <a:gd name="T3" fmla="*/ 15 h 58"/>
                <a:gd name="T4" fmla="*/ 17 w 42"/>
                <a:gd name="T5" fmla="*/ 8 h 58"/>
                <a:gd name="T6" fmla="*/ 0 w 42"/>
                <a:gd name="T7" fmla="*/ 0 h 58"/>
                <a:gd name="T8" fmla="*/ 0 w 42"/>
                <a:gd name="T9" fmla="*/ 0 h 58"/>
                <a:gd name="T10" fmla="*/ 17 w 42"/>
                <a:gd name="T11" fmla="*/ 8 h 58"/>
                <a:gd name="T12" fmla="*/ 34 w 42"/>
                <a:gd name="T13" fmla="*/ 15 h 58"/>
                <a:gd name="T14" fmla="*/ 42 w 42"/>
                <a:gd name="T15" fmla="*/ 58 h 58"/>
                <a:gd name="T16" fmla="*/ 42 w 42"/>
                <a:gd name="T17" fmla="*/ 58 h 58"/>
                <a:gd name="T18" fmla="*/ 42 w 42"/>
                <a:gd name="T19" fmla="*/ 58 h 58"/>
                <a:gd name="T20" fmla="*/ 42 w 42"/>
                <a:gd name="T21" fmla="*/ 58 h 58"/>
                <a:gd name="T22" fmla="*/ 42 w 42"/>
                <a:gd name="T23" fmla="*/ 5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8"/>
                <a:gd name="T38" fmla="*/ 42 w 4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8">
                  <a:moveTo>
                    <a:pt x="42" y="58"/>
                  </a:moveTo>
                  <a:lnTo>
                    <a:pt x="34" y="15"/>
                  </a:lnTo>
                  <a:lnTo>
                    <a:pt x="17" y="8"/>
                  </a:lnTo>
                  <a:lnTo>
                    <a:pt x="0" y="0"/>
                  </a:lnTo>
                  <a:lnTo>
                    <a:pt x="17" y="8"/>
                  </a:lnTo>
                  <a:lnTo>
                    <a:pt x="34" y="15"/>
                  </a:lnTo>
                  <a:lnTo>
                    <a:pt x="42" y="58"/>
                  </a:lnTo>
                  <a:close/>
                  <a:moveTo>
                    <a:pt x="42" y="58"/>
                  </a:moveTo>
                  <a:lnTo>
                    <a:pt x="42"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2" name="Freeform 22"/>
            <p:cNvSpPr>
              <a:spLocks noChangeAspect="1" noEditPoints="1"/>
            </p:cNvSpPr>
            <p:nvPr/>
          </p:nvSpPr>
          <p:spPr bwMode="auto">
            <a:xfrm>
              <a:off x="2169" y="2828"/>
              <a:ext cx="51" cy="58"/>
            </a:xfrm>
            <a:custGeom>
              <a:avLst/>
              <a:gdLst>
                <a:gd name="T0" fmla="*/ 51 w 51"/>
                <a:gd name="T1" fmla="*/ 0 h 58"/>
                <a:gd name="T2" fmla="*/ 34 w 51"/>
                <a:gd name="T3" fmla="*/ 8 h 58"/>
                <a:gd name="T4" fmla="*/ 17 w 51"/>
                <a:gd name="T5" fmla="*/ 15 h 58"/>
                <a:gd name="T6" fmla="*/ 9 w 51"/>
                <a:gd name="T7" fmla="*/ 37 h 58"/>
                <a:gd name="T8" fmla="*/ 0 w 51"/>
                <a:gd name="T9" fmla="*/ 58 h 58"/>
                <a:gd name="T10" fmla="*/ 0 w 51"/>
                <a:gd name="T11" fmla="*/ 58 h 58"/>
                <a:gd name="T12" fmla="*/ 9 w 51"/>
                <a:gd name="T13" fmla="*/ 37 h 58"/>
                <a:gd name="T14" fmla="*/ 17 w 51"/>
                <a:gd name="T15" fmla="*/ 15 h 58"/>
                <a:gd name="T16" fmla="*/ 34 w 51"/>
                <a:gd name="T17" fmla="*/ 8 h 58"/>
                <a:gd name="T18" fmla="*/ 51 w 51"/>
                <a:gd name="T19" fmla="*/ 0 h 58"/>
                <a:gd name="T20" fmla="*/ 51 w 51"/>
                <a:gd name="T21" fmla="*/ 0 h 58"/>
                <a:gd name="T22" fmla="*/ 51 w 51"/>
                <a:gd name="T23" fmla="*/ 0 h 58"/>
                <a:gd name="T24" fmla="*/ 51 w 51"/>
                <a:gd name="T25" fmla="*/ 0 h 58"/>
                <a:gd name="T26" fmla="*/ 51 w 51"/>
                <a:gd name="T27" fmla="*/ 0 h 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8"/>
                <a:gd name="T44" fmla="*/ 51 w 51"/>
                <a:gd name="T45" fmla="*/ 58 h 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8">
                  <a:moveTo>
                    <a:pt x="51" y="0"/>
                  </a:moveTo>
                  <a:lnTo>
                    <a:pt x="34" y="8"/>
                  </a:lnTo>
                  <a:lnTo>
                    <a:pt x="17" y="15"/>
                  </a:lnTo>
                  <a:lnTo>
                    <a:pt x="9" y="37"/>
                  </a:lnTo>
                  <a:lnTo>
                    <a:pt x="0" y="58"/>
                  </a:lnTo>
                  <a:lnTo>
                    <a:pt x="9" y="37"/>
                  </a:lnTo>
                  <a:lnTo>
                    <a:pt x="17" y="15"/>
                  </a:lnTo>
                  <a:lnTo>
                    <a:pt x="34" y="8"/>
                  </a:lnTo>
                  <a:lnTo>
                    <a:pt x="51" y="0"/>
                  </a:lnTo>
                  <a:close/>
                  <a:moveTo>
                    <a:pt x="51" y="0"/>
                  </a:moveTo>
                  <a:lnTo>
                    <a:pt x="51"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3" name="Freeform 23"/>
            <p:cNvSpPr>
              <a:spLocks noChangeAspect="1" noEditPoints="1"/>
            </p:cNvSpPr>
            <p:nvPr/>
          </p:nvSpPr>
          <p:spPr bwMode="auto">
            <a:xfrm>
              <a:off x="2169" y="2886"/>
              <a:ext cx="51" cy="51"/>
            </a:xfrm>
            <a:custGeom>
              <a:avLst/>
              <a:gdLst>
                <a:gd name="T0" fmla="*/ 0 w 51"/>
                <a:gd name="T1" fmla="*/ 0 h 51"/>
                <a:gd name="T2" fmla="*/ 9 w 51"/>
                <a:gd name="T3" fmla="*/ 22 h 51"/>
                <a:gd name="T4" fmla="*/ 17 w 51"/>
                <a:gd name="T5" fmla="*/ 37 h 51"/>
                <a:gd name="T6" fmla="*/ 34 w 51"/>
                <a:gd name="T7" fmla="*/ 51 h 51"/>
                <a:gd name="T8" fmla="*/ 51 w 51"/>
                <a:gd name="T9" fmla="*/ 51 h 51"/>
                <a:gd name="T10" fmla="*/ 51 w 51"/>
                <a:gd name="T11" fmla="*/ 51 h 51"/>
                <a:gd name="T12" fmla="*/ 34 w 51"/>
                <a:gd name="T13" fmla="*/ 51 h 51"/>
                <a:gd name="T14" fmla="*/ 17 w 51"/>
                <a:gd name="T15" fmla="*/ 37 h 51"/>
                <a:gd name="T16" fmla="*/ 9 w 51"/>
                <a:gd name="T17" fmla="*/ 22 h 51"/>
                <a:gd name="T18" fmla="*/ 0 w 51"/>
                <a:gd name="T19" fmla="*/ 0 h 51"/>
                <a:gd name="T20" fmla="*/ 0 w 51"/>
                <a:gd name="T21" fmla="*/ 0 h 51"/>
                <a:gd name="T22" fmla="*/ 0 w 51"/>
                <a:gd name="T23" fmla="*/ 0 h 51"/>
                <a:gd name="T24" fmla="*/ 0 w 51"/>
                <a:gd name="T25" fmla="*/ 0 h 51"/>
                <a:gd name="T26" fmla="*/ 0 w 51"/>
                <a:gd name="T27" fmla="*/ 0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1"/>
                <a:gd name="T44" fmla="*/ 51 w 51"/>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1">
                  <a:moveTo>
                    <a:pt x="0" y="0"/>
                  </a:moveTo>
                  <a:lnTo>
                    <a:pt x="9" y="22"/>
                  </a:lnTo>
                  <a:lnTo>
                    <a:pt x="17" y="37"/>
                  </a:lnTo>
                  <a:lnTo>
                    <a:pt x="34" y="51"/>
                  </a:lnTo>
                  <a:lnTo>
                    <a:pt x="51" y="51"/>
                  </a:lnTo>
                  <a:lnTo>
                    <a:pt x="34" y="51"/>
                  </a:lnTo>
                  <a:lnTo>
                    <a:pt x="17" y="37"/>
                  </a:lnTo>
                  <a:lnTo>
                    <a:pt x="9" y="2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4" name="Freeform 24"/>
            <p:cNvSpPr>
              <a:spLocks noChangeAspect="1"/>
            </p:cNvSpPr>
            <p:nvPr/>
          </p:nvSpPr>
          <p:spPr bwMode="auto">
            <a:xfrm>
              <a:off x="2220" y="2937"/>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5" name="Freeform 25"/>
            <p:cNvSpPr>
              <a:spLocks noChangeAspect="1" noEditPoints="1"/>
            </p:cNvSpPr>
            <p:nvPr/>
          </p:nvSpPr>
          <p:spPr bwMode="auto">
            <a:xfrm>
              <a:off x="2371" y="1676"/>
              <a:ext cx="93" cy="108"/>
            </a:xfrm>
            <a:custGeom>
              <a:avLst/>
              <a:gdLst>
                <a:gd name="T0" fmla="*/ 93 w 93"/>
                <a:gd name="T1" fmla="*/ 79 h 108"/>
                <a:gd name="T2" fmla="*/ 76 w 93"/>
                <a:gd name="T3" fmla="*/ 87 h 108"/>
                <a:gd name="T4" fmla="*/ 76 w 93"/>
                <a:gd name="T5" fmla="*/ 94 h 108"/>
                <a:gd name="T6" fmla="*/ 68 w 93"/>
                <a:gd name="T7" fmla="*/ 94 h 108"/>
                <a:gd name="T8" fmla="*/ 68 w 93"/>
                <a:gd name="T9" fmla="*/ 94 h 108"/>
                <a:gd name="T10" fmla="*/ 68 w 93"/>
                <a:gd name="T11" fmla="*/ 87 h 108"/>
                <a:gd name="T12" fmla="*/ 68 w 93"/>
                <a:gd name="T13" fmla="*/ 79 h 108"/>
                <a:gd name="T14" fmla="*/ 76 w 93"/>
                <a:gd name="T15" fmla="*/ 43 h 108"/>
                <a:gd name="T16" fmla="*/ 84 w 93"/>
                <a:gd name="T17" fmla="*/ 14 h 108"/>
                <a:gd name="T18" fmla="*/ 93 w 93"/>
                <a:gd name="T19" fmla="*/ 7 h 108"/>
                <a:gd name="T20" fmla="*/ 93 w 93"/>
                <a:gd name="T21" fmla="*/ 0 h 108"/>
                <a:gd name="T22" fmla="*/ 84 w 93"/>
                <a:gd name="T23" fmla="*/ 0 h 108"/>
                <a:gd name="T24" fmla="*/ 76 w 93"/>
                <a:gd name="T25" fmla="*/ 0 h 108"/>
                <a:gd name="T26" fmla="*/ 76 w 93"/>
                <a:gd name="T27" fmla="*/ 0 h 108"/>
                <a:gd name="T28" fmla="*/ 76 w 93"/>
                <a:gd name="T29" fmla="*/ 14 h 108"/>
                <a:gd name="T30" fmla="*/ 76 w 93"/>
                <a:gd name="T31" fmla="*/ 14 h 108"/>
                <a:gd name="T32" fmla="*/ 68 w 93"/>
                <a:gd name="T33" fmla="*/ 7 h 108"/>
                <a:gd name="T34" fmla="*/ 59 w 93"/>
                <a:gd name="T35" fmla="*/ 0 h 108"/>
                <a:gd name="T36" fmla="*/ 42 w 93"/>
                <a:gd name="T37" fmla="*/ 7 h 108"/>
                <a:gd name="T38" fmla="*/ 17 w 93"/>
                <a:gd name="T39" fmla="*/ 29 h 108"/>
                <a:gd name="T40" fmla="*/ 9 w 93"/>
                <a:gd name="T41" fmla="*/ 50 h 108"/>
                <a:gd name="T42" fmla="*/ 0 w 93"/>
                <a:gd name="T43" fmla="*/ 79 h 108"/>
                <a:gd name="T44" fmla="*/ 0 w 93"/>
                <a:gd name="T45" fmla="*/ 94 h 108"/>
                <a:gd name="T46" fmla="*/ 9 w 93"/>
                <a:gd name="T47" fmla="*/ 108 h 108"/>
                <a:gd name="T48" fmla="*/ 17 w 93"/>
                <a:gd name="T49" fmla="*/ 108 h 108"/>
                <a:gd name="T50" fmla="*/ 42 w 93"/>
                <a:gd name="T51" fmla="*/ 101 h 108"/>
                <a:gd name="T52" fmla="*/ 51 w 93"/>
                <a:gd name="T53" fmla="*/ 94 h 108"/>
                <a:gd name="T54" fmla="*/ 59 w 93"/>
                <a:gd name="T55" fmla="*/ 72 h 108"/>
                <a:gd name="T56" fmla="*/ 59 w 93"/>
                <a:gd name="T57" fmla="*/ 72 h 108"/>
                <a:gd name="T58" fmla="*/ 59 w 93"/>
                <a:gd name="T59" fmla="*/ 87 h 108"/>
                <a:gd name="T60" fmla="*/ 59 w 93"/>
                <a:gd name="T61" fmla="*/ 94 h 108"/>
                <a:gd name="T62" fmla="*/ 59 w 93"/>
                <a:gd name="T63" fmla="*/ 101 h 108"/>
                <a:gd name="T64" fmla="*/ 68 w 93"/>
                <a:gd name="T65" fmla="*/ 108 h 108"/>
                <a:gd name="T66" fmla="*/ 76 w 93"/>
                <a:gd name="T67" fmla="*/ 101 h 108"/>
                <a:gd name="T68" fmla="*/ 93 w 93"/>
                <a:gd name="T69" fmla="*/ 79 h 108"/>
                <a:gd name="T70" fmla="*/ 93 w 93"/>
                <a:gd name="T71" fmla="*/ 79 h 108"/>
                <a:gd name="T72" fmla="*/ 17 w 93"/>
                <a:gd name="T73" fmla="*/ 79 h 108"/>
                <a:gd name="T74" fmla="*/ 17 w 93"/>
                <a:gd name="T75" fmla="*/ 58 h 108"/>
                <a:gd name="T76" fmla="*/ 25 w 93"/>
                <a:gd name="T77" fmla="*/ 36 h 108"/>
                <a:gd name="T78" fmla="*/ 42 w 93"/>
                <a:gd name="T79" fmla="*/ 14 h 108"/>
                <a:gd name="T80" fmla="*/ 59 w 93"/>
                <a:gd name="T81" fmla="*/ 7 h 108"/>
                <a:gd name="T82" fmla="*/ 68 w 93"/>
                <a:gd name="T83" fmla="*/ 7 h 108"/>
                <a:gd name="T84" fmla="*/ 68 w 93"/>
                <a:gd name="T85" fmla="*/ 21 h 108"/>
                <a:gd name="T86" fmla="*/ 68 w 93"/>
                <a:gd name="T87" fmla="*/ 43 h 108"/>
                <a:gd name="T88" fmla="*/ 59 w 93"/>
                <a:gd name="T89" fmla="*/ 65 h 108"/>
                <a:gd name="T90" fmla="*/ 42 w 93"/>
                <a:gd name="T91" fmla="*/ 87 h 108"/>
                <a:gd name="T92" fmla="*/ 25 w 93"/>
                <a:gd name="T93" fmla="*/ 94 h 108"/>
                <a:gd name="T94" fmla="*/ 25 w 93"/>
                <a:gd name="T95" fmla="*/ 94 h 108"/>
                <a:gd name="T96" fmla="*/ 17 w 93"/>
                <a:gd name="T97" fmla="*/ 79 h 108"/>
                <a:gd name="T98" fmla="*/ 17 w 93"/>
                <a:gd name="T99" fmla="*/ 79 h 10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3"/>
                <a:gd name="T151" fmla="*/ 0 h 108"/>
                <a:gd name="T152" fmla="*/ 93 w 93"/>
                <a:gd name="T153" fmla="*/ 108 h 10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3" h="108">
                  <a:moveTo>
                    <a:pt x="93" y="79"/>
                  </a:moveTo>
                  <a:lnTo>
                    <a:pt x="76" y="87"/>
                  </a:lnTo>
                  <a:lnTo>
                    <a:pt x="76" y="94"/>
                  </a:lnTo>
                  <a:lnTo>
                    <a:pt x="68" y="94"/>
                  </a:lnTo>
                  <a:lnTo>
                    <a:pt x="68" y="87"/>
                  </a:lnTo>
                  <a:lnTo>
                    <a:pt x="68" y="79"/>
                  </a:lnTo>
                  <a:lnTo>
                    <a:pt x="76" y="43"/>
                  </a:lnTo>
                  <a:lnTo>
                    <a:pt x="84" y="14"/>
                  </a:lnTo>
                  <a:lnTo>
                    <a:pt x="93" y="7"/>
                  </a:lnTo>
                  <a:lnTo>
                    <a:pt x="93" y="0"/>
                  </a:lnTo>
                  <a:lnTo>
                    <a:pt x="84" y="0"/>
                  </a:lnTo>
                  <a:lnTo>
                    <a:pt x="76" y="0"/>
                  </a:lnTo>
                  <a:lnTo>
                    <a:pt x="76" y="14"/>
                  </a:lnTo>
                  <a:lnTo>
                    <a:pt x="68" y="7"/>
                  </a:lnTo>
                  <a:lnTo>
                    <a:pt x="59" y="0"/>
                  </a:lnTo>
                  <a:lnTo>
                    <a:pt x="42" y="7"/>
                  </a:lnTo>
                  <a:lnTo>
                    <a:pt x="17" y="29"/>
                  </a:lnTo>
                  <a:lnTo>
                    <a:pt x="9" y="50"/>
                  </a:lnTo>
                  <a:lnTo>
                    <a:pt x="0" y="79"/>
                  </a:lnTo>
                  <a:lnTo>
                    <a:pt x="0" y="94"/>
                  </a:lnTo>
                  <a:lnTo>
                    <a:pt x="9" y="108"/>
                  </a:lnTo>
                  <a:lnTo>
                    <a:pt x="17" y="108"/>
                  </a:lnTo>
                  <a:lnTo>
                    <a:pt x="42" y="101"/>
                  </a:lnTo>
                  <a:lnTo>
                    <a:pt x="51" y="94"/>
                  </a:lnTo>
                  <a:lnTo>
                    <a:pt x="59" y="72"/>
                  </a:lnTo>
                  <a:lnTo>
                    <a:pt x="59" y="87"/>
                  </a:lnTo>
                  <a:lnTo>
                    <a:pt x="59" y="94"/>
                  </a:lnTo>
                  <a:lnTo>
                    <a:pt x="59" y="101"/>
                  </a:lnTo>
                  <a:lnTo>
                    <a:pt x="68" y="108"/>
                  </a:lnTo>
                  <a:lnTo>
                    <a:pt x="76" y="101"/>
                  </a:lnTo>
                  <a:lnTo>
                    <a:pt x="93" y="79"/>
                  </a:lnTo>
                  <a:close/>
                  <a:moveTo>
                    <a:pt x="17" y="79"/>
                  </a:moveTo>
                  <a:lnTo>
                    <a:pt x="17" y="58"/>
                  </a:lnTo>
                  <a:lnTo>
                    <a:pt x="25" y="36"/>
                  </a:lnTo>
                  <a:lnTo>
                    <a:pt x="42" y="14"/>
                  </a:lnTo>
                  <a:lnTo>
                    <a:pt x="59" y="7"/>
                  </a:lnTo>
                  <a:lnTo>
                    <a:pt x="68" y="7"/>
                  </a:lnTo>
                  <a:lnTo>
                    <a:pt x="68" y="21"/>
                  </a:lnTo>
                  <a:lnTo>
                    <a:pt x="68" y="43"/>
                  </a:lnTo>
                  <a:lnTo>
                    <a:pt x="59" y="65"/>
                  </a:lnTo>
                  <a:lnTo>
                    <a:pt x="42" y="87"/>
                  </a:lnTo>
                  <a:lnTo>
                    <a:pt x="25" y="94"/>
                  </a:lnTo>
                  <a:lnTo>
                    <a:pt x="17" y="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6" name="Freeform 26"/>
            <p:cNvSpPr>
              <a:spLocks noChangeAspect="1" noEditPoints="1"/>
            </p:cNvSpPr>
            <p:nvPr/>
          </p:nvSpPr>
          <p:spPr bwMode="auto">
            <a:xfrm>
              <a:off x="2371" y="2792"/>
              <a:ext cx="93" cy="167"/>
            </a:xfrm>
            <a:custGeom>
              <a:avLst/>
              <a:gdLst>
                <a:gd name="T0" fmla="*/ 76 w 93"/>
                <a:gd name="T1" fmla="*/ 87 h 167"/>
                <a:gd name="T2" fmla="*/ 76 w 93"/>
                <a:gd name="T3" fmla="*/ 109 h 167"/>
                <a:gd name="T4" fmla="*/ 59 w 93"/>
                <a:gd name="T5" fmla="*/ 131 h 167"/>
                <a:gd name="T6" fmla="*/ 42 w 93"/>
                <a:gd name="T7" fmla="*/ 152 h 167"/>
                <a:gd name="T8" fmla="*/ 25 w 93"/>
                <a:gd name="T9" fmla="*/ 160 h 167"/>
                <a:gd name="T10" fmla="*/ 17 w 93"/>
                <a:gd name="T11" fmla="*/ 160 h 167"/>
                <a:gd name="T12" fmla="*/ 17 w 93"/>
                <a:gd name="T13" fmla="*/ 152 h 167"/>
                <a:gd name="T14" fmla="*/ 17 w 93"/>
                <a:gd name="T15" fmla="*/ 123 h 167"/>
                <a:gd name="T16" fmla="*/ 25 w 93"/>
                <a:gd name="T17" fmla="*/ 102 h 167"/>
                <a:gd name="T18" fmla="*/ 42 w 93"/>
                <a:gd name="T19" fmla="*/ 73 h 167"/>
                <a:gd name="T20" fmla="*/ 59 w 93"/>
                <a:gd name="T21" fmla="*/ 65 h 167"/>
                <a:gd name="T22" fmla="*/ 68 w 93"/>
                <a:gd name="T23" fmla="*/ 73 h 167"/>
                <a:gd name="T24" fmla="*/ 76 w 93"/>
                <a:gd name="T25" fmla="*/ 87 h 167"/>
                <a:gd name="T26" fmla="*/ 76 w 93"/>
                <a:gd name="T27" fmla="*/ 87 h 167"/>
                <a:gd name="T28" fmla="*/ 17 w 93"/>
                <a:gd name="T29" fmla="*/ 7 h 167"/>
                <a:gd name="T30" fmla="*/ 25 w 93"/>
                <a:gd name="T31" fmla="*/ 7 h 167"/>
                <a:gd name="T32" fmla="*/ 34 w 93"/>
                <a:gd name="T33" fmla="*/ 15 h 167"/>
                <a:gd name="T34" fmla="*/ 34 w 93"/>
                <a:gd name="T35" fmla="*/ 22 h 167"/>
                <a:gd name="T36" fmla="*/ 25 w 93"/>
                <a:gd name="T37" fmla="*/ 29 h 167"/>
                <a:gd name="T38" fmla="*/ 0 w 93"/>
                <a:gd name="T39" fmla="*/ 152 h 167"/>
                <a:gd name="T40" fmla="*/ 0 w 93"/>
                <a:gd name="T41" fmla="*/ 152 h 167"/>
                <a:gd name="T42" fmla="*/ 9 w 93"/>
                <a:gd name="T43" fmla="*/ 160 h 167"/>
                <a:gd name="T44" fmla="*/ 25 w 93"/>
                <a:gd name="T45" fmla="*/ 167 h 167"/>
                <a:gd name="T46" fmla="*/ 51 w 93"/>
                <a:gd name="T47" fmla="*/ 160 h 167"/>
                <a:gd name="T48" fmla="*/ 76 w 93"/>
                <a:gd name="T49" fmla="*/ 138 h 167"/>
                <a:gd name="T50" fmla="*/ 84 w 93"/>
                <a:gd name="T51" fmla="*/ 116 h 167"/>
                <a:gd name="T52" fmla="*/ 93 w 93"/>
                <a:gd name="T53" fmla="*/ 87 h 167"/>
                <a:gd name="T54" fmla="*/ 84 w 93"/>
                <a:gd name="T55" fmla="*/ 65 h 167"/>
                <a:gd name="T56" fmla="*/ 68 w 93"/>
                <a:gd name="T57" fmla="*/ 58 h 167"/>
                <a:gd name="T58" fmla="*/ 59 w 93"/>
                <a:gd name="T59" fmla="*/ 65 h 167"/>
                <a:gd name="T60" fmla="*/ 42 w 93"/>
                <a:gd name="T61" fmla="*/ 73 h 167"/>
                <a:gd name="T62" fmla="*/ 25 w 93"/>
                <a:gd name="T63" fmla="*/ 94 h 167"/>
                <a:gd name="T64" fmla="*/ 25 w 93"/>
                <a:gd name="T65" fmla="*/ 94 h 167"/>
                <a:gd name="T66" fmla="*/ 42 w 93"/>
                <a:gd name="T67" fmla="*/ 44 h 167"/>
                <a:gd name="T68" fmla="*/ 42 w 93"/>
                <a:gd name="T69" fmla="*/ 22 h 167"/>
                <a:gd name="T70" fmla="*/ 51 w 93"/>
                <a:gd name="T71" fmla="*/ 0 h 167"/>
                <a:gd name="T72" fmla="*/ 51 w 93"/>
                <a:gd name="T73" fmla="*/ 0 h 167"/>
                <a:gd name="T74" fmla="*/ 34 w 93"/>
                <a:gd name="T75" fmla="*/ 0 h 167"/>
                <a:gd name="T76" fmla="*/ 17 w 93"/>
                <a:gd name="T77" fmla="*/ 0 h 167"/>
                <a:gd name="T78" fmla="*/ 17 w 93"/>
                <a:gd name="T79" fmla="*/ 7 h 16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3"/>
                <a:gd name="T121" fmla="*/ 0 h 167"/>
                <a:gd name="T122" fmla="*/ 93 w 93"/>
                <a:gd name="T123" fmla="*/ 167 h 16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3" h="167">
                  <a:moveTo>
                    <a:pt x="76" y="87"/>
                  </a:moveTo>
                  <a:lnTo>
                    <a:pt x="76" y="109"/>
                  </a:lnTo>
                  <a:lnTo>
                    <a:pt x="59" y="131"/>
                  </a:lnTo>
                  <a:lnTo>
                    <a:pt x="42" y="152"/>
                  </a:lnTo>
                  <a:lnTo>
                    <a:pt x="25" y="160"/>
                  </a:lnTo>
                  <a:lnTo>
                    <a:pt x="17" y="160"/>
                  </a:lnTo>
                  <a:lnTo>
                    <a:pt x="17" y="152"/>
                  </a:lnTo>
                  <a:lnTo>
                    <a:pt x="17" y="123"/>
                  </a:lnTo>
                  <a:lnTo>
                    <a:pt x="25" y="102"/>
                  </a:lnTo>
                  <a:lnTo>
                    <a:pt x="42" y="73"/>
                  </a:lnTo>
                  <a:lnTo>
                    <a:pt x="59" y="65"/>
                  </a:lnTo>
                  <a:lnTo>
                    <a:pt x="68" y="73"/>
                  </a:lnTo>
                  <a:lnTo>
                    <a:pt x="76" y="87"/>
                  </a:lnTo>
                  <a:close/>
                  <a:moveTo>
                    <a:pt x="17" y="7"/>
                  </a:moveTo>
                  <a:lnTo>
                    <a:pt x="25" y="7"/>
                  </a:lnTo>
                  <a:lnTo>
                    <a:pt x="34" y="15"/>
                  </a:lnTo>
                  <a:lnTo>
                    <a:pt x="34" y="22"/>
                  </a:lnTo>
                  <a:lnTo>
                    <a:pt x="25" y="29"/>
                  </a:lnTo>
                  <a:lnTo>
                    <a:pt x="0" y="152"/>
                  </a:lnTo>
                  <a:lnTo>
                    <a:pt x="9" y="160"/>
                  </a:lnTo>
                  <a:lnTo>
                    <a:pt x="25" y="167"/>
                  </a:lnTo>
                  <a:lnTo>
                    <a:pt x="51" y="160"/>
                  </a:lnTo>
                  <a:lnTo>
                    <a:pt x="76" y="138"/>
                  </a:lnTo>
                  <a:lnTo>
                    <a:pt x="84" y="116"/>
                  </a:lnTo>
                  <a:lnTo>
                    <a:pt x="93" y="87"/>
                  </a:lnTo>
                  <a:lnTo>
                    <a:pt x="84" y="65"/>
                  </a:lnTo>
                  <a:lnTo>
                    <a:pt x="68" y="58"/>
                  </a:lnTo>
                  <a:lnTo>
                    <a:pt x="59" y="65"/>
                  </a:lnTo>
                  <a:lnTo>
                    <a:pt x="42" y="73"/>
                  </a:lnTo>
                  <a:lnTo>
                    <a:pt x="25" y="94"/>
                  </a:lnTo>
                  <a:lnTo>
                    <a:pt x="42" y="44"/>
                  </a:lnTo>
                  <a:lnTo>
                    <a:pt x="42" y="22"/>
                  </a:lnTo>
                  <a:lnTo>
                    <a:pt x="51" y="0"/>
                  </a:lnTo>
                  <a:lnTo>
                    <a:pt x="34" y="0"/>
                  </a:lnTo>
                  <a:lnTo>
                    <a:pt x="17" y="0"/>
                  </a:lnTo>
                  <a:lnTo>
                    <a:pt x="17"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7" name="Freeform 27"/>
            <p:cNvSpPr>
              <a:spLocks noChangeAspect="1"/>
            </p:cNvSpPr>
            <p:nvPr/>
          </p:nvSpPr>
          <p:spPr bwMode="auto">
            <a:xfrm>
              <a:off x="3742" y="1726"/>
              <a:ext cx="1598" cy="1"/>
            </a:xfrm>
            <a:custGeom>
              <a:avLst/>
              <a:gdLst>
                <a:gd name="T0" fmla="*/ 1598 w 1598"/>
                <a:gd name="T1" fmla="*/ 0 h 1"/>
                <a:gd name="T2" fmla="*/ 0 w 1598"/>
                <a:gd name="T3" fmla="*/ 0 h 1"/>
                <a:gd name="T4" fmla="*/ 1598 w 1598"/>
                <a:gd name="T5" fmla="*/ 0 h 1"/>
                <a:gd name="T6" fmla="*/ 1598 w 1598"/>
                <a:gd name="T7" fmla="*/ 0 h 1"/>
                <a:gd name="T8" fmla="*/ 0 60000 65536"/>
                <a:gd name="T9" fmla="*/ 0 60000 65536"/>
                <a:gd name="T10" fmla="*/ 0 60000 65536"/>
                <a:gd name="T11" fmla="*/ 0 60000 65536"/>
                <a:gd name="T12" fmla="*/ 0 w 1598"/>
                <a:gd name="T13" fmla="*/ 0 h 1"/>
                <a:gd name="T14" fmla="*/ 1598 w 1598"/>
                <a:gd name="T15" fmla="*/ 1 h 1"/>
              </a:gdLst>
              <a:ahLst/>
              <a:cxnLst>
                <a:cxn ang="T8">
                  <a:pos x="T0" y="T1"/>
                </a:cxn>
                <a:cxn ang="T9">
                  <a:pos x="T2" y="T3"/>
                </a:cxn>
                <a:cxn ang="T10">
                  <a:pos x="T4" y="T5"/>
                </a:cxn>
                <a:cxn ang="T11">
                  <a:pos x="T6" y="T7"/>
                </a:cxn>
              </a:cxnLst>
              <a:rect l="T12" t="T13" r="T14" b="T15"/>
              <a:pathLst>
                <a:path w="1598" h="1">
                  <a:moveTo>
                    <a:pt x="1598" y="0"/>
                  </a:moveTo>
                  <a:lnTo>
                    <a:pt x="0" y="0"/>
                  </a:lnTo>
                  <a:lnTo>
                    <a:pt x="159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8" name="Freeform 28"/>
            <p:cNvSpPr>
              <a:spLocks noChangeAspect="1" noEditPoints="1"/>
            </p:cNvSpPr>
            <p:nvPr/>
          </p:nvSpPr>
          <p:spPr bwMode="auto">
            <a:xfrm>
              <a:off x="3742" y="1726"/>
              <a:ext cx="1" cy="1160"/>
            </a:xfrm>
            <a:custGeom>
              <a:avLst/>
              <a:gdLst>
                <a:gd name="T0" fmla="*/ 0 w 1"/>
                <a:gd name="T1" fmla="*/ 0 h 1160"/>
                <a:gd name="T2" fmla="*/ 0 w 1"/>
                <a:gd name="T3" fmla="*/ 1160 h 1160"/>
                <a:gd name="T4" fmla="*/ 0 w 1"/>
                <a:gd name="T5" fmla="*/ 0 h 1160"/>
                <a:gd name="T6" fmla="*/ 0 w 1"/>
                <a:gd name="T7" fmla="*/ 0 h 1160"/>
                <a:gd name="T8" fmla="*/ 0 w 1"/>
                <a:gd name="T9" fmla="*/ 0 h 1160"/>
                <a:gd name="T10" fmla="*/ 0 w 1"/>
                <a:gd name="T11" fmla="*/ 0 h 1160"/>
                <a:gd name="T12" fmla="*/ 0 w 1"/>
                <a:gd name="T13" fmla="*/ 0 h 1160"/>
                <a:gd name="T14" fmla="*/ 0 60000 65536"/>
                <a:gd name="T15" fmla="*/ 0 60000 65536"/>
                <a:gd name="T16" fmla="*/ 0 60000 65536"/>
                <a:gd name="T17" fmla="*/ 0 60000 65536"/>
                <a:gd name="T18" fmla="*/ 0 60000 65536"/>
                <a:gd name="T19" fmla="*/ 0 60000 65536"/>
                <a:gd name="T20" fmla="*/ 0 60000 65536"/>
                <a:gd name="T21" fmla="*/ 0 w 1"/>
                <a:gd name="T22" fmla="*/ 0 h 1160"/>
                <a:gd name="T23" fmla="*/ 1 w 1"/>
                <a:gd name="T24" fmla="*/ 1160 h 11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160">
                  <a:moveTo>
                    <a:pt x="0" y="0"/>
                  </a:moveTo>
                  <a:lnTo>
                    <a:pt x="0" y="116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59" name="Freeform 29"/>
            <p:cNvSpPr>
              <a:spLocks noChangeAspect="1" noEditPoints="1"/>
            </p:cNvSpPr>
            <p:nvPr/>
          </p:nvSpPr>
          <p:spPr bwMode="auto">
            <a:xfrm>
              <a:off x="3742" y="2886"/>
              <a:ext cx="1598" cy="1"/>
            </a:xfrm>
            <a:custGeom>
              <a:avLst/>
              <a:gdLst>
                <a:gd name="T0" fmla="*/ 0 w 1598"/>
                <a:gd name="T1" fmla="*/ 0 h 1"/>
                <a:gd name="T2" fmla="*/ 1598 w 1598"/>
                <a:gd name="T3" fmla="*/ 0 h 1"/>
                <a:gd name="T4" fmla="*/ 0 w 1598"/>
                <a:gd name="T5" fmla="*/ 0 h 1"/>
                <a:gd name="T6" fmla="*/ 0 w 1598"/>
                <a:gd name="T7" fmla="*/ 0 h 1"/>
                <a:gd name="T8" fmla="*/ 0 w 1598"/>
                <a:gd name="T9" fmla="*/ 0 h 1"/>
                <a:gd name="T10" fmla="*/ 0 w 1598"/>
                <a:gd name="T11" fmla="*/ 0 h 1"/>
                <a:gd name="T12" fmla="*/ 0 w 1598"/>
                <a:gd name="T13" fmla="*/ 0 h 1"/>
                <a:gd name="T14" fmla="*/ 0 60000 65536"/>
                <a:gd name="T15" fmla="*/ 0 60000 65536"/>
                <a:gd name="T16" fmla="*/ 0 60000 65536"/>
                <a:gd name="T17" fmla="*/ 0 60000 65536"/>
                <a:gd name="T18" fmla="*/ 0 60000 65536"/>
                <a:gd name="T19" fmla="*/ 0 60000 65536"/>
                <a:gd name="T20" fmla="*/ 0 60000 65536"/>
                <a:gd name="T21" fmla="*/ 0 w 1598"/>
                <a:gd name="T22" fmla="*/ 0 h 1"/>
                <a:gd name="T23" fmla="*/ 1598 w 1598"/>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8" h="1">
                  <a:moveTo>
                    <a:pt x="0" y="0"/>
                  </a:moveTo>
                  <a:lnTo>
                    <a:pt x="1598"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0" name="Freeform 30"/>
            <p:cNvSpPr>
              <a:spLocks noChangeAspect="1" noEditPoints="1"/>
            </p:cNvSpPr>
            <p:nvPr/>
          </p:nvSpPr>
          <p:spPr bwMode="auto">
            <a:xfrm>
              <a:off x="3305" y="2227"/>
              <a:ext cx="50" cy="159"/>
            </a:xfrm>
            <a:custGeom>
              <a:avLst/>
              <a:gdLst>
                <a:gd name="T0" fmla="*/ 42 w 50"/>
                <a:gd name="T1" fmla="*/ 130 h 159"/>
                <a:gd name="T2" fmla="*/ 33 w 50"/>
                <a:gd name="T3" fmla="*/ 137 h 159"/>
                <a:gd name="T4" fmla="*/ 25 w 50"/>
                <a:gd name="T5" fmla="*/ 145 h 159"/>
                <a:gd name="T6" fmla="*/ 16 w 50"/>
                <a:gd name="T7" fmla="*/ 145 h 159"/>
                <a:gd name="T8" fmla="*/ 16 w 50"/>
                <a:gd name="T9" fmla="*/ 145 h 159"/>
                <a:gd name="T10" fmla="*/ 25 w 50"/>
                <a:gd name="T11" fmla="*/ 137 h 159"/>
                <a:gd name="T12" fmla="*/ 25 w 50"/>
                <a:gd name="T13" fmla="*/ 123 h 159"/>
                <a:gd name="T14" fmla="*/ 42 w 50"/>
                <a:gd name="T15" fmla="*/ 50 h 159"/>
                <a:gd name="T16" fmla="*/ 42 w 50"/>
                <a:gd name="T17" fmla="*/ 50 h 159"/>
                <a:gd name="T18" fmla="*/ 25 w 50"/>
                <a:gd name="T19" fmla="*/ 50 h 159"/>
                <a:gd name="T20" fmla="*/ 8 w 50"/>
                <a:gd name="T21" fmla="*/ 58 h 159"/>
                <a:gd name="T22" fmla="*/ 8 w 50"/>
                <a:gd name="T23" fmla="*/ 58 h 159"/>
                <a:gd name="T24" fmla="*/ 16 w 50"/>
                <a:gd name="T25" fmla="*/ 58 h 159"/>
                <a:gd name="T26" fmla="*/ 16 w 50"/>
                <a:gd name="T27" fmla="*/ 65 h 159"/>
                <a:gd name="T28" fmla="*/ 16 w 50"/>
                <a:gd name="T29" fmla="*/ 79 h 159"/>
                <a:gd name="T30" fmla="*/ 8 w 50"/>
                <a:gd name="T31" fmla="*/ 101 h 159"/>
                <a:gd name="T32" fmla="*/ 0 w 50"/>
                <a:gd name="T33" fmla="*/ 130 h 159"/>
                <a:gd name="T34" fmla="*/ 0 w 50"/>
                <a:gd name="T35" fmla="*/ 145 h 159"/>
                <a:gd name="T36" fmla="*/ 0 w 50"/>
                <a:gd name="T37" fmla="*/ 152 h 159"/>
                <a:gd name="T38" fmla="*/ 16 w 50"/>
                <a:gd name="T39" fmla="*/ 159 h 159"/>
                <a:gd name="T40" fmla="*/ 33 w 50"/>
                <a:gd name="T41" fmla="*/ 152 h 159"/>
                <a:gd name="T42" fmla="*/ 42 w 50"/>
                <a:gd name="T43" fmla="*/ 130 h 159"/>
                <a:gd name="T44" fmla="*/ 42 w 50"/>
                <a:gd name="T45" fmla="*/ 130 h 159"/>
                <a:gd name="T46" fmla="*/ 50 w 50"/>
                <a:gd name="T47" fmla="*/ 7 h 159"/>
                <a:gd name="T48" fmla="*/ 42 w 50"/>
                <a:gd name="T49" fmla="*/ 7 h 159"/>
                <a:gd name="T50" fmla="*/ 33 w 50"/>
                <a:gd name="T51" fmla="*/ 0 h 159"/>
                <a:gd name="T52" fmla="*/ 33 w 50"/>
                <a:gd name="T53" fmla="*/ 0 h 159"/>
                <a:gd name="T54" fmla="*/ 25 w 50"/>
                <a:gd name="T55" fmla="*/ 7 h 159"/>
                <a:gd name="T56" fmla="*/ 33 w 50"/>
                <a:gd name="T57" fmla="*/ 21 h 159"/>
                <a:gd name="T58" fmla="*/ 33 w 50"/>
                <a:gd name="T59" fmla="*/ 21 h 159"/>
                <a:gd name="T60" fmla="*/ 42 w 50"/>
                <a:gd name="T61" fmla="*/ 14 h 159"/>
                <a:gd name="T62" fmla="*/ 50 w 50"/>
                <a:gd name="T63" fmla="*/ 7 h 159"/>
                <a:gd name="T64" fmla="*/ 50 w 50"/>
                <a:gd name="T65" fmla="*/ 7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159"/>
                <a:gd name="T101" fmla="*/ 50 w 50"/>
                <a:gd name="T102" fmla="*/ 159 h 1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159">
                  <a:moveTo>
                    <a:pt x="42" y="130"/>
                  </a:moveTo>
                  <a:lnTo>
                    <a:pt x="33" y="137"/>
                  </a:lnTo>
                  <a:lnTo>
                    <a:pt x="25" y="145"/>
                  </a:lnTo>
                  <a:lnTo>
                    <a:pt x="16" y="145"/>
                  </a:lnTo>
                  <a:lnTo>
                    <a:pt x="25" y="137"/>
                  </a:lnTo>
                  <a:lnTo>
                    <a:pt x="25" y="123"/>
                  </a:lnTo>
                  <a:lnTo>
                    <a:pt x="42" y="50"/>
                  </a:lnTo>
                  <a:lnTo>
                    <a:pt x="25" y="50"/>
                  </a:lnTo>
                  <a:lnTo>
                    <a:pt x="8" y="58"/>
                  </a:lnTo>
                  <a:lnTo>
                    <a:pt x="16" y="58"/>
                  </a:lnTo>
                  <a:lnTo>
                    <a:pt x="16" y="65"/>
                  </a:lnTo>
                  <a:lnTo>
                    <a:pt x="16" y="79"/>
                  </a:lnTo>
                  <a:lnTo>
                    <a:pt x="8" y="101"/>
                  </a:lnTo>
                  <a:lnTo>
                    <a:pt x="0" y="130"/>
                  </a:lnTo>
                  <a:lnTo>
                    <a:pt x="0" y="145"/>
                  </a:lnTo>
                  <a:lnTo>
                    <a:pt x="0" y="152"/>
                  </a:lnTo>
                  <a:lnTo>
                    <a:pt x="16" y="159"/>
                  </a:lnTo>
                  <a:lnTo>
                    <a:pt x="33" y="152"/>
                  </a:lnTo>
                  <a:lnTo>
                    <a:pt x="42" y="130"/>
                  </a:lnTo>
                  <a:close/>
                  <a:moveTo>
                    <a:pt x="50" y="7"/>
                  </a:moveTo>
                  <a:lnTo>
                    <a:pt x="42" y="7"/>
                  </a:lnTo>
                  <a:lnTo>
                    <a:pt x="33" y="0"/>
                  </a:lnTo>
                  <a:lnTo>
                    <a:pt x="25" y="7"/>
                  </a:lnTo>
                  <a:lnTo>
                    <a:pt x="33" y="21"/>
                  </a:lnTo>
                  <a:lnTo>
                    <a:pt x="42" y="14"/>
                  </a:lnTo>
                  <a:lnTo>
                    <a:pt x="5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1" name="Freeform 31"/>
            <p:cNvSpPr>
              <a:spLocks noChangeAspect="1"/>
            </p:cNvSpPr>
            <p:nvPr/>
          </p:nvSpPr>
          <p:spPr bwMode="auto">
            <a:xfrm>
              <a:off x="3355" y="2364"/>
              <a:ext cx="51" cy="80"/>
            </a:xfrm>
            <a:custGeom>
              <a:avLst/>
              <a:gdLst>
                <a:gd name="T0" fmla="*/ 9 w 51"/>
                <a:gd name="T1" fmla="*/ 51 h 80"/>
                <a:gd name="T2" fmla="*/ 0 w 51"/>
                <a:gd name="T3" fmla="*/ 80 h 80"/>
                <a:gd name="T4" fmla="*/ 0 w 51"/>
                <a:gd name="T5" fmla="*/ 80 h 80"/>
                <a:gd name="T6" fmla="*/ 9 w 51"/>
                <a:gd name="T7" fmla="*/ 80 h 80"/>
                <a:gd name="T8" fmla="*/ 9 w 51"/>
                <a:gd name="T9" fmla="*/ 73 h 80"/>
                <a:gd name="T10" fmla="*/ 17 w 51"/>
                <a:gd name="T11" fmla="*/ 80 h 80"/>
                <a:gd name="T12" fmla="*/ 25 w 51"/>
                <a:gd name="T13" fmla="*/ 80 h 80"/>
                <a:gd name="T14" fmla="*/ 34 w 51"/>
                <a:gd name="T15" fmla="*/ 73 h 80"/>
                <a:gd name="T16" fmla="*/ 42 w 51"/>
                <a:gd name="T17" fmla="*/ 58 h 80"/>
                <a:gd name="T18" fmla="*/ 34 w 51"/>
                <a:gd name="T19" fmla="*/ 29 h 80"/>
                <a:gd name="T20" fmla="*/ 25 w 51"/>
                <a:gd name="T21" fmla="*/ 15 h 80"/>
                <a:gd name="T22" fmla="*/ 34 w 51"/>
                <a:gd name="T23" fmla="*/ 0 h 80"/>
                <a:gd name="T24" fmla="*/ 34 w 51"/>
                <a:gd name="T25" fmla="*/ 0 h 80"/>
                <a:gd name="T26" fmla="*/ 42 w 51"/>
                <a:gd name="T27" fmla="*/ 8 h 80"/>
                <a:gd name="T28" fmla="*/ 51 w 51"/>
                <a:gd name="T29" fmla="*/ 22 h 80"/>
                <a:gd name="T30" fmla="*/ 51 w 51"/>
                <a:gd name="T31" fmla="*/ 22 h 80"/>
                <a:gd name="T32" fmla="*/ 51 w 51"/>
                <a:gd name="T33" fmla="*/ 0 h 80"/>
                <a:gd name="T34" fmla="*/ 51 w 51"/>
                <a:gd name="T35" fmla="*/ 0 h 80"/>
                <a:gd name="T36" fmla="*/ 51 w 51"/>
                <a:gd name="T37" fmla="*/ 0 h 80"/>
                <a:gd name="T38" fmla="*/ 42 w 51"/>
                <a:gd name="T39" fmla="*/ 0 h 80"/>
                <a:gd name="T40" fmla="*/ 34 w 51"/>
                <a:gd name="T41" fmla="*/ 0 h 80"/>
                <a:gd name="T42" fmla="*/ 17 w 51"/>
                <a:gd name="T43" fmla="*/ 8 h 80"/>
                <a:gd name="T44" fmla="*/ 17 w 51"/>
                <a:gd name="T45" fmla="*/ 15 h 80"/>
                <a:gd name="T46" fmla="*/ 25 w 51"/>
                <a:gd name="T47" fmla="*/ 37 h 80"/>
                <a:gd name="T48" fmla="*/ 34 w 51"/>
                <a:gd name="T49" fmla="*/ 58 h 80"/>
                <a:gd name="T50" fmla="*/ 34 w 51"/>
                <a:gd name="T51" fmla="*/ 66 h 80"/>
                <a:gd name="T52" fmla="*/ 25 w 51"/>
                <a:gd name="T53" fmla="*/ 73 h 80"/>
                <a:gd name="T54" fmla="*/ 9 w 51"/>
                <a:gd name="T55" fmla="*/ 66 h 80"/>
                <a:gd name="T56" fmla="*/ 9 w 51"/>
                <a:gd name="T57" fmla="*/ 51 h 80"/>
                <a:gd name="T58" fmla="*/ 9 w 51"/>
                <a:gd name="T59" fmla="*/ 51 h 8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
                <a:gd name="T91" fmla="*/ 0 h 80"/>
                <a:gd name="T92" fmla="*/ 51 w 51"/>
                <a:gd name="T93" fmla="*/ 80 h 8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 h="80">
                  <a:moveTo>
                    <a:pt x="9" y="51"/>
                  </a:moveTo>
                  <a:lnTo>
                    <a:pt x="0" y="80"/>
                  </a:lnTo>
                  <a:lnTo>
                    <a:pt x="9" y="80"/>
                  </a:lnTo>
                  <a:lnTo>
                    <a:pt x="9" y="73"/>
                  </a:lnTo>
                  <a:lnTo>
                    <a:pt x="17" y="80"/>
                  </a:lnTo>
                  <a:lnTo>
                    <a:pt x="25" y="80"/>
                  </a:lnTo>
                  <a:lnTo>
                    <a:pt x="34" y="73"/>
                  </a:lnTo>
                  <a:lnTo>
                    <a:pt x="42" y="58"/>
                  </a:lnTo>
                  <a:lnTo>
                    <a:pt x="34" y="29"/>
                  </a:lnTo>
                  <a:lnTo>
                    <a:pt x="25" y="15"/>
                  </a:lnTo>
                  <a:lnTo>
                    <a:pt x="34" y="0"/>
                  </a:lnTo>
                  <a:lnTo>
                    <a:pt x="42" y="8"/>
                  </a:lnTo>
                  <a:lnTo>
                    <a:pt x="51" y="22"/>
                  </a:lnTo>
                  <a:lnTo>
                    <a:pt x="51" y="0"/>
                  </a:lnTo>
                  <a:lnTo>
                    <a:pt x="42" y="0"/>
                  </a:lnTo>
                  <a:lnTo>
                    <a:pt x="34" y="0"/>
                  </a:lnTo>
                  <a:lnTo>
                    <a:pt x="17" y="8"/>
                  </a:lnTo>
                  <a:lnTo>
                    <a:pt x="17" y="15"/>
                  </a:lnTo>
                  <a:lnTo>
                    <a:pt x="25" y="37"/>
                  </a:lnTo>
                  <a:lnTo>
                    <a:pt x="34" y="58"/>
                  </a:lnTo>
                  <a:lnTo>
                    <a:pt x="34" y="66"/>
                  </a:lnTo>
                  <a:lnTo>
                    <a:pt x="25" y="73"/>
                  </a:lnTo>
                  <a:lnTo>
                    <a:pt x="9" y="66"/>
                  </a:lnTo>
                  <a:lnTo>
                    <a:pt x="9"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2" name="Freeform 32"/>
            <p:cNvSpPr>
              <a:spLocks noChangeAspect="1" noEditPoints="1"/>
            </p:cNvSpPr>
            <p:nvPr/>
          </p:nvSpPr>
          <p:spPr bwMode="auto">
            <a:xfrm>
              <a:off x="5079" y="2241"/>
              <a:ext cx="126" cy="152"/>
            </a:xfrm>
            <a:custGeom>
              <a:avLst/>
              <a:gdLst>
                <a:gd name="T0" fmla="*/ 118 w 126"/>
                <a:gd name="T1" fmla="*/ 152 h 152"/>
                <a:gd name="T2" fmla="*/ 109 w 126"/>
                <a:gd name="T3" fmla="*/ 145 h 152"/>
                <a:gd name="T4" fmla="*/ 101 w 126"/>
                <a:gd name="T5" fmla="*/ 131 h 152"/>
                <a:gd name="T6" fmla="*/ 84 w 126"/>
                <a:gd name="T7" fmla="*/ 73 h 152"/>
                <a:gd name="T8" fmla="*/ 118 w 126"/>
                <a:gd name="T9" fmla="*/ 58 h 152"/>
                <a:gd name="T10" fmla="*/ 126 w 126"/>
                <a:gd name="T11" fmla="*/ 29 h 152"/>
                <a:gd name="T12" fmla="*/ 118 w 126"/>
                <a:gd name="T13" fmla="*/ 15 h 152"/>
                <a:gd name="T14" fmla="*/ 109 w 126"/>
                <a:gd name="T15" fmla="*/ 7 h 152"/>
                <a:gd name="T16" fmla="*/ 93 w 126"/>
                <a:gd name="T17" fmla="*/ 0 h 152"/>
                <a:gd name="T18" fmla="*/ 84 w 126"/>
                <a:gd name="T19" fmla="*/ 0 h 152"/>
                <a:gd name="T20" fmla="*/ 34 w 126"/>
                <a:gd name="T21" fmla="*/ 0 h 152"/>
                <a:gd name="T22" fmla="*/ 34 w 126"/>
                <a:gd name="T23" fmla="*/ 0 h 152"/>
                <a:gd name="T24" fmla="*/ 42 w 126"/>
                <a:gd name="T25" fmla="*/ 0 h 152"/>
                <a:gd name="T26" fmla="*/ 50 w 126"/>
                <a:gd name="T27" fmla="*/ 15 h 152"/>
                <a:gd name="T28" fmla="*/ 50 w 126"/>
                <a:gd name="T29" fmla="*/ 22 h 152"/>
                <a:gd name="T30" fmla="*/ 42 w 126"/>
                <a:gd name="T31" fmla="*/ 29 h 152"/>
                <a:gd name="T32" fmla="*/ 17 w 126"/>
                <a:gd name="T33" fmla="*/ 131 h 152"/>
                <a:gd name="T34" fmla="*/ 17 w 126"/>
                <a:gd name="T35" fmla="*/ 145 h 152"/>
                <a:gd name="T36" fmla="*/ 0 w 126"/>
                <a:gd name="T37" fmla="*/ 152 h 152"/>
                <a:gd name="T38" fmla="*/ 0 w 126"/>
                <a:gd name="T39" fmla="*/ 152 h 152"/>
                <a:gd name="T40" fmla="*/ 50 w 126"/>
                <a:gd name="T41" fmla="*/ 152 h 152"/>
                <a:gd name="T42" fmla="*/ 50 w 126"/>
                <a:gd name="T43" fmla="*/ 152 h 152"/>
                <a:gd name="T44" fmla="*/ 42 w 126"/>
                <a:gd name="T45" fmla="*/ 145 h 152"/>
                <a:gd name="T46" fmla="*/ 42 w 126"/>
                <a:gd name="T47" fmla="*/ 138 h 152"/>
                <a:gd name="T48" fmla="*/ 42 w 126"/>
                <a:gd name="T49" fmla="*/ 138 h 152"/>
                <a:gd name="T50" fmla="*/ 42 w 126"/>
                <a:gd name="T51" fmla="*/ 123 h 152"/>
                <a:gd name="T52" fmla="*/ 50 w 126"/>
                <a:gd name="T53" fmla="*/ 73 h 152"/>
                <a:gd name="T54" fmla="*/ 67 w 126"/>
                <a:gd name="T55" fmla="*/ 80 h 152"/>
                <a:gd name="T56" fmla="*/ 93 w 126"/>
                <a:gd name="T57" fmla="*/ 152 h 152"/>
                <a:gd name="T58" fmla="*/ 118 w 126"/>
                <a:gd name="T59" fmla="*/ 152 h 152"/>
                <a:gd name="T60" fmla="*/ 118 w 126"/>
                <a:gd name="T61" fmla="*/ 152 h 152"/>
                <a:gd name="T62" fmla="*/ 67 w 126"/>
                <a:gd name="T63" fmla="*/ 15 h 152"/>
                <a:gd name="T64" fmla="*/ 67 w 126"/>
                <a:gd name="T65" fmla="*/ 7 h 152"/>
                <a:gd name="T66" fmla="*/ 76 w 126"/>
                <a:gd name="T67" fmla="*/ 7 h 152"/>
                <a:gd name="T68" fmla="*/ 93 w 126"/>
                <a:gd name="T69" fmla="*/ 7 h 152"/>
                <a:gd name="T70" fmla="*/ 101 w 126"/>
                <a:gd name="T71" fmla="*/ 15 h 152"/>
                <a:gd name="T72" fmla="*/ 101 w 126"/>
                <a:gd name="T73" fmla="*/ 29 h 152"/>
                <a:gd name="T74" fmla="*/ 93 w 126"/>
                <a:gd name="T75" fmla="*/ 58 h 152"/>
                <a:gd name="T76" fmla="*/ 67 w 126"/>
                <a:gd name="T77" fmla="*/ 65 h 152"/>
                <a:gd name="T78" fmla="*/ 59 w 126"/>
                <a:gd name="T79" fmla="*/ 65 h 152"/>
                <a:gd name="T80" fmla="*/ 50 w 126"/>
                <a:gd name="T81" fmla="*/ 65 h 152"/>
                <a:gd name="T82" fmla="*/ 67 w 126"/>
                <a:gd name="T83" fmla="*/ 15 h 15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26"/>
                <a:gd name="T127" fmla="*/ 0 h 152"/>
                <a:gd name="T128" fmla="*/ 126 w 126"/>
                <a:gd name="T129" fmla="*/ 152 h 15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26" h="152">
                  <a:moveTo>
                    <a:pt x="118" y="152"/>
                  </a:moveTo>
                  <a:lnTo>
                    <a:pt x="109" y="145"/>
                  </a:lnTo>
                  <a:lnTo>
                    <a:pt x="101" y="131"/>
                  </a:lnTo>
                  <a:lnTo>
                    <a:pt x="84" y="73"/>
                  </a:lnTo>
                  <a:lnTo>
                    <a:pt x="118" y="58"/>
                  </a:lnTo>
                  <a:lnTo>
                    <a:pt x="126" y="29"/>
                  </a:lnTo>
                  <a:lnTo>
                    <a:pt x="118" y="15"/>
                  </a:lnTo>
                  <a:lnTo>
                    <a:pt x="109" y="7"/>
                  </a:lnTo>
                  <a:lnTo>
                    <a:pt x="93" y="0"/>
                  </a:lnTo>
                  <a:lnTo>
                    <a:pt x="84" y="0"/>
                  </a:lnTo>
                  <a:lnTo>
                    <a:pt x="34" y="0"/>
                  </a:lnTo>
                  <a:lnTo>
                    <a:pt x="42" y="0"/>
                  </a:lnTo>
                  <a:lnTo>
                    <a:pt x="50" y="15"/>
                  </a:lnTo>
                  <a:lnTo>
                    <a:pt x="50" y="22"/>
                  </a:lnTo>
                  <a:lnTo>
                    <a:pt x="42" y="29"/>
                  </a:lnTo>
                  <a:lnTo>
                    <a:pt x="17" y="131"/>
                  </a:lnTo>
                  <a:lnTo>
                    <a:pt x="17" y="145"/>
                  </a:lnTo>
                  <a:lnTo>
                    <a:pt x="0" y="152"/>
                  </a:lnTo>
                  <a:lnTo>
                    <a:pt x="50" y="152"/>
                  </a:lnTo>
                  <a:lnTo>
                    <a:pt x="42" y="145"/>
                  </a:lnTo>
                  <a:lnTo>
                    <a:pt x="42" y="138"/>
                  </a:lnTo>
                  <a:lnTo>
                    <a:pt x="42" y="123"/>
                  </a:lnTo>
                  <a:lnTo>
                    <a:pt x="50" y="73"/>
                  </a:lnTo>
                  <a:lnTo>
                    <a:pt x="67" y="80"/>
                  </a:lnTo>
                  <a:lnTo>
                    <a:pt x="93" y="152"/>
                  </a:lnTo>
                  <a:lnTo>
                    <a:pt x="118" y="152"/>
                  </a:lnTo>
                  <a:close/>
                  <a:moveTo>
                    <a:pt x="67" y="15"/>
                  </a:moveTo>
                  <a:lnTo>
                    <a:pt x="67" y="7"/>
                  </a:lnTo>
                  <a:lnTo>
                    <a:pt x="76" y="7"/>
                  </a:lnTo>
                  <a:lnTo>
                    <a:pt x="93" y="7"/>
                  </a:lnTo>
                  <a:lnTo>
                    <a:pt x="101" y="15"/>
                  </a:lnTo>
                  <a:lnTo>
                    <a:pt x="101" y="29"/>
                  </a:lnTo>
                  <a:lnTo>
                    <a:pt x="93" y="58"/>
                  </a:lnTo>
                  <a:lnTo>
                    <a:pt x="67" y="65"/>
                  </a:lnTo>
                  <a:lnTo>
                    <a:pt x="59" y="65"/>
                  </a:lnTo>
                  <a:lnTo>
                    <a:pt x="50" y="65"/>
                  </a:lnTo>
                  <a:lnTo>
                    <a:pt x="67" y="1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3" name="Freeform 33"/>
            <p:cNvSpPr>
              <a:spLocks noChangeAspect="1"/>
            </p:cNvSpPr>
            <p:nvPr/>
          </p:nvSpPr>
          <p:spPr bwMode="auto">
            <a:xfrm>
              <a:off x="5289" y="1676"/>
              <a:ext cx="93" cy="108"/>
            </a:xfrm>
            <a:custGeom>
              <a:avLst/>
              <a:gdLst>
                <a:gd name="T0" fmla="*/ 42 w 93"/>
                <a:gd name="T1" fmla="*/ 108 h 108"/>
                <a:gd name="T2" fmla="*/ 59 w 93"/>
                <a:gd name="T3" fmla="*/ 101 h 108"/>
                <a:gd name="T4" fmla="*/ 76 w 93"/>
                <a:gd name="T5" fmla="*/ 94 h 108"/>
                <a:gd name="T6" fmla="*/ 93 w 93"/>
                <a:gd name="T7" fmla="*/ 72 h 108"/>
                <a:gd name="T8" fmla="*/ 93 w 93"/>
                <a:gd name="T9" fmla="*/ 50 h 108"/>
                <a:gd name="T10" fmla="*/ 93 w 93"/>
                <a:gd name="T11" fmla="*/ 29 h 108"/>
                <a:gd name="T12" fmla="*/ 76 w 93"/>
                <a:gd name="T13" fmla="*/ 14 h 108"/>
                <a:gd name="T14" fmla="*/ 59 w 93"/>
                <a:gd name="T15" fmla="*/ 7 h 108"/>
                <a:gd name="T16" fmla="*/ 42 w 93"/>
                <a:gd name="T17" fmla="*/ 0 h 108"/>
                <a:gd name="T18" fmla="*/ 25 w 93"/>
                <a:gd name="T19" fmla="*/ 7 h 108"/>
                <a:gd name="T20" fmla="*/ 9 w 93"/>
                <a:gd name="T21" fmla="*/ 14 h 108"/>
                <a:gd name="T22" fmla="*/ 0 w 93"/>
                <a:gd name="T23" fmla="*/ 50 h 108"/>
                <a:gd name="T24" fmla="*/ 9 w 93"/>
                <a:gd name="T25" fmla="*/ 94 h 108"/>
                <a:gd name="T26" fmla="*/ 25 w 93"/>
                <a:gd name="T27" fmla="*/ 101 h 108"/>
                <a:gd name="T28" fmla="*/ 42 w 93"/>
                <a:gd name="T29" fmla="*/ 108 h 108"/>
                <a:gd name="T30" fmla="*/ 42 w 93"/>
                <a:gd name="T31" fmla="*/ 108 h 1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108"/>
                <a:gd name="T50" fmla="*/ 93 w 93"/>
                <a:gd name="T51" fmla="*/ 108 h 1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108">
                  <a:moveTo>
                    <a:pt x="42" y="108"/>
                  </a:moveTo>
                  <a:lnTo>
                    <a:pt x="59" y="101"/>
                  </a:lnTo>
                  <a:lnTo>
                    <a:pt x="76" y="94"/>
                  </a:lnTo>
                  <a:lnTo>
                    <a:pt x="93" y="72"/>
                  </a:lnTo>
                  <a:lnTo>
                    <a:pt x="93" y="50"/>
                  </a:lnTo>
                  <a:lnTo>
                    <a:pt x="93" y="29"/>
                  </a:lnTo>
                  <a:lnTo>
                    <a:pt x="76" y="14"/>
                  </a:lnTo>
                  <a:lnTo>
                    <a:pt x="59" y="7"/>
                  </a:lnTo>
                  <a:lnTo>
                    <a:pt x="42" y="0"/>
                  </a:lnTo>
                  <a:lnTo>
                    <a:pt x="25" y="7"/>
                  </a:lnTo>
                  <a:lnTo>
                    <a:pt x="9" y="14"/>
                  </a:lnTo>
                  <a:lnTo>
                    <a:pt x="0" y="50"/>
                  </a:lnTo>
                  <a:lnTo>
                    <a:pt x="9" y="94"/>
                  </a:lnTo>
                  <a:lnTo>
                    <a:pt x="25" y="101"/>
                  </a:lnTo>
                  <a:lnTo>
                    <a:pt x="42" y="108"/>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4" name="Freeform 34"/>
            <p:cNvSpPr>
              <a:spLocks noChangeAspect="1"/>
            </p:cNvSpPr>
            <p:nvPr/>
          </p:nvSpPr>
          <p:spPr bwMode="auto">
            <a:xfrm>
              <a:off x="5331" y="1726"/>
              <a:ext cx="51" cy="58"/>
            </a:xfrm>
            <a:custGeom>
              <a:avLst/>
              <a:gdLst>
                <a:gd name="T0" fmla="*/ 0 w 51"/>
                <a:gd name="T1" fmla="*/ 58 h 58"/>
                <a:gd name="T2" fmla="*/ 17 w 51"/>
                <a:gd name="T3" fmla="*/ 51 h 58"/>
                <a:gd name="T4" fmla="*/ 34 w 51"/>
                <a:gd name="T5" fmla="*/ 44 h 58"/>
                <a:gd name="T6" fmla="*/ 51 w 51"/>
                <a:gd name="T7" fmla="*/ 22 h 58"/>
                <a:gd name="T8" fmla="*/ 51 w 51"/>
                <a:gd name="T9" fmla="*/ 0 h 58"/>
                <a:gd name="T10" fmla="*/ 51 w 51"/>
                <a:gd name="T11" fmla="*/ 0 h 58"/>
                <a:gd name="T12" fmla="*/ 51 w 51"/>
                <a:gd name="T13" fmla="*/ 22 h 58"/>
                <a:gd name="T14" fmla="*/ 34 w 51"/>
                <a:gd name="T15" fmla="*/ 44 h 58"/>
                <a:gd name="T16" fmla="*/ 17 w 51"/>
                <a:gd name="T17" fmla="*/ 51 h 58"/>
                <a:gd name="T18" fmla="*/ 0 w 51"/>
                <a:gd name="T19" fmla="*/ 58 h 58"/>
                <a:gd name="T20" fmla="*/ 0 w 51"/>
                <a:gd name="T21" fmla="*/ 58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
                <a:gd name="T34" fmla="*/ 0 h 58"/>
                <a:gd name="T35" fmla="*/ 51 w 51"/>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 h="58">
                  <a:moveTo>
                    <a:pt x="0" y="58"/>
                  </a:moveTo>
                  <a:lnTo>
                    <a:pt x="17" y="51"/>
                  </a:lnTo>
                  <a:lnTo>
                    <a:pt x="34" y="44"/>
                  </a:lnTo>
                  <a:lnTo>
                    <a:pt x="51" y="22"/>
                  </a:lnTo>
                  <a:lnTo>
                    <a:pt x="51" y="0"/>
                  </a:lnTo>
                  <a:lnTo>
                    <a:pt x="51" y="22"/>
                  </a:lnTo>
                  <a:lnTo>
                    <a:pt x="34" y="44"/>
                  </a:lnTo>
                  <a:lnTo>
                    <a:pt x="17" y="51"/>
                  </a:lnTo>
                  <a:lnTo>
                    <a:pt x="0"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5" name="Freeform 35"/>
            <p:cNvSpPr>
              <a:spLocks noChangeAspect="1" noEditPoints="1"/>
            </p:cNvSpPr>
            <p:nvPr/>
          </p:nvSpPr>
          <p:spPr bwMode="auto">
            <a:xfrm>
              <a:off x="5331" y="1676"/>
              <a:ext cx="51" cy="50"/>
            </a:xfrm>
            <a:custGeom>
              <a:avLst/>
              <a:gdLst>
                <a:gd name="T0" fmla="*/ 51 w 51"/>
                <a:gd name="T1" fmla="*/ 50 h 50"/>
                <a:gd name="T2" fmla="*/ 51 w 51"/>
                <a:gd name="T3" fmla="*/ 29 h 50"/>
                <a:gd name="T4" fmla="*/ 34 w 51"/>
                <a:gd name="T5" fmla="*/ 14 h 50"/>
                <a:gd name="T6" fmla="*/ 17 w 51"/>
                <a:gd name="T7" fmla="*/ 7 h 50"/>
                <a:gd name="T8" fmla="*/ 0 w 51"/>
                <a:gd name="T9" fmla="*/ 0 h 50"/>
                <a:gd name="T10" fmla="*/ 0 w 51"/>
                <a:gd name="T11" fmla="*/ 0 h 50"/>
                <a:gd name="T12" fmla="*/ 17 w 51"/>
                <a:gd name="T13" fmla="*/ 7 h 50"/>
                <a:gd name="T14" fmla="*/ 34 w 51"/>
                <a:gd name="T15" fmla="*/ 14 h 50"/>
                <a:gd name="T16" fmla="*/ 51 w 51"/>
                <a:gd name="T17" fmla="*/ 29 h 50"/>
                <a:gd name="T18" fmla="*/ 51 w 51"/>
                <a:gd name="T19" fmla="*/ 50 h 50"/>
                <a:gd name="T20" fmla="*/ 51 w 51"/>
                <a:gd name="T21" fmla="*/ 50 h 50"/>
                <a:gd name="T22" fmla="*/ 51 w 51"/>
                <a:gd name="T23" fmla="*/ 50 h 50"/>
                <a:gd name="T24" fmla="*/ 51 w 51"/>
                <a:gd name="T25" fmla="*/ 50 h 50"/>
                <a:gd name="T26" fmla="*/ 51 w 51"/>
                <a:gd name="T27" fmla="*/ 50 h 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0"/>
                <a:gd name="T44" fmla="*/ 51 w 51"/>
                <a:gd name="T45" fmla="*/ 50 h 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0">
                  <a:moveTo>
                    <a:pt x="51" y="50"/>
                  </a:moveTo>
                  <a:lnTo>
                    <a:pt x="51" y="29"/>
                  </a:lnTo>
                  <a:lnTo>
                    <a:pt x="34" y="14"/>
                  </a:lnTo>
                  <a:lnTo>
                    <a:pt x="17" y="7"/>
                  </a:lnTo>
                  <a:lnTo>
                    <a:pt x="0" y="0"/>
                  </a:lnTo>
                  <a:lnTo>
                    <a:pt x="17" y="7"/>
                  </a:lnTo>
                  <a:lnTo>
                    <a:pt x="34" y="14"/>
                  </a:lnTo>
                  <a:lnTo>
                    <a:pt x="51" y="29"/>
                  </a:lnTo>
                  <a:lnTo>
                    <a:pt x="51" y="50"/>
                  </a:lnTo>
                  <a:close/>
                  <a:moveTo>
                    <a:pt x="51" y="50"/>
                  </a:moveTo>
                  <a:lnTo>
                    <a:pt x="51" y="5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6" name="Freeform 36"/>
            <p:cNvSpPr>
              <a:spLocks noChangeAspect="1" noEditPoints="1"/>
            </p:cNvSpPr>
            <p:nvPr/>
          </p:nvSpPr>
          <p:spPr bwMode="auto">
            <a:xfrm>
              <a:off x="5289" y="1676"/>
              <a:ext cx="42" cy="50"/>
            </a:xfrm>
            <a:custGeom>
              <a:avLst/>
              <a:gdLst>
                <a:gd name="T0" fmla="*/ 42 w 42"/>
                <a:gd name="T1" fmla="*/ 0 h 50"/>
                <a:gd name="T2" fmla="*/ 25 w 42"/>
                <a:gd name="T3" fmla="*/ 7 h 50"/>
                <a:gd name="T4" fmla="*/ 9 w 42"/>
                <a:gd name="T5" fmla="*/ 14 h 50"/>
                <a:gd name="T6" fmla="*/ 0 w 42"/>
                <a:gd name="T7" fmla="*/ 50 h 50"/>
                <a:gd name="T8" fmla="*/ 0 w 42"/>
                <a:gd name="T9" fmla="*/ 50 h 50"/>
                <a:gd name="T10" fmla="*/ 9 w 42"/>
                <a:gd name="T11" fmla="*/ 14 h 50"/>
                <a:gd name="T12" fmla="*/ 25 w 42"/>
                <a:gd name="T13" fmla="*/ 7 h 50"/>
                <a:gd name="T14" fmla="*/ 42 w 42"/>
                <a:gd name="T15" fmla="*/ 0 h 50"/>
                <a:gd name="T16" fmla="*/ 42 w 42"/>
                <a:gd name="T17" fmla="*/ 0 h 50"/>
                <a:gd name="T18" fmla="*/ 42 w 42"/>
                <a:gd name="T19" fmla="*/ 0 h 50"/>
                <a:gd name="T20" fmla="*/ 42 w 42"/>
                <a:gd name="T21" fmla="*/ 0 h 50"/>
                <a:gd name="T22" fmla="*/ 42 w 42"/>
                <a:gd name="T23" fmla="*/ 0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0"/>
                <a:gd name="T38" fmla="*/ 42 w 42"/>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0">
                  <a:moveTo>
                    <a:pt x="42" y="0"/>
                  </a:moveTo>
                  <a:lnTo>
                    <a:pt x="25" y="7"/>
                  </a:lnTo>
                  <a:lnTo>
                    <a:pt x="9" y="14"/>
                  </a:lnTo>
                  <a:lnTo>
                    <a:pt x="0" y="50"/>
                  </a:lnTo>
                  <a:lnTo>
                    <a:pt x="9" y="14"/>
                  </a:lnTo>
                  <a:lnTo>
                    <a:pt x="25" y="7"/>
                  </a:lnTo>
                  <a:lnTo>
                    <a:pt x="42" y="0"/>
                  </a:lnTo>
                  <a:close/>
                  <a:moveTo>
                    <a:pt x="42" y="0"/>
                  </a:moveTo>
                  <a:lnTo>
                    <a:pt x="4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7" name="Freeform 37"/>
            <p:cNvSpPr>
              <a:spLocks noChangeAspect="1" noEditPoints="1"/>
            </p:cNvSpPr>
            <p:nvPr/>
          </p:nvSpPr>
          <p:spPr bwMode="auto">
            <a:xfrm>
              <a:off x="5289" y="1726"/>
              <a:ext cx="42" cy="58"/>
            </a:xfrm>
            <a:custGeom>
              <a:avLst/>
              <a:gdLst>
                <a:gd name="T0" fmla="*/ 0 w 42"/>
                <a:gd name="T1" fmla="*/ 0 h 58"/>
                <a:gd name="T2" fmla="*/ 9 w 42"/>
                <a:gd name="T3" fmla="*/ 44 h 58"/>
                <a:gd name="T4" fmla="*/ 25 w 42"/>
                <a:gd name="T5" fmla="*/ 51 h 58"/>
                <a:gd name="T6" fmla="*/ 42 w 42"/>
                <a:gd name="T7" fmla="*/ 58 h 58"/>
                <a:gd name="T8" fmla="*/ 42 w 42"/>
                <a:gd name="T9" fmla="*/ 58 h 58"/>
                <a:gd name="T10" fmla="*/ 25 w 42"/>
                <a:gd name="T11" fmla="*/ 51 h 58"/>
                <a:gd name="T12" fmla="*/ 9 w 42"/>
                <a:gd name="T13" fmla="*/ 44 h 58"/>
                <a:gd name="T14" fmla="*/ 0 w 42"/>
                <a:gd name="T15" fmla="*/ 0 h 58"/>
                <a:gd name="T16" fmla="*/ 0 w 42"/>
                <a:gd name="T17" fmla="*/ 0 h 58"/>
                <a:gd name="T18" fmla="*/ 0 w 42"/>
                <a:gd name="T19" fmla="*/ 0 h 58"/>
                <a:gd name="T20" fmla="*/ 0 w 42"/>
                <a:gd name="T21" fmla="*/ 0 h 58"/>
                <a:gd name="T22" fmla="*/ 0 w 42"/>
                <a:gd name="T23" fmla="*/ 0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8"/>
                <a:gd name="T38" fmla="*/ 42 w 4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8">
                  <a:moveTo>
                    <a:pt x="0" y="0"/>
                  </a:moveTo>
                  <a:lnTo>
                    <a:pt x="9" y="44"/>
                  </a:lnTo>
                  <a:lnTo>
                    <a:pt x="25" y="51"/>
                  </a:lnTo>
                  <a:lnTo>
                    <a:pt x="42" y="58"/>
                  </a:lnTo>
                  <a:lnTo>
                    <a:pt x="25" y="51"/>
                  </a:lnTo>
                  <a:lnTo>
                    <a:pt x="9" y="44"/>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8" name="Freeform 38"/>
            <p:cNvSpPr>
              <a:spLocks noChangeAspect="1"/>
            </p:cNvSpPr>
            <p:nvPr/>
          </p:nvSpPr>
          <p:spPr bwMode="auto">
            <a:xfrm>
              <a:off x="5331" y="178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69" name="Freeform 39"/>
            <p:cNvSpPr>
              <a:spLocks noChangeAspect="1"/>
            </p:cNvSpPr>
            <p:nvPr/>
          </p:nvSpPr>
          <p:spPr bwMode="auto">
            <a:xfrm>
              <a:off x="5289" y="2828"/>
              <a:ext cx="93" cy="109"/>
            </a:xfrm>
            <a:custGeom>
              <a:avLst/>
              <a:gdLst>
                <a:gd name="T0" fmla="*/ 42 w 93"/>
                <a:gd name="T1" fmla="*/ 109 h 109"/>
                <a:gd name="T2" fmla="*/ 59 w 93"/>
                <a:gd name="T3" fmla="*/ 109 h 109"/>
                <a:gd name="T4" fmla="*/ 76 w 93"/>
                <a:gd name="T5" fmla="*/ 95 h 109"/>
                <a:gd name="T6" fmla="*/ 93 w 93"/>
                <a:gd name="T7" fmla="*/ 80 h 109"/>
                <a:gd name="T8" fmla="*/ 93 w 93"/>
                <a:gd name="T9" fmla="*/ 58 h 109"/>
                <a:gd name="T10" fmla="*/ 93 w 93"/>
                <a:gd name="T11" fmla="*/ 37 h 109"/>
                <a:gd name="T12" fmla="*/ 76 w 93"/>
                <a:gd name="T13" fmla="*/ 15 h 109"/>
                <a:gd name="T14" fmla="*/ 59 w 93"/>
                <a:gd name="T15" fmla="*/ 8 h 109"/>
                <a:gd name="T16" fmla="*/ 42 w 93"/>
                <a:gd name="T17" fmla="*/ 0 h 109"/>
                <a:gd name="T18" fmla="*/ 25 w 93"/>
                <a:gd name="T19" fmla="*/ 8 h 109"/>
                <a:gd name="T20" fmla="*/ 9 w 93"/>
                <a:gd name="T21" fmla="*/ 15 h 109"/>
                <a:gd name="T22" fmla="*/ 0 w 93"/>
                <a:gd name="T23" fmla="*/ 58 h 109"/>
                <a:gd name="T24" fmla="*/ 9 w 93"/>
                <a:gd name="T25" fmla="*/ 95 h 109"/>
                <a:gd name="T26" fmla="*/ 25 w 93"/>
                <a:gd name="T27" fmla="*/ 109 h 109"/>
                <a:gd name="T28" fmla="*/ 42 w 93"/>
                <a:gd name="T29" fmla="*/ 109 h 109"/>
                <a:gd name="T30" fmla="*/ 42 w 93"/>
                <a:gd name="T31" fmla="*/ 109 h 10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3"/>
                <a:gd name="T49" fmla="*/ 0 h 109"/>
                <a:gd name="T50" fmla="*/ 93 w 93"/>
                <a:gd name="T51" fmla="*/ 109 h 10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3" h="109">
                  <a:moveTo>
                    <a:pt x="42" y="109"/>
                  </a:moveTo>
                  <a:lnTo>
                    <a:pt x="59" y="109"/>
                  </a:lnTo>
                  <a:lnTo>
                    <a:pt x="76" y="95"/>
                  </a:lnTo>
                  <a:lnTo>
                    <a:pt x="93" y="80"/>
                  </a:lnTo>
                  <a:lnTo>
                    <a:pt x="93" y="58"/>
                  </a:lnTo>
                  <a:lnTo>
                    <a:pt x="93" y="37"/>
                  </a:lnTo>
                  <a:lnTo>
                    <a:pt x="76" y="15"/>
                  </a:lnTo>
                  <a:lnTo>
                    <a:pt x="59" y="8"/>
                  </a:lnTo>
                  <a:lnTo>
                    <a:pt x="42" y="0"/>
                  </a:lnTo>
                  <a:lnTo>
                    <a:pt x="25" y="8"/>
                  </a:lnTo>
                  <a:lnTo>
                    <a:pt x="9" y="15"/>
                  </a:lnTo>
                  <a:lnTo>
                    <a:pt x="0" y="58"/>
                  </a:lnTo>
                  <a:lnTo>
                    <a:pt x="9" y="95"/>
                  </a:lnTo>
                  <a:lnTo>
                    <a:pt x="25" y="109"/>
                  </a:lnTo>
                  <a:lnTo>
                    <a:pt x="42" y="109"/>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0" name="Freeform 40"/>
            <p:cNvSpPr>
              <a:spLocks noChangeAspect="1"/>
            </p:cNvSpPr>
            <p:nvPr/>
          </p:nvSpPr>
          <p:spPr bwMode="auto">
            <a:xfrm>
              <a:off x="5331" y="2886"/>
              <a:ext cx="51" cy="51"/>
            </a:xfrm>
            <a:custGeom>
              <a:avLst/>
              <a:gdLst>
                <a:gd name="T0" fmla="*/ 0 w 51"/>
                <a:gd name="T1" fmla="*/ 51 h 51"/>
                <a:gd name="T2" fmla="*/ 17 w 51"/>
                <a:gd name="T3" fmla="*/ 51 h 51"/>
                <a:gd name="T4" fmla="*/ 34 w 51"/>
                <a:gd name="T5" fmla="*/ 37 h 51"/>
                <a:gd name="T6" fmla="*/ 51 w 51"/>
                <a:gd name="T7" fmla="*/ 22 h 51"/>
                <a:gd name="T8" fmla="*/ 51 w 51"/>
                <a:gd name="T9" fmla="*/ 0 h 51"/>
                <a:gd name="T10" fmla="*/ 51 w 51"/>
                <a:gd name="T11" fmla="*/ 0 h 51"/>
                <a:gd name="T12" fmla="*/ 51 w 51"/>
                <a:gd name="T13" fmla="*/ 22 h 51"/>
                <a:gd name="T14" fmla="*/ 34 w 51"/>
                <a:gd name="T15" fmla="*/ 37 h 51"/>
                <a:gd name="T16" fmla="*/ 17 w 51"/>
                <a:gd name="T17" fmla="*/ 51 h 51"/>
                <a:gd name="T18" fmla="*/ 0 w 51"/>
                <a:gd name="T19" fmla="*/ 51 h 51"/>
                <a:gd name="T20" fmla="*/ 0 w 51"/>
                <a:gd name="T21" fmla="*/ 51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
                <a:gd name="T34" fmla="*/ 0 h 51"/>
                <a:gd name="T35" fmla="*/ 51 w 51"/>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 h="51">
                  <a:moveTo>
                    <a:pt x="0" y="51"/>
                  </a:moveTo>
                  <a:lnTo>
                    <a:pt x="17" y="51"/>
                  </a:lnTo>
                  <a:lnTo>
                    <a:pt x="34" y="37"/>
                  </a:lnTo>
                  <a:lnTo>
                    <a:pt x="51" y="22"/>
                  </a:lnTo>
                  <a:lnTo>
                    <a:pt x="51" y="0"/>
                  </a:lnTo>
                  <a:lnTo>
                    <a:pt x="51" y="22"/>
                  </a:lnTo>
                  <a:lnTo>
                    <a:pt x="34" y="37"/>
                  </a:lnTo>
                  <a:lnTo>
                    <a:pt x="17" y="51"/>
                  </a:lnTo>
                  <a:lnTo>
                    <a:pt x="0"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1" name="Freeform 41"/>
            <p:cNvSpPr>
              <a:spLocks noChangeAspect="1" noEditPoints="1"/>
            </p:cNvSpPr>
            <p:nvPr/>
          </p:nvSpPr>
          <p:spPr bwMode="auto">
            <a:xfrm>
              <a:off x="5331" y="2828"/>
              <a:ext cx="51" cy="58"/>
            </a:xfrm>
            <a:custGeom>
              <a:avLst/>
              <a:gdLst>
                <a:gd name="T0" fmla="*/ 51 w 51"/>
                <a:gd name="T1" fmla="*/ 58 h 58"/>
                <a:gd name="T2" fmla="*/ 51 w 51"/>
                <a:gd name="T3" fmla="*/ 37 h 58"/>
                <a:gd name="T4" fmla="*/ 34 w 51"/>
                <a:gd name="T5" fmla="*/ 15 h 58"/>
                <a:gd name="T6" fmla="*/ 17 w 51"/>
                <a:gd name="T7" fmla="*/ 8 h 58"/>
                <a:gd name="T8" fmla="*/ 0 w 51"/>
                <a:gd name="T9" fmla="*/ 0 h 58"/>
                <a:gd name="T10" fmla="*/ 0 w 51"/>
                <a:gd name="T11" fmla="*/ 0 h 58"/>
                <a:gd name="T12" fmla="*/ 17 w 51"/>
                <a:gd name="T13" fmla="*/ 8 h 58"/>
                <a:gd name="T14" fmla="*/ 34 w 51"/>
                <a:gd name="T15" fmla="*/ 15 h 58"/>
                <a:gd name="T16" fmla="*/ 51 w 51"/>
                <a:gd name="T17" fmla="*/ 37 h 58"/>
                <a:gd name="T18" fmla="*/ 51 w 51"/>
                <a:gd name="T19" fmla="*/ 58 h 58"/>
                <a:gd name="T20" fmla="*/ 51 w 51"/>
                <a:gd name="T21" fmla="*/ 58 h 58"/>
                <a:gd name="T22" fmla="*/ 51 w 51"/>
                <a:gd name="T23" fmla="*/ 58 h 58"/>
                <a:gd name="T24" fmla="*/ 51 w 51"/>
                <a:gd name="T25" fmla="*/ 58 h 58"/>
                <a:gd name="T26" fmla="*/ 51 w 51"/>
                <a:gd name="T27" fmla="*/ 58 h 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58"/>
                <a:gd name="T44" fmla="*/ 51 w 51"/>
                <a:gd name="T45" fmla="*/ 58 h 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58">
                  <a:moveTo>
                    <a:pt x="51" y="58"/>
                  </a:moveTo>
                  <a:lnTo>
                    <a:pt x="51" y="37"/>
                  </a:lnTo>
                  <a:lnTo>
                    <a:pt x="34" y="15"/>
                  </a:lnTo>
                  <a:lnTo>
                    <a:pt x="17" y="8"/>
                  </a:lnTo>
                  <a:lnTo>
                    <a:pt x="0" y="0"/>
                  </a:lnTo>
                  <a:lnTo>
                    <a:pt x="17" y="8"/>
                  </a:lnTo>
                  <a:lnTo>
                    <a:pt x="34" y="15"/>
                  </a:lnTo>
                  <a:lnTo>
                    <a:pt x="51" y="37"/>
                  </a:lnTo>
                  <a:lnTo>
                    <a:pt x="51" y="58"/>
                  </a:lnTo>
                  <a:close/>
                  <a:moveTo>
                    <a:pt x="51" y="58"/>
                  </a:moveTo>
                  <a:lnTo>
                    <a:pt x="51"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2" name="Freeform 42"/>
            <p:cNvSpPr>
              <a:spLocks noChangeAspect="1" noEditPoints="1"/>
            </p:cNvSpPr>
            <p:nvPr/>
          </p:nvSpPr>
          <p:spPr bwMode="auto">
            <a:xfrm>
              <a:off x="5289" y="2828"/>
              <a:ext cx="42" cy="58"/>
            </a:xfrm>
            <a:custGeom>
              <a:avLst/>
              <a:gdLst>
                <a:gd name="T0" fmla="*/ 42 w 42"/>
                <a:gd name="T1" fmla="*/ 0 h 58"/>
                <a:gd name="T2" fmla="*/ 25 w 42"/>
                <a:gd name="T3" fmla="*/ 8 h 58"/>
                <a:gd name="T4" fmla="*/ 9 w 42"/>
                <a:gd name="T5" fmla="*/ 15 h 58"/>
                <a:gd name="T6" fmla="*/ 0 w 42"/>
                <a:gd name="T7" fmla="*/ 58 h 58"/>
                <a:gd name="T8" fmla="*/ 0 w 42"/>
                <a:gd name="T9" fmla="*/ 58 h 58"/>
                <a:gd name="T10" fmla="*/ 9 w 42"/>
                <a:gd name="T11" fmla="*/ 15 h 58"/>
                <a:gd name="T12" fmla="*/ 25 w 42"/>
                <a:gd name="T13" fmla="*/ 8 h 58"/>
                <a:gd name="T14" fmla="*/ 42 w 42"/>
                <a:gd name="T15" fmla="*/ 0 h 58"/>
                <a:gd name="T16" fmla="*/ 42 w 42"/>
                <a:gd name="T17" fmla="*/ 0 h 58"/>
                <a:gd name="T18" fmla="*/ 42 w 42"/>
                <a:gd name="T19" fmla="*/ 0 h 58"/>
                <a:gd name="T20" fmla="*/ 42 w 42"/>
                <a:gd name="T21" fmla="*/ 0 h 58"/>
                <a:gd name="T22" fmla="*/ 42 w 42"/>
                <a:gd name="T23" fmla="*/ 0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8"/>
                <a:gd name="T38" fmla="*/ 42 w 4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8">
                  <a:moveTo>
                    <a:pt x="42" y="0"/>
                  </a:moveTo>
                  <a:lnTo>
                    <a:pt x="25" y="8"/>
                  </a:lnTo>
                  <a:lnTo>
                    <a:pt x="9" y="15"/>
                  </a:lnTo>
                  <a:lnTo>
                    <a:pt x="0" y="58"/>
                  </a:lnTo>
                  <a:lnTo>
                    <a:pt x="9" y="15"/>
                  </a:lnTo>
                  <a:lnTo>
                    <a:pt x="25" y="8"/>
                  </a:lnTo>
                  <a:lnTo>
                    <a:pt x="42" y="0"/>
                  </a:lnTo>
                  <a:close/>
                  <a:moveTo>
                    <a:pt x="42" y="0"/>
                  </a:moveTo>
                  <a:lnTo>
                    <a:pt x="4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3" name="Freeform 43"/>
            <p:cNvSpPr>
              <a:spLocks noChangeAspect="1" noEditPoints="1"/>
            </p:cNvSpPr>
            <p:nvPr/>
          </p:nvSpPr>
          <p:spPr bwMode="auto">
            <a:xfrm>
              <a:off x="5289" y="2886"/>
              <a:ext cx="42" cy="51"/>
            </a:xfrm>
            <a:custGeom>
              <a:avLst/>
              <a:gdLst>
                <a:gd name="T0" fmla="*/ 0 w 42"/>
                <a:gd name="T1" fmla="*/ 0 h 51"/>
                <a:gd name="T2" fmla="*/ 9 w 42"/>
                <a:gd name="T3" fmla="*/ 37 h 51"/>
                <a:gd name="T4" fmla="*/ 25 w 42"/>
                <a:gd name="T5" fmla="*/ 51 h 51"/>
                <a:gd name="T6" fmla="*/ 42 w 42"/>
                <a:gd name="T7" fmla="*/ 51 h 51"/>
                <a:gd name="T8" fmla="*/ 42 w 42"/>
                <a:gd name="T9" fmla="*/ 51 h 51"/>
                <a:gd name="T10" fmla="*/ 25 w 42"/>
                <a:gd name="T11" fmla="*/ 51 h 51"/>
                <a:gd name="T12" fmla="*/ 9 w 42"/>
                <a:gd name="T13" fmla="*/ 37 h 51"/>
                <a:gd name="T14" fmla="*/ 0 w 42"/>
                <a:gd name="T15" fmla="*/ 0 h 51"/>
                <a:gd name="T16" fmla="*/ 0 w 42"/>
                <a:gd name="T17" fmla="*/ 0 h 51"/>
                <a:gd name="T18" fmla="*/ 0 w 42"/>
                <a:gd name="T19" fmla="*/ 0 h 51"/>
                <a:gd name="T20" fmla="*/ 0 w 42"/>
                <a:gd name="T21" fmla="*/ 0 h 51"/>
                <a:gd name="T22" fmla="*/ 0 w 42"/>
                <a:gd name="T23" fmla="*/ 0 h 5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51"/>
                <a:gd name="T38" fmla="*/ 42 w 42"/>
                <a:gd name="T39" fmla="*/ 51 h 5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51">
                  <a:moveTo>
                    <a:pt x="0" y="0"/>
                  </a:moveTo>
                  <a:lnTo>
                    <a:pt x="9" y="37"/>
                  </a:lnTo>
                  <a:lnTo>
                    <a:pt x="25" y="51"/>
                  </a:lnTo>
                  <a:lnTo>
                    <a:pt x="42" y="51"/>
                  </a:lnTo>
                  <a:lnTo>
                    <a:pt x="25" y="51"/>
                  </a:lnTo>
                  <a:lnTo>
                    <a:pt x="9" y="37"/>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4" name="Freeform 44"/>
            <p:cNvSpPr>
              <a:spLocks noChangeAspect="1"/>
            </p:cNvSpPr>
            <p:nvPr/>
          </p:nvSpPr>
          <p:spPr bwMode="auto">
            <a:xfrm>
              <a:off x="5331" y="2937"/>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5" name="Freeform 45"/>
            <p:cNvSpPr>
              <a:spLocks noChangeAspect="1" noEditPoints="1"/>
            </p:cNvSpPr>
            <p:nvPr/>
          </p:nvSpPr>
          <p:spPr bwMode="auto">
            <a:xfrm>
              <a:off x="5483" y="1676"/>
              <a:ext cx="92" cy="108"/>
            </a:xfrm>
            <a:custGeom>
              <a:avLst/>
              <a:gdLst>
                <a:gd name="T0" fmla="*/ 92 w 92"/>
                <a:gd name="T1" fmla="*/ 79 h 108"/>
                <a:gd name="T2" fmla="*/ 84 w 92"/>
                <a:gd name="T3" fmla="*/ 87 h 108"/>
                <a:gd name="T4" fmla="*/ 75 w 92"/>
                <a:gd name="T5" fmla="*/ 94 h 108"/>
                <a:gd name="T6" fmla="*/ 75 w 92"/>
                <a:gd name="T7" fmla="*/ 94 h 108"/>
                <a:gd name="T8" fmla="*/ 67 w 92"/>
                <a:gd name="T9" fmla="*/ 94 h 108"/>
                <a:gd name="T10" fmla="*/ 67 w 92"/>
                <a:gd name="T11" fmla="*/ 87 h 108"/>
                <a:gd name="T12" fmla="*/ 75 w 92"/>
                <a:gd name="T13" fmla="*/ 79 h 108"/>
                <a:gd name="T14" fmla="*/ 84 w 92"/>
                <a:gd name="T15" fmla="*/ 43 h 108"/>
                <a:gd name="T16" fmla="*/ 92 w 92"/>
                <a:gd name="T17" fmla="*/ 14 h 108"/>
                <a:gd name="T18" fmla="*/ 92 w 92"/>
                <a:gd name="T19" fmla="*/ 7 h 108"/>
                <a:gd name="T20" fmla="*/ 92 w 92"/>
                <a:gd name="T21" fmla="*/ 0 h 108"/>
                <a:gd name="T22" fmla="*/ 92 w 92"/>
                <a:gd name="T23" fmla="*/ 0 h 108"/>
                <a:gd name="T24" fmla="*/ 75 w 92"/>
                <a:gd name="T25" fmla="*/ 0 h 108"/>
                <a:gd name="T26" fmla="*/ 75 w 92"/>
                <a:gd name="T27" fmla="*/ 0 h 108"/>
                <a:gd name="T28" fmla="*/ 75 w 92"/>
                <a:gd name="T29" fmla="*/ 14 h 108"/>
                <a:gd name="T30" fmla="*/ 75 w 92"/>
                <a:gd name="T31" fmla="*/ 14 h 108"/>
                <a:gd name="T32" fmla="*/ 67 w 92"/>
                <a:gd name="T33" fmla="*/ 7 h 108"/>
                <a:gd name="T34" fmla="*/ 59 w 92"/>
                <a:gd name="T35" fmla="*/ 0 h 108"/>
                <a:gd name="T36" fmla="*/ 42 w 92"/>
                <a:gd name="T37" fmla="*/ 7 h 108"/>
                <a:gd name="T38" fmla="*/ 16 w 92"/>
                <a:gd name="T39" fmla="*/ 29 h 108"/>
                <a:gd name="T40" fmla="*/ 8 w 92"/>
                <a:gd name="T41" fmla="*/ 50 h 108"/>
                <a:gd name="T42" fmla="*/ 0 w 92"/>
                <a:gd name="T43" fmla="*/ 79 h 108"/>
                <a:gd name="T44" fmla="*/ 0 w 92"/>
                <a:gd name="T45" fmla="*/ 94 h 108"/>
                <a:gd name="T46" fmla="*/ 8 w 92"/>
                <a:gd name="T47" fmla="*/ 108 h 108"/>
                <a:gd name="T48" fmla="*/ 16 w 92"/>
                <a:gd name="T49" fmla="*/ 108 h 108"/>
                <a:gd name="T50" fmla="*/ 42 w 92"/>
                <a:gd name="T51" fmla="*/ 101 h 108"/>
                <a:gd name="T52" fmla="*/ 50 w 92"/>
                <a:gd name="T53" fmla="*/ 94 h 108"/>
                <a:gd name="T54" fmla="*/ 59 w 92"/>
                <a:gd name="T55" fmla="*/ 72 h 108"/>
                <a:gd name="T56" fmla="*/ 59 w 92"/>
                <a:gd name="T57" fmla="*/ 72 h 108"/>
                <a:gd name="T58" fmla="*/ 59 w 92"/>
                <a:gd name="T59" fmla="*/ 87 h 108"/>
                <a:gd name="T60" fmla="*/ 59 w 92"/>
                <a:gd name="T61" fmla="*/ 94 h 108"/>
                <a:gd name="T62" fmla="*/ 59 w 92"/>
                <a:gd name="T63" fmla="*/ 101 h 108"/>
                <a:gd name="T64" fmla="*/ 67 w 92"/>
                <a:gd name="T65" fmla="*/ 108 h 108"/>
                <a:gd name="T66" fmla="*/ 84 w 92"/>
                <a:gd name="T67" fmla="*/ 101 h 108"/>
                <a:gd name="T68" fmla="*/ 92 w 92"/>
                <a:gd name="T69" fmla="*/ 79 h 108"/>
                <a:gd name="T70" fmla="*/ 92 w 92"/>
                <a:gd name="T71" fmla="*/ 79 h 108"/>
                <a:gd name="T72" fmla="*/ 16 w 92"/>
                <a:gd name="T73" fmla="*/ 79 h 108"/>
                <a:gd name="T74" fmla="*/ 16 w 92"/>
                <a:gd name="T75" fmla="*/ 58 h 108"/>
                <a:gd name="T76" fmla="*/ 25 w 92"/>
                <a:gd name="T77" fmla="*/ 36 h 108"/>
                <a:gd name="T78" fmla="*/ 42 w 92"/>
                <a:gd name="T79" fmla="*/ 14 h 108"/>
                <a:gd name="T80" fmla="*/ 59 w 92"/>
                <a:gd name="T81" fmla="*/ 7 h 108"/>
                <a:gd name="T82" fmla="*/ 67 w 92"/>
                <a:gd name="T83" fmla="*/ 7 h 108"/>
                <a:gd name="T84" fmla="*/ 67 w 92"/>
                <a:gd name="T85" fmla="*/ 21 h 108"/>
                <a:gd name="T86" fmla="*/ 67 w 92"/>
                <a:gd name="T87" fmla="*/ 43 h 108"/>
                <a:gd name="T88" fmla="*/ 59 w 92"/>
                <a:gd name="T89" fmla="*/ 65 h 108"/>
                <a:gd name="T90" fmla="*/ 42 w 92"/>
                <a:gd name="T91" fmla="*/ 87 h 108"/>
                <a:gd name="T92" fmla="*/ 25 w 92"/>
                <a:gd name="T93" fmla="*/ 94 h 108"/>
                <a:gd name="T94" fmla="*/ 25 w 92"/>
                <a:gd name="T95" fmla="*/ 94 h 108"/>
                <a:gd name="T96" fmla="*/ 16 w 92"/>
                <a:gd name="T97" fmla="*/ 79 h 108"/>
                <a:gd name="T98" fmla="*/ 16 w 92"/>
                <a:gd name="T99" fmla="*/ 79 h 10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2"/>
                <a:gd name="T151" fmla="*/ 0 h 108"/>
                <a:gd name="T152" fmla="*/ 92 w 92"/>
                <a:gd name="T153" fmla="*/ 108 h 10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2" h="108">
                  <a:moveTo>
                    <a:pt x="92" y="79"/>
                  </a:moveTo>
                  <a:lnTo>
                    <a:pt x="84" y="87"/>
                  </a:lnTo>
                  <a:lnTo>
                    <a:pt x="75" y="94"/>
                  </a:lnTo>
                  <a:lnTo>
                    <a:pt x="67" y="94"/>
                  </a:lnTo>
                  <a:lnTo>
                    <a:pt x="67" y="87"/>
                  </a:lnTo>
                  <a:lnTo>
                    <a:pt x="75" y="79"/>
                  </a:lnTo>
                  <a:lnTo>
                    <a:pt x="84" y="43"/>
                  </a:lnTo>
                  <a:lnTo>
                    <a:pt x="92" y="14"/>
                  </a:lnTo>
                  <a:lnTo>
                    <a:pt x="92" y="7"/>
                  </a:lnTo>
                  <a:lnTo>
                    <a:pt x="92" y="0"/>
                  </a:lnTo>
                  <a:lnTo>
                    <a:pt x="75" y="0"/>
                  </a:lnTo>
                  <a:lnTo>
                    <a:pt x="75" y="14"/>
                  </a:lnTo>
                  <a:lnTo>
                    <a:pt x="67" y="7"/>
                  </a:lnTo>
                  <a:lnTo>
                    <a:pt x="59" y="0"/>
                  </a:lnTo>
                  <a:lnTo>
                    <a:pt x="42" y="7"/>
                  </a:lnTo>
                  <a:lnTo>
                    <a:pt x="16" y="29"/>
                  </a:lnTo>
                  <a:lnTo>
                    <a:pt x="8" y="50"/>
                  </a:lnTo>
                  <a:lnTo>
                    <a:pt x="0" y="79"/>
                  </a:lnTo>
                  <a:lnTo>
                    <a:pt x="0" y="94"/>
                  </a:lnTo>
                  <a:lnTo>
                    <a:pt x="8" y="108"/>
                  </a:lnTo>
                  <a:lnTo>
                    <a:pt x="16" y="108"/>
                  </a:lnTo>
                  <a:lnTo>
                    <a:pt x="42" y="101"/>
                  </a:lnTo>
                  <a:lnTo>
                    <a:pt x="50" y="94"/>
                  </a:lnTo>
                  <a:lnTo>
                    <a:pt x="59" y="72"/>
                  </a:lnTo>
                  <a:lnTo>
                    <a:pt x="59" y="87"/>
                  </a:lnTo>
                  <a:lnTo>
                    <a:pt x="59" y="94"/>
                  </a:lnTo>
                  <a:lnTo>
                    <a:pt x="59" y="101"/>
                  </a:lnTo>
                  <a:lnTo>
                    <a:pt x="67" y="108"/>
                  </a:lnTo>
                  <a:lnTo>
                    <a:pt x="84" y="101"/>
                  </a:lnTo>
                  <a:lnTo>
                    <a:pt x="92" y="79"/>
                  </a:lnTo>
                  <a:close/>
                  <a:moveTo>
                    <a:pt x="16" y="79"/>
                  </a:moveTo>
                  <a:lnTo>
                    <a:pt x="16" y="58"/>
                  </a:lnTo>
                  <a:lnTo>
                    <a:pt x="25" y="36"/>
                  </a:lnTo>
                  <a:lnTo>
                    <a:pt x="42" y="14"/>
                  </a:lnTo>
                  <a:lnTo>
                    <a:pt x="59" y="7"/>
                  </a:lnTo>
                  <a:lnTo>
                    <a:pt x="67" y="7"/>
                  </a:lnTo>
                  <a:lnTo>
                    <a:pt x="67" y="21"/>
                  </a:lnTo>
                  <a:lnTo>
                    <a:pt x="67" y="43"/>
                  </a:lnTo>
                  <a:lnTo>
                    <a:pt x="59" y="65"/>
                  </a:lnTo>
                  <a:lnTo>
                    <a:pt x="42" y="87"/>
                  </a:lnTo>
                  <a:lnTo>
                    <a:pt x="25" y="94"/>
                  </a:lnTo>
                  <a:lnTo>
                    <a:pt x="16" y="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6" name="Freeform 46"/>
            <p:cNvSpPr>
              <a:spLocks noChangeAspect="1" noEditPoints="1"/>
            </p:cNvSpPr>
            <p:nvPr/>
          </p:nvSpPr>
          <p:spPr bwMode="auto">
            <a:xfrm>
              <a:off x="5483" y="2799"/>
              <a:ext cx="92" cy="167"/>
            </a:xfrm>
            <a:custGeom>
              <a:avLst/>
              <a:gdLst>
                <a:gd name="T0" fmla="*/ 75 w 92"/>
                <a:gd name="T1" fmla="*/ 87 h 167"/>
                <a:gd name="T2" fmla="*/ 75 w 92"/>
                <a:gd name="T3" fmla="*/ 109 h 167"/>
                <a:gd name="T4" fmla="*/ 67 w 92"/>
                <a:gd name="T5" fmla="*/ 131 h 167"/>
                <a:gd name="T6" fmla="*/ 50 w 92"/>
                <a:gd name="T7" fmla="*/ 153 h 167"/>
                <a:gd name="T8" fmla="*/ 25 w 92"/>
                <a:gd name="T9" fmla="*/ 160 h 167"/>
                <a:gd name="T10" fmla="*/ 16 w 92"/>
                <a:gd name="T11" fmla="*/ 160 h 167"/>
                <a:gd name="T12" fmla="*/ 16 w 92"/>
                <a:gd name="T13" fmla="*/ 153 h 167"/>
                <a:gd name="T14" fmla="*/ 25 w 92"/>
                <a:gd name="T15" fmla="*/ 124 h 167"/>
                <a:gd name="T16" fmla="*/ 33 w 92"/>
                <a:gd name="T17" fmla="*/ 102 h 167"/>
                <a:gd name="T18" fmla="*/ 42 w 92"/>
                <a:gd name="T19" fmla="*/ 73 h 167"/>
                <a:gd name="T20" fmla="*/ 59 w 92"/>
                <a:gd name="T21" fmla="*/ 66 h 167"/>
                <a:gd name="T22" fmla="*/ 75 w 92"/>
                <a:gd name="T23" fmla="*/ 73 h 167"/>
                <a:gd name="T24" fmla="*/ 75 w 92"/>
                <a:gd name="T25" fmla="*/ 87 h 167"/>
                <a:gd name="T26" fmla="*/ 75 w 92"/>
                <a:gd name="T27" fmla="*/ 87 h 167"/>
                <a:gd name="T28" fmla="*/ 16 w 92"/>
                <a:gd name="T29" fmla="*/ 8 h 167"/>
                <a:gd name="T30" fmla="*/ 33 w 92"/>
                <a:gd name="T31" fmla="*/ 8 h 167"/>
                <a:gd name="T32" fmla="*/ 33 w 92"/>
                <a:gd name="T33" fmla="*/ 15 h 167"/>
                <a:gd name="T34" fmla="*/ 33 w 92"/>
                <a:gd name="T35" fmla="*/ 22 h 167"/>
                <a:gd name="T36" fmla="*/ 25 w 92"/>
                <a:gd name="T37" fmla="*/ 29 h 167"/>
                <a:gd name="T38" fmla="*/ 0 w 92"/>
                <a:gd name="T39" fmla="*/ 153 h 167"/>
                <a:gd name="T40" fmla="*/ 0 w 92"/>
                <a:gd name="T41" fmla="*/ 153 h 167"/>
                <a:gd name="T42" fmla="*/ 8 w 92"/>
                <a:gd name="T43" fmla="*/ 160 h 167"/>
                <a:gd name="T44" fmla="*/ 25 w 92"/>
                <a:gd name="T45" fmla="*/ 167 h 167"/>
                <a:gd name="T46" fmla="*/ 50 w 92"/>
                <a:gd name="T47" fmla="*/ 160 h 167"/>
                <a:gd name="T48" fmla="*/ 75 w 92"/>
                <a:gd name="T49" fmla="*/ 138 h 167"/>
                <a:gd name="T50" fmla="*/ 84 w 92"/>
                <a:gd name="T51" fmla="*/ 116 h 167"/>
                <a:gd name="T52" fmla="*/ 92 w 92"/>
                <a:gd name="T53" fmla="*/ 87 h 167"/>
                <a:gd name="T54" fmla="*/ 84 w 92"/>
                <a:gd name="T55" fmla="*/ 66 h 167"/>
                <a:gd name="T56" fmla="*/ 67 w 92"/>
                <a:gd name="T57" fmla="*/ 58 h 167"/>
                <a:gd name="T58" fmla="*/ 59 w 92"/>
                <a:gd name="T59" fmla="*/ 66 h 167"/>
                <a:gd name="T60" fmla="*/ 42 w 92"/>
                <a:gd name="T61" fmla="*/ 73 h 167"/>
                <a:gd name="T62" fmla="*/ 33 w 92"/>
                <a:gd name="T63" fmla="*/ 95 h 167"/>
                <a:gd name="T64" fmla="*/ 33 w 92"/>
                <a:gd name="T65" fmla="*/ 95 h 167"/>
                <a:gd name="T66" fmla="*/ 42 w 92"/>
                <a:gd name="T67" fmla="*/ 44 h 167"/>
                <a:gd name="T68" fmla="*/ 42 w 92"/>
                <a:gd name="T69" fmla="*/ 22 h 167"/>
                <a:gd name="T70" fmla="*/ 50 w 92"/>
                <a:gd name="T71" fmla="*/ 0 h 167"/>
                <a:gd name="T72" fmla="*/ 50 w 92"/>
                <a:gd name="T73" fmla="*/ 0 h 167"/>
                <a:gd name="T74" fmla="*/ 33 w 92"/>
                <a:gd name="T75" fmla="*/ 0 h 167"/>
                <a:gd name="T76" fmla="*/ 16 w 92"/>
                <a:gd name="T77" fmla="*/ 8 h 167"/>
                <a:gd name="T78" fmla="*/ 16 w 92"/>
                <a:gd name="T79" fmla="*/ 8 h 16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2"/>
                <a:gd name="T121" fmla="*/ 0 h 167"/>
                <a:gd name="T122" fmla="*/ 92 w 92"/>
                <a:gd name="T123" fmla="*/ 167 h 16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2" h="167">
                  <a:moveTo>
                    <a:pt x="75" y="87"/>
                  </a:moveTo>
                  <a:lnTo>
                    <a:pt x="75" y="109"/>
                  </a:lnTo>
                  <a:lnTo>
                    <a:pt x="67" y="131"/>
                  </a:lnTo>
                  <a:lnTo>
                    <a:pt x="50" y="153"/>
                  </a:lnTo>
                  <a:lnTo>
                    <a:pt x="25" y="160"/>
                  </a:lnTo>
                  <a:lnTo>
                    <a:pt x="16" y="160"/>
                  </a:lnTo>
                  <a:lnTo>
                    <a:pt x="16" y="153"/>
                  </a:lnTo>
                  <a:lnTo>
                    <a:pt x="25" y="124"/>
                  </a:lnTo>
                  <a:lnTo>
                    <a:pt x="33" y="102"/>
                  </a:lnTo>
                  <a:lnTo>
                    <a:pt x="42" y="73"/>
                  </a:lnTo>
                  <a:lnTo>
                    <a:pt x="59" y="66"/>
                  </a:lnTo>
                  <a:lnTo>
                    <a:pt x="75" y="73"/>
                  </a:lnTo>
                  <a:lnTo>
                    <a:pt x="75" y="87"/>
                  </a:lnTo>
                  <a:close/>
                  <a:moveTo>
                    <a:pt x="16" y="8"/>
                  </a:moveTo>
                  <a:lnTo>
                    <a:pt x="33" y="8"/>
                  </a:lnTo>
                  <a:lnTo>
                    <a:pt x="33" y="15"/>
                  </a:lnTo>
                  <a:lnTo>
                    <a:pt x="33" y="22"/>
                  </a:lnTo>
                  <a:lnTo>
                    <a:pt x="25" y="29"/>
                  </a:lnTo>
                  <a:lnTo>
                    <a:pt x="0" y="153"/>
                  </a:lnTo>
                  <a:lnTo>
                    <a:pt x="8" y="160"/>
                  </a:lnTo>
                  <a:lnTo>
                    <a:pt x="25" y="167"/>
                  </a:lnTo>
                  <a:lnTo>
                    <a:pt x="50" y="160"/>
                  </a:lnTo>
                  <a:lnTo>
                    <a:pt x="75" y="138"/>
                  </a:lnTo>
                  <a:lnTo>
                    <a:pt x="84" y="116"/>
                  </a:lnTo>
                  <a:lnTo>
                    <a:pt x="92" y="87"/>
                  </a:lnTo>
                  <a:lnTo>
                    <a:pt x="84" y="66"/>
                  </a:lnTo>
                  <a:lnTo>
                    <a:pt x="67" y="58"/>
                  </a:lnTo>
                  <a:lnTo>
                    <a:pt x="59" y="66"/>
                  </a:lnTo>
                  <a:lnTo>
                    <a:pt x="42" y="73"/>
                  </a:lnTo>
                  <a:lnTo>
                    <a:pt x="33" y="95"/>
                  </a:lnTo>
                  <a:lnTo>
                    <a:pt x="42" y="44"/>
                  </a:lnTo>
                  <a:lnTo>
                    <a:pt x="42" y="22"/>
                  </a:lnTo>
                  <a:lnTo>
                    <a:pt x="50" y="0"/>
                  </a:lnTo>
                  <a:lnTo>
                    <a:pt x="33" y="0"/>
                  </a:lnTo>
                  <a:lnTo>
                    <a:pt x="16" y="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7" name="Freeform 47"/>
            <p:cNvSpPr>
              <a:spLocks noChangeAspect="1"/>
            </p:cNvSpPr>
            <p:nvPr/>
          </p:nvSpPr>
          <p:spPr bwMode="auto">
            <a:xfrm>
              <a:off x="2624" y="2306"/>
              <a:ext cx="428" cy="1"/>
            </a:xfrm>
            <a:custGeom>
              <a:avLst/>
              <a:gdLst>
                <a:gd name="T0" fmla="*/ 0 w 428"/>
                <a:gd name="T1" fmla="*/ 0 h 1"/>
                <a:gd name="T2" fmla="*/ 428 w 428"/>
                <a:gd name="T3" fmla="*/ 0 h 1"/>
                <a:gd name="T4" fmla="*/ 0 w 428"/>
                <a:gd name="T5" fmla="*/ 0 h 1"/>
                <a:gd name="T6" fmla="*/ 0 w 428"/>
                <a:gd name="T7" fmla="*/ 0 h 1"/>
                <a:gd name="T8" fmla="*/ 0 60000 65536"/>
                <a:gd name="T9" fmla="*/ 0 60000 65536"/>
                <a:gd name="T10" fmla="*/ 0 60000 65536"/>
                <a:gd name="T11" fmla="*/ 0 60000 65536"/>
                <a:gd name="T12" fmla="*/ 0 w 428"/>
                <a:gd name="T13" fmla="*/ 0 h 1"/>
                <a:gd name="T14" fmla="*/ 428 w 428"/>
                <a:gd name="T15" fmla="*/ 1 h 1"/>
              </a:gdLst>
              <a:ahLst/>
              <a:cxnLst>
                <a:cxn ang="T8">
                  <a:pos x="T0" y="T1"/>
                </a:cxn>
                <a:cxn ang="T9">
                  <a:pos x="T2" y="T3"/>
                </a:cxn>
                <a:cxn ang="T10">
                  <a:pos x="T4" y="T5"/>
                </a:cxn>
                <a:cxn ang="T11">
                  <a:pos x="T6" y="T7"/>
                </a:cxn>
              </a:cxnLst>
              <a:rect l="T12" t="T13" r="T14" b="T15"/>
              <a:pathLst>
                <a:path w="428" h="1">
                  <a:moveTo>
                    <a:pt x="0" y="0"/>
                  </a:moveTo>
                  <a:lnTo>
                    <a:pt x="428" y="0"/>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8" name="Freeform 48"/>
            <p:cNvSpPr>
              <a:spLocks noChangeAspect="1"/>
            </p:cNvSpPr>
            <p:nvPr/>
          </p:nvSpPr>
          <p:spPr bwMode="auto">
            <a:xfrm>
              <a:off x="2497" y="2256"/>
              <a:ext cx="152" cy="101"/>
            </a:xfrm>
            <a:custGeom>
              <a:avLst/>
              <a:gdLst>
                <a:gd name="T0" fmla="*/ 152 w 152"/>
                <a:gd name="T1" fmla="*/ 0 h 101"/>
                <a:gd name="T2" fmla="*/ 0 w 152"/>
                <a:gd name="T3" fmla="*/ 50 h 101"/>
                <a:gd name="T4" fmla="*/ 152 w 152"/>
                <a:gd name="T5" fmla="*/ 101 h 101"/>
                <a:gd name="T6" fmla="*/ 152 w 152"/>
                <a:gd name="T7" fmla="*/ 0 h 101"/>
                <a:gd name="T8" fmla="*/ 152 w 152"/>
                <a:gd name="T9" fmla="*/ 0 h 101"/>
                <a:gd name="T10" fmla="*/ 0 60000 65536"/>
                <a:gd name="T11" fmla="*/ 0 60000 65536"/>
                <a:gd name="T12" fmla="*/ 0 60000 65536"/>
                <a:gd name="T13" fmla="*/ 0 60000 65536"/>
                <a:gd name="T14" fmla="*/ 0 60000 65536"/>
                <a:gd name="T15" fmla="*/ 0 w 152"/>
                <a:gd name="T16" fmla="*/ 0 h 101"/>
                <a:gd name="T17" fmla="*/ 152 w 152"/>
                <a:gd name="T18" fmla="*/ 101 h 101"/>
              </a:gdLst>
              <a:ahLst/>
              <a:cxnLst>
                <a:cxn ang="T10">
                  <a:pos x="T0" y="T1"/>
                </a:cxn>
                <a:cxn ang="T11">
                  <a:pos x="T2" y="T3"/>
                </a:cxn>
                <a:cxn ang="T12">
                  <a:pos x="T4" y="T5"/>
                </a:cxn>
                <a:cxn ang="T13">
                  <a:pos x="T6" y="T7"/>
                </a:cxn>
                <a:cxn ang="T14">
                  <a:pos x="T8" y="T9"/>
                </a:cxn>
              </a:cxnLst>
              <a:rect l="T15" t="T16" r="T17" b="T18"/>
              <a:pathLst>
                <a:path w="152" h="101">
                  <a:moveTo>
                    <a:pt x="152" y="0"/>
                  </a:moveTo>
                  <a:lnTo>
                    <a:pt x="0" y="50"/>
                  </a:lnTo>
                  <a:lnTo>
                    <a:pt x="152" y="101"/>
                  </a:lnTo>
                  <a:lnTo>
                    <a:pt x="152"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79" name="Freeform 49"/>
            <p:cNvSpPr>
              <a:spLocks noChangeAspect="1"/>
            </p:cNvSpPr>
            <p:nvPr/>
          </p:nvSpPr>
          <p:spPr bwMode="auto">
            <a:xfrm>
              <a:off x="3027" y="2256"/>
              <a:ext cx="152" cy="101"/>
            </a:xfrm>
            <a:custGeom>
              <a:avLst/>
              <a:gdLst>
                <a:gd name="T0" fmla="*/ 0 w 152"/>
                <a:gd name="T1" fmla="*/ 101 h 101"/>
                <a:gd name="T2" fmla="*/ 152 w 152"/>
                <a:gd name="T3" fmla="*/ 50 h 101"/>
                <a:gd name="T4" fmla="*/ 0 w 152"/>
                <a:gd name="T5" fmla="*/ 0 h 101"/>
                <a:gd name="T6" fmla="*/ 0 w 152"/>
                <a:gd name="T7" fmla="*/ 101 h 101"/>
                <a:gd name="T8" fmla="*/ 0 w 152"/>
                <a:gd name="T9" fmla="*/ 101 h 101"/>
                <a:gd name="T10" fmla="*/ 0 60000 65536"/>
                <a:gd name="T11" fmla="*/ 0 60000 65536"/>
                <a:gd name="T12" fmla="*/ 0 60000 65536"/>
                <a:gd name="T13" fmla="*/ 0 60000 65536"/>
                <a:gd name="T14" fmla="*/ 0 60000 65536"/>
                <a:gd name="T15" fmla="*/ 0 w 152"/>
                <a:gd name="T16" fmla="*/ 0 h 101"/>
                <a:gd name="T17" fmla="*/ 152 w 152"/>
                <a:gd name="T18" fmla="*/ 101 h 101"/>
              </a:gdLst>
              <a:ahLst/>
              <a:cxnLst>
                <a:cxn ang="T10">
                  <a:pos x="T0" y="T1"/>
                </a:cxn>
                <a:cxn ang="T11">
                  <a:pos x="T2" y="T3"/>
                </a:cxn>
                <a:cxn ang="T12">
                  <a:pos x="T4" y="T5"/>
                </a:cxn>
                <a:cxn ang="T13">
                  <a:pos x="T6" y="T7"/>
                </a:cxn>
                <a:cxn ang="T14">
                  <a:pos x="T8" y="T9"/>
                </a:cxn>
              </a:cxnLst>
              <a:rect l="T15" t="T16" r="T17" b="T18"/>
              <a:pathLst>
                <a:path w="152" h="101">
                  <a:moveTo>
                    <a:pt x="0" y="101"/>
                  </a:moveTo>
                  <a:lnTo>
                    <a:pt x="152" y="50"/>
                  </a:lnTo>
                  <a:lnTo>
                    <a:pt x="0" y="0"/>
                  </a:lnTo>
                  <a:lnTo>
                    <a:pt x="0" y="101"/>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0" name="Freeform 50"/>
            <p:cNvSpPr>
              <a:spLocks noChangeAspect="1"/>
            </p:cNvSpPr>
            <p:nvPr/>
          </p:nvSpPr>
          <p:spPr bwMode="auto">
            <a:xfrm>
              <a:off x="3515" y="2031"/>
              <a:ext cx="454" cy="536"/>
            </a:xfrm>
            <a:custGeom>
              <a:avLst/>
              <a:gdLst>
                <a:gd name="T0" fmla="*/ 454 w 454"/>
                <a:gd name="T1" fmla="*/ 268 h 536"/>
                <a:gd name="T2" fmla="*/ 227 w 454"/>
                <a:gd name="T3" fmla="*/ 0 h 536"/>
                <a:gd name="T4" fmla="*/ 0 w 454"/>
                <a:gd name="T5" fmla="*/ 268 h 536"/>
                <a:gd name="T6" fmla="*/ 227 w 454"/>
                <a:gd name="T7" fmla="*/ 536 h 536"/>
                <a:gd name="T8" fmla="*/ 454 w 454"/>
                <a:gd name="T9" fmla="*/ 268 h 536"/>
                <a:gd name="T10" fmla="*/ 454 w 454"/>
                <a:gd name="T11" fmla="*/ 268 h 536"/>
                <a:gd name="T12" fmla="*/ 0 60000 65536"/>
                <a:gd name="T13" fmla="*/ 0 60000 65536"/>
                <a:gd name="T14" fmla="*/ 0 60000 65536"/>
                <a:gd name="T15" fmla="*/ 0 60000 65536"/>
                <a:gd name="T16" fmla="*/ 0 60000 65536"/>
                <a:gd name="T17" fmla="*/ 0 60000 65536"/>
                <a:gd name="T18" fmla="*/ 0 w 454"/>
                <a:gd name="T19" fmla="*/ 0 h 536"/>
                <a:gd name="T20" fmla="*/ 454 w 454"/>
                <a:gd name="T21" fmla="*/ 536 h 536"/>
              </a:gdLst>
              <a:ahLst/>
              <a:cxnLst>
                <a:cxn ang="T12">
                  <a:pos x="T0" y="T1"/>
                </a:cxn>
                <a:cxn ang="T13">
                  <a:pos x="T2" y="T3"/>
                </a:cxn>
                <a:cxn ang="T14">
                  <a:pos x="T4" y="T5"/>
                </a:cxn>
                <a:cxn ang="T15">
                  <a:pos x="T6" y="T7"/>
                </a:cxn>
                <a:cxn ang="T16">
                  <a:pos x="T8" y="T9"/>
                </a:cxn>
                <a:cxn ang="T17">
                  <a:pos x="T10" y="T11"/>
                </a:cxn>
              </a:cxnLst>
              <a:rect l="T18" t="T19" r="T20" b="T21"/>
              <a:pathLst>
                <a:path w="454" h="536">
                  <a:moveTo>
                    <a:pt x="454" y="268"/>
                  </a:moveTo>
                  <a:lnTo>
                    <a:pt x="227" y="0"/>
                  </a:lnTo>
                  <a:lnTo>
                    <a:pt x="0" y="268"/>
                  </a:lnTo>
                  <a:lnTo>
                    <a:pt x="227" y="536"/>
                  </a:lnTo>
                  <a:lnTo>
                    <a:pt x="454" y="268"/>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1" name="Freeform 51"/>
            <p:cNvSpPr>
              <a:spLocks noChangeAspect="1"/>
            </p:cNvSpPr>
            <p:nvPr/>
          </p:nvSpPr>
          <p:spPr bwMode="auto">
            <a:xfrm>
              <a:off x="3742" y="2031"/>
              <a:ext cx="227" cy="268"/>
            </a:xfrm>
            <a:custGeom>
              <a:avLst/>
              <a:gdLst>
                <a:gd name="T0" fmla="*/ 227 w 227"/>
                <a:gd name="T1" fmla="*/ 268 h 268"/>
                <a:gd name="T2" fmla="*/ 0 w 227"/>
                <a:gd name="T3" fmla="*/ 0 h 268"/>
                <a:gd name="T4" fmla="*/ 227 w 227"/>
                <a:gd name="T5" fmla="*/ 268 h 268"/>
                <a:gd name="T6" fmla="*/ 227 w 227"/>
                <a:gd name="T7" fmla="*/ 268 h 268"/>
                <a:gd name="T8" fmla="*/ 0 60000 65536"/>
                <a:gd name="T9" fmla="*/ 0 60000 65536"/>
                <a:gd name="T10" fmla="*/ 0 60000 65536"/>
                <a:gd name="T11" fmla="*/ 0 60000 65536"/>
                <a:gd name="T12" fmla="*/ 0 w 227"/>
                <a:gd name="T13" fmla="*/ 0 h 268"/>
                <a:gd name="T14" fmla="*/ 227 w 227"/>
                <a:gd name="T15" fmla="*/ 268 h 268"/>
              </a:gdLst>
              <a:ahLst/>
              <a:cxnLst>
                <a:cxn ang="T8">
                  <a:pos x="T0" y="T1"/>
                </a:cxn>
                <a:cxn ang="T9">
                  <a:pos x="T2" y="T3"/>
                </a:cxn>
                <a:cxn ang="T10">
                  <a:pos x="T4" y="T5"/>
                </a:cxn>
                <a:cxn ang="T11">
                  <a:pos x="T6" y="T7"/>
                </a:cxn>
              </a:cxnLst>
              <a:rect l="T12" t="T13" r="T14" b="T15"/>
              <a:pathLst>
                <a:path w="227" h="268">
                  <a:moveTo>
                    <a:pt x="227" y="268"/>
                  </a:moveTo>
                  <a:lnTo>
                    <a:pt x="0" y="0"/>
                  </a:lnTo>
                  <a:lnTo>
                    <a:pt x="227" y="26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2" name="Freeform 52"/>
            <p:cNvSpPr>
              <a:spLocks noChangeAspect="1" noEditPoints="1"/>
            </p:cNvSpPr>
            <p:nvPr/>
          </p:nvSpPr>
          <p:spPr bwMode="auto">
            <a:xfrm>
              <a:off x="3515" y="2031"/>
              <a:ext cx="227" cy="268"/>
            </a:xfrm>
            <a:custGeom>
              <a:avLst/>
              <a:gdLst>
                <a:gd name="T0" fmla="*/ 227 w 227"/>
                <a:gd name="T1" fmla="*/ 0 h 268"/>
                <a:gd name="T2" fmla="*/ 0 w 227"/>
                <a:gd name="T3" fmla="*/ 268 h 268"/>
                <a:gd name="T4" fmla="*/ 227 w 227"/>
                <a:gd name="T5" fmla="*/ 0 h 268"/>
                <a:gd name="T6" fmla="*/ 227 w 227"/>
                <a:gd name="T7" fmla="*/ 0 h 268"/>
                <a:gd name="T8" fmla="*/ 227 w 227"/>
                <a:gd name="T9" fmla="*/ 0 h 268"/>
                <a:gd name="T10" fmla="*/ 227 w 227"/>
                <a:gd name="T11" fmla="*/ 0 h 268"/>
                <a:gd name="T12" fmla="*/ 227 w 227"/>
                <a:gd name="T13" fmla="*/ 0 h 268"/>
                <a:gd name="T14" fmla="*/ 0 60000 65536"/>
                <a:gd name="T15" fmla="*/ 0 60000 65536"/>
                <a:gd name="T16" fmla="*/ 0 60000 65536"/>
                <a:gd name="T17" fmla="*/ 0 60000 65536"/>
                <a:gd name="T18" fmla="*/ 0 60000 65536"/>
                <a:gd name="T19" fmla="*/ 0 60000 65536"/>
                <a:gd name="T20" fmla="*/ 0 60000 65536"/>
                <a:gd name="T21" fmla="*/ 0 w 227"/>
                <a:gd name="T22" fmla="*/ 0 h 268"/>
                <a:gd name="T23" fmla="*/ 227 w 227"/>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7" h="268">
                  <a:moveTo>
                    <a:pt x="227" y="0"/>
                  </a:moveTo>
                  <a:lnTo>
                    <a:pt x="0" y="268"/>
                  </a:lnTo>
                  <a:lnTo>
                    <a:pt x="227" y="0"/>
                  </a:lnTo>
                  <a:close/>
                  <a:moveTo>
                    <a:pt x="227" y="0"/>
                  </a:moveTo>
                  <a:lnTo>
                    <a:pt x="227"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3" name="Freeform 53"/>
            <p:cNvSpPr>
              <a:spLocks noChangeAspect="1" noEditPoints="1"/>
            </p:cNvSpPr>
            <p:nvPr/>
          </p:nvSpPr>
          <p:spPr bwMode="auto">
            <a:xfrm>
              <a:off x="3515" y="2299"/>
              <a:ext cx="227" cy="268"/>
            </a:xfrm>
            <a:custGeom>
              <a:avLst/>
              <a:gdLst>
                <a:gd name="T0" fmla="*/ 0 w 227"/>
                <a:gd name="T1" fmla="*/ 0 h 268"/>
                <a:gd name="T2" fmla="*/ 227 w 227"/>
                <a:gd name="T3" fmla="*/ 268 h 268"/>
                <a:gd name="T4" fmla="*/ 0 w 227"/>
                <a:gd name="T5" fmla="*/ 0 h 268"/>
                <a:gd name="T6" fmla="*/ 0 w 227"/>
                <a:gd name="T7" fmla="*/ 0 h 268"/>
                <a:gd name="T8" fmla="*/ 0 w 227"/>
                <a:gd name="T9" fmla="*/ 0 h 268"/>
                <a:gd name="T10" fmla="*/ 0 w 227"/>
                <a:gd name="T11" fmla="*/ 0 h 268"/>
                <a:gd name="T12" fmla="*/ 0 w 227"/>
                <a:gd name="T13" fmla="*/ 0 h 268"/>
                <a:gd name="T14" fmla="*/ 0 60000 65536"/>
                <a:gd name="T15" fmla="*/ 0 60000 65536"/>
                <a:gd name="T16" fmla="*/ 0 60000 65536"/>
                <a:gd name="T17" fmla="*/ 0 60000 65536"/>
                <a:gd name="T18" fmla="*/ 0 60000 65536"/>
                <a:gd name="T19" fmla="*/ 0 60000 65536"/>
                <a:gd name="T20" fmla="*/ 0 60000 65536"/>
                <a:gd name="T21" fmla="*/ 0 w 227"/>
                <a:gd name="T22" fmla="*/ 0 h 268"/>
                <a:gd name="T23" fmla="*/ 227 w 227"/>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7" h="268">
                  <a:moveTo>
                    <a:pt x="0" y="0"/>
                  </a:moveTo>
                  <a:lnTo>
                    <a:pt x="227" y="268"/>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4" name="Freeform 54"/>
            <p:cNvSpPr>
              <a:spLocks noChangeAspect="1" noEditPoints="1"/>
            </p:cNvSpPr>
            <p:nvPr/>
          </p:nvSpPr>
          <p:spPr bwMode="auto">
            <a:xfrm>
              <a:off x="3742" y="2299"/>
              <a:ext cx="227" cy="268"/>
            </a:xfrm>
            <a:custGeom>
              <a:avLst/>
              <a:gdLst>
                <a:gd name="T0" fmla="*/ 0 w 227"/>
                <a:gd name="T1" fmla="*/ 268 h 268"/>
                <a:gd name="T2" fmla="*/ 227 w 227"/>
                <a:gd name="T3" fmla="*/ 0 h 268"/>
                <a:gd name="T4" fmla="*/ 0 w 227"/>
                <a:gd name="T5" fmla="*/ 268 h 268"/>
                <a:gd name="T6" fmla="*/ 0 w 227"/>
                <a:gd name="T7" fmla="*/ 268 h 268"/>
                <a:gd name="T8" fmla="*/ 0 w 227"/>
                <a:gd name="T9" fmla="*/ 268 h 268"/>
                <a:gd name="T10" fmla="*/ 0 w 227"/>
                <a:gd name="T11" fmla="*/ 268 h 268"/>
                <a:gd name="T12" fmla="*/ 0 w 227"/>
                <a:gd name="T13" fmla="*/ 268 h 268"/>
                <a:gd name="T14" fmla="*/ 0 60000 65536"/>
                <a:gd name="T15" fmla="*/ 0 60000 65536"/>
                <a:gd name="T16" fmla="*/ 0 60000 65536"/>
                <a:gd name="T17" fmla="*/ 0 60000 65536"/>
                <a:gd name="T18" fmla="*/ 0 60000 65536"/>
                <a:gd name="T19" fmla="*/ 0 60000 65536"/>
                <a:gd name="T20" fmla="*/ 0 60000 65536"/>
                <a:gd name="T21" fmla="*/ 0 w 227"/>
                <a:gd name="T22" fmla="*/ 0 h 268"/>
                <a:gd name="T23" fmla="*/ 227 w 227"/>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7" h="268">
                  <a:moveTo>
                    <a:pt x="0" y="268"/>
                  </a:moveTo>
                  <a:lnTo>
                    <a:pt x="227" y="0"/>
                  </a:lnTo>
                  <a:lnTo>
                    <a:pt x="0" y="268"/>
                  </a:lnTo>
                  <a:close/>
                  <a:moveTo>
                    <a:pt x="0" y="268"/>
                  </a:moveTo>
                  <a:lnTo>
                    <a:pt x="0" y="26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5" name="Freeform 55"/>
            <p:cNvSpPr>
              <a:spLocks noChangeAspect="1"/>
            </p:cNvSpPr>
            <p:nvPr/>
          </p:nvSpPr>
          <p:spPr bwMode="auto">
            <a:xfrm>
              <a:off x="3969" y="22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6" name="Freeform 56"/>
            <p:cNvSpPr>
              <a:spLocks noChangeAspect="1"/>
            </p:cNvSpPr>
            <p:nvPr/>
          </p:nvSpPr>
          <p:spPr bwMode="auto">
            <a:xfrm>
              <a:off x="3742" y="2285"/>
              <a:ext cx="1" cy="159"/>
            </a:xfrm>
            <a:custGeom>
              <a:avLst/>
              <a:gdLst>
                <a:gd name="T0" fmla="*/ 0 w 1"/>
                <a:gd name="T1" fmla="*/ 159 h 159"/>
                <a:gd name="T2" fmla="*/ 0 w 1"/>
                <a:gd name="T3" fmla="*/ 0 h 159"/>
                <a:gd name="T4" fmla="*/ 0 w 1"/>
                <a:gd name="T5" fmla="*/ 159 h 159"/>
                <a:gd name="T6" fmla="*/ 0 w 1"/>
                <a:gd name="T7" fmla="*/ 159 h 159"/>
                <a:gd name="T8" fmla="*/ 0 60000 65536"/>
                <a:gd name="T9" fmla="*/ 0 60000 65536"/>
                <a:gd name="T10" fmla="*/ 0 60000 65536"/>
                <a:gd name="T11" fmla="*/ 0 60000 65536"/>
                <a:gd name="T12" fmla="*/ 0 w 1"/>
                <a:gd name="T13" fmla="*/ 0 h 159"/>
                <a:gd name="T14" fmla="*/ 1 w 1"/>
                <a:gd name="T15" fmla="*/ 159 h 159"/>
              </a:gdLst>
              <a:ahLst/>
              <a:cxnLst>
                <a:cxn ang="T8">
                  <a:pos x="T0" y="T1"/>
                </a:cxn>
                <a:cxn ang="T9">
                  <a:pos x="T2" y="T3"/>
                </a:cxn>
                <a:cxn ang="T10">
                  <a:pos x="T4" y="T5"/>
                </a:cxn>
                <a:cxn ang="T11">
                  <a:pos x="T6" y="T7"/>
                </a:cxn>
              </a:cxnLst>
              <a:rect l="T12" t="T13" r="T14" b="T15"/>
              <a:pathLst>
                <a:path w="1" h="159">
                  <a:moveTo>
                    <a:pt x="0" y="159"/>
                  </a:moveTo>
                  <a:lnTo>
                    <a:pt x="0" y="0"/>
                  </a:lnTo>
                  <a:lnTo>
                    <a:pt x="0" y="15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7" name="Freeform 57"/>
            <p:cNvSpPr>
              <a:spLocks noChangeAspect="1"/>
            </p:cNvSpPr>
            <p:nvPr/>
          </p:nvSpPr>
          <p:spPr bwMode="auto">
            <a:xfrm>
              <a:off x="3700" y="2140"/>
              <a:ext cx="84" cy="181"/>
            </a:xfrm>
            <a:custGeom>
              <a:avLst/>
              <a:gdLst>
                <a:gd name="T0" fmla="*/ 84 w 84"/>
                <a:gd name="T1" fmla="*/ 181 h 181"/>
                <a:gd name="T2" fmla="*/ 42 w 84"/>
                <a:gd name="T3" fmla="*/ 0 h 181"/>
                <a:gd name="T4" fmla="*/ 0 w 84"/>
                <a:gd name="T5" fmla="*/ 181 h 181"/>
                <a:gd name="T6" fmla="*/ 84 w 84"/>
                <a:gd name="T7" fmla="*/ 181 h 181"/>
                <a:gd name="T8" fmla="*/ 84 w 84"/>
                <a:gd name="T9" fmla="*/ 181 h 181"/>
                <a:gd name="T10" fmla="*/ 0 60000 65536"/>
                <a:gd name="T11" fmla="*/ 0 60000 65536"/>
                <a:gd name="T12" fmla="*/ 0 60000 65536"/>
                <a:gd name="T13" fmla="*/ 0 60000 65536"/>
                <a:gd name="T14" fmla="*/ 0 60000 65536"/>
                <a:gd name="T15" fmla="*/ 0 w 84"/>
                <a:gd name="T16" fmla="*/ 0 h 181"/>
                <a:gd name="T17" fmla="*/ 84 w 84"/>
                <a:gd name="T18" fmla="*/ 181 h 181"/>
              </a:gdLst>
              <a:ahLst/>
              <a:cxnLst>
                <a:cxn ang="T10">
                  <a:pos x="T0" y="T1"/>
                </a:cxn>
                <a:cxn ang="T11">
                  <a:pos x="T2" y="T3"/>
                </a:cxn>
                <a:cxn ang="T12">
                  <a:pos x="T4" y="T5"/>
                </a:cxn>
                <a:cxn ang="T13">
                  <a:pos x="T6" y="T7"/>
                </a:cxn>
                <a:cxn ang="T14">
                  <a:pos x="T8" y="T9"/>
                </a:cxn>
              </a:cxnLst>
              <a:rect l="T15" t="T16" r="T17" b="T18"/>
              <a:pathLst>
                <a:path w="84" h="181">
                  <a:moveTo>
                    <a:pt x="84" y="181"/>
                  </a:moveTo>
                  <a:lnTo>
                    <a:pt x="42" y="0"/>
                  </a:lnTo>
                  <a:lnTo>
                    <a:pt x="0" y="181"/>
                  </a:lnTo>
                  <a:lnTo>
                    <a:pt x="84" y="18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8" name="Freeform 58"/>
            <p:cNvSpPr>
              <a:spLocks noChangeAspect="1"/>
            </p:cNvSpPr>
            <p:nvPr/>
          </p:nvSpPr>
          <p:spPr bwMode="auto">
            <a:xfrm>
              <a:off x="403" y="2031"/>
              <a:ext cx="446" cy="529"/>
            </a:xfrm>
            <a:custGeom>
              <a:avLst/>
              <a:gdLst>
                <a:gd name="T0" fmla="*/ 446 w 446"/>
                <a:gd name="T1" fmla="*/ 268 h 529"/>
                <a:gd name="T2" fmla="*/ 228 w 446"/>
                <a:gd name="T3" fmla="*/ 0 h 529"/>
                <a:gd name="T4" fmla="*/ 0 w 446"/>
                <a:gd name="T5" fmla="*/ 268 h 529"/>
                <a:gd name="T6" fmla="*/ 228 w 446"/>
                <a:gd name="T7" fmla="*/ 529 h 529"/>
                <a:gd name="T8" fmla="*/ 446 w 446"/>
                <a:gd name="T9" fmla="*/ 268 h 529"/>
                <a:gd name="T10" fmla="*/ 446 w 446"/>
                <a:gd name="T11" fmla="*/ 268 h 529"/>
                <a:gd name="T12" fmla="*/ 0 60000 65536"/>
                <a:gd name="T13" fmla="*/ 0 60000 65536"/>
                <a:gd name="T14" fmla="*/ 0 60000 65536"/>
                <a:gd name="T15" fmla="*/ 0 60000 65536"/>
                <a:gd name="T16" fmla="*/ 0 60000 65536"/>
                <a:gd name="T17" fmla="*/ 0 60000 65536"/>
                <a:gd name="T18" fmla="*/ 0 w 446"/>
                <a:gd name="T19" fmla="*/ 0 h 529"/>
                <a:gd name="T20" fmla="*/ 446 w 446"/>
                <a:gd name="T21" fmla="*/ 529 h 529"/>
              </a:gdLst>
              <a:ahLst/>
              <a:cxnLst>
                <a:cxn ang="T12">
                  <a:pos x="T0" y="T1"/>
                </a:cxn>
                <a:cxn ang="T13">
                  <a:pos x="T2" y="T3"/>
                </a:cxn>
                <a:cxn ang="T14">
                  <a:pos x="T4" y="T5"/>
                </a:cxn>
                <a:cxn ang="T15">
                  <a:pos x="T6" y="T7"/>
                </a:cxn>
                <a:cxn ang="T16">
                  <a:pos x="T8" y="T9"/>
                </a:cxn>
                <a:cxn ang="T17">
                  <a:pos x="T10" y="T11"/>
                </a:cxn>
              </a:cxnLst>
              <a:rect l="T18" t="T19" r="T20" b="T21"/>
              <a:pathLst>
                <a:path w="446" h="529">
                  <a:moveTo>
                    <a:pt x="446" y="268"/>
                  </a:moveTo>
                  <a:lnTo>
                    <a:pt x="228" y="0"/>
                  </a:lnTo>
                  <a:lnTo>
                    <a:pt x="0" y="268"/>
                  </a:lnTo>
                  <a:lnTo>
                    <a:pt x="228" y="529"/>
                  </a:lnTo>
                  <a:lnTo>
                    <a:pt x="446" y="268"/>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89" name="Freeform 59"/>
            <p:cNvSpPr>
              <a:spLocks noChangeAspect="1"/>
            </p:cNvSpPr>
            <p:nvPr/>
          </p:nvSpPr>
          <p:spPr bwMode="auto">
            <a:xfrm>
              <a:off x="631" y="2031"/>
              <a:ext cx="218" cy="268"/>
            </a:xfrm>
            <a:custGeom>
              <a:avLst/>
              <a:gdLst>
                <a:gd name="T0" fmla="*/ 218 w 218"/>
                <a:gd name="T1" fmla="*/ 268 h 268"/>
                <a:gd name="T2" fmla="*/ 0 w 218"/>
                <a:gd name="T3" fmla="*/ 0 h 268"/>
                <a:gd name="T4" fmla="*/ 218 w 218"/>
                <a:gd name="T5" fmla="*/ 268 h 268"/>
                <a:gd name="T6" fmla="*/ 218 w 218"/>
                <a:gd name="T7" fmla="*/ 268 h 268"/>
                <a:gd name="T8" fmla="*/ 0 60000 65536"/>
                <a:gd name="T9" fmla="*/ 0 60000 65536"/>
                <a:gd name="T10" fmla="*/ 0 60000 65536"/>
                <a:gd name="T11" fmla="*/ 0 60000 65536"/>
                <a:gd name="T12" fmla="*/ 0 w 218"/>
                <a:gd name="T13" fmla="*/ 0 h 268"/>
                <a:gd name="T14" fmla="*/ 218 w 218"/>
                <a:gd name="T15" fmla="*/ 268 h 268"/>
              </a:gdLst>
              <a:ahLst/>
              <a:cxnLst>
                <a:cxn ang="T8">
                  <a:pos x="T0" y="T1"/>
                </a:cxn>
                <a:cxn ang="T9">
                  <a:pos x="T2" y="T3"/>
                </a:cxn>
                <a:cxn ang="T10">
                  <a:pos x="T4" y="T5"/>
                </a:cxn>
                <a:cxn ang="T11">
                  <a:pos x="T6" y="T7"/>
                </a:cxn>
              </a:cxnLst>
              <a:rect l="T12" t="T13" r="T14" b="T15"/>
              <a:pathLst>
                <a:path w="218" h="268">
                  <a:moveTo>
                    <a:pt x="218" y="268"/>
                  </a:moveTo>
                  <a:lnTo>
                    <a:pt x="0" y="0"/>
                  </a:lnTo>
                  <a:lnTo>
                    <a:pt x="218" y="26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0" name="Freeform 60"/>
            <p:cNvSpPr>
              <a:spLocks noChangeAspect="1" noEditPoints="1"/>
            </p:cNvSpPr>
            <p:nvPr/>
          </p:nvSpPr>
          <p:spPr bwMode="auto">
            <a:xfrm>
              <a:off x="403" y="2031"/>
              <a:ext cx="228" cy="268"/>
            </a:xfrm>
            <a:custGeom>
              <a:avLst/>
              <a:gdLst>
                <a:gd name="T0" fmla="*/ 228 w 228"/>
                <a:gd name="T1" fmla="*/ 0 h 268"/>
                <a:gd name="T2" fmla="*/ 0 w 228"/>
                <a:gd name="T3" fmla="*/ 268 h 268"/>
                <a:gd name="T4" fmla="*/ 228 w 228"/>
                <a:gd name="T5" fmla="*/ 0 h 268"/>
                <a:gd name="T6" fmla="*/ 228 w 228"/>
                <a:gd name="T7" fmla="*/ 0 h 268"/>
                <a:gd name="T8" fmla="*/ 228 w 228"/>
                <a:gd name="T9" fmla="*/ 0 h 268"/>
                <a:gd name="T10" fmla="*/ 228 w 228"/>
                <a:gd name="T11" fmla="*/ 0 h 268"/>
                <a:gd name="T12" fmla="*/ 228 w 228"/>
                <a:gd name="T13" fmla="*/ 0 h 268"/>
                <a:gd name="T14" fmla="*/ 0 60000 65536"/>
                <a:gd name="T15" fmla="*/ 0 60000 65536"/>
                <a:gd name="T16" fmla="*/ 0 60000 65536"/>
                <a:gd name="T17" fmla="*/ 0 60000 65536"/>
                <a:gd name="T18" fmla="*/ 0 60000 65536"/>
                <a:gd name="T19" fmla="*/ 0 60000 65536"/>
                <a:gd name="T20" fmla="*/ 0 60000 65536"/>
                <a:gd name="T21" fmla="*/ 0 w 228"/>
                <a:gd name="T22" fmla="*/ 0 h 268"/>
                <a:gd name="T23" fmla="*/ 228 w 228"/>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8" h="268">
                  <a:moveTo>
                    <a:pt x="228" y="0"/>
                  </a:moveTo>
                  <a:lnTo>
                    <a:pt x="0" y="268"/>
                  </a:lnTo>
                  <a:lnTo>
                    <a:pt x="228" y="0"/>
                  </a:lnTo>
                  <a:close/>
                  <a:moveTo>
                    <a:pt x="228" y="0"/>
                  </a:moveTo>
                  <a:lnTo>
                    <a:pt x="22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1" name="Freeform 61"/>
            <p:cNvSpPr>
              <a:spLocks noChangeAspect="1" noEditPoints="1"/>
            </p:cNvSpPr>
            <p:nvPr/>
          </p:nvSpPr>
          <p:spPr bwMode="auto">
            <a:xfrm>
              <a:off x="403" y="2299"/>
              <a:ext cx="228" cy="261"/>
            </a:xfrm>
            <a:custGeom>
              <a:avLst/>
              <a:gdLst>
                <a:gd name="T0" fmla="*/ 0 w 228"/>
                <a:gd name="T1" fmla="*/ 0 h 261"/>
                <a:gd name="T2" fmla="*/ 228 w 228"/>
                <a:gd name="T3" fmla="*/ 261 h 261"/>
                <a:gd name="T4" fmla="*/ 0 w 228"/>
                <a:gd name="T5" fmla="*/ 0 h 261"/>
                <a:gd name="T6" fmla="*/ 0 w 228"/>
                <a:gd name="T7" fmla="*/ 0 h 261"/>
                <a:gd name="T8" fmla="*/ 0 w 228"/>
                <a:gd name="T9" fmla="*/ 0 h 261"/>
                <a:gd name="T10" fmla="*/ 0 w 228"/>
                <a:gd name="T11" fmla="*/ 0 h 261"/>
                <a:gd name="T12" fmla="*/ 0 w 228"/>
                <a:gd name="T13" fmla="*/ 0 h 261"/>
                <a:gd name="T14" fmla="*/ 0 60000 65536"/>
                <a:gd name="T15" fmla="*/ 0 60000 65536"/>
                <a:gd name="T16" fmla="*/ 0 60000 65536"/>
                <a:gd name="T17" fmla="*/ 0 60000 65536"/>
                <a:gd name="T18" fmla="*/ 0 60000 65536"/>
                <a:gd name="T19" fmla="*/ 0 60000 65536"/>
                <a:gd name="T20" fmla="*/ 0 60000 65536"/>
                <a:gd name="T21" fmla="*/ 0 w 228"/>
                <a:gd name="T22" fmla="*/ 0 h 261"/>
                <a:gd name="T23" fmla="*/ 228 w 228"/>
                <a:gd name="T24" fmla="*/ 261 h 2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8" h="261">
                  <a:moveTo>
                    <a:pt x="0" y="0"/>
                  </a:moveTo>
                  <a:lnTo>
                    <a:pt x="228" y="261"/>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2" name="Freeform 62"/>
            <p:cNvSpPr>
              <a:spLocks noChangeAspect="1" noEditPoints="1"/>
            </p:cNvSpPr>
            <p:nvPr/>
          </p:nvSpPr>
          <p:spPr bwMode="auto">
            <a:xfrm>
              <a:off x="631" y="2299"/>
              <a:ext cx="218" cy="261"/>
            </a:xfrm>
            <a:custGeom>
              <a:avLst/>
              <a:gdLst>
                <a:gd name="T0" fmla="*/ 0 w 218"/>
                <a:gd name="T1" fmla="*/ 261 h 261"/>
                <a:gd name="T2" fmla="*/ 218 w 218"/>
                <a:gd name="T3" fmla="*/ 0 h 261"/>
                <a:gd name="T4" fmla="*/ 0 w 218"/>
                <a:gd name="T5" fmla="*/ 261 h 261"/>
                <a:gd name="T6" fmla="*/ 0 w 218"/>
                <a:gd name="T7" fmla="*/ 261 h 261"/>
                <a:gd name="T8" fmla="*/ 0 w 218"/>
                <a:gd name="T9" fmla="*/ 261 h 261"/>
                <a:gd name="T10" fmla="*/ 0 w 218"/>
                <a:gd name="T11" fmla="*/ 261 h 261"/>
                <a:gd name="T12" fmla="*/ 0 w 218"/>
                <a:gd name="T13" fmla="*/ 261 h 261"/>
                <a:gd name="T14" fmla="*/ 0 60000 65536"/>
                <a:gd name="T15" fmla="*/ 0 60000 65536"/>
                <a:gd name="T16" fmla="*/ 0 60000 65536"/>
                <a:gd name="T17" fmla="*/ 0 60000 65536"/>
                <a:gd name="T18" fmla="*/ 0 60000 65536"/>
                <a:gd name="T19" fmla="*/ 0 60000 65536"/>
                <a:gd name="T20" fmla="*/ 0 60000 65536"/>
                <a:gd name="T21" fmla="*/ 0 w 218"/>
                <a:gd name="T22" fmla="*/ 0 h 261"/>
                <a:gd name="T23" fmla="*/ 218 w 218"/>
                <a:gd name="T24" fmla="*/ 261 h 2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8" h="261">
                  <a:moveTo>
                    <a:pt x="0" y="261"/>
                  </a:moveTo>
                  <a:lnTo>
                    <a:pt x="218" y="0"/>
                  </a:lnTo>
                  <a:lnTo>
                    <a:pt x="0" y="261"/>
                  </a:lnTo>
                  <a:close/>
                  <a:moveTo>
                    <a:pt x="0" y="261"/>
                  </a:moveTo>
                  <a:lnTo>
                    <a:pt x="0" y="26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3" name="Freeform 63"/>
            <p:cNvSpPr>
              <a:spLocks noChangeAspect="1"/>
            </p:cNvSpPr>
            <p:nvPr/>
          </p:nvSpPr>
          <p:spPr bwMode="auto">
            <a:xfrm>
              <a:off x="849" y="22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4" name="Freeform 64"/>
            <p:cNvSpPr>
              <a:spLocks noChangeAspect="1"/>
            </p:cNvSpPr>
            <p:nvPr/>
          </p:nvSpPr>
          <p:spPr bwMode="auto">
            <a:xfrm>
              <a:off x="580" y="2140"/>
              <a:ext cx="101" cy="116"/>
            </a:xfrm>
            <a:custGeom>
              <a:avLst/>
              <a:gdLst>
                <a:gd name="T0" fmla="*/ 42 w 101"/>
                <a:gd name="T1" fmla="*/ 50 h 116"/>
                <a:gd name="T2" fmla="*/ 0 w 101"/>
                <a:gd name="T3" fmla="*/ 50 h 116"/>
                <a:gd name="T4" fmla="*/ 0 w 101"/>
                <a:gd name="T5" fmla="*/ 65 h 116"/>
                <a:gd name="T6" fmla="*/ 42 w 101"/>
                <a:gd name="T7" fmla="*/ 65 h 116"/>
                <a:gd name="T8" fmla="*/ 42 w 101"/>
                <a:gd name="T9" fmla="*/ 116 h 116"/>
                <a:gd name="T10" fmla="*/ 59 w 101"/>
                <a:gd name="T11" fmla="*/ 116 h 116"/>
                <a:gd name="T12" fmla="*/ 59 w 101"/>
                <a:gd name="T13" fmla="*/ 65 h 116"/>
                <a:gd name="T14" fmla="*/ 101 w 101"/>
                <a:gd name="T15" fmla="*/ 65 h 116"/>
                <a:gd name="T16" fmla="*/ 101 w 101"/>
                <a:gd name="T17" fmla="*/ 50 h 116"/>
                <a:gd name="T18" fmla="*/ 59 w 101"/>
                <a:gd name="T19" fmla="*/ 50 h 116"/>
                <a:gd name="T20" fmla="*/ 59 w 101"/>
                <a:gd name="T21" fmla="*/ 0 h 116"/>
                <a:gd name="T22" fmla="*/ 42 w 101"/>
                <a:gd name="T23" fmla="*/ 0 h 116"/>
                <a:gd name="T24" fmla="*/ 42 w 101"/>
                <a:gd name="T25" fmla="*/ 50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1"/>
                <a:gd name="T40" fmla="*/ 0 h 116"/>
                <a:gd name="T41" fmla="*/ 101 w 101"/>
                <a:gd name="T42" fmla="*/ 116 h 1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1" h="116">
                  <a:moveTo>
                    <a:pt x="42" y="50"/>
                  </a:moveTo>
                  <a:lnTo>
                    <a:pt x="0" y="50"/>
                  </a:lnTo>
                  <a:lnTo>
                    <a:pt x="0" y="65"/>
                  </a:lnTo>
                  <a:lnTo>
                    <a:pt x="42" y="65"/>
                  </a:lnTo>
                  <a:lnTo>
                    <a:pt x="42" y="116"/>
                  </a:lnTo>
                  <a:lnTo>
                    <a:pt x="59" y="116"/>
                  </a:lnTo>
                  <a:lnTo>
                    <a:pt x="59" y="65"/>
                  </a:lnTo>
                  <a:lnTo>
                    <a:pt x="101" y="65"/>
                  </a:lnTo>
                  <a:lnTo>
                    <a:pt x="101" y="50"/>
                  </a:lnTo>
                  <a:lnTo>
                    <a:pt x="59" y="50"/>
                  </a:lnTo>
                  <a:lnTo>
                    <a:pt x="59" y="0"/>
                  </a:lnTo>
                  <a:lnTo>
                    <a:pt x="42" y="0"/>
                  </a:lnTo>
                  <a:lnTo>
                    <a:pt x="42" y="5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5" name="Rectangle 65"/>
            <p:cNvSpPr>
              <a:spLocks noChangeAspect="1" noChangeArrowheads="1"/>
            </p:cNvSpPr>
            <p:nvPr/>
          </p:nvSpPr>
          <p:spPr bwMode="auto">
            <a:xfrm>
              <a:off x="580" y="2401"/>
              <a:ext cx="101" cy="14"/>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2596" name="Freeform 66"/>
            <p:cNvSpPr>
              <a:spLocks noChangeAspect="1"/>
            </p:cNvSpPr>
            <p:nvPr/>
          </p:nvSpPr>
          <p:spPr bwMode="auto">
            <a:xfrm>
              <a:off x="1219" y="1697"/>
              <a:ext cx="404" cy="58"/>
            </a:xfrm>
            <a:custGeom>
              <a:avLst/>
              <a:gdLst>
                <a:gd name="T0" fmla="*/ 0 w 404"/>
                <a:gd name="T1" fmla="*/ 58 h 58"/>
                <a:gd name="T2" fmla="*/ 0 w 404"/>
                <a:gd name="T3" fmla="*/ 0 h 58"/>
                <a:gd name="T4" fmla="*/ 404 w 404"/>
                <a:gd name="T5" fmla="*/ 0 h 58"/>
                <a:gd name="T6" fmla="*/ 404 w 404"/>
                <a:gd name="T7" fmla="*/ 58 h 58"/>
                <a:gd name="T8" fmla="*/ 0 w 404"/>
                <a:gd name="T9" fmla="*/ 58 h 58"/>
                <a:gd name="T10" fmla="*/ 0 w 404"/>
                <a:gd name="T11" fmla="*/ 58 h 58"/>
                <a:gd name="T12" fmla="*/ 0 60000 65536"/>
                <a:gd name="T13" fmla="*/ 0 60000 65536"/>
                <a:gd name="T14" fmla="*/ 0 60000 65536"/>
                <a:gd name="T15" fmla="*/ 0 60000 65536"/>
                <a:gd name="T16" fmla="*/ 0 60000 65536"/>
                <a:gd name="T17" fmla="*/ 0 60000 65536"/>
                <a:gd name="T18" fmla="*/ 0 w 404"/>
                <a:gd name="T19" fmla="*/ 0 h 58"/>
                <a:gd name="T20" fmla="*/ 404 w 404"/>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404" h="58">
                  <a:moveTo>
                    <a:pt x="0" y="58"/>
                  </a:moveTo>
                  <a:lnTo>
                    <a:pt x="0" y="0"/>
                  </a:lnTo>
                  <a:lnTo>
                    <a:pt x="404" y="0"/>
                  </a:lnTo>
                  <a:lnTo>
                    <a:pt x="404" y="58"/>
                  </a:lnTo>
                  <a:lnTo>
                    <a:pt x="0" y="58"/>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7" name="Freeform 67"/>
            <p:cNvSpPr>
              <a:spLocks noChangeAspect="1"/>
            </p:cNvSpPr>
            <p:nvPr/>
          </p:nvSpPr>
          <p:spPr bwMode="auto">
            <a:xfrm>
              <a:off x="1606" y="1726"/>
              <a:ext cx="25" cy="73"/>
            </a:xfrm>
            <a:custGeom>
              <a:avLst/>
              <a:gdLst>
                <a:gd name="T0" fmla="*/ 25 w 25"/>
                <a:gd name="T1" fmla="*/ 0 h 73"/>
                <a:gd name="T2" fmla="*/ 0 w 25"/>
                <a:gd name="T3" fmla="*/ 73 h 73"/>
                <a:gd name="T4" fmla="*/ 25 w 25"/>
                <a:gd name="T5" fmla="*/ 0 h 73"/>
                <a:gd name="T6" fmla="*/ 25 w 25"/>
                <a:gd name="T7" fmla="*/ 0 h 73"/>
                <a:gd name="T8" fmla="*/ 0 60000 65536"/>
                <a:gd name="T9" fmla="*/ 0 60000 65536"/>
                <a:gd name="T10" fmla="*/ 0 60000 65536"/>
                <a:gd name="T11" fmla="*/ 0 60000 65536"/>
                <a:gd name="T12" fmla="*/ 0 w 25"/>
                <a:gd name="T13" fmla="*/ 0 h 73"/>
                <a:gd name="T14" fmla="*/ 25 w 25"/>
                <a:gd name="T15" fmla="*/ 73 h 73"/>
              </a:gdLst>
              <a:ahLst/>
              <a:cxnLst>
                <a:cxn ang="T8">
                  <a:pos x="T0" y="T1"/>
                </a:cxn>
                <a:cxn ang="T9">
                  <a:pos x="T2" y="T3"/>
                </a:cxn>
                <a:cxn ang="T10">
                  <a:pos x="T4" y="T5"/>
                </a:cxn>
                <a:cxn ang="T11">
                  <a:pos x="T6" y="T7"/>
                </a:cxn>
              </a:cxnLst>
              <a:rect l="T12" t="T13" r="T14" b="T15"/>
              <a:pathLst>
                <a:path w="25" h="73">
                  <a:moveTo>
                    <a:pt x="25" y="0"/>
                  </a:moveTo>
                  <a:lnTo>
                    <a:pt x="0" y="73"/>
                  </a:lnTo>
                  <a:lnTo>
                    <a:pt x="2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8" name="Freeform 68"/>
            <p:cNvSpPr>
              <a:spLocks noChangeAspect="1" noEditPoints="1"/>
            </p:cNvSpPr>
            <p:nvPr/>
          </p:nvSpPr>
          <p:spPr bwMode="auto">
            <a:xfrm>
              <a:off x="1581" y="1726"/>
              <a:ext cx="25" cy="73"/>
            </a:xfrm>
            <a:custGeom>
              <a:avLst/>
              <a:gdLst>
                <a:gd name="T0" fmla="*/ 25 w 25"/>
                <a:gd name="T1" fmla="*/ 73 h 73"/>
                <a:gd name="T2" fmla="*/ 0 w 25"/>
                <a:gd name="T3" fmla="*/ 0 h 73"/>
                <a:gd name="T4" fmla="*/ 25 w 25"/>
                <a:gd name="T5" fmla="*/ 73 h 73"/>
                <a:gd name="T6" fmla="*/ 25 w 25"/>
                <a:gd name="T7" fmla="*/ 73 h 73"/>
                <a:gd name="T8" fmla="*/ 25 w 25"/>
                <a:gd name="T9" fmla="*/ 73 h 73"/>
                <a:gd name="T10" fmla="*/ 25 w 25"/>
                <a:gd name="T11" fmla="*/ 73 h 73"/>
                <a:gd name="T12" fmla="*/ 25 w 25"/>
                <a:gd name="T13" fmla="*/ 73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25" y="73"/>
                  </a:moveTo>
                  <a:lnTo>
                    <a:pt x="0" y="0"/>
                  </a:lnTo>
                  <a:lnTo>
                    <a:pt x="25" y="73"/>
                  </a:lnTo>
                  <a:close/>
                  <a:moveTo>
                    <a:pt x="25" y="73"/>
                  </a:moveTo>
                  <a:lnTo>
                    <a:pt x="25" y="7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599" name="Freeform 69"/>
            <p:cNvSpPr>
              <a:spLocks noChangeAspect="1" noEditPoints="1"/>
            </p:cNvSpPr>
            <p:nvPr/>
          </p:nvSpPr>
          <p:spPr bwMode="auto">
            <a:xfrm>
              <a:off x="1556" y="1654"/>
              <a:ext cx="25" cy="72"/>
            </a:xfrm>
            <a:custGeom>
              <a:avLst/>
              <a:gdLst>
                <a:gd name="T0" fmla="*/ 25 w 25"/>
                <a:gd name="T1" fmla="*/ 72 h 72"/>
                <a:gd name="T2" fmla="*/ 0 w 25"/>
                <a:gd name="T3" fmla="*/ 0 h 72"/>
                <a:gd name="T4" fmla="*/ 25 w 25"/>
                <a:gd name="T5" fmla="*/ 72 h 72"/>
                <a:gd name="T6" fmla="*/ 25 w 25"/>
                <a:gd name="T7" fmla="*/ 72 h 72"/>
                <a:gd name="T8" fmla="*/ 25 w 25"/>
                <a:gd name="T9" fmla="*/ 72 h 72"/>
                <a:gd name="T10" fmla="*/ 25 w 25"/>
                <a:gd name="T11" fmla="*/ 72 h 72"/>
                <a:gd name="T12" fmla="*/ 25 w 25"/>
                <a:gd name="T13" fmla="*/ 72 h 72"/>
                <a:gd name="T14" fmla="*/ 0 60000 65536"/>
                <a:gd name="T15" fmla="*/ 0 60000 65536"/>
                <a:gd name="T16" fmla="*/ 0 60000 65536"/>
                <a:gd name="T17" fmla="*/ 0 60000 65536"/>
                <a:gd name="T18" fmla="*/ 0 60000 65536"/>
                <a:gd name="T19" fmla="*/ 0 60000 65536"/>
                <a:gd name="T20" fmla="*/ 0 60000 65536"/>
                <a:gd name="T21" fmla="*/ 0 w 25"/>
                <a:gd name="T22" fmla="*/ 0 h 72"/>
                <a:gd name="T23" fmla="*/ 25 w 25"/>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2">
                  <a:moveTo>
                    <a:pt x="25" y="72"/>
                  </a:moveTo>
                  <a:lnTo>
                    <a:pt x="0" y="0"/>
                  </a:lnTo>
                  <a:lnTo>
                    <a:pt x="25" y="72"/>
                  </a:lnTo>
                  <a:close/>
                  <a:moveTo>
                    <a:pt x="25" y="72"/>
                  </a:moveTo>
                  <a:lnTo>
                    <a:pt x="25" y="72"/>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0" name="Freeform 70"/>
            <p:cNvSpPr>
              <a:spLocks noChangeAspect="1" noEditPoints="1"/>
            </p:cNvSpPr>
            <p:nvPr/>
          </p:nvSpPr>
          <p:spPr bwMode="auto">
            <a:xfrm>
              <a:off x="1530" y="1654"/>
              <a:ext cx="26" cy="72"/>
            </a:xfrm>
            <a:custGeom>
              <a:avLst/>
              <a:gdLst>
                <a:gd name="T0" fmla="*/ 26 w 26"/>
                <a:gd name="T1" fmla="*/ 0 h 72"/>
                <a:gd name="T2" fmla="*/ 0 w 26"/>
                <a:gd name="T3" fmla="*/ 72 h 72"/>
                <a:gd name="T4" fmla="*/ 26 w 26"/>
                <a:gd name="T5" fmla="*/ 0 h 72"/>
                <a:gd name="T6" fmla="*/ 26 w 26"/>
                <a:gd name="T7" fmla="*/ 0 h 72"/>
                <a:gd name="T8" fmla="*/ 26 w 26"/>
                <a:gd name="T9" fmla="*/ 0 h 72"/>
                <a:gd name="T10" fmla="*/ 26 w 26"/>
                <a:gd name="T11" fmla="*/ 0 h 72"/>
                <a:gd name="T12" fmla="*/ 26 w 26"/>
                <a:gd name="T13" fmla="*/ 0 h 72"/>
                <a:gd name="T14" fmla="*/ 0 60000 65536"/>
                <a:gd name="T15" fmla="*/ 0 60000 65536"/>
                <a:gd name="T16" fmla="*/ 0 60000 65536"/>
                <a:gd name="T17" fmla="*/ 0 60000 65536"/>
                <a:gd name="T18" fmla="*/ 0 60000 65536"/>
                <a:gd name="T19" fmla="*/ 0 60000 65536"/>
                <a:gd name="T20" fmla="*/ 0 60000 65536"/>
                <a:gd name="T21" fmla="*/ 0 w 26"/>
                <a:gd name="T22" fmla="*/ 0 h 72"/>
                <a:gd name="T23" fmla="*/ 26 w 26"/>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72">
                  <a:moveTo>
                    <a:pt x="26" y="0"/>
                  </a:moveTo>
                  <a:lnTo>
                    <a:pt x="0" y="72"/>
                  </a:lnTo>
                  <a:lnTo>
                    <a:pt x="26" y="0"/>
                  </a:lnTo>
                  <a:close/>
                  <a:moveTo>
                    <a:pt x="26" y="0"/>
                  </a:moveTo>
                  <a:lnTo>
                    <a:pt x="26"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1" name="Freeform 71"/>
            <p:cNvSpPr>
              <a:spLocks noChangeAspect="1" noEditPoints="1"/>
            </p:cNvSpPr>
            <p:nvPr/>
          </p:nvSpPr>
          <p:spPr bwMode="auto">
            <a:xfrm>
              <a:off x="1530" y="172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2" name="Freeform 72"/>
            <p:cNvSpPr>
              <a:spLocks noChangeAspect="1" noEditPoints="1"/>
            </p:cNvSpPr>
            <p:nvPr/>
          </p:nvSpPr>
          <p:spPr bwMode="auto">
            <a:xfrm>
              <a:off x="1497" y="1726"/>
              <a:ext cx="33" cy="73"/>
            </a:xfrm>
            <a:custGeom>
              <a:avLst/>
              <a:gdLst>
                <a:gd name="T0" fmla="*/ 33 w 33"/>
                <a:gd name="T1" fmla="*/ 0 h 73"/>
                <a:gd name="T2" fmla="*/ 0 w 33"/>
                <a:gd name="T3" fmla="*/ 73 h 73"/>
                <a:gd name="T4" fmla="*/ 33 w 33"/>
                <a:gd name="T5" fmla="*/ 0 h 73"/>
                <a:gd name="T6" fmla="*/ 33 w 33"/>
                <a:gd name="T7" fmla="*/ 0 h 73"/>
                <a:gd name="T8" fmla="*/ 33 w 33"/>
                <a:gd name="T9" fmla="*/ 0 h 73"/>
                <a:gd name="T10" fmla="*/ 33 w 33"/>
                <a:gd name="T11" fmla="*/ 0 h 73"/>
                <a:gd name="T12" fmla="*/ 33 w 33"/>
                <a:gd name="T13" fmla="*/ 0 h 73"/>
                <a:gd name="T14" fmla="*/ 0 60000 65536"/>
                <a:gd name="T15" fmla="*/ 0 60000 65536"/>
                <a:gd name="T16" fmla="*/ 0 60000 65536"/>
                <a:gd name="T17" fmla="*/ 0 60000 65536"/>
                <a:gd name="T18" fmla="*/ 0 60000 65536"/>
                <a:gd name="T19" fmla="*/ 0 60000 65536"/>
                <a:gd name="T20" fmla="*/ 0 60000 65536"/>
                <a:gd name="T21" fmla="*/ 0 w 33"/>
                <a:gd name="T22" fmla="*/ 0 h 73"/>
                <a:gd name="T23" fmla="*/ 33 w 33"/>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73">
                  <a:moveTo>
                    <a:pt x="33" y="0"/>
                  </a:moveTo>
                  <a:lnTo>
                    <a:pt x="0" y="73"/>
                  </a:lnTo>
                  <a:lnTo>
                    <a:pt x="33" y="0"/>
                  </a:lnTo>
                  <a:close/>
                  <a:moveTo>
                    <a:pt x="33" y="0"/>
                  </a:moveTo>
                  <a:lnTo>
                    <a:pt x="33"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3" name="Freeform 73"/>
            <p:cNvSpPr>
              <a:spLocks noChangeAspect="1" noEditPoints="1"/>
            </p:cNvSpPr>
            <p:nvPr/>
          </p:nvSpPr>
          <p:spPr bwMode="auto">
            <a:xfrm>
              <a:off x="1471" y="1726"/>
              <a:ext cx="26" cy="73"/>
            </a:xfrm>
            <a:custGeom>
              <a:avLst/>
              <a:gdLst>
                <a:gd name="T0" fmla="*/ 26 w 26"/>
                <a:gd name="T1" fmla="*/ 73 h 73"/>
                <a:gd name="T2" fmla="*/ 0 w 26"/>
                <a:gd name="T3" fmla="*/ 0 h 73"/>
                <a:gd name="T4" fmla="*/ 26 w 26"/>
                <a:gd name="T5" fmla="*/ 73 h 73"/>
                <a:gd name="T6" fmla="*/ 26 w 26"/>
                <a:gd name="T7" fmla="*/ 73 h 73"/>
                <a:gd name="T8" fmla="*/ 26 w 26"/>
                <a:gd name="T9" fmla="*/ 73 h 73"/>
                <a:gd name="T10" fmla="*/ 26 w 26"/>
                <a:gd name="T11" fmla="*/ 73 h 73"/>
                <a:gd name="T12" fmla="*/ 26 w 26"/>
                <a:gd name="T13" fmla="*/ 73 h 73"/>
                <a:gd name="T14" fmla="*/ 0 60000 65536"/>
                <a:gd name="T15" fmla="*/ 0 60000 65536"/>
                <a:gd name="T16" fmla="*/ 0 60000 65536"/>
                <a:gd name="T17" fmla="*/ 0 60000 65536"/>
                <a:gd name="T18" fmla="*/ 0 60000 65536"/>
                <a:gd name="T19" fmla="*/ 0 60000 65536"/>
                <a:gd name="T20" fmla="*/ 0 60000 65536"/>
                <a:gd name="T21" fmla="*/ 0 w 26"/>
                <a:gd name="T22" fmla="*/ 0 h 73"/>
                <a:gd name="T23" fmla="*/ 26 w 26"/>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73">
                  <a:moveTo>
                    <a:pt x="26" y="73"/>
                  </a:moveTo>
                  <a:lnTo>
                    <a:pt x="0" y="0"/>
                  </a:lnTo>
                  <a:lnTo>
                    <a:pt x="26" y="73"/>
                  </a:lnTo>
                  <a:close/>
                  <a:moveTo>
                    <a:pt x="26" y="73"/>
                  </a:moveTo>
                  <a:lnTo>
                    <a:pt x="26" y="7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4" name="Freeform 74"/>
            <p:cNvSpPr>
              <a:spLocks noChangeAspect="1" noEditPoints="1"/>
            </p:cNvSpPr>
            <p:nvPr/>
          </p:nvSpPr>
          <p:spPr bwMode="auto">
            <a:xfrm>
              <a:off x="1446" y="1654"/>
              <a:ext cx="25" cy="72"/>
            </a:xfrm>
            <a:custGeom>
              <a:avLst/>
              <a:gdLst>
                <a:gd name="T0" fmla="*/ 25 w 25"/>
                <a:gd name="T1" fmla="*/ 72 h 72"/>
                <a:gd name="T2" fmla="*/ 0 w 25"/>
                <a:gd name="T3" fmla="*/ 0 h 72"/>
                <a:gd name="T4" fmla="*/ 25 w 25"/>
                <a:gd name="T5" fmla="*/ 72 h 72"/>
                <a:gd name="T6" fmla="*/ 25 w 25"/>
                <a:gd name="T7" fmla="*/ 72 h 72"/>
                <a:gd name="T8" fmla="*/ 25 w 25"/>
                <a:gd name="T9" fmla="*/ 72 h 72"/>
                <a:gd name="T10" fmla="*/ 25 w 25"/>
                <a:gd name="T11" fmla="*/ 72 h 72"/>
                <a:gd name="T12" fmla="*/ 25 w 25"/>
                <a:gd name="T13" fmla="*/ 72 h 72"/>
                <a:gd name="T14" fmla="*/ 0 60000 65536"/>
                <a:gd name="T15" fmla="*/ 0 60000 65536"/>
                <a:gd name="T16" fmla="*/ 0 60000 65536"/>
                <a:gd name="T17" fmla="*/ 0 60000 65536"/>
                <a:gd name="T18" fmla="*/ 0 60000 65536"/>
                <a:gd name="T19" fmla="*/ 0 60000 65536"/>
                <a:gd name="T20" fmla="*/ 0 60000 65536"/>
                <a:gd name="T21" fmla="*/ 0 w 25"/>
                <a:gd name="T22" fmla="*/ 0 h 72"/>
                <a:gd name="T23" fmla="*/ 25 w 25"/>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2">
                  <a:moveTo>
                    <a:pt x="25" y="72"/>
                  </a:moveTo>
                  <a:lnTo>
                    <a:pt x="0" y="0"/>
                  </a:lnTo>
                  <a:lnTo>
                    <a:pt x="25" y="72"/>
                  </a:lnTo>
                  <a:close/>
                  <a:moveTo>
                    <a:pt x="25" y="72"/>
                  </a:moveTo>
                  <a:lnTo>
                    <a:pt x="25" y="72"/>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5" name="Freeform 75"/>
            <p:cNvSpPr>
              <a:spLocks noChangeAspect="1" noEditPoints="1"/>
            </p:cNvSpPr>
            <p:nvPr/>
          </p:nvSpPr>
          <p:spPr bwMode="auto">
            <a:xfrm>
              <a:off x="1421" y="1654"/>
              <a:ext cx="25" cy="72"/>
            </a:xfrm>
            <a:custGeom>
              <a:avLst/>
              <a:gdLst>
                <a:gd name="T0" fmla="*/ 25 w 25"/>
                <a:gd name="T1" fmla="*/ 0 h 72"/>
                <a:gd name="T2" fmla="*/ 0 w 25"/>
                <a:gd name="T3" fmla="*/ 72 h 72"/>
                <a:gd name="T4" fmla="*/ 25 w 25"/>
                <a:gd name="T5" fmla="*/ 0 h 72"/>
                <a:gd name="T6" fmla="*/ 25 w 25"/>
                <a:gd name="T7" fmla="*/ 0 h 72"/>
                <a:gd name="T8" fmla="*/ 25 w 25"/>
                <a:gd name="T9" fmla="*/ 0 h 72"/>
                <a:gd name="T10" fmla="*/ 25 w 25"/>
                <a:gd name="T11" fmla="*/ 0 h 72"/>
                <a:gd name="T12" fmla="*/ 25 w 25"/>
                <a:gd name="T13" fmla="*/ 0 h 72"/>
                <a:gd name="T14" fmla="*/ 0 60000 65536"/>
                <a:gd name="T15" fmla="*/ 0 60000 65536"/>
                <a:gd name="T16" fmla="*/ 0 60000 65536"/>
                <a:gd name="T17" fmla="*/ 0 60000 65536"/>
                <a:gd name="T18" fmla="*/ 0 60000 65536"/>
                <a:gd name="T19" fmla="*/ 0 60000 65536"/>
                <a:gd name="T20" fmla="*/ 0 60000 65536"/>
                <a:gd name="T21" fmla="*/ 0 w 25"/>
                <a:gd name="T22" fmla="*/ 0 h 72"/>
                <a:gd name="T23" fmla="*/ 25 w 25"/>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2">
                  <a:moveTo>
                    <a:pt x="25" y="0"/>
                  </a:moveTo>
                  <a:lnTo>
                    <a:pt x="0" y="72"/>
                  </a:lnTo>
                  <a:lnTo>
                    <a:pt x="25" y="0"/>
                  </a:lnTo>
                  <a:close/>
                  <a:moveTo>
                    <a:pt x="25" y="0"/>
                  </a:moveTo>
                  <a:lnTo>
                    <a:pt x="2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6" name="Freeform 76"/>
            <p:cNvSpPr>
              <a:spLocks noChangeAspect="1" noEditPoints="1"/>
            </p:cNvSpPr>
            <p:nvPr/>
          </p:nvSpPr>
          <p:spPr bwMode="auto">
            <a:xfrm>
              <a:off x="1396" y="1726"/>
              <a:ext cx="25" cy="73"/>
            </a:xfrm>
            <a:custGeom>
              <a:avLst/>
              <a:gdLst>
                <a:gd name="T0" fmla="*/ 25 w 25"/>
                <a:gd name="T1" fmla="*/ 0 h 73"/>
                <a:gd name="T2" fmla="*/ 0 w 25"/>
                <a:gd name="T3" fmla="*/ 73 h 73"/>
                <a:gd name="T4" fmla="*/ 25 w 25"/>
                <a:gd name="T5" fmla="*/ 0 h 73"/>
                <a:gd name="T6" fmla="*/ 25 w 25"/>
                <a:gd name="T7" fmla="*/ 0 h 73"/>
                <a:gd name="T8" fmla="*/ 25 w 25"/>
                <a:gd name="T9" fmla="*/ 0 h 73"/>
                <a:gd name="T10" fmla="*/ 25 w 25"/>
                <a:gd name="T11" fmla="*/ 0 h 73"/>
                <a:gd name="T12" fmla="*/ 25 w 25"/>
                <a:gd name="T13" fmla="*/ 0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25" y="0"/>
                  </a:moveTo>
                  <a:lnTo>
                    <a:pt x="0" y="73"/>
                  </a:lnTo>
                  <a:lnTo>
                    <a:pt x="25" y="0"/>
                  </a:lnTo>
                  <a:close/>
                  <a:moveTo>
                    <a:pt x="25" y="0"/>
                  </a:moveTo>
                  <a:lnTo>
                    <a:pt x="2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7" name="Freeform 77"/>
            <p:cNvSpPr>
              <a:spLocks noChangeAspect="1" noEditPoints="1"/>
            </p:cNvSpPr>
            <p:nvPr/>
          </p:nvSpPr>
          <p:spPr bwMode="auto">
            <a:xfrm>
              <a:off x="1371" y="1726"/>
              <a:ext cx="25" cy="73"/>
            </a:xfrm>
            <a:custGeom>
              <a:avLst/>
              <a:gdLst>
                <a:gd name="T0" fmla="*/ 25 w 25"/>
                <a:gd name="T1" fmla="*/ 73 h 73"/>
                <a:gd name="T2" fmla="*/ 0 w 25"/>
                <a:gd name="T3" fmla="*/ 0 h 73"/>
                <a:gd name="T4" fmla="*/ 25 w 25"/>
                <a:gd name="T5" fmla="*/ 73 h 73"/>
                <a:gd name="T6" fmla="*/ 25 w 25"/>
                <a:gd name="T7" fmla="*/ 73 h 73"/>
                <a:gd name="T8" fmla="*/ 25 w 25"/>
                <a:gd name="T9" fmla="*/ 73 h 73"/>
                <a:gd name="T10" fmla="*/ 25 w 25"/>
                <a:gd name="T11" fmla="*/ 73 h 73"/>
                <a:gd name="T12" fmla="*/ 25 w 25"/>
                <a:gd name="T13" fmla="*/ 73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25" y="73"/>
                  </a:moveTo>
                  <a:lnTo>
                    <a:pt x="0" y="0"/>
                  </a:lnTo>
                  <a:lnTo>
                    <a:pt x="25" y="73"/>
                  </a:lnTo>
                  <a:close/>
                  <a:moveTo>
                    <a:pt x="25" y="73"/>
                  </a:moveTo>
                  <a:lnTo>
                    <a:pt x="25" y="7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8" name="Freeform 78"/>
            <p:cNvSpPr>
              <a:spLocks noChangeAspect="1" noEditPoints="1"/>
            </p:cNvSpPr>
            <p:nvPr/>
          </p:nvSpPr>
          <p:spPr bwMode="auto">
            <a:xfrm>
              <a:off x="1345" y="1654"/>
              <a:ext cx="26" cy="72"/>
            </a:xfrm>
            <a:custGeom>
              <a:avLst/>
              <a:gdLst>
                <a:gd name="T0" fmla="*/ 26 w 26"/>
                <a:gd name="T1" fmla="*/ 72 h 72"/>
                <a:gd name="T2" fmla="*/ 0 w 26"/>
                <a:gd name="T3" fmla="*/ 0 h 72"/>
                <a:gd name="T4" fmla="*/ 26 w 26"/>
                <a:gd name="T5" fmla="*/ 72 h 72"/>
                <a:gd name="T6" fmla="*/ 26 w 26"/>
                <a:gd name="T7" fmla="*/ 72 h 72"/>
                <a:gd name="T8" fmla="*/ 26 w 26"/>
                <a:gd name="T9" fmla="*/ 72 h 72"/>
                <a:gd name="T10" fmla="*/ 26 w 26"/>
                <a:gd name="T11" fmla="*/ 72 h 72"/>
                <a:gd name="T12" fmla="*/ 26 w 26"/>
                <a:gd name="T13" fmla="*/ 72 h 72"/>
                <a:gd name="T14" fmla="*/ 0 60000 65536"/>
                <a:gd name="T15" fmla="*/ 0 60000 65536"/>
                <a:gd name="T16" fmla="*/ 0 60000 65536"/>
                <a:gd name="T17" fmla="*/ 0 60000 65536"/>
                <a:gd name="T18" fmla="*/ 0 60000 65536"/>
                <a:gd name="T19" fmla="*/ 0 60000 65536"/>
                <a:gd name="T20" fmla="*/ 0 60000 65536"/>
                <a:gd name="T21" fmla="*/ 0 w 26"/>
                <a:gd name="T22" fmla="*/ 0 h 72"/>
                <a:gd name="T23" fmla="*/ 26 w 26"/>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72">
                  <a:moveTo>
                    <a:pt x="26" y="72"/>
                  </a:moveTo>
                  <a:lnTo>
                    <a:pt x="0" y="0"/>
                  </a:lnTo>
                  <a:lnTo>
                    <a:pt x="26" y="72"/>
                  </a:lnTo>
                  <a:close/>
                  <a:moveTo>
                    <a:pt x="26" y="72"/>
                  </a:moveTo>
                  <a:lnTo>
                    <a:pt x="26" y="72"/>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09" name="Freeform 79"/>
            <p:cNvSpPr>
              <a:spLocks noChangeAspect="1" noEditPoints="1"/>
            </p:cNvSpPr>
            <p:nvPr/>
          </p:nvSpPr>
          <p:spPr bwMode="auto">
            <a:xfrm>
              <a:off x="1320" y="1654"/>
              <a:ext cx="25" cy="72"/>
            </a:xfrm>
            <a:custGeom>
              <a:avLst/>
              <a:gdLst>
                <a:gd name="T0" fmla="*/ 25 w 25"/>
                <a:gd name="T1" fmla="*/ 0 h 72"/>
                <a:gd name="T2" fmla="*/ 0 w 25"/>
                <a:gd name="T3" fmla="*/ 72 h 72"/>
                <a:gd name="T4" fmla="*/ 25 w 25"/>
                <a:gd name="T5" fmla="*/ 0 h 72"/>
                <a:gd name="T6" fmla="*/ 25 w 25"/>
                <a:gd name="T7" fmla="*/ 0 h 72"/>
                <a:gd name="T8" fmla="*/ 25 w 25"/>
                <a:gd name="T9" fmla="*/ 0 h 72"/>
                <a:gd name="T10" fmla="*/ 25 w 25"/>
                <a:gd name="T11" fmla="*/ 0 h 72"/>
                <a:gd name="T12" fmla="*/ 25 w 25"/>
                <a:gd name="T13" fmla="*/ 0 h 72"/>
                <a:gd name="T14" fmla="*/ 0 60000 65536"/>
                <a:gd name="T15" fmla="*/ 0 60000 65536"/>
                <a:gd name="T16" fmla="*/ 0 60000 65536"/>
                <a:gd name="T17" fmla="*/ 0 60000 65536"/>
                <a:gd name="T18" fmla="*/ 0 60000 65536"/>
                <a:gd name="T19" fmla="*/ 0 60000 65536"/>
                <a:gd name="T20" fmla="*/ 0 60000 65536"/>
                <a:gd name="T21" fmla="*/ 0 w 25"/>
                <a:gd name="T22" fmla="*/ 0 h 72"/>
                <a:gd name="T23" fmla="*/ 25 w 25"/>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2">
                  <a:moveTo>
                    <a:pt x="25" y="0"/>
                  </a:moveTo>
                  <a:lnTo>
                    <a:pt x="0" y="72"/>
                  </a:lnTo>
                  <a:lnTo>
                    <a:pt x="25" y="0"/>
                  </a:lnTo>
                  <a:close/>
                  <a:moveTo>
                    <a:pt x="25" y="0"/>
                  </a:moveTo>
                  <a:lnTo>
                    <a:pt x="2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0" name="Freeform 80"/>
            <p:cNvSpPr>
              <a:spLocks noChangeAspect="1" noEditPoints="1"/>
            </p:cNvSpPr>
            <p:nvPr/>
          </p:nvSpPr>
          <p:spPr bwMode="auto">
            <a:xfrm>
              <a:off x="1295" y="1726"/>
              <a:ext cx="25" cy="73"/>
            </a:xfrm>
            <a:custGeom>
              <a:avLst/>
              <a:gdLst>
                <a:gd name="T0" fmla="*/ 25 w 25"/>
                <a:gd name="T1" fmla="*/ 0 h 73"/>
                <a:gd name="T2" fmla="*/ 0 w 25"/>
                <a:gd name="T3" fmla="*/ 73 h 73"/>
                <a:gd name="T4" fmla="*/ 25 w 25"/>
                <a:gd name="T5" fmla="*/ 0 h 73"/>
                <a:gd name="T6" fmla="*/ 25 w 25"/>
                <a:gd name="T7" fmla="*/ 0 h 73"/>
                <a:gd name="T8" fmla="*/ 25 w 25"/>
                <a:gd name="T9" fmla="*/ 0 h 73"/>
                <a:gd name="T10" fmla="*/ 25 w 25"/>
                <a:gd name="T11" fmla="*/ 0 h 73"/>
                <a:gd name="T12" fmla="*/ 25 w 25"/>
                <a:gd name="T13" fmla="*/ 0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25" y="0"/>
                  </a:moveTo>
                  <a:lnTo>
                    <a:pt x="0" y="73"/>
                  </a:lnTo>
                  <a:lnTo>
                    <a:pt x="25" y="0"/>
                  </a:lnTo>
                  <a:close/>
                  <a:moveTo>
                    <a:pt x="25" y="0"/>
                  </a:moveTo>
                  <a:lnTo>
                    <a:pt x="2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1" name="Freeform 81"/>
            <p:cNvSpPr>
              <a:spLocks noChangeAspect="1" noEditPoints="1"/>
            </p:cNvSpPr>
            <p:nvPr/>
          </p:nvSpPr>
          <p:spPr bwMode="auto">
            <a:xfrm>
              <a:off x="1270" y="1726"/>
              <a:ext cx="25" cy="73"/>
            </a:xfrm>
            <a:custGeom>
              <a:avLst/>
              <a:gdLst>
                <a:gd name="T0" fmla="*/ 25 w 25"/>
                <a:gd name="T1" fmla="*/ 73 h 73"/>
                <a:gd name="T2" fmla="*/ 0 w 25"/>
                <a:gd name="T3" fmla="*/ 0 h 73"/>
                <a:gd name="T4" fmla="*/ 25 w 25"/>
                <a:gd name="T5" fmla="*/ 73 h 73"/>
                <a:gd name="T6" fmla="*/ 25 w 25"/>
                <a:gd name="T7" fmla="*/ 73 h 73"/>
                <a:gd name="T8" fmla="*/ 25 w 25"/>
                <a:gd name="T9" fmla="*/ 73 h 73"/>
                <a:gd name="T10" fmla="*/ 25 w 25"/>
                <a:gd name="T11" fmla="*/ 73 h 73"/>
                <a:gd name="T12" fmla="*/ 25 w 25"/>
                <a:gd name="T13" fmla="*/ 73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25" y="73"/>
                  </a:moveTo>
                  <a:lnTo>
                    <a:pt x="0" y="0"/>
                  </a:lnTo>
                  <a:lnTo>
                    <a:pt x="25" y="73"/>
                  </a:lnTo>
                  <a:close/>
                  <a:moveTo>
                    <a:pt x="25" y="73"/>
                  </a:moveTo>
                  <a:lnTo>
                    <a:pt x="25" y="73"/>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2" name="Freeform 82"/>
            <p:cNvSpPr>
              <a:spLocks noChangeAspect="1" noEditPoints="1"/>
            </p:cNvSpPr>
            <p:nvPr/>
          </p:nvSpPr>
          <p:spPr bwMode="auto">
            <a:xfrm>
              <a:off x="1244" y="1654"/>
              <a:ext cx="26" cy="72"/>
            </a:xfrm>
            <a:custGeom>
              <a:avLst/>
              <a:gdLst>
                <a:gd name="T0" fmla="*/ 26 w 26"/>
                <a:gd name="T1" fmla="*/ 72 h 72"/>
                <a:gd name="T2" fmla="*/ 0 w 26"/>
                <a:gd name="T3" fmla="*/ 0 h 72"/>
                <a:gd name="T4" fmla="*/ 26 w 26"/>
                <a:gd name="T5" fmla="*/ 72 h 72"/>
                <a:gd name="T6" fmla="*/ 26 w 26"/>
                <a:gd name="T7" fmla="*/ 72 h 72"/>
                <a:gd name="T8" fmla="*/ 26 w 26"/>
                <a:gd name="T9" fmla="*/ 72 h 72"/>
                <a:gd name="T10" fmla="*/ 26 w 26"/>
                <a:gd name="T11" fmla="*/ 72 h 72"/>
                <a:gd name="T12" fmla="*/ 26 w 26"/>
                <a:gd name="T13" fmla="*/ 72 h 72"/>
                <a:gd name="T14" fmla="*/ 0 60000 65536"/>
                <a:gd name="T15" fmla="*/ 0 60000 65536"/>
                <a:gd name="T16" fmla="*/ 0 60000 65536"/>
                <a:gd name="T17" fmla="*/ 0 60000 65536"/>
                <a:gd name="T18" fmla="*/ 0 60000 65536"/>
                <a:gd name="T19" fmla="*/ 0 60000 65536"/>
                <a:gd name="T20" fmla="*/ 0 60000 65536"/>
                <a:gd name="T21" fmla="*/ 0 w 26"/>
                <a:gd name="T22" fmla="*/ 0 h 72"/>
                <a:gd name="T23" fmla="*/ 26 w 26"/>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72">
                  <a:moveTo>
                    <a:pt x="26" y="72"/>
                  </a:moveTo>
                  <a:lnTo>
                    <a:pt x="0" y="0"/>
                  </a:lnTo>
                  <a:lnTo>
                    <a:pt x="26" y="72"/>
                  </a:lnTo>
                  <a:close/>
                  <a:moveTo>
                    <a:pt x="26" y="72"/>
                  </a:moveTo>
                  <a:lnTo>
                    <a:pt x="26" y="72"/>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3" name="Freeform 83"/>
            <p:cNvSpPr>
              <a:spLocks noChangeAspect="1" noEditPoints="1"/>
            </p:cNvSpPr>
            <p:nvPr/>
          </p:nvSpPr>
          <p:spPr bwMode="auto">
            <a:xfrm>
              <a:off x="1211" y="1654"/>
              <a:ext cx="33" cy="72"/>
            </a:xfrm>
            <a:custGeom>
              <a:avLst/>
              <a:gdLst>
                <a:gd name="T0" fmla="*/ 33 w 33"/>
                <a:gd name="T1" fmla="*/ 0 h 72"/>
                <a:gd name="T2" fmla="*/ 0 w 33"/>
                <a:gd name="T3" fmla="*/ 72 h 72"/>
                <a:gd name="T4" fmla="*/ 33 w 33"/>
                <a:gd name="T5" fmla="*/ 0 h 72"/>
                <a:gd name="T6" fmla="*/ 33 w 33"/>
                <a:gd name="T7" fmla="*/ 0 h 72"/>
                <a:gd name="T8" fmla="*/ 33 w 33"/>
                <a:gd name="T9" fmla="*/ 0 h 72"/>
                <a:gd name="T10" fmla="*/ 33 w 33"/>
                <a:gd name="T11" fmla="*/ 0 h 72"/>
                <a:gd name="T12" fmla="*/ 33 w 33"/>
                <a:gd name="T13" fmla="*/ 0 h 72"/>
                <a:gd name="T14" fmla="*/ 0 60000 65536"/>
                <a:gd name="T15" fmla="*/ 0 60000 65536"/>
                <a:gd name="T16" fmla="*/ 0 60000 65536"/>
                <a:gd name="T17" fmla="*/ 0 60000 65536"/>
                <a:gd name="T18" fmla="*/ 0 60000 65536"/>
                <a:gd name="T19" fmla="*/ 0 60000 65536"/>
                <a:gd name="T20" fmla="*/ 0 60000 65536"/>
                <a:gd name="T21" fmla="*/ 0 w 33"/>
                <a:gd name="T22" fmla="*/ 0 h 72"/>
                <a:gd name="T23" fmla="*/ 33 w 3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72">
                  <a:moveTo>
                    <a:pt x="33" y="0"/>
                  </a:moveTo>
                  <a:lnTo>
                    <a:pt x="0" y="72"/>
                  </a:lnTo>
                  <a:lnTo>
                    <a:pt x="33" y="0"/>
                  </a:lnTo>
                  <a:close/>
                  <a:moveTo>
                    <a:pt x="33" y="0"/>
                  </a:moveTo>
                  <a:lnTo>
                    <a:pt x="33"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4" name="Freeform 84"/>
            <p:cNvSpPr>
              <a:spLocks noChangeAspect="1"/>
            </p:cNvSpPr>
            <p:nvPr/>
          </p:nvSpPr>
          <p:spPr bwMode="auto">
            <a:xfrm>
              <a:off x="4886" y="2060"/>
              <a:ext cx="50" cy="486"/>
            </a:xfrm>
            <a:custGeom>
              <a:avLst/>
              <a:gdLst>
                <a:gd name="T0" fmla="*/ 50 w 50"/>
                <a:gd name="T1" fmla="*/ 486 h 486"/>
                <a:gd name="T2" fmla="*/ 0 w 50"/>
                <a:gd name="T3" fmla="*/ 486 h 486"/>
                <a:gd name="T4" fmla="*/ 0 w 50"/>
                <a:gd name="T5" fmla="*/ 0 h 486"/>
                <a:gd name="T6" fmla="*/ 50 w 50"/>
                <a:gd name="T7" fmla="*/ 0 h 486"/>
                <a:gd name="T8" fmla="*/ 50 w 50"/>
                <a:gd name="T9" fmla="*/ 486 h 486"/>
                <a:gd name="T10" fmla="*/ 50 w 50"/>
                <a:gd name="T11" fmla="*/ 486 h 486"/>
                <a:gd name="T12" fmla="*/ 0 60000 65536"/>
                <a:gd name="T13" fmla="*/ 0 60000 65536"/>
                <a:gd name="T14" fmla="*/ 0 60000 65536"/>
                <a:gd name="T15" fmla="*/ 0 60000 65536"/>
                <a:gd name="T16" fmla="*/ 0 60000 65536"/>
                <a:gd name="T17" fmla="*/ 0 60000 65536"/>
                <a:gd name="T18" fmla="*/ 0 w 50"/>
                <a:gd name="T19" fmla="*/ 0 h 486"/>
                <a:gd name="T20" fmla="*/ 50 w 50"/>
                <a:gd name="T21" fmla="*/ 486 h 486"/>
              </a:gdLst>
              <a:ahLst/>
              <a:cxnLst>
                <a:cxn ang="T12">
                  <a:pos x="T0" y="T1"/>
                </a:cxn>
                <a:cxn ang="T13">
                  <a:pos x="T2" y="T3"/>
                </a:cxn>
                <a:cxn ang="T14">
                  <a:pos x="T4" y="T5"/>
                </a:cxn>
                <a:cxn ang="T15">
                  <a:pos x="T6" y="T7"/>
                </a:cxn>
                <a:cxn ang="T16">
                  <a:pos x="T8" y="T9"/>
                </a:cxn>
                <a:cxn ang="T17">
                  <a:pos x="T10" y="T11"/>
                </a:cxn>
              </a:cxnLst>
              <a:rect l="T18" t="T19" r="T20" b="T21"/>
              <a:pathLst>
                <a:path w="50" h="486">
                  <a:moveTo>
                    <a:pt x="50" y="486"/>
                  </a:moveTo>
                  <a:lnTo>
                    <a:pt x="0" y="486"/>
                  </a:lnTo>
                  <a:lnTo>
                    <a:pt x="0" y="0"/>
                  </a:lnTo>
                  <a:lnTo>
                    <a:pt x="50" y="0"/>
                  </a:lnTo>
                  <a:lnTo>
                    <a:pt x="50" y="486"/>
                  </a:lnTo>
                  <a:close/>
                </a:path>
              </a:pathLst>
            </a:custGeom>
            <a:solidFill>
              <a:schemeClr val="bg1"/>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5" name="Freeform 85"/>
            <p:cNvSpPr>
              <a:spLocks noChangeAspect="1"/>
            </p:cNvSpPr>
            <p:nvPr/>
          </p:nvSpPr>
          <p:spPr bwMode="auto">
            <a:xfrm>
              <a:off x="4911" y="2053"/>
              <a:ext cx="59" cy="29"/>
            </a:xfrm>
            <a:custGeom>
              <a:avLst/>
              <a:gdLst>
                <a:gd name="T0" fmla="*/ 0 w 59"/>
                <a:gd name="T1" fmla="*/ 0 h 29"/>
                <a:gd name="T2" fmla="*/ 59 w 59"/>
                <a:gd name="T3" fmla="*/ 29 h 29"/>
                <a:gd name="T4" fmla="*/ 0 w 59"/>
                <a:gd name="T5" fmla="*/ 0 h 29"/>
                <a:gd name="T6" fmla="*/ 0 w 59"/>
                <a:gd name="T7" fmla="*/ 0 h 29"/>
                <a:gd name="T8" fmla="*/ 0 60000 65536"/>
                <a:gd name="T9" fmla="*/ 0 60000 65536"/>
                <a:gd name="T10" fmla="*/ 0 60000 65536"/>
                <a:gd name="T11" fmla="*/ 0 60000 65536"/>
                <a:gd name="T12" fmla="*/ 0 w 59"/>
                <a:gd name="T13" fmla="*/ 0 h 29"/>
                <a:gd name="T14" fmla="*/ 59 w 59"/>
                <a:gd name="T15" fmla="*/ 29 h 29"/>
              </a:gdLst>
              <a:ahLst/>
              <a:cxnLst>
                <a:cxn ang="T8">
                  <a:pos x="T0" y="T1"/>
                </a:cxn>
                <a:cxn ang="T9">
                  <a:pos x="T2" y="T3"/>
                </a:cxn>
                <a:cxn ang="T10">
                  <a:pos x="T4" y="T5"/>
                </a:cxn>
                <a:cxn ang="T11">
                  <a:pos x="T6" y="T7"/>
                </a:cxn>
              </a:cxnLst>
              <a:rect l="T12" t="T13" r="T14" b="T15"/>
              <a:pathLst>
                <a:path w="59" h="29">
                  <a:moveTo>
                    <a:pt x="0" y="0"/>
                  </a:moveTo>
                  <a:lnTo>
                    <a:pt x="59" y="29"/>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6" name="Freeform 86"/>
            <p:cNvSpPr>
              <a:spLocks noChangeAspect="1" noEditPoints="1"/>
            </p:cNvSpPr>
            <p:nvPr/>
          </p:nvSpPr>
          <p:spPr bwMode="auto">
            <a:xfrm>
              <a:off x="4911" y="2082"/>
              <a:ext cx="59" cy="36"/>
            </a:xfrm>
            <a:custGeom>
              <a:avLst/>
              <a:gdLst>
                <a:gd name="T0" fmla="*/ 59 w 59"/>
                <a:gd name="T1" fmla="*/ 0 h 36"/>
                <a:gd name="T2" fmla="*/ 0 w 59"/>
                <a:gd name="T3" fmla="*/ 36 h 36"/>
                <a:gd name="T4" fmla="*/ 59 w 59"/>
                <a:gd name="T5" fmla="*/ 0 h 36"/>
                <a:gd name="T6" fmla="*/ 59 w 59"/>
                <a:gd name="T7" fmla="*/ 0 h 36"/>
                <a:gd name="T8" fmla="*/ 59 w 59"/>
                <a:gd name="T9" fmla="*/ 0 h 36"/>
                <a:gd name="T10" fmla="*/ 59 w 59"/>
                <a:gd name="T11" fmla="*/ 0 h 36"/>
                <a:gd name="T12" fmla="*/ 59 w 59"/>
                <a:gd name="T13" fmla="*/ 0 h 36"/>
                <a:gd name="T14" fmla="*/ 0 60000 65536"/>
                <a:gd name="T15" fmla="*/ 0 60000 65536"/>
                <a:gd name="T16" fmla="*/ 0 60000 65536"/>
                <a:gd name="T17" fmla="*/ 0 60000 65536"/>
                <a:gd name="T18" fmla="*/ 0 60000 65536"/>
                <a:gd name="T19" fmla="*/ 0 60000 65536"/>
                <a:gd name="T20" fmla="*/ 0 60000 65536"/>
                <a:gd name="T21" fmla="*/ 0 w 59"/>
                <a:gd name="T22" fmla="*/ 0 h 36"/>
                <a:gd name="T23" fmla="*/ 59 w 5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6">
                  <a:moveTo>
                    <a:pt x="59" y="0"/>
                  </a:moveTo>
                  <a:lnTo>
                    <a:pt x="0" y="36"/>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7" name="Freeform 87"/>
            <p:cNvSpPr>
              <a:spLocks noChangeAspect="1" noEditPoints="1"/>
            </p:cNvSpPr>
            <p:nvPr/>
          </p:nvSpPr>
          <p:spPr bwMode="auto">
            <a:xfrm>
              <a:off x="4844" y="2118"/>
              <a:ext cx="67" cy="29"/>
            </a:xfrm>
            <a:custGeom>
              <a:avLst/>
              <a:gdLst>
                <a:gd name="T0" fmla="*/ 67 w 67"/>
                <a:gd name="T1" fmla="*/ 0 h 29"/>
                <a:gd name="T2" fmla="*/ 0 w 67"/>
                <a:gd name="T3" fmla="*/ 29 h 29"/>
                <a:gd name="T4" fmla="*/ 67 w 67"/>
                <a:gd name="T5" fmla="*/ 0 h 29"/>
                <a:gd name="T6" fmla="*/ 67 w 67"/>
                <a:gd name="T7" fmla="*/ 0 h 29"/>
                <a:gd name="T8" fmla="*/ 67 w 67"/>
                <a:gd name="T9" fmla="*/ 0 h 29"/>
                <a:gd name="T10" fmla="*/ 67 w 67"/>
                <a:gd name="T11" fmla="*/ 0 h 29"/>
                <a:gd name="T12" fmla="*/ 67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67" y="0"/>
                  </a:moveTo>
                  <a:lnTo>
                    <a:pt x="0" y="29"/>
                  </a:lnTo>
                  <a:lnTo>
                    <a:pt x="67" y="0"/>
                  </a:lnTo>
                  <a:close/>
                  <a:moveTo>
                    <a:pt x="67" y="0"/>
                  </a:moveTo>
                  <a:lnTo>
                    <a:pt x="67"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8" name="Freeform 88"/>
            <p:cNvSpPr>
              <a:spLocks noChangeAspect="1" noEditPoints="1"/>
            </p:cNvSpPr>
            <p:nvPr/>
          </p:nvSpPr>
          <p:spPr bwMode="auto">
            <a:xfrm>
              <a:off x="4844" y="2147"/>
              <a:ext cx="67" cy="29"/>
            </a:xfrm>
            <a:custGeom>
              <a:avLst/>
              <a:gdLst>
                <a:gd name="T0" fmla="*/ 0 w 67"/>
                <a:gd name="T1" fmla="*/ 0 h 29"/>
                <a:gd name="T2" fmla="*/ 67 w 67"/>
                <a:gd name="T3" fmla="*/ 29 h 29"/>
                <a:gd name="T4" fmla="*/ 0 w 67"/>
                <a:gd name="T5" fmla="*/ 0 h 29"/>
                <a:gd name="T6" fmla="*/ 0 w 67"/>
                <a:gd name="T7" fmla="*/ 0 h 29"/>
                <a:gd name="T8" fmla="*/ 0 w 67"/>
                <a:gd name="T9" fmla="*/ 0 h 29"/>
                <a:gd name="T10" fmla="*/ 0 w 67"/>
                <a:gd name="T11" fmla="*/ 0 h 29"/>
                <a:gd name="T12" fmla="*/ 0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0" y="0"/>
                  </a:moveTo>
                  <a:lnTo>
                    <a:pt x="67"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19" name="Freeform 89"/>
            <p:cNvSpPr>
              <a:spLocks noChangeAspect="1" noEditPoints="1"/>
            </p:cNvSpPr>
            <p:nvPr/>
          </p:nvSpPr>
          <p:spPr bwMode="auto">
            <a:xfrm>
              <a:off x="4911" y="217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0" name="Freeform 90"/>
            <p:cNvSpPr>
              <a:spLocks noChangeAspect="1" noEditPoints="1"/>
            </p:cNvSpPr>
            <p:nvPr/>
          </p:nvSpPr>
          <p:spPr bwMode="auto">
            <a:xfrm>
              <a:off x="4911" y="2176"/>
              <a:ext cx="59" cy="36"/>
            </a:xfrm>
            <a:custGeom>
              <a:avLst/>
              <a:gdLst>
                <a:gd name="T0" fmla="*/ 0 w 59"/>
                <a:gd name="T1" fmla="*/ 0 h 36"/>
                <a:gd name="T2" fmla="*/ 59 w 59"/>
                <a:gd name="T3" fmla="*/ 36 h 36"/>
                <a:gd name="T4" fmla="*/ 0 w 59"/>
                <a:gd name="T5" fmla="*/ 0 h 36"/>
                <a:gd name="T6" fmla="*/ 0 w 59"/>
                <a:gd name="T7" fmla="*/ 0 h 36"/>
                <a:gd name="T8" fmla="*/ 0 w 59"/>
                <a:gd name="T9" fmla="*/ 0 h 36"/>
                <a:gd name="T10" fmla="*/ 0 w 59"/>
                <a:gd name="T11" fmla="*/ 0 h 36"/>
                <a:gd name="T12" fmla="*/ 0 w 59"/>
                <a:gd name="T13" fmla="*/ 0 h 36"/>
                <a:gd name="T14" fmla="*/ 0 60000 65536"/>
                <a:gd name="T15" fmla="*/ 0 60000 65536"/>
                <a:gd name="T16" fmla="*/ 0 60000 65536"/>
                <a:gd name="T17" fmla="*/ 0 60000 65536"/>
                <a:gd name="T18" fmla="*/ 0 60000 65536"/>
                <a:gd name="T19" fmla="*/ 0 60000 65536"/>
                <a:gd name="T20" fmla="*/ 0 60000 65536"/>
                <a:gd name="T21" fmla="*/ 0 w 59"/>
                <a:gd name="T22" fmla="*/ 0 h 36"/>
                <a:gd name="T23" fmla="*/ 59 w 5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6">
                  <a:moveTo>
                    <a:pt x="0" y="0"/>
                  </a:moveTo>
                  <a:lnTo>
                    <a:pt x="59" y="36"/>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1" name="Freeform 91"/>
            <p:cNvSpPr>
              <a:spLocks noChangeAspect="1" noEditPoints="1"/>
            </p:cNvSpPr>
            <p:nvPr/>
          </p:nvSpPr>
          <p:spPr bwMode="auto">
            <a:xfrm>
              <a:off x="4911" y="2212"/>
              <a:ext cx="59" cy="29"/>
            </a:xfrm>
            <a:custGeom>
              <a:avLst/>
              <a:gdLst>
                <a:gd name="T0" fmla="*/ 59 w 59"/>
                <a:gd name="T1" fmla="*/ 0 h 29"/>
                <a:gd name="T2" fmla="*/ 0 w 59"/>
                <a:gd name="T3" fmla="*/ 29 h 29"/>
                <a:gd name="T4" fmla="*/ 59 w 59"/>
                <a:gd name="T5" fmla="*/ 0 h 29"/>
                <a:gd name="T6" fmla="*/ 59 w 59"/>
                <a:gd name="T7" fmla="*/ 0 h 29"/>
                <a:gd name="T8" fmla="*/ 59 w 59"/>
                <a:gd name="T9" fmla="*/ 0 h 29"/>
                <a:gd name="T10" fmla="*/ 59 w 59"/>
                <a:gd name="T11" fmla="*/ 0 h 29"/>
                <a:gd name="T12" fmla="*/ 59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59" y="0"/>
                  </a:moveTo>
                  <a:lnTo>
                    <a:pt x="0" y="29"/>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2" name="Freeform 92"/>
            <p:cNvSpPr>
              <a:spLocks noChangeAspect="1" noEditPoints="1"/>
            </p:cNvSpPr>
            <p:nvPr/>
          </p:nvSpPr>
          <p:spPr bwMode="auto">
            <a:xfrm>
              <a:off x="4844" y="2241"/>
              <a:ext cx="67" cy="29"/>
            </a:xfrm>
            <a:custGeom>
              <a:avLst/>
              <a:gdLst>
                <a:gd name="T0" fmla="*/ 67 w 67"/>
                <a:gd name="T1" fmla="*/ 0 h 29"/>
                <a:gd name="T2" fmla="*/ 0 w 67"/>
                <a:gd name="T3" fmla="*/ 29 h 29"/>
                <a:gd name="T4" fmla="*/ 67 w 67"/>
                <a:gd name="T5" fmla="*/ 0 h 29"/>
                <a:gd name="T6" fmla="*/ 67 w 67"/>
                <a:gd name="T7" fmla="*/ 0 h 29"/>
                <a:gd name="T8" fmla="*/ 67 w 67"/>
                <a:gd name="T9" fmla="*/ 0 h 29"/>
                <a:gd name="T10" fmla="*/ 67 w 67"/>
                <a:gd name="T11" fmla="*/ 0 h 29"/>
                <a:gd name="T12" fmla="*/ 67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67" y="0"/>
                  </a:moveTo>
                  <a:lnTo>
                    <a:pt x="0" y="29"/>
                  </a:lnTo>
                  <a:lnTo>
                    <a:pt x="67" y="0"/>
                  </a:lnTo>
                  <a:close/>
                  <a:moveTo>
                    <a:pt x="67" y="0"/>
                  </a:moveTo>
                  <a:lnTo>
                    <a:pt x="67"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3" name="Freeform 93"/>
            <p:cNvSpPr>
              <a:spLocks noChangeAspect="1" noEditPoints="1"/>
            </p:cNvSpPr>
            <p:nvPr/>
          </p:nvSpPr>
          <p:spPr bwMode="auto">
            <a:xfrm>
              <a:off x="4844" y="2270"/>
              <a:ext cx="67" cy="29"/>
            </a:xfrm>
            <a:custGeom>
              <a:avLst/>
              <a:gdLst>
                <a:gd name="T0" fmla="*/ 0 w 67"/>
                <a:gd name="T1" fmla="*/ 0 h 29"/>
                <a:gd name="T2" fmla="*/ 67 w 67"/>
                <a:gd name="T3" fmla="*/ 29 h 29"/>
                <a:gd name="T4" fmla="*/ 0 w 67"/>
                <a:gd name="T5" fmla="*/ 0 h 29"/>
                <a:gd name="T6" fmla="*/ 0 w 67"/>
                <a:gd name="T7" fmla="*/ 0 h 29"/>
                <a:gd name="T8" fmla="*/ 0 w 67"/>
                <a:gd name="T9" fmla="*/ 0 h 29"/>
                <a:gd name="T10" fmla="*/ 0 w 67"/>
                <a:gd name="T11" fmla="*/ 0 h 29"/>
                <a:gd name="T12" fmla="*/ 0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0" y="0"/>
                  </a:moveTo>
                  <a:lnTo>
                    <a:pt x="67"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4" name="Freeform 94"/>
            <p:cNvSpPr>
              <a:spLocks noChangeAspect="1" noEditPoints="1"/>
            </p:cNvSpPr>
            <p:nvPr/>
          </p:nvSpPr>
          <p:spPr bwMode="auto">
            <a:xfrm>
              <a:off x="4911" y="2299"/>
              <a:ext cx="59" cy="36"/>
            </a:xfrm>
            <a:custGeom>
              <a:avLst/>
              <a:gdLst>
                <a:gd name="T0" fmla="*/ 0 w 59"/>
                <a:gd name="T1" fmla="*/ 0 h 36"/>
                <a:gd name="T2" fmla="*/ 59 w 59"/>
                <a:gd name="T3" fmla="*/ 36 h 36"/>
                <a:gd name="T4" fmla="*/ 0 w 59"/>
                <a:gd name="T5" fmla="*/ 0 h 36"/>
                <a:gd name="T6" fmla="*/ 0 w 59"/>
                <a:gd name="T7" fmla="*/ 0 h 36"/>
                <a:gd name="T8" fmla="*/ 0 w 59"/>
                <a:gd name="T9" fmla="*/ 0 h 36"/>
                <a:gd name="T10" fmla="*/ 0 w 59"/>
                <a:gd name="T11" fmla="*/ 0 h 36"/>
                <a:gd name="T12" fmla="*/ 0 w 59"/>
                <a:gd name="T13" fmla="*/ 0 h 36"/>
                <a:gd name="T14" fmla="*/ 0 60000 65536"/>
                <a:gd name="T15" fmla="*/ 0 60000 65536"/>
                <a:gd name="T16" fmla="*/ 0 60000 65536"/>
                <a:gd name="T17" fmla="*/ 0 60000 65536"/>
                <a:gd name="T18" fmla="*/ 0 60000 65536"/>
                <a:gd name="T19" fmla="*/ 0 60000 65536"/>
                <a:gd name="T20" fmla="*/ 0 60000 65536"/>
                <a:gd name="T21" fmla="*/ 0 w 59"/>
                <a:gd name="T22" fmla="*/ 0 h 36"/>
                <a:gd name="T23" fmla="*/ 59 w 5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6">
                  <a:moveTo>
                    <a:pt x="0" y="0"/>
                  </a:moveTo>
                  <a:lnTo>
                    <a:pt x="59" y="36"/>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5" name="Freeform 95"/>
            <p:cNvSpPr>
              <a:spLocks noChangeAspect="1" noEditPoints="1"/>
            </p:cNvSpPr>
            <p:nvPr/>
          </p:nvSpPr>
          <p:spPr bwMode="auto">
            <a:xfrm>
              <a:off x="4911" y="2335"/>
              <a:ext cx="59" cy="29"/>
            </a:xfrm>
            <a:custGeom>
              <a:avLst/>
              <a:gdLst>
                <a:gd name="T0" fmla="*/ 59 w 59"/>
                <a:gd name="T1" fmla="*/ 0 h 29"/>
                <a:gd name="T2" fmla="*/ 0 w 59"/>
                <a:gd name="T3" fmla="*/ 29 h 29"/>
                <a:gd name="T4" fmla="*/ 59 w 59"/>
                <a:gd name="T5" fmla="*/ 0 h 29"/>
                <a:gd name="T6" fmla="*/ 59 w 59"/>
                <a:gd name="T7" fmla="*/ 0 h 29"/>
                <a:gd name="T8" fmla="*/ 59 w 59"/>
                <a:gd name="T9" fmla="*/ 0 h 29"/>
                <a:gd name="T10" fmla="*/ 59 w 59"/>
                <a:gd name="T11" fmla="*/ 0 h 29"/>
                <a:gd name="T12" fmla="*/ 59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59" y="0"/>
                  </a:moveTo>
                  <a:lnTo>
                    <a:pt x="0" y="29"/>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6" name="Freeform 96"/>
            <p:cNvSpPr>
              <a:spLocks noChangeAspect="1" noEditPoints="1"/>
            </p:cNvSpPr>
            <p:nvPr/>
          </p:nvSpPr>
          <p:spPr bwMode="auto">
            <a:xfrm>
              <a:off x="4844" y="2364"/>
              <a:ext cx="67" cy="29"/>
            </a:xfrm>
            <a:custGeom>
              <a:avLst/>
              <a:gdLst>
                <a:gd name="T0" fmla="*/ 67 w 67"/>
                <a:gd name="T1" fmla="*/ 0 h 29"/>
                <a:gd name="T2" fmla="*/ 0 w 67"/>
                <a:gd name="T3" fmla="*/ 29 h 29"/>
                <a:gd name="T4" fmla="*/ 67 w 67"/>
                <a:gd name="T5" fmla="*/ 0 h 29"/>
                <a:gd name="T6" fmla="*/ 67 w 67"/>
                <a:gd name="T7" fmla="*/ 0 h 29"/>
                <a:gd name="T8" fmla="*/ 67 w 67"/>
                <a:gd name="T9" fmla="*/ 0 h 29"/>
                <a:gd name="T10" fmla="*/ 67 w 67"/>
                <a:gd name="T11" fmla="*/ 0 h 29"/>
                <a:gd name="T12" fmla="*/ 67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67" y="0"/>
                  </a:moveTo>
                  <a:lnTo>
                    <a:pt x="0" y="29"/>
                  </a:lnTo>
                  <a:lnTo>
                    <a:pt x="67" y="0"/>
                  </a:lnTo>
                  <a:close/>
                  <a:moveTo>
                    <a:pt x="67" y="0"/>
                  </a:moveTo>
                  <a:lnTo>
                    <a:pt x="67"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7" name="Freeform 97"/>
            <p:cNvSpPr>
              <a:spLocks noChangeAspect="1" noEditPoints="1"/>
            </p:cNvSpPr>
            <p:nvPr/>
          </p:nvSpPr>
          <p:spPr bwMode="auto">
            <a:xfrm>
              <a:off x="4844" y="2393"/>
              <a:ext cx="67" cy="29"/>
            </a:xfrm>
            <a:custGeom>
              <a:avLst/>
              <a:gdLst>
                <a:gd name="T0" fmla="*/ 0 w 67"/>
                <a:gd name="T1" fmla="*/ 0 h 29"/>
                <a:gd name="T2" fmla="*/ 67 w 67"/>
                <a:gd name="T3" fmla="*/ 29 h 29"/>
                <a:gd name="T4" fmla="*/ 0 w 67"/>
                <a:gd name="T5" fmla="*/ 0 h 29"/>
                <a:gd name="T6" fmla="*/ 0 w 67"/>
                <a:gd name="T7" fmla="*/ 0 h 29"/>
                <a:gd name="T8" fmla="*/ 0 w 67"/>
                <a:gd name="T9" fmla="*/ 0 h 29"/>
                <a:gd name="T10" fmla="*/ 0 w 67"/>
                <a:gd name="T11" fmla="*/ 0 h 29"/>
                <a:gd name="T12" fmla="*/ 0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0" y="0"/>
                  </a:moveTo>
                  <a:lnTo>
                    <a:pt x="67" y="29"/>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8" name="Freeform 98"/>
            <p:cNvSpPr>
              <a:spLocks noChangeAspect="1" noEditPoints="1"/>
            </p:cNvSpPr>
            <p:nvPr/>
          </p:nvSpPr>
          <p:spPr bwMode="auto">
            <a:xfrm>
              <a:off x="4911" y="2422"/>
              <a:ext cx="59" cy="37"/>
            </a:xfrm>
            <a:custGeom>
              <a:avLst/>
              <a:gdLst>
                <a:gd name="T0" fmla="*/ 0 w 59"/>
                <a:gd name="T1" fmla="*/ 0 h 37"/>
                <a:gd name="T2" fmla="*/ 59 w 59"/>
                <a:gd name="T3" fmla="*/ 37 h 37"/>
                <a:gd name="T4" fmla="*/ 0 w 59"/>
                <a:gd name="T5" fmla="*/ 0 h 37"/>
                <a:gd name="T6" fmla="*/ 0 w 59"/>
                <a:gd name="T7" fmla="*/ 0 h 37"/>
                <a:gd name="T8" fmla="*/ 0 w 59"/>
                <a:gd name="T9" fmla="*/ 0 h 37"/>
                <a:gd name="T10" fmla="*/ 0 w 59"/>
                <a:gd name="T11" fmla="*/ 0 h 37"/>
                <a:gd name="T12" fmla="*/ 0 w 59"/>
                <a:gd name="T13" fmla="*/ 0 h 37"/>
                <a:gd name="T14" fmla="*/ 0 60000 65536"/>
                <a:gd name="T15" fmla="*/ 0 60000 65536"/>
                <a:gd name="T16" fmla="*/ 0 60000 65536"/>
                <a:gd name="T17" fmla="*/ 0 60000 65536"/>
                <a:gd name="T18" fmla="*/ 0 60000 65536"/>
                <a:gd name="T19" fmla="*/ 0 60000 65536"/>
                <a:gd name="T20" fmla="*/ 0 60000 65536"/>
                <a:gd name="T21" fmla="*/ 0 w 59"/>
                <a:gd name="T22" fmla="*/ 0 h 37"/>
                <a:gd name="T23" fmla="*/ 59 w 5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37">
                  <a:moveTo>
                    <a:pt x="0" y="0"/>
                  </a:moveTo>
                  <a:lnTo>
                    <a:pt x="59" y="37"/>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29" name="Freeform 99"/>
            <p:cNvSpPr>
              <a:spLocks noChangeAspect="1" noEditPoints="1"/>
            </p:cNvSpPr>
            <p:nvPr/>
          </p:nvSpPr>
          <p:spPr bwMode="auto">
            <a:xfrm>
              <a:off x="4911" y="2459"/>
              <a:ext cx="59" cy="29"/>
            </a:xfrm>
            <a:custGeom>
              <a:avLst/>
              <a:gdLst>
                <a:gd name="T0" fmla="*/ 59 w 59"/>
                <a:gd name="T1" fmla="*/ 0 h 29"/>
                <a:gd name="T2" fmla="*/ 0 w 59"/>
                <a:gd name="T3" fmla="*/ 29 h 29"/>
                <a:gd name="T4" fmla="*/ 59 w 59"/>
                <a:gd name="T5" fmla="*/ 0 h 29"/>
                <a:gd name="T6" fmla="*/ 59 w 59"/>
                <a:gd name="T7" fmla="*/ 0 h 29"/>
                <a:gd name="T8" fmla="*/ 59 w 59"/>
                <a:gd name="T9" fmla="*/ 0 h 29"/>
                <a:gd name="T10" fmla="*/ 59 w 59"/>
                <a:gd name="T11" fmla="*/ 0 h 29"/>
                <a:gd name="T12" fmla="*/ 59 w 59"/>
                <a:gd name="T13" fmla="*/ 0 h 29"/>
                <a:gd name="T14" fmla="*/ 0 60000 65536"/>
                <a:gd name="T15" fmla="*/ 0 60000 65536"/>
                <a:gd name="T16" fmla="*/ 0 60000 65536"/>
                <a:gd name="T17" fmla="*/ 0 60000 65536"/>
                <a:gd name="T18" fmla="*/ 0 60000 65536"/>
                <a:gd name="T19" fmla="*/ 0 60000 65536"/>
                <a:gd name="T20" fmla="*/ 0 60000 65536"/>
                <a:gd name="T21" fmla="*/ 0 w 59"/>
                <a:gd name="T22" fmla="*/ 0 h 29"/>
                <a:gd name="T23" fmla="*/ 59 w 5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29">
                  <a:moveTo>
                    <a:pt x="59" y="0"/>
                  </a:moveTo>
                  <a:lnTo>
                    <a:pt x="0" y="29"/>
                  </a:lnTo>
                  <a:lnTo>
                    <a:pt x="59" y="0"/>
                  </a:lnTo>
                  <a:close/>
                  <a:moveTo>
                    <a:pt x="59" y="0"/>
                  </a:moveTo>
                  <a:lnTo>
                    <a:pt x="5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30" name="Freeform 100"/>
            <p:cNvSpPr>
              <a:spLocks noChangeAspect="1" noEditPoints="1"/>
            </p:cNvSpPr>
            <p:nvPr/>
          </p:nvSpPr>
          <p:spPr bwMode="auto">
            <a:xfrm>
              <a:off x="4844" y="2488"/>
              <a:ext cx="67" cy="29"/>
            </a:xfrm>
            <a:custGeom>
              <a:avLst/>
              <a:gdLst>
                <a:gd name="T0" fmla="*/ 67 w 67"/>
                <a:gd name="T1" fmla="*/ 0 h 29"/>
                <a:gd name="T2" fmla="*/ 0 w 67"/>
                <a:gd name="T3" fmla="*/ 29 h 29"/>
                <a:gd name="T4" fmla="*/ 67 w 67"/>
                <a:gd name="T5" fmla="*/ 0 h 29"/>
                <a:gd name="T6" fmla="*/ 67 w 67"/>
                <a:gd name="T7" fmla="*/ 0 h 29"/>
                <a:gd name="T8" fmla="*/ 67 w 67"/>
                <a:gd name="T9" fmla="*/ 0 h 29"/>
                <a:gd name="T10" fmla="*/ 67 w 67"/>
                <a:gd name="T11" fmla="*/ 0 h 29"/>
                <a:gd name="T12" fmla="*/ 67 w 67"/>
                <a:gd name="T13" fmla="*/ 0 h 29"/>
                <a:gd name="T14" fmla="*/ 0 60000 65536"/>
                <a:gd name="T15" fmla="*/ 0 60000 65536"/>
                <a:gd name="T16" fmla="*/ 0 60000 65536"/>
                <a:gd name="T17" fmla="*/ 0 60000 65536"/>
                <a:gd name="T18" fmla="*/ 0 60000 65536"/>
                <a:gd name="T19" fmla="*/ 0 60000 65536"/>
                <a:gd name="T20" fmla="*/ 0 60000 65536"/>
                <a:gd name="T21" fmla="*/ 0 w 67"/>
                <a:gd name="T22" fmla="*/ 0 h 29"/>
                <a:gd name="T23" fmla="*/ 67 w 6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29">
                  <a:moveTo>
                    <a:pt x="67" y="0"/>
                  </a:moveTo>
                  <a:lnTo>
                    <a:pt x="0" y="29"/>
                  </a:lnTo>
                  <a:lnTo>
                    <a:pt x="67" y="0"/>
                  </a:lnTo>
                  <a:close/>
                  <a:moveTo>
                    <a:pt x="67" y="0"/>
                  </a:moveTo>
                  <a:lnTo>
                    <a:pt x="67"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631" name="Freeform 101"/>
            <p:cNvSpPr>
              <a:spLocks noChangeAspect="1" noEditPoints="1"/>
            </p:cNvSpPr>
            <p:nvPr/>
          </p:nvSpPr>
          <p:spPr bwMode="auto">
            <a:xfrm>
              <a:off x="4844" y="2517"/>
              <a:ext cx="67" cy="36"/>
            </a:xfrm>
            <a:custGeom>
              <a:avLst/>
              <a:gdLst>
                <a:gd name="T0" fmla="*/ 0 w 67"/>
                <a:gd name="T1" fmla="*/ 0 h 36"/>
                <a:gd name="T2" fmla="*/ 67 w 67"/>
                <a:gd name="T3" fmla="*/ 36 h 36"/>
                <a:gd name="T4" fmla="*/ 0 w 67"/>
                <a:gd name="T5" fmla="*/ 0 h 36"/>
                <a:gd name="T6" fmla="*/ 0 w 67"/>
                <a:gd name="T7" fmla="*/ 0 h 36"/>
                <a:gd name="T8" fmla="*/ 0 w 67"/>
                <a:gd name="T9" fmla="*/ 0 h 36"/>
                <a:gd name="T10" fmla="*/ 0 w 67"/>
                <a:gd name="T11" fmla="*/ 0 h 36"/>
                <a:gd name="T12" fmla="*/ 0 w 67"/>
                <a:gd name="T13" fmla="*/ 0 h 36"/>
                <a:gd name="T14" fmla="*/ 0 60000 65536"/>
                <a:gd name="T15" fmla="*/ 0 60000 65536"/>
                <a:gd name="T16" fmla="*/ 0 60000 65536"/>
                <a:gd name="T17" fmla="*/ 0 60000 65536"/>
                <a:gd name="T18" fmla="*/ 0 60000 65536"/>
                <a:gd name="T19" fmla="*/ 0 60000 65536"/>
                <a:gd name="T20" fmla="*/ 0 60000 65536"/>
                <a:gd name="T21" fmla="*/ 0 w 67"/>
                <a:gd name="T22" fmla="*/ 0 h 36"/>
                <a:gd name="T23" fmla="*/ 67 w 67"/>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36">
                  <a:moveTo>
                    <a:pt x="0" y="0"/>
                  </a:moveTo>
                  <a:lnTo>
                    <a:pt x="67" y="36"/>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22532" name="Text Box 102"/>
          <p:cNvSpPr txBox="1">
            <a:spLocks noChangeArrowheads="1"/>
          </p:cNvSpPr>
          <p:nvPr/>
        </p:nvSpPr>
        <p:spPr bwMode="auto">
          <a:xfrm>
            <a:off x="3971998" y="2048837"/>
            <a:ext cx="3241675" cy="338554"/>
          </a:xfrm>
          <a:prstGeom prst="rect">
            <a:avLst/>
          </a:prstGeom>
          <a:noFill/>
          <a:ln w="9525">
            <a:noFill/>
            <a:miter lim="800000"/>
          </a:ln>
        </p:spPr>
        <p:txBody>
          <a:bodyPr>
            <a:spAutoFit/>
          </a:bodyPr>
          <a:lstStyle/>
          <a:p>
            <a:pPr fontAlgn="base">
              <a:spcBef>
                <a:spcPct val="50000"/>
              </a:spcBef>
              <a:spcAft>
                <a:spcPct val="0"/>
              </a:spcAft>
            </a:pPr>
            <a:r>
              <a:rPr lang="zh-CN" altLang="en-US" sz="1600" dirty="0">
                <a:solidFill>
                  <a:srgbClr val="000000"/>
                </a:solidFill>
              </a:rPr>
              <a:t>受控源的置换</a:t>
            </a:r>
            <a:endParaRPr lang="en-US" altLang="zh-CN" dirty="0">
              <a:solidFill>
                <a:srgbClr val="000000"/>
              </a:solidFill>
              <a:latin typeface="Times New Roman" panose="02020603050405020304" pitchFamily="18" charset="0"/>
            </a:endParaRPr>
          </a:p>
        </p:txBody>
      </p:sp>
      <p:sp>
        <p:nvSpPr>
          <p:cNvPr id="22533" name="Text Box 103"/>
          <p:cNvSpPr txBox="1">
            <a:spLocks noChangeArrowheads="1"/>
          </p:cNvSpPr>
          <p:nvPr/>
        </p:nvSpPr>
        <p:spPr bwMode="auto">
          <a:xfrm>
            <a:off x="610049" y="4237857"/>
            <a:ext cx="6427787" cy="40011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思考：</a:t>
            </a:r>
            <a:endParaRPr lang="en-US" altLang="zh-CN" sz="2000" b="1" dirty="0">
              <a:solidFill>
                <a:srgbClr val="0000FF"/>
              </a:solidFill>
              <a:latin typeface="Times New Roman" panose="02020603050405020304" pitchFamily="18" charset="0"/>
            </a:endParaRPr>
          </a:p>
        </p:txBody>
      </p:sp>
      <p:sp>
        <p:nvSpPr>
          <p:cNvPr id="22534" name="Text Box 104"/>
          <p:cNvSpPr txBox="1">
            <a:spLocks noChangeArrowheads="1"/>
          </p:cNvSpPr>
          <p:nvPr/>
        </p:nvSpPr>
        <p:spPr bwMode="auto">
          <a:xfrm>
            <a:off x="329061" y="4782370"/>
            <a:ext cx="8436596" cy="957250"/>
          </a:xfrm>
          <a:prstGeom prst="rect">
            <a:avLst/>
          </a:prstGeom>
          <a:noFill/>
          <a:ln w="9525">
            <a:noFill/>
            <a:miter lim="800000"/>
          </a:ln>
        </p:spPr>
        <p:txBody>
          <a:bodyPr wrap="square">
            <a:spAutoFit/>
          </a:bodyPr>
          <a:lstStyle/>
          <a:p>
            <a:pPr marL="342900" indent="-342900" fontAlgn="base">
              <a:spcBef>
                <a:spcPct val="50000"/>
              </a:spcBef>
              <a:spcAft>
                <a:spcPct val="0"/>
              </a:spcAft>
              <a:buFontTx/>
              <a:buAutoNum type="arabicPeriod"/>
            </a:pPr>
            <a:r>
              <a:rPr lang="zh-CN" altLang="en-US" sz="2000" b="1" dirty="0">
                <a:latin typeface="Times New Roman" panose="02020603050405020304" pitchFamily="18" charset="0"/>
              </a:rPr>
              <a:t>电流源的箭头指向与电压源的极性的关系？</a:t>
            </a:r>
            <a:endParaRPr lang="en-US" altLang="zh-CN" sz="2000" b="1" dirty="0">
              <a:latin typeface="Times New Roman" panose="02020603050405020304" pitchFamily="18" charset="0"/>
            </a:endParaRPr>
          </a:p>
          <a:p>
            <a:pPr marL="342900" indent="-342900" fontAlgn="base">
              <a:lnSpc>
                <a:spcPct val="150000"/>
              </a:lnSpc>
              <a:spcBef>
                <a:spcPct val="50000"/>
              </a:spcBef>
              <a:spcAft>
                <a:spcPct val="0"/>
              </a:spcAft>
              <a:buFontTx/>
              <a:buAutoNum type="arabicPeriod"/>
            </a:pPr>
            <a:r>
              <a:rPr lang="zh-CN" altLang="en-US" sz="2000" b="1" dirty="0">
                <a:latin typeface="Times New Roman" panose="02020603050405020304" pitchFamily="18" charset="0"/>
              </a:rPr>
              <a:t>理想电压源与理想电流源之间能相互转换吗？</a:t>
            </a:r>
            <a:endParaRPr lang="en-US" altLang="zh-CN" sz="2000" b="1" dirty="0">
              <a:latin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29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p:cNvSpPr txBox="1">
            <a:spLocks noChangeArrowheads="1"/>
          </p:cNvSpPr>
          <p:nvPr/>
        </p:nvSpPr>
        <p:spPr bwMode="auto">
          <a:xfrm>
            <a:off x="539750" y="1052513"/>
            <a:ext cx="3384550" cy="460375"/>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FF0000"/>
                </a:solidFill>
                <a:latin typeface="Times New Roman" panose="02020603050405020304" pitchFamily="18" charset="0"/>
              </a:rPr>
              <a:t>例</a:t>
            </a:r>
            <a:r>
              <a:rPr lang="en-US" altLang="zh-CN" sz="2400" b="1" dirty="0">
                <a:solidFill>
                  <a:srgbClr val="FF0000"/>
                </a:solidFill>
                <a:latin typeface="Times New Roman" panose="02020603050405020304" pitchFamily="18" charset="0"/>
              </a:rPr>
              <a:t>4-6</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 </a:t>
            </a:r>
          </a:p>
        </p:txBody>
      </p:sp>
      <p:grpSp>
        <p:nvGrpSpPr>
          <p:cNvPr id="2" name="Group 6"/>
          <p:cNvGrpSpPr>
            <a:grpSpLocks noChangeAspect="1"/>
          </p:cNvGrpSpPr>
          <p:nvPr/>
        </p:nvGrpSpPr>
        <p:grpSpPr bwMode="auto">
          <a:xfrm>
            <a:off x="1763713" y="2708921"/>
            <a:ext cx="5257878" cy="1972618"/>
            <a:chOff x="96" y="1030"/>
            <a:chExt cx="5559" cy="2332"/>
          </a:xfrm>
        </p:grpSpPr>
        <p:sp>
          <p:nvSpPr>
            <p:cNvPr id="23558" name="Freeform 7"/>
            <p:cNvSpPr>
              <a:spLocks noChangeAspect="1"/>
            </p:cNvSpPr>
            <p:nvPr/>
          </p:nvSpPr>
          <p:spPr bwMode="auto">
            <a:xfrm>
              <a:off x="4728" y="1559"/>
              <a:ext cx="1" cy="1793"/>
            </a:xfrm>
            <a:custGeom>
              <a:avLst/>
              <a:gdLst>
                <a:gd name="T0" fmla="*/ 0 w 1"/>
                <a:gd name="T1" fmla="*/ 1793 h 1793"/>
                <a:gd name="T2" fmla="*/ 0 w 1"/>
                <a:gd name="T3" fmla="*/ 0 h 1793"/>
                <a:gd name="T4" fmla="*/ 0 w 1"/>
                <a:gd name="T5" fmla="*/ 1793 h 1793"/>
                <a:gd name="T6" fmla="*/ 0 w 1"/>
                <a:gd name="T7" fmla="*/ 1793 h 1793"/>
                <a:gd name="T8" fmla="*/ 0 60000 65536"/>
                <a:gd name="T9" fmla="*/ 0 60000 65536"/>
                <a:gd name="T10" fmla="*/ 0 60000 65536"/>
                <a:gd name="T11" fmla="*/ 0 60000 65536"/>
                <a:gd name="T12" fmla="*/ 0 w 1"/>
                <a:gd name="T13" fmla="*/ 0 h 1793"/>
                <a:gd name="T14" fmla="*/ 1 w 1"/>
                <a:gd name="T15" fmla="*/ 1793 h 1793"/>
              </a:gdLst>
              <a:ahLst/>
              <a:cxnLst>
                <a:cxn ang="T8">
                  <a:pos x="T0" y="T1"/>
                </a:cxn>
                <a:cxn ang="T9">
                  <a:pos x="T2" y="T3"/>
                </a:cxn>
                <a:cxn ang="T10">
                  <a:pos x="T4" y="T5"/>
                </a:cxn>
                <a:cxn ang="T11">
                  <a:pos x="T6" y="T7"/>
                </a:cxn>
              </a:cxnLst>
              <a:rect l="T12" t="T13" r="T14" b="T15"/>
              <a:pathLst>
                <a:path w="1" h="1793">
                  <a:moveTo>
                    <a:pt x="0" y="1793"/>
                  </a:moveTo>
                  <a:lnTo>
                    <a:pt x="0" y="0"/>
                  </a:lnTo>
                  <a:lnTo>
                    <a:pt x="0" y="179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59" name="Freeform 8"/>
            <p:cNvSpPr>
              <a:spLocks noChangeAspect="1" noEditPoints="1"/>
            </p:cNvSpPr>
            <p:nvPr/>
          </p:nvSpPr>
          <p:spPr bwMode="auto">
            <a:xfrm>
              <a:off x="786" y="1559"/>
              <a:ext cx="3942" cy="1"/>
            </a:xfrm>
            <a:custGeom>
              <a:avLst/>
              <a:gdLst>
                <a:gd name="T0" fmla="*/ 3942 w 3942"/>
                <a:gd name="T1" fmla="*/ 0 h 1"/>
                <a:gd name="T2" fmla="*/ 0 w 3942"/>
                <a:gd name="T3" fmla="*/ 0 h 1"/>
                <a:gd name="T4" fmla="*/ 3942 w 3942"/>
                <a:gd name="T5" fmla="*/ 0 h 1"/>
                <a:gd name="T6" fmla="*/ 3942 w 3942"/>
                <a:gd name="T7" fmla="*/ 0 h 1"/>
                <a:gd name="T8" fmla="*/ 3942 w 3942"/>
                <a:gd name="T9" fmla="*/ 0 h 1"/>
                <a:gd name="T10" fmla="*/ 3942 w 3942"/>
                <a:gd name="T11" fmla="*/ 0 h 1"/>
                <a:gd name="T12" fmla="*/ 3942 w 3942"/>
                <a:gd name="T13" fmla="*/ 0 h 1"/>
                <a:gd name="T14" fmla="*/ 0 60000 65536"/>
                <a:gd name="T15" fmla="*/ 0 60000 65536"/>
                <a:gd name="T16" fmla="*/ 0 60000 65536"/>
                <a:gd name="T17" fmla="*/ 0 60000 65536"/>
                <a:gd name="T18" fmla="*/ 0 60000 65536"/>
                <a:gd name="T19" fmla="*/ 0 60000 65536"/>
                <a:gd name="T20" fmla="*/ 0 60000 65536"/>
                <a:gd name="T21" fmla="*/ 0 w 3942"/>
                <a:gd name="T22" fmla="*/ 0 h 1"/>
                <a:gd name="T23" fmla="*/ 3942 w 394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2" h="1">
                  <a:moveTo>
                    <a:pt x="3942" y="0"/>
                  </a:moveTo>
                  <a:lnTo>
                    <a:pt x="0" y="0"/>
                  </a:lnTo>
                  <a:lnTo>
                    <a:pt x="3942" y="0"/>
                  </a:lnTo>
                  <a:close/>
                  <a:moveTo>
                    <a:pt x="3942" y="0"/>
                  </a:moveTo>
                  <a:lnTo>
                    <a:pt x="394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0" name="Freeform 9"/>
            <p:cNvSpPr>
              <a:spLocks noChangeAspect="1" noEditPoints="1"/>
            </p:cNvSpPr>
            <p:nvPr/>
          </p:nvSpPr>
          <p:spPr bwMode="auto">
            <a:xfrm>
              <a:off x="786" y="1559"/>
              <a:ext cx="1" cy="1793"/>
            </a:xfrm>
            <a:custGeom>
              <a:avLst/>
              <a:gdLst>
                <a:gd name="T0" fmla="*/ 0 w 1"/>
                <a:gd name="T1" fmla="*/ 0 h 1793"/>
                <a:gd name="T2" fmla="*/ 0 w 1"/>
                <a:gd name="T3" fmla="*/ 1793 h 1793"/>
                <a:gd name="T4" fmla="*/ 0 w 1"/>
                <a:gd name="T5" fmla="*/ 0 h 1793"/>
                <a:gd name="T6" fmla="*/ 0 w 1"/>
                <a:gd name="T7" fmla="*/ 0 h 1793"/>
                <a:gd name="T8" fmla="*/ 0 w 1"/>
                <a:gd name="T9" fmla="*/ 0 h 1793"/>
                <a:gd name="T10" fmla="*/ 0 w 1"/>
                <a:gd name="T11" fmla="*/ 0 h 1793"/>
                <a:gd name="T12" fmla="*/ 0 w 1"/>
                <a:gd name="T13" fmla="*/ 0 h 1793"/>
                <a:gd name="T14" fmla="*/ 0 60000 65536"/>
                <a:gd name="T15" fmla="*/ 0 60000 65536"/>
                <a:gd name="T16" fmla="*/ 0 60000 65536"/>
                <a:gd name="T17" fmla="*/ 0 60000 65536"/>
                <a:gd name="T18" fmla="*/ 0 60000 65536"/>
                <a:gd name="T19" fmla="*/ 0 60000 65536"/>
                <a:gd name="T20" fmla="*/ 0 60000 65536"/>
                <a:gd name="T21" fmla="*/ 0 w 1"/>
                <a:gd name="T22" fmla="*/ 0 h 1793"/>
                <a:gd name="T23" fmla="*/ 1 w 1"/>
                <a:gd name="T24" fmla="*/ 1793 h 17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793">
                  <a:moveTo>
                    <a:pt x="0" y="0"/>
                  </a:moveTo>
                  <a:lnTo>
                    <a:pt x="0" y="179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1" name="Freeform 10"/>
            <p:cNvSpPr>
              <a:spLocks noChangeAspect="1" noEditPoints="1"/>
            </p:cNvSpPr>
            <p:nvPr/>
          </p:nvSpPr>
          <p:spPr bwMode="auto">
            <a:xfrm>
              <a:off x="786" y="3352"/>
              <a:ext cx="3942" cy="1"/>
            </a:xfrm>
            <a:custGeom>
              <a:avLst/>
              <a:gdLst>
                <a:gd name="T0" fmla="*/ 0 w 3942"/>
                <a:gd name="T1" fmla="*/ 0 h 1"/>
                <a:gd name="T2" fmla="*/ 3942 w 3942"/>
                <a:gd name="T3" fmla="*/ 0 h 1"/>
                <a:gd name="T4" fmla="*/ 0 w 3942"/>
                <a:gd name="T5" fmla="*/ 0 h 1"/>
                <a:gd name="T6" fmla="*/ 0 w 3942"/>
                <a:gd name="T7" fmla="*/ 0 h 1"/>
                <a:gd name="T8" fmla="*/ 0 w 3942"/>
                <a:gd name="T9" fmla="*/ 0 h 1"/>
                <a:gd name="T10" fmla="*/ 0 w 3942"/>
                <a:gd name="T11" fmla="*/ 0 h 1"/>
                <a:gd name="T12" fmla="*/ 0 w 3942"/>
                <a:gd name="T13" fmla="*/ 0 h 1"/>
                <a:gd name="T14" fmla="*/ 0 60000 65536"/>
                <a:gd name="T15" fmla="*/ 0 60000 65536"/>
                <a:gd name="T16" fmla="*/ 0 60000 65536"/>
                <a:gd name="T17" fmla="*/ 0 60000 65536"/>
                <a:gd name="T18" fmla="*/ 0 60000 65536"/>
                <a:gd name="T19" fmla="*/ 0 60000 65536"/>
                <a:gd name="T20" fmla="*/ 0 60000 65536"/>
                <a:gd name="T21" fmla="*/ 0 w 3942"/>
                <a:gd name="T22" fmla="*/ 0 h 1"/>
                <a:gd name="T23" fmla="*/ 3942 w 394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2" h="1">
                  <a:moveTo>
                    <a:pt x="0" y="0"/>
                  </a:moveTo>
                  <a:lnTo>
                    <a:pt x="3942"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2" name="Freeform 11"/>
            <p:cNvSpPr>
              <a:spLocks noChangeAspect="1"/>
            </p:cNvSpPr>
            <p:nvPr/>
          </p:nvSpPr>
          <p:spPr bwMode="auto">
            <a:xfrm>
              <a:off x="4728" y="335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3" name="Freeform 12"/>
            <p:cNvSpPr>
              <a:spLocks noChangeAspect="1"/>
            </p:cNvSpPr>
            <p:nvPr/>
          </p:nvSpPr>
          <p:spPr bwMode="auto">
            <a:xfrm>
              <a:off x="2062" y="1559"/>
              <a:ext cx="1" cy="1803"/>
            </a:xfrm>
            <a:custGeom>
              <a:avLst/>
              <a:gdLst>
                <a:gd name="T0" fmla="*/ 0 w 1"/>
                <a:gd name="T1" fmla="*/ 0 h 1803"/>
                <a:gd name="T2" fmla="*/ 0 w 1"/>
                <a:gd name="T3" fmla="*/ 1803 h 1803"/>
                <a:gd name="T4" fmla="*/ 0 w 1"/>
                <a:gd name="T5" fmla="*/ 0 h 1803"/>
                <a:gd name="T6" fmla="*/ 0 w 1"/>
                <a:gd name="T7" fmla="*/ 0 h 1803"/>
                <a:gd name="T8" fmla="*/ 0 60000 65536"/>
                <a:gd name="T9" fmla="*/ 0 60000 65536"/>
                <a:gd name="T10" fmla="*/ 0 60000 65536"/>
                <a:gd name="T11" fmla="*/ 0 60000 65536"/>
                <a:gd name="T12" fmla="*/ 0 w 1"/>
                <a:gd name="T13" fmla="*/ 0 h 1803"/>
                <a:gd name="T14" fmla="*/ 1 w 1"/>
                <a:gd name="T15" fmla="*/ 1803 h 1803"/>
              </a:gdLst>
              <a:ahLst/>
              <a:cxnLst>
                <a:cxn ang="T8">
                  <a:pos x="T0" y="T1"/>
                </a:cxn>
                <a:cxn ang="T9">
                  <a:pos x="T2" y="T3"/>
                </a:cxn>
                <a:cxn ang="T10">
                  <a:pos x="T4" y="T5"/>
                </a:cxn>
                <a:cxn ang="T11">
                  <a:pos x="T6" y="T7"/>
                </a:cxn>
              </a:cxnLst>
              <a:rect l="T12" t="T13" r="T14" b="T15"/>
              <a:pathLst>
                <a:path w="1" h="1803">
                  <a:moveTo>
                    <a:pt x="0" y="0"/>
                  </a:moveTo>
                  <a:lnTo>
                    <a:pt x="0" y="1803"/>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4" name="Freeform 13"/>
            <p:cNvSpPr>
              <a:spLocks noChangeAspect="1"/>
            </p:cNvSpPr>
            <p:nvPr/>
          </p:nvSpPr>
          <p:spPr bwMode="auto">
            <a:xfrm>
              <a:off x="2516" y="1040"/>
              <a:ext cx="132" cy="226"/>
            </a:xfrm>
            <a:custGeom>
              <a:avLst/>
              <a:gdLst>
                <a:gd name="T0" fmla="*/ 132 w 132"/>
                <a:gd name="T1" fmla="*/ 179 h 226"/>
                <a:gd name="T2" fmla="*/ 123 w 132"/>
                <a:gd name="T3" fmla="*/ 179 h 226"/>
                <a:gd name="T4" fmla="*/ 113 w 132"/>
                <a:gd name="T5" fmla="*/ 198 h 226"/>
                <a:gd name="T6" fmla="*/ 95 w 132"/>
                <a:gd name="T7" fmla="*/ 198 h 226"/>
                <a:gd name="T8" fmla="*/ 28 w 132"/>
                <a:gd name="T9" fmla="*/ 198 h 226"/>
                <a:gd name="T10" fmla="*/ 76 w 132"/>
                <a:gd name="T11" fmla="*/ 141 h 226"/>
                <a:gd name="T12" fmla="*/ 104 w 132"/>
                <a:gd name="T13" fmla="*/ 104 h 226"/>
                <a:gd name="T14" fmla="*/ 113 w 132"/>
                <a:gd name="T15" fmla="*/ 56 h 226"/>
                <a:gd name="T16" fmla="*/ 113 w 132"/>
                <a:gd name="T17" fmla="*/ 28 h 226"/>
                <a:gd name="T18" fmla="*/ 95 w 132"/>
                <a:gd name="T19" fmla="*/ 19 h 226"/>
                <a:gd name="T20" fmla="*/ 66 w 132"/>
                <a:gd name="T21" fmla="*/ 0 h 226"/>
                <a:gd name="T22" fmla="*/ 28 w 132"/>
                <a:gd name="T23" fmla="*/ 19 h 226"/>
                <a:gd name="T24" fmla="*/ 10 w 132"/>
                <a:gd name="T25" fmla="*/ 38 h 226"/>
                <a:gd name="T26" fmla="*/ 0 w 132"/>
                <a:gd name="T27" fmla="*/ 66 h 226"/>
                <a:gd name="T28" fmla="*/ 10 w 132"/>
                <a:gd name="T29" fmla="*/ 66 h 226"/>
                <a:gd name="T30" fmla="*/ 19 w 132"/>
                <a:gd name="T31" fmla="*/ 38 h 226"/>
                <a:gd name="T32" fmla="*/ 28 w 132"/>
                <a:gd name="T33" fmla="*/ 28 h 226"/>
                <a:gd name="T34" fmla="*/ 47 w 132"/>
                <a:gd name="T35" fmla="*/ 19 h 226"/>
                <a:gd name="T36" fmla="*/ 66 w 132"/>
                <a:gd name="T37" fmla="*/ 28 h 226"/>
                <a:gd name="T38" fmla="*/ 85 w 132"/>
                <a:gd name="T39" fmla="*/ 38 h 226"/>
                <a:gd name="T40" fmla="*/ 85 w 132"/>
                <a:gd name="T41" fmla="*/ 56 h 226"/>
                <a:gd name="T42" fmla="*/ 85 w 132"/>
                <a:gd name="T43" fmla="*/ 66 h 226"/>
                <a:gd name="T44" fmla="*/ 76 w 132"/>
                <a:gd name="T45" fmla="*/ 113 h 226"/>
                <a:gd name="T46" fmla="*/ 47 w 132"/>
                <a:gd name="T47" fmla="*/ 160 h 226"/>
                <a:gd name="T48" fmla="*/ 0 w 132"/>
                <a:gd name="T49" fmla="*/ 217 h 226"/>
                <a:gd name="T50" fmla="*/ 0 w 132"/>
                <a:gd name="T51" fmla="*/ 226 h 226"/>
                <a:gd name="T52" fmla="*/ 113 w 132"/>
                <a:gd name="T53" fmla="*/ 226 h 226"/>
                <a:gd name="T54" fmla="*/ 132 w 132"/>
                <a:gd name="T55" fmla="*/ 179 h 22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2"/>
                <a:gd name="T85" fmla="*/ 0 h 226"/>
                <a:gd name="T86" fmla="*/ 132 w 132"/>
                <a:gd name="T87" fmla="*/ 226 h 22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2" h="226">
                  <a:moveTo>
                    <a:pt x="132" y="179"/>
                  </a:moveTo>
                  <a:lnTo>
                    <a:pt x="123" y="179"/>
                  </a:lnTo>
                  <a:lnTo>
                    <a:pt x="113" y="198"/>
                  </a:lnTo>
                  <a:lnTo>
                    <a:pt x="95" y="198"/>
                  </a:lnTo>
                  <a:lnTo>
                    <a:pt x="28" y="198"/>
                  </a:lnTo>
                  <a:lnTo>
                    <a:pt x="76" y="141"/>
                  </a:lnTo>
                  <a:lnTo>
                    <a:pt x="104" y="104"/>
                  </a:lnTo>
                  <a:lnTo>
                    <a:pt x="113" y="56"/>
                  </a:lnTo>
                  <a:lnTo>
                    <a:pt x="113" y="28"/>
                  </a:lnTo>
                  <a:lnTo>
                    <a:pt x="95" y="19"/>
                  </a:lnTo>
                  <a:lnTo>
                    <a:pt x="66" y="0"/>
                  </a:lnTo>
                  <a:lnTo>
                    <a:pt x="28" y="19"/>
                  </a:lnTo>
                  <a:lnTo>
                    <a:pt x="10" y="38"/>
                  </a:lnTo>
                  <a:lnTo>
                    <a:pt x="0" y="66"/>
                  </a:lnTo>
                  <a:lnTo>
                    <a:pt x="10" y="66"/>
                  </a:lnTo>
                  <a:lnTo>
                    <a:pt x="19" y="38"/>
                  </a:lnTo>
                  <a:lnTo>
                    <a:pt x="28" y="28"/>
                  </a:lnTo>
                  <a:lnTo>
                    <a:pt x="47" y="19"/>
                  </a:lnTo>
                  <a:lnTo>
                    <a:pt x="66" y="28"/>
                  </a:lnTo>
                  <a:lnTo>
                    <a:pt x="85" y="38"/>
                  </a:lnTo>
                  <a:lnTo>
                    <a:pt x="85" y="56"/>
                  </a:lnTo>
                  <a:lnTo>
                    <a:pt x="85" y="66"/>
                  </a:lnTo>
                  <a:lnTo>
                    <a:pt x="76" y="113"/>
                  </a:lnTo>
                  <a:lnTo>
                    <a:pt x="47" y="160"/>
                  </a:lnTo>
                  <a:lnTo>
                    <a:pt x="0" y="217"/>
                  </a:lnTo>
                  <a:lnTo>
                    <a:pt x="0" y="226"/>
                  </a:lnTo>
                  <a:lnTo>
                    <a:pt x="113" y="226"/>
                  </a:lnTo>
                  <a:lnTo>
                    <a:pt x="132"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5" name="Freeform 14"/>
            <p:cNvSpPr>
              <a:spLocks noChangeAspect="1"/>
            </p:cNvSpPr>
            <p:nvPr/>
          </p:nvSpPr>
          <p:spPr bwMode="auto">
            <a:xfrm>
              <a:off x="2733" y="1030"/>
              <a:ext cx="208" cy="236"/>
            </a:xfrm>
            <a:custGeom>
              <a:avLst/>
              <a:gdLst>
                <a:gd name="T0" fmla="*/ 86 w 208"/>
                <a:gd name="T1" fmla="*/ 180 h 236"/>
                <a:gd name="T2" fmla="*/ 67 w 208"/>
                <a:gd name="T3" fmla="*/ 170 h 236"/>
                <a:gd name="T4" fmla="*/ 48 w 208"/>
                <a:gd name="T5" fmla="*/ 142 h 236"/>
                <a:gd name="T6" fmla="*/ 48 w 208"/>
                <a:gd name="T7" fmla="*/ 123 h 236"/>
                <a:gd name="T8" fmla="*/ 48 w 208"/>
                <a:gd name="T9" fmla="*/ 95 h 236"/>
                <a:gd name="T10" fmla="*/ 48 w 208"/>
                <a:gd name="T11" fmla="*/ 57 h 236"/>
                <a:gd name="T12" fmla="*/ 67 w 208"/>
                <a:gd name="T13" fmla="*/ 29 h 236"/>
                <a:gd name="T14" fmla="*/ 86 w 208"/>
                <a:gd name="T15" fmla="*/ 19 h 236"/>
                <a:gd name="T16" fmla="*/ 104 w 208"/>
                <a:gd name="T17" fmla="*/ 19 h 236"/>
                <a:gd name="T18" fmla="*/ 133 w 208"/>
                <a:gd name="T19" fmla="*/ 19 h 236"/>
                <a:gd name="T20" fmla="*/ 152 w 208"/>
                <a:gd name="T21" fmla="*/ 29 h 236"/>
                <a:gd name="T22" fmla="*/ 171 w 208"/>
                <a:gd name="T23" fmla="*/ 95 h 236"/>
                <a:gd name="T24" fmla="*/ 171 w 208"/>
                <a:gd name="T25" fmla="*/ 123 h 236"/>
                <a:gd name="T26" fmla="*/ 161 w 208"/>
                <a:gd name="T27" fmla="*/ 142 h 236"/>
                <a:gd name="T28" fmla="*/ 142 w 208"/>
                <a:gd name="T29" fmla="*/ 170 h 236"/>
                <a:gd name="T30" fmla="*/ 123 w 208"/>
                <a:gd name="T31" fmla="*/ 180 h 236"/>
                <a:gd name="T32" fmla="*/ 123 w 208"/>
                <a:gd name="T33" fmla="*/ 236 h 236"/>
                <a:gd name="T34" fmla="*/ 208 w 208"/>
                <a:gd name="T35" fmla="*/ 236 h 236"/>
                <a:gd name="T36" fmla="*/ 208 w 208"/>
                <a:gd name="T37" fmla="*/ 180 h 236"/>
                <a:gd name="T38" fmla="*/ 208 w 208"/>
                <a:gd name="T39" fmla="*/ 180 h 236"/>
                <a:gd name="T40" fmla="*/ 199 w 208"/>
                <a:gd name="T41" fmla="*/ 199 h 236"/>
                <a:gd name="T42" fmla="*/ 180 w 208"/>
                <a:gd name="T43" fmla="*/ 199 h 236"/>
                <a:gd name="T44" fmla="*/ 142 w 208"/>
                <a:gd name="T45" fmla="*/ 199 h 236"/>
                <a:gd name="T46" fmla="*/ 142 w 208"/>
                <a:gd name="T47" fmla="*/ 189 h 236"/>
                <a:gd name="T48" fmla="*/ 171 w 208"/>
                <a:gd name="T49" fmla="*/ 170 h 236"/>
                <a:gd name="T50" fmla="*/ 190 w 208"/>
                <a:gd name="T51" fmla="*/ 151 h 236"/>
                <a:gd name="T52" fmla="*/ 208 w 208"/>
                <a:gd name="T53" fmla="*/ 104 h 236"/>
                <a:gd name="T54" fmla="*/ 190 w 208"/>
                <a:gd name="T55" fmla="*/ 57 h 236"/>
                <a:gd name="T56" fmla="*/ 180 w 208"/>
                <a:gd name="T57" fmla="*/ 38 h 236"/>
                <a:gd name="T58" fmla="*/ 180 w 208"/>
                <a:gd name="T59" fmla="*/ 29 h 236"/>
                <a:gd name="T60" fmla="*/ 161 w 208"/>
                <a:gd name="T61" fmla="*/ 19 h 236"/>
                <a:gd name="T62" fmla="*/ 133 w 208"/>
                <a:gd name="T63" fmla="*/ 10 h 236"/>
                <a:gd name="T64" fmla="*/ 104 w 208"/>
                <a:gd name="T65" fmla="*/ 0 h 236"/>
                <a:gd name="T66" fmla="*/ 76 w 208"/>
                <a:gd name="T67" fmla="*/ 10 h 236"/>
                <a:gd name="T68" fmla="*/ 48 w 208"/>
                <a:gd name="T69" fmla="*/ 19 h 236"/>
                <a:gd name="T70" fmla="*/ 38 w 208"/>
                <a:gd name="T71" fmla="*/ 29 h 236"/>
                <a:gd name="T72" fmla="*/ 29 w 208"/>
                <a:gd name="T73" fmla="*/ 38 h 236"/>
                <a:gd name="T74" fmla="*/ 19 w 208"/>
                <a:gd name="T75" fmla="*/ 57 h 236"/>
                <a:gd name="T76" fmla="*/ 10 w 208"/>
                <a:gd name="T77" fmla="*/ 104 h 236"/>
                <a:gd name="T78" fmla="*/ 10 w 208"/>
                <a:gd name="T79" fmla="*/ 133 h 236"/>
                <a:gd name="T80" fmla="*/ 19 w 208"/>
                <a:gd name="T81" fmla="*/ 151 h 236"/>
                <a:gd name="T82" fmla="*/ 48 w 208"/>
                <a:gd name="T83" fmla="*/ 170 h 236"/>
                <a:gd name="T84" fmla="*/ 76 w 208"/>
                <a:gd name="T85" fmla="*/ 189 h 236"/>
                <a:gd name="T86" fmla="*/ 76 w 208"/>
                <a:gd name="T87" fmla="*/ 199 h 236"/>
                <a:gd name="T88" fmla="*/ 29 w 208"/>
                <a:gd name="T89" fmla="*/ 199 h 236"/>
                <a:gd name="T90" fmla="*/ 10 w 208"/>
                <a:gd name="T91" fmla="*/ 199 h 236"/>
                <a:gd name="T92" fmla="*/ 10 w 208"/>
                <a:gd name="T93" fmla="*/ 180 h 236"/>
                <a:gd name="T94" fmla="*/ 0 w 208"/>
                <a:gd name="T95" fmla="*/ 180 h 236"/>
                <a:gd name="T96" fmla="*/ 0 w 208"/>
                <a:gd name="T97" fmla="*/ 236 h 236"/>
                <a:gd name="T98" fmla="*/ 86 w 208"/>
                <a:gd name="T99" fmla="*/ 236 h 236"/>
                <a:gd name="T100" fmla="*/ 86 w 208"/>
                <a:gd name="T101" fmla="*/ 180 h 2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8"/>
                <a:gd name="T154" fmla="*/ 0 h 236"/>
                <a:gd name="T155" fmla="*/ 208 w 208"/>
                <a:gd name="T156" fmla="*/ 236 h 2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8" h="236">
                  <a:moveTo>
                    <a:pt x="86" y="180"/>
                  </a:moveTo>
                  <a:lnTo>
                    <a:pt x="67" y="170"/>
                  </a:lnTo>
                  <a:lnTo>
                    <a:pt x="48" y="142"/>
                  </a:lnTo>
                  <a:lnTo>
                    <a:pt x="48" y="123"/>
                  </a:lnTo>
                  <a:lnTo>
                    <a:pt x="48" y="95"/>
                  </a:lnTo>
                  <a:lnTo>
                    <a:pt x="48" y="57"/>
                  </a:lnTo>
                  <a:lnTo>
                    <a:pt x="67" y="29"/>
                  </a:lnTo>
                  <a:lnTo>
                    <a:pt x="86" y="19"/>
                  </a:lnTo>
                  <a:lnTo>
                    <a:pt x="104" y="19"/>
                  </a:lnTo>
                  <a:lnTo>
                    <a:pt x="133" y="19"/>
                  </a:lnTo>
                  <a:lnTo>
                    <a:pt x="152" y="29"/>
                  </a:lnTo>
                  <a:lnTo>
                    <a:pt x="171" y="95"/>
                  </a:lnTo>
                  <a:lnTo>
                    <a:pt x="171" y="123"/>
                  </a:lnTo>
                  <a:lnTo>
                    <a:pt x="161" y="142"/>
                  </a:lnTo>
                  <a:lnTo>
                    <a:pt x="142" y="170"/>
                  </a:lnTo>
                  <a:lnTo>
                    <a:pt x="123" y="180"/>
                  </a:lnTo>
                  <a:lnTo>
                    <a:pt x="123" y="236"/>
                  </a:lnTo>
                  <a:lnTo>
                    <a:pt x="208" y="236"/>
                  </a:lnTo>
                  <a:lnTo>
                    <a:pt x="208" y="180"/>
                  </a:lnTo>
                  <a:lnTo>
                    <a:pt x="199" y="199"/>
                  </a:lnTo>
                  <a:lnTo>
                    <a:pt x="180" y="199"/>
                  </a:lnTo>
                  <a:lnTo>
                    <a:pt x="142" y="199"/>
                  </a:lnTo>
                  <a:lnTo>
                    <a:pt x="142" y="189"/>
                  </a:lnTo>
                  <a:lnTo>
                    <a:pt x="171" y="170"/>
                  </a:lnTo>
                  <a:lnTo>
                    <a:pt x="190" y="151"/>
                  </a:lnTo>
                  <a:lnTo>
                    <a:pt x="208" y="104"/>
                  </a:lnTo>
                  <a:lnTo>
                    <a:pt x="190" y="57"/>
                  </a:lnTo>
                  <a:lnTo>
                    <a:pt x="180" y="38"/>
                  </a:lnTo>
                  <a:lnTo>
                    <a:pt x="180" y="29"/>
                  </a:lnTo>
                  <a:lnTo>
                    <a:pt x="161" y="19"/>
                  </a:lnTo>
                  <a:lnTo>
                    <a:pt x="133" y="10"/>
                  </a:lnTo>
                  <a:lnTo>
                    <a:pt x="104" y="0"/>
                  </a:lnTo>
                  <a:lnTo>
                    <a:pt x="76" y="10"/>
                  </a:lnTo>
                  <a:lnTo>
                    <a:pt x="48" y="19"/>
                  </a:lnTo>
                  <a:lnTo>
                    <a:pt x="38" y="29"/>
                  </a:lnTo>
                  <a:lnTo>
                    <a:pt x="29" y="38"/>
                  </a:lnTo>
                  <a:lnTo>
                    <a:pt x="19" y="57"/>
                  </a:lnTo>
                  <a:lnTo>
                    <a:pt x="10" y="104"/>
                  </a:lnTo>
                  <a:lnTo>
                    <a:pt x="10" y="133"/>
                  </a:lnTo>
                  <a:lnTo>
                    <a:pt x="19" y="151"/>
                  </a:lnTo>
                  <a:lnTo>
                    <a:pt x="48" y="170"/>
                  </a:lnTo>
                  <a:lnTo>
                    <a:pt x="76" y="189"/>
                  </a:lnTo>
                  <a:lnTo>
                    <a:pt x="76" y="199"/>
                  </a:lnTo>
                  <a:lnTo>
                    <a:pt x="29" y="199"/>
                  </a:lnTo>
                  <a:lnTo>
                    <a:pt x="10" y="199"/>
                  </a:lnTo>
                  <a:lnTo>
                    <a:pt x="10" y="180"/>
                  </a:lnTo>
                  <a:lnTo>
                    <a:pt x="0" y="180"/>
                  </a:lnTo>
                  <a:lnTo>
                    <a:pt x="0" y="236"/>
                  </a:lnTo>
                  <a:lnTo>
                    <a:pt x="86" y="236"/>
                  </a:lnTo>
                  <a:lnTo>
                    <a:pt x="86" y="18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6" name="Freeform 15"/>
            <p:cNvSpPr>
              <a:spLocks noChangeAspect="1"/>
            </p:cNvSpPr>
            <p:nvPr/>
          </p:nvSpPr>
          <p:spPr bwMode="auto">
            <a:xfrm>
              <a:off x="3849" y="1040"/>
              <a:ext cx="113" cy="226"/>
            </a:xfrm>
            <a:custGeom>
              <a:avLst/>
              <a:gdLst>
                <a:gd name="T0" fmla="*/ 38 w 113"/>
                <a:gd name="T1" fmla="*/ 113 h 226"/>
                <a:gd name="T2" fmla="*/ 57 w 113"/>
                <a:gd name="T3" fmla="*/ 113 h 226"/>
                <a:gd name="T4" fmla="*/ 76 w 113"/>
                <a:gd name="T5" fmla="*/ 123 h 226"/>
                <a:gd name="T6" fmla="*/ 94 w 113"/>
                <a:gd name="T7" fmla="*/ 141 h 226"/>
                <a:gd name="T8" fmla="*/ 94 w 113"/>
                <a:gd name="T9" fmla="*/ 160 h 226"/>
                <a:gd name="T10" fmla="*/ 94 w 113"/>
                <a:gd name="T11" fmla="*/ 160 h 226"/>
                <a:gd name="T12" fmla="*/ 85 w 113"/>
                <a:gd name="T13" fmla="*/ 198 h 226"/>
                <a:gd name="T14" fmla="*/ 76 w 113"/>
                <a:gd name="T15" fmla="*/ 217 h 226"/>
                <a:gd name="T16" fmla="*/ 57 w 113"/>
                <a:gd name="T17" fmla="*/ 217 h 226"/>
                <a:gd name="T18" fmla="*/ 38 w 113"/>
                <a:gd name="T19" fmla="*/ 207 h 226"/>
                <a:gd name="T20" fmla="*/ 9 w 113"/>
                <a:gd name="T21" fmla="*/ 198 h 226"/>
                <a:gd name="T22" fmla="*/ 9 w 113"/>
                <a:gd name="T23" fmla="*/ 198 h 226"/>
                <a:gd name="T24" fmla="*/ 0 w 113"/>
                <a:gd name="T25" fmla="*/ 207 h 226"/>
                <a:gd name="T26" fmla="*/ 9 w 113"/>
                <a:gd name="T27" fmla="*/ 217 h 226"/>
                <a:gd name="T28" fmla="*/ 19 w 113"/>
                <a:gd name="T29" fmla="*/ 226 h 226"/>
                <a:gd name="T30" fmla="*/ 38 w 113"/>
                <a:gd name="T31" fmla="*/ 226 h 226"/>
                <a:gd name="T32" fmla="*/ 66 w 113"/>
                <a:gd name="T33" fmla="*/ 217 h 226"/>
                <a:gd name="T34" fmla="*/ 94 w 113"/>
                <a:gd name="T35" fmla="*/ 207 h 226"/>
                <a:gd name="T36" fmla="*/ 104 w 113"/>
                <a:gd name="T37" fmla="*/ 179 h 226"/>
                <a:gd name="T38" fmla="*/ 113 w 113"/>
                <a:gd name="T39" fmla="*/ 151 h 226"/>
                <a:gd name="T40" fmla="*/ 113 w 113"/>
                <a:gd name="T41" fmla="*/ 123 h 226"/>
                <a:gd name="T42" fmla="*/ 94 w 113"/>
                <a:gd name="T43" fmla="*/ 104 h 226"/>
                <a:gd name="T44" fmla="*/ 76 w 113"/>
                <a:gd name="T45" fmla="*/ 94 h 226"/>
                <a:gd name="T46" fmla="*/ 94 w 113"/>
                <a:gd name="T47" fmla="*/ 75 h 226"/>
                <a:gd name="T48" fmla="*/ 104 w 113"/>
                <a:gd name="T49" fmla="*/ 47 h 226"/>
                <a:gd name="T50" fmla="*/ 94 w 113"/>
                <a:gd name="T51" fmla="*/ 19 h 226"/>
                <a:gd name="T52" fmla="*/ 85 w 113"/>
                <a:gd name="T53" fmla="*/ 9 h 226"/>
                <a:gd name="T54" fmla="*/ 57 w 113"/>
                <a:gd name="T55" fmla="*/ 0 h 226"/>
                <a:gd name="T56" fmla="*/ 28 w 113"/>
                <a:gd name="T57" fmla="*/ 9 h 226"/>
                <a:gd name="T58" fmla="*/ 9 w 113"/>
                <a:gd name="T59" fmla="*/ 28 h 226"/>
                <a:gd name="T60" fmla="*/ 0 w 113"/>
                <a:gd name="T61" fmla="*/ 56 h 226"/>
                <a:gd name="T62" fmla="*/ 9 w 113"/>
                <a:gd name="T63" fmla="*/ 56 h 226"/>
                <a:gd name="T64" fmla="*/ 19 w 113"/>
                <a:gd name="T65" fmla="*/ 38 h 226"/>
                <a:gd name="T66" fmla="*/ 28 w 113"/>
                <a:gd name="T67" fmla="*/ 28 h 226"/>
                <a:gd name="T68" fmla="*/ 47 w 113"/>
                <a:gd name="T69" fmla="*/ 19 h 226"/>
                <a:gd name="T70" fmla="*/ 76 w 113"/>
                <a:gd name="T71" fmla="*/ 28 h 226"/>
                <a:gd name="T72" fmla="*/ 85 w 113"/>
                <a:gd name="T73" fmla="*/ 56 h 226"/>
                <a:gd name="T74" fmla="*/ 85 w 113"/>
                <a:gd name="T75" fmla="*/ 75 h 226"/>
                <a:gd name="T76" fmla="*/ 66 w 113"/>
                <a:gd name="T77" fmla="*/ 94 h 226"/>
                <a:gd name="T78" fmla="*/ 28 w 113"/>
                <a:gd name="T79" fmla="*/ 113 h 226"/>
                <a:gd name="T80" fmla="*/ 38 w 113"/>
                <a:gd name="T81" fmla="*/ 113 h 22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3"/>
                <a:gd name="T124" fmla="*/ 0 h 226"/>
                <a:gd name="T125" fmla="*/ 113 w 113"/>
                <a:gd name="T126" fmla="*/ 226 h 22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3" h="226">
                  <a:moveTo>
                    <a:pt x="38" y="113"/>
                  </a:moveTo>
                  <a:lnTo>
                    <a:pt x="57" y="113"/>
                  </a:lnTo>
                  <a:lnTo>
                    <a:pt x="76" y="123"/>
                  </a:lnTo>
                  <a:lnTo>
                    <a:pt x="94" y="141"/>
                  </a:lnTo>
                  <a:lnTo>
                    <a:pt x="94" y="160"/>
                  </a:lnTo>
                  <a:lnTo>
                    <a:pt x="85" y="198"/>
                  </a:lnTo>
                  <a:lnTo>
                    <a:pt x="76" y="217"/>
                  </a:lnTo>
                  <a:lnTo>
                    <a:pt x="57" y="217"/>
                  </a:lnTo>
                  <a:lnTo>
                    <a:pt x="38" y="207"/>
                  </a:lnTo>
                  <a:lnTo>
                    <a:pt x="9" y="198"/>
                  </a:lnTo>
                  <a:lnTo>
                    <a:pt x="0" y="207"/>
                  </a:lnTo>
                  <a:lnTo>
                    <a:pt x="9" y="217"/>
                  </a:lnTo>
                  <a:lnTo>
                    <a:pt x="19" y="226"/>
                  </a:lnTo>
                  <a:lnTo>
                    <a:pt x="38" y="226"/>
                  </a:lnTo>
                  <a:lnTo>
                    <a:pt x="66" y="217"/>
                  </a:lnTo>
                  <a:lnTo>
                    <a:pt x="94" y="207"/>
                  </a:lnTo>
                  <a:lnTo>
                    <a:pt x="104" y="179"/>
                  </a:lnTo>
                  <a:lnTo>
                    <a:pt x="113" y="151"/>
                  </a:lnTo>
                  <a:lnTo>
                    <a:pt x="113" y="123"/>
                  </a:lnTo>
                  <a:lnTo>
                    <a:pt x="94" y="104"/>
                  </a:lnTo>
                  <a:lnTo>
                    <a:pt x="76" y="94"/>
                  </a:lnTo>
                  <a:lnTo>
                    <a:pt x="94" y="75"/>
                  </a:lnTo>
                  <a:lnTo>
                    <a:pt x="104" y="47"/>
                  </a:lnTo>
                  <a:lnTo>
                    <a:pt x="94" y="19"/>
                  </a:lnTo>
                  <a:lnTo>
                    <a:pt x="85" y="9"/>
                  </a:lnTo>
                  <a:lnTo>
                    <a:pt x="57" y="0"/>
                  </a:lnTo>
                  <a:lnTo>
                    <a:pt x="28" y="9"/>
                  </a:lnTo>
                  <a:lnTo>
                    <a:pt x="9" y="28"/>
                  </a:lnTo>
                  <a:lnTo>
                    <a:pt x="0" y="56"/>
                  </a:lnTo>
                  <a:lnTo>
                    <a:pt x="9" y="56"/>
                  </a:lnTo>
                  <a:lnTo>
                    <a:pt x="19" y="38"/>
                  </a:lnTo>
                  <a:lnTo>
                    <a:pt x="28" y="28"/>
                  </a:lnTo>
                  <a:lnTo>
                    <a:pt x="47" y="19"/>
                  </a:lnTo>
                  <a:lnTo>
                    <a:pt x="76" y="28"/>
                  </a:lnTo>
                  <a:lnTo>
                    <a:pt x="85" y="56"/>
                  </a:lnTo>
                  <a:lnTo>
                    <a:pt x="85" y="75"/>
                  </a:lnTo>
                  <a:lnTo>
                    <a:pt x="66" y="94"/>
                  </a:lnTo>
                  <a:lnTo>
                    <a:pt x="28" y="113"/>
                  </a:lnTo>
                  <a:lnTo>
                    <a:pt x="3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7" name="Freeform 16"/>
            <p:cNvSpPr>
              <a:spLocks noChangeAspect="1"/>
            </p:cNvSpPr>
            <p:nvPr/>
          </p:nvSpPr>
          <p:spPr bwMode="auto">
            <a:xfrm>
              <a:off x="4066" y="1040"/>
              <a:ext cx="208" cy="226"/>
            </a:xfrm>
            <a:custGeom>
              <a:avLst/>
              <a:gdLst>
                <a:gd name="T0" fmla="*/ 85 w 208"/>
                <a:gd name="T1" fmla="*/ 170 h 226"/>
                <a:gd name="T2" fmla="*/ 67 w 208"/>
                <a:gd name="T3" fmla="*/ 160 h 226"/>
                <a:gd name="T4" fmla="*/ 48 w 208"/>
                <a:gd name="T5" fmla="*/ 132 h 226"/>
                <a:gd name="T6" fmla="*/ 38 w 208"/>
                <a:gd name="T7" fmla="*/ 113 h 226"/>
                <a:gd name="T8" fmla="*/ 38 w 208"/>
                <a:gd name="T9" fmla="*/ 85 h 226"/>
                <a:gd name="T10" fmla="*/ 57 w 208"/>
                <a:gd name="T11" fmla="*/ 19 h 226"/>
                <a:gd name="T12" fmla="*/ 85 w 208"/>
                <a:gd name="T13" fmla="*/ 9 h 226"/>
                <a:gd name="T14" fmla="*/ 104 w 208"/>
                <a:gd name="T15" fmla="*/ 9 h 226"/>
                <a:gd name="T16" fmla="*/ 123 w 208"/>
                <a:gd name="T17" fmla="*/ 9 h 226"/>
                <a:gd name="T18" fmla="*/ 142 w 208"/>
                <a:gd name="T19" fmla="*/ 19 h 226"/>
                <a:gd name="T20" fmla="*/ 161 w 208"/>
                <a:gd name="T21" fmla="*/ 47 h 226"/>
                <a:gd name="T22" fmla="*/ 171 w 208"/>
                <a:gd name="T23" fmla="*/ 85 h 226"/>
                <a:gd name="T24" fmla="*/ 171 w 208"/>
                <a:gd name="T25" fmla="*/ 113 h 226"/>
                <a:gd name="T26" fmla="*/ 161 w 208"/>
                <a:gd name="T27" fmla="*/ 132 h 226"/>
                <a:gd name="T28" fmla="*/ 142 w 208"/>
                <a:gd name="T29" fmla="*/ 160 h 226"/>
                <a:gd name="T30" fmla="*/ 123 w 208"/>
                <a:gd name="T31" fmla="*/ 170 h 226"/>
                <a:gd name="T32" fmla="*/ 123 w 208"/>
                <a:gd name="T33" fmla="*/ 226 h 226"/>
                <a:gd name="T34" fmla="*/ 208 w 208"/>
                <a:gd name="T35" fmla="*/ 226 h 226"/>
                <a:gd name="T36" fmla="*/ 208 w 208"/>
                <a:gd name="T37" fmla="*/ 170 h 226"/>
                <a:gd name="T38" fmla="*/ 199 w 208"/>
                <a:gd name="T39" fmla="*/ 170 h 226"/>
                <a:gd name="T40" fmla="*/ 199 w 208"/>
                <a:gd name="T41" fmla="*/ 189 h 226"/>
                <a:gd name="T42" fmla="*/ 180 w 208"/>
                <a:gd name="T43" fmla="*/ 189 h 226"/>
                <a:gd name="T44" fmla="*/ 133 w 208"/>
                <a:gd name="T45" fmla="*/ 189 h 226"/>
                <a:gd name="T46" fmla="*/ 133 w 208"/>
                <a:gd name="T47" fmla="*/ 179 h 226"/>
                <a:gd name="T48" fmla="*/ 161 w 208"/>
                <a:gd name="T49" fmla="*/ 160 h 226"/>
                <a:gd name="T50" fmla="*/ 189 w 208"/>
                <a:gd name="T51" fmla="*/ 141 h 226"/>
                <a:gd name="T52" fmla="*/ 199 w 208"/>
                <a:gd name="T53" fmla="*/ 123 h 226"/>
                <a:gd name="T54" fmla="*/ 199 w 208"/>
                <a:gd name="T55" fmla="*/ 94 h 226"/>
                <a:gd name="T56" fmla="*/ 189 w 208"/>
                <a:gd name="T57" fmla="*/ 47 h 226"/>
                <a:gd name="T58" fmla="*/ 180 w 208"/>
                <a:gd name="T59" fmla="*/ 28 h 226"/>
                <a:gd name="T60" fmla="*/ 171 w 208"/>
                <a:gd name="T61" fmla="*/ 19 h 226"/>
                <a:gd name="T62" fmla="*/ 161 w 208"/>
                <a:gd name="T63" fmla="*/ 9 h 226"/>
                <a:gd name="T64" fmla="*/ 133 w 208"/>
                <a:gd name="T65" fmla="*/ 0 h 226"/>
                <a:gd name="T66" fmla="*/ 104 w 208"/>
                <a:gd name="T67" fmla="*/ 0 h 226"/>
                <a:gd name="T68" fmla="*/ 76 w 208"/>
                <a:gd name="T69" fmla="*/ 0 h 226"/>
                <a:gd name="T70" fmla="*/ 48 w 208"/>
                <a:gd name="T71" fmla="*/ 9 h 226"/>
                <a:gd name="T72" fmla="*/ 38 w 208"/>
                <a:gd name="T73" fmla="*/ 19 h 226"/>
                <a:gd name="T74" fmla="*/ 29 w 208"/>
                <a:gd name="T75" fmla="*/ 28 h 226"/>
                <a:gd name="T76" fmla="*/ 19 w 208"/>
                <a:gd name="T77" fmla="*/ 47 h 226"/>
                <a:gd name="T78" fmla="*/ 10 w 208"/>
                <a:gd name="T79" fmla="*/ 94 h 226"/>
                <a:gd name="T80" fmla="*/ 19 w 208"/>
                <a:gd name="T81" fmla="*/ 141 h 226"/>
                <a:gd name="T82" fmla="*/ 38 w 208"/>
                <a:gd name="T83" fmla="*/ 160 h 226"/>
                <a:gd name="T84" fmla="*/ 67 w 208"/>
                <a:gd name="T85" fmla="*/ 179 h 226"/>
                <a:gd name="T86" fmla="*/ 67 w 208"/>
                <a:gd name="T87" fmla="*/ 189 h 226"/>
                <a:gd name="T88" fmla="*/ 29 w 208"/>
                <a:gd name="T89" fmla="*/ 189 h 226"/>
                <a:gd name="T90" fmla="*/ 10 w 208"/>
                <a:gd name="T91" fmla="*/ 189 h 226"/>
                <a:gd name="T92" fmla="*/ 0 w 208"/>
                <a:gd name="T93" fmla="*/ 170 h 226"/>
                <a:gd name="T94" fmla="*/ 0 w 208"/>
                <a:gd name="T95" fmla="*/ 170 h 226"/>
                <a:gd name="T96" fmla="*/ 0 w 208"/>
                <a:gd name="T97" fmla="*/ 226 h 226"/>
                <a:gd name="T98" fmla="*/ 85 w 208"/>
                <a:gd name="T99" fmla="*/ 226 h 226"/>
                <a:gd name="T100" fmla="*/ 85 w 208"/>
                <a:gd name="T101" fmla="*/ 170 h 2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8"/>
                <a:gd name="T154" fmla="*/ 0 h 226"/>
                <a:gd name="T155" fmla="*/ 208 w 208"/>
                <a:gd name="T156" fmla="*/ 226 h 22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8" h="226">
                  <a:moveTo>
                    <a:pt x="85" y="170"/>
                  </a:moveTo>
                  <a:lnTo>
                    <a:pt x="67" y="160"/>
                  </a:lnTo>
                  <a:lnTo>
                    <a:pt x="48" y="132"/>
                  </a:lnTo>
                  <a:lnTo>
                    <a:pt x="38" y="113"/>
                  </a:lnTo>
                  <a:lnTo>
                    <a:pt x="38" y="85"/>
                  </a:lnTo>
                  <a:lnTo>
                    <a:pt x="57" y="19"/>
                  </a:lnTo>
                  <a:lnTo>
                    <a:pt x="85" y="9"/>
                  </a:lnTo>
                  <a:lnTo>
                    <a:pt x="104" y="9"/>
                  </a:lnTo>
                  <a:lnTo>
                    <a:pt x="123" y="9"/>
                  </a:lnTo>
                  <a:lnTo>
                    <a:pt x="142" y="19"/>
                  </a:lnTo>
                  <a:lnTo>
                    <a:pt x="161" y="47"/>
                  </a:lnTo>
                  <a:lnTo>
                    <a:pt x="171" y="85"/>
                  </a:lnTo>
                  <a:lnTo>
                    <a:pt x="171" y="113"/>
                  </a:lnTo>
                  <a:lnTo>
                    <a:pt x="161" y="132"/>
                  </a:lnTo>
                  <a:lnTo>
                    <a:pt x="142" y="160"/>
                  </a:lnTo>
                  <a:lnTo>
                    <a:pt x="123" y="170"/>
                  </a:lnTo>
                  <a:lnTo>
                    <a:pt x="123" y="226"/>
                  </a:lnTo>
                  <a:lnTo>
                    <a:pt x="208" y="226"/>
                  </a:lnTo>
                  <a:lnTo>
                    <a:pt x="208" y="170"/>
                  </a:lnTo>
                  <a:lnTo>
                    <a:pt x="199" y="170"/>
                  </a:lnTo>
                  <a:lnTo>
                    <a:pt x="199" y="189"/>
                  </a:lnTo>
                  <a:lnTo>
                    <a:pt x="180" y="189"/>
                  </a:lnTo>
                  <a:lnTo>
                    <a:pt x="133" y="189"/>
                  </a:lnTo>
                  <a:lnTo>
                    <a:pt x="133" y="179"/>
                  </a:lnTo>
                  <a:lnTo>
                    <a:pt x="161" y="160"/>
                  </a:lnTo>
                  <a:lnTo>
                    <a:pt x="189" y="141"/>
                  </a:lnTo>
                  <a:lnTo>
                    <a:pt x="199" y="123"/>
                  </a:lnTo>
                  <a:lnTo>
                    <a:pt x="199" y="94"/>
                  </a:lnTo>
                  <a:lnTo>
                    <a:pt x="189" y="47"/>
                  </a:lnTo>
                  <a:lnTo>
                    <a:pt x="180" y="28"/>
                  </a:lnTo>
                  <a:lnTo>
                    <a:pt x="171" y="19"/>
                  </a:lnTo>
                  <a:lnTo>
                    <a:pt x="161" y="9"/>
                  </a:lnTo>
                  <a:lnTo>
                    <a:pt x="133" y="0"/>
                  </a:lnTo>
                  <a:lnTo>
                    <a:pt x="104" y="0"/>
                  </a:lnTo>
                  <a:lnTo>
                    <a:pt x="76" y="0"/>
                  </a:lnTo>
                  <a:lnTo>
                    <a:pt x="48" y="9"/>
                  </a:lnTo>
                  <a:lnTo>
                    <a:pt x="38" y="19"/>
                  </a:lnTo>
                  <a:lnTo>
                    <a:pt x="29" y="28"/>
                  </a:lnTo>
                  <a:lnTo>
                    <a:pt x="19" y="47"/>
                  </a:lnTo>
                  <a:lnTo>
                    <a:pt x="10" y="94"/>
                  </a:lnTo>
                  <a:lnTo>
                    <a:pt x="19" y="141"/>
                  </a:lnTo>
                  <a:lnTo>
                    <a:pt x="38" y="160"/>
                  </a:lnTo>
                  <a:lnTo>
                    <a:pt x="67" y="179"/>
                  </a:lnTo>
                  <a:lnTo>
                    <a:pt x="67" y="189"/>
                  </a:lnTo>
                  <a:lnTo>
                    <a:pt x="29" y="189"/>
                  </a:lnTo>
                  <a:lnTo>
                    <a:pt x="10" y="189"/>
                  </a:lnTo>
                  <a:lnTo>
                    <a:pt x="0" y="170"/>
                  </a:lnTo>
                  <a:lnTo>
                    <a:pt x="0" y="226"/>
                  </a:lnTo>
                  <a:lnTo>
                    <a:pt x="85" y="226"/>
                  </a:lnTo>
                  <a:lnTo>
                    <a:pt x="85" y="17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8" name="Freeform 17"/>
            <p:cNvSpPr>
              <a:spLocks noChangeAspect="1"/>
            </p:cNvSpPr>
            <p:nvPr/>
          </p:nvSpPr>
          <p:spPr bwMode="auto">
            <a:xfrm>
              <a:off x="5135" y="2314"/>
              <a:ext cx="75" cy="226"/>
            </a:xfrm>
            <a:custGeom>
              <a:avLst/>
              <a:gdLst>
                <a:gd name="T0" fmla="*/ 0 w 75"/>
                <a:gd name="T1" fmla="*/ 226 h 226"/>
                <a:gd name="T2" fmla="*/ 75 w 75"/>
                <a:gd name="T3" fmla="*/ 226 h 226"/>
                <a:gd name="T4" fmla="*/ 75 w 75"/>
                <a:gd name="T5" fmla="*/ 217 h 226"/>
                <a:gd name="T6" fmla="*/ 56 w 75"/>
                <a:gd name="T7" fmla="*/ 217 h 226"/>
                <a:gd name="T8" fmla="*/ 47 w 75"/>
                <a:gd name="T9" fmla="*/ 198 h 226"/>
                <a:gd name="T10" fmla="*/ 47 w 75"/>
                <a:gd name="T11" fmla="*/ 0 h 226"/>
                <a:gd name="T12" fmla="*/ 47 w 75"/>
                <a:gd name="T13" fmla="*/ 0 h 226"/>
                <a:gd name="T14" fmla="*/ 0 w 75"/>
                <a:gd name="T15" fmla="*/ 28 h 226"/>
                <a:gd name="T16" fmla="*/ 0 w 75"/>
                <a:gd name="T17" fmla="*/ 28 h 226"/>
                <a:gd name="T18" fmla="*/ 9 w 75"/>
                <a:gd name="T19" fmla="*/ 28 h 226"/>
                <a:gd name="T20" fmla="*/ 19 w 75"/>
                <a:gd name="T21" fmla="*/ 28 h 226"/>
                <a:gd name="T22" fmla="*/ 28 w 75"/>
                <a:gd name="T23" fmla="*/ 38 h 226"/>
                <a:gd name="T24" fmla="*/ 28 w 75"/>
                <a:gd name="T25" fmla="*/ 38 h 226"/>
                <a:gd name="T26" fmla="*/ 28 w 75"/>
                <a:gd name="T27" fmla="*/ 189 h 226"/>
                <a:gd name="T28" fmla="*/ 28 w 75"/>
                <a:gd name="T29" fmla="*/ 208 h 226"/>
                <a:gd name="T30" fmla="*/ 19 w 75"/>
                <a:gd name="T31" fmla="*/ 217 h 226"/>
                <a:gd name="T32" fmla="*/ 0 w 75"/>
                <a:gd name="T33" fmla="*/ 217 h 226"/>
                <a:gd name="T34" fmla="*/ 0 w 75"/>
                <a:gd name="T35" fmla="*/ 226 h 2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5"/>
                <a:gd name="T55" fmla="*/ 0 h 226"/>
                <a:gd name="T56" fmla="*/ 75 w 75"/>
                <a:gd name="T57" fmla="*/ 226 h 2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5" h="226">
                  <a:moveTo>
                    <a:pt x="0" y="226"/>
                  </a:moveTo>
                  <a:lnTo>
                    <a:pt x="75" y="226"/>
                  </a:lnTo>
                  <a:lnTo>
                    <a:pt x="75" y="217"/>
                  </a:lnTo>
                  <a:lnTo>
                    <a:pt x="56" y="217"/>
                  </a:lnTo>
                  <a:lnTo>
                    <a:pt x="47" y="198"/>
                  </a:lnTo>
                  <a:lnTo>
                    <a:pt x="47" y="0"/>
                  </a:lnTo>
                  <a:lnTo>
                    <a:pt x="0" y="28"/>
                  </a:lnTo>
                  <a:lnTo>
                    <a:pt x="9" y="28"/>
                  </a:lnTo>
                  <a:lnTo>
                    <a:pt x="19" y="28"/>
                  </a:lnTo>
                  <a:lnTo>
                    <a:pt x="28" y="38"/>
                  </a:lnTo>
                  <a:lnTo>
                    <a:pt x="28" y="189"/>
                  </a:lnTo>
                  <a:lnTo>
                    <a:pt x="28" y="208"/>
                  </a:lnTo>
                  <a:lnTo>
                    <a:pt x="19" y="217"/>
                  </a:lnTo>
                  <a:lnTo>
                    <a:pt x="0" y="217"/>
                  </a:lnTo>
                  <a:lnTo>
                    <a:pt x="0" y="22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69" name="Freeform 18"/>
            <p:cNvSpPr>
              <a:spLocks noChangeAspect="1"/>
            </p:cNvSpPr>
            <p:nvPr/>
          </p:nvSpPr>
          <p:spPr bwMode="auto">
            <a:xfrm>
              <a:off x="5248" y="2314"/>
              <a:ext cx="132" cy="226"/>
            </a:xfrm>
            <a:custGeom>
              <a:avLst/>
              <a:gdLst>
                <a:gd name="T0" fmla="*/ 132 w 132"/>
                <a:gd name="T1" fmla="*/ 179 h 226"/>
                <a:gd name="T2" fmla="*/ 132 w 132"/>
                <a:gd name="T3" fmla="*/ 179 h 226"/>
                <a:gd name="T4" fmla="*/ 123 w 132"/>
                <a:gd name="T5" fmla="*/ 198 h 226"/>
                <a:gd name="T6" fmla="*/ 104 w 132"/>
                <a:gd name="T7" fmla="*/ 198 h 226"/>
                <a:gd name="T8" fmla="*/ 28 w 132"/>
                <a:gd name="T9" fmla="*/ 198 h 226"/>
                <a:gd name="T10" fmla="*/ 85 w 132"/>
                <a:gd name="T11" fmla="*/ 142 h 226"/>
                <a:gd name="T12" fmla="*/ 104 w 132"/>
                <a:gd name="T13" fmla="*/ 104 h 226"/>
                <a:gd name="T14" fmla="*/ 123 w 132"/>
                <a:gd name="T15" fmla="*/ 85 h 226"/>
                <a:gd name="T16" fmla="*/ 123 w 132"/>
                <a:gd name="T17" fmla="*/ 57 h 226"/>
                <a:gd name="T18" fmla="*/ 123 w 132"/>
                <a:gd name="T19" fmla="*/ 28 h 226"/>
                <a:gd name="T20" fmla="*/ 104 w 132"/>
                <a:gd name="T21" fmla="*/ 19 h 226"/>
                <a:gd name="T22" fmla="*/ 66 w 132"/>
                <a:gd name="T23" fmla="*/ 0 h 226"/>
                <a:gd name="T24" fmla="*/ 47 w 132"/>
                <a:gd name="T25" fmla="*/ 0 h 226"/>
                <a:gd name="T26" fmla="*/ 28 w 132"/>
                <a:gd name="T27" fmla="*/ 9 h 226"/>
                <a:gd name="T28" fmla="*/ 10 w 132"/>
                <a:gd name="T29" fmla="*/ 28 h 226"/>
                <a:gd name="T30" fmla="*/ 0 w 132"/>
                <a:gd name="T31" fmla="*/ 66 h 226"/>
                <a:gd name="T32" fmla="*/ 10 w 132"/>
                <a:gd name="T33" fmla="*/ 66 h 226"/>
                <a:gd name="T34" fmla="*/ 28 w 132"/>
                <a:gd name="T35" fmla="*/ 38 h 226"/>
                <a:gd name="T36" fmla="*/ 38 w 132"/>
                <a:gd name="T37" fmla="*/ 28 h 226"/>
                <a:gd name="T38" fmla="*/ 57 w 132"/>
                <a:gd name="T39" fmla="*/ 19 h 226"/>
                <a:gd name="T40" fmla="*/ 76 w 132"/>
                <a:gd name="T41" fmla="*/ 28 h 226"/>
                <a:gd name="T42" fmla="*/ 85 w 132"/>
                <a:gd name="T43" fmla="*/ 38 h 226"/>
                <a:gd name="T44" fmla="*/ 95 w 132"/>
                <a:gd name="T45" fmla="*/ 57 h 226"/>
                <a:gd name="T46" fmla="*/ 95 w 132"/>
                <a:gd name="T47" fmla="*/ 66 h 226"/>
                <a:gd name="T48" fmla="*/ 85 w 132"/>
                <a:gd name="T49" fmla="*/ 113 h 226"/>
                <a:gd name="T50" fmla="*/ 57 w 132"/>
                <a:gd name="T51" fmla="*/ 151 h 226"/>
                <a:gd name="T52" fmla="*/ 0 w 132"/>
                <a:gd name="T53" fmla="*/ 217 h 226"/>
                <a:gd name="T54" fmla="*/ 0 w 132"/>
                <a:gd name="T55" fmla="*/ 226 h 226"/>
                <a:gd name="T56" fmla="*/ 123 w 132"/>
                <a:gd name="T57" fmla="*/ 226 h 226"/>
                <a:gd name="T58" fmla="*/ 132 w 132"/>
                <a:gd name="T59" fmla="*/ 179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2"/>
                <a:gd name="T91" fmla="*/ 0 h 226"/>
                <a:gd name="T92" fmla="*/ 132 w 132"/>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2" h="226">
                  <a:moveTo>
                    <a:pt x="132" y="179"/>
                  </a:moveTo>
                  <a:lnTo>
                    <a:pt x="132" y="179"/>
                  </a:lnTo>
                  <a:lnTo>
                    <a:pt x="123" y="198"/>
                  </a:lnTo>
                  <a:lnTo>
                    <a:pt x="104" y="198"/>
                  </a:lnTo>
                  <a:lnTo>
                    <a:pt x="28" y="198"/>
                  </a:lnTo>
                  <a:lnTo>
                    <a:pt x="85" y="142"/>
                  </a:lnTo>
                  <a:lnTo>
                    <a:pt x="104" y="104"/>
                  </a:lnTo>
                  <a:lnTo>
                    <a:pt x="123" y="85"/>
                  </a:lnTo>
                  <a:lnTo>
                    <a:pt x="123" y="57"/>
                  </a:lnTo>
                  <a:lnTo>
                    <a:pt x="123" y="28"/>
                  </a:lnTo>
                  <a:lnTo>
                    <a:pt x="104" y="19"/>
                  </a:lnTo>
                  <a:lnTo>
                    <a:pt x="66" y="0"/>
                  </a:lnTo>
                  <a:lnTo>
                    <a:pt x="47" y="0"/>
                  </a:lnTo>
                  <a:lnTo>
                    <a:pt x="28" y="9"/>
                  </a:lnTo>
                  <a:lnTo>
                    <a:pt x="10" y="28"/>
                  </a:lnTo>
                  <a:lnTo>
                    <a:pt x="0" y="66"/>
                  </a:lnTo>
                  <a:lnTo>
                    <a:pt x="10" y="66"/>
                  </a:lnTo>
                  <a:lnTo>
                    <a:pt x="28" y="38"/>
                  </a:lnTo>
                  <a:lnTo>
                    <a:pt x="38" y="28"/>
                  </a:lnTo>
                  <a:lnTo>
                    <a:pt x="57" y="19"/>
                  </a:lnTo>
                  <a:lnTo>
                    <a:pt x="76" y="28"/>
                  </a:lnTo>
                  <a:lnTo>
                    <a:pt x="85" y="38"/>
                  </a:lnTo>
                  <a:lnTo>
                    <a:pt x="95" y="57"/>
                  </a:lnTo>
                  <a:lnTo>
                    <a:pt x="95" y="66"/>
                  </a:lnTo>
                  <a:lnTo>
                    <a:pt x="85" y="113"/>
                  </a:lnTo>
                  <a:lnTo>
                    <a:pt x="57" y="151"/>
                  </a:lnTo>
                  <a:lnTo>
                    <a:pt x="0" y="217"/>
                  </a:lnTo>
                  <a:lnTo>
                    <a:pt x="0" y="226"/>
                  </a:lnTo>
                  <a:lnTo>
                    <a:pt x="123" y="226"/>
                  </a:lnTo>
                  <a:lnTo>
                    <a:pt x="132"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0" name="Freeform 19"/>
            <p:cNvSpPr>
              <a:spLocks noChangeAspect="1"/>
            </p:cNvSpPr>
            <p:nvPr/>
          </p:nvSpPr>
          <p:spPr bwMode="auto">
            <a:xfrm>
              <a:off x="5456" y="2314"/>
              <a:ext cx="199" cy="226"/>
            </a:xfrm>
            <a:custGeom>
              <a:avLst/>
              <a:gdLst>
                <a:gd name="T0" fmla="*/ 199 w 199"/>
                <a:gd name="T1" fmla="*/ 0 h 226"/>
                <a:gd name="T2" fmla="*/ 132 w 199"/>
                <a:gd name="T3" fmla="*/ 0 h 226"/>
                <a:gd name="T4" fmla="*/ 132 w 199"/>
                <a:gd name="T5" fmla="*/ 9 h 226"/>
                <a:gd name="T6" fmla="*/ 151 w 199"/>
                <a:gd name="T7" fmla="*/ 9 h 226"/>
                <a:gd name="T8" fmla="*/ 161 w 199"/>
                <a:gd name="T9" fmla="*/ 28 h 226"/>
                <a:gd name="T10" fmla="*/ 161 w 199"/>
                <a:gd name="T11" fmla="*/ 38 h 226"/>
                <a:gd name="T12" fmla="*/ 151 w 199"/>
                <a:gd name="T13" fmla="*/ 47 h 226"/>
                <a:gd name="T14" fmla="*/ 113 w 199"/>
                <a:gd name="T15" fmla="*/ 170 h 226"/>
                <a:gd name="T16" fmla="*/ 66 w 199"/>
                <a:gd name="T17" fmla="*/ 57 h 226"/>
                <a:gd name="T18" fmla="*/ 57 w 199"/>
                <a:gd name="T19" fmla="*/ 38 h 226"/>
                <a:gd name="T20" fmla="*/ 57 w 199"/>
                <a:gd name="T21" fmla="*/ 19 h 226"/>
                <a:gd name="T22" fmla="*/ 57 w 199"/>
                <a:gd name="T23" fmla="*/ 9 h 226"/>
                <a:gd name="T24" fmla="*/ 76 w 199"/>
                <a:gd name="T25" fmla="*/ 9 h 226"/>
                <a:gd name="T26" fmla="*/ 76 w 199"/>
                <a:gd name="T27" fmla="*/ 0 h 226"/>
                <a:gd name="T28" fmla="*/ 0 w 199"/>
                <a:gd name="T29" fmla="*/ 0 h 226"/>
                <a:gd name="T30" fmla="*/ 0 w 199"/>
                <a:gd name="T31" fmla="*/ 9 h 226"/>
                <a:gd name="T32" fmla="*/ 19 w 199"/>
                <a:gd name="T33" fmla="*/ 19 h 226"/>
                <a:gd name="T34" fmla="*/ 19 w 199"/>
                <a:gd name="T35" fmla="*/ 28 h 226"/>
                <a:gd name="T36" fmla="*/ 28 w 199"/>
                <a:gd name="T37" fmla="*/ 47 h 226"/>
                <a:gd name="T38" fmla="*/ 104 w 199"/>
                <a:gd name="T39" fmla="*/ 226 h 226"/>
                <a:gd name="T40" fmla="*/ 104 w 199"/>
                <a:gd name="T41" fmla="*/ 226 h 226"/>
                <a:gd name="T42" fmla="*/ 170 w 199"/>
                <a:gd name="T43" fmla="*/ 38 h 226"/>
                <a:gd name="T44" fmla="*/ 180 w 199"/>
                <a:gd name="T45" fmla="*/ 19 h 226"/>
                <a:gd name="T46" fmla="*/ 199 w 199"/>
                <a:gd name="T47" fmla="*/ 9 h 226"/>
                <a:gd name="T48" fmla="*/ 199 w 199"/>
                <a:gd name="T49" fmla="*/ 0 h 2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
                <a:gd name="T76" fmla="*/ 0 h 226"/>
                <a:gd name="T77" fmla="*/ 199 w 199"/>
                <a:gd name="T78" fmla="*/ 226 h 22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 h="226">
                  <a:moveTo>
                    <a:pt x="199" y="0"/>
                  </a:moveTo>
                  <a:lnTo>
                    <a:pt x="132" y="0"/>
                  </a:lnTo>
                  <a:lnTo>
                    <a:pt x="132" y="9"/>
                  </a:lnTo>
                  <a:lnTo>
                    <a:pt x="151" y="9"/>
                  </a:lnTo>
                  <a:lnTo>
                    <a:pt x="161" y="28"/>
                  </a:lnTo>
                  <a:lnTo>
                    <a:pt x="161" y="38"/>
                  </a:lnTo>
                  <a:lnTo>
                    <a:pt x="151" y="47"/>
                  </a:lnTo>
                  <a:lnTo>
                    <a:pt x="113" y="170"/>
                  </a:lnTo>
                  <a:lnTo>
                    <a:pt x="66" y="57"/>
                  </a:lnTo>
                  <a:lnTo>
                    <a:pt x="57" y="38"/>
                  </a:lnTo>
                  <a:lnTo>
                    <a:pt x="57" y="19"/>
                  </a:lnTo>
                  <a:lnTo>
                    <a:pt x="57" y="9"/>
                  </a:lnTo>
                  <a:lnTo>
                    <a:pt x="76" y="9"/>
                  </a:lnTo>
                  <a:lnTo>
                    <a:pt x="76" y="0"/>
                  </a:lnTo>
                  <a:lnTo>
                    <a:pt x="0" y="0"/>
                  </a:lnTo>
                  <a:lnTo>
                    <a:pt x="0" y="9"/>
                  </a:lnTo>
                  <a:lnTo>
                    <a:pt x="19" y="19"/>
                  </a:lnTo>
                  <a:lnTo>
                    <a:pt x="19" y="28"/>
                  </a:lnTo>
                  <a:lnTo>
                    <a:pt x="28" y="47"/>
                  </a:lnTo>
                  <a:lnTo>
                    <a:pt x="104" y="226"/>
                  </a:lnTo>
                  <a:lnTo>
                    <a:pt x="170" y="38"/>
                  </a:lnTo>
                  <a:lnTo>
                    <a:pt x="180" y="19"/>
                  </a:lnTo>
                  <a:lnTo>
                    <a:pt x="199" y="9"/>
                  </a:lnTo>
                  <a:lnTo>
                    <a:pt x="19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1" name="Freeform 20"/>
            <p:cNvSpPr>
              <a:spLocks noChangeAspect="1"/>
            </p:cNvSpPr>
            <p:nvPr/>
          </p:nvSpPr>
          <p:spPr bwMode="auto">
            <a:xfrm>
              <a:off x="3386" y="1559"/>
              <a:ext cx="1" cy="1803"/>
            </a:xfrm>
            <a:custGeom>
              <a:avLst/>
              <a:gdLst>
                <a:gd name="T0" fmla="*/ 0 w 1"/>
                <a:gd name="T1" fmla="*/ 0 h 1803"/>
                <a:gd name="T2" fmla="*/ 0 w 1"/>
                <a:gd name="T3" fmla="*/ 1803 h 1803"/>
                <a:gd name="T4" fmla="*/ 0 w 1"/>
                <a:gd name="T5" fmla="*/ 0 h 1803"/>
                <a:gd name="T6" fmla="*/ 0 w 1"/>
                <a:gd name="T7" fmla="*/ 0 h 1803"/>
                <a:gd name="T8" fmla="*/ 0 60000 65536"/>
                <a:gd name="T9" fmla="*/ 0 60000 65536"/>
                <a:gd name="T10" fmla="*/ 0 60000 65536"/>
                <a:gd name="T11" fmla="*/ 0 60000 65536"/>
                <a:gd name="T12" fmla="*/ 0 w 1"/>
                <a:gd name="T13" fmla="*/ 0 h 1803"/>
                <a:gd name="T14" fmla="*/ 1 w 1"/>
                <a:gd name="T15" fmla="*/ 1803 h 1803"/>
              </a:gdLst>
              <a:ahLst/>
              <a:cxnLst>
                <a:cxn ang="T8">
                  <a:pos x="T0" y="T1"/>
                </a:cxn>
                <a:cxn ang="T9">
                  <a:pos x="T2" y="T3"/>
                </a:cxn>
                <a:cxn ang="T10">
                  <a:pos x="T4" y="T5"/>
                </a:cxn>
                <a:cxn ang="T11">
                  <a:pos x="T6" y="T7"/>
                </a:cxn>
              </a:cxnLst>
              <a:rect l="T12" t="T13" r="T14" b="T15"/>
              <a:pathLst>
                <a:path w="1" h="1803">
                  <a:moveTo>
                    <a:pt x="0" y="0"/>
                  </a:moveTo>
                  <a:lnTo>
                    <a:pt x="0" y="1803"/>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2" name="Freeform 21"/>
            <p:cNvSpPr>
              <a:spLocks noChangeAspect="1" noEditPoints="1"/>
            </p:cNvSpPr>
            <p:nvPr/>
          </p:nvSpPr>
          <p:spPr bwMode="auto">
            <a:xfrm>
              <a:off x="2715" y="2314"/>
              <a:ext cx="113" cy="226"/>
            </a:xfrm>
            <a:custGeom>
              <a:avLst/>
              <a:gdLst>
                <a:gd name="T0" fmla="*/ 47 w 113"/>
                <a:gd name="T1" fmla="*/ 123 h 226"/>
                <a:gd name="T2" fmla="*/ 75 w 113"/>
                <a:gd name="T3" fmla="*/ 142 h 226"/>
                <a:gd name="T4" fmla="*/ 85 w 113"/>
                <a:gd name="T5" fmla="*/ 151 h 226"/>
                <a:gd name="T6" fmla="*/ 94 w 113"/>
                <a:gd name="T7" fmla="*/ 179 h 226"/>
                <a:gd name="T8" fmla="*/ 85 w 113"/>
                <a:gd name="T9" fmla="*/ 208 h 226"/>
                <a:gd name="T10" fmla="*/ 66 w 113"/>
                <a:gd name="T11" fmla="*/ 217 h 226"/>
                <a:gd name="T12" fmla="*/ 37 w 113"/>
                <a:gd name="T13" fmla="*/ 208 h 226"/>
                <a:gd name="T14" fmla="*/ 28 w 113"/>
                <a:gd name="T15" fmla="*/ 170 h 226"/>
                <a:gd name="T16" fmla="*/ 37 w 113"/>
                <a:gd name="T17" fmla="*/ 142 h 226"/>
                <a:gd name="T18" fmla="*/ 47 w 113"/>
                <a:gd name="T19" fmla="*/ 123 h 226"/>
                <a:gd name="T20" fmla="*/ 47 w 113"/>
                <a:gd name="T21" fmla="*/ 123 h 226"/>
                <a:gd name="T22" fmla="*/ 0 w 113"/>
                <a:gd name="T23" fmla="*/ 170 h 226"/>
                <a:gd name="T24" fmla="*/ 18 w 113"/>
                <a:gd name="T25" fmla="*/ 208 h 226"/>
                <a:gd name="T26" fmla="*/ 28 w 113"/>
                <a:gd name="T27" fmla="*/ 226 h 226"/>
                <a:gd name="T28" fmla="*/ 56 w 113"/>
                <a:gd name="T29" fmla="*/ 226 h 226"/>
                <a:gd name="T30" fmla="*/ 85 w 113"/>
                <a:gd name="T31" fmla="*/ 217 h 226"/>
                <a:gd name="T32" fmla="*/ 104 w 113"/>
                <a:gd name="T33" fmla="*/ 208 h 226"/>
                <a:gd name="T34" fmla="*/ 113 w 113"/>
                <a:gd name="T35" fmla="*/ 170 h 226"/>
                <a:gd name="T36" fmla="*/ 104 w 113"/>
                <a:gd name="T37" fmla="*/ 142 h 226"/>
                <a:gd name="T38" fmla="*/ 94 w 113"/>
                <a:gd name="T39" fmla="*/ 123 h 226"/>
                <a:gd name="T40" fmla="*/ 66 w 113"/>
                <a:gd name="T41" fmla="*/ 104 h 226"/>
                <a:gd name="T42" fmla="*/ 94 w 113"/>
                <a:gd name="T43" fmla="*/ 85 h 226"/>
                <a:gd name="T44" fmla="*/ 113 w 113"/>
                <a:gd name="T45" fmla="*/ 66 h 226"/>
                <a:gd name="T46" fmla="*/ 113 w 113"/>
                <a:gd name="T47" fmla="*/ 47 h 226"/>
                <a:gd name="T48" fmla="*/ 104 w 113"/>
                <a:gd name="T49" fmla="*/ 9 h 226"/>
                <a:gd name="T50" fmla="*/ 56 w 113"/>
                <a:gd name="T51" fmla="*/ 0 h 226"/>
                <a:gd name="T52" fmla="*/ 18 w 113"/>
                <a:gd name="T53" fmla="*/ 9 h 226"/>
                <a:gd name="T54" fmla="*/ 9 w 113"/>
                <a:gd name="T55" fmla="*/ 28 h 226"/>
                <a:gd name="T56" fmla="*/ 0 w 113"/>
                <a:gd name="T57" fmla="*/ 47 h 226"/>
                <a:gd name="T58" fmla="*/ 9 w 113"/>
                <a:gd name="T59" fmla="*/ 85 h 226"/>
                <a:gd name="T60" fmla="*/ 37 w 113"/>
                <a:gd name="T61" fmla="*/ 113 h 226"/>
                <a:gd name="T62" fmla="*/ 9 w 113"/>
                <a:gd name="T63" fmla="*/ 142 h 226"/>
                <a:gd name="T64" fmla="*/ 0 w 113"/>
                <a:gd name="T65" fmla="*/ 170 h 226"/>
                <a:gd name="T66" fmla="*/ 0 w 113"/>
                <a:gd name="T67" fmla="*/ 170 h 226"/>
                <a:gd name="T68" fmla="*/ 28 w 113"/>
                <a:gd name="T69" fmla="*/ 38 h 226"/>
                <a:gd name="T70" fmla="*/ 37 w 113"/>
                <a:gd name="T71" fmla="*/ 19 h 226"/>
                <a:gd name="T72" fmla="*/ 56 w 113"/>
                <a:gd name="T73" fmla="*/ 9 h 226"/>
                <a:gd name="T74" fmla="*/ 75 w 113"/>
                <a:gd name="T75" fmla="*/ 19 h 226"/>
                <a:gd name="T76" fmla="*/ 85 w 113"/>
                <a:gd name="T77" fmla="*/ 47 h 226"/>
                <a:gd name="T78" fmla="*/ 75 w 113"/>
                <a:gd name="T79" fmla="*/ 75 h 226"/>
                <a:gd name="T80" fmla="*/ 66 w 113"/>
                <a:gd name="T81" fmla="*/ 94 h 226"/>
                <a:gd name="T82" fmla="*/ 37 w 113"/>
                <a:gd name="T83" fmla="*/ 75 h 226"/>
                <a:gd name="T84" fmla="*/ 28 w 113"/>
                <a:gd name="T85" fmla="*/ 38 h 226"/>
                <a:gd name="T86" fmla="*/ 28 w 113"/>
                <a:gd name="T87" fmla="*/ 38 h 22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3"/>
                <a:gd name="T133" fmla="*/ 0 h 226"/>
                <a:gd name="T134" fmla="*/ 113 w 113"/>
                <a:gd name="T135" fmla="*/ 226 h 22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3" h="226">
                  <a:moveTo>
                    <a:pt x="47" y="123"/>
                  </a:moveTo>
                  <a:lnTo>
                    <a:pt x="75" y="142"/>
                  </a:lnTo>
                  <a:lnTo>
                    <a:pt x="85" y="151"/>
                  </a:lnTo>
                  <a:lnTo>
                    <a:pt x="94" y="179"/>
                  </a:lnTo>
                  <a:lnTo>
                    <a:pt x="85" y="208"/>
                  </a:lnTo>
                  <a:lnTo>
                    <a:pt x="66" y="217"/>
                  </a:lnTo>
                  <a:lnTo>
                    <a:pt x="37" y="208"/>
                  </a:lnTo>
                  <a:lnTo>
                    <a:pt x="28" y="170"/>
                  </a:lnTo>
                  <a:lnTo>
                    <a:pt x="37" y="142"/>
                  </a:lnTo>
                  <a:lnTo>
                    <a:pt x="47" y="123"/>
                  </a:lnTo>
                  <a:close/>
                  <a:moveTo>
                    <a:pt x="0" y="170"/>
                  </a:moveTo>
                  <a:lnTo>
                    <a:pt x="18" y="208"/>
                  </a:lnTo>
                  <a:lnTo>
                    <a:pt x="28" y="226"/>
                  </a:lnTo>
                  <a:lnTo>
                    <a:pt x="56" y="226"/>
                  </a:lnTo>
                  <a:lnTo>
                    <a:pt x="85" y="217"/>
                  </a:lnTo>
                  <a:lnTo>
                    <a:pt x="104" y="208"/>
                  </a:lnTo>
                  <a:lnTo>
                    <a:pt x="113" y="170"/>
                  </a:lnTo>
                  <a:lnTo>
                    <a:pt x="104" y="142"/>
                  </a:lnTo>
                  <a:lnTo>
                    <a:pt x="94" y="123"/>
                  </a:lnTo>
                  <a:lnTo>
                    <a:pt x="66" y="104"/>
                  </a:lnTo>
                  <a:lnTo>
                    <a:pt x="94" y="85"/>
                  </a:lnTo>
                  <a:lnTo>
                    <a:pt x="113" y="66"/>
                  </a:lnTo>
                  <a:lnTo>
                    <a:pt x="113" y="47"/>
                  </a:lnTo>
                  <a:lnTo>
                    <a:pt x="104" y="9"/>
                  </a:lnTo>
                  <a:lnTo>
                    <a:pt x="56" y="0"/>
                  </a:lnTo>
                  <a:lnTo>
                    <a:pt x="18" y="9"/>
                  </a:lnTo>
                  <a:lnTo>
                    <a:pt x="9" y="28"/>
                  </a:lnTo>
                  <a:lnTo>
                    <a:pt x="0" y="47"/>
                  </a:lnTo>
                  <a:lnTo>
                    <a:pt x="9" y="85"/>
                  </a:lnTo>
                  <a:lnTo>
                    <a:pt x="37" y="113"/>
                  </a:lnTo>
                  <a:lnTo>
                    <a:pt x="9" y="142"/>
                  </a:lnTo>
                  <a:lnTo>
                    <a:pt x="0" y="170"/>
                  </a:lnTo>
                  <a:close/>
                  <a:moveTo>
                    <a:pt x="28" y="38"/>
                  </a:moveTo>
                  <a:lnTo>
                    <a:pt x="37" y="19"/>
                  </a:lnTo>
                  <a:lnTo>
                    <a:pt x="56" y="9"/>
                  </a:lnTo>
                  <a:lnTo>
                    <a:pt x="75" y="19"/>
                  </a:lnTo>
                  <a:lnTo>
                    <a:pt x="85" y="47"/>
                  </a:lnTo>
                  <a:lnTo>
                    <a:pt x="75" y="75"/>
                  </a:lnTo>
                  <a:lnTo>
                    <a:pt x="66" y="94"/>
                  </a:lnTo>
                  <a:lnTo>
                    <a:pt x="37" y="75"/>
                  </a:lnTo>
                  <a:lnTo>
                    <a:pt x="28"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3" name="Freeform 22"/>
            <p:cNvSpPr>
              <a:spLocks noChangeAspect="1"/>
            </p:cNvSpPr>
            <p:nvPr/>
          </p:nvSpPr>
          <p:spPr bwMode="auto">
            <a:xfrm>
              <a:off x="2932" y="2305"/>
              <a:ext cx="199" cy="235"/>
            </a:xfrm>
            <a:custGeom>
              <a:avLst/>
              <a:gdLst>
                <a:gd name="T0" fmla="*/ 76 w 199"/>
                <a:gd name="T1" fmla="*/ 179 h 235"/>
                <a:gd name="T2" fmla="*/ 66 w 199"/>
                <a:gd name="T3" fmla="*/ 169 h 235"/>
                <a:gd name="T4" fmla="*/ 47 w 199"/>
                <a:gd name="T5" fmla="*/ 141 h 235"/>
                <a:gd name="T6" fmla="*/ 38 w 199"/>
                <a:gd name="T7" fmla="*/ 122 h 235"/>
                <a:gd name="T8" fmla="*/ 38 w 199"/>
                <a:gd name="T9" fmla="*/ 84 h 235"/>
                <a:gd name="T10" fmla="*/ 38 w 199"/>
                <a:gd name="T11" fmla="*/ 56 h 235"/>
                <a:gd name="T12" fmla="*/ 57 w 199"/>
                <a:gd name="T13" fmla="*/ 28 h 235"/>
                <a:gd name="T14" fmla="*/ 76 w 199"/>
                <a:gd name="T15" fmla="*/ 18 h 235"/>
                <a:gd name="T16" fmla="*/ 104 w 199"/>
                <a:gd name="T17" fmla="*/ 18 h 235"/>
                <a:gd name="T18" fmla="*/ 123 w 199"/>
                <a:gd name="T19" fmla="*/ 18 h 235"/>
                <a:gd name="T20" fmla="*/ 142 w 199"/>
                <a:gd name="T21" fmla="*/ 28 h 235"/>
                <a:gd name="T22" fmla="*/ 161 w 199"/>
                <a:gd name="T23" fmla="*/ 56 h 235"/>
                <a:gd name="T24" fmla="*/ 161 w 199"/>
                <a:gd name="T25" fmla="*/ 84 h 235"/>
                <a:gd name="T26" fmla="*/ 161 w 199"/>
                <a:gd name="T27" fmla="*/ 122 h 235"/>
                <a:gd name="T28" fmla="*/ 151 w 199"/>
                <a:gd name="T29" fmla="*/ 141 h 235"/>
                <a:gd name="T30" fmla="*/ 142 w 199"/>
                <a:gd name="T31" fmla="*/ 169 h 235"/>
                <a:gd name="T32" fmla="*/ 123 w 199"/>
                <a:gd name="T33" fmla="*/ 179 h 235"/>
                <a:gd name="T34" fmla="*/ 113 w 199"/>
                <a:gd name="T35" fmla="*/ 235 h 235"/>
                <a:gd name="T36" fmla="*/ 199 w 199"/>
                <a:gd name="T37" fmla="*/ 235 h 235"/>
                <a:gd name="T38" fmla="*/ 199 w 199"/>
                <a:gd name="T39" fmla="*/ 179 h 235"/>
                <a:gd name="T40" fmla="*/ 199 w 199"/>
                <a:gd name="T41" fmla="*/ 179 h 235"/>
                <a:gd name="T42" fmla="*/ 189 w 199"/>
                <a:gd name="T43" fmla="*/ 198 h 235"/>
                <a:gd name="T44" fmla="*/ 180 w 199"/>
                <a:gd name="T45" fmla="*/ 198 h 235"/>
                <a:gd name="T46" fmla="*/ 132 w 199"/>
                <a:gd name="T47" fmla="*/ 198 h 235"/>
                <a:gd name="T48" fmla="*/ 132 w 199"/>
                <a:gd name="T49" fmla="*/ 188 h 235"/>
                <a:gd name="T50" fmla="*/ 161 w 199"/>
                <a:gd name="T51" fmla="*/ 169 h 235"/>
                <a:gd name="T52" fmla="*/ 180 w 199"/>
                <a:gd name="T53" fmla="*/ 151 h 235"/>
                <a:gd name="T54" fmla="*/ 199 w 199"/>
                <a:gd name="T55" fmla="*/ 103 h 235"/>
                <a:gd name="T56" fmla="*/ 199 w 199"/>
                <a:gd name="T57" fmla="*/ 75 h 235"/>
                <a:gd name="T58" fmla="*/ 189 w 199"/>
                <a:gd name="T59" fmla="*/ 56 h 235"/>
                <a:gd name="T60" fmla="*/ 170 w 199"/>
                <a:gd name="T61" fmla="*/ 28 h 235"/>
                <a:gd name="T62" fmla="*/ 151 w 199"/>
                <a:gd name="T63" fmla="*/ 18 h 235"/>
                <a:gd name="T64" fmla="*/ 132 w 199"/>
                <a:gd name="T65" fmla="*/ 9 h 235"/>
                <a:gd name="T66" fmla="*/ 104 w 199"/>
                <a:gd name="T67" fmla="*/ 0 h 235"/>
                <a:gd name="T68" fmla="*/ 66 w 199"/>
                <a:gd name="T69" fmla="*/ 9 h 235"/>
                <a:gd name="T70" fmla="*/ 47 w 199"/>
                <a:gd name="T71" fmla="*/ 18 h 235"/>
                <a:gd name="T72" fmla="*/ 28 w 199"/>
                <a:gd name="T73" fmla="*/ 28 h 235"/>
                <a:gd name="T74" fmla="*/ 9 w 199"/>
                <a:gd name="T75" fmla="*/ 56 h 235"/>
                <a:gd name="T76" fmla="*/ 0 w 199"/>
                <a:gd name="T77" fmla="*/ 75 h 235"/>
                <a:gd name="T78" fmla="*/ 0 w 199"/>
                <a:gd name="T79" fmla="*/ 103 h 235"/>
                <a:gd name="T80" fmla="*/ 19 w 199"/>
                <a:gd name="T81" fmla="*/ 151 h 235"/>
                <a:gd name="T82" fmla="*/ 38 w 199"/>
                <a:gd name="T83" fmla="*/ 169 h 235"/>
                <a:gd name="T84" fmla="*/ 66 w 199"/>
                <a:gd name="T85" fmla="*/ 188 h 235"/>
                <a:gd name="T86" fmla="*/ 66 w 199"/>
                <a:gd name="T87" fmla="*/ 198 h 235"/>
                <a:gd name="T88" fmla="*/ 19 w 199"/>
                <a:gd name="T89" fmla="*/ 198 h 235"/>
                <a:gd name="T90" fmla="*/ 9 w 199"/>
                <a:gd name="T91" fmla="*/ 198 h 235"/>
                <a:gd name="T92" fmla="*/ 0 w 199"/>
                <a:gd name="T93" fmla="*/ 179 h 235"/>
                <a:gd name="T94" fmla="*/ 0 w 199"/>
                <a:gd name="T95" fmla="*/ 179 h 235"/>
                <a:gd name="T96" fmla="*/ 0 w 199"/>
                <a:gd name="T97" fmla="*/ 235 h 235"/>
                <a:gd name="T98" fmla="*/ 85 w 199"/>
                <a:gd name="T99" fmla="*/ 235 h 235"/>
                <a:gd name="T100" fmla="*/ 76 w 199"/>
                <a:gd name="T101" fmla="*/ 179 h 2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9"/>
                <a:gd name="T154" fmla="*/ 0 h 235"/>
                <a:gd name="T155" fmla="*/ 199 w 199"/>
                <a:gd name="T156" fmla="*/ 235 h 23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9" h="235">
                  <a:moveTo>
                    <a:pt x="76" y="179"/>
                  </a:moveTo>
                  <a:lnTo>
                    <a:pt x="66" y="169"/>
                  </a:lnTo>
                  <a:lnTo>
                    <a:pt x="47" y="141"/>
                  </a:lnTo>
                  <a:lnTo>
                    <a:pt x="38" y="122"/>
                  </a:lnTo>
                  <a:lnTo>
                    <a:pt x="38" y="84"/>
                  </a:lnTo>
                  <a:lnTo>
                    <a:pt x="38" y="56"/>
                  </a:lnTo>
                  <a:lnTo>
                    <a:pt x="57" y="28"/>
                  </a:lnTo>
                  <a:lnTo>
                    <a:pt x="76" y="18"/>
                  </a:lnTo>
                  <a:lnTo>
                    <a:pt x="104" y="18"/>
                  </a:lnTo>
                  <a:lnTo>
                    <a:pt x="123" y="18"/>
                  </a:lnTo>
                  <a:lnTo>
                    <a:pt x="142" y="28"/>
                  </a:lnTo>
                  <a:lnTo>
                    <a:pt x="161" y="56"/>
                  </a:lnTo>
                  <a:lnTo>
                    <a:pt x="161" y="84"/>
                  </a:lnTo>
                  <a:lnTo>
                    <a:pt x="161" y="122"/>
                  </a:lnTo>
                  <a:lnTo>
                    <a:pt x="151" y="141"/>
                  </a:lnTo>
                  <a:lnTo>
                    <a:pt x="142" y="169"/>
                  </a:lnTo>
                  <a:lnTo>
                    <a:pt x="123" y="179"/>
                  </a:lnTo>
                  <a:lnTo>
                    <a:pt x="113" y="235"/>
                  </a:lnTo>
                  <a:lnTo>
                    <a:pt x="199" y="235"/>
                  </a:lnTo>
                  <a:lnTo>
                    <a:pt x="199" y="179"/>
                  </a:lnTo>
                  <a:lnTo>
                    <a:pt x="189" y="198"/>
                  </a:lnTo>
                  <a:lnTo>
                    <a:pt x="180" y="198"/>
                  </a:lnTo>
                  <a:lnTo>
                    <a:pt x="132" y="198"/>
                  </a:lnTo>
                  <a:lnTo>
                    <a:pt x="132" y="188"/>
                  </a:lnTo>
                  <a:lnTo>
                    <a:pt x="161" y="169"/>
                  </a:lnTo>
                  <a:lnTo>
                    <a:pt x="180" y="151"/>
                  </a:lnTo>
                  <a:lnTo>
                    <a:pt x="199" y="103"/>
                  </a:lnTo>
                  <a:lnTo>
                    <a:pt x="199" y="75"/>
                  </a:lnTo>
                  <a:lnTo>
                    <a:pt x="189" y="56"/>
                  </a:lnTo>
                  <a:lnTo>
                    <a:pt x="170" y="28"/>
                  </a:lnTo>
                  <a:lnTo>
                    <a:pt x="151" y="18"/>
                  </a:lnTo>
                  <a:lnTo>
                    <a:pt x="132" y="9"/>
                  </a:lnTo>
                  <a:lnTo>
                    <a:pt x="104" y="0"/>
                  </a:lnTo>
                  <a:lnTo>
                    <a:pt x="66" y="9"/>
                  </a:lnTo>
                  <a:lnTo>
                    <a:pt x="47" y="18"/>
                  </a:lnTo>
                  <a:lnTo>
                    <a:pt x="28" y="28"/>
                  </a:lnTo>
                  <a:lnTo>
                    <a:pt x="9" y="56"/>
                  </a:lnTo>
                  <a:lnTo>
                    <a:pt x="0" y="75"/>
                  </a:lnTo>
                  <a:lnTo>
                    <a:pt x="0" y="103"/>
                  </a:lnTo>
                  <a:lnTo>
                    <a:pt x="19" y="151"/>
                  </a:lnTo>
                  <a:lnTo>
                    <a:pt x="38" y="169"/>
                  </a:lnTo>
                  <a:lnTo>
                    <a:pt x="66" y="188"/>
                  </a:lnTo>
                  <a:lnTo>
                    <a:pt x="66" y="198"/>
                  </a:lnTo>
                  <a:lnTo>
                    <a:pt x="19" y="198"/>
                  </a:lnTo>
                  <a:lnTo>
                    <a:pt x="9" y="198"/>
                  </a:lnTo>
                  <a:lnTo>
                    <a:pt x="0" y="179"/>
                  </a:lnTo>
                  <a:lnTo>
                    <a:pt x="0" y="235"/>
                  </a:lnTo>
                  <a:lnTo>
                    <a:pt x="85" y="235"/>
                  </a:lnTo>
                  <a:lnTo>
                    <a:pt x="76"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4" name="Freeform 23"/>
            <p:cNvSpPr>
              <a:spLocks noChangeAspect="1" noEditPoints="1"/>
            </p:cNvSpPr>
            <p:nvPr/>
          </p:nvSpPr>
          <p:spPr bwMode="auto">
            <a:xfrm>
              <a:off x="96" y="2314"/>
              <a:ext cx="132" cy="226"/>
            </a:xfrm>
            <a:custGeom>
              <a:avLst/>
              <a:gdLst>
                <a:gd name="T0" fmla="*/ 132 w 132"/>
                <a:gd name="T1" fmla="*/ 142 h 226"/>
                <a:gd name="T2" fmla="*/ 104 w 132"/>
                <a:gd name="T3" fmla="*/ 142 h 226"/>
                <a:gd name="T4" fmla="*/ 104 w 132"/>
                <a:gd name="T5" fmla="*/ 0 h 226"/>
                <a:gd name="T6" fmla="*/ 95 w 132"/>
                <a:gd name="T7" fmla="*/ 0 h 226"/>
                <a:gd name="T8" fmla="*/ 0 w 132"/>
                <a:gd name="T9" fmla="*/ 142 h 226"/>
                <a:gd name="T10" fmla="*/ 0 w 132"/>
                <a:gd name="T11" fmla="*/ 170 h 226"/>
                <a:gd name="T12" fmla="*/ 85 w 132"/>
                <a:gd name="T13" fmla="*/ 170 h 226"/>
                <a:gd name="T14" fmla="*/ 85 w 132"/>
                <a:gd name="T15" fmla="*/ 226 h 226"/>
                <a:gd name="T16" fmla="*/ 104 w 132"/>
                <a:gd name="T17" fmla="*/ 226 h 226"/>
                <a:gd name="T18" fmla="*/ 104 w 132"/>
                <a:gd name="T19" fmla="*/ 170 h 226"/>
                <a:gd name="T20" fmla="*/ 132 w 132"/>
                <a:gd name="T21" fmla="*/ 170 h 226"/>
                <a:gd name="T22" fmla="*/ 132 w 132"/>
                <a:gd name="T23" fmla="*/ 142 h 226"/>
                <a:gd name="T24" fmla="*/ 85 w 132"/>
                <a:gd name="T25" fmla="*/ 142 h 226"/>
                <a:gd name="T26" fmla="*/ 9 w 132"/>
                <a:gd name="T27" fmla="*/ 142 h 226"/>
                <a:gd name="T28" fmla="*/ 76 w 132"/>
                <a:gd name="T29" fmla="*/ 28 h 226"/>
                <a:gd name="T30" fmla="*/ 85 w 132"/>
                <a:gd name="T31" fmla="*/ 28 h 226"/>
                <a:gd name="T32" fmla="*/ 85 w 132"/>
                <a:gd name="T33" fmla="*/ 142 h 22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2"/>
                <a:gd name="T52" fmla="*/ 0 h 226"/>
                <a:gd name="T53" fmla="*/ 132 w 132"/>
                <a:gd name="T54" fmla="*/ 226 h 22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2" h="226">
                  <a:moveTo>
                    <a:pt x="132" y="142"/>
                  </a:moveTo>
                  <a:lnTo>
                    <a:pt x="104" y="142"/>
                  </a:lnTo>
                  <a:lnTo>
                    <a:pt x="104" y="0"/>
                  </a:lnTo>
                  <a:lnTo>
                    <a:pt x="95" y="0"/>
                  </a:lnTo>
                  <a:lnTo>
                    <a:pt x="0" y="142"/>
                  </a:lnTo>
                  <a:lnTo>
                    <a:pt x="0" y="170"/>
                  </a:lnTo>
                  <a:lnTo>
                    <a:pt x="85" y="170"/>
                  </a:lnTo>
                  <a:lnTo>
                    <a:pt x="85" y="226"/>
                  </a:lnTo>
                  <a:lnTo>
                    <a:pt x="104" y="226"/>
                  </a:lnTo>
                  <a:lnTo>
                    <a:pt x="104" y="170"/>
                  </a:lnTo>
                  <a:lnTo>
                    <a:pt x="132" y="170"/>
                  </a:lnTo>
                  <a:lnTo>
                    <a:pt x="132" y="142"/>
                  </a:lnTo>
                  <a:close/>
                  <a:moveTo>
                    <a:pt x="85" y="142"/>
                  </a:moveTo>
                  <a:lnTo>
                    <a:pt x="9" y="142"/>
                  </a:lnTo>
                  <a:lnTo>
                    <a:pt x="76" y="28"/>
                  </a:lnTo>
                  <a:lnTo>
                    <a:pt x="85" y="28"/>
                  </a:lnTo>
                  <a:lnTo>
                    <a:pt x="85" y="1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5" name="Freeform 24"/>
            <p:cNvSpPr>
              <a:spLocks noChangeAspect="1"/>
            </p:cNvSpPr>
            <p:nvPr/>
          </p:nvSpPr>
          <p:spPr bwMode="auto">
            <a:xfrm>
              <a:off x="323" y="2305"/>
              <a:ext cx="198" cy="235"/>
            </a:xfrm>
            <a:custGeom>
              <a:avLst/>
              <a:gdLst>
                <a:gd name="T0" fmla="*/ 76 w 198"/>
                <a:gd name="T1" fmla="*/ 179 h 235"/>
                <a:gd name="T2" fmla="*/ 66 w 198"/>
                <a:gd name="T3" fmla="*/ 169 h 235"/>
                <a:gd name="T4" fmla="*/ 47 w 198"/>
                <a:gd name="T5" fmla="*/ 141 h 235"/>
                <a:gd name="T6" fmla="*/ 38 w 198"/>
                <a:gd name="T7" fmla="*/ 122 h 235"/>
                <a:gd name="T8" fmla="*/ 38 w 198"/>
                <a:gd name="T9" fmla="*/ 84 h 235"/>
                <a:gd name="T10" fmla="*/ 38 w 198"/>
                <a:gd name="T11" fmla="*/ 56 h 235"/>
                <a:gd name="T12" fmla="*/ 57 w 198"/>
                <a:gd name="T13" fmla="*/ 28 h 235"/>
                <a:gd name="T14" fmla="*/ 76 w 198"/>
                <a:gd name="T15" fmla="*/ 18 h 235"/>
                <a:gd name="T16" fmla="*/ 104 w 198"/>
                <a:gd name="T17" fmla="*/ 18 h 235"/>
                <a:gd name="T18" fmla="*/ 123 w 198"/>
                <a:gd name="T19" fmla="*/ 18 h 235"/>
                <a:gd name="T20" fmla="*/ 142 w 198"/>
                <a:gd name="T21" fmla="*/ 28 h 235"/>
                <a:gd name="T22" fmla="*/ 161 w 198"/>
                <a:gd name="T23" fmla="*/ 56 h 235"/>
                <a:gd name="T24" fmla="*/ 161 w 198"/>
                <a:gd name="T25" fmla="*/ 84 h 235"/>
                <a:gd name="T26" fmla="*/ 161 w 198"/>
                <a:gd name="T27" fmla="*/ 122 h 235"/>
                <a:gd name="T28" fmla="*/ 151 w 198"/>
                <a:gd name="T29" fmla="*/ 141 h 235"/>
                <a:gd name="T30" fmla="*/ 142 w 198"/>
                <a:gd name="T31" fmla="*/ 169 h 235"/>
                <a:gd name="T32" fmla="*/ 123 w 198"/>
                <a:gd name="T33" fmla="*/ 179 h 235"/>
                <a:gd name="T34" fmla="*/ 113 w 198"/>
                <a:gd name="T35" fmla="*/ 235 h 235"/>
                <a:gd name="T36" fmla="*/ 198 w 198"/>
                <a:gd name="T37" fmla="*/ 235 h 235"/>
                <a:gd name="T38" fmla="*/ 198 w 198"/>
                <a:gd name="T39" fmla="*/ 179 h 235"/>
                <a:gd name="T40" fmla="*/ 198 w 198"/>
                <a:gd name="T41" fmla="*/ 179 h 235"/>
                <a:gd name="T42" fmla="*/ 189 w 198"/>
                <a:gd name="T43" fmla="*/ 198 h 235"/>
                <a:gd name="T44" fmla="*/ 179 w 198"/>
                <a:gd name="T45" fmla="*/ 198 h 235"/>
                <a:gd name="T46" fmla="*/ 132 w 198"/>
                <a:gd name="T47" fmla="*/ 198 h 235"/>
                <a:gd name="T48" fmla="*/ 132 w 198"/>
                <a:gd name="T49" fmla="*/ 188 h 235"/>
                <a:gd name="T50" fmla="*/ 161 w 198"/>
                <a:gd name="T51" fmla="*/ 169 h 235"/>
                <a:gd name="T52" fmla="*/ 179 w 198"/>
                <a:gd name="T53" fmla="*/ 151 h 235"/>
                <a:gd name="T54" fmla="*/ 198 w 198"/>
                <a:gd name="T55" fmla="*/ 103 h 235"/>
                <a:gd name="T56" fmla="*/ 198 w 198"/>
                <a:gd name="T57" fmla="*/ 75 h 235"/>
                <a:gd name="T58" fmla="*/ 189 w 198"/>
                <a:gd name="T59" fmla="*/ 56 h 235"/>
                <a:gd name="T60" fmla="*/ 170 w 198"/>
                <a:gd name="T61" fmla="*/ 28 h 235"/>
                <a:gd name="T62" fmla="*/ 151 w 198"/>
                <a:gd name="T63" fmla="*/ 18 h 235"/>
                <a:gd name="T64" fmla="*/ 132 w 198"/>
                <a:gd name="T65" fmla="*/ 9 h 235"/>
                <a:gd name="T66" fmla="*/ 104 w 198"/>
                <a:gd name="T67" fmla="*/ 0 h 235"/>
                <a:gd name="T68" fmla="*/ 66 w 198"/>
                <a:gd name="T69" fmla="*/ 9 h 235"/>
                <a:gd name="T70" fmla="*/ 47 w 198"/>
                <a:gd name="T71" fmla="*/ 18 h 235"/>
                <a:gd name="T72" fmla="*/ 28 w 198"/>
                <a:gd name="T73" fmla="*/ 28 h 235"/>
                <a:gd name="T74" fmla="*/ 9 w 198"/>
                <a:gd name="T75" fmla="*/ 56 h 235"/>
                <a:gd name="T76" fmla="*/ 0 w 198"/>
                <a:gd name="T77" fmla="*/ 75 h 235"/>
                <a:gd name="T78" fmla="*/ 0 w 198"/>
                <a:gd name="T79" fmla="*/ 103 h 235"/>
                <a:gd name="T80" fmla="*/ 19 w 198"/>
                <a:gd name="T81" fmla="*/ 151 h 235"/>
                <a:gd name="T82" fmla="*/ 38 w 198"/>
                <a:gd name="T83" fmla="*/ 169 h 235"/>
                <a:gd name="T84" fmla="*/ 66 w 198"/>
                <a:gd name="T85" fmla="*/ 188 h 235"/>
                <a:gd name="T86" fmla="*/ 66 w 198"/>
                <a:gd name="T87" fmla="*/ 198 h 235"/>
                <a:gd name="T88" fmla="*/ 19 w 198"/>
                <a:gd name="T89" fmla="*/ 198 h 235"/>
                <a:gd name="T90" fmla="*/ 9 w 198"/>
                <a:gd name="T91" fmla="*/ 198 h 235"/>
                <a:gd name="T92" fmla="*/ 0 w 198"/>
                <a:gd name="T93" fmla="*/ 179 h 235"/>
                <a:gd name="T94" fmla="*/ 0 w 198"/>
                <a:gd name="T95" fmla="*/ 179 h 235"/>
                <a:gd name="T96" fmla="*/ 0 w 198"/>
                <a:gd name="T97" fmla="*/ 235 h 235"/>
                <a:gd name="T98" fmla="*/ 85 w 198"/>
                <a:gd name="T99" fmla="*/ 235 h 235"/>
                <a:gd name="T100" fmla="*/ 76 w 198"/>
                <a:gd name="T101" fmla="*/ 179 h 2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8"/>
                <a:gd name="T154" fmla="*/ 0 h 235"/>
                <a:gd name="T155" fmla="*/ 198 w 198"/>
                <a:gd name="T156" fmla="*/ 235 h 23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8" h="235">
                  <a:moveTo>
                    <a:pt x="76" y="179"/>
                  </a:moveTo>
                  <a:lnTo>
                    <a:pt x="66" y="169"/>
                  </a:lnTo>
                  <a:lnTo>
                    <a:pt x="47" y="141"/>
                  </a:lnTo>
                  <a:lnTo>
                    <a:pt x="38" y="122"/>
                  </a:lnTo>
                  <a:lnTo>
                    <a:pt x="38" y="84"/>
                  </a:lnTo>
                  <a:lnTo>
                    <a:pt x="38" y="56"/>
                  </a:lnTo>
                  <a:lnTo>
                    <a:pt x="57" y="28"/>
                  </a:lnTo>
                  <a:lnTo>
                    <a:pt x="76" y="18"/>
                  </a:lnTo>
                  <a:lnTo>
                    <a:pt x="104" y="18"/>
                  </a:lnTo>
                  <a:lnTo>
                    <a:pt x="123" y="18"/>
                  </a:lnTo>
                  <a:lnTo>
                    <a:pt x="142" y="28"/>
                  </a:lnTo>
                  <a:lnTo>
                    <a:pt x="161" y="56"/>
                  </a:lnTo>
                  <a:lnTo>
                    <a:pt x="161" y="84"/>
                  </a:lnTo>
                  <a:lnTo>
                    <a:pt x="161" y="122"/>
                  </a:lnTo>
                  <a:lnTo>
                    <a:pt x="151" y="141"/>
                  </a:lnTo>
                  <a:lnTo>
                    <a:pt x="142" y="169"/>
                  </a:lnTo>
                  <a:lnTo>
                    <a:pt x="123" y="179"/>
                  </a:lnTo>
                  <a:lnTo>
                    <a:pt x="113" y="235"/>
                  </a:lnTo>
                  <a:lnTo>
                    <a:pt x="198" y="235"/>
                  </a:lnTo>
                  <a:lnTo>
                    <a:pt x="198" y="179"/>
                  </a:lnTo>
                  <a:lnTo>
                    <a:pt x="189" y="198"/>
                  </a:lnTo>
                  <a:lnTo>
                    <a:pt x="179" y="198"/>
                  </a:lnTo>
                  <a:lnTo>
                    <a:pt x="132" y="198"/>
                  </a:lnTo>
                  <a:lnTo>
                    <a:pt x="132" y="188"/>
                  </a:lnTo>
                  <a:lnTo>
                    <a:pt x="161" y="169"/>
                  </a:lnTo>
                  <a:lnTo>
                    <a:pt x="179" y="151"/>
                  </a:lnTo>
                  <a:lnTo>
                    <a:pt x="198" y="103"/>
                  </a:lnTo>
                  <a:lnTo>
                    <a:pt x="198" y="75"/>
                  </a:lnTo>
                  <a:lnTo>
                    <a:pt x="189" y="56"/>
                  </a:lnTo>
                  <a:lnTo>
                    <a:pt x="170" y="28"/>
                  </a:lnTo>
                  <a:lnTo>
                    <a:pt x="151" y="18"/>
                  </a:lnTo>
                  <a:lnTo>
                    <a:pt x="132" y="9"/>
                  </a:lnTo>
                  <a:lnTo>
                    <a:pt x="104" y="0"/>
                  </a:lnTo>
                  <a:lnTo>
                    <a:pt x="66" y="9"/>
                  </a:lnTo>
                  <a:lnTo>
                    <a:pt x="47" y="18"/>
                  </a:lnTo>
                  <a:lnTo>
                    <a:pt x="28" y="28"/>
                  </a:lnTo>
                  <a:lnTo>
                    <a:pt x="9" y="56"/>
                  </a:lnTo>
                  <a:lnTo>
                    <a:pt x="0" y="75"/>
                  </a:lnTo>
                  <a:lnTo>
                    <a:pt x="0" y="103"/>
                  </a:lnTo>
                  <a:lnTo>
                    <a:pt x="19" y="151"/>
                  </a:lnTo>
                  <a:lnTo>
                    <a:pt x="38" y="169"/>
                  </a:lnTo>
                  <a:lnTo>
                    <a:pt x="66" y="188"/>
                  </a:lnTo>
                  <a:lnTo>
                    <a:pt x="66" y="198"/>
                  </a:lnTo>
                  <a:lnTo>
                    <a:pt x="19" y="198"/>
                  </a:lnTo>
                  <a:lnTo>
                    <a:pt x="9" y="198"/>
                  </a:lnTo>
                  <a:lnTo>
                    <a:pt x="0" y="179"/>
                  </a:lnTo>
                  <a:lnTo>
                    <a:pt x="0" y="235"/>
                  </a:lnTo>
                  <a:lnTo>
                    <a:pt x="85" y="235"/>
                  </a:lnTo>
                  <a:lnTo>
                    <a:pt x="76"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6" name="Freeform 25"/>
            <p:cNvSpPr>
              <a:spLocks noChangeAspect="1"/>
            </p:cNvSpPr>
            <p:nvPr/>
          </p:nvSpPr>
          <p:spPr bwMode="auto">
            <a:xfrm>
              <a:off x="1268" y="2323"/>
              <a:ext cx="114" cy="227"/>
            </a:xfrm>
            <a:custGeom>
              <a:avLst/>
              <a:gdLst>
                <a:gd name="T0" fmla="*/ 29 w 114"/>
                <a:gd name="T1" fmla="*/ 114 h 227"/>
                <a:gd name="T2" fmla="*/ 47 w 114"/>
                <a:gd name="T3" fmla="*/ 114 h 227"/>
                <a:gd name="T4" fmla="*/ 66 w 114"/>
                <a:gd name="T5" fmla="*/ 123 h 227"/>
                <a:gd name="T6" fmla="*/ 85 w 114"/>
                <a:gd name="T7" fmla="*/ 142 h 227"/>
                <a:gd name="T8" fmla="*/ 85 w 114"/>
                <a:gd name="T9" fmla="*/ 161 h 227"/>
                <a:gd name="T10" fmla="*/ 76 w 114"/>
                <a:gd name="T11" fmla="*/ 199 h 227"/>
                <a:gd name="T12" fmla="*/ 66 w 114"/>
                <a:gd name="T13" fmla="*/ 217 h 227"/>
                <a:gd name="T14" fmla="*/ 47 w 114"/>
                <a:gd name="T15" fmla="*/ 217 h 227"/>
                <a:gd name="T16" fmla="*/ 29 w 114"/>
                <a:gd name="T17" fmla="*/ 208 h 227"/>
                <a:gd name="T18" fmla="*/ 10 w 114"/>
                <a:gd name="T19" fmla="*/ 199 h 227"/>
                <a:gd name="T20" fmla="*/ 0 w 114"/>
                <a:gd name="T21" fmla="*/ 199 h 227"/>
                <a:gd name="T22" fmla="*/ 0 w 114"/>
                <a:gd name="T23" fmla="*/ 208 h 227"/>
                <a:gd name="T24" fmla="*/ 10 w 114"/>
                <a:gd name="T25" fmla="*/ 227 h 227"/>
                <a:gd name="T26" fmla="*/ 29 w 114"/>
                <a:gd name="T27" fmla="*/ 227 h 227"/>
                <a:gd name="T28" fmla="*/ 66 w 114"/>
                <a:gd name="T29" fmla="*/ 217 h 227"/>
                <a:gd name="T30" fmla="*/ 85 w 114"/>
                <a:gd name="T31" fmla="*/ 208 h 227"/>
                <a:gd name="T32" fmla="*/ 104 w 114"/>
                <a:gd name="T33" fmla="*/ 180 h 227"/>
                <a:gd name="T34" fmla="*/ 114 w 114"/>
                <a:gd name="T35" fmla="*/ 151 h 227"/>
                <a:gd name="T36" fmla="*/ 114 w 114"/>
                <a:gd name="T37" fmla="*/ 123 h 227"/>
                <a:gd name="T38" fmla="*/ 95 w 114"/>
                <a:gd name="T39" fmla="*/ 104 h 227"/>
                <a:gd name="T40" fmla="*/ 76 w 114"/>
                <a:gd name="T41" fmla="*/ 85 h 227"/>
                <a:gd name="T42" fmla="*/ 95 w 114"/>
                <a:gd name="T43" fmla="*/ 66 h 227"/>
                <a:gd name="T44" fmla="*/ 104 w 114"/>
                <a:gd name="T45" fmla="*/ 38 h 227"/>
                <a:gd name="T46" fmla="*/ 95 w 114"/>
                <a:gd name="T47" fmla="*/ 19 h 227"/>
                <a:gd name="T48" fmla="*/ 85 w 114"/>
                <a:gd name="T49" fmla="*/ 10 h 227"/>
                <a:gd name="T50" fmla="*/ 57 w 114"/>
                <a:gd name="T51" fmla="*/ 0 h 227"/>
                <a:gd name="T52" fmla="*/ 29 w 114"/>
                <a:gd name="T53" fmla="*/ 10 h 227"/>
                <a:gd name="T54" fmla="*/ 10 w 114"/>
                <a:gd name="T55" fmla="*/ 29 h 227"/>
                <a:gd name="T56" fmla="*/ 0 w 114"/>
                <a:gd name="T57" fmla="*/ 48 h 227"/>
                <a:gd name="T58" fmla="*/ 0 w 114"/>
                <a:gd name="T59" fmla="*/ 48 h 227"/>
                <a:gd name="T60" fmla="*/ 19 w 114"/>
                <a:gd name="T61" fmla="*/ 29 h 227"/>
                <a:gd name="T62" fmla="*/ 47 w 114"/>
                <a:gd name="T63" fmla="*/ 19 h 227"/>
                <a:gd name="T64" fmla="*/ 66 w 114"/>
                <a:gd name="T65" fmla="*/ 29 h 227"/>
                <a:gd name="T66" fmla="*/ 76 w 114"/>
                <a:gd name="T67" fmla="*/ 48 h 227"/>
                <a:gd name="T68" fmla="*/ 76 w 114"/>
                <a:gd name="T69" fmla="*/ 76 h 227"/>
                <a:gd name="T70" fmla="*/ 66 w 114"/>
                <a:gd name="T71" fmla="*/ 85 h 227"/>
                <a:gd name="T72" fmla="*/ 29 w 114"/>
                <a:gd name="T73" fmla="*/ 104 h 227"/>
                <a:gd name="T74" fmla="*/ 29 w 114"/>
                <a:gd name="T75" fmla="*/ 114 h 2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4"/>
                <a:gd name="T115" fmla="*/ 0 h 227"/>
                <a:gd name="T116" fmla="*/ 114 w 114"/>
                <a:gd name="T117" fmla="*/ 227 h 2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4" h="227">
                  <a:moveTo>
                    <a:pt x="29" y="114"/>
                  </a:moveTo>
                  <a:lnTo>
                    <a:pt x="47" y="114"/>
                  </a:lnTo>
                  <a:lnTo>
                    <a:pt x="66" y="123"/>
                  </a:lnTo>
                  <a:lnTo>
                    <a:pt x="85" y="142"/>
                  </a:lnTo>
                  <a:lnTo>
                    <a:pt x="85" y="161"/>
                  </a:lnTo>
                  <a:lnTo>
                    <a:pt x="76" y="199"/>
                  </a:lnTo>
                  <a:lnTo>
                    <a:pt x="66" y="217"/>
                  </a:lnTo>
                  <a:lnTo>
                    <a:pt x="47" y="217"/>
                  </a:lnTo>
                  <a:lnTo>
                    <a:pt x="29" y="208"/>
                  </a:lnTo>
                  <a:lnTo>
                    <a:pt x="10" y="199"/>
                  </a:lnTo>
                  <a:lnTo>
                    <a:pt x="0" y="199"/>
                  </a:lnTo>
                  <a:lnTo>
                    <a:pt x="0" y="208"/>
                  </a:lnTo>
                  <a:lnTo>
                    <a:pt x="10" y="227"/>
                  </a:lnTo>
                  <a:lnTo>
                    <a:pt x="29" y="227"/>
                  </a:lnTo>
                  <a:lnTo>
                    <a:pt x="66" y="217"/>
                  </a:lnTo>
                  <a:lnTo>
                    <a:pt x="85" y="208"/>
                  </a:lnTo>
                  <a:lnTo>
                    <a:pt x="104" y="180"/>
                  </a:lnTo>
                  <a:lnTo>
                    <a:pt x="114" y="151"/>
                  </a:lnTo>
                  <a:lnTo>
                    <a:pt x="114" y="123"/>
                  </a:lnTo>
                  <a:lnTo>
                    <a:pt x="95" y="104"/>
                  </a:lnTo>
                  <a:lnTo>
                    <a:pt x="76" y="85"/>
                  </a:lnTo>
                  <a:lnTo>
                    <a:pt x="95" y="66"/>
                  </a:lnTo>
                  <a:lnTo>
                    <a:pt x="104" y="38"/>
                  </a:lnTo>
                  <a:lnTo>
                    <a:pt x="95" y="19"/>
                  </a:lnTo>
                  <a:lnTo>
                    <a:pt x="85" y="10"/>
                  </a:lnTo>
                  <a:lnTo>
                    <a:pt x="57" y="0"/>
                  </a:lnTo>
                  <a:lnTo>
                    <a:pt x="29" y="10"/>
                  </a:lnTo>
                  <a:lnTo>
                    <a:pt x="10" y="29"/>
                  </a:lnTo>
                  <a:lnTo>
                    <a:pt x="0" y="48"/>
                  </a:lnTo>
                  <a:lnTo>
                    <a:pt x="19" y="29"/>
                  </a:lnTo>
                  <a:lnTo>
                    <a:pt x="47" y="19"/>
                  </a:lnTo>
                  <a:lnTo>
                    <a:pt x="66" y="29"/>
                  </a:lnTo>
                  <a:lnTo>
                    <a:pt x="76" y="48"/>
                  </a:lnTo>
                  <a:lnTo>
                    <a:pt x="76" y="76"/>
                  </a:lnTo>
                  <a:lnTo>
                    <a:pt x="66" y="85"/>
                  </a:lnTo>
                  <a:lnTo>
                    <a:pt x="29" y="104"/>
                  </a:lnTo>
                  <a:lnTo>
                    <a:pt x="29"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7" name="Freeform 26"/>
            <p:cNvSpPr>
              <a:spLocks noChangeAspect="1" noEditPoints="1"/>
            </p:cNvSpPr>
            <p:nvPr/>
          </p:nvSpPr>
          <p:spPr bwMode="auto">
            <a:xfrm>
              <a:off x="1457" y="2323"/>
              <a:ext cx="208" cy="217"/>
            </a:xfrm>
            <a:custGeom>
              <a:avLst/>
              <a:gdLst>
                <a:gd name="T0" fmla="*/ 208 w 208"/>
                <a:gd name="T1" fmla="*/ 217 h 217"/>
                <a:gd name="T2" fmla="*/ 189 w 208"/>
                <a:gd name="T3" fmla="*/ 208 h 217"/>
                <a:gd name="T4" fmla="*/ 180 w 208"/>
                <a:gd name="T5" fmla="*/ 189 h 217"/>
                <a:gd name="T6" fmla="*/ 104 w 208"/>
                <a:gd name="T7" fmla="*/ 0 h 217"/>
                <a:gd name="T8" fmla="*/ 104 w 208"/>
                <a:gd name="T9" fmla="*/ 0 h 217"/>
                <a:gd name="T10" fmla="*/ 38 w 208"/>
                <a:gd name="T11" fmla="*/ 161 h 217"/>
                <a:gd name="T12" fmla="*/ 29 w 208"/>
                <a:gd name="T13" fmla="*/ 189 h 217"/>
                <a:gd name="T14" fmla="*/ 19 w 208"/>
                <a:gd name="T15" fmla="*/ 208 h 217"/>
                <a:gd name="T16" fmla="*/ 10 w 208"/>
                <a:gd name="T17" fmla="*/ 217 h 217"/>
                <a:gd name="T18" fmla="*/ 0 w 208"/>
                <a:gd name="T19" fmla="*/ 217 h 217"/>
                <a:gd name="T20" fmla="*/ 0 w 208"/>
                <a:gd name="T21" fmla="*/ 217 h 217"/>
                <a:gd name="T22" fmla="*/ 57 w 208"/>
                <a:gd name="T23" fmla="*/ 217 h 217"/>
                <a:gd name="T24" fmla="*/ 57 w 208"/>
                <a:gd name="T25" fmla="*/ 217 h 217"/>
                <a:gd name="T26" fmla="*/ 48 w 208"/>
                <a:gd name="T27" fmla="*/ 217 h 217"/>
                <a:gd name="T28" fmla="*/ 38 w 208"/>
                <a:gd name="T29" fmla="*/ 199 h 217"/>
                <a:gd name="T30" fmla="*/ 38 w 208"/>
                <a:gd name="T31" fmla="*/ 199 h 217"/>
                <a:gd name="T32" fmla="*/ 48 w 208"/>
                <a:gd name="T33" fmla="*/ 189 h 217"/>
                <a:gd name="T34" fmla="*/ 57 w 208"/>
                <a:gd name="T35" fmla="*/ 151 h 217"/>
                <a:gd name="T36" fmla="*/ 133 w 208"/>
                <a:gd name="T37" fmla="*/ 151 h 217"/>
                <a:gd name="T38" fmla="*/ 142 w 208"/>
                <a:gd name="T39" fmla="*/ 180 h 217"/>
                <a:gd name="T40" fmla="*/ 152 w 208"/>
                <a:gd name="T41" fmla="*/ 189 h 217"/>
                <a:gd name="T42" fmla="*/ 152 w 208"/>
                <a:gd name="T43" fmla="*/ 199 h 217"/>
                <a:gd name="T44" fmla="*/ 142 w 208"/>
                <a:gd name="T45" fmla="*/ 217 h 217"/>
                <a:gd name="T46" fmla="*/ 133 w 208"/>
                <a:gd name="T47" fmla="*/ 217 h 217"/>
                <a:gd name="T48" fmla="*/ 133 w 208"/>
                <a:gd name="T49" fmla="*/ 217 h 217"/>
                <a:gd name="T50" fmla="*/ 208 w 208"/>
                <a:gd name="T51" fmla="*/ 217 h 217"/>
                <a:gd name="T52" fmla="*/ 208 w 208"/>
                <a:gd name="T53" fmla="*/ 217 h 217"/>
                <a:gd name="T54" fmla="*/ 57 w 208"/>
                <a:gd name="T55" fmla="*/ 133 h 217"/>
                <a:gd name="T56" fmla="*/ 95 w 208"/>
                <a:gd name="T57" fmla="*/ 48 h 217"/>
                <a:gd name="T58" fmla="*/ 133 w 208"/>
                <a:gd name="T59" fmla="*/ 133 h 217"/>
                <a:gd name="T60" fmla="*/ 57 w 208"/>
                <a:gd name="T61" fmla="*/ 133 h 21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8"/>
                <a:gd name="T94" fmla="*/ 0 h 217"/>
                <a:gd name="T95" fmla="*/ 208 w 208"/>
                <a:gd name="T96" fmla="*/ 217 h 21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8" h="217">
                  <a:moveTo>
                    <a:pt x="208" y="217"/>
                  </a:moveTo>
                  <a:lnTo>
                    <a:pt x="189" y="208"/>
                  </a:lnTo>
                  <a:lnTo>
                    <a:pt x="180" y="189"/>
                  </a:lnTo>
                  <a:lnTo>
                    <a:pt x="104" y="0"/>
                  </a:lnTo>
                  <a:lnTo>
                    <a:pt x="38" y="161"/>
                  </a:lnTo>
                  <a:lnTo>
                    <a:pt x="29" y="189"/>
                  </a:lnTo>
                  <a:lnTo>
                    <a:pt x="19" y="208"/>
                  </a:lnTo>
                  <a:lnTo>
                    <a:pt x="10" y="217"/>
                  </a:lnTo>
                  <a:lnTo>
                    <a:pt x="0" y="217"/>
                  </a:lnTo>
                  <a:lnTo>
                    <a:pt x="57" y="217"/>
                  </a:lnTo>
                  <a:lnTo>
                    <a:pt x="48" y="217"/>
                  </a:lnTo>
                  <a:lnTo>
                    <a:pt x="38" y="199"/>
                  </a:lnTo>
                  <a:lnTo>
                    <a:pt x="48" y="189"/>
                  </a:lnTo>
                  <a:lnTo>
                    <a:pt x="57" y="151"/>
                  </a:lnTo>
                  <a:lnTo>
                    <a:pt x="133" y="151"/>
                  </a:lnTo>
                  <a:lnTo>
                    <a:pt x="142" y="180"/>
                  </a:lnTo>
                  <a:lnTo>
                    <a:pt x="152" y="189"/>
                  </a:lnTo>
                  <a:lnTo>
                    <a:pt x="152" y="199"/>
                  </a:lnTo>
                  <a:lnTo>
                    <a:pt x="142" y="217"/>
                  </a:lnTo>
                  <a:lnTo>
                    <a:pt x="133" y="217"/>
                  </a:lnTo>
                  <a:lnTo>
                    <a:pt x="208" y="217"/>
                  </a:lnTo>
                  <a:close/>
                  <a:moveTo>
                    <a:pt x="57" y="133"/>
                  </a:moveTo>
                  <a:lnTo>
                    <a:pt x="95" y="48"/>
                  </a:lnTo>
                  <a:lnTo>
                    <a:pt x="133" y="133"/>
                  </a:lnTo>
                  <a:lnTo>
                    <a:pt x="57" y="13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8" name="Freeform 27"/>
            <p:cNvSpPr>
              <a:spLocks noChangeAspect="1"/>
            </p:cNvSpPr>
            <p:nvPr/>
          </p:nvSpPr>
          <p:spPr bwMode="auto">
            <a:xfrm>
              <a:off x="4482" y="2172"/>
              <a:ext cx="492" cy="557"/>
            </a:xfrm>
            <a:custGeom>
              <a:avLst/>
              <a:gdLst>
                <a:gd name="T0" fmla="*/ 246 w 492"/>
                <a:gd name="T1" fmla="*/ 557 h 557"/>
                <a:gd name="T2" fmla="*/ 293 w 492"/>
                <a:gd name="T3" fmla="*/ 548 h 557"/>
                <a:gd name="T4" fmla="*/ 341 w 492"/>
                <a:gd name="T5" fmla="*/ 538 h 557"/>
                <a:gd name="T6" fmla="*/ 426 w 492"/>
                <a:gd name="T7" fmla="*/ 482 h 557"/>
                <a:gd name="T8" fmla="*/ 473 w 492"/>
                <a:gd name="T9" fmla="*/ 387 h 557"/>
                <a:gd name="T10" fmla="*/ 492 w 492"/>
                <a:gd name="T11" fmla="*/ 340 h 557"/>
                <a:gd name="T12" fmla="*/ 492 w 492"/>
                <a:gd name="T13" fmla="*/ 284 h 557"/>
                <a:gd name="T14" fmla="*/ 492 w 492"/>
                <a:gd name="T15" fmla="*/ 227 h 557"/>
                <a:gd name="T16" fmla="*/ 473 w 492"/>
                <a:gd name="T17" fmla="*/ 170 h 557"/>
                <a:gd name="T18" fmla="*/ 426 w 492"/>
                <a:gd name="T19" fmla="*/ 85 h 557"/>
                <a:gd name="T20" fmla="*/ 388 w 492"/>
                <a:gd name="T21" fmla="*/ 48 h 557"/>
                <a:gd name="T22" fmla="*/ 341 w 492"/>
                <a:gd name="T23" fmla="*/ 19 h 557"/>
                <a:gd name="T24" fmla="*/ 293 w 492"/>
                <a:gd name="T25" fmla="*/ 10 h 557"/>
                <a:gd name="T26" fmla="*/ 246 w 492"/>
                <a:gd name="T27" fmla="*/ 0 h 557"/>
                <a:gd name="T28" fmla="*/ 199 w 492"/>
                <a:gd name="T29" fmla="*/ 10 h 557"/>
                <a:gd name="T30" fmla="*/ 152 w 492"/>
                <a:gd name="T31" fmla="*/ 19 h 557"/>
                <a:gd name="T32" fmla="*/ 114 w 492"/>
                <a:gd name="T33" fmla="*/ 48 h 557"/>
                <a:gd name="T34" fmla="*/ 76 w 492"/>
                <a:gd name="T35" fmla="*/ 85 h 557"/>
                <a:gd name="T36" fmla="*/ 19 w 492"/>
                <a:gd name="T37" fmla="*/ 170 h 557"/>
                <a:gd name="T38" fmla="*/ 10 w 492"/>
                <a:gd name="T39" fmla="*/ 227 h 557"/>
                <a:gd name="T40" fmla="*/ 0 w 492"/>
                <a:gd name="T41" fmla="*/ 284 h 557"/>
                <a:gd name="T42" fmla="*/ 10 w 492"/>
                <a:gd name="T43" fmla="*/ 340 h 557"/>
                <a:gd name="T44" fmla="*/ 19 w 492"/>
                <a:gd name="T45" fmla="*/ 387 h 557"/>
                <a:gd name="T46" fmla="*/ 76 w 492"/>
                <a:gd name="T47" fmla="*/ 482 h 557"/>
                <a:gd name="T48" fmla="*/ 152 w 492"/>
                <a:gd name="T49" fmla="*/ 538 h 557"/>
                <a:gd name="T50" fmla="*/ 199 w 492"/>
                <a:gd name="T51" fmla="*/ 548 h 557"/>
                <a:gd name="T52" fmla="*/ 246 w 492"/>
                <a:gd name="T53" fmla="*/ 557 h 557"/>
                <a:gd name="T54" fmla="*/ 246 w 492"/>
                <a:gd name="T55" fmla="*/ 557 h 5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2"/>
                <a:gd name="T85" fmla="*/ 0 h 557"/>
                <a:gd name="T86" fmla="*/ 492 w 492"/>
                <a:gd name="T87" fmla="*/ 557 h 5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2" h="557">
                  <a:moveTo>
                    <a:pt x="246" y="557"/>
                  </a:moveTo>
                  <a:lnTo>
                    <a:pt x="293" y="548"/>
                  </a:lnTo>
                  <a:lnTo>
                    <a:pt x="341" y="538"/>
                  </a:lnTo>
                  <a:lnTo>
                    <a:pt x="426" y="482"/>
                  </a:lnTo>
                  <a:lnTo>
                    <a:pt x="473" y="387"/>
                  </a:lnTo>
                  <a:lnTo>
                    <a:pt x="492" y="340"/>
                  </a:lnTo>
                  <a:lnTo>
                    <a:pt x="492" y="284"/>
                  </a:lnTo>
                  <a:lnTo>
                    <a:pt x="492" y="227"/>
                  </a:lnTo>
                  <a:lnTo>
                    <a:pt x="473" y="170"/>
                  </a:lnTo>
                  <a:lnTo>
                    <a:pt x="426" y="85"/>
                  </a:lnTo>
                  <a:lnTo>
                    <a:pt x="388" y="48"/>
                  </a:lnTo>
                  <a:lnTo>
                    <a:pt x="341" y="19"/>
                  </a:lnTo>
                  <a:lnTo>
                    <a:pt x="293" y="10"/>
                  </a:lnTo>
                  <a:lnTo>
                    <a:pt x="246" y="0"/>
                  </a:lnTo>
                  <a:lnTo>
                    <a:pt x="199" y="10"/>
                  </a:lnTo>
                  <a:lnTo>
                    <a:pt x="152" y="19"/>
                  </a:lnTo>
                  <a:lnTo>
                    <a:pt x="114" y="48"/>
                  </a:lnTo>
                  <a:lnTo>
                    <a:pt x="76" y="85"/>
                  </a:lnTo>
                  <a:lnTo>
                    <a:pt x="19" y="170"/>
                  </a:lnTo>
                  <a:lnTo>
                    <a:pt x="10" y="227"/>
                  </a:lnTo>
                  <a:lnTo>
                    <a:pt x="0" y="284"/>
                  </a:lnTo>
                  <a:lnTo>
                    <a:pt x="10" y="340"/>
                  </a:lnTo>
                  <a:lnTo>
                    <a:pt x="19" y="387"/>
                  </a:lnTo>
                  <a:lnTo>
                    <a:pt x="76" y="482"/>
                  </a:lnTo>
                  <a:lnTo>
                    <a:pt x="152" y="538"/>
                  </a:lnTo>
                  <a:lnTo>
                    <a:pt x="199" y="548"/>
                  </a:lnTo>
                  <a:lnTo>
                    <a:pt x="246" y="557"/>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79" name="Freeform 28"/>
            <p:cNvSpPr>
              <a:spLocks noChangeAspect="1"/>
            </p:cNvSpPr>
            <p:nvPr/>
          </p:nvSpPr>
          <p:spPr bwMode="auto">
            <a:xfrm>
              <a:off x="4728" y="2456"/>
              <a:ext cx="246" cy="273"/>
            </a:xfrm>
            <a:custGeom>
              <a:avLst/>
              <a:gdLst>
                <a:gd name="T0" fmla="*/ 0 w 246"/>
                <a:gd name="T1" fmla="*/ 273 h 273"/>
                <a:gd name="T2" fmla="*/ 47 w 246"/>
                <a:gd name="T3" fmla="*/ 264 h 273"/>
                <a:gd name="T4" fmla="*/ 95 w 246"/>
                <a:gd name="T5" fmla="*/ 254 h 273"/>
                <a:gd name="T6" fmla="*/ 180 w 246"/>
                <a:gd name="T7" fmla="*/ 198 h 273"/>
                <a:gd name="T8" fmla="*/ 227 w 246"/>
                <a:gd name="T9" fmla="*/ 103 h 273"/>
                <a:gd name="T10" fmla="*/ 246 w 246"/>
                <a:gd name="T11" fmla="*/ 56 h 273"/>
                <a:gd name="T12" fmla="*/ 246 w 246"/>
                <a:gd name="T13" fmla="*/ 0 h 273"/>
                <a:gd name="T14" fmla="*/ 246 w 246"/>
                <a:gd name="T15" fmla="*/ 0 h 273"/>
                <a:gd name="T16" fmla="*/ 246 w 246"/>
                <a:gd name="T17" fmla="*/ 56 h 273"/>
                <a:gd name="T18" fmla="*/ 227 w 246"/>
                <a:gd name="T19" fmla="*/ 103 h 273"/>
                <a:gd name="T20" fmla="*/ 180 w 246"/>
                <a:gd name="T21" fmla="*/ 198 h 273"/>
                <a:gd name="T22" fmla="*/ 95 w 246"/>
                <a:gd name="T23" fmla="*/ 254 h 273"/>
                <a:gd name="T24" fmla="*/ 47 w 246"/>
                <a:gd name="T25" fmla="*/ 264 h 273"/>
                <a:gd name="T26" fmla="*/ 0 w 246"/>
                <a:gd name="T27" fmla="*/ 273 h 273"/>
                <a:gd name="T28" fmla="*/ 0 w 246"/>
                <a:gd name="T29" fmla="*/ 273 h 2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6"/>
                <a:gd name="T46" fmla="*/ 0 h 273"/>
                <a:gd name="T47" fmla="*/ 246 w 246"/>
                <a:gd name="T48" fmla="*/ 273 h 2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6" h="273">
                  <a:moveTo>
                    <a:pt x="0" y="273"/>
                  </a:moveTo>
                  <a:lnTo>
                    <a:pt x="47" y="264"/>
                  </a:lnTo>
                  <a:lnTo>
                    <a:pt x="95" y="254"/>
                  </a:lnTo>
                  <a:lnTo>
                    <a:pt x="180" y="198"/>
                  </a:lnTo>
                  <a:lnTo>
                    <a:pt x="227" y="103"/>
                  </a:lnTo>
                  <a:lnTo>
                    <a:pt x="246" y="56"/>
                  </a:lnTo>
                  <a:lnTo>
                    <a:pt x="246" y="0"/>
                  </a:lnTo>
                  <a:lnTo>
                    <a:pt x="246" y="56"/>
                  </a:lnTo>
                  <a:lnTo>
                    <a:pt x="227" y="103"/>
                  </a:lnTo>
                  <a:lnTo>
                    <a:pt x="180" y="198"/>
                  </a:lnTo>
                  <a:lnTo>
                    <a:pt x="95" y="254"/>
                  </a:lnTo>
                  <a:lnTo>
                    <a:pt x="47" y="264"/>
                  </a:lnTo>
                  <a:lnTo>
                    <a:pt x="0" y="27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0" name="Freeform 29"/>
            <p:cNvSpPr>
              <a:spLocks noChangeAspect="1" noEditPoints="1"/>
            </p:cNvSpPr>
            <p:nvPr/>
          </p:nvSpPr>
          <p:spPr bwMode="auto">
            <a:xfrm>
              <a:off x="4728" y="2172"/>
              <a:ext cx="246" cy="284"/>
            </a:xfrm>
            <a:custGeom>
              <a:avLst/>
              <a:gdLst>
                <a:gd name="T0" fmla="*/ 246 w 246"/>
                <a:gd name="T1" fmla="*/ 284 h 284"/>
                <a:gd name="T2" fmla="*/ 246 w 246"/>
                <a:gd name="T3" fmla="*/ 227 h 284"/>
                <a:gd name="T4" fmla="*/ 227 w 246"/>
                <a:gd name="T5" fmla="*/ 170 h 284"/>
                <a:gd name="T6" fmla="*/ 180 w 246"/>
                <a:gd name="T7" fmla="*/ 85 h 284"/>
                <a:gd name="T8" fmla="*/ 142 w 246"/>
                <a:gd name="T9" fmla="*/ 48 h 284"/>
                <a:gd name="T10" fmla="*/ 95 w 246"/>
                <a:gd name="T11" fmla="*/ 19 h 284"/>
                <a:gd name="T12" fmla="*/ 47 w 246"/>
                <a:gd name="T13" fmla="*/ 10 h 284"/>
                <a:gd name="T14" fmla="*/ 0 w 246"/>
                <a:gd name="T15" fmla="*/ 0 h 284"/>
                <a:gd name="T16" fmla="*/ 0 w 246"/>
                <a:gd name="T17" fmla="*/ 0 h 284"/>
                <a:gd name="T18" fmla="*/ 47 w 246"/>
                <a:gd name="T19" fmla="*/ 10 h 284"/>
                <a:gd name="T20" fmla="*/ 95 w 246"/>
                <a:gd name="T21" fmla="*/ 19 h 284"/>
                <a:gd name="T22" fmla="*/ 142 w 246"/>
                <a:gd name="T23" fmla="*/ 48 h 284"/>
                <a:gd name="T24" fmla="*/ 180 w 246"/>
                <a:gd name="T25" fmla="*/ 85 h 284"/>
                <a:gd name="T26" fmla="*/ 227 w 246"/>
                <a:gd name="T27" fmla="*/ 170 h 284"/>
                <a:gd name="T28" fmla="*/ 246 w 246"/>
                <a:gd name="T29" fmla="*/ 227 h 284"/>
                <a:gd name="T30" fmla="*/ 246 w 246"/>
                <a:gd name="T31" fmla="*/ 284 h 284"/>
                <a:gd name="T32" fmla="*/ 246 w 246"/>
                <a:gd name="T33" fmla="*/ 284 h 284"/>
                <a:gd name="T34" fmla="*/ 246 w 246"/>
                <a:gd name="T35" fmla="*/ 284 h 284"/>
                <a:gd name="T36" fmla="*/ 246 w 246"/>
                <a:gd name="T37" fmla="*/ 284 h 284"/>
                <a:gd name="T38" fmla="*/ 246 w 246"/>
                <a:gd name="T39" fmla="*/ 284 h 2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4"/>
                <a:gd name="T62" fmla="*/ 246 w 246"/>
                <a:gd name="T63" fmla="*/ 284 h 2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4">
                  <a:moveTo>
                    <a:pt x="246" y="284"/>
                  </a:moveTo>
                  <a:lnTo>
                    <a:pt x="246" y="227"/>
                  </a:lnTo>
                  <a:lnTo>
                    <a:pt x="227" y="170"/>
                  </a:lnTo>
                  <a:lnTo>
                    <a:pt x="180" y="85"/>
                  </a:lnTo>
                  <a:lnTo>
                    <a:pt x="142" y="48"/>
                  </a:lnTo>
                  <a:lnTo>
                    <a:pt x="95" y="19"/>
                  </a:lnTo>
                  <a:lnTo>
                    <a:pt x="47" y="10"/>
                  </a:lnTo>
                  <a:lnTo>
                    <a:pt x="0" y="0"/>
                  </a:lnTo>
                  <a:lnTo>
                    <a:pt x="47" y="10"/>
                  </a:lnTo>
                  <a:lnTo>
                    <a:pt x="95" y="19"/>
                  </a:lnTo>
                  <a:lnTo>
                    <a:pt x="142" y="48"/>
                  </a:lnTo>
                  <a:lnTo>
                    <a:pt x="180" y="85"/>
                  </a:lnTo>
                  <a:lnTo>
                    <a:pt x="227" y="170"/>
                  </a:lnTo>
                  <a:lnTo>
                    <a:pt x="246" y="227"/>
                  </a:lnTo>
                  <a:lnTo>
                    <a:pt x="246" y="284"/>
                  </a:lnTo>
                  <a:close/>
                  <a:moveTo>
                    <a:pt x="246" y="284"/>
                  </a:moveTo>
                  <a:lnTo>
                    <a:pt x="246" y="2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1" name="Freeform 30"/>
            <p:cNvSpPr>
              <a:spLocks noChangeAspect="1" noEditPoints="1"/>
            </p:cNvSpPr>
            <p:nvPr/>
          </p:nvSpPr>
          <p:spPr bwMode="auto">
            <a:xfrm>
              <a:off x="4482" y="2172"/>
              <a:ext cx="246" cy="284"/>
            </a:xfrm>
            <a:custGeom>
              <a:avLst/>
              <a:gdLst>
                <a:gd name="T0" fmla="*/ 246 w 246"/>
                <a:gd name="T1" fmla="*/ 0 h 284"/>
                <a:gd name="T2" fmla="*/ 199 w 246"/>
                <a:gd name="T3" fmla="*/ 10 h 284"/>
                <a:gd name="T4" fmla="*/ 152 w 246"/>
                <a:gd name="T5" fmla="*/ 19 h 284"/>
                <a:gd name="T6" fmla="*/ 114 w 246"/>
                <a:gd name="T7" fmla="*/ 48 h 284"/>
                <a:gd name="T8" fmla="*/ 76 w 246"/>
                <a:gd name="T9" fmla="*/ 85 h 284"/>
                <a:gd name="T10" fmla="*/ 19 w 246"/>
                <a:gd name="T11" fmla="*/ 170 h 284"/>
                <a:gd name="T12" fmla="*/ 10 w 246"/>
                <a:gd name="T13" fmla="*/ 227 h 284"/>
                <a:gd name="T14" fmla="*/ 0 w 246"/>
                <a:gd name="T15" fmla="*/ 284 h 284"/>
                <a:gd name="T16" fmla="*/ 0 w 246"/>
                <a:gd name="T17" fmla="*/ 284 h 284"/>
                <a:gd name="T18" fmla="*/ 10 w 246"/>
                <a:gd name="T19" fmla="*/ 227 h 284"/>
                <a:gd name="T20" fmla="*/ 19 w 246"/>
                <a:gd name="T21" fmla="*/ 170 h 284"/>
                <a:gd name="T22" fmla="*/ 76 w 246"/>
                <a:gd name="T23" fmla="*/ 85 h 284"/>
                <a:gd name="T24" fmla="*/ 114 w 246"/>
                <a:gd name="T25" fmla="*/ 48 h 284"/>
                <a:gd name="T26" fmla="*/ 152 w 246"/>
                <a:gd name="T27" fmla="*/ 19 h 284"/>
                <a:gd name="T28" fmla="*/ 199 w 246"/>
                <a:gd name="T29" fmla="*/ 10 h 284"/>
                <a:gd name="T30" fmla="*/ 246 w 246"/>
                <a:gd name="T31" fmla="*/ 0 h 284"/>
                <a:gd name="T32" fmla="*/ 246 w 246"/>
                <a:gd name="T33" fmla="*/ 0 h 284"/>
                <a:gd name="T34" fmla="*/ 246 w 246"/>
                <a:gd name="T35" fmla="*/ 0 h 284"/>
                <a:gd name="T36" fmla="*/ 246 w 246"/>
                <a:gd name="T37" fmla="*/ 0 h 284"/>
                <a:gd name="T38" fmla="*/ 246 w 246"/>
                <a:gd name="T39" fmla="*/ 0 h 2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4"/>
                <a:gd name="T62" fmla="*/ 246 w 246"/>
                <a:gd name="T63" fmla="*/ 284 h 2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4">
                  <a:moveTo>
                    <a:pt x="246" y="0"/>
                  </a:moveTo>
                  <a:lnTo>
                    <a:pt x="199" y="10"/>
                  </a:lnTo>
                  <a:lnTo>
                    <a:pt x="152" y="19"/>
                  </a:lnTo>
                  <a:lnTo>
                    <a:pt x="114" y="48"/>
                  </a:lnTo>
                  <a:lnTo>
                    <a:pt x="76" y="85"/>
                  </a:lnTo>
                  <a:lnTo>
                    <a:pt x="19" y="170"/>
                  </a:lnTo>
                  <a:lnTo>
                    <a:pt x="10" y="227"/>
                  </a:lnTo>
                  <a:lnTo>
                    <a:pt x="0" y="284"/>
                  </a:lnTo>
                  <a:lnTo>
                    <a:pt x="10" y="227"/>
                  </a:lnTo>
                  <a:lnTo>
                    <a:pt x="19" y="170"/>
                  </a:lnTo>
                  <a:lnTo>
                    <a:pt x="76" y="85"/>
                  </a:lnTo>
                  <a:lnTo>
                    <a:pt x="114" y="48"/>
                  </a:lnTo>
                  <a:lnTo>
                    <a:pt x="152" y="19"/>
                  </a:lnTo>
                  <a:lnTo>
                    <a:pt x="199" y="10"/>
                  </a:lnTo>
                  <a:lnTo>
                    <a:pt x="246" y="0"/>
                  </a:lnTo>
                  <a:close/>
                  <a:moveTo>
                    <a:pt x="246" y="0"/>
                  </a:moveTo>
                  <a:lnTo>
                    <a:pt x="24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2" name="Freeform 31"/>
            <p:cNvSpPr>
              <a:spLocks noChangeAspect="1" noEditPoints="1"/>
            </p:cNvSpPr>
            <p:nvPr/>
          </p:nvSpPr>
          <p:spPr bwMode="auto">
            <a:xfrm>
              <a:off x="4482" y="2456"/>
              <a:ext cx="246" cy="273"/>
            </a:xfrm>
            <a:custGeom>
              <a:avLst/>
              <a:gdLst>
                <a:gd name="T0" fmla="*/ 0 w 246"/>
                <a:gd name="T1" fmla="*/ 0 h 273"/>
                <a:gd name="T2" fmla="*/ 10 w 246"/>
                <a:gd name="T3" fmla="*/ 56 h 273"/>
                <a:gd name="T4" fmla="*/ 19 w 246"/>
                <a:gd name="T5" fmla="*/ 103 h 273"/>
                <a:gd name="T6" fmla="*/ 76 w 246"/>
                <a:gd name="T7" fmla="*/ 198 h 273"/>
                <a:gd name="T8" fmla="*/ 152 w 246"/>
                <a:gd name="T9" fmla="*/ 254 h 273"/>
                <a:gd name="T10" fmla="*/ 199 w 246"/>
                <a:gd name="T11" fmla="*/ 264 h 273"/>
                <a:gd name="T12" fmla="*/ 246 w 246"/>
                <a:gd name="T13" fmla="*/ 273 h 273"/>
                <a:gd name="T14" fmla="*/ 246 w 246"/>
                <a:gd name="T15" fmla="*/ 273 h 273"/>
                <a:gd name="T16" fmla="*/ 199 w 246"/>
                <a:gd name="T17" fmla="*/ 264 h 273"/>
                <a:gd name="T18" fmla="*/ 152 w 246"/>
                <a:gd name="T19" fmla="*/ 254 h 273"/>
                <a:gd name="T20" fmla="*/ 76 w 246"/>
                <a:gd name="T21" fmla="*/ 198 h 273"/>
                <a:gd name="T22" fmla="*/ 19 w 246"/>
                <a:gd name="T23" fmla="*/ 103 h 273"/>
                <a:gd name="T24" fmla="*/ 10 w 246"/>
                <a:gd name="T25" fmla="*/ 56 h 273"/>
                <a:gd name="T26" fmla="*/ 0 w 246"/>
                <a:gd name="T27" fmla="*/ 0 h 273"/>
                <a:gd name="T28" fmla="*/ 0 w 246"/>
                <a:gd name="T29" fmla="*/ 0 h 273"/>
                <a:gd name="T30" fmla="*/ 0 w 246"/>
                <a:gd name="T31" fmla="*/ 0 h 273"/>
                <a:gd name="T32" fmla="*/ 0 w 246"/>
                <a:gd name="T33" fmla="*/ 0 h 273"/>
                <a:gd name="T34" fmla="*/ 0 w 246"/>
                <a:gd name="T35" fmla="*/ 0 h 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6"/>
                <a:gd name="T55" fmla="*/ 0 h 273"/>
                <a:gd name="T56" fmla="*/ 246 w 246"/>
                <a:gd name="T57" fmla="*/ 273 h 2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6" h="273">
                  <a:moveTo>
                    <a:pt x="0" y="0"/>
                  </a:moveTo>
                  <a:lnTo>
                    <a:pt x="10" y="56"/>
                  </a:lnTo>
                  <a:lnTo>
                    <a:pt x="19" y="103"/>
                  </a:lnTo>
                  <a:lnTo>
                    <a:pt x="76" y="198"/>
                  </a:lnTo>
                  <a:lnTo>
                    <a:pt x="152" y="254"/>
                  </a:lnTo>
                  <a:lnTo>
                    <a:pt x="199" y="264"/>
                  </a:lnTo>
                  <a:lnTo>
                    <a:pt x="246" y="273"/>
                  </a:lnTo>
                  <a:lnTo>
                    <a:pt x="199" y="264"/>
                  </a:lnTo>
                  <a:lnTo>
                    <a:pt x="152" y="254"/>
                  </a:lnTo>
                  <a:lnTo>
                    <a:pt x="76" y="198"/>
                  </a:lnTo>
                  <a:lnTo>
                    <a:pt x="19" y="103"/>
                  </a:lnTo>
                  <a:lnTo>
                    <a:pt x="10" y="5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3" name="Freeform 32"/>
            <p:cNvSpPr>
              <a:spLocks noChangeAspect="1"/>
            </p:cNvSpPr>
            <p:nvPr/>
          </p:nvSpPr>
          <p:spPr bwMode="auto">
            <a:xfrm>
              <a:off x="4728" y="272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4" name="Freeform 33"/>
            <p:cNvSpPr>
              <a:spLocks noChangeAspect="1"/>
            </p:cNvSpPr>
            <p:nvPr/>
          </p:nvSpPr>
          <p:spPr bwMode="auto">
            <a:xfrm>
              <a:off x="4652" y="2267"/>
              <a:ext cx="152" cy="170"/>
            </a:xfrm>
            <a:custGeom>
              <a:avLst/>
              <a:gdLst>
                <a:gd name="T0" fmla="*/ 67 w 152"/>
                <a:gd name="T1" fmla="*/ 75 h 170"/>
                <a:gd name="T2" fmla="*/ 0 w 152"/>
                <a:gd name="T3" fmla="*/ 75 h 170"/>
                <a:gd name="T4" fmla="*/ 0 w 152"/>
                <a:gd name="T5" fmla="*/ 94 h 170"/>
                <a:gd name="T6" fmla="*/ 67 w 152"/>
                <a:gd name="T7" fmla="*/ 94 h 170"/>
                <a:gd name="T8" fmla="*/ 67 w 152"/>
                <a:gd name="T9" fmla="*/ 170 h 170"/>
                <a:gd name="T10" fmla="*/ 86 w 152"/>
                <a:gd name="T11" fmla="*/ 170 h 170"/>
                <a:gd name="T12" fmla="*/ 86 w 152"/>
                <a:gd name="T13" fmla="*/ 94 h 170"/>
                <a:gd name="T14" fmla="*/ 152 w 152"/>
                <a:gd name="T15" fmla="*/ 94 h 170"/>
                <a:gd name="T16" fmla="*/ 152 w 152"/>
                <a:gd name="T17" fmla="*/ 75 h 170"/>
                <a:gd name="T18" fmla="*/ 86 w 152"/>
                <a:gd name="T19" fmla="*/ 75 h 170"/>
                <a:gd name="T20" fmla="*/ 86 w 152"/>
                <a:gd name="T21" fmla="*/ 0 h 170"/>
                <a:gd name="T22" fmla="*/ 67 w 152"/>
                <a:gd name="T23" fmla="*/ 0 h 170"/>
                <a:gd name="T24" fmla="*/ 67 w 152"/>
                <a:gd name="T25" fmla="*/ 75 h 1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2"/>
                <a:gd name="T40" fmla="*/ 0 h 170"/>
                <a:gd name="T41" fmla="*/ 152 w 152"/>
                <a:gd name="T42" fmla="*/ 170 h 1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2" h="170">
                  <a:moveTo>
                    <a:pt x="67" y="75"/>
                  </a:moveTo>
                  <a:lnTo>
                    <a:pt x="0" y="75"/>
                  </a:lnTo>
                  <a:lnTo>
                    <a:pt x="0" y="94"/>
                  </a:lnTo>
                  <a:lnTo>
                    <a:pt x="67" y="94"/>
                  </a:lnTo>
                  <a:lnTo>
                    <a:pt x="67" y="170"/>
                  </a:lnTo>
                  <a:lnTo>
                    <a:pt x="86" y="170"/>
                  </a:lnTo>
                  <a:lnTo>
                    <a:pt x="86" y="94"/>
                  </a:lnTo>
                  <a:lnTo>
                    <a:pt x="152" y="94"/>
                  </a:lnTo>
                  <a:lnTo>
                    <a:pt x="152" y="75"/>
                  </a:lnTo>
                  <a:lnTo>
                    <a:pt x="86" y="75"/>
                  </a:lnTo>
                  <a:lnTo>
                    <a:pt x="86" y="0"/>
                  </a:lnTo>
                  <a:lnTo>
                    <a:pt x="67" y="0"/>
                  </a:lnTo>
                  <a:lnTo>
                    <a:pt x="67" y="7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5" name="Rectangle 34"/>
            <p:cNvSpPr>
              <a:spLocks noChangeAspect="1" noChangeArrowheads="1"/>
            </p:cNvSpPr>
            <p:nvPr/>
          </p:nvSpPr>
          <p:spPr bwMode="auto">
            <a:xfrm>
              <a:off x="4652" y="2569"/>
              <a:ext cx="152" cy="19"/>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3586" name="Freeform 35"/>
            <p:cNvSpPr>
              <a:spLocks noChangeAspect="1"/>
            </p:cNvSpPr>
            <p:nvPr/>
          </p:nvSpPr>
          <p:spPr bwMode="auto">
            <a:xfrm>
              <a:off x="1807" y="2163"/>
              <a:ext cx="492" cy="557"/>
            </a:xfrm>
            <a:custGeom>
              <a:avLst/>
              <a:gdLst>
                <a:gd name="T0" fmla="*/ 246 w 492"/>
                <a:gd name="T1" fmla="*/ 0 h 557"/>
                <a:gd name="T2" fmla="*/ 199 w 492"/>
                <a:gd name="T3" fmla="*/ 9 h 557"/>
                <a:gd name="T4" fmla="*/ 151 w 492"/>
                <a:gd name="T5" fmla="*/ 19 h 557"/>
                <a:gd name="T6" fmla="*/ 76 w 492"/>
                <a:gd name="T7" fmla="*/ 85 h 557"/>
                <a:gd name="T8" fmla="*/ 19 w 492"/>
                <a:gd name="T9" fmla="*/ 170 h 557"/>
                <a:gd name="T10" fmla="*/ 10 w 492"/>
                <a:gd name="T11" fmla="*/ 217 h 557"/>
                <a:gd name="T12" fmla="*/ 0 w 492"/>
                <a:gd name="T13" fmla="*/ 274 h 557"/>
                <a:gd name="T14" fmla="*/ 10 w 492"/>
                <a:gd name="T15" fmla="*/ 330 h 557"/>
                <a:gd name="T16" fmla="*/ 19 w 492"/>
                <a:gd name="T17" fmla="*/ 377 h 557"/>
                <a:gd name="T18" fmla="*/ 76 w 492"/>
                <a:gd name="T19" fmla="*/ 472 h 557"/>
                <a:gd name="T20" fmla="*/ 113 w 492"/>
                <a:gd name="T21" fmla="*/ 510 h 557"/>
                <a:gd name="T22" fmla="*/ 151 w 492"/>
                <a:gd name="T23" fmla="*/ 538 h 557"/>
                <a:gd name="T24" fmla="*/ 199 w 492"/>
                <a:gd name="T25" fmla="*/ 547 h 557"/>
                <a:gd name="T26" fmla="*/ 246 w 492"/>
                <a:gd name="T27" fmla="*/ 557 h 557"/>
                <a:gd name="T28" fmla="*/ 293 w 492"/>
                <a:gd name="T29" fmla="*/ 547 h 557"/>
                <a:gd name="T30" fmla="*/ 340 w 492"/>
                <a:gd name="T31" fmla="*/ 538 h 557"/>
                <a:gd name="T32" fmla="*/ 388 w 492"/>
                <a:gd name="T33" fmla="*/ 510 h 557"/>
                <a:gd name="T34" fmla="*/ 425 w 492"/>
                <a:gd name="T35" fmla="*/ 472 h 557"/>
                <a:gd name="T36" fmla="*/ 473 w 492"/>
                <a:gd name="T37" fmla="*/ 377 h 557"/>
                <a:gd name="T38" fmla="*/ 492 w 492"/>
                <a:gd name="T39" fmla="*/ 330 h 557"/>
                <a:gd name="T40" fmla="*/ 492 w 492"/>
                <a:gd name="T41" fmla="*/ 274 h 557"/>
                <a:gd name="T42" fmla="*/ 492 w 492"/>
                <a:gd name="T43" fmla="*/ 217 h 557"/>
                <a:gd name="T44" fmla="*/ 473 w 492"/>
                <a:gd name="T45" fmla="*/ 170 h 557"/>
                <a:gd name="T46" fmla="*/ 425 w 492"/>
                <a:gd name="T47" fmla="*/ 85 h 557"/>
                <a:gd name="T48" fmla="*/ 340 w 492"/>
                <a:gd name="T49" fmla="*/ 19 h 557"/>
                <a:gd name="T50" fmla="*/ 293 w 492"/>
                <a:gd name="T51" fmla="*/ 9 h 557"/>
                <a:gd name="T52" fmla="*/ 246 w 492"/>
                <a:gd name="T53" fmla="*/ 0 h 557"/>
                <a:gd name="T54" fmla="*/ 246 w 492"/>
                <a:gd name="T55" fmla="*/ 0 h 5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2"/>
                <a:gd name="T85" fmla="*/ 0 h 557"/>
                <a:gd name="T86" fmla="*/ 492 w 492"/>
                <a:gd name="T87" fmla="*/ 557 h 5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2" h="557">
                  <a:moveTo>
                    <a:pt x="246" y="0"/>
                  </a:moveTo>
                  <a:lnTo>
                    <a:pt x="199" y="9"/>
                  </a:lnTo>
                  <a:lnTo>
                    <a:pt x="151" y="19"/>
                  </a:lnTo>
                  <a:lnTo>
                    <a:pt x="76" y="85"/>
                  </a:lnTo>
                  <a:lnTo>
                    <a:pt x="19" y="170"/>
                  </a:lnTo>
                  <a:lnTo>
                    <a:pt x="10" y="217"/>
                  </a:lnTo>
                  <a:lnTo>
                    <a:pt x="0" y="274"/>
                  </a:lnTo>
                  <a:lnTo>
                    <a:pt x="10" y="330"/>
                  </a:lnTo>
                  <a:lnTo>
                    <a:pt x="19" y="377"/>
                  </a:lnTo>
                  <a:lnTo>
                    <a:pt x="76" y="472"/>
                  </a:lnTo>
                  <a:lnTo>
                    <a:pt x="113" y="510"/>
                  </a:lnTo>
                  <a:lnTo>
                    <a:pt x="151" y="538"/>
                  </a:lnTo>
                  <a:lnTo>
                    <a:pt x="199" y="547"/>
                  </a:lnTo>
                  <a:lnTo>
                    <a:pt x="246" y="557"/>
                  </a:lnTo>
                  <a:lnTo>
                    <a:pt x="293" y="547"/>
                  </a:lnTo>
                  <a:lnTo>
                    <a:pt x="340" y="538"/>
                  </a:lnTo>
                  <a:lnTo>
                    <a:pt x="388" y="510"/>
                  </a:lnTo>
                  <a:lnTo>
                    <a:pt x="425" y="472"/>
                  </a:lnTo>
                  <a:lnTo>
                    <a:pt x="473" y="377"/>
                  </a:lnTo>
                  <a:lnTo>
                    <a:pt x="492" y="330"/>
                  </a:lnTo>
                  <a:lnTo>
                    <a:pt x="492" y="274"/>
                  </a:lnTo>
                  <a:lnTo>
                    <a:pt x="492" y="217"/>
                  </a:lnTo>
                  <a:lnTo>
                    <a:pt x="473" y="170"/>
                  </a:lnTo>
                  <a:lnTo>
                    <a:pt x="425" y="85"/>
                  </a:lnTo>
                  <a:lnTo>
                    <a:pt x="340" y="19"/>
                  </a:lnTo>
                  <a:lnTo>
                    <a:pt x="293" y="9"/>
                  </a:lnTo>
                  <a:lnTo>
                    <a:pt x="246" y="0"/>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7" name="Freeform 36"/>
            <p:cNvSpPr>
              <a:spLocks noChangeAspect="1"/>
            </p:cNvSpPr>
            <p:nvPr/>
          </p:nvSpPr>
          <p:spPr bwMode="auto">
            <a:xfrm>
              <a:off x="1807" y="2163"/>
              <a:ext cx="246" cy="274"/>
            </a:xfrm>
            <a:custGeom>
              <a:avLst/>
              <a:gdLst>
                <a:gd name="T0" fmla="*/ 246 w 246"/>
                <a:gd name="T1" fmla="*/ 0 h 274"/>
                <a:gd name="T2" fmla="*/ 199 w 246"/>
                <a:gd name="T3" fmla="*/ 9 h 274"/>
                <a:gd name="T4" fmla="*/ 151 w 246"/>
                <a:gd name="T5" fmla="*/ 19 h 274"/>
                <a:gd name="T6" fmla="*/ 76 w 246"/>
                <a:gd name="T7" fmla="*/ 85 h 274"/>
                <a:gd name="T8" fmla="*/ 19 w 246"/>
                <a:gd name="T9" fmla="*/ 170 h 274"/>
                <a:gd name="T10" fmla="*/ 10 w 246"/>
                <a:gd name="T11" fmla="*/ 217 h 274"/>
                <a:gd name="T12" fmla="*/ 0 w 246"/>
                <a:gd name="T13" fmla="*/ 274 h 274"/>
                <a:gd name="T14" fmla="*/ 0 w 246"/>
                <a:gd name="T15" fmla="*/ 274 h 274"/>
                <a:gd name="T16" fmla="*/ 10 w 246"/>
                <a:gd name="T17" fmla="*/ 217 h 274"/>
                <a:gd name="T18" fmla="*/ 19 w 246"/>
                <a:gd name="T19" fmla="*/ 170 h 274"/>
                <a:gd name="T20" fmla="*/ 76 w 246"/>
                <a:gd name="T21" fmla="*/ 85 h 274"/>
                <a:gd name="T22" fmla="*/ 151 w 246"/>
                <a:gd name="T23" fmla="*/ 19 h 274"/>
                <a:gd name="T24" fmla="*/ 199 w 246"/>
                <a:gd name="T25" fmla="*/ 9 h 274"/>
                <a:gd name="T26" fmla="*/ 246 w 246"/>
                <a:gd name="T27" fmla="*/ 0 h 274"/>
                <a:gd name="T28" fmla="*/ 246 w 246"/>
                <a:gd name="T29" fmla="*/ 0 h 2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6"/>
                <a:gd name="T46" fmla="*/ 0 h 274"/>
                <a:gd name="T47" fmla="*/ 246 w 246"/>
                <a:gd name="T48" fmla="*/ 274 h 2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6" h="274">
                  <a:moveTo>
                    <a:pt x="246" y="0"/>
                  </a:moveTo>
                  <a:lnTo>
                    <a:pt x="199" y="9"/>
                  </a:lnTo>
                  <a:lnTo>
                    <a:pt x="151" y="19"/>
                  </a:lnTo>
                  <a:lnTo>
                    <a:pt x="76" y="85"/>
                  </a:lnTo>
                  <a:lnTo>
                    <a:pt x="19" y="170"/>
                  </a:lnTo>
                  <a:lnTo>
                    <a:pt x="10" y="217"/>
                  </a:lnTo>
                  <a:lnTo>
                    <a:pt x="0" y="274"/>
                  </a:lnTo>
                  <a:lnTo>
                    <a:pt x="10" y="217"/>
                  </a:lnTo>
                  <a:lnTo>
                    <a:pt x="19" y="170"/>
                  </a:lnTo>
                  <a:lnTo>
                    <a:pt x="76" y="85"/>
                  </a:lnTo>
                  <a:lnTo>
                    <a:pt x="151" y="19"/>
                  </a:lnTo>
                  <a:lnTo>
                    <a:pt x="199" y="9"/>
                  </a:lnTo>
                  <a:lnTo>
                    <a:pt x="24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8" name="Freeform 37"/>
            <p:cNvSpPr>
              <a:spLocks noChangeAspect="1" noEditPoints="1"/>
            </p:cNvSpPr>
            <p:nvPr/>
          </p:nvSpPr>
          <p:spPr bwMode="auto">
            <a:xfrm>
              <a:off x="1807" y="2437"/>
              <a:ext cx="246" cy="283"/>
            </a:xfrm>
            <a:custGeom>
              <a:avLst/>
              <a:gdLst>
                <a:gd name="T0" fmla="*/ 0 w 246"/>
                <a:gd name="T1" fmla="*/ 0 h 283"/>
                <a:gd name="T2" fmla="*/ 10 w 246"/>
                <a:gd name="T3" fmla="*/ 56 h 283"/>
                <a:gd name="T4" fmla="*/ 19 w 246"/>
                <a:gd name="T5" fmla="*/ 103 h 283"/>
                <a:gd name="T6" fmla="*/ 76 w 246"/>
                <a:gd name="T7" fmla="*/ 198 h 283"/>
                <a:gd name="T8" fmla="*/ 113 w 246"/>
                <a:gd name="T9" fmla="*/ 236 h 283"/>
                <a:gd name="T10" fmla="*/ 151 w 246"/>
                <a:gd name="T11" fmla="*/ 264 h 283"/>
                <a:gd name="T12" fmla="*/ 199 w 246"/>
                <a:gd name="T13" fmla="*/ 273 h 283"/>
                <a:gd name="T14" fmla="*/ 246 w 246"/>
                <a:gd name="T15" fmla="*/ 283 h 283"/>
                <a:gd name="T16" fmla="*/ 246 w 246"/>
                <a:gd name="T17" fmla="*/ 283 h 283"/>
                <a:gd name="T18" fmla="*/ 199 w 246"/>
                <a:gd name="T19" fmla="*/ 273 h 283"/>
                <a:gd name="T20" fmla="*/ 151 w 246"/>
                <a:gd name="T21" fmla="*/ 264 h 283"/>
                <a:gd name="T22" fmla="*/ 113 w 246"/>
                <a:gd name="T23" fmla="*/ 236 h 283"/>
                <a:gd name="T24" fmla="*/ 76 w 246"/>
                <a:gd name="T25" fmla="*/ 198 h 283"/>
                <a:gd name="T26" fmla="*/ 19 w 246"/>
                <a:gd name="T27" fmla="*/ 103 h 283"/>
                <a:gd name="T28" fmla="*/ 10 w 246"/>
                <a:gd name="T29" fmla="*/ 56 h 283"/>
                <a:gd name="T30" fmla="*/ 0 w 246"/>
                <a:gd name="T31" fmla="*/ 0 h 283"/>
                <a:gd name="T32" fmla="*/ 0 w 246"/>
                <a:gd name="T33" fmla="*/ 0 h 283"/>
                <a:gd name="T34" fmla="*/ 0 w 246"/>
                <a:gd name="T35" fmla="*/ 0 h 283"/>
                <a:gd name="T36" fmla="*/ 0 w 246"/>
                <a:gd name="T37" fmla="*/ 0 h 283"/>
                <a:gd name="T38" fmla="*/ 0 w 246"/>
                <a:gd name="T39" fmla="*/ 0 h 28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3"/>
                <a:gd name="T62" fmla="*/ 246 w 246"/>
                <a:gd name="T63" fmla="*/ 283 h 28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3">
                  <a:moveTo>
                    <a:pt x="0" y="0"/>
                  </a:moveTo>
                  <a:lnTo>
                    <a:pt x="10" y="56"/>
                  </a:lnTo>
                  <a:lnTo>
                    <a:pt x="19" y="103"/>
                  </a:lnTo>
                  <a:lnTo>
                    <a:pt x="76" y="198"/>
                  </a:lnTo>
                  <a:lnTo>
                    <a:pt x="113" y="236"/>
                  </a:lnTo>
                  <a:lnTo>
                    <a:pt x="151" y="264"/>
                  </a:lnTo>
                  <a:lnTo>
                    <a:pt x="199" y="273"/>
                  </a:lnTo>
                  <a:lnTo>
                    <a:pt x="246" y="283"/>
                  </a:lnTo>
                  <a:lnTo>
                    <a:pt x="199" y="273"/>
                  </a:lnTo>
                  <a:lnTo>
                    <a:pt x="151" y="264"/>
                  </a:lnTo>
                  <a:lnTo>
                    <a:pt x="113" y="236"/>
                  </a:lnTo>
                  <a:lnTo>
                    <a:pt x="76" y="198"/>
                  </a:lnTo>
                  <a:lnTo>
                    <a:pt x="19" y="103"/>
                  </a:lnTo>
                  <a:lnTo>
                    <a:pt x="10" y="5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89" name="Freeform 38"/>
            <p:cNvSpPr>
              <a:spLocks noChangeAspect="1" noEditPoints="1"/>
            </p:cNvSpPr>
            <p:nvPr/>
          </p:nvSpPr>
          <p:spPr bwMode="auto">
            <a:xfrm>
              <a:off x="2053" y="2437"/>
              <a:ext cx="246" cy="283"/>
            </a:xfrm>
            <a:custGeom>
              <a:avLst/>
              <a:gdLst>
                <a:gd name="T0" fmla="*/ 0 w 246"/>
                <a:gd name="T1" fmla="*/ 283 h 283"/>
                <a:gd name="T2" fmla="*/ 47 w 246"/>
                <a:gd name="T3" fmla="*/ 273 h 283"/>
                <a:gd name="T4" fmla="*/ 94 w 246"/>
                <a:gd name="T5" fmla="*/ 264 h 283"/>
                <a:gd name="T6" fmla="*/ 142 w 246"/>
                <a:gd name="T7" fmla="*/ 236 h 283"/>
                <a:gd name="T8" fmla="*/ 179 w 246"/>
                <a:gd name="T9" fmla="*/ 198 h 283"/>
                <a:gd name="T10" fmla="*/ 227 w 246"/>
                <a:gd name="T11" fmla="*/ 103 h 283"/>
                <a:gd name="T12" fmla="*/ 246 w 246"/>
                <a:gd name="T13" fmla="*/ 56 h 283"/>
                <a:gd name="T14" fmla="*/ 246 w 246"/>
                <a:gd name="T15" fmla="*/ 0 h 283"/>
                <a:gd name="T16" fmla="*/ 246 w 246"/>
                <a:gd name="T17" fmla="*/ 0 h 283"/>
                <a:gd name="T18" fmla="*/ 246 w 246"/>
                <a:gd name="T19" fmla="*/ 56 h 283"/>
                <a:gd name="T20" fmla="*/ 227 w 246"/>
                <a:gd name="T21" fmla="*/ 103 h 283"/>
                <a:gd name="T22" fmla="*/ 179 w 246"/>
                <a:gd name="T23" fmla="*/ 198 h 283"/>
                <a:gd name="T24" fmla="*/ 142 w 246"/>
                <a:gd name="T25" fmla="*/ 236 h 283"/>
                <a:gd name="T26" fmla="*/ 94 w 246"/>
                <a:gd name="T27" fmla="*/ 264 h 283"/>
                <a:gd name="T28" fmla="*/ 47 w 246"/>
                <a:gd name="T29" fmla="*/ 273 h 283"/>
                <a:gd name="T30" fmla="*/ 0 w 246"/>
                <a:gd name="T31" fmla="*/ 283 h 283"/>
                <a:gd name="T32" fmla="*/ 0 w 246"/>
                <a:gd name="T33" fmla="*/ 283 h 283"/>
                <a:gd name="T34" fmla="*/ 0 w 246"/>
                <a:gd name="T35" fmla="*/ 283 h 283"/>
                <a:gd name="T36" fmla="*/ 0 w 246"/>
                <a:gd name="T37" fmla="*/ 283 h 283"/>
                <a:gd name="T38" fmla="*/ 0 w 246"/>
                <a:gd name="T39" fmla="*/ 283 h 28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3"/>
                <a:gd name="T62" fmla="*/ 246 w 246"/>
                <a:gd name="T63" fmla="*/ 283 h 28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3">
                  <a:moveTo>
                    <a:pt x="0" y="283"/>
                  </a:moveTo>
                  <a:lnTo>
                    <a:pt x="47" y="273"/>
                  </a:lnTo>
                  <a:lnTo>
                    <a:pt x="94" y="264"/>
                  </a:lnTo>
                  <a:lnTo>
                    <a:pt x="142" y="236"/>
                  </a:lnTo>
                  <a:lnTo>
                    <a:pt x="179" y="198"/>
                  </a:lnTo>
                  <a:lnTo>
                    <a:pt x="227" y="103"/>
                  </a:lnTo>
                  <a:lnTo>
                    <a:pt x="246" y="56"/>
                  </a:lnTo>
                  <a:lnTo>
                    <a:pt x="246" y="0"/>
                  </a:lnTo>
                  <a:lnTo>
                    <a:pt x="246" y="56"/>
                  </a:lnTo>
                  <a:lnTo>
                    <a:pt x="227" y="103"/>
                  </a:lnTo>
                  <a:lnTo>
                    <a:pt x="179" y="198"/>
                  </a:lnTo>
                  <a:lnTo>
                    <a:pt x="142" y="236"/>
                  </a:lnTo>
                  <a:lnTo>
                    <a:pt x="94" y="264"/>
                  </a:lnTo>
                  <a:lnTo>
                    <a:pt x="47" y="273"/>
                  </a:lnTo>
                  <a:lnTo>
                    <a:pt x="0" y="283"/>
                  </a:lnTo>
                  <a:close/>
                  <a:moveTo>
                    <a:pt x="0" y="283"/>
                  </a:moveTo>
                  <a:lnTo>
                    <a:pt x="0" y="2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0" name="Freeform 39"/>
            <p:cNvSpPr>
              <a:spLocks noChangeAspect="1" noEditPoints="1"/>
            </p:cNvSpPr>
            <p:nvPr/>
          </p:nvSpPr>
          <p:spPr bwMode="auto">
            <a:xfrm>
              <a:off x="2053" y="2163"/>
              <a:ext cx="246" cy="274"/>
            </a:xfrm>
            <a:custGeom>
              <a:avLst/>
              <a:gdLst>
                <a:gd name="T0" fmla="*/ 246 w 246"/>
                <a:gd name="T1" fmla="*/ 274 h 274"/>
                <a:gd name="T2" fmla="*/ 246 w 246"/>
                <a:gd name="T3" fmla="*/ 217 h 274"/>
                <a:gd name="T4" fmla="*/ 227 w 246"/>
                <a:gd name="T5" fmla="*/ 170 h 274"/>
                <a:gd name="T6" fmla="*/ 179 w 246"/>
                <a:gd name="T7" fmla="*/ 85 h 274"/>
                <a:gd name="T8" fmla="*/ 94 w 246"/>
                <a:gd name="T9" fmla="*/ 19 h 274"/>
                <a:gd name="T10" fmla="*/ 47 w 246"/>
                <a:gd name="T11" fmla="*/ 9 h 274"/>
                <a:gd name="T12" fmla="*/ 0 w 246"/>
                <a:gd name="T13" fmla="*/ 0 h 274"/>
                <a:gd name="T14" fmla="*/ 0 w 246"/>
                <a:gd name="T15" fmla="*/ 0 h 274"/>
                <a:gd name="T16" fmla="*/ 47 w 246"/>
                <a:gd name="T17" fmla="*/ 9 h 274"/>
                <a:gd name="T18" fmla="*/ 94 w 246"/>
                <a:gd name="T19" fmla="*/ 19 h 274"/>
                <a:gd name="T20" fmla="*/ 179 w 246"/>
                <a:gd name="T21" fmla="*/ 85 h 274"/>
                <a:gd name="T22" fmla="*/ 227 w 246"/>
                <a:gd name="T23" fmla="*/ 170 h 274"/>
                <a:gd name="T24" fmla="*/ 246 w 246"/>
                <a:gd name="T25" fmla="*/ 217 h 274"/>
                <a:gd name="T26" fmla="*/ 246 w 246"/>
                <a:gd name="T27" fmla="*/ 274 h 274"/>
                <a:gd name="T28" fmla="*/ 246 w 246"/>
                <a:gd name="T29" fmla="*/ 274 h 274"/>
                <a:gd name="T30" fmla="*/ 246 w 246"/>
                <a:gd name="T31" fmla="*/ 274 h 274"/>
                <a:gd name="T32" fmla="*/ 246 w 246"/>
                <a:gd name="T33" fmla="*/ 274 h 274"/>
                <a:gd name="T34" fmla="*/ 246 w 246"/>
                <a:gd name="T35" fmla="*/ 274 h 2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6"/>
                <a:gd name="T55" fmla="*/ 0 h 274"/>
                <a:gd name="T56" fmla="*/ 246 w 246"/>
                <a:gd name="T57" fmla="*/ 274 h 2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6" h="274">
                  <a:moveTo>
                    <a:pt x="246" y="274"/>
                  </a:moveTo>
                  <a:lnTo>
                    <a:pt x="246" y="217"/>
                  </a:lnTo>
                  <a:lnTo>
                    <a:pt x="227" y="170"/>
                  </a:lnTo>
                  <a:lnTo>
                    <a:pt x="179" y="85"/>
                  </a:lnTo>
                  <a:lnTo>
                    <a:pt x="94" y="19"/>
                  </a:lnTo>
                  <a:lnTo>
                    <a:pt x="47" y="9"/>
                  </a:lnTo>
                  <a:lnTo>
                    <a:pt x="0" y="0"/>
                  </a:lnTo>
                  <a:lnTo>
                    <a:pt x="47" y="9"/>
                  </a:lnTo>
                  <a:lnTo>
                    <a:pt x="94" y="19"/>
                  </a:lnTo>
                  <a:lnTo>
                    <a:pt x="179" y="85"/>
                  </a:lnTo>
                  <a:lnTo>
                    <a:pt x="227" y="170"/>
                  </a:lnTo>
                  <a:lnTo>
                    <a:pt x="246" y="217"/>
                  </a:lnTo>
                  <a:lnTo>
                    <a:pt x="246" y="274"/>
                  </a:lnTo>
                  <a:close/>
                  <a:moveTo>
                    <a:pt x="246" y="274"/>
                  </a:moveTo>
                  <a:lnTo>
                    <a:pt x="246" y="27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1" name="Freeform 40"/>
            <p:cNvSpPr>
              <a:spLocks noChangeAspect="1"/>
            </p:cNvSpPr>
            <p:nvPr/>
          </p:nvSpPr>
          <p:spPr bwMode="auto">
            <a:xfrm>
              <a:off x="2053" y="216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2" name="Freeform 41"/>
            <p:cNvSpPr>
              <a:spLocks noChangeAspect="1"/>
            </p:cNvSpPr>
            <p:nvPr/>
          </p:nvSpPr>
          <p:spPr bwMode="auto">
            <a:xfrm>
              <a:off x="2062" y="2220"/>
              <a:ext cx="1" cy="226"/>
            </a:xfrm>
            <a:custGeom>
              <a:avLst/>
              <a:gdLst>
                <a:gd name="T0" fmla="*/ 0 w 1"/>
                <a:gd name="T1" fmla="*/ 0 h 226"/>
                <a:gd name="T2" fmla="*/ 0 w 1"/>
                <a:gd name="T3" fmla="*/ 226 h 226"/>
                <a:gd name="T4" fmla="*/ 0 w 1"/>
                <a:gd name="T5" fmla="*/ 0 h 226"/>
                <a:gd name="T6" fmla="*/ 0 w 1"/>
                <a:gd name="T7" fmla="*/ 0 h 226"/>
                <a:gd name="T8" fmla="*/ 0 60000 65536"/>
                <a:gd name="T9" fmla="*/ 0 60000 65536"/>
                <a:gd name="T10" fmla="*/ 0 60000 65536"/>
                <a:gd name="T11" fmla="*/ 0 60000 65536"/>
                <a:gd name="T12" fmla="*/ 0 w 1"/>
                <a:gd name="T13" fmla="*/ 0 h 226"/>
                <a:gd name="T14" fmla="*/ 1 w 1"/>
                <a:gd name="T15" fmla="*/ 226 h 226"/>
              </a:gdLst>
              <a:ahLst/>
              <a:cxnLst>
                <a:cxn ang="T8">
                  <a:pos x="T0" y="T1"/>
                </a:cxn>
                <a:cxn ang="T9">
                  <a:pos x="T2" y="T3"/>
                </a:cxn>
                <a:cxn ang="T10">
                  <a:pos x="T4" y="T5"/>
                </a:cxn>
                <a:cxn ang="T11">
                  <a:pos x="T6" y="T7"/>
                </a:cxn>
              </a:cxnLst>
              <a:rect l="T12" t="T13" r="T14" b="T15"/>
              <a:pathLst>
                <a:path w="1" h="226">
                  <a:moveTo>
                    <a:pt x="0" y="0"/>
                  </a:moveTo>
                  <a:lnTo>
                    <a:pt x="0" y="226"/>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3" name="Freeform 42"/>
            <p:cNvSpPr>
              <a:spLocks noChangeAspect="1"/>
            </p:cNvSpPr>
            <p:nvPr/>
          </p:nvSpPr>
          <p:spPr bwMode="auto">
            <a:xfrm>
              <a:off x="1996" y="2399"/>
              <a:ext cx="123" cy="245"/>
            </a:xfrm>
            <a:custGeom>
              <a:avLst/>
              <a:gdLst>
                <a:gd name="T0" fmla="*/ 0 w 123"/>
                <a:gd name="T1" fmla="*/ 0 h 245"/>
                <a:gd name="T2" fmla="*/ 66 w 123"/>
                <a:gd name="T3" fmla="*/ 245 h 245"/>
                <a:gd name="T4" fmla="*/ 123 w 123"/>
                <a:gd name="T5" fmla="*/ 0 h 245"/>
                <a:gd name="T6" fmla="*/ 0 w 123"/>
                <a:gd name="T7" fmla="*/ 0 h 245"/>
                <a:gd name="T8" fmla="*/ 0 w 123"/>
                <a:gd name="T9" fmla="*/ 0 h 245"/>
                <a:gd name="T10" fmla="*/ 0 60000 65536"/>
                <a:gd name="T11" fmla="*/ 0 60000 65536"/>
                <a:gd name="T12" fmla="*/ 0 60000 65536"/>
                <a:gd name="T13" fmla="*/ 0 60000 65536"/>
                <a:gd name="T14" fmla="*/ 0 60000 65536"/>
                <a:gd name="T15" fmla="*/ 0 w 123"/>
                <a:gd name="T16" fmla="*/ 0 h 245"/>
                <a:gd name="T17" fmla="*/ 123 w 123"/>
                <a:gd name="T18" fmla="*/ 245 h 245"/>
              </a:gdLst>
              <a:ahLst/>
              <a:cxnLst>
                <a:cxn ang="T10">
                  <a:pos x="T0" y="T1"/>
                </a:cxn>
                <a:cxn ang="T11">
                  <a:pos x="T2" y="T3"/>
                </a:cxn>
                <a:cxn ang="T12">
                  <a:pos x="T4" y="T5"/>
                </a:cxn>
                <a:cxn ang="T13">
                  <a:pos x="T6" y="T7"/>
                </a:cxn>
                <a:cxn ang="T14">
                  <a:pos x="T8" y="T9"/>
                </a:cxn>
              </a:cxnLst>
              <a:rect l="T15" t="T16" r="T17" b="T18"/>
              <a:pathLst>
                <a:path w="123" h="245">
                  <a:moveTo>
                    <a:pt x="0" y="0"/>
                  </a:moveTo>
                  <a:lnTo>
                    <a:pt x="66" y="245"/>
                  </a:lnTo>
                  <a:lnTo>
                    <a:pt x="123"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4" name="Freeform 43"/>
            <p:cNvSpPr>
              <a:spLocks noChangeAspect="1"/>
            </p:cNvSpPr>
            <p:nvPr/>
          </p:nvSpPr>
          <p:spPr bwMode="auto">
            <a:xfrm>
              <a:off x="748" y="2106"/>
              <a:ext cx="66" cy="670"/>
            </a:xfrm>
            <a:custGeom>
              <a:avLst/>
              <a:gdLst>
                <a:gd name="T0" fmla="*/ 66 w 66"/>
                <a:gd name="T1" fmla="*/ 670 h 670"/>
                <a:gd name="T2" fmla="*/ 0 w 66"/>
                <a:gd name="T3" fmla="*/ 670 h 670"/>
                <a:gd name="T4" fmla="*/ 0 w 66"/>
                <a:gd name="T5" fmla="*/ 0 h 670"/>
                <a:gd name="T6" fmla="*/ 66 w 66"/>
                <a:gd name="T7" fmla="*/ 0 h 670"/>
                <a:gd name="T8" fmla="*/ 66 w 66"/>
                <a:gd name="T9" fmla="*/ 670 h 670"/>
                <a:gd name="T10" fmla="*/ 66 w 66"/>
                <a:gd name="T11" fmla="*/ 670 h 670"/>
                <a:gd name="T12" fmla="*/ 0 60000 65536"/>
                <a:gd name="T13" fmla="*/ 0 60000 65536"/>
                <a:gd name="T14" fmla="*/ 0 60000 65536"/>
                <a:gd name="T15" fmla="*/ 0 60000 65536"/>
                <a:gd name="T16" fmla="*/ 0 60000 65536"/>
                <a:gd name="T17" fmla="*/ 0 60000 65536"/>
                <a:gd name="T18" fmla="*/ 0 w 66"/>
                <a:gd name="T19" fmla="*/ 0 h 670"/>
                <a:gd name="T20" fmla="*/ 66 w 66"/>
                <a:gd name="T21" fmla="*/ 670 h 670"/>
              </a:gdLst>
              <a:ahLst/>
              <a:cxnLst>
                <a:cxn ang="T12">
                  <a:pos x="T0" y="T1"/>
                </a:cxn>
                <a:cxn ang="T13">
                  <a:pos x="T2" y="T3"/>
                </a:cxn>
                <a:cxn ang="T14">
                  <a:pos x="T4" y="T5"/>
                </a:cxn>
                <a:cxn ang="T15">
                  <a:pos x="T6" y="T7"/>
                </a:cxn>
                <a:cxn ang="T16">
                  <a:pos x="T8" y="T9"/>
                </a:cxn>
                <a:cxn ang="T17">
                  <a:pos x="T10" y="T11"/>
                </a:cxn>
              </a:cxnLst>
              <a:rect l="T18" t="T19" r="T20" b="T21"/>
              <a:pathLst>
                <a:path w="66" h="670">
                  <a:moveTo>
                    <a:pt x="66" y="670"/>
                  </a:moveTo>
                  <a:lnTo>
                    <a:pt x="0" y="670"/>
                  </a:lnTo>
                  <a:lnTo>
                    <a:pt x="0" y="0"/>
                  </a:lnTo>
                  <a:lnTo>
                    <a:pt x="66" y="0"/>
                  </a:lnTo>
                  <a:lnTo>
                    <a:pt x="66" y="670"/>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5" name="Freeform 44"/>
            <p:cNvSpPr>
              <a:spLocks noChangeAspect="1"/>
            </p:cNvSpPr>
            <p:nvPr/>
          </p:nvSpPr>
          <p:spPr bwMode="auto">
            <a:xfrm>
              <a:off x="777" y="2097"/>
              <a:ext cx="94" cy="47"/>
            </a:xfrm>
            <a:custGeom>
              <a:avLst/>
              <a:gdLst>
                <a:gd name="T0" fmla="*/ 0 w 94"/>
                <a:gd name="T1" fmla="*/ 0 h 47"/>
                <a:gd name="T2" fmla="*/ 94 w 94"/>
                <a:gd name="T3" fmla="*/ 47 h 47"/>
                <a:gd name="T4" fmla="*/ 0 w 94"/>
                <a:gd name="T5" fmla="*/ 0 h 47"/>
                <a:gd name="T6" fmla="*/ 0 w 94"/>
                <a:gd name="T7" fmla="*/ 0 h 47"/>
                <a:gd name="T8" fmla="*/ 0 60000 65536"/>
                <a:gd name="T9" fmla="*/ 0 60000 65536"/>
                <a:gd name="T10" fmla="*/ 0 60000 65536"/>
                <a:gd name="T11" fmla="*/ 0 60000 65536"/>
                <a:gd name="T12" fmla="*/ 0 w 94"/>
                <a:gd name="T13" fmla="*/ 0 h 47"/>
                <a:gd name="T14" fmla="*/ 94 w 94"/>
                <a:gd name="T15" fmla="*/ 47 h 47"/>
              </a:gdLst>
              <a:ahLst/>
              <a:cxnLst>
                <a:cxn ang="T8">
                  <a:pos x="T0" y="T1"/>
                </a:cxn>
                <a:cxn ang="T9">
                  <a:pos x="T2" y="T3"/>
                </a:cxn>
                <a:cxn ang="T10">
                  <a:pos x="T4" y="T5"/>
                </a:cxn>
                <a:cxn ang="T11">
                  <a:pos x="T6" y="T7"/>
                </a:cxn>
              </a:cxnLst>
              <a:rect l="T12" t="T13" r="T14" b="T15"/>
              <a:pathLst>
                <a:path w="94" h="47">
                  <a:moveTo>
                    <a:pt x="0" y="0"/>
                  </a:moveTo>
                  <a:lnTo>
                    <a:pt x="94" y="47"/>
                  </a:ln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6" name="Freeform 45"/>
            <p:cNvSpPr>
              <a:spLocks noChangeAspect="1" noEditPoints="1"/>
            </p:cNvSpPr>
            <p:nvPr/>
          </p:nvSpPr>
          <p:spPr bwMode="auto">
            <a:xfrm>
              <a:off x="777" y="214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7" name="Freeform 46"/>
            <p:cNvSpPr>
              <a:spLocks noChangeAspect="1" noEditPoints="1"/>
            </p:cNvSpPr>
            <p:nvPr/>
          </p:nvSpPr>
          <p:spPr bwMode="auto">
            <a:xfrm>
              <a:off x="692" y="219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8" name="Freeform 47"/>
            <p:cNvSpPr>
              <a:spLocks noChangeAspect="1" noEditPoints="1"/>
            </p:cNvSpPr>
            <p:nvPr/>
          </p:nvSpPr>
          <p:spPr bwMode="auto">
            <a:xfrm>
              <a:off x="692" y="222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599" name="Freeform 48"/>
            <p:cNvSpPr>
              <a:spLocks noChangeAspect="1" noEditPoints="1"/>
            </p:cNvSpPr>
            <p:nvPr/>
          </p:nvSpPr>
          <p:spPr bwMode="auto">
            <a:xfrm>
              <a:off x="777" y="227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0" name="Freeform 49"/>
            <p:cNvSpPr>
              <a:spLocks noChangeAspect="1" noEditPoints="1"/>
            </p:cNvSpPr>
            <p:nvPr/>
          </p:nvSpPr>
          <p:spPr bwMode="auto">
            <a:xfrm>
              <a:off x="777" y="2276"/>
              <a:ext cx="94" cy="38"/>
            </a:xfrm>
            <a:custGeom>
              <a:avLst/>
              <a:gdLst>
                <a:gd name="T0" fmla="*/ 0 w 94"/>
                <a:gd name="T1" fmla="*/ 0 h 38"/>
                <a:gd name="T2" fmla="*/ 94 w 94"/>
                <a:gd name="T3" fmla="*/ 38 h 38"/>
                <a:gd name="T4" fmla="*/ 0 w 94"/>
                <a:gd name="T5" fmla="*/ 0 h 38"/>
                <a:gd name="T6" fmla="*/ 0 w 94"/>
                <a:gd name="T7" fmla="*/ 0 h 38"/>
                <a:gd name="T8" fmla="*/ 0 w 94"/>
                <a:gd name="T9" fmla="*/ 0 h 38"/>
                <a:gd name="T10" fmla="*/ 0 w 94"/>
                <a:gd name="T11" fmla="*/ 0 h 38"/>
                <a:gd name="T12" fmla="*/ 0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0"/>
                  </a:moveTo>
                  <a:lnTo>
                    <a:pt x="94" y="38"/>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1" name="Freeform 50"/>
            <p:cNvSpPr>
              <a:spLocks noChangeAspect="1" noEditPoints="1"/>
            </p:cNvSpPr>
            <p:nvPr/>
          </p:nvSpPr>
          <p:spPr bwMode="auto">
            <a:xfrm>
              <a:off x="777" y="231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2" name="Freeform 51"/>
            <p:cNvSpPr>
              <a:spLocks noChangeAspect="1" noEditPoints="1"/>
            </p:cNvSpPr>
            <p:nvPr/>
          </p:nvSpPr>
          <p:spPr bwMode="auto">
            <a:xfrm>
              <a:off x="692" y="236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3" name="Freeform 52"/>
            <p:cNvSpPr>
              <a:spLocks noChangeAspect="1" noEditPoints="1"/>
            </p:cNvSpPr>
            <p:nvPr/>
          </p:nvSpPr>
          <p:spPr bwMode="auto">
            <a:xfrm>
              <a:off x="692" y="239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4" name="Freeform 53"/>
            <p:cNvSpPr>
              <a:spLocks noChangeAspect="1" noEditPoints="1"/>
            </p:cNvSpPr>
            <p:nvPr/>
          </p:nvSpPr>
          <p:spPr bwMode="auto">
            <a:xfrm>
              <a:off x="777" y="2446"/>
              <a:ext cx="94" cy="38"/>
            </a:xfrm>
            <a:custGeom>
              <a:avLst/>
              <a:gdLst>
                <a:gd name="T0" fmla="*/ 0 w 94"/>
                <a:gd name="T1" fmla="*/ 0 h 38"/>
                <a:gd name="T2" fmla="*/ 94 w 94"/>
                <a:gd name="T3" fmla="*/ 38 h 38"/>
                <a:gd name="T4" fmla="*/ 0 w 94"/>
                <a:gd name="T5" fmla="*/ 0 h 38"/>
                <a:gd name="T6" fmla="*/ 0 w 94"/>
                <a:gd name="T7" fmla="*/ 0 h 38"/>
                <a:gd name="T8" fmla="*/ 0 w 94"/>
                <a:gd name="T9" fmla="*/ 0 h 38"/>
                <a:gd name="T10" fmla="*/ 0 w 94"/>
                <a:gd name="T11" fmla="*/ 0 h 38"/>
                <a:gd name="T12" fmla="*/ 0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0"/>
                  </a:moveTo>
                  <a:lnTo>
                    <a:pt x="94" y="38"/>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5" name="Freeform 54"/>
            <p:cNvSpPr>
              <a:spLocks noChangeAspect="1" noEditPoints="1"/>
            </p:cNvSpPr>
            <p:nvPr/>
          </p:nvSpPr>
          <p:spPr bwMode="auto">
            <a:xfrm>
              <a:off x="777" y="248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6" name="Freeform 55"/>
            <p:cNvSpPr>
              <a:spLocks noChangeAspect="1" noEditPoints="1"/>
            </p:cNvSpPr>
            <p:nvPr/>
          </p:nvSpPr>
          <p:spPr bwMode="auto">
            <a:xfrm>
              <a:off x="692" y="253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7" name="Freeform 56"/>
            <p:cNvSpPr>
              <a:spLocks noChangeAspect="1" noEditPoints="1"/>
            </p:cNvSpPr>
            <p:nvPr/>
          </p:nvSpPr>
          <p:spPr bwMode="auto">
            <a:xfrm>
              <a:off x="692" y="256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8" name="Freeform 57"/>
            <p:cNvSpPr>
              <a:spLocks noChangeAspect="1" noEditPoints="1"/>
            </p:cNvSpPr>
            <p:nvPr/>
          </p:nvSpPr>
          <p:spPr bwMode="auto">
            <a:xfrm>
              <a:off x="777" y="2616"/>
              <a:ext cx="94" cy="47"/>
            </a:xfrm>
            <a:custGeom>
              <a:avLst/>
              <a:gdLst>
                <a:gd name="T0" fmla="*/ 0 w 94"/>
                <a:gd name="T1" fmla="*/ 0 h 47"/>
                <a:gd name="T2" fmla="*/ 94 w 94"/>
                <a:gd name="T3" fmla="*/ 47 h 47"/>
                <a:gd name="T4" fmla="*/ 0 w 94"/>
                <a:gd name="T5" fmla="*/ 0 h 47"/>
                <a:gd name="T6" fmla="*/ 0 w 94"/>
                <a:gd name="T7" fmla="*/ 0 h 47"/>
                <a:gd name="T8" fmla="*/ 0 w 94"/>
                <a:gd name="T9" fmla="*/ 0 h 47"/>
                <a:gd name="T10" fmla="*/ 0 w 94"/>
                <a:gd name="T11" fmla="*/ 0 h 47"/>
                <a:gd name="T12" fmla="*/ 0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0"/>
                  </a:moveTo>
                  <a:lnTo>
                    <a:pt x="94"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09" name="Freeform 58"/>
            <p:cNvSpPr>
              <a:spLocks noChangeAspect="1" noEditPoints="1"/>
            </p:cNvSpPr>
            <p:nvPr/>
          </p:nvSpPr>
          <p:spPr bwMode="auto">
            <a:xfrm>
              <a:off x="777" y="2663"/>
              <a:ext cx="94" cy="38"/>
            </a:xfrm>
            <a:custGeom>
              <a:avLst/>
              <a:gdLst>
                <a:gd name="T0" fmla="*/ 94 w 94"/>
                <a:gd name="T1" fmla="*/ 0 h 38"/>
                <a:gd name="T2" fmla="*/ 0 w 94"/>
                <a:gd name="T3" fmla="*/ 38 h 38"/>
                <a:gd name="T4" fmla="*/ 94 w 94"/>
                <a:gd name="T5" fmla="*/ 0 h 38"/>
                <a:gd name="T6" fmla="*/ 94 w 94"/>
                <a:gd name="T7" fmla="*/ 0 h 38"/>
                <a:gd name="T8" fmla="*/ 94 w 94"/>
                <a:gd name="T9" fmla="*/ 0 h 38"/>
                <a:gd name="T10" fmla="*/ 94 w 94"/>
                <a:gd name="T11" fmla="*/ 0 h 38"/>
                <a:gd name="T12" fmla="*/ 94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94" y="0"/>
                  </a:moveTo>
                  <a:lnTo>
                    <a:pt x="0" y="38"/>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0" name="Freeform 59"/>
            <p:cNvSpPr>
              <a:spLocks noChangeAspect="1" noEditPoints="1"/>
            </p:cNvSpPr>
            <p:nvPr/>
          </p:nvSpPr>
          <p:spPr bwMode="auto">
            <a:xfrm>
              <a:off x="692" y="2701"/>
              <a:ext cx="85" cy="47"/>
            </a:xfrm>
            <a:custGeom>
              <a:avLst/>
              <a:gdLst>
                <a:gd name="T0" fmla="*/ 85 w 85"/>
                <a:gd name="T1" fmla="*/ 0 h 47"/>
                <a:gd name="T2" fmla="*/ 0 w 85"/>
                <a:gd name="T3" fmla="*/ 47 h 47"/>
                <a:gd name="T4" fmla="*/ 85 w 85"/>
                <a:gd name="T5" fmla="*/ 0 h 47"/>
                <a:gd name="T6" fmla="*/ 85 w 85"/>
                <a:gd name="T7" fmla="*/ 0 h 47"/>
                <a:gd name="T8" fmla="*/ 85 w 85"/>
                <a:gd name="T9" fmla="*/ 0 h 47"/>
                <a:gd name="T10" fmla="*/ 85 w 85"/>
                <a:gd name="T11" fmla="*/ 0 h 47"/>
                <a:gd name="T12" fmla="*/ 85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85" y="0"/>
                  </a:moveTo>
                  <a:lnTo>
                    <a:pt x="0" y="47"/>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1" name="Freeform 60"/>
            <p:cNvSpPr>
              <a:spLocks noChangeAspect="1" noEditPoints="1"/>
            </p:cNvSpPr>
            <p:nvPr/>
          </p:nvSpPr>
          <p:spPr bwMode="auto">
            <a:xfrm>
              <a:off x="692" y="2748"/>
              <a:ext cx="94" cy="47"/>
            </a:xfrm>
            <a:custGeom>
              <a:avLst/>
              <a:gdLst>
                <a:gd name="T0" fmla="*/ 0 w 94"/>
                <a:gd name="T1" fmla="*/ 0 h 47"/>
                <a:gd name="T2" fmla="*/ 94 w 94"/>
                <a:gd name="T3" fmla="*/ 47 h 47"/>
                <a:gd name="T4" fmla="*/ 0 w 94"/>
                <a:gd name="T5" fmla="*/ 0 h 47"/>
                <a:gd name="T6" fmla="*/ 0 w 94"/>
                <a:gd name="T7" fmla="*/ 0 h 47"/>
                <a:gd name="T8" fmla="*/ 0 w 94"/>
                <a:gd name="T9" fmla="*/ 0 h 47"/>
                <a:gd name="T10" fmla="*/ 0 w 94"/>
                <a:gd name="T11" fmla="*/ 0 h 47"/>
                <a:gd name="T12" fmla="*/ 0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0"/>
                  </a:moveTo>
                  <a:lnTo>
                    <a:pt x="94"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2" name="Freeform 61"/>
            <p:cNvSpPr>
              <a:spLocks noChangeAspect="1"/>
            </p:cNvSpPr>
            <p:nvPr/>
          </p:nvSpPr>
          <p:spPr bwMode="auto">
            <a:xfrm>
              <a:off x="2440" y="1512"/>
              <a:ext cx="587" cy="85"/>
            </a:xfrm>
            <a:custGeom>
              <a:avLst/>
              <a:gdLst>
                <a:gd name="T0" fmla="*/ 0 w 587"/>
                <a:gd name="T1" fmla="*/ 85 h 85"/>
                <a:gd name="T2" fmla="*/ 0 w 587"/>
                <a:gd name="T3" fmla="*/ 0 h 85"/>
                <a:gd name="T4" fmla="*/ 587 w 587"/>
                <a:gd name="T5" fmla="*/ 0 h 85"/>
                <a:gd name="T6" fmla="*/ 587 w 587"/>
                <a:gd name="T7" fmla="*/ 85 h 85"/>
                <a:gd name="T8" fmla="*/ 0 w 587"/>
                <a:gd name="T9" fmla="*/ 85 h 85"/>
                <a:gd name="T10" fmla="*/ 0 w 587"/>
                <a:gd name="T11" fmla="*/ 85 h 85"/>
                <a:gd name="T12" fmla="*/ 0 60000 65536"/>
                <a:gd name="T13" fmla="*/ 0 60000 65536"/>
                <a:gd name="T14" fmla="*/ 0 60000 65536"/>
                <a:gd name="T15" fmla="*/ 0 60000 65536"/>
                <a:gd name="T16" fmla="*/ 0 60000 65536"/>
                <a:gd name="T17" fmla="*/ 0 60000 65536"/>
                <a:gd name="T18" fmla="*/ 0 w 587"/>
                <a:gd name="T19" fmla="*/ 0 h 85"/>
                <a:gd name="T20" fmla="*/ 587 w 587"/>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587" h="85">
                  <a:moveTo>
                    <a:pt x="0" y="85"/>
                  </a:moveTo>
                  <a:lnTo>
                    <a:pt x="0" y="0"/>
                  </a:lnTo>
                  <a:lnTo>
                    <a:pt x="587" y="0"/>
                  </a:lnTo>
                  <a:lnTo>
                    <a:pt x="587" y="85"/>
                  </a:lnTo>
                  <a:lnTo>
                    <a:pt x="0" y="85"/>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3" name="Freeform 62"/>
            <p:cNvSpPr>
              <a:spLocks noChangeAspect="1"/>
            </p:cNvSpPr>
            <p:nvPr/>
          </p:nvSpPr>
          <p:spPr bwMode="auto">
            <a:xfrm>
              <a:off x="2998" y="1549"/>
              <a:ext cx="38" cy="104"/>
            </a:xfrm>
            <a:custGeom>
              <a:avLst/>
              <a:gdLst>
                <a:gd name="T0" fmla="*/ 38 w 38"/>
                <a:gd name="T1" fmla="*/ 0 h 104"/>
                <a:gd name="T2" fmla="*/ 0 w 38"/>
                <a:gd name="T3" fmla="*/ 104 h 104"/>
                <a:gd name="T4" fmla="*/ 38 w 38"/>
                <a:gd name="T5" fmla="*/ 0 h 104"/>
                <a:gd name="T6" fmla="*/ 38 w 38"/>
                <a:gd name="T7" fmla="*/ 0 h 104"/>
                <a:gd name="T8" fmla="*/ 0 60000 65536"/>
                <a:gd name="T9" fmla="*/ 0 60000 65536"/>
                <a:gd name="T10" fmla="*/ 0 60000 65536"/>
                <a:gd name="T11" fmla="*/ 0 60000 65536"/>
                <a:gd name="T12" fmla="*/ 0 w 38"/>
                <a:gd name="T13" fmla="*/ 0 h 104"/>
                <a:gd name="T14" fmla="*/ 38 w 38"/>
                <a:gd name="T15" fmla="*/ 104 h 104"/>
              </a:gdLst>
              <a:ahLst/>
              <a:cxnLst>
                <a:cxn ang="T8">
                  <a:pos x="T0" y="T1"/>
                </a:cxn>
                <a:cxn ang="T9">
                  <a:pos x="T2" y="T3"/>
                </a:cxn>
                <a:cxn ang="T10">
                  <a:pos x="T4" y="T5"/>
                </a:cxn>
                <a:cxn ang="T11">
                  <a:pos x="T6" y="T7"/>
                </a:cxn>
              </a:cxnLst>
              <a:rect l="T12" t="T13" r="T14" b="T15"/>
              <a:pathLst>
                <a:path w="38" h="104">
                  <a:moveTo>
                    <a:pt x="38" y="0"/>
                  </a:moveTo>
                  <a:lnTo>
                    <a:pt x="0" y="104"/>
                  </a:ln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4" name="Freeform 63"/>
            <p:cNvSpPr>
              <a:spLocks noChangeAspect="1" noEditPoints="1"/>
            </p:cNvSpPr>
            <p:nvPr/>
          </p:nvSpPr>
          <p:spPr bwMode="auto">
            <a:xfrm>
              <a:off x="2960"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5" name="Freeform 64"/>
            <p:cNvSpPr>
              <a:spLocks noChangeAspect="1" noEditPoints="1"/>
            </p:cNvSpPr>
            <p:nvPr/>
          </p:nvSpPr>
          <p:spPr bwMode="auto">
            <a:xfrm>
              <a:off x="2923" y="1455"/>
              <a:ext cx="37" cy="94"/>
            </a:xfrm>
            <a:custGeom>
              <a:avLst/>
              <a:gdLst>
                <a:gd name="T0" fmla="*/ 37 w 37"/>
                <a:gd name="T1" fmla="*/ 94 h 94"/>
                <a:gd name="T2" fmla="*/ 0 w 37"/>
                <a:gd name="T3" fmla="*/ 0 h 94"/>
                <a:gd name="T4" fmla="*/ 37 w 37"/>
                <a:gd name="T5" fmla="*/ 94 h 94"/>
                <a:gd name="T6" fmla="*/ 37 w 37"/>
                <a:gd name="T7" fmla="*/ 94 h 94"/>
                <a:gd name="T8" fmla="*/ 37 w 37"/>
                <a:gd name="T9" fmla="*/ 94 h 94"/>
                <a:gd name="T10" fmla="*/ 37 w 37"/>
                <a:gd name="T11" fmla="*/ 94 h 94"/>
                <a:gd name="T12" fmla="*/ 37 w 37"/>
                <a:gd name="T13" fmla="*/ 94 h 94"/>
                <a:gd name="T14" fmla="*/ 0 60000 65536"/>
                <a:gd name="T15" fmla="*/ 0 60000 65536"/>
                <a:gd name="T16" fmla="*/ 0 60000 65536"/>
                <a:gd name="T17" fmla="*/ 0 60000 65536"/>
                <a:gd name="T18" fmla="*/ 0 60000 65536"/>
                <a:gd name="T19" fmla="*/ 0 60000 65536"/>
                <a:gd name="T20" fmla="*/ 0 60000 65536"/>
                <a:gd name="T21" fmla="*/ 0 w 37"/>
                <a:gd name="T22" fmla="*/ 0 h 94"/>
                <a:gd name="T23" fmla="*/ 37 w 37"/>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94">
                  <a:moveTo>
                    <a:pt x="37" y="94"/>
                  </a:moveTo>
                  <a:lnTo>
                    <a:pt x="0" y="0"/>
                  </a:lnTo>
                  <a:lnTo>
                    <a:pt x="37" y="94"/>
                  </a:lnTo>
                  <a:close/>
                  <a:moveTo>
                    <a:pt x="37" y="94"/>
                  </a:moveTo>
                  <a:lnTo>
                    <a:pt x="37"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6" name="Freeform 65"/>
            <p:cNvSpPr>
              <a:spLocks noChangeAspect="1" noEditPoints="1"/>
            </p:cNvSpPr>
            <p:nvPr/>
          </p:nvSpPr>
          <p:spPr bwMode="auto">
            <a:xfrm>
              <a:off x="2885"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7" name="Freeform 66"/>
            <p:cNvSpPr>
              <a:spLocks noChangeAspect="1" noEditPoints="1"/>
            </p:cNvSpPr>
            <p:nvPr/>
          </p:nvSpPr>
          <p:spPr bwMode="auto">
            <a:xfrm>
              <a:off x="2885" y="1549"/>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8" name="Freeform 67"/>
            <p:cNvSpPr>
              <a:spLocks noChangeAspect="1" noEditPoints="1"/>
            </p:cNvSpPr>
            <p:nvPr/>
          </p:nvSpPr>
          <p:spPr bwMode="auto">
            <a:xfrm>
              <a:off x="2847"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19" name="Freeform 68"/>
            <p:cNvSpPr>
              <a:spLocks noChangeAspect="1" noEditPoints="1"/>
            </p:cNvSpPr>
            <p:nvPr/>
          </p:nvSpPr>
          <p:spPr bwMode="auto">
            <a:xfrm>
              <a:off x="2809"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0" name="Freeform 69"/>
            <p:cNvSpPr>
              <a:spLocks noChangeAspect="1" noEditPoints="1"/>
            </p:cNvSpPr>
            <p:nvPr/>
          </p:nvSpPr>
          <p:spPr bwMode="auto">
            <a:xfrm>
              <a:off x="2771"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1" name="Freeform 70"/>
            <p:cNvSpPr>
              <a:spLocks noChangeAspect="1" noEditPoints="1"/>
            </p:cNvSpPr>
            <p:nvPr/>
          </p:nvSpPr>
          <p:spPr bwMode="auto">
            <a:xfrm>
              <a:off x="2733"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2" name="Freeform 71"/>
            <p:cNvSpPr>
              <a:spLocks noChangeAspect="1" noEditPoints="1"/>
            </p:cNvSpPr>
            <p:nvPr/>
          </p:nvSpPr>
          <p:spPr bwMode="auto">
            <a:xfrm>
              <a:off x="2696" y="1549"/>
              <a:ext cx="37" cy="104"/>
            </a:xfrm>
            <a:custGeom>
              <a:avLst/>
              <a:gdLst>
                <a:gd name="T0" fmla="*/ 37 w 37"/>
                <a:gd name="T1" fmla="*/ 0 h 104"/>
                <a:gd name="T2" fmla="*/ 0 w 37"/>
                <a:gd name="T3" fmla="*/ 104 h 104"/>
                <a:gd name="T4" fmla="*/ 37 w 37"/>
                <a:gd name="T5" fmla="*/ 0 h 104"/>
                <a:gd name="T6" fmla="*/ 37 w 37"/>
                <a:gd name="T7" fmla="*/ 0 h 104"/>
                <a:gd name="T8" fmla="*/ 37 w 37"/>
                <a:gd name="T9" fmla="*/ 0 h 104"/>
                <a:gd name="T10" fmla="*/ 37 w 37"/>
                <a:gd name="T11" fmla="*/ 0 h 104"/>
                <a:gd name="T12" fmla="*/ 37 w 37"/>
                <a:gd name="T13" fmla="*/ 0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0"/>
                  </a:moveTo>
                  <a:lnTo>
                    <a:pt x="0" y="104"/>
                  </a:lnTo>
                  <a:lnTo>
                    <a:pt x="37" y="0"/>
                  </a:lnTo>
                  <a:close/>
                  <a:moveTo>
                    <a:pt x="37" y="0"/>
                  </a:move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3" name="Freeform 72"/>
            <p:cNvSpPr>
              <a:spLocks noChangeAspect="1" noEditPoints="1"/>
            </p:cNvSpPr>
            <p:nvPr/>
          </p:nvSpPr>
          <p:spPr bwMode="auto">
            <a:xfrm>
              <a:off x="2658"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4" name="Freeform 73"/>
            <p:cNvSpPr>
              <a:spLocks noChangeAspect="1" noEditPoints="1"/>
            </p:cNvSpPr>
            <p:nvPr/>
          </p:nvSpPr>
          <p:spPr bwMode="auto">
            <a:xfrm>
              <a:off x="2620"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5" name="Freeform 74"/>
            <p:cNvSpPr>
              <a:spLocks noChangeAspect="1" noEditPoints="1"/>
            </p:cNvSpPr>
            <p:nvPr/>
          </p:nvSpPr>
          <p:spPr bwMode="auto">
            <a:xfrm>
              <a:off x="2582"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6" name="Freeform 75"/>
            <p:cNvSpPr>
              <a:spLocks noChangeAspect="1" noEditPoints="1"/>
            </p:cNvSpPr>
            <p:nvPr/>
          </p:nvSpPr>
          <p:spPr bwMode="auto">
            <a:xfrm>
              <a:off x="2544"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7" name="Freeform 76"/>
            <p:cNvSpPr>
              <a:spLocks noChangeAspect="1" noEditPoints="1"/>
            </p:cNvSpPr>
            <p:nvPr/>
          </p:nvSpPr>
          <p:spPr bwMode="auto">
            <a:xfrm>
              <a:off x="2507" y="1549"/>
              <a:ext cx="37" cy="104"/>
            </a:xfrm>
            <a:custGeom>
              <a:avLst/>
              <a:gdLst>
                <a:gd name="T0" fmla="*/ 37 w 37"/>
                <a:gd name="T1" fmla="*/ 104 h 104"/>
                <a:gd name="T2" fmla="*/ 0 w 37"/>
                <a:gd name="T3" fmla="*/ 0 h 104"/>
                <a:gd name="T4" fmla="*/ 37 w 37"/>
                <a:gd name="T5" fmla="*/ 104 h 104"/>
                <a:gd name="T6" fmla="*/ 37 w 37"/>
                <a:gd name="T7" fmla="*/ 104 h 104"/>
                <a:gd name="T8" fmla="*/ 37 w 37"/>
                <a:gd name="T9" fmla="*/ 104 h 104"/>
                <a:gd name="T10" fmla="*/ 37 w 37"/>
                <a:gd name="T11" fmla="*/ 104 h 104"/>
                <a:gd name="T12" fmla="*/ 37 w 37"/>
                <a:gd name="T13" fmla="*/ 104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104"/>
                  </a:moveTo>
                  <a:lnTo>
                    <a:pt x="0" y="0"/>
                  </a:lnTo>
                  <a:lnTo>
                    <a:pt x="37" y="104"/>
                  </a:lnTo>
                  <a:close/>
                  <a:moveTo>
                    <a:pt x="37" y="104"/>
                  </a:moveTo>
                  <a:lnTo>
                    <a:pt x="37"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8" name="Freeform 77"/>
            <p:cNvSpPr>
              <a:spLocks noChangeAspect="1" noEditPoints="1"/>
            </p:cNvSpPr>
            <p:nvPr/>
          </p:nvSpPr>
          <p:spPr bwMode="auto">
            <a:xfrm>
              <a:off x="2469"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29" name="Freeform 78"/>
            <p:cNvSpPr>
              <a:spLocks noChangeAspect="1" noEditPoints="1"/>
            </p:cNvSpPr>
            <p:nvPr/>
          </p:nvSpPr>
          <p:spPr bwMode="auto">
            <a:xfrm>
              <a:off x="2422" y="1455"/>
              <a:ext cx="47" cy="104"/>
            </a:xfrm>
            <a:custGeom>
              <a:avLst/>
              <a:gdLst>
                <a:gd name="T0" fmla="*/ 47 w 47"/>
                <a:gd name="T1" fmla="*/ 0 h 104"/>
                <a:gd name="T2" fmla="*/ 0 w 47"/>
                <a:gd name="T3" fmla="*/ 104 h 104"/>
                <a:gd name="T4" fmla="*/ 47 w 47"/>
                <a:gd name="T5" fmla="*/ 0 h 104"/>
                <a:gd name="T6" fmla="*/ 47 w 47"/>
                <a:gd name="T7" fmla="*/ 0 h 104"/>
                <a:gd name="T8" fmla="*/ 47 w 47"/>
                <a:gd name="T9" fmla="*/ 0 h 104"/>
                <a:gd name="T10" fmla="*/ 47 w 47"/>
                <a:gd name="T11" fmla="*/ 0 h 104"/>
                <a:gd name="T12" fmla="*/ 47 w 47"/>
                <a:gd name="T13" fmla="*/ 0 h 104"/>
                <a:gd name="T14" fmla="*/ 0 60000 65536"/>
                <a:gd name="T15" fmla="*/ 0 60000 65536"/>
                <a:gd name="T16" fmla="*/ 0 60000 65536"/>
                <a:gd name="T17" fmla="*/ 0 60000 65536"/>
                <a:gd name="T18" fmla="*/ 0 60000 65536"/>
                <a:gd name="T19" fmla="*/ 0 60000 65536"/>
                <a:gd name="T20" fmla="*/ 0 60000 65536"/>
                <a:gd name="T21" fmla="*/ 0 w 47"/>
                <a:gd name="T22" fmla="*/ 0 h 104"/>
                <a:gd name="T23" fmla="*/ 47 w 4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104">
                  <a:moveTo>
                    <a:pt x="47" y="0"/>
                  </a:moveTo>
                  <a:lnTo>
                    <a:pt x="0" y="104"/>
                  </a:lnTo>
                  <a:lnTo>
                    <a:pt x="47" y="0"/>
                  </a:lnTo>
                  <a:close/>
                  <a:moveTo>
                    <a:pt x="47" y="0"/>
                  </a:moveTo>
                  <a:lnTo>
                    <a:pt x="4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0" name="Freeform 79"/>
            <p:cNvSpPr>
              <a:spLocks noChangeAspect="1"/>
            </p:cNvSpPr>
            <p:nvPr/>
          </p:nvSpPr>
          <p:spPr bwMode="auto">
            <a:xfrm>
              <a:off x="3764" y="1512"/>
              <a:ext cx="586" cy="85"/>
            </a:xfrm>
            <a:custGeom>
              <a:avLst/>
              <a:gdLst>
                <a:gd name="T0" fmla="*/ 0 w 586"/>
                <a:gd name="T1" fmla="*/ 85 h 85"/>
                <a:gd name="T2" fmla="*/ 0 w 586"/>
                <a:gd name="T3" fmla="*/ 0 h 85"/>
                <a:gd name="T4" fmla="*/ 586 w 586"/>
                <a:gd name="T5" fmla="*/ 0 h 85"/>
                <a:gd name="T6" fmla="*/ 586 w 586"/>
                <a:gd name="T7" fmla="*/ 85 h 85"/>
                <a:gd name="T8" fmla="*/ 0 w 586"/>
                <a:gd name="T9" fmla="*/ 85 h 85"/>
                <a:gd name="T10" fmla="*/ 0 w 586"/>
                <a:gd name="T11" fmla="*/ 85 h 85"/>
                <a:gd name="T12" fmla="*/ 0 60000 65536"/>
                <a:gd name="T13" fmla="*/ 0 60000 65536"/>
                <a:gd name="T14" fmla="*/ 0 60000 65536"/>
                <a:gd name="T15" fmla="*/ 0 60000 65536"/>
                <a:gd name="T16" fmla="*/ 0 60000 65536"/>
                <a:gd name="T17" fmla="*/ 0 60000 65536"/>
                <a:gd name="T18" fmla="*/ 0 w 586"/>
                <a:gd name="T19" fmla="*/ 0 h 85"/>
                <a:gd name="T20" fmla="*/ 586 w 586"/>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586" h="85">
                  <a:moveTo>
                    <a:pt x="0" y="85"/>
                  </a:moveTo>
                  <a:lnTo>
                    <a:pt x="0" y="0"/>
                  </a:lnTo>
                  <a:lnTo>
                    <a:pt x="586" y="0"/>
                  </a:lnTo>
                  <a:lnTo>
                    <a:pt x="586" y="85"/>
                  </a:lnTo>
                  <a:lnTo>
                    <a:pt x="0" y="85"/>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1" name="Freeform 80"/>
            <p:cNvSpPr>
              <a:spLocks noChangeAspect="1"/>
            </p:cNvSpPr>
            <p:nvPr/>
          </p:nvSpPr>
          <p:spPr bwMode="auto">
            <a:xfrm>
              <a:off x="4322" y="1549"/>
              <a:ext cx="37" cy="104"/>
            </a:xfrm>
            <a:custGeom>
              <a:avLst/>
              <a:gdLst>
                <a:gd name="T0" fmla="*/ 37 w 37"/>
                <a:gd name="T1" fmla="*/ 0 h 104"/>
                <a:gd name="T2" fmla="*/ 0 w 37"/>
                <a:gd name="T3" fmla="*/ 104 h 104"/>
                <a:gd name="T4" fmla="*/ 37 w 37"/>
                <a:gd name="T5" fmla="*/ 0 h 104"/>
                <a:gd name="T6" fmla="*/ 37 w 37"/>
                <a:gd name="T7" fmla="*/ 0 h 104"/>
                <a:gd name="T8" fmla="*/ 0 60000 65536"/>
                <a:gd name="T9" fmla="*/ 0 60000 65536"/>
                <a:gd name="T10" fmla="*/ 0 60000 65536"/>
                <a:gd name="T11" fmla="*/ 0 60000 65536"/>
                <a:gd name="T12" fmla="*/ 0 w 37"/>
                <a:gd name="T13" fmla="*/ 0 h 104"/>
                <a:gd name="T14" fmla="*/ 37 w 37"/>
                <a:gd name="T15" fmla="*/ 104 h 104"/>
              </a:gdLst>
              <a:ahLst/>
              <a:cxnLst>
                <a:cxn ang="T8">
                  <a:pos x="T0" y="T1"/>
                </a:cxn>
                <a:cxn ang="T9">
                  <a:pos x="T2" y="T3"/>
                </a:cxn>
                <a:cxn ang="T10">
                  <a:pos x="T4" y="T5"/>
                </a:cxn>
                <a:cxn ang="T11">
                  <a:pos x="T6" y="T7"/>
                </a:cxn>
              </a:cxnLst>
              <a:rect l="T12" t="T13" r="T14" b="T15"/>
              <a:pathLst>
                <a:path w="37" h="104">
                  <a:moveTo>
                    <a:pt x="37" y="0"/>
                  </a:moveTo>
                  <a:lnTo>
                    <a:pt x="0" y="104"/>
                  </a:ln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2" name="Freeform 81"/>
            <p:cNvSpPr>
              <a:spLocks noChangeAspect="1" noEditPoints="1"/>
            </p:cNvSpPr>
            <p:nvPr/>
          </p:nvSpPr>
          <p:spPr bwMode="auto">
            <a:xfrm>
              <a:off x="4284"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3" name="Freeform 82"/>
            <p:cNvSpPr>
              <a:spLocks noChangeAspect="1" noEditPoints="1"/>
            </p:cNvSpPr>
            <p:nvPr/>
          </p:nvSpPr>
          <p:spPr bwMode="auto">
            <a:xfrm>
              <a:off x="4246"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4" name="Freeform 83"/>
            <p:cNvSpPr>
              <a:spLocks noChangeAspect="1" noEditPoints="1"/>
            </p:cNvSpPr>
            <p:nvPr/>
          </p:nvSpPr>
          <p:spPr bwMode="auto">
            <a:xfrm>
              <a:off x="4208"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5" name="Freeform 84"/>
            <p:cNvSpPr>
              <a:spLocks noChangeAspect="1" noEditPoints="1"/>
            </p:cNvSpPr>
            <p:nvPr/>
          </p:nvSpPr>
          <p:spPr bwMode="auto">
            <a:xfrm>
              <a:off x="4208" y="1549"/>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6" name="Freeform 85"/>
            <p:cNvSpPr>
              <a:spLocks noChangeAspect="1" noEditPoints="1"/>
            </p:cNvSpPr>
            <p:nvPr/>
          </p:nvSpPr>
          <p:spPr bwMode="auto">
            <a:xfrm>
              <a:off x="4170"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7" name="Freeform 86"/>
            <p:cNvSpPr>
              <a:spLocks noChangeAspect="1" noEditPoints="1"/>
            </p:cNvSpPr>
            <p:nvPr/>
          </p:nvSpPr>
          <p:spPr bwMode="auto">
            <a:xfrm>
              <a:off x="4133" y="1549"/>
              <a:ext cx="37" cy="104"/>
            </a:xfrm>
            <a:custGeom>
              <a:avLst/>
              <a:gdLst>
                <a:gd name="T0" fmla="*/ 37 w 37"/>
                <a:gd name="T1" fmla="*/ 104 h 104"/>
                <a:gd name="T2" fmla="*/ 0 w 37"/>
                <a:gd name="T3" fmla="*/ 0 h 104"/>
                <a:gd name="T4" fmla="*/ 37 w 37"/>
                <a:gd name="T5" fmla="*/ 104 h 104"/>
                <a:gd name="T6" fmla="*/ 37 w 37"/>
                <a:gd name="T7" fmla="*/ 104 h 104"/>
                <a:gd name="T8" fmla="*/ 37 w 37"/>
                <a:gd name="T9" fmla="*/ 104 h 104"/>
                <a:gd name="T10" fmla="*/ 37 w 37"/>
                <a:gd name="T11" fmla="*/ 104 h 104"/>
                <a:gd name="T12" fmla="*/ 37 w 37"/>
                <a:gd name="T13" fmla="*/ 104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104"/>
                  </a:moveTo>
                  <a:lnTo>
                    <a:pt x="0" y="0"/>
                  </a:lnTo>
                  <a:lnTo>
                    <a:pt x="37" y="104"/>
                  </a:lnTo>
                  <a:close/>
                  <a:moveTo>
                    <a:pt x="37" y="104"/>
                  </a:moveTo>
                  <a:lnTo>
                    <a:pt x="37"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8" name="Freeform 87"/>
            <p:cNvSpPr>
              <a:spLocks noChangeAspect="1" noEditPoints="1"/>
            </p:cNvSpPr>
            <p:nvPr/>
          </p:nvSpPr>
          <p:spPr bwMode="auto">
            <a:xfrm>
              <a:off x="4095"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39" name="Freeform 88"/>
            <p:cNvSpPr>
              <a:spLocks noChangeAspect="1" noEditPoints="1"/>
            </p:cNvSpPr>
            <p:nvPr/>
          </p:nvSpPr>
          <p:spPr bwMode="auto">
            <a:xfrm>
              <a:off x="4057"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0" name="Freeform 89"/>
            <p:cNvSpPr>
              <a:spLocks noChangeAspect="1" noEditPoints="1"/>
            </p:cNvSpPr>
            <p:nvPr/>
          </p:nvSpPr>
          <p:spPr bwMode="auto">
            <a:xfrm>
              <a:off x="4019"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1" name="Freeform 90"/>
            <p:cNvSpPr>
              <a:spLocks noChangeAspect="1" noEditPoints="1"/>
            </p:cNvSpPr>
            <p:nvPr/>
          </p:nvSpPr>
          <p:spPr bwMode="auto">
            <a:xfrm>
              <a:off x="3981"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2" name="Freeform 91"/>
            <p:cNvSpPr>
              <a:spLocks noChangeAspect="1" noEditPoints="1"/>
            </p:cNvSpPr>
            <p:nvPr/>
          </p:nvSpPr>
          <p:spPr bwMode="auto">
            <a:xfrm>
              <a:off x="3943"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3" name="Freeform 92"/>
            <p:cNvSpPr>
              <a:spLocks noChangeAspect="1" noEditPoints="1"/>
            </p:cNvSpPr>
            <p:nvPr/>
          </p:nvSpPr>
          <p:spPr bwMode="auto">
            <a:xfrm>
              <a:off x="3906" y="1455"/>
              <a:ext cx="37" cy="94"/>
            </a:xfrm>
            <a:custGeom>
              <a:avLst/>
              <a:gdLst>
                <a:gd name="T0" fmla="*/ 37 w 37"/>
                <a:gd name="T1" fmla="*/ 0 h 94"/>
                <a:gd name="T2" fmla="*/ 0 w 37"/>
                <a:gd name="T3" fmla="*/ 94 h 94"/>
                <a:gd name="T4" fmla="*/ 37 w 37"/>
                <a:gd name="T5" fmla="*/ 0 h 94"/>
                <a:gd name="T6" fmla="*/ 37 w 37"/>
                <a:gd name="T7" fmla="*/ 0 h 94"/>
                <a:gd name="T8" fmla="*/ 37 w 37"/>
                <a:gd name="T9" fmla="*/ 0 h 94"/>
                <a:gd name="T10" fmla="*/ 37 w 37"/>
                <a:gd name="T11" fmla="*/ 0 h 94"/>
                <a:gd name="T12" fmla="*/ 37 w 37"/>
                <a:gd name="T13" fmla="*/ 0 h 94"/>
                <a:gd name="T14" fmla="*/ 0 60000 65536"/>
                <a:gd name="T15" fmla="*/ 0 60000 65536"/>
                <a:gd name="T16" fmla="*/ 0 60000 65536"/>
                <a:gd name="T17" fmla="*/ 0 60000 65536"/>
                <a:gd name="T18" fmla="*/ 0 60000 65536"/>
                <a:gd name="T19" fmla="*/ 0 60000 65536"/>
                <a:gd name="T20" fmla="*/ 0 60000 65536"/>
                <a:gd name="T21" fmla="*/ 0 w 37"/>
                <a:gd name="T22" fmla="*/ 0 h 94"/>
                <a:gd name="T23" fmla="*/ 37 w 37"/>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94">
                  <a:moveTo>
                    <a:pt x="37" y="0"/>
                  </a:moveTo>
                  <a:lnTo>
                    <a:pt x="0" y="94"/>
                  </a:lnTo>
                  <a:lnTo>
                    <a:pt x="37" y="0"/>
                  </a:lnTo>
                  <a:close/>
                  <a:moveTo>
                    <a:pt x="37" y="0"/>
                  </a:move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4" name="Freeform 93"/>
            <p:cNvSpPr>
              <a:spLocks noChangeAspect="1" noEditPoints="1"/>
            </p:cNvSpPr>
            <p:nvPr/>
          </p:nvSpPr>
          <p:spPr bwMode="auto">
            <a:xfrm>
              <a:off x="3868"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5" name="Freeform 94"/>
            <p:cNvSpPr>
              <a:spLocks noChangeAspect="1" noEditPoints="1"/>
            </p:cNvSpPr>
            <p:nvPr/>
          </p:nvSpPr>
          <p:spPr bwMode="auto">
            <a:xfrm>
              <a:off x="3830"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6" name="Freeform 95"/>
            <p:cNvSpPr>
              <a:spLocks noChangeAspect="1" noEditPoints="1"/>
            </p:cNvSpPr>
            <p:nvPr/>
          </p:nvSpPr>
          <p:spPr bwMode="auto">
            <a:xfrm>
              <a:off x="3792"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7" name="Freeform 96"/>
            <p:cNvSpPr>
              <a:spLocks noChangeAspect="1" noEditPoints="1"/>
            </p:cNvSpPr>
            <p:nvPr/>
          </p:nvSpPr>
          <p:spPr bwMode="auto">
            <a:xfrm>
              <a:off x="3754" y="1455"/>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8" name="Freeform 97"/>
            <p:cNvSpPr>
              <a:spLocks noChangeAspect="1"/>
            </p:cNvSpPr>
            <p:nvPr/>
          </p:nvSpPr>
          <p:spPr bwMode="auto">
            <a:xfrm>
              <a:off x="3357" y="2106"/>
              <a:ext cx="67" cy="670"/>
            </a:xfrm>
            <a:custGeom>
              <a:avLst/>
              <a:gdLst>
                <a:gd name="T0" fmla="*/ 0 w 67"/>
                <a:gd name="T1" fmla="*/ 0 h 670"/>
                <a:gd name="T2" fmla="*/ 67 w 67"/>
                <a:gd name="T3" fmla="*/ 0 h 670"/>
                <a:gd name="T4" fmla="*/ 67 w 67"/>
                <a:gd name="T5" fmla="*/ 670 h 670"/>
                <a:gd name="T6" fmla="*/ 0 w 67"/>
                <a:gd name="T7" fmla="*/ 670 h 670"/>
                <a:gd name="T8" fmla="*/ 0 w 67"/>
                <a:gd name="T9" fmla="*/ 0 h 670"/>
                <a:gd name="T10" fmla="*/ 0 w 67"/>
                <a:gd name="T11" fmla="*/ 0 h 670"/>
                <a:gd name="T12" fmla="*/ 0 60000 65536"/>
                <a:gd name="T13" fmla="*/ 0 60000 65536"/>
                <a:gd name="T14" fmla="*/ 0 60000 65536"/>
                <a:gd name="T15" fmla="*/ 0 60000 65536"/>
                <a:gd name="T16" fmla="*/ 0 60000 65536"/>
                <a:gd name="T17" fmla="*/ 0 60000 65536"/>
                <a:gd name="T18" fmla="*/ 0 w 67"/>
                <a:gd name="T19" fmla="*/ 0 h 670"/>
                <a:gd name="T20" fmla="*/ 67 w 67"/>
                <a:gd name="T21" fmla="*/ 670 h 670"/>
              </a:gdLst>
              <a:ahLst/>
              <a:cxnLst>
                <a:cxn ang="T12">
                  <a:pos x="T0" y="T1"/>
                </a:cxn>
                <a:cxn ang="T13">
                  <a:pos x="T2" y="T3"/>
                </a:cxn>
                <a:cxn ang="T14">
                  <a:pos x="T4" y="T5"/>
                </a:cxn>
                <a:cxn ang="T15">
                  <a:pos x="T6" y="T7"/>
                </a:cxn>
                <a:cxn ang="T16">
                  <a:pos x="T8" y="T9"/>
                </a:cxn>
                <a:cxn ang="T17">
                  <a:pos x="T10" y="T11"/>
                </a:cxn>
              </a:cxnLst>
              <a:rect l="T18" t="T19" r="T20" b="T21"/>
              <a:pathLst>
                <a:path w="67" h="670">
                  <a:moveTo>
                    <a:pt x="0" y="0"/>
                  </a:moveTo>
                  <a:lnTo>
                    <a:pt x="67" y="0"/>
                  </a:lnTo>
                  <a:lnTo>
                    <a:pt x="67" y="670"/>
                  </a:lnTo>
                  <a:lnTo>
                    <a:pt x="0" y="670"/>
                  </a:lnTo>
                  <a:lnTo>
                    <a:pt x="0" y="0"/>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49" name="Freeform 98"/>
            <p:cNvSpPr>
              <a:spLocks noChangeAspect="1"/>
            </p:cNvSpPr>
            <p:nvPr/>
          </p:nvSpPr>
          <p:spPr bwMode="auto">
            <a:xfrm>
              <a:off x="3301" y="2748"/>
              <a:ext cx="94" cy="38"/>
            </a:xfrm>
            <a:custGeom>
              <a:avLst/>
              <a:gdLst>
                <a:gd name="T0" fmla="*/ 94 w 94"/>
                <a:gd name="T1" fmla="*/ 38 h 38"/>
                <a:gd name="T2" fmla="*/ 0 w 94"/>
                <a:gd name="T3" fmla="*/ 0 h 38"/>
                <a:gd name="T4" fmla="*/ 94 w 94"/>
                <a:gd name="T5" fmla="*/ 38 h 38"/>
                <a:gd name="T6" fmla="*/ 94 w 94"/>
                <a:gd name="T7" fmla="*/ 38 h 38"/>
                <a:gd name="T8" fmla="*/ 0 60000 65536"/>
                <a:gd name="T9" fmla="*/ 0 60000 65536"/>
                <a:gd name="T10" fmla="*/ 0 60000 65536"/>
                <a:gd name="T11" fmla="*/ 0 60000 65536"/>
                <a:gd name="T12" fmla="*/ 0 w 94"/>
                <a:gd name="T13" fmla="*/ 0 h 38"/>
                <a:gd name="T14" fmla="*/ 94 w 94"/>
                <a:gd name="T15" fmla="*/ 38 h 38"/>
              </a:gdLst>
              <a:ahLst/>
              <a:cxnLst>
                <a:cxn ang="T8">
                  <a:pos x="T0" y="T1"/>
                </a:cxn>
                <a:cxn ang="T9">
                  <a:pos x="T2" y="T3"/>
                </a:cxn>
                <a:cxn ang="T10">
                  <a:pos x="T4" y="T5"/>
                </a:cxn>
                <a:cxn ang="T11">
                  <a:pos x="T6" y="T7"/>
                </a:cxn>
              </a:cxnLst>
              <a:rect l="T12" t="T13" r="T14" b="T15"/>
              <a:pathLst>
                <a:path w="94" h="38">
                  <a:moveTo>
                    <a:pt x="94" y="38"/>
                  </a:moveTo>
                  <a:lnTo>
                    <a:pt x="0" y="0"/>
                  </a:lnTo>
                  <a:lnTo>
                    <a:pt x="94"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0" name="Freeform 99"/>
            <p:cNvSpPr>
              <a:spLocks noChangeAspect="1" noEditPoints="1"/>
            </p:cNvSpPr>
            <p:nvPr/>
          </p:nvSpPr>
          <p:spPr bwMode="auto">
            <a:xfrm>
              <a:off x="3301" y="2701"/>
              <a:ext cx="94" cy="47"/>
            </a:xfrm>
            <a:custGeom>
              <a:avLst/>
              <a:gdLst>
                <a:gd name="T0" fmla="*/ 0 w 94"/>
                <a:gd name="T1" fmla="*/ 47 h 47"/>
                <a:gd name="T2" fmla="*/ 94 w 94"/>
                <a:gd name="T3" fmla="*/ 0 h 47"/>
                <a:gd name="T4" fmla="*/ 0 w 94"/>
                <a:gd name="T5" fmla="*/ 47 h 47"/>
                <a:gd name="T6" fmla="*/ 0 w 94"/>
                <a:gd name="T7" fmla="*/ 47 h 47"/>
                <a:gd name="T8" fmla="*/ 0 w 94"/>
                <a:gd name="T9" fmla="*/ 47 h 47"/>
                <a:gd name="T10" fmla="*/ 0 w 94"/>
                <a:gd name="T11" fmla="*/ 47 h 47"/>
                <a:gd name="T12" fmla="*/ 0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47"/>
                  </a:moveTo>
                  <a:lnTo>
                    <a:pt x="94"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1" name="Freeform 100"/>
            <p:cNvSpPr>
              <a:spLocks noChangeAspect="1" noEditPoints="1"/>
            </p:cNvSpPr>
            <p:nvPr/>
          </p:nvSpPr>
          <p:spPr bwMode="auto">
            <a:xfrm>
              <a:off x="3395" y="2663"/>
              <a:ext cx="85" cy="38"/>
            </a:xfrm>
            <a:custGeom>
              <a:avLst/>
              <a:gdLst>
                <a:gd name="T0" fmla="*/ 0 w 85"/>
                <a:gd name="T1" fmla="*/ 38 h 38"/>
                <a:gd name="T2" fmla="*/ 85 w 85"/>
                <a:gd name="T3" fmla="*/ 0 h 38"/>
                <a:gd name="T4" fmla="*/ 0 w 85"/>
                <a:gd name="T5" fmla="*/ 38 h 38"/>
                <a:gd name="T6" fmla="*/ 0 w 85"/>
                <a:gd name="T7" fmla="*/ 38 h 38"/>
                <a:gd name="T8" fmla="*/ 0 w 85"/>
                <a:gd name="T9" fmla="*/ 38 h 38"/>
                <a:gd name="T10" fmla="*/ 0 w 85"/>
                <a:gd name="T11" fmla="*/ 38 h 38"/>
                <a:gd name="T12" fmla="*/ 0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0" y="38"/>
                  </a:moveTo>
                  <a:lnTo>
                    <a:pt x="85"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2" name="Freeform 101"/>
            <p:cNvSpPr>
              <a:spLocks noChangeAspect="1" noEditPoints="1"/>
            </p:cNvSpPr>
            <p:nvPr/>
          </p:nvSpPr>
          <p:spPr bwMode="auto">
            <a:xfrm>
              <a:off x="3395" y="2616"/>
              <a:ext cx="85" cy="47"/>
            </a:xfrm>
            <a:custGeom>
              <a:avLst/>
              <a:gdLst>
                <a:gd name="T0" fmla="*/ 85 w 85"/>
                <a:gd name="T1" fmla="*/ 47 h 47"/>
                <a:gd name="T2" fmla="*/ 0 w 85"/>
                <a:gd name="T3" fmla="*/ 0 h 47"/>
                <a:gd name="T4" fmla="*/ 85 w 85"/>
                <a:gd name="T5" fmla="*/ 47 h 47"/>
                <a:gd name="T6" fmla="*/ 85 w 85"/>
                <a:gd name="T7" fmla="*/ 47 h 47"/>
                <a:gd name="T8" fmla="*/ 85 w 85"/>
                <a:gd name="T9" fmla="*/ 47 h 47"/>
                <a:gd name="T10" fmla="*/ 85 w 85"/>
                <a:gd name="T11" fmla="*/ 47 h 47"/>
                <a:gd name="T12" fmla="*/ 85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85" y="47"/>
                  </a:moveTo>
                  <a:lnTo>
                    <a:pt x="0" y="0"/>
                  </a:lnTo>
                  <a:lnTo>
                    <a:pt x="85" y="47"/>
                  </a:lnTo>
                  <a:close/>
                  <a:moveTo>
                    <a:pt x="85" y="47"/>
                  </a:moveTo>
                  <a:lnTo>
                    <a:pt x="85"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3" name="Freeform 102"/>
            <p:cNvSpPr>
              <a:spLocks noChangeAspect="1" noEditPoints="1"/>
            </p:cNvSpPr>
            <p:nvPr/>
          </p:nvSpPr>
          <p:spPr bwMode="auto">
            <a:xfrm>
              <a:off x="3395" y="261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4" name="Freeform 103"/>
            <p:cNvSpPr>
              <a:spLocks noChangeAspect="1" noEditPoints="1"/>
            </p:cNvSpPr>
            <p:nvPr/>
          </p:nvSpPr>
          <p:spPr bwMode="auto">
            <a:xfrm>
              <a:off x="3301" y="256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5" name="Freeform 104"/>
            <p:cNvSpPr>
              <a:spLocks noChangeAspect="1" noEditPoints="1"/>
            </p:cNvSpPr>
            <p:nvPr/>
          </p:nvSpPr>
          <p:spPr bwMode="auto">
            <a:xfrm>
              <a:off x="3301" y="253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6" name="Freeform 105"/>
            <p:cNvSpPr>
              <a:spLocks noChangeAspect="1" noEditPoints="1"/>
            </p:cNvSpPr>
            <p:nvPr/>
          </p:nvSpPr>
          <p:spPr bwMode="auto">
            <a:xfrm>
              <a:off x="3395" y="248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7" name="Freeform 106"/>
            <p:cNvSpPr>
              <a:spLocks noChangeAspect="1" noEditPoints="1"/>
            </p:cNvSpPr>
            <p:nvPr/>
          </p:nvSpPr>
          <p:spPr bwMode="auto">
            <a:xfrm>
              <a:off x="3395" y="2446"/>
              <a:ext cx="85" cy="38"/>
            </a:xfrm>
            <a:custGeom>
              <a:avLst/>
              <a:gdLst>
                <a:gd name="T0" fmla="*/ 85 w 85"/>
                <a:gd name="T1" fmla="*/ 38 h 38"/>
                <a:gd name="T2" fmla="*/ 0 w 85"/>
                <a:gd name="T3" fmla="*/ 0 h 38"/>
                <a:gd name="T4" fmla="*/ 85 w 85"/>
                <a:gd name="T5" fmla="*/ 38 h 38"/>
                <a:gd name="T6" fmla="*/ 85 w 85"/>
                <a:gd name="T7" fmla="*/ 38 h 38"/>
                <a:gd name="T8" fmla="*/ 85 w 85"/>
                <a:gd name="T9" fmla="*/ 38 h 38"/>
                <a:gd name="T10" fmla="*/ 85 w 85"/>
                <a:gd name="T11" fmla="*/ 38 h 38"/>
                <a:gd name="T12" fmla="*/ 85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38"/>
                  </a:moveTo>
                  <a:lnTo>
                    <a:pt x="0" y="0"/>
                  </a:lnTo>
                  <a:lnTo>
                    <a:pt x="85" y="38"/>
                  </a:lnTo>
                  <a:close/>
                  <a:moveTo>
                    <a:pt x="85" y="38"/>
                  </a:moveTo>
                  <a:lnTo>
                    <a:pt x="85"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8" name="Freeform 107"/>
            <p:cNvSpPr>
              <a:spLocks noChangeAspect="1" noEditPoints="1"/>
            </p:cNvSpPr>
            <p:nvPr/>
          </p:nvSpPr>
          <p:spPr bwMode="auto">
            <a:xfrm>
              <a:off x="3301" y="239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59" name="Freeform 108"/>
            <p:cNvSpPr>
              <a:spLocks noChangeAspect="1" noEditPoints="1"/>
            </p:cNvSpPr>
            <p:nvPr/>
          </p:nvSpPr>
          <p:spPr bwMode="auto">
            <a:xfrm>
              <a:off x="3301" y="236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0" name="Freeform 109"/>
            <p:cNvSpPr>
              <a:spLocks noChangeAspect="1" noEditPoints="1"/>
            </p:cNvSpPr>
            <p:nvPr/>
          </p:nvSpPr>
          <p:spPr bwMode="auto">
            <a:xfrm>
              <a:off x="3395" y="231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1" name="Freeform 110"/>
            <p:cNvSpPr>
              <a:spLocks noChangeAspect="1" noEditPoints="1"/>
            </p:cNvSpPr>
            <p:nvPr/>
          </p:nvSpPr>
          <p:spPr bwMode="auto">
            <a:xfrm>
              <a:off x="3395" y="2276"/>
              <a:ext cx="85" cy="38"/>
            </a:xfrm>
            <a:custGeom>
              <a:avLst/>
              <a:gdLst>
                <a:gd name="T0" fmla="*/ 85 w 85"/>
                <a:gd name="T1" fmla="*/ 38 h 38"/>
                <a:gd name="T2" fmla="*/ 0 w 85"/>
                <a:gd name="T3" fmla="*/ 0 h 38"/>
                <a:gd name="T4" fmla="*/ 85 w 85"/>
                <a:gd name="T5" fmla="*/ 38 h 38"/>
                <a:gd name="T6" fmla="*/ 85 w 85"/>
                <a:gd name="T7" fmla="*/ 38 h 38"/>
                <a:gd name="T8" fmla="*/ 85 w 85"/>
                <a:gd name="T9" fmla="*/ 38 h 38"/>
                <a:gd name="T10" fmla="*/ 85 w 85"/>
                <a:gd name="T11" fmla="*/ 38 h 38"/>
                <a:gd name="T12" fmla="*/ 85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38"/>
                  </a:moveTo>
                  <a:lnTo>
                    <a:pt x="0" y="0"/>
                  </a:lnTo>
                  <a:lnTo>
                    <a:pt x="85" y="38"/>
                  </a:lnTo>
                  <a:close/>
                  <a:moveTo>
                    <a:pt x="85" y="38"/>
                  </a:moveTo>
                  <a:lnTo>
                    <a:pt x="85"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2" name="Freeform 111"/>
            <p:cNvSpPr>
              <a:spLocks noChangeAspect="1" noEditPoints="1"/>
            </p:cNvSpPr>
            <p:nvPr/>
          </p:nvSpPr>
          <p:spPr bwMode="auto">
            <a:xfrm>
              <a:off x="3301" y="222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3" name="Freeform 112"/>
            <p:cNvSpPr>
              <a:spLocks noChangeAspect="1" noEditPoints="1"/>
            </p:cNvSpPr>
            <p:nvPr/>
          </p:nvSpPr>
          <p:spPr bwMode="auto">
            <a:xfrm>
              <a:off x="3301" y="219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4" name="Freeform 113"/>
            <p:cNvSpPr>
              <a:spLocks noChangeAspect="1" noEditPoints="1"/>
            </p:cNvSpPr>
            <p:nvPr/>
          </p:nvSpPr>
          <p:spPr bwMode="auto">
            <a:xfrm>
              <a:off x="3395" y="214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5" name="Freeform 114"/>
            <p:cNvSpPr>
              <a:spLocks noChangeAspect="1" noEditPoints="1"/>
            </p:cNvSpPr>
            <p:nvPr/>
          </p:nvSpPr>
          <p:spPr bwMode="auto">
            <a:xfrm>
              <a:off x="3386" y="2097"/>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6" name="Freeform 115"/>
            <p:cNvSpPr>
              <a:spLocks noChangeAspect="1"/>
            </p:cNvSpPr>
            <p:nvPr/>
          </p:nvSpPr>
          <p:spPr bwMode="auto">
            <a:xfrm>
              <a:off x="3575" y="1918"/>
              <a:ext cx="151" cy="169"/>
            </a:xfrm>
            <a:custGeom>
              <a:avLst/>
              <a:gdLst>
                <a:gd name="T0" fmla="*/ 66 w 151"/>
                <a:gd name="T1" fmla="*/ 75 h 169"/>
                <a:gd name="T2" fmla="*/ 0 w 151"/>
                <a:gd name="T3" fmla="*/ 75 h 169"/>
                <a:gd name="T4" fmla="*/ 0 w 151"/>
                <a:gd name="T5" fmla="*/ 94 h 169"/>
                <a:gd name="T6" fmla="*/ 66 w 151"/>
                <a:gd name="T7" fmla="*/ 94 h 169"/>
                <a:gd name="T8" fmla="*/ 66 w 151"/>
                <a:gd name="T9" fmla="*/ 169 h 169"/>
                <a:gd name="T10" fmla="*/ 85 w 151"/>
                <a:gd name="T11" fmla="*/ 169 h 169"/>
                <a:gd name="T12" fmla="*/ 85 w 151"/>
                <a:gd name="T13" fmla="*/ 94 h 169"/>
                <a:gd name="T14" fmla="*/ 151 w 151"/>
                <a:gd name="T15" fmla="*/ 94 h 169"/>
                <a:gd name="T16" fmla="*/ 151 w 151"/>
                <a:gd name="T17" fmla="*/ 75 h 169"/>
                <a:gd name="T18" fmla="*/ 85 w 151"/>
                <a:gd name="T19" fmla="*/ 75 h 169"/>
                <a:gd name="T20" fmla="*/ 85 w 151"/>
                <a:gd name="T21" fmla="*/ 0 h 169"/>
                <a:gd name="T22" fmla="*/ 66 w 151"/>
                <a:gd name="T23" fmla="*/ 0 h 169"/>
                <a:gd name="T24" fmla="*/ 66 w 151"/>
                <a:gd name="T25" fmla="*/ 75 h 1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1"/>
                <a:gd name="T40" fmla="*/ 0 h 169"/>
                <a:gd name="T41" fmla="*/ 151 w 151"/>
                <a:gd name="T42" fmla="*/ 169 h 16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1" h="169">
                  <a:moveTo>
                    <a:pt x="66" y="75"/>
                  </a:moveTo>
                  <a:lnTo>
                    <a:pt x="0" y="75"/>
                  </a:lnTo>
                  <a:lnTo>
                    <a:pt x="0" y="94"/>
                  </a:lnTo>
                  <a:lnTo>
                    <a:pt x="66" y="94"/>
                  </a:lnTo>
                  <a:lnTo>
                    <a:pt x="66" y="169"/>
                  </a:lnTo>
                  <a:lnTo>
                    <a:pt x="85" y="169"/>
                  </a:lnTo>
                  <a:lnTo>
                    <a:pt x="85" y="94"/>
                  </a:lnTo>
                  <a:lnTo>
                    <a:pt x="151" y="94"/>
                  </a:lnTo>
                  <a:lnTo>
                    <a:pt x="151" y="75"/>
                  </a:lnTo>
                  <a:lnTo>
                    <a:pt x="85" y="75"/>
                  </a:lnTo>
                  <a:lnTo>
                    <a:pt x="85" y="0"/>
                  </a:lnTo>
                  <a:lnTo>
                    <a:pt x="66" y="0"/>
                  </a:lnTo>
                  <a:lnTo>
                    <a:pt x="66" y="7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7" name="Rectangle 116"/>
            <p:cNvSpPr>
              <a:spLocks noChangeAspect="1" noChangeArrowheads="1"/>
            </p:cNvSpPr>
            <p:nvPr/>
          </p:nvSpPr>
          <p:spPr bwMode="auto">
            <a:xfrm>
              <a:off x="3575" y="2805"/>
              <a:ext cx="151" cy="19"/>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3668" name="Freeform 117"/>
            <p:cNvSpPr>
              <a:spLocks noChangeAspect="1"/>
            </p:cNvSpPr>
            <p:nvPr/>
          </p:nvSpPr>
          <p:spPr bwMode="auto">
            <a:xfrm>
              <a:off x="3641" y="2371"/>
              <a:ext cx="113" cy="141"/>
            </a:xfrm>
            <a:custGeom>
              <a:avLst/>
              <a:gdLst>
                <a:gd name="T0" fmla="*/ 0 w 113"/>
                <a:gd name="T1" fmla="*/ 9 h 141"/>
                <a:gd name="T2" fmla="*/ 19 w 113"/>
                <a:gd name="T3" fmla="*/ 18 h 141"/>
                <a:gd name="T4" fmla="*/ 28 w 113"/>
                <a:gd name="T5" fmla="*/ 47 h 141"/>
                <a:gd name="T6" fmla="*/ 28 w 113"/>
                <a:gd name="T7" fmla="*/ 66 h 141"/>
                <a:gd name="T8" fmla="*/ 38 w 113"/>
                <a:gd name="T9" fmla="*/ 94 h 141"/>
                <a:gd name="T10" fmla="*/ 38 w 113"/>
                <a:gd name="T11" fmla="*/ 113 h 141"/>
                <a:gd name="T12" fmla="*/ 38 w 113"/>
                <a:gd name="T13" fmla="*/ 132 h 141"/>
                <a:gd name="T14" fmla="*/ 38 w 113"/>
                <a:gd name="T15" fmla="*/ 141 h 141"/>
                <a:gd name="T16" fmla="*/ 38 w 113"/>
                <a:gd name="T17" fmla="*/ 141 h 141"/>
                <a:gd name="T18" fmla="*/ 47 w 113"/>
                <a:gd name="T19" fmla="*/ 141 h 141"/>
                <a:gd name="T20" fmla="*/ 57 w 113"/>
                <a:gd name="T21" fmla="*/ 132 h 141"/>
                <a:gd name="T22" fmla="*/ 66 w 113"/>
                <a:gd name="T23" fmla="*/ 113 h 141"/>
                <a:gd name="T24" fmla="*/ 76 w 113"/>
                <a:gd name="T25" fmla="*/ 94 h 141"/>
                <a:gd name="T26" fmla="*/ 95 w 113"/>
                <a:gd name="T27" fmla="*/ 75 h 141"/>
                <a:gd name="T28" fmla="*/ 104 w 113"/>
                <a:gd name="T29" fmla="*/ 47 h 141"/>
                <a:gd name="T30" fmla="*/ 113 w 113"/>
                <a:gd name="T31" fmla="*/ 18 h 141"/>
                <a:gd name="T32" fmla="*/ 104 w 113"/>
                <a:gd name="T33" fmla="*/ 9 h 141"/>
                <a:gd name="T34" fmla="*/ 95 w 113"/>
                <a:gd name="T35" fmla="*/ 0 h 141"/>
                <a:gd name="T36" fmla="*/ 95 w 113"/>
                <a:gd name="T37" fmla="*/ 9 h 141"/>
                <a:gd name="T38" fmla="*/ 85 w 113"/>
                <a:gd name="T39" fmla="*/ 9 h 141"/>
                <a:gd name="T40" fmla="*/ 95 w 113"/>
                <a:gd name="T41" fmla="*/ 28 h 141"/>
                <a:gd name="T42" fmla="*/ 104 w 113"/>
                <a:gd name="T43" fmla="*/ 37 h 141"/>
                <a:gd name="T44" fmla="*/ 104 w 113"/>
                <a:gd name="T45" fmla="*/ 47 h 141"/>
                <a:gd name="T46" fmla="*/ 85 w 113"/>
                <a:gd name="T47" fmla="*/ 66 h 141"/>
                <a:gd name="T48" fmla="*/ 66 w 113"/>
                <a:gd name="T49" fmla="*/ 103 h 141"/>
                <a:gd name="T50" fmla="*/ 57 w 113"/>
                <a:gd name="T51" fmla="*/ 113 h 141"/>
                <a:gd name="T52" fmla="*/ 47 w 113"/>
                <a:gd name="T53" fmla="*/ 66 h 141"/>
                <a:gd name="T54" fmla="*/ 38 w 113"/>
                <a:gd name="T55" fmla="*/ 9 h 141"/>
                <a:gd name="T56" fmla="*/ 38 w 113"/>
                <a:gd name="T57" fmla="*/ 0 h 141"/>
                <a:gd name="T58" fmla="*/ 38 w 113"/>
                <a:gd name="T59" fmla="*/ 0 h 141"/>
                <a:gd name="T60" fmla="*/ 28 w 113"/>
                <a:gd name="T61" fmla="*/ 9 h 141"/>
                <a:gd name="T62" fmla="*/ 0 w 113"/>
                <a:gd name="T63" fmla="*/ 9 h 141"/>
                <a:gd name="T64" fmla="*/ 0 w 113"/>
                <a:gd name="T65" fmla="*/ 9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3"/>
                <a:gd name="T100" fmla="*/ 0 h 141"/>
                <a:gd name="T101" fmla="*/ 113 w 113"/>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3" h="141">
                  <a:moveTo>
                    <a:pt x="0" y="9"/>
                  </a:moveTo>
                  <a:lnTo>
                    <a:pt x="19" y="18"/>
                  </a:lnTo>
                  <a:lnTo>
                    <a:pt x="28" y="47"/>
                  </a:lnTo>
                  <a:lnTo>
                    <a:pt x="28" y="66"/>
                  </a:lnTo>
                  <a:lnTo>
                    <a:pt x="38" y="94"/>
                  </a:lnTo>
                  <a:lnTo>
                    <a:pt x="38" y="113"/>
                  </a:lnTo>
                  <a:lnTo>
                    <a:pt x="38" y="132"/>
                  </a:lnTo>
                  <a:lnTo>
                    <a:pt x="38" y="141"/>
                  </a:lnTo>
                  <a:lnTo>
                    <a:pt x="47" y="141"/>
                  </a:lnTo>
                  <a:lnTo>
                    <a:pt x="57" y="132"/>
                  </a:lnTo>
                  <a:lnTo>
                    <a:pt x="66" y="113"/>
                  </a:lnTo>
                  <a:lnTo>
                    <a:pt x="76" y="94"/>
                  </a:lnTo>
                  <a:lnTo>
                    <a:pt x="95" y="75"/>
                  </a:lnTo>
                  <a:lnTo>
                    <a:pt x="104" y="47"/>
                  </a:lnTo>
                  <a:lnTo>
                    <a:pt x="113" y="18"/>
                  </a:lnTo>
                  <a:lnTo>
                    <a:pt x="104" y="9"/>
                  </a:lnTo>
                  <a:lnTo>
                    <a:pt x="95" y="0"/>
                  </a:lnTo>
                  <a:lnTo>
                    <a:pt x="95" y="9"/>
                  </a:lnTo>
                  <a:lnTo>
                    <a:pt x="85" y="9"/>
                  </a:lnTo>
                  <a:lnTo>
                    <a:pt x="95" y="28"/>
                  </a:lnTo>
                  <a:lnTo>
                    <a:pt x="104" y="37"/>
                  </a:lnTo>
                  <a:lnTo>
                    <a:pt x="104" y="47"/>
                  </a:lnTo>
                  <a:lnTo>
                    <a:pt x="85" y="66"/>
                  </a:lnTo>
                  <a:lnTo>
                    <a:pt x="66" y="103"/>
                  </a:lnTo>
                  <a:lnTo>
                    <a:pt x="57" y="113"/>
                  </a:lnTo>
                  <a:lnTo>
                    <a:pt x="47" y="66"/>
                  </a:lnTo>
                  <a:lnTo>
                    <a:pt x="38" y="9"/>
                  </a:lnTo>
                  <a:lnTo>
                    <a:pt x="38" y="0"/>
                  </a:lnTo>
                  <a:lnTo>
                    <a:pt x="28" y="9"/>
                  </a:lnTo>
                  <a:lnTo>
                    <a:pt x="0" y="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669" name="Freeform 118"/>
            <p:cNvSpPr>
              <a:spLocks noChangeAspect="1" noEditPoints="1"/>
            </p:cNvSpPr>
            <p:nvPr/>
          </p:nvSpPr>
          <p:spPr bwMode="auto">
            <a:xfrm>
              <a:off x="3745" y="2484"/>
              <a:ext cx="95" cy="113"/>
            </a:xfrm>
            <a:custGeom>
              <a:avLst/>
              <a:gdLst>
                <a:gd name="T0" fmla="*/ 66 w 95"/>
                <a:gd name="T1" fmla="*/ 0 h 113"/>
                <a:gd name="T2" fmla="*/ 47 w 95"/>
                <a:gd name="T3" fmla="*/ 9 h 113"/>
                <a:gd name="T4" fmla="*/ 19 w 95"/>
                <a:gd name="T5" fmla="*/ 28 h 113"/>
                <a:gd name="T6" fmla="*/ 9 w 95"/>
                <a:gd name="T7" fmla="*/ 47 h 113"/>
                <a:gd name="T8" fmla="*/ 0 w 95"/>
                <a:gd name="T9" fmla="*/ 75 h 113"/>
                <a:gd name="T10" fmla="*/ 9 w 95"/>
                <a:gd name="T11" fmla="*/ 104 h 113"/>
                <a:gd name="T12" fmla="*/ 38 w 95"/>
                <a:gd name="T13" fmla="*/ 113 h 113"/>
                <a:gd name="T14" fmla="*/ 57 w 95"/>
                <a:gd name="T15" fmla="*/ 104 h 113"/>
                <a:gd name="T16" fmla="*/ 76 w 95"/>
                <a:gd name="T17" fmla="*/ 85 h 113"/>
                <a:gd name="T18" fmla="*/ 95 w 95"/>
                <a:gd name="T19" fmla="*/ 66 h 113"/>
                <a:gd name="T20" fmla="*/ 95 w 95"/>
                <a:gd name="T21" fmla="*/ 38 h 113"/>
                <a:gd name="T22" fmla="*/ 95 w 95"/>
                <a:gd name="T23" fmla="*/ 9 h 113"/>
                <a:gd name="T24" fmla="*/ 85 w 95"/>
                <a:gd name="T25" fmla="*/ 0 h 113"/>
                <a:gd name="T26" fmla="*/ 66 w 95"/>
                <a:gd name="T27" fmla="*/ 0 h 113"/>
                <a:gd name="T28" fmla="*/ 66 w 95"/>
                <a:gd name="T29" fmla="*/ 0 h 113"/>
                <a:gd name="T30" fmla="*/ 66 w 95"/>
                <a:gd name="T31" fmla="*/ 0 h 113"/>
                <a:gd name="T32" fmla="*/ 76 w 95"/>
                <a:gd name="T33" fmla="*/ 9 h 113"/>
                <a:gd name="T34" fmla="*/ 76 w 95"/>
                <a:gd name="T35" fmla="*/ 28 h 113"/>
                <a:gd name="T36" fmla="*/ 66 w 95"/>
                <a:gd name="T37" fmla="*/ 75 h 113"/>
                <a:gd name="T38" fmla="*/ 57 w 95"/>
                <a:gd name="T39" fmla="*/ 94 h 113"/>
                <a:gd name="T40" fmla="*/ 38 w 95"/>
                <a:gd name="T41" fmla="*/ 104 h 113"/>
                <a:gd name="T42" fmla="*/ 28 w 95"/>
                <a:gd name="T43" fmla="*/ 94 h 113"/>
                <a:gd name="T44" fmla="*/ 19 w 95"/>
                <a:gd name="T45" fmla="*/ 85 h 113"/>
                <a:gd name="T46" fmla="*/ 19 w 95"/>
                <a:gd name="T47" fmla="*/ 56 h 113"/>
                <a:gd name="T48" fmla="*/ 28 w 95"/>
                <a:gd name="T49" fmla="*/ 28 h 113"/>
                <a:gd name="T50" fmla="*/ 47 w 95"/>
                <a:gd name="T51" fmla="*/ 9 h 113"/>
                <a:gd name="T52" fmla="*/ 66 w 95"/>
                <a:gd name="T53" fmla="*/ 0 h 113"/>
                <a:gd name="T54" fmla="*/ 66 w 95"/>
                <a:gd name="T55" fmla="*/ 0 h 1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5"/>
                <a:gd name="T85" fmla="*/ 0 h 113"/>
                <a:gd name="T86" fmla="*/ 95 w 95"/>
                <a:gd name="T87" fmla="*/ 113 h 1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5" h="113">
                  <a:moveTo>
                    <a:pt x="66" y="0"/>
                  </a:moveTo>
                  <a:lnTo>
                    <a:pt x="47" y="9"/>
                  </a:lnTo>
                  <a:lnTo>
                    <a:pt x="19" y="28"/>
                  </a:lnTo>
                  <a:lnTo>
                    <a:pt x="9" y="47"/>
                  </a:lnTo>
                  <a:lnTo>
                    <a:pt x="0" y="75"/>
                  </a:lnTo>
                  <a:lnTo>
                    <a:pt x="9" y="104"/>
                  </a:lnTo>
                  <a:lnTo>
                    <a:pt x="38" y="113"/>
                  </a:lnTo>
                  <a:lnTo>
                    <a:pt x="57" y="104"/>
                  </a:lnTo>
                  <a:lnTo>
                    <a:pt x="76" y="85"/>
                  </a:lnTo>
                  <a:lnTo>
                    <a:pt x="95" y="66"/>
                  </a:lnTo>
                  <a:lnTo>
                    <a:pt x="95" y="38"/>
                  </a:lnTo>
                  <a:lnTo>
                    <a:pt x="95" y="9"/>
                  </a:lnTo>
                  <a:lnTo>
                    <a:pt x="85" y="0"/>
                  </a:lnTo>
                  <a:lnTo>
                    <a:pt x="66" y="0"/>
                  </a:lnTo>
                  <a:close/>
                  <a:moveTo>
                    <a:pt x="66" y="0"/>
                  </a:moveTo>
                  <a:lnTo>
                    <a:pt x="76" y="9"/>
                  </a:lnTo>
                  <a:lnTo>
                    <a:pt x="76" y="28"/>
                  </a:lnTo>
                  <a:lnTo>
                    <a:pt x="66" y="75"/>
                  </a:lnTo>
                  <a:lnTo>
                    <a:pt x="57" y="94"/>
                  </a:lnTo>
                  <a:lnTo>
                    <a:pt x="38" y="104"/>
                  </a:lnTo>
                  <a:lnTo>
                    <a:pt x="28" y="94"/>
                  </a:lnTo>
                  <a:lnTo>
                    <a:pt x="19" y="85"/>
                  </a:lnTo>
                  <a:lnTo>
                    <a:pt x="19" y="56"/>
                  </a:lnTo>
                  <a:lnTo>
                    <a:pt x="28" y="28"/>
                  </a:lnTo>
                  <a:lnTo>
                    <a:pt x="47" y="9"/>
                  </a:lnTo>
                  <a:lnTo>
                    <a:pt x="6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23556" name="Text Box 119"/>
          <p:cNvSpPr txBox="1">
            <a:spLocks noChangeArrowheads="1"/>
          </p:cNvSpPr>
          <p:nvPr/>
        </p:nvSpPr>
        <p:spPr bwMode="auto">
          <a:xfrm>
            <a:off x="1145235" y="1717105"/>
            <a:ext cx="7058025" cy="400110"/>
          </a:xfrm>
          <a:prstGeom prst="rect">
            <a:avLst/>
          </a:prstGeom>
          <a:noFill/>
          <a:ln w="9525">
            <a:noFill/>
            <a:miter lim="800000"/>
          </a:ln>
        </p:spPr>
        <p:txBody>
          <a:bodyPr>
            <a:spAutoFit/>
          </a:bodyPr>
          <a:lstStyle/>
          <a:p>
            <a:pPr fontAlgn="base">
              <a:spcBef>
                <a:spcPct val="50000"/>
              </a:spcBef>
              <a:spcAft>
                <a:spcPct val="0"/>
              </a:spcAft>
              <a:buFont typeface="Wingdings" panose="05000000000000000000" pitchFamily="2" charset="2"/>
              <a:buNone/>
            </a:pPr>
            <a:r>
              <a:rPr lang="zh-CN" altLang="en-US" sz="2000" b="1" dirty="0">
                <a:solidFill>
                  <a:srgbClr val="000000"/>
                </a:solidFill>
                <a:latin typeface="Times New Roman" panose="02020603050405020304" pitchFamily="18" charset="0"/>
              </a:rPr>
              <a:t>用电源置换求出图中电路中的电压</a:t>
            </a:r>
            <a:r>
              <a:rPr lang="en-US" altLang="zh-CN" sz="2000" b="1" i="1" dirty="0">
                <a:solidFill>
                  <a:srgbClr val="0000FF"/>
                </a:solidFill>
                <a:latin typeface="Century Schoolbook" pitchFamily="18" charset="0"/>
                <a:ea typeface="MS Mincho" pitchFamily="49" charset="-128"/>
              </a:rPr>
              <a:t>v</a:t>
            </a:r>
            <a:r>
              <a:rPr lang="en-US" altLang="zh-CN" sz="2000" b="1" i="1" baseline="-25000" dirty="0">
                <a:solidFill>
                  <a:srgbClr val="0000FF"/>
                </a:solidFill>
                <a:latin typeface="Century Schoolbook" pitchFamily="18" charset="0"/>
                <a:ea typeface="MS Mincho" pitchFamily="49" charset="-128"/>
              </a:rPr>
              <a:t>0</a:t>
            </a:r>
            <a:endParaRPr lang="en-US" altLang="zh-CN" sz="2000" b="1" i="1" dirty="0">
              <a:solidFill>
                <a:srgbClr val="000000"/>
              </a:solidFill>
              <a:latin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30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5"/>
          <p:cNvSpPr txBox="1">
            <a:spLocks noChangeArrowheads="1"/>
          </p:cNvSpPr>
          <p:nvPr/>
        </p:nvSpPr>
        <p:spPr bwMode="auto">
          <a:xfrm>
            <a:off x="250825" y="1916113"/>
            <a:ext cx="4824413" cy="3600450"/>
          </a:xfrm>
          <a:prstGeom prst="rect">
            <a:avLst/>
          </a:prstGeom>
          <a:noFill/>
          <a:ln w="9525">
            <a:noFill/>
            <a:miter lim="800000"/>
          </a:ln>
        </p:spPr>
        <p:txBody>
          <a:bodyPr>
            <a:spAutoFit/>
          </a:bodyPr>
          <a:lstStyle/>
          <a:p>
            <a:pPr fontAlgn="base">
              <a:spcBef>
                <a:spcPct val="50000"/>
              </a:spcBef>
              <a:spcAft>
                <a:spcPct val="0"/>
              </a:spcAft>
            </a:pPr>
            <a:r>
              <a:rPr lang="zh-CN" altLang="en-US" sz="2400" b="1">
                <a:solidFill>
                  <a:srgbClr val="0000FF"/>
                </a:solidFill>
                <a:latin typeface="Times New Roman" panose="02020603050405020304" pitchFamily="18" charset="0"/>
              </a:rPr>
              <a:t>解决方案</a:t>
            </a:r>
            <a:r>
              <a:rPr lang="en-US" altLang="zh-CN" sz="2400" b="1">
                <a:solidFill>
                  <a:srgbClr val="0000FF"/>
                </a:solidFill>
                <a:latin typeface="Times New Roman" panose="02020603050405020304" pitchFamily="18" charset="0"/>
              </a:rPr>
              <a:t>:</a:t>
            </a:r>
          </a:p>
          <a:p>
            <a:pPr fontAlgn="base">
              <a:spcBef>
                <a:spcPct val="50000"/>
              </a:spcBef>
              <a:spcAft>
                <a:spcPct val="0"/>
              </a:spcAft>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(a)  </a:t>
            </a:r>
            <a:r>
              <a:rPr lang="en-US" altLang="zh-CN" sz="2400" b="1">
                <a:solidFill>
                  <a:srgbClr val="000000"/>
                </a:solidFill>
                <a:latin typeface="Times New Roman" panose="02020603050405020304" pitchFamily="18" charset="0"/>
                <a:cs typeface="Times New Roman" panose="02020603050405020304" pitchFamily="18" charset="0"/>
              </a:rPr>
              <a:t>→</a:t>
            </a:r>
            <a:r>
              <a:rPr lang="en-US" altLang="zh-CN" sz="2400" b="1">
                <a:solidFill>
                  <a:srgbClr val="000000"/>
                </a:solidFill>
                <a:latin typeface="Times New Roman" panose="02020603050405020304" pitchFamily="18" charset="0"/>
              </a:rPr>
              <a:t>   (b) → (c)</a:t>
            </a:r>
          </a:p>
          <a:p>
            <a:pPr fontAlgn="base">
              <a:spcBef>
                <a:spcPct val="50000"/>
              </a:spcBef>
              <a:spcAft>
                <a:spcPct val="0"/>
              </a:spcAft>
            </a:pPr>
            <a:r>
              <a:rPr lang="en-US" altLang="zh-CN" sz="2400" b="1">
                <a:solidFill>
                  <a:srgbClr val="000000"/>
                </a:solidFill>
                <a:latin typeface="Times New Roman" panose="02020603050405020304" pitchFamily="18" charset="0"/>
                <a:ea typeface="MS Mincho" pitchFamily="49" charset="-128"/>
              </a:rPr>
              <a:t>      </a:t>
            </a:r>
            <a:r>
              <a:rPr lang="zh-CN" altLang="en-US" sz="2400">
                <a:solidFill>
                  <a:srgbClr val="000000"/>
                </a:solidFill>
                <a:latin typeface="Times New Roman" panose="02020603050405020304" pitchFamily="18" charset="0"/>
                <a:cs typeface="Times New Roman" panose="02020603050405020304" pitchFamily="18" charset="0"/>
              </a:rPr>
              <a:t>所以</a:t>
            </a:r>
            <a:endParaRPr lang="en-US" altLang="zh-CN" sz="2400" b="1">
              <a:solidFill>
                <a:srgbClr val="000000"/>
              </a:solidFill>
              <a:latin typeface="Times New Roman" panose="02020603050405020304" pitchFamily="18" charset="0"/>
              <a:ea typeface="MS Mincho" pitchFamily="49" charset="-128"/>
              <a:cs typeface="Times New Roman" panose="02020603050405020304" pitchFamily="18" charset="0"/>
            </a:endParaRPr>
          </a:p>
          <a:p>
            <a:pPr fontAlgn="base">
              <a:spcBef>
                <a:spcPct val="50000"/>
              </a:spcBef>
              <a:spcAft>
                <a:spcPct val="0"/>
              </a:spcAft>
            </a:pPr>
            <a:endParaRPr lang="en-US" altLang="zh-CN" sz="2400" b="1">
              <a:solidFill>
                <a:srgbClr val="000000"/>
              </a:solidFill>
              <a:latin typeface="Times New Roman" panose="02020603050405020304" pitchFamily="18" charset="0"/>
              <a:ea typeface="MS Mincho" pitchFamily="49" charset="-128"/>
            </a:endParaRPr>
          </a:p>
          <a:p>
            <a:pPr fontAlgn="base">
              <a:spcBef>
                <a:spcPct val="50000"/>
              </a:spcBef>
              <a:spcAft>
                <a:spcPct val="0"/>
              </a:spcAft>
            </a:pPr>
            <a:r>
              <a:rPr lang="en-US" altLang="zh-CN" sz="2400" b="1">
                <a:solidFill>
                  <a:srgbClr val="000000"/>
                </a:solidFill>
                <a:latin typeface="Times New Roman" panose="02020603050405020304" pitchFamily="18" charset="0"/>
                <a:ea typeface="MS Mincho" pitchFamily="49" charset="-128"/>
              </a:rPr>
              <a:t>        </a:t>
            </a:r>
          </a:p>
          <a:p>
            <a:pPr fontAlgn="base">
              <a:spcBef>
                <a:spcPct val="50000"/>
              </a:spcBef>
              <a:spcAft>
                <a:spcPct val="0"/>
              </a:spcAft>
            </a:pPr>
            <a:r>
              <a:rPr lang="en-US" altLang="zh-CN" sz="2400" b="1">
                <a:solidFill>
                  <a:srgbClr val="000000"/>
                </a:solidFill>
                <a:latin typeface="Times New Roman" panose="02020603050405020304" pitchFamily="18" charset="0"/>
                <a:ea typeface="MS Mincho" pitchFamily="49" charset="-128"/>
              </a:rPr>
              <a:t>        </a:t>
            </a:r>
            <a:r>
              <a:rPr lang="zh-CN" altLang="en-US" sz="2400" b="1">
                <a:solidFill>
                  <a:srgbClr val="000000"/>
                </a:solidFill>
                <a:latin typeface="Times New Roman" panose="02020603050405020304" pitchFamily="18" charset="0"/>
                <a:ea typeface="MS Mincho" pitchFamily="49" charset="-128"/>
              </a:rPr>
              <a:t>或者</a:t>
            </a:r>
            <a:endParaRPr lang="en-US" altLang="zh-CN" sz="2400" b="1">
              <a:solidFill>
                <a:srgbClr val="000000"/>
              </a:solidFill>
              <a:latin typeface="Times New Roman" panose="02020603050405020304" pitchFamily="18" charset="0"/>
              <a:ea typeface="MS Mincho" pitchFamily="49" charset="-128"/>
            </a:endParaRPr>
          </a:p>
          <a:p>
            <a:pPr fontAlgn="base">
              <a:spcBef>
                <a:spcPct val="50000"/>
              </a:spcBef>
              <a:spcAft>
                <a:spcPct val="0"/>
              </a:spcAft>
            </a:pPr>
            <a:endParaRPr lang="en-US" altLang="zh-CN" sz="2400" b="1" baseline="-25000">
              <a:solidFill>
                <a:srgbClr val="000000"/>
              </a:solidFill>
              <a:latin typeface="Times New Roman" panose="02020603050405020304" pitchFamily="18" charset="0"/>
              <a:ea typeface="MS Mincho" pitchFamily="49" charset="-128"/>
            </a:endParaRPr>
          </a:p>
        </p:txBody>
      </p:sp>
      <p:grpSp>
        <p:nvGrpSpPr>
          <p:cNvPr id="2" name="Group 6"/>
          <p:cNvGrpSpPr>
            <a:grpSpLocks noChangeAspect="1"/>
          </p:cNvGrpSpPr>
          <p:nvPr/>
        </p:nvGrpSpPr>
        <p:grpSpPr bwMode="auto">
          <a:xfrm>
            <a:off x="971600" y="304006"/>
            <a:ext cx="3777594" cy="1439863"/>
            <a:chOff x="96" y="1030"/>
            <a:chExt cx="5559" cy="2332"/>
          </a:xfrm>
        </p:grpSpPr>
        <p:sp>
          <p:nvSpPr>
            <p:cNvPr id="24588" name="Freeform 7"/>
            <p:cNvSpPr>
              <a:spLocks noChangeAspect="1"/>
            </p:cNvSpPr>
            <p:nvPr/>
          </p:nvSpPr>
          <p:spPr bwMode="auto">
            <a:xfrm>
              <a:off x="4728" y="1559"/>
              <a:ext cx="1" cy="1793"/>
            </a:xfrm>
            <a:custGeom>
              <a:avLst/>
              <a:gdLst>
                <a:gd name="T0" fmla="*/ 0 w 1"/>
                <a:gd name="T1" fmla="*/ 1793 h 1793"/>
                <a:gd name="T2" fmla="*/ 0 w 1"/>
                <a:gd name="T3" fmla="*/ 0 h 1793"/>
                <a:gd name="T4" fmla="*/ 0 w 1"/>
                <a:gd name="T5" fmla="*/ 1793 h 1793"/>
                <a:gd name="T6" fmla="*/ 0 w 1"/>
                <a:gd name="T7" fmla="*/ 1793 h 1793"/>
                <a:gd name="T8" fmla="*/ 0 60000 65536"/>
                <a:gd name="T9" fmla="*/ 0 60000 65536"/>
                <a:gd name="T10" fmla="*/ 0 60000 65536"/>
                <a:gd name="T11" fmla="*/ 0 60000 65536"/>
                <a:gd name="T12" fmla="*/ 0 w 1"/>
                <a:gd name="T13" fmla="*/ 0 h 1793"/>
                <a:gd name="T14" fmla="*/ 1 w 1"/>
                <a:gd name="T15" fmla="*/ 1793 h 1793"/>
              </a:gdLst>
              <a:ahLst/>
              <a:cxnLst>
                <a:cxn ang="T8">
                  <a:pos x="T0" y="T1"/>
                </a:cxn>
                <a:cxn ang="T9">
                  <a:pos x="T2" y="T3"/>
                </a:cxn>
                <a:cxn ang="T10">
                  <a:pos x="T4" y="T5"/>
                </a:cxn>
                <a:cxn ang="T11">
                  <a:pos x="T6" y="T7"/>
                </a:cxn>
              </a:cxnLst>
              <a:rect l="T12" t="T13" r="T14" b="T15"/>
              <a:pathLst>
                <a:path w="1" h="1793">
                  <a:moveTo>
                    <a:pt x="0" y="1793"/>
                  </a:moveTo>
                  <a:lnTo>
                    <a:pt x="0" y="0"/>
                  </a:lnTo>
                  <a:lnTo>
                    <a:pt x="0" y="179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89" name="Freeform 8"/>
            <p:cNvSpPr>
              <a:spLocks noChangeAspect="1" noEditPoints="1"/>
            </p:cNvSpPr>
            <p:nvPr/>
          </p:nvSpPr>
          <p:spPr bwMode="auto">
            <a:xfrm>
              <a:off x="786" y="1559"/>
              <a:ext cx="3942" cy="1"/>
            </a:xfrm>
            <a:custGeom>
              <a:avLst/>
              <a:gdLst>
                <a:gd name="T0" fmla="*/ 3942 w 3942"/>
                <a:gd name="T1" fmla="*/ 0 h 1"/>
                <a:gd name="T2" fmla="*/ 0 w 3942"/>
                <a:gd name="T3" fmla="*/ 0 h 1"/>
                <a:gd name="T4" fmla="*/ 3942 w 3942"/>
                <a:gd name="T5" fmla="*/ 0 h 1"/>
                <a:gd name="T6" fmla="*/ 3942 w 3942"/>
                <a:gd name="T7" fmla="*/ 0 h 1"/>
                <a:gd name="T8" fmla="*/ 3942 w 3942"/>
                <a:gd name="T9" fmla="*/ 0 h 1"/>
                <a:gd name="T10" fmla="*/ 3942 w 3942"/>
                <a:gd name="T11" fmla="*/ 0 h 1"/>
                <a:gd name="T12" fmla="*/ 3942 w 3942"/>
                <a:gd name="T13" fmla="*/ 0 h 1"/>
                <a:gd name="T14" fmla="*/ 0 60000 65536"/>
                <a:gd name="T15" fmla="*/ 0 60000 65536"/>
                <a:gd name="T16" fmla="*/ 0 60000 65536"/>
                <a:gd name="T17" fmla="*/ 0 60000 65536"/>
                <a:gd name="T18" fmla="*/ 0 60000 65536"/>
                <a:gd name="T19" fmla="*/ 0 60000 65536"/>
                <a:gd name="T20" fmla="*/ 0 60000 65536"/>
                <a:gd name="T21" fmla="*/ 0 w 3942"/>
                <a:gd name="T22" fmla="*/ 0 h 1"/>
                <a:gd name="T23" fmla="*/ 3942 w 394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2" h="1">
                  <a:moveTo>
                    <a:pt x="3942" y="0"/>
                  </a:moveTo>
                  <a:lnTo>
                    <a:pt x="0" y="0"/>
                  </a:lnTo>
                  <a:lnTo>
                    <a:pt x="3942" y="0"/>
                  </a:lnTo>
                  <a:close/>
                  <a:moveTo>
                    <a:pt x="3942" y="0"/>
                  </a:moveTo>
                  <a:lnTo>
                    <a:pt x="394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0" name="Freeform 9"/>
            <p:cNvSpPr>
              <a:spLocks noChangeAspect="1" noEditPoints="1"/>
            </p:cNvSpPr>
            <p:nvPr/>
          </p:nvSpPr>
          <p:spPr bwMode="auto">
            <a:xfrm>
              <a:off x="786" y="1559"/>
              <a:ext cx="1" cy="1793"/>
            </a:xfrm>
            <a:custGeom>
              <a:avLst/>
              <a:gdLst>
                <a:gd name="T0" fmla="*/ 0 w 1"/>
                <a:gd name="T1" fmla="*/ 0 h 1793"/>
                <a:gd name="T2" fmla="*/ 0 w 1"/>
                <a:gd name="T3" fmla="*/ 1793 h 1793"/>
                <a:gd name="T4" fmla="*/ 0 w 1"/>
                <a:gd name="T5" fmla="*/ 0 h 1793"/>
                <a:gd name="T6" fmla="*/ 0 w 1"/>
                <a:gd name="T7" fmla="*/ 0 h 1793"/>
                <a:gd name="T8" fmla="*/ 0 w 1"/>
                <a:gd name="T9" fmla="*/ 0 h 1793"/>
                <a:gd name="T10" fmla="*/ 0 w 1"/>
                <a:gd name="T11" fmla="*/ 0 h 1793"/>
                <a:gd name="T12" fmla="*/ 0 w 1"/>
                <a:gd name="T13" fmla="*/ 0 h 1793"/>
                <a:gd name="T14" fmla="*/ 0 60000 65536"/>
                <a:gd name="T15" fmla="*/ 0 60000 65536"/>
                <a:gd name="T16" fmla="*/ 0 60000 65536"/>
                <a:gd name="T17" fmla="*/ 0 60000 65536"/>
                <a:gd name="T18" fmla="*/ 0 60000 65536"/>
                <a:gd name="T19" fmla="*/ 0 60000 65536"/>
                <a:gd name="T20" fmla="*/ 0 60000 65536"/>
                <a:gd name="T21" fmla="*/ 0 w 1"/>
                <a:gd name="T22" fmla="*/ 0 h 1793"/>
                <a:gd name="T23" fmla="*/ 1 w 1"/>
                <a:gd name="T24" fmla="*/ 1793 h 17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793">
                  <a:moveTo>
                    <a:pt x="0" y="0"/>
                  </a:moveTo>
                  <a:lnTo>
                    <a:pt x="0" y="179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1" name="Freeform 10"/>
            <p:cNvSpPr>
              <a:spLocks noChangeAspect="1" noEditPoints="1"/>
            </p:cNvSpPr>
            <p:nvPr/>
          </p:nvSpPr>
          <p:spPr bwMode="auto">
            <a:xfrm>
              <a:off x="786" y="3352"/>
              <a:ext cx="3942" cy="1"/>
            </a:xfrm>
            <a:custGeom>
              <a:avLst/>
              <a:gdLst>
                <a:gd name="T0" fmla="*/ 0 w 3942"/>
                <a:gd name="T1" fmla="*/ 0 h 1"/>
                <a:gd name="T2" fmla="*/ 3942 w 3942"/>
                <a:gd name="T3" fmla="*/ 0 h 1"/>
                <a:gd name="T4" fmla="*/ 0 w 3942"/>
                <a:gd name="T5" fmla="*/ 0 h 1"/>
                <a:gd name="T6" fmla="*/ 0 w 3942"/>
                <a:gd name="T7" fmla="*/ 0 h 1"/>
                <a:gd name="T8" fmla="*/ 0 w 3942"/>
                <a:gd name="T9" fmla="*/ 0 h 1"/>
                <a:gd name="T10" fmla="*/ 0 w 3942"/>
                <a:gd name="T11" fmla="*/ 0 h 1"/>
                <a:gd name="T12" fmla="*/ 0 w 3942"/>
                <a:gd name="T13" fmla="*/ 0 h 1"/>
                <a:gd name="T14" fmla="*/ 0 60000 65536"/>
                <a:gd name="T15" fmla="*/ 0 60000 65536"/>
                <a:gd name="T16" fmla="*/ 0 60000 65536"/>
                <a:gd name="T17" fmla="*/ 0 60000 65536"/>
                <a:gd name="T18" fmla="*/ 0 60000 65536"/>
                <a:gd name="T19" fmla="*/ 0 60000 65536"/>
                <a:gd name="T20" fmla="*/ 0 60000 65536"/>
                <a:gd name="T21" fmla="*/ 0 w 3942"/>
                <a:gd name="T22" fmla="*/ 0 h 1"/>
                <a:gd name="T23" fmla="*/ 3942 w 394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2" h="1">
                  <a:moveTo>
                    <a:pt x="0" y="0"/>
                  </a:moveTo>
                  <a:lnTo>
                    <a:pt x="3942"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2" name="Freeform 11"/>
            <p:cNvSpPr>
              <a:spLocks noChangeAspect="1"/>
            </p:cNvSpPr>
            <p:nvPr/>
          </p:nvSpPr>
          <p:spPr bwMode="auto">
            <a:xfrm>
              <a:off x="4728" y="335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3" name="Freeform 12"/>
            <p:cNvSpPr>
              <a:spLocks noChangeAspect="1"/>
            </p:cNvSpPr>
            <p:nvPr/>
          </p:nvSpPr>
          <p:spPr bwMode="auto">
            <a:xfrm>
              <a:off x="2062" y="1559"/>
              <a:ext cx="1" cy="1803"/>
            </a:xfrm>
            <a:custGeom>
              <a:avLst/>
              <a:gdLst>
                <a:gd name="T0" fmla="*/ 0 w 1"/>
                <a:gd name="T1" fmla="*/ 0 h 1803"/>
                <a:gd name="T2" fmla="*/ 0 w 1"/>
                <a:gd name="T3" fmla="*/ 1803 h 1803"/>
                <a:gd name="T4" fmla="*/ 0 w 1"/>
                <a:gd name="T5" fmla="*/ 0 h 1803"/>
                <a:gd name="T6" fmla="*/ 0 w 1"/>
                <a:gd name="T7" fmla="*/ 0 h 1803"/>
                <a:gd name="T8" fmla="*/ 0 60000 65536"/>
                <a:gd name="T9" fmla="*/ 0 60000 65536"/>
                <a:gd name="T10" fmla="*/ 0 60000 65536"/>
                <a:gd name="T11" fmla="*/ 0 60000 65536"/>
                <a:gd name="T12" fmla="*/ 0 w 1"/>
                <a:gd name="T13" fmla="*/ 0 h 1803"/>
                <a:gd name="T14" fmla="*/ 1 w 1"/>
                <a:gd name="T15" fmla="*/ 1803 h 1803"/>
              </a:gdLst>
              <a:ahLst/>
              <a:cxnLst>
                <a:cxn ang="T8">
                  <a:pos x="T0" y="T1"/>
                </a:cxn>
                <a:cxn ang="T9">
                  <a:pos x="T2" y="T3"/>
                </a:cxn>
                <a:cxn ang="T10">
                  <a:pos x="T4" y="T5"/>
                </a:cxn>
                <a:cxn ang="T11">
                  <a:pos x="T6" y="T7"/>
                </a:cxn>
              </a:cxnLst>
              <a:rect l="T12" t="T13" r="T14" b="T15"/>
              <a:pathLst>
                <a:path w="1" h="1803">
                  <a:moveTo>
                    <a:pt x="0" y="0"/>
                  </a:moveTo>
                  <a:lnTo>
                    <a:pt x="0" y="1803"/>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4" name="Freeform 13"/>
            <p:cNvSpPr>
              <a:spLocks noChangeAspect="1"/>
            </p:cNvSpPr>
            <p:nvPr/>
          </p:nvSpPr>
          <p:spPr bwMode="auto">
            <a:xfrm>
              <a:off x="2516" y="1040"/>
              <a:ext cx="132" cy="226"/>
            </a:xfrm>
            <a:custGeom>
              <a:avLst/>
              <a:gdLst>
                <a:gd name="T0" fmla="*/ 132 w 132"/>
                <a:gd name="T1" fmla="*/ 179 h 226"/>
                <a:gd name="T2" fmla="*/ 123 w 132"/>
                <a:gd name="T3" fmla="*/ 179 h 226"/>
                <a:gd name="T4" fmla="*/ 113 w 132"/>
                <a:gd name="T5" fmla="*/ 198 h 226"/>
                <a:gd name="T6" fmla="*/ 95 w 132"/>
                <a:gd name="T7" fmla="*/ 198 h 226"/>
                <a:gd name="T8" fmla="*/ 28 w 132"/>
                <a:gd name="T9" fmla="*/ 198 h 226"/>
                <a:gd name="T10" fmla="*/ 76 w 132"/>
                <a:gd name="T11" fmla="*/ 141 h 226"/>
                <a:gd name="T12" fmla="*/ 104 w 132"/>
                <a:gd name="T13" fmla="*/ 104 h 226"/>
                <a:gd name="T14" fmla="*/ 113 w 132"/>
                <a:gd name="T15" fmla="*/ 56 h 226"/>
                <a:gd name="T16" fmla="*/ 113 w 132"/>
                <a:gd name="T17" fmla="*/ 28 h 226"/>
                <a:gd name="T18" fmla="*/ 95 w 132"/>
                <a:gd name="T19" fmla="*/ 19 h 226"/>
                <a:gd name="T20" fmla="*/ 66 w 132"/>
                <a:gd name="T21" fmla="*/ 0 h 226"/>
                <a:gd name="T22" fmla="*/ 28 w 132"/>
                <a:gd name="T23" fmla="*/ 19 h 226"/>
                <a:gd name="T24" fmla="*/ 10 w 132"/>
                <a:gd name="T25" fmla="*/ 38 h 226"/>
                <a:gd name="T26" fmla="*/ 0 w 132"/>
                <a:gd name="T27" fmla="*/ 66 h 226"/>
                <a:gd name="T28" fmla="*/ 10 w 132"/>
                <a:gd name="T29" fmla="*/ 66 h 226"/>
                <a:gd name="T30" fmla="*/ 19 w 132"/>
                <a:gd name="T31" fmla="*/ 38 h 226"/>
                <a:gd name="T32" fmla="*/ 28 w 132"/>
                <a:gd name="T33" fmla="*/ 28 h 226"/>
                <a:gd name="T34" fmla="*/ 47 w 132"/>
                <a:gd name="T35" fmla="*/ 19 h 226"/>
                <a:gd name="T36" fmla="*/ 66 w 132"/>
                <a:gd name="T37" fmla="*/ 28 h 226"/>
                <a:gd name="T38" fmla="*/ 85 w 132"/>
                <a:gd name="T39" fmla="*/ 38 h 226"/>
                <a:gd name="T40" fmla="*/ 85 w 132"/>
                <a:gd name="T41" fmla="*/ 56 h 226"/>
                <a:gd name="T42" fmla="*/ 85 w 132"/>
                <a:gd name="T43" fmla="*/ 66 h 226"/>
                <a:gd name="T44" fmla="*/ 76 w 132"/>
                <a:gd name="T45" fmla="*/ 113 h 226"/>
                <a:gd name="T46" fmla="*/ 47 w 132"/>
                <a:gd name="T47" fmla="*/ 160 h 226"/>
                <a:gd name="T48" fmla="*/ 0 w 132"/>
                <a:gd name="T49" fmla="*/ 217 h 226"/>
                <a:gd name="T50" fmla="*/ 0 w 132"/>
                <a:gd name="T51" fmla="*/ 226 h 226"/>
                <a:gd name="T52" fmla="*/ 113 w 132"/>
                <a:gd name="T53" fmla="*/ 226 h 226"/>
                <a:gd name="T54" fmla="*/ 132 w 132"/>
                <a:gd name="T55" fmla="*/ 179 h 22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2"/>
                <a:gd name="T85" fmla="*/ 0 h 226"/>
                <a:gd name="T86" fmla="*/ 132 w 132"/>
                <a:gd name="T87" fmla="*/ 226 h 22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2" h="226">
                  <a:moveTo>
                    <a:pt x="132" y="179"/>
                  </a:moveTo>
                  <a:lnTo>
                    <a:pt x="123" y="179"/>
                  </a:lnTo>
                  <a:lnTo>
                    <a:pt x="113" y="198"/>
                  </a:lnTo>
                  <a:lnTo>
                    <a:pt x="95" y="198"/>
                  </a:lnTo>
                  <a:lnTo>
                    <a:pt x="28" y="198"/>
                  </a:lnTo>
                  <a:lnTo>
                    <a:pt x="76" y="141"/>
                  </a:lnTo>
                  <a:lnTo>
                    <a:pt x="104" y="104"/>
                  </a:lnTo>
                  <a:lnTo>
                    <a:pt x="113" y="56"/>
                  </a:lnTo>
                  <a:lnTo>
                    <a:pt x="113" y="28"/>
                  </a:lnTo>
                  <a:lnTo>
                    <a:pt x="95" y="19"/>
                  </a:lnTo>
                  <a:lnTo>
                    <a:pt x="66" y="0"/>
                  </a:lnTo>
                  <a:lnTo>
                    <a:pt x="28" y="19"/>
                  </a:lnTo>
                  <a:lnTo>
                    <a:pt x="10" y="38"/>
                  </a:lnTo>
                  <a:lnTo>
                    <a:pt x="0" y="66"/>
                  </a:lnTo>
                  <a:lnTo>
                    <a:pt x="10" y="66"/>
                  </a:lnTo>
                  <a:lnTo>
                    <a:pt x="19" y="38"/>
                  </a:lnTo>
                  <a:lnTo>
                    <a:pt x="28" y="28"/>
                  </a:lnTo>
                  <a:lnTo>
                    <a:pt x="47" y="19"/>
                  </a:lnTo>
                  <a:lnTo>
                    <a:pt x="66" y="28"/>
                  </a:lnTo>
                  <a:lnTo>
                    <a:pt x="85" y="38"/>
                  </a:lnTo>
                  <a:lnTo>
                    <a:pt x="85" y="56"/>
                  </a:lnTo>
                  <a:lnTo>
                    <a:pt x="85" y="66"/>
                  </a:lnTo>
                  <a:lnTo>
                    <a:pt x="76" y="113"/>
                  </a:lnTo>
                  <a:lnTo>
                    <a:pt x="47" y="160"/>
                  </a:lnTo>
                  <a:lnTo>
                    <a:pt x="0" y="217"/>
                  </a:lnTo>
                  <a:lnTo>
                    <a:pt x="0" y="226"/>
                  </a:lnTo>
                  <a:lnTo>
                    <a:pt x="113" y="226"/>
                  </a:lnTo>
                  <a:lnTo>
                    <a:pt x="132"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5" name="Freeform 14"/>
            <p:cNvSpPr>
              <a:spLocks noChangeAspect="1"/>
            </p:cNvSpPr>
            <p:nvPr/>
          </p:nvSpPr>
          <p:spPr bwMode="auto">
            <a:xfrm>
              <a:off x="2733" y="1030"/>
              <a:ext cx="208" cy="236"/>
            </a:xfrm>
            <a:custGeom>
              <a:avLst/>
              <a:gdLst>
                <a:gd name="T0" fmla="*/ 86 w 208"/>
                <a:gd name="T1" fmla="*/ 180 h 236"/>
                <a:gd name="T2" fmla="*/ 67 w 208"/>
                <a:gd name="T3" fmla="*/ 170 h 236"/>
                <a:gd name="T4" fmla="*/ 48 w 208"/>
                <a:gd name="T5" fmla="*/ 142 h 236"/>
                <a:gd name="T6" fmla="*/ 48 w 208"/>
                <a:gd name="T7" fmla="*/ 123 h 236"/>
                <a:gd name="T8" fmla="*/ 48 w 208"/>
                <a:gd name="T9" fmla="*/ 95 h 236"/>
                <a:gd name="T10" fmla="*/ 48 w 208"/>
                <a:gd name="T11" fmla="*/ 57 h 236"/>
                <a:gd name="T12" fmla="*/ 67 w 208"/>
                <a:gd name="T13" fmla="*/ 29 h 236"/>
                <a:gd name="T14" fmla="*/ 86 w 208"/>
                <a:gd name="T15" fmla="*/ 19 h 236"/>
                <a:gd name="T16" fmla="*/ 104 w 208"/>
                <a:gd name="T17" fmla="*/ 19 h 236"/>
                <a:gd name="T18" fmla="*/ 133 w 208"/>
                <a:gd name="T19" fmla="*/ 19 h 236"/>
                <a:gd name="T20" fmla="*/ 152 w 208"/>
                <a:gd name="T21" fmla="*/ 29 h 236"/>
                <a:gd name="T22" fmla="*/ 171 w 208"/>
                <a:gd name="T23" fmla="*/ 95 h 236"/>
                <a:gd name="T24" fmla="*/ 171 w 208"/>
                <a:gd name="T25" fmla="*/ 123 h 236"/>
                <a:gd name="T26" fmla="*/ 161 w 208"/>
                <a:gd name="T27" fmla="*/ 142 h 236"/>
                <a:gd name="T28" fmla="*/ 142 w 208"/>
                <a:gd name="T29" fmla="*/ 170 h 236"/>
                <a:gd name="T30" fmla="*/ 123 w 208"/>
                <a:gd name="T31" fmla="*/ 180 h 236"/>
                <a:gd name="T32" fmla="*/ 123 w 208"/>
                <a:gd name="T33" fmla="*/ 236 h 236"/>
                <a:gd name="T34" fmla="*/ 208 w 208"/>
                <a:gd name="T35" fmla="*/ 236 h 236"/>
                <a:gd name="T36" fmla="*/ 208 w 208"/>
                <a:gd name="T37" fmla="*/ 180 h 236"/>
                <a:gd name="T38" fmla="*/ 208 w 208"/>
                <a:gd name="T39" fmla="*/ 180 h 236"/>
                <a:gd name="T40" fmla="*/ 199 w 208"/>
                <a:gd name="T41" fmla="*/ 199 h 236"/>
                <a:gd name="T42" fmla="*/ 180 w 208"/>
                <a:gd name="T43" fmla="*/ 199 h 236"/>
                <a:gd name="T44" fmla="*/ 142 w 208"/>
                <a:gd name="T45" fmla="*/ 199 h 236"/>
                <a:gd name="T46" fmla="*/ 142 w 208"/>
                <a:gd name="T47" fmla="*/ 189 h 236"/>
                <a:gd name="T48" fmla="*/ 171 w 208"/>
                <a:gd name="T49" fmla="*/ 170 h 236"/>
                <a:gd name="T50" fmla="*/ 190 w 208"/>
                <a:gd name="T51" fmla="*/ 151 h 236"/>
                <a:gd name="T52" fmla="*/ 208 w 208"/>
                <a:gd name="T53" fmla="*/ 104 h 236"/>
                <a:gd name="T54" fmla="*/ 190 w 208"/>
                <a:gd name="T55" fmla="*/ 57 h 236"/>
                <a:gd name="T56" fmla="*/ 180 w 208"/>
                <a:gd name="T57" fmla="*/ 38 h 236"/>
                <a:gd name="T58" fmla="*/ 180 w 208"/>
                <a:gd name="T59" fmla="*/ 29 h 236"/>
                <a:gd name="T60" fmla="*/ 161 w 208"/>
                <a:gd name="T61" fmla="*/ 19 h 236"/>
                <a:gd name="T62" fmla="*/ 133 w 208"/>
                <a:gd name="T63" fmla="*/ 10 h 236"/>
                <a:gd name="T64" fmla="*/ 104 w 208"/>
                <a:gd name="T65" fmla="*/ 0 h 236"/>
                <a:gd name="T66" fmla="*/ 76 w 208"/>
                <a:gd name="T67" fmla="*/ 10 h 236"/>
                <a:gd name="T68" fmla="*/ 48 w 208"/>
                <a:gd name="T69" fmla="*/ 19 h 236"/>
                <a:gd name="T70" fmla="*/ 38 w 208"/>
                <a:gd name="T71" fmla="*/ 29 h 236"/>
                <a:gd name="T72" fmla="*/ 29 w 208"/>
                <a:gd name="T73" fmla="*/ 38 h 236"/>
                <a:gd name="T74" fmla="*/ 19 w 208"/>
                <a:gd name="T75" fmla="*/ 57 h 236"/>
                <a:gd name="T76" fmla="*/ 10 w 208"/>
                <a:gd name="T77" fmla="*/ 104 h 236"/>
                <a:gd name="T78" fmla="*/ 10 w 208"/>
                <a:gd name="T79" fmla="*/ 133 h 236"/>
                <a:gd name="T80" fmla="*/ 19 w 208"/>
                <a:gd name="T81" fmla="*/ 151 h 236"/>
                <a:gd name="T82" fmla="*/ 48 w 208"/>
                <a:gd name="T83" fmla="*/ 170 h 236"/>
                <a:gd name="T84" fmla="*/ 76 w 208"/>
                <a:gd name="T85" fmla="*/ 189 h 236"/>
                <a:gd name="T86" fmla="*/ 76 w 208"/>
                <a:gd name="T87" fmla="*/ 199 h 236"/>
                <a:gd name="T88" fmla="*/ 29 w 208"/>
                <a:gd name="T89" fmla="*/ 199 h 236"/>
                <a:gd name="T90" fmla="*/ 10 w 208"/>
                <a:gd name="T91" fmla="*/ 199 h 236"/>
                <a:gd name="T92" fmla="*/ 10 w 208"/>
                <a:gd name="T93" fmla="*/ 180 h 236"/>
                <a:gd name="T94" fmla="*/ 0 w 208"/>
                <a:gd name="T95" fmla="*/ 180 h 236"/>
                <a:gd name="T96" fmla="*/ 0 w 208"/>
                <a:gd name="T97" fmla="*/ 236 h 236"/>
                <a:gd name="T98" fmla="*/ 86 w 208"/>
                <a:gd name="T99" fmla="*/ 236 h 236"/>
                <a:gd name="T100" fmla="*/ 86 w 208"/>
                <a:gd name="T101" fmla="*/ 180 h 2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8"/>
                <a:gd name="T154" fmla="*/ 0 h 236"/>
                <a:gd name="T155" fmla="*/ 208 w 208"/>
                <a:gd name="T156" fmla="*/ 236 h 2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8" h="236">
                  <a:moveTo>
                    <a:pt x="86" y="180"/>
                  </a:moveTo>
                  <a:lnTo>
                    <a:pt x="67" y="170"/>
                  </a:lnTo>
                  <a:lnTo>
                    <a:pt x="48" y="142"/>
                  </a:lnTo>
                  <a:lnTo>
                    <a:pt x="48" y="123"/>
                  </a:lnTo>
                  <a:lnTo>
                    <a:pt x="48" y="95"/>
                  </a:lnTo>
                  <a:lnTo>
                    <a:pt x="48" y="57"/>
                  </a:lnTo>
                  <a:lnTo>
                    <a:pt x="67" y="29"/>
                  </a:lnTo>
                  <a:lnTo>
                    <a:pt x="86" y="19"/>
                  </a:lnTo>
                  <a:lnTo>
                    <a:pt x="104" y="19"/>
                  </a:lnTo>
                  <a:lnTo>
                    <a:pt x="133" y="19"/>
                  </a:lnTo>
                  <a:lnTo>
                    <a:pt x="152" y="29"/>
                  </a:lnTo>
                  <a:lnTo>
                    <a:pt x="171" y="95"/>
                  </a:lnTo>
                  <a:lnTo>
                    <a:pt x="171" y="123"/>
                  </a:lnTo>
                  <a:lnTo>
                    <a:pt x="161" y="142"/>
                  </a:lnTo>
                  <a:lnTo>
                    <a:pt x="142" y="170"/>
                  </a:lnTo>
                  <a:lnTo>
                    <a:pt x="123" y="180"/>
                  </a:lnTo>
                  <a:lnTo>
                    <a:pt x="123" y="236"/>
                  </a:lnTo>
                  <a:lnTo>
                    <a:pt x="208" y="236"/>
                  </a:lnTo>
                  <a:lnTo>
                    <a:pt x="208" y="180"/>
                  </a:lnTo>
                  <a:lnTo>
                    <a:pt x="199" y="199"/>
                  </a:lnTo>
                  <a:lnTo>
                    <a:pt x="180" y="199"/>
                  </a:lnTo>
                  <a:lnTo>
                    <a:pt x="142" y="199"/>
                  </a:lnTo>
                  <a:lnTo>
                    <a:pt x="142" y="189"/>
                  </a:lnTo>
                  <a:lnTo>
                    <a:pt x="171" y="170"/>
                  </a:lnTo>
                  <a:lnTo>
                    <a:pt x="190" y="151"/>
                  </a:lnTo>
                  <a:lnTo>
                    <a:pt x="208" y="104"/>
                  </a:lnTo>
                  <a:lnTo>
                    <a:pt x="190" y="57"/>
                  </a:lnTo>
                  <a:lnTo>
                    <a:pt x="180" y="38"/>
                  </a:lnTo>
                  <a:lnTo>
                    <a:pt x="180" y="29"/>
                  </a:lnTo>
                  <a:lnTo>
                    <a:pt x="161" y="19"/>
                  </a:lnTo>
                  <a:lnTo>
                    <a:pt x="133" y="10"/>
                  </a:lnTo>
                  <a:lnTo>
                    <a:pt x="104" y="0"/>
                  </a:lnTo>
                  <a:lnTo>
                    <a:pt x="76" y="10"/>
                  </a:lnTo>
                  <a:lnTo>
                    <a:pt x="48" y="19"/>
                  </a:lnTo>
                  <a:lnTo>
                    <a:pt x="38" y="29"/>
                  </a:lnTo>
                  <a:lnTo>
                    <a:pt x="29" y="38"/>
                  </a:lnTo>
                  <a:lnTo>
                    <a:pt x="19" y="57"/>
                  </a:lnTo>
                  <a:lnTo>
                    <a:pt x="10" y="104"/>
                  </a:lnTo>
                  <a:lnTo>
                    <a:pt x="10" y="133"/>
                  </a:lnTo>
                  <a:lnTo>
                    <a:pt x="19" y="151"/>
                  </a:lnTo>
                  <a:lnTo>
                    <a:pt x="48" y="170"/>
                  </a:lnTo>
                  <a:lnTo>
                    <a:pt x="76" y="189"/>
                  </a:lnTo>
                  <a:lnTo>
                    <a:pt x="76" y="199"/>
                  </a:lnTo>
                  <a:lnTo>
                    <a:pt x="29" y="199"/>
                  </a:lnTo>
                  <a:lnTo>
                    <a:pt x="10" y="199"/>
                  </a:lnTo>
                  <a:lnTo>
                    <a:pt x="10" y="180"/>
                  </a:lnTo>
                  <a:lnTo>
                    <a:pt x="0" y="180"/>
                  </a:lnTo>
                  <a:lnTo>
                    <a:pt x="0" y="236"/>
                  </a:lnTo>
                  <a:lnTo>
                    <a:pt x="86" y="236"/>
                  </a:lnTo>
                  <a:lnTo>
                    <a:pt x="86" y="18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6" name="Freeform 15"/>
            <p:cNvSpPr>
              <a:spLocks noChangeAspect="1"/>
            </p:cNvSpPr>
            <p:nvPr/>
          </p:nvSpPr>
          <p:spPr bwMode="auto">
            <a:xfrm>
              <a:off x="3849" y="1040"/>
              <a:ext cx="113" cy="226"/>
            </a:xfrm>
            <a:custGeom>
              <a:avLst/>
              <a:gdLst>
                <a:gd name="T0" fmla="*/ 38 w 113"/>
                <a:gd name="T1" fmla="*/ 113 h 226"/>
                <a:gd name="T2" fmla="*/ 57 w 113"/>
                <a:gd name="T3" fmla="*/ 113 h 226"/>
                <a:gd name="T4" fmla="*/ 76 w 113"/>
                <a:gd name="T5" fmla="*/ 123 h 226"/>
                <a:gd name="T6" fmla="*/ 94 w 113"/>
                <a:gd name="T7" fmla="*/ 141 h 226"/>
                <a:gd name="T8" fmla="*/ 94 w 113"/>
                <a:gd name="T9" fmla="*/ 160 h 226"/>
                <a:gd name="T10" fmla="*/ 94 w 113"/>
                <a:gd name="T11" fmla="*/ 160 h 226"/>
                <a:gd name="T12" fmla="*/ 85 w 113"/>
                <a:gd name="T13" fmla="*/ 198 h 226"/>
                <a:gd name="T14" fmla="*/ 76 w 113"/>
                <a:gd name="T15" fmla="*/ 217 h 226"/>
                <a:gd name="T16" fmla="*/ 57 w 113"/>
                <a:gd name="T17" fmla="*/ 217 h 226"/>
                <a:gd name="T18" fmla="*/ 38 w 113"/>
                <a:gd name="T19" fmla="*/ 207 h 226"/>
                <a:gd name="T20" fmla="*/ 9 w 113"/>
                <a:gd name="T21" fmla="*/ 198 h 226"/>
                <a:gd name="T22" fmla="*/ 9 w 113"/>
                <a:gd name="T23" fmla="*/ 198 h 226"/>
                <a:gd name="T24" fmla="*/ 0 w 113"/>
                <a:gd name="T25" fmla="*/ 207 h 226"/>
                <a:gd name="T26" fmla="*/ 9 w 113"/>
                <a:gd name="T27" fmla="*/ 217 h 226"/>
                <a:gd name="T28" fmla="*/ 19 w 113"/>
                <a:gd name="T29" fmla="*/ 226 h 226"/>
                <a:gd name="T30" fmla="*/ 38 w 113"/>
                <a:gd name="T31" fmla="*/ 226 h 226"/>
                <a:gd name="T32" fmla="*/ 66 w 113"/>
                <a:gd name="T33" fmla="*/ 217 h 226"/>
                <a:gd name="T34" fmla="*/ 94 w 113"/>
                <a:gd name="T35" fmla="*/ 207 h 226"/>
                <a:gd name="T36" fmla="*/ 104 w 113"/>
                <a:gd name="T37" fmla="*/ 179 h 226"/>
                <a:gd name="T38" fmla="*/ 113 w 113"/>
                <a:gd name="T39" fmla="*/ 151 h 226"/>
                <a:gd name="T40" fmla="*/ 113 w 113"/>
                <a:gd name="T41" fmla="*/ 123 h 226"/>
                <a:gd name="T42" fmla="*/ 94 w 113"/>
                <a:gd name="T43" fmla="*/ 104 h 226"/>
                <a:gd name="T44" fmla="*/ 76 w 113"/>
                <a:gd name="T45" fmla="*/ 94 h 226"/>
                <a:gd name="T46" fmla="*/ 94 w 113"/>
                <a:gd name="T47" fmla="*/ 75 h 226"/>
                <a:gd name="T48" fmla="*/ 104 w 113"/>
                <a:gd name="T49" fmla="*/ 47 h 226"/>
                <a:gd name="T50" fmla="*/ 94 w 113"/>
                <a:gd name="T51" fmla="*/ 19 h 226"/>
                <a:gd name="T52" fmla="*/ 85 w 113"/>
                <a:gd name="T53" fmla="*/ 9 h 226"/>
                <a:gd name="T54" fmla="*/ 57 w 113"/>
                <a:gd name="T55" fmla="*/ 0 h 226"/>
                <a:gd name="T56" fmla="*/ 28 w 113"/>
                <a:gd name="T57" fmla="*/ 9 h 226"/>
                <a:gd name="T58" fmla="*/ 9 w 113"/>
                <a:gd name="T59" fmla="*/ 28 h 226"/>
                <a:gd name="T60" fmla="*/ 0 w 113"/>
                <a:gd name="T61" fmla="*/ 56 h 226"/>
                <a:gd name="T62" fmla="*/ 9 w 113"/>
                <a:gd name="T63" fmla="*/ 56 h 226"/>
                <a:gd name="T64" fmla="*/ 19 w 113"/>
                <a:gd name="T65" fmla="*/ 38 h 226"/>
                <a:gd name="T66" fmla="*/ 28 w 113"/>
                <a:gd name="T67" fmla="*/ 28 h 226"/>
                <a:gd name="T68" fmla="*/ 47 w 113"/>
                <a:gd name="T69" fmla="*/ 19 h 226"/>
                <a:gd name="T70" fmla="*/ 76 w 113"/>
                <a:gd name="T71" fmla="*/ 28 h 226"/>
                <a:gd name="T72" fmla="*/ 85 w 113"/>
                <a:gd name="T73" fmla="*/ 56 h 226"/>
                <a:gd name="T74" fmla="*/ 85 w 113"/>
                <a:gd name="T75" fmla="*/ 75 h 226"/>
                <a:gd name="T76" fmla="*/ 66 w 113"/>
                <a:gd name="T77" fmla="*/ 94 h 226"/>
                <a:gd name="T78" fmla="*/ 28 w 113"/>
                <a:gd name="T79" fmla="*/ 113 h 226"/>
                <a:gd name="T80" fmla="*/ 38 w 113"/>
                <a:gd name="T81" fmla="*/ 113 h 22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3"/>
                <a:gd name="T124" fmla="*/ 0 h 226"/>
                <a:gd name="T125" fmla="*/ 113 w 113"/>
                <a:gd name="T126" fmla="*/ 226 h 22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3" h="226">
                  <a:moveTo>
                    <a:pt x="38" y="113"/>
                  </a:moveTo>
                  <a:lnTo>
                    <a:pt x="57" y="113"/>
                  </a:lnTo>
                  <a:lnTo>
                    <a:pt x="76" y="123"/>
                  </a:lnTo>
                  <a:lnTo>
                    <a:pt x="94" y="141"/>
                  </a:lnTo>
                  <a:lnTo>
                    <a:pt x="94" y="160"/>
                  </a:lnTo>
                  <a:lnTo>
                    <a:pt x="85" y="198"/>
                  </a:lnTo>
                  <a:lnTo>
                    <a:pt x="76" y="217"/>
                  </a:lnTo>
                  <a:lnTo>
                    <a:pt x="57" y="217"/>
                  </a:lnTo>
                  <a:lnTo>
                    <a:pt x="38" y="207"/>
                  </a:lnTo>
                  <a:lnTo>
                    <a:pt x="9" y="198"/>
                  </a:lnTo>
                  <a:lnTo>
                    <a:pt x="0" y="207"/>
                  </a:lnTo>
                  <a:lnTo>
                    <a:pt x="9" y="217"/>
                  </a:lnTo>
                  <a:lnTo>
                    <a:pt x="19" y="226"/>
                  </a:lnTo>
                  <a:lnTo>
                    <a:pt x="38" y="226"/>
                  </a:lnTo>
                  <a:lnTo>
                    <a:pt x="66" y="217"/>
                  </a:lnTo>
                  <a:lnTo>
                    <a:pt x="94" y="207"/>
                  </a:lnTo>
                  <a:lnTo>
                    <a:pt x="104" y="179"/>
                  </a:lnTo>
                  <a:lnTo>
                    <a:pt x="113" y="151"/>
                  </a:lnTo>
                  <a:lnTo>
                    <a:pt x="113" y="123"/>
                  </a:lnTo>
                  <a:lnTo>
                    <a:pt x="94" y="104"/>
                  </a:lnTo>
                  <a:lnTo>
                    <a:pt x="76" y="94"/>
                  </a:lnTo>
                  <a:lnTo>
                    <a:pt x="94" y="75"/>
                  </a:lnTo>
                  <a:lnTo>
                    <a:pt x="104" y="47"/>
                  </a:lnTo>
                  <a:lnTo>
                    <a:pt x="94" y="19"/>
                  </a:lnTo>
                  <a:lnTo>
                    <a:pt x="85" y="9"/>
                  </a:lnTo>
                  <a:lnTo>
                    <a:pt x="57" y="0"/>
                  </a:lnTo>
                  <a:lnTo>
                    <a:pt x="28" y="9"/>
                  </a:lnTo>
                  <a:lnTo>
                    <a:pt x="9" y="28"/>
                  </a:lnTo>
                  <a:lnTo>
                    <a:pt x="0" y="56"/>
                  </a:lnTo>
                  <a:lnTo>
                    <a:pt x="9" y="56"/>
                  </a:lnTo>
                  <a:lnTo>
                    <a:pt x="19" y="38"/>
                  </a:lnTo>
                  <a:lnTo>
                    <a:pt x="28" y="28"/>
                  </a:lnTo>
                  <a:lnTo>
                    <a:pt x="47" y="19"/>
                  </a:lnTo>
                  <a:lnTo>
                    <a:pt x="76" y="28"/>
                  </a:lnTo>
                  <a:lnTo>
                    <a:pt x="85" y="56"/>
                  </a:lnTo>
                  <a:lnTo>
                    <a:pt x="85" y="75"/>
                  </a:lnTo>
                  <a:lnTo>
                    <a:pt x="66" y="94"/>
                  </a:lnTo>
                  <a:lnTo>
                    <a:pt x="28" y="113"/>
                  </a:lnTo>
                  <a:lnTo>
                    <a:pt x="38" y="1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7" name="Freeform 16"/>
            <p:cNvSpPr>
              <a:spLocks noChangeAspect="1"/>
            </p:cNvSpPr>
            <p:nvPr/>
          </p:nvSpPr>
          <p:spPr bwMode="auto">
            <a:xfrm>
              <a:off x="4066" y="1040"/>
              <a:ext cx="208" cy="226"/>
            </a:xfrm>
            <a:custGeom>
              <a:avLst/>
              <a:gdLst>
                <a:gd name="T0" fmla="*/ 85 w 208"/>
                <a:gd name="T1" fmla="*/ 170 h 226"/>
                <a:gd name="T2" fmla="*/ 67 w 208"/>
                <a:gd name="T3" fmla="*/ 160 h 226"/>
                <a:gd name="T4" fmla="*/ 48 w 208"/>
                <a:gd name="T5" fmla="*/ 132 h 226"/>
                <a:gd name="T6" fmla="*/ 38 w 208"/>
                <a:gd name="T7" fmla="*/ 113 h 226"/>
                <a:gd name="T8" fmla="*/ 38 w 208"/>
                <a:gd name="T9" fmla="*/ 85 h 226"/>
                <a:gd name="T10" fmla="*/ 57 w 208"/>
                <a:gd name="T11" fmla="*/ 19 h 226"/>
                <a:gd name="T12" fmla="*/ 85 w 208"/>
                <a:gd name="T13" fmla="*/ 9 h 226"/>
                <a:gd name="T14" fmla="*/ 104 w 208"/>
                <a:gd name="T15" fmla="*/ 9 h 226"/>
                <a:gd name="T16" fmla="*/ 123 w 208"/>
                <a:gd name="T17" fmla="*/ 9 h 226"/>
                <a:gd name="T18" fmla="*/ 142 w 208"/>
                <a:gd name="T19" fmla="*/ 19 h 226"/>
                <a:gd name="T20" fmla="*/ 161 w 208"/>
                <a:gd name="T21" fmla="*/ 47 h 226"/>
                <a:gd name="T22" fmla="*/ 171 w 208"/>
                <a:gd name="T23" fmla="*/ 85 h 226"/>
                <a:gd name="T24" fmla="*/ 171 w 208"/>
                <a:gd name="T25" fmla="*/ 113 h 226"/>
                <a:gd name="T26" fmla="*/ 161 w 208"/>
                <a:gd name="T27" fmla="*/ 132 h 226"/>
                <a:gd name="T28" fmla="*/ 142 w 208"/>
                <a:gd name="T29" fmla="*/ 160 h 226"/>
                <a:gd name="T30" fmla="*/ 123 w 208"/>
                <a:gd name="T31" fmla="*/ 170 h 226"/>
                <a:gd name="T32" fmla="*/ 123 w 208"/>
                <a:gd name="T33" fmla="*/ 226 h 226"/>
                <a:gd name="T34" fmla="*/ 208 w 208"/>
                <a:gd name="T35" fmla="*/ 226 h 226"/>
                <a:gd name="T36" fmla="*/ 208 w 208"/>
                <a:gd name="T37" fmla="*/ 170 h 226"/>
                <a:gd name="T38" fmla="*/ 199 w 208"/>
                <a:gd name="T39" fmla="*/ 170 h 226"/>
                <a:gd name="T40" fmla="*/ 199 w 208"/>
                <a:gd name="T41" fmla="*/ 189 h 226"/>
                <a:gd name="T42" fmla="*/ 180 w 208"/>
                <a:gd name="T43" fmla="*/ 189 h 226"/>
                <a:gd name="T44" fmla="*/ 133 w 208"/>
                <a:gd name="T45" fmla="*/ 189 h 226"/>
                <a:gd name="T46" fmla="*/ 133 w 208"/>
                <a:gd name="T47" fmla="*/ 179 h 226"/>
                <a:gd name="T48" fmla="*/ 161 w 208"/>
                <a:gd name="T49" fmla="*/ 160 h 226"/>
                <a:gd name="T50" fmla="*/ 189 w 208"/>
                <a:gd name="T51" fmla="*/ 141 h 226"/>
                <a:gd name="T52" fmla="*/ 199 w 208"/>
                <a:gd name="T53" fmla="*/ 123 h 226"/>
                <a:gd name="T54" fmla="*/ 199 w 208"/>
                <a:gd name="T55" fmla="*/ 94 h 226"/>
                <a:gd name="T56" fmla="*/ 189 w 208"/>
                <a:gd name="T57" fmla="*/ 47 h 226"/>
                <a:gd name="T58" fmla="*/ 180 w 208"/>
                <a:gd name="T59" fmla="*/ 28 h 226"/>
                <a:gd name="T60" fmla="*/ 171 w 208"/>
                <a:gd name="T61" fmla="*/ 19 h 226"/>
                <a:gd name="T62" fmla="*/ 161 w 208"/>
                <a:gd name="T63" fmla="*/ 9 h 226"/>
                <a:gd name="T64" fmla="*/ 133 w 208"/>
                <a:gd name="T65" fmla="*/ 0 h 226"/>
                <a:gd name="T66" fmla="*/ 104 w 208"/>
                <a:gd name="T67" fmla="*/ 0 h 226"/>
                <a:gd name="T68" fmla="*/ 76 w 208"/>
                <a:gd name="T69" fmla="*/ 0 h 226"/>
                <a:gd name="T70" fmla="*/ 48 w 208"/>
                <a:gd name="T71" fmla="*/ 9 h 226"/>
                <a:gd name="T72" fmla="*/ 38 w 208"/>
                <a:gd name="T73" fmla="*/ 19 h 226"/>
                <a:gd name="T74" fmla="*/ 29 w 208"/>
                <a:gd name="T75" fmla="*/ 28 h 226"/>
                <a:gd name="T76" fmla="*/ 19 w 208"/>
                <a:gd name="T77" fmla="*/ 47 h 226"/>
                <a:gd name="T78" fmla="*/ 10 w 208"/>
                <a:gd name="T79" fmla="*/ 94 h 226"/>
                <a:gd name="T80" fmla="*/ 19 w 208"/>
                <a:gd name="T81" fmla="*/ 141 h 226"/>
                <a:gd name="T82" fmla="*/ 38 w 208"/>
                <a:gd name="T83" fmla="*/ 160 h 226"/>
                <a:gd name="T84" fmla="*/ 67 w 208"/>
                <a:gd name="T85" fmla="*/ 179 h 226"/>
                <a:gd name="T86" fmla="*/ 67 w 208"/>
                <a:gd name="T87" fmla="*/ 189 h 226"/>
                <a:gd name="T88" fmla="*/ 29 w 208"/>
                <a:gd name="T89" fmla="*/ 189 h 226"/>
                <a:gd name="T90" fmla="*/ 10 w 208"/>
                <a:gd name="T91" fmla="*/ 189 h 226"/>
                <a:gd name="T92" fmla="*/ 0 w 208"/>
                <a:gd name="T93" fmla="*/ 170 h 226"/>
                <a:gd name="T94" fmla="*/ 0 w 208"/>
                <a:gd name="T95" fmla="*/ 170 h 226"/>
                <a:gd name="T96" fmla="*/ 0 w 208"/>
                <a:gd name="T97" fmla="*/ 226 h 226"/>
                <a:gd name="T98" fmla="*/ 85 w 208"/>
                <a:gd name="T99" fmla="*/ 226 h 226"/>
                <a:gd name="T100" fmla="*/ 85 w 208"/>
                <a:gd name="T101" fmla="*/ 170 h 2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8"/>
                <a:gd name="T154" fmla="*/ 0 h 226"/>
                <a:gd name="T155" fmla="*/ 208 w 208"/>
                <a:gd name="T156" fmla="*/ 226 h 22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8" h="226">
                  <a:moveTo>
                    <a:pt x="85" y="170"/>
                  </a:moveTo>
                  <a:lnTo>
                    <a:pt x="67" y="160"/>
                  </a:lnTo>
                  <a:lnTo>
                    <a:pt x="48" y="132"/>
                  </a:lnTo>
                  <a:lnTo>
                    <a:pt x="38" y="113"/>
                  </a:lnTo>
                  <a:lnTo>
                    <a:pt x="38" y="85"/>
                  </a:lnTo>
                  <a:lnTo>
                    <a:pt x="57" y="19"/>
                  </a:lnTo>
                  <a:lnTo>
                    <a:pt x="85" y="9"/>
                  </a:lnTo>
                  <a:lnTo>
                    <a:pt x="104" y="9"/>
                  </a:lnTo>
                  <a:lnTo>
                    <a:pt x="123" y="9"/>
                  </a:lnTo>
                  <a:lnTo>
                    <a:pt x="142" y="19"/>
                  </a:lnTo>
                  <a:lnTo>
                    <a:pt x="161" y="47"/>
                  </a:lnTo>
                  <a:lnTo>
                    <a:pt x="171" y="85"/>
                  </a:lnTo>
                  <a:lnTo>
                    <a:pt x="171" y="113"/>
                  </a:lnTo>
                  <a:lnTo>
                    <a:pt x="161" y="132"/>
                  </a:lnTo>
                  <a:lnTo>
                    <a:pt x="142" y="160"/>
                  </a:lnTo>
                  <a:lnTo>
                    <a:pt x="123" y="170"/>
                  </a:lnTo>
                  <a:lnTo>
                    <a:pt x="123" y="226"/>
                  </a:lnTo>
                  <a:lnTo>
                    <a:pt x="208" y="226"/>
                  </a:lnTo>
                  <a:lnTo>
                    <a:pt x="208" y="170"/>
                  </a:lnTo>
                  <a:lnTo>
                    <a:pt x="199" y="170"/>
                  </a:lnTo>
                  <a:lnTo>
                    <a:pt x="199" y="189"/>
                  </a:lnTo>
                  <a:lnTo>
                    <a:pt x="180" y="189"/>
                  </a:lnTo>
                  <a:lnTo>
                    <a:pt x="133" y="189"/>
                  </a:lnTo>
                  <a:lnTo>
                    <a:pt x="133" y="179"/>
                  </a:lnTo>
                  <a:lnTo>
                    <a:pt x="161" y="160"/>
                  </a:lnTo>
                  <a:lnTo>
                    <a:pt x="189" y="141"/>
                  </a:lnTo>
                  <a:lnTo>
                    <a:pt x="199" y="123"/>
                  </a:lnTo>
                  <a:lnTo>
                    <a:pt x="199" y="94"/>
                  </a:lnTo>
                  <a:lnTo>
                    <a:pt x="189" y="47"/>
                  </a:lnTo>
                  <a:lnTo>
                    <a:pt x="180" y="28"/>
                  </a:lnTo>
                  <a:lnTo>
                    <a:pt x="171" y="19"/>
                  </a:lnTo>
                  <a:lnTo>
                    <a:pt x="161" y="9"/>
                  </a:lnTo>
                  <a:lnTo>
                    <a:pt x="133" y="0"/>
                  </a:lnTo>
                  <a:lnTo>
                    <a:pt x="104" y="0"/>
                  </a:lnTo>
                  <a:lnTo>
                    <a:pt x="76" y="0"/>
                  </a:lnTo>
                  <a:lnTo>
                    <a:pt x="48" y="9"/>
                  </a:lnTo>
                  <a:lnTo>
                    <a:pt x="38" y="19"/>
                  </a:lnTo>
                  <a:lnTo>
                    <a:pt x="29" y="28"/>
                  </a:lnTo>
                  <a:lnTo>
                    <a:pt x="19" y="47"/>
                  </a:lnTo>
                  <a:lnTo>
                    <a:pt x="10" y="94"/>
                  </a:lnTo>
                  <a:lnTo>
                    <a:pt x="19" y="141"/>
                  </a:lnTo>
                  <a:lnTo>
                    <a:pt x="38" y="160"/>
                  </a:lnTo>
                  <a:lnTo>
                    <a:pt x="67" y="179"/>
                  </a:lnTo>
                  <a:lnTo>
                    <a:pt x="67" y="189"/>
                  </a:lnTo>
                  <a:lnTo>
                    <a:pt x="29" y="189"/>
                  </a:lnTo>
                  <a:lnTo>
                    <a:pt x="10" y="189"/>
                  </a:lnTo>
                  <a:lnTo>
                    <a:pt x="0" y="170"/>
                  </a:lnTo>
                  <a:lnTo>
                    <a:pt x="0" y="226"/>
                  </a:lnTo>
                  <a:lnTo>
                    <a:pt x="85" y="226"/>
                  </a:lnTo>
                  <a:lnTo>
                    <a:pt x="85" y="17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8" name="Freeform 17"/>
            <p:cNvSpPr>
              <a:spLocks noChangeAspect="1"/>
            </p:cNvSpPr>
            <p:nvPr/>
          </p:nvSpPr>
          <p:spPr bwMode="auto">
            <a:xfrm>
              <a:off x="5135" y="2314"/>
              <a:ext cx="75" cy="226"/>
            </a:xfrm>
            <a:custGeom>
              <a:avLst/>
              <a:gdLst>
                <a:gd name="T0" fmla="*/ 0 w 75"/>
                <a:gd name="T1" fmla="*/ 226 h 226"/>
                <a:gd name="T2" fmla="*/ 75 w 75"/>
                <a:gd name="T3" fmla="*/ 226 h 226"/>
                <a:gd name="T4" fmla="*/ 75 w 75"/>
                <a:gd name="T5" fmla="*/ 217 h 226"/>
                <a:gd name="T6" fmla="*/ 56 w 75"/>
                <a:gd name="T7" fmla="*/ 217 h 226"/>
                <a:gd name="T8" fmla="*/ 47 w 75"/>
                <a:gd name="T9" fmla="*/ 198 h 226"/>
                <a:gd name="T10" fmla="*/ 47 w 75"/>
                <a:gd name="T11" fmla="*/ 0 h 226"/>
                <a:gd name="T12" fmla="*/ 47 w 75"/>
                <a:gd name="T13" fmla="*/ 0 h 226"/>
                <a:gd name="T14" fmla="*/ 0 w 75"/>
                <a:gd name="T15" fmla="*/ 28 h 226"/>
                <a:gd name="T16" fmla="*/ 0 w 75"/>
                <a:gd name="T17" fmla="*/ 28 h 226"/>
                <a:gd name="T18" fmla="*/ 9 w 75"/>
                <a:gd name="T19" fmla="*/ 28 h 226"/>
                <a:gd name="T20" fmla="*/ 19 w 75"/>
                <a:gd name="T21" fmla="*/ 28 h 226"/>
                <a:gd name="T22" fmla="*/ 28 w 75"/>
                <a:gd name="T23" fmla="*/ 38 h 226"/>
                <a:gd name="T24" fmla="*/ 28 w 75"/>
                <a:gd name="T25" fmla="*/ 38 h 226"/>
                <a:gd name="T26" fmla="*/ 28 w 75"/>
                <a:gd name="T27" fmla="*/ 189 h 226"/>
                <a:gd name="T28" fmla="*/ 28 w 75"/>
                <a:gd name="T29" fmla="*/ 208 h 226"/>
                <a:gd name="T30" fmla="*/ 19 w 75"/>
                <a:gd name="T31" fmla="*/ 217 h 226"/>
                <a:gd name="T32" fmla="*/ 0 w 75"/>
                <a:gd name="T33" fmla="*/ 217 h 226"/>
                <a:gd name="T34" fmla="*/ 0 w 75"/>
                <a:gd name="T35" fmla="*/ 226 h 2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5"/>
                <a:gd name="T55" fmla="*/ 0 h 226"/>
                <a:gd name="T56" fmla="*/ 75 w 75"/>
                <a:gd name="T57" fmla="*/ 226 h 2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5" h="226">
                  <a:moveTo>
                    <a:pt x="0" y="226"/>
                  </a:moveTo>
                  <a:lnTo>
                    <a:pt x="75" y="226"/>
                  </a:lnTo>
                  <a:lnTo>
                    <a:pt x="75" y="217"/>
                  </a:lnTo>
                  <a:lnTo>
                    <a:pt x="56" y="217"/>
                  </a:lnTo>
                  <a:lnTo>
                    <a:pt x="47" y="198"/>
                  </a:lnTo>
                  <a:lnTo>
                    <a:pt x="47" y="0"/>
                  </a:lnTo>
                  <a:lnTo>
                    <a:pt x="0" y="28"/>
                  </a:lnTo>
                  <a:lnTo>
                    <a:pt x="9" y="28"/>
                  </a:lnTo>
                  <a:lnTo>
                    <a:pt x="19" y="28"/>
                  </a:lnTo>
                  <a:lnTo>
                    <a:pt x="28" y="38"/>
                  </a:lnTo>
                  <a:lnTo>
                    <a:pt x="28" y="189"/>
                  </a:lnTo>
                  <a:lnTo>
                    <a:pt x="28" y="208"/>
                  </a:lnTo>
                  <a:lnTo>
                    <a:pt x="19" y="217"/>
                  </a:lnTo>
                  <a:lnTo>
                    <a:pt x="0" y="217"/>
                  </a:lnTo>
                  <a:lnTo>
                    <a:pt x="0" y="22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599" name="Freeform 18"/>
            <p:cNvSpPr>
              <a:spLocks noChangeAspect="1"/>
            </p:cNvSpPr>
            <p:nvPr/>
          </p:nvSpPr>
          <p:spPr bwMode="auto">
            <a:xfrm>
              <a:off x="5248" y="2314"/>
              <a:ext cx="132" cy="226"/>
            </a:xfrm>
            <a:custGeom>
              <a:avLst/>
              <a:gdLst>
                <a:gd name="T0" fmla="*/ 132 w 132"/>
                <a:gd name="T1" fmla="*/ 179 h 226"/>
                <a:gd name="T2" fmla="*/ 132 w 132"/>
                <a:gd name="T3" fmla="*/ 179 h 226"/>
                <a:gd name="T4" fmla="*/ 123 w 132"/>
                <a:gd name="T5" fmla="*/ 198 h 226"/>
                <a:gd name="T6" fmla="*/ 104 w 132"/>
                <a:gd name="T7" fmla="*/ 198 h 226"/>
                <a:gd name="T8" fmla="*/ 28 w 132"/>
                <a:gd name="T9" fmla="*/ 198 h 226"/>
                <a:gd name="T10" fmla="*/ 85 w 132"/>
                <a:gd name="T11" fmla="*/ 142 h 226"/>
                <a:gd name="T12" fmla="*/ 104 w 132"/>
                <a:gd name="T13" fmla="*/ 104 h 226"/>
                <a:gd name="T14" fmla="*/ 123 w 132"/>
                <a:gd name="T15" fmla="*/ 85 h 226"/>
                <a:gd name="T16" fmla="*/ 123 w 132"/>
                <a:gd name="T17" fmla="*/ 57 h 226"/>
                <a:gd name="T18" fmla="*/ 123 w 132"/>
                <a:gd name="T19" fmla="*/ 28 h 226"/>
                <a:gd name="T20" fmla="*/ 104 w 132"/>
                <a:gd name="T21" fmla="*/ 19 h 226"/>
                <a:gd name="T22" fmla="*/ 66 w 132"/>
                <a:gd name="T23" fmla="*/ 0 h 226"/>
                <a:gd name="T24" fmla="*/ 47 w 132"/>
                <a:gd name="T25" fmla="*/ 0 h 226"/>
                <a:gd name="T26" fmla="*/ 28 w 132"/>
                <a:gd name="T27" fmla="*/ 9 h 226"/>
                <a:gd name="T28" fmla="*/ 10 w 132"/>
                <a:gd name="T29" fmla="*/ 28 h 226"/>
                <a:gd name="T30" fmla="*/ 0 w 132"/>
                <a:gd name="T31" fmla="*/ 66 h 226"/>
                <a:gd name="T32" fmla="*/ 10 w 132"/>
                <a:gd name="T33" fmla="*/ 66 h 226"/>
                <a:gd name="T34" fmla="*/ 28 w 132"/>
                <a:gd name="T35" fmla="*/ 38 h 226"/>
                <a:gd name="T36" fmla="*/ 38 w 132"/>
                <a:gd name="T37" fmla="*/ 28 h 226"/>
                <a:gd name="T38" fmla="*/ 57 w 132"/>
                <a:gd name="T39" fmla="*/ 19 h 226"/>
                <a:gd name="T40" fmla="*/ 76 w 132"/>
                <a:gd name="T41" fmla="*/ 28 h 226"/>
                <a:gd name="T42" fmla="*/ 85 w 132"/>
                <a:gd name="T43" fmla="*/ 38 h 226"/>
                <a:gd name="T44" fmla="*/ 95 w 132"/>
                <a:gd name="T45" fmla="*/ 57 h 226"/>
                <a:gd name="T46" fmla="*/ 95 w 132"/>
                <a:gd name="T47" fmla="*/ 66 h 226"/>
                <a:gd name="T48" fmla="*/ 85 w 132"/>
                <a:gd name="T49" fmla="*/ 113 h 226"/>
                <a:gd name="T50" fmla="*/ 57 w 132"/>
                <a:gd name="T51" fmla="*/ 151 h 226"/>
                <a:gd name="T52" fmla="*/ 0 w 132"/>
                <a:gd name="T53" fmla="*/ 217 h 226"/>
                <a:gd name="T54" fmla="*/ 0 w 132"/>
                <a:gd name="T55" fmla="*/ 226 h 226"/>
                <a:gd name="T56" fmla="*/ 123 w 132"/>
                <a:gd name="T57" fmla="*/ 226 h 226"/>
                <a:gd name="T58" fmla="*/ 132 w 132"/>
                <a:gd name="T59" fmla="*/ 179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2"/>
                <a:gd name="T91" fmla="*/ 0 h 226"/>
                <a:gd name="T92" fmla="*/ 132 w 132"/>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2" h="226">
                  <a:moveTo>
                    <a:pt x="132" y="179"/>
                  </a:moveTo>
                  <a:lnTo>
                    <a:pt x="132" y="179"/>
                  </a:lnTo>
                  <a:lnTo>
                    <a:pt x="123" y="198"/>
                  </a:lnTo>
                  <a:lnTo>
                    <a:pt x="104" y="198"/>
                  </a:lnTo>
                  <a:lnTo>
                    <a:pt x="28" y="198"/>
                  </a:lnTo>
                  <a:lnTo>
                    <a:pt x="85" y="142"/>
                  </a:lnTo>
                  <a:lnTo>
                    <a:pt x="104" y="104"/>
                  </a:lnTo>
                  <a:lnTo>
                    <a:pt x="123" y="85"/>
                  </a:lnTo>
                  <a:lnTo>
                    <a:pt x="123" y="57"/>
                  </a:lnTo>
                  <a:lnTo>
                    <a:pt x="123" y="28"/>
                  </a:lnTo>
                  <a:lnTo>
                    <a:pt x="104" y="19"/>
                  </a:lnTo>
                  <a:lnTo>
                    <a:pt x="66" y="0"/>
                  </a:lnTo>
                  <a:lnTo>
                    <a:pt x="47" y="0"/>
                  </a:lnTo>
                  <a:lnTo>
                    <a:pt x="28" y="9"/>
                  </a:lnTo>
                  <a:lnTo>
                    <a:pt x="10" y="28"/>
                  </a:lnTo>
                  <a:lnTo>
                    <a:pt x="0" y="66"/>
                  </a:lnTo>
                  <a:lnTo>
                    <a:pt x="10" y="66"/>
                  </a:lnTo>
                  <a:lnTo>
                    <a:pt x="28" y="38"/>
                  </a:lnTo>
                  <a:lnTo>
                    <a:pt x="38" y="28"/>
                  </a:lnTo>
                  <a:lnTo>
                    <a:pt x="57" y="19"/>
                  </a:lnTo>
                  <a:lnTo>
                    <a:pt x="76" y="28"/>
                  </a:lnTo>
                  <a:lnTo>
                    <a:pt x="85" y="38"/>
                  </a:lnTo>
                  <a:lnTo>
                    <a:pt x="95" y="57"/>
                  </a:lnTo>
                  <a:lnTo>
                    <a:pt x="95" y="66"/>
                  </a:lnTo>
                  <a:lnTo>
                    <a:pt x="85" y="113"/>
                  </a:lnTo>
                  <a:lnTo>
                    <a:pt x="57" y="151"/>
                  </a:lnTo>
                  <a:lnTo>
                    <a:pt x="0" y="217"/>
                  </a:lnTo>
                  <a:lnTo>
                    <a:pt x="0" y="226"/>
                  </a:lnTo>
                  <a:lnTo>
                    <a:pt x="123" y="226"/>
                  </a:lnTo>
                  <a:lnTo>
                    <a:pt x="132"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0" name="Freeform 19"/>
            <p:cNvSpPr>
              <a:spLocks noChangeAspect="1"/>
            </p:cNvSpPr>
            <p:nvPr/>
          </p:nvSpPr>
          <p:spPr bwMode="auto">
            <a:xfrm>
              <a:off x="5456" y="2314"/>
              <a:ext cx="199" cy="226"/>
            </a:xfrm>
            <a:custGeom>
              <a:avLst/>
              <a:gdLst>
                <a:gd name="T0" fmla="*/ 199 w 199"/>
                <a:gd name="T1" fmla="*/ 0 h 226"/>
                <a:gd name="T2" fmla="*/ 132 w 199"/>
                <a:gd name="T3" fmla="*/ 0 h 226"/>
                <a:gd name="T4" fmla="*/ 132 w 199"/>
                <a:gd name="T5" fmla="*/ 9 h 226"/>
                <a:gd name="T6" fmla="*/ 151 w 199"/>
                <a:gd name="T7" fmla="*/ 9 h 226"/>
                <a:gd name="T8" fmla="*/ 161 w 199"/>
                <a:gd name="T9" fmla="*/ 28 h 226"/>
                <a:gd name="T10" fmla="*/ 161 w 199"/>
                <a:gd name="T11" fmla="*/ 38 h 226"/>
                <a:gd name="T12" fmla="*/ 151 w 199"/>
                <a:gd name="T13" fmla="*/ 47 h 226"/>
                <a:gd name="T14" fmla="*/ 113 w 199"/>
                <a:gd name="T15" fmla="*/ 170 h 226"/>
                <a:gd name="T16" fmla="*/ 66 w 199"/>
                <a:gd name="T17" fmla="*/ 57 h 226"/>
                <a:gd name="T18" fmla="*/ 57 w 199"/>
                <a:gd name="T19" fmla="*/ 38 h 226"/>
                <a:gd name="T20" fmla="*/ 57 w 199"/>
                <a:gd name="T21" fmla="*/ 19 h 226"/>
                <a:gd name="T22" fmla="*/ 57 w 199"/>
                <a:gd name="T23" fmla="*/ 9 h 226"/>
                <a:gd name="T24" fmla="*/ 76 w 199"/>
                <a:gd name="T25" fmla="*/ 9 h 226"/>
                <a:gd name="T26" fmla="*/ 76 w 199"/>
                <a:gd name="T27" fmla="*/ 0 h 226"/>
                <a:gd name="T28" fmla="*/ 0 w 199"/>
                <a:gd name="T29" fmla="*/ 0 h 226"/>
                <a:gd name="T30" fmla="*/ 0 w 199"/>
                <a:gd name="T31" fmla="*/ 9 h 226"/>
                <a:gd name="T32" fmla="*/ 19 w 199"/>
                <a:gd name="T33" fmla="*/ 19 h 226"/>
                <a:gd name="T34" fmla="*/ 19 w 199"/>
                <a:gd name="T35" fmla="*/ 28 h 226"/>
                <a:gd name="T36" fmla="*/ 28 w 199"/>
                <a:gd name="T37" fmla="*/ 47 h 226"/>
                <a:gd name="T38" fmla="*/ 104 w 199"/>
                <a:gd name="T39" fmla="*/ 226 h 226"/>
                <a:gd name="T40" fmla="*/ 104 w 199"/>
                <a:gd name="T41" fmla="*/ 226 h 226"/>
                <a:gd name="T42" fmla="*/ 170 w 199"/>
                <a:gd name="T43" fmla="*/ 38 h 226"/>
                <a:gd name="T44" fmla="*/ 180 w 199"/>
                <a:gd name="T45" fmla="*/ 19 h 226"/>
                <a:gd name="T46" fmla="*/ 199 w 199"/>
                <a:gd name="T47" fmla="*/ 9 h 226"/>
                <a:gd name="T48" fmla="*/ 199 w 199"/>
                <a:gd name="T49" fmla="*/ 0 h 2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
                <a:gd name="T76" fmla="*/ 0 h 226"/>
                <a:gd name="T77" fmla="*/ 199 w 199"/>
                <a:gd name="T78" fmla="*/ 226 h 22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 h="226">
                  <a:moveTo>
                    <a:pt x="199" y="0"/>
                  </a:moveTo>
                  <a:lnTo>
                    <a:pt x="132" y="0"/>
                  </a:lnTo>
                  <a:lnTo>
                    <a:pt x="132" y="9"/>
                  </a:lnTo>
                  <a:lnTo>
                    <a:pt x="151" y="9"/>
                  </a:lnTo>
                  <a:lnTo>
                    <a:pt x="161" y="28"/>
                  </a:lnTo>
                  <a:lnTo>
                    <a:pt x="161" y="38"/>
                  </a:lnTo>
                  <a:lnTo>
                    <a:pt x="151" y="47"/>
                  </a:lnTo>
                  <a:lnTo>
                    <a:pt x="113" y="170"/>
                  </a:lnTo>
                  <a:lnTo>
                    <a:pt x="66" y="57"/>
                  </a:lnTo>
                  <a:lnTo>
                    <a:pt x="57" y="38"/>
                  </a:lnTo>
                  <a:lnTo>
                    <a:pt x="57" y="19"/>
                  </a:lnTo>
                  <a:lnTo>
                    <a:pt x="57" y="9"/>
                  </a:lnTo>
                  <a:lnTo>
                    <a:pt x="76" y="9"/>
                  </a:lnTo>
                  <a:lnTo>
                    <a:pt x="76" y="0"/>
                  </a:lnTo>
                  <a:lnTo>
                    <a:pt x="0" y="0"/>
                  </a:lnTo>
                  <a:lnTo>
                    <a:pt x="0" y="9"/>
                  </a:lnTo>
                  <a:lnTo>
                    <a:pt x="19" y="19"/>
                  </a:lnTo>
                  <a:lnTo>
                    <a:pt x="19" y="28"/>
                  </a:lnTo>
                  <a:lnTo>
                    <a:pt x="28" y="47"/>
                  </a:lnTo>
                  <a:lnTo>
                    <a:pt x="104" y="226"/>
                  </a:lnTo>
                  <a:lnTo>
                    <a:pt x="170" y="38"/>
                  </a:lnTo>
                  <a:lnTo>
                    <a:pt x="180" y="19"/>
                  </a:lnTo>
                  <a:lnTo>
                    <a:pt x="199" y="9"/>
                  </a:lnTo>
                  <a:lnTo>
                    <a:pt x="19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1" name="Freeform 20"/>
            <p:cNvSpPr>
              <a:spLocks noChangeAspect="1"/>
            </p:cNvSpPr>
            <p:nvPr/>
          </p:nvSpPr>
          <p:spPr bwMode="auto">
            <a:xfrm>
              <a:off x="3386" y="1559"/>
              <a:ext cx="1" cy="1803"/>
            </a:xfrm>
            <a:custGeom>
              <a:avLst/>
              <a:gdLst>
                <a:gd name="T0" fmla="*/ 0 w 1"/>
                <a:gd name="T1" fmla="*/ 0 h 1803"/>
                <a:gd name="T2" fmla="*/ 0 w 1"/>
                <a:gd name="T3" fmla="*/ 1803 h 1803"/>
                <a:gd name="T4" fmla="*/ 0 w 1"/>
                <a:gd name="T5" fmla="*/ 0 h 1803"/>
                <a:gd name="T6" fmla="*/ 0 w 1"/>
                <a:gd name="T7" fmla="*/ 0 h 1803"/>
                <a:gd name="T8" fmla="*/ 0 60000 65536"/>
                <a:gd name="T9" fmla="*/ 0 60000 65536"/>
                <a:gd name="T10" fmla="*/ 0 60000 65536"/>
                <a:gd name="T11" fmla="*/ 0 60000 65536"/>
                <a:gd name="T12" fmla="*/ 0 w 1"/>
                <a:gd name="T13" fmla="*/ 0 h 1803"/>
                <a:gd name="T14" fmla="*/ 1 w 1"/>
                <a:gd name="T15" fmla="*/ 1803 h 1803"/>
              </a:gdLst>
              <a:ahLst/>
              <a:cxnLst>
                <a:cxn ang="T8">
                  <a:pos x="T0" y="T1"/>
                </a:cxn>
                <a:cxn ang="T9">
                  <a:pos x="T2" y="T3"/>
                </a:cxn>
                <a:cxn ang="T10">
                  <a:pos x="T4" y="T5"/>
                </a:cxn>
                <a:cxn ang="T11">
                  <a:pos x="T6" y="T7"/>
                </a:cxn>
              </a:cxnLst>
              <a:rect l="T12" t="T13" r="T14" b="T15"/>
              <a:pathLst>
                <a:path w="1" h="1803">
                  <a:moveTo>
                    <a:pt x="0" y="0"/>
                  </a:moveTo>
                  <a:lnTo>
                    <a:pt x="0" y="1803"/>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2" name="Freeform 21"/>
            <p:cNvSpPr>
              <a:spLocks noChangeAspect="1" noEditPoints="1"/>
            </p:cNvSpPr>
            <p:nvPr/>
          </p:nvSpPr>
          <p:spPr bwMode="auto">
            <a:xfrm>
              <a:off x="2715" y="2314"/>
              <a:ext cx="113" cy="226"/>
            </a:xfrm>
            <a:custGeom>
              <a:avLst/>
              <a:gdLst>
                <a:gd name="T0" fmla="*/ 47 w 113"/>
                <a:gd name="T1" fmla="*/ 123 h 226"/>
                <a:gd name="T2" fmla="*/ 75 w 113"/>
                <a:gd name="T3" fmla="*/ 142 h 226"/>
                <a:gd name="T4" fmla="*/ 85 w 113"/>
                <a:gd name="T5" fmla="*/ 151 h 226"/>
                <a:gd name="T6" fmla="*/ 94 w 113"/>
                <a:gd name="T7" fmla="*/ 179 h 226"/>
                <a:gd name="T8" fmla="*/ 85 w 113"/>
                <a:gd name="T9" fmla="*/ 208 h 226"/>
                <a:gd name="T10" fmla="*/ 66 w 113"/>
                <a:gd name="T11" fmla="*/ 217 h 226"/>
                <a:gd name="T12" fmla="*/ 37 w 113"/>
                <a:gd name="T13" fmla="*/ 208 h 226"/>
                <a:gd name="T14" fmla="*/ 28 w 113"/>
                <a:gd name="T15" fmla="*/ 170 h 226"/>
                <a:gd name="T16" fmla="*/ 37 w 113"/>
                <a:gd name="T17" fmla="*/ 142 h 226"/>
                <a:gd name="T18" fmla="*/ 47 w 113"/>
                <a:gd name="T19" fmla="*/ 123 h 226"/>
                <a:gd name="T20" fmla="*/ 47 w 113"/>
                <a:gd name="T21" fmla="*/ 123 h 226"/>
                <a:gd name="T22" fmla="*/ 0 w 113"/>
                <a:gd name="T23" fmla="*/ 170 h 226"/>
                <a:gd name="T24" fmla="*/ 18 w 113"/>
                <a:gd name="T25" fmla="*/ 208 h 226"/>
                <a:gd name="T26" fmla="*/ 28 w 113"/>
                <a:gd name="T27" fmla="*/ 226 h 226"/>
                <a:gd name="T28" fmla="*/ 56 w 113"/>
                <a:gd name="T29" fmla="*/ 226 h 226"/>
                <a:gd name="T30" fmla="*/ 85 w 113"/>
                <a:gd name="T31" fmla="*/ 217 h 226"/>
                <a:gd name="T32" fmla="*/ 104 w 113"/>
                <a:gd name="T33" fmla="*/ 208 h 226"/>
                <a:gd name="T34" fmla="*/ 113 w 113"/>
                <a:gd name="T35" fmla="*/ 170 h 226"/>
                <a:gd name="T36" fmla="*/ 104 w 113"/>
                <a:gd name="T37" fmla="*/ 142 h 226"/>
                <a:gd name="T38" fmla="*/ 94 w 113"/>
                <a:gd name="T39" fmla="*/ 123 h 226"/>
                <a:gd name="T40" fmla="*/ 66 w 113"/>
                <a:gd name="T41" fmla="*/ 104 h 226"/>
                <a:gd name="T42" fmla="*/ 94 w 113"/>
                <a:gd name="T43" fmla="*/ 85 h 226"/>
                <a:gd name="T44" fmla="*/ 113 w 113"/>
                <a:gd name="T45" fmla="*/ 66 h 226"/>
                <a:gd name="T46" fmla="*/ 113 w 113"/>
                <a:gd name="T47" fmla="*/ 47 h 226"/>
                <a:gd name="T48" fmla="*/ 104 w 113"/>
                <a:gd name="T49" fmla="*/ 9 h 226"/>
                <a:gd name="T50" fmla="*/ 56 w 113"/>
                <a:gd name="T51" fmla="*/ 0 h 226"/>
                <a:gd name="T52" fmla="*/ 18 w 113"/>
                <a:gd name="T53" fmla="*/ 9 h 226"/>
                <a:gd name="T54" fmla="*/ 9 w 113"/>
                <a:gd name="T55" fmla="*/ 28 h 226"/>
                <a:gd name="T56" fmla="*/ 0 w 113"/>
                <a:gd name="T57" fmla="*/ 47 h 226"/>
                <a:gd name="T58" fmla="*/ 9 w 113"/>
                <a:gd name="T59" fmla="*/ 85 h 226"/>
                <a:gd name="T60" fmla="*/ 37 w 113"/>
                <a:gd name="T61" fmla="*/ 113 h 226"/>
                <a:gd name="T62" fmla="*/ 9 w 113"/>
                <a:gd name="T63" fmla="*/ 142 h 226"/>
                <a:gd name="T64" fmla="*/ 0 w 113"/>
                <a:gd name="T65" fmla="*/ 170 h 226"/>
                <a:gd name="T66" fmla="*/ 0 w 113"/>
                <a:gd name="T67" fmla="*/ 170 h 226"/>
                <a:gd name="T68" fmla="*/ 28 w 113"/>
                <a:gd name="T69" fmla="*/ 38 h 226"/>
                <a:gd name="T70" fmla="*/ 37 w 113"/>
                <a:gd name="T71" fmla="*/ 19 h 226"/>
                <a:gd name="T72" fmla="*/ 56 w 113"/>
                <a:gd name="T73" fmla="*/ 9 h 226"/>
                <a:gd name="T74" fmla="*/ 75 w 113"/>
                <a:gd name="T75" fmla="*/ 19 h 226"/>
                <a:gd name="T76" fmla="*/ 85 w 113"/>
                <a:gd name="T77" fmla="*/ 47 h 226"/>
                <a:gd name="T78" fmla="*/ 75 w 113"/>
                <a:gd name="T79" fmla="*/ 75 h 226"/>
                <a:gd name="T80" fmla="*/ 66 w 113"/>
                <a:gd name="T81" fmla="*/ 94 h 226"/>
                <a:gd name="T82" fmla="*/ 37 w 113"/>
                <a:gd name="T83" fmla="*/ 75 h 226"/>
                <a:gd name="T84" fmla="*/ 28 w 113"/>
                <a:gd name="T85" fmla="*/ 38 h 226"/>
                <a:gd name="T86" fmla="*/ 28 w 113"/>
                <a:gd name="T87" fmla="*/ 38 h 22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3"/>
                <a:gd name="T133" fmla="*/ 0 h 226"/>
                <a:gd name="T134" fmla="*/ 113 w 113"/>
                <a:gd name="T135" fmla="*/ 226 h 22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3" h="226">
                  <a:moveTo>
                    <a:pt x="47" y="123"/>
                  </a:moveTo>
                  <a:lnTo>
                    <a:pt x="75" y="142"/>
                  </a:lnTo>
                  <a:lnTo>
                    <a:pt x="85" y="151"/>
                  </a:lnTo>
                  <a:lnTo>
                    <a:pt x="94" y="179"/>
                  </a:lnTo>
                  <a:lnTo>
                    <a:pt x="85" y="208"/>
                  </a:lnTo>
                  <a:lnTo>
                    <a:pt x="66" y="217"/>
                  </a:lnTo>
                  <a:lnTo>
                    <a:pt x="37" y="208"/>
                  </a:lnTo>
                  <a:lnTo>
                    <a:pt x="28" y="170"/>
                  </a:lnTo>
                  <a:lnTo>
                    <a:pt x="37" y="142"/>
                  </a:lnTo>
                  <a:lnTo>
                    <a:pt x="47" y="123"/>
                  </a:lnTo>
                  <a:close/>
                  <a:moveTo>
                    <a:pt x="0" y="170"/>
                  </a:moveTo>
                  <a:lnTo>
                    <a:pt x="18" y="208"/>
                  </a:lnTo>
                  <a:lnTo>
                    <a:pt x="28" y="226"/>
                  </a:lnTo>
                  <a:lnTo>
                    <a:pt x="56" y="226"/>
                  </a:lnTo>
                  <a:lnTo>
                    <a:pt x="85" y="217"/>
                  </a:lnTo>
                  <a:lnTo>
                    <a:pt x="104" y="208"/>
                  </a:lnTo>
                  <a:lnTo>
                    <a:pt x="113" y="170"/>
                  </a:lnTo>
                  <a:lnTo>
                    <a:pt x="104" y="142"/>
                  </a:lnTo>
                  <a:lnTo>
                    <a:pt x="94" y="123"/>
                  </a:lnTo>
                  <a:lnTo>
                    <a:pt x="66" y="104"/>
                  </a:lnTo>
                  <a:lnTo>
                    <a:pt x="94" y="85"/>
                  </a:lnTo>
                  <a:lnTo>
                    <a:pt x="113" y="66"/>
                  </a:lnTo>
                  <a:lnTo>
                    <a:pt x="113" y="47"/>
                  </a:lnTo>
                  <a:lnTo>
                    <a:pt x="104" y="9"/>
                  </a:lnTo>
                  <a:lnTo>
                    <a:pt x="56" y="0"/>
                  </a:lnTo>
                  <a:lnTo>
                    <a:pt x="18" y="9"/>
                  </a:lnTo>
                  <a:lnTo>
                    <a:pt x="9" y="28"/>
                  </a:lnTo>
                  <a:lnTo>
                    <a:pt x="0" y="47"/>
                  </a:lnTo>
                  <a:lnTo>
                    <a:pt x="9" y="85"/>
                  </a:lnTo>
                  <a:lnTo>
                    <a:pt x="37" y="113"/>
                  </a:lnTo>
                  <a:lnTo>
                    <a:pt x="9" y="142"/>
                  </a:lnTo>
                  <a:lnTo>
                    <a:pt x="0" y="170"/>
                  </a:lnTo>
                  <a:close/>
                  <a:moveTo>
                    <a:pt x="28" y="38"/>
                  </a:moveTo>
                  <a:lnTo>
                    <a:pt x="37" y="19"/>
                  </a:lnTo>
                  <a:lnTo>
                    <a:pt x="56" y="9"/>
                  </a:lnTo>
                  <a:lnTo>
                    <a:pt x="75" y="19"/>
                  </a:lnTo>
                  <a:lnTo>
                    <a:pt x="85" y="47"/>
                  </a:lnTo>
                  <a:lnTo>
                    <a:pt x="75" y="75"/>
                  </a:lnTo>
                  <a:lnTo>
                    <a:pt x="66" y="94"/>
                  </a:lnTo>
                  <a:lnTo>
                    <a:pt x="37" y="75"/>
                  </a:lnTo>
                  <a:lnTo>
                    <a:pt x="28"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3" name="Freeform 22"/>
            <p:cNvSpPr>
              <a:spLocks noChangeAspect="1"/>
            </p:cNvSpPr>
            <p:nvPr/>
          </p:nvSpPr>
          <p:spPr bwMode="auto">
            <a:xfrm>
              <a:off x="2932" y="2305"/>
              <a:ext cx="199" cy="235"/>
            </a:xfrm>
            <a:custGeom>
              <a:avLst/>
              <a:gdLst>
                <a:gd name="T0" fmla="*/ 76 w 199"/>
                <a:gd name="T1" fmla="*/ 179 h 235"/>
                <a:gd name="T2" fmla="*/ 66 w 199"/>
                <a:gd name="T3" fmla="*/ 169 h 235"/>
                <a:gd name="T4" fmla="*/ 47 w 199"/>
                <a:gd name="T5" fmla="*/ 141 h 235"/>
                <a:gd name="T6" fmla="*/ 38 w 199"/>
                <a:gd name="T7" fmla="*/ 122 h 235"/>
                <a:gd name="T8" fmla="*/ 38 w 199"/>
                <a:gd name="T9" fmla="*/ 84 h 235"/>
                <a:gd name="T10" fmla="*/ 38 w 199"/>
                <a:gd name="T11" fmla="*/ 56 h 235"/>
                <a:gd name="T12" fmla="*/ 57 w 199"/>
                <a:gd name="T13" fmla="*/ 28 h 235"/>
                <a:gd name="T14" fmla="*/ 76 w 199"/>
                <a:gd name="T15" fmla="*/ 18 h 235"/>
                <a:gd name="T16" fmla="*/ 104 w 199"/>
                <a:gd name="T17" fmla="*/ 18 h 235"/>
                <a:gd name="T18" fmla="*/ 123 w 199"/>
                <a:gd name="T19" fmla="*/ 18 h 235"/>
                <a:gd name="T20" fmla="*/ 142 w 199"/>
                <a:gd name="T21" fmla="*/ 28 h 235"/>
                <a:gd name="T22" fmla="*/ 161 w 199"/>
                <a:gd name="T23" fmla="*/ 56 h 235"/>
                <a:gd name="T24" fmla="*/ 161 w 199"/>
                <a:gd name="T25" fmla="*/ 84 h 235"/>
                <a:gd name="T26" fmla="*/ 161 w 199"/>
                <a:gd name="T27" fmla="*/ 122 h 235"/>
                <a:gd name="T28" fmla="*/ 151 w 199"/>
                <a:gd name="T29" fmla="*/ 141 h 235"/>
                <a:gd name="T30" fmla="*/ 142 w 199"/>
                <a:gd name="T31" fmla="*/ 169 h 235"/>
                <a:gd name="T32" fmla="*/ 123 w 199"/>
                <a:gd name="T33" fmla="*/ 179 h 235"/>
                <a:gd name="T34" fmla="*/ 113 w 199"/>
                <a:gd name="T35" fmla="*/ 235 h 235"/>
                <a:gd name="T36" fmla="*/ 199 w 199"/>
                <a:gd name="T37" fmla="*/ 235 h 235"/>
                <a:gd name="T38" fmla="*/ 199 w 199"/>
                <a:gd name="T39" fmla="*/ 179 h 235"/>
                <a:gd name="T40" fmla="*/ 199 w 199"/>
                <a:gd name="T41" fmla="*/ 179 h 235"/>
                <a:gd name="T42" fmla="*/ 189 w 199"/>
                <a:gd name="T43" fmla="*/ 198 h 235"/>
                <a:gd name="T44" fmla="*/ 180 w 199"/>
                <a:gd name="T45" fmla="*/ 198 h 235"/>
                <a:gd name="T46" fmla="*/ 132 w 199"/>
                <a:gd name="T47" fmla="*/ 198 h 235"/>
                <a:gd name="T48" fmla="*/ 132 w 199"/>
                <a:gd name="T49" fmla="*/ 188 h 235"/>
                <a:gd name="T50" fmla="*/ 161 w 199"/>
                <a:gd name="T51" fmla="*/ 169 h 235"/>
                <a:gd name="T52" fmla="*/ 180 w 199"/>
                <a:gd name="T53" fmla="*/ 151 h 235"/>
                <a:gd name="T54" fmla="*/ 199 w 199"/>
                <a:gd name="T55" fmla="*/ 103 h 235"/>
                <a:gd name="T56" fmla="*/ 199 w 199"/>
                <a:gd name="T57" fmla="*/ 75 h 235"/>
                <a:gd name="T58" fmla="*/ 189 w 199"/>
                <a:gd name="T59" fmla="*/ 56 h 235"/>
                <a:gd name="T60" fmla="*/ 170 w 199"/>
                <a:gd name="T61" fmla="*/ 28 h 235"/>
                <a:gd name="T62" fmla="*/ 151 w 199"/>
                <a:gd name="T63" fmla="*/ 18 h 235"/>
                <a:gd name="T64" fmla="*/ 132 w 199"/>
                <a:gd name="T65" fmla="*/ 9 h 235"/>
                <a:gd name="T66" fmla="*/ 104 w 199"/>
                <a:gd name="T67" fmla="*/ 0 h 235"/>
                <a:gd name="T68" fmla="*/ 66 w 199"/>
                <a:gd name="T69" fmla="*/ 9 h 235"/>
                <a:gd name="T70" fmla="*/ 47 w 199"/>
                <a:gd name="T71" fmla="*/ 18 h 235"/>
                <a:gd name="T72" fmla="*/ 28 w 199"/>
                <a:gd name="T73" fmla="*/ 28 h 235"/>
                <a:gd name="T74" fmla="*/ 9 w 199"/>
                <a:gd name="T75" fmla="*/ 56 h 235"/>
                <a:gd name="T76" fmla="*/ 0 w 199"/>
                <a:gd name="T77" fmla="*/ 75 h 235"/>
                <a:gd name="T78" fmla="*/ 0 w 199"/>
                <a:gd name="T79" fmla="*/ 103 h 235"/>
                <a:gd name="T80" fmla="*/ 19 w 199"/>
                <a:gd name="T81" fmla="*/ 151 h 235"/>
                <a:gd name="T82" fmla="*/ 38 w 199"/>
                <a:gd name="T83" fmla="*/ 169 h 235"/>
                <a:gd name="T84" fmla="*/ 66 w 199"/>
                <a:gd name="T85" fmla="*/ 188 h 235"/>
                <a:gd name="T86" fmla="*/ 66 w 199"/>
                <a:gd name="T87" fmla="*/ 198 h 235"/>
                <a:gd name="T88" fmla="*/ 19 w 199"/>
                <a:gd name="T89" fmla="*/ 198 h 235"/>
                <a:gd name="T90" fmla="*/ 9 w 199"/>
                <a:gd name="T91" fmla="*/ 198 h 235"/>
                <a:gd name="T92" fmla="*/ 0 w 199"/>
                <a:gd name="T93" fmla="*/ 179 h 235"/>
                <a:gd name="T94" fmla="*/ 0 w 199"/>
                <a:gd name="T95" fmla="*/ 179 h 235"/>
                <a:gd name="T96" fmla="*/ 0 w 199"/>
                <a:gd name="T97" fmla="*/ 235 h 235"/>
                <a:gd name="T98" fmla="*/ 85 w 199"/>
                <a:gd name="T99" fmla="*/ 235 h 235"/>
                <a:gd name="T100" fmla="*/ 76 w 199"/>
                <a:gd name="T101" fmla="*/ 179 h 2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9"/>
                <a:gd name="T154" fmla="*/ 0 h 235"/>
                <a:gd name="T155" fmla="*/ 199 w 199"/>
                <a:gd name="T156" fmla="*/ 235 h 23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9" h="235">
                  <a:moveTo>
                    <a:pt x="76" y="179"/>
                  </a:moveTo>
                  <a:lnTo>
                    <a:pt x="66" y="169"/>
                  </a:lnTo>
                  <a:lnTo>
                    <a:pt x="47" y="141"/>
                  </a:lnTo>
                  <a:lnTo>
                    <a:pt x="38" y="122"/>
                  </a:lnTo>
                  <a:lnTo>
                    <a:pt x="38" y="84"/>
                  </a:lnTo>
                  <a:lnTo>
                    <a:pt x="38" y="56"/>
                  </a:lnTo>
                  <a:lnTo>
                    <a:pt x="57" y="28"/>
                  </a:lnTo>
                  <a:lnTo>
                    <a:pt x="76" y="18"/>
                  </a:lnTo>
                  <a:lnTo>
                    <a:pt x="104" y="18"/>
                  </a:lnTo>
                  <a:lnTo>
                    <a:pt x="123" y="18"/>
                  </a:lnTo>
                  <a:lnTo>
                    <a:pt x="142" y="28"/>
                  </a:lnTo>
                  <a:lnTo>
                    <a:pt x="161" y="56"/>
                  </a:lnTo>
                  <a:lnTo>
                    <a:pt x="161" y="84"/>
                  </a:lnTo>
                  <a:lnTo>
                    <a:pt x="161" y="122"/>
                  </a:lnTo>
                  <a:lnTo>
                    <a:pt x="151" y="141"/>
                  </a:lnTo>
                  <a:lnTo>
                    <a:pt x="142" y="169"/>
                  </a:lnTo>
                  <a:lnTo>
                    <a:pt x="123" y="179"/>
                  </a:lnTo>
                  <a:lnTo>
                    <a:pt x="113" y="235"/>
                  </a:lnTo>
                  <a:lnTo>
                    <a:pt x="199" y="235"/>
                  </a:lnTo>
                  <a:lnTo>
                    <a:pt x="199" y="179"/>
                  </a:lnTo>
                  <a:lnTo>
                    <a:pt x="189" y="198"/>
                  </a:lnTo>
                  <a:lnTo>
                    <a:pt x="180" y="198"/>
                  </a:lnTo>
                  <a:lnTo>
                    <a:pt x="132" y="198"/>
                  </a:lnTo>
                  <a:lnTo>
                    <a:pt x="132" y="188"/>
                  </a:lnTo>
                  <a:lnTo>
                    <a:pt x="161" y="169"/>
                  </a:lnTo>
                  <a:lnTo>
                    <a:pt x="180" y="151"/>
                  </a:lnTo>
                  <a:lnTo>
                    <a:pt x="199" y="103"/>
                  </a:lnTo>
                  <a:lnTo>
                    <a:pt x="199" y="75"/>
                  </a:lnTo>
                  <a:lnTo>
                    <a:pt x="189" y="56"/>
                  </a:lnTo>
                  <a:lnTo>
                    <a:pt x="170" y="28"/>
                  </a:lnTo>
                  <a:lnTo>
                    <a:pt x="151" y="18"/>
                  </a:lnTo>
                  <a:lnTo>
                    <a:pt x="132" y="9"/>
                  </a:lnTo>
                  <a:lnTo>
                    <a:pt x="104" y="0"/>
                  </a:lnTo>
                  <a:lnTo>
                    <a:pt x="66" y="9"/>
                  </a:lnTo>
                  <a:lnTo>
                    <a:pt x="47" y="18"/>
                  </a:lnTo>
                  <a:lnTo>
                    <a:pt x="28" y="28"/>
                  </a:lnTo>
                  <a:lnTo>
                    <a:pt x="9" y="56"/>
                  </a:lnTo>
                  <a:lnTo>
                    <a:pt x="0" y="75"/>
                  </a:lnTo>
                  <a:lnTo>
                    <a:pt x="0" y="103"/>
                  </a:lnTo>
                  <a:lnTo>
                    <a:pt x="19" y="151"/>
                  </a:lnTo>
                  <a:lnTo>
                    <a:pt x="38" y="169"/>
                  </a:lnTo>
                  <a:lnTo>
                    <a:pt x="66" y="188"/>
                  </a:lnTo>
                  <a:lnTo>
                    <a:pt x="66" y="198"/>
                  </a:lnTo>
                  <a:lnTo>
                    <a:pt x="19" y="198"/>
                  </a:lnTo>
                  <a:lnTo>
                    <a:pt x="9" y="198"/>
                  </a:lnTo>
                  <a:lnTo>
                    <a:pt x="0" y="179"/>
                  </a:lnTo>
                  <a:lnTo>
                    <a:pt x="0" y="235"/>
                  </a:lnTo>
                  <a:lnTo>
                    <a:pt x="85" y="235"/>
                  </a:lnTo>
                  <a:lnTo>
                    <a:pt x="76"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4" name="Freeform 23"/>
            <p:cNvSpPr>
              <a:spLocks noChangeAspect="1" noEditPoints="1"/>
            </p:cNvSpPr>
            <p:nvPr/>
          </p:nvSpPr>
          <p:spPr bwMode="auto">
            <a:xfrm>
              <a:off x="96" y="2314"/>
              <a:ext cx="132" cy="226"/>
            </a:xfrm>
            <a:custGeom>
              <a:avLst/>
              <a:gdLst>
                <a:gd name="T0" fmla="*/ 132 w 132"/>
                <a:gd name="T1" fmla="*/ 142 h 226"/>
                <a:gd name="T2" fmla="*/ 104 w 132"/>
                <a:gd name="T3" fmla="*/ 142 h 226"/>
                <a:gd name="T4" fmla="*/ 104 w 132"/>
                <a:gd name="T5" fmla="*/ 0 h 226"/>
                <a:gd name="T6" fmla="*/ 95 w 132"/>
                <a:gd name="T7" fmla="*/ 0 h 226"/>
                <a:gd name="T8" fmla="*/ 0 w 132"/>
                <a:gd name="T9" fmla="*/ 142 h 226"/>
                <a:gd name="T10" fmla="*/ 0 w 132"/>
                <a:gd name="T11" fmla="*/ 170 h 226"/>
                <a:gd name="T12" fmla="*/ 85 w 132"/>
                <a:gd name="T13" fmla="*/ 170 h 226"/>
                <a:gd name="T14" fmla="*/ 85 w 132"/>
                <a:gd name="T15" fmla="*/ 226 h 226"/>
                <a:gd name="T16" fmla="*/ 104 w 132"/>
                <a:gd name="T17" fmla="*/ 226 h 226"/>
                <a:gd name="T18" fmla="*/ 104 w 132"/>
                <a:gd name="T19" fmla="*/ 170 h 226"/>
                <a:gd name="T20" fmla="*/ 132 w 132"/>
                <a:gd name="T21" fmla="*/ 170 h 226"/>
                <a:gd name="T22" fmla="*/ 132 w 132"/>
                <a:gd name="T23" fmla="*/ 142 h 226"/>
                <a:gd name="T24" fmla="*/ 85 w 132"/>
                <a:gd name="T25" fmla="*/ 142 h 226"/>
                <a:gd name="T26" fmla="*/ 9 w 132"/>
                <a:gd name="T27" fmla="*/ 142 h 226"/>
                <a:gd name="T28" fmla="*/ 76 w 132"/>
                <a:gd name="T29" fmla="*/ 28 h 226"/>
                <a:gd name="T30" fmla="*/ 85 w 132"/>
                <a:gd name="T31" fmla="*/ 28 h 226"/>
                <a:gd name="T32" fmla="*/ 85 w 132"/>
                <a:gd name="T33" fmla="*/ 142 h 22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2"/>
                <a:gd name="T52" fmla="*/ 0 h 226"/>
                <a:gd name="T53" fmla="*/ 132 w 132"/>
                <a:gd name="T54" fmla="*/ 226 h 22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2" h="226">
                  <a:moveTo>
                    <a:pt x="132" y="142"/>
                  </a:moveTo>
                  <a:lnTo>
                    <a:pt x="104" y="142"/>
                  </a:lnTo>
                  <a:lnTo>
                    <a:pt x="104" y="0"/>
                  </a:lnTo>
                  <a:lnTo>
                    <a:pt x="95" y="0"/>
                  </a:lnTo>
                  <a:lnTo>
                    <a:pt x="0" y="142"/>
                  </a:lnTo>
                  <a:lnTo>
                    <a:pt x="0" y="170"/>
                  </a:lnTo>
                  <a:lnTo>
                    <a:pt x="85" y="170"/>
                  </a:lnTo>
                  <a:lnTo>
                    <a:pt x="85" y="226"/>
                  </a:lnTo>
                  <a:lnTo>
                    <a:pt x="104" y="226"/>
                  </a:lnTo>
                  <a:lnTo>
                    <a:pt x="104" y="170"/>
                  </a:lnTo>
                  <a:lnTo>
                    <a:pt x="132" y="170"/>
                  </a:lnTo>
                  <a:lnTo>
                    <a:pt x="132" y="142"/>
                  </a:lnTo>
                  <a:close/>
                  <a:moveTo>
                    <a:pt x="85" y="142"/>
                  </a:moveTo>
                  <a:lnTo>
                    <a:pt x="9" y="142"/>
                  </a:lnTo>
                  <a:lnTo>
                    <a:pt x="76" y="28"/>
                  </a:lnTo>
                  <a:lnTo>
                    <a:pt x="85" y="28"/>
                  </a:lnTo>
                  <a:lnTo>
                    <a:pt x="85" y="1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5" name="Freeform 24"/>
            <p:cNvSpPr>
              <a:spLocks noChangeAspect="1"/>
            </p:cNvSpPr>
            <p:nvPr/>
          </p:nvSpPr>
          <p:spPr bwMode="auto">
            <a:xfrm>
              <a:off x="323" y="2305"/>
              <a:ext cx="198" cy="235"/>
            </a:xfrm>
            <a:custGeom>
              <a:avLst/>
              <a:gdLst>
                <a:gd name="T0" fmla="*/ 76 w 198"/>
                <a:gd name="T1" fmla="*/ 179 h 235"/>
                <a:gd name="T2" fmla="*/ 66 w 198"/>
                <a:gd name="T3" fmla="*/ 169 h 235"/>
                <a:gd name="T4" fmla="*/ 47 w 198"/>
                <a:gd name="T5" fmla="*/ 141 h 235"/>
                <a:gd name="T6" fmla="*/ 38 w 198"/>
                <a:gd name="T7" fmla="*/ 122 h 235"/>
                <a:gd name="T8" fmla="*/ 38 w 198"/>
                <a:gd name="T9" fmla="*/ 84 h 235"/>
                <a:gd name="T10" fmla="*/ 38 w 198"/>
                <a:gd name="T11" fmla="*/ 56 h 235"/>
                <a:gd name="T12" fmla="*/ 57 w 198"/>
                <a:gd name="T13" fmla="*/ 28 h 235"/>
                <a:gd name="T14" fmla="*/ 76 w 198"/>
                <a:gd name="T15" fmla="*/ 18 h 235"/>
                <a:gd name="T16" fmla="*/ 104 w 198"/>
                <a:gd name="T17" fmla="*/ 18 h 235"/>
                <a:gd name="T18" fmla="*/ 123 w 198"/>
                <a:gd name="T19" fmla="*/ 18 h 235"/>
                <a:gd name="T20" fmla="*/ 142 w 198"/>
                <a:gd name="T21" fmla="*/ 28 h 235"/>
                <a:gd name="T22" fmla="*/ 161 w 198"/>
                <a:gd name="T23" fmla="*/ 56 h 235"/>
                <a:gd name="T24" fmla="*/ 161 w 198"/>
                <a:gd name="T25" fmla="*/ 84 h 235"/>
                <a:gd name="T26" fmla="*/ 161 w 198"/>
                <a:gd name="T27" fmla="*/ 122 h 235"/>
                <a:gd name="T28" fmla="*/ 151 w 198"/>
                <a:gd name="T29" fmla="*/ 141 h 235"/>
                <a:gd name="T30" fmla="*/ 142 w 198"/>
                <a:gd name="T31" fmla="*/ 169 h 235"/>
                <a:gd name="T32" fmla="*/ 123 w 198"/>
                <a:gd name="T33" fmla="*/ 179 h 235"/>
                <a:gd name="T34" fmla="*/ 113 w 198"/>
                <a:gd name="T35" fmla="*/ 235 h 235"/>
                <a:gd name="T36" fmla="*/ 198 w 198"/>
                <a:gd name="T37" fmla="*/ 235 h 235"/>
                <a:gd name="T38" fmla="*/ 198 w 198"/>
                <a:gd name="T39" fmla="*/ 179 h 235"/>
                <a:gd name="T40" fmla="*/ 198 w 198"/>
                <a:gd name="T41" fmla="*/ 179 h 235"/>
                <a:gd name="T42" fmla="*/ 189 w 198"/>
                <a:gd name="T43" fmla="*/ 198 h 235"/>
                <a:gd name="T44" fmla="*/ 179 w 198"/>
                <a:gd name="T45" fmla="*/ 198 h 235"/>
                <a:gd name="T46" fmla="*/ 132 w 198"/>
                <a:gd name="T47" fmla="*/ 198 h 235"/>
                <a:gd name="T48" fmla="*/ 132 w 198"/>
                <a:gd name="T49" fmla="*/ 188 h 235"/>
                <a:gd name="T50" fmla="*/ 161 w 198"/>
                <a:gd name="T51" fmla="*/ 169 h 235"/>
                <a:gd name="T52" fmla="*/ 179 w 198"/>
                <a:gd name="T53" fmla="*/ 151 h 235"/>
                <a:gd name="T54" fmla="*/ 198 w 198"/>
                <a:gd name="T55" fmla="*/ 103 h 235"/>
                <a:gd name="T56" fmla="*/ 198 w 198"/>
                <a:gd name="T57" fmla="*/ 75 h 235"/>
                <a:gd name="T58" fmla="*/ 189 w 198"/>
                <a:gd name="T59" fmla="*/ 56 h 235"/>
                <a:gd name="T60" fmla="*/ 170 w 198"/>
                <a:gd name="T61" fmla="*/ 28 h 235"/>
                <a:gd name="T62" fmla="*/ 151 w 198"/>
                <a:gd name="T63" fmla="*/ 18 h 235"/>
                <a:gd name="T64" fmla="*/ 132 w 198"/>
                <a:gd name="T65" fmla="*/ 9 h 235"/>
                <a:gd name="T66" fmla="*/ 104 w 198"/>
                <a:gd name="T67" fmla="*/ 0 h 235"/>
                <a:gd name="T68" fmla="*/ 66 w 198"/>
                <a:gd name="T69" fmla="*/ 9 h 235"/>
                <a:gd name="T70" fmla="*/ 47 w 198"/>
                <a:gd name="T71" fmla="*/ 18 h 235"/>
                <a:gd name="T72" fmla="*/ 28 w 198"/>
                <a:gd name="T73" fmla="*/ 28 h 235"/>
                <a:gd name="T74" fmla="*/ 9 w 198"/>
                <a:gd name="T75" fmla="*/ 56 h 235"/>
                <a:gd name="T76" fmla="*/ 0 w 198"/>
                <a:gd name="T77" fmla="*/ 75 h 235"/>
                <a:gd name="T78" fmla="*/ 0 w 198"/>
                <a:gd name="T79" fmla="*/ 103 h 235"/>
                <a:gd name="T80" fmla="*/ 19 w 198"/>
                <a:gd name="T81" fmla="*/ 151 h 235"/>
                <a:gd name="T82" fmla="*/ 38 w 198"/>
                <a:gd name="T83" fmla="*/ 169 h 235"/>
                <a:gd name="T84" fmla="*/ 66 w 198"/>
                <a:gd name="T85" fmla="*/ 188 h 235"/>
                <a:gd name="T86" fmla="*/ 66 w 198"/>
                <a:gd name="T87" fmla="*/ 198 h 235"/>
                <a:gd name="T88" fmla="*/ 19 w 198"/>
                <a:gd name="T89" fmla="*/ 198 h 235"/>
                <a:gd name="T90" fmla="*/ 9 w 198"/>
                <a:gd name="T91" fmla="*/ 198 h 235"/>
                <a:gd name="T92" fmla="*/ 0 w 198"/>
                <a:gd name="T93" fmla="*/ 179 h 235"/>
                <a:gd name="T94" fmla="*/ 0 w 198"/>
                <a:gd name="T95" fmla="*/ 179 h 235"/>
                <a:gd name="T96" fmla="*/ 0 w 198"/>
                <a:gd name="T97" fmla="*/ 235 h 235"/>
                <a:gd name="T98" fmla="*/ 85 w 198"/>
                <a:gd name="T99" fmla="*/ 235 h 235"/>
                <a:gd name="T100" fmla="*/ 76 w 198"/>
                <a:gd name="T101" fmla="*/ 179 h 2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8"/>
                <a:gd name="T154" fmla="*/ 0 h 235"/>
                <a:gd name="T155" fmla="*/ 198 w 198"/>
                <a:gd name="T156" fmla="*/ 235 h 23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8" h="235">
                  <a:moveTo>
                    <a:pt x="76" y="179"/>
                  </a:moveTo>
                  <a:lnTo>
                    <a:pt x="66" y="169"/>
                  </a:lnTo>
                  <a:lnTo>
                    <a:pt x="47" y="141"/>
                  </a:lnTo>
                  <a:lnTo>
                    <a:pt x="38" y="122"/>
                  </a:lnTo>
                  <a:lnTo>
                    <a:pt x="38" y="84"/>
                  </a:lnTo>
                  <a:lnTo>
                    <a:pt x="38" y="56"/>
                  </a:lnTo>
                  <a:lnTo>
                    <a:pt x="57" y="28"/>
                  </a:lnTo>
                  <a:lnTo>
                    <a:pt x="76" y="18"/>
                  </a:lnTo>
                  <a:lnTo>
                    <a:pt x="104" y="18"/>
                  </a:lnTo>
                  <a:lnTo>
                    <a:pt x="123" y="18"/>
                  </a:lnTo>
                  <a:lnTo>
                    <a:pt x="142" y="28"/>
                  </a:lnTo>
                  <a:lnTo>
                    <a:pt x="161" y="56"/>
                  </a:lnTo>
                  <a:lnTo>
                    <a:pt x="161" y="84"/>
                  </a:lnTo>
                  <a:lnTo>
                    <a:pt x="161" y="122"/>
                  </a:lnTo>
                  <a:lnTo>
                    <a:pt x="151" y="141"/>
                  </a:lnTo>
                  <a:lnTo>
                    <a:pt x="142" y="169"/>
                  </a:lnTo>
                  <a:lnTo>
                    <a:pt x="123" y="179"/>
                  </a:lnTo>
                  <a:lnTo>
                    <a:pt x="113" y="235"/>
                  </a:lnTo>
                  <a:lnTo>
                    <a:pt x="198" y="235"/>
                  </a:lnTo>
                  <a:lnTo>
                    <a:pt x="198" y="179"/>
                  </a:lnTo>
                  <a:lnTo>
                    <a:pt x="189" y="198"/>
                  </a:lnTo>
                  <a:lnTo>
                    <a:pt x="179" y="198"/>
                  </a:lnTo>
                  <a:lnTo>
                    <a:pt x="132" y="198"/>
                  </a:lnTo>
                  <a:lnTo>
                    <a:pt x="132" y="188"/>
                  </a:lnTo>
                  <a:lnTo>
                    <a:pt x="161" y="169"/>
                  </a:lnTo>
                  <a:lnTo>
                    <a:pt x="179" y="151"/>
                  </a:lnTo>
                  <a:lnTo>
                    <a:pt x="198" y="103"/>
                  </a:lnTo>
                  <a:lnTo>
                    <a:pt x="198" y="75"/>
                  </a:lnTo>
                  <a:lnTo>
                    <a:pt x="189" y="56"/>
                  </a:lnTo>
                  <a:lnTo>
                    <a:pt x="170" y="28"/>
                  </a:lnTo>
                  <a:lnTo>
                    <a:pt x="151" y="18"/>
                  </a:lnTo>
                  <a:lnTo>
                    <a:pt x="132" y="9"/>
                  </a:lnTo>
                  <a:lnTo>
                    <a:pt x="104" y="0"/>
                  </a:lnTo>
                  <a:lnTo>
                    <a:pt x="66" y="9"/>
                  </a:lnTo>
                  <a:lnTo>
                    <a:pt x="47" y="18"/>
                  </a:lnTo>
                  <a:lnTo>
                    <a:pt x="28" y="28"/>
                  </a:lnTo>
                  <a:lnTo>
                    <a:pt x="9" y="56"/>
                  </a:lnTo>
                  <a:lnTo>
                    <a:pt x="0" y="75"/>
                  </a:lnTo>
                  <a:lnTo>
                    <a:pt x="0" y="103"/>
                  </a:lnTo>
                  <a:lnTo>
                    <a:pt x="19" y="151"/>
                  </a:lnTo>
                  <a:lnTo>
                    <a:pt x="38" y="169"/>
                  </a:lnTo>
                  <a:lnTo>
                    <a:pt x="66" y="188"/>
                  </a:lnTo>
                  <a:lnTo>
                    <a:pt x="66" y="198"/>
                  </a:lnTo>
                  <a:lnTo>
                    <a:pt x="19" y="198"/>
                  </a:lnTo>
                  <a:lnTo>
                    <a:pt x="9" y="198"/>
                  </a:lnTo>
                  <a:lnTo>
                    <a:pt x="0" y="179"/>
                  </a:lnTo>
                  <a:lnTo>
                    <a:pt x="0" y="235"/>
                  </a:lnTo>
                  <a:lnTo>
                    <a:pt x="85" y="235"/>
                  </a:lnTo>
                  <a:lnTo>
                    <a:pt x="76" y="17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6" name="Freeform 25"/>
            <p:cNvSpPr>
              <a:spLocks noChangeAspect="1"/>
            </p:cNvSpPr>
            <p:nvPr/>
          </p:nvSpPr>
          <p:spPr bwMode="auto">
            <a:xfrm>
              <a:off x="1268" y="2323"/>
              <a:ext cx="114" cy="227"/>
            </a:xfrm>
            <a:custGeom>
              <a:avLst/>
              <a:gdLst>
                <a:gd name="T0" fmla="*/ 29 w 114"/>
                <a:gd name="T1" fmla="*/ 114 h 227"/>
                <a:gd name="T2" fmla="*/ 47 w 114"/>
                <a:gd name="T3" fmla="*/ 114 h 227"/>
                <a:gd name="T4" fmla="*/ 66 w 114"/>
                <a:gd name="T5" fmla="*/ 123 h 227"/>
                <a:gd name="T6" fmla="*/ 85 w 114"/>
                <a:gd name="T7" fmla="*/ 142 h 227"/>
                <a:gd name="T8" fmla="*/ 85 w 114"/>
                <a:gd name="T9" fmla="*/ 161 h 227"/>
                <a:gd name="T10" fmla="*/ 76 w 114"/>
                <a:gd name="T11" fmla="*/ 199 h 227"/>
                <a:gd name="T12" fmla="*/ 66 w 114"/>
                <a:gd name="T13" fmla="*/ 217 h 227"/>
                <a:gd name="T14" fmla="*/ 47 w 114"/>
                <a:gd name="T15" fmla="*/ 217 h 227"/>
                <a:gd name="T16" fmla="*/ 29 w 114"/>
                <a:gd name="T17" fmla="*/ 208 h 227"/>
                <a:gd name="T18" fmla="*/ 10 w 114"/>
                <a:gd name="T19" fmla="*/ 199 h 227"/>
                <a:gd name="T20" fmla="*/ 0 w 114"/>
                <a:gd name="T21" fmla="*/ 199 h 227"/>
                <a:gd name="T22" fmla="*/ 0 w 114"/>
                <a:gd name="T23" fmla="*/ 208 h 227"/>
                <a:gd name="T24" fmla="*/ 10 w 114"/>
                <a:gd name="T25" fmla="*/ 227 h 227"/>
                <a:gd name="T26" fmla="*/ 29 w 114"/>
                <a:gd name="T27" fmla="*/ 227 h 227"/>
                <a:gd name="T28" fmla="*/ 66 w 114"/>
                <a:gd name="T29" fmla="*/ 217 h 227"/>
                <a:gd name="T30" fmla="*/ 85 w 114"/>
                <a:gd name="T31" fmla="*/ 208 h 227"/>
                <a:gd name="T32" fmla="*/ 104 w 114"/>
                <a:gd name="T33" fmla="*/ 180 h 227"/>
                <a:gd name="T34" fmla="*/ 114 w 114"/>
                <a:gd name="T35" fmla="*/ 151 h 227"/>
                <a:gd name="T36" fmla="*/ 114 w 114"/>
                <a:gd name="T37" fmla="*/ 123 h 227"/>
                <a:gd name="T38" fmla="*/ 95 w 114"/>
                <a:gd name="T39" fmla="*/ 104 h 227"/>
                <a:gd name="T40" fmla="*/ 76 w 114"/>
                <a:gd name="T41" fmla="*/ 85 h 227"/>
                <a:gd name="T42" fmla="*/ 95 w 114"/>
                <a:gd name="T43" fmla="*/ 66 h 227"/>
                <a:gd name="T44" fmla="*/ 104 w 114"/>
                <a:gd name="T45" fmla="*/ 38 h 227"/>
                <a:gd name="T46" fmla="*/ 95 w 114"/>
                <a:gd name="T47" fmla="*/ 19 h 227"/>
                <a:gd name="T48" fmla="*/ 85 w 114"/>
                <a:gd name="T49" fmla="*/ 10 h 227"/>
                <a:gd name="T50" fmla="*/ 57 w 114"/>
                <a:gd name="T51" fmla="*/ 0 h 227"/>
                <a:gd name="T52" fmla="*/ 29 w 114"/>
                <a:gd name="T53" fmla="*/ 10 h 227"/>
                <a:gd name="T54" fmla="*/ 10 w 114"/>
                <a:gd name="T55" fmla="*/ 29 h 227"/>
                <a:gd name="T56" fmla="*/ 0 w 114"/>
                <a:gd name="T57" fmla="*/ 48 h 227"/>
                <a:gd name="T58" fmla="*/ 0 w 114"/>
                <a:gd name="T59" fmla="*/ 48 h 227"/>
                <a:gd name="T60" fmla="*/ 19 w 114"/>
                <a:gd name="T61" fmla="*/ 29 h 227"/>
                <a:gd name="T62" fmla="*/ 47 w 114"/>
                <a:gd name="T63" fmla="*/ 19 h 227"/>
                <a:gd name="T64" fmla="*/ 66 w 114"/>
                <a:gd name="T65" fmla="*/ 29 h 227"/>
                <a:gd name="T66" fmla="*/ 76 w 114"/>
                <a:gd name="T67" fmla="*/ 48 h 227"/>
                <a:gd name="T68" fmla="*/ 76 w 114"/>
                <a:gd name="T69" fmla="*/ 76 h 227"/>
                <a:gd name="T70" fmla="*/ 66 w 114"/>
                <a:gd name="T71" fmla="*/ 85 h 227"/>
                <a:gd name="T72" fmla="*/ 29 w 114"/>
                <a:gd name="T73" fmla="*/ 104 h 227"/>
                <a:gd name="T74" fmla="*/ 29 w 114"/>
                <a:gd name="T75" fmla="*/ 114 h 2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4"/>
                <a:gd name="T115" fmla="*/ 0 h 227"/>
                <a:gd name="T116" fmla="*/ 114 w 114"/>
                <a:gd name="T117" fmla="*/ 227 h 2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4" h="227">
                  <a:moveTo>
                    <a:pt x="29" y="114"/>
                  </a:moveTo>
                  <a:lnTo>
                    <a:pt x="47" y="114"/>
                  </a:lnTo>
                  <a:lnTo>
                    <a:pt x="66" y="123"/>
                  </a:lnTo>
                  <a:lnTo>
                    <a:pt x="85" y="142"/>
                  </a:lnTo>
                  <a:lnTo>
                    <a:pt x="85" y="161"/>
                  </a:lnTo>
                  <a:lnTo>
                    <a:pt x="76" y="199"/>
                  </a:lnTo>
                  <a:lnTo>
                    <a:pt x="66" y="217"/>
                  </a:lnTo>
                  <a:lnTo>
                    <a:pt x="47" y="217"/>
                  </a:lnTo>
                  <a:lnTo>
                    <a:pt x="29" y="208"/>
                  </a:lnTo>
                  <a:lnTo>
                    <a:pt x="10" y="199"/>
                  </a:lnTo>
                  <a:lnTo>
                    <a:pt x="0" y="199"/>
                  </a:lnTo>
                  <a:lnTo>
                    <a:pt x="0" y="208"/>
                  </a:lnTo>
                  <a:lnTo>
                    <a:pt x="10" y="227"/>
                  </a:lnTo>
                  <a:lnTo>
                    <a:pt x="29" y="227"/>
                  </a:lnTo>
                  <a:lnTo>
                    <a:pt x="66" y="217"/>
                  </a:lnTo>
                  <a:lnTo>
                    <a:pt x="85" y="208"/>
                  </a:lnTo>
                  <a:lnTo>
                    <a:pt x="104" y="180"/>
                  </a:lnTo>
                  <a:lnTo>
                    <a:pt x="114" y="151"/>
                  </a:lnTo>
                  <a:lnTo>
                    <a:pt x="114" y="123"/>
                  </a:lnTo>
                  <a:lnTo>
                    <a:pt x="95" y="104"/>
                  </a:lnTo>
                  <a:lnTo>
                    <a:pt x="76" y="85"/>
                  </a:lnTo>
                  <a:lnTo>
                    <a:pt x="95" y="66"/>
                  </a:lnTo>
                  <a:lnTo>
                    <a:pt x="104" y="38"/>
                  </a:lnTo>
                  <a:lnTo>
                    <a:pt x="95" y="19"/>
                  </a:lnTo>
                  <a:lnTo>
                    <a:pt x="85" y="10"/>
                  </a:lnTo>
                  <a:lnTo>
                    <a:pt x="57" y="0"/>
                  </a:lnTo>
                  <a:lnTo>
                    <a:pt x="29" y="10"/>
                  </a:lnTo>
                  <a:lnTo>
                    <a:pt x="10" y="29"/>
                  </a:lnTo>
                  <a:lnTo>
                    <a:pt x="0" y="48"/>
                  </a:lnTo>
                  <a:lnTo>
                    <a:pt x="19" y="29"/>
                  </a:lnTo>
                  <a:lnTo>
                    <a:pt x="47" y="19"/>
                  </a:lnTo>
                  <a:lnTo>
                    <a:pt x="66" y="29"/>
                  </a:lnTo>
                  <a:lnTo>
                    <a:pt x="76" y="48"/>
                  </a:lnTo>
                  <a:lnTo>
                    <a:pt x="76" y="76"/>
                  </a:lnTo>
                  <a:lnTo>
                    <a:pt x="66" y="85"/>
                  </a:lnTo>
                  <a:lnTo>
                    <a:pt x="29" y="104"/>
                  </a:lnTo>
                  <a:lnTo>
                    <a:pt x="29" y="11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7" name="Freeform 26"/>
            <p:cNvSpPr>
              <a:spLocks noChangeAspect="1" noEditPoints="1"/>
            </p:cNvSpPr>
            <p:nvPr/>
          </p:nvSpPr>
          <p:spPr bwMode="auto">
            <a:xfrm>
              <a:off x="1457" y="2323"/>
              <a:ext cx="208" cy="217"/>
            </a:xfrm>
            <a:custGeom>
              <a:avLst/>
              <a:gdLst>
                <a:gd name="T0" fmla="*/ 208 w 208"/>
                <a:gd name="T1" fmla="*/ 217 h 217"/>
                <a:gd name="T2" fmla="*/ 189 w 208"/>
                <a:gd name="T3" fmla="*/ 208 h 217"/>
                <a:gd name="T4" fmla="*/ 180 w 208"/>
                <a:gd name="T5" fmla="*/ 189 h 217"/>
                <a:gd name="T6" fmla="*/ 104 w 208"/>
                <a:gd name="T7" fmla="*/ 0 h 217"/>
                <a:gd name="T8" fmla="*/ 104 w 208"/>
                <a:gd name="T9" fmla="*/ 0 h 217"/>
                <a:gd name="T10" fmla="*/ 38 w 208"/>
                <a:gd name="T11" fmla="*/ 161 h 217"/>
                <a:gd name="T12" fmla="*/ 29 w 208"/>
                <a:gd name="T13" fmla="*/ 189 h 217"/>
                <a:gd name="T14" fmla="*/ 19 w 208"/>
                <a:gd name="T15" fmla="*/ 208 h 217"/>
                <a:gd name="T16" fmla="*/ 10 w 208"/>
                <a:gd name="T17" fmla="*/ 217 h 217"/>
                <a:gd name="T18" fmla="*/ 0 w 208"/>
                <a:gd name="T19" fmla="*/ 217 h 217"/>
                <a:gd name="T20" fmla="*/ 0 w 208"/>
                <a:gd name="T21" fmla="*/ 217 h 217"/>
                <a:gd name="T22" fmla="*/ 57 w 208"/>
                <a:gd name="T23" fmla="*/ 217 h 217"/>
                <a:gd name="T24" fmla="*/ 57 w 208"/>
                <a:gd name="T25" fmla="*/ 217 h 217"/>
                <a:gd name="T26" fmla="*/ 48 w 208"/>
                <a:gd name="T27" fmla="*/ 217 h 217"/>
                <a:gd name="T28" fmla="*/ 38 w 208"/>
                <a:gd name="T29" fmla="*/ 199 h 217"/>
                <a:gd name="T30" fmla="*/ 38 w 208"/>
                <a:gd name="T31" fmla="*/ 199 h 217"/>
                <a:gd name="T32" fmla="*/ 48 w 208"/>
                <a:gd name="T33" fmla="*/ 189 h 217"/>
                <a:gd name="T34" fmla="*/ 57 w 208"/>
                <a:gd name="T35" fmla="*/ 151 h 217"/>
                <a:gd name="T36" fmla="*/ 133 w 208"/>
                <a:gd name="T37" fmla="*/ 151 h 217"/>
                <a:gd name="T38" fmla="*/ 142 w 208"/>
                <a:gd name="T39" fmla="*/ 180 h 217"/>
                <a:gd name="T40" fmla="*/ 152 w 208"/>
                <a:gd name="T41" fmla="*/ 189 h 217"/>
                <a:gd name="T42" fmla="*/ 152 w 208"/>
                <a:gd name="T43" fmla="*/ 199 h 217"/>
                <a:gd name="T44" fmla="*/ 142 w 208"/>
                <a:gd name="T45" fmla="*/ 217 h 217"/>
                <a:gd name="T46" fmla="*/ 133 w 208"/>
                <a:gd name="T47" fmla="*/ 217 h 217"/>
                <a:gd name="T48" fmla="*/ 133 w 208"/>
                <a:gd name="T49" fmla="*/ 217 h 217"/>
                <a:gd name="T50" fmla="*/ 208 w 208"/>
                <a:gd name="T51" fmla="*/ 217 h 217"/>
                <a:gd name="T52" fmla="*/ 208 w 208"/>
                <a:gd name="T53" fmla="*/ 217 h 217"/>
                <a:gd name="T54" fmla="*/ 57 w 208"/>
                <a:gd name="T55" fmla="*/ 133 h 217"/>
                <a:gd name="T56" fmla="*/ 95 w 208"/>
                <a:gd name="T57" fmla="*/ 48 h 217"/>
                <a:gd name="T58" fmla="*/ 133 w 208"/>
                <a:gd name="T59" fmla="*/ 133 h 217"/>
                <a:gd name="T60" fmla="*/ 57 w 208"/>
                <a:gd name="T61" fmla="*/ 133 h 21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8"/>
                <a:gd name="T94" fmla="*/ 0 h 217"/>
                <a:gd name="T95" fmla="*/ 208 w 208"/>
                <a:gd name="T96" fmla="*/ 217 h 21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8" h="217">
                  <a:moveTo>
                    <a:pt x="208" y="217"/>
                  </a:moveTo>
                  <a:lnTo>
                    <a:pt x="189" y="208"/>
                  </a:lnTo>
                  <a:lnTo>
                    <a:pt x="180" y="189"/>
                  </a:lnTo>
                  <a:lnTo>
                    <a:pt x="104" y="0"/>
                  </a:lnTo>
                  <a:lnTo>
                    <a:pt x="38" y="161"/>
                  </a:lnTo>
                  <a:lnTo>
                    <a:pt x="29" y="189"/>
                  </a:lnTo>
                  <a:lnTo>
                    <a:pt x="19" y="208"/>
                  </a:lnTo>
                  <a:lnTo>
                    <a:pt x="10" y="217"/>
                  </a:lnTo>
                  <a:lnTo>
                    <a:pt x="0" y="217"/>
                  </a:lnTo>
                  <a:lnTo>
                    <a:pt x="57" y="217"/>
                  </a:lnTo>
                  <a:lnTo>
                    <a:pt x="48" y="217"/>
                  </a:lnTo>
                  <a:lnTo>
                    <a:pt x="38" y="199"/>
                  </a:lnTo>
                  <a:lnTo>
                    <a:pt x="48" y="189"/>
                  </a:lnTo>
                  <a:lnTo>
                    <a:pt x="57" y="151"/>
                  </a:lnTo>
                  <a:lnTo>
                    <a:pt x="133" y="151"/>
                  </a:lnTo>
                  <a:lnTo>
                    <a:pt x="142" y="180"/>
                  </a:lnTo>
                  <a:lnTo>
                    <a:pt x="152" y="189"/>
                  </a:lnTo>
                  <a:lnTo>
                    <a:pt x="152" y="199"/>
                  </a:lnTo>
                  <a:lnTo>
                    <a:pt x="142" y="217"/>
                  </a:lnTo>
                  <a:lnTo>
                    <a:pt x="133" y="217"/>
                  </a:lnTo>
                  <a:lnTo>
                    <a:pt x="208" y="217"/>
                  </a:lnTo>
                  <a:close/>
                  <a:moveTo>
                    <a:pt x="57" y="133"/>
                  </a:moveTo>
                  <a:lnTo>
                    <a:pt x="95" y="48"/>
                  </a:lnTo>
                  <a:lnTo>
                    <a:pt x="133" y="133"/>
                  </a:lnTo>
                  <a:lnTo>
                    <a:pt x="57" y="13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8" name="Freeform 27"/>
            <p:cNvSpPr>
              <a:spLocks noChangeAspect="1"/>
            </p:cNvSpPr>
            <p:nvPr/>
          </p:nvSpPr>
          <p:spPr bwMode="auto">
            <a:xfrm>
              <a:off x="4482" y="2172"/>
              <a:ext cx="492" cy="557"/>
            </a:xfrm>
            <a:custGeom>
              <a:avLst/>
              <a:gdLst>
                <a:gd name="T0" fmla="*/ 246 w 492"/>
                <a:gd name="T1" fmla="*/ 557 h 557"/>
                <a:gd name="T2" fmla="*/ 293 w 492"/>
                <a:gd name="T3" fmla="*/ 548 h 557"/>
                <a:gd name="T4" fmla="*/ 341 w 492"/>
                <a:gd name="T5" fmla="*/ 538 h 557"/>
                <a:gd name="T6" fmla="*/ 426 w 492"/>
                <a:gd name="T7" fmla="*/ 482 h 557"/>
                <a:gd name="T8" fmla="*/ 473 w 492"/>
                <a:gd name="T9" fmla="*/ 387 h 557"/>
                <a:gd name="T10" fmla="*/ 492 w 492"/>
                <a:gd name="T11" fmla="*/ 340 h 557"/>
                <a:gd name="T12" fmla="*/ 492 w 492"/>
                <a:gd name="T13" fmla="*/ 284 h 557"/>
                <a:gd name="T14" fmla="*/ 492 w 492"/>
                <a:gd name="T15" fmla="*/ 227 h 557"/>
                <a:gd name="T16" fmla="*/ 473 w 492"/>
                <a:gd name="T17" fmla="*/ 170 h 557"/>
                <a:gd name="T18" fmla="*/ 426 w 492"/>
                <a:gd name="T19" fmla="*/ 85 h 557"/>
                <a:gd name="T20" fmla="*/ 388 w 492"/>
                <a:gd name="T21" fmla="*/ 48 h 557"/>
                <a:gd name="T22" fmla="*/ 341 w 492"/>
                <a:gd name="T23" fmla="*/ 19 h 557"/>
                <a:gd name="T24" fmla="*/ 293 w 492"/>
                <a:gd name="T25" fmla="*/ 10 h 557"/>
                <a:gd name="T26" fmla="*/ 246 w 492"/>
                <a:gd name="T27" fmla="*/ 0 h 557"/>
                <a:gd name="T28" fmla="*/ 199 w 492"/>
                <a:gd name="T29" fmla="*/ 10 h 557"/>
                <a:gd name="T30" fmla="*/ 152 w 492"/>
                <a:gd name="T31" fmla="*/ 19 h 557"/>
                <a:gd name="T32" fmla="*/ 114 w 492"/>
                <a:gd name="T33" fmla="*/ 48 h 557"/>
                <a:gd name="T34" fmla="*/ 76 w 492"/>
                <a:gd name="T35" fmla="*/ 85 h 557"/>
                <a:gd name="T36" fmla="*/ 19 w 492"/>
                <a:gd name="T37" fmla="*/ 170 h 557"/>
                <a:gd name="T38" fmla="*/ 10 w 492"/>
                <a:gd name="T39" fmla="*/ 227 h 557"/>
                <a:gd name="T40" fmla="*/ 0 w 492"/>
                <a:gd name="T41" fmla="*/ 284 h 557"/>
                <a:gd name="T42" fmla="*/ 10 w 492"/>
                <a:gd name="T43" fmla="*/ 340 h 557"/>
                <a:gd name="T44" fmla="*/ 19 w 492"/>
                <a:gd name="T45" fmla="*/ 387 h 557"/>
                <a:gd name="T46" fmla="*/ 76 w 492"/>
                <a:gd name="T47" fmla="*/ 482 h 557"/>
                <a:gd name="T48" fmla="*/ 152 w 492"/>
                <a:gd name="T49" fmla="*/ 538 h 557"/>
                <a:gd name="T50" fmla="*/ 199 w 492"/>
                <a:gd name="T51" fmla="*/ 548 h 557"/>
                <a:gd name="T52" fmla="*/ 246 w 492"/>
                <a:gd name="T53" fmla="*/ 557 h 557"/>
                <a:gd name="T54" fmla="*/ 246 w 492"/>
                <a:gd name="T55" fmla="*/ 557 h 5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2"/>
                <a:gd name="T85" fmla="*/ 0 h 557"/>
                <a:gd name="T86" fmla="*/ 492 w 492"/>
                <a:gd name="T87" fmla="*/ 557 h 5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2" h="557">
                  <a:moveTo>
                    <a:pt x="246" y="557"/>
                  </a:moveTo>
                  <a:lnTo>
                    <a:pt x="293" y="548"/>
                  </a:lnTo>
                  <a:lnTo>
                    <a:pt x="341" y="538"/>
                  </a:lnTo>
                  <a:lnTo>
                    <a:pt x="426" y="482"/>
                  </a:lnTo>
                  <a:lnTo>
                    <a:pt x="473" y="387"/>
                  </a:lnTo>
                  <a:lnTo>
                    <a:pt x="492" y="340"/>
                  </a:lnTo>
                  <a:lnTo>
                    <a:pt x="492" y="284"/>
                  </a:lnTo>
                  <a:lnTo>
                    <a:pt x="492" y="227"/>
                  </a:lnTo>
                  <a:lnTo>
                    <a:pt x="473" y="170"/>
                  </a:lnTo>
                  <a:lnTo>
                    <a:pt x="426" y="85"/>
                  </a:lnTo>
                  <a:lnTo>
                    <a:pt x="388" y="48"/>
                  </a:lnTo>
                  <a:lnTo>
                    <a:pt x="341" y="19"/>
                  </a:lnTo>
                  <a:lnTo>
                    <a:pt x="293" y="10"/>
                  </a:lnTo>
                  <a:lnTo>
                    <a:pt x="246" y="0"/>
                  </a:lnTo>
                  <a:lnTo>
                    <a:pt x="199" y="10"/>
                  </a:lnTo>
                  <a:lnTo>
                    <a:pt x="152" y="19"/>
                  </a:lnTo>
                  <a:lnTo>
                    <a:pt x="114" y="48"/>
                  </a:lnTo>
                  <a:lnTo>
                    <a:pt x="76" y="85"/>
                  </a:lnTo>
                  <a:lnTo>
                    <a:pt x="19" y="170"/>
                  </a:lnTo>
                  <a:lnTo>
                    <a:pt x="10" y="227"/>
                  </a:lnTo>
                  <a:lnTo>
                    <a:pt x="0" y="284"/>
                  </a:lnTo>
                  <a:lnTo>
                    <a:pt x="10" y="340"/>
                  </a:lnTo>
                  <a:lnTo>
                    <a:pt x="19" y="387"/>
                  </a:lnTo>
                  <a:lnTo>
                    <a:pt x="76" y="482"/>
                  </a:lnTo>
                  <a:lnTo>
                    <a:pt x="152" y="538"/>
                  </a:lnTo>
                  <a:lnTo>
                    <a:pt x="199" y="548"/>
                  </a:lnTo>
                  <a:lnTo>
                    <a:pt x="246" y="557"/>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09" name="Freeform 28"/>
            <p:cNvSpPr>
              <a:spLocks noChangeAspect="1"/>
            </p:cNvSpPr>
            <p:nvPr/>
          </p:nvSpPr>
          <p:spPr bwMode="auto">
            <a:xfrm>
              <a:off x="4728" y="2456"/>
              <a:ext cx="246" cy="273"/>
            </a:xfrm>
            <a:custGeom>
              <a:avLst/>
              <a:gdLst>
                <a:gd name="T0" fmla="*/ 0 w 246"/>
                <a:gd name="T1" fmla="*/ 273 h 273"/>
                <a:gd name="T2" fmla="*/ 47 w 246"/>
                <a:gd name="T3" fmla="*/ 264 h 273"/>
                <a:gd name="T4" fmla="*/ 95 w 246"/>
                <a:gd name="T5" fmla="*/ 254 h 273"/>
                <a:gd name="T6" fmla="*/ 180 w 246"/>
                <a:gd name="T7" fmla="*/ 198 h 273"/>
                <a:gd name="T8" fmla="*/ 227 w 246"/>
                <a:gd name="T9" fmla="*/ 103 h 273"/>
                <a:gd name="T10" fmla="*/ 246 w 246"/>
                <a:gd name="T11" fmla="*/ 56 h 273"/>
                <a:gd name="T12" fmla="*/ 246 w 246"/>
                <a:gd name="T13" fmla="*/ 0 h 273"/>
                <a:gd name="T14" fmla="*/ 246 w 246"/>
                <a:gd name="T15" fmla="*/ 0 h 273"/>
                <a:gd name="T16" fmla="*/ 246 w 246"/>
                <a:gd name="T17" fmla="*/ 56 h 273"/>
                <a:gd name="T18" fmla="*/ 227 w 246"/>
                <a:gd name="T19" fmla="*/ 103 h 273"/>
                <a:gd name="T20" fmla="*/ 180 w 246"/>
                <a:gd name="T21" fmla="*/ 198 h 273"/>
                <a:gd name="T22" fmla="*/ 95 w 246"/>
                <a:gd name="T23" fmla="*/ 254 h 273"/>
                <a:gd name="T24" fmla="*/ 47 w 246"/>
                <a:gd name="T25" fmla="*/ 264 h 273"/>
                <a:gd name="T26" fmla="*/ 0 w 246"/>
                <a:gd name="T27" fmla="*/ 273 h 273"/>
                <a:gd name="T28" fmla="*/ 0 w 246"/>
                <a:gd name="T29" fmla="*/ 273 h 2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6"/>
                <a:gd name="T46" fmla="*/ 0 h 273"/>
                <a:gd name="T47" fmla="*/ 246 w 246"/>
                <a:gd name="T48" fmla="*/ 273 h 2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6" h="273">
                  <a:moveTo>
                    <a:pt x="0" y="273"/>
                  </a:moveTo>
                  <a:lnTo>
                    <a:pt x="47" y="264"/>
                  </a:lnTo>
                  <a:lnTo>
                    <a:pt x="95" y="254"/>
                  </a:lnTo>
                  <a:lnTo>
                    <a:pt x="180" y="198"/>
                  </a:lnTo>
                  <a:lnTo>
                    <a:pt x="227" y="103"/>
                  </a:lnTo>
                  <a:lnTo>
                    <a:pt x="246" y="56"/>
                  </a:lnTo>
                  <a:lnTo>
                    <a:pt x="246" y="0"/>
                  </a:lnTo>
                  <a:lnTo>
                    <a:pt x="246" y="56"/>
                  </a:lnTo>
                  <a:lnTo>
                    <a:pt x="227" y="103"/>
                  </a:lnTo>
                  <a:lnTo>
                    <a:pt x="180" y="198"/>
                  </a:lnTo>
                  <a:lnTo>
                    <a:pt x="95" y="254"/>
                  </a:lnTo>
                  <a:lnTo>
                    <a:pt x="47" y="264"/>
                  </a:lnTo>
                  <a:lnTo>
                    <a:pt x="0" y="27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0" name="Freeform 29"/>
            <p:cNvSpPr>
              <a:spLocks noChangeAspect="1" noEditPoints="1"/>
            </p:cNvSpPr>
            <p:nvPr/>
          </p:nvSpPr>
          <p:spPr bwMode="auto">
            <a:xfrm>
              <a:off x="4728" y="2172"/>
              <a:ext cx="246" cy="284"/>
            </a:xfrm>
            <a:custGeom>
              <a:avLst/>
              <a:gdLst>
                <a:gd name="T0" fmla="*/ 246 w 246"/>
                <a:gd name="T1" fmla="*/ 284 h 284"/>
                <a:gd name="T2" fmla="*/ 246 w 246"/>
                <a:gd name="T3" fmla="*/ 227 h 284"/>
                <a:gd name="T4" fmla="*/ 227 w 246"/>
                <a:gd name="T5" fmla="*/ 170 h 284"/>
                <a:gd name="T6" fmla="*/ 180 w 246"/>
                <a:gd name="T7" fmla="*/ 85 h 284"/>
                <a:gd name="T8" fmla="*/ 142 w 246"/>
                <a:gd name="T9" fmla="*/ 48 h 284"/>
                <a:gd name="T10" fmla="*/ 95 w 246"/>
                <a:gd name="T11" fmla="*/ 19 h 284"/>
                <a:gd name="T12" fmla="*/ 47 w 246"/>
                <a:gd name="T13" fmla="*/ 10 h 284"/>
                <a:gd name="T14" fmla="*/ 0 w 246"/>
                <a:gd name="T15" fmla="*/ 0 h 284"/>
                <a:gd name="T16" fmla="*/ 0 w 246"/>
                <a:gd name="T17" fmla="*/ 0 h 284"/>
                <a:gd name="T18" fmla="*/ 47 w 246"/>
                <a:gd name="T19" fmla="*/ 10 h 284"/>
                <a:gd name="T20" fmla="*/ 95 w 246"/>
                <a:gd name="T21" fmla="*/ 19 h 284"/>
                <a:gd name="T22" fmla="*/ 142 w 246"/>
                <a:gd name="T23" fmla="*/ 48 h 284"/>
                <a:gd name="T24" fmla="*/ 180 w 246"/>
                <a:gd name="T25" fmla="*/ 85 h 284"/>
                <a:gd name="T26" fmla="*/ 227 w 246"/>
                <a:gd name="T27" fmla="*/ 170 h 284"/>
                <a:gd name="T28" fmla="*/ 246 w 246"/>
                <a:gd name="T29" fmla="*/ 227 h 284"/>
                <a:gd name="T30" fmla="*/ 246 w 246"/>
                <a:gd name="T31" fmla="*/ 284 h 284"/>
                <a:gd name="T32" fmla="*/ 246 w 246"/>
                <a:gd name="T33" fmla="*/ 284 h 284"/>
                <a:gd name="T34" fmla="*/ 246 w 246"/>
                <a:gd name="T35" fmla="*/ 284 h 284"/>
                <a:gd name="T36" fmla="*/ 246 w 246"/>
                <a:gd name="T37" fmla="*/ 284 h 284"/>
                <a:gd name="T38" fmla="*/ 246 w 246"/>
                <a:gd name="T39" fmla="*/ 284 h 2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4"/>
                <a:gd name="T62" fmla="*/ 246 w 246"/>
                <a:gd name="T63" fmla="*/ 284 h 2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4">
                  <a:moveTo>
                    <a:pt x="246" y="284"/>
                  </a:moveTo>
                  <a:lnTo>
                    <a:pt x="246" y="227"/>
                  </a:lnTo>
                  <a:lnTo>
                    <a:pt x="227" y="170"/>
                  </a:lnTo>
                  <a:lnTo>
                    <a:pt x="180" y="85"/>
                  </a:lnTo>
                  <a:lnTo>
                    <a:pt x="142" y="48"/>
                  </a:lnTo>
                  <a:lnTo>
                    <a:pt x="95" y="19"/>
                  </a:lnTo>
                  <a:lnTo>
                    <a:pt x="47" y="10"/>
                  </a:lnTo>
                  <a:lnTo>
                    <a:pt x="0" y="0"/>
                  </a:lnTo>
                  <a:lnTo>
                    <a:pt x="47" y="10"/>
                  </a:lnTo>
                  <a:lnTo>
                    <a:pt x="95" y="19"/>
                  </a:lnTo>
                  <a:lnTo>
                    <a:pt x="142" y="48"/>
                  </a:lnTo>
                  <a:lnTo>
                    <a:pt x="180" y="85"/>
                  </a:lnTo>
                  <a:lnTo>
                    <a:pt x="227" y="170"/>
                  </a:lnTo>
                  <a:lnTo>
                    <a:pt x="246" y="227"/>
                  </a:lnTo>
                  <a:lnTo>
                    <a:pt x="246" y="284"/>
                  </a:lnTo>
                  <a:close/>
                  <a:moveTo>
                    <a:pt x="246" y="284"/>
                  </a:moveTo>
                  <a:lnTo>
                    <a:pt x="246" y="28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1" name="Freeform 30"/>
            <p:cNvSpPr>
              <a:spLocks noChangeAspect="1" noEditPoints="1"/>
            </p:cNvSpPr>
            <p:nvPr/>
          </p:nvSpPr>
          <p:spPr bwMode="auto">
            <a:xfrm>
              <a:off x="4482" y="2172"/>
              <a:ext cx="246" cy="284"/>
            </a:xfrm>
            <a:custGeom>
              <a:avLst/>
              <a:gdLst>
                <a:gd name="T0" fmla="*/ 246 w 246"/>
                <a:gd name="T1" fmla="*/ 0 h 284"/>
                <a:gd name="T2" fmla="*/ 199 w 246"/>
                <a:gd name="T3" fmla="*/ 10 h 284"/>
                <a:gd name="T4" fmla="*/ 152 w 246"/>
                <a:gd name="T5" fmla="*/ 19 h 284"/>
                <a:gd name="T6" fmla="*/ 114 w 246"/>
                <a:gd name="T7" fmla="*/ 48 h 284"/>
                <a:gd name="T8" fmla="*/ 76 w 246"/>
                <a:gd name="T9" fmla="*/ 85 h 284"/>
                <a:gd name="T10" fmla="*/ 19 w 246"/>
                <a:gd name="T11" fmla="*/ 170 h 284"/>
                <a:gd name="T12" fmla="*/ 10 w 246"/>
                <a:gd name="T13" fmla="*/ 227 h 284"/>
                <a:gd name="T14" fmla="*/ 0 w 246"/>
                <a:gd name="T15" fmla="*/ 284 h 284"/>
                <a:gd name="T16" fmla="*/ 0 w 246"/>
                <a:gd name="T17" fmla="*/ 284 h 284"/>
                <a:gd name="T18" fmla="*/ 10 w 246"/>
                <a:gd name="T19" fmla="*/ 227 h 284"/>
                <a:gd name="T20" fmla="*/ 19 w 246"/>
                <a:gd name="T21" fmla="*/ 170 h 284"/>
                <a:gd name="T22" fmla="*/ 76 w 246"/>
                <a:gd name="T23" fmla="*/ 85 h 284"/>
                <a:gd name="T24" fmla="*/ 114 w 246"/>
                <a:gd name="T25" fmla="*/ 48 h 284"/>
                <a:gd name="T26" fmla="*/ 152 w 246"/>
                <a:gd name="T27" fmla="*/ 19 h 284"/>
                <a:gd name="T28" fmla="*/ 199 w 246"/>
                <a:gd name="T29" fmla="*/ 10 h 284"/>
                <a:gd name="T30" fmla="*/ 246 w 246"/>
                <a:gd name="T31" fmla="*/ 0 h 284"/>
                <a:gd name="T32" fmla="*/ 246 w 246"/>
                <a:gd name="T33" fmla="*/ 0 h 284"/>
                <a:gd name="T34" fmla="*/ 246 w 246"/>
                <a:gd name="T35" fmla="*/ 0 h 284"/>
                <a:gd name="T36" fmla="*/ 246 w 246"/>
                <a:gd name="T37" fmla="*/ 0 h 284"/>
                <a:gd name="T38" fmla="*/ 246 w 246"/>
                <a:gd name="T39" fmla="*/ 0 h 2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4"/>
                <a:gd name="T62" fmla="*/ 246 w 246"/>
                <a:gd name="T63" fmla="*/ 284 h 2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4">
                  <a:moveTo>
                    <a:pt x="246" y="0"/>
                  </a:moveTo>
                  <a:lnTo>
                    <a:pt x="199" y="10"/>
                  </a:lnTo>
                  <a:lnTo>
                    <a:pt x="152" y="19"/>
                  </a:lnTo>
                  <a:lnTo>
                    <a:pt x="114" y="48"/>
                  </a:lnTo>
                  <a:lnTo>
                    <a:pt x="76" y="85"/>
                  </a:lnTo>
                  <a:lnTo>
                    <a:pt x="19" y="170"/>
                  </a:lnTo>
                  <a:lnTo>
                    <a:pt x="10" y="227"/>
                  </a:lnTo>
                  <a:lnTo>
                    <a:pt x="0" y="284"/>
                  </a:lnTo>
                  <a:lnTo>
                    <a:pt x="10" y="227"/>
                  </a:lnTo>
                  <a:lnTo>
                    <a:pt x="19" y="170"/>
                  </a:lnTo>
                  <a:lnTo>
                    <a:pt x="76" y="85"/>
                  </a:lnTo>
                  <a:lnTo>
                    <a:pt x="114" y="48"/>
                  </a:lnTo>
                  <a:lnTo>
                    <a:pt x="152" y="19"/>
                  </a:lnTo>
                  <a:lnTo>
                    <a:pt x="199" y="10"/>
                  </a:lnTo>
                  <a:lnTo>
                    <a:pt x="246" y="0"/>
                  </a:lnTo>
                  <a:close/>
                  <a:moveTo>
                    <a:pt x="246" y="0"/>
                  </a:moveTo>
                  <a:lnTo>
                    <a:pt x="24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2" name="Freeform 31"/>
            <p:cNvSpPr>
              <a:spLocks noChangeAspect="1" noEditPoints="1"/>
            </p:cNvSpPr>
            <p:nvPr/>
          </p:nvSpPr>
          <p:spPr bwMode="auto">
            <a:xfrm>
              <a:off x="4482" y="2456"/>
              <a:ext cx="246" cy="273"/>
            </a:xfrm>
            <a:custGeom>
              <a:avLst/>
              <a:gdLst>
                <a:gd name="T0" fmla="*/ 0 w 246"/>
                <a:gd name="T1" fmla="*/ 0 h 273"/>
                <a:gd name="T2" fmla="*/ 10 w 246"/>
                <a:gd name="T3" fmla="*/ 56 h 273"/>
                <a:gd name="T4" fmla="*/ 19 w 246"/>
                <a:gd name="T5" fmla="*/ 103 h 273"/>
                <a:gd name="T6" fmla="*/ 76 w 246"/>
                <a:gd name="T7" fmla="*/ 198 h 273"/>
                <a:gd name="T8" fmla="*/ 152 w 246"/>
                <a:gd name="T9" fmla="*/ 254 h 273"/>
                <a:gd name="T10" fmla="*/ 199 w 246"/>
                <a:gd name="T11" fmla="*/ 264 h 273"/>
                <a:gd name="T12" fmla="*/ 246 w 246"/>
                <a:gd name="T13" fmla="*/ 273 h 273"/>
                <a:gd name="T14" fmla="*/ 246 w 246"/>
                <a:gd name="T15" fmla="*/ 273 h 273"/>
                <a:gd name="T16" fmla="*/ 199 w 246"/>
                <a:gd name="T17" fmla="*/ 264 h 273"/>
                <a:gd name="T18" fmla="*/ 152 w 246"/>
                <a:gd name="T19" fmla="*/ 254 h 273"/>
                <a:gd name="T20" fmla="*/ 76 w 246"/>
                <a:gd name="T21" fmla="*/ 198 h 273"/>
                <a:gd name="T22" fmla="*/ 19 w 246"/>
                <a:gd name="T23" fmla="*/ 103 h 273"/>
                <a:gd name="T24" fmla="*/ 10 w 246"/>
                <a:gd name="T25" fmla="*/ 56 h 273"/>
                <a:gd name="T26" fmla="*/ 0 w 246"/>
                <a:gd name="T27" fmla="*/ 0 h 273"/>
                <a:gd name="T28" fmla="*/ 0 w 246"/>
                <a:gd name="T29" fmla="*/ 0 h 273"/>
                <a:gd name="T30" fmla="*/ 0 w 246"/>
                <a:gd name="T31" fmla="*/ 0 h 273"/>
                <a:gd name="T32" fmla="*/ 0 w 246"/>
                <a:gd name="T33" fmla="*/ 0 h 273"/>
                <a:gd name="T34" fmla="*/ 0 w 246"/>
                <a:gd name="T35" fmla="*/ 0 h 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6"/>
                <a:gd name="T55" fmla="*/ 0 h 273"/>
                <a:gd name="T56" fmla="*/ 246 w 246"/>
                <a:gd name="T57" fmla="*/ 273 h 2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6" h="273">
                  <a:moveTo>
                    <a:pt x="0" y="0"/>
                  </a:moveTo>
                  <a:lnTo>
                    <a:pt x="10" y="56"/>
                  </a:lnTo>
                  <a:lnTo>
                    <a:pt x="19" y="103"/>
                  </a:lnTo>
                  <a:lnTo>
                    <a:pt x="76" y="198"/>
                  </a:lnTo>
                  <a:lnTo>
                    <a:pt x="152" y="254"/>
                  </a:lnTo>
                  <a:lnTo>
                    <a:pt x="199" y="264"/>
                  </a:lnTo>
                  <a:lnTo>
                    <a:pt x="246" y="273"/>
                  </a:lnTo>
                  <a:lnTo>
                    <a:pt x="199" y="264"/>
                  </a:lnTo>
                  <a:lnTo>
                    <a:pt x="152" y="254"/>
                  </a:lnTo>
                  <a:lnTo>
                    <a:pt x="76" y="198"/>
                  </a:lnTo>
                  <a:lnTo>
                    <a:pt x="19" y="103"/>
                  </a:lnTo>
                  <a:lnTo>
                    <a:pt x="10" y="5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3" name="Freeform 32"/>
            <p:cNvSpPr>
              <a:spLocks noChangeAspect="1"/>
            </p:cNvSpPr>
            <p:nvPr/>
          </p:nvSpPr>
          <p:spPr bwMode="auto">
            <a:xfrm>
              <a:off x="4728" y="272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4" name="Freeform 33"/>
            <p:cNvSpPr>
              <a:spLocks noChangeAspect="1"/>
            </p:cNvSpPr>
            <p:nvPr/>
          </p:nvSpPr>
          <p:spPr bwMode="auto">
            <a:xfrm>
              <a:off x="4652" y="2267"/>
              <a:ext cx="152" cy="170"/>
            </a:xfrm>
            <a:custGeom>
              <a:avLst/>
              <a:gdLst>
                <a:gd name="T0" fmla="*/ 67 w 152"/>
                <a:gd name="T1" fmla="*/ 75 h 170"/>
                <a:gd name="T2" fmla="*/ 0 w 152"/>
                <a:gd name="T3" fmla="*/ 75 h 170"/>
                <a:gd name="T4" fmla="*/ 0 w 152"/>
                <a:gd name="T5" fmla="*/ 94 h 170"/>
                <a:gd name="T6" fmla="*/ 67 w 152"/>
                <a:gd name="T7" fmla="*/ 94 h 170"/>
                <a:gd name="T8" fmla="*/ 67 w 152"/>
                <a:gd name="T9" fmla="*/ 170 h 170"/>
                <a:gd name="T10" fmla="*/ 86 w 152"/>
                <a:gd name="T11" fmla="*/ 170 h 170"/>
                <a:gd name="T12" fmla="*/ 86 w 152"/>
                <a:gd name="T13" fmla="*/ 94 h 170"/>
                <a:gd name="T14" fmla="*/ 152 w 152"/>
                <a:gd name="T15" fmla="*/ 94 h 170"/>
                <a:gd name="T16" fmla="*/ 152 w 152"/>
                <a:gd name="T17" fmla="*/ 75 h 170"/>
                <a:gd name="T18" fmla="*/ 86 w 152"/>
                <a:gd name="T19" fmla="*/ 75 h 170"/>
                <a:gd name="T20" fmla="*/ 86 w 152"/>
                <a:gd name="T21" fmla="*/ 0 h 170"/>
                <a:gd name="T22" fmla="*/ 67 w 152"/>
                <a:gd name="T23" fmla="*/ 0 h 170"/>
                <a:gd name="T24" fmla="*/ 67 w 152"/>
                <a:gd name="T25" fmla="*/ 75 h 1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2"/>
                <a:gd name="T40" fmla="*/ 0 h 170"/>
                <a:gd name="T41" fmla="*/ 152 w 152"/>
                <a:gd name="T42" fmla="*/ 170 h 1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2" h="170">
                  <a:moveTo>
                    <a:pt x="67" y="75"/>
                  </a:moveTo>
                  <a:lnTo>
                    <a:pt x="0" y="75"/>
                  </a:lnTo>
                  <a:lnTo>
                    <a:pt x="0" y="94"/>
                  </a:lnTo>
                  <a:lnTo>
                    <a:pt x="67" y="94"/>
                  </a:lnTo>
                  <a:lnTo>
                    <a:pt x="67" y="170"/>
                  </a:lnTo>
                  <a:lnTo>
                    <a:pt x="86" y="170"/>
                  </a:lnTo>
                  <a:lnTo>
                    <a:pt x="86" y="94"/>
                  </a:lnTo>
                  <a:lnTo>
                    <a:pt x="152" y="94"/>
                  </a:lnTo>
                  <a:lnTo>
                    <a:pt x="152" y="75"/>
                  </a:lnTo>
                  <a:lnTo>
                    <a:pt x="86" y="75"/>
                  </a:lnTo>
                  <a:lnTo>
                    <a:pt x="86" y="0"/>
                  </a:lnTo>
                  <a:lnTo>
                    <a:pt x="67" y="0"/>
                  </a:lnTo>
                  <a:lnTo>
                    <a:pt x="67" y="7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5" name="Rectangle 34"/>
            <p:cNvSpPr>
              <a:spLocks noChangeAspect="1" noChangeArrowheads="1"/>
            </p:cNvSpPr>
            <p:nvPr/>
          </p:nvSpPr>
          <p:spPr bwMode="auto">
            <a:xfrm>
              <a:off x="4652" y="2569"/>
              <a:ext cx="152" cy="19"/>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4616" name="Freeform 35"/>
            <p:cNvSpPr>
              <a:spLocks noChangeAspect="1"/>
            </p:cNvSpPr>
            <p:nvPr/>
          </p:nvSpPr>
          <p:spPr bwMode="auto">
            <a:xfrm>
              <a:off x="1807" y="2163"/>
              <a:ext cx="492" cy="557"/>
            </a:xfrm>
            <a:custGeom>
              <a:avLst/>
              <a:gdLst>
                <a:gd name="T0" fmla="*/ 246 w 492"/>
                <a:gd name="T1" fmla="*/ 0 h 557"/>
                <a:gd name="T2" fmla="*/ 199 w 492"/>
                <a:gd name="T3" fmla="*/ 9 h 557"/>
                <a:gd name="T4" fmla="*/ 151 w 492"/>
                <a:gd name="T5" fmla="*/ 19 h 557"/>
                <a:gd name="T6" fmla="*/ 76 w 492"/>
                <a:gd name="T7" fmla="*/ 85 h 557"/>
                <a:gd name="T8" fmla="*/ 19 w 492"/>
                <a:gd name="T9" fmla="*/ 170 h 557"/>
                <a:gd name="T10" fmla="*/ 10 w 492"/>
                <a:gd name="T11" fmla="*/ 217 h 557"/>
                <a:gd name="T12" fmla="*/ 0 w 492"/>
                <a:gd name="T13" fmla="*/ 274 h 557"/>
                <a:gd name="T14" fmla="*/ 10 w 492"/>
                <a:gd name="T15" fmla="*/ 330 h 557"/>
                <a:gd name="T16" fmla="*/ 19 w 492"/>
                <a:gd name="T17" fmla="*/ 377 h 557"/>
                <a:gd name="T18" fmla="*/ 76 w 492"/>
                <a:gd name="T19" fmla="*/ 472 h 557"/>
                <a:gd name="T20" fmla="*/ 113 w 492"/>
                <a:gd name="T21" fmla="*/ 510 h 557"/>
                <a:gd name="T22" fmla="*/ 151 w 492"/>
                <a:gd name="T23" fmla="*/ 538 h 557"/>
                <a:gd name="T24" fmla="*/ 199 w 492"/>
                <a:gd name="T25" fmla="*/ 547 h 557"/>
                <a:gd name="T26" fmla="*/ 246 w 492"/>
                <a:gd name="T27" fmla="*/ 557 h 557"/>
                <a:gd name="T28" fmla="*/ 293 w 492"/>
                <a:gd name="T29" fmla="*/ 547 h 557"/>
                <a:gd name="T30" fmla="*/ 340 w 492"/>
                <a:gd name="T31" fmla="*/ 538 h 557"/>
                <a:gd name="T32" fmla="*/ 388 w 492"/>
                <a:gd name="T33" fmla="*/ 510 h 557"/>
                <a:gd name="T34" fmla="*/ 425 w 492"/>
                <a:gd name="T35" fmla="*/ 472 h 557"/>
                <a:gd name="T36" fmla="*/ 473 w 492"/>
                <a:gd name="T37" fmla="*/ 377 h 557"/>
                <a:gd name="T38" fmla="*/ 492 w 492"/>
                <a:gd name="T39" fmla="*/ 330 h 557"/>
                <a:gd name="T40" fmla="*/ 492 w 492"/>
                <a:gd name="T41" fmla="*/ 274 h 557"/>
                <a:gd name="T42" fmla="*/ 492 w 492"/>
                <a:gd name="T43" fmla="*/ 217 h 557"/>
                <a:gd name="T44" fmla="*/ 473 w 492"/>
                <a:gd name="T45" fmla="*/ 170 h 557"/>
                <a:gd name="T46" fmla="*/ 425 w 492"/>
                <a:gd name="T47" fmla="*/ 85 h 557"/>
                <a:gd name="T48" fmla="*/ 340 w 492"/>
                <a:gd name="T49" fmla="*/ 19 h 557"/>
                <a:gd name="T50" fmla="*/ 293 w 492"/>
                <a:gd name="T51" fmla="*/ 9 h 557"/>
                <a:gd name="T52" fmla="*/ 246 w 492"/>
                <a:gd name="T53" fmla="*/ 0 h 557"/>
                <a:gd name="T54" fmla="*/ 246 w 492"/>
                <a:gd name="T55" fmla="*/ 0 h 5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92"/>
                <a:gd name="T85" fmla="*/ 0 h 557"/>
                <a:gd name="T86" fmla="*/ 492 w 492"/>
                <a:gd name="T87" fmla="*/ 557 h 5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92" h="557">
                  <a:moveTo>
                    <a:pt x="246" y="0"/>
                  </a:moveTo>
                  <a:lnTo>
                    <a:pt x="199" y="9"/>
                  </a:lnTo>
                  <a:lnTo>
                    <a:pt x="151" y="19"/>
                  </a:lnTo>
                  <a:lnTo>
                    <a:pt x="76" y="85"/>
                  </a:lnTo>
                  <a:lnTo>
                    <a:pt x="19" y="170"/>
                  </a:lnTo>
                  <a:lnTo>
                    <a:pt x="10" y="217"/>
                  </a:lnTo>
                  <a:lnTo>
                    <a:pt x="0" y="274"/>
                  </a:lnTo>
                  <a:lnTo>
                    <a:pt x="10" y="330"/>
                  </a:lnTo>
                  <a:lnTo>
                    <a:pt x="19" y="377"/>
                  </a:lnTo>
                  <a:lnTo>
                    <a:pt x="76" y="472"/>
                  </a:lnTo>
                  <a:lnTo>
                    <a:pt x="113" y="510"/>
                  </a:lnTo>
                  <a:lnTo>
                    <a:pt x="151" y="538"/>
                  </a:lnTo>
                  <a:lnTo>
                    <a:pt x="199" y="547"/>
                  </a:lnTo>
                  <a:lnTo>
                    <a:pt x="246" y="557"/>
                  </a:lnTo>
                  <a:lnTo>
                    <a:pt x="293" y="547"/>
                  </a:lnTo>
                  <a:lnTo>
                    <a:pt x="340" y="538"/>
                  </a:lnTo>
                  <a:lnTo>
                    <a:pt x="388" y="510"/>
                  </a:lnTo>
                  <a:lnTo>
                    <a:pt x="425" y="472"/>
                  </a:lnTo>
                  <a:lnTo>
                    <a:pt x="473" y="377"/>
                  </a:lnTo>
                  <a:lnTo>
                    <a:pt x="492" y="330"/>
                  </a:lnTo>
                  <a:lnTo>
                    <a:pt x="492" y="274"/>
                  </a:lnTo>
                  <a:lnTo>
                    <a:pt x="492" y="217"/>
                  </a:lnTo>
                  <a:lnTo>
                    <a:pt x="473" y="170"/>
                  </a:lnTo>
                  <a:lnTo>
                    <a:pt x="425" y="85"/>
                  </a:lnTo>
                  <a:lnTo>
                    <a:pt x="340" y="19"/>
                  </a:lnTo>
                  <a:lnTo>
                    <a:pt x="293" y="9"/>
                  </a:lnTo>
                  <a:lnTo>
                    <a:pt x="246" y="0"/>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7" name="Freeform 36"/>
            <p:cNvSpPr>
              <a:spLocks noChangeAspect="1"/>
            </p:cNvSpPr>
            <p:nvPr/>
          </p:nvSpPr>
          <p:spPr bwMode="auto">
            <a:xfrm>
              <a:off x="1807" y="2163"/>
              <a:ext cx="246" cy="274"/>
            </a:xfrm>
            <a:custGeom>
              <a:avLst/>
              <a:gdLst>
                <a:gd name="T0" fmla="*/ 246 w 246"/>
                <a:gd name="T1" fmla="*/ 0 h 274"/>
                <a:gd name="T2" fmla="*/ 199 w 246"/>
                <a:gd name="T3" fmla="*/ 9 h 274"/>
                <a:gd name="T4" fmla="*/ 151 w 246"/>
                <a:gd name="T5" fmla="*/ 19 h 274"/>
                <a:gd name="T6" fmla="*/ 76 w 246"/>
                <a:gd name="T7" fmla="*/ 85 h 274"/>
                <a:gd name="T8" fmla="*/ 19 w 246"/>
                <a:gd name="T9" fmla="*/ 170 h 274"/>
                <a:gd name="T10" fmla="*/ 10 w 246"/>
                <a:gd name="T11" fmla="*/ 217 h 274"/>
                <a:gd name="T12" fmla="*/ 0 w 246"/>
                <a:gd name="T13" fmla="*/ 274 h 274"/>
                <a:gd name="T14" fmla="*/ 0 w 246"/>
                <a:gd name="T15" fmla="*/ 274 h 274"/>
                <a:gd name="T16" fmla="*/ 10 w 246"/>
                <a:gd name="T17" fmla="*/ 217 h 274"/>
                <a:gd name="T18" fmla="*/ 19 w 246"/>
                <a:gd name="T19" fmla="*/ 170 h 274"/>
                <a:gd name="T20" fmla="*/ 76 w 246"/>
                <a:gd name="T21" fmla="*/ 85 h 274"/>
                <a:gd name="T22" fmla="*/ 151 w 246"/>
                <a:gd name="T23" fmla="*/ 19 h 274"/>
                <a:gd name="T24" fmla="*/ 199 w 246"/>
                <a:gd name="T25" fmla="*/ 9 h 274"/>
                <a:gd name="T26" fmla="*/ 246 w 246"/>
                <a:gd name="T27" fmla="*/ 0 h 274"/>
                <a:gd name="T28" fmla="*/ 246 w 246"/>
                <a:gd name="T29" fmla="*/ 0 h 27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6"/>
                <a:gd name="T46" fmla="*/ 0 h 274"/>
                <a:gd name="T47" fmla="*/ 246 w 246"/>
                <a:gd name="T48" fmla="*/ 274 h 27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6" h="274">
                  <a:moveTo>
                    <a:pt x="246" y="0"/>
                  </a:moveTo>
                  <a:lnTo>
                    <a:pt x="199" y="9"/>
                  </a:lnTo>
                  <a:lnTo>
                    <a:pt x="151" y="19"/>
                  </a:lnTo>
                  <a:lnTo>
                    <a:pt x="76" y="85"/>
                  </a:lnTo>
                  <a:lnTo>
                    <a:pt x="19" y="170"/>
                  </a:lnTo>
                  <a:lnTo>
                    <a:pt x="10" y="217"/>
                  </a:lnTo>
                  <a:lnTo>
                    <a:pt x="0" y="274"/>
                  </a:lnTo>
                  <a:lnTo>
                    <a:pt x="10" y="217"/>
                  </a:lnTo>
                  <a:lnTo>
                    <a:pt x="19" y="170"/>
                  </a:lnTo>
                  <a:lnTo>
                    <a:pt x="76" y="85"/>
                  </a:lnTo>
                  <a:lnTo>
                    <a:pt x="151" y="19"/>
                  </a:lnTo>
                  <a:lnTo>
                    <a:pt x="199" y="9"/>
                  </a:lnTo>
                  <a:lnTo>
                    <a:pt x="24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8" name="Freeform 37"/>
            <p:cNvSpPr>
              <a:spLocks noChangeAspect="1" noEditPoints="1"/>
            </p:cNvSpPr>
            <p:nvPr/>
          </p:nvSpPr>
          <p:spPr bwMode="auto">
            <a:xfrm>
              <a:off x="1807" y="2437"/>
              <a:ext cx="246" cy="283"/>
            </a:xfrm>
            <a:custGeom>
              <a:avLst/>
              <a:gdLst>
                <a:gd name="T0" fmla="*/ 0 w 246"/>
                <a:gd name="T1" fmla="*/ 0 h 283"/>
                <a:gd name="T2" fmla="*/ 10 w 246"/>
                <a:gd name="T3" fmla="*/ 56 h 283"/>
                <a:gd name="T4" fmla="*/ 19 w 246"/>
                <a:gd name="T5" fmla="*/ 103 h 283"/>
                <a:gd name="T6" fmla="*/ 76 w 246"/>
                <a:gd name="T7" fmla="*/ 198 h 283"/>
                <a:gd name="T8" fmla="*/ 113 w 246"/>
                <a:gd name="T9" fmla="*/ 236 h 283"/>
                <a:gd name="T10" fmla="*/ 151 w 246"/>
                <a:gd name="T11" fmla="*/ 264 h 283"/>
                <a:gd name="T12" fmla="*/ 199 w 246"/>
                <a:gd name="T13" fmla="*/ 273 h 283"/>
                <a:gd name="T14" fmla="*/ 246 w 246"/>
                <a:gd name="T15" fmla="*/ 283 h 283"/>
                <a:gd name="T16" fmla="*/ 246 w 246"/>
                <a:gd name="T17" fmla="*/ 283 h 283"/>
                <a:gd name="T18" fmla="*/ 199 w 246"/>
                <a:gd name="T19" fmla="*/ 273 h 283"/>
                <a:gd name="T20" fmla="*/ 151 w 246"/>
                <a:gd name="T21" fmla="*/ 264 h 283"/>
                <a:gd name="T22" fmla="*/ 113 w 246"/>
                <a:gd name="T23" fmla="*/ 236 h 283"/>
                <a:gd name="T24" fmla="*/ 76 w 246"/>
                <a:gd name="T25" fmla="*/ 198 h 283"/>
                <a:gd name="T26" fmla="*/ 19 w 246"/>
                <a:gd name="T27" fmla="*/ 103 h 283"/>
                <a:gd name="T28" fmla="*/ 10 w 246"/>
                <a:gd name="T29" fmla="*/ 56 h 283"/>
                <a:gd name="T30" fmla="*/ 0 w 246"/>
                <a:gd name="T31" fmla="*/ 0 h 283"/>
                <a:gd name="T32" fmla="*/ 0 w 246"/>
                <a:gd name="T33" fmla="*/ 0 h 283"/>
                <a:gd name="T34" fmla="*/ 0 w 246"/>
                <a:gd name="T35" fmla="*/ 0 h 283"/>
                <a:gd name="T36" fmla="*/ 0 w 246"/>
                <a:gd name="T37" fmla="*/ 0 h 283"/>
                <a:gd name="T38" fmla="*/ 0 w 246"/>
                <a:gd name="T39" fmla="*/ 0 h 28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3"/>
                <a:gd name="T62" fmla="*/ 246 w 246"/>
                <a:gd name="T63" fmla="*/ 283 h 28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3">
                  <a:moveTo>
                    <a:pt x="0" y="0"/>
                  </a:moveTo>
                  <a:lnTo>
                    <a:pt x="10" y="56"/>
                  </a:lnTo>
                  <a:lnTo>
                    <a:pt x="19" y="103"/>
                  </a:lnTo>
                  <a:lnTo>
                    <a:pt x="76" y="198"/>
                  </a:lnTo>
                  <a:lnTo>
                    <a:pt x="113" y="236"/>
                  </a:lnTo>
                  <a:lnTo>
                    <a:pt x="151" y="264"/>
                  </a:lnTo>
                  <a:lnTo>
                    <a:pt x="199" y="273"/>
                  </a:lnTo>
                  <a:lnTo>
                    <a:pt x="246" y="283"/>
                  </a:lnTo>
                  <a:lnTo>
                    <a:pt x="199" y="273"/>
                  </a:lnTo>
                  <a:lnTo>
                    <a:pt x="151" y="264"/>
                  </a:lnTo>
                  <a:lnTo>
                    <a:pt x="113" y="236"/>
                  </a:lnTo>
                  <a:lnTo>
                    <a:pt x="76" y="198"/>
                  </a:lnTo>
                  <a:lnTo>
                    <a:pt x="19" y="103"/>
                  </a:lnTo>
                  <a:lnTo>
                    <a:pt x="10" y="56"/>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19" name="Freeform 38"/>
            <p:cNvSpPr>
              <a:spLocks noChangeAspect="1" noEditPoints="1"/>
            </p:cNvSpPr>
            <p:nvPr/>
          </p:nvSpPr>
          <p:spPr bwMode="auto">
            <a:xfrm>
              <a:off x="2053" y="2437"/>
              <a:ext cx="246" cy="283"/>
            </a:xfrm>
            <a:custGeom>
              <a:avLst/>
              <a:gdLst>
                <a:gd name="T0" fmla="*/ 0 w 246"/>
                <a:gd name="T1" fmla="*/ 283 h 283"/>
                <a:gd name="T2" fmla="*/ 47 w 246"/>
                <a:gd name="T3" fmla="*/ 273 h 283"/>
                <a:gd name="T4" fmla="*/ 94 w 246"/>
                <a:gd name="T5" fmla="*/ 264 h 283"/>
                <a:gd name="T6" fmla="*/ 142 w 246"/>
                <a:gd name="T7" fmla="*/ 236 h 283"/>
                <a:gd name="T8" fmla="*/ 179 w 246"/>
                <a:gd name="T9" fmla="*/ 198 h 283"/>
                <a:gd name="T10" fmla="*/ 227 w 246"/>
                <a:gd name="T11" fmla="*/ 103 h 283"/>
                <a:gd name="T12" fmla="*/ 246 w 246"/>
                <a:gd name="T13" fmla="*/ 56 h 283"/>
                <a:gd name="T14" fmla="*/ 246 w 246"/>
                <a:gd name="T15" fmla="*/ 0 h 283"/>
                <a:gd name="T16" fmla="*/ 246 w 246"/>
                <a:gd name="T17" fmla="*/ 0 h 283"/>
                <a:gd name="T18" fmla="*/ 246 w 246"/>
                <a:gd name="T19" fmla="*/ 56 h 283"/>
                <a:gd name="T20" fmla="*/ 227 w 246"/>
                <a:gd name="T21" fmla="*/ 103 h 283"/>
                <a:gd name="T22" fmla="*/ 179 w 246"/>
                <a:gd name="T23" fmla="*/ 198 h 283"/>
                <a:gd name="T24" fmla="*/ 142 w 246"/>
                <a:gd name="T25" fmla="*/ 236 h 283"/>
                <a:gd name="T26" fmla="*/ 94 w 246"/>
                <a:gd name="T27" fmla="*/ 264 h 283"/>
                <a:gd name="T28" fmla="*/ 47 w 246"/>
                <a:gd name="T29" fmla="*/ 273 h 283"/>
                <a:gd name="T30" fmla="*/ 0 w 246"/>
                <a:gd name="T31" fmla="*/ 283 h 283"/>
                <a:gd name="T32" fmla="*/ 0 w 246"/>
                <a:gd name="T33" fmla="*/ 283 h 283"/>
                <a:gd name="T34" fmla="*/ 0 w 246"/>
                <a:gd name="T35" fmla="*/ 283 h 283"/>
                <a:gd name="T36" fmla="*/ 0 w 246"/>
                <a:gd name="T37" fmla="*/ 283 h 283"/>
                <a:gd name="T38" fmla="*/ 0 w 246"/>
                <a:gd name="T39" fmla="*/ 283 h 28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6"/>
                <a:gd name="T61" fmla="*/ 0 h 283"/>
                <a:gd name="T62" fmla="*/ 246 w 246"/>
                <a:gd name="T63" fmla="*/ 283 h 28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6" h="283">
                  <a:moveTo>
                    <a:pt x="0" y="283"/>
                  </a:moveTo>
                  <a:lnTo>
                    <a:pt x="47" y="273"/>
                  </a:lnTo>
                  <a:lnTo>
                    <a:pt x="94" y="264"/>
                  </a:lnTo>
                  <a:lnTo>
                    <a:pt x="142" y="236"/>
                  </a:lnTo>
                  <a:lnTo>
                    <a:pt x="179" y="198"/>
                  </a:lnTo>
                  <a:lnTo>
                    <a:pt x="227" y="103"/>
                  </a:lnTo>
                  <a:lnTo>
                    <a:pt x="246" y="56"/>
                  </a:lnTo>
                  <a:lnTo>
                    <a:pt x="246" y="0"/>
                  </a:lnTo>
                  <a:lnTo>
                    <a:pt x="246" y="56"/>
                  </a:lnTo>
                  <a:lnTo>
                    <a:pt x="227" y="103"/>
                  </a:lnTo>
                  <a:lnTo>
                    <a:pt x="179" y="198"/>
                  </a:lnTo>
                  <a:lnTo>
                    <a:pt x="142" y="236"/>
                  </a:lnTo>
                  <a:lnTo>
                    <a:pt x="94" y="264"/>
                  </a:lnTo>
                  <a:lnTo>
                    <a:pt x="47" y="273"/>
                  </a:lnTo>
                  <a:lnTo>
                    <a:pt x="0" y="283"/>
                  </a:lnTo>
                  <a:close/>
                  <a:moveTo>
                    <a:pt x="0" y="283"/>
                  </a:moveTo>
                  <a:lnTo>
                    <a:pt x="0" y="2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0" name="Freeform 39"/>
            <p:cNvSpPr>
              <a:spLocks noChangeAspect="1" noEditPoints="1"/>
            </p:cNvSpPr>
            <p:nvPr/>
          </p:nvSpPr>
          <p:spPr bwMode="auto">
            <a:xfrm>
              <a:off x="2053" y="2163"/>
              <a:ext cx="246" cy="274"/>
            </a:xfrm>
            <a:custGeom>
              <a:avLst/>
              <a:gdLst>
                <a:gd name="T0" fmla="*/ 246 w 246"/>
                <a:gd name="T1" fmla="*/ 274 h 274"/>
                <a:gd name="T2" fmla="*/ 246 w 246"/>
                <a:gd name="T3" fmla="*/ 217 h 274"/>
                <a:gd name="T4" fmla="*/ 227 w 246"/>
                <a:gd name="T5" fmla="*/ 170 h 274"/>
                <a:gd name="T6" fmla="*/ 179 w 246"/>
                <a:gd name="T7" fmla="*/ 85 h 274"/>
                <a:gd name="T8" fmla="*/ 94 w 246"/>
                <a:gd name="T9" fmla="*/ 19 h 274"/>
                <a:gd name="T10" fmla="*/ 47 w 246"/>
                <a:gd name="T11" fmla="*/ 9 h 274"/>
                <a:gd name="T12" fmla="*/ 0 w 246"/>
                <a:gd name="T13" fmla="*/ 0 h 274"/>
                <a:gd name="T14" fmla="*/ 0 w 246"/>
                <a:gd name="T15" fmla="*/ 0 h 274"/>
                <a:gd name="T16" fmla="*/ 47 w 246"/>
                <a:gd name="T17" fmla="*/ 9 h 274"/>
                <a:gd name="T18" fmla="*/ 94 w 246"/>
                <a:gd name="T19" fmla="*/ 19 h 274"/>
                <a:gd name="T20" fmla="*/ 179 w 246"/>
                <a:gd name="T21" fmla="*/ 85 h 274"/>
                <a:gd name="T22" fmla="*/ 227 w 246"/>
                <a:gd name="T23" fmla="*/ 170 h 274"/>
                <a:gd name="T24" fmla="*/ 246 w 246"/>
                <a:gd name="T25" fmla="*/ 217 h 274"/>
                <a:gd name="T26" fmla="*/ 246 w 246"/>
                <a:gd name="T27" fmla="*/ 274 h 274"/>
                <a:gd name="T28" fmla="*/ 246 w 246"/>
                <a:gd name="T29" fmla="*/ 274 h 274"/>
                <a:gd name="T30" fmla="*/ 246 w 246"/>
                <a:gd name="T31" fmla="*/ 274 h 274"/>
                <a:gd name="T32" fmla="*/ 246 w 246"/>
                <a:gd name="T33" fmla="*/ 274 h 274"/>
                <a:gd name="T34" fmla="*/ 246 w 246"/>
                <a:gd name="T35" fmla="*/ 274 h 2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6"/>
                <a:gd name="T55" fmla="*/ 0 h 274"/>
                <a:gd name="T56" fmla="*/ 246 w 246"/>
                <a:gd name="T57" fmla="*/ 274 h 2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6" h="274">
                  <a:moveTo>
                    <a:pt x="246" y="274"/>
                  </a:moveTo>
                  <a:lnTo>
                    <a:pt x="246" y="217"/>
                  </a:lnTo>
                  <a:lnTo>
                    <a:pt x="227" y="170"/>
                  </a:lnTo>
                  <a:lnTo>
                    <a:pt x="179" y="85"/>
                  </a:lnTo>
                  <a:lnTo>
                    <a:pt x="94" y="19"/>
                  </a:lnTo>
                  <a:lnTo>
                    <a:pt x="47" y="9"/>
                  </a:lnTo>
                  <a:lnTo>
                    <a:pt x="0" y="0"/>
                  </a:lnTo>
                  <a:lnTo>
                    <a:pt x="47" y="9"/>
                  </a:lnTo>
                  <a:lnTo>
                    <a:pt x="94" y="19"/>
                  </a:lnTo>
                  <a:lnTo>
                    <a:pt x="179" y="85"/>
                  </a:lnTo>
                  <a:lnTo>
                    <a:pt x="227" y="170"/>
                  </a:lnTo>
                  <a:lnTo>
                    <a:pt x="246" y="217"/>
                  </a:lnTo>
                  <a:lnTo>
                    <a:pt x="246" y="274"/>
                  </a:lnTo>
                  <a:close/>
                  <a:moveTo>
                    <a:pt x="246" y="274"/>
                  </a:moveTo>
                  <a:lnTo>
                    <a:pt x="246" y="27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1" name="Freeform 40"/>
            <p:cNvSpPr>
              <a:spLocks noChangeAspect="1"/>
            </p:cNvSpPr>
            <p:nvPr/>
          </p:nvSpPr>
          <p:spPr bwMode="auto">
            <a:xfrm>
              <a:off x="2053" y="216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2" name="Freeform 41"/>
            <p:cNvSpPr>
              <a:spLocks noChangeAspect="1"/>
            </p:cNvSpPr>
            <p:nvPr/>
          </p:nvSpPr>
          <p:spPr bwMode="auto">
            <a:xfrm>
              <a:off x="2062" y="2220"/>
              <a:ext cx="1" cy="226"/>
            </a:xfrm>
            <a:custGeom>
              <a:avLst/>
              <a:gdLst>
                <a:gd name="T0" fmla="*/ 0 w 1"/>
                <a:gd name="T1" fmla="*/ 0 h 226"/>
                <a:gd name="T2" fmla="*/ 0 w 1"/>
                <a:gd name="T3" fmla="*/ 226 h 226"/>
                <a:gd name="T4" fmla="*/ 0 w 1"/>
                <a:gd name="T5" fmla="*/ 0 h 226"/>
                <a:gd name="T6" fmla="*/ 0 w 1"/>
                <a:gd name="T7" fmla="*/ 0 h 226"/>
                <a:gd name="T8" fmla="*/ 0 60000 65536"/>
                <a:gd name="T9" fmla="*/ 0 60000 65536"/>
                <a:gd name="T10" fmla="*/ 0 60000 65536"/>
                <a:gd name="T11" fmla="*/ 0 60000 65536"/>
                <a:gd name="T12" fmla="*/ 0 w 1"/>
                <a:gd name="T13" fmla="*/ 0 h 226"/>
                <a:gd name="T14" fmla="*/ 1 w 1"/>
                <a:gd name="T15" fmla="*/ 226 h 226"/>
              </a:gdLst>
              <a:ahLst/>
              <a:cxnLst>
                <a:cxn ang="T8">
                  <a:pos x="T0" y="T1"/>
                </a:cxn>
                <a:cxn ang="T9">
                  <a:pos x="T2" y="T3"/>
                </a:cxn>
                <a:cxn ang="T10">
                  <a:pos x="T4" y="T5"/>
                </a:cxn>
                <a:cxn ang="T11">
                  <a:pos x="T6" y="T7"/>
                </a:cxn>
              </a:cxnLst>
              <a:rect l="T12" t="T13" r="T14" b="T15"/>
              <a:pathLst>
                <a:path w="1" h="226">
                  <a:moveTo>
                    <a:pt x="0" y="0"/>
                  </a:moveTo>
                  <a:lnTo>
                    <a:pt x="0" y="226"/>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3" name="Freeform 42"/>
            <p:cNvSpPr>
              <a:spLocks noChangeAspect="1"/>
            </p:cNvSpPr>
            <p:nvPr/>
          </p:nvSpPr>
          <p:spPr bwMode="auto">
            <a:xfrm>
              <a:off x="1996" y="2399"/>
              <a:ext cx="123" cy="245"/>
            </a:xfrm>
            <a:custGeom>
              <a:avLst/>
              <a:gdLst>
                <a:gd name="T0" fmla="*/ 0 w 123"/>
                <a:gd name="T1" fmla="*/ 0 h 245"/>
                <a:gd name="T2" fmla="*/ 66 w 123"/>
                <a:gd name="T3" fmla="*/ 245 h 245"/>
                <a:gd name="T4" fmla="*/ 123 w 123"/>
                <a:gd name="T5" fmla="*/ 0 h 245"/>
                <a:gd name="T6" fmla="*/ 0 w 123"/>
                <a:gd name="T7" fmla="*/ 0 h 245"/>
                <a:gd name="T8" fmla="*/ 0 w 123"/>
                <a:gd name="T9" fmla="*/ 0 h 245"/>
                <a:gd name="T10" fmla="*/ 0 60000 65536"/>
                <a:gd name="T11" fmla="*/ 0 60000 65536"/>
                <a:gd name="T12" fmla="*/ 0 60000 65536"/>
                <a:gd name="T13" fmla="*/ 0 60000 65536"/>
                <a:gd name="T14" fmla="*/ 0 60000 65536"/>
                <a:gd name="T15" fmla="*/ 0 w 123"/>
                <a:gd name="T16" fmla="*/ 0 h 245"/>
                <a:gd name="T17" fmla="*/ 123 w 123"/>
                <a:gd name="T18" fmla="*/ 245 h 245"/>
              </a:gdLst>
              <a:ahLst/>
              <a:cxnLst>
                <a:cxn ang="T10">
                  <a:pos x="T0" y="T1"/>
                </a:cxn>
                <a:cxn ang="T11">
                  <a:pos x="T2" y="T3"/>
                </a:cxn>
                <a:cxn ang="T12">
                  <a:pos x="T4" y="T5"/>
                </a:cxn>
                <a:cxn ang="T13">
                  <a:pos x="T6" y="T7"/>
                </a:cxn>
                <a:cxn ang="T14">
                  <a:pos x="T8" y="T9"/>
                </a:cxn>
              </a:cxnLst>
              <a:rect l="T15" t="T16" r="T17" b="T18"/>
              <a:pathLst>
                <a:path w="123" h="245">
                  <a:moveTo>
                    <a:pt x="0" y="0"/>
                  </a:moveTo>
                  <a:lnTo>
                    <a:pt x="66" y="245"/>
                  </a:lnTo>
                  <a:lnTo>
                    <a:pt x="123"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4" name="Freeform 43"/>
            <p:cNvSpPr>
              <a:spLocks noChangeAspect="1"/>
            </p:cNvSpPr>
            <p:nvPr/>
          </p:nvSpPr>
          <p:spPr bwMode="auto">
            <a:xfrm>
              <a:off x="748" y="2106"/>
              <a:ext cx="66" cy="670"/>
            </a:xfrm>
            <a:custGeom>
              <a:avLst/>
              <a:gdLst>
                <a:gd name="T0" fmla="*/ 66 w 66"/>
                <a:gd name="T1" fmla="*/ 670 h 670"/>
                <a:gd name="T2" fmla="*/ 0 w 66"/>
                <a:gd name="T3" fmla="*/ 670 h 670"/>
                <a:gd name="T4" fmla="*/ 0 w 66"/>
                <a:gd name="T5" fmla="*/ 0 h 670"/>
                <a:gd name="T6" fmla="*/ 66 w 66"/>
                <a:gd name="T7" fmla="*/ 0 h 670"/>
                <a:gd name="T8" fmla="*/ 66 w 66"/>
                <a:gd name="T9" fmla="*/ 670 h 670"/>
                <a:gd name="T10" fmla="*/ 66 w 66"/>
                <a:gd name="T11" fmla="*/ 670 h 670"/>
                <a:gd name="T12" fmla="*/ 0 60000 65536"/>
                <a:gd name="T13" fmla="*/ 0 60000 65536"/>
                <a:gd name="T14" fmla="*/ 0 60000 65536"/>
                <a:gd name="T15" fmla="*/ 0 60000 65536"/>
                <a:gd name="T16" fmla="*/ 0 60000 65536"/>
                <a:gd name="T17" fmla="*/ 0 60000 65536"/>
                <a:gd name="T18" fmla="*/ 0 w 66"/>
                <a:gd name="T19" fmla="*/ 0 h 670"/>
                <a:gd name="T20" fmla="*/ 66 w 66"/>
                <a:gd name="T21" fmla="*/ 670 h 670"/>
              </a:gdLst>
              <a:ahLst/>
              <a:cxnLst>
                <a:cxn ang="T12">
                  <a:pos x="T0" y="T1"/>
                </a:cxn>
                <a:cxn ang="T13">
                  <a:pos x="T2" y="T3"/>
                </a:cxn>
                <a:cxn ang="T14">
                  <a:pos x="T4" y="T5"/>
                </a:cxn>
                <a:cxn ang="T15">
                  <a:pos x="T6" y="T7"/>
                </a:cxn>
                <a:cxn ang="T16">
                  <a:pos x="T8" y="T9"/>
                </a:cxn>
                <a:cxn ang="T17">
                  <a:pos x="T10" y="T11"/>
                </a:cxn>
              </a:cxnLst>
              <a:rect l="T18" t="T19" r="T20" b="T21"/>
              <a:pathLst>
                <a:path w="66" h="670">
                  <a:moveTo>
                    <a:pt x="66" y="670"/>
                  </a:moveTo>
                  <a:lnTo>
                    <a:pt x="0" y="670"/>
                  </a:lnTo>
                  <a:lnTo>
                    <a:pt x="0" y="0"/>
                  </a:lnTo>
                  <a:lnTo>
                    <a:pt x="66" y="0"/>
                  </a:lnTo>
                  <a:lnTo>
                    <a:pt x="66" y="670"/>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5" name="Freeform 44"/>
            <p:cNvSpPr>
              <a:spLocks noChangeAspect="1"/>
            </p:cNvSpPr>
            <p:nvPr/>
          </p:nvSpPr>
          <p:spPr bwMode="auto">
            <a:xfrm>
              <a:off x="777" y="2097"/>
              <a:ext cx="94" cy="47"/>
            </a:xfrm>
            <a:custGeom>
              <a:avLst/>
              <a:gdLst>
                <a:gd name="T0" fmla="*/ 0 w 94"/>
                <a:gd name="T1" fmla="*/ 0 h 47"/>
                <a:gd name="T2" fmla="*/ 94 w 94"/>
                <a:gd name="T3" fmla="*/ 47 h 47"/>
                <a:gd name="T4" fmla="*/ 0 w 94"/>
                <a:gd name="T5" fmla="*/ 0 h 47"/>
                <a:gd name="T6" fmla="*/ 0 w 94"/>
                <a:gd name="T7" fmla="*/ 0 h 47"/>
                <a:gd name="T8" fmla="*/ 0 60000 65536"/>
                <a:gd name="T9" fmla="*/ 0 60000 65536"/>
                <a:gd name="T10" fmla="*/ 0 60000 65536"/>
                <a:gd name="T11" fmla="*/ 0 60000 65536"/>
                <a:gd name="T12" fmla="*/ 0 w 94"/>
                <a:gd name="T13" fmla="*/ 0 h 47"/>
                <a:gd name="T14" fmla="*/ 94 w 94"/>
                <a:gd name="T15" fmla="*/ 47 h 47"/>
              </a:gdLst>
              <a:ahLst/>
              <a:cxnLst>
                <a:cxn ang="T8">
                  <a:pos x="T0" y="T1"/>
                </a:cxn>
                <a:cxn ang="T9">
                  <a:pos x="T2" y="T3"/>
                </a:cxn>
                <a:cxn ang="T10">
                  <a:pos x="T4" y="T5"/>
                </a:cxn>
                <a:cxn ang="T11">
                  <a:pos x="T6" y="T7"/>
                </a:cxn>
              </a:cxnLst>
              <a:rect l="T12" t="T13" r="T14" b="T15"/>
              <a:pathLst>
                <a:path w="94" h="47">
                  <a:moveTo>
                    <a:pt x="0" y="0"/>
                  </a:moveTo>
                  <a:lnTo>
                    <a:pt x="94" y="47"/>
                  </a:ln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6" name="Freeform 45"/>
            <p:cNvSpPr>
              <a:spLocks noChangeAspect="1" noEditPoints="1"/>
            </p:cNvSpPr>
            <p:nvPr/>
          </p:nvSpPr>
          <p:spPr bwMode="auto">
            <a:xfrm>
              <a:off x="777" y="214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7" name="Freeform 46"/>
            <p:cNvSpPr>
              <a:spLocks noChangeAspect="1" noEditPoints="1"/>
            </p:cNvSpPr>
            <p:nvPr/>
          </p:nvSpPr>
          <p:spPr bwMode="auto">
            <a:xfrm>
              <a:off x="692" y="219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8" name="Freeform 47"/>
            <p:cNvSpPr>
              <a:spLocks noChangeAspect="1" noEditPoints="1"/>
            </p:cNvSpPr>
            <p:nvPr/>
          </p:nvSpPr>
          <p:spPr bwMode="auto">
            <a:xfrm>
              <a:off x="692" y="222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29" name="Freeform 48"/>
            <p:cNvSpPr>
              <a:spLocks noChangeAspect="1" noEditPoints="1"/>
            </p:cNvSpPr>
            <p:nvPr/>
          </p:nvSpPr>
          <p:spPr bwMode="auto">
            <a:xfrm>
              <a:off x="777" y="227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0" name="Freeform 49"/>
            <p:cNvSpPr>
              <a:spLocks noChangeAspect="1" noEditPoints="1"/>
            </p:cNvSpPr>
            <p:nvPr/>
          </p:nvSpPr>
          <p:spPr bwMode="auto">
            <a:xfrm>
              <a:off x="777" y="2276"/>
              <a:ext cx="94" cy="38"/>
            </a:xfrm>
            <a:custGeom>
              <a:avLst/>
              <a:gdLst>
                <a:gd name="T0" fmla="*/ 0 w 94"/>
                <a:gd name="T1" fmla="*/ 0 h 38"/>
                <a:gd name="T2" fmla="*/ 94 w 94"/>
                <a:gd name="T3" fmla="*/ 38 h 38"/>
                <a:gd name="T4" fmla="*/ 0 w 94"/>
                <a:gd name="T5" fmla="*/ 0 h 38"/>
                <a:gd name="T6" fmla="*/ 0 w 94"/>
                <a:gd name="T7" fmla="*/ 0 h 38"/>
                <a:gd name="T8" fmla="*/ 0 w 94"/>
                <a:gd name="T9" fmla="*/ 0 h 38"/>
                <a:gd name="T10" fmla="*/ 0 w 94"/>
                <a:gd name="T11" fmla="*/ 0 h 38"/>
                <a:gd name="T12" fmla="*/ 0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0"/>
                  </a:moveTo>
                  <a:lnTo>
                    <a:pt x="94" y="38"/>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1" name="Freeform 50"/>
            <p:cNvSpPr>
              <a:spLocks noChangeAspect="1" noEditPoints="1"/>
            </p:cNvSpPr>
            <p:nvPr/>
          </p:nvSpPr>
          <p:spPr bwMode="auto">
            <a:xfrm>
              <a:off x="777" y="231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2" name="Freeform 51"/>
            <p:cNvSpPr>
              <a:spLocks noChangeAspect="1" noEditPoints="1"/>
            </p:cNvSpPr>
            <p:nvPr/>
          </p:nvSpPr>
          <p:spPr bwMode="auto">
            <a:xfrm>
              <a:off x="692" y="236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3" name="Freeform 52"/>
            <p:cNvSpPr>
              <a:spLocks noChangeAspect="1" noEditPoints="1"/>
            </p:cNvSpPr>
            <p:nvPr/>
          </p:nvSpPr>
          <p:spPr bwMode="auto">
            <a:xfrm>
              <a:off x="692" y="239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4" name="Freeform 53"/>
            <p:cNvSpPr>
              <a:spLocks noChangeAspect="1" noEditPoints="1"/>
            </p:cNvSpPr>
            <p:nvPr/>
          </p:nvSpPr>
          <p:spPr bwMode="auto">
            <a:xfrm>
              <a:off x="777" y="2446"/>
              <a:ext cx="94" cy="38"/>
            </a:xfrm>
            <a:custGeom>
              <a:avLst/>
              <a:gdLst>
                <a:gd name="T0" fmla="*/ 0 w 94"/>
                <a:gd name="T1" fmla="*/ 0 h 38"/>
                <a:gd name="T2" fmla="*/ 94 w 94"/>
                <a:gd name="T3" fmla="*/ 38 h 38"/>
                <a:gd name="T4" fmla="*/ 0 w 94"/>
                <a:gd name="T5" fmla="*/ 0 h 38"/>
                <a:gd name="T6" fmla="*/ 0 w 94"/>
                <a:gd name="T7" fmla="*/ 0 h 38"/>
                <a:gd name="T8" fmla="*/ 0 w 94"/>
                <a:gd name="T9" fmla="*/ 0 h 38"/>
                <a:gd name="T10" fmla="*/ 0 w 94"/>
                <a:gd name="T11" fmla="*/ 0 h 38"/>
                <a:gd name="T12" fmla="*/ 0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0"/>
                  </a:moveTo>
                  <a:lnTo>
                    <a:pt x="94" y="38"/>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5" name="Freeform 54"/>
            <p:cNvSpPr>
              <a:spLocks noChangeAspect="1" noEditPoints="1"/>
            </p:cNvSpPr>
            <p:nvPr/>
          </p:nvSpPr>
          <p:spPr bwMode="auto">
            <a:xfrm>
              <a:off x="777" y="2484"/>
              <a:ext cx="94" cy="47"/>
            </a:xfrm>
            <a:custGeom>
              <a:avLst/>
              <a:gdLst>
                <a:gd name="T0" fmla="*/ 94 w 94"/>
                <a:gd name="T1" fmla="*/ 0 h 47"/>
                <a:gd name="T2" fmla="*/ 0 w 94"/>
                <a:gd name="T3" fmla="*/ 47 h 47"/>
                <a:gd name="T4" fmla="*/ 94 w 94"/>
                <a:gd name="T5" fmla="*/ 0 h 47"/>
                <a:gd name="T6" fmla="*/ 94 w 94"/>
                <a:gd name="T7" fmla="*/ 0 h 47"/>
                <a:gd name="T8" fmla="*/ 94 w 94"/>
                <a:gd name="T9" fmla="*/ 0 h 47"/>
                <a:gd name="T10" fmla="*/ 94 w 94"/>
                <a:gd name="T11" fmla="*/ 0 h 47"/>
                <a:gd name="T12" fmla="*/ 94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0"/>
                  </a:moveTo>
                  <a:lnTo>
                    <a:pt x="0" y="47"/>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6" name="Freeform 55"/>
            <p:cNvSpPr>
              <a:spLocks noChangeAspect="1" noEditPoints="1"/>
            </p:cNvSpPr>
            <p:nvPr/>
          </p:nvSpPr>
          <p:spPr bwMode="auto">
            <a:xfrm>
              <a:off x="692" y="2531"/>
              <a:ext cx="85" cy="38"/>
            </a:xfrm>
            <a:custGeom>
              <a:avLst/>
              <a:gdLst>
                <a:gd name="T0" fmla="*/ 85 w 85"/>
                <a:gd name="T1" fmla="*/ 0 h 38"/>
                <a:gd name="T2" fmla="*/ 0 w 85"/>
                <a:gd name="T3" fmla="*/ 38 h 38"/>
                <a:gd name="T4" fmla="*/ 85 w 85"/>
                <a:gd name="T5" fmla="*/ 0 h 38"/>
                <a:gd name="T6" fmla="*/ 85 w 85"/>
                <a:gd name="T7" fmla="*/ 0 h 38"/>
                <a:gd name="T8" fmla="*/ 85 w 85"/>
                <a:gd name="T9" fmla="*/ 0 h 38"/>
                <a:gd name="T10" fmla="*/ 85 w 85"/>
                <a:gd name="T11" fmla="*/ 0 h 38"/>
                <a:gd name="T12" fmla="*/ 85 w 85"/>
                <a:gd name="T13" fmla="*/ 0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0"/>
                  </a:moveTo>
                  <a:lnTo>
                    <a:pt x="0" y="38"/>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7" name="Freeform 56"/>
            <p:cNvSpPr>
              <a:spLocks noChangeAspect="1" noEditPoints="1"/>
            </p:cNvSpPr>
            <p:nvPr/>
          </p:nvSpPr>
          <p:spPr bwMode="auto">
            <a:xfrm>
              <a:off x="692" y="2569"/>
              <a:ext cx="85" cy="47"/>
            </a:xfrm>
            <a:custGeom>
              <a:avLst/>
              <a:gdLst>
                <a:gd name="T0" fmla="*/ 0 w 85"/>
                <a:gd name="T1" fmla="*/ 0 h 47"/>
                <a:gd name="T2" fmla="*/ 85 w 85"/>
                <a:gd name="T3" fmla="*/ 47 h 47"/>
                <a:gd name="T4" fmla="*/ 0 w 85"/>
                <a:gd name="T5" fmla="*/ 0 h 47"/>
                <a:gd name="T6" fmla="*/ 0 w 85"/>
                <a:gd name="T7" fmla="*/ 0 h 47"/>
                <a:gd name="T8" fmla="*/ 0 w 85"/>
                <a:gd name="T9" fmla="*/ 0 h 47"/>
                <a:gd name="T10" fmla="*/ 0 w 85"/>
                <a:gd name="T11" fmla="*/ 0 h 47"/>
                <a:gd name="T12" fmla="*/ 0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0"/>
                  </a:moveTo>
                  <a:lnTo>
                    <a:pt x="85"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8" name="Freeform 57"/>
            <p:cNvSpPr>
              <a:spLocks noChangeAspect="1" noEditPoints="1"/>
            </p:cNvSpPr>
            <p:nvPr/>
          </p:nvSpPr>
          <p:spPr bwMode="auto">
            <a:xfrm>
              <a:off x="777" y="2616"/>
              <a:ext cx="94" cy="47"/>
            </a:xfrm>
            <a:custGeom>
              <a:avLst/>
              <a:gdLst>
                <a:gd name="T0" fmla="*/ 0 w 94"/>
                <a:gd name="T1" fmla="*/ 0 h 47"/>
                <a:gd name="T2" fmla="*/ 94 w 94"/>
                <a:gd name="T3" fmla="*/ 47 h 47"/>
                <a:gd name="T4" fmla="*/ 0 w 94"/>
                <a:gd name="T5" fmla="*/ 0 h 47"/>
                <a:gd name="T6" fmla="*/ 0 w 94"/>
                <a:gd name="T7" fmla="*/ 0 h 47"/>
                <a:gd name="T8" fmla="*/ 0 w 94"/>
                <a:gd name="T9" fmla="*/ 0 h 47"/>
                <a:gd name="T10" fmla="*/ 0 w 94"/>
                <a:gd name="T11" fmla="*/ 0 h 47"/>
                <a:gd name="T12" fmla="*/ 0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0"/>
                  </a:moveTo>
                  <a:lnTo>
                    <a:pt x="94"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39" name="Freeform 58"/>
            <p:cNvSpPr>
              <a:spLocks noChangeAspect="1" noEditPoints="1"/>
            </p:cNvSpPr>
            <p:nvPr/>
          </p:nvSpPr>
          <p:spPr bwMode="auto">
            <a:xfrm>
              <a:off x="777" y="2663"/>
              <a:ext cx="94" cy="38"/>
            </a:xfrm>
            <a:custGeom>
              <a:avLst/>
              <a:gdLst>
                <a:gd name="T0" fmla="*/ 94 w 94"/>
                <a:gd name="T1" fmla="*/ 0 h 38"/>
                <a:gd name="T2" fmla="*/ 0 w 94"/>
                <a:gd name="T3" fmla="*/ 38 h 38"/>
                <a:gd name="T4" fmla="*/ 94 w 94"/>
                <a:gd name="T5" fmla="*/ 0 h 38"/>
                <a:gd name="T6" fmla="*/ 94 w 94"/>
                <a:gd name="T7" fmla="*/ 0 h 38"/>
                <a:gd name="T8" fmla="*/ 94 w 94"/>
                <a:gd name="T9" fmla="*/ 0 h 38"/>
                <a:gd name="T10" fmla="*/ 94 w 94"/>
                <a:gd name="T11" fmla="*/ 0 h 38"/>
                <a:gd name="T12" fmla="*/ 94 w 94"/>
                <a:gd name="T13" fmla="*/ 0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94" y="0"/>
                  </a:moveTo>
                  <a:lnTo>
                    <a:pt x="0" y="38"/>
                  </a:lnTo>
                  <a:lnTo>
                    <a:pt x="94" y="0"/>
                  </a:lnTo>
                  <a:close/>
                  <a:moveTo>
                    <a:pt x="94" y="0"/>
                  </a:moveTo>
                  <a:lnTo>
                    <a:pt x="94"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0" name="Freeform 59"/>
            <p:cNvSpPr>
              <a:spLocks noChangeAspect="1" noEditPoints="1"/>
            </p:cNvSpPr>
            <p:nvPr/>
          </p:nvSpPr>
          <p:spPr bwMode="auto">
            <a:xfrm>
              <a:off x="692" y="2701"/>
              <a:ext cx="85" cy="47"/>
            </a:xfrm>
            <a:custGeom>
              <a:avLst/>
              <a:gdLst>
                <a:gd name="T0" fmla="*/ 85 w 85"/>
                <a:gd name="T1" fmla="*/ 0 h 47"/>
                <a:gd name="T2" fmla="*/ 0 w 85"/>
                <a:gd name="T3" fmla="*/ 47 h 47"/>
                <a:gd name="T4" fmla="*/ 85 w 85"/>
                <a:gd name="T5" fmla="*/ 0 h 47"/>
                <a:gd name="T6" fmla="*/ 85 w 85"/>
                <a:gd name="T7" fmla="*/ 0 h 47"/>
                <a:gd name="T8" fmla="*/ 85 w 85"/>
                <a:gd name="T9" fmla="*/ 0 h 47"/>
                <a:gd name="T10" fmla="*/ 85 w 85"/>
                <a:gd name="T11" fmla="*/ 0 h 47"/>
                <a:gd name="T12" fmla="*/ 85 w 85"/>
                <a:gd name="T13" fmla="*/ 0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85" y="0"/>
                  </a:moveTo>
                  <a:lnTo>
                    <a:pt x="0" y="47"/>
                  </a:lnTo>
                  <a:lnTo>
                    <a:pt x="85" y="0"/>
                  </a:lnTo>
                  <a:close/>
                  <a:moveTo>
                    <a:pt x="85" y="0"/>
                  </a:moveTo>
                  <a:lnTo>
                    <a:pt x="8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1" name="Freeform 60"/>
            <p:cNvSpPr>
              <a:spLocks noChangeAspect="1" noEditPoints="1"/>
            </p:cNvSpPr>
            <p:nvPr/>
          </p:nvSpPr>
          <p:spPr bwMode="auto">
            <a:xfrm>
              <a:off x="692" y="2748"/>
              <a:ext cx="94" cy="47"/>
            </a:xfrm>
            <a:custGeom>
              <a:avLst/>
              <a:gdLst>
                <a:gd name="T0" fmla="*/ 0 w 94"/>
                <a:gd name="T1" fmla="*/ 0 h 47"/>
                <a:gd name="T2" fmla="*/ 94 w 94"/>
                <a:gd name="T3" fmla="*/ 47 h 47"/>
                <a:gd name="T4" fmla="*/ 0 w 94"/>
                <a:gd name="T5" fmla="*/ 0 h 47"/>
                <a:gd name="T6" fmla="*/ 0 w 94"/>
                <a:gd name="T7" fmla="*/ 0 h 47"/>
                <a:gd name="T8" fmla="*/ 0 w 94"/>
                <a:gd name="T9" fmla="*/ 0 h 47"/>
                <a:gd name="T10" fmla="*/ 0 w 94"/>
                <a:gd name="T11" fmla="*/ 0 h 47"/>
                <a:gd name="T12" fmla="*/ 0 w 94"/>
                <a:gd name="T13" fmla="*/ 0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0"/>
                  </a:moveTo>
                  <a:lnTo>
                    <a:pt x="94" y="47"/>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2" name="Freeform 61"/>
            <p:cNvSpPr>
              <a:spLocks noChangeAspect="1"/>
            </p:cNvSpPr>
            <p:nvPr/>
          </p:nvSpPr>
          <p:spPr bwMode="auto">
            <a:xfrm>
              <a:off x="2440" y="1512"/>
              <a:ext cx="587" cy="85"/>
            </a:xfrm>
            <a:custGeom>
              <a:avLst/>
              <a:gdLst>
                <a:gd name="T0" fmla="*/ 0 w 587"/>
                <a:gd name="T1" fmla="*/ 85 h 85"/>
                <a:gd name="T2" fmla="*/ 0 w 587"/>
                <a:gd name="T3" fmla="*/ 0 h 85"/>
                <a:gd name="T4" fmla="*/ 587 w 587"/>
                <a:gd name="T5" fmla="*/ 0 h 85"/>
                <a:gd name="T6" fmla="*/ 587 w 587"/>
                <a:gd name="T7" fmla="*/ 85 h 85"/>
                <a:gd name="T8" fmla="*/ 0 w 587"/>
                <a:gd name="T9" fmla="*/ 85 h 85"/>
                <a:gd name="T10" fmla="*/ 0 w 587"/>
                <a:gd name="T11" fmla="*/ 85 h 85"/>
                <a:gd name="T12" fmla="*/ 0 60000 65536"/>
                <a:gd name="T13" fmla="*/ 0 60000 65536"/>
                <a:gd name="T14" fmla="*/ 0 60000 65536"/>
                <a:gd name="T15" fmla="*/ 0 60000 65536"/>
                <a:gd name="T16" fmla="*/ 0 60000 65536"/>
                <a:gd name="T17" fmla="*/ 0 60000 65536"/>
                <a:gd name="T18" fmla="*/ 0 w 587"/>
                <a:gd name="T19" fmla="*/ 0 h 85"/>
                <a:gd name="T20" fmla="*/ 587 w 587"/>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587" h="85">
                  <a:moveTo>
                    <a:pt x="0" y="85"/>
                  </a:moveTo>
                  <a:lnTo>
                    <a:pt x="0" y="0"/>
                  </a:lnTo>
                  <a:lnTo>
                    <a:pt x="587" y="0"/>
                  </a:lnTo>
                  <a:lnTo>
                    <a:pt x="587" y="85"/>
                  </a:lnTo>
                  <a:lnTo>
                    <a:pt x="0" y="85"/>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3" name="Freeform 62"/>
            <p:cNvSpPr>
              <a:spLocks noChangeAspect="1"/>
            </p:cNvSpPr>
            <p:nvPr/>
          </p:nvSpPr>
          <p:spPr bwMode="auto">
            <a:xfrm>
              <a:off x="2998" y="1549"/>
              <a:ext cx="38" cy="104"/>
            </a:xfrm>
            <a:custGeom>
              <a:avLst/>
              <a:gdLst>
                <a:gd name="T0" fmla="*/ 38 w 38"/>
                <a:gd name="T1" fmla="*/ 0 h 104"/>
                <a:gd name="T2" fmla="*/ 0 w 38"/>
                <a:gd name="T3" fmla="*/ 104 h 104"/>
                <a:gd name="T4" fmla="*/ 38 w 38"/>
                <a:gd name="T5" fmla="*/ 0 h 104"/>
                <a:gd name="T6" fmla="*/ 38 w 38"/>
                <a:gd name="T7" fmla="*/ 0 h 104"/>
                <a:gd name="T8" fmla="*/ 0 60000 65536"/>
                <a:gd name="T9" fmla="*/ 0 60000 65536"/>
                <a:gd name="T10" fmla="*/ 0 60000 65536"/>
                <a:gd name="T11" fmla="*/ 0 60000 65536"/>
                <a:gd name="T12" fmla="*/ 0 w 38"/>
                <a:gd name="T13" fmla="*/ 0 h 104"/>
                <a:gd name="T14" fmla="*/ 38 w 38"/>
                <a:gd name="T15" fmla="*/ 104 h 104"/>
              </a:gdLst>
              <a:ahLst/>
              <a:cxnLst>
                <a:cxn ang="T8">
                  <a:pos x="T0" y="T1"/>
                </a:cxn>
                <a:cxn ang="T9">
                  <a:pos x="T2" y="T3"/>
                </a:cxn>
                <a:cxn ang="T10">
                  <a:pos x="T4" y="T5"/>
                </a:cxn>
                <a:cxn ang="T11">
                  <a:pos x="T6" y="T7"/>
                </a:cxn>
              </a:cxnLst>
              <a:rect l="T12" t="T13" r="T14" b="T15"/>
              <a:pathLst>
                <a:path w="38" h="104">
                  <a:moveTo>
                    <a:pt x="38" y="0"/>
                  </a:moveTo>
                  <a:lnTo>
                    <a:pt x="0" y="104"/>
                  </a:ln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4" name="Freeform 63"/>
            <p:cNvSpPr>
              <a:spLocks noChangeAspect="1" noEditPoints="1"/>
            </p:cNvSpPr>
            <p:nvPr/>
          </p:nvSpPr>
          <p:spPr bwMode="auto">
            <a:xfrm>
              <a:off x="2960"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5" name="Freeform 64"/>
            <p:cNvSpPr>
              <a:spLocks noChangeAspect="1" noEditPoints="1"/>
            </p:cNvSpPr>
            <p:nvPr/>
          </p:nvSpPr>
          <p:spPr bwMode="auto">
            <a:xfrm>
              <a:off x="2923" y="1455"/>
              <a:ext cx="37" cy="94"/>
            </a:xfrm>
            <a:custGeom>
              <a:avLst/>
              <a:gdLst>
                <a:gd name="T0" fmla="*/ 37 w 37"/>
                <a:gd name="T1" fmla="*/ 94 h 94"/>
                <a:gd name="T2" fmla="*/ 0 w 37"/>
                <a:gd name="T3" fmla="*/ 0 h 94"/>
                <a:gd name="T4" fmla="*/ 37 w 37"/>
                <a:gd name="T5" fmla="*/ 94 h 94"/>
                <a:gd name="T6" fmla="*/ 37 w 37"/>
                <a:gd name="T7" fmla="*/ 94 h 94"/>
                <a:gd name="T8" fmla="*/ 37 w 37"/>
                <a:gd name="T9" fmla="*/ 94 h 94"/>
                <a:gd name="T10" fmla="*/ 37 w 37"/>
                <a:gd name="T11" fmla="*/ 94 h 94"/>
                <a:gd name="T12" fmla="*/ 37 w 37"/>
                <a:gd name="T13" fmla="*/ 94 h 94"/>
                <a:gd name="T14" fmla="*/ 0 60000 65536"/>
                <a:gd name="T15" fmla="*/ 0 60000 65536"/>
                <a:gd name="T16" fmla="*/ 0 60000 65536"/>
                <a:gd name="T17" fmla="*/ 0 60000 65536"/>
                <a:gd name="T18" fmla="*/ 0 60000 65536"/>
                <a:gd name="T19" fmla="*/ 0 60000 65536"/>
                <a:gd name="T20" fmla="*/ 0 60000 65536"/>
                <a:gd name="T21" fmla="*/ 0 w 37"/>
                <a:gd name="T22" fmla="*/ 0 h 94"/>
                <a:gd name="T23" fmla="*/ 37 w 37"/>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94">
                  <a:moveTo>
                    <a:pt x="37" y="94"/>
                  </a:moveTo>
                  <a:lnTo>
                    <a:pt x="0" y="0"/>
                  </a:lnTo>
                  <a:lnTo>
                    <a:pt x="37" y="94"/>
                  </a:lnTo>
                  <a:close/>
                  <a:moveTo>
                    <a:pt x="37" y="94"/>
                  </a:moveTo>
                  <a:lnTo>
                    <a:pt x="37"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6" name="Freeform 65"/>
            <p:cNvSpPr>
              <a:spLocks noChangeAspect="1" noEditPoints="1"/>
            </p:cNvSpPr>
            <p:nvPr/>
          </p:nvSpPr>
          <p:spPr bwMode="auto">
            <a:xfrm>
              <a:off x="2885"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7" name="Freeform 66"/>
            <p:cNvSpPr>
              <a:spLocks noChangeAspect="1" noEditPoints="1"/>
            </p:cNvSpPr>
            <p:nvPr/>
          </p:nvSpPr>
          <p:spPr bwMode="auto">
            <a:xfrm>
              <a:off x="2885" y="1549"/>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8" name="Freeform 67"/>
            <p:cNvSpPr>
              <a:spLocks noChangeAspect="1" noEditPoints="1"/>
            </p:cNvSpPr>
            <p:nvPr/>
          </p:nvSpPr>
          <p:spPr bwMode="auto">
            <a:xfrm>
              <a:off x="2847"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49" name="Freeform 68"/>
            <p:cNvSpPr>
              <a:spLocks noChangeAspect="1" noEditPoints="1"/>
            </p:cNvSpPr>
            <p:nvPr/>
          </p:nvSpPr>
          <p:spPr bwMode="auto">
            <a:xfrm>
              <a:off x="2809"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0" name="Freeform 69"/>
            <p:cNvSpPr>
              <a:spLocks noChangeAspect="1" noEditPoints="1"/>
            </p:cNvSpPr>
            <p:nvPr/>
          </p:nvSpPr>
          <p:spPr bwMode="auto">
            <a:xfrm>
              <a:off x="2771"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1" name="Freeform 70"/>
            <p:cNvSpPr>
              <a:spLocks noChangeAspect="1" noEditPoints="1"/>
            </p:cNvSpPr>
            <p:nvPr/>
          </p:nvSpPr>
          <p:spPr bwMode="auto">
            <a:xfrm>
              <a:off x="2733"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2" name="Freeform 71"/>
            <p:cNvSpPr>
              <a:spLocks noChangeAspect="1" noEditPoints="1"/>
            </p:cNvSpPr>
            <p:nvPr/>
          </p:nvSpPr>
          <p:spPr bwMode="auto">
            <a:xfrm>
              <a:off x="2696" y="1549"/>
              <a:ext cx="37" cy="104"/>
            </a:xfrm>
            <a:custGeom>
              <a:avLst/>
              <a:gdLst>
                <a:gd name="T0" fmla="*/ 37 w 37"/>
                <a:gd name="T1" fmla="*/ 0 h 104"/>
                <a:gd name="T2" fmla="*/ 0 w 37"/>
                <a:gd name="T3" fmla="*/ 104 h 104"/>
                <a:gd name="T4" fmla="*/ 37 w 37"/>
                <a:gd name="T5" fmla="*/ 0 h 104"/>
                <a:gd name="T6" fmla="*/ 37 w 37"/>
                <a:gd name="T7" fmla="*/ 0 h 104"/>
                <a:gd name="T8" fmla="*/ 37 w 37"/>
                <a:gd name="T9" fmla="*/ 0 h 104"/>
                <a:gd name="T10" fmla="*/ 37 w 37"/>
                <a:gd name="T11" fmla="*/ 0 h 104"/>
                <a:gd name="T12" fmla="*/ 37 w 37"/>
                <a:gd name="T13" fmla="*/ 0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0"/>
                  </a:moveTo>
                  <a:lnTo>
                    <a:pt x="0" y="104"/>
                  </a:lnTo>
                  <a:lnTo>
                    <a:pt x="37" y="0"/>
                  </a:lnTo>
                  <a:close/>
                  <a:moveTo>
                    <a:pt x="37" y="0"/>
                  </a:move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3" name="Freeform 72"/>
            <p:cNvSpPr>
              <a:spLocks noChangeAspect="1" noEditPoints="1"/>
            </p:cNvSpPr>
            <p:nvPr/>
          </p:nvSpPr>
          <p:spPr bwMode="auto">
            <a:xfrm>
              <a:off x="2658"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4" name="Freeform 73"/>
            <p:cNvSpPr>
              <a:spLocks noChangeAspect="1" noEditPoints="1"/>
            </p:cNvSpPr>
            <p:nvPr/>
          </p:nvSpPr>
          <p:spPr bwMode="auto">
            <a:xfrm>
              <a:off x="2620"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5" name="Freeform 74"/>
            <p:cNvSpPr>
              <a:spLocks noChangeAspect="1" noEditPoints="1"/>
            </p:cNvSpPr>
            <p:nvPr/>
          </p:nvSpPr>
          <p:spPr bwMode="auto">
            <a:xfrm>
              <a:off x="2582"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6" name="Freeform 75"/>
            <p:cNvSpPr>
              <a:spLocks noChangeAspect="1" noEditPoints="1"/>
            </p:cNvSpPr>
            <p:nvPr/>
          </p:nvSpPr>
          <p:spPr bwMode="auto">
            <a:xfrm>
              <a:off x="2544"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7" name="Freeform 76"/>
            <p:cNvSpPr>
              <a:spLocks noChangeAspect="1" noEditPoints="1"/>
            </p:cNvSpPr>
            <p:nvPr/>
          </p:nvSpPr>
          <p:spPr bwMode="auto">
            <a:xfrm>
              <a:off x="2507" y="1549"/>
              <a:ext cx="37" cy="104"/>
            </a:xfrm>
            <a:custGeom>
              <a:avLst/>
              <a:gdLst>
                <a:gd name="T0" fmla="*/ 37 w 37"/>
                <a:gd name="T1" fmla="*/ 104 h 104"/>
                <a:gd name="T2" fmla="*/ 0 w 37"/>
                <a:gd name="T3" fmla="*/ 0 h 104"/>
                <a:gd name="T4" fmla="*/ 37 w 37"/>
                <a:gd name="T5" fmla="*/ 104 h 104"/>
                <a:gd name="T6" fmla="*/ 37 w 37"/>
                <a:gd name="T7" fmla="*/ 104 h 104"/>
                <a:gd name="T8" fmla="*/ 37 w 37"/>
                <a:gd name="T9" fmla="*/ 104 h 104"/>
                <a:gd name="T10" fmla="*/ 37 w 37"/>
                <a:gd name="T11" fmla="*/ 104 h 104"/>
                <a:gd name="T12" fmla="*/ 37 w 37"/>
                <a:gd name="T13" fmla="*/ 104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104"/>
                  </a:moveTo>
                  <a:lnTo>
                    <a:pt x="0" y="0"/>
                  </a:lnTo>
                  <a:lnTo>
                    <a:pt x="37" y="104"/>
                  </a:lnTo>
                  <a:close/>
                  <a:moveTo>
                    <a:pt x="37" y="104"/>
                  </a:moveTo>
                  <a:lnTo>
                    <a:pt x="37"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8" name="Freeform 77"/>
            <p:cNvSpPr>
              <a:spLocks noChangeAspect="1" noEditPoints="1"/>
            </p:cNvSpPr>
            <p:nvPr/>
          </p:nvSpPr>
          <p:spPr bwMode="auto">
            <a:xfrm>
              <a:off x="2469"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59" name="Freeform 78"/>
            <p:cNvSpPr>
              <a:spLocks noChangeAspect="1" noEditPoints="1"/>
            </p:cNvSpPr>
            <p:nvPr/>
          </p:nvSpPr>
          <p:spPr bwMode="auto">
            <a:xfrm>
              <a:off x="2422" y="1455"/>
              <a:ext cx="47" cy="104"/>
            </a:xfrm>
            <a:custGeom>
              <a:avLst/>
              <a:gdLst>
                <a:gd name="T0" fmla="*/ 47 w 47"/>
                <a:gd name="T1" fmla="*/ 0 h 104"/>
                <a:gd name="T2" fmla="*/ 0 w 47"/>
                <a:gd name="T3" fmla="*/ 104 h 104"/>
                <a:gd name="T4" fmla="*/ 47 w 47"/>
                <a:gd name="T5" fmla="*/ 0 h 104"/>
                <a:gd name="T6" fmla="*/ 47 w 47"/>
                <a:gd name="T7" fmla="*/ 0 h 104"/>
                <a:gd name="T8" fmla="*/ 47 w 47"/>
                <a:gd name="T9" fmla="*/ 0 h 104"/>
                <a:gd name="T10" fmla="*/ 47 w 47"/>
                <a:gd name="T11" fmla="*/ 0 h 104"/>
                <a:gd name="T12" fmla="*/ 47 w 47"/>
                <a:gd name="T13" fmla="*/ 0 h 104"/>
                <a:gd name="T14" fmla="*/ 0 60000 65536"/>
                <a:gd name="T15" fmla="*/ 0 60000 65536"/>
                <a:gd name="T16" fmla="*/ 0 60000 65536"/>
                <a:gd name="T17" fmla="*/ 0 60000 65536"/>
                <a:gd name="T18" fmla="*/ 0 60000 65536"/>
                <a:gd name="T19" fmla="*/ 0 60000 65536"/>
                <a:gd name="T20" fmla="*/ 0 60000 65536"/>
                <a:gd name="T21" fmla="*/ 0 w 47"/>
                <a:gd name="T22" fmla="*/ 0 h 104"/>
                <a:gd name="T23" fmla="*/ 47 w 4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104">
                  <a:moveTo>
                    <a:pt x="47" y="0"/>
                  </a:moveTo>
                  <a:lnTo>
                    <a:pt x="0" y="104"/>
                  </a:lnTo>
                  <a:lnTo>
                    <a:pt x="47" y="0"/>
                  </a:lnTo>
                  <a:close/>
                  <a:moveTo>
                    <a:pt x="47" y="0"/>
                  </a:moveTo>
                  <a:lnTo>
                    <a:pt x="4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0" name="Freeform 79"/>
            <p:cNvSpPr>
              <a:spLocks noChangeAspect="1"/>
            </p:cNvSpPr>
            <p:nvPr/>
          </p:nvSpPr>
          <p:spPr bwMode="auto">
            <a:xfrm>
              <a:off x="3764" y="1512"/>
              <a:ext cx="586" cy="85"/>
            </a:xfrm>
            <a:custGeom>
              <a:avLst/>
              <a:gdLst>
                <a:gd name="T0" fmla="*/ 0 w 586"/>
                <a:gd name="T1" fmla="*/ 85 h 85"/>
                <a:gd name="T2" fmla="*/ 0 w 586"/>
                <a:gd name="T3" fmla="*/ 0 h 85"/>
                <a:gd name="T4" fmla="*/ 586 w 586"/>
                <a:gd name="T5" fmla="*/ 0 h 85"/>
                <a:gd name="T6" fmla="*/ 586 w 586"/>
                <a:gd name="T7" fmla="*/ 85 h 85"/>
                <a:gd name="T8" fmla="*/ 0 w 586"/>
                <a:gd name="T9" fmla="*/ 85 h 85"/>
                <a:gd name="T10" fmla="*/ 0 w 586"/>
                <a:gd name="T11" fmla="*/ 85 h 85"/>
                <a:gd name="T12" fmla="*/ 0 60000 65536"/>
                <a:gd name="T13" fmla="*/ 0 60000 65536"/>
                <a:gd name="T14" fmla="*/ 0 60000 65536"/>
                <a:gd name="T15" fmla="*/ 0 60000 65536"/>
                <a:gd name="T16" fmla="*/ 0 60000 65536"/>
                <a:gd name="T17" fmla="*/ 0 60000 65536"/>
                <a:gd name="T18" fmla="*/ 0 w 586"/>
                <a:gd name="T19" fmla="*/ 0 h 85"/>
                <a:gd name="T20" fmla="*/ 586 w 586"/>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586" h="85">
                  <a:moveTo>
                    <a:pt x="0" y="85"/>
                  </a:moveTo>
                  <a:lnTo>
                    <a:pt x="0" y="0"/>
                  </a:lnTo>
                  <a:lnTo>
                    <a:pt x="586" y="0"/>
                  </a:lnTo>
                  <a:lnTo>
                    <a:pt x="586" y="85"/>
                  </a:lnTo>
                  <a:lnTo>
                    <a:pt x="0" y="85"/>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1" name="Freeform 80"/>
            <p:cNvSpPr>
              <a:spLocks noChangeAspect="1"/>
            </p:cNvSpPr>
            <p:nvPr/>
          </p:nvSpPr>
          <p:spPr bwMode="auto">
            <a:xfrm>
              <a:off x="4322" y="1549"/>
              <a:ext cx="37" cy="104"/>
            </a:xfrm>
            <a:custGeom>
              <a:avLst/>
              <a:gdLst>
                <a:gd name="T0" fmla="*/ 37 w 37"/>
                <a:gd name="T1" fmla="*/ 0 h 104"/>
                <a:gd name="T2" fmla="*/ 0 w 37"/>
                <a:gd name="T3" fmla="*/ 104 h 104"/>
                <a:gd name="T4" fmla="*/ 37 w 37"/>
                <a:gd name="T5" fmla="*/ 0 h 104"/>
                <a:gd name="T6" fmla="*/ 37 w 37"/>
                <a:gd name="T7" fmla="*/ 0 h 104"/>
                <a:gd name="T8" fmla="*/ 0 60000 65536"/>
                <a:gd name="T9" fmla="*/ 0 60000 65536"/>
                <a:gd name="T10" fmla="*/ 0 60000 65536"/>
                <a:gd name="T11" fmla="*/ 0 60000 65536"/>
                <a:gd name="T12" fmla="*/ 0 w 37"/>
                <a:gd name="T13" fmla="*/ 0 h 104"/>
                <a:gd name="T14" fmla="*/ 37 w 37"/>
                <a:gd name="T15" fmla="*/ 104 h 104"/>
              </a:gdLst>
              <a:ahLst/>
              <a:cxnLst>
                <a:cxn ang="T8">
                  <a:pos x="T0" y="T1"/>
                </a:cxn>
                <a:cxn ang="T9">
                  <a:pos x="T2" y="T3"/>
                </a:cxn>
                <a:cxn ang="T10">
                  <a:pos x="T4" y="T5"/>
                </a:cxn>
                <a:cxn ang="T11">
                  <a:pos x="T6" y="T7"/>
                </a:cxn>
              </a:cxnLst>
              <a:rect l="T12" t="T13" r="T14" b="T15"/>
              <a:pathLst>
                <a:path w="37" h="104">
                  <a:moveTo>
                    <a:pt x="37" y="0"/>
                  </a:moveTo>
                  <a:lnTo>
                    <a:pt x="0" y="104"/>
                  </a:ln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2" name="Freeform 81"/>
            <p:cNvSpPr>
              <a:spLocks noChangeAspect="1" noEditPoints="1"/>
            </p:cNvSpPr>
            <p:nvPr/>
          </p:nvSpPr>
          <p:spPr bwMode="auto">
            <a:xfrm>
              <a:off x="4284"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3" name="Freeform 82"/>
            <p:cNvSpPr>
              <a:spLocks noChangeAspect="1" noEditPoints="1"/>
            </p:cNvSpPr>
            <p:nvPr/>
          </p:nvSpPr>
          <p:spPr bwMode="auto">
            <a:xfrm>
              <a:off x="4246"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4" name="Freeform 83"/>
            <p:cNvSpPr>
              <a:spLocks noChangeAspect="1" noEditPoints="1"/>
            </p:cNvSpPr>
            <p:nvPr/>
          </p:nvSpPr>
          <p:spPr bwMode="auto">
            <a:xfrm>
              <a:off x="4208"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5" name="Freeform 84"/>
            <p:cNvSpPr>
              <a:spLocks noChangeAspect="1" noEditPoints="1"/>
            </p:cNvSpPr>
            <p:nvPr/>
          </p:nvSpPr>
          <p:spPr bwMode="auto">
            <a:xfrm>
              <a:off x="4208" y="1549"/>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6" name="Freeform 85"/>
            <p:cNvSpPr>
              <a:spLocks noChangeAspect="1" noEditPoints="1"/>
            </p:cNvSpPr>
            <p:nvPr/>
          </p:nvSpPr>
          <p:spPr bwMode="auto">
            <a:xfrm>
              <a:off x="4170"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7" name="Freeform 86"/>
            <p:cNvSpPr>
              <a:spLocks noChangeAspect="1" noEditPoints="1"/>
            </p:cNvSpPr>
            <p:nvPr/>
          </p:nvSpPr>
          <p:spPr bwMode="auto">
            <a:xfrm>
              <a:off x="4133" y="1549"/>
              <a:ext cx="37" cy="104"/>
            </a:xfrm>
            <a:custGeom>
              <a:avLst/>
              <a:gdLst>
                <a:gd name="T0" fmla="*/ 37 w 37"/>
                <a:gd name="T1" fmla="*/ 104 h 104"/>
                <a:gd name="T2" fmla="*/ 0 w 37"/>
                <a:gd name="T3" fmla="*/ 0 h 104"/>
                <a:gd name="T4" fmla="*/ 37 w 37"/>
                <a:gd name="T5" fmla="*/ 104 h 104"/>
                <a:gd name="T6" fmla="*/ 37 w 37"/>
                <a:gd name="T7" fmla="*/ 104 h 104"/>
                <a:gd name="T8" fmla="*/ 37 w 37"/>
                <a:gd name="T9" fmla="*/ 104 h 104"/>
                <a:gd name="T10" fmla="*/ 37 w 37"/>
                <a:gd name="T11" fmla="*/ 104 h 104"/>
                <a:gd name="T12" fmla="*/ 37 w 37"/>
                <a:gd name="T13" fmla="*/ 104 h 104"/>
                <a:gd name="T14" fmla="*/ 0 60000 65536"/>
                <a:gd name="T15" fmla="*/ 0 60000 65536"/>
                <a:gd name="T16" fmla="*/ 0 60000 65536"/>
                <a:gd name="T17" fmla="*/ 0 60000 65536"/>
                <a:gd name="T18" fmla="*/ 0 60000 65536"/>
                <a:gd name="T19" fmla="*/ 0 60000 65536"/>
                <a:gd name="T20" fmla="*/ 0 60000 65536"/>
                <a:gd name="T21" fmla="*/ 0 w 37"/>
                <a:gd name="T22" fmla="*/ 0 h 104"/>
                <a:gd name="T23" fmla="*/ 37 w 37"/>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04">
                  <a:moveTo>
                    <a:pt x="37" y="104"/>
                  </a:moveTo>
                  <a:lnTo>
                    <a:pt x="0" y="0"/>
                  </a:lnTo>
                  <a:lnTo>
                    <a:pt x="37" y="104"/>
                  </a:lnTo>
                  <a:close/>
                  <a:moveTo>
                    <a:pt x="37" y="104"/>
                  </a:moveTo>
                  <a:lnTo>
                    <a:pt x="37"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8" name="Freeform 87"/>
            <p:cNvSpPr>
              <a:spLocks noChangeAspect="1" noEditPoints="1"/>
            </p:cNvSpPr>
            <p:nvPr/>
          </p:nvSpPr>
          <p:spPr bwMode="auto">
            <a:xfrm>
              <a:off x="4095"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69" name="Freeform 88"/>
            <p:cNvSpPr>
              <a:spLocks noChangeAspect="1" noEditPoints="1"/>
            </p:cNvSpPr>
            <p:nvPr/>
          </p:nvSpPr>
          <p:spPr bwMode="auto">
            <a:xfrm>
              <a:off x="4057" y="1455"/>
              <a:ext cx="38" cy="94"/>
            </a:xfrm>
            <a:custGeom>
              <a:avLst/>
              <a:gdLst>
                <a:gd name="T0" fmla="*/ 38 w 38"/>
                <a:gd name="T1" fmla="*/ 0 h 94"/>
                <a:gd name="T2" fmla="*/ 0 w 38"/>
                <a:gd name="T3" fmla="*/ 94 h 94"/>
                <a:gd name="T4" fmla="*/ 38 w 38"/>
                <a:gd name="T5" fmla="*/ 0 h 94"/>
                <a:gd name="T6" fmla="*/ 38 w 38"/>
                <a:gd name="T7" fmla="*/ 0 h 94"/>
                <a:gd name="T8" fmla="*/ 38 w 38"/>
                <a:gd name="T9" fmla="*/ 0 h 94"/>
                <a:gd name="T10" fmla="*/ 38 w 38"/>
                <a:gd name="T11" fmla="*/ 0 h 94"/>
                <a:gd name="T12" fmla="*/ 38 w 38"/>
                <a:gd name="T13" fmla="*/ 0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0"/>
                  </a:moveTo>
                  <a:lnTo>
                    <a:pt x="0" y="9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0" name="Freeform 89"/>
            <p:cNvSpPr>
              <a:spLocks noChangeAspect="1" noEditPoints="1"/>
            </p:cNvSpPr>
            <p:nvPr/>
          </p:nvSpPr>
          <p:spPr bwMode="auto">
            <a:xfrm>
              <a:off x="4019"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1" name="Freeform 90"/>
            <p:cNvSpPr>
              <a:spLocks noChangeAspect="1" noEditPoints="1"/>
            </p:cNvSpPr>
            <p:nvPr/>
          </p:nvSpPr>
          <p:spPr bwMode="auto">
            <a:xfrm>
              <a:off x="3981"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2" name="Freeform 91"/>
            <p:cNvSpPr>
              <a:spLocks noChangeAspect="1" noEditPoints="1"/>
            </p:cNvSpPr>
            <p:nvPr/>
          </p:nvSpPr>
          <p:spPr bwMode="auto">
            <a:xfrm>
              <a:off x="3943"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3" name="Freeform 92"/>
            <p:cNvSpPr>
              <a:spLocks noChangeAspect="1" noEditPoints="1"/>
            </p:cNvSpPr>
            <p:nvPr/>
          </p:nvSpPr>
          <p:spPr bwMode="auto">
            <a:xfrm>
              <a:off x="3906" y="1455"/>
              <a:ext cx="37" cy="94"/>
            </a:xfrm>
            <a:custGeom>
              <a:avLst/>
              <a:gdLst>
                <a:gd name="T0" fmla="*/ 37 w 37"/>
                <a:gd name="T1" fmla="*/ 0 h 94"/>
                <a:gd name="T2" fmla="*/ 0 w 37"/>
                <a:gd name="T3" fmla="*/ 94 h 94"/>
                <a:gd name="T4" fmla="*/ 37 w 37"/>
                <a:gd name="T5" fmla="*/ 0 h 94"/>
                <a:gd name="T6" fmla="*/ 37 w 37"/>
                <a:gd name="T7" fmla="*/ 0 h 94"/>
                <a:gd name="T8" fmla="*/ 37 w 37"/>
                <a:gd name="T9" fmla="*/ 0 h 94"/>
                <a:gd name="T10" fmla="*/ 37 w 37"/>
                <a:gd name="T11" fmla="*/ 0 h 94"/>
                <a:gd name="T12" fmla="*/ 37 w 37"/>
                <a:gd name="T13" fmla="*/ 0 h 94"/>
                <a:gd name="T14" fmla="*/ 0 60000 65536"/>
                <a:gd name="T15" fmla="*/ 0 60000 65536"/>
                <a:gd name="T16" fmla="*/ 0 60000 65536"/>
                <a:gd name="T17" fmla="*/ 0 60000 65536"/>
                <a:gd name="T18" fmla="*/ 0 60000 65536"/>
                <a:gd name="T19" fmla="*/ 0 60000 65536"/>
                <a:gd name="T20" fmla="*/ 0 60000 65536"/>
                <a:gd name="T21" fmla="*/ 0 w 37"/>
                <a:gd name="T22" fmla="*/ 0 h 94"/>
                <a:gd name="T23" fmla="*/ 37 w 37"/>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94">
                  <a:moveTo>
                    <a:pt x="37" y="0"/>
                  </a:moveTo>
                  <a:lnTo>
                    <a:pt x="0" y="94"/>
                  </a:lnTo>
                  <a:lnTo>
                    <a:pt x="37" y="0"/>
                  </a:lnTo>
                  <a:close/>
                  <a:moveTo>
                    <a:pt x="37" y="0"/>
                  </a:moveTo>
                  <a:lnTo>
                    <a:pt x="3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4" name="Freeform 93"/>
            <p:cNvSpPr>
              <a:spLocks noChangeAspect="1" noEditPoints="1"/>
            </p:cNvSpPr>
            <p:nvPr/>
          </p:nvSpPr>
          <p:spPr bwMode="auto">
            <a:xfrm>
              <a:off x="3868" y="1549"/>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5" name="Freeform 94"/>
            <p:cNvSpPr>
              <a:spLocks noChangeAspect="1" noEditPoints="1"/>
            </p:cNvSpPr>
            <p:nvPr/>
          </p:nvSpPr>
          <p:spPr bwMode="auto">
            <a:xfrm>
              <a:off x="3830" y="1549"/>
              <a:ext cx="38" cy="104"/>
            </a:xfrm>
            <a:custGeom>
              <a:avLst/>
              <a:gdLst>
                <a:gd name="T0" fmla="*/ 38 w 38"/>
                <a:gd name="T1" fmla="*/ 104 h 104"/>
                <a:gd name="T2" fmla="*/ 0 w 38"/>
                <a:gd name="T3" fmla="*/ 0 h 104"/>
                <a:gd name="T4" fmla="*/ 38 w 38"/>
                <a:gd name="T5" fmla="*/ 104 h 104"/>
                <a:gd name="T6" fmla="*/ 38 w 38"/>
                <a:gd name="T7" fmla="*/ 104 h 104"/>
                <a:gd name="T8" fmla="*/ 38 w 38"/>
                <a:gd name="T9" fmla="*/ 104 h 104"/>
                <a:gd name="T10" fmla="*/ 38 w 38"/>
                <a:gd name="T11" fmla="*/ 104 h 104"/>
                <a:gd name="T12" fmla="*/ 38 w 38"/>
                <a:gd name="T13" fmla="*/ 104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104"/>
                  </a:moveTo>
                  <a:lnTo>
                    <a:pt x="0" y="0"/>
                  </a:lnTo>
                  <a:lnTo>
                    <a:pt x="38" y="104"/>
                  </a:lnTo>
                  <a:close/>
                  <a:moveTo>
                    <a:pt x="38" y="104"/>
                  </a:moveTo>
                  <a:lnTo>
                    <a:pt x="38" y="10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6" name="Freeform 95"/>
            <p:cNvSpPr>
              <a:spLocks noChangeAspect="1" noEditPoints="1"/>
            </p:cNvSpPr>
            <p:nvPr/>
          </p:nvSpPr>
          <p:spPr bwMode="auto">
            <a:xfrm>
              <a:off x="3792" y="1455"/>
              <a:ext cx="38" cy="94"/>
            </a:xfrm>
            <a:custGeom>
              <a:avLst/>
              <a:gdLst>
                <a:gd name="T0" fmla="*/ 38 w 38"/>
                <a:gd name="T1" fmla="*/ 94 h 94"/>
                <a:gd name="T2" fmla="*/ 0 w 38"/>
                <a:gd name="T3" fmla="*/ 0 h 94"/>
                <a:gd name="T4" fmla="*/ 38 w 38"/>
                <a:gd name="T5" fmla="*/ 94 h 94"/>
                <a:gd name="T6" fmla="*/ 38 w 38"/>
                <a:gd name="T7" fmla="*/ 94 h 94"/>
                <a:gd name="T8" fmla="*/ 38 w 38"/>
                <a:gd name="T9" fmla="*/ 94 h 94"/>
                <a:gd name="T10" fmla="*/ 38 w 38"/>
                <a:gd name="T11" fmla="*/ 94 h 94"/>
                <a:gd name="T12" fmla="*/ 38 w 38"/>
                <a:gd name="T13" fmla="*/ 94 h 94"/>
                <a:gd name="T14" fmla="*/ 0 60000 65536"/>
                <a:gd name="T15" fmla="*/ 0 60000 65536"/>
                <a:gd name="T16" fmla="*/ 0 60000 65536"/>
                <a:gd name="T17" fmla="*/ 0 60000 65536"/>
                <a:gd name="T18" fmla="*/ 0 60000 65536"/>
                <a:gd name="T19" fmla="*/ 0 60000 65536"/>
                <a:gd name="T20" fmla="*/ 0 60000 65536"/>
                <a:gd name="T21" fmla="*/ 0 w 38"/>
                <a:gd name="T22" fmla="*/ 0 h 94"/>
                <a:gd name="T23" fmla="*/ 38 w 3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94">
                  <a:moveTo>
                    <a:pt x="38" y="94"/>
                  </a:moveTo>
                  <a:lnTo>
                    <a:pt x="0" y="0"/>
                  </a:lnTo>
                  <a:lnTo>
                    <a:pt x="38" y="94"/>
                  </a:lnTo>
                  <a:close/>
                  <a:moveTo>
                    <a:pt x="38" y="94"/>
                  </a:moveTo>
                  <a:lnTo>
                    <a:pt x="38" y="9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7" name="Freeform 96"/>
            <p:cNvSpPr>
              <a:spLocks noChangeAspect="1" noEditPoints="1"/>
            </p:cNvSpPr>
            <p:nvPr/>
          </p:nvSpPr>
          <p:spPr bwMode="auto">
            <a:xfrm>
              <a:off x="3754" y="1455"/>
              <a:ext cx="38" cy="104"/>
            </a:xfrm>
            <a:custGeom>
              <a:avLst/>
              <a:gdLst>
                <a:gd name="T0" fmla="*/ 38 w 38"/>
                <a:gd name="T1" fmla="*/ 0 h 104"/>
                <a:gd name="T2" fmla="*/ 0 w 38"/>
                <a:gd name="T3" fmla="*/ 104 h 104"/>
                <a:gd name="T4" fmla="*/ 38 w 38"/>
                <a:gd name="T5" fmla="*/ 0 h 104"/>
                <a:gd name="T6" fmla="*/ 38 w 38"/>
                <a:gd name="T7" fmla="*/ 0 h 104"/>
                <a:gd name="T8" fmla="*/ 38 w 38"/>
                <a:gd name="T9" fmla="*/ 0 h 104"/>
                <a:gd name="T10" fmla="*/ 38 w 38"/>
                <a:gd name="T11" fmla="*/ 0 h 104"/>
                <a:gd name="T12" fmla="*/ 38 w 38"/>
                <a:gd name="T13" fmla="*/ 0 h 104"/>
                <a:gd name="T14" fmla="*/ 0 60000 65536"/>
                <a:gd name="T15" fmla="*/ 0 60000 65536"/>
                <a:gd name="T16" fmla="*/ 0 60000 65536"/>
                <a:gd name="T17" fmla="*/ 0 60000 65536"/>
                <a:gd name="T18" fmla="*/ 0 60000 65536"/>
                <a:gd name="T19" fmla="*/ 0 60000 65536"/>
                <a:gd name="T20" fmla="*/ 0 60000 65536"/>
                <a:gd name="T21" fmla="*/ 0 w 38"/>
                <a:gd name="T22" fmla="*/ 0 h 104"/>
                <a:gd name="T23" fmla="*/ 38 w 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04">
                  <a:moveTo>
                    <a:pt x="38" y="0"/>
                  </a:moveTo>
                  <a:lnTo>
                    <a:pt x="0" y="104"/>
                  </a:lnTo>
                  <a:lnTo>
                    <a:pt x="38" y="0"/>
                  </a:lnTo>
                  <a:close/>
                  <a:moveTo>
                    <a:pt x="38" y="0"/>
                  </a:moveTo>
                  <a:lnTo>
                    <a:pt x="3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8" name="Freeform 97"/>
            <p:cNvSpPr>
              <a:spLocks noChangeAspect="1"/>
            </p:cNvSpPr>
            <p:nvPr/>
          </p:nvSpPr>
          <p:spPr bwMode="auto">
            <a:xfrm>
              <a:off x="3357" y="2106"/>
              <a:ext cx="67" cy="670"/>
            </a:xfrm>
            <a:custGeom>
              <a:avLst/>
              <a:gdLst>
                <a:gd name="T0" fmla="*/ 0 w 67"/>
                <a:gd name="T1" fmla="*/ 0 h 670"/>
                <a:gd name="T2" fmla="*/ 67 w 67"/>
                <a:gd name="T3" fmla="*/ 0 h 670"/>
                <a:gd name="T4" fmla="*/ 67 w 67"/>
                <a:gd name="T5" fmla="*/ 670 h 670"/>
                <a:gd name="T6" fmla="*/ 0 w 67"/>
                <a:gd name="T7" fmla="*/ 670 h 670"/>
                <a:gd name="T8" fmla="*/ 0 w 67"/>
                <a:gd name="T9" fmla="*/ 0 h 670"/>
                <a:gd name="T10" fmla="*/ 0 w 67"/>
                <a:gd name="T11" fmla="*/ 0 h 670"/>
                <a:gd name="T12" fmla="*/ 0 60000 65536"/>
                <a:gd name="T13" fmla="*/ 0 60000 65536"/>
                <a:gd name="T14" fmla="*/ 0 60000 65536"/>
                <a:gd name="T15" fmla="*/ 0 60000 65536"/>
                <a:gd name="T16" fmla="*/ 0 60000 65536"/>
                <a:gd name="T17" fmla="*/ 0 60000 65536"/>
                <a:gd name="T18" fmla="*/ 0 w 67"/>
                <a:gd name="T19" fmla="*/ 0 h 670"/>
                <a:gd name="T20" fmla="*/ 67 w 67"/>
                <a:gd name="T21" fmla="*/ 670 h 670"/>
              </a:gdLst>
              <a:ahLst/>
              <a:cxnLst>
                <a:cxn ang="T12">
                  <a:pos x="T0" y="T1"/>
                </a:cxn>
                <a:cxn ang="T13">
                  <a:pos x="T2" y="T3"/>
                </a:cxn>
                <a:cxn ang="T14">
                  <a:pos x="T4" y="T5"/>
                </a:cxn>
                <a:cxn ang="T15">
                  <a:pos x="T6" y="T7"/>
                </a:cxn>
                <a:cxn ang="T16">
                  <a:pos x="T8" y="T9"/>
                </a:cxn>
                <a:cxn ang="T17">
                  <a:pos x="T10" y="T11"/>
                </a:cxn>
              </a:cxnLst>
              <a:rect l="T18" t="T19" r="T20" b="T21"/>
              <a:pathLst>
                <a:path w="67" h="670">
                  <a:moveTo>
                    <a:pt x="0" y="0"/>
                  </a:moveTo>
                  <a:lnTo>
                    <a:pt x="67" y="0"/>
                  </a:lnTo>
                  <a:lnTo>
                    <a:pt x="67" y="670"/>
                  </a:lnTo>
                  <a:lnTo>
                    <a:pt x="0" y="670"/>
                  </a:lnTo>
                  <a:lnTo>
                    <a:pt x="0" y="0"/>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79" name="Freeform 98"/>
            <p:cNvSpPr>
              <a:spLocks noChangeAspect="1"/>
            </p:cNvSpPr>
            <p:nvPr/>
          </p:nvSpPr>
          <p:spPr bwMode="auto">
            <a:xfrm>
              <a:off x="3301" y="2748"/>
              <a:ext cx="94" cy="38"/>
            </a:xfrm>
            <a:custGeom>
              <a:avLst/>
              <a:gdLst>
                <a:gd name="T0" fmla="*/ 94 w 94"/>
                <a:gd name="T1" fmla="*/ 38 h 38"/>
                <a:gd name="T2" fmla="*/ 0 w 94"/>
                <a:gd name="T3" fmla="*/ 0 h 38"/>
                <a:gd name="T4" fmla="*/ 94 w 94"/>
                <a:gd name="T5" fmla="*/ 38 h 38"/>
                <a:gd name="T6" fmla="*/ 94 w 94"/>
                <a:gd name="T7" fmla="*/ 38 h 38"/>
                <a:gd name="T8" fmla="*/ 0 60000 65536"/>
                <a:gd name="T9" fmla="*/ 0 60000 65536"/>
                <a:gd name="T10" fmla="*/ 0 60000 65536"/>
                <a:gd name="T11" fmla="*/ 0 60000 65536"/>
                <a:gd name="T12" fmla="*/ 0 w 94"/>
                <a:gd name="T13" fmla="*/ 0 h 38"/>
                <a:gd name="T14" fmla="*/ 94 w 94"/>
                <a:gd name="T15" fmla="*/ 38 h 38"/>
              </a:gdLst>
              <a:ahLst/>
              <a:cxnLst>
                <a:cxn ang="T8">
                  <a:pos x="T0" y="T1"/>
                </a:cxn>
                <a:cxn ang="T9">
                  <a:pos x="T2" y="T3"/>
                </a:cxn>
                <a:cxn ang="T10">
                  <a:pos x="T4" y="T5"/>
                </a:cxn>
                <a:cxn ang="T11">
                  <a:pos x="T6" y="T7"/>
                </a:cxn>
              </a:cxnLst>
              <a:rect l="T12" t="T13" r="T14" b="T15"/>
              <a:pathLst>
                <a:path w="94" h="38">
                  <a:moveTo>
                    <a:pt x="94" y="38"/>
                  </a:moveTo>
                  <a:lnTo>
                    <a:pt x="0" y="0"/>
                  </a:lnTo>
                  <a:lnTo>
                    <a:pt x="94"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0" name="Freeform 99"/>
            <p:cNvSpPr>
              <a:spLocks noChangeAspect="1" noEditPoints="1"/>
            </p:cNvSpPr>
            <p:nvPr/>
          </p:nvSpPr>
          <p:spPr bwMode="auto">
            <a:xfrm>
              <a:off x="3301" y="2701"/>
              <a:ext cx="94" cy="47"/>
            </a:xfrm>
            <a:custGeom>
              <a:avLst/>
              <a:gdLst>
                <a:gd name="T0" fmla="*/ 0 w 94"/>
                <a:gd name="T1" fmla="*/ 47 h 47"/>
                <a:gd name="T2" fmla="*/ 94 w 94"/>
                <a:gd name="T3" fmla="*/ 0 h 47"/>
                <a:gd name="T4" fmla="*/ 0 w 94"/>
                <a:gd name="T5" fmla="*/ 47 h 47"/>
                <a:gd name="T6" fmla="*/ 0 w 94"/>
                <a:gd name="T7" fmla="*/ 47 h 47"/>
                <a:gd name="T8" fmla="*/ 0 w 94"/>
                <a:gd name="T9" fmla="*/ 47 h 47"/>
                <a:gd name="T10" fmla="*/ 0 w 94"/>
                <a:gd name="T11" fmla="*/ 47 h 47"/>
                <a:gd name="T12" fmla="*/ 0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0" y="47"/>
                  </a:moveTo>
                  <a:lnTo>
                    <a:pt x="94"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1" name="Freeform 100"/>
            <p:cNvSpPr>
              <a:spLocks noChangeAspect="1" noEditPoints="1"/>
            </p:cNvSpPr>
            <p:nvPr/>
          </p:nvSpPr>
          <p:spPr bwMode="auto">
            <a:xfrm>
              <a:off x="3395" y="2663"/>
              <a:ext cx="85" cy="38"/>
            </a:xfrm>
            <a:custGeom>
              <a:avLst/>
              <a:gdLst>
                <a:gd name="T0" fmla="*/ 0 w 85"/>
                <a:gd name="T1" fmla="*/ 38 h 38"/>
                <a:gd name="T2" fmla="*/ 85 w 85"/>
                <a:gd name="T3" fmla="*/ 0 h 38"/>
                <a:gd name="T4" fmla="*/ 0 w 85"/>
                <a:gd name="T5" fmla="*/ 38 h 38"/>
                <a:gd name="T6" fmla="*/ 0 w 85"/>
                <a:gd name="T7" fmla="*/ 38 h 38"/>
                <a:gd name="T8" fmla="*/ 0 w 85"/>
                <a:gd name="T9" fmla="*/ 38 h 38"/>
                <a:gd name="T10" fmla="*/ 0 w 85"/>
                <a:gd name="T11" fmla="*/ 38 h 38"/>
                <a:gd name="T12" fmla="*/ 0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0" y="38"/>
                  </a:moveTo>
                  <a:lnTo>
                    <a:pt x="85"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2" name="Freeform 101"/>
            <p:cNvSpPr>
              <a:spLocks noChangeAspect="1" noEditPoints="1"/>
            </p:cNvSpPr>
            <p:nvPr/>
          </p:nvSpPr>
          <p:spPr bwMode="auto">
            <a:xfrm>
              <a:off x="3395" y="2616"/>
              <a:ext cx="85" cy="47"/>
            </a:xfrm>
            <a:custGeom>
              <a:avLst/>
              <a:gdLst>
                <a:gd name="T0" fmla="*/ 85 w 85"/>
                <a:gd name="T1" fmla="*/ 47 h 47"/>
                <a:gd name="T2" fmla="*/ 0 w 85"/>
                <a:gd name="T3" fmla="*/ 0 h 47"/>
                <a:gd name="T4" fmla="*/ 85 w 85"/>
                <a:gd name="T5" fmla="*/ 47 h 47"/>
                <a:gd name="T6" fmla="*/ 85 w 85"/>
                <a:gd name="T7" fmla="*/ 47 h 47"/>
                <a:gd name="T8" fmla="*/ 85 w 85"/>
                <a:gd name="T9" fmla="*/ 47 h 47"/>
                <a:gd name="T10" fmla="*/ 85 w 85"/>
                <a:gd name="T11" fmla="*/ 47 h 47"/>
                <a:gd name="T12" fmla="*/ 85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85" y="47"/>
                  </a:moveTo>
                  <a:lnTo>
                    <a:pt x="0" y="0"/>
                  </a:lnTo>
                  <a:lnTo>
                    <a:pt x="85" y="47"/>
                  </a:lnTo>
                  <a:close/>
                  <a:moveTo>
                    <a:pt x="85" y="47"/>
                  </a:moveTo>
                  <a:lnTo>
                    <a:pt x="85"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3" name="Freeform 102"/>
            <p:cNvSpPr>
              <a:spLocks noChangeAspect="1" noEditPoints="1"/>
            </p:cNvSpPr>
            <p:nvPr/>
          </p:nvSpPr>
          <p:spPr bwMode="auto">
            <a:xfrm>
              <a:off x="3395" y="2616"/>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4" name="Freeform 103"/>
            <p:cNvSpPr>
              <a:spLocks noChangeAspect="1" noEditPoints="1"/>
            </p:cNvSpPr>
            <p:nvPr/>
          </p:nvSpPr>
          <p:spPr bwMode="auto">
            <a:xfrm>
              <a:off x="3301" y="256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5" name="Freeform 104"/>
            <p:cNvSpPr>
              <a:spLocks noChangeAspect="1" noEditPoints="1"/>
            </p:cNvSpPr>
            <p:nvPr/>
          </p:nvSpPr>
          <p:spPr bwMode="auto">
            <a:xfrm>
              <a:off x="3301" y="253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6" name="Freeform 105"/>
            <p:cNvSpPr>
              <a:spLocks noChangeAspect="1" noEditPoints="1"/>
            </p:cNvSpPr>
            <p:nvPr/>
          </p:nvSpPr>
          <p:spPr bwMode="auto">
            <a:xfrm>
              <a:off x="3395" y="248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7" name="Freeform 106"/>
            <p:cNvSpPr>
              <a:spLocks noChangeAspect="1" noEditPoints="1"/>
            </p:cNvSpPr>
            <p:nvPr/>
          </p:nvSpPr>
          <p:spPr bwMode="auto">
            <a:xfrm>
              <a:off x="3395" y="2446"/>
              <a:ext cx="85" cy="38"/>
            </a:xfrm>
            <a:custGeom>
              <a:avLst/>
              <a:gdLst>
                <a:gd name="T0" fmla="*/ 85 w 85"/>
                <a:gd name="T1" fmla="*/ 38 h 38"/>
                <a:gd name="T2" fmla="*/ 0 w 85"/>
                <a:gd name="T3" fmla="*/ 0 h 38"/>
                <a:gd name="T4" fmla="*/ 85 w 85"/>
                <a:gd name="T5" fmla="*/ 38 h 38"/>
                <a:gd name="T6" fmla="*/ 85 w 85"/>
                <a:gd name="T7" fmla="*/ 38 h 38"/>
                <a:gd name="T8" fmla="*/ 85 w 85"/>
                <a:gd name="T9" fmla="*/ 38 h 38"/>
                <a:gd name="T10" fmla="*/ 85 w 85"/>
                <a:gd name="T11" fmla="*/ 38 h 38"/>
                <a:gd name="T12" fmla="*/ 85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38"/>
                  </a:moveTo>
                  <a:lnTo>
                    <a:pt x="0" y="0"/>
                  </a:lnTo>
                  <a:lnTo>
                    <a:pt x="85" y="38"/>
                  </a:lnTo>
                  <a:close/>
                  <a:moveTo>
                    <a:pt x="85" y="38"/>
                  </a:moveTo>
                  <a:lnTo>
                    <a:pt x="85"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8" name="Freeform 107"/>
            <p:cNvSpPr>
              <a:spLocks noChangeAspect="1" noEditPoints="1"/>
            </p:cNvSpPr>
            <p:nvPr/>
          </p:nvSpPr>
          <p:spPr bwMode="auto">
            <a:xfrm>
              <a:off x="3301" y="239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89" name="Freeform 108"/>
            <p:cNvSpPr>
              <a:spLocks noChangeAspect="1" noEditPoints="1"/>
            </p:cNvSpPr>
            <p:nvPr/>
          </p:nvSpPr>
          <p:spPr bwMode="auto">
            <a:xfrm>
              <a:off x="3301" y="236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0" name="Freeform 109"/>
            <p:cNvSpPr>
              <a:spLocks noChangeAspect="1" noEditPoints="1"/>
            </p:cNvSpPr>
            <p:nvPr/>
          </p:nvSpPr>
          <p:spPr bwMode="auto">
            <a:xfrm>
              <a:off x="3395" y="231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1" name="Freeform 110"/>
            <p:cNvSpPr>
              <a:spLocks noChangeAspect="1" noEditPoints="1"/>
            </p:cNvSpPr>
            <p:nvPr/>
          </p:nvSpPr>
          <p:spPr bwMode="auto">
            <a:xfrm>
              <a:off x="3395" y="2276"/>
              <a:ext cx="85" cy="38"/>
            </a:xfrm>
            <a:custGeom>
              <a:avLst/>
              <a:gdLst>
                <a:gd name="T0" fmla="*/ 85 w 85"/>
                <a:gd name="T1" fmla="*/ 38 h 38"/>
                <a:gd name="T2" fmla="*/ 0 w 85"/>
                <a:gd name="T3" fmla="*/ 0 h 38"/>
                <a:gd name="T4" fmla="*/ 85 w 85"/>
                <a:gd name="T5" fmla="*/ 38 h 38"/>
                <a:gd name="T6" fmla="*/ 85 w 85"/>
                <a:gd name="T7" fmla="*/ 38 h 38"/>
                <a:gd name="T8" fmla="*/ 85 w 85"/>
                <a:gd name="T9" fmla="*/ 38 h 38"/>
                <a:gd name="T10" fmla="*/ 85 w 85"/>
                <a:gd name="T11" fmla="*/ 38 h 38"/>
                <a:gd name="T12" fmla="*/ 85 w 85"/>
                <a:gd name="T13" fmla="*/ 38 h 38"/>
                <a:gd name="T14" fmla="*/ 0 60000 65536"/>
                <a:gd name="T15" fmla="*/ 0 60000 65536"/>
                <a:gd name="T16" fmla="*/ 0 60000 65536"/>
                <a:gd name="T17" fmla="*/ 0 60000 65536"/>
                <a:gd name="T18" fmla="*/ 0 60000 65536"/>
                <a:gd name="T19" fmla="*/ 0 60000 65536"/>
                <a:gd name="T20" fmla="*/ 0 60000 65536"/>
                <a:gd name="T21" fmla="*/ 0 w 85"/>
                <a:gd name="T22" fmla="*/ 0 h 38"/>
                <a:gd name="T23" fmla="*/ 85 w 8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38">
                  <a:moveTo>
                    <a:pt x="85" y="38"/>
                  </a:moveTo>
                  <a:lnTo>
                    <a:pt x="0" y="0"/>
                  </a:lnTo>
                  <a:lnTo>
                    <a:pt x="85" y="38"/>
                  </a:lnTo>
                  <a:close/>
                  <a:moveTo>
                    <a:pt x="85" y="38"/>
                  </a:moveTo>
                  <a:lnTo>
                    <a:pt x="85"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2" name="Freeform 111"/>
            <p:cNvSpPr>
              <a:spLocks noChangeAspect="1" noEditPoints="1"/>
            </p:cNvSpPr>
            <p:nvPr/>
          </p:nvSpPr>
          <p:spPr bwMode="auto">
            <a:xfrm>
              <a:off x="3301" y="2229"/>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3" name="Freeform 112"/>
            <p:cNvSpPr>
              <a:spLocks noChangeAspect="1" noEditPoints="1"/>
            </p:cNvSpPr>
            <p:nvPr/>
          </p:nvSpPr>
          <p:spPr bwMode="auto">
            <a:xfrm>
              <a:off x="3301" y="2191"/>
              <a:ext cx="94" cy="38"/>
            </a:xfrm>
            <a:custGeom>
              <a:avLst/>
              <a:gdLst>
                <a:gd name="T0" fmla="*/ 0 w 94"/>
                <a:gd name="T1" fmla="*/ 38 h 38"/>
                <a:gd name="T2" fmla="*/ 94 w 94"/>
                <a:gd name="T3" fmla="*/ 0 h 38"/>
                <a:gd name="T4" fmla="*/ 0 w 94"/>
                <a:gd name="T5" fmla="*/ 38 h 38"/>
                <a:gd name="T6" fmla="*/ 0 w 94"/>
                <a:gd name="T7" fmla="*/ 38 h 38"/>
                <a:gd name="T8" fmla="*/ 0 w 94"/>
                <a:gd name="T9" fmla="*/ 38 h 38"/>
                <a:gd name="T10" fmla="*/ 0 w 94"/>
                <a:gd name="T11" fmla="*/ 38 h 38"/>
                <a:gd name="T12" fmla="*/ 0 w 94"/>
                <a:gd name="T13" fmla="*/ 38 h 38"/>
                <a:gd name="T14" fmla="*/ 0 60000 65536"/>
                <a:gd name="T15" fmla="*/ 0 60000 65536"/>
                <a:gd name="T16" fmla="*/ 0 60000 65536"/>
                <a:gd name="T17" fmla="*/ 0 60000 65536"/>
                <a:gd name="T18" fmla="*/ 0 60000 65536"/>
                <a:gd name="T19" fmla="*/ 0 60000 65536"/>
                <a:gd name="T20" fmla="*/ 0 60000 65536"/>
                <a:gd name="T21" fmla="*/ 0 w 94"/>
                <a:gd name="T22" fmla="*/ 0 h 38"/>
                <a:gd name="T23" fmla="*/ 94 w 94"/>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38">
                  <a:moveTo>
                    <a:pt x="0" y="38"/>
                  </a:moveTo>
                  <a:lnTo>
                    <a:pt x="94" y="0"/>
                  </a:lnTo>
                  <a:lnTo>
                    <a:pt x="0" y="38"/>
                  </a:lnTo>
                  <a:close/>
                  <a:moveTo>
                    <a:pt x="0" y="38"/>
                  </a:moveTo>
                  <a:lnTo>
                    <a:pt x="0" y="38"/>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4" name="Freeform 113"/>
            <p:cNvSpPr>
              <a:spLocks noChangeAspect="1" noEditPoints="1"/>
            </p:cNvSpPr>
            <p:nvPr/>
          </p:nvSpPr>
          <p:spPr bwMode="auto">
            <a:xfrm>
              <a:off x="3395" y="2144"/>
              <a:ext cx="85" cy="47"/>
            </a:xfrm>
            <a:custGeom>
              <a:avLst/>
              <a:gdLst>
                <a:gd name="T0" fmla="*/ 0 w 85"/>
                <a:gd name="T1" fmla="*/ 47 h 47"/>
                <a:gd name="T2" fmla="*/ 85 w 85"/>
                <a:gd name="T3" fmla="*/ 0 h 47"/>
                <a:gd name="T4" fmla="*/ 0 w 85"/>
                <a:gd name="T5" fmla="*/ 47 h 47"/>
                <a:gd name="T6" fmla="*/ 0 w 85"/>
                <a:gd name="T7" fmla="*/ 47 h 47"/>
                <a:gd name="T8" fmla="*/ 0 w 85"/>
                <a:gd name="T9" fmla="*/ 47 h 47"/>
                <a:gd name="T10" fmla="*/ 0 w 85"/>
                <a:gd name="T11" fmla="*/ 47 h 47"/>
                <a:gd name="T12" fmla="*/ 0 w 85"/>
                <a:gd name="T13" fmla="*/ 47 h 47"/>
                <a:gd name="T14" fmla="*/ 0 60000 65536"/>
                <a:gd name="T15" fmla="*/ 0 60000 65536"/>
                <a:gd name="T16" fmla="*/ 0 60000 65536"/>
                <a:gd name="T17" fmla="*/ 0 60000 65536"/>
                <a:gd name="T18" fmla="*/ 0 60000 65536"/>
                <a:gd name="T19" fmla="*/ 0 60000 65536"/>
                <a:gd name="T20" fmla="*/ 0 60000 65536"/>
                <a:gd name="T21" fmla="*/ 0 w 85"/>
                <a:gd name="T22" fmla="*/ 0 h 47"/>
                <a:gd name="T23" fmla="*/ 85 w 8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47">
                  <a:moveTo>
                    <a:pt x="0" y="47"/>
                  </a:moveTo>
                  <a:lnTo>
                    <a:pt x="85" y="0"/>
                  </a:lnTo>
                  <a:lnTo>
                    <a:pt x="0" y="47"/>
                  </a:lnTo>
                  <a:close/>
                  <a:moveTo>
                    <a:pt x="0" y="47"/>
                  </a:moveTo>
                  <a:lnTo>
                    <a:pt x="0"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5" name="Freeform 114"/>
            <p:cNvSpPr>
              <a:spLocks noChangeAspect="1" noEditPoints="1"/>
            </p:cNvSpPr>
            <p:nvPr/>
          </p:nvSpPr>
          <p:spPr bwMode="auto">
            <a:xfrm>
              <a:off x="3386" y="2097"/>
              <a:ext cx="94" cy="47"/>
            </a:xfrm>
            <a:custGeom>
              <a:avLst/>
              <a:gdLst>
                <a:gd name="T0" fmla="*/ 94 w 94"/>
                <a:gd name="T1" fmla="*/ 47 h 47"/>
                <a:gd name="T2" fmla="*/ 0 w 94"/>
                <a:gd name="T3" fmla="*/ 0 h 47"/>
                <a:gd name="T4" fmla="*/ 94 w 94"/>
                <a:gd name="T5" fmla="*/ 47 h 47"/>
                <a:gd name="T6" fmla="*/ 94 w 94"/>
                <a:gd name="T7" fmla="*/ 47 h 47"/>
                <a:gd name="T8" fmla="*/ 94 w 94"/>
                <a:gd name="T9" fmla="*/ 47 h 47"/>
                <a:gd name="T10" fmla="*/ 94 w 94"/>
                <a:gd name="T11" fmla="*/ 47 h 47"/>
                <a:gd name="T12" fmla="*/ 94 w 94"/>
                <a:gd name="T13" fmla="*/ 47 h 47"/>
                <a:gd name="T14" fmla="*/ 0 60000 65536"/>
                <a:gd name="T15" fmla="*/ 0 60000 65536"/>
                <a:gd name="T16" fmla="*/ 0 60000 65536"/>
                <a:gd name="T17" fmla="*/ 0 60000 65536"/>
                <a:gd name="T18" fmla="*/ 0 60000 65536"/>
                <a:gd name="T19" fmla="*/ 0 60000 65536"/>
                <a:gd name="T20" fmla="*/ 0 60000 65536"/>
                <a:gd name="T21" fmla="*/ 0 w 94"/>
                <a:gd name="T22" fmla="*/ 0 h 47"/>
                <a:gd name="T23" fmla="*/ 94 w 94"/>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 h="47">
                  <a:moveTo>
                    <a:pt x="94" y="47"/>
                  </a:moveTo>
                  <a:lnTo>
                    <a:pt x="0" y="0"/>
                  </a:lnTo>
                  <a:lnTo>
                    <a:pt x="94" y="47"/>
                  </a:lnTo>
                  <a:close/>
                  <a:moveTo>
                    <a:pt x="94" y="47"/>
                  </a:moveTo>
                  <a:lnTo>
                    <a:pt x="94" y="47"/>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6" name="Freeform 115"/>
            <p:cNvSpPr>
              <a:spLocks noChangeAspect="1"/>
            </p:cNvSpPr>
            <p:nvPr/>
          </p:nvSpPr>
          <p:spPr bwMode="auto">
            <a:xfrm>
              <a:off x="3575" y="1918"/>
              <a:ext cx="151" cy="169"/>
            </a:xfrm>
            <a:custGeom>
              <a:avLst/>
              <a:gdLst>
                <a:gd name="T0" fmla="*/ 66 w 151"/>
                <a:gd name="T1" fmla="*/ 75 h 169"/>
                <a:gd name="T2" fmla="*/ 0 w 151"/>
                <a:gd name="T3" fmla="*/ 75 h 169"/>
                <a:gd name="T4" fmla="*/ 0 w 151"/>
                <a:gd name="T5" fmla="*/ 94 h 169"/>
                <a:gd name="T6" fmla="*/ 66 w 151"/>
                <a:gd name="T7" fmla="*/ 94 h 169"/>
                <a:gd name="T8" fmla="*/ 66 w 151"/>
                <a:gd name="T9" fmla="*/ 169 h 169"/>
                <a:gd name="T10" fmla="*/ 85 w 151"/>
                <a:gd name="T11" fmla="*/ 169 h 169"/>
                <a:gd name="T12" fmla="*/ 85 w 151"/>
                <a:gd name="T13" fmla="*/ 94 h 169"/>
                <a:gd name="T14" fmla="*/ 151 w 151"/>
                <a:gd name="T15" fmla="*/ 94 h 169"/>
                <a:gd name="T16" fmla="*/ 151 w 151"/>
                <a:gd name="T17" fmla="*/ 75 h 169"/>
                <a:gd name="T18" fmla="*/ 85 w 151"/>
                <a:gd name="T19" fmla="*/ 75 h 169"/>
                <a:gd name="T20" fmla="*/ 85 w 151"/>
                <a:gd name="T21" fmla="*/ 0 h 169"/>
                <a:gd name="T22" fmla="*/ 66 w 151"/>
                <a:gd name="T23" fmla="*/ 0 h 169"/>
                <a:gd name="T24" fmla="*/ 66 w 151"/>
                <a:gd name="T25" fmla="*/ 75 h 1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1"/>
                <a:gd name="T40" fmla="*/ 0 h 169"/>
                <a:gd name="T41" fmla="*/ 151 w 151"/>
                <a:gd name="T42" fmla="*/ 169 h 16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1" h="169">
                  <a:moveTo>
                    <a:pt x="66" y="75"/>
                  </a:moveTo>
                  <a:lnTo>
                    <a:pt x="0" y="75"/>
                  </a:lnTo>
                  <a:lnTo>
                    <a:pt x="0" y="94"/>
                  </a:lnTo>
                  <a:lnTo>
                    <a:pt x="66" y="94"/>
                  </a:lnTo>
                  <a:lnTo>
                    <a:pt x="66" y="169"/>
                  </a:lnTo>
                  <a:lnTo>
                    <a:pt x="85" y="169"/>
                  </a:lnTo>
                  <a:lnTo>
                    <a:pt x="85" y="94"/>
                  </a:lnTo>
                  <a:lnTo>
                    <a:pt x="151" y="94"/>
                  </a:lnTo>
                  <a:lnTo>
                    <a:pt x="151" y="75"/>
                  </a:lnTo>
                  <a:lnTo>
                    <a:pt x="85" y="75"/>
                  </a:lnTo>
                  <a:lnTo>
                    <a:pt x="85" y="0"/>
                  </a:lnTo>
                  <a:lnTo>
                    <a:pt x="66" y="0"/>
                  </a:lnTo>
                  <a:lnTo>
                    <a:pt x="66" y="7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7" name="Rectangle 116"/>
            <p:cNvSpPr>
              <a:spLocks noChangeAspect="1" noChangeArrowheads="1"/>
            </p:cNvSpPr>
            <p:nvPr/>
          </p:nvSpPr>
          <p:spPr bwMode="auto">
            <a:xfrm>
              <a:off x="3575" y="2805"/>
              <a:ext cx="151" cy="19"/>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4698" name="Freeform 117"/>
            <p:cNvSpPr>
              <a:spLocks noChangeAspect="1"/>
            </p:cNvSpPr>
            <p:nvPr/>
          </p:nvSpPr>
          <p:spPr bwMode="auto">
            <a:xfrm>
              <a:off x="3641" y="2371"/>
              <a:ext cx="113" cy="141"/>
            </a:xfrm>
            <a:custGeom>
              <a:avLst/>
              <a:gdLst>
                <a:gd name="T0" fmla="*/ 0 w 113"/>
                <a:gd name="T1" fmla="*/ 9 h 141"/>
                <a:gd name="T2" fmla="*/ 19 w 113"/>
                <a:gd name="T3" fmla="*/ 18 h 141"/>
                <a:gd name="T4" fmla="*/ 28 w 113"/>
                <a:gd name="T5" fmla="*/ 47 h 141"/>
                <a:gd name="T6" fmla="*/ 28 w 113"/>
                <a:gd name="T7" fmla="*/ 66 h 141"/>
                <a:gd name="T8" fmla="*/ 38 w 113"/>
                <a:gd name="T9" fmla="*/ 94 h 141"/>
                <a:gd name="T10" fmla="*/ 38 w 113"/>
                <a:gd name="T11" fmla="*/ 113 h 141"/>
                <a:gd name="T12" fmla="*/ 38 w 113"/>
                <a:gd name="T13" fmla="*/ 132 h 141"/>
                <a:gd name="T14" fmla="*/ 38 w 113"/>
                <a:gd name="T15" fmla="*/ 141 h 141"/>
                <a:gd name="T16" fmla="*/ 38 w 113"/>
                <a:gd name="T17" fmla="*/ 141 h 141"/>
                <a:gd name="T18" fmla="*/ 47 w 113"/>
                <a:gd name="T19" fmla="*/ 141 h 141"/>
                <a:gd name="T20" fmla="*/ 57 w 113"/>
                <a:gd name="T21" fmla="*/ 132 h 141"/>
                <a:gd name="T22" fmla="*/ 66 w 113"/>
                <a:gd name="T23" fmla="*/ 113 h 141"/>
                <a:gd name="T24" fmla="*/ 76 w 113"/>
                <a:gd name="T25" fmla="*/ 94 h 141"/>
                <a:gd name="T26" fmla="*/ 95 w 113"/>
                <a:gd name="T27" fmla="*/ 75 h 141"/>
                <a:gd name="T28" fmla="*/ 104 w 113"/>
                <a:gd name="T29" fmla="*/ 47 h 141"/>
                <a:gd name="T30" fmla="*/ 113 w 113"/>
                <a:gd name="T31" fmla="*/ 18 h 141"/>
                <a:gd name="T32" fmla="*/ 104 w 113"/>
                <a:gd name="T33" fmla="*/ 9 h 141"/>
                <a:gd name="T34" fmla="*/ 95 w 113"/>
                <a:gd name="T35" fmla="*/ 0 h 141"/>
                <a:gd name="T36" fmla="*/ 95 w 113"/>
                <a:gd name="T37" fmla="*/ 9 h 141"/>
                <a:gd name="T38" fmla="*/ 85 w 113"/>
                <a:gd name="T39" fmla="*/ 9 h 141"/>
                <a:gd name="T40" fmla="*/ 95 w 113"/>
                <a:gd name="T41" fmla="*/ 28 h 141"/>
                <a:gd name="T42" fmla="*/ 104 w 113"/>
                <a:gd name="T43" fmla="*/ 37 h 141"/>
                <a:gd name="T44" fmla="*/ 104 w 113"/>
                <a:gd name="T45" fmla="*/ 47 h 141"/>
                <a:gd name="T46" fmla="*/ 85 w 113"/>
                <a:gd name="T47" fmla="*/ 66 h 141"/>
                <a:gd name="T48" fmla="*/ 66 w 113"/>
                <a:gd name="T49" fmla="*/ 103 h 141"/>
                <a:gd name="T50" fmla="*/ 57 w 113"/>
                <a:gd name="T51" fmla="*/ 113 h 141"/>
                <a:gd name="T52" fmla="*/ 47 w 113"/>
                <a:gd name="T53" fmla="*/ 66 h 141"/>
                <a:gd name="T54" fmla="*/ 38 w 113"/>
                <a:gd name="T55" fmla="*/ 9 h 141"/>
                <a:gd name="T56" fmla="*/ 38 w 113"/>
                <a:gd name="T57" fmla="*/ 0 h 141"/>
                <a:gd name="T58" fmla="*/ 38 w 113"/>
                <a:gd name="T59" fmla="*/ 0 h 141"/>
                <a:gd name="T60" fmla="*/ 28 w 113"/>
                <a:gd name="T61" fmla="*/ 9 h 141"/>
                <a:gd name="T62" fmla="*/ 0 w 113"/>
                <a:gd name="T63" fmla="*/ 9 h 141"/>
                <a:gd name="T64" fmla="*/ 0 w 113"/>
                <a:gd name="T65" fmla="*/ 9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3"/>
                <a:gd name="T100" fmla="*/ 0 h 141"/>
                <a:gd name="T101" fmla="*/ 113 w 113"/>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3" h="141">
                  <a:moveTo>
                    <a:pt x="0" y="9"/>
                  </a:moveTo>
                  <a:lnTo>
                    <a:pt x="19" y="18"/>
                  </a:lnTo>
                  <a:lnTo>
                    <a:pt x="28" y="47"/>
                  </a:lnTo>
                  <a:lnTo>
                    <a:pt x="28" y="66"/>
                  </a:lnTo>
                  <a:lnTo>
                    <a:pt x="38" y="94"/>
                  </a:lnTo>
                  <a:lnTo>
                    <a:pt x="38" y="113"/>
                  </a:lnTo>
                  <a:lnTo>
                    <a:pt x="38" y="132"/>
                  </a:lnTo>
                  <a:lnTo>
                    <a:pt x="38" y="141"/>
                  </a:lnTo>
                  <a:lnTo>
                    <a:pt x="47" y="141"/>
                  </a:lnTo>
                  <a:lnTo>
                    <a:pt x="57" y="132"/>
                  </a:lnTo>
                  <a:lnTo>
                    <a:pt x="66" y="113"/>
                  </a:lnTo>
                  <a:lnTo>
                    <a:pt x="76" y="94"/>
                  </a:lnTo>
                  <a:lnTo>
                    <a:pt x="95" y="75"/>
                  </a:lnTo>
                  <a:lnTo>
                    <a:pt x="104" y="47"/>
                  </a:lnTo>
                  <a:lnTo>
                    <a:pt x="113" y="18"/>
                  </a:lnTo>
                  <a:lnTo>
                    <a:pt x="104" y="9"/>
                  </a:lnTo>
                  <a:lnTo>
                    <a:pt x="95" y="0"/>
                  </a:lnTo>
                  <a:lnTo>
                    <a:pt x="95" y="9"/>
                  </a:lnTo>
                  <a:lnTo>
                    <a:pt x="85" y="9"/>
                  </a:lnTo>
                  <a:lnTo>
                    <a:pt x="95" y="28"/>
                  </a:lnTo>
                  <a:lnTo>
                    <a:pt x="104" y="37"/>
                  </a:lnTo>
                  <a:lnTo>
                    <a:pt x="104" y="47"/>
                  </a:lnTo>
                  <a:lnTo>
                    <a:pt x="85" y="66"/>
                  </a:lnTo>
                  <a:lnTo>
                    <a:pt x="66" y="103"/>
                  </a:lnTo>
                  <a:lnTo>
                    <a:pt x="57" y="113"/>
                  </a:lnTo>
                  <a:lnTo>
                    <a:pt x="47" y="66"/>
                  </a:lnTo>
                  <a:lnTo>
                    <a:pt x="38" y="9"/>
                  </a:lnTo>
                  <a:lnTo>
                    <a:pt x="38" y="0"/>
                  </a:lnTo>
                  <a:lnTo>
                    <a:pt x="28" y="9"/>
                  </a:lnTo>
                  <a:lnTo>
                    <a:pt x="0" y="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699" name="Freeform 118"/>
            <p:cNvSpPr>
              <a:spLocks noChangeAspect="1" noEditPoints="1"/>
            </p:cNvSpPr>
            <p:nvPr/>
          </p:nvSpPr>
          <p:spPr bwMode="auto">
            <a:xfrm>
              <a:off x="3745" y="2484"/>
              <a:ext cx="95" cy="113"/>
            </a:xfrm>
            <a:custGeom>
              <a:avLst/>
              <a:gdLst>
                <a:gd name="T0" fmla="*/ 66 w 95"/>
                <a:gd name="T1" fmla="*/ 0 h 113"/>
                <a:gd name="T2" fmla="*/ 47 w 95"/>
                <a:gd name="T3" fmla="*/ 9 h 113"/>
                <a:gd name="T4" fmla="*/ 19 w 95"/>
                <a:gd name="T5" fmla="*/ 28 h 113"/>
                <a:gd name="T6" fmla="*/ 9 w 95"/>
                <a:gd name="T7" fmla="*/ 47 h 113"/>
                <a:gd name="T8" fmla="*/ 0 w 95"/>
                <a:gd name="T9" fmla="*/ 75 h 113"/>
                <a:gd name="T10" fmla="*/ 9 w 95"/>
                <a:gd name="T11" fmla="*/ 104 h 113"/>
                <a:gd name="T12" fmla="*/ 38 w 95"/>
                <a:gd name="T13" fmla="*/ 113 h 113"/>
                <a:gd name="T14" fmla="*/ 57 w 95"/>
                <a:gd name="T15" fmla="*/ 104 h 113"/>
                <a:gd name="T16" fmla="*/ 76 w 95"/>
                <a:gd name="T17" fmla="*/ 85 h 113"/>
                <a:gd name="T18" fmla="*/ 95 w 95"/>
                <a:gd name="T19" fmla="*/ 66 h 113"/>
                <a:gd name="T20" fmla="*/ 95 w 95"/>
                <a:gd name="T21" fmla="*/ 38 h 113"/>
                <a:gd name="T22" fmla="*/ 95 w 95"/>
                <a:gd name="T23" fmla="*/ 9 h 113"/>
                <a:gd name="T24" fmla="*/ 85 w 95"/>
                <a:gd name="T25" fmla="*/ 0 h 113"/>
                <a:gd name="T26" fmla="*/ 66 w 95"/>
                <a:gd name="T27" fmla="*/ 0 h 113"/>
                <a:gd name="T28" fmla="*/ 66 w 95"/>
                <a:gd name="T29" fmla="*/ 0 h 113"/>
                <a:gd name="T30" fmla="*/ 66 w 95"/>
                <a:gd name="T31" fmla="*/ 0 h 113"/>
                <a:gd name="T32" fmla="*/ 76 w 95"/>
                <a:gd name="T33" fmla="*/ 9 h 113"/>
                <a:gd name="T34" fmla="*/ 76 w 95"/>
                <a:gd name="T35" fmla="*/ 28 h 113"/>
                <a:gd name="T36" fmla="*/ 66 w 95"/>
                <a:gd name="T37" fmla="*/ 75 h 113"/>
                <a:gd name="T38" fmla="*/ 57 w 95"/>
                <a:gd name="T39" fmla="*/ 94 h 113"/>
                <a:gd name="T40" fmla="*/ 38 w 95"/>
                <a:gd name="T41" fmla="*/ 104 h 113"/>
                <a:gd name="T42" fmla="*/ 28 w 95"/>
                <a:gd name="T43" fmla="*/ 94 h 113"/>
                <a:gd name="T44" fmla="*/ 19 w 95"/>
                <a:gd name="T45" fmla="*/ 85 h 113"/>
                <a:gd name="T46" fmla="*/ 19 w 95"/>
                <a:gd name="T47" fmla="*/ 56 h 113"/>
                <a:gd name="T48" fmla="*/ 28 w 95"/>
                <a:gd name="T49" fmla="*/ 28 h 113"/>
                <a:gd name="T50" fmla="*/ 47 w 95"/>
                <a:gd name="T51" fmla="*/ 9 h 113"/>
                <a:gd name="T52" fmla="*/ 66 w 95"/>
                <a:gd name="T53" fmla="*/ 0 h 113"/>
                <a:gd name="T54" fmla="*/ 66 w 95"/>
                <a:gd name="T55" fmla="*/ 0 h 1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5"/>
                <a:gd name="T85" fmla="*/ 0 h 113"/>
                <a:gd name="T86" fmla="*/ 95 w 95"/>
                <a:gd name="T87" fmla="*/ 113 h 1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5" h="113">
                  <a:moveTo>
                    <a:pt x="66" y="0"/>
                  </a:moveTo>
                  <a:lnTo>
                    <a:pt x="47" y="9"/>
                  </a:lnTo>
                  <a:lnTo>
                    <a:pt x="19" y="28"/>
                  </a:lnTo>
                  <a:lnTo>
                    <a:pt x="9" y="47"/>
                  </a:lnTo>
                  <a:lnTo>
                    <a:pt x="0" y="75"/>
                  </a:lnTo>
                  <a:lnTo>
                    <a:pt x="9" y="104"/>
                  </a:lnTo>
                  <a:lnTo>
                    <a:pt x="38" y="113"/>
                  </a:lnTo>
                  <a:lnTo>
                    <a:pt x="57" y="104"/>
                  </a:lnTo>
                  <a:lnTo>
                    <a:pt x="76" y="85"/>
                  </a:lnTo>
                  <a:lnTo>
                    <a:pt x="95" y="66"/>
                  </a:lnTo>
                  <a:lnTo>
                    <a:pt x="95" y="38"/>
                  </a:lnTo>
                  <a:lnTo>
                    <a:pt x="95" y="9"/>
                  </a:lnTo>
                  <a:lnTo>
                    <a:pt x="85" y="0"/>
                  </a:lnTo>
                  <a:lnTo>
                    <a:pt x="66" y="0"/>
                  </a:lnTo>
                  <a:close/>
                  <a:moveTo>
                    <a:pt x="66" y="0"/>
                  </a:moveTo>
                  <a:lnTo>
                    <a:pt x="76" y="9"/>
                  </a:lnTo>
                  <a:lnTo>
                    <a:pt x="76" y="28"/>
                  </a:lnTo>
                  <a:lnTo>
                    <a:pt x="66" y="75"/>
                  </a:lnTo>
                  <a:lnTo>
                    <a:pt x="57" y="94"/>
                  </a:lnTo>
                  <a:lnTo>
                    <a:pt x="38" y="104"/>
                  </a:lnTo>
                  <a:lnTo>
                    <a:pt x="28" y="94"/>
                  </a:lnTo>
                  <a:lnTo>
                    <a:pt x="19" y="85"/>
                  </a:lnTo>
                  <a:lnTo>
                    <a:pt x="19" y="56"/>
                  </a:lnTo>
                  <a:lnTo>
                    <a:pt x="28" y="28"/>
                  </a:lnTo>
                  <a:lnTo>
                    <a:pt x="47" y="9"/>
                  </a:lnTo>
                  <a:lnTo>
                    <a:pt x="6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pic>
        <p:nvPicPr>
          <p:cNvPr id="24580" name="Picture 120"/>
          <p:cNvPicPr>
            <a:picLocks noChangeAspect="1" noChangeArrowheads="1"/>
          </p:cNvPicPr>
          <p:nvPr/>
        </p:nvPicPr>
        <p:blipFill>
          <a:blip r:embed="rId4" cstate="print"/>
          <a:srcRect/>
          <a:stretch>
            <a:fillRect/>
          </a:stretch>
        </p:blipFill>
        <p:spPr bwMode="auto">
          <a:xfrm>
            <a:off x="5337988" y="1536035"/>
            <a:ext cx="3746500" cy="1641475"/>
          </a:xfrm>
          <a:prstGeom prst="rect">
            <a:avLst/>
          </a:prstGeom>
          <a:noFill/>
          <a:ln w="9525">
            <a:noFill/>
            <a:miter lim="800000"/>
            <a:headEnd/>
            <a:tailEnd/>
          </a:ln>
        </p:spPr>
      </p:pic>
      <p:pic>
        <p:nvPicPr>
          <p:cNvPr id="24581" name="Picture 121"/>
          <p:cNvPicPr>
            <a:picLocks noChangeAspect="1" noChangeArrowheads="1"/>
          </p:cNvPicPr>
          <p:nvPr/>
        </p:nvPicPr>
        <p:blipFill>
          <a:blip r:embed="rId5" cstate="print"/>
          <a:srcRect/>
          <a:stretch>
            <a:fillRect/>
          </a:stretch>
        </p:blipFill>
        <p:spPr bwMode="auto">
          <a:xfrm>
            <a:off x="5435600" y="3514831"/>
            <a:ext cx="3708400" cy="1492250"/>
          </a:xfrm>
          <a:prstGeom prst="rect">
            <a:avLst/>
          </a:prstGeom>
          <a:noFill/>
          <a:ln w="9525">
            <a:noFill/>
            <a:miter lim="800000"/>
            <a:headEnd/>
            <a:tailEnd/>
          </a:ln>
        </p:spPr>
      </p:pic>
      <p:pic>
        <p:nvPicPr>
          <p:cNvPr id="24582" name="Picture 122"/>
          <p:cNvPicPr>
            <a:picLocks noChangeAspect="1" noChangeArrowheads="1"/>
          </p:cNvPicPr>
          <p:nvPr/>
        </p:nvPicPr>
        <p:blipFill>
          <a:blip r:embed="rId6" cstate="print"/>
          <a:srcRect/>
          <a:stretch>
            <a:fillRect/>
          </a:stretch>
        </p:blipFill>
        <p:spPr bwMode="auto">
          <a:xfrm>
            <a:off x="6300192" y="5424230"/>
            <a:ext cx="2304677" cy="1398587"/>
          </a:xfrm>
          <a:prstGeom prst="rect">
            <a:avLst/>
          </a:prstGeom>
          <a:noFill/>
          <a:ln w="9525">
            <a:noFill/>
            <a:miter lim="800000"/>
            <a:headEnd/>
            <a:tailEnd/>
          </a:ln>
        </p:spPr>
      </p:pic>
      <p:graphicFrame>
        <p:nvGraphicFramePr>
          <p:cNvPr id="24585" name="Object 2"/>
          <p:cNvGraphicFramePr>
            <a:graphicFrameLocks noChangeAspect="1"/>
          </p:cNvGraphicFramePr>
          <p:nvPr/>
        </p:nvGraphicFramePr>
        <p:xfrm>
          <a:off x="1619250" y="3141663"/>
          <a:ext cx="1944688" cy="701675"/>
        </p:xfrm>
        <a:graphic>
          <a:graphicData uri="http://schemas.openxmlformats.org/presentationml/2006/ole">
            <mc:AlternateContent xmlns:mc="http://schemas.openxmlformats.org/markup-compatibility/2006">
              <mc:Choice xmlns:v="urn:schemas-microsoft-com:vml" Requires="v">
                <p:oleObj spid="_x0000_s18501" name="公式" r:id="rId7" imgW="26212800" imgH="9448800" progId="">
                  <p:embed/>
                </p:oleObj>
              </mc:Choice>
              <mc:Fallback>
                <p:oleObj name="公式" r:id="rId7" imgW="26212800" imgH="9448800" progId="">
                  <p:embed/>
                  <p:pic>
                    <p:nvPicPr>
                      <p:cNvPr id="0" name="图片 18432"/>
                      <p:cNvPicPr>
                        <a:picLocks noChangeAspect="1"/>
                      </p:cNvPicPr>
                      <p:nvPr/>
                    </p:nvPicPr>
                    <p:blipFill>
                      <a:blip r:embed="rId8"/>
                      <a:stretch>
                        <a:fillRect/>
                      </a:stretch>
                    </p:blipFill>
                    <p:spPr>
                      <a:xfrm>
                        <a:off x="1619250" y="3141663"/>
                        <a:ext cx="1944688" cy="701675"/>
                      </a:xfrm>
                      <a:prstGeom prst="rect">
                        <a:avLst/>
                      </a:prstGeom>
                      <a:noFill/>
                      <a:ln w="9525">
                        <a:noFill/>
                      </a:ln>
                    </p:spPr>
                  </p:pic>
                </p:oleObj>
              </mc:Fallback>
            </mc:AlternateContent>
          </a:graphicData>
        </a:graphic>
      </p:graphicFrame>
      <p:graphicFrame>
        <p:nvGraphicFramePr>
          <p:cNvPr id="24586" name="Object 3"/>
          <p:cNvGraphicFramePr>
            <a:graphicFrameLocks noChangeAspect="1"/>
          </p:cNvGraphicFramePr>
          <p:nvPr/>
        </p:nvGraphicFramePr>
        <p:xfrm>
          <a:off x="1539875" y="4187825"/>
          <a:ext cx="3097213" cy="501650"/>
        </p:xfrm>
        <a:graphic>
          <a:graphicData uri="http://schemas.openxmlformats.org/presentationml/2006/ole">
            <mc:AlternateContent xmlns:mc="http://schemas.openxmlformats.org/markup-compatibility/2006">
              <mc:Choice xmlns:v="urn:schemas-microsoft-com:vml" Requires="v">
                <p:oleObj spid="_x0000_s18502" name="公式" r:id="rId9" imgW="33832800" imgH="5486400" progId="">
                  <p:embed/>
                </p:oleObj>
              </mc:Choice>
              <mc:Fallback>
                <p:oleObj name="公式" r:id="rId9" imgW="33832800" imgH="5486400" progId="">
                  <p:embed/>
                  <p:pic>
                    <p:nvPicPr>
                      <p:cNvPr id="0" name="图片 18487"/>
                      <p:cNvPicPr>
                        <a:picLocks noChangeAspect="1"/>
                      </p:cNvPicPr>
                      <p:nvPr/>
                    </p:nvPicPr>
                    <p:blipFill>
                      <a:blip r:embed="rId10"/>
                      <a:stretch>
                        <a:fillRect/>
                      </a:stretch>
                    </p:blipFill>
                    <p:spPr>
                      <a:xfrm>
                        <a:off x="1539875" y="4187825"/>
                        <a:ext cx="3097213" cy="501650"/>
                      </a:xfrm>
                      <a:prstGeom prst="rect">
                        <a:avLst/>
                      </a:prstGeom>
                      <a:noFill/>
                      <a:ln w="9525">
                        <a:noFill/>
                      </a:ln>
                    </p:spPr>
                  </p:pic>
                </p:oleObj>
              </mc:Fallback>
            </mc:AlternateContent>
          </a:graphicData>
        </a:graphic>
      </p:graphicFrame>
      <p:graphicFrame>
        <p:nvGraphicFramePr>
          <p:cNvPr id="24587" name="Object 4"/>
          <p:cNvGraphicFramePr>
            <a:graphicFrameLocks noChangeAspect="1"/>
          </p:cNvGraphicFramePr>
          <p:nvPr/>
        </p:nvGraphicFramePr>
        <p:xfrm>
          <a:off x="1429758" y="5035776"/>
          <a:ext cx="4248150" cy="808037"/>
        </p:xfrm>
        <a:graphic>
          <a:graphicData uri="http://schemas.openxmlformats.org/presentationml/2006/ole">
            <mc:AlternateContent xmlns:mc="http://schemas.openxmlformats.org/markup-compatibility/2006">
              <mc:Choice xmlns:v="urn:schemas-microsoft-com:vml" Requires="v">
                <p:oleObj spid="_x0000_s18503" name="公式" r:id="rId11" imgW="49682400" imgH="9448800" progId="">
                  <p:embed/>
                </p:oleObj>
              </mc:Choice>
              <mc:Fallback>
                <p:oleObj name="公式" r:id="rId11" imgW="49682400" imgH="9448800" progId="">
                  <p:embed/>
                  <p:pic>
                    <p:nvPicPr>
                      <p:cNvPr id="0" name="图片 18488"/>
                      <p:cNvPicPr>
                        <a:picLocks noChangeAspect="1"/>
                      </p:cNvPicPr>
                      <p:nvPr/>
                    </p:nvPicPr>
                    <p:blipFill>
                      <a:blip r:embed="rId12"/>
                      <a:stretch>
                        <a:fillRect/>
                      </a:stretch>
                    </p:blipFill>
                    <p:spPr>
                      <a:xfrm>
                        <a:off x="1429758" y="5035776"/>
                        <a:ext cx="4248150" cy="808037"/>
                      </a:xfrm>
                      <a:prstGeom prst="rect">
                        <a:avLst/>
                      </a:prstGeom>
                      <a:noFill/>
                      <a:ln w="9525">
                        <a:noFill/>
                      </a:ln>
                    </p:spPr>
                  </p:pic>
                </p:oleObj>
              </mc:Fallback>
            </mc:AlternateContent>
          </a:graphicData>
        </a:graphic>
      </p:graphicFrame>
      <p:sp>
        <p:nvSpPr>
          <p:cNvPr id="3" name="文本框 2"/>
          <p:cNvSpPr txBox="1"/>
          <p:nvPr/>
        </p:nvSpPr>
        <p:spPr>
          <a:xfrm>
            <a:off x="835528" y="6123523"/>
            <a:ext cx="2933816" cy="646331"/>
          </a:xfrm>
          <a:prstGeom prst="rect">
            <a:avLst/>
          </a:prstGeom>
          <a:noFill/>
        </p:spPr>
        <p:txBody>
          <a:bodyPr wrap="none" rtlCol="0">
            <a:spAutoFit/>
          </a:bodyPr>
          <a:lstStyle/>
          <a:p>
            <a:r>
              <a:rPr lang="zh-CN" altLang="en-US" b="1" dirty="0">
                <a:solidFill>
                  <a:srgbClr val="002060"/>
                </a:solidFill>
              </a:rPr>
              <a:t>外电路等效。。。</a:t>
            </a:r>
            <a:endParaRPr lang="en-US" altLang="zh-CN" b="1" dirty="0">
              <a:solidFill>
                <a:srgbClr val="002060"/>
              </a:solidFill>
            </a:endParaRPr>
          </a:p>
          <a:p>
            <a:r>
              <a:rPr lang="zh-CN" altLang="en-US" sz="1800" b="1" dirty="0">
                <a:solidFill>
                  <a:srgbClr val="FF0000"/>
                </a:solidFill>
                <a:latin typeface="Times New Roman" panose="02020603050405020304" pitchFamily="18" charset="0"/>
              </a:rPr>
              <a:t>思考：</a:t>
            </a:r>
            <a:r>
              <a:rPr lang="en-US" altLang="zh-CN" sz="1800" b="1" dirty="0">
                <a:solidFill>
                  <a:srgbClr val="FF0000"/>
                </a:solidFill>
                <a:latin typeface="Times New Roman" panose="02020603050405020304" pitchFamily="18" charset="0"/>
              </a:rPr>
              <a:t>8</a:t>
            </a:r>
            <a:r>
              <a:rPr lang="el-GR" altLang="zh-CN" sz="1800" b="1" dirty="0">
                <a:solidFill>
                  <a:srgbClr val="FF0000"/>
                </a:solidFill>
                <a:latin typeface="Times New Roman" panose="02020603050405020304" pitchFamily="18" charset="0"/>
              </a:rPr>
              <a:t>Ω</a:t>
            </a:r>
            <a:r>
              <a:rPr lang="en-US" altLang="zh-CN" sz="1800" b="1" dirty="0">
                <a:solidFill>
                  <a:srgbClr val="FF0000"/>
                </a:solidFill>
                <a:latin typeface="Times New Roman" panose="02020603050405020304" pitchFamily="18" charset="0"/>
              </a:rPr>
              <a:t> </a:t>
            </a:r>
            <a:r>
              <a:rPr lang="zh-CN" altLang="en-US" sz="1800" b="1" dirty="0">
                <a:solidFill>
                  <a:srgbClr val="FF0000"/>
                </a:solidFill>
                <a:latin typeface="Times New Roman" panose="02020603050405020304" pitchFamily="18" charset="0"/>
              </a:rPr>
              <a:t>能和</a:t>
            </a:r>
            <a:r>
              <a:rPr lang="en-US" altLang="zh-CN" sz="1800" b="1" dirty="0">
                <a:solidFill>
                  <a:srgbClr val="FF0000"/>
                </a:solidFill>
                <a:latin typeface="Times New Roman" panose="02020603050405020304" pitchFamily="18" charset="0"/>
              </a:rPr>
              <a:t>2</a:t>
            </a:r>
            <a:r>
              <a:rPr lang="el-GR" altLang="zh-CN" sz="1800" b="1" dirty="0">
                <a:solidFill>
                  <a:srgbClr val="FF0000"/>
                </a:solidFill>
                <a:latin typeface="Times New Roman" panose="02020603050405020304" pitchFamily="18" charset="0"/>
              </a:rPr>
              <a:t>Ω</a:t>
            </a:r>
            <a:r>
              <a:rPr lang="zh-CN" altLang="en-US" sz="1800" b="1" dirty="0">
                <a:solidFill>
                  <a:srgbClr val="FF0000"/>
                </a:solidFill>
                <a:latin typeface="Times New Roman" panose="02020603050405020304" pitchFamily="18" charset="0"/>
              </a:rPr>
              <a:t>合并吗？</a:t>
            </a:r>
            <a:endParaRPr lang="zh-CN" altLang="en-US" b="1" dirty="0">
              <a:solidFill>
                <a:srgbClr val="FF0000"/>
              </a:solidFill>
            </a:endParaRPr>
          </a:p>
        </p:txBody>
      </p:sp>
      <p:sp>
        <p:nvSpPr>
          <p:cNvPr id="123" name="文本框 122"/>
          <p:cNvSpPr txBox="1"/>
          <p:nvPr/>
        </p:nvSpPr>
        <p:spPr>
          <a:xfrm>
            <a:off x="3339939" y="1751068"/>
            <a:ext cx="595035" cy="338554"/>
          </a:xfrm>
          <a:prstGeom prst="rect">
            <a:avLst/>
          </a:prstGeom>
          <a:noFill/>
        </p:spPr>
        <p:txBody>
          <a:bodyPr wrap="none" rtlCol="0">
            <a:spAutoFit/>
          </a:bodyPr>
          <a:lstStyle/>
          <a:p>
            <a:r>
              <a:rPr lang="zh-CN" altLang="en-US" sz="1600" dirty="0"/>
              <a:t>题图</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31</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32</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539750" y="692785"/>
            <a:ext cx="6583680" cy="411480"/>
          </a:xfrm>
          <a:prstGeom prst="rect">
            <a:avLst/>
          </a:prstGeom>
        </p:spPr>
      </p:pic>
      <p:pic>
        <p:nvPicPr>
          <p:cNvPr id="6" name="图片 5"/>
          <p:cNvPicPr>
            <a:picLocks noChangeAspect="1"/>
          </p:cNvPicPr>
          <p:nvPr/>
        </p:nvPicPr>
        <p:blipFill>
          <a:blip r:embed="rId3"/>
          <a:stretch>
            <a:fillRect/>
          </a:stretch>
        </p:blipFill>
        <p:spPr>
          <a:xfrm>
            <a:off x="2195830" y="1196975"/>
            <a:ext cx="6454140" cy="2240280"/>
          </a:xfrm>
          <a:prstGeom prst="rect">
            <a:avLst/>
          </a:prstGeom>
        </p:spPr>
      </p:pic>
      <p:pic>
        <p:nvPicPr>
          <p:cNvPr id="7" name="图片 6"/>
          <p:cNvPicPr>
            <a:picLocks noChangeAspect="1"/>
          </p:cNvPicPr>
          <p:nvPr/>
        </p:nvPicPr>
        <p:blipFill>
          <a:blip r:embed="rId4"/>
          <a:stretch>
            <a:fillRect/>
          </a:stretch>
        </p:blipFill>
        <p:spPr>
          <a:xfrm>
            <a:off x="6732270" y="4437380"/>
            <a:ext cx="1661160" cy="480060"/>
          </a:xfrm>
          <a:prstGeom prst="rect">
            <a:avLst/>
          </a:prstGeom>
        </p:spPr>
      </p:pic>
      <p:sp>
        <p:nvSpPr>
          <p:cNvPr id="8" name="文本框 7"/>
          <p:cNvSpPr txBox="1"/>
          <p:nvPr/>
        </p:nvSpPr>
        <p:spPr>
          <a:xfrm>
            <a:off x="611505" y="3141345"/>
            <a:ext cx="3249295" cy="2584450"/>
          </a:xfrm>
          <a:prstGeom prst="rect">
            <a:avLst/>
          </a:prstGeom>
          <a:noFill/>
        </p:spPr>
        <p:txBody>
          <a:bodyPr wrap="square" rtlCol="0">
            <a:spAutoFit/>
          </a:bodyPr>
          <a:lstStyle/>
          <a:p>
            <a:r>
              <a:rPr lang="zh-CN" altLang="en-US"/>
              <a:t>解：</a:t>
            </a:r>
          </a:p>
          <a:p>
            <a:r>
              <a:rPr lang="en-US" altLang="zh-CN"/>
              <a:t>3||6=2</a:t>
            </a:r>
            <a:r>
              <a:rPr lang="en-US" altLang="zh-CN">
                <a:latin typeface="Arial" panose="020B0604020202020204" pitchFamily="34" charset="0"/>
                <a:cs typeface="Arial" panose="020B0604020202020204" pitchFamily="34" charset="0"/>
              </a:rPr>
              <a:t>Ʊ</a:t>
            </a:r>
            <a:r>
              <a:rPr lang="en-US" altLang="zh-CN"/>
              <a:t>,</a:t>
            </a:r>
          </a:p>
          <a:p>
            <a:r>
              <a:rPr lang="en-US" altLang="zh-CN"/>
              <a:t>10V+2</a:t>
            </a:r>
            <a:r>
              <a:rPr lang="en-US" altLang="zh-CN">
                <a:latin typeface="Arial" panose="020B0604020202020204" pitchFamily="34" charset="0"/>
                <a:cs typeface="Arial" panose="020B0604020202020204" pitchFamily="34" charset="0"/>
              </a:rPr>
              <a:t>Ʊ</a:t>
            </a:r>
          </a:p>
          <a:p>
            <a:r>
              <a:rPr lang="en-US" altLang="zh-CN">
                <a:sym typeface="+mn-ea"/>
              </a:rPr>
              <a:t>15V+2</a:t>
            </a:r>
            <a:r>
              <a:rPr lang="en-US" altLang="zh-CN">
                <a:latin typeface="Arial" panose="020B0604020202020204" pitchFamily="34" charset="0"/>
                <a:cs typeface="Arial" panose="020B0604020202020204" pitchFamily="34" charset="0"/>
                <a:sym typeface="+mn-ea"/>
              </a:rPr>
              <a:t>Ʊ</a:t>
            </a:r>
          </a:p>
          <a:p>
            <a:r>
              <a:rPr lang="en-US" altLang="zh-CN">
                <a:latin typeface="Arial" panose="020B0604020202020204" pitchFamily="34" charset="0"/>
                <a:cs typeface="Arial" panose="020B0604020202020204" pitchFamily="34" charset="0"/>
              </a:rPr>
              <a:t>7.5A||2Ʊ</a:t>
            </a:r>
          </a:p>
          <a:p>
            <a:r>
              <a:rPr lang="en-US" altLang="zh-CN">
                <a:latin typeface="Arial" panose="020B0604020202020204" pitchFamily="34" charset="0"/>
                <a:cs typeface="Arial" panose="020B0604020202020204" pitchFamily="34" charset="0"/>
              </a:rPr>
              <a:t>3A+7.5A=10.5A</a:t>
            </a:r>
          </a:p>
          <a:p>
            <a:r>
              <a:rPr lang="en-US" altLang="zh-CN">
                <a:latin typeface="Arial" panose="020B0604020202020204" pitchFamily="34" charset="0"/>
                <a:cs typeface="Arial" panose="020B0604020202020204" pitchFamily="34" charset="0"/>
              </a:rPr>
              <a:t>2||5=10/7=1.43Ʊ</a:t>
            </a:r>
          </a:p>
          <a:p>
            <a:r>
              <a:rPr lang="en-US" altLang="zh-CN">
                <a:latin typeface="Arial" panose="020B0604020202020204" pitchFamily="34" charset="0"/>
                <a:cs typeface="Arial" panose="020B0604020202020204" pitchFamily="34" charset="0"/>
              </a:rPr>
              <a:t>I0=1.43X10.5/(1.43+7)=1.78A</a:t>
            </a:r>
          </a:p>
          <a:p>
            <a:endParaRPr lang="en-US" altLang="zh-CN">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4"/>
          <p:cNvSpPr txBox="1">
            <a:spLocks noChangeArrowheads="1"/>
          </p:cNvSpPr>
          <p:nvPr/>
        </p:nvSpPr>
        <p:spPr bwMode="auto">
          <a:xfrm>
            <a:off x="684213" y="1341438"/>
            <a:ext cx="4824412" cy="1014730"/>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FF0000"/>
                </a:solidFill>
                <a:latin typeface="Times New Roman" panose="02020603050405020304" pitchFamily="18" charset="0"/>
              </a:rPr>
              <a:t>例</a:t>
            </a:r>
            <a:r>
              <a:rPr lang="en-US" altLang="zh-CN" sz="2400" b="1" dirty="0">
                <a:solidFill>
                  <a:srgbClr val="FF0000"/>
                </a:solidFill>
                <a:latin typeface="Times New Roman" panose="02020603050405020304" pitchFamily="18" charset="0"/>
              </a:rPr>
              <a:t>4-7</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 </a:t>
            </a:r>
            <a:r>
              <a:rPr lang="en-US" altLang="zh-CN" sz="2000" dirty="0">
                <a:solidFill>
                  <a:srgbClr val="CCCCE6"/>
                </a:solidFill>
                <a:latin typeface="Times New Roman" panose="02020603050405020304" pitchFamily="18" charset="0"/>
              </a:rPr>
              <a:t>(</a:t>
            </a:r>
            <a:r>
              <a:rPr lang="zh-CN" altLang="en-US" sz="2000" dirty="0">
                <a:solidFill>
                  <a:srgbClr val="CCCCE6"/>
                </a:solidFill>
                <a:latin typeface="Times New Roman" panose="02020603050405020304" pitchFamily="18" charset="0"/>
              </a:rPr>
              <a:t>堂练</a:t>
            </a:r>
            <a:r>
              <a:rPr lang="en-US" altLang="zh-CN" sz="2000" dirty="0">
                <a:solidFill>
                  <a:srgbClr val="CCCCE6"/>
                </a:solidFill>
                <a:latin typeface="Times New Roman" panose="02020603050405020304" pitchFamily="18" charset="0"/>
              </a:rPr>
              <a:t>)</a:t>
            </a:r>
          </a:p>
          <a:p>
            <a:pPr fontAlgn="base">
              <a:spcBef>
                <a:spcPct val="50000"/>
              </a:spcBef>
              <a:spcAft>
                <a:spcPct val="0"/>
              </a:spcAft>
            </a:pPr>
            <a:endParaRPr lang="en-US" altLang="zh-CN" sz="2400" b="1" dirty="0">
              <a:solidFill>
                <a:srgbClr val="FF0000"/>
              </a:solidFill>
              <a:latin typeface="Times New Roman" panose="02020603050405020304" pitchFamily="18" charset="0"/>
            </a:endParaRPr>
          </a:p>
        </p:txBody>
      </p:sp>
      <p:sp>
        <p:nvSpPr>
          <p:cNvPr id="25603" name="Text Box 5"/>
          <p:cNvSpPr txBox="1">
            <a:spLocks noChangeArrowheads="1"/>
          </p:cNvSpPr>
          <p:nvPr/>
        </p:nvSpPr>
        <p:spPr bwMode="auto">
          <a:xfrm>
            <a:off x="1403648" y="1984774"/>
            <a:ext cx="6913563" cy="954107"/>
          </a:xfrm>
          <a:prstGeom prst="rect">
            <a:avLst/>
          </a:prstGeom>
          <a:noFill/>
          <a:ln w="9525">
            <a:noFill/>
            <a:miter lim="800000"/>
          </a:ln>
        </p:spPr>
        <p:txBody>
          <a:bodyPr>
            <a:spAutoFit/>
          </a:bodyPr>
          <a:lstStyle/>
          <a:p>
            <a:pPr fontAlgn="base">
              <a:spcBef>
                <a:spcPct val="50000"/>
              </a:spcBef>
              <a:spcAft>
                <a:spcPct val="0"/>
              </a:spcAft>
              <a:buFont typeface="Wingdings" panose="05000000000000000000" pitchFamily="2" charset="2"/>
              <a:buNone/>
            </a:pPr>
            <a:r>
              <a:rPr lang="zh-CN" altLang="en-US" sz="2000" b="1" dirty="0">
                <a:solidFill>
                  <a:srgbClr val="000000"/>
                </a:solidFill>
                <a:latin typeface="Times New Roman" panose="02020603050405020304" pitchFamily="18" charset="0"/>
              </a:rPr>
              <a:t>用电源置换求出图中电路中的</a:t>
            </a:r>
            <a:r>
              <a:rPr lang="en-US" altLang="zh-CN" sz="2000" b="1" i="1" dirty="0" err="1">
                <a:solidFill>
                  <a:srgbClr val="0000FF"/>
                </a:solidFill>
                <a:latin typeface="Century Schoolbook" pitchFamily="18" charset="0"/>
                <a:ea typeface="MS Mincho" pitchFamily="49" charset="-128"/>
              </a:rPr>
              <a:t>v</a:t>
            </a:r>
            <a:r>
              <a:rPr lang="en-US" altLang="zh-CN" sz="2000" b="1" i="1" baseline="-25000" dirty="0" err="1">
                <a:solidFill>
                  <a:srgbClr val="0000FF"/>
                </a:solidFill>
                <a:latin typeface="Century Schoolbook" pitchFamily="18" charset="0"/>
                <a:ea typeface="MS Mincho" pitchFamily="49" charset="-128"/>
              </a:rPr>
              <a:t>x</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400" b="1" dirty="0">
              <a:solidFill>
                <a:srgbClr val="000000"/>
              </a:solidFill>
              <a:latin typeface="Times New Roman" panose="02020603050405020304" pitchFamily="18" charset="0"/>
            </a:endParaRPr>
          </a:p>
        </p:txBody>
      </p:sp>
      <p:pic>
        <p:nvPicPr>
          <p:cNvPr id="25604" name="Picture 8"/>
          <p:cNvPicPr>
            <a:picLocks noChangeAspect="1" noChangeArrowheads="1"/>
          </p:cNvPicPr>
          <p:nvPr/>
        </p:nvPicPr>
        <p:blipFill>
          <a:blip r:embed="rId2" cstate="print"/>
          <a:srcRect/>
          <a:stretch>
            <a:fillRect/>
          </a:stretch>
        </p:blipFill>
        <p:spPr bwMode="auto">
          <a:xfrm>
            <a:off x="2195736" y="2879365"/>
            <a:ext cx="4032349" cy="2637197"/>
          </a:xfrm>
          <a:prstGeom prst="rect">
            <a:avLst/>
          </a:prstGeom>
          <a:noFill/>
          <a:ln w="9525">
            <a:noFill/>
            <a:miter lim="800000"/>
            <a:headEnd/>
            <a:tailEnd/>
          </a:ln>
        </p:spPr>
      </p:pic>
      <p:sp>
        <p:nvSpPr>
          <p:cNvPr id="2" name="文本框 1"/>
          <p:cNvSpPr txBox="1"/>
          <p:nvPr/>
        </p:nvSpPr>
        <p:spPr>
          <a:xfrm>
            <a:off x="8028384" y="6309320"/>
            <a:ext cx="877163" cy="369332"/>
          </a:xfrm>
          <a:prstGeom prst="rect">
            <a:avLst/>
          </a:prstGeom>
          <a:noFill/>
        </p:spPr>
        <p:txBody>
          <a:bodyPr wrap="none" rtlCol="0">
            <a:spAutoFit/>
          </a:bodyPr>
          <a:lstStyle/>
          <a:p>
            <a:r>
              <a:rPr lang="zh-CN" altLang="en-US" dirty="0"/>
              <a:t>。。。</a:t>
            </a: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33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8"/>
          <p:cNvPicPr>
            <a:picLocks noChangeAspect="1" noChangeArrowheads="1"/>
          </p:cNvPicPr>
          <p:nvPr/>
        </p:nvPicPr>
        <p:blipFill>
          <a:blip r:embed="rId4" cstate="print"/>
          <a:srcRect/>
          <a:stretch>
            <a:fillRect/>
          </a:stretch>
        </p:blipFill>
        <p:spPr bwMode="auto">
          <a:xfrm>
            <a:off x="5422900" y="0"/>
            <a:ext cx="3721100" cy="2433638"/>
          </a:xfrm>
          <a:prstGeom prst="rect">
            <a:avLst/>
          </a:prstGeom>
          <a:noFill/>
          <a:ln w="9525">
            <a:noFill/>
            <a:miter lim="800000"/>
            <a:headEnd/>
            <a:tailEnd/>
          </a:ln>
        </p:spPr>
      </p:pic>
      <p:pic>
        <p:nvPicPr>
          <p:cNvPr id="26627" name="Picture 10"/>
          <p:cNvPicPr>
            <a:picLocks noChangeAspect="1" noChangeArrowheads="1"/>
          </p:cNvPicPr>
          <p:nvPr/>
        </p:nvPicPr>
        <p:blipFill>
          <a:blip r:embed="rId5" cstate="print"/>
          <a:srcRect/>
          <a:stretch>
            <a:fillRect/>
          </a:stretch>
        </p:blipFill>
        <p:spPr bwMode="auto">
          <a:xfrm>
            <a:off x="250825" y="908050"/>
            <a:ext cx="4724400" cy="1606550"/>
          </a:xfrm>
          <a:prstGeom prst="rect">
            <a:avLst/>
          </a:prstGeom>
          <a:noFill/>
          <a:ln w="9525">
            <a:noFill/>
            <a:miter lim="800000"/>
            <a:headEnd/>
            <a:tailEnd/>
          </a:ln>
        </p:spPr>
      </p:pic>
      <p:pic>
        <p:nvPicPr>
          <p:cNvPr id="26628" name="Picture 11"/>
          <p:cNvPicPr>
            <a:picLocks noChangeAspect="1" noChangeArrowheads="1"/>
          </p:cNvPicPr>
          <p:nvPr/>
        </p:nvPicPr>
        <p:blipFill>
          <a:blip r:embed="rId6" cstate="print"/>
          <a:srcRect/>
          <a:stretch>
            <a:fillRect/>
          </a:stretch>
        </p:blipFill>
        <p:spPr bwMode="auto">
          <a:xfrm>
            <a:off x="468313" y="2924175"/>
            <a:ext cx="4284662" cy="1609725"/>
          </a:xfrm>
          <a:prstGeom prst="rect">
            <a:avLst/>
          </a:prstGeom>
          <a:noFill/>
          <a:ln w="9525">
            <a:noFill/>
            <a:miter lim="800000"/>
            <a:headEnd/>
            <a:tailEnd/>
          </a:ln>
        </p:spPr>
      </p:pic>
      <p:sp>
        <p:nvSpPr>
          <p:cNvPr id="26629" name="Text Box 12"/>
          <p:cNvSpPr txBox="1">
            <a:spLocks noChangeArrowheads="1"/>
          </p:cNvSpPr>
          <p:nvPr/>
        </p:nvSpPr>
        <p:spPr bwMode="auto">
          <a:xfrm>
            <a:off x="7020272" y="2555429"/>
            <a:ext cx="1368251" cy="338554"/>
          </a:xfrm>
          <a:prstGeom prst="rect">
            <a:avLst/>
          </a:prstGeom>
          <a:noFill/>
          <a:ln w="9525">
            <a:noFill/>
            <a:miter lim="800000"/>
          </a:ln>
        </p:spPr>
        <p:txBody>
          <a:bodyPr wrap="square">
            <a:spAutoFit/>
          </a:bodyPr>
          <a:lstStyle/>
          <a:p>
            <a:pPr fontAlgn="base">
              <a:spcBef>
                <a:spcPct val="50000"/>
              </a:spcBef>
              <a:spcAft>
                <a:spcPct val="0"/>
              </a:spcAft>
            </a:pPr>
            <a:r>
              <a:rPr lang="zh-CN" altLang="en-US" sz="1600" dirty="0">
                <a:solidFill>
                  <a:srgbClr val="000000"/>
                </a:solidFill>
              </a:rPr>
              <a:t>题图</a:t>
            </a:r>
            <a:endParaRPr lang="en-US" altLang="zh-CN" sz="1600" dirty="0">
              <a:solidFill>
                <a:srgbClr val="000000"/>
              </a:solidFill>
            </a:endParaRPr>
          </a:p>
        </p:txBody>
      </p:sp>
      <p:sp>
        <p:nvSpPr>
          <p:cNvPr id="26630" name="Text Box 13"/>
          <p:cNvSpPr txBox="1">
            <a:spLocks noChangeArrowheads="1"/>
          </p:cNvSpPr>
          <p:nvPr/>
        </p:nvSpPr>
        <p:spPr bwMode="auto">
          <a:xfrm>
            <a:off x="381270" y="613186"/>
            <a:ext cx="4608512" cy="457200"/>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00FF"/>
                </a:solidFill>
                <a:latin typeface="Times New Roman" panose="02020603050405020304" pitchFamily="18" charset="0"/>
              </a:rPr>
              <a:t>解决方案</a:t>
            </a:r>
            <a:r>
              <a:rPr lang="en-US" altLang="zh-CN" sz="2400" b="1" dirty="0">
                <a:solidFill>
                  <a:srgbClr val="0000FF"/>
                </a:solidFill>
                <a:latin typeface="Times New Roman" panose="02020603050405020304" pitchFamily="18" charset="0"/>
              </a:rPr>
              <a:t>:</a:t>
            </a:r>
          </a:p>
        </p:txBody>
      </p:sp>
      <p:sp>
        <p:nvSpPr>
          <p:cNvPr id="26631" name="Text Box 15"/>
          <p:cNvSpPr txBox="1">
            <a:spLocks noChangeArrowheads="1"/>
          </p:cNvSpPr>
          <p:nvPr/>
        </p:nvSpPr>
        <p:spPr bwMode="auto">
          <a:xfrm>
            <a:off x="1277938" y="5930900"/>
            <a:ext cx="2376487" cy="457200"/>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0000"/>
                </a:solidFill>
                <a:latin typeface="Times New Roman" panose="02020603050405020304" pitchFamily="18" charset="0"/>
              </a:rPr>
              <a:t>左</a:t>
            </a:r>
            <a:r>
              <a:rPr lang="zh-CN" altLang="en-US" sz="2400" dirty="0">
                <a:solidFill>
                  <a:srgbClr val="000000"/>
                </a:solidFill>
                <a:latin typeface="Times New Roman" panose="02020603050405020304" pitchFamily="18" charset="0"/>
              </a:rPr>
              <a:t>回路</a:t>
            </a:r>
            <a:r>
              <a:rPr lang="en-US" altLang="zh-CN" sz="2400" b="1" dirty="0">
                <a:solidFill>
                  <a:srgbClr val="000000"/>
                </a:solidFill>
                <a:latin typeface="Times New Roman" panose="02020603050405020304" pitchFamily="18" charset="0"/>
              </a:rPr>
              <a:t>: </a:t>
            </a:r>
          </a:p>
        </p:txBody>
      </p:sp>
      <p:sp>
        <p:nvSpPr>
          <p:cNvPr id="26632" name="Text Box 16"/>
          <p:cNvSpPr txBox="1">
            <a:spLocks noChangeArrowheads="1"/>
          </p:cNvSpPr>
          <p:nvPr/>
        </p:nvSpPr>
        <p:spPr bwMode="auto">
          <a:xfrm>
            <a:off x="1277938" y="4881563"/>
            <a:ext cx="1511300" cy="457200"/>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0000"/>
                </a:solidFill>
                <a:latin typeface="Times New Roman" panose="02020603050405020304" pitchFamily="18" charset="0"/>
              </a:rPr>
              <a:t>大</a:t>
            </a:r>
            <a:r>
              <a:rPr lang="zh-CN" altLang="en-US" sz="2400" dirty="0">
                <a:solidFill>
                  <a:srgbClr val="000000"/>
                </a:solidFill>
                <a:latin typeface="Times New Roman" panose="02020603050405020304" pitchFamily="18" charset="0"/>
              </a:rPr>
              <a:t>回路</a:t>
            </a:r>
            <a:r>
              <a:rPr lang="en-US" altLang="zh-CN" sz="2400" b="1" dirty="0">
                <a:solidFill>
                  <a:srgbClr val="000000"/>
                </a:solidFill>
                <a:latin typeface="Times New Roman" panose="02020603050405020304" pitchFamily="18" charset="0"/>
              </a:rPr>
              <a:t>:</a:t>
            </a:r>
          </a:p>
        </p:txBody>
      </p:sp>
      <p:graphicFrame>
        <p:nvGraphicFramePr>
          <p:cNvPr id="26641" name="Object 3"/>
          <p:cNvGraphicFramePr>
            <a:graphicFrameLocks noChangeAspect="1"/>
          </p:cNvGraphicFramePr>
          <p:nvPr/>
        </p:nvGraphicFramePr>
        <p:xfrm>
          <a:off x="3563938" y="4941888"/>
          <a:ext cx="2519363" cy="466725"/>
        </p:xfrm>
        <a:graphic>
          <a:graphicData uri="http://schemas.openxmlformats.org/presentationml/2006/ole">
            <mc:AlternateContent xmlns:mc="http://schemas.openxmlformats.org/markup-compatibility/2006">
              <mc:Choice xmlns:v="urn:schemas-microsoft-com:vml" Requires="v">
                <p:oleObj spid="_x0000_s19504" name="公式" r:id="rId7" imgW="29565600" imgH="5486400" progId="">
                  <p:embed/>
                </p:oleObj>
              </mc:Choice>
              <mc:Fallback>
                <p:oleObj name="公式" r:id="rId7" imgW="29565600" imgH="5486400" progId="">
                  <p:embed/>
                  <p:pic>
                    <p:nvPicPr>
                      <p:cNvPr id="0" name="图片 19456"/>
                      <p:cNvPicPr>
                        <a:picLocks noChangeAspect="1"/>
                      </p:cNvPicPr>
                      <p:nvPr/>
                    </p:nvPicPr>
                    <p:blipFill>
                      <a:blip r:embed="rId8"/>
                      <a:stretch>
                        <a:fillRect/>
                      </a:stretch>
                    </p:blipFill>
                    <p:spPr>
                      <a:xfrm>
                        <a:off x="3563938" y="4941888"/>
                        <a:ext cx="2519363" cy="466725"/>
                      </a:xfrm>
                      <a:prstGeom prst="rect">
                        <a:avLst/>
                      </a:prstGeom>
                      <a:noFill/>
                      <a:ln w="9525">
                        <a:noFill/>
                      </a:ln>
                    </p:spPr>
                  </p:pic>
                </p:oleObj>
              </mc:Fallback>
            </mc:AlternateContent>
          </a:graphicData>
        </a:graphic>
      </p:graphicFrame>
      <p:graphicFrame>
        <p:nvGraphicFramePr>
          <p:cNvPr id="26639" name="Object 2"/>
          <p:cNvGraphicFramePr>
            <a:graphicFrameLocks noChangeAspect="1"/>
          </p:cNvGraphicFramePr>
          <p:nvPr/>
        </p:nvGraphicFramePr>
        <p:xfrm>
          <a:off x="3616325" y="6010275"/>
          <a:ext cx="1944688" cy="473075"/>
        </p:xfrm>
        <a:graphic>
          <a:graphicData uri="http://schemas.openxmlformats.org/presentationml/2006/ole">
            <mc:AlternateContent xmlns:mc="http://schemas.openxmlformats.org/markup-compatibility/2006">
              <mc:Choice xmlns:v="urn:schemas-microsoft-com:vml" Requires="v">
                <p:oleObj spid="_x0000_s19505" name="公式" r:id="rId9" imgW="22555200" imgH="5486400" progId="">
                  <p:embed/>
                </p:oleObj>
              </mc:Choice>
              <mc:Fallback>
                <p:oleObj name="公式" r:id="rId9" imgW="22555200" imgH="5486400" progId="">
                  <p:embed/>
                  <p:pic>
                    <p:nvPicPr>
                      <p:cNvPr id="0" name="图片 19494"/>
                      <p:cNvPicPr>
                        <a:picLocks noChangeAspect="1"/>
                      </p:cNvPicPr>
                      <p:nvPr/>
                    </p:nvPicPr>
                    <p:blipFill>
                      <a:blip r:embed="rId10"/>
                      <a:stretch>
                        <a:fillRect/>
                      </a:stretch>
                    </p:blipFill>
                    <p:spPr>
                      <a:xfrm>
                        <a:off x="3616325" y="6010275"/>
                        <a:ext cx="1944688" cy="473075"/>
                      </a:xfrm>
                      <a:prstGeom prst="rect">
                        <a:avLst/>
                      </a:prstGeom>
                      <a:noFill/>
                      <a:ln w="9525">
                        <a:noFill/>
                      </a:ln>
                    </p:spPr>
                  </p:pic>
                </p:oleObj>
              </mc:Fallback>
            </mc:AlternateContent>
          </a:graphicData>
        </a:graphic>
      </p:graphicFrame>
      <p:sp>
        <p:nvSpPr>
          <p:cNvPr id="26635" name="矩形 17"/>
          <p:cNvSpPr>
            <a:spLocks noChangeArrowheads="1"/>
          </p:cNvSpPr>
          <p:nvPr/>
        </p:nvSpPr>
        <p:spPr bwMode="auto">
          <a:xfrm>
            <a:off x="2843213" y="4941888"/>
            <a:ext cx="439737" cy="396875"/>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①</a:t>
            </a:r>
          </a:p>
        </p:txBody>
      </p:sp>
      <p:sp>
        <p:nvSpPr>
          <p:cNvPr id="26636" name="矩形 18"/>
          <p:cNvSpPr>
            <a:spLocks noChangeArrowheads="1"/>
          </p:cNvSpPr>
          <p:nvPr/>
        </p:nvSpPr>
        <p:spPr bwMode="auto">
          <a:xfrm>
            <a:off x="2830513" y="6034088"/>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②</a:t>
            </a:r>
          </a:p>
        </p:txBody>
      </p:sp>
      <p:sp>
        <p:nvSpPr>
          <p:cNvPr id="17" name="右箭头 16"/>
          <p:cNvSpPr/>
          <p:nvPr/>
        </p:nvSpPr>
        <p:spPr>
          <a:xfrm rot="10800000">
            <a:off x="5072063" y="1714500"/>
            <a:ext cx="285750" cy="214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sz="2000">
              <a:solidFill>
                <a:srgbClr val="FFFFFF"/>
              </a:solidFill>
            </a:endParaRPr>
          </a:p>
        </p:txBody>
      </p:sp>
      <p:sp>
        <p:nvSpPr>
          <p:cNvPr id="18" name="右箭头 17"/>
          <p:cNvSpPr/>
          <p:nvPr/>
        </p:nvSpPr>
        <p:spPr>
          <a:xfrm rot="5400000">
            <a:off x="2285207" y="2785268"/>
            <a:ext cx="285750" cy="214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sz="2000">
              <a:solidFill>
                <a:srgbClr val="FFFFFF"/>
              </a:solidFill>
            </a:endParaRPr>
          </a:p>
        </p:txBody>
      </p:sp>
      <p:sp>
        <p:nvSpPr>
          <p:cNvPr id="2" name="文本框 1"/>
          <p:cNvSpPr txBox="1"/>
          <p:nvPr/>
        </p:nvSpPr>
        <p:spPr>
          <a:xfrm>
            <a:off x="7097689" y="968035"/>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1</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7228494" y="2295138"/>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2</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19" name="文本框 18"/>
          <p:cNvSpPr txBox="1"/>
          <p:nvPr/>
        </p:nvSpPr>
        <p:spPr>
          <a:xfrm>
            <a:off x="2362024" y="1106512"/>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1</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20" name="文本框 19"/>
          <p:cNvSpPr txBox="1"/>
          <p:nvPr/>
        </p:nvSpPr>
        <p:spPr>
          <a:xfrm>
            <a:off x="2032509" y="3106737"/>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1</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2404434" y="2433164"/>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2</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22" name="文本框 21"/>
          <p:cNvSpPr txBox="1"/>
          <p:nvPr/>
        </p:nvSpPr>
        <p:spPr>
          <a:xfrm>
            <a:off x="2032509" y="4443026"/>
            <a:ext cx="261610" cy="276999"/>
          </a:xfrm>
          <a:prstGeom prst="rect">
            <a:avLst/>
          </a:prstGeom>
          <a:noFill/>
        </p:spPr>
        <p:txBody>
          <a:bodyPr wrap="none" rtlCol="0">
            <a:spAutoFit/>
          </a:bodyPr>
          <a:lstStyle/>
          <a:p>
            <a:r>
              <a:rPr lang="en-US" altLang="zh-CN" sz="1200" b="1" dirty="0">
                <a:solidFill>
                  <a:srgbClr val="002060"/>
                </a:solidFill>
                <a:latin typeface="Times New Roman" panose="02020603050405020304" pitchFamily="18" charset="0"/>
                <a:cs typeface="Times New Roman" panose="02020603050405020304" pitchFamily="18" charset="0"/>
              </a:rPr>
              <a:t>2</a:t>
            </a:r>
            <a:endParaRPr lang="zh-CN" altLang="en-US" sz="1200" b="1" dirty="0">
              <a:solidFill>
                <a:srgbClr val="00206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34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2268538" y="4149725"/>
            <a:ext cx="3889375" cy="1016000"/>
          </a:xfrm>
          <a:prstGeom prst="rect">
            <a:avLst/>
          </a:prstGeom>
          <a:noFill/>
          <a:ln w="9525">
            <a:noFill/>
            <a:miter lim="800000"/>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rPr>
              <a:t>因此</a:t>
            </a:r>
            <a:r>
              <a:rPr lang="en-US" altLang="zh-CN" sz="2400" b="1">
                <a:solidFill>
                  <a:srgbClr val="000000"/>
                </a:solidFill>
                <a:latin typeface="Times New Roman" panose="02020603050405020304" pitchFamily="18" charset="0"/>
              </a:rPr>
              <a:t>,</a:t>
            </a:r>
          </a:p>
          <a:p>
            <a:pPr fontAlgn="base">
              <a:spcBef>
                <a:spcPct val="50000"/>
              </a:spcBef>
              <a:spcAft>
                <a:spcPct val="0"/>
              </a:spcAft>
            </a:pPr>
            <a:r>
              <a:rPr lang="en-US" altLang="zh-CN" sz="2400" b="1">
                <a:solidFill>
                  <a:srgbClr val="000000"/>
                </a:solidFill>
                <a:latin typeface="Times New Roman" panose="02020603050405020304" pitchFamily="18" charset="0"/>
              </a:rPr>
              <a:t>               </a:t>
            </a:r>
            <a:r>
              <a:rPr lang="en-US" altLang="zh-CN" sz="2400" b="1" i="1">
                <a:solidFill>
                  <a:srgbClr val="000000"/>
                </a:solidFill>
                <a:latin typeface="Century Schoolbook" pitchFamily="18" charset="0"/>
              </a:rPr>
              <a:t>v</a:t>
            </a:r>
            <a:r>
              <a:rPr lang="en-US" altLang="zh-CN" sz="2400" b="1" i="1" baseline="-25000">
                <a:solidFill>
                  <a:srgbClr val="000000"/>
                </a:solidFill>
                <a:latin typeface="Century Schoolbook" pitchFamily="18" charset="0"/>
              </a:rPr>
              <a:t>x</a:t>
            </a: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a:t>
            </a:r>
            <a:r>
              <a:rPr lang="en-US" altLang="zh-CN" sz="2400" b="1" i="1">
                <a:solidFill>
                  <a:srgbClr val="000000"/>
                </a:solidFill>
                <a:latin typeface="Century Schoolbook" pitchFamily="18" charset="0"/>
              </a:rPr>
              <a:t>i=</a:t>
            </a:r>
            <a:r>
              <a:rPr lang="en-US" altLang="zh-CN" sz="2400" b="1">
                <a:solidFill>
                  <a:srgbClr val="000000"/>
                </a:solidFill>
                <a:latin typeface="Times New Roman" panose="02020603050405020304" pitchFamily="18" charset="0"/>
              </a:rPr>
              <a:t>7.5V.</a:t>
            </a:r>
            <a:endParaRPr lang="en-US" altLang="zh-CN" sz="2400" b="1" baseline="-25000">
              <a:solidFill>
                <a:srgbClr val="000000"/>
              </a:solidFill>
              <a:latin typeface="Century Schoolbook" pitchFamily="18" charset="0"/>
            </a:endParaRPr>
          </a:p>
        </p:txBody>
      </p:sp>
      <p:graphicFrame>
        <p:nvGraphicFramePr>
          <p:cNvPr id="27651" name="Object 6"/>
          <p:cNvGraphicFramePr>
            <a:graphicFrameLocks noChangeAspect="1"/>
          </p:cNvGraphicFramePr>
          <p:nvPr/>
        </p:nvGraphicFramePr>
        <p:xfrm>
          <a:off x="1979613" y="2492375"/>
          <a:ext cx="4752975" cy="466725"/>
        </p:xfrm>
        <a:graphic>
          <a:graphicData uri="http://schemas.openxmlformats.org/presentationml/2006/ole">
            <mc:AlternateContent xmlns:mc="http://schemas.openxmlformats.org/markup-compatibility/2006">
              <mc:Choice xmlns:v="urn:schemas-microsoft-com:vml" Requires="v">
                <p:oleObj spid="_x0000_s20487" name="公式" r:id="rId3" imgW="55778400" imgH="5486400" progId="">
                  <p:embed/>
                </p:oleObj>
              </mc:Choice>
              <mc:Fallback>
                <p:oleObj name="公式" r:id="rId3" imgW="55778400" imgH="5486400" progId="">
                  <p:embed/>
                  <p:pic>
                    <p:nvPicPr>
                      <p:cNvPr id="0" name="图片 20480"/>
                      <p:cNvPicPr>
                        <a:picLocks noChangeAspect="1"/>
                      </p:cNvPicPr>
                      <p:nvPr/>
                    </p:nvPicPr>
                    <p:blipFill>
                      <a:blip r:embed="rId4"/>
                      <a:stretch>
                        <a:fillRect/>
                      </a:stretch>
                    </p:blipFill>
                    <p:spPr>
                      <a:xfrm>
                        <a:off x="1979613" y="2492375"/>
                        <a:ext cx="4752975" cy="466725"/>
                      </a:xfrm>
                      <a:prstGeom prst="rect">
                        <a:avLst/>
                      </a:prstGeom>
                      <a:noFill/>
                      <a:ln w="9525">
                        <a:noFill/>
                      </a:ln>
                    </p:spPr>
                  </p:pic>
                </p:oleObj>
              </mc:Fallback>
            </mc:AlternateContent>
          </a:graphicData>
        </a:graphic>
      </p:graphicFrame>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35</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36</a:t>
            </a:fld>
            <a:endParaRPr lang="en-US" altLang="zh-CN">
              <a:solidFill>
                <a:srgbClr val="000000"/>
              </a:solidFill>
            </a:endParaRPr>
          </a:p>
        </p:txBody>
      </p:sp>
      <p:pic>
        <p:nvPicPr>
          <p:cNvPr id="5" name="内容占位符 4"/>
          <p:cNvPicPr>
            <a:picLocks noGrp="1" noChangeAspect="1"/>
          </p:cNvPicPr>
          <p:nvPr>
            <p:ph idx="1"/>
          </p:nvPr>
        </p:nvPicPr>
        <p:blipFill>
          <a:blip r:embed="rId3"/>
          <a:stretch>
            <a:fillRect/>
          </a:stretch>
        </p:blipFill>
        <p:spPr>
          <a:xfrm>
            <a:off x="539750" y="981075"/>
            <a:ext cx="6652260" cy="510540"/>
          </a:xfrm>
          <a:prstGeom prst="rect">
            <a:avLst/>
          </a:prstGeom>
        </p:spPr>
      </p:pic>
      <p:pic>
        <p:nvPicPr>
          <p:cNvPr id="6" name="图片 5"/>
          <p:cNvPicPr>
            <a:picLocks noChangeAspect="1"/>
          </p:cNvPicPr>
          <p:nvPr/>
        </p:nvPicPr>
        <p:blipFill>
          <a:blip r:embed="rId4"/>
          <a:stretch>
            <a:fillRect/>
          </a:stretch>
        </p:blipFill>
        <p:spPr>
          <a:xfrm>
            <a:off x="4572000" y="1491615"/>
            <a:ext cx="4038600" cy="2148840"/>
          </a:xfrm>
          <a:prstGeom prst="rect">
            <a:avLst/>
          </a:prstGeom>
        </p:spPr>
      </p:pic>
      <p:sp>
        <p:nvSpPr>
          <p:cNvPr id="7" name="文本框 6"/>
          <p:cNvSpPr txBox="1"/>
          <p:nvPr/>
        </p:nvSpPr>
        <p:spPr>
          <a:xfrm>
            <a:off x="452755" y="1697355"/>
            <a:ext cx="3903345" cy="2306955"/>
          </a:xfrm>
          <a:prstGeom prst="rect">
            <a:avLst/>
          </a:prstGeom>
          <a:noFill/>
        </p:spPr>
        <p:txBody>
          <a:bodyPr wrap="square" rtlCol="0">
            <a:spAutoFit/>
          </a:bodyPr>
          <a:lstStyle/>
          <a:p>
            <a:r>
              <a:rPr lang="zh-CN" altLang="en-US"/>
              <a:t>解：</a:t>
            </a:r>
            <a:r>
              <a:rPr lang="en-US" altLang="zh-CN"/>
              <a:t>24mA||10</a:t>
            </a:r>
            <a:r>
              <a:rPr lang="en-US" altLang="zh-CN">
                <a:latin typeface="Arial" panose="020B0604020202020204" pitchFamily="34" charset="0"/>
                <a:cs typeface="Arial" panose="020B0604020202020204" pitchFamily="34" charset="0"/>
              </a:rPr>
              <a:t>Ʊ=0.24V+10Ʊ</a:t>
            </a:r>
          </a:p>
          <a:p>
            <a:endParaRPr lang="en-US" altLang="zh-CN">
              <a:latin typeface="Arial" panose="020B0604020202020204" pitchFamily="34" charset="0"/>
              <a:cs typeface="Arial" panose="020B0604020202020204" pitchFamily="34" charset="0"/>
            </a:endParaRPr>
          </a:p>
          <a:p>
            <a:r>
              <a:rPr lang="zh-CN" altLang="en-US">
                <a:latin typeface="Arial" panose="020B0604020202020204" pitchFamily="34" charset="0"/>
                <a:cs typeface="Arial" panose="020B0604020202020204" pitchFamily="34" charset="0"/>
              </a:rPr>
              <a:t>左：</a:t>
            </a:r>
            <a:r>
              <a:rPr lang="en-US" altLang="zh-CN">
                <a:latin typeface="Arial" panose="020B0604020202020204" pitchFamily="34" charset="0"/>
                <a:cs typeface="Arial" panose="020B0604020202020204" pitchFamily="34" charset="0"/>
              </a:rPr>
              <a:t>10i+Vx-0.24=0</a:t>
            </a:r>
          </a:p>
          <a:p>
            <a:r>
              <a:rPr lang="zh-CN" altLang="en-US">
                <a:latin typeface="Arial" panose="020B0604020202020204" pitchFamily="34" charset="0"/>
                <a:cs typeface="Arial" panose="020B0604020202020204" pitchFamily="34" charset="0"/>
              </a:rPr>
              <a:t>右：</a:t>
            </a:r>
            <a:r>
              <a:rPr lang="en-US" altLang="zh-CN">
                <a:latin typeface="Arial" panose="020B0604020202020204" pitchFamily="34" charset="0"/>
                <a:cs typeface="Arial" panose="020B0604020202020204" pitchFamily="34" charset="0"/>
              </a:rPr>
              <a:t>5i-2Ix-Vx=0</a:t>
            </a:r>
          </a:p>
          <a:p>
            <a:r>
              <a:rPr lang="en-US" altLang="zh-CN">
                <a:latin typeface="Arial" panose="020B0604020202020204" pitchFamily="34" charset="0"/>
                <a:cs typeface="Arial" panose="020B0604020202020204" pitchFamily="34" charset="0"/>
              </a:rPr>
              <a:t>      Ix=Vx/10</a:t>
            </a:r>
          </a:p>
          <a:p>
            <a:r>
              <a:rPr lang="zh-CN" altLang="en-US">
                <a:latin typeface="Arial" panose="020B0604020202020204" pitchFamily="34" charset="0"/>
                <a:cs typeface="Arial" panose="020B0604020202020204" pitchFamily="34" charset="0"/>
              </a:rPr>
              <a:t>大环：</a:t>
            </a:r>
            <a:r>
              <a:rPr lang="en-US" altLang="zh-CN">
                <a:latin typeface="Arial" panose="020B0604020202020204" pitchFamily="34" charset="0"/>
                <a:cs typeface="Arial" panose="020B0604020202020204" pitchFamily="34" charset="0"/>
              </a:rPr>
              <a:t>15*I -2*Ix-0.24=0</a:t>
            </a:r>
          </a:p>
          <a:p>
            <a:endParaRPr lang="en-US" altLang="zh-CN">
              <a:latin typeface="Arial" panose="020B0604020202020204" pitchFamily="34" charset="0"/>
              <a:cs typeface="Arial" panose="020B0604020202020204" pitchFamily="34" charset="0"/>
            </a:endParaRPr>
          </a:p>
          <a:p>
            <a:r>
              <a:rPr lang="zh-CN" altLang="en-US">
                <a:latin typeface="Arial" panose="020B0604020202020204" pitchFamily="34" charset="0"/>
                <a:cs typeface="Arial" panose="020B0604020202020204" pitchFamily="34" charset="0"/>
              </a:rPr>
              <a:t>解得：</a:t>
            </a:r>
            <a:r>
              <a:rPr lang="en-US" altLang="zh-CN">
                <a:latin typeface="Arial" panose="020B0604020202020204" pitchFamily="34" charset="0"/>
                <a:cs typeface="Arial" panose="020B0604020202020204" pitchFamily="34" charset="0"/>
              </a:rPr>
              <a:t>Ix=7.059  (mA  )</a:t>
            </a:r>
          </a:p>
        </p:txBody>
      </p:sp>
      <p:graphicFrame>
        <p:nvGraphicFramePr>
          <p:cNvPr id="10" name="对象 9"/>
          <p:cNvGraphicFramePr>
            <a:graphicFrameLocks noChangeAspect="1"/>
          </p:cNvGraphicFramePr>
          <p:nvPr/>
        </p:nvGraphicFramePr>
        <p:xfrm>
          <a:off x="4499610" y="3573145"/>
          <a:ext cx="4407535" cy="1891030"/>
        </p:xfrm>
        <a:graphic>
          <a:graphicData uri="http://schemas.openxmlformats.org/presentationml/2006/ole">
            <mc:AlternateContent xmlns:mc="http://schemas.openxmlformats.org/markup-compatibility/2006">
              <mc:Choice xmlns:v="urn:schemas-microsoft-com:vml" Requires="v">
                <p:oleObj spid="_x0000_s21511" r:id="rId5" imgW="4404360" imgH="1889760" progId="PBrush">
                  <p:embed/>
                </p:oleObj>
              </mc:Choice>
              <mc:Fallback>
                <p:oleObj r:id="rId5" imgW="4404360" imgH="1889760" progId="PBrush">
                  <p:embed/>
                  <p:pic>
                    <p:nvPicPr>
                      <p:cNvPr id="0" name="图片 21504"/>
                      <p:cNvPicPr>
                        <a:picLocks noChangeAspect="1"/>
                      </p:cNvPicPr>
                      <p:nvPr/>
                    </p:nvPicPr>
                    <p:blipFill>
                      <a:blip r:embed="rId6"/>
                      <a:stretch>
                        <a:fillRect/>
                      </a:stretch>
                    </p:blipFill>
                    <p:spPr>
                      <a:xfrm>
                        <a:off x="4499610" y="3573145"/>
                        <a:ext cx="4407535" cy="189103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23850" y="333375"/>
            <a:ext cx="8229600" cy="884238"/>
          </a:xfrm>
        </p:spPr>
        <p:txBody>
          <a:bodyPr/>
          <a:lstStyle/>
          <a:p>
            <a:pPr eaLnBrk="1" hangingPunct="1"/>
            <a:r>
              <a:rPr lang="en-US" altLang="zh-CN" sz="4000" dirty="0">
                <a:solidFill>
                  <a:srgbClr val="0000FF"/>
                </a:solidFill>
                <a:latin typeface="Franklin Gothic Medium" panose="020B0603020102020204" pitchFamily="34" charset="0"/>
              </a:rPr>
              <a:t>4.5   </a:t>
            </a:r>
            <a:r>
              <a:rPr lang="zh-CN" altLang="en-US" sz="3600" b="1" dirty="0">
                <a:solidFill>
                  <a:srgbClr val="0000FF"/>
                </a:solidFill>
                <a:latin typeface="Franklin Gothic Medium" panose="020B0603020102020204" pitchFamily="34" charset="0"/>
              </a:rPr>
              <a:t>戴维南定理</a:t>
            </a:r>
            <a:endParaRPr lang="en-US" altLang="zh-CN" sz="2800" b="1" dirty="0">
              <a:solidFill>
                <a:srgbClr val="0000FF"/>
              </a:solidFill>
              <a:latin typeface="Franklin Gothic Medium" panose="020B0603020102020204" pitchFamily="34" charset="0"/>
            </a:endParaRPr>
          </a:p>
        </p:txBody>
      </p:sp>
      <p:sp>
        <p:nvSpPr>
          <p:cNvPr id="28675" name="Text Box 3"/>
          <p:cNvSpPr txBox="1">
            <a:spLocks noChangeArrowheads="1"/>
          </p:cNvSpPr>
          <p:nvPr/>
        </p:nvSpPr>
        <p:spPr bwMode="auto">
          <a:xfrm>
            <a:off x="827088" y="1700213"/>
            <a:ext cx="7489825" cy="954087"/>
          </a:xfrm>
          <a:prstGeom prst="rect">
            <a:avLst/>
          </a:prstGeom>
          <a:noFill/>
          <a:ln w="9525">
            <a:noFill/>
            <a:miter lim="800000"/>
          </a:ln>
        </p:spPr>
        <p:txBody>
          <a:bodyPr>
            <a:spAutoFit/>
          </a:bodyPr>
          <a:lstStyle/>
          <a:p>
            <a:pPr marL="342900" indent="-342900" fontAlgn="base">
              <a:spcBef>
                <a:spcPct val="50000"/>
              </a:spcBef>
              <a:spcAft>
                <a:spcPct val="0"/>
              </a:spcAft>
              <a:buFont typeface="Wingdings" panose="05000000000000000000" pitchFamily="2" charset="2"/>
              <a:buChar char="n"/>
            </a:pPr>
            <a:r>
              <a:rPr lang="zh-CN" altLang="en-US" sz="2400" b="1" dirty="0">
                <a:solidFill>
                  <a:srgbClr val="000000"/>
                </a:solidFill>
                <a:latin typeface="Times New Roman" panose="02020603050405020304" pitchFamily="18" charset="0"/>
              </a:rPr>
              <a:t>在实践中经常发生这样的情况</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电路中的某个特定元件是可变的</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通常称为</a:t>
            </a:r>
            <a:r>
              <a:rPr lang="zh-CN" altLang="en-US" sz="2400" b="1" dirty="0">
                <a:solidFill>
                  <a:schemeClr val="bg2"/>
                </a:solidFill>
                <a:latin typeface="黑体" panose="02010609060101010101" pitchFamily="49" charset="-122"/>
                <a:ea typeface="黑体" panose="02010609060101010101" pitchFamily="49" charset="-122"/>
              </a:rPr>
              <a:t>负载</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，而其他元件是固定的</a:t>
            </a:r>
            <a:r>
              <a:rPr lang="zh-CN" altLang="en-US" sz="3200" dirty="0">
                <a:solidFill>
                  <a:srgbClr val="000000"/>
                </a:solidFill>
              </a:rPr>
              <a:t>。</a:t>
            </a:r>
            <a:endParaRPr lang="en-US" altLang="zh-CN" sz="2400" b="1" dirty="0">
              <a:solidFill>
                <a:srgbClr val="000000"/>
              </a:solidFill>
            </a:endParaRPr>
          </a:p>
        </p:txBody>
      </p:sp>
      <p:sp>
        <p:nvSpPr>
          <p:cNvPr id="28676" name="Text Box 4"/>
          <p:cNvSpPr txBox="1">
            <a:spLocks noChangeArrowheads="1"/>
          </p:cNvSpPr>
          <p:nvPr/>
        </p:nvSpPr>
        <p:spPr bwMode="auto">
          <a:xfrm>
            <a:off x="827088" y="3141663"/>
            <a:ext cx="7633344" cy="830262"/>
          </a:xfrm>
          <a:prstGeom prst="rect">
            <a:avLst/>
          </a:prstGeom>
          <a:noFill/>
          <a:ln w="9525">
            <a:noFill/>
            <a:miter lim="800000"/>
          </a:ln>
        </p:spPr>
        <p:txBody>
          <a:bodyPr wrap="square">
            <a:spAutoFit/>
          </a:bodyPr>
          <a:lstStyle/>
          <a:p>
            <a:pPr marL="342900" indent="-342900" fontAlgn="base">
              <a:spcBef>
                <a:spcPct val="50000"/>
              </a:spcBef>
              <a:spcAft>
                <a:spcPct val="0"/>
              </a:spcAft>
              <a:buFont typeface="Wingdings" panose="05000000000000000000" pitchFamily="2" charset="2"/>
              <a:buChar char="n"/>
            </a:pPr>
            <a:r>
              <a:rPr lang="zh-CN" altLang="en-US" sz="2400" b="1" dirty="0">
                <a:solidFill>
                  <a:srgbClr val="FF0000"/>
                </a:solidFill>
                <a:latin typeface="Times New Roman" panose="02020603050405020304" pitchFamily="18" charset="0"/>
              </a:rPr>
              <a:t>戴维南定理</a:t>
            </a:r>
            <a:r>
              <a:rPr lang="zh-CN" altLang="en-US" sz="2400" b="1" dirty="0">
                <a:solidFill>
                  <a:srgbClr val="000000"/>
                </a:solidFill>
                <a:latin typeface="Times New Roman" panose="02020603050405020304" pitchFamily="18" charset="0"/>
              </a:rPr>
              <a:t>提供了一种用等效电路代替</a:t>
            </a:r>
            <a:r>
              <a:rPr lang="zh-CN" altLang="en-US" sz="2400" b="1" dirty="0">
                <a:solidFill>
                  <a:schemeClr val="bg2"/>
                </a:solidFill>
                <a:latin typeface="Times New Roman" panose="02020603050405020304" pitchFamily="18" charset="0"/>
              </a:rPr>
              <a:t>电路固定部分</a:t>
            </a:r>
            <a:r>
              <a:rPr lang="zh-CN" altLang="en-US" sz="2400" b="1" dirty="0">
                <a:solidFill>
                  <a:srgbClr val="000000"/>
                </a:solidFill>
                <a:latin typeface="Times New Roman" panose="02020603050405020304" pitchFamily="18" charset="0"/>
              </a:rPr>
              <a:t>的方法。</a:t>
            </a:r>
            <a:endParaRPr lang="en-US" altLang="zh-CN" sz="2400" b="1" dirty="0">
              <a:solidFill>
                <a:srgbClr val="000000"/>
              </a:solidFill>
              <a:latin typeface="Times New Roman" panose="02020603050405020304" pitchFamily="18" charset="0"/>
            </a:endParaRPr>
          </a:p>
        </p:txBody>
      </p:sp>
      <p:pic>
        <p:nvPicPr>
          <p:cNvPr id="28677" name="Picture 5"/>
          <p:cNvPicPr>
            <a:picLocks noChangeAspect="1" noChangeArrowheads="1"/>
          </p:cNvPicPr>
          <p:nvPr/>
        </p:nvPicPr>
        <p:blipFill>
          <a:blip r:embed="rId3" cstate="print"/>
          <a:srcRect/>
          <a:stretch>
            <a:fillRect/>
          </a:stretch>
        </p:blipFill>
        <p:spPr bwMode="auto">
          <a:xfrm>
            <a:off x="1907704" y="4112291"/>
            <a:ext cx="5544790" cy="2412334"/>
          </a:xfrm>
          <a:prstGeom prst="rect">
            <a:avLst/>
          </a:prstGeom>
          <a:noFill/>
          <a:ln w="9525">
            <a:noFill/>
            <a:miter lim="800000"/>
            <a:headEnd/>
            <a:tailEnd/>
          </a:ln>
        </p:spPr>
      </p:pic>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37</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bwMode="auto">
          <a:xfrm>
            <a:off x="4233898" y="800205"/>
            <a:ext cx="3721386" cy="1906137"/>
            <a:chOff x="1145" y="292"/>
            <a:chExt cx="3570" cy="1754"/>
          </a:xfrm>
        </p:grpSpPr>
        <p:sp>
          <p:nvSpPr>
            <p:cNvPr id="29770" name="Freeform 3"/>
            <p:cNvSpPr>
              <a:spLocks noChangeAspect="1"/>
            </p:cNvSpPr>
            <p:nvPr/>
          </p:nvSpPr>
          <p:spPr bwMode="auto">
            <a:xfrm>
              <a:off x="2640" y="478"/>
              <a:ext cx="1" cy="1052"/>
            </a:xfrm>
            <a:custGeom>
              <a:avLst/>
              <a:gdLst>
                <a:gd name="T0" fmla="*/ 0 w 1"/>
                <a:gd name="T1" fmla="*/ 1052 h 1052"/>
                <a:gd name="T2" fmla="*/ 0 w 1"/>
                <a:gd name="T3" fmla="*/ 0 h 1052"/>
                <a:gd name="T4" fmla="*/ 0 w 1"/>
                <a:gd name="T5" fmla="*/ 1052 h 1052"/>
                <a:gd name="T6" fmla="*/ 0 w 1"/>
                <a:gd name="T7" fmla="*/ 1052 h 1052"/>
                <a:gd name="T8" fmla="*/ 0 60000 65536"/>
                <a:gd name="T9" fmla="*/ 0 60000 65536"/>
                <a:gd name="T10" fmla="*/ 0 60000 65536"/>
                <a:gd name="T11" fmla="*/ 0 60000 65536"/>
                <a:gd name="T12" fmla="*/ 0 w 1"/>
                <a:gd name="T13" fmla="*/ 0 h 1052"/>
                <a:gd name="T14" fmla="*/ 1 w 1"/>
                <a:gd name="T15" fmla="*/ 1052 h 1052"/>
              </a:gdLst>
              <a:ahLst/>
              <a:cxnLst>
                <a:cxn ang="T8">
                  <a:pos x="T0" y="T1"/>
                </a:cxn>
                <a:cxn ang="T9">
                  <a:pos x="T2" y="T3"/>
                </a:cxn>
                <a:cxn ang="T10">
                  <a:pos x="T4" y="T5"/>
                </a:cxn>
                <a:cxn ang="T11">
                  <a:pos x="T6" y="T7"/>
                </a:cxn>
              </a:cxnLst>
              <a:rect l="T12" t="T13" r="T14" b="T15"/>
              <a:pathLst>
                <a:path w="1" h="1052">
                  <a:moveTo>
                    <a:pt x="0" y="1052"/>
                  </a:moveTo>
                  <a:lnTo>
                    <a:pt x="0" y="0"/>
                  </a:lnTo>
                  <a:lnTo>
                    <a:pt x="0" y="1052"/>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1" name="Freeform 4"/>
            <p:cNvSpPr>
              <a:spLocks noChangeAspect="1" noEditPoints="1"/>
            </p:cNvSpPr>
            <p:nvPr/>
          </p:nvSpPr>
          <p:spPr bwMode="auto">
            <a:xfrm>
              <a:off x="1145" y="478"/>
              <a:ext cx="1495" cy="1"/>
            </a:xfrm>
            <a:custGeom>
              <a:avLst/>
              <a:gdLst>
                <a:gd name="T0" fmla="*/ 1495 w 1495"/>
                <a:gd name="T1" fmla="*/ 0 h 1"/>
                <a:gd name="T2" fmla="*/ 0 w 1495"/>
                <a:gd name="T3" fmla="*/ 0 h 1"/>
                <a:gd name="T4" fmla="*/ 1495 w 1495"/>
                <a:gd name="T5" fmla="*/ 0 h 1"/>
                <a:gd name="T6" fmla="*/ 1495 w 1495"/>
                <a:gd name="T7" fmla="*/ 0 h 1"/>
                <a:gd name="T8" fmla="*/ 1495 w 1495"/>
                <a:gd name="T9" fmla="*/ 0 h 1"/>
                <a:gd name="T10" fmla="*/ 1495 w 1495"/>
                <a:gd name="T11" fmla="*/ 0 h 1"/>
                <a:gd name="T12" fmla="*/ 1495 w 1495"/>
                <a:gd name="T13" fmla="*/ 0 h 1"/>
                <a:gd name="T14" fmla="*/ 0 60000 65536"/>
                <a:gd name="T15" fmla="*/ 0 60000 65536"/>
                <a:gd name="T16" fmla="*/ 0 60000 65536"/>
                <a:gd name="T17" fmla="*/ 0 60000 65536"/>
                <a:gd name="T18" fmla="*/ 0 60000 65536"/>
                <a:gd name="T19" fmla="*/ 0 60000 65536"/>
                <a:gd name="T20" fmla="*/ 0 60000 65536"/>
                <a:gd name="T21" fmla="*/ 0 w 1495"/>
                <a:gd name="T22" fmla="*/ 0 h 1"/>
                <a:gd name="T23" fmla="*/ 1495 w 149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5" h="1">
                  <a:moveTo>
                    <a:pt x="1495" y="0"/>
                  </a:moveTo>
                  <a:lnTo>
                    <a:pt x="0" y="0"/>
                  </a:lnTo>
                  <a:lnTo>
                    <a:pt x="1495" y="0"/>
                  </a:lnTo>
                  <a:close/>
                  <a:moveTo>
                    <a:pt x="1495" y="0"/>
                  </a:moveTo>
                  <a:lnTo>
                    <a:pt x="149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2" name="Freeform 5"/>
            <p:cNvSpPr>
              <a:spLocks noChangeAspect="1" noEditPoints="1"/>
            </p:cNvSpPr>
            <p:nvPr/>
          </p:nvSpPr>
          <p:spPr bwMode="auto">
            <a:xfrm>
              <a:off x="1145" y="478"/>
              <a:ext cx="1" cy="1052"/>
            </a:xfrm>
            <a:custGeom>
              <a:avLst/>
              <a:gdLst>
                <a:gd name="T0" fmla="*/ 0 w 1"/>
                <a:gd name="T1" fmla="*/ 0 h 1052"/>
                <a:gd name="T2" fmla="*/ 0 w 1"/>
                <a:gd name="T3" fmla="*/ 1052 h 1052"/>
                <a:gd name="T4" fmla="*/ 0 w 1"/>
                <a:gd name="T5" fmla="*/ 0 h 1052"/>
                <a:gd name="T6" fmla="*/ 0 w 1"/>
                <a:gd name="T7" fmla="*/ 0 h 1052"/>
                <a:gd name="T8" fmla="*/ 0 w 1"/>
                <a:gd name="T9" fmla="*/ 0 h 1052"/>
                <a:gd name="T10" fmla="*/ 0 w 1"/>
                <a:gd name="T11" fmla="*/ 0 h 1052"/>
                <a:gd name="T12" fmla="*/ 0 w 1"/>
                <a:gd name="T13" fmla="*/ 0 h 1052"/>
                <a:gd name="T14" fmla="*/ 0 60000 65536"/>
                <a:gd name="T15" fmla="*/ 0 60000 65536"/>
                <a:gd name="T16" fmla="*/ 0 60000 65536"/>
                <a:gd name="T17" fmla="*/ 0 60000 65536"/>
                <a:gd name="T18" fmla="*/ 0 60000 65536"/>
                <a:gd name="T19" fmla="*/ 0 60000 65536"/>
                <a:gd name="T20" fmla="*/ 0 60000 65536"/>
                <a:gd name="T21" fmla="*/ 0 w 1"/>
                <a:gd name="T22" fmla="*/ 0 h 1052"/>
                <a:gd name="T23" fmla="*/ 1 w 1"/>
                <a:gd name="T24" fmla="*/ 1052 h 10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52">
                  <a:moveTo>
                    <a:pt x="0" y="0"/>
                  </a:moveTo>
                  <a:lnTo>
                    <a:pt x="0" y="1052"/>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3" name="Freeform 6"/>
            <p:cNvSpPr>
              <a:spLocks noChangeAspect="1" noEditPoints="1"/>
            </p:cNvSpPr>
            <p:nvPr/>
          </p:nvSpPr>
          <p:spPr bwMode="auto">
            <a:xfrm>
              <a:off x="1145" y="1530"/>
              <a:ext cx="1495" cy="1"/>
            </a:xfrm>
            <a:custGeom>
              <a:avLst/>
              <a:gdLst>
                <a:gd name="T0" fmla="*/ 0 w 1495"/>
                <a:gd name="T1" fmla="*/ 0 h 1"/>
                <a:gd name="T2" fmla="*/ 1495 w 1495"/>
                <a:gd name="T3" fmla="*/ 0 h 1"/>
                <a:gd name="T4" fmla="*/ 0 w 1495"/>
                <a:gd name="T5" fmla="*/ 0 h 1"/>
                <a:gd name="T6" fmla="*/ 0 w 1495"/>
                <a:gd name="T7" fmla="*/ 0 h 1"/>
                <a:gd name="T8" fmla="*/ 0 w 1495"/>
                <a:gd name="T9" fmla="*/ 0 h 1"/>
                <a:gd name="T10" fmla="*/ 0 w 1495"/>
                <a:gd name="T11" fmla="*/ 0 h 1"/>
                <a:gd name="T12" fmla="*/ 0 w 1495"/>
                <a:gd name="T13" fmla="*/ 0 h 1"/>
                <a:gd name="T14" fmla="*/ 0 60000 65536"/>
                <a:gd name="T15" fmla="*/ 0 60000 65536"/>
                <a:gd name="T16" fmla="*/ 0 60000 65536"/>
                <a:gd name="T17" fmla="*/ 0 60000 65536"/>
                <a:gd name="T18" fmla="*/ 0 60000 65536"/>
                <a:gd name="T19" fmla="*/ 0 60000 65536"/>
                <a:gd name="T20" fmla="*/ 0 60000 65536"/>
                <a:gd name="T21" fmla="*/ 0 w 1495"/>
                <a:gd name="T22" fmla="*/ 0 h 1"/>
                <a:gd name="T23" fmla="*/ 1495 w 149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5" h="1">
                  <a:moveTo>
                    <a:pt x="0" y="0"/>
                  </a:moveTo>
                  <a:lnTo>
                    <a:pt x="1495" y="0"/>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4" name="Freeform 7"/>
            <p:cNvSpPr>
              <a:spLocks noChangeAspect="1"/>
            </p:cNvSpPr>
            <p:nvPr/>
          </p:nvSpPr>
          <p:spPr bwMode="auto">
            <a:xfrm>
              <a:off x="2640" y="153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5" name="Freeform 8"/>
            <p:cNvSpPr>
              <a:spLocks noChangeAspect="1"/>
            </p:cNvSpPr>
            <p:nvPr/>
          </p:nvSpPr>
          <p:spPr bwMode="auto">
            <a:xfrm>
              <a:off x="2640" y="1393"/>
              <a:ext cx="1199" cy="1"/>
            </a:xfrm>
            <a:custGeom>
              <a:avLst/>
              <a:gdLst>
                <a:gd name="T0" fmla="*/ 0 w 1199"/>
                <a:gd name="T1" fmla="*/ 0 h 1"/>
                <a:gd name="T2" fmla="*/ 1199 w 1199"/>
                <a:gd name="T3" fmla="*/ 0 h 1"/>
                <a:gd name="T4" fmla="*/ 0 w 1199"/>
                <a:gd name="T5" fmla="*/ 0 h 1"/>
                <a:gd name="T6" fmla="*/ 0 w 1199"/>
                <a:gd name="T7" fmla="*/ 0 h 1"/>
                <a:gd name="T8" fmla="*/ 0 60000 65536"/>
                <a:gd name="T9" fmla="*/ 0 60000 65536"/>
                <a:gd name="T10" fmla="*/ 0 60000 65536"/>
                <a:gd name="T11" fmla="*/ 0 60000 65536"/>
                <a:gd name="T12" fmla="*/ 0 w 1199"/>
                <a:gd name="T13" fmla="*/ 0 h 1"/>
                <a:gd name="T14" fmla="*/ 1199 w 1199"/>
                <a:gd name="T15" fmla="*/ 1 h 1"/>
              </a:gdLst>
              <a:ahLst/>
              <a:cxnLst>
                <a:cxn ang="T8">
                  <a:pos x="T0" y="T1"/>
                </a:cxn>
                <a:cxn ang="T9">
                  <a:pos x="T2" y="T3"/>
                </a:cxn>
                <a:cxn ang="T10">
                  <a:pos x="T4" y="T5"/>
                </a:cxn>
                <a:cxn ang="T11">
                  <a:pos x="T6" y="T7"/>
                </a:cxn>
              </a:cxnLst>
              <a:rect l="T12" t="T13" r="T14" b="T15"/>
              <a:pathLst>
                <a:path w="1199" h="1">
                  <a:moveTo>
                    <a:pt x="0" y="0"/>
                  </a:moveTo>
                  <a:lnTo>
                    <a:pt x="1199"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6" name="Freeform 9"/>
            <p:cNvSpPr>
              <a:spLocks noChangeAspect="1"/>
            </p:cNvSpPr>
            <p:nvPr/>
          </p:nvSpPr>
          <p:spPr bwMode="auto">
            <a:xfrm>
              <a:off x="2640" y="622"/>
              <a:ext cx="1199" cy="1"/>
            </a:xfrm>
            <a:custGeom>
              <a:avLst/>
              <a:gdLst>
                <a:gd name="T0" fmla="*/ 1199 w 1199"/>
                <a:gd name="T1" fmla="*/ 0 h 1"/>
                <a:gd name="T2" fmla="*/ 0 w 1199"/>
                <a:gd name="T3" fmla="*/ 0 h 1"/>
                <a:gd name="T4" fmla="*/ 1199 w 1199"/>
                <a:gd name="T5" fmla="*/ 0 h 1"/>
                <a:gd name="T6" fmla="*/ 1199 w 1199"/>
                <a:gd name="T7" fmla="*/ 0 h 1"/>
                <a:gd name="T8" fmla="*/ 0 60000 65536"/>
                <a:gd name="T9" fmla="*/ 0 60000 65536"/>
                <a:gd name="T10" fmla="*/ 0 60000 65536"/>
                <a:gd name="T11" fmla="*/ 0 60000 65536"/>
                <a:gd name="T12" fmla="*/ 0 w 1199"/>
                <a:gd name="T13" fmla="*/ 0 h 1"/>
                <a:gd name="T14" fmla="*/ 1199 w 1199"/>
                <a:gd name="T15" fmla="*/ 1 h 1"/>
              </a:gdLst>
              <a:ahLst/>
              <a:cxnLst>
                <a:cxn ang="T8">
                  <a:pos x="T0" y="T1"/>
                </a:cxn>
                <a:cxn ang="T9">
                  <a:pos x="T2" y="T3"/>
                </a:cxn>
                <a:cxn ang="T10">
                  <a:pos x="T4" y="T5"/>
                </a:cxn>
                <a:cxn ang="T11">
                  <a:pos x="T6" y="T7"/>
                </a:cxn>
              </a:cxnLst>
              <a:rect l="T12" t="T13" r="T14" b="T15"/>
              <a:pathLst>
                <a:path w="1199" h="1">
                  <a:moveTo>
                    <a:pt x="1199" y="0"/>
                  </a:moveTo>
                  <a:lnTo>
                    <a:pt x="0" y="0"/>
                  </a:lnTo>
                  <a:lnTo>
                    <a:pt x="119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7" name="Freeform 35"/>
            <p:cNvSpPr>
              <a:spLocks noChangeAspect="1"/>
            </p:cNvSpPr>
            <p:nvPr/>
          </p:nvSpPr>
          <p:spPr bwMode="auto">
            <a:xfrm>
              <a:off x="4714" y="478"/>
              <a:ext cx="1" cy="1052"/>
            </a:xfrm>
            <a:custGeom>
              <a:avLst/>
              <a:gdLst>
                <a:gd name="T0" fmla="*/ 0 w 1"/>
                <a:gd name="T1" fmla="*/ 1052 h 1052"/>
                <a:gd name="T2" fmla="*/ 0 w 1"/>
                <a:gd name="T3" fmla="*/ 0 h 1052"/>
                <a:gd name="T4" fmla="*/ 0 w 1"/>
                <a:gd name="T5" fmla="*/ 1052 h 1052"/>
                <a:gd name="T6" fmla="*/ 0 w 1"/>
                <a:gd name="T7" fmla="*/ 1052 h 1052"/>
                <a:gd name="T8" fmla="*/ 0 60000 65536"/>
                <a:gd name="T9" fmla="*/ 0 60000 65536"/>
                <a:gd name="T10" fmla="*/ 0 60000 65536"/>
                <a:gd name="T11" fmla="*/ 0 60000 65536"/>
                <a:gd name="T12" fmla="*/ 0 w 1"/>
                <a:gd name="T13" fmla="*/ 0 h 1052"/>
                <a:gd name="T14" fmla="*/ 1 w 1"/>
                <a:gd name="T15" fmla="*/ 1052 h 1052"/>
              </a:gdLst>
              <a:ahLst/>
              <a:cxnLst>
                <a:cxn ang="T8">
                  <a:pos x="T0" y="T1"/>
                </a:cxn>
                <a:cxn ang="T9">
                  <a:pos x="T2" y="T3"/>
                </a:cxn>
                <a:cxn ang="T10">
                  <a:pos x="T4" y="T5"/>
                </a:cxn>
                <a:cxn ang="T11">
                  <a:pos x="T6" y="T7"/>
                </a:cxn>
              </a:cxnLst>
              <a:rect l="T12" t="T13" r="T14" b="T15"/>
              <a:pathLst>
                <a:path w="1" h="1052">
                  <a:moveTo>
                    <a:pt x="0" y="1052"/>
                  </a:moveTo>
                  <a:lnTo>
                    <a:pt x="0" y="0"/>
                  </a:lnTo>
                  <a:lnTo>
                    <a:pt x="0" y="1052"/>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8" name="Freeform 36"/>
            <p:cNvSpPr>
              <a:spLocks noChangeAspect="1" noEditPoints="1"/>
            </p:cNvSpPr>
            <p:nvPr/>
          </p:nvSpPr>
          <p:spPr bwMode="auto">
            <a:xfrm>
              <a:off x="3839" y="478"/>
              <a:ext cx="875" cy="1"/>
            </a:xfrm>
            <a:custGeom>
              <a:avLst/>
              <a:gdLst>
                <a:gd name="T0" fmla="*/ 875 w 875"/>
                <a:gd name="T1" fmla="*/ 0 h 1"/>
                <a:gd name="T2" fmla="*/ 0 w 875"/>
                <a:gd name="T3" fmla="*/ 0 h 1"/>
                <a:gd name="T4" fmla="*/ 875 w 875"/>
                <a:gd name="T5" fmla="*/ 0 h 1"/>
                <a:gd name="T6" fmla="*/ 875 w 875"/>
                <a:gd name="T7" fmla="*/ 0 h 1"/>
                <a:gd name="T8" fmla="*/ 875 w 875"/>
                <a:gd name="T9" fmla="*/ 0 h 1"/>
                <a:gd name="T10" fmla="*/ 875 w 875"/>
                <a:gd name="T11" fmla="*/ 0 h 1"/>
                <a:gd name="T12" fmla="*/ 875 w 875"/>
                <a:gd name="T13" fmla="*/ 0 h 1"/>
                <a:gd name="T14" fmla="*/ 0 60000 65536"/>
                <a:gd name="T15" fmla="*/ 0 60000 65536"/>
                <a:gd name="T16" fmla="*/ 0 60000 65536"/>
                <a:gd name="T17" fmla="*/ 0 60000 65536"/>
                <a:gd name="T18" fmla="*/ 0 60000 65536"/>
                <a:gd name="T19" fmla="*/ 0 60000 65536"/>
                <a:gd name="T20" fmla="*/ 0 60000 65536"/>
                <a:gd name="T21" fmla="*/ 0 w 875"/>
                <a:gd name="T22" fmla="*/ 0 h 1"/>
                <a:gd name="T23" fmla="*/ 875 w 87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5" h="1">
                  <a:moveTo>
                    <a:pt x="875" y="0"/>
                  </a:moveTo>
                  <a:lnTo>
                    <a:pt x="0" y="0"/>
                  </a:lnTo>
                  <a:lnTo>
                    <a:pt x="875" y="0"/>
                  </a:lnTo>
                  <a:close/>
                  <a:moveTo>
                    <a:pt x="875" y="0"/>
                  </a:moveTo>
                  <a:lnTo>
                    <a:pt x="87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79" name="Freeform 37"/>
            <p:cNvSpPr>
              <a:spLocks noChangeAspect="1" noEditPoints="1"/>
            </p:cNvSpPr>
            <p:nvPr/>
          </p:nvSpPr>
          <p:spPr bwMode="auto">
            <a:xfrm>
              <a:off x="3839" y="478"/>
              <a:ext cx="1" cy="1052"/>
            </a:xfrm>
            <a:custGeom>
              <a:avLst/>
              <a:gdLst>
                <a:gd name="T0" fmla="*/ 0 w 1"/>
                <a:gd name="T1" fmla="*/ 0 h 1052"/>
                <a:gd name="T2" fmla="*/ 0 w 1"/>
                <a:gd name="T3" fmla="*/ 1052 h 1052"/>
                <a:gd name="T4" fmla="*/ 0 w 1"/>
                <a:gd name="T5" fmla="*/ 0 h 1052"/>
                <a:gd name="T6" fmla="*/ 0 w 1"/>
                <a:gd name="T7" fmla="*/ 0 h 1052"/>
                <a:gd name="T8" fmla="*/ 0 w 1"/>
                <a:gd name="T9" fmla="*/ 0 h 1052"/>
                <a:gd name="T10" fmla="*/ 0 w 1"/>
                <a:gd name="T11" fmla="*/ 0 h 1052"/>
                <a:gd name="T12" fmla="*/ 0 w 1"/>
                <a:gd name="T13" fmla="*/ 0 h 1052"/>
                <a:gd name="T14" fmla="*/ 0 60000 65536"/>
                <a:gd name="T15" fmla="*/ 0 60000 65536"/>
                <a:gd name="T16" fmla="*/ 0 60000 65536"/>
                <a:gd name="T17" fmla="*/ 0 60000 65536"/>
                <a:gd name="T18" fmla="*/ 0 60000 65536"/>
                <a:gd name="T19" fmla="*/ 0 60000 65536"/>
                <a:gd name="T20" fmla="*/ 0 60000 65536"/>
                <a:gd name="T21" fmla="*/ 0 w 1"/>
                <a:gd name="T22" fmla="*/ 0 h 1052"/>
                <a:gd name="T23" fmla="*/ 1 w 1"/>
                <a:gd name="T24" fmla="*/ 1052 h 10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52">
                  <a:moveTo>
                    <a:pt x="0" y="0"/>
                  </a:moveTo>
                  <a:lnTo>
                    <a:pt x="0" y="1052"/>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0" name="Freeform 38"/>
            <p:cNvSpPr>
              <a:spLocks noChangeAspect="1" noEditPoints="1"/>
            </p:cNvSpPr>
            <p:nvPr/>
          </p:nvSpPr>
          <p:spPr bwMode="auto">
            <a:xfrm>
              <a:off x="3839" y="1530"/>
              <a:ext cx="875" cy="1"/>
            </a:xfrm>
            <a:custGeom>
              <a:avLst/>
              <a:gdLst>
                <a:gd name="T0" fmla="*/ 0 w 875"/>
                <a:gd name="T1" fmla="*/ 0 h 1"/>
                <a:gd name="T2" fmla="*/ 875 w 875"/>
                <a:gd name="T3" fmla="*/ 0 h 1"/>
                <a:gd name="T4" fmla="*/ 0 w 875"/>
                <a:gd name="T5" fmla="*/ 0 h 1"/>
                <a:gd name="T6" fmla="*/ 0 w 875"/>
                <a:gd name="T7" fmla="*/ 0 h 1"/>
                <a:gd name="T8" fmla="*/ 0 w 875"/>
                <a:gd name="T9" fmla="*/ 0 h 1"/>
                <a:gd name="T10" fmla="*/ 0 w 875"/>
                <a:gd name="T11" fmla="*/ 0 h 1"/>
                <a:gd name="T12" fmla="*/ 0 w 875"/>
                <a:gd name="T13" fmla="*/ 0 h 1"/>
                <a:gd name="T14" fmla="*/ 0 60000 65536"/>
                <a:gd name="T15" fmla="*/ 0 60000 65536"/>
                <a:gd name="T16" fmla="*/ 0 60000 65536"/>
                <a:gd name="T17" fmla="*/ 0 60000 65536"/>
                <a:gd name="T18" fmla="*/ 0 60000 65536"/>
                <a:gd name="T19" fmla="*/ 0 60000 65536"/>
                <a:gd name="T20" fmla="*/ 0 60000 65536"/>
                <a:gd name="T21" fmla="*/ 0 w 875"/>
                <a:gd name="T22" fmla="*/ 0 h 1"/>
                <a:gd name="T23" fmla="*/ 875 w 87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5" h="1">
                  <a:moveTo>
                    <a:pt x="0" y="0"/>
                  </a:moveTo>
                  <a:lnTo>
                    <a:pt x="875" y="0"/>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1" name="Freeform 39"/>
            <p:cNvSpPr>
              <a:spLocks noChangeAspect="1"/>
            </p:cNvSpPr>
            <p:nvPr/>
          </p:nvSpPr>
          <p:spPr bwMode="auto">
            <a:xfrm>
              <a:off x="4714" y="153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2" name="Freeform 44"/>
            <p:cNvSpPr>
              <a:spLocks noChangeAspect="1"/>
            </p:cNvSpPr>
            <p:nvPr/>
          </p:nvSpPr>
          <p:spPr bwMode="auto">
            <a:xfrm>
              <a:off x="3495" y="574"/>
              <a:ext cx="89" cy="90"/>
            </a:xfrm>
            <a:custGeom>
              <a:avLst/>
              <a:gdLst>
                <a:gd name="T0" fmla="*/ 48 w 89"/>
                <a:gd name="T1" fmla="*/ 90 h 90"/>
                <a:gd name="T2" fmla="*/ 62 w 89"/>
                <a:gd name="T3" fmla="*/ 90 h 90"/>
                <a:gd name="T4" fmla="*/ 75 w 89"/>
                <a:gd name="T5" fmla="*/ 76 h 90"/>
                <a:gd name="T6" fmla="*/ 89 w 89"/>
                <a:gd name="T7" fmla="*/ 62 h 90"/>
                <a:gd name="T8" fmla="*/ 89 w 89"/>
                <a:gd name="T9" fmla="*/ 48 h 90"/>
                <a:gd name="T10" fmla="*/ 89 w 89"/>
                <a:gd name="T11" fmla="*/ 28 h 90"/>
                <a:gd name="T12" fmla="*/ 75 w 89"/>
                <a:gd name="T13" fmla="*/ 14 h 90"/>
                <a:gd name="T14" fmla="*/ 62 w 89"/>
                <a:gd name="T15" fmla="*/ 7 h 90"/>
                <a:gd name="T16" fmla="*/ 48 w 89"/>
                <a:gd name="T17" fmla="*/ 0 h 90"/>
                <a:gd name="T18" fmla="*/ 27 w 89"/>
                <a:gd name="T19" fmla="*/ 7 h 90"/>
                <a:gd name="T20" fmla="*/ 13 w 89"/>
                <a:gd name="T21" fmla="*/ 14 h 90"/>
                <a:gd name="T22" fmla="*/ 7 w 89"/>
                <a:gd name="T23" fmla="*/ 28 h 90"/>
                <a:gd name="T24" fmla="*/ 0 w 89"/>
                <a:gd name="T25" fmla="*/ 48 h 90"/>
                <a:gd name="T26" fmla="*/ 7 w 89"/>
                <a:gd name="T27" fmla="*/ 62 h 90"/>
                <a:gd name="T28" fmla="*/ 13 w 89"/>
                <a:gd name="T29" fmla="*/ 76 h 90"/>
                <a:gd name="T30" fmla="*/ 27 w 89"/>
                <a:gd name="T31" fmla="*/ 90 h 90"/>
                <a:gd name="T32" fmla="*/ 48 w 89"/>
                <a:gd name="T33" fmla="*/ 90 h 90"/>
                <a:gd name="T34" fmla="*/ 48 w 89"/>
                <a:gd name="T35" fmla="*/ 90 h 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9"/>
                <a:gd name="T55" fmla="*/ 0 h 90"/>
                <a:gd name="T56" fmla="*/ 89 w 89"/>
                <a:gd name="T57" fmla="*/ 90 h 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9" h="90">
                  <a:moveTo>
                    <a:pt x="48" y="90"/>
                  </a:moveTo>
                  <a:lnTo>
                    <a:pt x="62" y="90"/>
                  </a:lnTo>
                  <a:lnTo>
                    <a:pt x="75" y="76"/>
                  </a:lnTo>
                  <a:lnTo>
                    <a:pt x="89" y="62"/>
                  </a:lnTo>
                  <a:lnTo>
                    <a:pt x="89" y="48"/>
                  </a:lnTo>
                  <a:lnTo>
                    <a:pt x="89" y="28"/>
                  </a:lnTo>
                  <a:lnTo>
                    <a:pt x="75" y="14"/>
                  </a:lnTo>
                  <a:lnTo>
                    <a:pt x="62" y="7"/>
                  </a:lnTo>
                  <a:lnTo>
                    <a:pt x="48" y="0"/>
                  </a:lnTo>
                  <a:lnTo>
                    <a:pt x="27" y="7"/>
                  </a:lnTo>
                  <a:lnTo>
                    <a:pt x="13" y="14"/>
                  </a:lnTo>
                  <a:lnTo>
                    <a:pt x="7" y="28"/>
                  </a:lnTo>
                  <a:lnTo>
                    <a:pt x="0" y="48"/>
                  </a:lnTo>
                  <a:lnTo>
                    <a:pt x="7" y="62"/>
                  </a:lnTo>
                  <a:lnTo>
                    <a:pt x="13" y="76"/>
                  </a:lnTo>
                  <a:lnTo>
                    <a:pt x="27" y="90"/>
                  </a:lnTo>
                  <a:lnTo>
                    <a:pt x="48" y="90"/>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3" name="Freeform 45"/>
            <p:cNvSpPr>
              <a:spLocks noChangeAspect="1"/>
            </p:cNvSpPr>
            <p:nvPr/>
          </p:nvSpPr>
          <p:spPr bwMode="auto">
            <a:xfrm>
              <a:off x="3543" y="622"/>
              <a:ext cx="41" cy="42"/>
            </a:xfrm>
            <a:custGeom>
              <a:avLst/>
              <a:gdLst>
                <a:gd name="T0" fmla="*/ 0 w 41"/>
                <a:gd name="T1" fmla="*/ 42 h 42"/>
                <a:gd name="T2" fmla="*/ 14 w 41"/>
                <a:gd name="T3" fmla="*/ 42 h 42"/>
                <a:gd name="T4" fmla="*/ 27 w 41"/>
                <a:gd name="T5" fmla="*/ 28 h 42"/>
                <a:gd name="T6" fmla="*/ 41 w 41"/>
                <a:gd name="T7" fmla="*/ 14 h 42"/>
                <a:gd name="T8" fmla="*/ 41 w 41"/>
                <a:gd name="T9" fmla="*/ 0 h 42"/>
                <a:gd name="T10" fmla="*/ 41 w 41"/>
                <a:gd name="T11" fmla="*/ 0 h 42"/>
                <a:gd name="T12" fmla="*/ 41 w 41"/>
                <a:gd name="T13" fmla="*/ 14 h 42"/>
                <a:gd name="T14" fmla="*/ 27 w 41"/>
                <a:gd name="T15" fmla="*/ 28 h 42"/>
                <a:gd name="T16" fmla="*/ 14 w 41"/>
                <a:gd name="T17" fmla="*/ 42 h 42"/>
                <a:gd name="T18" fmla="*/ 0 w 41"/>
                <a:gd name="T19" fmla="*/ 42 h 42"/>
                <a:gd name="T20" fmla="*/ 0 w 41"/>
                <a:gd name="T21" fmla="*/ 42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
                <a:gd name="T34" fmla="*/ 0 h 42"/>
                <a:gd name="T35" fmla="*/ 41 w 41"/>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 h="42">
                  <a:moveTo>
                    <a:pt x="0" y="42"/>
                  </a:moveTo>
                  <a:lnTo>
                    <a:pt x="14" y="42"/>
                  </a:lnTo>
                  <a:lnTo>
                    <a:pt x="27" y="28"/>
                  </a:lnTo>
                  <a:lnTo>
                    <a:pt x="41" y="14"/>
                  </a:lnTo>
                  <a:lnTo>
                    <a:pt x="41" y="0"/>
                  </a:lnTo>
                  <a:lnTo>
                    <a:pt x="41" y="14"/>
                  </a:lnTo>
                  <a:lnTo>
                    <a:pt x="27" y="28"/>
                  </a:lnTo>
                  <a:lnTo>
                    <a:pt x="14" y="42"/>
                  </a:lnTo>
                  <a:lnTo>
                    <a:pt x="0" y="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4" name="Freeform 46"/>
            <p:cNvSpPr>
              <a:spLocks noChangeAspect="1" noEditPoints="1"/>
            </p:cNvSpPr>
            <p:nvPr/>
          </p:nvSpPr>
          <p:spPr bwMode="auto">
            <a:xfrm>
              <a:off x="3543" y="574"/>
              <a:ext cx="41" cy="48"/>
            </a:xfrm>
            <a:custGeom>
              <a:avLst/>
              <a:gdLst>
                <a:gd name="T0" fmla="*/ 41 w 41"/>
                <a:gd name="T1" fmla="*/ 48 h 48"/>
                <a:gd name="T2" fmla="*/ 41 w 41"/>
                <a:gd name="T3" fmla="*/ 28 h 48"/>
                <a:gd name="T4" fmla="*/ 27 w 41"/>
                <a:gd name="T5" fmla="*/ 14 h 48"/>
                <a:gd name="T6" fmla="*/ 14 w 41"/>
                <a:gd name="T7" fmla="*/ 7 h 48"/>
                <a:gd name="T8" fmla="*/ 0 w 41"/>
                <a:gd name="T9" fmla="*/ 0 h 48"/>
                <a:gd name="T10" fmla="*/ 0 w 41"/>
                <a:gd name="T11" fmla="*/ 0 h 48"/>
                <a:gd name="T12" fmla="*/ 14 w 41"/>
                <a:gd name="T13" fmla="*/ 7 h 48"/>
                <a:gd name="T14" fmla="*/ 27 w 41"/>
                <a:gd name="T15" fmla="*/ 14 h 48"/>
                <a:gd name="T16" fmla="*/ 41 w 41"/>
                <a:gd name="T17" fmla="*/ 28 h 48"/>
                <a:gd name="T18" fmla="*/ 41 w 41"/>
                <a:gd name="T19" fmla="*/ 48 h 48"/>
                <a:gd name="T20" fmla="*/ 41 w 41"/>
                <a:gd name="T21" fmla="*/ 48 h 48"/>
                <a:gd name="T22" fmla="*/ 41 w 41"/>
                <a:gd name="T23" fmla="*/ 48 h 48"/>
                <a:gd name="T24" fmla="*/ 41 w 41"/>
                <a:gd name="T25" fmla="*/ 48 h 48"/>
                <a:gd name="T26" fmla="*/ 41 w 41"/>
                <a:gd name="T27" fmla="*/ 48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48"/>
                <a:gd name="T44" fmla="*/ 41 w 41"/>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48">
                  <a:moveTo>
                    <a:pt x="41" y="48"/>
                  </a:moveTo>
                  <a:lnTo>
                    <a:pt x="41" y="28"/>
                  </a:lnTo>
                  <a:lnTo>
                    <a:pt x="27" y="14"/>
                  </a:lnTo>
                  <a:lnTo>
                    <a:pt x="14" y="7"/>
                  </a:lnTo>
                  <a:lnTo>
                    <a:pt x="0" y="0"/>
                  </a:lnTo>
                  <a:lnTo>
                    <a:pt x="14" y="7"/>
                  </a:lnTo>
                  <a:lnTo>
                    <a:pt x="27" y="14"/>
                  </a:lnTo>
                  <a:lnTo>
                    <a:pt x="41" y="28"/>
                  </a:lnTo>
                  <a:lnTo>
                    <a:pt x="41" y="48"/>
                  </a:lnTo>
                  <a:close/>
                  <a:moveTo>
                    <a:pt x="41" y="48"/>
                  </a:moveTo>
                  <a:lnTo>
                    <a:pt x="41" y="4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5" name="Freeform 47"/>
            <p:cNvSpPr>
              <a:spLocks noChangeAspect="1" noEditPoints="1"/>
            </p:cNvSpPr>
            <p:nvPr/>
          </p:nvSpPr>
          <p:spPr bwMode="auto">
            <a:xfrm>
              <a:off x="3495" y="574"/>
              <a:ext cx="48" cy="48"/>
            </a:xfrm>
            <a:custGeom>
              <a:avLst/>
              <a:gdLst>
                <a:gd name="T0" fmla="*/ 48 w 48"/>
                <a:gd name="T1" fmla="*/ 0 h 48"/>
                <a:gd name="T2" fmla="*/ 27 w 48"/>
                <a:gd name="T3" fmla="*/ 7 h 48"/>
                <a:gd name="T4" fmla="*/ 13 w 48"/>
                <a:gd name="T5" fmla="*/ 14 h 48"/>
                <a:gd name="T6" fmla="*/ 7 w 48"/>
                <a:gd name="T7" fmla="*/ 28 h 48"/>
                <a:gd name="T8" fmla="*/ 0 w 48"/>
                <a:gd name="T9" fmla="*/ 48 h 48"/>
                <a:gd name="T10" fmla="*/ 0 w 48"/>
                <a:gd name="T11" fmla="*/ 48 h 48"/>
                <a:gd name="T12" fmla="*/ 7 w 48"/>
                <a:gd name="T13" fmla="*/ 28 h 48"/>
                <a:gd name="T14" fmla="*/ 13 w 48"/>
                <a:gd name="T15" fmla="*/ 14 h 48"/>
                <a:gd name="T16" fmla="*/ 27 w 48"/>
                <a:gd name="T17" fmla="*/ 7 h 48"/>
                <a:gd name="T18" fmla="*/ 48 w 48"/>
                <a:gd name="T19" fmla="*/ 0 h 48"/>
                <a:gd name="T20" fmla="*/ 48 w 48"/>
                <a:gd name="T21" fmla="*/ 0 h 48"/>
                <a:gd name="T22" fmla="*/ 48 w 48"/>
                <a:gd name="T23" fmla="*/ 0 h 48"/>
                <a:gd name="T24" fmla="*/ 48 w 48"/>
                <a:gd name="T25" fmla="*/ 0 h 48"/>
                <a:gd name="T26" fmla="*/ 48 w 48"/>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8"/>
                <a:gd name="T44" fmla="*/ 48 w 48"/>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8">
                  <a:moveTo>
                    <a:pt x="48" y="0"/>
                  </a:moveTo>
                  <a:lnTo>
                    <a:pt x="27" y="7"/>
                  </a:lnTo>
                  <a:lnTo>
                    <a:pt x="13" y="14"/>
                  </a:lnTo>
                  <a:lnTo>
                    <a:pt x="7" y="28"/>
                  </a:lnTo>
                  <a:lnTo>
                    <a:pt x="0" y="48"/>
                  </a:lnTo>
                  <a:lnTo>
                    <a:pt x="7" y="28"/>
                  </a:lnTo>
                  <a:lnTo>
                    <a:pt x="13" y="14"/>
                  </a:lnTo>
                  <a:lnTo>
                    <a:pt x="27" y="7"/>
                  </a:lnTo>
                  <a:lnTo>
                    <a:pt x="48" y="0"/>
                  </a:lnTo>
                  <a:close/>
                  <a:moveTo>
                    <a:pt x="48" y="0"/>
                  </a:move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6" name="Freeform 48"/>
            <p:cNvSpPr>
              <a:spLocks noChangeAspect="1" noEditPoints="1"/>
            </p:cNvSpPr>
            <p:nvPr/>
          </p:nvSpPr>
          <p:spPr bwMode="auto">
            <a:xfrm>
              <a:off x="3495" y="622"/>
              <a:ext cx="48" cy="42"/>
            </a:xfrm>
            <a:custGeom>
              <a:avLst/>
              <a:gdLst>
                <a:gd name="T0" fmla="*/ 0 w 48"/>
                <a:gd name="T1" fmla="*/ 0 h 42"/>
                <a:gd name="T2" fmla="*/ 7 w 48"/>
                <a:gd name="T3" fmla="*/ 14 h 42"/>
                <a:gd name="T4" fmla="*/ 13 w 48"/>
                <a:gd name="T5" fmla="*/ 28 h 42"/>
                <a:gd name="T6" fmla="*/ 27 w 48"/>
                <a:gd name="T7" fmla="*/ 42 h 42"/>
                <a:gd name="T8" fmla="*/ 48 w 48"/>
                <a:gd name="T9" fmla="*/ 42 h 42"/>
                <a:gd name="T10" fmla="*/ 48 w 48"/>
                <a:gd name="T11" fmla="*/ 42 h 42"/>
                <a:gd name="T12" fmla="*/ 27 w 48"/>
                <a:gd name="T13" fmla="*/ 42 h 42"/>
                <a:gd name="T14" fmla="*/ 13 w 48"/>
                <a:gd name="T15" fmla="*/ 28 h 42"/>
                <a:gd name="T16" fmla="*/ 7 w 48"/>
                <a:gd name="T17" fmla="*/ 14 h 42"/>
                <a:gd name="T18" fmla="*/ 0 w 48"/>
                <a:gd name="T19" fmla="*/ 0 h 42"/>
                <a:gd name="T20" fmla="*/ 0 w 48"/>
                <a:gd name="T21" fmla="*/ 0 h 42"/>
                <a:gd name="T22" fmla="*/ 0 w 48"/>
                <a:gd name="T23" fmla="*/ 0 h 42"/>
                <a:gd name="T24" fmla="*/ 0 w 48"/>
                <a:gd name="T25" fmla="*/ 0 h 42"/>
                <a:gd name="T26" fmla="*/ 0 w 48"/>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2"/>
                <a:gd name="T44" fmla="*/ 48 w 48"/>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2">
                  <a:moveTo>
                    <a:pt x="0" y="0"/>
                  </a:moveTo>
                  <a:lnTo>
                    <a:pt x="7" y="14"/>
                  </a:lnTo>
                  <a:lnTo>
                    <a:pt x="13" y="28"/>
                  </a:lnTo>
                  <a:lnTo>
                    <a:pt x="27" y="42"/>
                  </a:lnTo>
                  <a:lnTo>
                    <a:pt x="48" y="42"/>
                  </a:lnTo>
                  <a:lnTo>
                    <a:pt x="27" y="42"/>
                  </a:lnTo>
                  <a:lnTo>
                    <a:pt x="13" y="28"/>
                  </a:lnTo>
                  <a:lnTo>
                    <a:pt x="7" y="14"/>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7" name="Freeform 49"/>
            <p:cNvSpPr>
              <a:spLocks noChangeAspect="1"/>
            </p:cNvSpPr>
            <p:nvPr/>
          </p:nvSpPr>
          <p:spPr bwMode="auto">
            <a:xfrm>
              <a:off x="3543" y="66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8" name="Freeform 50"/>
            <p:cNvSpPr>
              <a:spLocks noChangeAspect="1"/>
            </p:cNvSpPr>
            <p:nvPr/>
          </p:nvSpPr>
          <p:spPr bwMode="auto">
            <a:xfrm>
              <a:off x="3495" y="1358"/>
              <a:ext cx="89" cy="83"/>
            </a:xfrm>
            <a:custGeom>
              <a:avLst/>
              <a:gdLst>
                <a:gd name="T0" fmla="*/ 48 w 89"/>
                <a:gd name="T1" fmla="*/ 83 h 83"/>
                <a:gd name="T2" fmla="*/ 62 w 89"/>
                <a:gd name="T3" fmla="*/ 83 h 83"/>
                <a:gd name="T4" fmla="*/ 75 w 89"/>
                <a:gd name="T5" fmla="*/ 69 h 83"/>
                <a:gd name="T6" fmla="*/ 89 w 89"/>
                <a:gd name="T7" fmla="*/ 55 h 83"/>
                <a:gd name="T8" fmla="*/ 89 w 89"/>
                <a:gd name="T9" fmla="*/ 42 h 83"/>
                <a:gd name="T10" fmla="*/ 89 w 89"/>
                <a:gd name="T11" fmla="*/ 21 h 83"/>
                <a:gd name="T12" fmla="*/ 75 w 89"/>
                <a:gd name="T13" fmla="*/ 14 h 83"/>
                <a:gd name="T14" fmla="*/ 48 w 89"/>
                <a:gd name="T15" fmla="*/ 0 h 83"/>
                <a:gd name="T16" fmla="*/ 13 w 89"/>
                <a:gd name="T17" fmla="*/ 14 h 83"/>
                <a:gd name="T18" fmla="*/ 7 w 89"/>
                <a:gd name="T19" fmla="*/ 21 h 83"/>
                <a:gd name="T20" fmla="*/ 0 w 89"/>
                <a:gd name="T21" fmla="*/ 42 h 83"/>
                <a:gd name="T22" fmla="*/ 7 w 89"/>
                <a:gd name="T23" fmla="*/ 55 h 83"/>
                <a:gd name="T24" fmla="*/ 13 w 89"/>
                <a:gd name="T25" fmla="*/ 69 h 83"/>
                <a:gd name="T26" fmla="*/ 27 w 89"/>
                <a:gd name="T27" fmla="*/ 83 h 83"/>
                <a:gd name="T28" fmla="*/ 48 w 89"/>
                <a:gd name="T29" fmla="*/ 83 h 83"/>
                <a:gd name="T30" fmla="*/ 48 w 89"/>
                <a:gd name="T31" fmla="*/ 83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9"/>
                <a:gd name="T49" fmla="*/ 0 h 83"/>
                <a:gd name="T50" fmla="*/ 89 w 89"/>
                <a:gd name="T51" fmla="*/ 83 h 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9" h="83">
                  <a:moveTo>
                    <a:pt x="48" y="83"/>
                  </a:moveTo>
                  <a:lnTo>
                    <a:pt x="62" y="83"/>
                  </a:lnTo>
                  <a:lnTo>
                    <a:pt x="75" y="69"/>
                  </a:lnTo>
                  <a:lnTo>
                    <a:pt x="89" y="55"/>
                  </a:lnTo>
                  <a:lnTo>
                    <a:pt x="89" y="42"/>
                  </a:lnTo>
                  <a:lnTo>
                    <a:pt x="89" y="21"/>
                  </a:lnTo>
                  <a:lnTo>
                    <a:pt x="75" y="14"/>
                  </a:lnTo>
                  <a:lnTo>
                    <a:pt x="48" y="0"/>
                  </a:lnTo>
                  <a:lnTo>
                    <a:pt x="13" y="14"/>
                  </a:lnTo>
                  <a:lnTo>
                    <a:pt x="7" y="21"/>
                  </a:lnTo>
                  <a:lnTo>
                    <a:pt x="0" y="42"/>
                  </a:lnTo>
                  <a:lnTo>
                    <a:pt x="7" y="55"/>
                  </a:lnTo>
                  <a:lnTo>
                    <a:pt x="13" y="69"/>
                  </a:lnTo>
                  <a:lnTo>
                    <a:pt x="27" y="83"/>
                  </a:lnTo>
                  <a:lnTo>
                    <a:pt x="48" y="83"/>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89" name="Freeform 51"/>
            <p:cNvSpPr>
              <a:spLocks noChangeAspect="1"/>
            </p:cNvSpPr>
            <p:nvPr/>
          </p:nvSpPr>
          <p:spPr bwMode="auto">
            <a:xfrm>
              <a:off x="3543" y="1400"/>
              <a:ext cx="41" cy="41"/>
            </a:xfrm>
            <a:custGeom>
              <a:avLst/>
              <a:gdLst>
                <a:gd name="T0" fmla="*/ 0 w 41"/>
                <a:gd name="T1" fmla="*/ 41 h 41"/>
                <a:gd name="T2" fmla="*/ 14 w 41"/>
                <a:gd name="T3" fmla="*/ 41 h 41"/>
                <a:gd name="T4" fmla="*/ 27 w 41"/>
                <a:gd name="T5" fmla="*/ 27 h 41"/>
                <a:gd name="T6" fmla="*/ 41 w 41"/>
                <a:gd name="T7" fmla="*/ 13 h 41"/>
                <a:gd name="T8" fmla="*/ 41 w 41"/>
                <a:gd name="T9" fmla="*/ 0 h 41"/>
                <a:gd name="T10" fmla="*/ 41 w 41"/>
                <a:gd name="T11" fmla="*/ 0 h 41"/>
                <a:gd name="T12" fmla="*/ 41 w 41"/>
                <a:gd name="T13" fmla="*/ 13 h 41"/>
                <a:gd name="T14" fmla="*/ 27 w 41"/>
                <a:gd name="T15" fmla="*/ 27 h 41"/>
                <a:gd name="T16" fmla="*/ 14 w 41"/>
                <a:gd name="T17" fmla="*/ 41 h 41"/>
                <a:gd name="T18" fmla="*/ 0 w 41"/>
                <a:gd name="T19" fmla="*/ 41 h 41"/>
                <a:gd name="T20" fmla="*/ 0 w 41"/>
                <a:gd name="T21" fmla="*/ 41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
                <a:gd name="T34" fmla="*/ 0 h 41"/>
                <a:gd name="T35" fmla="*/ 41 w 41"/>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 h="41">
                  <a:moveTo>
                    <a:pt x="0" y="41"/>
                  </a:moveTo>
                  <a:lnTo>
                    <a:pt x="14" y="41"/>
                  </a:lnTo>
                  <a:lnTo>
                    <a:pt x="27" y="27"/>
                  </a:lnTo>
                  <a:lnTo>
                    <a:pt x="41" y="13"/>
                  </a:lnTo>
                  <a:lnTo>
                    <a:pt x="41" y="0"/>
                  </a:lnTo>
                  <a:lnTo>
                    <a:pt x="41" y="13"/>
                  </a:lnTo>
                  <a:lnTo>
                    <a:pt x="27" y="27"/>
                  </a:lnTo>
                  <a:lnTo>
                    <a:pt x="14" y="41"/>
                  </a:lnTo>
                  <a:lnTo>
                    <a:pt x="0" y="4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0" name="Freeform 52"/>
            <p:cNvSpPr>
              <a:spLocks noChangeAspect="1" noEditPoints="1"/>
            </p:cNvSpPr>
            <p:nvPr/>
          </p:nvSpPr>
          <p:spPr bwMode="auto">
            <a:xfrm>
              <a:off x="3543" y="1358"/>
              <a:ext cx="41" cy="42"/>
            </a:xfrm>
            <a:custGeom>
              <a:avLst/>
              <a:gdLst>
                <a:gd name="T0" fmla="*/ 41 w 41"/>
                <a:gd name="T1" fmla="*/ 42 h 42"/>
                <a:gd name="T2" fmla="*/ 41 w 41"/>
                <a:gd name="T3" fmla="*/ 21 h 42"/>
                <a:gd name="T4" fmla="*/ 27 w 41"/>
                <a:gd name="T5" fmla="*/ 14 h 42"/>
                <a:gd name="T6" fmla="*/ 0 w 41"/>
                <a:gd name="T7" fmla="*/ 0 h 42"/>
                <a:gd name="T8" fmla="*/ 0 w 41"/>
                <a:gd name="T9" fmla="*/ 0 h 42"/>
                <a:gd name="T10" fmla="*/ 27 w 41"/>
                <a:gd name="T11" fmla="*/ 14 h 42"/>
                <a:gd name="T12" fmla="*/ 41 w 41"/>
                <a:gd name="T13" fmla="*/ 21 h 42"/>
                <a:gd name="T14" fmla="*/ 41 w 41"/>
                <a:gd name="T15" fmla="*/ 42 h 42"/>
                <a:gd name="T16" fmla="*/ 41 w 41"/>
                <a:gd name="T17" fmla="*/ 42 h 42"/>
                <a:gd name="T18" fmla="*/ 41 w 41"/>
                <a:gd name="T19" fmla="*/ 42 h 42"/>
                <a:gd name="T20" fmla="*/ 41 w 41"/>
                <a:gd name="T21" fmla="*/ 42 h 42"/>
                <a:gd name="T22" fmla="*/ 41 w 41"/>
                <a:gd name="T23" fmla="*/ 42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42"/>
                <a:gd name="T38" fmla="*/ 41 w 41"/>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42">
                  <a:moveTo>
                    <a:pt x="41" y="42"/>
                  </a:moveTo>
                  <a:lnTo>
                    <a:pt x="41" y="21"/>
                  </a:lnTo>
                  <a:lnTo>
                    <a:pt x="27" y="14"/>
                  </a:lnTo>
                  <a:lnTo>
                    <a:pt x="0" y="0"/>
                  </a:lnTo>
                  <a:lnTo>
                    <a:pt x="27" y="14"/>
                  </a:lnTo>
                  <a:lnTo>
                    <a:pt x="41" y="21"/>
                  </a:lnTo>
                  <a:lnTo>
                    <a:pt x="41" y="42"/>
                  </a:lnTo>
                  <a:close/>
                  <a:moveTo>
                    <a:pt x="41" y="42"/>
                  </a:moveTo>
                  <a:lnTo>
                    <a:pt x="41" y="4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1" name="Freeform 53"/>
            <p:cNvSpPr>
              <a:spLocks noChangeAspect="1" noEditPoints="1"/>
            </p:cNvSpPr>
            <p:nvPr/>
          </p:nvSpPr>
          <p:spPr bwMode="auto">
            <a:xfrm>
              <a:off x="3495" y="1358"/>
              <a:ext cx="48" cy="42"/>
            </a:xfrm>
            <a:custGeom>
              <a:avLst/>
              <a:gdLst>
                <a:gd name="T0" fmla="*/ 48 w 48"/>
                <a:gd name="T1" fmla="*/ 0 h 42"/>
                <a:gd name="T2" fmla="*/ 13 w 48"/>
                <a:gd name="T3" fmla="*/ 14 h 42"/>
                <a:gd name="T4" fmla="*/ 7 w 48"/>
                <a:gd name="T5" fmla="*/ 21 h 42"/>
                <a:gd name="T6" fmla="*/ 0 w 48"/>
                <a:gd name="T7" fmla="*/ 42 h 42"/>
                <a:gd name="T8" fmla="*/ 0 w 48"/>
                <a:gd name="T9" fmla="*/ 42 h 42"/>
                <a:gd name="T10" fmla="*/ 7 w 48"/>
                <a:gd name="T11" fmla="*/ 21 h 42"/>
                <a:gd name="T12" fmla="*/ 13 w 48"/>
                <a:gd name="T13" fmla="*/ 14 h 42"/>
                <a:gd name="T14" fmla="*/ 48 w 48"/>
                <a:gd name="T15" fmla="*/ 0 h 42"/>
                <a:gd name="T16" fmla="*/ 48 w 48"/>
                <a:gd name="T17" fmla="*/ 0 h 42"/>
                <a:gd name="T18" fmla="*/ 48 w 48"/>
                <a:gd name="T19" fmla="*/ 0 h 42"/>
                <a:gd name="T20" fmla="*/ 48 w 48"/>
                <a:gd name="T21" fmla="*/ 0 h 42"/>
                <a:gd name="T22" fmla="*/ 48 w 48"/>
                <a:gd name="T23" fmla="*/ 0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42"/>
                <a:gd name="T38" fmla="*/ 48 w 48"/>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42">
                  <a:moveTo>
                    <a:pt x="48" y="0"/>
                  </a:moveTo>
                  <a:lnTo>
                    <a:pt x="13" y="14"/>
                  </a:lnTo>
                  <a:lnTo>
                    <a:pt x="7" y="21"/>
                  </a:lnTo>
                  <a:lnTo>
                    <a:pt x="0" y="42"/>
                  </a:lnTo>
                  <a:lnTo>
                    <a:pt x="7" y="21"/>
                  </a:lnTo>
                  <a:lnTo>
                    <a:pt x="13" y="14"/>
                  </a:lnTo>
                  <a:lnTo>
                    <a:pt x="48" y="0"/>
                  </a:lnTo>
                  <a:close/>
                  <a:moveTo>
                    <a:pt x="48" y="0"/>
                  </a:move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2" name="Freeform 54"/>
            <p:cNvSpPr>
              <a:spLocks noChangeAspect="1" noEditPoints="1"/>
            </p:cNvSpPr>
            <p:nvPr/>
          </p:nvSpPr>
          <p:spPr bwMode="auto">
            <a:xfrm>
              <a:off x="3495" y="1400"/>
              <a:ext cx="48" cy="41"/>
            </a:xfrm>
            <a:custGeom>
              <a:avLst/>
              <a:gdLst>
                <a:gd name="T0" fmla="*/ 0 w 48"/>
                <a:gd name="T1" fmla="*/ 0 h 41"/>
                <a:gd name="T2" fmla="*/ 7 w 48"/>
                <a:gd name="T3" fmla="*/ 13 h 41"/>
                <a:gd name="T4" fmla="*/ 13 w 48"/>
                <a:gd name="T5" fmla="*/ 27 h 41"/>
                <a:gd name="T6" fmla="*/ 27 w 48"/>
                <a:gd name="T7" fmla="*/ 41 h 41"/>
                <a:gd name="T8" fmla="*/ 48 w 48"/>
                <a:gd name="T9" fmla="*/ 41 h 41"/>
                <a:gd name="T10" fmla="*/ 48 w 48"/>
                <a:gd name="T11" fmla="*/ 41 h 41"/>
                <a:gd name="T12" fmla="*/ 27 w 48"/>
                <a:gd name="T13" fmla="*/ 41 h 41"/>
                <a:gd name="T14" fmla="*/ 13 w 48"/>
                <a:gd name="T15" fmla="*/ 27 h 41"/>
                <a:gd name="T16" fmla="*/ 7 w 48"/>
                <a:gd name="T17" fmla="*/ 13 h 41"/>
                <a:gd name="T18" fmla="*/ 0 w 48"/>
                <a:gd name="T19" fmla="*/ 0 h 41"/>
                <a:gd name="T20" fmla="*/ 0 w 48"/>
                <a:gd name="T21" fmla="*/ 0 h 41"/>
                <a:gd name="T22" fmla="*/ 0 w 48"/>
                <a:gd name="T23" fmla="*/ 0 h 41"/>
                <a:gd name="T24" fmla="*/ 0 w 48"/>
                <a:gd name="T25" fmla="*/ 0 h 41"/>
                <a:gd name="T26" fmla="*/ 0 w 48"/>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1"/>
                <a:gd name="T44" fmla="*/ 48 w 48"/>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1">
                  <a:moveTo>
                    <a:pt x="0" y="0"/>
                  </a:moveTo>
                  <a:lnTo>
                    <a:pt x="7" y="13"/>
                  </a:lnTo>
                  <a:lnTo>
                    <a:pt x="13" y="27"/>
                  </a:lnTo>
                  <a:lnTo>
                    <a:pt x="27" y="41"/>
                  </a:lnTo>
                  <a:lnTo>
                    <a:pt x="48" y="41"/>
                  </a:lnTo>
                  <a:lnTo>
                    <a:pt x="27" y="41"/>
                  </a:lnTo>
                  <a:lnTo>
                    <a:pt x="13" y="27"/>
                  </a:lnTo>
                  <a:lnTo>
                    <a:pt x="7" y="1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3" name="Freeform 55"/>
            <p:cNvSpPr>
              <a:spLocks noChangeAspect="1"/>
            </p:cNvSpPr>
            <p:nvPr/>
          </p:nvSpPr>
          <p:spPr bwMode="auto">
            <a:xfrm>
              <a:off x="3543" y="144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4" name="Freeform 56"/>
            <p:cNvSpPr>
              <a:spLocks noChangeAspect="1"/>
            </p:cNvSpPr>
            <p:nvPr/>
          </p:nvSpPr>
          <p:spPr bwMode="auto">
            <a:xfrm>
              <a:off x="2806" y="505"/>
              <a:ext cx="386" cy="1"/>
            </a:xfrm>
            <a:custGeom>
              <a:avLst/>
              <a:gdLst>
                <a:gd name="T0" fmla="*/ 0 w 386"/>
                <a:gd name="T1" fmla="*/ 0 h 1"/>
                <a:gd name="T2" fmla="*/ 386 w 386"/>
                <a:gd name="T3" fmla="*/ 0 h 1"/>
                <a:gd name="T4" fmla="*/ 0 w 386"/>
                <a:gd name="T5" fmla="*/ 0 h 1"/>
                <a:gd name="T6" fmla="*/ 0 w 386"/>
                <a:gd name="T7" fmla="*/ 0 h 1"/>
                <a:gd name="T8" fmla="*/ 0 60000 65536"/>
                <a:gd name="T9" fmla="*/ 0 60000 65536"/>
                <a:gd name="T10" fmla="*/ 0 60000 65536"/>
                <a:gd name="T11" fmla="*/ 0 60000 65536"/>
                <a:gd name="T12" fmla="*/ 0 w 386"/>
                <a:gd name="T13" fmla="*/ 0 h 1"/>
                <a:gd name="T14" fmla="*/ 386 w 386"/>
                <a:gd name="T15" fmla="*/ 1 h 1"/>
              </a:gdLst>
              <a:ahLst/>
              <a:cxnLst>
                <a:cxn ang="T8">
                  <a:pos x="T0" y="T1"/>
                </a:cxn>
                <a:cxn ang="T9">
                  <a:pos x="T2" y="T3"/>
                </a:cxn>
                <a:cxn ang="T10">
                  <a:pos x="T4" y="T5"/>
                </a:cxn>
                <a:cxn ang="T11">
                  <a:pos x="T6" y="T7"/>
                </a:cxn>
              </a:cxnLst>
              <a:rect l="T12" t="T13" r="T14" b="T15"/>
              <a:pathLst>
                <a:path w="386" h="1">
                  <a:moveTo>
                    <a:pt x="0" y="0"/>
                  </a:moveTo>
                  <a:lnTo>
                    <a:pt x="386" y="0"/>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5" name="Freeform 57"/>
            <p:cNvSpPr>
              <a:spLocks noChangeAspect="1"/>
            </p:cNvSpPr>
            <p:nvPr/>
          </p:nvSpPr>
          <p:spPr bwMode="auto">
            <a:xfrm>
              <a:off x="3164" y="471"/>
              <a:ext cx="152" cy="76"/>
            </a:xfrm>
            <a:custGeom>
              <a:avLst/>
              <a:gdLst>
                <a:gd name="T0" fmla="*/ 0 w 152"/>
                <a:gd name="T1" fmla="*/ 76 h 76"/>
                <a:gd name="T2" fmla="*/ 152 w 152"/>
                <a:gd name="T3" fmla="*/ 34 h 76"/>
                <a:gd name="T4" fmla="*/ 0 w 152"/>
                <a:gd name="T5" fmla="*/ 0 h 76"/>
                <a:gd name="T6" fmla="*/ 0 w 152"/>
                <a:gd name="T7" fmla="*/ 76 h 76"/>
                <a:gd name="T8" fmla="*/ 0 w 152"/>
                <a:gd name="T9" fmla="*/ 76 h 76"/>
                <a:gd name="T10" fmla="*/ 0 60000 65536"/>
                <a:gd name="T11" fmla="*/ 0 60000 65536"/>
                <a:gd name="T12" fmla="*/ 0 60000 65536"/>
                <a:gd name="T13" fmla="*/ 0 60000 65536"/>
                <a:gd name="T14" fmla="*/ 0 60000 65536"/>
                <a:gd name="T15" fmla="*/ 0 w 152"/>
                <a:gd name="T16" fmla="*/ 0 h 76"/>
                <a:gd name="T17" fmla="*/ 152 w 152"/>
                <a:gd name="T18" fmla="*/ 76 h 76"/>
              </a:gdLst>
              <a:ahLst/>
              <a:cxnLst>
                <a:cxn ang="T10">
                  <a:pos x="T0" y="T1"/>
                </a:cxn>
                <a:cxn ang="T11">
                  <a:pos x="T2" y="T3"/>
                </a:cxn>
                <a:cxn ang="T12">
                  <a:pos x="T4" y="T5"/>
                </a:cxn>
                <a:cxn ang="T13">
                  <a:pos x="T6" y="T7"/>
                </a:cxn>
                <a:cxn ang="T14">
                  <a:pos x="T8" y="T9"/>
                </a:cxn>
              </a:cxnLst>
              <a:rect l="T15" t="T16" r="T17" b="T18"/>
              <a:pathLst>
                <a:path w="152" h="76">
                  <a:moveTo>
                    <a:pt x="0" y="76"/>
                  </a:moveTo>
                  <a:lnTo>
                    <a:pt x="152" y="34"/>
                  </a:lnTo>
                  <a:lnTo>
                    <a:pt x="0" y="0"/>
                  </a:lnTo>
                  <a:lnTo>
                    <a:pt x="0" y="76"/>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6" name="Freeform 58"/>
            <p:cNvSpPr>
              <a:spLocks noChangeAspect="1"/>
            </p:cNvSpPr>
            <p:nvPr/>
          </p:nvSpPr>
          <p:spPr bwMode="auto">
            <a:xfrm>
              <a:off x="3026" y="292"/>
              <a:ext cx="76" cy="117"/>
            </a:xfrm>
            <a:custGeom>
              <a:avLst/>
              <a:gdLst>
                <a:gd name="T0" fmla="*/ 0 w 76"/>
                <a:gd name="T1" fmla="*/ 117 h 117"/>
                <a:gd name="T2" fmla="*/ 48 w 76"/>
                <a:gd name="T3" fmla="*/ 117 h 117"/>
                <a:gd name="T4" fmla="*/ 48 w 76"/>
                <a:gd name="T5" fmla="*/ 117 h 117"/>
                <a:gd name="T6" fmla="*/ 35 w 76"/>
                <a:gd name="T7" fmla="*/ 110 h 117"/>
                <a:gd name="T8" fmla="*/ 35 w 76"/>
                <a:gd name="T9" fmla="*/ 103 h 117"/>
                <a:gd name="T10" fmla="*/ 35 w 76"/>
                <a:gd name="T11" fmla="*/ 103 h 117"/>
                <a:gd name="T12" fmla="*/ 35 w 76"/>
                <a:gd name="T13" fmla="*/ 97 h 117"/>
                <a:gd name="T14" fmla="*/ 55 w 76"/>
                <a:gd name="T15" fmla="*/ 14 h 117"/>
                <a:gd name="T16" fmla="*/ 62 w 76"/>
                <a:gd name="T17" fmla="*/ 0 h 117"/>
                <a:gd name="T18" fmla="*/ 76 w 76"/>
                <a:gd name="T19" fmla="*/ 0 h 117"/>
                <a:gd name="T20" fmla="*/ 76 w 76"/>
                <a:gd name="T21" fmla="*/ 0 h 117"/>
                <a:gd name="T22" fmla="*/ 28 w 76"/>
                <a:gd name="T23" fmla="*/ 0 h 117"/>
                <a:gd name="T24" fmla="*/ 28 w 76"/>
                <a:gd name="T25" fmla="*/ 0 h 117"/>
                <a:gd name="T26" fmla="*/ 35 w 76"/>
                <a:gd name="T27" fmla="*/ 0 h 117"/>
                <a:gd name="T28" fmla="*/ 41 w 76"/>
                <a:gd name="T29" fmla="*/ 7 h 117"/>
                <a:gd name="T30" fmla="*/ 41 w 76"/>
                <a:gd name="T31" fmla="*/ 14 h 117"/>
                <a:gd name="T32" fmla="*/ 35 w 76"/>
                <a:gd name="T33" fmla="*/ 21 h 117"/>
                <a:gd name="T34" fmla="*/ 14 w 76"/>
                <a:gd name="T35" fmla="*/ 103 h 117"/>
                <a:gd name="T36" fmla="*/ 7 w 76"/>
                <a:gd name="T37" fmla="*/ 110 h 117"/>
                <a:gd name="T38" fmla="*/ 0 w 76"/>
                <a:gd name="T39" fmla="*/ 117 h 117"/>
                <a:gd name="T40" fmla="*/ 0 w 76"/>
                <a:gd name="T41" fmla="*/ 117 h 1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17"/>
                <a:gd name="T65" fmla="*/ 76 w 76"/>
                <a:gd name="T66" fmla="*/ 117 h 1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17">
                  <a:moveTo>
                    <a:pt x="0" y="117"/>
                  </a:moveTo>
                  <a:lnTo>
                    <a:pt x="48" y="117"/>
                  </a:lnTo>
                  <a:lnTo>
                    <a:pt x="35" y="110"/>
                  </a:lnTo>
                  <a:lnTo>
                    <a:pt x="35" y="103"/>
                  </a:lnTo>
                  <a:lnTo>
                    <a:pt x="35" y="97"/>
                  </a:lnTo>
                  <a:lnTo>
                    <a:pt x="55" y="14"/>
                  </a:lnTo>
                  <a:lnTo>
                    <a:pt x="62" y="0"/>
                  </a:lnTo>
                  <a:lnTo>
                    <a:pt x="76" y="0"/>
                  </a:lnTo>
                  <a:lnTo>
                    <a:pt x="28" y="0"/>
                  </a:lnTo>
                  <a:lnTo>
                    <a:pt x="35" y="0"/>
                  </a:lnTo>
                  <a:lnTo>
                    <a:pt x="41" y="7"/>
                  </a:lnTo>
                  <a:lnTo>
                    <a:pt x="41" y="14"/>
                  </a:lnTo>
                  <a:lnTo>
                    <a:pt x="35" y="21"/>
                  </a:lnTo>
                  <a:lnTo>
                    <a:pt x="14" y="103"/>
                  </a:lnTo>
                  <a:lnTo>
                    <a:pt x="7" y="110"/>
                  </a:lnTo>
                  <a:lnTo>
                    <a:pt x="0" y="11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7" name="Freeform 59"/>
            <p:cNvSpPr>
              <a:spLocks noChangeAspect="1" noEditPoints="1"/>
            </p:cNvSpPr>
            <p:nvPr/>
          </p:nvSpPr>
          <p:spPr bwMode="auto">
            <a:xfrm>
              <a:off x="3495" y="402"/>
              <a:ext cx="89" cy="83"/>
            </a:xfrm>
            <a:custGeom>
              <a:avLst/>
              <a:gdLst>
                <a:gd name="T0" fmla="*/ 89 w 89"/>
                <a:gd name="T1" fmla="*/ 55 h 83"/>
                <a:gd name="T2" fmla="*/ 82 w 89"/>
                <a:gd name="T3" fmla="*/ 69 h 83"/>
                <a:gd name="T4" fmla="*/ 75 w 89"/>
                <a:gd name="T5" fmla="*/ 69 h 83"/>
                <a:gd name="T6" fmla="*/ 69 w 89"/>
                <a:gd name="T7" fmla="*/ 69 h 83"/>
                <a:gd name="T8" fmla="*/ 69 w 89"/>
                <a:gd name="T9" fmla="*/ 69 h 83"/>
                <a:gd name="T10" fmla="*/ 75 w 89"/>
                <a:gd name="T11" fmla="*/ 55 h 83"/>
                <a:gd name="T12" fmla="*/ 82 w 89"/>
                <a:gd name="T13" fmla="*/ 35 h 83"/>
                <a:gd name="T14" fmla="*/ 89 w 89"/>
                <a:gd name="T15" fmla="*/ 7 h 83"/>
                <a:gd name="T16" fmla="*/ 89 w 89"/>
                <a:gd name="T17" fmla="*/ 0 h 83"/>
                <a:gd name="T18" fmla="*/ 89 w 89"/>
                <a:gd name="T19" fmla="*/ 0 h 83"/>
                <a:gd name="T20" fmla="*/ 75 w 89"/>
                <a:gd name="T21" fmla="*/ 0 h 83"/>
                <a:gd name="T22" fmla="*/ 75 w 89"/>
                <a:gd name="T23" fmla="*/ 0 h 83"/>
                <a:gd name="T24" fmla="*/ 75 w 89"/>
                <a:gd name="T25" fmla="*/ 7 h 83"/>
                <a:gd name="T26" fmla="*/ 75 w 89"/>
                <a:gd name="T27" fmla="*/ 7 h 83"/>
                <a:gd name="T28" fmla="*/ 69 w 89"/>
                <a:gd name="T29" fmla="*/ 0 h 83"/>
                <a:gd name="T30" fmla="*/ 55 w 89"/>
                <a:gd name="T31" fmla="*/ 0 h 83"/>
                <a:gd name="T32" fmla="*/ 41 w 89"/>
                <a:gd name="T33" fmla="*/ 7 h 83"/>
                <a:gd name="T34" fmla="*/ 20 w 89"/>
                <a:gd name="T35" fmla="*/ 21 h 83"/>
                <a:gd name="T36" fmla="*/ 7 w 89"/>
                <a:gd name="T37" fmla="*/ 42 h 83"/>
                <a:gd name="T38" fmla="*/ 0 w 89"/>
                <a:gd name="T39" fmla="*/ 62 h 83"/>
                <a:gd name="T40" fmla="*/ 0 w 89"/>
                <a:gd name="T41" fmla="*/ 69 h 83"/>
                <a:gd name="T42" fmla="*/ 0 w 89"/>
                <a:gd name="T43" fmla="*/ 76 h 83"/>
                <a:gd name="T44" fmla="*/ 7 w 89"/>
                <a:gd name="T45" fmla="*/ 83 h 83"/>
                <a:gd name="T46" fmla="*/ 20 w 89"/>
                <a:gd name="T47" fmla="*/ 83 h 83"/>
                <a:gd name="T48" fmla="*/ 41 w 89"/>
                <a:gd name="T49" fmla="*/ 76 h 83"/>
                <a:gd name="T50" fmla="*/ 62 w 89"/>
                <a:gd name="T51" fmla="*/ 55 h 83"/>
                <a:gd name="T52" fmla="*/ 62 w 89"/>
                <a:gd name="T53" fmla="*/ 55 h 83"/>
                <a:gd name="T54" fmla="*/ 55 w 89"/>
                <a:gd name="T55" fmla="*/ 62 h 83"/>
                <a:gd name="T56" fmla="*/ 55 w 89"/>
                <a:gd name="T57" fmla="*/ 69 h 83"/>
                <a:gd name="T58" fmla="*/ 55 w 89"/>
                <a:gd name="T59" fmla="*/ 76 h 83"/>
                <a:gd name="T60" fmla="*/ 62 w 89"/>
                <a:gd name="T61" fmla="*/ 83 h 83"/>
                <a:gd name="T62" fmla="*/ 75 w 89"/>
                <a:gd name="T63" fmla="*/ 76 h 83"/>
                <a:gd name="T64" fmla="*/ 89 w 89"/>
                <a:gd name="T65" fmla="*/ 62 h 83"/>
                <a:gd name="T66" fmla="*/ 89 w 89"/>
                <a:gd name="T67" fmla="*/ 55 h 83"/>
                <a:gd name="T68" fmla="*/ 20 w 89"/>
                <a:gd name="T69" fmla="*/ 55 h 83"/>
                <a:gd name="T70" fmla="*/ 20 w 89"/>
                <a:gd name="T71" fmla="*/ 42 h 83"/>
                <a:gd name="T72" fmla="*/ 27 w 89"/>
                <a:gd name="T73" fmla="*/ 21 h 83"/>
                <a:gd name="T74" fmla="*/ 41 w 89"/>
                <a:gd name="T75" fmla="*/ 7 h 83"/>
                <a:gd name="T76" fmla="*/ 55 w 89"/>
                <a:gd name="T77" fmla="*/ 0 h 83"/>
                <a:gd name="T78" fmla="*/ 62 w 89"/>
                <a:gd name="T79" fmla="*/ 7 h 83"/>
                <a:gd name="T80" fmla="*/ 69 w 89"/>
                <a:gd name="T81" fmla="*/ 14 h 83"/>
                <a:gd name="T82" fmla="*/ 69 w 89"/>
                <a:gd name="T83" fmla="*/ 35 h 83"/>
                <a:gd name="T84" fmla="*/ 55 w 89"/>
                <a:gd name="T85" fmla="*/ 48 h 83"/>
                <a:gd name="T86" fmla="*/ 41 w 89"/>
                <a:gd name="T87" fmla="*/ 62 h 83"/>
                <a:gd name="T88" fmla="*/ 27 w 89"/>
                <a:gd name="T89" fmla="*/ 69 h 83"/>
                <a:gd name="T90" fmla="*/ 27 w 89"/>
                <a:gd name="T91" fmla="*/ 69 h 83"/>
                <a:gd name="T92" fmla="*/ 20 w 89"/>
                <a:gd name="T93" fmla="*/ 55 h 83"/>
                <a:gd name="T94" fmla="*/ 20 w 89"/>
                <a:gd name="T95" fmla="*/ 55 h 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9"/>
                <a:gd name="T145" fmla="*/ 0 h 83"/>
                <a:gd name="T146" fmla="*/ 89 w 89"/>
                <a:gd name="T147" fmla="*/ 83 h 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9" h="83">
                  <a:moveTo>
                    <a:pt x="89" y="55"/>
                  </a:moveTo>
                  <a:lnTo>
                    <a:pt x="82" y="69"/>
                  </a:lnTo>
                  <a:lnTo>
                    <a:pt x="75" y="69"/>
                  </a:lnTo>
                  <a:lnTo>
                    <a:pt x="69" y="69"/>
                  </a:lnTo>
                  <a:lnTo>
                    <a:pt x="75" y="55"/>
                  </a:lnTo>
                  <a:lnTo>
                    <a:pt x="82" y="35"/>
                  </a:lnTo>
                  <a:lnTo>
                    <a:pt x="89" y="7"/>
                  </a:lnTo>
                  <a:lnTo>
                    <a:pt x="89" y="0"/>
                  </a:lnTo>
                  <a:lnTo>
                    <a:pt x="75" y="0"/>
                  </a:lnTo>
                  <a:lnTo>
                    <a:pt x="75" y="7"/>
                  </a:lnTo>
                  <a:lnTo>
                    <a:pt x="69" y="0"/>
                  </a:lnTo>
                  <a:lnTo>
                    <a:pt x="55" y="0"/>
                  </a:lnTo>
                  <a:lnTo>
                    <a:pt x="41" y="7"/>
                  </a:lnTo>
                  <a:lnTo>
                    <a:pt x="20" y="21"/>
                  </a:lnTo>
                  <a:lnTo>
                    <a:pt x="7" y="42"/>
                  </a:lnTo>
                  <a:lnTo>
                    <a:pt x="0" y="62"/>
                  </a:lnTo>
                  <a:lnTo>
                    <a:pt x="0" y="69"/>
                  </a:lnTo>
                  <a:lnTo>
                    <a:pt x="0" y="76"/>
                  </a:lnTo>
                  <a:lnTo>
                    <a:pt x="7" y="83"/>
                  </a:lnTo>
                  <a:lnTo>
                    <a:pt x="20" y="83"/>
                  </a:lnTo>
                  <a:lnTo>
                    <a:pt x="41" y="76"/>
                  </a:lnTo>
                  <a:lnTo>
                    <a:pt x="62" y="55"/>
                  </a:lnTo>
                  <a:lnTo>
                    <a:pt x="55" y="62"/>
                  </a:lnTo>
                  <a:lnTo>
                    <a:pt x="55" y="69"/>
                  </a:lnTo>
                  <a:lnTo>
                    <a:pt x="55" y="76"/>
                  </a:lnTo>
                  <a:lnTo>
                    <a:pt x="62" y="83"/>
                  </a:lnTo>
                  <a:lnTo>
                    <a:pt x="75" y="76"/>
                  </a:lnTo>
                  <a:lnTo>
                    <a:pt x="89" y="62"/>
                  </a:lnTo>
                  <a:lnTo>
                    <a:pt x="89" y="55"/>
                  </a:lnTo>
                  <a:close/>
                  <a:moveTo>
                    <a:pt x="20" y="55"/>
                  </a:moveTo>
                  <a:lnTo>
                    <a:pt x="20" y="42"/>
                  </a:lnTo>
                  <a:lnTo>
                    <a:pt x="27" y="21"/>
                  </a:lnTo>
                  <a:lnTo>
                    <a:pt x="41" y="7"/>
                  </a:lnTo>
                  <a:lnTo>
                    <a:pt x="55" y="0"/>
                  </a:lnTo>
                  <a:lnTo>
                    <a:pt x="62" y="7"/>
                  </a:lnTo>
                  <a:lnTo>
                    <a:pt x="69" y="14"/>
                  </a:lnTo>
                  <a:lnTo>
                    <a:pt x="69" y="35"/>
                  </a:lnTo>
                  <a:lnTo>
                    <a:pt x="55" y="48"/>
                  </a:lnTo>
                  <a:lnTo>
                    <a:pt x="41" y="62"/>
                  </a:lnTo>
                  <a:lnTo>
                    <a:pt x="27" y="69"/>
                  </a:lnTo>
                  <a:lnTo>
                    <a:pt x="20" y="5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8" name="Freeform 60"/>
            <p:cNvSpPr>
              <a:spLocks noChangeAspect="1" noEditPoints="1"/>
            </p:cNvSpPr>
            <p:nvPr/>
          </p:nvSpPr>
          <p:spPr bwMode="auto">
            <a:xfrm>
              <a:off x="3495" y="1537"/>
              <a:ext cx="89" cy="124"/>
            </a:xfrm>
            <a:custGeom>
              <a:avLst/>
              <a:gdLst>
                <a:gd name="T0" fmla="*/ 75 w 89"/>
                <a:gd name="T1" fmla="*/ 69 h 124"/>
                <a:gd name="T2" fmla="*/ 75 w 89"/>
                <a:gd name="T3" fmla="*/ 83 h 124"/>
                <a:gd name="T4" fmla="*/ 62 w 89"/>
                <a:gd name="T5" fmla="*/ 103 h 124"/>
                <a:gd name="T6" fmla="*/ 48 w 89"/>
                <a:gd name="T7" fmla="*/ 117 h 124"/>
                <a:gd name="T8" fmla="*/ 27 w 89"/>
                <a:gd name="T9" fmla="*/ 124 h 124"/>
                <a:gd name="T10" fmla="*/ 20 w 89"/>
                <a:gd name="T11" fmla="*/ 124 h 124"/>
                <a:gd name="T12" fmla="*/ 20 w 89"/>
                <a:gd name="T13" fmla="*/ 117 h 124"/>
                <a:gd name="T14" fmla="*/ 27 w 89"/>
                <a:gd name="T15" fmla="*/ 96 h 124"/>
                <a:gd name="T16" fmla="*/ 34 w 89"/>
                <a:gd name="T17" fmla="*/ 76 h 124"/>
                <a:gd name="T18" fmla="*/ 48 w 89"/>
                <a:gd name="T19" fmla="*/ 62 h 124"/>
                <a:gd name="T20" fmla="*/ 62 w 89"/>
                <a:gd name="T21" fmla="*/ 55 h 124"/>
                <a:gd name="T22" fmla="*/ 69 w 89"/>
                <a:gd name="T23" fmla="*/ 62 h 124"/>
                <a:gd name="T24" fmla="*/ 75 w 89"/>
                <a:gd name="T25" fmla="*/ 69 h 124"/>
                <a:gd name="T26" fmla="*/ 75 w 89"/>
                <a:gd name="T27" fmla="*/ 69 h 124"/>
                <a:gd name="T28" fmla="*/ 20 w 89"/>
                <a:gd name="T29" fmla="*/ 7 h 124"/>
                <a:gd name="T30" fmla="*/ 27 w 89"/>
                <a:gd name="T31" fmla="*/ 7 h 124"/>
                <a:gd name="T32" fmla="*/ 34 w 89"/>
                <a:gd name="T33" fmla="*/ 14 h 124"/>
                <a:gd name="T34" fmla="*/ 34 w 89"/>
                <a:gd name="T35" fmla="*/ 21 h 124"/>
                <a:gd name="T36" fmla="*/ 27 w 89"/>
                <a:gd name="T37" fmla="*/ 28 h 124"/>
                <a:gd name="T38" fmla="*/ 0 w 89"/>
                <a:gd name="T39" fmla="*/ 117 h 124"/>
                <a:gd name="T40" fmla="*/ 0 w 89"/>
                <a:gd name="T41" fmla="*/ 117 h 124"/>
                <a:gd name="T42" fmla="*/ 7 w 89"/>
                <a:gd name="T43" fmla="*/ 124 h 124"/>
                <a:gd name="T44" fmla="*/ 13 w 89"/>
                <a:gd name="T45" fmla="*/ 124 h 124"/>
                <a:gd name="T46" fmla="*/ 27 w 89"/>
                <a:gd name="T47" fmla="*/ 124 h 124"/>
                <a:gd name="T48" fmla="*/ 48 w 89"/>
                <a:gd name="T49" fmla="*/ 117 h 124"/>
                <a:gd name="T50" fmla="*/ 69 w 89"/>
                <a:gd name="T51" fmla="*/ 110 h 124"/>
                <a:gd name="T52" fmla="*/ 82 w 89"/>
                <a:gd name="T53" fmla="*/ 89 h 124"/>
                <a:gd name="T54" fmla="*/ 89 w 89"/>
                <a:gd name="T55" fmla="*/ 69 h 124"/>
                <a:gd name="T56" fmla="*/ 82 w 89"/>
                <a:gd name="T57" fmla="*/ 48 h 124"/>
                <a:gd name="T58" fmla="*/ 69 w 89"/>
                <a:gd name="T59" fmla="*/ 41 h 124"/>
                <a:gd name="T60" fmla="*/ 55 w 89"/>
                <a:gd name="T61" fmla="*/ 48 h 124"/>
                <a:gd name="T62" fmla="*/ 41 w 89"/>
                <a:gd name="T63" fmla="*/ 55 h 124"/>
                <a:gd name="T64" fmla="*/ 27 w 89"/>
                <a:gd name="T65" fmla="*/ 69 h 124"/>
                <a:gd name="T66" fmla="*/ 27 w 89"/>
                <a:gd name="T67" fmla="*/ 69 h 124"/>
                <a:gd name="T68" fmla="*/ 41 w 89"/>
                <a:gd name="T69" fmla="*/ 34 h 124"/>
                <a:gd name="T70" fmla="*/ 48 w 89"/>
                <a:gd name="T71" fmla="*/ 14 h 124"/>
                <a:gd name="T72" fmla="*/ 48 w 89"/>
                <a:gd name="T73" fmla="*/ 0 h 124"/>
                <a:gd name="T74" fmla="*/ 48 w 89"/>
                <a:gd name="T75" fmla="*/ 0 h 124"/>
                <a:gd name="T76" fmla="*/ 34 w 89"/>
                <a:gd name="T77" fmla="*/ 0 h 124"/>
                <a:gd name="T78" fmla="*/ 20 w 89"/>
                <a:gd name="T79" fmla="*/ 7 h 124"/>
                <a:gd name="T80" fmla="*/ 20 w 89"/>
                <a:gd name="T81" fmla="*/ 7 h 1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9"/>
                <a:gd name="T124" fmla="*/ 0 h 124"/>
                <a:gd name="T125" fmla="*/ 89 w 89"/>
                <a:gd name="T126" fmla="*/ 124 h 1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9" h="124">
                  <a:moveTo>
                    <a:pt x="75" y="69"/>
                  </a:moveTo>
                  <a:lnTo>
                    <a:pt x="75" y="83"/>
                  </a:lnTo>
                  <a:lnTo>
                    <a:pt x="62" y="103"/>
                  </a:lnTo>
                  <a:lnTo>
                    <a:pt x="48" y="117"/>
                  </a:lnTo>
                  <a:lnTo>
                    <a:pt x="27" y="124"/>
                  </a:lnTo>
                  <a:lnTo>
                    <a:pt x="20" y="124"/>
                  </a:lnTo>
                  <a:lnTo>
                    <a:pt x="20" y="117"/>
                  </a:lnTo>
                  <a:lnTo>
                    <a:pt x="27" y="96"/>
                  </a:lnTo>
                  <a:lnTo>
                    <a:pt x="34" y="76"/>
                  </a:lnTo>
                  <a:lnTo>
                    <a:pt x="48" y="62"/>
                  </a:lnTo>
                  <a:lnTo>
                    <a:pt x="62" y="55"/>
                  </a:lnTo>
                  <a:lnTo>
                    <a:pt x="69" y="62"/>
                  </a:lnTo>
                  <a:lnTo>
                    <a:pt x="75" y="69"/>
                  </a:lnTo>
                  <a:close/>
                  <a:moveTo>
                    <a:pt x="20" y="7"/>
                  </a:moveTo>
                  <a:lnTo>
                    <a:pt x="27" y="7"/>
                  </a:lnTo>
                  <a:lnTo>
                    <a:pt x="34" y="14"/>
                  </a:lnTo>
                  <a:lnTo>
                    <a:pt x="34" y="21"/>
                  </a:lnTo>
                  <a:lnTo>
                    <a:pt x="27" y="28"/>
                  </a:lnTo>
                  <a:lnTo>
                    <a:pt x="0" y="117"/>
                  </a:lnTo>
                  <a:lnTo>
                    <a:pt x="7" y="124"/>
                  </a:lnTo>
                  <a:lnTo>
                    <a:pt x="13" y="124"/>
                  </a:lnTo>
                  <a:lnTo>
                    <a:pt x="27" y="124"/>
                  </a:lnTo>
                  <a:lnTo>
                    <a:pt x="48" y="117"/>
                  </a:lnTo>
                  <a:lnTo>
                    <a:pt x="69" y="110"/>
                  </a:lnTo>
                  <a:lnTo>
                    <a:pt x="82" y="89"/>
                  </a:lnTo>
                  <a:lnTo>
                    <a:pt x="89" y="69"/>
                  </a:lnTo>
                  <a:lnTo>
                    <a:pt x="82" y="48"/>
                  </a:lnTo>
                  <a:lnTo>
                    <a:pt x="69" y="41"/>
                  </a:lnTo>
                  <a:lnTo>
                    <a:pt x="55" y="48"/>
                  </a:lnTo>
                  <a:lnTo>
                    <a:pt x="41" y="55"/>
                  </a:lnTo>
                  <a:lnTo>
                    <a:pt x="27" y="69"/>
                  </a:lnTo>
                  <a:lnTo>
                    <a:pt x="41" y="34"/>
                  </a:lnTo>
                  <a:lnTo>
                    <a:pt x="48" y="14"/>
                  </a:lnTo>
                  <a:lnTo>
                    <a:pt x="48" y="0"/>
                  </a:lnTo>
                  <a:lnTo>
                    <a:pt x="34" y="0"/>
                  </a:lnTo>
                  <a:lnTo>
                    <a:pt x="2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99" name="Freeform 61"/>
            <p:cNvSpPr>
              <a:spLocks noChangeAspect="1"/>
            </p:cNvSpPr>
            <p:nvPr/>
          </p:nvSpPr>
          <p:spPr bwMode="auto">
            <a:xfrm>
              <a:off x="3495" y="994"/>
              <a:ext cx="124" cy="124"/>
            </a:xfrm>
            <a:custGeom>
              <a:avLst/>
              <a:gdLst>
                <a:gd name="T0" fmla="*/ 124 w 124"/>
                <a:gd name="T1" fmla="*/ 0 h 124"/>
                <a:gd name="T2" fmla="*/ 82 w 124"/>
                <a:gd name="T3" fmla="*/ 0 h 124"/>
                <a:gd name="T4" fmla="*/ 82 w 124"/>
                <a:gd name="T5" fmla="*/ 7 h 124"/>
                <a:gd name="T6" fmla="*/ 89 w 124"/>
                <a:gd name="T7" fmla="*/ 7 h 124"/>
                <a:gd name="T8" fmla="*/ 96 w 124"/>
                <a:gd name="T9" fmla="*/ 14 h 124"/>
                <a:gd name="T10" fmla="*/ 96 w 124"/>
                <a:gd name="T11" fmla="*/ 27 h 124"/>
                <a:gd name="T12" fmla="*/ 89 w 124"/>
                <a:gd name="T13" fmla="*/ 34 h 124"/>
                <a:gd name="T14" fmla="*/ 48 w 124"/>
                <a:gd name="T15" fmla="*/ 96 h 124"/>
                <a:gd name="T16" fmla="*/ 48 w 124"/>
                <a:gd name="T17" fmla="*/ 96 h 124"/>
                <a:gd name="T18" fmla="*/ 34 w 124"/>
                <a:gd name="T19" fmla="*/ 20 h 124"/>
                <a:gd name="T20" fmla="*/ 41 w 124"/>
                <a:gd name="T21" fmla="*/ 7 h 124"/>
                <a:gd name="T22" fmla="*/ 48 w 124"/>
                <a:gd name="T23" fmla="*/ 7 h 124"/>
                <a:gd name="T24" fmla="*/ 48 w 124"/>
                <a:gd name="T25" fmla="*/ 0 h 124"/>
                <a:gd name="T26" fmla="*/ 0 w 124"/>
                <a:gd name="T27" fmla="*/ 0 h 124"/>
                <a:gd name="T28" fmla="*/ 0 w 124"/>
                <a:gd name="T29" fmla="*/ 7 h 124"/>
                <a:gd name="T30" fmla="*/ 13 w 124"/>
                <a:gd name="T31" fmla="*/ 7 h 124"/>
                <a:gd name="T32" fmla="*/ 13 w 124"/>
                <a:gd name="T33" fmla="*/ 14 h 124"/>
                <a:gd name="T34" fmla="*/ 20 w 124"/>
                <a:gd name="T35" fmla="*/ 27 h 124"/>
                <a:gd name="T36" fmla="*/ 34 w 124"/>
                <a:gd name="T37" fmla="*/ 124 h 124"/>
                <a:gd name="T38" fmla="*/ 34 w 124"/>
                <a:gd name="T39" fmla="*/ 124 h 124"/>
                <a:gd name="T40" fmla="*/ 110 w 124"/>
                <a:gd name="T41" fmla="*/ 14 h 124"/>
                <a:gd name="T42" fmla="*/ 117 w 124"/>
                <a:gd name="T43" fmla="*/ 14 h 124"/>
                <a:gd name="T44" fmla="*/ 124 w 124"/>
                <a:gd name="T45" fmla="*/ 7 h 124"/>
                <a:gd name="T46" fmla="*/ 124 w 124"/>
                <a:gd name="T47" fmla="*/ 0 h 12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4"/>
                <a:gd name="T73" fmla="*/ 0 h 124"/>
                <a:gd name="T74" fmla="*/ 124 w 124"/>
                <a:gd name="T75" fmla="*/ 124 h 12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4" h="124">
                  <a:moveTo>
                    <a:pt x="124" y="0"/>
                  </a:moveTo>
                  <a:lnTo>
                    <a:pt x="82" y="0"/>
                  </a:lnTo>
                  <a:lnTo>
                    <a:pt x="82" y="7"/>
                  </a:lnTo>
                  <a:lnTo>
                    <a:pt x="89" y="7"/>
                  </a:lnTo>
                  <a:lnTo>
                    <a:pt x="96" y="14"/>
                  </a:lnTo>
                  <a:lnTo>
                    <a:pt x="96" y="27"/>
                  </a:lnTo>
                  <a:lnTo>
                    <a:pt x="89" y="34"/>
                  </a:lnTo>
                  <a:lnTo>
                    <a:pt x="48" y="96"/>
                  </a:lnTo>
                  <a:lnTo>
                    <a:pt x="34" y="20"/>
                  </a:lnTo>
                  <a:lnTo>
                    <a:pt x="41" y="7"/>
                  </a:lnTo>
                  <a:lnTo>
                    <a:pt x="48" y="7"/>
                  </a:lnTo>
                  <a:lnTo>
                    <a:pt x="48" y="0"/>
                  </a:lnTo>
                  <a:lnTo>
                    <a:pt x="0" y="0"/>
                  </a:lnTo>
                  <a:lnTo>
                    <a:pt x="0" y="7"/>
                  </a:lnTo>
                  <a:lnTo>
                    <a:pt x="13" y="7"/>
                  </a:lnTo>
                  <a:lnTo>
                    <a:pt x="13" y="14"/>
                  </a:lnTo>
                  <a:lnTo>
                    <a:pt x="20" y="27"/>
                  </a:lnTo>
                  <a:lnTo>
                    <a:pt x="34" y="124"/>
                  </a:lnTo>
                  <a:lnTo>
                    <a:pt x="110" y="14"/>
                  </a:lnTo>
                  <a:lnTo>
                    <a:pt x="117" y="14"/>
                  </a:lnTo>
                  <a:lnTo>
                    <a:pt x="124" y="7"/>
                  </a:lnTo>
                  <a:lnTo>
                    <a:pt x="12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800" name="Freeform 62"/>
            <p:cNvSpPr>
              <a:spLocks noChangeAspect="1"/>
            </p:cNvSpPr>
            <p:nvPr/>
          </p:nvSpPr>
          <p:spPr bwMode="auto">
            <a:xfrm>
              <a:off x="3488" y="753"/>
              <a:ext cx="103" cy="96"/>
            </a:xfrm>
            <a:custGeom>
              <a:avLst/>
              <a:gdLst>
                <a:gd name="T0" fmla="*/ 48 w 103"/>
                <a:gd name="T1" fmla="*/ 0 h 96"/>
                <a:gd name="T2" fmla="*/ 48 w 103"/>
                <a:gd name="T3" fmla="*/ 41 h 96"/>
                <a:gd name="T4" fmla="*/ 0 w 103"/>
                <a:gd name="T5" fmla="*/ 41 h 96"/>
                <a:gd name="T6" fmla="*/ 0 w 103"/>
                <a:gd name="T7" fmla="*/ 55 h 96"/>
                <a:gd name="T8" fmla="*/ 48 w 103"/>
                <a:gd name="T9" fmla="*/ 55 h 96"/>
                <a:gd name="T10" fmla="*/ 48 w 103"/>
                <a:gd name="T11" fmla="*/ 96 h 96"/>
                <a:gd name="T12" fmla="*/ 62 w 103"/>
                <a:gd name="T13" fmla="*/ 96 h 96"/>
                <a:gd name="T14" fmla="*/ 62 w 103"/>
                <a:gd name="T15" fmla="*/ 55 h 96"/>
                <a:gd name="T16" fmla="*/ 103 w 103"/>
                <a:gd name="T17" fmla="*/ 55 h 96"/>
                <a:gd name="T18" fmla="*/ 103 w 103"/>
                <a:gd name="T19" fmla="*/ 41 h 96"/>
                <a:gd name="T20" fmla="*/ 62 w 103"/>
                <a:gd name="T21" fmla="*/ 41 h 96"/>
                <a:gd name="T22" fmla="*/ 62 w 103"/>
                <a:gd name="T23" fmla="*/ 0 h 96"/>
                <a:gd name="T24" fmla="*/ 48 w 103"/>
                <a:gd name="T25" fmla="*/ 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96"/>
                <a:gd name="T41" fmla="*/ 103 w 103"/>
                <a:gd name="T42" fmla="*/ 96 h 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96">
                  <a:moveTo>
                    <a:pt x="48" y="0"/>
                  </a:moveTo>
                  <a:lnTo>
                    <a:pt x="48" y="41"/>
                  </a:lnTo>
                  <a:lnTo>
                    <a:pt x="0" y="41"/>
                  </a:lnTo>
                  <a:lnTo>
                    <a:pt x="0" y="55"/>
                  </a:lnTo>
                  <a:lnTo>
                    <a:pt x="48" y="55"/>
                  </a:lnTo>
                  <a:lnTo>
                    <a:pt x="48" y="96"/>
                  </a:lnTo>
                  <a:lnTo>
                    <a:pt x="62" y="96"/>
                  </a:lnTo>
                  <a:lnTo>
                    <a:pt x="62" y="55"/>
                  </a:lnTo>
                  <a:lnTo>
                    <a:pt x="103" y="55"/>
                  </a:lnTo>
                  <a:lnTo>
                    <a:pt x="103" y="41"/>
                  </a:lnTo>
                  <a:lnTo>
                    <a:pt x="62" y="41"/>
                  </a:lnTo>
                  <a:lnTo>
                    <a:pt x="62" y="0"/>
                  </a:ln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801" name="Rectangle 63"/>
            <p:cNvSpPr>
              <a:spLocks noChangeAspect="1" noChangeArrowheads="1"/>
            </p:cNvSpPr>
            <p:nvPr/>
          </p:nvSpPr>
          <p:spPr bwMode="auto">
            <a:xfrm>
              <a:off x="3488" y="1262"/>
              <a:ext cx="103" cy="7"/>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9802" name="Freeform 64"/>
            <p:cNvSpPr>
              <a:spLocks noChangeAspect="1"/>
            </p:cNvSpPr>
            <p:nvPr/>
          </p:nvSpPr>
          <p:spPr bwMode="auto">
            <a:xfrm>
              <a:off x="2847" y="1895"/>
              <a:ext cx="48" cy="151"/>
            </a:xfrm>
            <a:custGeom>
              <a:avLst/>
              <a:gdLst>
                <a:gd name="T0" fmla="*/ 48 w 48"/>
                <a:gd name="T1" fmla="*/ 0 h 151"/>
                <a:gd name="T2" fmla="*/ 28 w 48"/>
                <a:gd name="T3" fmla="*/ 13 h 151"/>
                <a:gd name="T4" fmla="*/ 14 w 48"/>
                <a:gd name="T5" fmla="*/ 27 h 151"/>
                <a:gd name="T6" fmla="*/ 0 w 48"/>
                <a:gd name="T7" fmla="*/ 75 h 151"/>
                <a:gd name="T8" fmla="*/ 7 w 48"/>
                <a:gd name="T9" fmla="*/ 103 h 151"/>
                <a:gd name="T10" fmla="*/ 14 w 48"/>
                <a:gd name="T11" fmla="*/ 124 h 151"/>
                <a:gd name="T12" fmla="*/ 28 w 48"/>
                <a:gd name="T13" fmla="*/ 144 h 151"/>
                <a:gd name="T14" fmla="*/ 48 w 48"/>
                <a:gd name="T15" fmla="*/ 151 h 151"/>
                <a:gd name="T16" fmla="*/ 48 w 48"/>
                <a:gd name="T17" fmla="*/ 151 h 151"/>
                <a:gd name="T18" fmla="*/ 28 w 48"/>
                <a:gd name="T19" fmla="*/ 130 h 151"/>
                <a:gd name="T20" fmla="*/ 21 w 48"/>
                <a:gd name="T21" fmla="*/ 110 h 151"/>
                <a:gd name="T22" fmla="*/ 14 w 48"/>
                <a:gd name="T23" fmla="*/ 89 h 151"/>
                <a:gd name="T24" fmla="*/ 14 w 48"/>
                <a:gd name="T25" fmla="*/ 75 h 151"/>
                <a:gd name="T26" fmla="*/ 21 w 48"/>
                <a:gd name="T27" fmla="*/ 48 h 151"/>
                <a:gd name="T28" fmla="*/ 28 w 48"/>
                <a:gd name="T29" fmla="*/ 27 h 151"/>
                <a:gd name="T30" fmla="*/ 48 w 48"/>
                <a:gd name="T31" fmla="*/ 0 h 151"/>
                <a:gd name="T32" fmla="*/ 48 w 48"/>
                <a:gd name="T33" fmla="*/ 0 h 1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151"/>
                <a:gd name="T53" fmla="*/ 48 w 48"/>
                <a:gd name="T54" fmla="*/ 151 h 1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151">
                  <a:moveTo>
                    <a:pt x="48" y="0"/>
                  </a:moveTo>
                  <a:lnTo>
                    <a:pt x="28" y="13"/>
                  </a:lnTo>
                  <a:lnTo>
                    <a:pt x="14" y="27"/>
                  </a:lnTo>
                  <a:lnTo>
                    <a:pt x="0" y="75"/>
                  </a:lnTo>
                  <a:lnTo>
                    <a:pt x="7" y="103"/>
                  </a:lnTo>
                  <a:lnTo>
                    <a:pt x="14" y="124"/>
                  </a:lnTo>
                  <a:lnTo>
                    <a:pt x="28" y="144"/>
                  </a:lnTo>
                  <a:lnTo>
                    <a:pt x="48" y="151"/>
                  </a:lnTo>
                  <a:lnTo>
                    <a:pt x="28" y="130"/>
                  </a:lnTo>
                  <a:lnTo>
                    <a:pt x="21" y="110"/>
                  </a:lnTo>
                  <a:lnTo>
                    <a:pt x="14" y="89"/>
                  </a:lnTo>
                  <a:lnTo>
                    <a:pt x="14" y="75"/>
                  </a:lnTo>
                  <a:lnTo>
                    <a:pt x="21" y="48"/>
                  </a:lnTo>
                  <a:lnTo>
                    <a:pt x="28" y="27"/>
                  </a:ln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803" name="Freeform 65"/>
            <p:cNvSpPr>
              <a:spLocks noChangeAspect="1" noEditPoints="1"/>
            </p:cNvSpPr>
            <p:nvPr/>
          </p:nvSpPr>
          <p:spPr bwMode="auto">
            <a:xfrm>
              <a:off x="2909" y="1929"/>
              <a:ext cx="76" cy="90"/>
            </a:xfrm>
            <a:custGeom>
              <a:avLst/>
              <a:gdLst>
                <a:gd name="T0" fmla="*/ 48 w 76"/>
                <a:gd name="T1" fmla="*/ 62 h 90"/>
                <a:gd name="T2" fmla="*/ 48 w 76"/>
                <a:gd name="T3" fmla="*/ 69 h 90"/>
                <a:gd name="T4" fmla="*/ 41 w 76"/>
                <a:gd name="T5" fmla="*/ 76 h 90"/>
                <a:gd name="T6" fmla="*/ 34 w 76"/>
                <a:gd name="T7" fmla="*/ 76 h 90"/>
                <a:gd name="T8" fmla="*/ 28 w 76"/>
                <a:gd name="T9" fmla="*/ 76 h 90"/>
                <a:gd name="T10" fmla="*/ 21 w 76"/>
                <a:gd name="T11" fmla="*/ 76 h 90"/>
                <a:gd name="T12" fmla="*/ 14 w 76"/>
                <a:gd name="T13" fmla="*/ 62 h 90"/>
                <a:gd name="T14" fmla="*/ 14 w 76"/>
                <a:gd name="T15" fmla="*/ 62 h 90"/>
                <a:gd name="T16" fmla="*/ 21 w 76"/>
                <a:gd name="T17" fmla="*/ 55 h 90"/>
                <a:gd name="T18" fmla="*/ 28 w 76"/>
                <a:gd name="T19" fmla="*/ 48 h 90"/>
                <a:gd name="T20" fmla="*/ 48 w 76"/>
                <a:gd name="T21" fmla="*/ 41 h 90"/>
                <a:gd name="T22" fmla="*/ 48 w 76"/>
                <a:gd name="T23" fmla="*/ 62 h 90"/>
                <a:gd name="T24" fmla="*/ 76 w 76"/>
                <a:gd name="T25" fmla="*/ 76 h 90"/>
                <a:gd name="T26" fmla="*/ 76 w 76"/>
                <a:gd name="T27" fmla="*/ 76 h 90"/>
                <a:gd name="T28" fmla="*/ 69 w 76"/>
                <a:gd name="T29" fmla="*/ 76 h 90"/>
                <a:gd name="T30" fmla="*/ 62 w 76"/>
                <a:gd name="T31" fmla="*/ 76 h 90"/>
                <a:gd name="T32" fmla="*/ 62 w 76"/>
                <a:gd name="T33" fmla="*/ 69 h 90"/>
                <a:gd name="T34" fmla="*/ 62 w 76"/>
                <a:gd name="T35" fmla="*/ 34 h 90"/>
                <a:gd name="T36" fmla="*/ 62 w 76"/>
                <a:gd name="T37" fmla="*/ 14 h 90"/>
                <a:gd name="T38" fmla="*/ 48 w 76"/>
                <a:gd name="T39" fmla="*/ 7 h 90"/>
                <a:gd name="T40" fmla="*/ 34 w 76"/>
                <a:gd name="T41" fmla="*/ 0 h 90"/>
                <a:gd name="T42" fmla="*/ 7 w 76"/>
                <a:gd name="T43" fmla="*/ 7 h 90"/>
                <a:gd name="T44" fmla="*/ 0 w 76"/>
                <a:gd name="T45" fmla="*/ 21 h 90"/>
                <a:gd name="T46" fmla="*/ 7 w 76"/>
                <a:gd name="T47" fmla="*/ 28 h 90"/>
                <a:gd name="T48" fmla="*/ 7 w 76"/>
                <a:gd name="T49" fmla="*/ 34 h 90"/>
                <a:gd name="T50" fmla="*/ 14 w 76"/>
                <a:gd name="T51" fmla="*/ 28 h 90"/>
                <a:gd name="T52" fmla="*/ 21 w 76"/>
                <a:gd name="T53" fmla="*/ 21 h 90"/>
                <a:gd name="T54" fmla="*/ 21 w 76"/>
                <a:gd name="T55" fmla="*/ 21 h 90"/>
                <a:gd name="T56" fmla="*/ 21 w 76"/>
                <a:gd name="T57" fmla="*/ 14 h 90"/>
                <a:gd name="T58" fmla="*/ 28 w 76"/>
                <a:gd name="T59" fmla="*/ 14 h 90"/>
                <a:gd name="T60" fmla="*/ 34 w 76"/>
                <a:gd name="T61" fmla="*/ 7 h 90"/>
                <a:gd name="T62" fmla="*/ 41 w 76"/>
                <a:gd name="T63" fmla="*/ 7 h 90"/>
                <a:gd name="T64" fmla="*/ 48 w 76"/>
                <a:gd name="T65" fmla="*/ 21 h 90"/>
                <a:gd name="T66" fmla="*/ 48 w 76"/>
                <a:gd name="T67" fmla="*/ 34 h 90"/>
                <a:gd name="T68" fmla="*/ 28 w 76"/>
                <a:gd name="T69" fmla="*/ 41 h 90"/>
                <a:gd name="T70" fmla="*/ 14 w 76"/>
                <a:gd name="T71" fmla="*/ 55 h 90"/>
                <a:gd name="T72" fmla="*/ 0 w 76"/>
                <a:gd name="T73" fmla="*/ 69 h 90"/>
                <a:gd name="T74" fmla="*/ 7 w 76"/>
                <a:gd name="T75" fmla="*/ 83 h 90"/>
                <a:gd name="T76" fmla="*/ 21 w 76"/>
                <a:gd name="T77" fmla="*/ 90 h 90"/>
                <a:gd name="T78" fmla="*/ 34 w 76"/>
                <a:gd name="T79" fmla="*/ 83 h 90"/>
                <a:gd name="T80" fmla="*/ 48 w 76"/>
                <a:gd name="T81" fmla="*/ 76 h 90"/>
                <a:gd name="T82" fmla="*/ 55 w 76"/>
                <a:gd name="T83" fmla="*/ 90 h 90"/>
                <a:gd name="T84" fmla="*/ 62 w 76"/>
                <a:gd name="T85" fmla="*/ 90 h 90"/>
                <a:gd name="T86" fmla="*/ 69 w 76"/>
                <a:gd name="T87" fmla="*/ 90 h 90"/>
                <a:gd name="T88" fmla="*/ 76 w 76"/>
                <a:gd name="T89" fmla="*/ 83 h 90"/>
                <a:gd name="T90" fmla="*/ 76 w 76"/>
                <a:gd name="T91" fmla="*/ 76 h 9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6"/>
                <a:gd name="T139" fmla="*/ 0 h 90"/>
                <a:gd name="T140" fmla="*/ 76 w 76"/>
                <a:gd name="T141" fmla="*/ 90 h 9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6" h="90">
                  <a:moveTo>
                    <a:pt x="48" y="62"/>
                  </a:moveTo>
                  <a:lnTo>
                    <a:pt x="48" y="69"/>
                  </a:lnTo>
                  <a:lnTo>
                    <a:pt x="41" y="76"/>
                  </a:lnTo>
                  <a:lnTo>
                    <a:pt x="34" y="76"/>
                  </a:lnTo>
                  <a:lnTo>
                    <a:pt x="28" y="76"/>
                  </a:lnTo>
                  <a:lnTo>
                    <a:pt x="21" y="76"/>
                  </a:lnTo>
                  <a:lnTo>
                    <a:pt x="14" y="62"/>
                  </a:lnTo>
                  <a:lnTo>
                    <a:pt x="21" y="55"/>
                  </a:lnTo>
                  <a:lnTo>
                    <a:pt x="28" y="48"/>
                  </a:lnTo>
                  <a:lnTo>
                    <a:pt x="48" y="41"/>
                  </a:lnTo>
                  <a:lnTo>
                    <a:pt x="48" y="62"/>
                  </a:lnTo>
                  <a:close/>
                  <a:moveTo>
                    <a:pt x="76" y="76"/>
                  </a:moveTo>
                  <a:lnTo>
                    <a:pt x="76" y="76"/>
                  </a:lnTo>
                  <a:lnTo>
                    <a:pt x="69" y="76"/>
                  </a:lnTo>
                  <a:lnTo>
                    <a:pt x="62" y="76"/>
                  </a:lnTo>
                  <a:lnTo>
                    <a:pt x="62" y="69"/>
                  </a:lnTo>
                  <a:lnTo>
                    <a:pt x="62" y="34"/>
                  </a:lnTo>
                  <a:lnTo>
                    <a:pt x="62" y="14"/>
                  </a:lnTo>
                  <a:lnTo>
                    <a:pt x="48" y="7"/>
                  </a:lnTo>
                  <a:lnTo>
                    <a:pt x="34" y="0"/>
                  </a:lnTo>
                  <a:lnTo>
                    <a:pt x="7" y="7"/>
                  </a:lnTo>
                  <a:lnTo>
                    <a:pt x="0" y="21"/>
                  </a:lnTo>
                  <a:lnTo>
                    <a:pt x="7" y="28"/>
                  </a:lnTo>
                  <a:lnTo>
                    <a:pt x="7" y="34"/>
                  </a:lnTo>
                  <a:lnTo>
                    <a:pt x="14" y="28"/>
                  </a:lnTo>
                  <a:lnTo>
                    <a:pt x="21" y="21"/>
                  </a:lnTo>
                  <a:lnTo>
                    <a:pt x="21" y="14"/>
                  </a:lnTo>
                  <a:lnTo>
                    <a:pt x="28" y="14"/>
                  </a:lnTo>
                  <a:lnTo>
                    <a:pt x="34" y="7"/>
                  </a:lnTo>
                  <a:lnTo>
                    <a:pt x="41" y="7"/>
                  </a:lnTo>
                  <a:lnTo>
                    <a:pt x="48" y="21"/>
                  </a:lnTo>
                  <a:lnTo>
                    <a:pt x="48" y="34"/>
                  </a:lnTo>
                  <a:lnTo>
                    <a:pt x="28" y="41"/>
                  </a:lnTo>
                  <a:lnTo>
                    <a:pt x="14" y="55"/>
                  </a:lnTo>
                  <a:lnTo>
                    <a:pt x="0" y="69"/>
                  </a:lnTo>
                  <a:lnTo>
                    <a:pt x="7" y="83"/>
                  </a:lnTo>
                  <a:lnTo>
                    <a:pt x="21" y="90"/>
                  </a:lnTo>
                  <a:lnTo>
                    <a:pt x="34" y="83"/>
                  </a:lnTo>
                  <a:lnTo>
                    <a:pt x="48" y="76"/>
                  </a:lnTo>
                  <a:lnTo>
                    <a:pt x="55" y="90"/>
                  </a:lnTo>
                  <a:lnTo>
                    <a:pt x="62" y="90"/>
                  </a:lnTo>
                  <a:lnTo>
                    <a:pt x="69" y="90"/>
                  </a:lnTo>
                  <a:lnTo>
                    <a:pt x="76" y="83"/>
                  </a:lnTo>
                  <a:lnTo>
                    <a:pt x="76" y="7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804" name="Freeform 66"/>
            <p:cNvSpPr>
              <a:spLocks noChangeAspect="1"/>
            </p:cNvSpPr>
            <p:nvPr/>
          </p:nvSpPr>
          <p:spPr bwMode="auto">
            <a:xfrm>
              <a:off x="2992" y="1895"/>
              <a:ext cx="48" cy="151"/>
            </a:xfrm>
            <a:custGeom>
              <a:avLst/>
              <a:gdLst>
                <a:gd name="T0" fmla="*/ 0 w 48"/>
                <a:gd name="T1" fmla="*/ 151 h 151"/>
                <a:gd name="T2" fmla="*/ 20 w 48"/>
                <a:gd name="T3" fmla="*/ 137 h 151"/>
                <a:gd name="T4" fmla="*/ 34 w 48"/>
                <a:gd name="T5" fmla="*/ 124 h 151"/>
                <a:gd name="T6" fmla="*/ 48 w 48"/>
                <a:gd name="T7" fmla="*/ 75 h 151"/>
                <a:gd name="T8" fmla="*/ 41 w 48"/>
                <a:gd name="T9" fmla="*/ 48 h 151"/>
                <a:gd name="T10" fmla="*/ 34 w 48"/>
                <a:gd name="T11" fmla="*/ 27 h 151"/>
                <a:gd name="T12" fmla="*/ 20 w 48"/>
                <a:gd name="T13" fmla="*/ 13 h 151"/>
                <a:gd name="T14" fmla="*/ 0 w 48"/>
                <a:gd name="T15" fmla="*/ 0 h 151"/>
                <a:gd name="T16" fmla="*/ 0 w 48"/>
                <a:gd name="T17" fmla="*/ 0 h 151"/>
                <a:gd name="T18" fmla="*/ 20 w 48"/>
                <a:gd name="T19" fmla="*/ 20 h 151"/>
                <a:gd name="T20" fmla="*/ 27 w 48"/>
                <a:gd name="T21" fmla="*/ 41 h 151"/>
                <a:gd name="T22" fmla="*/ 34 w 48"/>
                <a:gd name="T23" fmla="*/ 62 h 151"/>
                <a:gd name="T24" fmla="*/ 34 w 48"/>
                <a:gd name="T25" fmla="*/ 82 h 151"/>
                <a:gd name="T26" fmla="*/ 34 w 48"/>
                <a:gd name="T27" fmla="*/ 110 h 151"/>
                <a:gd name="T28" fmla="*/ 20 w 48"/>
                <a:gd name="T29" fmla="*/ 130 h 151"/>
                <a:gd name="T30" fmla="*/ 0 w 48"/>
                <a:gd name="T31" fmla="*/ 151 h 151"/>
                <a:gd name="T32" fmla="*/ 0 w 48"/>
                <a:gd name="T33" fmla="*/ 151 h 1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151"/>
                <a:gd name="T53" fmla="*/ 48 w 48"/>
                <a:gd name="T54" fmla="*/ 151 h 15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151">
                  <a:moveTo>
                    <a:pt x="0" y="151"/>
                  </a:moveTo>
                  <a:lnTo>
                    <a:pt x="20" y="137"/>
                  </a:lnTo>
                  <a:lnTo>
                    <a:pt x="34" y="124"/>
                  </a:lnTo>
                  <a:lnTo>
                    <a:pt x="48" y="75"/>
                  </a:lnTo>
                  <a:lnTo>
                    <a:pt x="41" y="48"/>
                  </a:lnTo>
                  <a:lnTo>
                    <a:pt x="34" y="27"/>
                  </a:lnTo>
                  <a:lnTo>
                    <a:pt x="20" y="13"/>
                  </a:lnTo>
                  <a:lnTo>
                    <a:pt x="0" y="0"/>
                  </a:lnTo>
                  <a:lnTo>
                    <a:pt x="20" y="20"/>
                  </a:lnTo>
                  <a:lnTo>
                    <a:pt x="27" y="41"/>
                  </a:lnTo>
                  <a:lnTo>
                    <a:pt x="34" y="62"/>
                  </a:lnTo>
                  <a:lnTo>
                    <a:pt x="34" y="82"/>
                  </a:lnTo>
                  <a:lnTo>
                    <a:pt x="34" y="110"/>
                  </a:lnTo>
                  <a:lnTo>
                    <a:pt x="20" y="130"/>
                  </a:lnTo>
                  <a:lnTo>
                    <a:pt x="0" y="1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3" name="Group 67"/>
          <p:cNvGrpSpPr>
            <a:grpSpLocks noChangeAspect="1"/>
          </p:cNvGrpSpPr>
          <p:nvPr/>
        </p:nvGrpSpPr>
        <p:grpSpPr bwMode="auto">
          <a:xfrm>
            <a:off x="4267600" y="3876687"/>
            <a:ext cx="4190748" cy="2352025"/>
            <a:chOff x="1042" y="2321"/>
            <a:chExt cx="3673" cy="1733"/>
          </a:xfrm>
        </p:grpSpPr>
        <p:sp>
          <p:nvSpPr>
            <p:cNvPr id="29707" name="Freeform 68"/>
            <p:cNvSpPr>
              <a:spLocks noChangeAspect="1"/>
            </p:cNvSpPr>
            <p:nvPr/>
          </p:nvSpPr>
          <p:spPr bwMode="auto">
            <a:xfrm>
              <a:off x="1559" y="2658"/>
              <a:ext cx="2280" cy="1"/>
            </a:xfrm>
            <a:custGeom>
              <a:avLst/>
              <a:gdLst>
                <a:gd name="T0" fmla="*/ 2280 w 2280"/>
                <a:gd name="T1" fmla="*/ 0 h 1"/>
                <a:gd name="T2" fmla="*/ 0 w 2280"/>
                <a:gd name="T3" fmla="*/ 0 h 1"/>
                <a:gd name="T4" fmla="*/ 2280 w 2280"/>
                <a:gd name="T5" fmla="*/ 0 h 1"/>
                <a:gd name="T6" fmla="*/ 2280 w 2280"/>
                <a:gd name="T7" fmla="*/ 0 h 1"/>
                <a:gd name="T8" fmla="*/ 0 60000 65536"/>
                <a:gd name="T9" fmla="*/ 0 60000 65536"/>
                <a:gd name="T10" fmla="*/ 0 60000 65536"/>
                <a:gd name="T11" fmla="*/ 0 60000 65536"/>
                <a:gd name="T12" fmla="*/ 0 w 2280"/>
                <a:gd name="T13" fmla="*/ 0 h 1"/>
                <a:gd name="T14" fmla="*/ 2280 w 2280"/>
                <a:gd name="T15" fmla="*/ 1 h 1"/>
              </a:gdLst>
              <a:ahLst/>
              <a:cxnLst>
                <a:cxn ang="T8">
                  <a:pos x="T0" y="T1"/>
                </a:cxn>
                <a:cxn ang="T9">
                  <a:pos x="T2" y="T3"/>
                </a:cxn>
                <a:cxn ang="T10">
                  <a:pos x="T4" y="T5"/>
                </a:cxn>
                <a:cxn ang="T11">
                  <a:pos x="T6" y="T7"/>
                </a:cxn>
              </a:cxnLst>
              <a:rect l="T12" t="T13" r="T14" b="T15"/>
              <a:pathLst>
                <a:path w="2280" h="1">
                  <a:moveTo>
                    <a:pt x="2280" y="0"/>
                  </a:moveTo>
                  <a:lnTo>
                    <a:pt x="0" y="0"/>
                  </a:lnTo>
                  <a:lnTo>
                    <a:pt x="228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08" name="Freeform 69"/>
            <p:cNvSpPr>
              <a:spLocks noChangeAspect="1" noEditPoints="1"/>
            </p:cNvSpPr>
            <p:nvPr/>
          </p:nvSpPr>
          <p:spPr bwMode="auto">
            <a:xfrm>
              <a:off x="1559" y="2658"/>
              <a:ext cx="1" cy="784"/>
            </a:xfrm>
            <a:custGeom>
              <a:avLst/>
              <a:gdLst>
                <a:gd name="T0" fmla="*/ 0 w 1"/>
                <a:gd name="T1" fmla="*/ 0 h 784"/>
                <a:gd name="T2" fmla="*/ 0 w 1"/>
                <a:gd name="T3" fmla="*/ 784 h 784"/>
                <a:gd name="T4" fmla="*/ 0 w 1"/>
                <a:gd name="T5" fmla="*/ 0 h 784"/>
                <a:gd name="T6" fmla="*/ 0 w 1"/>
                <a:gd name="T7" fmla="*/ 0 h 784"/>
                <a:gd name="T8" fmla="*/ 0 w 1"/>
                <a:gd name="T9" fmla="*/ 0 h 784"/>
                <a:gd name="T10" fmla="*/ 0 w 1"/>
                <a:gd name="T11" fmla="*/ 0 h 784"/>
                <a:gd name="T12" fmla="*/ 0 w 1"/>
                <a:gd name="T13" fmla="*/ 0 h 784"/>
                <a:gd name="T14" fmla="*/ 0 60000 65536"/>
                <a:gd name="T15" fmla="*/ 0 60000 65536"/>
                <a:gd name="T16" fmla="*/ 0 60000 65536"/>
                <a:gd name="T17" fmla="*/ 0 60000 65536"/>
                <a:gd name="T18" fmla="*/ 0 60000 65536"/>
                <a:gd name="T19" fmla="*/ 0 60000 65536"/>
                <a:gd name="T20" fmla="*/ 0 60000 65536"/>
                <a:gd name="T21" fmla="*/ 0 w 1"/>
                <a:gd name="T22" fmla="*/ 0 h 784"/>
                <a:gd name="T23" fmla="*/ 1 w 1"/>
                <a:gd name="T24" fmla="*/ 784 h 7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784">
                  <a:moveTo>
                    <a:pt x="0" y="0"/>
                  </a:moveTo>
                  <a:lnTo>
                    <a:pt x="0" y="784"/>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09" name="Freeform 70"/>
            <p:cNvSpPr>
              <a:spLocks noChangeAspect="1" noEditPoints="1"/>
            </p:cNvSpPr>
            <p:nvPr/>
          </p:nvSpPr>
          <p:spPr bwMode="auto">
            <a:xfrm>
              <a:off x="1559" y="3442"/>
              <a:ext cx="2280" cy="1"/>
            </a:xfrm>
            <a:custGeom>
              <a:avLst/>
              <a:gdLst>
                <a:gd name="T0" fmla="*/ 0 w 2280"/>
                <a:gd name="T1" fmla="*/ 0 h 1"/>
                <a:gd name="T2" fmla="*/ 2280 w 2280"/>
                <a:gd name="T3" fmla="*/ 0 h 1"/>
                <a:gd name="T4" fmla="*/ 0 w 2280"/>
                <a:gd name="T5" fmla="*/ 0 h 1"/>
                <a:gd name="T6" fmla="*/ 0 w 2280"/>
                <a:gd name="T7" fmla="*/ 0 h 1"/>
                <a:gd name="T8" fmla="*/ 0 w 2280"/>
                <a:gd name="T9" fmla="*/ 0 h 1"/>
                <a:gd name="T10" fmla="*/ 0 w 2280"/>
                <a:gd name="T11" fmla="*/ 0 h 1"/>
                <a:gd name="T12" fmla="*/ 0 w 2280"/>
                <a:gd name="T13" fmla="*/ 0 h 1"/>
                <a:gd name="T14" fmla="*/ 0 60000 65536"/>
                <a:gd name="T15" fmla="*/ 0 60000 65536"/>
                <a:gd name="T16" fmla="*/ 0 60000 65536"/>
                <a:gd name="T17" fmla="*/ 0 60000 65536"/>
                <a:gd name="T18" fmla="*/ 0 60000 65536"/>
                <a:gd name="T19" fmla="*/ 0 60000 65536"/>
                <a:gd name="T20" fmla="*/ 0 60000 65536"/>
                <a:gd name="T21" fmla="*/ 0 w 2280"/>
                <a:gd name="T22" fmla="*/ 0 h 1"/>
                <a:gd name="T23" fmla="*/ 2280 w 2280"/>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80" h="1">
                  <a:moveTo>
                    <a:pt x="0" y="0"/>
                  </a:moveTo>
                  <a:lnTo>
                    <a:pt x="2280" y="0"/>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0" name="Freeform 71"/>
            <p:cNvSpPr>
              <a:spLocks noChangeAspect="1"/>
            </p:cNvSpPr>
            <p:nvPr/>
          </p:nvSpPr>
          <p:spPr bwMode="auto">
            <a:xfrm>
              <a:off x="4714" y="2521"/>
              <a:ext cx="1" cy="1059"/>
            </a:xfrm>
            <a:custGeom>
              <a:avLst/>
              <a:gdLst>
                <a:gd name="T0" fmla="*/ 0 w 1"/>
                <a:gd name="T1" fmla="*/ 1059 h 1059"/>
                <a:gd name="T2" fmla="*/ 0 w 1"/>
                <a:gd name="T3" fmla="*/ 0 h 1059"/>
                <a:gd name="T4" fmla="*/ 0 w 1"/>
                <a:gd name="T5" fmla="*/ 1059 h 1059"/>
                <a:gd name="T6" fmla="*/ 0 w 1"/>
                <a:gd name="T7" fmla="*/ 1059 h 1059"/>
                <a:gd name="T8" fmla="*/ 0 60000 65536"/>
                <a:gd name="T9" fmla="*/ 0 60000 65536"/>
                <a:gd name="T10" fmla="*/ 0 60000 65536"/>
                <a:gd name="T11" fmla="*/ 0 60000 65536"/>
                <a:gd name="T12" fmla="*/ 0 w 1"/>
                <a:gd name="T13" fmla="*/ 0 h 1059"/>
                <a:gd name="T14" fmla="*/ 1 w 1"/>
                <a:gd name="T15" fmla="*/ 1059 h 1059"/>
              </a:gdLst>
              <a:ahLst/>
              <a:cxnLst>
                <a:cxn ang="T8">
                  <a:pos x="T0" y="T1"/>
                </a:cxn>
                <a:cxn ang="T9">
                  <a:pos x="T2" y="T3"/>
                </a:cxn>
                <a:cxn ang="T10">
                  <a:pos x="T4" y="T5"/>
                </a:cxn>
                <a:cxn ang="T11">
                  <a:pos x="T6" y="T7"/>
                </a:cxn>
              </a:cxnLst>
              <a:rect l="T12" t="T13" r="T14" b="T15"/>
              <a:pathLst>
                <a:path w="1" h="1059">
                  <a:moveTo>
                    <a:pt x="0" y="1059"/>
                  </a:moveTo>
                  <a:lnTo>
                    <a:pt x="0" y="0"/>
                  </a:lnTo>
                  <a:lnTo>
                    <a:pt x="0" y="1059"/>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1" name="Freeform 72"/>
            <p:cNvSpPr>
              <a:spLocks noChangeAspect="1" noEditPoints="1"/>
            </p:cNvSpPr>
            <p:nvPr/>
          </p:nvSpPr>
          <p:spPr bwMode="auto">
            <a:xfrm>
              <a:off x="3839" y="2521"/>
              <a:ext cx="875" cy="1"/>
            </a:xfrm>
            <a:custGeom>
              <a:avLst/>
              <a:gdLst>
                <a:gd name="T0" fmla="*/ 875 w 875"/>
                <a:gd name="T1" fmla="*/ 0 h 1"/>
                <a:gd name="T2" fmla="*/ 0 w 875"/>
                <a:gd name="T3" fmla="*/ 0 h 1"/>
                <a:gd name="T4" fmla="*/ 875 w 875"/>
                <a:gd name="T5" fmla="*/ 0 h 1"/>
                <a:gd name="T6" fmla="*/ 875 w 875"/>
                <a:gd name="T7" fmla="*/ 0 h 1"/>
                <a:gd name="T8" fmla="*/ 875 w 875"/>
                <a:gd name="T9" fmla="*/ 0 h 1"/>
                <a:gd name="T10" fmla="*/ 875 w 875"/>
                <a:gd name="T11" fmla="*/ 0 h 1"/>
                <a:gd name="T12" fmla="*/ 875 w 875"/>
                <a:gd name="T13" fmla="*/ 0 h 1"/>
                <a:gd name="T14" fmla="*/ 0 60000 65536"/>
                <a:gd name="T15" fmla="*/ 0 60000 65536"/>
                <a:gd name="T16" fmla="*/ 0 60000 65536"/>
                <a:gd name="T17" fmla="*/ 0 60000 65536"/>
                <a:gd name="T18" fmla="*/ 0 60000 65536"/>
                <a:gd name="T19" fmla="*/ 0 60000 65536"/>
                <a:gd name="T20" fmla="*/ 0 60000 65536"/>
                <a:gd name="T21" fmla="*/ 0 w 875"/>
                <a:gd name="T22" fmla="*/ 0 h 1"/>
                <a:gd name="T23" fmla="*/ 875 w 87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5" h="1">
                  <a:moveTo>
                    <a:pt x="875" y="0"/>
                  </a:moveTo>
                  <a:lnTo>
                    <a:pt x="0" y="0"/>
                  </a:lnTo>
                  <a:lnTo>
                    <a:pt x="875" y="0"/>
                  </a:lnTo>
                  <a:close/>
                  <a:moveTo>
                    <a:pt x="875" y="0"/>
                  </a:moveTo>
                  <a:lnTo>
                    <a:pt x="875"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2" name="Freeform 73"/>
            <p:cNvSpPr>
              <a:spLocks noChangeAspect="1" noEditPoints="1"/>
            </p:cNvSpPr>
            <p:nvPr/>
          </p:nvSpPr>
          <p:spPr bwMode="auto">
            <a:xfrm>
              <a:off x="3839" y="2521"/>
              <a:ext cx="1" cy="1059"/>
            </a:xfrm>
            <a:custGeom>
              <a:avLst/>
              <a:gdLst>
                <a:gd name="T0" fmla="*/ 0 w 1"/>
                <a:gd name="T1" fmla="*/ 0 h 1059"/>
                <a:gd name="T2" fmla="*/ 0 w 1"/>
                <a:gd name="T3" fmla="*/ 1059 h 1059"/>
                <a:gd name="T4" fmla="*/ 0 w 1"/>
                <a:gd name="T5" fmla="*/ 0 h 1059"/>
                <a:gd name="T6" fmla="*/ 0 w 1"/>
                <a:gd name="T7" fmla="*/ 0 h 1059"/>
                <a:gd name="T8" fmla="*/ 0 w 1"/>
                <a:gd name="T9" fmla="*/ 0 h 1059"/>
                <a:gd name="T10" fmla="*/ 0 w 1"/>
                <a:gd name="T11" fmla="*/ 0 h 1059"/>
                <a:gd name="T12" fmla="*/ 0 w 1"/>
                <a:gd name="T13" fmla="*/ 0 h 1059"/>
                <a:gd name="T14" fmla="*/ 0 60000 65536"/>
                <a:gd name="T15" fmla="*/ 0 60000 65536"/>
                <a:gd name="T16" fmla="*/ 0 60000 65536"/>
                <a:gd name="T17" fmla="*/ 0 60000 65536"/>
                <a:gd name="T18" fmla="*/ 0 60000 65536"/>
                <a:gd name="T19" fmla="*/ 0 60000 65536"/>
                <a:gd name="T20" fmla="*/ 0 60000 65536"/>
                <a:gd name="T21" fmla="*/ 0 w 1"/>
                <a:gd name="T22" fmla="*/ 0 h 1059"/>
                <a:gd name="T23" fmla="*/ 1 w 1"/>
                <a:gd name="T24" fmla="*/ 1059 h 10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59">
                  <a:moveTo>
                    <a:pt x="0" y="0"/>
                  </a:moveTo>
                  <a:lnTo>
                    <a:pt x="0" y="1059"/>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3" name="Freeform 74"/>
            <p:cNvSpPr>
              <a:spLocks noChangeAspect="1" noEditPoints="1"/>
            </p:cNvSpPr>
            <p:nvPr/>
          </p:nvSpPr>
          <p:spPr bwMode="auto">
            <a:xfrm>
              <a:off x="3839" y="3580"/>
              <a:ext cx="875" cy="1"/>
            </a:xfrm>
            <a:custGeom>
              <a:avLst/>
              <a:gdLst>
                <a:gd name="T0" fmla="*/ 0 w 875"/>
                <a:gd name="T1" fmla="*/ 0 h 1"/>
                <a:gd name="T2" fmla="*/ 875 w 875"/>
                <a:gd name="T3" fmla="*/ 0 h 1"/>
                <a:gd name="T4" fmla="*/ 0 w 875"/>
                <a:gd name="T5" fmla="*/ 0 h 1"/>
                <a:gd name="T6" fmla="*/ 0 w 875"/>
                <a:gd name="T7" fmla="*/ 0 h 1"/>
                <a:gd name="T8" fmla="*/ 0 w 875"/>
                <a:gd name="T9" fmla="*/ 0 h 1"/>
                <a:gd name="T10" fmla="*/ 0 w 875"/>
                <a:gd name="T11" fmla="*/ 0 h 1"/>
                <a:gd name="T12" fmla="*/ 0 w 875"/>
                <a:gd name="T13" fmla="*/ 0 h 1"/>
                <a:gd name="T14" fmla="*/ 0 60000 65536"/>
                <a:gd name="T15" fmla="*/ 0 60000 65536"/>
                <a:gd name="T16" fmla="*/ 0 60000 65536"/>
                <a:gd name="T17" fmla="*/ 0 60000 65536"/>
                <a:gd name="T18" fmla="*/ 0 60000 65536"/>
                <a:gd name="T19" fmla="*/ 0 60000 65536"/>
                <a:gd name="T20" fmla="*/ 0 60000 65536"/>
                <a:gd name="T21" fmla="*/ 0 w 875"/>
                <a:gd name="T22" fmla="*/ 0 h 1"/>
                <a:gd name="T23" fmla="*/ 875 w 87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5" h="1">
                  <a:moveTo>
                    <a:pt x="0" y="0"/>
                  </a:moveTo>
                  <a:lnTo>
                    <a:pt x="875" y="0"/>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4" name="Freeform 75"/>
            <p:cNvSpPr>
              <a:spLocks noChangeAspect="1"/>
            </p:cNvSpPr>
            <p:nvPr/>
          </p:nvSpPr>
          <p:spPr bwMode="auto">
            <a:xfrm>
              <a:off x="4714" y="358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5" name="Freeform 80"/>
            <p:cNvSpPr>
              <a:spLocks noChangeAspect="1"/>
            </p:cNvSpPr>
            <p:nvPr/>
          </p:nvSpPr>
          <p:spPr bwMode="auto">
            <a:xfrm>
              <a:off x="3495" y="2610"/>
              <a:ext cx="89" cy="89"/>
            </a:xfrm>
            <a:custGeom>
              <a:avLst/>
              <a:gdLst>
                <a:gd name="T0" fmla="*/ 48 w 89"/>
                <a:gd name="T1" fmla="*/ 89 h 89"/>
                <a:gd name="T2" fmla="*/ 62 w 89"/>
                <a:gd name="T3" fmla="*/ 89 h 89"/>
                <a:gd name="T4" fmla="*/ 75 w 89"/>
                <a:gd name="T5" fmla="*/ 76 h 89"/>
                <a:gd name="T6" fmla="*/ 89 w 89"/>
                <a:gd name="T7" fmla="*/ 62 h 89"/>
                <a:gd name="T8" fmla="*/ 89 w 89"/>
                <a:gd name="T9" fmla="*/ 48 h 89"/>
                <a:gd name="T10" fmla="*/ 89 w 89"/>
                <a:gd name="T11" fmla="*/ 27 h 89"/>
                <a:gd name="T12" fmla="*/ 75 w 89"/>
                <a:gd name="T13" fmla="*/ 14 h 89"/>
                <a:gd name="T14" fmla="*/ 62 w 89"/>
                <a:gd name="T15" fmla="*/ 7 h 89"/>
                <a:gd name="T16" fmla="*/ 48 w 89"/>
                <a:gd name="T17" fmla="*/ 0 h 89"/>
                <a:gd name="T18" fmla="*/ 27 w 89"/>
                <a:gd name="T19" fmla="*/ 7 h 89"/>
                <a:gd name="T20" fmla="*/ 13 w 89"/>
                <a:gd name="T21" fmla="*/ 14 h 89"/>
                <a:gd name="T22" fmla="*/ 7 w 89"/>
                <a:gd name="T23" fmla="*/ 27 h 89"/>
                <a:gd name="T24" fmla="*/ 0 w 89"/>
                <a:gd name="T25" fmla="*/ 48 h 89"/>
                <a:gd name="T26" fmla="*/ 7 w 89"/>
                <a:gd name="T27" fmla="*/ 62 h 89"/>
                <a:gd name="T28" fmla="*/ 13 w 89"/>
                <a:gd name="T29" fmla="*/ 76 h 89"/>
                <a:gd name="T30" fmla="*/ 27 w 89"/>
                <a:gd name="T31" fmla="*/ 89 h 89"/>
                <a:gd name="T32" fmla="*/ 48 w 89"/>
                <a:gd name="T33" fmla="*/ 89 h 89"/>
                <a:gd name="T34" fmla="*/ 48 w 89"/>
                <a:gd name="T35" fmla="*/ 89 h 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9"/>
                <a:gd name="T55" fmla="*/ 0 h 89"/>
                <a:gd name="T56" fmla="*/ 89 w 89"/>
                <a:gd name="T57" fmla="*/ 89 h 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9" h="89">
                  <a:moveTo>
                    <a:pt x="48" y="89"/>
                  </a:moveTo>
                  <a:lnTo>
                    <a:pt x="62" y="89"/>
                  </a:lnTo>
                  <a:lnTo>
                    <a:pt x="75" y="76"/>
                  </a:lnTo>
                  <a:lnTo>
                    <a:pt x="89" y="62"/>
                  </a:lnTo>
                  <a:lnTo>
                    <a:pt x="89" y="48"/>
                  </a:lnTo>
                  <a:lnTo>
                    <a:pt x="89" y="27"/>
                  </a:lnTo>
                  <a:lnTo>
                    <a:pt x="75" y="14"/>
                  </a:lnTo>
                  <a:lnTo>
                    <a:pt x="62" y="7"/>
                  </a:lnTo>
                  <a:lnTo>
                    <a:pt x="48" y="0"/>
                  </a:lnTo>
                  <a:lnTo>
                    <a:pt x="27" y="7"/>
                  </a:lnTo>
                  <a:lnTo>
                    <a:pt x="13" y="14"/>
                  </a:lnTo>
                  <a:lnTo>
                    <a:pt x="7" y="27"/>
                  </a:lnTo>
                  <a:lnTo>
                    <a:pt x="0" y="48"/>
                  </a:lnTo>
                  <a:lnTo>
                    <a:pt x="7" y="62"/>
                  </a:lnTo>
                  <a:lnTo>
                    <a:pt x="13" y="76"/>
                  </a:lnTo>
                  <a:lnTo>
                    <a:pt x="27" y="89"/>
                  </a:lnTo>
                  <a:lnTo>
                    <a:pt x="48" y="89"/>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6" name="Freeform 81"/>
            <p:cNvSpPr>
              <a:spLocks noChangeAspect="1"/>
            </p:cNvSpPr>
            <p:nvPr/>
          </p:nvSpPr>
          <p:spPr bwMode="auto">
            <a:xfrm>
              <a:off x="3543" y="2658"/>
              <a:ext cx="41" cy="41"/>
            </a:xfrm>
            <a:custGeom>
              <a:avLst/>
              <a:gdLst>
                <a:gd name="T0" fmla="*/ 0 w 41"/>
                <a:gd name="T1" fmla="*/ 41 h 41"/>
                <a:gd name="T2" fmla="*/ 14 w 41"/>
                <a:gd name="T3" fmla="*/ 41 h 41"/>
                <a:gd name="T4" fmla="*/ 27 w 41"/>
                <a:gd name="T5" fmla="*/ 28 h 41"/>
                <a:gd name="T6" fmla="*/ 41 w 41"/>
                <a:gd name="T7" fmla="*/ 14 h 41"/>
                <a:gd name="T8" fmla="*/ 41 w 41"/>
                <a:gd name="T9" fmla="*/ 0 h 41"/>
                <a:gd name="T10" fmla="*/ 41 w 41"/>
                <a:gd name="T11" fmla="*/ 0 h 41"/>
                <a:gd name="T12" fmla="*/ 41 w 41"/>
                <a:gd name="T13" fmla="*/ 14 h 41"/>
                <a:gd name="T14" fmla="*/ 27 w 41"/>
                <a:gd name="T15" fmla="*/ 28 h 41"/>
                <a:gd name="T16" fmla="*/ 14 w 41"/>
                <a:gd name="T17" fmla="*/ 41 h 41"/>
                <a:gd name="T18" fmla="*/ 0 w 41"/>
                <a:gd name="T19" fmla="*/ 41 h 41"/>
                <a:gd name="T20" fmla="*/ 0 w 41"/>
                <a:gd name="T21" fmla="*/ 41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
                <a:gd name="T34" fmla="*/ 0 h 41"/>
                <a:gd name="T35" fmla="*/ 41 w 41"/>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 h="41">
                  <a:moveTo>
                    <a:pt x="0" y="41"/>
                  </a:moveTo>
                  <a:lnTo>
                    <a:pt x="14" y="41"/>
                  </a:lnTo>
                  <a:lnTo>
                    <a:pt x="27" y="28"/>
                  </a:lnTo>
                  <a:lnTo>
                    <a:pt x="41" y="14"/>
                  </a:lnTo>
                  <a:lnTo>
                    <a:pt x="41" y="0"/>
                  </a:lnTo>
                  <a:lnTo>
                    <a:pt x="41" y="14"/>
                  </a:lnTo>
                  <a:lnTo>
                    <a:pt x="27" y="28"/>
                  </a:lnTo>
                  <a:lnTo>
                    <a:pt x="14" y="41"/>
                  </a:lnTo>
                  <a:lnTo>
                    <a:pt x="0" y="4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7" name="Freeform 82"/>
            <p:cNvSpPr>
              <a:spLocks noChangeAspect="1" noEditPoints="1"/>
            </p:cNvSpPr>
            <p:nvPr/>
          </p:nvSpPr>
          <p:spPr bwMode="auto">
            <a:xfrm>
              <a:off x="3543" y="2610"/>
              <a:ext cx="41" cy="48"/>
            </a:xfrm>
            <a:custGeom>
              <a:avLst/>
              <a:gdLst>
                <a:gd name="T0" fmla="*/ 41 w 41"/>
                <a:gd name="T1" fmla="*/ 48 h 48"/>
                <a:gd name="T2" fmla="*/ 41 w 41"/>
                <a:gd name="T3" fmla="*/ 27 h 48"/>
                <a:gd name="T4" fmla="*/ 27 w 41"/>
                <a:gd name="T5" fmla="*/ 14 h 48"/>
                <a:gd name="T6" fmla="*/ 14 w 41"/>
                <a:gd name="T7" fmla="*/ 7 h 48"/>
                <a:gd name="T8" fmla="*/ 0 w 41"/>
                <a:gd name="T9" fmla="*/ 0 h 48"/>
                <a:gd name="T10" fmla="*/ 0 w 41"/>
                <a:gd name="T11" fmla="*/ 0 h 48"/>
                <a:gd name="T12" fmla="*/ 14 w 41"/>
                <a:gd name="T13" fmla="*/ 7 h 48"/>
                <a:gd name="T14" fmla="*/ 27 w 41"/>
                <a:gd name="T15" fmla="*/ 14 h 48"/>
                <a:gd name="T16" fmla="*/ 41 w 41"/>
                <a:gd name="T17" fmla="*/ 27 h 48"/>
                <a:gd name="T18" fmla="*/ 41 w 41"/>
                <a:gd name="T19" fmla="*/ 48 h 48"/>
                <a:gd name="T20" fmla="*/ 41 w 41"/>
                <a:gd name="T21" fmla="*/ 48 h 48"/>
                <a:gd name="T22" fmla="*/ 41 w 41"/>
                <a:gd name="T23" fmla="*/ 48 h 48"/>
                <a:gd name="T24" fmla="*/ 41 w 41"/>
                <a:gd name="T25" fmla="*/ 48 h 48"/>
                <a:gd name="T26" fmla="*/ 41 w 41"/>
                <a:gd name="T27" fmla="*/ 48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48"/>
                <a:gd name="T44" fmla="*/ 41 w 41"/>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48">
                  <a:moveTo>
                    <a:pt x="41" y="48"/>
                  </a:moveTo>
                  <a:lnTo>
                    <a:pt x="41" y="27"/>
                  </a:lnTo>
                  <a:lnTo>
                    <a:pt x="27" y="14"/>
                  </a:lnTo>
                  <a:lnTo>
                    <a:pt x="14" y="7"/>
                  </a:lnTo>
                  <a:lnTo>
                    <a:pt x="0" y="0"/>
                  </a:lnTo>
                  <a:lnTo>
                    <a:pt x="14" y="7"/>
                  </a:lnTo>
                  <a:lnTo>
                    <a:pt x="27" y="14"/>
                  </a:lnTo>
                  <a:lnTo>
                    <a:pt x="41" y="27"/>
                  </a:lnTo>
                  <a:lnTo>
                    <a:pt x="41" y="48"/>
                  </a:lnTo>
                  <a:close/>
                  <a:moveTo>
                    <a:pt x="41" y="48"/>
                  </a:moveTo>
                  <a:lnTo>
                    <a:pt x="41" y="4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8" name="Freeform 83"/>
            <p:cNvSpPr>
              <a:spLocks noChangeAspect="1" noEditPoints="1"/>
            </p:cNvSpPr>
            <p:nvPr/>
          </p:nvSpPr>
          <p:spPr bwMode="auto">
            <a:xfrm>
              <a:off x="3495" y="2610"/>
              <a:ext cx="48" cy="48"/>
            </a:xfrm>
            <a:custGeom>
              <a:avLst/>
              <a:gdLst>
                <a:gd name="T0" fmla="*/ 48 w 48"/>
                <a:gd name="T1" fmla="*/ 0 h 48"/>
                <a:gd name="T2" fmla="*/ 27 w 48"/>
                <a:gd name="T3" fmla="*/ 7 h 48"/>
                <a:gd name="T4" fmla="*/ 13 w 48"/>
                <a:gd name="T5" fmla="*/ 14 h 48"/>
                <a:gd name="T6" fmla="*/ 7 w 48"/>
                <a:gd name="T7" fmla="*/ 27 h 48"/>
                <a:gd name="T8" fmla="*/ 0 w 48"/>
                <a:gd name="T9" fmla="*/ 48 h 48"/>
                <a:gd name="T10" fmla="*/ 0 w 48"/>
                <a:gd name="T11" fmla="*/ 48 h 48"/>
                <a:gd name="T12" fmla="*/ 7 w 48"/>
                <a:gd name="T13" fmla="*/ 27 h 48"/>
                <a:gd name="T14" fmla="*/ 13 w 48"/>
                <a:gd name="T15" fmla="*/ 14 h 48"/>
                <a:gd name="T16" fmla="*/ 27 w 48"/>
                <a:gd name="T17" fmla="*/ 7 h 48"/>
                <a:gd name="T18" fmla="*/ 48 w 48"/>
                <a:gd name="T19" fmla="*/ 0 h 48"/>
                <a:gd name="T20" fmla="*/ 48 w 48"/>
                <a:gd name="T21" fmla="*/ 0 h 48"/>
                <a:gd name="T22" fmla="*/ 48 w 48"/>
                <a:gd name="T23" fmla="*/ 0 h 48"/>
                <a:gd name="T24" fmla="*/ 48 w 48"/>
                <a:gd name="T25" fmla="*/ 0 h 48"/>
                <a:gd name="T26" fmla="*/ 48 w 48"/>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8"/>
                <a:gd name="T44" fmla="*/ 48 w 48"/>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8">
                  <a:moveTo>
                    <a:pt x="48" y="0"/>
                  </a:moveTo>
                  <a:lnTo>
                    <a:pt x="27" y="7"/>
                  </a:lnTo>
                  <a:lnTo>
                    <a:pt x="13" y="14"/>
                  </a:lnTo>
                  <a:lnTo>
                    <a:pt x="7" y="27"/>
                  </a:lnTo>
                  <a:lnTo>
                    <a:pt x="0" y="48"/>
                  </a:lnTo>
                  <a:lnTo>
                    <a:pt x="7" y="27"/>
                  </a:lnTo>
                  <a:lnTo>
                    <a:pt x="13" y="14"/>
                  </a:lnTo>
                  <a:lnTo>
                    <a:pt x="27" y="7"/>
                  </a:lnTo>
                  <a:lnTo>
                    <a:pt x="48" y="0"/>
                  </a:lnTo>
                  <a:close/>
                  <a:moveTo>
                    <a:pt x="48" y="0"/>
                  </a:move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19" name="Freeform 84"/>
            <p:cNvSpPr>
              <a:spLocks noChangeAspect="1" noEditPoints="1"/>
            </p:cNvSpPr>
            <p:nvPr/>
          </p:nvSpPr>
          <p:spPr bwMode="auto">
            <a:xfrm>
              <a:off x="3495" y="2658"/>
              <a:ext cx="48" cy="41"/>
            </a:xfrm>
            <a:custGeom>
              <a:avLst/>
              <a:gdLst>
                <a:gd name="T0" fmla="*/ 0 w 48"/>
                <a:gd name="T1" fmla="*/ 0 h 41"/>
                <a:gd name="T2" fmla="*/ 7 w 48"/>
                <a:gd name="T3" fmla="*/ 14 h 41"/>
                <a:gd name="T4" fmla="*/ 13 w 48"/>
                <a:gd name="T5" fmla="*/ 28 h 41"/>
                <a:gd name="T6" fmla="*/ 27 w 48"/>
                <a:gd name="T7" fmla="*/ 41 h 41"/>
                <a:gd name="T8" fmla="*/ 48 w 48"/>
                <a:gd name="T9" fmla="*/ 41 h 41"/>
                <a:gd name="T10" fmla="*/ 48 w 48"/>
                <a:gd name="T11" fmla="*/ 41 h 41"/>
                <a:gd name="T12" fmla="*/ 27 w 48"/>
                <a:gd name="T13" fmla="*/ 41 h 41"/>
                <a:gd name="T14" fmla="*/ 13 w 48"/>
                <a:gd name="T15" fmla="*/ 28 h 41"/>
                <a:gd name="T16" fmla="*/ 7 w 48"/>
                <a:gd name="T17" fmla="*/ 14 h 41"/>
                <a:gd name="T18" fmla="*/ 0 w 48"/>
                <a:gd name="T19" fmla="*/ 0 h 41"/>
                <a:gd name="T20" fmla="*/ 0 w 48"/>
                <a:gd name="T21" fmla="*/ 0 h 41"/>
                <a:gd name="T22" fmla="*/ 0 w 48"/>
                <a:gd name="T23" fmla="*/ 0 h 41"/>
                <a:gd name="T24" fmla="*/ 0 w 48"/>
                <a:gd name="T25" fmla="*/ 0 h 41"/>
                <a:gd name="T26" fmla="*/ 0 w 48"/>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1"/>
                <a:gd name="T44" fmla="*/ 48 w 48"/>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1">
                  <a:moveTo>
                    <a:pt x="0" y="0"/>
                  </a:moveTo>
                  <a:lnTo>
                    <a:pt x="7" y="14"/>
                  </a:lnTo>
                  <a:lnTo>
                    <a:pt x="13" y="28"/>
                  </a:lnTo>
                  <a:lnTo>
                    <a:pt x="27" y="41"/>
                  </a:lnTo>
                  <a:lnTo>
                    <a:pt x="48" y="41"/>
                  </a:lnTo>
                  <a:lnTo>
                    <a:pt x="27" y="41"/>
                  </a:lnTo>
                  <a:lnTo>
                    <a:pt x="13" y="28"/>
                  </a:lnTo>
                  <a:lnTo>
                    <a:pt x="7" y="14"/>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0" name="Freeform 85"/>
            <p:cNvSpPr>
              <a:spLocks noChangeAspect="1"/>
            </p:cNvSpPr>
            <p:nvPr/>
          </p:nvSpPr>
          <p:spPr bwMode="auto">
            <a:xfrm>
              <a:off x="3543" y="26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1" name="Freeform 86"/>
            <p:cNvSpPr>
              <a:spLocks noChangeAspect="1"/>
            </p:cNvSpPr>
            <p:nvPr/>
          </p:nvSpPr>
          <p:spPr bwMode="auto">
            <a:xfrm>
              <a:off x="3495" y="3401"/>
              <a:ext cx="89" cy="89"/>
            </a:xfrm>
            <a:custGeom>
              <a:avLst/>
              <a:gdLst>
                <a:gd name="T0" fmla="*/ 48 w 89"/>
                <a:gd name="T1" fmla="*/ 89 h 89"/>
                <a:gd name="T2" fmla="*/ 62 w 89"/>
                <a:gd name="T3" fmla="*/ 89 h 89"/>
                <a:gd name="T4" fmla="*/ 75 w 89"/>
                <a:gd name="T5" fmla="*/ 76 h 89"/>
                <a:gd name="T6" fmla="*/ 89 w 89"/>
                <a:gd name="T7" fmla="*/ 62 h 89"/>
                <a:gd name="T8" fmla="*/ 89 w 89"/>
                <a:gd name="T9" fmla="*/ 48 h 89"/>
                <a:gd name="T10" fmla="*/ 89 w 89"/>
                <a:gd name="T11" fmla="*/ 27 h 89"/>
                <a:gd name="T12" fmla="*/ 75 w 89"/>
                <a:gd name="T13" fmla="*/ 14 h 89"/>
                <a:gd name="T14" fmla="*/ 62 w 89"/>
                <a:gd name="T15" fmla="*/ 7 h 89"/>
                <a:gd name="T16" fmla="*/ 48 w 89"/>
                <a:gd name="T17" fmla="*/ 0 h 89"/>
                <a:gd name="T18" fmla="*/ 27 w 89"/>
                <a:gd name="T19" fmla="*/ 7 h 89"/>
                <a:gd name="T20" fmla="*/ 13 w 89"/>
                <a:gd name="T21" fmla="*/ 14 h 89"/>
                <a:gd name="T22" fmla="*/ 7 w 89"/>
                <a:gd name="T23" fmla="*/ 27 h 89"/>
                <a:gd name="T24" fmla="*/ 0 w 89"/>
                <a:gd name="T25" fmla="*/ 48 h 89"/>
                <a:gd name="T26" fmla="*/ 7 w 89"/>
                <a:gd name="T27" fmla="*/ 62 h 89"/>
                <a:gd name="T28" fmla="*/ 13 w 89"/>
                <a:gd name="T29" fmla="*/ 76 h 89"/>
                <a:gd name="T30" fmla="*/ 27 w 89"/>
                <a:gd name="T31" fmla="*/ 89 h 89"/>
                <a:gd name="T32" fmla="*/ 48 w 89"/>
                <a:gd name="T33" fmla="*/ 89 h 89"/>
                <a:gd name="T34" fmla="*/ 48 w 89"/>
                <a:gd name="T35" fmla="*/ 89 h 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9"/>
                <a:gd name="T55" fmla="*/ 0 h 89"/>
                <a:gd name="T56" fmla="*/ 89 w 89"/>
                <a:gd name="T57" fmla="*/ 89 h 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9" h="89">
                  <a:moveTo>
                    <a:pt x="48" y="89"/>
                  </a:moveTo>
                  <a:lnTo>
                    <a:pt x="62" y="89"/>
                  </a:lnTo>
                  <a:lnTo>
                    <a:pt x="75" y="76"/>
                  </a:lnTo>
                  <a:lnTo>
                    <a:pt x="89" y="62"/>
                  </a:lnTo>
                  <a:lnTo>
                    <a:pt x="89" y="48"/>
                  </a:lnTo>
                  <a:lnTo>
                    <a:pt x="89" y="27"/>
                  </a:lnTo>
                  <a:lnTo>
                    <a:pt x="75" y="14"/>
                  </a:lnTo>
                  <a:lnTo>
                    <a:pt x="62" y="7"/>
                  </a:lnTo>
                  <a:lnTo>
                    <a:pt x="48" y="0"/>
                  </a:lnTo>
                  <a:lnTo>
                    <a:pt x="27" y="7"/>
                  </a:lnTo>
                  <a:lnTo>
                    <a:pt x="13" y="14"/>
                  </a:lnTo>
                  <a:lnTo>
                    <a:pt x="7" y="27"/>
                  </a:lnTo>
                  <a:lnTo>
                    <a:pt x="0" y="48"/>
                  </a:lnTo>
                  <a:lnTo>
                    <a:pt x="7" y="62"/>
                  </a:lnTo>
                  <a:lnTo>
                    <a:pt x="13" y="76"/>
                  </a:lnTo>
                  <a:lnTo>
                    <a:pt x="27" y="89"/>
                  </a:lnTo>
                  <a:lnTo>
                    <a:pt x="48" y="89"/>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2" name="Freeform 87"/>
            <p:cNvSpPr>
              <a:spLocks noChangeAspect="1"/>
            </p:cNvSpPr>
            <p:nvPr/>
          </p:nvSpPr>
          <p:spPr bwMode="auto">
            <a:xfrm>
              <a:off x="3543" y="3449"/>
              <a:ext cx="41" cy="41"/>
            </a:xfrm>
            <a:custGeom>
              <a:avLst/>
              <a:gdLst>
                <a:gd name="T0" fmla="*/ 0 w 41"/>
                <a:gd name="T1" fmla="*/ 41 h 41"/>
                <a:gd name="T2" fmla="*/ 14 w 41"/>
                <a:gd name="T3" fmla="*/ 41 h 41"/>
                <a:gd name="T4" fmla="*/ 27 w 41"/>
                <a:gd name="T5" fmla="*/ 28 h 41"/>
                <a:gd name="T6" fmla="*/ 41 w 41"/>
                <a:gd name="T7" fmla="*/ 14 h 41"/>
                <a:gd name="T8" fmla="*/ 41 w 41"/>
                <a:gd name="T9" fmla="*/ 0 h 41"/>
                <a:gd name="T10" fmla="*/ 41 w 41"/>
                <a:gd name="T11" fmla="*/ 0 h 41"/>
                <a:gd name="T12" fmla="*/ 41 w 41"/>
                <a:gd name="T13" fmla="*/ 14 h 41"/>
                <a:gd name="T14" fmla="*/ 27 w 41"/>
                <a:gd name="T15" fmla="*/ 28 h 41"/>
                <a:gd name="T16" fmla="*/ 14 w 41"/>
                <a:gd name="T17" fmla="*/ 41 h 41"/>
                <a:gd name="T18" fmla="*/ 0 w 41"/>
                <a:gd name="T19" fmla="*/ 41 h 41"/>
                <a:gd name="T20" fmla="*/ 0 w 41"/>
                <a:gd name="T21" fmla="*/ 41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
                <a:gd name="T34" fmla="*/ 0 h 41"/>
                <a:gd name="T35" fmla="*/ 41 w 41"/>
                <a:gd name="T36" fmla="*/ 41 h 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 h="41">
                  <a:moveTo>
                    <a:pt x="0" y="41"/>
                  </a:moveTo>
                  <a:lnTo>
                    <a:pt x="14" y="41"/>
                  </a:lnTo>
                  <a:lnTo>
                    <a:pt x="27" y="28"/>
                  </a:lnTo>
                  <a:lnTo>
                    <a:pt x="41" y="14"/>
                  </a:lnTo>
                  <a:lnTo>
                    <a:pt x="41" y="0"/>
                  </a:lnTo>
                  <a:lnTo>
                    <a:pt x="41" y="14"/>
                  </a:lnTo>
                  <a:lnTo>
                    <a:pt x="27" y="28"/>
                  </a:lnTo>
                  <a:lnTo>
                    <a:pt x="14" y="41"/>
                  </a:lnTo>
                  <a:lnTo>
                    <a:pt x="0" y="4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3" name="Freeform 88"/>
            <p:cNvSpPr>
              <a:spLocks noChangeAspect="1" noEditPoints="1"/>
            </p:cNvSpPr>
            <p:nvPr/>
          </p:nvSpPr>
          <p:spPr bwMode="auto">
            <a:xfrm>
              <a:off x="3543" y="3401"/>
              <a:ext cx="41" cy="48"/>
            </a:xfrm>
            <a:custGeom>
              <a:avLst/>
              <a:gdLst>
                <a:gd name="T0" fmla="*/ 41 w 41"/>
                <a:gd name="T1" fmla="*/ 48 h 48"/>
                <a:gd name="T2" fmla="*/ 41 w 41"/>
                <a:gd name="T3" fmla="*/ 27 h 48"/>
                <a:gd name="T4" fmla="*/ 27 w 41"/>
                <a:gd name="T5" fmla="*/ 14 h 48"/>
                <a:gd name="T6" fmla="*/ 14 w 41"/>
                <a:gd name="T7" fmla="*/ 7 h 48"/>
                <a:gd name="T8" fmla="*/ 0 w 41"/>
                <a:gd name="T9" fmla="*/ 0 h 48"/>
                <a:gd name="T10" fmla="*/ 0 w 41"/>
                <a:gd name="T11" fmla="*/ 0 h 48"/>
                <a:gd name="T12" fmla="*/ 14 w 41"/>
                <a:gd name="T13" fmla="*/ 7 h 48"/>
                <a:gd name="T14" fmla="*/ 27 w 41"/>
                <a:gd name="T15" fmla="*/ 14 h 48"/>
                <a:gd name="T16" fmla="*/ 41 w 41"/>
                <a:gd name="T17" fmla="*/ 27 h 48"/>
                <a:gd name="T18" fmla="*/ 41 w 41"/>
                <a:gd name="T19" fmla="*/ 48 h 48"/>
                <a:gd name="T20" fmla="*/ 41 w 41"/>
                <a:gd name="T21" fmla="*/ 48 h 48"/>
                <a:gd name="T22" fmla="*/ 41 w 41"/>
                <a:gd name="T23" fmla="*/ 48 h 48"/>
                <a:gd name="T24" fmla="*/ 41 w 41"/>
                <a:gd name="T25" fmla="*/ 48 h 48"/>
                <a:gd name="T26" fmla="*/ 41 w 41"/>
                <a:gd name="T27" fmla="*/ 48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48"/>
                <a:gd name="T44" fmla="*/ 41 w 41"/>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48">
                  <a:moveTo>
                    <a:pt x="41" y="48"/>
                  </a:moveTo>
                  <a:lnTo>
                    <a:pt x="41" y="27"/>
                  </a:lnTo>
                  <a:lnTo>
                    <a:pt x="27" y="14"/>
                  </a:lnTo>
                  <a:lnTo>
                    <a:pt x="14" y="7"/>
                  </a:lnTo>
                  <a:lnTo>
                    <a:pt x="0" y="0"/>
                  </a:lnTo>
                  <a:lnTo>
                    <a:pt x="14" y="7"/>
                  </a:lnTo>
                  <a:lnTo>
                    <a:pt x="27" y="14"/>
                  </a:lnTo>
                  <a:lnTo>
                    <a:pt x="41" y="27"/>
                  </a:lnTo>
                  <a:lnTo>
                    <a:pt x="41" y="48"/>
                  </a:lnTo>
                  <a:close/>
                  <a:moveTo>
                    <a:pt x="41" y="48"/>
                  </a:moveTo>
                  <a:lnTo>
                    <a:pt x="41" y="4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4" name="Freeform 89"/>
            <p:cNvSpPr>
              <a:spLocks noChangeAspect="1" noEditPoints="1"/>
            </p:cNvSpPr>
            <p:nvPr/>
          </p:nvSpPr>
          <p:spPr bwMode="auto">
            <a:xfrm>
              <a:off x="3495" y="3401"/>
              <a:ext cx="48" cy="48"/>
            </a:xfrm>
            <a:custGeom>
              <a:avLst/>
              <a:gdLst>
                <a:gd name="T0" fmla="*/ 48 w 48"/>
                <a:gd name="T1" fmla="*/ 0 h 48"/>
                <a:gd name="T2" fmla="*/ 27 w 48"/>
                <a:gd name="T3" fmla="*/ 7 h 48"/>
                <a:gd name="T4" fmla="*/ 13 w 48"/>
                <a:gd name="T5" fmla="*/ 14 h 48"/>
                <a:gd name="T6" fmla="*/ 7 w 48"/>
                <a:gd name="T7" fmla="*/ 27 h 48"/>
                <a:gd name="T8" fmla="*/ 0 w 48"/>
                <a:gd name="T9" fmla="*/ 48 h 48"/>
                <a:gd name="T10" fmla="*/ 0 w 48"/>
                <a:gd name="T11" fmla="*/ 48 h 48"/>
                <a:gd name="T12" fmla="*/ 7 w 48"/>
                <a:gd name="T13" fmla="*/ 27 h 48"/>
                <a:gd name="T14" fmla="*/ 13 w 48"/>
                <a:gd name="T15" fmla="*/ 14 h 48"/>
                <a:gd name="T16" fmla="*/ 27 w 48"/>
                <a:gd name="T17" fmla="*/ 7 h 48"/>
                <a:gd name="T18" fmla="*/ 48 w 48"/>
                <a:gd name="T19" fmla="*/ 0 h 48"/>
                <a:gd name="T20" fmla="*/ 48 w 48"/>
                <a:gd name="T21" fmla="*/ 0 h 48"/>
                <a:gd name="T22" fmla="*/ 48 w 48"/>
                <a:gd name="T23" fmla="*/ 0 h 48"/>
                <a:gd name="T24" fmla="*/ 48 w 48"/>
                <a:gd name="T25" fmla="*/ 0 h 48"/>
                <a:gd name="T26" fmla="*/ 48 w 48"/>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8"/>
                <a:gd name="T44" fmla="*/ 48 w 48"/>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8">
                  <a:moveTo>
                    <a:pt x="48" y="0"/>
                  </a:moveTo>
                  <a:lnTo>
                    <a:pt x="27" y="7"/>
                  </a:lnTo>
                  <a:lnTo>
                    <a:pt x="13" y="14"/>
                  </a:lnTo>
                  <a:lnTo>
                    <a:pt x="7" y="27"/>
                  </a:lnTo>
                  <a:lnTo>
                    <a:pt x="0" y="48"/>
                  </a:lnTo>
                  <a:lnTo>
                    <a:pt x="7" y="27"/>
                  </a:lnTo>
                  <a:lnTo>
                    <a:pt x="13" y="14"/>
                  </a:lnTo>
                  <a:lnTo>
                    <a:pt x="27" y="7"/>
                  </a:lnTo>
                  <a:lnTo>
                    <a:pt x="48" y="0"/>
                  </a:lnTo>
                  <a:close/>
                  <a:moveTo>
                    <a:pt x="48" y="0"/>
                  </a:move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5" name="Freeform 90"/>
            <p:cNvSpPr>
              <a:spLocks noChangeAspect="1" noEditPoints="1"/>
            </p:cNvSpPr>
            <p:nvPr/>
          </p:nvSpPr>
          <p:spPr bwMode="auto">
            <a:xfrm>
              <a:off x="3495" y="3449"/>
              <a:ext cx="48" cy="41"/>
            </a:xfrm>
            <a:custGeom>
              <a:avLst/>
              <a:gdLst>
                <a:gd name="T0" fmla="*/ 0 w 48"/>
                <a:gd name="T1" fmla="*/ 0 h 41"/>
                <a:gd name="T2" fmla="*/ 7 w 48"/>
                <a:gd name="T3" fmla="*/ 14 h 41"/>
                <a:gd name="T4" fmla="*/ 13 w 48"/>
                <a:gd name="T5" fmla="*/ 28 h 41"/>
                <a:gd name="T6" fmla="*/ 27 w 48"/>
                <a:gd name="T7" fmla="*/ 41 h 41"/>
                <a:gd name="T8" fmla="*/ 48 w 48"/>
                <a:gd name="T9" fmla="*/ 41 h 41"/>
                <a:gd name="T10" fmla="*/ 48 w 48"/>
                <a:gd name="T11" fmla="*/ 41 h 41"/>
                <a:gd name="T12" fmla="*/ 27 w 48"/>
                <a:gd name="T13" fmla="*/ 41 h 41"/>
                <a:gd name="T14" fmla="*/ 13 w 48"/>
                <a:gd name="T15" fmla="*/ 28 h 41"/>
                <a:gd name="T16" fmla="*/ 7 w 48"/>
                <a:gd name="T17" fmla="*/ 14 h 41"/>
                <a:gd name="T18" fmla="*/ 0 w 48"/>
                <a:gd name="T19" fmla="*/ 0 h 41"/>
                <a:gd name="T20" fmla="*/ 0 w 48"/>
                <a:gd name="T21" fmla="*/ 0 h 41"/>
                <a:gd name="T22" fmla="*/ 0 w 48"/>
                <a:gd name="T23" fmla="*/ 0 h 41"/>
                <a:gd name="T24" fmla="*/ 0 w 48"/>
                <a:gd name="T25" fmla="*/ 0 h 41"/>
                <a:gd name="T26" fmla="*/ 0 w 48"/>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8"/>
                <a:gd name="T43" fmla="*/ 0 h 41"/>
                <a:gd name="T44" fmla="*/ 48 w 48"/>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8" h="41">
                  <a:moveTo>
                    <a:pt x="0" y="0"/>
                  </a:moveTo>
                  <a:lnTo>
                    <a:pt x="7" y="14"/>
                  </a:lnTo>
                  <a:lnTo>
                    <a:pt x="13" y="28"/>
                  </a:lnTo>
                  <a:lnTo>
                    <a:pt x="27" y="41"/>
                  </a:lnTo>
                  <a:lnTo>
                    <a:pt x="48" y="41"/>
                  </a:lnTo>
                  <a:lnTo>
                    <a:pt x="27" y="41"/>
                  </a:lnTo>
                  <a:lnTo>
                    <a:pt x="13" y="28"/>
                  </a:lnTo>
                  <a:lnTo>
                    <a:pt x="7" y="14"/>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6" name="Freeform 91"/>
            <p:cNvSpPr>
              <a:spLocks noChangeAspect="1"/>
            </p:cNvSpPr>
            <p:nvPr/>
          </p:nvSpPr>
          <p:spPr bwMode="auto">
            <a:xfrm>
              <a:off x="3543" y="349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7" name="Freeform 92"/>
            <p:cNvSpPr>
              <a:spLocks noChangeAspect="1"/>
            </p:cNvSpPr>
            <p:nvPr/>
          </p:nvSpPr>
          <p:spPr bwMode="auto">
            <a:xfrm>
              <a:off x="2806" y="2541"/>
              <a:ext cx="386" cy="1"/>
            </a:xfrm>
            <a:custGeom>
              <a:avLst/>
              <a:gdLst>
                <a:gd name="T0" fmla="*/ 0 w 386"/>
                <a:gd name="T1" fmla="*/ 0 h 1"/>
                <a:gd name="T2" fmla="*/ 386 w 386"/>
                <a:gd name="T3" fmla="*/ 0 h 1"/>
                <a:gd name="T4" fmla="*/ 0 w 386"/>
                <a:gd name="T5" fmla="*/ 0 h 1"/>
                <a:gd name="T6" fmla="*/ 0 w 386"/>
                <a:gd name="T7" fmla="*/ 0 h 1"/>
                <a:gd name="T8" fmla="*/ 0 60000 65536"/>
                <a:gd name="T9" fmla="*/ 0 60000 65536"/>
                <a:gd name="T10" fmla="*/ 0 60000 65536"/>
                <a:gd name="T11" fmla="*/ 0 60000 65536"/>
                <a:gd name="T12" fmla="*/ 0 w 386"/>
                <a:gd name="T13" fmla="*/ 0 h 1"/>
                <a:gd name="T14" fmla="*/ 386 w 386"/>
                <a:gd name="T15" fmla="*/ 1 h 1"/>
              </a:gdLst>
              <a:ahLst/>
              <a:cxnLst>
                <a:cxn ang="T8">
                  <a:pos x="T0" y="T1"/>
                </a:cxn>
                <a:cxn ang="T9">
                  <a:pos x="T2" y="T3"/>
                </a:cxn>
                <a:cxn ang="T10">
                  <a:pos x="T4" y="T5"/>
                </a:cxn>
                <a:cxn ang="T11">
                  <a:pos x="T6" y="T7"/>
                </a:cxn>
              </a:cxnLst>
              <a:rect l="T12" t="T13" r="T14" b="T15"/>
              <a:pathLst>
                <a:path w="386" h="1">
                  <a:moveTo>
                    <a:pt x="0" y="0"/>
                  </a:moveTo>
                  <a:lnTo>
                    <a:pt x="386" y="0"/>
                  </a:ln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8" name="Freeform 93"/>
            <p:cNvSpPr>
              <a:spLocks noChangeAspect="1"/>
            </p:cNvSpPr>
            <p:nvPr/>
          </p:nvSpPr>
          <p:spPr bwMode="auto">
            <a:xfrm>
              <a:off x="3164" y="2507"/>
              <a:ext cx="152" cy="75"/>
            </a:xfrm>
            <a:custGeom>
              <a:avLst/>
              <a:gdLst>
                <a:gd name="T0" fmla="*/ 0 w 152"/>
                <a:gd name="T1" fmla="*/ 75 h 75"/>
                <a:gd name="T2" fmla="*/ 152 w 152"/>
                <a:gd name="T3" fmla="*/ 34 h 75"/>
                <a:gd name="T4" fmla="*/ 0 w 152"/>
                <a:gd name="T5" fmla="*/ 0 h 75"/>
                <a:gd name="T6" fmla="*/ 0 w 152"/>
                <a:gd name="T7" fmla="*/ 75 h 75"/>
                <a:gd name="T8" fmla="*/ 0 w 152"/>
                <a:gd name="T9" fmla="*/ 75 h 75"/>
                <a:gd name="T10" fmla="*/ 0 60000 65536"/>
                <a:gd name="T11" fmla="*/ 0 60000 65536"/>
                <a:gd name="T12" fmla="*/ 0 60000 65536"/>
                <a:gd name="T13" fmla="*/ 0 60000 65536"/>
                <a:gd name="T14" fmla="*/ 0 60000 65536"/>
                <a:gd name="T15" fmla="*/ 0 w 152"/>
                <a:gd name="T16" fmla="*/ 0 h 75"/>
                <a:gd name="T17" fmla="*/ 152 w 152"/>
                <a:gd name="T18" fmla="*/ 75 h 75"/>
              </a:gdLst>
              <a:ahLst/>
              <a:cxnLst>
                <a:cxn ang="T10">
                  <a:pos x="T0" y="T1"/>
                </a:cxn>
                <a:cxn ang="T11">
                  <a:pos x="T2" y="T3"/>
                </a:cxn>
                <a:cxn ang="T12">
                  <a:pos x="T4" y="T5"/>
                </a:cxn>
                <a:cxn ang="T13">
                  <a:pos x="T6" y="T7"/>
                </a:cxn>
                <a:cxn ang="T14">
                  <a:pos x="T8" y="T9"/>
                </a:cxn>
              </a:cxnLst>
              <a:rect l="T15" t="T16" r="T17" b="T18"/>
              <a:pathLst>
                <a:path w="152" h="75">
                  <a:moveTo>
                    <a:pt x="0" y="75"/>
                  </a:moveTo>
                  <a:lnTo>
                    <a:pt x="152" y="34"/>
                  </a:lnTo>
                  <a:lnTo>
                    <a:pt x="0" y="0"/>
                  </a:lnTo>
                  <a:lnTo>
                    <a:pt x="0" y="75"/>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29" name="Freeform 94"/>
            <p:cNvSpPr>
              <a:spLocks noChangeAspect="1"/>
            </p:cNvSpPr>
            <p:nvPr/>
          </p:nvSpPr>
          <p:spPr bwMode="auto">
            <a:xfrm>
              <a:off x="3026" y="2321"/>
              <a:ext cx="76" cy="124"/>
            </a:xfrm>
            <a:custGeom>
              <a:avLst/>
              <a:gdLst>
                <a:gd name="T0" fmla="*/ 0 w 76"/>
                <a:gd name="T1" fmla="*/ 124 h 124"/>
                <a:gd name="T2" fmla="*/ 48 w 76"/>
                <a:gd name="T3" fmla="*/ 124 h 124"/>
                <a:gd name="T4" fmla="*/ 48 w 76"/>
                <a:gd name="T5" fmla="*/ 117 h 124"/>
                <a:gd name="T6" fmla="*/ 35 w 76"/>
                <a:gd name="T7" fmla="*/ 117 h 124"/>
                <a:gd name="T8" fmla="*/ 35 w 76"/>
                <a:gd name="T9" fmla="*/ 110 h 124"/>
                <a:gd name="T10" fmla="*/ 35 w 76"/>
                <a:gd name="T11" fmla="*/ 110 h 124"/>
                <a:gd name="T12" fmla="*/ 35 w 76"/>
                <a:gd name="T13" fmla="*/ 103 h 124"/>
                <a:gd name="T14" fmla="*/ 55 w 76"/>
                <a:gd name="T15" fmla="*/ 21 h 124"/>
                <a:gd name="T16" fmla="*/ 62 w 76"/>
                <a:gd name="T17" fmla="*/ 7 h 124"/>
                <a:gd name="T18" fmla="*/ 76 w 76"/>
                <a:gd name="T19" fmla="*/ 7 h 124"/>
                <a:gd name="T20" fmla="*/ 76 w 76"/>
                <a:gd name="T21" fmla="*/ 0 h 124"/>
                <a:gd name="T22" fmla="*/ 28 w 76"/>
                <a:gd name="T23" fmla="*/ 0 h 124"/>
                <a:gd name="T24" fmla="*/ 28 w 76"/>
                <a:gd name="T25" fmla="*/ 7 h 124"/>
                <a:gd name="T26" fmla="*/ 35 w 76"/>
                <a:gd name="T27" fmla="*/ 7 h 124"/>
                <a:gd name="T28" fmla="*/ 41 w 76"/>
                <a:gd name="T29" fmla="*/ 14 h 124"/>
                <a:gd name="T30" fmla="*/ 41 w 76"/>
                <a:gd name="T31" fmla="*/ 21 h 124"/>
                <a:gd name="T32" fmla="*/ 35 w 76"/>
                <a:gd name="T33" fmla="*/ 28 h 124"/>
                <a:gd name="T34" fmla="*/ 14 w 76"/>
                <a:gd name="T35" fmla="*/ 103 h 124"/>
                <a:gd name="T36" fmla="*/ 7 w 76"/>
                <a:gd name="T37" fmla="*/ 117 h 124"/>
                <a:gd name="T38" fmla="*/ 0 w 76"/>
                <a:gd name="T39" fmla="*/ 117 h 124"/>
                <a:gd name="T40" fmla="*/ 0 w 76"/>
                <a:gd name="T41" fmla="*/ 124 h 1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24"/>
                <a:gd name="T65" fmla="*/ 76 w 76"/>
                <a:gd name="T66" fmla="*/ 124 h 1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24">
                  <a:moveTo>
                    <a:pt x="0" y="124"/>
                  </a:moveTo>
                  <a:lnTo>
                    <a:pt x="48" y="124"/>
                  </a:lnTo>
                  <a:lnTo>
                    <a:pt x="48" y="117"/>
                  </a:lnTo>
                  <a:lnTo>
                    <a:pt x="35" y="117"/>
                  </a:lnTo>
                  <a:lnTo>
                    <a:pt x="35" y="110"/>
                  </a:lnTo>
                  <a:lnTo>
                    <a:pt x="35" y="103"/>
                  </a:lnTo>
                  <a:lnTo>
                    <a:pt x="55" y="21"/>
                  </a:lnTo>
                  <a:lnTo>
                    <a:pt x="62" y="7"/>
                  </a:lnTo>
                  <a:lnTo>
                    <a:pt x="76" y="7"/>
                  </a:lnTo>
                  <a:lnTo>
                    <a:pt x="76" y="0"/>
                  </a:lnTo>
                  <a:lnTo>
                    <a:pt x="28" y="0"/>
                  </a:lnTo>
                  <a:lnTo>
                    <a:pt x="28" y="7"/>
                  </a:lnTo>
                  <a:lnTo>
                    <a:pt x="35" y="7"/>
                  </a:lnTo>
                  <a:lnTo>
                    <a:pt x="41" y="14"/>
                  </a:lnTo>
                  <a:lnTo>
                    <a:pt x="41" y="21"/>
                  </a:lnTo>
                  <a:lnTo>
                    <a:pt x="35" y="28"/>
                  </a:lnTo>
                  <a:lnTo>
                    <a:pt x="14" y="103"/>
                  </a:lnTo>
                  <a:lnTo>
                    <a:pt x="7" y="117"/>
                  </a:lnTo>
                  <a:lnTo>
                    <a:pt x="0" y="117"/>
                  </a:lnTo>
                  <a:lnTo>
                    <a:pt x="0" y="12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0" name="Freeform 95"/>
            <p:cNvSpPr>
              <a:spLocks noChangeAspect="1" noEditPoints="1"/>
            </p:cNvSpPr>
            <p:nvPr/>
          </p:nvSpPr>
          <p:spPr bwMode="auto">
            <a:xfrm>
              <a:off x="3495" y="2431"/>
              <a:ext cx="89" cy="83"/>
            </a:xfrm>
            <a:custGeom>
              <a:avLst/>
              <a:gdLst>
                <a:gd name="T0" fmla="*/ 89 w 89"/>
                <a:gd name="T1" fmla="*/ 62 h 83"/>
                <a:gd name="T2" fmla="*/ 82 w 89"/>
                <a:gd name="T3" fmla="*/ 69 h 83"/>
                <a:gd name="T4" fmla="*/ 75 w 89"/>
                <a:gd name="T5" fmla="*/ 76 h 83"/>
                <a:gd name="T6" fmla="*/ 69 w 89"/>
                <a:gd name="T7" fmla="*/ 76 h 83"/>
                <a:gd name="T8" fmla="*/ 69 w 89"/>
                <a:gd name="T9" fmla="*/ 76 h 83"/>
                <a:gd name="T10" fmla="*/ 75 w 89"/>
                <a:gd name="T11" fmla="*/ 62 h 83"/>
                <a:gd name="T12" fmla="*/ 82 w 89"/>
                <a:gd name="T13" fmla="*/ 41 h 83"/>
                <a:gd name="T14" fmla="*/ 89 w 89"/>
                <a:gd name="T15" fmla="*/ 14 h 83"/>
                <a:gd name="T16" fmla="*/ 89 w 89"/>
                <a:gd name="T17" fmla="*/ 7 h 83"/>
                <a:gd name="T18" fmla="*/ 89 w 89"/>
                <a:gd name="T19" fmla="*/ 0 h 83"/>
                <a:gd name="T20" fmla="*/ 75 w 89"/>
                <a:gd name="T21" fmla="*/ 7 h 83"/>
                <a:gd name="T22" fmla="*/ 75 w 89"/>
                <a:gd name="T23" fmla="*/ 7 h 83"/>
                <a:gd name="T24" fmla="*/ 75 w 89"/>
                <a:gd name="T25" fmla="*/ 14 h 83"/>
                <a:gd name="T26" fmla="*/ 75 w 89"/>
                <a:gd name="T27" fmla="*/ 14 h 83"/>
                <a:gd name="T28" fmla="*/ 69 w 89"/>
                <a:gd name="T29" fmla="*/ 7 h 83"/>
                <a:gd name="T30" fmla="*/ 55 w 89"/>
                <a:gd name="T31" fmla="*/ 0 h 83"/>
                <a:gd name="T32" fmla="*/ 41 w 89"/>
                <a:gd name="T33" fmla="*/ 7 h 83"/>
                <a:gd name="T34" fmla="*/ 20 w 89"/>
                <a:gd name="T35" fmla="*/ 21 h 83"/>
                <a:gd name="T36" fmla="*/ 7 w 89"/>
                <a:gd name="T37" fmla="*/ 41 h 83"/>
                <a:gd name="T38" fmla="*/ 0 w 89"/>
                <a:gd name="T39" fmla="*/ 62 h 83"/>
                <a:gd name="T40" fmla="*/ 0 w 89"/>
                <a:gd name="T41" fmla="*/ 76 h 83"/>
                <a:gd name="T42" fmla="*/ 7 w 89"/>
                <a:gd name="T43" fmla="*/ 83 h 83"/>
                <a:gd name="T44" fmla="*/ 20 w 89"/>
                <a:gd name="T45" fmla="*/ 83 h 83"/>
                <a:gd name="T46" fmla="*/ 41 w 89"/>
                <a:gd name="T47" fmla="*/ 83 h 83"/>
                <a:gd name="T48" fmla="*/ 48 w 89"/>
                <a:gd name="T49" fmla="*/ 69 h 83"/>
                <a:gd name="T50" fmla="*/ 62 w 89"/>
                <a:gd name="T51" fmla="*/ 55 h 83"/>
                <a:gd name="T52" fmla="*/ 62 w 89"/>
                <a:gd name="T53" fmla="*/ 55 h 83"/>
                <a:gd name="T54" fmla="*/ 55 w 89"/>
                <a:gd name="T55" fmla="*/ 69 h 83"/>
                <a:gd name="T56" fmla="*/ 55 w 89"/>
                <a:gd name="T57" fmla="*/ 76 h 83"/>
                <a:gd name="T58" fmla="*/ 55 w 89"/>
                <a:gd name="T59" fmla="*/ 83 h 83"/>
                <a:gd name="T60" fmla="*/ 62 w 89"/>
                <a:gd name="T61" fmla="*/ 83 h 83"/>
                <a:gd name="T62" fmla="*/ 75 w 89"/>
                <a:gd name="T63" fmla="*/ 76 h 83"/>
                <a:gd name="T64" fmla="*/ 89 w 89"/>
                <a:gd name="T65" fmla="*/ 62 h 83"/>
                <a:gd name="T66" fmla="*/ 89 w 89"/>
                <a:gd name="T67" fmla="*/ 62 h 83"/>
                <a:gd name="T68" fmla="*/ 20 w 89"/>
                <a:gd name="T69" fmla="*/ 62 h 83"/>
                <a:gd name="T70" fmla="*/ 20 w 89"/>
                <a:gd name="T71" fmla="*/ 48 h 83"/>
                <a:gd name="T72" fmla="*/ 27 w 89"/>
                <a:gd name="T73" fmla="*/ 28 h 83"/>
                <a:gd name="T74" fmla="*/ 41 w 89"/>
                <a:gd name="T75" fmla="*/ 14 h 83"/>
                <a:gd name="T76" fmla="*/ 55 w 89"/>
                <a:gd name="T77" fmla="*/ 7 h 83"/>
                <a:gd name="T78" fmla="*/ 62 w 89"/>
                <a:gd name="T79" fmla="*/ 14 h 83"/>
                <a:gd name="T80" fmla="*/ 69 w 89"/>
                <a:gd name="T81" fmla="*/ 21 h 83"/>
                <a:gd name="T82" fmla="*/ 69 w 89"/>
                <a:gd name="T83" fmla="*/ 35 h 83"/>
                <a:gd name="T84" fmla="*/ 55 w 89"/>
                <a:gd name="T85" fmla="*/ 55 h 83"/>
                <a:gd name="T86" fmla="*/ 41 w 89"/>
                <a:gd name="T87" fmla="*/ 69 h 83"/>
                <a:gd name="T88" fmla="*/ 27 w 89"/>
                <a:gd name="T89" fmla="*/ 76 h 83"/>
                <a:gd name="T90" fmla="*/ 27 w 89"/>
                <a:gd name="T91" fmla="*/ 76 h 83"/>
                <a:gd name="T92" fmla="*/ 20 w 89"/>
                <a:gd name="T93" fmla="*/ 62 h 83"/>
                <a:gd name="T94" fmla="*/ 20 w 89"/>
                <a:gd name="T95" fmla="*/ 62 h 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9"/>
                <a:gd name="T145" fmla="*/ 0 h 83"/>
                <a:gd name="T146" fmla="*/ 89 w 89"/>
                <a:gd name="T147" fmla="*/ 83 h 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9" h="83">
                  <a:moveTo>
                    <a:pt x="89" y="62"/>
                  </a:moveTo>
                  <a:lnTo>
                    <a:pt x="82" y="69"/>
                  </a:lnTo>
                  <a:lnTo>
                    <a:pt x="75" y="76"/>
                  </a:lnTo>
                  <a:lnTo>
                    <a:pt x="69" y="76"/>
                  </a:lnTo>
                  <a:lnTo>
                    <a:pt x="75" y="62"/>
                  </a:lnTo>
                  <a:lnTo>
                    <a:pt x="82" y="41"/>
                  </a:lnTo>
                  <a:lnTo>
                    <a:pt x="89" y="14"/>
                  </a:lnTo>
                  <a:lnTo>
                    <a:pt x="89" y="7"/>
                  </a:lnTo>
                  <a:lnTo>
                    <a:pt x="89" y="0"/>
                  </a:lnTo>
                  <a:lnTo>
                    <a:pt x="75" y="7"/>
                  </a:lnTo>
                  <a:lnTo>
                    <a:pt x="75" y="14"/>
                  </a:lnTo>
                  <a:lnTo>
                    <a:pt x="69" y="7"/>
                  </a:lnTo>
                  <a:lnTo>
                    <a:pt x="55" y="0"/>
                  </a:lnTo>
                  <a:lnTo>
                    <a:pt x="41" y="7"/>
                  </a:lnTo>
                  <a:lnTo>
                    <a:pt x="20" y="21"/>
                  </a:lnTo>
                  <a:lnTo>
                    <a:pt x="7" y="41"/>
                  </a:lnTo>
                  <a:lnTo>
                    <a:pt x="0" y="62"/>
                  </a:lnTo>
                  <a:lnTo>
                    <a:pt x="0" y="76"/>
                  </a:lnTo>
                  <a:lnTo>
                    <a:pt x="7" y="83"/>
                  </a:lnTo>
                  <a:lnTo>
                    <a:pt x="20" y="83"/>
                  </a:lnTo>
                  <a:lnTo>
                    <a:pt x="41" y="83"/>
                  </a:lnTo>
                  <a:lnTo>
                    <a:pt x="48" y="69"/>
                  </a:lnTo>
                  <a:lnTo>
                    <a:pt x="62" y="55"/>
                  </a:lnTo>
                  <a:lnTo>
                    <a:pt x="55" y="69"/>
                  </a:lnTo>
                  <a:lnTo>
                    <a:pt x="55" y="76"/>
                  </a:lnTo>
                  <a:lnTo>
                    <a:pt x="55" y="83"/>
                  </a:lnTo>
                  <a:lnTo>
                    <a:pt x="62" y="83"/>
                  </a:lnTo>
                  <a:lnTo>
                    <a:pt x="75" y="76"/>
                  </a:lnTo>
                  <a:lnTo>
                    <a:pt x="89" y="62"/>
                  </a:lnTo>
                  <a:close/>
                  <a:moveTo>
                    <a:pt x="20" y="62"/>
                  </a:moveTo>
                  <a:lnTo>
                    <a:pt x="20" y="48"/>
                  </a:lnTo>
                  <a:lnTo>
                    <a:pt x="27" y="28"/>
                  </a:lnTo>
                  <a:lnTo>
                    <a:pt x="41" y="14"/>
                  </a:lnTo>
                  <a:lnTo>
                    <a:pt x="55" y="7"/>
                  </a:lnTo>
                  <a:lnTo>
                    <a:pt x="62" y="14"/>
                  </a:lnTo>
                  <a:lnTo>
                    <a:pt x="69" y="21"/>
                  </a:lnTo>
                  <a:lnTo>
                    <a:pt x="69" y="35"/>
                  </a:lnTo>
                  <a:lnTo>
                    <a:pt x="55" y="55"/>
                  </a:lnTo>
                  <a:lnTo>
                    <a:pt x="41" y="69"/>
                  </a:lnTo>
                  <a:lnTo>
                    <a:pt x="27" y="76"/>
                  </a:lnTo>
                  <a:lnTo>
                    <a:pt x="20" y="6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1" name="Freeform 96"/>
            <p:cNvSpPr>
              <a:spLocks noChangeAspect="1" noEditPoints="1"/>
            </p:cNvSpPr>
            <p:nvPr/>
          </p:nvSpPr>
          <p:spPr bwMode="auto">
            <a:xfrm>
              <a:off x="3495" y="3587"/>
              <a:ext cx="89" cy="123"/>
            </a:xfrm>
            <a:custGeom>
              <a:avLst/>
              <a:gdLst>
                <a:gd name="T0" fmla="*/ 75 w 89"/>
                <a:gd name="T1" fmla="*/ 68 h 123"/>
                <a:gd name="T2" fmla="*/ 75 w 89"/>
                <a:gd name="T3" fmla="*/ 82 h 123"/>
                <a:gd name="T4" fmla="*/ 62 w 89"/>
                <a:gd name="T5" fmla="*/ 103 h 123"/>
                <a:gd name="T6" fmla="*/ 48 w 89"/>
                <a:gd name="T7" fmla="*/ 116 h 123"/>
                <a:gd name="T8" fmla="*/ 27 w 89"/>
                <a:gd name="T9" fmla="*/ 123 h 123"/>
                <a:gd name="T10" fmla="*/ 20 w 89"/>
                <a:gd name="T11" fmla="*/ 123 h 123"/>
                <a:gd name="T12" fmla="*/ 20 w 89"/>
                <a:gd name="T13" fmla="*/ 116 h 123"/>
                <a:gd name="T14" fmla="*/ 27 w 89"/>
                <a:gd name="T15" fmla="*/ 96 h 123"/>
                <a:gd name="T16" fmla="*/ 34 w 89"/>
                <a:gd name="T17" fmla="*/ 75 h 123"/>
                <a:gd name="T18" fmla="*/ 48 w 89"/>
                <a:gd name="T19" fmla="*/ 55 h 123"/>
                <a:gd name="T20" fmla="*/ 62 w 89"/>
                <a:gd name="T21" fmla="*/ 48 h 123"/>
                <a:gd name="T22" fmla="*/ 69 w 89"/>
                <a:gd name="T23" fmla="*/ 55 h 123"/>
                <a:gd name="T24" fmla="*/ 75 w 89"/>
                <a:gd name="T25" fmla="*/ 68 h 123"/>
                <a:gd name="T26" fmla="*/ 75 w 89"/>
                <a:gd name="T27" fmla="*/ 68 h 123"/>
                <a:gd name="T28" fmla="*/ 20 w 89"/>
                <a:gd name="T29" fmla="*/ 6 h 123"/>
                <a:gd name="T30" fmla="*/ 27 w 89"/>
                <a:gd name="T31" fmla="*/ 6 h 123"/>
                <a:gd name="T32" fmla="*/ 34 w 89"/>
                <a:gd name="T33" fmla="*/ 13 h 123"/>
                <a:gd name="T34" fmla="*/ 34 w 89"/>
                <a:gd name="T35" fmla="*/ 20 h 123"/>
                <a:gd name="T36" fmla="*/ 27 w 89"/>
                <a:gd name="T37" fmla="*/ 20 h 123"/>
                <a:gd name="T38" fmla="*/ 0 w 89"/>
                <a:gd name="T39" fmla="*/ 116 h 123"/>
                <a:gd name="T40" fmla="*/ 0 w 89"/>
                <a:gd name="T41" fmla="*/ 116 h 123"/>
                <a:gd name="T42" fmla="*/ 7 w 89"/>
                <a:gd name="T43" fmla="*/ 116 h 123"/>
                <a:gd name="T44" fmla="*/ 13 w 89"/>
                <a:gd name="T45" fmla="*/ 123 h 123"/>
                <a:gd name="T46" fmla="*/ 27 w 89"/>
                <a:gd name="T47" fmla="*/ 123 h 123"/>
                <a:gd name="T48" fmla="*/ 48 w 89"/>
                <a:gd name="T49" fmla="*/ 116 h 123"/>
                <a:gd name="T50" fmla="*/ 69 w 89"/>
                <a:gd name="T51" fmla="*/ 103 h 123"/>
                <a:gd name="T52" fmla="*/ 82 w 89"/>
                <a:gd name="T53" fmla="*/ 89 h 123"/>
                <a:gd name="T54" fmla="*/ 89 w 89"/>
                <a:gd name="T55" fmla="*/ 61 h 123"/>
                <a:gd name="T56" fmla="*/ 82 w 89"/>
                <a:gd name="T57" fmla="*/ 48 h 123"/>
                <a:gd name="T58" fmla="*/ 69 w 89"/>
                <a:gd name="T59" fmla="*/ 41 h 123"/>
                <a:gd name="T60" fmla="*/ 55 w 89"/>
                <a:gd name="T61" fmla="*/ 48 h 123"/>
                <a:gd name="T62" fmla="*/ 41 w 89"/>
                <a:gd name="T63" fmla="*/ 55 h 123"/>
                <a:gd name="T64" fmla="*/ 27 w 89"/>
                <a:gd name="T65" fmla="*/ 68 h 123"/>
                <a:gd name="T66" fmla="*/ 27 w 89"/>
                <a:gd name="T67" fmla="*/ 68 h 123"/>
                <a:gd name="T68" fmla="*/ 41 w 89"/>
                <a:gd name="T69" fmla="*/ 34 h 123"/>
                <a:gd name="T70" fmla="*/ 48 w 89"/>
                <a:gd name="T71" fmla="*/ 13 h 123"/>
                <a:gd name="T72" fmla="*/ 48 w 89"/>
                <a:gd name="T73" fmla="*/ 0 h 123"/>
                <a:gd name="T74" fmla="*/ 48 w 89"/>
                <a:gd name="T75" fmla="*/ 0 h 123"/>
                <a:gd name="T76" fmla="*/ 34 w 89"/>
                <a:gd name="T77" fmla="*/ 0 h 123"/>
                <a:gd name="T78" fmla="*/ 20 w 89"/>
                <a:gd name="T79" fmla="*/ 0 h 123"/>
                <a:gd name="T80" fmla="*/ 20 w 89"/>
                <a:gd name="T81" fmla="*/ 6 h 12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9"/>
                <a:gd name="T124" fmla="*/ 0 h 123"/>
                <a:gd name="T125" fmla="*/ 89 w 89"/>
                <a:gd name="T126" fmla="*/ 123 h 12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9" h="123">
                  <a:moveTo>
                    <a:pt x="75" y="68"/>
                  </a:moveTo>
                  <a:lnTo>
                    <a:pt x="75" y="82"/>
                  </a:lnTo>
                  <a:lnTo>
                    <a:pt x="62" y="103"/>
                  </a:lnTo>
                  <a:lnTo>
                    <a:pt x="48" y="116"/>
                  </a:lnTo>
                  <a:lnTo>
                    <a:pt x="27" y="123"/>
                  </a:lnTo>
                  <a:lnTo>
                    <a:pt x="20" y="123"/>
                  </a:lnTo>
                  <a:lnTo>
                    <a:pt x="20" y="116"/>
                  </a:lnTo>
                  <a:lnTo>
                    <a:pt x="27" y="96"/>
                  </a:lnTo>
                  <a:lnTo>
                    <a:pt x="34" y="75"/>
                  </a:lnTo>
                  <a:lnTo>
                    <a:pt x="48" y="55"/>
                  </a:lnTo>
                  <a:lnTo>
                    <a:pt x="62" y="48"/>
                  </a:lnTo>
                  <a:lnTo>
                    <a:pt x="69" y="55"/>
                  </a:lnTo>
                  <a:lnTo>
                    <a:pt x="75" y="68"/>
                  </a:lnTo>
                  <a:close/>
                  <a:moveTo>
                    <a:pt x="20" y="6"/>
                  </a:moveTo>
                  <a:lnTo>
                    <a:pt x="27" y="6"/>
                  </a:lnTo>
                  <a:lnTo>
                    <a:pt x="34" y="13"/>
                  </a:lnTo>
                  <a:lnTo>
                    <a:pt x="34" y="20"/>
                  </a:lnTo>
                  <a:lnTo>
                    <a:pt x="27" y="20"/>
                  </a:lnTo>
                  <a:lnTo>
                    <a:pt x="0" y="116"/>
                  </a:lnTo>
                  <a:lnTo>
                    <a:pt x="7" y="116"/>
                  </a:lnTo>
                  <a:lnTo>
                    <a:pt x="13" y="123"/>
                  </a:lnTo>
                  <a:lnTo>
                    <a:pt x="27" y="123"/>
                  </a:lnTo>
                  <a:lnTo>
                    <a:pt x="48" y="116"/>
                  </a:lnTo>
                  <a:lnTo>
                    <a:pt x="69" y="103"/>
                  </a:lnTo>
                  <a:lnTo>
                    <a:pt x="82" y="89"/>
                  </a:lnTo>
                  <a:lnTo>
                    <a:pt x="89" y="61"/>
                  </a:lnTo>
                  <a:lnTo>
                    <a:pt x="82" y="48"/>
                  </a:lnTo>
                  <a:lnTo>
                    <a:pt x="69" y="41"/>
                  </a:lnTo>
                  <a:lnTo>
                    <a:pt x="55" y="48"/>
                  </a:lnTo>
                  <a:lnTo>
                    <a:pt x="41" y="55"/>
                  </a:lnTo>
                  <a:lnTo>
                    <a:pt x="27" y="68"/>
                  </a:lnTo>
                  <a:lnTo>
                    <a:pt x="41" y="34"/>
                  </a:lnTo>
                  <a:lnTo>
                    <a:pt x="48" y="13"/>
                  </a:lnTo>
                  <a:lnTo>
                    <a:pt x="48" y="0"/>
                  </a:lnTo>
                  <a:lnTo>
                    <a:pt x="34" y="0"/>
                  </a:lnTo>
                  <a:lnTo>
                    <a:pt x="20" y="0"/>
                  </a:lnTo>
                  <a:lnTo>
                    <a:pt x="20"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2" name="Freeform 97"/>
            <p:cNvSpPr>
              <a:spLocks noChangeAspect="1"/>
            </p:cNvSpPr>
            <p:nvPr/>
          </p:nvSpPr>
          <p:spPr bwMode="auto">
            <a:xfrm>
              <a:off x="3488" y="3030"/>
              <a:ext cx="124" cy="123"/>
            </a:xfrm>
            <a:custGeom>
              <a:avLst/>
              <a:gdLst>
                <a:gd name="T0" fmla="*/ 124 w 124"/>
                <a:gd name="T1" fmla="*/ 0 h 123"/>
                <a:gd name="T2" fmla="*/ 82 w 124"/>
                <a:gd name="T3" fmla="*/ 0 h 123"/>
                <a:gd name="T4" fmla="*/ 82 w 124"/>
                <a:gd name="T5" fmla="*/ 6 h 123"/>
                <a:gd name="T6" fmla="*/ 89 w 124"/>
                <a:gd name="T7" fmla="*/ 6 h 123"/>
                <a:gd name="T8" fmla="*/ 96 w 124"/>
                <a:gd name="T9" fmla="*/ 13 h 123"/>
                <a:gd name="T10" fmla="*/ 96 w 124"/>
                <a:gd name="T11" fmla="*/ 20 h 123"/>
                <a:gd name="T12" fmla="*/ 89 w 124"/>
                <a:gd name="T13" fmla="*/ 34 h 123"/>
                <a:gd name="T14" fmla="*/ 48 w 124"/>
                <a:gd name="T15" fmla="*/ 96 h 123"/>
                <a:gd name="T16" fmla="*/ 48 w 124"/>
                <a:gd name="T17" fmla="*/ 96 h 123"/>
                <a:gd name="T18" fmla="*/ 34 w 124"/>
                <a:gd name="T19" fmla="*/ 13 h 123"/>
                <a:gd name="T20" fmla="*/ 41 w 124"/>
                <a:gd name="T21" fmla="*/ 6 h 123"/>
                <a:gd name="T22" fmla="*/ 48 w 124"/>
                <a:gd name="T23" fmla="*/ 6 h 123"/>
                <a:gd name="T24" fmla="*/ 48 w 124"/>
                <a:gd name="T25" fmla="*/ 0 h 123"/>
                <a:gd name="T26" fmla="*/ 0 w 124"/>
                <a:gd name="T27" fmla="*/ 0 h 123"/>
                <a:gd name="T28" fmla="*/ 0 w 124"/>
                <a:gd name="T29" fmla="*/ 6 h 123"/>
                <a:gd name="T30" fmla="*/ 14 w 124"/>
                <a:gd name="T31" fmla="*/ 6 h 123"/>
                <a:gd name="T32" fmla="*/ 14 w 124"/>
                <a:gd name="T33" fmla="*/ 13 h 123"/>
                <a:gd name="T34" fmla="*/ 14 w 124"/>
                <a:gd name="T35" fmla="*/ 27 h 123"/>
                <a:gd name="T36" fmla="*/ 34 w 124"/>
                <a:gd name="T37" fmla="*/ 123 h 123"/>
                <a:gd name="T38" fmla="*/ 34 w 124"/>
                <a:gd name="T39" fmla="*/ 123 h 123"/>
                <a:gd name="T40" fmla="*/ 110 w 124"/>
                <a:gd name="T41" fmla="*/ 13 h 123"/>
                <a:gd name="T42" fmla="*/ 117 w 124"/>
                <a:gd name="T43" fmla="*/ 6 h 123"/>
                <a:gd name="T44" fmla="*/ 124 w 124"/>
                <a:gd name="T45" fmla="*/ 6 h 123"/>
                <a:gd name="T46" fmla="*/ 124 w 124"/>
                <a:gd name="T47" fmla="*/ 0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4"/>
                <a:gd name="T73" fmla="*/ 0 h 123"/>
                <a:gd name="T74" fmla="*/ 124 w 124"/>
                <a:gd name="T75" fmla="*/ 123 h 12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4" h="123">
                  <a:moveTo>
                    <a:pt x="124" y="0"/>
                  </a:moveTo>
                  <a:lnTo>
                    <a:pt x="82" y="0"/>
                  </a:lnTo>
                  <a:lnTo>
                    <a:pt x="82" y="6"/>
                  </a:lnTo>
                  <a:lnTo>
                    <a:pt x="89" y="6"/>
                  </a:lnTo>
                  <a:lnTo>
                    <a:pt x="96" y="13"/>
                  </a:lnTo>
                  <a:lnTo>
                    <a:pt x="96" y="20"/>
                  </a:lnTo>
                  <a:lnTo>
                    <a:pt x="89" y="34"/>
                  </a:lnTo>
                  <a:lnTo>
                    <a:pt x="48" y="96"/>
                  </a:lnTo>
                  <a:lnTo>
                    <a:pt x="34" y="13"/>
                  </a:lnTo>
                  <a:lnTo>
                    <a:pt x="41" y="6"/>
                  </a:lnTo>
                  <a:lnTo>
                    <a:pt x="48" y="6"/>
                  </a:lnTo>
                  <a:lnTo>
                    <a:pt x="48" y="0"/>
                  </a:lnTo>
                  <a:lnTo>
                    <a:pt x="0" y="0"/>
                  </a:lnTo>
                  <a:lnTo>
                    <a:pt x="0" y="6"/>
                  </a:lnTo>
                  <a:lnTo>
                    <a:pt x="14" y="6"/>
                  </a:lnTo>
                  <a:lnTo>
                    <a:pt x="14" y="13"/>
                  </a:lnTo>
                  <a:lnTo>
                    <a:pt x="14" y="27"/>
                  </a:lnTo>
                  <a:lnTo>
                    <a:pt x="34" y="123"/>
                  </a:lnTo>
                  <a:lnTo>
                    <a:pt x="110" y="13"/>
                  </a:lnTo>
                  <a:lnTo>
                    <a:pt x="117" y="6"/>
                  </a:lnTo>
                  <a:lnTo>
                    <a:pt x="124" y="6"/>
                  </a:lnTo>
                  <a:lnTo>
                    <a:pt x="12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3" name="Freeform 98"/>
            <p:cNvSpPr>
              <a:spLocks noChangeAspect="1"/>
            </p:cNvSpPr>
            <p:nvPr/>
          </p:nvSpPr>
          <p:spPr bwMode="auto">
            <a:xfrm>
              <a:off x="3488" y="2782"/>
              <a:ext cx="103" cy="103"/>
            </a:xfrm>
            <a:custGeom>
              <a:avLst/>
              <a:gdLst>
                <a:gd name="T0" fmla="*/ 48 w 103"/>
                <a:gd name="T1" fmla="*/ 0 h 103"/>
                <a:gd name="T2" fmla="*/ 48 w 103"/>
                <a:gd name="T3" fmla="*/ 48 h 103"/>
                <a:gd name="T4" fmla="*/ 0 w 103"/>
                <a:gd name="T5" fmla="*/ 48 h 103"/>
                <a:gd name="T6" fmla="*/ 0 w 103"/>
                <a:gd name="T7" fmla="*/ 55 h 103"/>
                <a:gd name="T8" fmla="*/ 48 w 103"/>
                <a:gd name="T9" fmla="*/ 55 h 103"/>
                <a:gd name="T10" fmla="*/ 48 w 103"/>
                <a:gd name="T11" fmla="*/ 103 h 103"/>
                <a:gd name="T12" fmla="*/ 62 w 103"/>
                <a:gd name="T13" fmla="*/ 103 h 103"/>
                <a:gd name="T14" fmla="*/ 62 w 103"/>
                <a:gd name="T15" fmla="*/ 55 h 103"/>
                <a:gd name="T16" fmla="*/ 103 w 103"/>
                <a:gd name="T17" fmla="*/ 55 h 103"/>
                <a:gd name="T18" fmla="*/ 103 w 103"/>
                <a:gd name="T19" fmla="*/ 48 h 103"/>
                <a:gd name="T20" fmla="*/ 62 w 103"/>
                <a:gd name="T21" fmla="*/ 48 h 103"/>
                <a:gd name="T22" fmla="*/ 62 w 103"/>
                <a:gd name="T23" fmla="*/ 0 h 103"/>
                <a:gd name="T24" fmla="*/ 48 w 103"/>
                <a:gd name="T25" fmla="*/ 0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103"/>
                <a:gd name="T41" fmla="*/ 103 w 103"/>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103">
                  <a:moveTo>
                    <a:pt x="48" y="0"/>
                  </a:moveTo>
                  <a:lnTo>
                    <a:pt x="48" y="48"/>
                  </a:lnTo>
                  <a:lnTo>
                    <a:pt x="0" y="48"/>
                  </a:lnTo>
                  <a:lnTo>
                    <a:pt x="0" y="55"/>
                  </a:lnTo>
                  <a:lnTo>
                    <a:pt x="48" y="55"/>
                  </a:lnTo>
                  <a:lnTo>
                    <a:pt x="48" y="103"/>
                  </a:lnTo>
                  <a:lnTo>
                    <a:pt x="62" y="103"/>
                  </a:lnTo>
                  <a:lnTo>
                    <a:pt x="62" y="55"/>
                  </a:lnTo>
                  <a:lnTo>
                    <a:pt x="103" y="55"/>
                  </a:lnTo>
                  <a:lnTo>
                    <a:pt x="103" y="48"/>
                  </a:lnTo>
                  <a:lnTo>
                    <a:pt x="62" y="48"/>
                  </a:lnTo>
                  <a:lnTo>
                    <a:pt x="62" y="0"/>
                  </a:ln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4" name="Rectangle 99"/>
            <p:cNvSpPr>
              <a:spLocks noChangeAspect="1" noChangeArrowheads="1"/>
            </p:cNvSpPr>
            <p:nvPr/>
          </p:nvSpPr>
          <p:spPr bwMode="auto">
            <a:xfrm>
              <a:off x="3488" y="3298"/>
              <a:ext cx="103" cy="13"/>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9735" name="Freeform 100"/>
            <p:cNvSpPr>
              <a:spLocks noChangeAspect="1"/>
            </p:cNvSpPr>
            <p:nvPr/>
          </p:nvSpPr>
          <p:spPr bwMode="auto">
            <a:xfrm>
              <a:off x="2833" y="3896"/>
              <a:ext cx="48" cy="158"/>
            </a:xfrm>
            <a:custGeom>
              <a:avLst/>
              <a:gdLst>
                <a:gd name="T0" fmla="*/ 48 w 48"/>
                <a:gd name="T1" fmla="*/ 0 h 158"/>
                <a:gd name="T2" fmla="*/ 14 w 48"/>
                <a:gd name="T3" fmla="*/ 34 h 158"/>
                <a:gd name="T4" fmla="*/ 7 w 48"/>
                <a:gd name="T5" fmla="*/ 55 h 158"/>
                <a:gd name="T6" fmla="*/ 0 w 48"/>
                <a:gd name="T7" fmla="*/ 76 h 158"/>
                <a:gd name="T8" fmla="*/ 7 w 48"/>
                <a:gd name="T9" fmla="*/ 110 h 158"/>
                <a:gd name="T10" fmla="*/ 14 w 48"/>
                <a:gd name="T11" fmla="*/ 131 h 158"/>
                <a:gd name="T12" fmla="*/ 35 w 48"/>
                <a:gd name="T13" fmla="*/ 144 h 158"/>
                <a:gd name="T14" fmla="*/ 48 w 48"/>
                <a:gd name="T15" fmla="*/ 158 h 158"/>
                <a:gd name="T16" fmla="*/ 48 w 48"/>
                <a:gd name="T17" fmla="*/ 158 h 158"/>
                <a:gd name="T18" fmla="*/ 35 w 48"/>
                <a:gd name="T19" fmla="*/ 138 h 158"/>
                <a:gd name="T20" fmla="*/ 28 w 48"/>
                <a:gd name="T21" fmla="*/ 117 h 158"/>
                <a:gd name="T22" fmla="*/ 21 w 48"/>
                <a:gd name="T23" fmla="*/ 96 h 158"/>
                <a:gd name="T24" fmla="*/ 21 w 48"/>
                <a:gd name="T25" fmla="*/ 76 h 158"/>
                <a:gd name="T26" fmla="*/ 21 w 48"/>
                <a:gd name="T27" fmla="*/ 48 h 158"/>
                <a:gd name="T28" fmla="*/ 28 w 48"/>
                <a:gd name="T29" fmla="*/ 28 h 158"/>
                <a:gd name="T30" fmla="*/ 42 w 48"/>
                <a:gd name="T31" fmla="*/ 14 h 158"/>
                <a:gd name="T32" fmla="*/ 48 w 48"/>
                <a:gd name="T33" fmla="*/ 7 h 158"/>
                <a:gd name="T34" fmla="*/ 48 w 48"/>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158"/>
                <a:gd name="T56" fmla="*/ 48 w 48"/>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158">
                  <a:moveTo>
                    <a:pt x="48" y="0"/>
                  </a:moveTo>
                  <a:lnTo>
                    <a:pt x="14" y="34"/>
                  </a:lnTo>
                  <a:lnTo>
                    <a:pt x="7" y="55"/>
                  </a:lnTo>
                  <a:lnTo>
                    <a:pt x="0" y="76"/>
                  </a:lnTo>
                  <a:lnTo>
                    <a:pt x="7" y="110"/>
                  </a:lnTo>
                  <a:lnTo>
                    <a:pt x="14" y="131"/>
                  </a:lnTo>
                  <a:lnTo>
                    <a:pt x="35" y="144"/>
                  </a:lnTo>
                  <a:lnTo>
                    <a:pt x="48" y="158"/>
                  </a:lnTo>
                  <a:lnTo>
                    <a:pt x="35" y="138"/>
                  </a:lnTo>
                  <a:lnTo>
                    <a:pt x="28" y="117"/>
                  </a:lnTo>
                  <a:lnTo>
                    <a:pt x="21" y="96"/>
                  </a:lnTo>
                  <a:lnTo>
                    <a:pt x="21" y="76"/>
                  </a:lnTo>
                  <a:lnTo>
                    <a:pt x="21" y="48"/>
                  </a:lnTo>
                  <a:lnTo>
                    <a:pt x="28" y="28"/>
                  </a:lnTo>
                  <a:lnTo>
                    <a:pt x="42" y="14"/>
                  </a:lnTo>
                  <a:lnTo>
                    <a:pt x="48" y="7"/>
                  </a:lnTo>
                  <a:lnTo>
                    <a:pt x="4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6" name="Freeform 101"/>
            <p:cNvSpPr>
              <a:spLocks noChangeAspect="1" noEditPoints="1"/>
            </p:cNvSpPr>
            <p:nvPr/>
          </p:nvSpPr>
          <p:spPr bwMode="auto">
            <a:xfrm>
              <a:off x="2902" y="3896"/>
              <a:ext cx="90" cy="131"/>
            </a:xfrm>
            <a:custGeom>
              <a:avLst/>
              <a:gdLst>
                <a:gd name="T0" fmla="*/ 28 w 90"/>
                <a:gd name="T1" fmla="*/ 69 h 131"/>
                <a:gd name="T2" fmla="*/ 35 w 90"/>
                <a:gd name="T3" fmla="*/ 55 h 131"/>
                <a:gd name="T4" fmla="*/ 48 w 90"/>
                <a:gd name="T5" fmla="*/ 55 h 131"/>
                <a:gd name="T6" fmla="*/ 62 w 90"/>
                <a:gd name="T7" fmla="*/ 62 h 131"/>
                <a:gd name="T8" fmla="*/ 69 w 90"/>
                <a:gd name="T9" fmla="*/ 89 h 131"/>
                <a:gd name="T10" fmla="*/ 69 w 90"/>
                <a:gd name="T11" fmla="*/ 110 h 131"/>
                <a:gd name="T12" fmla="*/ 62 w 90"/>
                <a:gd name="T13" fmla="*/ 124 h 131"/>
                <a:gd name="T14" fmla="*/ 48 w 90"/>
                <a:gd name="T15" fmla="*/ 124 h 131"/>
                <a:gd name="T16" fmla="*/ 35 w 90"/>
                <a:gd name="T17" fmla="*/ 117 h 131"/>
                <a:gd name="T18" fmla="*/ 28 w 90"/>
                <a:gd name="T19" fmla="*/ 110 h 131"/>
                <a:gd name="T20" fmla="*/ 28 w 90"/>
                <a:gd name="T21" fmla="*/ 69 h 131"/>
                <a:gd name="T22" fmla="*/ 14 w 90"/>
                <a:gd name="T23" fmla="*/ 117 h 131"/>
                <a:gd name="T24" fmla="*/ 21 w 90"/>
                <a:gd name="T25" fmla="*/ 124 h 131"/>
                <a:gd name="T26" fmla="*/ 41 w 90"/>
                <a:gd name="T27" fmla="*/ 131 h 131"/>
                <a:gd name="T28" fmla="*/ 62 w 90"/>
                <a:gd name="T29" fmla="*/ 124 h 131"/>
                <a:gd name="T30" fmla="*/ 76 w 90"/>
                <a:gd name="T31" fmla="*/ 110 h 131"/>
                <a:gd name="T32" fmla="*/ 90 w 90"/>
                <a:gd name="T33" fmla="*/ 96 h 131"/>
                <a:gd name="T34" fmla="*/ 90 w 90"/>
                <a:gd name="T35" fmla="*/ 83 h 131"/>
                <a:gd name="T36" fmla="*/ 83 w 90"/>
                <a:gd name="T37" fmla="*/ 55 h 131"/>
                <a:gd name="T38" fmla="*/ 69 w 90"/>
                <a:gd name="T39" fmla="*/ 48 h 131"/>
                <a:gd name="T40" fmla="*/ 55 w 90"/>
                <a:gd name="T41" fmla="*/ 41 h 131"/>
                <a:gd name="T42" fmla="*/ 35 w 90"/>
                <a:gd name="T43" fmla="*/ 48 h 131"/>
                <a:gd name="T44" fmla="*/ 28 w 90"/>
                <a:gd name="T45" fmla="*/ 55 h 131"/>
                <a:gd name="T46" fmla="*/ 28 w 90"/>
                <a:gd name="T47" fmla="*/ 55 h 131"/>
                <a:gd name="T48" fmla="*/ 28 w 90"/>
                <a:gd name="T49" fmla="*/ 0 h 131"/>
                <a:gd name="T50" fmla="*/ 28 w 90"/>
                <a:gd name="T51" fmla="*/ 0 h 131"/>
                <a:gd name="T52" fmla="*/ 14 w 90"/>
                <a:gd name="T53" fmla="*/ 7 h 131"/>
                <a:gd name="T54" fmla="*/ 0 w 90"/>
                <a:gd name="T55" fmla="*/ 7 h 131"/>
                <a:gd name="T56" fmla="*/ 0 w 90"/>
                <a:gd name="T57" fmla="*/ 14 h 131"/>
                <a:gd name="T58" fmla="*/ 0 w 90"/>
                <a:gd name="T59" fmla="*/ 14 h 131"/>
                <a:gd name="T60" fmla="*/ 14 w 90"/>
                <a:gd name="T61" fmla="*/ 14 h 131"/>
                <a:gd name="T62" fmla="*/ 14 w 90"/>
                <a:gd name="T63" fmla="*/ 21 h 131"/>
                <a:gd name="T64" fmla="*/ 14 w 90"/>
                <a:gd name="T65" fmla="*/ 117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31"/>
                <a:gd name="T101" fmla="*/ 90 w 90"/>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31">
                  <a:moveTo>
                    <a:pt x="28" y="69"/>
                  </a:moveTo>
                  <a:lnTo>
                    <a:pt x="35" y="55"/>
                  </a:lnTo>
                  <a:lnTo>
                    <a:pt x="48" y="55"/>
                  </a:lnTo>
                  <a:lnTo>
                    <a:pt x="62" y="62"/>
                  </a:lnTo>
                  <a:lnTo>
                    <a:pt x="69" y="89"/>
                  </a:lnTo>
                  <a:lnTo>
                    <a:pt x="69" y="110"/>
                  </a:lnTo>
                  <a:lnTo>
                    <a:pt x="62" y="124"/>
                  </a:lnTo>
                  <a:lnTo>
                    <a:pt x="48" y="124"/>
                  </a:lnTo>
                  <a:lnTo>
                    <a:pt x="35" y="117"/>
                  </a:lnTo>
                  <a:lnTo>
                    <a:pt x="28" y="110"/>
                  </a:lnTo>
                  <a:lnTo>
                    <a:pt x="28" y="69"/>
                  </a:lnTo>
                  <a:close/>
                  <a:moveTo>
                    <a:pt x="14" y="117"/>
                  </a:moveTo>
                  <a:lnTo>
                    <a:pt x="21" y="124"/>
                  </a:lnTo>
                  <a:lnTo>
                    <a:pt x="41" y="131"/>
                  </a:lnTo>
                  <a:lnTo>
                    <a:pt x="62" y="124"/>
                  </a:lnTo>
                  <a:lnTo>
                    <a:pt x="76" y="110"/>
                  </a:lnTo>
                  <a:lnTo>
                    <a:pt x="90" y="96"/>
                  </a:lnTo>
                  <a:lnTo>
                    <a:pt x="90" y="83"/>
                  </a:lnTo>
                  <a:lnTo>
                    <a:pt x="83" y="55"/>
                  </a:lnTo>
                  <a:lnTo>
                    <a:pt x="69" y="48"/>
                  </a:lnTo>
                  <a:lnTo>
                    <a:pt x="55" y="41"/>
                  </a:lnTo>
                  <a:lnTo>
                    <a:pt x="35" y="48"/>
                  </a:lnTo>
                  <a:lnTo>
                    <a:pt x="28" y="55"/>
                  </a:lnTo>
                  <a:lnTo>
                    <a:pt x="28" y="0"/>
                  </a:lnTo>
                  <a:lnTo>
                    <a:pt x="14" y="7"/>
                  </a:lnTo>
                  <a:lnTo>
                    <a:pt x="0" y="7"/>
                  </a:lnTo>
                  <a:lnTo>
                    <a:pt x="0" y="14"/>
                  </a:lnTo>
                  <a:lnTo>
                    <a:pt x="14" y="14"/>
                  </a:lnTo>
                  <a:lnTo>
                    <a:pt x="14" y="21"/>
                  </a:lnTo>
                  <a:lnTo>
                    <a:pt x="14" y="11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7" name="Freeform 102"/>
            <p:cNvSpPr>
              <a:spLocks noChangeAspect="1"/>
            </p:cNvSpPr>
            <p:nvPr/>
          </p:nvSpPr>
          <p:spPr bwMode="auto">
            <a:xfrm>
              <a:off x="2999" y="3896"/>
              <a:ext cx="55" cy="158"/>
            </a:xfrm>
            <a:custGeom>
              <a:avLst/>
              <a:gdLst>
                <a:gd name="T0" fmla="*/ 6 w 55"/>
                <a:gd name="T1" fmla="*/ 158 h 158"/>
                <a:gd name="T2" fmla="*/ 41 w 55"/>
                <a:gd name="T3" fmla="*/ 124 h 158"/>
                <a:gd name="T4" fmla="*/ 55 w 55"/>
                <a:gd name="T5" fmla="*/ 103 h 158"/>
                <a:gd name="T6" fmla="*/ 55 w 55"/>
                <a:gd name="T7" fmla="*/ 83 h 158"/>
                <a:gd name="T8" fmla="*/ 48 w 55"/>
                <a:gd name="T9" fmla="*/ 48 h 158"/>
                <a:gd name="T10" fmla="*/ 34 w 55"/>
                <a:gd name="T11" fmla="*/ 28 h 158"/>
                <a:gd name="T12" fmla="*/ 20 w 55"/>
                <a:gd name="T13" fmla="*/ 14 h 158"/>
                <a:gd name="T14" fmla="*/ 6 w 55"/>
                <a:gd name="T15" fmla="*/ 0 h 158"/>
                <a:gd name="T16" fmla="*/ 0 w 55"/>
                <a:gd name="T17" fmla="*/ 7 h 158"/>
                <a:gd name="T18" fmla="*/ 20 w 55"/>
                <a:gd name="T19" fmla="*/ 28 h 158"/>
                <a:gd name="T20" fmla="*/ 27 w 55"/>
                <a:gd name="T21" fmla="*/ 48 h 158"/>
                <a:gd name="T22" fmla="*/ 34 w 55"/>
                <a:gd name="T23" fmla="*/ 83 h 158"/>
                <a:gd name="T24" fmla="*/ 34 w 55"/>
                <a:gd name="T25" fmla="*/ 110 h 158"/>
                <a:gd name="T26" fmla="*/ 27 w 55"/>
                <a:gd name="T27" fmla="*/ 131 h 158"/>
                <a:gd name="T28" fmla="*/ 0 w 55"/>
                <a:gd name="T29" fmla="*/ 158 h 158"/>
                <a:gd name="T30" fmla="*/ 6 w 55"/>
                <a:gd name="T31" fmla="*/ 158 h 15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
                <a:gd name="T49" fmla="*/ 0 h 158"/>
                <a:gd name="T50" fmla="*/ 55 w 55"/>
                <a:gd name="T51" fmla="*/ 158 h 15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 h="158">
                  <a:moveTo>
                    <a:pt x="6" y="158"/>
                  </a:moveTo>
                  <a:lnTo>
                    <a:pt x="41" y="124"/>
                  </a:lnTo>
                  <a:lnTo>
                    <a:pt x="55" y="103"/>
                  </a:lnTo>
                  <a:lnTo>
                    <a:pt x="55" y="83"/>
                  </a:lnTo>
                  <a:lnTo>
                    <a:pt x="48" y="48"/>
                  </a:lnTo>
                  <a:lnTo>
                    <a:pt x="34" y="28"/>
                  </a:lnTo>
                  <a:lnTo>
                    <a:pt x="20" y="14"/>
                  </a:lnTo>
                  <a:lnTo>
                    <a:pt x="6" y="0"/>
                  </a:lnTo>
                  <a:lnTo>
                    <a:pt x="0" y="7"/>
                  </a:lnTo>
                  <a:lnTo>
                    <a:pt x="20" y="28"/>
                  </a:lnTo>
                  <a:lnTo>
                    <a:pt x="27" y="48"/>
                  </a:lnTo>
                  <a:lnTo>
                    <a:pt x="34" y="83"/>
                  </a:lnTo>
                  <a:lnTo>
                    <a:pt x="34" y="110"/>
                  </a:lnTo>
                  <a:lnTo>
                    <a:pt x="27" y="131"/>
                  </a:lnTo>
                  <a:lnTo>
                    <a:pt x="0" y="158"/>
                  </a:lnTo>
                  <a:lnTo>
                    <a:pt x="6" y="1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8" name="Freeform 103"/>
            <p:cNvSpPr>
              <a:spLocks noChangeAspect="1"/>
            </p:cNvSpPr>
            <p:nvPr/>
          </p:nvSpPr>
          <p:spPr bwMode="auto">
            <a:xfrm>
              <a:off x="1400" y="2906"/>
              <a:ext cx="324" cy="302"/>
            </a:xfrm>
            <a:custGeom>
              <a:avLst/>
              <a:gdLst>
                <a:gd name="T0" fmla="*/ 159 w 324"/>
                <a:gd name="T1" fmla="*/ 302 h 302"/>
                <a:gd name="T2" fmla="*/ 221 w 324"/>
                <a:gd name="T3" fmla="*/ 289 h 302"/>
                <a:gd name="T4" fmla="*/ 276 w 324"/>
                <a:gd name="T5" fmla="*/ 261 h 302"/>
                <a:gd name="T6" fmla="*/ 310 w 324"/>
                <a:gd name="T7" fmla="*/ 213 h 302"/>
                <a:gd name="T8" fmla="*/ 324 w 324"/>
                <a:gd name="T9" fmla="*/ 179 h 302"/>
                <a:gd name="T10" fmla="*/ 324 w 324"/>
                <a:gd name="T11" fmla="*/ 151 h 302"/>
                <a:gd name="T12" fmla="*/ 324 w 324"/>
                <a:gd name="T13" fmla="*/ 124 h 302"/>
                <a:gd name="T14" fmla="*/ 310 w 324"/>
                <a:gd name="T15" fmla="*/ 96 h 302"/>
                <a:gd name="T16" fmla="*/ 276 w 324"/>
                <a:gd name="T17" fmla="*/ 48 h 302"/>
                <a:gd name="T18" fmla="*/ 221 w 324"/>
                <a:gd name="T19" fmla="*/ 13 h 302"/>
                <a:gd name="T20" fmla="*/ 159 w 324"/>
                <a:gd name="T21" fmla="*/ 0 h 302"/>
                <a:gd name="T22" fmla="*/ 97 w 324"/>
                <a:gd name="T23" fmla="*/ 13 h 302"/>
                <a:gd name="T24" fmla="*/ 48 w 324"/>
                <a:gd name="T25" fmla="*/ 48 h 302"/>
                <a:gd name="T26" fmla="*/ 14 w 324"/>
                <a:gd name="T27" fmla="*/ 96 h 302"/>
                <a:gd name="T28" fmla="*/ 0 w 324"/>
                <a:gd name="T29" fmla="*/ 151 h 302"/>
                <a:gd name="T30" fmla="*/ 14 w 324"/>
                <a:gd name="T31" fmla="*/ 213 h 302"/>
                <a:gd name="T32" fmla="*/ 48 w 324"/>
                <a:gd name="T33" fmla="*/ 261 h 302"/>
                <a:gd name="T34" fmla="*/ 97 w 324"/>
                <a:gd name="T35" fmla="*/ 289 h 302"/>
                <a:gd name="T36" fmla="*/ 159 w 324"/>
                <a:gd name="T37" fmla="*/ 302 h 302"/>
                <a:gd name="T38" fmla="*/ 159 w 324"/>
                <a:gd name="T39" fmla="*/ 302 h 3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4"/>
                <a:gd name="T61" fmla="*/ 0 h 302"/>
                <a:gd name="T62" fmla="*/ 324 w 324"/>
                <a:gd name="T63" fmla="*/ 302 h 30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4" h="302">
                  <a:moveTo>
                    <a:pt x="159" y="302"/>
                  </a:moveTo>
                  <a:lnTo>
                    <a:pt x="221" y="289"/>
                  </a:lnTo>
                  <a:lnTo>
                    <a:pt x="276" y="261"/>
                  </a:lnTo>
                  <a:lnTo>
                    <a:pt x="310" y="213"/>
                  </a:lnTo>
                  <a:lnTo>
                    <a:pt x="324" y="179"/>
                  </a:lnTo>
                  <a:lnTo>
                    <a:pt x="324" y="151"/>
                  </a:lnTo>
                  <a:lnTo>
                    <a:pt x="324" y="124"/>
                  </a:lnTo>
                  <a:lnTo>
                    <a:pt x="310" y="96"/>
                  </a:lnTo>
                  <a:lnTo>
                    <a:pt x="276" y="48"/>
                  </a:lnTo>
                  <a:lnTo>
                    <a:pt x="221" y="13"/>
                  </a:lnTo>
                  <a:lnTo>
                    <a:pt x="159" y="0"/>
                  </a:lnTo>
                  <a:lnTo>
                    <a:pt x="97" y="13"/>
                  </a:lnTo>
                  <a:lnTo>
                    <a:pt x="48" y="48"/>
                  </a:lnTo>
                  <a:lnTo>
                    <a:pt x="14" y="96"/>
                  </a:lnTo>
                  <a:lnTo>
                    <a:pt x="0" y="151"/>
                  </a:lnTo>
                  <a:lnTo>
                    <a:pt x="14" y="213"/>
                  </a:lnTo>
                  <a:lnTo>
                    <a:pt x="48" y="261"/>
                  </a:lnTo>
                  <a:lnTo>
                    <a:pt x="97" y="289"/>
                  </a:lnTo>
                  <a:lnTo>
                    <a:pt x="159" y="302"/>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39" name="Freeform 104"/>
            <p:cNvSpPr>
              <a:spLocks noChangeAspect="1"/>
            </p:cNvSpPr>
            <p:nvPr/>
          </p:nvSpPr>
          <p:spPr bwMode="auto">
            <a:xfrm>
              <a:off x="1559" y="3057"/>
              <a:ext cx="165" cy="158"/>
            </a:xfrm>
            <a:custGeom>
              <a:avLst/>
              <a:gdLst>
                <a:gd name="T0" fmla="*/ 0 w 165"/>
                <a:gd name="T1" fmla="*/ 151 h 158"/>
                <a:gd name="T2" fmla="*/ 62 w 165"/>
                <a:gd name="T3" fmla="*/ 138 h 158"/>
                <a:gd name="T4" fmla="*/ 117 w 165"/>
                <a:gd name="T5" fmla="*/ 110 h 158"/>
                <a:gd name="T6" fmla="*/ 151 w 165"/>
                <a:gd name="T7" fmla="*/ 62 h 158"/>
                <a:gd name="T8" fmla="*/ 165 w 165"/>
                <a:gd name="T9" fmla="*/ 28 h 158"/>
                <a:gd name="T10" fmla="*/ 165 w 165"/>
                <a:gd name="T11" fmla="*/ 0 h 158"/>
                <a:gd name="T12" fmla="*/ 165 w 165"/>
                <a:gd name="T13" fmla="*/ 0 h 158"/>
                <a:gd name="T14" fmla="*/ 165 w 165"/>
                <a:gd name="T15" fmla="*/ 28 h 158"/>
                <a:gd name="T16" fmla="*/ 151 w 165"/>
                <a:gd name="T17" fmla="*/ 62 h 158"/>
                <a:gd name="T18" fmla="*/ 117 w 165"/>
                <a:gd name="T19" fmla="*/ 110 h 158"/>
                <a:gd name="T20" fmla="*/ 62 w 165"/>
                <a:gd name="T21" fmla="*/ 144 h 158"/>
                <a:gd name="T22" fmla="*/ 0 w 165"/>
                <a:gd name="T23" fmla="*/ 158 h 158"/>
                <a:gd name="T24" fmla="*/ 0 w 165"/>
                <a:gd name="T25" fmla="*/ 151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5"/>
                <a:gd name="T40" fmla="*/ 0 h 158"/>
                <a:gd name="T41" fmla="*/ 165 w 165"/>
                <a:gd name="T42" fmla="*/ 158 h 1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5" h="158">
                  <a:moveTo>
                    <a:pt x="0" y="151"/>
                  </a:moveTo>
                  <a:lnTo>
                    <a:pt x="62" y="138"/>
                  </a:lnTo>
                  <a:lnTo>
                    <a:pt x="117" y="110"/>
                  </a:lnTo>
                  <a:lnTo>
                    <a:pt x="151" y="62"/>
                  </a:lnTo>
                  <a:lnTo>
                    <a:pt x="165" y="28"/>
                  </a:lnTo>
                  <a:lnTo>
                    <a:pt x="165" y="0"/>
                  </a:lnTo>
                  <a:lnTo>
                    <a:pt x="165" y="28"/>
                  </a:lnTo>
                  <a:lnTo>
                    <a:pt x="151" y="62"/>
                  </a:lnTo>
                  <a:lnTo>
                    <a:pt x="117" y="110"/>
                  </a:lnTo>
                  <a:lnTo>
                    <a:pt x="62" y="144"/>
                  </a:lnTo>
                  <a:lnTo>
                    <a:pt x="0" y="158"/>
                  </a:lnTo>
                  <a:lnTo>
                    <a:pt x="0" y="1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0" name="Freeform 105"/>
            <p:cNvSpPr>
              <a:spLocks noChangeAspect="1" noEditPoints="1"/>
            </p:cNvSpPr>
            <p:nvPr/>
          </p:nvSpPr>
          <p:spPr bwMode="auto">
            <a:xfrm>
              <a:off x="1559" y="2906"/>
              <a:ext cx="165" cy="151"/>
            </a:xfrm>
            <a:custGeom>
              <a:avLst/>
              <a:gdLst>
                <a:gd name="T0" fmla="*/ 165 w 165"/>
                <a:gd name="T1" fmla="*/ 151 h 151"/>
                <a:gd name="T2" fmla="*/ 165 w 165"/>
                <a:gd name="T3" fmla="*/ 124 h 151"/>
                <a:gd name="T4" fmla="*/ 151 w 165"/>
                <a:gd name="T5" fmla="*/ 96 h 151"/>
                <a:gd name="T6" fmla="*/ 117 w 165"/>
                <a:gd name="T7" fmla="*/ 48 h 151"/>
                <a:gd name="T8" fmla="*/ 62 w 165"/>
                <a:gd name="T9" fmla="*/ 13 h 151"/>
                <a:gd name="T10" fmla="*/ 0 w 165"/>
                <a:gd name="T11" fmla="*/ 0 h 151"/>
                <a:gd name="T12" fmla="*/ 0 w 165"/>
                <a:gd name="T13" fmla="*/ 0 h 151"/>
                <a:gd name="T14" fmla="*/ 62 w 165"/>
                <a:gd name="T15" fmla="*/ 13 h 151"/>
                <a:gd name="T16" fmla="*/ 117 w 165"/>
                <a:gd name="T17" fmla="*/ 48 h 151"/>
                <a:gd name="T18" fmla="*/ 151 w 165"/>
                <a:gd name="T19" fmla="*/ 96 h 151"/>
                <a:gd name="T20" fmla="*/ 165 w 165"/>
                <a:gd name="T21" fmla="*/ 124 h 151"/>
                <a:gd name="T22" fmla="*/ 165 w 165"/>
                <a:gd name="T23" fmla="*/ 151 h 151"/>
                <a:gd name="T24" fmla="*/ 165 w 165"/>
                <a:gd name="T25" fmla="*/ 151 h 151"/>
                <a:gd name="T26" fmla="*/ 165 w 165"/>
                <a:gd name="T27" fmla="*/ 151 h 151"/>
                <a:gd name="T28" fmla="*/ 165 w 165"/>
                <a:gd name="T29" fmla="*/ 151 h 151"/>
                <a:gd name="T30" fmla="*/ 165 w 165"/>
                <a:gd name="T31" fmla="*/ 151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5"/>
                <a:gd name="T49" fmla="*/ 0 h 151"/>
                <a:gd name="T50" fmla="*/ 165 w 165"/>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5" h="151">
                  <a:moveTo>
                    <a:pt x="165" y="151"/>
                  </a:moveTo>
                  <a:lnTo>
                    <a:pt x="165" y="124"/>
                  </a:lnTo>
                  <a:lnTo>
                    <a:pt x="151" y="96"/>
                  </a:lnTo>
                  <a:lnTo>
                    <a:pt x="117" y="48"/>
                  </a:lnTo>
                  <a:lnTo>
                    <a:pt x="62" y="13"/>
                  </a:lnTo>
                  <a:lnTo>
                    <a:pt x="0" y="0"/>
                  </a:lnTo>
                  <a:lnTo>
                    <a:pt x="62" y="13"/>
                  </a:lnTo>
                  <a:lnTo>
                    <a:pt x="117" y="48"/>
                  </a:lnTo>
                  <a:lnTo>
                    <a:pt x="151" y="96"/>
                  </a:lnTo>
                  <a:lnTo>
                    <a:pt x="165" y="124"/>
                  </a:lnTo>
                  <a:lnTo>
                    <a:pt x="165" y="151"/>
                  </a:lnTo>
                  <a:close/>
                  <a:moveTo>
                    <a:pt x="165" y="151"/>
                  </a:moveTo>
                  <a:lnTo>
                    <a:pt x="165" y="1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1" name="Freeform 106"/>
            <p:cNvSpPr>
              <a:spLocks noChangeAspect="1" noEditPoints="1"/>
            </p:cNvSpPr>
            <p:nvPr/>
          </p:nvSpPr>
          <p:spPr bwMode="auto">
            <a:xfrm>
              <a:off x="1400" y="2906"/>
              <a:ext cx="159" cy="151"/>
            </a:xfrm>
            <a:custGeom>
              <a:avLst/>
              <a:gdLst>
                <a:gd name="T0" fmla="*/ 159 w 159"/>
                <a:gd name="T1" fmla="*/ 0 h 151"/>
                <a:gd name="T2" fmla="*/ 97 w 159"/>
                <a:gd name="T3" fmla="*/ 13 h 151"/>
                <a:gd name="T4" fmla="*/ 48 w 159"/>
                <a:gd name="T5" fmla="*/ 48 h 151"/>
                <a:gd name="T6" fmla="*/ 14 w 159"/>
                <a:gd name="T7" fmla="*/ 96 h 151"/>
                <a:gd name="T8" fmla="*/ 0 w 159"/>
                <a:gd name="T9" fmla="*/ 151 h 151"/>
                <a:gd name="T10" fmla="*/ 0 w 159"/>
                <a:gd name="T11" fmla="*/ 151 h 151"/>
                <a:gd name="T12" fmla="*/ 14 w 159"/>
                <a:gd name="T13" fmla="*/ 96 h 151"/>
                <a:gd name="T14" fmla="*/ 48 w 159"/>
                <a:gd name="T15" fmla="*/ 48 h 151"/>
                <a:gd name="T16" fmla="*/ 97 w 159"/>
                <a:gd name="T17" fmla="*/ 13 h 151"/>
                <a:gd name="T18" fmla="*/ 159 w 159"/>
                <a:gd name="T19" fmla="*/ 0 h 151"/>
                <a:gd name="T20" fmla="*/ 159 w 159"/>
                <a:gd name="T21" fmla="*/ 0 h 151"/>
                <a:gd name="T22" fmla="*/ 159 w 159"/>
                <a:gd name="T23" fmla="*/ 0 h 151"/>
                <a:gd name="T24" fmla="*/ 159 w 159"/>
                <a:gd name="T25" fmla="*/ 0 h 151"/>
                <a:gd name="T26" fmla="*/ 159 w 159"/>
                <a:gd name="T27" fmla="*/ 0 h 1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9"/>
                <a:gd name="T43" fmla="*/ 0 h 151"/>
                <a:gd name="T44" fmla="*/ 159 w 159"/>
                <a:gd name="T45" fmla="*/ 151 h 1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9" h="151">
                  <a:moveTo>
                    <a:pt x="159" y="0"/>
                  </a:moveTo>
                  <a:lnTo>
                    <a:pt x="97" y="13"/>
                  </a:lnTo>
                  <a:lnTo>
                    <a:pt x="48" y="48"/>
                  </a:lnTo>
                  <a:lnTo>
                    <a:pt x="14" y="96"/>
                  </a:lnTo>
                  <a:lnTo>
                    <a:pt x="0" y="151"/>
                  </a:lnTo>
                  <a:lnTo>
                    <a:pt x="14" y="96"/>
                  </a:lnTo>
                  <a:lnTo>
                    <a:pt x="48" y="48"/>
                  </a:lnTo>
                  <a:lnTo>
                    <a:pt x="97" y="13"/>
                  </a:lnTo>
                  <a:lnTo>
                    <a:pt x="159" y="0"/>
                  </a:lnTo>
                  <a:close/>
                  <a:moveTo>
                    <a:pt x="159" y="0"/>
                  </a:moveTo>
                  <a:lnTo>
                    <a:pt x="15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2" name="Freeform 107"/>
            <p:cNvSpPr>
              <a:spLocks noChangeAspect="1" noEditPoints="1"/>
            </p:cNvSpPr>
            <p:nvPr/>
          </p:nvSpPr>
          <p:spPr bwMode="auto">
            <a:xfrm>
              <a:off x="1400" y="3057"/>
              <a:ext cx="159" cy="158"/>
            </a:xfrm>
            <a:custGeom>
              <a:avLst/>
              <a:gdLst>
                <a:gd name="T0" fmla="*/ 0 w 159"/>
                <a:gd name="T1" fmla="*/ 0 h 158"/>
                <a:gd name="T2" fmla="*/ 14 w 159"/>
                <a:gd name="T3" fmla="*/ 62 h 158"/>
                <a:gd name="T4" fmla="*/ 48 w 159"/>
                <a:gd name="T5" fmla="*/ 110 h 158"/>
                <a:gd name="T6" fmla="*/ 97 w 159"/>
                <a:gd name="T7" fmla="*/ 144 h 158"/>
                <a:gd name="T8" fmla="*/ 159 w 159"/>
                <a:gd name="T9" fmla="*/ 158 h 158"/>
                <a:gd name="T10" fmla="*/ 159 w 159"/>
                <a:gd name="T11" fmla="*/ 151 h 158"/>
                <a:gd name="T12" fmla="*/ 97 w 159"/>
                <a:gd name="T13" fmla="*/ 138 h 158"/>
                <a:gd name="T14" fmla="*/ 48 w 159"/>
                <a:gd name="T15" fmla="*/ 110 h 158"/>
                <a:gd name="T16" fmla="*/ 14 w 159"/>
                <a:gd name="T17" fmla="*/ 62 h 158"/>
                <a:gd name="T18" fmla="*/ 0 w 159"/>
                <a:gd name="T19" fmla="*/ 0 h 158"/>
                <a:gd name="T20" fmla="*/ 0 w 159"/>
                <a:gd name="T21" fmla="*/ 0 h 158"/>
                <a:gd name="T22" fmla="*/ 0 w 159"/>
                <a:gd name="T23" fmla="*/ 0 h 158"/>
                <a:gd name="T24" fmla="*/ 0 w 159"/>
                <a:gd name="T25" fmla="*/ 0 h 158"/>
                <a:gd name="T26" fmla="*/ 0 w 159"/>
                <a:gd name="T27" fmla="*/ 0 h 1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9"/>
                <a:gd name="T43" fmla="*/ 0 h 158"/>
                <a:gd name="T44" fmla="*/ 159 w 159"/>
                <a:gd name="T45" fmla="*/ 158 h 1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9" h="158">
                  <a:moveTo>
                    <a:pt x="0" y="0"/>
                  </a:moveTo>
                  <a:lnTo>
                    <a:pt x="14" y="62"/>
                  </a:lnTo>
                  <a:lnTo>
                    <a:pt x="48" y="110"/>
                  </a:lnTo>
                  <a:lnTo>
                    <a:pt x="97" y="144"/>
                  </a:lnTo>
                  <a:lnTo>
                    <a:pt x="159" y="158"/>
                  </a:lnTo>
                  <a:lnTo>
                    <a:pt x="159" y="151"/>
                  </a:lnTo>
                  <a:lnTo>
                    <a:pt x="97" y="138"/>
                  </a:lnTo>
                  <a:lnTo>
                    <a:pt x="48" y="110"/>
                  </a:lnTo>
                  <a:lnTo>
                    <a:pt x="14" y="6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3" name="Freeform 108"/>
            <p:cNvSpPr>
              <a:spLocks noChangeAspect="1"/>
            </p:cNvSpPr>
            <p:nvPr/>
          </p:nvSpPr>
          <p:spPr bwMode="auto">
            <a:xfrm>
              <a:off x="1559" y="320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4" name="Freeform 109"/>
            <p:cNvSpPr>
              <a:spLocks noChangeAspect="1"/>
            </p:cNvSpPr>
            <p:nvPr/>
          </p:nvSpPr>
          <p:spPr bwMode="auto">
            <a:xfrm>
              <a:off x="1510" y="2954"/>
              <a:ext cx="97" cy="96"/>
            </a:xfrm>
            <a:custGeom>
              <a:avLst/>
              <a:gdLst>
                <a:gd name="T0" fmla="*/ 42 w 97"/>
                <a:gd name="T1" fmla="*/ 41 h 96"/>
                <a:gd name="T2" fmla="*/ 0 w 97"/>
                <a:gd name="T3" fmla="*/ 41 h 96"/>
                <a:gd name="T4" fmla="*/ 0 w 97"/>
                <a:gd name="T5" fmla="*/ 55 h 96"/>
                <a:gd name="T6" fmla="*/ 42 w 97"/>
                <a:gd name="T7" fmla="*/ 55 h 96"/>
                <a:gd name="T8" fmla="*/ 42 w 97"/>
                <a:gd name="T9" fmla="*/ 96 h 96"/>
                <a:gd name="T10" fmla="*/ 55 w 97"/>
                <a:gd name="T11" fmla="*/ 96 h 96"/>
                <a:gd name="T12" fmla="*/ 55 w 97"/>
                <a:gd name="T13" fmla="*/ 55 h 96"/>
                <a:gd name="T14" fmla="*/ 97 w 97"/>
                <a:gd name="T15" fmla="*/ 55 h 96"/>
                <a:gd name="T16" fmla="*/ 97 w 97"/>
                <a:gd name="T17" fmla="*/ 41 h 96"/>
                <a:gd name="T18" fmla="*/ 55 w 97"/>
                <a:gd name="T19" fmla="*/ 41 h 96"/>
                <a:gd name="T20" fmla="*/ 55 w 97"/>
                <a:gd name="T21" fmla="*/ 0 h 96"/>
                <a:gd name="T22" fmla="*/ 42 w 97"/>
                <a:gd name="T23" fmla="*/ 0 h 96"/>
                <a:gd name="T24" fmla="*/ 42 w 97"/>
                <a:gd name="T25" fmla="*/ 41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
                <a:gd name="T40" fmla="*/ 0 h 96"/>
                <a:gd name="T41" fmla="*/ 97 w 97"/>
                <a:gd name="T42" fmla="*/ 96 h 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 h="96">
                  <a:moveTo>
                    <a:pt x="42" y="41"/>
                  </a:moveTo>
                  <a:lnTo>
                    <a:pt x="0" y="41"/>
                  </a:lnTo>
                  <a:lnTo>
                    <a:pt x="0" y="55"/>
                  </a:lnTo>
                  <a:lnTo>
                    <a:pt x="42" y="55"/>
                  </a:lnTo>
                  <a:lnTo>
                    <a:pt x="42" y="96"/>
                  </a:lnTo>
                  <a:lnTo>
                    <a:pt x="55" y="96"/>
                  </a:lnTo>
                  <a:lnTo>
                    <a:pt x="55" y="55"/>
                  </a:lnTo>
                  <a:lnTo>
                    <a:pt x="97" y="55"/>
                  </a:lnTo>
                  <a:lnTo>
                    <a:pt x="97" y="41"/>
                  </a:lnTo>
                  <a:lnTo>
                    <a:pt x="55" y="41"/>
                  </a:lnTo>
                  <a:lnTo>
                    <a:pt x="55" y="0"/>
                  </a:lnTo>
                  <a:lnTo>
                    <a:pt x="42" y="0"/>
                  </a:lnTo>
                  <a:lnTo>
                    <a:pt x="42" y="4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5" name="Rectangle 110"/>
            <p:cNvSpPr>
              <a:spLocks noChangeAspect="1" noChangeArrowheads="1"/>
            </p:cNvSpPr>
            <p:nvPr/>
          </p:nvSpPr>
          <p:spPr bwMode="auto">
            <a:xfrm>
              <a:off x="1510" y="3119"/>
              <a:ext cx="97" cy="14"/>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29746" name="Freeform 111"/>
            <p:cNvSpPr>
              <a:spLocks noChangeAspect="1"/>
            </p:cNvSpPr>
            <p:nvPr/>
          </p:nvSpPr>
          <p:spPr bwMode="auto">
            <a:xfrm>
              <a:off x="1986" y="2631"/>
              <a:ext cx="392" cy="48"/>
            </a:xfrm>
            <a:custGeom>
              <a:avLst/>
              <a:gdLst>
                <a:gd name="T0" fmla="*/ 0 w 392"/>
                <a:gd name="T1" fmla="*/ 48 h 48"/>
                <a:gd name="T2" fmla="*/ 0 w 392"/>
                <a:gd name="T3" fmla="*/ 0 h 48"/>
                <a:gd name="T4" fmla="*/ 392 w 392"/>
                <a:gd name="T5" fmla="*/ 0 h 48"/>
                <a:gd name="T6" fmla="*/ 392 w 392"/>
                <a:gd name="T7" fmla="*/ 48 h 48"/>
                <a:gd name="T8" fmla="*/ 0 w 392"/>
                <a:gd name="T9" fmla="*/ 48 h 48"/>
                <a:gd name="T10" fmla="*/ 0 w 392"/>
                <a:gd name="T11" fmla="*/ 48 h 48"/>
                <a:gd name="T12" fmla="*/ 0 60000 65536"/>
                <a:gd name="T13" fmla="*/ 0 60000 65536"/>
                <a:gd name="T14" fmla="*/ 0 60000 65536"/>
                <a:gd name="T15" fmla="*/ 0 60000 65536"/>
                <a:gd name="T16" fmla="*/ 0 60000 65536"/>
                <a:gd name="T17" fmla="*/ 0 60000 65536"/>
                <a:gd name="T18" fmla="*/ 0 w 392"/>
                <a:gd name="T19" fmla="*/ 0 h 48"/>
                <a:gd name="T20" fmla="*/ 392 w 392"/>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92" h="48">
                  <a:moveTo>
                    <a:pt x="0" y="48"/>
                  </a:moveTo>
                  <a:lnTo>
                    <a:pt x="0" y="0"/>
                  </a:lnTo>
                  <a:lnTo>
                    <a:pt x="392" y="0"/>
                  </a:lnTo>
                  <a:lnTo>
                    <a:pt x="392" y="48"/>
                  </a:lnTo>
                  <a:lnTo>
                    <a:pt x="0" y="48"/>
                  </a:lnTo>
                  <a:close/>
                </a:path>
              </a:pathLst>
            </a:custGeom>
            <a:solidFill>
              <a:srgbClr val="FFFFFF"/>
            </a:solidFill>
            <a:ln w="9525">
              <a:solidFill>
                <a:schemeClr val="bg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7" name="Freeform 112"/>
            <p:cNvSpPr>
              <a:spLocks noChangeAspect="1"/>
            </p:cNvSpPr>
            <p:nvPr/>
          </p:nvSpPr>
          <p:spPr bwMode="auto">
            <a:xfrm>
              <a:off x="2358" y="2651"/>
              <a:ext cx="27" cy="55"/>
            </a:xfrm>
            <a:custGeom>
              <a:avLst/>
              <a:gdLst>
                <a:gd name="T0" fmla="*/ 27 w 27"/>
                <a:gd name="T1" fmla="*/ 0 h 55"/>
                <a:gd name="T2" fmla="*/ 0 w 27"/>
                <a:gd name="T3" fmla="*/ 55 h 55"/>
                <a:gd name="T4" fmla="*/ 27 w 27"/>
                <a:gd name="T5" fmla="*/ 0 h 55"/>
                <a:gd name="T6" fmla="*/ 27 w 27"/>
                <a:gd name="T7" fmla="*/ 0 h 55"/>
                <a:gd name="T8" fmla="*/ 0 60000 65536"/>
                <a:gd name="T9" fmla="*/ 0 60000 65536"/>
                <a:gd name="T10" fmla="*/ 0 60000 65536"/>
                <a:gd name="T11" fmla="*/ 0 60000 65536"/>
                <a:gd name="T12" fmla="*/ 0 w 27"/>
                <a:gd name="T13" fmla="*/ 0 h 55"/>
                <a:gd name="T14" fmla="*/ 27 w 27"/>
                <a:gd name="T15" fmla="*/ 55 h 55"/>
              </a:gdLst>
              <a:ahLst/>
              <a:cxnLst>
                <a:cxn ang="T8">
                  <a:pos x="T0" y="T1"/>
                </a:cxn>
                <a:cxn ang="T9">
                  <a:pos x="T2" y="T3"/>
                </a:cxn>
                <a:cxn ang="T10">
                  <a:pos x="T4" y="T5"/>
                </a:cxn>
                <a:cxn ang="T11">
                  <a:pos x="T6" y="T7"/>
                </a:cxn>
              </a:cxnLst>
              <a:rect l="T12" t="T13" r="T14" b="T15"/>
              <a:pathLst>
                <a:path w="27" h="55">
                  <a:moveTo>
                    <a:pt x="27" y="0"/>
                  </a:moveTo>
                  <a:lnTo>
                    <a:pt x="0" y="55"/>
                  </a:lnTo>
                  <a:lnTo>
                    <a:pt x="2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8" name="Freeform 113"/>
            <p:cNvSpPr>
              <a:spLocks noChangeAspect="1" noEditPoints="1"/>
            </p:cNvSpPr>
            <p:nvPr/>
          </p:nvSpPr>
          <p:spPr bwMode="auto">
            <a:xfrm>
              <a:off x="2330" y="2651"/>
              <a:ext cx="28" cy="55"/>
            </a:xfrm>
            <a:custGeom>
              <a:avLst/>
              <a:gdLst>
                <a:gd name="T0" fmla="*/ 28 w 28"/>
                <a:gd name="T1" fmla="*/ 55 h 55"/>
                <a:gd name="T2" fmla="*/ 0 w 28"/>
                <a:gd name="T3" fmla="*/ 0 h 55"/>
                <a:gd name="T4" fmla="*/ 28 w 28"/>
                <a:gd name="T5" fmla="*/ 55 h 55"/>
                <a:gd name="T6" fmla="*/ 28 w 28"/>
                <a:gd name="T7" fmla="*/ 55 h 55"/>
                <a:gd name="T8" fmla="*/ 28 w 28"/>
                <a:gd name="T9" fmla="*/ 55 h 55"/>
                <a:gd name="T10" fmla="*/ 28 w 28"/>
                <a:gd name="T11" fmla="*/ 55 h 55"/>
                <a:gd name="T12" fmla="*/ 28 w 28"/>
                <a:gd name="T13" fmla="*/ 55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55"/>
                  </a:moveTo>
                  <a:lnTo>
                    <a:pt x="0" y="0"/>
                  </a:lnTo>
                  <a:lnTo>
                    <a:pt x="28" y="55"/>
                  </a:lnTo>
                  <a:close/>
                  <a:moveTo>
                    <a:pt x="28" y="55"/>
                  </a:moveTo>
                  <a:lnTo>
                    <a:pt x="28"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49" name="Freeform 114"/>
            <p:cNvSpPr>
              <a:spLocks noChangeAspect="1" noEditPoints="1"/>
            </p:cNvSpPr>
            <p:nvPr/>
          </p:nvSpPr>
          <p:spPr bwMode="auto">
            <a:xfrm>
              <a:off x="2310" y="2596"/>
              <a:ext cx="20" cy="55"/>
            </a:xfrm>
            <a:custGeom>
              <a:avLst/>
              <a:gdLst>
                <a:gd name="T0" fmla="*/ 20 w 20"/>
                <a:gd name="T1" fmla="*/ 55 h 55"/>
                <a:gd name="T2" fmla="*/ 0 w 20"/>
                <a:gd name="T3" fmla="*/ 0 h 55"/>
                <a:gd name="T4" fmla="*/ 20 w 20"/>
                <a:gd name="T5" fmla="*/ 55 h 55"/>
                <a:gd name="T6" fmla="*/ 20 w 20"/>
                <a:gd name="T7" fmla="*/ 55 h 55"/>
                <a:gd name="T8" fmla="*/ 20 w 20"/>
                <a:gd name="T9" fmla="*/ 55 h 55"/>
                <a:gd name="T10" fmla="*/ 20 w 20"/>
                <a:gd name="T11" fmla="*/ 55 h 55"/>
                <a:gd name="T12" fmla="*/ 20 w 20"/>
                <a:gd name="T13" fmla="*/ 55 h 55"/>
                <a:gd name="T14" fmla="*/ 0 60000 65536"/>
                <a:gd name="T15" fmla="*/ 0 60000 65536"/>
                <a:gd name="T16" fmla="*/ 0 60000 65536"/>
                <a:gd name="T17" fmla="*/ 0 60000 65536"/>
                <a:gd name="T18" fmla="*/ 0 60000 65536"/>
                <a:gd name="T19" fmla="*/ 0 60000 65536"/>
                <a:gd name="T20" fmla="*/ 0 60000 65536"/>
                <a:gd name="T21" fmla="*/ 0 w 20"/>
                <a:gd name="T22" fmla="*/ 0 h 55"/>
                <a:gd name="T23" fmla="*/ 20 w 20"/>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5">
                  <a:moveTo>
                    <a:pt x="20" y="55"/>
                  </a:moveTo>
                  <a:lnTo>
                    <a:pt x="0" y="0"/>
                  </a:lnTo>
                  <a:lnTo>
                    <a:pt x="20" y="55"/>
                  </a:lnTo>
                  <a:close/>
                  <a:moveTo>
                    <a:pt x="20" y="55"/>
                  </a:moveTo>
                  <a:lnTo>
                    <a:pt x="20"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0" name="Freeform 115"/>
            <p:cNvSpPr>
              <a:spLocks noChangeAspect="1" noEditPoints="1"/>
            </p:cNvSpPr>
            <p:nvPr/>
          </p:nvSpPr>
          <p:spPr bwMode="auto">
            <a:xfrm>
              <a:off x="2282" y="2596"/>
              <a:ext cx="28" cy="55"/>
            </a:xfrm>
            <a:custGeom>
              <a:avLst/>
              <a:gdLst>
                <a:gd name="T0" fmla="*/ 28 w 28"/>
                <a:gd name="T1" fmla="*/ 0 h 55"/>
                <a:gd name="T2" fmla="*/ 0 w 28"/>
                <a:gd name="T3" fmla="*/ 55 h 55"/>
                <a:gd name="T4" fmla="*/ 28 w 28"/>
                <a:gd name="T5" fmla="*/ 0 h 55"/>
                <a:gd name="T6" fmla="*/ 28 w 28"/>
                <a:gd name="T7" fmla="*/ 0 h 55"/>
                <a:gd name="T8" fmla="*/ 28 w 28"/>
                <a:gd name="T9" fmla="*/ 0 h 55"/>
                <a:gd name="T10" fmla="*/ 28 w 28"/>
                <a:gd name="T11" fmla="*/ 0 h 55"/>
                <a:gd name="T12" fmla="*/ 28 w 28"/>
                <a:gd name="T13" fmla="*/ 0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0"/>
                  </a:moveTo>
                  <a:lnTo>
                    <a:pt x="0" y="55"/>
                  </a:lnTo>
                  <a:lnTo>
                    <a:pt x="28" y="0"/>
                  </a:lnTo>
                  <a:close/>
                  <a:moveTo>
                    <a:pt x="28" y="0"/>
                  </a:moveTo>
                  <a:lnTo>
                    <a:pt x="2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1" name="Freeform 116"/>
            <p:cNvSpPr>
              <a:spLocks noChangeAspect="1" noEditPoints="1"/>
            </p:cNvSpPr>
            <p:nvPr/>
          </p:nvSpPr>
          <p:spPr bwMode="auto">
            <a:xfrm>
              <a:off x="2282" y="2651"/>
              <a:ext cx="1" cy="1"/>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0"/>
                  </a:move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2" name="Freeform 117"/>
            <p:cNvSpPr>
              <a:spLocks noChangeAspect="1" noEditPoints="1"/>
            </p:cNvSpPr>
            <p:nvPr/>
          </p:nvSpPr>
          <p:spPr bwMode="auto">
            <a:xfrm>
              <a:off x="2254" y="2651"/>
              <a:ext cx="28" cy="55"/>
            </a:xfrm>
            <a:custGeom>
              <a:avLst/>
              <a:gdLst>
                <a:gd name="T0" fmla="*/ 28 w 28"/>
                <a:gd name="T1" fmla="*/ 0 h 55"/>
                <a:gd name="T2" fmla="*/ 0 w 28"/>
                <a:gd name="T3" fmla="*/ 55 h 55"/>
                <a:gd name="T4" fmla="*/ 28 w 28"/>
                <a:gd name="T5" fmla="*/ 0 h 55"/>
                <a:gd name="T6" fmla="*/ 28 w 28"/>
                <a:gd name="T7" fmla="*/ 0 h 55"/>
                <a:gd name="T8" fmla="*/ 28 w 28"/>
                <a:gd name="T9" fmla="*/ 0 h 55"/>
                <a:gd name="T10" fmla="*/ 28 w 28"/>
                <a:gd name="T11" fmla="*/ 0 h 55"/>
                <a:gd name="T12" fmla="*/ 28 w 28"/>
                <a:gd name="T13" fmla="*/ 0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0"/>
                  </a:moveTo>
                  <a:lnTo>
                    <a:pt x="0" y="55"/>
                  </a:lnTo>
                  <a:lnTo>
                    <a:pt x="28" y="0"/>
                  </a:lnTo>
                  <a:close/>
                  <a:moveTo>
                    <a:pt x="28" y="0"/>
                  </a:moveTo>
                  <a:lnTo>
                    <a:pt x="2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3" name="Freeform 118"/>
            <p:cNvSpPr>
              <a:spLocks noChangeAspect="1" noEditPoints="1"/>
            </p:cNvSpPr>
            <p:nvPr/>
          </p:nvSpPr>
          <p:spPr bwMode="auto">
            <a:xfrm>
              <a:off x="2234" y="2651"/>
              <a:ext cx="20" cy="55"/>
            </a:xfrm>
            <a:custGeom>
              <a:avLst/>
              <a:gdLst>
                <a:gd name="T0" fmla="*/ 20 w 20"/>
                <a:gd name="T1" fmla="*/ 55 h 55"/>
                <a:gd name="T2" fmla="*/ 0 w 20"/>
                <a:gd name="T3" fmla="*/ 0 h 55"/>
                <a:gd name="T4" fmla="*/ 20 w 20"/>
                <a:gd name="T5" fmla="*/ 55 h 55"/>
                <a:gd name="T6" fmla="*/ 20 w 20"/>
                <a:gd name="T7" fmla="*/ 55 h 55"/>
                <a:gd name="T8" fmla="*/ 20 w 20"/>
                <a:gd name="T9" fmla="*/ 55 h 55"/>
                <a:gd name="T10" fmla="*/ 20 w 20"/>
                <a:gd name="T11" fmla="*/ 55 h 55"/>
                <a:gd name="T12" fmla="*/ 20 w 20"/>
                <a:gd name="T13" fmla="*/ 55 h 55"/>
                <a:gd name="T14" fmla="*/ 0 60000 65536"/>
                <a:gd name="T15" fmla="*/ 0 60000 65536"/>
                <a:gd name="T16" fmla="*/ 0 60000 65536"/>
                <a:gd name="T17" fmla="*/ 0 60000 65536"/>
                <a:gd name="T18" fmla="*/ 0 60000 65536"/>
                <a:gd name="T19" fmla="*/ 0 60000 65536"/>
                <a:gd name="T20" fmla="*/ 0 60000 65536"/>
                <a:gd name="T21" fmla="*/ 0 w 20"/>
                <a:gd name="T22" fmla="*/ 0 h 55"/>
                <a:gd name="T23" fmla="*/ 20 w 20"/>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5">
                  <a:moveTo>
                    <a:pt x="20" y="55"/>
                  </a:moveTo>
                  <a:lnTo>
                    <a:pt x="0" y="0"/>
                  </a:lnTo>
                  <a:lnTo>
                    <a:pt x="20" y="55"/>
                  </a:lnTo>
                  <a:close/>
                  <a:moveTo>
                    <a:pt x="20" y="55"/>
                  </a:moveTo>
                  <a:lnTo>
                    <a:pt x="20"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4" name="Freeform 119"/>
            <p:cNvSpPr>
              <a:spLocks noChangeAspect="1" noEditPoints="1"/>
            </p:cNvSpPr>
            <p:nvPr/>
          </p:nvSpPr>
          <p:spPr bwMode="auto">
            <a:xfrm>
              <a:off x="2206" y="2596"/>
              <a:ext cx="28" cy="55"/>
            </a:xfrm>
            <a:custGeom>
              <a:avLst/>
              <a:gdLst>
                <a:gd name="T0" fmla="*/ 28 w 28"/>
                <a:gd name="T1" fmla="*/ 55 h 55"/>
                <a:gd name="T2" fmla="*/ 0 w 28"/>
                <a:gd name="T3" fmla="*/ 0 h 55"/>
                <a:gd name="T4" fmla="*/ 28 w 28"/>
                <a:gd name="T5" fmla="*/ 55 h 55"/>
                <a:gd name="T6" fmla="*/ 28 w 28"/>
                <a:gd name="T7" fmla="*/ 55 h 55"/>
                <a:gd name="T8" fmla="*/ 28 w 28"/>
                <a:gd name="T9" fmla="*/ 55 h 55"/>
                <a:gd name="T10" fmla="*/ 28 w 28"/>
                <a:gd name="T11" fmla="*/ 55 h 55"/>
                <a:gd name="T12" fmla="*/ 28 w 28"/>
                <a:gd name="T13" fmla="*/ 55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55"/>
                  </a:moveTo>
                  <a:lnTo>
                    <a:pt x="0" y="0"/>
                  </a:lnTo>
                  <a:lnTo>
                    <a:pt x="28" y="55"/>
                  </a:lnTo>
                  <a:close/>
                  <a:moveTo>
                    <a:pt x="28" y="55"/>
                  </a:moveTo>
                  <a:lnTo>
                    <a:pt x="28"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5" name="Freeform 120"/>
            <p:cNvSpPr>
              <a:spLocks noChangeAspect="1" noEditPoints="1"/>
            </p:cNvSpPr>
            <p:nvPr/>
          </p:nvSpPr>
          <p:spPr bwMode="auto">
            <a:xfrm>
              <a:off x="2179" y="2596"/>
              <a:ext cx="27" cy="55"/>
            </a:xfrm>
            <a:custGeom>
              <a:avLst/>
              <a:gdLst>
                <a:gd name="T0" fmla="*/ 27 w 27"/>
                <a:gd name="T1" fmla="*/ 0 h 55"/>
                <a:gd name="T2" fmla="*/ 0 w 27"/>
                <a:gd name="T3" fmla="*/ 55 h 55"/>
                <a:gd name="T4" fmla="*/ 27 w 27"/>
                <a:gd name="T5" fmla="*/ 0 h 55"/>
                <a:gd name="T6" fmla="*/ 27 w 27"/>
                <a:gd name="T7" fmla="*/ 0 h 55"/>
                <a:gd name="T8" fmla="*/ 27 w 27"/>
                <a:gd name="T9" fmla="*/ 0 h 55"/>
                <a:gd name="T10" fmla="*/ 27 w 27"/>
                <a:gd name="T11" fmla="*/ 0 h 55"/>
                <a:gd name="T12" fmla="*/ 27 w 27"/>
                <a:gd name="T13" fmla="*/ 0 h 55"/>
                <a:gd name="T14" fmla="*/ 0 60000 65536"/>
                <a:gd name="T15" fmla="*/ 0 60000 65536"/>
                <a:gd name="T16" fmla="*/ 0 60000 65536"/>
                <a:gd name="T17" fmla="*/ 0 60000 65536"/>
                <a:gd name="T18" fmla="*/ 0 60000 65536"/>
                <a:gd name="T19" fmla="*/ 0 60000 65536"/>
                <a:gd name="T20" fmla="*/ 0 60000 65536"/>
                <a:gd name="T21" fmla="*/ 0 w 27"/>
                <a:gd name="T22" fmla="*/ 0 h 55"/>
                <a:gd name="T23" fmla="*/ 27 w 2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55">
                  <a:moveTo>
                    <a:pt x="27" y="0"/>
                  </a:moveTo>
                  <a:lnTo>
                    <a:pt x="0" y="55"/>
                  </a:lnTo>
                  <a:lnTo>
                    <a:pt x="27" y="0"/>
                  </a:lnTo>
                  <a:close/>
                  <a:moveTo>
                    <a:pt x="27" y="0"/>
                  </a:moveTo>
                  <a:lnTo>
                    <a:pt x="2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6" name="Freeform 121"/>
            <p:cNvSpPr>
              <a:spLocks noChangeAspect="1" noEditPoints="1"/>
            </p:cNvSpPr>
            <p:nvPr/>
          </p:nvSpPr>
          <p:spPr bwMode="auto">
            <a:xfrm>
              <a:off x="2158" y="2651"/>
              <a:ext cx="21" cy="55"/>
            </a:xfrm>
            <a:custGeom>
              <a:avLst/>
              <a:gdLst>
                <a:gd name="T0" fmla="*/ 21 w 21"/>
                <a:gd name="T1" fmla="*/ 0 h 55"/>
                <a:gd name="T2" fmla="*/ 0 w 21"/>
                <a:gd name="T3" fmla="*/ 55 h 55"/>
                <a:gd name="T4" fmla="*/ 21 w 21"/>
                <a:gd name="T5" fmla="*/ 0 h 55"/>
                <a:gd name="T6" fmla="*/ 21 w 21"/>
                <a:gd name="T7" fmla="*/ 0 h 55"/>
                <a:gd name="T8" fmla="*/ 21 w 21"/>
                <a:gd name="T9" fmla="*/ 0 h 55"/>
                <a:gd name="T10" fmla="*/ 21 w 21"/>
                <a:gd name="T11" fmla="*/ 0 h 55"/>
                <a:gd name="T12" fmla="*/ 21 w 21"/>
                <a:gd name="T13" fmla="*/ 0 h 55"/>
                <a:gd name="T14" fmla="*/ 0 60000 65536"/>
                <a:gd name="T15" fmla="*/ 0 60000 65536"/>
                <a:gd name="T16" fmla="*/ 0 60000 65536"/>
                <a:gd name="T17" fmla="*/ 0 60000 65536"/>
                <a:gd name="T18" fmla="*/ 0 60000 65536"/>
                <a:gd name="T19" fmla="*/ 0 60000 65536"/>
                <a:gd name="T20" fmla="*/ 0 60000 65536"/>
                <a:gd name="T21" fmla="*/ 0 w 21"/>
                <a:gd name="T22" fmla="*/ 0 h 55"/>
                <a:gd name="T23" fmla="*/ 21 w 21"/>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55">
                  <a:moveTo>
                    <a:pt x="21" y="0"/>
                  </a:moveTo>
                  <a:lnTo>
                    <a:pt x="0" y="55"/>
                  </a:lnTo>
                  <a:lnTo>
                    <a:pt x="21" y="0"/>
                  </a:lnTo>
                  <a:close/>
                  <a:moveTo>
                    <a:pt x="21" y="0"/>
                  </a:moveTo>
                  <a:lnTo>
                    <a:pt x="21"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7" name="Freeform 122"/>
            <p:cNvSpPr>
              <a:spLocks noChangeAspect="1" noEditPoints="1"/>
            </p:cNvSpPr>
            <p:nvPr/>
          </p:nvSpPr>
          <p:spPr bwMode="auto">
            <a:xfrm>
              <a:off x="2130" y="2651"/>
              <a:ext cx="28" cy="55"/>
            </a:xfrm>
            <a:custGeom>
              <a:avLst/>
              <a:gdLst>
                <a:gd name="T0" fmla="*/ 28 w 28"/>
                <a:gd name="T1" fmla="*/ 55 h 55"/>
                <a:gd name="T2" fmla="*/ 0 w 28"/>
                <a:gd name="T3" fmla="*/ 0 h 55"/>
                <a:gd name="T4" fmla="*/ 28 w 28"/>
                <a:gd name="T5" fmla="*/ 55 h 55"/>
                <a:gd name="T6" fmla="*/ 28 w 28"/>
                <a:gd name="T7" fmla="*/ 55 h 55"/>
                <a:gd name="T8" fmla="*/ 28 w 28"/>
                <a:gd name="T9" fmla="*/ 55 h 55"/>
                <a:gd name="T10" fmla="*/ 28 w 28"/>
                <a:gd name="T11" fmla="*/ 55 h 55"/>
                <a:gd name="T12" fmla="*/ 28 w 28"/>
                <a:gd name="T13" fmla="*/ 55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55"/>
                  </a:moveTo>
                  <a:lnTo>
                    <a:pt x="0" y="0"/>
                  </a:lnTo>
                  <a:lnTo>
                    <a:pt x="28" y="55"/>
                  </a:lnTo>
                  <a:close/>
                  <a:moveTo>
                    <a:pt x="28" y="55"/>
                  </a:moveTo>
                  <a:lnTo>
                    <a:pt x="28"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8" name="Freeform 123"/>
            <p:cNvSpPr>
              <a:spLocks noChangeAspect="1" noEditPoints="1"/>
            </p:cNvSpPr>
            <p:nvPr/>
          </p:nvSpPr>
          <p:spPr bwMode="auto">
            <a:xfrm>
              <a:off x="2110" y="2596"/>
              <a:ext cx="20" cy="55"/>
            </a:xfrm>
            <a:custGeom>
              <a:avLst/>
              <a:gdLst>
                <a:gd name="T0" fmla="*/ 20 w 20"/>
                <a:gd name="T1" fmla="*/ 55 h 55"/>
                <a:gd name="T2" fmla="*/ 0 w 20"/>
                <a:gd name="T3" fmla="*/ 0 h 55"/>
                <a:gd name="T4" fmla="*/ 20 w 20"/>
                <a:gd name="T5" fmla="*/ 55 h 55"/>
                <a:gd name="T6" fmla="*/ 20 w 20"/>
                <a:gd name="T7" fmla="*/ 55 h 55"/>
                <a:gd name="T8" fmla="*/ 20 w 20"/>
                <a:gd name="T9" fmla="*/ 55 h 55"/>
                <a:gd name="T10" fmla="*/ 20 w 20"/>
                <a:gd name="T11" fmla="*/ 55 h 55"/>
                <a:gd name="T12" fmla="*/ 20 w 20"/>
                <a:gd name="T13" fmla="*/ 55 h 55"/>
                <a:gd name="T14" fmla="*/ 0 60000 65536"/>
                <a:gd name="T15" fmla="*/ 0 60000 65536"/>
                <a:gd name="T16" fmla="*/ 0 60000 65536"/>
                <a:gd name="T17" fmla="*/ 0 60000 65536"/>
                <a:gd name="T18" fmla="*/ 0 60000 65536"/>
                <a:gd name="T19" fmla="*/ 0 60000 65536"/>
                <a:gd name="T20" fmla="*/ 0 60000 65536"/>
                <a:gd name="T21" fmla="*/ 0 w 20"/>
                <a:gd name="T22" fmla="*/ 0 h 55"/>
                <a:gd name="T23" fmla="*/ 20 w 20"/>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5">
                  <a:moveTo>
                    <a:pt x="20" y="55"/>
                  </a:moveTo>
                  <a:lnTo>
                    <a:pt x="0" y="0"/>
                  </a:lnTo>
                  <a:lnTo>
                    <a:pt x="20" y="55"/>
                  </a:lnTo>
                  <a:close/>
                  <a:moveTo>
                    <a:pt x="20" y="55"/>
                  </a:moveTo>
                  <a:lnTo>
                    <a:pt x="20"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59" name="Freeform 124"/>
            <p:cNvSpPr>
              <a:spLocks noChangeAspect="1" noEditPoints="1"/>
            </p:cNvSpPr>
            <p:nvPr/>
          </p:nvSpPr>
          <p:spPr bwMode="auto">
            <a:xfrm>
              <a:off x="2082" y="2596"/>
              <a:ext cx="28" cy="55"/>
            </a:xfrm>
            <a:custGeom>
              <a:avLst/>
              <a:gdLst>
                <a:gd name="T0" fmla="*/ 28 w 28"/>
                <a:gd name="T1" fmla="*/ 0 h 55"/>
                <a:gd name="T2" fmla="*/ 0 w 28"/>
                <a:gd name="T3" fmla="*/ 55 h 55"/>
                <a:gd name="T4" fmla="*/ 28 w 28"/>
                <a:gd name="T5" fmla="*/ 0 h 55"/>
                <a:gd name="T6" fmla="*/ 28 w 28"/>
                <a:gd name="T7" fmla="*/ 0 h 55"/>
                <a:gd name="T8" fmla="*/ 28 w 28"/>
                <a:gd name="T9" fmla="*/ 0 h 55"/>
                <a:gd name="T10" fmla="*/ 28 w 28"/>
                <a:gd name="T11" fmla="*/ 0 h 55"/>
                <a:gd name="T12" fmla="*/ 28 w 28"/>
                <a:gd name="T13" fmla="*/ 0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0"/>
                  </a:moveTo>
                  <a:lnTo>
                    <a:pt x="0" y="55"/>
                  </a:lnTo>
                  <a:lnTo>
                    <a:pt x="28" y="0"/>
                  </a:lnTo>
                  <a:close/>
                  <a:moveTo>
                    <a:pt x="28" y="0"/>
                  </a:moveTo>
                  <a:lnTo>
                    <a:pt x="28"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0" name="Freeform 125"/>
            <p:cNvSpPr>
              <a:spLocks noChangeAspect="1" noEditPoints="1"/>
            </p:cNvSpPr>
            <p:nvPr/>
          </p:nvSpPr>
          <p:spPr bwMode="auto">
            <a:xfrm>
              <a:off x="2055" y="2651"/>
              <a:ext cx="27" cy="55"/>
            </a:xfrm>
            <a:custGeom>
              <a:avLst/>
              <a:gdLst>
                <a:gd name="T0" fmla="*/ 27 w 27"/>
                <a:gd name="T1" fmla="*/ 0 h 55"/>
                <a:gd name="T2" fmla="*/ 0 w 27"/>
                <a:gd name="T3" fmla="*/ 55 h 55"/>
                <a:gd name="T4" fmla="*/ 27 w 27"/>
                <a:gd name="T5" fmla="*/ 0 h 55"/>
                <a:gd name="T6" fmla="*/ 27 w 27"/>
                <a:gd name="T7" fmla="*/ 0 h 55"/>
                <a:gd name="T8" fmla="*/ 27 w 27"/>
                <a:gd name="T9" fmla="*/ 0 h 55"/>
                <a:gd name="T10" fmla="*/ 27 w 27"/>
                <a:gd name="T11" fmla="*/ 0 h 55"/>
                <a:gd name="T12" fmla="*/ 27 w 27"/>
                <a:gd name="T13" fmla="*/ 0 h 55"/>
                <a:gd name="T14" fmla="*/ 0 60000 65536"/>
                <a:gd name="T15" fmla="*/ 0 60000 65536"/>
                <a:gd name="T16" fmla="*/ 0 60000 65536"/>
                <a:gd name="T17" fmla="*/ 0 60000 65536"/>
                <a:gd name="T18" fmla="*/ 0 60000 65536"/>
                <a:gd name="T19" fmla="*/ 0 60000 65536"/>
                <a:gd name="T20" fmla="*/ 0 60000 65536"/>
                <a:gd name="T21" fmla="*/ 0 w 27"/>
                <a:gd name="T22" fmla="*/ 0 h 55"/>
                <a:gd name="T23" fmla="*/ 27 w 2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55">
                  <a:moveTo>
                    <a:pt x="27" y="0"/>
                  </a:moveTo>
                  <a:lnTo>
                    <a:pt x="0" y="55"/>
                  </a:lnTo>
                  <a:lnTo>
                    <a:pt x="27" y="0"/>
                  </a:lnTo>
                  <a:close/>
                  <a:moveTo>
                    <a:pt x="27" y="0"/>
                  </a:moveTo>
                  <a:lnTo>
                    <a:pt x="2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1" name="Freeform 126"/>
            <p:cNvSpPr>
              <a:spLocks noChangeAspect="1" noEditPoints="1"/>
            </p:cNvSpPr>
            <p:nvPr/>
          </p:nvSpPr>
          <p:spPr bwMode="auto">
            <a:xfrm>
              <a:off x="2034" y="2651"/>
              <a:ext cx="21" cy="55"/>
            </a:xfrm>
            <a:custGeom>
              <a:avLst/>
              <a:gdLst>
                <a:gd name="T0" fmla="*/ 21 w 21"/>
                <a:gd name="T1" fmla="*/ 55 h 55"/>
                <a:gd name="T2" fmla="*/ 0 w 21"/>
                <a:gd name="T3" fmla="*/ 0 h 55"/>
                <a:gd name="T4" fmla="*/ 21 w 21"/>
                <a:gd name="T5" fmla="*/ 55 h 55"/>
                <a:gd name="T6" fmla="*/ 21 w 21"/>
                <a:gd name="T7" fmla="*/ 55 h 55"/>
                <a:gd name="T8" fmla="*/ 21 w 21"/>
                <a:gd name="T9" fmla="*/ 55 h 55"/>
                <a:gd name="T10" fmla="*/ 21 w 21"/>
                <a:gd name="T11" fmla="*/ 55 h 55"/>
                <a:gd name="T12" fmla="*/ 21 w 21"/>
                <a:gd name="T13" fmla="*/ 55 h 55"/>
                <a:gd name="T14" fmla="*/ 0 60000 65536"/>
                <a:gd name="T15" fmla="*/ 0 60000 65536"/>
                <a:gd name="T16" fmla="*/ 0 60000 65536"/>
                <a:gd name="T17" fmla="*/ 0 60000 65536"/>
                <a:gd name="T18" fmla="*/ 0 60000 65536"/>
                <a:gd name="T19" fmla="*/ 0 60000 65536"/>
                <a:gd name="T20" fmla="*/ 0 60000 65536"/>
                <a:gd name="T21" fmla="*/ 0 w 21"/>
                <a:gd name="T22" fmla="*/ 0 h 55"/>
                <a:gd name="T23" fmla="*/ 21 w 21"/>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55">
                  <a:moveTo>
                    <a:pt x="21" y="55"/>
                  </a:moveTo>
                  <a:lnTo>
                    <a:pt x="0" y="0"/>
                  </a:lnTo>
                  <a:lnTo>
                    <a:pt x="21" y="55"/>
                  </a:lnTo>
                  <a:close/>
                  <a:moveTo>
                    <a:pt x="21" y="55"/>
                  </a:moveTo>
                  <a:lnTo>
                    <a:pt x="21"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2" name="Freeform 127"/>
            <p:cNvSpPr>
              <a:spLocks noChangeAspect="1" noEditPoints="1"/>
            </p:cNvSpPr>
            <p:nvPr/>
          </p:nvSpPr>
          <p:spPr bwMode="auto">
            <a:xfrm>
              <a:off x="2006" y="2596"/>
              <a:ext cx="28" cy="55"/>
            </a:xfrm>
            <a:custGeom>
              <a:avLst/>
              <a:gdLst>
                <a:gd name="T0" fmla="*/ 28 w 28"/>
                <a:gd name="T1" fmla="*/ 55 h 55"/>
                <a:gd name="T2" fmla="*/ 0 w 28"/>
                <a:gd name="T3" fmla="*/ 0 h 55"/>
                <a:gd name="T4" fmla="*/ 28 w 28"/>
                <a:gd name="T5" fmla="*/ 55 h 55"/>
                <a:gd name="T6" fmla="*/ 28 w 28"/>
                <a:gd name="T7" fmla="*/ 55 h 55"/>
                <a:gd name="T8" fmla="*/ 28 w 28"/>
                <a:gd name="T9" fmla="*/ 55 h 55"/>
                <a:gd name="T10" fmla="*/ 28 w 28"/>
                <a:gd name="T11" fmla="*/ 55 h 55"/>
                <a:gd name="T12" fmla="*/ 28 w 28"/>
                <a:gd name="T13" fmla="*/ 55 h 55"/>
                <a:gd name="T14" fmla="*/ 0 60000 65536"/>
                <a:gd name="T15" fmla="*/ 0 60000 65536"/>
                <a:gd name="T16" fmla="*/ 0 60000 65536"/>
                <a:gd name="T17" fmla="*/ 0 60000 65536"/>
                <a:gd name="T18" fmla="*/ 0 60000 65536"/>
                <a:gd name="T19" fmla="*/ 0 60000 65536"/>
                <a:gd name="T20" fmla="*/ 0 60000 65536"/>
                <a:gd name="T21" fmla="*/ 0 w 28"/>
                <a:gd name="T22" fmla="*/ 0 h 55"/>
                <a:gd name="T23" fmla="*/ 28 w 28"/>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 h="55">
                  <a:moveTo>
                    <a:pt x="28" y="55"/>
                  </a:moveTo>
                  <a:lnTo>
                    <a:pt x="0" y="0"/>
                  </a:lnTo>
                  <a:lnTo>
                    <a:pt x="28" y="55"/>
                  </a:lnTo>
                  <a:close/>
                  <a:moveTo>
                    <a:pt x="28" y="55"/>
                  </a:moveTo>
                  <a:lnTo>
                    <a:pt x="28" y="55"/>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3" name="Freeform 128"/>
            <p:cNvSpPr>
              <a:spLocks noChangeAspect="1" noEditPoints="1"/>
            </p:cNvSpPr>
            <p:nvPr/>
          </p:nvSpPr>
          <p:spPr bwMode="auto">
            <a:xfrm>
              <a:off x="1979" y="2596"/>
              <a:ext cx="27" cy="62"/>
            </a:xfrm>
            <a:custGeom>
              <a:avLst/>
              <a:gdLst>
                <a:gd name="T0" fmla="*/ 27 w 27"/>
                <a:gd name="T1" fmla="*/ 0 h 62"/>
                <a:gd name="T2" fmla="*/ 0 w 27"/>
                <a:gd name="T3" fmla="*/ 62 h 62"/>
                <a:gd name="T4" fmla="*/ 27 w 27"/>
                <a:gd name="T5" fmla="*/ 0 h 62"/>
                <a:gd name="T6" fmla="*/ 27 w 27"/>
                <a:gd name="T7" fmla="*/ 0 h 62"/>
                <a:gd name="T8" fmla="*/ 27 w 27"/>
                <a:gd name="T9" fmla="*/ 0 h 62"/>
                <a:gd name="T10" fmla="*/ 27 w 27"/>
                <a:gd name="T11" fmla="*/ 0 h 62"/>
                <a:gd name="T12" fmla="*/ 27 w 27"/>
                <a:gd name="T13" fmla="*/ 0 h 62"/>
                <a:gd name="T14" fmla="*/ 0 60000 65536"/>
                <a:gd name="T15" fmla="*/ 0 60000 65536"/>
                <a:gd name="T16" fmla="*/ 0 60000 65536"/>
                <a:gd name="T17" fmla="*/ 0 60000 65536"/>
                <a:gd name="T18" fmla="*/ 0 60000 65536"/>
                <a:gd name="T19" fmla="*/ 0 60000 65536"/>
                <a:gd name="T20" fmla="*/ 0 60000 65536"/>
                <a:gd name="T21" fmla="*/ 0 w 27"/>
                <a:gd name="T22" fmla="*/ 0 h 62"/>
                <a:gd name="T23" fmla="*/ 27 w 27"/>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62">
                  <a:moveTo>
                    <a:pt x="27" y="0"/>
                  </a:moveTo>
                  <a:lnTo>
                    <a:pt x="0" y="62"/>
                  </a:lnTo>
                  <a:lnTo>
                    <a:pt x="27" y="0"/>
                  </a:lnTo>
                  <a:close/>
                  <a:moveTo>
                    <a:pt x="27" y="0"/>
                  </a:moveTo>
                  <a:lnTo>
                    <a:pt x="2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4" name="Freeform 129"/>
            <p:cNvSpPr>
              <a:spLocks noChangeAspect="1"/>
            </p:cNvSpPr>
            <p:nvPr/>
          </p:nvSpPr>
          <p:spPr bwMode="auto">
            <a:xfrm>
              <a:off x="1042" y="2995"/>
              <a:ext cx="117" cy="117"/>
            </a:xfrm>
            <a:custGeom>
              <a:avLst/>
              <a:gdLst>
                <a:gd name="T0" fmla="*/ 117 w 117"/>
                <a:gd name="T1" fmla="*/ 0 h 117"/>
                <a:gd name="T2" fmla="*/ 82 w 117"/>
                <a:gd name="T3" fmla="*/ 0 h 117"/>
                <a:gd name="T4" fmla="*/ 82 w 117"/>
                <a:gd name="T5" fmla="*/ 0 h 117"/>
                <a:gd name="T6" fmla="*/ 89 w 117"/>
                <a:gd name="T7" fmla="*/ 0 h 117"/>
                <a:gd name="T8" fmla="*/ 89 w 117"/>
                <a:gd name="T9" fmla="*/ 7 h 117"/>
                <a:gd name="T10" fmla="*/ 89 w 117"/>
                <a:gd name="T11" fmla="*/ 21 h 117"/>
                <a:gd name="T12" fmla="*/ 82 w 117"/>
                <a:gd name="T13" fmla="*/ 28 h 117"/>
                <a:gd name="T14" fmla="*/ 41 w 117"/>
                <a:gd name="T15" fmla="*/ 90 h 117"/>
                <a:gd name="T16" fmla="*/ 41 w 117"/>
                <a:gd name="T17" fmla="*/ 90 h 117"/>
                <a:gd name="T18" fmla="*/ 27 w 117"/>
                <a:gd name="T19" fmla="*/ 14 h 117"/>
                <a:gd name="T20" fmla="*/ 34 w 117"/>
                <a:gd name="T21" fmla="*/ 0 h 117"/>
                <a:gd name="T22" fmla="*/ 41 w 117"/>
                <a:gd name="T23" fmla="*/ 0 h 117"/>
                <a:gd name="T24" fmla="*/ 41 w 117"/>
                <a:gd name="T25" fmla="*/ 0 h 117"/>
                <a:gd name="T26" fmla="*/ 0 w 117"/>
                <a:gd name="T27" fmla="*/ 0 h 117"/>
                <a:gd name="T28" fmla="*/ 0 w 117"/>
                <a:gd name="T29" fmla="*/ 0 h 117"/>
                <a:gd name="T30" fmla="*/ 7 w 117"/>
                <a:gd name="T31" fmla="*/ 7 h 117"/>
                <a:gd name="T32" fmla="*/ 7 w 117"/>
                <a:gd name="T33" fmla="*/ 14 h 117"/>
                <a:gd name="T34" fmla="*/ 14 w 117"/>
                <a:gd name="T35" fmla="*/ 28 h 117"/>
                <a:gd name="T36" fmla="*/ 27 w 117"/>
                <a:gd name="T37" fmla="*/ 117 h 117"/>
                <a:gd name="T38" fmla="*/ 34 w 117"/>
                <a:gd name="T39" fmla="*/ 117 h 117"/>
                <a:gd name="T40" fmla="*/ 103 w 117"/>
                <a:gd name="T41" fmla="*/ 7 h 117"/>
                <a:gd name="T42" fmla="*/ 110 w 117"/>
                <a:gd name="T43" fmla="*/ 7 h 117"/>
                <a:gd name="T44" fmla="*/ 117 w 117"/>
                <a:gd name="T45" fmla="*/ 0 h 117"/>
                <a:gd name="T46" fmla="*/ 117 w 117"/>
                <a:gd name="T47" fmla="*/ 0 h 11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7"/>
                <a:gd name="T74" fmla="*/ 117 w 117"/>
                <a:gd name="T75" fmla="*/ 117 h 11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7">
                  <a:moveTo>
                    <a:pt x="117" y="0"/>
                  </a:moveTo>
                  <a:lnTo>
                    <a:pt x="82" y="0"/>
                  </a:lnTo>
                  <a:lnTo>
                    <a:pt x="89" y="0"/>
                  </a:lnTo>
                  <a:lnTo>
                    <a:pt x="89" y="7"/>
                  </a:lnTo>
                  <a:lnTo>
                    <a:pt x="89" y="21"/>
                  </a:lnTo>
                  <a:lnTo>
                    <a:pt x="82" y="28"/>
                  </a:lnTo>
                  <a:lnTo>
                    <a:pt x="41" y="90"/>
                  </a:lnTo>
                  <a:lnTo>
                    <a:pt x="27" y="14"/>
                  </a:lnTo>
                  <a:lnTo>
                    <a:pt x="34" y="0"/>
                  </a:lnTo>
                  <a:lnTo>
                    <a:pt x="41" y="0"/>
                  </a:lnTo>
                  <a:lnTo>
                    <a:pt x="0" y="0"/>
                  </a:lnTo>
                  <a:lnTo>
                    <a:pt x="7" y="7"/>
                  </a:lnTo>
                  <a:lnTo>
                    <a:pt x="7" y="14"/>
                  </a:lnTo>
                  <a:lnTo>
                    <a:pt x="14" y="28"/>
                  </a:lnTo>
                  <a:lnTo>
                    <a:pt x="27" y="117"/>
                  </a:lnTo>
                  <a:lnTo>
                    <a:pt x="34" y="117"/>
                  </a:lnTo>
                  <a:lnTo>
                    <a:pt x="103" y="7"/>
                  </a:lnTo>
                  <a:lnTo>
                    <a:pt x="110" y="7"/>
                  </a:lnTo>
                  <a:lnTo>
                    <a:pt x="117"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5" name="Freeform 130"/>
            <p:cNvSpPr>
              <a:spLocks noChangeAspect="1"/>
            </p:cNvSpPr>
            <p:nvPr/>
          </p:nvSpPr>
          <p:spPr bwMode="auto">
            <a:xfrm>
              <a:off x="1145" y="3064"/>
              <a:ext cx="83" cy="96"/>
            </a:xfrm>
            <a:custGeom>
              <a:avLst/>
              <a:gdLst>
                <a:gd name="T0" fmla="*/ 62 w 83"/>
                <a:gd name="T1" fmla="*/ 89 h 96"/>
                <a:gd name="T2" fmla="*/ 48 w 83"/>
                <a:gd name="T3" fmla="*/ 89 h 96"/>
                <a:gd name="T4" fmla="*/ 48 w 83"/>
                <a:gd name="T5" fmla="*/ 76 h 96"/>
                <a:gd name="T6" fmla="*/ 48 w 83"/>
                <a:gd name="T7" fmla="*/ 7 h 96"/>
                <a:gd name="T8" fmla="*/ 55 w 83"/>
                <a:gd name="T9" fmla="*/ 7 h 96"/>
                <a:gd name="T10" fmla="*/ 69 w 83"/>
                <a:gd name="T11" fmla="*/ 7 h 96"/>
                <a:gd name="T12" fmla="*/ 76 w 83"/>
                <a:gd name="T13" fmla="*/ 14 h 96"/>
                <a:gd name="T14" fmla="*/ 83 w 83"/>
                <a:gd name="T15" fmla="*/ 27 h 96"/>
                <a:gd name="T16" fmla="*/ 83 w 83"/>
                <a:gd name="T17" fmla="*/ 27 h 96"/>
                <a:gd name="T18" fmla="*/ 83 w 83"/>
                <a:gd name="T19" fmla="*/ 0 h 96"/>
                <a:gd name="T20" fmla="*/ 0 w 83"/>
                <a:gd name="T21" fmla="*/ 0 h 96"/>
                <a:gd name="T22" fmla="*/ 0 w 83"/>
                <a:gd name="T23" fmla="*/ 27 h 96"/>
                <a:gd name="T24" fmla="*/ 7 w 83"/>
                <a:gd name="T25" fmla="*/ 27 h 96"/>
                <a:gd name="T26" fmla="*/ 14 w 83"/>
                <a:gd name="T27" fmla="*/ 14 h 96"/>
                <a:gd name="T28" fmla="*/ 28 w 83"/>
                <a:gd name="T29" fmla="*/ 7 h 96"/>
                <a:gd name="T30" fmla="*/ 35 w 83"/>
                <a:gd name="T31" fmla="*/ 7 h 96"/>
                <a:gd name="T32" fmla="*/ 35 w 83"/>
                <a:gd name="T33" fmla="*/ 76 h 96"/>
                <a:gd name="T34" fmla="*/ 35 w 83"/>
                <a:gd name="T35" fmla="*/ 89 h 96"/>
                <a:gd name="T36" fmla="*/ 21 w 83"/>
                <a:gd name="T37" fmla="*/ 89 h 96"/>
                <a:gd name="T38" fmla="*/ 21 w 83"/>
                <a:gd name="T39" fmla="*/ 96 h 96"/>
                <a:gd name="T40" fmla="*/ 62 w 83"/>
                <a:gd name="T41" fmla="*/ 96 h 96"/>
                <a:gd name="T42" fmla="*/ 62 w 83"/>
                <a:gd name="T43" fmla="*/ 89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3"/>
                <a:gd name="T67" fmla="*/ 0 h 96"/>
                <a:gd name="T68" fmla="*/ 83 w 83"/>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3" h="96">
                  <a:moveTo>
                    <a:pt x="62" y="89"/>
                  </a:moveTo>
                  <a:lnTo>
                    <a:pt x="48" y="89"/>
                  </a:lnTo>
                  <a:lnTo>
                    <a:pt x="48" y="76"/>
                  </a:lnTo>
                  <a:lnTo>
                    <a:pt x="48" y="7"/>
                  </a:lnTo>
                  <a:lnTo>
                    <a:pt x="55" y="7"/>
                  </a:lnTo>
                  <a:lnTo>
                    <a:pt x="69" y="7"/>
                  </a:lnTo>
                  <a:lnTo>
                    <a:pt x="76" y="14"/>
                  </a:lnTo>
                  <a:lnTo>
                    <a:pt x="83" y="27"/>
                  </a:lnTo>
                  <a:lnTo>
                    <a:pt x="83" y="0"/>
                  </a:lnTo>
                  <a:lnTo>
                    <a:pt x="0" y="0"/>
                  </a:lnTo>
                  <a:lnTo>
                    <a:pt x="0" y="27"/>
                  </a:lnTo>
                  <a:lnTo>
                    <a:pt x="7" y="27"/>
                  </a:lnTo>
                  <a:lnTo>
                    <a:pt x="14" y="14"/>
                  </a:lnTo>
                  <a:lnTo>
                    <a:pt x="28" y="7"/>
                  </a:lnTo>
                  <a:lnTo>
                    <a:pt x="35" y="7"/>
                  </a:lnTo>
                  <a:lnTo>
                    <a:pt x="35" y="76"/>
                  </a:lnTo>
                  <a:lnTo>
                    <a:pt x="35" y="89"/>
                  </a:lnTo>
                  <a:lnTo>
                    <a:pt x="21" y="89"/>
                  </a:lnTo>
                  <a:lnTo>
                    <a:pt x="21" y="96"/>
                  </a:lnTo>
                  <a:lnTo>
                    <a:pt x="62" y="96"/>
                  </a:lnTo>
                  <a:lnTo>
                    <a:pt x="62" y="8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6" name="Freeform 131"/>
            <p:cNvSpPr>
              <a:spLocks noChangeAspect="1"/>
            </p:cNvSpPr>
            <p:nvPr/>
          </p:nvSpPr>
          <p:spPr bwMode="auto">
            <a:xfrm>
              <a:off x="1235" y="3064"/>
              <a:ext cx="69" cy="96"/>
            </a:xfrm>
            <a:custGeom>
              <a:avLst/>
              <a:gdLst>
                <a:gd name="T0" fmla="*/ 69 w 69"/>
                <a:gd name="T1" fmla="*/ 89 h 96"/>
                <a:gd name="T2" fmla="*/ 62 w 69"/>
                <a:gd name="T3" fmla="*/ 89 h 96"/>
                <a:gd name="T4" fmla="*/ 62 w 69"/>
                <a:gd name="T5" fmla="*/ 76 h 96"/>
                <a:gd name="T6" fmla="*/ 62 w 69"/>
                <a:gd name="T7" fmla="*/ 55 h 96"/>
                <a:gd name="T8" fmla="*/ 62 w 69"/>
                <a:gd name="T9" fmla="*/ 41 h 96"/>
                <a:gd name="T10" fmla="*/ 55 w 69"/>
                <a:gd name="T11" fmla="*/ 34 h 96"/>
                <a:gd name="T12" fmla="*/ 41 w 69"/>
                <a:gd name="T13" fmla="*/ 27 h 96"/>
                <a:gd name="T14" fmla="*/ 34 w 69"/>
                <a:gd name="T15" fmla="*/ 34 h 96"/>
                <a:gd name="T16" fmla="*/ 20 w 69"/>
                <a:gd name="T17" fmla="*/ 41 h 96"/>
                <a:gd name="T18" fmla="*/ 20 w 69"/>
                <a:gd name="T19" fmla="*/ 41 h 96"/>
                <a:gd name="T20" fmla="*/ 20 w 69"/>
                <a:gd name="T21" fmla="*/ 0 h 96"/>
                <a:gd name="T22" fmla="*/ 20 w 69"/>
                <a:gd name="T23" fmla="*/ 0 h 96"/>
                <a:gd name="T24" fmla="*/ 13 w 69"/>
                <a:gd name="T25" fmla="*/ 7 h 96"/>
                <a:gd name="T26" fmla="*/ 0 w 69"/>
                <a:gd name="T27" fmla="*/ 7 h 96"/>
                <a:gd name="T28" fmla="*/ 0 w 69"/>
                <a:gd name="T29" fmla="*/ 7 h 96"/>
                <a:gd name="T30" fmla="*/ 0 w 69"/>
                <a:gd name="T31" fmla="*/ 7 h 96"/>
                <a:gd name="T32" fmla="*/ 7 w 69"/>
                <a:gd name="T33" fmla="*/ 7 h 96"/>
                <a:gd name="T34" fmla="*/ 7 w 69"/>
                <a:gd name="T35" fmla="*/ 14 h 96"/>
                <a:gd name="T36" fmla="*/ 7 w 69"/>
                <a:gd name="T37" fmla="*/ 76 h 96"/>
                <a:gd name="T38" fmla="*/ 7 w 69"/>
                <a:gd name="T39" fmla="*/ 89 h 96"/>
                <a:gd name="T40" fmla="*/ 0 w 69"/>
                <a:gd name="T41" fmla="*/ 89 h 96"/>
                <a:gd name="T42" fmla="*/ 0 w 69"/>
                <a:gd name="T43" fmla="*/ 96 h 96"/>
                <a:gd name="T44" fmla="*/ 27 w 69"/>
                <a:gd name="T45" fmla="*/ 96 h 96"/>
                <a:gd name="T46" fmla="*/ 27 w 69"/>
                <a:gd name="T47" fmla="*/ 89 h 96"/>
                <a:gd name="T48" fmla="*/ 20 w 69"/>
                <a:gd name="T49" fmla="*/ 89 h 96"/>
                <a:gd name="T50" fmla="*/ 20 w 69"/>
                <a:gd name="T51" fmla="*/ 76 h 96"/>
                <a:gd name="T52" fmla="*/ 20 w 69"/>
                <a:gd name="T53" fmla="*/ 48 h 96"/>
                <a:gd name="T54" fmla="*/ 27 w 69"/>
                <a:gd name="T55" fmla="*/ 41 h 96"/>
                <a:gd name="T56" fmla="*/ 34 w 69"/>
                <a:gd name="T57" fmla="*/ 34 h 96"/>
                <a:gd name="T58" fmla="*/ 41 w 69"/>
                <a:gd name="T59" fmla="*/ 41 h 96"/>
                <a:gd name="T60" fmla="*/ 48 w 69"/>
                <a:gd name="T61" fmla="*/ 55 h 96"/>
                <a:gd name="T62" fmla="*/ 48 w 69"/>
                <a:gd name="T63" fmla="*/ 76 h 96"/>
                <a:gd name="T64" fmla="*/ 41 w 69"/>
                <a:gd name="T65" fmla="*/ 89 h 96"/>
                <a:gd name="T66" fmla="*/ 34 w 69"/>
                <a:gd name="T67" fmla="*/ 89 h 96"/>
                <a:gd name="T68" fmla="*/ 34 w 69"/>
                <a:gd name="T69" fmla="*/ 96 h 96"/>
                <a:gd name="T70" fmla="*/ 69 w 69"/>
                <a:gd name="T71" fmla="*/ 96 h 96"/>
                <a:gd name="T72" fmla="*/ 69 w 69"/>
                <a:gd name="T73" fmla="*/ 89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
                <a:gd name="T112" fmla="*/ 0 h 96"/>
                <a:gd name="T113" fmla="*/ 69 w 69"/>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 h="96">
                  <a:moveTo>
                    <a:pt x="69" y="89"/>
                  </a:moveTo>
                  <a:lnTo>
                    <a:pt x="62" y="89"/>
                  </a:lnTo>
                  <a:lnTo>
                    <a:pt x="62" y="76"/>
                  </a:lnTo>
                  <a:lnTo>
                    <a:pt x="62" y="55"/>
                  </a:lnTo>
                  <a:lnTo>
                    <a:pt x="62" y="41"/>
                  </a:lnTo>
                  <a:lnTo>
                    <a:pt x="55" y="34"/>
                  </a:lnTo>
                  <a:lnTo>
                    <a:pt x="41" y="27"/>
                  </a:lnTo>
                  <a:lnTo>
                    <a:pt x="34" y="34"/>
                  </a:lnTo>
                  <a:lnTo>
                    <a:pt x="20" y="41"/>
                  </a:lnTo>
                  <a:lnTo>
                    <a:pt x="20" y="0"/>
                  </a:lnTo>
                  <a:lnTo>
                    <a:pt x="13" y="7"/>
                  </a:lnTo>
                  <a:lnTo>
                    <a:pt x="0" y="7"/>
                  </a:lnTo>
                  <a:lnTo>
                    <a:pt x="7" y="7"/>
                  </a:lnTo>
                  <a:lnTo>
                    <a:pt x="7" y="14"/>
                  </a:lnTo>
                  <a:lnTo>
                    <a:pt x="7" y="76"/>
                  </a:lnTo>
                  <a:lnTo>
                    <a:pt x="7" y="89"/>
                  </a:lnTo>
                  <a:lnTo>
                    <a:pt x="0" y="89"/>
                  </a:lnTo>
                  <a:lnTo>
                    <a:pt x="0" y="96"/>
                  </a:lnTo>
                  <a:lnTo>
                    <a:pt x="27" y="96"/>
                  </a:lnTo>
                  <a:lnTo>
                    <a:pt x="27" y="89"/>
                  </a:lnTo>
                  <a:lnTo>
                    <a:pt x="20" y="89"/>
                  </a:lnTo>
                  <a:lnTo>
                    <a:pt x="20" y="76"/>
                  </a:lnTo>
                  <a:lnTo>
                    <a:pt x="20" y="48"/>
                  </a:lnTo>
                  <a:lnTo>
                    <a:pt x="27" y="41"/>
                  </a:lnTo>
                  <a:lnTo>
                    <a:pt x="34" y="34"/>
                  </a:lnTo>
                  <a:lnTo>
                    <a:pt x="41" y="41"/>
                  </a:lnTo>
                  <a:lnTo>
                    <a:pt x="48" y="55"/>
                  </a:lnTo>
                  <a:lnTo>
                    <a:pt x="48" y="76"/>
                  </a:lnTo>
                  <a:lnTo>
                    <a:pt x="41" y="89"/>
                  </a:lnTo>
                  <a:lnTo>
                    <a:pt x="34" y="89"/>
                  </a:lnTo>
                  <a:lnTo>
                    <a:pt x="34" y="96"/>
                  </a:lnTo>
                  <a:lnTo>
                    <a:pt x="69" y="96"/>
                  </a:lnTo>
                  <a:lnTo>
                    <a:pt x="69" y="8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7" name="Freeform 132"/>
            <p:cNvSpPr>
              <a:spLocks noChangeAspect="1" noEditPoints="1"/>
            </p:cNvSpPr>
            <p:nvPr/>
          </p:nvSpPr>
          <p:spPr bwMode="auto">
            <a:xfrm>
              <a:off x="2034" y="2335"/>
              <a:ext cx="117" cy="117"/>
            </a:xfrm>
            <a:custGeom>
              <a:avLst/>
              <a:gdLst>
                <a:gd name="T0" fmla="*/ 110 w 117"/>
                <a:gd name="T1" fmla="*/ 110 h 117"/>
                <a:gd name="T2" fmla="*/ 103 w 117"/>
                <a:gd name="T3" fmla="*/ 110 h 117"/>
                <a:gd name="T4" fmla="*/ 96 w 117"/>
                <a:gd name="T5" fmla="*/ 103 h 117"/>
                <a:gd name="T6" fmla="*/ 76 w 117"/>
                <a:gd name="T7" fmla="*/ 55 h 117"/>
                <a:gd name="T8" fmla="*/ 110 w 117"/>
                <a:gd name="T9" fmla="*/ 41 h 117"/>
                <a:gd name="T10" fmla="*/ 117 w 117"/>
                <a:gd name="T11" fmla="*/ 21 h 117"/>
                <a:gd name="T12" fmla="*/ 110 w 117"/>
                <a:gd name="T13" fmla="*/ 7 h 117"/>
                <a:gd name="T14" fmla="*/ 96 w 117"/>
                <a:gd name="T15" fmla="*/ 0 h 117"/>
                <a:gd name="T16" fmla="*/ 83 w 117"/>
                <a:gd name="T17" fmla="*/ 0 h 117"/>
                <a:gd name="T18" fmla="*/ 76 w 117"/>
                <a:gd name="T19" fmla="*/ 0 h 117"/>
                <a:gd name="T20" fmla="*/ 28 w 117"/>
                <a:gd name="T21" fmla="*/ 0 h 117"/>
                <a:gd name="T22" fmla="*/ 28 w 117"/>
                <a:gd name="T23" fmla="*/ 0 h 117"/>
                <a:gd name="T24" fmla="*/ 34 w 117"/>
                <a:gd name="T25" fmla="*/ 0 h 117"/>
                <a:gd name="T26" fmla="*/ 41 w 117"/>
                <a:gd name="T27" fmla="*/ 7 h 117"/>
                <a:gd name="T28" fmla="*/ 41 w 117"/>
                <a:gd name="T29" fmla="*/ 14 h 117"/>
                <a:gd name="T30" fmla="*/ 34 w 117"/>
                <a:gd name="T31" fmla="*/ 21 h 117"/>
                <a:gd name="T32" fmla="*/ 14 w 117"/>
                <a:gd name="T33" fmla="*/ 96 h 117"/>
                <a:gd name="T34" fmla="*/ 7 w 117"/>
                <a:gd name="T35" fmla="*/ 110 h 117"/>
                <a:gd name="T36" fmla="*/ 0 w 117"/>
                <a:gd name="T37" fmla="*/ 110 h 117"/>
                <a:gd name="T38" fmla="*/ 0 w 117"/>
                <a:gd name="T39" fmla="*/ 117 h 117"/>
                <a:gd name="T40" fmla="*/ 48 w 117"/>
                <a:gd name="T41" fmla="*/ 117 h 117"/>
                <a:gd name="T42" fmla="*/ 48 w 117"/>
                <a:gd name="T43" fmla="*/ 110 h 117"/>
                <a:gd name="T44" fmla="*/ 34 w 117"/>
                <a:gd name="T45" fmla="*/ 110 h 117"/>
                <a:gd name="T46" fmla="*/ 34 w 117"/>
                <a:gd name="T47" fmla="*/ 103 h 117"/>
                <a:gd name="T48" fmla="*/ 34 w 117"/>
                <a:gd name="T49" fmla="*/ 103 h 117"/>
                <a:gd name="T50" fmla="*/ 34 w 117"/>
                <a:gd name="T51" fmla="*/ 96 h 117"/>
                <a:gd name="T52" fmla="*/ 48 w 117"/>
                <a:gd name="T53" fmla="*/ 55 h 117"/>
                <a:gd name="T54" fmla="*/ 55 w 117"/>
                <a:gd name="T55" fmla="*/ 55 h 117"/>
                <a:gd name="T56" fmla="*/ 83 w 117"/>
                <a:gd name="T57" fmla="*/ 117 h 117"/>
                <a:gd name="T58" fmla="*/ 110 w 117"/>
                <a:gd name="T59" fmla="*/ 117 h 117"/>
                <a:gd name="T60" fmla="*/ 110 w 117"/>
                <a:gd name="T61" fmla="*/ 110 h 117"/>
                <a:gd name="T62" fmla="*/ 62 w 117"/>
                <a:gd name="T63" fmla="*/ 7 h 117"/>
                <a:gd name="T64" fmla="*/ 62 w 117"/>
                <a:gd name="T65" fmla="*/ 7 h 117"/>
                <a:gd name="T66" fmla="*/ 69 w 117"/>
                <a:gd name="T67" fmla="*/ 0 h 117"/>
                <a:gd name="T68" fmla="*/ 90 w 117"/>
                <a:gd name="T69" fmla="*/ 7 h 117"/>
                <a:gd name="T70" fmla="*/ 96 w 117"/>
                <a:gd name="T71" fmla="*/ 21 h 117"/>
                <a:gd name="T72" fmla="*/ 90 w 117"/>
                <a:gd name="T73" fmla="*/ 41 h 117"/>
                <a:gd name="T74" fmla="*/ 83 w 117"/>
                <a:gd name="T75" fmla="*/ 48 h 117"/>
                <a:gd name="T76" fmla="*/ 62 w 117"/>
                <a:gd name="T77" fmla="*/ 48 h 117"/>
                <a:gd name="T78" fmla="*/ 55 w 117"/>
                <a:gd name="T79" fmla="*/ 48 h 117"/>
                <a:gd name="T80" fmla="*/ 48 w 117"/>
                <a:gd name="T81" fmla="*/ 48 h 117"/>
                <a:gd name="T82" fmla="*/ 62 w 117"/>
                <a:gd name="T83" fmla="*/ 7 h 11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7"/>
                <a:gd name="T127" fmla="*/ 0 h 117"/>
                <a:gd name="T128" fmla="*/ 117 w 117"/>
                <a:gd name="T129" fmla="*/ 117 h 11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7" h="117">
                  <a:moveTo>
                    <a:pt x="110" y="110"/>
                  </a:moveTo>
                  <a:lnTo>
                    <a:pt x="103" y="110"/>
                  </a:lnTo>
                  <a:lnTo>
                    <a:pt x="96" y="103"/>
                  </a:lnTo>
                  <a:lnTo>
                    <a:pt x="76" y="55"/>
                  </a:lnTo>
                  <a:lnTo>
                    <a:pt x="110" y="41"/>
                  </a:lnTo>
                  <a:lnTo>
                    <a:pt x="117" y="21"/>
                  </a:lnTo>
                  <a:lnTo>
                    <a:pt x="110" y="7"/>
                  </a:lnTo>
                  <a:lnTo>
                    <a:pt x="96" y="0"/>
                  </a:lnTo>
                  <a:lnTo>
                    <a:pt x="83" y="0"/>
                  </a:lnTo>
                  <a:lnTo>
                    <a:pt x="76" y="0"/>
                  </a:lnTo>
                  <a:lnTo>
                    <a:pt x="28" y="0"/>
                  </a:lnTo>
                  <a:lnTo>
                    <a:pt x="34" y="0"/>
                  </a:lnTo>
                  <a:lnTo>
                    <a:pt x="41" y="7"/>
                  </a:lnTo>
                  <a:lnTo>
                    <a:pt x="41" y="14"/>
                  </a:lnTo>
                  <a:lnTo>
                    <a:pt x="34" y="21"/>
                  </a:lnTo>
                  <a:lnTo>
                    <a:pt x="14" y="96"/>
                  </a:lnTo>
                  <a:lnTo>
                    <a:pt x="7" y="110"/>
                  </a:lnTo>
                  <a:lnTo>
                    <a:pt x="0" y="110"/>
                  </a:lnTo>
                  <a:lnTo>
                    <a:pt x="0" y="117"/>
                  </a:lnTo>
                  <a:lnTo>
                    <a:pt x="48" y="117"/>
                  </a:lnTo>
                  <a:lnTo>
                    <a:pt x="48" y="110"/>
                  </a:lnTo>
                  <a:lnTo>
                    <a:pt x="34" y="110"/>
                  </a:lnTo>
                  <a:lnTo>
                    <a:pt x="34" y="103"/>
                  </a:lnTo>
                  <a:lnTo>
                    <a:pt x="34" y="96"/>
                  </a:lnTo>
                  <a:lnTo>
                    <a:pt x="48" y="55"/>
                  </a:lnTo>
                  <a:lnTo>
                    <a:pt x="55" y="55"/>
                  </a:lnTo>
                  <a:lnTo>
                    <a:pt x="83" y="117"/>
                  </a:lnTo>
                  <a:lnTo>
                    <a:pt x="110" y="117"/>
                  </a:lnTo>
                  <a:lnTo>
                    <a:pt x="110" y="110"/>
                  </a:lnTo>
                  <a:close/>
                  <a:moveTo>
                    <a:pt x="62" y="7"/>
                  </a:moveTo>
                  <a:lnTo>
                    <a:pt x="62" y="7"/>
                  </a:lnTo>
                  <a:lnTo>
                    <a:pt x="69" y="0"/>
                  </a:lnTo>
                  <a:lnTo>
                    <a:pt x="90" y="7"/>
                  </a:lnTo>
                  <a:lnTo>
                    <a:pt x="96" y="21"/>
                  </a:lnTo>
                  <a:lnTo>
                    <a:pt x="90" y="41"/>
                  </a:lnTo>
                  <a:lnTo>
                    <a:pt x="83" y="48"/>
                  </a:lnTo>
                  <a:lnTo>
                    <a:pt x="62" y="48"/>
                  </a:lnTo>
                  <a:lnTo>
                    <a:pt x="55" y="48"/>
                  </a:lnTo>
                  <a:lnTo>
                    <a:pt x="48" y="48"/>
                  </a:lnTo>
                  <a:lnTo>
                    <a:pt x="62"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8" name="Freeform 133"/>
            <p:cNvSpPr>
              <a:spLocks noChangeAspect="1"/>
            </p:cNvSpPr>
            <p:nvPr/>
          </p:nvSpPr>
          <p:spPr bwMode="auto">
            <a:xfrm>
              <a:off x="2165" y="2404"/>
              <a:ext cx="83" cy="96"/>
            </a:xfrm>
            <a:custGeom>
              <a:avLst/>
              <a:gdLst>
                <a:gd name="T0" fmla="*/ 62 w 83"/>
                <a:gd name="T1" fmla="*/ 89 h 96"/>
                <a:gd name="T2" fmla="*/ 48 w 83"/>
                <a:gd name="T3" fmla="*/ 89 h 96"/>
                <a:gd name="T4" fmla="*/ 48 w 83"/>
                <a:gd name="T5" fmla="*/ 75 h 96"/>
                <a:gd name="T6" fmla="*/ 48 w 83"/>
                <a:gd name="T7" fmla="*/ 7 h 96"/>
                <a:gd name="T8" fmla="*/ 55 w 83"/>
                <a:gd name="T9" fmla="*/ 7 h 96"/>
                <a:gd name="T10" fmla="*/ 69 w 83"/>
                <a:gd name="T11" fmla="*/ 7 h 96"/>
                <a:gd name="T12" fmla="*/ 76 w 83"/>
                <a:gd name="T13" fmla="*/ 13 h 96"/>
                <a:gd name="T14" fmla="*/ 83 w 83"/>
                <a:gd name="T15" fmla="*/ 27 h 96"/>
                <a:gd name="T16" fmla="*/ 83 w 83"/>
                <a:gd name="T17" fmla="*/ 27 h 96"/>
                <a:gd name="T18" fmla="*/ 83 w 83"/>
                <a:gd name="T19" fmla="*/ 0 h 96"/>
                <a:gd name="T20" fmla="*/ 0 w 83"/>
                <a:gd name="T21" fmla="*/ 0 h 96"/>
                <a:gd name="T22" fmla="*/ 0 w 83"/>
                <a:gd name="T23" fmla="*/ 27 h 96"/>
                <a:gd name="T24" fmla="*/ 7 w 83"/>
                <a:gd name="T25" fmla="*/ 27 h 96"/>
                <a:gd name="T26" fmla="*/ 14 w 83"/>
                <a:gd name="T27" fmla="*/ 13 h 96"/>
                <a:gd name="T28" fmla="*/ 27 w 83"/>
                <a:gd name="T29" fmla="*/ 7 h 96"/>
                <a:gd name="T30" fmla="*/ 34 w 83"/>
                <a:gd name="T31" fmla="*/ 7 h 96"/>
                <a:gd name="T32" fmla="*/ 34 w 83"/>
                <a:gd name="T33" fmla="*/ 75 h 96"/>
                <a:gd name="T34" fmla="*/ 34 w 83"/>
                <a:gd name="T35" fmla="*/ 89 h 96"/>
                <a:gd name="T36" fmla="*/ 21 w 83"/>
                <a:gd name="T37" fmla="*/ 89 h 96"/>
                <a:gd name="T38" fmla="*/ 21 w 83"/>
                <a:gd name="T39" fmla="*/ 96 h 96"/>
                <a:gd name="T40" fmla="*/ 62 w 83"/>
                <a:gd name="T41" fmla="*/ 96 h 96"/>
                <a:gd name="T42" fmla="*/ 62 w 83"/>
                <a:gd name="T43" fmla="*/ 89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3"/>
                <a:gd name="T67" fmla="*/ 0 h 96"/>
                <a:gd name="T68" fmla="*/ 83 w 83"/>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3" h="96">
                  <a:moveTo>
                    <a:pt x="62" y="89"/>
                  </a:moveTo>
                  <a:lnTo>
                    <a:pt x="48" y="89"/>
                  </a:lnTo>
                  <a:lnTo>
                    <a:pt x="48" y="75"/>
                  </a:lnTo>
                  <a:lnTo>
                    <a:pt x="48" y="7"/>
                  </a:lnTo>
                  <a:lnTo>
                    <a:pt x="55" y="7"/>
                  </a:lnTo>
                  <a:lnTo>
                    <a:pt x="69" y="7"/>
                  </a:lnTo>
                  <a:lnTo>
                    <a:pt x="76" y="13"/>
                  </a:lnTo>
                  <a:lnTo>
                    <a:pt x="83" y="27"/>
                  </a:lnTo>
                  <a:lnTo>
                    <a:pt x="83" y="0"/>
                  </a:lnTo>
                  <a:lnTo>
                    <a:pt x="0" y="0"/>
                  </a:lnTo>
                  <a:lnTo>
                    <a:pt x="0" y="27"/>
                  </a:lnTo>
                  <a:lnTo>
                    <a:pt x="7" y="27"/>
                  </a:lnTo>
                  <a:lnTo>
                    <a:pt x="14" y="13"/>
                  </a:lnTo>
                  <a:lnTo>
                    <a:pt x="27" y="7"/>
                  </a:lnTo>
                  <a:lnTo>
                    <a:pt x="34" y="7"/>
                  </a:lnTo>
                  <a:lnTo>
                    <a:pt x="34" y="75"/>
                  </a:lnTo>
                  <a:lnTo>
                    <a:pt x="34" y="89"/>
                  </a:lnTo>
                  <a:lnTo>
                    <a:pt x="21" y="89"/>
                  </a:lnTo>
                  <a:lnTo>
                    <a:pt x="21" y="96"/>
                  </a:lnTo>
                  <a:lnTo>
                    <a:pt x="62" y="96"/>
                  </a:lnTo>
                  <a:lnTo>
                    <a:pt x="62" y="8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9769" name="Freeform 134"/>
            <p:cNvSpPr>
              <a:spLocks noChangeAspect="1"/>
            </p:cNvSpPr>
            <p:nvPr/>
          </p:nvSpPr>
          <p:spPr bwMode="auto">
            <a:xfrm>
              <a:off x="2254" y="2404"/>
              <a:ext cx="69" cy="96"/>
            </a:xfrm>
            <a:custGeom>
              <a:avLst/>
              <a:gdLst>
                <a:gd name="T0" fmla="*/ 69 w 69"/>
                <a:gd name="T1" fmla="*/ 89 h 96"/>
                <a:gd name="T2" fmla="*/ 62 w 69"/>
                <a:gd name="T3" fmla="*/ 89 h 96"/>
                <a:gd name="T4" fmla="*/ 62 w 69"/>
                <a:gd name="T5" fmla="*/ 75 h 96"/>
                <a:gd name="T6" fmla="*/ 62 w 69"/>
                <a:gd name="T7" fmla="*/ 55 h 96"/>
                <a:gd name="T8" fmla="*/ 62 w 69"/>
                <a:gd name="T9" fmla="*/ 41 h 96"/>
                <a:gd name="T10" fmla="*/ 56 w 69"/>
                <a:gd name="T11" fmla="*/ 34 h 96"/>
                <a:gd name="T12" fmla="*/ 42 w 69"/>
                <a:gd name="T13" fmla="*/ 27 h 96"/>
                <a:gd name="T14" fmla="*/ 35 w 69"/>
                <a:gd name="T15" fmla="*/ 34 h 96"/>
                <a:gd name="T16" fmla="*/ 21 w 69"/>
                <a:gd name="T17" fmla="*/ 41 h 96"/>
                <a:gd name="T18" fmla="*/ 21 w 69"/>
                <a:gd name="T19" fmla="*/ 41 h 96"/>
                <a:gd name="T20" fmla="*/ 21 w 69"/>
                <a:gd name="T21" fmla="*/ 0 h 96"/>
                <a:gd name="T22" fmla="*/ 21 w 69"/>
                <a:gd name="T23" fmla="*/ 0 h 96"/>
                <a:gd name="T24" fmla="*/ 14 w 69"/>
                <a:gd name="T25" fmla="*/ 7 h 96"/>
                <a:gd name="T26" fmla="*/ 0 w 69"/>
                <a:gd name="T27" fmla="*/ 7 h 96"/>
                <a:gd name="T28" fmla="*/ 0 w 69"/>
                <a:gd name="T29" fmla="*/ 7 h 96"/>
                <a:gd name="T30" fmla="*/ 0 w 69"/>
                <a:gd name="T31" fmla="*/ 7 h 96"/>
                <a:gd name="T32" fmla="*/ 7 w 69"/>
                <a:gd name="T33" fmla="*/ 13 h 96"/>
                <a:gd name="T34" fmla="*/ 7 w 69"/>
                <a:gd name="T35" fmla="*/ 13 h 96"/>
                <a:gd name="T36" fmla="*/ 7 w 69"/>
                <a:gd name="T37" fmla="*/ 75 h 96"/>
                <a:gd name="T38" fmla="*/ 7 w 69"/>
                <a:gd name="T39" fmla="*/ 89 h 96"/>
                <a:gd name="T40" fmla="*/ 0 w 69"/>
                <a:gd name="T41" fmla="*/ 89 h 96"/>
                <a:gd name="T42" fmla="*/ 0 w 69"/>
                <a:gd name="T43" fmla="*/ 96 h 96"/>
                <a:gd name="T44" fmla="*/ 28 w 69"/>
                <a:gd name="T45" fmla="*/ 96 h 96"/>
                <a:gd name="T46" fmla="*/ 28 w 69"/>
                <a:gd name="T47" fmla="*/ 89 h 96"/>
                <a:gd name="T48" fmla="*/ 21 w 69"/>
                <a:gd name="T49" fmla="*/ 89 h 96"/>
                <a:gd name="T50" fmla="*/ 21 w 69"/>
                <a:gd name="T51" fmla="*/ 75 h 96"/>
                <a:gd name="T52" fmla="*/ 21 w 69"/>
                <a:gd name="T53" fmla="*/ 48 h 96"/>
                <a:gd name="T54" fmla="*/ 28 w 69"/>
                <a:gd name="T55" fmla="*/ 41 h 96"/>
                <a:gd name="T56" fmla="*/ 35 w 69"/>
                <a:gd name="T57" fmla="*/ 34 h 96"/>
                <a:gd name="T58" fmla="*/ 42 w 69"/>
                <a:gd name="T59" fmla="*/ 41 h 96"/>
                <a:gd name="T60" fmla="*/ 49 w 69"/>
                <a:gd name="T61" fmla="*/ 55 h 96"/>
                <a:gd name="T62" fmla="*/ 49 w 69"/>
                <a:gd name="T63" fmla="*/ 75 h 96"/>
                <a:gd name="T64" fmla="*/ 42 w 69"/>
                <a:gd name="T65" fmla="*/ 89 h 96"/>
                <a:gd name="T66" fmla="*/ 35 w 69"/>
                <a:gd name="T67" fmla="*/ 89 h 96"/>
                <a:gd name="T68" fmla="*/ 35 w 69"/>
                <a:gd name="T69" fmla="*/ 96 h 96"/>
                <a:gd name="T70" fmla="*/ 69 w 69"/>
                <a:gd name="T71" fmla="*/ 96 h 96"/>
                <a:gd name="T72" fmla="*/ 69 w 69"/>
                <a:gd name="T73" fmla="*/ 89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
                <a:gd name="T112" fmla="*/ 0 h 96"/>
                <a:gd name="T113" fmla="*/ 69 w 69"/>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 h="96">
                  <a:moveTo>
                    <a:pt x="69" y="89"/>
                  </a:moveTo>
                  <a:lnTo>
                    <a:pt x="62" y="89"/>
                  </a:lnTo>
                  <a:lnTo>
                    <a:pt x="62" y="75"/>
                  </a:lnTo>
                  <a:lnTo>
                    <a:pt x="62" y="55"/>
                  </a:lnTo>
                  <a:lnTo>
                    <a:pt x="62" y="41"/>
                  </a:lnTo>
                  <a:lnTo>
                    <a:pt x="56" y="34"/>
                  </a:lnTo>
                  <a:lnTo>
                    <a:pt x="42" y="27"/>
                  </a:lnTo>
                  <a:lnTo>
                    <a:pt x="35" y="34"/>
                  </a:lnTo>
                  <a:lnTo>
                    <a:pt x="21" y="41"/>
                  </a:lnTo>
                  <a:lnTo>
                    <a:pt x="21" y="0"/>
                  </a:lnTo>
                  <a:lnTo>
                    <a:pt x="14" y="7"/>
                  </a:lnTo>
                  <a:lnTo>
                    <a:pt x="0" y="7"/>
                  </a:lnTo>
                  <a:lnTo>
                    <a:pt x="7" y="13"/>
                  </a:lnTo>
                  <a:lnTo>
                    <a:pt x="7" y="75"/>
                  </a:lnTo>
                  <a:lnTo>
                    <a:pt x="7" y="89"/>
                  </a:lnTo>
                  <a:lnTo>
                    <a:pt x="0" y="89"/>
                  </a:lnTo>
                  <a:lnTo>
                    <a:pt x="0" y="96"/>
                  </a:lnTo>
                  <a:lnTo>
                    <a:pt x="28" y="96"/>
                  </a:lnTo>
                  <a:lnTo>
                    <a:pt x="28" y="89"/>
                  </a:lnTo>
                  <a:lnTo>
                    <a:pt x="21" y="89"/>
                  </a:lnTo>
                  <a:lnTo>
                    <a:pt x="21" y="75"/>
                  </a:lnTo>
                  <a:lnTo>
                    <a:pt x="21" y="48"/>
                  </a:lnTo>
                  <a:lnTo>
                    <a:pt x="28" y="41"/>
                  </a:lnTo>
                  <a:lnTo>
                    <a:pt x="35" y="34"/>
                  </a:lnTo>
                  <a:lnTo>
                    <a:pt x="42" y="41"/>
                  </a:lnTo>
                  <a:lnTo>
                    <a:pt x="49" y="55"/>
                  </a:lnTo>
                  <a:lnTo>
                    <a:pt x="49" y="75"/>
                  </a:lnTo>
                  <a:lnTo>
                    <a:pt x="42" y="89"/>
                  </a:lnTo>
                  <a:lnTo>
                    <a:pt x="35" y="89"/>
                  </a:lnTo>
                  <a:lnTo>
                    <a:pt x="35" y="96"/>
                  </a:lnTo>
                  <a:lnTo>
                    <a:pt x="69" y="96"/>
                  </a:lnTo>
                  <a:lnTo>
                    <a:pt x="69" y="8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29701" name="Text Box 136"/>
          <p:cNvSpPr txBox="1">
            <a:spLocks noChangeArrowheads="1"/>
          </p:cNvSpPr>
          <p:nvPr/>
        </p:nvSpPr>
        <p:spPr bwMode="auto">
          <a:xfrm>
            <a:off x="6516435" y="5938254"/>
            <a:ext cx="1891714" cy="369332"/>
          </a:xfrm>
          <a:prstGeom prst="rect">
            <a:avLst/>
          </a:prstGeom>
          <a:noFill/>
          <a:ln w="9525">
            <a:noFill/>
            <a:miter lim="800000"/>
          </a:ln>
        </p:spPr>
        <p:txBody>
          <a:bodyPr wrap="square">
            <a:spAutoFit/>
          </a:bodyPr>
          <a:lstStyle/>
          <a:p>
            <a:pPr fontAlgn="base">
              <a:spcBef>
                <a:spcPct val="50000"/>
              </a:spcBef>
              <a:spcAft>
                <a:spcPct val="0"/>
              </a:spcAft>
            </a:pPr>
            <a:r>
              <a:rPr lang="zh-CN" altLang="en-US" b="1" dirty="0">
                <a:solidFill>
                  <a:srgbClr val="000000"/>
                </a:solidFill>
              </a:rPr>
              <a:t>戴维南等效电路</a:t>
            </a:r>
            <a:endParaRPr lang="en-US" altLang="zh-CN" b="1" dirty="0">
              <a:solidFill>
                <a:srgbClr val="000000"/>
              </a:solidFill>
            </a:endParaRPr>
          </a:p>
        </p:txBody>
      </p:sp>
      <p:sp>
        <p:nvSpPr>
          <p:cNvPr id="29702" name="Text Box 137"/>
          <p:cNvSpPr txBox="1">
            <a:spLocks noChangeArrowheads="1"/>
          </p:cNvSpPr>
          <p:nvPr/>
        </p:nvSpPr>
        <p:spPr bwMode="auto">
          <a:xfrm>
            <a:off x="6166517" y="2470677"/>
            <a:ext cx="2061406" cy="338554"/>
          </a:xfrm>
          <a:prstGeom prst="rect">
            <a:avLst/>
          </a:prstGeom>
          <a:noFill/>
          <a:ln w="9525">
            <a:noFill/>
            <a:miter lim="800000"/>
          </a:ln>
        </p:spPr>
        <p:txBody>
          <a:bodyPr wrap="square">
            <a:spAutoFit/>
          </a:bodyPr>
          <a:lstStyle/>
          <a:p>
            <a:pPr fontAlgn="base">
              <a:spcBef>
                <a:spcPct val="50000"/>
              </a:spcBef>
              <a:spcAft>
                <a:spcPct val="0"/>
              </a:spcAft>
            </a:pPr>
            <a:r>
              <a:rPr lang="zh-CN" altLang="en-US" sz="1600" b="1" dirty="0">
                <a:solidFill>
                  <a:srgbClr val="000000"/>
                </a:solidFill>
              </a:rPr>
              <a:t>原始线性二端电路</a:t>
            </a:r>
            <a:endParaRPr lang="en-US" altLang="zh-CN" sz="1600" b="1" dirty="0">
              <a:solidFill>
                <a:srgbClr val="000000"/>
              </a:solidFill>
            </a:endParaRPr>
          </a:p>
        </p:txBody>
      </p:sp>
      <p:sp>
        <p:nvSpPr>
          <p:cNvPr id="29703" name="Text Box 137"/>
          <p:cNvSpPr txBox="1">
            <a:spLocks noChangeArrowheads="1"/>
          </p:cNvSpPr>
          <p:nvPr/>
        </p:nvSpPr>
        <p:spPr bwMode="auto">
          <a:xfrm>
            <a:off x="7272508" y="1236573"/>
            <a:ext cx="599613" cy="707886"/>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000000"/>
                </a:solidFill>
              </a:rPr>
              <a:t>负载</a:t>
            </a:r>
            <a:endParaRPr lang="en-US" altLang="zh-CN" sz="2000" b="1" dirty="0">
              <a:solidFill>
                <a:srgbClr val="000000"/>
              </a:solidFill>
            </a:endParaRPr>
          </a:p>
        </p:txBody>
      </p:sp>
      <p:sp>
        <p:nvSpPr>
          <p:cNvPr id="29704" name="Text Box 137"/>
          <p:cNvSpPr txBox="1">
            <a:spLocks noChangeArrowheads="1"/>
          </p:cNvSpPr>
          <p:nvPr/>
        </p:nvSpPr>
        <p:spPr bwMode="auto">
          <a:xfrm>
            <a:off x="4369863" y="1161418"/>
            <a:ext cx="1397414" cy="861774"/>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000000"/>
                </a:solidFill>
              </a:rPr>
              <a:t>    线性</a:t>
            </a:r>
            <a:endParaRPr lang="en-US" altLang="zh-CN" sz="2000" b="1" dirty="0">
              <a:solidFill>
                <a:srgbClr val="000000"/>
              </a:solidFill>
            </a:endParaRPr>
          </a:p>
          <a:p>
            <a:pPr fontAlgn="base">
              <a:spcBef>
                <a:spcPct val="50000"/>
              </a:spcBef>
              <a:spcAft>
                <a:spcPct val="0"/>
              </a:spcAft>
            </a:pPr>
            <a:r>
              <a:rPr lang="zh-CN" altLang="en-US" sz="2000" b="1" dirty="0">
                <a:solidFill>
                  <a:srgbClr val="000000"/>
                </a:solidFill>
              </a:rPr>
              <a:t>二端电路</a:t>
            </a:r>
            <a:endParaRPr lang="en-US" altLang="zh-CN" sz="2000" b="1" dirty="0">
              <a:solidFill>
                <a:srgbClr val="000000"/>
              </a:solidFill>
            </a:endParaRPr>
          </a:p>
        </p:txBody>
      </p:sp>
      <p:sp>
        <p:nvSpPr>
          <p:cNvPr id="29706" name="Text Box 137"/>
          <p:cNvSpPr txBox="1">
            <a:spLocks noChangeArrowheads="1"/>
          </p:cNvSpPr>
          <p:nvPr/>
        </p:nvSpPr>
        <p:spPr bwMode="auto">
          <a:xfrm>
            <a:off x="7719007" y="4521642"/>
            <a:ext cx="594639" cy="707886"/>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000000"/>
                </a:solidFill>
              </a:rPr>
              <a:t>负载</a:t>
            </a:r>
            <a:endParaRPr lang="en-US" altLang="zh-CN" sz="2000" b="1" dirty="0">
              <a:solidFill>
                <a:srgbClr val="000000"/>
              </a:solidFill>
            </a:endParaRPr>
          </a:p>
        </p:txBody>
      </p:sp>
      <p:sp>
        <p:nvSpPr>
          <p:cNvPr id="109" name="Text Box 2"/>
          <p:cNvSpPr txBox="1">
            <a:spLocks noChangeArrowheads="1"/>
          </p:cNvSpPr>
          <p:nvPr/>
        </p:nvSpPr>
        <p:spPr bwMode="auto">
          <a:xfrm>
            <a:off x="533597" y="1091646"/>
            <a:ext cx="3193188" cy="3906967"/>
          </a:xfrm>
          <a:prstGeom prst="rect">
            <a:avLst/>
          </a:prstGeom>
          <a:noFill/>
          <a:ln w="76200" cmpd="tri">
            <a:solidFill>
              <a:schemeClr val="tx1"/>
            </a:solidFill>
            <a:miter lim="800000"/>
          </a:ln>
        </p:spPr>
        <p:txBody>
          <a:bodyPr wrap="square">
            <a:spAutoFit/>
          </a:bodyPr>
          <a:lstStyle/>
          <a:p>
            <a:pPr fontAlgn="base">
              <a:lnSpc>
                <a:spcPct val="150000"/>
              </a:lnSpc>
              <a:spcBef>
                <a:spcPct val="50000"/>
              </a:spcBef>
              <a:spcAft>
                <a:spcPct val="0"/>
              </a:spcAft>
            </a:pPr>
            <a:r>
              <a:rPr lang="zh-CN" altLang="en-US" sz="2400" b="1" dirty="0">
                <a:solidFill>
                  <a:srgbClr val="FF0000"/>
                </a:solidFill>
                <a:latin typeface="Arial Black" panose="020B0A04020102020204" pitchFamily="34" charset="0"/>
              </a:rPr>
              <a:t>戴维南定理</a:t>
            </a:r>
            <a:r>
              <a:rPr lang="zh-CN" altLang="en-US" sz="2400" b="1" dirty="0">
                <a:solidFill>
                  <a:srgbClr val="000000"/>
                </a:solidFill>
                <a:latin typeface="Arial Black" panose="020B0A04020102020204" pitchFamily="34" charset="0"/>
              </a:rPr>
              <a:t>：线性二端电路，可由电压源       串联电阻    组成的等效电路代替，其中    为端子开路电压，   为独立电源关闭时端子的输入或等效电阻。</a:t>
            </a:r>
            <a:endParaRPr lang="en-US" altLang="zh-CN" sz="2400" b="1" dirty="0">
              <a:solidFill>
                <a:srgbClr val="000000"/>
              </a:solidFill>
              <a:latin typeface="Arial Black" panose="020B0A04020102020204" pitchFamily="34" charset="0"/>
            </a:endParaRPr>
          </a:p>
        </p:txBody>
      </p:sp>
      <p:graphicFrame>
        <p:nvGraphicFramePr>
          <p:cNvPr id="110" name="Object 154"/>
          <p:cNvGraphicFramePr>
            <a:graphicFrameLocks noChangeAspect="1"/>
          </p:cNvGraphicFramePr>
          <p:nvPr/>
        </p:nvGraphicFramePr>
        <p:xfrm>
          <a:off x="3358501" y="1826928"/>
          <a:ext cx="368300" cy="381000"/>
        </p:xfrm>
        <a:graphic>
          <a:graphicData uri="http://schemas.openxmlformats.org/presentationml/2006/ole">
            <mc:AlternateContent xmlns:mc="http://schemas.openxmlformats.org/markup-compatibility/2006">
              <mc:Choice xmlns:v="urn:schemas-microsoft-com:vml" Requires="v">
                <p:oleObj spid="_x0000_s22587" name="Equation" r:id="rId4" imgW="4572000" imgH="5486400" progId="">
                  <p:embed/>
                </p:oleObj>
              </mc:Choice>
              <mc:Fallback>
                <p:oleObj name="Equation" r:id="rId4" imgW="4572000" imgH="5486400" progId="">
                  <p:embed/>
                  <p:pic>
                    <p:nvPicPr>
                      <p:cNvPr id="0" name="图片 22528"/>
                      <p:cNvPicPr>
                        <a:picLocks noChangeAspect="1"/>
                      </p:cNvPicPr>
                      <p:nvPr/>
                    </p:nvPicPr>
                    <p:blipFill>
                      <a:blip r:embed="rId5"/>
                      <a:stretch>
                        <a:fillRect/>
                      </a:stretch>
                    </p:blipFill>
                    <p:spPr>
                      <a:xfrm>
                        <a:off x="3358501" y="1826928"/>
                        <a:ext cx="368300" cy="381000"/>
                      </a:xfrm>
                      <a:prstGeom prst="rect">
                        <a:avLst/>
                      </a:prstGeom>
                      <a:noFill/>
                      <a:ln w="9525">
                        <a:noFill/>
                      </a:ln>
                    </p:spPr>
                  </p:pic>
                </p:oleObj>
              </mc:Fallback>
            </mc:AlternateContent>
          </a:graphicData>
        </a:graphic>
      </p:graphicFrame>
      <p:graphicFrame>
        <p:nvGraphicFramePr>
          <p:cNvPr id="111" name="Object 156"/>
          <p:cNvGraphicFramePr>
            <a:graphicFrameLocks noChangeAspect="1"/>
          </p:cNvGraphicFramePr>
          <p:nvPr/>
        </p:nvGraphicFramePr>
        <p:xfrm>
          <a:off x="1866795" y="2327138"/>
          <a:ext cx="406400" cy="430213"/>
        </p:xfrm>
        <a:graphic>
          <a:graphicData uri="http://schemas.openxmlformats.org/presentationml/2006/ole">
            <mc:AlternateContent xmlns:mc="http://schemas.openxmlformats.org/markup-compatibility/2006">
              <mc:Choice xmlns:v="urn:schemas-microsoft-com:vml" Requires="v">
                <p:oleObj spid="_x0000_s22588" name="Equation" r:id="rId6" imgW="5181600" imgH="5486400" progId="">
                  <p:embed/>
                </p:oleObj>
              </mc:Choice>
              <mc:Fallback>
                <p:oleObj name="Equation" r:id="rId6" imgW="5181600" imgH="5486400" progId="">
                  <p:embed/>
                  <p:pic>
                    <p:nvPicPr>
                      <p:cNvPr id="0" name="图片 22569"/>
                      <p:cNvPicPr>
                        <a:picLocks noChangeAspect="1"/>
                      </p:cNvPicPr>
                      <p:nvPr/>
                    </p:nvPicPr>
                    <p:blipFill>
                      <a:blip r:embed="rId7"/>
                      <a:stretch>
                        <a:fillRect/>
                      </a:stretch>
                    </p:blipFill>
                    <p:spPr>
                      <a:xfrm>
                        <a:off x="1866795" y="2327138"/>
                        <a:ext cx="406400" cy="430213"/>
                      </a:xfrm>
                      <a:prstGeom prst="rect">
                        <a:avLst/>
                      </a:prstGeom>
                      <a:noFill/>
                      <a:ln w="9525">
                        <a:noFill/>
                      </a:ln>
                    </p:spPr>
                  </p:pic>
                </p:oleObj>
              </mc:Fallback>
            </mc:AlternateContent>
          </a:graphicData>
        </a:graphic>
      </p:graphicFrame>
      <p:graphicFrame>
        <p:nvGraphicFramePr>
          <p:cNvPr id="116" name="Object 156"/>
          <p:cNvGraphicFramePr>
            <a:graphicFrameLocks noChangeAspect="1"/>
          </p:cNvGraphicFramePr>
          <p:nvPr/>
        </p:nvGraphicFramePr>
        <p:xfrm>
          <a:off x="2965047" y="3429000"/>
          <a:ext cx="406400" cy="430213"/>
        </p:xfrm>
        <a:graphic>
          <a:graphicData uri="http://schemas.openxmlformats.org/presentationml/2006/ole">
            <mc:AlternateContent xmlns:mc="http://schemas.openxmlformats.org/markup-compatibility/2006">
              <mc:Choice xmlns:v="urn:schemas-microsoft-com:vml" Requires="v">
                <p:oleObj spid="_x0000_s22589" name="Equation" r:id="rId8" imgW="5181600" imgH="5486400" progId="">
                  <p:embed/>
                </p:oleObj>
              </mc:Choice>
              <mc:Fallback>
                <p:oleObj name="Equation" r:id="rId8" imgW="5181600" imgH="5486400" progId="">
                  <p:embed/>
                  <p:pic>
                    <p:nvPicPr>
                      <p:cNvPr id="0" name="图片 22570"/>
                      <p:cNvPicPr>
                        <a:picLocks noChangeAspect="1"/>
                      </p:cNvPicPr>
                      <p:nvPr/>
                    </p:nvPicPr>
                    <p:blipFill>
                      <a:blip r:embed="rId7"/>
                      <a:stretch>
                        <a:fillRect/>
                      </a:stretch>
                    </p:blipFill>
                    <p:spPr>
                      <a:xfrm>
                        <a:off x="2965047" y="3429000"/>
                        <a:ext cx="406400" cy="430213"/>
                      </a:xfrm>
                      <a:prstGeom prst="rect">
                        <a:avLst/>
                      </a:prstGeom>
                      <a:noFill/>
                      <a:ln w="9525">
                        <a:noFill/>
                      </a:ln>
                    </p:spPr>
                  </p:pic>
                </p:oleObj>
              </mc:Fallback>
            </mc:AlternateContent>
          </a:graphicData>
        </a:graphic>
      </p:graphicFrame>
      <p:graphicFrame>
        <p:nvGraphicFramePr>
          <p:cNvPr id="117" name="Object 154"/>
          <p:cNvGraphicFramePr>
            <a:graphicFrameLocks noChangeAspect="1"/>
          </p:cNvGraphicFramePr>
          <p:nvPr/>
        </p:nvGraphicFramePr>
        <p:xfrm>
          <a:off x="3168247" y="2916378"/>
          <a:ext cx="368300" cy="381000"/>
        </p:xfrm>
        <a:graphic>
          <a:graphicData uri="http://schemas.openxmlformats.org/presentationml/2006/ole">
            <mc:AlternateContent xmlns:mc="http://schemas.openxmlformats.org/markup-compatibility/2006">
              <mc:Choice xmlns:v="urn:schemas-microsoft-com:vml" Requires="v">
                <p:oleObj spid="_x0000_s22590" name="Equation" r:id="rId9" imgW="4572000" imgH="5486400" progId="">
                  <p:embed/>
                </p:oleObj>
              </mc:Choice>
              <mc:Fallback>
                <p:oleObj name="Equation" r:id="rId9" imgW="4572000" imgH="5486400" progId="">
                  <p:embed/>
                  <p:pic>
                    <p:nvPicPr>
                      <p:cNvPr id="0" name="图片 22571"/>
                      <p:cNvPicPr>
                        <a:picLocks noChangeAspect="1"/>
                      </p:cNvPicPr>
                      <p:nvPr/>
                    </p:nvPicPr>
                    <p:blipFill>
                      <a:blip r:embed="rId5"/>
                      <a:stretch>
                        <a:fillRect/>
                      </a:stretch>
                    </p:blipFill>
                    <p:spPr>
                      <a:xfrm>
                        <a:off x="3168247" y="2916378"/>
                        <a:ext cx="368300" cy="381000"/>
                      </a:xfrm>
                      <a:prstGeom prst="rect">
                        <a:avLst/>
                      </a:prstGeom>
                      <a:noFill/>
                      <a:ln w="9525">
                        <a:noFill/>
                      </a:ln>
                    </p:spPr>
                  </p:pic>
                </p:oleObj>
              </mc:Fallback>
            </mc:AlternateContent>
          </a:graphicData>
        </a:graphic>
      </p:graphicFrame>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38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1187450" y="2420938"/>
            <a:ext cx="7199313" cy="2592387"/>
            <a:chOff x="197" y="1252"/>
            <a:chExt cx="5353" cy="1794"/>
          </a:xfrm>
        </p:grpSpPr>
        <p:sp>
          <p:nvSpPr>
            <p:cNvPr id="31751" name="Freeform 4"/>
            <p:cNvSpPr/>
            <p:nvPr/>
          </p:nvSpPr>
          <p:spPr bwMode="auto">
            <a:xfrm>
              <a:off x="1626" y="1252"/>
              <a:ext cx="1" cy="1097"/>
            </a:xfrm>
            <a:custGeom>
              <a:avLst/>
              <a:gdLst>
                <a:gd name="T0" fmla="*/ 0 w 1"/>
                <a:gd name="T1" fmla="*/ 1097 h 1097"/>
                <a:gd name="T2" fmla="*/ 0 w 1"/>
                <a:gd name="T3" fmla="*/ 0 h 1097"/>
                <a:gd name="T4" fmla="*/ 0 w 1"/>
                <a:gd name="T5" fmla="*/ 1097 h 1097"/>
                <a:gd name="T6" fmla="*/ 0 w 1"/>
                <a:gd name="T7" fmla="*/ 1097 h 1097"/>
                <a:gd name="T8" fmla="*/ 0 60000 65536"/>
                <a:gd name="T9" fmla="*/ 0 60000 65536"/>
                <a:gd name="T10" fmla="*/ 0 60000 65536"/>
                <a:gd name="T11" fmla="*/ 0 60000 65536"/>
                <a:gd name="T12" fmla="*/ 0 w 1"/>
                <a:gd name="T13" fmla="*/ 0 h 1097"/>
                <a:gd name="T14" fmla="*/ 1 w 1"/>
                <a:gd name="T15" fmla="*/ 1097 h 1097"/>
              </a:gdLst>
              <a:ahLst/>
              <a:cxnLst>
                <a:cxn ang="T8">
                  <a:pos x="T0" y="T1"/>
                </a:cxn>
                <a:cxn ang="T9">
                  <a:pos x="T2" y="T3"/>
                </a:cxn>
                <a:cxn ang="T10">
                  <a:pos x="T4" y="T5"/>
                </a:cxn>
                <a:cxn ang="T11">
                  <a:pos x="T6" y="T7"/>
                </a:cxn>
              </a:cxnLst>
              <a:rect l="T12" t="T13" r="T14" b="T15"/>
              <a:pathLst>
                <a:path w="1" h="1097">
                  <a:moveTo>
                    <a:pt x="0" y="1097"/>
                  </a:moveTo>
                  <a:lnTo>
                    <a:pt x="0" y="0"/>
                  </a:lnTo>
                  <a:lnTo>
                    <a:pt x="0" y="1097"/>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2" name="Freeform 5"/>
            <p:cNvSpPr>
              <a:spLocks noEditPoints="1"/>
            </p:cNvSpPr>
            <p:nvPr/>
          </p:nvSpPr>
          <p:spPr bwMode="auto">
            <a:xfrm>
              <a:off x="197" y="1252"/>
              <a:ext cx="1429" cy="1"/>
            </a:xfrm>
            <a:custGeom>
              <a:avLst/>
              <a:gdLst>
                <a:gd name="T0" fmla="*/ 1429 w 1429"/>
                <a:gd name="T1" fmla="*/ 0 h 1"/>
                <a:gd name="T2" fmla="*/ 0 w 1429"/>
                <a:gd name="T3" fmla="*/ 0 h 1"/>
                <a:gd name="T4" fmla="*/ 1429 w 1429"/>
                <a:gd name="T5" fmla="*/ 0 h 1"/>
                <a:gd name="T6" fmla="*/ 1429 w 1429"/>
                <a:gd name="T7" fmla="*/ 0 h 1"/>
                <a:gd name="T8" fmla="*/ 1429 w 1429"/>
                <a:gd name="T9" fmla="*/ 0 h 1"/>
                <a:gd name="T10" fmla="*/ 1429 w 1429"/>
                <a:gd name="T11" fmla="*/ 0 h 1"/>
                <a:gd name="T12" fmla="*/ 1429 w 1429"/>
                <a:gd name="T13" fmla="*/ 0 h 1"/>
                <a:gd name="T14" fmla="*/ 0 60000 65536"/>
                <a:gd name="T15" fmla="*/ 0 60000 65536"/>
                <a:gd name="T16" fmla="*/ 0 60000 65536"/>
                <a:gd name="T17" fmla="*/ 0 60000 65536"/>
                <a:gd name="T18" fmla="*/ 0 60000 65536"/>
                <a:gd name="T19" fmla="*/ 0 60000 65536"/>
                <a:gd name="T20" fmla="*/ 0 60000 65536"/>
                <a:gd name="T21" fmla="*/ 0 w 1429"/>
                <a:gd name="T22" fmla="*/ 0 h 1"/>
                <a:gd name="T23" fmla="*/ 1429 w 1429"/>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9" h="1">
                  <a:moveTo>
                    <a:pt x="1429" y="0"/>
                  </a:moveTo>
                  <a:lnTo>
                    <a:pt x="0" y="0"/>
                  </a:lnTo>
                  <a:lnTo>
                    <a:pt x="1429" y="0"/>
                  </a:lnTo>
                  <a:close/>
                  <a:moveTo>
                    <a:pt x="1429" y="0"/>
                  </a:moveTo>
                  <a:lnTo>
                    <a:pt x="1429"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3" name="Freeform 6"/>
            <p:cNvSpPr>
              <a:spLocks noEditPoints="1"/>
            </p:cNvSpPr>
            <p:nvPr/>
          </p:nvSpPr>
          <p:spPr bwMode="auto">
            <a:xfrm>
              <a:off x="197" y="1252"/>
              <a:ext cx="1" cy="1097"/>
            </a:xfrm>
            <a:custGeom>
              <a:avLst/>
              <a:gdLst>
                <a:gd name="T0" fmla="*/ 0 w 1"/>
                <a:gd name="T1" fmla="*/ 0 h 1097"/>
                <a:gd name="T2" fmla="*/ 0 w 1"/>
                <a:gd name="T3" fmla="*/ 1097 h 1097"/>
                <a:gd name="T4" fmla="*/ 0 w 1"/>
                <a:gd name="T5" fmla="*/ 0 h 1097"/>
                <a:gd name="T6" fmla="*/ 0 w 1"/>
                <a:gd name="T7" fmla="*/ 0 h 1097"/>
                <a:gd name="T8" fmla="*/ 0 w 1"/>
                <a:gd name="T9" fmla="*/ 0 h 1097"/>
                <a:gd name="T10" fmla="*/ 0 w 1"/>
                <a:gd name="T11" fmla="*/ 0 h 1097"/>
                <a:gd name="T12" fmla="*/ 0 w 1"/>
                <a:gd name="T13" fmla="*/ 0 h 1097"/>
                <a:gd name="T14" fmla="*/ 0 60000 65536"/>
                <a:gd name="T15" fmla="*/ 0 60000 65536"/>
                <a:gd name="T16" fmla="*/ 0 60000 65536"/>
                <a:gd name="T17" fmla="*/ 0 60000 65536"/>
                <a:gd name="T18" fmla="*/ 0 60000 65536"/>
                <a:gd name="T19" fmla="*/ 0 60000 65536"/>
                <a:gd name="T20" fmla="*/ 0 60000 65536"/>
                <a:gd name="T21" fmla="*/ 0 w 1"/>
                <a:gd name="T22" fmla="*/ 0 h 1097"/>
                <a:gd name="T23" fmla="*/ 1 w 1"/>
                <a:gd name="T24" fmla="*/ 1097 h 10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97">
                  <a:moveTo>
                    <a:pt x="0" y="0"/>
                  </a:moveTo>
                  <a:lnTo>
                    <a:pt x="0" y="1097"/>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4" name="Freeform 7"/>
            <p:cNvSpPr>
              <a:spLocks noEditPoints="1"/>
            </p:cNvSpPr>
            <p:nvPr/>
          </p:nvSpPr>
          <p:spPr bwMode="auto">
            <a:xfrm>
              <a:off x="197" y="2349"/>
              <a:ext cx="1429" cy="1"/>
            </a:xfrm>
            <a:custGeom>
              <a:avLst/>
              <a:gdLst>
                <a:gd name="T0" fmla="*/ 0 w 1429"/>
                <a:gd name="T1" fmla="*/ 0 h 1"/>
                <a:gd name="T2" fmla="*/ 1429 w 1429"/>
                <a:gd name="T3" fmla="*/ 0 h 1"/>
                <a:gd name="T4" fmla="*/ 0 w 1429"/>
                <a:gd name="T5" fmla="*/ 0 h 1"/>
                <a:gd name="T6" fmla="*/ 0 w 1429"/>
                <a:gd name="T7" fmla="*/ 0 h 1"/>
                <a:gd name="T8" fmla="*/ 0 w 1429"/>
                <a:gd name="T9" fmla="*/ 0 h 1"/>
                <a:gd name="T10" fmla="*/ 0 w 1429"/>
                <a:gd name="T11" fmla="*/ 0 h 1"/>
                <a:gd name="T12" fmla="*/ 0 w 1429"/>
                <a:gd name="T13" fmla="*/ 0 h 1"/>
                <a:gd name="T14" fmla="*/ 0 60000 65536"/>
                <a:gd name="T15" fmla="*/ 0 60000 65536"/>
                <a:gd name="T16" fmla="*/ 0 60000 65536"/>
                <a:gd name="T17" fmla="*/ 0 60000 65536"/>
                <a:gd name="T18" fmla="*/ 0 60000 65536"/>
                <a:gd name="T19" fmla="*/ 0 60000 65536"/>
                <a:gd name="T20" fmla="*/ 0 60000 65536"/>
                <a:gd name="T21" fmla="*/ 0 w 1429"/>
                <a:gd name="T22" fmla="*/ 0 h 1"/>
                <a:gd name="T23" fmla="*/ 1429 w 1429"/>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9" h="1">
                  <a:moveTo>
                    <a:pt x="0" y="0"/>
                  </a:moveTo>
                  <a:lnTo>
                    <a:pt x="1429" y="0"/>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5" name="Freeform 8"/>
            <p:cNvSpPr/>
            <p:nvPr/>
          </p:nvSpPr>
          <p:spPr bwMode="auto">
            <a:xfrm>
              <a:off x="1626" y="234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6" name="Freeform 9"/>
            <p:cNvSpPr/>
            <p:nvPr/>
          </p:nvSpPr>
          <p:spPr bwMode="auto">
            <a:xfrm>
              <a:off x="1632" y="2214"/>
              <a:ext cx="737" cy="1"/>
            </a:xfrm>
            <a:custGeom>
              <a:avLst/>
              <a:gdLst>
                <a:gd name="T0" fmla="*/ 0 w 737"/>
                <a:gd name="T1" fmla="*/ 0 h 1"/>
                <a:gd name="T2" fmla="*/ 737 w 737"/>
                <a:gd name="T3" fmla="*/ 0 h 1"/>
                <a:gd name="T4" fmla="*/ 0 w 737"/>
                <a:gd name="T5" fmla="*/ 0 h 1"/>
                <a:gd name="T6" fmla="*/ 0 w 737"/>
                <a:gd name="T7" fmla="*/ 0 h 1"/>
                <a:gd name="T8" fmla="*/ 0 60000 65536"/>
                <a:gd name="T9" fmla="*/ 0 60000 65536"/>
                <a:gd name="T10" fmla="*/ 0 60000 65536"/>
                <a:gd name="T11" fmla="*/ 0 60000 65536"/>
                <a:gd name="T12" fmla="*/ 0 w 737"/>
                <a:gd name="T13" fmla="*/ 0 h 1"/>
                <a:gd name="T14" fmla="*/ 737 w 737"/>
                <a:gd name="T15" fmla="*/ 1 h 1"/>
              </a:gdLst>
              <a:ahLst/>
              <a:cxnLst>
                <a:cxn ang="T8">
                  <a:pos x="T0" y="T1"/>
                </a:cxn>
                <a:cxn ang="T9">
                  <a:pos x="T2" y="T3"/>
                </a:cxn>
                <a:cxn ang="T10">
                  <a:pos x="T4" y="T5"/>
                </a:cxn>
                <a:cxn ang="T11">
                  <a:pos x="T6" y="T7"/>
                </a:cxn>
              </a:cxnLst>
              <a:rect l="T12" t="T13" r="T14" b="T15"/>
              <a:pathLst>
                <a:path w="737" h="1">
                  <a:moveTo>
                    <a:pt x="0" y="0"/>
                  </a:moveTo>
                  <a:lnTo>
                    <a:pt x="737"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7" name="Freeform 10"/>
            <p:cNvSpPr/>
            <p:nvPr/>
          </p:nvSpPr>
          <p:spPr bwMode="auto">
            <a:xfrm>
              <a:off x="1626" y="1388"/>
              <a:ext cx="743" cy="1"/>
            </a:xfrm>
            <a:custGeom>
              <a:avLst/>
              <a:gdLst>
                <a:gd name="T0" fmla="*/ 743 w 743"/>
                <a:gd name="T1" fmla="*/ 0 h 1"/>
                <a:gd name="T2" fmla="*/ 0 w 743"/>
                <a:gd name="T3" fmla="*/ 0 h 1"/>
                <a:gd name="T4" fmla="*/ 743 w 743"/>
                <a:gd name="T5" fmla="*/ 0 h 1"/>
                <a:gd name="T6" fmla="*/ 743 w 743"/>
                <a:gd name="T7" fmla="*/ 0 h 1"/>
                <a:gd name="T8" fmla="*/ 0 60000 65536"/>
                <a:gd name="T9" fmla="*/ 0 60000 65536"/>
                <a:gd name="T10" fmla="*/ 0 60000 65536"/>
                <a:gd name="T11" fmla="*/ 0 60000 65536"/>
                <a:gd name="T12" fmla="*/ 0 w 743"/>
                <a:gd name="T13" fmla="*/ 0 h 1"/>
                <a:gd name="T14" fmla="*/ 743 w 743"/>
                <a:gd name="T15" fmla="*/ 1 h 1"/>
              </a:gdLst>
              <a:ahLst/>
              <a:cxnLst>
                <a:cxn ang="T8">
                  <a:pos x="T0" y="T1"/>
                </a:cxn>
                <a:cxn ang="T9">
                  <a:pos x="T2" y="T3"/>
                </a:cxn>
                <a:cxn ang="T10">
                  <a:pos x="T4" y="T5"/>
                </a:cxn>
                <a:cxn ang="T11">
                  <a:pos x="T6" y="T7"/>
                </a:cxn>
              </a:cxnLst>
              <a:rect l="T12" t="T13" r="T14" b="T15"/>
              <a:pathLst>
                <a:path w="743" h="1">
                  <a:moveTo>
                    <a:pt x="743" y="0"/>
                  </a:moveTo>
                  <a:lnTo>
                    <a:pt x="0" y="0"/>
                  </a:lnTo>
                  <a:lnTo>
                    <a:pt x="74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8" name="Freeform 36"/>
            <p:cNvSpPr/>
            <p:nvPr/>
          </p:nvSpPr>
          <p:spPr bwMode="auto">
            <a:xfrm>
              <a:off x="2337" y="1349"/>
              <a:ext cx="71" cy="84"/>
            </a:xfrm>
            <a:custGeom>
              <a:avLst/>
              <a:gdLst>
                <a:gd name="T0" fmla="*/ 32 w 71"/>
                <a:gd name="T1" fmla="*/ 84 h 84"/>
                <a:gd name="T2" fmla="*/ 45 w 71"/>
                <a:gd name="T3" fmla="*/ 84 h 84"/>
                <a:gd name="T4" fmla="*/ 58 w 71"/>
                <a:gd name="T5" fmla="*/ 71 h 84"/>
                <a:gd name="T6" fmla="*/ 71 w 71"/>
                <a:gd name="T7" fmla="*/ 58 h 84"/>
                <a:gd name="T8" fmla="*/ 71 w 71"/>
                <a:gd name="T9" fmla="*/ 39 h 84"/>
                <a:gd name="T10" fmla="*/ 71 w 71"/>
                <a:gd name="T11" fmla="*/ 19 h 84"/>
                <a:gd name="T12" fmla="*/ 58 w 71"/>
                <a:gd name="T13" fmla="*/ 13 h 84"/>
                <a:gd name="T14" fmla="*/ 32 w 71"/>
                <a:gd name="T15" fmla="*/ 0 h 84"/>
                <a:gd name="T16" fmla="*/ 6 w 71"/>
                <a:gd name="T17" fmla="*/ 13 h 84"/>
                <a:gd name="T18" fmla="*/ 0 w 71"/>
                <a:gd name="T19" fmla="*/ 39 h 84"/>
                <a:gd name="T20" fmla="*/ 6 w 71"/>
                <a:gd name="T21" fmla="*/ 71 h 84"/>
                <a:gd name="T22" fmla="*/ 19 w 71"/>
                <a:gd name="T23" fmla="*/ 84 h 84"/>
                <a:gd name="T24" fmla="*/ 32 w 71"/>
                <a:gd name="T25" fmla="*/ 84 h 84"/>
                <a:gd name="T26" fmla="*/ 32 w 71"/>
                <a:gd name="T27" fmla="*/ 84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
                <a:gd name="T43" fmla="*/ 0 h 84"/>
                <a:gd name="T44" fmla="*/ 71 w 71"/>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 h="84">
                  <a:moveTo>
                    <a:pt x="32" y="84"/>
                  </a:moveTo>
                  <a:lnTo>
                    <a:pt x="45" y="84"/>
                  </a:lnTo>
                  <a:lnTo>
                    <a:pt x="58" y="71"/>
                  </a:lnTo>
                  <a:lnTo>
                    <a:pt x="71" y="58"/>
                  </a:lnTo>
                  <a:lnTo>
                    <a:pt x="71" y="39"/>
                  </a:lnTo>
                  <a:lnTo>
                    <a:pt x="71" y="19"/>
                  </a:lnTo>
                  <a:lnTo>
                    <a:pt x="58" y="13"/>
                  </a:lnTo>
                  <a:lnTo>
                    <a:pt x="32" y="0"/>
                  </a:lnTo>
                  <a:lnTo>
                    <a:pt x="6" y="13"/>
                  </a:lnTo>
                  <a:lnTo>
                    <a:pt x="0" y="39"/>
                  </a:lnTo>
                  <a:lnTo>
                    <a:pt x="6" y="71"/>
                  </a:lnTo>
                  <a:lnTo>
                    <a:pt x="19" y="84"/>
                  </a:lnTo>
                  <a:lnTo>
                    <a:pt x="32" y="84"/>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59" name="Freeform 37"/>
            <p:cNvSpPr/>
            <p:nvPr/>
          </p:nvSpPr>
          <p:spPr bwMode="auto">
            <a:xfrm>
              <a:off x="2369" y="1388"/>
              <a:ext cx="39" cy="45"/>
            </a:xfrm>
            <a:custGeom>
              <a:avLst/>
              <a:gdLst>
                <a:gd name="T0" fmla="*/ 0 w 39"/>
                <a:gd name="T1" fmla="*/ 45 h 45"/>
                <a:gd name="T2" fmla="*/ 13 w 39"/>
                <a:gd name="T3" fmla="*/ 45 h 45"/>
                <a:gd name="T4" fmla="*/ 26 w 39"/>
                <a:gd name="T5" fmla="*/ 32 h 45"/>
                <a:gd name="T6" fmla="*/ 39 w 39"/>
                <a:gd name="T7" fmla="*/ 19 h 45"/>
                <a:gd name="T8" fmla="*/ 39 w 39"/>
                <a:gd name="T9" fmla="*/ 0 h 45"/>
                <a:gd name="T10" fmla="*/ 39 w 39"/>
                <a:gd name="T11" fmla="*/ 0 h 45"/>
                <a:gd name="T12" fmla="*/ 39 w 39"/>
                <a:gd name="T13" fmla="*/ 19 h 45"/>
                <a:gd name="T14" fmla="*/ 26 w 39"/>
                <a:gd name="T15" fmla="*/ 32 h 45"/>
                <a:gd name="T16" fmla="*/ 13 w 39"/>
                <a:gd name="T17" fmla="*/ 45 h 45"/>
                <a:gd name="T18" fmla="*/ 0 w 39"/>
                <a:gd name="T19" fmla="*/ 45 h 45"/>
                <a:gd name="T20" fmla="*/ 0 w 39"/>
                <a:gd name="T21" fmla="*/ 45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45"/>
                <a:gd name="T35" fmla="*/ 39 w 39"/>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45">
                  <a:moveTo>
                    <a:pt x="0" y="45"/>
                  </a:moveTo>
                  <a:lnTo>
                    <a:pt x="13" y="45"/>
                  </a:lnTo>
                  <a:lnTo>
                    <a:pt x="26" y="32"/>
                  </a:lnTo>
                  <a:lnTo>
                    <a:pt x="39" y="19"/>
                  </a:lnTo>
                  <a:lnTo>
                    <a:pt x="39" y="0"/>
                  </a:lnTo>
                  <a:lnTo>
                    <a:pt x="39" y="19"/>
                  </a:lnTo>
                  <a:lnTo>
                    <a:pt x="26" y="32"/>
                  </a:lnTo>
                  <a:lnTo>
                    <a:pt x="13" y="45"/>
                  </a:lnTo>
                  <a:lnTo>
                    <a:pt x="0" y="4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0" name="Freeform 38"/>
            <p:cNvSpPr>
              <a:spLocks noEditPoints="1"/>
            </p:cNvSpPr>
            <p:nvPr/>
          </p:nvSpPr>
          <p:spPr bwMode="auto">
            <a:xfrm>
              <a:off x="2369" y="1349"/>
              <a:ext cx="39" cy="39"/>
            </a:xfrm>
            <a:custGeom>
              <a:avLst/>
              <a:gdLst>
                <a:gd name="T0" fmla="*/ 39 w 39"/>
                <a:gd name="T1" fmla="*/ 39 h 39"/>
                <a:gd name="T2" fmla="*/ 39 w 39"/>
                <a:gd name="T3" fmla="*/ 19 h 39"/>
                <a:gd name="T4" fmla="*/ 26 w 39"/>
                <a:gd name="T5" fmla="*/ 13 h 39"/>
                <a:gd name="T6" fmla="*/ 0 w 39"/>
                <a:gd name="T7" fmla="*/ 0 h 39"/>
                <a:gd name="T8" fmla="*/ 0 w 39"/>
                <a:gd name="T9" fmla="*/ 0 h 39"/>
                <a:gd name="T10" fmla="*/ 26 w 39"/>
                <a:gd name="T11" fmla="*/ 13 h 39"/>
                <a:gd name="T12" fmla="*/ 39 w 39"/>
                <a:gd name="T13" fmla="*/ 19 h 39"/>
                <a:gd name="T14" fmla="*/ 39 w 39"/>
                <a:gd name="T15" fmla="*/ 39 h 39"/>
                <a:gd name="T16" fmla="*/ 39 w 39"/>
                <a:gd name="T17" fmla="*/ 39 h 39"/>
                <a:gd name="T18" fmla="*/ 39 w 39"/>
                <a:gd name="T19" fmla="*/ 39 h 39"/>
                <a:gd name="T20" fmla="*/ 39 w 39"/>
                <a:gd name="T21" fmla="*/ 39 h 39"/>
                <a:gd name="T22" fmla="*/ 39 w 39"/>
                <a:gd name="T23" fmla="*/ 39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9"/>
                <a:gd name="T38" fmla="*/ 39 w 3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9">
                  <a:moveTo>
                    <a:pt x="39" y="39"/>
                  </a:moveTo>
                  <a:lnTo>
                    <a:pt x="39" y="19"/>
                  </a:lnTo>
                  <a:lnTo>
                    <a:pt x="26" y="13"/>
                  </a:lnTo>
                  <a:lnTo>
                    <a:pt x="0" y="0"/>
                  </a:lnTo>
                  <a:lnTo>
                    <a:pt x="26" y="13"/>
                  </a:lnTo>
                  <a:lnTo>
                    <a:pt x="39" y="19"/>
                  </a:lnTo>
                  <a:lnTo>
                    <a:pt x="39" y="39"/>
                  </a:lnTo>
                  <a:close/>
                  <a:moveTo>
                    <a:pt x="39" y="39"/>
                  </a:moveTo>
                  <a:lnTo>
                    <a:pt x="39"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1" name="Freeform 39"/>
            <p:cNvSpPr>
              <a:spLocks noEditPoints="1"/>
            </p:cNvSpPr>
            <p:nvPr/>
          </p:nvSpPr>
          <p:spPr bwMode="auto">
            <a:xfrm>
              <a:off x="2337" y="1349"/>
              <a:ext cx="32" cy="39"/>
            </a:xfrm>
            <a:custGeom>
              <a:avLst/>
              <a:gdLst>
                <a:gd name="T0" fmla="*/ 32 w 32"/>
                <a:gd name="T1" fmla="*/ 0 h 39"/>
                <a:gd name="T2" fmla="*/ 6 w 32"/>
                <a:gd name="T3" fmla="*/ 13 h 39"/>
                <a:gd name="T4" fmla="*/ 0 w 32"/>
                <a:gd name="T5" fmla="*/ 39 h 39"/>
                <a:gd name="T6" fmla="*/ 0 w 32"/>
                <a:gd name="T7" fmla="*/ 39 h 39"/>
                <a:gd name="T8" fmla="*/ 6 w 32"/>
                <a:gd name="T9" fmla="*/ 13 h 39"/>
                <a:gd name="T10" fmla="*/ 32 w 32"/>
                <a:gd name="T11" fmla="*/ 0 h 39"/>
                <a:gd name="T12" fmla="*/ 32 w 32"/>
                <a:gd name="T13" fmla="*/ 0 h 39"/>
                <a:gd name="T14" fmla="*/ 32 w 32"/>
                <a:gd name="T15" fmla="*/ 0 h 39"/>
                <a:gd name="T16" fmla="*/ 32 w 32"/>
                <a:gd name="T17" fmla="*/ 0 h 39"/>
                <a:gd name="T18" fmla="*/ 32 w 32"/>
                <a:gd name="T19" fmla="*/ 0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39"/>
                <a:gd name="T32" fmla="*/ 32 w 32"/>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39">
                  <a:moveTo>
                    <a:pt x="32" y="0"/>
                  </a:moveTo>
                  <a:lnTo>
                    <a:pt x="6" y="13"/>
                  </a:lnTo>
                  <a:lnTo>
                    <a:pt x="0" y="39"/>
                  </a:lnTo>
                  <a:lnTo>
                    <a:pt x="6" y="13"/>
                  </a:lnTo>
                  <a:lnTo>
                    <a:pt x="32" y="0"/>
                  </a:lnTo>
                  <a:close/>
                  <a:moveTo>
                    <a:pt x="32" y="0"/>
                  </a:moveTo>
                  <a:lnTo>
                    <a:pt x="3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2" name="Freeform 40"/>
            <p:cNvSpPr>
              <a:spLocks noEditPoints="1"/>
            </p:cNvSpPr>
            <p:nvPr/>
          </p:nvSpPr>
          <p:spPr bwMode="auto">
            <a:xfrm>
              <a:off x="2337" y="1388"/>
              <a:ext cx="32" cy="45"/>
            </a:xfrm>
            <a:custGeom>
              <a:avLst/>
              <a:gdLst>
                <a:gd name="T0" fmla="*/ 0 w 32"/>
                <a:gd name="T1" fmla="*/ 0 h 45"/>
                <a:gd name="T2" fmla="*/ 6 w 32"/>
                <a:gd name="T3" fmla="*/ 32 h 45"/>
                <a:gd name="T4" fmla="*/ 19 w 32"/>
                <a:gd name="T5" fmla="*/ 45 h 45"/>
                <a:gd name="T6" fmla="*/ 32 w 32"/>
                <a:gd name="T7" fmla="*/ 45 h 45"/>
                <a:gd name="T8" fmla="*/ 32 w 32"/>
                <a:gd name="T9" fmla="*/ 45 h 45"/>
                <a:gd name="T10" fmla="*/ 19 w 32"/>
                <a:gd name="T11" fmla="*/ 45 h 45"/>
                <a:gd name="T12" fmla="*/ 6 w 32"/>
                <a:gd name="T13" fmla="*/ 32 h 45"/>
                <a:gd name="T14" fmla="*/ 0 w 32"/>
                <a:gd name="T15" fmla="*/ 0 h 45"/>
                <a:gd name="T16" fmla="*/ 0 w 32"/>
                <a:gd name="T17" fmla="*/ 0 h 45"/>
                <a:gd name="T18" fmla="*/ 0 w 32"/>
                <a:gd name="T19" fmla="*/ 0 h 45"/>
                <a:gd name="T20" fmla="*/ 0 w 32"/>
                <a:gd name="T21" fmla="*/ 0 h 45"/>
                <a:gd name="T22" fmla="*/ 0 w 32"/>
                <a:gd name="T23" fmla="*/ 0 h 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45"/>
                <a:gd name="T38" fmla="*/ 32 w 32"/>
                <a:gd name="T39" fmla="*/ 45 h 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45">
                  <a:moveTo>
                    <a:pt x="0" y="0"/>
                  </a:moveTo>
                  <a:lnTo>
                    <a:pt x="6" y="32"/>
                  </a:lnTo>
                  <a:lnTo>
                    <a:pt x="19" y="45"/>
                  </a:lnTo>
                  <a:lnTo>
                    <a:pt x="32" y="45"/>
                  </a:lnTo>
                  <a:lnTo>
                    <a:pt x="19" y="45"/>
                  </a:lnTo>
                  <a:lnTo>
                    <a:pt x="6" y="3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3" name="Freeform 41"/>
            <p:cNvSpPr/>
            <p:nvPr/>
          </p:nvSpPr>
          <p:spPr bwMode="auto">
            <a:xfrm>
              <a:off x="2369" y="14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4" name="Freeform 42"/>
            <p:cNvSpPr/>
            <p:nvPr/>
          </p:nvSpPr>
          <p:spPr bwMode="auto">
            <a:xfrm>
              <a:off x="2337" y="2168"/>
              <a:ext cx="71" cy="84"/>
            </a:xfrm>
            <a:custGeom>
              <a:avLst/>
              <a:gdLst>
                <a:gd name="T0" fmla="*/ 32 w 71"/>
                <a:gd name="T1" fmla="*/ 84 h 84"/>
                <a:gd name="T2" fmla="*/ 45 w 71"/>
                <a:gd name="T3" fmla="*/ 84 h 84"/>
                <a:gd name="T4" fmla="*/ 58 w 71"/>
                <a:gd name="T5" fmla="*/ 71 h 84"/>
                <a:gd name="T6" fmla="*/ 71 w 71"/>
                <a:gd name="T7" fmla="*/ 58 h 84"/>
                <a:gd name="T8" fmla="*/ 71 w 71"/>
                <a:gd name="T9" fmla="*/ 46 h 84"/>
                <a:gd name="T10" fmla="*/ 71 w 71"/>
                <a:gd name="T11" fmla="*/ 26 h 84"/>
                <a:gd name="T12" fmla="*/ 58 w 71"/>
                <a:gd name="T13" fmla="*/ 13 h 84"/>
                <a:gd name="T14" fmla="*/ 45 w 71"/>
                <a:gd name="T15" fmla="*/ 7 h 84"/>
                <a:gd name="T16" fmla="*/ 32 w 71"/>
                <a:gd name="T17" fmla="*/ 0 h 84"/>
                <a:gd name="T18" fmla="*/ 19 w 71"/>
                <a:gd name="T19" fmla="*/ 7 h 84"/>
                <a:gd name="T20" fmla="*/ 6 w 71"/>
                <a:gd name="T21" fmla="*/ 13 h 84"/>
                <a:gd name="T22" fmla="*/ 0 w 71"/>
                <a:gd name="T23" fmla="*/ 46 h 84"/>
                <a:gd name="T24" fmla="*/ 6 w 71"/>
                <a:gd name="T25" fmla="*/ 71 h 84"/>
                <a:gd name="T26" fmla="*/ 19 w 71"/>
                <a:gd name="T27" fmla="*/ 84 h 84"/>
                <a:gd name="T28" fmla="*/ 32 w 71"/>
                <a:gd name="T29" fmla="*/ 84 h 84"/>
                <a:gd name="T30" fmla="*/ 32 w 71"/>
                <a:gd name="T31" fmla="*/ 84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84"/>
                <a:gd name="T50" fmla="*/ 71 w 71"/>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84">
                  <a:moveTo>
                    <a:pt x="32" y="84"/>
                  </a:moveTo>
                  <a:lnTo>
                    <a:pt x="45" y="84"/>
                  </a:lnTo>
                  <a:lnTo>
                    <a:pt x="58" y="71"/>
                  </a:lnTo>
                  <a:lnTo>
                    <a:pt x="71" y="58"/>
                  </a:lnTo>
                  <a:lnTo>
                    <a:pt x="71" y="46"/>
                  </a:lnTo>
                  <a:lnTo>
                    <a:pt x="71" y="26"/>
                  </a:lnTo>
                  <a:lnTo>
                    <a:pt x="58" y="13"/>
                  </a:lnTo>
                  <a:lnTo>
                    <a:pt x="45" y="7"/>
                  </a:lnTo>
                  <a:lnTo>
                    <a:pt x="32" y="0"/>
                  </a:lnTo>
                  <a:lnTo>
                    <a:pt x="19" y="7"/>
                  </a:lnTo>
                  <a:lnTo>
                    <a:pt x="6" y="13"/>
                  </a:lnTo>
                  <a:lnTo>
                    <a:pt x="0" y="46"/>
                  </a:lnTo>
                  <a:lnTo>
                    <a:pt x="6" y="71"/>
                  </a:lnTo>
                  <a:lnTo>
                    <a:pt x="19" y="84"/>
                  </a:lnTo>
                  <a:lnTo>
                    <a:pt x="32" y="84"/>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5" name="Freeform 43"/>
            <p:cNvSpPr/>
            <p:nvPr/>
          </p:nvSpPr>
          <p:spPr bwMode="auto">
            <a:xfrm>
              <a:off x="2369" y="2214"/>
              <a:ext cx="39" cy="38"/>
            </a:xfrm>
            <a:custGeom>
              <a:avLst/>
              <a:gdLst>
                <a:gd name="T0" fmla="*/ 0 w 39"/>
                <a:gd name="T1" fmla="*/ 38 h 38"/>
                <a:gd name="T2" fmla="*/ 13 w 39"/>
                <a:gd name="T3" fmla="*/ 38 h 38"/>
                <a:gd name="T4" fmla="*/ 26 w 39"/>
                <a:gd name="T5" fmla="*/ 25 h 38"/>
                <a:gd name="T6" fmla="*/ 39 w 39"/>
                <a:gd name="T7" fmla="*/ 12 h 38"/>
                <a:gd name="T8" fmla="*/ 39 w 39"/>
                <a:gd name="T9" fmla="*/ 0 h 38"/>
                <a:gd name="T10" fmla="*/ 39 w 39"/>
                <a:gd name="T11" fmla="*/ 0 h 38"/>
                <a:gd name="T12" fmla="*/ 39 w 39"/>
                <a:gd name="T13" fmla="*/ 12 h 38"/>
                <a:gd name="T14" fmla="*/ 26 w 39"/>
                <a:gd name="T15" fmla="*/ 25 h 38"/>
                <a:gd name="T16" fmla="*/ 13 w 39"/>
                <a:gd name="T17" fmla="*/ 38 h 38"/>
                <a:gd name="T18" fmla="*/ 0 w 39"/>
                <a:gd name="T19" fmla="*/ 38 h 38"/>
                <a:gd name="T20" fmla="*/ 0 w 39"/>
                <a:gd name="T21" fmla="*/ 38 h 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38"/>
                <a:gd name="T35" fmla="*/ 39 w 39"/>
                <a:gd name="T36" fmla="*/ 38 h 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38">
                  <a:moveTo>
                    <a:pt x="0" y="38"/>
                  </a:moveTo>
                  <a:lnTo>
                    <a:pt x="13" y="38"/>
                  </a:lnTo>
                  <a:lnTo>
                    <a:pt x="26" y="25"/>
                  </a:lnTo>
                  <a:lnTo>
                    <a:pt x="39" y="12"/>
                  </a:lnTo>
                  <a:lnTo>
                    <a:pt x="39" y="0"/>
                  </a:lnTo>
                  <a:lnTo>
                    <a:pt x="39" y="12"/>
                  </a:lnTo>
                  <a:lnTo>
                    <a:pt x="26" y="25"/>
                  </a:lnTo>
                  <a:lnTo>
                    <a:pt x="13" y="38"/>
                  </a:lnTo>
                  <a:lnTo>
                    <a:pt x="0"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6" name="Freeform 44"/>
            <p:cNvSpPr>
              <a:spLocks noEditPoints="1"/>
            </p:cNvSpPr>
            <p:nvPr/>
          </p:nvSpPr>
          <p:spPr bwMode="auto">
            <a:xfrm>
              <a:off x="2369" y="2168"/>
              <a:ext cx="39" cy="46"/>
            </a:xfrm>
            <a:custGeom>
              <a:avLst/>
              <a:gdLst>
                <a:gd name="T0" fmla="*/ 39 w 39"/>
                <a:gd name="T1" fmla="*/ 46 h 46"/>
                <a:gd name="T2" fmla="*/ 39 w 39"/>
                <a:gd name="T3" fmla="*/ 26 h 46"/>
                <a:gd name="T4" fmla="*/ 26 w 39"/>
                <a:gd name="T5" fmla="*/ 13 h 46"/>
                <a:gd name="T6" fmla="*/ 13 w 39"/>
                <a:gd name="T7" fmla="*/ 7 h 46"/>
                <a:gd name="T8" fmla="*/ 0 w 39"/>
                <a:gd name="T9" fmla="*/ 0 h 46"/>
                <a:gd name="T10" fmla="*/ 0 w 39"/>
                <a:gd name="T11" fmla="*/ 0 h 46"/>
                <a:gd name="T12" fmla="*/ 13 w 39"/>
                <a:gd name="T13" fmla="*/ 7 h 46"/>
                <a:gd name="T14" fmla="*/ 26 w 39"/>
                <a:gd name="T15" fmla="*/ 13 h 46"/>
                <a:gd name="T16" fmla="*/ 39 w 39"/>
                <a:gd name="T17" fmla="*/ 26 h 46"/>
                <a:gd name="T18" fmla="*/ 39 w 39"/>
                <a:gd name="T19" fmla="*/ 46 h 46"/>
                <a:gd name="T20" fmla="*/ 39 w 39"/>
                <a:gd name="T21" fmla="*/ 46 h 46"/>
                <a:gd name="T22" fmla="*/ 39 w 39"/>
                <a:gd name="T23" fmla="*/ 46 h 46"/>
                <a:gd name="T24" fmla="*/ 39 w 39"/>
                <a:gd name="T25" fmla="*/ 46 h 46"/>
                <a:gd name="T26" fmla="*/ 39 w 39"/>
                <a:gd name="T27" fmla="*/ 46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46"/>
                <a:gd name="T44" fmla="*/ 39 w 39"/>
                <a:gd name="T45" fmla="*/ 46 h 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46">
                  <a:moveTo>
                    <a:pt x="39" y="46"/>
                  </a:moveTo>
                  <a:lnTo>
                    <a:pt x="39" y="26"/>
                  </a:lnTo>
                  <a:lnTo>
                    <a:pt x="26" y="13"/>
                  </a:lnTo>
                  <a:lnTo>
                    <a:pt x="13" y="7"/>
                  </a:lnTo>
                  <a:lnTo>
                    <a:pt x="0" y="0"/>
                  </a:lnTo>
                  <a:lnTo>
                    <a:pt x="13" y="7"/>
                  </a:lnTo>
                  <a:lnTo>
                    <a:pt x="26" y="13"/>
                  </a:lnTo>
                  <a:lnTo>
                    <a:pt x="39" y="26"/>
                  </a:lnTo>
                  <a:lnTo>
                    <a:pt x="39" y="46"/>
                  </a:lnTo>
                  <a:close/>
                  <a:moveTo>
                    <a:pt x="39" y="46"/>
                  </a:moveTo>
                  <a:lnTo>
                    <a:pt x="39" y="4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7" name="Freeform 45"/>
            <p:cNvSpPr>
              <a:spLocks noEditPoints="1"/>
            </p:cNvSpPr>
            <p:nvPr/>
          </p:nvSpPr>
          <p:spPr bwMode="auto">
            <a:xfrm>
              <a:off x="2337" y="2168"/>
              <a:ext cx="32" cy="46"/>
            </a:xfrm>
            <a:custGeom>
              <a:avLst/>
              <a:gdLst>
                <a:gd name="T0" fmla="*/ 32 w 32"/>
                <a:gd name="T1" fmla="*/ 0 h 46"/>
                <a:gd name="T2" fmla="*/ 19 w 32"/>
                <a:gd name="T3" fmla="*/ 7 h 46"/>
                <a:gd name="T4" fmla="*/ 6 w 32"/>
                <a:gd name="T5" fmla="*/ 13 h 46"/>
                <a:gd name="T6" fmla="*/ 0 w 32"/>
                <a:gd name="T7" fmla="*/ 46 h 46"/>
                <a:gd name="T8" fmla="*/ 0 w 32"/>
                <a:gd name="T9" fmla="*/ 46 h 46"/>
                <a:gd name="T10" fmla="*/ 6 w 32"/>
                <a:gd name="T11" fmla="*/ 13 h 46"/>
                <a:gd name="T12" fmla="*/ 19 w 32"/>
                <a:gd name="T13" fmla="*/ 7 h 46"/>
                <a:gd name="T14" fmla="*/ 32 w 32"/>
                <a:gd name="T15" fmla="*/ 0 h 46"/>
                <a:gd name="T16" fmla="*/ 32 w 32"/>
                <a:gd name="T17" fmla="*/ 0 h 46"/>
                <a:gd name="T18" fmla="*/ 32 w 32"/>
                <a:gd name="T19" fmla="*/ 0 h 46"/>
                <a:gd name="T20" fmla="*/ 32 w 32"/>
                <a:gd name="T21" fmla="*/ 0 h 46"/>
                <a:gd name="T22" fmla="*/ 32 w 32"/>
                <a:gd name="T23" fmla="*/ 0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46"/>
                <a:gd name="T38" fmla="*/ 32 w 3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46">
                  <a:moveTo>
                    <a:pt x="32" y="0"/>
                  </a:moveTo>
                  <a:lnTo>
                    <a:pt x="19" y="7"/>
                  </a:lnTo>
                  <a:lnTo>
                    <a:pt x="6" y="13"/>
                  </a:lnTo>
                  <a:lnTo>
                    <a:pt x="0" y="46"/>
                  </a:lnTo>
                  <a:lnTo>
                    <a:pt x="6" y="13"/>
                  </a:lnTo>
                  <a:lnTo>
                    <a:pt x="19" y="7"/>
                  </a:lnTo>
                  <a:lnTo>
                    <a:pt x="32" y="0"/>
                  </a:lnTo>
                  <a:close/>
                  <a:moveTo>
                    <a:pt x="32" y="0"/>
                  </a:moveTo>
                  <a:lnTo>
                    <a:pt x="3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8" name="Freeform 46"/>
            <p:cNvSpPr>
              <a:spLocks noEditPoints="1"/>
            </p:cNvSpPr>
            <p:nvPr/>
          </p:nvSpPr>
          <p:spPr bwMode="auto">
            <a:xfrm>
              <a:off x="2337" y="2214"/>
              <a:ext cx="32" cy="38"/>
            </a:xfrm>
            <a:custGeom>
              <a:avLst/>
              <a:gdLst>
                <a:gd name="T0" fmla="*/ 0 w 32"/>
                <a:gd name="T1" fmla="*/ 0 h 38"/>
                <a:gd name="T2" fmla="*/ 6 w 32"/>
                <a:gd name="T3" fmla="*/ 25 h 38"/>
                <a:gd name="T4" fmla="*/ 19 w 32"/>
                <a:gd name="T5" fmla="*/ 38 h 38"/>
                <a:gd name="T6" fmla="*/ 32 w 32"/>
                <a:gd name="T7" fmla="*/ 38 h 38"/>
                <a:gd name="T8" fmla="*/ 32 w 32"/>
                <a:gd name="T9" fmla="*/ 38 h 38"/>
                <a:gd name="T10" fmla="*/ 19 w 32"/>
                <a:gd name="T11" fmla="*/ 38 h 38"/>
                <a:gd name="T12" fmla="*/ 6 w 32"/>
                <a:gd name="T13" fmla="*/ 25 h 38"/>
                <a:gd name="T14" fmla="*/ 0 w 32"/>
                <a:gd name="T15" fmla="*/ 0 h 38"/>
                <a:gd name="T16" fmla="*/ 0 w 32"/>
                <a:gd name="T17" fmla="*/ 0 h 38"/>
                <a:gd name="T18" fmla="*/ 0 w 32"/>
                <a:gd name="T19" fmla="*/ 0 h 38"/>
                <a:gd name="T20" fmla="*/ 0 w 32"/>
                <a:gd name="T21" fmla="*/ 0 h 38"/>
                <a:gd name="T22" fmla="*/ 0 w 32"/>
                <a:gd name="T23" fmla="*/ 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38"/>
                <a:gd name="T38" fmla="*/ 32 w 32"/>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38">
                  <a:moveTo>
                    <a:pt x="0" y="0"/>
                  </a:moveTo>
                  <a:lnTo>
                    <a:pt x="6" y="25"/>
                  </a:lnTo>
                  <a:lnTo>
                    <a:pt x="19" y="38"/>
                  </a:lnTo>
                  <a:lnTo>
                    <a:pt x="32" y="38"/>
                  </a:lnTo>
                  <a:lnTo>
                    <a:pt x="19" y="38"/>
                  </a:lnTo>
                  <a:lnTo>
                    <a:pt x="6" y="2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69" name="Freeform 47"/>
            <p:cNvSpPr/>
            <p:nvPr/>
          </p:nvSpPr>
          <p:spPr bwMode="auto">
            <a:xfrm>
              <a:off x="2369" y="225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0" name="Freeform 48"/>
            <p:cNvSpPr>
              <a:spLocks noEditPoints="1"/>
            </p:cNvSpPr>
            <p:nvPr/>
          </p:nvSpPr>
          <p:spPr bwMode="auto">
            <a:xfrm>
              <a:off x="2492" y="1349"/>
              <a:ext cx="71" cy="84"/>
            </a:xfrm>
            <a:custGeom>
              <a:avLst/>
              <a:gdLst>
                <a:gd name="T0" fmla="*/ 71 w 71"/>
                <a:gd name="T1" fmla="*/ 64 h 84"/>
                <a:gd name="T2" fmla="*/ 65 w 71"/>
                <a:gd name="T3" fmla="*/ 71 h 84"/>
                <a:gd name="T4" fmla="*/ 58 w 71"/>
                <a:gd name="T5" fmla="*/ 77 h 84"/>
                <a:gd name="T6" fmla="*/ 58 w 71"/>
                <a:gd name="T7" fmla="*/ 77 h 84"/>
                <a:gd name="T8" fmla="*/ 58 w 71"/>
                <a:gd name="T9" fmla="*/ 71 h 84"/>
                <a:gd name="T10" fmla="*/ 58 w 71"/>
                <a:gd name="T11" fmla="*/ 58 h 84"/>
                <a:gd name="T12" fmla="*/ 65 w 71"/>
                <a:gd name="T13" fmla="*/ 39 h 84"/>
                <a:gd name="T14" fmla="*/ 71 w 71"/>
                <a:gd name="T15" fmla="*/ 13 h 84"/>
                <a:gd name="T16" fmla="*/ 71 w 71"/>
                <a:gd name="T17" fmla="*/ 0 h 84"/>
                <a:gd name="T18" fmla="*/ 71 w 71"/>
                <a:gd name="T19" fmla="*/ 0 h 84"/>
                <a:gd name="T20" fmla="*/ 58 w 71"/>
                <a:gd name="T21" fmla="*/ 6 h 84"/>
                <a:gd name="T22" fmla="*/ 58 w 71"/>
                <a:gd name="T23" fmla="*/ 6 h 84"/>
                <a:gd name="T24" fmla="*/ 58 w 71"/>
                <a:gd name="T25" fmla="*/ 13 h 84"/>
                <a:gd name="T26" fmla="*/ 58 w 71"/>
                <a:gd name="T27" fmla="*/ 13 h 84"/>
                <a:gd name="T28" fmla="*/ 52 w 71"/>
                <a:gd name="T29" fmla="*/ 6 h 84"/>
                <a:gd name="T30" fmla="*/ 45 w 71"/>
                <a:gd name="T31" fmla="*/ 0 h 84"/>
                <a:gd name="T32" fmla="*/ 32 w 71"/>
                <a:gd name="T33" fmla="*/ 6 h 84"/>
                <a:gd name="T34" fmla="*/ 13 w 71"/>
                <a:gd name="T35" fmla="*/ 26 h 84"/>
                <a:gd name="T36" fmla="*/ 6 w 71"/>
                <a:gd name="T37" fmla="*/ 45 h 84"/>
                <a:gd name="T38" fmla="*/ 0 w 71"/>
                <a:gd name="T39" fmla="*/ 64 h 84"/>
                <a:gd name="T40" fmla="*/ 0 w 71"/>
                <a:gd name="T41" fmla="*/ 77 h 84"/>
                <a:gd name="T42" fmla="*/ 6 w 71"/>
                <a:gd name="T43" fmla="*/ 84 h 84"/>
                <a:gd name="T44" fmla="*/ 19 w 71"/>
                <a:gd name="T45" fmla="*/ 84 h 84"/>
                <a:gd name="T46" fmla="*/ 32 w 71"/>
                <a:gd name="T47" fmla="*/ 77 h 84"/>
                <a:gd name="T48" fmla="*/ 45 w 71"/>
                <a:gd name="T49" fmla="*/ 58 h 84"/>
                <a:gd name="T50" fmla="*/ 52 w 71"/>
                <a:gd name="T51" fmla="*/ 58 h 84"/>
                <a:gd name="T52" fmla="*/ 45 w 71"/>
                <a:gd name="T53" fmla="*/ 71 h 84"/>
                <a:gd name="T54" fmla="*/ 45 w 71"/>
                <a:gd name="T55" fmla="*/ 77 h 84"/>
                <a:gd name="T56" fmla="*/ 45 w 71"/>
                <a:gd name="T57" fmla="*/ 84 h 84"/>
                <a:gd name="T58" fmla="*/ 52 w 71"/>
                <a:gd name="T59" fmla="*/ 84 h 84"/>
                <a:gd name="T60" fmla="*/ 65 w 71"/>
                <a:gd name="T61" fmla="*/ 77 h 84"/>
                <a:gd name="T62" fmla="*/ 71 w 71"/>
                <a:gd name="T63" fmla="*/ 64 h 84"/>
                <a:gd name="T64" fmla="*/ 71 w 71"/>
                <a:gd name="T65" fmla="*/ 64 h 84"/>
                <a:gd name="T66" fmla="*/ 13 w 71"/>
                <a:gd name="T67" fmla="*/ 64 h 84"/>
                <a:gd name="T68" fmla="*/ 13 w 71"/>
                <a:gd name="T69" fmla="*/ 45 h 84"/>
                <a:gd name="T70" fmla="*/ 19 w 71"/>
                <a:gd name="T71" fmla="*/ 26 h 84"/>
                <a:gd name="T72" fmla="*/ 32 w 71"/>
                <a:gd name="T73" fmla="*/ 13 h 84"/>
                <a:gd name="T74" fmla="*/ 45 w 71"/>
                <a:gd name="T75" fmla="*/ 6 h 84"/>
                <a:gd name="T76" fmla="*/ 52 w 71"/>
                <a:gd name="T77" fmla="*/ 6 h 84"/>
                <a:gd name="T78" fmla="*/ 58 w 71"/>
                <a:gd name="T79" fmla="*/ 19 h 84"/>
                <a:gd name="T80" fmla="*/ 58 w 71"/>
                <a:gd name="T81" fmla="*/ 39 h 84"/>
                <a:gd name="T82" fmla="*/ 45 w 71"/>
                <a:gd name="T83" fmla="*/ 58 h 84"/>
                <a:gd name="T84" fmla="*/ 39 w 71"/>
                <a:gd name="T85" fmla="*/ 71 h 84"/>
                <a:gd name="T86" fmla="*/ 26 w 71"/>
                <a:gd name="T87" fmla="*/ 77 h 84"/>
                <a:gd name="T88" fmla="*/ 19 w 71"/>
                <a:gd name="T89" fmla="*/ 71 h 84"/>
                <a:gd name="T90" fmla="*/ 13 w 71"/>
                <a:gd name="T91" fmla="*/ 64 h 84"/>
                <a:gd name="T92" fmla="*/ 13 w 71"/>
                <a:gd name="T93" fmla="*/ 64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1"/>
                <a:gd name="T142" fmla="*/ 0 h 84"/>
                <a:gd name="T143" fmla="*/ 71 w 71"/>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1" h="84">
                  <a:moveTo>
                    <a:pt x="71" y="64"/>
                  </a:moveTo>
                  <a:lnTo>
                    <a:pt x="65" y="71"/>
                  </a:lnTo>
                  <a:lnTo>
                    <a:pt x="58" y="77"/>
                  </a:lnTo>
                  <a:lnTo>
                    <a:pt x="58" y="71"/>
                  </a:lnTo>
                  <a:lnTo>
                    <a:pt x="58" y="58"/>
                  </a:lnTo>
                  <a:lnTo>
                    <a:pt x="65" y="39"/>
                  </a:lnTo>
                  <a:lnTo>
                    <a:pt x="71" y="13"/>
                  </a:lnTo>
                  <a:lnTo>
                    <a:pt x="71" y="0"/>
                  </a:lnTo>
                  <a:lnTo>
                    <a:pt x="58" y="6"/>
                  </a:lnTo>
                  <a:lnTo>
                    <a:pt x="58" y="13"/>
                  </a:lnTo>
                  <a:lnTo>
                    <a:pt x="52" y="6"/>
                  </a:lnTo>
                  <a:lnTo>
                    <a:pt x="45" y="0"/>
                  </a:lnTo>
                  <a:lnTo>
                    <a:pt x="32" y="6"/>
                  </a:lnTo>
                  <a:lnTo>
                    <a:pt x="13" y="26"/>
                  </a:lnTo>
                  <a:lnTo>
                    <a:pt x="6" y="45"/>
                  </a:lnTo>
                  <a:lnTo>
                    <a:pt x="0" y="64"/>
                  </a:lnTo>
                  <a:lnTo>
                    <a:pt x="0" y="77"/>
                  </a:lnTo>
                  <a:lnTo>
                    <a:pt x="6" y="84"/>
                  </a:lnTo>
                  <a:lnTo>
                    <a:pt x="19" y="84"/>
                  </a:lnTo>
                  <a:lnTo>
                    <a:pt x="32" y="77"/>
                  </a:lnTo>
                  <a:lnTo>
                    <a:pt x="45" y="58"/>
                  </a:lnTo>
                  <a:lnTo>
                    <a:pt x="52" y="58"/>
                  </a:lnTo>
                  <a:lnTo>
                    <a:pt x="45" y="71"/>
                  </a:lnTo>
                  <a:lnTo>
                    <a:pt x="45" y="77"/>
                  </a:lnTo>
                  <a:lnTo>
                    <a:pt x="45" y="84"/>
                  </a:lnTo>
                  <a:lnTo>
                    <a:pt x="52" y="84"/>
                  </a:lnTo>
                  <a:lnTo>
                    <a:pt x="65" y="77"/>
                  </a:lnTo>
                  <a:lnTo>
                    <a:pt x="71" y="64"/>
                  </a:lnTo>
                  <a:close/>
                  <a:moveTo>
                    <a:pt x="13" y="64"/>
                  </a:moveTo>
                  <a:lnTo>
                    <a:pt x="13" y="45"/>
                  </a:lnTo>
                  <a:lnTo>
                    <a:pt x="19" y="26"/>
                  </a:lnTo>
                  <a:lnTo>
                    <a:pt x="32" y="13"/>
                  </a:lnTo>
                  <a:lnTo>
                    <a:pt x="45" y="6"/>
                  </a:lnTo>
                  <a:lnTo>
                    <a:pt x="52" y="6"/>
                  </a:lnTo>
                  <a:lnTo>
                    <a:pt x="58" y="19"/>
                  </a:lnTo>
                  <a:lnTo>
                    <a:pt x="58" y="39"/>
                  </a:lnTo>
                  <a:lnTo>
                    <a:pt x="45" y="58"/>
                  </a:lnTo>
                  <a:lnTo>
                    <a:pt x="39" y="71"/>
                  </a:lnTo>
                  <a:lnTo>
                    <a:pt x="26" y="77"/>
                  </a:lnTo>
                  <a:lnTo>
                    <a:pt x="19" y="71"/>
                  </a:lnTo>
                  <a:lnTo>
                    <a:pt x="13" y="6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1" name="Freeform 49"/>
            <p:cNvSpPr>
              <a:spLocks noEditPoints="1"/>
            </p:cNvSpPr>
            <p:nvPr/>
          </p:nvSpPr>
          <p:spPr bwMode="auto">
            <a:xfrm>
              <a:off x="2492" y="2143"/>
              <a:ext cx="71" cy="129"/>
            </a:xfrm>
            <a:custGeom>
              <a:avLst/>
              <a:gdLst>
                <a:gd name="T0" fmla="*/ 58 w 71"/>
                <a:gd name="T1" fmla="*/ 71 h 129"/>
                <a:gd name="T2" fmla="*/ 58 w 71"/>
                <a:gd name="T3" fmla="*/ 83 h 129"/>
                <a:gd name="T4" fmla="*/ 45 w 71"/>
                <a:gd name="T5" fmla="*/ 103 h 129"/>
                <a:gd name="T6" fmla="*/ 32 w 71"/>
                <a:gd name="T7" fmla="*/ 116 h 129"/>
                <a:gd name="T8" fmla="*/ 19 w 71"/>
                <a:gd name="T9" fmla="*/ 122 h 129"/>
                <a:gd name="T10" fmla="*/ 13 w 71"/>
                <a:gd name="T11" fmla="*/ 122 h 129"/>
                <a:gd name="T12" fmla="*/ 13 w 71"/>
                <a:gd name="T13" fmla="*/ 116 h 129"/>
                <a:gd name="T14" fmla="*/ 13 w 71"/>
                <a:gd name="T15" fmla="*/ 96 h 129"/>
                <a:gd name="T16" fmla="*/ 19 w 71"/>
                <a:gd name="T17" fmla="*/ 77 h 129"/>
                <a:gd name="T18" fmla="*/ 32 w 71"/>
                <a:gd name="T19" fmla="*/ 58 h 129"/>
                <a:gd name="T20" fmla="*/ 45 w 71"/>
                <a:gd name="T21" fmla="*/ 51 h 129"/>
                <a:gd name="T22" fmla="*/ 52 w 71"/>
                <a:gd name="T23" fmla="*/ 58 h 129"/>
                <a:gd name="T24" fmla="*/ 58 w 71"/>
                <a:gd name="T25" fmla="*/ 71 h 129"/>
                <a:gd name="T26" fmla="*/ 58 w 71"/>
                <a:gd name="T27" fmla="*/ 71 h 129"/>
                <a:gd name="T28" fmla="*/ 13 w 71"/>
                <a:gd name="T29" fmla="*/ 6 h 129"/>
                <a:gd name="T30" fmla="*/ 19 w 71"/>
                <a:gd name="T31" fmla="*/ 6 h 129"/>
                <a:gd name="T32" fmla="*/ 19 w 71"/>
                <a:gd name="T33" fmla="*/ 13 h 129"/>
                <a:gd name="T34" fmla="*/ 19 w 71"/>
                <a:gd name="T35" fmla="*/ 19 h 129"/>
                <a:gd name="T36" fmla="*/ 19 w 71"/>
                <a:gd name="T37" fmla="*/ 25 h 129"/>
                <a:gd name="T38" fmla="*/ 0 w 71"/>
                <a:gd name="T39" fmla="*/ 116 h 129"/>
                <a:gd name="T40" fmla="*/ 0 w 71"/>
                <a:gd name="T41" fmla="*/ 116 h 129"/>
                <a:gd name="T42" fmla="*/ 6 w 71"/>
                <a:gd name="T43" fmla="*/ 122 h 129"/>
                <a:gd name="T44" fmla="*/ 19 w 71"/>
                <a:gd name="T45" fmla="*/ 129 h 129"/>
                <a:gd name="T46" fmla="*/ 39 w 71"/>
                <a:gd name="T47" fmla="*/ 122 h 129"/>
                <a:gd name="T48" fmla="*/ 58 w 71"/>
                <a:gd name="T49" fmla="*/ 109 h 129"/>
                <a:gd name="T50" fmla="*/ 65 w 71"/>
                <a:gd name="T51" fmla="*/ 90 h 129"/>
                <a:gd name="T52" fmla="*/ 71 w 71"/>
                <a:gd name="T53" fmla="*/ 64 h 129"/>
                <a:gd name="T54" fmla="*/ 65 w 71"/>
                <a:gd name="T55" fmla="*/ 51 h 129"/>
                <a:gd name="T56" fmla="*/ 52 w 71"/>
                <a:gd name="T57" fmla="*/ 45 h 129"/>
                <a:gd name="T58" fmla="*/ 45 w 71"/>
                <a:gd name="T59" fmla="*/ 51 h 129"/>
                <a:gd name="T60" fmla="*/ 32 w 71"/>
                <a:gd name="T61" fmla="*/ 58 h 129"/>
                <a:gd name="T62" fmla="*/ 19 w 71"/>
                <a:gd name="T63" fmla="*/ 71 h 129"/>
                <a:gd name="T64" fmla="*/ 19 w 71"/>
                <a:gd name="T65" fmla="*/ 71 h 129"/>
                <a:gd name="T66" fmla="*/ 32 w 71"/>
                <a:gd name="T67" fmla="*/ 38 h 129"/>
                <a:gd name="T68" fmla="*/ 39 w 71"/>
                <a:gd name="T69" fmla="*/ 0 h 129"/>
                <a:gd name="T70" fmla="*/ 39 w 71"/>
                <a:gd name="T71" fmla="*/ 0 h 129"/>
                <a:gd name="T72" fmla="*/ 26 w 71"/>
                <a:gd name="T73" fmla="*/ 6 h 129"/>
                <a:gd name="T74" fmla="*/ 13 w 71"/>
                <a:gd name="T75" fmla="*/ 6 h 129"/>
                <a:gd name="T76" fmla="*/ 13 w 71"/>
                <a:gd name="T77" fmla="*/ 6 h 12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1"/>
                <a:gd name="T118" fmla="*/ 0 h 129"/>
                <a:gd name="T119" fmla="*/ 71 w 71"/>
                <a:gd name="T120" fmla="*/ 129 h 12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1" h="129">
                  <a:moveTo>
                    <a:pt x="58" y="71"/>
                  </a:moveTo>
                  <a:lnTo>
                    <a:pt x="58" y="83"/>
                  </a:lnTo>
                  <a:lnTo>
                    <a:pt x="45" y="103"/>
                  </a:lnTo>
                  <a:lnTo>
                    <a:pt x="32" y="116"/>
                  </a:lnTo>
                  <a:lnTo>
                    <a:pt x="19" y="122"/>
                  </a:lnTo>
                  <a:lnTo>
                    <a:pt x="13" y="122"/>
                  </a:lnTo>
                  <a:lnTo>
                    <a:pt x="13" y="116"/>
                  </a:lnTo>
                  <a:lnTo>
                    <a:pt x="13" y="96"/>
                  </a:lnTo>
                  <a:lnTo>
                    <a:pt x="19" y="77"/>
                  </a:lnTo>
                  <a:lnTo>
                    <a:pt x="32" y="58"/>
                  </a:lnTo>
                  <a:lnTo>
                    <a:pt x="45" y="51"/>
                  </a:lnTo>
                  <a:lnTo>
                    <a:pt x="52" y="58"/>
                  </a:lnTo>
                  <a:lnTo>
                    <a:pt x="58" y="71"/>
                  </a:lnTo>
                  <a:close/>
                  <a:moveTo>
                    <a:pt x="13" y="6"/>
                  </a:moveTo>
                  <a:lnTo>
                    <a:pt x="19" y="6"/>
                  </a:lnTo>
                  <a:lnTo>
                    <a:pt x="19" y="13"/>
                  </a:lnTo>
                  <a:lnTo>
                    <a:pt x="19" y="19"/>
                  </a:lnTo>
                  <a:lnTo>
                    <a:pt x="19" y="25"/>
                  </a:lnTo>
                  <a:lnTo>
                    <a:pt x="0" y="116"/>
                  </a:lnTo>
                  <a:lnTo>
                    <a:pt x="6" y="122"/>
                  </a:lnTo>
                  <a:lnTo>
                    <a:pt x="19" y="129"/>
                  </a:lnTo>
                  <a:lnTo>
                    <a:pt x="39" y="122"/>
                  </a:lnTo>
                  <a:lnTo>
                    <a:pt x="58" y="109"/>
                  </a:lnTo>
                  <a:lnTo>
                    <a:pt x="65" y="90"/>
                  </a:lnTo>
                  <a:lnTo>
                    <a:pt x="71" y="64"/>
                  </a:lnTo>
                  <a:lnTo>
                    <a:pt x="65" y="51"/>
                  </a:lnTo>
                  <a:lnTo>
                    <a:pt x="52" y="45"/>
                  </a:lnTo>
                  <a:lnTo>
                    <a:pt x="45" y="51"/>
                  </a:lnTo>
                  <a:lnTo>
                    <a:pt x="32" y="58"/>
                  </a:lnTo>
                  <a:lnTo>
                    <a:pt x="19" y="71"/>
                  </a:lnTo>
                  <a:lnTo>
                    <a:pt x="32" y="38"/>
                  </a:lnTo>
                  <a:lnTo>
                    <a:pt x="39" y="0"/>
                  </a:lnTo>
                  <a:lnTo>
                    <a:pt x="26" y="6"/>
                  </a:lnTo>
                  <a:lnTo>
                    <a:pt x="13"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2" name="Freeform 50"/>
            <p:cNvSpPr/>
            <p:nvPr/>
          </p:nvSpPr>
          <p:spPr bwMode="auto">
            <a:xfrm>
              <a:off x="2324" y="1801"/>
              <a:ext cx="64" cy="77"/>
            </a:xfrm>
            <a:custGeom>
              <a:avLst/>
              <a:gdLst>
                <a:gd name="T0" fmla="*/ 0 w 64"/>
                <a:gd name="T1" fmla="*/ 6 h 77"/>
                <a:gd name="T2" fmla="*/ 13 w 64"/>
                <a:gd name="T3" fmla="*/ 12 h 77"/>
                <a:gd name="T4" fmla="*/ 13 w 64"/>
                <a:gd name="T5" fmla="*/ 25 h 77"/>
                <a:gd name="T6" fmla="*/ 19 w 64"/>
                <a:gd name="T7" fmla="*/ 32 h 77"/>
                <a:gd name="T8" fmla="*/ 19 w 64"/>
                <a:gd name="T9" fmla="*/ 51 h 77"/>
                <a:gd name="T10" fmla="*/ 19 w 64"/>
                <a:gd name="T11" fmla="*/ 64 h 77"/>
                <a:gd name="T12" fmla="*/ 19 w 64"/>
                <a:gd name="T13" fmla="*/ 77 h 77"/>
                <a:gd name="T14" fmla="*/ 19 w 64"/>
                <a:gd name="T15" fmla="*/ 77 h 77"/>
                <a:gd name="T16" fmla="*/ 26 w 64"/>
                <a:gd name="T17" fmla="*/ 77 h 77"/>
                <a:gd name="T18" fmla="*/ 32 w 64"/>
                <a:gd name="T19" fmla="*/ 64 h 77"/>
                <a:gd name="T20" fmla="*/ 39 w 64"/>
                <a:gd name="T21" fmla="*/ 58 h 77"/>
                <a:gd name="T22" fmla="*/ 52 w 64"/>
                <a:gd name="T23" fmla="*/ 38 h 77"/>
                <a:gd name="T24" fmla="*/ 58 w 64"/>
                <a:gd name="T25" fmla="*/ 25 h 77"/>
                <a:gd name="T26" fmla="*/ 64 w 64"/>
                <a:gd name="T27" fmla="*/ 12 h 77"/>
                <a:gd name="T28" fmla="*/ 58 w 64"/>
                <a:gd name="T29" fmla="*/ 6 h 77"/>
                <a:gd name="T30" fmla="*/ 52 w 64"/>
                <a:gd name="T31" fmla="*/ 0 h 77"/>
                <a:gd name="T32" fmla="*/ 52 w 64"/>
                <a:gd name="T33" fmla="*/ 6 h 77"/>
                <a:gd name="T34" fmla="*/ 45 w 64"/>
                <a:gd name="T35" fmla="*/ 6 h 77"/>
                <a:gd name="T36" fmla="*/ 45 w 64"/>
                <a:gd name="T37" fmla="*/ 12 h 77"/>
                <a:gd name="T38" fmla="*/ 52 w 64"/>
                <a:gd name="T39" fmla="*/ 12 h 77"/>
                <a:gd name="T40" fmla="*/ 52 w 64"/>
                <a:gd name="T41" fmla="*/ 19 h 77"/>
                <a:gd name="T42" fmla="*/ 45 w 64"/>
                <a:gd name="T43" fmla="*/ 38 h 77"/>
                <a:gd name="T44" fmla="*/ 32 w 64"/>
                <a:gd name="T45" fmla="*/ 58 h 77"/>
                <a:gd name="T46" fmla="*/ 32 w 64"/>
                <a:gd name="T47" fmla="*/ 64 h 77"/>
                <a:gd name="T48" fmla="*/ 26 w 64"/>
                <a:gd name="T49" fmla="*/ 32 h 77"/>
                <a:gd name="T50" fmla="*/ 19 w 64"/>
                <a:gd name="T51" fmla="*/ 6 h 77"/>
                <a:gd name="T52" fmla="*/ 19 w 64"/>
                <a:gd name="T53" fmla="*/ 0 h 77"/>
                <a:gd name="T54" fmla="*/ 19 w 64"/>
                <a:gd name="T55" fmla="*/ 0 h 77"/>
                <a:gd name="T56" fmla="*/ 13 w 64"/>
                <a:gd name="T57" fmla="*/ 6 h 77"/>
                <a:gd name="T58" fmla="*/ 0 w 64"/>
                <a:gd name="T59" fmla="*/ 6 h 77"/>
                <a:gd name="T60" fmla="*/ 0 w 64"/>
                <a:gd name="T61" fmla="*/ 6 h 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4"/>
                <a:gd name="T94" fmla="*/ 0 h 77"/>
                <a:gd name="T95" fmla="*/ 64 w 64"/>
                <a:gd name="T96" fmla="*/ 77 h 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4" h="77">
                  <a:moveTo>
                    <a:pt x="0" y="6"/>
                  </a:moveTo>
                  <a:lnTo>
                    <a:pt x="13" y="12"/>
                  </a:lnTo>
                  <a:lnTo>
                    <a:pt x="13" y="25"/>
                  </a:lnTo>
                  <a:lnTo>
                    <a:pt x="19" y="32"/>
                  </a:lnTo>
                  <a:lnTo>
                    <a:pt x="19" y="51"/>
                  </a:lnTo>
                  <a:lnTo>
                    <a:pt x="19" y="64"/>
                  </a:lnTo>
                  <a:lnTo>
                    <a:pt x="19" y="77"/>
                  </a:lnTo>
                  <a:lnTo>
                    <a:pt x="26" y="77"/>
                  </a:lnTo>
                  <a:lnTo>
                    <a:pt x="32" y="64"/>
                  </a:lnTo>
                  <a:lnTo>
                    <a:pt x="39" y="58"/>
                  </a:lnTo>
                  <a:lnTo>
                    <a:pt x="52" y="38"/>
                  </a:lnTo>
                  <a:lnTo>
                    <a:pt x="58" y="25"/>
                  </a:lnTo>
                  <a:lnTo>
                    <a:pt x="64" y="12"/>
                  </a:lnTo>
                  <a:lnTo>
                    <a:pt x="58" y="6"/>
                  </a:lnTo>
                  <a:lnTo>
                    <a:pt x="52" y="0"/>
                  </a:lnTo>
                  <a:lnTo>
                    <a:pt x="52" y="6"/>
                  </a:lnTo>
                  <a:lnTo>
                    <a:pt x="45" y="6"/>
                  </a:lnTo>
                  <a:lnTo>
                    <a:pt x="45" y="12"/>
                  </a:lnTo>
                  <a:lnTo>
                    <a:pt x="52" y="12"/>
                  </a:lnTo>
                  <a:lnTo>
                    <a:pt x="52" y="19"/>
                  </a:lnTo>
                  <a:lnTo>
                    <a:pt x="45" y="38"/>
                  </a:lnTo>
                  <a:lnTo>
                    <a:pt x="32" y="58"/>
                  </a:lnTo>
                  <a:lnTo>
                    <a:pt x="32" y="64"/>
                  </a:lnTo>
                  <a:lnTo>
                    <a:pt x="26" y="32"/>
                  </a:lnTo>
                  <a:lnTo>
                    <a:pt x="19" y="6"/>
                  </a:lnTo>
                  <a:lnTo>
                    <a:pt x="19" y="0"/>
                  </a:lnTo>
                  <a:lnTo>
                    <a:pt x="13" y="6"/>
                  </a:lnTo>
                  <a:lnTo>
                    <a:pt x="0"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3" name="Freeform 51"/>
            <p:cNvSpPr>
              <a:spLocks noEditPoints="1"/>
            </p:cNvSpPr>
            <p:nvPr/>
          </p:nvSpPr>
          <p:spPr bwMode="auto">
            <a:xfrm>
              <a:off x="2382" y="1865"/>
              <a:ext cx="52" cy="58"/>
            </a:xfrm>
            <a:custGeom>
              <a:avLst/>
              <a:gdLst>
                <a:gd name="T0" fmla="*/ 32 w 52"/>
                <a:gd name="T1" fmla="*/ 0 h 58"/>
                <a:gd name="T2" fmla="*/ 19 w 52"/>
                <a:gd name="T3" fmla="*/ 7 h 58"/>
                <a:gd name="T4" fmla="*/ 13 w 52"/>
                <a:gd name="T5" fmla="*/ 13 h 58"/>
                <a:gd name="T6" fmla="*/ 6 w 52"/>
                <a:gd name="T7" fmla="*/ 26 h 58"/>
                <a:gd name="T8" fmla="*/ 0 w 52"/>
                <a:gd name="T9" fmla="*/ 39 h 58"/>
                <a:gd name="T10" fmla="*/ 6 w 52"/>
                <a:gd name="T11" fmla="*/ 52 h 58"/>
                <a:gd name="T12" fmla="*/ 19 w 52"/>
                <a:gd name="T13" fmla="*/ 58 h 58"/>
                <a:gd name="T14" fmla="*/ 32 w 52"/>
                <a:gd name="T15" fmla="*/ 52 h 58"/>
                <a:gd name="T16" fmla="*/ 45 w 52"/>
                <a:gd name="T17" fmla="*/ 45 h 58"/>
                <a:gd name="T18" fmla="*/ 52 w 52"/>
                <a:gd name="T19" fmla="*/ 19 h 58"/>
                <a:gd name="T20" fmla="*/ 52 w 52"/>
                <a:gd name="T21" fmla="*/ 7 h 58"/>
                <a:gd name="T22" fmla="*/ 45 w 52"/>
                <a:gd name="T23" fmla="*/ 0 h 58"/>
                <a:gd name="T24" fmla="*/ 32 w 52"/>
                <a:gd name="T25" fmla="*/ 0 h 58"/>
                <a:gd name="T26" fmla="*/ 32 w 52"/>
                <a:gd name="T27" fmla="*/ 0 h 58"/>
                <a:gd name="T28" fmla="*/ 32 w 52"/>
                <a:gd name="T29" fmla="*/ 0 h 58"/>
                <a:gd name="T30" fmla="*/ 39 w 52"/>
                <a:gd name="T31" fmla="*/ 7 h 58"/>
                <a:gd name="T32" fmla="*/ 45 w 52"/>
                <a:gd name="T33" fmla="*/ 13 h 58"/>
                <a:gd name="T34" fmla="*/ 45 w 52"/>
                <a:gd name="T35" fmla="*/ 26 h 58"/>
                <a:gd name="T36" fmla="*/ 39 w 52"/>
                <a:gd name="T37" fmla="*/ 39 h 58"/>
                <a:gd name="T38" fmla="*/ 32 w 52"/>
                <a:gd name="T39" fmla="*/ 52 h 58"/>
                <a:gd name="T40" fmla="*/ 19 w 52"/>
                <a:gd name="T41" fmla="*/ 58 h 58"/>
                <a:gd name="T42" fmla="*/ 13 w 52"/>
                <a:gd name="T43" fmla="*/ 52 h 58"/>
                <a:gd name="T44" fmla="*/ 6 w 52"/>
                <a:gd name="T45" fmla="*/ 45 h 58"/>
                <a:gd name="T46" fmla="*/ 13 w 52"/>
                <a:gd name="T47" fmla="*/ 13 h 58"/>
                <a:gd name="T48" fmla="*/ 26 w 52"/>
                <a:gd name="T49" fmla="*/ 7 h 58"/>
                <a:gd name="T50" fmla="*/ 32 w 52"/>
                <a:gd name="T51" fmla="*/ 0 h 58"/>
                <a:gd name="T52" fmla="*/ 32 w 52"/>
                <a:gd name="T53" fmla="*/ 0 h 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2"/>
                <a:gd name="T82" fmla="*/ 0 h 58"/>
                <a:gd name="T83" fmla="*/ 52 w 52"/>
                <a:gd name="T84" fmla="*/ 58 h 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2" h="58">
                  <a:moveTo>
                    <a:pt x="32" y="0"/>
                  </a:moveTo>
                  <a:lnTo>
                    <a:pt x="19" y="7"/>
                  </a:lnTo>
                  <a:lnTo>
                    <a:pt x="13" y="13"/>
                  </a:lnTo>
                  <a:lnTo>
                    <a:pt x="6" y="26"/>
                  </a:lnTo>
                  <a:lnTo>
                    <a:pt x="0" y="39"/>
                  </a:lnTo>
                  <a:lnTo>
                    <a:pt x="6" y="52"/>
                  </a:lnTo>
                  <a:lnTo>
                    <a:pt x="19" y="58"/>
                  </a:lnTo>
                  <a:lnTo>
                    <a:pt x="32" y="52"/>
                  </a:lnTo>
                  <a:lnTo>
                    <a:pt x="45" y="45"/>
                  </a:lnTo>
                  <a:lnTo>
                    <a:pt x="52" y="19"/>
                  </a:lnTo>
                  <a:lnTo>
                    <a:pt x="52" y="7"/>
                  </a:lnTo>
                  <a:lnTo>
                    <a:pt x="45" y="0"/>
                  </a:lnTo>
                  <a:lnTo>
                    <a:pt x="32" y="0"/>
                  </a:lnTo>
                  <a:close/>
                  <a:moveTo>
                    <a:pt x="32" y="0"/>
                  </a:moveTo>
                  <a:lnTo>
                    <a:pt x="39" y="7"/>
                  </a:lnTo>
                  <a:lnTo>
                    <a:pt x="45" y="13"/>
                  </a:lnTo>
                  <a:lnTo>
                    <a:pt x="45" y="26"/>
                  </a:lnTo>
                  <a:lnTo>
                    <a:pt x="39" y="39"/>
                  </a:lnTo>
                  <a:lnTo>
                    <a:pt x="32" y="52"/>
                  </a:lnTo>
                  <a:lnTo>
                    <a:pt x="19" y="58"/>
                  </a:lnTo>
                  <a:lnTo>
                    <a:pt x="13" y="52"/>
                  </a:lnTo>
                  <a:lnTo>
                    <a:pt x="6" y="45"/>
                  </a:lnTo>
                  <a:lnTo>
                    <a:pt x="13" y="13"/>
                  </a:lnTo>
                  <a:lnTo>
                    <a:pt x="26" y="7"/>
                  </a:lnTo>
                  <a:lnTo>
                    <a:pt x="32"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4" name="Freeform 52"/>
            <p:cNvSpPr/>
            <p:nvPr/>
          </p:nvSpPr>
          <p:spPr bwMode="auto">
            <a:xfrm>
              <a:off x="2440" y="1865"/>
              <a:ext cx="52" cy="58"/>
            </a:xfrm>
            <a:custGeom>
              <a:avLst/>
              <a:gdLst>
                <a:gd name="T0" fmla="*/ 39 w 52"/>
                <a:gd name="T1" fmla="*/ 45 h 58"/>
                <a:gd name="T2" fmla="*/ 32 w 52"/>
                <a:gd name="T3" fmla="*/ 52 h 58"/>
                <a:gd name="T4" fmla="*/ 26 w 52"/>
                <a:gd name="T5" fmla="*/ 52 h 58"/>
                <a:gd name="T6" fmla="*/ 13 w 52"/>
                <a:gd name="T7" fmla="*/ 45 h 58"/>
                <a:gd name="T8" fmla="*/ 13 w 52"/>
                <a:gd name="T9" fmla="*/ 39 h 58"/>
                <a:gd name="T10" fmla="*/ 20 w 52"/>
                <a:gd name="T11" fmla="*/ 13 h 58"/>
                <a:gd name="T12" fmla="*/ 26 w 52"/>
                <a:gd name="T13" fmla="*/ 7 h 58"/>
                <a:gd name="T14" fmla="*/ 39 w 52"/>
                <a:gd name="T15" fmla="*/ 0 h 58"/>
                <a:gd name="T16" fmla="*/ 39 w 52"/>
                <a:gd name="T17" fmla="*/ 0 h 58"/>
                <a:gd name="T18" fmla="*/ 39 w 52"/>
                <a:gd name="T19" fmla="*/ 7 h 58"/>
                <a:gd name="T20" fmla="*/ 39 w 52"/>
                <a:gd name="T21" fmla="*/ 13 h 58"/>
                <a:gd name="T22" fmla="*/ 39 w 52"/>
                <a:gd name="T23" fmla="*/ 13 h 58"/>
                <a:gd name="T24" fmla="*/ 45 w 52"/>
                <a:gd name="T25" fmla="*/ 13 h 58"/>
                <a:gd name="T26" fmla="*/ 52 w 52"/>
                <a:gd name="T27" fmla="*/ 13 h 58"/>
                <a:gd name="T28" fmla="*/ 52 w 52"/>
                <a:gd name="T29" fmla="*/ 7 h 58"/>
                <a:gd name="T30" fmla="*/ 45 w 52"/>
                <a:gd name="T31" fmla="*/ 7 h 58"/>
                <a:gd name="T32" fmla="*/ 39 w 52"/>
                <a:gd name="T33" fmla="*/ 0 h 58"/>
                <a:gd name="T34" fmla="*/ 26 w 52"/>
                <a:gd name="T35" fmla="*/ 7 h 58"/>
                <a:gd name="T36" fmla="*/ 13 w 52"/>
                <a:gd name="T37" fmla="*/ 13 h 58"/>
                <a:gd name="T38" fmla="*/ 7 w 52"/>
                <a:gd name="T39" fmla="*/ 26 h 58"/>
                <a:gd name="T40" fmla="*/ 0 w 52"/>
                <a:gd name="T41" fmla="*/ 39 h 58"/>
                <a:gd name="T42" fmla="*/ 0 w 52"/>
                <a:gd name="T43" fmla="*/ 52 h 58"/>
                <a:gd name="T44" fmla="*/ 7 w 52"/>
                <a:gd name="T45" fmla="*/ 58 h 58"/>
                <a:gd name="T46" fmla="*/ 20 w 52"/>
                <a:gd name="T47" fmla="*/ 58 h 58"/>
                <a:gd name="T48" fmla="*/ 32 w 52"/>
                <a:gd name="T49" fmla="*/ 52 h 58"/>
                <a:gd name="T50" fmla="*/ 39 w 52"/>
                <a:gd name="T51" fmla="*/ 45 h 58"/>
                <a:gd name="T52" fmla="*/ 39 w 52"/>
                <a:gd name="T53" fmla="*/ 45 h 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2"/>
                <a:gd name="T82" fmla="*/ 0 h 58"/>
                <a:gd name="T83" fmla="*/ 52 w 52"/>
                <a:gd name="T84" fmla="*/ 58 h 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2" h="58">
                  <a:moveTo>
                    <a:pt x="39" y="45"/>
                  </a:moveTo>
                  <a:lnTo>
                    <a:pt x="32" y="52"/>
                  </a:lnTo>
                  <a:lnTo>
                    <a:pt x="26" y="52"/>
                  </a:lnTo>
                  <a:lnTo>
                    <a:pt x="13" y="45"/>
                  </a:lnTo>
                  <a:lnTo>
                    <a:pt x="13" y="39"/>
                  </a:lnTo>
                  <a:lnTo>
                    <a:pt x="20" y="13"/>
                  </a:lnTo>
                  <a:lnTo>
                    <a:pt x="26" y="7"/>
                  </a:lnTo>
                  <a:lnTo>
                    <a:pt x="39" y="0"/>
                  </a:lnTo>
                  <a:lnTo>
                    <a:pt x="39" y="7"/>
                  </a:lnTo>
                  <a:lnTo>
                    <a:pt x="39" y="13"/>
                  </a:lnTo>
                  <a:lnTo>
                    <a:pt x="45" y="13"/>
                  </a:lnTo>
                  <a:lnTo>
                    <a:pt x="52" y="13"/>
                  </a:lnTo>
                  <a:lnTo>
                    <a:pt x="52" y="7"/>
                  </a:lnTo>
                  <a:lnTo>
                    <a:pt x="45" y="7"/>
                  </a:lnTo>
                  <a:lnTo>
                    <a:pt x="39" y="0"/>
                  </a:lnTo>
                  <a:lnTo>
                    <a:pt x="26" y="7"/>
                  </a:lnTo>
                  <a:lnTo>
                    <a:pt x="13" y="13"/>
                  </a:lnTo>
                  <a:lnTo>
                    <a:pt x="7" y="26"/>
                  </a:lnTo>
                  <a:lnTo>
                    <a:pt x="0" y="39"/>
                  </a:lnTo>
                  <a:lnTo>
                    <a:pt x="0" y="52"/>
                  </a:lnTo>
                  <a:lnTo>
                    <a:pt x="7" y="58"/>
                  </a:lnTo>
                  <a:lnTo>
                    <a:pt x="20" y="58"/>
                  </a:lnTo>
                  <a:lnTo>
                    <a:pt x="32" y="52"/>
                  </a:lnTo>
                  <a:lnTo>
                    <a:pt x="39" y="4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5" name="Freeform 53"/>
            <p:cNvSpPr/>
            <p:nvPr/>
          </p:nvSpPr>
          <p:spPr bwMode="auto">
            <a:xfrm>
              <a:off x="2330" y="1523"/>
              <a:ext cx="78" cy="97"/>
            </a:xfrm>
            <a:custGeom>
              <a:avLst/>
              <a:gdLst>
                <a:gd name="T0" fmla="*/ 33 w 78"/>
                <a:gd name="T1" fmla="*/ 45 h 97"/>
                <a:gd name="T2" fmla="*/ 0 w 78"/>
                <a:gd name="T3" fmla="*/ 45 h 97"/>
                <a:gd name="T4" fmla="*/ 0 w 78"/>
                <a:gd name="T5" fmla="*/ 58 h 97"/>
                <a:gd name="T6" fmla="*/ 33 w 78"/>
                <a:gd name="T7" fmla="*/ 58 h 97"/>
                <a:gd name="T8" fmla="*/ 33 w 78"/>
                <a:gd name="T9" fmla="*/ 97 h 97"/>
                <a:gd name="T10" fmla="*/ 46 w 78"/>
                <a:gd name="T11" fmla="*/ 97 h 97"/>
                <a:gd name="T12" fmla="*/ 46 w 78"/>
                <a:gd name="T13" fmla="*/ 58 h 97"/>
                <a:gd name="T14" fmla="*/ 78 w 78"/>
                <a:gd name="T15" fmla="*/ 58 h 97"/>
                <a:gd name="T16" fmla="*/ 78 w 78"/>
                <a:gd name="T17" fmla="*/ 45 h 97"/>
                <a:gd name="T18" fmla="*/ 46 w 78"/>
                <a:gd name="T19" fmla="*/ 45 h 97"/>
                <a:gd name="T20" fmla="*/ 46 w 78"/>
                <a:gd name="T21" fmla="*/ 0 h 97"/>
                <a:gd name="T22" fmla="*/ 33 w 78"/>
                <a:gd name="T23" fmla="*/ 0 h 97"/>
                <a:gd name="T24" fmla="*/ 33 w 78"/>
                <a:gd name="T25" fmla="*/ 45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8"/>
                <a:gd name="T40" fmla="*/ 0 h 97"/>
                <a:gd name="T41" fmla="*/ 78 w 78"/>
                <a:gd name="T42" fmla="*/ 97 h 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8" h="97">
                  <a:moveTo>
                    <a:pt x="33" y="45"/>
                  </a:moveTo>
                  <a:lnTo>
                    <a:pt x="0" y="45"/>
                  </a:lnTo>
                  <a:lnTo>
                    <a:pt x="0" y="58"/>
                  </a:lnTo>
                  <a:lnTo>
                    <a:pt x="33" y="58"/>
                  </a:lnTo>
                  <a:lnTo>
                    <a:pt x="33" y="97"/>
                  </a:lnTo>
                  <a:lnTo>
                    <a:pt x="46" y="97"/>
                  </a:lnTo>
                  <a:lnTo>
                    <a:pt x="46" y="58"/>
                  </a:lnTo>
                  <a:lnTo>
                    <a:pt x="78" y="58"/>
                  </a:lnTo>
                  <a:lnTo>
                    <a:pt x="78" y="45"/>
                  </a:lnTo>
                  <a:lnTo>
                    <a:pt x="46" y="45"/>
                  </a:lnTo>
                  <a:lnTo>
                    <a:pt x="46" y="0"/>
                  </a:lnTo>
                  <a:lnTo>
                    <a:pt x="33" y="0"/>
                  </a:lnTo>
                  <a:lnTo>
                    <a:pt x="33" y="4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6" name="Rectangle 54"/>
            <p:cNvSpPr>
              <a:spLocks noChangeArrowheads="1"/>
            </p:cNvSpPr>
            <p:nvPr/>
          </p:nvSpPr>
          <p:spPr bwMode="auto">
            <a:xfrm>
              <a:off x="2330" y="2065"/>
              <a:ext cx="84" cy="7"/>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31777" name="Freeform 55"/>
            <p:cNvSpPr/>
            <p:nvPr/>
          </p:nvSpPr>
          <p:spPr bwMode="auto">
            <a:xfrm>
              <a:off x="1244" y="2891"/>
              <a:ext cx="39" cy="155"/>
            </a:xfrm>
            <a:custGeom>
              <a:avLst/>
              <a:gdLst>
                <a:gd name="T0" fmla="*/ 39 w 39"/>
                <a:gd name="T1" fmla="*/ 0 h 155"/>
                <a:gd name="T2" fmla="*/ 13 w 39"/>
                <a:gd name="T3" fmla="*/ 32 h 155"/>
                <a:gd name="T4" fmla="*/ 0 w 39"/>
                <a:gd name="T5" fmla="*/ 78 h 155"/>
                <a:gd name="T6" fmla="*/ 7 w 39"/>
                <a:gd name="T7" fmla="*/ 110 h 155"/>
                <a:gd name="T8" fmla="*/ 13 w 39"/>
                <a:gd name="T9" fmla="*/ 129 h 155"/>
                <a:gd name="T10" fmla="*/ 26 w 39"/>
                <a:gd name="T11" fmla="*/ 142 h 155"/>
                <a:gd name="T12" fmla="*/ 39 w 39"/>
                <a:gd name="T13" fmla="*/ 155 h 155"/>
                <a:gd name="T14" fmla="*/ 39 w 39"/>
                <a:gd name="T15" fmla="*/ 155 h 155"/>
                <a:gd name="T16" fmla="*/ 26 w 39"/>
                <a:gd name="T17" fmla="*/ 136 h 155"/>
                <a:gd name="T18" fmla="*/ 20 w 39"/>
                <a:gd name="T19" fmla="*/ 116 h 155"/>
                <a:gd name="T20" fmla="*/ 13 w 39"/>
                <a:gd name="T21" fmla="*/ 91 h 155"/>
                <a:gd name="T22" fmla="*/ 13 w 39"/>
                <a:gd name="T23" fmla="*/ 78 h 155"/>
                <a:gd name="T24" fmla="*/ 13 w 39"/>
                <a:gd name="T25" fmla="*/ 45 h 155"/>
                <a:gd name="T26" fmla="*/ 20 w 39"/>
                <a:gd name="T27" fmla="*/ 26 h 155"/>
                <a:gd name="T28" fmla="*/ 33 w 39"/>
                <a:gd name="T29" fmla="*/ 13 h 155"/>
                <a:gd name="T30" fmla="*/ 39 w 39"/>
                <a:gd name="T31" fmla="*/ 0 h 155"/>
                <a:gd name="T32" fmla="*/ 39 w 39"/>
                <a:gd name="T33" fmla="*/ 0 h 1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155"/>
                <a:gd name="T53" fmla="*/ 39 w 39"/>
                <a:gd name="T54" fmla="*/ 155 h 1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155">
                  <a:moveTo>
                    <a:pt x="39" y="0"/>
                  </a:moveTo>
                  <a:lnTo>
                    <a:pt x="13" y="32"/>
                  </a:lnTo>
                  <a:lnTo>
                    <a:pt x="0" y="78"/>
                  </a:lnTo>
                  <a:lnTo>
                    <a:pt x="7" y="110"/>
                  </a:lnTo>
                  <a:lnTo>
                    <a:pt x="13" y="129"/>
                  </a:lnTo>
                  <a:lnTo>
                    <a:pt x="26" y="142"/>
                  </a:lnTo>
                  <a:lnTo>
                    <a:pt x="39" y="155"/>
                  </a:lnTo>
                  <a:lnTo>
                    <a:pt x="26" y="136"/>
                  </a:lnTo>
                  <a:lnTo>
                    <a:pt x="20" y="116"/>
                  </a:lnTo>
                  <a:lnTo>
                    <a:pt x="13" y="91"/>
                  </a:lnTo>
                  <a:lnTo>
                    <a:pt x="13" y="78"/>
                  </a:lnTo>
                  <a:lnTo>
                    <a:pt x="13" y="45"/>
                  </a:lnTo>
                  <a:lnTo>
                    <a:pt x="20" y="26"/>
                  </a:lnTo>
                  <a:lnTo>
                    <a:pt x="33" y="13"/>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8" name="Freeform 56"/>
            <p:cNvSpPr>
              <a:spLocks noEditPoints="1"/>
            </p:cNvSpPr>
            <p:nvPr/>
          </p:nvSpPr>
          <p:spPr bwMode="auto">
            <a:xfrm>
              <a:off x="1296" y="2930"/>
              <a:ext cx="65" cy="84"/>
            </a:xfrm>
            <a:custGeom>
              <a:avLst/>
              <a:gdLst>
                <a:gd name="T0" fmla="*/ 39 w 65"/>
                <a:gd name="T1" fmla="*/ 64 h 84"/>
                <a:gd name="T2" fmla="*/ 39 w 65"/>
                <a:gd name="T3" fmla="*/ 71 h 84"/>
                <a:gd name="T4" fmla="*/ 32 w 65"/>
                <a:gd name="T5" fmla="*/ 71 h 84"/>
                <a:gd name="T6" fmla="*/ 32 w 65"/>
                <a:gd name="T7" fmla="*/ 77 h 84"/>
                <a:gd name="T8" fmla="*/ 26 w 65"/>
                <a:gd name="T9" fmla="*/ 77 h 84"/>
                <a:gd name="T10" fmla="*/ 19 w 65"/>
                <a:gd name="T11" fmla="*/ 71 h 84"/>
                <a:gd name="T12" fmla="*/ 13 w 65"/>
                <a:gd name="T13" fmla="*/ 64 h 84"/>
                <a:gd name="T14" fmla="*/ 13 w 65"/>
                <a:gd name="T15" fmla="*/ 64 h 84"/>
                <a:gd name="T16" fmla="*/ 19 w 65"/>
                <a:gd name="T17" fmla="*/ 52 h 84"/>
                <a:gd name="T18" fmla="*/ 26 w 65"/>
                <a:gd name="T19" fmla="*/ 45 h 84"/>
                <a:gd name="T20" fmla="*/ 39 w 65"/>
                <a:gd name="T21" fmla="*/ 39 h 84"/>
                <a:gd name="T22" fmla="*/ 39 w 65"/>
                <a:gd name="T23" fmla="*/ 64 h 84"/>
                <a:gd name="T24" fmla="*/ 65 w 65"/>
                <a:gd name="T25" fmla="*/ 71 h 84"/>
                <a:gd name="T26" fmla="*/ 65 w 65"/>
                <a:gd name="T27" fmla="*/ 77 h 84"/>
                <a:gd name="T28" fmla="*/ 58 w 65"/>
                <a:gd name="T29" fmla="*/ 77 h 84"/>
                <a:gd name="T30" fmla="*/ 52 w 65"/>
                <a:gd name="T31" fmla="*/ 71 h 84"/>
                <a:gd name="T32" fmla="*/ 52 w 65"/>
                <a:gd name="T33" fmla="*/ 64 h 84"/>
                <a:gd name="T34" fmla="*/ 52 w 65"/>
                <a:gd name="T35" fmla="*/ 32 h 84"/>
                <a:gd name="T36" fmla="*/ 52 w 65"/>
                <a:gd name="T37" fmla="*/ 13 h 84"/>
                <a:gd name="T38" fmla="*/ 39 w 65"/>
                <a:gd name="T39" fmla="*/ 6 h 84"/>
                <a:gd name="T40" fmla="*/ 26 w 65"/>
                <a:gd name="T41" fmla="*/ 0 h 84"/>
                <a:gd name="T42" fmla="*/ 6 w 65"/>
                <a:gd name="T43" fmla="*/ 6 h 84"/>
                <a:gd name="T44" fmla="*/ 0 w 65"/>
                <a:gd name="T45" fmla="*/ 19 h 84"/>
                <a:gd name="T46" fmla="*/ 6 w 65"/>
                <a:gd name="T47" fmla="*/ 26 h 84"/>
                <a:gd name="T48" fmla="*/ 6 w 65"/>
                <a:gd name="T49" fmla="*/ 26 h 84"/>
                <a:gd name="T50" fmla="*/ 13 w 65"/>
                <a:gd name="T51" fmla="*/ 26 h 84"/>
                <a:gd name="T52" fmla="*/ 19 w 65"/>
                <a:gd name="T53" fmla="*/ 19 h 84"/>
                <a:gd name="T54" fmla="*/ 19 w 65"/>
                <a:gd name="T55" fmla="*/ 19 h 84"/>
                <a:gd name="T56" fmla="*/ 13 w 65"/>
                <a:gd name="T57" fmla="*/ 13 h 84"/>
                <a:gd name="T58" fmla="*/ 19 w 65"/>
                <a:gd name="T59" fmla="*/ 6 h 84"/>
                <a:gd name="T60" fmla="*/ 26 w 65"/>
                <a:gd name="T61" fmla="*/ 6 h 84"/>
                <a:gd name="T62" fmla="*/ 32 w 65"/>
                <a:gd name="T63" fmla="*/ 6 h 84"/>
                <a:gd name="T64" fmla="*/ 39 w 65"/>
                <a:gd name="T65" fmla="*/ 19 h 84"/>
                <a:gd name="T66" fmla="*/ 39 w 65"/>
                <a:gd name="T67" fmla="*/ 32 h 84"/>
                <a:gd name="T68" fmla="*/ 13 w 65"/>
                <a:gd name="T69" fmla="*/ 52 h 84"/>
                <a:gd name="T70" fmla="*/ 0 w 65"/>
                <a:gd name="T71" fmla="*/ 64 h 84"/>
                <a:gd name="T72" fmla="*/ 6 w 65"/>
                <a:gd name="T73" fmla="*/ 77 h 84"/>
                <a:gd name="T74" fmla="*/ 19 w 65"/>
                <a:gd name="T75" fmla="*/ 84 h 84"/>
                <a:gd name="T76" fmla="*/ 32 w 65"/>
                <a:gd name="T77" fmla="*/ 77 h 84"/>
                <a:gd name="T78" fmla="*/ 39 w 65"/>
                <a:gd name="T79" fmla="*/ 71 h 84"/>
                <a:gd name="T80" fmla="*/ 45 w 65"/>
                <a:gd name="T81" fmla="*/ 84 h 84"/>
                <a:gd name="T82" fmla="*/ 52 w 65"/>
                <a:gd name="T83" fmla="*/ 84 h 84"/>
                <a:gd name="T84" fmla="*/ 58 w 65"/>
                <a:gd name="T85" fmla="*/ 84 h 84"/>
                <a:gd name="T86" fmla="*/ 65 w 65"/>
                <a:gd name="T87" fmla="*/ 77 h 84"/>
                <a:gd name="T88" fmla="*/ 65 w 65"/>
                <a:gd name="T89" fmla="*/ 71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5"/>
                <a:gd name="T136" fmla="*/ 0 h 84"/>
                <a:gd name="T137" fmla="*/ 65 w 6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5" h="84">
                  <a:moveTo>
                    <a:pt x="39" y="64"/>
                  </a:moveTo>
                  <a:lnTo>
                    <a:pt x="39" y="71"/>
                  </a:lnTo>
                  <a:lnTo>
                    <a:pt x="32" y="71"/>
                  </a:lnTo>
                  <a:lnTo>
                    <a:pt x="32" y="77"/>
                  </a:lnTo>
                  <a:lnTo>
                    <a:pt x="26" y="77"/>
                  </a:lnTo>
                  <a:lnTo>
                    <a:pt x="19" y="71"/>
                  </a:lnTo>
                  <a:lnTo>
                    <a:pt x="13" y="64"/>
                  </a:lnTo>
                  <a:lnTo>
                    <a:pt x="19" y="52"/>
                  </a:lnTo>
                  <a:lnTo>
                    <a:pt x="26" y="45"/>
                  </a:lnTo>
                  <a:lnTo>
                    <a:pt x="39" y="39"/>
                  </a:lnTo>
                  <a:lnTo>
                    <a:pt x="39" y="64"/>
                  </a:lnTo>
                  <a:close/>
                  <a:moveTo>
                    <a:pt x="65" y="71"/>
                  </a:moveTo>
                  <a:lnTo>
                    <a:pt x="65" y="77"/>
                  </a:lnTo>
                  <a:lnTo>
                    <a:pt x="58" y="77"/>
                  </a:lnTo>
                  <a:lnTo>
                    <a:pt x="52" y="71"/>
                  </a:lnTo>
                  <a:lnTo>
                    <a:pt x="52" y="64"/>
                  </a:lnTo>
                  <a:lnTo>
                    <a:pt x="52" y="32"/>
                  </a:lnTo>
                  <a:lnTo>
                    <a:pt x="52" y="13"/>
                  </a:lnTo>
                  <a:lnTo>
                    <a:pt x="39" y="6"/>
                  </a:lnTo>
                  <a:lnTo>
                    <a:pt x="26" y="0"/>
                  </a:lnTo>
                  <a:lnTo>
                    <a:pt x="6" y="6"/>
                  </a:lnTo>
                  <a:lnTo>
                    <a:pt x="0" y="19"/>
                  </a:lnTo>
                  <a:lnTo>
                    <a:pt x="6" y="26"/>
                  </a:lnTo>
                  <a:lnTo>
                    <a:pt x="13" y="26"/>
                  </a:lnTo>
                  <a:lnTo>
                    <a:pt x="19" y="19"/>
                  </a:lnTo>
                  <a:lnTo>
                    <a:pt x="13" y="13"/>
                  </a:lnTo>
                  <a:lnTo>
                    <a:pt x="19" y="6"/>
                  </a:lnTo>
                  <a:lnTo>
                    <a:pt x="26" y="6"/>
                  </a:lnTo>
                  <a:lnTo>
                    <a:pt x="32" y="6"/>
                  </a:lnTo>
                  <a:lnTo>
                    <a:pt x="39" y="19"/>
                  </a:lnTo>
                  <a:lnTo>
                    <a:pt x="39" y="32"/>
                  </a:lnTo>
                  <a:lnTo>
                    <a:pt x="13" y="52"/>
                  </a:lnTo>
                  <a:lnTo>
                    <a:pt x="0" y="64"/>
                  </a:lnTo>
                  <a:lnTo>
                    <a:pt x="6" y="77"/>
                  </a:lnTo>
                  <a:lnTo>
                    <a:pt x="19" y="84"/>
                  </a:lnTo>
                  <a:lnTo>
                    <a:pt x="32" y="77"/>
                  </a:lnTo>
                  <a:lnTo>
                    <a:pt x="39" y="71"/>
                  </a:lnTo>
                  <a:lnTo>
                    <a:pt x="45" y="84"/>
                  </a:lnTo>
                  <a:lnTo>
                    <a:pt x="52" y="84"/>
                  </a:lnTo>
                  <a:lnTo>
                    <a:pt x="58" y="84"/>
                  </a:lnTo>
                  <a:lnTo>
                    <a:pt x="65" y="77"/>
                  </a:lnTo>
                  <a:lnTo>
                    <a:pt x="65" y="7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79" name="Freeform 57"/>
            <p:cNvSpPr/>
            <p:nvPr/>
          </p:nvSpPr>
          <p:spPr bwMode="auto">
            <a:xfrm>
              <a:off x="1367" y="2891"/>
              <a:ext cx="39" cy="155"/>
            </a:xfrm>
            <a:custGeom>
              <a:avLst/>
              <a:gdLst>
                <a:gd name="T0" fmla="*/ 0 w 39"/>
                <a:gd name="T1" fmla="*/ 155 h 155"/>
                <a:gd name="T2" fmla="*/ 19 w 39"/>
                <a:gd name="T3" fmla="*/ 142 h 155"/>
                <a:gd name="T4" fmla="*/ 32 w 39"/>
                <a:gd name="T5" fmla="*/ 123 h 155"/>
                <a:gd name="T6" fmla="*/ 39 w 39"/>
                <a:gd name="T7" fmla="*/ 78 h 155"/>
                <a:gd name="T8" fmla="*/ 32 w 39"/>
                <a:gd name="T9" fmla="*/ 52 h 155"/>
                <a:gd name="T10" fmla="*/ 26 w 39"/>
                <a:gd name="T11" fmla="*/ 26 h 155"/>
                <a:gd name="T12" fmla="*/ 13 w 39"/>
                <a:gd name="T13" fmla="*/ 13 h 155"/>
                <a:gd name="T14" fmla="*/ 0 w 39"/>
                <a:gd name="T15" fmla="*/ 0 h 155"/>
                <a:gd name="T16" fmla="*/ 0 w 39"/>
                <a:gd name="T17" fmla="*/ 0 h 155"/>
                <a:gd name="T18" fmla="*/ 13 w 39"/>
                <a:gd name="T19" fmla="*/ 20 h 155"/>
                <a:gd name="T20" fmla="*/ 26 w 39"/>
                <a:gd name="T21" fmla="*/ 45 h 155"/>
                <a:gd name="T22" fmla="*/ 26 w 39"/>
                <a:gd name="T23" fmla="*/ 65 h 155"/>
                <a:gd name="T24" fmla="*/ 26 w 39"/>
                <a:gd name="T25" fmla="*/ 84 h 155"/>
                <a:gd name="T26" fmla="*/ 26 w 39"/>
                <a:gd name="T27" fmla="*/ 110 h 155"/>
                <a:gd name="T28" fmla="*/ 19 w 39"/>
                <a:gd name="T29" fmla="*/ 129 h 155"/>
                <a:gd name="T30" fmla="*/ 0 w 39"/>
                <a:gd name="T31" fmla="*/ 155 h 155"/>
                <a:gd name="T32" fmla="*/ 0 w 39"/>
                <a:gd name="T33" fmla="*/ 155 h 1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155"/>
                <a:gd name="T53" fmla="*/ 39 w 39"/>
                <a:gd name="T54" fmla="*/ 155 h 1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155">
                  <a:moveTo>
                    <a:pt x="0" y="155"/>
                  </a:moveTo>
                  <a:lnTo>
                    <a:pt x="19" y="142"/>
                  </a:lnTo>
                  <a:lnTo>
                    <a:pt x="32" y="123"/>
                  </a:lnTo>
                  <a:lnTo>
                    <a:pt x="39" y="78"/>
                  </a:lnTo>
                  <a:lnTo>
                    <a:pt x="32" y="52"/>
                  </a:lnTo>
                  <a:lnTo>
                    <a:pt x="26" y="26"/>
                  </a:lnTo>
                  <a:lnTo>
                    <a:pt x="13" y="13"/>
                  </a:lnTo>
                  <a:lnTo>
                    <a:pt x="0" y="0"/>
                  </a:lnTo>
                  <a:lnTo>
                    <a:pt x="13" y="20"/>
                  </a:lnTo>
                  <a:lnTo>
                    <a:pt x="26" y="45"/>
                  </a:lnTo>
                  <a:lnTo>
                    <a:pt x="26" y="65"/>
                  </a:lnTo>
                  <a:lnTo>
                    <a:pt x="26" y="84"/>
                  </a:lnTo>
                  <a:lnTo>
                    <a:pt x="26" y="110"/>
                  </a:lnTo>
                  <a:lnTo>
                    <a:pt x="19" y="129"/>
                  </a:lnTo>
                  <a:lnTo>
                    <a:pt x="0" y="15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0" name="Freeform 58"/>
            <p:cNvSpPr/>
            <p:nvPr/>
          </p:nvSpPr>
          <p:spPr bwMode="auto">
            <a:xfrm>
              <a:off x="1037" y="2491"/>
              <a:ext cx="97" cy="123"/>
            </a:xfrm>
            <a:custGeom>
              <a:avLst/>
              <a:gdLst>
                <a:gd name="T0" fmla="*/ 97 w 97"/>
                <a:gd name="T1" fmla="*/ 0 h 123"/>
                <a:gd name="T2" fmla="*/ 65 w 97"/>
                <a:gd name="T3" fmla="*/ 0 h 123"/>
                <a:gd name="T4" fmla="*/ 65 w 97"/>
                <a:gd name="T5" fmla="*/ 7 h 123"/>
                <a:gd name="T6" fmla="*/ 71 w 97"/>
                <a:gd name="T7" fmla="*/ 7 h 123"/>
                <a:gd name="T8" fmla="*/ 78 w 97"/>
                <a:gd name="T9" fmla="*/ 13 h 123"/>
                <a:gd name="T10" fmla="*/ 78 w 97"/>
                <a:gd name="T11" fmla="*/ 19 h 123"/>
                <a:gd name="T12" fmla="*/ 78 w 97"/>
                <a:gd name="T13" fmla="*/ 26 h 123"/>
                <a:gd name="T14" fmla="*/ 71 w 97"/>
                <a:gd name="T15" fmla="*/ 32 h 123"/>
                <a:gd name="T16" fmla="*/ 71 w 97"/>
                <a:gd name="T17" fmla="*/ 32 h 123"/>
                <a:gd name="T18" fmla="*/ 39 w 97"/>
                <a:gd name="T19" fmla="*/ 97 h 123"/>
                <a:gd name="T20" fmla="*/ 39 w 97"/>
                <a:gd name="T21" fmla="*/ 97 h 123"/>
                <a:gd name="T22" fmla="*/ 26 w 97"/>
                <a:gd name="T23" fmla="*/ 19 h 123"/>
                <a:gd name="T24" fmla="*/ 33 w 97"/>
                <a:gd name="T25" fmla="*/ 7 h 123"/>
                <a:gd name="T26" fmla="*/ 39 w 97"/>
                <a:gd name="T27" fmla="*/ 7 h 123"/>
                <a:gd name="T28" fmla="*/ 39 w 97"/>
                <a:gd name="T29" fmla="*/ 0 h 123"/>
                <a:gd name="T30" fmla="*/ 0 w 97"/>
                <a:gd name="T31" fmla="*/ 0 h 123"/>
                <a:gd name="T32" fmla="*/ 0 w 97"/>
                <a:gd name="T33" fmla="*/ 7 h 123"/>
                <a:gd name="T34" fmla="*/ 7 w 97"/>
                <a:gd name="T35" fmla="*/ 7 h 123"/>
                <a:gd name="T36" fmla="*/ 7 w 97"/>
                <a:gd name="T37" fmla="*/ 13 h 123"/>
                <a:gd name="T38" fmla="*/ 13 w 97"/>
                <a:gd name="T39" fmla="*/ 26 h 123"/>
                <a:gd name="T40" fmla="*/ 26 w 97"/>
                <a:gd name="T41" fmla="*/ 123 h 123"/>
                <a:gd name="T42" fmla="*/ 26 w 97"/>
                <a:gd name="T43" fmla="*/ 123 h 123"/>
                <a:gd name="T44" fmla="*/ 91 w 97"/>
                <a:gd name="T45" fmla="*/ 13 h 123"/>
                <a:gd name="T46" fmla="*/ 91 w 97"/>
                <a:gd name="T47" fmla="*/ 13 h 123"/>
                <a:gd name="T48" fmla="*/ 97 w 97"/>
                <a:gd name="T49" fmla="*/ 7 h 123"/>
                <a:gd name="T50" fmla="*/ 97 w 97"/>
                <a:gd name="T51" fmla="*/ 0 h 1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7"/>
                <a:gd name="T79" fmla="*/ 0 h 123"/>
                <a:gd name="T80" fmla="*/ 97 w 97"/>
                <a:gd name="T81" fmla="*/ 123 h 1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7" h="123">
                  <a:moveTo>
                    <a:pt x="97" y="0"/>
                  </a:moveTo>
                  <a:lnTo>
                    <a:pt x="65" y="0"/>
                  </a:lnTo>
                  <a:lnTo>
                    <a:pt x="65" y="7"/>
                  </a:lnTo>
                  <a:lnTo>
                    <a:pt x="71" y="7"/>
                  </a:lnTo>
                  <a:lnTo>
                    <a:pt x="78" y="13"/>
                  </a:lnTo>
                  <a:lnTo>
                    <a:pt x="78" y="19"/>
                  </a:lnTo>
                  <a:lnTo>
                    <a:pt x="78" y="26"/>
                  </a:lnTo>
                  <a:lnTo>
                    <a:pt x="71" y="32"/>
                  </a:lnTo>
                  <a:lnTo>
                    <a:pt x="39" y="97"/>
                  </a:lnTo>
                  <a:lnTo>
                    <a:pt x="26" y="19"/>
                  </a:lnTo>
                  <a:lnTo>
                    <a:pt x="33" y="7"/>
                  </a:lnTo>
                  <a:lnTo>
                    <a:pt x="39" y="7"/>
                  </a:lnTo>
                  <a:lnTo>
                    <a:pt x="39" y="0"/>
                  </a:lnTo>
                  <a:lnTo>
                    <a:pt x="0" y="0"/>
                  </a:lnTo>
                  <a:lnTo>
                    <a:pt x="0" y="7"/>
                  </a:lnTo>
                  <a:lnTo>
                    <a:pt x="7" y="7"/>
                  </a:lnTo>
                  <a:lnTo>
                    <a:pt x="7" y="13"/>
                  </a:lnTo>
                  <a:lnTo>
                    <a:pt x="13" y="26"/>
                  </a:lnTo>
                  <a:lnTo>
                    <a:pt x="26" y="123"/>
                  </a:lnTo>
                  <a:lnTo>
                    <a:pt x="91" y="13"/>
                  </a:lnTo>
                  <a:lnTo>
                    <a:pt x="97" y="7"/>
                  </a:lnTo>
                  <a:lnTo>
                    <a:pt x="97"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1" name="Freeform 59"/>
            <p:cNvSpPr/>
            <p:nvPr/>
          </p:nvSpPr>
          <p:spPr bwMode="auto">
            <a:xfrm>
              <a:off x="1134" y="2569"/>
              <a:ext cx="65" cy="90"/>
            </a:xfrm>
            <a:custGeom>
              <a:avLst/>
              <a:gdLst>
                <a:gd name="T0" fmla="*/ 52 w 65"/>
                <a:gd name="T1" fmla="*/ 83 h 90"/>
                <a:gd name="T2" fmla="*/ 39 w 65"/>
                <a:gd name="T3" fmla="*/ 83 h 90"/>
                <a:gd name="T4" fmla="*/ 39 w 65"/>
                <a:gd name="T5" fmla="*/ 71 h 90"/>
                <a:gd name="T6" fmla="*/ 39 w 65"/>
                <a:gd name="T7" fmla="*/ 6 h 90"/>
                <a:gd name="T8" fmla="*/ 46 w 65"/>
                <a:gd name="T9" fmla="*/ 6 h 90"/>
                <a:gd name="T10" fmla="*/ 59 w 65"/>
                <a:gd name="T11" fmla="*/ 6 h 90"/>
                <a:gd name="T12" fmla="*/ 65 w 65"/>
                <a:gd name="T13" fmla="*/ 19 h 90"/>
                <a:gd name="T14" fmla="*/ 65 w 65"/>
                <a:gd name="T15" fmla="*/ 19 h 90"/>
                <a:gd name="T16" fmla="*/ 65 w 65"/>
                <a:gd name="T17" fmla="*/ 0 h 90"/>
                <a:gd name="T18" fmla="*/ 0 w 65"/>
                <a:gd name="T19" fmla="*/ 0 h 90"/>
                <a:gd name="T20" fmla="*/ 0 w 65"/>
                <a:gd name="T21" fmla="*/ 19 h 90"/>
                <a:gd name="T22" fmla="*/ 0 w 65"/>
                <a:gd name="T23" fmla="*/ 19 h 90"/>
                <a:gd name="T24" fmla="*/ 7 w 65"/>
                <a:gd name="T25" fmla="*/ 6 h 90"/>
                <a:gd name="T26" fmla="*/ 20 w 65"/>
                <a:gd name="T27" fmla="*/ 6 h 90"/>
                <a:gd name="T28" fmla="*/ 26 w 65"/>
                <a:gd name="T29" fmla="*/ 6 h 90"/>
                <a:gd name="T30" fmla="*/ 26 w 65"/>
                <a:gd name="T31" fmla="*/ 71 h 90"/>
                <a:gd name="T32" fmla="*/ 26 w 65"/>
                <a:gd name="T33" fmla="*/ 83 h 90"/>
                <a:gd name="T34" fmla="*/ 13 w 65"/>
                <a:gd name="T35" fmla="*/ 83 h 90"/>
                <a:gd name="T36" fmla="*/ 13 w 65"/>
                <a:gd name="T37" fmla="*/ 90 h 90"/>
                <a:gd name="T38" fmla="*/ 52 w 65"/>
                <a:gd name="T39" fmla="*/ 90 h 90"/>
                <a:gd name="T40" fmla="*/ 52 w 65"/>
                <a:gd name="T41" fmla="*/ 83 h 9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90"/>
                <a:gd name="T65" fmla="*/ 65 w 65"/>
                <a:gd name="T66" fmla="*/ 90 h 9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90">
                  <a:moveTo>
                    <a:pt x="52" y="83"/>
                  </a:moveTo>
                  <a:lnTo>
                    <a:pt x="39" y="83"/>
                  </a:lnTo>
                  <a:lnTo>
                    <a:pt x="39" y="71"/>
                  </a:lnTo>
                  <a:lnTo>
                    <a:pt x="39" y="6"/>
                  </a:lnTo>
                  <a:lnTo>
                    <a:pt x="46" y="6"/>
                  </a:lnTo>
                  <a:lnTo>
                    <a:pt x="59" y="6"/>
                  </a:lnTo>
                  <a:lnTo>
                    <a:pt x="65" y="19"/>
                  </a:lnTo>
                  <a:lnTo>
                    <a:pt x="65" y="0"/>
                  </a:lnTo>
                  <a:lnTo>
                    <a:pt x="0" y="0"/>
                  </a:lnTo>
                  <a:lnTo>
                    <a:pt x="0" y="19"/>
                  </a:lnTo>
                  <a:lnTo>
                    <a:pt x="7" y="6"/>
                  </a:lnTo>
                  <a:lnTo>
                    <a:pt x="20" y="6"/>
                  </a:lnTo>
                  <a:lnTo>
                    <a:pt x="26" y="6"/>
                  </a:lnTo>
                  <a:lnTo>
                    <a:pt x="26" y="71"/>
                  </a:lnTo>
                  <a:lnTo>
                    <a:pt x="26" y="83"/>
                  </a:lnTo>
                  <a:lnTo>
                    <a:pt x="13" y="83"/>
                  </a:lnTo>
                  <a:lnTo>
                    <a:pt x="13" y="90"/>
                  </a:lnTo>
                  <a:lnTo>
                    <a:pt x="52" y="90"/>
                  </a:lnTo>
                  <a:lnTo>
                    <a:pt x="52" y="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2" name="Freeform 60"/>
            <p:cNvSpPr/>
            <p:nvPr/>
          </p:nvSpPr>
          <p:spPr bwMode="auto">
            <a:xfrm>
              <a:off x="1205" y="2562"/>
              <a:ext cx="59" cy="97"/>
            </a:xfrm>
            <a:custGeom>
              <a:avLst/>
              <a:gdLst>
                <a:gd name="T0" fmla="*/ 59 w 59"/>
                <a:gd name="T1" fmla="*/ 90 h 97"/>
                <a:gd name="T2" fmla="*/ 52 w 59"/>
                <a:gd name="T3" fmla="*/ 90 h 97"/>
                <a:gd name="T4" fmla="*/ 52 w 59"/>
                <a:gd name="T5" fmla="*/ 84 h 97"/>
                <a:gd name="T6" fmla="*/ 52 w 59"/>
                <a:gd name="T7" fmla="*/ 52 h 97"/>
                <a:gd name="T8" fmla="*/ 52 w 59"/>
                <a:gd name="T9" fmla="*/ 52 h 97"/>
                <a:gd name="T10" fmla="*/ 52 w 59"/>
                <a:gd name="T11" fmla="*/ 45 h 97"/>
                <a:gd name="T12" fmla="*/ 46 w 59"/>
                <a:gd name="T13" fmla="*/ 39 h 97"/>
                <a:gd name="T14" fmla="*/ 33 w 59"/>
                <a:gd name="T15" fmla="*/ 32 h 97"/>
                <a:gd name="T16" fmla="*/ 26 w 59"/>
                <a:gd name="T17" fmla="*/ 39 h 97"/>
                <a:gd name="T18" fmla="*/ 20 w 59"/>
                <a:gd name="T19" fmla="*/ 45 h 97"/>
                <a:gd name="T20" fmla="*/ 20 w 59"/>
                <a:gd name="T21" fmla="*/ 45 h 97"/>
                <a:gd name="T22" fmla="*/ 20 w 59"/>
                <a:gd name="T23" fmla="*/ 0 h 97"/>
                <a:gd name="T24" fmla="*/ 20 w 59"/>
                <a:gd name="T25" fmla="*/ 0 h 97"/>
                <a:gd name="T26" fmla="*/ 13 w 59"/>
                <a:gd name="T27" fmla="*/ 7 h 97"/>
                <a:gd name="T28" fmla="*/ 0 w 59"/>
                <a:gd name="T29" fmla="*/ 7 h 97"/>
                <a:gd name="T30" fmla="*/ 0 w 59"/>
                <a:gd name="T31" fmla="*/ 13 h 97"/>
                <a:gd name="T32" fmla="*/ 0 w 59"/>
                <a:gd name="T33" fmla="*/ 13 h 97"/>
                <a:gd name="T34" fmla="*/ 7 w 59"/>
                <a:gd name="T35" fmla="*/ 13 h 97"/>
                <a:gd name="T36" fmla="*/ 7 w 59"/>
                <a:gd name="T37" fmla="*/ 19 h 97"/>
                <a:gd name="T38" fmla="*/ 7 w 59"/>
                <a:gd name="T39" fmla="*/ 84 h 97"/>
                <a:gd name="T40" fmla="*/ 7 w 59"/>
                <a:gd name="T41" fmla="*/ 90 h 97"/>
                <a:gd name="T42" fmla="*/ 0 w 59"/>
                <a:gd name="T43" fmla="*/ 90 h 97"/>
                <a:gd name="T44" fmla="*/ 0 w 59"/>
                <a:gd name="T45" fmla="*/ 97 h 97"/>
                <a:gd name="T46" fmla="*/ 26 w 59"/>
                <a:gd name="T47" fmla="*/ 97 h 97"/>
                <a:gd name="T48" fmla="*/ 26 w 59"/>
                <a:gd name="T49" fmla="*/ 90 h 97"/>
                <a:gd name="T50" fmla="*/ 20 w 59"/>
                <a:gd name="T51" fmla="*/ 90 h 97"/>
                <a:gd name="T52" fmla="*/ 20 w 59"/>
                <a:gd name="T53" fmla="*/ 84 h 97"/>
                <a:gd name="T54" fmla="*/ 20 w 59"/>
                <a:gd name="T55" fmla="*/ 45 h 97"/>
                <a:gd name="T56" fmla="*/ 26 w 59"/>
                <a:gd name="T57" fmla="*/ 39 h 97"/>
                <a:gd name="T58" fmla="*/ 33 w 59"/>
                <a:gd name="T59" fmla="*/ 39 h 97"/>
                <a:gd name="T60" fmla="*/ 39 w 59"/>
                <a:gd name="T61" fmla="*/ 45 h 97"/>
                <a:gd name="T62" fmla="*/ 39 w 59"/>
                <a:gd name="T63" fmla="*/ 52 h 97"/>
                <a:gd name="T64" fmla="*/ 39 w 59"/>
                <a:gd name="T65" fmla="*/ 84 h 97"/>
                <a:gd name="T66" fmla="*/ 39 w 59"/>
                <a:gd name="T67" fmla="*/ 90 h 97"/>
                <a:gd name="T68" fmla="*/ 33 w 59"/>
                <a:gd name="T69" fmla="*/ 90 h 97"/>
                <a:gd name="T70" fmla="*/ 33 w 59"/>
                <a:gd name="T71" fmla="*/ 97 h 97"/>
                <a:gd name="T72" fmla="*/ 59 w 59"/>
                <a:gd name="T73" fmla="*/ 97 h 97"/>
                <a:gd name="T74" fmla="*/ 59 w 59"/>
                <a:gd name="T75" fmla="*/ 90 h 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9"/>
                <a:gd name="T115" fmla="*/ 0 h 97"/>
                <a:gd name="T116" fmla="*/ 59 w 59"/>
                <a:gd name="T117" fmla="*/ 97 h 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9" h="97">
                  <a:moveTo>
                    <a:pt x="59" y="90"/>
                  </a:moveTo>
                  <a:lnTo>
                    <a:pt x="52" y="90"/>
                  </a:lnTo>
                  <a:lnTo>
                    <a:pt x="52" y="84"/>
                  </a:lnTo>
                  <a:lnTo>
                    <a:pt x="52" y="52"/>
                  </a:lnTo>
                  <a:lnTo>
                    <a:pt x="52" y="45"/>
                  </a:lnTo>
                  <a:lnTo>
                    <a:pt x="46" y="39"/>
                  </a:lnTo>
                  <a:lnTo>
                    <a:pt x="33" y="32"/>
                  </a:lnTo>
                  <a:lnTo>
                    <a:pt x="26" y="39"/>
                  </a:lnTo>
                  <a:lnTo>
                    <a:pt x="20" y="45"/>
                  </a:lnTo>
                  <a:lnTo>
                    <a:pt x="20" y="0"/>
                  </a:lnTo>
                  <a:lnTo>
                    <a:pt x="13" y="7"/>
                  </a:lnTo>
                  <a:lnTo>
                    <a:pt x="0" y="7"/>
                  </a:lnTo>
                  <a:lnTo>
                    <a:pt x="0" y="13"/>
                  </a:lnTo>
                  <a:lnTo>
                    <a:pt x="7" y="13"/>
                  </a:lnTo>
                  <a:lnTo>
                    <a:pt x="7" y="19"/>
                  </a:lnTo>
                  <a:lnTo>
                    <a:pt x="7" y="84"/>
                  </a:lnTo>
                  <a:lnTo>
                    <a:pt x="7" y="90"/>
                  </a:lnTo>
                  <a:lnTo>
                    <a:pt x="0" y="90"/>
                  </a:lnTo>
                  <a:lnTo>
                    <a:pt x="0" y="97"/>
                  </a:lnTo>
                  <a:lnTo>
                    <a:pt x="26" y="97"/>
                  </a:lnTo>
                  <a:lnTo>
                    <a:pt x="26" y="90"/>
                  </a:lnTo>
                  <a:lnTo>
                    <a:pt x="20" y="90"/>
                  </a:lnTo>
                  <a:lnTo>
                    <a:pt x="20" y="84"/>
                  </a:lnTo>
                  <a:lnTo>
                    <a:pt x="20" y="45"/>
                  </a:lnTo>
                  <a:lnTo>
                    <a:pt x="26" y="39"/>
                  </a:lnTo>
                  <a:lnTo>
                    <a:pt x="33" y="39"/>
                  </a:lnTo>
                  <a:lnTo>
                    <a:pt x="39" y="45"/>
                  </a:lnTo>
                  <a:lnTo>
                    <a:pt x="39" y="52"/>
                  </a:lnTo>
                  <a:lnTo>
                    <a:pt x="39" y="84"/>
                  </a:lnTo>
                  <a:lnTo>
                    <a:pt x="39" y="90"/>
                  </a:lnTo>
                  <a:lnTo>
                    <a:pt x="33" y="90"/>
                  </a:lnTo>
                  <a:lnTo>
                    <a:pt x="33" y="97"/>
                  </a:lnTo>
                  <a:lnTo>
                    <a:pt x="59" y="97"/>
                  </a:lnTo>
                  <a:lnTo>
                    <a:pt x="59" y="9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3" name="Freeform 61"/>
            <p:cNvSpPr>
              <a:spLocks noEditPoints="1"/>
            </p:cNvSpPr>
            <p:nvPr/>
          </p:nvSpPr>
          <p:spPr bwMode="auto">
            <a:xfrm>
              <a:off x="1315" y="2543"/>
              <a:ext cx="84" cy="45"/>
            </a:xfrm>
            <a:custGeom>
              <a:avLst/>
              <a:gdLst>
                <a:gd name="T0" fmla="*/ 84 w 84"/>
                <a:gd name="T1" fmla="*/ 0 h 45"/>
                <a:gd name="T2" fmla="*/ 0 w 84"/>
                <a:gd name="T3" fmla="*/ 0 h 45"/>
                <a:gd name="T4" fmla="*/ 0 w 84"/>
                <a:gd name="T5" fmla="*/ 6 h 45"/>
                <a:gd name="T6" fmla="*/ 84 w 84"/>
                <a:gd name="T7" fmla="*/ 6 h 45"/>
                <a:gd name="T8" fmla="*/ 84 w 84"/>
                <a:gd name="T9" fmla="*/ 0 h 45"/>
                <a:gd name="T10" fmla="*/ 84 w 84"/>
                <a:gd name="T11" fmla="*/ 32 h 45"/>
                <a:gd name="T12" fmla="*/ 0 w 84"/>
                <a:gd name="T13" fmla="*/ 32 h 45"/>
                <a:gd name="T14" fmla="*/ 0 w 84"/>
                <a:gd name="T15" fmla="*/ 45 h 45"/>
                <a:gd name="T16" fmla="*/ 84 w 84"/>
                <a:gd name="T17" fmla="*/ 45 h 45"/>
                <a:gd name="T18" fmla="*/ 84 w 84"/>
                <a:gd name="T19" fmla="*/ 32 h 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4"/>
                <a:gd name="T31" fmla="*/ 0 h 45"/>
                <a:gd name="T32" fmla="*/ 84 w 84"/>
                <a:gd name="T33" fmla="*/ 45 h 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4" h="45">
                  <a:moveTo>
                    <a:pt x="84" y="0"/>
                  </a:moveTo>
                  <a:lnTo>
                    <a:pt x="0" y="0"/>
                  </a:lnTo>
                  <a:lnTo>
                    <a:pt x="0" y="6"/>
                  </a:lnTo>
                  <a:lnTo>
                    <a:pt x="84" y="6"/>
                  </a:lnTo>
                  <a:lnTo>
                    <a:pt x="84" y="0"/>
                  </a:lnTo>
                  <a:close/>
                  <a:moveTo>
                    <a:pt x="84" y="32"/>
                  </a:moveTo>
                  <a:lnTo>
                    <a:pt x="0" y="32"/>
                  </a:lnTo>
                  <a:lnTo>
                    <a:pt x="0" y="45"/>
                  </a:lnTo>
                  <a:lnTo>
                    <a:pt x="84" y="45"/>
                  </a:lnTo>
                  <a:lnTo>
                    <a:pt x="84"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4" name="Freeform 62"/>
            <p:cNvSpPr/>
            <p:nvPr/>
          </p:nvSpPr>
          <p:spPr bwMode="auto">
            <a:xfrm>
              <a:off x="1458" y="2536"/>
              <a:ext cx="64" cy="78"/>
            </a:xfrm>
            <a:custGeom>
              <a:avLst/>
              <a:gdLst>
                <a:gd name="T0" fmla="*/ 0 w 64"/>
                <a:gd name="T1" fmla="*/ 7 h 78"/>
                <a:gd name="T2" fmla="*/ 12 w 64"/>
                <a:gd name="T3" fmla="*/ 7 h 78"/>
                <a:gd name="T4" fmla="*/ 12 w 64"/>
                <a:gd name="T5" fmla="*/ 13 h 78"/>
                <a:gd name="T6" fmla="*/ 12 w 64"/>
                <a:gd name="T7" fmla="*/ 26 h 78"/>
                <a:gd name="T8" fmla="*/ 19 w 64"/>
                <a:gd name="T9" fmla="*/ 33 h 78"/>
                <a:gd name="T10" fmla="*/ 19 w 64"/>
                <a:gd name="T11" fmla="*/ 45 h 78"/>
                <a:gd name="T12" fmla="*/ 19 w 64"/>
                <a:gd name="T13" fmla="*/ 71 h 78"/>
                <a:gd name="T14" fmla="*/ 19 w 64"/>
                <a:gd name="T15" fmla="*/ 78 h 78"/>
                <a:gd name="T16" fmla="*/ 19 w 64"/>
                <a:gd name="T17" fmla="*/ 78 h 78"/>
                <a:gd name="T18" fmla="*/ 25 w 64"/>
                <a:gd name="T19" fmla="*/ 78 h 78"/>
                <a:gd name="T20" fmla="*/ 38 w 64"/>
                <a:gd name="T21" fmla="*/ 65 h 78"/>
                <a:gd name="T22" fmla="*/ 45 w 64"/>
                <a:gd name="T23" fmla="*/ 58 h 78"/>
                <a:gd name="T24" fmla="*/ 51 w 64"/>
                <a:gd name="T25" fmla="*/ 39 h 78"/>
                <a:gd name="T26" fmla="*/ 58 w 64"/>
                <a:gd name="T27" fmla="*/ 26 h 78"/>
                <a:gd name="T28" fmla="*/ 64 w 64"/>
                <a:gd name="T29" fmla="*/ 13 h 78"/>
                <a:gd name="T30" fmla="*/ 58 w 64"/>
                <a:gd name="T31" fmla="*/ 7 h 78"/>
                <a:gd name="T32" fmla="*/ 51 w 64"/>
                <a:gd name="T33" fmla="*/ 0 h 78"/>
                <a:gd name="T34" fmla="*/ 51 w 64"/>
                <a:gd name="T35" fmla="*/ 7 h 78"/>
                <a:gd name="T36" fmla="*/ 45 w 64"/>
                <a:gd name="T37" fmla="*/ 7 h 78"/>
                <a:gd name="T38" fmla="*/ 51 w 64"/>
                <a:gd name="T39" fmla="*/ 13 h 78"/>
                <a:gd name="T40" fmla="*/ 58 w 64"/>
                <a:gd name="T41" fmla="*/ 20 h 78"/>
                <a:gd name="T42" fmla="*/ 51 w 64"/>
                <a:gd name="T43" fmla="*/ 39 h 78"/>
                <a:gd name="T44" fmla="*/ 32 w 64"/>
                <a:gd name="T45" fmla="*/ 58 h 78"/>
                <a:gd name="T46" fmla="*/ 32 w 64"/>
                <a:gd name="T47" fmla="*/ 65 h 78"/>
                <a:gd name="T48" fmla="*/ 25 w 64"/>
                <a:gd name="T49" fmla="*/ 33 h 78"/>
                <a:gd name="T50" fmla="*/ 19 w 64"/>
                <a:gd name="T51" fmla="*/ 7 h 78"/>
                <a:gd name="T52" fmla="*/ 19 w 64"/>
                <a:gd name="T53" fmla="*/ 0 h 78"/>
                <a:gd name="T54" fmla="*/ 19 w 64"/>
                <a:gd name="T55" fmla="*/ 0 h 78"/>
                <a:gd name="T56" fmla="*/ 12 w 64"/>
                <a:gd name="T57" fmla="*/ 7 h 78"/>
                <a:gd name="T58" fmla="*/ 0 w 64"/>
                <a:gd name="T59" fmla="*/ 7 h 78"/>
                <a:gd name="T60" fmla="*/ 0 w 64"/>
                <a:gd name="T61" fmla="*/ 7 h 7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4"/>
                <a:gd name="T94" fmla="*/ 0 h 78"/>
                <a:gd name="T95" fmla="*/ 64 w 64"/>
                <a:gd name="T96" fmla="*/ 78 h 7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4" h="78">
                  <a:moveTo>
                    <a:pt x="0" y="7"/>
                  </a:moveTo>
                  <a:lnTo>
                    <a:pt x="12" y="7"/>
                  </a:lnTo>
                  <a:lnTo>
                    <a:pt x="12" y="13"/>
                  </a:lnTo>
                  <a:lnTo>
                    <a:pt x="12" y="26"/>
                  </a:lnTo>
                  <a:lnTo>
                    <a:pt x="19" y="33"/>
                  </a:lnTo>
                  <a:lnTo>
                    <a:pt x="19" y="45"/>
                  </a:lnTo>
                  <a:lnTo>
                    <a:pt x="19" y="71"/>
                  </a:lnTo>
                  <a:lnTo>
                    <a:pt x="19" y="78"/>
                  </a:lnTo>
                  <a:lnTo>
                    <a:pt x="25" y="78"/>
                  </a:lnTo>
                  <a:lnTo>
                    <a:pt x="38" y="65"/>
                  </a:lnTo>
                  <a:lnTo>
                    <a:pt x="45" y="58"/>
                  </a:lnTo>
                  <a:lnTo>
                    <a:pt x="51" y="39"/>
                  </a:lnTo>
                  <a:lnTo>
                    <a:pt x="58" y="26"/>
                  </a:lnTo>
                  <a:lnTo>
                    <a:pt x="64" y="13"/>
                  </a:lnTo>
                  <a:lnTo>
                    <a:pt x="58" y="7"/>
                  </a:lnTo>
                  <a:lnTo>
                    <a:pt x="51" y="0"/>
                  </a:lnTo>
                  <a:lnTo>
                    <a:pt x="51" y="7"/>
                  </a:lnTo>
                  <a:lnTo>
                    <a:pt x="45" y="7"/>
                  </a:lnTo>
                  <a:lnTo>
                    <a:pt x="51" y="13"/>
                  </a:lnTo>
                  <a:lnTo>
                    <a:pt x="58" y="20"/>
                  </a:lnTo>
                  <a:lnTo>
                    <a:pt x="51" y="39"/>
                  </a:lnTo>
                  <a:lnTo>
                    <a:pt x="32" y="58"/>
                  </a:lnTo>
                  <a:lnTo>
                    <a:pt x="32" y="65"/>
                  </a:lnTo>
                  <a:lnTo>
                    <a:pt x="25" y="33"/>
                  </a:lnTo>
                  <a:lnTo>
                    <a:pt x="19" y="7"/>
                  </a:lnTo>
                  <a:lnTo>
                    <a:pt x="19" y="0"/>
                  </a:lnTo>
                  <a:lnTo>
                    <a:pt x="12" y="7"/>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5" name="Freeform 63"/>
            <p:cNvSpPr>
              <a:spLocks noEditPoints="1"/>
            </p:cNvSpPr>
            <p:nvPr/>
          </p:nvSpPr>
          <p:spPr bwMode="auto">
            <a:xfrm>
              <a:off x="1516" y="2594"/>
              <a:ext cx="51" cy="65"/>
            </a:xfrm>
            <a:custGeom>
              <a:avLst/>
              <a:gdLst>
                <a:gd name="T0" fmla="*/ 32 w 51"/>
                <a:gd name="T1" fmla="*/ 0 h 65"/>
                <a:gd name="T2" fmla="*/ 19 w 51"/>
                <a:gd name="T3" fmla="*/ 7 h 65"/>
                <a:gd name="T4" fmla="*/ 13 w 51"/>
                <a:gd name="T5" fmla="*/ 13 h 65"/>
                <a:gd name="T6" fmla="*/ 6 w 51"/>
                <a:gd name="T7" fmla="*/ 33 h 65"/>
                <a:gd name="T8" fmla="*/ 0 w 51"/>
                <a:gd name="T9" fmla="*/ 46 h 65"/>
                <a:gd name="T10" fmla="*/ 6 w 51"/>
                <a:gd name="T11" fmla="*/ 58 h 65"/>
                <a:gd name="T12" fmla="*/ 19 w 51"/>
                <a:gd name="T13" fmla="*/ 65 h 65"/>
                <a:gd name="T14" fmla="*/ 32 w 51"/>
                <a:gd name="T15" fmla="*/ 58 h 65"/>
                <a:gd name="T16" fmla="*/ 45 w 51"/>
                <a:gd name="T17" fmla="*/ 52 h 65"/>
                <a:gd name="T18" fmla="*/ 51 w 51"/>
                <a:gd name="T19" fmla="*/ 26 h 65"/>
                <a:gd name="T20" fmla="*/ 51 w 51"/>
                <a:gd name="T21" fmla="*/ 7 h 65"/>
                <a:gd name="T22" fmla="*/ 45 w 51"/>
                <a:gd name="T23" fmla="*/ 0 h 65"/>
                <a:gd name="T24" fmla="*/ 32 w 51"/>
                <a:gd name="T25" fmla="*/ 0 h 65"/>
                <a:gd name="T26" fmla="*/ 32 w 51"/>
                <a:gd name="T27" fmla="*/ 0 h 65"/>
                <a:gd name="T28" fmla="*/ 32 w 51"/>
                <a:gd name="T29" fmla="*/ 7 h 65"/>
                <a:gd name="T30" fmla="*/ 39 w 51"/>
                <a:gd name="T31" fmla="*/ 13 h 65"/>
                <a:gd name="T32" fmla="*/ 45 w 51"/>
                <a:gd name="T33" fmla="*/ 20 h 65"/>
                <a:gd name="T34" fmla="*/ 45 w 51"/>
                <a:gd name="T35" fmla="*/ 33 h 65"/>
                <a:gd name="T36" fmla="*/ 39 w 51"/>
                <a:gd name="T37" fmla="*/ 46 h 65"/>
                <a:gd name="T38" fmla="*/ 32 w 51"/>
                <a:gd name="T39" fmla="*/ 58 h 65"/>
                <a:gd name="T40" fmla="*/ 19 w 51"/>
                <a:gd name="T41" fmla="*/ 65 h 65"/>
                <a:gd name="T42" fmla="*/ 13 w 51"/>
                <a:gd name="T43" fmla="*/ 58 h 65"/>
                <a:gd name="T44" fmla="*/ 13 w 51"/>
                <a:gd name="T45" fmla="*/ 52 h 65"/>
                <a:gd name="T46" fmla="*/ 19 w 51"/>
                <a:gd name="T47" fmla="*/ 20 h 65"/>
                <a:gd name="T48" fmla="*/ 26 w 51"/>
                <a:gd name="T49" fmla="*/ 13 h 65"/>
                <a:gd name="T50" fmla="*/ 32 w 51"/>
                <a:gd name="T51" fmla="*/ 7 h 65"/>
                <a:gd name="T52" fmla="*/ 32 w 51"/>
                <a:gd name="T53" fmla="*/ 7 h 6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1"/>
                <a:gd name="T82" fmla="*/ 0 h 65"/>
                <a:gd name="T83" fmla="*/ 51 w 51"/>
                <a:gd name="T84" fmla="*/ 65 h 6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1" h="65">
                  <a:moveTo>
                    <a:pt x="32" y="0"/>
                  </a:moveTo>
                  <a:lnTo>
                    <a:pt x="19" y="7"/>
                  </a:lnTo>
                  <a:lnTo>
                    <a:pt x="13" y="13"/>
                  </a:lnTo>
                  <a:lnTo>
                    <a:pt x="6" y="33"/>
                  </a:lnTo>
                  <a:lnTo>
                    <a:pt x="0" y="46"/>
                  </a:lnTo>
                  <a:lnTo>
                    <a:pt x="6" y="58"/>
                  </a:lnTo>
                  <a:lnTo>
                    <a:pt x="19" y="65"/>
                  </a:lnTo>
                  <a:lnTo>
                    <a:pt x="32" y="58"/>
                  </a:lnTo>
                  <a:lnTo>
                    <a:pt x="45" y="52"/>
                  </a:lnTo>
                  <a:lnTo>
                    <a:pt x="51" y="26"/>
                  </a:lnTo>
                  <a:lnTo>
                    <a:pt x="51" y="7"/>
                  </a:lnTo>
                  <a:lnTo>
                    <a:pt x="45" y="0"/>
                  </a:lnTo>
                  <a:lnTo>
                    <a:pt x="32" y="0"/>
                  </a:lnTo>
                  <a:close/>
                  <a:moveTo>
                    <a:pt x="32" y="7"/>
                  </a:moveTo>
                  <a:lnTo>
                    <a:pt x="39" y="13"/>
                  </a:lnTo>
                  <a:lnTo>
                    <a:pt x="45" y="20"/>
                  </a:lnTo>
                  <a:lnTo>
                    <a:pt x="45" y="33"/>
                  </a:lnTo>
                  <a:lnTo>
                    <a:pt x="39" y="46"/>
                  </a:lnTo>
                  <a:lnTo>
                    <a:pt x="32" y="58"/>
                  </a:lnTo>
                  <a:lnTo>
                    <a:pt x="19" y="65"/>
                  </a:lnTo>
                  <a:lnTo>
                    <a:pt x="13" y="58"/>
                  </a:lnTo>
                  <a:lnTo>
                    <a:pt x="13" y="52"/>
                  </a:lnTo>
                  <a:lnTo>
                    <a:pt x="19" y="20"/>
                  </a:lnTo>
                  <a:lnTo>
                    <a:pt x="26" y="13"/>
                  </a:lnTo>
                  <a:lnTo>
                    <a:pt x="32"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6" name="Freeform 64"/>
            <p:cNvSpPr/>
            <p:nvPr/>
          </p:nvSpPr>
          <p:spPr bwMode="auto">
            <a:xfrm>
              <a:off x="1574" y="2594"/>
              <a:ext cx="52" cy="65"/>
            </a:xfrm>
            <a:custGeom>
              <a:avLst/>
              <a:gdLst>
                <a:gd name="T0" fmla="*/ 39 w 52"/>
                <a:gd name="T1" fmla="*/ 46 h 65"/>
                <a:gd name="T2" fmla="*/ 32 w 52"/>
                <a:gd name="T3" fmla="*/ 52 h 65"/>
                <a:gd name="T4" fmla="*/ 26 w 52"/>
                <a:gd name="T5" fmla="*/ 58 h 65"/>
                <a:gd name="T6" fmla="*/ 13 w 52"/>
                <a:gd name="T7" fmla="*/ 52 h 65"/>
                <a:gd name="T8" fmla="*/ 13 w 52"/>
                <a:gd name="T9" fmla="*/ 46 h 65"/>
                <a:gd name="T10" fmla="*/ 19 w 52"/>
                <a:gd name="T11" fmla="*/ 20 h 65"/>
                <a:gd name="T12" fmla="*/ 26 w 52"/>
                <a:gd name="T13" fmla="*/ 13 h 65"/>
                <a:gd name="T14" fmla="*/ 39 w 52"/>
                <a:gd name="T15" fmla="*/ 7 h 65"/>
                <a:gd name="T16" fmla="*/ 39 w 52"/>
                <a:gd name="T17" fmla="*/ 7 h 65"/>
                <a:gd name="T18" fmla="*/ 39 w 52"/>
                <a:gd name="T19" fmla="*/ 13 h 65"/>
                <a:gd name="T20" fmla="*/ 39 w 52"/>
                <a:gd name="T21" fmla="*/ 13 h 65"/>
                <a:gd name="T22" fmla="*/ 39 w 52"/>
                <a:gd name="T23" fmla="*/ 20 h 65"/>
                <a:gd name="T24" fmla="*/ 45 w 52"/>
                <a:gd name="T25" fmla="*/ 20 h 65"/>
                <a:gd name="T26" fmla="*/ 52 w 52"/>
                <a:gd name="T27" fmla="*/ 20 h 65"/>
                <a:gd name="T28" fmla="*/ 52 w 52"/>
                <a:gd name="T29" fmla="*/ 13 h 65"/>
                <a:gd name="T30" fmla="*/ 45 w 52"/>
                <a:gd name="T31" fmla="*/ 7 h 65"/>
                <a:gd name="T32" fmla="*/ 39 w 52"/>
                <a:gd name="T33" fmla="*/ 0 h 65"/>
                <a:gd name="T34" fmla="*/ 26 w 52"/>
                <a:gd name="T35" fmla="*/ 7 h 65"/>
                <a:gd name="T36" fmla="*/ 13 w 52"/>
                <a:gd name="T37" fmla="*/ 13 h 65"/>
                <a:gd name="T38" fmla="*/ 6 w 52"/>
                <a:gd name="T39" fmla="*/ 33 h 65"/>
                <a:gd name="T40" fmla="*/ 0 w 52"/>
                <a:gd name="T41" fmla="*/ 46 h 65"/>
                <a:gd name="T42" fmla="*/ 6 w 52"/>
                <a:gd name="T43" fmla="*/ 58 h 65"/>
                <a:gd name="T44" fmla="*/ 19 w 52"/>
                <a:gd name="T45" fmla="*/ 65 h 65"/>
                <a:gd name="T46" fmla="*/ 32 w 52"/>
                <a:gd name="T47" fmla="*/ 58 h 65"/>
                <a:gd name="T48" fmla="*/ 45 w 52"/>
                <a:gd name="T49" fmla="*/ 52 h 65"/>
                <a:gd name="T50" fmla="*/ 39 w 52"/>
                <a:gd name="T51" fmla="*/ 46 h 6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2"/>
                <a:gd name="T79" fmla="*/ 0 h 65"/>
                <a:gd name="T80" fmla="*/ 52 w 52"/>
                <a:gd name="T81" fmla="*/ 65 h 6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2" h="65">
                  <a:moveTo>
                    <a:pt x="39" y="46"/>
                  </a:moveTo>
                  <a:lnTo>
                    <a:pt x="32" y="52"/>
                  </a:lnTo>
                  <a:lnTo>
                    <a:pt x="26" y="58"/>
                  </a:lnTo>
                  <a:lnTo>
                    <a:pt x="13" y="52"/>
                  </a:lnTo>
                  <a:lnTo>
                    <a:pt x="13" y="46"/>
                  </a:lnTo>
                  <a:lnTo>
                    <a:pt x="19" y="20"/>
                  </a:lnTo>
                  <a:lnTo>
                    <a:pt x="26" y="13"/>
                  </a:lnTo>
                  <a:lnTo>
                    <a:pt x="39" y="7"/>
                  </a:lnTo>
                  <a:lnTo>
                    <a:pt x="39" y="13"/>
                  </a:lnTo>
                  <a:lnTo>
                    <a:pt x="39" y="20"/>
                  </a:lnTo>
                  <a:lnTo>
                    <a:pt x="45" y="20"/>
                  </a:lnTo>
                  <a:lnTo>
                    <a:pt x="52" y="20"/>
                  </a:lnTo>
                  <a:lnTo>
                    <a:pt x="52" y="13"/>
                  </a:lnTo>
                  <a:lnTo>
                    <a:pt x="45" y="7"/>
                  </a:lnTo>
                  <a:lnTo>
                    <a:pt x="39" y="0"/>
                  </a:lnTo>
                  <a:lnTo>
                    <a:pt x="26" y="7"/>
                  </a:lnTo>
                  <a:lnTo>
                    <a:pt x="13" y="13"/>
                  </a:lnTo>
                  <a:lnTo>
                    <a:pt x="6" y="33"/>
                  </a:lnTo>
                  <a:lnTo>
                    <a:pt x="0" y="46"/>
                  </a:lnTo>
                  <a:lnTo>
                    <a:pt x="6" y="58"/>
                  </a:lnTo>
                  <a:lnTo>
                    <a:pt x="19" y="65"/>
                  </a:lnTo>
                  <a:lnTo>
                    <a:pt x="32" y="58"/>
                  </a:lnTo>
                  <a:lnTo>
                    <a:pt x="45" y="52"/>
                  </a:lnTo>
                  <a:lnTo>
                    <a:pt x="39" y="4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7" name="Freeform 65"/>
            <p:cNvSpPr/>
            <p:nvPr/>
          </p:nvSpPr>
          <p:spPr bwMode="auto">
            <a:xfrm>
              <a:off x="4476" y="1258"/>
              <a:ext cx="1" cy="1091"/>
            </a:xfrm>
            <a:custGeom>
              <a:avLst/>
              <a:gdLst>
                <a:gd name="T0" fmla="*/ 0 w 1"/>
                <a:gd name="T1" fmla="*/ 1091 h 1091"/>
                <a:gd name="T2" fmla="*/ 0 w 1"/>
                <a:gd name="T3" fmla="*/ 0 h 1091"/>
                <a:gd name="T4" fmla="*/ 0 w 1"/>
                <a:gd name="T5" fmla="*/ 1091 h 1091"/>
                <a:gd name="T6" fmla="*/ 0 w 1"/>
                <a:gd name="T7" fmla="*/ 1091 h 1091"/>
                <a:gd name="T8" fmla="*/ 0 60000 65536"/>
                <a:gd name="T9" fmla="*/ 0 60000 65536"/>
                <a:gd name="T10" fmla="*/ 0 60000 65536"/>
                <a:gd name="T11" fmla="*/ 0 60000 65536"/>
                <a:gd name="T12" fmla="*/ 0 w 1"/>
                <a:gd name="T13" fmla="*/ 0 h 1091"/>
                <a:gd name="T14" fmla="*/ 1 w 1"/>
                <a:gd name="T15" fmla="*/ 1091 h 1091"/>
              </a:gdLst>
              <a:ahLst/>
              <a:cxnLst>
                <a:cxn ang="T8">
                  <a:pos x="T0" y="T1"/>
                </a:cxn>
                <a:cxn ang="T9">
                  <a:pos x="T2" y="T3"/>
                </a:cxn>
                <a:cxn ang="T10">
                  <a:pos x="T4" y="T5"/>
                </a:cxn>
                <a:cxn ang="T11">
                  <a:pos x="T6" y="T7"/>
                </a:cxn>
              </a:cxnLst>
              <a:rect l="T12" t="T13" r="T14" b="T15"/>
              <a:pathLst>
                <a:path w="1" h="1091">
                  <a:moveTo>
                    <a:pt x="0" y="1091"/>
                  </a:moveTo>
                  <a:lnTo>
                    <a:pt x="0" y="0"/>
                  </a:lnTo>
                  <a:lnTo>
                    <a:pt x="0" y="1091"/>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8" name="Freeform 66"/>
            <p:cNvSpPr>
              <a:spLocks noEditPoints="1"/>
            </p:cNvSpPr>
            <p:nvPr/>
          </p:nvSpPr>
          <p:spPr bwMode="auto">
            <a:xfrm>
              <a:off x="3041" y="1258"/>
              <a:ext cx="1435" cy="1"/>
            </a:xfrm>
            <a:custGeom>
              <a:avLst/>
              <a:gdLst>
                <a:gd name="T0" fmla="*/ 1435 w 1435"/>
                <a:gd name="T1" fmla="*/ 0 h 1"/>
                <a:gd name="T2" fmla="*/ 0 w 1435"/>
                <a:gd name="T3" fmla="*/ 0 h 1"/>
                <a:gd name="T4" fmla="*/ 1435 w 1435"/>
                <a:gd name="T5" fmla="*/ 0 h 1"/>
                <a:gd name="T6" fmla="*/ 1435 w 1435"/>
                <a:gd name="T7" fmla="*/ 0 h 1"/>
                <a:gd name="T8" fmla="*/ 1435 w 1435"/>
                <a:gd name="T9" fmla="*/ 0 h 1"/>
                <a:gd name="T10" fmla="*/ 1435 w 1435"/>
                <a:gd name="T11" fmla="*/ 0 h 1"/>
                <a:gd name="T12" fmla="*/ 1435 w 1435"/>
                <a:gd name="T13" fmla="*/ 0 h 1"/>
                <a:gd name="T14" fmla="*/ 0 60000 65536"/>
                <a:gd name="T15" fmla="*/ 0 60000 65536"/>
                <a:gd name="T16" fmla="*/ 0 60000 65536"/>
                <a:gd name="T17" fmla="*/ 0 60000 65536"/>
                <a:gd name="T18" fmla="*/ 0 60000 65536"/>
                <a:gd name="T19" fmla="*/ 0 60000 65536"/>
                <a:gd name="T20" fmla="*/ 0 60000 65536"/>
                <a:gd name="T21" fmla="*/ 0 w 1435"/>
                <a:gd name="T22" fmla="*/ 0 h 1"/>
                <a:gd name="T23" fmla="*/ 1435 w 143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5" h="1">
                  <a:moveTo>
                    <a:pt x="1435" y="0"/>
                  </a:moveTo>
                  <a:lnTo>
                    <a:pt x="0" y="0"/>
                  </a:lnTo>
                  <a:lnTo>
                    <a:pt x="1435" y="0"/>
                  </a:lnTo>
                  <a:close/>
                  <a:moveTo>
                    <a:pt x="1435" y="0"/>
                  </a:moveTo>
                  <a:lnTo>
                    <a:pt x="143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89" name="Freeform 67"/>
            <p:cNvSpPr>
              <a:spLocks noEditPoints="1"/>
            </p:cNvSpPr>
            <p:nvPr/>
          </p:nvSpPr>
          <p:spPr bwMode="auto">
            <a:xfrm>
              <a:off x="3041" y="1258"/>
              <a:ext cx="1" cy="1091"/>
            </a:xfrm>
            <a:custGeom>
              <a:avLst/>
              <a:gdLst>
                <a:gd name="T0" fmla="*/ 0 w 1"/>
                <a:gd name="T1" fmla="*/ 0 h 1091"/>
                <a:gd name="T2" fmla="*/ 0 w 1"/>
                <a:gd name="T3" fmla="*/ 1091 h 1091"/>
                <a:gd name="T4" fmla="*/ 0 w 1"/>
                <a:gd name="T5" fmla="*/ 0 h 1091"/>
                <a:gd name="T6" fmla="*/ 0 w 1"/>
                <a:gd name="T7" fmla="*/ 0 h 1091"/>
                <a:gd name="T8" fmla="*/ 0 w 1"/>
                <a:gd name="T9" fmla="*/ 0 h 1091"/>
                <a:gd name="T10" fmla="*/ 0 w 1"/>
                <a:gd name="T11" fmla="*/ 0 h 1091"/>
                <a:gd name="T12" fmla="*/ 0 w 1"/>
                <a:gd name="T13" fmla="*/ 0 h 1091"/>
                <a:gd name="T14" fmla="*/ 0 60000 65536"/>
                <a:gd name="T15" fmla="*/ 0 60000 65536"/>
                <a:gd name="T16" fmla="*/ 0 60000 65536"/>
                <a:gd name="T17" fmla="*/ 0 60000 65536"/>
                <a:gd name="T18" fmla="*/ 0 60000 65536"/>
                <a:gd name="T19" fmla="*/ 0 60000 65536"/>
                <a:gd name="T20" fmla="*/ 0 60000 65536"/>
                <a:gd name="T21" fmla="*/ 0 w 1"/>
                <a:gd name="T22" fmla="*/ 0 h 1091"/>
                <a:gd name="T23" fmla="*/ 1 w 1"/>
                <a:gd name="T24" fmla="*/ 1091 h 10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091">
                  <a:moveTo>
                    <a:pt x="0" y="0"/>
                  </a:moveTo>
                  <a:lnTo>
                    <a:pt x="0" y="1091"/>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0" name="Freeform 68"/>
            <p:cNvSpPr>
              <a:spLocks noEditPoints="1"/>
            </p:cNvSpPr>
            <p:nvPr/>
          </p:nvSpPr>
          <p:spPr bwMode="auto">
            <a:xfrm>
              <a:off x="3041" y="2349"/>
              <a:ext cx="1435" cy="1"/>
            </a:xfrm>
            <a:custGeom>
              <a:avLst/>
              <a:gdLst>
                <a:gd name="T0" fmla="*/ 0 w 1435"/>
                <a:gd name="T1" fmla="*/ 0 h 1"/>
                <a:gd name="T2" fmla="*/ 1435 w 1435"/>
                <a:gd name="T3" fmla="*/ 0 h 1"/>
                <a:gd name="T4" fmla="*/ 0 w 1435"/>
                <a:gd name="T5" fmla="*/ 0 h 1"/>
                <a:gd name="T6" fmla="*/ 0 w 1435"/>
                <a:gd name="T7" fmla="*/ 0 h 1"/>
                <a:gd name="T8" fmla="*/ 0 w 1435"/>
                <a:gd name="T9" fmla="*/ 0 h 1"/>
                <a:gd name="T10" fmla="*/ 0 w 1435"/>
                <a:gd name="T11" fmla="*/ 0 h 1"/>
                <a:gd name="T12" fmla="*/ 0 w 1435"/>
                <a:gd name="T13" fmla="*/ 0 h 1"/>
                <a:gd name="T14" fmla="*/ 0 60000 65536"/>
                <a:gd name="T15" fmla="*/ 0 60000 65536"/>
                <a:gd name="T16" fmla="*/ 0 60000 65536"/>
                <a:gd name="T17" fmla="*/ 0 60000 65536"/>
                <a:gd name="T18" fmla="*/ 0 60000 65536"/>
                <a:gd name="T19" fmla="*/ 0 60000 65536"/>
                <a:gd name="T20" fmla="*/ 0 60000 65536"/>
                <a:gd name="T21" fmla="*/ 0 w 1435"/>
                <a:gd name="T22" fmla="*/ 0 h 1"/>
                <a:gd name="T23" fmla="*/ 1435 w 1435"/>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5" h="1">
                  <a:moveTo>
                    <a:pt x="0" y="0"/>
                  </a:moveTo>
                  <a:lnTo>
                    <a:pt x="1435" y="0"/>
                  </a:lnTo>
                  <a:lnTo>
                    <a:pt x="0" y="0"/>
                  </a:lnTo>
                  <a:close/>
                  <a:moveTo>
                    <a:pt x="0" y="0"/>
                  </a:moveTo>
                  <a:lnTo>
                    <a:pt x="0"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1" name="Freeform 69"/>
            <p:cNvSpPr/>
            <p:nvPr/>
          </p:nvSpPr>
          <p:spPr bwMode="auto">
            <a:xfrm>
              <a:off x="4476" y="234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2" name="Freeform 70"/>
            <p:cNvSpPr/>
            <p:nvPr/>
          </p:nvSpPr>
          <p:spPr bwMode="auto">
            <a:xfrm>
              <a:off x="4476" y="2214"/>
              <a:ext cx="744" cy="1"/>
            </a:xfrm>
            <a:custGeom>
              <a:avLst/>
              <a:gdLst>
                <a:gd name="T0" fmla="*/ 0 w 744"/>
                <a:gd name="T1" fmla="*/ 0 h 1"/>
                <a:gd name="T2" fmla="*/ 744 w 744"/>
                <a:gd name="T3" fmla="*/ 0 h 1"/>
                <a:gd name="T4" fmla="*/ 0 w 744"/>
                <a:gd name="T5" fmla="*/ 0 h 1"/>
                <a:gd name="T6" fmla="*/ 0 w 744"/>
                <a:gd name="T7" fmla="*/ 0 h 1"/>
                <a:gd name="T8" fmla="*/ 0 60000 65536"/>
                <a:gd name="T9" fmla="*/ 0 60000 65536"/>
                <a:gd name="T10" fmla="*/ 0 60000 65536"/>
                <a:gd name="T11" fmla="*/ 0 60000 65536"/>
                <a:gd name="T12" fmla="*/ 0 w 744"/>
                <a:gd name="T13" fmla="*/ 0 h 1"/>
                <a:gd name="T14" fmla="*/ 744 w 744"/>
                <a:gd name="T15" fmla="*/ 1 h 1"/>
              </a:gdLst>
              <a:ahLst/>
              <a:cxnLst>
                <a:cxn ang="T8">
                  <a:pos x="T0" y="T1"/>
                </a:cxn>
                <a:cxn ang="T9">
                  <a:pos x="T2" y="T3"/>
                </a:cxn>
                <a:cxn ang="T10">
                  <a:pos x="T4" y="T5"/>
                </a:cxn>
                <a:cxn ang="T11">
                  <a:pos x="T6" y="T7"/>
                </a:cxn>
              </a:cxnLst>
              <a:rect l="T12" t="T13" r="T14" b="T15"/>
              <a:pathLst>
                <a:path w="744" h="1">
                  <a:moveTo>
                    <a:pt x="0" y="0"/>
                  </a:moveTo>
                  <a:lnTo>
                    <a:pt x="744"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3" name="Freeform 71"/>
            <p:cNvSpPr/>
            <p:nvPr/>
          </p:nvSpPr>
          <p:spPr bwMode="auto">
            <a:xfrm>
              <a:off x="4476" y="1394"/>
              <a:ext cx="744" cy="1"/>
            </a:xfrm>
            <a:custGeom>
              <a:avLst/>
              <a:gdLst>
                <a:gd name="T0" fmla="*/ 744 w 744"/>
                <a:gd name="T1" fmla="*/ 0 h 1"/>
                <a:gd name="T2" fmla="*/ 0 w 744"/>
                <a:gd name="T3" fmla="*/ 0 h 1"/>
                <a:gd name="T4" fmla="*/ 744 w 744"/>
                <a:gd name="T5" fmla="*/ 0 h 1"/>
                <a:gd name="T6" fmla="*/ 744 w 744"/>
                <a:gd name="T7" fmla="*/ 0 h 1"/>
                <a:gd name="T8" fmla="*/ 0 60000 65536"/>
                <a:gd name="T9" fmla="*/ 0 60000 65536"/>
                <a:gd name="T10" fmla="*/ 0 60000 65536"/>
                <a:gd name="T11" fmla="*/ 0 60000 65536"/>
                <a:gd name="T12" fmla="*/ 0 w 744"/>
                <a:gd name="T13" fmla="*/ 0 h 1"/>
                <a:gd name="T14" fmla="*/ 744 w 744"/>
                <a:gd name="T15" fmla="*/ 1 h 1"/>
              </a:gdLst>
              <a:ahLst/>
              <a:cxnLst>
                <a:cxn ang="T8">
                  <a:pos x="T0" y="T1"/>
                </a:cxn>
                <a:cxn ang="T9">
                  <a:pos x="T2" y="T3"/>
                </a:cxn>
                <a:cxn ang="T10">
                  <a:pos x="T4" y="T5"/>
                </a:cxn>
                <a:cxn ang="T11">
                  <a:pos x="T6" y="T7"/>
                </a:cxn>
              </a:cxnLst>
              <a:rect l="T12" t="T13" r="T14" b="T15"/>
              <a:pathLst>
                <a:path w="744" h="1">
                  <a:moveTo>
                    <a:pt x="744" y="0"/>
                  </a:moveTo>
                  <a:lnTo>
                    <a:pt x="0" y="0"/>
                  </a:lnTo>
                  <a:lnTo>
                    <a:pt x="74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4" name="Freeform 124"/>
            <p:cNvSpPr/>
            <p:nvPr/>
          </p:nvSpPr>
          <p:spPr bwMode="auto">
            <a:xfrm>
              <a:off x="5181" y="1355"/>
              <a:ext cx="71" cy="84"/>
            </a:xfrm>
            <a:custGeom>
              <a:avLst/>
              <a:gdLst>
                <a:gd name="T0" fmla="*/ 39 w 71"/>
                <a:gd name="T1" fmla="*/ 84 h 84"/>
                <a:gd name="T2" fmla="*/ 52 w 71"/>
                <a:gd name="T3" fmla="*/ 84 h 84"/>
                <a:gd name="T4" fmla="*/ 65 w 71"/>
                <a:gd name="T5" fmla="*/ 71 h 84"/>
                <a:gd name="T6" fmla="*/ 71 w 71"/>
                <a:gd name="T7" fmla="*/ 39 h 84"/>
                <a:gd name="T8" fmla="*/ 65 w 71"/>
                <a:gd name="T9" fmla="*/ 13 h 84"/>
                <a:gd name="T10" fmla="*/ 52 w 71"/>
                <a:gd name="T11" fmla="*/ 7 h 84"/>
                <a:gd name="T12" fmla="*/ 39 w 71"/>
                <a:gd name="T13" fmla="*/ 0 h 84"/>
                <a:gd name="T14" fmla="*/ 19 w 71"/>
                <a:gd name="T15" fmla="*/ 7 h 84"/>
                <a:gd name="T16" fmla="*/ 13 w 71"/>
                <a:gd name="T17" fmla="*/ 13 h 84"/>
                <a:gd name="T18" fmla="*/ 0 w 71"/>
                <a:gd name="T19" fmla="*/ 39 h 84"/>
                <a:gd name="T20" fmla="*/ 13 w 71"/>
                <a:gd name="T21" fmla="*/ 71 h 84"/>
                <a:gd name="T22" fmla="*/ 19 w 71"/>
                <a:gd name="T23" fmla="*/ 84 h 84"/>
                <a:gd name="T24" fmla="*/ 39 w 71"/>
                <a:gd name="T25" fmla="*/ 84 h 84"/>
                <a:gd name="T26" fmla="*/ 39 w 71"/>
                <a:gd name="T27" fmla="*/ 84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
                <a:gd name="T43" fmla="*/ 0 h 84"/>
                <a:gd name="T44" fmla="*/ 71 w 71"/>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 h="84">
                  <a:moveTo>
                    <a:pt x="39" y="84"/>
                  </a:moveTo>
                  <a:lnTo>
                    <a:pt x="52" y="84"/>
                  </a:lnTo>
                  <a:lnTo>
                    <a:pt x="65" y="71"/>
                  </a:lnTo>
                  <a:lnTo>
                    <a:pt x="71" y="39"/>
                  </a:lnTo>
                  <a:lnTo>
                    <a:pt x="65" y="13"/>
                  </a:lnTo>
                  <a:lnTo>
                    <a:pt x="52" y="7"/>
                  </a:lnTo>
                  <a:lnTo>
                    <a:pt x="39" y="0"/>
                  </a:lnTo>
                  <a:lnTo>
                    <a:pt x="19" y="7"/>
                  </a:lnTo>
                  <a:lnTo>
                    <a:pt x="13" y="13"/>
                  </a:lnTo>
                  <a:lnTo>
                    <a:pt x="0" y="39"/>
                  </a:lnTo>
                  <a:lnTo>
                    <a:pt x="13" y="71"/>
                  </a:lnTo>
                  <a:lnTo>
                    <a:pt x="19" y="84"/>
                  </a:lnTo>
                  <a:lnTo>
                    <a:pt x="39" y="84"/>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5" name="Freeform 125"/>
            <p:cNvSpPr/>
            <p:nvPr/>
          </p:nvSpPr>
          <p:spPr bwMode="auto">
            <a:xfrm>
              <a:off x="5220" y="1394"/>
              <a:ext cx="32" cy="45"/>
            </a:xfrm>
            <a:custGeom>
              <a:avLst/>
              <a:gdLst>
                <a:gd name="T0" fmla="*/ 0 w 32"/>
                <a:gd name="T1" fmla="*/ 45 h 45"/>
                <a:gd name="T2" fmla="*/ 13 w 32"/>
                <a:gd name="T3" fmla="*/ 45 h 45"/>
                <a:gd name="T4" fmla="*/ 26 w 32"/>
                <a:gd name="T5" fmla="*/ 32 h 45"/>
                <a:gd name="T6" fmla="*/ 32 w 32"/>
                <a:gd name="T7" fmla="*/ 0 h 45"/>
                <a:gd name="T8" fmla="*/ 32 w 32"/>
                <a:gd name="T9" fmla="*/ 0 h 45"/>
                <a:gd name="T10" fmla="*/ 26 w 32"/>
                <a:gd name="T11" fmla="*/ 32 h 45"/>
                <a:gd name="T12" fmla="*/ 13 w 32"/>
                <a:gd name="T13" fmla="*/ 45 h 45"/>
                <a:gd name="T14" fmla="*/ 0 w 32"/>
                <a:gd name="T15" fmla="*/ 45 h 45"/>
                <a:gd name="T16" fmla="*/ 0 w 32"/>
                <a:gd name="T17" fmla="*/ 45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45"/>
                <a:gd name="T29" fmla="*/ 32 w 32"/>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45">
                  <a:moveTo>
                    <a:pt x="0" y="45"/>
                  </a:moveTo>
                  <a:lnTo>
                    <a:pt x="13" y="45"/>
                  </a:lnTo>
                  <a:lnTo>
                    <a:pt x="26" y="32"/>
                  </a:lnTo>
                  <a:lnTo>
                    <a:pt x="32" y="0"/>
                  </a:lnTo>
                  <a:lnTo>
                    <a:pt x="26" y="32"/>
                  </a:lnTo>
                  <a:lnTo>
                    <a:pt x="13" y="45"/>
                  </a:lnTo>
                  <a:lnTo>
                    <a:pt x="0" y="4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6" name="Freeform 126"/>
            <p:cNvSpPr>
              <a:spLocks noEditPoints="1"/>
            </p:cNvSpPr>
            <p:nvPr/>
          </p:nvSpPr>
          <p:spPr bwMode="auto">
            <a:xfrm>
              <a:off x="5220" y="1355"/>
              <a:ext cx="32" cy="39"/>
            </a:xfrm>
            <a:custGeom>
              <a:avLst/>
              <a:gdLst>
                <a:gd name="T0" fmla="*/ 32 w 32"/>
                <a:gd name="T1" fmla="*/ 39 h 39"/>
                <a:gd name="T2" fmla="*/ 26 w 32"/>
                <a:gd name="T3" fmla="*/ 13 h 39"/>
                <a:gd name="T4" fmla="*/ 13 w 32"/>
                <a:gd name="T5" fmla="*/ 7 h 39"/>
                <a:gd name="T6" fmla="*/ 0 w 32"/>
                <a:gd name="T7" fmla="*/ 0 h 39"/>
                <a:gd name="T8" fmla="*/ 0 w 32"/>
                <a:gd name="T9" fmla="*/ 0 h 39"/>
                <a:gd name="T10" fmla="*/ 13 w 32"/>
                <a:gd name="T11" fmla="*/ 7 h 39"/>
                <a:gd name="T12" fmla="*/ 26 w 32"/>
                <a:gd name="T13" fmla="*/ 13 h 39"/>
                <a:gd name="T14" fmla="*/ 32 w 32"/>
                <a:gd name="T15" fmla="*/ 39 h 39"/>
                <a:gd name="T16" fmla="*/ 32 w 32"/>
                <a:gd name="T17" fmla="*/ 39 h 39"/>
                <a:gd name="T18" fmla="*/ 32 w 32"/>
                <a:gd name="T19" fmla="*/ 39 h 39"/>
                <a:gd name="T20" fmla="*/ 32 w 32"/>
                <a:gd name="T21" fmla="*/ 39 h 39"/>
                <a:gd name="T22" fmla="*/ 32 w 32"/>
                <a:gd name="T23" fmla="*/ 39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39"/>
                <a:gd name="T38" fmla="*/ 32 w 32"/>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39">
                  <a:moveTo>
                    <a:pt x="32" y="39"/>
                  </a:moveTo>
                  <a:lnTo>
                    <a:pt x="26" y="13"/>
                  </a:lnTo>
                  <a:lnTo>
                    <a:pt x="13" y="7"/>
                  </a:lnTo>
                  <a:lnTo>
                    <a:pt x="0" y="0"/>
                  </a:lnTo>
                  <a:lnTo>
                    <a:pt x="13" y="7"/>
                  </a:lnTo>
                  <a:lnTo>
                    <a:pt x="26" y="13"/>
                  </a:lnTo>
                  <a:lnTo>
                    <a:pt x="32" y="39"/>
                  </a:lnTo>
                  <a:close/>
                  <a:moveTo>
                    <a:pt x="32" y="39"/>
                  </a:moveTo>
                  <a:lnTo>
                    <a:pt x="32"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7" name="Freeform 127"/>
            <p:cNvSpPr>
              <a:spLocks noEditPoints="1"/>
            </p:cNvSpPr>
            <p:nvPr/>
          </p:nvSpPr>
          <p:spPr bwMode="auto">
            <a:xfrm>
              <a:off x="5181" y="1355"/>
              <a:ext cx="39" cy="39"/>
            </a:xfrm>
            <a:custGeom>
              <a:avLst/>
              <a:gdLst>
                <a:gd name="T0" fmla="*/ 39 w 39"/>
                <a:gd name="T1" fmla="*/ 0 h 39"/>
                <a:gd name="T2" fmla="*/ 19 w 39"/>
                <a:gd name="T3" fmla="*/ 7 h 39"/>
                <a:gd name="T4" fmla="*/ 13 w 39"/>
                <a:gd name="T5" fmla="*/ 13 h 39"/>
                <a:gd name="T6" fmla="*/ 0 w 39"/>
                <a:gd name="T7" fmla="*/ 39 h 39"/>
                <a:gd name="T8" fmla="*/ 0 w 39"/>
                <a:gd name="T9" fmla="*/ 39 h 39"/>
                <a:gd name="T10" fmla="*/ 13 w 39"/>
                <a:gd name="T11" fmla="*/ 13 h 39"/>
                <a:gd name="T12" fmla="*/ 19 w 39"/>
                <a:gd name="T13" fmla="*/ 7 h 39"/>
                <a:gd name="T14" fmla="*/ 39 w 39"/>
                <a:gd name="T15" fmla="*/ 0 h 39"/>
                <a:gd name="T16" fmla="*/ 39 w 39"/>
                <a:gd name="T17" fmla="*/ 0 h 39"/>
                <a:gd name="T18" fmla="*/ 39 w 39"/>
                <a:gd name="T19" fmla="*/ 0 h 39"/>
                <a:gd name="T20" fmla="*/ 39 w 39"/>
                <a:gd name="T21" fmla="*/ 0 h 39"/>
                <a:gd name="T22" fmla="*/ 39 w 3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9"/>
                <a:gd name="T38" fmla="*/ 39 w 3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9">
                  <a:moveTo>
                    <a:pt x="39" y="0"/>
                  </a:moveTo>
                  <a:lnTo>
                    <a:pt x="19" y="7"/>
                  </a:lnTo>
                  <a:lnTo>
                    <a:pt x="13" y="13"/>
                  </a:lnTo>
                  <a:lnTo>
                    <a:pt x="0" y="39"/>
                  </a:lnTo>
                  <a:lnTo>
                    <a:pt x="13" y="13"/>
                  </a:lnTo>
                  <a:lnTo>
                    <a:pt x="19" y="7"/>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8" name="Freeform 128"/>
            <p:cNvSpPr>
              <a:spLocks noEditPoints="1"/>
            </p:cNvSpPr>
            <p:nvPr/>
          </p:nvSpPr>
          <p:spPr bwMode="auto">
            <a:xfrm>
              <a:off x="5181" y="1394"/>
              <a:ext cx="39" cy="45"/>
            </a:xfrm>
            <a:custGeom>
              <a:avLst/>
              <a:gdLst>
                <a:gd name="T0" fmla="*/ 0 w 39"/>
                <a:gd name="T1" fmla="*/ 0 h 45"/>
                <a:gd name="T2" fmla="*/ 13 w 39"/>
                <a:gd name="T3" fmla="*/ 32 h 45"/>
                <a:gd name="T4" fmla="*/ 19 w 39"/>
                <a:gd name="T5" fmla="*/ 45 h 45"/>
                <a:gd name="T6" fmla="*/ 39 w 39"/>
                <a:gd name="T7" fmla="*/ 45 h 45"/>
                <a:gd name="T8" fmla="*/ 39 w 39"/>
                <a:gd name="T9" fmla="*/ 45 h 45"/>
                <a:gd name="T10" fmla="*/ 19 w 39"/>
                <a:gd name="T11" fmla="*/ 45 h 45"/>
                <a:gd name="T12" fmla="*/ 13 w 39"/>
                <a:gd name="T13" fmla="*/ 32 h 45"/>
                <a:gd name="T14" fmla="*/ 0 w 39"/>
                <a:gd name="T15" fmla="*/ 0 h 45"/>
                <a:gd name="T16" fmla="*/ 0 w 39"/>
                <a:gd name="T17" fmla="*/ 0 h 45"/>
                <a:gd name="T18" fmla="*/ 0 w 39"/>
                <a:gd name="T19" fmla="*/ 0 h 45"/>
                <a:gd name="T20" fmla="*/ 0 w 39"/>
                <a:gd name="T21" fmla="*/ 0 h 45"/>
                <a:gd name="T22" fmla="*/ 0 w 39"/>
                <a:gd name="T23" fmla="*/ 0 h 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5"/>
                <a:gd name="T38" fmla="*/ 39 w 39"/>
                <a:gd name="T39" fmla="*/ 45 h 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5">
                  <a:moveTo>
                    <a:pt x="0" y="0"/>
                  </a:moveTo>
                  <a:lnTo>
                    <a:pt x="13" y="32"/>
                  </a:lnTo>
                  <a:lnTo>
                    <a:pt x="19" y="45"/>
                  </a:lnTo>
                  <a:lnTo>
                    <a:pt x="39" y="45"/>
                  </a:lnTo>
                  <a:lnTo>
                    <a:pt x="19" y="45"/>
                  </a:lnTo>
                  <a:lnTo>
                    <a:pt x="13" y="3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799" name="Freeform 129"/>
            <p:cNvSpPr/>
            <p:nvPr/>
          </p:nvSpPr>
          <p:spPr bwMode="auto">
            <a:xfrm>
              <a:off x="5220" y="143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0" name="Freeform 130"/>
            <p:cNvSpPr/>
            <p:nvPr/>
          </p:nvSpPr>
          <p:spPr bwMode="auto">
            <a:xfrm>
              <a:off x="5181" y="2168"/>
              <a:ext cx="71" cy="84"/>
            </a:xfrm>
            <a:custGeom>
              <a:avLst/>
              <a:gdLst>
                <a:gd name="T0" fmla="*/ 39 w 71"/>
                <a:gd name="T1" fmla="*/ 84 h 84"/>
                <a:gd name="T2" fmla="*/ 52 w 71"/>
                <a:gd name="T3" fmla="*/ 84 h 84"/>
                <a:gd name="T4" fmla="*/ 65 w 71"/>
                <a:gd name="T5" fmla="*/ 71 h 84"/>
                <a:gd name="T6" fmla="*/ 71 w 71"/>
                <a:gd name="T7" fmla="*/ 46 h 84"/>
                <a:gd name="T8" fmla="*/ 65 w 71"/>
                <a:gd name="T9" fmla="*/ 13 h 84"/>
                <a:gd name="T10" fmla="*/ 52 w 71"/>
                <a:gd name="T11" fmla="*/ 7 h 84"/>
                <a:gd name="T12" fmla="*/ 39 w 71"/>
                <a:gd name="T13" fmla="*/ 0 h 84"/>
                <a:gd name="T14" fmla="*/ 19 w 71"/>
                <a:gd name="T15" fmla="*/ 7 h 84"/>
                <a:gd name="T16" fmla="*/ 13 w 71"/>
                <a:gd name="T17" fmla="*/ 13 h 84"/>
                <a:gd name="T18" fmla="*/ 0 w 71"/>
                <a:gd name="T19" fmla="*/ 46 h 84"/>
                <a:gd name="T20" fmla="*/ 13 w 71"/>
                <a:gd name="T21" fmla="*/ 71 h 84"/>
                <a:gd name="T22" fmla="*/ 19 w 71"/>
                <a:gd name="T23" fmla="*/ 84 h 84"/>
                <a:gd name="T24" fmla="*/ 39 w 71"/>
                <a:gd name="T25" fmla="*/ 84 h 84"/>
                <a:gd name="T26" fmla="*/ 39 w 71"/>
                <a:gd name="T27" fmla="*/ 84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1"/>
                <a:gd name="T43" fmla="*/ 0 h 84"/>
                <a:gd name="T44" fmla="*/ 71 w 71"/>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1" h="84">
                  <a:moveTo>
                    <a:pt x="39" y="84"/>
                  </a:moveTo>
                  <a:lnTo>
                    <a:pt x="52" y="84"/>
                  </a:lnTo>
                  <a:lnTo>
                    <a:pt x="65" y="71"/>
                  </a:lnTo>
                  <a:lnTo>
                    <a:pt x="71" y="46"/>
                  </a:lnTo>
                  <a:lnTo>
                    <a:pt x="65" y="13"/>
                  </a:lnTo>
                  <a:lnTo>
                    <a:pt x="52" y="7"/>
                  </a:lnTo>
                  <a:lnTo>
                    <a:pt x="39" y="0"/>
                  </a:lnTo>
                  <a:lnTo>
                    <a:pt x="19" y="7"/>
                  </a:lnTo>
                  <a:lnTo>
                    <a:pt x="13" y="13"/>
                  </a:lnTo>
                  <a:lnTo>
                    <a:pt x="0" y="46"/>
                  </a:lnTo>
                  <a:lnTo>
                    <a:pt x="13" y="71"/>
                  </a:lnTo>
                  <a:lnTo>
                    <a:pt x="19" y="84"/>
                  </a:lnTo>
                  <a:lnTo>
                    <a:pt x="39" y="84"/>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1" name="Freeform 131"/>
            <p:cNvSpPr/>
            <p:nvPr/>
          </p:nvSpPr>
          <p:spPr bwMode="auto">
            <a:xfrm>
              <a:off x="5220" y="2214"/>
              <a:ext cx="32" cy="38"/>
            </a:xfrm>
            <a:custGeom>
              <a:avLst/>
              <a:gdLst>
                <a:gd name="T0" fmla="*/ 0 w 32"/>
                <a:gd name="T1" fmla="*/ 38 h 38"/>
                <a:gd name="T2" fmla="*/ 13 w 32"/>
                <a:gd name="T3" fmla="*/ 38 h 38"/>
                <a:gd name="T4" fmla="*/ 26 w 32"/>
                <a:gd name="T5" fmla="*/ 25 h 38"/>
                <a:gd name="T6" fmla="*/ 32 w 32"/>
                <a:gd name="T7" fmla="*/ 0 h 38"/>
                <a:gd name="T8" fmla="*/ 32 w 32"/>
                <a:gd name="T9" fmla="*/ 0 h 38"/>
                <a:gd name="T10" fmla="*/ 26 w 32"/>
                <a:gd name="T11" fmla="*/ 25 h 38"/>
                <a:gd name="T12" fmla="*/ 13 w 32"/>
                <a:gd name="T13" fmla="*/ 38 h 38"/>
                <a:gd name="T14" fmla="*/ 0 w 32"/>
                <a:gd name="T15" fmla="*/ 38 h 38"/>
                <a:gd name="T16" fmla="*/ 0 w 32"/>
                <a:gd name="T17" fmla="*/ 38 h 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38"/>
                <a:gd name="T29" fmla="*/ 32 w 32"/>
                <a:gd name="T30" fmla="*/ 38 h 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38">
                  <a:moveTo>
                    <a:pt x="0" y="38"/>
                  </a:moveTo>
                  <a:lnTo>
                    <a:pt x="13" y="38"/>
                  </a:lnTo>
                  <a:lnTo>
                    <a:pt x="26" y="25"/>
                  </a:lnTo>
                  <a:lnTo>
                    <a:pt x="32" y="0"/>
                  </a:lnTo>
                  <a:lnTo>
                    <a:pt x="26" y="25"/>
                  </a:lnTo>
                  <a:lnTo>
                    <a:pt x="13" y="38"/>
                  </a:lnTo>
                  <a:lnTo>
                    <a:pt x="0"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2" name="Freeform 132"/>
            <p:cNvSpPr>
              <a:spLocks noEditPoints="1"/>
            </p:cNvSpPr>
            <p:nvPr/>
          </p:nvSpPr>
          <p:spPr bwMode="auto">
            <a:xfrm>
              <a:off x="5220" y="2168"/>
              <a:ext cx="32" cy="46"/>
            </a:xfrm>
            <a:custGeom>
              <a:avLst/>
              <a:gdLst>
                <a:gd name="T0" fmla="*/ 32 w 32"/>
                <a:gd name="T1" fmla="*/ 46 h 46"/>
                <a:gd name="T2" fmla="*/ 26 w 32"/>
                <a:gd name="T3" fmla="*/ 13 h 46"/>
                <a:gd name="T4" fmla="*/ 13 w 32"/>
                <a:gd name="T5" fmla="*/ 7 h 46"/>
                <a:gd name="T6" fmla="*/ 0 w 32"/>
                <a:gd name="T7" fmla="*/ 0 h 46"/>
                <a:gd name="T8" fmla="*/ 0 w 32"/>
                <a:gd name="T9" fmla="*/ 0 h 46"/>
                <a:gd name="T10" fmla="*/ 13 w 32"/>
                <a:gd name="T11" fmla="*/ 7 h 46"/>
                <a:gd name="T12" fmla="*/ 26 w 32"/>
                <a:gd name="T13" fmla="*/ 13 h 46"/>
                <a:gd name="T14" fmla="*/ 32 w 32"/>
                <a:gd name="T15" fmla="*/ 46 h 46"/>
                <a:gd name="T16" fmla="*/ 32 w 32"/>
                <a:gd name="T17" fmla="*/ 46 h 46"/>
                <a:gd name="T18" fmla="*/ 32 w 32"/>
                <a:gd name="T19" fmla="*/ 46 h 46"/>
                <a:gd name="T20" fmla="*/ 32 w 32"/>
                <a:gd name="T21" fmla="*/ 46 h 46"/>
                <a:gd name="T22" fmla="*/ 32 w 32"/>
                <a:gd name="T23" fmla="*/ 46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46"/>
                <a:gd name="T38" fmla="*/ 32 w 3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46">
                  <a:moveTo>
                    <a:pt x="32" y="46"/>
                  </a:moveTo>
                  <a:lnTo>
                    <a:pt x="26" y="13"/>
                  </a:lnTo>
                  <a:lnTo>
                    <a:pt x="13" y="7"/>
                  </a:lnTo>
                  <a:lnTo>
                    <a:pt x="0" y="0"/>
                  </a:lnTo>
                  <a:lnTo>
                    <a:pt x="13" y="7"/>
                  </a:lnTo>
                  <a:lnTo>
                    <a:pt x="26" y="13"/>
                  </a:lnTo>
                  <a:lnTo>
                    <a:pt x="32" y="46"/>
                  </a:lnTo>
                  <a:close/>
                  <a:moveTo>
                    <a:pt x="32" y="46"/>
                  </a:moveTo>
                  <a:lnTo>
                    <a:pt x="32" y="4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3" name="Freeform 133"/>
            <p:cNvSpPr>
              <a:spLocks noEditPoints="1"/>
            </p:cNvSpPr>
            <p:nvPr/>
          </p:nvSpPr>
          <p:spPr bwMode="auto">
            <a:xfrm>
              <a:off x="5181" y="2168"/>
              <a:ext cx="39" cy="46"/>
            </a:xfrm>
            <a:custGeom>
              <a:avLst/>
              <a:gdLst>
                <a:gd name="T0" fmla="*/ 39 w 39"/>
                <a:gd name="T1" fmla="*/ 0 h 46"/>
                <a:gd name="T2" fmla="*/ 19 w 39"/>
                <a:gd name="T3" fmla="*/ 7 h 46"/>
                <a:gd name="T4" fmla="*/ 13 w 39"/>
                <a:gd name="T5" fmla="*/ 13 h 46"/>
                <a:gd name="T6" fmla="*/ 0 w 39"/>
                <a:gd name="T7" fmla="*/ 46 h 46"/>
                <a:gd name="T8" fmla="*/ 0 w 39"/>
                <a:gd name="T9" fmla="*/ 46 h 46"/>
                <a:gd name="T10" fmla="*/ 13 w 39"/>
                <a:gd name="T11" fmla="*/ 13 h 46"/>
                <a:gd name="T12" fmla="*/ 19 w 39"/>
                <a:gd name="T13" fmla="*/ 7 h 46"/>
                <a:gd name="T14" fmla="*/ 39 w 39"/>
                <a:gd name="T15" fmla="*/ 0 h 46"/>
                <a:gd name="T16" fmla="*/ 39 w 39"/>
                <a:gd name="T17" fmla="*/ 0 h 46"/>
                <a:gd name="T18" fmla="*/ 39 w 39"/>
                <a:gd name="T19" fmla="*/ 0 h 46"/>
                <a:gd name="T20" fmla="*/ 39 w 39"/>
                <a:gd name="T21" fmla="*/ 0 h 46"/>
                <a:gd name="T22" fmla="*/ 39 w 39"/>
                <a:gd name="T23" fmla="*/ 0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6"/>
                <a:gd name="T38" fmla="*/ 39 w 39"/>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6">
                  <a:moveTo>
                    <a:pt x="39" y="0"/>
                  </a:moveTo>
                  <a:lnTo>
                    <a:pt x="19" y="7"/>
                  </a:lnTo>
                  <a:lnTo>
                    <a:pt x="13" y="13"/>
                  </a:lnTo>
                  <a:lnTo>
                    <a:pt x="0" y="46"/>
                  </a:lnTo>
                  <a:lnTo>
                    <a:pt x="13" y="13"/>
                  </a:lnTo>
                  <a:lnTo>
                    <a:pt x="19" y="7"/>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4" name="Freeform 134"/>
            <p:cNvSpPr>
              <a:spLocks noEditPoints="1"/>
            </p:cNvSpPr>
            <p:nvPr/>
          </p:nvSpPr>
          <p:spPr bwMode="auto">
            <a:xfrm>
              <a:off x="5181" y="2214"/>
              <a:ext cx="39" cy="38"/>
            </a:xfrm>
            <a:custGeom>
              <a:avLst/>
              <a:gdLst>
                <a:gd name="T0" fmla="*/ 0 w 39"/>
                <a:gd name="T1" fmla="*/ 0 h 38"/>
                <a:gd name="T2" fmla="*/ 13 w 39"/>
                <a:gd name="T3" fmla="*/ 25 h 38"/>
                <a:gd name="T4" fmla="*/ 19 w 39"/>
                <a:gd name="T5" fmla="*/ 38 h 38"/>
                <a:gd name="T6" fmla="*/ 39 w 39"/>
                <a:gd name="T7" fmla="*/ 38 h 38"/>
                <a:gd name="T8" fmla="*/ 39 w 39"/>
                <a:gd name="T9" fmla="*/ 38 h 38"/>
                <a:gd name="T10" fmla="*/ 19 w 39"/>
                <a:gd name="T11" fmla="*/ 38 h 38"/>
                <a:gd name="T12" fmla="*/ 13 w 39"/>
                <a:gd name="T13" fmla="*/ 25 h 38"/>
                <a:gd name="T14" fmla="*/ 0 w 39"/>
                <a:gd name="T15" fmla="*/ 0 h 38"/>
                <a:gd name="T16" fmla="*/ 0 w 39"/>
                <a:gd name="T17" fmla="*/ 0 h 38"/>
                <a:gd name="T18" fmla="*/ 0 w 39"/>
                <a:gd name="T19" fmla="*/ 0 h 38"/>
                <a:gd name="T20" fmla="*/ 0 w 39"/>
                <a:gd name="T21" fmla="*/ 0 h 38"/>
                <a:gd name="T22" fmla="*/ 0 w 39"/>
                <a:gd name="T23" fmla="*/ 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8"/>
                <a:gd name="T38" fmla="*/ 39 w 39"/>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8">
                  <a:moveTo>
                    <a:pt x="0" y="0"/>
                  </a:moveTo>
                  <a:lnTo>
                    <a:pt x="13" y="25"/>
                  </a:lnTo>
                  <a:lnTo>
                    <a:pt x="19" y="38"/>
                  </a:lnTo>
                  <a:lnTo>
                    <a:pt x="39" y="38"/>
                  </a:lnTo>
                  <a:lnTo>
                    <a:pt x="19" y="38"/>
                  </a:lnTo>
                  <a:lnTo>
                    <a:pt x="13" y="25"/>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5" name="Freeform 135"/>
            <p:cNvSpPr/>
            <p:nvPr/>
          </p:nvSpPr>
          <p:spPr bwMode="auto">
            <a:xfrm>
              <a:off x="5220" y="225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6" name="Freeform 136"/>
            <p:cNvSpPr>
              <a:spLocks noEditPoints="1"/>
            </p:cNvSpPr>
            <p:nvPr/>
          </p:nvSpPr>
          <p:spPr bwMode="auto">
            <a:xfrm>
              <a:off x="5336" y="1362"/>
              <a:ext cx="78" cy="77"/>
            </a:xfrm>
            <a:custGeom>
              <a:avLst/>
              <a:gdLst>
                <a:gd name="T0" fmla="*/ 71 w 78"/>
                <a:gd name="T1" fmla="*/ 58 h 77"/>
                <a:gd name="T2" fmla="*/ 65 w 78"/>
                <a:gd name="T3" fmla="*/ 64 h 77"/>
                <a:gd name="T4" fmla="*/ 58 w 78"/>
                <a:gd name="T5" fmla="*/ 71 h 77"/>
                <a:gd name="T6" fmla="*/ 58 w 78"/>
                <a:gd name="T7" fmla="*/ 71 h 77"/>
                <a:gd name="T8" fmla="*/ 58 w 78"/>
                <a:gd name="T9" fmla="*/ 64 h 77"/>
                <a:gd name="T10" fmla="*/ 58 w 78"/>
                <a:gd name="T11" fmla="*/ 51 h 77"/>
                <a:gd name="T12" fmla="*/ 65 w 78"/>
                <a:gd name="T13" fmla="*/ 32 h 77"/>
                <a:gd name="T14" fmla="*/ 71 w 78"/>
                <a:gd name="T15" fmla="*/ 13 h 77"/>
                <a:gd name="T16" fmla="*/ 71 w 78"/>
                <a:gd name="T17" fmla="*/ 0 h 77"/>
                <a:gd name="T18" fmla="*/ 71 w 78"/>
                <a:gd name="T19" fmla="*/ 0 h 77"/>
                <a:gd name="T20" fmla="*/ 65 w 78"/>
                <a:gd name="T21" fmla="*/ 0 h 77"/>
                <a:gd name="T22" fmla="*/ 65 w 78"/>
                <a:gd name="T23" fmla="*/ 0 h 77"/>
                <a:gd name="T24" fmla="*/ 58 w 78"/>
                <a:gd name="T25" fmla="*/ 6 h 77"/>
                <a:gd name="T26" fmla="*/ 58 w 78"/>
                <a:gd name="T27" fmla="*/ 6 h 77"/>
                <a:gd name="T28" fmla="*/ 52 w 78"/>
                <a:gd name="T29" fmla="*/ 0 h 77"/>
                <a:gd name="T30" fmla="*/ 45 w 78"/>
                <a:gd name="T31" fmla="*/ 0 h 77"/>
                <a:gd name="T32" fmla="*/ 33 w 78"/>
                <a:gd name="T33" fmla="*/ 6 h 77"/>
                <a:gd name="T34" fmla="*/ 13 w 78"/>
                <a:gd name="T35" fmla="*/ 19 h 77"/>
                <a:gd name="T36" fmla="*/ 7 w 78"/>
                <a:gd name="T37" fmla="*/ 38 h 77"/>
                <a:gd name="T38" fmla="*/ 0 w 78"/>
                <a:gd name="T39" fmla="*/ 58 h 77"/>
                <a:gd name="T40" fmla="*/ 0 w 78"/>
                <a:gd name="T41" fmla="*/ 71 h 77"/>
                <a:gd name="T42" fmla="*/ 7 w 78"/>
                <a:gd name="T43" fmla="*/ 77 h 77"/>
                <a:gd name="T44" fmla="*/ 20 w 78"/>
                <a:gd name="T45" fmla="*/ 77 h 77"/>
                <a:gd name="T46" fmla="*/ 33 w 78"/>
                <a:gd name="T47" fmla="*/ 71 h 77"/>
                <a:gd name="T48" fmla="*/ 52 w 78"/>
                <a:gd name="T49" fmla="*/ 51 h 77"/>
                <a:gd name="T50" fmla="*/ 52 w 78"/>
                <a:gd name="T51" fmla="*/ 51 h 77"/>
                <a:gd name="T52" fmla="*/ 45 w 78"/>
                <a:gd name="T53" fmla="*/ 64 h 77"/>
                <a:gd name="T54" fmla="*/ 45 w 78"/>
                <a:gd name="T55" fmla="*/ 71 h 77"/>
                <a:gd name="T56" fmla="*/ 45 w 78"/>
                <a:gd name="T57" fmla="*/ 77 h 77"/>
                <a:gd name="T58" fmla="*/ 52 w 78"/>
                <a:gd name="T59" fmla="*/ 77 h 77"/>
                <a:gd name="T60" fmla="*/ 65 w 78"/>
                <a:gd name="T61" fmla="*/ 71 h 77"/>
                <a:gd name="T62" fmla="*/ 78 w 78"/>
                <a:gd name="T63" fmla="*/ 58 h 77"/>
                <a:gd name="T64" fmla="*/ 71 w 78"/>
                <a:gd name="T65" fmla="*/ 58 h 77"/>
                <a:gd name="T66" fmla="*/ 13 w 78"/>
                <a:gd name="T67" fmla="*/ 58 h 77"/>
                <a:gd name="T68" fmla="*/ 20 w 78"/>
                <a:gd name="T69" fmla="*/ 38 h 77"/>
                <a:gd name="T70" fmla="*/ 26 w 78"/>
                <a:gd name="T71" fmla="*/ 19 h 77"/>
                <a:gd name="T72" fmla="*/ 39 w 78"/>
                <a:gd name="T73" fmla="*/ 6 h 77"/>
                <a:gd name="T74" fmla="*/ 52 w 78"/>
                <a:gd name="T75" fmla="*/ 0 h 77"/>
                <a:gd name="T76" fmla="*/ 58 w 78"/>
                <a:gd name="T77" fmla="*/ 6 h 77"/>
                <a:gd name="T78" fmla="*/ 58 w 78"/>
                <a:gd name="T79" fmla="*/ 13 h 77"/>
                <a:gd name="T80" fmla="*/ 58 w 78"/>
                <a:gd name="T81" fmla="*/ 32 h 77"/>
                <a:gd name="T82" fmla="*/ 52 w 78"/>
                <a:gd name="T83" fmla="*/ 51 h 77"/>
                <a:gd name="T84" fmla="*/ 39 w 78"/>
                <a:gd name="T85" fmla="*/ 64 h 77"/>
                <a:gd name="T86" fmla="*/ 26 w 78"/>
                <a:gd name="T87" fmla="*/ 71 h 77"/>
                <a:gd name="T88" fmla="*/ 20 w 78"/>
                <a:gd name="T89" fmla="*/ 64 h 77"/>
                <a:gd name="T90" fmla="*/ 13 w 78"/>
                <a:gd name="T91" fmla="*/ 58 h 77"/>
                <a:gd name="T92" fmla="*/ 13 w 78"/>
                <a:gd name="T93" fmla="*/ 58 h 7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8"/>
                <a:gd name="T142" fmla="*/ 0 h 77"/>
                <a:gd name="T143" fmla="*/ 78 w 78"/>
                <a:gd name="T144" fmla="*/ 77 h 7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8" h="77">
                  <a:moveTo>
                    <a:pt x="71" y="58"/>
                  </a:moveTo>
                  <a:lnTo>
                    <a:pt x="65" y="64"/>
                  </a:lnTo>
                  <a:lnTo>
                    <a:pt x="58" y="71"/>
                  </a:lnTo>
                  <a:lnTo>
                    <a:pt x="58" y="64"/>
                  </a:lnTo>
                  <a:lnTo>
                    <a:pt x="58" y="51"/>
                  </a:lnTo>
                  <a:lnTo>
                    <a:pt x="65" y="32"/>
                  </a:lnTo>
                  <a:lnTo>
                    <a:pt x="71" y="13"/>
                  </a:lnTo>
                  <a:lnTo>
                    <a:pt x="71" y="0"/>
                  </a:lnTo>
                  <a:lnTo>
                    <a:pt x="65" y="0"/>
                  </a:lnTo>
                  <a:lnTo>
                    <a:pt x="58" y="6"/>
                  </a:lnTo>
                  <a:lnTo>
                    <a:pt x="52" y="0"/>
                  </a:lnTo>
                  <a:lnTo>
                    <a:pt x="45" y="0"/>
                  </a:lnTo>
                  <a:lnTo>
                    <a:pt x="33" y="6"/>
                  </a:lnTo>
                  <a:lnTo>
                    <a:pt x="13" y="19"/>
                  </a:lnTo>
                  <a:lnTo>
                    <a:pt x="7" y="38"/>
                  </a:lnTo>
                  <a:lnTo>
                    <a:pt x="0" y="58"/>
                  </a:lnTo>
                  <a:lnTo>
                    <a:pt x="0" y="71"/>
                  </a:lnTo>
                  <a:lnTo>
                    <a:pt x="7" y="77"/>
                  </a:lnTo>
                  <a:lnTo>
                    <a:pt x="20" y="77"/>
                  </a:lnTo>
                  <a:lnTo>
                    <a:pt x="33" y="71"/>
                  </a:lnTo>
                  <a:lnTo>
                    <a:pt x="52" y="51"/>
                  </a:lnTo>
                  <a:lnTo>
                    <a:pt x="45" y="64"/>
                  </a:lnTo>
                  <a:lnTo>
                    <a:pt x="45" y="71"/>
                  </a:lnTo>
                  <a:lnTo>
                    <a:pt x="45" y="77"/>
                  </a:lnTo>
                  <a:lnTo>
                    <a:pt x="52" y="77"/>
                  </a:lnTo>
                  <a:lnTo>
                    <a:pt x="65" y="71"/>
                  </a:lnTo>
                  <a:lnTo>
                    <a:pt x="78" y="58"/>
                  </a:lnTo>
                  <a:lnTo>
                    <a:pt x="71" y="58"/>
                  </a:lnTo>
                  <a:close/>
                  <a:moveTo>
                    <a:pt x="13" y="58"/>
                  </a:moveTo>
                  <a:lnTo>
                    <a:pt x="20" y="38"/>
                  </a:lnTo>
                  <a:lnTo>
                    <a:pt x="26" y="19"/>
                  </a:lnTo>
                  <a:lnTo>
                    <a:pt x="39" y="6"/>
                  </a:lnTo>
                  <a:lnTo>
                    <a:pt x="52" y="0"/>
                  </a:lnTo>
                  <a:lnTo>
                    <a:pt x="58" y="6"/>
                  </a:lnTo>
                  <a:lnTo>
                    <a:pt x="58" y="13"/>
                  </a:lnTo>
                  <a:lnTo>
                    <a:pt x="58" y="32"/>
                  </a:lnTo>
                  <a:lnTo>
                    <a:pt x="52" y="51"/>
                  </a:lnTo>
                  <a:lnTo>
                    <a:pt x="39" y="64"/>
                  </a:lnTo>
                  <a:lnTo>
                    <a:pt x="26" y="71"/>
                  </a:lnTo>
                  <a:lnTo>
                    <a:pt x="20" y="64"/>
                  </a:lnTo>
                  <a:lnTo>
                    <a:pt x="13"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7" name="Freeform 137"/>
            <p:cNvSpPr>
              <a:spLocks noEditPoints="1"/>
            </p:cNvSpPr>
            <p:nvPr/>
          </p:nvSpPr>
          <p:spPr bwMode="auto">
            <a:xfrm>
              <a:off x="5336" y="2143"/>
              <a:ext cx="71" cy="129"/>
            </a:xfrm>
            <a:custGeom>
              <a:avLst/>
              <a:gdLst>
                <a:gd name="T0" fmla="*/ 58 w 71"/>
                <a:gd name="T1" fmla="*/ 71 h 129"/>
                <a:gd name="T2" fmla="*/ 58 w 71"/>
                <a:gd name="T3" fmla="*/ 83 h 129"/>
                <a:gd name="T4" fmla="*/ 52 w 71"/>
                <a:gd name="T5" fmla="*/ 103 h 129"/>
                <a:gd name="T6" fmla="*/ 39 w 71"/>
                <a:gd name="T7" fmla="*/ 116 h 129"/>
                <a:gd name="T8" fmla="*/ 26 w 71"/>
                <a:gd name="T9" fmla="*/ 122 h 129"/>
                <a:gd name="T10" fmla="*/ 13 w 71"/>
                <a:gd name="T11" fmla="*/ 122 h 129"/>
                <a:gd name="T12" fmla="*/ 13 w 71"/>
                <a:gd name="T13" fmla="*/ 116 h 129"/>
                <a:gd name="T14" fmla="*/ 20 w 71"/>
                <a:gd name="T15" fmla="*/ 96 h 129"/>
                <a:gd name="T16" fmla="*/ 26 w 71"/>
                <a:gd name="T17" fmla="*/ 77 h 129"/>
                <a:gd name="T18" fmla="*/ 39 w 71"/>
                <a:gd name="T19" fmla="*/ 58 h 129"/>
                <a:gd name="T20" fmla="*/ 52 w 71"/>
                <a:gd name="T21" fmla="*/ 51 h 129"/>
                <a:gd name="T22" fmla="*/ 58 w 71"/>
                <a:gd name="T23" fmla="*/ 58 h 129"/>
                <a:gd name="T24" fmla="*/ 58 w 71"/>
                <a:gd name="T25" fmla="*/ 71 h 129"/>
                <a:gd name="T26" fmla="*/ 58 w 71"/>
                <a:gd name="T27" fmla="*/ 71 h 129"/>
                <a:gd name="T28" fmla="*/ 13 w 71"/>
                <a:gd name="T29" fmla="*/ 6 h 129"/>
                <a:gd name="T30" fmla="*/ 26 w 71"/>
                <a:gd name="T31" fmla="*/ 13 h 129"/>
                <a:gd name="T32" fmla="*/ 26 w 71"/>
                <a:gd name="T33" fmla="*/ 13 h 129"/>
                <a:gd name="T34" fmla="*/ 26 w 71"/>
                <a:gd name="T35" fmla="*/ 19 h 129"/>
                <a:gd name="T36" fmla="*/ 26 w 71"/>
                <a:gd name="T37" fmla="*/ 25 h 129"/>
                <a:gd name="T38" fmla="*/ 0 w 71"/>
                <a:gd name="T39" fmla="*/ 116 h 129"/>
                <a:gd name="T40" fmla="*/ 0 w 71"/>
                <a:gd name="T41" fmla="*/ 116 h 129"/>
                <a:gd name="T42" fmla="*/ 7 w 71"/>
                <a:gd name="T43" fmla="*/ 122 h 129"/>
                <a:gd name="T44" fmla="*/ 26 w 71"/>
                <a:gd name="T45" fmla="*/ 129 h 129"/>
                <a:gd name="T46" fmla="*/ 39 w 71"/>
                <a:gd name="T47" fmla="*/ 122 h 129"/>
                <a:gd name="T48" fmla="*/ 58 w 71"/>
                <a:gd name="T49" fmla="*/ 109 h 129"/>
                <a:gd name="T50" fmla="*/ 65 w 71"/>
                <a:gd name="T51" fmla="*/ 90 h 129"/>
                <a:gd name="T52" fmla="*/ 71 w 71"/>
                <a:gd name="T53" fmla="*/ 64 h 129"/>
                <a:gd name="T54" fmla="*/ 65 w 71"/>
                <a:gd name="T55" fmla="*/ 51 h 129"/>
                <a:gd name="T56" fmla="*/ 52 w 71"/>
                <a:gd name="T57" fmla="*/ 45 h 129"/>
                <a:gd name="T58" fmla="*/ 45 w 71"/>
                <a:gd name="T59" fmla="*/ 51 h 129"/>
                <a:gd name="T60" fmla="*/ 39 w 71"/>
                <a:gd name="T61" fmla="*/ 58 h 129"/>
                <a:gd name="T62" fmla="*/ 26 w 71"/>
                <a:gd name="T63" fmla="*/ 71 h 129"/>
                <a:gd name="T64" fmla="*/ 26 w 71"/>
                <a:gd name="T65" fmla="*/ 71 h 129"/>
                <a:gd name="T66" fmla="*/ 33 w 71"/>
                <a:gd name="T67" fmla="*/ 38 h 129"/>
                <a:gd name="T68" fmla="*/ 39 w 71"/>
                <a:gd name="T69" fmla="*/ 0 h 129"/>
                <a:gd name="T70" fmla="*/ 39 w 71"/>
                <a:gd name="T71" fmla="*/ 0 h 129"/>
                <a:gd name="T72" fmla="*/ 26 w 71"/>
                <a:gd name="T73" fmla="*/ 6 h 129"/>
                <a:gd name="T74" fmla="*/ 13 w 71"/>
                <a:gd name="T75" fmla="*/ 6 h 129"/>
                <a:gd name="T76" fmla="*/ 13 w 71"/>
                <a:gd name="T77" fmla="*/ 6 h 12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1"/>
                <a:gd name="T118" fmla="*/ 0 h 129"/>
                <a:gd name="T119" fmla="*/ 71 w 71"/>
                <a:gd name="T120" fmla="*/ 129 h 12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1" h="129">
                  <a:moveTo>
                    <a:pt x="58" y="71"/>
                  </a:moveTo>
                  <a:lnTo>
                    <a:pt x="58" y="83"/>
                  </a:lnTo>
                  <a:lnTo>
                    <a:pt x="52" y="103"/>
                  </a:lnTo>
                  <a:lnTo>
                    <a:pt x="39" y="116"/>
                  </a:lnTo>
                  <a:lnTo>
                    <a:pt x="26" y="122"/>
                  </a:lnTo>
                  <a:lnTo>
                    <a:pt x="13" y="122"/>
                  </a:lnTo>
                  <a:lnTo>
                    <a:pt x="13" y="116"/>
                  </a:lnTo>
                  <a:lnTo>
                    <a:pt x="20" y="96"/>
                  </a:lnTo>
                  <a:lnTo>
                    <a:pt x="26" y="77"/>
                  </a:lnTo>
                  <a:lnTo>
                    <a:pt x="39" y="58"/>
                  </a:lnTo>
                  <a:lnTo>
                    <a:pt x="52" y="51"/>
                  </a:lnTo>
                  <a:lnTo>
                    <a:pt x="58" y="58"/>
                  </a:lnTo>
                  <a:lnTo>
                    <a:pt x="58" y="71"/>
                  </a:lnTo>
                  <a:close/>
                  <a:moveTo>
                    <a:pt x="13" y="6"/>
                  </a:moveTo>
                  <a:lnTo>
                    <a:pt x="26" y="13"/>
                  </a:lnTo>
                  <a:lnTo>
                    <a:pt x="26" y="19"/>
                  </a:lnTo>
                  <a:lnTo>
                    <a:pt x="26" y="25"/>
                  </a:lnTo>
                  <a:lnTo>
                    <a:pt x="0" y="116"/>
                  </a:lnTo>
                  <a:lnTo>
                    <a:pt x="7" y="122"/>
                  </a:lnTo>
                  <a:lnTo>
                    <a:pt x="26" y="129"/>
                  </a:lnTo>
                  <a:lnTo>
                    <a:pt x="39" y="122"/>
                  </a:lnTo>
                  <a:lnTo>
                    <a:pt x="58" y="109"/>
                  </a:lnTo>
                  <a:lnTo>
                    <a:pt x="65" y="90"/>
                  </a:lnTo>
                  <a:lnTo>
                    <a:pt x="71" y="64"/>
                  </a:lnTo>
                  <a:lnTo>
                    <a:pt x="65" y="51"/>
                  </a:lnTo>
                  <a:lnTo>
                    <a:pt x="52" y="45"/>
                  </a:lnTo>
                  <a:lnTo>
                    <a:pt x="45" y="51"/>
                  </a:lnTo>
                  <a:lnTo>
                    <a:pt x="39" y="58"/>
                  </a:lnTo>
                  <a:lnTo>
                    <a:pt x="26" y="71"/>
                  </a:lnTo>
                  <a:lnTo>
                    <a:pt x="33" y="38"/>
                  </a:lnTo>
                  <a:lnTo>
                    <a:pt x="39" y="0"/>
                  </a:lnTo>
                  <a:lnTo>
                    <a:pt x="26" y="6"/>
                  </a:lnTo>
                  <a:lnTo>
                    <a:pt x="13"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8" name="Freeform 138"/>
            <p:cNvSpPr>
              <a:spLocks noEditPoints="1"/>
            </p:cNvSpPr>
            <p:nvPr/>
          </p:nvSpPr>
          <p:spPr bwMode="auto">
            <a:xfrm>
              <a:off x="5349" y="1568"/>
              <a:ext cx="91" cy="123"/>
            </a:xfrm>
            <a:custGeom>
              <a:avLst/>
              <a:gdLst>
                <a:gd name="T0" fmla="*/ 91 w 91"/>
                <a:gd name="T1" fmla="*/ 116 h 123"/>
                <a:gd name="T2" fmla="*/ 84 w 91"/>
                <a:gd name="T3" fmla="*/ 110 h 123"/>
                <a:gd name="T4" fmla="*/ 78 w 91"/>
                <a:gd name="T5" fmla="*/ 103 h 123"/>
                <a:gd name="T6" fmla="*/ 65 w 91"/>
                <a:gd name="T7" fmla="*/ 58 h 123"/>
                <a:gd name="T8" fmla="*/ 84 w 91"/>
                <a:gd name="T9" fmla="*/ 52 h 123"/>
                <a:gd name="T10" fmla="*/ 91 w 91"/>
                <a:gd name="T11" fmla="*/ 26 h 123"/>
                <a:gd name="T12" fmla="*/ 84 w 91"/>
                <a:gd name="T13" fmla="*/ 13 h 123"/>
                <a:gd name="T14" fmla="*/ 78 w 91"/>
                <a:gd name="T15" fmla="*/ 7 h 123"/>
                <a:gd name="T16" fmla="*/ 65 w 91"/>
                <a:gd name="T17" fmla="*/ 0 h 123"/>
                <a:gd name="T18" fmla="*/ 58 w 91"/>
                <a:gd name="T19" fmla="*/ 0 h 123"/>
                <a:gd name="T20" fmla="*/ 20 w 91"/>
                <a:gd name="T21" fmla="*/ 0 h 123"/>
                <a:gd name="T22" fmla="*/ 20 w 91"/>
                <a:gd name="T23" fmla="*/ 7 h 123"/>
                <a:gd name="T24" fmla="*/ 26 w 91"/>
                <a:gd name="T25" fmla="*/ 7 h 123"/>
                <a:gd name="T26" fmla="*/ 32 w 91"/>
                <a:gd name="T27" fmla="*/ 13 h 123"/>
                <a:gd name="T28" fmla="*/ 32 w 91"/>
                <a:gd name="T29" fmla="*/ 20 h 123"/>
                <a:gd name="T30" fmla="*/ 32 w 91"/>
                <a:gd name="T31" fmla="*/ 26 h 123"/>
                <a:gd name="T32" fmla="*/ 13 w 91"/>
                <a:gd name="T33" fmla="*/ 103 h 123"/>
                <a:gd name="T34" fmla="*/ 7 w 91"/>
                <a:gd name="T35" fmla="*/ 116 h 123"/>
                <a:gd name="T36" fmla="*/ 0 w 91"/>
                <a:gd name="T37" fmla="*/ 116 h 123"/>
                <a:gd name="T38" fmla="*/ 0 w 91"/>
                <a:gd name="T39" fmla="*/ 123 h 123"/>
                <a:gd name="T40" fmla="*/ 39 w 91"/>
                <a:gd name="T41" fmla="*/ 123 h 123"/>
                <a:gd name="T42" fmla="*/ 39 w 91"/>
                <a:gd name="T43" fmla="*/ 116 h 123"/>
                <a:gd name="T44" fmla="*/ 26 w 91"/>
                <a:gd name="T45" fmla="*/ 116 h 123"/>
                <a:gd name="T46" fmla="*/ 26 w 91"/>
                <a:gd name="T47" fmla="*/ 110 h 123"/>
                <a:gd name="T48" fmla="*/ 26 w 91"/>
                <a:gd name="T49" fmla="*/ 110 h 123"/>
                <a:gd name="T50" fmla="*/ 26 w 91"/>
                <a:gd name="T51" fmla="*/ 97 h 123"/>
                <a:gd name="T52" fmla="*/ 39 w 91"/>
                <a:gd name="T53" fmla="*/ 58 h 123"/>
                <a:gd name="T54" fmla="*/ 45 w 91"/>
                <a:gd name="T55" fmla="*/ 65 h 123"/>
                <a:gd name="T56" fmla="*/ 65 w 91"/>
                <a:gd name="T57" fmla="*/ 123 h 123"/>
                <a:gd name="T58" fmla="*/ 91 w 91"/>
                <a:gd name="T59" fmla="*/ 123 h 123"/>
                <a:gd name="T60" fmla="*/ 91 w 91"/>
                <a:gd name="T61" fmla="*/ 116 h 123"/>
                <a:gd name="T62" fmla="*/ 52 w 91"/>
                <a:gd name="T63" fmla="*/ 13 h 123"/>
                <a:gd name="T64" fmla="*/ 52 w 91"/>
                <a:gd name="T65" fmla="*/ 7 h 123"/>
                <a:gd name="T66" fmla="*/ 58 w 91"/>
                <a:gd name="T67" fmla="*/ 7 h 123"/>
                <a:gd name="T68" fmla="*/ 71 w 91"/>
                <a:gd name="T69" fmla="*/ 13 h 123"/>
                <a:gd name="T70" fmla="*/ 78 w 91"/>
                <a:gd name="T71" fmla="*/ 26 h 123"/>
                <a:gd name="T72" fmla="*/ 71 w 91"/>
                <a:gd name="T73" fmla="*/ 45 h 123"/>
                <a:gd name="T74" fmla="*/ 65 w 91"/>
                <a:gd name="T75" fmla="*/ 58 h 123"/>
                <a:gd name="T76" fmla="*/ 45 w 91"/>
                <a:gd name="T77" fmla="*/ 58 h 123"/>
                <a:gd name="T78" fmla="*/ 45 w 91"/>
                <a:gd name="T79" fmla="*/ 58 h 123"/>
                <a:gd name="T80" fmla="*/ 39 w 91"/>
                <a:gd name="T81" fmla="*/ 52 h 123"/>
                <a:gd name="T82" fmla="*/ 52 w 91"/>
                <a:gd name="T83" fmla="*/ 13 h 1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1"/>
                <a:gd name="T127" fmla="*/ 0 h 123"/>
                <a:gd name="T128" fmla="*/ 91 w 91"/>
                <a:gd name="T129" fmla="*/ 123 h 1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1" h="123">
                  <a:moveTo>
                    <a:pt x="91" y="116"/>
                  </a:moveTo>
                  <a:lnTo>
                    <a:pt x="84" y="110"/>
                  </a:lnTo>
                  <a:lnTo>
                    <a:pt x="78" y="103"/>
                  </a:lnTo>
                  <a:lnTo>
                    <a:pt x="65" y="58"/>
                  </a:lnTo>
                  <a:lnTo>
                    <a:pt x="84" y="52"/>
                  </a:lnTo>
                  <a:lnTo>
                    <a:pt x="91" y="26"/>
                  </a:lnTo>
                  <a:lnTo>
                    <a:pt x="84" y="13"/>
                  </a:lnTo>
                  <a:lnTo>
                    <a:pt x="78" y="7"/>
                  </a:lnTo>
                  <a:lnTo>
                    <a:pt x="65" y="0"/>
                  </a:lnTo>
                  <a:lnTo>
                    <a:pt x="58" y="0"/>
                  </a:lnTo>
                  <a:lnTo>
                    <a:pt x="20" y="0"/>
                  </a:lnTo>
                  <a:lnTo>
                    <a:pt x="20" y="7"/>
                  </a:lnTo>
                  <a:lnTo>
                    <a:pt x="26" y="7"/>
                  </a:lnTo>
                  <a:lnTo>
                    <a:pt x="32" y="13"/>
                  </a:lnTo>
                  <a:lnTo>
                    <a:pt x="32" y="20"/>
                  </a:lnTo>
                  <a:lnTo>
                    <a:pt x="32" y="26"/>
                  </a:lnTo>
                  <a:lnTo>
                    <a:pt x="13" y="103"/>
                  </a:lnTo>
                  <a:lnTo>
                    <a:pt x="7" y="116"/>
                  </a:lnTo>
                  <a:lnTo>
                    <a:pt x="0" y="116"/>
                  </a:lnTo>
                  <a:lnTo>
                    <a:pt x="0" y="123"/>
                  </a:lnTo>
                  <a:lnTo>
                    <a:pt x="39" y="123"/>
                  </a:lnTo>
                  <a:lnTo>
                    <a:pt x="39" y="116"/>
                  </a:lnTo>
                  <a:lnTo>
                    <a:pt x="26" y="116"/>
                  </a:lnTo>
                  <a:lnTo>
                    <a:pt x="26" y="110"/>
                  </a:lnTo>
                  <a:lnTo>
                    <a:pt x="26" y="97"/>
                  </a:lnTo>
                  <a:lnTo>
                    <a:pt x="39" y="58"/>
                  </a:lnTo>
                  <a:lnTo>
                    <a:pt x="45" y="65"/>
                  </a:lnTo>
                  <a:lnTo>
                    <a:pt x="65" y="123"/>
                  </a:lnTo>
                  <a:lnTo>
                    <a:pt x="91" y="123"/>
                  </a:lnTo>
                  <a:lnTo>
                    <a:pt x="91" y="116"/>
                  </a:lnTo>
                  <a:close/>
                  <a:moveTo>
                    <a:pt x="52" y="13"/>
                  </a:moveTo>
                  <a:lnTo>
                    <a:pt x="52" y="7"/>
                  </a:lnTo>
                  <a:lnTo>
                    <a:pt x="58" y="7"/>
                  </a:lnTo>
                  <a:lnTo>
                    <a:pt x="71" y="13"/>
                  </a:lnTo>
                  <a:lnTo>
                    <a:pt x="78" y="26"/>
                  </a:lnTo>
                  <a:lnTo>
                    <a:pt x="71" y="45"/>
                  </a:lnTo>
                  <a:lnTo>
                    <a:pt x="65" y="58"/>
                  </a:lnTo>
                  <a:lnTo>
                    <a:pt x="45" y="58"/>
                  </a:lnTo>
                  <a:lnTo>
                    <a:pt x="39" y="52"/>
                  </a:lnTo>
                  <a:lnTo>
                    <a:pt x="5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09" name="Freeform 139"/>
            <p:cNvSpPr>
              <a:spLocks noEditPoints="1"/>
            </p:cNvSpPr>
            <p:nvPr/>
          </p:nvSpPr>
          <p:spPr bwMode="auto">
            <a:xfrm>
              <a:off x="5459" y="1639"/>
              <a:ext cx="32" cy="97"/>
            </a:xfrm>
            <a:custGeom>
              <a:avLst/>
              <a:gdLst>
                <a:gd name="T0" fmla="*/ 0 w 32"/>
                <a:gd name="T1" fmla="*/ 97 h 97"/>
                <a:gd name="T2" fmla="*/ 32 w 32"/>
                <a:gd name="T3" fmla="*/ 97 h 97"/>
                <a:gd name="T4" fmla="*/ 32 w 32"/>
                <a:gd name="T5" fmla="*/ 97 h 97"/>
                <a:gd name="T6" fmla="*/ 19 w 32"/>
                <a:gd name="T7" fmla="*/ 91 h 97"/>
                <a:gd name="T8" fmla="*/ 19 w 32"/>
                <a:gd name="T9" fmla="*/ 84 h 97"/>
                <a:gd name="T10" fmla="*/ 19 w 32"/>
                <a:gd name="T11" fmla="*/ 32 h 97"/>
                <a:gd name="T12" fmla="*/ 19 w 32"/>
                <a:gd name="T13" fmla="*/ 32 h 97"/>
                <a:gd name="T14" fmla="*/ 13 w 32"/>
                <a:gd name="T15" fmla="*/ 39 h 97"/>
                <a:gd name="T16" fmla="*/ 0 w 32"/>
                <a:gd name="T17" fmla="*/ 39 h 97"/>
                <a:gd name="T18" fmla="*/ 0 w 32"/>
                <a:gd name="T19" fmla="*/ 45 h 97"/>
                <a:gd name="T20" fmla="*/ 6 w 32"/>
                <a:gd name="T21" fmla="*/ 45 h 97"/>
                <a:gd name="T22" fmla="*/ 6 w 32"/>
                <a:gd name="T23" fmla="*/ 45 h 97"/>
                <a:gd name="T24" fmla="*/ 13 w 32"/>
                <a:gd name="T25" fmla="*/ 45 h 97"/>
                <a:gd name="T26" fmla="*/ 13 w 32"/>
                <a:gd name="T27" fmla="*/ 52 h 97"/>
                <a:gd name="T28" fmla="*/ 13 w 32"/>
                <a:gd name="T29" fmla="*/ 84 h 97"/>
                <a:gd name="T30" fmla="*/ 6 w 32"/>
                <a:gd name="T31" fmla="*/ 91 h 97"/>
                <a:gd name="T32" fmla="*/ 0 w 32"/>
                <a:gd name="T33" fmla="*/ 97 h 97"/>
                <a:gd name="T34" fmla="*/ 0 w 32"/>
                <a:gd name="T35" fmla="*/ 97 h 97"/>
                <a:gd name="T36" fmla="*/ 6 w 32"/>
                <a:gd name="T37" fmla="*/ 7 h 97"/>
                <a:gd name="T38" fmla="*/ 13 w 32"/>
                <a:gd name="T39" fmla="*/ 13 h 97"/>
                <a:gd name="T40" fmla="*/ 13 w 32"/>
                <a:gd name="T41" fmla="*/ 20 h 97"/>
                <a:gd name="T42" fmla="*/ 19 w 32"/>
                <a:gd name="T43" fmla="*/ 13 h 97"/>
                <a:gd name="T44" fmla="*/ 19 w 32"/>
                <a:gd name="T45" fmla="*/ 7 h 97"/>
                <a:gd name="T46" fmla="*/ 19 w 32"/>
                <a:gd name="T47" fmla="*/ 7 h 97"/>
                <a:gd name="T48" fmla="*/ 13 w 32"/>
                <a:gd name="T49" fmla="*/ 0 h 97"/>
                <a:gd name="T50" fmla="*/ 13 w 32"/>
                <a:gd name="T51" fmla="*/ 7 h 97"/>
                <a:gd name="T52" fmla="*/ 6 w 32"/>
                <a:gd name="T53" fmla="*/ 7 h 97"/>
                <a:gd name="T54" fmla="*/ 6 w 32"/>
                <a:gd name="T55" fmla="*/ 7 h 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
                <a:gd name="T85" fmla="*/ 0 h 97"/>
                <a:gd name="T86" fmla="*/ 32 w 32"/>
                <a:gd name="T87" fmla="*/ 97 h 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 h="97">
                  <a:moveTo>
                    <a:pt x="0" y="97"/>
                  </a:moveTo>
                  <a:lnTo>
                    <a:pt x="32" y="97"/>
                  </a:lnTo>
                  <a:lnTo>
                    <a:pt x="19" y="91"/>
                  </a:lnTo>
                  <a:lnTo>
                    <a:pt x="19" y="84"/>
                  </a:lnTo>
                  <a:lnTo>
                    <a:pt x="19" y="32"/>
                  </a:lnTo>
                  <a:lnTo>
                    <a:pt x="13" y="39"/>
                  </a:lnTo>
                  <a:lnTo>
                    <a:pt x="0" y="39"/>
                  </a:lnTo>
                  <a:lnTo>
                    <a:pt x="0" y="45"/>
                  </a:lnTo>
                  <a:lnTo>
                    <a:pt x="6" y="45"/>
                  </a:lnTo>
                  <a:lnTo>
                    <a:pt x="13" y="45"/>
                  </a:lnTo>
                  <a:lnTo>
                    <a:pt x="13" y="52"/>
                  </a:lnTo>
                  <a:lnTo>
                    <a:pt x="13" y="84"/>
                  </a:lnTo>
                  <a:lnTo>
                    <a:pt x="6" y="91"/>
                  </a:lnTo>
                  <a:lnTo>
                    <a:pt x="0" y="97"/>
                  </a:lnTo>
                  <a:close/>
                  <a:moveTo>
                    <a:pt x="6" y="7"/>
                  </a:moveTo>
                  <a:lnTo>
                    <a:pt x="13" y="13"/>
                  </a:lnTo>
                  <a:lnTo>
                    <a:pt x="13" y="20"/>
                  </a:lnTo>
                  <a:lnTo>
                    <a:pt x="19" y="13"/>
                  </a:lnTo>
                  <a:lnTo>
                    <a:pt x="19" y="7"/>
                  </a:lnTo>
                  <a:lnTo>
                    <a:pt x="13" y="0"/>
                  </a:lnTo>
                  <a:lnTo>
                    <a:pt x="13" y="7"/>
                  </a:lnTo>
                  <a:lnTo>
                    <a:pt x="6"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0" name="Freeform 140"/>
            <p:cNvSpPr/>
            <p:nvPr/>
          </p:nvSpPr>
          <p:spPr bwMode="auto">
            <a:xfrm>
              <a:off x="5491" y="1671"/>
              <a:ext cx="59" cy="65"/>
            </a:xfrm>
            <a:custGeom>
              <a:avLst/>
              <a:gdLst>
                <a:gd name="T0" fmla="*/ 13 w 59"/>
                <a:gd name="T1" fmla="*/ 52 h 65"/>
                <a:gd name="T2" fmla="*/ 7 w 59"/>
                <a:gd name="T3" fmla="*/ 59 h 65"/>
                <a:gd name="T4" fmla="*/ 0 w 59"/>
                <a:gd name="T5" fmla="*/ 65 h 65"/>
                <a:gd name="T6" fmla="*/ 0 w 59"/>
                <a:gd name="T7" fmla="*/ 65 h 65"/>
                <a:gd name="T8" fmla="*/ 26 w 59"/>
                <a:gd name="T9" fmla="*/ 65 h 65"/>
                <a:gd name="T10" fmla="*/ 26 w 59"/>
                <a:gd name="T11" fmla="*/ 65 h 65"/>
                <a:gd name="T12" fmla="*/ 20 w 59"/>
                <a:gd name="T13" fmla="*/ 59 h 65"/>
                <a:gd name="T14" fmla="*/ 20 w 59"/>
                <a:gd name="T15" fmla="*/ 52 h 65"/>
                <a:gd name="T16" fmla="*/ 20 w 59"/>
                <a:gd name="T17" fmla="*/ 13 h 65"/>
                <a:gd name="T18" fmla="*/ 26 w 59"/>
                <a:gd name="T19" fmla="*/ 13 h 65"/>
                <a:gd name="T20" fmla="*/ 33 w 59"/>
                <a:gd name="T21" fmla="*/ 7 h 65"/>
                <a:gd name="T22" fmla="*/ 39 w 59"/>
                <a:gd name="T23" fmla="*/ 13 h 65"/>
                <a:gd name="T24" fmla="*/ 39 w 59"/>
                <a:gd name="T25" fmla="*/ 20 h 65"/>
                <a:gd name="T26" fmla="*/ 39 w 59"/>
                <a:gd name="T27" fmla="*/ 52 h 65"/>
                <a:gd name="T28" fmla="*/ 39 w 59"/>
                <a:gd name="T29" fmla="*/ 59 h 65"/>
                <a:gd name="T30" fmla="*/ 33 w 59"/>
                <a:gd name="T31" fmla="*/ 65 h 65"/>
                <a:gd name="T32" fmla="*/ 33 w 59"/>
                <a:gd name="T33" fmla="*/ 65 h 65"/>
                <a:gd name="T34" fmla="*/ 59 w 59"/>
                <a:gd name="T35" fmla="*/ 65 h 65"/>
                <a:gd name="T36" fmla="*/ 59 w 59"/>
                <a:gd name="T37" fmla="*/ 65 h 65"/>
                <a:gd name="T38" fmla="*/ 52 w 59"/>
                <a:gd name="T39" fmla="*/ 59 h 65"/>
                <a:gd name="T40" fmla="*/ 52 w 59"/>
                <a:gd name="T41" fmla="*/ 52 h 65"/>
                <a:gd name="T42" fmla="*/ 52 w 59"/>
                <a:gd name="T43" fmla="*/ 20 h 65"/>
                <a:gd name="T44" fmla="*/ 46 w 59"/>
                <a:gd name="T45" fmla="*/ 7 h 65"/>
                <a:gd name="T46" fmla="*/ 39 w 59"/>
                <a:gd name="T47" fmla="*/ 0 h 65"/>
                <a:gd name="T48" fmla="*/ 33 w 59"/>
                <a:gd name="T49" fmla="*/ 7 h 65"/>
                <a:gd name="T50" fmla="*/ 20 w 59"/>
                <a:gd name="T51" fmla="*/ 13 h 65"/>
                <a:gd name="T52" fmla="*/ 20 w 59"/>
                <a:gd name="T53" fmla="*/ 0 h 65"/>
                <a:gd name="T54" fmla="*/ 20 w 59"/>
                <a:gd name="T55" fmla="*/ 0 h 65"/>
                <a:gd name="T56" fmla="*/ 13 w 59"/>
                <a:gd name="T57" fmla="*/ 7 h 65"/>
                <a:gd name="T58" fmla="*/ 0 w 59"/>
                <a:gd name="T59" fmla="*/ 7 h 65"/>
                <a:gd name="T60" fmla="*/ 0 w 59"/>
                <a:gd name="T61" fmla="*/ 7 h 65"/>
                <a:gd name="T62" fmla="*/ 7 w 59"/>
                <a:gd name="T63" fmla="*/ 7 h 65"/>
                <a:gd name="T64" fmla="*/ 7 w 59"/>
                <a:gd name="T65" fmla="*/ 7 h 65"/>
                <a:gd name="T66" fmla="*/ 13 w 59"/>
                <a:gd name="T67" fmla="*/ 7 h 65"/>
                <a:gd name="T68" fmla="*/ 13 w 59"/>
                <a:gd name="T69" fmla="*/ 20 h 65"/>
                <a:gd name="T70" fmla="*/ 13 w 59"/>
                <a:gd name="T71" fmla="*/ 52 h 6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9"/>
                <a:gd name="T109" fmla="*/ 0 h 65"/>
                <a:gd name="T110" fmla="*/ 59 w 59"/>
                <a:gd name="T111" fmla="*/ 65 h 6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9" h="65">
                  <a:moveTo>
                    <a:pt x="13" y="52"/>
                  </a:moveTo>
                  <a:lnTo>
                    <a:pt x="7" y="59"/>
                  </a:lnTo>
                  <a:lnTo>
                    <a:pt x="0" y="65"/>
                  </a:lnTo>
                  <a:lnTo>
                    <a:pt x="26" y="65"/>
                  </a:lnTo>
                  <a:lnTo>
                    <a:pt x="20" y="59"/>
                  </a:lnTo>
                  <a:lnTo>
                    <a:pt x="20" y="52"/>
                  </a:lnTo>
                  <a:lnTo>
                    <a:pt x="20" y="13"/>
                  </a:lnTo>
                  <a:lnTo>
                    <a:pt x="26" y="13"/>
                  </a:lnTo>
                  <a:lnTo>
                    <a:pt x="33" y="7"/>
                  </a:lnTo>
                  <a:lnTo>
                    <a:pt x="39" y="13"/>
                  </a:lnTo>
                  <a:lnTo>
                    <a:pt x="39" y="20"/>
                  </a:lnTo>
                  <a:lnTo>
                    <a:pt x="39" y="52"/>
                  </a:lnTo>
                  <a:lnTo>
                    <a:pt x="39" y="59"/>
                  </a:lnTo>
                  <a:lnTo>
                    <a:pt x="33" y="65"/>
                  </a:lnTo>
                  <a:lnTo>
                    <a:pt x="59" y="65"/>
                  </a:lnTo>
                  <a:lnTo>
                    <a:pt x="52" y="59"/>
                  </a:lnTo>
                  <a:lnTo>
                    <a:pt x="52" y="52"/>
                  </a:lnTo>
                  <a:lnTo>
                    <a:pt x="52" y="20"/>
                  </a:lnTo>
                  <a:lnTo>
                    <a:pt x="46" y="7"/>
                  </a:lnTo>
                  <a:lnTo>
                    <a:pt x="39" y="0"/>
                  </a:lnTo>
                  <a:lnTo>
                    <a:pt x="33" y="7"/>
                  </a:lnTo>
                  <a:lnTo>
                    <a:pt x="20" y="13"/>
                  </a:lnTo>
                  <a:lnTo>
                    <a:pt x="20" y="0"/>
                  </a:lnTo>
                  <a:lnTo>
                    <a:pt x="13" y="7"/>
                  </a:lnTo>
                  <a:lnTo>
                    <a:pt x="0" y="7"/>
                  </a:lnTo>
                  <a:lnTo>
                    <a:pt x="7" y="7"/>
                  </a:lnTo>
                  <a:lnTo>
                    <a:pt x="13" y="7"/>
                  </a:lnTo>
                  <a:lnTo>
                    <a:pt x="13" y="20"/>
                  </a:lnTo>
                  <a:lnTo>
                    <a:pt x="13"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1" name="Freeform 141"/>
            <p:cNvSpPr/>
            <p:nvPr/>
          </p:nvSpPr>
          <p:spPr bwMode="auto">
            <a:xfrm>
              <a:off x="4082" y="2891"/>
              <a:ext cx="39" cy="155"/>
            </a:xfrm>
            <a:custGeom>
              <a:avLst/>
              <a:gdLst>
                <a:gd name="T0" fmla="*/ 39 w 39"/>
                <a:gd name="T1" fmla="*/ 0 h 155"/>
                <a:gd name="T2" fmla="*/ 13 w 39"/>
                <a:gd name="T3" fmla="*/ 32 h 155"/>
                <a:gd name="T4" fmla="*/ 0 w 39"/>
                <a:gd name="T5" fmla="*/ 78 h 155"/>
                <a:gd name="T6" fmla="*/ 7 w 39"/>
                <a:gd name="T7" fmla="*/ 110 h 155"/>
                <a:gd name="T8" fmla="*/ 13 w 39"/>
                <a:gd name="T9" fmla="*/ 129 h 155"/>
                <a:gd name="T10" fmla="*/ 26 w 39"/>
                <a:gd name="T11" fmla="*/ 142 h 155"/>
                <a:gd name="T12" fmla="*/ 39 w 39"/>
                <a:gd name="T13" fmla="*/ 155 h 155"/>
                <a:gd name="T14" fmla="*/ 39 w 39"/>
                <a:gd name="T15" fmla="*/ 155 h 155"/>
                <a:gd name="T16" fmla="*/ 26 w 39"/>
                <a:gd name="T17" fmla="*/ 136 h 155"/>
                <a:gd name="T18" fmla="*/ 20 w 39"/>
                <a:gd name="T19" fmla="*/ 116 h 155"/>
                <a:gd name="T20" fmla="*/ 13 w 39"/>
                <a:gd name="T21" fmla="*/ 97 h 155"/>
                <a:gd name="T22" fmla="*/ 13 w 39"/>
                <a:gd name="T23" fmla="*/ 78 h 155"/>
                <a:gd name="T24" fmla="*/ 13 w 39"/>
                <a:gd name="T25" fmla="*/ 45 h 155"/>
                <a:gd name="T26" fmla="*/ 20 w 39"/>
                <a:gd name="T27" fmla="*/ 26 h 155"/>
                <a:gd name="T28" fmla="*/ 32 w 39"/>
                <a:gd name="T29" fmla="*/ 13 h 155"/>
                <a:gd name="T30" fmla="*/ 39 w 39"/>
                <a:gd name="T31" fmla="*/ 7 h 155"/>
                <a:gd name="T32" fmla="*/ 39 w 39"/>
                <a:gd name="T33" fmla="*/ 0 h 1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155"/>
                <a:gd name="T53" fmla="*/ 39 w 39"/>
                <a:gd name="T54" fmla="*/ 155 h 1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155">
                  <a:moveTo>
                    <a:pt x="39" y="0"/>
                  </a:moveTo>
                  <a:lnTo>
                    <a:pt x="13" y="32"/>
                  </a:lnTo>
                  <a:lnTo>
                    <a:pt x="0" y="78"/>
                  </a:lnTo>
                  <a:lnTo>
                    <a:pt x="7" y="110"/>
                  </a:lnTo>
                  <a:lnTo>
                    <a:pt x="13" y="129"/>
                  </a:lnTo>
                  <a:lnTo>
                    <a:pt x="26" y="142"/>
                  </a:lnTo>
                  <a:lnTo>
                    <a:pt x="39" y="155"/>
                  </a:lnTo>
                  <a:lnTo>
                    <a:pt x="26" y="136"/>
                  </a:lnTo>
                  <a:lnTo>
                    <a:pt x="20" y="116"/>
                  </a:lnTo>
                  <a:lnTo>
                    <a:pt x="13" y="97"/>
                  </a:lnTo>
                  <a:lnTo>
                    <a:pt x="13" y="78"/>
                  </a:lnTo>
                  <a:lnTo>
                    <a:pt x="13" y="45"/>
                  </a:lnTo>
                  <a:lnTo>
                    <a:pt x="20" y="26"/>
                  </a:lnTo>
                  <a:lnTo>
                    <a:pt x="32" y="13"/>
                  </a:lnTo>
                  <a:lnTo>
                    <a:pt x="39" y="7"/>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2" name="Freeform 142"/>
            <p:cNvSpPr>
              <a:spLocks noEditPoints="1"/>
            </p:cNvSpPr>
            <p:nvPr/>
          </p:nvSpPr>
          <p:spPr bwMode="auto">
            <a:xfrm>
              <a:off x="4134" y="2891"/>
              <a:ext cx="77" cy="129"/>
            </a:xfrm>
            <a:custGeom>
              <a:avLst/>
              <a:gdLst>
                <a:gd name="T0" fmla="*/ 26 w 77"/>
                <a:gd name="T1" fmla="*/ 65 h 129"/>
                <a:gd name="T2" fmla="*/ 32 w 77"/>
                <a:gd name="T3" fmla="*/ 58 h 129"/>
                <a:gd name="T4" fmla="*/ 45 w 77"/>
                <a:gd name="T5" fmla="*/ 52 h 129"/>
                <a:gd name="T6" fmla="*/ 52 w 77"/>
                <a:gd name="T7" fmla="*/ 58 h 129"/>
                <a:gd name="T8" fmla="*/ 58 w 77"/>
                <a:gd name="T9" fmla="*/ 65 h 129"/>
                <a:gd name="T10" fmla="*/ 64 w 77"/>
                <a:gd name="T11" fmla="*/ 91 h 129"/>
                <a:gd name="T12" fmla="*/ 64 w 77"/>
                <a:gd name="T13" fmla="*/ 97 h 129"/>
                <a:gd name="T14" fmla="*/ 58 w 77"/>
                <a:gd name="T15" fmla="*/ 110 h 129"/>
                <a:gd name="T16" fmla="*/ 52 w 77"/>
                <a:gd name="T17" fmla="*/ 116 h 129"/>
                <a:gd name="T18" fmla="*/ 39 w 77"/>
                <a:gd name="T19" fmla="*/ 123 h 129"/>
                <a:gd name="T20" fmla="*/ 32 w 77"/>
                <a:gd name="T21" fmla="*/ 116 h 129"/>
                <a:gd name="T22" fmla="*/ 26 w 77"/>
                <a:gd name="T23" fmla="*/ 110 h 129"/>
                <a:gd name="T24" fmla="*/ 26 w 77"/>
                <a:gd name="T25" fmla="*/ 65 h 129"/>
                <a:gd name="T26" fmla="*/ 13 w 77"/>
                <a:gd name="T27" fmla="*/ 116 h 129"/>
                <a:gd name="T28" fmla="*/ 19 w 77"/>
                <a:gd name="T29" fmla="*/ 123 h 129"/>
                <a:gd name="T30" fmla="*/ 26 w 77"/>
                <a:gd name="T31" fmla="*/ 123 h 129"/>
                <a:gd name="T32" fmla="*/ 39 w 77"/>
                <a:gd name="T33" fmla="*/ 129 h 129"/>
                <a:gd name="T34" fmla="*/ 58 w 77"/>
                <a:gd name="T35" fmla="*/ 123 h 129"/>
                <a:gd name="T36" fmla="*/ 71 w 77"/>
                <a:gd name="T37" fmla="*/ 110 h 129"/>
                <a:gd name="T38" fmla="*/ 77 w 77"/>
                <a:gd name="T39" fmla="*/ 97 h 129"/>
                <a:gd name="T40" fmla="*/ 77 w 77"/>
                <a:gd name="T41" fmla="*/ 84 h 129"/>
                <a:gd name="T42" fmla="*/ 71 w 77"/>
                <a:gd name="T43" fmla="*/ 52 h 129"/>
                <a:gd name="T44" fmla="*/ 58 w 77"/>
                <a:gd name="T45" fmla="*/ 45 h 129"/>
                <a:gd name="T46" fmla="*/ 45 w 77"/>
                <a:gd name="T47" fmla="*/ 39 h 129"/>
                <a:gd name="T48" fmla="*/ 32 w 77"/>
                <a:gd name="T49" fmla="*/ 45 h 129"/>
                <a:gd name="T50" fmla="*/ 26 w 77"/>
                <a:gd name="T51" fmla="*/ 58 h 129"/>
                <a:gd name="T52" fmla="*/ 26 w 77"/>
                <a:gd name="T53" fmla="*/ 58 h 129"/>
                <a:gd name="T54" fmla="*/ 26 w 77"/>
                <a:gd name="T55" fmla="*/ 0 h 129"/>
                <a:gd name="T56" fmla="*/ 26 w 77"/>
                <a:gd name="T57" fmla="*/ 0 h 129"/>
                <a:gd name="T58" fmla="*/ 13 w 77"/>
                <a:gd name="T59" fmla="*/ 7 h 129"/>
                <a:gd name="T60" fmla="*/ 0 w 77"/>
                <a:gd name="T61" fmla="*/ 7 h 129"/>
                <a:gd name="T62" fmla="*/ 0 w 77"/>
                <a:gd name="T63" fmla="*/ 13 h 129"/>
                <a:gd name="T64" fmla="*/ 6 w 77"/>
                <a:gd name="T65" fmla="*/ 13 h 129"/>
                <a:gd name="T66" fmla="*/ 6 w 77"/>
                <a:gd name="T67" fmla="*/ 13 h 129"/>
                <a:gd name="T68" fmla="*/ 13 w 77"/>
                <a:gd name="T69" fmla="*/ 13 h 129"/>
                <a:gd name="T70" fmla="*/ 13 w 77"/>
                <a:gd name="T71" fmla="*/ 20 h 129"/>
                <a:gd name="T72" fmla="*/ 13 w 77"/>
                <a:gd name="T73" fmla="*/ 116 h 1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7"/>
                <a:gd name="T112" fmla="*/ 0 h 129"/>
                <a:gd name="T113" fmla="*/ 77 w 77"/>
                <a:gd name="T114" fmla="*/ 129 h 12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7" h="129">
                  <a:moveTo>
                    <a:pt x="26" y="65"/>
                  </a:moveTo>
                  <a:lnTo>
                    <a:pt x="32" y="58"/>
                  </a:lnTo>
                  <a:lnTo>
                    <a:pt x="45" y="52"/>
                  </a:lnTo>
                  <a:lnTo>
                    <a:pt x="52" y="58"/>
                  </a:lnTo>
                  <a:lnTo>
                    <a:pt x="58" y="65"/>
                  </a:lnTo>
                  <a:lnTo>
                    <a:pt x="64" y="91"/>
                  </a:lnTo>
                  <a:lnTo>
                    <a:pt x="64" y="97"/>
                  </a:lnTo>
                  <a:lnTo>
                    <a:pt x="58" y="110"/>
                  </a:lnTo>
                  <a:lnTo>
                    <a:pt x="52" y="116"/>
                  </a:lnTo>
                  <a:lnTo>
                    <a:pt x="39" y="123"/>
                  </a:lnTo>
                  <a:lnTo>
                    <a:pt x="32" y="116"/>
                  </a:lnTo>
                  <a:lnTo>
                    <a:pt x="26" y="110"/>
                  </a:lnTo>
                  <a:lnTo>
                    <a:pt x="26" y="65"/>
                  </a:lnTo>
                  <a:close/>
                  <a:moveTo>
                    <a:pt x="13" y="116"/>
                  </a:moveTo>
                  <a:lnTo>
                    <a:pt x="19" y="123"/>
                  </a:lnTo>
                  <a:lnTo>
                    <a:pt x="26" y="123"/>
                  </a:lnTo>
                  <a:lnTo>
                    <a:pt x="39" y="129"/>
                  </a:lnTo>
                  <a:lnTo>
                    <a:pt x="58" y="123"/>
                  </a:lnTo>
                  <a:lnTo>
                    <a:pt x="71" y="110"/>
                  </a:lnTo>
                  <a:lnTo>
                    <a:pt x="77" y="97"/>
                  </a:lnTo>
                  <a:lnTo>
                    <a:pt x="77" y="84"/>
                  </a:lnTo>
                  <a:lnTo>
                    <a:pt x="71" y="52"/>
                  </a:lnTo>
                  <a:lnTo>
                    <a:pt x="58" y="45"/>
                  </a:lnTo>
                  <a:lnTo>
                    <a:pt x="45" y="39"/>
                  </a:lnTo>
                  <a:lnTo>
                    <a:pt x="32" y="45"/>
                  </a:lnTo>
                  <a:lnTo>
                    <a:pt x="26" y="58"/>
                  </a:lnTo>
                  <a:lnTo>
                    <a:pt x="26" y="0"/>
                  </a:lnTo>
                  <a:lnTo>
                    <a:pt x="13" y="7"/>
                  </a:lnTo>
                  <a:lnTo>
                    <a:pt x="0" y="7"/>
                  </a:lnTo>
                  <a:lnTo>
                    <a:pt x="0" y="13"/>
                  </a:lnTo>
                  <a:lnTo>
                    <a:pt x="6" y="13"/>
                  </a:lnTo>
                  <a:lnTo>
                    <a:pt x="13" y="13"/>
                  </a:lnTo>
                  <a:lnTo>
                    <a:pt x="13" y="20"/>
                  </a:lnTo>
                  <a:lnTo>
                    <a:pt x="13" y="11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3" name="Freeform 143"/>
            <p:cNvSpPr/>
            <p:nvPr/>
          </p:nvSpPr>
          <p:spPr bwMode="auto">
            <a:xfrm>
              <a:off x="4218" y="2891"/>
              <a:ext cx="45" cy="155"/>
            </a:xfrm>
            <a:custGeom>
              <a:avLst/>
              <a:gdLst>
                <a:gd name="T0" fmla="*/ 6 w 45"/>
                <a:gd name="T1" fmla="*/ 155 h 155"/>
                <a:gd name="T2" fmla="*/ 19 w 45"/>
                <a:gd name="T3" fmla="*/ 142 h 155"/>
                <a:gd name="T4" fmla="*/ 32 w 45"/>
                <a:gd name="T5" fmla="*/ 123 h 155"/>
                <a:gd name="T6" fmla="*/ 45 w 45"/>
                <a:gd name="T7" fmla="*/ 103 h 155"/>
                <a:gd name="T8" fmla="*/ 45 w 45"/>
                <a:gd name="T9" fmla="*/ 84 h 155"/>
                <a:gd name="T10" fmla="*/ 39 w 45"/>
                <a:gd name="T11" fmla="*/ 52 h 155"/>
                <a:gd name="T12" fmla="*/ 32 w 45"/>
                <a:gd name="T13" fmla="*/ 32 h 155"/>
                <a:gd name="T14" fmla="*/ 19 w 45"/>
                <a:gd name="T15" fmla="*/ 13 h 155"/>
                <a:gd name="T16" fmla="*/ 6 w 45"/>
                <a:gd name="T17" fmla="*/ 0 h 155"/>
                <a:gd name="T18" fmla="*/ 0 w 45"/>
                <a:gd name="T19" fmla="*/ 7 h 155"/>
                <a:gd name="T20" fmla="*/ 19 w 45"/>
                <a:gd name="T21" fmla="*/ 26 h 155"/>
                <a:gd name="T22" fmla="*/ 26 w 45"/>
                <a:gd name="T23" fmla="*/ 45 h 155"/>
                <a:gd name="T24" fmla="*/ 32 w 45"/>
                <a:gd name="T25" fmla="*/ 65 h 155"/>
                <a:gd name="T26" fmla="*/ 32 w 45"/>
                <a:gd name="T27" fmla="*/ 84 h 155"/>
                <a:gd name="T28" fmla="*/ 32 w 45"/>
                <a:gd name="T29" fmla="*/ 110 h 155"/>
                <a:gd name="T30" fmla="*/ 19 w 45"/>
                <a:gd name="T31" fmla="*/ 129 h 155"/>
                <a:gd name="T32" fmla="*/ 0 w 45"/>
                <a:gd name="T33" fmla="*/ 155 h 155"/>
                <a:gd name="T34" fmla="*/ 6 w 45"/>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
                <a:gd name="T55" fmla="*/ 0 h 155"/>
                <a:gd name="T56" fmla="*/ 45 w 45"/>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 h="155">
                  <a:moveTo>
                    <a:pt x="6" y="155"/>
                  </a:moveTo>
                  <a:lnTo>
                    <a:pt x="19" y="142"/>
                  </a:lnTo>
                  <a:lnTo>
                    <a:pt x="32" y="123"/>
                  </a:lnTo>
                  <a:lnTo>
                    <a:pt x="45" y="103"/>
                  </a:lnTo>
                  <a:lnTo>
                    <a:pt x="45" y="84"/>
                  </a:lnTo>
                  <a:lnTo>
                    <a:pt x="39" y="52"/>
                  </a:lnTo>
                  <a:lnTo>
                    <a:pt x="32" y="32"/>
                  </a:lnTo>
                  <a:lnTo>
                    <a:pt x="19" y="13"/>
                  </a:lnTo>
                  <a:lnTo>
                    <a:pt x="6" y="0"/>
                  </a:lnTo>
                  <a:lnTo>
                    <a:pt x="0" y="7"/>
                  </a:lnTo>
                  <a:lnTo>
                    <a:pt x="19" y="26"/>
                  </a:lnTo>
                  <a:lnTo>
                    <a:pt x="26" y="45"/>
                  </a:lnTo>
                  <a:lnTo>
                    <a:pt x="32" y="65"/>
                  </a:lnTo>
                  <a:lnTo>
                    <a:pt x="32" y="84"/>
                  </a:lnTo>
                  <a:lnTo>
                    <a:pt x="32" y="110"/>
                  </a:lnTo>
                  <a:lnTo>
                    <a:pt x="19" y="129"/>
                  </a:lnTo>
                  <a:lnTo>
                    <a:pt x="0" y="155"/>
                  </a:lnTo>
                  <a:lnTo>
                    <a:pt x="6" y="15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4" name="Freeform 144"/>
            <p:cNvSpPr>
              <a:spLocks noEditPoints="1"/>
            </p:cNvSpPr>
            <p:nvPr/>
          </p:nvSpPr>
          <p:spPr bwMode="auto">
            <a:xfrm>
              <a:off x="3856" y="2491"/>
              <a:ext cx="97" cy="123"/>
            </a:xfrm>
            <a:custGeom>
              <a:avLst/>
              <a:gdLst>
                <a:gd name="T0" fmla="*/ 90 w 97"/>
                <a:gd name="T1" fmla="*/ 116 h 123"/>
                <a:gd name="T2" fmla="*/ 84 w 97"/>
                <a:gd name="T3" fmla="*/ 110 h 123"/>
                <a:gd name="T4" fmla="*/ 77 w 97"/>
                <a:gd name="T5" fmla="*/ 103 h 123"/>
                <a:gd name="T6" fmla="*/ 65 w 97"/>
                <a:gd name="T7" fmla="*/ 58 h 123"/>
                <a:gd name="T8" fmla="*/ 84 w 97"/>
                <a:gd name="T9" fmla="*/ 58 h 123"/>
                <a:gd name="T10" fmla="*/ 90 w 97"/>
                <a:gd name="T11" fmla="*/ 52 h 123"/>
                <a:gd name="T12" fmla="*/ 97 w 97"/>
                <a:gd name="T13" fmla="*/ 26 h 123"/>
                <a:gd name="T14" fmla="*/ 90 w 97"/>
                <a:gd name="T15" fmla="*/ 13 h 123"/>
                <a:gd name="T16" fmla="*/ 84 w 97"/>
                <a:gd name="T17" fmla="*/ 7 h 123"/>
                <a:gd name="T18" fmla="*/ 71 w 97"/>
                <a:gd name="T19" fmla="*/ 0 h 123"/>
                <a:gd name="T20" fmla="*/ 65 w 97"/>
                <a:gd name="T21" fmla="*/ 0 h 123"/>
                <a:gd name="T22" fmla="*/ 26 w 97"/>
                <a:gd name="T23" fmla="*/ 0 h 123"/>
                <a:gd name="T24" fmla="*/ 26 w 97"/>
                <a:gd name="T25" fmla="*/ 7 h 123"/>
                <a:gd name="T26" fmla="*/ 32 w 97"/>
                <a:gd name="T27" fmla="*/ 7 h 123"/>
                <a:gd name="T28" fmla="*/ 32 w 97"/>
                <a:gd name="T29" fmla="*/ 13 h 123"/>
                <a:gd name="T30" fmla="*/ 32 w 97"/>
                <a:gd name="T31" fmla="*/ 19 h 123"/>
                <a:gd name="T32" fmla="*/ 32 w 97"/>
                <a:gd name="T33" fmla="*/ 26 h 123"/>
                <a:gd name="T34" fmla="*/ 13 w 97"/>
                <a:gd name="T35" fmla="*/ 103 h 123"/>
                <a:gd name="T36" fmla="*/ 6 w 97"/>
                <a:gd name="T37" fmla="*/ 116 h 123"/>
                <a:gd name="T38" fmla="*/ 0 w 97"/>
                <a:gd name="T39" fmla="*/ 116 h 123"/>
                <a:gd name="T40" fmla="*/ 0 w 97"/>
                <a:gd name="T41" fmla="*/ 123 h 123"/>
                <a:gd name="T42" fmla="*/ 39 w 97"/>
                <a:gd name="T43" fmla="*/ 123 h 123"/>
                <a:gd name="T44" fmla="*/ 39 w 97"/>
                <a:gd name="T45" fmla="*/ 116 h 123"/>
                <a:gd name="T46" fmla="*/ 32 w 97"/>
                <a:gd name="T47" fmla="*/ 116 h 123"/>
                <a:gd name="T48" fmla="*/ 26 w 97"/>
                <a:gd name="T49" fmla="*/ 110 h 123"/>
                <a:gd name="T50" fmla="*/ 26 w 97"/>
                <a:gd name="T51" fmla="*/ 110 h 123"/>
                <a:gd name="T52" fmla="*/ 32 w 97"/>
                <a:gd name="T53" fmla="*/ 97 h 123"/>
                <a:gd name="T54" fmla="*/ 39 w 97"/>
                <a:gd name="T55" fmla="*/ 58 h 123"/>
                <a:gd name="T56" fmla="*/ 52 w 97"/>
                <a:gd name="T57" fmla="*/ 65 h 123"/>
                <a:gd name="T58" fmla="*/ 71 w 97"/>
                <a:gd name="T59" fmla="*/ 123 h 123"/>
                <a:gd name="T60" fmla="*/ 90 w 97"/>
                <a:gd name="T61" fmla="*/ 123 h 123"/>
                <a:gd name="T62" fmla="*/ 90 w 97"/>
                <a:gd name="T63" fmla="*/ 116 h 123"/>
                <a:gd name="T64" fmla="*/ 52 w 97"/>
                <a:gd name="T65" fmla="*/ 13 h 123"/>
                <a:gd name="T66" fmla="*/ 52 w 97"/>
                <a:gd name="T67" fmla="*/ 7 h 123"/>
                <a:gd name="T68" fmla="*/ 58 w 97"/>
                <a:gd name="T69" fmla="*/ 7 h 123"/>
                <a:gd name="T70" fmla="*/ 71 w 97"/>
                <a:gd name="T71" fmla="*/ 13 h 123"/>
                <a:gd name="T72" fmla="*/ 77 w 97"/>
                <a:gd name="T73" fmla="*/ 26 h 123"/>
                <a:gd name="T74" fmla="*/ 71 w 97"/>
                <a:gd name="T75" fmla="*/ 45 h 123"/>
                <a:gd name="T76" fmla="*/ 65 w 97"/>
                <a:gd name="T77" fmla="*/ 58 h 123"/>
                <a:gd name="T78" fmla="*/ 52 w 97"/>
                <a:gd name="T79" fmla="*/ 58 h 123"/>
                <a:gd name="T80" fmla="*/ 45 w 97"/>
                <a:gd name="T81" fmla="*/ 58 h 123"/>
                <a:gd name="T82" fmla="*/ 39 w 97"/>
                <a:gd name="T83" fmla="*/ 52 h 123"/>
                <a:gd name="T84" fmla="*/ 52 w 97"/>
                <a:gd name="T85" fmla="*/ 13 h 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7"/>
                <a:gd name="T130" fmla="*/ 0 h 123"/>
                <a:gd name="T131" fmla="*/ 97 w 97"/>
                <a:gd name="T132" fmla="*/ 123 h 12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7" h="123">
                  <a:moveTo>
                    <a:pt x="90" y="116"/>
                  </a:moveTo>
                  <a:lnTo>
                    <a:pt x="84" y="110"/>
                  </a:lnTo>
                  <a:lnTo>
                    <a:pt x="77" y="103"/>
                  </a:lnTo>
                  <a:lnTo>
                    <a:pt x="65" y="58"/>
                  </a:lnTo>
                  <a:lnTo>
                    <a:pt x="84" y="58"/>
                  </a:lnTo>
                  <a:lnTo>
                    <a:pt x="90" y="52"/>
                  </a:lnTo>
                  <a:lnTo>
                    <a:pt x="97" y="26"/>
                  </a:lnTo>
                  <a:lnTo>
                    <a:pt x="90" y="13"/>
                  </a:lnTo>
                  <a:lnTo>
                    <a:pt x="84" y="7"/>
                  </a:lnTo>
                  <a:lnTo>
                    <a:pt x="71" y="0"/>
                  </a:lnTo>
                  <a:lnTo>
                    <a:pt x="65" y="0"/>
                  </a:lnTo>
                  <a:lnTo>
                    <a:pt x="26" y="0"/>
                  </a:lnTo>
                  <a:lnTo>
                    <a:pt x="26" y="7"/>
                  </a:lnTo>
                  <a:lnTo>
                    <a:pt x="32" y="7"/>
                  </a:lnTo>
                  <a:lnTo>
                    <a:pt x="32" y="13"/>
                  </a:lnTo>
                  <a:lnTo>
                    <a:pt x="32" y="19"/>
                  </a:lnTo>
                  <a:lnTo>
                    <a:pt x="32" y="26"/>
                  </a:lnTo>
                  <a:lnTo>
                    <a:pt x="13" y="103"/>
                  </a:lnTo>
                  <a:lnTo>
                    <a:pt x="6" y="116"/>
                  </a:lnTo>
                  <a:lnTo>
                    <a:pt x="0" y="116"/>
                  </a:lnTo>
                  <a:lnTo>
                    <a:pt x="0" y="123"/>
                  </a:lnTo>
                  <a:lnTo>
                    <a:pt x="39" y="123"/>
                  </a:lnTo>
                  <a:lnTo>
                    <a:pt x="39" y="116"/>
                  </a:lnTo>
                  <a:lnTo>
                    <a:pt x="32" y="116"/>
                  </a:lnTo>
                  <a:lnTo>
                    <a:pt x="26" y="110"/>
                  </a:lnTo>
                  <a:lnTo>
                    <a:pt x="32" y="97"/>
                  </a:lnTo>
                  <a:lnTo>
                    <a:pt x="39" y="58"/>
                  </a:lnTo>
                  <a:lnTo>
                    <a:pt x="52" y="65"/>
                  </a:lnTo>
                  <a:lnTo>
                    <a:pt x="71" y="123"/>
                  </a:lnTo>
                  <a:lnTo>
                    <a:pt x="90" y="123"/>
                  </a:lnTo>
                  <a:lnTo>
                    <a:pt x="90" y="116"/>
                  </a:lnTo>
                  <a:close/>
                  <a:moveTo>
                    <a:pt x="52" y="13"/>
                  </a:moveTo>
                  <a:lnTo>
                    <a:pt x="52" y="7"/>
                  </a:lnTo>
                  <a:lnTo>
                    <a:pt x="58" y="7"/>
                  </a:lnTo>
                  <a:lnTo>
                    <a:pt x="71" y="13"/>
                  </a:lnTo>
                  <a:lnTo>
                    <a:pt x="77" y="26"/>
                  </a:lnTo>
                  <a:lnTo>
                    <a:pt x="71" y="45"/>
                  </a:lnTo>
                  <a:lnTo>
                    <a:pt x="65" y="58"/>
                  </a:lnTo>
                  <a:lnTo>
                    <a:pt x="52" y="58"/>
                  </a:lnTo>
                  <a:lnTo>
                    <a:pt x="45" y="58"/>
                  </a:lnTo>
                  <a:lnTo>
                    <a:pt x="39" y="52"/>
                  </a:lnTo>
                  <a:lnTo>
                    <a:pt x="5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5" name="Freeform 145"/>
            <p:cNvSpPr/>
            <p:nvPr/>
          </p:nvSpPr>
          <p:spPr bwMode="auto">
            <a:xfrm>
              <a:off x="3959" y="2569"/>
              <a:ext cx="71" cy="90"/>
            </a:xfrm>
            <a:custGeom>
              <a:avLst/>
              <a:gdLst>
                <a:gd name="T0" fmla="*/ 52 w 71"/>
                <a:gd name="T1" fmla="*/ 83 h 90"/>
                <a:gd name="T2" fmla="*/ 39 w 71"/>
                <a:gd name="T3" fmla="*/ 83 h 90"/>
                <a:gd name="T4" fmla="*/ 39 w 71"/>
                <a:gd name="T5" fmla="*/ 77 h 90"/>
                <a:gd name="T6" fmla="*/ 39 w 71"/>
                <a:gd name="T7" fmla="*/ 6 h 90"/>
                <a:gd name="T8" fmla="*/ 46 w 71"/>
                <a:gd name="T9" fmla="*/ 6 h 90"/>
                <a:gd name="T10" fmla="*/ 58 w 71"/>
                <a:gd name="T11" fmla="*/ 6 h 90"/>
                <a:gd name="T12" fmla="*/ 65 w 71"/>
                <a:gd name="T13" fmla="*/ 19 h 90"/>
                <a:gd name="T14" fmla="*/ 71 w 71"/>
                <a:gd name="T15" fmla="*/ 19 h 90"/>
                <a:gd name="T16" fmla="*/ 65 w 71"/>
                <a:gd name="T17" fmla="*/ 0 h 90"/>
                <a:gd name="T18" fmla="*/ 0 w 71"/>
                <a:gd name="T19" fmla="*/ 0 h 90"/>
                <a:gd name="T20" fmla="*/ 0 w 71"/>
                <a:gd name="T21" fmla="*/ 19 h 90"/>
                <a:gd name="T22" fmla="*/ 0 w 71"/>
                <a:gd name="T23" fmla="*/ 19 h 90"/>
                <a:gd name="T24" fmla="*/ 7 w 71"/>
                <a:gd name="T25" fmla="*/ 6 h 90"/>
                <a:gd name="T26" fmla="*/ 20 w 71"/>
                <a:gd name="T27" fmla="*/ 6 h 90"/>
                <a:gd name="T28" fmla="*/ 26 w 71"/>
                <a:gd name="T29" fmla="*/ 6 h 90"/>
                <a:gd name="T30" fmla="*/ 26 w 71"/>
                <a:gd name="T31" fmla="*/ 71 h 90"/>
                <a:gd name="T32" fmla="*/ 26 w 71"/>
                <a:gd name="T33" fmla="*/ 83 h 90"/>
                <a:gd name="T34" fmla="*/ 13 w 71"/>
                <a:gd name="T35" fmla="*/ 83 h 90"/>
                <a:gd name="T36" fmla="*/ 13 w 71"/>
                <a:gd name="T37" fmla="*/ 90 h 90"/>
                <a:gd name="T38" fmla="*/ 52 w 71"/>
                <a:gd name="T39" fmla="*/ 90 h 90"/>
                <a:gd name="T40" fmla="*/ 52 w 71"/>
                <a:gd name="T41" fmla="*/ 83 h 9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90"/>
                <a:gd name="T65" fmla="*/ 71 w 71"/>
                <a:gd name="T66" fmla="*/ 90 h 9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90">
                  <a:moveTo>
                    <a:pt x="52" y="83"/>
                  </a:moveTo>
                  <a:lnTo>
                    <a:pt x="39" y="83"/>
                  </a:lnTo>
                  <a:lnTo>
                    <a:pt x="39" y="77"/>
                  </a:lnTo>
                  <a:lnTo>
                    <a:pt x="39" y="6"/>
                  </a:lnTo>
                  <a:lnTo>
                    <a:pt x="46" y="6"/>
                  </a:lnTo>
                  <a:lnTo>
                    <a:pt x="58" y="6"/>
                  </a:lnTo>
                  <a:lnTo>
                    <a:pt x="65" y="19"/>
                  </a:lnTo>
                  <a:lnTo>
                    <a:pt x="71" y="19"/>
                  </a:lnTo>
                  <a:lnTo>
                    <a:pt x="65" y="0"/>
                  </a:lnTo>
                  <a:lnTo>
                    <a:pt x="0" y="0"/>
                  </a:lnTo>
                  <a:lnTo>
                    <a:pt x="0" y="19"/>
                  </a:lnTo>
                  <a:lnTo>
                    <a:pt x="7" y="6"/>
                  </a:lnTo>
                  <a:lnTo>
                    <a:pt x="20" y="6"/>
                  </a:lnTo>
                  <a:lnTo>
                    <a:pt x="26" y="6"/>
                  </a:lnTo>
                  <a:lnTo>
                    <a:pt x="26" y="71"/>
                  </a:lnTo>
                  <a:lnTo>
                    <a:pt x="26" y="83"/>
                  </a:lnTo>
                  <a:lnTo>
                    <a:pt x="13" y="83"/>
                  </a:lnTo>
                  <a:lnTo>
                    <a:pt x="13" y="90"/>
                  </a:lnTo>
                  <a:lnTo>
                    <a:pt x="52" y="90"/>
                  </a:lnTo>
                  <a:lnTo>
                    <a:pt x="52" y="8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6" name="Freeform 146"/>
            <p:cNvSpPr/>
            <p:nvPr/>
          </p:nvSpPr>
          <p:spPr bwMode="auto">
            <a:xfrm>
              <a:off x="4030" y="2562"/>
              <a:ext cx="59" cy="97"/>
            </a:xfrm>
            <a:custGeom>
              <a:avLst/>
              <a:gdLst>
                <a:gd name="T0" fmla="*/ 59 w 59"/>
                <a:gd name="T1" fmla="*/ 97 h 97"/>
                <a:gd name="T2" fmla="*/ 52 w 59"/>
                <a:gd name="T3" fmla="*/ 90 h 97"/>
                <a:gd name="T4" fmla="*/ 52 w 59"/>
                <a:gd name="T5" fmla="*/ 84 h 97"/>
                <a:gd name="T6" fmla="*/ 52 w 59"/>
                <a:gd name="T7" fmla="*/ 52 h 97"/>
                <a:gd name="T8" fmla="*/ 52 w 59"/>
                <a:gd name="T9" fmla="*/ 52 h 97"/>
                <a:gd name="T10" fmla="*/ 52 w 59"/>
                <a:gd name="T11" fmla="*/ 45 h 97"/>
                <a:gd name="T12" fmla="*/ 46 w 59"/>
                <a:gd name="T13" fmla="*/ 39 h 97"/>
                <a:gd name="T14" fmla="*/ 33 w 59"/>
                <a:gd name="T15" fmla="*/ 32 h 97"/>
                <a:gd name="T16" fmla="*/ 26 w 59"/>
                <a:gd name="T17" fmla="*/ 39 h 97"/>
                <a:gd name="T18" fmla="*/ 20 w 59"/>
                <a:gd name="T19" fmla="*/ 45 h 97"/>
                <a:gd name="T20" fmla="*/ 20 w 59"/>
                <a:gd name="T21" fmla="*/ 45 h 97"/>
                <a:gd name="T22" fmla="*/ 20 w 59"/>
                <a:gd name="T23" fmla="*/ 0 h 97"/>
                <a:gd name="T24" fmla="*/ 20 w 59"/>
                <a:gd name="T25" fmla="*/ 0 h 97"/>
                <a:gd name="T26" fmla="*/ 13 w 59"/>
                <a:gd name="T27" fmla="*/ 7 h 97"/>
                <a:gd name="T28" fmla="*/ 0 w 59"/>
                <a:gd name="T29" fmla="*/ 7 h 97"/>
                <a:gd name="T30" fmla="*/ 0 w 59"/>
                <a:gd name="T31" fmla="*/ 13 h 97"/>
                <a:gd name="T32" fmla="*/ 0 w 59"/>
                <a:gd name="T33" fmla="*/ 13 h 97"/>
                <a:gd name="T34" fmla="*/ 7 w 59"/>
                <a:gd name="T35" fmla="*/ 13 h 97"/>
                <a:gd name="T36" fmla="*/ 7 w 59"/>
                <a:gd name="T37" fmla="*/ 19 h 97"/>
                <a:gd name="T38" fmla="*/ 7 w 59"/>
                <a:gd name="T39" fmla="*/ 84 h 97"/>
                <a:gd name="T40" fmla="*/ 7 w 59"/>
                <a:gd name="T41" fmla="*/ 90 h 97"/>
                <a:gd name="T42" fmla="*/ 0 w 59"/>
                <a:gd name="T43" fmla="*/ 97 h 97"/>
                <a:gd name="T44" fmla="*/ 0 w 59"/>
                <a:gd name="T45" fmla="*/ 97 h 97"/>
                <a:gd name="T46" fmla="*/ 26 w 59"/>
                <a:gd name="T47" fmla="*/ 97 h 97"/>
                <a:gd name="T48" fmla="*/ 26 w 59"/>
                <a:gd name="T49" fmla="*/ 97 h 97"/>
                <a:gd name="T50" fmla="*/ 20 w 59"/>
                <a:gd name="T51" fmla="*/ 90 h 97"/>
                <a:gd name="T52" fmla="*/ 20 w 59"/>
                <a:gd name="T53" fmla="*/ 84 h 97"/>
                <a:gd name="T54" fmla="*/ 20 w 59"/>
                <a:gd name="T55" fmla="*/ 52 h 97"/>
                <a:gd name="T56" fmla="*/ 26 w 59"/>
                <a:gd name="T57" fmla="*/ 45 h 97"/>
                <a:gd name="T58" fmla="*/ 33 w 59"/>
                <a:gd name="T59" fmla="*/ 39 h 97"/>
                <a:gd name="T60" fmla="*/ 39 w 59"/>
                <a:gd name="T61" fmla="*/ 45 h 97"/>
                <a:gd name="T62" fmla="*/ 39 w 59"/>
                <a:gd name="T63" fmla="*/ 52 h 97"/>
                <a:gd name="T64" fmla="*/ 39 w 59"/>
                <a:gd name="T65" fmla="*/ 84 h 97"/>
                <a:gd name="T66" fmla="*/ 39 w 59"/>
                <a:gd name="T67" fmla="*/ 90 h 97"/>
                <a:gd name="T68" fmla="*/ 33 w 59"/>
                <a:gd name="T69" fmla="*/ 97 h 97"/>
                <a:gd name="T70" fmla="*/ 33 w 59"/>
                <a:gd name="T71" fmla="*/ 97 h 97"/>
                <a:gd name="T72" fmla="*/ 59 w 59"/>
                <a:gd name="T73" fmla="*/ 97 h 97"/>
                <a:gd name="T74" fmla="*/ 59 w 59"/>
                <a:gd name="T75" fmla="*/ 97 h 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9"/>
                <a:gd name="T115" fmla="*/ 0 h 97"/>
                <a:gd name="T116" fmla="*/ 59 w 59"/>
                <a:gd name="T117" fmla="*/ 97 h 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9" h="97">
                  <a:moveTo>
                    <a:pt x="59" y="97"/>
                  </a:moveTo>
                  <a:lnTo>
                    <a:pt x="52" y="90"/>
                  </a:lnTo>
                  <a:lnTo>
                    <a:pt x="52" y="84"/>
                  </a:lnTo>
                  <a:lnTo>
                    <a:pt x="52" y="52"/>
                  </a:lnTo>
                  <a:lnTo>
                    <a:pt x="52" y="45"/>
                  </a:lnTo>
                  <a:lnTo>
                    <a:pt x="46" y="39"/>
                  </a:lnTo>
                  <a:lnTo>
                    <a:pt x="33" y="32"/>
                  </a:lnTo>
                  <a:lnTo>
                    <a:pt x="26" y="39"/>
                  </a:lnTo>
                  <a:lnTo>
                    <a:pt x="20" y="45"/>
                  </a:lnTo>
                  <a:lnTo>
                    <a:pt x="20" y="0"/>
                  </a:lnTo>
                  <a:lnTo>
                    <a:pt x="13" y="7"/>
                  </a:lnTo>
                  <a:lnTo>
                    <a:pt x="0" y="7"/>
                  </a:lnTo>
                  <a:lnTo>
                    <a:pt x="0" y="13"/>
                  </a:lnTo>
                  <a:lnTo>
                    <a:pt x="7" y="13"/>
                  </a:lnTo>
                  <a:lnTo>
                    <a:pt x="7" y="19"/>
                  </a:lnTo>
                  <a:lnTo>
                    <a:pt x="7" y="84"/>
                  </a:lnTo>
                  <a:lnTo>
                    <a:pt x="7" y="90"/>
                  </a:lnTo>
                  <a:lnTo>
                    <a:pt x="0" y="97"/>
                  </a:lnTo>
                  <a:lnTo>
                    <a:pt x="26" y="97"/>
                  </a:lnTo>
                  <a:lnTo>
                    <a:pt x="20" y="90"/>
                  </a:lnTo>
                  <a:lnTo>
                    <a:pt x="20" y="84"/>
                  </a:lnTo>
                  <a:lnTo>
                    <a:pt x="20" y="52"/>
                  </a:lnTo>
                  <a:lnTo>
                    <a:pt x="26" y="45"/>
                  </a:lnTo>
                  <a:lnTo>
                    <a:pt x="33" y="39"/>
                  </a:lnTo>
                  <a:lnTo>
                    <a:pt x="39" y="45"/>
                  </a:lnTo>
                  <a:lnTo>
                    <a:pt x="39" y="52"/>
                  </a:lnTo>
                  <a:lnTo>
                    <a:pt x="39" y="84"/>
                  </a:lnTo>
                  <a:lnTo>
                    <a:pt x="39" y="90"/>
                  </a:lnTo>
                  <a:lnTo>
                    <a:pt x="33" y="97"/>
                  </a:lnTo>
                  <a:lnTo>
                    <a:pt x="59" y="9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7" name="Freeform 147"/>
            <p:cNvSpPr>
              <a:spLocks noEditPoints="1"/>
            </p:cNvSpPr>
            <p:nvPr/>
          </p:nvSpPr>
          <p:spPr bwMode="auto">
            <a:xfrm>
              <a:off x="4140" y="2543"/>
              <a:ext cx="84" cy="45"/>
            </a:xfrm>
            <a:custGeom>
              <a:avLst/>
              <a:gdLst>
                <a:gd name="T0" fmla="*/ 84 w 84"/>
                <a:gd name="T1" fmla="*/ 0 h 45"/>
                <a:gd name="T2" fmla="*/ 0 w 84"/>
                <a:gd name="T3" fmla="*/ 0 h 45"/>
                <a:gd name="T4" fmla="*/ 0 w 84"/>
                <a:gd name="T5" fmla="*/ 6 h 45"/>
                <a:gd name="T6" fmla="*/ 84 w 84"/>
                <a:gd name="T7" fmla="*/ 6 h 45"/>
                <a:gd name="T8" fmla="*/ 84 w 84"/>
                <a:gd name="T9" fmla="*/ 0 h 45"/>
                <a:gd name="T10" fmla="*/ 84 w 84"/>
                <a:gd name="T11" fmla="*/ 32 h 45"/>
                <a:gd name="T12" fmla="*/ 0 w 84"/>
                <a:gd name="T13" fmla="*/ 32 h 45"/>
                <a:gd name="T14" fmla="*/ 0 w 84"/>
                <a:gd name="T15" fmla="*/ 45 h 45"/>
                <a:gd name="T16" fmla="*/ 84 w 84"/>
                <a:gd name="T17" fmla="*/ 45 h 45"/>
                <a:gd name="T18" fmla="*/ 84 w 84"/>
                <a:gd name="T19" fmla="*/ 32 h 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4"/>
                <a:gd name="T31" fmla="*/ 0 h 45"/>
                <a:gd name="T32" fmla="*/ 84 w 84"/>
                <a:gd name="T33" fmla="*/ 45 h 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4" h="45">
                  <a:moveTo>
                    <a:pt x="84" y="0"/>
                  </a:moveTo>
                  <a:lnTo>
                    <a:pt x="0" y="0"/>
                  </a:lnTo>
                  <a:lnTo>
                    <a:pt x="0" y="6"/>
                  </a:lnTo>
                  <a:lnTo>
                    <a:pt x="84" y="6"/>
                  </a:lnTo>
                  <a:lnTo>
                    <a:pt x="84" y="0"/>
                  </a:lnTo>
                  <a:close/>
                  <a:moveTo>
                    <a:pt x="84" y="32"/>
                  </a:moveTo>
                  <a:lnTo>
                    <a:pt x="0" y="32"/>
                  </a:lnTo>
                  <a:lnTo>
                    <a:pt x="0" y="45"/>
                  </a:lnTo>
                  <a:lnTo>
                    <a:pt x="84" y="45"/>
                  </a:lnTo>
                  <a:lnTo>
                    <a:pt x="84"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8" name="Freeform 148"/>
            <p:cNvSpPr>
              <a:spLocks noEditPoints="1"/>
            </p:cNvSpPr>
            <p:nvPr/>
          </p:nvSpPr>
          <p:spPr bwMode="auto">
            <a:xfrm>
              <a:off x="4276" y="2491"/>
              <a:ext cx="97" cy="123"/>
            </a:xfrm>
            <a:custGeom>
              <a:avLst/>
              <a:gdLst>
                <a:gd name="T0" fmla="*/ 97 w 97"/>
                <a:gd name="T1" fmla="*/ 116 h 123"/>
                <a:gd name="T2" fmla="*/ 91 w 97"/>
                <a:gd name="T3" fmla="*/ 110 h 123"/>
                <a:gd name="T4" fmla="*/ 84 w 97"/>
                <a:gd name="T5" fmla="*/ 103 h 123"/>
                <a:gd name="T6" fmla="*/ 71 w 97"/>
                <a:gd name="T7" fmla="*/ 58 h 123"/>
                <a:gd name="T8" fmla="*/ 91 w 97"/>
                <a:gd name="T9" fmla="*/ 52 h 123"/>
                <a:gd name="T10" fmla="*/ 97 w 97"/>
                <a:gd name="T11" fmla="*/ 26 h 123"/>
                <a:gd name="T12" fmla="*/ 91 w 97"/>
                <a:gd name="T13" fmla="*/ 13 h 123"/>
                <a:gd name="T14" fmla="*/ 84 w 97"/>
                <a:gd name="T15" fmla="*/ 7 h 123"/>
                <a:gd name="T16" fmla="*/ 71 w 97"/>
                <a:gd name="T17" fmla="*/ 0 h 123"/>
                <a:gd name="T18" fmla="*/ 65 w 97"/>
                <a:gd name="T19" fmla="*/ 0 h 123"/>
                <a:gd name="T20" fmla="*/ 26 w 97"/>
                <a:gd name="T21" fmla="*/ 0 h 123"/>
                <a:gd name="T22" fmla="*/ 26 w 97"/>
                <a:gd name="T23" fmla="*/ 7 h 123"/>
                <a:gd name="T24" fmla="*/ 32 w 97"/>
                <a:gd name="T25" fmla="*/ 7 h 123"/>
                <a:gd name="T26" fmla="*/ 39 w 97"/>
                <a:gd name="T27" fmla="*/ 13 h 123"/>
                <a:gd name="T28" fmla="*/ 39 w 97"/>
                <a:gd name="T29" fmla="*/ 19 h 123"/>
                <a:gd name="T30" fmla="*/ 39 w 97"/>
                <a:gd name="T31" fmla="*/ 26 h 123"/>
                <a:gd name="T32" fmla="*/ 19 w 97"/>
                <a:gd name="T33" fmla="*/ 103 h 123"/>
                <a:gd name="T34" fmla="*/ 13 w 97"/>
                <a:gd name="T35" fmla="*/ 116 h 123"/>
                <a:gd name="T36" fmla="*/ 0 w 97"/>
                <a:gd name="T37" fmla="*/ 116 h 123"/>
                <a:gd name="T38" fmla="*/ 0 w 97"/>
                <a:gd name="T39" fmla="*/ 123 h 123"/>
                <a:gd name="T40" fmla="*/ 45 w 97"/>
                <a:gd name="T41" fmla="*/ 123 h 123"/>
                <a:gd name="T42" fmla="*/ 45 w 97"/>
                <a:gd name="T43" fmla="*/ 116 h 123"/>
                <a:gd name="T44" fmla="*/ 32 w 97"/>
                <a:gd name="T45" fmla="*/ 116 h 123"/>
                <a:gd name="T46" fmla="*/ 32 w 97"/>
                <a:gd name="T47" fmla="*/ 110 h 123"/>
                <a:gd name="T48" fmla="*/ 32 w 97"/>
                <a:gd name="T49" fmla="*/ 110 h 123"/>
                <a:gd name="T50" fmla="*/ 32 w 97"/>
                <a:gd name="T51" fmla="*/ 97 h 123"/>
                <a:gd name="T52" fmla="*/ 45 w 97"/>
                <a:gd name="T53" fmla="*/ 58 h 123"/>
                <a:gd name="T54" fmla="*/ 52 w 97"/>
                <a:gd name="T55" fmla="*/ 65 h 123"/>
                <a:gd name="T56" fmla="*/ 71 w 97"/>
                <a:gd name="T57" fmla="*/ 123 h 123"/>
                <a:gd name="T58" fmla="*/ 97 w 97"/>
                <a:gd name="T59" fmla="*/ 123 h 123"/>
                <a:gd name="T60" fmla="*/ 97 w 97"/>
                <a:gd name="T61" fmla="*/ 116 h 123"/>
                <a:gd name="T62" fmla="*/ 52 w 97"/>
                <a:gd name="T63" fmla="*/ 13 h 123"/>
                <a:gd name="T64" fmla="*/ 58 w 97"/>
                <a:gd name="T65" fmla="*/ 7 h 123"/>
                <a:gd name="T66" fmla="*/ 65 w 97"/>
                <a:gd name="T67" fmla="*/ 7 h 123"/>
                <a:gd name="T68" fmla="*/ 78 w 97"/>
                <a:gd name="T69" fmla="*/ 13 h 123"/>
                <a:gd name="T70" fmla="*/ 84 w 97"/>
                <a:gd name="T71" fmla="*/ 26 h 123"/>
                <a:gd name="T72" fmla="*/ 78 w 97"/>
                <a:gd name="T73" fmla="*/ 45 h 123"/>
                <a:gd name="T74" fmla="*/ 71 w 97"/>
                <a:gd name="T75" fmla="*/ 58 h 123"/>
                <a:gd name="T76" fmla="*/ 52 w 97"/>
                <a:gd name="T77" fmla="*/ 58 h 123"/>
                <a:gd name="T78" fmla="*/ 52 w 97"/>
                <a:gd name="T79" fmla="*/ 58 h 123"/>
                <a:gd name="T80" fmla="*/ 45 w 97"/>
                <a:gd name="T81" fmla="*/ 52 h 123"/>
                <a:gd name="T82" fmla="*/ 52 w 97"/>
                <a:gd name="T83" fmla="*/ 13 h 1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7"/>
                <a:gd name="T127" fmla="*/ 0 h 123"/>
                <a:gd name="T128" fmla="*/ 97 w 97"/>
                <a:gd name="T129" fmla="*/ 123 h 1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7" h="123">
                  <a:moveTo>
                    <a:pt x="97" y="116"/>
                  </a:moveTo>
                  <a:lnTo>
                    <a:pt x="91" y="110"/>
                  </a:lnTo>
                  <a:lnTo>
                    <a:pt x="84" y="103"/>
                  </a:lnTo>
                  <a:lnTo>
                    <a:pt x="71" y="58"/>
                  </a:lnTo>
                  <a:lnTo>
                    <a:pt x="91" y="52"/>
                  </a:lnTo>
                  <a:lnTo>
                    <a:pt x="97" y="26"/>
                  </a:lnTo>
                  <a:lnTo>
                    <a:pt x="91" y="13"/>
                  </a:lnTo>
                  <a:lnTo>
                    <a:pt x="84" y="7"/>
                  </a:lnTo>
                  <a:lnTo>
                    <a:pt x="71" y="0"/>
                  </a:lnTo>
                  <a:lnTo>
                    <a:pt x="65" y="0"/>
                  </a:lnTo>
                  <a:lnTo>
                    <a:pt x="26" y="0"/>
                  </a:lnTo>
                  <a:lnTo>
                    <a:pt x="26" y="7"/>
                  </a:lnTo>
                  <a:lnTo>
                    <a:pt x="32" y="7"/>
                  </a:lnTo>
                  <a:lnTo>
                    <a:pt x="39" y="13"/>
                  </a:lnTo>
                  <a:lnTo>
                    <a:pt x="39" y="19"/>
                  </a:lnTo>
                  <a:lnTo>
                    <a:pt x="39" y="26"/>
                  </a:lnTo>
                  <a:lnTo>
                    <a:pt x="19" y="103"/>
                  </a:lnTo>
                  <a:lnTo>
                    <a:pt x="13" y="116"/>
                  </a:lnTo>
                  <a:lnTo>
                    <a:pt x="0" y="116"/>
                  </a:lnTo>
                  <a:lnTo>
                    <a:pt x="0" y="123"/>
                  </a:lnTo>
                  <a:lnTo>
                    <a:pt x="45" y="123"/>
                  </a:lnTo>
                  <a:lnTo>
                    <a:pt x="45" y="116"/>
                  </a:lnTo>
                  <a:lnTo>
                    <a:pt x="32" y="116"/>
                  </a:lnTo>
                  <a:lnTo>
                    <a:pt x="32" y="110"/>
                  </a:lnTo>
                  <a:lnTo>
                    <a:pt x="32" y="97"/>
                  </a:lnTo>
                  <a:lnTo>
                    <a:pt x="45" y="58"/>
                  </a:lnTo>
                  <a:lnTo>
                    <a:pt x="52" y="65"/>
                  </a:lnTo>
                  <a:lnTo>
                    <a:pt x="71" y="123"/>
                  </a:lnTo>
                  <a:lnTo>
                    <a:pt x="97" y="123"/>
                  </a:lnTo>
                  <a:lnTo>
                    <a:pt x="97" y="116"/>
                  </a:lnTo>
                  <a:close/>
                  <a:moveTo>
                    <a:pt x="52" y="13"/>
                  </a:moveTo>
                  <a:lnTo>
                    <a:pt x="58" y="7"/>
                  </a:lnTo>
                  <a:lnTo>
                    <a:pt x="65" y="7"/>
                  </a:lnTo>
                  <a:lnTo>
                    <a:pt x="78" y="13"/>
                  </a:lnTo>
                  <a:lnTo>
                    <a:pt x="84" y="26"/>
                  </a:lnTo>
                  <a:lnTo>
                    <a:pt x="78" y="45"/>
                  </a:lnTo>
                  <a:lnTo>
                    <a:pt x="71" y="58"/>
                  </a:lnTo>
                  <a:lnTo>
                    <a:pt x="52" y="58"/>
                  </a:lnTo>
                  <a:lnTo>
                    <a:pt x="45" y="52"/>
                  </a:lnTo>
                  <a:lnTo>
                    <a:pt x="5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19" name="Freeform 149"/>
            <p:cNvSpPr>
              <a:spLocks noEditPoints="1"/>
            </p:cNvSpPr>
            <p:nvPr/>
          </p:nvSpPr>
          <p:spPr bwMode="auto">
            <a:xfrm>
              <a:off x="4392" y="2562"/>
              <a:ext cx="33" cy="97"/>
            </a:xfrm>
            <a:custGeom>
              <a:avLst/>
              <a:gdLst>
                <a:gd name="T0" fmla="*/ 0 w 33"/>
                <a:gd name="T1" fmla="*/ 97 h 97"/>
                <a:gd name="T2" fmla="*/ 33 w 33"/>
                <a:gd name="T3" fmla="*/ 97 h 97"/>
                <a:gd name="T4" fmla="*/ 33 w 33"/>
                <a:gd name="T5" fmla="*/ 97 h 97"/>
                <a:gd name="T6" fmla="*/ 20 w 33"/>
                <a:gd name="T7" fmla="*/ 90 h 97"/>
                <a:gd name="T8" fmla="*/ 20 w 33"/>
                <a:gd name="T9" fmla="*/ 84 h 97"/>
                <a:gd name="T10" fmla="*/ 20 w 33"/>
                <a:gd name="T11" fmla="*/ 32 h 97"/>
                <a:gd name="T12" fmla="*/ 20 w 33"/>
                <a:gd name="T13" fmla="*/ 32 h 97"/>
                <a:gd name="T14" fmla="*/ 13 w 33"/>
                <a:gd name="T15" fmla="*/ 39 h 97"/>
                <a:gd name="T16" fmla="*/ 0 w 33"/>
                <a:gd name="T17" fmla="*/ 39 h 97"/>
                <a:gd name="T18" fmla="*/ 0 w 33"/>
                <a:gd name="T19" fmla="*/ 45 h 97"/>
                <a:gd name="T20" fmla="*/ 7 w 33"/>
                <a:gd name="T21" fmla="*/ 45 h 97"/>
                <a:gd name="T22" fmla="*/ 7 w 33"/>
                <a:gd name="T23" fmla="*/ 45 h 97"/>
                <a:gd name="T24" fmla="*/ 13 w 33"/>
                <a:gd name="T25" fmla="*/ 45 h 97"/>
                <a:gd name="T26" fmla="*/ 13 w 33"/>
                <a:gd name="T27" fmla="*/ 52 h 97"/>
                <a:gd name="T28" fmla="*/ 13 w 33"/>
                <a:gd name="T29" fmla="*/ 84 h 97"/>
                <a:gd name="T30" fmla="*/ 7 w 33"/>
                <a:gd name="T31" fmla="*/ 90 h 97"/>
                <a:gd name="T32" fmla="*/ 0 w 33"/>
                <a:gd name="T33" fmla="*/ 97 h 97"/>
                <a:gd name="T34" fmla="*/ 0 w 33"/>
                <a:gd name="T35" fmla="*/ 97 h 97"/>
                <a:gd name="T36" fmla="*/ 7 w 33"/>
                <a:gd name="T37" fmla="*/ 7 h 97"/>
                <a:gd name="T38" fmla="*/ 13 w 33"/>
                <a:gd name="T39" fmla="*/ 13 h 97"/>
                <a:gd name="T40" fmla="*/ 13 w 33"/>
                <a:gd name="T41" fmla="*/ 19 h 97"/>
                <a:gd name="T42" fmla="*/ 20 w 33"/>
                <a:gd name="T43" fmla="*/ 13 h 97"/>
                <a:gd name="T44" fmla="*/ 20 w 33"/>
                <a:gd name="T45" fmla="*/ 7 h 97"/>
                <a:gd name="T46" fmla="*/ 20 w 33"/>
                <a:gd name="T47" fmla="*/ 7 h 97"/>
                <a:gd name="T48" fmla="*/ 13 w 33"/>
                <a:gd name="T49" fmla="*/ 0 h 97"/>
                <a:gd name="T50" fmla="*/ 13 w 33"/>
                <a:gd name="T51" fmla="*/ 7 h 97"/>
                <a:gd name="T52" fmla="*/ 7 w 33"/>
                <a:gd name="T53" fmla="*/ 7 h 97"/>
                <a:gd name="T54" fmla="*/ 7 w 33"/>
                <a:gd name="T55" fmla="*/ 7 h 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3"/>
                <a:gd name="T85" fmla="*/ 0 h 97"/>
                <a:gd name="T86" fmla="*/ 33 w 33"/>
                <a:gd name="T87" fmla="*/ 97 h 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3" h="97">
                  <a:moveTo>
                    <a:pt x="0" y="97"/>
                  </a:moveTo>
                  <a:lnTo>
                    <a:pt x="33" y="97"/>
                  </a:lnTo>
                  <a:lnTo>
                    <a:pt x="20" y="90"/>
                  </a:lnTo>
                  <a:lnTo>
                    <a:pt x="20" y="84"/>
                  </a:lnTo>
                  <a:lnTo>
                    <a:pt x="20" y="32"/>
                  </a:lnTo>
                  <a:lnTo>
                    <a:pt x="13" y="39"/>
                  </a:lnTo>
                  <a:lnTo>
                    <a:pt x="0" y="39"/>
                  </a:lnTo>
                  <a:lnTo>
                    <a:pt x="0" y="45"/>
                  </a:lnTo>
                  <a:lnTo>
                    <a:pt x="7" y="45"/>
                  </a:lnTo>
                  <a:lnTo>
                    <a:pt x="13" y="45"/>
                  </a:lnTo>
                  <a:lnTo>
                    <a:pt x="13" y="52"/>
                  </a:lnTo>
                  <a:lnTo>
                    <a:pt x="13" y="84"/>
                  </a:lnTo>
                  <a:lnTo>
                    <a:pt x="7" y="90"/>
                  </a:lnTo>
                  <a:lnTo>
                    <a:pt x="0" y="97"/>
                  </a:lnTo>
                  <a:close/>
                  <a:moveTo>
                    <a:pt x="7" y="7"/>
                  </a:moveTo>
                  <a:lnTo>
                    <a:pt x="13" y="13"/>
                  </a:lnTo>
                  <a:lnTo>
                    <a:pt x="13" y="19"/>
                  </a:lnTo>
                  <a:lnTo>
                    <a:pt x="20" y="13"/>
                  </a:lnTo>
                  <a:lnTo>
                    <a:pt x="20" y="7"/>
                  </a:lnTo>
                  <a:lnTo>
                    <a:pt x="13" y="0"/>
                  </a:lnTo>
                  <a:lnTo>
                    <a:pt x="13" y="7"/>
                  </a:lnTo>
                  <a:lnTo>
                    <a:pt x="7"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20" name="Freeform 150"/>
            <p:cNvSpPr/>
            <p:nvPr/>
          </p:nvSpPr>
          <p:spPr bwMode="auto">
            <a:xfrm>
              <a:off x="4425" y="2594"/>
              <a:ext cx="58" cy="65"/>
            </a:xfrm>
            <a:custGeom>
              <a:avLst/>
              <a:gdLst>
                <a:gd name="T0" fmla="*/ 6 w 58"/>
                <a:gd name="T1" fmla="*/ 52 h 65"/>
                <a:gd name="T2" fmla="*/ 6 w 58"/>
                <a:gd name="T3" fmla="*/ 58 h 65"/>
                <a:gd name="T4" fmla="*/ 0 w 58"/>
                <a:gd name="T5" fmla="*/ 65 h 65"/>
                <a:gd name="T6" fmla="*/ 0 w 58"/>
                <a:gd name="T7" fmla="*/ 65 h 65"/>
                <a:gd name="T8" fmla="*/ 26 w 58"/>
                <a:gd name="T9" fmla="*/ 65 h 65"/>
                <a:gd name="T10" fmla="*/ 26 w 58"/>
                <a:gd name="T11" fmla="*/ 65 h 65"/>
                <a:gd name="T12" fmla="*/ 19 w 58"/>
                <a:gd name="T13" fmla="*/ 58 h 65"/>
                <a:gd name="T14" fmla="*/ 19 w 58"/>
                <a:gd name="T15" fmla="*/ 52 h 65"/>
                <a:gd name="T16" fmla="*/ 19 w 58"/>
                <a:gd name="T17" fmla="*/ 13 h 65"/>
                <a:gd name="T18" fmla="*/ 26 w 58"/>
                <a:gd name="T19" fmla="*/ 13 h 65"/>
                <a:gd name="T20" fmla="*/ 32 w 58"/>
                <a:gd name="T21" fmla="*/ 7 h 65"/>
                <a:gd name="T22" fmla="*/ 39 w 58"/>
                <a:gd name="T23" fmla="*/ 13 h 65"/>
                <a:gd name="T24" fmla="*/ 39 w 58"/>
                <a:gd name="T25" fmla="*/ 20 h 65"/>
                <a:gd name="T26" fmla="*/ 39 w 58"/>
                <a:gd name="T27" fmla="*/ 52 h 65"/>
                <a:gd name="T28" fmla="*/ 39 w 58"/>
                <a:gd name="T29" fmla="*/ 58 h 65"/>
                <a:gd name="T30" fmla="*/ 32 w 58"/>
                <a:gd name="T31" fmla="*/ 65 h 65"/>
                <a:gd name="T32" fmla="*/ 32 w 58"/>
                <a:gd name="T33" fmla="*/ 65 h 65"/>
                <a:gd name="T34" fmla="*/ 58 w 58"/>
                <a:gd name="T35" fmla="*/ 65 h 65"/>
                <a:gd name="T36" fmla="*/ 58 w 58"/>
                <a:gd name="T37" fmla="*/ 65 h 65"/>
                <a:gd name="T38" fmla="*/ 51 w 58"/>
                <a:gd name="T39" fmla="*/ 58 h 65"/>
                <a:gd name="T40" fmla="*/ 51 w 58"/>
                <a:gd name="T41" fmla="*/ 52 h 65"/>
                <a:gd name="T42" fmla="*/ 51 w 58"/>
                <a:gd name="T43" fmla="*/ 20 h 65"/>
                <a:gd name="T44" fmla="*/ 45 w 58"/>
                <a:gd name="T45" fmla="*/ 7 h 65"/>
                <a:gd name="T46" fmla="*/ 39 w 58"/>
                <a:gd name="T47" fmla="*/ 0 h 65"/>
                <a:gd name="T48" fmla="*/ 32 w 58"/>
                <a:gd name="T49" fmla="*/ 7 h 65"/>
                <a:gd name="T50" fmla="*/ 19 w 58"/>
                <a:gd name="T51" fmla="*/ 13 h 65"/>
                <a:gd name="T52" fmla="*/ 19 w 58"/>
                <a:gd name="T53" fmla="*/ 0 h 65"/>
                <a:gd name="T54" fmla="*/ 19 w 58"/>
                <a:gd name="T55" fmla="*/ 0 h 65"/>
                <a:gd name="T56" fmla="*/ 13 w 58"/>
                <a:gd name="T57" fmla="*/ 7 h 65"/>
                <a:gd name="T58" fmla="*/ 0 w 58"/>
                <a:gd name="T59" fmla="*/ 7 h 65"/>
                <a:gd name="T60" fmla="*/ 0 w 58"/>
                <a:gd name="T61" fmla="*/ 7 h 65"/>
                <a:gd name="T62" fmla="*/ 6 w 58"/>
                <a:gd name="T63" fmla="*/ 7 h 65"/>
                <a:gd name="T64" fmla="*/ 6 w 58"/>
                <a:gd name="T65" fmla="*/ 7 h 65"/>
                <a:gd name="T66" fmla="*/ 6 w 58"/>
                <a:gd name="T67" fmla="*/ 7 h 65"/>
                <a:gd name="T68" fmla="*/ 6 w 58"/>
                <a:gd name="T69" fmla="*/ 20 h 65"/>
                <a:gd name="T70" fmla="*/ 6 w 58"/>
                <a:gd name="T71" fmla="*/ 52 h 6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8"/>
                <a:gd name="T109" fmla="*/ 0 h 65"/>
                <a:gd name="T110" fmla="*/ 58 w 58"/>
                <a:gd name="T111" fmla="*/ 65 h 6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8" h="65">
                  <a:moveTo>
                    <a:pt x="6" y="52"/>
                  </a:moveTo>
                  <a:lnTo>
                    <a:pt x="6" y="58"/>
                  </a:lnTo>
                  <a:lnTo>
                    <a:pt x="0" y="65"/>
                  </a:lnTo>
                  <a:lnTo>
                    <a:pt x="26" y="65"/>
                  </a:lnTo>
                  <a:lnTo>
                    <a:pt x="19" y="58"/>
                  </a:lnTo>
                  <a:lnTo>
                    <a:pt x="19" y="52"/>
                  </a:lnTo>
                  <a:lnTo>
                    <a:pt x="19" y="13"/>
                  </a:lnTo>
                  <a:lnTo>
                    <a:pt x="26" y="13"/>
                  </a:lnTo>
                  <a:lnTo>
                    <a:pt x="32" y="7"/>
                  </a:lnTo>
                  <a:lnTo>
                    <a:pt x="39" y="13"/>
                  </a:lnTo>
                  <a:lnTo>
                    <a:pt x="39" y="20"/>
                  </a:lnTo>
                  <a:lnTo>
                    <a:pt x="39" y="52"/>
                  </a:lnTo>
                  <a:lnTo>
                    <a:pt x="39" y="58"/>
                  </a:lnTo>
                  <a:lnTo>
                    <a:pt x="32" y="65"/>
                  </a:lnTo>
                  <a:lnTo>
                    <a:pt x="58" y="65"/>
                  </a:lnTo>
                  <a:lnTo>
                    <a:pt x="51" y="58"/>
                  </a:lnTo>
                  <a:lnTo>
                    <a:pt x="51" y="52"/>
                  </a:lnTo>
                  <a:lnTo>
                    <a:pt x="51" y="20"/>
                  </a:lnTo>
                  <a:lnTo>
                    <a:pt x="45" y="7"/>
                  </a:lnTo>
                  <a:lnTo>
                    <a:pt x="39" y="0"/>
                  </a:lnTo>
                  <a:lnTo>
                    <a:pt x="32" y="7"/>
                  </a:lnTo>
                  <a:lnTo>
                    <a:pt x="19" y="13"/>
                  </a:lnTo>
                  <a:lnTo>
                    <a:pt x="19" y="0"/>
                  </a:lnTo>
                  <a:lnTo>
                    <a:pt x="13" y="7"/>
                  </a:lnTo>
                  <a:lnTo>
                    <a:pt x="0" y="7"/>
                  </a:lnTo>
                  <a:lnTo>
                    <a:pt x="6" y="7"/>
                  </a:lnTo>
                  <a:lnTo>
                    <a:pt x="6" y="20"/>
                  </a:lnTo>
                  <a:lnTo>
                    <a:pt x="6"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21" name="Freeform 151"/>
            <p:cNvSpPr/>
            <p:nvPr/>
          </p:nvSpPr>
          <p:spPr bwMode="auto">
            <a:xfrm>
              <a:off x="5155" y="1807"/>
              <a:ext cx="395" cy="1"/>
            </a:xfrm>
            <a:custGeom>
              <a:avLst/>
              <a:gdLst>
                <a:gd name="T0" fmla="*/ 395 w 395"/>
                <a:gd name="T1" fmla="*/ 0 h 1"/>
                <a:gd name="T2" fmla="*/ 0 w 395"/>
                <a:gd name="T3" fmla="*/ 0 h 1"/>
                <a:gd name="T4" fmla="*/ 395 w 395"/>
                <a:gd name="T5" fmla="*/ 0 h 1"/>
                <a:gd name="T6" fmla="*/ 395 w 395"/>
                <a:gd name="T7" fmla="*/ 0 h 1"/>
                <a:gd name="T8" fmla="*/ 0 60000 65536"/>
                <a:gd name="T9" fmla="*/ 0 60000 65536"/>
                <a:gd name="T10" fmla="*/ 0 60000 65536"/>
                <a:gd name="T11" fmla="*/ 0 60000 65536"/>
                <a:gd name="T12" fmla="*/ 0 w 395"/>
                <a:gd name="T13" fmla="*/ 0 h 1"/>
                <a:gd name="T14" fmla="*/ 395 w 395"/>
                <a:gd name="T15" fmla="*/ 1 h 1"/>
              </a:gdLst>
              <a:ahLst/>
              <a:cxnLst>
                <a:cxn ang="T8">
                  <a:pos x="T0" y="T1"/>
                </a:cxn>
                <a:cxn ang="T9">
                  <a:pos x="T2" y="T3"/>
                </a:cxn>
                <a:cxn ang="T10">
                  <a:pos x="T4" y="T5"/>
                </a:cxn>
                <a:cxn ang="T11">
                  <a:pos x="T6" y="T7"/>
                </a:cxn>
              </a:cxnLst>
              <a:rect l="T12" t="T13" r="T14" b="T15"/>
              <a:pathLst>
                <a:path w="395" h="1">
                  <a:moveTo>
                    <a:pt x="395" y="0"/>
                  </a:moveTo>
                  <a:lnTo>
                    <a:pt x="0" y="0"/>
                  </a:lnTo>
                  <a:lnTo>
                    <a:pt x="395"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1822" name="Freeform 152"/>
            <p:cNvSpPr/>
            <p:nvPr/>
          </p:nvSpPr>
          <p:spPr bwMode="auto">
            <a:xfrm>
              <a:off x="5058" y="1768"/>
              <a:ext cx="123" cy="78"/>
            </a:xfrm>
            <a:custGeom>
              <a:avLst/>
              <a:gdLst>
                <a:gd name="T0" fmla="*/ 123 w 123"/>
                <a:gd name="T1" fmla="*/ 0 h 78"/>
                <a:gd name="T2" fmla="*/ 0 w 123"/>
                <a:gd name="T3" fmla="*/ 39 h 78"/>
                <a:gd name="T4" fmla="*/ 123 w 123"/>
                <a:gd name="T5" fmla="*/ 78 h 78"/>
                <a:gd name="T6" fmla="*/ 123 w 123"/>
                <a:gd name="T7" fmla="*/ 0 h 78"/>
                <a:gd name="T8" fmla="*/ 123 w 123"/>
                <a:gd name="T9" fmla="*/ 0 h 78"/>
                <a:gd name="T10" fmla="*/ 0 60000 65536"/>
                <a:gd name="T11" fmla="*/ 0 60000 65536"/>
                <a:gd name="T12" fmla="*/ 0 60000 65536"/>
                <a:gd name="T13" fmla="*/ 0 60000 65536"/>
                <a:gd name="T14" fmla="*/ 0 60000 65536"/>
                <a:gd name="T15" fmla="*/ 0 w 123"/>
                <a:gd name="T16" fmla="*/ 0 h 78"/>
                <a:gd name="T17" fmla="*/ 123 w 123"/>
                <a:gd name="T18" fmla="*/ 78 h 78"/>
              </a:gdLst>
              <a:ahLst/>
              <a:cxnLst>
                <a:cxn ang="T10">
                  <a:pos x="T0" y="T1"/>
                </a:cxn>
                <a:cxn ang="T11">
                  <a:pos x="T2" y="T3"/>
                </a:cxn>
                <a:cxn ang="T12">
                  <a:pos x="T4" y="T5"/>
                </a:cxn>
                <a:cxn ang="T13">
                  <a:pos x="T6" y="T7"/>
                </a:cxn>
                <a:cxn ang="T14">
                  <a:pos x="T8" y="T9"/>
                </a:cxn>
              </a:cxnLst>
              <a:rect l="T15" t="T16" r="T17" b="T18"/>
              <a:pathLst>
                <a:path w="123" h="78">
                  <a:moveTo>
                    <a:pt x="123" y="0"/>
                  </a:moveTo>
                  <a:lnTo>
                    <a:pt x="0" y="39"/>
                  </a:lnTo>
                  <a:lnTo>
                    <a:pt x="123" y="78"/>
                  </a:lnTo>
                  <a:lnTo>
                    <a:pt x="123"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31747" name="Text Box 157"/>
          <p:cNvSpPr txBox="1">
            <a:spLocks noChangeArrowheads="1"/>
          </p:cNvSpPr>
          <p:nvPr/>
        </p:nvSpPr>
        <p:spPr bwMode="auto">
          <a:xfrm>
            <a:off x="928280" y="1124744"/>
            <a:ext cx="6551613" cy="457200"/>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FF0000"/>
                </a:solidFill>
                <a:latin typeface="Arial Black" panose="020B0A04020102020204" pitchFamily="34" charset="0"/>
              </a:rPr>
              <a:t>情况</a:t>
            </a:r>
            <a:r>
              <a:rPr lang="en-US" altLang="zh-CN" sz="2400" b="1" dirty="0">
                <a:solidFill>
                  <a:srgbClr val="FF0000"/>
                </a:solidFill>
                <a:latin typeface="Arial Black" panose="020B0A04020102020204" pitchFamily="34" charset="0"/>
              </a:rPr>
              <a:t>1</a:t>
            </a:r>
            <a:r>
              <a:rPr lang="en-US" altLang="zh-CN" b="1" dirty="0">
                <a:solidFill>
                  <a:srgbClr val="FF0000"/>
                </a:solidFill>
              </a:rPr>
              <a:t> </a:t>
            </a:r>
            <a:r>
              <a:rPr lang="en-US" altLang="zh-CN" b="1" dirty="0">
                <a:solidFill>
                  <a:srgbClr val="000000"/>
                </a:solidFill>
              </a:rPr>
              <a:t>   </a:t>
            </a:r>
            <a:r>
              <a:rPr lang="zh-CN" altLang="en-US" sz="2000" b="1" dirty="0">
                <a:solidFill>
                  <a:srgbClr val="000000"/>
                </a:solidFill>
                <a:latin typeface="Times New Roman" panose="02020603050405020304" pitchFamily="18" charset="0"/>
              </a:rPr>
              <a:t>如果电路网络中</a:t>
            </a:r>
            <a:r>
              <a:rPr lang="zh-CN" altLang="en-US" sz="2000" b="1" dirty="0">
                <a:solidFill>
                  <a:srgbClr val="0000FF"/>
                </a:solidFill>
                <a:latin typeface="Times New Roman" panose="02020603050405020304" pitchFamily="18" charset="0"/>
              </a:rPr>
              <a:t>没有受控源</a:t>
            </a:r>
            <a:r>
              <a:rPr lang="en-US" altLang="zh-CN" sz="2000" b="1" dirty="0">
                <a:solidFill>
                  <a:srgbClr val="0000FF"/>
                </a:solidFill>
                <a:latin typeface="Times New Roman" panose="02020603050405020304" pitchFamily="18" charset="0"/>
              </a:rPr>
              <a:t>——</a:t>
            </a:r>
            <a:r>
              <a:rPr lang="zh-CN" altLang="en-US" sz="2000" b="1" dirty="0">
                <a:solidFill>
                  <a:srgbClr val="0000FF"/>
                </a:solidFill>
                <a:latin typeface="Times New Roman" panose="02020603050405020304" pitchFamily="18" charset="0"/>
              </a:rPr>
              <a:t>直接法</a:t>
            </a:r>
            <a:endParaRPr lang="en-US" altLang="zh-CN" sz="2000" b="1" dirty="0">
              <a:solidFill>
                <a:srgbClr val="0000FF"/>
              </a:solidFill>
              <a:latin typeface="Times New Roman" panose="02020603050405020304" pitchFamily="18" charset="0"/>
            </a:endParaRPr>
          </a:p>
        </p:txBody>
      </p:sp>
      <p:sp>
        <p:nvSpPr>
          <p:cNvPr id="31748" name="Text Box 137"/>
          <p:cNvSpPr txBox="1">
            <a:spLocks noChangeArrowheads="1"/>
          </p:cNvSpPr>
          <p:nvPr/>
        </p:nvSpPr>
        <p:spPr bwMode="auto">
          <a:xfrm>
            <a:off x="1281113" y="3081338"/>
            <a:ext cx="1757362"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rPr>
              <a:t>线性双端电路</a:t>
            </a:r>
            <a:endParaRPr lang="en-US" altLang="zh-CN" sz="2000" b="1" dirty="0">
              <a:solidFill>
                <a:srgbClr val="000000"/>
              </a:solidFill>
            </a:endParaRPr>
          </a:p>
        </p:txBody>
      </p:sp>
      <p:sp>
        <p:nvSpPr>
          <p:cNvPr id="31749" name="Text Box 137"/>
          <p:cNvSpPr txBox="1">
            <a:spLocks noChangeArrowheads="1"/>
          </p:cNvSpPr>
          <p:nvPr/>
        </p:nvSpPr>
        <p:spPr bwMode="auto">
          <a:xfrm>
            <a:off x="5207001" y="2714625"/>
            <a:ext cx="1595456" cy="1015663"/>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000000"/>
                </a:solidFill>
              </a:rPr>
              <a:t>所有独立源置</a:t>
            </a:r>
            <a:r>
              <a:rPr lang="en-US" altLang="zh-CN" sz="2000" b="1" dirty="0">
                <a:solidFill>
                  <a:srgbClr val="000000"/>
                </a:solidFill>
              </a:rPr>
              <a:t>0</a:t>
            </a:r>
            <a:r>
              <a:rPr lang="zh-CN" altLang="en-US" sz="2000" b="1" dirty="0">
                <a:solidFill>
                  <a:srgbClr val="000000"/>
                </a:solidFill>
              </a:rPr>
              <a:t>的线性电路</a:t>
            </a:r>
            <a:endParaRPr lang="en-US" altLang="zh-CN" sz="2000" b="1" dirty="0">
              <a:solidFill>
                <a:srgbClr val="000000"/>
              </a:solidFill>
            </a:endParaRPr>
          </a:p>
        </p:txBody>
      </p:sp>
      <p:sp>
        <p:nvSpPr>
          <p:cNvPr id="3" name="灯片编号占位符 2"/>
          <p:cNvSpPr>
            <a:spLocks noGrp="1"/>
          </p:cNvSpPr>
          <p:nvPr>
            <p:ph type="sldNum" sz="quarter" idx="11"/>
          </p:nvPr>
        </p:nvSpPr>
        <p:spPr/>
        <p:txBody>
          <a:bodyPr/>
          <a:lstStyle/>
          <a:p>
            <a:pPr>
              <a:defRPr/>
            </a:pPr>
            <a:fld id="{B4882483-F3CB-4D5A-8CC8-181CAB4ED700}" type="slidenum">
              <a:rPr lang="en-US" altLang="zh-CN" smtClean="0">
                <a:solidFill>
                  <a:srgbClr val="000000"/>
                </a:solidFill>
              </a:rPr>
              <a:t>39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
          <p:cNvSpPr txBox="1">
            <a:spLocks noChangeArrowheads="1"/>
          </p:cNvSpPr>
          <p:nvPr/>
        </p:nvSpPr>
        <p:spPr bwMode="auto">
          <a:xfrm>
            <a:off x="198437" y="515096"/>
            <a:ext cx="8713787" cy="461963"/>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FF0000"/>
                </a:solidFill>
                <a:latin typeface="Arial Black" panose="020B0A04020102020204" pitchFamily="34" charset="0"/>
              </a:rPr>
              <a:t>情况</a:t>
            </a:r>
            <a:r>
              <a:rPr lang="en-US" altLang="zh-CN" sz="2400" b="1" dirty="0">
                <a:solidFill>
                  <a:srgbClr val="FF0000"/>
                </a:solidFill>
                <a:latin typeface="Arial Black" panose="020B0A04020102020204" pitchFamily="34" charset="0"/>
              </a:rPr>
              <a:t>2</a:t>
            </a:r>
            <a:r>
              <a:rPr lang="en-US" altLang="zh-CN" sz="2400" b="1" dirty="0">
                <a:solidFill>
                  <a:srgbClr val="000000"/>
                </a:solidFill>
                <a:latin typeface="Arial Black" panose="020B0A04020102020204" pitchFamily="34" charset="0"/>
              </a:rPr>
              <a:t>  </a:t>
            </a:r>
            <a:r>
              <a:rPr lang="en-US" altLang="zh-CN" b="1" dirty="0">
                <a:solidFill>
                  <a:srgbClr val="000000"/>
                </a:solidFill>
              </a:rPr>
              <a:t> </a:t>
            </a:r>
            <a:r>
              <a:rPr lang="zh-CN" altLang="en-US" sz="2000" b="1" dirty="0">
                <a:solidFill>
                  <a:srgbClr val="000000"/>
                </a:solidFill>
              </a:rPr>
              <a:t>电路网络中</a:t>
            </a:r>
            <a:r>
              <a:rPr lang="zh-CN" altLang="en-US" sz="2000" b="1" dirty="0">
                <a:solidFill>
                  <a:schemeClr val="bg2">
                    <a:lumMod val="60000"/>
                    <a:lumOff val="40000"/>
                  </a:schemeClr>
                </a:solidFill>
              </a:rPr>
              <a:t>有受控源</a:t>
            </a:r>
            <a:r>
              <a:rPr lang="zh-CN" altLang="en-US" sz="2000" b="1" dirty="0">
                <a:solidFill>
                  <a:srgbClr val="000000"/>
                </a:solidFill>
              </a:rPr>
              <a:t>（不可关闭）</a:t>
            </a:r>
            <a:r>
              <a:rPr lang="en-US" altLang="zh-CN" sz="2000" b="1" dirty="0">
                <a:solidFill>
                  <a:srgbClr val="000000"/>
                </a:solidFill>
              </a:rPr>
              <a:t>——</a:t>
            </a:r>
            <a:r>
              <a:rPr lang="zh-CN" altLang="en-US" sz="2000" b="1" dirty="0">
                <a:solidFill>
                  <a:srgbClr val="000000"/>
                </a:solidFill>
              </a:rPr>
              <a:t>伏安法</a:t>
            </a:r>
            <a:endParaRPr lang="en-US" altLang="zh-CN" sz="2000" dirty="0">
              <a:solidFill>
                <a:schemeClr val="bg2">
                  <a:lumMod val="60000"/>
                  <a:lumOff val="40000"/>
                </a:schemeClr>
              </a:solidFill>
              <a:latin typeface="Times New Roman" panose="02020603050405020304" pitchFamily="18" charset="0"/>
            </a:endParaRPr>
          </a:p>
        </p:txBody>
      </p:sp>
      <p:grpSp>
        <p:nvGrpSpPr>
          <p:cNvPr id="2" name="Group 6"/>
          <p:cNvGrpSpPr/>
          <p:nvPr/>
        </p:nvGrpSpPr>
        <p:grpSpPr bwMode="auto">
          <a:xfrm>
            <a:off x="1330343" y="1202946"/>
            <a:ext cx="6354931" cy="2342153"/>
            <a:chOff x="526" y="1930"/>
            <a:chExt cx="3901" cy="1474"/>
          </a:xfrm>
        </p:grpSpPr>
        <p:sp>
          <p:nvSpPr>
            <p:cNvPr id="32882" name="Text Box 7"/>
            <p:cNvSpPr txBox="1">
              <a:spLocks noChangeArrowheads="1"/>
            </p:cNvSpPr>
            <p:nvPr/>
          </p:nvSpPr>
          <p:spPr bwMode="auto">
            <a:xfrm>
              <a:off x="526" y="1930"/>
              <a:ext cx="3901" cy="1474"/>
            </a:xfrm>
            <a:prstGeom prst="rect">
              <a:avLst/>
            </a:prstGeom>
            <a:noFill/>
            <a:ln w="9525">
              <a:noFill/>
              <a:miter lim="800000"/>
            </a:ln>
          </p:spPr>
          <p:txBody>
            <a:bodyPr>
              <a:spAutoFit/>
            </a:bodyPr>
            <a:lstStyle/>
            <a:p>
              <a:pPr fontAlgn="base">
                <a:lnSpc>
                  <a:spcPct val="150000"/>
                </a:lnSpc>
                <a:spcBef>
                  <a:spcPct val="0"/>
                </a:spcBef>
                <a:spcAft>
                  <a:spcPct val="0"/>
                </a:spcAft>
                <a:buClr>
                  <a:srgbClr val="0000FF"/>
                </a:buClr>
                <a:buSzPct val="85000"/>
              </a:pPr>
              <a:r>
                <a:rPr lang="en-US" altLang="zh-CN" sz="2000" b="1" dirty="0">
                  <a:solidFill>
                    <a:srgbClr val="0000FF"/>
                  </a:solidFill>
                  <a:latin typeface="Times New Roman" panose="02020603050405020304" pitchFamily="18" charset="0"/>
                </a:rPr>
                <a:t>(a) </a:t>
              </a:r>
              <a:r>
                <a:rPr lang="zh-CN" altLang="en-US" sz="2000" b="1" dirty="0">
                  <a:solidFill>
                    <a:srgbClr val="0000FF"/>
                  </a:solidFill>
                  <a:latin typeface="Times New Roman" panose="02020603050405020304" pitchFamily="18" charset="0"/>
                </a:rPr>
                <a:t>在</a:t>
              </a:r>
              <a:r>
                <a:rPr lang="en-US" altLang="zh-CN" sz="2000" b="1" i="1" dirty="0" err="1">
                  <a:solidFill>
                    <a:srgbClr val="0000FF"/>
                  </a:solidFill>
                  <a:latin typeface="Times New Roman" panose="02020603050405020304" pitchFamily="18" charset="0"/>
                </a:rPr>
                <a:t>a</a:t>
              </a:r>
              <a:r>
                <a:rPr lang="en-US" altLang="zh-CN" sz="2000" b="1" dirty="0" err="1">
                  <a:solidFill>
                    <a:srgbClr val="0000FF"/>
                  </a:solidFill>
                  <a:latin typeface="Times New Roman" panose="02020603050405020304" pitchFamily="18" charset="0"/>
                </a:rPr>
                <a:t>,</a:t>
              </a:r>
              <a:r>
                <a:rPr lang="en-US" altLang="zh-CN" sz="2000" b="1" i="1" dirty="0" err="1">
                  <a:solidFill>
                    <a:srgbClr val="0000FF"/>
                  </a:solidFill>
                  <a:latin typeface="Times New Roman" panose="02020603050405020304" pitchFamily="18" charset="0"/>
                </a:rPr>
                <a:t>b</a:t>
              </a:r>
              <a:r>
                <a:rPr lang="zh-CN" altLang="en-US" sz="2000" b="1" dirty="0">
                  <a:solidFill>
                    <a:srgbClr val="0000FF"/>
                  </a:solidFill>
                  <a:latin typeface="Times New Roman" panose="02020603050405020304" pitchFamily="18" charset="0"/>
                </a:rPr>
                <a:t>两端加一个电压源    </a:t>
              </a:r>
              <a:r>
                <a:rPr lang="zh-CN" altLang="en-US" sz="2000" b="1" dirty="0">
                  <a:solidFill>
                    <a:srgbClr val="000000"/>
                  </a:solidFill>
                  <a:latin typeface="Times New Roman" panose="02020603050405020304" pitchFamily="18" charset="0"/>
                </a:rPr>
                <a:t>，然后确定产生的电流           </a:t>
              </a:r>
              <a:endParaRPr lang="en-US" altLang="zh-CN" sz="2000" b="1" dirty="0">
                <a:solidFill>
                  <a:srgbClr val="000000"/>
                </a:solidFill>
                <a:latin typeface="Times New Roman" panose="02020603050405020304" pitchFamily="18" charset="0"/>
              </a:endParaRPr>
            </a:p>
            <a:p>
              <a:pPr fontAlgn="base">
                <a:lnSpc>
                  <a:spcPct val="150000"/>
                </a:lnSpc>
                <a:spcBef>
                  <a:spcPct val="0"/>
                </a:spcBef>
                <a:spcAft>
                  <a:spcPct val="0"/>
                </a:spcAft>
                <a:buClr>
                  <a:srgbClr val="0000FF"/>
                </a:buClr>
                <a:buSzPct val="85000"/>
                <a:buFont typeface="Wingdings" panose="05000000000000000000" pitchFamily="2" charset="2"/>
                <a:buNone/>
              </a:pPr>
              <a:r>
                <a:rPr lang="zh-CN" altLang="en-US" sz="2000" b="1" dirty="0">
                  <a:solidFill>
                    <a:srgbClr val="000000"/>
                  </a:solidFill>
                  <a:latin typeface="Times New Roman" panose="02020603050405020304" pitchFamily="18" charset="0"/>
                </a:rPr>
                <a:t>   则：</a:t>
              </a:r>
              <a:endParaRPr lang="en-US" altLang="zh-CN" sz="2000" b="1" dirty="0">
                <a:solidFill>
                  <a:srgbClr val="000000"/>
                </a:solidFill>
                <a:latin typeface="Times New Roman" panose="02020603050405020304" pitchFamily="18" charset="0"/>
              </a:endParaRPr>
            </a:p>
            <a:p>
              <a:pPr fontAlgn="base">
                <a:lnSpc>
                  <a:spcPct val="150000"/>
                </a:lnSpc>
                <a:spcBef>
                  <a:spcPct val="0"/>
                </a:spcBef>
                <a:spcAft>
                  <a:spcPct val="0"/>
                </a:spcAft>
                <a:buClr>
                  <a:srgbClr val="0000FF"/>
                </a:buClr>
                <a:buSzPct val="85000"/>
                <a:buFont typeface="Wingdings" panose="05000000000000000000" pitchFamily="2" charset="2"/>
                <a:buChar char="n"/>
              </a:pPr>
              <a:endParaRPr lang="en-US" altLang="zh-CN" sz="2000" b="1" dirty="0">
                <a:solidFill>
                  <a:srgbClr val="000000"/>
                </a:solidFill>
                <a:latin typeface="Times New Roman" panose="02020603050405020304" pitchFamily="18" charset="0"/>
              </a:endParaRPr>
            </a:p>
            <a:p>
              <a:pPr fontAlgn="base">
                <a:lnSpc>
                  <a:spcPct val="150000"/>
                </a:lnSpc>
                <a:spcBef>
                  <a:spcPct val="0"/>
                </a:spcBef>
                <a:spcAft>
                  <a:spcPct val="0"/>
                </a:spcAft>
                <a:buClr>
                  <a:srgbClr val="0000FF"/>
                </a:buClr>
                <a:buSzPct val="85000"/>
              </a:pPr>
              <a:r>
                <a:rPr lang="en-US" altLang="zh-CN" sz="2000" b="1" dirty="0">
                  <a:solidFill>
                    <a:srgbClr val="0000FF"/>
                  </a:solidFill>
                  <a:latin typeface="Times New Roman" panose="02020603050405020304" pitchFamily="18" charset="0"/>
                </a:rPr>
                <a:t>(b)  </a:t>
              </a:r>
              <a:r>
                <a:rPr lang="zh-CN" altLang="en-US" sz="2000" b="1" dirty="0">
                  <a:solidFill>
                    <a:srgbClr val="0000FF"/>
                  </a:solidFill>
                  <a:latin typeface="Times New Roman" panose="02020603050405020304" pitchFamily="18" charset="0"/>
                </a:rPr>
                <a:t>或在</a:t>
              </a:r>
              <a:r>
                <a:rPr lang="en-US" altLang="zh-CN" sz="2000" b="1" i="1" dirty="0" err="1">
                  <a:solidFill>
                    <a:srgbClr val="0000FF"/>
                  </a:solidFill>
                  <a:latin typeface="Times New Roman" panose="02020603050405020304" pitchFamily="18" charset="0"/>
                </a:rPr>
                <a:t>a</a:t>
              </a:r>
              <a:r>
                <a:rPr lang="en-US" altLang="zh-CN" sz="2000" b="1" dirty="0" err="1">
                  <a:solidFill>
                    <a:srgbClr val="0000FF"/>
                  </a:solidFill>
                  <a:latin typeface="Times New Roman" panose="02020603050405020304" pitchFamily="18" charset="0"/>
                </a:rPr>
                <a:t>,</a:t>
              </a:r>
              <a:r>
                <a:rPr lang="en-US" altLang="zh-CN" sz="2000" b="1" i="1" dirty="0" err="1">
                  <a:solidFill>
                    <a:srgbClr val="0000FF"/>
                  </a:solidFill>
                  <a:latin typeface="Times New Roman" panose="02020603050405020304" pitchFamily="18" charset="0"/>
                </a:rPr>
                <a:t>b</a:t>
              </a:r>
              <a:r>
                <a:rPr lang="zh-CN" altLang="en-US" sz="2000" b="1" dirty="0">
                  <a:solidFill>
                    <a:srgbClr val="0000FF"/>
                  </a:solidFill>
                  <a:latin typeface="Times New Roman" panose="02020603050405020304" pitchFamily="18" charset="0"/>
                </a:rPr>
                <a:t>两端加入一个电流源</a:t>
              </a:r>
              <a:r>
                <a:rPr lang="en-US" altLang="zh-CN" sz="2000" b="1" i="1" dirty="0">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0</a:t>
              </a:r>
              <a:r>
                <a:rPr lang="en-US" altLang="zh-CN" sz="2000" b="1" i="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，然后求出产生的电</a:t>
              </a:r>
              <a:endParaRPr lang="en-US" altLang="zh-CN" sz="2000" b="1" dirty="0">
                <a:solidFill>
                  <a:srgbClr val="000000"/>
                </a:solidFill>
                <a:latin typeface="Times New Roman" panose="02020603050405020304" pitchFamily="18" charset="0"/>
              </a:endParaRPr>
            </a:p>
            <a:p>
              <a:pPr fontAlgn="base">
                <a:lnSpc>
                  <a:spcPct val="150000"/>
                </a:lnSpc>
                <a:spcBef>
                  <a:spcPct val="0"/>
                </a:spcBef>
                <a:spcAft>
                  <a:spcPct val="0"/>
                </a:spcAft>
                <a:buClr>
                  <a:srgbClr val="0000FF"/>
                </a:buClr>
                <a:buSzPct val="85000"/>
                <a:buFont typeface="Wingdings" panose="05000000000000000000" pitchFamily="2" charset="2"/>
                <a:buNone/>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压</a:t>
              </a:r>
              <a:r>
                <a:rPr lang="en-US" altLang="zh-CN" sz="2000" b="1" i="1" dirty="0">
                  <a:solidFill>
                    <a:srgbClr val="000000"/>
                  </a:solidFill>
                  <a:latin typeface="Times New Roman" panose="02020603050405020304" pitchFamily="18" charset="0"/>
                </a:rPr>
                <a:t>v</a:t>
              </a:r>
              <a:r>
                <a:rPr lang="en-US" altLang="zh-CN" sz="2000" b="1" baseline="-25000"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，则：</a:t>
              </a:r>
              <a:r>
                <a:rPr lang="en-US" altLang="zh-CN" sz="2000" b="1" dirty="0">
                  <a:solidFill>
                    <a:srgbClr val="000000"/>
                  </a:solidFill>
                  <a:latin typeface="Times New Roman" panose="02020603050405020304" pitchFamily="18" charset="0"/>
                </a:rPr>
                <a:t> </a:t>
              </a:r>
              <a:endParaRPr lang="en-US" altLang="zh-CN" sz="2000" b="1" baseline="-25000" dirty="0">
                <a:solidFill>
                  <a:srgbClr val="000000"/>
                </a:solidFill>
                <a:latin typeface="Times New Roman" panose="02020603050405020304" pitchFamily="18" charset="0"/>
              </a:endParaRPr>
            </a:p>
          </p:txBody>
        </p:sp>
        <p:grpSp>
          <p:nvGrpSpPr>
            <p:cNvPr id="3" name="Group 8"/>
            <p:cNvGrpSpPr/>
            <p:nvPr/>
          </p:nvGrpSpPr>
          <p:grpSpPr bwMode="auto">
            <a:xfrm>
              <a:off x="1355" y="1954"/>
              <a:ext cx="3055" cy="635"/>
              <a:chOff x="1355" y="1954"/>
              <a:chExt cx="3055" cy="635"/>
            </a:xfrm>
          </p:grpSpPr>
          <p:graphicFrame>
            <p:nvGraphicFramePr>
              <p:cNvPr id="32884" name="Object 9"/>
              <p:cNvGraphicFramePr>
                <a:graphicFrameLocks noChangeAspect="1"/>
              </p:cNvGraphicFramePr>
              <p:nvPr/>
            </p:nvGraphicFramePr>
            <p:xfrm>
              <a:off x="2401" y="1954"/>
              <a:ext cx="211" cy="317"/>
            </p:xfrm>
            <a:graphic>
              <a:graphicData uri="http://schemas.openxmlformats.org/presentationml/2006/ole">
                <mc:AlternateContent xmlns:mc="http://schemas.openxmlformats.org/markup-compatibility/2006">
                  <mc:Choice xmlns:v="urn:schemas-microsoft-com:vml" Requires="v">
                    <p:oleObj spid="_x0000_s23667" name="Equation" r:id="rId4" imgW="3657600" imgH="5486400" progId="">
                      <p:embed/>
                    </p:oleObj>
                  </mc:Choice>
                  <mc:Fallback>
                    <p:oleObj name="Equation" r:id="rId4" imgW="3657600" imgH="5486400" progId="">
                      <p:embed/>
                      <p:pic>
                        <p:nvPicPr>
                          <p:cNvPr id="0" name="图片 23552"/>
                          <p:cNvPicPr>
                            <a:picLocks noChangeAspect="1"/>
                          </p:cNvPicPr>
                          <p:nvPr/>
                        </p:nvPicPr>
                        <p:blipFill>
                          <a:blip r:embed="rId5"/>
                          <a:stretch>
                            <a:fillRect/>
                          </a:stretch>
                        </p:blipFill>
                        <p:spPr>
                          <a:xfrm>
                            <a:off x="2401" y="1954"/>
                            <a:ext cx="211" cy="317"/>
                          </a:xfrm>
                          <a:prstGeom prst="rect">
                            <a:avLst/>
                          </a:prstGeom>
                          <a:noFill/>
                          <a:ln w="9525">
                            <a:noFill/>
                          </a:ln>
                        </p:spPr>
                      </p:pic>
                    </p:oleObj>
                  </mc:Fallback>
                </mc:AlternateContent>
              </a:graphicData>
            </a:graphic>
          </p:graphicFrame>
          <p:graphicFrame>
            <p:nvGraphicFramePr>
              <p:cNvPr id="32885" name="Object 10"/>
              <p:cNvGraphicFramePr>
                <a:graphicFrameLocks noChangeAspect="1"/>
              </p:cNvGraphicFramePr>
              <p:nvPr/>
            </p:nvGraphicFramePr>
            <p:xfrm>
              <a:off x="4166" y="1987"/>
              <a:ext cx="244" cy="303"/>
            </p:xfrm>
            <a:graphic>
              <a:graphicData uri="http://schemas.openxmlformats.org/presentationml/2006/ole">
                <mc:AlternateContent xmlns:mc="http://schemas.openxmlformats.org/markup-compatibility/2006">
                  <mc:Choice xmlns:v="urn:schemas-microsoft-com:vml" Requires="v">
                    <p:oleObj spid="_x0000_s23668" name="Equation" r:id="rId6" imgW="3048000" imgH="5486400" progId="">
                      <p:embed/>
                    </p:oleObj>
                  </mc:Choice>
                  <mc:Fallback>
                    <p:oleObj name="Equation" r:id="rId6" imgW="3048000" imgH="5486400" progId="">
                      <p:embed/>
                      <p:pic>
                        <p:nvPicPr>
                          <p:cNvPr id="0" name="图片 23633"/>
                          <p:cNvPicPr>
                            <a:picLocks noChangeAspect="1"/>
                          </p:cNvPicPr>
                          <p:nvPr/>
                        </p:nvPicPr>
                        <p:blipFill>
                          <a:blip r:embed="rId7"/>
                          <a:stretch>
                            <a:fillRect/>
                          </a:stretch>
                        </p:blipFill>
                        <p:spPr>
                          <a:xfrm>
                            <a:off x="4166" y="1987"/>
                            <a:ext cx="244" cy="303"/>
                          </a:xfrm>
                          <a:prstGeom prst="rect">
                            <a:avLst/>
                          </a:prstGeom>
                          <a:noFill/>
                          <a:ln w="9525">
                            <a:noFill/>
                          </a:ln>
                        </p:spPr>
                      </p:pic>
                    </p:oleObj>
                  </mc:Fallback>
                </mc:AlternateContent>
              </a:graphicData>
            </a:graphic>
          </p:graphicFrame>
          <p:graphicFrame>
            <p:nvGraphicFramePr>
              <p:cNvPr id="32886" name="Object 208"/>
              <p:cNvGraphicFramePr>
                <a:graphicFrameLocks noChangeAspect="1"/>
              </p:cNvGraphicFramePr>
              <p:nvPr/>
            </p:nvGraphicFramePr>
            <p:xfrm>
              <a:off x="1355" y="2311"/>
              <a:ext cx="816" cy="278"/>
            </p:xfrm>
            <a:graphic>
              <a:graphicData uri="http://schemas.openxmlformats.org/presentationml/2006/ole">
                <mc:AlternateContent xmlns:mc="http://schemas.openxmlformats.org/markup-compatibility/2006">
                  <mc:Choice xmlns:v="urn:schemas-microsoft-com:vml" Requires="v">
                    <p:oleObj spid="_x0000_s23669" name="Equation" r:id="rId8" imgW="16154400" imgH="5486400" progId="">
                      <p:embed/>
                    </p:oleObj>
                  </mc:Choice>
                  <mc:Fallback>
                    <p:oleObj name="Equation" r:id="rId8" imgW="16154400" imgH="5486400" progId="">
                      <p:embed/>
                      <p:pic>
                        <p:nvPicPr>
                          <p:cNvPr id="0" name="图片 23634"/>
                          <p:cNvPicPr>
                            <a:picLocks noChangeAspect="1"/>
                          </p:cNvPicPr>
                          <p:nvPr/>
                        </p:nvPicPr>
                        <p:blipFill>
                          <a:blip r:embed="rId9"/>
                          <a:stretch>
                            <a:fillRect/>
                          </a:stretch>
                        </p:blipFill>
                        <p:spPr>
                          <a:xfrm>
                            <a:off x="1355" y="2311"/>
                            <a:ext cx="816" cy="278"/>
                          </a:xfrm>
                          <a:prstGeom prst="rect">
                            <a:avLst/>
                          </a:prstGeom>
                          <a:noFill/>
                          <a:ln w="9525">
                            <a:noFill/>
                          </a:ln>
                        </p:spPr>
                      </p:pic>
                    </p:oleObj>
                  </mc:Fallback>
                </mc:AlternateContent>
              </a:graphicData>
            </a:graphic>
          </p:graphicFrame>
        </p:grpSp>
      </p:grpSp>
      <p:grpSp>
        <p:nvGrpSpPr>
          <p:cNvPr id="4" name="Group 12"/>
          <p:cNvGrpSpPr/>
          <p:nvPr/>
        </p:nvGrpSpPr>
        <p:grpSpPr bwMode="auto">
          <a:xfrm>
            <a:off x="1619672" y="3858893"/>
            <a:ext cx="6480175" cy="2305050"/>
            <a:chOff x="78" y="1502"/>
            <a:chExt cx="5604" cy="1954"/>
          </a:xfrm>
        </p:grpSpPr>
        <p:grpSp>
          <p:nvGrpSpPr>
            <p:cNvPr id="5" name="Group 13"/>
            <p:cNvGrpSpPr/>
            <p:nvPr/>
          </p:nvGrpSpPr>
          <p:grpSpPr bwMode="auto">
            <a:xfrm>
              <a:off x="78" y="1502"/>
              <a:ext cx="2706" cy="1954"/>
              <a:chOff x="1493" y="185"/>
              <a:chExt cx="2754" cy="1954"/>
            </a:xfrm>
          </p:grpSpPr>
          <p:sp>
            <p:nvSpPr>
              <p:cNvPr id="32834" name="Freeform 14"/>
              <p:cNvSpPr/>
              <p:nvPr/>
            </p:nvSpPr>
            <p:spPr bwMode="auto">
              <a:xfrm>
                <a:off x="4130" y="832"/>
                <a:ext cx="65" cy="65"/>
              </a:xfrm>
              <a:custGeom>
                <a:avLst/>
                <a:gdLst>
                  <a:gd name="T0" fmla="*/ 0 w 65"/>
                  <a:gd name="T1" fmla="*/ 7 h 65"/>
                  <a:gd name="T2" fmla="*/ 13 w 65"/>
                  <a:gd name="T3" fmla="*/ 7 h 65"/>
                  <a:gd name="T4" fmla="*/ 13 w 65"/>
                  <a:gd name="T5" fmla="*/ 20 h 65"/>
                  <a:gd name="T6" fmla="*/ 13 w 65"/>
                  <a:gd name="T7" fmla="*/ 26 h 65"/>
                  <a:gd name="T8" fmla="*/ 20 w 65"/>
                  <a:gd name="T9" fmla="*/ 39 h 65"/>
                  <a:gd name="T10" fmla="*/ 20 w 65"/>
                  <a:gd name="T11" fmla="*/ 65 h 65"/>
                  <a:gd name="T12" fmla="*/ 20 w 65"/>
                  <a:gd name="T13" fmla="*/ 65 h 65"/>
                  <a:gd name="T14" fmla="*/ 26 w 65"/>
                  <a:gd name="T15" fmla="*/ 65 h 65"/>
                  <a:gd name="T16" fmla="*/ 33 w 65"/>
                  <a:gd name="T17" fmla="*/ 52 h 65"/>
                  <a:gd name="T18" fmla="*/ 39 w 65"/>
                  <a:gd name="T19" fmla="*/ 46 h 65"/>
                  <a:gd name="T20" fmla="*/ 52 w 65"/>
                  <a:gd name="T21" fmla="*/ 39 h 65"/>
                  <a:gd name="T22" fmla="*/ 59 w 65"/>
                  <a:gd name="T23" fmla="*/ 20 h 65"/>
                  <a:gd name="T24" fmla="*/ 65 w 65"/>
                  <a:gd name="T25" fmla="*/ 7 h 65"/>
                  <a:gd name="T26" fmla="*/ 59 w 65"/>
                  <a:gd name="T27" fmla="*/ 7 h 65"/>
                  <a:gd name="T28" fmla="*/ 52 w 65"/>
                  <a:gd name="T29" fmla="*/ 0 h 65"/>
                  <a:gd name="T30" fmla="*/ 52 w 65"/>
                  <a:gd name="T31" fmla="*/ 0 h 65"/>
                  <a:gd name="T32" fmla="*/ 46 w 65"/>
                  <a:gd name="T33" fmla="*/ 7 h 65"/>
                  <a:gd name="T34" fmla="*/ 52 w 65"/>
                  <a:gd name="T35" fmla="*/ 13 h 65"/>
                  <a:gd name="T36" fmla="*/ 59 w 65"/>
                  <a:gd name="T37" fmla="*/ 20 h 65"/>
                  <a:gd name="T38" fmla="*/ 52 w 65"/>
                  <a:gd name="T39" fmla="*/ 33 h 65"/>
                  <a:gd name="T40" fmla="*/ 33 w 65"/>
                  <a:gd name="T41" fmla="*/ 52 h 65"/>
                  <a:gd name="T42" fmla="*/ 26 w 65"/>
                  <a:gd name="T43" fmla="*/ 52 h 65"/>
                  <a:gd name="T44" fmla="*/ 26 w 65"/>
                  <a:gd name="T45" fmla="*/ 26 h 65"/>
                  <a:gd name="T46" fmla="*/ 20 w 65"/>
                  <a:gd name="T47" fmla="*/ 0 h 65"/>
                  <a:gd name="T48" fmla="*/ 20 w 65"/>
                  <a:gd name="T49" fmla="*/ 0 h 65"/>
                  <a:gd name="T50" fmla="*/ 13 w 65"/>
                  <a:gd name="T51" fmla="*/ 0 h 65"/>
                  <a:gd name="T52" fmla="*/ 0 w 65"/>
                  <a:gd name="T53" fmla="*/ 7 h 65"/>
                  <a:gd name="T54" fmla="*/ 0 w 65"/>
                  <a:gd name="T55" fmla="*/ 7 h 6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5"/>
                  <a:gd name="T85" fmla="*/ 0 h 65"/>
                  <a:gd name="T86" fmla="*/ 65 w 65"/>
                  <a:gd name="T87" fmla="*/ 65 h 6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5" h="65">
                    <a:moveTo>
                      <a:pt x="0" y="7"/>
                    </a:moveTo>
                    <a:lnTo>
                      <a:pt x="13" y="7"/>
                    </a:lnTo>
                    <a:lnTo>
                      <a:pt x="13" y="20"/>
                    </a:lnTo>
                    <a:lnTo>
                      <a:pt x="13" y="26"/>
                    </a:lnTo>
                    <a:lnTo>
                      <a:pt x="20" y="39"/>
                    </a:lnTo>
                    <a:lnTo>
                      <a:pt x="20" y="65"/>
                    </a:lnTo>
                    <a:lnTo>
                      <a:pt x="26" y="65"/>
                    </a:lnTo>
                    <a:lnTo>
                      <a:pt x="33" y="52"/>
                    </a:lnTo>
                    <a:lnTo>
                      <a:pt x="39" y="46"/>
                    </a:lnTo>
                    <a:lnTo>
                      <a:pt x="52" y="39"/>
                    </a:lnTo>
                    <a:lnTo>
                      <a:pt x="59" y="20"/>
                    </a:lnTo>
                    <a:lnTo>
                      <a:pt x="65" y="7"/>
                    </a:lnTo>
                    <a:lnTo>
                      <a:pt x="59" y="7"/>
                    </a:lnTo>
                    <a:lnTo>
                      <a:pt x="52" y="0"/>
                    </a:lnTo>
                    <a:lnTo>
                      <a:pt x="46" y="7"/>
                    </a:lnTo>
                    <a:lnTo>
                      <a:pt x="52" y="13"/>
                    </a:lnTo>
                    <a:lnTo>
                      <a:pt x="59" y="20"/>
                    </a:lnTo>
                    <a:lnTo>
                      <a:pt x="52" y="33"/>
                    </a:lnTo>
                    <a:lnTo>
                      <a:pt x="33" y="52"/>
                    </a:lnTo>
                    <a:lnTo>
                      <a:pt x="26" y="52"/>
                    </a:lnTo>
                    <a:lnTo>
                      <a:pt x="26" y="26"/>
                    </a:lnTo>
                    <a:lnTo>
                      <a:pt x="20" y="0"/>
                    </a:lnTo>
                    <a:lnTo>
                      <a:pt x="13" y="0"/>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5" name="Freeform 15"/>
              <p:cNvSpPr>
                <a:spLocks noEditPoints="1"/>
              </p:cNvSpPr>
              <p:nvPr/>
            </p:nvSpPr>
            <p:spPr bwMode="auto">
              <a:xfrm>
                <a:off x="4189" y="884"/>
                <a:ext cx="58" cy="52"/>
              </a:xfrm>
              <a:custGeom>
                <a:avLst/>
                <a:gdLst>
                  <a:gd name="T0" fmla="*/ 39 w 58"/>
                  <a:gd name="T1" fmla="*/ 0 h 52"/>
                  <a:gd name="T2" fmla="*/ 26 w 58"/>
                  <a:gd name="T3" fmla="*/ 7 h 52"/>
                  <a:gd name="T4" fmla="*/ 13 w 58"/>
                  <a:gd name="T5" fmla="*/ 13 h 52"/>
                  <a:gd name="T6" fmla="*/ 6 w 58"/>
                  <a:gd name="T7" fmla="*/ 26 h 52"/>
                  <a:gd name="T8" fmla="*/ 0 w 58"/>
                  <a:gd name="T9" fmla="*/ 39 h 52"/>
                  <a:gd name="T10" fmla="*/ 6 w 58"/>
                  <a:gd name="T11" fmla="*/ 45 h 52"/>
                  <a:gd name="T12" fmla="*/ 19 w 58"/>
                  <a:gd name="T13" fmla="*/ 52 h 52"/>
                  <a:gd name="T14" fmla="*/ 32 w 58"/>
                  <a:gd name="T15" fmla="*/ 52 h 52"/>
                  <a:gd name="T16" fmla="*/ 45 w 58"/>
                  <a:gd name="T17" fmla="*/ 39 h 52"/>
                  <a:gd name="T18" fmla="*/ 58 w 58"/>
                  <a:gd name="T19" fmla="*/ 32 h 52"/>
                  <a:gd name="T20" fmla="*/ 58 w 58"/>
                  <a:gd name="T21" fmla="*/ 19 h 52"/>
                  <a:gd name="T22" fmla="*/ 52 w 58"/>
                  <a:gd name="T23" fmla="*/ 7 h 52"/>
                  <a:gd name="T24" fmla="*/ 39 w 58"/>
                  <a:gd name="T25" fmla="*/ 0 h 52"/>
                  <a:gd name="T26" fmla="*/ 39 w 58"/>
                  <a:gd name="T27" fmla="*/ 0 h 52"/>
                  <a:gd name="T28" fmla="*/ 39 w 58"/>
                  <a:gd name="T29" fmla="*/ 0 h 52"/>
                  <a:gd name="T30" fmla="*/ 45 w 58"/>
                  <a:gd name="T31" fmla="*/ 7 h 52"/>
                  <a:gd name="T32" fmla="*/ 45 w 58"/>
                  <a:gd name="T33" fmla="*/ 13 h 52"/>
                  <a:gd name="T34" fmla="*/ 39 w 58"/>
                  <a:gd name="T35" fmla="*/ 39 h 52"/>
                  <a:gd name="T36" fmla="*/ 32 w 58"/>
                  <a:gd name="T37" fmla="*/ 45 h 52"/>
                  <a:gd name="T38" fmla="*/ 19 w 58"/>
                  <a:gd name="T39" fmla="*/ 52 h 52"/>
                  <a:gd name="T40" fmla="*/ 13 w 58"/>
                  <a:gd name="T41" fmla="*/ 45 h 52"/>
                  <a:gd name="T42" fmla="*/ 13 w 58"/>
                  <a:gd name="T43" fmla="*/ 39 h 52"/>
                  <a:gd name="T44" fmla="*/ 19 w 58"/>
                  <a:gd name="T45" fmla="*/ 13 h 52"/>
                  <a:gd name="T46" fmla="*/ 26 w 58"/>
                  <a:gd name="T47" fmla="*/ 7 h 52"/>
                  <a:gd name="T48" fmla="*/ 39 w 58"/>
                  <a:gd name="T49" fmla="*/ 0 h 52"/>
                  <a:gd name="T50" fmla="*/ 39 w 58"/>
                  <a:gd name="T51" fmla="*/ 0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8"/>
                  <a:gd name="T79" fmla="*/ 0 h 52"/>
                  <a:gd name="T80" fmla="*/ 58 w 58"/>
                  <a:gd name="T81" fmla="*/ 52 h 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8" h="52">
                    <a:moveTo>
                      <a:pt x="39" y="0"/>
                    </a:moveTo>
                    <a:lnTo>
                      <a:pt x="26" y="7"/>
                    </a:lnTo>
                    <a:lnTo>
                      <a:pt x="13" y="13"/>
                    </a:lnTo>
                    <a:lnTo>
                      <a:pt x="6" y="26"/>
                    </a:lnTo>
                    <a:lnTo>
                      <a:pt x="0" y="39"/>
                    </a:lnTo>
                    <a:lnTo>
                      <a:pt x="6" y="45"/>
                    </a:lnTo>
                    <a:lnTo>
                      <a:pt x="19" y="52"/>
                    </a:lnTo>
                    <a:lnTo>
                      <a:pt x="32" y="52"/>
                    </a:lnTo>
                    <a:lnTo>
                      <a:pt x="45" y="39"/>
                    </a:lnTo>
                    <a:lnTo>
                      <a:pt x="58" y="32"/>
                    </a:lnTo>
                    <a:lnTo>
                      <a:pt x="58" y="19"/>
                    </a:lnTo>
                    <a:lnTo>
                      <a:pt x="52" y="7"/>
                    </a:lnTo>
                    <a:lnTo>
                      <a:pt x="39" y="0"/>
                    </a:lnTo>
                    <a:close/>
                    <a:moveTo>
                      <a:pt x="39" y="0"/>
                    </a:moveTo>
                    <a:lnTo>
                      <a:pt x="45" y="7"/>
                    </a:lnTo>
                    <a:lnTo>
                      <a:pt x="45" y="13"/>
                    </a:lnTo>
                    <a:lnTo>
                      <a:pt x="39" y="39"/>
                    </a:lnTo>
                    <a:lnTo>
                      <a:pt x="32" y="45"/>
                    </a:lnTo>
                    <a:lnTo>
                      <a:pt x="19" y="52"/>
                    </a:lnTo>
                    <a:lnTo>
                      <a:pt x="13" y="45"/>
                    </a:lnTo>
                    <a:lnTo>
                      <a:pt x="13" y="39"/>
                    </a:lnTo>
                    <a:lnTo>
                      <a:pt x="19" y="13"/>
                    </a:lnTo>
                    <a:lnTo>
                      <a:pt x="26" y="7"/>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6" name="Freeform 16"/>
              <p:cNvSpPr/>
              <p:nvPr/>
            </p:nvSpPr>
            <p:spPr bwMode="auto">
              <a:xfrm>
                <a:off x="2880" y="373"/>
                <a:ext cx="1" cy="944"/>
              </a:xfrm>
              <a:custGeom>
                <a:avLst/>
                <a:gdLst>
                  <a:gd name="T0" fmla="*/ 0 w 1"/>
                  <a:gd name="T1" fmla="*/ 944 h 944"/>
                  <a:gd name="T2" fmla="*/ 0 w 1"/>
                  <a:gd name="T3" fmla="*/ 0 h 944"/>
                  <a:gd name="T4" fmla="*/ 0 w 1"/>
                  <a:gd name="T5" fmla="*/ 944 h 944"/>
                  <a:gd name="T6" fmla="*/ 0 w 1"/>
                  <a:gd name="T7" fmla="*/ 944 h 944"/>
                  <a:gd name="T8" fmla="*/ 0 60000 65536"/>
                  <a:gd name="T9" fmla="*/ 0 60000 65536"/>
                  <a:gd name="T10" fmla="*/ 0 60000 65536"/>
                  <a:gd name="T11" fmla="*/ 0 60000 65536"/>
                  <a:gd name="T12" fmla="*/ 0 w 1"/>
                  <a:gd name="T13" fmla="*/ 0 h 944"/>
                  <a:gd name="T14" fmla="*/ 1 w 1"/>
                  <a:gd name="T15" fmla="*/ 944 h 944"/>
                </a:gdLst>
                <a:ahLst/>
                <a:cxnLst>
                  <a:cxn ang="T8">
                    <a:pos x="T0" y="T1"/>
                  </a:cxn>
                  <a:cxn ang="T9">
                    <a:pos x="T2" y="T3"/>
                  </a:cxn>
                  <a:cxn ang="T10">
                    <a:pos x="T4" y="T5"/>
                  </a:cxn>
                  <a:cxn ang="T11">
                    <a:pos x="T6" y="T7"/>
                  </a:cxn>
                </a:cxnLst>
                <a:rect l="T12" t="T13" r="T14" b="T15"/>
                <a:pathLst>
                  <a:path w="1" h="944">
                    <a:moveTo>
                      <a:pt x="0" y="944"/>
                    </a:moveTo>
                    <a:lnTo>
                      <a:pt x="0" y="0"/>
                    </a:lnTo>
                    <a:lnTo>
                      <a:pt x="0" y="94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7" name="Freeform 17"/>
              <p:cNvSpPr>
                <a:spLocks noEditPoints="1"/>
              </p:cNvSpPr>
              <p:nvPr/>
            </p:nvSpPr>
            <p:spPr bwMode="auto">
              <a:xfrm>
                <a:off x="1493" y="373"/>
                <a:ext cx="1387" cy="1"/>
              </a:xfrm>
              <a:custGeom>
                <a:avLst/>
                <a:gdLst>
                  <a:gd name="T0" fmla="*/ 1387 w 1387"/>
                  <a:gd name="T1" fmla="*/ 0 h 1"/>
                  <a:gd name="T2" fmla="*/ 0 w 1387"/>
                  <a:gd name="T3" fmla="*/ 0 h 1"/>
                  <a:gd name="T4" fmla="*/ 1387 w 1387"/>
                  <a:gd name="T5" fmla="*/ 0 h 1"/>
                  <a:gd name="T6" fmla="*/ 1387 w 1387"/>
                  <a:gd name="T7" fmla="*/ 0 h 1"/>
                  <a:gd name="T8" fmla="*/ 1387 w 1387"/>
                  <a:gd name="T9" fmla="*/ 0 h 1"/>
                  <a:gd name="T10" fmla="*/ 1387 w 1387"/>
                  <a:gd name="T11" fmla="*/ 0 h 1"/>
                  <a:gd name="T12" fmla="*/ 1387 w 1387"/>
                  <a:gd name="T13" fmla="*/ 0 h 1"/>
                  <a:gd name="T14" fmla="*/ 0 60000 65536"/>
                  <a:gd name="T15" fmla="*/ 0 60000 65536"/>
                  <a:gd name="T16" fmla="*/ 0 60000 65536"/>
                  <a:gd name="T17" fmla="*/ 0 60000 65536"/>
                  <a:gd name="T18" fmla="*/ 0 60000 65536"/>
                  <a:gd name="T19" fmla="*/ 0 60000 65536"/>
                  <a:gd name="T20" fmla="*/ 0 60000 65536"/>
                  <a:gd name="T21" fmla="*/ 0 w 1387"/>
                  <a:gd name="T22" fmla="*/ 0 h 1"/>
                  <a:gd name="T23" fmla="*/ 1387 w 1387"/>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7" h="1">
                    <a:moveTo>
                      <a:pt x="1387" y="0"/>
                    </a:moveTo>
                    <a:lnTo>
                      <a:pt x="0" y="0"/>
                    </a:lnTo>
                    <a:lnTo>
                      <a:pt x="1387" y="0"/>
                    </a:lnTo>
                    <a:close/>
                    <a:moveTo>
                      <a:pt x="1387" y="0"/>
                    </a:moveTo>
                    <a:lnTo>
                      <a:pt x="138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8" name="Freeform 18"/>
              <p:cNvSpPr>
                <a:spLocks noEditPoints="1"/>
              </p:cNvSpPr>
              <p:nvPr/>
            </p:nvSpPr>
            <p:spPr bwMode="auto">
              <a:xfrm>
                <a:off x="1493" y="373"/>
                <a:ext cx="1" cy="944"/>
              </a:xfrm>
              <a:custGeom>
                <a:avLst/>
                <a:gdLst>
                  <a:gd name="T0" fmla="*/ 0 w 1"/>
                  <a:gd name="T1" fmla="*/ 0 h 944"/>
                  <a:gd name="T2" fmla="*/ 0 w 1"/>
                  <a:gd name="T3" fmla="*/ 944 h 944"/>
                  <a:gd name="T4" fmla="*/ 0 w 1"/>
                  <a:gd name="T5" fmla="*/ 0 h 944"/>
                  <a:gd name="T6" fmla="*/ 0 w 1"/>
                  <a:gd name="T7" fmla="*/ 0 h 944"/>
                  <a:gd name="T8" fmla="*/ 0 w 1"/>
                  <a:gd name="T9" fmla="*/ 0 h 944"/>
                  <a:gd name="T10" fmla="*/ 0 w 1"/>
                  <a:gd name="T11" fmla="*/ 0 h 944"/>
                  <a:gd name="T12" fmla="*/ 0 w 1"/>
                  <a:gd name="T13" fmla="*/ 0 h 944"/>
                  <a:gd name="T14" fmla="*/ 0 60000 65536"/>
                  <a:gd name="T15" fmla="*/ 0 60000 65536"/>
                  <a:gd name="T16" fmla="*/ 0 60000 65536"/>
                  <a:gd name="T17" fmla="*/ 0 60000 65536"/>
                  <a:gd name="T18" fmla="*/ 0 60000 65536"/>
                  <a:gd name="T19" fmla="*/ 0 60000 65536"/>
                  <a:gd name="T20" fmla="*/ 0 60000 65536"/>
                  <a:gd name="T21" fmla="*/ 0 w 1"/>
                  <a:gd name="T22" fmla="*/ 0 h 944"/>
                  <a:gd name="T23" fmla="*/ 1 w 1"/>
                  <a:gd name="T24" fmla="*/ 944 h 9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944">
                    <a:moveTo>
                      <a:pt x="0" y="0"/>
                    </a:moveTo>
                    <a:lnTo>
                      <a:pt x="0" y="944"/>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9" name="Freeform 19"/>
              <p:cNvSpPr>
                <a:spLocks noEditPoints="1"/>
              </p:cNvSpPr>
              <p:nvPr/>
            </p:nvSpPr>
            <p:spPr bwMode="auto">
              <a:xfrm>
                <a:off x="1493" y="1317"/>
                <a:ext cx="1387" cy="1"/>
              </a:xfrm>
              <a:custGeom>
                <a:avLst/>
                <a:gdLst>
                  <a:gd name="T0" fmla="*/ 0 w 1387"/>
                  <a:gd name="T1" fmla="*/ 0 h 1"/>
                  <a:gd name="T2" fmla="*/ 1387 w 1387"/>
                  <a:gd name="T3" fmla="*/ 0 h 1"/>
                  <a:gd name="T4" fmla="*/ 0 w 1387"/>
                  <a:gd name="T5" fmla="*/ 0 h 1"/>
                  <a:gd name="T6" fmla="*/ 0 w 1387"/>
                  <a:gd name="T7" fmla="*/ 0 h 1"/>
                  <a:gd name="T8" fmla="*/ 0 w 1387"/>
                  <a:gd name="T9" fmla="*/ 0 h 1"/>
                  <a:gd name="T10" fmla="*/ 0 w 1387"/>
                  <a:gd name="T11" fmla="*/ 0 h 1"/>
                  <a:gd name="T12" fmla="*/ 0 w 1387"/>
                  <a:gd name="T13" fmla="*/ 0 h 1"/>
                  <a:gd name="T14" fmla="*/ 0 60000 65536"/>
                  <a:gd name="T15" fmla="*/ 0 60000 65536"/>
                  <a:gd name="T16" fmla="*/ 0 60000 65536"/>
                  <a:gd name="T17" fmla="*/ 0 60000 65536"/>
                  <a:gd name="T18" fmla="*/ 0 60000 65536"/>
                  <a:gd name="T19" fmla="*/ 0 60000 65536"/>
                  <a:gd name="T20" fmla="*/ 0 60000 65536"/>
                  <a:gd name="T21" fmla="*/ 0 w 1387"/>
                  <a:gd name="T22" fmla="*/ 0 h 1"/>
                  <a:gd name="T23" fmla="*/ 1387 w 1387"/>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7" h="1">
                    <a:moveTo>
                      <a:pt x="0" y="0"/>
                    </a:moveTo>
                    <a:lnTo>
                      <a:pt x="1387" y="0"/>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0" name="Freeform 20"/>
              <p:cNvSpPr/>
              <p:nvPr/>
            </p:nvSpPr>
            <p:spPr bwMode="auto">
              <a:xfrm>
                <a:off x="2880" y="1317"/>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1" name="Freeform 21"/>
              <p:cNvSpPr/>
              <p:nvPr/>
            </p:nvSpPr>
            <p:spPr bwMode="auto">
              <a:xfrm>
                <a:off x="2880" y="489"/>
                <a:ext cx="1030" cy="1"/>
              </a:xfrm>
              <a:custGeom>
                <a:avLst/>
                <a:gdLst>
                  <a:gd name="T0" fmla="*/ 0 w 1030"/>
                  <a:gd name="T1" fmla="*/ 0 h 1"/>
                  <a:gd name="T2" fmla="*/ 1030 w 1030"/>
                  <a:gd name="T3" fmla="*/ 0 h 1"/>
                  <a:gd name="T4" fmla="*/ 0 w 1030"/>
                  <a:gd name="T5" fmla="*/ 0 h 1"/>
                  <a:gd name="T6" fmla="*/ 0 w 1030"/>
                  <a:gd name="T7" fmla="*/ 0 h 1"/>
                  <a:gd name="T8" fmla="*/ 0 60000 65536"/>
                  <a:gd name="T9" fmla="*/ 0 60000 65536"/>
                  <a:gd name="T10" fmla="*/ 0 60000 65536"/>
                  <a:gd name="T11" fmla="*/ 0 60000 65536"/>
                  <a:gd name="T12" fmla="*/ 0 w 1030"/>
                  <a:gd name="T13" fmla="*/ 0 h 1"/>
                  <a:gd name="T14" fmla="*/ 1030 w 1030"/>
                  <a:gd name="T15" fmla="*/ 1 h 1"/>
                </a:gdLst>
                <a:ahLst/>
                <a:cxnLst>
                  <a:cxn ang="T8">
                    <a:pos x="T0" y="T1"/>
                  </a:cxn>
                  <a:cxn ang="T9">
                    <a:pos x="T2" y="T3"/>
                  </a:cxn>
                  <a:cxn ang="T10">
                    <a:pos x="T4" y="T5"/>
                  </a:cxn>
                  <a:cxn ang="T11">
                    <a:pos x="T6" y="T7"/>
                  </a:cxn>
                </a:cxnLst>
                <a:rect l="T12" t="T13" r="T14" b="T15"/>
                <a:pathLst>
                  <a:path w="1030" h="1">
                    <a:moveTo>
                      <a:pt x="0" y="0"/>
                    </a:moveTo>
                    <a:lnTo>
                      <a:pt x="1030"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2" name="Freeform 22"/>
              <p:cNvSpPr>
                <a:spLocks noEditPoints="1"/>
              </p:cNvSpPr>
              <p:nvPr/>
            </p:nvSpPr>
            <p:spPr bwMode="auto">
              <a:xfrm>
                <a:off x="3910" y="489"/>
                <a:ext cx="1" cy="712"/>
              </a:xfrm>
              <a:custGeom>
                <a:avLst/>
                <a:gdLst>
                  <a:gd name="T0" fmla="*/ 0 w 1"/>
                  <a:gd name="T1" fmla="*/ 0 h 712"/>
                  <a:gd name="T2" fmla="*/ 0 w 1"/>
                  <a:gd name="T3" fmla="*/ 712 h 712"/>
                  <a:gd name="T4" fmla="*/ 0 w 1"/>
                  <a:gd name="T5" fmla="*/ 0 h 712"/>
                  <a:gd name="T6" fmla="*/ 0 w 1"/>
                  <a:gd name="T7" fmla="*/ 0 h 712"/>
                  <a:gd name="T8" fmla="*/ 0 w 1"/>
                  <a:gd name="T9" fmla="*/ 0 h 712"/>
                  <a:gd name="T10" fmla="*/ 0 w 1"/>
                  <a:gd name="T11" fmla="*/ 0 h 712"/>
                  <a:gd name="T12" fmla="*/ 0 w 1"/>
                  <a:gd name="T13" fmla="*/ 0 h 712"/>
                  <a:gd name="T14" fmla="*/ 0 60000 65536"/>
                  <a:gd name="T15" fmla="*/ 0 60000 65536"/>
                  <a:gd name="T16" fmla="*/ 0 60000 65536"/>
                  <a:gd name="T17" fmla="*/ 0 60000 65536"/>
                  <a:gd name="T18" fmla="*/ 0 60000 65536"/>
                  <a:gd name="T19" fmla="*/ 0 60000 65536"/>
                  <a:gd name="T20" fmla="*/ 0 60000 65536"/>
                  <a:gd name="T21" fmla="*/ 0 w 1"/>
                  <a:gd name="T22" fmla="*/ 0 h 712"/>
                  <a:gd name="T23" fmla="*/ 1 w 1"/>
                  <a:gd name="T24" fmla="*/ 712 h 7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712">
                    <a:moveTo>
                      <a:pt x="0" y="0"/>
                    </a:moveTo>
                    <a:lnTo>
                      <a:pt x="0" y="71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3" name="Freeform 23"/>
              <p:cNvSpPr>
                <a:spLocks noEditPoints="1"/>
              </p:cNvSpPr>
              <p:nvPr/>
            </p:nvSpPr>
            <p:spPr bwMode="auto">
              <a:xfrm>
                <a:off x="2886" y="1201"/>
                <a:ext cx="1024" cy="1"/>
              </a:xfrm>
              <a:custGeom>
                <a:avLst/>
                <a:gdLst>
                  <a:gd name="T0" fmla="*/ 1024 w 1024"/>
                  <a:gd name="T1" fmla="*/ 0 h 1"/>
                  <a:gd name="T2" fmla="*/ 0 w 1024"/>
                  <a:gd name="T3" fmla="*/ 0 h 1"/>
                  <a:gd name="T4" fmla="*/ 1024 w 1024"/>
                  <a:gd name="T5" fmla="*/ 0 h 1"/>
                  <a:gd name="T6" fmla="*/ 1024 w 1024"/>
                  <a:gd name="T7" fmla="*/ 0 h 1"/>
                  <a:gd name="T8" fmla="*/ 1024 w 1024"/>
                  <a:gd name="T9" fmla="*/ 0 h 1"/>
                  <a:gd name="T10" fmla="*/ 1024 w 1024"/>
                  <a:gd name="T11" fmla="*/ 0 h 1"/>
                  <a:gd name="T12" fmla="*/ 1024 w 1024"/>
                  <a:gd name="T13" fmla="*/ 0 h 1"/>
                  <a:gd name="T14" fmla="*/ 0 60000 65536"/>
                  <a:gd name="T15" fmla="*/ 0 60000 65536"/>
                  <a:gd name="T16" fmla="*/ 0 60000 65536"/>
                  <a:gd name="T17" fmla="*/ 0 60000 65536"/>
                  <a:gd name="T18" fmla="*/ 0 60000 65536"/>
                  <a:gd name="T19" fmla="*/ 0 60000 65536"/>
                  <a:gd name="T20" fmla="*/ 0 60000 65536"/>
                  <a:gd name="T21" fmla="*/ 0 w 1024"/>
                  <a:gd name="T22" fmla="*/ 0 h 1"/>
                  <a:gd name="T23" fmla="*/ 1024 w 1024"/>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4" h="1">
                    <a:moveTo>
                      <a:pt x="1024" y="0"/>
                    </a:moveTo>
                    <a:lnTo>
                      <a:pt x="0" y="0"/>
                    </a:lnTo>
                    <a:lnTo>
                      <a:pt x="1024" y="0"/>
                    </a:lnTo>
                    <a:close/>
                    <a:moveTo>
                      <a:pt x="1024" y="0"/>
                    </a:moveTo>
                    <a:lnTo>
                      <a:pt x="102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4" name="Freeform 70"/>
              <p:cNvSpPr/>
              <p:nvPr/>
            </p:nvSpPr>
            <p:spPr bwMode="auto">
              <a:xfrm>
                <a:off x="3178" y="451"/>
                <a:ext cx="78" cy="77"/>
              </a:xfrm>
              <a:custGeom>
                <a:avLst/>
                <a:gdLst>
                  <a:gd name="T0" fmla="*/ 39 w 78"/>
                  <a:gd name="T1" fmla="*/ 77 h 77"/>
                  <a:gd name="T2" fmla="*/ 52 w 78"/>
                  <a:gd name="T3" fmla="*/ 77 h 77"/>
                  <a:gd name="T4" fmla="*/ 65 w 78"/>
                  <a:gd name="T5" fmla="*/ 64 h 77"/>
                  <a:gd name="T6" fmla="*/ 78 w 78"/>
                  <a:gd name="T7" fmla="*/ 51 h 77"/>
                  <a:gd name="T8" fmla="*/ 78 w 78"/>
                  <a:gd name="T9" fmla="*/ 38 h 77"/>
                  <a:gd name="T10" fmla="*/ 78 w 78"/>
                  <a:gd name="T11" fmla="*/ 25 h 77"/>
                  <a:gd name="T12" fmla="*/ 65 w 78"/>
                  <a:gd name="T13" fmla="*/ 13 h 77"/>
                  <a:gd name="T14" fmla="*/ 52 w 78"/>
                  <a:gd name="T15" fmla="*/ 6 h 77"/>
                  <a:gd name="T16" fmla="*/ 39 w 78"/>
                  <a:gd name="T17" fmla="*/ 0 h 77"/>
                  <a:gd name="T18" fmla="*/ 26 w 78"/>
                  <a:gd name="T19" fmla="*/ 6 h 77"/>
                  <a:gd name="T20" fmla="*/ 13 w 78"/>
                  <a:gd name="T21" fmla="*/ 13 h 77"/>
                  <a:gd name="T22" fmla="*/ 6 w 78"/>
                  <a:gd name="T23" fmla="*/ 25 h 77"/>
                  <a:gd name="T24" fmla="*/ 0 w 78"/>
                  <a:gd name="T25" fmla="*/ 38 h 77"/>
                  <a:gd name="T26" fmla="*/ 6 w 78"/>
                  <a:gd name="T27" fmla="*/ 51 h 77"/>
                  <a:gd name="T28" fmla="*/ 13 w 78"/>
                  <a:gd name="T29" fmla="*/ 64 h 77"/>
                  <a:gd name="T30" fmla="*/ 26 w 78"/>
                  <a:gd name="T31" fmla="*/ 77 h 77"/>
                  <a:gd name="T32" fmla="*/ 39 w 78"/>
                  <a:gd name="T33" fmla="*/ 77 h 77"/>
                  <a:gd name="T34" fmla="*/ 39 w 78"/>
                  <a:gd name="T35" fmla="*/ 77 h 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8"/>
                  <a:gd name="T55" fmla="*/ 0 h 77"/>
                  <a:gd name="T56" fmla="*/ 78 w 78"/>
                  <a:gd name="T57" fmla="*/ 77 h 7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8" h="77">
                    <a:moveTo>
                      <a:pt x="39" y="77"/>
                    </a:moveTo>
                    <a:lnTo>
                      <a:pt x="52" y="77"/>
                    </a:lnTo>
                    <a:lnTo>
                      <a:pt x="65" y="64"/>
                    </a:lnTo>
                    <a:lnTo>
                      <a:pt x="78" y="51"/>
                    </a:lnTo>
                    <a:lnTo>
                      <a:pt x="78" y="38"/>
                    </a:lnTo>
                    <a:lnTo>
                      <a:pt x="78" y="25"/>
                    </a:lnTo>
                    <a:lnTo>
                      <a:pt x="65" y="13"/>
                    </a:lnTo>
                    <a:lnTo>
                      <a:pt x="52" y="6"/>
                    </a:lnTo>
                    <a:lnTo>
                      <a:pt x="39" y="0"/>
                    </a:lnTo>
                    <a:lnTo>
                      <a:pt x="26" y="6"/>
                    </a:lnTo>
                    <a:lnTo>
                      <a:pt x="13" y="13"/>
                    </a:lnTo>
                    <a:lnTo>
                      <a:pt x="6" y="25"/>
                    </a:lnTo>
                    <a:lnTo>
                      <a:pt x="0" y="38"/>
                    </a:lnTo>
                    <a:lnTo>
                      <a:pt x="6" y="51"/>
                    </a:lnTo>
                    <a:lnTo>
                      <a:pt x="13" y="64"/>
                    </a:lnTo>
                    <a:lnTo>
                      <a:pt x="26" y="77"/>
                    </a:lnTo>
                    <a:lnTo>
                      <a:pt x="39" y="77"/>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5" name="Freeform 71"/>
              <p:cNvSpPr/>
              <p:nvPr/>
            </p:nvSpPr>
            <p:spPr bwMode="auto">
              <a:xfrm>
                <a:off x="3217" y="489"/>
                <a:ext cx="39" cy="39"/>
              </a:xfrm>
              <a:custGeom>
                <a:avLst/>
                <a:gdLst>
                  <a:gd name="T0" fmla="*/ 0 w 39"/>
                  <a:gd name="T1" fmla="*/ 39 h 39"/>
                  <a:gd name="T2" fmla="*/ 13 w 39"/>
                  <a:gd name="T3" fmla="*/ 39 h 39"/>
                  <a:gd name="T4" fmla="*/ 26 w 39"/>
                  <a:gd name="T5" fmla="*/ 26 h 39"/>
                  <a:gd name="T6" fmla="*/ 39 w 39"/>
                  <a:gd name="T7" fmla="*/ 13 h 39"/>
                  <a:gd name="T8" fmla="*/ 39 w 39"/>
                  <a:gd name="T9" fmla="*/ 0 h 39"/>
                  <a:gd name="T10" fmla="*/ 39 w 39"/>
                  <a:gd name="T11" fmla="*/ 0 h 39"/>
                  <a:gd name="T12" fmla="*/ 39 w 39"/>
                  <a:gd name="T13" fmla="*/ 13 h 39"/>
                  <a:gd name="T14" fmla="*/ 26 w 39"/>
                  <a:gd name="T15" fmla="*/ 26 h 39"/>
                  <a:gd name="T16" fmla="*/ 13 w 39"/>
                  <a:gd name="T17" fmla="*/ 39 h 39"/>
                  <a:gd name="T18" fmla="*/ 0 w 39"/>
                  <a:gd name="T19" fmla="*/ 39 h 39"/>
                  <a:gd name="T20" fmla="*/ 0 w 39"/>
                  <a:gd name="T21" fmla="*/ 39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39"/>
                  <a:gd name="T35" fmla="*/ 39 w 39"/>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39">
                    <a:moveTo>
                      <a:pt x="0" y="39"/>
                    </a:moveTo>
                    <a:lnTo>
                      <a:pt x="13" y="39"/>
                    </a:lnTo>
                    <a:lnTo>
                      <a:pt x="26" y="26"/>
                    </a:lnTo>
                    <a:lnTo>
                      <a:pt x="39" y="13"/>
                    </a:lnTo>
                    <a:lnTo>
                      <a:pt x="39" y="0"/>
                    </a:lnTo>
                    <a:lnTo>
                      <a:pt x="39" y="13"/>
                    </a:lnTo>
                    <a:lnTo>
                      <a:pt x="26" y="26"/>
                    </a:lnTo>
                    <a:lnTo>
                      <a:pt x="13" y="39"/>
                    </a:lnTo>
                    <a:lnTo>
                      <a:pt x="0"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6" name="Freeform 72"/>
              <p:cNvSpPr>
                <a:spLocks noEditPoints="1"/>
              </p:cNvSpPr>
              <p:nvPr/>
            </p:nvSpPr>
            <p:spPr bwMode="auto">
              <a:xfrm>
                <a:off x="3217" y="451"/>
                <a:ext cx="39" cy="38"/>
              </a:xfrm>
              <a:custGeom>
                <a:avLst/>
                <a:gdLst>
                  <a:gd name="T0" fmla="*/ 39 w 39"/>
                  <a:gd name="T1" fmla="*/ 38 h 38"/>
                  <a:gd name="T2" fmla="*/ 39 w 39"/>
                  <a:gd name="T3" fmla="*/ 25 h 38"/>
                  <a:gd name="T4" fmla="*/ 26 w 39"/>
                  <a:gd name="T5" fmla="*/ 13 h 38"/>
                  <a:gd name="T6" fmla="*/ 13 w 39"/>
                  <a:gd name="T7" fmla="*/ 6 h 38"/>
                  <a:gd name="T8" fmla="*/ 0 w 39"/>
                  <a:gd name="T9" fmla="*/ 0 h 38"/>
                  <a:gd name="T10" fmla="*/ 0 w 39"/>
                  <a:gd name="T11" fmla="*/ 0 h 38"/>
                  <a:gd name="T12" fmla="*/ 13 w 39"/>
                  <a:gd name="T13" fmla="*/ 6 h 38"/>
                  <a:gd name="T14" fmla="*/ 26 w 39"/>
                  <a:gd name="T15" fmla="*/ 13 h 38"/>
                  <a:gd name="T16" fmla="*/ 39 w 39"/>
                  <a:gd name="T17" fmla="*/ 25 h 38"/>
                  <a:gd name="T18" fmla="*/ 39 w 39"/>
                  <a:gd name="T19" fmla="*/ 38 h 38"/>
                  <a:gd name="T20" fmla="*/ 39 w 39"/>
                  <a:gd name="T21" fmla="*/ 38 h 38"/>
                  <a:gd name="T22" fmla="*/ 39 w 39"/>
                  <a:gd name="T23" fmla="*/ 38 h 38"/>
                  <a:gd name="T24" fmla="*/ 39 w 39"/>
                  <a:gd name="T25" fmla="*/ 38 h 38"/>
                  <a:gd name="T26" fmla="*/ 39 w 39"/>
                  <a:gd name="T27" fmla="*/ 38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8"/>
                  <a:gd name="T44" fmla="*/ 39 w 39"/>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8">
                    <a:moveTo>
                      <a:pt x="39" y="38"/>
                    </a:moveTo>
                    <a:lnTo>
                      <a:pt x="39" y="25"/>
                    </a:lnTo>
                    <a:lnTo>
                      <a:pt x="26" y="13"/>
                    </a:lnTo>
                    <a:lnTo>
                      <a:pt x="13" y="6"/>
                    </a:lnTo>
                    <a:lnTo>
                      <a:pt x="0" y="0"/>
                    </a:lnTo>
                    <a:lnTo>
                      <a:pt x="13" y="6"/>
                    </a:lnTo>
                    <a:lnTo>
                      <a:pt x="26" y="13"/>
                    </a:lnTo>
                    <a:lnTo>
                      <a:pt x="39" y="25"/>
                    </a:lnTo>
                    <a:lnTo>
                      <a:pt x="39" y="38"/>
                    </a:lnTo>
                    <a:close/>
                    <a:moveTo>
                      <a:pt x="39" y="38"/>
                    </a:moveTo>
                    <a:lnTo>
                      <a:pt x="39"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7" name="Freeform 73"/>
              <p:cNvSpPr>
                <a:spLocks noEditPoints="1"/>
              </p:cNvSpPr>
              <p:nvPr/>
            </p:nvSpPr>
            <p:spPr bwMode="auto">
              <a:xfrm>
                <a:off x="3178" y="451"/>
                <a:ext cx="39" cy="38"/>
              </a:xfrm>
              <a:custGeom>
                <a:avLst/>
                <a:gdLst>
                  <a:gd name="T0" fmla="*/ 39 w 39"/>
                  <a:gd name="T1" fmla="*/ 0 h 38"/>
                  <a:gd name="T2" fmla="*/ 26 w 39"/>
                  <a:gd name="T3" fmla="*/ 6 h 38"/>
                  <a:gd name="T4" fmla="*/ 13 w 39"/>
                  <a:gd name="T5" fmla="*/ 13 h 38"/>
                  <a:gd name="T6" fmla="*/ 6 w 39"/>
                  <a:gd name="T7" fmla="*/ 25 h 38"/>
                  <a:gd name="T8" fmla="*/ 0 w 39"/>
                  <a:gd name="T9" fmla="*/ 38 h 38"/>
                  <a:gd name="T10" fmla="*/ 0 w 39"/>
                  <a:gd name="T11" fmla="*/ 38 h 38"/>
                  <a:gd name="T12" fmla="*/ 6 w 39"/>
                  <a:gd name="T13" fmla="*/ 25 h 38"/>
                  <a:gd name="T14" fmla="*/ 13 w 39"/>
                  <a:gd name="T15" fmla="*/ 13 h 38"/>
                  <a:gd name="T16" fmla="*/ 26 w 39"/>
                  <a:gd name="T17" fmla="*/ 6 h 38"/>
                  <a:gd name="T18" fmla="*/ 39 w 39"/>
                  <a:gd name="T19" fmla="*/ 0 h 38"/>
                  <a:gd name="T20" fmla="*/ 39 w 39"/>
                  <a:gd name="T21" fmla="*/ 0 h 38"/>
                  <a:gd name="T22" fmla="*/ 39 w 39"/>
                  <a:gd name="T23" fmla="*/ 0 h 38"/>
                  <a:gd name="T24" fmla="*/ 39 w 39"/>
                  <a:gd name="T25" fmla="*/ 0 h 38"/>
                  <a:gd name="T26" fmla="*/ 39 w 39"/>
                  <a:gd name="T27" fmla="*/ 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8"/>
                  <a:gd name="T44" fmla="*/ 39 w 39"/>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8">
                    <a:moveTo>
                      <a:pt x="39" y="0"/>
                    </a:moveTo>
                    <a:lnTo>
                      <a:pt x="26" y="6"/>
                    </a:lnTo>
                    <a:lnTo>
                      <a:pt x="13" y="13"/>
                    </a:lnTo>
                    <a:lnTo>
                      <a:pt x="6" y="25"/>
                    </a:lnTo>
                    <a:lnTo>
                      <a:pt x="0" y="38"/>
                    </a:lnTo>
                    <a:lnTo>
                      <a:pt x="6" y="25"/>
                    </a:lnTo>
                    <a:lnTo>
                      <a:pt x="13" y="13"/>
                    </a:lnTo>
                    <a:lnTo>
                      <a:pt x="26" y="6"/>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8" name="Freeform 74"/>
              <p:cNvSpPr>
                <a:spLocks noEditPoints="1"/>
              </p:cNvSpPr>
              <p:nvPr/>
            </p:nvSpPr>
            <p:spPr bwMode="auto">
              <a:xfrm>
                <a:off x="3178" y="489"/>
                <a:ext cx="39" cy="39"/>
              </a:xfrm>
              <a:custGeom>
                <a:avLst/>
                <a:gdLst>
                  <a:gd name="T0" fmla="*/ 0 w 39"/>
                  <a:gd name="T1" fmla="*/ 0 h 39"/>
                  <a:gd name="T2" fmla="*/ 6 w 39"/>
                  <a:gd name="T3" fmla="*/ 13 h 39"/>
                  <a:gd name="T4" fmla="*/ 13 w 39"/>
                  <a:gd name="T5" fmla="*/ 26 h 39"/>
                  <a:gd name="T6" fmla="*/ 26 w 39"/>
                  <a:gd name="T7" fmla="*/ 39 h 39"/>
                  <a:gd name="T8" fmla="*/ 39 w 39"/>
                  <a:gd name="T9" fmla="*/ 39 h 39"/>
                  <a:gd name="T10" fmla="*/ 39 w 39"/>
                  <a:gd name="T11" fmla="*/ 39 h 39"/>
                  <a:gd name="T12" fmla="*/ 26 w 39"/>
                  <a:gd name="T13" fmla="*/ 39 h 39"/>
                  <a:gd name="T14" fmla="*/ 13 w 39"/>
                  <a:gd name="T15" fmla="*/ 26 h 39"/>
                  <a:gd name="T16" fmla="*/ 6 w 39"/>
                  <a:gd name="T17" fmla="*/ 13 h 39"/>
                  <a:gd name="T18" fmla="*/ 0 w 39"/>
                  <a:gd name="T19" fmla="*/ 0 h 39"/>
                  <a:gd name="T20" fmla="*/ 0 w 39"/>
                  <a:gd name="T21" fmla="*/ 0 h 39"/>
                  <a:gd name="T22" fmla="*/ 0 w 39"/>
                  <a:gd name="T23" fmla="*/ 0 h 39"/>
                  <a:gd name="T24" fmla="*/ 0 w 39"/>
                  <a:gd name="T25" fmla="*/ 0 h 39"/>
                  <a:gd name="T26" fmla="*/ 0 w 39"/>
                  <a:gd name="T27" fmla="*/ 0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9"/>
                  <a:gd name="T44" fmla="*/ 39 w 39"/>
                  <a:gd name="T45" fmla="*/ 39 h 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9">
                    <a:moveTo>
                      <a:pt x="0" y="0"/>
                    </a:moveTo>
                    <a:lnTo>
                      <a:pt x="6" y="13"/>
                    </a:lnTo>
                    <a:lnTo>
                      <a:pt x="13" y="26"/>
                    </a:lnTo>
                    <a:lnTo>
                      <a:pt x="26" y="39"/>
                    </a:lnTo>
                    <a:lnTo>
                      <a:pt x="39" y="39"/>
                    </a:lnTo>
                    <a:lnTo>
                      <a:pt x="26" y="39"/>
                    </a:lnTo>
                    <a:lnTo>
                      <a:pt x="13" y="26"/>
                    </a:lnTo>
                    <a:lnTo>
                      <a:pt x="6" y="1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49" name="Freeform 75"/>
              <p:cNvSpPr/>
              <p:nvPr/>
            </p:nvSpPr>
            <p:spPr bwMode="auto">
              <a:xfrm>
                <a:off x="3217" y="52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0" name="Freeform 76"/>
              <p:cNvSpPr/>
              <p:nvPr/>
            </p:nvSpPr>
            <p:spPr bwMode="auto">
              <a:xfrm>
                <a:off x="3178" y="1169"/>
                <a:ext cx="78" cy="71"/>
              </a:xfrm>
              <a:custGeom>
                <a:avLst/>
                <a:gdLst>
                  <a:gd name="T0" fmla="*/ 39 w 78"/>
                  <a:gd name="T1" fmla="*/ 71 h 71"/>
                  <a:gd name="T2" fmla="*/ 52 w 78"/>
                  <a:gd name="T3" fmla="*/ 71 h 71"/>
                  <a:gd name="T4" fmla="*/ 65 w 78"/>
                  <a:gd name="T5" fmla="*/ 58 h 71"/>
                  <a:gd name="T6" fmla="*/ 78 w 78"/>
                  <a:gd name="T7" fmla="*/ 45 h 71"/>
                  <a:gd name="T8" fmla="*/ 78 w 78"/>
                  <a:gd name="T9" fmla="*/ 32 h 71"/>
                  <a:gd name="T10" fmla="*/ 78 w 78"/>
                  <a:gd name="T11" fmla="*/ 19 h 71"/>
                  <a:gd name="T12" fmla="*/ 65 w 78"/>
                  <a:gd name="T13" fmla="*/ 6 h 71"/>
                  <a:gd name="T14" fmla="*/ 39 w 78"/>
                  <a:gd name="T15" fmla="*/ 0 h 71"/>
                  <a:gd name="T16" fmla="*/ 13 w 78"/>
                  <a:gd name="T17" fmla="*/ 6 h 71"/>
                  <a:gd name="T18" fmla="*/ 6 w 78"/>
                  <a:gd name="T19" fmla="*/ 19 h 71"/>
                  <a:gd name="T20" fmla="*/ 0 w 78"/>
                  <a:gd name="T21" fmla="*/ 32 h 71"/>
                  <a:gd name="T22" fmla="*/ 6 w 78"/>
                  <a:gd name="T23" fmla="*/ 45 h 71"/>
                  <a:gd name="T24" fmla="*/ 13 w 78"/>
                  <a:gd name="T25" fmla="*/ 58 h 71"/>
                  <a:gd name="T26" fmla="*/ 26 w 78"/>
                  <a:gd name="T27" fmla="*/ 71 h 71"/>
                  <a:gd name="T28" fmla="*/ 39 w 78"/>
                  <a:gd name="T29" fmla="*/ 71 h 71"/>
                  <a:gd name="T30" fmla="*/ 39 w 78"/>
                  <a:gd name="T31" fmla="*/ 71 h 7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8"/>
                  <a:gd name="T49" fmla="*/ 0 h 71"/>
                  <a:gd name="T50" fmla="*/ 78 w 78"/>
                  <a:gd name="T51" fmla="*/ 71 h 7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8" h="71">
                    <a:moveTo>
                      <a:pt x="39" y="71"/>
                    </a:moveTo>
                    <a:lnTo>
                      <a:pt x="52" y="71"/>
                    </a:lnTo>
                    <a:lnTo>
                      <a:pt x="65" y="58"/>
                    </a:lnTo>
                    <a:lnTo>
                      <a:pt x="78" y="45"/>
                    </a:lnTo>
                    <a:lnTo>
                      <a:pt x="78" y="32"/>
                    </a:lnTo>
                    <a:lnTo>
                      <a:pt x="78" y="19"/>
                    </a:lnTo>
                    <a:lnTo>
                      <a:pt x="65" y="6"/>
                    </a:lnTo>
                    <a:lnTo>
                      <a:pt x="39" y="0"/>
                    </a:lnTo>
                    <a:lnTo>
                      <a:pt x="13" y="6"/>
                    </a:lnTo>
                    <a:lnTo>
                      <a:pt x="6" y="19"/>
                    </a:lnTo>
                    <a:lnTo>
                      <a:pt x="0" y="32"/>
                    </a:lnTo>
                    <a:lnTo>
                      <a:pt x="6" y="45"/>
                    </a:lnTo>
                    <a:lnTo>
                      <a:pt x="13" y="58"/>
                    </a:lnTo>
                    <a:lnTo>
                      <a:pt x="26" y="71"/>
                    </a:lnTo>
                    <a:lnTo>
                      <a:pt x="39" y="71"/>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1" name="Freeform 77"/>
              <p:cNvSpPr/>
              <p:nvPr/>
            </p:nvSpPr>
            <p:spPr bwMode="auto">
              <a:xfrm>
                <a:off x="3217" y="1201"/>
                <a:ext cx="39" cy="39"/>
              </a:xfrm>
              <a:custGeom>
                <a:avLst/>
                <a:gdLst>
                  <a:gd name="T0" fmla="*/ 0 w 39"/>
                  <a:gd name="T1" fmla="*/ 39 h 39"/>
                  <a:gd name="T2" fmla="*/ 13 w 39"/>
                  <a:gd name="T3" fmla="*/ 39 h 39"/>
                  <a:gd name="T4" fmla="*/ 26 w 39"/>
                  <a:gd name="T5" fmla="*/ 26 h 39"/>
                  <a:gd name="T6" fmla="*/ 39 w 39"/>
                  <a:gd name="T7" fmla="*/ 13 h 39"/>
                  <a:gd name="T8" fmla="*/ 39 w 39"/>
                  <a:gd name="T9" fmla="*/ 0 h 39"/>
                  <a:gd name="T10" fmla="*/ 39 w 39"/>
                  <a:gd name="T11" fmla="*/ 0 h 39"/>
                  <a:gd name="T12" fmla="*/ 39 w 39"/>
                  <a:gd name="T13" fmla="*/ 13 h 39"/>
                  <a:gd name="T14" fmla="*/ 26 w 39"/>
                  <a:gd name="T15" fmla="*/ 26 h 39"/>
                  <a:gd name="T16" fmla="*/ 13 w 39"/>
                  <a:gd name="T17" fmla="*/ 39 h 39"/>
                  <a:gd name="T18" fmla="*/ 0 w 39"/>
                  <a:gd name="T19" fmla="*/ 39 h 39"/>
                  <a:gd name="T20" fmla="*/ 0 w 39"/>
                  <a:gd name="T21" fmla="*/ 39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39"/>
                  <a:gd name="T35" fmla="*/ 39 w 39"/>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39">
                    <a:moveTo>
                      <a:pt x="0" y="39"/>
                    </a:moveTo>
                    <a:lnTo>
                      <a:pt x="13" y="39"/>
                    </a:lnTo>
                    <a:lnTo>
                      <a:pt x="26" y="26"/>
                    </a:lnTo>
                    <a:lnTo>
                      <a:pt x="39" y="13"/>
                    </a:lnTo>
                    <a:lnTo>
                      <a:pt x="39" y="0"/>
                    </a:lnTo>
                    <a:lnTo>
                      <a:pt x="39" y="13"/>
                    </a:lnTo>
                    <a:lnTo>
                      <a:pt x="26" y="26"/>
                    </a:lnTo>
                    <a:lnTo>
                      <a:pt x="13" y="39"/>
                    </a:lnTo>
                    <a:lnTo>
                      <a:pt x="0"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2" name="Freeform 78"/>
              <p:cNvSpPr>
                <a:spLocks noEditPoints="1"/>
              </p:cNvSpPr>
              <p:nvPr/>
            </p:nvSpPr>
            <p:spPr bwMode="auto">
              <a:xfrm>
                <a:off x="3217" y="1169"/>
                <a:ext cx="39" cy="32"/>
              </a:xfrm>
              <a:custGeom>
                <a:avLst/>
                <a:gdLst>
                  <a:gd name="T0" fmla="*/ 39 w 39"/>
                  <a:gd name="T1" fmla="*/ 32 h 32"/>
                  <a:gd name="T2" fmla="*/ 39 w 39"/>
                  <a:gd name="T3" fmla="*/ 19 h 32"/>
                  <a:gd name="T4" fmla="*/ 26 w 39"/>
                  <a:gd name="T5" fmla="*/ 6 h 32"/>
                  <a:gd name="T6" fmla="*/ 0 w 39"/>
                  <a:gd name="T7" fmla="*/ 0 h 32"/>
                  <a:gd name="T8" fmla="*/ 0 w 39"/>
                  <a:gd name="T9" fmla="*/ 0 h 32"/>
                  <a:gd name="T10" fmla="*/ 26 w 39"/>
                  <a:gd name="T11" fmla="*/ 6 h 32"/>
                  <a:gd name="T12" fmla="*/ 39 w 39"/>
                  <a:gd name="T13" fmla="*/ 19 h 32"/>
                  <a:gd name="T14" fmla="*/ 39 w 39"/>
                  <a:gd name="T15" fmla="*/ 32 h 32"/>
                  <a:gd name="T16" fmla="*/ 39 w 39"/>
                  <a:gd name="T17" fmla="*/ 32 h 32"/>
                  <a:gd name="T18" fmla="*/ 39 w 39"/>
                  <a:gd name="T19" fmla="*/ 32 h 32"/>
                  <a:gd name="T20" fmla="*/ 39 w 39"/>
                  <a:gd name="T21" fmla="*/ 32 h 32"/>
                  <a:gd name="T22" fmla="*/ 39 w 39"/>
                  <a:gd name="T23" fmla="*/ 32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2"/>
                  <a:gd name="T38" fmla="*/ 39 w 39"/>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2">
                    <a:moveTo>
                      <a:pt x="39" y="32"/>
                    </a:moveTo>
                    <a:lnTo>
                      <a:pt x="39" y="19"/>
                    </a:lnTo>
                    <a:lnTo>
                      <a:pt x="26" y="6"/>
                    </a:lnTo>
                    <a:lnTo>
                      <a:pt x="0" y="0"/>
                    </a:lnTo>
                    <a:lnTo>
                      <a:pt x="26" y="6"/>
                    </a:lnTo>
                    <a:lnTo>
                      <a:pt x="39" y="19"/>
                    </a:lnTo>
                    <a:lnTo>
                      <a:pt x="39" y="32"/>
                    </a:lnTo>
                    <a:close/>
                    <a:moveTo>
                      <a:pt x="39" y="32"/>
                    </a:moveTo>
                    <a:lnTo>
                      <a:pt x="39"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3" name="Freeform 79"/>
              <p:cNvSpPr>
                <a:spLocks noEditPoints="1"/>
              </p:cNvSpPr>
              <p:nvPr/>
            </p:nvSpPr>
            <p:spPr bwMode="auto">
              <a:xfrm>
                <a:off x="3178" y="1169"/>
                <a:ext cx="39" cy="32"/>
              </a:xfrm>
              <a:custGeom>
                <a:avLst/>
                <a:gdLst>
                  <a:gd name="T0" fmla="*/ 39 w 39"/>
                  <a:gd name="T1" fmla="*/ 0 h 32"/>
                  <a:gd name="T2" fmla="*/ 13 w 39"/>
                  <a:gd name="T3" fmla="*/ 6 h 32"/>
                  <a:gd name="T4" fmla="*/ 6 w 39"/>
                  <a:gd name="T5" fmla="*/ 19 h 32"/>
                  <a:gd name="T6" fmla="*/ 0 w 39"/>
                  <a:gd name="T7" fmla="*/ 32 h 32"/>
                  <a:gd name="T8" fmla="*/ 0 w 39"/>
                  <a:gd name="T9" fmla="*/ 32 h 32"/>
                  <a:gd name="T10" fmla="*/ 6 w 39"/>
                  <a:gd name="T11" fmla="*/ 19 h 32"/>
                  <a:gd name="T12" fmla="*/ 13 w 39"/>
                  <a:gd name="T13" fmla="*/ 6 h 32"/>
                  <a:gd name="T14" fmla="*/ 39 w 39"/>
                  <a:gd name="T15" fmla="*/ 0 h 32"/>
                  <a:gd name="T16" fmla="*/ 39 w 39"/>
                  <a:gd name="T17" fmla="*/ 0 h 32"/>
                  <a:gd name="T18" fmla="*/ 39 w 39"/>
                  <a:gd name="T19" fmla="*/ 0 h 32"/>
                  <a:gd name="T20" fmla="*/ 39 w 39"/>
                  <a:gd name="T21" fmla="*/ 0 h 32"/>
                  <a:gd name="T22" fmla="*/ 39 w 39"/>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2"/>
                  <a:gd name="T38" fmla="*/ 39 w 39"/>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2">
                    <a:moveTo>
                      <a:pt x="39" y="0"/>
                    </a:moveTo>
                    <a:lnTo>
                      <a:pt x="13" y="6"/>
                    </a:lnTo>
                    <a:lnTo>
                      <a:pt x="6" y="19"/>
                    </a:lnTo>
                    <a:lnTo>
                      <a:pt x="0" y="32"/>
                    </a:lnTo>
                    <a:lnTo>
                      <a:pt x="6" y="19"/>
                    </a:lnTo>
                    <a:lnTo>
                      <a:pt x="13" y="6"/>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4" name="Freeform 80"/>
              <p:cNvSpPr>
                <a:spLocks noEditPoints="1"/>
              </p:cNvSpPr>
              <p:nvPr/>
            </p:nvSpPr>
            <p:spPr bwMode="auto">
              <a:xfrm>
                <a:off x="3178" y="1201"/>
                <a:ext cx="39" cy="39"/>
              </a:xfrm>
              <a:custGeom>
                <a:avLst/>
                <a:gdLst>
                  <a:gd name="T0" fmla="*/ 0 w 39"/>
                  <a:gd name="T1" fmla="*/ 0 h 39"/>
                  <a:gd name="T2" fmla="*/ 6 w 39"/>
                  <a:gd name="T3" fmla="*/ 13 h 39"/>
                  <a:gd name="T4" fmla="*/ 13 w 39"/>
                  <a:gd name="T5" fmla="*/ 26 h 39"/>
                  <a:gd name="T6" fmla="*/ 26 w 39"/>
                  <a:gd name="T7" fmla="*/ 39 h 39"/>
                  <a:gd name="T8" fmla="*/ 39 w 39"/>
                  <a:gd name="T9" fmla="*/ 39 h 39"/>
                  <a:gd name="T10" fmla="*/ 39 w 39"/>
                  <a:gd name="T11" fmla="*/ 39 h 39"/>
                  <a:gd name="T12" fmla="*/ 26 w 39"/>
                  <a:gd name="T13" fmla="*/ 39 h 39"/>
                  <a:gd name="T14" fmla="*/ 13 w 39"/>
                  <a:gd name="T15" fmla="*/ 26 h 39"/>
                  <a:gd name="T16" fmla="*/ 6 w 39"/>
                  <a:gd name="T17" fmla="*/ 13 h 39"/>
                  <a:gd name="T18" fmla="*/ 0 w 39"/>
                  <a:gd name="T19" fmla="*/ 0 h 39"/>
                  <a:gd name="T20" fmla="*/ 0 w 39"/>
                  <a:gd name="T21" fmla="*/ 0 h 39"/>
                  <a:gd name="T22" fmla="*/ 0 w 39"/>
                  <a:gd name="T23" fmla="*/ 0 h 39"/>
                  <a:gd name="T24" fmla="*/ 0 w 39"/>
                  <a:gd name="T25" fmla="*/ 0 h 39"/>
                  <a:gd name="T26" fmla="*/ 0 w 39"/>
                  <a:gd name="T27" fmla="*/ 0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9"/>
                  <a:gd name="T44" fmla="*/ 39 w 39"/>
                  <a:gd name="T45" fmla="*/ 39 h 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9">
                    <a:moveTo>
                      <a:pt x="0" y="0"/>
                    </a:moveTo>
                    <a:lnTo>
                      <a:pt x="6" y="13"/>
                    </a:lnTo>
                    <a:lnTo>
                      <a:pt x="13" y="26"/>
                    </a:lnTo>
                    <a:lnTo>
                      <a:pt x="26" y="39"/>
                    </a:lnTo>
                    <a:lnTo>
                      <a:pt x="39" y="39"/>
                    </a:lnTo>
                    <a:lnTo>
                      <a:pt x="26" y="39"/>
                    </a:lnTo>
                    <a:lnTo>
                      <a:pt x="13" y="26"/>
                    </a:lnTo>
                    <a:lnTo>
                      <a:pt x="6" y="1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5" name="Freeform 81"/>
              <p:cNvSpPr/>
              <p:nvPr/>
            </p:nvSpPr>
            <p:spPr bwMode="auto">
              <a:xfrm>
                <a:off x="3217" y="124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6" name="Freeform 82"/>
              <p:cNvSpPr>
                <a:spLocks noEditPoints="1"/>
              </p:cNvSpPr>
              <p:nvPr/>
            </p:nvSpPr>
            <p:spPr bwMode="auto">
              <a:xfrm>
                <a:off x="3178" y="328"/>
                <a:ext cx="78" cy="71"/>
              </a:xfrm>
              <a:custGeom>
                <a:avLst/>
                <a:gdLst>
                  <a:gd name="T0" fmla="*/ 78 w 78"/>
                  <a:gd name="T1" fmla="*/ 51 h 71"/>
                  <a:gd name="T2" fmla="*/ 71 w 78"/>
                  <a:gd name="T3" fmla="*/ 58 h 71"/>
                  <a:gd name="T4" fmla="*/ 65 w 78"/>
                  <a:gd name="T5" fmla="*/ 64 h 71"/>
                  <a:gd name="T6" fmla="*/ 58 w 78"/>
                  <a:gd name="T7" fmla="*/ 64 h 71"/>
                  <a:gd name="T8" fmla="*/ 58 w 78"/>
                  <a:gd name="T9" fmla="*/ 58 h 71"/>
                  <a:gd name="T10" fmla="*/ 65 w 78"/>
                  <a:gd name="T11" fmla="*/ 51 h 71"/>
                  <a:gd name="T12" fmla="*/ 71 w 78"/>
                  <a:gd name="T13" fmla="*/ 32 h 71"/>
                  <a:gd name="T14" fmla="*/ 78 w 78"/>
                  <a:gd name="T15" fmla="*/ 6 h 71"/>
                  <a:gd name="T16" fmla="*/ 78 w 78"/>
                  <a:gd name="T17" fmla="*/ 0 h 71"/>
                  <a:gd name="T18" fmla="*/ 78 w 78"/>
                  <a:gd name="T19" fmla="*/ 0 h 71"/>
                  <a:gd name="T20" fmla="*/ 65 w 78"/>
                  <a:gd name="T21" fmla="*/ 0 h 71"/>
                  <a:gd name="T22" fmla="*/ 65 w 78"/>
                  <a:gd name="T23" fmla="*/ 0 h 71"/>
                  <a:gd name="T24" fmla="*/ 65 w 78"/>
                  <a:gd name="T25" fmla="*/ 6 h 71"/>
                  <a:gd name="T26" fmla="*/ 65 w 78"/>
                  <a:gd name="T27" fmla="*/ 6 h 71"/>
                  <a:gd name="T28" fmla="*/ 58 w 78"/>
                  <a:gd name="T29" fmla="*/ 6 h 71"/>
                  <a:gd name="T30" fmla="*/ 52 w 78"/>
                  <a:gd name="T31" fmla="*/ 0 h 71"/>
                  <a:gd name="T32" fmla="*/ 32 w 78"/>
                  <a:gd name="T33" fmla="*/ 6 h 71"/>
                  <a:gd name="T34" fmla="*/ 19 w 78"/>
                  <a:gd name="T35" fmla="*/ 19 h 71"/>
                  <a:gd name="T36" fmla="*/ 6 w 78"/>
                  <a:gd name="T37" fmla="*/ 38 h 71"/>
                  <a:gd name="T38" fmla="*/ 0 w 78"/>
                  <a:gd name="T39" fmla="*/ 51 h 71"/>
                  <a:gd name="T40" fmla="*/ 0 w 78"/>
                  <a:gd name="T41" fmla="*/ 64 h 71"/>
                  <a:gd name="T42" fmla="*/ 6 w 78"/>
                  <a:gd name="T43" fmla="*/ 71 h 71"/>
                  <a:gd name="T44" fmla="*/ 19 w 78"/>
                  <a:gd name="T45" fmla="*/ 71 h 71"/>
                  <a:gd name="T46" fmla="*/ 32 w 78"/>
                  <a:gd name="T47" fmla="*/ 64 h 71"/>
                  <a:gd name="T48" fmla="*/ 52 w 78"/>
                  <a:gd name="T49" fmla="*/ 45 h 71"/>
                  <a:gd name="T50" fmla="*/ 52 w 78"/>
                  <a:gd name="T51" fmla="*/ 45 h 71"/>
                  <a:gd name="T52" fmla="*/ 52 w 78"/>
                  <a:gd name="T53" fmla="*/ 58 h 71"/>
                  <a:gd name="T54" fmla="*/ 45 w 78"/>
                  <a:gd name="T55" fmla="*/ 64 h 71"/>
                  <a:gd name="T56" fmla="*/ 45 w 78"/>
                  <a:gd name="T57" fmla="*/ 71 h 71"/>
                  <a:gd name="T58" fmla="*/ 58 w 78"/>
                  <a:gd name="T59" fmla="*/ 71 h 71"/>
                  <a:gd name="T60" fmla="*/ 71 w 78"/>
                  <a:gd name="T61" fmla="*/ 64 h 71"/>
                  <a:gd name="T62" fmla="*/ 78 w 78"/>
                  <a:gd name="T63" fmla="*/ 51 h 71"/>
                  <a:gd name="T64" fmla="*/ 78 w 78"/>
                  <a:gd name="T65" fmla="*/ 51 h 71"/>
                  <a:gd name="T66" fmla="*/ 13 w 78"/>
                  <a:gd name="T67" fmla="*/ 51 h 71"/>
                  <a:gd name="T68" fmla="*/ 19 w 78"/>
                  <a:gd name="T69" fmla="*/ 38 h 71"/>
                  <a:gd name="T70" fmla="*/ 26 w 78"/>
                  <a:gd name="T71" fmla="*/ 26 h 71"/>
                  <a:gd name="T72" fmla="*/ 39 w 78"/>
                  <a:gd name="T73" fmla="*/ 13 h 71"/>
                  <a:gd name="T74" fmla="*/ 52 w 78"/>
                  <a:gd name="T75" fmla="*/ 6 h 71"/>
                  <a:gd name="T76" fmla="*/ 58 w 78"/>
                  <a:gd name="T77" fmla="*/ 6 h 71"/>
                  <a:gd name="T78" fmla="*/ 58 w 78"/>
                  <a:gd name="T79" fmla="*/ 13 h 71"/>
                  <a:gd name="T80" fmla="*/ 52 w 78"/>
                  <a:gd name="T81" fmla="*/ 45 h 71"/>
                  <a:gd name="T82" fmla="*/ 39 w 78"/>
                  <a:gd name="T83" fmla="*/ 58 h 71"/>
                  <a:gd name="T84" fmla="*/ 26 w 78"/>
                  <a:gd name="T85" fmla="*/ 64 h 71"/>
                  <a:gd name="T86" fmla="*/ 19 w 78"/>
                  <a:gd name="T87" fmla="*/ 58 h 71"/>
                  <a:gd name="T88" fmla="*/ 13 w 78"/>
                  <a:gd name="T89" fmla="*/ 51 h 71"/>
                  <a:gd name="T90" fmla="*/ 13 w 78"/>
                  <a:gd name="T91" fmla="*/ 51 h 7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8"/>
                  <a:gd name="T139" fmla="*/ 0 h 71"/>
                  <a:gd name="T140" fmla="*/ 78 w 78"/>
                  <a:gd name="T141" fmla="*/ 71 h 7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8" h="71">
                    <a:moveTo>
                      <a:pt x="78" y="51"/>
                    </a:moveTo>
                    <a:lnTo>
                      <a:pt x="71" y="58"/>
                    </a:lnTo>
                    <a:lnTo>
                      <a:pt x="65" y="64"/>
                    </a:lnTo>
                    <a:lnTo>
                      <a:pt x="58" y="64"/>
                    </a:lnTo>
                    <a:lnTo>
                      <a:pt x="58" y="58"/>
                    </a:lnTo>
                    <a:lnTo>
                      <a:pt x="65" y="51"/>
                    </a:lnTo>
                    <a:lnTo>
                      <a:pt x="71" y="32"/>
                    </a:lnTo>
                    <a:lnTo>
                      <a:pt x="78" y="6"/>
                    </a:lnTo>
                    <a:lnTo>
                      <a:pt x="78" y="0"/>
                    </a:lnTo>
                    <a:lnTo>
                      <a:pt x="65" y="0"/>
                    </a:lnTo>
                    <a:lnTo>
                      <a:pt x="65" y="6"/>
                    </a:lnTo>
                    <a:lnTo>
                      <a:pt x="58" y="6"/>
                    </a:lnTo>
                    <a:lnTo>
                      <a:pt x="52" y="0"/>
                    </a:lnTo>
                    <a:lnTo>
                      <a:pt x="32" y="6"/>
                    </a:lnTo>
                    <a:lnTo>
                      <a:pt x="19" y="19"/>
                    </a:lnTo>
                    <a:lnTo>
                      <a:pt x="6" y="38"/>
                    </a:lnTo>
                    <a:lnTo>
                      <a:pt x="0" y="51"/>
                    </a:lnTo>
                    <a:lnTo>
                      <a:pt x="0" y="64"/>
                    </a:lnTo>
                    <a:lnTo>
                      <a:pt x="6" y="71"/>
                    </a:lnTo>
                    <a:lnTo>
                      <a:pt x="19" y="71"/>
                    </a:lnTo>
                    <a:lnTo>
                      <a:pt x="32" y="64"/>
                    </a:lnTo>
                    <a:lnTo>
                      <a:pt x="52" y="45"/>
                    </a:lnTo>
                    <a:lnTo>
                      <a:pt x="52" y="58"/>
                    </a:lnTo>
                    <a:lnTo>
                      <a:pt x="45" y="64"/>
                    </a:lnTo>
                    <a:lnTo>
                      <a:pt x="45" y="71"/>
                    </a:lnTo>
                    <a:lnTo>
                      <a:pt x="58" y="71"/>
                    </a:lnTo>
                    <a:lnTo>
                      <a:pt x="71" y="64"/>
                    </a:lnTo>
                    <a:lnTo>
                      <a:pt x="78" y="51"/>
                    </a:lnTo>
                    <a:close/>
                    <a:moveTo>
                      <a:pt x="13" y="51"/>
                    </a:moveTo>
                    <a:lnTo>
                      <a:pt x="19" y="38"/>
                    </a:lnTo>
                    <a:lnTo>
                      <a:pt x="26" y="26"/>
                    </a:lnTo>
                    <a:lnTo>
                      <a:pt x="39" y="13"/>
                    </a:lnTo>
                    <a:lnTo>
                      <a:pt x="52" y="6"/>
                    </a:lnTo>
                    <a:lnTo>
                      <a:pt x="58" y="6"/>
                    </a:lnTo>
                    <a:lnTo>
                      <a:pt x="58" y="13"/>
                    </a:lnTo>
                    <a:lnTo>
                      <a:pt x="52" y="45"/>
                    </a:lnTo>
                    <a:lnTo>
                      <a:pt x="39" y="58"/>
                    </a:lnTo>
                    <a:lnTo>
                      <a:pt x="26" y="64"/>
                    </a:lnTo>
                    <a:lnTo>
                      <a:pt x="19" y="58"/>
                    </a:lnTo>
                    <a:lnTo>
                      <a:pt x="13" y="51"/>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7" name="Freeform 83"/>
              <p:cNvSpPr>
                <a:spLocks noEditPoints="1"/>
              </p:cNvSpPr>
              <p:nvPr/>
            </p:nvSpPr>
            <p:spPr bwMode="auto">
              <a:xfrm>
                <a:off x="3178" y="1324"/>
                <a:ext cx="78" cy="110"/>
              </a:xfrm>
              <a:custGeom>
                <a:avLst/>
                <a:gdLst>
                  <a:gd name="T0" fmla="*/ 65 w 78"/>
                  <a:gd name="T1" fmla="*/ 58 h 110"/>
                  <a:gd name="T2" fmla="*/ 65 w 78"/>
                  <a:gd name="T3" fmla="*/ 71 h 110"/>
                  <a:gd name="T4" fmla="*/ 52 w 78"/>
                  <a:gd name="T5" fmla="*/ 84 h 110"/>
                  <a:gd name="T6" fmla="*/ 39 w 78"/>
                  <a:gd name="T7" fmla="*/ 97 h 110"/>
                  <a:gd name="T8" fmla="*/ 26 w 78"/>
                  <a:gd name="T9" fmla="*/ 103 h 110"/>
                  <a:gd name="T10" fmla="*/ 19 w 78"/>
                  <a:gd name="T11" fmla="*/ 103 h 110"/>
                  <a:gd name="T12" fmla="*/ 19 w 78"/>
                  <a:gd name="T13" fmla="*/ 97 h 110"/>
                  <a:gd name="T14" fmla="*/ 19 w 78"/>
                  <a:gd name="T15" fmla="*/ 84 h 110"/>
                  <a:gd name="T16" fmla="*/ 26 w 78"/>
                  <a:gd name="T17" fmla="*/ 65 h 110"/>
                  <a:gd name="T18" fmla="*/ 39 w 78"/>
                  <a:gd name="T19" fmla="*/ 52 h 110"/>
                  <a:gd name="T20" fmla="*/ 52 w 78"/>
                  <a:gd name="T21" fmla="*/ 45 h 110"/>
                  <a:gd name="T22" fmla="*/ 65 w 78"/>
                  <a:gd name="T23" fmla="*/ 52 h 110"/>
                  <a:gd name="T24" fmla="*/ 65 w 78"/>
                  <a:gd name="T25" fmla="*/ 58 h 110"/>
                  <a:gd name="T26" fmla="*/ 65 w 78"/>
                  <a:gd name="T27" fmla="*/ 58 h 110"/>
                  <a:gd name="T28" fmla="*/ 19 w 78"/>
                  <a:gd name="T29" fmla="*/ 6 h 110"/>
                  <a:gd name="T30" fmla="*/ 26 w 78"/>
                  <a:gd name="T31" fmla="*/ 6 h 110"/>
                  <a:gd name="T32" fmla="*/ 26 w 78"/>
                  <a:gd name="T33" fmla="*/ 6 h 110"/>
                  <a:gd name="T34" fmla="*/ 26 w 78"/>
                  <a:gd name="T35" fmla="*/ 13 h 110"/>
                  <a:gd name="T36" fmla="*/ 26 w 78"/>
                  <a:gd name="T37" fmla="*/ 19 h 110"/>
                  <a:gd name="T38" fmla="*/ 0 w 78"/>
                  <a:gd name="T39" fmla="*/ 97 h 110"/>
                  <a:gd name="T40" fmla="*/ 0 w 78"/>
                  <a:gd name="T41" fmla="*/ 97 h 110"/>
                  <a:gd name="T42" fmla="*/ 6 w 78"/>
                  <a:gd name="T43" fmla="*/ 103 h 110"/>
                  <a:gd name="T44" fmla="*/ 26 w 78"/>
                  <a:gd name="T45" fmla="*/ 110 h 110"/>
                  <a:gd name="T46" fmla="*/ 45 w 78"/>
                  <a:gd name="T47" fmla="*/ 103 h 110"/>
                  <a:gd name="T48" fmla="*/ 65 w 78"/>
                  <a:gd name="T49" fmla="*/ 97 h 110"/>
                  <a:gd name="T50" fmla="*/ 71 w 78"/>
                  <a:gd name="T51" fmla="*/ 78 h 110"/>
                  <a:gd name="T52" fmla="*/ 78 w 78"/>
                  <a:gd name="T53" fmla="*/ 58 h 110"/>
                  <a:gd name="T54" fmla="*/ 71 w 78"/>
                  <a:gd name="T55" fmla="*/ 45 h 110"/>
                  <a:gd name="T56" fmla="*/ 58 w 78"/>
                  <a:gd name="T57" fmla="*/ 39 h 110"/>
                  <a:gd name="T58" fmla="*/ 39 w 78"/>
                  <a:gd name="T59" fmla="*/ 45 h 110"/>
                  <a:gd name="T60" fmla="*/ 26 w 78"/>
                  <a:gd name="T61" fmla="*/ 58 h 110"/>
                  <a:gd name="T62" fmla="*/ 26 w 78"/>
                  <a:gd name="T63" fmla="*/ 58 h 110"/>
                  <a:gd name="T64" fmla="*/ 39 w 78"/>
                  <a:gd name="T65" fmla="*/ 26 h 110"/>
                  <a:gd name="T66" fmla="*/ 45 w 78"/>
                  <a:gd name="T67" fmla="*/ 0 h 110"/>
                  <a:gd name="T68" fmla="*/ 45 w 78"/>
                  <a:gd name="T69" fmla="*/ 0 h 110"/>
                  <a:gd name="T70" fmla="*/ 32 w 78"/>
                  <a:gd name="T71" fmla="*/ 0 h 110"/>
                  <a:gd name="T72" fmla="*/ 19 w 78"/>
                  <a:gd name="T73" fmla="*/ 0 h 110"/>
                  <a:gd name="T74" fmla="*/ 19 w 78"/>
                  <a:gd name="T75" fmla="*/ 6 h 1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8"/>
                  <a:gd name="T115" fmla="*/ 0 h 110"/>
                  <a:gd name="T116" fmla="*/ 78 w 78"/>
                  <a:gd name="T117" fmla="*/ 110 h 1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8" h="110">
                    <a:moveTo>
                      <a:pt x="65" y="58"/>
                    </a:moveTo>
                    <a:lnTo>
                      <a:pt x="65" y="71"/>
                    </a:lnTo>
                    <a:lnTo>
                      <a:pt x="52" y="84"/>
                    </a:lnTo>
                    <a:lnTo>
                      <a:pt x="39" y="97"/>
                    </a:lnTo>
                    <a:lnTo>
                      <a:pt x="26" y="103"/>
                    </a:lnTo>
                    <a:lnTo>
                      <a:pt x="19" y="103"/>
                    </a:lnTo>
                    <a:lnTo>
                      <a:pt x="19" y="97"/>
                    </a:lnTo>
                    <a:lnTo>
                      <a:pt x="19" y="84"/>
                    </a:lnTo>
                    <a:lnTo>
                      <a:pt x="26" y="65"/>
                    </a:lnTo>
                    <a:lnTo>
                      <a:pt x="39" y="52"/>
                    </a:lnTo>
                    <a:lnTo>
                      <a:pt x="52" y="45"/>
                    </a:lnTo>
                    <a:lnTo>
                      <a:pt x="65" y="52"/>
                    </a:lnTo>
                    <a:lnTo>
                      <a:pt x="65" y="58"/>
                    </a:lnTo>
                    <a:close/>
                    <a:moveTo>
                      <a:pt x="19" y="6"/>
                    </a:moveTo>
                    <a:lnTo>
                      <a:pt x="26" y="6"/>
                    </a:lnTo>
                    <a:lnTo>
                      <a:pt x="26" y="13"/>
                    </a:lnTo>
                    <a:lnTo>
                      <a:pt x="26" y="19"/>
                    </a:lnTo>
                    <a:lnTo>
                      <a:pt x="0" y="97"/>
                    </a:lnTo>
                    <a:lnTo>
                      <a:pt x="6" y="103"/>
                    </a:lnTo>
                    <a:lnTo>
                      <a:pt x="26" y="110"/>
                    </a:lnTo>
                    <a:lnTo>
                      <a:pt x="45" y="103"/>
                    </a:lnTo>
                    <a:lnTo>
                      <a:pt x="65" y="97"/>
                    </a:lnTo>
                    <a:lnTo>
                      <a:pt x="71" y="78"/>
                    </a:lnTo>
                    <a:lnTo>
                      <a:pt x="78" y="58"/>
                    </a:lnTo>
                    <a:lnTo>
                      <a:pt x="71" y="45"/>
                    </a:lnTo>
                    <a:lnTo>
                      <a:pt x="58" y="39"/>
                    </a:lnTo>
                    <a:lnTo>
                      <a:pt x="39" y="45"/>
                    </a:lnTo>
                    <a:lnTo>
                      <a:pt x="26" y="58"/>
                    </a:lnTo>
                    <a:lnTo>
                      <a:pt x="39" y="26"/>
                    </a:lnTo>
                    <a:lnTo>
                      <a:pt x="45" y="0"/>
                    </a:lnTo>
                    <a:lnTo>
                      <a:pt x="32" y="0"/>
                    </a:lnTo>
                    <a:lnTo>
                      <a:pt x="19" y="0"/>
                    </a:lnTo>
                    <a:lnTo>
                      <a:pt x="19"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8" name="Freeform 84"/>
              <p:cNvSpPr/>
              <p:nvPr/>
            </p:nvSpPr>
            <p:spPr bwMode="auto">
              <a:xfrm>
                <a:off x="2588" y="2003"/>
                <a:ext cx="39" cy="136"/>
              </a:xfrm>
              <a:custGeom>
                <a:avLst/>
                <a:gdLst>
                  <a:gd name="T0" fmla="*/ 39 w 39"/>
                  <a:gd name="T1" fmla="*/ 0 h 136"/>
                  <a:gd name="T2" fmla="*/ 13 w 39"/>
                  <a:gd name="T3" fmla="*/ 26 h 136"/>
                  <a:gd name="T4" fmla="*/ 0 w 39"/>
                  <a:gd name="T5" fmla="*/ 65 h 136"/>
                  <a:gd name="T6" fmla="*/ 0 w 39"/>
                  <a:gd name="T7" fmla="*/ 84 h 136"/>
                  <a:gd name="T8" fmla="*/ 7 w 39"/>
                  <a:gd name="T9" fmla="*/ 91 h 136"/>
                  <a:gd name="T10" fmla="*/ 13 w 39"/>
                  <a:gd name="T11" fmla="*/ 110 h 136"/>
                  <a:gd name="T12" fmla="*/ 26 w 39"/>
                  <a:gd name="T13" fmla="*/ 123 h 136"/>
                  <a:gd name="T14" fmla="*/ 39 w 39"/>
                  <a:gd name="T15" fmla="*/ 136 h 136"/>
                  <a:gd name="T16" fmla="*/ 39 w 39"/>
                  <a:gd name="T17" fmla="*/ 136 h 136"/>
                  <a:gd name="T18" fmla="*/ 26 w 39"/>
                  <a:gd name="T19" fmla="*/ 117 h 136"/>
                  <a:gd name="T20" fmla="*/ 20 w 39"/>
                  <a:gd name="T21" fmla="*/ 104 h 136"/>
                  <a:gd name="T22" fmla="*/ 13 w 39"/>
                  <a:gd name="T23" fmla="*/ 65 h 136"/>
                  <a:gd name="T24" fmla="*/ 13 w 39"/>
                  <a:gd name="T25" fmla="*/ 39 h 136"/>
                  <a:gd name="T26" fmla="*/ 20 w 39"/>
                  <a:gd name="T27" fmla="*/ 26 h 136"/>
                  <a:gd name="T28" fmla="*/ 39 w 39"/>
                  <a:gd name="T29" fmla="*/ 7 h 136"/>
                  <a:gd name="T30" fmla="*/ 39 w 39"/>
                  <a:gd name="T31" fmla="*/ 0 h 1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136"/>
                  <a:gd name="T50" fmla="*/ 39 w 39"/>
                  <a:gd name="T51" fmla="*/ 136 h 1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136">
                    <a:moveTo>
                      <a:pt x="39" y="0"/>
                    </a:moveTo>
                    <a:lnTo>
                      <a:pt x="13" y="26"/>
                    </a:lnTo>
                    <a:lnTo>
                      <a:pt x="0" y="65"/>
                    </a:lnTo>
                    <a:lnTo>
                      <a:pt x="0" y="84"/>
                    </a:lnTo>
                    <a:lnTo>
                      <a:pt x="7" y="91"/>
                    </a:lnTo>
                    <a:lnTo>
                      <a:pt x="13" y="110"/>
                    </a:lnTo>
                    <a:lnTo>
                      <a:pt x="26" y="123"/>
                    </a:lnTo>
                    <a:lnTo>
                      <a:pt x="39" y="136"/>
                    </a:lnTo>
                    <a:lnTo>
                      <a:pt x="26" y="117"/>
                    </a:lnTo>
                    <a:lnTo>
                      <a:pt x="20" y="104"/>
                    </a:lnTo>
                    <a:lnTo>
                      <a:pt x="13" y="65"/>
                    </a:lnTo>
                    <a:lnTo>
                      <a:pt x="13" y="39"/>
                    </a:lnTo>
                    <a:lnTo>
                      <a:pt x="20" y="26"/>
                    </a:lnTo>
                    <a:lnTo>
                      <a:pt x="39" y="7"/>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59" name="Freeform 85"/>
              <p:cNvSpPr>
                <a:spLocks noEditPoints="1"/>
              </p:cNvSpPr>
              <p:nvPr/>
            </p:nvSpPr>
            <p:spPr bwMode="auto">
              <a:xfrm>
                <a:off x="2640" y="2042"/>
                <a:ext cx="65" cy="71"/>
              </a:xfrm>
              <a:custGeom>
                <a:avLst/>
                <a:gdLst>
                  <a:gd name="T0" fmla="*/ 39 w 65"/>
                  <a:gd name="T1" fmla="*/ 52 h 71"/>
                  <a:gd name="T2" fmla="*/ 39 w 65"/>
                  <a:gd name="T3" fmla="*/ 58 h 71"/>
                  <a:gd name="T4" fmla="*/ 39 w 65"/>
                  <a:gd name="T5" fmla="*/ 58 h 71"/>
                  <a:gd name="T6" fmla="*/ 32 w 65"/>
                  <a:gd name="T7" fmla="*/ 65 h 71"/>
                  <a:gd name="T8" fmla="*/ 26 w 65"/>
                  <a:gd name="T9" fmla="*/ 65 h 71"/>
                  <a:gd name="T10" fmla="*/ 19 w 65"/>
                  <a:gd name="T11" fmla="*/ 58 h 71"/>
                  <a:gd name="T12" fmla="*/ 13 w 65"/>
                  <a:gd name="T13" fmla="*/ 52 h 71"/>
                  <a:gd name="T14" fmla="*/ 13 w 65"/>
                  <a:gd name="T15" fmla="*/ 52 h 71"/>
                  <a:gd name="T16" fmla="*/ 19 w 65"/>
                  <a:gd name="T17" fmla="*/ 39 h 71"/>
                  <a:gd name="T18" fmla="*/ 39 w 65"/>
                  <a:gd name="T19" fmla="*/ 26 h 71"/>
                  <a:gd name="T20" fmla="*/ 39 w 65"/>
                  <a:gd name="T21" fmla="*/ 52 h 71"/>
                  <a:gd name="T22" fmla="*/ 65 w 65"/>
                  <a:gd name="T23" fmla="*/ 58 h 71"/>
                  <a:gd name="T24" fmla="*/ 65 w 65"/>
                  <a:gd name="T25" fmla="*/ 65 h 71"/>
                  <a:gd name="T26" fmla="*/ 58 w 65"/>
                  <a:gd name="T27" fmla="*/ 65 h 71"/>
                  <a:gd name="T28" fmla="*/ 58 w 65"/>
                  <a:gd name="T29" fmla="*/ 58 h 71"/>
                  <a:gd name="T30" fmla="*/ 58 w 65"/>
                  <a:gd name="T31" fmla="*/ 52 h 71"/>
                  <a:gd name="T32" fmla="*/ 58 w 65"/>
                  <a:gd name="T33" fmla="*/ 19 h 71"/>
                  <a:gd name="T34" fmla="*/ 58 w 65"/>
                  <a:gd name="T35" fmla="*/ 7 h 71"/>
                  <a:gd name="T36" fmla="*/ 45 w 65"/>
                  <a:gd name="T37" fmla="*/ 0 h 71"/>
                  <a:gd name="T38" fmla="*/ 32 w 65"/>
                  <a:gd name="T39" fmla="*/ 0 h 71"/>
                  <a:gd name="T40" fmla="*/ 6 w 65"/>
                  <a:gd name="T41" fmla="*/ 7 h 71"/>
                  <a:gd name="T42" fmla="*/ 0 w 65"/>
                  <a:gd name="T43" fmla="*/ 13 h 71"/>
                  <a:gd name="T44" fmla="*/ 6 w 65"/>
                  <a:gd name="T45" fmla="*/ 19 h 71"/>
                  <a:gd name="T46" fmla="*/ 13 w 65"/>
                  <a:gd name="T47" fmla="*/ 19 h 71"/>
                  <a:gd name="T48" fmla="*/ 19 w 65"/>
                  <a:gd name="T49" fmla="*/ 19 h 71"/>
                  <a:gd name="T50" fmla="*/ 19 w 65"/>
                  <a:gd name="T51" fmla="*/ 13 h 71"/>
                  <a:gd name="T52" fmla="*/ 19 w 65"/>
                  <a:gd name="T53" fmla="*/ 13 h 71"/>
                  <a:gd name="T54" fmla="*/ 19 w 65"/>
                  <a:gd name="T55" fmla="*/ 7 h 71"/>
                  <a:gd name="T56" fmla="*/ 26 w 65"/>
                  <a:gd name="T57" fmla="*/ 7 h 71"/>
                  <a:gd name="T58" fmla="*/ 26 w 65"/>
                  <a:gd name="T59" fmla="*/ 0 h 71"/>
                  <a:gd name="T60" fmla="*/ 32 w 65"/>
                  <a:gd name="T61" fmla="*/ 0 h 71"/>
                  <a:gd name="T62" fmla="*/ 39 w 65"/>
                  <a:gd name="T63" fmla="*/ 13 h 71"/>
                  <a:gd name="T64" fmla="*/ 39 w 65"/>
                  <a:gd name="T65" fmla="*/ 26 h 71"/>
                  <a:gd name="T66" fmla="*/ 13 w 65"/>
                  <a:gd name="T67" fmla="*/ 39 h 71"/>
                  <a:gd name="T68" fmla="*/ 0 w 65"/>
                  <a:gd name="T69" fmla="*/ 52 h 71"/>
                  <a:gd name="T70" fmla="*/ 6 w 65"/>
                  <a:gd name="T71" fmla="*/ 65 h 71"/>
                  <a:gd name="T72" fmla="*/ 19 w 65"/>
                  <a:gd name="T73" fmla="*/ 71 h 71"/>
                  <a:gd name="T74" fmla="*/ 32 w 65"/>
                  <a:gd name="T75" fmla="*/ 65 h 71"/>
                  <a:gd name="T76" fmla="*/ 39 w 65"/>
                  <a:gd name="T77" fmla="*/ 58 h 71"/>
                  <a:gd name="T78" fmla="*/ 45 w 65"/>
                  <a:gd name="T79" fmla="*/ 71 h 71"/>
                  <a:gd name="T80" fmla="*/ 52 w 65"/>
                  <a:gd name="T81" fmla="*/ 71 h 71"/>
                  <a:gd name="T82" fmla="*/ 58 w 65"/>
                  <a:gd name="T83" fmla="*/ 71 h 71"/>
                  <a:gd name="T84" fmla="*/ 65 w 65"/>
                  <a:gd name="T85" fmla="*/ 65 h 71"/>
                  <a:gd name="T86" fmla="*/ 65 w 65"/>
                  <a:gd name="T87" fmla="*/ 58 h 7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
                  <a:gd name="T133" fmla="*/ 0 h 71"/>
                  <a:gd name="T134" fmla="*/ 65 w 65"/>
                  <a:gd name="T135" fmla="*/ 71 h 7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 h="71">
                    <a:moveTo>
                      <a:pt x="39" y="52"/>
                    </a:moveTo>
                    <a:lnTo>
                      <a:pt x="39" y="58"/>
                    </a:lnTo>
                    <a:lnTo>
                      <a:pt x="32" y="65"/>
                    </a:lnTo>
                    <a:lnTo>
                      <a:pt x="26" y="65"/>
                    </a:lnTo>
                    <a:lnTo>
                      <a:pt x="19" y="58"/>
                    </a:lnTo>
                    <a:lnTo>
                      <a:pt x="13" y="52"/>
                    </a:lnTo>
                    <a:lnTo>
                      <a:pt x="19" y="39"/>
                    </a:lnTo>
                    <a:lnTo>
                      <a:pt x="39" y="26"/>
                    </a:lnTo>
                    <a:lnTo>
                      <a:pt x="39" y="52"/>
                    </a:lnTo>
                    <a:close/>
                    <a:moveTo>
                      <a:pt x="65" y="58"/>
                    </a:moveTo>
                    <a:lnTo>
                      <a:pt x="65" y="65"/>
                    </a:lnTo>
                    <a:lnTo>
                      <a:pt x="58" y="65"/>
                    </a:lnTo>
                    <a:lnTo>
                      <a:pt x="58" y="58"/>
                    </a:lnTo>
                    <a:lnTo>
                      <a:pt x="58" y="52"/>
                    </a:lnTo>
                    <a:lnTo>
                      <a:pt x="58" y="19"/>
                    </a:lnTo>
                    <a:lnTo>
                      <a:pt x="58" y="7"/>
                    </a:lnTo>
                    <a:lnTo>
                      <a:pt x="45" y="0"/>
                    </a:lnTo>
                    <a:lnTo>
                      <a:pt x="32" y="0"/>
                    </a:lnTo>
                    <a:lnTo>
                      <a:pt x="6" y="7"/>
                    </a:lnTo>
                    <a:lnTo>
                      <a:pt x="0" y="13"/>
                    </a:lnTo>
                    <a:lnTo>
                      <a:pt x="6" y="19"/>
                    </a:lnTo>
                    <a:lnTo>
                      <a:pt x="13" y="19"/>
                    </a:lnTo>
                    <a:lnTo>
                      <a:pt x="19" y="19"/>
                    </a:lnTo>
                    <a:lnTo>
                      <a:pt x="19" y="13"/>
                    </a:lnTo>
                    <a:lnTo>
                      <a:pt x="19" y="7"/>
                    </a:lnTo>
                    <a:lnTo>
                      <a:pt x="26" y="7"/>
                    </a:lnTo>
                    <a:lnTo>
                      <a:pt x="26" y="0"/>
                    </a:lnTo>
                    <a:lnTo>
                      <a:pt x="32" y="0"/>
                    </a:lnTo>
                    <a:lnTo>
                      <a:pt x="39" y="13"/>
                    </a:lnTo>
                    <a:lnTo>
                      <a:pt x="39" y="26"/>
                    </a:lnTo>
                    <a:lnTo>
                      <a:pt x="13" y="39"/>
                    </a:lnTo>
                    <a:lnTo>
                      <a:pt x="0" y="52"/>
                    </a:lnTo>
                    <a:lnTo>
                      <a:pt x="6" y="65"/>
                    </a:lnTo>
                    <a:lnTo>
                      <a:pt x="19" y="71"/>
                    </a:lnTo>
                    <a:lnTo>
                      <a:pt x="32" y="65"/>
                    </a:lnTo>
                    <a:lnTo>
                      <a:pt x="39" y="58"/>
                    </a:lnTo>
                    <a:lnTo>
                      <a:pt x="45" y="71"/>
                    </a:lnTo>
                    <a:lnTo>
                      <a:pt x="52" y="71"/>
                    </a:lnTo>
                    <a:lnTo>
                      <a:pt x="58" y="71"/>
                    </a:lnTo>
                    <a:lnTo>
                      <a:pt x="65" y="65"/>
                    </a:lnTo>
                    <a:lnTo>
                      <a:pt x="65" y="5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0" name="Freeform 86"/>
              <p:cNvSpPr/>
              <p:nvPr/>
            </p:nvSpPr>
            <p:spPr bwMode="auto">
              <a:xfrm>
                <a:off x="2711" y="2003"/>
                <a:ext cx="46" cy="136"/>
              </a:xfrm>
              <a:custGeom>
                <a:avLst/>
                <a:gdLst>
                  <a:gd name="T0" fmla="*/ 0 w 46"/>
                  <a:gd name="T1" fmla="*/ 136 h 136"/>
                  <a:gd name="T2" fmla="*/ 20 w 46"/>
                  <a:gd name="T3" fmla="*/ 123 h 136"/>
                  <a:gd name="T4" fmla="*/ 33 w 46"/>
                  <a:gd name="T5" fmla="*/ 110 h 136"/>
                  <a:gd name="T6" fmla="*/ 46 w 46"/>
                  <a:gd name="T7" fmla="*/ 71 h 136"/>
                  <a:gd name="T8" fmla="*/ 39 w 46"/>
                  <a:gd name="T9" fmla="*/ 46 h 136"/>
                  <a:gd name="T10" fmla="*/ 33 w 46"/>
                  <a:gd name="T11" fmla="*/ 26 h 136"/>
                  <a:gd name="T12" fmla="*/ 20 w 46"/>
                  <a:gd name="T13" fmla="*/ 13 h 136"/>
                  <a:gd name="T14" fmla="*/ 7 w 46"/>
                  <a:gd name="T15" fmla="*/ 0 h 136"/>
                  <a:gd name="T16" fmla="*/ 0 w 46"/>
                  <a:gd name="T17" fmla="*/ 7 h 136"/>
                  <a:gd name="T18" fmla="*/ 20 w 46"/>
                  <a:gd name="T19" fmla="*/ 20 h 136"/>
                  <a:gd name="T20" fmla="*/ 26 w 46"/>
                  <a:gd name="T21" fmla="*/ 39 h 136"/>
                  <a:gd name="T22" fmla="*/ 33 w 46"/>
                  <a:gd name="T23" fmla="*/ 58 h 136"/>
                  <a:gd name="T24" fmla="*/ 33 w 46"/>
                  <a:gd name="T25" fmla="*/ 71 h 136"/>
                  <a:gd name="T26" fmla="*/ 33 w 46"/>
                  <a:gd name="T27" fmla="*/ 97 h 136"/>
                  <a:gd name="T28" fmla="*/ 20 w 46"/>
                  <a:gd name="T29" fmla="*/ 117 h 136"/>
                  <a:gd name="T30" fmla="*/ 0 w 46"/>
                  <a:gd name="T31" fmla="*/ 136 h 136"/>
                  <a:gd name="T32" fmla="*/ 0 w 46"/>
                  <a:gd name="T33" fmla="*/ 136 h 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136"/>
                  <a:gd name="T53" fmla="*/ 46 w 46"/>
                  <a:gd name="T54" fmla="*/ 136 h 1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136">
                    <a:moveTo>
                      <a:pt x="0" y="136"/>
                    </a:moveTo>
                    <a:lnTo>
                      <a:pt x="20" y="123"/>
                    </a:lnTo>
                    <a:lnTo>
                      <a:pt x="33" y="110"/>
                    </a:lnTo>
                    <a:lnTo>
                      <a:pt x="46" y="71"/>
                    </a:lnTo>
                    <a:lnTo>
                      <a:pt x="39" y="46"/>
                    </a:lnTo>
                    <a:lnTo>
                      <a:pt x="33" y="26"/>
                    </a:lnTo>
                    <a:lnTo>
                      <a:pt x="20" y="13"/>
                    </a:lnTo>
                    <a:lnTo>
                      <a:pt x="7" y="0"/>
                    </a:lnTo>
                    <a:lnTo>
                      <a:pt x="0" y="7"/>
                    </a:lnTo>
                    <a:lnTo>
                      <a:pt x="20" y="20"/>
                    </a:lnTo>
                    <a:lnTo>
                      <a:pt x="26" y="39"/>
                    </a:lnTo>
                    <a:lnTo>
                      <a:pt x="33" y="58"/>
                    </a:lnTo>
                    <a:lnTo>
                      <a:pt x="33" y="71"/>
                    </a:lnTo>
                    <a:lnTo>
                      <a:pt x="33" y="97"/>
                    </a:lnTo>
                    <a:lnTo>
                      <a:pt x="20" y="117"/>
                    </a:lnTo>
                    <a:lnTo>
                      <a:pt x="0" y="13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1" name="Freeform 87"/>
              <p:cNvSpPr>
                <a:spLocks noEditPoints="1"/>
              </p:cNvSpPr>
              <p:nvPr/>
            </p:nvSpPr>
            <p:spPr bwMode="auto">
              <a:xfrm>
                <a:off x="2238" y="1563"/>
                <a:ext cx="97" cy="104"/>
              </a:xfrm>
              <a:custGeom>
                <a:avLst/>
                <a:gdLst>
                  <a:gd name="T0" fmla="*/ 97 w 97"/>
                  <a:gd name="T1" fmla="*/ 104 h 104"/>
                  <a:gd name="T2" fmla="*/ 84 w 97"/>
                  <a:gd name="T3" fmla="*/ 97 h 104"/>
                  <a:gd name="T4" fmla="*/ 84 w 97"/>
                  <a:gd name="T5" fmla="*/ 91 h 104"/>
                  <a:gd name="T6" fmla="*/ 65 w 97"/>
                  <a:gd name="T7" fmla="*/ 52 h 104"/>
                  <a:gd name="T8" fmla="*/ 84 w 97"/>
                  <a:gd name="T9" fmla="*/ 46 h 104"/>
                  <a:gd name="T10" fmla="*/ 91 w 97"/>
                  <a:gd name="T11" fmla="*/ 39 h 104"/>
                  <a:gd name="T12" fmla="*/ 97 w 97"/>
                  <a:gd name="T13" fmla="*/ 26 h 104"/>
                  <a:gd name="T14" fmla="*/ 91 w 97"/>
                  <a:gd name="T15" fmla="*/ 13 h 104"/>
                  <a:gd name="T16" fmla="*/ 84 w 97"/>
                  <a:gd name="T17" fmla="*/ 7 h 104"/>
                  <a:gd name="T18" fmla="*/ 71 w 97"/>
                  <a:gd name="T19" fmla="*/ 0 h 104"/>
                  <a:gd name="T20" fmla="*/ 65 w 97"/>
                  <a:gd name="T21" fmla="*/ 0 h 104"/>
                  <a:gd name="T22" fmla="*/ 26 w 97"/>
                  <a:gd name="T23" fmla="*/ 0 h 104"/>
                  <a:gd name="T24" fmla="*/ 26 w 97"/>
                  <a:gd name="T25" fmla="*/ 7 h 104"/>
                  <a:gd name="T26" fmla="*/ 33 w 97"/>
                  <a:gd name="T27" fmla="*/ 7 h 104"/>
                  <a:gd name="T28" fmla="*/ 33 w 97"/>
                  <a:gd name="T29" fmla="*/ 13 h 104"/>
                  <a:gd name="T30" fmla="*/ 33 w 97"/>
                  <a:gd name="T31" fmla="*/ 20 h 104"/>
                  <a:gd name="T32" fmla="*/ 33 w 97"/>
                  <a:gd name="T33" fmla="*/ 20 h 104"/>
                  <a:gd name="T34" fmla="*/ 13 w 97"/>
                  <a:gd name="T35" fmla="*/ 91 h 104"/>
                  <a:gd name="T36" fmla="*/ 7 w 97"/>
                  <a:gd name="T37" fmla="*/ 104 h 104"/>
                  <a:gd name="T38" fmla="*/ 0 w 97"/>
                  <a:gd name="T39" fmla="*/ 104 h 104"/>
                  <a:gd name="T40" fmla="*/ 0 w 97"/>
                  <a:gd name="T41" fmla="*/ 104 h 104"/>
                  <a:gd name="T42" fmla="*/ 39 w 97"/>
                  <a:gd name="T43" fmla="*/ 104 h 104"/>
                  <a:gd name="T44" fmla="*/ 39 w 97"/>
                  <a:gd name="T45" fmla="*/ 104 h 104"/>
                  <a:gd name="T46" fmla="*/ 33 w 97"/>
                  <a:gd name="T47" fmla="*/ 104 h 104"/>
                  <a:gd name="T48" fmla="*/ 26 w 97"/>
                  <a:gd name="T49" fmla="*/ 97 h 104"/>
                  <a:gd name="T50" fmla="*/ 26 w 97"/>
                  <a:gd name="T51" fmla="*/ 91 h 104"/>
                  <a:gd name="T52" fmla="*/ 33 w 97"/>
                  <a:gd name="T53" fmla="*/ 84 h 104"/>
                  <a:gd name="T54" fmla="*/ 39 w 97"/>
                  <a:gd name="T55" fmla="*/ 52 h 104"/>
                  <a:gd name="T56" fmla="*/ 52 w 97"/>
                  <a:gd name="T57" fmla="*/ 52 h 104"/>
                  <a:gd name="T58" fmla="*/ 71 w 97"/>
                  <a:gd name="T59" fmla="*/ 104 h 104"/>
                  <a:gd name="T60" fmla="*/ 97 w 97"/>
                  <a:gd name="T61" fmla="*/ 104 h 104"/>
                  <a:gd name="T62" fmla="*/ 97 w 97"/>
                  <a:gd name="T63" fmla="*/ 104 h 104"/>
                  <a:gd name="T64" fmla="*/ 52 w 97"/>
                  <a:gd name="T65" fmla="*/ 13 h 104"/>
                  <a:gd name="T66" fmla="*/ 52 w 97"/>
                  <a:gd name="T67" fmla="*/ 7 h 104"/>
                  <a:gd name="T68" fmla="*/ 65 w 97"/>
                  <a:gd name="T69" fmla="*/ 7 h 104"/>
                  <a:gd name="T70" fmla="*/ 78 w 97"/>
                  <a:gd name="T71" fmla="*/ 13 h 104"/>
                  <a:gd name="T72" fmla="*/ 84 w 97"/>
                  <a:gd name="T73" fmla="*/ 26 h 104"/>
                  <a:gd name="T74" fmla="*/ 78 w 97"/>
                  <a:gd name="T75" fmla="*/ 39 h 104"/>
                  <a:gd name="T76" fmla="*/ 71 w 97"/>
                  <a:gd name="T77" fmla="*/ 46 h 104"/>
                  <a:gd name="T78" fmla="*/ 52 w 97"/>
                  <a:gd name="T79" fmla="*/ 46 h 104"/>
                  <a:gd name="T80" fmla="*/ 46 w 97"/>
                  <a:gd name="T81" fmla="*/ 46 h 104"/>
                  <a:gd name="T82" fmla="*/ 39 w 97"/>
                  <a:gd name="T83" fmla="*/ 46 h 104"/>
                  <a:gd name="T84" fmla="*/ 52 w 97"/>
                  <a:gd name="T85" fmla="*/ 13 h 1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7"/>
                  <a:gd name="T130" fmla="*/ 0 h 104"/>
                  <a:gd name="T131" fmla="*/ 97 w 97"/>
                  <a:gd name="T132" fmla="*/ 104 h 10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7" h="104">
                    <a:moveTo>
                      <a:pt x="97" y="104"/>
                    </a:moveTo>
                    <a:lnTo>
                      <a:pt x="84" y="97"/>
                    </a:lnTo>
                    <a:lnTo>
                      <a:pt x="84" y="91"/>
                    </a:lnTo>
                    <a:lnTo>
                      <a:pt x="65" y="52"/>
                    </a:lnTo>
                    <a:lnTo>
                      <a:pt x="84" y="46"/>
                    </a:lnTo>
                    <a:lnTo>
                      <a:pt x="91" y="39"/>
                    </a:lnTo>
                    <a:lnTo>
                      <a:pt x="97" y="26"/>
                    </a:lnTo>
                    <a:lnTo>
                      <a:pt x="91" y="13"/>
                    </a:lnTo>
                    <a:lnTo>
                      <a:pt x="84" y="7"/>
                    </a:lnTo>
                    <a:lnTo>
                      <a:pt x="71" y="0"/>
                    </a:lnTo>
                    <a:lnTo>
                      <a:pt x="65" y="0"/>
                    </a:lnTo>
                    <a:lnTo>
                      <a:pt x="26" y="0"/>
                    </a:lnTo>
                    <a:lnTo>
                      <a:pt x="26" y="7"/>
                    </a:lnTo>
                    <a:lnTo>
                      <a:pt x="33" y="7"/>
                    </a:lnTo>
                    <a:lnTo>
                      <a:pt x="33" y="13"/>
                    </a:lnTo>
                    <a:lnTo>
                      <a:pt x="33" y="20"/>
                    </a:lnTo>
                    <a:lnTo>
                      <a:pt x="13" y="91"/>
                    </a:lnTo>
                    <a:lnTo>
                      <a:pt x="7" y="104"/>
                    </a:lnTo>
                    <a:lnTo>
                      <a:pt x="0" y="104"/>
                    </a:lnTo>
                    <a:lnTo>
                      <a:pt x="39" y="104"/>
                    </a:lnTo>
                    <a:lnTo>
                      <a:pt x="33" y="104"/>
                    </a:lnTo>
                    <a:lnTo>
                      <a:pt x="26" y="97"/>
                    </a:lnTo>
                    <a:lnTo>
                      <a:pt x="26" y="91"/>
                    </a:lnTo>
                    <a:lnTo>
                      <a:pt x="33" y="84"/>
                    </a:lnTo>
                    <a:lnTo>
                      <a:pt x="39" y="52"/>
                    </a:lnTo>
                    <a:lnTo>
                      <a:pt x="52" y="52"/>
                    </a:lnTo>
                    <a:lnTo>
                      <a:pt x="71" y="104"/>
                    </a:lnTo>
                    <a:lnTo>
                      <a:pt x="97" y="104"/>
                    </a:lnTo>
                    <a:close/>
                    <a:moveTo>
                      <a:pt x="52" y="13"/>
                    </a:moveTo>
                    <a:lnTo>
                      <a:pt x="52" y="7"/>
                    </a:lnTo>
                    <a:lnTo>
                      <a:pt x="65" y="7"/>
                    </a:lnTo>
                    <a:lnTo>
                      <a:pt x="78" y="13"/>
                    </a:lnTo>
                    <a:lnTo>
                      <a:pt x="84" y="26"/>
                    </a:lnTo>
                    <a:lnTo>
                      <a:pt x="78" y="39"/>
                    </a:lnTo>
                    <a:lnTo>
                      <a:pt x="71" y="46"/>
                    </a:lnTo>
                    <a:lnTo>
                      <a:pt x="52" y="46"/>
                    </a:lnTo>
                    <a:lnTo>
                      <a:pt x="46" y="46"/>
                    </a:lnTo>
                    <a:lnTo>
                      <a:pt x="39" y="46"/>
                    </a:lnTo>
                    <a:lnTo>
                      <a:pt x="5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2" name="Freeform 88"/>
              <p:cNvSpPr/>
              <p:nvPr/>
            </p:nvSpPr>
            <p:spPr bwMode="auto">
              <a:xfrm>
                <a:off x="2342" y="1628"/>
                <a:ext cx="71" cy="78"/>
              </a:xfrm>
              <a:custGeom>
                <a:avLst/>
                <a:gdLst>
                  <a:gd name="T0" fmla="*/ 58 w 71"/>
                  <a:gd name="T1" fmla="*/ 78 h 78"/>
                  <a:gd name="T2" fmla="*/ 45 w 71"/>
                  <a:gd name="T3" fmla="*/ 78 h 78"/>
                  <a:gd name="T4" fmla="*/ 45 w 71"/>
                  <a:gd name="T5" fmla="*/ 65 h 78"/>
                  <a:gd name="T6" fmla="*/ 45 w 71"/>
                  <a:gd name="T7" fmla="*/ 6 h 78"/>
                  <a:gd name="T8" fmla="*/ 52 w 71"/>
                  <a:gd name="T9" fmla="*/ 6 h 78"/>
                  <a:gd name="T10" fmla="*/ 65 w 71"/>
                  <a:gd name="T11" fmla="*/ 6 h 78"/>
                  <a:gd name="T12" fmla="*/ 71 w 71"/>
                  <a:gd name="T13" fmla="*/ 19 h 78"/>
                  <a:gd name="T14" fmla="*/ 71 w 71"/>
                  <a:gd name="T15" fmla="*/ 19 h 78"/>
                  <a:gd name="T16" fmla="*/ 71 w 71"/>
                  <a:gd name="T17" fmla="*/ 0 h 78"/>
                  <a:gd name="T18" fmla="*/ 0 w 71"/>
                  <a:gd name="T19" fmla="*/ 0 h 78"/>
                  <a:gd name="T20" fmla="*/ 0 w 71"/>
                  <a:gd name="T21" fmla="*/ 19 h 78"/>
                  <a:gd name="T22" fmla="*/ 6 w 71"/>
                  <a:gd name="T23" fmla="*/ 19 h 78"/>
                  <a:gd name="T24" fmla="*/ 13 w 71"/>
                  <a:gd name="T25" fmla="*/ 6 h 78"/>
                  <a:gd name="T26" fmla="*/ 26 w 71"/>
                  <a:gd name="T27" fmla="*/ 6 h 78"/>
                  <a:gd name="T28" fmla="*/ 32 w 71"/>
                  <a:gd name="T29" fmla="*/ 6 h 78"/>
                  <a:gd name="T30" fmla="*/ 32 w 71"/>
                  <a:gd name="T31" fmla="*/ 65 h 78"/>
                  <a:gd name="T32" fmla="*/ 32 w 71"/>
                  <a:gd name="T33" fmla="*/ 71 h 78"/>
                  <a:gd name="T34" fmla="*/ 19 w 71"/>
                  <a:gd name="T35" fmla="*/ 78 h 78"/>
                  <a:gd name="T36" fmla="*/ 19 w 71"/>
                  <a:gd name="T37" fmla="*/ 78 h 78"/>
                  <a:gd name="T38" fmla="*/ 58 w 71"/>
                  <a:gd name="T39" fmla="*/ 78 h 78"/>
                  <a:gd name="T40" fmla="*/ 58 w 71"/>
                  <a:gd name="T41" fmla="*/ 78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78"/>
                  <a:gd name="T65" fmla="*/ 71 w 71"/>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78">
                    <a:moveTo>
                      <a:pt x="58" y="78"/>
                    </a:moveTo>
                    <a:lnTo>
                      <a:pt x="45" y="78"/>
                    </a:lnTo>
                    <a:lnTo>
                      <a:pt x="45" y="65"/>
                    </a:lnTo>
                    <a:lnTo>
                      <a:pt x="45" y="6"/>
                    </a:lnTo>
                    <a:lnTo>
                      <a:pt x="52" y="6"/>
                    </a:lnTo>
                    <a:lnTo>
                      <a:pt x="65" y="6"/>
                    </a:lnTo>
                    <a:lnTo>
                      <a:pt x="71" y="19"/>
                    </a:lnTo>
                    <a:lnTo>
                      <a:pt x="71" y="0"/>
                    </a:lnTo>
                    <a:lnTo>
                      <a:pt x="0" y="0"/>
                    </a:lnTo>
                    <a:lnTo>
                      <a:pt x="0" y="19"/>
                    </a:lnTo>
                    <a:lnTo>
                      <a:pt x="6" y="19"/>
                    </a:lnTo>
                    <a:lnTo>
                      <a:pt x="13" y="6"/>
                    </a:lnTo>
                    <a:lnTo>
                      <a:pt x="26" y="6"/>
                    </a:lnTo>
                    <a:lnTo>
                      <a:pt x="32" y="6"/>
                    </a:lnTo>
                    <a:lnTo>
                      <a:pt x="32" y="65"/>
                    </a:lnTo>
                    <a:lnTo>
                      <a:pt x="32" y="71"/>
                    </a:lnTo>
                    <a:lnTo>
                      <a:pt x="19" y="78"/>
                    </a:lnTo>
                    <a:lnTo>
                      <a:pt x="58" y="7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3" name="Freeform 89"/>
              <p:cNvSpPr/>
              <p:nvPr/>
            </p:nvSpPr>
            <p:spPr bwMode="auto">
              <a:xfrm>
                <a:off x="2420" y="1628"/>
                <a:ext cx="58" cy="78"/>
              </a:xfrm>
              <a:custGeom>
                <a:avLst/>
                <a:gdLst>
                  <a:gd name="T0" fmla="*/ 58 w 58"/>
                  <a:gd name="T1" fmla="*/ 78 h 78"/>
                  <a:gd name="T2" fmla="*/ 51 w 58"/>
                  <a:gd name="T3" fmla="*/ 78 h 78"/>
                  <a:gd name="T4" fmla="*/ 51 w 58"/>
                  <a:gd name="T5" fmla="*/ 65 h 78"/>
                  <a:gd name="T6" fmla="*/ 51 w 58"/>
                  <a:gd name="T7" fmla="*/ 45 h 78"/>
                  <a:gd name="T8" fmla="*/ 51 w 58"/>
                  <a:gd name="T9" fmla="*/ 32 h 78"/>
                  <a:gd name="T10" fmla="*/ 39 w 58"/>
                  <a:gd name="T11" fmla="*/ 26 h 78"/>
                  <a:gd name="T12" fmla="*/ 32 w 58"/>
                  <a:gd name="T13" fmla="*/ 26 h 78"/>
                  <a:gd name="T14" fmla="*/ 19 w 58"/>
                  <a:gd name="T15" fmla="*/ 32 h 78"/>
                  <a:gd name="T16" fmla="*/ 19 w 58"/>
                  <a:gd name="T17" fmla="*/ 32 h 78"/>
                  <a:gd name="T18" fmla="*/ 19 w 58"/>
                  <a:gd name="T19" fmla="*/ 0 h 78"/>
                  <a:gd name="T20" fmla="*/ 19 w 58"/>
                  <a:gd name="T21" fmla="*/ 0 h 78"/>
                  <a:gd name="T22" fmla="*/ 13 w 58"/>
                  <a:gd name="T23" fmla="*/ 0 h 78"/>
                  <a:gd name="T24" fmla="*/ 0 w 58"/>
                  <a:gd name="T25" fmla="*/ 6 h 78"/>
                  <a:gd name="T26" fmla="*/ 0 w 58"/>
                  <a:gd name="T27" fmla="*/ 6 h 78"/>
                  <a:gd name="T28" fmla="*/ 0 w 58"/>
                  <a:gd name="T29" fmla="*/ 6 h 78"/>
                  <a:gd name="T30" fmla="*/ 6 w 58"/>
                  <a:gd name="T31" fmla="*/ 6 h 78"/>
                  <a:gd name="T32" fmla="*/ 6 w 58"/>
                  <a:gd name="T33" fmla="*/ 13 h 78"/>
                  <a:gd name="T34" fmla="*/ 6 w 58"/>
                  <a:gd name="T35" fmla="*/ 65 h 78"/>
                  <a:gd name="T36" fmla="*/ 6 w 58"/>
                  <a:gd name="T37" fmla="*/ 78 h 78"/>
                  <a:gd name="T38" fmla="*/ 0 w 58"/>
                  <a:gd name="T39" fmla="*/ 78 h 78"/>
                  <a:gd name="T40" fmla="*/ 0 w 58"/>
                  <a:gd name="T41" fmla="*/ 78 h 78"/>
                  <a:gd name="T42" fmla="*/ 26 w 58"/>
                  <a:gd name="T43" fmla="*/ 78 h 78"/>
                  <a:gd name="T44" fmla="*/ 26 w 58"/>
                  <a:gd name="T45" fmla="*/ 78 h 78"/>
                  <a:gd name="T46" fmla="*/ 19 w 58"/>
                  <a:gd name="T47" fmla="*/ 78 h 78"/>
                  <a:gd name="T48" fmla="*/ 19 w 58"/>
                  <a:gd name="T49" fmla="*/ 65 h 78"/>
                  <a:gd name="T50" fmla="*/ 19 w 58"/>
                  <a:gd name="T51" fmla="*/ 39 h 78"/>
                  <a:gd name="T52" fmla="*/ 26 w 58"/>
                  <a:gd name="T53" fmla="*/ 32 h 78"/>
                  <a:gd name="T54" fmla="*/ 32 w 58"/>
                  <a:gd name="T55" fmla="*/ 32 h 78"/>
                  <a:gd name="T56" fmla="*/ 39 w 58"/>
                  <a:gd name="T57" fmla="*/ 39 h 78"/>
                  <a:gd name="T58" fmla="*/ 39 w 58"/>
                  <a:gd name="T59" fmla="*/ 45 h 78"/>
                  <a:gd name="T60" fmla="*/ 39 w 58"/>
                  <a:gd name="T61" fmla="*/ 65 h 78"/>
                  <a:gd name="T62" fmla="*/ 39 w 58"/>
                  <a:gd name="T63" fmla="*/ 78 h 78"/>
                  <a:gd name="T64" fmla="*/ 32 w 58"/>
                  <a:gd name="T65" fmla="*/ 78 h 78"/>
                  <a:gd name="T66" fmla="*/ 32 w 58"/>
                  <a:gd name="T67" fmla="*/ 78 h 78"/>
                  <a:gd name="T68" fmla="*/ 58 w 58"/>
                  <a:gd name="T69" fmla="*/ 78 h 78"/>
                  <a:gd name="T70" fmla="*/ 58 w 58"/>
                  <a:gd name="T71" fmla="*/ 78 h 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8"/>
                  <a:gd name="T109" fmla="*/ 0 h 78"/>
                  <a:gd name="T110" fmla="*/ 58 w 58"/>
                  <a:gd name="T111" fmla="*/ 78 h 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8" h="78">
                    <a:moveTo>
                      <a:pt x="58" y="78"/>
                    </a:moveTo>
                    <a:lnTo>
                      <a:pt x="51" y="78"/>
                    </a:lnTo>
                    <a:lnTo>
                      <a:pt x="51" y="65"/>
                    </a:lnTo>
                    <a:lnTo>
                      <a:pt x="51" y="45"/>
                    </a:lnTo>
                    <a:lnTo>
                      <a:pt x="51" y="32"/>
                    </a:lnTo>
                    <a:lnTo>
                      <a:pt x="39" y="26"/>
                    </a:lnTo>
                    <a:lnTo>
                      <a:pt x="32" y="26"/>
                    </a:lnTo>
                    <a:lnTo>
                      <a:pt x="19" y="32"/>
                    </a:lnTo>
                    <a:lnTo>
                      <a:pt x="19" y="0"/>
                    </a:lnTo>
                    <a:lnTo>
                      <a:pt x="13" y="0"/>
                    </a:lnTo>
                    <a:lnTo>
                      <a:pt x="0" y="6"/>
                    </a:lnTo>
                    <a:lnTo>
                      <a:pt x="6" y="6"/>
                    </a:lnTo>
                    <a:lnTo>
                      <a:pt x="6" y="13"/>
                    </a:lnTo>
                    <a:lnTo>
                      <a:pt x="6" y="65"/>
                    </a:lnTo>
                    <a:lnTo>
                      <a:pt x="6" y="78"/>
                    </a:lnTo>
                    <a:lnTo>
                      <a:pt x="0" y="78"/>
                    </a:lnTo>
                    <a:lnTo>
                      <a:pt x="26" y="78"/>
                    </a:lnTo>
                    <a:lnTo>
                      <a:pt x="19" y="78"/>
                    </a:lnTo>
                    <a:lnTo>
                      <a:pt x="19" y="65"/>
                    </a:lnTo>
                    <a:lnTo>
                      <a:pt x="19" y="39"/>
                    </a:lnTo>
                    <a:lnTo>
                      <a:pt x="26" y="32"/>
                    </a:lnTo>
                    <a:lnTo>
                      <a:pt x="32" y="32"/>
                    </a:lnTo>
                    <a:lnTo>
                      <a:pt x="39" y="39"/>
                    </a:lnTo>
                    <a:lnTo>
                      <a:pt x="39" y="45"/>
                    </a:lnTo>
                    <a:lnTo>
                      <a:pt x="39" y="65"/>
                    </a:lnTo>
                    <a:lnTo>
                      <a:pt x="39" y="78"/>
                    </a:lnTo>
                    <a:lnTo>
                      <a:pt x="32" y="78"/>
                    </a:lnTo>
                    <a:lnTo>
                      <a:pt x="58" y="7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4" name="Freeform 90"/>
              <p:cNvSpPr>
                <a:spLocks noEditPoints="1"/>
              </p:cNvSpPr>
              <p:nvPr/>
            </p:nvSpPr>
            <p:spPr bwMode="auto">
              <a:xfrm>
                <a:off x="2536" y="1609"/>
                <a:ext cx="91" cy="38"/>
              </a:xfrm>
              <a:custGeom>
                <a:avLst/>
                <a:gdLst>
                  <a:gd name="T0" fmla="*/ 91 w 91"/>
                  <a:gd name="T1" fmla="*/ 0 h 38"/>
                  <a:gd name="T2" fmla="*/ 0 w 91"/>
                  <a:gd name="T3" fmla="*/ 0 h 38"/>
                  <a:gd name="T4" fmla="*/ 0 w 91"/>
                  <a:gd name="T5" fmla="*/ 6 h 38"/>
                  <a:gd name="T6" fmla="*/ 91 w 91"/>
                  <a:gd name="T7" fmla="*/ 6 h 38"/>
                  <a:gd name="T8" fmla="*/ 91 w 91"/>
                  <a:gd name="T9" fmla="*/ 0 h 38"/>
                  <a:gd name="T10" fmla="*/ 91 w 91"/>
                  <a:gd name="T11" fmla="*/ 25 h 38"/>
                  <a:gd name="T12" fmla="*/ 0 w 91"/>
                  <a:gd name="T13" fmla="*/ 25 h 38"/>
                  <a:gd name="T14" fmla="*/ 0 w 91"/>
                  <a:gd name="T15" fmla="*/ 38 h 38"/>
                  <a:gd name="T16" fmla="*/ 91 w 91"/>
                  <a:gd name="T17" fmla="*/ 38 h 38"/>
                  <a:gd name="T18" fmla="*/ 91 w 91"/>
                  <a:gd name="T19" fmla="*/ 25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1"/>
                  <a:gd name="T31" fmla="*/ 0 h 38"/>
                  <a:gd name="T32" fmla="*/ 91 w 91"/>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1" h="38">
                    <a:moveTo>
                      <a:pt x="91" y="0"/>
                    </a:moveTo>
                    <a:lnTo>
                      <a:pt x="0" y="0"/>
                    </a:lnTo>
                    <a:lnTo>
                      <a:pt x="0" y="6"/>
                    </a:lnTo>
                    <a:lnTo>
                      <a:pt x="91" y="6"/>
                    </a:lnTo>
                    <a:lnTo>
                      <a:pt x="91" y="0"/>
                    </a:lnTo>
                    <a:close/>
                    <a:moveTo>
                      <a:pt x="91" y="25"/>
                    </a:moveTo>
                    <a:lnTo>
                      <a:pt x="0" y="25"/>
                    </a:lnTo>
                    <a:lnTo>
                      <a:pt x="0" y="38"/>
                    </a:lnTo>
                    <a:lnTo>
                      <a:pt x="91" y="38"/>
                    </a:lnTo>
                    <a:lnTo>
                      <a:pt x="91" y="2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5" name="Freeform 91"/>
              <p:cNvSpPr/>
              <p:nvPr/>
            </p:nvSpPr>
            <p:spPr bwMode="auto">
              <a:xfrm>
                <a:off x="3774" y="716"/>
                <a:ext cx="279" cy="265"/>
              </a:xfrm>
              <a:custGeom>
                <a:avLst/>
                <a:gdLst>
                  <a:gd name="T0" fmla="*/ 143 w 279"/>
                  <a:gd name="T1" fmla="*/ 265 h 265"/>
                  <a:gd name="T2" fmla="*/ 194 w 279"/>
                  <a:gd name="T3" fmla="*/ 252 h 265"/>
                  <a:gd name="T4" fmla="*/ 240 w 279"/>
                  <a:gd name="T5" fmla="*/ 226 h 265"/>
                  <a:gd name="T6" fmla="*/ 266 w 279"/>
                  <a:gd name="T7" fmla="*/ 187 h 265"/>
                  <a:gd name="T8" fmla="*/ 279 w 279"/>
                  <a:gd name="T9" fmla="*/ 136 h 265"/>
                  <a:gd name="T10" fmla="*/ 266 w 279"/>
                  <a:gd name="T11" fmla="*/ 84 h 265"/>
                  <a:gd name="T12" fmla="*/ 240 w 279"/>
                  <a:gd name="T13" fmla="*/ 39 h 265"/>
                  <a:gd name="T14" fmla="*/ 194 w 279"/>
                  <a:gd name="T15" fmla="*/ 13 h 265"/>
                  <a:gd name="T16" fmla="*/ 143 w 279"/>
                  <a:gd name="T17" fmla="*/ 0 h 265"/>
                  <a:gd name="T18" fmla="*/ 91 w 279"/>
                  <a:gd name="T19" fmla="*/ 13 h 265"/>
                  <a:gd name="T20" fmla="*/ 45 w 279"/>
                  <a:gd name="T21" fmla="*/ 39 h 265"/>
                  <a:gd name="T22" fmla="*/ 13 w 279"/>
                  <a:gd name="T23" fmla="*/ 84 h 265"/>
                  <a:gd name="T24" fmla="*/ 0 w 279"/>
                  <a:gd name="T25" fmla="*/ 136 h 265"/>
                  <a:gd name="T26" fmla="*/ 13 w 279"/>
                  <a:gd name="T27" fmla="*/ 187 h 265"/>
                  <a:gd name="T28" fmla="*/ 45 w 279"/>
                  <a:gd name="T29" fmla="*/ 226 h 265"/>
                  <a:gd name="T30" fmla="*/ 91 w 279"/>
                  <a:gd name="T31" fmla="*/ 252 h 265"/>
                  <a:gd name="T32" fmla="*/ 143 w 279"/>
                  <a:gd name="T33" fmla="*/ 265 h 265"/>
                  <a:gd name="T34" fmla="*/ 143 w 279"/>
                  <a:gd name="T35" fmla="*/ 265 h 2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9"/>
                  <a:gd name="T55" fmla="*/ 0 h 265"/>
                  <a:gd name="T56" fmla="*/ 279 w 279"/>
                  <a:gd name="T57" fmla="*/ 265 h 2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9" h="265">
                    <a:moveTo>
                      <a:pt x="143" y="265"/>
                    </a:moveTo>
                    <a:lnTo>
                      <a:pt x="194" y="252"/>
                    </a:lnTo>
                    <a:lnTo>
                      <a:pt x="240" y="226"/>
                    </a:lnTo>
                    <a:lnTo>
                      <a:pt x="266" y="187"/>
                    </a:lnTo>
                    <a:lnTo>
                      <a:pt x="279" y="136"/>
                    </a:lnTo>
                    <a:lnTo>
                      <a:pt x="266" y="84"/>
                    </a:lnTo>
                    <a:lnTo>
                      <a:pt x="240" y="39"/>
                    </a:lnTo>
                    <a:lnTo>
                      <a:pt x="194" y="13"/>
                    </a:lnTo>
                    <a:lnTo>
                      <a:pt x="143" y="0"/>
                    </a:lnTo>
                    <a:lnTo>
                      <a:pt x="91" y="13"/>
                    </a:lnTo>
                    <a:lnTo>
                      <a:pt x="45" y="39"/>
                    </a:lnTo>
                    <a:lnTo>
                      <a:pt x="13" y="84"/>
                    </a:lnTo>
                    <a:lnTo>
                      <a:pt x="0" y="136"/>
                    </a:lnTo>
                    <a:lnTo>
                      <a:pt x="13" y="187"/>
                    </a:lnTo>
                    <a:lnTo>
                      <a:pt x="45" y="226"/>
                    </a:lnTo>
                    <a:lnTo>
                      <a:pt x="91" y="252"/>
                    </a:lnTo>
                    <a:lnTo>
                      <a:pt x="143" y="265"/>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6" name="Freeform 92"/>
              <p:cNvSpPr/>
              <p:nvPr/>
            </p:nvSpPr>
            <p:spPr bwMode="auto">
              <a:xfrm>
                <a:off x="3917" y="852"/>
                <a:ext cx="136" cy="129"/>
              </a:xfrm>
              <a:custGeom>
                <a:avLst/>
                <a:gdLst>
                  <a:gd name="T0" fmla="*/ 0 w 136"/>
                  <a:gd name="T1" fmla="*/ 129 h 129"/>
                  <a:gd name="T2" fmla="*/ 51 w 136"/>
                  <a:gd name="T3" fmla="*/ 116 h 129"/>
                  <a:gd name="T4" fmla="*/ 97 w 136"/>
                  <a:gd name="T5" fmla="*/ 90 h 129"/>
                  <a:gd name="T6" fmla="*/ 123 w 136"/>
                  <a:gd name="T7" fmla="*/ 51 h 129"/>
                  <a:gd name="T8" fmla="*/ 136 w 136"/>
                  <a:gd name="T9" fmla="*/ 0 h 129"/>
                  <a:gd name="T10" fmla="*/ 136 w 136"/>
                  <a:gd name="T11" fmla="*/ 0 h 129"/>
                  <a:gd name="T12" fmla="*/ 123 w 136"/>
                  <a:gd name="T13" fmla="*/ 51 h 129"/>
                  <a:gd name="T14" fmla="*/ 97 w 136"/>
                  <a:gd name="T15" fmla="*/ 90 h 129"/>
                  <a:gd name="T16" fmla="*/ 51 w 136"/>
                  <a:gd name="T17" fmla="*/ 116 h 129"/>
                  <a:gd name="T18" fmla="*/ 0 w 136"/>
                  <a:gd name="T19" fmla="*/ 129 h 129"/>
                  <a:gd name="T20" fmla="*/ 0 w 136"/>
                  <a:gd name="T21" fmla="*/ 129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129"/>
                  <a:gd name="T35" fmla="*/ 136 w 136"/>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129">
                    <a:moveTo>
                      <a:pt x="0" y="129"/>
                    </a:moveTo>
                    <a:lnTo>
                      <a:pt x="51" y="116"/>
                    </a:lnTo>
                    <a:lnTo>
                      <a:pt x="97" y="90"/>
                    </a:lnTo>
                    <a:lnTo>
                      <a:pt x="123" y="51"/>
                    </a:lnTo>
                    <a:lnTo>
                      <a:pt x="136" y="0"/>
                    </a:lnTo>
                    <a:lnTo>
                      <a:pt x="123" y="51"/>
                    </a:lnTo>
                    <a:lnTo>
                      <a:pt x="97" y="90"/>
                    </a:lnTo>
                    <a:lnTo>
                      <a:pt x="51" y="116"/>
                    </a:lnTo>
                    <a:lnTo>
                      <a:pt x="0" y="12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7" name="Freeform 93"/>
              <p:cNvSpPr>
                <a:spLocks noEditPoints="1"/>
              </p:cNvSpPr>
              <p:nvPr/>
            </p:nvSpPr>
            <p:spPr bwMode="auto">
              <a:xfrm>
                <a:off x="3917" y="716"/>
                <a:ext cx="136" cy="136"/>
              </a:xfrm>
              <a:custGeom>
                <a:avLst/>
                <a:gdLst>
                  <a:gd name="T0" fmla="*/ 136 w 136"/>
                  <a:gd name="T1" fmla="*/ 136 h 136"/>
                  <a:gd name="T2" fmla="*/ 123 w 136"/>
                  <a:gd name="T3" fmla="*/ 84 h 136"/>
                  <a:gd name="T4" fmla="*/ 97 w 136"/>
                  <a:gd name="T5" fmla="*/ 39 h 136"/>
                  <a:gd name="T6" fmla="*/ 51 w 136"/>
                  <a:gd name="T7" fmla="*/ 13 h 136"/>
                  <a:gd name="T8" fmla="*/ 0 w 136"/>
                  <a:gd name="T9" fmla="*/ 0 h 136"/>
                  <a:gd name="T10" fmla="*/ 0 w 136"/>
                  <a:gd name="T11" fmla="*/ 0 h 136"/>
                  <a:gd name="T12" fmla="*/ 51 w 136"/>
                  <a:gd name="T13" fmla="*/ 13 h 136"/>
                  <a:gd name="T14" fmla="*/ 97 w 136"/>
                  <a:gd name="T15" fmla="*/ 39 h 136"/>
                  <a:gd name="T16" fmla="*/ 123 w 136"/>
                  <a:gd name="T17" fmla="*/ 84 h 136"/>
                  <a:gd name="T18" fmla="*/ 136 w 136"/>
                  <a:gd name="T19" fmla="*/ 136 h 136"/>
                  <a:gd name="T20" fmla="*/ 136 w 136"/>
                  <a:gd name="T21" fmla="*/ 136 h 136"/>
                  <a:gd name="T22" fmla="*/ 136 w 136"/>
                  <a:gd name="T23" fmla="*/ 136 h 136"/>
                  <a:gd name="T24" fmla="*/ 136 w 136"/>
                  <a:gd name="T25" fmla="*/ 136 h 136"/>
                  <a:gd name="T26" fmla="*/ 136 w 136"/>
                  <a:gd name="T27" fmla="*/ 136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36"/>
                  <a:gd name="T44" fmla="*/ 136 w 136"/>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36">
                    <a:moveTo>
                      <a:pt x="136" y="136"/>
                    </a:moveTo>
                    <a:lnTo>
                      <a:pt x="123" y="84"/>
                    </a:lnTo>
                    <a:lnTo>
                      <a:pt x="97" y="39"/>
                    </a:lnTo>
                    <a:lnTo>
                      <a:pt x="51" y="13"/>
                    </a:lnTo>
                    <a:lnTo>
                      <a:pt x="0" y="0"/>
                    </a:lnTo>
                    <a:lnTo>
                      <a:pt x="51" y="13"/>
                    </a:lnTo>
                    <a:lnTo>
                      <a:pt x="97" y="39"/>
                    </a:lnTo>
                    <a:lnTo>
                      <a:pt x="123" y="84"/>
                    </a:lnTo>
                    <a:lnTo>
                      <a:pt x="136" y="136"/>
                    </a:lnTo>
                    <a:close/>
                    <a:moveTo>
                      <a:pt x="136" y="136"/>
                    </a:moveTo>
                    <a:lnTo>
                      <a:pt x="136" y="13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8" name="Freeform 94"/>
              <p:cNvSpPr>
                <a:spLocks noEditPoints="1"/>
              </p:cNvSpPr>
              <p:nvPr/>
            </p:nvSpPr>
            <p:spPr bwMode="auto">
              <a:xfrm>
                <a:off x="3774" y="716"/>
                <a:ext cx="143" cy="136"/>
              </a:xfrm>
              <a:custGeom>
                <a:avLst/>
                <a:gdLst>
                  <a:gd name="T0" fmla="*/ 143 w 143"/>
                  <a:gd name="T1" fmla="*/ 0 h 136"/>
                  <a:gd name="T2" fmla="*/ 91 w 143"/>
                  <a:gd name="T3" fmla="*/ 13 h 136"/>
                  <a:gd name="T4" fmla="*/ 45 w 143"/>
                  <a:gd name="T5" fmla="*/ 39 h 136"/>
                  <a:gd name="T6" fmla="*/ 13 w 143"/>
                  <a:gd name="T7" fmla="*/ 84 h 136"/>
                  <a:gd name="T8" fmla="*/ 0 w 143"/>
                  <a:gd name="T9" fmla="*/ 136 h 136"/>
                  <a:gd name="T10" fmla="*/ 0 w 143"/>
                  <a:gd name="T11" fmla="*/ 136 h 136"/>
                  <a:gd name="T12" fmla="*/ 13 w 143"/>
                  <a:gd name="T13" fmla="*/ 84 h 136"/>
                  <a:gd name="T14" fmla="*/ 45 w 143"/>
                  <a:gd name="T15" fmla="*/ 39 h 136"/>
                  <a:gd name="T16" fmla="*/ 91 w 143"/>
                  <a:gd name="T17" fmla="*/ 13 h 136"/>
                  <a:gd name="T18" fmla="*/ 143 w 143"/>
                  <a:gd name="T19" fmla="*/ 0 h 136"/>
                  <a:gd name="T20" fmla="*/ 143 w 143"/>
                  <a:gd name="T21" fmla="*/ 0 h 136"/>
                  <a:gd name="T22" fmla="*/ 143 w 143"/>
                  <a:gd name="T23" fmla="*/ 0 h 136"/>
                  <a:gd name="T24" fmla="*/ 143 w 143"/>
                  <a:gd name="T25" fmla="*/ 0 h 136"/>
                  <a:gd name="T26" fmla="*/ 143 w 143"/>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
                  <a:gd name="T43" fmla="*/ 0 h 136"/>
                  <a:gd name="T44" fmla="*/ 143 w 143"/>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 h="136">
                    <a:moveTo>
                      <a:pt x="143" y="0"/>
                    </a:moveTo>
                    <a:lnTo>
                      <a:pt x="91" y="13"/>
                    </a:lnTo>
                    <a:lnTo>
                      <a:pt x="45" y="39"/>
                    </a:lnTo>
                    <a:lnTo>
                      <a:pt x="13" y="84"/>
                    </a:lnTo>
                    <a:lnTo>
                      <a:pt x="0" y="136"/>
                    </a:lnTo>
                    <a:lnTo>
                      <a:pt x="13" y="84"/>
                    </a:lnTo>
                    <a:lnTo>
                      <a:pt x="45" y="39"/>
                    </a:lnTo>
                    <a:lnTo>
                      <a:pt x="91" y="13"/>
                    </a:lnTo>
                    <a:lnTo>
                      <a:pt x="143" y="0"/>
                    </a:lnTo>
                    <a:close/>
                    <a:moveTo>
                      <a:pt x="143" y="0"/>
                    </a:moveTo>
                    <a:lnTo>
                      <a:pt x="14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69" name="Freeform 95"/>
              <p:cNvSpPr>
                <a:spLocks noEditPoints="1"/>
              </p:cNvSpPr>
              <p:nvPr/>
            </p:nvSpPr>
            <p:spPr bwMode="auto">
              <a:xfrm>
                <a:off x="3774" y="852"/>
                <a:ext cx="143" cy="129"/>
              </a:xfrm>
              <a:custGeom>
                <a:avLst/>
                <a:gdLst>
                  <a:gd name="T0" fmla="*/ 0 w 143"/>
                  <a:gd name="T1" fmla="*/ 0 h 129"/>
                  <a:gd name="T2" fmla="*/ 13 w 143"/>
                  <a:gd name="T3" fmla="*/ 51 h 129"/>
                  <a:gd name="T4" fmla="*/ 45 w 143"/>
                  <a:gd name="T5" fmla="*/ 90 h 129"/>
                  <a:gd name="T6" fmla="*/ 91 w 143"/>
                  <a:gd name="T7" fmla="*/ 116 h 129"/>
                  <a:gd name="T8" fmla="*/ 143 w 143"/>
                  <a:gd name="T9" fmla="*/ 129 h 129"/>
                  <a:gd name="T10" fmla="*/ 143 w 143"/>
                  <a:gd name="T11" fmla="*/ 129 h 129"/>
                  <a:gd name="T12" fmla="*/ 91 w 143"/>
                  <a:gd name="T13" fmla="*/ 116 h 129"/>
                  <a:gd name="T14" fmla="*/ 45 w 143"/>
                  <a:gd name="T15" fmla="*/ 90 h 129"/>
                  <a:gd name="T16" fmla="*/ 13 w 143"/>
                  <a:gd name="T17" fmla="*/ 51 h 129"/>
                  <a:gd name="T18" fmla="*/ 0 w 143"/>
                  <a:gd name="T19" fmla="*/ 0 h 129"/>
                  <a:gd name="T20" fmla="*/ 0 w 143"/>
                  <a:gd name="T21" fmla="*/ 0 h 129"/>
                  <a:gd name="T22" fmla="*/ 0 w 143"/>
                  <a:gd name="T23" fmla="*/ 0 h 129"/>
                  <a:gd name="T24" fmla="*/ 0 w 143"/>
                  <a:gd name="T25" fmla="*/ 0 h 129"/>
                  <a:gd name="T26" fmla="*/ 0 w 143"/>
                  <a:gd name="T27" fmla="*/ 0 h 1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
                  <a:gd name="T43" fmla="*/ 0 h 129"/>
                  <a:gd name="T44" fmla="*/ 143 w 143"/>
                  <a:gd name="T45" fmla="*/ 129 h 1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 h="129">
                    <a:moveTo>
                      <a:pt x="0" y="0"/>
                    </a:moveTo>
                    <a:lnTo>
                      <a:pt x="13" y="51"/>
                    </a:lnTo>
                    <a:lnTo>
                      <a:pt x="45" y="90"/>
                    </a:lnTo>
                    <a:lnTo>
                      <a:pt x="91" y="116"/>
                    </a:lnTo>
                    <a:lnTo>
                      <a:pt x="143" y="129"/>
                    </a:lnTo>
                    <a:lnTo>
                      <a:pt x="91" y="116"/>
                    </a:lnTo>
                    <a:lnTo>
                      <a:pt x="45" y="90"/>
                    </a:lnTo>
                    <a:lnTo>
                      <a:pt x="13" y="51"/>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0" name="Freeform 96"/>
              <p:cNvSpPr/>
              <p:nvPr/>
            </p:nvSpPr>
            <p:spPr bwMode="auto">
              <a:xfrm>
                <a:off x="3917" y="98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1" name="Freeform 97"/>
              <p:cNvSpPr/>
              <p:nvPr/>
            </p:nvSpPr>
            <p:spPr bwMode="auto">
              <a:xfrm>
                <a:off x="3871" y="761"/>
                <a:ext cx="84" cy="78"/>
              </a:xfrm>
              <a:custGeom>
                <a:avLst/>
                <a:gdLst>
                  <a:gd name="T0" fmla="*/ 33 w 84"/>
                  <a:gd name="T1" fmla="*/ 32 h 78"/>
                  <a:gd name="T2" fmla="*/ 0 w 84"/>
                  <a:gd name="T3" fmla="*/ 32 h 78"/>
                  <a:gd name="T4" fmla="*/ 0 w 84"/>
                  <a:gd name="T5" fmla="*/ 45 h 78"/>
                  <a:gd name="T6" fmla="*/ 33 w 84"/>
                  <a:gd name="T7" fmla="*/ 45 h 78"/>
                  <a:gd name="T8" fmla="*/ 33 w 84"/>
                  <a:gd name="T9" fmla="*/ 78 h 78"/>
                  <a:gd name="T10" fmla="*/ 46 w 84"/>
                  <a:gd name="T11" fmla="*/ 78 h 78"/>
                  <a:gd name="T12" fmla="*/ 46 w 84"/>
                  <a:gd name="T13" fmla="*/ 45 h 78"/>
                  <a:gd name="T14" fmla="*/ 84 w 84"/>
                  <a:gd name="T15" fmla="*/ 45 h 78"/>
                  <a:gd name="T16" fmla="*/ 84 w 84"/>
                  <a:gd name="T17" fmla="*/ 32 h 78"/>
                  <a:gd name="T18" fmla="*/ 46 w 84"/>
                  <a:gd name="T19" fmla="*/ 32 h 78"/>
                  <a:gd name="T20" fmla="*/ 46 w 84"/>
                  <a:gd name="T21" fmla="*/ 0 h 78"/>
                  <a:gd name="T22" fmla="*/ 33 w 84"/>
                  <a:gd name="T23" fmla="*/ 0 h 78"/>
                  <a:gd name="T24" fmla="*/ 33 w 84"/>
                  <a:gd name="T25" fmla="*/ 3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8"/>
                  <a:gd name="T41" fmla="*/ 84 w 84"/>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8">
                    <a:moveTo>
                      <a:pt x="33" y="32"/>
                    </a:moveTo>
                    <a:lnTo>
                      <a:pt x="0" y="32"/>
                    </a:lnTo>
                    <a:lnTo>
                      <a:pt x="0" y="45"/>
                    </a:lnTo>
                    <a:lnTo>
                      <a:pt x="33" y="45"/>
                    </a:lnTo>
                    <a:lnTo>
                      <a:pt x="33" y="78"/>
                    </a:lnTo>
                    <a:lnTo>
                      <a:pt x="46" y="78"/>
                    </a:lnTo>
                    <a:lnTo>
                      <a:pt x="46" y="45"/>
                    </a:lnTo>
                    <a:lnTo>
                      <a:pt x="84" y="45"/>
                    </a:lnTo>
                    <a:lnTo>
                      <a:pt x="84" y="32"/>
                    </a:lnTo>
                    <a:lnTo>
                      <a:pt x="46" y="32"/>
                    </a:lnTo>
                    <a:lnTo>
                      <a:pt x="46" y="0"/>
                    </a:lnTo>
                    <a:lnTo>
                      <a:pt x="33" y="0"/>
                    </a:lnTo>
                    <a:lnTo>
                      <a:pt x="33"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2" name="Rectangle 98"/>
              <p:cNvSpPr>
                <a:spLocks noChangeArrowheads="1"/>
              </p:cNvSpPr>
              <p:nvPr/>
            </p:nvSpPr>
            <p:spPr bwMode="auto">
              <a:xfrm>
                <a:off x="3865" y="903"/>
                <a:ext cx="90" cy="7"/>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32873" name="Freeform 99"/>
              <p:cNvSpPr/>
              <p:nvPr/>
            </p:nvSpPr>
            <p:spPr bwMode="auto">
              <a:xfrm>
                <a:off x="2718" y="1479"/>
                <a:ext cx="65" cy="65"/>
              </a:xfrm>
              <a:custGeom>
                <a:avLst/>
                <a:gdLst>
                  <a:gd name="T0" fmla="*/ 0 w 65"/>
                  <a:gd name="T1" fmla="*/ 7 h 65"/>
                  <a:gd name="T2" fmla="*/ 6 w 65"/>
                  <a:gd name="T3" fmla="*/ 7 h 65"/>
                  <a:gd name="T4" fmla="*/ 13 w 65"/>
                  <a:gd name="T5" fmla="*/ 20 h 65"/>
                  <a:gd name="T6" fmla="*/ 13 w 65"/>
                  <a:gd name="T7" fmla="*/ 26 h 65"/>
                  <a:gd name="T8" fmla="*/ 19 w 65"/>
                  <a:gd name="T9" fmla="*/ 39 h 65"/>
                  <a:gd name="T10" fmla="*/ 19 w 65"/>
                  <a:gd name="T11" fmla="*/ 65 h 65"/>
                  <a:gd name="T12" fmla="*/ 19 w 65"/>
                  <a:gd name="T13" fmla="*/ 65 h 65"/>
                  <a:gd name="T14" fmla="*/ 26 w 65"/>
                  <a:gd name="T15" fmla="*/ 65 h 65"/>
                  <a:gd name="T16" fmla="*/ 32 w 65"/>
                  <a:gd name="T17" fmla="*/ 52 h 65"/>
                  <a:gd name="T18" fmla="*/ 39 w 65"/>
                  <a:gd name="T19" fmla="*/ 46 h 65"/>
                  <a:gd name="T20" fmla="*/ 52 w 65"/>
                  <a:gd name="T21" fmla="*/ 33 h 65"/>
                  <a:gd name="T22" fmla="*/ 58 w 65"/>
                  <a:gd name="T23" fmla="*/ 20 h 65"/>
                  <a:gd name="T24" fmla="*/ 65 w 65"/>
                  <a:gd name="T25" fmla="*/ 7 h 65"/>
                  <a:gd name="T26" fmla="*/ 58 w 65"/>
                  <a:gd name="T27" fmla="*/ 7 h 65"/>
                  <a:gd name="T28" fmla="*/ 52 w 65"/>
                  <a:gd name="T29" fmla="*/ 0 h 65"/>
                  <a:gd name="T30" fmla="*/ 52 w 65"/>
                  <a:gd name="T31" fmla="*/ 0 h 65"/>
                  <a:gd name="T32" fmla="*/ 45 w 65"/>
                  <a:gd name="T33" fmla="*/ 7 h 65"/>
                  <a:gd name="T34" fmla="*/ 52 w 65"/>
                  <a:gd name="T35" fmla="*/ 13 h 65"/>
                  <a:gd name="T36" fmla="*/ 52 w 65"/>
                  <a:gd name="T37" fmla="*/ 13 h 65"/>
                  <a:gd name="T38" fmla="*/ 52 w 65"/>
                  <a:gd name="T39" fmla="*/ 26 h 65"/>
                  <a:gd name="T40" fmla="*/ 52 w 65"/>
                  <a:gd name="T41" fmla="*/ 33 h 65"/>
                  <a:gd name="T42" fmla="*/ 32 w 65"/>
                  <a:gd name="T43" fmla="*/ 52 h 65"/>
                  <a:gd name="T44" fmla="*/ 26 w 65"/>
                  <a:gd name="T45" fmla="*/ 52 h 65"/>
                  <a:gd name="T46" fmla="*/ 26 w 65"/>
                  <a:gd name="T47" fmla="*/ 26 h 65"/>
                  <a:gd name="T48" fmla="*/ 19 w 65"/>
                  <a:gd name="T49" fmla="*/ 0 h 65"/>
                  <a:gd name="T50" fmla="*/ 19 w 65"/>
                  <a:gd name="T51" fmla="*/ 0 h 65"/>
                  <a:gd name="T52" fmla="*/ 13 w 65"/>
                  <a:gd name="T53" fmla="*/ 0 h 65"/>
                  <a:gd name="T54" fmla="*/ 0 w 65"/>
                  <a:gd name="T55" fmla="*/ 7 h 65"/>
                  <a:gd name="T56" fmla="*/ 0 w 65"/>
                  <a:gd name="T57" fmla="*/ 7 h 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5"/>
                  <a:gd name="T88" fmla="*/ 0 h 65"/>
                  <a:gd name="T89" fmla="*/ 65 w 65"/>
                  <a:gd name="T90" fmla="*/ 65 h 6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5" h="65">
                    <a:moveTo>
                      <a:pt x="0" y="7"/>
                    </a:moveTo>
                    <a:lnTo>
                      <a:pt x="6" y="7"/>
                    </a:lnTo>
                    <a:lnTo>
                      <a:pt x="13" y="20"/>
                    </a:lnTo>
                    <a:lnTo>
                      <a:pt x="13" y="26"/>
                    </a:lnTo>
                    <a:lnTo>
                      <a:pt x="19" y="39"/>
                    </a:lnTo>
                    <a:lnTo>
                      <a:pt x="19" y="65"/>
                    </a:lnTo>
                    <a:lnTo>
                      <a:pt x="26" y="65"/>
                    </a:lnTo>
                    <a:lnTo>
                      <a:pt x="32" y="52"/>
                    </a:lnTo>
                    <a:lnTo>
                      <a:pt x="39" y="46"/>
                    </a:lnTo>
                    <a:lnTo>
                      <a:pt x="52" y="33"/>
                    </a:lnTo>
                    <a:lnTo>
                      <a:pt x="58" y="20"/>
                    </a:lnTo>
                    <a:lnTo>
                      <a:pt x="65" y="7"/>
                    </a:lnTo>
                    <a:lnTo>
                      <a:pt x="58" y="7"/>
                    </a:lnTo>
                    <a:lnTo>
                      <a:pt x="52" y="0"/>
                    </a:lnTo>
                    <a:lnTo>
                      <a:pt x="45" y="7"/>
                    </a:lnTo>
                    <a:lnTo>
                      <a:pt x="52" y="13"/>
                    </a:lnTo>
                    <a:lnTo>
                      <a:pt x="52" y="26"/>
                    </a:lnTo>
                    <a:lnTo>
                      <a:pt x="52" y="33"/>
                    </a:lnTo>
                    <a:lnTo>
                      <a:pt x="32" y="52"/>
                    </a:lnTo>
                    <a:lnTo>
                      <a:pt x="26" y="52"/>
                    </a:lnTo>
                    <a:lnTo>
                      <a:pt x="26" y="26"/>
                    </a:lnTo>
                    <a:lnTo>
                      <a:pt x="19" y="0"/>
                    </a:lnTo>
                    <a:lnTo>
                      <a:pt x="13" y="0"/>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4" name="Freeform 100"/>
              <p:cNvSpPr>
                <a:spLocks noEditPoints="1"/>
              </p:cNvSpPr>
              <p:nvPr/>
            </p:nvSpPr>
            <p:spPr bwMode="auto">
              <a:xfrm>
                <a:off x="2776" y="1531"/>
                <a:ext cx="52" cy="52"/>
              </a:xfrm>
              <a:custGeom>
                <a:avLst/>
                <a:gdLst>
                  <a:gd name="T0" fmla="*/ 39 w 52"/>
                  <a:gd name="T1" fmla="*/ 0 h 52"/>
                  <a:gd name="T2" fmla="*/ 26 w 52"/>
                  <a:gd name="T3" fmla="*/ 6 h 52"/>
                  <a:gd name="T4" fmla="*/ 13 w 52"/>
                  <a:gd name="T5" fmla="*/ 13 h 52"/>
                  <a:gd name="T6" fmla="*/ 7 w 52"/>
                  <a:gd name="T7" fmla="*/ 26 h 52"/>
                  <a:gd name="T8" fmla="*/ 0 w 52"/>
                  <a:gd name="T9" fmla="*/ 39 h 52"/>
                  <a:gd name="T10" fmla="*/ 7 w 52"/>
                  <a:gd name="T11" fmla="*/ 45 h 52"/>
                  <a:gd name="T12" fmla="*/ 19 w 52"/>
                  <a:gd name="T13" fmla="*/ 52 h 52"/>
                  <a:gd name="T14" fmla="*/ 32 w 52"/>
                  <a:gd name="T15" fmla="*/ 52 h 52"/>
                  <a:gd name="T16" fmla="*/ 45 w 52"/>
                  <a:gd name="T17" fmla="*/ 39 h 52"/>
                  <a:gd name="T18" fmla="*/ 52 w 52"/>
                  <a:gd name="T19" fmla="*/ 19 h 52"/>
                  <a:gd name="T20" fmla="*/ 52 w 52"/>
                  <a:gd name="T21" fmla="*/ 6 h 52"/>
                  <a:gd name="T22" fmla="*/ 39 w 52"/>
                  <a:gd name="T23" fmla="*/ 0 h 52"/>
                  <a:gd name="T24" fmla="*/ 39 w 52"/>
                  <a:gd name="T25" fmla="*/ 0 h 52"/>
                  <a:gd name="T26" fmla="*/ 39 w 52"/>
                  <a:gd name="T27" fmla="*/ 0 h 52"/>
                  <a:gd name="T28" fmla="*/ 45 w 52"/>
                  <a:gd name="T29" fmla="*/ 6 h 52"/>
                  <a:gd name="T30" fmla="*/ 45 w 52"/>
                  <a:gd name="T31" fmla="*/ 13 h 52"/>
                  <a:gd name="T32" fmla="*/ 39 w 52"/>
                  <a:gd name="T33" fmla="*/ 39 h 52"/>
                  <a:gd name="T34" fmla="*/ 32 w 52"/>
                  <a:gd name="T35" fmla="*/ 45 h 52"/>
                  <a:gd name="T36" fmla="*/ 19 w 52"/>
                  <a:gd name="T37" fmla="*/ 52 h 52"/>
                  <a:gd name="T38" fmla="*/ 13 w 52"/>
                  <a:gd name="T39" fmla="*/ 45 h 52"/>
                  <a:gd name="T40" fmla="*/ 13 w 52"/>
                  <a:gd name="T41" fmla="*/ 39 h 52"/>
                  <a:gd name="T42" fmla="*/ 19 w 52"/>
                  <a:gd name="T43" fmla="*/ 13 h 52"/>
                  <a:gd name="T44" fmla="*/ 26 w 52"/>
                  <a:gd name="T45" fmla="*/ 6 h 52"/>
                  <a:gd name="T46" fmla="*/ 39 w 52"/>
                  <a:gd name="T47" fmla="*/ 0 h 52"/>
                  <a:gd name="T48" fmla="*/ 39 w 52"/>
                  <a:gd name="T49" fmla="*/ 0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52"/>
                  <a:gd name="T77" fmla="*/ 52 w 52"/>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52">
                    <a:moveTo>
                      <a:pt x="39" y="0"/>
                    </a:moveTo>
                    <a:lnTo>
                      <a:pt x="26" y="6"/>
                    </a:lnTo>
                    <a:lnTo>
                      <a:pt x="13" y="13"/>
                    </a:lnTo>
                    <a:lnTo>
                      <a:pt x="7" y="26"/>
                    </a:lnTo>
                    <a:lnTo>
                      <a:pt x="0" y="39"/>
                    </a:lnTo>
                    <a:lnTo>
                      <a:pt x="7" y="45"/>
                    </a:lnTo>
                    <a:lnTo>
                      <a:pt x="19" y="52"/>
                    </a:lnTo>
                    <a:lnTo>
                      <a:pt x="32" y="52"/>
                    </a:lnTo>
                    <a:lnTo>
                      <a:pt x="45" y="39"/>
                    </a:lnTo>
                    <a:lnTo>
                      <a:pt x="52" y="19"/>
                    </a:lnTo>
                    <a:lnTo>
                      <a:pt x="52" y="6"/>
                    </a:lnTo>
                    <a:lnTo>
                      <a:pt x="39" y="0"/>
                    </a:lnTo>
                    <a:close/>
                    <a:moveTo>
                      <a:pt x="39" y="0"/>
                    </a:moveTo>
                    <a:lnTo>
                      <a:pt x="45" y="6"/>
                    </a:lnTo>
                    <a:lnTo>
                      <a:pt x="45" y="13"/>
                    </a:lnTo>
                    <a:lnTo>
                      <a:pt x="39" y="39"/>
                    </a:lnTo>
                    <a:lnTo>
                      <a:pt x="32" y="45"/>
                    </a:lnTo>
                    <a:lnTo>
                      <a:pt x="19" y="52"/>
                    </a:lnTo>
                    <a:lnTo>
                      <a:pt x="13" y="45"/>
                    </a:lnTo>
                    <a:lnTo>
                      <a:pt x="13" y="39"/>
                    </a:lnTo>
                    <a:lnTo>
                      <a:pt x="19" y="13"/>
                    </a:lnTo>
                    <a:lnTo>
                      <a:pt x="26" y="6"/>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5" name="Freeform 101"/>
              <p:cNvSpPr>
                <a:spLocks noEditPoints="1"/>
              </p:cNvSpPr>
              <p:nvPr/>
            </p:nvSpPr>
            <p:spPr bwMode="auto">
              <a:xfrm>
                <a:off x="2731" y="1667"/>
                <a:ext cx="32" cy="103"/>
              </a:xfrm>
              <a:custGeom>
                <a:avLst/>
                <a:gdLst>
                  <a:gd name="T0" fmla="*/ 26 w 32"/>
                  <a:gd name="T1" fmla="*/ 84 h 103"/>
                  <a:gd name="T2" fmla="*/ 19 w 32"/>
                  <a:gd name="T3" fmla="*/ 90 h 103"/>
                  <a:gd name="T4" fmla="*/ 13 w 32"/>
                  <a:gd name="T5" fmla="*/ 97 h 103"/>
                  <a:gd name="T6" fmla="*/ 13 w 32"/>
                  <a:gd name="T7" fmla="*/ 97 h 103"/>
                  <a:gd name="T8" fmla="*/ 6 w 32"/>
                  <a:gd name="T9" fmla="*/ 90 h 103"/>
                  <a:gd name="T10" fmla="*/ 13 w 32"/>
                  <a:gd name="T11" fmla="*/ 90 h 103"/>
                  <a:gd name="T12" fmla="*/ 13 w 32"/>
                  <a:gd name="T13" fmla="*/ 84 h 103"/>
                  <a:gd name="T14" fmla="*/ 26 w 32"/>
                  <a:gd name="T15" fmla="*/ 32 h 103"/>
                  <a:gd name="T16" fmla="*/ 26 w 32"/>
                  <a:gd name="T17" fmla="*/ 32 h 103"/>
                  <a:gd name="T18" fmla="*/ 13 w 32"/>
                  <a:gd name="T19" fmla="*/ 32 h 103"/>
                  <a:gd name="T20" fmla="*/ 0 w 32"/>
                  <a:gd name="T21" fmla="*/ 32 h 103"/>
                  <a:gd name="T22" fmla="*/ 0 w 32"/>
                  <a:gd name="T23" fmla="*/ 39 h 103"/>
                  <a:gd name="T24" fmla="*/ 6 w 32"/>
                  <a:gd name="T25" fmla="*/ 39 h 103"/>
                  <a:gd name="T26" fmla="*/ 13 w 32"/>
                  <a:gd name="T27" fmla="*/ 39 h 103"/>
                  <a:gd name="T28" fmla="*/ 13 w 32"/>
                  <a:gd name="T29" fmla="*/ 52 h 103"/>
                  <a:gd name="T30" fmla="*/ 6 w 32"/>
                  <a:gd name="T31" fmla="*/ 65 h 103"/>
                  <a:gd name="T32" fmla="*/ 0 w 32"/>
                  <a:gd name="T33" fmla="*/ 84 h 103"/>
                  <a:gd name="T34" fmla="*/ 0 w 32"/>
                  <a:gd name="T35" fmla="*/ 90 h 103"/>
                  <a:gd name="T36" fmla="*/ 0 w 32"/>
                  <a:gd name="T37" fmla="*/ 97 h 103"/>
                  <a:gd name="T38" fmla="*/ 6 w 32"/>
                  <a:gd name="T39" fmla="*/ 103 h 103"/>
                  <a:gd name="T40" fmla="*/ 19 w 32"/>
                  <a:gd name="T41" fmla="*/ 97 h 103"/>
                  <a:gd name="T42" fmla="*/ 26 w 32"/>
                  <a:gd name="T43" fmla="*/ 84 h 103"/>
                  <a:gd name="T44" fmla="*/ 26 w 32"/>
                  <a:gd name="T45" fmla="*/ 84 h 103"/>
                  <a:gd name="T46" fmla="*/ 32 w 32"/>
                  <a:gd name="T47" fmla="*/ 6 h 103"/>
                  <a:gd name="T48" fmla="*/ 32 w 32"/>
                  <a:gd name="T49" fmla="*/ 0 h 103"/>
                  <a:gd name="T50" fmla="*/ 26 w 32"/>
                  <a:gd name="T51" fmla="*/ 0 h 103"/>
                  <a:gd name="T52" fmla="*/ 19 w 32"/>
                  <a:gd name="T53" fmla="*/ 0 h 103"/>
                  <a:gd name="T54" fmla="*/ 19 w 32"/>
                  <a:gd name="T55" fmla="*/ 6 h 103"/>
                  <a:gd name="T56" fmla="*/ 19 w 32"/>
                  <a:gd name="T57" fmla="*/ 13 h 103"/>
                  <a:gd name="T58" fmla="*/ 26 w 32"/>
                  <a:gd name="T59" fmla="*/ 13 h 103"/>
                  <a:gd name="T60" fmla="*/ 32 w 32"/>
                  <a:gd name="T61" fmla="*/ 13 h 103"/>
                  <a:gd name="T62" fmla="*/ 32 w 32"/>
                  <a:gd name="T63" fmla="*/ 6 h 103"/>
                  <a:gd name="T64" fmla="*/ 32 w 32"/>
                  <a:gd name="T65" fmla="*/ 6 h 10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2"/>
                  <a:gd name="T100" fmla="*/ 0 h 103"/>
                  <a:gd name="T101" fmla="*/ 32 w 32"/>
                  <a:gd name="T102" fmla="*/ 103 h 10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2" h="103">
                    <a:moveTo>
                      <a:pt x="26" y="84"/>
                    </a:moveTo>
                    <a:lnTo>
                      <a:pt x="19" y="90"/>
                    </a:lnTo>
                    <a:lnTo>
                      <a:pt x="13" y="97"/>
                    </a:lnTo>
                    <a:lnTo>
                      <a:pt x="6" y="90"/>
                    </a:lnTo>
                    <a:lnTo>
                      <a:pt x="13" y="90"/>
                    </a:lnTo>
                    <a:lnTo>
                      <a:pt x="13" y="84"/>
                    </a:lnTo>
                    <a:lnTo>
                      <a:pt x="26" y="32"/>
                    </a:lnTo>
                    <a:lnTo>
                      <a:pt x="13" y="32"/>
                    </a:lnTo>
                    <a:lnTo>
                      <a:pt x="0" y="32"/>
                    </a:lnTo>
                    <a:lnTo>
                      <a:pt x="0" y="39"/>
                    </a:lnTo>
                    <a:lnTo>
                      <a:pt x="6" y="39"/>
                    </a:lnTo>
                    <a:lnTo>
                      <a:pt x="13" y="39"/>
                    </a:lnTo>
                    <a:lnTo>
                      <a:pt x="13" y="52"/>
                    </a:lnTo>
                    <a:lnTo>
                      <a:pt x="6" y="65"/>
                    </a:lnTo>
                    <a:lnTo>
                      <a:pt x="0" y="84"/>
                    </a:lnTo>
                    <a:lnTo>
                      <a:pt x="0" y="90"/>
                    </a:lnTo>
                    <a:lnTo>
                      <a:pt x="0" y="97"/>
                    </a:lnTo>
                    <a:lnTo>
                      <a:pt x="6" y="103"/>
                    </a:lnTo>
                    <a:lnTo>
                      <a:pt x="19" y="97"/>
                    </a:lnTo>
                    <a:lnTo>
                      <a:pt x="26" y="84"/>
                    </a:lnTo>
                    <a:close/>
                    <a:moveTo>
                      <a:pt x="32" y="6"/>
                    </a:moveTo>
                    <a:lnTo>
                      <a:pt x="32" y="0"/>
                    </a:lnTo>
                    <a:lnTo>
                      <a:pt x="26" y="0"/>
                    </a:lnTo>
                    <a:lnTo>
                      <a:pt x="19" y="0"/>
                    </a:lnTo>
                    <a:lnTo>
                      <a:pt x="19" y="6"/>
                    </a:lnTo>
                    <a:lnTo>
                      <a:pt x="19" y="13"/>
                    </a:lnTo>
                    <a:lnTo>
                      <a:pt x="26" y="13"/>
                    </a:lnTo>
                    <a:lnTo>
                      <a:pt x="32" y="13"/>
                    </a:lnTo>
                    <a:lnTo>
                      <a:pt x="32"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6" name="Freeform 102"/>
              <p:cNvSpPr>
                <a:spLocks noEditPoints="1"/>
              </p:cNvSpPr>
              <p:nvPr/>
            </p:nvSpPr>
            <p:spPr bwMode="auto">
              <a:xfrm>
                <a:off x="2770" y="1757"/>
                <a:ext cx="58" cy="52"/>
              </a:xfrm>
              <a:custGeom>
                <a:avLst/>
                <a:gdLst>
                  <a:gd name="T0" fmla="*/ 38 w 58"/>
                  <a:gd name="T1" fmla="*/ 0 h 52"/>
                  <a:gd name="T2" fmla="*/ 13 w 58"/>
                  <a:gd name="T3" fmla="*/ 7 h 52"/>
                  <a:gd name="T4" fmla="*/ 6 w 58"/>
                  <a:gd name="T5" fmla="*/ 20 h 52"/>
                  <a:gd name="T6" fmla="*/ 0 w 58"/>
                  <a:gd name="T7" fmla="*/ 33 h 52"/>
                  <a:gd name="T8" fmla="*/ 6 w 58"/>
                  <a:gd name="T9" fmla="*/ 46 h 52"/>
                  <a:gd name="T10" fmla="*/ 19 w 58"/>
                  <a:gd name="T11" fmla="*/ 52 h 52"/>
                  <a:gd name="T12" fmla="*/ 32 w 58"/>
                  <a:gd name="T13" fmla="*/ 52 h 52"/>
                  <a:gd name="T14" fmla="*/ 45 w 58"/>
                  <a:gd name="T15" fmla="*/ 39 h 52"/>
                  <a:gd name="T16" fmla="*/ 58 w 58"/>
                  <a:gd name="T17" fmla="*/ 26 h 52"/>
                  <a:gd name="T18" fmla="*/ 58 w 58"/>
                  <a:gd name="T19" fmla="*/ 13 h 52"/>
                  <a:gd name="T20" fmla="*/ 51 w 58"/>
                  <a:gd name="T21" fmla="*/ 7 h 52"/>
                  <a:gd name="T22" fmla="*/ 38 w 58"/>
                  <a:gd name="T23" fmla="*/ 0 h 52"/>
                  <a:gd name="T24" fmla="*/ 38 w 58"/>
                  <a:gd name="T25" fmla="*/ 0 h 52"/>
                  <a:gd name="T26" fmla="*/ 38 w 58"/>
                  <a:gd name="T27" fmla="*/ 0 h 52"/>
                  <a:gd name="T28" fmla="*/ 45 w 58"/>
                  <a:gd name="T29" fmla="*/ 7 h 52"/>
                  <a:gd name="T30" fmla="*/ 45 w 58"/>
                  <a:gd name="T31" fmla="*/ 13 h 52"/>
                  <a:gd name="T32" fmla="*/ 38 w 58"/>
                  <a:gd name="T33" fmla="*/ 33 h 52"/>
                  <a:gd name="T34" fmla="*/ 32 w 58"/>
                  <a:gd name="T35" fmla="*/ 46 h 52"/>
                  <a:gd name="T36" fmla="*/ 19 w 58"/>
                  <a:gd name="T37" fmla="*/ 46 h 52"/>
                  <a:gd name="T38" fmla="*/ 13 w 58"/>
                  <a:gd name="T39" fmla="*/ 46 h 52"/>
                  <a:gd name="T40" fmla="*/ 13 w 58"/>
                  <a:gd name="T41" fmla="*/ 39 h 52"/>
                  <a:gd name="T42" fmla="*/ 19 w 58"/>
                  <a:gd name="T43" fmla="*/ 13 h 52"/>
                  <a:gd name="T44" fmla="*/ 25 w 58"/>
                  <a:gd name="T45" fmla="*/ 7 h 52"/>
                  <a:gd name="T46" fmla="*/ 38 w 58"/>
                  <a:gd name="T47" fmla="*/ 0 h 52"/>
                  <a:gd name="T48" fmla="*/ 38 w 58"/>
                  <a:gd name="T49" fmla="*/ 0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52"/>
                  <a:gd name="T77" fmla="*/ 58 w 58"/>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52">
                    <a:moveTo>
                      <a:pt x="38" y="0"/>
                    </a:moveTo>
                    <a:lnTo>
                      <a:pt x="13" y="7"/>
                    </a:lnTo>
                    <a:lnTo>
                      <a:pt x="6" y="20"/>
                    </a:lnTo>
                    <a:lnTo>
                      <a:pt x="0" y="33"/>
                    </a:lnTo>
                    <a:lnTo>
                      <a:pt x="6" y="46"/>
                    </a:lnTo>
                    <a:lnTo>
                      <a:pt x="19" y="52"/>
                    </a:lnTo>
                    <a:lnTo>
                      <a:pt x="32" y="52"/>
                    </a:lnTo>
                    <a:lnTo>
                      <a:pt x="45" y="39"/>
                    </a:lnTo>
                    <a:lnTo>
                      <a:pt x="58" y="26"/>
                    </a:lnTo>
                    <a:lnTo>
                      <a:pt x="58" y="13"/>
                    </a:lnTo>
                    <a:lnTo>
                      <a:pt x="51" y="7"/>
                    </a:lnTo>
                    <a:lnTo>
                      <a:pt x="38" y="0"/>
                    </a:lnTo>
                    <a:close/>
                    <a:moveTo>
                      <a:pt x="38" y="0"/>
                    </a:moveTo>
                    <a:lnTo>
                      <a:pt x="45" y="7"/>
                    </a:lnTo>
                    <a:lnTo>
                      <a:pt x="45" y="13"/>
                    </a:lnTo>
                    <a:lnTo>
                      <a:pt x="38" y="33"/>
                    </a:lnTo>
                    <a:lnTo>
                      <a:pt x="32" y="46"/>
                    </a:lnTo>
                    <a:lnTo>
                      <a:pt x="19" y="46"/>
                    </a:lnTo>
                    <a:lnTo>
                      <a:pt x="13" y="46"/>
                    </a:lnTo>
                    <a:lnTo>
                      <a:pt x="13" y="39"/>
                    </a:lnTo>
                    <a:lnTo>
                      <a:pt x="19" y="13"/>
                    </a:lnTo>
                    <a:lnTo>
                      <a:pt x="25" y="7"/>
                    </a:lnTo>
                    <a:lnTo>
                      <a:pt x="38"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7" name="Freeform 103"/>
              <p:cNvSpPr/>
              <p:nvPr/>
            </p:nvSpPr>
            <p:spPr bwMode="auto">
              <a:xfrm>
                <a:off x="2692" y="1622"/>
                <a:ext cx="168" cy="1"/>
              </a:xfrm>
              <a:custGeom>
                <a:avLst/>
                <a:gdLst>
                  <a:gd name="T0" fmla="*/ 0 w 168"/>
                  <a:gd name="T1" fmla="*/ 0 h 1"/>
                  <a:gd name="T2" fmla="*/ 168 w 168"/>
                  <a:gd name="T3" fmla="*/ 0 h 1"/>
                  <a:gd name="T4" fmla="*/ 0 w 168"/>
                  <a:gd name="T5" fmla="*/ 0 h 1"/>
                  <a:gd name="T6" fmla="*/ 0 w 168"/>
                  <a:gd name="T7" fmla="*/ 0 h 1"/>
                  <a:gd name="T8" fmla="*/ 0 60000 65536"/>
                  <a:gd name="T9" fmla="*/ 0 60000 65536"/>
                  <a:gd name="T10" fmla="*/ 0 60000 65536"/>
                  <a:gd name="T11" fmla="*/ 0 60000 65536"/>
                  <a:gd name="T12" fmla="*/ 0 w 168"/>
                  <a:gd name="T13" fmla="*/ 0 h 1"/>
                  <a:gd name="T14" fmla="*/ 168 w 168"/>
                  <a:gd name="T15" fmla="*/ 1 h 1"/>
                </a:gdLst>
                <a:ahLst/>
                <a:cxnLst>
                  <a:cxn ang="T8">
                    <a:pos x="T0" y="T1"/>
                  </a:cxn>
                  <a:cxn ang="T9">
                    <a:pos x="T2" y="T3"/>
                  </a:cxn>
                  <a:cxn ang="T10">
                    <a:pos x="T4" y="T5"/>
                  </a:cxn>
                  <a:cxn ang="T11">
                    <a:pos x="T6" y="T7"/>
                  </a:cxn>
                </a:cxnLst>
                <a:rect l="T12" t="T13" r="T14" b="T15"/>
                <a:pathLst>
                  <a:path w="168" h="1">
                    <a:moveTo>
                      <a:pt x="0" y="0"/>
                    </a:moveTo>
                    <a:lnTo>
                      <a:pt x="168"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8" name="Freeform 104"/>
              <p:cNvSpPr/>
              <p:nvPr/>
            </p:nvSpPr>
            <p:spPr bwMode="auto">
              <a:xfrm>
                <a:off x="3560" y="392"/>
                <a:ext cx="337" cy="1"/>
              </a:xfrm>
              <a:custGeom>
                <a:avLst/>
                <a:gdLst>
                  <a:gd name="T0" fmla="*/ 337 w 337"/>
                  <a:gd name="T1" fmla="*/ 0 h 1"/>
                  <a:gd name="T2" fmla="*/ 0 w 337"/>
                  <a:gd name="T3" fmla="*/ 0 h 1"/>
                  <a:gd name="T4" fmla="*/ 337 w 337"/>
                  <a:gd name="T5" fmla="*/ 0 h 1"/>
                  <a:gd name="T6" fmla="*/ 337 w 337"/>
                  <a:gd name="T7" fmla="*/ 0 h 1"/>
                  <a:gd name="T8" fmla="*/ 0 60000 65536"/>
                  <a:gd name="T9" fmla="*/ 0 60000 65536"/>
                  <a:gd name="T10" fmla="*/ 0 60000 65536"/>
                  <a:gd name="T11" fmla="*/ 0 60000 65536"/>
                  <a:gd name="T12" fmla="*/ 0 w 337"/>
                  <a:gd name="T13" fmla="*/ 0 h 1"/>
                  <a:gd name="T14" fmla="*/ 337 w 337"/>
                  <a:gd name="T15" fmla="*/ 1 h 1"/>
                </a:gdLst>
                <a:ahLst/>
                <a:cxnLst>
                  <a:cxn ang="T8">
                    <a:pos x="T0" y="T1"/>
                  </a:cxn>
                  <a:cxn ang="T9">
                    <a:pos x="T2" y="T3"/>
                  </a:cxn>
                  <a:cxn ang="T10">
                    <a:pos x="T4" y="T5"/>
                  </a:cxn>
                  <a:cxn ang="T11">
                    <a:pos x="T6" y="T7"/>
                  </a:cxn>
                </a:cxnLst>
                <a:rect l="T12" t="T13" r="T14" b="T15"/>
                <a:pathLst>
                  <a:path w="337" h="1">
                    <a:moveTo>
                      <a:pt x="337" y="0"/>
                    </a:moveTo>
                    <a:lnTo>
                      <a:pt x="0" y="0"/>
                    </a:lnTo>
                    <a:lnTo>
                      <a:pt x="337"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79" name="Freeform 105"/>
              <p:cNvSpPr/>
              <p:nvPr/>
            </p:nvSpPr>
            <p:spPr bwMode="auto">
              <a:xfrm>
                <a:off x="3456" y="360"/>
                <a:ext cx="124" cy="65"/>
              </a:xfrm>
              <a:custGeom>
                <a:avLst/>
                <a:gdLst>
                  <a:gd name="T0" fmla="*/ 124 w 124"/>
                  <a:gd name="T1" fmla="*/ 0 h 65"/>
                  <a:gd name="T2" fmla="*/ 0 w 124"/>
                  <a:gd name="T3" fmla="*/ 32 h 65"/>
                  <a:gd name="T4" fmla="*/ 124 w 124"/>
                  <a:gd name="T5" fmla="*/ 65 h 65"/>
                  <a:gd name="T6" fmla="*/ 124 w 124"/>
                  <a:gd name="T7" fmla="*/ 0 h 65"/>
                  <a:gd name="T8" fmla="*/ 124 w 124"/>
                  <a:gd name="T9" fmla="*/ 0 h 65"/>
                  <a:gd name="T10" fmla="*/ 0 60000 65536"/>
                  <a:gd name="T11" fmla="*/ 0 60000 65536"/>
                  <a:gd name="T12" fmla="*/ 0 60000 65536"/>
                  <a:gd name="T13" fmla="*/ 0 60000 65536"/>
                  <a:gd name="T14" fmla="*/ 0 60000 65536"/>
                  <a:gd name="T15" fmla="*/ 0 w 124"/>
                  <a:gd name="T16" fmla="*/ 0 h 65"/>
                  <a:gd name="T17" fmla="*/ 124 w 124"/>
                  <a:gd name="T18" fmla="*/ 65 h 65"/>
                </a:gdLst>
                <a:ahLst/>
                <a:cxnLst>
                  <a:cxn ang="T10">
                    <a:pos x="T0" y="T1"/>
                  </a:cxn>
                  <a:cxn ang="T11">
                    <a:pos x="T2" y="T3"/>
                  </a:cxn>
                  <a:cxn ang="T12">
                    <a:pos x="T4" y="T5"/>
                  </a:cxn>
                  <a:cxn ang="T13">
                    <a:pos x="T6" y="T7"/>
                  </a:cxn>
                  <a:cxn ang="T14">
                    <a:pos x="T8" y="T9"/>
                  </a:cxn>
                </a:cxnLst>
                <a:rect l="T15" t="T16" r="T17" b="T18"/>
                <a:pathLst>
                  <a:path w="124" h="65">
                    <a:moveTo>
                      <a:pt x="124" y="0"/>
                    </a:moveTo>
                    <a:lnTo>
                      <a:pt x="0" y="32"/>
                    </a:lnTo>
                    <a:lnTo>
                      <a:pt x="124" y="65"/>
                    </a:lnTo>
                    <a:lnTo>
                      <a:pt x="124" y="0"/>
                    </a:lnTo>
                    <a:close/>
                  </a:path>
                </a:pathLst>
              </a:custGeom>
              <a:solidFill>
                <a:srgbClr val="006666"/>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80" name="Freeform 106"/>
              <p:cNvSpPr>
                <a:spLocks noEditPoints="1"/>
              </p:cNvSpPr>
              <p:nvPr/>
            </p:nvSpPr>
            <p:spPr bwMode="auto">
              <a:xfrm>
                <a:off x="3644" y="185"/>
                <a:ext cx="39" cy="104"/>
              </a:xfrm>
              <a:custGeom>
                <a:avLst/>
                <a:gdLst>
                  <a:gd name="T0" fmla="*/ 33 w 39"/>
                  <a:gd name="T1" fmla="*/ 84 h 104"/>
                  <a:gd name="T2" fmla="*/ 26 w 39"/>
                  <a:gd name="T3" fmla="*/ 97 h 104"/>
                  <a:gd name="T4" fmla="*/ 20 w 39"/>
                  <a:gd name="T5" fmla="*/ 97 h 104"/>
                  <a:gd name="T6" fmla="*/ 13 w 39"/>
                  <a:gd name="T7" fmla="*/ 97 h 104"/>
                  <a:gd name="T8" fmla="*/ 13 w 39"/>
                  <a:gd name="T9" fmla="*/ 97 h 104"/>
                  <a:gd name="T10" fmla="*/ 13 w 39"/>
                  <a:gd name="T11" fmla="*/ 91 h 104"/>
                  <a:gd name="T12" fmla="*/ 20 w 39"/>
                  <a:gd name="T13" fmla="*/ 84 h 104"/>
                  <a:gd name="T14" fmla="*/ 33 w 39"/>
                  <a:gd name="T15" fmla="*/ 33 h 104"/>
                  <a:gd name="T16" fmla="*/ 33 w 39"/>
                  <a:gd name="T17" fmla="*/ 33 h 104"/>
                  <a:gd name="T18" fmla="*/ 20 w 39"/>
                  <a:gd name="T19" fmla="*/ 39 h 104"/>
                  <a:gd name="T20" fmla="*/ 7 w 39"/>
                  <a:gd name="T21" fmla="*/ 39 h 104"/>
                  <a:gd name="T22" fmla="*/ 7 w 39"/>
                  <a:gd name="T23" fmla="*/ 39 h 104"/>
                  <a:gd name="T24" fmla="*/ 13 w 39"/>
                  <a:gd name="T25" fmla="*/ 39 h 104"/>
                  <a:gd name="T26" fmla="*/ 13 w 39"/>
                  <a:gd name="T27" fmla="*/ 46 h 104"/>
                  <a:gd name="T28" fmla="*/ 13 w 39"/>
                  <a:gd name="T29" fmla="*/ 59 h 104"/>
                  <a:gd name="T30" fmla="*/ 7 w 39"/>
                  <a:gd name="T31" fmla="*/ 72 h 104"/>
                  <a:gd name="T32" fmla="*/ 0 w 39"/>
                  <a:gd name="T33" fmla="*/ 91 h 104"/>
                  <a:gd name="T34" fmla="*/ 0 w 39"/>
                  <a:gd name="T35" fmla="*/ 97 h 104"/>
                  <a:gd name="T36" fmla="*/ 0 w 39"/>
                  <a:gd name="T37" fmla="*/ 104 h 104"/>
                  <a:gd name="T38" fmla="*/ 7 w 39"/>
                  <a:gd name="T39" fmla="*/ 104 h 104"/>
                  <a:gd name="T40" fmla="*/ 20 w 39"/>
                  <a:gd name="T41" fmla="*/ 97 h 104"/>
                  <a:gd name="T42" fmla="*/ 33 w 39"/>
                  <a:gd name="T43" fmla="*/ 91 h 104"/>
                  <a:gd name="T44" fmla="*/ 33 w 39"/>
                  <a:gd name="T45" fmla="*/ 84 h 104"/>
                  <a:gd name="T46" fmla="*/ 39 w 39"/>
                  <a:gd name="T47" fmla="*/ 7 h 104"/>
                  <a:gd name="T48" fmla="*/ 33 w 39"/>
                  <a:gd name="T49" fmla="*/ 7 h 104"/>
                  <a:gd name="T50" fmla="*/ 26 w 39"/>
                  <a:gd name="T51" fmla="*/ 0 h 104"/>
                  <a:gd name="T52" fmla="*/ 26 w 39"/>
                  <a:gd name="T53" fmla="*/ 7 h 104"/>
                  <a:gd name="T54" fmla="*/ 20 w 39"/>
                  <a:gd name="T55" fmla="*/ 7 h 104"/>
                  <a:gd name="T56" fmla="*/ 26 w 39"/>
                  <a:gd name="T57" fmla="*/ 13 h 104"/>
                  <a:gd name="T58" fmla="*/ 33 w 39"/>
                  <a:gd name="T59" fmla="*/ 20 h 104"/>
                  <a:gd name="T60" fmla="*/ 39 w 39"/>
                  <a:gd name="T61" fmla="*/ 13 h 104"/>
                  <a:gd name="T62" fmla="*/ 39 w 39"/>
                  <a:gd name="T63" fmla="*/ 7 h 104"/>
                  <a:gd name="T64" fmla="*/ 39 w 39"/>
                  <a:gd name="T65" fmla="*/ 7 h 1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
                  <a:gd name="T100" fmla="*/ 0 h 104"/>
                  <a:gd name="T101" fmla="*/ 39 w 39"/>
                  <a:gd name="T102" fmla="*/ 104 h 1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 h="104">
                    <a:moveTo>
                      <a:pt x="33" y="84"/>
                    </a:moveTo>
                    <a:lnTo>
                      <a:pt x="26" y="97"/>
                    </a:lnTo>
                    <a:lnTo>
                      <a:pt x="20" y="97"/>
                    </a:lnTo>
                    <a:lnTo>
                      <a:pt x="13" y="97"/>
                    </a:lnTo>
                    <a:lnTo>
                      <a:pt x="13" y="91"/>
                    </a:lnTo>
                    <a:lnTo>
                      <a:pt x="20" y="84"/>
                    </a:lnTo>
                    <a:lnTo>
                      <a:pt x="33" y="33"/>
                    </a:lnTo>
                    <a:lnTo>
                      <a:pt x="20" y="39"/>
                    </a:lnTo>
                    <a:lnTo>
                      <a:pt x="7" y="39"/>
                    </a:lnTo>
                    <a:lnTo>
                      <a:pt x="13" y="39"/>
                    </a:lnTo>
                    <a:lnTo>
                      <a:pt x="13" y="46"/>
                    </a:lnTo>
                    <a:lnTo>
                      <a:pt x="13" y="59"/>
                    </a:lnTo>
                    <a:lnTo>
                      <a:pt x="7" y="72"/>
                    </a:lnTo>
                    <a:lnTo>
                      <a:pt x="0" y="91"/>
                    </a:lnTo>
                    <a:lnTo>
                      <a:pt x="0" y="97"/>
                    </a:lnTo>
                    <a:lnTo>
                      <a:pt x="0" y="104"/>
                    </a:lnTo>
                    <a:lnTo>
                      <a:pt x="7" y="104"/>
                    </a:lnTo>
                    <a:lnTo>
                      <a:pt x="20" y="97"/>
                    </a:lnTo>
                    <a:lnTo>
                      <a:pt x="33" y="91"/>
                    </a:lnTo>
                    <a:lnTo>
                      <a:pt x="33" y="84"/>
                    </a:lnTo>
                    <a:close/>
                    <a:moveTo>
                      <a:pt x="39" y="7"/>
                    </a:moveTo>
                    <a:lnTo>
                      <a:pt x="33" y="7"/>
                    </a:lnTo>
                    <a:lnTo>
                      <a:pt x="26" y="0"/>
                    </a:lnTo>
                    <a:lnTo>
                      <a:pt x="26" y="7"/>
                    </a:lnTo>
                    <a:lnTo>
                      <a:pt x="20" y="7"/>
                    </a:lnTo>
                    <a:lnTo>
                      <a:pt x="26" y="13"/>
                    </a:lnTo>
                    <a:lnTo>
                      <a:pt x="33" y="20"/>
                    </a:lnTo>
                    <a:lnTo>
                      <a:pt x="39" y="13"/>
                    </a:lnTo>
                    <a:lnTo>
                      <a:pt x="39"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81" name="Freeform 107"/>
              <p:cNvSpPr>
                <a:spLocks noEditPoints="1"/>
              </p:cNvSpPr>
              <p:nvPr/>
            </p:nvSpPr>
            <p:spPr bwMode="auto">
              <a:xfrm>
                <a:off x="3690" y="276"/>
                <a:ext cx="52" cy="52"/>
              </a:xfrm>
              <a:custGeom>
                <a:avLst/>
                <a:gdLst>
                  <a:gd name="T0" fmla="*/ 32 w 52"/>
                  <a:gd name="T1" fmla="*/ 0 h 52"/>
                  <a:gd name="T2" fmla="*/ 19 w 52"/>
                  <a:gd name="T3" fmla="*/ 6 h 52"/>
                  <a:gd name="T4" fmla="*/ 13 w 52"/>
                  <a:gd name="T5" fmla="*/ 13 h 52"/>
                  <a:gd name="T6" fmla="*/ 6 w 52"/>
                  <a:gd name="T7" fmla="*/ 26 h 52"/>
                  <a:gd name="T8" fmla="*/ 0 w 52"/>
                  <a:gd name="T9" fmla="*/ 39 h 52"/>
                  <a:gd name="T10" fmla="*/ 6 w 52"/>
                  <a:gd name="T11" fmla="*/ 45 h 52"/>
                  <a:gd name="T12" fmla="*/ 19 w 52"/>
                  <a:gd name="T13" fmla="*/ 52 h 52"/>
                  <a:gd name="T14" fmla="*/ 32 w 52"/>
                  <a:gd name="T15" fmla="*/ 52 h 52"/>
                  <a:gd name="T16" fmla="*/ 45 w 52"/>
                  <a:gd name="T17" fmla="*/ 39 h 52"/>
                  <a:gd name="T18" fmla="*/ 52 w 52"/>
                  <a:gd name="T19" fmla="*/ 19 h 52"/>
                  <a:gd name="T20" fmla="*/ 52 w 52"/>
                  <a:gd name="T21" fmla="*/ 6 h 52"/>
                  <a:gd name="T22" fmla="*/ 45 w 52"/>
                  <a:gd name="T23" fmla="*/ 0 h 52"/>
                  <a:gd name="T24" fmla="*/ 32 w 52"/>
                  <a:gd name="T25" fmla="*/ 0 h 52"/>
                  <a:gd name="T26" fmla="*/ 32 w 52"/>
                  <a:gd name="T27" fmla="*/ 0 h 52"/>
                  <a:gd name="T28" fmla="*/ 32 w 52"/>
                  <a:gd name="T29" fmla="*/ 6 h 52"/>
                  <a:gd name="T30" fmla="*/ 39 w 52"/>
                  <a:gd name="T31" fmla="*/ 6 h 52"/>
                  <a:gd name="T32" fmla="*/ 45 w 52"/>
                  <a:gd name="T33" fmla="*/ 13 h 52"/>
                  <a:gd name="T34" fmla="*/ 39 w 52"/>
                  <a:gd name="T35" fmla="*/ 39 h 52"/>
                  <a:gd name="T36" fmla="*/ 32 w 52"/>
                  <a:gd name="T37" fmla="*/ 45 h 52"/>
                  <a:gd name="T38" fmla="*/ 19 w 52"/>
                  <a:gd name="T39" fmla="*/ 52 h 52"/>
                  <a:gd name="T40" fmla="*/ 13 w 52"/>
                  <a:gd name="T41" fmla="*/ 45 h 52"/>
                  <a:gd name="T42" fmla="*/ 6 w 52"/>
                  <a:gd name="T43" fmla="*/ 39 h 52"/>
                  <a:gd name="T44" fmla="*/ 13 w 52"/>
                  <a:gd name="T45" fmla="*/ 19 h 52"/>
                  <a:gd name="T46" fmla="*/ 26 w 52"/>
                  <a:gd name="T47" fmla="*/ 13 h 52"/>
                  <a:gd name="T48" fmla="*/ 32 w 52"/>
                  <a:gd name="T49" fmla="*/ 6 h 52"/>
                  <a:gd name="T50" fmla="*/ 32 w 52"/>
                  <a:gd name="T51" fmla="*/ 6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2"/>
                  <a:gd name="T79" fmla="*/ 0 h 52"/>
                  <a:gd name="T80" fmla="*/ 52 w 52"/>
                  <a:gd name="T81" fmla="*/ 52 h 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2" h="52">
                    <a:moveTo>
                      <a:pt x="32" y="0"/>
                    </a:moveTo>
                    <a:lnTo>
                      <a:pt x="19" y="6"/>
                    </a:lnTo>
                    <a:lnTo>
                      <a:pt x="13" y="13"/>
                    </a:lnTo>
                    <a:lnTo>
                      <a:pt x="6" y="26"/>
                    </a:lnTo>
                    <a:lnTo>
                      <a:pt x="0" y="39"/>
                    </a:lnTo>
                    <a:lnTo>
                      <a:pt x="6" y="45"/>
                    </a:lnTo>
                    <a:lnTo>
                      <a:pt x="19" y="52"/>
                    </a:lnTo>
                    <a:lnTo>
                      <a:pt x="32" y="52"/>
                    </a:lnTo>
                    <a:lnTo>
                      <a:pt x="45" y="39"/>
                    </a:lnTo>
                    <a:lnTo>
                      <a:pt x="52" y="19"/>
                    </a:lnTo>
                    <a:lnTo>
                      <a:pt x="52" y="6"/>
                    </a:lnTo>
                    <a:lnTo>
                      <a:pt x="45" y="0"/>
                    </a:lnTo>
                    <a:lnTo>
                      <a:pt x="32" y="0"/>
                    </a:lnTo>
                    <a:close/>
                    <a:moveTo>
                      <a:pt x="32" y="6"/>
                    </a:moveTo>
                    <a:lnTo>
                      <a:pt x="39" y="6"/>
                    </a:lnTo>
                    <a:lnTo>
                      <a:pt x="45" y="13"/>
                    </a:lnTo>
                    <a:lnTo>
                      <a:pt x="39" y="39"/>
                    </a:lnTo>
                    <a:lnTo>
                      <a:pt x="32" y="45"/>
                    </a:lnTo>
                    <a:lnTo>
                      <a:pt x="19" y="52"/>
                    </a:lnTo>
                    <a:lnTo>
                      <a:pt x="13" y="45"/>
                    </a:lnTo>
                    <a:lnTo>
                      <a:pt x="6" y="39"/>
                    </a:lnTo>
                    <a:lnTo>
                      <a:pt x="13" y="19"/>
                    </a:lnTo>
                    <a:lnTo>
                      <a:pt x="26" y="13"/>
                    </a:lnTo>
                    <a:lnTo>
                      <a:pt x="32"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6" name="Group 108"/>
            <p:cNvGrpSpPr/>
            <p:nvPr/>
          </p:nvGrpSpPr>
          <p:grpSpPr bwMode="auto">
            <a:xfrm>
              <a:off x="3012" y="1550"/>
              <a:ext cx="2670" cy="1837"/>
              <a:chOff x="1493" y="2314"/>
              <a:chExt cx="2754" cy="1837"/>
            </a:xfrm>
          </p:grpSpPr>
          <p:sp>
            <p:nvSpPr>
              <p:cNvPr id="32786" name="Freeform 109"/>
              <p:cNvSpPr>
                <a:spLocks noEditPoints="1"/>
              </p:cNvSpPr>
              <p:nvPr/>
            </p:nvSpPr>
            <p:spPr bwMode="auto">
              <a:xfrm>
                <a:off x="4150" y="2812"/>
                <a:ext cx="39" cy="110"/>
              </a:xfrm>
              <a:custGeom>
                <a:avLst/>
                <a:gdLst>
                  <a:gd name="T0" fmla="*/ 32 w 39"/>
                  <a:gd name="T1" fmla="*/ 90 h 110"/>
                  <a:gd name="T2" fmla="*/ 26 w 39"/>
                  <a:gd name="T3" fmla="*/ 97 h 110"/>
                  <a:gd name="T4" fmla="*/ 19 w 39"/>
                  <a:gd name="T5" fmla="*/ 103 h 110"/>
                  <a:gd name="T6" fmla="*/ 13 w 39"/>
                  <a:gd name="T7" fmla="*/ 103 h 110"/>
                  <a:gd name="T8" fmla="*/ 13 w 39"/>
                  <a:gd name="T9" fmla="*/ 97 h 110"/>
                  <a:gd name="T10" fmla="*/ 13 w 39"/>
                  <a:gd name="T11" fmla="*/ 97 h 110"/>
                  <a:gd name="T12" fmla="*/ 19 w 39"/>
                  <a:gd name="T13" fmla="*/ 90 h 110"/>
                  <a:gd name="T14" fmla="*/ 32 w 39"/>
                  <a:gd name="T15" fmla="*/ 39 h 110"/>
                  <a:gd name="T16" fmla="*/ 32 w 39"/>
                  <a:gd name="T17" fmla="*/ 39 h 110"/>
                  <a:gd name="T18" fmla="*/ 19 w 39"/>
                  <a:gd name="T19" fmla="*/ 39 h 110"/>
                  <a:gd name="T20" fmla="*/ 6 w 39"/>
                  <a:gd name="T21" fmla="*/ 39 h 110"/>
                  <a:gd name="T22" fmla="*/ 6 w 39"/>
                  <a:gd name="T23" fmla="*/ 45 h 110"/>
                  <a:gd name="T24" fmla="*/ 13 w 39"/>
                  <a:gd name="T25" fmla="*/ 45 h 110"/>
                  <a:gd name="T26" fmla="*/ 13 w 39"/>
                  <a:gd name="T27" fmla="*/ 45 h 110"/>
                  <a:gd name="T28" fmla="*/ 13 w 39"/>
                  <a:gd name="T29" fmla="*/ 58 h 110"/>
                  <a:gd name="T30" fmla="*/ 6 w 39"/>
                  <a:gd name="T31" fmla="*/ 71 h 110"/>
                  <a:gd name="T32" fmla="*/ 0 w 39"/>
                  <a:gd name="T33" fmla="*/ 90 h 110"/>
                  <a:gd name="T34" fmla="*/ 0 w 39"/>
                  <a:gd name="T35" fmla="*/ 97 h 110"/>
                  <a:gd name="T36" fmla="*/ 0 w 39"/>
                  <a:gd name="T37" fmla="*/ 103 h 110"/>
                  <a:gd name="T38" fmla="*/ 6 w 39"/>
                  <a:gd name="T39" fmla="*/ 110 h 110"/>
                  <a:gd name="T40" fmla="*/ 19 w 39"/>
                  <a:gd name="T41" fmla="*/ 103 h 110"/>
                  <a:gd name="T42" fmla="*/ 32 w 39"/>
                  <a:gd name="T43" fmla="*/ 90 h 110"/>
                  <a:gd name="T44" fmla="*/ 32 w 39"/>
                  <a:gd name="T45" fmla="*/ 90 h 110"/>
                  <a:gd name="T46" fmla="*/ 39 w 39"/>
                  <a:gd name="T47" fmla="*/ 13 h 110"/>
                  <a:gd name="T48" fmla="*/ 32 w 39"/>
                  <a:gd name="T49" fmla="*/ 6 h 110"/>
                  <a:gd name="T50" fmla="*/ 26 w 39"/>
                  <a:gd name="T51" fmla="*/ 0 h 110"/>
                  <a:gd name="T52" fmla="*/ 26 w 39"/>
                  <a:gd name="T53" fmla="*/ 6 h 110"/>
                  <a:gd name="T54" fmla="*/ 19 w 39"/>
                  <a:gd name="T55" fmla="*/ 13 h 110"/>
                  <a:gd name="T56" fmla="*/ 26 w 39"/>
                  <a:gd name="T57" fmla="*/ 19 h 110"/>
                  <a:gd name="T58" fmla="*/ 26 w 39"/>
                  <a:gd name="T59" fmla="*/ 19 h 110"/>
                  <a:gd name="T60" fmla="*/ 32 w 39"/>
                  <a:gd name="T61" fmla="*/ 19 h 110"/>
                  <a:gd name="T62" fmla="*/ 39 w 39"/>
                  <a:gd name="T63" fmla="*/ 13 h 110"/>
                  <a:gd name="T64" fmla="*/ 39 w 39"/>
                  <a:gd name="T65" fmla="*/ 13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
                  <a:gd name="T100" fmla="*/ 0 h 110"/>
                  <a:gd name="T101" fmla="*/ 39 w 39"/>
                  <a:gd name="T102" fmla="*/ 110 h 11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 h="110">
                    <a:moveTo>
                      <a:pt x="32" y="90"/>
                    </a:moveTo>
                    <a:lnTo>
                      <a:pt x="26" y="97"/>
                    </a:lnTo>
                    <a:lnTo>
                      <a:pt x="19" y="103"/>
                    </a:lnTo>
                    <a:lnTo>
                      <a:pt x="13" y="103"/>
                    </a:lnTo>
                    <a:lnTo>
                      <a:pt x="13" y="97"/>
                    </a:lnTo>
                    <a:lnTo>
                      <a:pt x="19" y="90"/>
                    </a:lnTo>
                    <a:lnTo>
                      <a:pt x="32" y="39"/>
                    </a:lnTo>
                    <a:lnTo>
                      <a:pt x="19" y="39"/>
                    </a:lnTo>
                    <a:lnTo>
                      <a:pt x="6" y="39"/>
                    </a:lnTo>
                    <a:lnTo>
                      <a:pt x="6" y="45"/>
                    </a:lnTo>
                    <a:lnTo>
                      <a:pt x="13" y="45"/>
                    </a:lnTo>
                    <a:lnTo>
                      <a:pt x="13" y="58"/>
                    </a:lnTo>
                    <a:lnTo>
                      <a:pt x="6" y="71"/>
                    </a:lnTo>
                    <a:lnTo>
                      <a:pt x="0" y="90"/>
                    </a:lnTo>
                    <a:lnTo>
                      <a:pt x="0" y="97"/>
                    </a:lnTo>
                    <a:lnTo>
                      <a:pt x="0" y="103"/>
                    </a:lnTo>
                    <a:lnTo>
                      <a:pt x="6" y="110"/>
                    </a:lnTo>
                    <a:lnTo>
                      <a:pt x="19" y="103"/>
                    </a:lnTo>
                    <a:lnTo>
                      <a:pt x="32" y="90"/>
                    </a:lnTo>
                    <a:close/>
                    <a:moveTo>
                      <a:pt x="39" y="13"/>
                    </a:moveTo>
                    <a:lnTo>
                      <a:pt x="32" y="6"/>
                    </a:lnTo>
                    <a:lnTo>
                      <a:pt x="26" y="0"/>
                    </a:lnTo>
                    <a:lnTo>
                      <a:pt x="26" y="6"/>
                    </a:lnTo>
                    <a:lnTo>
                      <a:pt x="19" y="13"/>
                    </a:lnTo>
                    <a:lnTo>
                      <a:pt x="26" y="19"/>
                    </a:lnTo>
                    <a:lnTo>
                      <a:pt x="32" y="19"/>
                    </a:lnTo>
                    <a:lnTo>
                      <a:pt x="39"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87" name="Freeform 110"/>
              <p:cNvSpPr>
                <a:spLocks noEditPoints="1"/>
              </p:cNvSpPr>
              <p:nvPr/>
            </p:nvSpPr>
            <p:spPr bwMode="auto">
              <a:xfrm>
                <a:off x="4195" y="2902"/>
                <a:ext cx="52" cy="59"/>
              </a:xfrm>
              <a:custGeom>
                <a:avLst/>
                <a:gdLst>
                  <a:gd name="T0" fmla="*/ 33 w 52"/>
                  <a:gd name="T1" fmla="*/ 0 h 59"/>
                  <a:gd name="T2" fmla="*/ 20 w 52"/>
                  <a:gd name="T3" fmla="*/ 7 h 59"/>
                  <a:gd name="T4" fmla="*/ 7 w 52"/>
                  <a:gd name="T5" fmla="*/ 13 h 59"/>
                  <a:gd name="T6" fmla="*/ 0 w 52"/>
                  <a:gd name="T7" fmla="*/ 39 h 59"/>
                  <a:gd name="T8" fmla="*/ 0 w 52"/>
                  <a:gd name="T9" fmla="*/ 52 h 59"/>
                  <a:gd name="T10" fmla="*/ 7 w 52"/>
                  <a:gd name="T11" fmla="*/ 59 h 59"/>
                  <a:gd name="T12" fmla="*/ 20 w 52"/>
                  <a:gd name="T13" fmla="*/ 59 h 59"/>
                  <a:gd name="T14" fmla="*/ 33 w 52"/>
                  <a:gd name="T15" fmla="*/ 52 h 59"/>
                  <a:gd name="T16" fmla="*/ 39 w 52"/>
                  <a:gd name="T17" fmla="*/ 46 h 59"/>
                  <a:gd name="T18" fmla="*/ 52 w 52"/>
                  <a:gd name="T19" fmla="*/ 33 h 59"/>
                  <a:gd name="T20" fmla="*/ 52 w 52"/>
                  <a:gd name="T21" fmla="*/ 20 h 59"/>
                  <a:gd name="T22" fmla="*/ 52 w 52"/>
                  <a:gd name="T23" fmla="*/ 7 h 59"/>
                  <a:gd name="T24" fmla="*/ 46 w 52"/>
                  <a:gd name="T25" fmla="*/ 0 h 59"/>
                  <a:gd name="T26" fmla="*/ 33 w 52"/>
                  <a:gd name="T27" fmla="*/ 0 h 59"/>
                  <a:gd name="T28" fmla="*/ 33 w 52"/>
                  <a:gd name="T29" fmla="*/ 0 h 59"/>
                  <a:gd name="T30" fmla="*/ 33 w 52"/>
                  <a:gd name="T31" fmla="*/ 7 h 59"/>
                  <a:gd name="T32" fmla="*/ 39 w 52"/>
                  <a:gd name="T33" fmla="*/ 13 h 59"/>
                  <a:gd name="T34" fmla="*/ 46 w 52"/>
                  <a:gd name="T35" fmla="*/ 20 h 59"/>
                  <a:gd name="T36" fmla="*/ 39 w 52"/>
                  <a:gd name="T37" fmla="*/ 39 h 59"/>
                  <a:gd name="T38" fmla="*/ 33 w 52"/>
                  <a:gd name="T39" fmla="*/ 52 h 59"/>
                  <a:gd name="T40" fmla="*/ 20 w 52"/>
                  <a:gd name="T41" fmla="*/ 52 h 59"/>
                  <a:gd name="T42" fmla="*/ 13 w 52"/>
                  <a:gd name="T43" fmla="*/ 52 h 59"/>
                  <a:gd name="T44" fmla="*/ 7 w 52"/>
                  <a:gd name="T45" fmla="*/ 46 h 59"/>
                  <a:gd name="T46" fmla="*/ 13 w 52"/>
                  <a:gd name="T47" fmla="*/ 20 h 59"/>
                  <a:gd name="T48" fmla="*/ 26 w 52"/>
                  <a:gd name="T49" fmla="*/ 13 h 59"/>
                  <a:gd name="T50" fmla="*/ 33 w 52"/>
                  <a:gd name="T51" fmla="*/ 7 h 59"/>
                  <a:gd name="T52" fmla="*/ 33 w 52"/>
                  <a:gd name="T53" fmla="*/ 7 h 5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2"/>
                  <a:gd name="T82" fmla="*/ 0 h 59"/>
                  <a:gd name="T83" fmla="*/ 52 w 52"/>
                  <a:gd name="T84" fmla="*/ 59 h 5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2" h="59">
                    <a:moveTo>
                      <a:pt x="33" y="0"/>
                    </a:moveTo>
                    <a:lnTo>
                      <a:pt x="20" y="7"/>
                    </a:lnTo>
                    <a:lnTo>
                      <a:pt x="7" y="13"/>
                    </a:lnTo>
                    <a:lnTo>
                      <a:pt x="0" y="39"/>
                    </a:lnTo>
                    <a:lnTo>
                      <a:pt x="0" y="52"/>
                    </a:lnTo>
                    <a:lnTo>
                      <a:pt x="7" y="59"/>
                    </a:lnTo>
                    <a:lnTo>
                      <a:pt x="20" y="59"/>
                    </a:lnTo>
                    <a:lnTo>
                      <a:pt x="33" y="52"/>
                    </a:lnTo>
                    <a:lnTo>
                      <a:pt x="39" y="46"/>
                    </a:lnTo>
                    <a:lnTo>
                      <a:pt x="52" y="33"/>
                    </a:lnTo>
                    <a:lnTo>
                      <a:pt x="52" y="20"/>
                    </a:lnTo>
                    <a:lnTo>
                      <a:pt x="52" y="7"/>
                    </a:lnTo>
                    <a:lnTo>
                      <a:pt x="46" y="0"/>
                    </a:lnTo>
                    <a:lnTo>
                      <a:pt x="33" y="0"/>
                    </a:lnTo>
                    <a:close/>
                    <a:moveTo>
                      <a:pt x="33" y="7"/>
                    </a:moveTo>
                    <a:lnTo>
                      <a:pt x="39" y="13"/>
                    </a:lnTo>
                    <a:lnTo>
                      <a:pt x="46" y="20"/>
                    </a:lnTo>
                    <a:lnTo>
                      <a:pt x="39" y="39"/>
                    </a:lnTo>
                    <a:lnTo>
                      <a:pt x="33" y="52"/>
                    </a:lnTo>
                    <a:lnTo>
                      <a:pt x="20" y="52"/>
                    </a:lnTo>
                    <a:lnTo>
                      <a:pt x="13" y="52"/>
                    </a:lnTo>
                    <a:lnTo>
                      <a:pt x="7" y="46"/>
                    </a:lnTo>
                    <a:lnTo>
                      <a:pt x="13" y="20"/>
                    </a:lnTo>
                    <a:lnTo>
                      <a:pt x="26" y="13"/>
                    </a:lnTo>
                    <a:lnTo>
                      <a:pt x="33"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88" name="Freeform 111"/>
              <p:cNvSpPr/>
              <p:nvPr/>
            </p:nvSpPr>
            <p:spPr bwMode="auto">
              <a:xfrm>
                <a:off x="3165" y="2857"/>
                <a:ext cx="71" cy="71"/>
              </a:xfrm>
              <a:custGeom>
                <a:avLst/>
                <a:gdLst>
                  <a:gd name="T0" fmla="*/ 6 w 71"/>
                  <a:gd name="T1" fmla="*/ 7 h 71"/>
                  <a:gd name="T2" fmla="*/ 13 w 71"/>
                  <a:gd name="T3" fmla="*/ 7 h 71"/>
                  <a:gd name="T4" fmla="*/ 19 w 71"/>
                  <a:gd name="T5" fmla="*/ 20 h 71"/>
                  <a:gd name="T6" fmla="*/ 26 w 71"/>
                  <a:gd name="T7" fmla="*/ 45 h 71"/>
                  <a:gd name="T8" fmla="*/ 26 w 71"/>
                  <a:gd name="T9" fmla="*/ 65 h 71"/>
                  <a:gd name="T10" fmla="*/ 26 w 71"/>
                  <a:gd name="T11" fmla="*/ 71 h 71"/>
                  <a:gd name="T12" fmla="*/ 26 w 71"/>
                  <a:gd name="T13" fmla="*/ 71 h 71"/>
                  <a:gd name="T14" fmla="*/ 32 w 71"/>
                  <a:gd name="T15" fmla="*/ 65 h 71"/>
                  <a:gd name="T16" fmla="*/ 39 w 71"/>
                  <a:gd name="T17" fmla="*/ 58 h 71"/>
                  <a:gd name="T18" fmla="*/ 45 w 71"/>
                  <a:gd name="T19" fmla="*/ 52 h 71"/>
                  <a:gd name="T20" fmla="*/ 58 w 71"/>
                  <a:gd name="T21" fmla="*/ 39 h 71"/>
                  <a:gd name="T22" fmla="*/ 65 w 71"/>
                  <a:gd name="T23" fmla="*/ 26 h 71"/>
                  <a:gd name="T24" fmla="*/ 71 w 71"/>
                  <a:gd name="T25" fmla="*/ 13 h 71"/>
                  <a:gd name="T26" fmla="*/ 65 w 71"/>
                  <a:gd name="T27" fmla="*/ 7 h 71"/>
                  <a:gd name="T28" fmla="*/ 58 w 71"/>
                  <a:gd name="T29" fmla="*/ 0 h 71"/>
                  <a:gd name="T30" fmla="*/ 58 w 71"/>
                  <a:gd name="T31" fmla="*/ 7 h 71"/>
                  <a:gd name="T32" fmla="*/ 52 w 71"/>
                  <a:gd name="T33" fmla="*/ 7 h 71"/>
                  <a:gd name="T34" fmla="*/ 58 w 71"/>
                  <a:gd name="T35" fmla="*/ 13 h 71"/>
                  <a:gd name="T36" fmla="*/ 58 w 71"/>
                  <a:gd name="T37" fmla="*/ 20 h 71"/>
                  <a:gd name="T38" fmla="*/ 52 w 71"/>
                  <a:gd name="T39" fmla="*/ 39 h 71"/>
                  <a:gd name="T40" fmla="*/ 39 w 71"/>
                  <a:gd name="T41" fmla="*/ 52 h 71"/>
                  <a:gd name="T42" fmla="*/ 32 w 71"/>
                  <a:gd name="T43" fmla="*/ 58 h 71"/>
                  <a:gd name="T44" fmla="*/ 32 w 71"/>
                  <a:gd name="T45" fmla="*/ 33 h 71"/>
                  <a:gd name="T46" fmla="*/ 26 w 71"/>
                  <a:gd name="T47" fmla="*/ 7 h 71"/>
                  <a:gd name="T48" fmla="*/ 26 w 71"/>
                  <a:gd name="T49" fmla="*/ 0 h 71"/>
                  <a:gd name="T50" fmla="*/ 26 w 71"/>
                  <a:gd name="T51" fmla="*/ 0 h 71"/>
                  <a:gd name="T52" fmla="*/ 19 w 71"/>
                  <a:gd name="T53" fmla="*/ 7 h 71"/>
                  <a:gd name="T54" fmla="*/ 0 w 71"/>
                  <a:gd name="T55" fmla="*/ 7 h 71"/>
                  <a:gd name="T56" fmla="*/ 6 w 71"/>
                  <a:gd name="T57" fmla="*/ 7 h 7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1"/>
                  <a:gd name="T88" fmla="*/ 0 h 71"/>
                  <a:gd name="T89" fmla="*/ 71 w 71"/>
                  <a:gd name="T90" fmla="*/ 71 h 7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1" h="71">
                    <a:moveTo>
                      <a:pt x="6" y="7"/>
                    </a:moveTo>
                    <a:lnTo>
                      <a:pt x="13" y="7"/>
                    </a:lnTo>
                    <a:lnTo>
                      <a:pt x="19" y="20"/>
                    </a:lnTo>
                    <a:lnTo>
                      <a:pt x="26" y="45"/>
                    </a:lnTo>
                    <a:lnTo>
                      <a:pt x="26" y="65"/>
                    </a:lnTo>
                    <a:lnTo>
                      <a:pt x="26" y="71"/>
                    </a:lnTo>
                    <a:lnTo>
                      <a:pt x="32" y="65"/>
                    </a:lnTo>
                    <a:lnTo>
                      <a:pt x="39" y="58"/>
                    </a:lnTo>
                    <a:lnTo>
                      <a:pt x="45" y="52"/>
                    </a:lnTo>
                    <a:lnTo>
                      <a:pt x="58" y="39"/>
                    </a:lnTo>
                    <a:lnTo>
                      <a:pt x="65" y="26"/>
                    </a:lnTo>
                    <a:lnTo>
                      <a:pt x="71" y="13"/>
                    </a:lnTo>
                    <a:lnTo>
                      <a:pt x="65" y="7"/>
                    </a:lnTo>
                    <a:lnTo>
                      <a:pt x="58" y="0"/>
                    </a:lnTo>
                    <a:lnTo>
                      <a:pt x="58" y="7"/>
                    </a:lnTo>
                    <a:lnTo>
                      <a:pt x="52" y="7"/>
                    </a:lnTo>
                    <a:lnTo>
                      <a:pt x="58" y="13"/>
                    </a:lnTo>
                    <a:lnTo>
                      <a:pt x="58" y="20"/>
                    </a:lnTo>
                    <a:lnTo>
                      <a:pt x="52" y="39"/>
                    </a:lnTo>
                    <a:lnTo>
                      <a:pt x="39" y="52"/>
                    </a:lnTo>
                    <a:lnTo>
                      <a:pt x="32" y="58"/>
                    </a:lnTo>
                    <a:lnTo>
                      <a:pt x="32" y="33"/>
                    </a:lnTo>
                    <a:lnTo>
                      <a:pt x="26" y="7"/>
                    </a:lnTo>
                    <a:lnTo>
                      <a:pt x="26" y="0"/>
                    </a:lnTo>
                    <a:lnTo>
                      <a:pt x="19" y="7"/>
                    </a:lnTo>
                    <a:lnTo>
                      <a:pt x="0" y="7"/>
                    </a:lnTo>
                    <a:lnTo>
                      <a:pt x="6"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89" name="Freeform 112"/>
              <p:cNvSpPr>
                <a:spLocks noEditPoints="1"/>
              </p:cNvSpPr>
              <p:nvPr/>
            </p:nvSpPr>
            <p:spPr bwMode="auto">
              <a:xfrm>
                <a:off x="3230" y="2909"/>
                <a:ext cx="52" cy="58"/>
              </a:xfrm>
              <a:custGeom>
                <a:avLst/>
                <a:gdLst>
                  <a:gd name="T0" fmla="*/ 32 w 52"/>
                  <a:gd name="T1" fmla="*/ 0 h 58"/>
                  <a:gd name="T2" fmla="*/ 19 w 52"/>
                  <a:gd name="T3" fmla="*/ 6 h 58"/>
                  <a:gd name="T4" fmla="*/ 13 w 52"/>
                  <a:gd name="T5" fmla="*/ 13 h 58"/>
                  <a:gd name="T6" fmla="*/ 6 w 52"/>
                  <a:gd name="T7" fmla="*/ 26 h 58"/>
                  <a:gd name="T8" fmla="*/ 0 w 52"/>
                  <a:gd name="T9" fmla="*/ 39 h 58"/>
                  <a:gd name="T10" fmla="*/ 6 w 52"/>
                  <a:gd name="T11" fmla="*/ 52 h 58"/>
                  <a:gd name="T12" fmla="*/ 19 w 52"/>
                  <a:gd name="T13" fmla="*/ 58 h 58"/>
                  <a:gd name="T14" fmla="*/ 32 w 52"/>
                  <a:gd name="T15" fmla="*/ 52 h 58"/>
                  <a:gd name="T16" fmla="*/ 45 w 52"/>
                  <a:gd name="T17" fmla="*/ 45 h 58"/>
                  <a:gd name="T18" fmla="*/ 52 w 52"/>
                  <a:gd name="T19" fmla="*/ 19 h 58"/>
                  <a:gd name="T20" fmla="*/ 52 w 52"/>
                  <a:gd name="T21" fmla="*/ 6 h 58"/>
                  <a:gd name="T22" fmla="*/ 45 w 52"/>
                  <a:gd name="T23" fmla="*/ 0 h 58"/>
                  <a:gd name="T24" fmla="*/ 32 w 52"/>
                  <a:gd name="T25" fmla="*/ 0 h 58"/>
                  <a:gd name="T26" fmla="*/ 32 w 52"/>
                  <a:gd name="T27" fmla="*/ 0 h 58"/>
                  <a:gd name="T28" fmla="*/ 32 w 52"/>
                  <a:gd name="T29" fmla="*/ 6 h 58"/>
                  <a:gd name="T30" fmla="*/ 39 w 52"/>
                  <a:gd name="T31" fmla="*/ 6 h 58"/>
                  <a:gd name="T32" fmla="*/ 45 w 52"/>
                  <a:gd name="T33" fmla="*/ 13 h 58"/>
                  <a:gd name="T34" fmla="*/ 39 w 52"/>
                  <a:gd name="T35" fmla="*/ 39 h 58"/>
                  <a:gd name="T36" fmla="*/ 32 w 52"/>
                  <a:gd name="T37" fmla="*/ 45 h 58"/>
                  <a:gd name="T38" fmla="*/ 19 w 52"/>
                  <a:gd name="T39" fmla="*/ 52 h 58"/>
                  <a:gd name="T40" fmla="*/ 13 w 52"/>
                  <a:gd name="T41" fmla="*/ 52 h 58"/>
                  <a:gd name="T42" fmla="*/ 6 w 52"/>
                  <a:gd name="T43" fmla="*/ 39 h 58"/>
                  <a:gd name="T44" fmla="*/ 13 w 52"/>
                  <a:gd name="T45" fmla="*/ 19 h 58"/>
                  <a:gd name="T46" fmla="*/ 26 w 52"/>
                  <a:gd name="T47" fmla="*/ 13 h 58"/>
                  <a:gd name="T48" fmla="*/ 32 w 52"/>
                  <a:gd name="T49" fmla="*/ 6 h 58"/>
                  <a:gd name="T50" fmla="*/ 32 w 52"/>
                  <a:gd name="T51" fmla="*/ 6 h 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2"/>
                  <a:gd name="T79" fmla="*/ 0 h 58"/>
                  <a:gd name="T80" fmla="*/ 52 w 52"/>
                  <a:gd name="T81" fmla="*/ 58 h 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2" h="58">
                    <a:moveTo>
                      <a:pt x="32" y="0"/>
                    </a:moveTo>
                    <a:lnTo>
                      <a:pt x="19" y="6"/>
                    </a:lnTo>
                    <a:lnTo>
                      <a:pt x="13" y="13"/>
                    </a:lnTo>
                    <a:lnTo>
                      <a:pt x="6" y="26"/>
                    </a:lnTo>
                    <a:lnTo>
                      <a:pt x="0" y="39"/>
                    </a:lnTo>
                    <a:lnTo>
                      <a:pt x="6" y="52"/>
                    </a:lnTo>
                    <a:lnTo>
                      <a:pt x="19" y="58"/>
                    </a:lnTo>
                    <a:lnTo>
                      <a:pt x="32" y="52"/>
                    </a:lnTo>
                    <a:lnTo>
                      <a:pt x="45" y="45"/>
                    </a:lnTo>
                    <a:lnTo>
                      <a:pt x="52" y="19"/>
                    </a:lnTo>
                    <a:lnTo>
                      <a:pt x="52" y="6"/>
                    </a:lnTo>
                    <a:lnTo>
                      <a:pt x="45" y="0"/>
                    </a:lnTo>
                    <a:lnTo>
                      <a:pt x="32" y="0"/>
                    </a:lnTo>
                    <a:close/>
                    <a:moveTo>
                      <a:pt x="32" y="6"/>
                    </a:moveTo>
                    <a:lnTo>
                      <a:pt x="39" y="6"/>
                    </a:lnTo>
                    <a:lnTo>
                      <a:pt x="45" y="13"/>
                    </a:lnTo>
                    <a:lnTo>
                      <a:pt x="39" y="39"/>
                    </a:lnTo>
                    <a:lnTo>
                      <a:pt x="32" y="45"/>
                    </a:lnTo>
                    <a:lnTo>
                      <a:pt x="19" y="52"/>
                    </a:lnTo>
                    <a:lnTo>
                      <a:pt x="13" y="52"/>
                    </a:lnTo>
                    <a:lnTo>
                      <a:pt x="6" y="39"/>
                    </a:lnTo>
                    <a:lnTo>
                      <a:pt x="13" y="19"/>
                    </a:lnTo>
                    <a:lnTo>
                      <a:pt x="26" y="13"/>
                    </a:lnTo>
                    <a:lnTo>
                      <a:pt x="32"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0" name="Freeform 113"/>
              <p:cNvSpPr/>
              <p:nvPr/>
            </p:nvSpPr>
            <p:spPr bwMode="auto">
              <a:xfrm>
                <a:off x="2880" y="2385"/>
                <a:ext cx="1" cy="944"/>
              </a:xfrm>
              <a:custGeom>
                <a:avLst/>
                <a:gdLst>
                  <a:gd name="T0" fmla="*/ 0 w 1"/>
                  <a:gd name="T1" fmla="*/ 944 h 944"/>
                  <a:gd name="T2" fmla="*/ 0 w 1"/>
                  <a:gd name="T3" fmla="*/ 0 h 944"/>
                  <a:gd name="T4" fmla="*/ 0 w 1"/>
                  <a:gd name="T5" fmla="*/ 944 h 944"/>
                  <a:gd name="T6" fmla="*/ 0 w 1"/>
                  <a:gd name="T7" fmla="*/ 944 h 944"/>
                  <a:gd name="T8" fmla="*/ 0 60000 65536"/>
                  <a:gd name="T9" fmla="*/ 0 60000 65536"/>
                  <a:gd name="T10" fmla="*/ 0 60000 65536"/>
                  <a:gd name="T11" fmla="*/ 0 60000 65536"/>
                  <a:gd name="T12" fmla="*/ 0 w 1"/>
                  <a:gd name="T13" fmla="*/ 0 h 944"/>
                  <a:gd name="T14" fmla="*/ 1 w 1"/>
                  <a:gd name="T15" fmla="*/ 944 h 944"/>
                </a:gdLst>
                <a:ahLst/>
                <a:cxnLst>
                  <a:cxn ang="T8">
                    <a:pos x="T0" y="T1"/>
                  </a:cxn>
                  <a:cxn ang="T9">
                    <a:pos x="T2" y="T3"/>
                  </a:cxn>
                  <a:cxn ang="T10">
                    <a:pos x="T4" y="T5"/>
                  </a:cxn>
                  <a:cxn ang="T11">
                    <a:pos x="T6" y="T7"/>
                  </a:cxn>
                </a:cxnLst>
                <a:rect l="T12" t="T13" r="T14" b="T15"/>
                <a:pathLst>
                  <a:path w="1" h="944">
                    <a:moveTo>
                      <a:pt x="0" y="944"/>
                    </a:moveTo>
                    <a:lnTo>
                      <a:pt x="0" y="0"/>
                    </a:lnTo>
                    <a:lnTo>
                      <a:pt x="0" y="944"/>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1" name="Freeform 114"/>
              <p:cNvSpPr>
                <a:spLocks noEditPoints="1"/>
              </p:cNvSpPr>
              <p:nvPr/>
            </p:nvSpPr>
            <p:spPr bwMode="auto">
              <a:xfrm>
                <a:off x="1493" y="2385"/>
                <a:ext cx="1387" cy="1"/>
              </a:xfrm>
              <a:custGeom>
                <a:avLst/>
                <a:gdLst>
                  <a:gd name="T0" fmla="*/ 1387 w 1387"/>
                  <a:gd name="T1" fmla="*/ 0 h 1"/>
                  <a:gd name="T2" fmla="*/ 0 w 1387"/>
                  <a:gd name="T3" fmla="*/ 0 h 1"/>
                  <a:gd name="T4" fmla="*/ 1387 w 1387"/>
                  <a:gd name="T5" fmla="*/ 0 h 1"/>
                  <a:gd name="T6" fmla="*/ 1387 w 1387"/>
                  <a:gd name="T7" fmla="*/ 0 h 1"/>
                  <a:gd name="T8" fmla="*/ 1387 w 1387"/>
                  <a:gd name="T9" fmla="*/ 0 h 1"/>
                  <a:gd name="T10" fmla="*/ 1387 w 1387"/>
                  <a:gd name="T11" fmla="*/ 0 h 1"/>
                  <a:gd name="T12" fmla="*/ 1387 w 1387"/>
                  <a:gd name="T13" fmla="*/ 0 h 1"/>
                  <a:gd name="T14" fmla="*/ 0 60000 65536"/>
                  <a:gd name="T15" fmla="*/ 0 60000 65536"/>
                  <a:gd name="T16" fmla="*/ 0 60000 65536"/>
                  <a:gd name="T17" fmla="*/ 0 60000 65536"/>
                  <a:gd name="T18" fmla="*/ 0 60000 65536"/>
                  <a:gd name="T19" fmla="*/ 0 60000 65536"/>
                  <a:gd name="T20" fmla="*/ 0 60000 65536"/>
                  <a:gd name="T21" fmla="*/ 0 w 1387"/>
                  <a:gd name="T22" fmla="*/ 0 h 1"/>
                  <a:gd name="T23" fmla="*/ 1387 w 1387"/>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7" h="1">
                    <a:moveTo>
                      <a:pt x="1387" y="0"/>
                    </a:moveTo>
                    <a:lnTo>
                      <a:pt x="0" y="0"/>
                    </a:lnTo>
                    <a:lnTo>
                      <a:pt x="1387" y="0"/>
                    </a:lnTo>
                    <a:close/>
                    <a:moveTo>
                      <a:pt x="1387" y="0"/>
                    </a:moveTo>
                    <a:lnTo>
                      <a:pt x="1387"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2" name="Freeform 115"/>
              <p:cNvSpPr>
                <a:spLocks noEditPoints="1"/>
              </p:cNvSpPr>
              <p:nvPr/>
            </p:nvSpPr>
            <p:spPr bwMode="auto">
              <a:xfrm>
                <a:off x="1493" y="2385"/>
                <a:ext cx="1" cy="944"/>
              </a:xfrm>
              <a:custGeom>
                <a:avLst/>
                <a:gdLst>
                  <a:gd name="T0" fmla="*/ 0 w 1"/>
                  <a:gd name="T1" fmla="*/ 0 h 944"/>
                  <a:gd name="T2" fmla="*/ 0 w 1"/>
                  <a:gd name="T3" fmla="*/ 944 h 944"/>
                  <a:gd name="T4" fmla="*/ 0 w 1"/>
                  <a:gd name="T5" fmla="*/ 0 h 944"/>
                  <a:gd name="T6" fmla="*/ 0 w 1"/>
                  <a:gd name="T7" fmla="*/ 0 h 944"/>
                  <a:gd name="T8" fmla="*/ 0 w 1"/>
                  <a:gd name="T9" fmla="*/ 0 h 944"/>
                  <a:gd name="T10" fmla="*/ 0 w 1"/>
                  <a:gd name="T11" fmla="*/ 0 h 944"/>
                  <a:gd name="T12" fmla="*/ 0 w 1"/>
                  <a:gd name="T13" fmla="*/ 0 h 944"/>
                  <a:gd name="T14" fmla="*/ 0 60000 65536"/>
                  <a:gd name="T15" fmla="*/ 0 60000 65536"/>
                  <a:gd name="T16" fmla="*/ 0 60000 65536"/>
                  <a:gd name="T17" fmla="*/ 0 60000 65536"/>
                  <a:gd name="T18" fmla="*/ 0 60000 65536"/>
                  <a:gd name="T19" fmla="*/ 0 60000 65536"/>
                  <a:gd name="T20" fmla="*/ 0 60000 65536"/>
                  <a:gd name="T21" fmla="*/ 0 w 1"/>
                  <a:gd name="T22" fmla="*/ 0 h 944"/>
                  <a:gd name="T23" fmla="*/ 1 w 1"/>
                  <a:gd name="T24" fmla="*/ 944 h 9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944">
                    <a:moveTo>
                      <a:pt x="0" y="0"/>
                    </a:moveTo>
                    <a:lnTo>
                      <a:pt x="0" y="944"/>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3" name="Freeform 116"/>
              <p:cNvSpPr>
                <a:spLocks noEditPoints="1"/>
              </p:cNvSpPr>
              <p:nvPr/>
            </p:nvSpPr>
            <p:spPr bwMode="auto">
              <a:xfrm>
                <a:off x="1493" y="3329"/>
                <a:ext cx="1387" cy="1"/>
              </a:xfrm>
              <a:custGeom>
                <a:avLst/>
                <a:gdLst>
                  <a:gd name="T0" fmla="*/ 0 w 1387"/>
                  <a:gd name="T1" fmla="*/ 0 h 1"/>
                  <a:gd name="T2" fmla="*/ 1387 w 1387"/>
                  <a:gd name="T3" fmla="*/ 0 h 1"/>
                  <a:gd name="T4" fmla="*/ 0 w 1387"/>
                  <a:gd name="T5" fmla="*/ 0 h 1"/>
                  <a:gd name="T6" fmla="*/ 0 w 1387"/>
                  <a:gd name="T7" fmla="*/ 0 h 1"/>
                  <a:gd name="T8" fmla="*/ 0 w 1387"/>
                  <a:gd name="T9" fmla="*/ 0 h 1"/>
                  <a:gd name="T10" fmla="*/ 0 w 1387"/>
                  <a:gd name="T11" fmla="*/ 0 h 1"/>
                  <a:gd name="T12" fmla="*/ 0 w 1387"/>
                  <a:gd name="T13" fmla="*/ 0 h 1"/>
                  <a:gd name="T14" fmla="*/ 0 60000 65536"/>
                  <a:gd name="T15" fmla="*/ 0 60000 65536"/>
                  <a:gd name="T16" fmla="*/ 0 60000 65536"/>
                  <a:gd name="T17" fmla="*/ 0 60000 65536"/>
                  <a:gd name="T18" fmla="*/ 0 60000 65536"/>
                  <a:gd name="T19" fmla="*/ 0 60000 65536"/>
                  <a:gd name="T20" fmla="*/ 0 60000 65536"/>
                  <a:gd name="T21" fmla="*/ 0 w 1387"/>
                  <a:gd name="T22" fmla="*/ 0 h 1"/>
                  <a:gd name="T23" fmla="*/ 1387 w 1387"/>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7" h="1">
                    <a:moveTo>
                      <a:pt x="0" y="0"/>
                    </a:moveTo>
                    <a:lnTo>
                      <a:pt x="1387" y="0"/>
                    </a:lnTo>
                    <a:lnTo>
                      <a:pt x="0" y="0"/>
                    </a:lnTo>
                    <a:close/>
                    <a:moveTo>
                      <a:pt x="0" y="0"/>
                    </a:moveTo>
                    <a:lnTo>
                      <a:pt x="0" y="0"/>
                    </a:lnTo>
                    <a:close/>
                  </a:path>
                </a:pathLst>
              </a:custGeom>
              <a:solidFill>
                <a:srgbClr val="F0027F"/>
              </a:solidFill>
              <a:ln w="9525">
                <a:solidFill>
                  <a:srgbClr val="006666"/>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4" name="Freeform 117"/>
              <p:cNvSpPr/>
              <p:nvPr/>
            </p:nvSpPr>
            <p:spPr bwMode="auto">
              <a:xfrm>
                <a:off x="2880" y="332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0027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5" name="Freeform 118"/>
              <p:cNvSpPr/>
              <p:nvPr/>
            </p:nvSpPr>
            <p:spPr bwMode="auto">
              <a:xfrm>
                <a:off x="2880" y="2501"/>
                <a:ext cx="1030" cy="1"/>
              </a:xfrm>
              <a:custGeom>
                <a:avLst/>
                <a:gdLst>
                  <a:gd name="T0" fmla="*/ 0 w 1030"/>
                  <a:gd name="T1" fmla="*/ 0 h 1"/>
                  <a:gd name="T2" fmla="*/ 1030 w 1030"/>
                  <a:gd name="T3" fmla="*/ 0 h 1"/>
                  <a:gd name="T4" fmla="*/ 0 w 1030"/>
                  <a:gd name="T5" fmla="*/ 0 h 1"/>
                  <a:gd name="T6" fmla="*/ 0 w 1030"/>
                  <a:gd name="T7" fmla="*/ 0 h 1"/>
                  <a:gd name="T8" fmla="*/ 0 60000 65536"/>
                  <a:gd name="T9" fmla="*/ 0 60000 65536"/>
                  <a:gd name="T10" fmla="*/ 0 60000 65536"/>
                  <a:gd name="T11" fmla="*/ 0 60000 65536"/>
                  <a:gd name="T12" fmla="*/ 0 w 1030"/>
                  <a:gd name="T13" fmla="*/ 0 h 1"/>
                  <a:gd name="T14" fmla="*/ 1030 w 1030"/>
                  <a:gd name="T15" fmla="*/ 1 h 1"/>
                </a:gdLst>
                <a:ahLst/>
                <a:cxnLst>
                  <a:cxn ang="T8">
                    <a:pos x="T0" y="T1"/>
                  </a:cxn>
                  <a:cxn ang="T9">
                    <a:pos x="T2" y="T3"/>
                  </a:cxn>
                  <a:cxn ang="T10">
                    <a:pos x="T4" y="T5"/>
                  </a:cxn>
                  <a:cxn ang="T11">
                    <a:pos x="T6" y="T7"/>
                  </a:cxn>
                </a:cxnLst>
                <a:rect l="T12" t="T13" r="T14" b="T15"/>
                <a:pathLst>
                  <a:path w="1030" h="1">
                    <a:moveTo>
                      <a:pt x="0" y="0"/>
                    </a:moveTo>
                    <a:lnTo>
                      <a:pt x="1030"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6" name="Freeform 119"/>
              <p:cNvSpPr>
                <a:spLocks noEditPoints="1"/>
              </p:cNvSpPr>
              <p:nvPr/>
            </p:nvSpPr>
            <p:spPr bwMode="auto">
              <a:xfrm>
                <a:off x="3910" y="2501"/>
                <a:ext cx="1" cy="712"/>
              </a:xfrm>
              <a:custGeom>
                <a:avLst/>
                <a:gdLst>
                  <a:gd name="T0" fmla="*/ 0 w 1"/>
                  <a:gd name="T1" fmla="*/ 0 h 712"/>
                  <a:gd name="T2" fmla="*/ 0 w 1"/>
                  <a:gd name="T3" fmla="*/ 712 h 712"/>
                  <a:gd name="T4" fmla="*/ 0 w 1"/>
                  <a:gd name="T5" fmla="*/ 0 h 712"/>
                  <a:gd name="T6" fmla="*/ 0 w 1"/>
                  <a:gd name="T7" fmla="*/ 0 h 712"/>
                  <a:gd name="T8" fmla="*/ 0 w 1"/>
                  <a:gd name="T9" fmla="*/ 0 h 712"/>
                  <a:gd name="T10" fmla="*/ 0 w 1"/>
                  <a:gd name="T11" fmla="*/ 0 h 712"/>
                  <a:gd name="T12" fmla="*/ 0 w 1"/>
                  <a:gd name="T13" fmla="*/ 0 h 712"/>
                  <a:gd name="T14" fmla="*/ 0 60000 65536"/>
                  <a:gd name="T15" fmla="*/ 0 60000 65536"/>
                  <a:gd name="T16" fmla="*/ 0 60000 65536"/>
                  <a:gd name="T17" fmla="*/ 0 60000 65536"/>
                  <a:gd name="T18" fmla="*/ 0 60000 65536"/>
                  <a:gd name="T19" fmla="*/ 0 60000 65536"/>
                  <a:gd name="T20" fmla="*/ 0 60000 65536"/>
                  <a:gd name="T21" fmla="*/ 0 w 1"/>
                  <a:gd name="T22" fmla="*/ 0 h 712"/>
                  <a:gd name="T23" fmla="*/ 1 w 1"/>
                  <a:gd name="T24" fmla="*/ 712 h 7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712">
                    <a:moveTo>
                      <a:pt x="0" y="0"/>
                    </a:moveTo>
                    <a:lnTo>
                      <a:pt x="0" y="71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7" name="Freeform 120"/>
              <p:cNvSpPr>
                <a:spLocks noEditPoints="1"/>
              </p:cNvSpPr>
              <p:nvPr/>
            </p:nvSpPr>
            <p:spPr bwMode="auto">
              <a:xfrm>
                <a:off x="2886" y="3213"/>
                <a:ext cx="1024" cy="1"/>
              </a:xfrm>
              <a:custGeom>
                <a:avLst/>
                <a:gdLst>
                  <a:gd name="T0" fmla="*/ 1024 w 1024"/>
                  <a:gd name="T1" fmla="*/ 0 h 1"/>
                  <a:gd name="T2" fmla="*/ 0 w 1024"/>
                  <a:gd name="T3" fmla="*/ 0 h 1"/>
                  <a:gd name="T4" fmla="*/ 1024 w 1024"/>
                  <a:gd name="T5" fmla="*/ 0 h 1"/>
                  <a:gd name="T6" fmla="*/ 1024 w 1024"/>
                  <a:gd name="T7" fmla="*/ 0 h 1"/>
                  <a:gd name="T8" fmla="*/ 1024 w 1024"/>
                  <a:gd name="T9" fmla="*/ 0 h 1"/>
                  <a:gd name="T10" fmla="*/ 1024 w 1024"/>
                  <a:gd name="T11" fmla="*/ 0 h 1"/>
                  <a:gd name="T12" fmla="*/ 1024 w 1024"/>
                  <a:gd name="T13" fmla="*/ 0 h 1"/>
                  <a:gd name="T14" fmla="*/ 0 60000 65536"/>
                  <a:gd name="T15" fmla="*/ 0 60000 65536"/>
                  <a:gd name="T16" fmla="*/ 0 60000 65536"/>
                  <a:gd name="T17" fmla="*/ 0 60000 65536"/>
                  <a:gd name="T18" fmla="*/ 0 60000 65536"/>
                  <a:gd name="T19" fmla="*/ 0 60000 65536"/>
                  <a:gd name="T20" fmla="*/ 0 60000 65536"/>
                  <a:gd name="T21" fmla="*/ 0 w 1024"/>
                  <a:gd name="T22" fmla="*/ 0 h 1"/>
                  <a:gd name="T23" fmla="*/ 1024 w 1024"/>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4" h="1">
                    <a:moveTo>
                      <a:pt x="1024" y="0"/>
                    </a:moveTo>
                    <a:lnTo>
                      <a:pt x="0" y="0"/>
                    </a:lnTo>
                    <a:lnTo>
                      <a:pt x="1024" y="0"/>
                    </a:lnTo>
                    <a:close/>
                    <a:moveTo>
                      <a:pt x="1024" y="0"/>
                    </a:moveTo>
                    <a:lnTo>
                      <a:pt x="1024"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8" name="Freeform 167"/>
              <p:cNvSpPr/>
              <p:nvPr/>
            </p:nvSpPr>
            <p:spPr bwMode="auto">
              <a:xfrm>
                <a:off x="3178" y="2463"/>
                <a:ext cx="78" cy="77"/>
              </a:xfrm>
              <a:custGeom>
                <a:avLst/>
                <a:gdLst>
                  <a:gd name="T0" fmla="*/ 39 w 78"/>
                  <a:gd name="T1" fmla="*/ 77 h 77"/>
                  <a:gd name="T2" fmla="*/ 52 w 78"/>
                  <a:gd name="T3" fmla="*/ 77 h 77"/>
                  <a:gd name="T4" fmla="*/ 65 w 78"/>
                  <a:gd name="T5" fmla="*/ 64 h 77"/>
                  <a:gd name="T6" fmla="*/ 78 w 78"/>
                  <a:gd name="T7" fmla="*/ 51 h 77"/>
                  <a:gd name="T8" fmla="*/ 78 w 78"/>
                  <a:gd name="T9" fmla="*/ 38 h 77"/>
                  <a:gd name="T10" fmla="*/ 78 w 78"/>
                  <a:gd name="T11" fmla="*/ 25 h 77"/>
                  <a:gd name="T12" fmla="*/ 65 w 78"/>
                  <a:gd name="T13" fmla="*/ 12 h 77"/>
                  <a:gd name="T14" fmla="*/ 52 w 78"/>
                  <a:gd name="T15" fmla="*/ 6 h 77"/>
                  <a:gd name="T16" fmla="*/ 39 w 78"/>
                  <a:gd name="T17" fmla="*/ 0 h 77"/>
                  <a:gd name="T18" fmla="*/ 26 w 78"/>
                  <a:gd name="T19" fmla="*/ 6 h 77"/>
                  <a:gd name="T20" fmla="*/ 13 w 78"/>
                  <a:gd name="T21" fmla="*/ 12 h 77"/>
                  <a:gd name="T22" fmla="*/ 6 w 78"/>
                  <a:gd name="T23" fmla="*/ 25 h 77"/>
                  <a:gd name="T24" fmla="*/ 0 w 78"/>
                  <a:gd name="T25" fmla="*/ 38 h 77"/>
                  <a:gd name="T26" fmla="*/ 6 w 78"/>
                  <a:gd name="T27" fmla="*/ 51 h 77"/>
                  <a:gd name="T28" fmla="*/ 13 w 78"/>
                  <a:gd name="T29" fmla="*/ 64 h 77"/>
                  <a:gd name="T30" fmla="*/ 26 w 78"/>
                  <a:gd name="T31" fmla="*/ 77 h 77"/>
                  <a:gd name="T32" fmla="*/ 39 w 78"/>
                  <a:gd name="T33" fmla="*/ 77 h 77"/>
                  <a:gd name="T34" fmla="*/ 39 w 78"/>
                  <a:gd name="T35" fmla="*/ 77 h 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8"/>
                  <a:gd name="T55" fmla="*/ 0 h 77"/>
                  <a:gd name="T56" fmla="*/ 78 w 78"/>
                  <a:gd name="T57" fmla="*/ 77 h 7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8" h="77">
                    <a:moveTo>
                      <a:pt x="39" y="77"/>
                    </a:moveTo>
                    <a:lnTo>
                      <a:pt x="52" y="77"/>
                    </a:lnTo>
                    <a:lnTo>
                      <a:pt x="65" y="64"/>
                    </a:lnTo>
                    <a:lnTo>
                      <a:pt x="78" y="51"/>
                    </a:lnTo>
                    <a:lnTo>
                      <a:pt x="78" y="38"/>
                    </a:lnTo>
                    <a:lnTo>
                      <a:pt x="78" y="25"/>
                    </a:lnTo>
                    <a:lnTo>
                      <a:pt x="65" y="12"/>
                    </a:lnTo>
                    <a:lnTo>
                      <a:pt x="52" y="6"/>
                    </a:lnTo>
                    <a:lnTo>
                      <a:pt x="39" y="0"/>
                    </a:lnTo>
                    <a:lnTo>
                      <a:pt x="26" y="6"/>
                    </a:lnTo>
                    <a:lnTo>
                      <a:pt x="13" y="12"/>
                    </a:lnTo>
                    <a:lnTo>
                      <a:pt x="6" y="25"/>
                    </a:lnTo>
                    <a:lnTo>
                      <a:pt x="0" y="38"/>
                    </a:lnTo>
                    <a:lnTo>
                      <a:pt x="6" y="51"/>
                    </a:lnTo>
                    <a:lnTo>
                      <a:pt x="13" y="64"/>
                    </a:lnTo>
                    <a:lnTo>
                      <a:pt x="26" y="77"/>
                    </a:lnTo>
                    <a:lnTo>
                      <a:pt x="39" y="77"/>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799" name="Freeform 168"/>
              <p:cNvSpPr/>
              <p:nvPr/>
            </p:nvSpPr>
            <p:spPr bwMode="auto">
              <a:xfrm>
                <a:off x="3217" y="2501"/>
                <a:ext cx="39" cy="39"/>
              </a:xfrm>
              <a:custGeom>
                <a:avLst/>
                <a:gdLst>
                  <a:gd name="T0" fmla="*/ 0 w 39"/>
                  <a:gd name="T1" fmla="*/ 39 h 39"/>
                  <a:gd name="T2" fmla="*/ 26 w 39"/>
                  <a:gd name="T3" fmla="*/ 26 h 39"/>
                  <a:gd name="T4" fmla="*/ 39 w 39"/>
                  <a:gd name="T5" fmla="*/ 13 h 39"/>
                  <a:gd name="T6" fmla="*/ 39 w 39"/>
                  <a:gd name="T7" fmla="*/ 0 h 39"/>
                  <a:gd name="T8" fmla="*/ 39 w 39"/>
                  <a:gd name="T9" fmla="*/ 0 h 39"/>
                  <a:gd name="T10" fmla="*/ 39 w 39"/>
                  <a:gd name="T11" fmla="*/ 13 h 39"/>
                  <a:gd name="T12" fmla="*/ 26 w 39"/>
                  <a:gd name="T13" fmla="*/ 26 h 39"/>
                  <a:gd name="T14" fmla="*/ 13 w 39"/>
                  <a:gd name="T15" fmla="*/ 39 h 39"/>
                  <a:gd name="T16" fmla="*/ 0 w 39"/>
                  <a:gd name="T17" fmla="*/ 39 h 39"/>
                  <a:gd name="T18" fmla="*/ 0 w 39"/>
                  <a:gd name="T19" fmla="*/ 39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9"/>
                  <a:gd name="T32" fmla="*/ 39 w 39"/>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9">
                    <a:moveTo>
                      <a:pt x="0" y="39"/>
                    </a:moveTo>
                    <a:lnTo>
                      <a:pt x="26" y="26"/>
                    </a:lnTo>
                    <a:lnTo>
                      <a:pt x="39" y="13"/>
                    </a:lnTo>
                    <a:lnTo>
                      <a:pt x="39" y="0"/>
                    </a:lnTo>
                    <a:lnTo>
                      <a:pt x="39" y="13"/>
                    </a:lnTo>
                    <a:lnTo>
                      <a:pt x="26" y="26"/>
                    </a:lnTo>
                    <a:lnTo>
                      <a:pt x="13" y="39"/>
                    </a:lnTo>
                    <a:lnTo>
                      <a:pt x="0"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0" name="Freeform 169"/>
              <p:cNvSpPr>
                <a:spLocks noEditPoints="1"/>
              </p:cNvSpPr>
              <p:nvPr/>
            </p:nvSpPr>
            <p:spPr bwMode="auto">
              <a:xfrm>
                <a:off x="3217" y="2463"/>
                <a:ext cx="39" cy="38"/>
              </a:xfrm>
              <a:custGeom>
                <a:avLst/>
                <a:gdLst>
                  <a:gd name="T0" fmla="*/ 39 w 39"/>
                  <a:gd name="T1" fmla="*/ 38 h 38"/>
                  <a:gd name="T2" fmla="*/ 39 w 39"/>
                  <a:gd name="T3" fmla="*/ 25 h 38"/>
                  <a:gd name="T4" fmla="*/ 26 w 39"/>
                  <a:gd name="T5" fmla="*/ 12 h 38"/>
                  <a:gd name="T6" fmla="*/ 13 w 39"/>
                  <a:gd name="T7" fmla="*/ 6 h 38"/>
                  <a:gd name="T8" fmla="*/ 0 w 39"/>
                  <a:gd name="T9" fmla="*/ 0 h 38"/>
                  <a:gd name="T10" fmla="*/ 0 w 39"/>
                  <a:gd name="T11" fmla="*/ 0 h 38"/>
                  <a:gd name="T12" fmla="*/ 13 w 39"/>
                  <a:gd name="T13" fmla="*/ 6 h 38"/>
                  <a:gd name="T14" fmla="*/ 26 w 39"/>
                  <a:gd name="T15" fmla="*/ 12 h 38"/>
                  <a:gd name="T16" fmla="*/ 39 w 39"/>
                  <a:gd name="T17" fmla="*/ 25 h 38"/>
                  <a:gd name="T18" fmla="*/ 39 w 39"/>
                  <a:gd name="T19" fmla="*/ 38 h 38"/>
                  <a:gd name="T20" fmla="*/ 39 w 39"/>
                  <a:gd name="T21" fmla="*/ 38 h 38"/>
                  <a:gd name="T22" fmla="*/ 39 w 39"/>
                  <a:gd name="T23" fmla="*/ 38 h 38"/>
                  <a:gd name="T24" fmla="*/ 39 w 39"/>
                  <a:gd name="T25" fmla="*/ 38 h 38"/>
                  <a:gd name="T26" fmla="*/ 39 w 39"/>
                  <a:gd name="T27" fmla="*/ 38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8"/>
                  <a:gd name="T44" fmla="*/ 39 w 39"/>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8">
                    <a:moveTo>
                      <a:pt x="39" y="38"/>
                    </a:moveTo>
                    <a:lnTo>
                      <a:pt x="39" y="25"/>
                    </a:lnTo>
                    <a:lnTo>
                      <a:pt x="26" y="12"/>
                    </a:lnTo>
                    <a:lnTo>
                      <a:pt x="13" y="6"/>
                    </a:lnTo>
                    <a:lnTo>
                      <a:pt x="0" y="0"/>
                    </a:lnTo>
                    <a:lnTo>
                      <a:pt x="13" y="6"/>
                    </a:lnTo>
                    <a:lnTo>
                      <a:pt x="26" y="12"/>
                    </a:lnTo>
                    <a:lnTo>
                      <a:pt x="39" y="25"/>
                    </a:lnTo>
                    <a:lnTo>
                      <a:pt x="39" y="38"/>
                    </a:lnTo>
                    <a:close/>
                    <a:moveTo>
                      <a:pt x="39" y="38"/>
                    </a:moveTo>
                    <a:lnTo>
                      <a:pt x="39" y="3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1" name="Freeform 170"/>
              <p:cNvSpPr>
                <a:spLocks noEditPoints="1"/>
              </p:cNvSpPr>
              <p:nvPr/>
            </p:nvSpPr>
            <p:spPr bwMode="auto">
              <a:xfrm>
                <a:off x="3178" y="2463"/>
                <a:ext cx="39" cy="38"/>
              </a:xfrm>
              <a:custGeom>
                <a:avLst/>
                <a:gdLst>
                  <a:gd name="T0" fmla="*/ 39 w 39"/>
                  <a:gd name="T1" fmla="*/ 0 h 38"/>
                  <a:gd name="T2" fmla="*/ 26 w 39"/>
                  <a:gd name="T3" fmla="*/ 6 h 38"/>
                  <a:gd name="T4" fmla="*/ 13 w 39"/>
                  <a:gd name="T5" fmla="*/ 12 h 38"/>
                  <a:gd name="T6" fmla="*/ 6 w 39"/>
                  <a:gd name="T7" fmla="*/ 25 h 38"/>
                  <a:gd name="T8" fmla="*/ 0 w 39"/>
                  <a:gd name="T9" fmla="*/ 38 h 38"/>
                  <a:gd name="T10" fmla="*/ 0 w 39"/>
                  <a:gd name="T11" fmla="*/ 38 h 38"/>
                  <a:gd name="T12" fmla="*/ 6 w 39"/>
                  <a:gd name="T13" fmla="*/ 25 h 38"/>
                  <a:gd name="T14" fmla="*/ 13 w 39"/>
                  <a:gd name="T15" fmla="*/ 12 h 38"/>
                  <a:gd name="T16" fmla="*/ 26 w 39"/>
                  <a:gd name="T17" fmla="*/ 6 h 38"/>
                  <a:gd name="T18" fmla="*/ 39 w 39"/>
                  <a:gd name="T19" fmla="*/ 0 h 38"/>
                  <a:gd name="T20" fmla="*/ 39 w 39"/>
                  <a:gd name="T21" fmla="*/ 0 h 38"/>
                  <a:gd name="T22" fmla="*/ 39 w 39"/>
                  <a:gd name="T23" fmla="*/ 0 h 38"/>
                  <a:gd name="T24" fmla="*/ 39 w 39"/>
                  <a:gd name="T25" fmla="*/ 0 h 38"/>
                  <a:gd name="T26" fmla="*/ 39 w 39"/>
                  <a:gd name="T27" fmla="*/ 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8"/>
                  <a:gd name="T44" fmla="*/ 39 w 39"/>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8">
                    <a:moveTo>
                      <a:pt x="39" y="0"/>
                    </a:moveTo>
                    <a:lnTo>
                      <a:pt x="26" y="6"/>
                    </a:lnTo>
                    <a:lnTo>
                      <a:pt x="13" y="12"/>
                    </a:lnTo>
                    <a:lnTo>
                      <a:pt x="6" y="25"/>
                    </a:lnTo>
                    <a:lnTo>
                      <a:pt x="0" y="38"/>
                    </a:lnTo>
                    <a:lnTo>
                      <a:pt x="6" y="25"/>
                    </a:lnTo>
                    <a:lnTo>
                      <a:pt x="13" y="12"/>
                    </a:lnTo>
                    <a:lnTo>
                      <a:pt x="26" y="6"/>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2" name="Freeform 171"/>
              <p:cNvSpPr>
                <a:spLocks noEditPoints="1"/>
              </p:cNvSpPr>
              <p:nvPr/>
            </p:nvSpPr>
            <p:spPr bwMode="auto">
              <a:xfrm>
                <a:off x="3178" y="2501"/>
                <a:ext cx="39" cy="39"/>
              </a:xfrm>
              <a:custGeom>
                <a:avLst/>
                <a:gdLst>
                  <a:gd name="T0" fmla="*/ 0 w 39"/>
                  <a:gd name="T1" fmla="*/ 0 h 39"/>
                  <a:gd name="T2" fmla="*/ 6 w 39"/>
                  <a:gd name="T3" fmla="*/ 13 h 39"/>
                  <a:gd name="T4" fmla="*/ 13 w 39"/>
                  <a:gd name="T5" fmla="*/ 26 h 39"/>
                  <a:gd name="T6" fmla="*/ 26 w 39"/>
                  <a:gd name="T7" fmla="*/ 39 h 39"/>
                  <a:gd name="T8" fmla="*/ 39 w 39"/>
                  <a:gd name="T9" fmla="*/ 39 h 39"/>
                  <a:gd name="T10" fmla="*/ 39 w 39"/>
                  <a:gd name="T11" fmla="*/ 39 h 39"/>
                  <a:gd name="T12" fmla="*/ 13 w 39"/>
                  <a:gd name="T13" fmla="*/ 26 h 39"/>
                  <a:gd name="T14" fmla="*/ 6 w 39"/>
                  <a:gd name="T15" fmla="*/ 13 h 39"/>
                  <a:gd name="T16" fmla="*/ 0 w 39"/>
                  <a:gd name="T17" fmla="*/ 0 h 39"/>
                  <a:gd name="T18" fmla="*/ 0 w 39"/>
                  <a:gd name="T19" fmla="*/ 0 h 39"/>
                  <a:gd name="T20" fmla="*/ 0 w 39"/>
                  <a:gd name="T21" fmla="*/ 0 h 39"/>
                  <a:gd name="T22" fmla="*/ 0 w 39"/>
                  <a:gd name="T23" fmla="*/ 0 h 39"/>
                  <a:gd name="T24" fmla="*/ 0 w 39"/>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39"/>
                  <a:gd name="T41" fmla="*/ 39 w 39"/>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39">
                    <a:moveTo>
                      <a:pt x="0" y="0"/>
                    </a:moveTo>
                    <a:lnTo>
                      <a:pt x="6" y="13"/>
                    </a:lnTo>
                    <a:lnTo>
                      <a:pt x="13" y="26"/>
                    </a:lnTo>
                    <a:lnTo>
                      <a:pt x="26" y="39"/>
                    </a:lnTo>
                    <a:lnTo>
                      <a:pt x="39" y="39"/>
                    </a:lnTo>
                    <a:lnTo>
                      <a:pt x="13" y="26"/>
                    </a:lnTo>
                    <a:lnTo>
                      <a:pt x="6" y="1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3" name="Freeform 172"/>
              <p:cNvSpPr/>
              <p:nvPr/>
            </p:nvSpPr>
            <p:spPr bwMode="auto">
              <a:xfrm>
                <a:off x="3217" y="2540"/>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4" name="Freeform 173"/>
              <p:cNvSpPr/>
              <p:nvPr/>
            </p:nvSpPr>
            <p:spPr bwMode="auto">
              <a:xfrm>
                <a:off x="3178" y="3181"/>
                <a:ext cx="78" cy="71"/>
              </a:xfrm>
              <a:custGeom>
                <a:avLst/>
                <a:gdLst>
                  <a:gd name="T0" fmla="*/ 39 w 78"/>
                  <a:gd name="T1" fmla="*/ 71 h 71"/>
                  <a:gd name="T2" fmla="*/ 52 w 78"/>
                  <a:gd name="T3" fmla="*/ 71 h 71"/>
                  <a:gd name="T4" fmla="*/ 65 w 78"/>
                  <a:gd name="T5" fmla="*/ 58 h 71"/>
                  <a:gd name="T6" fmla="*/ 78 w 78"/>
                  <a:gd name="T7" fmla="*/ 45 h 71"/>
                  <a:gd name="T8" fmla="*/ 78 w 78"/>
                  <a:gd name="T9" fmla="*/ 32 h 71"/>
                  <a:gd name="T10" fmla="*/ 78 w 78"/>
                  <a:gd name="T11" fmla="*/ 19 h 71"/>
                  <a:gd name="T12" fmla="*/ 65 w 78"/>
                  <a:gd name="T13" fmla="*/ 6 h 71"/>
                  <a:gd name="T14" fmla="*/ 39 w 78"/>
                  <a:gd name="T15" fmla="*/ 0 h 71"/>
                  <a:gd name="T16" fmla="*/ 13 w 78"/>
                  <a:gd name="T17" fmla="*/ 6 h 71"/>
                  <a:gd name="T18" fmla="*/ 6 w 78"/>
                  <a:gd name="T19" fmla="*/ 19 h 71"/>
                  <a:gd name="T20" fmla="*/ 0 w 78"/>
                  <a:gd name="T21" fmla="*/ 32 h 71"/>
                  <a:gd name="T22" fmla="*/ 6 w 78"/>
                  <a:gd name="T23" fmla="*/ 45 h 71"/>
                  <a:gd name="T24" fmla="*/ 13 w 78"/>
                  <a:gd name="T25" fmla="*/ 58 h 71"/>
                  <a:gd name="T26" fmla="*/ 26 w 78"/>
                  <a:gd name="T27" fmla="*/ 71 h 71"/>
                  <a:gd name="T28" fmla="*/ 39 w 78"/>
                  <a:gd name="T29" fmla="*/ 71 h 71"/>
                  <a:gd name="T30" fmla="*/ 39 w 78"/>
                  <a:gd name="T31" fmla="*/ 71 h 7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8"/>
                  <a:gd name="T49" fmla="*/ 0 h 71"/>
                  <a:gd name="T50" fmla="*/ 78 w 78"/>
                  <a:gd name="T51" fmla="*/ 71 h 7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8" h="71">
                    <a:moveTo>
                      <a:pt x="39" y="71"/>
                    </a:moveTo>
                    <a:lnTo>
                      <a:pt x="52" y="71"/>
                    </a:lnTo>
                    <a:lnTo>
                      <a:pt x="65" y="58"/>
                    </a:lnTo>
                    <a:lnTo>
                      <a:pt x="78" y="45"/>
                    </a:lnTo>
                    <a:lnTo>
                      <a:pt x="78" y="32"/>
                    </a:lnTo>
                    <a:lnTo>
                      <a:pt x="78" y="19"/>
                    </a:lnTo>
                    <a:lnTo>
                      <a:pt x="65" y="6"/>
                    </a:lnTo>
                    <a:lnTo>
                      <a:pt x="39" y="0"/>
                    </a:lnTo>
                    <a:lnTo>
                      <a:pt x="13" y="6"/>
                    </a:lnTo>
                    <a:lnTo>
                      <a:pt x="6" y="19"/>
                    </a:lnTo>
                    <a:lnTo>
                      <a:pt x="0" y="32"/>
                    </a:lnTo>
                    <a:lnTo>
                      <a:pt x="6" y="45"/>
                    </a:lnTo>
                    <a:lnTo>
                      <a:pt x="13" y="58"/>
                    </a:lnTo>
                    <a:lnTo>
                      <a:pt x="26" y="71"/>
                    </a:lnTo>
                    <a:lnTo>
                      <a:pt x="39" y="71"/>
                    </a:lnTo>
                    <a:close/>
                  </a:path>
                </a:pathLst>
              </a:custGeom>
              <a:solidFill>
                <a:srgbClr val="FFFFFF"/>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5" name="Freeform 174"/>
              <p:cNvSpPr/>
              <p:nvPr/>
            </p:nvSpPr>
            <p:spPr bwMode="auto">
              <a:xfrm>
                <a:off x="3217" y="3213"/>
                <a:ext cx="39" cy="39"/>
              </a:xfrm>
              <a:custGeom>
                <a:avLst/>
                <a:gdLst>
                  <a:gd name="T0" fmla="*/ 0 w 39"/>
                  <a:gd name="T1" fmla="*/ 39 h 39"/>
                  <a:gd name="T2" fmla="*/ 13 w 39"/>
                  <a:gd name="T3" fmla="*/ 39 h 39"/>
                  <a:gd name="T4" fmla="*/ 26 w 39"/>
                  <a:gd name="T5" fmla="*/ 26 h 39"/>
                  <a:gd name="T6" fmla="*/ 39 w 39"/>
                  <a:gd name="T7" fmla="*/ 13 h 39"/>
                  <a:gd name="T8" fmla="*/ 39 w 39"/>
                  <a:gd name="T9" fmla="*/ 0 h 39"/>
                  <a:gd name="T10" fmla="*/ 39 w 39"/>
                  <a:gd name="T11" fmla="*/ 0 h 39"/>
                  <a:gd name="T12" fmla="*/ 39 w 39"/>
                  <a:gd name="T13" fmla="*/ 13 h 39"/>
                  <a:gd name="T14" fmla="*/ 26 w 39"/>
                  <a:gd name="T15" fmla="*/ 26 h 39"/>
                  <a:gd name="T16" fmla="*/ 13 w 39"/>
                  <a:gd name="T17" fmla="*/ 39 h 39"/>
                  <a:gd name="T18" fmla="*/ 0 w 39"/>
                  <a:gd name="T19" fmla="*/ 39 h 39"/>
                  <a:gd name="T20" fmla="*/ 0 w 39"/>
                  <a:gd name="T21" fmla="*/ 39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39"/>
                  <a:gd name="T35" fmla="*/ 39 w 39"/>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39">
                    <a:moveTo>
                      <a:pt x="0" y="39"/>
                    </a:moveTo>
                    <a:lnTo>
                      <a:pt x="13" y="39"/>
                    </a:lnTo>
                    <a:lnTo>
                      <a:pt x="26" y="26"/>
                    </a:lnTo>
                    <a:lnTo>
                      <a:pt x="39" y="13"/>
                    </a:lnTo>
                    <a:lnTo>
                      <a:pt x="39" y="0"/>
                    </a:lnTo>
                    <a:lnTo>
                      <a:pt x="39" y="13"/>
                    </a:lnTo>
                    <a:lnTo>
                      <a:pt x="26" y="26"/>
                    </a:lnTo>
                    <a:lnTo>
                      <a:pt x="13" y="39"/>
                    </a:lnTo>
                    <a:lnTo>
                      <a:pt x="0" y="39"/>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6" name="Freeform 175"/>
              <p:cNvSpPr>
                <a:spLocks noEditPoints="1"/>
              </p:cNvSpPr>
              <p:nvPr/>
            </p:nvSpPr>
            <p:spPr bwMode="auto">
              <a:xfrm>
                <a:off x="3217" y="3181"/>
                <a:ext cx="39" cy="32"/>
              </a:xfrm>
              <a:custGeom>
                <a:avLst/>
                <a:gdLst>
                  <a:gd name="T0" fmla="*/ 39 w 39"/>
                  <a:gd name="T1" fmla="*/ 32 h 32"/>
                  <a:gd name="T2" fmla="*/ 39 w 39"/>
                  <a:gd name="T3" fmla="*/ 19 h 32"/>
                  <a:gd name="T4" fmla="*/ 26 w 39"/>
                  <a:gd name="T5" fmla="*/ 6 h 32"/>
                  <a:gd name="T6" fmla="*/ 0 w 39"/>
                  <a:gd name="T7" fmla="*/ 0 h 32"/>
                  <a:gd name="T8" fmla="*/ 0 w 39"/>
                  <a:gd name="T9" fmla="*/ 0 h 32"/>
                  <a:gd name="T10" fmla="*/ 26 w 39"/>
                  <a:gd name="T11" fmla="*/ 6 h 32"/>
                  <a:gd name="T12" fmla="*/ 39 w 39"/>
                  <a:gd name="T13" fmla="*/ 19 h 32"/>
                  <a:gd name="T14" fmla="*/ 39 w 39"/>
                  <a:gd name="T15" fmla="*/ 32 h 32"/>
                  <a:gd name="T16" fmla="*/ 39 w 39"/>
                  <a:gd name="T17" fmla="*/ 32 h 32"/>
                  <a:gd name="T18" fmla="*/ 39 w 39"/>
                  <a:gd name="T19" fmla="*/ 32 h 32"/>
                  <a:gd name="T20" fmla="*/ 39 w 39"/>
                  <a:gd name="T21" fmla="*/ 32 h 32"/>
                  <a:gd name="T22" fmla="*/ 39 w 39"/>
                  <a:gd name="T23" fmla="*/ 32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2"/>
                  <a:gd name="T38" fmla="*/ 39 w 39"/>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2">
                    <a:moveTo>
                      <a:pt x="39" y="32"/>
                    </a:moveTo>
                    <a:lnTo>
                      <a:pt x="39" y="19"/>
                    </a:lnTo>
                    <a:lnTo>
                      <a:pt x="26" y="6"/>
                    </a:lnTo>
                    <a:lnTo>
                      <a:pt x="0" y="0"/>
                    </a:lnTo>
                    <a:lnTo>
                      <a:pt x="26" y="6"/>
                    </a:lnTo>
                    <a:lnTo>
                      <a:pt x="39" y="19"/>
                    </a:lnTo>
                    <a:lnTo>
                      <a:pt x="39" y="32"/>
                    </a:lnTo>
                    <a:close/>
                    <a:moveTo>
                      <a:pt x="39" y="32"/>
                    </a:moveTo>
                    <a:lnTo>
                      <a:pt x="39"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7" name="Freeform 176"/>
              <p:cNvSpPr>
                <a:spLocks noEditPoints="1"/>
              </p:cNvSpPr>
              <p:nvPr/>
            </p:nvSpPr>
            <p:spPr bwMode="auto">
              <a:xfrm>
                <a:off x="3178" y="3181"/>
                <a:ext cx="39" cy="32"/>
              </a:xfrm>
              <a:custGeom>
                <a:avLst/>
                <a:gdLst>
                  <a:gd name="T0" fmla="*/ 39 w 39"/>
                  <a:gd name="T1" fmla="*/ 0 h 32"/>
                  <a:gd name="T2" fmla="*/ 13 w 39"/>
                  <a:gd name="T3" fmla="*/ 6 h 32"/>
                  <a:gd name="T4" fmla="*/ 6 w 39"/>
                  <a:gd name="T5" fmla="*/ 19 h 32"/>
                  <a:gd name="T6" fmla="*/ 0 w 39"/>
                  <a:gd name="T7" fmla="*/ 32 h 32"/>
                  <a:gd name="T8" fmla="*/ 0 w 39"/>
                  <a:gd name="T9" fmla="*/ 32 h 32"/>
                  <a:gd name="T10" fmla="*/ 6 w 39"/>
                  <a:gd name="T11" fmla="*/ 19 h 32"/>
                  <a:gd name="T12" fmla="*/ 13 w 39"/>
                  <a:gd name="T13" fmla="*/ 6 h 32"/>
                  <a:gd name="T14" fmla="*/ 39 w 39"/>
                  <a:gd name="T15" fmla="*/ 0 h 32"/>
                  <a:gd name="T16" fmla="*/ 39 w 39"/>
                  <a:gd name="T17" fmla="*/ 0 h 32"/>
                  <a:gd name="T18" fmla="*/ 39 w 39"/>
                  <a:gd name="T19" fmla="*/ 0 h 32"/>
                  <a:gd name="T20" fmla="*/ 39 w 39"/>
                  <a:gd name="T21" fmla="*/ 0 h 32"/>
                  <a:gd name="T22" fmla="*/ 39 w 39"/>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32"/>
                  <a:gd name="T38" fmla="*/ 39 w 39"/>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32">
                    <a:moveTo>
                      <a:pt x="39" y="0"/>
                    </a:moveTo>
                    <a:lnTo>
                      <a:pt x="13" y="6"/>
                    </a:lnTo>
                    <a:lnTo>
                      <a:pt x="6" y="19"/>
                    </a:lnTo>
                    <a:lnTo>
                      <a:pt x="0" y="32"/>
                    </a:lnTo>
                    <a:lnTo>
                      <a:pt x="6" y="19"/>
                    </a:lnTo>
                    <a:lnTo>
                      <a:pt x="13" y="6"/>
                    </a:lnTo>
                    <a:lnTo>
                      <a:pt x="39" y="0"/>
                    </a:lnTo>
                    <a:close/>
                    <a:moveTo>
                      <a:pt x="39" y="0"/>
                    </a:move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8" name="Freeform 177"/>
              <p:cNvSpPr>
                <a:spLocks noEditPoints="1"/>
              </p:cNvSpPr>
              <p:nvPr/>
            </p:nvSpPr>
            <p:spPr bwMode="auto">
              <a:xfrm>
                <a:off x="3178" y="3213"/>
                <a:ext cx="39" cy="39"/>
              </a:xfrm>
              <a:custGeom>
                <a:avLst/>
                <a:gdLst>
                  <a:gd name="T0" fmla="*/ 0 w 39"/>
                  <a:gd name="T1" fmla="*/ 0 h 39"/>
                  <a:gd name="T2" fmla="*/ 6 w 39"/>
                  <a:gd name="T3" fmla="*/ 13 h 39"/>
                  <a:gd name="T4" fmla="*/ 13 w 39"/>
                  <a:gd name="T5" fmla="*/ 26 h 39"/>
                  <a:gd name="T6" fmla="*/ 26 w 39"/>
                  <a:gd name="T7" fmla="*/ 39 h 39"/>
                  <a:gd name="T8" fmla="*/ 39 w 39"/>
                  <a:gd name="T9" fmla="*/ 39 h 39"/>
                  <a:gd name="T10" fmla="*/ 39 w 39"/>
                  <a:gd name="T11" fmla="*/ 39 h 39"/>
                  <a:gd name="T12" fmla="*/ 26 w 39"/>
                  <a:gd name="T13" fmla="*/ 39 h 39"/>
                  <a:gd name="T14" fmla="*/ 13 w 39"/>
                  <a:gd name="T15" fmla="*/ 26 h 39"/>
                  <a:gd name="T16" fmla="*/ 6 w 39"/>
                  <a:gd name="T17" fmla="*/ 13 h 39"/>
                  <a:gd name="T18" fmla="*/ 0 w 39"/>
                  <a:gd name="T19" fmla="*/ 0 h 39"/>
                  <a:gd name="T20" fmla="*/ 0 w 39"/>
                  <a:gd name="T21" fmla="*/ 0 h 39"/>
                  <a:gd name="T22" fmla="*/ 0 w 39"/>
                  <a:gd name="T23" fmla="*/ 0 h 39"/>
                  <a:gd name="T24" fmla="*/ 0 w 39"/>
                  <a:gd name="T25" fmla="*/ 0 h 39"/>
                  <a:gd name="T26" fmla="*/ 0 w 39"/>
                  <a:gd name="T27" fmla="*/ 0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
                  <a:gd name="T43" fmla="*/ 0 h 39"/>
                  <a:gd name="T44" fmla="*/ 39 w 39"/>
                  <a:gd name="T45" fmla="*/ 39 h 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 h="39">
                    <a:moveTo>
                      <a:pt x="0" y="0"/>
                    </a:moveTo>
                    <a:lnTo>
                      <a:pt x="6" y="13"/>
                    </a:lnTo>
                    <a:lnTo>
                      <a:pt x="13" y="26"/>
                    </a:lnTo>
                    <a:lnTo>
                      <a:pt x="26" y="39"/>
                    </a:lnTo>
                    <a:lnTo>
                      <a:pt x="39" y="39"/>
                    </a:lnTo>
                    <a:lnTo>
                      <a:pt x="26" y="39"/>
                    </a:lnTo>
                    <a:lnTo>
                      <a:pt x="13" y="26"/>
                    </a:lnTo>
                    <a:lnTo>
                      <a:pt x="6" y="13"/>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09" name="Freeform 178"/>
              <p:cNvSpPr/>
              <p:nvPr/>
            </p:nvSpPr>
            <p:spPr bwMode="auto">
              <a:xfrm>
                <a:off x="3217" y="325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0" name="Freeform 179"/>
              <p:cNvSpPr>
                <a:spLocks noEditPoints="1"/>
              </p:cNvSpPr>
              <p:nvPr/>
            </p:nvSpPr>
            <p:spPr bwMode="auto">
              <a:xfrm>
                <a:off x="3178" y="2314"/>
                <a:ext cx="78" cy="71"/>
              </a:xfrm>
              <a:custGeom>
                <a:avLst/>
                <a:gdLst>
                  <a:gd name="T0" fmla="*/ 78 w 78"/>
                  <a:gd name="T1" fmla="*/ 52 h 71"/>
                  <a:gd name="T2" fmla="*/ 65 w 78"/>
                  <a:gd name="T3" fmla="*/ 58 h 71"/>
                  <a:gd name="T4" fmla="*/ 58 w 78"/>
                  <a:gd name="T5" fmla="*/ 64 h 71"/>
                  <a:gd name="T6" fmla="*/ 58 w 78"/>
                  <a:gd name="T7" fmla="*/ 64 h 71"/>
                  <a:gd name="T8" fmla="*/ 58 w 78"/>
                  <a:gd name="T9" fmla="*/ 52 h 71"/>
                  <a:gd name="T10" fmla="*/ 65 w 78"/>
                  <a:gd name="T11" fmla="*/ 32 h 71"/>
                  <a:gd name="T12" fmla="*/ 71 w 78"/>
                  <a:gd name="T13" fmla="*/ 13 h 71"/>
                  <a:gd name="T14" fmla="*/ 78 w 78"/>
                  <a:gd name="T15" fmla="*/ 0 h 71"/>
                  <a:gd name="T16" fmla="*/ 71 w 78"/>
                  <a:gd name="T17" fmla="*/ 0 h 71"/>
                  <a:gd name="T18" fmla="*/ 65 w 78"/>
                  <a:gd name="T19" fmla="*/ 0 h 71"/>
                  <a:gd name="T20" fmla="*/ 65 w 78"/>
                  <a:gd name="T21" fmla="*/ 0 h 71"/>
                  <a:gd name="T22" fmla="*/ 58 w 78"/>
                  <a:gd name="T23" fmla="*/ 13 h 71"/>
                  <a:gd name="T24" fmla="*/ 58 w 78"/>
                  <a:gd name="T25" fmla="*/ 13 h 71"/>
                  <a:gd name="T26" fmla="*/ 52 w 78"/>
                  <a:gd name="T27" fmla="*/ 6 h 71"/>
                  <a:gd name="T28" fmla="*/ 45 w 78"/>
                  <a:gd name="T29" fmla="*/ 0 h 71"/>
                  <a:gd name="T30" fmla="*/ 32 w 78"/>
                  <a:gd name="T31" fmla="*/ 6 h 71"/>
                  <a:gd name="T32" fmla="*/ 13 w 78"/>
                  <a:gd name="T33" fmla="*/ 19 h 71"/>
                  <a:gd name="T34" fmla="*/ 6 w 78"/>
                  <a:gd name="T35" fmla="*/ 39 h 71"/>
                  <a:gd name="T36" fmla="*/ 0 w 78"/>
                  <a:gd name="T37" fmla="*/ 52 h 71"/>
                  <a:gd name="T38" fmla="*/ 0 w 78"/>
                  <a:gd name="T39" fmla="*/ 64 h 71"/>
                  <a:gd name="T40" fmla="*/ 6 w 78"/>
                  <a:gd name="T41" fmla="*/ 71 h 71"/>
                  <a:gd name="T42" fmla="*/ 19 w 78"/>
                  <a:gd name="T43" fmla="*/ 71 h 71"/>
                  <a:gd name="T44" fmla="*/ 32 w 78"/>
                  <a:gd name="T45" fmla="*/ 71 h 71"/>
                  <a:gd name="T46" fmla="*/ 45 w 78"/>
                  <a:gd name="T47" fmla="*/ 64 h 71"/>
                  <a:gd name="T48" fmla="*/ 52 w 78"/>
                  <a:gd name="T49" fmla="*/ 52 h 71"/>
                  <a:gd name="T50" fmla="*/ 52 w 78"/>
                  <a:gd name="T51" fmla="*/ 52 h 71"/>
                  <a:gd name="T52" fmla="*/ 45 w 78"/>
                  <a:gd name="T53" fmla="*/ 58 h 71"/>
                  <a:gd name="T54" fmla="*/ 45 w 78"/>
                  <a:gd name="T55" fmla="*/ 64 h 71"/>
                  <a:gd name="T56" fmla="*/ 45 w 78"/>
                  <a:gd name="T57" fmla="*/ 71 h 71"/>
                  <a:gd name="T58" fmla="*/ 52 w 78"/>
                  <a:gd name="T59" fmla="*/ 71 h 71"/>
                  <a:gd name="T60" fmla="*/ 65 w 78"/>
                  <a:gd name="T61" fmla="*/ 64 h 71"/>
                  <a:gd name="T62" fmla="*/ 78 w 78"/>
                  <a:gd name="T63" fmla="*/ 58 h 71"/>
                  <a:gd name="T64" fmla="*/ 78 w 78"/>
                  <a:gd name="T65" fmla="*/ 52 h 71"/>
                  <a:gd name="T66" fmla="*/ 13 w 78"/>
                  <a:gd name="T67" fmla="*/ 52 h 71"/>
                  <a:gd name="T68" fmla="*/ 13 w 78"/>
                  <a:gd name="T69" fmla="*/ 39 h 71"/>
                  <a:gd name="T70" fmla="*/ 26 w 78"/>
                  <a:gd name="T71" fmla="*/ 26 h 71"/>
                  <a:gd name="T72" fmla="*/ 32 w 78"/>
                  <a:gd name="T73" fmla="*/ 13 h 71"/>
                  <a:gd name="T74" fmla="*/ 52 w 78"/>
                  <a:gd name="T75" fmla="*/ 6 h 71"/>
                  <a:gd name="T76" fmla="*/ 58 w 78"/>
                  <a:gd name="T77" fmla="*/ 6 h 71"/>
                  <a:gd name="T78" fmla="*/ 58 w 78"/>
                  <a:gd name="T79" fmla="*/ 13 h 71"/>
                  <a:gd name="T80" fmla="*/ 58 w 78"/>
                  <a:gd name="T81" fmla="*/ 32 h 71"/>
                  <a:gd name="T82" fmla="*/ 45 w 78"/>
                  <a:gd name="T83" fmla="*/ 45 h 71"/>
                  <a:gd name="T84" fmla="*/ 39 w 78"/>
                  <a:gd name="T85" fmla="*/ 58 h 71"/>
                  <a:gd name="T86" fmla="*/ 26 w 78"/>
                  <a:gd name="T87" fmla="*/ 64 h 71"/>
                  <a:gd name="T88" fmla="*/ 19 w 78"/>
                  <a:gd name="T89" fmla="*/ 64 h 71"/>
                  <a:gd name="T90" fmla="*/ 13 w 78"/>
                  <a:gd name="T91" fmla="*/ 52 h 71"/>
                  <a:gd name="T92" fmla="*/ 13 w 78"/>
                  <a:gd name="T93" fmla="*/ 52 h 7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8"/>
                  <a:gd name="T142" fmla="*/ 0 h 71"/>
                  <a:gd name="T143" fmla="*/ 78 w 78"/>
                  <a:gd name="T144" fmla="*/ 71 h 7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8" h="71">
                    <a:moveTo>
                      <a:pt x="78" y="52"/>
                    </a:moveTo>
                    <a:lnTo>
                      <a:pt x="65" y="58"/>
                    </a:lnTo>
                    <a:lnTo>
                      <a:pt x="58" y="64"/>
                    </a:lnTo>
                    <a:lnTo>
                      <a:pt x="58" y="52"/>
                    </a:lnTo>
                    <a:lnTo>
                      <a:pt x="65" y="32"/>
                    </a:lnTo>
                    <a:lnTo>
                      <a:pt x="71" y="13"/>
                    </a:lnTo>
                    <a:lnTo>
                      <a:pt x="78" y="0"/>
                    </a:lnTo>
                    <a:lnTo>
                      <a:pt x="71" y="0"/>
                    </a:lnTo>
                    <a:lnTo>
                      <a:pt x="65" y="0"/>
                    </a:lnTo>
                    <a:lnTo>
                      <a:pt x="58" y="13"/>
                    </a:lnTo>
                    <a:lnTo>
                      <a:pt x="52" y="6"/>
                    </a:lnTo>
                    <a:lnTo>
                      <a:pt x="45" y="0"/>
                    </a:lnTo>
                    <a:lnTo>
                      <a:pt x="32" y="6"/>
                    </a:lnTo>
                    <a:lnTo>
                      <a:pt x="13" y="19"/>
                    </a:lnTo>
                    <a:lnTo>
                      <a:pt x="6" y="39"/>
                    </a:lnTo>
                    <a:lnTo>
                      <a:pt x="0" y="52"/>
                    </a:lnTo>
                    <a:lnTo>
                      <a:pt x="0" y="64"/>
                    </a:lnTo>
                    <a:lnTo>
                      <a:pt x="6" y="71"/>
                    </a:lnTo>
                    <a:lnTo>
                      <a:pt x="19" y="71"/>
                    </a:lnTo>
                    <a:lnTo>
                      <a:pt x="32" y="71"/>
                    </a:lnTo>
                    <a:lnTo>
                      <a:pt x="45" y="64"/>
                    </a:lnTo>
                    <a:lnTo>
                      <a:pt x="52" y="52"/>
                    </a:lnTo>
                    <a:lnTo>
                      <a:pt x="45" y="58"/>
                    </a:lnTo>
                    <a:lnTo>
                      <a:pt x="45" y="64"/>
                    </a:lnTo>
                    <a:lnTo>
                      <a:pt x="45" y="71"/>
                    </a:lnTo>
                    <a:lnTo>
                      <a:pt x="52" y="71"/>
                    </a:lnTo>
                    <a:lnTo>
                      <a:pt x="65" y="64"/>
                    </a:lnTo>
                    <a:lnTo>
                      <a:pt x="78" y="58"/>
                    </a:lnTo>
                    <a:lnTo>
                      <a:pt x="78" y="52"/>
                    </a:lnTo>
                    <a:close/>
                    <a:moveTo>
                      <a:pt x="13" y="52"/>
                    </a:moveTo>
                    <a:lnTo>
                      <a:pt x="13" y="39"/>
                    </a:lnTo>
                    <a:lnTo>
                      <a:pt x="26" y="26"/>
                    </a:lnTo>
                    <a:lnTo>
                      <a:pt x="32" y="13"/>
                    </a:lnTo>
                    <a:lnTo>
                      <a:pt x="52" y="6"/>
                    </a:lnTo>
                    <a:lnTo>
                      <a:pt x="58" y="6"/>
                    </a:lnTo>
                    <a:lnTo>
                      <a:pt x="58" y="13"/>
                    </a:lnTo>
                    <a:lnTo>
                      <a:pt x="58" y="32"/>
                    </a:lnTo>
                    <a:lnTo>
                      <a:pt x="45" y="45"/>
                    </a:lnTo>
                    <a:lnTo>
                      <a:pt x="39" y="58"/>
                    </a:lnTo>
                    <a:lnTo>
                      <a:pt x="26" y="64"/>
                    </a:lnTo>
                    <a:lnTo>
                      <a:pt x="19" y="64"/>
                    </a:lnTo>
                    <a:lnTo>
                      <a:pt x="13" y="5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1" name="Freeform 180"/>
              <p:cNvSpPr>
                <a:spLocks noEditPoints="1"/>
              </p:cNvSpPr>
              <p:nvPr/>
            </p:nvSpPr>
            <p:spPr bwMode="auto">
              <a:xfrm>
                <a:off x="3178" y="3310"/>
                <a:ext cx="78" cy="110"/>
              </a:xfrm>
              <a:custGeom>
                <a:avLst/>
                <a:gdLst>
                  <a:gd name="T0" fmla="*/ 65 w 78"/>
                  <a:gd name="T1" fmla="*/ 58 h 110"/>
                  <a:gd name="T2" fmla="*/ 65 w 78"/>
                  <a:gd name="T3" fmla="*/ 71 h 110"/>
                  <a:gd name="T4" fmla="*/ 52 w 78"/>
                  <a:gd name="T5" fmla="*/ 84 h 110"/>
                  <a:gd name="T6" fmla="*/ 39 w 78"/>
                  <a:gd name="T7" fmla="*/ 97 h 110"/>
                  <a:gd name="T8" fmla="*/ 26 w 78"/>
                  <a:gd name="T9" fmla="*/ 104 h 110"/>
                  <a:gd name="T10" fmla="*/ 13 w 78"/>
                  <a:gd name="T11" fmla="*/ 104 h 110"/>
                  <a:gd name="T12" fmla="*/ 13 w 78"/>
                  <a:gd name="T13" fmla="*/ 104 h 110"/>
                  <a:gd name="T14" fmla="*/ 19 w 78"/>
                  <a:gd name="T15" fmla="*/ 84 h 110"/>
                  <a:gd name="T16" fmla="*/ 26 w 78"/>
                  <a:gd name="T17" fmla="*/ 65 h 110"/>
                  <a:gd name="T18" fmla="*/ 39 w 78"/>
                  <a:gd name="T19" fmla="*/ 52 h 110"/>
                  <a:gd name="T20" fmla="*/ 52 w 78"/>
                  <a:gd name="T21" fmla="*/ 45 h 110"/>
                  <a:gd name="T22" fmla="*/ 58 w 78"/>
                  <a:gd name="T23" fmla="*/ 52 h 110"/>
                  <a:gd name="T24" fmla="*/ 65 w 78"/>
                  <a:gd name="T25" fmla="*/ 58 h 110"/>
                  <a:gd name="T26" fmla="*/ 65 w 78"/>
                  <a:gd name="T27" fmla="*/ 58 h 110"/>
                  <a:gd name="T28" fmla="*/ 13 w 78"/>
                  <a:gd name="T29" fmla="*/ 7 h 110"/>
                  <a:gd name="T30" fmla="*/ 26 w 78"/>
                  <a:gd name="T31" fmla="*/ 7 h 110"/>
                  <a:gd name="T32" fmla="*/ 26 w 78"/>
                  <a:gd name="T33" fmla="*/ 13 h 110"/>
                  <a:gd name="T34" fmla="*/ 26 w 78"/>
                  <a:gd name="T35" fmla="*/ 19 h 110"/>
                  <a:gd name="T36" fmla="*/ 26 w 78"/>
                  <a:gd name="T37" fmla="*/ 19 h 110"/>
                  <a:gd name="T38" fmla="*/ 0 w 78"/>
                  <a:gd name="T39" fmla="*/ 104 h 110"/>
                  <a:gd name="T40" fmla="*/ 0 w 78"/>
                  <a:gd name="T41" fmla="*/ 104 h 110"/>
                  <a:gd name="T42" fmla="*/ 6 w 78"/>
                  <a:gd name="T43" fmla="*/ 110 h 110"/>
                  <a:gd name="T44" fmla="*/ 26 w 78"/>
                  <a:gd name="T45" fmla="*/ 110 h 110"/>
                  <a:gd name="T46" fmla="*/ 45 w 78"/>
                  <a:gd name="T47" fmla="*/ 104 h 110"/>
                  <a:gd name="T48" fmla="*/ 58 w 78"/>
                  <a:gd name="T49" fmla="*/ 97 h 110"/>
                  <a:gd name="T50" fmla="*/ 71 w 78"/>
                  <a:gd name="T51" fmla="*/ 78 h 110"/>
                  <a:gd name="T52" fmla="*/ 78 w 78"/>
                  <a:gd name="T53" fmla="*/ 58 h 110"/>
                  <a:gd name="T54" fmla="*/ 71 w 78"/>
                  <a:gd name="T55" fmla="*/ 45 h 110"/>
                  <a:gd name="T56" fmla="*/ 58 w 78"/>
                  <a:gd name="T57" fmla="*/ 39 h 110"/>
                  <a:gd name="T58" fmla="*/ 39 w 78"/>
                  <a:gd name="T59" fmla="*/ 45 h 110"/>
                  <a:gd name="T60" fmla="*/ 26 w 78"/>
                  <a:gd name="T61" fmla="*/ 65 h 110"/>
                  <a:gd name="T62" fmla="*/ 26 w 78"/>
                  <a:gd name="T63" fmla="*/ 58 h 110"/>
                  <a:gd name="T64" fmla="*/ 32 w 78"/>
                  <a:gd name="T65" fmla="*/ 45 h 110"/>
                  <a:gd name="T66" fmla="*/ 32 w 78"/>
                  <a:gd name="T67" fmla="*/ 32 h 110"/>
                  <a:gd name="T68" fmla="*/ 39 w 78"/>
                  <a:gd name="T69" fmla="*/ 13 h 110"/>
                  <a:gd name="T70" fmla="*/ 39 w 78"/>
                  <a:gd name="T71" fmla="*/ 0 h 110"/>
                  <a:gd name="T72" fmla="*/ 39 w 78"/>
                  <a:gd name="T73" fmla="*/ 0 h 110"/>
                  <a:gd name="T74" fmla="*/ 26 w 78"/>
                  <a:gd name="T75" fmla="*/ 0 h 110"/>
                  <a:gd name="T76" fmla="*/ 13 w 78"/>
                  <a:gd name="T77" fmla="*/ 7 h 110"/>
                  <a:gd name="T78" fmla="*/ 13 w 78"/>
                  <a:gd name="T79" fmla="*/ 7 h 11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8"/>
                  <a:gd name="T121" fmla="*/ 0 h 110"/>
                  <a:gd name="T122" fmla="*/ 78 w 78"/>
                  <a:gd name="T123" fmla="*/ 110 h 11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8" h="110">
                    <a:moveTo>
                      <a:pt x="65" y="58"/>
                    </a:moveTo>
                    <a:lnTo>
                      <a:pt x="65" y="71"/>
                    </a:lnTo>
                    <a:lnTo>
                      <a:pt x="52" y="84"/>
                    </a:lnTo>
                    <a:lnTo>
                      <a:pt x="39" y="97"/>
                    </a:lnTo>
                    <a:lnTo>
                      <a:pt x="26" y="104"/>
                    </a:lnTo>
                    <a:lnTo>
                      <a:pt x="13" y="104"/>
                    </a:lnTo>
                    <a:lnTo>
                      <a:pt x="19" y="84"/>
                    </a:lnTo>
                    <a:lnTo>
                      <a:pt x="26" y="65"/>
                    </a:lnTo>
                    <a:lnTo>
                      <a:pt x="39" y="52"/>
                    </a:lnTo>
                    <a:lnTo>
                      <a:pt x="52" y="45"/>
                    </a:lnTo>
                    <a:lnTo>
                      <a:pt x="58" y="52"/>
                    </a:lnTo>
                    <a:lnTo>
                      <a:pt x="65" y="58"/>
                    </a:lnTo>
                    <a:close/>
                    <a:moveTo>
                      <a:pt x="13" y="7"/>
                    </a:moveTo>
                    <a:lnTo>
                      <a:pt x="26" y="7"/>
                    </a:lnTo>
                    <a:lnTo>
                      <a:pt x="26" y="13"/>
                    </a:lnTo>
                    <a:lnTo>
                      <a:pt x="26" y="19"/>
                    </a:lnTo>
                    <a:lnTo>
                      <a:pt x="0" y="104"/>
                    </a:lnTo>
                    <a:lnTo>
                      <a:pt x="6" y="110"/>
                    </a:lnTo>
                    <a:lnTo>
                      <a:pt x="26" y="110"/>
                    </a:lnTo>
                    <a:lnTo>
                      <a:pt x="45" y="104"/>
                    </a:lnTo>
                    <a:lnTo>
                      <a:pt x="58" y="97"/>
                    </a:lnTo>
                    <a:lnTo>
                      <a:pt x="71" y="78"/>
                    </a:lnTo>
                    <a:lnTo>
                      <a:pt x="78" y="58"/>
                    </a:lnTo>
                    <a:lnTo>
                      <a:pt x="71" y="45"/>
                    </a:lnTo>
                    <a:lnTo>
                      <a:pt x="58" y="39"/>
                    </a:lnTo>
                    <a:lnTo>
                      <a:pt x="39" y="45"/>
                    </a:lnTo>
                    <a:lnTo>
                      <a:pt x="26" y="65"/>
                    </a:lnTo>
                    <a:lnTo>
                      <a:pt x="26" y="58"/>
                    </a:lnTo>
                    <a:lnTo>
                      <a:pt x="32" y="45"/>
                    </a:lnTo>
                    <a:lnTo>
                      <a:pt x="32" y="32"/>
                    </a:lnTo>
                    <a:lnTo>
                      <a:pt x="39" y="13"/>
                    </a:lnTo>
                    <a:lnTo>
                      <a:pt x="39" y="0"/>
                    </a:lnTo>
                    <a:lnTo>
                      <a:pt x="26" y="0"/>
                    </a:lnTo>
                    <a:lnTo>
                      <a:pt x="13"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2" name="Freeform 181"/>
              <p:cNvSpPr/>
              <p:nvPr/>
            </p:nvSpPr>
            <p:spPr bwMode="auto">
              <a:xfrm>
                <a:off x="2575" y="4015"/>
                <a:ext cx="46" cy="136"/>
              </a:xfrm>
              <a:custGeom>
                <a:avLst/>
                <a:gdLst>
                  <a:gd name="T0" fmla="*/ 46 w 46"/>
                  <a:gd name="T1" fmla="*/ 0 h 136"/>
                  <a:gd name="T2" fmla="*/ 13 w 46"/>
                  <a:gd name="T3" fmla="*/ 26 h 136"/>
                  <a:gd name="T4" fmla="*/ 7 w 46"/>
                  <a:gd name="T5" fmla="*/ 45 h 136"/>
                  <a:gd name="T6" fmla="*/ 0 w 46"/>
                  <a:gd name="T7" fmla="*/ 65 h 136"/>
                  <a:gd name="T8" fmla="*/ 0 w 46"/>
                  <a:gd name="T9" fmla="*/ 84 h 136"/>
                  <a:gd name="T10" fmla="*/ 7 w 46"/>
                  <a:gd name="T11" fmla="*/ 91 h 136"/>
                  <a:gd name="T12" fmla="*/ 13 w 46"/>
                  <a:gd name="T13" fmla="*/ 110 h 136"/>
                  <a:gd name="T14" fmla="*/ 26 w 46"/>
                  <a:gd name="T15" fmla="*/ 123 h 136"/>
                  <a:gd name="T16" fmla="*/ 46 w 46"/>
                  <a:gd name="T17" fmla="*/ 136 h 136"/>
                  <a:gd name="T18" fmla="*/ 46 w 46"/>
                  <a:gd name="T19" fmla="*/ 136 h 136"/>
                  <a:gd name="T20" fmla="*/ 33 w 46"/>
                  <a:gd name="T21" fmla="*/ 117 h 136"/>
                  <a:gd name="T22" fmla="*/ 26 w 46"/>
                  <a:gd name="T23" fmla="*/ 104 h 136"/>
                  <a:gd name="T24" fmla="*/ 20 w 46"/>
                  <a:gd name="T25" fmla="*/ 65 h 136"/>
                  <a:gd name="T26" fmla="*/ 20 w 46"/>
                  <a:gd name="T27" fmla="*/ 39 h 136"/>
                  <a:gd name="T28" fmla="*/ 26 w 46"/>
                  <a:gd name="T29" fmla="*/ 26 h 136"/>
                  <a:gd name="T30" fmla="*/ 46 w 46"/>
                  <a:gd name="T31" fmla="*/ 0 h 136"/>
                  <a:gd name="T32" fmla="*/ 46 w 46"/>
                  <a:gd name="T33" fmla="*/ 0 h 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136"/>
                  <a:gd name="T53" fmla="*/ 46 w 46"/>
                  <a:gd name="T54" fmla="*/ 136 h 1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136">
                    <a:moveTo>
                      <a:pt x="46" y="0"/>
                    </a:moveTo>
                    <a:lnTo>
                      <a:pt x="13" y="26"/>
                    </a:lnTo>
                    <a:lnTo>
                      <a:pt x="7" y="45"/>
                    </a:lnTo>
                    <a:lnTo>
                      <a:pt x="0" y="65"/>
                    </a:lnTo>
                    <a:lnTo>
                      <a:pt x="0" y="84"/>
                    </a:lnTo>
                    <a:lnTo>
                      <a:pt x="7" y="91"/>
                    </a:lnTo>
                    <a:lnTo>
                      <a:pt x="13" y="110"/>
                    </a:lnTo>
                    <a:lnTo>
                      <a:pt x="26" y="123"/>
                    </a:lnTo>
                    <a:lnTo>
                      <a:pt x="46" y="136"/>
                    </a:lnTo>
                    <a:lnTo>
                      <a:pt x="33" y="117"/>
                    </a:lnTo>
                    <a:lnTo>
                      <a:pt x="26" y="104"/>
                    </a:lnTo>
                    <a:lnTo>
                      <a:pt x="20" y="65"/>
                    </a:lnTo>
                    <a:lnTo>
                      <a:pt x="20" y="39"/>
                    </a:lnTo>
                    <a:lnTo>
                      <a:pt x="26" y="26"/>
                    </a:lnTo>
                    <a:lnTo>
                      <a:pt x="46"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3" name="Freeform 182"/>
              <p:cNvSpPr>
                <a:spLocks noEditPoints="1"/>
              </p:cNvSpPr>
              <p:nvPr/>
            </p:nvSpPr>
            <p:spPr bwMode="auto">
              <a:xfrm>
                <a:off x="2633" y="4015"/>
                <a:ext cx="78" cy="110"/>
              </a:xfrm>
              <a:custGeom>
                <a:avLst/>
                <a:gdLst>
                  <a:gd name="T0" fmla="*/ 26 w 78"/>
                  <a:gd name="T1" fmla="*/ 58 h 110"/>
                  <a:gd name="T2" fmla="*/ 33 w 78"/>
                  <a:gd name="T3" fmla="*/ 45 h 110"/>
                  <a:gd name="T4" fmla="*/ 39 w 78"/>
                  <a:gd name="T5" fmla="*/ 45 h 110"/>
                  <a:gd name="T6" fmla="*/ 59 w 78"/>
                  <a:gd name="T7" fmla="*/ 52 h 110"/>
                  <a:gd name="T8" fmla="*/ 65 w 78"/>
                  <a:gd name="T9" fmla="*/ 78 h 110"/>
                  <a:gd name="T10" fmla="*/ 59 w 78"/>
                  <a:gd name="T11" fmla="*/ 91 h 110"/>
                  <a:gd name="T12" fmla="*/ 52 w 78"/>
                  <a:gd name="T13" fmla="*/ 104 h 110"/>
                  <a:gd name="T14" fmla="*/ 39 w 78"/>
                  <a:gd name="T15" fmla="*/ 104 h 110"/>
                  <a:gd name="T16" fmla="*/ 33 w 78"/>
                  <a:gd name="T17" fmla="*/ 104 h 110"/>
                  <a:gd name="T18" fmla="*/ 26 w 78"/>
                  <a:gd name="T19" fmla="*/ 97 h 110"/>
                  <a:gd name="T20" fmla="*/ 26 w 78"/>
                  <a:gd name="T21" fmla="*/ 58 h 110"/>
                  <a:gd name="T22" fmla="*/ 13 w 78"/>
                  <a:gd name="T23" fmla="*/ 97 h 110"/>
                  <a:gd name="T24" fmla="*/ 20 w 78"/>
                  <a:gd name="T25" fmla="*/ 104 h 110"/>
                  <a:gd name="T26" fmla="*/ 39 w 78"/>
                  <a:gd name="T27" fmla="*/ 110 h 110"/>
                  <a:gd name="T28" fmla="*/ 59 w 78"/>
                  <a:gd name="T29" fmla="*/ 104 h 110"/>
                  <a:gd name="T30" fmla="*/ 72 w 78"/>
                  <a:gd name="T31" fmla="*/ 97 h 110"/>
                  <a:gd name="T32" fmla="*/ 78 w 78"/>
                  <a:gd name="T33" fmla="*/ 71 h 110"/>
                  <a:gd name="T34" fmla="*/ 72 w 78"/>
                  <a:gd name="T35" fmla="*/ 45 h 110"/>
                  <a:gd name="T36" fmla="*/ 65 w 78"/>
                  <a:gd name="T37" fmla="*/ 39 h 110"/>
                  <a:gd name="T38" fmla="*/ 46 w 78"/>
                  <a:gd name="T39" fmla="*/ 33 h 110"/>
                  <a:gd name="T40" fmla="*/ 33 w 78"/>
                  <a:gd name="T41" fmla="*/ 39 h 110"/>
                  <a:gd name="T42" fmla="*/ 26 w 78"/>
                  <a:gd name="T43" fmla="*/ 45 h 110"/>
                  <a:gd name="T44" fmla="*/ 26 w 78"/>
                  <a:gd name="T45" fmla="*/ 45 h 110"/>
                  <a:gd name="T46" fmla="*/ 26 w 78"/>
                  <a:gd name="T47" fmla="*/ 0 h 110"/>
                  <a:gd name="T48" fmla="*/ 26 w 78"/>
                  <a:gd name="T49" fmla="*/ 0 h 110"/>
                  <a:gd name="T50" fmla="*/ 13 w 78"/>
                  <a:gd name="T51" fmla="*/ 7 h 110"/>
                  <a:gd name="T52" fmla="*/ 0 w 78"/>
                  <a:gd name="T53" fmla="*/ 7 h 110"/>
                  <a:gd name="T54" fmla="*/ 0 w 78"/>
                  <a:gd name="T55" fmla="*/ 7 h 110"/>
                  <a:gd name="T56" fmla="*/ 0 w 78"/>
                  <a:gd name="T57" fmla="*/ 7 h 110"/>
                  <a:gd name="T58" fmla="*/ 7 w 78"/>
                  <a:gd name="T59" fmla="*/ 7 h 110"/>
                  <a:gd name="T60" fmla="*/ 13 w 78"/>
                  <a:gd name="T61" fmla="*/ 13 h 110"/>
                  <a:gd name="T62" fmla="*/ 13 w 78"/>
                  <a:gd name="T63" fmla="*/ 20 h 110"/>
                  <a:gd name="T64" fmla="*/ 13 w 78"/>
                  <a:gd name="T65" fmla="*/ 97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110"/>
                  <a:gd name="T101" fmla="*/ 78 w 78"/>
                  <a:gd name="T102" fmla="*/ 110 h 11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110">
                    <a:moveTo>
                      <a:pt x="26" y="58"/>
                    </a:moveTo>
                    <a:lnTo>
                      <a:pt x="33" y="45"/>
                    </a:lnTo>
                    <a:lnTo>
                      <a:pt x="39" y="45"/>
                    </a:lnTo>
                    <a:lnTo>
                      <a:pt x="59" y="52"/>
                    </a:lnTo>
                    <a:lnTo>
                      <a:pt x="65" y="78"/>
                    </a:lnTo>
                    <a:lnTo>
                      <a:pt x="59" y="91"/>
                    </a:lnTo>
                    <a:lnTo>
                      <a:pt x="52" y="104"/>
                    </a:lnTo>
                    <a:lnTo>
                      <a:pt x="39" y="104"/>
                    </a:lnTo>
                    <a:lnTo>
                      <a:pt x="33" y="104"/>
                    </a:lnTo>
                    <a:lnTo>
                      <a:pt x="26" y="97"/>
                    </a:lnTo>
                    <a:lnTo>
                      <a:pt x="26" y="58"/>
                    </a:lnTo>
                    <a:close/>
                    <a:moveTo>
                      <a:pt x="13" y="97"/>
                    </a:moveTo>
                    <a:lnTo>
                      <a:pt x="20" y="104"/>
                    </a:lnTo>
                    <a:lnTo>
                      <a:pt x="39" y="110"/>
                    </a:lnTo>
                    <a:lnTo>
                      <a:pt x="59" y="104"/>
                    </a:lnTo>
                    <a:lnTo>
                      <a:pt x="72" y="97"/>
                    </a:lnTo>
                    <a:lnTo>
                      <a:pt x="78" y="71"/>
                    </a:lnTo>
                    <a:lnTo>
                      <a:pt x="72" y="45"/>
                    </a:lnTo>
                    <a:lnTo>
                      <a:pt x="65" y="39"/>
                    </a:lnTo>
                    <a:lnTo>
                      <a:pt x="46" y="33"/>
                    </a:lnTo>
                    <a:lnTo>
                      <a:pt x="33" y="39"/>
                    </a:lnTo>
                    <a:lnTo>
                      <a:pt x="26" y="45"/>
                    </a:lnTo>
                    <a:lnTo>
                      <a:pt x="26" y="0"/>
                    </a:lnTo>
                    <a:lnTo>
                      <a:pt x="13" y="7"/>
                    </a:lnTo>
                    <a:lnTo>
                      <a:pt x="0" y="7"/>
                    </a:lnTo>
                    <a:lnTo>
                      <a:pt x="7" y="7"/>
                    </a:lnTo>
                    <a:lnTo>
                      <a:pt x="13" y="13"/>
                    </a:lnTo>
                    <a:lnTo>
                      <a:pt x="13" y="20"/>
                    </a:lnTo>
                    <a:lnTo>
                      <a:pt x="13" y="9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4" name="Freeform 183"/>
              <p:cNvSpPr/>
              <p:nvPr/>
            </p:nvSpPr>
            <p:spPr bwMode="auto">
              <a:xfrm>
                <a:off x="2724" y="4015"/>
                <a:ext cx="39" cy="136"/>
              </a:xfrm>
              <a:custGeom>
                <a:avLst/>
                <a:gdLst>
                  <a:gd name="T0" fmla="*/ 0 w 39"/>
                  <a:gd name="T1" fmla="*/ 136 h 136"/>
                  <a:gd name="T2" fmla="*/ 33 w 39"/>
                  <a:gd name="T3" fmla="*/ 110 h 136"/>
                  <a:gd name="T4" fmla="*/ 39 w 39"/>
                  <a:gd name="T5" fmla="*/ 71 h 136"/>
                  <a:gd name="T6" fmla="*/ 39 w 39"/>
                  <a:gd name="T7" fmla="*/ 58 h 136"/>
                  <a:gd name="T8" fmla="*/ 33 w 39"/>
                  <a:gd name="T9" fmla="*/ 45 h 136"/>
                  <a:gd name="T10" fmla="*/ 26 w 39"/>
                  <a:gd name="T11" fmla="*/ 26 h 136"/>
                  <a:gd name="T12" fmla="*/ 13 w 39"/>
                  <a:gd name="T13" fmla="*/ 13 h 136"/>
                  <a:gd name="T14" fmla="*/ 0 w 39"/>
                  <a:gd name="T15" fmla="*/ 0 h 136"/>
                  <a:gd name="T16" fmla="*/ 0 w 39"/>
                  <a:gd name="T17" fmla="*/ 0 h 136"/>
                  <a:gd name="T18" fmla="*/ 13 w 39"/>
                  <a:gd name="T19" fmla="*/ 20 h 136"/>
                  <a:gd name="T20" fmla="*/ 26 w 39"/>
                  <a:gd name="T21" fmla="*/ 39 h 136"/>
                  <a:gd name="T22" fmla="*/ 26 w 39"/>
                  <a:gd name="T23" fmla="*/ 58 h 136"/>
                  <a:gd name="T24" fmla="*/ 26 w 39"/>
                  <a:gd name="T25" fmla="*/ 71 h 136"/>
                  <a:gd name="T26" fmla="*/ 26 w 39"/>
                  <a:gd name="T27" fmla="*/ 97 h 136"/>
                  <a:gd name="T28" fmla="*/ 20 w 39"/>
                  <a:gd name="T29" fmla="*/ 117 h 136"/>
                  <a:gd name="T30" fmla="*/ 0 w 39"/>
                  <a:gd name="T31" fmla="*/ 136 h 136"/>
                  <a:gd name="T32" fmla="*/ 0 w 39"/>
                  <a:gd name="T33" fmla="*/ 136 h 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136"/>
                  <a:gd name="T53" fmla="*/ 39 w 39"/>
                  <a:gd name="T54" fmla="*/ 136 h 1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136">
                    <a:moveTo>
                      <a:pt x="0" y="136"/>
                    </a:moveTo>
                    <a:lnTo>
                      <a:pt x="33" y="110"/>
                    </a:lnTo>
                    <a:lnTo>
                      <a:pt x="39" y="71"/>
                    </a:lnTo>
                    <a:lnTo>
                      <a:pt x="39" y="58"/>
                    </a:lnTo>
                    <a:lnTo>
                      <a:pt x="33" y="45"/>
                    </a:lnTo>
                    <a:lnTo>
                      <a:pt x="26" y="26"/>
                    </a:lnTo>
                    <a:lnTo>
                      <a:pt x="13" y="13"/>
                    </a:lnTo>
                    <a:lnTo>
                      <a:pt x="0" y="0"/>
                    </a:lnTo>
                    <a:lnTo>
                      <a:pt x="13" y="20"/>
                    </a:lnTo>
                    <a:lnTo>
                      <a:pt x="26" y="39"/>
                    </a:lnTo>
                    <a:lnTo>
                      <a:pt x="26" y="58"/>
                    </a:lnTo>
                    <a:lnTo>
                      <a:pt x="26" y="71"/>
                    </a:lnTo>
                    <a:lnTo>
                      <a:pt x="26" y="97"/>
                    </a:lnTo>
                    <a:lnTo>
                      <a:pt x="20" y="117"/>
                    </a:lnTo>
                    <a:lnTo>
                      <a:pt x="0" y="13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5" name="Freeform 184"/>
              <p:cNvSpPr>
                <a:spLocks noEditPoints="1"/>
              </p:cNvSpPr>
              <p:nvPr/>
            </p:nvSpPr>
            <p:spPr bwMode="auto">
              <a:xfrm>
                <a:off x="2238" y="3575"/>
                <a:ext cx="97" cy="104"/>
              </a:xfrm>
              <a:custGeom>
                <a:avLst/>
                <a:gdLst>
                  <a:gd name="T0" fmla="*/ 97 w 97"/>
                  <a:gd name="T1" fmla="*/ 104 h 104"/>
                  <a:gd name="T2" fmla="*/ 84 w 97"/>
                  <a:gd name="T3" fmla="*/ 97 h 104"/>
                  <a:gd name="T4" fmla="*/ 84 w 97"/>
                  <a:gd name="T5" fmla="*/ 91 h 104"/>
                  <a:gd name="T6" fmla="*/ 65 w 97"/>
                  <a:gd name="T7" fmla="*/ 52 h 104"/>
                  <a:gd name="T8" fmla="*/ 84 w 97"/>
                  <a:gd name="T9" fmla="*/ 46 h 104"/>
                  <a:gd name="T10" fmla="*/ 91 w 97"/>
                  <a:gd name="T11" fmla="*/ 39 h 104"/>
                  <a:gd name="T12" fmla="*/ 97 w 97"/>
                  <a:gd name="T13" fmla="*/ 26 h 104"/>
                  <a:gd name="T14" fmla="*/ 91 w 97"/>
                  <a:gd name="T15" fmla="*/ 13 h 104"/>
                  <a:gd name="T16" fmla="*/ 84 w 97"/>
                  <a:gd name="T17" fmla="*/ 7 h 104"/>
                  <a:gd name="T18" fmla="*/ 71 w 97"/>
                  <a:gd name="T19" fmla="*/ 0 h 104"/>
                  <a:gd name="T20" fmla="*/ 65 w 97"/>
                  <a:gd name="T21" fmla="*/ 0 h 104"/>
                  <a:gd name="T22" fmla="*/ 26 w 97"/>
                  <a:gd name="T23" fmla="*/ 0 h 104"/>
                  <a:gd name="T24" fmla="*/ 26 w 97"/>
                  <a:gd name="T25" fmla="*/ 0 h 104"/>
                  <a:gd name="T26" fmla="*/ 33 w 97"/>
                  <a:gd name="T27" fmla="*/ 7 h 104"/>
                  <a:gd name="T28" fmla="*/ 33 w 97"/>
                  <a:gd name="T29" fmla="*/ 13 h 104"/>
                  <a:gd name="T30" fmla="*/ 33 w 97"/>
                  <a:gd name="T31" fmla="*/ 20 h 104"/>
                  <a:gd name="T32" fmla="*/ 33 w 97"/>
                  <a:gd name="T33" fmla="*/ 20 h 104"/>
                  <a:gd name="T34" fmla="*/ 13 w 97"/>
                  <a:gd name="T35" fmla="*/ 91 h 104"/>
                  <a:gd name="T36" fmla="*/ 7 w 97"/>
                  <a:gd name="T37" fmla="*/ 97 h 104"/>
                  <a:gd name="T38" fmla="*/ 0 w 97"/>
                  <a:gd name="T39" fmla="*/ 104 h 104"/>
                  <a:gd name="T40" fmla="*/ 0 w 97"/>
                  <a:gd name="T41" fmla="*/ 104 h 104"/>
                  <a:gd name="T42" fmla="*/ 39 w 97"/>
                  <a:gd name="T43" fmla="*/ 104 h 104"/>
                  <a:gd name="T44" fmla="*/ 39 w 97"/>
                  <a:gd name="T45" fmla="*/ 104 h 104"/>
                  <a:gd name="T46" fmla="*/ 33 w 97"/>
                  <a:gd name="T47" fmla="*/ 97 h 104"/>
                  <a:gd name="T48" fmla="*/ 26 w 97"/>
                  <a:gd name="T49" fmla="*/ 97 h 104"/>
                  <a:gd name="T50" fmla="*/ 26 w 97"/>
                  <a:gd name="T51" fmla="*/ 91 h 104"/>
                  <a:gd name="T52" fmla="*/ 33 w 97"/>
                  <a:gd name="T53" fmla="*/ 84 h 104"/>
                  <a:gd name="T54" fmla="*/ 39 w 97"/>
                  <a:gd name="T55" fmla="*/ 52 h 104"/>
                  <a:gd name="T56" fmla="*/ 52 w 97"/>
                  <a:gd name="T57" fmla="*/ 52 h 104"/>
                  <a:gd name="T58" fmla="*/ 71 w 97"/>
                  <a:gd name="T59" fmla="*/ 104 h 104"/>
                  <a:gd name="T60" fmla="*/ 97 w 97"/>
                  <a:gd name="T61" fmla="*/ 104 h 104"/>
                  <a:gd name="T62" fmla="*/ 97 w 97"/>
                  <a:gd name="T63" fmla="*/ 104 h 104"/>
                  <a:gd name="T64" fmla="*/ 52 w 97"/>
                  <a:gd name="T65" fmla="*/ 13 h 104"/>
                  <a:gd name="T66" fmla="*/ 52 w 97"/>
                  <a:gd name="T67" fmla="*/ 7 h 104"/>
                  <a:gd name="T68" fmla="*/ 65 w 97"/>
                  <a:gd name="T69" fmla="*/ 7 h 104"/>
                  <a:gd name="T70" fmla="*/ 78 w 97"/>
                  <a:gd name="T71" fmla="*/ 7 h 104"/>
                  <a:gd name="T72" fmla="*/ 84 w 97"/>
                  <a:gd name="T73" fmla="*/ 20 h 104"/>
                  <a:gd name="T74" fmla="*/ 78 w 97"/>
                  <a:gd name="T75" fmla="*/ 39 h 104"/>
                  <a:gd name="T76" fmla="*/ 71 w 97"/>
                  <a:gd name="T77" fmla="*/ 46 h 104"/>
                  <a:gd name="T78" fmla="*/ 52 w 97"/>
                  <a:gd name="T79" fmla="*/ 46 h 104"/>
                  <a:gd name="T80" fmla="*/ 46 w 97"/>
                  <a:gd name="T81" fmla="*/ 46 h 104"/>
                  <a:gd name="T82" fmla="*/ 39 w 97"/>
                  <a:gd name="T83" fmla="*/ 46 h 104"/>
                  <a:gd name="T84" fmla="*/ 52 w 97"/>
                  <a:gd name="T85" fmla="*/ 13 h 1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7"/>
                  <a:gd name="T130" fmla="*/ 0 h 104"/>
                  <a:gd name="T131" fmla="*/ 97 w 97"/>
                  <a:gd name="T132" fmla="*/ 104 h 10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7" h="104">
                    <a:moveTo>
                      <a:pt x="97" y="104"/>
                    </a:moveTo>
                    <a:lnTo>
                      <a:pt x="84" y="97"/>
                    </a:lnTo>
                    <a:lnTo>
                      <a:pt x="84" y="91"/>
                    </a:lnTo>
                    <a:lnTo>
                      <a:pt x="65" y="52"/>
                    </a:lnTo>
                    <a:lnTo>
                      <a:pt x="84" y="46"/>
                    </a:lnTo>
                    <a:lnTo>
                      <a:pt x="91" y="39"/>
                    </a:lnTo>
                    <a:lnTo>
                      <a:pt x="97" y="26"/>
                    </a:lnTo>
                    <a:lnTo>
                      <a:pt x="91" y="13"/>
                    </a:lnTo>
                    <a:lnTo>
                      <a:pt x="84" y="7"/>
                    </a:lnTo>
                    <a:lnTo>
                      <a:pt x="71" y="0"/>
                    </a:lnTo>
                    <a:lnTo>
                      <a:pt x="65" y="0"/>
                    </a:lnTo>
                    <a:lnTo>
                      <a:pt x="26" y="0"/>
                    </a:lnTo>
                    <a:lnTo>
                      <a:pt x="33" y="7"/>
                    </a:lnTo>
                    <a:lnTo>
                      <a:pt x="33" y="13"/>
                    </a:lnTo>
                    <a:lnTo>
                      <a:pt x="33" y="20"/>
                    </a:lnTo>
                    <a:lnTo>
                      <a:pt x="13" y="91"/>
                    </a:lnTo>
                    <a:lnTo>
                      <a:pt x="7" y="97"/>
                    </a:lnTo>
                    <a:lnTo>
                      <a:pt x="0" y="104"/>
                    </a:lnTo>
                    <a:lnTo>
                      <a:pt x="39" y="104"/>
                    </a:lnTo>
                    <a:lnTo>
                      <a:pt x="33" y="97"/>
                    </a:lnTo>
                    <a:lnTo>
                      <a:pt x="26" y="97"/>
                    </a:lnTo>
                    <a:lnTo>
                      <a:pt x="26" y="91"/>
                    </a:lnTo>
                    <a:lnTo>
                      <a:pt x="33" y="84"/>
                    </a:lnTo>
                    <a:lnTo>
                      <a:pt x="39" y="52"/>
                    </a:lnTo>
                    <a:lnTo>
                      <a:pt x="52" y="52"/>
                    </a:lnTo>
                    <a:lnTo>
                      <a:pt x="71" y="104"/>
                    </a:lnTo>
                    <a:lnTo>
                      <a:pt x="97" y="104"/>
                    </a:lnTo>
                    <a:close/>
                    <a:moveTo>
                      <a:pt x="52" y="13"/>
                    </a:moveTo>
                    <a:lnTo>
                      <a:pt x="52" y="7"/>
                    </a:lnTo>
                    <a:lnTo>
                      <a:pt x="65" y="7"/>
                    </a:lnTo>
                    <a:lnTo>
                      <a:pt x="78" y="7"/>
                    </a:lnTo>
                    <a:lnTo>
                      <a:pt x="84" y="20"/>
                    </a:lnTo>
                    <a:lnTo>
                      <a:pt x="78" y="39"/>
                    </a:lnTo>
                    <a:lnTo>
                      <a:pt x="71" y="46"/>
                    </a:lnTo>
                    <a:lnTo>
                      <a:pt x="52" y="46"/>
                    </a:lnTo>
                    <a:lnTo>
                      <a:pt x="46" y="46"/>
                    </a:lnTo>
                    <a:lnTo>
                      <a:pt x="39" y="46"/>
                    </a:lnTo>
                    <a:lnTo>
                      <a:pt x="5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6" name="Freeform 185"/>
              <p:cNvSpPr/>
              <p:nvPr/>
            </p:nvSpPr>
            <p:spPr bwMode="auto">
              <a:xfrm>
                <a:off x="2342" y="3640"/>
                <a:ext cx="71" cy="78"/>
              </a:xfrm>
              <a:custGeom>
                <a:avLst/>
                <a:gdLst>
                  <a:gd name="T0" fmla="*/ 58 w 71"/>
                  <a:gd name="T1" fmla="*/ 78 h 78"/>
                  <a:gd name="T2" fmla="*/ 45 w 71"/>
                  <a:gd name="T3" fmla="*/ 71 h 78"/>
                  <a:gd name="T4" fmla="*/ 45 w 71"/>
                  <a:gd name="T5" fmla="*/ 65 h 78"/>
                  <a:gd name="T6" fmla="*/ 45 w 71"/>
                  <a:gd name="T7" fmla="*/ 6 h 78"/>
                  <a:gd name="T8" fmla="*/ 52 w 71"/>
                  <a:gd name="T9" fmla="*/ 6 h 78"/>
                  <a:gd name="T10" fmla="*/ 65 w 71"/>
                  <a:gd name="T11" fmla="*/ 6 h 78"/>
                  <a:gd name="T12" fmla="*/ 71 w 71"/>
                  <a:gd name="T13" fmla="*/ 19 h 78"/>
                  <a:gd name="T14" fmla="*/ 71 w 71"/>
                  <a:gd name="T15" fmla="*/ 19 h 78"/>
                  <a:gd name="T16" fmla="*/ 71 w 71"/>
                  <a:gd name="T17" fmla="*/ 0 h 78"/>
                  <a:gd name="T18" fmla="*/ 0 w 71"/>
                  <a:gd name="T19" fmla="*/ 0 h 78"/>
                  <a:gd name="T20" fmla="*/ 0 w 71"/>
                  <a:gd name="T21" fmla="*/ 19 h 78"/>
                  <a:gd name="T22" fmla="*/ 6 w 71"/>
                  <a:gd name="T23" fmla="*/ 19 h 78"/>
                  <a:gd name="T24" fmla="*/ 13 w 71"/>
                  <a:gd name="T25" fmla="*/ 6 h 78"/>
                  <a:gd name="T26" fmla="*/ 26 w 71"/>
                  <a:gd name="T27" fmla="*/ 6 h 78"/>
                  <a:gd name="T28" fmla="*/ 32 w 71"/>
                  <a:gd name="T29" fmla="*/ 6 h 78"/>
                  <a:gd name="T30" fmla="*/ 32 w 71"/>
                  <a:gd name="T31" fmla="*/ 65 h 78"/>
                  <a:gd name="T32" fmla="*/ 32 w 71"/>
                  <a:gd name="T33" fmla="*/ 71 h 78"/>
                  <a:gd name="T34" fmla="*/ 19 w 71"/>
                  <a:gd name="T35" fmla="*/ 78 h 78"/>
                  <a:gd name="T36" fmla="*/ 19 w 71"/>
                  <a:gd name="T37" fmla="*/ 78 h 78"/>
                  <a:gd name="T38" fmla="*/ 58 w 71"/>
                  <a:gd name="T39" fmla="*/ 78 h 78"/>
                  <a:gd name="T40" fmla="*/ 58 w 71"/>
                  <a:gd name="T41" fmla="*/ 78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
                  <a:gd name="T64" fmla="*/ 0 h 78"/>
                  <a:gd name="T65" fmla="*/ 71 w 71"/>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 h="78">
                    <a:moveTo>
                      <a:pt x="58" y="78"/>
                    </a:moveTo>
                    <a:lnTo>
                      <a:pt x="45" y="71"/>
                    </a:lnTo>
                    <a:lnTo>
                      <a:pt x="45" y="65"/>
                    </a:lnTo>
                    <a:lnTo>
                      <a:pt x="45" y="6"/>
                    </a:lnTo>
                    <a:lnTo>
                      <a:pt x="52" y="6"/>
                    </a:lnTo>
                    <a:lnTo>
                      <a:pt x="65" y="6"/>
                    </a:lnTo>
                    <a:lnTo>
                      <a:pt x="71" y="19"/>
                    </a:lnTo>
                    <a:lnTo>
                      <a:pt x="71" y="0"/>
                    </a:lnTo>
                    <a:lnTo>
                      <a:pt x="0" y="0"/>
                    </a:lnTo>
                    <a:lnTo>
                      <a:pt x="0" y="19"/>
                    </a:lnTo>
                    <a:lnTo>
                      <a:pt x="6" y="19"/>
                    </a:lnTo>
                    <a:lnTo>
                      <a:pt x="13" y="6"/>
                    </a:lnTo>
                    <a:lnTo>
                      <a:pt x="26" y="6"/>
                    </a:lnTo>
                    <a:lnTo>
                      <a:pt x="32" y="6"/>
                    </a:lnTo>
                    <a:lnTo>
                      <a:pt x="32" y="65"/>
                    </a:lnTo>
                    <a:lnTo>
                      <a:pt x="32" y="71"/>
                    </a:lnTo>
                    <a:lnTo>
                      <a:pt x="19" y="78"/>
                    </a:lnTo>
                    <a:lnTo>
                      <a:pt x="58" y="7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7" name="Freeform 186"/>
              <p:cNvSpPr/>
              <p:nvPr/>
            </p:nvSpPr>
            <p:spPr bwMode="auto">
              <a:xfrm>
                <a:off x="2420" y="3640"/>
                <a:ext cx="58" cy="78"/>
              </a:xfrm>
              <a:custGeom>
                <a:avLst/>
                <a:gdLst>
                  <a:gd name="T0" fmla="*/ 58 w 58"/>
                  <a:gd name="T1" fmla="*/ 78 h 78"/>
                  <a:gd name="T2" fmla="*/ 51 w 58"/>
                  <a:gd name="T3" fmla="*/ 78 h 78"/>
                  <a:gd name="T4" fmla="*/ 51 w 58"/>
                  <a:gd name="T5" fmla="*/ 65 h 78"/>
                  <a:gd name="T6" fmla="*/ 51 w 58"/>
                  <a:gd name="T7" fmla="*/ 45 h 78"/>
                  <a:gd name="T8" fmla="*/ 51 w 58"/>
                  <a:gd name="T9" fmla="*/ 32 h 78"/>
                  <a:gd name="T10" fmla="*/ 39 w 58"/>
                  <a:gd name="T11" fmla="*/ 26 h 78"/>
                  <a:gd name="T12" fmla="*/ 32 w 58"/>
                  <a:gd name="T13" fmla="*/ 26 h 78"/>
                  <a:gd name="T14" fmla="*/ 19 w 58"/>
                  <a:gd name="T15" fmla="*/ 32 h 78"/>
                  <a:gd name="T16" fmla="*/ 19 w 58"/>
                  <a:gd name="T17" fmla="*/ 32 h 78"/>
                  <a:gd name="T18" fmla="*/ 19 w 58"/>
                  <a:gd name="T19" fmla="*/ 0 h 78"/>
                  <a:gd name="T20" fmla="*/ 19 w 58"/>
                  <a:gd name="T21" fmla="*/ 0 h 78"/>
                  <a:gd name="T22" fmla="*/ 0 w 58"/>
                  <a:gd name="T23" fmla="*/ 0 h 78"/>
                  <a:gd name="T24" fmla="*/ 0 w 58"/>
                  <a:gd name="T25" fmla="*/ 6 h 78"/>
                  <a:gd name="T26" fmla="*/ 0 w 58"/>
                  <a:gd name="T27" fmla="*/ 6 h 78"/>
                  <a:gd name="T28" fmla="*/ 6 w 58"/>
                  <a:gd name="T29" fmla="*/ 6 h 78"/>
                  <a:gd name="T30" fmla="*/ 6 w 58"/>
                  <a:gd name="T31" fmla="*/ 13 h 78"/>
                  <a:gd name="T32" fmla="*/ 6 w 58"/>
                  <a:gd name="T33" fmla="*/ 65 h 78"/>
                  <a:gd name="T34" fmla="*/ 6 w 58"/>
                  <a:gd name="T35" fmla="*/ 78 h 78"/>
                  <a:gd name="T36" fmla="*/ 0 w 58"/>
                  <a:gd name="T37" fmla="*/ 78 h 78"/>
                  <a:gd name="T38" fmla="*/ 0 w 58"/>
                  <a:gd name="T39" fmla="*/ 78 h 78"/>
                  <a:gd name="T40" fmla="*/ 26 w 58"/>
                  <a:gd name="T41" fmla="*/ 78 h 78"/>
                  <a:gd name="T42" fmla="*/ 26 w 58"/>
                  <a:gd name="T43" fmla="*/ 78 h 78"/>
                  <a:gd name="T44" fmla="*/ 19 w 58"/>
                  <a:gd name="T45" fmla="*/ 78 h 78"/>
                  <a:gd name="T46" fmla="*/ 19 w 58"/>
                  <a:gd name="T47" fmla="*/ 65 h 78"/>
                  <a:gd name="T48" fmla="*/ 19 w 58"/>
                  <a:gd name="T49" fmla="*/ 39 h 78"/>
                  <a:gd name="T50" fmla="*/ 26 w 58"/>
                  <a:gd name="T51" fmla="*/ 32 h 78"/>
                  <a:gd name="T52" fmla="*/ 32 w 58"/>
                  <a:gd name="T53" fmla="*/ 32 h 78"/>
                  <a:gd name="T54" fmla="*/ 39 w 58"/>
                  <a:gd name="T55" fmla="*/ 32 h 78"/>
                  <a:gd name="T56" fmla="*/ 39 w 58"/>
                  <a:gd name="T57" fmla="*/ 45 h 78"/>
                  <a:gd name="T58" fmla="*/ 39 w 58"/>
                  <a:gd name="T59" fmla="*/ 65 h 78"/>
                  <a:gd name="T60" fmla="*/ 39 w 58"/>
                  <a:gd name="T61" fmla="*/ 78 h 78"/>
                  <a:gd name="T62" fmla="*/ 32 w 58"/>
                  <a:gd name="T63" fmla="*/ 78 h 78"/>
                  <a:gd name="T64" fmla="*/ 32 w 58"/>
                  <a:gd name="T65" fmla="*/ 78 h 78"/>
                  <a:gd name="T66" fmla="*/ 58 w 58"/>
                  <a:gd name="T67" fmla="*/ 78 h 78"/>
                  <a:gd name="T68" fmla="*/ 58 w 58"/>
                  <a:gd name="T69" fmla="*/ 78 h 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8"/>
                  <a:gd name="T106" fmla="*/ 0 h 78"/>
                  <a:gd name="T107" fmla="*/ 58 w 58"/>
                  <a:gd name="T108" fmla="*/ 78 h 7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8" h="78">
                    <a:moveTo>
                      <a:pt x="58" y="78"/>
                    </a:moveTo>
                    <a:lnTo>
                      <a:pt x="51" y="78"/>
                    </a:lnTo>
                    <a:lnTo>
                      <a:pt x="51" y="65"/>
                    </a:lnTo>
                    <a:lnTo>
                      <a:pt x="51" y="45"/>
                    </a:lnTo>
                    <a:lnTo>
                      <a:pt x="51" y="32"/>
                    </a:lnTo>
                    <a:lnTo>
                      <a:pt x="39" y="26"/>
                    </a:lnTo>
                    <a:lnTo>
                      <a:pt x="32" y="26"/>
                    </a:lnTo>
                    <a:lnTo>
                      <a:pt x="19" y="32"/>
                    </a:lnTo>
                    <a:lnTo>
                      <a:pt x="19" y="0"/>
                    </a:lnTo>
                    <a:lnTo>
                      <a:pt x="0" y="0"/>
                    </a:lnTo>
                    <a:lnTo>
                      <a:pt x="0" y="6"/>
                    </a:lnTo>
                    <a:lnTo>
                      <a:pt x="6" y="6"/>
                    </a:lnTo>
                    <a:lnTo>
                      <a:pt x="6" y="13"/>
                    </a:lnTo>
                    <a:lnTo>
                      <a:pt x="6" y="65"/>
                    </a:lnTo>
                    <a:lnTo>
                      <a:pt x="6" y="78"/>
                    </a:lnTo>
                    <a:lnTo>
                      <a:pt x="0" y="78"/>
                    </a:lnTo>
                    <a:lnTo>
                      <a:pt x="26" y="78"/>
                    </a:lnTo>
                    <a:lnTo>
                      <a:pt x="19" y="78"/>
                    </a:lnTo>
                    <a:lnTo>
                      <a:pt x="19" y="65"/>
                    </a:lnTo>
                    <a:lnTo>
                      <a:pt x="19" y="39"/>
                    </a:lnTo>
                    <a:lnTo>
                      <a:pt x="26" y="32"/>
                    </a:lnTo>
                    <a:lnTo>
                      <a:pt x="32" y="32"/>
                    </a:lnTo>
                    <a:lnTo>
                      <a:pt x="39" y="32"/>
                    </a:lnTo>
                    <a:lnTo>
                      <a:pt x="39" y="45"/>
                    </a:lnTo>
                    <a:lnTo>
                      <a:pt x="39" y="65"/>
                    </a:lnTo>
                    <a:lnTo>
                      <a:pt x="39" y="78"/>
                    </a:lnTo>
                    <a:lnTo>
                      <a:pt x="32" y="78"/>
                    </a:lnTo>
                    <a:lnTo>
                      <a:pt x="58" y="78"/>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8" name="Freeform 187"/>
              <p:cNvSpPr>
                <a:spLocks noEditPoints="1"/>
              </p:cNvSpPr>
              <p:nvPr/>
            </p:nvSpPr>
            <p:spPr bwMode="auto">
              <a:xfrm>
                <a:off x="2536" y="3621"/>
                <a:ext cx="91" cy="38"/>
              </a:xfrm>
              <a:custGeom>
                <a:avLst/>
                <a:gdLst>
                  <a:gd name="T0" fmla="*/ 91 w 91"/>
                  <a:gd name="T1" fmla="*/ 0 h 38"/>
                  <a:gd name="T2" fmla="*/ 0 w 91"/>
                  <a:gd name="T3" fmla="*/ 0 h 38"/>
                  <a:gd name="T4" fmla="*/ 0 w 91"/>
                  <a:gd name="T5" fmla="*/ 6 h 38"/>
                  <a:gd name="T6" fmla="*/ 91 w 91"/>
                  <a:gd name="T7" fmla="*/ 6 h 38"/>
                  <a:gd name="T8" fmla="*/ 91 w 91"/>
                  <a:gd name="T9" fmla="*/ 0 h 38"/>
                  <a:gd name="T10" fmla="*/ 91 w 91"/>
                  <a:gd name="T11" fmla="*/ 25 h 38"/>
                  <a:gd name="T12" fmla="*/ 0 w 91"/>
                  <a:gd name="T13" fmla="*/ 25 h 38"/>
                  <a:gd name="T14" fmla="*/ 0 w 91"/>
                  <a:gd name="T15" fmla="*/ 38 h 38"/>
                  <a:gd name="T16" fmla="*/ 91 w 91"/>
                  <a:gd name="T17" fmla="*/ 38 h 38"/>
                  <a:gd name="T18" fmla="*/ 91 w 91"/>
                  <a:gd name="T19" fmla="*/ 25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1"/>
                  <a:gd name="T31" fmla="*/ 0 h 38"/>
                  <a:gd name="T32" fmla="*/ 91 w 91"/>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1" h="38">
                    <a:moveTo>
                      <a:pt x="91" y="0"/>
                    </a:moveTo>
                    <a:lnTo>
                      <a:pt x="0" y="0"/>
                    </a:lnTo>
                    <a:lnTo>
                      <a:pt x="0" y="6"/>
                    </a:lnTo>
                    <a:lnTo>
                      <a:pt x="91" y="6"/>
                    </a:lnTo>
                    <a:lnTo>
                      <a:pt x="91" y="0"/>
                    </a:lnTo>
                    <a:close/>
                    <a:moveTo>
                      <a:pt x="91" y="25"/>
                    </a:moveTo>
                    <a:lnTo>
                      <a:pt x="0" y="25"/>
                    </a:lnTo>
                    <a:lnTo>
                      <a:pt x="0" y="38"/>
                    </a:lnTo>
                    <a:lnTo>
                      <a:pt x="91" y="38"/>
                    </a:lnTo>
                    <a:lnTo>
                      <a:pt x="91" y="25"/>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19" name="Freeform 188"/>
              <p:cNvSpPr/>
              <p:nvPr/>
            </p:nvSpPr>
            <p:spPr bwMode="auto">
              <a:xfrm>
                <a:off x="2718" y="3491"/>
                <a:ext cx="65" cy="65"/>
              </a:xfrm>
              <a:custGeom>
                <a:avLst/>
                <a:gdLst>
                  <a:gd name="T0" fmla="*/ 0 w 65"/>
                  <a:gd name="T1" fmla="*/ 7 h 65"/>
                  <a:gd name="T2" fmla="*/ 6 w 65"/>
                  <a:gd name="T3" fmla="*/ 7 h 65"/>
                  <a:gd name="T4" fmla="*/ 13 w 65"/>
                  <a:gd name="T5" fmla="*/ 20 h 65"/>
                  <a:gd name="T6" fmla="*/ 13 w 65"/>
                  <a:gd name="T7" fmla="*/ 26 h 65"/>
                  <a:gd name="T8" fmla="*/ 19 w 65"/>
                  <a:gd name="T9" fmla="*/ 39 h 65"/>
                  <a:gd name="T10" fmla="*/ 19 w 65"/>
                  <a:gd name="T11" fmla="*/ 65 h 65"/>
                  <a:gd name="T12" fmla="*/ 19 w 65"/>
                  <a:gd name="T13" fmla="*/ 65 h 65"/>
                  <a:gd name="T14" fmla="*/ 26 w 65"/>
                  <a:gd name="T15" fmla="*/ 65 h 65"/>
                  <a:gd name="T16" fmla="*/ 32 w 65"/>
                  <a:gd name="T17" fmla="*/ 52 h 65"/>
                  <a:gd name="T18" fmla="*/ 39 w 65"/>
                  <a:gd name="T19" fmla="*/ 45 h 65"/>
                  <a:gd name="T20" fmla="*/ 52 w 65"/>
                  <a:gd name="T21" fmla="*/ 33 h 65"/>
                  <a:gd name="T22" fmla="*/ 58 w 65"/>
                  <a:gd name="T23" fmla="*/ 20 h 65"/>
                  <a:gd name="T24" fmla="*/ 65 w 65"/>
                  <a:gd name="T25" fmla="*/ 7 h 65"/>
                  <a:gd name="T26" fmla="*/ 58 w 65"/>
                  <a:gd name="T27" fmla="*/ 0 h 65"/>
                  <a:gd name="T28" fmla="*/ 52 w 65"/>
                  <a:gd name="T29" fmla="*/ 0 h 65"/>
                  <a:gd name="T30" fmla="*/ 52 w 65"/>
                  <a:gd name="T31" fmla="*/ 0 h 65"/>
                  <a:gd name="T32" fmla="*/ 45 w 65"/>
                  <a:gd name="T33" fmla="*/ 0 h 65"/>
                  <a:gd name="T34" fmla="*/ 45 w 65"/>
                  <a:gd name="T35" fmla="*/ 7 h 65"/>
                  <a:gd name="T36" fmla="*/ 52 w 65"/>
                  <a:gd name="T37" fmla="*/ 7 h 65"/>
                  <a:gd name="T38" fmla="*/ 52 w 65"/>
                  <a:gd name="T39" fmla="*/ 13 h 65"/>
                  <a:gd name="T40" fmla="*/ 52 w 65"/>
                  <a:gd name="T41" fmla="*/ 20 h 65"/>
                  <a:gd name="T42" fmla="*/ 52 w 65"/>
                  <a:gd name="T43" fmla="*/ 33 h 65"/>
                  <a:gd name="T44" fmla="*/ 32 w 65"/>
                  <a:gd name="T45" fmla="*/ 45 h 65"/>
                  <a:gd name="T46" fmla="*/ 26 w 65"/>
                  <a:gd name="T47" fmla="*/ 52 h 65"/>
                  <a:gd name="T48" fmla="*/ 26 w 65"/>
                  <a:gd name="T49" fmla="*/ 26 h 65"/>
                  <a:gd name="T50" fmla="*/ 19 w 65"/>
                  <a:gd name="T51" fmla="*/ 0 h 65"/>
                  <a:gd name="T52" fmla="*/ 19 w 65"/>
                  <a:gd name="T53" fmla="*/ 0 h 65"/>
                  <a:gd name="T54" fmla="*/ 13 w 65"/>
                  <a:gd name="T55" fmla="*/ 0 h 65"/>
                  <a:gd name="T56" fmla="*/ 0 w 65"/>
                  <a:gd name="T57" fmla="*/ 0 h 65"/>
                  <a:gd name="T58" fmla="*/ 0 w 65"/>
                  <a:gd name="T59" fmla="*/ 7 h 6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5"/>
                  <a:gd name="T91" fmla="*/ 0 h 65"/>
                  <a:gd name="T92" fmla="*/ 65 w 65"/>
                  <a:gd name="T93" fmla="*/ 65 h 6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5" h="65">
                    <a:moveTo>
                      <a:pt x="0" y="7"/>
                    </a:moveTo>
                    <a:lnTo>
                      <a:pt x="6" y="7"/>
                    </a:lnTo>
                    <a:lnTo>
                      <a:pt x="13" y="20"/>
                    </a:lnTo>
                    <a:lnTo>
                      <a:pt x="13" y="26"/>
                    </a:lnTo>
                    <a:lnTo>
                      <a:pt x="19" y="39"/>
                    </a:lnTo>
                    <a:lnTo>
                      <a:pt x="19" y="65"/>
                    </a:lnTo>
                    <a:lnTo>
                      <a:pt x="26" y="65"/>
                    </a:lnTo>
                    <a:lnTo>
                      <a:pt x="32" y="52"/>
                    </a:lnTo>
                    <a:lnTo>
                      <a:pt x="39" y="45"/>
                    </a:lnTo>
                    <a:lnTo>
                      <a:pt x="52" y="33"/>
                    </a:lnTo>
                    <a:lnTo>
                      <a:pt x="58" y="20"/>
                    </a:lnTo>
                    <a:lnTo>
                      <a:pt x="65" y="7"/>
                    </a:lnTo>
                    <a:lnTo>
                      <a:pt x="58" y="0"/>
                    </a:lnTo>
                    <a:lnTo>
                      <a:pt x="52" y="0"/>
                    </a:lnTo>
                    <a:lnTo>
                      <a:pt x="45" y="0"/>
                    </a:lnTo>
                    <a:lnTo>
                      <a:pt x="45" y="7"/>
                    </a:lnTo>
                    <a:lnTo>
                      <a:pt x="52" y="7"/>
                    </a:lnTo>
                    <a:lnTo>
                      <a:pt x="52" y="13"/>
                    </a:lnTo>
                    <a:lnTo>
                      <a:pt x="52" y="20"/>
                    </a:lnTo>
                    <a:lnTo>
                      <a:pt x="52" y="33"/>
                    </a:lnTo>
                    <a:lnTo>
                      <a:pt x="32" y="45"/>
                    </a:lnTo>
                    <a:lnTo>
                      <a:pt x="26" y="52"/>
                    </a:lnTo>
                    <a:lnTo>
                      <a:pt x="26" y="26"/>
                    </a:lnTo>
                    <a:lnTo>
                      <a:pt x="19" y="0"/>
                    </a:lnTo>
                    <a:lnTo>
                      <a:pt x="13" y="0"/>
                    </a:lnTo>
                    <a:lnTo>
                      <a:pt x="0" y="0"/>
                    </a:lnTo>
                    <a:lnTo>
                      <a:pt x="0" y="7"/>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0" name="Freeform 189"/>
              <p:cNvSpPr>
                <a:spLocks noEditPoints="1"/>
              </p:cNvSpPr>
              <p:nvPr/>
            </p:nvSpPr>
            <p:spPr bwMode="auto">
              <a:xfrm>
                <a:off x="2776" y="3543"/>
                <a:ext cx="52" cy="52"/>
              </a:xfrm>
              <a:custGeom>
                <a:avLst/>
                <a:gdLst>
                  <a:gd name="T0" fmla="*/ 39 w 52"/>
                  <a:gd name="T1" fmla="*/ 0 h 52"/>
                  <a:gd name="T2" fmla="*/ 26 w 52"/>
                  <a:gd name="T3" fmla="*/ 6 h 52"/>
                  <a:gd name="T4" fmla="*/ 13 w 52"/>
                  <a:gd name="T5" fmla="*/ 13 h 52"/>
                  <a:gd name="T6" fmla="*/ 7 w 52"/>
                  <a:gd name="T7" fmla="*/ 19 h 52"/>
                  <a:gd name="T8" fmla="*/ 0 w 52"/>
                  <a:gd name="T9" fmla="*/ 32 h 52"/>
                  <a:gd name="T10" fmla="*/ 7 w 52"/>
                  <a:gd name="T11" fmla="*/ 45 h 52"/>
                  <a:gd name="T12" fmla="*/ 19 w 52"/>
                  <a:gd name="T13" fmla="*/ 52 h 52"/>
                  <a:gd name="T14" fmla="*/ 32 w 52"/>
                  <a:gd name="T15" fmla="*/ 52 h 52"/>
                  <a:gd name="T16" fmla="*/ 45 w 52"/>
                  <a:gd name="T17" fmla="*/ 39 h 52"/>
                  <a:gd name="T18" fmla="*/ 52 w 52"/>
                  <a:gd name="T19" fmla="*/ 19 h 52"/>
                  <a:gd name="T20" fmla="*/ 52 w 52"/>
                  <a:gd name="T21" fmla="*/ 6 h 52"/>
                  <a:gd name="T22" fmla="*/ 39 w 52"/>
                  <a:gd name="T23" fmla="*/ 0 h 52"/>
                  <a:gd name="T24" fmla="*/ 39 w 52"/>
                  <a:gd name="T25" fmla="*/ 0 h 52"/>
                  <a:gd name="T26" fmla="*/ 39 w 52"/>
                  <a:gd name="T27" fmla="*/ 0 h 52"/>
                  <a:gd name="T28" fmla="*/ 45 w 52"/>
                  <a:gd name="T29" fmla="*/ 6 h 52"/>
                  <a:gd name="T30" fmla="*/ 45 w 52"/>
                  <a:gd name="T31" fmla="*/ 13 h 52"/>
                  <a:gd name="T32" fmla="*/ 39 w 52"/>
                  <a:gd name="T33" fmla="*/ 39 h 52"/>
                  <a:gd name="T34" fmla="*/ 32 w 52"/>
                  <a:gd name="T35" fmla="*/ 45 h 52"/>
                  <a:gd name="T36" fmla="*/ 19 w 52"/>
                  <a:gd name="T37" fmla="*/ 52 h 52"/>
                  <a:gd name="T38" fmla="*/ 13 w 52"/>
                  <a:gd name="T39" fmla="*/ 45 h 52"/>
                  <a:gd name="T40" fmla="*/ 13 w 52"/>
                  <a:gd name="T41" fmla="*/ 39 h 52"/>
                  <a:gd name="T42" fmla="*/ 19 w 52"/>
                  <a:gd name="T43" fmla="*/ 13 h 52"/>
                  <a:gd name="T44" fmla="*/ 26 w 52"/>
                  <a:gd name="T45" fmla="*/ 6 h 52"/>
                  <a:gd name="T46" fmla="*/ 39 w 52"/>
                  <a:gd name="T47" fmla="*/ 0 h 52"/>
                  <a:gd name="T48" fmla="*/ 39 w 52"/>
                  <a:gd name="T49" fmla="*/ 0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52"/>
                  <a:gd name="T77" fmla="*/ 52 w 52"/>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52">
                    <a:moveTo>
                      <a:pt x="39" y="0"/>
                    </a:moveTo>
                    <a:lnTo>
                      <a:pt x="26" y="6"/>
                    </a:lnTo>
                    <a:lnTo>
                      <a:pt x="13" y="13"/>
                    </a:lnTo>
                    <a:lnTo>
                      <a:pt x="7" y="19"/>
                    </a:lnTo>
                    <a:lnTo>
                      <a:pt x="0" y="32"/>
                    </a:lnTo>
                    <a:lnTo>
                      <a:pt x="7" y="45"/>
                    </a:lnTo>
                    <a:lnTo>
                      <a:pt x="19" y="52"/>
                    </a:lnTo>
                    <a:lnTo>
                      <a:pt x="32" y="52"/>
                    </a:lnTo>
                    <a:lnTo>
                      <a:pt x="45" y="39"/>
                    </a:lnTo>
                    <a:lnTo>
                      <a:pt x="52" y="19"/>
                    </a:lnTo>
                    <a:lnTo>
                      <a:pt x="52" y="6"/>
                    </a:lnTo>
                    <a:lnTo>
                      <a:pt x="39" y="0"/>
                    </a:lnTo>
                    <a:close/>
                    <a:moveTo>
                      <a:pt x="39" y="0"/>
                    </a:moveTo>
                    <a:lnTo>
                      <a:pt x="45" y="6"/>
                    </a:lnTo>
                    <a:lnTo>
                      <a:pt x="45" y="13"/>
                    </a:lnTo>
                    <a:lnTo>
                      <a:pt x="39" y="39"/>
                    </a:lnTo>
                    <a:lnTo>
                      <a:pt x="32" y="45"/>
                    </a:lnTo>
                    <a:lnTo>
                      <a:pt x="19" y="52"/>
                    </a:lnTo>
                    <a:lnTo>
                      <a:pt x="13" y="45"/>
                    </a:lnTo>
                    <a:lnTo>
                      <a:pt x="13" y="39"/>
                    </a:lnTo>
                    <a:lnTo>
                      <a:pt x="19" y="13"/>
                    </a:lnTo>
                    <a:lnTo>
                      <a:pt x="26" y="6"/>
                    </a:lnTo>
                    <a:lnTo>
                      <a:pt x="39"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1" name="Freeform 190"/>
              <p:cNvSpPr>
                <a:spLocks noEditPoints="1"/>
              </p:cNvSpPr>
              <p:nvPr/>
            </p:nvSpPr>
            <p:spPr bwMode="auto">
              <a:xfrm>
                <a:off x="2731" y="3672"/>
                <a:ext cx="32" cy="110"/>
              </a:xfrm>
              <a:custGeom>
                <a:avLst/>
                <a:gdLst>
                  <a:gd name="T0" fmla="*/ 26 w 32"/>
                  <a:gd name="T1" fmla="*/ 91 h 110"/>
                  <a:gd name="T2" fmla="*/ 19 w 32"/>
                  <a:gd name="T3" fmla="*/ 97 h 110"/>
                  <a:gd name="T4" fmla="*/ 13 w 32"/>
                  <a:gd name="T5" fmla="*/ 97 h 110"/>
                  <a:gd name="T6" fmla="*/ 13 w 32"/>
                  <a:gd name="T7" fmla="*/ 97 h 110"/>
                  <a:gd name="T8" fmla="*/ 6 w 32"/>
                  <a:gd name="T9" fmla="*/ 97 h 110"/>
                  <a:gd name="T10" fmla="*/ 13 w 32"/>
                  <a:gd name="T11" fmla="*/ 97 h 110"/>
                  <a:gd name="T12" fmla="*/ 13 w 32"/>
                  <a:gd name="T13" fmla="*/ 91 h 110"/>
                  <a:gd name="T14" fmla="*/ 26 w 32"/>
                  <a:gd name="T15" fmla="*/ 39 h 110"/>
                  <a:gd name="T16" fmla="*/ 26 w 32"/>
                  <a:gd name="T17" fmla="*/ 39 h 110"/>
                  <a:gd name="T18" fmla="*/ 13 w 32"/>
                  <a:gd name="T19" fmla="*/ 39 h 110"/>
                  <a:gd name="T20" fmla="*/ 0 w 32"/>
                  <a:gd name="T21" fmla="*/ 39 h 110"/>
                  <a:gd name="T22" fmla="*/ 0 w 32"/>
                  <a:gd name="T23" fmla="*/ 46 h 110"/>
                  <a:gd name="T24" fmla="*/ 6 w 32"/>
                  <a:gd name="T25" fmla="*/ 46 h 110"/>
                  <a:gd name="T26" fmla="*/ 13 w 32"/>
                  <a:gd name="T27" fmla="*/ 46 h 110"/>
                  <a:gd name="T28" fmla="*/ 13 w 32"/>
                  <a:gd name="T29" fmla="*/ 59 h 110"/>
                  <a:gd name="T30" fmla="*/ 6 w 32"/>
                  <a:gd name="T31" fmla="*/ 71 h 110"/>
                  <a:gd name="T32" fmla="*/ 0 w 32"/>
                  <a:gd name="T33" fmla="*/ 91 h 110"/>
                  <a:gd name="T34" fmla="*/ 0 w 32"/>
                  <a:gd name="T35" fmla="*/ 97 h 110"/>
                  <a:gd name="T36" fmla="*/ 0 w 32"/>
                  <a:gd name="T37" fmla="*/ 104 h 110"/>
                  <a:gd name="T38" fmla="*/ 6 w 32"/>
                  <a:gd name="T39" fmla="*/ 110 h 110"/>
                  <a:gd name="T40" fmla="*/ 19 w 32"/>
                  <a:gd name="T41" fmla="*/ 104 h 110"/>
                  <a:gd name="T42" fmla="*/ 26 w 32"/>
                  <a:gd name="T43" fmla="*/ 91 h 110"/>
                  <a:gd name="T44" fmla="*/ 26 w 32"/>
                  <a:gd name="T45" fmla="*/ 91 h 110"/>
                  <a:gd name="T46" fmla="*/ 32 w 32"/>
                  <a:gd name="T47" fmla="*/ 13 h 110"/>
                  <a:gd name="T48" fmla="*/ 32 w 32"/>
                  <a:gd name="T49" fmla="*/ 7 h 110"/>
                  <a:gd name="T50" fmla="*/ 26 w 32"/>
                  <a:gd name="T51" fmla="*/ 0 h 110"/>
                  <a:gd name="T52" fmla="*/ 19 w 32"/>
                  <a:gd name="T53" fmla="*/ 7 h 110"/>
                  <a:gd name="T54" fmla="*/ 19 w 32"/>
                  <a:gd name="T55" fmla="*/ 13 h 110"/>
                  <a:gd name="T56" fmla="*/ 19 w 32"/>
                  <a:gd name="T57" fmla="*/ 20 h 110"/>
                  <a:gd name="T58" fmla="*/ 26 w 32"/>
                  <a:gd name="T59" fmla="*/ 20 h 110"/>
                  <a:gd name="T60" fmla="*/ 32 w 32"/>
                  <a:gd name="T61" fmla="*/ 20 h 110"/>
                  <a:gd name="T62" fmla="*/ 32 w 32"/>
                  <a:gd name="T63" fmla="*/ 13 h 110"/>
                  <a:gd name="T64" fmla="*/ 32 w 32"/>
                  <a:gd name="T65" fmla="*/ 13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2"/>
                  <a:gd name="T100" fmla="*/ 0 h 110"/>
                  <a:gd name="T101" fmla="*/ 32 w 32"/>
                  <a:gd name="T102" fmla="*/ 110 h 11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2" h="110">
                    <a:moveTo>
                      <a:pt x="26" y="91"/>
                    </a:moveTo>
                    <a:lnTo>
                      <a:pt x="19" y="97"/>
                    </a:lnTo>
                    <a:lnTo>
                      <a:pt x="13" y="97"/>
                    </a:lnTo>
                    <a:lnTo>
                      <a:pt x="6" y="97"/>
                    </a:lnTo>
                    <a:lnTo>
                      <a:pt x="13" y="97"/>
                    </a:lnTo>
                    <a:lnTo>
                      <a:pt x="13" y="91"/>
                    </a:lnTo>
                    <a:lnTo>
                      <a:pt x="26" y="39"/>
                    </a:lnTo>
                    <a:lnTo>
                      <a:pt x="13" y="39"/>
                    </a:lnTo>
                    <a:lnTo>
                      <a:pt x="0" y="39"/>
                    </a:lnTo>
                    <a:lnTo>
                      <a:pt x="0" y="46"/>
                    </a:lnTo>
                    <a:lnTo>
                      <a:pt x="6" y="46"/>
                    </a:lnTo>
                    <a:lnTo>
                      <a:pt x="13" y="46"/>
                    </a:lnTo>
                    <a:lnTo>
                      <a:pt x="13" y="59"/>
                    </a:lnTo>
                    <a:lnTo>
                      <a:pt x="6" y="71"/>
                    </a:lnTo>
                    <a:lnTo>
                      <a:pt x="0" y="91"/>
                    </a:lnTo>
                    <a:lnTo>
                      <a:pt x="0" y="97"/>
                    </a:lnTo>
                    <a:lnTo>
                      <a:pt x="0" y="104"/>
                    </a:lnTo>
                    <a:lnTo>
                      <a:pt x="6" y="110"/>
                    </a:lnTo>
                    <a:lnTo>
                      <a:pt x="19" y="104"/>
                    </a:lnTo>
                    <a:lnTo>
                      <a:pt x="26" y="91"/>
                    </a:lnTo>
                    <a:close/>
                    <a:moveTo>
                      <a:pt x="32" y="13"/>
                    </a:moveTo>
                    <a:lnTo>
                      <a:pt x="32" y="7"/>
                    </a:lnTo>
                    <a:lnTo>
                      <a:pt x="26" y="0"/>
                    </a:lnTo>
                    <a:lnTo>
                      <a:pt x="19" y="7"/>
                    </a:lnTo>
                    <a:lnTo>
                      <a:pt x="19" y="13"/>
                    </a:lnTo>
                    <a:lnTo>
                      <a:pt x="19" y="20"/>
                    </a:lnTo>
                    <a:lnTo>
                      <a:pt x="26" y="20"/>
                    </a:lnTo>
                    <a:lnTo>
                      <a:pt x="32" y="20"/>
                    </a:lnTo>
                    <a:lnTo>
                      <a:pt x="32" y="1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2" name="Freeform 191"/>
              <p:cNvSpPr>
                <a:spLocks noEditPoints="1"/>
              </p:cNvSpPr>
              <p:nvPr/>
            </p:nvSpPr>
            <p:spPr bwMode="auto">
              <a:xfrm>
                <a:off x="2770" y="3763"/>
                <a:ext cx="58" cy="58"/>
              </a:xfrm>
              <a:custGeom>
                <a:avLst/>
                <a:gdLst>
                  <a:gd name="T0" fmla="*/ 38 w 58"/>
                  <a:gd name="T1" fmla="*/ 0 h 58"/>
                  <a:gd name="T2" fmla="*/ 25 w 58"/>
                  <a:gd name="T3" fmla="*/ 6 h 58"/>
                  <a:gd name="T4" fmla="*/ 13 w 58"/>
                  <a:gd name="T5" fmla="*/ 13 h 58"/>
                  <a:gd name="T6" fmla="*/ 6 w 58"/>
                  <a:gd name="T7" fmla="*/ 26 h 58"/>
                  <a:gd name="T8" fmla="*/ 0 w 58"/>
                  <a:gd name="T9" fmla="*/ 39 h 58"/>
                  <a:gd name="T10" fmla="*/ 6 w 58"/>
                  <a:gd name="T11" fmla="*/ 52 h 58"/>
                  <a:gd name="T12" fmla="*/ 19 w 58"/>
                  <a:gd name="T13" fmla="*/ 58 h 58"/>
                  <a:gd name="T14" fmla="*/ 32 w 58"/>
                  <a:gd name="T15" fmla="*/ 52 h 58"/>
                  <a:gd name="T16" fmla="*/ 45 w 58"/>
                  <a:gd name="T17" fmla="*/ 45 h 58"/>
                  <a:gd name="T18" fmla="*/ 58 w 58"/>
                  <a:gd name="T19" fmla="*/ 32 h 58"/>
                  <a:gd name="T20" fmla="*/ 58 w 58"/>
                  <a:gd name="T21" fmla="*/ 19 h 58"/>
                  <a:gd name="T22" fmla="*/ 51 w 58"/>
                  <a:gd name="T23" fmla="*/ 6 h 58"/>
                  <a:gd name="T24" fmla="*/ 38 w 58"/>
                  <a:gd name="T25" fmla="*/ 0 h 58"/>
                  <a:gd name="T26" fmla="*/ 38 w 58"/>
                  <a:gd name="T27" fmla="*/ 0 h 58"/>
                  <a:gd name="T28" fmla="*/ 38 w 58"/>
                  <a:gd name="T29" fmla="*/ 6 h 58"/>
                  <a:gd name="T30" fmla="*/ 45 w 58"/>
                  <a:gd name="T31" fmla="*/ 13 h 58"/>
                  <a:gd name="T32" fmla="*/ 45 w 58"/>
                  <a:gd name="T33" fmla="*/ 19 h 58"/>
                  <a:gd name="T34" fmla="*/ 38 w 58"/>
                  <a:gd name="T35" fmla="*/ 39 h 58"/>
                  <a:gd name="T36" fmla="*/ 32 w 58"/>
                  <a:gd name="T37" fmla="*/ 52 h 58"/>
                  <a:gd name="T38" fmla="*/ 19 w 58"/>
                  <a:gd name="T39" fmla="*/ 52 h 58"/>
                  <a:gd name="T40" fmla="*/ 13 w 58"/>
                  <a:gd name="T41" fmla="*/ 52 h 58"/>
                  <a:gd name="T42" fmla="*/ 13 w 58"/>
                  <a:gd name="T43" fmla="*/ 45 h 58"/>
                  <a:gd name="T44" fmla="*/ 19 w 58"/>
                  <a:gd name="T45" fmla="*/ 19 h 58"/>
                  <a:gd name="T46" fmla="*/ 25 w 58"/>
                  <a:gd name="T47" fmla="*/ 13 h 58"/>
                  <a:gd name="T48" fmla="*/ 38 w 58"/>
                  <a:gd name="T49" fmla="*/ 6 h 58"/>
                  <a:gd name="T50" fmla="*/ 38 w 58"/>
                  <a:gd name="T51" fmla="*/ 6 h 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8"/>
                  <a:gd name="T79" fmla="*/ 0 h 58"/>
                  <a:gd name="T80" fmla="*/ 58 w 58"/>
                  <a:gd name="T81" fmla="*/ 58 h 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8" h="58">
                    <a:moveTo>
                      <a:pt x="38" y="0"/>
                    </a:moveTo>
                    <a:lnTo>
                      <a:pt x="25" y="6"/>
                    </a:lnTo>
                    <a:lnTo>
                      <a:pt x="13" y="13"/>
                    </a:lnTo>
                    <a:lnTo>
                      <a:pt x="6" y="26"/>
                    </a:lnTo>
                    <a:lnTo>
                      <a:pt x="0" y="39"/>
                    </a:lnTo>
                    <a:lnTo>
                      <a:pt x="6" y="52"/>
                    </a:lnTo>
                    <a:lnTo>
                      <a:pt x="19" y="58"/>
                    </a:lnTo>
                    <a:lnTo>
                      <a:pt x="32" y="52"/>
                    </a:lnTo>
                    <a:lnTo>
                      <a:pt x="45" y="45"/>
                    </a:lnTo>
                    <a:lnTo>
                      <a:pt x="58" y="32"/>
                    </a:lnTo>
                    <a:lnTo>
                      <a:pt x="58" y="19"/>
                    </a:lnTo>
                    <a:lnTo>
                      <a:pt x="51" y="6"/>
                    </a:lnTo>
                    <a:lnTo>
                      <a:pt x="38" y="0"/>
                    </a:lnTo>
                    <a:close/>
                    <a:moveTo>
                      <a:pt x="38" y="6"/>
                    </a:moveTo>
                    <a:lnTo>
                      <a:pt x="45" y="13"/>
                    </a:lnTo>
                    <a:lnTo>
                      <a:pt x="45" y="19"/>
                    </a:lnTo>
                    <a:lnTo>
                      <a:pt x="38" y="39"/>
                    </a:lnTo>
                    <a:lnTo>
                      <a:pt x="32" y="52"/>
                    </a:lnTo>
                    <a:lnTo>
                      <a:pt x="19" y="52"/>
                    </a:lnTo>
                    <a:lnTo>
                      <a:pt x="13" y="52"/>
                    </a:lnTo>
                    <a:lnTo>
                      <a:pt x="13" y="45"/>
                    </a:lnTo>
                    <a:lnTo>
                      <a:pt x="19" y="19"/>
                    </a:lnTo>
                    <a:lnTo>
                      <a:pt x="25" y="13"/>
                    </a:lnTo>
                    <a:lnTo>
                      <a:pt x="38" y="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3" name="Freeform 192"/>
              <p:cNvSpPr/>
              <p:nvPr/>
            </p:nvSpPr>
            <p:spPr bwMode="auto">
              <a:xfrm>
                <a:off x="2692" y="3634"/>
                <a:ext cx="168" cy="1"/>
              </a:xfrm>
              <a:custGeom>
                <a:avLst/>
                <a:gdLst>
                  <a:gd name="T0" fmla="*/ 0 w 168"/>
                  <a:gd name="T1" fmla="*/ 0 h 1"/>
                  <a:gd name="T2" fmla="*/ 168 w 168"/>
                  <a:gd name="T3" fmla="*/ 0 h 1"/>
                  <a:gd name="T4" fmla="*/ 0 w 168"/>
                  <a:gd name="T5" fmla="*/ 0 h 1"/>
                  <a:gd name="T6" fmla="*/ 0 w 168"/>
                  <a:gd name="T7" fmla="*/ 0 h 1"/>
                  <a:gd name="T8" fmla="*/ 0 60000 65536"/>
                  <a:gd name="T9" fmla="*/ 0 60000 65536"/>
                  <a:gd name="T10" fmla="*/ 0 60000 65536"/>
                  <a:gd name="T11" fmla="*/ 0 60000 65536"/>
                  <a:gd name="T12" fmla="*/ 0 w 168"/>
                  <a:gd name="T13" fmla="*/ 0 h 1"/>
                  <a:gd name="T14" fmla="*/ 168 w 168"/>
                  <a:gd name="T15" fmla="*/ 1 h 1"/>
                </a:gdLst>
                <a:ahLst/>
                <a:cxnLst>
                  <a:cxn ang="T8">
                    <a:pos x="T0" y="T1"/>
                  </a:cxn>
                  <a:cxn ang="T9">
                    <a:pos x="T2" y="T3"/>
                  </a:cxn>
                  <a:cxn ang="T10">
                    <a:pos x="T4" y="T5"/>
                  </a:cxn>
                  <a:cxn ang="T11">
                    <a:pos x="T6" y="T7"/>
                  </a:cxn>
                </a:cxnLst>
                <a:rect l="T12" t="T13" r="T14" b="T15"/>
                <a:pathLst>
                  <a:path w="168" h="1">
                    <a:moveTo>
                      <a:pt x="0" y="0"/>
                    </a:moveTo>
                    <a:lnTo>
                      <a:pt x="168" y="0"/>
                    </a:ln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4" name="Freeform 193"/>
              <p:cNvSpPr/>
              <p:nvPr/>
            </p:nvSpPr>
            <p:spPr bwMode="auto">
              <a:xfrm>
                <a:off x="3774" y="2721"/>
                <a:ext cx="279" cy="272"/>
              </a:xfrm>
              <a:custGeom>
                <a:avLst/>
                <a:gdLst>
                  <a:gd name="T0" fmla="*/ 143 w 279"/>
                  <a:gd name="T1" fmla="*/ 272 h 272"/>
                  <a:gd name="T2" fmla="*/ 194 w 279"/>
                  <a:gd name="T3" fmla="*/ 259 h 272"/>
                  <a:gd name="T4" fmla="*/ 240 w 279"/>
                  <a:gd name="T5" fmla="*/ 233 h 272"/>
                  <a:gd name="T6" fmla="*/ 266 w 279"/>
                  <a:gd name="T7" fmla="*/ 188 h 272"/>
                  <a:gd name="T8" fmla="*/ 279 w 279"/>
                  <a:gd name="T9" fmla="*/ 136 h 272"/>
                  <a:gd name="T10" fmla="*/ 266 w 279"/>
                  <a:gd name="T11" fmla="*/ 84 h 272"/>
                  <a:gd name="T12" fmla="*/ 240 w 279"/>
                  <a:gd name="T13" fmla="*/ 39 h 272"/>
                  <a:gd name="T14" fmla="*/ 194 w 279"/>
                  <a:gd name="T15" fmla="*/ 13 h 272"/>
                  <a:gd name="T16" fmla="*/ 143 w 279"/>
                  <a:gd name="T17" fmla="*/ 0 h 272"/>
                  <a:gd name="T18" fmla="*/ 91 w 279"/>
                  <a:gd name="T19" fmla="*/ 13 h 272"/>
                  <a:gd name="T20" fmla="*/ 45 w 279"/>
                  <a:gd name="T21" fmla="*/ 39 h 272"/>
                  <a:gd name="T22" fmla="*/ 13 w 279"/>
                  <a:gd name="T23" fmla="*/ 84 h 272"/>
                  <a:gd name="T24" fmla="*/ 0 w 279"/>
                  <a:gd name="T25" fmla="*/ 136 h 272"/>
                  <a:gd name="T26" fmla="*/ 13 w 279"/>
                  <a:gd name="T27" fmla="*/ 188 h 272"/>
                  <a:gd name="T28" fmla="*/ 45 w 279"/>
                  <a:gd name="T29" fmla="*/ 233 h 272"/>
                  <a:gd name="T30" fmla="*/ 91 w 279"/>
                  <a:gd name="T31" fmla="*/ 259 h 272"/>
                  <a:gd name="T32" fmla="*/ 143 w 279"/>
                  <a:gd name="T33" fmla="*/ 272 h 272"/>
                  <a:gd name="T34" fmla="*/ 143 w 279"/>
                  <a:gd name="T35" fmla="*/ 272 h 2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9"/>
                  <a:gd name="T55" fmla="*/ 0 h 272"/>
                  <a:gd name="T56" fmla="*/ 279 w 279"/>
                  <a:gd name="T57" fmla="*/ 272 h 2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9" h="272">
                    <a:moveTo>
                      <a:pt x="143" y="272"/>
                    </a:moveTo>
                    <a:lnTo>
                      <a:pt x="194" y="259"/>
                    </a:lnTo>
                    <a:lnTo>
                      <a:pt x="240" y="233"/>
                    </a:lnTo>
                    <a:lnTo>
                      <a:pt x="266" y="188"/>
                    </a:lnTo>
                    <a:lnTo>
                      <a:pt x="279" y="136"/>
                    </a:lnTo>
                    <a:lnTo>
                      <a:pt x="266" y="84"/>
                    </a:lnTo>
                    <a:lnTo>
                      <a:pt x="240" y="39"/>
                    </a:lnTo>
                    <a:lnTo>
                      <a:pt x="194" y="13"/>
                    </a:lnTo>
                    <a:lnTo>
                      <a:pt x="143" y="0"/>
                    </a:lnTo>
                    <a:lnTo>
                      <a:pt x="91" y="13"/>
                    </a:lnTo>
                    <a:lnTo>
                      <a:pt x="45" y="39"/>
                    </a:lnTo>
                    <a:lnTo>
                      <a:pt x="13" y="84"/>
                    </a:lnTo>
                    <a:lnTo>
                      <a:pt x="0" y="136"/>
                    </a:lnTo>
                    <a:lnTo>
                      <a:pt x="13" y="188"/>
                    </a:lnTo>
                    <a:lnTo>
                      <a:pt x="45" y="233"/>
                    </a:lnTo>
                    <a:lnTo>
                      <a:pt x="91" y="259"/>
                    </a:lnTo>
                    <a:lnTo>
                      <a:pt x="143" y="272"/>
                    </a:lnTo>
                    <a:close/>
                  </a:path>
                </a:pathLst>
              </a:custGeom>
              <a:solidFill>
                <a:srgbClr val="006666"/>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5" name="Freeform 194"/>
              <p:cNvSpPr/>
              <p:nvPr/>
            </p:nvSpPr>
            <p:spPr bwMode="auto">
              <a:xfrm>
                <a:off x="3917" y="2857"/>
                <a:ext cx="136" cy="136"/>
              </a:xfrm>
              <a:custGeom>
                <a:avLst/>
                <a:gdLst>
                  <a:gd name="T0" fmla="*/ 0 w 136"/>
                  <a:gd name="T1" fmla="*/ 136 h 136"/>
                  <a:gd name="T2" fmla="*/ 51 w 136"/>
                  <a:gd name="T3" fmla="*/ 123 h 136"/>
                  <a:gd name="T4" fmla="*/ 97 w 136"/>
                  <a:gd name="T5" fmla="*/ 97 h 136"/>
                  <a:gd name="T6" fmla="*/ 123 w 136"/>
                  <a:gd name="T7" fmla="*/ 52 h 136"/>
                  <a:gd name="T8" fmla="*/ 136 w 136"/>
                  <a:gd name="T9" fmla="*/ 0 h 136"/>
                  <a:gd name="T10" fmla="*/ 136 w 136"/>
                  <a:gd name="T11" fmla="*/ 0 h 136"/>
                  <a:gd name="T12" fmla="*/ 123 w 136"/>
                  <a:gd name="T13" fmla="*/ 52 h 136"/>
                  <a:gd name="T14" fmla="*/ 97 w 136"/>
                  <a:gd name="T15" fmla="*/ 97 h 136"/>
                  <a:gd name="T16" fmla="*/ 51 w 136"/>
                  <a:gd name="T17" fmla="*/ 123 h 136"/>
                  <a:gd name="T18" fmla="*/ 0 w 136"/>
                  <a:gd name="T19" fmla="*/ 136 h 136"/>
                  <a:gd name="T20" fmla="*/ 0 w 136"/>
                  <a:gd name="T21" fmla="*/ 136 h 1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136"/>
                  <a:gd name="T35" fmla="*/ 136 w 136"/>
                  <a:gd name="T36" fmla="*/ 136 h 1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136">
                    <a:moveTo>
                      <a:pt x="0" y="136"/>
                    </a:moveTo>
                    <a:lnTo>
                      <a:pt x="51" y="123"/>
                    </a:lnTo>
                    <a:lnTo>
                      <a:pt x="97" y="97"/>
                    </a:lnTo>
                    <a:lnTo>
                      <a:pt x="123" y="52"/>
                    </a:lnTo>
                    <a:lnTo>
                      <a:pt x="136" y="0"/>
                    </a:lnTo>
                    <a:lnTo>
                      <a:pt x="123" y="52"/>
                    </a:lnTo>
                    <a:lnTo>
                      <a:pt x="97" y="97"/>
                    </a:lnTo>
                    <a:lnTo>
                      <a:pt x="51" y="123"/>
                    </a:lnTo>
                    <a:lnTo>
                      <a:pt x="0" y="13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6" name="Freeform 195"/>
              <p:cNvSpPr>
                <a:spLocks noEditPoints="1"/>
              </p:cNvSpPr>
              <p:nvPr/>
            </p:nvSpPr>
            <p:spPr bwMode="auto">
              <a:xfrm>
                <a:off x="3917" y="2721"/>
                <a:ext cx="136" cy="136"/>
              </a:xfrm>
              <a:custGeom>
                <a:avLst/>
                <a:gdLst>
                  <a:gd name="T0" fmla="*/ 136 w 136"/>
                  <a:gd name="T1" fmla="*/ 136 h 136"/>
                  <a:gd name="T2" fmla="*/ 123 w 136"/>
                  <a:gd name="T3" fmla="*/ 84 h 136"/>
                  <a:gd name="T4" fmla="*/ 97 w 136"/>
                  <a:gd name="T5" fmla="*/ 39 h 136"/>
                  <a:gd name="T6" fmla="*/ 51 w 136"/>
                  <a:gd name="T7" fmla="*/ 13 h 136"/>
                  <a:gd name="T8" fmla="*/ 0 w 136"/>
                  <a:gd name="T9" fmla="*/ 0 h 136"/>
                  <a:gd name="T10" fmla="*/ 0 w 136"/>
                  <a:gd name="T11" fmla="*/ 0 h 136"/>
                  <a:gd name="T12" fmla="*/ 51 w 136"/>
                  <a:gd name="T13" fmla="*/ 13 h 136"/>
                  <a:gd name="T14" fmla="*/ 97 w 136"/>
                  <a:gd name="T15" fmla="*/ 39 h 136"/>
                  <a:gd name="T16" fmla="*/ 123 w 136"/>
                  <a:gd name="T17" fmla="*/ 84 h 136"/>
                  <a:gd name="T18" fmla="*/ 136 w 136"/>
                  <a:gd name="T19" fmla="*/ 136 h 136"/>
                  <a:gd name="T20" fmla="*/ 136 w 136"/>
                  <a:gd name="T21" fmla="*/ 136 h 136"/>
                  <a:gd name="T22" fmla="*/ 136 w 136"/>
                  <a:gd name="T23" fmla="*/ 136 h 136"/>
                  <a:gd name="T24" fmla="*/ 136 w 136"/>
                  <a:gd name="T25" fmla="*/ 136 h 136"/>
                  <a:gd name="T26" fmla="*/ 136 w 136"/>
                  <a:gd name="T27" fmla="*/ 136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36"/>
                  <a:gd name="T44" fmla="*/ 136 w 136"/>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36">
                    <a:moveTo>
                      <a:pt x="136" y="136"/>
                    </a:moveTo>
                    <a:lnTo>
                      <a:pt x="123" y="84"/>
                    </a:lnTo>
                    <a:lnTo>
                      <a:pt x="97" y="39"/>
                    </a:lnTo>
                    <a:lnTo>
                      <a:pt x="51" y="13"/>
                    </a:lnTo>
                    <a:lnTo>
                      <a:pt x="0" y="0"/>
                    </a:lnTo>
                    <a:lnTo>
                      <a:pt x="51" y="13"/>
                    </a:lnTo>
                    <a:lnTo>
                      <a:pt x="97" y="39"/>
                    </a:lnTo>
                    <a:lnTo>
                      <a:pt x="123" y="84"/>
                    </a:lnTo>
                    <a:lnTo>
                      <a:pt x="136" y="136"/>
                    </a:lnTo>
                    <a:close/>
                    <a:moveTo>
                      <a:pt x="136" y="136"/>
                    </a:moveTo>
                    <a:lnTo>
                      <a:pt x="136" y="136"/>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7" name="Freeform 196"/>
              <p:cNvSpPr>
                <a:spLocks noEditPoints="1"/>
              </p:cNvSpPr>
              <p:nvPr/>
            </p:nvSpPr>
            <p:spPr bwMode="auto">
              <a:xfrm>
                <a:off x="3774" y="2721"/>
                <a:ext cx="143" cy="136"/>
              </a:xfrm>
              <a:custGeom>
                <a:avLst/>
                <a:gdLst>
                  <a:gd name="T0" fmla="*/ 143 w 143"/>
                  <a:gd name="T1" fmla="*/ 0 h 136"/>
                  <a:gd name="T2" fmla="*/ 91 w 143"/>
                  <a:gd name="T3" fmla="*/ 13 h 136"/>
                  <a:gd name="T4" fmla="*/ 45 w 143"/>
                  <a:gd name="T5" fmla="*/ 39 h 136"/>
                  <a:gd name="T6" fmla="*/ 13 w 143"/>
                  <a:gd name="T7" fmla="*/ 84 h 136"/>
                  <a:gd name="T8" fmla="*/ 0 w 143"/>
                  <a:gd name="T9" fmla="*/ 136 h 136"/>
                  <a:gd name="T10" fmla="*/ 0 w 143"/>
                  <a:gd name="T11" fmla="*/ 136 h 136"/>
                  <a:gd name="T12" fmla="*/ 13 w 143"/>
                  <a:gd name="T13" fmla="*/ 84 h 136"/>
                  <a:gd name="T14" fmla="*/ 45 w 143"/>
                  <a:gd name="T15" fmla="*/ 39 h 136"/>
                  <a:gd name="T16" fmla="*/ 91 w 143"/>
                  <a:gd name="T17" fmla="*/ 13 h 136"/>
                  <a:gd name="T18" fmla="*/ 143 w 143"/>
                  <a:gd name="T19" fmla="*/ 0 h 136"/>
                  <a:gd name="T20" fmla="*/ 143 w 143"/>
                  <a:gd name="T21" fmla="*/ 0 h 136"/>
                  <a:gd name="T22" fmla="*/ 143 w 143"/>
                  <a:gd name="T23" fmla="*/ 0 h 136"/>
                  <a:gd name="T24" fmla="*/ 143 w 143"/>
                  <a:gd name="T25" fmla="*/ 0 h 136"/>
                  <a:gd name="T26" fmla="*/ 143 w 143"/>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
                  <a:gd name="T43" fmla="*/ 0 h 136"/>
                  <a:gd name="T44" fmla="*/ 143 w 143"/>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 h="136">
                    <a:moveTo>
                      <a:pt x="143" y="0"/>
                    </a:moveTo>
                    <a:lnTo>
                      <a:pt x="91" y="13"/>
                    </a:lnTo>
                    <a:lnTo>
                      <a:pt x="45" y="39"/>
                    </a:lnTo>
                    <a:lnTo>
                      <a:pt x="13" y="84"/>
                    </a:lnTo>
                    <a:lnTo>
                      <a:pt x="0" y="136"/>
                    </a:lnTo>
                    <a:lnTo>
                      <a:pt x="13" y="84"/>
                    </a:lnTo>
                    <a:lnTo>
                      <a:pt x="45" y="39"/>
                    </a:lnTo>
                    <a:lnTo>
                      <a:pt x="91" y="13"/>
                    </a:lnTo>
                    <a:lnTo>
                      <a:pt x="143" y="0"/>
                    </a:lnTo>
                    <a:close/>
                    <a:moveTo>
                      <a:pt x="143" y="0"/>
                    </a:moveTo>
                    <a:lnTo>
                      <a:pt x="143"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8" name="Freeform 197"/>
              <p:cNvSpPr>
                <a:spLocks noEditPoints="1"/>
              </p:cNvSpPr>
              <p:nvPr/>
            </p:nvSpPr>
            <p:spPr bwMode="auto">
              <a:xfrm>
                <a:off x="3774" y="2857"/>
                <a:ext cx="143" cy="136"/>
              </a:xfrm>
              <a:custGeom>
                <a:avLst/>
                <a:gdLst>
                  <a:gd name="T0" fmla="*/ 0 w 143"/>
                  <a:gd name="T1" fmla="*/ 0 h 136"/>
                  <a:gd name="T2" fmla="*/ 13 w 143"/>
                  <a:gd name="T3" fmla="*/ 52 h 136"/>
                  <a:gd name="T4" fmla="*/ 45 w 143"/>
                  <a:gd name="T5" fmla="*/ 97 h 136"/>
                  <a:gd name="T6" fmla="*/ 91 w 143"/>
                  <a:gd name="T7" fmla="*/ 123 h 136"/>
                  <a:gd name="T8" fmla="*/ 143 w 143"/>
                  <a:gd name="T9" fmla="*/ 136 h 136"/>
                  <a:gd name="T10" fmla="*/ 143 w 143"/>
                  <a:gd name="T11" fmla="*/ 136 h 136"/>
                  <a:gd name="T12" fmla="*/ 91 w 143"/>
                  <a:gd name="T13" fmla="*/ 123 h 136"/>
                  <a:gd name="T14" fmla="*/ 45 w 143"/>
                  <a:gd name="T15" fmla="*/ 97 h 136"/>
                  <a:gd name="T16" fmla="*/ 13 w 143"/>
                  <a:gd name="T17" fmla="*/ 52 h 136"/>
                  <a:gd name="T18" fmla="*/ 0 w 143"/>
                  <a:gd name="T19" fmla="*/ 0 h 136"/>
                  <a:gd name="T20" fmla="*/ 0 w 143"/>
                  <a:gd name="T21" fmla="*/ 0 h 136"/>
                  <a:gd name="T22" fmla="*/ 0 w 143"/>
                  <a:gd name="T23" fmla="*/ 0 h 136"/>
                  <a:gd name="T24" fmla="*/ 0 w 143"/>
                  <a:gd name="T25" fmla="*/ 0 h 136"/>
                  <a:gd name="T26" fmla="*/ 0 w 143"/>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
                  <a:gd name="T43" fmla="*/ 0 h 136"/>
                  <a:gd name="T44" fmla="*/ 143 w 143"/>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 h="136">
                    <a:moveTo>
                      <a:pt x="0" y="0"/>
                    </a:moveTo>
                    <a:lnTo>
                      <a:pt x="13" y="52"/>
                    </a:lnTo>
                    <a:lnTo>
                      <a:pt x="45" y="97"/>
                    </a:lnTo>
                    <a:lnTo>
                      <a:pt x="91" y="123"/>
                    </a:lnTo>
                    <a:lnTo>
                      <a:pt x="143" y="136"/>
                    </a:lnTo>
                    <a:lnTo>
                      <a:pt x="91" y="123"/>
                    </a:lnTo>
                    <a:lnTo>
                      <a:pt x="45" y="97"/>
                    </a:lnTo>
                    <a:lnTo>
                      <a:pt x="13" y="52"/>
                    </a:lnTo>
                    <a:lnTo>
                      <a:pt x="0" y="0"/>
                    </a:lnTo>
                    <a:close/>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29" name="Freeform 198"/>
              <p:cNvSpPr/>
              <p:nvPr/>
            </p:nvSpPr>
            <p:spPr bwMode="auto">
              <a:xfrm>
                <a:off x="3917" y="299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0" name="Freeform 199"/>
              <p:cNvSpPr/>
              <p:nvPr/>
            </p:nvSpPr>
            <p:spPr bwMode="auto">
              <a:xfrm>
                <a:off x="3910" y="2857"/>
                <a:ext cx="1" cy="104"/>
              </a:xfrm>
              <a:custGeom>
                <a:avLst/>
                <a:gdLst>
                  <a:gd name="T0" fmla="*/ 0 w 1"/>
                  <a:gd name="T1" fmla="*/ 104 h 104"/>
                  <a:gd name="T2" fmla="*/ 0 w 1"/>
                  <a:gd name="T3" fmla="*/ 0 h 104"/>
                  <a:gd name="T4" fmla="*/ 0 w 1"/>
                  <a:gd name="T5" fmla="*/ 104 h 104"/>
                  <a:gd name="T6" fmla="*/ 0 w 1"/>
                  <a:gd name="T7" fmla="*/ 104 h 104"/>
                  <a:gd name="T8" fmla="*/ 0 60000 65536"/>
                  <a:gd name="T9" fmla="*/ 0 60000 65536"/>
                  <a:gd name="T10" fmla="*/ 0 60000 65536"/>
                  <a:gd name="T11" fmla="*/ 0 60000 65536"/>
                  <a:gd name="T12" fmla="*/ 0 w 1"/>
                  <a:gd name="T13" fmla="*/ 0 h 104"/>
                  <a:gd name="T14" fmla="*/ 1 w 1"/>
                  <a:gd name="T15" fmla="*/ 104 h 104"/>
                </a:gdLst>
                <a:ahLst/>
                <a:cxnLst>
                  <a:cxn ang="T8">
                    <a:pos x="T0" y="T1"/>
                  </a:cxn>
                  <a:cxn ang="T9">
                    <a:pos x="T2" y="T3"/>
                  </a:cxn>
                  <a:cxn ang="T10">
                    <a:pos x="T4" y="T5"/>
                  </a:cxn>
                  <a:cxn ang="T11">
                    <a:pos x="T6" y="T7"/>
                  </a:cxn>
                </a:cxnLst>
                <a:rect l="T12" t="T13" r="T14" b="T15"/>
                <a:pathLst>
                  <a:path w="1" h="104">
                    <a:moveTo>
                      <a:pt x="0" y="104"/>
                    </a:moveTo>
                    <a:lnTo>
                      <a:pt x="0" y="0"/>
                    </a:lnTo>
                    <a:lnTo>
                      <a:pt x="0" y="104"/>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1" name="Freeform 200"/>
              <p:cNvSpPr/>
              <p:nvPr/>
            </p:nvSpPr>
            <p:spPr bwMode="auto">
              <a:xfrm>
                <a:off x="3878" y="2754"/>
                <a:ext cx="71" cy="123"/>
              </a:xfrm>
              <a:custGeom>
                <a:avLst/>
                <a:gdLst>
                  <a:gd name="T0" fmla="*/ 71 w 71"/>
                  <a:gd name="T1" fmla="*/ 123 h 123"/>
                  <a:gd name="T2" fmla="*/ 32 w 71"/>
                  <a:gd name="T3" fmla="*/ 0 h 123"/>
                  <a:gd name="T4" fmla="*/ 0 w 71"/>
                  <a:gd name="T5" fmla="*/ 123 h 123"/>
                  <a:gd name="T6" fmla="*/ 71 w 71"/>
                  <a:gd name="T7" fmla="*/ 123 h 123"/>
                  <a:gd name="T8" fmla="*/ 71 w 71"/>
                  <a:gd name="T9" fmla="*/ 123 h 123"/>
                  <a:gd name="T10" fmla="*/ 0 60000 65536"/>
                  <a:gd name="T11" fmla="*/ 0 60000 65536"/>
                  <a:gd name="T12" fmla="*/ 0 60000 65536"/>
                  <a:gd name="T13" fmla="*/ 0 60000 65536"/>
                  <a:gd name="T14" fmla="*/ 0 60000 65536"/>
                  <a:gd name="T15" fmla="*/ 0 w 71"/>
                  <a:gd name="T16" fmla="*/ 0 h 123"/>
                  <a:gd name="T17" fmla="*/ 71 w 71"/>
                  <a:gd name="T18" fmla="*/ 123 h 123"/>
                </a:gdLst>
                <a:ahLst/>
                <a:cxnLst>
                  <a:cxn ang="T10">
                    <a:pos x="T0" y="T1"/>
                  </a:cxn>
                  <a:cxn ang="T11">
                    <a:pos x="T2" y="T3"/>
                  </a:cxn>
                  <a:cxn ang="T12">
                    <a:pos x="T4" y="T5"/>
                  </a:cxn>
                  <a:cxn ang="T13">
                    <a:pos x="T6" y="T7"/>
                  </a:cxn>
                  <a:cxn ang="T14">
                    <a:pos x="T8" y="T9"/>
                  </a:cxn>
                </a:cxnLst>
                <a:rect l="T15" t="T16" r="T17" b="T18"/>
                <a:pathLst>
                  <a:path w="71" h="123">
                    <a:moveTo>
                      <a:pt x="71" y="123"/>
                    </a:moveTo>
                    <a:lnTo>
                      <a:pt x="32" y="0"/>
                    </a:lnTo>
                    <a:lnTo>
                      <a:pt x="0" y="123"/>
                    </a:lnTo>
                    <a:lnTo>
                      <a:pt x="71" y="123"/>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2" name="Freeform 201"/>
              <p:cNvSpPr/>
              <p:nvPr/>
            </p:nvSpPr>
            <p:spPr bwMode="auto">
              <a:xfrm>
                <a:off x="3178" y="2618"/>
                <a:ext cx="84" cy="77"/>
              </a:xfrm>
              <a:custGeom>
                <a:avLst/>
                <a:gdLst>
                  <a:gd name="T0" fmla="*/ 39 w 84"/>
                  <a:gd name="T1" fmla="*/ 32 h 77"/>
                  <a:gd name="T2" fmla="*/ 0 w 84"/>
                  <a:gd name="T3" fmla="*/ 32 h 77"/>
                  <a:gd name="T4" fmla="*/ 0 w 84"/>
                  <a:gd name="T5" fmla="*/ 45 h 77"/>
                  <a:gd name="T6" fmla="*/ 39 w 84"/>
                  <a:gd name="T7" fmla="*/ 45 h 77"/>
                  <a:gd name="T8" fmla="*/ 39 w 84"/>
                  <a:gd name="T9" fmla="*/ 77 h 77"/>
                  <a:gd name="T10" fmla="*/ 45 w 84"/>
                  <a:gd name="T11" fmla="*/ 77 h 77"/>
                  <a:gd name="T12" fmla="*/ 45 w 84"/>
                  <a:gd name="T13" fmla="*/ 45 h 77"/>
                  <a:gd name="T14" fmla="*/ 84 w 84"/>
                  <a:gd name="T15" fmla="*/ 45 h 77"/>
                  <a:gd name="T16" fmla="*/ 84 w 84"/>
                  <a:gd name="T17" fmla="*/ 32 h 77"/>
                  <a:gd name="T18" fmla="*/ 45 w 84"/>
                  <a:gd name="T19" fmla="*/ 32 h 77"/>
                  <a:gd name="T20" fmla="*/ 45 w 84"/>
                  <a:gd name="T21" fmla="*/ 0 h 77"/>
                  <a:gd name="T22" fmla="*/ 39 w 84"/>
                  <a:gd name="T23" fmla="*/ 0 h 77"/>
                  <a:gd name="T24" fmla="*/ 39 w 84"/>
                  <a:gd name="T25" fmla="*/ 32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
                  <a:gd name="T40" fmla="*/ 0 h 77"/>
                  <a:gd name="T41" fmla="*/ 84 w 8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 h="77">
                    <a:moveTo>
                      <a:pt x="39" y="32"/>
                    </a:moveTo>
                    <a:lnTo>
                      <a:pt x="0" y="32"/>
                    </a:lnTo>
                    <a:lnTo>
                      <a:pt x="0" y="45"/>
                    </a:lnTo>
                    <a:lnTo>
                      <a:pt x="39" y="45"/>
                    </a:lnTo>
                    <a:lnTo>
                      <a:pt x="39" y="77"/>
                    </a:lnTo>
                    <a:lnTo>
                      <a:pt x="45" y="77"/>
                    </a:lnTo>
                    <a:lnTo>
                      <a:pt x="45" y="45"/>
                    </a:lnTo>
                    <a:lnTo>
                      <a:pt x="84" y="45"/>
                    </a:lnTo>
                    <a:lnTo>
                      <a:pt x="84" y="32"/>
                    </a:lnTo>
                    <a:lnTo>
                      <a:pt x="45" y="32"/>
                    </a:lnTo>
                    <a:lnTo>
                      <a:pt x="45" y="0"/>
                    </a:lnTo>
                    <a:lnTo>
                      <a:pt x="39" y="0"/>
                    </a:lnTo>
                    <a:lnTo>
                      <a:pt x="39" y="32"/>
                    </a:lnTo>
                    <a:close/>
                  </a:path>
                </a:pathLst>
              </a:custGeom>
              <a:solidFill>
                <a:srgbClr val="000000"/>
              </a:solid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32833" name="Rectangle 202"/>
              <p:cNvSpPr>
                <a:spLocks noChangeArrowheads="1"/>
              </p:cNvSpPr>
              <p:nvPr/>
            </p:nvSpPr>
            <p:spPr bwMode="auto">
              <a:xfrm>
                <a:off x="3171" y="3084"/>
                <a:ext cx="91" cy="13"/>
              </a:xfrm>
              <a:prstGeom prst="rect">
                <a:avLst/>
              </a:prstGeom>
              <a:solidFill>
                <a:srgbClr val="000000"/>
              </a:solidFill>
              <a:ln w="9525">
                <a:solidFill>
                  <a:schemeClr val="tx1"/>
                </a:solidFill>
                <a:miter lim="800000"/>
              </a:ln>
            </p:spPr>
            <p:txBody>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grpSp>
      <p:grpSp>
        <p:nvGrpSpPr>
          <p:cNvPr id="7" name="Group 204"/>
          <p:cNvGrpSpPr/>
          <p:nvPr/>
        </p:nvGrpSpPr>
        <p:grpSpPr bwMode="auto">
          <a:xfrm>
            <a:off x="1865565" y="6278530"/>
            <a:ext cx="7848600" cy="576263"/>
            <a:chOff x="295" y="526"/>
            <a:chExt cx="4944" cy="363"/>
          </a:xfrm>
        </p:grpSpPr>
        <p:graphicFrame>
          <p:nvGraphicFramePr>
            <p:cNvPr id="32777" name="Object 205"/>
            <p:cNvGraphicFramePr>
              <a:graphicFrameLocks noChangeAspect="1"/>
            </p:cNvGraphicFramePr>
            <p:nvPr/>
          </p:nvGraphicFramePr>
          <p:xfrm>
            <a:off x="1292" y="527"/>
            <a:ext cx="227" cy="318"/>
          </p:xfrm>
          <a:graphic>
            <a:graphicData uri="http://schemas.openxmlformats.org/presentationml/2006/ole">
              <mc:AlternateContent xmlns:mc="http://schemas.openxmlformats.org/markup-compatibility/2006">
                <mc:Choice xmlns:v="urn:schemas-microsoft-com:vml" Requires="v">
                  <p:oleObj spid="_x0000_s23670" name="Equation" r:id="rId10" imgW="3657600" imgH="5486400" progId="">
                    <p:embed/>
                  </p:oleObj>
                </mc:Choice>
                <mc:Fallback>
                  <p:oleObj name="Equation" r:id="rId10" imgW="3657600" imgH="5486400" progId="">
                    <p:embed/>
                    <p:pic>
                      <p:nvPicPr>
                        <p:cNvPr id="0" name="图片 23635"/>
                        <p:cNvPicPr>
                          <a:picLocks noChangeAspect="1"/>
                        </p:cNvPicPr>
                        <p:nvPr/>
                      </p:nvPicPr>
                      <p:blipFill>
                        <a:blip r:embed="rId11"/>
                        <a:stretch>
                          <a:fillRect/>
                        </a:stretch>
                      </p:blipFill>
                      <p:spPr>
                        <a:xfrm>
                          <a:off x="1292" y="527"/>
                          <a:ext cx="227" cy="318"/>
                        </a:xfrm>
                        <a:prstGeom prst="rect">
                          <a:avLst/>
                        </a:prstGeom>
                        <a:noFill/>
                        <a:ln w="9525">
                          <a:noFill/>
                        </a:ln>
                      </p:spPr>
                    </p:pic>
                  </p:oleObj>
                </mc:Fallback>
              </mc:AlternateContent>
            </a:graphicData>
          </a:graphic>
        </p:graphicFrame>
        <p:graphicFrame>
          <p:nvGraphicFramePr>
            <p:cNvPr id="32778" name="Object 206"/>
            <p:cNvGraphicFramePr>
              <a:graphicFrameLocks noChangeAspect="1"/>
            </p:cNvGraphicFramePr>
            <p:nvPr/>
          </p:nvGraphicFramePr>
          <p:xfrm>
            <a:off x="2154" y="572"/>
            <a:ext cx="235" cy="317"/>
          </p:xfrm>
          <a:graphic>
            <a:graphicData uri="http://schemas.openxmlformats.org/presentationml/2006/ole">
              <mc:AlternateContent xmlns:mc="http://schemas.openxmlformats.org/markup-compatibility/2006">
                <mc:Choice xmlns:v="urn:schemas-microsoft-com:vml" Requires="v">
                  <p:oleObj spid="_x0000_s23671" name="Equation" r:id="rId12" imgW="3048000" imgH="5486400" progId="">
                    <p:embed/>
                  </p:oleObj>
                </mc:Choice>
                <mc:Fallback>
                  <p:oleObj name="Equation" r:id="rId12" imgW="3048000" imgH="5486400" progId="">
                    <p:embed/>
                    <p:pic>
                      <p:nvPicPr>
                        <p:cNvPr id="0" name="图片 23636"/>
                        <p:cNvPicPr>
                          <a:picLocks noChangeAspect="1"/>
                        </p:cNvPicPr>
                        <p:nvPr/>
                      </p:nvPicPr>
                      <p:blipFill>
                        <a:blip r:embed="rId13"/>
                        <a:stretch>
                          <a:fillRect/>
                        </a:stretch>
                      </p:blipFill>
                      <p:spPr>
                        <a:xfrm>
                          <a:off x="2154" y="572"/>
                          <a:ext cx="235" cy="317"/>
                        </a:xfrm>
                        <a:prstGeom prst="rect">
                          <a:avLst/>
                        </a:prstGeom>
                        <a:noFill/>
                        <a:ln w="9525">
                          <a:noFill/>
                        </a:ln>
                      </p:spPr>
                    </p:pic>
                  </p:oleObj>
                </mc:Fallback>
              </mc:AlternateContent>
            </a:graphicData>
          </a:graphic>
        </p:graphicFrame>
        <p:grpSp>
          <p:nvGrpSpPr>
            <p:cNvPr id="8" name="Group 207"/>
            <p:cNvGrpSpPr/>
            <p:nvPr/>
          </p:nvGrpSpPr>
          <p:grpSpPr bwMode="auto">
            <a:xfrm>
              <a:off x="295" y="526"/>
              <a:ext cx="4944" cy="343"/>
              <a:chOff x="295" y="526"/>
              <a:chExt cx="4944" cy="343"/>
            </a:xfrm>
          </p:grpSpPr>
          <p:sp>
            <p:nvSpPr>
              <p:cNvPr id="32780" name="Text Box 208"/>
              <p:cNvSpPr txBox="1">
                <a:spLocks noChangeArrowheads="1"/>
              </p:cNvSpPr>
              <p:nvPr/>
            </p:nvSpPr>
            <p:spPr bwMode="auto">
              <a:xfrm>
                <a:off x="295" y="572"/>
                <a:ext cx="4944" cy="252"/>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我们可以使用     </a:t>
                </a:r>
                <a:r>
                  <a:rPr lang="en-US" altLang="zh-CN" sz="2000" b="1" dirty="0">
                    <a:solidFill>
                      <a:srgbClr val="000000"/>
                    </a:solidFill>
                    <a:latin typeface="Times New Roman" panose="02020603050405020304" pitchFamily="18" charset="0"/>
                  </a:rPr>
                  <a:t>= </a:t>
                </a:r>
                <a:r>
                  <a:rPr lang="en-US" altLang="zh-CN" sz="2000" b="1" dirty="0">
                    <a:solidFill>
                      <a:srgbClr val="0000FF"/>
                    </a:solidFill>
                    <a:latin typeface="Times New Roman" panose="02020603050405020304" pitchFamily="18" charset="0"/>
                  </a:rPr>
                  <a:t>1 V</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或</a:t>
                </a:r>
                <a:r>
                  <a:rPr lang="en-US" altLang="zh-CN" sz="2000" b="1" dirty="0">
                    <a:solidFill>
                      <a:srgbClr val="000000"/>
                    </a:solidFill>
                    <a:latin typeface="Times New Roman" panose="02020603050405020304" pitchFamily="18" charset="0"/>
                  </a:rPr>
                  <a:t>      = </a:t>
                </a:r>
                <a:r>
                  <a:rPr lang="en-US" altLang="zh-CN" sz="2000" b="1" dirty="0">
                    <a:solidFill>
                      <a:srgbClr val="0000FF"/>
                    </a:solidFill>
                    <a:latin typeface="Times New Roman" panose="02020603050405020304" pitchFamily="18" charset="0"/>
                  </a:rPr>
                  <a:t>1 A</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甚至未确定值      或</a:t>
                </a:r>
                <a:endParaRPr lang="en-US" altLang="zh-CN" sz="2000" b="1" dirty="0">
                  <a:solidFill>
                    <a:srgbClr val="000000"/>
                  </a:solidFill>
                  <a:latin typeface="Times New Roman" panose="02020603050405020304" pitchFamily="18" charset="0"/>
                </a:endParaRPr>
              </a:p>
            </p:txBody>
          </p:sp>
          <p:grpSp>
            <p:nvGrpSpPr>
              <p:cNvPr id="9" name="Group 209"/>
              <p:cNvGrpSpPr/>
              <p:nvPr/>
            </p:nvGrpSpPr>
            <p:grpSpPr bwMode="auto">
              <a:xfrm>
                <a:off x="3734" y="526"/>
                <a:ext cx="611" cy="343"/>
                <a:chOff x="3734" y="526"/>
                <a:chExt cx="611" cy="343"/>
              </a:xfrm>
            </p:grpSpPr>
            <p:graphicFrame>
              <p:nvGraphicFramePr>
                <p:cNvPr id="32782" name="Object 210"/>
                <p:cNvGraphicFramePr>
                  <a:graphicFrameLocks noChangeAspect="1"/>
                </p:cNvGraphicFramePr>
                <p:nvPr/>
              </p:nvGraphicFramePr>
              <p:xfrm>
                <a:off x="3734" y="526"/>
                <a:ext cx="196" cy="343"/>
              </p:xfrm>
              <a:graphic>
                <a:graphicData uri="http://schemas.openxmlformats.org/presentationml/2006/ole">
                  <mc:AlternateContent xmlns:mc="http://schemas.openxmlformats.org/markup-compatibility/2006">
                    <mc:Choice xmlns:v="urn:schemas-microsoft-com:vml" Requires="v">
                      <p:oleObj spid="_x0000_s23672" name="Equation" r:id="rId14" imgW="3657600" imgH="5486400" progId="">
                        <p:embed/>
                      </p:oleObj>
                    </mc:Choice>
                    <mc:Fallback>
                      <p:oleObj name="Equation" r:id="rId14" imgW="3657600" imgH="5486400" progId="">
                        <p:embed/>
                        <p:pic>
                          <p:nvPicPr>
                            <p:cNvPr id="0" name="图片 23637"/>
                            <p:cNvPicPr>
                              <a:picLocks noChangeAspect="1"/>
                            </p:cNvPicPr>
                            <p:nvPr/>
                          </p:nvPicPr>
                          <p:blipFill>
                            <a:blip r:embed="rId15"/>
                            <a:stretch>
                              <a:fillRect/>
                            </a:stretch>
                          </p:blipFill>
                          <p:spPr>
                            <a:xfrm>
                              <a:off x="3734" y="526"/>
                              <a:ext cx="196" cy="343"/>
                            </a:xfrm>
                            <a:prstGeom prst="rect">
                              <a:avLst/>
                            </a:prstGeom>
                            <a:noFill/>
                            <a:ln w="9525">
                              <a:noFill/>
                            </a:ln>
                          </p:spPr>
                        </p:pic>
                      </p:oleObj>
                    </mc:Fallback>
                  </mc:AlternateContent>
                </a:graphicData>
              </a:graphic>
            </p:graphicFrame>
            <p:graphicFrame>
              <p:nvGraphicFramePr>
                <p:cNvPr id="32783" name="Object 211"/>
                <p:cNvGraphicFramePr>
                  <a:graphicFrameLocks noChangeAspect="1"/>
                </p:cNvGraphicFramePr>
                <p:nvPr/>
              </p:nvGraphicFramePr>
              <p:xfrm>
                <a:off x="4163" y="538"/>
                <a:ext cx="182" cy="318"/>
              </p:xfrm>
              <a:graphic>
                <a:graphicData uri="http://schemas.openxmlformats.org/presentationml/2006/ole">
                  <mc:AlternateContent xmlns:mc="http://schemas.openxmlformats.org/markup-compatibility/2006">
                    <mc:Choice xmlns:v="urn:schemas-microsoft-com:vml" Requires="v">
                      <p:oleObj spid="_x0000_s23673" name="Equation" r:id="rId16" imgW="3048000" imgH="5486400" progId="">
                        <p:embed/>
                      </p:oleObj>
                    </mc:Choice>
                    <mc:Fallback>
                      <p:oleObj name="Equation" r:id="rId16" imgW="3048000" imgH="5486400" progId="">
                        <p:embed/>
                        <p:pic>
                          <p:nvPicPr>
                            <p:cNvPr id="0" name="图片 23638"/>
                            <p:cNvPicPr>
                              <a:picLocks noChangeAspect="1"/>
                            </p:cNvPicPr>
                            <p:nvPr/>
                          </p:nvPicPr>
                          <p:blipFill>
                            <a:blip r:embed="rId17"/>
                            <a:stretch>
                              <a:fillRect/>
                            </a:stretch>
                          </p:blipFill>
                          <p:spPr>
                            <a:xfrm>
                              <a:off x="4163" y="538"/>
                              <a:ext cx="182" cy="318"/>
                            </a:xfrm>
                            <a:prstGeom prst="rect">
                              <a:avLst/>
                            </a:prstGeom>
                            <a:noFill/>
                            <a:ln w="9525">
                              <a:noFill/>
                            </a:ln>
                          </p:spPr>
                        </p:pic>
                      </p:oleObj>
                    </mc:Fallback>
                  </mc:AlternateContent>
                </a:graphicData>
              </a:graphic>
            </p:graphicFrame>
          </p:grpSp>
        </p:grpSp>
      </p:grpSp>
      <p:graphicFrame>
        <p:nvGraphicFramePr>
          <p:cNvPr id="32774" name="Object 11"/>
          <p:cNvGraphicFramePr>
            <a:graphicFrameLocks noChangeAspect="1"/>
          </p:cNvGraphicFramePr>
          <p:nvPr/>
        </p:nvGraphicFramePr>
        <p:xfrm>
          <a:off x="2768225" y="3150896"/>
          <a:ext cx="1295400" cy="441325"/>
        </p:xfrm>
        <a:graphic>
          <a:graphicData uri="http://schemas.openxmlformats.org/presentationml/2006/ole">
            <mc:AlternateContent xmlns:mc="http://schemas.openxmlformats.org/markup-compatibility/2006">
              <mc:Choice xmlns:v="urn:schemas-microsoft-com:vml" Requires="v">
                <p:oleObj spid="_x0000_s23674" name="Equation" r:id="rId18" imgW="16154400" imgH="5486400" progId="">
                  <p:embed/>
                </p:oleObj>
              </mc:Choice>
              <mc:Fallback>
                <p:oleObj name="Equation" r:id="rId18" imgW="16154400" imgH="5486400" progId="">
                  <p:embed/>
                  <p:pic>
                    <p:nvPicPr>
                      <p:cNvPr id="0" name="图片 23639"/>
                      <p:cNvPicPr>
                        <a:picLocks noChangeAspect="1"/>
                      </p:cNvPicPr>
                      <p:nvPr/>
                    </p:nvPicPr>
                    <p:blipFill>
                      <a:blip r:embed="rId9"/>
                      <a:stretch>
                        <a:fillRect/>
                      </a:stretch>
                    </p:blipFill>
                    <p:spPr>
                      <a:xfrm>
                        <a:off x="2768225" y="3150896"/>
                        <a:ext cx="1295400" cy="441325"/>
                      </a:xfrm>
                      <a:prstGeom prst="rect">
                        <a:avLst/>
                      </a:prstGeom>
                      <a:noFill/>
                      <a:ln w="9525">
                        <a:noFill/>
                      </a:ln>
                    </p:spPr>
                  </p:pic>
                </p:oleObj>
              </mc:Fallback>
            </mc:AlternateContent>
          </a:graphicData>
        </a:graphic>
      </p:graphicFrame>
      <p:sp>
        <p:nvSpPr>
          <p:cNvPr id="32775" name="Text Box 137"/>
          <p:cNvSpPr txBox="1">
            <a:spLocks noChangeArrowheads="1"/>
          </p:cNvSpPr>
          <p:nvPr/>
        </p:nvSpPr>
        <p:spPr bwMode="auto">
          <a:xfrm>
            <a:off x="1610147" y="4197031"/>
            <a:ext cx="1674812" cy="923925"/>
          </a:xfrm>
          <a:prstGeom prst="rect">
            <a:avLst/>
          </a:prstGeom>
          <a:noFill/>
          <a:ln w="9525">
            <a:noFill/>
            <a:miter lim="800000"/>
          </a:ln>
        </p:spPr>
        <p:txBody>
          <a:bodyPr>
            <a:spAutoFit/>
          </a:bodyPr>
          <a:lstStyle/>
          <a:p>
            <a:pPr fontAlgn="base">
              <a:spcBef>
                <a:spcPct val="50000"/>
              </a:spcBef>
              <a:spcAft>
                <a:spcPct val="0"/>
              </a:spcAft>
            </a:pPr>
            <a:r>
              <a:rPr lang="zh-CN" altLang="en-US" b="1" dirty="0">
                <a:solidFill>
                  <a:srgbClr val="0000FF"/>
                </a:solidFill>
              </a:rPr>
              <a:t>所有独立源等效为</a:t>
            </a:r>
            <a:r>
              <a:rPr lang="en-US" altLang="zh-CN" b="1" dirty="0">
                <a:solidFill>
                  <a:srgbClr val="0000FF"/>
                </a:solidFill>
              </a:rPr>
              <a:t>0</a:t>
            </a:r>
            <a:r>
              <a:rPr lang="zh-CN" altLang="en-US" b="1" dirty="0">
                <a:solidFill>
                  <a:srgbClr val="0000FF"/>
                </a:solidFill>
              </a:rPr>
              <a:t>的线性电路</a:t>
            </a:r>
            <a:endParaRPr lang="en-US" altLang="zh-CN" b="1" dirty="0">
              <a:solidFill>
                <a:srgbClr val="0000FF"/>
              </a:solidFill>
            </a:endParaRPr>
          </a:p>
        </p:txBody>
      </p:sp>
      <p:sp>
        <p:nvSpPr>
          <p:cNvPr id="32776" name="Text Box 137"/>
          <p:cNvSpPr txBox="1">
            <a:spLocks noChangeArrowheads="1"/>
          </p:cNvSpPr>
          <p:nvPr/>
        </p:nvSpPr>
        <p:spPr bwMode="auto">
          <a:xfrm>
            <a:off x="4991522" y="4130356"/>
            <a:ext cx="1674812" cy="923925"/>
          </a:xfrm>
          <a:prstGeom prst="rect">
            <a:avLst/>
          </a:prstGeom>
          <a:noFill/>
          <a:ln w="9525">
            <a:noFill/>
            <a:miter lim="800000"/>
          </a:ln>
        </p:spPr>
        <p:txBody>
          <a:bodyPr>
            <a:spAutoFit/>
          </a:bodyPr>
          <a:lstStyle/>
          <a:p>
            <a:pPr fontAlgn="base">
              <a:spcBef>
                <a:spcPct val="50000"/>
              </a:spcBef>
              <a:spcAft>
                <a:spcPct val="0"/>
              </a:spcAft>
            </a:pPr>
            <a:r>
              <a:rPr lang="zh-CN" altLang="en-US" b="1" dirty="0">
                <a:solidFill>
                  <a:srgbClr val="0000FF"/>
                </a:solidFill>
              </a:rPr>
              <a:t>所有独立源等效为</a:t>
            </a:r>
            <a:r>
              <a:rPr lang="en-US" altLang="zh-CN" b="1" dirty="0">
                <a:solidFill>
                  <a:srgbClr val="0000FF"/>
                </a:solidFill>
              </a:rPr>
              <a:t>0</a:t>
            </a:r>
            <a:r>
              <a:rPr lang="zh-CN" altLang="en-US" b="1" dirty="0">
                <a:solidFill>
                  <a:srgbClr val="0000FF"/>
                </a:solidFill>
              </a:rPr>
              <a:t>的线性电路</a:t>
            </a:r>
            <a:endParaRPr lang="en-US" altLang="zh-CN" b="1" dirty="0">
              <a:solidFill>
                <a:srgbClr val="0000FF"/>
              </a:solidFill>
            </a:endParaRPr>
          </a:p>
        </p:txBody>
      </p:sp>
      <p:sp>
        <p:nvSpPr>
          <p:cNvPr id="10" name="灯片编号占位符 9"/>
          <p:cNvSpPr>
            <a:spLocks noGrp="1"/>
          </p:cNvSpPr>
          <p:nvPr>
            <p:ph type="sldNum" sz="quarter" idx="11"/>
          </p:nvPr>
        </p:nvSpPr>
        <p:spPr/>
        <p:txBody>
          <a:bodyPr/>
          <a:lstStyle/>
          <a:p>
            <a:pPr>
              <a:defRPr/>
            </a:pPr>
            <a:fld id="{B4882483-F3CB-4D5A-8CC8-181CAB4ED700}" type="slidenum">
              <a:rPr lang="en-US" altLang="zh-CN" smtClean="0">
                <a:solidFill>
                  <a:srgbClr val="000000"/>
                </a:solidFill>
              </a:rPr>
              <a:t>40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606425" y="1843088"/>
            <a:ext cx="7921625" cy="1016000"/>
            <a:chOff x="385" y="1434"/>
            <a:chExt cx="4990" cy="640"/>
          </a:xfrm>
        </p:grpSpPr>
        <p:sp>
          <p:nvSpPr>
            <p:cNvPr id="33796" name="Text Box 4"/>
            <p:cNvSpPr txBox="1">
              <a:spLocks noChangeArrowheads="1"/>
            </p:cNvSpPr>
            <p:nvPr/>
          </p:nvSpPr>
          <p:spPr bwMode="auto">
            <a:xfrm>
              <a:off x="385" y="1434"/>
              <a:ext cx="4990" cy="640"/>
            </a:xfrm>
            <a:prstGeom prst="rect">
              <a:avLst/>
            </a:prstGeom>
            <a:noFill/>
            <a:ln w="9525">
              <a:noFill/>
              <a:miter lim="800000"/>
            </a:ln>
          </p:spPr>
          <p:txBody>
            <a:bodyPr>
              <a:spAutoFit/>
            </a:bodyPr>
            <a:lstStyle/>
            <a:p>
              <a:pPr fontAlgn="base">
                <a:lnSpc>
                  <a:spcPct val="150000"/>
                </a:lnSpc>
                <a:spcBef>
                  <a:spcPct val="50000"/>
                </a:spcBef>
                <a:spcAft>
                  <a:spcPct val="0"/>
                </a:spcAft>
              </a:pPr>
              <a:r>
                <a:rPr lang="zh-CN" altLang="en-US" sz="2000" dirty="0">
                  <a:solidFill>
                    <a:srgbClr val="000000"/>
                  </a:solidFill>
                  <a:latin typeface="Times New Roman" panose="02020603050405020304" pitchFamily="18" charset="0"/>
                </a:rPr>
                <a:t>        经常以</a:t>
              </a:r>
              <a:r>
                <a:rPr lang="zh-CN" altLang="en-US" sz="2000" b="1" dirty="0">
                  <a:solidFill>
                    <a:srgbClr val="FF0000"/>
                  </a:solidFill>
                  <a:latin typeface="Times New Roman" panose="02020603050405020304" pitchFamily="18" charset="0"/>
                </a:rPr>
                <a:t>负值</a:t>
              </a:r>
              <a:r>
                <a:rPr lang="zh-CN" altLang="en-US" sz="2000" dirty="0">
                  <a:solidFill>
                    <a:srgbClr val="000000"/>
                  </a:solidFill>
                  <a:latin typeface="Times New Roman" panose="02020603050405020304" pitchFamily="18" charset="0"/>
                </a:rPr>
                <a:t>出现。在这种情况下，负电阻</a:t>
              </a:r>
              <a:r>
                <a:rPr lang="en-US" altLang="zh-CN" sz="2000" dirty="0">
                  <a:solidFill>
                    <a:srgbClr val="000000"/>
                  </a:solidFill>
                  <a:latin typeface="Times New Roman" panose="02020603050405020304" pitchFamily="18" charset="0"/>
                </a:rPr>
                <a:t>(                      )</a:t>
              </a:r>
              <a:r>
                <a:rPr lang="zh-CN" altLang="en-US" sz="2000" dirty="0">
                  <a:solidFill>
                    <a:srgbClr val="000000"/>
                  </a:solidFill>
                  <a:latin typeface="Times New Roman" panose="02020603050405020304" pitchFamily="18" charset="0"/>
                </a:rPr>
                <a:t>表示电路正在</a:t>
              </a:r>
              <a:r>
                <a:rPr lang="zh-CN" altLang="en-US" sz="2000" b="1" dirty="0">
                  <a:solidFill>
                    <a:srgbClr val="FF0000"/>
                  </a:solidFill>
                  <a:latin typeface="Times New Roman" panose="02020603050405020304" pitchFamily="18" charset="0"/>
                </a:rPr>
                <a:t>提供电源</a:t>
              </a:r>
              <a:r>
                <a:rPr lang="zh-CN" altLang="en-US" sz="2000" dirty="0">
                  <a:solidFill>
                    <a:srgbClr val="000000"/>
                  </a:solidFill>
                  <a:latin typeface="Times New Roman" panose="02020603050405020304" pitchFamily="18" charset="0"/>
                </a:rPr>
                <a:t>。这在有</a:t>
              </a:r>
              <a:r>
                <a:rPr lang="zh-CN" altLang="en-US" sz="2000" b="1" dirty="0">
                  <a:solidFill>
                    <a:srgbClr val="FF0000"/>
                  </a:solidFill>
                  <a:latin typeface="Times New Roman" panose="02020603050405020304" pitchFamily="18" charset="0"/>
                </a:rPr>
                <a:t>受控源</a:t>
              </a:r>
              <a:r>
                <a:rPr lang="zh-CN" altLang="en-US" sz="2000" dirty="0">
                  <a:solidFill>
                    <a:srgbClr val="000000"/>
                  </a:solidFill>
                  <a:latin typeface="Times New Roman" panose="02020603050405020304" pitchFamily="18" charset="0"/>
                </a:rPr>
                <a:t>的电路中是可能的。</a:t>
              </a:r>
              <a:endParaRPr lang="en-US" altLang="zh-CN" sz="2000" dirty="0">
                <a:solidFill>
                  <a:srgbClr val="000000"/>
                </a:solidFill>
                <a:latin typeface="Times New Roman" panose="02020603050405020304" pitchFamily="18" charset="0"/>
              </a:endParaRPr>
            </a:p>
          </p:txBody>
        </p:sp>
        <p:grpSp>
          <p:nvGrpSpPr>
            <p:cNvPr id="3" name="Group 5"/>
            <p:cNvGrpSpPr/>
            <p:nvPr/>
          </p:nvGrpSpPr>
          <p:grpSpPr bwMode="auto">
            <a:xfrm>
              <a:off x="391" y="1434"/>
              <a:ext cx="4170" cy="322"/>
              <a:chOff x="391" y="1434"/>
              <a:chExt cx="4170" cy="322"/>
            </a:xfrm>
          </p:grpSpPr>
          <p:graphicFrame>
            <p:nvGraphicFramePr>
              <p:cNvPr id="33798" name="Object 6"/>
              <p:cNvGraphicFramePr>
                <a:graphicFrameLocks noChangeAspect="1"/>
              </p:cNvGraphicFramePr>
              <p:nvPr/>
            </p:nvGraphicFramePr>
            <p:xfrm>
              <a:off x="391" y="1434"/>
              <a:ext cx="408" cy="306"/>
            </p:xfrm>
            <a:graphic>
              <a:graphicData uri="http://schemas.openxmlformats.org/presentationml/2006/ole">
                <mc:AlternateContent xmlns:mc="http://schemas.openxmlformats.org/markup-compatibility/2006">
                  <mc:Choice xmlns:v="urn:schemas-microsoft-com:vml" Requires="v">
                    <p:oleObj spid="_x0000_s24607" name="Equation" r:id="rId4" imgW="5181600" imgH="5486400" progId="">
                      <p:embed/>
                    </p:oleObj>
                  </mc:Choice>
                  <mc:Fallback>
                    <p:oleObj name="Equation" r:id="rId4" imgW="5181600" imgH="5486400" progId="">
                      <p:embed/>
                      <p:pic>
                        <p:nvPicPr>
                          <p:cNvPr id="0" name="图片 24576"/>
                          <p:cNvPicPr>
                            <a:picLocks noChangeAspect="1"/>
                          </p:cNvPicPr>
                          <p:nvPr/>
                        </p:nvPicPr>
                        <p:blipFill>
                          <a:blip r:embed="rId5"/>
                          <a:stretch>
                            <a:fillRect/>
                          </a:stretch>
                        </p:blipFill>
                        <p:spPr>
                          <a:xfrm>
                            <a:off x="391" y="1434"/>
                            <a:ext cx="408" cy="306"/>
                          </a:xfrm>
                          <a:prstGeom prst="rect">
                            <a:avLst/>
                          </a:prstGeom>
                          <a:noFill/>
                          <a:ln w="9525">
                            <a:noFill/>
                          </a:ln>
                        </p:spPr>
                      </p:pic>
                    </p:oleObj>
                  </mc:Fallback>
                </mc:AlternateContent>
              </a:graphicData>
            </a:graphic>
          </p:graphicFrame>
          <p:graphicFrame>
            <p:nvGraphicFramePr>
              <p:cNvPr id="33799" name="Object 7"/>
              <p:cNvGraphicFramePr>
                <a:graphicFrameLocks noChangeAspect="1"/>
              </p:cNvGraphicFramePr>
              <p:nvPr/>
            </p:nvGraphicFramePr>
            <p:xfrm>
              <a:off x="3745" y="1510"/>
              <a:ext cx="816" cy="246"/>
            </p:xfrm>
            <a:graphic>
              <a:graphicData uri="http://schemas.openxmlformats.org/presentationml/2006/ole">
                <mc:AlternateContent xmlns:mc="http://schemas.openxmlformats.org/markup-compatibility/2006">
                  <mc:Choice xmlns:v="urn:schemas-microsoft-com:vml" Requires="v">
                    <p:oleObj spid="_x0000_s24608" name="Equation" r:id="rId6" imgW="11887200" imgH="4267200" progId="">
                      <p:embed/>
                    </p:oleObj>
                  </mc:Choice>
                  <mc:Fallback>
                    <p:oleObj name="Equation" r:id="rId6" imgW="11887200" imgH="4267200" progId="">
                      <p:embed/>
                      <p:pic>
                        <p:nvPicPr>
                          <p:cNvPr id="0" name="图片 24597"/>
                          <p:cNvPicPr>
                            <a:picLocks noChangeAspect="1"/>
                          </p:cNvPicPr>
                          <p:nvPr/>
                        </p:nvPicPr>
                        <p:blipFill>
                          <a:blip r:embed="rId7"/>
                          <a:stretch>
                            <a:fillRect/>
                          </a:stretch>
                        </p:blipFill>
                        <p:spPr>
                          <a:xfrm>
                            <a:off x="3745" y="1510"/>
                            <a:ext cx="816" cy="246"/>
                          </a:xfrm>
                          <a:prstGeom prst="rect">
                            <a:avLst/>
                          </a:prstGeom>
                          <a:noFill/>
                          <a:ln w="9525">
                            <a:noFill/>
                          </a:ln>
                        </p:spPr>
                      </p:pic>
                    </p:oleObj>
                  </mc:Fallback>
                </mc:AlternateContent>
              </a:graphicData>
            </a:graphic>
          </p:graphicFrame>
        </p:grpSp>
      </p:grpSp>
      <p:sp>
        <p:nvSpPr>
          <p:cNvPr id="33795" name="Text Box 3"/>
          <p:cNvSpPr txBox="1">
            <a:spLocks noChangeArrowheads="1"/>
          </p:cNvSpPr>
          <p:nvPr/>
        </p:nvSpPr>
        <p:spPr bwMode="auto">
          <a:xfrm>
            <a:off x="611188" y="836613"/>
            <a:ext cx="5905500" cy="457200"/>
          </a:xfrm>
          <a:prstGeom prst="rect">
            <a:avLst/>
          </a:prstGeom>
          <a:noFill/>
          <a:ln w="9525">
            <a:noFill/>
            <a:miter lim="800000"/>
          </a:ln>
        </p:spPr>
        <p:txBody>
          <a:bodyPr>
            <a:spAutoFit/>
          </a:bodyPr>
          <a:lstStyle/>
          <a:p>
            <a:pPr fontAlgn="base">
              <a:spcBef>
                <a:spcPct val="50000"/>
              </a:spcBef>
              <a:spcAft>
                <a:spcPct val="0"/>
              </a:spcAft>
            </a:pPr>
            <a:r>
              <a:rPr lang="en-US" altLang="zh-CN" sz="2400" dirty="0">
                <a:solidFill>
                  <a:srgbClr val="FF0000"/>
                </a:solidFill>
                <a:latin typeface="Arial Black" panose="020B0A04020102020204" pitchFamily="34" charset="0"/>
              </a:rPr>
              <a:t>*</a:t>
            </a:r>
            <a:r>
              <a:rPr lang="zh-CN" altLang="en-US" sz="2400" b="1" dirty="0">
                <a:solidFill>
                  <a:srgbClr val="FF0000"/>
                </a:solidFill>
                <a:latin typeface="Arial Black" panose="020B0A04020102020204" pitchFamily="34" charset="0"/>
              </a:rPr>
              <a:t>情况</a:t>
            </a:r>
            <a:r>
              <a:rPr lang="en-US" altLang="zh-CN" sz="2400" b="1" dirty="0">
                <a:solidFill>
                  <a:srgbClr val="FF0000"/>
                </a:solidFill>
                <a:latin typeface="Arial Black" panose="020B0A04020102020204" pitchFamily="34" charset="0"/>
              </a:rPr>
              <a:t>2    </a:t>
            </a:r>
            <a:r>
              <a:rPr lang="zh-CN" altLang="en-US" sz="2400" b="1" dirty="0">
                <a:solidFill>
                  <a:srgbClr val="000000"/>
                </a:solidFill>
                <a:latin typeface="Times New Roman" panose="02020603050405020304" pitchFamily="18" charset="0"/>
              </a:rPr>
              <a:t>如果电路网络中</a:t>
            </a:r>
            <a:r>
              <a:rPr lang="zh-CN" altLang="en-US" sz="2400" b="1" dirty="0">
                <a:solidFill>
                  <a:srgbClr val="0000FF"/>
                </a:solidFill>
                <a:latin typeface="Times New Roman" panose="02020603050405020304" pitchFamily="18" charset="0"/>
              </a:rPr>
              <a:t>有受控源</a:t>
            </a:r>
            <a:r>
              <a:rPr lang="zh-CN" altLang="en-US" sz="2400" b="1" dirty="0">
                <a:latin typeface="Times New Roman" panose="02020603050405020304" pitchFamily="18" charset="0"/>
              </a:rPr>
              <a:t>时，</a:t>
            </a:r>
            <a:endParaRPr lang="en-US" altLang="zh-CN" sz="2000" b="1" dirty="0">
              <a:latin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D776A882-B7EA-4411-9FBB-12412DA587FB}" type="slidenum">
              <a:rPr lang="en-US" altLang="zh-CN" smtClean="0">
                <a:solidFill>
                  <a:srgbClr val="000000"/>
                </a:solidFill>
              </a:rPr>
              <a:t>41</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827584" y="2348880"/>
            <a:ext cx="7632898" cy="2863969"/>
          </a:xfrm>
          <a:prstGeom prst="rect">
            <a:avLst/>
          </a:prstGeom>
          <a:noFill/>
          <a:ln w="9525">
            <a:noFill/>
            <a:miter lim="800000"/>
            <a:headEnd/>
            <a:tailEnd/>
          </a:ln>
        </p:spPr>
      </p:pic>
      <p:sp>
        <p:nvSpPr>
          <p:cNvPr id="34819" name="Text Box 8"/>
          <p:cNvSpPr txBox="1">
            <a:spLocks noChangeArrowheads="1"/>
          </p:cNvSpPr>
          <p:nvPr/>
        </p:nvSpPr>
        <p:spPr bwMode="auto">
          <a:xfrm>
            <a:off x="1476375" y="5589588"/>
            <a:ext cx="6911975" cy="400050"/>
          </a:xfrm>
          <a:prstGeom prst="rect">
            <a:avLst/>
          </a:prstGeom>
          <a:noFill/>
          <a:ln w="9525">
            <a:noFill/>
            <a:miter lim="800000"/>
          </a:ln>
        </p:spPr>
        <p:txBody>
          <a:bodyPr>
            <a:spAutoFit/>
          </a:bodyPr>
          <a:lstStyle/>
          <a:p>
            <a:pPr fontAlgn="base">
              <a:spcBef>
                <a:spcPct val="50000"/>
              </a:spcBef>
              <a:spcAft>
                <a:spcPct val="0"/>
              </a:spcAft>
            </a:pPr>
            <a:r>
              <a:rPr lang="zh-CN" altLang="en-US" sz="2000" dirty="0">
                <a:solidFill>
                  <a:srgbClr val="000000"/>
                </a:solidFill>
              </a:rPr>
              <a:t>有负载的电路</a:t>
            </a:r>
            <a:r>
              <a:rPr lang="en-US" altLang="zh-CN" sz="2000" dirty="0">
                <a:solidFill>
                  <a:srgbClr val="000000"/>
                </a:solidFill>
              </a:rPr>
              <a:t>: (a) </a:t>
            </a:r>
            <a:r>
              <a:rPr lang="zh-CN" altLang="en-US" sz="2000" dirty="0">
                <a:solidFill>
                  <a:srgbClr val="000000"/>
                </a:solidFill>
              </a:rPr>
              <a:t>原始电路</a:t>
            </a:r>
            <a:r>
              <a:rPr lang="en-US" altLang="zh-CN" sz="2000" dirty="0">
                <a:solidFill>
                  <a:srgbClr val="000000"/>
                </a:solidFill>
              </a:rPr>
              <a:t>,  (b) </a:t>
            </a:r>
            <a:r>
              <a:rPr lang="zh-CN" altLang="en-US" sz="2000" dirty="0">
                <a:solidFill>
                  <a:srgbClr val="000000"/>
                </a:solidFill>
              </a:rPr>
              <a:t>戴维南等效电路</a:t>
            </a:r>
            <a:endParaRPr lang="en-US" altLang="zh-CN" sz="2000" dirty="0">
              <a:solidFill>
                <a:srgbClr val="000000"/>
              </a:solidFill>
            </a:endParaRPr>
          </a:p>
        </p:txBody>
      </p:sp>
      <p:sp>
        <p:nvSpPr>
          <p:cNvPr id="34820" name="Text Box 9"/>
          <p:cNvSpPr txBox="1">
            <a:spLocks noChangeArrowheads="1"/>
          </p:cNvSpPr>
          <p:nvPr/>
        </p:nvSpPr>
        <p:spPr bwMode="auto">
          <a:xfrm>
            <a:off x="755576" y="897721"/>
            <a:ext cx="7272610" cy="954107"/>
          </a:xfrm>
          <a:prstGeom prst="rect">
            <a:avLst/>
          </a:prstGeom>
          <a:noFill/>
          <a:ln w="9525">
            <a:noFill/>
            <a:miter lim="800000"/>
          </a:ln>
        </p:spPr>
        <p:txBody>
          <a:bodyPr wrap="square">
            <a:spAutoFit/>
          </a:bodyPr>
          <a:lstStyle/>
          <a:p>
            <a:pPr marL="457200" indent="-457200" fontAlgn="base">
              <a:spcBef>
                <a:spcPct val="50000"/>
              </a:spcBef>
              <a:spcAft>
                <a:spcPct val="0"/>
              </a:spcAft>
              <a:buFont typeface="Wingdings" panose="05000000000000000000" pitchFamily="2" charset="2"/>
              <a:buChar char="n"/>
            </a:pPr>
            <a:r>
              <a:rPr lang="zh-CN" altLang="en-US" sz="2800" b="1" dirty="0">
                <a:solidFill>
                  <a:srgbClr val="FF0000"/>
                </a:solidFill>
                <a:latin typeface="Times New Roman" panose="02020603050405020304" pitchFamily="18" charset="0"/>
              </a:rPr>
              <a:t> </a:t>
            </a:r>
            <a:r>
              <a:rPr lang="zh-CN" altLang="en-US" sz="2800" b="1" dirty="0">
                <a:solidFill>
                  <a:srgbClr val="FF0000"/>
                </a:solidFill>
                <a:latin typeface="黑体" panose="02010609060101010101" pitchFamily="49" charset="-122"/>
                <a:ea typeface="黑体" panose="02010609060101010101" pitchFamily="49" charset="-122"/>
              </a:rPr>
              <a:t>等效电路</a:t>
            </a:r>
            <a:r>
              <a:rPr lang="zh-CN" altLang="en-US" sz="2800" b="1" dirty="0">
                <a:latin typeface="Times New Roman" panose="02020603050405020304" pitchFamily="18" charset="0"/>
              </a:rPr>
              <a:t>：等效后的电路的</a:t>
            </a:r>
            <a:r>
              <a:rPr lang="zh-CN" altLang="en-US" sz="2800" b="1" dirty="0">
                <a:solidFill>
                  <a:srgbClr val="FF0000"/>
                </a:solidFill>
                <a:latin typeface="Times New Roman" panose="02020603050405020304" pitchFamily="18" charset="0"/>
              </a:rPr>
              <a:t>外部</a:t>
            </a:r>
            <a:r>
              <a:rPr lang="zh-CN" altLang="en-US" sz="2800" b="1" dirty="0">
                <a:solidFill>
                  <a:srgbClr val="000000"/>
                </a:solidFill>
                <a:latin typeface="Times New Roman" panose="02020603050405020304" pitchFamily="18" charset="0"/>
              </a:rPr>
              <a:t>行为与原始电路相同 </a:t>
            </a:r>
            <a:r>
              <a:rPr lang="en-US" altLang="zh-CN" sz="2800" b="1" dirty="0">
                <a:solidFill>
                  <a:srgbClr val="000000"/>
                </a:solidFill>
                <a:latin typeface="Times New Roman" panose="02020603050405020304" pitchFamily="18" charset="0"/>
              </a:rPr>
              <a:t>(</a:t>
            </a:r>
            <a:r>
              <a:rPr lang="zh-CN" altLang="en-US" sz="2800" b="1" dirty="0">
                <a:solidFill>
                  <a:srgbClr val="000000"/>
                </a:solidFill>
                <a:latin typeface="Times New Roman" panose="02020603050405020304" pitchFamily="18" charset="0"/>
              </a:rPr>
              <a:t>对外等效</a:t>
            </a:r>
            <a:r>
              <a:rPr lang="en-US" altLang="zh-CN" sz="2800" b="1" dirty="0">
                <a:solidFill>
                  <a:srgbClr val="000000"/>
                </a:solidFill>
                <a:latin typeface="Times New Roman" panose="02020603050405020304" pitchFamily="18" charset="0"/>
              </a:rPr>
              <a:t>)</a:t>
            </a:r>
            <a:r>
              <a:rPr lang="zh-CN" altLang="en-US" sz="2800" b="1" dirty="0">
                <a:solidFill>
                  <a:srgbClr val="000000"/>
                </a:solidFill>
                <a:latin typeface="Times New Roman" panose="02020603050405020304" pitchFamily="18" charset="0"/>
              </a:rPr>
              <a:t> 。</a:t>
            </a:r>
            <a:endParaRPr lang="en-US" altLang="zh-CN" sz="2800" b="1" dirty="0">
              <a:solidFill>
                <a:srgbClr val="000000"/>
              </a:solidFill>
              <a:latin typeface="Times New Roman" panose="02020603050405020304" pitchFamily="18" charset="0"/>
            </a:endParaRPr>
          </a:p>
        </p:txBody>
      </p:sp>
      <p:sp>
        <p:nvSpPr>
          <p:cNvPr id="2" name="灯片编号占位符 1"/>
          <p:cNvSpPr>
            <a:spLocks noGrp="1"/>
          </p:cNvSpPr>
          <p:nvPr>
            <p:ph type="sldNum" sz="quarter" idx="11"/>
          </p:nvPr>
        </p:nvSpPr>
        <p:spPr/>
        <p:txBody>
          <a:bodyPr/>
          <a:lstStyle/>
          <a:p>
            <a:pPr>
              <a:defRPr/>
            </a:pPr>
            <a:fld id="{B4882483-F3CB-4D5A-8CC8-181CAB4ED700}" type="slidenum">
              <a:rPr lang="en-US" altLang="zh-CN" smtClean="0">
                <a:solidFill>
                  <a:srgbClr val="000000"/>
                </a:solidFill>
              </a:rPr>
              <a:t>42</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7"/>
          <p:cNvPicPr>
            <a:picLocks noChangeAspect="1" noChangeArrowheads="1"/>
          </p:cNvPicPr>
          <p:nvPr/>
        </p:nvPicPr>
        <p:blipFill>
          <a:blip r:embed="rId3" cstate="print"/>
          <a:srcRect/>
          <a:stretch>
            <a:fillRect/>
          </a:stretch>
        </p:blipFill>
        <p:spPr bwMode="auto">
          <a:xfrm>
            <a:off x="1403648" y="2101502"/>
            <a:ext cx="5903912" cy="2209279"/>
          </a:xfrm>
          <a:prstGeom prst="rect">
            <a:avLst/>
          </a:prstGeom>
          <a:noFill/>
          <a:ln w="9525">
            <a:noFill/>
            <a:miter lim="800000"/>
            <a:headEnd/>
            <a:tailEnd/>
          </a:ln>
        </p:spPr>
      </p:pic>
      <p:sp>
        <p:nvSpPr>
          <p:cNvPr id="35843" name="Text Box 8"/>
          <p:cNvSpPr txBox="1">
            <a:spLocks noChangeArrowheads="1"/>
          </p:cNvSpPr>
          <p:nvPr/>
        </p:nvSpPr>
        <p:spPr bwMode="auto">
          <a:xfrm>
            <a:off x="539750" y="4868863"/>
            <a:ext cx="6192838" cy="1846659"/>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2060"/>
                </a:solidFill>
                <a:latin typeface="Times New Roman" panose="02020603050405020304" pitchFamily="18" charset="0"/>
              </a:rPr>
              <a:t>解决方案</a:t>
            </a:r>
            <a:r>
              <a:rPr lang="en-US" altLang="zh-CN" sz="2400" b="1" dirty="0">
                <a:solidFill>
                  <a:srgbClr val="002060"/>
                </a:solidFill>
                <a:latin typeface="Times New Roman" panose="02020603050405020304" pitchFamily="18" charset="0"/>
              </a:rPr>
              <a:t>:</a:t>
            </a:r>
          </a:p>
          <a:p>
            <a:pPr fontAlgn="base">
              <a:spcBef>
                <a:spcPct val="50000"/>
              </a:spcBef>
              <a:spcAft>
                <a:spcPct val="0"/>
              </a:spcAft>
            </a:pPr>
            <a:r>
              <a:rPr lang="en-US" altLang="zh-CN" sz="2000" dirty="0">
                <a:solidFill>
                  <a:srgbClr val="FF0000"/>
                </a:solidFill>
                <a:latin typeface="Times New Roman" panose="02020603050405020304" pitchFamily="18" charset="0"/>
              </a:rPr>
              <a:t>1)</a:t>
            </a:r>
            <a:r>
              <a:rPr lang="en-US" altLang="zh-CN" sz="2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t>
            </a:r>
          </a:p>
          <a:p>
            <a:pPr fontAlgn="base">
              <a:spcBef>
                <a:spcPct val="50000"/>
              </a:spcBef>
              <a:spcAft>
                <a:spcPct val="0"/>
              </a:spcAft>
            </a:pPr>
            <a:endParaRPr lang="en-US" altLang="zh-CN" sz="2000" dirty="0">
              <a:solidFill>
                <a:srgbClr val="000000"/>
              </a:solidFill>
              <a:latin typeface="Times New Roman" panose="02020603050405020304" pitchFamily="18" charset="0"/>
            </a:endParaRPr>
          </a:p>
          <a:p>
            <a:pPr fontAlgn="base">
              <a:spcBef>
                <a:spcPct val="50000"/>
              </a:spcBef>
              <a:spcAft>
                <a:spcPct val="0"/>
              </a:spcAft>
            </a:pPr>
            <a:endParaRPr lang="en-US" altLang="zh-CN" sz="2000" dirty="0">
              <a:solidFill>
                <a:srgbClr val="000000"/>
              </a:solidFill>
              <a:latin typeface="Times New Roman" panose="02020603050405020304" pitchFamily="18" charset="0"/>
            </a:endParaRPr>
          </a:p>
        </p:txBody>
      </p:sp>
      <p:graphicFrame>
        <p:nvGraphicFramePr>
          <p:cNvPr id="35844" name="Object 9"/>
          <p:cNvGraphicFramePr>
            <a:graphicFrameLocks noChangeAspect="1"/>
          </p:cNvGraphicFramePr>
          <p:nvPr/>
        </p:nvGraphicFramePr>
        <p:xfrm>
          <a:off x="965994" y="5344517"/>
          <a:ext cx="503238" cy="447675"/>
        </p:xfrm>
        <a:graphic>
          <a:graphicData uri="http://schemas.openxmlformats.org/presentationml/2006/ole">
            <mc:AlternateContent xmlns:mc="http://schemas.openxmlformats.org/markup-compatibility/2006">
              <mc:Choice xmlns:v="urn:schemas-microsoft-com:vml" Requires="v">
                <p:oleObj spid="_x0000_s25631" name="Equation" r:id="rId4" imgW="5486400" imgH="5486400" progId="">
                  <p:embed/>
                </p:oleObj>
              </mc:Choice>
              <mc:Fallback>
                <p:oleObj name="Equation" r:id="rId4" imgW="5486400" imgH="5486400" progId="">
                  <p:embed/>
                  <p:pic>
                    <p:nvPicPr>
                      <p:cNvPr id="0" name="图片 25600"/>
                      <p:cNvPicPr>
                        <a:picLocks noChangeAspect="1"/>
                      </p:cNvPicPr>
                      <p:nvPr/>
                    </p:nvPicPr>
                    <p:blipFill>
                      <a:blip r:embed="rId5"/>
                      <a:stretch>
                        <a:fillRect/>
                      </a:stretch>
                    </p:blipFill>
                    <p:spPr>
                      <a:xfrm>
                        <a:off x="965994" y="5344517"/>
                        <a:ext cx="503238" cy="447675"/>
                      </a:xfrm>
                      <a:prstGeom prst="rect">
                        <a:avLst/>
                      </a:prstGeom>
                      <a:noFill/>
                      <a:ln w="9525">
                        <a:noFill/>
                      </a:ln>
                    </p:spPr>
                  </p:pic>
                </p:oleObj>
              </mc:Fallback>
            </mc:AlternateContent>
          </a:graphicData>
        </a:graphic>
      </p:graphicFrame>
      <p:graphicFrame>
        <p:nvGraphicFramePr>
          <p:cNvPr id="35845" name="Object 10"/>
          <p:cNvGraphicFramePr>
            <a:graphicFrameLocks noChangeAspect="1"/>
          </p:cNvGraphicFramePr>
          <p:nvPr/>
        </p:nvGraphicFramePr>
        <p:xfrm>
          <a:off x="1863414" y="5197324"/>
          <a:ext cx="2892425" cy="818755"/>
        </p:xfrm>
        <a:graphic>
          <a:graphicData uri="http://schemas.openxmlformats.org/presentationml/2006/ole">
            <mc:AlternateContent xmlns:mc="http://schemas.openxmlformats.org/markup-compatibility/2006">
              <mc:Choice xmlns:v="urn:schemas-microsoft-com:vml" Requires="v">
                <p:oleObj spid="_x0000_s25632" name="Equation" r:id="rId6" imgW="39319200" imgH="9448800" progId="">
                  <p:embed/>
                </p:oleObj>
              </mc:Choice>
              <mc:Fallback>
                <p:oleObj name="Equation" r:id="rId6" imgW="39319200" imgH="9448800" progId="">
                  <p:embed/>
                  <p:pic>
                    <p:nvPicPr>
                      <p:cNvPr id="0" name="图片 25621"/>
                      <p:cNvPicPr>
                        <a:picLocks noChangeAspect="1"/>
                      </p:cNvPicPr>
                      <p:nvPr/>
                    </p:nvPicPr>
                    <p:blipFill>
                      <a:blip r:embed="rId7"/>
                      <a:stretch>
                        <a:fillRect/>
                      </a:stretch>
                    </p:blipFill>
                    <p:spPr>
                      <a:xfrm>
                        <a:off x="1863414" y="5197324"/>
                        <a:ext cx="2892425" cy="818755"/>
                      </a:xfrm>
                      <a:prstGeom prst="rect">
                        <a:avLst/>
                      </a:prstGeom>
                      <a:noFill/>
                      <a:ln w="9525">
                        <a:noFill/>
                      </a:ln>
                    </p:spPr>
                  </p:pic>
                </p:oleObj>
              </mc:Fallback>
            </mc:AlternateContent>
          </a:graphicData>
        </a:graphic>
      </p:graphicFrame>
      <p:pic>
        <p:nvPicPr>
          <p:cNvPr id="35846" name="Picture 12"/>
          <p:cNvPicPr>
            <a:picLocks noChangeAspect="1" noChangeArrowheads="1"/>
          </p:cNvPicPr>
          <p:nvPr/>
        </p:nvPicPr>
        <p:blipFill>
          <a:blip r:embed="rId8" cstate="print"/>
          <a:srcRect/>
          <a:stretch>
            <a:fillRect/>
          </a:stretch>
        </p:blipFill>
        <p:spPr bwMode="auto">
          <a:xfrm>
            <a:off x="5808662" y="4608513"/>
            <a:ext cx="2879725" cy="1916112"/>
          </a:xfrm>
          <a:prstGeom prst="rect">
            <a:avLst/>
          </a:prstGeom>
          <a:noFill/>
          <a:ln w="9525">
            <a:noFill/>
            <a:miter lim="800000"/>
            <a:headEnd/>
            <a:tailEnd/>
          </a:ln>
        </p:spPr>
      </p:pic>
      <p:sp>
        <p:nvSpPr>
          <p:cNvPr id="35847" name="Text Box 19"/>
          <p:cNvSpPr txBox="1">
            <a:spLocks noChangeArrowheads="1"/>
          </p:cNvSpPr>
          <p:nvPr/>
        </p:nvSpPr>
        <p:spPr bwMode="auto">
          <a:xfrm>
            <a:off x="611188" y="692150"/>
            <a:ext cx="7057156" cy="1169988"/>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smtClean="0">
                <a:solidFill>
                  <a:srgbClr val="FF0000"/>
                </a:solidFill>
                <a:latin typeface="Times New Roman" panose="02020603050405020304" pitchFamily="18" charset="0"/>
              </a:rPr>
              <a:t>例</a:t>
            </a:r>
            <a:r>
              <a:rPr lang="en-US" altLang="zh-CN" sz="2000" b="1" dirty="0" smtClean="0">
                <a:solidFill>
                  <a:srgbClr val="FF0000"/>
                </a:solidFill>
                <a:latin typeface="Times New Roman" panose="02020603050405020304" pitchFamily="18" charset="0"/>
              </a:rPr>
              <a:t>4-8</a:t>
            </a:r>
            <a:r>
              <a:rPr lang="zh-CN" altLang="en-US" sz="2000" b="1" dirty="0" smtClean="0">
                <a:solidFill>
                  <a:srgbClr val="FF0000"/>
                </a:solidFill>
                <a:latin typeface="Times New Roman" panose="02020603050405020304" pitchFamily="18" charset="0"/>
              </a:rPr>
              <a:t>：</a:t>
            </a:r>
            <a:r>
              <a:rPr lang="zh-CN" altLang="en-US" sz="2000" b="1" dirty="0">
                <a:solidFill>
                  <a:srgbClr val="CCCCE6"/>
                </a:solidFill>
                <a:latin typeface="Times New Roman" panose="02020603050405020304" pitchFamily="18" charset="0"/>
              </a:rPr>
              <a:t>（仅独立源）</a:t>
            </a:r>
          </a:p>
          <a:p>
            <a:pPr fontAlgn="base">
              <a:spcBef>
                <a:spcPct val="50000"/>
              </a:spcBef>
              <a:spcAft>
                <a:spcPct val="0"/>
              </a:spcAft>
            </a:pPr>
            <a:r>
              <a:rPr lang="zh-CN" altLang="en-US" sz="2000" b="1" dirty="0">
                <a:solidFill>
                  <a:srgbClr val="000000"/>
                </a:solidFill>
                <a:latin typeface="Times New Roman" panose="02020603050405020304" pitchFamily="18" charset="0"/>
              </a:rPr>
              <a:t>         在图示电路中，求出</a:t>
            </a:r>
            <a:r>
              <a:rPr lang="en-US" altLang="zh-CN" sz="2000" b="1" dirty="0" err="1">
                <a:solidFill>
                  <a:srgbClr val="000000"/>
                </a:solidFill>
                <a:latin typeface="Times New Roman" panose="02020603050405020304" pitchFamily="18" charset="0"/>
              </a:rPr>
              <a:t>a,b</a:t>
            </a:r>
            <a:r>
              <a:rPr lang="zh-CN" altLang="en-US" sz="2000" b="1" dirty="0">
                <a:solidFill>
                  <a:srgbClr val="000000"/>
                </a:solidFill>
                <a:latin typeface="Times New Roman" panose="02020603050405020304" pitchFamily="18" charset="0"/>
              </a:rPr>
              <a:t>端左侧的戴维南等效电路以及</a:t>
            </a:r>
            <a:r>
              <a:rPr lang="en-US" altLang="zh-CN" sz="2000" b="1" dirty="0">
                <a:solidFill>
                  <a:srgbClr val="000000"/>
                </a:solidFill>
                <a:latin typeface="Times New Roman" panose="02020603050405020304" pitchFamily="18" charset="0"/>
              </a:rPr>
              <a:t>R</a:t>
            </a:r>
            <a:r>
              <a:rPr lang="en-US" altLang="zh-CN" sz="2000" b="1" baseline="-25000" dirty="0">
                <a:solidFill>
                  <a:srgbClr val="000000"/>
                </a:solidFill>
                <a:latin typeface="Times New Roman" panose="02020603050405020304" pitchFamily="18" charset="0"/>
              </a:rPr>
              <a:t>L</a:t>
            </a:r>
            <a:r>
              <a:rPr lang="en-US" altLang="zh-CN" sz="2000" b="1" dirty="0">
                <a:solidFill>
                  <a:srgbClr val="000000"/>
                </a:solidFill>
                <a:latin typeface="Times New Roman" panose="02020603050405020304" pitchFamily="18" charset="0"/>
              </a:rPr>
              <a:t>=6</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16</a:t>
            </a:r>
            <a:r>
              <a:rPr lang="zh-CN" altLang="en-US" sz="2000" b="1" dirty="0">
                <a:solidFill>
                  <a:srgbClr val="000000"/>
                </a:solidFill>
                <a:latin typeface="Times New Roman" panose="02020603050405020304" pitchFamily="18" charset="0"/>
              </a:rPr>
              <a:t>或</a:t>
            </a:r>
            <a:r>
              <a:rPr lang="en-US" altLang="zh-CN" sz="2000" b="1" dirty="0">
                <a:solidFill>
                  <a:srgbClr val="000000"/>
                </a:solidFill>
                <a:latin typeface="Times New Roman" panose="02020603050405020304" pitchFamily="18" charset="0"/>
              </a:rPr>
              <a:t>36Ω</a:t>
            </a:r>
            <a:r>
              <a:rPr lang="zh-CN" altLang="en-US" sz="2000" b="1" dirty="0">
                <a:solidFill>
                  <a:srgbClr val="000000"/>
                </a:solidFill>
                <a:latin typeface="Times New Roman" panose="02020603050405020304" pitchFamily="18" charset="0"/>
              </a:rPr>
              <a:t> 时的通过电流。</a:t>
            </a:r>
            <a:endParaRPr lang="en-US" altLang="zh-CN" sz="2000" b="1" dirty="0">
              <a:solidFill>
                <a:srgbClr val="000000"/>
              </a:solidFill>
              <a:latin typeface="Times New Roman" panose="02020603050405020304" pitchFamily="18" charset="0"/>
            </a:endParaRPr>
          </a:p>
        </p:txBody>
      </p:sp>
      <p:pic>
        <p:nvPicPr>
          <p:cNvPr id="35848" name="Picture 7"/>
          <p:cNvPicPr>
            <a:picLocks noChangeAspect="1" noChangeArrowheads="1"/>
          </p:cNvPicPr>
          <p:nvPr/>
        </p:nvPicPr>
        <p:blipFill>
          <a:blip r:embed="rId3" cstate="print"/>
          <a:srcRect l="61023" r="26587" b="71555"/>
          <a:stretch>
            <a:fillRect/>
          </a:stretch>
        </p:blipFill>
        <p:spPr bwMode="auto">
          <a:xfrm>
            <a:off x="7785411" y="4608513"/>
            <a:ext cx="648071" cy="646665"/>
          </a:xfrm>
          <a:prstGeom prst="rect">
            <a:avLst/>
          </a:prstGeom>
          <a:noFill/>
          <a:ln w="9525">
            <a:noFill/>
            <a:miter lim="800000"/>
            <a:headEnd/>
            <a:tailEnd/>
          </a:ln>
        </p:spPr>
      </p:pic>
      <p:sp>
        <p:nvSpPr>
          <p:cNvPr id="2" name="灯片编号占位符 1"/>
          <p:cNvSpPr>
            <a:spLocks noGrp="1"/>
          </p:cNvSpPr>
          <p:nvPr>
            <p:ph type="sldNum" sz="quarter" idx="11"/>
          </p:nvPr>
        </p:nvSpPr>
        <p:spPr/>
        <p:txBody>
          <a:bodyPr/>
          <a:lstStyle/>
          <a:p>
            <a:pPr>
              <a:defRPr/>
            </a:pPr>
            <a:fld id="{B5E5724E-2106-4ECF-A33D-8E4B743D716F}" type="slidenum">
              <a:rPr lang="en-US" altLang="zh-CN" smtClean="0">
                <a:solidFill>
                  <a:srgbClr val="000000"/>
                </a:solidFill>
              </a:rPr>
              <a:t>43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Object 2"/>
          <p:cNvGraphicFramePr>
            <a:graphicFrameLocks noGrp="1" noChangeAspect="1"/>
          </p:cNvGraphicFramePr>
          <p:nvPr>
            <p:ph sz="half" idx="1"/>
          </p:nvPr>
        </p:nvGraphicFramePr>
        <p:xfrm>
          <a:off x="1043608" y="2921000"/>
          <a:ext cx="3384550" cy="508000"/>
        </p:xfrm>
        <a:graphic>
          <a:graphicData uri="http://schemas.openxmlformats.org/presentationml/2006/ole">
            <mc:AlternateContent xmlns:mc="http://schemas.openxmlformats.org/markup-compatibility/2006">
              <mc:Choice xmlns:v="urn:schemas-microsoft-com:vml" Requires="v">
                <p:oleObj spid="_x0000_s26697" name="Equation" r:id="rId3" imgW="36576000" imgH="5486400" progId="">
                  <p:embed/>
                </p:oleObj>
              </mc:Choice>
              <mc:Fallback>
                <p:oleObj name="Equation" r:id="rId3" imgW="36576000" imgH="5486400" progId="">
                  <p:embed/>
                  <p:pic>
                    <p:nvPicPr>
                      <p:cNvPr id="0" name="图片 26624"/>
                      <p:cNvPicPr>
                        <a:picLocks noGrp="1" noChangeAspect="1"/>
                      </p:cNvPicPr>
                      <p:nvPr/>
                    </p:nvPicPr>
                    <p:blipFill>
                      <a:blip r:embed="rId4"/>
                      <a:stretch>
                        <a:fillRect/>
                      </a:stretch>
                    </p:blipFill>
                    <p:spPr>
                      <a:xfrm>
                        <a:off x="1043608" y="2921000"/>
                        <a:ext cx="3384550" cy="508000"/>
                      </a:xfrm>
                      <a:prstGeom prst="rect">
                        <a:avLst/>
                      </a:prstGeom>
                      <a:noFill/>
                      <a:ln w="9525">
                        <a:noFill/>
                      </a:ln>
                    </p:spPr>
                  </p:pic>
                </p:oleObj>
              </mc:Fallback>
            </mc:AlternateContent>
          </a:graphicData>
        </a:graphic>
      </p:graphicFrame>
      <p:graphicFrame>
        <p:nvGraphicFramePr>
          <p:cNvPr id="36867" name="Object 3"/>
          <p:cNvGraphicFramePr>
            <a:graphicFrameLocks noGrp="1" noChangeAspect="1"/>
          </p:cNvGraphicFramePr>
          <p:nvPr>
            <p:ph sz="half" idx="2"/>
          </p:nvPr>
        </p:nvGraphicFramePr>
        <p:xfrm>
          <a:off x="1064245" y="3485848"/>
          <a:ext cx="1225550" cy="501650"/>
        </p:xfrm>
        <a:graphic>
          <a:graphicData uri="http://schemas.openxmlformats.org/presentationml/2006/ole">
            <mc:AlternateContent xmlns:mc="http://schemas.openxmlformats.org/markup-compatibility/2006">
              <mc:Choice xmlns:v="urn:schemas-microsoft-com:vml" Requires="v">
                <p:oleObj spid="_x0000_s26698" name="Equation" r:id="rId5" imgW="13411200" imgH="5486400" progId="">
                  <p:embed/>
                </p:oleObj>
              </mc:Choice>
              <mc:Fallback>
                <p:oleObj name="Equation" r:id="rId5" imgW="13411200" imgH="5486400" progId="">
                  <p:embed/>
                  <p:pic>
                    <p:nvPicPr>
                      <p:cNvPr id="0" name="图片 26675"/>
                      <p:cNvPicPr>
                        <a:picLocks noGrp="1" noChangeAspect="1"/>
                      </p:cNvPicPr>
                      <p:nvPr/>
                    </p:nvPicPr>
                    <p:blipFill>
                      <a:blip r:embed="rId6"/>
                      <a:stretch>
                        <a:fillRect/>
                      </a:stretch>
                    </p:blipFill>
                    <p:spPr>
                      <a:xfrm>
                        <a:off x="1064245" y="3485848"/>
                        <a:ext cx="1225550" cy="501650"/>
                      </a:xfrm>
                      <a:prstGeom prst="rect">
                        <a:avLst/>
                      </a:prstGeom>
                      <a:noFill/>
                      <a:ln w="9525">
                        <a:noFill/>
                      </a:ln>
                    </p:spPr>
                  </p:pic>
                </p:oleObj>
              </mc:Fallback>
            </mc:AlternateContent>
          </a:graphicData>
        </a:graphic>
      </p:graphicFrame>
      <p:graphicFrame>
        <p:nvGraphicFramePr>
          <p:cNvPr id="36868" name="Object 8"/>
          <p:cNvGraphicFramePr>
            <a:graphicFrameLocks noChangeAspect="1"/>
          </p:cNvGraphicFramePr>
          <p:nvPr/>
        </p:nvGraphicFramePr>
        <p:xfrm>
          <a:off x="2123728" y="4833372"/>
          <a:ext cx="4392612" cy="492125"/>
        </p:xfrm>
        <a:graphic>
          <a:graphicData uri="http://schemas.openxmlformats.org/presentationml/2006/ole">
            <mc:AlternateContent xmlns:mc="http://schemas.openxmlformats.org/markup-compatibility/2006">
              <mc:Choice xmlns:v="urn:schemas-microsoft-com:vml" Requires="v">
                <p:oleObj spid="_x0000_s26699" name="Equation" r:id="rId7" imgW="53949600" imgH="5486400" progId="">
                  <p:embed/>
                </p:oleObj>
              </mc:Choice>
              <mc:Fallback>
                <p:oleObj name="Equation" r:id="rId7" imgW="53949600" imgH="5486400" progId="">
                  <p:embed/>
                  <p:pic>
                    <p:nvPicPr>
                      <p:cNvPr id="0" name="图片 26676"/>
                      <p:cNvPicPr>
                        <a:picLocks noChangeAspect="1"/>
                      </p:cNvPicPr>
                      <p:nvPr/>
                    </p:nvPicPr>
                    <p:blipFill>
                      <a:blip r:embed="rId8"/>
                      <a:stretch>
                        <a:fillRect/>
                      </a:stretch>
                    </p:blipFill>
                    <p:spPr>
                      <a:xfrm>
                        <a:off x="2123728" y="4833372"/>
                        <a:ext cx="4392612" cy="492125"/>
                      </a:xfrm>
                      <a:prstGeom prst="rect">
                        <a:avLst/>
                      </a:prstGeom>
                      <a:noFill/>
                      <a:ln w="9525">
                        <a:noFill/>
                      </a:ln>
                    </p:spPr>
                  </p:pic>
                </p:oleObj>
              </mc:Fallback>
            </mc:AlternateContent>
          </a:graphicData>
        </a:graphic>
      </p:graphicFrame>
      <p:sp>
        <p:nvSpPr>
          <p:cNvPr id="36869" name="Text Box 9"/>
          <p:cNvSpPr txBox="1">
            <a:spLocks noChangeArrowheads="1"/>
          </p:cNvSpPr>
          <p:nvPr/>
        </p:nvSpPr>
        <p:spPr bwMode="auto">
          <a:xfrm>
            <a:off x="395908" y="5906756"/>
            <a:ext cx="4032250" cy="400110"/>
          </a:xfrm>
          <a:prstGeom prst="rect">
            <a:avLst/>
          </a:prstGeom>
          <a:noFill/>
          <a:ln w="9525">
            <a:noFill/>
            <a:miter lim="800000"/>
          </a:ln>
        </p:spPr>
        <p:txBody>
          <a:bodyPr>
            <a:spAutoFit/>
          </a:bodyPr>
          <a:lstStyle/>
          <a:p>
            <a:pPr fontAlgn="base">
              <a:spcBef>
                <a:spcPct val="50000"/>
              </a:spcBef>
              <a:spcAft>
                <a:spcPct val="0"/>
              </a:spcAft>
            </a:pPr>
            <a:r>
              <a:rPr lang="zh-CN" altLang="en-US" dirty="0">
                <a:solidFill>
                  <a:srgbClr val="0000FF"/>
                </a:solidFill>
                <a:latin typeface="Times New Roman" panose="02020603050405020304" pitchFamily="18" charset="0"/>
                <a:ea typeface="黑体" panose="02010609060101010101" pitchFamily="49" charset="-122"/>
              </a:rPr>
              <a:t>方法</a:t>
            </a:r>
            <a:r>
              <a:rPr lang="en-US" altLang="zh-CN" dirty="0">
                <a:solidFill>
                  <a:srgbClr val="0000FF"/>
                </a:solidFill>
                <a:latin typeface="Times New Roman" panose="02020603050405020304" pitchFamily="18" charset="0"/>
                <a:ea typeface="黑体" panose="02010609060101010101" pitchFamily="49" charset="-122"/>
              </a:rPr>
              <a:t>2</a:t>
            </a:r>
            <a:r>
              <a:rPr lang="en-US" altLang="zh-CN" dirty="0">
                <a:solidFill>
                  <a:srgbClr val="000000"/>
                </a:solidFill>
                <a:latin typeface="Times New Roman" panose="02020603050405020304" pitchFamily="18" charset="0"/>
                <a:ea typeface="黑体" panose="02010609060101010101" pitchFamily="49" charset="-122"/>
              </a:rPr>
              <a:t> </a:t>
            </a:r>
            <a:r>
              <a:rPr lang="zh-CN" altLang="en-US" dirty="0">
                <a:solidFill>
                  <a:srgbClr val="000000"/>
                </a:solidFill>
                <a:latin typeface="Times New Roman" panose="02020603050405020304" pitchFamily="18" charset="0"/>
                <a:ea typeface="黑体" panose="02010609060101010101" pitchFamily="49" charset="-122"/>
              </a:rPr>
              <a:t>：节点分析</a:t>
            </a:r>
            <a:r>
              <a:rPr lang="en-US" altLang="zh-CN" dirty="0">
                <a:solidFill>
                  <a:srgbClr val="000000"/>
                </a:solidFill>
                <a:latin typeface="Times New Roman" panose="02020603050405020304" pitchFamily="18" charset="0"/>
                <a:ea typeface="黑体" panose="02010609060101010101" pitchFamily="49" charset="-122"/>
              </a:rPr>
              <a:t>, </a:t>
            </a:r>
            <a:r>
              <a:rPr lang="zh-CN" altLang="en-US" dirty="0">
                <a:solidFill>
                  <a:srgbClr val="000000"/>
                </a:solidFill>
                <a:latin typeface="Times New Roman" panose="02020603050405020304" pitchFamily="18" charset="0"/>
                <a:ea typeface="黑体" panose="02010609060101010101" pitchFamily="49" charset="-122"/>
              </a:rPr>
              <a:t>对于节点</a:t>
            </a:r>
            <a:r>
              <a:rPr lang="en-US" altLang="zh-CN" sz="2000" b="1" i="1" dirty="0">
                <a:solidFill>
                  <a:srgbClr val="FF0000"/>
                </a:solidFill>
                <a:latin typeface="Times New Roman" panose="02020603050405020304" pitchFamily="18" charset="0"/>
                <a:ea typeface="黑体" panose="02010609060101010101" pitchFamily="49" charset="-122"/>
              </a:rPr>
              <a:t>O</a:t>
            </a:r>
            <a:r>
              <a:rPr lang="en-US" altLang="zh-CN" sz="2000" dirty="0">
                <a:solidFill>
                  <a:srgbClr val="000000"/>
                </a:solidFill>
                <a:latin typeface="Times New Roman" panose="02020603050405020304" pitchFamily="18" charset="0"/>
                <a:ea typeface="黑体" panose="02010609060101010101" pitchFamily="49" charset="-122"/>
              </a:rPr>
              <a:t>,</a:t>
            </a:r>
          </a:p>
        </p:txBody>
      </p:sp>
      <p:graphicFrame>
        <p:nvGraphicFramePr>
          <p:cNvPr id="36870" name="Object 10"/>
          <p:cNvGraphicFramePr>
            <a:graphicFrameLocks noChangeAspect="1"/>
          </p:cNvGraphicFramePr>
          <p:nvPr/>
        </p:nvGraphicFramePr>
        <p:xfrm>
          <a:off x="4142162" y="5744861"/>
          <a:ext cx="1871663" cy="723900"/>
        </p:xfrm>
        <a:graphic>
          <a:graphicData uri="http://schemas.openxmlformats.org/presentationml/2006/ole">
            <mc:AlternateContent xmlns:mc="http://schemas.openxmlformats.org/markup-compatibility/2006">
              <mc:Choice xmlns:v="urn:schemas-microsoft-com:vml" Requires="v">
                <p:oleObj spid="_x0000_s26700" name="Equation" r:id="rId9" imgW="26517600" imgH="9448800" progId="">
                  <p:embed/>
                </p:oleObj>
              </mc:Choice>
              <mc:Fallback>
                <p:oleObj name="Equation" r:id="rId9" imgW="26517600" imgH="9448800" progId="">
                  <p:embed/>
                  <p:pic>
                    <p:nvPicPr>
                      <p:cNvPr id="0" name="图片 26677"/>
                      <p:cNvPicPr>
                        <a:picLocks noChangeAspect="1"/>
                      </p:cNvPicPr>
                      <p:nvPr/>
                    </p:nvPicPr>
                    <p:blipFill>
                      <a:blip r:embed="rId10"/>
                      <a:stretch>
                        <a:fillRect/>
                      </a:stretch>
                    </p:blipFill>
                    <p:spPr>
                      <a:xfrm>
                        <a:off x="4142162" y="5744861"/>
                        <a:ext cx="1871663" cy="723900"/>
                      </a:xfrm>
                      <a:prstGeom prst="rect">
                        <a:avLst/>
                      </a:prstGeom>
                      <a:noFill/>
                      <a:ln w="9525">
                        <a:noFill/>
                      </a:ln>
                    </p:spPr>
                  </p:pic>
                </p:oleObj>
              </mc:Fallback>
            </mc:AlternateContent>
          </a:graphicData>
        </a:graphic>
      </p:graphicFrame>
      <p:pic>
        <p:nvPicPr>
          <p:cNvPr id="36871" name="Picture 15"/>
          <p:cNvPicPr>
            <a:picLocks noChangeAspect="1" noChangeArrowheads="1"/>
          </p:cNvPicPr>
          <p:nvPr/>
        </p:nvPicPr>
        <p:blipFill>
          <a:blip r:embed="rId11" cstate="print"/>
          <a:srcRect/>
          <a:stretch>
            <a:fillRect/>
          </a:stretch>
        </p:blipFill>
        <p:spPr bwMode="auto">
          <a:xfrm>
            <a:off x="1679575" y="1044575"/>
            <a:ext cx="4679950" cy="1846263"/>
          </a:xfrm>
          <a:prstGeom prst="rect">
            <a:avLst/>
          </a:prstGeom>
          <a:noFill/>
          <a:ln w="9525">
            <a:noFill/>
            <a:miter lim="800000"/>
            <a:headEnd/>
            <a:tailEnd/>
          </a:ln>
        </p:spPr>
      </p:pic>
      <p:sp>
        <p:nvSpPr>
          <p:cNvPr id="36872" name="Rectangle 16"/>
          <p:cNvSpPr>
            <a:spLocks noChangeArrowheads="1"/>
          </p:cNvSpPr>
          <p:nvPr/>
        </p:nvSpPr>
        <p:spPr bwMode="auto">
          <a:xfrm>
            <a:off x="552450" y="506413"/>
            <a:ext cx="3311525" cy="400050"/>
          </a:xfrm>
          <a:prstGeom prst="rect">
            <a:avLst/>
          </a:prstGeom>
          <a:noFill/>
          <a:ln w="9525">
            <a:noFill/>
            <a:miter lim="800000"/>
          </a:ln>
        </p:spPr>
        <p:txBody>
          <a:bodyPr wrap="none">
            <a:spAutoFit/>
          </a:bodyPr>
          <a:lstStyle/>
          <a:p>
            <a:pPr fontAlgn="base">
              <a:spcBef>
                <a:spcPct val="0"/>
              </a:spcBef>
              <a:spcAft>
                <a:spcPct val="0"/>
              </a:spcAft>
            </a:pPr>
            <a:r>
              <a:rPr lang="en-US" altLang="zh-CN" sz="2000" b="1" dirty="0">
                <a:solidFill>
                  <a:srgbClr val="FF0000"/>
                </a:solidFill>
                <a:latin typeface="Times New Roman" panose="02020603050405020304" pitchFamily="18" charset="0"/>
              </a:rPr>
              <a:t>2)</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求</a:t>
            </a:r>
            <a:r>
              <a:rPr lang="en-US" altLang="zh-CN" sz="2000" b="1" i="1" dirty="0" err="1">
                <a:solidFill>
                  <a:srgbClr val="000000"/>
                </a:solidFill>
                <a:latin typeface="Times New Roman" panose="02020603050405020304" pitchFamily="18" charset="0"/>
              </a:rPr>
              <a:t>V</a:t>
            </a:r>
            <a:r>
              <a:rPr lang="en-US" altLang="zh-CN" sz="2000" b="1" i="1" baseline="-25000" dirty="0" err="1">
                <a:solidFill>
                  <a:srgbClr val="000000"/>
                </a:solidFill>
                <a:latin typeface="Times New Roman" panose="02020603050405020304" pitchFamily="18" charset="0"/>
              </a:rPr>
              <a:t>Th</a:t>
            </a:r>
            <a:r>
              <a:rPr lang="en-US" altLang="zh-CN" sz="2000" b="1" dirty="0">
                <a:solidFill>
                  <a:srgbClr val="000000"/>
                </a:solidFill>
                <a:latin typeface="Times New Roman" panose="02020603050405020304" pitchFamily="18" charset="0"/>
              </a:rPr>
              <a:t> ,   </a:t>
            </a:r>
            <a:r>
              <a:rPr lang="zh-CN" altLang="en-US" sz="2000" b="1" dirty="0">
                <a:solidFill>
                  <a:srgbClr val="0000FF"/>
                </a:solidFill>
                <a:latin typeface="Times New Roman" panose="02020603050405020304" pitchFamily="18" charset="0"/>
              </a:rPr>
              <a:t>方法</a:t>
            </a:r>
            <a:r>
              <a:rPr lang="en-US" altLang="zh-CN" sz="2000" b="1" dirty="0">
                <a:solidFill>
                  <a:srgbClr val="0000FF"/>
                </a:solidFill>
                <a:latin typeface="Times New Roman" panose="02020603050405020304" pitchFamily="18" charset="0"/>
              </a:rPr>
              <a:t> 1</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网孔分析</a:t>
            </a:r>
            <a:endParaRPr lang="en-US" altLang="zh-CN" sz="2000" b="1" dirty="0">
              <a:solidFill>
                <a:srgbClr val="000000"/>
              </a:solidFill>
              <a:latin typeface="Times New Roman" panose="02020603050405020304" pitchFamily="18" charset="0"/>
            </a:endParaRPr>
          </a:p>
        </p:txBody>
      </p:sp>
      <p:sp>
        <p:nvSpPr>
          <p:cNvPr id="36873" name="Text Box 20"/>
          <p:cNvSpPr txBox="1">
            <a:spLocks noChangeArrowheads="1"/>
          </p:cNvSpPr>
          <p:nvPr/>
        </p:nvSpPr>
        <p:spPr bwMode="auto">
          <a:xfrm>
            <a:off x="3863975" y="1109663"/>
            <a:ext cx="311150" cy="396875"/>
          </a:xfrm>
          <a:prstGeom prst="rect">
            <a:avLst/>
          </a:prstGeom>
          <a:noFill/>
          <a:ln w="9525">
            <a:noFill/>
            <a:miter lim="800000"/>
          </a:ln>
        </p:spPr>
        <p:txBody>
          <a:bodyPr wrap="none">
            <a:spAutoFit/>
          </a:bodyPr>
          <a:lstStyle/>
          <a:p>
            <a:pPr fontAlgn="base">
              <a:spcBef>
                <a:spcPct val="0"/>
              </a:spcBef>
              <a:spcAft>
                <a:spcPct val="0"/>
              </a:spcAft>
            </a:pPr>
            <a:r>
              <a:rPr lang="en-US" altLang="zh-CN" sz="2000" b="1" i="1" dirty="0">
                <a:solidFill>
                  <a:srgbClr val="FF0000"/>
                </a:solidFill>
                <a:latin typeface="Times New Roman" panose="02020603050405020304" pitchFamily="18" charset="0"/>
              </a:rPr>
              <a:t>o</a:t>
            </a:r>
          </a:p>
        </p:txBody>
      </p:sp>
      <p:sp>
        <p:nvSpPr>
          <p:cNvPr id="36874" name="Text Box 16"/>
          <p:cNvSpPr txBox="1">
            <a:spLocks noChangeArrowheads="1"/>
          </p:cNvSpPr>
          <p:nvPr/>
        </p:nvSpPr>
        <p:spPr bwMode="auto">
          <a:xfrm>
            <a:off x="395908" y="2968625"/>
            <a:ext cx="438150" cy="396875"/>
          </a:xfrm>
          <a:prstGeom prst="rect">
            <a:avLst/>
          </a:prstGeom>
          <a:noFill/>
          <a:ln w="9525">
            <a:noFill/>
            <a:miter lim="800000"/>
          </a:ln>
        </p:spPr>
        <p:txBody>
          <a:bodyPr wrap="none">
            <a:spAutoFit/>
          </a:bodyPr>
          <a:lstStyle/>
          <a:p>
            <a:pPr fontAlgn="base">
              <a:spcBef>
                <a:spcPct val="0"/>
              </a:spcBef>
              <a:spcAft>
                <a:spcPct val="0"/>
              </a:spcAft>
            </a:pPr>
            <a:r>
              <a:rPr lang="zh-CN" altLang="en-US" sz="2000">
                <a:solidFill>
                  <a:srgbClr val="000000"/>
                </a:solidFill>
                <a:latin typeface="宋体" panose="02010600030101010101" pitchFamily="2" charset="-122"/>
              </a:rPr>
              <a:t>①</a:t>
            </a:r>
          </a:p>
        </p:txBody>
      </p:sp>
      <p:sp>
        <p:nvSpPr>
          <p:cNvPr id="36875" name="Text Box 17"/>
          <p:cNvSpPr txBox="1">
            <a:spLocks noChangeArrowheads="1"/>
          </p:cNvSpPr>
          <p:nvPr/>
        </p:nvSpPr>
        <p:spPr bwMode="auto">
          <a:xfrm>
            <a:off x="395908" y="3536648"/>
            <a:ext cx="438150" cy="396875"/>
          </a:xfrm>
          <a:prstGeom prst="rect">
            <a:avLst/>
          </a:prstGeom>
          <a:noFill/>
          <a:ln w="9525">
            <a:noFill/>
            <a:miter lim="800000"/>
          </a:ln>
        </p:spPr>
        <p:txBody>
          <a:bodyPr wrap="none">
            <a:spAutoFit/>
          </a:bodyPr>
          <a:lstStyle/>
          <a:p>
            <a:pPr fontAlgn="base">
              <a:spcBef>
                <a:spcPct val="0"/>
              </a:spcBef>
              <a:spcAft>
                <a:spcPct val="0"/>
              </a:spcAft>
            </a:pPr>
            <a:r>
              <a:rPr lang="zh-CN" altLang="en-US" sz="2000">
                <a:solidFill>
                  <a:srgbClr val="000000"/>
                </a:solidFill>
                <a:latin typeface="宋体" panose="02010600030101010101" pitchFamily="2" charset="-122"/>
              </a:rPr>
              <a:t>②</a:t>
            </a:r>
          </a:p>
        </p:txBody>
      </p:sp>
      <p:sp>
        <p:nvSpPr>
          <p:cNvPr id="36876" name="Text Box 18"/>
          <p:cNvSpPr txBox="1">
            <a:spLocks noChangeArrowheads="1"/>
          </p:cNvSpPr>
          <p:nvPr/>
        </p:nvSpPr>
        <p:spPr bwMode="auto">
          <a:xfrm>
            <a:off x="899493" y="4158733"/>
            <a:ext cx="2383986" cy="461665"/>
          </a:xfrm>
          <a:prstGeom prst="rect">
            <a:avLst/>
          </a:prstGeom>
          <a:noFill/>
          <a:ln w="9525">
            <a:noFill/>
            <a:miter lim="800000"/>
          </a:ln>
        </p:spPr>
        <p:txBody>
          <a:bodyPr wrap="none">
            <a:spAutoFit/>
          </a:bodyPr>
          <a:lstStyle/>
          <a:p>
            <a:pPr fontAlgn="base">
              <a:spcBef>
                <a:spcPct val="0"/>
              </a:spcBef>
              <a:spcAft>
                <a:spcPct val="0"/>
              </a:spcAft>
            </a:pPr>
            <a:r>
              <a:rPr lang="zh-CN" altLang="en-US" sz="2400" dirty="0">
                <a:solidFill>
                  <a:srgbClr val="000000"/>
                </a:solidFill>
                <a:latin typeface="Times New Roman" panose="02020603050405020304" pitchFamily="18" charset="0"/>
              </a:rPr>
              <a:t>可得：</a:t>
            </a:r>
            <a:r>
              <a:rPr lang="en-US" altLang="zh-CN" sz="2400" dirty="0">
                <a:solidFill>
                  <a:srgbClr val="000000"/>
                </a:solidFill>
                <a:latin typeface="Times New Roman" panose="02020603050405020304" pitchFamily="18" charset="0"/>
              </a:rPr>
              <a:t>    </a:t>
            </a:r>
            <a:r>
              <a:rPr lang="en-US" altLang="zh-CN" sz="2400" i="1" dirty="0">
                <a:solidFill>
                  <a:srgbClr val="000000"/>
                </a:solidFill>
                <a:latin typeface="Times New Roman" panose="02020603050405020304" pitchFamily="18" charset="0"/>
              </a:rPr>
              <a:t>i</a:t>
            </a:r>
            <a:r>
              <a:rPr lang="en-US" altLang="zh-CN" sz="2400" i="1" baseline="-25000" dirty="0">
                <a:solidFill>
                  <a:srgbClr val="000000"/>
                </a:solidFill>
                <a:latin typeface="Times New Roman" panose="02020603050405020304" pitchFamily="18" charset="0"/>
              </a:rPr>
              <a:t>1</a:t>
            </a:r>
            <a:r>
              <a:rPr lang="en-US" altLang="zh-CN" sz="2400" dirty="0">
                <a:solidFill>
                  <a:srgbClr val="000000"/>
                </a:solidFill>
                <a:latin typeface="Times New Roman" panose="02020603050405020304" pitchFamily="18" charset="0"/>
              </a:rPr>
              <a:t>=0.5A</a:t>
            </a:r>
          </a:p>
        </p:txBody>
      </p:sp>
      <p:graphicFrame>
        <p:nvGraphicFramePr>
          <p:cNvPr id="13" name="Object 8"/>
          <p:cNvGraphicFramePr>
            <a:graphicFrameLocks noChangeAspect="1"/>
          </p:cNvGraphicFramePr>
          <p:nvPr/>
        </p:nvGraphicFramePr>
        <p:xfrm>
          <a:off x="6156325" y="5860749"/>
          <a:ext cx="1811337" cy="492125"/>
        </p:xfrm>
        <a:graphic>
          <a:graphicData uri="http://schemas.openxmlformats.org/presentationml/2006/ole">
            <mc:AlternateContent xmlns:mc="http://schemas.openxmlformats.org/markup-compatibility/2006">
              <mc:Choice xmlns:v="urn:schemas-microsoft-com:vml" Requires="v">
                <p:oleObj spid="_x0000_s26701" name="Equation" r:id="rId12" imgW="22250400" imgH="5486400" progId="">
                  <p:embed/>
                </p:oleObj>
              </mc:Choice>
              <mc:Fallback>
                <p:oleObj name="Equation" r:id="rId12" imgW="22250400" imgH="5486400" progId="">
                  <p:embed/>
                  <p:pic>
                    <p:nvPicPr>
                      <p:cNvPr id="0" name="图片 26678"/>
                      <p:cNvPicPr>
                        <a:picLocks noChangeAspect="1"/>
                      </p:cNvPicPr>
                      <p:nvPr/>
                    </p:nvPicPr>
                    <p:blipFill>
                      <a:blip r:embed="rId13"/>
                      <a:stretch>
                        <a:fillRect/>
                      </a:stretch>
                    </p:blipFill>
                    <p:spPr>
                      <a:xfrm>
                        <a:off x="6156325" y="5860749"/>
                        <a:ext cx="1811337" cy="492125"/>
                      </a:xfrm>
                      <a:prstGeom prst="rect">
                        <a:avLst/>
                      </a:prstGeom>
                      <a:noFill/>
                      <a:ln w="9525">
                        <a:noFill/>
                      </a:ln>
                    </p:spPr>
                  </p:pic>
                </p:oleObj>
              </mc:Fallback>
            </mc:AlternateContent>
          </a:graphicData>
        </a:graphic>
      </p:graphicFrame>
      <p:sp>
        <p:nvSpPr>
          <p:cNvPr id="2" name="灯片编号占位符 1"/>
          <p:cNvSpPr>
            <a:spLocks noGrp="1"/>
          </p:cNvSpPr>
          <p:nvPr>
            <p:ph type="sldNum" sz="quarter" idx="11"/>
          </p:nvPr>
        </p:nvSpPr>
        <p:spPr/>
        <p:txBody>
          <a:bodyPr/>
          <a:lstStyle/>
          <a:p>
            <a:pPr>
              <a:defRPr/>
            </a:pPr>
            <a:fld id="{8F389F86-7872-4F02-9ECE-1C5A44E3582C}" type="slidenum">
              <a:rPr lang="en-US" altLang="zh-CN" smtClean="0">
                <a:solidFill>
                  <a:srgbClr val="000000"/>
                </a:solidFill>
              </a:rPr>
              <a:t>44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864609" y="4334047"/>
            <a:ext cx="2699336" cy="456416"/>
            <a:chOff x="476" y="2000"/>
            <a:chExt cx="1756" cy="319"/>
          </a:xfrm>
        </p:grpSpPr>
        <p:sp>
          <p:nvSpPr>
            <p:cNvPr id="37904" name="Text Box 3"/>
            <p:cNvSpPr txBox="1">
              <a:spLocks noChangeArrowheads="1"/>
            </p:cNvSpPr>
            <p:nvPr/>
          </p:nvSpPr>
          <p:spPr bwMode="auto">
            <a:xfrm>
              <a:off x="476" y="2000"/>
              <a:ext cx="1756" cy="280"/>
            </a:xfrm>
            <a:prstGeom prst="rect">
              <a:avLst/>
            </a:prstGeom>
            <a:noFill/>
            <a:ln w="9525">
              <a:noFill/>
              <a:miter lim="800000"/>
            </a:ln>
          </p:spPr>
          <p:txBody>
            <a:bodyPr wrap="square">
              <a:spAutoFit/>
            </a:bodyPr>
            <a:lstStyle/>
            <a:p>
              <a:pPr marL="342900" indent="-342900" fontAlgn="base">
                <a:spcBef>
                  <a:spcPct val="50000"/>
                </a:spcBef>
                <a:spcAft>
                  <a:spcPct val="0"/>
                </a:spcAft>
                <a:buFont typeface="Wingdings" panose="05000000000000000000" pitchFamily="2" charset="2"/>
                <a:buChar char="u"/>
              </a:pPr>
              <a:r>
                <a:rPr lang="zh-CN" altLang="en-US" sz="2000" b="1" dirty="0">
                  <a:solidFill>
                    <a:srgbClr val="000000"/>
                  </a:solidFill>
                  <a:latin typeface="Times New Roman" panose="02020603050405020304" pitchFamily="18" charset="0"/>
                </a:rPr>
                <a:t>当  </a:t>
              </a:r>
              <a:r>
                <a:rPr lang="zh-CN" altLang="en-US" sz="2000" dirty="0">
                  <a:solidFill>
                    <a:srgbClr val="000000"/>
                  </a:solidFill>
                  <a:latin typeface="Times New Roman" panose="02020603050405020304" pitchFamily="18" charset="0"/>
                </a:rPr>
                <a:t>    </a:t>
              </a:r>
              <a:r>
                <a:rPr lang="en-US" altLang="zh-CN" sz="2000" dirty="0">
                  <a:solidFill>
                    <a:srgbClr val="000000"/>
                  </a:solidFill>
                  <a:latin typeface="Times New Roman" panose="02020603050405020304" pitchFamily="18" charset="0"/>
                </a:rPr>
                <a:t>             ,</a:t>
              </a:r>
            </a:p>
          </p:txBody>
        </p:sp>
        <p:graphicFrame>
          <p:nvGraphicFramePr>
            <p:cNvPr id="37905" name="Object 4"/>
            <p:cNvGraphicFramePr>
              <a:graphicFrameLocks noChangeAspect="1"/>
            </p:cNvGraphicFramePr>
            <p:nvPr/>
          </p:nvGraphicFramePr>
          <p:xfrm>
            <a:off x="956" y="2005"/>
            <a:ext cx="680" cy="314"/>
          </p:xfrm>
          <a:graphic>
            <a:graphicData uri="http://schemas.openxmlformats.org/presentationml/2006/ole">
              <mc:AlternateContent xmlns:mc="http://schemas.openxmlformats.org/markup-compatibility/2006">
                <mc:Choice xmlns:v="urn:schemas-microsoft-com:vml" Requires="v">
                  <p:oleObj spid="_x0000_s27763" name="Equation" r:id="rId3" imgW="11887200" imgH="5486400" progId="">
                    <p:embed/>
                  </p:oleObj>
                </mc:Choice>
                <mc:Fallback>
                  <p:oleObj name="Equation" r:id="rId3" imgW="11887200" imgH="5486400" progId="">
                    <p:embed/>
                    <p:pic>
                      <p:nvPicPr>
                        <p:cNvPr id="0" name="图片 27648"/>
                        <p:cNvPicPr>
                          <a:picLocks noChangeAspect="1"/>
                        </p:cNvPicPr>
                        <p:nvPr/>
                      </p:nvPicPr>
                      <p:blipFill>
                        <a:blip r:embed="rId4"/>
                        <a:stretch>
                          <a:fillRect/>
                        </a:stretch>
                      </p:blipFill>
                      <p:spPr>
                        <a:xfrm>
                          <a:off x="956" y="2005"/>
                          <a:ext cx="680" cy="314"/>
                        </a:xfrm>
                        <a:prstGeom prst="rect">
                          <a:avLst/>
                        </a:prstGeom>
                        <a:noFill/>
                        <a:ln w="9525">
                          <a:noFill/>
                        </a:ln>
                      </p:spPr>
                    </p:pic>
                  </p:oleObj>
                </mc:Fallback>
              </mc:AlternateContent>
            </a:graphicData>
          </a:graphic>
        </p:graphicFrame>
      </p:grpSp>
      <p:grpSp>
        <p:nvGrpSpPr>
          <p:cNvPr id="3" name="Group 5"/>
          <p:cNvGrpSpPr/>
          <p:nvPr/>
        </p:nvGrpSpPr>
        <p:grpSpPr bwMode="auto">
          <a:xfrm>
            <a:off x="936047" y="3079137"/>
            <a:ext cx="2305050" cy="457200"/>
            <a:chOff x="431" y="754"/>
            <a:chExt cx="1452" cy="288"/>
          </a:xfrm>
        </p:grpSpPr>
        <p:sp>
          <p:nvSpPr>
            <p:cNvPr id="37902" name="Text Box 6"/>
            <p:cNvSpPr txBox="1">
              <a:spLocks noChangeArrowheads="1"/>
            </p:cNvSpPr>
            <p:nvPr/>
          </p:nvSpPr>
          <p:spPr bwMode="auto">
            <a:xfrm>
              <a:off x="431" y="754"/>
              <a:ext cx="1452" cy="250"/>
            </a:xfrm>
            <a:prstGeom prst="rect">
              <a:avLst/>
            </a:prstGeom>
            <a:noFill/>
            <a:ln w="9525">
              <a:noFill/>
              <a:miter lim="800000"/>
            </a:ln>
          </p:spPr>
          <p:txBody>
            <a:bodyPr>
              <a:spAutoFit/>
            </a:bodyPr>
            <a:lstStyle/>
            <a:p>
              <a:pPr marL="342900" indent="-342900" fontAlgn="base">
                <a:spcBef>
                  <a:spcPct val="50000"/>
                </a:spcBef>
                <a:spcAft>
                  <a:spcPct val="0"/>
                </a:spcAft>
                <a:buFont typeface="Wingdings" panose="05000000000000000000" pitchFamily="2" charset="2"/>
                <a:buChar char="u"/>
              </a:pPr>
              <a:r>
                <a:rPr lang="zh-CN" altLang="en-US" sz="2000" b="1" dirty="0">
                  <a:solidFill>
                    <a:srgbClr val="000000"/>
                  </a:solidFill>
                  <a:latin typeface="Times New Roman" panose="02020603050405020304" pitchFamily="18" charset="0"/>
                </a:rPr>
                <a:t>当</a:t>
              </a:r>
              <a:r>
                <a:rPr lang="en-US" altLang="zh-CN" sz="2000" b="1" dirty="0">
                  <a:solidFill>
                    <a:srgbClr val="000000"/>
                  </a:solidFill>
                  <a:latin typeface="Times New Roman" panose="02020603050405020304" pitchFamily="18" charset="0"/>
                </a:rPr>
                <a:t>  </a:t>
              </a:r>
              <a:r>
                <a:rPr lang="en-US" altLang="zh-CN" sz="2000" dirty="0">
                  <a:solidFill>
                    <a:srgbClr val="000000"/>
                  </a:solidFill>
                  <a:latin typeface="Times New Roman" panose="02020603050405020304" pitchFamily="18" charset="0"/>
                </a:rPr>
                <a:t>               ,</a:t>
              </a:r>
            </a:p>
          </p:txBody>
        </p:sp>
        <p:graphicFrame>
          <p:nvGraphicFramePr>
            <p:cNvPr id="37903" name="Object 7"/>
            <p:cNvGraphicFramePr>
              <a:graphicFrameLocks noChangeAspect="1"/>
            </p:cNvGraphicFramePr>
            <p:nvPr/>
          </p:nvGraphicFramePr>
          <p:xfrm>
            <a:off x="930" y="754"/>
            <a:ext cx="544" cy="288"/>
          </p:xfrm>
          <a:graphic>
            <a:graphicData uri="http://schemas.openxmlformats.org/presentationml/2006/ole">
              <mc:AlternateContent xmlns:mc="http://schemas.openxmlformats.org/markup-compatibility/2006">
                <mc:Choice xmlns:v="urn:schemas-microsoft-com:vml" Requires="v">
                  <p:oleObj spid="_x0000_s27764" name="Equation" r:id="rId5" imgW="10363200" imgH="5486400" progId="">
                    <p:embed/>
                  </p:oleObj>
                </mc:Choice>
                <mc:Fallback>
                  <p:oleObj name="Equation" r:id="rId5" imgW="10363200" imgH="5486400" progId="">
                    <p:embed/>
                    <p:pic>
                      <p:nvPicPr>
                        <p:cNvPr id="0" name="图片 27729"/>
                        <p:cNvPicPr>
                          <a:picLocks noChangeAspect="1"/>
                        </p:cNvPicPr>
                        <p:nvPr/>
                      </p:nvPicPr>
                      <p:blipFill>
                        <a:blip r:embed="rId6"/>
                        <a:stretch>
                          <a:fillRect/>
                        </a:stretch>
                      </p:blipFill>
                      <p:spPr>
                        <a:xfrm>
                          <a:off x="930" y="754"/>
                          <a:ext cx="544" cy="288"/>
                        </a:xfrm>
                        <a:prstGeom prst="rect">
                          <a:avLst/>
                        </a:prstGeom>
                        <a:noFill/>
                        <a:ln w="9525">
                          <a:noFill/>
                        </a:ln>
                      </p:spPr>
                    </p:pic>
                  </p:oleObj>
                </mc:Fallback>
              </mc:AlternateContent>
            </a:graphicData>
          </a:graphic>
        </p:graphicFrame>
      </p:grpSp>
      <p:grpSp>
        <p:nvGrpSpPr>
          <p:cNvPr id="4" name="Group 8"/>
          <p:cNvGrpSpPr/>
          <p:nvPr/>
        </p:nvGrpSpPr>
        <p:grpSpPr bwMode="auto">
          <a:xfrm>
            <a:off x="864609" y="5527062"/>
            <a:ext cx="2915303" cy="450850"/>
            <a:chOff x="295" y="2750"/>
            <a:chExt cx="1452" cy="307"/>
          </a:xfrm>
        </p:grpSpPr>
        <p:sp>
          <p:nvSpPr>
            <p:cNvPr id="37900" name="Text Box 9"/>
            <p:cNvSpPr txBox="1">
              <a:spLocks noChangeArrowheads="1"/>
            </p:cNvSpPr>
            <p:nvPr/>
          </p:nvSpPr>
          <p:spPr bwMode="auto">
            <a:xfrm>
              <a:off x="295" y="2750"/>
              <a:ext cx="1452" cy="272"/>
            </a:xfrm>
            <a:prstGeom prst="rect">
              <a:avLst/>
            </a:prstGeom>
            <a:noFill/>
            <a:ln w="9525">
              <a:noFill/>
              <a:miter lim="800000"/>
            </a:ln>
          </p:spPr>
          <p:txBody>
            <a:bodyPr>
              <a:spAutoFit/>
            </a:bodyPr>
            <a:lstStyle/>
            <a:p>
              <a:pPr marL="342900" indent="-342900" fontAlgn="base">
                <a:spcBef>
                  <a:spcPct val="50000"/>
                </a:spcBef>
                <a:spcAft>
                  <a:spcPct val="0"/>
                </a:spcAft>
                <a:buFont typeface="Wingdings" panose="05000000000000000000" pitchFamily="2" charset="2"/>
                <a:buChar char="u"/>
              </a:pPr>
              <a:r>
                <a:rPr lang="zh-CN" altLang="en-US" sz="2000" b="1" dirty="0">
                  <a:solidFill>
                    <a:srgbClr val="000000"/>
                  </a:solidFill>
                  <a:latin typeface="Times New Roman" panose="02020603050405020304" pitchFamily="18" charset="0"/>
                </a:rPr>
                <a:t>当</a:t>
              </a:r>
              <a:r>
                <a:rPr lang="zh-CN" altLang="en-US" sz="2000" dirty="0">
                  <a:solidFill>
                    <a:srgbClr val="000000"/>
                  </a:solidFill>
                  <a:latin typeface="Times New Roman" panose="02020603050405020304" pitchFamily="18" charset="0"/>
                </a:rPr>
                <a:t>     </a:t>
              </a:r>
              <a:r>
                <a:rPr lang="en-US" altLang="zh-CN" sz="2000" dirty="0">
                  <a:solidFill>
                    <a:srgbClr val="000000"/>
                  </a:solidFill>
                  <a:latin typeface="Times New Roman" panose="02020603050405020304" pitchFamily="18" charset="0"/>
                </a:rPr>
                <a:t>                ,</a:t>
              </a:r>
            </a:p>
          </p:txBody>
        </p:sp>
        <p:graphicFrame>
          <p:nvGraphicFramePr>
            <p:cNvPr id="37901" name="Object 10"/>
            <p:cNvGraphicFramePr>
              <a:graphicFrameLocks noChangeAspect="1"/>
            </p:cNvGraphicFramePr>
            <p:nvPr/>
          </p:nvGraphicFramePr>
          <p:xfrm>
            <a:off x="640" y="2750"/>
            <a:ext cx="681" cy="307"/>
          </p:xfrm>
          <a:graphic>
            <a:graphicData uri="http://schemas.openxmlformats.org/presentationml/2006/ole">
              <mc:AlternateContent xmlns:mc="http://schemas.openxmlformats.org/markup-compatibility/2006">
                <mc:Choice xmlns:v="urn:schemas-microsoft-com:vml" Requires="v">
                  <p:oleObj spid="_x0000_s27765" name="Equation" r:id="rId7" imgW="12192000" imgH="5486400" progId="">
                    <p:embed/>
                  </p:oleObj>
                </mc:Choice>
                <mc:Fallback>
                  <p:oleObj name="Equation" r:id="rId7" imgW="12192000" imgH="5486400" progId="">
                    <p:embed/>
                    <p:pic>
                      <p:nvPicPr>
                        <p:cNvPr id="0" name="图片 27730"/>
                        <p:cNvPicPr>
                          <a:picLocks noChangeAspect="1"/>
                        </p:cNvPicPr>
                        <p:nvPr/>
                      </p:nvPicPr>
                      <p:blipFill>
                        <a:blip r:embed="rId8"/>
                        <a:stretch>
                          <a:fillRect/>
                        </a:stretch>
                      </p:blipFill>
                      <p:spPr>
                        <a:xfrm>
                          <a:off x="640" y="2750"/>
                          <a:ext cx="681" cy="307"/>
                        </a:xfrm>
                        <a:prstGeom prst="rect">
                          <a:avLst/>
                        </a:prstGeom>
                        <a:noFill/>
                        <a:ln w="9525">
                          <a:noFill/>
                        </a:ln>
                      </p:spPr>
                    </p:pic>
                  </p:oleObj>
                </mc:Fallback>
              </mc:AlternateContent>
            </a:graphicData>
          </a:graphic>
        </p:graphicFrame>
      </p:grpSp>
      <p:graphicFrame>
        <p:nvGraphicFramePr>
          <p:cNvPr id="37893" name="Object 11"/>
          <p:cNvGraphicFramePr>
            <a:graphicFrameLocks noChangeAspect="1"/>
          </p:cNvGraphicFramePr>
          <p:nvPr/>
        </p:nvGraphicFramePr>
        <p:xfrm>
          <a:off x="3144894" y="2948962"/>
          <a:ext cx="1656184" cy="782449"/>
        </p:xfrm>
        <a:graphic>
          <a:graphicData uri="http://schemas.openxmlformats.org/presentationml/2006/ole">
            <mc:AlternateContent xmlns:mc="http://schemas.openxmlformats.org/markup-compatibility/2006">
              <mc:Choice xmlns:v="urn:schemas-microsoft-com:vml" Requires="v">
                <p:oleObj spid="_x0000_s27766" name="Equation" r:id="rId9" imgW="19812000" imgH="9448800" progId="">
                  <p:embed/>
                </p:oleObj>
              </mc:Choice>
              <mc:Fallback>
                <p:oleObj name="Equation" r:id="rId9" imgW="19812000" imgH="9448800" progId="">
                  <p:embed/>
                  <p:pic>
                    <p:nvPicPr>
                      <p:cNvPr id="0" name="图片 27731"/>
                      <p:cNvPicPr>
                        <a:picLocks noChangeAspect="1"/>
                      </p:cNvPicPr>
                      <p:nvPr/>
                    </p:nvPicPr>
                    <p:blipFill>
                      <a:blip r:embed="rId10"/>
                      <a:stretch>
                        <a:fillRect/>
                      </a:stretch>
                    </p:blipFill>
                    <p:spPr>
                      <a:xfrm>
                        <a:off x="3144894" y="2948962"/>
                        <a:ext cx="1656184" cy="782449"/>
                      </a:xfrm>
                      <a:prstGeom prst="rect">
                        <a:avLst/>
                      </a:prstGeom>
                      <a:noFill/>
                      <a:ln w="9525">
                        <a:noFill/>
                      </a:ln>
                    </p:spPr>
                  </p:pic>
                </p:oleObj>
              </mc:Fallback>
            </mc:AlternateContent>
          </a:graphicData>
        </a:graphic>
      </p:graphicFrame>
      <p:graphicFrame>
        <p:nvGraphicFramePr>
          <p:cNvPr id="37894" name="Object 12"/>
          <p:cNvGraphicFramePr>
            <a:graphicFrameLocks noChangeAspect="1"/>
          </p:cNvGraphicFramePr>
          <p:nvPr/>
        </p:nvGraphicFramePr>
        <p:xfrm>
          <a:off x="3096634" y="4239599"/>
          <a:ext cx="1823042" cy="723855"/>
        </p:xfrm>
        <a:graphic>
          <a:graphicData uri="http://schemas.openxmlformats.org/presentationml/2006/ole">
            <mc:AlternateContent xmlns:mc="http://schemas.openxmlformats.org/markup-compatibility/2006">
              <mc:Choice xmlns:v="urn:schemas-microsoft-com:vml" Requires="v">
                <p:oleObj spid="_x0000_s27767" name="Equation" r:id="rId11" imgW="22555200" imgH="9448800" progId="">
                  <p:embed/>
                </p:oleObj>
              </mc:Choice>
              <mc:Fallback>
                <p:oleObj name="Equation" r:id="rId11" imgW="22555200" imgH="9448800" progId="">
                  <p:embed/>
                  <p:pic>
                    <p:nvPicPr>
                      <p:cNvPr id="0" name="图片 27732"/>
                      <p:cNvPicPr>
                        <a:picLocks noChangeAspect="1"/>
                      </p:cNvPicPr>
                      <p:nvPr/>
                    </p:nvPicPr>
                    <p:blipFill>
                      <a:blip r:embed="rId12"/>
                      <a:stretch>
                        <a:fillRect/>
                      </a:stretch>
                    </p:blipFill>
                    <p:spPr>
                      <a:xfrm>
                        <a:off x="3096634" y="4239599"/>
                        <a:ext cx="1823042" cy="723855"/>
                      </a:xfrm>
                      <a:prstGeom prst="rect">
                        <a:avLst/>
                      </a:prstGeom>
                      <a:noFill/>
                      <a:ln w="9525">
                        <a:noFill/>
                      </a:ln>
                    </p:spPr>
                  </p:pic>
                </p:oleObj>
              </mc:Fallback>
            </mc:AlternateContent>
          </a:graphicData>
        </a:graphic>
      </p:graphicFrame>
      <p:graphicFrame>
        <p:nvGraphicFramePr>
          <p:cNvPr id="37895" name="Object 13"/>
          <p:cNvGraphicFramePr>
            <a:graphicFrameLocks noChangeAspect="1"/>
          </p:cNvGraphicFramePr>
          <p:nvPr/>
        </p:nvGraphicFramePr>
        <p:xfrm>
          <a:off x="3178871" y="5390559"/>
          <a:ext cx="1720192" cy="723855"/>
        </p:xfrm>
        <a:graphic>
          <a:graphicData uri="http://schemas.openxmlformats.org/presentationml/2006/ole">
            <mc:AlternateContent xmlns:mc="http://schemas.openxmlformats.org/markup-compatibility/2006">
              <mc:Choice xmlns:v="urn:schemas-microsoft-com:vml" Requires="v">
                <p:oleObj spid="_x0000_s27768" name="Equation" r:id="rId13" imgW="24688800" imgH="9448800" progId="">
                  <p:embed/>
                </p:oleObj>
              </mc:Choice>
              <mc:Fallback>
                <p:oleObj name="Equation" r:id="rId13" imgW="24688800" imgH="9448800" progId="">
                  <p:embed/>
                  <p:pic>
                    <p:nvPicPr>
                      <p:cNvPr id="0" name="图片 27733"/>
                      <p:cNvPicPr>
                        <a:picLocks noChangeAspect="1"/>
                      </p:cNvPicPr>
                      <p:nvPr/>
                    </p:nvPicPr>
                    <p:blipFill>
                      <a:blip r:embed="rId14"/>
                      <a:stretch>
                        <a:fillRect/>
                      </a:stretch>
                    </p:blipFill>
                    <p:spPr>
                      <a:xfrm>
                        <a:off x="3178871" y="5390559"/>
                        <a:ext cx="1720192" cy="723855"/>
                      </a:xfrm>
                      <a:prstGeom prst="rect">
                        <a:avLst/>
                      </a:prstGeom>
                      <a:noFill/>
                      <a:ln w="9525">
                        <a:noFill/>
                      </a:ln>
                    </p:spPr>
                  </p:pic>
                </p:oleObj>
              </mc:Fallback>
            </mc:AlternateContent>
          </a:graphicData>
        </a:graphic>
      </p:graphicFrame>
      <p:pic>
        <p:nvPicPr>
          <p:cNvPr id="37896" name="Picture 14"/>
          <p:cNvPicPr>
            <a:picLocks noChangeAspect="1" noChangeArrowheads="1"/>
          </p:cNvPicPr>
          <p:nvPr/>
        </p:nvPicPr>
        <p:blipFill>
          <a:blip r:embed="rId15" cstate="print"/>
          <a:srcRect/>
          <a:stretch>
            <a:fillRect/>
          </a:stretch>
        </p:blipFill>
        <p:spPr bwMode="auto">
          <a:xfrm>
            <a:off x="5872090" y="2636912"/>
            <a:ext cx="2777629" cy="1925067"/>
          </a:xfrm>
          <a:prstGeom prst="rect">
            <a:avLst/>
          </a:prstGeom>
          <a:noFill/>
          <a:ln w="9525">
            <a:noFill/>
            <a:miter lim="800000"/>
            <a:headEnd/>
            <a:tailEnd/>
          </a:ln>
        </p:spPr>
      </p:pic>
      <p:graphicFrame>
        <p:nvGraphicFramePr>
          <p:cNvPr id="37897" name="Object 15"/>
          <p:cNvGraphicFramePr>
            <a:graphicFrameLocks noChangeAspect="1"/>
          </p:cNvGraphicFramePr>
          <p:nvPr/>
        </p:nvGraphicFramePr>
        <p:xfrm>
          <a:off x="857131" y="1260101"/>
          <a:ext cx="2519363" cy="815975"/>
        </p:xfrm>
        <a:graphic>
          <a:graphicData uri="http://schemas.openxmlformats.org/presentationml/2006/ole">
            <mc:AlternateContent xmlns:mc="http://schemas.openxmlformats.org/markup-compatibility/2006">
              <mc:Choice xmlns:v="urn:schemas-microsoft-com:vml" Requires="v">
                <p:oleObj spid="_x0000_s27769" name="Equation" r:id="rId16" imgW="33832800" imgH="10363200" progId="">
                  <p:embed/>
                </p:oleObj>
              </mc:Choice>
              <mc:Fallback>
                <p:oleObj name="Equation" r:id="rId16" imgW="33832800" imgH="10363200" progId="">
                  <p:embed/>
                  <p:pic>
                    <p:nvPicPr>
                      <p:cNvPr id="0" name="图片 27734"/>
                      <p:cNvPicPr>
                        <a:picLocks noChangeAspect="1"/>
                      </p:cNvPicPr>
                      <p:nvPr/>
                    </p:nvPicPr>
                    <p:blipFill>
                      <a:blip r:embed="rId17"/>
                      <a:stretch>
                        <a:fillRect/>
                      </a:stretch>
                    </p:blipFill>
                    <p:spPr>
                      <a:xfrm>
                        <a:off x="857131" y="1260101"/>
                        <a:ext cx="2519363" cy="815975"/>
                      </a:xfrm>
                      <a:prstGeom prst="rect">
                        <a:avLst/>
                      </a:prstGeom>
                      <a:noFill/>
                      <a:ln w="9525">
                        <a:noFill/>
                      </a:ln>
                    </p:spPr>
                  </p:pic>
                </p:oleObj>
              </mc:Fallback>
            </mc:AlternateContent>
          </a:graphicData>
        </a:graphic>
      </p:graphicFrame>
      <p:sp>
        <p:nvSpPr>
          <p:cNvPr id="37898" name="Text Box 12"/>
          <p:cNvSpPr txBox="1">
            <a:spLocks noChangeArrowheads="1"/>
          </p:cNvSpPr>
          <p:nvPr/>
        </p:nvSpPr>
        <p:spPr bwMode="auto">
          <a:xfrm>
            <a:off x="287338" y="802526"/>
            <a:ext cx="2663825" cy="40005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通过</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的电流：</a:t>
            </a:r>
            <a:endParaRPr lang="en-US" altLang="zh-CN" sz="2000" b="1" dirty="0">
              <a:solidFill>
                <a:srgbClr val="000000"/>
              </a:solidFill>
              <a:latin typeface="Times New Roman" panose="02020603050405020304" pitchFamily="18" charset="0"/>
            </a:endParaRPr>
          </a:p>
        </p:txBody>
      </p:sp>
      <p:graphicFrame>
        <p:nvGraphicFramePr>
          <p:cNvPr id="37899" name="Object 16"/>
          <p:cNvGraphicFramePr>
            <a:graphicFrameLocks noChangeAspect="1"/>
          </p:cNvGraphicFramePr>
          <p:nvPr/>
        </p:nvGraphicFramePr>
        <p:xfrm>
          <a:off x="899592" y="774227"/>
          <a:ext cx="503237" cy="447675"/>
        </p:xfrm>
        <a:graphic>
          <a:graphicData uri="http://schemas.openxmlformats.org/presentationml/2006/ole">
            <mc:AlternateContent xmlns:mc="http://schemas.openxmlformats.org/markup-compatibility/2006">
              <mc:Choice xmlns:v="urn:schemas-microsoft-com:vml" Requires="v">
                <p:oleObj spid="_x0000_s27770" name="Equation" r:id="rId18" imgW="4572000" imgH="5486400" progId="">
                  <p:embed/>
                </p:oleObj>
              </mc:Choice>
              <mc:Fallback>
                <p:oleObj name="Equation" r:id="rId18" imgW="4572000" imgH="5486400" progId="">
                  <p:embed/>
                  <p:pic>
                    <p:nvPicPr>
                      <p:cNvPr id="0" name="图片 27735"/>
                      <p:cNvPicPr>
                        <a:picLocks noChangeAspect="1"/>
                      </p:cNvPicPr>
                      <p:nvPr/>
                    </p:nvPicPr>
                    <p:blipFill>
                      <a:blip r:embed="rId19"/>
                      <a:stretch>
                        <a:fillRect/>
                      </a:stretch>
                    </p:blipFill>
                    <p:spPr>
                      <a:xfrm>
                        <a:off x="899592" y="774227"/>
                        <a:ext cx="503237" cy="447675"/>
                      </a:xfrm>
                      <a:prstGeom prst="rect">
                        <a:avLst/>
                      </a:prstGeom>
                      <a:noFill/>
                      <a:ln w="9525">
                        <a:noFill/>
                      </a:ln>
                    </p:spPr>
                  </p:pic>
                </p:oleObj>
              </mc:Fallback>
            </mc:AlternateContent>
          </a:graphicData>
        </a:graphic>
      </p:graphicFrame>
      <p:pic>
        <p:nvPicPr>
          <p:cNvPr id="18" name="Picture 7"/>
          <p:cNvPicPr>
            <a:picLocks noChangeAspect="1" noChangeArrowheads="1"/>
          </p:cNvPicPr>
          <p:nvPr/>
        </p:nvPicPr>
        <p:blipFill>
          <a:blip r:embed="rId20" cstate="print"/>
          <a:srcRect/>
          <a:stretch>
            <a:fillRect/>
          </a:stretch>
        </p:blipFill>
        <p:spPr bwMode="auto">
          <a:xfrm>
            <a:off x="4217840" y="279127"/>
            <a:ext cx="4820730" cy="1803946"/>
          </a:xfrm>
          <a:prstGeom prst="rect">
            <a:avLst/>
          </a:prstGeom>
          <a:noFill/>
          <a:ln w="9525">
            <a:noFill/>
            <a:miter lim="800000"/>
            <a:headEnd/>
            <a:tailEnd/>
          </a:ln>
        </p:spPr>
      </p:pic>
      <p:sp>
        <p:nvSpPr>
          <p:cNvPr id="5" name="灯片编号占位符 4"/>
          <p:cNvSpPr>
            <a:spLocks noGrp="1"/>
          </p:cNvSpPr>
          <p:nvPr>
            <p:ph type="sldNum" sz="quarter" idx="11"/>
          </p:nvPr>
        </p:nvSpPr>
        <p:spPr/>
        <p:txBody>
          <a:bodyPr/>
          <a:lstStyle/>
          <a:p>
            <a:pPr>
              <a:defRPr/>
            </a:pPr>
            <a:fld id="{B4B73163-A66D-4D54-9D0B-1A3A291F3030}" type="slidenum">
              <a:rPr lang="en-US" altLang="zh-CN" smtClean="0">
                <a:solidFill>
                  <a:srgbClr val="000000"/>
                </a:solidFill>
              </a:rPr>
              <a:t>45</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1"/>
          </p:nvPr>
        </p:nvSpPr>
        <p:spPr/>
        <p:txBody>
          <a:bodyPr/>
          <a:lstStyle/>
          <a:p>
            <a:pPr>
              <a:defRPr/>
            </a:pPr>
            <a:fld id="{B4B73163-A66D-4D54-9D0B-1A3A291F3030}" type="slidenum">
              <a:rPr lang="en-US" altLang="zh-CN" smtClean="0">
                <a:solidFill>
                  <a:srgbClr val="000000"/>
                </a:solidFill>
              </a:rPr>
              <a:t>46</a:t>
            </a:fld>
            <a:endParaRPr lang="en-US" altLang="zh-CN">
              <a:solidFill>
                <a:srgbClr val="000000"/>
              </a:solidFill>
            </a:endParaRPr>
          </a:p>
        </p:txBody>
      </p:sp>
      <p:pic>
        <p:nvPicPr>
          <p:cNvPr id="7" name="图片 6"/>
          <p:cNvPicPr>
            <a:picLocks noChangeAspect="1"/>
          </p:cNvPicPr>
          <p:nvPr/>
        </p:nvPicPr>
        <p:blipFill>
          <a:blip r:embed="rId2"/>
          <a:stretch>
            <a:fillRect/>
          </a:stretch>
        </p:blipFill>
        <p:spPr>
          <a:xfrm>
            <a:off x="179512" y="332656"/>
            <a:ext cx="8712968" cy="821852"/>
          </a:xfrm>
          <a:prstGeom prst="rect">
            <a:avLst/>
          </a:prstGeom>
        </p:spPr>
      </p:pic>
      <p:pic>
        <p:nvPicPr>
          <p:cNvPr id="8" name="图片 7"/>
          <p:cNvPicPr>
            <a:picLocks noChangeAspect="1"/>
          </p:cNvPicPr>
          <p:nvPr/>
        </p:nvPicPr>
        <p:blipFill>
          <a:blip r:embed="rId3"/>
          <a:stretch>
            <a:fillRect/>
          </a:stretch>
        </p:blipFill>
        <p:spPr>
          <a:xfrm>
            <a:off x="5000628" y="1142984"/>
            <a:ext cx="3951704" cy="2157417"/>
          </a:xfrm>
          <a:prstGeom prst="rect">
            <a:avLst/>
          </a:prstGeom>
        </p:spPr>
      </p:pic>
      <p:sp>
        <p:nvSpPr>
          <p:cNvPr id="5" name="TextBox 4"/>
          <p:cNvSpPr txBox="1"/>
          <p:nvPr/>
        </p:nvSpPr>
        <p:spPr>
          <a:xfrm>
            <a:off x="776160" y="1357298"/>
            <a:ext cx="4224467" cy="4247317"/>
          </a:xfrm>
          <a:prstGeom prst="rect">
            <a:avLst/>
          </a:prstGeom>
          <a:noFill/>
        </p:spPr>
        <p:txBody>
          <a:bodyPr wrap="square" rtlCol="0">
            <a:spAutoFit/>
          </a:bodyPr>
          <a:lstStyle/>
          <a:p>
            <a:r>
              <a:rPr lang="zh-CN" altLang="en-US" dirty="0" smtClean="0"/>
              <a:t>解：</a:t>
            </a:r>
            <a:r>
              <a:rPr lang="en-US" altLang="zh-CN" dirty="0" err="1" smtClean="0"/>
              <a:t>Rth</a:t>
            </a:r>
            <a:r>
              <a:rPr lang="en-US" altLang="zh-CN" dirty="0" smtClean="0"/>
              <a:t> = 60||180=45 (Ʊ)</a:t>
            </a:r>
          </a:p>
          <a:p>
            <a:endParaRPr lang="en-US" altLang="zh-CN" dirty="0" smtClean="0"/>
          </a:p>
          <a:p>
            <a:r>
              <a:rPr lang="zh-CN" altLang="en-US" dirty="0" smtClean="0"/>
              <a:t>用叠加法求</a:t>
            </a:r>
            <a:r>
              <a:rPr lang="en-US" altLang="zh-CN" dirty="0" err="1" smtClean="0"/>
              <a:t>Vth</a:t>
            </a:r>
            <a:endParaRPr lang="en-US" altLang="zh-CN" dirty="0" smtClean="0"/>
          </a:p>
          <a:p>
            <a:endParaRPr lang="en-US" altLang="zh-CN" dirty="0" smtClean="0"/>
          </a:p>
          <a:p>
            <a:r>
              <a:rPr lang="en-US" altLang="zh-CN" dirty="0" err="1" smtClean="0"/>
              <a:t>Vth</a:t>
            </a:r>
            <a:r>
              <a:rPr lang="en-US" altLang="zh-CN" dirty="0" smtClean="0"/>
              <a:t>=(60/240)x180x2=90(V)</a:t>
            </a:r>
          </a:p>
          <a:p>
            <a:endParaRPr lang="en-US" altLang="zh-CN" dirty="0" smtClean="0"/>
          </a:p>
          <a:p>
            <a:r>
              <a:rPr lang="zh-CN" altLang="en-US" dirty="0" smtClean="0"/>
              <a:t>说明</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）先考虑只有</a:t>
            </a:r>
            <a:r>
              <a:rPr lang="en-US" altLang="zh-CN" dirty="0" smtClean="0">
                <a:sym typeface="Wingdings" panose="05000000000000000000" pitchFamily="2" charset="2"/>
              </a:rPr>
              <a:t>180V</a:t>
            </a:r>
            <a:r>
              <a:rPr lang="zh-CN" altLang="en-US" dirty="0" smtClean="0">
                <a:sym typeface="Wingdings" panose="05000000000000000000" pitchFamily="2" charset="2"/>
              </a:rPr>
              <a:t>电压源的情况，</a:t>
            </a:r>
            <a:r>
              <a:rPr lang="en-US" altLang="zh-CN" dirty="0" smtClean="0">
                <a:sym typeface="Wingdings" panose="05000000000000000000" pitchFamily="2" charset="2"/>
              </a:rPr>
              <a:t>60</a:t>
            </a:r>
            <a:r>
              <a:rPr lang="zh-CN" altLang="en-US" dirty="0" smtClean="0">
                <a:sym typeface="Wingdings" panose="05000000000000000000" pitchFamily="2" charset="2"/>
              </a:rPr>
              <a:t>欧姆电阻的分压为</a:t>
            </a:r>
            <a:r>
              <a:rPr lang="en-US" altLang="zh-CN" dirty="0" smtClean="0"/>
              <a:t>(60/</a:t>
            </a:r>
            <a:r>
              <a:rPr lang="zh-CN" altLang="en-US" dirty="0" smtClean="0"/>
              <a:t>（</a:t>
            </a:r>
            <a:r>
              <a:rPr lang="en-US" altLang="zh-CN" dirty="0" smtClean="0"/>
              <a:t>90+90+60</a:t>
            </a:r>
            <a:r>
              <a:rPr lang="zh-CN" altLang="en-US" dirty="0" smtClean="0"/>
              <a:t>）</a:t>
            </a:r>
            <a:r>
              <a:rPr lang="en-US" altLang="zh-CN" dirty="0" smtClean="0"/>
              <a:t>)x180  </a:t>
            </a:r>
            <a:r>
              <a:rPr lang="zh-CN" altLang="en-US" dirty="0" smtClean="0"/>
              <a:t>；</a:t>
            </a:r>
            <a:endParaRPr lang="en-US" altLang="zh-CN" dirty="0" smtClean="0"/>
          </a:p>
          <a:p>
            <a:endParaRPr lang="en-US" altLang="zh-CN" dirty="0" smtClean="0"/>
          </a:p>
          <a:p>
            <a:r>
              <a:rPr lang="en-US" altLang="zh-CN" dirty="0" smtClean="0"/>
              <a:t>(2) </a:t>
            </a:r>
            <a:r>
              <a:rPr lang="zh-CN" altLang="en-US" dirty="0" smtClean="0"/>
              <a:t>考虑只有电流源的情况：</a:t>
            </a:r>
            <a:endParaRPr lang="en-US" altLang="zh-CN" dirty="0" smtClean="0"/>
          </a:p>
          <a:p>
            <a:r>
              <a:rPr lang="zh-CN" altLang="en-US" dirty="0" smtClean="0"/>
              <a:t>将“电流源和</a:t>
            </a:r>
            <a:r>
              <a:rPr lang="en-US" altLang="zh-CN" dirty="0" smtClean="0"/>
              <a:t>90</a:t>
            </a:r>
            <a:r>
              <a:rPr lang="zh-CN" altLang="en-US" dirty="0" smtClean="0"/>
              <a:t>欧姆电阻”并联，改为</a:t>
            </a:r>
            <a:r>
              <a:rPr lang="en-US" altLang="zh-CN" dirty="0" smtClean="0"/>
              <a:t>180V</a:t>
            </a:r>
            <a:r>
              <a:rPr lang="zh-CN" altLang="en-US" dirty="0" smtClean="0"/>
              <a:t>电压源和</a:t>
            </a:r>
            <a:r>
              <a:rPr lang="en-US" altLang="zh-CN" dirty="0" smtClean="0"/>
              <a:t>90</a:t>
            </a:r>
            <a:r>
              <a:rPr lang="zh-CN" altLang="en-US" dirty="0" smtClean="0"/>
              <a:t>欧姆电阻串联，</a:t>
            </a:r>
            <a:endParaRPr lang="en-US" altLang="zh-CN" dirty="0" smtClean="0"/>
          </a:p>
          <a:p>
            <a:r>
              <a:rPr lang="en-US" altLang="zh-CN" dirty="0" smtClean="0">
                <a:sym typeface="Wingdings" panose="05000000000000000000" pitchFamily="2" charset="2"/>
              </a:rPr>
              <a:t>60</a:t>
            </a:r>
            <a:r>
              <a:rPr lang="zh-CN" altLang="en-US" dirty="0" smtClean="0">
                <a:sym typeface="Wingdings" panose="05000000000000000000" pitchFamily="2" charset="2"/>
              </a:rPr>
              <a:t>欧姆电阻的分压为</a:t>
            </a:r>
            <a:r>
              <a:rPr lang="en-US" altLang="zh-CN" dirty="0" smtClean="0"/>
              <a:t>(60/</a:t>
            </a:r>
            <a:r>
              <a:rPr lang="zh-CN" altLang="en-US" dirty="0" smtClean="0"/>
              <a:t>（</a:t>
            </a:r>
            <a:r>
              <a:rPr lang="en-US" altLang="zh-CN" dirty="0" smtClean="0"/>
              <a:t>90+90+60</a:t>
            </a:r>
            <a:r>
              <a:rPr lang="zh-CN" altLang="en-US" dirty="0" smtClean="0"/>
              <a:t>）</a:t>
            </a:r>
            <a:r>
              <a:rPr lang="en-US" altLang="zh-CN" dirty="0" smtClean="0"/>
              <a:t>)x180</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84213" y="765175"/>
            <a:ext cx="7848600" cy="1016000"/>
          </a:xfrm>
          <a:prstGeom prst="rect">
            <a:avLst/>
          </a:prstGeom>
          <a:noFill/>
          <a:ln w="9525">
            <a:noFill/>
            <a:miter lim="800000"/>
          </a:ln>
        </p:spPr>
        <p:txBody>
          <a:bodyPr>
            <a:spAutoFit/>
          </a:bodyPr>
          <a:lstStyle/>
          <a:p>
            <a:pPr fontAlgn="base">
              <a:spcBef>
                <a:spcPct val="50000"/>
              </a:spcBef>
              <a:spcAft>
                <a:spcPct val="0"/>
              </a:spcAft>
            </a:pPr>
            <a:r>
              <a:rPr lang="zh-CN" altLang="en-US" sz="2400" b="1" dirty="0" smtClean="0">
                <a:solidFill>
                  <a:srgbClr val="FF0000"/>
                </a:solidFill>
                <a:latin typeface="Times New Roman" panose="02020603050405020304" pitchFamily="18" charset="0"/>
              </a:rPr>
              <a:t>例</a:t>
            </a:r>
            <a:r>
              <a:rPr lang="en-US" altLang="zh-CN" sz="2400" b="1" dirty="0" smtClean="0">
                <a:solidFill>
                  <a:srgbClr val="FF0000"/>
                </a:solidFill>
                <a:latin typeface="Times New Roman" panose="02020603050405020304" pitchFamily="18" charset="0"/>
              </a:rPr>
              <a:t>4-9</a:t>
            </a:r>
            <a:r>
              <a:rPr lang="zh-CN" altLang="en-US" sz="2400" b="1" dirty="0" smtClean="0">
                <a:solidFill>
                  <a:srgbClr val="FF0000"/>
                </a:solidFill>
                <a:latin typeface="Times New Roman" panose="02020603050405020304" pitchFamily="18" charset="0"/>
              </a:rPr>
              <a:t>：</a:t>
            </a:r>
            <a:r>
              <a:rPr lang="en-US" altLang="zh-CN" sz="2400" b="1" dirty="0" smtClean="0">
                <a:solidFill>
                  <a:srgbClr val="FF0000"/>
                </a:solidFill>
                <a:latin typeface="Times New Roman" panose="02020603050405020304" pitchFamily="18" charset="0"/>
              </a:rPr>
              <a:t> </a:t>
            </a:r>
            <a:r>
              <a:rPr lang="en-US" altLang="zh-CN" sz="2400" b="1" dirty="0">
                <a:solidFill>
                  <a:srgbClr val="CCCCE6"/>
                </a:solidFill>
                <a:latin typeface="Times New Roman" panose="02020603050405020304" pitchFamily="18" charset="0"/>
              </a:rPr>
              <a:t>(</a:t>
            </a:r>
            <a:r>
              <a:rPr lang="zh-CN" altLang="en-US" sz="2400" b="1" dirty="0">
                <a:solidFill>
                  <a:srgbClr val="CCCCE6"/>
                </a:solidFill>
                <a:latin typeface="Times New Roman" panose="02020603050405020304" pitchFamily="18" charset="0"/>
              </a:rPr>
              <a:t>含受控源</a:t>
            </a:r>
            <a:r>
              <a:rPr lang="en-US" altLang="zh-CN" sz="2400" b="1" dirty="0">
                <a:solidFill>
                  <a:srgbClr val="CCCCE6"/>
                </a:solidFill>
                <a:latin typeface="Times New Roman" panose="02020603050405020304" pitchFamily="18" charset="0"/>
              </a:rPr>
              <a:t>)</a:t>
            </a:r>
          </a:p>
          <a:p>
            <a:pPr fontAlgn="base">
              <a:spcBef>
                <a:spcPct val="50000"/>
              </a:spcBef>
              <a:spcAft>
                <a:spcPct val="0"/>
              </a:spcAft>
            </a:pPr>
            <a:r>
              <a:rPr lang="zh-CN" altLang="en-US" sz="24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求出图示电路的戴维南等效电路。</a:t>
            </a:r>
            <a:endParaRPr lang="en-US" altLang="zh-CN" sz="2400" b="1" dirty="0">
              <a:solidFill>
                <a:srgbClr val="000000"/>
              </a:solidFill>
              <a:latin typeface="Times New Roman" panose="02020603050405020304" pitchFamily="18" charset="0"/>
            </a:endParaRPr>
          </a:p>
        </p:txBody>
      </p:sp>
      <p:pic>
        <p:nvPicPr>
          <p:cNvPr id="38915" name="Picture 3"/>
          <p:cNvPicPr>
            <a:picLocks noChangeAspect="1" noChangeArrowheads="1"/>
          </p:cNvPicPr>
          <p:nvPr/>
        </p:nvPicPr>
        <p:blipFill>
          <a:blip r:embed="rId2" cstate="print"/>
          <a:srcRect/>
          <a:stretch>
            <a:fillRect/>
          </a:stretch>
        </p:blipFill>
        <p:spPr bwMode="auto">
          <a:xfrm>
            <a:off x="1116013" y="2225749"/>
            <a:ext cx="5184179" cy="3690864"/>
          </a:xfrm>
          <a:prstGeom prst="rect">
            <a:avLst/>
          </a:prstGeom>
          <a:noFill/>
          <a:ln w="9525">
            <a:noFill/>
            <a:miter lim="800000"/>
            <a:headEnd/>
            <a:tailEnd/>
          </a:ln>
        </p:spPr>
      </p:pic>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47</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4" cstate="print"/>
          <a:srcRect/>
          <a:stretch>
            <a:fillRect/>
          </a:stretch>
        </p:blipFill>
        <p:spPr bwMode="auto">
          <a:xfrm>
            <a:off x="5364164" y="3349210"/>
            <a:ext cx="3518411" cy="2715454"/>
          </a:xfrm>
          <a:prstGeom prst="rect">
            <a:avLst/>
          </a:prstGeom>
          <a:noFill/>
          <a:ln w="9525">
            <a:noFill/>
            <a:miter lim="800000"/>
            <a:headEnd/>
            <a:tailEnd/>
          </a:ln>
        </p:spPr>
      </p:pic>
      <p:grpSp>
        <p:nvGrpSpPr>
          <p:cNvPr id="2" name="Group 3"/>
          <p:cNvGrpSpPr/>
          <p:nvPr/>
        </p:nvGrpSpPr>
        <p:grpSpPr bwMode="auto">
          <a:xfrm>
            <a:off x="426244" y="2337488"/>
            <a:ext cx="4897438" cy="1784350"/>
            <a:chOff x="204" y="935"/>
            <a:chExt cx="3085" cy="1124"/>
          </a:xfrm>
        </p:grpSpPr>
        <p:sp>
          <p:nvSpPr>
            <p:cNvPr id="39948" name="Text Box 4"/>
            <p:cNvSpPr txBox="1">
              <a:spLocks noChangeArrowheads="1"/>
            </p:cNvSpPr>
            <p:nvPr/>
          </p:nvSpPr>
          <p:spPr bwMode="auto">
            <a:xfrm>
              <a:off x="204" y="935"/>
              <a:ext cx="3085" cy="1124"/>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a:p>
              <a:pPr fontAlgn="base">
                <a:spcBef>
                  <a:spcPct val="50000"/>
                </a:spcBef>
                <a:spcAft>
                  <a:spcPct val="0"/>
                </a:spcAft>
              </a:pPr>
              <a:r>
                <a:rPr lang="en-US" altLang="zh-CN" sz="2000" dirty="0">
                  <a:solidFill>
                    <a:srgbClr val="000000"/>
                  </a:solidFill>
                </a:rPr>
                <a:t>(1)</a:t>
              </a:r>
              <a:r>
                <a:rPr lang="zh-CN" altLang="en-US" sz="2000" dirty="0">
                  <a:solidFill>
                    <a:srgbClr val="000000"/>
                  </a:solidFill>
                </a:rPr>
                <a:t>求</a:t>
              </a:r>
              <a:r>
                <a:rPr lang="en-US" altLang="zh-CN" sz="2000" i="1" dirty="0" err="1">
                  <a:solidFill>
                    <a:srgbClr val="000000"/>
                  </a:solidFill>
                  <a:latin typeface="Times New Roman" panose="02020603050405020304" pitchFamily="18" charset="0"/>
                  <a:cs typeface="Times New Roman" panose="02020603050405020304" pitchFamily="18" charset="0"/>
                </a:rPr>
                <a:t>R</a:t>
              </a:r>
              <a:r>
                <a:rPr lang="en-US" altLang="zh-CN" sz="2000" baseline="-25000" dirty="0" err="1">
                  <a:solidFill>
                    <a:srgbClr val="000000"/>
                  </a:solidFill>
                  <a:latin typeface="Times New Roman" panose="02020603050405020304" pitchFamily="18" charset="0"/>
                  <a:cs typeface="Times New Roman" panose="02020603050405020304" pitchFamily="18" charset="0"/>
                </a:rPr>
                <a:t>Th</a:t>
              </a:r>
              <a:endParaRPr lang="en-US" altLang="zh-CN" sz="2000" baseline="-25000" dirty="0">
                <a:solidFill>
                  <a:srgbClr val="000000"/>
                </a:solidFill>
                <a:latin typeface="Times New Roman" panose="02020603050405020304" pitchFamily="18" charset="0"/>
                <a:cs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用电压源       </a:t>
              </a:r>
              <a:r>
                <a:rPr lang="en-US" altLang="zh-CN" sz="2000" b="1" dirty="0">
                  <a:solidFill>
                    <a:srgbClr val="000000"/>
                  </a:solidFill>
                  <a:latin typeface="Times New Roman" panose="02020603050405020304" pitchFamily="18" charset="0"/>
                </a:rPr>
                <a:t>=1V</a:t>
              </a:r>
              <a:r>
                <a:rPr lang="zh-CN" altLang="en-US" sz="2000" b="1" dirty="0">
                  <a:solidFill>
                    <a:srgbClr val="000000"/>
                  </a:solidFill>
                  <a:latin typeface="Times New Roman" panose="02020603050405020304" pitchFamily="18" charset="0"/>
                </a:rPr>
                <a:t>  激发网络：</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en-US" altLang="zh-CN" sz="2000" dirty="0">
                  <a:solidFill>
                    <a:srgbClr val="000000"/>
                  </a:solidFill>
                  <a:latin typeface="Times New Roman" panose="02020603050405020304" pitchFamily="18" charset="0"/>
                </a:rPr>
                <a:t>                                                               </a:t>
              </a:r>
            </a:p>
          </p:txBody>
        </p:sp>
        <p:graphicFrame>
          <p:nvGraphicFramePr>
            <p:cNvPr id="39949" name="Object 5"/>
            <p:cNvGraphicFramePr>
              <a:graphicFrameLocks noChangeAspect="1"/>
            </p:cNvGraphicFramePr>
            <p:nvPr/>
          </p:nvGraphicFramePr>
          <p:xfrm>
            <a:off x="956" y="1473"/>
            <a:ext cx="217" cy="317"/>
          </p:xfrm>
          <a:graphic>
            <a:graphicData uri="http://schemas.openxmlformats.org/presentationml/2006/ole">
              <mc:AlternateContent xmlns:mc="http://schemas.openxmlformats.org/markup-compatibility/2006">
                <mc:Choice xmlns:v="urn:schemas-microsoft-com:vml" Requires="v">
                  <p:oleObj spid="_x0000_s28731" name="Equation" r:id="rId5" imgW="3657600" imgH="5486400" progId="">
                    <p:embed/>
                  </p:oleObj>
                </mc:Choice>
                <mc:Fallback>
                  <p:oleObj name="Equation" r:id="rId5" imgW="3657600" imgH="5486400" progId="">
                    <p:embed/>
                    <p:pic>
                      <p:nvPicPr>
                        <p:cNvPr id="0" name="图片 28672"/>
                        <p:cNvPicPr>
                          <a:picLocks noChangeAspect="1"/>
                        </p:cNvPicPr>
                        <p:nvPr/>
                      </p:nvPicPr>
                      <p:blipFill>
                        <a:blip r:embed="rId6"/>
                        <a:stretch>
                          <a:fillRect/>
                        </a:stretch>
                      </p:blipFill>
                      <p:spPr>
                        <a:xfrm>
                          <a:off x="956" y="1473"/>
                          <a:ext cx="217" cy="317"/>
                        </a:xfrm>
                        <a:prstGeom prst="rect">
                          <a:avLst/>
                        </a:prstGeom>
                        <a:noFill/>
                        <a:ln w="9525">
                          <a:noFill/>
                        </a:ln>
                      </p:spPr>
                    </p:pic>
                  </p:oleObj>
                </mc:Fallback>
              </mc:AlternateContent>
            </a:graphicData>
          </a:graphic>
        </p:graphicFrame>
      </p:grpSp>
      <p:graphicFrame>
        <p:nvGraphicFramePr>
          <p:cNvPr id="39940" name="Object 6"/>
          <p:cNvGraphicFramePr>
            <a:graphicFrameLocks noChangeAspect="1"/>
          </p:cNvGraphicFramePr>
          <p:nvPr/>
        </p:nvGraphicFramePr>
        <p:xfrm>
          <a:off x="2124075" y="3726550"/>
          <a:ext cx="1728788" cy="790575"/>
        </p:xfrm>
        <a:graphic>
          <a:graphicData uri="http://schemas.openxmlformats.org/presentationml/2006/ole">
            <mc:AlternateContent xmlns:mc="http://schemas.openxmlformats.org/markup-compatibility/2006">
              <mc:Choice xmlns:v="urn:schemas-microsoft-com:vml" Requires="v">
                <p:oleObj spid="_x0000_s28732" name="Equation" r:id="rId7" imgW="14935200" imgH="8229600" progId="">
                  <p:embed/>
                </p:oleObj>
              </mc:Choice>
              <mc:Fallback>
                <p:oleObj name="Equation" r:id="rId7" imgW="14935200" imgH="8229600" progId="">
                  <p:embed/>
                  <p:pic>
                    <p:nvPicPr>
                      <p:cNvPr id="0" name="图片 28713"/>
                      <p:cNvPicPr>
                        <a:picLocks noChangeAspect="1"/>
                      </p:cNvPicPr>
                      <p:nvPr/>
                    </p:nvPicPr>
                    <p:blipFill>
                      <a:blip r:embed="rId8"/>
                      <a:stretch>
                        <a:fillRect/>
                      </a:stretch>
                    </p:blipFill>
                    <p:spPr>
                      <a:xfrm>
                        <a:off x="2124075" y="3726550"/>
                        <a:ext cx="1728788" cy="790575"/>
                      </a:xfrm>
                      <a:prstGeom prst="rect">
                        <a:avLst/>
                      </a:prstGeom>
                      <a:noFill/>
                      <a:ln w="9525">
                        <a:noFill/>
                      </a:ln>
                    </p:spPr>
                  </p:pic>
                </p:oleObj>
              </mc:Fallback>
            </mc:AlternateContent>
          </a:graphicData>
        </a:graphic>
      </p:graphicFrame>
      <p:sp>
        <p:nvSpPr>
          <p:cNvPr id="39941" name="Text Box 7"/>
          <p:cNvSpPr txBox="1">
            <a:spLocks noChangeArrowheads="1"/>
          </p:cNvSpPr>
          <p:nvPr/>
        </p:nvSpPr>
        <p:spPr bwMode="auto">
          <a:xfrm>
            <a:off x="539329" y="4595183"/>
            <a:ext cx="1944687"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回路</a:t>
            </a:r>
            <a:r>
              <a:rPr lang="en-US" altLang="zh-CN" sz="2000" b="1" dirty="0">
                <a:solidFill>
                  <a:srgbClr val="0000FF"/>
                </a:solidFill>
                <a:latin typeface="Times New Roman" panose="02020603050405020304" pitchFamily="18" charset="0"/>
              </a:rPr>
              <a:t>1:</a:t>
            </a:r>
            <a:endParaRPr lang="en-US" altLang="zh-CN" sz="2000" b="1" dirty="0">
              <a:solidFill>
                <a:srgbClr val="000000"/>
              </a:solidFill>
              <a:latin typeface="Times New Roman" panose="02020603050405020304" pitchFamily="18" charset="0"/>
            </a:endParaRPr>
          </a:p>
        </p:txBody>
      </p:sp>
      <p:sp>
        <p:nvSpPr>
          <p:cNvPr id="39942" name="Text Box 8"/>
          <p:cNvSpPr txBox="1">
            <a:spLocks noChangeArrowheads="1"/>
          </p:cNvSpPr>
          <p:nvPr/>
        </p:nvSpPr>
        <p:spPr bwMode="auto">
          <a:xfrm>
            <a:off x="6634567" y="6048265"/>
            <a:ext cx="1368425" cy="396875"/>
          </a:xfrm>
          <a:prstGeom prst="rect">
            <a:avLst/>
          </a:prstGeom>
          <a:noFill/>
          <a:ln w="9525">
            <a:noFill/>
            <a:miter lim="800000"/>
          </a:ln>
        </p:spPr>
        <p:txBody>
          <a:bodyPr>
            <a:spAutoFit/>
          </a:bodyPr>
          <a:lstStyle/>
          <a:p>
            <a:pPr fontAlgn="base">
              <a:spcBef>
                <a:spcPct val="50000"/>
              </a:spcBef>
              <a:spcAft>
                <a:spcPct val="0"/>
              </a:spcAft>
            </a:pPr>
            <a:r>
              <a:rPr lang="zh-CN" altLang="en-US" sz="2000" dirty="0">
                <a:solidFill>
                  <a:srgbClr val="000000"/>
                </a:solidFill>
              </a:rPr>
              <a:t>求</a:t>
            </a:r>
            <a:r>
              <a:rPr lang="en-US" altLang="zh-CN" sz="2000" i="1" dirty="0" err="1">
                <a:solidFill>
                  <a:srgbClr val="000000"/>
                </a:solidFill>
                <a:latin typeface="Times New Roman" panose="02020603050405020304" pitchFamily="18" charset="0"/>
                <a:cs typeface="Times New Roman" panose="02020603050405020304" pitchFamily="18" charset="0"/>
              </a:rPr>
              <a:t>R</a:t>
            </a:r>
            <a:r>
              <a:rPr lang="en-US" altLang="zh-CN" sz="2000" baseline="-25000" dirty="0" err="1">
                <a:solidFill>
                  <a:srgbClr val="000000"/>
                </a:solidFill>
                <a:latin typeface="Times New Roman" panose="02020603050405020304" pitchFamily="18" charset="0"/>
                <a:cs typeface="Times New Roman" panose="02020603050405020304" pitchFamily="18" charset="0"/>
              </a:rPr>
              <a:t>Th</a:t>
            </a:r>
            <a:endParaRPr lang="en-US" altLang="zh-CN" sz="2000" baseline="-25000" dirty="0">
              <a:solidFill>
                <a:srgbClr val="000000"/>
              </a:solidFill>
              <a:latin typeface="Times New Roman" panose="02020603050405020304" pitchFamily="18" charset="0"/>
              <a:cs typeface="Times New Roman" panose="02020603050405020304" pitchFamily="18" charset="0"/>
            </a:endParaRPr>
          </a:p>
        </p:txBody>
      </p:sp>
      <p:graphicFrame>
        <p:nvGraphicFramePr>
          <p:cNvPr id="39943" name="Object 9"/>
          <p:cNvGraphicFramePr>
            <a:graphicFrameLocks noChangeAspect="1"/>
          </p:cNvGraphicFramePr>
          <p:nvPr/>
        </p:nvGraphicFramePr>
        <p:xfrm>
          <a:off x="1700213" y="5060449"/>
          <a:ext cx="2962276" cy="510982"/>
        </p:xfrm>
        <a:graphic>
          <a:graphicData uri="http://schemas.openxmlformats.org/presentationml/2006/ole">
            <mc:AlternateContent xmlns:mc="http://schemas.openxmlformats.org/markup-compatibility/2006">
              <mc:Choice xmlns:v="urn:schemas-microsoft-com:vml" Requires="v">
                <p:oleObj spid="_x0000_s28733" name="Equation" r:id="rId9" imgW="28651200" imgH="5486400" progId="">
                  <p:embed/>
                </p:oleObj>
              </mc:Choice>
              <mc:Fallback>
                <p:oleObj name="Equation" r:id="rId9" imgW="28651200" imgH="5486400" progId="">
                  <p:embed/>
                  <p:pic>
                    <p:nvPicPr>
                      <p:cNvPr id="0" name="图片 28714"/>
                      <p:cNvPicPr>
                        <a:picLocks noChangeAspect="1"/>
                      </p:cNvPicPr>
                      <p:nvPr/>
                    </p:nvPicPr>
                    <p:blipFill>
                      <a:blip r:embed="rId10"/>
                      <a:stretch>
                        <a:fillRect/>
                      </a:stretch>
                    </p:blipFill>
                    <p:spPr>
                      <a:xfrm>
                        <a:off x="1700213" y="5060449"/>
                        <a:ext cx="2962276" cy="510982"/>
                      </a:xfrm>
                      <a:prstGeom prst="rect">
                        <a:avLst/>
                      </a:prstGeom>
                      <a:noFill/>
                      <a:ln w="9525">
                        <a:noFill/>
                      </a:ln>
                    </p:spPr>
                  </p:pic>
                </p:oleObj>
              </mc:Fallback>
            </mc:AlternateContent>
          </a:graphicData>
        </a:graphic>
      </p:graphicFrame>
      <p:sp>
        <p:nvSpPr>
          <p:cNvPr id="39944" name="Text Box 12"/>
          <p:cNvSpPr txBox="1">
            <a:spLocks noChangeArrowheads="1"/>
          </p:cNvSpPr>
          <p:nvPr/>
        </p:nvSpPr>
        <p:spPr bwMode="auto">
          <a:xfrm>
            <a:off x="444312" y="5732231"/>
            <a:ext cx="3744912"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且</a:t>
            </a:r>
            <a:endParaRPr lang="en-US" altLang="zh-CN" sz="2000" b="1" dirty="0">
              <a:solidFill>
                <a:srgbClr val="000000"/>
              </a:solidFill>
              <a:latin typeface="Times New Roman" panose="02020603050405020304" pitchFamily="18" charset="0"/>
            </a:endParaRPr>
          </a:p>
        </p:txBody>
      </p:sp>
      <p:graphicFrame>
        <p:nvGraphicFramePr>
          <p:cNvPr id="39945" name="Object 13"/>
          <p:cNvGraphicFramePr>
            <a:graphicFrameLocks noChangeAspect="1"/>
          </p:cNvGraphicFramePr>
          <p:nvPr/>
        </p:nvGraphicFramePr>
        <p:xfrm>
          <a:off x="1546338" y="5638509"/>
          <a:ext cx="1039813" cy="469900"/>
        </p:xfrm>
        <a:graphic>
          <a:graphicData uri="http://schemas.openxmlformats.org/presentationml/2006/ole">
            <mc:AlternateContent xmlns:mc="http://schemas.openxmlformats.org/markup-compatibility/2006">
              <mc:Choice xmlns:v="urn:schemas-microsoft-com:vml" Requires="v">
                <p:oleObj spid="_x0000_s28734" name="Equation" r:id="rId11" imgW="13716000" imgH="5486400" progId="">
                  <p:embed/>
                </p:oleObj>
              </mc:Choice>
              <mc:Fallback>
                <p:oleObj name="Equation" r:id="rId11" imgW="13716000" imgH="5486400" progId="">
                  <p:embed/>
                  <p:pic>
                    <p:nvPicPr>
                      <p:cNvPr id="0" name="图片 28715"/>
                      <p:cNvPicPr>
                        <a:picLocks noChangeAspect="1"/>
                      </p:cNvPicPr>
                      <p:nvPr/>
                    </p:nvPicPr>
                    <p:blipFill>
                      <a:blip r:embed="rId12"/>
                      <a:stretch>
                        <a:fillRect/>
                      </a:stretch>
                    </p:blipFill>
                    <p:spPr>
                      <a:xfrm>
                        <a:off x="1546338" y="5638509"/>
                        <a:ext cx="1039813" cy="469900"/>
                      </a:xfrm>
                      <a:prstGeom prst="rect">
                        <a:avLst/>
                      </a:prstGeom>
                      <a:noFill/>
                      <a:ln w="9525">
                        <a:noFill/>
                      </a:ln>
                    </p:spPr>
                  </p:pic>
                </p:oleObj>
              </mc:Fallback>
            </mc:AlternateContent>
          </a:graphicData>
        </a:graphic>
      </p:graphicFrame>
      <p:sp>
        <p:nvSpPr>
          <p:cNvPr id="39946" name="矩形 16"/>
          <p:cNvSpPr>
            <a:spLocks noChangeArrowheads="1"/>
          </p:cNvSpPr>
          <p:nvPr/>
        </p:nvSpPr>
        <p:spPr bwMode="auto">
          <a:xfrm>
            <a:off x="981075" y="5144394"/>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①</a:t>
            </a:r>
          </a:p>
        </p:txBody>
      </p:sp>
      <p:sp>
        <p:nvSpPr>
          <p:cNvPr id="39947" name="矩形 17"/>
          <p:cNvSpPr>
            <a:spLocks noChangeArrowheads="1"/>
          </p:cNvSpPr>
          <p:nvPr/>
        </p:nvSpPr>
        <p:spPr bwMode="auto">
          <a:xfrm>
            <a:off x="970076" y="5711534"/>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②</a:t>
            </a:r>
          </a:p>
        </p:txBody>
      </p:sp>
      <p:pic>
        <p:nvPicPr>
          <p:cNvPr id="14" name="Picture 3"/>
          <p:cNvPicPr>
            <a:picLocks noChangeAspect="1" noChangeArrowheads="1"/>
          </p:cNvPicPr>
          <p:nvPr/>
        </p:nvPicPr>
        <p:blipFill>
          <a:blip r:embed="rId13" cstate="print"/>
          <a:srcRect/>
          <a:stretch>
            <a:fillRect/>
          </a:stretch>
        </p:blipFill>
        <p:spPr bwMode="auto">
          <a:xfrm>
            <a:off x="2365587" y="60245"/>
            <a:ext cx="3831313" cy="2727694"/>
          </a:xfrm>
          <a:prstGeom prst="rect">
            <a:avLst/>
          </a:prstGeom>
          <a:noFill/>
          <a:ln w="9525">
            <a:noFill/>
            <a:miter lim="800000"/>
            <a:headEnd/>
            <a:tailEnd/>
          </a:ln>
        </p:spPr>
      </p:pic>
      <p:sp>
        <p:nvSpPr>
          <p:cNvPr id="3" name="灯片编号占位符 2"/>
          <p:cNvSpPr>
            <a:spLocks noGrp="1"/>
          </p:cNvSpPr>
          <p:nvPr>
            <p:ph type="sldNum" sz="quarter" idx="11"/>
          </p:nvPr>
        </p:nvSpPr>
        <p:spPr/>
        <p:txBody>
          <a:bodyPr/>
          <a:lstStyle/>
          <a:p>
            <a:pPr>
              <a:defRPr/>
            </a:pPr>
            <a:fld id="{B5E5724E-2106-4ECF-A33D-8E4B743D716F}" type="slidenum">
              <a:rPr lang="en-US" altLang="zh-CN" smtClean="0">
                <a:solidFill>
                  <a:srgbClr val="000000"/>
                </a:solidFill>
              </a:rPr>
              <a:t>48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11188" y="908050"/>
            <a:ext cx="4681537"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对于</a:t>
            </a:r>
            <a:r>
              <a:rPr lang="zh-CN" altLang="en-US" sz="2000" b="1" dirty="0">
                <a:solidFill>
                  <a:srgbClr val="002060"/>
                </a:solidFill>
                <a:latin typeface="Times New Roman" panose="02020603050405020304" pitchFamily="18" charset="0"/>
              </a:rPr>
              <a:t>回路</a:t>
            </a:r>
            <a:r>
              <a:rPr lang="en-US" altLang="zh-CN" sz="2000" b="1" dirty="0">
                <a:solidFill>
                  <a:srgbClr val="0000FF"/>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和</a:t>
            </a:r>
            <a:r>
              <a:rPr lang="en-US" altLang="zh-CN" sz="2000" b="1" dirty="0">
                <a:solidFill>
                  <a:srgbClr val="0000FF"/>
                </a:solidFill>
                <a:latin typeface="Times New Roman" panose="02020603050405020304" pitchFamily="18" charset="0"/>
              </a:rPr>
              <a:t>3</a:t>
            </a:r>
            <a:r>
              <a:rPr lang="en-US" altLang="zh-CN" sz="2000" b="1" dirty="0">
                <a:solidFill>
                  <a:srgbClr val="000000"/>
                </a:solidFill>
                <a:latin typeface="Times New Roman" panose="02020603050405020304" pitchFamily="18" charset="0"/>
              </a:rPr>
              <a:t>, </a:t>
            </a:r>
          </a:p>
        </p:txBody>
      </p:sp>
      <p:graphicFrame>
        <p:nvGraphicFramePr>
          <p:cNvPr id="40963" name="Object 3"/>
          <p:cNvGraphicFramePr>
            <a:graphicFrameLocks noGrp="1" noChangeAspect="1"/>
          </p:cNvGraphicFramePr>
          <p:nvPr>
            <p:ph/>
          </p:nvPr>
        </p:nvGraphicFramePr>
        <p:xfrm>
          <a:off x="1476375" y="1512888"/>
          <a:ext cx="3810000" cy="509587"/>
        </p:xfrm>
        <a:graphic>
          <a:graphicData uri="http://schemas.openxmlformats.org/presentationml/2006/ole">
            <mc:AlternateContent xmlns:mc="http://schemas.openxmlformats.org/markup-compatibility/2006">
              <mc:Choice xmlns:v="urn:schemas-microsoft-com:vml" Requires="v">
                <p:oleObj spid="_x0000_s29769" name="Equation" r:id="rId4" imgW="41148000" imgH="5486400" progId="">
                  <p:embed/>
                </p:oleObj>
              </mc:Choice>
              <mc:Fallback>
                <p:oleObj name="Equation" r:id="rId4" imgW="41148000" imgH="5486400" progId="">
                  <p:embed/>
                  <p:pic>
                    <p:nvPicPr>
                      <p:cNvPr id="0" name="图片 29696"/>
                      <p:cNvPicPr>
                        <a:picLocks noGrp="1" noChangeAspect="1"/>
                      </p:cNvPicPr>
                      <p:nvPr/>
                    </p:nvPicPr>
                    <p:blipFill>
                      <a:blip r:embed="rId5"/>
                      <a:stretch>
                        <a:fillRect/>
                      </a:stretch>
                    </p:blipFill>
                    <p:spPr>
                      <a:xfrm>
                        <a:off x="1476375" y="1512888"/>
                        <a:ext cx="3810000" cy="509587"/>
                      </a:xfrm>
                      <a:prstGeom prst="rect">
                        <a:avLst/>
                      </a:prstGeom>
                      <a:noFill/>
                      <a:ln w="9525">
                        <a:noFill/>
                      </a:ln>
                    </p:spPr>
                  </p:pic>
                </p:oleObj>
              </mc:Fallback>
            </mc:AlternateContent>
          </a:graphicData>
        </a:graphic>
      </p:graphicFrame>
      <p:graphicFrame>
        <p:nvGraphicFramePr>
          <p:cNvPr id="40964" name="Object 4"/>
          <p:cNvGraphicFramePr>
            <a:graphicFrameLocks noChangeAspect="1"/>
          </p:cNvGraphicFramePr>
          <p:nvPr/>
        </p:nvGraphicFramePr>
        <p:xfrm>
          <a:off x="1500188" y="2286000"/>
          <a:ext cx="2662237" cy="515938"/>
        </p:xfrm>
        <a:graphic>
          <a:graphicData uri="http://schemas.openxmlformats.org/presentationml/2006/ole">
            <mc:AlternateContent xmlns:mc="http://schemas.openxmlformats.org/markup-compatibility/2006">
              <mc:Choice xmlns:v="urn:schemas-microsoft-com:vml" Requires="v">
                <p:oleObj spid="_x0000_s29770" name="Equation" r:id="rId6" imgW="30175200" imgH="5486400" progId="">
                  <p:embed/>
                </p:oleObj>
              </mc:Choice>
              <mc:Fallback>
                <p:oleObj name="Equation" r:id="rId6" imgW="30175200" imgH="5486400" progId="">
                  <p:embed/>
                  <p:pic>
                    <p:nvPicPr>
                      <p:cNvPr id="0" name="图片 29747"/>
                      <p:cNvPicPr>
                        <a:picLocks noChangeAspect="1"/>
                      </p:cNvPicPr>
                      <p:nvPr/>
                    </p:nvPicPr>
                    <p:blipFill>
                      <a:blip r:embed="rId7"/>
                      <a:stretch>
                        <a:fillRect/>
                      </a:stretch>
                    </p:blipFill>
                    <p:spPr>
                      <a:xfrm>
                        <a:off x="1500188" y="2286000"/>
                        <a:ext cx="2662237" cy="515938"/>
                      </a:xfrm>
                      <a:prstGeom prst="rect">
                        <a:avLst/>
                      </a:prstGeom>
                      <a:noFill/>
                      <a:ln w="9525">
                        <a:noFill/>
                      </a:ln>
                    </p:spPr>
                  </p:pic>
                </p:oleObj>
              </mc:Fallback>
            </mc:AlternateContent>
          </a:graphicData>
        </a:graphic>
      </p:graphicFrame>
      <p:sp>
        <p:nvSpPr>
          <p:cNvPr id="40965" name="Text Box 5"/>
          <p:cNvSpPr txBox="1">
            <a:spLocks noChangeArrowheads="1"/>
          </p:cNvSpPr>
          <p:nvPr/>
        </p:nvSpPr>
        <p:spPr bwMode="auto">
          <a:xfrm>
            <a:off x="971550" y="3468688"/>
            <a:ext cx="1223963" cy="461962"/>
          </a:xfrm>
          <a:prstGeom prst="rect">
            <a:avLst/>
          </a:prstGeom>
          <a:noFill/>
          <a:ln w="9525">
            <a:noFill/>
            <a:miter lim="800000"/>
          </a:ln>
        </p:spPr>
        <p:txBody>
          <a:bodyPr>
            <a:spAutoFit/>
          </a:bodyPr>
          <a:lstStyle/>
          <a:p>
            <a:pPr fontAlgn="base">
              <a:spcBef>
                <a:spcPct val="50000"/>
              </a:spcBef>
              <a:spcAft>
                <a:spcPct val="0"/>
              </a:spcAft>
            </a:pPr>
            <a:r>
              <a:rPr lang="zh-CN" altLang="en-US" sz="2400" b="1" dirty="0">
                <a:solidFill>
                  <a:srgbClr val="000000"/>
                </a:solidFill>
                <a:latin typeface="Times New Roman" panose="02020603050405020304" pitchFamily="18" charset="0"/>
              </a:rPr>
              <a:t>可解得</a:t>
            </a:r>
            <a:r>
              <a:rPr lang="en-US" altLang="zh-CN" sz="2400" b="1" dirty="0">
                <a:solidFill>
                  <a:srgbClr val="000000"/>
                </a:solidFill>
                <a:latin typeface="Times New Roman" panose="02020603050405020304" pitchFamily="18" charset="0"/>
              </a:rPr>
              <a:t>:</a:t>
            </a:r>
          </a:p>
        </p:txBody>
      </p:sp>
      <p:graphicFrame>
        <p:nvGraphicFramePr>
          <p:cNvPr id="40966" name="Object 6"/>
          <p:cNvGraphicFramePr>
            <a:graphicFrameLocks noChangeAspect="1"/>
          </p:cNvGraphicFramePr>
          <p:nvPr/>
        </p:nvGraphicFramePr>
        <p:xfrm>
          <a:off x="2358984" y="3268436"/>
          <a:ext cx="1223963" cy="815567"/>
        </p:xfrm>
        <a:graphic>
          <a:graphicData uri="http://schemas.openxmlformats.org/presentationml/2006/ole">
            <mc:AlternateContent xmlns:mc="http://schemas.openxmlformats.org/markup-compatibility/2006">
              <mc:Choice xmlns:v="urn:schemas-microsoft-com:vml" Requires="v">
                <p:oleObj spid="_x0000_s29771" name="Equation" r:id="rId8" imgW="14630400" imgH="9448800" progId="">
                  <p:embed/>
                </p:oleObj>
              </mc:Choice>
              <mc:Fallback>
                <p:oleObj name="Equation" r:id="rId8" imgW="14630400" imgH="9448800" progId="">
                  <p:embed/>
                  <p:pic>
                    <p:nvPicPr>
                      <p:cNvPr id="0" name="图片 29748"/>
                      <p:cNvPicPr>
                        <a:picLocks noChangeAspect="1"/>
                      </p:cNvPicPr>
                      <p:nvPr/>
                    </p:nvPicPr>
                    <p:blipFill>
                      <a:blip r:embed="rId9"/>
                      <a:stretch>
                        <a:fillRect/>
                      </a:stretch>
                    </p:blipFill>
                    <p:spPr>
                      <a:xfrm>
                        <a:off x="2358984" y="3268436"/>
                        <a:ext cx="1223963" cy="815567"/>
                      </a:xfrm>
                      <a:prstGeom prst="rect">
                        <a:avLst/>
                      </a:prstGeom>
                      <a:noFill/>
                      <a:ln w="9525">
                        <a:noFill/>
                      </a:ln>
                    </p:spPr>
                  </p:pic>
                </p:oleObj>
              </mc:Fallback>
            </mc:AlternateContent>
          </a:graphicData>
        </a:graphic>
      </p:graphicFrame>
      <p:grpSp>
        <p:nvGrpSpPr>
          <p:cNvPr id="2" name="Group 7"/>
          <p:cNvGrpSpPr/>
          <p:nvPr/>
        </p:nvGrpSpPr>
        <p:grpSpPr bwMode="auto">
          <a:xfrm>
            <a:off x="611188" y="4292600"/>
            <a:ext cx="4103687" cy="863600"/>
            <a:chOff x="703" y="2840"/>
            <a:chExt cx="2585" cy="544"/>
          </a:xfrm>
        </p:grpSpPr>
        <p:sp>
          <p:nvSpPr>
            <p:cNvPr id="40972" name="Text Box 8"/>
            <p:cNvSpPr txBox="1">
              <a:spLocks noChangeArrowheads="1"/>
            </p:cNvSpPr>
            <p:nvPr/>
          </p:nvSpPr>
          <p:spPr bwMode="auto">
            <a:xfrm>
              <a:off x="703" y="2976"/>
              <a:ext cx="2585" cy="25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而</a:t>
              </a:r>
              <a:r>
                <a:rPr lang="en-US" altLang="zh-CN" sz="2000" b="1" dirty="0">
                  <a:solidFill>
                    <a:srgbClr val="000000"/>
                  </a:solidFill>
                  <a:latin typeface="Times New Roman" panose="02020603050405020304" pitchFamily="18" charset="0"/>
                </a:rPr>
                <a:t>                         .  </a:t>
              </a:r>
              <a:r>
                <a:rPr lang="zh-CN" altLang="en-US" sz="2000" b="1" dirty="0">
                  <a:solidFill>
                    <a:srgbClr val="000000"/>
                  </a:solidFill>
                  <a:latin typeface="Times New Roman" panose="02020603050405020304" pitchFamily="18" charset="0"/>
                </a:rPr>
                <a:t>，因此：</a:t>
              </a:r>
              <a:r>
                <a:rPr lang="en-US" altLang="zh-CN" sz="2000" b="1" dirty="0">
                  <a:solidFill>
                    <a:srgbClr val="000000"/>
                  </a:solidFill>
                  <a:latin typeface="Times New Roman" panose="02020603050405020304" pitchFamily="18" charset="0"/>
                </a:rPr>
                <a:t>  </a:t>
              </a:r>
            </a:p>
          </p:txBody>
        </p:sp>
        <p:graphicFrame>
          <p:nvGraphicFramePr>
            <p:cNvPr id="40973" name="Object 9"/>
            <p:cNvGraphicFramePr>
              <a:graphicFrameLocks noChangeAspect="1"/>
            </p:cNvGraphicFramePr>
            <p:nvPr/>
          </p:nvGraphicFramePr>
          <p:xfrm>
            <a:off x="1020" y="2840"/>
            <a:ext cx="953" cy="544"/>
          </p:xfrm>
          <a:graphic>
            <a:graphicData uri="http://schemas.openxmlformats.org/presentationml/2006/ole">
              <mc:AlternateContent xmlns:mc="http://schemas.openxmlformats.org/markup-compatibility/2006">
                <mc:Choice xmlns:v="urn:schemas-microsoft-com:vml" Requires="v">
                  <p:oleObj spid="_x0000_s29772" name="Equation" r:id="rId10" imgW="20116800" imgH="9448800" progId="">
                    <p:embed/>
                  </p:oleObj>
                </mc:Choice>
                <mc:Fallback>
                  <p:oleObj name="Equation" r:id="rId10" imgW="20116800" imgH="9448800" progId="">
                    <p:embed/>
                    <p:pic>
                      <p:nvPicPr>
                        <p:cNvPr id="0" name="图片 29749"/>
                        <p:cNvPicPr>
                          <a:picLocks noChangeAspect="1"/>
                        </p:cNvPicPr>
                        <p:nvPr/>
                      </p:nvPicPr>
                      <p:blipFill>
                        <a:blip r:embed="rId11"/>
                        <a:stretch>
                          <a:fillRect/>
                        </a:stretch>
                      </p:blipFill>
                      <p:spPr>
                        <a:xfrm>
                          <a:off x="1020" y="2840"/>
                          <a:ext cx="953" cy="544"/>
                        </a:xfrm>
                        <a:prstGeom prst="rect">
                          <a:avLst/>
                        </a:prstGeom>
                        <a:noFill/>
                        <a:ln w="9525">
                          <a:noFill/>
                        </a:ln>
                      </p:spPr>
                    </p:pic>
                  </p:oleObj>
                </mc:Fallback>
              </mc:AlternateContent>
            </a:graphicData>
          </a:graphic>
        </p:graphicFrame>
      </p:grpSp>
      <p:graphicFrame>
        <p:nvGraphicFramePr>
          <p:cNvPr id="40968" name="Object 10"/>
          <p:cNvGraphicFramePr>
            <a:graphicFrameLocks noChangeAspect="1"/>
          </p:cNvGraphicFramePr>
          <p:nvPr/>
        </p:nvGraphicFramePr>
        <p:xfrm>
          <a:off x="3047529" y="4994391"/>
          <a:ext cx="2229792" cy="977668"/>
        </p:xfrm>
        <a:graphic>
          <a:graphicData uri="http://schemas.openxmlformats.org/presentationml/2006/ole">
            <mc:AlternateContent xmlns:mc="http://schemas.openxmlformats.org/markup-compatibility/2006">
              <mc:Choice xmlns:v="urn:schemas-microsoft-com:vml" Requires="v">
                <p:oleObj spid="_x0000_s29773" name="Equation" r:id="rId12" imgW="21945600" imgH="10363200" progId="">
                  <p:embed/>
                </p:oleObj>
              </mc:Choice>
              <mc:Fallback>
                <p:oleObj name="Equation" r:id="rId12" imgW="21945600" imgH="10363200" progId="">
                  <p:embed/>
                  <p:pic>
                    <p:nvPicPr>
                      <p:cNvPr id="0" name="图片 29750"/>
                      <p:cNvPicPr>
                        <a:picLocks noChangeAspect="1"/>
                      </p:cNvPicPr>
                      <p:nvPr/>
                    </p:nvPicPr>
                    <p:blipFill>
                      <a:blip r:embed="rId13"/>
                      <a:stretch>
                        <a:fillRect/>
                      </a:stretch>
                    </p:blipFill>
                    <p:spPr>
                      <a:xfrm>
                        <a:off x="3047529" y="4994391"/>
                        <a:ext cx="2229792" cy="977668"/>
                      </a:xfrm>
                      <a:prstGeom prst="rect">
                        <a:avLst/>
                      </a:prstGeom>
                      <a:noFill/>
                      <a:ln w="9525">
                        <a:noFill/>
                      </a:ln>
                    </p:spPr>
                  </p:pic>
                </p:oleObj>
              </mc:Fallback>
            </mc:AlternateContent>
          </a:graphicData>
        </a:graphic>
      </p:graphicFrame>
      <p:sp>
        <p:nvSpPr>
          <p:cNvPr id="40969" name="矩形 12"/>
          <p:cNvSpPr>
            <a:spLocks noChangeArrowheads="1"/>
          </p:cNvSpPr>
          <p:nvPr/>
        </p:nvSpPr>
        <p:spPr bwMode="auto">
          <a:xfrm>
            <a:off x="971550" y="1628775"/>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③</a:t>
            </a:r>
          </a:p>
        </p:txBody>
      </p:sp>
      <p:sp>
        <p:nvSpPr>
          <p:cNvPr id="40970" name="矩形 13"/>
          <p:cNvSpPr>
            <a:spLocks noChangeArrowheads="1"/>
          </p:cNvSpPr>
          <p:nvPr/>
        </p:nvSpPr>
        <p:spPr bwMode="auto">
          <a:xfrm>
            <a:off x="971550" y="2349500"/>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④</a:t>
            </a:r>
          </a:p>
        </p:txBody>
      </p:sp>
      <p:pic>
        <p:nvPicPr>
          <p:cNvPr id="40971" name="Picture 2"/>
          <p:cNvPicPr>
            <a:picLocks noChangeAspect="1" noChangeArrowheads="1"/>
          </p:cNvPicPr>
          <p:nvPr/>
        </p:nvPicPr>
        <p:blipFill>
          <a:blip r:embed="rId14" cstate="print"/>
          <a:srcRect/>
          <a:stretch>
            <a:fillRect/>
          </a:stretch>
        </p:blipFill>
        <p:spPr bwMode="auto">
          <a:xfrm>
            <a:off x="5429250" y="642938"/>
            <a:ext cx="3455988" cy="2667000"/>
          </a:xfrm>
          <a:prstGeom prst="rect">
            <a:avLst/>
          </a:prstGeom>
          <a:noFill/>
          <a:ln w="9525">
            <a:noFill/>
            <a:miter lim="800000"/>
            <a:headEnd/>
            <a:tailEnd/>
          </a:ln>
        </p:spPr>
      </p:pic>
      <p:sp>
        <p:nvSpPr>
          <p:cNvPr id="14" name="Text Box 8"/>
          <p:cNvSpPr txBox="1">
            <a:spLocks noChangeArrowheads="1"/>
          </p:cNvSpPr>
          <p:nvPr/>
        </p:nvSpPr>
        <p:spPr bwMode="auto">
          <a:xfrm>
            <a:off x="6660232" y="3533775"/>
            <a:ext cx="1368425" cy="396875"/>
          </a:xfrm>
          <a:prstGeom prst="rect">
            <a:avLst/>
          </a:prstGeom>
          <a:noFill/>
          <a:ln w="9525">
            <a:noFill/>
            <a:miter lim="800000"/>
          </a:ln>
        </p:spPr>
        <p:txBody>
          <a:bodyPr>
            <a:spAutoFit/>
          </a:bodyPr>
          <a:lstStyle/>
          <a:p>
            <a:pPr fontAlgn="base">
              <a:spcBef>
                <a:spcPct val="50000"/>
              </a:spcBef>
              <a:spcAft>
                <a:spcPct val="0"/>
              </a:spcAft>
            </a:pPr>
            <a:r>
              <a:rPr lang="zh-CN" altLang="en-US" sz="2000" dirty="0">
                <a:solidFill>
                  <a:srgbClr val="000000"/>
                </a:solidFill>
              </a:rPr>
              <a:t>求</a:t>
            </a:r>
            <a:r>
              <a:rPr lang="en-US" altLang="zh-CN" sz="2000" i="1" dirty="0" err="1">
                <a:solidFill>
                  <a:srgbClr val="000000"/>
                </a:solidFill>
                <a:latin typeface="Times New Roman" panose="02020603050405020304" pitchFamily="18" charset="0"/>
                <a:cs typeface="Times New Roman" panose="02020603050405020304" pitchFamily="18" charset="0"/>
              </a:rPr>
              <a:t>R</a:t>
            </a:r>
            <a:r>
              <a:rPr lang="en-US" altLang="zh-CN" sz="2000" baseline="-25000" dirty="0" err="1">
                <a:solidFill>
                  <a:srgbClr val="000000"/>
                </a:solidFill>
                <a:latin typeface="Times New Roman" panose="02020603050405020304" pitchFamily="18" charset="0"/>
                <a:cs typeface="Times New Roman" panose="02020603050405020304" pitchFamily="18" charset="0"/>
              </a:rPr>
              <a:t>Th</a:t>
            </a:r>
            <a:endParaRPr lang="en-US" altLang="zh-CN" sz="2000" baseline="-25000" dirty="0">
              <a:solidFill>
                <a:srgbClr val="00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B5E5724E-2106-4ECF-A33D-8E4B743D716F}" type="slidenum">
              <a:rPr lang="en-US" altLang="zh-CN" smtClean="0">
                <a:solidFill>
                  <a:srgbClr val="000000"/>
                </a:solidFill>
              </a:rPr>
              <a:t>49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cstate="print"/>
          <a:srcRect/>
          <a:stretch>
            <a:fillRect/>
          </a:stretch>
        </p:blipFill>
        <p:spPr bwMode="auto">
          <a:xfrm>
            <a:off x="5244268" y="4797152"/>
            <a:ext cx="2232025" cy="1914525"/>
          </a:xfrm>
          <a:prstGeom prst="rect">
            <a:avLst/>
          </a:prstGeom>
          <a:noFill/>
          <a:ln w="9525">
            <a:noFill/>
            <a:miter lim="800000"/>
            <a:headEnd/>
            <a:tailEnd/>
          </a:ln>
        </p:spPr>
      </p:pic>
      <p:sp>
        <p:nvSpPr>
          <p:cNvPr id="41987" name="Text Box 3"/>
          <p:cNvSpPr txBox="1">
            <a:spLocks noChangeArrowheads="1"/>
          </p:cNvSpPr>
          <p:nvPr/>
        </p:nvSpPr>
        <p:spPr bwMode="auto">
          <a:xfrm>
            <a:off x="1258888" y="1484313"/>
            <a:ext cx="1584325" cy="366712"/>
          </a:xfrm>
          <a:prstGeom prst="rect">
            <a:avLst/>
          </a:prstGeom>
          <a:noFill/>
          <a:ln w="9525">
            <a:noFill/>
            <a:miter lim="800000"/>
          </a:ln>
        </p:spPr>
        <p:txBody>
          <a:bodyPr>
            <a:spAutoFit/>
          </a:bodyPr>
          <a:lstStyle/>
          <a:p>
            <a:pPr fontAlgn="base">
              <a:spcBef>
                <a:spcPct val="50000"/>
              </a:spcBef>
              <a:spcAft>
                <a:spcPct val="0"/>
              </a:spcAft>
            </a:pPr>
            <a:endParaRPr lang="zh-CN" altLang="zh-CN">
              <a:solidFill>
                <a:srgbClr val="000000"/>
              </a:solidFill>
            </a:endParaRPr>
          </a:p>
        </p:txBody>
      </p:sp>
      <p:pic>
        <p:nvPicPr>
          <p:cNvPr id="41988" name="Picture 4"/>
          <p:cNvPicPr>
            <a:picLocks noChangeAspect="1" noChangeArrowheads="1"/>
          </p:cNvPicPr>
          <p:nvPr/>
        </p:nvPicPr>
        <p:blipFill>
          <a:blip r:embed="rId4" cstate="print"/>
          <a:srcRect/>
          <a:stretch>
            <a:fillRect/>
          </a:stretch>
        </p:blipFill>
        <p:spPr bwMode="auto">
          <a:xfrm>
            <a:off x="4929981" y="261899"/>
            <a:ext cx="3744913" cy="2838528"/>
          </a:xfrm>
          <a:prstGeom prst="rect">
            <a:avLst/>
          </a:prstGeom>
          <a:noFill/>
          <a:ln w="9525">
            <a:noFill/>
            <a:miter lim="800000"/>
            <a:headEnd/>
            <a:tailEnd/>
          </a:ln>
        </p:spPr>
      </p:pic>
      <p:sp>
        <p:nvSpPr>
          <p:cNvPr id="41989" name="Text Box 5"/>
          <p:cNvSpPr txBox="1">
            <a:spLocks noChangeArrowheads="1"/>
          </p:cNvSpPr>
          <p:nvPr/>
        </p:nvSpPr>
        <p:spPr bwMode="auto">
          <a:xfrm>
            <a:off x="6516216" y="3062287"/>
            <a:ext cx="1366837" cy="396875"/>
          </a:xfrm>
          <a:prstGeom prst="rect">
            <a:avLst/>
          </a:prstGeom>
          <a:noFill/>
          <a:ln w="9525">
            <a:noFill/>
            <a:miter lim="800000"/>
          </a:ln>
        </p:spPr>
        <p:txBody>
          <a:bodyPr>
            <a:spAutoFit/>
          </a:bodyPr>
          <a:lstStyle/>
          <a:p>
            <a:pPr fontAlgn="base">
              <a:spcBef>
                <a:spcPct val="50000"/>
              </a:spcBef>
              <a:spcAft>
                <a:spcPct val="0"/>
              </a:spcAft>
            </a:pPr>
            <a:r>
              <a:rPr lang="zh-CN" altLang="en-US" sz="2000" dirty="0">
                <a:solidFill>
                  <a:srgbClr val="000000"/>
                </a:solidFill>
              </a:rPr>
              <a:t>求</a:t>
            </a:r>
            <a:r>
              <a:rPr lang="en-US" altLang="zh-CN" sz="2000" i="1" dirty="0" err="1">
                <a:solidFill>
                  <a:srgbClr val="000000"/>
                </a:solidFill>
                <a:latin typeface="Times New Roman" panose="02020603050405020304" pitchFamily="18" charset="0"/>
                <a:cs typeface="Times New Roman" panose="02020603050405020304" pitchFamily="18" charset="0"/>
              </a:rPr>
              <a:t>V</a:t>
            </a:r>
            <a:r>
              <a:rPr lang="en-US" altLang="zh-CN" sz="2000" baseline="-25000" dirty="0" err="1">
                <a:solidFill>
                  <a:srgbClr val="000000"/>
                </a:solidFill>
                <a:latin typeface="Times New Roman" panose="02020603050405020304" pitchFamily="18" charset="0"/>
                <a:cs typeface="Times New Roman" panose="02020603050405020304" pitchFamily="18" charset="0"/>
              </a:rPr>
              <a:t>Th</a:t>
            </a:r>
            <a:endParaRPr lang="en-US" altLang="zh-CN" sz="2000" baseline="-25000" dirty="0">
              <a:solidFill>
                <a:srgbClr val="000000"/>
              </a:solidFill>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250825" y="823913"/>
            <a:ext cx="4967288" cy="947739"/>
            <a:chOff x="295" y="428"/>
            <a:chExt cx="3129" cy="597"/>
          </a:xfrm>
        </p:grpSpPr>
        <p:sp>
          <p:nvSpPr>
            <p:cNvPr id="42002" name="Text Box 7"/>
            <p:cNvSpPr txBox="1">
              <a:spLocks noChangeArrowheads="1"/>
            </p:cNvSpPr>
            <p:nvPr/>
          </p:nvSpPr>
          <p:spPr bwMode="auto">
            <a:xfrm>
              <a:off x="295" y="482"/>
              <a:ext cx="3129" cy="543"/>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2</a:t>
              </a:r>
              <a:r>
                <a:rPr lang="zh-CN" altLang="en-US" sz="2000" b="1" dirty="0">
                  <a:solidFill>
                    <a:srgbClr val="FF0000"/>
                  </a:solidFill>
                  <a:latin typeface="Times New Roman" panose="02020603050405020304" pitchFamily="18" charset="0"/>
                </a:rPr>
                <a:t>）为求</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即求右图中的      。</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应用网孔法：</a:t>
              </a:r>
              <a:endParaRPr lang="en-US" altLang="zh-CN" sz="2000" b="1" dirty="0">
                <a:solidFill>
                  <a:srgbClr val="000000"/>
                </a:solidFill>
                <a:latin typeface="Times New Roman" panose="02020603050405020304" pitchFamily="18" charset="0"/>
              </a:endParaRPr>
            </a:p>
          </p:txBody>
        </p:sp>
        <p:graphicFrame>
          <p:nvGraphicFramePr>
            <p:cNvPr id="42003" name="Object 8"/>
            <p:cNvGraphicFramePr>
              <a:graphicFrameLocks noChangeAspect="1"/>
            </p:cNvGraphicFramePr>
            <p:nvPr/>
          </p:nvGraphicFramePr>
          <p:xfrm>
            <a:off x="1079" y="475"/>
            <a:ext cx="271" cy="272"/>
          </p:xfrm>
          <a:graphic>
            <a:graphicData uri="http://schemas.openxmlformats.org/presentationml/2006/ole">
              <mc:AlternateContent xmlns:mc="http://schemas.openxmlformats.org/markup-compatibility/2006">
                <mc:Choice xmlns:v="urn:schemas-microsoft-com:vml" Requires="v">
                  <p:oleObj spid="_x0000_s30821" name="Equation" r:id="rId5" imgW="5181600" imgH="5486400" progId="">
                    <p:embed/>
                  </p:oleObj>
                </mc:Choice>
                <mc:Fallback>
                  <p:oleObj name="Equation" r:id="rId5" imgW="5181600" imgH="5486400" progId="">
                    <p:embed/>
                    <p:pic>
                      <p:nvPicPr>
                        <p:cNvPr id="0" name="图片 30720"/>
                        <p:cNvPicPr>
                          <a:picLocks noChangeAspect="1"/>
                        </p:cNvPicPr>
                        <p:nvPr/>
                      </p:nvPicPr>
                      <p:blipFill>
                        <a:blip r:embed="rId6"/>
                        <a:stretch>
                          <a:fillRect/>
                        </a:stretch>
                      </p:blipFill>
                      <p:spPr>
                        <a:xfrm>
                          <a:off x="1079" y="475"/>
                          <a:ext cx="271" cy="272"/>
                        </a:xfrm>
                        <a:prstGeom prst="rect">
                          <a:avLst/>
                        </a:prstGeom>
                        <a:noFill/>
                        <a:ln w="9525">
                          <a:noFill/>
                        </a:ln>
                      </p:spPr>
                    </p:pic>
                  </p:oleObj>
                </mc:Fallback>
              </mc:AlternateContent>
            </a:graphicData>
          </a:graphic>
        </p:graphicFrame>
        <p:graphicFrame>
          <p:nvGraphicFramePr>
            <p:cNvPr id="42004" name="Object 9"/>
            <p:cNvGraphicFramePr>
              <a:graphicFrameLocks noChangeAspect="1"/>
            </p:cNvGraphicFramePr>
            <p:nvPr/>
          </p:nvGraphicFramePr>
          <p:xfrm>
            <a:off x="2348" y="428"/>
            <a:ext cx="250" cy="318"/>
          </p:xfrm>
          <a:graphic>
            <a:graphicData uri="http://schemas.openxmlformats.org/presentationml/2006/ole">
              <mc:AlternateContent xmlns:mc="http://schemas.openxmlformats.org/markup-compatibility/2006">
                <mc:Choice xmlns:v="urn:schemas-microsoft-com:vml" Requires="v">
                  <p:oleObj spid="_x0000_s30822" name="Equation" r:id="rId7" imgW="4876800" imgH="5486400" progId="">
                    <p:embed/>
                  </p:oleObj>
                </mc:Choice>
                <mc:Fallback>
                  <p:oleObj name="Equation" r:id="rId7" imgW="4876800" imgH="5486400" progId="">
                    <p:embed/>
                    <p:pic>
                      <p:nvPicPr>
                        <p:cNvPr id="0" name="图片 30791"/>
                        <p:cNvPicPr>
                          <a:picLocks noChangeAspect="1"/>
                        </p:cNvPicPr>
                        <p:nvPr/>
                      </p:nvPicPr>
                      <p:blipFill>
                        <a:blip r:embed="rId8"/>
                        <a:stretch>
                          <a:fillRect/>
                        </a:stretch>
                      </p:blipFill>
                      <p:spPr>
                        <a:xfrm>
                          <a:off x="2348" y="428"/>
                          <a:ext cx="250" cy="318"/>
                        </a:xfrm>
                        <a:prstGeom prst="rect">
                          <a:avLst/>
                        </a:prstGeom>
                        <a:noFill/>
                        <a:ln w="9525">
                          <a:noFill/>
                        </a:ln>
                      </p:spPr>
                    </p:pic>
                  </p:oleObj>
                </mc:Fallback>
              </mc:AlternateContent>
            </a:graphicData>
          </a:graphic>
        </p:graphicFrame>
      </p:grpSp>
      <p:graphicFrame>
        <p:nvGraphicFramePr>
          <p:cNvPr id="41991" name="Object 10"/>
          <p:cNvGraphicFramePr>
            <a:graphicFrameLocks noChangeAspect="1"/>
          </p:cNvGraphicFramePr>
          <p:nvPr/>
        </p:nvGraphicFramePr>
        <p:xfrm>
          <a:off x="1017190" y="1928624"/>
          <a:ext cx="1273444" cy="479831"/>
        </p:xfrm>
        <a:graphic>
          <a:graphicData uri="http://schemas.openxmlformats.org/presentationml/2006/ole">
            <mc:AlternateContent xmlns:mc="http://schemas.openxmlformats.org/markup-compatibility/2006">
              <mc:Choice xmlns:v="urn:schemas-microsoft-com:vml" Requires="v">
                <p:oleObj spid="_x0000_s30823" name="Equation" r:id="rId9" imgW="8229600" imgH="5486400" progId="">
                  <p:embed/>
                </p:oleObj>
              </mc:Choice>
              <mc:Fallback>
                <p:oleObj name="Equation" r:id="rId9" imgW="8229600" imgH="5486400" progId="">
                  <p:embed/>
                  <p:pic>
                    <p:nvPicPr>
                      <p:cNvPr id="0" name="图片 30792"/>
                      <p:cNvPicPr>
                        <a:picLocks noChangeAspect="1"/>
                      </p:cNvPicPr>
                      <p:nvPr/>
                    </p:nvPicPr>
                    <p:blipFill>
                      <a:blip r:embed="rId10"/>
                      <a:stretch>
                        <a:fillRect/>
                      </a:stretch>
                    </p:blipFill>
                    <p:spPr>
                      <a:xfrm>
                        <a:off x="1017190" y="1928624"/>
                        <a:ext cx="1273444" cy="479831"/>
                      </a:xfrm>
                      <a:prstGeom prst="rect">
                        <a:avLst/>
                      </a:prstGeom>
                      <a:noFill/>
                      <a:ln w="9525">
                        <a:noFill/>
                      </a:ln>
                    </p:spPr>
                  </p:pic>
                </p:oleObj>
              </mc:Fallback>
            </mc:AlternateContent>
          </a:graphicData>
        </a:graphic>
      </p:graphicFrame>
      <p:graphicFrame>
        <p:nvGraphicFramePr>
          <p:cNvPr id="41992" name="Object 11"/>
          <p:cNvGraphicFramePr>
            <a:graphicFrameLocks noChangeAspect="1"/>
          </p:cNvGraphicFramePr>
          <p:nvPr/>
        </p:nvGraphicFramePr>
        <p:xfrm>
          <a:off x="999075" y="3062709"/>
          <a:ext cx="2636821" cy="493516"/>
        </p:xfrm>
        <a:graphic>
          <a:graphicData uri="http://schemas.openxmlformats.org/presentationml/2006/ole">
            <mc:AlternateContent xmlns:mc="http://schemas.openxmlformats.org/markup-compatibility/2006">
              <mc:Choice xmlns:v="urn:schemas-microsoft-com:vml" Requires="v">
                <p:oleObj spid="_x0000_s30824" name="Equation" r:id="rId11" imgW="28651200" imgH="5486400" progId="">
                  <p:embed/>
                </p:oleObj>
              </mc:Choice>
              <mc:Fallback>
                <p:oleObj name="Equation" r:id="rId11" imgW="28651200" imgH="5486400" progId="">
                  <p:embed/>
                  <p:pic>
                    <p:nvPicPr>
                      <p:cNvPr id="0" name="图片 30793"/>
                      <p:cNvPicPr>
                        <a:picLocks noChangeAspect="1"/>
                      </p:cNvPicPr>
                      <p:nvPr/>
                    </p:nvPicPr>
                    <p:blipFill>
                      <a:blip r:embed="rId12"/>
                      <a:stretch>
                        <a:fillRect/>
                      </a:stretch>
                    </p:blipFill>
                    <p:spPr>
                      <a:xfrm>
                        <a:off x="999075" y="3062709"/>
                        <a:ext cx="2636821" cy="493516"/>
                      </a:xfrm>
                      <a:prstGeom prst="rect">
                        <a:avLst/>
                      </a:prstGeom>
                      <a:noFill/>
                      <a:ln w="9525">
                        <a:noFill/>
                      </a:ln>
                    </p:spPr>
                  </p:pic>
                </p:oleObj>
              </mc:Fallback>
            </mc:AlternateContent>
          </a:graphicData>
        </a:graphic>
      </p:graphicFrame>
      <p:graphicFrame>
        <p:nvGraphicFramePr>
          <p:cNvPr id="41993" name="Object 15"/>
          <p:cNvGraphicFramePr>
            <a:graphicFrameLocks noChangeAspect="1"/>
          </p:cNvGraphicFramePr>
          <p:nvPr/>
        </p:nvGraphicFramePr>
        <p:xfrm>
          <a:off x="1017190" y="2471374"/>
          <a:ext cx="3401220" cy="475796"/>
        </p:xfrm>
        <a:graphic>
          <a:graphicData uri="http://schemas.openxmlformats.org/presentationml/2006/ole">
            <mc:AlternateContent xmlns:mc="http://schemas.openxmlformats.org/markup-compatibility/2006">
              <mc:Choice xmlns:v="urn:schemas-microsoft-com:vml" Requires="v">
                <p:oleObj spid="_x0000_s30825" name="Equation" r:id="rId13" imgW="41148000" imgH="5486400" progId="">
                  <p:embed/>
                </p:oleObj>
              </mc:Choice>
              <mc:Fallback>
                <p:oleObj name="Equation" r:id="rId13" imgW="41148000" imgH="5486400" progId="">
                  <p:embed/>
                  <p:pic>
                    <p:nvPicPr>
                      <p:cNvPr id="0" name="图片 30794"/>
                      <p:cNvPicPr>
                        <a:picLocks noChangeAspect="1"/>
                      </p:cNvPicPr>
                      <p:nvPr/>
                    </p:nvPicPr>
                    <p:blipFill>
                      <a:blip r:embed="rId14"/>
                      <a:stretch>
                        <a:fillRect/>
                      </a:stretch>
                    </p:blipFill>
                    <p:spPr>
                      <a:xfrm>
                        <a:off x="1017190" y="2471374"/>
                        <a:ext cx="3401220" cy="475796"/>
                      </a:xfrm>
                      <a:prstGeom prst="rect">
                        <a:avLst/>
                      </a:prstGeom>
                      <a:noFill/>
                      <a:ln w="9525">
                        <a:noFill/>
                      </a:ln>
                    </p:spPr>
                  </p:pic>
                </p:oleObj>
              </mc:Fallback>
            </mc:AlternateContent>
          </a:graphicData>
        </a:graphic>
      </p:graphicFrame>
      <p:graphicFrame>
        <p:nvGraphicFramePr>
          <p:cNvPr id="41994" name="Object 18"/>
          <p:cNvGraphicFramePr>
            <a:graphicFrameLocks noChangeAspect="1"/>
          </p:cNvGraphicFramePr>
          <p:nvPr/>
        </p:nvGraphicFramePr>
        <p:xfrm>
          <a:off x="1366838" y="4562474"/>
          <a:ext cx="2952750" cy="523875"/>
        </p:xfrm>
        <a:graphic>
          <a:graphicData uri="http://schemas.openxmlformats.org/presentationml/2006/ole">
            <mc:AlternateContent xmlns:mc="http://schemas.openxmlformats.org/markup-compatibility/2006">
              <mc:Choice xmlns:v="urn:schemas-microsoft-com:vml" Requires="v">
                <p:oleObj spid="_x0000_s30826" name="Equation" r:id="rId15" imgW="30784800" imgH="5486400" progId="">
                  <p:embed/>
                </p:oleObj>
              </mc:Choice>
              <mc:Fallback>
                <p:oleObj name="Equation" r:id="rId15" imgW="30784800" imgH="5486400" progId="">
                  <p:embed/>
                  <p:pic>
                    <p:nvPicPr>
                      <p:cNvPr id="0" name="图片 30795"/>
                      <p:cNvPicPr>
                        <a:picLocks noChangeAspect="1"/>
                      </p:cNvPicPr>
                      <p:nvPr/>
                    </p:nvPicPr>
                    <p:blipFill>
                      <a:blip r:embed="rId16"/>
                      <a:stretch>
                        <a:fillRect/>
                      </a:stretch>
                    </p:blipFill>
                    <p:spPr>
                      <a:xfrm>
                        <a:off x="1366838" y="4562474"/>
                        <a:ext cx="2952750" cy="523875"/>
                      </a:xfrm>
                      <a:prstGeom prst="rect">
                        <a:avLst/>
                      </a:prstGeom>
                      <a:noFill/>
                      <a:ln w="9525">
                        <a:noFill/>
                      </a:ln>
                    </p:spPr>
                  </p:pic>
                </p:oleObj>
              </mc:Fallback>
            </mc:AlternateContent>
          </a:graphicData>
        </a:graphic>
      </p:graphicFrame>
      <p:graphicFrame>
        <p:nvGraphicFramePr>
          <p:cNvPr id="41995" name="Object 19"/>
          <p:cNvGraphicFramePr>
            <a:graphicFrameLocks noChangeAspect="1"/>
          </p:cNvGraphicFramePr>
          <p:nvPr/>
        </p:nvGraphicFramePr>
        <p:xfrm>
          <a:off x="1016621" y="3816957"/>
          <a:ext cx="1596500" cy="464915"/>
        </p:xfrm>
        <a:graphic>
          <a:graphicData uri="http://schemas.openxmlformats.org/presentationml/2006/ole">
            <mc:AlternateContent xmlns:mc="http://schemas.openxmlformats.org/markup-compatibility/2006">
              <mc:Choice xmlns:v="urn:schemas-microsoft-com:vml" Requires="v">
                <p:oleObj spid="_x0000_s30827" name="Equation" r:id="rId17" imgW="19202400" imgH="5486400" progId="">
                  <p:embed/>
                </p:oleObj>
              </mc:Choice>
              <mc:Fallback>
                <p:oleObj name="Equation" r:id="rId17" imgW="19202400" imgH="5486400" progId="">
                  <p:embed/>
                  <p:pic>
                    <p:nvPicPr>
                      <p:cNvPr id="0" name="图片 30796"/>
                      <p:cNvPicPr>
                        <a:picLocks noChangeAspect="1"/>
                      </p:cNvPicPr>
                      <p:nvPr/>
                    </p:nvPicPr>
                    <p:blipFill>
                      <a:blip r:embed="rId18"/>
                      <a:stretch>
                        <a:fillRect/>
                      </a:stretch>
                    </p:blipFill>
                    <p:spPr>
                      <a:xfrm>
                        <a:off x="1016621" y="3816957"/>
                        <a:ext cx="1596500" cy="464915"/>
                      </a:xfrm>
                      <a:prstGeom prst="rect">
                        <a:avLst/>
                      </a:prstGeom>
                      <a:noFill/>
                      <a:ln w="9525">
                        <a:noFill/>
                      </a:ln>
                    </p:spPr>
                  </p:pic>
                </p:oleObj>
              </mc:Fallback>
            </mc:AlternateContent>
          </a:graphicData>
        </a:graphic>
      </p:graphicFrame>
      <p:sp>
        <p:nvSpPr>
          <p:cNvPr id="41996" name="Text Box 21"/>
          <p:cNvSpPr txBox="1">
            <a:spLocks noChangeArrowheads="1"/>
          </p:cNvSpPr>
          <p:nvPr/>
        </p:nvSpPr>
        <p:spPr bwMode="auto">
          <a:xfrm>
            <a:off x="399391" y="4571595"/>
            <a:ext cx="2663825" cy="401638"/>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解得：</a:t>
            </a:r>
            <a:endParaRPr lang="en-US" altLang="zh-CN" sz="2000" b="1" dirty="0">
              <a:solidFill>
                <a:srgbClr val="000000"/>
              </a:solidFill>
              <a:latin typeface="Times New Roman" panose="02020603050405020304" pitchFamily="18" charset="0"/>
            </a:endParaRPr>
          </a:p>
        </p:txBody>
      </p:sp>
      <p:sp>
        <p:nvSpPr>
          <p:cNvPr id="41998" name="矩形 26"/>
          <p:cNvSpPr>
            <a:spLocks noChangeArrowheads="1"/>
          </p:cNvSpPr>
          <p:nvPr/>
        </p:nvSpPr>
        <p:spPr bwMode="auto">
          <a:xfrm>
            <a:off x="464418" y="1991139"/>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①</a:t>
            </a:r>
          </a:p>
        </p:txBody>
      </p:sp>
      <p:sp>
        <p:nvSpPr>
          <p:cNvPr id="41999" name="矩形 28"/>
          <p:cNvSpPr>
            <a:spLocks noChangeArrowheads="1"/>
          </p:cNvSpPr>
          <p:nvPr/>
        </p:nvSpPr>
        <p:spPr bwMode="auto">
          <a:xfrm>
            <a:off x="454135" y="2523698"/>
            <a:ext cx="439738"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②</a:t>
            </a:r>
          </a:p>
        </p:txBody>
      </p:sp>
      <p:sp>
        <p:nvSpPr>
          <p:cNvPr id="42000" name="矩形 29"/>
          <p:cNvSpPr>
            <a:spLocks noChangeArrowheads="1"/>
          </p:cNvSpPr>
          <p:nvPr/>
        </p:nvSpPr>
        <p:spPr bwMode="auto">
          <a:xfrm>
            <a:off x="459067" y="3115476"/>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③</a:t>
            </a:r>
          </a:p>
        </p:txBody>
      </p:sp>
      <p:sp>
        <p:nvSpPr>
          <p:cNvPr id="42001" name="矩形 30"/>
          <p:cNvSpPr>
            <a:spLocks noChangeArrowheads="1"/>
          </p:cNvSpPr>
          <p:nvPr/>
        </p:nvSpPr>
        <p:spPr bwMode="auto">
          <a:xfrm>
            <a:off x="439678" y="3860973"/>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④</a:t>
            </a:r>
          </a:p>
        </p:txBody>
      </p:sp>
      <p:sp>
        <p:nvSpPr>
          <p:cNvPr id="21" name="Text Box 5"/>
          <p:cNvSpPr txBox="1">
            <a:spLocks noChangeArrowheads="1"/>
          </p:cNvSpPr>
          <p:nvPr/>
        </p:nvSpPr>
        <p:spPr bwMode="auto">
          <a:xfrm>
            <a:off x="1925638" y="5629192"/>
            <a:ext cx="2880096" cy="400110"/>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FF0000"/>
                </a:solidFill>
              </a:rPr>
              <a:t>（</a:t>
            </a:r>
            <a:r>
              <a:rPr lang="en-US" altLang="zh-CN" sz="2000" b="1" dirty="0">
                <a:solidFill>
                  <a:srgbClr val="FF0000"/>
                </a:solidFill>
              </a:rPr>
              <a:t>3</a:t>
            </a:r>
            <a:r>
              <a:rPr lang="zh-CN" altLang="en-US" sz="2000" b="1" dirty="0">
                <a:solidFill>
                  <a:srgbClr val="FF0000"/>
                </a:solidFill>
              </a:rPr>
              <a:t>）</a:t>
            </a:r>
            <a:r>
              <a:rPr lang="zh-CN" altLang="en-US" sz="2000" b="1" dirty="0">
                <a:solidFill>
                  <a:srgbClr val="000000"/>
                </a:solidFill>
              </a:rPr>
              <a:t>戴维南等效电路：</a:t>
            </a:r>
            <a:endParaRPr lang="en-US" altLang="zh-CN" sz="2000" b="1" baseline="-25000" dirty="0">
              <a:solidFill>
                <a:srgbClr val="00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1"/>
          </p:nvPr>
        </p:nvSpPr>
        <p:spPr/>
        <p:txBody>
          <a:bodyPr/>
          <a:lstStyle/>
          <a:p>
            <a:pPr>
              <a:defRPr/>
            </a:pPr>
            <a:fld id="{B5E5724E-2106-4ECF-A33D-8E4B743D716F}" type="slidenum">
              <a:rPr lang="en-US" altLang="zh-CN" smtClean="0">
                <a:solidFill>
                  <a:srgbClr val="000000"/>
                </a:solidFill>
              </a:rPr>
              <a:t>50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p:nvPr>
        </p:nvPicPr>
        <p:blipFill>
          <a:blip r:embed="rId2"/>
          <a:stretch>
            <a:fillRect/>
          </a:stretch>
        </p:blipFill>
        <p:spPr>
          <a:xfrm>
            <a:off x="251520" y="620688"/>
            <a:ext cx="8229600" cy="608192"/>
          </a:xfrm>
          <a:prstGeom prst="rect">
            <a:avLst/>
          </a:prstGeom>
        </p:spPr>
      </p:pic>
      <p:sp>
        <p:nvSpPr>
          <p:cNvPr id="3" name="灯片编号占位符 2"/>
          <p:cNvSpPr>
            <a:spLocks noGrp="1"/>
          </p:cNvSpPr>
          <p:nvPr>
            <p:ph type="sldNum" sz="quarter" idx="11"/>
          </p:nvPr>
        </p:nvSpPr>
        <p:spPr/>
        <p:txBody>
          <a:bodyPr/>
          <a:lstStyle/>
          <a:p>
            <a:pPr>
              <a:defRPr/>
            </a:pPr>
            <a:fld id="{B5E5724E-2106-4ECF-A33D-8E4B743D716F}" type="slidenum">
              <a:rPr lang="en-US" altLang="zh-CN" smtClean="0">
                <a:solidFill>
                  <a:srgbClr val="000000"/>
                </a:solidFill>
              </a:rPr>
              <a:t>51</a:t>
            </a:fld>
            <a:endParaRPr lang="en-US" altLang="zh-CN">
              <a:solidFill>
                <a:srgbClr val="000000"/>
              </a:solidFill>
            </a:endParaRPr>
          </a:p>
        </p:txBody>
      </p:sp>
      <p:pic>
        <p:nvPicPr>
          <p:cNvPr id="5" name="图片 4"/>
          <p:cNvPicPr>
            <a:picLocks noChangeAspect="1"/>
          </p:cNvPicPr>
          <p:nvPr/>
        </p:nvPicPr>
        <p:blipFill>
          <a:blip r:embed="rId3"/>
          <a:stretch>
            <a:fillRect/>
          </a:stretch>
        </p:blipFill>
        <p:spPr>
          <a:xfrm>
            <a:off x="4214810" y="1643050"/>
            <a:ext cx="4643470" cy="2154187"/>
          </a:xfrm>
          <a:prstGeom prst="rect">
            <a:avLst/>
          </a:prstGeom>
        </p:spPr>
      </p:pic>
      <p:sp>
        <p:nvSpPr>
          <p:cNvPr id="6" name="TextBox 5"/>
          <p:cNvSpPr txBox="1"/>
          <p:nvPr/>
        </p:nvSpPr>
        <p:spPr>
          <a:xfrm>
            <a:off x="357158" y="1000108"/>
            <a:ext cx="3571900" cy="5632311"/>
          </a:xfrm>
          <a:prstGeom prst="rect">
            <a:avLst/>
          </a:prstGeom>
          <a:noFill/>
        </p:spPr>
        <p:txBody>
          <a:bodyPr wrap="square" rtlCol="0">
            <a:spAutoFit/>
          </a:bodyPr>
          <a:lstStyle/>
          <a:p>
            <a:r>
              <a:rPr lang="zh-CN" altLang="en-US" dirty="0" smtClean="0"/>
              <a:t>解：（</a:t>
            </a:r>
            <a:r>
              <a:rPr lang="en-US" altLang="zh-CN" dirty="0" smtClean="0"/>
              <a:t>1</a:t>
            </a:r>
            <a:r>
              <a:rPr lang="zh-CN" altLang="en-US" dirty="0" smtClean="0"/>
              <a:t>）求</a:t>
            </a:r>
            <a:r>
              <a:rPr lang="en-US" altLang="zh-CN" dirty="0" err="1" smtClean="0"/>
              <a:t>Rth</a:t>
            </a:r>
            <a:endParaRPr lang="en-US" altLang="zh-CN" dirty="0" smtClean="0"/>
          </a:p>
          <a:p>
            <a:r>
              <a:rPr lang="zh-CN" altLang="en-US" dirty="0" smtClean="0"/>
              <a:t>假设在</a:t>
            </a:r>
            <a:r>
              <a:rPr lang="en-US" altLang="zh-CN" dirty="0" err="1" smtClean="0"/>
              <a:t>ab</a:t>
            </a:r>
            <a:r>
              <a:rPr lang="zh-CN" altLang="en-US" dirty="0" smtClean="0"/>
              <a:t>间加</a:t>
            </a:r>
            <a:r>
              <a:rPr lang="en-US" altLang="zh-CN" dirty="0" smtClean="0"/>
              <a:t>1V</a:t>
            </a:r>
            <a:r>
              <a:rPr lang="zh-CN" altLang="en-US" dirty="0" smtClean="0"/>
              <a:t>的电压源，流出的电流为</a:t>
            </a:r>
            <a:r>
              <a:rPr lang="en-US" altLang="zh-CN" dirty="0" smtClean="0"/>
              <a:t>I0,</a:t>
            </a:r>
            <a:r>
              <a:rPr lang="zh-CN" altLang="en-US" dirty="0" smtClean="0"/>
              <a:t>方向由</a:t>
            </a:r>
            <a:r>
              <a:rPr lang="en-US" altLang="zh-CN" dirty="0" smtClean="0"/>
              <a:t>b</a:t>
            </a:r>
            <a:r>
              <a:rPr lang="zh-CN" altLang="en-US" dirty="0" smtClean="0"/>
              <a:t>指向</a:t>
            </a:r>
            <a:r>
              <a:rPr lang="en-US" altLang="zh-CN" dirty="0" smtClean="0"/>
              <a:t>a</a:t>
            </a:r>
            <a:r>
              <a:rPr lang="zh-CN" altLang="en-US" dirty="0" smtClean="0"/>
              <a:t>。注意，独立电源要清零。</a:t>
            </a:r>
            <a:endParaRPr lang="en-US" altLang="zh-CN" dirty="0" smtClean="0"/>
          </a:p>
          <a:p>
            <a:r>
              <a:rPr lang="en-US" altLang="zh-CN" dirty="0" smtClean="0"/>
              <a:t>5* I1+3* Ix + 1 = 0           [1]</a:t>
            </a:r>
          </a:p>
          <a:p>
            <a:r>
              <a:rPr lang="en-US" altLang="zh-CN" dirty="0" smtClean="0"/>
              <a:t>       I1 + 1.5 * Ix = Ix        [2]</a:t>
            </a:r>
          </a:p>
          <a:p>
            <a:r>
              <a:rPr lang="en-US" altLang="zh-CN" dirty="0" smtClean="0"/>
              <a:t>       Ix +I0 = ¼                 [3]</a:t>
            </a:r>
          </a:p>
          <a:p>
            <a:r>
              <a:rPr lang="en-US" altLang="zh-CN" dirty="0" smtClean="0"/>
              <a:t>Ix= -2 , I0=2.25;</a:t>
            </a:r>
          </a:p>
          <a:p>
            <a:r>
              <a:rPr lang="en-US" altLang="zh-CN" dirty="0" err="1" smtClean="0"/>
              <a:t>Rth</a:t>
            </a:r>
            <a:r>
              <a:rPr lang="en-US" altLang="zh-CN" dirty="0" smtClean="0"/>
              <a:t>=1/</a:t>
            </a:r>
            <a:r>
              <a:rPr lang="zh-CN" altLang="en-US" dirty="0" smtClean="0"/>
              <a:t>（</a:t>
            </a:r>
            <a:r>
              <a:rPr lang="en-US" altLang="zh-CN" dirty="0" smtClean="0"/>
              <a:t>2.25</a:t>
            </a:r>
            <a:r>
              <a:rPr lang="zh-CN" altLang="en-US" dirty="0" smtClean="0"/>
              <a:t>）</a:t>
            </a:r>
            <a:r>
              <a:rPr lang="en-US" altLang="zh-CN" dirty="0" smtClean="0"/>
              <a:t>444.4</a:t>
            </a:r>
            <a:r>
              <a:rPr lang="zh-CN" altLang="en-US" dirty="0" smtClean="0"/>
              <a:t>（</a:t>
            </a:r>
            <a:r>
              <a:rPr lang="en-US" altLang="zh-CN" dirty="0" err="1" smtClean="0"/>
              <a:t>mƱ</a:t>
            </a:r>
            <a:r>
              <a:rPr lang="zh-CN" altLang="en-US" dirty="0" smtClean="0"/>
              <a:t>）</a:t>
            </a:r>
            <a:endParaRPr lang="en-US" altLang="zh-CN" dirty="0" smtClean="0"/>
          </a:p>
          <a:p>
            <a:r>
              <a:rPr lang="en-US" altLang="zh-CN" dirty="0" smtClean="0"/>
              <a:t>(2)</a:t>
            </a:r>
            <a:r>
              <a:rPr lang="zh-CN" altLang="en-US" dirty="0" smtClean="0"/>
              <a:t>求</a:t>
            </a:r>
            <a:r>
              <a:rPr lang="en-US" altLang="zh-CN" dirty="0" err="1" smtClean="0"/>
              <a:t>Vth</a:t>
            </a:r>
            <a:endParaRPr lang="en-US" altLang="zh-CN" dirty="0" smtClean="0"/>
          </a:p>
          <a:p>
            <a:r>
              <a:rPr lang="en-US" altLang="zh-CN" dirty="0" smtClean="0"/>
              <a:t>-6 +5 *I1+3*Ix+4 * Ix=0      [1]</a:t>
            </a:r>
          </a:p>
          <a:p>
            <a:r>
              <a:rPr lang="en-US" altLang="zh-CN" dirty="0" smtClean="0"/>
              <a:t> I1 + 1.5 * Ix = Ix              [2]</a:t>
            </a:r>
          </a:p>
          <a:p>
            <a:r>
              <a:rPr lang="en-US" altLang="zh-CN" dirty="0" err="1" smtClean="0"/>
              <a:t>Vth</a:t>
            </a:r>
            <a:r>
              <a:rPr lang="en-US" altLang="zh-CN" dirty="0" smtClean="0"/>
              <a:t> = Ix * 4                       [3]</a:t>
            </a:r>
          </a:p>
          <a:p>
            <a:endParaRPr lang="en-US" altLang="zh-CN" dirty="0" smtClean="0"/>
          </a:p>
          <a:p>
            <a:r>
              <a:rPr lang="en-US" altLang="zh-CN" dirty="0" smtClean="0"/>
              <a:t>4.5 *Ix =6</a:t>
            </a:r>
          </a:p>
          <a:p>
            <a:endParaRPr lang="en-US" altLang="zh-CN" dirty="0" smtClean="0"/>
          </a:p>
          <a:p>
            <a:r>
              <a:rPr lang="en-US" altLang="zh-CN" dirty="0" err="1" smtClean="0"/>
              <a:t>Vth</a:t>
            </a:r>
            <a:r>
              <a:rPr lang="en-US" altLang="zh-CN" dirty="0" smtClean="0"/>
              <a:t> =(4*6)/4.5=5.333V</a:t>
            </a:r>
          </a:p>
          <a:p>
            <a:endParaRPr lang="en-US" altLang="zh-CN"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4" cstate="print"/>
          <a:srcRect/>
          <a:stretch>
            <a:fillRect/>
          </a:stretch>
        </p:blipFill>
        <p:spPr bwMode="auto">
          <a:xfrm>
            <a:off x="249238" y="1557338"/>
            <a:ext cx="8894762" cy="2695575"/>
          </a:xfrm>
          <a:prstGeom prst="rect">
            <a:avLst/>
          </a:prstGeom>
          <a:noFill/>
          <a:ln w="9525">
            <a:noFill/>
            <a:miter lim="800000"/>
            <a:headEnd/>
            <a:tailEnd/>
          </a:ln>
        </p:spPr>
      </p:pic>
      <p:sp>
        <p:nvSpPr>
          <p:cNvPr id="43011" name="Text Box 3"/>
          <p:cNvSpPr txBox="1">
            <a:spLocks noChangeArrowheads="1"/>
          </p:cNvSpPr>
          <p:nvPr/>
        </p:nvSpPr>
        <p:spPr bwMode="auto">
          <a:xfrm>
            <a:off x="250825" y="836613"/>
            <a:ext cx="8353425" cy="1016000"/>
          </a:xfrm>
          <a:prstGeom prst="rect">
            <a:avLst/>
          </a:prstGeom>
          <a:noFill/>
          <a:ln w="9525">
            <a:noFill/>
            <a:miter lim="800000"/>
          </a:ln>
        </p:spPr>
        <p:txBody>
          <a:bodyPr>
            <a:spAutoFit/>
          </a:bodyPr>
          <a:lstStyle/>
          <a:p>
            <a:pPr fontAlgn="base">
              <a:spcBef>
                <a:spcPct val="50000"/>
              </a:spcBef>
              <a:spcAft>
                <a:spcPct val="0"/>
              </a:spcAft>
            </a:pPr>
            <a:r>
              <a:rPr lang="en-US" altLang="zh-CN" sz="2400" b="1" dirty="0">
                <a:solidFill>
                  <a:srgbClr val="FF0000"/>
                </a:solidFill>
                <a:latin typeface="Times New Roman" panose="02020603050405020304" pitchFamily="18" charset="0"/>
              </a:rPr>
              <a:t>*</a:t>
            </a:r>
            <a:r>
              <a:rPr lang="zh-CN" altLang="en-US" sz="2400" b="1" dirty="0" smtClean="0">
                <a:solidFill>
                  <a:srgbClr val="FF0000"/>
                </a:solidFill>
                <a:latin typeface="Times New Roman" panose="02020603050405020304" pitchFamily="18" charset="0"/>
              </a:rPr>
              <a:t>例</a:t>
            </a:r>
            <a:r>
              <a:rPr lang="en-US" altLang="zh-CN" sz="2400" b="1" dirty="0" smtClean="0">
                <a:solidFill>
                  <a:srgbClr val="FF0000"/>
                </a:solidFill>
                <a:latin typeface="Times New Roman" panose="02020603050405020304" pitchFamily="18" charset="0"/>
              </a:rPr>
              <a:t>4-10</a:t>
            </a:r>
            <a:r>
              <a:rPr lang="zh-CN" altLang="en-US" sz="2400" b="1" dirty="0" smtClean="0">
                <a:solidFill>
                  <a:srgbClr val="FF0000"/>
                </a:solidFill>
                <a:latin typeface="Times New Roman" panose="02020603050405020304" pitchFamily="18" charset="0"/>
              </a:rPr>
              <a:t>：</a:t>
            </a:r>
            <a:r>
              <a:rPr lang="en-US" altLang="zh-CN" sz="2400" b="1" dirty="0" smtClean="0">
                <a:solidFill>
                  <a:srgbClr val="FF0000"/>
                </a:solidFill>
                <a:latin typeface="Times New Roman" panose="02020603050405020304" pitchFamily="18" charset="0"/>
              </a:rPr>
              <a:t> </a:t>
            </a:r>
            <a:r>
              <a:rPr lang="en-US" altLang="zh-CN" sz="2400" b="1" dirty="0">
                <a:solidFill>
                  <a:srgbClr val="CCCCE6"/>
                </a:solidFill>
                <a:latin typeface="Times New Roman" panose="02020603050405020304" pitchFamily="18" charset="0"/>
              </a:rPr>
              <a:t>(</a:t>
            </a:r>
            <a:r>
              <a:rPr lang="zh-CN" altLang="en-US" sz="2400" b="1" dirty="0">
                <a:solidFill>
                  <a:srgbClr val="CCCCE6"/>
                </a:solidFill>
                <a:latin typeface="Times New Roman" panose="02020603050405020304" pitchFamily="18" charset="0"/>
              </a:rPr>
              <a:t>负电阻</a:t>
            </a:r>
            <a:r>
              <a:rPr lang="en-US" altLang="zh-CN" sz="2400" b="1" dirty="0">
                <a:solidFill>
                  <a:srgbClr val="CCCCE6"/>
                </a:solidFill>
                <a:latin typeface="Times New Roman" panose="02020603050405020304" pitchFamily="18" charset="0"/>
              </a:rPr>
              <a:t>)</a:t>
            </a:r>
          </a:p>
          <a:p>
            <a:pPr fontAlgn="base">
              <a:spcBef>
                <a:spcPct val="50000"/>
              </a:spcBef>
              <a:spcAft>
                <a:spcPct val="0"/>
              </a:spcAft>
            </a:pPr>
            <a:r>
              <a:rPr lang="zh-CN" altLang="en-US" sz="2400" b="1" dirty="0">
                <a:solidFill>
                  <a:srgbClr val="000000"/>
                </a:solidFill>
                <a:latin typeface="Times New Roman" panose="02020603050405020304" pitchFamily="18" charset="0"/>
              </a:rPr>
              <a:t>确定图</a:t>
            </a:r>
            <a:r>
              <a:rPr lang="en-US" altLang="zh-CN" sz="2400" b="1" dirty="0">
                <a:solidFill>
                  <a:srgbClr val="000000"/>
                </a:solidFill>
                <a:latin typeface="Times New Roman" panose="02020603050405020304" pitchFamily="18" charset="0"/>
              </a:rPr>
              <a:t>4.35(a)</a:t>
            </a:r>
            <a:r>
              <a:rPr lang="zh-CN" altLang="en-US" sz="2400" b="1" dirty="0">
                <a:solidFill>
                  <a:srgbClr val="000000"/>
                </a:solidFill>
                <a:latin typeface="Times New Roman" panose="02020603050405020304" pitchFamily="18" charset="0"/>
              </a:rPr>
              <a:t>中的戴维南等效电路</a:t>
            </a:r>
            <a:endParaRPr lang="en-US" altLang="zh-CN" sz="2400" b="1" dirty="0">
              <a:solidFill>
                <a:srgbClr val="000000"/>
              </a:solidFill>
              <a:latin typeface="Times New Roman" panose="02020603050405020304" pitchFamily="18" charset="0"/>
            </a:endParaRPr>
          </a:p>
        </p:txBody>
      </p:sp>
      <p:grpSp>
        <p:nvGrpSpPr>
          <p:cNvPr id="2" name="Group 5"/>
          <p:cNvGrpSpPr/>
          <p:nvPr/>
        </p:nvGrpSpPr>
        <p:grpSpPr bwMode="auto">
          <a:xfrm>
            <a:off x="250825" y="4581525"/>
            <a:ext cx="8391525" cy="2092325"/>
            <a:chOff x="158" y="3022"/>
            <a:chExt cx="5286" cy="1318"/>
          </a:xfrm>
        </p:grpSpPr>
        <p:sp>
          <p:nvSpPr>
            <p:cNvPr id="43016" name="Text Box 6"/>
            <p:cNvSpPr txBox="1">
              <a:spLocks noChangeArrowheads="1"/>
            </p:cNvSpPr>
            <p:nvPr/>
          </p:nvSpPr>
          <p:spPr bwMode="auto">
            <a:xfrm>
              <a:off x="158" y="3022"/>
              <a:ext cx="5286" cy="1318"/>
            </a:xfrm>
            <a:prstGeom prst="rect">
              <a:avLst/>
            </a:prstGeom>
            <a:noFill/>
            <a:ln w="9525">
              <a:noFill/>
              <a:miter lim="800000"/>
            </a:ln>
          </p:spPr>
          <p:txBody>
            <a:bodyPr>
              <a:spAutoFit/>
            </a:bodyPr>
            <a:lstStyle/>
            <a:p>
              <a:pPr fontAlgn="base">
                <a:spcBef>
                  <a:spcPct val="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a:p>
              <a:pPr fontAlgn="base">
                <a:lnSpc>
                  <a:spcPct val="150000"/>
                </a:lnSpc>
                <a:spcBef>
                  <a:spcPct val="0"/>
                </a:spcBef>
                <a:spcAft>
                  <a:spcPct val="0"/>
                </a:spcAft>
              </a:pPr>
              <a:r>
                <a:rPr lang="zh-CN" altLang="en-US" sz="2000"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图</a:t>
              </a:r>
              <a:r>
                <a:rPr lang="en-US" altLang="zh-CN" sz="2000" b="1" dirty="0">
                  <a:solidFill>
                    <a:srgbClr val="000000"/>
                  </a:solidFill>
                  <a:latin typeface="Times New Roman" panose="02020603050405020304" pitchFamily="18" charset="0"/>
                </a:rPr>
                <a:t>(a) </a:t>
              </a:r>
              <a:r>
                <a:rPr lang="zh-CN" altLang="en-US" sz="2000" b="1" dirty="0">
                  <a:solidFill>
                    <a:srgbClr val="000000"/>
                  </a:solidFill>
                  <a:latin typeface="Times New Roman" panose="02020603050405020304" pitchFamily="18" charset="0"/>
                </a:rPr>
                <a:t>中没有独立源</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所以无法求得          值。</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为求         ，如图</a:t>
              </a:r>
              <a:r>
                <a:rPr lang="en-US" altLang="zh-CN" sz="2000" b="1" dirty="0">
                  <a:solidFill>
                    <a:srgbClr val="000000"/>
                  </a:solidFill>
                  <a:latin typeface="Times New Roman" panose="02020603050405020304" pitchFamily="18" charset="0"/>
                </a:rPr>
                <a:t>(b)</a:t>
              </a:r>
              <a:r>
                <a:rPr lang="zh-CN" altLang="en-US" sz="2000" b="1" dirty="0">
                  <a:solidFill>
                    <a:srgbClr val="000000"/>
                  </a:solidFill>
                  <a:latin typeface="Times New Roman" panose="02020603050405020304" pitchFamily="18" charset="0"/>
                </a:rPr>
                <a:t>所示，在端子处插入一个电流源</a:t>
              </a:r>
              <a:endParaRPr lang="en-US" altLang="zh-CN" sz="2000" b="1" dirty="0">
                <a:solidFill>
                  <a:srgbClr val="000000"/>
                </a:solidFill>
                <a:latin typeface="Times New Roman" panose="02020603050405020304" pitchFamily="18" charset="0"/>
              </a:endParaRPr>
            </a:p>
            <a:p>
              <a:pPr fontAlgn="base">
                <a:spcBef>
                  <a:spcPct val="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在节点</a:t>
              </a:r>
              <a:r>
                <a:rPr lang="en-US" altLang="zh-CN" sz="2000" b="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rPr>
                <a:t>处</a:t>
              </a:r>
              <a:r>
                <a:rPr lang="en-US" altLang="zh-CN" sz="2000" b="1" dirty="0">
                  <a:solidFill>
                    <a:srgbClr val="000000"/>
                  </a:solidFill>
                  <a:latin typeface="Times New Roman" panose="02020603050405020304" pitchFamily="18" charset="0"/>
                </a:rPr>
                <a:t>:</a:t>
              </a:r>
            </a:p>
            <a:p>
              <a:pPr fontAlgn="base">
                <a:spcBef>
                  <a:spcPct val="50000"/>
                </a:spcBef>
                <a:spcAft>
                  <a:spcPct val="0"/>
                </a:spcAft>
              </a:pPr>
              <a:endParaRPr lang="en-US" altLang="zh-CN" sz="2000" dirty="0">
                <a:solidFill>
                  <a:srgbClr val="000000"/>
                </a:solidFill>
                <a:latin typeface="Times New Roman" panose="02020603050405020304" pitchFamily="18" charset="0"/>
              </a:endParaRPr>
            </a:p>
          </p:txBody>
        </p:sp>
        <p:graphicFrame>
          <p:nvGraphicFramePr>
            <p:cNvPr id="43017" name="Object 7"/>
            <p:cNvGraphicFramePr>
              <a:graphicFrameLocks noChangeAspect="1"/>
            </p:cNvGraphicFramePr>
            <p:nvPr/>
          </p:nvGraphicFramePr>
          <p:xfrm>
            <a:off x="3061" y="3232"/>
            <a:ext cx="279" cy="302"/>
          </p:xfrm>
          <a:graphic>
            <a:graphicData uri="http://schemas.openxmlformats.org/presentationml/2006/ole">
              <mc:AlternateContent xmlns:mc="http://schemas.openxmlformats.org/markup-compatibility/2006">
                <mc:Choice xmlns:v="urn:schemas-microsoft-com:vml" Requires="v">
                  <p:oleObj spid="_x0000_s31803" name="Equation" r:id="rId5" imgW="5181600" imgH="5486400" progId="">
                    <p:embed/>
                  </p:oleObj>
                </mc:Choice>
                <mc:Fallback>
                  <p:oleObj name="Equation" r:id="rId5" imgW="5181600" imgH="5486400" progId="">
                    <p:embed/>
                    <p:pic>
                      <p:nvPicPr>
                        <p:cNvPr id="0" name="图片 31744"/>
                        <p:cNvPicPr>
                          <a:picLocks noChangeAspect="1"/>
                        </p:cNvPicPr>
                        <p:nvPr/>
                      </p:nvPicPr>
                      <p:blipFill>
                        <a:blip r:embed="rId6"/>
                        <a:stretch>
                          <a:fillRect/>
                        </a:stretch>
                      </p:blipFill>
                      <p:spPr>
                        <a:xfrm>
                          <a:off x="3061" y="3232"/>
                          <a:ext cx="279" cy="302"/>
                        </a:xfrm>
                        <a:prstGeom prst="rect">
                          <a:avLst/>
                        </a:prstGeom>
                        <a:noFill/>
                        <a:ln w="9525">
                          <a:noFill/>
                        </a:ln>
                      </p:spPr>
                    </p:pic>
                  </p:oleObj>
                </mc:Fallback>
              </mc:AlternateContent>
            </a:graphicData>
          </a:graphic>
        </p:graphicFrame>
        <p:graphicFrame>
          <p:nvGraphicFramePr>
            <p:cNvPr id="43018" name="Object 8"/>
            <p:cNvGraphicFramePr>
              <a:graphicFrameLocks noChangeAspect="1"/>
            </p:cNvGraphicFramePr>
            <p:nvPr/>
          </p:nvGraphicFramePr>
          <p:xfrm>
            <a:off x="4186" y="3220"/>
            <a:ext cx="317" cy="302"/>
          </p:xfrm>
          <a:graphic>
            <a:graphicData uri="http://schemas.openxmlformats.org/presentationml/2006/ole">
              <mc:AlternateContent xmlns:mc="http://schemas.openxmlformats.org/markup-compatibility/2006">
                <mc:Choice xmlns:v="urn:schemas-microsoft-com:vml" Requires="v">
                  <p:oleObj spid="_x0000_s31804" name="Equation" r:id="rId7" imgW="5486400" imgH="5486400" progId="">
                    <p:embed/>
                  </p:oleObj>
                </mc:Choice>
                <mc:Fallback>
                  <p:oleObj name="Equation" r:id="rId7" imgW="5486400" imgH="5486400" progId="">
                    <p:embed/>
                    <p:pic>
                      <p:nvPicPr>
                        <p:cNvPr id="0" name="图片 31785"/>
                        <p:cNvPicPr>
                          <a:picLocks noChangeAspect="1"/>
                        </p:cNvPicPr>
                        <p:nvPr/>
                      </p:nvPicPr>
                      <p:blipFill>
                        <a:blip r:embed="rId8"/>
                        <a:stretch>
                          <a:fillRect/>
                        </a:stretch>
                      </p:blipFill>
                      <p:spPr>
                        <a:xfrm>
                          <a:off x="4186" y="3220"/>
                          <a:ext cx="317" cy="302"/>
                        </a:xfrm>
                        <a:prstGeom prst="rect">
                          <a:avLst/>
                        </a:prstGeom>
                        <a:noFill/>
                        <a:ln w="9525">
                          <a:noFill/>
                        </a:ln>
                      </p:spPr>
                    </p:pic>
                  </p:oleObj>
                </mc:Fallback>
              </mc:AlternateContent>
            </a:graphicData>
          </a:graphic>
        </p:graphicFrame>
        <p:graphicFrame>
          <p:nvGraphicFramePr>
            <p:cNvPr id="43019" name="Object 9"/>
            <p:cNvGraphicFramePr>
              <a:graphicFrameLocks noChangeAspect="1"/>
            </p:cNvGraphicFramePr>
            <p:nvPr/>
          </p:nvGraphicFramePr>
          <p:xfrm>
            <a:off x="2366" y="3522"/>
            <a:ext cx="272" cy="317"/>
          </p:xfrm>
          <a:graphic>
            <a:graphicData uri="http://schemas.openxmlformats.org/presentationml/2006/ole">
              <mc:AlternateContent xmlns:mc="http://schemas.openxmlformats.org/markup-compatibility/2006">
                <mc:Choice xmlns:v="urn:schemas-microsoft-com:vml" Requires="v">
                  <p:oleObj spid="_x0000_s31805" name="Equation" r:id="rId9" imgW="3048000" imgH="5486400" progId="">
                    <p:embed/>
                  </p:oleObj>
                </mc:Choice>
                <mc:Fallback>
                  <p:oleObj name="Equation" r:id="rId9" imgW="3048000" imgH="5486400" progId="">
                    <p:embed/>
                    <p:pic>
                      <p:nvPicPr>
                        <p:cNvPr id="0" name="图片 31786"/>
                        <p:cNvPicPr>
                          <a:picLocks noChangeAspect="1"/>
                        </p:cNvPicPr>
                        <p:nvPr/>
                      </p:nvPicPr>
                      <p:blipFill>
                        <a:blip r:embed="rId10"/>
                        <a:stretch>
                          <a:fillRect/>
                        </a:stretch>
                      </p:blipFill>
                      <p:spPr>
                        <a:xfrm>
                          <a:off x="2366" y="3522"/>
                          <a:ext cx="272" cy="317"/>
                        </a:xfrm>
                        <a:prstGeom prst="rect">
                          <a:avLst/>
                        </a:prstGeom>
                        <a:noFill/>
                        <a:ln w="9525">
                          <a:noFill/>
                        </a:ln>
                      </p:spPr>
                    </p:pic>
                  </p:oleObj>
                </mc:Fallback>
              </mc:AlternateContent>
            </a:graphicData>
          </a:graphic>
        </p:graphicFrame>
      </p:grpSp>
      <p:graphicFrame>
        <p:nvGraphicFramePr>
          <p:cNvPr id="43014" name="Object 10"/>
          <p:cNvGraphicFramePr>
            <a:graphicFrameLocks noChangeAspect="1"/>
          </p:cNvGraphicFramePr>
          <p:nvPr/>
        </p:nvGraphicFramePr>
        <p:xfrm>
          <a:off x="2319884" y="5850411"/>
          <a:ext cx="2376735" cy="884877"/>
        </p:xfrm>
        <a:graphic>
          <a:graphicData uri="http://schemas.openxmlformats.org/presentationml/2006/ole">
            <mc:AlternateContent xmlns:mc="http://schemas.openxmlformats.org/markup-compatibility/2006">
              <mc:Choice xmlns:v="urn:schemas-microsoft-com:vml" Requires="v">
                <p:oleObj spid="_x0000_s31806" name="Equation" r:id="rId11" imgW="23774400" imgH="9448800" progId="">
                  <p:embed/>
                </p:oleObj>
              </mc:Choice>
              <mc:Fallback>
                <p:oleObj name="Equation" r:id="rId11" imgW="23774400" imgH="9448800" progId="">
                  <p:embed/>
                  <p:pic>
                    <p:nvPicPr>
                      <p:cNvPr id="0" name="图片 31787"/>
                      <p:cNvPicPr>
                        <a:picLocks noChangeAspect="1"/>
                      </p:cNvPicPr>
                      <p:nvPr/>
                    </p:nvPicPr>
                    <p:blipFill>
                      <a:blip r:embed="rId12"/>
                      <a:stretch>
                        <a:fillRect/>
                      </a:stretch>
                    </p:blipFill>
                    <p:spPr>
                      <a:xfrm>
                        <a:off x="2319884" y="5850411"/>
                        <a:ext cx="2376735" cy="884877"/>
                      </a:xfrm>
                      <a:prstGeom prst="rect">
                        <a:avLst/>
                      </a:prstGeom>
                      <a:noFill/>
                      <a:ln w="9525">
                        <a:noFill/>
                      </a:ln>
                    </p:spPr>
                  </p:pic>
                </p:oleObj>
              </mc:Fallback>
            </mc:AlternateContent>
          </a:graphicData>
        </a:graphic>
      </p:graphicFrame>
      <p:sp>
        <p:nvSpPr>
          <p:cNvPr id="43015" name="矩形 12"/>
          <p:cNvSpPr>
            <a:spLocks noChangeArrowheads="1"/>
          </p:cNvSpPr>
          <p:nvPr/>
        </p:nvSpPr>
        <p:spPr bwMode="auto">
          <a:xfrm>
            <a:off x="1763713" y="6092825"/>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①</a:t>
            </a:r>
          </a:p>
        </p:txBody>
      </p:sp>
      <p:sp>
        <p:nvSpPr>
          <p:cNvPr id="3" name="文本框 2"/>
          <p:cNvSpPr txBox="1"/>
          <p:nvPr/>
        </p:nvSpPr>
        <p:spPr>
          <a:xfrm>
            <a:off x="6915519" y="1871573"/>
            <a:ext cx="383438" cy="400110"/>
          </a:xfrm>
          <a:prstGeom prst="rect">
            <a:avLst/>
          </a:prstGeom>
          <a:noFill/>
        </p:spPr>
        <p:txBody>
          <a:bodyPr wrap="none" rtlCol="0">
            <a:spAutoFit/>
          </a:bodyPr>
          <a:lstStyle/>
          <a:p>
            <a:r>
              <a:rPr lang="en-US" altLang="zh-CN" sz="2000" b="1" i="1" dirty="0">
                <a:latin typeface="Times New Roman" panose="02020603050405020304" pitchFamily="18" charset="0"/>
                <a:cs typeface="Times New Roman" panose="02020603050405020304" pitchFamily="18" charset="0"/>
              </a:rPr>
              <a:t>v</a:t>
            </a:r>
            <a:r>
              <a:rPr lang="en-US" altLang="zh-CN" sz="2000" b="1" baseline="-25000" dirty="0">
                <a:latin typeface="Times New Roman" panose="02020603050405020304" pitchFamily="18" charset="0"/>
                <a:cs typeface="Times New Roman" panose="02020603050405020304" pitchFamily="18" charset="0"/>
              </a:rPr>
              <a:t>0</a:t>
            </a:r>
            <a:endParaRPr lang="zh-CN" altLang="en-US" sz="2000" b="1" baseline="-250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B5E5724E-2106-4ECF-A33D-8E4B743D716F}" type="slidenum">
              <a:rPr lang="en-US" altLang="zh-CN" smtClean="0">
                <a:solidFill>
                  <a:srgbClr val="000000"/>
                </a:solidFill>
              </a:rPr>
              <a:t>52</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684213" y="836613"/>
            <a:ext cx="647700"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且</a:t>
            </a:r>
            <a:endParaRPr lang="en-US" altLang="zh-CN" sz="2000" b="1" dirty="0">
              <a:solidFill>
                <a:srgbClr val="000000"/>
              </a:solidFill>
              <a:latin typeface="Times New Roman" panose="02020603050405020304" pitchFamily="18" charset="0"/>
            </a:endParaRPr>
          </a:p>
        </p:txBody>
      </p:sp>
      <p:graphicFrame>
        <p:nvGraphicFramePr>
          <p:cNvPr id="44035" name="Object 3"/>
          <p:cNvGraphicFramePr>
            <a:graphicFrameLocks noGrp="1" noChangeAspect="1"/>
          </p:cNvGraphicFramePr>
          <p:nvPr>
            <p:ph/>
          </p:nvPr>
        </p:nvGraphicFramePr>
        <p:xfrm>
          <a:off x="1692275" y="836613"/>
          <a:ext cx="3168650" cy="1184275"/>
        </p:xfrm>
        <a:graphic>
          <a:graphicData uri="http://schemas.openxmlformats.org/presentationml/2006/ole">
            <mc:AlternateContent xmlns:mc="http://schemas.openxmlformats.org/markup-compatibility/2006">
              <mc:Choice xmlns:v="urn:schemas-microsoft-com:vml" Requires="v">
                <p:oleObj spid="_x0000_s32813" name="Equation" r:id="rId4" imgW="25298400" imgH="9448800" progId="">
                  <p:embed/>
                </p:oleObj>
              </mc:Choice>
              <mc:Fallback>
                <p:oleObj name="Equation" r:id="rId4" imgW="25298400" imgH="9448800" progId="">
                  <p:embed/>
                  <p:pic>
                    <p:nvPicPr>
                      <p:cNvPr id="0" name="图片 32768"/>
                      <p:cNvPicPr>
                        <a:picLocks noGrp="1" noChangeAspect="1"/>
                      </p:cNvPicPr>
                      <p:nvPr/>
                    </p:nvPicPr>
                    <p:blipFill>
                      <a:blip r:embed="rId5"/>
                      <a:stretch>
                        <a:fillRect/>
                      </a:stretch>
                    </p:blipFill>
                    <p:spPr>
                      <a:xfrm>
                        <a:off x="1692275" y="836613"/>
                        <a:ext cx="3168650" cy="1184275"/>
                      </a:xfrm>
                      <a:prstGeom prst="rect">
                        <a:avLst/>
                      </a:prstGeom>
                      <a:noFill/>
                      <a:ln w="9525">
                        <a:noFill/>
                      </a:ln>
                    </p:spPr>
                  </p:pic>
                </p:oleObj>
              </mc:Fallback>
            </mc:AlternateContent>
          </a:graphicData>
        </a:graphic>
      </p:graphicFrame>
      <p:graphicFrame>
        <p:nvGraphicFramePr>
          <p:cNvPr id="44036" name="Object 4"/>
          <p:cNvGraphicFramePr>
            <a:graphicFrameLocks noChangeAspect="1"/>
          </p:cNvGraphicFramePr>
          <p:nvPr/>
        </p:nvGraphicFramePr>
        <p:xfrm>
          <a:off x="5580063" y="1196975"/>
          <a:ext cx="2016125" cy="679450"/>
        </p:xfrm>
        <a:graphic>
          <a:graphicData uri="http://schemas.openxmlformats.org/presentationml/2006/ole">
            <mc:AlternateContent xmlns:mc="http://schemas.openxmlformats.org/markup-compatibility/2006">
              <mc:Choice xmlns:v="urn:schemas-microsoft-com:vml" Requires="v">
                <p:oleObj spid="_x0000_s32814" name="Equation" r:id="rId6" imgW="13716000" imgH="5486400" progId="">
                  <p:embed/>
                </p:oleObj>
              </mc:Choice>
              <mc:Fallback>
                <p:oleObj name="Equation" r:id="rId6" imgW="13716000" imgH="5486400" progId="">
                  <p:embed/>
                  <p:pic>
                    <p:nvPicPr>
                      <p:cNvPr id="0" name="图片 32799"/>
                      <p:cNvPicPr>
                        <a:picLocks noChangeAspect="1"/>
                      </p:cNvPicPr>
                      <p:nvPr/>
                    </p:nvPicPr>
                    <p:blipFill>
                      <a:blip r:embed="rId7"/>
                      <a:stretch>
                        <a:fillRect/>
                      </a:stretch>
                    </p:blipFill>
                    <p:spPr>
                      <a:xfrm>
                        <a:off x="5580063" y="1196975"/>
                        <a:ext cx="2016125" cy="679450"/>
                      </a:xfrm>
                      <a:prstGeom prst="rect">
                        <a:avLst/>
                      </a:prstGeom>
                      <a:noFill/>
                      <a:ln w="9525">
                        <a:noFill/>
                      </a:ln>
                    </p:spPr>
                  </p:pic>
                </p:oleObj>
              </mc:Fallback>
            </mc:AlternateContent>
          </a:graphicData>
        </a:graphic>
      </p:graphicFrame>
      <p:sp>
        <p:nvSpPr>
          <p:cNvPr id="44037" name="Text Box 5"/>
          <p:cNvSpPr txBox="1">
            <a:spLocks noChangeArrowheads="1"/>
          </p:cNvSpPr>
          <p:nvPr/>
        </p:nvSpPr>
        <p:spPr bwMode="auto">
          <a:xfrm>
            <a:off x="755650" y="2133600"/>
            <a:ext cx="865188" cy="396875"/>
          </a:xfrm>
          <a:prstGeom prst="rect">
            <a:avLst/>
          </a:prstGeom>
          <a:noFill/>
          <a:ln w="9525">
            <a:noFill/>
            <a:miter lim="800000"/>
          </a:ln>
        </p:spPr>
        <p:txBody>
          <a:bodyPr>
            <a:spAutoFit/>
          </a:bodyPr>
          <a:lstStyle/>
          <a:p>
            <a:pPr fontAlgn="base">
              <a:spcBef>
                <a:spcPct val="50000"/>
              </a:spcBef>
              <a:spcAft>
                <a:spcPct val="0"/>
              </a:spcAft>
            </a:pPr>
            <a:r>
              <a:rPr lang="zh-CN" altLang="en-US" sz="2000" b="1">
                <a:solidFill>
                  <a:srgbClr val="000000"/>
                </a:solidFill>
                <a:latin typeface="Times New Roman" panose="02020603050405020304" pitchFamily="18" charset="0"/>
              </a:rPr>
              <a:t>因此</a:t>
            </a:r>
            <a:r>
              <a:rPr lang="en-US" altLang="zh-CN" sz="2000" b="1">
                <a:solidFill>
                  <a:srgbClr val="000000"/>
                </a:solidFill>
                <a:latin typeface="Times New Roman" panose="02020603050405020304" pitchFamily="18" charset="0"/>
              </a:rPr>
              <a:t>,</a:t>
            </a:r>
          </a:p>
        </p:txBody>
      </p:sp>
      <p:graphicFrame>
        <p:nvGraphicFramePr>
          <p:cNvPr id="44038" name="Object 6"/>
          <p:cNvGraphicFramePr>
            <a:graphicFrameLocks noChangeAspect="1"/>
          </p:cNvGraphicFramePr>
          <p:nvPr/>
        </p:nvGraphicFramePr>
        <p:xfrm>
          <a:off x="2411413" y="2420938"/>
          <a:ext cx="3024187" cy="1287462"/>
        </p:xfrm>
        <a:graphic>
          <a:graphicData uri="http://schemas.openxmlformats.org/presentationml/2006/ole">
            <mc:AlternateContent xmlns:mc="http://schemas.openxmlformats.org/markup-compatibility/2006">
              <mc:Choice xmlns:v="urn:schemas-microsoft-com:vml" Requires="v">
                <p:oleObj spid="_x0000_s32815" name="Equation" r:id="rId8" imgW="23469600" imgH="10363200" progId="">
                  <p:embed/>
                </p:oleObj>
              </mc:Choice>
              <mc:Fallback>
                <p:oleObj name="Equation" r:id="rId8" imgW="23469600" imgH="10363200" progId="">
                  <p:embed/>
                  <p:pic>
                    <p:nvPicPr>
                      <p:cNvPr id="0" name="图片 32800"/>
                      <p:cNvPicPr>
                        <a:picLocks noChangeAspect="1"/>
                      </p:cNvPicPr>
                      <p:nvPr/>
                    </p:nvPicPr>
                    <p:blipFill>
                      <a:blip r:embed="rId9"/>
                      <a:stretch>
                        <a:fillRect/>
                      </a:stretch>
                    </p:blipFill>
                    <p:spPr>
                      <a:xfrm>
                        <a:off x="2411413" y="2420938"/>
                        <a:ext cx="3024187" cy="1287462"/>
                      </a:xfrm>
                      <a:prstGeom prst="rect">
                        <a:avLst/>
                      </a:prstGeom>
                      <a:noFill/>
                      <a:ln w="9525">
                        <a:noFill/>
                      </a:ln>
                    </p:spPr>
                  </p:pic>
                </p:oleObj>
              </mc:Fallback>
            </mc:AlternateContent>
          </a:graphicData>
        </a:graphic>
      </p:graphicFrame>
      <p:sp>
        <p:nvSpPr>
          <p:cNvPr id="44039" name="Text Box 7"/>
          <p:cNvSpPr txBox="1">
            <a:spLocks noChangeArrowheads="1"/>
          </p:cNvSpPr>
          <p:nvPr/>
        </p:nvSpPr>
        <p:spPr bwMode="auto">
          <a:xfrm>
            <a:off x="468313" y="4005263"/>
            <a:ext cx="8351837" cy="2214517"/>
          </a:xfrm>
          <a:prstGeom prst="rect">
            <a:avLst/>
          </a:prstGeom>
          <a:noFill/>
          <a:ln w="9525">
            <a:noFill/>
            <a:miter lim="800000"/>
          </a:ln>
        </p:spPr>
        <p:txBody>
          <a:bodyPr>
            <a:spAutoFit/>
          </a:bodyPr>
          <a:lstStyle/>
          <a:p>
            <a:pPr fontAlgn="base">
              <a:lnSpc>
                <a:spcPct val="120000"/>
              </a:lnSpc>
              <a:spcBef>
                <a:spcPct val="5000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电阻的</a:t>
            </a:r>
            <a:r>
              <a:rPr lang="zh-CN" altLang="en-US" sz="2000" b="1" dirty="0">
                <a:solidFill>
                  <a:srgbClr val="0000FF"/>
                </a:solidFill>
                <a:latin typeface="Times New Roman" panose="02020603050405020304" pitchFamily="18" charset="0"/>
              </a:rPr>
              <a:t>负值</a:t>
            </a:r>
            <a:r>
              <a:rPr lang="zh-CN" altLang="en-US" sz="2000" b="1" dirty="0">
                <a:solidFill>
                  <a:srgbClr val="000000"/>
                </a:solidFill>
                <a:latin typeface="Times New Roman" panose="02020603050405020304" pitchFamily="18" charset="0"/>
              </a:rPr>
              <a:t>告诉我们，根据无源符号约定，图</a:t>
            </a:r>
            <a:r>
              <a:rPr lang="en-US" altLang="zh-CN" sz="2000" b="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rPr>
              <a:t>中的电路是供电的。它是提供电力的独立电源。这是一个受控源和电阻可以用来模拟</a:t>
            </a:r>
            <a:r>
              <a:rPr lang="zh-CN" altLang="en-US" sz="2000" b="1" dirty="0">
                <a:solidFill>
                  <a:srgbClr val="0000FF"/>
                </a:solidFill>
                <a:latin typeface="Times New Roman" panose="02020603050405020304" pitchFamily="18" charset="0"/>
              </a:rPr>
              <a:t>负电阻</a:t>
            </a:r>
            <a:r>
              <a:rPr lang="zh-CN" altLang="en-US" sz="2000" b="1" dirty="0">
                <a:solidFill>
                  <a:srgbClr val="000000"/>
                </a:solidFill>
                <a:latin typeface="Times New Roman" panose="02020603050405020304" pitchFamily="18" charset="0"/>
              </a:rPr>
              <a:t>的例子。</a:t>
            </a:r>
            <a:endParaRPr lang="en-US" altLang="zh-CN" sz="2000" b="1" dirty="0">
              <a:solidFill>
                <a:srgbClr val="000000"/>
              </a:solidFill>
              <a:latin typeface="Times New Roman" panose="02020603050405020304" pitchFamily="18" charset="0"/>
            </a:endParaRPr>
          </a:p>
          <a:p>
            <a:pPr fontAlgn="base">
              <a:lnSpc>
                <a:spcPct val="120000"/>
              </a:lnSpc>
              <a:spcBef>
                <a:spcPct val="50000"/>
              </a:spcBef>
              <a:spcAft>
                <a:spcPct val="0"/>
              </a:spcAft>
            </a:pPr>
            <a:endParaRPr lang="en-US" altLang="zh-CN" sz="2000" b="1" dirty="0">
              <a:solidFill>
                <a:srgbClr val="000000"/>
              </a:solidFill>
              <a:latin typeface="Times New Roman" panose="02020603050405020304" pitchFamily="18" charset="0"/>
            </a:endParaRPr>
          </a:p>
          <a:p>
            <a:pPr fontAlgn="base">
              <a:lnSpc>
                <a:spcPct val="120000"/>
              </a:lnSpc>
              <a:spcBef>
                <a:spcPct val="50000"/>
              </a:spcBef>
              <a:spcAft>
                <a:spcPct val="0"/>
              </a:spcAft>
            </a:pPr>
            <a:r>
              <a:rPr lang="zh-CN" altLang="en-US" sz="2000" b="1" dirty="0">
                <a:solidFill>
                  <a:srgbClr val="FF0000"/>
                </a:solidFill>
                <a:latin typeface="Times New Roman" panose="02020603050405020304" pitchFamily="18" charset="0"/>
              </a:rPr>
              <a:t>思考：</a:t>
            </a:r>
            <a:r>
              <a:rPr lang="zh-CN" altLang="en-US" sz="2000" b="1" dirty="0">
                <a:solidFill>
                  <a:srgbClr val="000000"/>
                </a:solidFill>
                <a:latin typeface="Times New Roman" panose="02020603050405020304" pitchFamily="18" charset="0"/>
              </a:rPr>
              <a:t>负电阻的伏安特性曲线？</a:t>
            </a:r>
            <a:endParaRPr lang="en-US" altLang="zh-CN" sz="2000" b="1" dirty="0">
              <a:solidFill>
                <a:srgbClr val="000000"/>
              </a:solidFill>
              <a:latin typeface="Times New Roman" panose="02020603050405020304" pitchFamily="18" charset="0"/>
            </a:endParaRPr>
          </a:p>
        </p:txBody>
      </p:sp>
      <p:sp>
        <p:nvSpPr>
          <p:cNvPr id="44040" name="矩形 9"/>
          <p:cNvSpPr>
            <a:spLocks noChangeArrowheads="1"/>
          </p:cNvSpPr>
          <p:nvPr/>
        </p:nvSpPr>
        <p:spPr bwMode="auto">
          <a:xfrm>
            <a:off x="1116013" y="1341438"/>
            <a:ext cx="441325" cy="400050"/>
          </a:xfrm>
          <a:prstGeom prst="rect">
            <a:avLst/>
          </a:prstGeom>
          <a:noFill/>
          <a:ln w="9525">
            <a:noFill/>
            <a:miter lim="800000"/>
          </a:ln>
        </p:spPr>
        <p:txBody>
          <a:bodyPr wrap="none">
            <a:spAutoFit/>
          </a:bodyPr>
          <a:lstStyle/>
          <a:p>
            <a:pPr fontAlgn="base">
              <a:spcBef>
                <a:spcPct val="0"/>
              </a:spcBef>
              <a:spcAft>
                <a:spcPct val="0"/>
              </a:spcAft>
            </a:pPr>
            <a:r>
              <a:rPr lang="zh-CN" altLang="en-US" sz="2000" b="1">
                <a:solidFill>
                  <a:srgbClr val="000000"/>
                </a:solidFill>
                <a:latin typeface="Times New Roman" panose="02020603050405020304" pitchFamily="18" charset="0"/>
              </a:rPr>
              <a:t>②</a:t>
            </a:r>
          </a:p>
        </p:txBody>
      </p:sp>
      <p:sp>
        <p:nvSpPr>
          <p:cNvPr id="2" name="灯片编号占位符 1"/>
          <p:cNvSpPr>
            <a:spLocks noGrp="1"/>
          </p:cNvSpPr>
          <p:nvPr>
            <p:ph type="sldNum" sz="quarter" idx="11"/>
          </p:nvPr>
        </p:nvSpPr>
        <p:spPr/>
        <p:txBody>
          <a:bodyPr/>
          <a:lstStyle/>
          <a:p>
            <a:pPr>
              <a:defRPr/>
            </a:pPr>
            <a:fld id="{B5E5724E-2106-4ECF-A33D-8E4B743D716F}" type="slidenum">
              <a:rPr lang="en-US" altLang="zh-CN" smtClean="0">
                <a:solidFill>
                  <a:srgbClr val="000000"/>
                </a:solidFill>
              </a:rPr>
              <a:t>53</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p:nvPr>
        </p:nvPicPr>
        <p:blipFill>
          <a:blip r:embed="rId2"/>
          <a:stretch>
            <a:fillRect/>
          </a:stretch>
        </p:blipFill>
        <p:spPr>
          <a:xfrm>
            <a:off x="323528" y="692696"/>
            <a:ext cx="8001000" cy="962025"/>
          </a:xfrm>
          <a:prstGeom prst="rect">
            <a:avLst/>
          </a:prstGeom>
        </p:spPr>
      </p:pic>
      <p:sp>
        <p:nvSpPr>
          <p:cNvPr id="3" name="灯片编号占位符 2"/>
          <p:cNvSpPr>
            <a:spLocks noGrp="1"/>
          </p:cNvSpPr>
          <p:nvPr>
            <p:ph type="sldNum" sz="quarter" idx="11"/>
          </p:nvPr>
        </p:nvSpPr>
        <p:spPr/>
        <p:txBody>
          <a:bodyPr/>
          <a:lstStyle/>
          <a:p>
            <a:pPr>
              <a:defRPr/>
            </a:pPr>
            <a:fld id="{B5E5724E-2106-4ECF-A33D-8E4B743D716F}" type="slidenum">
              <a:rPr lang="en-US" altLang="zh-CN" smtClean="0">
                <a:solidFill>
                  <a:srgbClr val="000000"/>
                </a:solidFill>
              </a:rPr>
              <a:t>54</a:t>
            </a:fld>
            <a:endParaRPr lang="en-US" altLang="zh-CN">
              <a:solidFill>
                <a:srgbClr val="000000"/>
              </a:solidFill>
            </a:endParaRPr>
          </a:p>
        </p:txBody>
      </p:sp>
      <p:pic>
        <p:nvPicPr>
          <p:cNvPr id="5" name="图片 4"/>
          <p:cNvPicPr>
            <a:picLocks noChangeAspect="1"/>
          </p:cNvPicPr>
          <p:nvPr/>
        </p:nvPicPr>
        <p:blipFill>
          <a:blip r:embed="rId3"/>
          <a:stretch>
            <a:fillRect/>
          </a:stretch>
        </p:blipFill>
        <p:spPr>
          <a:xfrm>
            <a:off x="4286248" y="1986353"/>
            <a:ext cx="4000528" cy="2476098"/>
          </a:xfrm>
          <a:prstGeom prst="rect">
            <a:avLst/>
          </a:prstGeom>
        </p:spPr>
      </p:pic>
      <p:sp>
        <p:nvSpPr>
          <p:cNvPr id="6" name="TextBox 5"/>
          <p:cNvSpPr txBox="1"/>
          <p:nvPr/>
        </p:nvSpPr>
        <p:spPr>
          <a:xfrm>
            <a:off x="357158" y="1285860"/>
            <a:ext cx="3214710" cy="4801314"/>
          </a:xfrm>
          <a:prstGeom prst="rect">
            <a:avLst/>
          </a:prstGeom>
          <a:noFill/>
        </p:spPr>
        <p:txBody>
          <a:bodyPr wrap="square" rtlCol="0">
            <a:spAutoFit/>
          </a:bodyPr>
          <a:lstStyle/>
          <a:p>
            <a:r>
              <a:rPr lang="zh-CN" altLang="en-US" dirty="0" smtClean="0"/>
              <a:t>解：因为没有独立电源，所以</a:t>
            </a:r>
            <a:r>
              <a:rPr lang="en-US" altLang="zh-CN" dirty="0" err="1" smtClean="0"/>
              <a:t>Vth</a:t>
            </a:r>
            <a:r>
              <a:rPr lang="en-US" altLang="zh-CN" dirty="0" smtClean="0"/>
              <a:t>=0;</a:t>
            </a:r>
          </a:p>
          <a:p>
            <a:endParaRPr lang="en-US" altLang="zh-CN" dirty="0" smtClean="0"/>
          </a:p>
          <a:p>
            <a:r>
              <a:rPr lang="zh-CN" altLang="en-US" dirty="0" smtClean="0"/>
              <a:t>（</a:t>
            </a:r>
            <a:r>
              <a:rPr lang="en-US" altLang="zh-CN" dirty="0" smtClean="0"/>
              <a:t>1</a:t>
            </a:r>
            <a:r>
              <a:rPr lang="zh-CN" altLang="en-US" dirty="0" smtClean="0"/>
              <a:t>）求</a:t>
            </a:r>
            <a:r>
              <a:rPr lang="en-US" altLang="zh-CN" dirty="0" err="1" smtClean="0"/>
              <a:t>Rth</a:t>
            </a:r>
            <a:endParaRPr lang="en-US" altLang="zh-CN" dirty="0" smtClean="0"/>
          </a:p>
          <a:p>
            <a:r>
              <a:rPr lang="zh-CN" altLang="en-US" dirty="0" smtClean="0"/>
              <a:t>假设在</a:t>
            </a:r>
            <a:r>
              <a:rPr lang="en-US" altLang="zh-CN" dirty="0" err="1" smtClean="0"/>
              <a:t>ab</a:t>
            </a:r>
            <a:r>
              <a:rPr lang="zh-CN" altLang="en-US" dirty="0" smtClean="0"/>
              <a:t>间加</a:t>
            </a:r>
            <a:r>
              <a:rPr lang="en-US" altLang="zh-CN" dirty="0" smtClean="0"/>
              <a:t>1V</a:t>
            </a:r>
            <a:r>
              <a:rPr lang="zh-CN" altLang="en-US" dirty="0" smtClean="0"/>
              <a:t>的电压源，流出的电流为</a:t>
            </a:r>
            <a:r>
              <a:rPr lang="en-US" altLang="zh-CN" dirty="0" smtClean="0"/>
              <a:t>I0,</a:t>
            </a:r>
            <a:r>
              <a:rPr lang="zh-CN" altLang="en-US" dirty="0" smtClean="0"/>
              <a:t>方向由</a:t>
            </a:r>
            <a:r>
              <a:rPr lang="en-US" altLang="zh-CN" dirty="0" smtClean="0"/>
              <a:t>b</a:t>
            </a:r>
            <a:r>
              <a:rPr lang="zh-CN" altLang="en-US" dirty="0" smtClean="0"/>
              <a:t>指向</a:t>
            </a:r>
            <a:r>
              <a:rPr lang="en-US" altLang="zh-CN" dirty="0" smtClean="0"/>
              <a:t>a</a:t>
            </a:r>
            <a:r>
              <a:rPr lang="zh-CN" altLang="en-US" dirty="0" smtClean="0"/>
              <a:t>。</a:t>
            </a:r>
            <a:endParaRPr lang="en-US" altLang="zh-CN" dirty="0" smtClean="0"/>
          </a:p>
          <a:p>
            <a:endParaRPr lang="en-US" altLang="zh-CN" dirty="0" smtClean="0"/>
          </a:p>
          <a:p>
            <a:r>
              <a:rPr lang="en-US" altLang="zh-CN" dirty="0" smtClean="0"/>
              <a:t>5*I1 +10*I1+4*Vx+1=0</a:t>
            </a:r>
          </a:p>
          <a:p>
            <a:r>
              <a:rPr lang="en-US" altLang="zh-CN" dirty="0" err="1" smtClean="0"/>
              <a:t>Vx</a:t>
            </a:r>
            <a:r>
              <a:rPr lang="en-US" altLang="zh-CN" dirty="0" smtClean="0"/>
              <a:t>=-5 * I1;</a:t>
            </a:r>
          </a:p>
          <a:p>
            <a:r>
              <a:rPr lang="en-US" altLang="zh-CN" dirty="0" smtClean="0"/>
              <a:t>I1=0.2(A)</a:t>
            </a:r>
          </a:p>
          <a:p>
            <a:endParaRPr lang="en-US" altLang="zh-CN" dirty="0" smtClean="0"/>
          </a:p>
          <a:p>
            <a:r>
              <a:rPr lang="en-US" altLang="zh-CN" dirty="0" smtClean="0"/>
              <a:t>I1+I0=1/15</a:t>
            </a:r>
          </a:p>
          <a:p>
            <a:endParaRPr lang="en-US" altLang="zh-CN" dirty="0" smtClean="0"/>
          </a:p>
          <a:p>
            <a:r>
              <a:rPr lang="en-US" altLang="zh-CN" dirty="0" smtClean="0"/>
              <a:t>I0=1/15-1/5 =-2/15</a:t>
            </a:r>
          </a:p>
          <a:p>
            <a:endParaRPr lang="en-US" altLang="zh-CN" dirty="0" smtClean="0"/>
          </a:p>
          <a:p>
            <a:r>
              <a:rPr lang="en-US" altLang="zh-CN" dirty="0" err="1" smtClean="0"/>
              <a:t>Rth</a:t>
            </a:r>
            <a:r>
              <a:rPr lang="en-US" altLang="zh-CN" dirty="0" smtClean="0"/>
              <a:t>= 1/I0=-15/2=-7.5Ʊ</a:t>
            </a:r>
          </a:p>
          <a:p>
            <a:endParaRPr lang="zh-CN" alt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95288" y="333375"/>
            <a:ext cx="7416800" cy="769938"/>
          </a:xfrm>
          <a:prstGeom prst="rect">
            <a:avLst/>
          </a:prstGeom>
          <a:noFill/>
          <a:ln w="9525">
            <a:noFill/>
            <a:miter lim="800000"/>
          </a:ln>
        </p:spPr>
        <p:txBody>
          <a:bodyPr>
            <a:spAutoFit/>
          </a:bodyPr>
          <a:lstStyle/>
          <a:p>
            <a:pPr fontAlgn="base">
              <a:spcBef>
                <a:spcPct val="50000"/>
              </a:spcBef>
              <a:spcAft>
                <a:spcPct val="0"/>
              </a:spcAft>
            </a:pPr>
            <a:r>
              <a:rPr lang="en-US" altLang="zh-CN" sz="4000" dirty="0">
                <a:solidFill>
                  <a:srgbClr val="0000FF"/>
                </a:solidFill>
                <a:latin typeface="Franklin Gothic Medium" panose="020B0603020102020204" pitchFamily="34" charset="0"/>
              </a:rPr>
              <a:t>4.6 </a:t>
            </a:r>
            <a:r>
              <a:rPr lang="en-US" altLang="zh-CN" sz="4400" dirty="0">
                <a:solidFill>
                  <a:srgbClr val="0000FF"/>
                </a:solidFill>
                <a:latin typeface="Franklin Gothic Medium" panose="020B0603020102020204" pitchFamily="34" charset="0"/>
              </a:rPr>
              <a:t> </a:t>
            </a:r>
            <a:r>
              <a:rPr lang="zh-CN" altLang="en-US" sz="3600" b="1" dirty="0">
                <a:solidFill>
                  <a:srgbClr val="0000FF"/>
                </a:solidFill>
                <a:latin typeface="Franklin Gothic Medium" panose="020B0603020102020204" pitchFamily="34" charset="0"/>
              </a:rPr>
              <a:t>诺顿定理</a:t>
            </a:r>
            <a:endParaRPr lang="en-US" altLang="zh-CN" sz="4400" b="1" dirty="0">
              <a:solidFill>
                <a:srgbClr val="0000FF"/>
              </a:solidFill>
              <a:latin typeface="Franklin Gothic Medium" panose="020B0603020102020204" pitchFamily="34" charset="0"/>
            </a:endParaRPr>
          </a:p>
        </p:txBody>
      </p:sp>
      <p:sp>
        <p:nvSpPr>
          <p:cNvPr id="45059" name="Text Box 3"/>
          <p:cNvSpPr txBox="1">
            <a:spLocks noChangeArrowheads="1"/>
          </p:cNvSpPr>
          <p:nvPr/>
        </p:nvSpPr>
        <p:spPr bwMode="auto">
          <a:xfrm>
            <a:off x="431800" y="1222375"/>
            <a:ext cx="7524576" cy="1015663"/>
          </a:xfrm>
          <a:prstGeom prst="rect">
            <a:avLst/>
          </a:prstGeom>
          <a:noFill/>
          <a:ln w="76200" cmpd="tri">
            <a:solidFill>
              <a:schemeClr val="tx1"/>
            </a:solidFill>
            <a:miter lim="800000"/>
          </a:ln>
        </p:spPr>
        <p:txBody>
          <a:bodyPr wrap="square">
            <a:spAutoFit/>
          </a:bodyPr>
          <a:lstStyle/>
          <a:p>
            <a:pPr fontAlgn="base">
              <a:spcBef>
                <a:spcPct val="50000"/>
              </a:spcBef>
              <a:spcAft>
                <a:spcPct val="0"/>
              </a:spcAft>
            </a:pPr>
            <a:r>
              <a:rPr lang="zh-CN" altLang="en-US" sz="2000" b="1" dirty="0">
                <a:solidFill>
                  <a:srgbClr val="FF0000"/>
                </a:solidFill>
                <a:latin typeface="Arial Black" panose="020B0A04020102020204" pitchFamily="34" charset="0"/>
              </a:rPr>
              <a:t>      诺顿定理</a:t>
            </a:r>
            <a:r>
              <a:rPr lang="zh-CN" altLang="en-US" sz="2000" b="1" dirty="0">
                <a:solidFill>
                  <a:srgbClr val="000000"/>
                </a:solidFill>
                <a:latin typeface="Arial Black" panose="020B0A04020102020204" pitchFamily="34" charset="0"/>
              </a:rPr>
              <a:t>：一个线性二端电路，可以被一个电流源</a:t>
            </a: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baseline="-25000" dirty="0">
                <a:solidFill>
                  <a:srgbClr val="000000"/>
                </a:solidFill>
                <a:latin typeface="Times New Roman" panose="02020603050405020304" pitchFamily="18" charset="0"/>
                <a:cs typeface="Times New Roman" panose="02020603050405020304" pitchFamily="18" charset="0"/>
              </a:rPr>
              <a:t>N</a:t>
            </a:r>
            <a:r>
              <a:rPr lang="zh-CN" altLang="en-US" sz="2000" b="1" dirty="0">
                <a:solidFill>
                  <a:srgbClr val="000000"/>
                </a:solidFill>
                <a:latin typeface="Arial Black" panose="020B0A04020102020204" pitchFamily="34" charset="0"/>
              </a:rPr>
              <a:t>并联一个电阻</a:t>
            </a:r>
            <a:r>
              <a:rPr lang="en-US" altLang="zh-CN" sz="2000" b="1" i="1" dirty="0">
                <a:solidFill>
                  <a:srgbClr val="000000"/>
                </a:solidFill>
                <a:latin typeface="Times New Roman" panose="02020603050405020304" pitchFamily="18" charset="0"/>
                <a:cs typeface="Times New Roman" panose="02020603050405020304" pitchFamily="18" charset="0"/>
              </a:rPr>
              <a:t>R</a:t>
            </a:r>
            <a:r>
              <a:rPr lang="en-US" altLang="zh-CN" sz="2000" b="1" baseline="-25000" dirty="0">
                <a:solidFill>
                  <a:srgbClr val="000000"/>
                </a:solidFill>
                <a:latin typeface="Times New Roman" panose="02020603050405020304" pitchFamily="18" charset="0"/>
                <a:cs typeface="Times New Roman" panose="02020603050405020304" pitchFamily="18" charset="0"/>
              </a:rPr>
              <a:t>N</a:t>
            </a:r>
            <a:r>
              <a:rPr lang="zh-CN" altLang="en-US" sz="2000" b="1" dirty="0">
                <a:solidFill>
                  <a:srgbClr val="000000"/>
                </a:solidFill>
                <a:latin typeface="Arial Black" panose="020B0A04020102020204" pitchFamily="34" charset="0"/>
              </a:rPr>
              <a:t>组成的等效电路替代，</a:t>
            </a: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baseline="-25000" dirty="0">
                <a:solidFill>
                  <a:srgbClr val="000000"/>
                </a:solidFill>
                <a:latin typeface="Times New Roman" panose="02020603050405020304" pitchFamily="18" charset="0"/>
                <a:cs typeface="Times New Roman" panose="02020603050405020304" pitchFamily="18" charset="0"/>
              </a:rPr>
              <a:t>N</a:t>
            </a:r>
            <a:r>
              <a:rPr lang="zh-CN" altLang="en-US" sz="2000" b="1" dirty="0">
                <a:solidFill>
                  <a:srgbClr val="000000"/>
                </a:solidFill>
                <a:latin typeface="Arial Black" panose="020B0A04020102020204" pitchFamily="34" charset="0"/>
              </a:rPr>
              <a:t>是通过端子的短路电流，</a:t>
            </a:r>
            <a:r>
              <a:rPr lang="en-US" altLang="zh-CN" sz="2000" b="1" i="1" dirty="0">
                <a:solidFill>
                  <a:srgbClr val="000000"/>
                </a:solidFill>
                <a:latin typeface="Times New Roman" panose="02020603050405020304" pitchFamily="18" charset="0"/>
                <a:cs typeface="Times New Roman" panose="02020603050405020304" pitchFamily="18" charset="0"/>
              </a:rPr>
              <a:t>R</a:t>
            </a:r>
            <a:r>
              <a:rPr lang="en-US" altLang="zh-CN" sz="2000" b="1" baseline="-25000" dirty="0">
                <a:solidFill>
                  <a:srgbClr val="000000"/>
                </a:solidFill>
                <a:latin typeface="Times New Roman" panose="02020603050405020304" pitchFamily="18" charset="0"/>
                <a:cs typeface="Times New Roman" panose="02020603050405020304" pitchFamily="18" charset="0"/>
              </a:rPr>
              <a:t>N</a:t>
            </a:r>
            <a:r>
              <a:rPr lang="zh-CN" altLang="en-US" sz="2000" b="1" dirty="0">
                <a:solidFill>
                  <a:srgbClr val="000000"/>
                </a:solidFill>
                <a:latin typeface="Arial Black" panose="020B0A04020102020204" pitchFamily="34" charset="0"/>
              </a:rPr>
              <a:t>是独立源关闭时端子的输入或者等效电阻。</a:t>
            </a:r>
            <a:endParaRPr lang="en-US" altLang="zh-CN" sz="2000" b="1" dirty="0">
              <a:solidFill>
                <a:srgbClr val="000000"/>
              </a:solidFill>
              <a:latin typeface="Arial Black" panose="020B0A04020102020204" pitchFamily="34" charset="0"/>
            </a:endParaRPr>
          </a:p>
        </p:txBody>
      </p:sp>
      <p:graphicFrame>
        <p:nvGraphicFramePr>
          <p:cNvPr id="45060" name="Object 4"/>
          <p:cNvGraphicFramePr>
            <a:graphicFrameLocks noChangeAspect="1"/>
          </p:cNvGraphicFramePr>
          <p:nvPr/>
        </p:nvGraphicFramePr>
        <p:xfrm>
          <a:off x="1844278" y="5301208"/>
          <a:ext cx="1792288" cy="762000"/>
        </p:xfrm>
        <a:graphic>
          <a:graphicData uri="http://schemas.openxmlformats.org/presentationml/2006/ole">
            <mc:AlternateContent xmlns:mc="http://schemas.openxmlformats.org/markup-compatibility/2006">
              <mc:Choice xmlns:v="urn:schemas-microsoft-com:vml" Requires="v">
                <p:oleObj spid="_x0000_s33823" name="Equation" r:id="rId3" imgW="24384000" imgH="10363200" progId="">
                  <p:embed/>
                </p:oleObj>
              </mc:Choice>
              <mc:Fallback>
                <p:oleObj name="Equation" r:id="rId3" imgW="24384000" imgH="10363200" progId="">
                  <p:embed/>
                  <p:pic>
                    <p:nvPicPr>
                      <p:cNvPr id="0" name="图片 33792"/>
                      <p:cNvPicPr>
                        <a:picLocks noChangeAspect="1"/>
                      </p:cNvPicPr>
                      <p:nvPr/>
                    </p:nvPicPr>
                    <p:blipFill>
                      <a:blip r:embed="rId4"/>
                      <a:stretch>
                        <a:fillRect/>
                      </a:stretch>
                    </p:blipFill>
                    <p:spPr>
                      <a:xfrm>
                        <a:off x="1844278" y="5301208"/>
                        <a:ext cx="1792288" cy="762000"/>
                      </a:xfrm>
                      <a:prstGeom prst="rect">
                        <a:avLst/>
                      </a:prstGeom>
                      <a:noFill/>
                      <a:ln w="9525">
                        <a:noFill/>
                      </a:ln>
                    </p:spPr>
                  </p:pic>
                </p:oleObj>
              </mc:Fallback>
            </mc:AlternateContent>
          </a:graphicData>
        </a:graphic>
      </p:graphicFrame>
      <p:pic>
        <p:nvPicPr>
          <p:cNvPr id="45061" name="Picture 11"/>
          <p:cNvPicPr>
            <a:picLocks noChangeAspect="1" noChangeArrowheads="1"/>
          </p:cNvPicPr>
          <p:nvPr/>
        </p:nvPicPr>
        <p:blipFill>
          <a:blip r:embed="rId5" cstate="print"/>
          <a:srcRect/>
          <a:stretch>
            <a:fillRect/>
          </a:stretch>
        </p:blipFill>
        <p:spPr bwMode="auto">
          <a:xfrm>
            <a:off x="5220071" y="2636912"/>
            <a:ext cx="2710817" cy="1194657"/>
          </a:xfrm>
          <a:prstGeom prst="rect">
            <a:avLst/>
          </a:prstGeom>
          <a:noFill/>
          <a:ln w="9525">
            <a:noFill/>
            <a:miter lim="800000"/>
            <a:headEnd/>
            <a:tailEnd/>
          </a:ln>
        </p:spPr>
      </p:pic>
      <p:graphicFrame>
        <p:nvGraphicFramePr>
          <p:cNvPr id="45069" name="Object 15"/>
          <p:cNvGraphicFramePr>
            <a:graphicFrameLocks noChangeAspect="1"/>
          </p:cNvGraphicFramePr>
          <p:nvPr/>
        </p:nvGraphicFramePr>
        <p:xfrm>
          <a:off x="1952228" y="4355058"/>
          <a:ext cx="1506538" cy="692150"/>
        </p:xfrm>
        <a:graphic>
          <a:graphicData uri="http://schemas.openxmlformats.org/presentationml/2006/ole">
            <mc:AlternateContent xmlns:mc="http://schemas.openxmlformats.org/markup-compatibility/2006">
              <mc:Choice xmlns:v="urn:schemas-microsoft-com:vml" Requires="v">
                <p:oleObj spid="_x0000_s33824" name="Equation" r:id="rId6" imgW="22555200" imgH="10363200" progId="">
                  <p:embed/>
                </p:oleObj>
              </mc:Choice>
              <mc:Fallback>
                <p:oleObj name="Equation" r:id="rId6" imgW="22555200" imgH="10363200" progId="">
                  <p:embed/>
                  <p:pic>
                    <p:nvPicPr>
                      <p:cNvPr id="0" name="图片 33813"/>
                      <p:cNvPicPr>
                        <a:picLocks noChangeAspect="1"/>
                      </p:cNvPicPr>
                      <p:nvPr/>
                    </p:nvPicPr>
                    <p:blipFill>
                      <a:blip r:embed="rId7"/>
                      <a:stretch>
                        <a:fillRect/>
                      </a:stretch>
                    </p:blipFill>
                    <p:spPr>
                      <a:xfrm>
                        <a:off x="1952228" y="4355058"/>
                        <a:ext cx="1506538" cy="692150"/>
                      </a:xfrm>
                      <a:prstGeom prst="rect">
                        <a:avLst/>
                      </a:prstGeom>
                      <a:noFill/>
                      <a:ln w="9525">
                        <a:noFill/>
                      </a:ln>
                    </p:spPr>
                  </p:pic>
                </p:oleObj>
              </mc:Fallback>
            </mc:AlternateContent>
          </a:graphicData>
        </a:graphic>
      </p:graphicFrame>
      <p:pic>
        <p:nvPicPr>
          <p:cNvPr id="45067" name="Picture 41"/>
          <p:cNvPicPr>
            <a:picLocks noChangeAspect="1" noChangeArrowheads="1"/>
          </p:cNvPicPr>
          <p:nvPr/>
        </p:nvPicPr>
        <p:blipFill>
          <a:blip r:embed="rId8" cstate="print"/>
          <a:srcRect/>
          <a:stretch>
            <a:fillRect/>
          </a:stretch>
        </p:blipFill>
        <p:spPr bwMode="auto">
          <a:xfrm>
            <a:off x="743349" y="2492896"/>
            <a:ext cx="2893217" cy="1404705"/>
          </a:xfrm>
          <a:prstGeom prst="rect">
            <a:avLst/>
          </a:prstGeom>
          <a:noFill/>
          <a:ln w="9525">
            <a:noFill/>
            <a:miter lim="800000"/>
            <a:headEnd/>
            <a:tailEnd/>
          </a:ln>
        </p:spPr>
      </p:pic>
      <p:pic>
        <p:nvPicPr>
          <p:cNvPr id="45068" name="Picture 42"/>
          <p:cNvPicPr>
            <a:picLocks noChangeAspect="1" noChangeArrowheads="1"/>
          </p:cNvPicPr>
          <p:nvPr/>
        </p:nvPicPr>
        <p:blipFill>
          <a:blip r:embed="rId9" cstate="print"/>
          <a:srcRect/>
          <a:stretch>
            <a:fillRect/>
          </a:stretch>
        </p:blipFill>
        <p:spPr bwMode="auto">
          <a:xfrm>
            <a:off x="5364088" y="4590452"/>
            <a:ext cx="3167991" cy="1421512"/>
          </a:xfrm>
          <a:prstGeom prst="rect">
            <a:avLst/>
          </a:prstGeom>
          <a:noFill/>
          <a:ln w="9525">
            <a:noFill/>
            <a:miter lim="800000"/>
            <a:headEnd/>
            <a:tailEnd/>
          </a:ln>
        </p:spPr>
      </p:pic>
      <p:sp>
        <p:nvSpPr>
          <p:cNvPr id="3" name="箭头: 右 2"/>
          <p:cNvSpPr/>
          <p:nvPr/>
        </p:nvSpPr>
        <p:spPr>
          <a:xfrm>
            <a:off x="3678245" y="3355947"/>
            <a:ext cx="136515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854916" y="3063112"/>
            <a:ext cx="1011815" cy="338554"/>
          </a:xfrm>
          <a:prstGeom prst="rect">
            <a:avLst/>
          </a:prstGeom>
          <a:noFill/>
        </p:spPr>
        <p:txBody>
          <a:bodyPr wrap="none" rtlCol="0">
            <a:spAutoFit/>
          </a:bodyPr>
          <a:lstStyle/>
          <a:p>
            <a:r>
              <a:rPr lang="zh-CN" altLang="en-US" sz="1600" b="1" dirty="0">
                <a:solidFill>
                  <a:srgbClr val="002060"/>
                </a:solidFill>
              </a:rPr>
              <a:t>诺顿等效</a:t>
            </a:r>
          </a:p>
        </p:txBody>
      </p:sp>
      <p:sp>
        <p:nvSpPr>
          <p:cNvPr id="5" name="文本框 4"/>
          <p:cNvSpPr txBox="1"/>
          <p:nvPr/>
        </p:nvSpPr>
        <p:spPr>
          <a:xfrm>
            <a:off x="4603873" y="6339959"/>
            <a:ext cx="4108817" cy="369332"/>
          </a:xfrm>
          <a:prstGeom prst="rect">
            <a:avLst/>
          </a:prstGeom>
          <a:noFill/>
        </p:spPr>
        <p:txBody>
          <a:bodyPr wrap="none" rtlCol="0">
            <a:spAutoFit/>
          </a:bodyPr>
          <a:lstStyle/>
          <a:p>
            <a:r>
              <a:rPr lang="zh-CN" altLang="en-US" b="1" dirty="0"/>
              <a:t>戴维南电路与诺顿电路互为对偶电路。</a:t>
            </a: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55</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395288" y="476250"/>
            <a:ext cx="4176712"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smtClean="0">
                <a:solidFill>
                  <a:srgbClr val="FF0000"/>
                </a:solidFill>
                <a:latin typeface="Times New Roman" panose="02020603050405020304" pitchFamily="18" charset="0"/>
              </a:rPr>
              <a:t>例</a:t>
            </a:r>
            <a:r>
              <a:rPr lang="en-US" altLang="zh-CN" sz="2000" b="1" dirty="0" smtClean="0">
                <a:solidFill>
                  <a:srgbClr val="FF0000"/>
                </a:solidFill>
                <a:latin typeface="Times New Roman" panose="02020603050405020304" pitchFamily="18" charset="0"/>
              </a:rPr>
              <a:t>4-11</a:t>
            </a:r>
            <a:r>
              <a:rPr lang="zh-CN" altLang="en-US" sz="2000" b="1" dirty="0" smtClean="0">
                <a:solidFill>
                  <a:srgbClr val="FF0000"/>
                </a:solidFill>
                <a:latin typeface="Times New Roman" panose="02020603050405020304" pitchFamily="18" charset="0"/>
              </a:rPr>
              <a:t>：</a:t>
            </a:r>
            <a:r>
              <a:rPr lang="en-US" altLang="zh-CN" sz="2000" b="1" dirty="0" smtClean="0">
                <a:solidFill>
                  <a:srgbClr val="FF0000"/>
                </a:solidFill>
                <a:latin typeface="Times New Roman" panose="02020603050405020304" pitchFamily="18" charset="0"/>
              </a:rPr>
              <a:t>  </a:t>
            </a:r>
            <a:r>
              <a:rPr lang="en-US" altLang="zh-CN" sz="2000" b="1" dirty="0">
                <a:solidFill>
                  <a:srgbClr val="CCCCE6"/>
                </a:solidFill>
                <a:latin typeface="Times New Roman" panose="02020603050405020304" pitchFamily="18" charset="0"/>
              </a:rPr>
              <a:t>(</a:t>
            </a:r>
            <a:r>
              <a:rPr lang="zh-CN" altLang="en-US" sz="2000" b="1" dirty="0">
                <a:solidFill>
                  <a:srgbClr val="CCCCE6"/>
                </a:solidFill>
                <a:latin typeface="Times New Roman" panose="02020603050405020304" pitchFamily="18" charset="0"/>
              </a:rPr>
              <a:t>堂练</a:t>
            </a:r>
            <a:r>
              <a:rPr lang="en-US" altLang="zh-CN" sz="2000" b="1" dirty="0">
                <a:solidFill>
                  <a:srgbClr val="CCCCE6"/>
                </a:solidFill>
                <a:latin typeface="Times New Roman" panose="02020603050405020304" pitchFamily="18" charset="0"/>
              </a:rPr>
              <a:t>)</a:t>
            </a:r>
          </a:p>
        </p:txBody>
      </p:sp>
      <p:sp>
        <p:nvSpPr>
          <p:cNvPr id="47107" name="Text Box 3"/>
          <p:cNvSpPr txBox="1">
            <a:spLocks noChangeArrowheads="1"/>
          </p:cNvSpPr>
          <p:nvPr/>
        </p:nvSpPr>
        <p:spPr bwMode="auto">
          <a:xfrm>
            <a:off x="395288" y="908050"/>
            <a:ext cx="6408737" cy="4555093"/>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     求出图示电路的诺顿等效电路。</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a:p>
            <a:pPr fontAlgn="base">
              <a:spcBef>
                <a:spcPct val="50000"/>
              </a:spcBef>
              <a:spcAft>
                <a:spcPct val="0"/>
              </a:spcAft>
            </a:pPr>
            <a:endParaRPr lang="en-US" altLang="zh-CN" sz="2000" b="1" dirty="0">
              <a:solidFill>
                <a:srgbClr val="0000FF"/>
              </a:solidFill>
              <a:latin typeface="Times New Roman" panose="02020603050405020304" pitchFamily="18" charset="0"/>
            </a:endParaRPr>
          </a:p>
          <a:p>
            <a:pPr fontAlgn="base">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 :</a:t>
            </a:r>
            <a:endParaRPr lang="en-US" altLang="zh-CN" sz="2000" dirty="0">
              <a:solidFill>
                <a:srgbClr val="0000FF"/>
              </a:solidFill>
              <a:latin typeface="Times New Roman" panose="02020603050405020304" pitchFamily="18" charset="0"/>
            </a:endParaRPr>
          </a:p>
          <a:p>
            <a:pPr fontAlgn="base">
              <a:spcBef>
                <a:spcPct val="50000"/>
              </a:spcBef>
              <a:spcAft>
                <a:spcPct val="0"/>
              </a:spcAft>
            </a:pPr>
            <a:endParaRPr lang="en-US" altLang="zh-CN" sz="2000" b="1" dirty="0">
              <a:solidFill>
                <a:srgbClr val="000000"/>
              </a:solidFill>
              <a:latin typeface="Times New Roman" panose="02020603050405020304" pitchFamily="18" charset="0"/>
            </a:endParaRPr>
          </a:p>
        </p:txBody>
      </p:sp>
      <p:graphicFrame>
        <p:nvGraphicFramePr>
          <p:cNvPr id="47108" name="Object 4"/>
          <p:cNvGraphicFramePr>
            <a:graphicFrameLocks noChangeAspect="1"/>
          </p:cNvGraphicFramePr>
          <p:nvPr/>
        </p:nvGraphicFramePr>
        <p:xfrm>
          <a:off x="935713" y="5649168"/>
          <a:ext cx="4175125" cy="695325"/>
        </p:xfrm>
        <a:graphic>
          <a:graphicData uri="http://schemas.openxmlformats.org/presentationml/2006/ole">
            <mc:AlternateContent xmlns:mc="http://schemas.openxmlformats.org/markup-compatibility/2006">
              <mc:Choice xmlns:v="urn:schemas-microsoft-com:vml" Requires="v">
                <p:oleObj spid="_x0000_s34823" name="公式" r:id="rId3" imgW="56692800" imgH="9448800" progId="">
                  <p:embed/>
                </p:oleObj>
              </mc:Choice>
              <mc:Fallback>
                <p:oleObj name="公式" r:id="rId3" imgW="56692800" imgH="9448800" progId="">
                  <p:embed/>
                  <p:pic>
                    <p:nvPicPr>
                      <p:cNvPr id="0" name="图片 34816"/>
                      <p:cNvPicPr>
                        <a:picLocks noChangeAspect="1"/>
                      </p:cNvPicPr>
                      <p:nvPr/>
                    </p:nvPicPr>
                    <p:blipFill>
                      <a:blip r:embed="rId4"/>
                      <a:stretch>
                        <a:fillRect/>
                      </a:stretch>
                    </p:blipFill>
                    <p:spPr>
                      <a:xfrm>
                        <a:off x="935713" y="5649168"/>
                        <a:ext cx="4175125" cy="695325"/>
                      </a:xfrm>
                      <a:prstGeom prst="rect">
                        <a:avLst/>
                      </a:prstGeom>
                      <a:noFill/>
                      <a:ln w="9525">
                        <a:noFill/>
                      </a:ln>
                    </p:spPr>
                  </p:pic>
                </p:oleObj>
              </mc:Fallback>
            </mc:AlternateContent>
          </a:graphicData>
        </a:graphic>
      </p:graphicFrame>
      <p:pic>
        <p:nvPicPr>
          <p:cNvPr id="47109" name="Picture 15"/>
          <p:cNvPicPr>
            <a:picLocks noChangeAspect="1" noChangeArrowheads="1"/>
          </p:cNvPicPr>
          <p:nvPr/>
        </p:nvPicPr>
        <p:blipFill>
          <a:blip r:embed="rId5" cstate="print"/>
          <a:srcRect/>
          <a:stretch>
            <a:fillRect/>
          </a:stretch>
        </p:blipFill>
        <p:spPr bwMode="auto">
          <a:xfrm>
            <a:off x="2339752" y="1441738"/>
            <a:ext cx="4063684" cy="1987262"/>
          </a:xfrm>
          <a:prstGeom prst="rect">
            <a:avLst/>
          </a:prstGeom>
          <a:noFill/>
          <a:ln w="9525">
            <a:noFill/>
            <a:miter lim="800000"/>
            <a:headEnd/>
            <a:tailEnd/>
          </a:ln>
        </p:spPr>
      </p:pic>
      <p:pic>
        <p:nvPicPr>
          <p:cNvPr id="47111" name="Picture 2"/>
          <p:cNvPicPr>
            <a:picLocks noChangeAspect="1" noChangeArrowheads="1"/>
          </p:cNvPicPr>
          <p:nvPr/>
        </p:nvPicPr>
        <p:blipFill>
          <a:blip r:embed="rId6" cstate="print"/>
          <a:srcRect/>
          <a:stretch>
            <a:fillRect/>
          </a:stretch>
        </p:blipFill>
        <p:spPr bwMode="auto">
          <a:xfrm>
            <a:off x="5615855" y="4468812"/>
            <a:ext cx="2628033" cy="1839913"/>
          </a:xfrm>
          <a:prstGeom prst="rect">
            <a:avLst/>
          </a:prstGeom>
          <a:noFill/>
          <a:ln w="9525">
            <a:noFill/>
            <a:miter lim="800000"/>
            <a:headEnd/>
            <a:tailEnd/>
          </a:ln>
        </p:spPr>
      </p:pic>
      <p:sp>
        <p:nvSpPr>
          <p:cNvPr id="9" name="文本框 8"/>
          <p:cNvSpPr txBox="1"/>
          <p:nvPr/>
        </p:nvSpPr>
        <p:spPr>
          <a:xfrm>
            <a:off x="719572" y="5204102"/>
            <a:ext cx="4572000" cy="369332"/>
          </a:xfrm>
          <a:prstGeom prst="rect">
            <a:avLst/>
          </a:prstGeom>
          <a:noFill/>
        </p:spPr>
        <p:txBody>
          <a:bodyPr wrap="square">
            <a:spAutoFit/>
          </a:bodyPr>
          <a:lstStyle/>
          <a:p>
            <a:pPr fontAlgn="base">
              <a:spcBef>
                <a:spcPct val="50000"/>
              </a:spcBef>
              <a:spcAft>
                <a:spcPct val="0"/>
              </a:spcAft>
            </a:pPr>
            <a:r>
              <a:rPr lang="en-US" altLang="zh-CN" sz="1800" dirty="0">
                <a:solidFill>
                  <a:srgbClr val="000000"/>
                </a:solidFill>
              </a:rPr>
              <a:t>(1)</a:t>
            </a:r>
            <a:r>
              <a:rPr lang="zh-CN" altLang="en-US" sz="1800" dirty="0">
                <a:solidFill>
                  <a:srgbClr val="000000"/>
                </a:solidFill>
              </a:rPr>
              <a:t>求</a:t>
            </a:r>
            <a:r>
              <a:rPr lang="en-US" altLang="zh-CN" sz="1800" i="1" dirty="0">
                <a:solidFill>
                  <a:srgbClr val="000000"/>
                </a:solidFill>
                <a:latin typeface="Times New Roman" panose="02020603050405020304" pitchFamily="18" charset="0"/>
                <a:cs typeface="Times New Roman" panose="02020603050405020304" pitchFamily="18" charset="0"/>
              </a:rPr>
              <a:t>R</a:t>
            </a:r>
            <a:r>
              <a:rPr lang="en-US" altLang="zh-CN" sz="1800" baseline="-25000" dirty="0">
                <a:solidFill>
                  <a:srgbClr val="000000"/>
                </a:solidFill>
                <a:latin typeface="Times New Roman" panose="02020603050405020304" pitchFamily="18" charset="0"/>
                <a:cs typeface="Times New Roman" panose="02020603050405020304" pitchFamily="18" charset="0"/>
              </a:rPr>
              <a:t>N</a:t>
            </a: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56</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5"/>
          <p:cNvGraphicFramePr>
            <a:graphicFrameLocks noChangeAspect="1"/>
          </p:cNvGraphicFramePr>
          <p:nvPr/>
        </p:nvGraphicFramePr>
        <p:xfrm>
          <a:off x="2123728" y="4011124"/>
          <a:ext cx="3723295" cy="964672"/>
        </p:xfrm>
        <a:graphic>
          <a:graphicData uri="http://schemas.openxmlformats.org/presentationml/2006/ole">
            <mc:AlternateContent xmlns:mc="http://schemas.openxmlformats.org/markup-compatibility/2006">
              <mc:Choice xmlns:v="urn:schemas-microsoft-com:vml" Requires="v">
                <p:oleObj spid="_x0000_s35888" name="Equation" r:id="rId3" imgW="42367200" imgH="10972800" progId="">
                  <p:embed/>
                </p:oleObj>
              </mc:Choice>
              <mc:Fallback>
                <p:oleObj name="Equation" r:id="rId3" imgW="42367200" imgH="10972800" progId="">
                  <p:embed/>
                  <p:pic>
                    <p:nvPicPr>
                      <p:cNvPr id="0" name="图片 35840"/>
                      <p:cNvPicPr>
                        <a:picLocks noChangeAspect="1"/>
                      </p:cNvPicPr>
                      <p:nvPr/>
                    </p:nvPicPr>
                    <p:blipFill>
                      <a:blip r:embed="rId4"/>
                      <a:stretch>
                        <a:fillRect/>
                      </a:stretch>
                    </p:blipFill>
                    <p:spPr>
                      <a:xfrm>
                        <a:off x="2123728" y="4011124"/>
                        <a:ext cx="3723295" cy="964672"/>
                      </a:xfrm>
                      <a:prstGeom prst="rect">
                        <a:avLst/>
                      </a:prstGeom>
                      <a:noFill/>
                      <a:ln w="9525">
                        <a:noFill/>
                      </a:ln>
                    </p:spPr>
                  </p:pic>
                </p:oleObj>
              </mc:Fallback>
            </mc:AlternateContent>
          </a:graphicData>
        </a:graphic>
      </p:graphicFrame>
      <p:sp>
        <p:nvSpPr>
          <p:cNvPr id="48131" name="Text Box 6"/>
          <p:cNvSpPr txBox="1">
            <a:spLocks noChangeArrowheads="1"/>
          </p:cNvSpPr>
          <p:nvPr/>
        </p:nvSpPr>
        <p:spPr bwMode="auto">
          <a:xfrm>
            <a:off x="1450679" y="5301208"/>
            <a:ext cx="5400675"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000000"/>
                </a:solidFill>
                <a:latin typeface="Times New Roman" panose="02020603050405020304" pitchFamily="18" charset="0"/>
              </a:rPr>
              <a:t>解得：</a:t>
            </a:r>
            <a:endParaRPr lang="en-US" altLang="zh-CN" sz="2000" b="1" dirty="0">
              <a:solidFill>
                <a:srgbClr val="000000"/>
              </a:solidFill>
            </a:endParaRPr>
          </a:p>
        </p:txBody>
      </p:sp>
      <p:graphicFrame>
        <p:nvGraphicFramePr>
          <p:cNvPr id="48132" name="Object 7"/>
          <p:cNvGraphicFramePr>
            <a:graphicFrameLocks noChangeAspect="1"/>
          </p:cNvGraphicFramePr>
          <p:nvPr/>
        </p:nvGraphicFramePr>
        <p:xfrm>
          <a:off x="2627784" y="5306440"/>
          <a:ext cx="2264040" cy="479162"/>
        </p:xfrm>
        <a:graphic>
          <a:graphicData uri="http://schemas.openxmlformats.org/presentationml/2006/ole">
            <mc:AlternateContent xmlns:mc="http://schemas.openxmlformats.org/markup-compatibility/2006">
              <mc:Choice xmlns:v="urn:schemas-microsoft-com:vml" Requires="v">
                <p:oleObj spid="_x0000_s35889" name="公式" r:id="rId5" imgW="25908000" imgH="5486400" progId="">
                  <p:embed/>
                </p:oleObj>
              </mc:Choice>
              <mc:Fallback>
                <p:oleObj name="公式" r:id="rId5" imgW="25908000" imgH="5486400" progId="">
                  <p:embed/>
                  <p:pic>
                    <p:nvPicPr>
                      <p:cNvPr id="0" name="图片 35878"/>
                      <p:cNvPicPr>
                        <a:picLocks noChangeAspect="1"/>
                      </p:cNvPicPr>
                      <p:nvPr/>
                    </p:nvPicPr>
                    <p:blipFill>
                      <a:blip r:embed="rId6"/>
                      <a:stretch>
                        <a:fillRect/>
                      </a:stretch>
                    </p:blipFill>
                    <p:spPr>
                      <a:xfrm>
                        <a:off x="2627784" y="5306440"/>
                        <a:ext cx="2264040" cy="479162"/>
                      </a:xfrm>
                      <a:prstGeom prst="rect">
                        <a:avLst/>
                      </a:prstGeom>
                      <a:noFill/>
                      <a:ln w="9525">
                        <a:noFill/>
                      </a:ln>
                    </p:spPr>
                  </p:pic>
                </p:oleObj>
              </mc:Fallback>
            </mc:AlternateContent>
          </a:graphicData>
        </a:graphic>
      </p:graphicFrame>
      <p:pic>
        <p:nvPicPr>
          <p:cNvPr id="48133" name="Picture 3"/>
          <p:cNvPicPr>
            <a:picLocks noChangeAspect="1" noChangeArrowheads="1"/>
          </p:cNvPicPr>
          <p:nvPr/>
        </p:nvPicPr>
        <p:blipFill>
          <a:blip r:embed="rId7" cstate="print"/>
          <a:srcRect/>
          <a:stretch>
            <a:fillRect/>
          </a:stretch>
        </p:blipFill>
        <p:spPr bwMode="auto">
          <a:xfrm>
            <a:off x="3348038" y="549275"/>
            <a:ext cx="4243387" cy="2654300"/>
          </a:xfrm>
          <a:prstGeom prst="rect">
            <a:avLst/>
          </a:prstGeom>
          <a:noFill/>
          <a:ln w="9525">
            <a:noFill/>
            <a:miter lim="800000"/>
            <a:headEnd/>
            <a:tailEnd/>
          </a:ln>
        </p:spPr>
      </p:pic>
      <p:sp>
        <p:nvSpPr>
          <p:cNvPr id="48134" name="TextBox 1"/>
          <p:cNvSpPr txBox="1">
            <a:spLocks noChangeArrowheads="1"/>
          </p:cNvSpPr>
          <p:nvPr/>
        </p:nvSpPr>
        <p:spPr bwMode="auto">
          <a:xfrm>
            <a:off x="1475656" y="3961383"/>
            <a:ext cx="441325" cy="1014413"/>
          </a:xfrm>
          <a:prstGeom prst="rect">
            <a:avLst/>
          </a:prstGeom>
          <a:noFill/>
          <a:ln w="9525">
            <a:noFill/>
            <a:miter lim="800000"/>
          </a:ln>
        </p:spPr>
        <p:txBody>
          <a:bodyPr wrap="none">
            <a:spAutoFit/>
          </a:bodyPr>
          <a:lstStyle/>
          <a:p>
            <a:pPr fontAlgn="base">
              <a:spcBef>
                <a:spcPct val="0"/>
              </a:spcBef>
              <a:spcAft>
                <a:spcPct val="0"/>
              </a:spcAft>
            </a:pPr>
            <a:r>
              <a:rPr lang="zh-CN" altLang="en-US" sz="2000" dirty="0">
                <a:solidFill>
                  <a:srgbClr val="000000"/>
                </a:solidFill>
                <a:latin typeface="Times New Roman" panose="02020603050405020304" pitchFamily="18" charset="0"/>
              </a:rPr>
              <a:t>①</a:t>
            </a:r>
            <a:endParaRPr lang="en-US" altLang="zh-CN" sz="2000" dirty="0">
              <a:solidFill>
                <a:srgbClr val="000000"/>
              </a:solidFill>
              <a:latin typeface="Times New Roman" panose="02020603050405020304" pitchFamily="18" charset="0"/>
            </a:endParaRPr>
          </a:p>
          <a:p>
            <a:pPr fontAlgn="base">
              <a:spcBef>
                <a:spcPct val="0"/>
              </a:spcBef>
              <a:spcAft>
                <a:spcPct val="0"/>
              </a:spcAft>
            </a:pPr>
            <a:endParaRPr lang="en-US" altLang="zh-CN" sz="2000" dirty="0">
              <a:solidFill>
                <a:srgbClr val="000000"/>
              </a:solidFill>
              <a:latin typeface="Times New Roman" panose="02020603050405020304" pitchFamily="18" charset="0"/>
            </a:endParaRPr>
          </a:p>
          <a:p>
            <a:pPr fontAlgn="base">
              <a:spcBef>
                <a:spcPct val="0"/>
              </a:spcBef>
              <a:spcAft>
                <a:spcPct val="0"/>
              </a:spcAft>
            </a:pPr>
            <a:r>
              <a:rPr lang="zh-CN" altLang="en-US" sz="2000" dirty="0">
                <a:solidFill>
                  <a:srgbClr val="000000"/>
                </a:solidFill>
                <a:latin typeface="Times New Roman" panose="02020603050405020304" pitchFamily="18" charset="0"/>
              </a:rPr>
              <a:t>②</a:t>
            </a:r>
          </a:p>
        </p:txBody>
      </p:sp>
      <p:sp>
        <p:nvSpPr>
          <p:cNvPr id="48135" name="TextBox 1"/>
          <p:cNvSpPr txBox="1">
            <a:spLocks noChangeArrowheads="1"/>
          </p:cNvSpPr>
          <p:nvPr/>
        </p:nvSpPr>
        <p:spPr bwMode="auto">
          <a:xfrm>
            <a:off x="5052333" y="1880826"/>
            <a:ext cx="1351652" cy="307777"/>
          </a:xfrm>
          <a:prstGeom prst="rect">
            <a:avLst/>
          </a:prstGeom>
          <a:noFill/>
          <a:ln w="9525">
            <a:noFill/>
            <a:miter lim="800000"/>
          </a:ln>
        </p:spPr>
        <p:txBody>
          <a:bodyPr wrap="none">
            <a:spAutoFit/>
          </a:bodyPr>
          <a:lstStyle/>
          <a:p>
            <a:pPr fontAlgn="base">
              <a:spcBef>
                <a:spcPct val="0"/>
              </a:spcBef>
              <a:spcAft>
                <a:spcPct val="0"/>
              </a:spcAft>
            </a:pPr>
            <a:r>
              <a:rPr lang="en-US" altLang="zh-CN" sz="1400" dirty="0">
                <a:solidFill>
                  <a:schemeClr val="bg2"/>
                </a:solidFill>
                <a:latin typeface="Times New Roman" panose="02020603050405020304" pitchFamily="18" charset="0"/>
              </a:rPr>
              <a:t>5</a:t>
            </a:r>
            <a:r>
              <a:rPr lang="zh-CN" altLang="en-US" sz="1400" dirty="0">
                <a:solidFill>
                  <a:schemeClr val="bg2"/>
                </a:solidFill>
                <a:latin typeface="Times New Roman" panose="02020603050405020304" pitchFamily="18" charset="0"/>
              </a:rPr>
              <a:t>欧电阻被短路</a:t>
            </a:r>
            <a:endParaRPr lang="en-US" altLang="zh-CN" sz="1400" dirty="0">
              <a:solidFill>
                <a:schemeClr val="bg2"/>
              </a:solidFill>
              <a:latin typeface="Times New Roman" panose="02020603050405020304" pitchFamily="18" charset="0"/>
            </a:endParaRPr>
          </a:p>
        </p:txBody>
      </p:sp>
      <p:sp>
        <p:nvSpPr>
          <p:cNvPr id="8" name="Text Box 5"/>
          <p:cNvSpPr txBox="1">
            <a:spLocks noChangeArrowheads="1"/>
          </p:cNvSpPr>
          <p:nvPr/>
        </p:nvSpPr>
        <p:spPr bwMode="auto">
          <a:xfrm>
            <a:off x="744782" y="3338272"/>
            <a:ext cx="1883002" cy="400110"/>
          </a:xfrm>
          <a:prstGeom prst="rect">
            <a:avLst/>
          </a:prstGeom>
          <a:noFill/>
          <a:ln w="9525">
            <a:noFill/>
            <a:miter lim="800000"/>
          </a:ln>
        </p:spPr>
        <p:txBody>
          <a:bodyPr wrap="square">
            <a:spAutoFit/>
          </a:bodyPr>
          <a:lstStyle/>
          <a:p>
            <a:pPr fontAlgn="base">
              <a:spcBef>
                <a:spcPct val="50000"/>
              </a:spcBef>
              <a:spcAft>
                <a:spcPct val="0"/>
              </a:spcAft>
            </a:pPr>
            <a:r>
              <a:rPr lang="zh-CN" altLang="en-US" sz="2000" dirty="0">
                <a:solidFill>
                  <a:srgbClr val="000000"/>
                </a:solidFill>
              </a:rPr>
              <a:t>（</a:t>
            </a:r>
            <a:r>
              <a:rPr lang="en-US" altLang="zh-CN" sz="2000" dirty="0">
                <a:solidFill>
                  <a:srgbClr val="000000"/>
                </a:solidFill>
              </a:rPr>
              <a:t>2</a:t>
            </a:r>
            <a:r>
              <a:rPr lang="zh-CN" altLang="en-US" sz="2000" dirty="0">
                <a:solidFill>
                  <a:srgbClr val="000000"/>
                </a:solidFill>
              </a:rPr>
              <a:t>）求</a:t>
            </a:r>
            <a:r>
              <a:rPr lang="en-US" altLang="zh-CN" sz="2000" i="1" dirty="0">
                <a:solidFill>
                  <a:srgbClr val="000000"/>
                </a:solidFill>
                <a:latin typeface="Times New Roman" panose="02020603050405020304" pitchFamily="18" charset="0"/>
                <a:cs typeface="Times New Roman" panose="02020603050405020304" pitchFamily="18" charset="0"/>
              </a:rPr>
              <a:t>I</a:t>
            </a:r>
            <a:r>
              <a:rPr lang="en-US" altLang="zh-CN" sz="2000" baseline="-25000" dirty="0">
                <a:solidFill>
                  <a:srgbClr val="000000"/>
                </a:solidFill>
                <a:latin typeface="Times New Roman" panose="02020603050405020304" pitchFamily="18" charset="0"/>
                <a:cs typeface="Times New Roman" panose="02020603050405020304" pitchFamily="18" charset="0"/>
              </a:rPr>
              <a:t>N</a:t>
            </a:r>
          </a:p>
        </p:txBody>
      </p:sp>
      <p:sp>
        <p:nvSpPr>
          <p:cNvPr id="2" name="灯片编号占位符 1"/>
          <p:cNvSpPr>
            <a:spLocks noGrp="1"/>
          </p:cNvSpPr>
          <p:nvPr>
            <p:ph type="sldNum" sz="quarter" idx="11"/>
          </p:nvPr>
        </p:nvSpPr>
        <p:spPr/>
        <p:txBody>
          <a:bodyPr/>
          <a:lstStyle/>
          <a:p>
            <a:pPr>
              <a:defRPr/>
            </a:pPr>
            <a:fld id="{D776A882-B7EA-4411-9FBB-12412DA587FB}" type="slidenum">
              <a:rPr lang="en-US" altLang="zh-CN" smtClean="0">
                <a:solidFill>
                  <a:srgbClr val="000000"/>
                </a:solidFill>
              </a:rPr>
              <a:t>57</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8"/>
          <p:cNvSpPr txBox="1">
            <a:spLocks noChangeArrowheads="1"/>
          </p:cNvSpPr>
          <p:nvPr/>
        </p:nvSpPr>
        <p:spPr bwMode="auto">
          <a:xfrm>
            <a:off x="611188" y="3789363"/>
            <a:ext cx="6624637" cy="1169987"/>
          </a:xfrm>
          <a:prstGeom prst="rect">
            <a:avLst/>
          </a:prstGeom>
          <a:noFill/>
          <a:ln w="9525">
            <a:noFill/>
            <a:miter lim="800000"/>
          </a:ln>
        </p:spPr>
        <p:txBody>
          <a:bodyPr>
            <a:spAutoFit/>
          </a:bodyPr>
          <a:lstStyle/>
          <a:p>
            <a:pPr fontAlgn="base">
              <a:spcBef>
                <a:spcPct val="50000"/>
              </a:spcBef>
              <a:spcAft>
                <a:spcPct val="0"/>
              </a:spcAft>
            </a:pPr>
            <a:r>
              <a:rPr lang="zh-CN" altLang="en-US" sz="2000" dirty="0">
                <a:solidFill>
                  <a:srgbClr val="0000FF"/>
                </a:solidFill>
                <a:latin typeface="Times New Roman" panose="02020603050405020304" pitchFamily="18" charset="0"/>
              </a:rPr>
              <a:t>     </a:t>
            </a:r>
            <a:r>
              <a:rPr lang="zh-CN" altLang="en-US" sz="2000" b="1" dirty="0">
                <a:latin typeface="Times New Roman" panose="02020603050405020304" pitchFamily="18" charset="0"/>
              </a:rPr>
              <a:t>也</a:t>
            </a:r>
            <a:r>
              <a:rPr lang="zh-CN" altLang="en-US" sz="2000" b="1" dirty="0">
                <a:solidFill>
                  <a:srgbClr val="000000"/>
                </a:solidFill>
                <a:latin typeface="Times New Roman" panose="02020603050405020304" pitchFamily="18" charset="0"/>
              </a:rPr>
              <a:t>可以利用</a:t>
            </a:r>
            <a:r>
              <a:rPr lang="en-US" altLang="zh-CN" sz="2000" b="1" i="1" dirty="0">
                <a:solidFill>
                  <a:srgbClr val="000000"/>
                </a:solidFill>
                <a:latin typeface="Times New Roman" panose="02020603050405020304" pitchFamily="18" charset="0"/>
              </a:rPr>
              <a:t> I</a:t>
            </a:r>
            <a:r>
              <a:rPr lang="en-US" altLang="zh-CN" sz="2000" b="1" i="1" baseline="-25000" dirty="0">
                <a:solidFill>
                  <a:srgbClr val="000000"/>
                </a:solidFill>
                <a:latin typeface="Times New Roman" panose="02020603050405020304" pitchFamily="18" charset="0"/>
              </a:rPr>
              <a:t>N</a:t>
            </a:r>
            <a:r>
              <a:rPr lang="en-US" altLang="zh-CN" sz="2000" b="1" i="1" dirty="0">
                <a:solidFill>
                  <a:srgbClr val="000000"/>
                </a:solidFill>
                <a:latin typeface="Times New Roman" panose="02020603050405020304" pitchFamily="18" charset="0"/>
              </a:rPr>
              <a:t>=</a:t>
            </a:r>
            <a:r>
              <a:rPr lang="en-US" altLang="zh-CN" sz="2000" b="1" i="1" dirty="0" err="1">
                <a:solidFill>
                  <a:srgbClr val="000000"/>
                </a:solidFill>
                <a:latin typeface="Times New Roman" panose="02020603050405020304" pitchFamily="18" charset="0"/>
              </a:rPr>
              <a:t>V</a:t>
            </a:r>
            <a:r>
              <a:rPr lang="en-US" altLang="zh-CN" sz="2000" b="1" i="1" baseline="-25000" dirty="0" err="1">
                <a:solidFill>
                  <a:srgbClr val="000000"/>
                </a:solidFill>
                <a:latin typeface="Times New Roman" panose="02020603050405020304" pitchFamily="18" charset="0"/>
              </a:rPr>
              <a:t>Th</a:t>
            </a:r>
            <a:r>
              <a:rPr lang="en-US" altLang="zh-CN" sz="2000" b="1" i="1" baseline="-25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 </a:t>
            </a:r>
            <a:r>
              <a:rPr lang="en-US" altLang="zh-CN" sz="2000" b="1" i="1" dirty="0" err="1">
                <a:solidFill>
                  <a:srgbClr val="000000"/>
                </a:solidFill>
                <a:latin typeface="Times New Roman" panose="02020603050405020304" pitchFamily="18" charset="0"/>
              </a:rPr>
              <a:t>R</a:t>
            </a:r>
            <a:r>
              <a:rPr lang="en-US" altLang="zh-CN" sz="2000" b="1" i="1" baseline="-25000" dirty="0" err="1">
                <a:solidFill>
                  <a:srgbClr val="000000"/>
                </a:solidFill>
                <a:latin typeface="Times New Roman" panose="02020603050405020304" pitchFamily="18" charset="0"/>
              </a:rPr>
              <a:t>Th</a:t>
            </a:r>
            <a:r>
              <a:rPr lang="zh-CN" altLang="en-US" sz="2000" b="1" baseline="-25000"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如上图所示，</a:t>
            </a:r>
            <a:r>
              <a:rPr lang="en-US" altLang="zh-CN" sz="2000" b="1" i="1" dirty="0">
                <a:solidFill>
                  <a:srgbClr val="000000"/>
                </a:solidFill>
                <a:latin typeface="Times New Roman" panose="02020603050405020304" pitchFamily="18" charset="0"/>
              </a:rPr>
              <a:t> </a:t>
            </a:r>
            <a:r>
              <a:rPr lang="en-US" altLang="zh-CN" sz="2000" b="1" i="1" dirty="0" err="1">
                <a:solidFill>
                  <a:srgbClr val="000000"/>
                </a:solidFill>
                <a:latin typeface="Times New Roman" panose="02020603050405020304" pitchFamily="18" charset="0"/>
              </a:rPr>
              <a:t>V</a:t>
            </a:r>
            <a:r>
              <a:rPr lang="en-US" altLang="zh-CN" sz="2000" b="1" i="1" baseline="-25000" dirty="0" err="1">
                <a:solidFill>
                  <a:srgbClr val="000000"/>
                </a:solidFill>
                <a:latin typeface="Times New Roman" panose="02020603050405020304" pitchFamily="18" charset="0"/>
              </a:rPr>
              <a:t>Th</a:t>
            </a:r>
            <a:r>
              <a:rPr lang="en-US" altLang="zh-CN" sz="2000" b="1" i="1" baseline="-25000"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为</a:t>
            </a:r>
            <a:r>
              <a:rPr lang="en-US" altLang="zh-CN" sz="2000" b="1" dirty="0" err="1">
                <a:solidFill>
                  <a:srgbClr val="000000"/>
                </a:solidFill>
                <a:latin typeface="Times New Roman" panose="02020603050405020304" pitchFamily="18" charset="0"/>
              </a:rPr>
              <a:t>a,b</a:t>
            </a:r>
            <a:r>
              <a:rPr lang="zh-CN" altLang="en-US" sz="2000" b="1" dirty="0">
                <a:solidFill>
                  <a:srgbClr val="000000"/>
                </a:solidFill>
                <a:latin typeface="Times New Roman" panose="02020603050405020304" pitchFamily="18" charset="0"/>
              </a:rPr>
              <a:t>两端开路电压。使用网孔法：</a:t>
            </a:r>
            <a:endParaRPr lang="en-US" altLang="zh-CN" sz="2000" b="1" dirty="0">
              <a:solidFill>
                <a:srgbClr val="000000"/>
              </a:solidFill>
              <a:latin typeface="Times New Roman" panose="02020603050405020304" pitchFamily="18" charset="0"/>
            </a:endParaRPr>
          </a:p>
          <a:p>
            <a:pPr fontAlgn="base">
              <a:spcBef>
                <a:spcPct val="50000"/>
              </a:spcBef>
              <a:spcAft>
                <a:spcPct val="0"/>
              </a:spcAft>
            </a:pPr>
            <a:r>
              <a:rPr lang="zh-CN" altLang="en-US" sz="2000" b="1" dirty="0">
                <a:solidFill>
                  <a:srgbClr val="000000"/>
                </a:solidFill>
                <a:latin typeface="Times New Roman" panose="02020603050405020304" pitchFamily="18" charset="0"/>
              </a:rPr>
              <a:t>可得：  </a:t>
            </a:r>
            <a:r>
              <a:rPr lang="en-US" altLang="zh-CN" sz="2000" b="1" dirty="0">
                <a:solidFill>
                  <a:srgbClr val="000000"/>
                </a:solidFill>
                <a:latin typeface="Times New Roman" panose="02020603050405020304" pitchFamily="18" charset="0"/>
              </a:rPr>
              <a:t>①</a:t>
            </a:r>
          </a:p>
        </p:txBody>
      </p:sp>
      <p:graphicFrame>
        <p:nvGraphicFramePr>
          <p:cNvPr id="49155" name="Object 9"/>
          <p:cNvGraphicFramePr>
            <a:graphicFrameLocks noChangeAspect="1"/>
          </p:cNvGraphicFramePr>
          <p:nvPr/>
        </p:nvGraphicFramePr>
        <p:xfrm>
          <a:off x="2051050" y="4573588"/>
          <a:ext cx="792163" cy="374650"/>
        </p:xfrm>
        <a:graphic>
          <a:graphicData uri="http://schemas.openxmlformats.org/presentationml/2006/ole">
            <mc:AlternateContent xmlns:mc="http://schemas.openxmlformats.org/markup-compatibility/2006">
              <mc:Choice xmlns:v="urn:schemas-microsoft-com:vml" Requires="v">
                <p:oleObj spid="_x0000_s36954" name="公式" r:id="rId4" imgW="11582400" imgH="5486400" progId="">
                  <p:embed/>
                </p:oleObj>
              </mc:Choice>
              <mc:Fallback>
                <p:oleObj name="公式" r:id="rId4" imgW="11582400" imgH="5486400" progId="">
                  <p:embed/>
                  <p:pic>
                    <p:nvPicPr>
                      <p:cNvPr id="0" name="图片 36864"/>
                      <p:cNvPicPr>
                        <a:picLocks noChangeAspect="1"/>
                      </p:cNvPicPr>
                      <p:nvPr/>
                    </p:nvPicPr>
                    <p:blipFill>
                      <a:blip r:embed="rId5"/>
                      <a:stretch>
                        <a:fillRect/>
                      </a:stretch>
                    </p:blipFill>
                    <p:spPr>
                      <a:xfrm>
                        <a:off x="2051050" y="4573588"/>
                        <a:ext cx="792163" cy="374650"/>
                      </a:xfrm>
                      <a:prstGeom prst="rect">
                        <a:avLst/>
                      </a:prstGeom>
                      <a:noFill/>
                      <a:ln w="9525">
                        <a:noFill/>
                      </a:ln>
                    </p:spPr>
                  </p:pic>
                </p:oleObj>
              </mc:Fallback>
            </mc:AlternateContent>
          </a:graphicData>
        </a:graphic>
      </p:graphicFrame>
      <p:graphicFrame>
        <p:nvGraphicFramePr>
          <p:cNvPr id="49156" name="Object 10"/>
          <p:cNvGraphicFramePr>
            <a:graphicFrameLocks noChangeAspect="1"/>
          </p:cNvGraphicFramePr>
          <p:nvPr/>
        </p:nvGraphicFramePr>
        <p:xfrm>
          <a:off x="2020888" y="5040313"/>
          <a:ext cx="5405437" cy="371475"/>
        </p:xfrm>
        <a:graphic>
          <a:graphicData uri="http://schemas.openxmlformats.org/presentationml/2006/ole">
            <mc:AlternateContent xmlns:mc="http://schemas.openxmlformats.org/markup-compatibility/2006">
              <mc:Choice xmlns:v="urn:schemas-microsoft-com:vml" Requires="v">
                <p:oleObj spid="_x0000_s36955" name="Equation" r:id="rId6" imgW="79857600" imgH="5486400" progId="">
                  <p:embed/>
                </p:oleObj>
              </mc:Choice>
              <mc:Fallback>
                <p:oleObj name="Equation" r:id="rId6" imgW="79857600" imgH="5486400" progId="">
                  <p:embed/>
                  <p:pic>
                    <p:nvPicPr>
                      <p:cNvPr id="0" name="图片 36936"/>
                      <p:cNvPicPr>
                        <a:picLocks noChangeAspect="1"/>
                      </p:cNvPicPr>
                      <p:nvPr/>
                    </p:nvPicPr>
                    <p:blipFill>
                      <a:blip r:embed="rId7"/>
                      <a:stretch>
                        <a:fillRect/>
                      </a:stretch>
                    </p:blipFill>
                    <p:spPr>
                      <a:xfrm>
                        <a:off x="2020888" y="5040313"/>
                        <a:ext cx="5405437" cy="371475"/>
                      </a:xfrm>
                      <a:prstGeom prst="rect">
                        <a:avLst/>
                      </a:prstGeom>
                      <a:noFill/>
                      <a:ln w="9525">
                        <a:noFill/>
                      </a:ln>
                    </p:spPr>
                  </p:pic>
                </p:oleObj>
              </mc:Fallback>
            </mc:AlternateContent>
          </a:graphicData>
        </a:graphic>
      </p:graphicFrame>
      <p:sp>
        <p:nvSpPr>
          <p:cNvPr id="49157" name="Text Box 11"/>
          <p:cNvSpPr txBox="1">
            <a:spLocks noChangeArrowheads="1"/>
          </p:cNvSpPr>
          <p:nvPr/>
        </p:nvSpPr>
        <p:spPr bwMode="auto">
          <a:xfrm>
            <a:off x="1493838" y="4746625"/>
            <a:ext cx="896937" cy="708025"/>
          </a:xfrm>
          <a:prstGeom prst="rect">
            <a:avLst/>
          </a:prstGeom>
          <a:noFill/>
          <a:ln w="9525">
            <a:noFill/>
            <a:miter lim="800000"/>
          </a:ln>
        </p:spPr>
        <p:txBody>
          <a:bodyPr>
            <a:spAutoFit/>
          </a:bodyPr>
          <a:lstStyle/>
          <a:p>
            <a:pPr fontAlgn="base">
              <a:spcBef>
                <a:spcPct val="0"/>
              </a:spcBef>
              <a:spcAft>
                <a:spcPct val="0"/>
              </a:spcAft>
            </a:pPr>
            <a:r>
              <a:rPr lang="en-US" altLang="zh-CN" sz="2000">
                <a:solidFill>
                  <a:srgbClr val="000000"/>
                </a:solidFill>
                <a:latin typeface="Times New Roman" panose="02020603050405020304" pitchFamily="18" charset="0"/>
              </a:rPr>
              <a:t>          ②</a:t>
            </a:r>
          </a:p>
        </p:txBody>
      </p:sp>
      <p:graphicFrame>
        <p:nvGraphicFramePr>
          <p:cNvPr id="49158" name="Object 12"/>
          <p:cNvGraphicFramePr>
            <a:graphicFrameLocks noChangeAspect="1"/>
          </p:cNvGraphicFramePr>
          <p:nvPr/>
        </p:nvGraphicFramePr>
        <p:xfrm>
          <a:off x="1979613" y="5514975"/>
          <a:ext cx="2087562" cy="379413"/>
        </p:xfrm>
        <a:graphic>
          <a:graphicData uri="http://schemas.openxmlformats.org/presentationml/2006/ole">
            <mc:AlternateContent xmlns:mc="http://schemas.openxmlformats.org/markup-compatibility/2006">
              <mc:Choice xmlns:v="urn:schemas-microsoft-com:vml" Requires="v">
                <p:oleObj spid="_x0000_s36956" name="公式" r:id="rId8" imgW="30175200" imgH="5486400" progId="">
                  <p:embed/>
                </p:oleObj>
              </mc:Choice>
              <mc:Fallback>
                <p:oleObj name="公式" r:id="rId8" imgW="30175200" imgH="5486400" progId="">
                  <p:embed/>
                  <p:pic>
                    <p:nvPicPr>
                      <p:cNvPr id="0" name="图片 36937"/>
                      <p:cNvPicPr>
                        <a:picLocks noChangeAspect="1"/>
                      </p:cNvPicPr>
                      <p:nvPr/>
                    </p:nvPicPr>
                    <p:blipFill>
                      <a:blip r:embed="rId9"/>
                      <a:stretch>
                        <a:fillRect/>
                      </a:stretch>
                    </p:blipFill>
                    <p:spPr>
                      <a:xfrm>
                        <a:off x="1979613" y="5514975"/>
                        <a:ext cx="2087562" cy="379413"/>
                      </a:xfrm>
                      <a:prstGeom prst="rect">
                        <a:avLst/>
                      </a:prstGeom>
                      <a:noFill/>
                      <a:ln w="9525">
                        <a:noFill/>
                      </a:ln>
                    </p:spPr>
                  </p:pic>
                </p:oleObj>
              </mc:Fallback>
            </mc:AlternateContent>
          </a:graphicData>
        </a:graphic>
      </p:graphicFrame>
      <p:sp>
        <p:nvSpPr>
          <p:cNvPr id="49159" name="Text Box 13"/>
          <p:cNvSpPr txBox="1">
            <a:spLocks noChangeArrowheads="1"/>
          </p:cNvSpPr>
          <p:nvPr/>
        </p:nvSpPr>
        <p:spPr bwMode="auto">
          <a:xfrm>
            <a:off x="1043608" y="6132512"/>
            <a:ext cx="958917" cy="400110"/>
          </a:xfrm>
          <a:prstGeom prst="rect">
            <a:avLst/>
          </a:prstGeom>
          <a:noFill/>
          <a:ln w="9525" algn="ctr">
            <a:noFill/>
            <a:miter lim="800000"/>
          </a:ln>
        </p:spPr>
        <p:txBody>
          <a:bodyPr wrap="none">
            <a:spAutoFit/>
          </a:bodyPr>
          <a:lstStyle/>
          <a:p>
            <a:pPr fontAlgn="base">
              <a:spcBef>
                <a:spcPct val="0"/>
              </a:spcBef>
              <a:spcAft>
                <a:spcPct val="0"/>
              </a:spcAft>
            </a:pPr>
            <a:r>
              <a:rPr lang="zh-CN" altLang="en-US" sz="2000" b="1" dirty="0">
                <a:solidFill>
                  <a:srgbClr val="000000"/>
                </a:solidFill>
                <a:latin typeface="Times New Roman" panose="02020603050405020304" pitchFamily="18" charset="0"/>
              </a:rPr>
              <a:t>因此：</a:t>
            </a:r>
            <a:endParaRPr lang="en-US" altLang="zh-CN" sz="2000" b="1" dirty="0">
              <a:solidFill>
                <a:srgbClr val="000000"/>
              </a:solidFill>
              <a:latin typeface="Times New Roman" panose="02020603050405020304" pitchFamily="18" charset="0"/>
            </a:endParaRPr>
          </a:p>
        </p:txBody>
      </p:sp>
      <p:graphicFrame>
        <p:nvGraphicFramePr>
          <p:cNvPr id="49160" name="Object 14"/>
          <p:cNvGraphicFramePr>
            <a:graphicFrameLocks noChangeAspect="1"/>
          </p:cNvGraphicFramePr>
          <p:nvPr/>
        </p:nvGraphicFramePr>
        <p:xfrm>
          <a:off x="1979613" y="6022975"/>
          <a:ext cx="1657350" cy="619125"/>
        </p:xfrm>
        <a:graphic>
          <a:graphicData uri="http://schemas.openxmlformats.org/presentationml/2006/ole">
            <mc:AlternateContent xmlns:mc="http://schemas.openxmlformats.org/markup-compatibility/2006">
              <mc:Choice xmlns:v="urn:schemas-microsoft-com:vml" Requires="v">
                <p:oleObj spid="_x0000_s36957" name="公式" r:id="rId10" imgW="27736800" imgH="10363200" progId="">
                  <p:embed/>
                </p:oleObj>
              </mc:Choice>
              <mc:Fallback>
                <p:oleObj name="公式" r:id="rId10" imgW="27736800" imgH="10363200" progId="">
                  <p:embed/>
                  <p:pic>
                    <p:nvPicPr>
                      <p:cNvPr id="0" name="图片 36938"/>
                      <p:cNvPicPr>
                        <a:picLocks noChangeAspect="1"/>
                      </p:cNvPicPr>
                      <p:nvPr/>
                    </p:nvPicPr>
                    <p:blipFill>
                      <a:blip r:embed="rId11"/>
                      <a:stretch>
                        <a:fillRect/>
                      </a:stretch>
                    </p:blipFill>
                    <p:spPr>
                      <a:xfrm>
                        <a:off x="1979613" y="6022975"/>
                        <a:ext cx="1657350" cy="619125"/>
                      </a:xfrm>
                      <a:prstGeom prst="rect">
                        <a:avLst/>
                      </a:prstGeom>
                      <a:noFill/>
                      <a:ln w="9525">
                        <a:noFill/>
                      </a:ln>
                    </p:spPr>
                  </p:pic>
                </p:oleObj>
              </mc:Fallback>
            </mc:AlternateContent>
          </a:graphicData>
        </a:graphic>
      </p:graphicFrame>
      <p:pic>
        <p:nvPicPr>
          <p:cNvPr id="49161" name="Picture 4"/>
          <p:cNvPicPr>
            <a:picLocks noChangeAspect="1" noChangeArrowheads="1"/>
          </p:cNvPicPr>
          <p:nvPr/>
        </p:nvPicPr>
        <p:blipFill>
          <a:blip r:embed="rId12" cstate="print"/>
          <a:srcRect/>
          <a:stretch>
            <a:fillRect/>
          </a:stretch>
        </p:blipFill>
        <p:spPr bwMode="auto">
          <a:xfrm>
            <a:off x="2797756" y="574675"/>
            <a:ext cx="3455988" cy="2654300"/>
          </a:xfrm>
          <a:prstGeom prst="rect">
            <a:avLst/>
          </a:prstGeom>
          <a:noFill/>
          <a:ln w="9525">
            <a:noFill/>
            <a:miter lim="800000"/>
            <a:headEnd/>
            <a:tailEnd/>
          </a:ln>
        </p:spPr>
      </p:pic>
      <p:sp>
        <p:nvSpPr>
          <p:cNvPr id="49162" name="矩形 1"/>
          <p:cNvSpPr>
            <a:spLocks noChangeArrowheads="1"/>
          </p:cNvSpPr>
          <p:nvPr/>
        </p:nvSpPr>
        <p:spPr bwMode="auto">
          <a:xfrm>
            <a:off x="305339" y="3221038"/>
            <a:ext cx="2537874" cy="400110"/>
          </a:xfrm>
          <a:prstGeom prst="rect">
            <a:avLst/>
          </a:prstGeom>
          <a:noFill/>
          <a:ln w="9525">
            <a:noFill/>
            <a:miter lim="800000"/>
          </a:ln>
        </p:spPr>
        <p:txBody>
          <a:bodyPr wrap="none">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 2</a:t>
            </a:r>
            <a:r>
              <a:rPr lang="zh-CN" altLang="en-US" sz="2000" b="1" dirty="0">
                <a:latin typeface="Times New Roman" panose="02020603050405020304" pitchFamily="18" charset="0"/>
              </a:rPr>
              <a:t>（</a:t>
            </a:r>
            <a:r>
              <a:rPr lang="zh-CN" altLang="en-US" sz="2000" dirty="0">
                <a:solidFill>
                  <a:srgbClr val="000000"/>
                </a:solidFill>
              </a:rPr>
              <a:t>求</a:t>
            </a:r>
            <a:r>
              <a:rPr lang="en-US" altLang="zh-CN" sz="2000" i="1" dirty="0">
                <a:solidFill>
                  <a:srgbClr val="000000"/>
                </a:solidFill>
                <a:latin typeface="Times New Roman" panose="02020603050405020304" pitchFamily="18" charset="0"/>
                <a:cs typeface="Times New Roman" panose="02020603050405020304" pitchFamily="18" charset="0"/>
              </a:rPr>
              <a:t>I</a:t>
            </a:r>
            <a:r>
              <a:rPr lang="en-US" altLang="zh-CN" sz="2000" baseline="-25000" dirty="0">
                <a:solidFill>
                  <a:srgbClr val="000000"/>
                </a:solidFill>
                <a:latin typeface="Times New Roman" panose="02020603050405020304" pitchFamily="18" charset="0"/>
                <a:cs typeface="Times New Roman" panose="02020603050405020304" pitchFamily="18" charset="0"/>
              </a:rPr>
              <a:t>N</a:t>
            </a:r>
            <a:r>
              <a:rPr lang="zh-CN" altLang="en-US" sz="2000" dirty="0">
                <a:solidFill>
                  <a:srgbClr val="000000"/>
                </a:solidFill>
                <a:latin typeface="Times New Roman" panose="02020603050405020304" pitchFamily="18" charset="0"/>
                <a:cs typeface="Times New Roman" panose="02020603050405020304" pitchFamily="18" charset="0"/>
              </a:rPr>
              <a:t>）</a:t>
            </a:r>
            <a:r>
              <a:rPr lang="en-US" altLang="zh-CN" sz="2000" b="1" dirty="0">
                <a:solidFill>
                  <a:srgbClr val="0000FF"/>
                </a:solidFill>
                <a:latin typeface="Times New Roman" panose="02020603050405020304" pitchFamily="18" charset="0"/>
              </a:rPr>
              <a:t> :</a:t>
            </a:r>
            <a:endParaRPr lang="en-US" altLang="zh-CN" sz="2000" dirty="0">
              <a:solidFill>
                <a:srgbClr val="0000FF"/>
              </a:solidFill>
              <a:latin typeface="Times New Roman" panose="02020603050405020304" pitchFamily="18" charset="0"/>
            </a:endParaRPr>
          </a:p>
        </p:txBody>
      </p:sp>
      <p:sp>
        <p:nvSpPr>
          <p:cNvPr id="2" name="灯片编号占位符 1"/>
          <p:cNvSpPr>
            <a:spLocks noGrp="1"/>
          </p:cNvSpPr>
          <p:nvPr>
            <p:ph type="sldNum" sz="quarter" idx="11"/>
          </p:nvPr>
        </p:nvSpPr>
        <p:spPr/>
        <p:txBody>
          <a:bodyPr/>
          <a:lstStyle/>
          <a:p>
            <a:pPr>
              <a:defRPr/>
            </a:pPr>
            <a:fld id="{D776A882-B7EA-4411-9FBB-12412DA587FB}" type="slidenum">
              <a:rPr lang="en-US" altLang="zh-CN" smtClean="0">
                <a:solidFill>
                  <a:srgbClr val="000000"/>
                </a:solidFill>
              </a:rPr>
              <a:t>58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D776A882-B7EA-4411-9FBB-12412DA587FB}" type="slidenum">
              <a:rPr lang="en-US" altLang="zh-CN" smtClean="0">
                <a:solidFill>
                  <a:srgbClr val="000000"/>
                </a:solidFill>
              </a:rPr>
              <a:t>59</a:t>
            </a:fld>
            <a:endParaRPr lang="en-US" altLang="zh-CN">
              <a:solidFill>
                <a:srgbClr val="000000"/>
              </a:solidFill>
            </a:endParaRPr>
          </a:p>
        </p:txBody>
      </p:sp>
      <p:pic>
        <p:nvPicPr>
          <p:cNvPr id="3" name="图片 2"/>
          <p:cNvPicPr>
            <a:picLocks noChangeAspect="1"/>
          </p:cNvPicPr>
          <p:nvPr/>
        </p:nvPicPr>
        <p:blipFill rotWithShape="1">
          <a:blip r:embed="rId2"/>
          <a:srcRect r="1441" b="58467"/>
          <a:stretch>
            <a:fillRect/>
          </a:stretch>
        </p:blipFill>
        <p:spPr>
          <a:xfrm>
            <a:off x="179513" y="692696"/>
            <a:ext cx="11377264" cy="360040"/>
          </a:xfrm>
          <a:prstGeom prst="rect">
            <a:avLst/>
          </a:prstGeom>
        </p:spPr>
      </p:pic>
      <p:pic>
        <p:nvPicPr>
          <p:cNvPr id="4" name="图片 3"/>
          <p:cNvPicPr>
            <a:picLocks noChangeAspect="1"/>
          </p:cNvPicPr>
          <p:nvPr/>
        </p:nvPicPr>
        <p:blipFill>
          <a:blip r:embed="rId3"/>
          <a:stretch>
            <a:fillRect/>
          </a:stretch>
        </p:blipFill>
        <p:spPr>
          <a:xfrm>
            <a:off x="2555776" y="5934075"/>
            <a:ext cx="4314825" cy="542925"/>
          </a:xfrm>
          <a:prstGeom prst="rect">
            <a:avLst/>
          </a:prstGeom>
        </p:spPr>
      </p:pic>
      <p:pic>
        <p:nvPicPr>
          <p:cNvPr id="5" name="图片 4"/>
          <p:cNvPicPr>
            <a:picLocks noChangeAspect="1"/>
          </p:cNvPicPr>
          <p:nvPr/>
        </p:nvPicPr>
        <p:blipFill>
          <a:blip r:embed="rId4"/>
          <a:stretch>
            <a:fillRect/>
          </a:stretch>
        </p:blipFill>
        <p:spPr>
          <a:xfrm>
            <a:off x="3496883" y="2417692"/>
            <a:ext cx="5181600" cy="2228850"/>
          </a:xfrm>
          <a:prstGeom prst="rect">
            <a:avLst/>
          </a:prstGeom>
        </p:spPr>
      </p:pic>
      <p:sp>
        <p:nvSpPr>
          <p:cNvPr id="6" name="文本框 5"/>
          <p:cNvSpPr txBox="1"/>
          <p:nvPr/>
        </p:nvSpPr>
        <p:spPr>
          <a:xfrm>
            <a:off x="214282" y="1500174"/>
            <a:ext cx="3960441" cy="1569660"/>
          </a:xfrm>
          <a:prstGeom prst="rect">
            <a:avLst/>
          </a:prstGeom>
          <a:noFill/>
        </p:spPr>
        <p:txBody>
          <a:bodyPr wrap="square" rtlCol="0">
            <a:spAutoFit/>
          </a:bodyPr>
          <a:lstStyle/>
          <a:p>
            <a:r>
              <a:rPr lang="zh-CN" altLang="en-US" sz="2400" dirty="0" smtClean="0"/>
              <a:t>解：</a:t>
            </a:r>
            <a:endParaRPr lang="en-US" altLang="zh-CN" sz="2400" dirty="0" smtClean="0"/>
          </a:p>
          <a:p>
            <a:r>
              <a:rPr lang="en-US" altLang="zh-CN" sz="2400" dirty="0" smtClean="0"/>
              <a:t>R=(90+90)||180=90 (</a:t>
            </a:r>
            <a:r>
              <a:rPr lang="zh-CN" altLang="en-US" sz="2400" dirty="0" smtClean="0"/>
              <a:t>欧姆）</a:t>
            </a:r>
            <a:endParaRPr lang="en-US" altLang="zh-CN" sz="2400" dirty="0" smtClean="0"/>
          </a:p>
          <a:p>
            <a:endParaRPr lang="en-US" altLang="zh-CN" sz="2400" dirty="0"/>
          </a:p>
          <a:p>
            <a:r>
              <a:rPr lang="en-US" altLang="zh-CN" sz="2400" dirty="0" smtClean="0"/>
              <a:t>I=450/180+2=2.5+2=4.5A</a:t>
            </a:r>
            <a:endParaRPr lang="zh-CN" altLang="en-US" sz="24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395288" y="476250"/>
            <a:ext cx="4752975" cy="396875"/>
          </a:xfrm>
          <a:prstGeom prst="rect">
            <a:avLst/>
          </a:prstGeom>
          <a:noFill/>
          <a:ln w="9525">
            <a:noFill/>
            <a:miter lim="800000"/>
          </a:ln>
        </p:spPr>
        <p:txBody>
          <a:bodyPr>
            <a:spAutoFit/>
          </a:bodyPr>
          <a:lstStyle/>
          <a:p>
            <a:pPr fontAlgn="base">
              <a:spcBef>
                <a:spcPct val="50000"/>
              </a:spcBef>
              <a:spcAft>
                <a:spcPct val="0"/>
              </a:spcAft>
            </a:pPr>
            <a:r>
              <a:rPr lang="zh-CN" altLang="en-US" sz="2000" b="1" dirty="0" smtClean="0">
                <a:solidFill>
                  <a:srgbClr val="FF0000"/>
                </a:solidFill>
                <a:latin typeface="Times New Roman" panose="02020603050405020304" pitchFamily="18" charset="0"/>
              </a:rPr>
              <a:t>例</a:t>
            </a:r>
            <a:r>
              <a:rPr lang="en-US" altLang="zh-CN" sz="2000" b="1" dirty="0" smtClean="0">
                <a:solidFill>
                  <a:srgbClr val="FF0000"/>
                </a:solidFill>
                <a:latin typeface="Times New Roman" panose="02020603050405020304" pitchFamily="18" charset="0"/>
              </a:rPr>
              <a:t>4-12 </a:t>
            </a: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  </a:t>
            </a:r>
            <a:r>
              <a:rPr lang="zh-CN" altLang="en-US" sz="2000" b="1" dirty="0">
                <a:solidFill>
                  <a:srgbClr val="CCCCE6"/>
                </a:solidFill>
                <a:latin typeface="Times New Roman" panose="02020603050405020304" pitchFamily="18" charset="0"/>
              </a:rPr>
              <a:t>（略，堂后练习）</a:t>
            </a:r>
          </a:p>
        </p:txBody>
      </p:sp>
      <p:sp>
        <p:nvSpPr>
          <p:cNvPr id="50179" name="Text Box 3"/>
          <p:cNvSpPr txBox="1">
            <a:spLocks noChangeArrowheads="1"/>
          </p:cNvSpPr>
          <p:nvPr/>
        </p:nvSpPr>
        <p:spPr bwMode="auto">
          <a:xfrm>
            <a:off x="539751" y="955955"/>
            <a:ext cx="5040312" cy="369332"/>
          </a:xfrm>
          <a:prstGeom prst="rect">
            <a:avLst/>
          </a:prstGeom>
          <a:noFill/>
          <a:ln w="9525">
            <a:noFill/>
            <a:miter lim="800000"/>
          </a:ln>
        </p:spPr>
        <p:txBody>
          <a:bodyPr>
            <a:spAutoFit/>
          </a:bodyPr>
          <a:lstStyle/>
          <a:p>
            <a:pPr fontAlgn="base">
              <a:spcBef>
                <a:spcPct val="50000"/>
              </a:spcBef>
              <a:spcAft>
                <a:spcPct val="0"/>
              </a:spcAft>
            </a:pPr>
            <a:r>
              <a:rPr lang="zh-CN" altLang="en-US" b="1" dirty="0">
                <a:solidFill>
                  <a:srgbClr val="000000"/>
                </a:solidFill>
                <a:latin typeface="Times New Roman" panose="02020603050405020304" pitchFamily="18" charset="0"/>
              </a:rPr>
              <a:t>使用诺顿定理</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求出图中</a:t>
            </a:r>
            <a:r>
              <a:rPr lang="en-US" altLang="zh-CN" b="1" i="1" dirty="0" err="1">
                <a:solidFill>
                  <a:srgbClr val="000000"/>
                </a:solidFill>
                <a:latin typeface="Times New Roman" panose="02020603050405020304" pitchFamily="18" charset="0"/>
              </a:rPr>
              <a:t>a,b</a:t>
            </a:r>
            <a:r>
              <a:rPr lang="zh-CN" altLang="en-US" b="1" dirty="0">
                <a:solidFill>
                  <a:srgbClr val="000000"/>
                </a:solidFill>
                <a:latin typeface="Times New Roman" panose="02020603050405020304" pitchFamily="18" charset="0"/>
              </a:rPr>
              <a:t>端子处的</a:t>
            </a:r>
            <a:r>
              <a:rPr lang="en-US" altLang="zh-CN" b="1" dirty="0">
                <a:solidFill>
                  <a:srgbClr val="000000"/>
                </a:solidFill>
                <a:latin typeface="Times New Roman" panose="02020603050405020304" pitchFamily="18" charset="0"/>
              </a:rPr>
              <a:t> </a:t>
            </a:r>
            <a:r>
              <a:rPr lang="en-US" altLang="zh-CN" b="1" i="1" dirty="0">
                <a:solidFill>
                  <a:srgbClr val="000000"/>
                </a:solidFill>
                <a:latin typeface="Times New Roman" panose="02020603050405020304" pitchFamily="18" charset="0"/>
              </a:rPr>
              <a:t>R</a:t>
            </a:r>
            <a:r>
              <a:rPr lang="en-US" altLang="zh-CN" b="1" i="1" baseline="-25000" dirty="0">
                <a:solidFill>
                  <a:srgbClr val="000000"/>
                </a:solidFill>
                <a:latin typeface="Times New Roman" panose="02020603050405020304" pitchFamily="18" charset="0"/>
              </a:rPr>
              <a:t>N</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和</a:t>
            </a:r>
            <a:r>
              <a:rPr lang="en-US" altLang="zh-CN" b="1" dirty="0">
                <a:solidFill>
                  <a:srgbClr val="000000"/>
                </a:solidFill>
                <a:latin typeface="Times New Roman" panose="02020603050405020304" pitchFamily="18" charset="0"/>
              </a:rPr>
              <a:t> </a:t>
            </a:r>
            <a:r>
              <a:rPr lang="en-US" altLang="zh-CN" b="1" i="1" dirty="0">
                <a:solidFill>
                  <a:srgbClr val="000000"/>
                </a:solidFill>
                <a:latin typeface="Times New Roman" panose="02020603050405020304" pitchFamily="18" charset="0"/>
              </a:rPr>
              <a:t>I</a:t>
            </a:r>
            <a:r>
              <a:rPr lang="en-US" altLang="zh-CN" b="1" i="1" baseline="-25000" dirty="0">
                <a:solidFill>
                  <a:srgbClr val="000000"/>
                </a:solidFill>
                <a:latin typeface="Times New Roman" panose="02020603050405020304" pitchFamily="18" charset="0"/>
              </a:rPr>
              <a:t>N</a:t>
            </a:r>
            <a:endParaRPr lang="en-US" altLang="zh-CN" b="1" dirty="0">
              <a:solidFill>
                <a:srgbClr val="000000"/>
              </a:solidFill>
              <a:latin typeface="Times New Roman" panose="02020603050405020304" pitchFamily="18" charset="0"/>
            </a:endParaRPr>
          </a:p>
        </p:txBody>
      </p:sp>
      <p:sp>
        <p:nvSpPr>
          <p:cNvPr id="50180" name="Text Box 4"/>
          <p:cNvSpPr txBox="1">
            <a:spLocks noChangeArrowheads="1"/>
          </p:cNvSpPr>
          <p:nvPr/>
        </p:nvSpPr>
        <p:spPr bwMode="auto">
          <a:xfrm>
            <a:off x="395288" y="1916113"/>
            <a:ext cx="1190625" cy="369887"/>
          </a:xfrm>
          <a:prstGeom prst="rect">
            <a:avLst/>
          </a:prstGeom>
          <a:noFill/>
          <a:ln w="9525">
            <a:noFill/>
            <a:miter lim="800000"/>
          </a:ln>
        </p:spPr>
        <p:txBody>
          <a:bodyPr wrap="none">
            <a:spAutoFit/>
          </a:bodyPr>
          <a:lstStyle/>
          <a:p>
            <a:pPr fontAlgn="base">
              <a:spcBef>
                <a:spcPct val="0"/>
              </a:spcBef>
              <a:spcAft>
                <a:spcPct val="0"/>
              </a:spcAft>
            </a:pPr>
            <a:r>
              <a:rPr lang="zh-CN" altLang="en-US" b="1" dirty="0">
                <a:solidFill>
                  <a:srgbClr val="0000FF"/>
                </a:solidFill>
                <a:latin typeface="Times New Roman" panose="02020603050405020304" pitchFamily="18" charset="0"/>
              </a:rPr>
              <a:t>解决方案</a:t>
            </a:r>
            <a:r>
              <a:rPr lang="en-US" altLang="zh-CN" b="1" dirty="0">
                <a:solidFill>
                  <a:srgbClr val="0000FF"/>
                </a:solidFill>
                <a:latin typeface="Times New Roman" panose="02020603050405020304" pitchFamily="18" charset="0"/>
              </a:rPr>
              <a:t>:</a:t>
            </a:r>
          </a:p>
        </p:txBody>
      </p:sp>
      <p:grpSp>
        <p:nvGrpSpPr>
          <p:cNvPr id="2" name="Group 13"/>
          <p:cNvGrpSpPr/>
          <p:nvPr/>
        </p:nvGrpSpPr>
        <p:grpSpPr bwMode="auto">
          <a:xfrm>
            <a:off x="457200" y="2247900"/>
            <a:ext cx="7859713" cy="3416300"/>
            <a:chOff x="385" y="1454"/>
            <a:chExt cx="4951" cy="2152"/>
          </a:xfrm>
        </p:grpSpPr>
        <p:sp>
          <p:nvSpPr>
            <p:cNvPr id="50191" name="Text Box 5"/>
            <p:cNvSpPr txBox="1">
              <a:spLocks noChangeArrowheads="1"/>
            </p:cNvSpPr>
            <p:nvPr/>
          </p:nvSpPr>
          <p:spPr bwMode="auto">
            <a:xfrm>
              <a:off x="385" y="1454"/>
              <a:ext cx="4951" cy="2152"/>
            </a:xfrm>
            <a:prstGeom prst="rect">
              <a:avLst/>
            </a:prstGeom>
            <a:noFill/>
            <a:ln w="9525">
              <a:noFill/>
              <a:miter lim="800000"/>
            </a:ln>
          </p:spPr>
          <p:txBody>
            <a:bodyPr wrap="square">
              <a:spAutoFit/>
            </a:bodyPr>
            <a:lstStyle/>
            <a:p>
              <a:pPr fontAlgn="base">
                <a:lnSpc>
                  <a:spcPct val="150000"/>
                </a:lnSpc>
                <a:spcBef>
                  <a:spcPct val="50000"/>
                </a:spcBef>
                <a:spcAft>
                  <a:spcPct val="0"/>
                </a:spcAft>
              </a:pPr>
              <a:r>
                <a:rPr lang="en-US" altLang="zh-CN" dirty="0">
                  <a:solidFill>
                    <a:srgbClr val="000000"/>
                  </a:solidFill>
                  <a:latin typeface="Times New Roman" panose="02020603050405020304" pitchFamily="18" charset="0"/>
                </a:rPr>
                <a:t>① </a:t>
              </a:r>
              <a:r>
                <a:rPr lang="zh-CN" altLang="en-US" b="1" dirty="0">
                  <a:solidFill>
                    <a:srgbClr val="0000FF"/>
                  </a:solidFill>
                  <a:latin typeface="Times New Roman" panose="02020603050405020304" pitchFamily="18" charset="0"/>
                </a:rPr>
                <a:t>为求</a:t>
              </a:r>
              <a:r>
                <a:rPr lang="en-US" altLang="zh-CN" b="1" i="1" dirty="0">
                  <a:solidFill>
                    <a:srgbClr val="0000FF"/>
                  </a:solidFill>
                  <a:latin typeface="Times New Roman" panose="02020603050405020304" pitchFamily="18" charset="0"/>
                </a:rPr>
                <a:t>R</a:t>
              </a:r>
              <a:r>
                <a:rPr lang="en-US" altLang="zh-CN" b="1" i="1" baseline="-25000" dirty="0">
                  <a:solidFill>
                    <a:srgbClr val="0000FF"/>
                  </a:solidFill>
                  <a:latin typeface="Times New Roman" panose="02020603050405020304" pitchFamily="18" charset="0"/>
                </a:rPr>
                <a:t>N</a:t>
              </a:r>
              <a:r>
                <a:rPr lang="en-US" altLang="zh-CN" b="1" dirty="0">
                  <a:solidFill>
                    <a:srgbClr val="0000FF"/>
                  </a:solidFill>
                  <a:latin typeface="Times New Roman" panose="02020603050405020304" pitchFamily="18" charset="0"/>
                </a:rPr>
                <a:t> </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在图</a:t>
              </a:r>
              <a:r>
                <a:rPr lang="en-US" altLang="zh-CN" b="1" dirty="0">
                  <a:solidFill>
                    <a:srgbClr val="000000"/>
                  </a:solidFill>
                  <a:latin typeface="Times New Roman" panose="02020603050405020304" pitchFamily="18" charset="0"/>
                </a:rPr>
                <a:t>(a)</a:t>
              </a:r>
              <a:r>
                <a:rPr lang="zh-CN" altLang="en-US" b="1" dirty="0">
                  <a:solidFill>
                    <a:srgbClr val="000000"/>
                  </a:solidFill>
                  <a:latin typeface="Times New Roman" panose="02020603050405020304" pitchFamily="18" charset="0"/>
                </a:rPr>
                <a:t>中</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因为</a:t>
              </a:r>
              <a:r>
                <a:rPr lang="en-US" altLang="zh-CN" b="1" dirty="0">
                  <a:solidFill>
                    <a:srgbClr val="000000"/>
                  </a:solidFill>
                  <a:latin typeface="Times New Roman" panose="02020603050405020304" pitchFamily="18" charset="0"/>
                </a:rPr>
                <a:t>4Ω</a:t>
              </a:r>
              <a:r>
                <a:rPr lang="zh-CN" altLang="en-US" b="1" dirty="0">
                  <a:solidFill>
                    <a:srgbClr val="000000"/>
                  </a:solidFill>
                  <a:latin typeface="Times New Roman" panose="02020603050405020304" pitchFamily="18" charset="0"/>
                </a:rPr>
                <a:t>电阻短路</a:t>
              </a:r>
              <a:r>
                <a:rPr lang="en-US" altLang="zh-CN" b="1" dirty="0">
                  <a:solidFill>
                    <a:srgbClr val="000000"/>
                  </a:solidFill>
                  <a:latin typeface="Times New Roman" panose="02020603050405020304" pitchFamily="18" charset="0"/>
                </a:rPr>
                <a:t>, 5Ω</a:t>
              </a:r>
              <a:r>
                <a:rPr lang="zh-CN" altLang="en-US" b="1" dirty="0">
                  <a:solidFill>
                    <a:srgbClr val="000000"/>
                  </a:solidFill>
                  <a:latin typeface="Times New Roman" panose="02020603050405020304" pitchFamily="18" charset="0"/>
                </a:rPr>
                <a:t>电阻</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电压源</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非独立电流源都是并联的，因此</a:t>
              </a:r>
              <a:r>
                <a:rPr lang="en-US" altLang="zh-CN" b="1" dirty="0">
                  <a:solidFill>
                    <a:srgbClr val="000000"/>
                  </a:solidFill>
                  <a:latin typeface="Times New Roman" panose="02020603050405020304" pitchFamily="18" charset="0"/>
                </a:rPr>
                <a:t> </a:t>
              </a:r>
              <a:endParaRPr lang="zh-CN" altLang="en-US" b="1" i="1" dirty="0">
                <a:solidFill>
                  <a:srgbClr val="CCCCE6"/>
                </a:solidFill>
                <a:latin typeface="Times New Roman" panose="02020603050405020304" pitchFamily="18" charset="0"/>
              </a:endParaRPr>
            </a:p>
            <a:p>
              <a:pPr fontAlgn="base">
                <a:spcBef>
                  <a:spcPct val="50000"/>
                </a:spcBef>
                <a:spcAft>
                  <a:spcPct val="0"/>
                </a:spcAft>
              </a:pP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在节点</a:t>
              </a:r>
              <a:r>
                <a:rPr lang="en-US" altLang="zh-CN" b="1" i="1" dirty="0">
                  <a:solidFill>
                    <a:srgbClr val="0000FF"/>
                  </a:solidFill>
                  <a:latin typeface="Times New Roman" panose="02020603050405020304" pitchFamily="18" charset="0"/>
                </a:rPr>
                <a:t>a</a:t>
              </a:r>
              <a:r>
                <a:rPr lang="en-US" altLang="zh-CN" b="1" i="1" dirty="0">
                  <a:solidFill>
                    <a:srgbClr val="000000"/>
                  </a:solidFill>
                  <a:latin typeface="Times New Roman" panose="02020603050405020304" pitchFamily="18" charset="0"/>
                </a:rPr>
                <a:t>,</a:t>
              </a:r>
            </a:p>
            <a:p>
              <a:pPr fontAlgn="base">
                <a:spcBef>
                  <a:spcPct val="50000"/>
                </a:spcBef>
                <a:spcAft>
                  <a:spcPct val="0"/>
                </a:spcAft>
              </a:pPr>
              <a:endParaRPr lang="en-US" altLang="zh-CN" b="1" dirty="0">
                <a:solidFill>
                  <a:srgbClr val="000000"/>
                </a:solidFill>
                <a:latin typeface="Times New Roman" panose="02020603050405020304" pitchFamily="18" charset="0"/>
              </a:endParaRPr>
            </a:p>
            <a:p>
              <a:pPr fontAlgn="base">
                <a:spcBef>
                  <a:spcPct val="50000"/>
                </a:spcBef>
                <a:spcAft>
                  <a:spcPct val="0"/>
                </a:spcAft>
              </a:pPr>
              <a:endParaRPr lang="en-US" altLang="zh-CN" b="1" i="1" dirty="0">
                <a:solidFill>
                  <a:srgbClr val="000000"/>
                </a:solidFill>
                <a:latin typeface="Times New Roman" panose="02020603050405020304" pitchFamily="18" charset="0"/>
              </a:endParaRPr>
            </a:p>
            <a:p>
              <a:pPr fontAlgn="base">
                <a:spcBef>
                  <a:spcPct val="50000"/>
                </a:spcBef>
                <a:spcAft>
                  <a:spcPct val="0"/>
                </a:spcAft>
              </a:pPr>
              <a:endParaRPr lang="en-US" altLang="zh-CN" b="1" dirty="0">
                <a:solidFill>
                  <a:srgbClr val="000000"/>
                </a:solidFill>
                <a:latin typeface="Times New Roman" panose="02020603050405020304" pitchFamily="18" charset="0"/>
              </a:endParaRPr>
            </a:p>
            <a:p>
              <a:pPr fontAlgn="base">
                <a:spcBef>
                  <a:spcPct val="50000"/>
                </a:spcBef>
                <a:spcAft>
                  <a:spcPct val="0"/>
                </a:spcAft>
              </a:pPr>
              <a:r>
                <a:rPr lang="en-US" altLang="zh-CN" b="1" dirty="0">
                  <a:solidFill>
                    <a:srgbClr val="000000"/>
                  </a:solidFill>
                  <a:latin typeface="Times New Roman" panose="02020603050405020304" pitchFamily="18" charset="0"/>
                </a:rPr>
                <a:t>②</a:t>
              </a:r>
              <a:r>
                <a:rPr lang="zh-CN" altLang="en-US" b="1" dirty="0">
                  <a:solidFill>
                    <a:srgbClr val="0000FF"/>
                  </a:solidFill>
                  <a:latin typeface="Times New Roman" panose="02020603050405020304" pitchFamily="18" charset="0"/>
                </a:rPr>
                <a:t>为求</a:t>
              </a:r>
              <a:r>
                <a:rPr lang="en-US" altLang="zh-CN" b="1" dirty="0">
                  <a:solidFill>
                    <a:srgbClr val="0000FF"/>
                  </a:solidFill>
                  <a:latin typeface="Times New Roman" panose="02020603050405020304" pitchFamily="18" charset="0"/>
                </a:rPr>
                <a:t> </a:t>
              </a:r>
              <a:r>
                <a:rPr lang="en-US" altLang="zh-CN" b="1" i="1" dirty="0">
                  <a:solidFill>
                    <a:srgbClr val="0000FF"/>
                  </a:solidFill>
                  <a:latin typeface="Times New Roman" panose="02020603050405020304" pitchFamily="18" charset="0"/>
                </a:rPr>
                <a:t>I</a:t>
              </a:r>
              <a:r>
                <a:rPr lang="en-US" altLang="zh-CN" b="1" i="1" baseline="-25000" dirty="0">
                  <a:solidFill>
                    <a:srgbClr val="0000FF"/>
                  </a:solidFill>
                  <a:latin typeface="Times New Roman" panose="02020603050405020304" pitchFamily="18" charset="0"/>
                </a:rPr>
                <a:t>N</a:t>
              </a:r>
              <a:r>
                <a:rPr lang="en-US" altLang="zh-CN" b="1" baseline="-25000" dirty="0">
                  <a:solidFill>
                    <a:srgbClr val="000000"/>
                  </a:solidFill>
                  <a:latin typeface="Times New Roman" panose="02020603050405020304" pitchFamily="18" charset="0"/>
                </a:rPr>
                <a:t>  </a:t>
              </a:r>
              <a:r>
                <a:rPr lang="en-US" altLang="zh-CN" b="1" dirty="0">
                  <a:solidFill>
                    <a:srgbClr val="000000"/>
                  </a:solidFill>
                  <a:latin typeface="Times New Roman" panose="02020603050405020304" pitchFamily="18" charset="0"/>
                </a:rPr>
                <a:t>,</a:t>
              </a:r>
              <a:r>
                <a:rPr lang="en-US" altLang="zh-CN" b="1" baseline="-25000"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在图</a:t>
              </a:r>
              <a:r>
                <a:rPr lang="en-US" altLang="zh-CN" b="1" dirty="0">
                  <a:solidFill>
                    <a:srgbClr val="000000"/>
                  </a:solidFill>
                  <a:latin typeface="Times New Roman" panose="02020603050405020304" pitchFamily="18" charset="0"/>
                </a:rPr>
                <a:t>(b)</a:t>
              </a:r>
              <a:r>
                <a:rPr lang="zh-CN" altLang="en-US" b="1" dirty="0">
                  <a:solidFill>
                    <a:srgbClr val="000000"/>
                  </a:solidFill>
                  <a:latin typeface="Times New Roman" panose="02020603050405020304" pitchFamily="18" charset="0"/>
                </a:rPr>
                <a:t>中</a:t>
              </a:r>
              <a:endParaRPr lang="en-US" altLang="zh-CN" b="1" dirty="0">
                <a:solidFill>
                  <a:srgbClr val="000000"/>
                </a:solidFill>
                <a:latin typeface="Times New Roman" panose="02020603050405020304" pitchFamily="18" charset="0"/>
              </a:endParaRPr>
            </a:p>
            <a:p>
              <a:pPr fontAlgn="base">
                <a:spcBef>
                  <a:spcPct val="50000"/>
                </a:spcBef>
                <a:spcAft>
                  <a:spcPct val="0"/>
                </a:spcAft>
              </a:pP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在节点</a:t>
              </a:r>
              <a:r>
                <a:rPr lang="en-US" altLang="zh-CN" b="1" dirty="0">
                  <a:solidFill>
                    <a:srgbClr val="000000"/>
                  </a:solidFill>
                  <a:latin typeface="Times New Roman" panose="02020603050405020304" pitchFamily="18" charset="0"/>
                </a:rPr>
                <a:t> </a:t>
              </a:r>
              <a:r>
                <a:rPr lang="en-US" altLang="zh-CN" b="1" i="1" dirty="0">
                  <a:solidFill>
                    <a:srgbClr val="000000"/>
                  </a:solidFill>
                  <a:latin typeface="Times New Roman" panose="02020603050405020304" pitchFamily="18" charset="0"/>
                </a:rPr>
                <a:t>a</a:t>
              </a:r>
              <a:r>
                <a:rPr lang="en-US" altLang="zh-CN" b="1" dirty="0">
                  <a:solidFill>
                    <a:srgbClr val="000000"/>
                  </a:solidFill>
                  <a:latin typeface="Times New Roman" panose="02020603050405020304" pitchFamily="18" charset="0"/>
                </a:rPr>
                <a:t>,</a:t>
              </a:r>
              <a:endParaRPr lang="en-US" altLang="zh-CN" b="1" i="1" baseline="-25000" dirty="0">
                <a:solidFill>
                  <a:srgbClr val="000000"/>
                </a:solidFill>
                <a:latin typeface="Times New Roman" panose="02020603050405020304" pitchFamily="18" charset="0"/>
              </a:endParaRPr>
            </a:p>
          </p:txBody>
        </p:sp>
        <p:graphicFrame>
          <p:nvGraphicFramePr>
            <p:cNvPr id="50192" name="Object 6"/>
            <p:cNvGraphicFramePr>
              <a:graphicFrameLocks noChangeAspect="1"/>
            </p:cNvGraphicFramePr>
            <p:nvPr/>
          </p:nvGraphicFramePr>
          <p:xfrm>
            <a:off x="1581" y="1782"/>
            <a:ext cx="1542" cy="226"/>
          </p:xfrm>
          <a:graphic>
            <a:graphicData uri="http://schemas.openxmlformats.org/presentationml/2006/ole">
              <mc:AlternateContent xmlns:mc="http://schemas.openxmlformats.org/markup-compatibility/2006">
                <mc:Choice xmlns:v="urn:schemas-microsoft-com:vml" Requires="v">
                  <p:oleObj spid="_x0000_s38020" name="公式" r:id="rId4" imgW="37490400" imgH="5486400" progId="">
                    <p:embed/>
                  </p:oleObj>
                </mc:Choice>
                <mc:Fallback>
                  <p:oleObj name="公式" r:id="rId4" imgW="37490400" imgH="5486400" progId="">
                    <p:embed/>
                    <p:pic>
                      <p:nvPicPr>
                        <p:cNvPr id="0" name="图片 37888"/>
                        <p:cNvPicPr>
                          <a:picLocks noChangeAspect="1"/>
                        </p:cNvPicPr>
                        <p:nvPr/>
                      </p:nvPicPr>
                      <p:blipFill>
                        <a:blip r:embed="rId5"/>
                        <a:stretch>
                          <a:fillRect/>
                        </a:stretch>
                      </p:blipFill>
                      <p:spPr>
                        <a:xfrm>
                          <a:off x="1581" y="1782"/>
                          <a:ext cx="1542" cy="226"/>
                        </a:xfrm>
                        <a:prstGeom prst="rect">
                          <a:avLst/>
                        </a:prstGeom>
                        <a:noFill/>
                        <a:ln w="9525">
                          <a:noFill/>
                        </a:ln>
                      </p:spPr>
                    </p:pic>
                  </p:oleObj>
                </mc:Fallback>
              </mc:AlternateContent>
            </a:graphicData>
          </a:graphic>
        </p:graphicFrame>
      </p:grpSp>
      <p:graphicFrame>
        <p:nvGraphicFramePr>
          <p:cNvPr id="50182" name="Object 7"/>
          <p:cNvGraphicFramePr>
            <a:graphicFrameLocks noChangeAspect="1"/>
          </p:cNvGraphicFramePr>
          <p:nvPr/>
        </p:nvGraphicFramePr>
        <p:xfrm>
          <a:off x="2230438" y="3621088"/>
          <a:ext cx="2608262" cy="347662"/>
        </p:xfrm>
        <a:graphic>
          <a:graphicData uri="http://schemas.openxmlformats.org/presentationml/2006/ole">
            <mc:AlternateContent xmlns:mc="http://schemas.openxmlformats.org/markup-compatibility/2006">
              <mc:Choice xmlns:v="urn:schemas-microsoft-com:vml" Requires="v">
                <p:oleObj spid="_x0000_s38021" name="公式" r:id="rId6" imgW="41148000" imgH="5486400" progId="">
                  <p:embed/>
                </p:oleObj>
              </mc:Choice>
              <mc:Fallback>
                <p:oleObj name="公式" r:id="rId6" imgW="41148000" imgH="5486400" progId="">
                  <p:embed/>
                  <p:pic>
                    <p:nvPicPr>
                      <p:cNvPr id="0" name="图片 37994"/>
                      <p:cNvPicPr>
                        <a:picLocks noChangeAspect="1"/>
                      </p:cNvPicPr>
                      <p:nvPr/>
                    </p:nvPicPr>
                    <p:blipFill>
                      <a:blip r:embed="rId7"/>
                      <a:stretch>
                        <a:fillRect/>
                      </a:stretch>
                    </p:blipFill>
                    <p:spPr>
                      <a:xfrm>
                        <a:off x="2230438" y="3621088"/>
                        <a:ext cx="2608262" cy="347662"/>
                      </a:xfrm>
                      <a:prstGeom prst="rect">
                        <a:avLst/>
                      </a:prstGeom>
                      <a:noFill/>
                      <a:ln w="9525">
                        <a:noFill/>
                      </a:ln>
                    </p:spPr>
                  </p:pic>
                </p:oleObj>
              </mc:Fallback>
            </mc:AlternateContent>
          </a:graphicData>
        </a:graphic>
      </p:graphicFrame>
      <p:graphicFrame>
        <p:nvGraphicFramePr>
          <p:cNvPr id="50183" name="Object 8"/>
          <p:cNvGraphicFramePr>
            <a:graphicFrameLocks noChangeAspect="1"/>
          </p:cNvGraphicFramePr>
          <p:nvPr/>
        </p:nvGraphicFramePr>
        <p:xfrm>
          <a:off x="2230438" y="4017963"/>
          <a:ext cx="2062162" cy="627062"/>
        </p:xfrm>
        <a:graphic>
          <a:graphicData uri="http://schemas.openxmlformats.org/presentationml/2006/ole">
            <mc:AlternateContent xmlns:mc="http://schemas.openxmlformats.org/markup-compatibility/2006">
              <mc:Choice xmlns:v="urn:schemas-microsoft-com:vml" Requires="v">
                <p:oleObj spid="_x0000_s38022" name="公式" r:id="rId8" imgW="34137600" imgH="10363200" progId="">
                  <p:embed/>
                </p:oleObj>
              </mc:Choice>
              <mc:Fallback>
                <p:oleObj name="公式" r:id="rId8" imgW="34137600" imgH="10363200" progId="">
                  <p:embed/>
                  <p:pic>
                    <p:nvPicPr>
                      <p:cNvPr id="0" name="图片 37995"/>
                      <p:cNvPicPr>
                        <a:picLocks noChangeAspect="1"/>
                      </p:cNvPicPr>
                      <p:nvPr/>
                    </p:nvPicPr>
                    <p:blipFill>
                      <a:blip r:embed="rId9"/>
                      <a:stretch>
                        <a:fillRect/>
                      </a:stretch>
                    </p:blipFill>
                    <p:spPr>
                      <a:xfrm>
                        <a:off x="2230438" y="4017963"/>
                        <a:ext cx="2062162" cy="627062"/>
                      </a:xfrm>
                      <a:prstGeom prst="rect">
                        <a:avLst/>
                      </a:prstGeom>
                      <a:noFill/>
                      <a:ln w="9525">
                        <a:noFill/>
                      </a:ln>
                    </p:spPr>
                  </p:pic>
                </p:oleObj>
              </mc:Fallback>
            </mc:AlternateContent>
          </a:graphicData>
        </a:graphic>
      </p:graphicFrame>
      <p:graphicFrame>
        <p:nvGraphicFramePr>
          <p:cNvPr id="50184" name="Object 9"/>
          <p:cNvGraphicFramePr>
            <a:graphicFrameLocks noChangeAspect="1"/>
          </p:cNvGraphicFramePr>
          <p:nvPr/>
        </p:nvGraphicFramePr>
        <p:xfrm>
          <a:off x="3311525" y="4770438"/>
          <a:ext cx="1439863" cy="557212"/>
        </p:xfrm>
        <a:graphic>
          <a:graphicData uri="http://schemas.openxmlformats.org/presentationml/2006/ole">
            <mc:AlternateContent xmlns:mc="http://schemas.openxmlformats.org/markup-compatibility/2006">
              <mc:Choice xmlns:v="urn:schemas-microsoft-com:vml" Requires="v">
                <p:oleObj spid="_x0000_s38023" name="公式" r:id="rId10" imgW="24384000" imgH="9448800" progId="">
                  <p:embed/>
                </p:oleObj>
              </mc:Choice>
              <mc:Fallback>
                <p:oleObj name="公式" r:id="rId10" imgW="24384000" imgH="9448800" progId="">
                  <p:embed/>
                  <p:pic>
                    <p:nvPicPr>
                      <p:cNvPr id="0" name="图片 37996"/>
                      <p:cNvPicPr>
                        <a:picLocks noChangeAspect="1"/>
                      </p:cNvPicPr>
                      <p:nvPr/>
                    </p:nvPicPr>
                    <p:blipFill>
                      <a:blip r:embed="rId11"/>
                      <a:stretch>
                        <a:fillRect/>
                      </a:stretch>
                    </p:blipFill>
                    <p:spPr>
                      <a:xfrm>
                        <a:off x="3311525" y="4770438"/>
                        <a:ext cx="1439863" cy="557212"/>
                      </a:xfrm>
                      <a:prstGeom prst="rect">
                        <a:avLst/>
                      </a:prstGeom>
                      <a:noFill/>
                      <a:ln w="9525">
                        <a:noFill/>
                      </a:ln>
                    </p:spPr>
                  </p:pic>
                </p:oleObj>
              </mc:Fallback>
            </mc:AlternateContent>
          </a:graphicData>
        </a:graphic>
      </p:graphicFrame>
      <p:graphicFrame>
        <p:nvGraphicFramePr>
          <p:cNvPr id="50185" name="Object 10"/>
          <p:cNvGraphicFramePr>
            <a:graphicFrameLocks noChangeAspect="1"/>
          </p:cNvGraphicFramePr>
          <p:nvPr/>
        </p:nvGraphicFramePr>
        <p:xfrm>
          <a:off x="2484438" y="5713413"/>
          <a:ext cx="2232025" cy="327025"/>
        </p:xfrm>
        <a:graphic>
          <a:graphicData uri="http://schemas.openxmlformats.org/presentationml/2006/ole">
            <mc:AlternateContent xmlns:mc="http://schemas.openxmlformats.org/markup-compatibility/2006">
              <mc:Choice xmlns:v="urn:schemas-microsoft-com:vml" Requires="v">
                <p:oleObj spid="_x0000_s38024" name="公式" r:id="rId12" imgW="37490400" imgH="5486400" progId="">
                  <p:embed/>
                </p:oleObj>
              </mc:Choice>
              <mc:Fallback>
                <p:oleObj name="公式" r:id="rId12" imgW="37490400" imgH="5486400" progId="">
                  <p:embed/>
                  <p:pic>
                    <p:nvPicPr>
                      <p:cNvPr id="0" name="图片 37997"/>
                      <p:cNvPicPr>
                        <a:picLocks noChangeAspect="1"/>
                      </p:cNvPicPr>
                      <p:nvPr/>
                    </p:nvPicPr>
                    <p:blipFill>
                      <a:blip r:embed="rId13"/>
                      <a:stretch>
                        <a:fillRect/>
                      </a:stretch>
                    </p:blipFill>
                    <p:spPr>
                      <a:xfrm>
                        <a:off x="2484438" y="5713413"/>
                        <a:ext cx="2232025" cy="327025"/>
                      </a:xfrm>
                      <a:prstGeom prst="rect">
                        <a:avLst/>
                      </a:prstGeom>
                      <a:noFill/>
                      <a:ln w="9525">
                        <a:noFill/>
                      </a:ln>
                    </p:spPr>
                  </p:pic>
                </p:oleObj>
              </mc:Fallback>
            </mc:AlternateContent>
          </a:graphicData>
        </a:graphic>
      </p:graphicFrame>
      <p:sp>
        <p:nvSpPr>
          <p:cNvPr id="50186" name="Text Box 11"/>
          <p:cNvSpPr txBox="1">
            <a:spLocks noChangeArrowheads="1"/>
          </p:cNvSpPr>
          <p:nvPr/>
        </p:nvSpPr>
        <p:spPr bwMode="auto">
          <a:xfrm>
            <a:off x="2555875" y="6113463"/>
            <a:ext cx="1296988" cy="366712"/>
          </a:xfrm>
          <a:prstGeom prst="rect">
            <a:avLst/>
          </a:prstGeom>
          <a:noFill/>
          <a:ln w="9525">
            <a:noFill/>
            <a:miter lim="800000"/>
          </a:ln>
        </p:spPr>
        <p:txBody>
          <a:bodyPr>
            <a:spAutoFit/>
          </a:bodyPr>
          <a:lstStyle/>
          <a:p>
            <a:pPr fontAlgn="base">
              <a:spcBef>
                <a:spcPct val="50000"/>
              </a:spcBef>
              <a:spcAft>
                <a:spcPct val="0"/>
              </a:spcAft>
            </a:pPr>
            <a:r>
              <a:rPr lang="zh-CN" altLang="en-US">
                <a:solidFill>
                  <a:srgbClr val="000000"/>
                </a:solidFill>
                <a:latin typeface="Times New Roman" panose="02020603050405020304" pitchFamily="18" charset="0"/>
              </a:rPr>
              <a:t>因此</a:t>
            </a:r>
            <a:r>
              <a:rPr lang="en-US" altLang="zh-CN">
                <a:solidFill>
                  <a:srgbClr val="000000"/>
                </a:solidFill>
                <a:latin typeface="Times New Roman" panose="02020603050405020304" pitchFamily="18" charset="0"/>
              </a:rPr>
              <a:t>,</a:t>
            </a:r>
          </a:p>
        </p:txBody>
      </p:sp>
      <p:graphicFrame>
        <p:nvGraphicFramePr>
          <p:cNvPr id="50187" name="Object 12"/>
          <p:cNvGraphicFramePr>
            <a:graphicFrameLocks noChangeAspect="1"/>
          </p:cNvGraphicFramePr>
          <p:nvPr/>
        </p:nvGraphicFramePr>
        <p:xfrm>
          <a:off x="3276600" y="6278563"/>
          <a:ext cx="792163" cy="339725"/>
        </p:xfrm>
        <a:graphic>
          <a:graphicData uri="http://schemas.openxmlformats.org/presentationml/2006/ole">
            <mc:AlternateContent xmlns:mc="http://schemas.openxmlformats.org/markup-compatibility/2006">
              <mc:Choice xmlns:v="urn:schemas-microsoft-com:vml" Requires="v">
                <p:oleObj spid="_x0000_s38025" name="公式" r:id="rId14" imgW="12801600" imgH="5486400" progId="">
                  <p:embed/>
                </p:oleObj>
              </mc:Choice>
              <mc:Fallback>
                <p:oleObj name="公式" r:id="rId14" imgW="12801600" imgH="5486400" progId="">
                  <p:embed/>
                  <p:pic>
                    <p:nvPicPr>
                      <p:cNvPr id="0" name="图片 37998"/>
                      <p:cNvPicPr>
                        <a:picLocks noChangeAspect="1"/>
                      </p:cNvPicPr>
                      <p:nvPr/>
                    </p:nvPicPr>
                    <p:blipFill>
                      <a:blip r:embed="rId15"/>
                      <a:stretch>
                        <a:fillRect/>
                      </a:stretch>
                    </p:blipFill>
                    <p:spPr>
                      <a:xfrm>
                        <a:off x="3276600" y="6278563"/>
                        <a:ext cx="792163" cy="339725"/>
                      </a:xfrm>
                      <a:prstGeom prst="rect">
                        <a:avLst/>
                      </a:prstGeom>
                      <a:noFill/>
                      <a:ln w="9525">
                        <a:noFill/>
                      </a:ln>
                    </p:spPr>
                  </p:pic>
                </p:oleObj>
              </mc:Fallback>
            </mc:AlternateContent>
          </a:graphicData>
        </a:graphic>
      </p:graphicFrame>
      <p:pic>
        <p:nvPicPr>
          <p:cNvPr id="50188" name="Picture 14"/>
          <p:cNvPicPr>
            <a:picLocks noGrp="1" noChangeAspect="1" noChangeArrowheads="1"/>
          </p:cNvPicPr>
          <p:nvPr>
            <p:ph sz="half" idx="1"/>
          </p:nvPr>
        </p:nvPicPr>
        <p:blipFill>
          <a:blip r:embed="rId16" cstate="print"/>
          <a:srcRect/>
          <a:stretch>
            <a:fillRect/>
          </a:stretch>
        </p:blipFill>
        <p:spPr>
          <a:xfrm>
            <a:off x="5695951" y="65883"/>
            <a:ext cx="2817812" cy="2149475"/>
          </a:xfrm>
          <a:noFill/>
        </p:spPr>
      </p:pic>
      <p:pic>
        <p:nvPicPr>
          <p:cNvPr id="50189" name="Picture 19"/>
          <p:cNvPicPr>
            <a:picLocks noGrp="1" noChangeAspect="1" noChangeArrowheads="1"/>
          </p:cNvPicPr>
          <p:nvPr>
            <p:ph sz="quarter" idx="2"/>
          </p:nvPr>
        </p:nvPicPr>
        <p:blipFill>
          <a:blip r:embed="rId17" cstate="print"/>
          <a:srcRect/>
          <a:stretch>
            <a:fillRect/>
          </a:stretch>
        </p:blipFill>
        <p:spPr>
          <a:xfrm>
            <a:off x="5940152" y="2861469"/>
            <a:ext cx="2970212" cy="1866900"/>
          </a:xfrm>
          <a:noFill/>
        </p:spPr>
      </p:pic>
      <p:pic>
        <p:nvPicPr>
          <p:cNvPr id="50190" name="Picture 22"/>
          <p:cNvPicPr>
            <a:picLocks noGrp="1" noChangeAspect="1" noChangeArrowheads="1"/>
          </p:cNvPicPr>
          <p:nvPr>
            <p:ph sz="quarter" idx="3"/>
          </p:nvPr>
        </p:nvPicPr>
        <p:blipFill>
          <a:blip r:embed="rId18" cstate="print"/>
          <a:srcRect/>
          <a:stretch>
            <a:fillRect/>
          </a:stretch>
        </p:blipFill>
        <p:spPr>
          <a:xfrm>
            <a:off x="6165713" y="4918538"/>
            <a:ext cx="2447925" cy="1866900"/>
          </a:xfrm>
          <a:noFill/>
        </p:spPr>
      </p:pic>
      <p:sp>
        <p:nvSpPr>
          <p:cNvPr id="3" name="灯片编号占位符 2"/>
          <p:cNvSpPr>
            <a:spLocks noGrp="1"/>
          </p:cNvSpPr>
          <p:nvPr>
            <p:ph type="sldNum" sz="quarter" idx="11"/>
          </p:nvPr>
        </p:nvSpPr>
        <p:spPr/>
        <p:txBody>
          <a:bodyPr/>
          <a:lstStyle/>
          <a:p>
            <a:pPr>
              <a:defRPr/>
            </a:pPr>
            <a:fld id="{B4B73163-A66D-4D54-9D0B-1A3A291F3030}" type="slidenum">
              <a:rPr lang="en-US" altLang="zh-CN" smtClean="0">
                <a:solidFill>
                  <a:srgbClr val="000000"/>
                </a:solidFill>
              </a:rPr>
              <a:t>60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1"/>
          </p:nvPr>
        </p:nvSpPr>
        <p:spPr/>
        <p:txBody>
          <a:bodyPr/>
          <a:lstStyle/>
          <a:p>
            <a:pPr>
              <a:defRPr/>
            </a:pPr>
            <a:fld id="{B4B73163-A66D-4D54-9D0B-1A3A291F3030}" type="slidenum">
              <a:rPr lang="en-US" altLang="zh-CN" smtClean="0">
                <a:solidFill>
                  <a:srgbClr val="000000"/>
                </a:solidFill>
              </a:rPr>
              <a:t>61</a:t>
            </a:fld>
            <a:endParaRPr lang="en-US" altLang="zh-CN">
              <a:solidFill>
                <a:srgbClr val="000000"/>
              </a:solidFill>
            </a:endParaRPr>
          </a:p>
        </p:txBody>
      </p:sp>
      <p:pic>
        <p:nvPicPr>
          <p:cNvPr id="7" name="图片 6"/>
          <p:cNvPicPr>
            <a:picLocks noChangeAspect="1"/>
          </p:cNvPicPr>
          <p:nvPr/>
        </p:nvPicPr>
        <p:blipFill>
          <a:blip r:embed="rId2"/>
          <a:stretch>
            <a:fillRect/>
          </a:stretch>
        </p:blipFill>
        <p:spPr>
          <a:xfrm>
            <a:off x="323528" y="548680"/>
            <a:ext cx="8477250" cy="542925"/>
          </a:xfrm>
          <a:prstGeom prst="rect">
            <a:avLst/>
          </a:prstGeom>
        </p:spPr>
      </p:pic>
      <p:pic>
        <p:nvPicPr>
          <p:cNvPr id="8" name="图片 7"/>
          <p:cNvPicPr>
            <a:picLocks noChangeAspect="1"/>
          </p:cNvPicPr>
          <p:nvPr/>
        </p:nvPicPr>
        <p:blipFill>
          <a:blip r:embed="rId3"/>
          <a:stretch>
            <a:fillRect/>
          </a:stretch>
        </p:blipFill>
        <p:spPr>
          <a:xfrm>
            <a:off x="4143372" y="1285860"/>
            <a:ext cx="4714903" cy="2574082"/>
          </a:xfrm>
          <a:prstGeom prst="rect">
            <a:avLst/>
          </a:prstGeom>
        </p:spPr>
      </p:pic>
      <p:pic>
        <p:nvPicPr>
          <p:cNvPr id="9" name="图片 8"/>
          <p:cNvPicPr>
            <a:picLocks noChangeAspect="1"/>
          </p:cNvPicPr>
          <p:nvPr/>
        </p:nvPicPr>
        <p:blipFill>
          <a:blip r:embed="rId4"/>
          <a:stretch>
            <a:fillRect/>
          </a:stretch>
        </p:blipFill>
        <p:spPr>
          <a:xfrm>
            <a:off x="4857752" y="4214818"/>
            <a:ext cx="3962400" cy="666750"/>
          </a:xfrm>
          <a:prstGeom prst="rect">
            <a:avLst/>
          </a:prstGeom>
        </p:spPr>
      </p:pic>
      <p:sp>
        <p:nvSpPr>
          <p:cNvPr id="10" name="TextBox 9"/>
          <p:cNvSpPr txBox="1"/>
          <p:nvPr/>
        </p:nvSpPr>
        <p:spPr>
          <a:xfrm>
            <a:off x="500034" y="1142984"/>
            <a:ext cx="3500462" cy="4524315"/>
          </a:xfrm>
          <a:prstGeom prst="rect">
            <a:avLst/>
          </a:prstGeom>
          <a:noFill/>
        </p:spPr>
        <p:txBody>
          <a:bodyPr wrap="square" rtlCol="0">
            <a:spAutoFit/>
          </a:bodyPr>
          <a:lstStyle/>
          <a:p>
            <a:r>
              <a:rPr lang="zh-CN" altLang="en-US" dirty="0" smtClean="0"/>
              <a:t>解</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）求</a:t>
            </a:r>
            <a:r>
              <a:rPr lang="en-US" altLang="zh-CN" dirty="0" err="1" smtClean="0">
                <a:sym typeface="Wingdings" panose="05000000000000000000" pitchFamily="2" charset="2"/>
              </a:rPr>
              <a:t>Rn</a:t>
            </a:r>
            <a:endParaRPr lang="en-US" altLang="zh-CN" dirty="0" smtClean="0">
              <a:sym typeface="Wingdings" panose="05000000000000000000" pitchFamily="2" charset="2"/>
            </a:endParaRPr>
          </a:p>
          <a:p>
            <a:r>
              <a:rPr lang="zh-CN" altLang="en-US" dirty="0" smtClean="0"/>
              <a:t>假设在</a:t>
            </a:r>
            <a:r>
              <a:rPr lang="en-US" altLang="zh-CN" dirty="0" err="1" smtClean="0"/>
              <a:t>ab</a:t>
            </a:r>
            <a:r>
              <a:rPr lang="zh-CN" altLang="en-US" dirty="0" smtClean="0"/>
              <a:t>间加</a:t>
            </a:r>
            <a:r>
              <a:rPr lang="en-US" altLang="zh-CN" dirty="0" smtClean="0"/>
              <a:t>1V</a:t>
            </a:r>
            <a:r>
              <a:rPr lang="zh-CN" altLang="en-US" dirty="0" smtClean="0"/>
              <a:t>的电压源，流出的电流为</a:t>
            </a:r>
            <a:r>
              <a:rPr lang="en-US" altLang="zh-CN" dirty="0" smtClean="0"/>
              <a:t>I0,</a:t>
            </a:r>
            <a:r>
              <a:rPr lang="zh-CN" altLang="en-US" dirty="0" smtClean="0"/>
              <a:t>方向由</a:t>
            </a:r>
            <a:r>
              <a:rPr lang="en-US" altLang="zh-CN" dirty="0" smtClean="0"/>
              <a:t>b</a:t>
            </a:r>
            <a:r>
              <a:rPr lang="zh-CN" altLang="en-US" dirty="0" smtClean="0"/>
              <a:t>指向</a:t>
            </a:r>
            <a:r>
              <a:rPr lang="en-US" altLang="zh-CN" dirty="0" smtClean="0"/>
              <a:t>a</a:t>
            </a:r>
            <a:r>
              <a:rPr lang="zh-CN" altLang="en-US" dirty="0" smtClean="0"/>
              <a:t>。电流源清零，开路。</a:t>
            </a:r>
            <a:endParaRPr lang="en-US" altLang="zh-CN" dirty="0" smtClean="0"/>
          </a:p>
          <a:p>
            <a:r>
              <a:rPr lang="en-US" altLang="zh-CN" dirty="0" smtClean="0"/>
              <a:t>6*I1+2*</a:t>
            </a:r>
            <a:r>
              <a:rPr lang="en-US" altLang="zh-CN" dirty="0" err="1" smtClean="0"/>
              <a:t>Vx+Vx</a:t>
            </a:r>
            <a:r>
              <a:rPr lang="en-US" altLang="zh-CN" dirty="0" smtClean="0"/>
              <a:t>=0</a:t>
            </a:r>
          </a:p>
          <a:p>
            <a:r>
              <a:rPr lang="en-US" altLang="zh-CN" dirty="0" smtClean="0"/>
              <a:t>I1+I0=</a:t>
            </a:r>
            <a:r>
              <a:rPr lang="en-US" altLang="zh-CN" dirty="0" err="1" smtClean="0"/>
              <a:t>Vx</a:t>
            </a:r>
            <a:r>
              <a:rPr lang="en-US" altLang="zh-CN" dirty="0" smtClean="0"/>
              <a:t>/2</a:t>
            </a:r>
          </a:p>
          <a:p>
            <a:r>
              <a:rPr lang="en-US" altLang="zh-CN" dirty="0" err="1" smtClean="0"/>
              <a:t>Vx</a:t>
            </a:r>
            <a:r>
              <a:rPr lang="en-US" altLang="zh-CN" dirty="0" smtClean="0"/>
              <a:t>=1</a:t>
            </a:r>
          </a:p>
          <a:p>
            <a:r>
              <a:rPr lang="en-US" altLang="zh-CN" dirty="0" smtClean="0"/>
              <a:t>I0=1</a:t>
            </a:r>
          </a:p>
          <a:p>
            <a:r>
              <a:rPr lang="en-US" altLang="zh-CN" dirty="0" err="1" smtClean="0"/>
              <a:t>Rn</a:t>
            </a:r>
            <a:r>
              <a:rPr lang="en-US" altLang="zh-CN" dirty="0" smtClean="0"/>
              <a:t>=V0/I0=1/1=1Ʊ</a:t>
            </a:r>
          </a:p>
          <a:p>
            <a:r>
              <a:rPr lang="en-US" altLang="zh-CN" dirty="0" smtClean="0"/>
              <a:t>(2)</a:t>
            </a:r>
            <a:r>
              <a:rPr lang="zh-CN" altLang="en-US" dirty="0" smtClean="0"/>
              <a:t>求</a:t>
            </a:r>
            <a:r>
              <a:rPr lang="en-US" altLang="zh-CN" dirty="0" smtClean="0"/>
              <a:t>In</a:t>
            </a:r>
          </a:p>
          <a:p>
            <a:r>
              <a:rPr lang="en-US" altLang="zh-CN" dirty="0" err="1" smtClean="0"/>
              <a:t>Ab</a:t>
            </a:r>
            <a:r>
              <a:rPr lang="zh-CN" altLang="en-US" dirty="0" smtClean="0"/>
              <a:t>短路，</a:t>
            </a:r>
            <a:r>
              <a:rPr lang="en-US" altLang="zh-CN" dirty="0" err="1" smtClean="0"/>
              <a:t>Vxx</a:t>
            </a:r>
            <a:r>
              <a:rPr lang="en-US" altLang="zh-CN" dirty="0" smtClean="0"/>
              <a:t>=0,2Vx=0</a:t>
            </a:r>
          </a:p>
          <a:p>
            <a:endParaRPr lang="en-US" altLang="zh-CN" dirty="0" smtClean="0"/>
          </a:p>
          <a:p>
            <a:r>
              <a:rPr lang="en-US" altLang="zh-CN" dirty="0" err="1" smtClean="0"/>
              <a:t>Ab</a:t>
            </a:r>
            <a:r>
              <a:rPr lang="zh-CN" altLang="en-US" dirty="0" smtClean="0"/>
              <a:t>短路，电流源的电流都流入</a:t>
            </a:r>
            <a:r>
              <a:rPr lang="en-US" altLang="zh-CN" dirty="0" err="1" smtClean="0"/>
              <a:t>ab</a:t>
            </a:r>
            <a:endParaRPr lang="en-US" altLang="zh-CN" dirty="0" smtClean="0"/>
          </a:p>
          <a:p>
            <a:endParaRPr lang="en-US" altLang="zh-CN" dirty="0" smtClean="0"/>
          </a:p>
          <a:p>
            <a:r>
              <a:rPr lang="en-US" altLang="zh-CN" dirty="0" smtClean="0"/>
              <a:t>In=10A</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50825" y="549275"/>
            <a:ext cx="8713788" cy="701675"/>
          </a:xfrm>
          <a:prstGeom prst="rect">
            <a:avLst/>
          </a:prstGeom>
          <a:noFill/>
          <a:ln w="9525">
            <a:noFill/>
            <a:miter lim="800000"/>
          </a:ln>
        </p:spPr>
        <p:txBody>
          <a:bodyPr>
            <a:spAutoFit/>
          </a:bodyPr>
          <a:lstStyle/>
          <a:p>
            <a:pPr fontAlgn="base">
              <a:spcBef>
                <a:spcPct val="50000"/>
              </a:spcBef>
              <a:spcAft>
                <a:spcPct val="0"/>
              </a:spcAft>
            </a:pPr>
            <a:r>
              <a:rPr lang="en-US" altLang="zh-CN" sz="4000" dirty="0">
                <a:solidFill>
                  <a:srgbClr val="0000FF"/>
                </a:solidFill>
                <a:latin typeface="Franklin Gothic Medium" panose="020B0603020102020204" pitchFamily="34" charset="0"/>
              </a:rPr>
              <a:t>4.8   </a:t>
            </a:r>
            <a:r>
              <a:rPr lang="zh-CN" altLang="en-US" sz="3600" b="1" dirty="0">
                <a:solidFill>
                  <a:srgbClr val="0000FF"/>
                </a:solidFill>
                <a:latin typeface="Franklin Gothic Medium" panose="020B0603020102020204" pitchFamily="34" charset="0"/>
              </a:rPr>
              <a:t>最大功率传输定理</a:t>
            </a:r>
            <a:endParaRPr lang="en-US" altLang="zh-CN" sz="4000" b="1" dirty="0">
              <a:solidFill>
                <a:srgbClr val="0000FF"/>
              </a:solidFill>
              <a:latin typeface="Franklin Gothic Medium" panose="020B0603020102020204" pitchFamily="34" charset="0"/>
            </a:endParaRPr>
          </a:p>
        </p:txBody>
      </p:sp>
      <p:sp>
        <p:nvSpPr>
          <p:cNvPr id="51203" name="Text Box 3"/>
          <p:cNvSpPr txBox="1">
            <a:spLocks noChangeArrowheads="1"/>
          </p:cNvSpPr>
          <p:nvPr/>
        </p:nvSpPr>
        <p:spPr bwMode="auto">
          <a:xfrm>
            <a:off x="611188" y="1343035"/>
            <a:ext cx="7853363" cy="646112"/>
          </a:xfrm>
          <a:prstGeom prst="rect">
            <a:avLst/>
          </a:prstGeom>
          <a:noFill/>
          <a:ln w="9525">
            <a:noFill/>
            <a:miter lim="800000"/>
          </a:ln>
        </p:spPr>
        <p:txBody>
          <a:bodyPr wrap="square">
            <a:spAutoFit/>
          </a:bodyPr>
          <a:lstStyle/>
          <a:p>
            <a:pPr fontAlgn="base">
              <a:spcBef>
                <a:spcPct val="50000"/>
              </a:spcBef>
              <a:spcAft>
                <a:spcPct val="0"/>
              </a:spcAft>
            </a:pPr>
            <a:r>
              <a:rPr lang="zh-CN" altLang="en-US" b="1" dirty="0">
                <a:solidFill>
                  <a:srgbClr val="000000"/>
                </a:solidFill>
                <a:latin typeface="Times New Roman" panose="02020603050405020304" pitchFamily="18" charset="0"/>
              </a:rPr>
              <a:t>        本节讨论的问题是，在具有给定系统及</a:t>
            </a:r>
            <a:r>
              <a:rPr lang="zh-CN" altLang="en-US" b="1" dirty="0">
                <a:solidFill>
                  <a:srgbClr val="FF0000"/>
                </a:solidFill>
                <a:latin typeface="Times New Roman" panose="02020603050405020304" pitchFamily="18" charset="0"/>
              </a:rPr>
              <a:t>内部损耗</a:t>
            </a:r>
            <a:r>
              <a:rPr lang="zh-CN" altLang="en-US" b="1" dirty="0">
                <a:solidFill>
                  <a:srgbClr val="000000"/>
                </a:solidFill>
                <a:latin typeface="Times New Roman" panose="02020603050405020304" pitchFamily="18" charset="0"/>
              </a:rPr>
              <a:t>的条件下，如何向负载提供最大功率。</a:t>
            </a:r>
            <a:endParaRPr lang="en-US" altLang="zh-CN" b="1" dirty="0">
              <a:solidFill>
                <a:srgbClr val="000000"/>
              </a:solidFill>
              <a:latin typeface="Times New Roman" panose="02020603050405020304" pitchFamily="18" charset="0"/>
            </a:endParaRPr>
          </a:p>
        </p:txBody>
      </p:sp>
      <p:sp>
        <p:nvSpPr>
          <p:cNvPr id="51204" name="Text Box 4"/>
          <p:cNvSpPr txBox="1">
            <a:spLocks noChangeArrowheads="1"/>
          </p:cNvSpPr>
          <p:nvPr/>
        </p:nvSpPr>
        <p:spPr bwMode="auto">
          <a:xfrm>
            <a:off x="611188" y="2326886"/>
            <a:ext cx="7853363" cy="646113"/>
          </a:xfrm>
          <a:prstGeom prst="rect">
            <a:avLst/>
          </a:prstGeom>
          <a:noFill/>
          <a:ln w="76200" cmpd="tri">
            <a:solidFill>
              <a:schemeClr val="tx1"/>
            </a:solidFill>
            <a:miter lim="800000"/>
          </a:ln>
        </p:spPr>
        <p:txBody>
          <a:bodyPr>
            <a:spAutoFit/>
          </a:bodyPr>
          <a:lstStyle/>
          <a:p>
            <a:pPr fontAlgn="base">
              <a:spcBef>
                <a:spcPct val="50000"/>
              </a:spcBef>
              <a:spcAft>
                <a:spcPct val="0"/>
              </a:spcAft>
            </a:pPr>
            <a:r>
              <a:rPr lang="zh-CN" altLang="en-US" b="1" dirty="0">
                <a:solidFill>
                  <a:srgbClr val="000000"/>
                </a:solidFill>
              </a:rPr>
              <a:t>       当负载电阻等于从负载上看进去的戴维南电阻 </a:t>
            </a:r>
            <a:r>
              <a:rPr lang="en-US" altLang="zh-CN" b="1" dirty="0">
                <a:solidFill>
                  <a:srgbClr val="000000"/>
                </a:solidFill>
                <a:latin typeface="Times New Roman" panose="02020603050405020304" pitchFamily="18" charset="0"/>
                <a:cs typeface="Times New Roman" panose="02020603050405020304" pitchFamily="18" charset="0"/>
              </a:rPr>
              <a:t>(</a:t>
            </a:r>
            <a:r>
              <a:rPr lang="en-US" altLang="zh-CN" b="1" i="1" dirty="0">
                <a:solidFill>
                  <a:srgbClr val="000000"/>
                </a:solidFill>
                <a:latin typeface="Times New Roman" panose="02020603050405020304" pitchFamily="18" charset="0"/>
                <a:cs typeface="Times New Roman" panose="02020603050405020304" pitchFamily="18" charset="0"/>
              </a:rPr>
              <a:t>R</a:t>
            </a:r>
            <a:r>
              <a:rPr lang="en-US" altLang="zh-CN" b="1" baseline="-25000" dirty="0">
                <a:solidFill>
                  <a:srgbClr val="000000"/>
                </a:solidFill>
                <a:latin typeface="Times New Roman" panose="02020603050405020304" pitchFamily="18" charset="0"/>
                <a:cs typeface="Times New Roman" panose="02020603050405020304" pitchFamily="18" charset="0"/>
              </a:rPr>
              <a:t>L</a:t>
            </a:r>
            <a:r>
              <a:rPr lang="en-US" altLang="zh-CN" b="1" dirty="0">
                <a:solidFill>
                  <a:srgbClr val="000000"/>
                </a:solidFill>
                <a:latin typeface="Times New Roman" panose="02020603050405020304" pitchFamily="18" charset="0"/>
                <a:cs typeface="Times New Roman" panose="02020603050405020304" pitchFamily="18" charset="0"/>
              </a:rPr>
              <a:t>=</a:t>
            </a:r>
            <a:r>
              <a:rPr lang="en-US" altLang="zh-CN" b="1" i="1" dirty="0" err="1">
                <a:solidFill>
                  <a:srgbClr val="000000"/>
                </a:solidFill>
                <a:latin typeface="Times New Roman" panose="02020603050405020304" pitchFamily="18" charset="0"/>
                <a:cs typeface="Times New Roman" panose="02020603050405020304" pitchFamily="18" charset="0"/>
              </a:rPr>
              <a:t>R</a:t>
            </a:r>
            <a:r>
              <a:rPr lang="en-US" altLang="zh-CN" b="1" baseline="-25000" dirty="0" err="1">
                <a:solidFill>
                  <a:srgbClr val="000000"/>
                </a:solidFill>
                <a:latin typeface="Times New Roman" panose="02020603050405020304" pitchFamily="18" charset="0"/>
                <a:cs typeface="Times New Roman" panose="02020603050405020304" pitchFamily="18" charset="0"/>
              </a:rPr>
              <a:t>Th</a:t>
            </a:r>
            <a:r>
              <a:rPr lang="en-US" altLang="zh-CN" b="1" dirty="0">
                <a:solidFill>
                  <a:srgbClr val="000000"/>
                </a:solidFill>
                <a:latin typeface="Times New Roman" panose="02020603050405020304" pitchFamily="18" charset="0"/>
                <a:cs typeface="Times New Roman" panose="02020603050405020304" pitchFamily="18" charset="0"/>
              </a:rPr>
              <a:t>)</a:t>
            </a:r>
            <a:r>
              <a:rPr lang="zh-CN" altLang="en-US" b="1" dirty="0">
                <a:solidFill>
                  <a:srgbClr val="000000"/>
                </a:solidFill>
              </a:rPr>
              <a:t>时，传输给负载的功率最大。</a:t>
            </a:r>
            <a:endParaRPr lang="en-US" altLang="zh-CN" b="1" baseline="-25000" dirty="0">
              <a:solidFill>
                <a:srgbClr val="000000"/>
              </a:solidFill>
            </a:endParaRPr>
          </a:p>
        </p:txBody>
      </p:sp>
      <p:pic>
        <p:nvPicPr>
          <p:cNvPr id="51205" name="Picture 5"/>
          <p:cNvPicPr>
            <a:picLocks noChangeAspect="1" noChangeArrowheads="1"/>
          </p:cNvPicPr>
          <p:nvPr/>
        </p:nvPicPr>
        <p:blipFill>
          <a:blip r:embed="rId4" cstate="print"/>
          <a:srcRect/>
          <a:stretch>
            <a:fillRect/>
          </a:stretch>
        </p:blipFill>
        <p:spPr bwMode="auto">
          <a:xfrm>
            <a:off x="459334" y="4388430"/>
            <a:ext cx="2952750" cy="1982788"/>
          </a:xfrm>
          <a:prstGeom prst="rect">
            <a:avLst/>
          </a:prstGeom>
          <a:noFill/>
          <a:ln w="9525">
            <a:noFill/>
            <a:miter lim="800000"/>
            <a:headEnd/>
            <a:tailEnd/>
          </a:ln>
        </p:spPr>
      </p:pic>
      <p:pic>
        <p:nvPicPr>
          <p:cNvPr id="51207" name="Picture 7"/>
          <p:cNvPicPr>
            <a:picLocks noChangeAspect="1" noChangeArrowheads="1"/>
          </p:cNvPicPr>
          <p:nvPr/>
        </p:nvPicPr>
        <p:blipFill>
          <a:blip r:embed="rId5" cstate="print"/>
          <a:srcRect/>
          <a:stretch>
            <a:fillRect/>
          </a:stretch>
        </p:blipFill>
        <p:spPr bwMode="auto">
          <a:xfrm>
            <a:off x="4572794" y="4377201"/>
            <a:ext cx="3024187" cy="2062162"/>
          </a:xfrm>
          <a:prstGeom prst="rect">
            <a:avLst/>
          </a:prstGeom>
          <a:noFill/>
          <a:ln w="9525">
            <a:noFill/>
            <a:miter lim="800000"/>
            <a:headEnd/>
            <a:tailEnd/>
          </a:ln>
        </p:spPr>
      </p:pic>
      <p:graphicFrame>
        <p:nvGraphicFramePr>
          <p:cNvPr id="51209" name="Object 9"/>
          <p:cNvGraphicFramePr>
            <a:graphicFrameLocks noChangeAspect="1"/>
          </p:cNvGraphicFramePr>
          <p:nvPr/>
        </p:nvGraphicFramePr>
        <p:xfrm>
          <a:off x="900113" y="3357563"/>
          <a:ext cx="792162" cy="641350"/>
        </p:xfrm>
        <a:graphic>
          <a:graphicData uri="http://schemas.openxmlformats.org/presentationml/2006/ole">
            <mc:AlternateContent xmlns:mc="http://schemas.openxmlformats.org/markup-compatibility/2006">
              <mc:Choice xmlns:v="urn:schemas-microsoft-com:vml" Requires="v">
                <p:oleObj spid="_x0000_s38981" name="公式" r:id="rId6" imgW="12801600" imgH="10363200" progId="">
                  <p:embed/>
                </p:oleObj>
              </mc:Choice>
              <mc:Fallback>
                <p:oleObj name="公式" r:id="rId6" imgW="12801600" imgH="10363200" progId="">
                  <p:embed/>
                  <p:pic>
                    <p:nvPicPr>
                      <p:cNvPr id="0" name="图片 38912"/>
                      <p:cNvPicPr>
                        <a:picLocks noChangeAspect="1"/>
                      </p:cNvPicPr>
                      <p:nvPr/>
                    </p:nvPicPr>
                    <p:blipFill>
                      <a:blip r:embed="rId7"/>
                      <a:stretch>
                        <a:fillRect/>
                      </a:stretch>
                    </p:blipFill>
                    <p:spPr>
                      <a:xfrm>
                        <a:off x="900113" y="3357563"/>
                        <a:ext cx="792162" cy="641350"/>
                      </a:xfrm>
                      <a:prstGeom prst="rect">
                        <a:avLst/>
                      </a:prstGeom>
                      <a:noFill/>
                      <a:ln w="9525">
                        <a:noFill/>
                      </a:ln>
                    </p:spPr>
                  </p:pic>
                </p:oleObj>
              </mc:Fallback>
            </mc:AlternateContent>
          </a:graphicData>
        </a:graphic>
      </p:graphicFrame>
      <p:graphicFrame>
        <p:nvGraphicFramePr>
          <p:cNvPr id="51210" name="Object 10"/>
          <p:cNvGraphicFramePr>
            <a:graphicFrameLocks noChangeAspect="1"/>
          </p:cNvGraphicFramePr>
          <p:nvPr/>
        </p:nvGraphicFramePr>
        <p:xfrm>
          <a:off x="1835696" y="3447841"/>
          <a:ext cx="1576388" cy="400050"/>
        </p:xfrm>
        <a:graphic>
          <a:graphicData uri="http://schemas.openxmlformats.org/presentationml/2006/ole">
            <mc:AlternateContent xmlns:mc="http://schemas.openxmlformats.org/markup-compatibility/2006">
              <mc:Choice xmlns:v="urn:schemas-microsoft-com:vml" Requires="v">
                <p:oleObj spid="_x0000_s38982" name="Equation" r:id="rId8" imgW="21640800" imgH="5486400" progId="">
                  <p:embed/>
                </p:oleObj>
              </mc:Choice>
              <mc:Fallback>
                <p:oleObj name="Equation" r:id="rId8" imgW="21640800" imgH="5486400" progId="">
                  <p:embed/>
                  <p:pic>
                    <p:nvPicPr>
                      <p:cNvPr id="0" name="图片 38967"/>
                      <p:cNvPicPr>
                        <a:picLocks noChangeAspect="1"/>
                      </p:cNvPicPr>
                      <p:nvPr/>
                    </p:nvPicPr>
                    <p:blipFill>
                      <a:blip r:embed="rId9"/>
                      <a:stretch>
                        <a:fillRect/>
                      </a:stretch>
                    </p:blipFill>
                    <p:spPr>
                      <a:xfrm>
                        <a:off x="1835696" y="3447841"/>
                        <a:ext cx="1576388" cy="400050"/>
                      </a:xfrm>
                      <a:prstGeom prst="rect">
                        <a:avLst/>
                      </a:prstGeom>
                      <a:noFill/>
                      <a:ln w="9525">
                        <a:noFill/>
                      </a:ln>
                    </p:spPr>
                  </p:pic>
                </p:oleObj>
              </mc:Fallback>
            </mc:AlternateContent>
          </a:graphicData>
        </a:graphic>
      </p:graphicFrame>
      <p:graphicFrame>
        <p:nvGraphicFramePr>
          <p:cNvPr id="51211" name="Object 11"/>
          <p:cNvGraphicFramePr>
            <a:graphicFrameLocks noChangeAspect="1"/>
          </p:cNvGraphicFramePr>
          <p:nvPr/>
        </p:nvGraphicFramePr>
        <p:xfrm>
          <a:off x="4859338" y="3284538"/>
          <a:ext cx="1225550" cy="749300"/>
        </p:xfrm>
        <a:graphic>
          <a:graphicData uri="http://schemas.openxmlformats.org/presentationml/2006/ole">
            <mc:AlternateContent xmlns:mc="http://schemas.openxmlformats.org/markup-compatibility/2006">
              <mc:Choice xmlns:v="urn:schemas-microsoft-com:vml" Requires="v">
                <p:oleObj spid="_x0000_s38983" name="公式" r:id="rId10" imgW="17983200" imgH="10972800" progId="">
                  <p:embed/>
                </p:oleObj>
              </mc:Choice>
              <mc:Fallback>
                <p:oleObj name="公式" r:id="rId10" imgW="17983200" imgH="10972800" progId="">
                  <p:embed/>
                  <p:pic>
                    <p:nvPicPr>
                      <p:cNvPr id="0" name="图片 38968"/>
                      <p:cNvPicPr>
                        <a:picLocks noChangeAspect="1"/>
                      </p:cNvPicPr>
                      <p:nvPr/>
                    </p:nvPicPr>
                    <p:blipFill>
                      <a:blip r:embed="rId11"/>
                      <a:stretch>
                        <a:fillRect/>
                      </a:stretch>
                    </p:blipFill>
                    <p:spPr>
                      <a:xfrm>
                        <a:off x="4859338" y="3284538"/>
                        <a:ext cx="1225550" cy="749300"/>
                      </a:xfrm>
                      <a:prstGeom prst="rect">
                        <a:avLst/>
                      </a:prstGeom>
                      <a:noFill/>
                      <a:ln w="9525">
                        <a:noFill/>
                      </a:ln>
                    </p:spPr>
                  </p:pic>
                </p:oleObj>
              </mc:Fallback>
            </mc:AlternateContent>
          </a:graphicData>
        </a:graphic>
      </p:graphicFrame>
      <p:sp>
        <p:nvSpPr>
          <p:cNvPr id="51212" name="Text Box 12"/>
          <p:cNvSpPr txBox="1">
            <a:spLocks noChangeArrowheads="1"/>
          </p:cNvSpPr>
          <p:nvPr/>
        </p:nvSpPr>
        <p:spPr bwMode="auto">
          <a:xfrm>
            <a:off x="6673304" y="3488127"/>
            <a:ext cx="1717675" cy="396875"/>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a:solidFill>
                  <a:srgbClr val="FF0000"/>
                </a:solidFill>
                <a:latin typeface="Times New Roman" panose="02020603050405020304" pitchFamily="18" charset="0"/>
              </a:rPr>
              <a:t>（阻抗匹配）</a:t>
            </a:r>
          </a:p>
        </p:txBody>
      </p:sp>
      <p:sp>
        <p:nvSpPr>
          <p:cNvPr id="2" name="文本框 1"/>
          <p:cNvSpPr txBox="1"/>
          <p:nvPr/>
        </p:nvSpPr>
        <p:spPr>
          <a:xfrm>
            <a:off x="6673304" y="3935313"/>
            <a:ext cx="1935145" cy="369332"/>
          </a:xfrm>
          <a:prstGeom prst="rect">
            <a:avLst/>
          </a:prstGeom>
          <a:noFill/>
        </p:spPr>
        <p:txBody>
          <a:bodyPr wrap="none" rtlCol="0">
            <a:spAutoFit/>
          </a:bodyPr>
          <a:lstStyle/>
          <a:p>
            <a:r>
              <a:rPr lang="zh-CN" altLang="en-US" b="1" dirty="0"/>
              <a:t>能量传输效率</a:t>
            </a:r>
            <a:r>
              <a:rPr lang="en-US" altLang="zh-CN" b="1" dirty="0"/>
              <a:t>=</a:t>
            </a:r>
            <a:r>
              <a:rPr lang="zh-CN" altLang="en-US" b="1" dirty="0"/>
              <a:t>？</a:t>
            </a: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62</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755576" y="1196752"/>
            <a:ext cx="2202847" cy="400110"/>
          </a:xfrm>
          <a:prstGeom prst="rect">
            <a:avLst/>
          </a:prstGeom>
          <a:noFill/>
          <a:ln w="9525">
            <a:noFill/>
            <a:miter lim="800000"/>
          </a:ln>
        </p:spPr>
        <p:txBody>
          <a:bodyPr wrap="none">
            <a:spAutoFit/>
          </a:bodyPr>
          <a:lstStyle/>
          <a:p>
            <a:pPr fontAlgn="base">
              <a:spcBef>
                <a:spcPct val="0"/>
              </a:spcBef>
              <a:spcAft>
                <a:spcPct val="0"/>
              </a:spcAft>
            </a:pPr>
            <a:r>
              <a:rPr lang="zh-CN" altLang="en-US" sz="2000" b="1" dirty="0" smtClean="0">
                <a:solidFill>
                  <a:srgbClr val="FF0000"/>
                </a:solidFill>
                <a:latin typeface="Times New Roman" panose="02020603050405020304" pitchFamily="18" charset="0"/>
              </a:rPr>
              <a:t>例</a:t>
            </a:r>
            <a:r>
              <a:rPr lang="en-US" altLang="zh-CN" sz="2000" b="1" dirty="0" smtClean="0">
                <a:solidFill>
                  <a:srgbClr val="FF0000"/>
                </a:solidFill>
                <a:latin typeface="Times New Roman" panose="02020603050405020304" pitchFamily="18" charset="0"/>
              </a:rPr>
              <a:t>4-13</a:t>
            </a:r>
            <a:r>
              <a:rPr lang="zh-CN" altLang="en-US" sz="2000" b="1" dirty="0" smtClean="0">
                <a:solidFill>
                  <a:srgbClr val="FF0000"/>
                </a:solidFill>
                <a:latin typeface="Times New Roman" panose="02020603050405020304" pitchFamily="18" charset="0"/>
              </a:rPr>
              <a:t>：</a:t>
            </a:r>
            <a:r>
              <a:rPr lang="zh-CN" altLang="en-US" sz="2000" b="1" dirty="0">
                <a:solidFill>
                  <a:srgbClr val="CCCCE6"/>
                </a:solidFill>
                <a:latin typeface="Times New Roman" panose="02020603050405020304" pitchFamily="18" charset="0"/>
              </a:rPr>
              <a:t>（堂练）</a:t>
            </a:r>
          </a:p>
        </p:txBody>
      </p:sp>
      <p:sp>
        <p:nvSpPr>
          <p:cNvPr id="52227" name="Text Box 3"/>
          <p:cNvSpPr txBox="1">
            <a:spLocks noChangeArrowheads="1"/>
          </p:cNvSpPr>
          <p:nvPr/>
        </p:nvSpPr>
        <p:spPr bwMode="auto">
          <a:xfrm>
            <a:off x="971849" y="1750041"/>
            <a:ext cx="5616624" cy="369888"/>
          </a:xfrm>
          <a:prstGeom prst="rect">
            <a:avLst/>
          </a:prstGeom>
          <a:noFill/>
          <a:ln w="9525">
            <a:noFill/>
            <a:miter lim="800000"/>
          </a:ln>
        </p:spPr>
        <p:txBody>
          <a:bodyPr wrap="square">
            <a:spAutoFit/>
          </a:bodyPr>
          <a:lstStyle/>
          <a:p>
            <a:pPr fontAlgn="base">
              <a:spcBef>
                <a:spcPct val="0"/>
              </a:spcBef>
              <a:spcAft>
                <a:spcPct val="0"/>
              </a:spcAft>
            </a:pPr>
            <a:r>
              <a:rPr lang="zh-CN" altLang="en-US" b="1" dirty="0">
                <a:solidFill>
                  <a:srgbClr val="000000"/>
                </a:solidFill>
                <a:latin typeface="Times New Roman" panose="02020603050405020304" pitchFamily="18" charset="0"/>
              </a:rPr>
              <a:t>求出图中最大功率传输时的</a:t>
            </a:r>
            <a:r>
              <a:rPr lang="en-US" altLang="zh-CN" b="1" i="1" dirty="0">
                <a:solidFill>
                  <a:srgbClr val="000000"/>
                </a:solidFill>
                <a:latin typeface="Times New Roman" panose="02020603050405020304" pitchFamily="18" charset="0"/>
              </a:rPr>
              <a:t>R</a:t>
            </a:r>
            <a:r>
              <a:rPr lang="en-US" altLang="zh-CN" b="1" i="1" baseline="-25000" dirty="0">
                <a:solidFill>
                  <a:srgbClr val="000000"/>
                </a:solidFill>
                <a:latin typeface="Times New Roman" panose="02020603050405020304" pitchFamily="18" charset="0"/>
              </a:rPr>
              <a:t>L</a:t>
            </a:r>
            <a:r>
              <a:rPr lang="zh-CN" altLang="en-US" b="1" dirty="0">
                <a:solidFill>
                  <a:srgbClr val="000000"/>
                </a:solidFill>
                <a:latin typeface="Times New Roman" panose="02020603050405020304" pitchFamily="18" charset="0"/>
              </a:rPr>
              <a:t>值以及最大功率值。</a:t>
            </a:r>
            <a:endParaRPr lang="en-US" altLang="zh-CN" b="1" dirty="0">
              <a:solidFill>
                <a:srgbClr val="000000"/>
              </a:solidFill>
              <a:latin typeface="Times New Roman" panose="02020603050405020304" pitchFamily="18" charset="0"/>
            </a:endParaRPr>
          </a:p>
        </p:txBody>
      </p:sp>
      <p:pic>
        <p:nvPicPr>
          <p:cNvPr id="52228" name="Picture 4"/>
          <p:cNvPicPr>
            <a:picLocks noChangeAspect="1" noChangeArrowheads="1"/>
          </p:cNvPicPr>
          <p:nvPr/>
        </p:nvPicPr>
        <p:blipFill>
          <a:blip r:embed="rId2" cstate="print"/>
          <a:srcRect/>
          <a:stretch>
            <a:fillRect/>
          </a:stretch>
        </p:blipFill>
        <p:spPr bwMode="auto">
          <a:xfrm>
            <a:off x="2195736" y="2622550"/>
            <a:ext cx="4116388" cy="1612900"/>
          </a:xfrm>
          <a:prstGeom prst="rect">
            <a:avLst/>
          </a:prstGeom>
          <a:noFill/>
          <a:ln w="9525">
            <a:noFill/>
            <a:miter lim="800000"/>
            <a:headEnd/>
            <a:tailEnd/>
          </a:ln>
        </p:spPr>
      </p:pic>
      <p:sp>
        <p:nvSpPr>
          <p:cNvPr id="2" name="灯片编号占位符 1"/>
          <p:cNvSpPr>
            <a:spLocks noGrp="1"/>
          </p:cNvSpPr>
          <p:nvPr>
            <p:ph type="sldNum" sz="quarter" idx="11"/>
          </p:nvPr>
        </p:nvSpPr>
        <p:spPr/>
        <p:txBody>
          <a:bodyPr/>
          <a:lstStyle/>
          <a:p>
            <a:pPr>
              <a:defRPr/>
            </a:pPr>
            <a:fld id="{D776A882-B7EA-4411-9FBB-12412DA587FB}" type="slidenum">
              <a:rPr lang="en-US" altLang="zh-CN" smtClean="0">
                <a:solidFill>
                  <a:srgbClr val="000000"/>
                </a:solidFill>
              </a:rPr>
              <a:t>63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4"/>
          <p:cNvPicPr>
            <a:picLocks noChangeAspect="1" noChangeArrowheads="1"/>
          </p:cNvPicPr>
          <p:nvPr/>
        </p:nvPicPr>
        <p:blipFill>
          <a:blip r:embed="rId3" cstate="print"/>
          <a:srcRect/>
          <a:stretch>
            <a:fillRect/>
          </a:stretch>
        </p:blipFill>
        <p:spPr bwMode="auto">
          <a:xfrm>
            <a:off x="2052637" y="872532"/>
            <a:ext cx="4502988" cy="1764379"/>
          </a:xfrm>
          <a:prstGeom prst="rect">
            <a:avLst/>
          </a:prstGeom>
          <a:noFill/>
          <a:ln w="9525">
            <a:noFill/>
            <a:miter lim="800000"/>
            <a:headEnd/>
            <a:tailEnd/>
          </a:ln>
        </p:spPr>
      </p:pic>
      <p:sp>
        <p:nvSpPr>
          <p:cNvPr id="53252" name="Text Box 6"/>
          <p:cNvSpPr txBox="1">
            <a:spLocks noChangeArrowheads="1"/>
          </p:cNvSpPr>
          <p:nvPr/>
        </p:nvSpPr>
        <p:spPr bwMode="auto">
          <a:xfrm>
            <a:off x="683568" y="3561547"/>
            <a:ext cx="8229600" cy="954107"/>
          </a:xfrm>
          <a:prstGeom prst="rect">
            <a:avLst/>
          </a:prstGeom>
          <a:noFill/>
          <a:ln w="9525">
            <a:noFill/>
            <a:miter lim="800000"/>
          </a:ln>
        </p:spPr>
        <p:txBody>
          <a:bodyPr>
            <a:spAutoFit/>
          </a:bodyPr>
          <a:lstStyle/>
          <a:p>
            <a:pPr fontAlgn="base">
              <a:spcBef>
                <a:spcPct val="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a:p>
            <a:pPr fontAlgn="base">
              <a:spcBef>
                <a:spcPct val="0"/>
              </a:spcBef>
              <a:spcAft>
                <a:spcPct val="0"/>
              </a:spcAft>
            </a:pPr>
            <a:endParaRPr lang="en-US" altLang="zh-CN" b="1" dirty="0">
              <a:solidFill>
                <a:srgbClr val="0000FF"/>
              </a:solidFill>
              <a:latin typeface="Times New Roman" panose="02020603050405020304" pitchFamily="18" charset="0"/>
            </a:endParaRPr>
          </a:p>
          <a:p>
            <a:pPr fontAlgn="base">
              <a:spcBef>
                <a:spcPct val="0"/>
              </a:spcBef>
              <a:spcAft>
                <a:spcPct val="0"/>
              </a:spcAft>
            </a:pPr>
            <a:r>
              <a:rPr lang="zh-CN" altLang="en-US" b="1" dirty="0">
                <a:solidFill>
                  <a:srgbClr val="000000"/>
                </a:solidFill>
                <a:latin typeface="Times New Roman" panose="02020603050405020304" pitchFamily="18" charset="0"/>
              </a:rPr>
              <a:t>    </a:t>
            </a:r>
            <a:endParaRPr lang="en-US" altLang="zh-CN" b="1" dirty="0">
              <a:solidFill>
                <a:srgbClr val="000000"/>
              </a:solidFill>
              <a:latin typeface="Times New Roman" panose="02020603050405020304" pitchFamily="18" charset="0"/>
            </a:endParaRPr>
          </a:p>
        </p:txBody>
      </p:sp>
      <p:graphicFrame>
        <p:nvGraphicFramePr>
          <p:cNvPr id="53253" name="Object 7"/>
          <p:cNvGraphicFramePr>
            <a:graphicFrameLocks noChangeAspect="1"/>
          </p:cNvGraphicFramePr>
          <p:nvPr/>
        </p:nvGraphicFramePr>
        <p:xfrm>
          <a:off x="1504635" y="4062410"/>
          <a:ext cx="4118505" cy="642566"/>
        </p:xfrm>
        <a:graphic>
          <a:graphicData uri="http://schemas.openxmlformats.org/presentationml/2006/ole">
            <mc:AlternateContent xmlns:mc="http://schemas.openxmlformats.org/markup-compatibility/2006">
              <mc:Choice xmlns:v="urn:schemas-microsoft-com:vml" Requires="v">
                <p:oleObj spid="_x0000_s39943" name="公式" r:id="rId4" imgW="60655200" imgH="9448800" progId="">
                  <p:embed/>
                </p:oleObj>
              </mc:Choice>
              <mc:Fallback>
                <p:oleObj name="公式" r:id="rId4" imgW="60655200" imgH="9448800" progId="">
                  <p:embed/>
                  <p:pic>
                    <p:nvPicPr>
                      <p:cNvPr id="0" name="图片 39936"/>
                      <p:cNvPicPr>
                        <a:picLocks noChangeAspect="1"/>
                      </p:cNvPicPr>
                      <p:nvPr/>
                    </p:nvPicPr>
                    <p:blipFill>
                      <a:blip r:embed="rId5"/>
                      <a:stretch>
                        <a:fillRect/>
                      </a:stretch>
                    </p:blipFill>
                    <p:spPr>
                      <a:xfrm>
                        <a:off x="1504635" y="4062410"/>
                        <a:ext cx="4118505" cy="642566"/>
                      </a:xfrm>
                      <a:prstGeom prst="rect">
                        <a:avLst/>
                      </a:prstGeom>
                      <a:noFill/>
                      <a:ln w="9525">
                        <a:noFill/>
                      </a:ln>
                    </p:spPr>
                  </p:pic>
                </p:oleObj>
              </mc:Fallback>
            </mc:AlternateContent>
          </a:graphicData>
        </a:graphic>
      </p:graphicFrame>
      <p:pic>
        <p:nvPicPr>
          <p:cNvPr id="53254" name="Picture 9"/>
          <p:cNvPicPr>
            <a:picLocks noChangeAspect="1" noChangeArrowheads="1"/>
          </p:cNvPicPr>
          <p:nvPr/>
        </p:nvPicPr>
        <p:blipFill>
          <a:blip r:embed="rId6" cstate="print"/>
          <a:srcRect/>
          <a:stretch>
            <a:fillRect/>
          </a:stretch>
        </p:blipFill>
        <p:spPr bwMode="auto">
          <a:xfrm>
            <a:off x="2461837" y="4949114"/>
            <a:ext cx="3929811" cy="1720245"/>
          </a:xfrm>
          <a:prstGeom prst="rect">
            <a:avLst/>
          </a:prstGeom>
          <a:noFill/>
          <a:ln w="9525">
            <a:noFill/>
            <a:miter lim="800000"/>
            <a:headEnd/>
            <a:tailEnd/>
          </a:ln>
        </p:spPr>
      </p:pic>
      <p:sp>
        <p:nvSpPr>
          <p:cNvPr id="2" name="文本框 1"/>
          <p:cNvSpPr txBox="1"/>
          <p:nvPr/>
        </p:nvSpPr>
        <p:spPr>
          <a:xfrm>
            <a:off x="3563888" y="2729897"/>
            <a:ext cx="646331" cy="369332"/>
          </a:xfrm>
          <a:prstGeom prst="rect">
            <a:avLst/>
          </a:prstGeom>
          <a:noFill/>
        </p:spPr>
        <p:txBody>
          <a:bodyPr wrap="none" rtlCol="0">
            <a:spAutoFit/>
          </a:bodyPr>
          <a:lstStyle/>
          <a:p>
            <a:r>
              <a:rPr lang="zh-CN" altLang="en-US" dirty="0"/>
              <a:t>题图</a:t>
            </a: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64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611188" y="1052513"/>
            <a:ext cx="6481762" cy="823912"/>
          </a:xfrm>
          <a:prstGeom prst="rect">
            <a:avLst/>
          </a:prstGeom>
          <a:noFill/>
          <a:ln w="9525">
            <a:noFill/>
            <a:miter lim="800000"/>
          </a:ln>
        </p:spPr>
        <p:txBody>
          <a:bodyPr>
            <a:spAutoFit/>
          </a:bodyPr>
          <a:lstStyle/>
          <a:p>
            <a:pPr fontAlgn="base">
              <a:spcBef>
                <a:spcPct val="0"/>
              </a:spcBef>
              <a:spcAft>
                <a:spcPct val="0"/>
              </a:spcAft>
            </a:pPr>
            <a:r>
              <a:rPr lang="en-US" altLang="zh-CN" b="1" dirty="0">
                <a:solidFill>
                  <a:srgbClr val="000000"/>
                </a:solidFill>
              </a:rPr>
              <a:t>(</a:t>
            </a:r>
            <a:r>
              <a:rPr lang="en-US" altLang="zh-CN" b="1" i="1" dirty="0">
                <a:solidFill>
                  <a:srgbClr val="000000"/>
                </a:solidFill>
                <a:latin typeface="Times New Roman" panose="02020603050405020304" pitchFamily="18" charset="0"/>
              </a:rPr>
              <a:t>b</a:t>
            </a:r>
            <a:r>
              <a:rPr lang="en-US" altLang="zh-CN" b="1" dirty="0">
                <a:solidFill>
                  <a:srgbClr val="000000"/>
                </a:solidFill>
              </a:rPr>
              <a:t>)  </a:t>
            </a:r>
            <a:r>
              <a:rPr lang="zh-CN" altLang="en-US" b="1" dirty="0">
                <a:solidFill>
                  <a:srgbClr val="000000"/>
                </a:solidFill>
              </a:rPr>
              <a:t>求</a:t>
            </a:r>
            <a:r>
              <a:rPr lang="en-US" altLang="zh-CN" b="1" i="1" dirty="0" err="1">
                <a:solidFill>
                  <a:srgbClr val="000000"/>
                </a:solidFill>
                <a:latin typeface="Times New Roman" panose="02020603050405020304" pitchFamily="18" charset="0"/>
              </a:rPr>
              <a:t>V</a:t>
            </a:r>
            <a:r>
              <a:rPr lang="en-US" altLang="zh-CN" b="1" i="1" baseline="-25000" dirty="0" err="1">
                <a:solidFill>
                  <a:srgbClr val="000000"/>
                </a:solidFill>
                <a:latin typeface="Times New Roman" panose="02020603050405020304" pitchFamily="18" charset="0"/>
              </a:rPr>
              <a:t>Th</a:t>
            </a:r>
            <a:endParaRPr lang="en-US" altLang="zh-CN" b="1" dirty="0">
              <a:solidFill>
                <a:srgbClr val="000000"/>
              </a:solidFill>
              <a:latin typeface="Times New Roman" panose="02020603050405020304" pitchFamily="18" charset="0"/>
            </a:endParaRPr>
          </a:p>
          <a:p>
            <a:pPr fontAlgn="base">
              <a:spcBef>
                <a:spcPct val="0"/>
              </a:spcBef>
              <a:spcAft>
                <a:spcPct val="0"/>
              </a:spcAft>
            </a:pPr>
            <a:endParaRPr lang="en-US" altLang="zh-CN" dirty="0">
              <a:solidFill>
                <a:srgbClr val="000000"/>
              </a:solidFill>
              <a:latin typeface="Times New Roman" panose="02020603050405020304" pitchFamily="18" charset="0"/>
            </a:endParaRPr>
          </a:p>
          <a:p>
            <a:pPr fontAlgn="base">
              <a:spcBef>
                <a:spcPct val="0"/>
              </a:spcBef>
              <a:spcAft>
                <a:spcPct val="0"/>
              </a:spcAft>
            </a:pPr>
            <a:endParaRPr lang="en-US" altLang="zh-CN" i="1" baseline="-25000" dirty="0">
              <a:solidFill>
                <a:srgbClr val="000000"/>
              </a:solidFill>
              <a:latin typeface="Times New Roman" panose="02020603050405020304" pitchFamily="18" charset="0"/>
            </a:endParaRPr>
          </a:p>
        </p:txBody>
      </p:sp>
      <p:graphicFrame>
        <p:nvGraphicFramePr>
          <p:cNvPr id="54275" name="Object 3"/>
          <p:cNvGraphicFramePr>
            <a:graphicFrameLocks noChangeAspect="1"/>
          </p:cNvGraphicFramePr>
          <p:nvPr/>
        </p:nvGraphicFramePr>
        <p:xfrm>
          <a:off x="1979613" y="1517350"/>
          <a:ext cx="3659187" cy="369887"/>
        </p:xfrm>
        <a:graphic>
          <a:graphicData uri="http://schemas.openxmlformats.org/presentationml/2006/ole">
            <mc:AlternateContent xmlns:mc="http://schemas.openxmlformats.org/markup-compatibility/2006">
              <mc:Choice xmlns:v="urn:schemas-microsoft-com:vml" Requires="v">
                <p:oleObj spid="_x0000_s41071" name="Equation" r:id="rId3" imgW="51206400" imgH="5181600" progId="">
                  <p:embed/>
                </p:oleObj>
              </mc:Choice>
              <mc:Fallback>
                <p:oleObj name="Equation" r:id="rId3" imgW="51206400" imgH="5181600" progId="">
                  <p:embed/>
                  <p:pic>
                    <p:nvPicPr>
                      <p:cNvPr id="0" name="图片 40960"/>
                      <p:cNvPicPr>
                        <a:picLocks noChangeAspect="1"/>
                      </p:cNvPicPr>
                      <p:nvPr/>
                    </p:nvPicPr>
                    <p:blipFill>
                      <a:blip r:embed="rId4"/>
                      <a:stretch>
                        <a:fillRect/>
                      </a:stretch>
                    </p:blipFill>
                    <p:spPr>
                      <a:xfrm>
                        <a:off x="1979613" y="1517350"/>
                        <a:ext cx="3659187" cy="369887"/>
                      </a:xfrm>
                      <a:prstGeom prst="rect">
                        <a:avLst/>
                      </a:prstGeom>
                      <a:noFill/>
                      <a:ln w="9525">
                        <a:noFill/>
                      </a:ln>
                    </p:spPr>
                  </p:pic>
                </p:oleObj>
              </mc:Fallback>
            </mc:AlternateContent>
          </a:graphicData>
        </a:graphic>
      </p:graphicFrame>
      <p:graphicFrame>
        <p:nvGraphicFramePr>
          <p:cNvPr id="54277" name="Object 5"/>
          <p:cNvGraphicFramePr>
            <a:graphicFrameLocks noChangeAspect="1"/>
          </p:cNvGraphicFramePr>
          <p:nvPr/>
        </p:nvGraphicFramePr>
        <p:xfrm>
          <a:off x="3766344" y="1997256"/>
          <a:ext cx="1019175" cy="368300"/>
        </p:xfrm>
        <a:graphic>
          <a:graphicData uri="http://schemas.openxmlformats.org/presentationml/2006/ole">
            <mc:AlternateContent xmlns:mc="http://schemas.openxmlformats.org/markup-compatibility/2006">
              <mc:Choice xmlns:v="urn:schemas-microsoft-com:vml" Requires="v">
                <p:oleObj spid="_x0000_s41072" name="公式" r:id="rId5" imgW="14325600" imgH="5181600" progId="">
                  <p:embed/>
                </p:oleObj>
              </mc:Choice>
              <mc:Fallback>
                <p:oleObj name="公式" r:id="rId5" imgW="14325600" imgH="5181600" progId="">
                  <p:embed/>
                  <p:pic>
                    <p:nvPicPr>
                      <p:cNvPr id="0" name="图片 41049"/>
                      <p:cNvPicPr>
                        <a:picLocks noChangeAspect="1"/>
                      </p:cNvPicPr>
                      <p:nvPr/>
                    </p:nvPicPr>
                    <p:blipFill>
                      <a:blip r:embed="rId6"/>
                      <a:stretch>
                        <a:fillRect/>
                      </a:stretch>
                    </p:blipFill>
                    <p:spPr>
                      <a:xfrm>
                        <a:off x="3766344" y="1997256"/>
                        <a:ext cx="1019175" cy="368300"/>
                      </a:xfrm>
                      <a:prstGeom prst="rect">
                        <a:avLst/>
                      </a:prstGeom>
                      <a:noFill/>
                      <a:ln w="9525">
                        <a:noFill/>
                      </a:ln>
                    </p:spPr>
                  </p:pic>
                </p:oleObj>
              </mc:Fallback>
            </mc:AlternateContent>
          </a:graphicData>
        </a:graphic>
      </p:graphicFrame>
      <p:sp>
        <p:nvSpPr>
          <p:cNvPr id="54278" name="Text Box 6"/>
          <p:cNvSpPr txBox="1">
            <a:spLocks noChangeArrowheads="1"/>
          </p:cNvSpPr>
          <p:nvPr/>
        </p:nvSpPr>
        <p:spPr bwMode="auto">
          <a:xfrm>
            <a:off x="1206921" y="2435044"/>
            <a:ext cx="5543550" cy="366712"/>
          </a:xfrm>
          <a:prstGeom prst="rect">
            <a:avLst/>
          </a:prstGeom>
          <a:noFill/>
          <a:ln w="9525">
            <a:noFill/>
            <a:miter lim="800000"/>
          </a:ln>
        </p:spPr>
        <p:txBody>
          <a:bodyPr>
            <a:spAutoFit/>
          </a:bodyPr>
          <a:lstStyle/>
          <a:p>
            <a:pPr fontAlgn="base">
              <a:spcBef>
                <a:spcPct val="50000"/>
              </a:spcBef>
              <a:spcAft>
                <a:spcPct val="0"/>
              </a:spcAft>
            </a:pPr>
            <a:r>
              <a:rPr lang="zh-CN" altLang="en-US" b="1" dirty="0">
                <a:solidFill>
                  <a:srgbClr val="000000"/>
                </a:solidFill>
                <a:latin typeface="Times New Roman" panose="02020603050405020304" pitchFamily="18" charset="0"/>
              </a:rPr>
              <a:t>对于最外（大）回路：</a:t>
            </a:r>
            <a:endParaRPr lang="en-US" altLang="zh-CN" b="1" dirty="0">
              <a:solidFill>
                <a:srgbClr val="000000"/>
              </a:solidFill>
              <a:latin typeface="Times New Roman" panose="02020603050405020304" pitchFamily="18" charset="0"/>
            </a:endParaRPr>
          </a:p>
        </p:txBody>
      </p:sp>
      <p:graphicFrame>
        <p:nvGraphicFramePr>
          <p:cNvPr id="54279" name="Object 7"/>
          <p:cNvGraphicFramePr>
            <a:graphicFrameLocks noChangeAspect="1"/>
          </p:cNvGraphicFramePr>
          <p:nvPr/>
        </p:nvGraphicFramePr>
        <p:xfrm>
          <a:off x="2001838" y="2924175"/>
          <a:ext cx="4706937" cy="407988"/>
        </p:xfrm>
        <a:graphic>
          <a:graphicData uri="http://schemas.openxmlformats.org/presentationml/2006/ole">
            <mc:AlternateContent xmlns:mc="http://schemas.openxmlformats.org/markup-compatibility/2006">
              <mc:Choice xmlns:v="urn:schemas-microsoft-com:vml" Requires="v">
                <p:oleObj spid="_x0000_s41073" name="Equation" r:id="rId7" imgW="63093600" imgH="5486400" progId="">
                  <p:embed/>
                </p:oleObj>
              </mc:Choice>
              <mc:Fallback>
                <p:oleObj name="Equation" r:id="rId7" imgW="63093600" imgH="5486400" progId="">
                  <p:embed/>
                  <p:pic>
                    <p:nvPicPr>
                      <p:cNvPr id="0" name="图片 41050"/>
                      <p:cNvPicPr>
                        <a:picLocks noChangeAspect="1"/>
                      </p:cNvPicPr>
                      <p:nvPr/>
                    </p:nvPicPr>
                    <p:blipFill>
                      <a:blip r:embed="rId8"/>
                      <a:stretch>
                        <a:fillRect/>
                      </a:stretch>
                    </p:blipFill>
                    <p:spPr>
                      <a:xfrm>
                        <a:off x="2001838" y="2924175"/>
                        <a:ext cx="4706937" cy="407988"/>
                      </a:xfrm>
                      <a:prstGeom prst="rect">
                        <a:avLst/>
                      </a:prstGeom>
                      <a:noFill/>
                      <a:ln w="9525">
                        <a:noFill/>
                      </a:ln>
                    </p:spPr>
                  </p:pic>
                </p:oleObj>
              </mc:Fallback>
            </mc:AlternateContent>
          </a:graphicData>
        </a:graphic>
      </p:graphicFrame>
      <p:sp>
        <p:nvSpPr>
          <p:cNvPr id="54280" name="Text Box 8"/>
          <p:cNvSpPr txBox="1">
            <a:spLocks noChangeArrowheads="1"/>
          </p:cNvSpPr>
          <p:nvPr/>
        </p:nvSpPr>
        <p:spPr bwMode="auto">
          <a:xfrm>
            <a:off x="324594" y="3894056"/>
            <a:ext cx="3527425" cy="366712"/>
          </a:xfrm>
          <a:prstGeom prst="rect">
            <a:avLst/>
          </a:prstGeom>
          <a:noFill/>
          <a:ln w="9525">
            <a:noFill/>
            <a:miter lim="800000"/>
          </a:ln>
        </p:spPr>
        <p:txBody>
          <a:bodyPr>
            <a:spAutoFit/>
          </a:bodyPr>
          <a:lstStyle/>
          <a:p>
            <a:pPr fontAlgn="base">
              <a:spcBef>
                <a:spcPct val="50000"/>
              </a:spcBef>
              <a:spcAft>
                <a:spcPct val="0"/>
              </a:spcAft>
            </a:pP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C</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  </a:t>
            </a:r>
            <a:r>
              <a:rPr lang="zh-CN" altLang="en-US" b="1" dirty="0">
                <a:solidFill>
                  <a:srgbClr val="000000"/>
                </a:solidFill>
                <a:latin typeface="Times New Roman" panose="02020603050405020304" pitchFamily="18" charset="0"/>
              </a:rPr>
              <a:t>对于最大功率传输，有：</a:t>
            </a:r>
            <a:endParaRPr lang="en-US" altLang="zh-CN" b="1" dirty="0">
              <a:solidFill>
                <a:srgbClr val="000000"/>
              </a:solidFill>
              <a:latin typeface="Times New Roman" panose="02020603050405020304" pitchFamily="18" charset="0"/>
            </a:endParaRPr>
          </a:p>
        </p:txBody>
      </p:sp>
      <p:graphicFrame>
        <p:nvGraphicFramePr>
          <p:cNvPr id="54281" name="Object 9"/>
          <p:cNvGraphicFramePr>
            <a:graphicFrameLocks noChangeAspect="1"/>
          </p:cNvGraphicFramePr>
          <p:nvPr/>
        </p:nvGraphicFramePr>
        <p:xfrm>
          <a:off x="1259632" y="4445302"/>
          <a:ext cx="1657350" cy="414338"/>
        </p:xfrm>
        <a:graphic>
          <a:graphicData uri="http://schemas.openxmlformats.org/presentationml/2006/ole">
            <mc:AlternateContent xmlns:mc="http://schemas.openxmlformats.org/markup-compatibility/2006">
              <mc:Choice xmlns:v="urn:schemas-microsoft-com:vml" Requires="v">
                <p:oleObj spid="_x0000_s41074" name="公式" r:id="rId9" imgW="21945600" imgH="5486400" progId="">
                  <p:embed/>
                </p:oleObj>
              </mc:Choice>
              <mc:Fallback>
                <p:oleObj name="公式" r:id="rId9" imgW="21945600" imgH="5486400" progId="">
                  <p:embed/>
                  <p:pic>
                    <p:nvPicPr>
                      <p:cNvPr id="0" name="图片 41051"/>
                      <p:cNvPicPr>
                        <a:picLocks noChangeAspect="1"/>
                      </p:cNvPicPr>
                      <p:nvPr/>
                    </p:nvPicPr>
                    <p:blipFill>
                      <a:blip r:embed="rId10"/>
                      <a:stretch>
                        <a:fillRect/>
                      </a:stretch>
                    </p:blipFill>
                    <p:spPr>
                      <a:xfrm>
                        <a:off x="1259632" y="4445302"/>
                        <a:ext cx="1657350" cy="414338"/>
                      </a:xfrm>
                      <a:prstGeom prst="rect">
                        <a:avLst/>
                      </a:prstGeom>
                      <a:noFill/>
                      <a:ln w="9525">
                        <a:noFill/>
                      </a:ln>
                    </p:spPr>
                  </p:pic>
                </p:oleObj>
              </mc:Fallback>
            </mc:AlternateContent>
          </a:graphicData>
        </a:graphic>
      </p:graphicFrame>
      <p:graphicFrame>
        <p:nvGraphicFramePr>
          <p:cNvPr id="54283" name="Object 11"/>
          <p:cNvGraphicFramePr>
            <a:graphicFrameLocks noChangeAspect="1"/>
          </p:cNvGraphicFramePr>
          <p:nvPr/>
        </p:nvGraphicFramePr>
        <p:xfrm>
          <a:off x="1259632" y="5044174"/>
          <a:ext cx="2990362" cy="765445"/>
        </p:xfrm>
        <a:graphic>
          <a:graphicData uri="http://schemas.openxmlformats.org/presentationml/2006/ole">
            <mc:AlternateContent xmlns:mc="http://schemas.openxmlformats.org/markup-compatibility/2006">
              <mc:Choice xmlns:v="urn:schemas-microsoft-com:vml" Requires="v">
                <p:oleObj spid="_x0000_s41075" name="公式" r:id="rId11" imgW="42976800" imgH="10972800" progId="">
                  <p:embed/>
                </p:oleObj>
              </mc:Choice>
              <mc:Fallback>
                <p:oleObj name="公式" r:id="rId11" imgW="42976800" imgH="10972800" progId="">
                  <p:embed/>
                  <p:pic>
                    <p:nvPicPr>
                      <p:cNvPr id="0" name="图片 41052"/>
                      <p:cNvPicPr>
                        <a:picLocks noChangeAspect="1"/>
                      </p:cNvPicPr>
                      <p:nvPr/>
                    </p:nvPicPr>
                    <p:blipFill>
                      <a:blip r:embed="rId12"/>
                      <a:stretch>
                        <a:fillRect/>
                      </a:stretch>
                    </p:blipFill>
                    <p:spPr>
                      <a:xfrm>
                        <a:off x="1259632" y="5044174"/>
                        <a:ext cx="2990362" cy="765445"/>
                      </a:xfrm>
                      <a:prstGeom prst="rect">
                        <a:avLst/>
                      </a:prstGeom>
                      <a:noFill/>
                      <a:ln w="9525">
                        <a:noFill/>
                      </a:ln>
                    </p:spPr>
                  </p:pic>
                </p:oleObj>
              </mc:Fallback>
            </mc:AlternateContent>
          </a:graphicData>
        </a:graphic>
      </p:graphicFrame>
      <p:pic>
        <p:nvPicPr>
          <p:cNvPr id="54284" name="Picture 8"/>
          <p:cNvPicPr>
            <a:picLocks noChangeAspect="1" noChangeArrowheads="1"/>
          </p:cNvPicPr>
          <p:nvPr/>
        </p:nvPicPr>
        <p:blipFill>
          <a:blip r:embed="rId13" cstate="print"/>
          <a:srcRect/>
          <a:stretch>
            <a:fillRect/>
          </a:stretch>
        </p:blipFill>
        <p:spPr bwMode="auto">
          <a:xfrm>
            <a:off x="4643438" y="4005263"/>
            <a:ext cx="4107141" cy="1698354"/>
          </a:xfrm>
          <a:prstGeom prst="rect">
            <a:avLst/>
          </a:prstGeom>
          <a:noFill/>
          <a:ln w="9525">
            <a:noFill/>
            <a:miter lim="800000"/>
            <a:headEnd/>
            <a:tailEnd/>
          </a:ln>
        </p:spPr>
      </p:pic>
      <p:sp>
        <p:nvSpPr>
          <p:cNvPr id="2" name="文本框 1"/>
          <p:cNvSpPr txBox="1"/>
          <p:nvPr/>
        </p:nvSpPr>
        <p:spPr>
          <a:xfrm>
            <a:off x="1572259" y="1486170"/>
            <a:ext cx="415498"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①</a:t>
            </a:r>
            <a:endParaRPr lang="zh-CN" altLang="en-US" dirty="0"/>
          </a:p>
        </p:txBody>
      </p:sp>
      <p:sp>
        <p:nvSpPr>
          <p:cNvPr id="15" name="文本框 14"/>
          <p:cNvSpPr txBox="1"/>
          <p:nvPr/>
        </p:nvSpPr>
        <p:spPr>
          <a:xfrm>
            <a:off x="4198764" y="1511675"/>
            <a:ext cx="415498" cy="369332"/>
          </a:xfrm>
          <a:prstGeom prst="rect">
            <a:avLst/>
          </a:prstGeom>
          <a:noFill/>
        </p:spPr>
        <p:txBody>
          <a:bodyPr wrap="none" rtlCol="0">
            <a:spAutoFit/>
          </a:bodyPr>
          <a:lstStyle/>
          <a:p>
            <a:r>
              <a:rPr lang="zh-CN" altLang="en-US" dirty="0">
                <a:latin typeface="宋体" panose="02010600030101010101" pitchFamily="2" charset="-122"/>
                <a:ea typeface="宋体" panose="02010600030101010101" pitchFamily="2" charset="-122"/>
              </a:rPr>
              <a:t>②</a:t>
            </a:r>
            <a:endParaRPr lang="zh-CN" altLang="en-US" dirty="0"/>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65</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457200" y="332740"/>
            <a:ext cx="7170420" cy="1491615"/>
          </a:xfrm>
          <a:prstGeom prst="rect">
            <a:avLst/>
          </a:prstGeom>
        </p:spPr>
      </p:pic>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66</a:t>
            </a:fld>
            <a:endParaRPr lang="en-US" altLang="zh-CN">
              <a:solidFill>
                <a:srgbClr val="000000"/>
              </a:solidFill>
            </a:endParaRPr>
          </a:p>
        </p:txBody>
      </p:sp>
      <p:pic>
        <p:nvPicPr>
          <p:cNvPr id="6" name="图片 5"/>
          <p:cNvPicPr>
            <a:picLocks noChangeAspect="1"/>
          </p:cNvPicPr>
          <p:nvPr/>
        </p:nvPicPr>
        <p:blipFill>
          <a:blip r:embed="rId5"/>
          <a:srcRect r="7226"/>
          <a:stretch>
            <a:fillRect/>
          </a:stretch>
        </p:blipFill>
        <p:spPr>
          <a:xfrm>
            <a:off x="5204460" y="2207260"/>
            <a:ext cx="3947795" cy="2774950"/>
          </a:xfrm>
          <a:prstGeom prst="rect">
            <a:avLst/>
          </a:prstGeom>
        </p:spPr>
      </p:pic>
      <p:sp>
        <p:nvSpPr>
          <p:cNvPr id="2" name="文本框 1"/>
          <p:cNvSpPr txBox="1"/>
          <p:nvPr/>
        </p:nvSpPr>
        <p:spPr>
          <a:xfrm>
            <a:off x="251460" y="1484630"/>
            <a:ext cx="4603750" cy="4523105"/>
          </a:xfrm>
          <a:prstGeom prst="rect">
            <a:avLst/>
          </a:prstGeom>
          <a:noFill/>
        </p:spPr>
        <p:txBody>
          <a:bodyPr wrap="square" rtlCol="0">
            <a:spAutoFit/>
          </a:bodyPr>
          <a:lstStyle/>
          <a:p>
            <a:r>
              <a:rPr lang="zh-CN" altLang="en-US" sz="1600" dirty="0"/>
              <a:t>解：</a:t>
            </a:r>
            <a:r>
              <a:rPr lang="zh-CN" altLang="en-US" sz="1600" dirty="0" smtClean="0">
                <a:sym typeface="Wingdings" panose="05000000000000000000" pitchFamily="2" charset="2"/>
              </a:rPr>
              <a:t>（</a:t>
            </a:r>
            <a:r>
              <a:rPr lang="en-US" altLang="zh-CN" sz="1600" dirty="0" smtClean="0">
                <a:sym typeface="Wingdings" panose="05000000000000000000" pitchFamily="2" charset="2"/>
              </a:rPr>
              <a:t>1</a:t>
            </a:r>
            <a:r>
              <a:rPr lang="zh-CN" altLang="en-US" sz="1600" dirty="0" smtClean="0">
                <a:sym typeface="Wingdings" panose="05000000000000000000" pitchFamily="2" charset="2"/>
              </a:rPr>
              <a:t>）求</a:t>
            </a:r>
            <a:r>
              <a:rPr lang="en-US" altLang="zh-CN" sz="1600" dirty="0" err="1" smtClean="0">
                <a:sym typeface="Wingdings" panose="05000000000000000000" pitchFamily="2" charset="2"/>
              </a:rPr>
              <a:t>Rth</a:t>
            </a:r>
            <a:endParaRPr lang="en-US" altLang="zh-CN" sz="1600" dirty="0" smtClean="0">
              <a:sym typeface="Wingdings" panose="05000000000000000000" pitchFamily="2" charset="2"/>
            </a:endParaRPr>
          </a:p>
          <a:p>
            <a:r>
              <a:rPr lang="zh-CN" altLang="en-US" sz="1600" dirty="0" smtClean="0">
                <a:sym typeface="+mn-ea"/>
              </a:rPr>
              <a:t>假设在</a:t>
            </a:r>
            <a:r>
              <a:rPr lang="en-US" altLang="zh-CN" sz="1600" dirty="0" err="1" smtClean="0">
                <a:sym typeface="+mn-ea"/>
              </a:rPr>
              <a:t>ab</a:t>
            </a:r>
            <a:r>
              <a:rPr lang="zh-CN" altLang="en-US" sz="1600" dirty="0" smtClean="0">
                <a:sym typeface="+mn-ea"/>
              </a:rPr>
              <a:t>间加</a:t>
            </a:r>
            <a:r>
              <a:rPr lang="en-US" altLang="zh-CN" sz="1600" dirty="0" smtClean="0">
                <a:sym typeface="+mn-ea"/>
              </a:rPr>
              <a:t>1V</a:t>
            </a:r>
            <a:r>
              <a:rPr lang="zh-CN" altLang="en-US" sz="1600" dirty="0" smtClean="0">
                <a:sym typeface="+mn-ea"/>
              </a:rPr>
              <a:t>的电压源，流出的电流为</a:t>
            </a:r>
            <a:r>
              <a:rPr lang="en-US" altLang="zh-CN" sz="1600" dirty="0" smtClean="0">
                <a:sym typeface="+mn-ea"/>
              </a:rPr>
              <a:t>I0,</a:t>
            </a:r>
            <a:r>
              <a:rPr lang="zh-CN" altLang="en-US" sz="1600" dirty="0" smtClean="0">
                <a:sym typeface="+mn-ea"/>
              </a:rPr>
              <a:t>方向由</a:t>
            </a:r>
            <a:r>
              <a:rPr lang="en-US" altLang="zh-CN" sz="1600" dirty="0" smtClean="0">
                <a:sym typeface="+mn-ea"/>
              </a:rPr>
              <a:t>b</a:t>
            </a:r>
            <a:r>
              <a:rPr lang="zh-CN" altLang="en-US" sz="1600" dirty="0" smtClean="0">
                <a:sym typeface="+mn-ea"/>
              </a:rPr>
              <a:t>指向</a:t>
            </a:r>
            <a:r>
              <a:rPr lang="en-US" altLang="zh-CN" sz="1600" dirty="0" smtClean="0">
                <a:sym typeface="+mn-ea"/>
              </a:rPr>
              <a:t>a,</a:t>
            </a:r>
            <a:r>
              <a:rPr lang="zh-CN" altLang="en-US" sz="1600" dirty="0" smtClean="0">
                <a:sym typeface="+mn-ea"/>
              </a:rPr>
              <a:t>朝上。独立电压源清零，短路。</a:t>
            </a:r>
          </a:p>
          <a:p>
            <a:r>
              <a:rPr lang="en-US" altLang="zh-CN" sz="1600" dirty="0" smtClean="0">
                <a:sym typeface="+mn-ea"/>
              </a:rPr>
              <a:t>60*I1+120*I2+1=0</a:t>
            </a:r>
            <a:endParaRPr lang="zh-CN" altLang="en-US" sz="1600" dirty="0" smtClean="0">
              <a:sym typeface="+mn-ea"/>
            </a:endParaRPr>
          </a:p>
          <a:p>
            <a:r>
              <a:rPr lang="en-US" altLang="zh-CN" sz="1600" dirty="0" smtClean="0">
                <a:sym typeface="+mn-ea"/>
              </a:rPr>
              <a:t>60*I1+30*</a:t>
            </a:r>
            <a:r>
              <a:rPr lang="zh-CN" altLang="en-US" sz="1600" dirty="0" smtClean="0">
                <a:sym typeface="+mn-ea"/>
              </a:rPr>
              <a:t>（</a:t>
            </a:r>
            <a:r>
              <a:rPr lang="en-US" altLang="zh-CN" sz="1600" dirty="0" smtClean="0">
                <a:sym typeface="+mn-ea"/>
              </a:rPr>
              <a:t>I1-I2)+3*60*I1=0</a:t>
            </a:r>
          </a:p>
          <a:p>
            <a:r>
              <a:rPr lang="en-US" altLang="zh-CN" sz="1600" dirty="0" smtClean="0">
                <a:sym typeface="+mn-ea"/>
              </a:rPr>
              <a:t>I1=--0.877mA</a:t>
            </a:r>
          </a:p>
          <a:p>
            <a:r>
              <a:rPr lang="en-US" altLang="zh-CN" sz="1600" dirty="0" smtClean="0">
                <a:sym typeface="+mn-ea"/>
              </a:rPr>
              <a:t>I2=-7.894mA</a:t>
            </a:r>
          </a:p>
          <a:p>
            <a:r>
              <a:rPr lang="en-US" altLang="zh-CN" sz="1600" dirty="0" smtClean="0">
                <a:sym typeface="+mn-ea"/>
              </a:rPr>
              <a:t>I0=-I2=7.894mA</a:t>
            </a:r>
          </a:p>
          <a:p>
            <a:r>
              <a:rPr lang="en-US" altLang="zh-CN" sz="1600" dirty="0" smtClean="0">
                <a:sym typeface="+mn-ea"/>
              </a:rPr>
              <a:t>Rth=V0/I0=1/0.007894=126.67</a:t>
            </a:r>
            <a:r>
              <a:rPr lang="en-US" altLang="zh-CN" sz="1600" dirty="0" smtClean="0">
                <a:latin typeface="Arial" panose="020B0604020202020204" pitchFamily="34" charset="0"/>
                <a:cs typeface="Arial" panose="020B0604020202020204" pitchFamily="34" charset="0"/>
                <a:sym typeface="+mn-ea"/>
              </a:rPr>
              <a:t>Ʊ</a:t>
            </a:r>
          </a:p>
          <a:p>
            <a:r>
              <a:rPr lang="en-US" altLang="zh-CN" sz="1600" dirty="0" smtClean="0">
                <a:latin typeface="Arial" panose="020B0604020202020204" pitchFamily="34" charset="0"/>
                <a:cs typeface="Arial" panose="020B0604020202020204" pitchFamily="34" charset="0"/>
                <a:sym typeface="+mn-ea"/>
              </a:rPr>
              <a:t>(2)</a:t>
            </a:r>
            <a:r>
              <a:rPr lang="zh-CN" altLang="en-US" sz="1600" dirty="0" smtClean="0">
                <a:latin typeface="Arial" panose="020B0604020202020204" pitchFamily="34" charset="0"/>
                <a:cs typeface="Arial" panose="020B0604020202020204" pitchFamily="34" charset="0"/>
                <a:sym typeface="+mn-ea"/>
              </a:rPr>
              <a:t>求</a:t>
            </a:r>
            <a:r>
              <a:rPr lang="en-US" altLang="zh-CN" sz="1600" dirty="0" smtClean="0">
                <a:latin typeface="Arial" panose="020B0604020202020204" pitchFamily="34" charset="0"/>
                <a:cs typeface="Arial" panose="020B0604020202020204" pitchFamily="34" charset="0"/>
                <a:sym typeface="+mn-ea"/>
              </a:rPr>
              <a:t>Vth</a:t>
            </a:r>
          </a:p>
          <a:p>
            <a:r>
              <a:rPr lang="en-US" altLang="zh-CN" sz="1600" dirty="0" smtClean="0">
                <a:latin typeface="Arial" panose="020B0604020202020204" pitchFamily="34" charset="0"/>
                <a:cs typeface="Arial" panose="020B0604020202020204" pitchFamily="34" charset="0"/>
                <a:sym typeface="+mn-ea"/>
              </a:rPr>
              <a:t>9=60*I1+30*I1+3*60*I1</a:t>
            </a:r>
          </a:p>
          <a:p>
            <a:r>
              <a:rPr lang="en-US" altLang="zh-CN" sz="1600" dirty="0" smtClean="0">
                <a:latin typeface="Arial" panose="020B0604020202020204" pitchFamily="34" charset="0"/>
                <a:cs typeface="Arial" panose="020B0604020202020204" pitchFamily="34" charset="0"/>
                <a:sym typeface="+mn-ea"/>
              </a:rPr>
              <a:t>I1=1/30</a:t>
            </a:r>
          </a:p>
          <a:p>
            <a:r>
              <a:rPr lang="en-US" altLang="zh-CN" sz="1600" dirty="0" smtClean="0">
                <a:latin typeface="Arial" panose="020B0604020202020204" pitchFamily="34" charset="0"/>
                <a:cs typeface="Arial" panose="020B0604020202020204" pitchFamily="34" charset="0"/>
                <a:sym typeface="+mn-ea"/>
              </a:rPr>
              <a:t>Vth=30*I1+3*60*I1=210*I1=210/30=7(V)</a:t>
            </a:r>
          </a:p>
          <a:p>
            <a:r>
              <a:rPr lang="en-US" altLang="zh-CN" sz="1600" dirty="0" smtClean="0">
                <a:latin typeface="Arial" panose="020B0604020202020204" pitchFamily="34" charset="0"/>
                <a:cs typeface="Arial" panose="020B0604020202020204" pitchFamily="34" charset="0"/>
                <a:sym typeface="+mn-ea"/>
              </a:rPr>
              <a:t>(3)</a:t>
            </a:r>
          </a:p>
          <a:p>
            <a:endParaRPr lang="en-US" altLang="zh-CN" sz="1600" dirty="0" smtClean="0">
              <a:sym typeface="+mn-ea"/>
            </a:endParaRPr>
          </a:p>
          <a:p>
            <a:endParaRPr lang="zh-CN" altLang="en-US" sz="1600" dirty="0" smtClean="0">
              <a:sym typeface="+mn-ea"/>
            </a:endParaRPr>
          </a:p>
          <a:p>
            <a:endParaRPr lang="en-US" altLang="zh-CN" sz="1600" dirty="0" smtClean="0"/>
          </a:p>
          <a:p>
            <a:endParaRPr lang="en-US" altLang="zh-CN" sz="1600" dirty="0" smtClean="0"/>
          </a:p>
        </p:txBody>
      </p:sp>
      <p:graphicFrame>
        <p:nvGraphicFramePr>
          <p:cNvPr id="54283" name="Object 11"/>
          <p:cNvGraphicFramePr>
            <a:graphicFrameLocks noChangeAspect="1"/>
          </p:cNvGraphicFramePr>
          <p:nvPr/>
        </p:nvGraphicFramePr>
        <p:xfrm>
          <a:off x="611505" y="5085080"/>
          <a:ext cx="4739005" cy="543560"/>
        </p:xfrm>
        <a:graphic>
          <a:graphicData uri="http://schemas.openxmlformats.org/presentationml/2006/ole">
            <mc:AlternateContent xmlns:mc="http://schemas.openxmlformats.org/markup-compatibility/2006">
              <mc:Choice xmlns:v="urn:schemas-microsoft-com:vml" Requires="v">
                <p:oleObj spid="_x0000_s41990" name="公式" r:id="rId6" imgW="2908300" imgH="457200" progId="">
                  <p:embed/>
                </p:oleObj>
              </mc:Choice>
              <mc:Fallback>
                <p:oleObj name="公式" r:id="rId6" imgW="2908300" imgH="457200" progId="">
                  <p:embed/>
                  <p:pic>
                    <p:nvPicPr>
                      <p:cNvPr id="0" name="图片 41052"/>
                      <p:cNvPicPr>
                        <a:picLocks noChangeAspect="1"/>
                      </p:cNvPicPr>
                      <p:nvPr/>
                    </p:nvPicPr>
                    <p:blipFill>
                      <a:blip r:embed="rId7"/>
                      <a:stretch>
                        <a:fillRect/>
                      </a:stretch>
                    </p:blipFill>
                    <p:spPr>
                      <a:xfrm>
                        <a:off x="611505" y="5085080"/>
                        <a:ext cx="4739005" cy="543560"/>
                      </a:xfrm>
                      <a:prstGeom prst="rect">
                        <a:avLst/>
                      </a:prstGeom>
                      <a:noFill/>
                      <a:ln w="9525">
                        <a:noFill/>
                      </a:ln>
                    </p:spPr>
                  </p:pic>
                </p:oleObj>
              </mc:Fallback>
            </mc:AlternateContent>
          </a:graphicData>
        </a:graphic>
      </p:graphicFrame>
      <p:sp>
        <p:nvSpPr>
          <p:cNvPr id="3" name="文本框 2"/>
          <p:cNvSpPr txBox="1"/>
          <p:nvPr/>
        </p:nvSpPr>
        <p:spPr>
          <a:xfrm>
            <a:off x="5795645" y="4797425"/>
            <a:ext cx="2871470" cy="9220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solidFill>
                  <a:srgbClr val="FF0000"/>
                </a:solidFill>
              </a:rPr>
              <a:t>注：与答案单位不一致。查了英文教材，答案是</a:t>
            </a:r>
            <a:r>
              <a:rPr lang="en-US" altLang="zh-CN">
                <a:solidFill>
                  <a:srgbClr val="FF0000"/>
                </a:solidFill>
              </a:rPr>
              <a:t>96.71mW.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4783" y="121473"/>
            <a:ext cx="7488237" cy="1100138"/>
          </a:xfrm>
        </p:spPr>
        <p:txBody>
          <a:bodyPr/>
          <a:lstStyle/>
          <a:p>
            <a:pPr eaLnBrk="1" hangingPunct="1"/>
            <a:r>
              <a:rPr lang="en-US" altLang="zh-CN" dirty="0">
                <a:solidFill>
                  <a:srgbClr val="0000FF"/>
                </a:solidFill>
                <a:latin typeface="Franklin Gothic Medium" panose="020B0603020102020204" pitchFamily="34" charset="0"/>
              </a:rPr>
              <a:t>4.10   </a:t>
            </a:r>
            <a:r>
              <a:rPr lang="zh-CN" altLang="en-US" sz="4000" b="1" dirty="0">
                <a:solidFill>
                  <a:srgbClr val="0000FF"/>
                </a:solidFill>
                <a:latin typeface="Franklin Gothic Medium" panose="020B0603020102020204" pitchFamily="34" charset="0"/>
              </a:rPr>
              <a:t>应用</a:t>
            </a:r>
            <a:r>
              <a:rPr lang="en-US" altLang="zh-CN" dirty="0"/>
              <a:t> </a:t>
            </a:r>
          </a:p>
        </p:txBody>
      </p:sp>
      <p:sp>
        <p:nvSpPr>
          <p:cNvPr id="55299" name="Rectangle 3"/>
          <p:cNvSpPr>
            <a:spLocks noGrp="1" noChangeArrowheads="1"/>
          </p:cNvSpPr>
          <p:nvPr>
            <p:ph type="body" idx="1"/>
          </p:nvPr>
        </p:nvSpPr>
        <p:spPr>
          <a:xfrm>
            <a:off x="468313" y="1196975"/>
            <a:ext cx="8140437" cy="1776413"/>
          </a:xfrm>
        </p:spPr>
        <p:txBody>
          <a:bodyPr/>
          <a:lstStyle/>
          <a:p>
            <a:pPr marL="0" indent="0" eaLnBrk="1" hangingPunct="1">
              <a:buNone/>
            </a:pPr>
            <a:r>
              <a:rPr lang="en-US" altLang="zh-CN" dirty="0"/>
              <a:t>4.10.1   </a:t>
            </a:r>
            <a:r>
              <a:rPr lang="zh-CN" altLang="en-US" b="1" dirty="0"/>
              <a:t>电源建模</a:t>
            </a:r>
            <a:endParaRPr lang="en-US" altLang="zh-CN" b="1" dirty="0"/>
          </a:p>
          <a:p>
            <a:pPr marL="0" indent="0" eaLnBrk="1" hangingPunct="1">
              <a:buNone/>
            </a:pPr>
            <a:r>
              <a:rPr lang="zh-CN" altLang="en-US" sz="2000" b="1" dirty="0">
                <a:latin typeface="Times New Roman" panose="02020603050405020304" pitchFamily="18" charset="0"/>
              </a:rPr>
              <a:t>     实际的电源（如电池），其特征通常是其戴维南或诺顿等效电路。</a:t>
            </a:r>
            <a:endParaRPr lang="en-US" altLang="zh-CN" sz="2000" b="1" dirty="0">
              <a:latin typeface="Times New Roman" panose="02020603050405020304" pitchFamily="18" charset="0"/>
            </a:endParaRPr>
          </a:p>
          <a:p>
            <a:pPr marL="0" indent="0" eaLnBrk="1" hangingPunct="1">
              <a:buNone/>
            </a:pPr>
            <a:r>
              <a:rPr lang="zh-CN" altLang="en-US" sz="2000" b="1" dirty="0">
                <a:latin typeface="Times New Roman" panose="02020603050405020304" pitchFamily="18" charset="0"/>
              </a:rPr>
              <a:t>     当内阻（源电阻）</a:t>
            </a:r>
            <a:r>
              <a:rPr lang="en-US" altLang="zh-CN" sz="2000" b="1" dirty="0">
                <a:solidFill>
                  <a:srgbClr val="FF0000"/>
                </a:solidFill>
                <a:latin typeface="Times New Roman" panose="02020603050405020304" pitchFamily="18" charset="0"/>
              </a:rPr>
              <a:t>Rs  </a:t>
            </a:r>
            <a:r>
              <a:rPr lang="en-US" altLang="zh-CN" sz="2000" b="1" dirty="0">
                <a:latin typeface="Times New Roman" panose="02020603050405020304" pitchFamily="18" charset="0"/>
              </a:rPr>
              <a:t>     0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a:t>
            </a:r>
            <a:r>
              <a:rPr lang="en-US" altLang="zh-CN" sz="2000" b="1" dirty="0">
                <a:solidFill>
                  <a:srgbClr val="FF0000"/>
                </a:solidFill>
                <a:latin typeface="Times New Roman" panose="02020603050405020304" pitchFamily="18" charset="0"/>
              </a:rPr>
              <a:t>Rp              </a:t>
            </a:r>
            <a:r>
              <a:rPr lang="zh-CN" altLang="en-US" sz="2000" b="1" dirty="0">
                <a:latin typeface="Times New Roman" panose="02020603050405020304" pitchFamily="18" charset="0"/>
              </a:rPr>
              <a:t>时，成为理想电源。</a:t>
            </a:r>
            <a:r>
              <a:rPr lang="en-US" altLang="zh-CN" sz="2000" b="1" dirty="0">
                <a:latin typeface="Times New Roman" panose="02020603050405020304" pitchFamily="18" charset="0"/>
              </a:rPr>
              <a:t>             </a:t>
            </a:r>
          </a:p>
          <a:p>
            <a:pPr eaLnBrk="1" hangingPunct="1"/>
            <a:endParaRPr lang="en-US" altLang="zh-CN" sz="2000" b="1" dirty="0">
              <a:latin typeface="Times New Roman" panose="02020603050405020304" pitchFamily="18" charset="0"/>
            </a:endParaRPr>
          </a:p>
        </p:txBody>
      </p:sp>
      <p:sp>
        <p:nvSpPr>
          <p:cNvPr id="55300" name="Line 4"/>
          <p:cNvSpPr>
            <a:spLocks noChangeShapeType="1"/>
          </p:cNvSpPr>
          <p:nvPr/>
        </p:nvSpPr>
        <p:spPr bwMode="auto">
          <a:xfrm>
            <a:off x="3278855" y="2349500"/>
            <a:ext cx="341538" cy="0"/>
          </a:xfrm>
          <a:prstGeom prst="line">
            <a:avLst/>
          </a:prstGeom>
          <a:noFill/>
          <a:ln w="9525">
            <a:solidFill>
              <a:schemeClr val="tx1"/>
            </a:solidFill>
            <a:round/>
            <a:tailEnd type="triangle" w="med" len="me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55301" name="Object 5"/>
          <p:cNvGraphicFramePr>
            <a:graphicFrameLocks noChangeAspect="1"/>
          </p:cNvGraphicFramePr>
          <p:nvPr/>
        </p:nvGraphicFramePr>
        <p:xfrm>
          <a:off x="5069968" y="2232052"/>
          <a:ext cx="352900" cy="234895"/>
        </p:xfrm>
        <a:graphic>
          <a:graphicData uri="http://schemas.openxmlformats.org/presentationml/2006/ole">
            <mc:AlternateContent xmlns:mc="http://schemas.openxmlformats.org/markup-compatibility/2006">
              <mc:Choice xmlns:v="urn:schemas-microsoft-com:vml" Requires="v">
                <p:oleObj spid="_x0000_s43013" name="公式" r:id="rId3" imgW="3657600" imgH="3048000" progId="">
                  <p:embed/>
                </p:oleObj>
              </mc:Choice>
              <mc:Fallback>
                <p:oleObj name="公式" r:id="rId3" imgW="3657600" imgH="3048000" progId="">
                  <p:embed/>
                  <p:pic>
                    <p:nvPicPr>
                      <p:cNvPr id="0" name="图片 41984"/>
                      <p:cNvPicPr>
                        <a:picLocks noChangeAspect="1"/>
                      </p:cNvPicPr>
                      <p:nvPr/>
                    </p:nvPicPr>
                    <p:blipFill>
                      <a:blip r:embed="rId4"/>
                      <a:stretch>
                        <a:fillRect/>
                      </a:stretch>
                    </p:blipFill>
                    <p:spPr>
                      <a:xfrm>
                        <a:off x="5069968" y="2232052"/>
                        <a:ext cx="352900" cy="234895"/>
                      </a:xfrm>
                      <a:prstGeom prst="rect">
                        <a:avLst/>
                      </a:prstGeom>
                      <a:noFill/>
                      <a:ln w="9525">
                        <a:noFill/>
                      </a:ln>
                    </p:spPr>
                  </p:pic>
                </p:oleObj>
              </mc:Fallback>
            </mc:AlternateContent>
          </a:graphicData>
        </a:graphic>
      </p:graphicFrame>
      <p:sp>
        <p:nvSpPr>
          <p:cNvPr id="55302" name="Line 6"/>
          <p:cNvSpPr>
            <a:spLocks noChangeShapeType="1"/>
          </p:cNvSpPr>
          <p:nvPr/>
        </p:nvSpPr>
        <p:spPr bwMode="auto">
          <a:xfrm>
            <a:off x="4594555" y="2352615"/>
            <a:ext cx="409244" cy="0"/>
          </a:xfrm>
          <a:prstGeom prst="line">
            <a:avLst/>
          </a:prstGeom>
          <a:noFill/>
          <a:ln w="9525">
            <a:solidFill>
              <a:schemeClr val="tx1"/>
            </a:solidFill>
            <a:round/>
            <a:tailEnd type="triangle" w="med" len="me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03" name="Rectangle 7"/>
          <p:cNvSpPr>
            <a:spLocks noChangeArrowheads="1"/>
          </p:cNvSpPr>
          <p:nvPr/>
        </p:nvSpPr>
        <p:spPr bwMode="auto">
          <a:xfrm>
            <a:off x="755650" y="3273425"/>
            <a:ext cx="2968529" cy="2347913"/>
          </a:xfrm>
          <a:prstGeom prst="rect">
            <a:avLst/>
          </a:prstGeom>
          <a:noFill/>
          <a:ln w="9525" algn="ctr">
            <a:solidFill>
              <a:schemeClr val="tx1"/>
            </a:solidFill>
            <a:prstDash val="dash"/>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2" name="Group 8"/>
          <p:cNvGrpSpPr/>
          <p:nvPr/>
        </p:nvGrpSpPr>
        <p:grpSpPr bwMode="auto">
          <a:xfrm>
            <a:off x="684213" y="3182326"/>
            <a:ext cx="3650101" cy="2078649"/>
            <a:chOff x="431" y="2024"/>
            <a:chExt cx="2426" cy="1405"/>
          </a:xfrm>
        </p:grpSpPr>
        <p:sp>
          <p:nvSpPr>
            <p:cNvPr id="55318" name="Line 9"/>
            <p:cNvSpPr>
              <a:spLocks noChangeShapeType="1"/>
            </p:cNvSpPr>
            <p:nvPr/>
          </p:nvSpPr>
          <p:spPr bwMode="auto">
            <a:xfrm>
              <a:off x="907" y="3385"/>
              <a:ext cx="190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19" name="Line 10"/>
            <p:cNvSpPr>
              <a:spLocks noChangeShapeType="1"/>
            </p:cNvSpPr>
            <p:nvPr/>
          </p:nvSpPr>
          <p:spPr bwMode="auto">
            <a:xfrm>
              <a:off x="907" y="2387"/>
              <a:ext cx="190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20" name="Line 11"/>
            <p:cNvSpPr>
              <a:spLocks noChangeShapeType="1"/>
            </p:cNvSpPr>
            <p:nvPr/>
          </p:nvSpPr>
          <p:spPr bwMode="auto">
            <a:xfrm>
              <a:off x="907" y="2387"/>
              <a:ext cx="0" cy="998"/>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21" name="Oval 12"/>
            <p:cNvSpPr>
              <a:spLocks noChangeArrowheads="1"/>
            </p:cNvSpPr>
            <p:nvPr/>
          </p:nvSpPr>
          <p:spPr bwMode="auto">
            <a:xfrm>
              <a:off x="2767" y="3339"/>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5322" name="Oval 13"/>
            <p:cNvSpPr>
              <a:spLocks noChangeArrowheads="1"/>
            </p:cNvSpPr>
            <p:nvPr/>
          </p:nvSpPr>
          <p:spPr bwMode="auto">
            <a:xfrm>
              <a:off x="2767" y="2341"/>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5323" name="Text Box 14"/>
            <p:cNvSpPr txBox="1">
              <a:spLocks noChangeArrowheads="1"/>
            </p:cNvSpPr>
            <p:nvPr/>
          </p:nvSpPr>
          <p:spPr bwMode="auto">
            <a:xfrm>
              <a:off x="1633" y="2024"/>
              <a:ext cx="453"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s</a:t>
              </a:r>
              <a:endParaRPr lang="en-US" altLang="zh-CN" sz="2400" i="1">
                <a:solidFill>
                  <a:srgbClr val="000000"/>
                </a:solidFill>
              </a:endParaRPr>
            </a:p>
          </p:txBody>
        </p:sp>
        <p:pic>
          <p:nvPicPr>
            <p:cNvPr id="55324" name="Picture 15"/>
            <p:cNvPicPr>
              <a:picLocks noChangeAspect="1" noChangeArrowheads="1"/>
            </p:cNvPicPr>
            <p:nvPr/>
          </p:nvPicPr>
          <p:blipFill>
            <a:blip r:embed="rId5" cstate="print"/>
            <a:srcRect/>
            <a:stretch>
              <a:fillRect/>
            </a:stretch>
          </p:blipFill>
          <p:spPr bwMode="auto">
            <a:xfrm>
              <a:off x="726" y="2750"/>
              <a:ext cx="363" cy="363"/>
            </a:xfrm>
            <a:prstGeom prst="rect">
              <a:avLst/>
            </a:prstGeom>
            <a:noFill/>
            <a:ln w="9525" algn="ctr">
              <a:noFill/>
              <a:miter lim="800000"/>
              <a:headEnd/>
              <a:tailEnd/>
            </a:ln>
          </p:spPr>
        </p:pic>
        <p:sp>
          <p:nvSpPr>
            <p:cNvPr id="55325" name="Text Box 16"/>
            <p:cNvSpPr txBox="1">
              <a:spLocks noChangeArrowheads="1"/>
            </p:cNvSpPr>
            <p:nvPr/>
          </p:nvSpPr>
          <p:spPr bwMode="auto">
            <a:xfrm>
              <a:off x="431" y="2750"/>
              <a:ext cx="38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s</a:t>
              </a:r>
              <a:endParaRPr lang="en-US" altLang="zh-CN" i="1">
                <a:solidFill>
                  <a:srgbClr val="000000"/>
                </a:solidFill>
              </a:endParaRPr>
            </a:p>
          </p:txBody>
        </p:sp>
        <p:pic>
          <p:nvPicPr>
            <p:cNvPr id="55326" name="Picture 17"/>
            <p:cNvPicPr>
              <a:picLocks noChangeAspect="1" noChangeArrowheads="1"/>
            </p:cNvPicPr>
            <p:nvPr/>
          </p:nvPicPr>
          <p:blipFill>
            <a:blip r:embed="rId6" cstate="print"/>
            <a:srcRect/>
            <a:stretch>
              <a:fillRect/>
            </a:stretch>
          </p:blipFill>
          <p:spPr bwMode="auto">
            <a:xfrm rot="-5400000">
              <a:off x="1790" y="2116"/>
              <a:ext cx="186" cy="545"/>
            </a:xfrm>
            <a:prstGeom prst="rect">
              <a:avLst/>
            </a:prstGeom>
            <a:noFill/>
            <a:ln w="9525" algn="ctr">
              <a:noFill/>
              <a:miter lim="800000"/>
              <a:headEnd/>
              <a:tailEnd/>
            </a:ln>
          </p:spPr>
        </p:pic>
      </p:grpSp>
      <p:sp>
        <p:nvSpPr>
          <p:cNvPr id="55305" name="Text Box 18"/>
          <p:cNvSpPr txBox="1">
            <a:spLocks noChangeArrowheads="1"/>
          </p:cNvSpPr>
          <p:nvPr/>
        </p:nvSpPr>
        <p:spPr bwMode="auto">
          <a:xfrm>
            <a:off x="5003799" y="4214177"/>
            <a:ext cx="613867" cy="461665"/>
          </a:xfrm>
          <a:prstGeom prst="rect">
            <a:avLst/>
          </a:prstGeom>
          <a:noFill/>
          <a:ln w="9525">
            <a:noFill/>
            <a:miter lim="800000"/>
          </a:ln>
        </p:spPr>
        <p:txBody>
          <a:bodyPr wrap="square">
            <a:spAutoFit/>
          </a:bodyPr>
          <a:lstStyle/>
          <a:p>
            <a:pPr algn="ctr" fontAlgn="base">
              <a:spcBef>
                <a:spcPct val="0"/>
              </a:spcBef>
              <a:spcAft>
                <a:spcPct val="0"/>
              </a:spcAft>
            </a:pPr>
            <a:r>
              <a:rPr lang="en-US" altLang="zh-CN" sz="2400" i="1">
                <a:solidFill>
                  <a:srgbClr val="000000"/>
                </a:solidFill>
              </a:rPr>
              <a:t>i</a:t>
            </a:r>
            <a:r>
              <a:rPr lang="en-US" altLang="zh-CN" sz="2400" i="1" baseline="-25000">
                <a:solidFill>
                  <a:srgbClr val="000000"/>
                </a:solidFill>
              </a:rPr>
              <a:t>s</a:t>
            </a:r>
            <a:endParaRPr lang="en-US" altLang="zh-CN">
              <a:solidFill>
                <a:srgbClr val="000000"/>
              </a:solidFill>
            </a:endParaRPr>
          </a:p>
        </p:txBody>
      </p:sp>
      <p:sp>
        <p:nvSpPr>
          <p:cNvPr id="55306" name="Rectangle 19"/>
          <p:cNvSpPr>
            <a:spLocks noChangeArrowheads="1"/>
          </p:cNvSpPr>
          <p:nvPr/>
        </p:nvSpPr>
        <p:spPr bwMode="auto">
          <a:xfrm>
            <a:off x="5076825" y="3273425"/>
            <a:ext cx="2968529" cy="2347913"/>
          </a:xfrm>
          <a:prstGeom prst="rect">
            <a:avLst/>
          </a:prstGeom>
          <a:noFill/>
          <a:ln w="9525" algn="ctr">
            <a:solidFill>
              <a:schemeClr val="tx1"/>
            </a:solidFill>
            <a:prstDash val="dash"/>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3" name="Group 20"/>
          <p:cNvGrpSpPr/>
          <p:nvPr/>
        </p:nvGrpSpPr>
        <p:grpSpPr bwMode="auto">
          <a:xfrm>
            <a:off x="5435600" y="3651315"/>
            <a:ext cx="3240856" cy="1609659"/>
            <a:chOff x="3424" y="2341"/>
            <a:chExt cx="2154" cy="1088"/>
          </a:xfrm>
        </p:grpSpPr>
        <p:sp>
          <p:nvSpPr>
            <p:cNvPr id="55309" name="Line 21"/>
            <p:cNvSpPr>
              <a:spLocks noChangeShapeType="1"/>
            </p:cNvSpPr>
            <p:nvPr/>
          </p:nvSpPr>
          <p:spPr bwMode="auto">
            <a:xfrm>
              <a:off x="3628" y="3385"/>
              <a:ext cx="190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10" name="Line 22"/>
            <p:cNvSpPr>
              <a:spLocks noChangeShapeType="1"/>
            </p:cNvSpPr>
            <p:nvPr/>
          </p:nvSpPr>
          <p:spPr bwMode="auto">
            <a:xfrm>
              <a:off x="3628" y="2387"/>
              <a:ext cx="1928"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11" name="Line 23"/>
            <p:cNvSpPr>
              <a:spLocks noChangeShapeType="1"/>
            </p:cNvSpPr>
            <p:nvPr/>
          </p:nvSpPr>
          <p:spPr bwMode="auto">
            <a:xfrm>
              <a:off x="3628" y="2387"/>
              <a:ext cx="0" cy="998"/>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5312" name="Oval 24"/>
            <p:cNvSpPr>
              <a:spLocks noChangeArrowheads="1"/>
            </p:cNvSpPr>
            <p:nvPr/>
          </p:nvSpPr>
          <p:spPr bwMode="auto">
            <a:xfrm>
              <a:off x="5488" y="3339"/>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5313" name="Oval 25"/>
            <p:cNvSpPr>
              <a:spLocks noChangeArrowheads="1"/>
            </p:cNvSpPr>
            <p:nvPr/>
          </p:nvSpPr>
          <p:spPr bwMode="auto">
            <a:xfrm>
              <a:off x="5488" y="2341"/>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5314" name="Text Box 26"/>
            <p:cNvSpPr txBox="1">
              <a:spLocks noChangeArrowheads="1"/>
            </p:cNvSpPr>
            <p:nvPr/>
          </p:nvSpPr>
          <p:spPr bwMode="auto">
            <a:xfrm>
              <a:off x="4468" y="2704"/>
              <a:ext cx="499"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p</a:t>
              </a:r>
              <a:endParaRPr lang="en-US" altLang="zh-CN">
                <a:solidFill>
                  <a:srgbClr val="000000"/>
                </a:solidFill>
              </a:endParaRPr>
            </a:p>
          </p:txBody>
        </p:sp>
        <p:pic>
          <p:nvPicPr>
            <p:cNvPr id="55315" name="Picture 27"/>
            <p:cNvPicPr>
              <a:picLocks noChangeAspect="1" noChangeArrowheads="1"/>
            </p:cNvPicPr>
            <p:nvPr/>
          </p:nvPicPr>
          <p:blipFill>
            <a:blip r:embed="rId7" cstate="print"/>
            <a:srcRect/>
            <a:stretch>
              <a:fillRect/>
            </a:stretch>
          </p:blipFill>
          <p:spPr bwMode="auto">
            <a:xfrm>
              <a:off x="3424" y="2750"/>
              <a:ext cx="408" cy="392"/>
            </a:xfrm>
            <a:prstGeom prst="rect">
              <a:avLst/>
            </a:prstGeom>
            <a:noFill/>
            <a:ln w="9525" algn="ctr">
              <a:noFill/>
              <a:miter lim="800000"/>
              <a:headEnd/>
              <a:tailEnd/>
            </a:ln>
          </p:spPr>
        </p:pic>
        <p:sp>
          <p:nvSpPr>
            <p:cNvPr id="55316" name="Line 28"/>
            <p:cNvSpPr>
              <a:spLocks noChangeShapeType="1"/>
            </p:cNvSpPr>
            <p:nvPr/>
          </p:nvSpPr>
          <p:spPr bwMode="auto">
            <a:xfrm>
              <a:off x="4377" y="2387"/>
              <a:ext cx="0" cy="998"/>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5317" name="Picture 29"/>
            <p:cNvPicPr>
              <a:picLocks noChangeAspect="1" noChangeArrowheads="1"/>
            </p:cNvPicPr>
            <p:nvPr/>
          </p:nvPicPr>
          <p:blipFill>
            <a:blip r:embed="rId6" cstate="print"/>
            <a:srcRect/>
            <a:stretch>
              <a:fillRect/>
            </a:stretch>
          </p:blipFill>
          <p:spPr bwMode="auto">
            <a:xfrm>
              <a:off x="4286" y="2568"/>
              <a:ext cx="184" cy="539"/>
            </a:xfrm>
            <a:prstGeom prst="rect">
              <a:avLst/>
            </a:prstGeom>
            <a:noFill/>
            <a:ln w="9525" algn="ctr">
              <a:noFill/>
              <a:miter lim="800000"/>
              <a:headEnd/>
              <a:tailEnd/>
            </a:ln>
          </p:spPr>
        </p:pic>
      </p:grpSp>
      <p:sp>
        <p:nvSpPr>
          <p:cNvPr id="55308" name="Text Box 30"/>
          <p:cNvSpPr txBox="1">
            <a:spLocks noChangeArrowheads="1"/>
          </p:cNvSpPr>
          <p:nvPr/>
        </p:nvSpPr>
        <p:spPr bwMode="auto">
          <a:xfrm>
            <a:off x="1531937" y="5974395"/>
            <a:ext cx="8424863" cy="338554"/>
          </a:xfrm>
          <a:prstGeom prst="rect">
            <a:avLst/>
          </a:prstGeom>
          <a:noFill/>
          <a:ln w="9525" algn="ctr">
            <a:noFill/>
            <a:miter lim="800000"/>
          </a:ln>
        </p:spPr>
        <p:txBody>
          <a:bodyPr>
            <a:spAutoFit/>
          </a:bodyPr>
          <a:lstStyle/>
          <a:p>
            <a:pPr fontAlgn="base">
              <a:spcBef>
                <a:spcPct val="50000"/>
              </a:spcBef>
              <a:spcAft>
                <a:spcPct val="0"/>
              </a:spcAft>
            </a:pPr>
            <a:r>
              <a:rPr lang="en-US" altLang="zh-CN" sz="1600" dirty="0">
                <a:solidFill>
                  <a:srgbClr val="000000"/>
                </a:solidFill>
              </a:rPr>
              <a:t>(a) </a:t>
            </a:r>
            <a:r>
              <a:rPr lang="zh-CN" altLang="en-US" sz="1600" dirty="0">
                <a:solidFill>
                  <a:srgbClr val="000000"/>
                </a:solidFill>
              </a:rPr>
              <a:t>实际电压源</a:t>
            </a:r>
            <a:r>
              <a:rPr lang="en-US" altLang="zh-CN" sz="1600" dirty="0">
                <a:solidFill>
                  <a:srgbClr val="000000"/>
                </a:solidFill>
              </a:rPr>
              <a:t>                                                 (b) </a:t>
            </a:r>
            <a:r>
              <a:rPr lang="zh-CN" altLang="en-US" sz="1600" dirty="0">
                <a:solidFill>
                  <a:srgbClr val="000000"/>
                </a:solidFill>
              </a:rPr>
              <a:t>实际电流源</a:t>
            </a:r>
            <a:endParaRPr lang="en-US" altLang="zh-CN" sz="1600" dirty="0">
              <a:solidFill>
                <a:srgbClr val="000000"/>
              </a:solidFill>
            </a:endParaRP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67</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539750" y="908050"/>
            <a:ext cx="4464039" cy="400050"/>
          </a:xfrm>
          <a:prstGeom prst="rect">
            <a:avLst/>
          </a:prstGeom>
          <a:noFill/>
          <a:ln w="9525">
            <a:noFill/>
            <a:miter lim="800000"/>
          </a:ln>
        </p:spPr>
        <p:txBody>
          <a:bodyPr wrap="square">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负载效应</a:t>
            </a:r>
            <a:r>
              <a:rPr lang="en-US" altLang="zh-CN" b="1" dirty="0">
                <a:solidFill>
                  <a:srgbClr val="000000"/>
                </a:solidFill>
              </a:rPr>
              <a:t>(1) —</a:t>
            </a:r>
            <a:r>
              <a:rPr lang="zh-CN" altLang="en-US" sz="2000" b="1" dirty="0">
                <a:solidFill>
                  <a:srgbClr val="000000"/>
                </a:solidFill>
                <a:latin typeface="Times New Roman" panose="02020603050405020304" pitchFamily="18" charset="0"/>
              </a:rPr>
              <a:t>负载对电压源的影响</a:t>
            </a:r>
            <a:endParaRPr lang="en-US" altLang="zh-CN" sz="2000" b="1" dirty="0">
              <a:solidFill>
                <a:srgbClr val="000000"/>
              </a:solidFill>
              <a:latin typeface="Times New Roman" panose="02020603050405020304" pitchFamily="18" charset="0"/>
            </a:endParaRPr>
          </a:p>
        </p:txBody>
      </p:sp>
      <p:grpSp>
        <p:nvGrpSpPr>
          <p:cNvPr id="2" name="Group 3"/>
          <p:cNvGrpSpPr/>
          <p:nvPr/>
        </p:nvGrpSpPr>
        <p:grpSpPr bwMode="auto">
          <a:xfrm>
            <a:off x="0" y="2014538"/>
            <a:ext cx="9680575" cy="3833813"/>
            <a:chOff x="0" y="1269"/>
            <a:chExt cx="6098" cy="2415"/>
          </a:xfrm>
        </p:grpSpPr>
        <p:grpSp>
          <p:nvGrpSpPr>
            <p:cNvPr id="3" name="Group 4"/>
            <p:cNvGrpSpPr/>
            <p:nvPr/>
          </p:nvGrpSpPr>
          <p:grpSpPr bwMode="auto">
            <a:xfrm>
              <a:off x="0" y="1480"/>
              <a:ext cx="6098" cy="2204"/>
              <a:chOff x="0" y="1480"/>
              <a:chExt cx="6098" cy="2204"/>
            </a:xfrm>
          </p:grpSpPr>
          <p:sp>
            <p:nvSpPr>
              <p:cNvPr id="56327" name="Text Box 5"/>
              <p:cNvSpPr txBox="1">
                <a:spLocks noChangeArrowheads="1"/>
              </p:cNvSpPr>
              <p:nvPr/>
            </p:nvSpPr>
            <p:spPr bwMode="auto">
              <a:xfrm>
                <a:off x="0" y="1979"/>
                <a:ext cx="431" cy="288"/>
              </a:xfrm>
              <a:prstGeom prst="rect">
                <a:avLst/>
              </a:prstGeom>
              <a:noFill/>
              <a:ln w="9525">
                <a:noFill/>
                <a:miter lim="800000"/>
              </a:ln>
            </p:spPr>
            <p:txBody>
              <a:bodyPr>
                <a:spAutoFit/>
              </a:bodyPr>
              <a:lstStyle/>
              <a:p>
                <a:pPr fontAlgn="base">
                  <a:spcBef>
                    <a:spcPct val="50000"/>
                  </a:spcBef>
                  <a:spcAft>
                    <a:spcPct val="0"/>
                  </a:spcAft>
                </a:pPr>
                <a:r>
                  <a:rPr lang="en-US" altLang="zh-CN" sz="2400">
                    <a:solidFill>
                      <a:srgbClr val="000000"/>
                    </a:solidFill>
                  </a:rPr>
                  <a:t> </a:t>
                </a:r>
                <a:r>
                  <a:rPr lang="en-US" altLang="zh-CN" sz="2400">
                    <a:solidFill>
                      <a:srgbClr val="000000"/>
                    </a:solidFill>
                    <a:latin typeface="Monotype Corsiva" panose="03010101010201010101" pitchFamily="66" charset="0"/>
                  </a:rPr>
                  <a:t>v</a:t>
                </a:r>
                <a:r>
                  <a:rPr lang="en-US" altLang="zh-CN" sz="2400" baseline="-25000">
                    <a:solidFill>
                      <a:srgbClr val="000000"/>
                    </a:solidFill>
                  </a:rPr>
                  <a:t>s</a:t>
                </a:r>
                <a:endParaRPr lang="en-US" altLang="zh-CN" sz="2400">
                  <a:solidFill>
                    <a:srgbClr val="000000"/>
                  </a:solidFill>
                </a:endParaRPr>
              </a:p>
            </p:txBody>
          </p:sp>
          <p:grpSp>
            <p:nvGrpSpPr>
              <p:cNvPr id="4" name="Group 6"/>
              <p:cNvGrpSpPr/>
              <p:nvPr/>
            </p:nvGrpSpPr>
            <p:grpSpPr bwMode="auto">
              <a:xfrm>
                <a:off x="340" y="1480"/>
                <a:ext cx="5758" cy="2204"/>
                <a:chOff x="340" y="1480"/>
                <a:chExt cx="5758" cy="2204"/>
              </a:xfrm>
            </p:grpSpPr>
            <p:sp>
              <p:nvSpPr>
                <p:cNvPr id="56329" name="Line 7"/>
                <p:cNvSpPr>
                  <a:spLocks noChangeShapeType="1"/>
                </p:cNvSpPr>
                <p:nvPr/>
              </p:nvSpPr>
              <p:spPr bwMode="auto">
                <a:xfrm>
                  <a:off x="2426" y="1570"/>
                  <a:ext cx="0" cy="1089"/>
                </a:xfrm>
                <a:prstGeom prst="line">
                  <a:avLst/>
                </a:prstGeom>
                <a:no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5" name="Group 8"/>
                <p:cNvGrpSpPr/>
                <p:nvPr/>
              </p:nvGrpSpPr>
              <p:grpSpPr bwMode="auto">
                <a:xfrm>
                  <a:off x="340" y="1480"/>
                  <a:ext cx="5758" cy="2204"/>
                  <a:chOff x="340" y="2431"/>
                  <a:chExt cx="5758" cy="2204"/>
                </a:xfrm>
              </p:grpSpPr>
              <p:grpSp>
                <p:nvGrpSpPr>
                  <p:cNvPr id="6" name="Group 9"/>
                  <p:cNvGrpSpPr/>
                  <p:nvPr/>
                </p:nvGrpSpPr>
                <p:grpSpPr bwMode="auto">
                  <a:xfrm>
                    <a:off x="340" y="2431"/>
                    <a:ext cx="5012" cy="1422"/>
                    <a:chOff x="340" y="2431"/>
                    <a:chExt cx="5012" cy="1422"/>
                  </a:xfrm>
                </p:grpSpPr>
                <p:grpSp>
                  <p:nvGrpSpPr>
                    <p:cNvPr id="7" name="Group 10"/>
                    <p:cNvGrpSpPr/>
                    <p:nvPr/>
                  </p:nvGrpSpPr>
                  <p:grpSpPr bwMode="auto">
                    <a:xfrm>
                      <a:off x="340" y="2431"/>
                      <a:ext cx="2557" cy="1225"/>
                      <a:chOff x="340" y="2431"/>
                      <a:chExt cx="2557" cy="1225"/>
                    </a:xfrm>
                  </p:grpSpPr>
                  <p:sp>
                    <p:nvSpPr>
                      <p:cNvPr id="56343" name="Text Box 11"/>
                      <p:cNvSpPr txBox="1">
                        <a:spLocks noChangeArrowheads="1"/>
                      </p:cNvSpPr>
                      <p:nvPr/>
                    </p:nvSpPr>
                    <p:spPr bwMode="auto">
                      <a:xfrm>
                        <a:off x="2444" y="3022"/>
                        <a:ext cx="453" cy="250"/>
                      </a:xfrm>
                      <a:prstGeom prst="rect">
                        <a:avLst/>
                      </a:prstGeom>
                      <a:noFill/>
                      <a:ln w="9525" algn="ctr">
                        <a:noFill/>
                        <a:miter lim="800000"/>
                      </a:ln>
                    </p:spPr>
                    <p:txBody>
                      <a:bodyPr>
                        <a:spAutoFit/>
                      </a:bodyPr>
                      <a:lstStyle/>
                      <a:p>
                        <a:pPr algn="ctr" fontAlgn="base">
                          <a:spcBef>
                            <a:spcPct val="50000"/>
                          </a:spcBef>
                          <a:spcAft>
                            <a:spcPct val="0"/>
                          </a:spcAft>
                        </a:pPr>
                        <a:r>
                          <a:rPr lang="en-US" altLang="zh-CN" sz="2000" i="1" dirty="0">
                            <a:solidFill>
                              <a:srgbClr val="000000"/>
                            </a:solidFill>
                          </a:rPr>
                          <a:t>R</a:t>
                        </a:r>
                        <a:r>
                          <a:rPr lang="en-US" altLang="zh-CN" sz="2000" i="1" baseline="-25000" dirty="0">
                            <a:solidFill>
                              <a:srgbClr val="000000"/>
                            </a:solidFill>
                          </a:rPr>
                          <a:t>L</a:t>
                        </a:r>
                        <a:endParaRPr lang="en-US" altLang="zh-CN" sz="2000" i="1" dirty="0">
                          <a:solidFill>
                            <a:srgbClr val="000000"/>
                          </a:solidFill>
                        </a:endParaRPr>
                      </a:p>
                    </p:txBody>
                  </p:sp>
                  <p:grpSp>
                    <p:nvGrpSpPr>
                      <p:cNvPr id="8" name="Group 12"/>
                      <p:cNvGrpSpPr/>
                      <p:nvPr/>
                    </p:nvGrpSpPr>
                    <p:grpSpPr bwMode="auto">
                      <a:xfrm>
                        <a:off x="340" y="2431"/>
                        <a:ext cx="2268" cy="1225"/>
                        <a:chOff x="340" y="2431"/>
                        <a:chExt cx="2268" cy="1225"/>
                      </a:xfrm>
                    </p:grpSpPr>
                    <p:sp>
                      <p:nvSpPr>
                        <p:cNvPr id="56345" name="Line 13"/>
                        <p:cNvSpPr>
                          <a:spLocks noChangeShapeType="1"/>
                        </p:cNvSpPr>
                        <p:nvPr/>
                      </p:nvSpPr>
                      <p:spPr bwMode="auto">
                        <a:xfrm>
                          <a:off x="521" y="2523"/>
                          <a:ext cx="1905" cy="0"/>
                        </a:xfrm>
                        <a:prstGeom prst="line">
                          <a:avLst/>
                        </a:prstGeom>
                        <a:no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46" name="Line 14"/>
                        <p:cNvSpPr>
                          <a:spLocks noChangeShapeType="1"/>
                        </p:cNvSpPr>
                        <p:nvPr/>
                      </p:nvSpPr>
                      <p:spPr bwMode="auto">
                        <a:xfrm>
                          <a:off x="521" y="2523"/>
                          <a:ext cx="0" cy="1089"/>
                        </a:xfrm>
                        <a:prstGeom prst="line">
                          <a:avLst/>
                        </a:prstGeom>
                        <a:no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47" name="Line 15"/>
                        <p:cNvSpPr>
                          <a:spLocks noChangeShapeType="1"/>
                        </p:cNvSpPr>
                        <p:nvPr/>
                      </p:nvSpPr>
                      <p:spPr bwMode="auto">
                        <a:xfrm>
                          <a:off x="521" y="3612"/>
                          <a:ext cx="1905" cy="0"/>
                        </a:xfrm>
                        <a:prstGeom prst="line">
                          <a:avLst/>
                        </a:prstGeom>
                        <a:noFill/>
                        <a:ln w="9525">
                          <a:solidFill>
                            <a:schemeClr val="tx1"/>
                          </a:solidFill>
                          <a:round/>
                        </a:ln>
                      </p:spPr>
                      <p:txBody>
                        <a:bodyP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6348" name="Picture 16"/>
                        <p:cNvPicPr>
                          <a:picLocks noChangeAspect="1" noChangeArrowheads="1"/>
                        </p:cNvPicPr>
                        <p:nvPr/>
                      </p:nvPicPr>
                      <p:blipFill>
                        <a:blip r:embed="rId2" cstate="print"/>
                        <a:srcRect/>
                        <a:stretch>
                          <a:fillRect/>
                        </a:stretch>
                      </p:blipFill>
                      <p:spPr bwMode="auto">
                        <a:xfrm>
                          <a:off x="340" y="2931"/>
                          <a:ext cx="362" cy="362"/>
                        </a:xfrm>
                        <a:prstGeom prst="rect">
                          <a:avLst/>
                        </a:prstGeom>
                        <a:noFill/>
                        <a:ln w="9525">
                          <a:noFill/>
                          <a:miter lim="800000"/>
                          <a:headEnd/>
                          <a:tailEnd/>
                        </a:ln>
                      </p:spPr>
                    </p:pic>
                    <p:sp>
                      <p:nvSpPr>
                        <p:cNvPr id="56349" name="Oval 17"/>
                        <p:cNvSpPr>
                          <a:spLocks noChangeArrowheads="1"/>
                        </p:cNvSpPr>
                        <p:nvPr/>
                      </p:nvSpPr>
                      <p:spPr bwMode="auto">
                        <a:xfrm>
                          <a:off x="1837" y="2478"/>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6350" name="Oval 18"/>
                        <p:cNvSpPr>
                          <a:spLocks noChangeArrowheads="1"/>
                        </p:cNvSpPr>
                        <p:nvPr/>
                      </p:nvSpPr>
                      <p:spPr bwMode="auto">
                        <a:xfrm>
                          <a:off x="1837" y="3566"/>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pic>
                      <p:nvPicPr>
                        <p:cNvPr id="56351" name="Picture 19"/>
                        <p:cNvPicPr>
                          <a:picLocks noChangeAspect="1" noChangeArrowheads="1"/>
                        </p:cNvPicPr>
                        <p:nvPr/>
                      </p:nvPicPr>
                      <p:blipFill>
                        <a:blip r:embed="rId3" cstate="print"/>
                        <a:srcRect/>
                        <a:stretch>
                          <a:fillRect/>
                        </a:stretch>
                      </p:blipFill>
                      <p:spPr bwMode="auto">
                        <a:xfrm>
                          <a:off x="1791" y="2614"/>
                          <a:ext cx="192" cy="192"/>
                        </a:xfrm>
                        <a:prstGeom prst="rect">
                          <a:avLst/>
                        </a:prstGeom>
                        <a:noFill/>
                        <a:ln w="9525" algn="ctr">
                          <a:noFill/>
                          <a:miter lim="800000"/>
                          <a:headEnd/>
                          <a:tailEnd/>
                        </a:ln>
                      </p:spPr>
                    </p:pic>
                    <p:pic>
                      <p:nvPicPr>
                        <p:cNvPr id="56352" name="Picture 20"/>
                        <p:cNvPicPr>
                          <a:picLocks noChangeAspect="1" noChangeArrowheads="1"/>
                        </p:cNvPicPr>
                        <p:nvPr/>
                      </p:nvPicPr>
                      <p:blipFill>
                        <a:blip r:embed="rId4" cstate="print"/>
                        <a:srcRect/>
                        <a:stretch>
                          <a:fillRect/>
                        </a:stretch>
                      </p:blipFill>
                      <p:spPr bwMode="auto">
                        <a:xfrm>
                          <a:off x="1791" y="3430"/>
                          <a:ext cx="204" cy="54"/>
                        </a:xfrm>
                        <a:prstGeom prst="rect">
                          <a:avLst/>
                        </a:prstGeom>
                        <a:noFill/>
                        <a:ln w="9525" algn="ctr">
                          <a:noFill/>
                          <a:miter lim="800000"/>
                          <a:headEnd/>
                          <a:tailEnd/>
                        </a:ln>
                      </p:spPr>
                    </p:pic>
                    <p:sp>
                      <p:nvSpPr>
                        <p:cNvPr id="56353" name="Text Box 21"/>
                        <p:cNvSpPr txBox="1">
                          <a:spLocks noChangeArrowheads="1"/>
                        </p:cNvSpPr>
                        <p:nvPr/>
                      </p:nvSpPr>
                      <p:spPr bwMode="auto">
                        <a:xfrm>
                          <a:off x="1746" y="2931"/>
                          <a:ext cx="363" cy="288"/>
                        </a:xfrm>
                        <a:prstGeom prst="rect">
                          <a:avLst/>
                        </a:prstGeom>
                        <a:noFill/>
                        <a:ln w="9525" algn="ctr">
                          <a:noFill/>
                          <a:miter lim="800000"/>
                        </a:ln>
                      </p:spPr>
                      <p:txBody>
                        <a:bodyPr>
                          <a:spAutoFit/>
                        </a:bodyPr>
                        <a:lstStyle/>
                        <a:p>
                          <a:pPr algn="ctr" fontAlgn="base">
                            <a:spcBef>
                              <a:spcPct val="50000"/>
                            </a:spcBef>
                            <a:spcAft>
                              <a:spcPct val="0"/>
                            </a:spcAft>
                          </a:pPr>
                          <a:r>
                            <a:rPr lang="en-US" altLang="zh-CN" sz="2400">
                              <a:solidFill>
                                <a:srgbClr val="000000"/>
                              </a:solidFill>
                            </a:rPr>
                            <a:t>v</a:t>
                          </a:r>
                          <a:r>
                            <a:rPr lang="en-US" altLang="zh-CN" sz="2400" baseline="-25000">
                              <a:solidFill>
                                <a:srgbClr val="000000"/>
                              </a:solidFill>
                            </a:rPr>
                            <a:t>L</a:t>
                          </a:r>
                          <a:endParaRPr lang="en-US" altLang="zh-CN" sz="2400">
                            <a:solidFill>
                              <a:srgbClr val="000000"/>
                            </a:solidFill>
                          </a:endParaRPr>
                        </a:p>
                      </p:txBody>
                    </p:sp>
                    <p:pic>
                      <p:nvPicPr>
                        <p:cNvPr id="56354" name="Picture 22"/>
                        <p:cNvPicPr>
                          <a:picLocks noChangeAspect="1" noChangeArrowheads="1"/>
                        </p:cNvPicPr>
                        <p:nvPr/>
                      </p:nvPicPr>
                      <p:blipFill>
                        <a:blip r:embed="rId5" cstate="print"/>
                        <a:srcRect/>
                        <a:stretch>
                          <a:fillRect/>
                        </a:stretch>
                      </p:blipFill>
                      <p:spPr bwMode="auto">
                        <a:xfrm>
                          <a:off x="2336" y="2840"/>
                          <a:ext cx="200" cy="584"/>
                        </a:xfrm>
                        <a:prstGeom prst="rect">
                          <a:avLst/>
                        </a:prstGeom>
                        <a:noFill/>
                        <a:ln w="9525" algn="ctr">
                          <a:noFill/>
                          <a:miter lim="800000"/>
                          <a:headEnd/>
                          <a:tailEnd/>
                        </a:ln>
                      </p:spPr>
                    </p:pic>
                    <p:sp>
                      <p:nvSpPr>
                        <p:cNvPr id="56355" name="Line 23"/>
                        <p:cNvSpPr>
                          <a:spLocks noChangeShapeType="1"/>
                        </p:cNvSpPr>
                        <p:nvPr/>
                      </p:nvSpPr>
                      <p:spPr bwMode="auto">
                        <a:xfrm flipV="1">
                          <a:off x="2290" y="2931"/>
                          <a:ext cx="318" cy="408"/>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6356" name="Picture 24"/>
                        <p:cNvPicPr>
                          <a:picLocks noChangeAspect="1" noChangeArrowheads="1"/>
                        </p:cNvPicPr>
                        <p:nvPr/>
                      </p:nvPicPr>
                      <p:blipFill>
                        <a:blip r:embed="rId5" cstate="print"/>
                        <a:srcRect/>
                        <a:stretch>
                          <a:fillRect/>
                        </a:stretch>
                      </p:blipFill>
                      <p:spPr bwMode="auto">
                        <a:xfrm rot="-5400000">
                          <a:off x="987" y="2237"/>
                          <a:ext cx="202" cy="590"/>
                        </a:xfrm>
                        <a:prstGeom prst="rect">
                          <a:avLst/>
                        </a:prstGeom>
                        <a:noFill/>
                        <a:ln w="9525" algn="ctr">
                          <a:noFill/>
                          <a:miter lim="800000"/>
                          <a:headEnd/>
                          <a:tailEnd/>
                        </a:ln>
                      </p:spPr>
                    </p:pic>
                    <p:sp>
                      <p:nvSpPr>
                        <p:cNvPr id="56357" name="Text Box 25"/>
                        <p:cNvSpPr txBox="1">
                          <a:spLocks noChangeArrowheads="1"/>
                        </p:cNvSpPr>
                        <p:nvPr/>
                      </p:nvSpPr>
                      <p:spPr bwMode="auto">
                        <a:xfrm>
                          <a:off x="884" y="2659"/>
                          <a:ext cx="453"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000" i="1" baseline="-25000">
                              <a:solidFill>
                                <a:srgbClr val="000000"/>
                              </a:solidFill>
                            </a:rPr>
                            <a:t>S</a:t>
                          </a:r>
                          <a:endParaRPr lang="en-US" altLang="zh-CN" sz="2000" i="1">
                            <a:solidFill>
                              <a:srgbClr val="000000"/>
                            </a:solidFill>
                          </a:endParaRPr>
                        </a:p>
                      </p:txBody>
                    </p:sp>
                  </p:grpSp>
                </p:grpSp>
                <p:grpSp>
                  <p:nvGrpSpPr>
                    <p:cNvPr id="9" name="Group 26"/>
                    <p:cNvGrpSpPr/>
                    <p:nvPr/>
                  </p:nvGrpSpPr>
                  <p:grpSpPr bwMode="auto">
                    <a:xfrm>
                      <a:off x="3379" y="2432"/>
                      <a:ext cx="1973" cy="1421"/>
                      <a:chOff x="3379" y="2432"/>
                      <a:chExt cx="1973" cy="1421"/>
                    </a:xfrm>
                  </p:grpSpPr>
                  <p:sp>
                    <p:nvSpPr>
                      <p:cNvPr id="56335" name="Text Box 27"/>
                      <p:cNvSpPr txBox="1">
                        <a:spLocks noChangeArrowheads="1"/>
                      </p:cNvSpPr>
                      <p:nvPr/>
                    </p:nvSpPr>
                    <p:spPr bwMode="auto">
                      <a:xfrm>
                        <a:off x="4899" y="3603"/>
                        <a:ext cx="453"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dirty="0">
                            <a:solidFill>
                              <a:srgbClr val="000000"/>
                            </a:solidFill>
                          </a:rPr>
                          <a:t>R</a:t>
                        </a:r>
                        <a:r>
                          <a:rPr lang="en-US" altLang="zh-CN" sz="2000" i="1" baseline="-25000" dirty="0">
                            <a:solidFill>
                              <a:srgbClr val="000000"/>
                            </a:solidFill>
                          </a:rPr>
                          <a:t>L</a:t>
                        </a:r>
                        <a:endParaRPr lang="en-US" altLang="zh-CN" sz="2000" i="1" dirty="0">
                          <a:solidFill>
                            <a:srgbClr val="000000"/>
                          </a:solidFill>
                        </a:endParaRPr>
                      </a:p>
                    </p:txBody>
                  </p:sp>
                  <p:grpSp>
                    <p:nvGrpSpPr>
                      <p:cNvPr id="10" name="Group 28"/>
                      <p:cNvGrpSpPr/>
                      <p:nvPr/>
                    </p:nvGrpSpPr>
                    <p:grpSpPr bwMode="auto">
                      <a:xfrm>
                        <a:off x="3379" y="2432"/>
                        <a:ext cx="1814" cy="1180"/>
                        <a:chOff x="3379" y="2432"/>
                        <a:chExt cx="1814" cy="1180"/>
                      </a:xfrm>
                    </p:grpSpPr>
                    <p:sp>
                      <p:nvSpPr>
                        <p:cNvPr id="56337" name="Line 29"/>
                        <p:cNvSpPr>
                          <a:spLocks noChangeShapeType="1"/>
                        </p:cNvSpPr>
                        <p:nvPr/>
                      </p:nvSpPr>
                      <p:spPr bwMode="auto">
                        <a:xfrm flipV="1">
                          <a:off x="3379" y="2432"/>
                          <a:ext cx="0" cy="118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38" name="Line 30"/>
                        <p:cNvSpPr>
                          <a:spLocks noChangeShapeType="1"/>
                        </p:cNvSpPr>
                        <p:nvPr/>
                      </p:nvSpPr>
                      <p:spPr bwMode="auto">
                        <a:xfrm>
                          <a:off x="3379" y="3612"/>
                          <a:ext cx="1724"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39" name="Line 31"/>
                        <p:cNvSpPr>
                          <a:spLocks noChangeShapeType="1"/>
                        </p:cNvSpPr>
                        <p:nvPr/>
                      </p:nvSpPr>
                      <p:spPr bwMode="auto">
                        <a:xfrm>
                          <a:off x="3379" y="2750"/>
                          <a:ext cx="1814" cy="0"/>
                        </a:xfrm>
                        <a:prstGeom prst="line">
                          <a:avLst/>
                        </a:prstGeom>
                        <a:noFill/>
                        <a:ln w="9525">
                          <a:solidFill>
                            <a:schemeClr val="tx1"/>
                          </a:solidFill>
                          <a:prstDash val="dash"/>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40" name="Text Box 32"/>
                        <p:cNvSpPr txBox="1">
                          <a:spLocks noChangeArrowheads="1"/>
                        </p:cNvSpPr>
                        <p:nvPr/>
                      </p:nvSpPr>
                      <p:spPr bwMode="auto">
                        <a:xfrm>
                          <a:off x="3787" y="2523"/>
                          <a:ext cx="1134" cy="231"/>
                        </a:xfrm>
                        <a:prstGeom prst="rect">
                          <a:avLst/>
                        </a:prstGeom>
                        <a:noFill/>
                        <a:ln w="9525" algn="ctr">
                          <a:noFill/>
                          <a:miter lim="800000"/>
                        </a:ln>
                      </p:spPr>
                      <p:txBody>
                        <a:bodyPr>
                          <a:spAutoFit/>
                        </a:bodyPr>
                        <a:lstStyle/>
                        <a:p>
                          <a:pPr algn="ctr" fontAlgn="base">
                            <a:spcBef>
                              <a:spcPct val="50000"/>
                            </a:spcBef>
                            <a:spcAft>
                              <a:spcPct val="0"/>
                            </a:spcAft>
                          </a:pPr>
                          <a:r>
                            <a:rPr lang="zh-CN" altLang="en-US">
                              <a:solidFill>
                                <a:srgbClr val="000000"/>
                              </a:solidFill>
                            </a:rPr>
                            <a:t>理想源</a:t>
                          </a:r>
                          <a:endParaRPr lang="en-US" altLang="zh-CN">
                            <a:solidFill>
                              <a:srgbClr val="000000"/>
                            </a:solidFill>
                          </a:endParaRPr>
                        </a:p>
                      </p:txBody>
                    </p:sp>
                    <p:sp>
                      <p:nvSpPr>
                        <p:cNvPr id="56341" name="Freeform 33"/>
                        <p:cNvSpPr/>
                        <p:nvPr/>
                      </p:nvSpPr>
                      <p:spPr bwMode="auto">
                        <a:xfrm>
                          <a:off x="3379" y="2780"/>
                          <a:ext cx="1769" cy="832"/>
                        </a:xfrm>
                        <a:custGeom>
                          <a:avLst/>
                          <a:gdLst>
                            <a:gd name="T0" fmla="*/ 0 w 1769"/>
                            <a:gd name="T1" fmla="*/ 832 h 832"/>
                            <a:gd name="T2" fmla="*/ 272 w 1769"/>
                            <a:gd name="T3" fmla="*/ 378 h 832"/>
                            <a:gd name="T4" fmla="*/ 680 w 1769"/>
                            <a:gd name="T5" fmla="*/ 106 h 832"/>
                            <a:gd name="T6" fmla="*/ 1225 w 1769"/>
                            <a:gd name="T7" fmla="*/ 15 h 832"/>
                            <a:gd name="T8" fmla="*/ 1769 w 1769"/>
                            <a:gd name="T9" fmla="*/ 15 h 832"/>
                            <a:gd name="T10" fmla="*/ 0 60000 65536"/>
                            <a:gd name="T11" fmla="*/ 0 60000 65536"/>
                            <a:gd name="T12" fmla="*/ 0 60000 65536"/>
                            <a:gd name="T13" fmla="*/ 0 60000 65536"/>
                            <a:gd name="T14" fmla="*/ 0 60000 65536"/>
                            <a:gd name="T15" fmla="*/ 0 w 1769"/>
                            <a:gd name="T16" fmla="*/ 0 h 832"/>
                            <a:gd name="T17" fmla="*/ 1769 w 1769"/>
                            <a:gd name="T18" fmla="*/ 832 h 832"/>
                          </a:gdLst>
                          <a:ahLst/>
                          <a:cxnLst>
                            <a:cxn ang="T10">
                              <a:pos x="T0" y="T1"/>
                            </a:cxn>
                            <a:cxn ang="T11">
                              <a:pos x="T2" y="T3"/>
                            </a:cxn>
                            <a:cxn ang="T12">
                              <a:pos x="T4" y="T5"/>
                            </a:cxn>
                            <a:cxn ang="T13">
                              <a:pos x="T6" y="T7"/>
                            </a:cxn>
                            <a:cxn ang="T14">
                              <a:pos x="T8" y="T9"/>
                            </a:cxn>
                          </a:cxnLst>
                          <a:rect l="T15" t="T16" r="T17" b="T18"/>
                          <a:pathLst>
                            <a:path w="1769" h="832">
                              <a:moveTo>
                                <a:pt x="0" y="832"/>
                              </a:moveTo>
                              <a:cubicBezTo>
                                <a:pt x="79" y="665"/>
                                <a:pt x="159" y="499"/>
                                <a:pt x="272" y="378"/>
                              </a:cubicBezTo>
                              <a:cubicBezTo>
                                <a:pt x="385" y="257"/>
                                <a:pt x="521" y="166"/>
                                <a:pt x="680" y="106"/>
                              </a:cubicBezTo>
                              <a:cubicBezTo>
                                <a:pt x="839" y="46"/>
                                <a:pt x="1043" y="30"/>
                                <a:pt x="1225" y="15"/>
                              </a:cubicBezTo>
                              <a:cubicBezTo>
                                <a:pt x="1407" y="0"/>
                                <a:pt x="1678" y="15"/>
                                <a:pt x="1769" y="15"/>
                              </a:cubicBezTo>
                            </a:path>
                          </a:pathLst>
                        </a:cu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6342" name="Text Box 34"/>
                        <p:cNvSpPr txBox="1">
                          <a:spLocks noChangeArrowheads="1"/>
                        </p:cNvSpPr>
                        <p:nvPr/>
                      </p:nvSpPr>
                      <p:spPr bwMode="auto">
                        <a:xfrm>
                          <a:off x="3518" y="3008"/>
                          <a:ext cx="1224" cy="231"/>
                        </a:xfrm>
                        <a:prstGeom prst="rect">
                          <a:avLst/>
                        </a:prstGeom>
                        <a:noFill/>
                        <a:ln w="9525" algn="ctr">
                          <a:noFill/>
                          <a:miter lim="800000"/>
                        </a:ln>
                      </p:spPr>
                      <p:txBody>
                        <a:bodyPr>
                          <a:spAutoFit/>
                        </a:bodyPr>
                        <a:lstStyle/>
                        <a:p>
                          <a:pPr algn="ctr" fontAlgn="base">
                            <a:spcBef>
                              <a:spcPct val="50000"/>
                            </a:spcBef>
                            <a:spcAft>
                              <a:spcPct val="0"/>
                            </a:spcAft>
                          </a:pPr>
                          <a:r>
                            <a:rPr lang="zh-CN" altLang="en-US" dirty="0">
                              <a:solidFill>
                                <a:srgbClr val="000000"/>
                              </a:solidFill>
                            </a:rPr>
                            <a:t>实际源</a:t>
                          </a:r>
                          <a:endParaRPr lang="en-US" altLang="zh-CN" dirty="0">
                            <a:solidFill>
                              <a:srgbClr val="000000"/>
                            </a:solidFill>
                          </a:endParaRPr>
                        </a:p>
                      </p:txBody>
                    </p:sp>
                  </p:grpSp>
                </p:grpSp>
              </p:grpSp>
              <p:sp>
                <p:nvSpPr>
                  <p:cNvPr id="56332" name="Text Box 35"/>
                  <p:cNvSpPr txBox="1">
                    <a:spLocks noChangeArrowheads="1"/>
                  </p:cNvSpPr>
                  <p:nvPr/>
                </p:nvSpPr>
                <p:spPr bwMode="auto">
                  <a:xfrm>
                    <a:off x="1471" y="3879"/>
                    <a:ext cx="4627" cy="756"/>
                  </a:xfrm>
                  <a:prstGeom prst="rect">
                    <a:avLst/>
                  </a:prstGeom>
                  <a:noFill/>
                  <a:ln w="9525" algn="ctr">
                    <a:noFill/>
                    <a:miter lim="800000"/>
                  </a:ln>
                </p:spPr>
                <p:txBody>
                  <a:bodyPr>
                    <a:spAutoFit/>
                  </a:bodyPr>
                  <a:lstStyle/>
                  <a:p>
                    <a:pPr algn="ctr" fontAlgn="base">
                      <a:spcBef>
                        <a:spcPct val="50000"/>
                      </a:spcBef>
                      <a:spcAft>
                        <a:spcPct val="0"/>
                      </a:spcAft>
                    </a:pPr>
                    <a:endParaRPr lang="en-US" altLang="zh-CN" dirty="0">
                      <a:solidFill>
                        <a:srgbClr val="000000"/>
                      </a:solidFill>
                    </a:endParaRPr>
                  </a:p>
                  <a:p>
                    <a:pPr algn="ctr" fontAlgn="base">
                      <a:spcBef>
                        <a:spcPct val="50000"/>
                      </a:spcBef>
                      <a:spcAft>
                        <a:spcPct val="0"/>
                      </a:spcAft>
                      <a:buFont typeface="Wingdings" panose="05000000000000000000" pitchFamily="2" charset="2"/>
                      <a:buNone/>
                    </a:pPr>
                    <a:r>
                      <a:rPr lang="en-US" altLang="zh-CN" dirty="0">
                        <a:solidFill>
                          <a:srgbClr val="000000"/>
                        </a:solidFill>
                      </a:rPr>
                      <a:t>                          </a:t>
                    </a:r>
                    <a:r>
                      <a:rPr lang="zh-CN" altLang="en-US" b="1" dirty="0">
                        <a:solidFill>
                          <a:srgbClr val="000000"/>
                        </a:solidFill>
                      </a:rPr>
                      <a:t>负载电压随着</a:t>
                    </a:r>
                    <a:r>
                      <a:rPr lang="en-US" altLang="zh-CN" b="1" i="1" dirty="0">
                        <a:solidFill>
                          <a:srgbClr val="000000"/>
                        </a:solidFill>
                      </a:rPr>
                      <a:t>R</a:t>
                    </a:r>
                    <a:r>
                      <a:rPr lang="en-US" altLang="zh-CN" b="1" i="1" baseline="-25000" dirty="0">
                        <a:solidFill>
                          <a:srgbClr val="000000"/>
                        </a:solidFill>
                      </a:rPr>
                      <a:t>L</a:t>
                    </a:r>
                    <a:r>
                      <a:rPr lang="zh-CN" altLang="en-US" b="1" dirty="0">
                        <a:solidFill>
                          <a:srgbClr val="000000"/>
                        </a:solidFill>
                      </a:rPr>
                      <a:t>的减小而减小</a:t>
                    </a:r>
                  </a:p>
                  <a:p>
                    <a:pPr algn="ctr" fontAlgn="base">
                      <a:spcBef>
                        <a:spcPct val="50000"/>
                      </a:spcBef>
                      <a:spcAft>
                        <a:spcPct val="0"/>
                      </a:spcAft>
                    </a:pPr>
                    <a:r>
                      <a:rPr lang="en-US" altLang="zh-CN" dirty="0">
                        <a:solidFill>
                          <a:srgbClr val="000000"/>
                        </a:solidFill>
                      </a:rPr>
                      <a:t> </a:t>
                    </a:r>
                  </a:p>
                </p:txBody>
              </p:sp>
            </p:grpSp>
          </p:grpSp>
        </p:grpSp>
        <p:sp>
          <p:nvSpPr>
            <p:cNvPr id="56325" name="Text Box 36"/>
            <p:cNvSpPr txBox="1">
              <a:spLocks noChangeArrowheads="1"/>
            </p:cNvSpPr>
            <p:nvPr/>
          </p:nvSpPr>
          <p:spPr bwMode="auto">
            <a:xfrm>
              <a:off x="3152" y="2568"/>
              <a:ext cx="227" cy="231"/>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0</a:t>
              </a:r>
            </a:p>
          </p:txBody>
        </p:sp>
        <p:sp>
          <p:nvSpPr>
            <p:cNvPr id="56326" name="Text Box 37"/>
            <p:cNvSpPr txBox="1">
              <a:spLocks noChangeArrowheads="1"/>
            </p:cNvSpPr>
            <p:nvPr/>
          </p:nvSpPr>
          <p:spPr bwMode="auto">
            <a:xfrm>
              <a:off x="3073" y="1269"/>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dirty="0" err="1">
                  <a:solidFill>
                    <a:srgbClr val="000000"/>
                  </a:solidFill>
                  <a:latin typeface="Monotype Corsiva" panose="03010101010201010101" pitchFamily="66" charset="0"/>
                </a:rPr>
                <a:t>v</a:t>
              </a:r>
              <a:r>
                <a:rPr lang="en-US" altLang="zh-CN" sz="2400" baseline="-25000" dirty="0" err="1">
                  <a:solidFill>
                    <a:srgbClr val="000000"/>
                  </a:solidFill>
                </a:rPr>
                <a:t>L</a:t>
              </a:r>
              <a:endParaRPr lang="en-US" altLang="zh-CN" dirty="0">
                <a:solidFill>
                  <a:srgbClr val="000000"/>
                </a:solidFill>
              </a:endParaRPr>
            </a:p>
          </p:txBody>
        </p:sp>
      </p:grpSp>
      <p:sp>
        <p:nvSpPr>
          <p:cNvPr id="11" name="灯片编号占位符 10"/>
          <p:cNvSpPr>
            <a:spLocks noGrp="1"/>
          </p:cNvSpPr>
          <p:nvPr>
            <p:ph type="sldNum" sz="quarter" idx="11"/>
          </p:nvPr>
        </p:nvSpPr>
        <p:spPr/>
        <p:txBody>
          <a:bodyPr/>
          <a:lstStyle/>
          <a:p>
            <a:pPr>
              <a:defRPr/>
            </a:pPr>
            <a:fld id="{939C9064-C0EA-4A07-ACBE-489AD4D1ABAD}" type="slidenum">
              <a:rPr lang="en-US" altLang="zh-CN" smtClean="0">
                <a:solidFill>
                  <a:srgbClr val="000000"/>
                </a:solidFill>
              </a:rPr>
              <a:t>68</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3275856" y="5062565"/>
            <a:ext cx="7489825" cy="872034"/>
          </a:xfrm>
          <a:prstGeom prst="rect">
            <a:avLst/>
          </a:prstGeom>
          <a:noFill/>
          <a:ln w="9525" algn="ctr">
            <a:noFill/>
            <a:miter lim="800000"/>
          </a:ln>
        </p:spPr>
        <p:txBody>
          <a:bodyPr>
            <a:spAutoFit/>
          </a:bodyPr>
          <a:lstStyle/>
          <a:p>
            <a:pPr algn="ctr" fontAlgn="base">
              <a:lnSpc>
                <a:spcPct val="150000"/>
              </a:lnSpc>
              <a:spcBef>
                <a:spcPct val="0"/>
              </a:spcBef>
              <a:spcAft>
                <a:spcPct val="0"/>
              </a:spcAft>
            </a:pPr>
            <a:r>
              <a:rPr lang="zh-CN" altLang="en-US" b="1" dirty="0">
                <a:solidFill>
                  <a:srgbClr val="000000"/>
                </a:solidFill>
              </a:rPr>
              <a:t>负载电流随着</a:t>
            </a:r>
            <a:r>
              <a:rPr lang="en-US" altLang="zh-CN" b="1" i="1" dirty="0">
                <a:solidFill>
                  <a:srgbClr val="000000"/>
                </a:solidFill>
              </a:rPr>
              <a:t>R</a:t>
            </a:r>
            <a:r>
              <a:rPr lang="en-US" altLang="zh-CN" b="1" i="1" baseline="-25000" dirty="0">
                <a:solidFill>
                  <a:srgbClr val="000000"/>
                </a:solidFill>
              </a:rPr>
              <a:t>L</a:t>
            </a:r>
            <a:r>
              <a:rPr lang="zh-CN" altLang="en-US" b="1" dirty="0">
                <a:solidFill>
                  <a:srgbClr val="000000"/>
                </a:solidFill>
              </a:rPr>
              <a:t>的增大而减小</a:t>
            </a:r>
            <a:endParaRPr lang="en-US" altLang="zh-CN" b="1" dirty="0">
              <a:solidFill>
                <a:srgbClr val="000000"/>
              </a:solidFill>
            </a:endParaRPr>
          </a:p>
          <a:p>
            <a:pPr algn="ctr" fontAlgn="base">
              <a:lnSpc>
                <a:spcPct val="150000"/>
              </a:lnSpc>
              <a:spcBef>
                <a:spcPct val="0"/>
              </a:spcBef>
              <a:spcAft>
                <a:spcPct val="0"/>
              </a:spcAft>
            </a:pPr>
            <a:r>
              <a:rPr lang="en-US" altLang="zh-CN" dirty="0">
                <a:solidFill>
                  <a:srgbClr val="000000"/>
                </a:solidFill>
              </a:rPr>
              <a:t> </a:t>
            </a:r>
          </a:p>
        </p:txBody>
      </p:sp>
      <p:sp>
        <p:nvSpPr>
          <p:cNvPr id="57347" name="Line 4"/>
          <p:cNvSpPr>
            <a:spLocks noChangeShapeType="1"/>
          </p:cNvSpPr>
          <p:nvPr/>
        </p:nvSpPr>
        <p:spPr bwMode="auto">
          <a:xfrm>
            <a:off x="5436618" y="2349078"/>
            <a:ext cx="3240088" cy="0"/>
          </a:xfrm>
          <a:prstGeom prst="line">
            <a:avLst/>
          </a:prstGeom>
          <a:noFill/>
          <a:ln w="9525">
            <a:solidFill>
              <a:schemeClr val="tx1"/>
            </a:solidFill>
            <a:prstDash val="dash"/>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48" name="Text Box 5"/>
          <p:cNvSpPr txBox="1">
            <a:spLocks noChangeArrowheads="1"/>
          </p:cNvSpPr>
          <p:nvPr/>
        </p:nvSpPr>
        <p:spPr bwMode="auto">
          <a:xfrm>
            <a:off x="5155631" y="3987604"/>
            <a:ext cx="287337" cy="366712"/>
          </a:xfrm>
          <a:prstGeom prst="rect">
            <a:avLst/>
          </a:prstGeom>
          <a:noFill/>
          <a:ln w="9525" algn="ctr">
            <a:noFill/>
            <a:miter lim="800000"/>
          </a:ln>
        </p:spPr>
        <p:txBody>
          <a:bodyPr wrap="square">
            <a:spAutoFit/>
          </a:bodyPr>
          <a:lstStyle/>
          <a:p>
            <a:pPr algn="ctr" fontAlgn="base">
              <a:spcBef>
                <a:spcPct val="50000"/>
              </a:spcBef>
              <a:spcAft>
                <a:spcPct val="0"/>
              </a:spcAft>
            </a:pPr>
            <a:r>
              <a:rPr lang="en-US" altLang="zh-CN" dirty="0">
                <a:solidFill>
                  <a:srgbClr val="000000"/>
                </a:solidFill>
              </a:rPr>
              <a:t>0</a:t>
            </a:r>
          </a:p>
        </p:txBody>
      </p:sp>
      <p:grpSp>
        <p:nvGrpSpPr>
          <p:cNvPr id="2" name="Group 6"/>
          <p:cNvGrpSpPr/>
          <p:nvPr/>
        </p:nvGrpSpPr>
        <p:grpSpPr bwMode="auto">
          <a:xfrm>
            <a:off x="-108520" y="1709316"/>
            <a:ext cx="9036051" cy="2909887"/>
            <a:chOff x="0" y="532"/>
            <a:chExt cx="5692" cy="1833"/>
          </a:xfrm>
        </p:grpSpPr>
        <p:grpSp>
          <p:nvGrpSpPr>
            <p:cNvPr id="3" name="Group 7"/>
            <p:cNvGrpSpPr/>
            <p:nvPr/>
          </p:nvGrpSpPr>
          <p:grpSpPr bwMode="auto">
            <a:xfrm>
              <a:off x="0" y="572"/>
              <a:ext cx="2950" cy="1542"/>
              <a:chOff x="0" y="482"/>
              <a:chExt cx="2950" cy="1542"/>
            </a:xfrm>
          </p:grpSpPr>
          <p:grpSp>
            <p:nvGrpSpPr>
              <p:cNvPr id="4" name="Group 8"/>
              <p:cNvGrpSpPr/>
              <p:nvPr/>
            </p:nvGrpSpPr>
            <p:grpSpPr bwMode="auto">
              <a:xfrm>
                <a:off x="340" y="845"/>
                <a:ext cx="2241" cy="1179"/>
                <a:chOff x="340" y="845"/>
                <a:chExt cx="2241" cy="1179"/>
              </a:xfrm>
            </p:grpSpPr>
            <p:sp>
              <p:nvSpPr>
                <p:cNvPr id="57367" name="Line 9"/>
                <p:cNvSpPr>
                  <a:spLocks noChangeShapeType="1"/>
                </p:cNvSpPr>
                <p:nvPr/>
              </p:nvSpPr>
              <p:spPr bwMode="auto">
                <a:xfrm>
                  <a:off x="567" y="845"/>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5" name="Group 10"/>
                <p:cNvGrpSpPr/>
                <p:nvPr/>
              </p:nvGrpSpPr>
              <p:grpSpPr bwMode="auto">
                <a:xfrm>
                  <a:off x="340" y="845"/>
                  <a:ext cx="2241" cy="1179"/>
                  <a:chOff x="204" y="845"/>
                  <a:chExt cx="2241" cy="1179"/>
                </a:xfrm>
              </p:grpSpPr>
              <p:sp>
                <p:nvSpPr>
                  <p:cNvPr id="57369" name="Line 11"/>
                  <p:cNvSpPr>
                    <a:spLocks noChangeShapeType="1"/>
                  </p:cNvSpPr>
                  <p:nvPr/>
                </p:nvSpPr>
                <p:spPr bwMode="auto">
                  <a:xfrm>
                    <a:off x="431" y="845"/>
                    <a:ext cx="190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70" name="Line 12"/>
                  <p:cNvSpPr>
                    <a:spLocks noChangeShapeType="1"/>
                  </p:cNvSpPr>
                  <p:nvPr/>
                </p:nvSpPr>
                <p:spPr bwMode="auto">
                  <a:xfrm flipV="1">
                    <a:off x="431" y="2024"/>
                    <a:ext cx="190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71" name="Line 13"/>
                  <p:cNvSpPr>
                    <a:spLocks noChangeShapeType="1"/>
                  </p:cNvSpPr>
                  <p:nvPr/>
                </p:nvSpPr>
                <p:spPr bwMode="auto">
                  <a:xfrm>
                    <a:off x="1383" y="845"/>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72" name="Line 14"/>
                  <p:cNvSpPr>
                    <a:spLocks noChangeShapeType="1"/>
                  </p:cNvSpPr>
                  <p:nvPr/>
                </p:nvSpPr>
                <p:spPr bwMode="auto">
                  <a:xfrm>
                    <a:off x="2336" y="845"/>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7373" name="Picture 15"/>
                  <p:cNvPicPr>
                    <a:picLocks noChangeAspect="1" noChangeArrowheads="1"/>
                  </p:cNvPicPr>
                  <p:nvPr/>
                </p:nvPicPr>
                <p:blipFill>
                  <a:blip r:embed="rId2" cstate="print"/>
                  <a:srcRect/>
                  <a:stretch>
                    <a:fillRect/>
                  </a:stretch>
                </p:blipFill>
                <p:spPr bwMode="auto">
                  <a:xfrm>
                    <a:off x="1292" y="1162"/>
                    <a:ext cx="200" cy="584"/>
                  </a:xfrm>
                  <a:prstGeom prst="rect">
                    <a:avLst/>
                  </a:prstGeom>
                  <a:noFill/>
                  <a:ln w="9525" algn="ctr">
                    <a:noFill/>
                    <a:miter lim="800000"/>
                    <a:headEnd/>
                    <a:tailEnd/>
                  </a:ln>
                </p:spPr>
              </p:pic>
              <p:pic>
                <p:nvPicPr>
                  <p:cNvPr id="57374" name="Picture 16"/>
                  <p:cNvPicPr>
                    <a:picLocks noChangeAspect="1" noChangeArrowheads="1"/>
                  </p:cNvPicPr>
                  <p:nvPr/>
                </p:nvPicPr>
                <p:blipFill>
                  <a:blip r:embed="rId2" cstate="print"/>
                  <a:srcRect/>
                  <a:stretch>
                    <a:fillRect/>
                  </a:stretch>
                </p:blipFill>
                <p:spPr bwMode="auto">
                  <a:xfrm>
                    <a:off x="2245" y="1162"/>
                    <a:ext cx="200" cy="584"/>
                  </a:xfrm>
                  <a:prstGeom prst="rect">
                    <a:avLst/>
                  </a:prstGeom>
                  <a:noFill/>
                  <a:ln w="9525" algn="ctr">
                    <a:noFill/>
                    <a:miter lim="800000"/>
                    <a:headEnd/>
                    <a:tailEnd/>
                  </a:ln>
                </p:spPr>
              </p:pic>
              <p:pic>
                <p:nvPicPr>
                  <p:cNvPr id="57375" name="Picture 17"/>
                  <p:cNvPicPr>
                    <a:picLocks noChangeAspect="1" noChangeArrowheads="1"/>
                  </p:cNvPicPr>
                  <p:nvPr/>
                </p:nvPicPr>
                <p:blipFill>
                  <a:blip r:embed="rId3" cstate="print"/>
                  <a:srcRect/>
                  <a:stretch>
                    <a:fillRect/>
                  </a:stretch>
                </p:blipFill>
                <p:spPr bwMode="auto">
                  <a:xfrm>
                    <a:off x="204" y="1298"/>
                    <a:ext cx="436" cy="419"/>
                  </a:xfrm>
                  <a:prstGeom prst="rect">
                    <a:avLst/>
                  </a:prstGeom>
                  <a:noFill/>
                  <a:ln w="9525" algn="ctr">
                    <a:noFill/>
                    <a:miter lim="800000"/>
                    <a:headEnd/>
                    <a:tailEnd/>
                  </a:ln>
                </p:spPr>
              </p:pic>
            </p:grpSp>
          </p:grpSp>
          <p:sp>
            <p:nvSpPr>
              <p:cNvPr id="57361" name="Text Box 18"/>
              <p:cNvSpPr txBox="1">
                <a:spLocks noChangeArrowheads="1"/>
              </p:cNvSpPr>
              <p:nvPr/>
            </p:nvSpPr>
            <p:spPr bwMode="auto">
              <a:xfrm>
                <a:off x="0" y="1344"/>
                <a:ext cx="431" cy="288"/>
              </a:xfrm>
              <a:prstGeom prst="rect">
                <a:avLst/>
              </a:prstGeom>
              <a:noFill/>
              <a:ln w="9525" algn="ctr">
                <a:noFill/>
                <a:miter lim="800000"/>
              </a:ln>
            </p:spPr>
            <p:txBody>
              <a:bodyPr>
                <a:spAutoFit/>
              </a:bodyPr>
              <a:lstStyle/>
              <a:p>
                <a:pPr algn="ctr" fontAlgn="base">
                  <a:spcBef>
                    <a:spcPct val="50000"/>
                  </a:spcBef>
                  <a:spcAft>
                    <a:spcPct val="0"/>
                  </a:spcAft>
                </a:pPr>
                <a:r>
                  <a:rPr lang="en-US" altLang="zh-CN" sz="2400" i="1">
                    <a:solidFill>
                      <a:srgbClr val="000000"/>
                    </a:solidFill>
                    <a:latin typeface="Monotype Corsiva" panose="03010101010201010101" pitchFamily="66" charset="0"/>
                  </a:rPr>
                  <a:t>i</a:t>
                </a:r>
                <a:r>
                  <a:rPr lang="en-US" altLang="zh-CN" sz="2400" i="1" baseline="-25000">
                    <a:solidFill>
                      <a:srgbClr val="000000"/>
                    </a:solidFill>
                  </a:rPr>
                  <a:t>s</a:t>
                </a:r>
                <a:endParaRPr lang="en-US" altLang="zh-CN" sz="2400" i="1">
                  <a:solidFill>
                    <a:srgbClr val="000000"/>
                  </a:solidFill>
                </a:endParaRPr>
              </a:p>
            </p:txBody>
          </p:sp>
          <p:sp>
            <p:nvSpPr>
              <p:cNvPr id="57362" name="Text Box 19"/>
              <p:cNvSpPr txBox="1">
                <a:spLocks noChangeArrowheads="1"/>
              </p:cNvSpPr>
              <p:nvPr/>
            </p:nvSpPr>
            <p:spPr bwMode="auto">
              <a:xfrm>
                <a:off x="1474" y="1389"/>
                <a:ext cx="544"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000" i="1" baseline="-25000">
                    <a:solidFill>
                      <a:srgbClr val="000000"/>
                    </a:solidFill>
                  </a:rPr>
                  <a:t>p</a:t>
                </a:r>
                <a:endParaRPr lang="en-US" altLang="zh-CN" i="1">
                  <a:solidFill>
                    <a:srgbClr val="000000"/>
                  </a:solidFill>
                </a:endParaRPr>
              </a:p>
            </p:txBody>
          </p:sp>
          <p:sp>
            <p:nvSpPr>
              <p:cNvPr id="57363" name="Line 20"/>
              <p:cNvSpPr>
                <a:spLocks noChangeShapeType="1"/>
              </p:cNvSpPr>
              <p:nvPr/>
            </p:nvSpPr>
            <p:spPr bwMode="auto">
              <a:xfrm flipV="1">
                <a:off x="2290" y="1253"/>
                <a:ext cx="363" cy="409"/>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64" name="Text Box 21"/>
              <p:cNvSpPr txBox="1">
                <a:spLocks noChangeArrowheads="1"/>
              </p:cNvSpPr>
              <p:nvPr/>
            </p:nvSpPr>
            <p:spPr bwMode="auto">
              <a:xfrm>
                <a:off x="2497" y="1337"/>
                <a:ext cx="453"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dirty="0">
                    <a:solidFill>
                      <a:srgbClr val="000000"/>
                    </a:solidFill>
                  </a:rPr>
                  <a:t>R</a:t>
                </a:r>
                <a:r>
                  <a:rPr lang="en-US" altLang="zh-CN" sz="2000" i="1" baseline="-25000" dirty="0">
                    <a:solidFill>
                      <a:srgbClr val="000000"/>
                    </a:solidFill>
                  </a:rPr>
                  <a:t>L</a:t>
                </a:r>
                <a:endParaRPr lang="en-US" altLang="zh-CN" i="1" dirty="0">
                  <a:solidFill>
                    <a:srgbClr val="000000"/>
                  </a:solidFill>
                </a:endParaRPr>
              </a:p>
            </p:txBody>
          </p:sp>
          <p:sp>
            <p:nvSpPr>
              <p:cNvPr id="57365" name="Line 22"/>
              <p:cNvSpPr>
                <a:spLocks noChangeShapeType="1"/>
              </p:cNvSpPr>
              <p:nvPr/>
            </p:nvSpPr>
            <p:spPr bwMode="auto">
              <a:xfrm>
                <a:off x="1837" y="754"/>
                <a:ext cx="635"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66" name="Text Box 23"/>
              <p:cNvSpPr txBox="1">
                <a:spLocks noChangeArrowheads="1"/>
              </p:cNvSpPr>
              <p:nvPr/>
            </p:nvSpPr>
            <p:spPr bwMode="auto">
              <a:xfrm>
                <a:off x="2018" y="482"/>
                <a:ext cx="454" cy="288"/>
              </a:xfrm>
              <a:prstGeom prst="rect">
                <a:avLst/>
              </a:prstGeom>
              <a:noFill/>
              <a:ln w="9525">
                <a:noFill/>
                <a:miter lim="800000"/>
              </a:ln>
            </p:spPr>
            <p:txBody>
              <a:bodyPr>
                <a:spAutoFit/>
              </a:bodyPr>
              <a:lstStyle/>
              <a:p>
                <a:pPr algn="ctr" fontAlgn="base">
                  <a:spcBef>
                    <a:spcPct val="0"/>
                  </a:spcBef>
                  <a:spcAft>
                    <a:spcPct val="0"/>
                  </a:spcAft>
                </a:pPr>
                <a:r>
                  <a:rPr lang="en-US" altLang="zh-CN" sz="2400">
                    <a:solidFill>
                      <a:srgbClr val="000000"/>
                    </a:solidFill>
                    <a:latin typeface="Monotype Corsiva" panose="03010101010201010101" pitchFamily="66" charset="0"/>
                  </a:rPr>
                  <a:t>I</a:t>
                </a:r>
                <a:r>
                  <a:rPr lang="en-US" altLang="zh-CN" sz="2400" baseline="-25000">
                    <a:solidFill>
                      <a:srgbClr val="000000"/>
                    </a:solidFill>
                  </a:rPr>
                  <a:t>L</a:t>
                </a:r>
                <a:endParaRPr lang="en-US" altLang="zh-CN">
                  <a:solidFill>
                    <a:srgbClr val="000000"/>
                  </a:solidFill>
                </a:endParaRPr>
              </a:p>
            </p:txBody>
          </p:sp>
        </p:grpSp>
        <p:grpSp>
          <p:nvGrpSpPr>
            <p:cNvPr id="6" name="Group 24"/>
            <p:cNvGrpSpPr/>
            <p:nvPr/>
          </p:nvGrpSpPr>
          <p:grpSpPr bwMode="auto">
            <a:xfrm>
              <a:off x="3211" y="532"/>
              <a:ext cx="2481" cy="1833"/>
              <a:chOff x="3211" y="532"/>
              <a:chExt cx="2481" cy="1833"/>
            </a:xfrm>
          </p:grpSpPr>
          <p:sp>
            <p:nvSpPr>
              <p:cNvPr id="57353" name="Line 25"/>
              <p:cNvSpPr>
                <a:spLocks noChangeShapeType="1"/>
              </p:cNvSpPr>
              <p:nvPr/>
            </p:nvSpPr>
            <p:spPr bwMode="auto">
              <a:xfrm>
                <a:off x="3470" y="2115"/>
                <a:ext cx="2086"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54" name="Line 26"/>
              <p:cNvSpPr>
                <a:spLocks noChangeShapeType="1"/>
              </p:cNvSpPr>
              <p:nvPr/>
            </p:nvSpPr>
            <p:spPr bwMode="auto">
              <a:xfrm flipV="1">
                <a:off x="3470" y="799"/>
                <a:ext cx="0" cy="1316"/>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55" name="Freeform 27"/>
              <p:cNvSpPr/>
              <p:nvPr/>
            </p:nvSpPr>
            <p:spPr bwMode="auto">
              <a:xfrm>
                <a:off x="3470" y="1162"/>
                <a:ext cx="2025" cy="922"/>
              </a:xfrm>
              <a:custGeom>
                <a:avLst/>
                <a:gdLst>
                  <a:gd name="T0" fmla="*/ 0 w 2025"/>
                  <a:gd name="T1" fmla="*/ 0 h 922"/>
                  <a:gd name="T2" fmla="*/ 136 w 2025"/>
                  <a:gd name="T3" fmla="*/ 499 h 922"/>
                  <a:gd name="T4" fmla="*/ 725 w 2025"/>
                  <a:gd name="T5" fmla="*/ 817 h 922"/>
                  <a:gd name="T6" fmla="*/ 1859 w 2025"/>
                  <a:gd name="T7" fmla="*/ 907 h 922"/>
                  <a:gd name="T8" fmla="*/ 1723 w 2025"/>
                  <a:gd name="T9" fmla="*/ 907 h 922"/>
                  <a:gd name="T10" fmla="*/ 0 60000 65536"/>
                  <a:gd name="T11" fmla="*/ 0 60000 65536"/>
                  <a:gd name="T12" fmla="*/ 0 60000 65536"/>
                  <a:gd name="T13" fmla="*/ 0 60000 65536"/>
                  <a:gd name="T14" fmla="*/ 0 60000 65536"/>
                  <a:gd name="T15" fmla="*/ 0 w 2025"/>
                  <a:gd name="T16" fmla="*/ 0 h 922"/>
                  <a:gd name="T17" fmla="*/ 2025 w 2025"/>
                  <a:gd name="T18" fmla="*/ 922 h 922"/>
                </a:gdLst>
                <a:ahLst/>
                <a:cxnLst>
                  <a:cxn ang="T10">
                    <a:pos x="T0" y="T1"/>
                  </a:cxn>
                  <a:cxn ang="T11">
                    <a:pos x="T2" y="T3"/>
                  </a:cxn>
                  <a:cxn ang="T12">
                    <a:pos x="T4" y="T5"/>
                  </a:cxn>
                  <a:cxn ang="T13">
                    <a:pos x="T6" y="T7"/>
                  </a:cxn>
                  <a:cxn ang="T14">
                    <a:pos x="T8" y="T9"/>
                  </a:cxn>
                </a:cxnLst>
                <a:rect l="T15" t="T16" r="T17" b="T18"/>
                <a:pathLst>
                  <a:path w="2025" h="922">
                    <a:moveTo>
                      <a:pt x="0" y="0"/>
                    </a:moveTo>
                    <a:cubicBezTo>
                      <a:pt x="7" y="181"/>
                      <a:pt x="15" y="363"/>
                      <a:pt x="136" y="499"/>
                    </a:cubicBezTo>
                    <a:cubicBezTo>
                      <a:pt x="257" y="635"/>
                      <a:pt x="438" y="749"/>
                      <a:pt x="725" y="817"/>
                    </a:cubicBezTo>
                    <a:cubicBezTo>
                      <a:pt x="1012" y="885"/>
                      <a:pt x="1693" y="892"/>
                      <a:pt x="1859" y="907"/>
                    </a:cubicBezTo>
                    <a:cubicBezTo>
                      <a:pt x="2025" y="922"/>
                      <a:pt x="1874" y="914"/>
                      <a:pt x="1723" y="907"/>
                    </a:cubicBezTo>
                  </a:path>
                </a:pathLst>
              </a:cu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7356" name="Text Box 28"/>
              <p:cNvSpPr txBox="1">
                <a:spLocks noChangeArrowheads="1"/>
              </p:cNvSpPr>
              <p:nvPr/>
            </p:nvSpPr>
            <p:spPr bwMode="auto">
              <a:xfrm>
                <a:off x="4332" y="935"/>
                <a:ext cx="907" cy="231"/>
              </a:xfrm>
              <a:prstGeom prst="rect">
                <a:avLst/>
              </a:prstGeom>
              <a:noFill/>
              <a:ln w="9525" algn="ctr">
                <a:noFill/>
                <a:miter lim="800000"/>
              </a:ln>
            </p:spPr>
            <p:txBody>
              <a:bodyPr>
                <a:spAutoFit/>
              </a:bodyPr>
              <a:lstStyle/>
              <a:p>
                <a:pPr algn="ctr" fontAlgn="base">
                  <a:spcBef>
                    <a:spcPct val="50000"/>
                  </a:spcBef>
                  <a:spcAft>
                    <a:spcPct val="0"/>
                  </a:spcAft>
                </a:pPr>
                <a:r>
                  <a:rPr lang="zh-CN" altLang="en-US">
                    <a:solidFill>
                      <a:srgbClr val="000000"/>
                    </a:solidFill>
                  </a:rPr>
                  <a:t>理想源</a:t>
                </a:r>
                <a:endParaRPr lang="en-US" altLang="zh-CN">
                  <a:solidFill>
                    <a:srgbClr val="000000"/>
                  </a:solidFill>
                </a:endParaRPr>
              </a:p>
            </p:txBody>
          </p:sp>
          <p:sp>
            <p:nvSpPr>
              <p:cNvPr id="57357" name="Text Box 29"/>
              <p:cNvSpPr txBox="1">
                <a:spLocks noChangeArrowheads="1"/>
              </p:cNvSpPr>
              <p:nvPr/>
            </p:nvSpPr>
            <p:spPr bwMode="auto">
              <a:xfrm>
                <a:off x="3833" y="1737"/>
                <a:ext cx="1406" cy="231"/>
              </a:xfrm>
              <a:prstGeom prst="rect">
                <a:avLst/>
              </a:prstGeom>
              <a:noFill/>
              <a:ln w="9525" algn="ctr">
                <a:noFill/>
                <a:miter lim="800000"/>
              </a:ln>
            </p:spPr>
            <p:txBody>
              <a:bodyPr>
                <a:spAutoFit/>
              </a:bodyPr>
              <a:lstStyle/>
              <a:p>
                <a:pPr algn="ctr" fontAlgn="base">
                  <a:spcBef>
                    <a:spcPct val="50000"/>
                  </a:spcBef>
                  <a:spcAft>
                    <a:spcPct val="0"/>
                  </a:spcAft>
                </a:pPr>
                <a:r>
                  <a:rPr lang="zh-CN" altLang="en-US" dirty="0">
                    <a:solidFill>
                      <a:srgbClr val="000000"/>
                    </a:solidFill>
                  </a:rPr>
                  <a:t>实际源</a:t>
                </a:r>
                <a:endParaRPr lang="en-US" altLang="zh-CN" dirty="0">
                  <a:solidFill>
                    <a:srgbClr val="000000"/>
                  </a:solidFill>
                </a:endParaRPr>
              </a:p>
            </p:txBody>
          </p:sp>
          <p:sp>
            <p:nvSpPr>
              <p:cNvPr id="57358" name="Text Box 30"/>
              <p:cNvSpPr txBox="1">
                <a:spLocks noChangeArrowheads="1"/>
              </p:cNvSpPr>
              <p:nvPr/>
            </p:nvSpPr>
            <p:spPr bwMode="auto">
              <a:xfrm>
                <a:off x="3211" y="532"/>
                <a:ext cx="272" cy="288"/>
              </a:xfrm>
              <a:prstGeom prst="rect">
                <a:avLst/>
              </a:prstGeom>
              <a:noFill/>
              <a:ln w="9525" algn="ctr">
                <a:noFill/>
                <a:miter lim="800000"/>
              </a:ln>
            </p:spPr>
            <p:txBody>
              <a:bodyPr>
                <a:spAutoFit/>
              </a:bodyPr>
              <a:lstStyle/>
              <a:p>
                <a:pPr algn="ctr" fontAlgn="base">
                  <a:spcBef>
                    <a:spcPct val="50000"/>
                  </a:spcBef>
                  <a:spcAft>
                    <a:spcPct val="0"/>
                  </a:spcAft>
                </a:pPr>
                <a:r>
                  <a:rPr lang="en-US" altLang="zh-CN" sz="2400" dirty="0">
                    <a:solidFill>
                      <a:srgbClr val="000000"/>
                    </a:solidFill>
                    <a:latin typeface="Monotype Corsiva" panose="03010101010201010101" pitchFamily="66" charset="0"/>
                  </a:rPr>
                  <a:t>I</a:t>
                </a:r>
                <a:r>
                  <a:rPr lang="en-US" altLang="zh-CN" sz="2400" baseline="-25000" dirty="0">
                    <a:solidFill>
                      <a:srgbClr val="000000"/>
                    </a:solidFill>
                  </a:rPr>
                  <a:t>L</a:t>
                </a:r>
                <a:endParaRPr lang="en-US" altLang="zh-CN" sz="2400" dirty="0">
                  <a:solidFill>
                    <a:srgbClr val="000000"/>
                  </a:solidFill>
                </a:endParaRPr>
              </a:p>
            </p:txBody>
          </p:sp>
          <p:sp>
            <p:nvSpPr>
              <p:cNvPr id="57359" name="Text Box 31"/>
              <p:cNvSpPr txBox="1">
                <a:spLocks noChangeArrowheads="1"/>
              </p:cNvSpPr>
              <p:nvPr/>
            </p:nvSpPr>
            <p:spPr bwMode="auto">
              <a:xfrm>
                <a:off x="5239" y="2115"/>
                <a:ext cx="453"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a:solidFill>
                      <a:srgbClr val="000000"/>
                    </a:solidFill>
                  </a:rPr>
                  <a:t>R</a:t>
                </a:r>
                <a:r>
                  <a:rPr lang="en-US" altLang="zh-CN" sz="2000" baseline="-25000">
                    <a:solidFill>
                      <a:srgbClr val="000000"/>
                    </a:solidFill>
                  </a:rPr>
                  <a:t>L</a:t>
                </a:r>
                <a:endParaRPr lang="en-US" altLang="zh-CN">
                  <a:solidFill>
                    <a:srgbClr val="000000"/>
                  </a:solidFill>
                </a:endParaRPr>
              </a:p>
            </p:txBody>
          </p:sp>
        </p:grpSp>
      </p:grpSp>
      <p:sp>
        <p:nvSpPr>
          <p:cNvPr id="57350" name="Text Box 2"/>
          <p:cNvSpPr txBox="1">
            <a:spLocks noChangeArrowheads="1"/>
          </p:cNvSpPr>
          <p:nvPr/>
        </p:nvSpPr>
        <p:spPr bwMode="auto">
          <a:xfrm>
            <a:off x="574675" y="836613"/>
            <a:ext cx="7056438" cy="400050"/>
          </a:xfrm>
          <a:prstGeom prst="rect">
            <a:avLst/>
          </a:prstGeom>
          <a:noFill/>
          <a:ln w="9525">
            <a:noFill/>
            <a:miter lim="800000"/>
          </a:ln>
        </p:spPr>
        <p:txBody>
          <a:bodyPr>
            <a:spAutoFit/>
          </a:bodyPr>
          <a:lstStyle/>
          <a:p>
            <a:pPr fontAlgn="base">
              <a:spcBef>
                <a:spcPct val="50000"/>
              </a:spcBef>
              <a:spcAft>
                <a:spcPct val="0"/>
              </a:spcAft>
            </a:pPr>
            <a:r>
              <a:rPr lang="zh-CN" altLang="en-US" sz="2000" b="1" dirty="0">
                <a:solidFill>
                  <a:srgbClr val="FF0000"/>
                </a:solidFill>
                <a:latin typeface="Times New Roman" panose="02020603050405020304" pitchFamily="18" charset="0"/>
              </a:rPr>
              <a:t>负载效应</a:t>
            </a:r>
            <a:r>
              <a:rPr lang="en-US" altLang="zh-CN" b="1" dirty="0">
                <a:solidFill>
                  <a:srgbClr val="000000"/>
                </a:solidFill>
              </a:rPr>
              <a:t>(2)—</a:t>
            </a:r>
            <a:r>
              <a:rPr lang="zh-CN" altLang="en-US" sz="2000" b="1" dirty="0">
                <a:solidFill>
                  <a:srgbClr val="000000"/>
                </a:solidFill>
                <a:latin typeface="Times New Roman" panose="02020603050405020304" pitchFamily="18" charset="0"/>
              </a:rPr>
              <a:t>负载对电流源的影响</a:t>
            </a:r>
            <a:endParaRPr lang="en-US" altLang="zh-CN" sz="2000" b="1" dirty="0">
              <a:solidFill>
                <a:srgbClr val="000000"/>
              </a:solidFill>
              <a:latin typeface="Times New Roman" panose="02020603050405020304" pitchFamily="18" charset="0"/>
            </a:endParaRPr>
          </a:p>
        </p:txBody>
      </p:sp>
      <p:sp>
        <p:nvSpPr>
          <p:cNvPr id="7" name="灯片编号占位符 6"/>
          <p:cNvSpPr>
            <a:spLocks noGrp="1"/>
          </p:cNvSpPr>
          <p:nvPr>
            <p:ph type="sldNum" sz="quarter" idx="11"/>
          </p:nvPr>
        </p:nvSpPr>
        <p:spPr/>
        <p:txBody>
          <a:bodyPr/>
          <a:lstStyle/>
          <a:p>
            <a:pPr>
              <a:defRPr/>
            </a:pPr>
            <a:fld id="{939C9064-C0EA-4A07-ACBE-489AD4D1ABAD}" type="slidenum">
              <a:rPr lang="en-US" altLang="zh-CN" smtClean="0">
                <a:solidFill>
                  <a:srgbClr val="000000"/>
                </a:solidFill>
              </a:rPr>
              <a:t>69</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95536" y="998029"/>
            <a:ext cx="4900612" cy="1371600"/>
          </a:xfrm>
        </p:spPr>
        <p:txBody>
          <a:bodyPr/>
          <a:lstStyle/>
          <a:p>
            <a:pPr eaLnBrk="1" hangingPunct="1"/>
            <a:r>
              <a:rPr lang="zh-CN" altLang="en-US" sz="2000" b="1" dirty="0">
                <a:solidFill>
                  <a:srgbClr val="002060"/>
                </a:solidFill>
              </a:rPr>
              <a:t>应用（实验）</a:t>
            </a:r>
            <a:r>
              <a:rPr lang="zh-CN" altLang="en-US" sz="2000" b="1" dirty="0"/>
              <a:t>：</a:t>
            </a:r>
            <a:r>
              <a:rPr lang="zh-CN" altLang="en-US" sz="2000" b="1" dirty="0">
                <a:latin typeface="Times New Roman" panose="02020603050405020304" pitchFamily="18" charset="0"/>
              </a:rPr>
              <a:t>有时，我们需要知道一个实际电压源的空载电压</a:t>
            </a:r>
            <a:r>
              <a:rPr lang="en-US" altLang="zh-CN" sz="2000" b="1" i="1" dirty="0">
                <a:latin typeface="Times New Roman" panose="02020603050405020304" pitchFamily="18" charset="0"/>
              </a:rPr>
              <a:t>V</a:t>
            </a:r>
            <a:r>
              <a:rPr lang="en-US" altLang="zh-CN" sz="2000" b="1" baseline="-25000" dirty="0">
                <a:latin typeface="Times New Roman" panose="02020603050405020304" pitchFamily="18" charset="0"/>
              </a:rPr>
              <a:t>S</a:t>
            </a:r>
            <a:r>
              <a:rPr lang="zh-CN" altLang="en-US" sz="2000" b="1" dirty="0">
                <a:latin typeface="Times New Roman" panose="02020603050405020304" pitchFamily="18" charset="0"/>
              </a:rPr>
              <a:t>和内阻</a:t>
            </a:r>
            <a:r>
              <a:rPr lang="en-US" altLang="zh-CN" sz="2000" b="1" i="1" dirty="0">
                <a:latin typeface="Times New Roman" panose="02020603050405020304" pitchFamily="18" charset="0"/>
              </a:rPr>
              <a:t>R</a:t>
            </a:r>
            <a:r>
              <a:rPr lang="en-US" altLang="zh-CN" sz="2000" b="1" i="1" baseline="-25000" dirty="0">
                <a:latin typeface="Times New Roman" panose="02020603050405020304" pitchFamily="18" charset="0"/>
              </a:rPr>
              <a:t>S</a:t>
            </a:r>
            <a:r>
              <a:rPr lang="en-US" altLang="zh-CN" sz="2000" b="1" dirty="0">
                <a:latin typeface="Times New Roman" panose="02020603050405020304" pitchFamily="18" charset="0"/>
              </a:rPr>
              <a:t/>
            </a:r>
            <a:br>
              <a:rPr lang="en-US" altLang="zh-CN" sz="2000" b="1" dirty="0">
                <a:latin typeface="Times New Roman" panose="02020603050405020304" pitchFamily="18" charset="0"/>
              </a:rPr>
            </a:br>
            <a:r>
              <a:rPr lang="en-US" altLang="zh-CN" sz="2000" b="1" dirty="0">
                <a:latin typeface="Times New Roman" panose="02020603050405020304" pitchFamily="18" charset="0"/>
              </a:rPr>
              <a:t> </a:t>
            </a:r>
            <a:br>
              <a:rPr lang="en-US" altLang="zh-CN" sz="2000" b="1" dirty="0">
                <a:latin typeface="Times New Roman" panose="02020603050405020304" pitchFamily="18" charset="0"/>
              </a:rPr>
            </a:br>
            <a:r>
              <a:rPr lang="en-US" altLang="zh-CN" sz="2000" b="1" dirty="0">
                <a:latin typeface="Times New Roman" panose="02020603050405020304" pitchFamily="18" charset="0"/>
              </a:rPr>
              <a:t>(1) </a:t>
            </a:r>
            <a:r>
              <a:rPr lang="zh-CN" altLang="en-US" sz="2000" b="1" dirty="0">
                <a:latin typeface="Times New Roman" panose="02020603050405020304" pitchFamily="18" charset="0"/>
              </a:rPr>
              <a:t>如图</a:t>
            </a:r>
            <a:r>
              <a:rPr lang="en-US" altLang="zh-CN" sz="2000" b="1" dirty="0">
                <a:latin typeface="Times New Roman" panose="02020603050405020304" pitchFamily="18" charset="0"/>
              </a:rPr>
              <a:t> (a) </a:t>
            </a:r>
            <a:r>
              <a:rPr lang="zh-CN" altLang="en-US" sz="2000" b="1" dirty="0">
                <a:latin typeface="Times New Roman" panose="02020603050405020304" pitchFamily="18" charset="0"/>
              </a:rPr>
              <a:t>所示，测量开路电压</a:t>
            </a:r>
            <a:r>
              <a:rPr lang="en-US" altLang="zh-CN" sz="2000" b="1" i="1" dirty="0" err="1">
                <a:latin typeface="Times New Roman" panose="02020603050405020304" pitchFamily="18" charset="0"/>
              </a:rPr>
              <a:t>V</a:t>
            </a:r>
            <a:r>
              <a:rPr lang="en-US" altLang="zh-CN" sz="2000" b="1" i="1" baseline="-25000" dirty="0" err="1">
                <a:latin typeface="Times New Roman" panose="02020603050405020304" pitchFamily="18" charset="0"/>
              </a:rPr>
              <a:t>oc</a:t>
            </a:r>
            <a:r>
              <a:rPr lang="en-US" altLang="zh-CN" sz="2000" b="1" i="1" baseline="-25000" dirty="0">
                <a:latin typeface="Times New Roman" panose="02020603050405020304" pitchFamily="18" charset="0"/>
              </a:rPr>
              <a:t> </a:t>
            </a:r>
            <a:r>
              <a:rPr lang="zh-CN" altLang="en-US" sz="2000" b="1" baseline="-25000" dirty="0">
                <a:latin typeface="Times New Roman" panose="02020603050405020304" pitchFamily="18" charset="0"/>
              </a:rPr>
              <a:t>，</a:t>
            </a:r>
            <a:endParaRPr lang="en-US" altLang="zh-CN" sz="2000" b="1" dirty="0">
              <a:latin typeface="Times New Roman" panose="02020603050405020304" pitchFamily="18" charset="0"/>
            </a:endParaRPr>
          </a:p>
        </p:txBody>
      </p:sp>
      <p:graphicFrame>
        <p:nvGraphicFramePr>
          <p:cNvPr id="58371" name="Object 3"/>
          <p:cNvGraphicFramePr>
            <a:graphicFrameLocks noChangeAspect="1"/>
          </p:cNvGraphicFramePr>
          <p:nvPr/>
        </p:nvGraphicFramePr>
        <p:xfrm>
          <a:off x="6894202" y="2839801"/>
          <a:ext cx="1389621" cy="473421"/>
        </p:xfrm>
        <a:graphic>
          <a:graphicData uri="http://schemas.openxmlformats.org/presentationml/2006/ole">
            <mc:AlternateContent xmlns:mc="http://schemas.openxmlformats.org/markup-compatibility/2006">
              <mc:Choice xmlns:v="urn:schemas-microsoft-com:vml" Requires="v">
                <p:oleObj spid="_x0000_s44045" name="公式" r:id="rId4" imgW="16154400" imgH="5486400" progId="">
                  <p:embed/>
                </p:oleObj>
              </mc:Choice>
              <mc:Fallback>
                <p:oleObj name="公式" r:id="rId4" imgW="16154400" imgH="5486400" progId="">
                  <p:embed/>
                  <p:pic>
                    <p:nvPicPr>
                      <p:cNvPr id="0" name="图片 43008"/>
                      <p:cNvPicPr>
                        <a:picLocks noChangeAspect="1"/>
                      </p:cNvPicPr>
                      <p:nvPr/>
                    </p:nvPicPr>
                    <p:blipFill>
                      <a:blip r:embed="rId5"/>
                      <a:stretch>
                        <a:fillRect/>
                      </a:stretch>
                    </p:blipFill>
                    <p:spPr>
                      <a:xfrm>
                        <a:off x="6894202" y="2839801"/>
                        <a:ext cx="1389621" cy="473421"/>
                      </a:xfrm>
                      <a:prstGeom prst="rect">
                        <a:avLst/>
                      </a:prstGeom>
                      <a:noFill/>
                      <a:ln w="9525">
                        <a:noFill/>
                      </a:ln>
                    </p:spPr>
                  </p:pic>
                </p:oleObj>
              </mc:Fallback>
            </mc:AlternateContent>
          </a:graphicData>
        </a:graphic>
      </p:graphicFrame>
      <p:grpSp>
        <p:nvGrpSpPr>
          <p:cNvPr id="2" name="Group 4"/>
          <p:cNvGrpSpPr/>
          <p:nvPr/>
        </p:nvGrpSpPr>
        <p:grpSpPr bwMode="auto">
          <a:xfrm>
            <a:off x="717364" y="4325503"/>
            <a:ext cx="7635268" cy="2208199"/>
            <a:chOff x="476" y="2568"/>
            <a:chExt cx="4989" cy="1625"/>
          </a:xfrm>
        </p:grpSpPr>
        <p:grpSp>
          <p:nvGrpSpPr>
            <p:cNvPr id="3" name="Group 5"/>
            <p:cNvGrpSpPr/>
            <p:nvPr/>
          </p:nvGrpSpPr>
          <p:grpSpPr bwMode="auto">
            <a:xfrm>
              <a:off x="476" y="2568"/>
              <a:ext cx="2040" cy="1179"/>
              <a:chOff x="476" y="2568"/>
              <a:chExt cx="2040" cy="1179"/>
            </a:xfrm>
          </p:grpSpPr>
          <p:sp>
            <p:nvSpPr>
              <p:cNvPr id="58402" name="Rectangle 6"/>
              <p:cNvSpPr>
                <a:spLocks noChangeArrowheads="1"/>
              </p:cNvSpPr>
              <p:nvPr/>
            </p:nvSpPr>
            <p:spPr bwMode="auto">
              <a:xfrm>
                <a:off x="476" y="2568"/>
                <a:ext cx="1179" cy="1179"/>
              </a:xfrm>
              <a:prstGeom prst="rect">
                <a:avLst/>
              </a:prstGeom>
              <a:noFill/>
              <a:ln w="9525" algn="ctr">
                <a:solidFill>
                  <a:schemeClr val="tx1"/>
                </a:solidFill>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403" name="Line 7"/>
              <p:cNvSpPr>
                <a:spLocks noChangeShapeType="1"/>
              </p:cNvSpPr>
              <p:nvPr/>
            </p:nvSpPr>
            <p:spPr bwMode="auto">
              <a:xfrm>
                <a:off x="1655" y="2704"/>
                <a:ext cx="54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8404" name="Oval 8"/>
              <p:cNvSpPr>
                <a:spLocks noChangeArrowheads="1"/>
              </p:cNvSpPr>
              <p:nvPr/>
            </p:nvSpPr>
            <p:spPr bwMode="auto">
              <a:xfrm>
                <a:off x="2154" y="3475"/>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405" name="Oval 9"/>
              <p:cNvSpPr>
                <a:spLocks noChangeArrowheads="1"/>
              </p:cNvSpPr>
              <p:nvPr/>
            </p:nvSpPr>
            <p:spPr bwMode="auto">
              <a:xfrm>
                <a:off x="2154" y="2659"/>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406" name="Line 10"/>
              <p:cNvSpPr>
                <a:spLocks noChangeShapeType="1"/>
              </p:cNvSpPr>
              <p:nvPr/>
            </p:nvSpPr>
            <p:spPr bwMode="auto">
              <a:xfrm>
                <a:off x="1655" y="3521"/>
                <a:ext cx="499"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8407" name="Text Box 11"/>
              <p:cNvSpPr txBox="1">
                <a:spLocks noChangeArrowheads="1"/>
              </p:cNvSpPr>
              <p:nvPr/>
            </p:nvSpPr>
            <p:spPr bwMode="auto">
              <a:xfrm>
                <a:off x="748" y="2931"/>
                <a:ext cx="680" cy="272"/>
              </a:xfrm>
              <a:prstGeom prst="rect">
                <a:avLst/>
              </a:prstGeom>
              <a:noFill/>
              <a:ln w="9525" algn="ctr">
                <a:noFill/>
                <a:miter lim="800000"/>
              </a:ln>
            </p:spPr>
            <p:txBody>
              <a:bodyPr>
                <a:spAutoFit/>
              </a:bodyPr>
              <a:lstStyle/>
              <a:p>
                <a:pPr algn="ctr" fontAlgn="base">
                  <a:spcBef>
                    <a:spcPct val="50000"/>
                  </a:spcBef>
                  <a:spcAft>
                    <a:spcPct val="0"/>
                  </a:spcAft>
                </a:pPr>
                <a:r>
                  <a:rPr lang="zh-CN" altLang="en-US">
                    <a:solidFill>
                      <a:srgbClr val="000000"/>
                    </a:solidFill>
                  </a:rPr>
                  <a:t>信号源</a:t>
                </a:r>
                <a:endParaRPr lang="en-US" altLang="zh-CN">
                  <a:solidFill>
                    <a:srgbClr val="000000"/>
                  </a:solidFill>
                </a:endParaRPr>
              </a:p>
            </p:txBody>
          </p:sp>
          <p:pic>
            <p:nvPicPr>
              <p:cNvPr id="58408" name="Picture 12"/>
              <p:cNvPicPr>
                <a:picLocks noChangeAspect="1" noChangeArrowheads="1"/>
              </p:cNvPicPr>
              <p:nvPr/>
            </p:nvPicPr>
            <p:blipFill>
              <a:blip r:embed="rId6" cstate="print"/>
              <a:srcRect/>
              <a:stretch>
                <a:fillRect/>
              </a:stretch>
            </p:blipFill>
            <p:spPr bwMode="auto">
              <a:xfrm>
                <a:off x="2109" y="2806"/>
                <a:ext cx="181" cy="181"/>
              </a:xfrm>
              <a:prstGeom prst="rect">
                <a:avLst/>
              </a:prstGeom>
              <a:noFill/>
              <a:ln w="9525" algn="ctr">
                <a:noFill/>
                <a:miter lim="800000"/>
                <a:headEnd/>
                <a:tailEnd/>
              </a:ln>
            </p:spPr>
          </p:pic>
          <p:pic>
            <p:nvPicPr>
              <p:cNvPr id="58409" name="Picture 13"/>
              <p:cNvPicPr>
                <a:picLocks noChangeAspect="1" noChangeArrowheads="1"/>
              </p:cNvPicPr>
              <p:nvPr/>
            </p:nvPicPr>
            <p:blipFill>
              <a:blip r:embed="rId7" cstate="print"/>
              <a:srcRect/>
              <a:stretch>
                <a:fillRect/>
              </a:stretch>
            </p:blipFill>
            <p:spPr bwMode="auto">
              <a:xfrm>
                <a:off x="2109" y="3339"/>
                <a:ext cx="182" cy="48"/>
              </a:xfrm>
              <a:prstGeom prst="rect">
                <a:avLst/>
              </a:prstGeom>
              <a:noFill/>
              <a:ln w="9525" algn="ctr">
                <a:noFill/>
                <a:miter lim="800000"/>
                <a:headEnd/>
                <a:tailEnd/>
              </a:ln>
            </p:spPr>
          </p:pic>
          <p:sp>
            <p:nvSpPr>
              <p:cNvPr id="58410" name="Text Box 14"/>
              <p:cNvSpPr txBox="1">
                <a:spLocks noChangeArrowheads="1"/>
              </p:cNvSpPr>
              <p:nvPr/>
            </p:nvSpPr>
            <p:spPr bwMode="auto">
              <a:xfrm>
                <a:off x="2018" y="2976"/>
                <a:ext cx="498" cy="382"/>
              </a:xfrm>
              <a:prstGeom prst="rect">
                <a:avLst/>
              </a:prstGeom>
              <a:noFill/>
              <a:ln w="9525">
                <a:noFill/>
                <a:miter lim="800000"/>
              </a:ln>
            </p:spPr>
            <p:txBody>
              <a:bodyPr>
                <a:spAutoFit/>
              </a:bodyPr>
              <a:lstStyle/>
              <a:p>
                <a:pPr algn="ctr" fontAlgn="base">
                  <a:spcBef>
                    <a:spcPct val="0"/>
                  </a:spcBef>
                  <a:spcAft>
                    <a:spcPct val="0"/>
                  </a:spcAft>
                </a:pPr>
                <a:r>
                  <a:rPr lang="en-US" altLang="zh-CN" sz="2800">
                    <a:solidFill>
                      <a:srgbClr val="000000"/>
                    </a:solidFill>
                    <a:latin typeface="Monotype Corsiva" panose="03010101010201010101" pitchFamily="66" charset="0"/>
                  </a:rPr>
                  <a:t>v</a:t>
                </a:r>
                <a:r>
                  <a:rPr lang="en-US" altLang="zh-CN" sz="2400" baseline="-25000">
                    <a:solidFill>
                      <a:srgbClr val="000000"/>
                    </a:solidFill>
                  </a:rPr>
                  <a:t>oc</a:t>
                </a:r>
                <a:endParaRPr lang="en-US" altLang="zh-CN">
                  <a:solidFill>
                    <a:srgbClr val="000000"/>
                  </a:solidFill>
                </a:endParaRPr>
              </a:p>
            </p:txBody>
          </p:sp>
        </p:grpSp>
        <p:grpSp>
          <p:nvGrpSpPr>
            <p:cNvPr id="4" name="Group 15"/>
            <p:cNvGrpSpPr/>
            <p:nvPr/>
          </p:nvGrpSpPr>
          <p:grpSpPr bwMode="auto">
            <a:xfrm>
              <a:off x="2789" y="2568"/>
              <a:ext cx="2676" cy="1179"/>
              <a:chOff x="2789" y="2568"/>
              <a:chExt cx="2676" cy="1179"/>
            </a:xfrm>
          </p:grpSpPr>
          <p:grpSp>
            <p:nvGrpSpPr>
              <p:cNvPr id="5" name="Group 16"/>
              <p:cNvGrpSpPr/>
              <p:nvPr/>
            </p:nvGrpSpPr>
            <p:grpSpPr bwMode="auto">
              <a:xfrm>
                <a:off x="4513" y="2704"/>
                <a:ext cx="952" cy="817"/>
                <a:chOff x="4513" y="2704"/>
                <a:chExt cx="952" cy="817"/>
              </a:xfrm>
            </p:grpSpPr>
            <p:sp>
              <p:nvSpPr>
                <p:cNvPr id="58395" name="Line 17"/>
                <p:cNvSpPr>
                  <a:spLocks noChangeShapeType="1"/>
                </p:cNvSpPr>
                <p:nvPr/>
              </p:nvSpPr>
              <p:spPr bwMode="auto">
                <a:xfrm>
                  <a:off x="4513" y="3521"/>
                  <a:ext cx="45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6" name="Group 18"/>
                <p:cNvGrpSpPr/>
                <p:nvPr/>
              </p:nvGrpSpPr>
              <p:grpSpPr bwMode="auto">
                <a:xfrm>
                  <a:off x="4513" y="2704"/>
                  <a:ext cx="952" cy="817"/>
                  <a:chOff x="4513" y="2704"/>
                  <a:chExt cx="952" cy="817"/>
                </a:xfrm>
              </p:grpSpPr>
              <p:sp>
                <p:nvSpPr>
                  <p:cNvPr id="58397" name="Line 19"/>
                  <p:cNvSpPr>
                    <a:spLocks noChangeShapeType="1"/>
                  </p:cNvSpPr>
                  <p:nvPr/>
                </p:nvSpPr>
                <p:spPr bwMode="auto">
                  <a:xfrm>
                    <a:off x="4513" y="2704"/>
                    <a:ext cx="45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8398" name="Line 20"/>
                  <p:cNvSpPr>
                    <a:spLocks noChangeShapeType="1"/>
                  </p:cNvSpPr>
                  <p:nvPr/>
                </p:nvSpPr>
                <p:spPr bwMode="auto">
                  <a:xfrm>
                    <a:off x="4967" y="2704"/>
                    <a:ext cx="0" cy="817"/>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8399" name="Picture 21"/>
                  <p:cNvPicPr>
                    <a:picLocks noChangeAspect="1" noChangeArrowheads="1"/>
                  </p:cNvPicPr>
                  <p:nvPr/>
                </p:nvPicPr>
                <p:blipFill>
                  <a:blip r:embed="rId8" cstate="print"/>
                  <a:srcRect/>
                  <a:stretch>
                    <a:fillRect/>
                  </a:stretch>
                </p:blipFill>
                <p:spPr bwMode="auto">
                  <a:xfrm>
                    <a:off x="4876" y="2886"/>
                    <a:ext cx="155" cy="454"/>
                  </a:xfrm>
                  <a:prstGeom prst="rect">
                    <a:avLst/>
                  </a:prstGeom>
                  <a:noFill/>
                  <a:ln w="9525" algn="ctr">
                    <a:noFill/>
                    <a:miter lim="800000"/>
                    <a:headEnd/>
                    <a:tailEnd/>
                  </a:ln>
                </p:spPr>
              </p:pic>
              <p:sp>
                <p:nvSpPr>
                  <p:cNvPr id="58400" name="Text Box 22"/>
                  <p:cNvSpPr txBox="1">
                    <a:spLocks noChangeArrowheads="1"/>
                  </p:cNvSpPr>
                  <p:nvPr/>
                </p:nvSpPr>
                <p:spPr bwMode="auto">
                  <a:xfrm>
                    <a:off x="5012" y="3021"/>
                    <a:ext cx="453" cy="292"/>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000" i="1" baseline="-25000">
                        <a:solidFill>
                          <a:srgbClr val="000000"/>
                        </a:solidFill>
                      </a:rPr>
                      <a:t>L</a:t>
                    </a:r>
                    <a:endParaRPr lang="en-US" altLang="zh-CN" sz="2000" i="1">
                      <a:solidFill>
                        <a:srgbClr val="000000"/>
                      </a:solidFill>
                    </a:endParaRPr>
                  </a:p>
                </p:txBody>
              </p:sp>
              <p:sp>
                <p:nvSpPr>
                  <p:cNvPr id="58401" name="Line 23"/>
                  <p:cNvSpPr>
                    <a:spLocks noChangeShapeType="1"/>
                  </p:cNvSpPr>
                  <p:nvPr/>
                </p:nvSpPr>
                <p:spPr bwMode="auto">
                  <a:xfrm flipV="1">
                    <a:off x="4830" y="2976"/>
                    <a:ext cx="273" cy="272"/>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grpSp>
            <p:nvGrpSpPr>
              <p:cNvPr id="7" name="Group 24"/>
              <p:cNvGrpSpPr/>
              <p:nvPr/>
            </p:nvGrpSpPr>
            <p:grpSpPr bwMode="auto">
              <a:xfrm>
                <a:off x="2789" y="2568"/>
                <a:ext cx="2040" cy="1179"/>
                <a:chOff x="476" y="2568"/>
                <a:chExt cx="2040" cy="1179"/>
              </a:xfrm>
            </p:grpSpPr>
            <p:sp>
              <p:nvSpPr>
                <p:cNvPr id="58386" name="Rectangle 25"/>
                <p:cNvSpPr>
                  <a:spLocks noChangeArrowheads="1"/>
                </p:cNvSpPr>
                <p:nvPr/>
              </p:nvSpPr>
              <p:spPr bwMode="auto">
                <a:xfrm>
                  <a:off x="476" y="2568"/>
                  <a:ext cx="1179" cy="1179"/>
                </a:xfrm>
                <a:prstGeom prst="rect">
                  <a:avLst/>
                </a:prstGeom>
                <a:noFill/>
                <a:ln w="9525" algn="ctr">
                  <a:solidFill>
                    <a:schemeClr val="tx1"/>
                  </a:solidFill>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387" name="Line 26"/>
                <p:cNvSpPr>
                  <a:spLocks noChangeShapeType="1"/>
                </p:cNvSpPr>
                <p:nvPr/>
              </p:nvSpPr>
              <p:spPr bwMode="auto">
                <a:xfrm>
                  <a:off x="1655" y="2704"/>
                  <a:ext cx="545"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8388" name="Oval 27"/>
                <p:cNvSpPr>
                  <a:spLocks noChangeArrowheads="1"/>
                </p:cNvSpPr>
                <p:nvPr/>
              </p:nvSpPr>
              <p:spPr bwMode="auto">
                <a:xfrm>
                  <a:off x="2154" y="3475"/>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389" name="Oval 28"/>
                <p:cNvSpPr>
                  <a:spLocks noChangeArrowheads="1"/>
                </p:cNvSpPr>
                <p:nvPr/>
              </p:nvSpPr>
              <p:spPr bwMode="auto">
                <a:xfrm>
                  <a:off x="2154" y="2659"/>
                  <a:ext cx="90" cy="90"/>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58390" name="Line 29"/>
                <p:cNvSpPr>
                  <a:spLocks noChangeShapeType="1"/>
                </p:cNvSpPr>
                <p:nvPr/>
              </p:nvSpPr>
              <p:spPr bwMode="auto">
                <a:xfrm>
                  <a:off x="1655" y="3521"/>
                  <a:ext cx="499"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8391" name="Text Box 30"/>
                <p:cNvSpPr txBox="1">
                  <a:spLocks noChangeArrowheads="1"/>
                </p:cNvSpPr>
                <p:nvPr/>
              </p:nvSpPr>
              <p:spPr bwMode="auto">
                <a:xfrm>
                  <a:off x="748" y="2931"/>
                  <a:ext cx="680" cy="272"/>
                </a:xfrm>
                <a:prstGeom prst="rect">
                  <a:avLst/>
                </a:prstGeom>
                <a:noFill/>
                <a:ln w="9525" algn="ctr">
                  <a:noFill/>
                  <a:miter lim="800000"/>
                </a:ln>
              </p:spPr>
              <p:txBody>
                <a:bodyPr>
                  <a:spAutoFit/>
                </a:bodyPr>
                <a:lstStyle/>
                <a:p>
                  <a:pPr algn="ctr" fontAlgn="base">
                    <a:spcBef>
                      <a:spcPct val="0"/>
                    </a:spcBef>
                    <a:spcAft>
                      <a:spcPct val="0"/>
                    </a:spcAft>
                  </a:pPr>
                  <a:r>
                    <a:rPr lang="zh-CN" altLang="en-US">
                      <a:solidFill>
                        <a:srgbClr val="000000"/>
                      </a:solidFill>
                    </a:rPr>
                    <a:t>信号源</a:t>
                  </a:r>
                  <a:endParaRPr lang="en-US" altLang="zh-CN">
                    <a:solidFill>
                      <a:srgbClr val="000000"/>
                    </a:solidFill>
                  </a:endParaRPr>
                </a:p>
              </p:txBody>
            </p:sp>
            <p:pic>
              <p:nvPicPr>
                <p:cNvPr id="58392" name="Picture 31"/>
                <p:cNvPicPr>
                  <a:picLocks noChangeAspect="1" noChangeArrowheads="1"/>
                </p:cNvPicPr>
                <p:nvPr/>
              </p:nvPicPr>
              <p:blipFill>
                <a:blip r:embed="rId6" cstate="print"/>
                <a:srcRect/>
                <a:stretch>
                  <a:fillRect/>
                </a:stretch>
              </p:blipFill>
              <p:spPr bwMode="auto">
                <a:xfrm>
                  <a:off x="2109" y="2806"/>
                  <a:ext cx="181" cy="181"/>
                </a:xfrm>
                <a:prstGeom prst="rect">
                  <a:avLst/>
                </a:prstGeom>
                <a:noFill/>
                <a:ln w="9525" algn="ctr">
                  <a:noFill/>
                  <a:miter lim="800000"/>
                  <a:headEnd/>
                  <a:tailEnd/>
                </a:ln>
              </p:spPr>
            </p:pic>
            <p:pic>
              <p:nvPicPr>
                <p:cNvPr id="58393" name="Picture 32"/>
                <p:cNvPicPr>
                  <a:picLocks noChangeAspect="1" noChangeArrowheads="1"/>
                </p:cNvPicPr>
                <p:nvPr/>
              </p:nvPicPr>
              <p:blipFill>
                <a:blip r:embed="rId7" cstate="print"/>
                <a:srcRect/>
                <a:stretch>
                  <a:fillRect/>
                </a:stretch>
              </p:blipFill>
              <p:spPr bwMode="auto">
                <a:xfrm>
                  <a:off x="2109" y="3339"/>
                  <a:ext cx="182" cy="48"/>
                </a:xfrm>
                <a:prstGeom prst="rect">
                  <a:avLst/>
                </a:prstGeom>
                <a:noFill/>
                <a:ln w="9525" algn="ctr">
                  <a:noFill/>
                  <a:miter lim="800000"/>
                  <a:headEnd/>
                  <a:tailEnd/>
                </a:ln>
              </p:spPr>
            </p:pic>
            <p:sp>
              <p:nvSpPr>
                <p:cNvPr id="58394" name="Text Box 33"/>
                <p:cNvSpPr txBox="1">
                  <a:spLocks noChangeArrowheads="1"/>
                </p:cNvSpPr>
                <p:nvPr/>
              </p:nvSpPr>
              <p:spPr bwMode="auto">
                <a:xfrm>
                  <a:off x="2018" y="2976"/>
                  <a:ext cx="498" cy="382"/>
                </a:xfrm>
                <a:prstGeom prst="rect">
                  <a:avLst/>
                </a:prstGeom>
                <a:noFill/>
                <a:ln w="9525">
                  <a:noFill/>
                  <a:miter lim="800000"/>
                </a:ln>
              </p:spPr>
              <p:txBody>
                <a:bodyPr>
                  <a:spAutoFit/>
                </a:bodyPr>
                <a:lstStyle/>
                <a:p>
                  <a:pPr algn="ctr" fontAlgn="base">
                    <a:spcBef>
                      <a:spcPct val="0"/>
                    </a:spcBef>
                    <a:spcAft>
                      <a:spcPct val="0"/>
                    </a:spcAft>
                  </a:pPr>
                  <a:r>
                    <a:rPr lang="en-US" altLang="zh-CN" sz="2800">
                      <a:solidFill>
                        <a:srgbClr val="000000"/>
                      </a:solidFill>
                      <a:latin typeface="Monotype Corsiva" panose="03010101010201010101" pitchFamily="66" charset="0"/>
                    </a:rPr>
                    <a:t>v</a:t>
                  </a:r>
                  <a:r>
                    <a:rPr lang="en-US" altLang="zh-CN" sz="2400" baseline="-25000">
                      <a:solidFill>
                        <a:srgbClr val="000000"/>
                      </a:solidFill>
                    </a:rPr>
                    <a:t>L</a:t>
                  </a:r>
                  <a:endParaRPr lang="en-US" altLang="zh-CN">
                    <a:solidFill>
                      <a:srgbClr val="000000"/>
                    </a:solidFill>
                  </a:endParaRPr>
                </a:p>
              </p:txBody>
            </p:sp>
          </p:grpSp>
        </p:grpSp>
        <p:sp>
          <p:nvSpPr>
            <p:cNvPr id="58383" name="Text Box 34"/>
            <p:cNvSpPr txBox="1">
              <a:spLocks noChangeArrowheads="1"/>
            </p:cNvSpPr>
            <p:nvPr/>
          </p:nvSpPr>
          <p:spPr bwMode="auto">
            <a:xfrm>
              <a:off x="838" y="3923"/>
              <a:ext cx="4445" cy="270"/>
            </a:xfrm>
            <a:prstGeom prst="rect">
              <a:avLst/>
            </a:prstGeom>
            <a:noFill/>
            <a:ln w="9525" algn="ctr">
              <a:noFill/>
              <a:miter lim="800000"/>
            </a:ln>
          </p:spPr>
          <p:txBody>
            <a:bodyPr>
              <a:spAutoFit/>
            </a:bodyPr>
            <a:lstStyle/>
            <a:p>
              <a:pPr fontAlgn="base">
                <a:spcBef>
                  <a:spcPct val="50000"/>
                </a:spcBef>
                <a:spcAft>
                  <a:spcPct val="0"/>
                </a:spcAft>
              </a:pPr>
              <a:r>
                <a:rPr lang="en-US" altLang="zh-CN" dirty="0">
                  <a:solidFill>
                    <a:srgbClr val="000000"/>
                  </a:solidFill>
                </a:rPr>
                <a:t>(a) </a:t>
              </a:r>
              <a:r>
                <a:rPr lang="zh-CN" altLang="en-US" dirty="0">
                  <a:solidFill>
                    <a:srgbClr val="000000"/>
                  </a:solidFill>
                </a:rPr>
                <a:t>测量</a:t>
              </a:r>
              <a:r>
                <a:rPr lang="en-US" altLang="zh-CN" dirty="0">
                  <a:solidFill>
                    <a:srgbClr val="000000"/>
                  </a:solidFill>
                </a:rPr>
                <a:t> </a:t>
              </a:r>
              <a:r>
                <a:rPr lang="en-US" altLang="zh-CN" dirty="0" err="1">
                  <a:solidFill>
                    <a:srgbClr val="000000"/>
                  </a:solidFill>
                  <a:latin typeface="Monotype Corsiva" panose="03010101010201010101" pitchFamily="66" charset="0"/>
                </a:rPr>
                <a:t>v</a:t>
              </a:r>
              <a:r>
                <a:rPr lang="en-US" altLang="zh-CN" baseline="-25000" dirty="0" err="1">
                  <a:solidFill>
                    <a:srgbClr val="000000"/>
                  </a:solidFill>
                </a:rPr>
                <a:t>oc</a:t>
              </a:r>
              <a:r>
                <a:rPr lang="en-US" altLang="zh-CN" dirty="0">
                  <a:solidFill>
                    <a:srgbClr val="000000"/>
                  </a:solidFill>
                </a:rPr>
                <a:t>,                                       (b) </a:t>
              </a:r>
              <a:r>
                <a:rPr lang="zh-CN" altLang="en-US" dirty="0">
                  <a:solidFill>
                    <a:srgbClr val="000000"/>
                  </a:solidFill>
                </a:rPr>
                <a:t>测量</a:t>
              </a:r>
              <a:r>
                <a:rPr lang="en-US" altLang="zh-CN" dirty="0">
                  <a:solidFill>
                    <a:srgbClr val="000000"/>
                  </a:solidFill>
                </a:rPr>
                <a:t> </a:t>
              </a:r>
              <a:r>
                <a:rPr lang="en-US" altLang="zh-CN" dirty="0" err="1">
                  <a:solidFill>
                    <a:srgbClr val="000000"/>
                  </a:solidFill>
                  <a:latin typeface="Monotype Corsiva" panose="03010101010201010101" pitchFamily="66" charset="0"/>
                </a:rPr>
                <a:t>v</a:t>
              </a:r>
              <a:r>
                <a:rPr lang="en-US" altLang="zh-CN" baseline="-25000" dirty="0" err="1">
                  <a:solidFill>
                    <a:srgbClr val="000000"/>
                  </a:solidFill>
                </a:rPr>
                <a:t>L</a:t>
              </a:r>
              <a:endParaRPr lang="en-US" altLang="zh-CN" dirty="0">
                <a:solidFill>
                  <a:srgbClr val="000000"/>
                </a:solidFill>
              </a:endParaRPr>
            </a:p>
          </p:txBody>
        </p:sp>
      </p:grpSp>
      <p:sp>
        <p:nvSpPr>
          <p:cNvPr id="58373" name="Text Box 35"/>
          <p:cNvSpPr txBox="1">
            <a:spLocks noChangeArrowheads="1"/>
          </p:cNvSpPr>
          <p:nvPr/>
        </p:nvSpPr>
        <p:spPr bwMode="auto">
          <a:xfrm>
            <a:off x="385201" y="2868962"/>
            <a:ext cx="5785300" cy="400110"/>
          </a:xfrm>
          <a:prstGeom prst="rect">
            <a:avLst/>
          </a:prstGeom>
          <a:noFill/>
          <a:ln w="9525" algn="ctr">
            <a:noFill/>
            <a:miter lim="800000"/>
          </a:ln>
        </p:spPr>
        <p:txBody>
          <a:bodyPr wrap="square">
            <a:spAutoFit/>
          </a:bodyPr>
          <a:lstStyle/>
          <a:p>
            <a:pPr fontAlgn="base">
              <a:spcBef>
                <a:spcPct val="50000"/>
              </a:spcBef>
              <a:spcAft>
                <a:spcPct val="0"/>
              </a:spcAft>
            </a:pPr>
            <a:r>
              <a:rPr lang="en-US" altLang="zh-CN" sz="2000" b="1" dirty="0">
                <a:solidFill>
                  <a:srgbClr val="000000"/>
                </a:solidFill>
                <a:latin typeface="Times New Roman" panose="02020603050405020304" pitchFamily="18" charset="0"/>
              </a:rPr>
              <a:t>(2) </a:t>
            </a:r>
            <a:r>
              <a:rPr lang="zh-CN" altLang="en-US" sz="2000" b="1" dirty="0">
                <a:solidFill>
                  <a:srgbClr val="000000"/>
                </a:solidFill>
                <a:latin typeface="Times New Roman" panose="02020603050405020304" pitchFamily="18" charset="0"/>
              </a:rPr>
              <a:t>然后连接一个可变负载 </a:t>
            </a:r>
            <a:r>
              <a:rPr lang="en-US" altLang="zh-CN" sz="2000" b="1" i="1" dirty="0">
                <a:solidFill>
                  <a:srgbClr val="000000"/>
                </a:solidFill>
                <a:latin typeface="Times New Roman" panose="02020603050405020304" pitchFamily="18" charset="0"/>
              </a:rPr>
              <a:t>R</a:t>
            </a:r>
            <a:r>
              <a:rPr lang="en-US" altLang="zh-CN" sz="2000" b="1" i="1" baseline="-25000" dirty="0">
                <a:solidFill>
                  <a:srgbClr val="000000"/>
                </a:solidFill>
                <a:latin typeface="Times New Roman" panose="02020603050405020304" pitchFamily="18" charset="0"/>
              </a:rPr>
              <a:t>L</a:t>
            </a:r>
            <a:r>
              <a:rPr lang="zh-CN" altLang="en-US" sz="2000" b="1" dirty="0">
                <a:solidFill>
                  <a:srgbClr val="000000"/>
                </a:solidFill>
                <a:latin typeface="Times New Roman" panose="02020603050405020304" pitchFamily="18" charset="0"/>
              </a:rPr>
              <a:t>（如图（</a:t>
            </a:r>
            <a:r>
              <a:rPr lang="en-US" altLang="zh-CN" sz="2000" b="1" dirty="0">
                <a:solidFill>
                  <a:srgbClr val="000000"/>
                </a:solidFill>
                <a:latin typeface="Times New Roman" panose="02020603050405020304" pitchFamily="18" charset="0"/>
              </a:rPr>
              <a:t>b</a:t>
            </a:r>
            <a:r>
              <a:rPr lang="zh-CN" altLang="en-US" sz="2000" b="1" dirty="0">
                <a:solidFill>
                  <a:srgbClr val="000000"/>
                </a:solidFill>
                <a:latin typeface="Times New Roman" panose="02020603050405020304" pitchFamily="18" charset="0"/>
              </a:rPr>
              <a:t>）</a:t>
            </a:r>
            <a:endParaRPr lang="en-US" altLang="zh-CN" sz="2000" b="1" i="1" dirty="0">
              <a:solidFill>
                <a:srgbClr val="000000"/>
              </a:solidFill>
              <a:latin typeface="Times New Roman" panose="02020603050405020304" pitchFamily="18" charset="0"/>
            </a:endParaRPr>
          </a:p>
        </p:txBody>
      </p:sp>
      <p:sp>
        <p:nvSpPr>
          <p:cNvPr id="58374" name="Rectangle 36"/>
          <p:cNvSpPr>
            <a:spLocks noChangeArrowheads="1"/>
          </p:cNvSpPr>
          <p:nvPr/>
        </p:nvSpPr>
        <p:spPr bwMode="auto">
          <a:xfrm>
            <a:off x="2438400" y="3170238"/>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58375" name="Object 37"/>
          <p:cNvGraphicFramePr>
            <a:graphicFrameLocks noChangeAspect="1"/>
          </p:cNvGraphicFramePr>
          <p:nvPr/>
        </p:nvGraphicFramePr>
        <p:xfrm>
          <a:off x="2306092" y="3260835"/>
          <a:ext cx="1079500" cy="454025"/>
        </p:xfrm>
        <a:graphic>
          <a:graphicData uri="http://schemas.openxmlformats.org/presentationml/2006/ole">
            <mc:AlternateContent xmlns:mc="http://schemas.openxmlformats.org/markup-compatibility/2006">
              <mc:Choice xmlns:v="urn:schemas-microsoft-com:vml" Requires="v">
                <p:oleObj spid="_x0000_s44046" name="公式" r:id="rId9" imgW="13106400" imgH="5486400" progId="">
                  <p:embed/>
                </p:oleObj>
              </mc:Choice>
              <mc:Fallback>
                <p:oleObj name="公式" r:id="rId9" imgW="13106400" imgH="5486400" progId="">
                  <p:embed/>
                  <p:pic>
                    <p:nvPicPr>
                      <p:cNvPr id="0" name="图片 43063"/>
                      <p:cNvPicPr>
                        <a:picLocks noChangeAspect="1"/>
                      </p:cNvPicPr>
                      <p:nvPr/>
                    </p:nvPicPr>
                    <p:blipFill>
                      <a:blip r:embed="rId10"/>
                      <a:stretch>
                        <a:fillRect/>
                      </a:stretch>
                    </p:blipFill>
                    <p:spPr>
                      <a:xfrm>
                        <a:off x="2306092" y="3260835"/>
                        <a:ext cx="1079500" cy="454025"/>
                      </a:xfrm>
                      <a:prstGeom prst="rect">
                        <a:avLst/>
                      </a:prstGeom>
                      <a:noFill/>
                      <a:ln w="9525">
                        <a:noFill/>
                      </a:ln>
                    </p:spPr>
                  </p:pic>
                </p:oleObj>
              </mc:Fallback>
            </mc:AlternateContent>
          </a:graphicData>
        </a:graphic>
      </p:graphicFrame>
      <p:sp>
        <p:nvSpPr>
          <p:cNvPr id="58379" name="Rectangle 42"/>
          <p:cNvSpPr>
            <a:spLocks noChangeArrowheads="1"/>
          </p:cNvSpPr>
          <p:nvPr/>
        </p:nvSpPr>
        <p:spPr bwMode="auto">
          <a:xfrm>
            <a:off x="5163827" y="2860785"/>
            <a:ext cx="1730375" cy="400050"/>
          </a:xfrm>
          <a:prstGeom prst="rect">
            <a:avLst/>
          </a:prstGeom>
          <a:noFill/>
          <a:ln w="9525">
            <a:noFill/>
            <a:miter lim="800000"/>
          </a:ln>
        </p:spPr>
        <p:txBody>
          <a:bodyPr wrap="none">
            <a:spAutoFit/>
          </a:bodyPr>
          <a:lstStyle/>
          <a:p>
            <a:pPr fontAlgn="base">
              <a:spcBef>
                <a:spcPct val="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调整阻值</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使</a:t>
            </a:r>
            <a:endParaRPr lang="zh-CN" altLang="en-US" sz="2000" b="1" i="1" dirty="0">
              <a:solidFill>
                <a:srgbClr val="000000"/>
              </a:solidFill>
              <a:latin typeface="Times New Roman" panose="02020603050405020304" pitchFamily="18" charset="0"/>
            </a:endParaRPr>
          </a:p>
        </p:txBody>
      </p:sp>
      <p:graphicFrame>
        <p:nvGraphicFramePr>
          <p:cNvPr id="58380" name="Object 12"/>
          <p:cNvGraphicFramePr>
            <a:graphicFrameLocks noChangeAspect="1"/>
          </p:cNvGraphicFramePr>
          <p:nvPr/>
        </p:nvGraphicFramePr>
        <p:xfrm>
          <a:off x="2308094" y="2257636"/>
          <a:ext cx="1186674" cy="549665"/>
        </p:xfrm>
        <a:graphic>
          <a:graphicData uri="http://schemas.openxmlformats.org/presentationml/2006/ole">
            <mc:AlternateContent xmlns:mc="http://schemas.openxmlformats.org/markup-compatibility/2006">
              <mc:Choice xmlns:v="urn:schemas-microsoft-com:vml" Requires="v">
                <p:oleObj spid="_x0000_s44047" name="公式" r:id="rId11" imgW="11887200" imgH="5486400" progId="">
                  <p:embed/>
                </p:oleObj>
              </mc:Choice>
              <mc:Fallback>
                <p:oleObj name="公式" r:id="rId11" imgW="11887200" imgH="5486400" progId="">
                  <p:embed/>
                  <p:pic>
                    <p:nvPicPr>
                      <p:cNvPr id="0" name="图片 43064"/>
                      <p:cNvPicPr>
                        <a:picLocks noChangeAspect="1"/>
                      </p:cNvPicPr>
                      <p:nvPr/>
                    </p:nvPicPr>
                    <p:blipFill>
                      <a:blip r:embed="rId12"/>
                      <a:stretch>
                        <a:fillRect/>
                      </a:stretch>
                    </p:blipFill>
                    <p:spPr>
                      <a:xfrm>
                        <a:off x="2308094" y="2257636"/>
                        <a:ext cx="1186674" cy="549665"/>
                      </a:xfrm>
                      <a:prstGeom prst="rect">
                        <a:avLst/>
                      </a:prstGeom>
                      <a:noFill/>
                      <a:ln w="9525">
                        <a:noFill/>
                      </a:ln>
                    </p:spPr>
                  </p:pic>
                </p:oleObj>
              </mc:Fallback>
            </mc:AlternateContent>
          </a:graphicData>
        </a:graphic>
      </p:graphicFrame>
      <p:grpSp>
        <p:nvGrpSpPr>
          <p:cNvPr id="43" name="Group 6"/>
          <p:cNvGrpSpPr/>
          <p:nvPr/>
        </p:nvGrpSpPr>
        <p:grpSpPr bwMode="auto">
          <a:xfrm>
            <a:off x="5619998" y="384719"/>
            <a:ext cx="3419475" cy="2233613"/>
            <a:chOff x="249" y="2341"/>
            <a:chExt cx="2154" cy="1407"/>
          </a:xfrm>
        </p:grpSpPr>
        <p:sp>
          <p:nvSpPr>
            <p:cNvPr id="44" name="Oval 7"/>
            <p:cNvSpPr>
              <a:spLocks noChangeArrowheads="1"/>
            </p:cNvSpPr>
            <p:nvPr/>
          </p:nvSpPr>
          <p:spPr bwMode="auto">
            <a:xfrm>
              <a:off x="1701" y="3521"/>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45" name="Group 8"/>
            <p:cNvGrpSpPr/>
            <p:nvPr/>
          </p:nvGrpSpPr>
          <p:grpSpPr bwMode="auto">
            <a:xfrm>
              <a:off x="249" y="2341"/>
              <a:ext cx="2154" cy="1407"/>
              <a:chOff x="3606" y="1888"/>
              <a:chExt cx="2154" cy="1407"/>
            </a:xfrm>
          </p:grpSpPr>
          <p:sp>
            <p:nvSpPr>
              <p:cNvPr id="46" name="Line 9"/>
              <p:cNvSpPr>
                <a:spLocks noChangeShapeType="1"/>
              </p:cNvSpPr>
              <p:nvPr/>
            </p:nvSpPr>
            <p:spPr bwMode="auto">
              <a:xfrm>
                <a:off x="5057" y="2387"/>
                <a:ext cx="363"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47" name="Group 10"/>
              <p:cNvGrpSpPr/>
              <p:nvPr/>
            </p:nvGrpSpPr>
            <p:grpSpPr bwMode="auto">
              <a:xfrm>
                <a:off x="3606" y="1888"/>
                <a:ext cx="2154" cy="1407"/>
                <a:chOff x="3606" y="1298"/>
                <a:chExt cx="2154" cy="1407"/>
              </a:xfrm>
            </p:grpSpPr>
            <p:sp>
              <p:nvSpPr>
                <p:cNvPr id="48" name="Oval 11"/>
                <p:cNvSpPr>
                  <a:spLocks noChangeArrowheads="1"/>
                </p:cNvSpPr>
                <p:nvPr/>
              </p:nvSpPr>
              <p:spPr bwMode="auto">
                <a:xfrm>
                  <a:off x="5012" y="1752"/>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49" name="Group 12"/>
                <p:cNvGrpSpPr/>
                <p:nvPr/>
              </p:nvGrpSpPr>
              <p:grpSpPr bwMode="auto">
                <a:xfrm>
                  <a:off x="3606" y="1298"/>
                  <a:ext cx="2154" cy="1407"/>
                  <a:chOff x="3606" y="1298"/>
                  <a:chExt cx="2154" cy="1407"/>
                </a:xfrm>
              </p:grpSpPr>
              <p:grpSp>
                <p:nvGrpSpPr>
                  <p:cNvPr id="50" name="Group 13"/>
                  <p:cNvGrpSpPr/>
                  <p:nvPr/>
                </p:nvGrpSpPr>
                <p:grpSpPr bwMode="auto">
                  <a:xfrm>
                    <a:off x="3651" y="1298"/>
                    <a:ext cx="2109" cy="1236"/>
                    <a:chOff x="3651" y="1298"/>
                    <a:chExt cx="2109" cy="1236"/>
                  </a:xfrm>
                </p:grpSpPr>
                <p:grpSp>
                  <p:nvGrpSpPr>
                    <p:cNvPr id="52" name="Group 14"/>
                    <p:cNvGrpSpPr/>
                    <p:nvPr/>
                  </p:nvGrpSpPr>
                  <p:grpSpPr bwMode="auto">
                    <a:xfrm>
                      <a:off x="3651" y="1434"/>
                      <a:ext cx="1406" cy="1100"/>
                      <a:chOff x="3651" y="1434"/>
                      <a:chExt cx="1406" cy="1100"/>
                    </a:xfrm>
                  </p:grpSpPr>
                  <p:sp>
                    <p:nvSpPr>
                      <p:cNvPr id="61" name="Line 15"/>
                      <p:cNvSpPr>
                        <a:spLocks noChangeShapeType="1"/>
                      </p:cNvSpPr>
                      <p:nvPr/>
                    </p:nvSpPr>
                    <p:spPr bwMode="auto">
                      <a:xfrm flipV="1">
                        <a:off x="3998" y="2523"/>
                        <a:ext cx="1059" cy="11"/>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 name="Line 16"/>
                      <p:cNvSpPr>
                        <a:spLocks noChangeShapeType="1"/>
                      </p:cNvSpPr>
                      <p:nvPr/>
                    </p:nvSpPr>
                    <p:spPr bwMode="auto">
                      <a:xfrm>
                        <a:off x="3998" y="1794"/>
                        <a:ext cx="1014" cy="3"/>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3" name="Line 17"/>
                      <p:cNvSpPr>
                        <a:spLocks noChangeShapeType="1"/>
                      </p:cNvSpPr>
                      <p:nvPr/>
                    </p:nvSpPr>
                    <p:spPr bwMode="auto">
                      <a:xfrm>
                        <a:off x="3998" y="1794"/>
                        <a:ext cx="0" cy="74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4" name="Text Box 18"/>
                      <p:cNvSpPr txBox="1">
                        <a:spLocks noChangeArrowheads="1"/>
                      </p:cNvSpPr>
                      <p:nvPr/>
                    </p:nvSpPr>
                    <p:spPr bwMode="auto">
                      <a:xfrm>
                        <a:off x="4468" y="1434"/>
                        <a:ext cx="331"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s</a:t>
                        </a:r>
                        <a:endParaRPr lang="en-US" altLang="zh-CN">
                          <a:solidFill>
                            <a:srgbClr val="000000"/>
                          </a:solidFill>
                        </a:endParaRPr>
                      </a:p>
                    </p:txBody>
                  </p:sp>
                  <p:pic>
                    <p:nvPicPr>
                      <p:cNvPr id="65" name="Picture 19"/>
                      <p:cNvPicPr>
                        <a:picLocks noChangeAspect="1" noChangeArrowheads="1"/>
                      </p:cNvPicPr>
                      <p:nvPr/>
                    </p:nvPicPr>
                    <p:blipFill>
                      <a:blip r:embed="rId13" cstate="print"/>
                      <a:srcRect/>
                      <a:stretch>
                        <a:fillRect/>
                      </a:stretch>
                    </p:blipFill>
                    <p:spPr bwMode="auto">
                      <a:xfrm>
                        <a:off x="3866" y="2063"/>
                        <a:ext cx="265" cy="270"/>
                      </a:xfrm>
                      <a:prstGeom prst="rect">
                        <a:avLst/>
                      </a:prstGeom>
                      <a:noFill/>
                      <a:ln w="9525" algn="ctr">
                        <a:noFill/>
                        <a:miter lim="800000"/>
                        <a:headEnd/>
                        <a:tailEnd/>
                      </a:ln>
                    </p:spPr>
                  </p:pic>
                  <p:sp>
                    <p:nvSpPr>
                      <p:cNvPr id="66" name="Text Box 20"/>
                      <p:cNvSpPr txBox="1">
                        <a:spLocks noChangeArrowheads="1"/>
                      </p:cNvSpPr>
                      <p:nvPr/>
                    </p:nvSpPr>
                    <p:spPr bwMode="auto">
                      <a:xfrm>
                        <a:off x="3651" y="2063"/>
                        <a:ext cx="280"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s</a:t>
                        </a:r>
                        <a:endParaRPr lang="en-US" altLang="zh-CN">
                          <a:solidFill>
                            <a:srgbClr val="000000"/>
                          </a:solidFill>
                        </a:endParaRPr>
                      </a:p>
                    </p:txBody>
                  </p:sp>
                  <p:pic>
                    <p:nvPicPr>
                      <p:cNvPr id="67" name="Picture 21"/>
                      <p:cNvPicPr>
                        <a:picLocks noChangeAspect="1" noChangeArrowheads="1"/>
                      </p:cNvPicPr>
                      <p:nvPr/>
                    </p:nvPicPr>
                    <p:blipFill>
                      <a:blip r:embed="rId8" cstate="print"/>
                      <a:srcRect/>
                      <a:stretch>
                        <a:fillRect/>
                      </a:stretch>
                    </p:blipFill>
                    <p:spPr bwMode="auto">
                      <a:xfrm rot="-5400000">
                        <a:off x="4416" y="1576"/>
                        <a:ext cx="138" cy="397"/>
                      </a:xfrm>
                      <a:prstGeom prst="rect">
                        <a:avLst/>
                      </a:prstGeom>
                      <a:noFill/>
                      <a:ln w="9525" algn="ctr">
                        <a:noFill/>
                        <a:miter lim="800000"/>
                        <a:headEnd/>
                        <a:tailEnd/>
                      </a:ln>
                    </p:spPr>
                  </p:pic>
                </p:grpSp>
                <p:sp>
                  <p:nvSpPr>
                    <p:cNvPr id="53" name="Line 22"/>
                    <p:cNvSpPr>
                      <a:spLocks noChangeShapeType="1"/>
                    </p:cNvSpPr>
                    <p:nvPr/>
                  </p:nvSpPr>
                  <p:spPr bwMode="auto">
                    <a:xfrm>
                      <a:off x="5420" y="1797"/>
                      <a:ext cx="0" cy="72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54" name="Line 23"/>
                    <p:cNvSpPr>
                      <a:spLocks noChangeShapeType="1"/>
                    </p:cNvSpPr>
                    <p:nvPr/>
                  </p:nvSpPr>
                  <p:spPr bwMode="auto">
                    <a:xfrm flipH="1">
                      <a:off x="5103" y="2523"/>
                      <a:ext cx="317"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55" name="Picture 24"/>
                    <p:cNvPicPr>
                      <a:picLocks noChangeAspect="1" noChangeArrowheads="1"/>
                    </p:cNvPicPr>
                    <p:nvPr/>
                  </p:nvPicPr>
                  <p:blipFill>
                    <a:blip r:embed="rId8" cstate="print"/>
                    <a:srcRect/>
                    <a:stretch>
                      <a:fillRect/>
                    </a:stretch>
                  </p:blipFill>
                  <p:spPr bwMode="auto">
                    <a:xfrm>
                      <a:off x="5329" y="1979"/>
                      <a:ext cx="138" cy="403"/>
                    </a:xfrm>
                    <a:prstGeom prst="rect">
                      <a:avLst/>
                    </a:prstGeom>
                    <a:noFill/>
                    <a:ln w="9525" algn="ctr">
                      <a:noFill/>
                      <a:miter lim="800000"/>
                      <a:headEnd/>
                      <a:tailEnd/>
                    </a:ln>
                  </p:spPr>
                </p:pic>
                <p:sp>
                  <p:nvSpPr>
                    <p:cNvPr id="56" name="Text Box 25"/>
                    <p:cNvSpPr txBox="1">
                      <a:spLocks noChangeArrowheads="1"/>
                    </p:cNvSpPr>
                    <p:nvPr/>
                  </p:nvSpPr>
                  <p:spPr bwMode="auto">
                    <a:xfrm>
                      <a:off x="5465" y="2069"/>
                      <a:ext cx="295"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a:solidFill>
                            <a:srgbClr val="000000"/>
                          </a:solidFill>
                        </a:rPr>
                        <a:t>R</a:t>
                      </a:r>
                      <a:r>
                        <a:rPr lang="en-US" altLang="zh-CN" sz="2000" baseline="-25000">
                          <a:solidFill>
                            <a:srgbClr val="000000"/>
                          </a:solidFill>
                        </a:rPr>
                        <a:t>L</a:t>
                      </a:r>
                      <a:endParaRPr lang="en-US" altLang="zh-CN">
                        <a:solidFill>
                          <a:srgbClr val="000000"/>
                        </a:solidFill>
                      </a:endParaRPr>
                    </a:p>
                  </p:txBody>
                </p:sp>
                <p:pic>
                  <p:nvPicPr>
                    <p:cNvPr id="57" name="Picture 26"/>
                    <p:cNvPicPr>
                      <a:picLocks noChangeAspect="1" noChangeArrowheads="1"/>
                    </p:cNvPicPr>
                    <p:nvPr/>
                  </p:nvPicPr>
                  <p:blipFill>
                    <a:blip r:embed="rId6" cstate="print"/>
                    <a:srcRect/>
                    <a:stretch>
                      <a:fillRect/>
                    </a:stretch>
                  </p:blipFill>
                  <p:spPr bwMode="auto">
                    <a:xfrm>
                      <a:off x="4980" y="1843"/>
                      <a:ext cx="136" cy="136"/>
                    </a:xfrm>
                    <a:prstGeom prst="rect">
                      <a:avLst/>
                    </a:prstGeom>
                    <a:noFill/>
                    <a:ln w="9525" algn="ctr">
                      <a:noFill/>
                      <a:miter lim="800000"/>
                      <a:headEnd/>
                      <a:tailEnd/>
                    </a:ln>
                  </p:spPr>
                </p:pic>
                <p:pic>
                  <p:nvPicPr>
                    <p:cNvPr id="58" name="Picture 27"/>
                    <p:cNvPicPr>
                      <a:picLocks noChangeAspect="1" noChangeArrowheads="1"/>
                    </p:cNvPicPr>
                    <p:nvPr/>
                  </p:nvPicPr>
                  <p:blipFill>
                    <a:blip r:embed="rId7" cstate="print"/>
                    <a:srcRect/>
                    <a:stretch>
                      <a:fillRect/>
                    </a:stretch>
                  </p:blipFill>
                  <p:spPr bwMode="auto">
                    <a:xfrm>
                      <a:off x="4967" y="2387"/>
                      <a:ext cx="181" cy="48"/>
                    </a:xfrm>
                    <a:prstGeom prst="rect">
                      <a:avLst/>
                    </a:prstGeom>
                    <a:noFill/>
                    <a:ln w="9525" algn="ctr">
                      <a:noFill/>
                      <a:miter lim="800000"/>
                      <a:headEnd/>
                      <a:tailEnd/>
                    </a:ln>
                  </p:spPr>
                </p:pic>
                <p:sp>
                  <p:nvSpPr>
                    <p:cNvPr id="59" name="Text Box 28"/>
                    <p:cNvSpPr txBox="1">
                      <a:spLocks noChangeArrowheads="1"/>
                    </p:cNvSpPr>
                    <p:nvPr/>
                  </p:nvSpPr>
                  <p:spPr bwMode="auto">
                    <a:xfrm>
                      <a:off x="4921" y="1933"/>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L</a:t>
                      </a:r>
                      <a:endParaRPr lang="en-US" altLang="zh-CN" i="1">
                        <a:solidFill>
                          <a:srgbClr val="000000"/>
                        </a:solidFill>
                      </a:endParaRPr>
                    </a:p>
                  </p:txBody>
                </p:sp>
                <p:sp>
                  <p:nvSpPr>
                    <p:cNvPr id="60" name="Text Box 29"/>
                    <p:cNvSpPr txBox="1">
                      <a:spLocks noChangeArrowheads="1"/>
                    </p:cNvSpPr>
                    <p:nvPr/>
                  </p:nvSpPr>
                  <p:spPr bwMode="auto">
                    <a:xfrm>
                      <a:off x="5193" y="1298"/>
                      <a:ext cx="363" cy="500"/>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	</a:t>
                      </a:r>
                      <a:r>
                        <a:rPr lang="en-US" altLang="zh-CN" sz="2800">
                          <a:solidFill>
                            <a:srgbClr val="000000"/>
                          </a:solidFill>
                          <a:latin typeface="Monotype Corsiva" panose="03010101010201010101" pitchFamily="66" charset="0"/>
                        </a:rPr>
                        <a:t>i</a:t>
                      </a:r>
                      <a:r>
                        <a:rPr lang="en-US" altLang="zh-CN" baseline="-25000">
                          <a:solidFill>
                            <a:srgbClr val="000000"/>
                          </a:solidFill>
                        </a:rPr>
                        <a:t> L</a:t>
                      </a:r>
                      <a:endParaRPr lang="en-US" altLang="zh-CN">
                        <a:solidFill>
                          <a:srgbClr val="000000"/>
                        </a:solidFill>
                      </a:endParaRPr>
                    </a:p>
                  </p:txBody>
                </p:sp>
              </p:grpSp>
              <p:sp>
                <p:nvSpPr>
                  <p:cNvPr id="51" name="Rectangle 30"/>
                  <p:cNvSpPr>
                    <a:spLocks noChangeArrowheads="1"/>
                  </p:cNvSpPr>
                  <p:nvPr/>
                </p:nvSpPr>
                <p:spPr bwMode="auto">
                  <a:xfrm>
                    <a:off x="3606" y="1480"/>
                    <a:ext cx="1587" cy="1225"/>
                  </a:xfrm>
                  <a:prstGeom prst="rect">
                    <a:avLst/>
                  </a:prstGeom>
                  <a:noFill/>
                  <a:ln w="9525" algn="ctr">
                    <a:solidFill>
                      <a:schemeClr val="tx1"/>
                    </a:solidFill>
                    <a:prstDash val="dash"/>
                    <a:miter lim="800000"/>
                  </a:ln>
                </p:spPr>
                <p:txBody>
                  <a:bodyPr wrap="none" anchor="ctr"/>
                  <a:lstStyle/>
                  <a:p>
                    <a:pPr algn="ctr" fontAlgn="base">
                      <a:spcBef>
                        <a:spcPct val="0"/>
                      </a:spcBef>
                      <a:spcAft>
                        <a:spcPct val="0"/>
                      </a:spcAft>
                    </a:pPr>
                    <a:endParaRPr lang="zh-CN" altLang="zh-CN">
                      <a:solidFill>
                        <a:srgbClr val="000000"/>
                      </a:solidFill>
                    </a:endParaRPr>
                  </a:p>
                </p:txBody>
              </p:sp>
            </p:grpSp>
          </p:grpSp>
        </p:grpSp>
      </p:grpSp>
      <p:sp>
        <p:nvSpPr>
          <p:cNvPr id="69" name="文本框 68"/>
          <p:cNvSpPr txBox="1"/>
          <p:nvPr/>
        </p:nvSpPr>
        <p:spPr>
          <a:xfrm>
            <a:off x="1833511" y="2364860"/>
            <a:ext cx="619410" cy="400110"/>
          </a:xfrm>
          <a:prstGeom prst="rect">
            <a:avLst/>
          </a:prstGeom>
          <a:noFill/>
        </p:spPr>
        <p:txBody>
          <a:bodyPr wrap="square">
            <a:spAutoFit/>
          </a:bodyPr>
          <a:lstStyle/>
          <a:p>
            <a:r>
              <a:rPr lang="zh-CN" altLang="en-US" sz="2000" b="1" dirty="0">
                <a:latin typeface="Times New Roman" panose="02020603050405020304" pitchFamily="18" charset="0"/>
              </a:rPr>
              <a:t>则</a:t>
            </a:r>
            <a:r>
              <a:rPr lang="en-US" altLang="zh-CN" sz="2000" b="1" dirty="0">
                <a:latin typeface="Times New Roman" panose="02020603050405020304" pitchFamily="18" charset="0"/>
              </a:rPr>
              <a:t>:</a:t>
            </a:r>
            <a:endParaRPr lang="zh-CN" altLang="en-US" sz="2000" dirty="0"/>
          </a:p>
        </p:txBody>
      </p:sp>
      <p:sp>
        <p:nvSpPr>
          <p:cNvPr id="70" name="文本框 69"/>
          <p:cNvSpPr txBox="1"/>
          <p:nvPr/>
        </p:nvSpPr>
        <p:spPr>
          <a:xfrm>
            <a:off x="1798312" y="3252598"/>
            <a:ext cx="4576312" cy="400110"/>
          </a:xfrm>
          <a:prstGeom prst="rect">
            <a:avLst/>
          </a:prstGeom>
          <a:noFill/>
        </p:spPr>
        <p:txBody>
          <a:bodyPr wrap="square">
            <a:spAutoFit/>
          </a:bodyPr>
          <a:lstStyle/>
          <a:p>
            <a:r>
              <a:rPr lang="zh-CN" altLang="en-US" sz="2000" b="1" dirty="0">
                <a:latin typeface="Times New Roman" panose="02020603050405020304" pitchFamily="18" charset="0"/>
              </a:rPr>
              <a:t>则</a:t>
            </a:r>
            <a:r>
              <a:rPr lang="en-US" altLang="zh-CN" sz="2000" b="1" dirty="0">
                <a:latin typeface="Times New Roman" panose="02020603050405020304" pitchFamily="18" charset="0"/>
              </a:rPr>
              <a:t>:</a:t>
            </a:r>
            <a:endParaRPr lang="zh-CN" altLang="en-US" sz="2000" dirty="0"/>
          </a:p>
        </p:txBody>
      </p:sp>
      <p:sp>
        <p:nvSpPr>
          <p:cNvPr id="8" name="灯片编号占位符 7"/>
          <p:cNvSpPr>
            <a:spLocks noGrp="1"/>
          </p:cNvSpPr>
          <p:nvPr>
            <p:ph type="sldNum" sz="quarter" idx="11"/>
          </p:nvPr>
        </p:nvSpPr>
        <p:spPr/>
        <p:txBody>
          <a:bodyPr/>
          <a:lstStyle/>
          <a:p>
            <a:pPr>
              <a:defRPr/>
            </a:pPr>
            <a:fld id="{939C9064-C0EA-4A07-ACBE-489AD4D1ABAD}" type="slidenum">
              <a:rPr lang="en-US" altLang="zh-CN" smtClean="0">
                <a:solidFill>
                  <a:srgbClr val="000000"/>
                </a:solidFill>
              </a:rPr>
              <a:t>70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331304" y="5588551"/>
            <a:ext cx="6735450" cy="1152526"/>
          </a:xfrm>
        </p:spPr>
        <p:txBody>
          <a:bodyPr/>
          <a:lstStyle/>
          <a:p>
            <a:pPr eaLnBrk="1" hangingPunct="1"/>
            <a:r>
              <a:rPr lang="zh-CN" altLang="en-US" sz="2400" b="1" dirty="0">
                <a:solidFill>
                  <a:srgbClr val="FF0000"/>
                </a:solidFill>
              </a:rPr>
              <a:t>注意</a:t>
            </a:r>
            <a:r>
              <a:rPr lang="zh-CN" altLang="en-US" sz="2400" b="1" dirty="0"/>
              <a:t>：这种测量方法对电池的损害非常大。</a:t>
            </a:r>
            <a:r>
              <a:rPr lang="zh-CN" altLang="en-US" sz="2400" b="1" dirty="0">
                <a:solidFill>
                  <a:srgbClr val="FF0000"/>
                </a:solidFill>
                <a:highlight>
                  <a:srgbClr val="FFFF00"/>
                </a:highlight>
              </a:rPr>
              <a:t>因为电流太大了！！！</a:t>
            </a:r>
            <a:br>
              <a:rPr lang="zh-CN" altLang="en-US" sz="2400" b="1" dirty="0">
                <a:solidFill>
                  <a:srgbClr val="FF0000"/>
                </a:solidFill>
                <a:highlight>
                  <a:srgbClr val="FFFF00"/>
                </a:highlight>
              </a:rPr>
            </a:br>
            <a:endParaRPr lang="zh-CN" altLang="en-US" sz="2400" b="1" dirty="0">
              <a:solidFill>
                <a:srgbClr val="FF0000"/>
              </a:solidFill>
              <a:highlight>
                <a:srgbClr val="FFFF00"/>
              </a:highlight>
            </a:endParaRPr>
          </a:p>
        </p:txBody>
      </p:sp>
      <p:graphicFrame>
        <p:nvGraphicFramePr>
          <p:cNvPr id="59395" name="Object 3"/>
          <p:cNvGraphicFramePr>
            <a:graphicFrameLocks noChangeAspect="1"/>
          </p:cNvGraphicFramePr>
          <p:nvPr/>
        </p:nvGraphicFramePr>
        <p:xfrm>
          <a:off x="2483768" y="1916832"/>
          <a:ext cx="3023419" cy="809818"/>
        </p:xfrm>
        <a:graphic>
          <a:graphicData uri="http://schemas.openxmlformats.org/presentationml/2006/ole">
            <mc:AlternateContent xmlns:mc="http://schemas.openxmlformats.org/markup-compatibility/2006">
              <mc:Choice xmlns:v="urn:schemas-microsoft-com:vml" Requires="v">
                <p:oleObj spid="_x0000_s45069" name="公式" r:id="rId3" imgW="35052000" imgH="9448800" progId="">
                  <p:embed/>
                </p:oleObj>
              </mc:Choice>
              <mc:Fallback>
                <p:oleObj name="公式" r:id="rId3" imgW="35052000" imgH="9448800" progId="">
                  <p:embed/>
                  <p:pic>
                    <p:nvPicPr>
                      <p:cNvPr id="0" name="图片 44032"/>
                      <p:cNvPicPr>
                        <a:picLocks noChangeAspect="1"/>
                      </p:cNvPicPr>
                      <p:nvPr/>
                    </p:nvPicPr>
                    <p:blipFill>
                      <a:blip r:embed="rId4"/>
                      <a:stretch>
                        <a:fillRect/>
                      </a:stretch>
                    </p:blipFill>
                    <p:spPr>
                      <a:xfrm>
                        <a:off x="2483768" y="1916832"/>
                        <a:ext cx="3023419" cy="809818"/>
                      </a:xfrm>
                      <a:prstGeom prst="rect">
                        <a:avLst/>
                      </a:prstGeom>
                      <a:noFill/>
                      <a:ln w="9525">
                        <a:noFill/>
                      </a:ln>
                    </p:spPr>
                  </p:pic>
                </p:oleObj>
              </mc:Fallback>
            </mc:AlternateContent>
          </a:graphicData>
        </a:graphic>
      </p:graphicFrame>
      <p:grpSp>
        <p:nvGrpSpPr>
          <p:cNvPr id="4" name="Group 6"/>
          <p:cNvGrpSpPr/>
          <p:nvPr/>
        </p:nvGrpSpPr>
        <p:grpSpPr bwMode="auto">
          <a:xfrm>
            <a:off x="2792011" y="3024284"/>
            <a:ext cx="3419475" cy="2233613"/>
            <a:chOff x="249" y="2341"/>
            <a:chExt cx="2154" cy="1407"/>
          </a:xfrm>
        </p:grpSpPr>
        <p:sp>
          <p:nvSpPr>
            <p:cNvPr id="5" name="Oval 7"/>
            <p:cNvSpPr>
              <a:spLocks noChangeArrowheads="1"/>
            </p:cNvSpPr>
            <p:nvPr/>
          </p:nvSpPr>
          <p:spPr bwMode="auto">
            <a:xfrm>
              <a:off x="1701" y="3521"/>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6" name="Group 8"/>
            <p:cNvGrpSpPr/>
            <p:nvPr/>
          </p:nvGrpSpPr>
          <p:grpSpPr bwMode="auto">
            <a:xfrm>
              <a:off x="249" y="2341"/>
              <a:ext cx="2154" cy="1407"/>
              <a:chOff x="3606" y="1888"/>
              <a:chExt cx="2154" cy="1407"/>
            </a:xfrm>
          </p:grpSpPr>
          <p:sp>
            <p:nvSpPr>
              <p:cNvPr id="7" name="Line 9"/>
              <p:cNvSpPr>
                <a:spLocks noChangeShapeType="1"/>
              </p:cNvSpPr>
              <p:nvPr/>
            </p:nvSpPr>
            <p:spPr bwMode="auto">
              <a:xfrm>
                <a:off x="5057" y="2387"/>
                <a:ext cx="363"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8" name="Group 10"/>
              <p:cNvGrpSpPr/>
              <p:nvPr/>
            </p:nvGrpSpPr>
            <p:grpSpPr bwMode="auto">
              <a:xfrm>
                <a:off x="3606" y="1888"/>
                <a:ext cx="2154" cy="1407"/>
                <a:chOff x="3606" y="1298"/>
                <a:chExt cx="2154" cy="1407"/>
              </a:xfrm>
            </p:grpSpPr>
            <p:sp>
              <p:nvSpPr>
                <p:cNvPr id="9" name="Oval 11"/>
                <p:cNvSpPr>
                  <a:spLocks noChangeArrowheads="1"/>
                </p:cNvSpPr>
                <p:nvPr/>
              </p:nvSpPr>
              <p:spPr bwMode="auto">
                <a:xfrm>
                  <a:off x="5012" y="1752"/>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0" name="Group 12"/>
                <p:cNvGrpSpPr/>
                <p:nvPr/>
              </p:nvGrpSpPr>
              <p:grpSpPr bwMode="auto">
                <a:xfrm>
                  <a:off x="3606" y="1298"/>
                  <a:ext cx="2154" cy="1407"/>
                  <a:chOff x="3606" y="1298"/>
                  <a:chExt cx="2154" cy="1407"/>
                </a:xfrm>
              </p:grpSpPr>
              <p:grpSp>
                <p:nvGrpSpPr>
                  <p:cNvPr id="11" name="Group 13"/>
                  <p:cNvGrpSpPr/>
                  <p:nvPr/>
                </p:nvGrpSpPr>
                <p:grpSpPr bwMode="auto">
                  <a:xfrm>
                    <a:off x="3651" y="1298"/>
                    <a:ext cx="2109" cy="1236"/>
                    <a:chOff x="3651" y="1298"/>
                    <a:chExt cx="2109" cy="1236"/>
                  </a:xfrm>
                </p:grpSpPr>
                <p:grpSp>
                  <p:nvGrpSpPr>
                    <p:cNvPr id="13" name="Group 14"/>
                    <p:cNvGrpSpPr/>
                    <p:nvPr/>
                  </p:nvGrpSpPr>
                  <p:grpSpPr bwMode="auto">
                    <a:xfrm>
                      <a:off x="3651" y="1434"/>
                      <a:ext cx="1406" cy="1100"/>
                      <a:chOff x="3651" y="1434"/>
                      <a:chExt cx="1406" cy="1100"/>
                    </a:xfrm>
                  </p:grpSpPr>
                  <p:sp>
                    <p:nvSpPr>
                      <p:cNvPr id="22" name="Line 15"/>
                      <p:cNvSpPr>
                        <a:spLocks noChangeShapeType="1"/>
                      </p:cNvSpPr>
                      <p:nvPr/>
                    </p:nvSpPr>
                    <p:spPr bwMode="auto">
                      <a:xfrm flipV="1">
                        <a:off x="3998" y="2523"/>
                        <a:ext cx="1059" cy="11"/>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 name="Line 16"/>
                      <p:cNvSpPr>
                        <a:spLocks noChangeShapeType="1"/>
                      </p:cNvSpPr>
                      <p:nvPr/>
                    </p:nvSpPr>
                    <p:spPr bwMode="auto">
                      <a:xfrm>
                        <a:off x="3998" y="1794"/>
                        <a:ext cx="1014" cy="3"/>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 name="Line 17"/>
                      <p:cNvSpPr>
                        <a:spLocks noChangeShapeType="1"/>
                      </p:cNvSpPr>
                      <p:nvPr/>
                    </p:nvSpPr>
                    <p:spPr bwMode="auto">
                      <a:xfrm>
                        <a:off x="3998" y="1794"/>
                        <a:ext cx="0" cy="74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5" name="Text Box 18"/>
                      <p:cNvSpPr txBox="1">
                        <a:spLocks noChangeArrowheads="1"/>
                      </p:cNvSpPr>
                      <p:nvPr/>
                    </p:nvSpPr>
                    <p:spPr bwMode="auto">
                      <a:xfrm>
                        <a:off x="4468" y="1434"/>
                        <a:ext cx="331"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s</a:t>
                        </a:r>
                        <a:endParaRPr lang="en-US" altLang="zh-CN">
                          <a:solidFill>
                            <a:srgbClr val="000000"/>
                          </a:solidFill>
                        </a:endParaRPr>
                      </a:p>
                    </p:txBody>
                  </p:sp>
                  <p:pic>
                    <p:nvPicPr>
                      <p:cNvPr id="26" name="Picture 19"/>
                      <p:cNvPicPr>
                        <a:picLocks noChangeAspect="1" noChangeArrowheads="1"/>
                      </p:cNvPicPr>
                      <p:nvPr/>
                    </p:nvPicPr>
                    <p:blipFill>
                      <a:blip r:embed="rId5" cstate="print"/>
                      <a:srcRect/>
                      <a:stretch>
                        <a:fillRect/>
                      </a:stretch>
                    </p:blipFill>
                    <p:spPr bwMode="auto">
                      <a:xfrm>
                        <a:off x="3866" y="2063"/>
                        <a:ext cx="265" cy="270"/>
                      </a:xfrm>
                      <a:prstGeom prst="rect">
                        <a:avLst/>
                      </a:prstGeom>
                      <a:noFill/>
                      <a:ln w="9525" algn="ctr">
                        <a:noFill/>
                        <a:miter lim="800000"/>
                        <a:headEnd/>
                        <a:tailEnd/>
                      </a:ln>
                    </p:spPr>
                  </p:pic>
                  <p:sp>
                    <p:nvSpPr>
                      <p:cNvPr id="27" name="Text Box 20"/>
                      <p:cNvSpPr txBox="1">
                        <a:spLocks noChangeArrowheads="1"/>
                      </p:cNvSpPr>
                      <p:nvPr/>
                    </p:nvSpPr>
                    <p:spPr bwMode="auto">
                      <a:xfrm>
                        <a:off x="3651" y="2063"/>
                        <a:ext cx="280"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s</a:t>
                        </a:r>
                        <a:endParaRPr lang="en-US" altLang="zh-CN">
                          <a:solidFill>
                            <a:srgbClr val="000000"/>
                          </a:solidFill>
                        </a:endParaRPr>
                      </a:p>
                    </p:txBody>
                  </p:sp>
                  <p:pic>
                    <p:nvPicPr>
                      <p:cNvPr id="28" name="Picture 21"/>
                      <p:cNvPicPr>
                        <a:picLocks noChangeAspect="1" noChangeArrowheads="1"/>
                      </p:cNvPicPr>
                      <p:nvPr/>
                    </p:nvPicPr>
                    <p:blipFill>
                      <a:blip r:embed="rId6" cstate="print"/>
                      <a:srcRect/>
                      <a:stretch>
                        <a:fillRect/>
                      </a:stretch>
                    </p:blipFill>
                    <p:spPr bwMode="auto">
                      <a:xfrm rot="-5400000">
                        <a:off x="4416" y="1576"/>
                        <a:ext cx="138" cy="397"/>
                      </a:xfrm>
                      <a:prstGeom prst="rect">
                        <a:avLst/>
                      </a:prstGeom>
                      <a:noFill/>
                      <a:ln w="9525" algn="ctr">
                        <a:noFill/>
                        <a:miter lim="800000"/>
                        <a:headEnd/>
                        <a:tailEnd/>
                      </a:ln>
                    </p:spPr>
                  </p:pic>
                </p:grpSp>
                <p:sp>
                  <p:nvSpPr>
                    <p:cNvPr id="14" name="Line 22"/>
                    <p:cNvSpPr>
                      <a:spLocks noChangeShapeType="1"/>
                    </p:cNvSpPr>
                    <p:nvPr/>
                  </p:nvSpPr>
                  <p:spPr bwMode="auto">
                    <a:xfrm>
                      <a:off x="5420" y="1797"/>
                      <a:ext cx="0" cy="72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15" name="Line 23"/>
                    <p:cNvSpPr>
                      <a:spLocks noChangeShapeType="1"/>
                    </p:cNvSpPr>
                    <p:nvPr/>
                  </p:nvSpPr>
                  <p:spPr bwMode="auto">
                    <a:xfrm flipH="1">
                      <a:off x="5103" y="2523"/>
                      <a:ext cx="317"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16" name="Picture 24"/>
                    <p:cNvPicPr>
                      <a:picLocks noChangeAspect="1" noChangeArrowheads="1"/>
                    </p:cNvPicPr>
                    <p:nvPr/>
                  </p:nvPicPr>
                  <p:blipFill>
                    <a:blip r:embed="rId6" cstate="print"/>
                    <a:srcRect/>
                    <a:stretch>
                      <a:fillRect/>
                    </a:stretch>
                  </p:blipFill>
                  <p:spPr bwMode="auto">
                    <a:xfrm>
                      <a:off x="5329" y="1979"/>
                      <a:ext cx="138" cy="403"/>
                    </a:xfrm>
                    <a:prstGeom prst="rect">
                      <a:avLst/>
                    </a:prstGeom>
                    <a:noFill/>
                    <a:ln w="9525" algn="ctr">
                      <a:noFill/>
                      <a:miter lim="800000"/>
                      <a:headEnd/>
                      <a:tailEnd/>
                    </a:ln>
                  </p:spPr>
                </p:pic>
                <p:sp>
                  <p:nvSpPr>
                    <p:cNvPr id="17" name="Text Box 25"/>
                    <p:cNvSpPr txBox="1">
                      <a:spLocks noChangeArrowheads="1"/>
                    </p:cNvSpPr>
                    <p:nvPr/>
                  </p:nvSpPr>
                  <p:spPr bwMode="auto">
                    <a:xfrm>
                      <a:off x="5465" y="2069"/>
                      <a:ext cx="295"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a:solidFill>
                            <a:srgbClr val="000000"/>
                          </a:solidFill>
                        </a:rPr>
                        <a:t>R</a:t>
                      </a:r>
                      <a:r>
                        <a:rPr lang="en-US" altLang="zh-CN" sz="2000" baseline="-25000">
                          <a:solidFill>
                            <a:srgbClr val="000000"/>
                          </a:solidFill>
                        </a:rPr>
                        <a:t>L</a:t>
                      </a:r>
                      <a:endParaRPr lang="en-US" altLang="zh-CN">
                        <a:solidFill>
                          <a:srgbClr val="000000"/>
                        </a:solidFill>
                      </a:endParaRPr>
                    </a:p>
                  </p:txBody>
                </p:sp>
                <p:pic>
                  <p:nvPicPr>
                    <p:cNvPr id="18" name="Picture 26"/>
                    <p:cNvPicPr>
                      <a:picLocks noChangeAspect="1" noChangeArrowheads="1"/>
                    </p:cNvPicPr>
                    <p:nvPr/>
                  </p:nvPicPr>
                  <p:blipFill>
                    <a:blip r:embed="rId7" cstate="print"/>
                    <a:srcRect/>
                    <a:stretch>
                      <a:fillRect/>
                    </a:stretch>
                  </p:blipFill>
                  <p:spPr bwMode="auto">
                    <a:xfrm>
                      <a:off x="4980" y="1843"/>
                      <a:ext cx="136" cy="136"/>
                    </a:xfrm>
                    <a:prstGeom prst="rect">
                      <a:avLst/>
                    </a:prstGeom>
                    <a:noFill/>
                    <a:ln w="9525" algn="ctr">
                      <a:noFill/>
                      <a:miter lim="800000"/>
                      <a:headEnd/>
                      <a:tailEnd/>
                    </a:ln>
                  </p:spPr>
                </p:pic>
                <p:pic>
                  <p:nvPicPr>
                    <p:cNvPr id="19" name="Picture 27"/>
                    <p:cNvPicPr>
                      <a:picLocks noChangeAspect="1" noChangeArrowheads="1"/>
                    </p:cNvPicPr>
                    <p:nvPr/>
                  </p:nvPicPr>
                  <p:blipFill>
                    <a:blip r:embed="rId8" cstate="print"/>
                    <a:srcRect/>
                    <a:stretch>
                      <a:fillRect/>
                    </a:stretch>
                  </p:blipFill>
                  <p:spPr bwMode="auto">
                    <a:xfrm>
                      <a:off x="4967" y="2387"/>
                      <a:ext cx="181" cy="48"/>
                    </a:xfrm>
                    <a:prstGeom prst="rect">
                      <a:avLst/>
                    </a:prstGeom>
                    <a:noFill/>
                    <a:ln w="9525" algn="ctr">
                      <a:noFill/>
                      <a:miter lim="800000"/>
                      <a:headEnd/>
                      <a:tailEnd/>
                    </a:ln>
                  </p:spPr>
                </p:pic>
                <p:sp>
                  <p:nvSpPr>
                    <p:cNvPr id="20" name="Text Box 28"/>
                    <p:cNvSpPr txBox="1">
                      <a:spLocks noChangeArrowheads="1"/>
                    </p:cNvSpPr>
                    <p:nvPr/>
                  </p:nvSpPr>
                  <p:spPr bwMode="auto">
                    <a:xfrm>
                      <a:off x="4921" y="1933"/>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L</a:t>
                      </a:r>
                      <a:endParaRPr lang="en-US" altLang="zh-CN" i="1">
                        <a:solidFill>
                          <a:srgbClr val="000000"/>
                        </a:solidFill>
                      </a:endParaRPr>
                    </a:p>
                  </p:txBody>
                </p:sp>
                <p:sp>
                  <p:nvSpPr>
                    <p:cNvPr id="21" name="Text Box 29"/>
                    <p:cNvSpPr txBox="1">
                      <a:spLocks noChangeArrowheads="1"/>
                    </p:cNvSpPr>
                    <p:nvPr/>
                  </p:nvSpPr>
                  <p:spPr bwMode="auto">
                    <a:xfrm>
                      <a:off x="5193" y="1298"/>
                      <a:ext cx="363" cy="500"/>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	</a:t>
                      </a:r>
                      <a:r>
                        <a:rPr lang="en-US" altLang="zh-CN" sz="2800">
                          <a:solidFill>
                            <a:srgbClr val="000000"/>
                          </a:solidFill>
                          <a:latin typeface="Monotype Corsiva" panose="03010101010201010101" pitchFamily="66" charset="0"/>
                        </a:rPr>
                        <a:t>i</a:t>
                      </a:r>
                      <a:r>
                        <a:rPr lang="en-US" altLang="zh-CN" baseline="-25000">
                          <a:solidFill>
                            <a:srgbClr val="000000"/>
                          </a:solidFill>
                        </a:rPr>
                        <a:t> L</a:t>
                      </a:r>
                      <a:endParaRPr lang="en-US" altLang="zh-CN">
                        <a:solidFill>
                          <a:srgbClr val="000000"/>
                        </a:solidFill>
                      </a:endParaRPr>
                    </a:p>
                  </p:txBody>
                </p:sp>
              </p:grpSp>
              <p:sp>
                <p:nvSpPr>
                  <p:cNvPr id="12" name="Rectangle 30"/>
                  <p:cNvSpPr>
                    <a:spLocks noChangeArrowheads="1"/>
                  </p:cNvSpPr>
                  <p:nvPr/>
                </p:nvSpPr>
                <p:spPr bwMode="auto">
                  <a:xfrm>
                    <a:off x="3606" y="1480"/>
                    <a:ext cx="1587" cy="1225"/>
                  </a:xfrm>
                  <a:prstGeom prst="rect">
                    <a:avLst/>
                  </a:prstGeom>
                  <a:noFill/>
                  <a:ln w="9525" algn="ctr">
                    <a:solidFill>
                      <a:schemeClr val="tx1"/>
                    </a:solidFill>
                    <a:prstDash val="dash"/>
                    <a:miter lim="800000"/>
                  </a:ln>
                </p:spPr>
                <p:txBody>
                  <a:bodyPr wrap="none" anchor="ctr"/>
                  <a:lstStyle/>
                  <a:p>
                    <a:pPr algn="ctr" fontAlgn="base">
                      <a:spcBef>
                        <a:spcPct val="0"/>
                      </a:spcBef>
                      <a:spcAft>
                        <a:spcPct val="0"/>
                      </a:spcAft>
                    </a:pPr>
                    <a:endParaRPr lang="zh-CN" altLang="zh-CN">
                      <a:solidFill>
                        <a:srgbClr val="000000"/>
                      </a:solidFill>
                    </a:endParaRPr>
                  </a:p>
                </p:txBody>
              </p:sp>
            </p:grpSp>
          </p:grpSp>
        </p:grpSp>
      </p:grpSp>
      <p:sp>
        <p:nvSpPr>
          <p:cNvPr id="29" name="Text Box 38"/>
          <p:cNvSpPr txBox="1">
            <a:spLocks noChangeArrowheads="1"/>
          </p:cNvSpPr>
          <p:nvPr/>
        </p:nvSpPr>
        <p:spPr bwMode="auto">
          <a:xfrm>
            <a:off x="397268" y="821530"/>
            <a:ext cx="7127875" cy="461665"/>
          </a:xfrm>
          <a:prstGeom prst="rect">
            <a:avLst/>
          </a:prstGeom>
          <a:noFill/>
          <a:ln w="9525" algn="ctr">
            <a:noFill/>
            <a:miter lim="800000"/>
          </a:ln>
        </p:spPr>
        <p:txBody>
          <a:bodyPr>
            <a:spAutoFit/>
          </a:bodyPr>
          <a:lstStyle/>
          <a:p>
            <a:pPr marL="342900" indent="-342900" fontAlgn="base">
              <a:spcBef>
                <a:spcPct val="50000"/>
              </a:spcBef>
              <a:spcAft>
                <a:spcPct val="0"/>
              </a:spcAft>
              <a:buFont typeface="Wingdings" panose="05000000000000000000" pitchFamily="2" charset="2"/>
              <a:buChar char="n"/>
            </a:pPr>
            <a:r>
              <a:rPr lang="zh-CN" altLang="en-US" sz="20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例如</a:t>
            </a:r>
            <a:r>
              <a:rPr lang="en-US"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对于某</a:t>
            </a:r>
            <a:r>
              <a:rPr lang="zh-CN" altLang="en-US" sz="2400" b="1" dirty="0">
                <a:solidFill>
                  <a:srgbClr val="002060"/>
                </a:solidFill>
                <a:latin typeface="Times New Roman" panose="02020603050405020304" pitchFamily="18" charset="0"/>
              </a:rPr>
              <a:t>汽车电池</a:t>
            </a:r>
            <a:r>
              <a:rPr lang="zh-CN" altLang="en-US" sz="2400" b="1" dirty="0">
                <a:solidFill>
                  <a:srgbClr val="000000"/>
                </a:solidFill>
                <a:latin typeface="Times New Roman" panose="02020603050405020304" pitchFamily="18" charset="0"/>
              </a:rPr>
              <a:t>，其                、</a:t>
            </a:r>
            <a:endParaRPr lang="en-US" altLang="zh-CN" sz="2000" b="1" dirty="0">
              <a:solidFill>
                <a:srgbClr val="000000"/>
              </a:solidFill>
              <a:latin typeface="Times New Roman" panose="02020603050405020304" pitchFamily="18" charset="0"/>
            </a:endParaRPr>
          </a:p>
        </p:txBody>
      </p:sp>
      <p:graphicFrame>
        <p:nvGraphicFramePr>
          <p:cNvPr id="30" name="Object 39"/>
          <p:cNvGraphicFramePr>
            <a:graphicFrameLocks noChangeAspect="1"/>
          </p:cNvGraphicFramePr>
          <p:nvPr/>
        </p:nvGraphicFramePr>
        <p:xfrm>
          <a:off x="4490171" y="855398"/>
          <a:ext cx="1081087" cy="425450"/>
        </p:xfrm>
        <a:graphic>
          <a:graphicData uri="http://schemas.openxmlformats.org/presentationml/2006/ole">
            <mc:AlternateContent xmlns:mc="http://schemas.openxmlformats.org/markup-compatibility/2006">
              <mc:Choice xmlns:v="urn:schemas-microsoft-com:vml" Requires="v">
                <p:oleObj spid="_x0000_s45070" name="公式" r:id="rId9" imgW="14020800" imgH="5486400" progId="">
                  <p:embed/>
                </p:oleObj>
              </mc:Choice>
              <mc:Fallback>
                <p:oleObj name="公式" r:id="rId9" imgW="14020800" imgH="5486400" progId="">
                  <p:embed/>
                  <p:pic>
                    <p:nvPicPr>
                      <p:cNvPr id="0" name="图片 44087"/>
                      <p:cNvPicPr>
                        <a:picLocks noChangeAspect="1"/>
                      </p:cNvPicPr>
                      <p:nvPr/>
                    </p:nvPicPr>
                    <p:blipFill>
                      <a:blip r:embed="rId10"/>
                      <a:stretch>
                        <a:fillRect/>
                      </a:stretch>
                    </p:blipFill>
                    <p:spPr>
                      <a:xfrm>
                        <a:off x="4490171" y="855398"/>
                        <a:ext cx="1081087" cy="425450"/>
                      </a:xfrm>
                      <a:prstGeom prst="rect">
                        <a:avLst/>
                      </a:prstGeom>
                      <a:noFill/>
                      <a:ln w="9525">
                        <a:noFill/>
                      </a:ln>
                    </p:spPr>
                  </p:pic>
                </p:oleObj>
              </mc:Fallback>
            </mc:AlternateContent>
          </a:graphicData>
        </a:graphic>
      </p:graphicFrame>
      <p:graphicFrame>
        <p:nvGraphicFramePr>
          <p:cNvPr id="31" name="Object 40"/>
          <p:cNvGraphicFramePr>
            <a:graphicFrameLocks noChangeAspect="1"/>
          </p:cNvGraphicFramePr>
          <p:nvPr/>
        </p:nvGraphicFramePr>
        <p:xfrm>
          <a:off x="5906769" y="889950"/>
          <a:ext cx="1295400" cy="388938"/>
        </p:xfrm>
        <a:graphic>
          <a:graphicData uri="http://schemas.openxmlformats.org/presentationml/2006/ole">
            <mc:AlternateContent xmlns:mc="http://schemas.openxmlformats.org/markup-compatibility/2006">
              <mc:Choice xmlns:v="urn:schemas-microsoft-com:vml" Requires="v">
                <p:oleObj spid="_x0000_s45071" name="公式" r:id="rId11" imgW="18288000" imgH="5486400" progId="">
                  <p:embed/>
                </p:oleObj>
              </mc:Choice>
              <mc:Fallback>
                <p:oleObj name="公式" r:id="rId11" imgW="18288000" imgH="5486400" progId="">
                  <p:embed/>
                  <p:pic>
                    <p:nvPicPr>
                      <p:cNvPr id="0" name="图片 44088"/>
                      <p:cNvPicPr>
                        <a:picLocks noChangeAspect="1"/>
                      </p:cNvPicPr>
                      <p:nvPr/>
                    </p:nvPicPr>
                    <p:blipFill>
                      <a:blip r:embed="rId12"/>
                      <a:stretch>
                        <a:fillRect/>
                      </a:stretch>
                    </p:blipFill>
                    <p:spPr>
                      <a:xfrm>
                        <a:off x="5906769" y="889950"/>
                        <a:ext cx="1295400" cy="388938"/>
                      </a:xfrm>
                      <a:prstGeom prst="rect">
                        <a:avLst/>
                      </a:prstGeom>
                      <a:noFill/>
                      <a:ln w="9525">
                        <a:noFill/>
                      </a:ln>
                    </p:spPr>
                  </p:pic>
                </p:oleObj>
              </mc:Fallback>
            </mc:AlternateContent>
          </a:graphicData>
        </a:graphic>
      </p:graphicFrame>
      <p:sp>
        <p:nvSpPr>
          <p:cNvPr id="2" name="文本框 1"/>
          <p:cNvSpPr txBox="1"/>
          <p:nvPr/>
        </p:nvSpPr>
        <p:spPr>
          <a:xfrm>
            <a:off x="1475656" y="2080052"/>
            <a:ext cx="700833" cy="400110"/>
          </a:xfrm>
          <a:prstGeom prst="rect">
            <a:avLst/>
          </a:prstGeom>
          <a:noFill/>
        </p:spPr>
        <p:txBody>
          <a:bodyPr wrap="none" rtlCol="0">
            <a:spAutoFit/>
          </a:bodyPr>
          <a:lstStyle/>
          <a:p>
            <a:r>
              <a:rPr lang="zh-CN" altLang="en-US" sz="2000" b="1" dirty="0"/>
              <a:t>有：</a:t>
            </a:r>
          </a:p>
        </p:txBody>
      </p:sp>
      <p:sp>
        <p:nvSpPr>
          <p:cNvPr id="3" name="灯片编号占位符 2"/>
          <p:cNvSpPr>
            <a:spLocks noGrp="1"/>
          </p:cNvSpPr>
          <p:nvPr>
            <p:ph type="sldNum" sz="quarter" idx="11"/>
          </p:nvPr>
        </p:nvSpPr>
        <p:spPr/>
        <p:txBody>
          <a:bodyPr/>
          <a:lstStyle/>
          <a:p>
            <a:pPr>
              <a:defRPr/>
            </a:pPr>
            <a:fld id="{939C9064-C0EA-4A07-ACBE-489AD4D1ABAD}" type="slidenum">
              <a:rPr lang="en-US" altLang="zh-CN" smtClean="0">
                <a:solidFill>
                  <a:srgbClr val="000000"/>
                </a:solidFill>
              </a:rPr>
              <a:t>71</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41301" y="574674"/>
            <a:ext cx="2170112" cy="649288"/>
          </a:xfrm>
        </p:spPr>
        <p:txBody>
          <a:bodyPr/>
          <a:lstStyle/>
          <a:p>
            <a:pPr eaLnBrk="1" hangingPunct="1"/>
            <a:r>
              <a:rPr lang="zh-CN" altLang="en-US" sz="2400" b="1" dirty="0">
                <a:solidFill>
                  <a:srgbClr val="FF0000"/>
                </a:solidFill>
                <a:latin typeface="+mn-ea"/>
                <a:ea typeface="+mn-ea"/>
              </a:rPr>
              <a:t>例</a:t>
            </a:r>
            <a:r>
              <a:rPr lang="en-US" altLang="zh-CN" sz="2400" b="1" dirty="0">
                <a:solidFill>
                  <a:srgbClr val="FF0000"/>
                </a:solidFill>
                <a:latin typeface="+mn-ea"/>
                <a:ea typeface="+mn-ea"/>
              </a:rPr>
              <a:t>4-16</a:t>
            </a:r>
            <a:r>
              <a:rPr lang="zh-CN" altLang="en-US" sz="2400" b="1" dirty="0">
                <a:solidFill>
                  <a:srgbClr val="FF0000"/>
                </a:solidFill>
                <a:latin typeface="+mn-ea"/>
                <a:ea typeface="+mn-ea"/>
              </a:rPr>
              <a:t>：</a:t>
            </a:r>
            <a:endParaRPr lang="en-US" altLang="zh-CN" sz="2400" dirty="0">
              <a:solidFill>
                <a:srgbClr val="FF0000"/>
              </a:solidFill>
              <a:latin typeface="Times New Roman" panose="02020603050405020304" pitchFamily="18" charset="0"/>
              <a:ea typeface="方正舒体" panose="02010601030101010101" pitchFamily="2" charset="-122"/>
            </a:endParaRPr>
          </a:p>
        </p:txBody>
      </p:sp>
      <p:sp>
        <p:nvSpPr>
          <p:cNvPr id="60419" name="Rectangle 3"/>
          <p:cNvSpPr>
            <a:spLocks noGrp="1" noChangeArrowheads="1"/>
          </p:cNvSpPr>
          <p:nvPr>
            <p:ph type="body" idx="1"/>
          </p:nvPr>
        </p:nvSpPr>
        <p:spPr>
          <a:xfrm>
            <a:off x="818416" y="1296987"/>
            <a:ext cx="7218243" cy="1973263"/>
          </a:xfrm>
        </p:spPr>
        <p:txBody>
          <a:bodyPr/>
          <a:lstStyle/>
          <a:p>
            <a:pPr marL="0" indent="0" algn="just" eaLnBrk="1" hangingPunct="1">
              <a:lnSpc>
                <a:spcPct val="150000"/>
              </a:lnSpc>
              <a:buFont typeface="Wingdings" panose="05000000000000000000" pitchFamily="2" charset="2"/>
              <a:buNone/>
            </a:pPr>
            <a:r>
              <a:rPr lang="zh-CN" altLang="en-US" sz="2000" b="1" dirty="0">
                <a:latin typeface="Times New Roman" panose="02020603050405020304" pitchFamily="18" charset="0"/>
              </a:rPr>
              <a:t>      电压源连接</a:t>
            </a:r>
            <a:r>
              <a:rPr lang="en-US" altLang="zh-CN" sz="2000" b="1" dirty="0">
                <a:latin typeface="Times New Roman" panose="02020603050405020304" pitchFamily="18" charset="0"/>
              </a:rPr>
              <a:t>2W</a:t>
            </a:r>
            <a:r>
              <a:rPr lang="zh-CN" altLang="en-US" sz="2000" b="1" dirty="0">
                <a:latin typeface="Times New Roman" panose="02020603050405020304" pitchFamily="18" charset="0"/>
              </a:rPr>
              <a:t>负载时，终端电压为</a:t>
            </a:r>
            <a:r>
              <a:rPr lang="en-US" altLang="zh-CN" sz="2000" b="1" dirty="0">
                <a:latin typeface="Times New Roman" panose="02020603050405020304" pitchFamily="18" charset="0"/>
              </a:rPr>
              <a:t>12V</a:t>
            </a:r>
            <a:r>
              <a:rPr lang="zh-CN" altLang="en-US" sz="2000" b="1" dirty="0">
                <a:latin typeface="Times New Roman" panose="02020603050405020304" pitchFamily="18" charset="0"/>
              </a:rPr>
              <a:t>。当负载断开时，终端电压上升到</a:t>
            </a:r>
            <a:r>
              <a:rPr lang="en-US" altLang="zh-CN" sz="2000" b="1" dirty="0">
                <a:latin typeface="Times New Roman" panose="02020603050405020304" pitchFamily="18" charset="0"/>
              </a:rPr>
              <a:t>12.4V</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计算源电压</a:t>
            </a:r>
            <a:r>
              <a:rPr lang="en-US" altLang="zh-CN" sz="2000" b="1" dirty="0">
                <a:latin typeface="Times New Roman" panose="02020603050405020304" pitchFamily="18" charset="0"/>
              </a:rPr>
              <a:t>V</a:t>
            </a:r>
            <a:r>
              <a:rPr lang="en-US" altLang="zh-CN" sz="2000" b="1" baseline="-25000" dirty="0">
                <a:latin typeface="Times New Roman" panose="02020603050405020304" pitchFamily="18" charset="0"/>
              </a:rPr>
              <a:t>S</a:t>
            </a:r>
            <a:r>
              <a:rPr lang="zh-CN" altLang="en-US" sz="2000" b="1" dirty="0">
                <a:latin typeface="Times New Roman" panose="02020603050405020304" pitchFamily="18" charset="0"/>
              </a:rPr>
              <a:t>和内阻</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S </a:t>
            </a:r>
            <a:r>
              <a:rPr lang="en-US" altLang="zh-CN" sz="2000" b="1" dirty="0">
                <a:latin typeface="Times New Roman" panose="02020603050405020304" pitchFamily="18" charset="0"/>
              </a:rPr>
              <a:t>; (b)</a:t>
            </a:r>
            <a:r>
              <a:rPr lang="zh-CN" altLang="en-US" sz="2000" b="1" dirty="0">
                <a:latin typeface="Times New Roman" panose="02020603050405020304" pitchFamily="18" charset="0"/>
              </a:rPr>
              <a:t>确定电压源连接</a:t>
            </a:r>
            <a:r>
              <a:rPr lang="en-US" altLang="zh-CN" sz="2000" b="1" dirty="0">
                <a:latin typeface="Times New Roman" panose="02020603050405020304" pitchFamily="18" charset="0"/>
              </a:rPr>
              <a:t>8Ω</a:t>
            </a:r>
            <a:r>
              <a:rPr lang="zh-CN" altLang="en-US" sz="2000" b="1" dirty="0">
                <a:latin typeface="Times New Roman" panose="02020603050405020304" pitchFamily="18" charset="0"/>
              </a:rPr>
              <a:t>负载时的终端电压。</a:t>
            </a:r>
            <a:endParaRPr lang="en-US" altLang="zh-CN" sz="2000" b="1" dirty="0">
              <a:latin typeface="Times New Roman" panose="02020603050405020304" pitchFamily="18" charset="0"/>
            </a:endParaRPr>
          </a:p>
        </p:txBody>
      </p:sp>
      <p:sp>
        <p:nvSpPr>
          <p:cNvPr id="60420" name="Text Box 5"/>
          <p:cNvSpPr txBox="1">
            <a:spLocks noChangeArrowheads="1"/>
          </p:cNvSpPr>
          <p:nvPr/>
        </p:nvSpPr>
        <p:spPr bwMode="auto">
          <a:xfrm>
            <a:off x="812320" y="3545895"/>
            <a:ext cx="3589700" cy="1169551"/>
          </a:xfrm>
          <a:prstGeom prst="rect">
            <a:avLst/>
          </a:prstGeom>
          <a:noFill/>
          <a:ln w="9525" algn="ctr">
            <a:noFill/>
            <a:miter lim="800000"/>
          </a:ln>
        </p:spPr>
        <p:txBody>
          <a:bodyPr wrap="square">
            <a:spAutoFit/>
          </a:bodyPr>
          <a:lstStyle/>
          <a:p>
            <a:pPr fontAlgn="base">
              <a:spcBef>
                <a:spcPct val="50000"/>
              </a:spcBef>
              <a:spcAft>
                <a:spcPct val="0"/>
              </a:spcAft>
            </a:pPr>
            <a:r>
              <a:rPr lang="zh-CN" altLang="en-US" sz="2000" b="1" dirty="0">
                <a:solidFill>
                  <a:schemeClr val="bg2"/>
                </a:solidFill>
                <a:latin typeface="Times New Roman" panose="02020603050405020304" pitchFamily="18" charset="0"/>
              </a:rPr>
              <a:t>解决方案</a:t>
            </a:r>
            <a:r>
              <a:rPr lang="en-US" altLang="zh-CN" sz="2000" b="1" dirty="0">
                <a:solidFill>
                  <a:schemeClr val="bg2"/>
                </a:solidFill>
                <a:latin typeface="Times New Roman" panose="02020603050405020304" pitchFamily="18" charset="0"/>
              </a:rPr>
              <a:t>:</a:t>
            </a:r>
          </a:p>
          <a:p>
            <a:pPr fontAlgn="base">
              <a:spcBef>
                <a:spcPct val="50000"/>
              </a:spcBef>
              <a:spcAft>
                <a:spcPct val="0"/>
              </a:spcAft>
            </a:pPr>
            <a:r>
              <a:rPr lang="en-US" altLang="zh-CN" sz="2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 </a:t>
            </a:r>
            <a:r>
              <a:rPr lang="zh-CN" altLang="en-US" sz="2000" b="1" dirty="0">
                <a:solidFill>
                  <a:srgbClr val="000000"/>
                </a:solidFill>
                <a:latin typeface="Times New Roman" panose="02020603050405020304" pitchFamily="18" charset="0"/>
              </a:rPr>
              <a:t>我们用它的戴维南等效来代替电压源：</a:t>
            </a:r>
            <a:endParaRPr lang="en-US" altLang="zh-CN" sz="2000" b="1" dirty="0">
              <a:solidFill>
                <a:srgbClr val="000000"/>
              </a:solidFill>
              <a:latin typeface="Times New Roman" panose="02020603050405020304" pitchFamily="18" charset="0"/>
            </a:endParaRPr>
          </a:p>
        </p:txBody>
      </p:sp>
      <p:grpSp>
        <p:nvGrpSpPr>
          <p:cNvPr id="2" name="Group 6"/>
          <p:cNvGrpSpPr/>
          <p:nvPr/>
        </p:nvGrpSpPr>
        <p:grpSpPr bwMode="auto">
          <a:xfrm>
            <a:off x="5459943" y="3343275"/>
            <a:ext cx="3419475" cy="2233613"/>
            <a:chOff x="249" y="2341"/>
            <a:chExt cx="2154" cy="1407"/>
          </a:xfrm>
        </p:grpSpPr>
        <p:sp>
          <p:nvSpPr>
            <p:cNvPr id="60425" name="Oval 7"/>
            <p:cNvSpPr>
              <a:spLocks noChangeArrowheads="1"/>
            </p:cNvSpPr>
            <p:nvPr/>
          </p:nvSpPr>
          <p:spPr bwMode="auto">
            <a:xfrm>
              <a:off x="1701" y="3521"/>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3" name="Group 8"/>
            <p:cNvGrpSpPr/>
            <p:nvPr/>
          </p:nvGrpSpPr>
          <p:grpSpPr bwMode="auto">
            <a:xfrm>
              <a:off x="249" y="2341"/>
              <a:ext cx="2154" cy="1407"/>
              <a:chOff x="3606" y="1888"/>
              <a:chExt cx="2154" cy="1407"/>
            </a:xfrm>
          </p:grpSpPr>
          <p:sp>
            <p:nvSpPr>
              <p:cNvPr id="60427" name="Line 9"/>
              <p:cNvSpPr>
                <a:spLocks noChangeShapeType="1"/>
              </p:cNvSpPr>
              <p:nvPr/>
            </p:nvSpPr>
            <p:spPr bwMode="auto">
              <a:xfrm>
                <a:off x="5057" y="2387"/>
                <a:ext cx="363"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4" name="Group 10"/>
              <p:cNvGrpSpPr/>
              <p:nvPr/>
            </p:nvGrpSpPr>
            <p:grpSpPr bwMode="auto">
              <a:xfrm>
                <a:off x="3606" y="1888"/>
                <a:ext cx="2154" cy="1407"/>
                <a:chOff x="3606" y="1298"/>
                <a:chExt cx="2154" cy="1407"/>
              </a:xfrm>
            </p:grpSpPr>
            <p:sp>
              <p:nvSpPr>
                <p:cNvPr id="60429" name="Oval 11"/>
                <p:cNvSpPr>
                  <a:spLocks noChangeArrowheads="1"/>
                </p:cNvSpPr>
                <p:nvPr/>
              </p:nvSpPr>
              <p:spPr bwMode="auto">
                <a:xfrm>
                  <a:off x="5012" y="1752"/>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5" name="Group 12"/>
                <p:cNvGrpSpPr/>
                <p:nvPr/>
              </p:nvGrpSpPr>
              <p:grpSpPr bwMode="auto">
                <a:xfrm>
                  <a:off x="3606" y="1298"/>
                  <a:ext cx="2154" cy="1407"/>
                  <a:chOff x="3606" y="1298"/>
                  <a:chExt cx="2154" cy="1407"/>
                </a:xfrm>
              </p:grpSpPr>
              <p:grpSp>
                <p:nvGrpSpPr>
                  <p:cNvPr id="6" name="Group 13"/>
                  <p:cNvGrpSpPr/>
                  <p:nvPr/>
                </p:nvGrpSpPr>
                <p:grpSpPr bwMode="auto">
                  <a:xfrm>
                    <a:off x="3651" y="1298"/>
                    <a:ext cx="2109" cy="1236"/>
                    <a:chOff x="3651" y="1298"/>
                    <a:chExt cx="2109" cy="1236"/>
                  </a:xfrm>
                </p:grpSpPr>
                <p:grpSp>
                  <p:nvGrpSpPr>
                    <p:cNvPr id="7" name="Group 14"/>
                    <p:cNvGrpSpPr/>
                    <p:nvPr/>
                  </p:nvGrpSpPr>
                  <p:grpSpPr bwMode="auto">
                    <a:xfrm>
                      <a:off x="3651" y="1434"/>
                      <a:ext cx="1406" cy="1100"/>
                      <a:chOff x="3651" y="1434"/>
                      <a:chExt cx="1406" cy="1100"/>
                    </a:xfrm>
                  </p:grpSpPr>
                  <p:sp>
                    <p:nvSpPr>
                      <p:cNvPr id="60442" name="Line 15"/>
                      <p:cNvSpPr>
                        <a:spLocks noChangeShapeType="1"/>
                      </p:cNvSpPr>
                      <p:nvPr/>
                    </p:nvSpPr>
                    <p:spPr bwMode="auto">
                      <a:xfrm flipV="1">
                        <a:off x="3998" y="2523"/>
                        <a:ext cx="1059" cy="11"/>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0443" name="Line 16"/>
                      <p:cNvSpPr>
                        <a:spLocks noChangeShapeType="1"/>
                      </p:cNvSpPr>
                      <p:nvPr/>
                    </p:nvSpPr>
                    <p:spPr bwMode="auto">
                      <a:xfrm>
                        <a:off x="3998" y="1794"/>
                        <a:ext cx="1014" cy="3"/>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0444" name="Line 17"/>
                      <p:cNvSpPr>
                        <a:spLocks noChangeShapeType="1"/>
                      </p:cNvSpPr>
                      <p:nvPr/>
                    </p:nvSpPr>
                    <p:spPr bwMode="auto">
                      <a:xfrm>
                        <a:off x="3998" y="1794"/>
                        <a:ext cx="0" cy="74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0445" name="Text Box 18"/>
                      <p:cNvSpPr txBox="1">
                        <a:spLocks noChangeArrowheads="1"/>
                      </p:cNvSpPr>
                      <p:nvPr/>
                    </p:nvSpPr>
                    <p:spPr bwMode="auto">
                      <a:xfrm>
                        <a:off x="4468" y="1434"/>
                        <a:ext cx="331"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s</a:t>
                        </a:r>
                        <a:endParaRPr lang="en-US" altLang="zh-CN">
                          <a:solidFill>
                            <a:srgbClr val="000000"/>
                          </a:solidFill>
                        </a:endParaRPr>
                      </a:p>
                    </p:txBody>
                  </p:sp>
                  <p:pic>
                    <p:nvPicPr>
                      <p:cNvPr id="60446" name="Picture 19"/>
                      <p:cNvPicPr>
                        <a:picLocks noChangeAspect="1" noChangeArrowheads="1"/>
                      </p:cNvPicPr>
                      <p:nvPr/>
                    </p:nvPicPr>
                    <p:blipFill>
                      <a:blip r:embed="rId3" cstate="print"/>
                      <a:srcRect/>
                      <a:stretch>
                        <a:fillRect/>
                      </a:stretch>
                    </p:blipFill>
                    <p:spPr bwMode="auto">
                      <a:xfrm>
                        <a:off x="3866" y="2063"/>
                        <a:ext cx="265" cy="270"/>
                      </a:xfrm>
                      <a:prstGeom prst="rect">
                        <a:avLst/>
                      </a:prstGeom>
                      <a:noFill/>
                      <a:ln w="9525" algn="ctr">
                        <a:noFill/>
                        <a:miter lim="800000"/>
                        <a:headEnd/>
                        <a:tailEnd/>
                      </a:ln>
                    </p:spPr>
                  </p:pic>
                  <p:sp>
                    <p:nvSpPr>
                      <p:cNvPr id="60447" name="Text Box 20"/>
                      <p:cNvSpPr txBox="1">
                        <a:spLocks noChangeArrowheads="1"/>
                      </p:cNvSpPr>
                      <p:nvPr/>
                    </p:nvSpPr>
                    <p:spPr bwMode="auto">
                      <a:xfrm>
                        <a:off x="3651" y="2063"/>
                        <a:ext cx="280"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s</a:t>
                        </a:r>
                        <a:endParaRPr lang="en-US" altLang="zh-CN">
                          <a:solidFill>
                            <a:srgbClr val="000000"/>
                          </a:solidFill>
                        </a:endParaRPr>
                      </a:p>
                    </p:txBody>
                  </p:sp>
                  <p:pic>
                    <p:nvPicPr>
                      <p:cNvPr id="60448" name="Picture 21"/>
                      <p:cNvPicPr>
                        <a:picLocks noChangeAspect="1" noChangeArrowheads="1"/>
                      </p:cNvPicPr>
                      <p:nvPr/>
                    </p:nvPicPr>
                    <p:blipFill>
                      <a:blip r:embed="rId4" cstate="print"/>
                      <a:srcRect/>
                      <a:stretch>
                        <a:fillRect/>
                      </a:stretch>
                    </p:blipFill>
                    <p:spPr bwMode="auto">
                      <a:xfrm rot="-5400000">
                        <a:off x="4416" y="1576"/>
                        <a:ext cx="138" cy="397"/>
                      </a:xfrm>
                      <a:prstGeom prst="rect">
                        <a:avLst/>
                      </a:prstGeom>
                      <a:noFill/>
                      <a:ln w="9525" algn="ctr">
                        <a:noFill/>
                        <a:miter lim="800000"/>
                        <a:headEnd/>
                        <a:tailEnd/>
                      </a:ln>
                    </p:spPr>
                  </p:pic>
                </p:grpSp>
                <p:sp>
                  <p:nvSpPr>
                    <p:cNvPr id="60434" name="Line 22"/>
                    <p:cNvSpPr>
                      <a:spLocks noChangeShapeType="1"/>
                    </p:cNvSpPr>
                    <p:nvPr/>
                  </p:nvSpPr>
                  <p:spPr bwMode="auto">
                    <a:xfrm>
                      <a:off x="5420" y="1797"/>
                      <a:ext cx="0" cy="72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0435" name="Line 23"/>
                    <p:cNvSpPr>
                      <a:spLocks noChangeShapeType="1"/>
                    </p:cNvSpPr>
                    <p:nvPr/>
                  </p:nvSpPr>
                  <p:spPr bwMode="auto">
                    <a:xfrm flipH="1">
                      <a:off x="5103" y="2523"/>
                      <a:ext cx="317"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0436" name="Picture 24"/>
                    <p:cNvPicPr>
                      <a:picLocks noChangeAspect="1" noChangeArrowheads="1"/>
                    </p:cNvPicPr>
                    <p:nvPr/>
                  </p:nvPicPr>
                  <p:blipFill>
                    <a:blip r:embed="rId4" cstate="print"/>
                    <a:srcRect/>
                    <a:stretch>
                      <a:fillRect/>
                    </a:stretch>
                  </p:blipFill>
                  <p:spPr bwMode="auto">
                    <a:xfrm>
                      <a:off x="5329" y="1979"/>
                      <a:ext cx="138" cy="403"/>
                    </a:xfrm>
                    <a:prstGeom prst="rect">
                      <a:avLst/>
                    </a:prstGeom>
                    <a:noFill/>
                    <a:ln w="9525" algn="ctr">
                      <a:noFill/>
                      <a:miter lim="800000"/>
                      <a:headEnd/>
                      <a:tailEnd/>
                    </a:ln>
                  </p:spPr>
                </p:pic>
                <p:sp>
                  <p:nvSpPr>
                    <p:cNvPr id="60437" name="Text Box 25"/>
                    <p:cNvSpPr txBox="1">
                      <a:spLocks noChangeArrowheads="1"/>
                    </p:cNvSpPr>
                    <p:nvPr/>
                  </p:nvSpPr>
                  <p:spPr bwMode="auto">
                    <a:xfrm>
                      <a:off x="5465" y="2069"/>
                      <a:ext cx="295"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a:solidFill>
                            <a:srgbClr val="000000"/>
                          </a:solidFill>
                        </a:rPr>
                        <a:t>R</a:t>
                      </a:r>
                      <a:r>
                        <a:rPr lang="en-US" altLang="zh-CN" sz="2000" baseline="-25000">
                          <a:solidFill>
                            <a:srgbClr val="000000"/>
                          </a:solidFill>
                        </a:rPr>
                        <a:t>L</a:t>
                      </a:r>
                      <a:endParaRPr lang="en-US" altLang="zh-CN">
                        <a:solidFill>
                          <a:srgbClr val="000000"/>
                        </a:solidFill>
                      </a:endParaRPr>
                    </a:p>
                  </p:txBody>
                </p:sp>
                <p:pic>
                  <p:nvPicPr>
                    <p:cNvPr id="60438" name="Picture 26"/>
                    <p:cNvPicPr>
                      <a:picLocks noChangeAspect="1" noChangeArrowheads="1"/>
                    </p:cNvPicPr>
                    <p:nvPr/>
                  </p:nvPicPr>
                  <p:blipFill>
                    <a:blip r:embed="rId5" cstate="print"/>
                    <a:srcRect/>
                    <a:stretch>
                      <a:fillRect/>
                    </a:stretch>
                  </p:blipFill>
                  <p:spPr bwMode="auto">
                    <a:xfrm>
                      <a:off x="4980" y="1843"/>
                      <a:ext cx="136" cy="136"/>
                    </a:xfrm>
                    <a:prstGeom prst="rect">
                      <a:avLst/>
                    </a:prstGeom>
                    <a:noFill/>
                    <a:ln w="9525" algn="ctr">
                      <a:noFill/>
                      <a:miter lim="800000"/>
                      <a:headEnd/>
                      <a:tailEnd/>
                    </a:ln>
                  </p:spPr>
                </p:pic>
                <p:pic>
                  <p:nvPicPr>
                    <p:cNvPr id="60439" name="Picture 27"/>
                    <p:cNvPicPr>
                      <a:picLocks noChangeAspect="1" noChangeArrowheads="1"/>
                    </p:cNvPicPr>
                    <p:nvPr/>
                  </p:nvPicPr>
                  <p:blipFill>
                    <a:blip r:embed="rId6" cstate="print"/>
                    <a:srcRect/>
                    <a:stretch>
                      <a:fillRect/>
                    </a:stretch>
                  </p:blipFill>
                  <p:spPr bwMode="auto">
                    <a:xfrm>
                      <a:off x="4967" y="2387"/>
                      <a:ext cx="181" cy="48"/>
                    </a:xfrm>
                    <a:prstGeom prst="rect">
                      <a:avLst/>
                    </a:prstGeom>
                    <a:noFill/>
                    <a:ln w="9525" algn="ctr">
                      <a:noFill/>
                      <a:miter lim="800000"/>
                      <a:headEnd/>
                      <a:tailEnd/>
                    </a:ln>
                  </p:spPr>
                </p:pic>
                <p:sp>
                  <p:nvSpPr>
                    <p:cNvPr id="60440" name="Text Box 28"/>
                    <p:cNvSpPr txBox="1">
                      <a:spLocks noChangeArrowheads="1"/>
                    </p:cNvSpPr>
                    <p:nvPr/>
                  </p:nvSpPr>
                  <p:spPr bwMode="auto">
                    <a:xfrm>
                      <a:off x="4921" y="1933"/>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L</a:t>
                      </a:r>
                      <a:endParaRPr lang="en-US" altLang="zh-CN" i="1">
                        <a:solidFill>
                          <a:srgbClr val="000000"/>
                        </a:solidFill>
                      </a:endParaRPr>
                    </a:p>
                  </p:txBody>
                </p:sp>
                <p:sp>
                  <p:nvSpPr>
                    <p:cNvPr id="60441" name="Text Box 29"/>
                    <p:cNvSpPr txBox="1">
                      <a:spLocks noChangeArrowheads="1"/>
                    </p:cNvSpPr>
                    <p:nvPr/>
                  </p:nvSpPr>
                  <p:spPr bwMode="auto">
                    <a:xfrm>
                      <a:off x="5193" y="1298"/>
                      <a:ext cx="363" cy="500"/>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	</a:t>
                      </a:r>
                      <a:r>
                        <a:rPr lang="en-US" altLang="zh-CN" sz="2800">
                          <a:solidFill>
                            <a:srgbClr val="000000"/>
                          </a:solidFill>
                          <a:latin typeface="Monotype Corsiva" panose="03010101010201010101" pitchFamily="66" charset="0"/>
                        </a:rPr>
                        <a:t>i</a:t>
                      </a:r>
                      <a:r>
                        <a:rPr lang="en-US" altLang="zh-CN" baseline="-25000">
                          <a:solidFill>
                            <a:srgbClr val="000000"/>
                          </a:solidFill>
                        </a:rPr>
                        <a:t> L</a:t>
                      </a:r>
                      <a:endParaRPr lang="en-US" altLang="zh-CN">
                        <a:solidFill>
                          <a:srgbClr val="000000"/>
                        </a:solidFill>
                      </a:endParaRPr>
                    </a:p>
                  </p:txBody>
                </p:sp>
              </p:grpSp>
              <p:sp>
                <p:nvSpPr>
                  <p:cNvPr id="60432" name="Rectangle 30"/>
                  <p:cNvSpPr>
                    <a:spLocks noChangeArrowheads="1"/>
                  </p:cNvSpPr>
                  <p:nvPr/>
                </p:nvSpPr>
                <p:spPr bwMode="auto">
                  <a:xfrm>
                    <a:off x="3606" y="1480"/>
                    <a:ext cx="1587" cy="1225"/>
                  </a:xfrm>
                  <a:prstGeom prst="rect">
                    <a:avLst/>
                  </a:prstGeom>
                  <a:noFill/>
                  <a:ln w="9525" algn="ctr">
                    <a:solidFill>
                      <a:schemeClr val="tx1"/>
                    </a:solidFill>
                    <a:prstDash val="dash"/>
                    <a:miter lim="800000"/>
                  </a:ln>
                </p:spPr>
                <p:txBody>
                  <a:bodyPr wrap="none" anchor="ctr"/>
                  <a:lstStyle/>
                  <a:p>
                    <a:pPr algn="ctr" fontAlgn="base">
                      <a:spcBef>
                        <a:spcPct val="0"/>
                      </a:spcBef>
                      <a:spcAft>
                        <a:spcPct val="0"/>
                      </a:spcAft>
                    </a:pPr>
                    <a:endParaRPr lang="zh-CN" altLang="zh-CN">
                      <a:solidFill>
                        <a:srgbClr val="000000"/>
                      </a:solidFill>
                    </a:endParaRPr>
                  </a:p>
                </p:txBody>
              </p:sp>
            </p:grpSp>
          </p:grpSp>
        </p:grpSp>
      </p:grpSp>
      <p:sp>
        <p:nvSpPr>
          <p:cNvPr id="60422" name="Text Box 57"/>
          <p:cNvSpPr txBox="1">
            <a:spLocks noChangeArrowheads="1"/>
          </p:cNvSpPr>
          <p:nvPr/>
        </p:nvSpPr>
        <p:spPr bwMode="auto">
          <a:xfrm>
            <a:off x="6082244" y="5851723"/>
            <a:ext cx="2301394" cy="338554"/>
          </a:xfrm>
          <a:prstGeom prst="rect">
            <a:avLst/>
          </a:prstGeom>
          <a:noFill/>
          <a:ln w="9525" algn="ctr">
            <a:noFill/>
            <a:miter lim="800000"/>
          </a:ln>
        </p:spPr>
        <p:txBody>
          <a:bodyPr wrap="square">
            <a:spAutoFit/>
          </a:bodyPr>
          <a:lstStyle/>
          <a:p>
            <a:pPr fontAlgn="base">
              <a:spcBef>
                <a:spcPct val="50000"/>
              </a:spcBef>
              <a:spcAft>
                <a:spcPct val="0"/>
              </a:spcAft>
            </a:pPr>
            <a:r>
              <a:rPr lang="en-US" altLang="zh-CN" sz="1600" dirty="0">
                <a:solidFill>
                  <a:srgbClr val="000000"/>
                </a:solidFill>
              </a:rPr>
              <a:t> </a:t>
            </a:r>
            <a:r>
              <a:rPr lang="zh-CN" altLang="en-US" sz="1600" b="1" dirty="0">
                <a:solidFill>
                  <a:srgbClr val="000000"/>
                </a:solidFill>
              </a:rPr>
              <a:t>电源的</a:t>
            </a:r>
            <a:r>
              <a:rPr lang="zh-CN" altLang="en-US" sz="1600" b="1" dirty="0">
                <a:solidFill>
                  <a:srgbClr val="000000"/>
                </a:solidFill>
                <a:latin typeface="Times New Roman" panose="02020603050405020304" pitchFamily="18" charset="0"/>
              </a:rPr>
              <a:t>戴维南等效</a:t>
            </a:r>
            <a:endParaRPr lang="en-US" altLang="zh-CN" sz="1600" dirty="0">
              <a:solidFill>
                <a:srgbClr val="000000"/>
              </a:solidFill>
            </a:endParaRPr>
          </a:p>
        </p:txBody>
      </p:sp>
      <p:sp>
        <p:nvSpPr>
          <p:cNvPr id="60423" name="Rectangle 60"/>
          <p:cNvSpPr>
            <a:spLocks noChangeArrowheads="1"/>
          </p:cNvSpPr>
          <p:nvPr/>
        </p:nvSpPr>
        <p:spPr bwMode="auto">
          <a:xfrm>
            <a:off x="2378075" y="4267200"/>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0424" name="Object 61"/>
          <p:cNvGraphicFramePr>
            <a:graphicFrameLocks noChangeAspect="1"/>
          </p:cNvGraphicFramePr>
          <p:nvPr/>
        </p:nvGraphicFramePr>
        <p:xfrm>
          <a:off x="1878063" y="4992251"/>
          <a:ext cx="2016125" cy="444500"/>
        </p:xfrm>
        <a:graphic>
          <a:graphicData uri="http://schemas.openxmlformats.org/presentationml/2006/ole">
            <mc:AlternateContent xmlns:mc="http://schemas.openxmlformats.org/markup-compatibility/2006">
              <mc:Choice xmlns:v="urn:schemas-microsoft-com:vml" Requires="v">
                <p:oleObj spid="_x0000_s46085" name="公式" r:id="rId7" imgW="24993600" imgH="5486400" progId="">
                  <p:embed/>
                </p:oleObj>
              </mc:Choice>
              <mc:Fallback>
                <p:oleObj name="公式" r:id="rId7" imgW="24993600" imgH="5486400" progId="">
                  <p:embed/>
                  <p:pic>
                    <p:nvPicPr>
                      <p:cNvPr id="0" name="图片 45056"/>
                      <p:cNvPicPr>
                        <a:picLocks noChangeAspect="1"/>
                      </p:cNvPicPr>
                      <p:nvPr/>
                    </p:nvPicPr>
                    <p:blipFill>
                      <a:blip r:embed="rId8"/>
                      <a:stretch>
                        <a:fillRect/>
                      </a:stretch>
                    </p:blipFill>
                    <p:spPr>
                      <a:xfrm>
                        <a:off x="1878063" y="4992251"/>
                        <a:ext cx="2016125" cy="444500"/>
                      </a:xfrm>
                      <a:prstGeom prst="rect">
                        <a:avLst/>
                      </a:prstGeom>
                      <a:noFill/>
                      <a:ln w="9525">
                        <a:noFill/>
                      </a:ln>
                    </p:spPr>
                  </p:pic>
                </p:oleObj>
              </mc:Fallback>
            </mc:AlternateContent>
          </a:graphicData>
        </a:graphic>
      </p:graphicFrame>
      <p:sp>
        <p:nvSpPr>
          <p:cNvPr id="8" name="灯片编号占位符 7"/>
          <p:cNvSpPr>
            <a:spLocks noGrp="1"/>
          </p:cNvSpPr>
          <p:nvPr>
            <p:ph type="sldNum" sz="quarter" idx="11"/>
          </p:nvPr>
        </p:nvSpPr>
        <p:spPr/>
        <p:txBody>
          <a:bodyPr/>
          <a:lstStyle/>
          <a:p>
            <a:pPr>
              <a:defRPr/>
            </a:pPr>
            <a:fld id="{939C9064-C0EA-4A07-ACBE-489AD4D1ABAD}" type="slidenum">
              <a:rPr lang="en-US" altLang="zh-CN" smtClean="0">
                <a:solidFill>
                  <a:srgbClr val="000000"/>
                </a:solidFill>
              </a:rPr>
              <a:t>72</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sz="2000" b="1" dirty="0">
                <a:latin typeface="Times New Roman" panose="02020603050405020304" pitchFamily="18" charset="0"/>
              </a:rPr>
              <a:t>由题意，</a:t>
            </a:r>
            <a:r>
              <a:rPr lang="en-US" altLang="zh-CN" sz="2400" b="1" i="1" dirty="0">
                <a:latin typeface="Times New Roman" panose="02020603050405020304" pitchFamily="18" charset="0"/>
                <a:cs typeface="Times New Roman" panose="02020603050405020304" pitchFamily="18" charset="0"/>
              </a:rPr>
              <a:t>V</a:t>
            </a:r>
            <a:r>
              <a:rPr lang="en-US" altLang="zh-CN" sz="2000" b="1" baseline="-25000" dirty="0">
                <a:latin typeface="Times New Roman" panose="02020603050405020304" pitchFamily="18" charset="0"/>
              </a:rPr>
              <a:t>L</a:t>
            </a:r>
            <a:r>
              <a:rPr lang="en-US" altLang="zh-CN" sz="2000" b="1" dirty="0">
                <a:latin typeface="Times New Roman" panose="02020603050405020304" pitchFamily="18" charset="0"/>
              </a:rPr>
              <a:t> = 12V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a:t>
            </a:r>
            <a:r>
              <a:rPr lang="en-US" altLang="zh-CN" sz="2400" b="1" i="1" dirty="0">
                <a:latin typeface="Times New Roman" panose="02020603050405020304" pitchFamily="18" charset="0"/>
              </a:rPr>
              <a:t>P</a:t>
            </a:r>
            <a:r>
              <a:rPr lang="en-US" altLang="zh-CN" sz="2000" b="1" baseline="-25000" dirty="0">
                <a:latin typeface="Times New Roman" panose="02020603050405020304" pitchFamily="18" charset="0"/>
              </a:rPr>
              <a:t>L</a:t>
            </a:r>
            <a:r>
              <a:rPr lang="en-US" altLang="zh-CN" sz="2000" b="1" dirty="0">
                <a:latin typeface="Times New Roman" panose="02020603050405020304" pitchFamily="18" charset="0"/>
              </a:rPr>
              <a:t>= 2W</a:t>
            </a:r>
            <a:r>
              <a:rPr lang="zh-CN" altLang="en-US" sz="2000" b="1" dirty="0">
                <a:latin typeface="Times New Roman" panose="02020603050405020304" pitchFamily="18" charset="0"/>
              </a:rPr>
              <a:t>。因此：</a:t>
            </a:r>
            <a:endParaRPr lang="en-US" altLang="zh-CN" sz="2000" b="1" dirty="0">
              <a:latin typeface="Times New Roman" panose="02020603050405020304" pitchFamily="18" charset="0"/>
            </a:endParaRPr>
          </a:p>
        </p:txBody>
      </p:sp>
      <p:sp>
        <p:nvSpPr>
          <p:cNvPr id="61443" name="Rectangle 3"/>
          <p:cNvSpPr>
            <a:spLocks noChangeArrowheads="1"/>
          </p:cNvSpPr>
          <p:nvPr/>
        </p:nvSpPr>
        <p:spPr bwMode="auto">
          <a:xfrm>
            <a:off x="2052638" y="3514725"/>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1444" name="Object 4"/>
          <p:cNvGraphicFramePr>
            <a:graphicFrameLocks noChangeAspect="1"/>
          </p:cNvGraphicFramePr>
          <p:nvPr/>
        </p:nvGraphicFramePr>
        <p:xfrm>
          <a:off x="611188" y="1557338"/>
          <a:ext cx="1223962" cy="949325"/>
        </p:xfrm>
        <a:graphic>
          <a:graphicData uri="http://schemas.openxmlformats.org/presentationml/2006/ole">
            <mc:AlternateContent xmlns:mc="http://schemas.openxmlformats.org/markup-compatibility/2006">
              <mc:Choice xmlns:v="urn:schemas-microsoft-com:vml" Requires="v">
                <p:oleObj spid="_x0000_s47129" name="公式" r:id="rId3" imgW="15240000" imgH="11887200" progId="">
                  <p:embed/>
                </p:oleObj>
              </mc:Choice>
              <mc:Fallback>
                <p:oleObj name="公式" r:id="rId3" imgW="15240000" imgH="11887200" progId="">
                  <p:embed/>
                  <p:pic>
                    <p:nvPicPr>
                      <p:cNvPr id="0" name="图片 46080"/>
                      <p:cNvPicPr>
                        <a:picLocks noChangeAspect="1"/>
                      </p:cNvPicPr>
                      <p:nvPr/>
                    </p:nvPicPr>
                    <p:blipFill>
                      <a:blip r:embed="rId4"/>
                      <a:stretch>
                        <a:fillRect/>
                      </a:stretch>
                    </p:blipFill>
                    <p:spPr>
                      <a:xfrm>
                        <a:off x="611188" y="1557338"/>
                        <a:ext cx="1223962" cy="949325"/>
                      </a:xfrm>
                      <a:prstGeom prst="rect">
                        <a:avLst/>
                      </a:prstGeom>
                      <a:noFill/>
                      <a:ln w="9525">
                        <a:noFill/>
                      </a:ln>
                    </p:spPr>
                  </p:pic>
                </p:oleObj>
              </mc:Fallback>
            </mc:AlternateContent>
          </a:graphicData>
        </a:graphic>
      </p:graphicFrame>
      <p:sp>
        <p:nvSpPr>
          <p:cNvPr id="61445" name="Line 5"/>
          <p:cNvSpPr>
            <a:spLocks noChangeShapeType="1"/>
          </p:cNvSpPr>
          <p:nvPr/>
        </p:nvSpPr>
        <p:spPr bwMode="auto">
          <a:xfrm>
            <a:off x="2195513" y="2060575"/>
            <a:ext cx="431800"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1446" name="Object 6"/>
          <p:cNvGraphicFramePr>
            <a:graphicFrameLocks noChangeAspect="1"/>
          </p:cNvGraphicFramePr>
          <p:nvPr/>
        </p:nvGraphicFramePr>
        <p:xfrm>
          <a:off x="3059113" y="1628775"/>
          <a:ext cx="2339975" cy="777875"/>
        </p:xfrm>
        <a:graphic>
          <a:graphicData uri="http://schemas.openxmlformats.org/presentationml/2006/ole">
            <mc:AlternateContent xmlns:mc="http://schemas.openxmlformats.org/markup-compatibility/2006">
              <mc:Choice xmlns:v="urn:schemas-microsoft-com:vml" Requires="v">
                <p:oleObj spid="_x0000_s47130" name="Equation" r:id="rId5" imgW="32918400" imgH="10972800" progId="">
                  <p:embed/>
                </p:oleObj>
              </mc:Choice>
              <mc:Fallback>
                <p:oleObj name="Equation" r:id="rId5" imgW="32918400" imgH="10972800" progId="">
                  <p:embed/>
                  <p:pic>
                    <p:nvPicPr>
                      <p:cNvPr id="0" name="图片 46186"/>
                      <p:cNvPicPr>
                        <a:picLocks noChangeAspect="1"/>
                      </p:cNvPicPr>
                      <p:nvPr/>
                    </p:nvPicPr>
                    <p:blipFill>
                      <a:blip r:embed="rId6"/>
                      <a:stretch>
                        <a:fillRect/>
                      </a:stretch>
                    </p:blipFill>
                    <p:spPr>
                      <a:xfrm>
                        <a:off x="3059113" y="1628775"/>
                        <a:ext cx="2339975" cy="777875"/>
                      </a:xfrm>
                      <a:prstGeom prst="rect">
                        <a:avLst/>
                      </a:prstGeom>
                      <a:noFill/>
                      <a:ln w="9525">
                        <a:noFill/>
                      </a:ln>
                    </p:spPr>
                  </p:pic>
                </p:oleObj>
              </mc:Fallback>
            </mc:AlternateContent>
          </a:graphicData>
        </a:graphic>
      </p:graphicFrame>
      <p:sp>
        <p:nvSpPr>
          <p:cNvPr id="61447" name="Rectangle 7"/>
          <p:cNvSpPr>
            <a:spLocks noChangeArrowheads="1"/>
          </p:cNvSpPr>
          <p:nvPr/>
        </p:nvSpPr>
        <p:spPr bwMode="auto">
          <a:xfrm>
            <a:off x="2378075" y="3394075"/>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1448" name="Object 8"/>
          <p:cNvGraphicFramePr>
            <a:graphicFrameLocks noChangeAspect="1"/>
          </p:cNvGraphicFramePr>
          <p:nvPr/>
        </p:nvGraphicFramePr>
        <p:xfrm>
          <a:off x="1393825" y="2568577"/>
          <a:ext cx="2089150" cy="750888"/>
        </p:xfrm>
        <a:graphic>
          <a:graphicData uri="http://schemas.openxmlformats.org/presentationml/2006/ole">
            <mc:AlternateContent xmlns:mc="http://schemas.openxmlformats.org/markup-compatibility/2006">
              <mc:Choice xmlns:v="urn:schemas-microsoft-com:vml" Requires="v">
                <p:oleObj spid="_x0000_s47131" name="公式" r:id="rId7" imgW="29870400" imgH="10668000" progId="">
                  <p:embed/>
                </p:oleObj>
              </mc:Choice>
              <mc:Fallback>
                <p:oleObj name="公式" r:id="rId7" imgW="29870400" imgH="10668000" progId="">
                  <p:embed/>
                  <p:pic>
                    <p:nvPicPr>
                      <p:cNvPr id="0" name="图片 46187"/>
                      <p:cNvPicPr>
                        <a:picLocks noChangeAspect="1"/>
                      </p:cNvPicPr>
                      <p:nvPr/>
                    </p:nvPicPr>
                    <p:blipFill>
                      <a:blip r:embed="rId8"/>
                      <a:stretch>
                        <a:fillRect/>
                      </a:stretch>
                    </p:blipFill>
                    <p:spPr>
                      <a:xfrm>
                        <a:off x="1393825" y="2568577"/>
                        <a:ext cx="2089150" cy="750888"/>
                      </a:xfrm>
                      <a:prstGeom prst="rect">
                        <a:avLst/>
                      </a:prstGeom>
                      <a:noFill/>
                      <a:ln w="9525">
                        <a:noFill/>
                      </a:ln>
                    </p:spPr>
                  </p:pic>
                </p:oleObj>
              </mc:Fallback>
            </mc:AlternateContent>
          </a:graphicData>
        </a:graphic>
      </p:graphicFrame>
      <p:sp>
        <p:nvSpPr>
          <p:cNvPr id="61449" name="Rectangle 9"/>
          <p:cNvSpPr>
            <a:spLocks noChangeArrowheads="1"/>
          </p:cNvSpPr>
          <p:nvPr/>
        </p:nvSpPr>
        <p:spPr bwMode="auto">
          <a:xfrm>
            <a:off x="1951038" y="3860800"/>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1450" name="Object 10"/>
          <p:cNvGraphicFramePr>
            <a:graphicFrameLocks noChangeAspect="1"/>
          </p:cNvGraphicFramePr>
          <p:nvPr/>
        </p:nvGraphicFramePr>
        <p:xfrm>
          <a:off x="1044079" y="3709389"/>
          <a:ext cx="2376487" cy="398462"/>
        </p:xfrm>
        <a:graphic>
          <a:graphicData uri="http://schemas.openxmlformats.org/presentationml/2006/ole">
            <mc:AlternateContent xmlns:mc="http://schemas.openxmlformats.org/markup-compatibility/2006">
              <mc:Choice xmlns:v="urn:schemas-microsoft-com:vml" Requires="v">
                <p:oleObj spid="_x0000_s47132" name="公式" r:id="rId9" imgW="32613600" imgH="5486400" progId="">
                  <p:embed/>
                </p:oleObj>
              </mc:Choice>
              <mc:Fallback>
                <p:oleObj name="公式" r:id="rId9" imgW="32613600" imgH="5486400" progId="">
                  <p:embed/>
                  <p:pic>
                    <p:nvPicPr>
                      <p:cNvPr id="0" name="图片 46188"/>
                      <p:cNvPicPr>
                        <a:picLocks noChangeAspect="1"/>
                      </p:cNvPicPr>
                      <p:nvPr/>
                    </p:nvPicPr>
                    <p:blipFill>
                      <a:blip r:embed="rId10"/>
                      <a:stretch>
                        <a:fillRect/>
                      </a:stretch>
                    </p:blipFill>
                    <p:spPr>
                      <a:xfrm>
                        <a:off x="1044079" y="3709389"/>
                        <a:ext cx="2376487" cy="398462"/>
                      </a:xfrm>
                      <a:prstGeom prst="rect">
                        <a:avLst/>
                      </a:prstGeom>
                      <a:noFill/>
                      <a:ln w="9525">
                        <a:noFill/>
                      </a:ln>
                    </p:spPr>
                  </p:pic>
                </p:oleObj>
              </mc:Fallback>
            </mc:AlternateContent>
          </a:graphicData>
        </a:graphic>
      </p:graphicFrame>
      <p:graphicFrame>
        <p:nvGraphicFramePr>
          <p:cNvPr id="61451" name="Object 11"/>
          <p:cNvGraphicFramePr>
            <a:graphicFrameLocks noChangeAspect="1"/>
          </p:cNvGraphicFramePr>
          <p:nvPr/>
        </p:nvGraphicFramePr>
        <p:xfrm>
          <a:off x="3707904" y="3564926"/>
          <a:ext cx="1800225" cy="723900"/>
        </p:xfrm>
        <a:graphic>
          <a:graphicData uri="http://schemas.openxmlformats.org/presentationml/2006/ole">
            <mc:AlternateContent xmlns:mc="http://schemas.openxmlformats.org/markup-compatibility/2006">
              <mc:Choice xmlns:v="urn:schemas-microsoft-com:vml" Requires="v">
                <p:oleObj spid="_x0000_s47133" name="公式" r:id="rId11" imgW="25603200" imgH="10363200" progId="">
                  <p:embed/>
                </p:oleObj>
              </mc:Choice>
              <mc:Fallback>
                <p:oleObj name="公式" r:id="rId11" imgW="25603200" imgH="10363200" progId="">
                  <p:embed/>
                  <p:pic>
                    <p:nvPicPr>
                      <p:cNvPr id="0" name="图片 46189"/>
                      <p:cNvPicPr>
                        <a:picLocks noChangeAspect="1"/>
                      </p:cNvPicPr>
                      <p:nvPr/>
                    </p:nvPicPr>
                    <p:blipFill>
                      <a:blip r:embed="rId12"/>
                      <a:stretch>
                        <a:fillRect/>
                      </a:stretch>
                    </p:blipFill>
                    <p:spPr>
                      <a:xfrm>
                        <a:off x="3707904" y="3564926"/>
                        <a:ext cx="1800225" cy="723900"/>
                      </a:xfrm>
                      <a:prstGeom prst="rect">
                        <a:avLst/>
                      </a:prstGeom>
                      <a:noFill/>
                      <a:ln w="9525">
                        <a:noFill/>
                      </a:ln>
                    </p:spPr>
                  </p:pic>
                </p:oleObj>
              </mc:Fallback>
            </mc:AlternateContent>
          </a:graphicData>
        </a:graphic>
      </p:graphicFrame>
      <p:sp>
        <p:nvSpPr>
          <p:cNvPr id="61452" name="Text Box 12"/>
          <p:cNvSpPr txBox="1">
            <a:spLocks noChangeArrowheads="1"/>
          </p:cNvSpPr>
          <p:nvPr/>
        </p:nvSpPr>
        <p:spPr bwMode="auto">
          <a:xfrm>
            <a:off x="369889" y="4712777"/>
            <a:ext cx="5976937" cy="400110"/>
          </a:xfrm>
          <a:prstGeom prst="rect">
            <a:avLst/>
          </a:prstGeom>
          <a:noFill/>
          <a:ln w="9525" algn="ctr">
            <a:noFill/>
            <a:miter lim="800000"/>
          </a:ln>
        </p:spPr>
        <p:txBody>
          <a:bodyPr>
            <a:spAutoFit/>
          </a:bodyPr>
          <a:lstStyle/>
          <a:p>
            <a:pPr fontAlgn="base">
              <a:spcBef>
                <a:spcPct val="50000"/>
              </a:spcBef>
              <a:spcAft>
                <a:spcPct val="0"/>
              </a:spcAft>
            </a:pPr>
            <a:r>
              <a:rPr lang="en-US" altLang="zh-CN" sz="2000" b="1" dirty="0">
                <a:solidFill>
                  <a:srgbClr val="000000"/>
                </a:solidFill>
              </a:rPr>
              <a:t>(b) </a:t>
            </a:r>
            <a:r>
              <a:rPr lang="zh-CN" altLang="en-US" sz="2000" b="1" dirty="0">
                <a:solidFill>
                  <a:srgbClr val="000000"/>
                </a:solidFill>
                <a:latin typeface="Times New Roman" panose="02020603050405020304" pitchFamily="18" charset="0"/>
              </a:rPr>
              <a:t>连接</a:t>
            </a:r>
            <a:r>
              <a:rPr lang="en-US" altLang="zh-CN" sz="2000" b="1" dirty="0">
                <a:solidFill>
                  <a:srgbClr val="000000"/>
                </a:solidFill>
                <a:latin typeface="Times New Roman" panose="02020603050405020304" pitchFamily="18" charset="0"/>
              </a:rPr>
              <a:t>8Ω</a:t>
            </a:r>
            <a:r>
              <a:rPr lang="zh-CN" altLang="en-US" sz="2000" b="1" dirty="0">
                <a:solidFill>
                  <a:srgbClr val="000000"/>
                </a:solidFill>
                <a:latin typeface="Times New Roman" panose="02020603050405020304" pitchFamily="18" charset="0"/>
              </a:rPr>
              <a:t>负载后：</a:t>
            </a:r>
            <a:endParaRPr lang="en-US" altLang="zh-CN" sz="2000" b="1" dirty="0">
              <a:solidFill>
                <a:srgbClr val="000000"/>
              </a:solidFill>
            </a:endParaRPr>
          </a:p>
        </p:txBody>
      </p:sp>
      <p:sp>
        <p:nvSpPr>
          <p:cNvPr id="61453" name="Rectangle 14"/>
          <p:cNvSpPr>
            <a:spLocks noChangeArrowheads="1"/>
          </p:cNvSpPr>
          <p:nvPr/>
        </p:nvSpPr>
        <p:spPr bwMode="auto">
          <a:xfrm>
            <a:off x="2438400" y="4613275"/>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1454" name="Object 15"/>
          <p:cNvGraphicFramePr>
            <a:graphicFrameLocks noChangeAspect="1"/>
          </p:cNvGraphicFramePr>
          <p:nvPr/>
        </p:nvGraphicFramePr>
        <p:xfrm>
          <a:off x="1280710" y="5206400"/>
          <a:ext cx="2879725" cy="698500"/>
        </p:xfrm>
        <a:graphic>
          <a:graphicData uri="http://schemas.openxmlformats.org/presentationml/2006/ole">
            <mc:AlternateContent xmlns:mc="http://schemas.openxmlformats.org/markup-compatibility/2006">
              <mc:Choice xmlns:v="urn:schemas-microsoft-com:vml" Requires="v">
                <p:oleObj spid="_x0000_s47134" name="公式" r:id="rId13" imgW="38709600" imgH="9448800" progId="">
                  <p:embed/>
                </p:oleObj>
              </mc:Choice>
              <mc:Fallback>
                <p:oleObj name="公式" r:id="rId13" imgW="38709600" imgH="9448800" progId="">
                  <p:embed/>
                  <p:pic>
                    <p:nvPicPr>
                      <p:cNvPr id="0" name="图片 46190"/>
                      <p:cNvPicPr>
                        <a:picLocks noChangeAspect="1"/>
                      </p:cNvPicPr>
                      <p:nvPr/>
                    </p:nvPicPr>
                    <p:blipFill>
                      <a:blip r:embed="rId14"/>
                      <a:stretch>
                        <a:fillRect/>
                      </a:stretch>
                    </p:blipFill>
                    <p:spPr>
                      <a:xfrm>
                        <a:off x="1280710" y="5206400"/>
                        <a:ext cx="2879725" cy="698500"/>
                      </a:xfrm>
                      <a:prstGeom prst="rect">
                        <a:avLst/>
                      </a:prstGeom>
                      <a:noFill/>
                      <a:ln w="9525">
                        <a:noFill/>
                      </a:ln>
                    </p:spPr>
                  </p:pic>
                </p:oleObj>
              </mc:Fallback>
            </mc:AlternateContent>
          </a:graphicData>
        </a:graphic>
      </p:graphicFrame>
      <p:grpSp>
        <p:nvGrpSpPr>
          <p:cNvPr id="2" name="Group 6"/>
          <p:cNvGrpSpPr/>
          <p:nvPr/>
        </p:nvGrpSpPr>
        <p:grpSpPr bwMode="auto">
          <a:xfrm>
            <a:off x="5724525" y="0"/>
            <a:ext cx="3419475" cy="2233613"/>
            <a:chOff x="249" y="2341"/>
            <a:chExt cx="2154" cy="1407"/>
          </a:xfrm>
        </p:grpSpPr>
        <p:sp>
          <p:nvSpPr>
            <p:cNvPr id="61482" name="Oval 7"/>
            <p:cNvSpPr>
              <a:spLocks noChangeArrowheads="1"/>
            </p:cNvSpPr>
            <p:nvPr/>
          </p:nvSpPr>
          <p:spPr bwMode="auto">
            <a:xfrm>
              <a:off x="1701" y="3521"/>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3" name="Group 8"/>
            <p:cNvGrpSpPr/>
            <p:nvPr/>
          </p:nvGrpSpPr>
          <p:grpSpPr bwMode="auto">
            <a:xfrm>
              <a:off x="249" y="2341"/>
              <a:ext cx="2154" cy="1407"/>
              <a:chOff x="3606" y="1888"/>
              <a:chExt cx="2154" cy="1407"/>
            </a:xfrm>
          </p:grpSpPr>
          <p:sp>
            <p:nvSpPr>
              <p:cNvPr id="61484" name="Line 9"/>
              <p:cNvSpPr>
                <a:spLocks noChangeShapeType="1"/>
              </p:cNvSpPr>
              <p:nvPr/>
            </p:nvSpPr>
            <p:spPr bwMode="auto">
              <a:xfrm>
                <a:off x="5057" y="2387"/>
                <a:ext cx="363"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4" name="Group 10"/>
              <p:cNvGrpSpPr/>
              <p:nvPr/>
            </p:nvGrpSpPr>
            <p:grpSpPr bwMode="auto">
              <a:xfrm>
                <a:off x="3606" y="1888"/>
                <a:ext cx="2154" cy="1407"/>
                <a:chOff x="3606" y="1298"/>
                <a:chExt cx="2154" cy="1407"/>
              </a:xfrm>
            </p:grpSpPr>
            <p:sp>
              <p:nvSpPr>
                <p:cNvPr id="61486" name="Oval 11"/>
                <p:cNvSpPr>
                  <a:spLocks noChangeArrowheads="1"/>
                </p:cNvSpPr>
                <p:nvPr/>
              </p:nvSpPr>
              <p:spPr bwMode="auto">
                <a:xfrm>
                  <a:off x="5012" y="1752"/>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5" name="Group 12"/>
                <p:cNvGrpSpPr/>
                <p:nvPr/>
              </p:nvGrpSpPr>
              <p:grpSpPr bwMode="auto">
                <a:xfrm>
                  <a:off x="3606" y="1298"/>
                  <a:ext cx="2154" cy="1407"/>
                  <a:chOff x="3606" y="1298"/>
                  <a:chExt cx="2154" cy="1407"/>
                </a:xfrm>
              </p:grpSpPr>
              <p:grpSp>
                <p:nvGrpSpPr>
                  <p:cNvPr id="6" name="Group 13"/>
                  <p:cNvGrpSpPr/>
                  <p:nvPr/>
                </p:nvGrpSpPr>
                <p:grpSpPr bwMode="auto">
                  <a:xfrm>
                    <a:off x="3651" y="1298"/>
                    <a:ext cx="2109" cy="1236"/>
                    <a:chOff x="3651" y="1298"/>
                    <a:chExt cx="2109" cy="1236"/>
                  </a:xfrm>
                </p:grpSpPr>
                <p:grpSp>
                  <p:nvGrpSpPr>
                    <p:cNvPr id="7" name="Group 14"/>
                    <p:cNvGrpSpPr/>
                    <p:nvPr/>
                  </p:nvGrpSpPr>
                  <p:grpSpPr bwMode="auto">
                    <a:xfrm>
                      <a:off x="3651" y="1434"/>
                      <a:ext cx="1406" cy="1100"/>
                      <a:chOff x="3651" y="1434"/>
                      <a:chExt cx="1406" cy="1100"/>
                    </a:xfrm>
                  </p:grpSpPr>
                  <p:sp>
                    <p:nvSpPr>
                      <p:cNvPr id="61499" name="Line 15"/>
                      <p:cNvSpPr>
                        <a:spLocks noChangeShapeType="1"/>
                      </p:cNvSpPr>
                      <p:nvPr/>
                    </p:nvSpPr>
                    <p:spPr bwMode="auto">
                      <a:xfrm flipV="1">
                        <a:off x="3998" y="2523"/>
                        <a:ext cx="1059" cy="11"/>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500" name="Line 16"/>
                      <p:cNvSpPr>
                        <a:spLocks noChangeShapeType="1"/>
                      </p:cNvSpPr>
                      <p:nvPr/>
                    </p:nvSpPr>
                    <p:spPr bwMode="auto">
                      <a:xfrm>
                        <a:off x="3998" y="1794"/>
                        <a:ext cx="1014" cy="3"/>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501" name="Line 17"/>
                      <p:cNvSpPr>
                        <a:spLocks noChangeShapeType="1"/>
                      </p:cNvSpPr>
                      <p:nvPr/>
                    </p:nvSpPr>
                    <p:spPr bwMode="auto">
                      <a:xfrm>
                        <a:off x="3998" y="1794"/>
                        <a:ext cx="0" cy="74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502" name="Text Box 18"/>
                      <p:cNvSpPr txBox="1">
                        <a:spLocks noChangeArrowheads="1"/>
                      </p:cNvSpPr>
                      <p:nvPr/>
                    </p:nvSpPr>
                    <p:spPr bwMode="auto">
                      <a:xfrm>
                        <a:off x="4468" y="1434"/>
                        <a:ext cx="331" cy="288"/>
                      </a:xfrm>
                      <a:prstGeom prst="rect">
                        <a:avLst/>
                      </a:prstGeom>
                      <a:noFill/>
                      <a:ln w="9525" algn="ctr">
                        <a:noFill/>
                        <a:miter lim="800000"/>
                      </a:ln>
                    </p:spPr>
                    <p:txBody>
                      <a:bodyPr>
                        <a:spAutoFit/>
                      </a:bodyPr>
                      <a:lstStyle/>
                      <a:p>
                        <a:pPr algn="ctr" fontAlgn="base">
                          <a:spcBef>
                            <a:spcPct val="0"/>
                          </a:spcBef>
                          <a:spcAft>
                            <a:spcPct val="0"/>
                          </a:spcAft>
                        </a:pPr>
                        <a:r>
                          <a:rPr lang="en-US" altLang="zh-CN" sz="2000" i="1">
                            <a:solidFill>
                              <a:srgbClr val="000000"/>
                            </a:solidFill>
                          </a:rPr>
                          <a:t>R</a:t>
                        </a:r>
                        <a:r>
                          <a:rPr lang="en-US" altLang="zh-CN" sz="2400" i="1" baseline="-25000">
                            <a:solidFill>
                              <a:srgbClr val="000000"/>
                            </a:solidFill>
                          </a:rPr>
                          <a:t>s</a:t>
                        </a:r>
                        <a:endParaRPr lang="en-US" altLang="zh-CN">
                          <a:solidFill>
                            <a:srgbClr val="000000"/>
                          </a:solidFill>
                        </a:endParaRPr>
                      </a:p>
                    </p:txBody>
                  </p:sp>
                  <p:pic>
                    <p:nvPicPr>
                      <p:cNvPr id="61503" name="Picture 19"/>
                      <p:cNvPicPr>
                        <a:picLocks noChangeAspect="1" noChangeArrowheads="1"/>
                      </p:cNvPicPr>
                      <p:nvPr/>
                    </p:nvPicPr>
                    <p:blipFill>
                      <a:blip r:embed="rId15" cstate="print"/>
                      <a:srcRect/>
                      <a:stretch>
                        <a:fillRect/>
                      </a:stretch>
                    </p:blipFill>
                    <p:spPr bwMode="auto">
                      <a:xfrm>
                        <a:off x="3866" y="2063"/>
                        <a:ext cx="265" cy="270"/>
                      </a:xfrm>
                      <a:prstGeom prst="rect">
                        <a:avLst/>
                      </a:prstGeom>
                      <a:noFill/>
                      <a:ln w="9525" algn="ctr">
                        <a:noFill/>
                        <a:miter lim="800000"/>
                        <a:headEnd/>
                        <a:tailEnd/>
                      </a:ln>
                    </p:spPr>
                  </p:pic>
                  <p:sp>
                    <p:nvSpPr>
                      <p:cNvPr id="61504" name="Text Box 20"/>
                      <p:cNvSpPr txBox="1">
                        <a:spLocks noChangeArrowheads="1"/>
                      </p:cNvSpPr>
                      <p:nvPr/>
                    </p:nvSpPr>
                    <p:spPr bwMode="auto">
                      <a:xfrm>
                        <a:off x="3651" y="2063"/>
                        <a:ext cx="280"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s</a:t>
                        </a:r>
                        <a:endParaRPr lang="en-US" altLang="zh-CN">
                          <a:solidFill>
                            <a:srgbClr val="000000"/>
                          </a:solidFill>
                        </a:endParaRPr>
                      </a:p>
                    </p:txBody>
                  </p:sp>
                  <p:pic>
                    <p:nvPicPr>
                      <p:cNvPr id="61505" name="Picture 21"/>
                      <p:cNvPicPr>
                        <a:picLocks noChangeAspect="1" noChangeArrowheads="1"/>
                      </p:cNvPicPr>
                      <p:nvPr/>
                    </p:nvPicPr>
                    <p:blipFill>
                      <a:blip r:embed="rId16" cstate="print"/>
                      <a:srcRect/>
                      <a:stretch>
                        <a:fillRect/>
                      </a:stretch>
                    </p:blipFill>
                    <p:spPr bwMode="auto">
                      <a:xfrm rot="-5400000">
                        <a:off x="4416" y="1576"/>
                        <a:ext cx="138" cy="397"/>
                      </a:xfrm>
                      <a:prstGeom prst="rect">
                        <a:avLst/>
                      </a:prstGeom>
                      <a:noFill/>
                      <a:ln w="9525" algn="ctr">
                        <a:noFill/>
                        <a:miter lim="800000"/>
                        <a:headEnd/>
                        <a:tailEnd/>
                      </a:ln>
                    </p:spPr>
                  </p:pic>
                </p:grpSp>
                <p:sp>
                  <p:nvSpPr>
                    <p:cNvPr id="61491" name="Line 22"/>
                    <p:cNvSpPr>
                      <a:spLocks noChangeShapeType="1"/>
                    </p:cNvSpPr>
                    <p:nvPr/>
                  </p:nvSpPr>
                  <p:spPr bwMode="auto">
                    <a:xfrm>
                      <a:off x="5420" y="1797"/>
                      <a:ext cx="0" cy="72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492" name="Line 23"/>
                    <p:cNvSpPr>
                      <a:spLocks noChangeShapeType="1"/>
                    </p:cNvSpPr>
                    <p:nvPr/>
                  </p:nvSpPr>
                  <p:spPr bwMode="auto">
                    <a:xfrm flipH="1">
                      <a:off x="5103" y="2523"/>
                      <a:ext cx="317"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1493" name="Picture 24"/>
                    <p:cNvPicPr>
                      <a:picLocks noChangeAspect="1" noChangeArrowheads="1"/>
                    </p:cNvPicPr>
                    <p:nvPr/>
                  </p:nvPicPr>
                  <p:blipFill>
                    <a:blip r:embed="rId16" cstate="print"/>
                    <a:srcRect/>
                    <a:stretch>
                      <a:fillRect/>
                    </a:stretch>
                  </p:blipFill>
                  <p:spPr bwMode="auto">
                    <a:xfrm>
                      <a:off x="5329" y="1979"/>
                      <a:ext cx="138" cy="403"/>
                    </a:xfrm>
                    <a:prstGeom prst="rect">
                      <a:avLst/>
                    </a:prstGeom>
                    <a:noFill/>
                    <a:ln w="9525" algn="ctr">
                      <a:noFill/>
                      <a:miter lim="800000"/>
                      <a:headEnd/>
                      <a:tailEnd/>
                    </a:ln>
                  </p:spPr>
                </p:pic>
                <p:sp>
                  <p:nvSpPr>
                    <p:cNvPr id="61494" name="Text Box 25"/>
                    <p:cNvSpPr txBox="1">
                      <a:spLocks noChangeArrowheads="1"/>
                    </p:cNvSpPr>
                    <p:nvPr/>
                  </p:nvSpPr>
                  <p:spPr bwMode="auto">
                    <a:xfrm>
                      <a:off x="5465" y="2069"/>
                      <a:ext cx="295" cy="250"/>
                    </a:xfrm>
                    <a:prstGeom prst="rect">
                      <a:avLst/>
                    </a:prstGeom>
                    <a:noFill/>
                    <a:ln w="9525" algn="ctr">
                      <a:noFill/>
                      <a:miter lim="800000"/>
                    </a:ln>
                  </p:spPr>
                  <p:txBody>
                    <a:bodyPr>
                      <a:spAutoFit/>
                    </a:bodyPr>
                    <a:lstStyle/>
                    <a:p>
                      <a:pPr algn="ctr" fontAlgn="base">
                        <a:spcBef>
                          <a:spcPct val="0"/>
                        </a:spcBef>
                        <a:spcAft>
                          <a:spcPct val="0"/>
                        </a:spcAft>
                      </a:pPr>
                      <a:r>
                        <a:rPr lang="en-US" altLang="zh-CN" sz="2000">
                          <a:solidFill>
                            <a:srgbClr val="000000"/>
                          </a:solidFill>
                        </a:rPr>
                        <a:t>R</a:t>
                      </a:r>
                      <a:r>
                        <a:rPr lang="en-US" altLang="zh-CN" sz="2000" baseline="-25000">
                          <a:solidFill>
                            <a:srgbClr val="000000"/>
                          </a:solidFill>
                        </a:rPr>
                        <a:t>L</a:t>
                      </a:r>
                      <a:endParaRPr lang="en-US" altLang="zh-CN">
                        <a:solidFill>
                          <a:srgbClr val="000000"/>
                        </a:solidFill>
                      </a:endParaRPr>
                    </a:p>
                  </p:txBody>
                </p:sp>
                <p:pic>
                  <p:nvPicPr>
                    <p:cNvPr id="61495" name="Picture 26"/>
                    <p:cNvPicPr>
                      <a:picLocks noChangeAspect="1" noChangeArrowheads="1"/>
                    </p:cNvPicPr>
                    <p:nvPr/>
                  </p:nvPicPr>
                  <p:blipFill>
                    <a:blip r:embed="rId17" cstate="print"/>
                    <a:srcRect/>
                    <a:stretch>
                      <a:fillRect/>
                    </a:stretch>
                  </p:blipFill>
                  <p:spPr bwMode="auto">
                    <a:xfrm>
                      <a:off x="4980" y="1843"/>
                      <a:ext cx="136" cy="136"/>
                    </a:xfrm>
                    <a:prstGeom prst="rect">
                      <a:avLst/>
                    </a:prstGeom>
                    <a:noFill/>
                    <a:ln w="9525" algn="ctr">
                      <a:noFill/>
                      <a:miter lim="800000"/>
                      <a:headEnd/>
                      <a:tailEnd/>
                    </a:ln>
                  </p:spPr>
                </p:pic>
                <p:pic>
                  <p:nvPicPr>
                    <p:cNvPr id="61496" name="Picture 27"/>
                    <p:cNvPicPr>
                      <a:picLocks noChangeAspect="1" noChangeArrowheads="1"/>
                    </p:cNvPicPr>
                    <p:nvPr/>
                  </p:nvPicPr>
                  <p:blipFill>
                    <a:blip r:embed="rId18" cstate="print"/>
                    <a:srcRect/>
                    <a:stretch>
                      <a:fillRect/>
                    </a:stretch>
                  </p:blipFill>
                  <p:spPr bwMode="auto">
                    <a:xfrm>
                      <a:off x="4967" y="2387"/>
                      <a:ext cx="181" cy="48"/>
                    </a:xfrm>
                    <a:prstGeom prst="rect">
                      <a:avLst/>
                    </a:prstGeom>
                    <a:noFill/>
                    <a:ln w="9525" algn="ctr">
                      <a:noFill/>
                      <a:miter lim="800000"/>
                      <a:headEnd/>
                      <a:tailEnd/>
                    </a:ln>
                  </p:spPr>
                </p:pic>
                <p:sp>
                  <p:nvSpPr>
                    <p:cNvPr id="61497" name="Text Box 28"/>
                    <p:cNvSpPr txBox="1">
                      <a:spLocks noChangeArrowheads="1"/>
                    </p:cNvSpPr>
                    <p:nvPr/>
                  </p:nvSpPr>
                  <p:spPr bwMode="auto">
                    <a:xfrm>
                      <a:off x="4921" y="1933"/>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r>
                        <a:rPr lang="en-US" altLang="zh-CN" sz="2400" i="1" baseline="-25000">
                          <a:solidFill>
                            <a:srgbClr val="000000"/>
                          </a:solidFill>
                        </a:rPr>
                        <a:t>L</a:t>
                      </a:r>
                      <a:endParaRPr lang="en-US" altLang="zh-CN" i="1">
                        <a:solidFill>
                          <a:srgbClr val="000000"/>
                        </a:solidFill>
                      </a:endParaRPr>
                    </a:p>
                  </p:txBody>
                </p:sp>
                <p:sp>
                  <p:nvSpPr>
                    <p:cNvPr id="61498" name="Text Box 29"/>
                    <p:cNvSpPr txBox="1">
                      <a:spLocks noChangeArrowheads="1"/>
                    </p:cNvSpPr>
                    <p:nvPr/>
                  </p:nvSpPr>
                  <p:spPr bwMode="auto">
                    <a:xfrm>
                      <a:off x="5193" y="1298"/>
                      <a:ext cx="363" cy="500"/>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	</a:t>
                      </a:r>
                      <a:r>
                        <a:rPr lang="en-US" altLang="zh-CN" sz="2800">
                          <a:solidFill>
                            <a:srgbClr val="000000"/>
                          </a:solidFill>
                          <a:latin typeface="Monotype Corsiva" panose="03010101010201010101" pitchFamily="66" charset="0"/>
                        </a:rPr>
                        <a:t>i</a:t>
                      </a:r>
                      <a:r>
                        <a:rPr lang="en-US" altLang="zh-CN" baseline="-25000">
                          <a:solidFill>
                            <a:srgbClr val="000000"/>
                          </a:solidFill>
                        </a:rPr>
                        <a:t> L</a:t>
                      </a:r>
                      <a:endParaRPr lang="en-US" altLang="zh-CN">
                        <a:solidFill>
                          <a:srgbClr val="000000"/>
                        </a:solidFill>
                      </a:endParaRPr>
                    </a:p>
                  </p:txBody>
                </p:sp>
              </p:grpSp>
              <p:sp>
                <p:nvSpPr>
                  <p:cNvPr id="61489" name="Rectangle 30"/>
                  <p:cNvSpPr>
                    <a:spLocks noChangeArrowheads="1"/>
                  </p:cNvSpPr>
                  <p:nvPr/>
                </p:nvSpPr>
                <p:spPr bwMode="auto">
                  <a:xfrm>
                    <a:off x="3606" y="1480"/>
                    <a:ext cx="1587" cy="1225"/>
                  </a:xfrm>
                  <a:prstGeom prst="rect">
                    <a:avLst/>
                  </a:prstGeom>
                  <a:noFill/>
                  <a:ln w="9525" algn="ctr">
                    <a:solidFill>
                      <a:schemeClr val="tx1"/>
                    </a:solidFill>
                    <a:prstDash val="dash"/>
                    <a:miter lim="800000"/>
                  </a:ln>
                </p:spPr>
                <p:txBody>
                  <a:bodyPr wrap="none" anchor="ctr"/>
                  <a:lstStyle/>
                  <a:p>
                    <a:pPr algn="ctr" fontAlgn="base">
                      <a:spcBef>
                        <a:spcPct val="0"/>
                      </a:spcBef>
                      <a:spcAft>
                        <a:spcPct val="0"/>
                      </a:spcAft>
                    </a:pPr>
                    <a:endParaRPr lang="zh-CN" altLang="zh-CN">
                      <a:solidFill>
                        <a:srgbClr val="000000"/>
                      </a:solidFill>
                    </a:endParaRPr>
                  </a:p>
                </p:txBody>
              </p:sp>
            </p:grpSp>
          </p:grpSp>
        </p:grpSp>
      </p:grpSp>
      <p:grpSp>
        <p:nvGrpSpPr>
          <p:cNvPr id="8" name="Group 31"/>
          <p:cNvGrpSpPr/>
          <p:nvPr/>
        </p:nvGrpSpPr>
        <p:grpSpPr bwMode="auto">
          <a:xfrm>
            <a:off x="5256213" y="4292600"/>
            <a:ext cx="3887787" cy="1944688"/>
            <a:chOff x="3311" y="2704"/>
            <a:chExt cx="2449" cy="1225"/>
          </a:xfrm>
        </p:grpSpPr>
        <p:pic>
          <p:nvPicPr>
            <p:cNvPr id="61457" name="Picture 32"/>
            <p:cNvPicPr>
              <a:picLocks noChangeAspect="1" noChangeArrowheads="1"/>
            </p:cNvPicPr>
            <p:nvPr/>
          </p:nvPicPr>
          <p:blipFill>
            <a:blip r:embed="rId17" cstate="print"/>
            <a:srcRect/>
            <a:stretch>
              <a:fillRect/>
            </a:stretch>
          </p:blipFill>
          <p:spPr bwMode="auto">
            <a:xfrm>
              <a:off x="4967" y="3067"/>
              <a:ext cx="136" cy="136"/>
            </a:xfrm>
            <a:prstGeom prst="rect">
              <a:avLst/>
            </a:prstGeom>
            <a:noFill/>
            <a:ln w="9525" algn="ctr">
              <a:noFill/>
              <a:miter lim="800000"/>
              <a:headEnd/>
              <a:tailEnd/>
            </a:ln>
          </p:spPr>
        </p:pic>
        <p:grpSp>
          <p:nvGrpSpPr>
            <p:cNvPr id="9" name="Group 33"/>
            <p:cNvGrpSpPr/>
            <p:nvPr/>
          </p:nvGrpSpPr>
          <p:grpSpPr bwMode="auto">
            <a:xfrm>
              <a:off x="3311" y="2704"/>
              <a:ext cx="2449" cy="1225"/>
              <a:chOff x="3311" y="1389"/>
              <a:chExt cx="2449" cy="1225"/>
            </a:xfrm>
          </p:grpSpPr>
          <p:sp>
            <p:nvSpPr>
              <p:cNvPr id="61459" name="Oval 34"/>
              <p:cNvSpPr>
                <a:spLocks noChangeArrowheads="1"/>
              </p:cNvSpPr>
              <p:nvPr/>
            </p:nvSpPr>
            <p:spPr bwMode="auto">
              <a:xfrm>
                <a:off x="5012" y="2387"/>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0" name="Group 35"/>
              <p:cNvGrpSpPr/>
              <p:nvPr/>
            </p:nvGrpSpPr>
            <p:grpSpPr bwMode="auto">
              <a:xfrm>
                <a:off x="3311" y="1389"/>
                <a:ext cx="2449" cy="1225"/>
                <a:chOff x="3152" y="2523"/>
                <a:chExt cx="2449" cy="1225"/>
              </a:xfrm>
            </p:grpSpPr>
            <p:sp>
              <p:nvSpPr>
                <p:cNvPr id="61461" name="Rectangle 36"/>
                <p:cNvSpPr>
                  <a:spLocks noChangeArrowheads="1"/>
                </p:cNvSpPr>
                <p:nvPr/>
              </p:nvSpPr>
              <p:spPr bwMode="auto">
                <a:xfrm>
                  <a:off x="3243" y="2523"/>
                  <a:ext cx="1768" cy="1225"/>
                </a:xfrm>
                <a:prstGeom prst="rect">
                  <a:avLst/>
                </a:prstGeom>
                <a:noFill/>
                <a:ln w="9525" algn="ctr">
                  <a:solidFill>
                    <a:schemeClr val="tx1"/>
                  </a:solidFill>
                  <a:prstDash val="dash"/>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1" name="Group 37"/>
                <p:cNvGrpSpPr/>
                <p:nvPr/>
              </p:nvGrpSpPr>
              <p:grpSpPr bwMode="auto">
                <a:xfrm>
                  <a:off x="3152" y="2523"/>
                  <a:ext cx="2449" cy="1054"/>
                  <a:chOff x="3152" y="2523"/>
                  <a:chExt cx="2449" cy="1054"/>
                </a:xfrm>
              </p:grpSpPr>
              <p:sp>
                <p:nvSpPr>
                  <p:cNvPr id="61463" name="Line 38"/>
                  <p:cNvSpPr>
                    <a:spLocks noChangeShapeType="1"/>
                  </p:cNvSpPr>
                  <p:nvPr/>
                </p:nvSpPr>
                <p:spPr bwMode="auto">
                  <a:xfrm>
                    <a:off x="5238" y="2840"/>
                    <a:ext cx="0" cy="72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1464" name="Picture 39"/>
                  <p:cNvPicPr>
                    <a:picLocks noChangeAspect="1" noChangeArrowheads="1"/>
                  </p:cNvPicPr>
                  <p:nvPr/>
                </p:nvPicPr>
                <p:blipFill>
                  <a:blip r:embed="rId16" cstate="print"/>
                  <a:srcRect/>
                  <a:stretch>
                    <a:fillRect/>
                  </a:stretch>
                </p:blipFill>
                <p:spPr bwMode="auto">
                  <a:xfrm>
                    <a:off x="5147" y="3022"/>
                    <a:ext cx="138" cy="403"/>
                  </a:xfrm>
                  <a:prstGeom prst="rect">
                    <a:avLst/>
                  </a:prstGeom>
                  <a:noFill/>
                  <a:ln w="9525" algn="ctr">
                    <a:noFill/>
                    <a:miter lim="800000"/>
                    <a:headEnd/>
                    <a:tailEnd/>
                  </a:ln>
                </p:spPr>
              </p:pic>
              <p:sp>
                <p:nvSpPr>
                  <p:cNvPr id="61465" name="Text Box 40"/>
                  <p:cNvSpPr txBox="1">
                    <a:spLocks noChangeArrowheads="1"/>
                  </p:cNvSpPr>
                  <p:nvPr/>
                </p:nvSpPr>
                <p:spPr bwMode="auto">
                  <a:xfrm>
                    <a:off x="5283" y="3113"/>
                    <a:ext cx="228" cy="230"/>
                  </a:xfrm>
                  <a:prstGeom prst="rect">
                    <a:avLst/>
                  </a:prstGeom>
                  <a:noFill/>
                  <a:ln w="9525" algn="ctr">
                    <a:noFill/>
                    <a:miter lim="800000"/>
                  </a:ln>
                </p:spPr>
                <p:txBody>
                  <a:bodyPr>
                    <a:spAutoFit/>
                  </a:bodyPr>
                  <a:lstStyle/>
                  <a:p>
                    <a:pPr algn="ctr" fontAlgn="base">
                      <a:spcBef>
                        <a:spcPct val="0"/>
                      </a:spcBef>
                      <a:spcAft>
                        <a:spcPct val="0"/>
                      </a:spcAft>
                    </a:pPr>
                    <a:r>
                      <a:rPr lang="en-US" altLang="zh-CN">
                        <a:solidFill>
                          <a:srgbClr val="000000"/>
                        </a:solidFill>
                      </a:rPr>
                      <a:t>8</a:t>
                    </a:r>
                  </a:p>
                </p:txBody>
              </p:sp>
              <p:grpSp>
                <p:nvGrpSpPr>
                  <p:cNvPr id="12" name="Group 41"/>
                  <p:cNvGrpSpPr/>
                  <p:nvPr/>
                </p:nvGrpSpPr>
                <p:grpSpPr bwMode="auto">
                  <a:xfrm>
                    <a:off x="3152" y="2523"/>
                    <a:ext cx="2086" cy="1054"/>
                    <a:chOff x="3152" y="2523"/>
                    <a:chExt cx="2086" cy="1054"/>
                  </a:xfrm>
                </p:grpSpPr>
                <p:sp>
                  <p:nvSpPr>
                    <p:cNvPr id="61468" name="Line 42"/>
                    <p:cNvSpPr>
                      <a:spLocks noChangeShapeType="1"/>
                    </p:cNvSpPr>
                    <p:nvPr/>
                  </p:nvSpPr>
                  <p:spPr bwMode="auto">
                    <a:xfrm>
                      <a:off x="4875" y="2840"/>
                      <a:ext cx="363"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469" name="Oval 43"/>
                    <p:cNvSpPr>
                      <a:spLocks noChangeArrowheads="1"/>
                    </p:cNvSpPr>
                    <p:nvPr/>
                  </p:nvSpPr>
                  <p:spPr bwMode="auto">
                    <a:xfrm>
                      <a:off x="4830" y="2795"/>
                      <a:ext cx="66" cy="67"/>
                    </a:xfrm>
                    <a:prstGeom prst="ellipse">
                      <a:avLst/>
                    </a:prstGeom>
                    <a:solidFill>
                      <a:schemeClr val="accent1"/>
                    </a:solidFill>
                    <a:ln w="9525">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61470" name="Line 44"/>
                    <p:cNvSpPr>
                      <a:spLocks noChangeShapeType="1"/>
                    </p:cNvSpPr>
                    <p:nvPr/>
                  </p:nvSpPr>
                  <p:spPr bwMode="auto">
                    <a:xfrm flipV="1">
                      <a:off x="3816" y="3566"/>
                      <a:ext cx="1059" cy="11"/>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471" name="Line 45"/>
                    <p:cNvSpPr>
                      <a:spLocks noChangeShapeType="1"/>
                    </p:cNvSpPr>
                    <p:nvPr/>
                  </p:nvSpPr>
                  <p:spPr bwMode="auto">
                    <a:xfrm>
                      <a:off x="3816" y="2837"/>
                      <a:ext cx="1014" cy="3"/>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1472" name="Text Box 46"/>
                    <p:cNvSpPr txBox="1">
                      <a:spLocks noChangeArrowheads="1"/>
                    </p:cNvSpPr>
                    <p:nvPr/>
                  </p:nvSpPr>
                  <p:spPr bwMode="auto">
                    <a:xfrm>
                      <a:off x="4105" y="2523"/>
                      <a:ext cx="467" cy="231"/>
                    </a:xfrm>
                    <a:prstGeom prst="rect">
                      <a:avLst/>
                    </a:prstGeom>
                    <a:noFill/>
                    <a:ln w="9525" algn="ctr">
                      <a:noFill/>
                      <a:miter lim="800000"/>
                    </a:ln>
                  </p:spPr>
                  <p:txBody>
                    <a:bodyPr>
                      <a:spAutoFit/>
                    </a:bodyPr>
                    <a:lstStyle/>
                    <a:p>
                      <a:pPr algn="ctr" fontAlgn="base">
                        <a:spcBef>
                          <a:spcPct val="0"/>
                        </a:spcBef>
                        <a:spcAft>
                          <a:spcPct val="0"/>
                        </a:spcAft>
                      </a:pPr>
                      <a:r>
                        <a:rPr lang="en-US" altLang="zh-CN">
                          <a:solidFill>
                            <a:srgbClr val="000000"/>
                          </a:solidFill>
                        </a:rPr>
                        <a:t>2.4</a:t>
                      </a:r>
                    </a:p>
                  </p:txBody>
                </p:sp>
                <p:grpSp>
                  <p:nvGrpSpPr>
                    <p:cNvPr id="13" name="Group 47"/>
                    <p:cNvGrpSpPr/>
                    <p:nvPr/>
                  </p:nvGrpSpPr>
                  <p:grpSpPr bwMode="auto">
                    <a:xfrm>
                      <a:off x="3152" y="2837"/>
                      <a:ext cx="797" cy="740"/>
                      <a:chOff x="3152" y="2837"/>
                      <a:chExt cx="797" cy="740"/>
                    </a:xfrm>
                  </p:grpSpPr>
                  <p:sp>
                    <p:nvSpPr>
                      <p:cNvPr id="61479" name="Line 48"/>
                      <p:cNvSpPr>
                        <a:spLocks noChangeShapeType="1"/>
                      </p:cNvSpPr>
                      <p:nvPr/>
                    </p:nvSpPr>
                    <p:spPr bwMode="auto">
                      <a:xfrm>
                        <a:off x="3816" y="2837"/>
                        <a:ext cx="0" cy="74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1480" name="Picture 49"/>
                      <p:cNvPicPr>
                        <a:picLocks noChangeAspect="1" noChangeArrowheads="1"/>
                      </p:cNvPicPr>
                      <p:nvPr/>
                    </p:nvPicPr>
                    <p:blipFill>
                      <a:blip r:embed="rId15" cstate="print"/>
                      <a:srcRect/>
                      <a:stretch>
                        <a:fillRect/>
                      </a:stretch>
                    </p:blipFill>
                    <p:spPr bwMode="auto">
                      <a:xfrm rot="10800000">
                        <a:off x="3684" y="3106"/>
                        <a:ext cx="265" cy="270"/>
                      </a:xfrm>
                      <a:prstGeom prst="rect">
                        <a:avLst/>
                      </a:prstGeom>
                      <a:noFill/>
                      <a:ln w="9525" algn="ctr">
                        <a:noFill/>
                        <a:miter lim="800000"/>
                        <a:headEnd/>
                        <a:tailEnd/>
                      </a:ln>
                    </p:spPr>
                  </p:pic>
                  <p:sp>
                    <p:nvSpPr>
                      <p:cNvPr id="61481" name="Text Box 50"/>
                      <p:cNvSpPr txBox="1">
                        <a:spLocks noChangeArrowheads="1"/>
                      </p:cNvSpPr>
                      <p:nvPr/>
                    </p:nvSpPr>
                    <p:spPr bwMode="auto">
                      <a:xfrm>
                        <a:off x="3152" y="3067"/>
                        <a:ext cx="680" cy="288"/>
                      </a:xfrm>
                      <a:prstGeom prst="rect">
                        <a:avLst/>
                      </a:prstGeom>
                      <a:noFill/>
                      <a:ln w="9525">
                        <a:noFill/>
                        <a:miter lim="800000"/>
                      </a:ln>
                    </p:spPr>
                    <p:txBody>
                      <a:bodyPr>
                        <a:spAutoFit/>
                      </a:bodyPr>
                      <a:lstStyle/>
                      <a:p>
                        <a:pPr algn="ctr" fontAlgn="base">
                          <a:spcBef>
                            <a:spcPct val="0"/>
                          </a:spcBef>
                          <a:spcAft>
                            <a:spcPct val="0"/>
                          </a:spcAft>
                        </a:pPr>
                        <a:r>
                          <a:rPr lang="en-US" altLang="zh-CN">
                            <a:solidFill>
                              <a:srgbClr val="000000"/>
                            </a:solidFill>
                          </a:rPr>
                          <a:t>12.4</a:t>
                        </a:r>
                        <a:r>
                          <a:rPr lang="en-US" altLang="zh-CN" sz="2400" i="1">
                            <a:solidFill>
                              <a:srgbClr val="000000"/>
                            </a:solidFill>
                          </a:rPr>
                          <a:t>v</a:t>
                        </a:r>
                        <a:endParaRPr lang="en-US" altLang="zh-CN">
                          <a:solidFill>
                            <a:srgbClr val="000000"/>
                          </a:solidFill>
                        </a:endParaRPr>
                      </a:p>
                    </p:txBody>
                  </p:sp>
                </p:grpSp>
                <p:pic>
                  <p:nvPicPr>
                    <p:cNvPr id="61474" name="Picture 51"/>
                    <p:cNvPicPr>
                      <a:picLocks noChangeAspect="1" noChangeArrowheads="1"/>
                    </p:cNvPicPr>
                    <p:nvPr/>
                  </p:nvPicPr>
                  <p:blipFill>
                    <a:blip r:embed="rId16" cstate="print"/>
                    <a:srcRect/>
                    <a:stretch>
                      <a:fillRect/>
                    </a:stretch>
                  </p:blipFill>
                  <p:spPr bwMode="auto">
                    <a:xfrm rot="-5400000">
                      <a:off x="4234" y="2619"/>
                      <a:ext cx="138" cy="397"/>
                    </a:xfrm>
                    <a:prstGeom prst="rect">
                      <a:avLst/>
                    </a:prstGeom>
                    <a:noFill/>
                    <a:ln w="9525" algn="ctr">
                      <a:noFill/>
                      <a:miter lim="800000"/>
                      <a:headEnd/>
                      <a:tailEnd/>
                    </a:ln>
                  </p:spPr>
                </p:pic>
                <p:sp>
                  <p:nvSpPr>
                    <p:cNvPr id="61475" name="Line 52"/>
                    <p:cNvSpPr>
                      <a:spLocks noChangeShapeType="1"/>
                    </p:cNvSpPr>
                    <p:nvPr/>
                  </p:nvSpPr>
                  <p:spPr bwMode="auto">
                    <a:xfrm flipH="1">
                      <a:off x="4921" y="3566"/>
                      <a:ext cx="317"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1476" name="Picture 53"/>
                    <p:cNvPicPr>
                      <a:picLocks noChangeAspect="1" noChangeArrowheads="1"/>
                    </p:cNvPicPr>
                    <p:nvPr/>
                  </p:nvPicPr>
                  <p:blipFill>
                    <a:blip r:embed="rId18" cstate="print"/>
                    <a:srcRect/>
                    <a:stretch>
                      <a:fillRect/>
                    </a:stretch>
                  </p:blipFill>
                  <p:spPr bwMode="auto">
                    <a:xfrm>
                      <a:off x="4785" y="3430"/>
                      <a:ext cx="181" cy="48"/>
                    </a:xfrm>
                    <a:prstGeom prst="rect">
                      <a:avLst/>
                    </a:prstGeom>
                    <a:noFill/>
                    <a:ln w="9525" algn="ctr">
                      <a:noFill/>
                      <a:miter lim="800000"/>
                      <a:headEnd/>
                      <a:tailEnd/>
                    </a:ln>
                  </p:spPr>
                </p:pic>
                <p:sp>
                  <p:nvSpPr>
                    <p:cNvPr id="61477" name="Text Box 54"/>
                    <p:cNvSpPr txBox="1">
                      <a:spLocks noChangeArrowheads="1"/>
                    </p:cNvSpPr>
                    <p:nvPr/>
                  </p:nvSpPr>
                  <p:spPr bwMode="auto">
                    <a:xfrm>
                      <a:off x="4739" y="2976"/>
                      <a:ext cx="295" cy="288"/>
                    </a:xfrm>
                    <a:prstGeom prst="rect">
                      <a:avLst/>
                    </a:prstGeom>
                    <a:noFill/>
                    <a:ln w="9525">
                      <a:noFill/>
                      <a:miter lim="800000"/>
                    </a:ln>
                  </p:spPr>
                  <p:txBody>
                    <a:bodyPr>
                      <a:spAutoFit/>
                    </a:bodyPr>
                    <a:lstStyle/>
                    <a:p>
                      <a:pPr algn="ctr" fontAlgn="base">
                        <a:spcBef>
                          <a:spcPct val="0"/>
                        </a:spcBef>
                        <a:spcAft>
                          <a:spcPct val="0"/>
                        </a:spcAft>
                      </a:pPr>
                      <a:r>
                        <a:rPr lang="en-US" altLang="zh-CN" sz="2400" i="1">
                          <a:solidFill>
                            <a:srgbClr val="000000"/>
                          </a:solidFill>
                        </a:rPr>
                        <a:t>v</a:t>
                      </a:r>
                      <a:endParaRPr lang="en-US" altLang="zh-CN">
                        <a:solidFill>
                          <a:srgbClr val="000000"/>
                        </a:solidFill>
                      </a:endParaRPr>
                    </a:p>
                  </p:txBody>
                </p:sp>
                <p:pic>
                  <p:nvPicPr>
                    <p:cNvPr id="61478" name="Picture 55"/>
                    <p:cNvPicPr>
                      <a:picLocks noChangeAspect="1" noChangeArrowheads="1"/>
                    </p:cNvPicPr>
                    <p:nvPr/>
                  </p:nvPicPr>
                  <p:blipFill>
                    <a:blip r:embed="rId19" cstate="print"/>
                    <a:srcRect/>
                    <a:stretch>
                      <a:fillRect/>
                    </a:stretch>
                  </p:blipFill>
                  <p:spPr bwMode="auto">
                    <a:xfrm>
                      <a:off x="4468" y="2568"/>
                      <a:ext cx="136" cy="133"/>
                    </a:xfrm>
                    <a:prstGeom prst="rect">
                      <a:avLst/>
                    </a:prstGeom>
                    <a:noFill/>
                    <a:ln w="9525" algn="ctr">
                      <a:noFill/>
                      <a:miter lim="800000"/>
                      <a:headEnd/>
                      <a:tailEnd/>
                    </a:ln>
                  </p:spPr>
                </p:pic>
              </p:grpSp>
              <p:pic>
                <p:nvPicPr>
                  <p:cNvPr id="61467" name="Picture 56"/>
                  <p:cNvPicPr>
                    <a:picLocks noChangeAspect="1" noChangeArrowheads="1"/>
                  </p:cNvPicPr>
                  <p:nvPr/>
                </p:nvPicPr>
                <p:blipFill>
                  <a:blip r:embed="rId19" cstate="print"/>
                  <a:srcRect/>
                  <a:stretch>
                    <a:fillRect/>
                  </a:stretch>
                </p:blipFill>
                <p:spPr bwMode="auto">
                  <a:xfrm>
                    <a:off x="5465" y="3158"/>
                    <a:ext cx="136" cy="133"/>
                  </a:xfrm>
                  <a:prstGeom prst="rect">
                    <a:avLst/>
                  </a:prstGeom>
                  <a:noFill/>
                  <a:ln w="9525" algn="ctr">
                    <a:noFill/>
                    <a:miter lim="800000"/>
                    <a:headEnd/>
                    <a:tailEnd/>
                  </a:ln>
                </p:spPr>
              </p:pic>
            </p:grpSp>
          </p:grpSp>
        </p:grpSp>
      </p:grpSp>
      <p:sp>
        <p:nvSpPr>
          <p:cNvPr id="14" name="文本框 13"/>
          <p:cNvSpPr txBox="1"/>
          <p:nvPr/>
        </p:nvSpPr>
        <p:spPr>
          <a:xfrm>
            <a:off x="3290178" y="5720234"/>
            <a:ext cx="1346844" cy="369332"/>
          </a:xfrm>
          <a:prstGeom prst="rect">
            <a:avLst/>
          </a:prstGeom>
          <a:noFill/>
        </p:spPr>
        <p:txBody>
          <a:bodyPr wrap="none" rtlCol="0">
            <a:spAutoFit/>
          </a:bodyPr>
          <a:lstStyle/>
          <a:p>
            <a:r>
              <a:rPr lang="zh-CN" altLang="en-US" b="1" dirty="0">
                <a:solidFill>
                  <a:srgbClr val="FF0000"/>
                </a:solidFill>
              </a:rPr>
              <a:t>负载效应！</a:t>
            </a:r>
          </a:p>
        </p:txBody>
      </p:sp>
      <p:sp>
        <p:nvSpPr>
          <p:cNvPr id="15" name="灯片编号占位符 14"/>
          <p:cNvSpPr>
            <a:spLocks noGrp="1"/>
          </p:cNvSpPr>
          <p:nvPr>
            <p:ph type="sldNum" sz="quarter" idx="11"/>
          </p:nvPr>
        </p:nvSpPr>
        <p:spPr/>
        <p:txBody>
          <a:bodyPr/>
          <a:lstStyle/>
          <a:p>
            <a:pPr>
              <a:defRPr/>
            </a:pPr>
            <a:fld id="{939C9064-C0EA-4A07-ACBE-489AD4D1ABAD}" type="slidenum">
              <a:rPr lang="en-US" altLang="zh-CN" smtClean="0">
                <a:solidFill>
                  <a:srgbClr val="000000"/>
                </a:solidFill>
              </a:rPr>
              <a:t>73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74</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0" y="548640"/>
            <a:ext cx="9072245" cy="1159510"/>
          </a:xfrm>
          <a:prstGeom prst="rect">
            <a:avLst/>
          </a:prstGeom>
        </p:spPr>
      </p:pic>
      <p:sp>
        <p:nvSpPr>
          <p:cNvPr id="6" name="文本框 5"/>
          <p:cNvSpPr txBox="1"/>
          <p:nvPr/>
        </p:nvSpPr>
        <p:spPr>
          <a:xfrm>
            <a:off x="251460" y="1845310"/>
            <a:ext cx="8740775" cy="922020"/>
          </a:xfrm>
          <a:prstGeom prst="rect">
            <a:avLst/>
          </a:prstGeom>
          <a:noFill/>
        </p:spPr>
        <p:txBody>
          <a:bodyPr wrap="square" rtlCol="0">
            <a:spAutoFit/>
          </a:bodyPr>
          <a:lstStyle/>
          <a:p>
            <a:r>
              <a:rPr lang="zh-CN" altLang="en-US" dirty="0"/>
              <a:t>解：</a:t>
            </a:r>
            <a:r>
              <a:rPr lang="en-US" altLang="zh-CN" dirty="0"/>
              <a:t>Voc_8=(8/(8+Rs))*16=8;  </a:t>
            </a:r>
            <a:r>
              <a:rPr lang="en-US" altLang="zh-CN" dirty="0" err="1"/>
              <a:t>Rs</a:t>
            </a:r>
            <a:r>
              <a:rPr lang="en-US" altLang="zh-CN" dirty="0"/>
              <a:t>=8</a:t>
            </a:r>
            <a:r>
              <a:rPr lang="en-US" altLang="zh-CN" dirty="0">
                <a:latin typeface="Arial" panose="020B0604020202020204" pitchFamily="34" charset="0"/>
                <a:cs typeface="Arial" panose="020B0604020202020204" pitchFamily="34" charset="0"/>
              </a:rPr>
              <a:t>Ʊ</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Voc_24=( 24/(8+24))*16=12 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惠斯登电桥电路</a:t>
            </a:r>
          </a:p>
        </p:txBody>
      </p:sp>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75</a:t>
            </a:fld>
            <a:endParaRPr lang="en-US" altLang="zh-CN">
              <a:solidFill>
                <a:srgbClr val="000000"/>
              </a:solidFill>
            </a:endParaRPr>
          </a:p>
        </p:txBody>
      </p:sp>
      <p:pic>
        <p:nvPicPr>
          <p:cNvPr id="100" name="图片 99"/>
          <p:cNvPicPr/>
          <p:nvPr/>
        </p:nvPicPr>
        <p:blipFill>
          <a:blip r:embed="rId2"/>
          <a:stretch>
            <a:fillRect/>
          </a:stretch>
        </p:blipFill>
        <p:spPr>
          <a:xfrm>
            <a:off x="3764915" y="2513965"/>
            <a:ext cx="4505960" cy="3552190"/>
          </a:xfrm>
          <a:prstGeom prst="rect">
            <a:avLst/>
          </a:prstGeom>
          <a:noFill/>
          <a:ln w="9525">
            <a:noFill/>
          </a:ln>
        </p:spPr>
      </p:pic>
      <p:sp>
        <p:nvSpPr>
          <p:cNvPr id="5" name="文本框 4"/>
          <p:cNvSpPr txBox="1"/>
          <p:nvPr/>
        </p:nvSpPr>
        <p:spPr>
          <a:xfrm>
            <a:off x="297815" y="2082165"/>
            <a:ext cx="2258060" cy="3969385"/>
          </a:xfrm>
          <a:prstGeom prst="rect">
            <a:avLst/>
          </a:prstGeom>
          <a:noFill/>
        </p:spPr>
        <p:txBody>
          <a:bodyPr wrap="square" rtlCol="0">
            <a:spAutoFit/>
          </a:bodyPr>
          <a:lstStyle/>
          <a:p>
            <a:r>
              <a:rPr lang="zh-CN" altLang="en-US"/>
              <a:t>CD之间接入了一个检流计</a:t>
            </a:r>
            <a:r>
              <a:rPr lang="en-US" altLang="zh-CN"/>
              <a:t>G.</a:t>
            </a:r>
            <a:r>
              <a:rPr lang="zh-CN" altLang="en-US"/>
              <a:t>当</a:t>
            </a:r>
            <a:r>
              <a:rPr lang="en-US" altLang="zh-CN"/>
              <a:t>G</a:t>
            </a:r>
            <a:r>
              <a:rPr lang="zh-CN" altLang="en-US"/>
              <a:t>上检测到的电流为</a:t>
            </a:r>
            <a:r>
              <a:rPr lang="en-US" altLang="zh-CN"/>
              <a:t>0</a:t>
            </a:r>
            <a:r>
              <a:rPr lang="zh-CN" altLang="en-US"/>
              <a:t>时，</a:t>
            </a:r>
            <a:r>
              <a:rPr lang="en-US" altLang="zh-CN"/>
              <a:t>CD</a:t>
            </a:r>
            <a:r>
              <a:rPr lang="zh-CN" altLang="en-US"/>
              <a:t>间开路，且</a:t>
            </a:r>
            <a:r>
              <a:rPr lang="en-US" altLang="zh-CN"/>
              <a:t>Vc=Vd,</a:t>
            </a:r>
          </a:p>
          <a:p>
            <a:r>
              <a:rPr lang="en-US" altLang="zh-CN"/>
              <a:t>(R1+R3)||(R2+R4)</a:t>
            </a:r>
          </a:p>
          <a:p>
            <a:endParaRPr lang="en-US" altLang="zh-CN"/>
          </a:p>
          <a:p>
            <a:r>
              <a:rPr lang="en-US" altLang="zh-CN"/>
              <a:t>(R3/(R1+R3))*V=</a:t>
            </a:r>
          </a:p>
          <a:p>
            <a:r>
              <a:rPr lang="en-US" altLang="zh-CN">
                <a:sym typeface="+mn-ea"/>
              </a:rPr>
              <a:t>(R4/(R2+R4))*V</a:t>
            </a:r>
          </a:p>
          <a:p>
            <a:endParaRPr lang="en-US" altLang="zh-CN">
              <a:sym typeface="+mn-ea"/>
            </a:endParaRPr>
          </a:p>
          <a:p>
            <a:r>
              <a:rPr lang="en-US" altLang="zh-CN">
                <a:sym typeface="+mn-ea"/>
              </a:rPr>
              <a:t>--R1*R4=R2*R3</a:t>
            </a:r>
          </a:p>
          <a:p>
            <a:endParaRPr lang="en-US" altLang="zh-CN">
              <a:sym typeface="+mn-ea"/>
            </a:endParaRPr>
          </a:p>
          <a:p>
            <a:r>
              <a:rPr lang="en-US" altLang="zh-CN">
                <a:sym typeface="+mn-ea"/>
              </a:rPr>
              <a:t>R4=(R2*R3)/R1</a:t>
            </a:r>
            <a:endParaRPr lang="en-US" altLang="zh-CN"/>
          </a:p>
          <a:p>
            <a:endParaRPr lang="en-US" altLang="zh-CN"/>
          </a:p>
          <a:p>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76</a:t>
            </a:fld>
            <a:endParaRPr lang="en-US" altLang="zh-CN">
              <a:solidFill>
                <a:srgbClr val="000000"/>
              </a:solidFill>
            </a:endParaRPr>
          </a:p>
        </p:txBody>
      </p:sp>
      <p:pic>
        <p:nvPicPr>
          <p:cNvPr id="101" name="图片 100"/>
          <p:cNvPicPr/>
          <p:nvPr/>
        </p:nvPicPr>
        <p:blipFill>
          <a:blip r:embed="rId2"/>
          <a:stretch>
            <a:fillRect/>
          </a:stretch>
        </p:blipFill>
        <p:spPr>
          <a:xfrm>
            <a:off x="2268220" y="549275"/>
            <a:ext cx="6511290" cy="3617595"/>
          </a:xfrm>
          <a:prstGeom prst="rect">
            <a:avLst/>
          </a:prstGeom>
          <a:noFill/>
          <a:ln w="9525">
            <a:noFill/>
          </a:ln>
        </p:spPr>
      </p:pic>
      <p:sp>
        <p:nvSpPr>
          <p:cNvPr id="5" name="文本框 4"/>
          <p:cNvSpPr txBox="1"/>
          <p:nvPr/>
        </p:nvSpPr>
        <p:spPr>
          <a:xfrm>
            <a:off x="2195830" y="4941570"/>
            <a:ext cx="4622165" cy="942340"/>
          </a:xfrm>
          <a:prstGeom prst="rect">
            <a:avLst/>
          </a:prstGeom>
          <a:noFill/>
        </p:spPr>
        <p:txBody>
          <a:bodyPr wrap="square" rtlCol="0">
            <a:noAutofit/>
          </a:bodyPr>
          <a:lstStyle/>
          <a:p>
            <a:r>
              <a:rPr lang="en-US" altLang="zh-CN" sz="2400"/>
              <a:t>Ra * R = Rb * Rx </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457200"/>
            <a:ext cx="6491288" cy="739775"/>
          </a:xfrm>
        </p:spPr>
        <p:txBody>
          <a:bodyPr/>
          <a:lstStyle/>
          <a:p>
            <a:pPr eaLnBrk="1" hangingPunct="1"/>
            <a:r>
              <a:rPr lang="en-US" altLang="zh-CN" sz="3200" dirty="0"/>
              <a:t>4.10.2    </a:t>
            </a:r>
            <a:r>
              <a:rPr lang="zh-CN" altLang="en-US" sz="2800" b="1" dirty="0"/>
              <a:t>电阻测量</a:t>
            </a:r>
            <a:endParaRPr lang="en-US" altLang="zh-CN" sz="3200" b="1" dirty="0"/>
          </a:p>
        </p:txBody>
      </p:sp>
      <p:sp>
        <p:nvSpPr>
          <p:cNvPr id="62467" name="Rectangle 3"/>
          <p:cNvSpPr>
            <a:spLocks noGrp="1" noChangeArrowheads="1"/>
          </p:cNvSpPr>
          <p:nvPr>
            <p:ph type="body" idx="1"/>
          </p:nvPr>
        </p:nvSpPr>
        <p:spPr>
          <a:xfrm>
            <a:off x="250825" y="1268413"/>
            <a:ext cx="8853488" cy="1655762"/>
          </a:xfrm>
        </p:spPr>
        <p:txBody>
          <a:bodyPr/>
          <a:lstStyle/>
          <a:p>
            <a:pPr marL="0" indent="0" eaLnBrk="1" hangingPunct="1">
              <a:lnSpc>
                <a:spcPct val="150000"/>
              </a:lnSpc>
              <a:buNone/>
            </a:pPr>
            <a:r>
              <a:rPr lang="zh-CN" altLang="en-US" sz="2000" b="1" dirty="0">
                <a:solidFill>
                  <a:srgbClr val="0000FF"/>
                </a:solidFill>
                <a:latin typeface="Times New Roman" panose="02020603050405020304" pitchFamily="18" charset="0"/>
              </a:rPr>
              <a:t>惠斯顿电桥</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或</a:t>
            </a:r>
            <a:r>
              <a:rPr lang="en-US" altLang="zh-CN" sz="2000" b="1" dirty="0">
                <a:latin typeface="Times New Roman" panose="02020603050405020304" pitchFamily="18" charset="0"/>
              </a:rPr>
              <a:t> </a:t>
            </a:r>
            <a:r>
              <a:rPr lang="zh-CN" altLang="en-US" sz="2000" b="1" dirty="0">
                <a:solidFill>
                  <a:srgbClr val="0000FF"/>
                </a:solidFill>
                <a:latin typeface="Times New Roman" panose="02020603050405020304" pitchFamily="18" charset="0"/>
              </a:rPr>
              <a:t>电阻桥</a:t>
            </a:r>
            <a:r>
              <a:rPr lang="en-US" altLang="zh-CN" sz="2000" b="1" dirty="0">
                <a:latin typeface="Times New Roman" panose="02020603050405020304" pitchFamily="18" charset="0"/>
              </a:rPr>
              <a:t>)</a:t>
            </a:r>
          </a:p>
          <a:p>
            <a:pPr eaLnBrk="1" hangingPunct="1">
              <a:lnSpc>
                <a:spcPct val="150000"/>
              </a:lnSpc>
            </a:pPr>
            <a:r>
              <a:rPr lang="zh-CN" altLang="en-US" sz="2000" b="1" dirty="0">
                <a:latin typeface="Times New Roman" panose="02020603050405020304" pitchFamily="18" charset="0"/>
              </a:rPr>
              <a:t>当 </a:t>
            </a:r>
            <a:r>
              <a:rPr lang="en-US" altLang="zh-CN" sz="2000" b="1" dirty="0">
                <a:solidFill>
                  <a:srgbClr val="FF0000"/>
                </a:solidFill>
                <a:latin typeface="Times New Roman" panose="02020603050405020304" pitchFamily="18" charset="0"/>
              </a:rPr>
              <a:t>v</a:t>
            </a:r>
            <a:r>
              <a:rPr lang="en-US" altLang="zh-CN" sz="2000" b="1" baseline="-25000" dirty="0">
                <a:solidFill>
                  <a:srgbClr val="FF0000"/>
                </a:solidFill>
                <a:latin typeface="Times New Roman" panose="02020603050405020304" pitchFamily="18" charset="0"/>
              </a:rPr>
              <a:t>1</a:t>
            </a:r>
            <a:r>
              <a:rPr lang="en-US" altLang="zh-CN" sz="2000" b="1" dirty="0">
                <a:solidFill>
                  <a:srgbClr val="FF0000"/>
                </a:solidFill>
                <a:latin typeface="Times New Roman" panose="02020603050405020304" pitchFamily="18" charset="0"/>
              </a:rPr>
              <a:t>=v</a:t>
            </a:r>
            <a:r>
              <a:rPr lang="en-US" altLang="zh-CN" sz="2000" b="1" baseline="-25000" dirty="0">
                <a:solidFill>
                  <a:srgbClr val="FF0000"/>
                </a:solidFill>
                <a:latin typeface="Times New Roman" panose="02020603050405020304" pitchFamily="18" charset="0"/>
              </a:rPr>
              <a:t>2</a:t>
            </a:r>
            <a:r>
              <a:rPr lang="zh-CN" altLang="en-US" sz="2000" b="1" dirty="0">
                <a:latin typeface="Times New Roman" panose="02020603050405020304" pitchFamily="18" charset="0"/>
              </a:rPr>
              <a:t>时</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称为电桥</a:t>
            </a:r>
            <a:r>
              <a:rPr lang="zh-CN" altLang="en-US" sz="2000" b="1" u="sng" dirty="0">
                <a:solidFill>
                  <a:srgbClr val="FF0000"/>
                </a:solidFill>
                <a:latin typeface="Times New Roman" panose="02020603050405020304" pitchFamily="18" charset="0"/>
              </a:rPr>
              <a:t>平衡</a:t>
            </a:r>
            <a:r>
              <a:rPr lang="zh-CN" altLang="en-US" sz="2000" b="1" dirty="0">
                <a:latin typeface="Times New Roman" panose="02020603050405020304" pitchFamily="18" charset="0"/>
              </a:rPr>
              <a:t>。</a:t>
            </a:r>
            <a:r>
              <a:rPr lang="en-US" altLang="zh-CN" sz="2000" b="1" i="1" dirty="0">
                <a:latin typeface="Times New Roman" panose="02020603050405020304" pitchFamily="18" charset="0"/>
              </a:rPr>
              <a:t> </a:t>
            </a:r>
            <a:r>
              <a:rPr lang="zh-CN" altLang="en-US" sz="2000" b="1" dirty="0">
                <a:latin typeface="Times New Roman" panose="02020603050405020304" pitchFamily="18" charset="0"/>
              </a:rPr>
              <a:t>平衡时，</a:t>
            </a:r>
            <a:r>
              <a:rPr lang="en-US" altLang="zh-CN" sz="2000" b="1" i="1" dirty="0">
                <a:latin typeface="Times New Roman" panose="02020603050405020304" pitchFamily="18" charset="0"/>
              </a:rPr>
              <a:t>R</a:t>
            </a:r>
            <a:r>
              <a:rPr lang="en-US" altLang="zh-CN" sz="2000" b="1" i="1" baseline="-25000" dirty="0">
                <a:latin typeface="Times New Roman" panose="02020603050405020304" pitchFamily="18" charset="0"/>
              </a:rPr>
              <a:t>1</a:t>
            </a:r>
            <a:r>
              <a:rPr lang="en-US" altLang="zh-CN" sz="2000" b="1" i="1" dirty="0">
                <a:latin typeface="Times New Roman" panose="02020603050405020304" pitchFamily="18" charset="0"/>
              </a:rPr>
              <a:t>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R</a:t>
            </a:r>
            <a:r>
              <a:rPr lang="en-US" altLang="zh-CN" sz="2000" b="1" i="1" baseline="-25000" dirty="0">
                <a:latin typeface="Times New Roman" panose="02020603050405020304" pitchFamily="18" charset="0"/>
              </a:rPr>
              <a:t>2</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相当于串联，</a:t>
            </a:r>
            <a:r>
              <a:rPr lang="en-US" altLang="zh-CN" sz="2000" b="1" i="1" dirty="0">
                <a:latin typeface="Times New Roman" panose="02020603050405020304" pitchFamily="18" charset="0"/>
              </a:rPr>
              <a:t>R</a:t>
            </a:r>
            <a:r>
              <a:rPr lang="en-US" altLang="zh-CN" sz="2000" b="1" i="1" baseline="-25000" dirty="0">
                <a:latin typeface="Times New Roman" panose="02020603050405020304" pitchFamily="18" charset="0"/>
              </a:rPr>
              <a:t>3</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R</a:t>
            </a:r>
            <a:r>
              <a:rPr lang="en-US" altLang="zh-CN" sz="2000" b="1" i="1" baseline="-25000" dirty="0">
                <a:latin typeface="Times New Roman" panose="02020603050405020304" pitchFamily="18" charset="0"/>
              </a:rPr>
              <a:t>X</a:t>
            </a:r>
            <a:r>
              <a:rPr lang="zh-CN" altLang="en-US" sz="2000" b="1" dirty="0">
                <a:latin typeface="Times New Roman" panose="02020603050405020304" pitchFamily="18" charset="0"/>
              </a:rPr>
              <a:t>同理</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a:t>
            </a:r>
            <a:endParaRPr lang="en-US" altLang="zh-CN" sz="2000" b="1" dirty="0">
              <a:latin typeface="Times New Roman" panose="02020603050405020304" pitchFamily="18" charset="0"/>
            </a:endParaRPr>
          </a:p>
        </p:txBody>
      </p:sp>
      <p:graphicFrame>
        <p:nvGraphicFramePr>
          <p:cNvPr id="62468" name="Object 4"/>
          <p:cNvGraphicFramePr>
            <a:graphicFrameLocks noChangeAspect="1"/>
          </p:cNvGraphicFramePr>
          <p:nvPr/>
        </p:nvGraphicFramePr>
        <p:xfrm>
          <a:off x="977377" y="2379909"/>
          <a:ext cx="3386137" cy="805957"/>
        </p:xfrm>
        <a:graphic>
          <a:graphicData uri="http://schemas.openxmlformats.org/presentationml/2006/ole">
            <mc:AlternateContent xmlns:mc="http://schemas.openxmlformats.org/markup-compatibility/2006">
              <mc:Choice xmlns:v="urn:schemas-microsoft-com:vml" Requires="v">
                <p:oleObj spid="_x0000_s48141" name="Equation" r:id="rId4" imgW="43891200" imgH="10363200" progId="">
                  <p:embed/>
                </p:oleObj>
              </mc:Choice>
              <mc:Fallback>
                <p:oleObj name="Equation" r:id="rId4" imgW="43891200" imgH="10363200" progId="">
                  <p:embed/>
                  <p:pic>
                    <p:nvPicPr>
                      <p:cNvPr id="0" name="图片 47104"/>
                      <p:cNvPicPr>
                        <a:picLocks noChangeAspect="1"/>
                      </p:cNvPicPr>
                      <p:nvPr/>
                    </p:nvPicPr>
                    <p:blipFill>
                      <a:blip r:embed="rId5"/>
                      <a:stretch>
                        <a:fillRect/>
                      </a:stretch>
                    </p:blipFill>
                    <p:spPr>
                      <a:xfrm>
                        <a:off x="977377" y="2379909"/>
                        <a:ext cx="3386137" cy="805957"/>
                      </a:xfrm>
                      <a:prstGeom prst="rect">
                        <a:avLst/>
                      </a:prstGeom>
                      <a:noFill/>
                      <a:ln w="9525">
                        <a:noFill/>
                      </a:ln>
                    </p:spPr>
                  </p:pic>
                </p:oleObj>
              </mc:Fallback>
            </mc:AlternateContent>
          </a:graphicData>
        </a:graphic>
      </p:graphicFrame>
      <p:sp>
        <p:nvSpPr>
          <p:cNvPr id="62469" name="Text Box 5"/>
          <p:cNvSpPr txBox="1">
            <a:spLocks noChangeArrowheads="1"/>
          </p:cNvSpPr>
          <p:nvPr/>
        </p:nvSpPr>
        <p:spPr bwMode="auto">
          <a:xfrm>
            <a:off x="730250" y="3364684"/>
            <a:ext cx="3727450" cy="1380443"/>
          </a:xfrm>
          <a:prstGeom prst="rect">
            <a:avLst/>
          </a:prstGeom>
          <a:noFill/>
          <a:ln w="9525" algn="ctr">
            <a:noFill/>
            <a:miter lim="800000"/>
          </a:ln>
        </p:spPr>
        <p:txBody>
          <a:bodyPr wrap="square">
            <a:spAutoFit/>
          </a:bodyPr>
          <a:lstStyle/>
          <a:p>
            <a:pPr fontAlgn="base">
              <a:lnSpc>
                <a:spcPct val="200000"/>
              </a:lnSpc>
              <a:spcBef>
                <a:spcPct val="50000"/>
              </a:spcBef>
              <a:spcAft>
                <a:spcPct val="0"/>
              </a:spcAft>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可得</a:t>
            </a:r>
            <a:endParaRPr lang="en-US" altLang="zh-CN" sz="2000" b="1" dirty="0">
              <a:solidFill>
                <a:srgbClr val="000000"/>
              </a:solidFill>
              <a:latin typeface="Times New Roman" panose="02020603050405020304" pitchFamily="18" charset="0"/>
            </a:endParaRPr>
          </a:p>
          <a:p>
            <a:pPr fontAlgn="base">
              <a:lnSpc>
                <a:spcPct val="200000"/>
              </a:lnSpc>
              <a:spcBef>
                <a:spcPct val="50000"/>
              </a:spcBef>
              <a:spcAft>
                <a:spcPct val="0"/>
              </a:spcAft>
            </a:pPr>
            <a:r>
              <a:rPr lang="zh-CN" altLang="en-US" sz="2000" b="1" dirty="0">
                <a:solidFill>
                  <a:srgbClr val="000000"/>
                </a:solidFill>
                <a:latin typeface="Times New Roman" panose="02020603050405020304" pitchFamily="18" charset="0"/>
              </a:rPr>
              <a:t>          电流计上没有电流流过</a:t>
            </a:r>
            <a:endParaRPr lang="en-US" altLang="zh-CN" sz="2000" b="1" dirty="0">
              <a:solidFill>
                <a:srgbClr val="000000"/>
              </a:solidFill>
              <a:latin typeface="Times New Roman" panose="02020603050405020304" pitchFamily="18" charset="0"/>
            </a:endParaRPr>
          </a:p>
        </p:txBody>
      </p:sp>
      <p:graphicFrame>
        <p:nvGraphicFramePr>
          <p:cNvPr id="62470" name="Object 6"/>
          <p:cNvGraphicFramePr>
            <a:graphicFrameLocks noChangeAspect="1"/>
          </p:cNvGraphicFramePr>
          <p:nvPr/>
        </p:nvGraphicFramePr>
        <p:xfrm>
          <a:off x="1494635" y="3455023"/>
          <a:ext cx="1235864" cy="765773"/>
        </p:xfrm>
        <a:graphic>
          <a:graphicData uri="http://schemas.openxmlformats.org/presentationml/2006/ole">
            <mc:AlternateContent xmlns:mc="http://schemas.openxmlformats.org/markup-compatibility/2006">
              <mc:Choice xmlns:v="urn:schemas-microsoft-com:vml" Requires="v">
                <p:oleObj spid="_x0000_s48142" name="公式" r:id="rId6" imgW="17373600" imgH="10668000" progId="">
                  <p:embed/>
                </p:oleObj>
              </mc:Choice>
              <mc:Fallback>
                <p:oleObj name="公式" r:id="rId6" imgW="17373600" imgH="10668000" progId="">
                  <p:embed/>
                  <p:pic>
                    <p:nvPicPr>
                      <p:cNvPr id="0" name="图片 47159"/>
                      <p:cNvPicPr>
                        <a:picLocks noChangeAspect="1"/>
                      </p:cNvPicPr>
                      <p:nvPr/>
                    </p:nvPicPr>
                    <p:blipFill>
                      <a:blip r:embed="rId7"/>
                      <a:stretch>
                        <a:fillRect/>
                      </a:stretch>
                    </p:blipFill>
                    <p:spPr>
                      <a:xfrm>
                        <a:off x="1494635" y="3455023"/>
                        <a:ext cx="1235864" cy="765773"/>
                      </a:xfrm>
                      <a:prstGeom prst="rect">
                        <a:avLst/>
                      </a:prstGeom>
                      <a:noFill/>
                      <a:ln w="9525">
                        <a:noFill/>
                      </a:ln>
                    </p:spPr>
                  </p:pic>
                </p:oleObj>
              </mc:Fallback>
            </mc:AlternateContent>
          </a:graphicData>
        </a:graphic>
      </p:graphicFrame>
      <p:grpSp>
        <p:nvGrpSpPr>
          <p:cNvPr id="2" name="Group 7"/>
          <p:cNvGrpSpPr/>
          <p:nvPr/>
        </p:nvGrpSpPr>
        <p:grpSpPr bwMode="auto">
          <a:xfrm>
            <a:off x="5076287" y="2882901"/>
            <a:ext cx="4067175" cy="2089150"/>
            <a:chOff x="3198" y="1661"/>
            <a:chExt cx="2562" cy="1316"/>
          </a:xfrm>
        </p:grpSpPr>
        <p:grpSp>
          <p:nvGrpSpPr>
            <p:cNvPr id="3" name="Group 8"/>
            <p:cNvGrpSpPr/>
            <p:nvPr/>
          </p:nvGrpSpPr>
          <p:grpSpPr bwMode="auto">
            <a:xfrm>
              <a:off x="3198" y="1661"/>
              <a:ext cx="2184" cy="1316"/>
              <a:chOff x="3432" y="1797"/>
              <a:chExt cx="2184" cy="1316"/>
            </a:xfrm>
          </p:grpSpPr>
          <p:grpSp>
            <p:nvGrpSpPr>
              <p:cNvPr id="4" name="Group 9"/>
              <p:cNvGrpSpPr/>
              <p:nvPr/>
            </p:nvGrpSpPr>
            <p:grpSpPr bwMode="auto">
              <a:xfrm>
                <a:off x="3432" y="1797"/>
                <a:ext cx="2184" cy="1316"/>
                <a:chOff x="3432" y="1797"/>
                <a:chExt cx="2184" cy="1316"/>
              </a:xfrm>
            </p:grpSpPr>
            <p:sp>
              <p:nvSpPr>
                <p:cNvPr id="62492" name="Line 10"/>
                <p:cNvSpPr>
                  <a:spLocks noChangeShapeType="1"/>
                </p:cNvSpPr>
                <p:nvPr/>
              </p:nvSpPr>
              <p:spPr bwMode="auto">
                <a:xfrm>
                  <a:off x="3606" y="1797"/>
                  <a:ext cx="1950"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3" name="Line 11"/>
                <p:cNvSpPr>
                  <a:spLocks noChangeShapeType="1"/>
                </p:cNvSpPr>
                <p:nvPr/>
              </p:nvSpPr>
              <p:spPr bwMode="auto">
                <a:xfrm>
                  <a:off x="3606" y="1797"/>
                  <a:ext cx="0" cy="131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4" name="Line 12"/>
                <p:cNvSpPr>
                  <a:spLocks noChangeShapeType="1"/>
                </p:cNvSpPr>
                <p:nvPr/>
              </p:nvSpPr>
              <p:spPr bwMode="auto">
                <a:xfrm>
                  <a:off x="3606" y="3113"/>
                  <a:ext cx="1950"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5" name="Line 13"/>
                <p:cNvSpPr>
                  <a:spLocks noChangeShapeType="1"/>
                </p:cNvSpPr>
                <p:nvPr/>
              </p:nvSpPr>
              <p:spPr bwMode="auto">
                <a:xfrm>
                  <a:off x="5556" y="1797"/>
                  <a:ext cx="0" cy="131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6" name="Line 14"/>
                <p:cNvSpPr>
                  <a:spLocks noChangeShapeType="1"/>
                </p:cNvSpPr>
                <p:nvPr/>
              </p:nvSpPr>
              <p:spPr bwMode="auto">
                <a:xfrm>
                  <a:off x="4332" y="1797"/>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7" name="Line 15"/>
                <p:cNvSpPr>
                  <a:spLocks noChangeShapeType="1"/>
                </p:cNvSpPr>
                <p:nvPr/>
              </p:nvSpPr>
              <p:spPr bwMode="auto">
                <a:xfrm>
                  <a:off x="4558" y="2659"/>
                  <a:ext cx="0" cy="454"/>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8" name="Line 16"/>
                <p:cNvSpPr>
                  <a:spLocks noChangeShapeType="1"/>
                </p:cNvSpPr>
                <p:nvPr/>
              </p:nvSpPr>
              <p:spPr bwMode="auto">
                <a:xfrm>
                  <a:off x="4332" y="2387"/>
                  <a:ext cx="122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2499" name="Picture 17"/>
                <p:cNvPicPr>
                  <a:picLocks noChangeAspect="1" noChangeArrowheads="1"/>
                </p:cNvPicPr>
                <p:nvPr/>
              </p:nvPicPr>
              <p:blipFill>
                <a:blip r:embed="rId8" cstate="print"/>
                <a:srcRect/>
                <a:stretch>
                  <a:fillRect/>
                </a:stretch>
              </p:blipFill>
              <p:spPr bwMode="auto">
                <a:xfrm>
                  <a:off x="4286" y="1933"/>
                  <a:ext cx="126" cy="354"/>
                </a:xfrm>
                <a:prstGeom prst="rect">
                  <a:avLst/>
                </a:prstGeom>
                <a:noFill/>
                <a:ln w="9525" algn="ctr">
                  <a:noFill/>
                  <a:miter lim="800000"/>
                  <a:headEnd/>
                  <a:tailEnd/>
                </a:ln>
              </p:spPr>
            </p:pic>
            <p:pic>
              <p:nvPicPr>
                <p:cNvPr id="62500" name="Picture 18"/>
                <p:cNvPicPr>
                  <a:picLocks noChangeAspect="1" noChangeArrowheads="1"/>
                </p:cNvPicPr>
                <p:nvPr/>
              </p:nvPicPr>
              <p:blipFill>
                <a:blip r:embed="rId8" cstate="print"/>
                <a:srcRect/>
                <a:stretch>
                  <a:fillRect/>
                </a:stretch>
              </p:blipFill>
              <p:spPr bwMode="auto">
                <a:xfrm>
                  <a:off x="5490" y="1933"/>
                  <a:ext cx="126" cy="354"/>
                </a:xfrm>
                <a:prstGeom prst="rect">
                  <a:avLst/>
                </a:prstGeom>
                <a:noFill/>
                <a:ln w="9525" algn="ctr">
                  <a:noFill/>
                  <a:miter lim="800000"/>
                  <a:headEnd/>
                  <a:tailEnd/>
                </a:ln>
              </p:spPr>
            </p:pic>
            <p:sp>
              <p:nvSpPr>
                <p:cNvPr id="62501" name="Oval 19"/>
                <p:cNvSpPr>
                  <a:spLocks noChangeArrowheads="1"/>
                </p:cNvSpPr>
                <p:nvPr/>
              </p:nvSpPr>
              <p:spPr bwMode="auto">
                <a:xfrm>
                  <a:off x="4921" y="2251"/>
                  <a:ext cx="272" cy="272"/>
                </a:xfrm>
                <a:prstGeom prst="ellipse">
                  <a:avLst/>
                </a:prstGeom>
                <a:solidFill>
                  <a:srgbClr val="008080"/>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pic>
              <p:nvPicPr>
                <p:cNvPr id="62502" name="Picture 20"/>
                <p:cNvPicPr>
                  <a:picLocks noChangeAspect="1" noChangeArrowheads="1"/>
                </p:cNvPicPr>
                <p:nvPr/>
              </p:nvPicPr>
              <p:blipFill>
                <a:blip r:embed="rId9" cstate="print"/>
                <a:srcRect/>
                <a:stretch>
                  <a:fillRect/>
                </a:stretch>
              </p:blipFill>
              <p:spPr bwMode="auto">
                <a:xfrm>
                  <a:off x="3432" y="2251"/>
                  <a:ext cx="306" cy="264"/>
                </a:xfrm>
                <a:prstGeom prst="rect">
                  <a:avLst/>
                </a:prstGeom>
                <a:noFill/>
                <a:ln w="9525" algn="ctr">
                  <a:noFill/>
                  <a:miter lim="800000"/>
                  <a:headEnd/>
                  <a:tailEnd/>
                </a:ln>
              </p:spPr>
            </p:pic>
            <p:pic>
              <p:nvPicPr>
                <p:cNvPr id="62503" name="Picture 21"/>
                <p:cNvPicPr>
                  <a:picLocks noChangeAspect="1" noChangeArrowheads="1"/>
                </p:cNvPicPr>
                <p:nvPr/>
              </p:nvPicPr>
              <p:blipFill>
                <a:blip r:embed="rId10" cstate="print"/>
                <a:srcRect/>
                <a:stretch>
                  <a:fillRect/>
                </a:stretch>
              </p:blipFill>
              <p:spPr bwMode="auto">
                <a:xfrm rot="-5400000">
                  <a:off x="4172" y="2592"/>
                  <a:ext cx="354" cy="126"/>
                </a:xfrm>
                <a:prstGeom prst="rect">
                  <a:avLst/>
                </a:prstGeom>
                <a:noFill/>
                <a:ln w="9525" algn="ctr">
                  <a:noFill/>
                  <a:miter lim="800000"/>
                  <a:headEnd/>
                  <a:tailEnd/>
                </a:ln>
              </p:spPr>
            </p:pic>
            <p:sp>
              <p:nvSpPr>
                <p:cNvPr id="62504" name="Line 22"/>
                <p:cNvSpPr>
                  <a:spLocks noChangeShapeType="1"/>
                </p:cNvSpPr>
                <p:nvPr/>
              </p:nvSpPr>
              <p:spPr bwMode="auto">
                <a:xfrm flipH="1">
                  <a:off x="4377" y="2659"/>
                  <a:ext cx="181"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2505" name="Picture 23"/>
                <p:cNvPicPr>
                  <a:picLocks noChangeAspect="1" noChangeArrowheads="1"/>
                </p:cNvPicPr>
                <p:nvPr/>
              </p:nvPicPr>
              <p:blipFill>
                <a:blip r:embed="rId10" cstate="print"/>
                <a:srcRect/>
                <a:stretch>
                  <a:fillRect/>
                </a:stretch>
              </p:blipFill>
              <p:spPr bwMode="auto">
                <a:xfrm rot="-5400000">
                  <a:off x="5364" y="2682"/>
                  <a:ext cx="354" cy="126"/>
                </a:xfrm>
                <a:prstGeom prst="rect">
                  <a:avLst/>
                </a:prstGeom>
                <a:noFill/>
                <a:ln w="9525" algn="ctr">
                  <a:noFill/>
                  <a:miter lim="800000"/>
                  <a:headEnd/>
                  <a:tailEnd/>
                </a:ln>
              </p:spPr>
            </p:pic>
          </p:grpSp>
          <p:sp>
            <p:nvSpPr>
              <p:cNvPr id="62490" name="Line 24"/>
              <p:cNvSpPr>
                <a:spLocks noChangeShapeType="1"/>
              </p:cNvSpPr>
              <p:nvPr/>
            </p:nvSpPr>
            <p:spPr bwMode="auto">
              <a:xfrm flipV="1">
                <a:off x="4992" y="2321"/>
                <a:ext cx="136" cy="136"/>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2491" name="Text Box 25"/>
              <p:cNvSpPr txBox="1">
                <a:spLocks noChangeArrowheads="1"/>
              </p:cNvSpPr>
              <p:nvPr/>
            </p:nvSpPr>
            <p:spPr bwMode="auto">
              <a:xfrm>
                <a:off x="4513" y="2069"/>
                <a:ext cx="1043" cy="231"/>
              </a:xfrm>
              <a:prstGeom prst="rect">
                <a:avLst/>
              </a:prstGeom>
              <a:noFill/>
              <a:ln w="9525" algn="ctr">
                <a:noFill/>
                <a:miter lim="800000"/>
              </a:ln>
            </p:spPr>
            <p:txBody>
              <a:bodyPr>
                <a:spAutoFit/>
              </a:bodyPr>
              <a:lstStyle/>
              <a:p>
                <a:pPr algn="ctr" fontAlgn="base">
                  <a:spcBef>
                    <a:spcPct val="50000"/>
                  </a:spcBef>
                  <a:spcAft>
                    <a:spcPct val="0"/>
                  </a:spcAft>
                </a:pPr>
                <a:r>
                  <a:rPr lang="en-US" altLang="zh-CN">
                    <a:solidFill>
                      <a:srgbClr val="000000"/>
                    </a:solidFill>
                  </a:rPr>
                  <a:t>Galvanometer</a:t>
                </a:r>
              </a:p>
            </p:txBody>
          </p:sp>
        </p:grpSp>
        <p:grpSp>
          <p:nvGrpSpPr>
            <p:cNvPr id="5" name="Group 26"/>
            <p:cNvGrpSpPr/>
            <p:nvPr/>
          </p:nvGrpSpPr>
          <p:grpSpPr bwMode="auto">
            <a:xfrm>
              <a:off x="3606" y="1842"/>
              <a:ext cx="2154" cy="1089"/>
              <a:chOff x="3606" y="1842"/>
              <a:chExt cx="2154" cy="1089"/>
            </a:xfrm>
          </p:grpSpPr>
          <p:sp>
            <p:nvSpPr>
              <p:cNvPr id="62481" name="Oval 27"/>
              <p:cNvSpPr>
                <a:spLocks noChangeArrowheads="1"/>
              </p:cNvSpPr>
              <p:nvPr/>
            </p:nvSpPr>
            <p:spPr bwMode="auto">
              <a:xfrm>
                <a:off x="4059" y="2840"/>
                <a:ext cx="91" cy="91"/>
              </a:xfrm>
              <a:prstGeom prst="ellipse">
                <a:avLst/>
              </a:prstGeom>
              <a:solidFill>
                <a:schemeClr val="accent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62482" name="Text Box 28"/>
              <p:cNvSpPr txBox="1">
                <a:spLocks noChangeArrowheads="1"/>
              </p:cNvSpPr>
              <p:nvPr/>
            </p:nvSpPr>
            <p:spPr bwMode="auto">
              <a:xfrm>
                <a:off x="3651" y="1842"/>
                <a:ext cx="453" cy="231"/>
              </a:xfrm>
              <a:prstGeom prst="rect">
                <a:avLst/>
              </a:prstGeom>
              <a:noFill/>
              <a:ln w="9525" algn="ctr">
                <a:noFill/>
                <a:miter lim="800000"/>
              </a:ln>
            </p:spPr>
            <p:txBody>
              <a:bodyPr>
                <a:spAutoFit/>
              </a:bodyPr>
              <a:lstStyle/>
              <a:p>
                <a:pPr algn="ctr" fontAlgn="base">
                  <a:spcBef>
                    <a:spcPct val="50000"/>
                  </a:spcBef>
                  <a:spcAft>
                    <a:spcPct val="0"/>
                  </a:spcAft>
                </a:pPr>
                <a:r>
                  <a:rPr lang="en-US" altLang="zh-CN" i="1">
                    <a:solidFill>
                      <a:srgbClr val="000000"/>
                    </a:solidFill>
                  </a:rPr>
                  <a:t>R</a:t>
                </a:r>
                <a:r>
                  <a:rPr lang="en-US" altLang="zh-CN" i="1" baseline="-25000">
                    <a:solidFill>
                      <a:srgbClr val="000000"/>
                    </a:solidFill>
                  </a:rPr>
                  <a:t>1</a:t>
                </a:r>
                <a:endParaRPr lang="en-US" altLang="zh-CN" i="1">
                  <a:solidFill>
                    <a:srgbClr val="000000"/>
                  </a:solidFill>
                </a:endParaRPr>
              </a:p>
            </p:txBody>
          </p:sp>
          <p:sp>
            <p:nvSpPr>
              <p:cNvPr id="62483" name="Text Box 29"/>
              <p:cNvSpPr txBox="1">
                <a:spLocks noChangeArrowheads="1"/>
              </p:cNvSpPr>
              <p:nvPr/>
            </p:nvSpPr>
            <p:spPr bwMode="auto">
              <a:xfrm>
                <a:off x="3606" y="2432"/>
                <a:ext cx="499"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R</a:t>
                </a:r>
                <a:r>
                  <a:rPr lang="en-US" altLang="zh-CN" i="1" baseline="-25000">
                    <a:solidFill>
                      <a:srgbClr val="000000"/>
                    </a:solidFill>
                  </a:rPr>
                  <a:t>2</a:t>
                </a:r>
                <a:endParaRPr lang="en-US" altLang="zh-CN">
                  <a:solidFill>
                    <a:srgbClr val="000000"/>
                  </a:solidFill>
                </a:endParaRPr>
              </a:p>
            </p:txBody>
          </p:sp>
          <p:sp>
            <p:nvSpPr>
              <p:cNvPr id="62484" name="Text Box 30"/>
              <p:cNvSpPr txBox="1">
                <a:spLocks noChangeArrowheads="1"/>
              </p:cNvSpPr>
              <p:nvPr/>
            </p:nvSpPr>
            <p:spPr bwMode="auto">
              <a:xfrm>
                <a:off x="5351" y="1888"/>
                <a:ext cx="409"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R</a:t>
                </a:r>
                <a:r>
                  <a:rPr lang="en-US" altLang="zh-CN" i="1" baseline="-25000">
                    <a:solidFill>
                      <a:srgbClr val="000000"/>
                    </a:solidFill>
                  </a:rPr>
                  <a:t>3</a:t>
                </a:r>
                <a:endParaRPr lang="en-US" altLang="zh-CN">
                  <a:solidFill>
                    <a:srgbClr val="000000"/>
                  </a:solidFill>
                </a:endParaRPr>
              </a:p>
            </p:txBody>
          </p:sp>
          <p:sp>
            <p:nvSpPr>
              <p:cNvPr id="62485" name="Text Box 31"/>
              <p:cNvSpPr txBox="1">
                <a:spLocks noChangeArrowheads="1"/>
              </p:cNvSpPr>
              <p:nvPr/>
            </p:nvSpPr>
            <p:spPr bwMode="auto">
              <a:xfrm>
                <a:off x="5349" y="2432"/>
                <a:ext cx="386"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R</a:t>
                </a:r>
                <a:r>
                  <a:rPr lang="en-US" altLang="zh-CN" i="1" baseline="-25000">
                    <a:solidFill>
                      <a:srgbClr val="000000"/>
                    </a:solidFill>
                  </a:rPr>
                  <a:t>x</a:t>
                </a:r>
                <a:endParaRPr lang="en-US" altLang="zh-CN">
                  <a:solidFill>
                    <a:srgbClr val="000000"/>
                  </a:solidFill>
                </a:endParaRPr>
              </a:p>
            </p:txBody>
          </p:sp>
          <p:pic>
            <p:nvPicPr>
              <p:cNvPr id="62486" name="Picture 32"/>
              <p:cNvPicPr>
                <a:picLocks noChangeAspect="1" noChangeArrowheads="1"/>
              </p:cNvPicPr>
              <p:nvPr/>
            </p:nvPicPr>
            <p:blipFill>
              <a:blip r:embed="rId11" cstate="print"/>
              <a:srcRect/>
              <a:stretch>
                <a:fillRect/>
              </a:stretch>
            </p:blipFill>
            <p:spPr bwMode="auto">
              <a:xfrm>
                <a:off x="4377" y="2432"/>
                <a:ext cx="132" cy="126"/>
              </a:xfrm>
              <a:prstGeom prst="rect">
                <a:avLst/>
              </a:prstGeom>
              <a:noFill/>
              <a:ln w="9525" algn="ctr">
                <a:noFill/>
                <a:miter lim="800000"/>
                <a:headEnd/>
                <a:tailEnd/>
              </a:ln>
            </p:spPr>
          </p:pic>
          <p:pic>
            <p:nvPicPr>
              <p:cNvPr id="62487" name="Picture 33"/>
              <p:cNvPicPr>
                <a:picLocks noChangeAspect="1" noChangeArrowheads="1"/>
              </p:cNvPicPr>
              <p:nvPr/>
            </p:nvPicPr>
            <p:blipFill>
              <a:blip r:embed="rId12" cstate="print"/>
              <a:srcRect/>
              <a:stretch>
                <a:fillRect/>
              </a:stretch>
            </p:blipFill>
            <p:spPr bwMode="auto">
              <a:xfrm>
                <a:off x="4377" y="2886"/>
                <a:ext cx="132" cy="42"/>
              </a:xfrm>
              <a:prstGeom prst="rect">
                <a:avLst/>
              </a:prstGeom>
              <a:noFill/>
              <a:ln w="9525" algn="ctr">
                <a:noFill/>
                <a:miter lim="800000"/>
                <a:headEnd/>
                <a:tailEnd/>
              </a:ln>
            </p:spPr>
          </p:pic>
          <p:sp>
            <p:nvSpPr>
              <p:cNvPr id="62488" name="Text Box 34"/>
              <p:cNvSpPr txBox="1">
                <a:spLocks noChangeArrowheads="1"/>
              </p:cNvSpPr>
              <p:nvPr/>
            </p:nvSpPr>
            <p:spPr bwMode="auto">
              <a:xfrm>
                <a:off x="4286" y="2614"/>
                <a:ext cx="408"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v</a:t>
                </a:r>
                <a:r>
                  <a:rPr lang="en-US" altLang="zh-CN" i="1" baseline="-25000">
                    <a:solidFill>
                      <a:srgbClr val="000000"/>
                    </a:solidFill>
                  </a:rPr>
                  <a:t>1</a:t>
                </a:r>
                <a:endParaRPr lang="en-US" altLang="zh-CN">
                  <a:solidFill>
                    <a:srgbClr val="000000"/>
                  </a:solidFill>
                </a:endParaRPr>
              </a:p>
            </p:txBody>
          </p:sp>
        </p:grpSp>
      </p:grpSp>
      <p:sp>
        <p:nvSpPr>
          <p:cNvPr id="62473" name="Text Box 36"/>
          <p:cNvSpPr txBox="1">
            <a:spLocks noChangeArrowheads="1"/>
          </p:cNvSpPr>
          <p:nvPr/>
        </p:nvSpPr>
        <p:spPr bwMode="auto">
          <a:xfrm>
            <a:off x="365124" y="5188829"/>
            <a:ext cx="4206875" cy="400110"/>
          </a:xfrm>
          <a:prstGeom prst="rect">
            <a:avLst/>
          </a:prstGeom>
          <a:noFill/>
          <a:ln w="9525" algn="ctr">
            <a:noFill/>
            <a:miter lim="800000"/>
          </a:ln>
        </p:spPr>
        <p:txBody>
          <a:bodyPr wrap="square">
            <a:spAutoFit/>
          </a:bodyPr>
          <a:lstStyle/>
          <a:p>
            <a:pPr marL="342900" indent="-342900" fontAlgn="base">
              <a:spcBef>
                <a:spcPct val="50000"/>
              </a:spcBef>
              <a:spcAft>
                <a:spcPct val="0"/>
              </a:spcAft>
              <a:buFont typeface="Wingdings" panose="05000000000000000000" pitchFamily="2" charset="2"/>
              <a:buChar char="n"/>
            </a:pPr>
            <a:r>
              <a:rPr lang="zh-CN" altLang="en-US" b="1" dirty="0">
                <a:latin typeface="Times New Roman" panose="02020603050405020304" pitchFamily="18" charset="0"/>
              </a:rPr>
              <a:t>当</a:t>
            </a:r>
            <a:r>
              <a:rPr lang="zh-CN" altLang="en-US" b="1" dirty="0">
                <a:solidFill>
                  <a:srgbClr val="FF0000"/>
                </a:solidFill>
                <a:latin typeface="Times New Roman" panose="02020603050405020304" pitchFamily="18" charset="0"/>
              </a:rPr>
              <a:t>失去平衡</a:t>
            </a:r>
            <a:r>
              <a:rPr lang="zh-CN" altLang="en-US" b="1" dirty="0">
                <a:latin typeface="Times New Roman" panose="02020603050405020304" pitchFamily="18" charset="0"/>
              </a:rPr>
              <a:t>时，电流计上的电流</a:t>
            </a:r>
            <a:r>
              <a:rPr lang="zh-CN" altLang="en-US" sz="2000" b="1" dirty="0">
                <a:latin typeface="Times New Roman" panose="02020603050405020304" pitchFamily="18" charset="0"/>
              </a:rPr>
              <a:t>：</a:t>
            </a:r>
            <a:endParaRPr lang="en-US" altLang="zh-CN" sz="2000" i="1" dirty="0">
              <a:latin typeface="Times New Roman" panose="02020603050405020304" pitchFamily="18" charset="0"/>
            </a:endParaRPr>
          </a:p>
        </p:txBody>
      </p:sp>
      <p:sp>
        <p:nvSpPr>
          <p:cNvPr id="62474" name="Rectangle 37"/>
          <p:cNvSpPr>
            <a:spLocks noChangeArrowheads="1"/>
          </p:cNvSpPr>
          <p:nvPr/>
        </p:nvSpPr>
        <p:spPr bwMode="auto">
          <a:xfrm>
            <a:off x="3179763" y="5784850"/>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2475" name="Object 38"/>
          <p:cNvGraphicFramePr>
            <a:graphicFrameLocks noChangeAspect="1"/>
          </p:cNvGraphicFramePr>
          <p:nvPr/>
        </p:nvGraphicFramePr>
        <p:xfrm>
          <a:off x="1658663" y="5709888"/>
          <a:ext cx="1362623" cy="719475"/>
        </p:xfrm>
        <a:graphic>
          <a:graphicData uri="http://schemas.openxmlformats.org/presentationml/2006/ole">
            <mc:AlternateContent xmlns:mc="http://schemas.openxmlformats.org/markup-compatibility/2006">
              <mc:Choice xmlns:v="urn:schemas-microsoft-com:vml" Requires="v">
                <p:oleObj spid="_x0000_s48143" name="公式" r:id="rId13" imgW="20421600" imgH="10668000" progId="">
                  <p:embed/>
                </p:oleObj>
              </mc:Choice>
              <mc:Fallback>
                <p:oleObj name="公式" r:id="rId13" imgW="20421600" imgH="10668000" progId="">
                  <p:embed/>
                  <p:pic>
                    <p:nvPicPr>
                      <p:cNvPr id="0" name="图片 47160"/>
                      <p:cNvPicPr>
                        <a:picLocks noChangeAspect="1"/>
                      </p:cNvPicPr>
                      <p:nvPr/>
                    </p:nvPicPr>
                    <p:blipFill>
                      <a:blip r:embed="rId14"/>
                      <a:stretch>
                        <a:fillRect/>
                      </a:stretch>
                    </p:blipFill>
                    <p:spPr>
                      <a:xfrm>
                        <a:off x="1658663" y="5709888"/>
                        <a:ext cx="1362623" cy="719475"/>
                      </a:xfrm>
                      <a:prstGeom prst="rect">
                        <a:avLst/>
                      </a:prstGeom>
                      <a:noFill/>
                      <a:ln w="9525">
                        <a:noFill/>
                      </a:ln>
                    </p:spPr>
                  </p:pic>
                </p:oleObj>
              </mc:Fallback>
            </mc:AlternateContent>
          </a:graphicData>
        </a:graphic>
      </p:graphicFrame>
      <p:sp>
        <p:nvSpPr>
          <p:cNvPr id="62476" name="Text Box 39"/>
          <p:cNvSpPr txBox="1">
            <a:spLocks noChangeArrowheads="1"/>
          </p:cNvSpPr>
          <p:nvPr/>
        </p:nvSpPr>
        <p:spPr bwMode="auto">
          <a:xfrm>
            <a:off x="3375818" y="6369049"/>
            <a:ext cx="3887788" cy="366713"/>
          </a:xfrm>
          <a:prstGeom prst="rect">
            <a:avLst/>
          </a:prstGeom>
          <a:noFill/>
          <a:ln w="9525" algn="ctr">
            <a:noFill/>
            <a:miter lim="800000"/>
          </a:ln>
        </p:spPr>
        <p:txBody>
          <a:bodyPr>
            <a:spAutoFit/>
          </a:bodyPr>
          <a:lstStyle/>
          <a:p>
            <a:pPr fontAlgn="base">
              <a:spcBef>
                <a:spcPct val="50000"/>
              </a:spcBef>
              <a:spcAft>
                <a:spcPct val="0"/>
              </a:spcAft>
            </a:pPr>
            <a:r>
              <a:rPr lang="en-US" altLang="zh-CN" b="1" dirty="0">
                <a:solidFill>
                  <a:srgbClr val="000000"/>
                </a:solidFill>
                <a:latin typeface="Times New Roman" panose="02020603050405020304" pitchFamily="18" charset="0"/>
              </a:rPr>
              <a:t>(</a:t>
            </a:r>
            <a:r>
              <a:rPr lang="en-US" altLang="zh-CN" i="1" dirty="0">
                <a:solidFill>
                  <a:srgbClr val="000000"/>
                </a:solidFill>
                <a:latin typeface="Times New Roman" panose="02020603050405020304" pitchFamily="18" charset="0"/>
              </a:rPr>
              <a:t>R</a:t>
            </a:r>
            <a:r>
              <a:rPr lang="en-US" altLang="zh-CN" i="1" baseline="-25000" dirty="0">
                <a:solidFill>
                  <a:srgbClr val="000000"/>
                </a:solidFill>
                <a:latin typeface="Times New Roman" panose="02020603050405020304" pitchFamily="18" charset="0"/>
              </a:rPr>
              <a:t>m </a:t>
            </a:r>
            <a:r>
              <a:rPr lang="zh-CN" altLang="en-US" dirty="0">
                <a:solidFill>
                  <a:srgbClr val="000000"/>
                </a:solidFill>
                <a:latin typeface="Times New Roman" panose="02020603050405020304" pitchFamily="18" charset="0"/>
              </a:rPr>
              <a:t>是电流计的电阻</a:t>
            </a:r>
            <a:r>
              <a:rPr lang="en-US" altLang="zh-CN" b="1" dirty="0">
                <a:solidFill>
                  <a:srgbClr val="000000"/>
                </a:solidFill>
                <a:latin typeface="Times New Roman" panose="02020603050405020304" pitchFamily="18" charset="0"/>
              </a:rPr>
              <a:t>)</a:t>
            </a:r>
          </a:p>
        </p:txBody>
      </p:sp>
      <p:sp>
        <p:nvSpPr>
          <p:cNvPr id="62477" name="Text Box 40"/>
          <p:cNvSpPr txBox="1">
            <a:spLocks noChangeArrowheads="1"/>
          </p:cNvSpPr>
          <p:nvPr/>
        </p:nvSpPr>
        <p:spPr bwMode="auto">
          <a:xfrm>
            <a:off x="6856413" y="2930525"/>
            <a:ext cx="1335087" cy="366713"/>
          </a:xfrm>
          <a:prstGeom prst="rect">
            <a:avLst/>
          </a:prstGeom>
          <a:noFill/>
          <a:ln w="9525">
            <a:noFill/>
            <a:miter lim="800000"/>
          </a:ln>
        </p:spPr>
        <p:txBody>
          <a:bodyPr wrap="none">
            <a:spAutoFit/>
          </a:bodyPr>
          <a:lstStyle/>
          <a:p>
            <a:pPr fontAlgn="base">
              <a:spcBef>
                <a:spcPct val="0"/>
              </a:spcBef>
              <a:spcAft>
                <a:spcPct val="0"/>
              </a:spcAft>
            </a:pPr>
            <a:r>
              <a:rPr lang="zh-CN" altLang="en-US" b="1">
                <a:solidFill>
                  <a:srgbClr val="000000"/>
                </a:solidFill>
                <a:latin typeface="Times New Roman" panose="02020603050405020304" pitchFamily="18" charset="0"/>
              </a:rPr>
              <a:t>（检流计）</a:t>
            </a:r>
          </a:p>
        </p:txBody>
      </p:sp>
      <p:sp>
        <p:nvSpPr>
          <p:cNvPr id="62478" name="Text Box 42"/>
          <p:cNvSpPr txBox="1">
            <a:spLocks noChangeArrowheads="1"/>
          </p:cNvSpPr>
          <p:nvPr/>
        </p:nvSpPr>
        <p:spPr bwMode="auto">
          <a:xfrm>
            <a:off x="7956550" y="3860800"/>
            <a:ext cx="457200" cy="1127125"/>
          </a:xfrm>
          <a:prstGeom prst="rect">
            <a:avLst/>
          </a:prstGeom>
          <a:noFill/>
          <a:ln w="9525">
            <a:noFill/>
            <a:miter lim="800000"/>
          </a:ln>
        </p:spPr>
        <p:txBody>
          <a:bodyPr wrap="none">
            <a:spAutoFit/>
          </a:bodyPr>
          <a:lstStyle/>
          <a:p>
            <a:pPr fontAlgn="base">
              <a:spcBef>
                <a:spcPct val="0"/>
              </a:spcBef>
              <a:spcAft>
                <a:spcPct val="0"/>
              </a:spcAft>
            </a:pPr>
            <a:r>
              <a:rPr lang="en-US" altLang="zh-CN" sz="2400" b="1">
                <a:solidFill>
                  <a:srgbClr val="000000"/>
                </a:solidFill>
                <a:latin typeface="Times New Roman" panose="02020603050405020304" pitchFamily="18" charset="0"/>
              </a:rPr>
              <a:t>+</a:t>
            </a:r>
          </a:p>
          <a:p>
            <a:pPr fontAlgn="base">
              <a:spcBef>
                <a:spcPct val="0"/>
              </a:spcBef>
              <a:spcAft>
                <a:spcPct val="0"/>
              </a:spcAft>
            </a:pPr>
            <a:r>
              <a:rPr lang="en-US" altLang="zh-CN" sz="2000" b="1">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2</a:t>
            </a:r>
          </a:p>
          <a:p>
            <a:pPr fontAlgn="base">
              <a:spcBef>
                <a:spcPct val="0"/>
              </a:spcBef>
              <a:spcAft>
                <a:spcPct val="0"/>
              </a:spcAft>
            </a:pPr>
            <a:r>
              <a:rPr lang="en-US" altLang="zh-CN" sz="2400" b="1">
                <a:solidFill>
                  <a:srgbClr val="000000"/>
                </a:solidFill>
                <a:latin typeface="Times New Roman" panose="02020603050405020304" pitchFamily="18" charset="0"/>
              </a:rPr>
              <a:t> -</a:t>
            </a:r>
          </a:p>
        </p:txBody>
      </p:sp>
      <p:sp>
        <p:nvSpPr>
          <p:cNvPr id="6" name="灯片编号占位符 5"/>
          <p:cNvSpPr>
            <a:spLocks noGrp="1"/>
          </p:cNvSpPr>
          <p:nvPr>
            <p:ph type="sldNum" sz="quarter" idx="11"/>
          </p:nvPr>
        </p:nvSpPr>
        <p:spPr/>
        <p:txBody>
          <a:bodyPr/>
          <a:lstStyle/>
          <a:p>
            <a:pPr>
              <a:defRPr/>
            </a:pPr>
            <a:fld id="{939C9064-C0EA-4A07-ACBE-489AD4D1ABAD}" type="slidenum">
              <a:rPr lang="en-US" altLang="zh-CN" smtClean="0">
                <a:solidFill>
                  <a:srgbClr val="000000"/>
                </a:solidFill>
              </a:rPr>
              <a:t>77</a:t>
            </a:fld>
            <a:endParaRPr lang="en-US" altLang="zh-CN">
              <a:solidFill>
                <a:srgbClr val="000000"/>
              </a:solidFill>
            </a:endParaRPr>
          </a:p>
        </p:txBody>
      </p:sp>
      <p:sp>
        <p:nvSpPr>
          <p:cNvPr id="7" name="文本框 6"/>
          <p:cNvSpPr txBox="1"/>
          <p:nvPr/>
        </p:nvSpPr>
        <p:spPr>
          <a:xfrm>
            <a:off x="4629150" y="5438775"/>
            <a:ext cx="3255010"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a:t>Vth</a:t>
            </a:r>
            <a:r>
              <a:rPr lang="zh-CN" altLang="en-US"/>
              <a:t>和</a:t>
            </a:r>
            <a:r>
              <a:rPr lang="en-US" altLang="zh-CN"/>
              <a:t>Rth </a:t>
            </a:r>
            <a:r>
              <a:rPr lang="zh-CN" altLang="en-US"/>
              <a:t>是</a:t>
            </a:r>
            <a:r>
              <a:rPr lang="en-US" altLang="zh-CN"/>
              <a:t> </a:t>
            </a:r>
            <a:r>
              <a:rPr lang="zh-CN" altLang="en-US"/>
              <a:t>电流计两端的戴维南等效电压和电阻。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945357"/>
            <a:ext cx="8229600" cy="307975"/>
          </a:xfrm>
        </p:spPr>
        <p:txBody>
          <a:bodyPr/>
          <a:lstStyle/>
          <a:p>
            <a:pPr eaLnBrk="1" hangingPunct="1"/>
            <a:r>
              <a:rPr lang="zh-CN" altLang="en-US" sz="2000" b="1" dirty="0">
                <a:solidFill>
                  <a:srgbClr val="FF0000"/>
                </a:solidFill>
                <a:latin typeface="Times New Roman" panose="02020603050405020304" pitchFamily="18" charset="0"/>
              </a:rPr>
              <a:t>举例 </a:t>
            </a:r>
            <a:r>
              <a:rPr lang="en-US" altLang="zh-CN" sz="2000" b="1" dirty="0">
                <a:solidFill>
                  <a:srgbClr val="FF0000"/>
                </a:solidFill>
                <a:latin typeface="Times New Roman" panose="02020603050405020304" pitchFamily="18" charset="0"/>
              </a:rPr>
              <a:t>4.17</a:t>
            </a:r>
          </a:p>
        </p:txBody>
      </p:sp>
      <p:sp>
        <p:nvSpPr>
          <p:cNvPr id="57347" name="Rectangle 3"/>
          <p:cNvSpPr>
            <a:spLocks noGrp="1" noChangeArrowheads="1"/>
          </p:cNvSpPr>
          <p:nvPr>
            <p:ph type="body" idx="1"/>
          </p:nvPr>
        </p:nvSpPr>
        <p:spPr>
          <a:xfrm>
            <a:off x="323850" y="1557338"/>
            <a:ext cx="8174870" cy="3886200"/>
          </a:xfrm>
        </p:spPr>
        <p:txBody>
          <a:bodyPr/>
          <a:lstStyle/>
          <a:p>
            <a:pPr marL="0" indent="0" eaLnBrk="1" hangingPunct="1">
              <a:lnSpc>
                <a:spcPct val="150000"/>
              </a:lnSpc>
              <a:buFont typeface="Wingdings" panose="05000000000000000000" pitchFamily="2" charset="2"/>
              <a:buNone/>
              <a:defRPr/>
            </a:pPr>
            <a:r>
              <a:rPr lang="zh-CN" altLang="en-US" sz="2000" b="1" dirty="0">
                <a:latin typeface="Times New Roman" panose="02020603050405020304" pitchFamily="18" charset="0"/>
              </a:rPr>
              <a:t>       如图</a:t>
            </a:r>
            <a:r>
              <a:rPr lang="en-US" altLang="zh-CN" sz="2000" b="1" dirty="0">
                <a:latin typeface="Times New Roman" panose="02020603050405020304" pitchFamily="18" charset="0"/>
              </a:rPr>
              <a:t>4.63, R</a:t>
            </a:r>
            <a:r>
              <a:rPr lang="en-US" altLang="zh-CN" sz="2000" b="1" baseline="-25000" dirty="0">
                <a:latin typeface="Times New Roman" panose="02020603050405020304" pitchFamily="18" charset="0"/>
              </a:rPr>
              <a:t>1</a:t>
            </a:r>
            <a:r>
              <a:rPr lang="en-US" altLang="zh-CN" sz="2000" b="1" dirty="0">
                <a:latin typeface="Times New Roman" panose="02020603050405020304" pitchFamily="18" charset="0"/>
              </a:rPr>
              <a:t> = 500</a:t>
            </a:r>
            <a:r>
              <a:rPr lang="el-GR" altLang="zh-CN" sz="2000" b="1" dirty="0">
                <a:latin typeface="Times New Roman" panose="02020603050405020304" pitchFamily="18" charset="0"/>
                <a:cs typeface="Times New Roman" panose="02020603050405020304" pitchFamily="18" charset="0"/>
              </a:rPr>
              <a:t>Ω</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R</a:t>
            </a:r>
            <a:r>
              <a:rPr lang="en-US" altLang="zh-CN" sz="2000" b="1" baseline="-25000" dirty="0">
                <a:latin typeface="Times New Roman" panose="02020603050405020304" pitchFamily="18" charset="0"/>
              </a:rPr>
              <a:t>3</a:t>
            </a:r>
            <a:r>
              <a:rPr lang="en-US" altLang="zh-CN" sz="2000" b="1" dirty="0">
                <a:latin typeface="Times New Roman" panose="02020603050405020304" pitchFamily="18" charset="0"/>
              </a:rPr>
              <a:t> = 200</a:t>
            </a:r>
            <a:r>
              <a:rPr lang="el-GR" altLang="zh-CN" sz="2000" b="1" dirty="0">
                <a:latin typeface="Times New Roman" panose="02020603050405020304" pitchFamily="18" charset="0"/>
                <a:cs typeface="Times New Roman" panose="02020603050405020304" pitchFamily="18" charset="0"/>
              </a:rPr>
              <a:t>Ω</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R</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 =125</a:t>
            </a:r>
            <a:r>
              <a:rPr lang="el-GR" altLang="zh-CN" sz="2000" b="1" dirty="0">
                <a:latin typeface="Times New Roman" panose="02020603050405020304" pitchFamily="18" charset="0"/>
                <a:cs typeface="Times New Roman" panose="02020603050405020304" pitchFamily="18" charset="0"/>
              </a:rPr>
              <a:t>Ω</a:t>
            </a:r>
            <a:r>
              <a:rPr lang="zh-CN" altLang="en-US" sz="2000" b="1" dirty="0">
                <a:latin typeface="Times New Roman" panose="02020603050405020304" pitchFamily="18" charset="0"/>
                <a:cs typeface="Times New Roman" panose="02020603050405020304" pitchFamily="18" charset="0"/>
              </a:rPr>
              <a:t>时，</a:t>
            </a:r>
            <a:r>
              <a:rPr lang="zh-CN" altLang="en-US" sz="2000" b="1" dirty="0"/>
              <a:t>电桥平衡</a:t>
            </a:r>
            <a:r>
              <a:rPr lang="zh-CN" altLang="en-US" sz="2000" b="1" dirty="0">
                <a:latin typeface="Times New Roman" panose="02020603050405020304" pitchFamily="18" charset="0"/>
              </a:rPr>
              <a:t>。确定未知电阻</a:t>
            </a:r>
            <a:r>
              <a:rPr lang="en-US" altLang="zh-CN" sz="2000" b="1" dirty="0">
                <a:latin typeface="Times New Roman" panose="02020603050405020304" pitchFamily="18" charset="0"/>
              </a:rPr>
              <a:t>R</a:t>
            </a:r>
            <a:r>
              <a:rPr lang="en-US" altLang="zh-CN" sz="2000" b="1" baseline="-25000" dirty="0">
                <a:latin typeface="Times New Roman" panose="02020603050405020304" pitchFamily="18" charset="0"/>
              </a:rPr>
              <a:t>x</a:t>
            </a:r>
            <a:r>
              <a:rPr lang="zh-CN" altLang="en-US" sz="2000" b="1" dirty="0">
                <a:latin typeface="Times New Roman" panose="02020603050405020304" pitchFamily="18" charset="0"/>
              </a:rPr>
              <a:t>的值。</a:t>
            </a:r>
            <a:endParaRPr lang="en-US" altLang="zh-CN" sz="2000" b="1" dirty="0">
              <a:latin typeface="Times New Roman" panose="02020603050405020304" pitchFamily="18" charset="0"/>
            </a:endParaRPr>
          </a:p>
          <a:p>
            <a:pPr marL="0" indent="0" eaLnBrk="1" hangingPunct="1">
              <a:lnSpc>
                <a:spcPct val="150000"/>
              </a:lnSpc>
              <a:buFont typeface="Wingdings" panose="05000000000000000000" pitchFamily="2" charset="2"/>
              <a:buNone/>
              <a:defRPr/>
            </a:pPr>
            <a:endParaRPr lang="en-US" altLang="zh-CN" sz="2000" b="1" dirty="0">
              <a:latin typeface="Times New Roman" panose="02020603050405020304" pitchFamily="18" charset="0"/>
            </a:endParaRPr>
          </a:p>
          <a:p>
            <a:pPr eaLnBrk="1" hangingPunct="1">
              <a:lnSpc>
                <a:spcPct val="150000"/>
              </a:lnSpc>
              <a:buFont typeface="Wingdings" panose="05000000000000000000" pitchFamily="2" charset="2"/>
              <a:buNone/>
              <a:defRPr/>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a:p>
            <a:pPr eaLnBrk="1" hangingPunct="1">
              <a:buFont typeface="Wingdings" panose="05000000000000000000" pitchFamily="2" charset="2"/>
              <a:buNone/>
              <a:defRPr/>
            </a:pPr>
            <a:r>
              <a:rPr lang="en-US" altLang="zh-CN" sz="2000" b="1" dirty="0">
                <a:latin typeface="Times New Roman" panose="02020603050405020304" pitchFamily="18" charset="0"/>
              </a:rPr>
              <a:t>     </a:t>
            </a:r>
            <a:r>
              <a:rPr lang="zh-CN" altLang="en-US" sz="2000" b="1" dirty="0">
                <a:latin typeface="Times New Roman" panose="02020603050405020304" pitchFamily="18" charset="0"/>
              </a:rPr>
              <a:t>利用公式</a:t>
            </a:r>
            <a:r>
              <a:rPr lang="en-US" altLang="zh-CN" sz="2000" b="1" dirty="0">
                <a:latin typeface="Times New Roman" panose="02020603050405020304" pitchFamily="18" charset="0"/>
              </a:rPr>
              <a:t>(4.30) ,</a:t>
            </a:r>
          </a:p>
        </p:txBody>
      </p:sp>
      <p:sp>
        <p:nvSpPr>
          <p:cNvPr id="63492" name="Rectangle 4"/>
          <p:cNvSpPr>
            <a:spLocks noChangeArrowheads="1"/>
          </p:cNvSpPr>
          <p:nvPr/>
        </p:nvSpPr>
        <p:spPr bwMode="auto">
          <a:xfrm>
            <a:off x="3319463" y="3041650"/>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3493" name="Object 5"/>
          <p:cNvGraphicFramePr>
            <a:graphicFrameLocks noChangeAspect="1"/>
          </p:cNvGraphicFramePr>
          <p:nvPr/>
        </p:nvGraphicFramePr>
        <p:xfrm>
          <a:off x="870241" y="4186223"/>
          <a:ext cx="3169022" cy="733104"/>
        </p:xfrm>
        <a:graphic>
          <a:graphicData uri="http://schemas.openxmlformats.org/presentationml/2006/ole">
            <mc:AlternateContent xmlns:mc="http://schemas.openxmlformats.org/markup-compatibility/2006">
              <mc:Choice xmlns:v="urn:schemas-microsoft-com:vml" Requires="v">
                <p:oleObj spid="_x0000_s49157" name="公式" r:id="rId3" imgW="46329600" imgH="10668000" progId="">
                  <p:embed/>
                </p:oleObj>
              </mc:Choice>
              <mc:Fallback>
                <p:oleObj name="公式" r:id="rId3" imgW="46329600" imgH="10668000" progId="">
                  <p:embed/>
                  <p:pic>
                    <p:nvPicPr>
                      <p:cNvPr id="0" name="图片 48128"/>
                      <p:cNvPicPr>
                        <a:picLocks noChangeAspect="1"/>
                      </p:cNvPicPr>
                      <p:nvPr/>
                    </p:nvPicPr>
                    <p:blipFill>
                      <a:blip r:embed="rId4"/>
                      <a:stretch>
                        <a:fillRect/>
                      </a:stretch>
                    </p:blipFill>
                    <p:spPr>
                      <a:xfrm>
                        <a:off x="870241" y="4186223"/>
                        <a:ext cx="3169022" cy="733104"/>
                      </a:xfrm>
                      <a:prstGeom prst="rect">
                        <a:avLst/>
                      </a:prstGeom>
                      <a:noFill/>
                      <a:ln w="9525">
                        <a:noFill/>
                      </a:ln>
                    </p:spPr>
                  </p:pic>
                </p:oleObj>
              </mc:Fallback>
            </mc:AlternateContent>
          </a:graphicData>
        </a:graphic>
      </p:graphicFrame>
      <p:grpSp>
        <p:nvGrpSpPr>
          <p:cNvPr id="6" name="Group 7"/>
          <p:cNvGrpSpPr/>
          <p:nvPr/>
        </p:nvGrpSpPr>
        <p:grpSpPr bwMode="auto">
          <a:xfrm>
            <a:off x="5112360" y="2636912"/>
            <a:ext cx="3365246" cy="1828800"/>
            <a:chOff x="3198" y="1661"/>
            <a:chExt cx="2495" cy="1316"/>
          </a:xfrm>
        </p:grpSpPr>
        <p:grpSp>
          <p:nvGrpSpPr>
            <p:cNvPr id="7" name="Group 8"/>
            <p:cNvGrpSpPr/>
            <p:nvPr/>
          </p:nvGrpSpPr>
          <p:grpSpPr bwMode="auto">
            <a:xfrm>
              <a:off x="3198" y="1661"/>
              <a:ext cx="2184" cy="1316"/>
              <a:chOff x="3432" y="1797"/>
              <a:chExt cx="2184" cy="1316"/>
            </a:xfrm>
          </p:grpSpPr>
          <p:grpSp>
            <p:nvGrpSpPr>
              <p:cNvPr id="17" name="Group 9"/>
              <p:cNvGrpSpPr/>
              <p:nvPr/>
            </p:nvGrpSpPr>
            <p:grpSpPr bwMode="auto">
              <a:xfrm>
                <a:off x="3432" y="1797"/>
                <a:ext cx="2184" cy="1316"/>
                <a:chOff x="3432" y="1797"/>
                <a:chExt cx="2184" cy="1316"/>
              </a:xfrm>
            </p:grpSpPr>
            <p:sp>
              <p:nvSpPr>
                <p:cNvPr id="20" name="Line 10"/>
                <p:cNvSpPr>
                  <a:spLocks noChangeShapeType="1"/>
                </p:cNvSpPr>
                <p:nvPr/>
              </p:nvSpPr>
              <p:spPr bwMode="auto">
                <a:xfrm>
                  <a:off x="3606" y="1797"/>
                  <a:ext cx="1950"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1" name="Line 11"/>
                <p:cNvSpPr>
                  <a:spLocks noChangeShapeType="1"/>
                </p:cNvSpPr>
                <p:nvPr/>
              </p:nvSpPr>
              <p:spPr bwMode="auto">
                <a:xfrm>
                  <a:off x="3606" y="1797"/>
                  <a:ext cx="0" cy="131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2" name="Line 12"/>
                <p:cNvSpPr>
                  <a:spLocks noChangeShapeType="1"/>
                </p:cNvSpPr>
                <p:nvPr/>
              </p:nvSpPr>
              <p:spPr bwMode="auto">
                <a:xfrm>
                  <a:off x="3606" y="3113"/>
                  <a:ext cx="1950"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3" name="Line 13"/>
                <p:cNvSpPr>
                  <a:spLocks noChangeShapeType="1"/>
                </p:cNvSpPr>
                <p:nvPr/>
              </p:nvSpPr>
              <p:spPr bwMode="auto">
                <a:xfrm>
                  <a:off x="5556" y="1797"/>
                  <a:ext cx="0" cy="1316"/>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4" name="Line 14"/>
                <p:cNvSpPr>
                  <a:spLocks noChangeShapeType="1"/>
                </p:cNvSpPr>
                <p:nvPr/>
              </p:nvSpPr>
              <p:spPr bwMode="auto">
                <a:xfrm>
                  <a:off x="4332" y="1797"/>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5" name="Line 15"/>
                <p:cNvSpPr>
                  <a:spLocks noChangeShapeType="1"/>
                </p:cNvSpPr>
                <p:nvPr/>
              </p:nvSpPr>
              <p:spPr bwMode="auto">
                <a:xfrm>
                  <a:off x="4558" y="2659"/>
                  <a:ext cx="0" cy="454"/>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26" name="Line 16"/>
                <p:cNvSpPr>
                  <a:spLocks noChangeShapeType="1"/>
                </p:cNvSpPr>
                <p:nvPr/>
              </p:nvSpPr>
              <p:spPr bwMode="auto">
                <a:xfrm>
                  <a:off x="4332" y="2387"/>
                  <a:ext cx="122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27" name="Picture 17"/>
                <p:cNvPicPr>
                  <a:picLocks noChangeAspect="1" noChangeArrowheads="1"/>
                </p:cNvPicPr>
                <p:nvPr/>
              </p:nvPicPr>
              <p:blipFill>
                <a:blip r:embed="rId5" cstate="print"/>
                <a:srcRect/>
                <a:stretch>
                  <a:fillRect/>
                </a:stretch>
              </p:blipFill>
              <p:spPr bwMode="auto">
                <a:xfrm>
                  <a:off x="4286" y="1933"/>
                  <a:ext cx="126" cy="354"/>
                </a:xfrm>
                <a:prstGeom prst="rect">
                  <a:avLst/>
                </a:prstGeom>
                <a:noFill/>
                <a:ln w="9525" algn="ctr">
                  <a:noFill/>
                  <a:miter lim="800000"/>
                  <a:headEnd/>
                  <a:tailEnd/>
                </a:ln>
              </p:spPr>
            </p:pic>
            <p:pic>
              <p:nvPicPr>
                <p:cNvPr id="28" name="Picture 18"/>
                <p:cNvPicPr>
                  <a:picLocks noChangeAspect="1" noChangeArrowheads="1"/>
                </p:cNvPicPr>
                <p:nvPr/>
              </p:nvPicPr>
              <p:blipFill>
                <a:blip r:embed="rId5" cstate="print"/>
                <a:srcRect/>
                <a:stretch>
                  <a:fillRect/>
                </a:stretch>
              </p:blipFill>
              <p:spPr bwMode="auto">
                <a:xfrm>
                  <a:off x="5490" y="1933"/>
                  <a:ext cx="126" cy="354"/>
                </a:xfrm>
                <a:prstGeom prst="rect">
                  <a:avLst/>
                </a:prstGeom>
                <a:noFill/>
                <a:ln w="9525" algn="ctr">
                  <a:noFill/>
                  <a:miter lim="800000"/>
                  <a:headEnd/>
                  <a:tailEnd/>
                </a:ln>
              </p:spPr>
            </p:pic>
            <p:sp>
              <p:nvSpPr>
                <p:cNvPr id="29" name="Oval 19"/>
                <p:cNvSpPr>
                  <a:spLocks noChangeArrowheads="1"/>
                </p:cNvSpPr>
                <p:nvPr/>
              </p:nvSpPr>
              <p:spPr bwMode="auto">
                <a:xfrm>
                  <a:off x="4921" y="2251"/>
                  <a:ext cx="272" cy="272"/>
                </a:xfrm>
                <a:prstGeom prst="ellipse">
                  <a:avLst/>
                </a:prstGeom>
                <a:solidFill>
                  <a:srgbClr val="008080"/>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pic>
              <p:nvPicPr>
                <p:cNvPr id="30" name="Picture 20"/>
                <p:cNvPicPr>
                  <a:picLocks noChangeAspect="1" noChangeArrowheads="1"/>
                </p:cNvPicPr>
                <p:nvPr/>
              </p:nvPicPr>
              <p:blipFill>
                <a:blip r:embed="rId6" cstate="print"/>
                <a:srcRect/>
                <a:stretch>
                  <a:fillRect/>
                </a:stretch>
              </p:blipFill>
              <p:spPr bwMode="auto">
                <a:xfrm>
                  <a:off x="3432" y="2251"/>
                  <a:ext cx="306" cy="264"/>
                </a:xfrm>
                <a:prstGeom prst="rect">
                  <a:avLst/>
                </a:prstGeom>
                <a:noFill/>
                <a:ln w="9525" algn="ctr">
                  <a:noFill/>
                  <a:miter lim="800000"/>
                  <a:headEnd/>
                  <a:tailEnd/>
                </a:ln>
              </p:spPr>
            </p:pic>
            <p:pic>
              <p:nvPicPr>
                <p:cNvPr id="31" name="Picture 21"/>
                <p:cNvPicPr>
                  <a:picLocks noChangeAspect="1" noChangeArrowheads="1"/>
                </p:cNvPicPr>
                <p:nvPr/>
              </p:nvPicPr>
              <p:blipFill>
                <a:blip r:embed="rId7" cstate="print"/>
                <a:srcRect/>
                <a:stretch>
                  <a:fillRect/>
                </a:stretch>
              </p:blipFill>
              <p:spPr bwMode="auto">
                <a:xfrm rot="-5400000">
                  <a:off x="4172" y="2592"/>
                  <a:ext cx="354" cy="126"/>
                </a:xfrm>
                <a:prstGeom prst="rect">
                  <a:avLst/>
                </a:prstGeom>
                <a:noFill/>
                <a:ln w="9525" algn="ctr">
                  <a:noFill/>
                  <a:miter lim="800000"/>
                  <a:headEnd/>
                  <a:tailEnd/>
                </a:ln>
              </p:spPr>
            </p:pic>
            <p:sp>
              <p:nvSpPr>
                <p:cNvPr id="32" name="Line 22"/>
                <p:cNvSpPr>
                  <a:spLocks noChangeShapeType="1"/>
                </p:cNvSpPr>
                <p:nvPr/>
              </p:nvSpPr>
              <p:spPr bwMode="auto">
                <a:xfrm flipH="1">
                  <a:off x="4377" y="2659"/>
                  <a:ext cx="181" cy="0"/>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33" name="Picture 23"/>
                <p:cNvPicPr>
                  <a:picLocks noChangeAspect="1" noChangeArrowheads="1"/>
                </p:cNvPicPr>
                <p:nvPr/>
              </p:nvPicPr>
              <p:blipFill>
                <a:blip r:embed="rId7" cstate="print"/>
                <a:srcRect/>
                <a:stretch>
                  <a:fillRect/>
                </a:stretch>
              </p:blipFill>
              <p:spPr bwMode="auto">
                <a:xfrm rot="-5400000">
                  <a:off x="5364" y="2682"/>
                  <a:ext cx="354" cy="126"/>
                </a:xfrm>
                <a:prstGeom prst="rect">
                  <a:avLst/>
                </a:prstGeom>
                <a:noFill/>
                <a:ln w="9525" algn="ctr">
                  <a:noFill/>
                  <a:miter lim="800000"/>
                  <a:headEnd/>
                  <a:tailEnd/>
                </a:ln>
              </p:spPr>
            </p:pic>
          </p:grpSp>
          <p:sp>
            <p:nvSpPr>
              <p:cNvPr id="18" name="Line 24"/>
              <p:cNvSpPr>
                <a:spLocks noChangeShapeType="1"/>
              </p:cNvSpPr>
              <p:nvPr/>
            </p:nvSpPr>
            <p:spPr bwMode="auto">
              <a:xfrm flipV="1">
                <a:off x="4992" y="2321"/>
                <a:ext cx="136" cy="136"/>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8" name="Group 26"/>
            <p:cNvGrpSpPr/>
            <p:nvPr/>
          </p:nvGrpSpPr>
          <p:grpSpPr bwMode="auto">
            <a:xfrm>
              <a:off x="3709" y="1836"/>
              <a:ext cx="1984" cy="1095"/>
              <a:chOff x="3709" y="1836"/>
              <a:chExt cx="1984" cy="1095"/>
            </a:xfrm>
          </p:grpSpPr>
          <p:sp>
            <p:nvSpPr>
              <p:cNvPr id="9" name="Oval 27"/>
              <p:cNvSpPr>
                <a:spLocks noChangeArrowheads="1"/>
              </p:cNvSpPr>
              <p:nvPr/>
            </p:nvSpPr>
            <p:spPr bwMode="auto">
              <a:xfrm>
                <a:off x="4059" y="2840"/>
                <a:ext cx="91" cy="91"/>
              </a:xfrm>
              <a:prstGeom prst="ellipse">
                <a:avLst/>
              </a:prstGeom>
              <a:solidFill>
                <a:schemeClr val="accent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10" name="Text Box 28"/>
              <p:cNvSpPr txBox="1">
                <a:spLocks noChangeArrowheads="1"/>
              </p:cNvSpPr>
              <p:nvPr/>
            </p:nvSpPr>
            <p:spPr bwMode="auto">
              <a:xfrm>
                <a:off x="3739" y="1836"/>
                <a:ext cx="453" cy="221"/>
              </a:xfrm>
              <a:prstGeom prst="rect">
                <a:avLst/>
              </a:prstGeom>
              <a:noFill/>
              <a:ln w="9525" algn="ctr">
                <a:noFill/>
                <a:miter lim="800000"/>
              </a:ln>
            </p:spPr>
            <p:txBody>
              <a:bodyPr>
                <a:spAutoFit/>
              </a:bodyPr>
              <a:lstStyle/>
              <a:p>
                <a:pPr algn="ctr" fontAlgn="base">
                  <a:spcBef>
                    <a:spcPct val="50000"/>
                  </a:spcBef>
                  <a:spcAft>
                    <a:spcPct val="0"/>
                  </a:spcAft>
                </a:pPr>
                <a:r>
                  <a:rPr lang="en-US" altLang="zh-CN" sz="1400" i="1" dirty="0">
                    <a:solidFill>
                      <a:srgbClr val="000000"/>
                    </a:solidFill>
                  </a:rPr>
                  <a:t>R</a:t>
                </a:r>
                <a:r>
                  <a:rPr lang="en-US" altLang="zh-CN" sz="1400" i="1" baseline="-25000" dirty="0">
                    <a:solidFill>
                      <a:srgbClr val="000000"/>
                    </a:solidFill>
                  </a:rPr>
                  <a:t>1</a:t>
                </a:r>
                <a:endParaRPr lang="en-US" altLang="zh-CN" sz="1400" i="1" dirty="0">
                  <a:solidFill>
                    <a:srgbClr val="000000"/>
                  </a:solidFill>
                </a:endParaRPr>
              </a:p>
            </p:txBody>
          </p:sp>
          <p:sp>
            <p:nvSpPr>
              <p:cNvPr id="11" name="Text Box 29"/>
              <p:cNvSpPr txBox="1">
                <a:spLocks noChangeArrowheads="1"/>
              </p:cNvSpPr>
              <p:nvPr/>
            </p:nvSpPr>
            <p:spPr bwMode="auto">
              <a:xfrm>
                <a:off x="3709" y="2419"/>
                <a:ext cx="499" cy="221"/>
              </a:xfrm>
              <a:prstGeom prst="rect">
                <a:avLst/>
              </a:prstGeom>
              <a:noFill/>
              <a:ln w="9525" algn="ctr">
                <a:noFill/>
                <a:miter lim="800000"/>
              </a:ln>
            </p:spPr>
            <p:txBody>
              <a:bodyPr>
                <a:spAutoFit/>
              </a:bodyPr>
              <a:lstStyle/>
              <a:p>
                <a:pPr algn="ctr" fontAlgn="base">
                  <a:spcBef>
                    <a:spcPct val="0"/>
                  </a:spcBef>
                  <a:spcAft>
                    <a:spcPct val="0"/>
                  </a:spcAft>
                </a:pPr>
                <a:r>
                  <a:rPr lang="en-US" altLang="zh-CN" sz="1400" i="1" dirty="0">
                    <a:solidFill>
                      <a:srgbClr val="000000"/>
                    </a:solidFill>
                  </a:rPr>
                  <a:t>R</a:t>
                </a:r>
                <a:r>
                  <a:rPr lang="en-US" altLang="zh-CN" sz="1400" i="1" baseline="-25000" dirty="0">
                    <a:solidFill>
                      <a:srgbClr val="000000"/>
                    </a:solidFill>
                  </a:rPr>
                  <a:t>2</a:t>
                </a:r>
                <a:endParaRPr lang="en-US" altLang="zh-CN" sz="1400" dirty="0">
                  <a:solidFill>
                    <a:srgbClr val="000000"/>
                  </a:solidFill>
                </a:endParaRPr>
              </a:p>
            </p:txBody>
          </p:sp>
          <p:sp>
            <p:nvSpPr>
              <p:cNvPr id="12" name="Text Box 30"/>
              <p:cNvSpPr txBox="1">
                <a:spLocks noChangeArrowheads="1"/>
              </p:cNvSpPr>
              <p:nvPr/>
            </p:nvSpPr>
            <p:spPr bwMode="auto">
              <a:xfrm>
                <a:off x="5262" y="1858"/>
                <a:ext cx="409" cy="221"/>
              </a:xfrm>
              <a:prstGeom prst="rect">
                <a:avLst/>
              </a:prstGeom>
              <a:noFill/>
              <a:ln w="9525" algn="ctr">
                <a:noFill/>
                <a:miter lim="800000"/>
              </a:ln>
            </p:spPr>
            <p:txBody>
              <a:bodyPr>
                <a:spAutoFit/>
              </a:bodyPr>
              <a:lstStyle/>
              <a:p>
                <a:pPr algn="ctr" fontAlgn="base">
                  <a:spcBef>
                    <a:spcPct val="0"/>
                  </a:spcBef>
                  <a:spcAft>
                    <a:spcPct val="0"/>
                  </a:spcAft>
                </a:pPr>
                <a:r>
                  <a:rPr lang="en-US" altLang="zh-CN" sz="1400" i="1" dirty="0">
                    <a:solidFill>
                      <a:srgbClr val="000000"/>
                    </a:solidFill>
                  </a:rPr>
                  <a:t>R</a:t>
                </a:r>
                <a:r>
                  <a:rPr lang="en-US" altLang="zh-CN" sz="1400" i="1" baseline="-25000" dirty="0">
                    <a:solidFill>
                      <a:srgbClr val="000000"/>
                    </a:solidFill>
                  </a:rPr>
                  <a:t>3</a:t>
                </a:r>
                <a:endParaRPr lang="en-US" altLang="zh-CN" sz="1400" dirty="0">
                  <a:solidFill>
                    <a:srgbClr val="000000"/>
                  </a:solidFill>
                </a:endParaRPr>
              </a:p>
            </p:txBody>
          </p:sp>
          <p:sp>
            <p:nvSpPr>
              <p:cNvPr id="13" name="Text Box 31"/>
              <p:cNvSpPr txBox="1">
                <a:spLocks noChangeArrowheads="1"/>
              </p:cNvSpPr>
              <p:nvPr/>
            </p:nvSpPr>
            <p:spPr bwMode="auto">
              <a:xfrm>
                <a:off x="5307" y="2503"/>
                <a:ext cx="386" cy="221"/>
              </a:xfrm>
              <a:prstGeom prst="rect">
                <a:avLst/>
              </a:prstGeom>
              <a:noFill/>
              <a:ln w="9525" algn="ctr">
                <a:noFill/>
                <a:miter lim="800000"/>
              </a:ln>
            </p:spPr>
            <p:txBody>
              <a:bodyPr>
                <a:spAutoFit/>
              </a:bodyPr>
              <a:lstStyle/>
              <a:p>
                <a:pPr algn="ctr" fontAlgn="base">
                  <a:spcBef>
                    <a:spcPct val="0"/>
                  </a:spcBef>
                  <a:spcAft>
                    <a:spcPct val="0"/>
                  </a:spcAft>
                </a:pPr>
                <a:r>
                  <a:rPr lang="en-US" altLang="zh-CN" sz="1400" i="1" dirty="0">
                    <a:solidFill>
                      <a:srgbClr val="000000"/>
                    </a:solidFill>
                  </a:rPr>
                  <a:t>R</a:t>
                </a:r>
                <a:r>
                  <a:rPr lang="en-US" altLang="zh-CN" sz="1400" i="1" baseline="-25000" dirty="0">
                    <a:solidFill>
                      <a:srgbClr val="000000"/>
                    </a:solidFill>
                  </a:rPr>
                  <a:t>x</a:t>
                </a:r>
                <a:endParaRPr lang="en-US" altLang="zh-CN" sz="1400" dirty="0">
                  <a:solidFill>
                    <a:srgbClr val="000000"/>
                  </a:solidFill>
                </a:endParaRPr>
              </a:p>
            </p:txBody>
          </p:sp>
          <p:pic>
            <p:nvPicPr>
              <p:cNvPr id="14" name="Picture 32"/>
              <p:cNvPicPr>
                <a:picLocks noChangeAspect="1" noChangeArrowheads="1"/>
              </p:cNvPicPr>
              <p:nvPr/>
            </p:nvPicPr>
            <p:blipFill>
              <a:blip r:embed="rId8" cstate="print"/>
              <a:srcRect/>
              <a:stretch>
                <a:fillRect/>
              </a:stretch>
            </p:blipFill>
            <p:spPr bwMode="auto">
              <a:xfrm>
                <a:off x="4377" y="2432"/>
                <a:ext cx="132" cy="126"/>
              </a:xfrm>
              <a:prstGeom prst="rect">
                <a:avLst/>
              </a:prstGeom>
              <a:noFill/>
              <a:ln w="9525" algn="ctr">
                <a:noFill/>
                <a:miter lim="800000"/>
                <a:headEnd/>
                <a:tailEnd/>
              </a:ln>
            </p:spPr>
          </p:pic>
          <p:pic>
            <p:nvPicPr>
              <p:cNvPr id="15" name="Picture 33"/>
              <p:cNvPicPr>
                <a:picLocks noChangeAspect="1" noChangeArrowheads="1"/>
              </p:cNvPicPr>
              <p:nvPr/>
            </p:nvPicPr>
            <p:blipFill>
              <a:blip r:embed="rId9" cstate="print"/>
              <a:srcRect/>
              <a:stretch>
                <a:fillRect/>
              </a:stretch>
            </p:blipFill>
            <p:spPr bwMode="auto">
              <a:xfrm>
                <a:off x="4377" y="2886"/>
                <a:ext cx="132" cy="42"/>
              </a:xfrm>
              <a:prstGeom prst="rect">
                <a:avLst/>
              </a:prstGeom>
              <a:noFill/>
              <a:ln w="9525" algn="ctr">
                <a:noFill/>
                <a:miter lim="800000"/>
                <a:headEnd/>
                <a:tailEnd/>
              </a:ln>
            </p:spPr>
          </p:pic>
          <p:sp>
            <p:nvSpPr>
              <p:cNvPr id="16" name="Text Box 34"/>
              <p:cNvSpPr txBox="1">
                <a:spLocks noChangeArrowheads="1"/>
              </p:cNvSpPr>
              <p:nvPr/>
            </p:nvSpPr>
            <p:spPr bwMode="auto">
              <a:xfrm>
                <a:off x="4257" y="2575"/>
                <a:ext cx="408" cy="244"/>
              </a:xfrm>
              <a:prstGeom prst="rect">
                <a:avLst/>
              </a:prstGeom>
              <a:noFill/>
              <a:ln w="9525" algn="ctr">
                <a:noFill/>
                <a:miter lim="800000"/>
              </a:ln>
            </p:spPr>
            <p:txBody>
              <a:bodyPr>
                <a:spAutoFit/>
              </a:bodyPr>
              <a:lstStyle/>
              <a:p>
                <a:pPr algn="ctr" fontAlgn="base">
                  <a:spcBef>
                    <a:spcPct val="0"/>
                  </a:spcBef>
                  <a:spcAft>
                    <a:spcPct val="0"/>
                  </a:spcAft>
                </a:pPr>
                <a:r>
                  <a:rPr lang="en-US" altLang="zh-CN" sz="1600" i="1" dirty="0">
                    <a:solidFill>
                      <a:srgbClr val="000000"/>
                    </a:solidFill>
                  </a:rPr>
                  <a:t>v</a:t>
                </a:r>
                <a:r>
                  <a:rPr lang="en-US" altLang="zh-CN" sz="1600" i="1" baseline="-25000" dirty="0">
                    <a:solidFill>
                      <a:srgbClr val="000000"/>
                    </a:solidFill>
                  </a:rPr>
                  <a:t>1</a:t>
                </a:r>
                <a:endParaRPr lang="en-US" altLang="zh-CN" sz="1600" dirty="0">
                  <a:solidFill>
                    <a:srgbClr val="000000"/>
                  </a:solidFill>
                </a:endParaRPr>
              </a:p>
            </p:txBody>
          </p:sp>
        </p:grpSp>
      </p:gr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78</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79</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470535" y="1052830"/>
            <a:ext cx="8202930" cy="668020"/>
          </a:xfrm>
          <a:prstGeom prst="rect">
            <a:avLst/>
          </a:prstGeom>
        </p:spPr>
      </p:pic>
      <p:sp>
        <p:nvSpPr>
          <p:cNvPr id="6" name="文本框 5"/>
          <p:cNvSpPr txBox="1"/>
          <p:nvPr/>
        </p:nvSpPr>
        <p:spPr>
          <a:xfrm>
            <a:off x="577215" y="2174875"/>
            <a:ext cx="8171180" cy="368300"/>
          </a:xfrm>
          <a:prstGeom prst="rect">
            <a:avLst/>
          </a:prstGeom>
          <a:noFill/>
        </p:spPr>
        <p:txBody>
          <a:bodyPr wrap="square" rtlCol="0">
            <a:spAutoFit/>
          </a:bodyPr>
          <a:lstStyle/>
          <a:p>
            <a:r>
              <a:rPr lang="zh-CN" altLang="en-US"/>
              <a:t>解：</a:t>
            </a:r>
            <a:r>
              <a:rPr lang="en-US" altLang="zh-CN"/>
              <a:t>R4=(R2*R3)/R1=6.3K</a:t>
            </a:r>
            <a:r>
              <a:rPr lang="en-US" altLang="zh-CN">
                <a:latin typeface="Arial" panose="020B0604020202020204" pitchFamily="34" charset="0"/>
                <a:cs typeface="Arial" panose="020B0604020202020204" pitchFamily="34" charset="0"/>
              </a:rPr>
              <a:t>Ʊ</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68313" y="404813"/>
            <a:ext cx="3251200" cy="523875"/>
          </a:xfrm>
        </p:spPr>
        <p:txBody>
          <a:bodyPr/>
          <a:lstStyle/>
          <a:p>
            <a:pPr eaLnBrk="1" hangingPunct="1"/>
            <a:r>
              <a:rPr lang="zh-CN" altLang="en-US" sz="2400" b="1" dirty="0">
                <a:solidFill>
                  <a:srgbClr val="FF0000"/>
                </a:solidFill>
                <a:latin typeface="Times New Roman" panose="02020603050405020304" pitchFamily="18" charset="0"/>
              </a:rPr>
              <a:t>举例</a:t>
            </a:r>
            <a:r>
              <a:rPr lang="en-US" altLang="zh-CN" sz="2400" b="1" dirty="0">
                <a:solidFill>
                  <a:srgbClr val="FF0000"/>
                </a:solidFill>
                <a:latin typeface="Times New Roman" panose="02020603050405020304" pitchFamily="18" charset="0"/>
              </a:rPr>
              <a:t> 4.18</a:t>
            </a:r>
          </a:p>
        </p:txBody>
      </p:sp>
      <p:sp>
        <p:nvSpPr>
          <p:cNvPr id="64515" name="Rectangle 3"/>
          <p:cNvSpPr>
            <a:spLocks noGrp="1" noChangeArrowheads="1"/>
          </p:cNvSpPr>
          <p:nvPr>
            <p:ph type="body" idx="1"/>
          </p:nvPr>
        </p:nvSpPr>
        <p:spPr>
          <a:xfrm>
            <a:off x="323850" y="981075"/>
            <a:ext cx="8351838" cy="1079500"/>
          </a:xfrm>
        </p:spPr>
        <p:txBody>
          <a:bodyPr/>
          <a:lstStyle/>
          <a:p>
            <a:pPr marL="0" indent="0" eaLnBrk="1" hangingPunct="1">
              <a:buFont typeface="Wingdings" panose="05000000000000000000" pitchFamily="2" charset="2"/>
              <a:buNone/>
            </a:pPr>
            <a:r>
              <a:rPr lang="zh-CN" altLang="en-US" sz="2000" b="1" dirty="0">
                <a:latin typeface="Times New Roman" panose="02020603050405020304" pitchFamily="18" charset="0"/>
              </a:rPr>
              <a:t>      图</a:t>
            </a:r>
            <a:r>
              <a:rPr lang="en-US" altLang="zh-CN" sz="2000" b="1" dirty="0">
                <a:latin typeface="Times New Roman" panose="02020603050405020304" pitchFamily="18" charset="0"/>
              </a:rPr>
              <a:t>4.64 </a:t>
            </a:r>
            <a:r>
              <a:rPr lang="zh-CN" altLang="en-US" sz="2000" b="1" dirty="0">
                <a:latin typeface="Times New Roman" panose="02020603050405020304" pitchFamily="18" charset="0"/>
              </a:rPr>
              <a:t>中的电路为不平衡电桥</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如果检流计的电阻是</a:t>
            </a:r>
            <a:r>
              <a:rPr lang="en-US" altLang="zh-CN" sz="2000" b="1" dirty="0">
                <a:latin typeface="Times New Roman" panose="02020603050405020304" pitchFamily="18" charset="0"/>
              </a:rPr>
              <a:t>40</a:t>
            </a:r>
            <a:r>
              <a:rPr lang="el-GR" altLang="zh-CN" sz="2000" b="1" dirty="0">
                <a:latin typeface="Times New Roman" panose="02020603050405020304" pitchFamily="18" charset="0"/>
                <a:cs typeface="Arial" panose="020B0604020202020204" pitchFamily="34" charset="0"/>
              </a:rPr>
              <a:t>Ω</a:t>
            </a:r>
            <a:r>
              <a:rPr lang="en-US" altLang="zh-CN" sz="20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cs typeface="Arial" panose="020B0604020202020204" pitchFamily="34" charset="0"/>
              </a:rPr>
              <a:t>求通过检流计的电流</a:t>
            </a:r>
            <a:r>
              <a:rPr lang="en-US" altLang="zh-CN" sz="2000" b="1" dirty="0">
                <a:latin typeface="Times New Roman" panose="02020603050405020304" pitchFamily="18" charset="0"/>
                <a:cs typeface="Arial" panose="020B0604020202020204" pitchFamily="34" charset="0"/>
              </a:rPr>
              <a:t>.</a:t>
            </a:r>
            <a:endParaRPr lang="el-GR" altLang="zh-CN" sz="2000" b="1" dirty="0">
              <a:latin typeface="Times New Roman" panose="02020603050405020304" pitchFamily="18" charset="0"/>
              <a:cs typeface="Arial" panose="020B0604020202020204" pitchFamily="34" charset="0"/>
            </a:endParaRPr>
          </a:p>
        </p:txBody>
      </p:sp>
      <p:grpSp>
        <p:nvGrpSpPr>
          <p:cNvPr id="2" name="Group 4"/>
          <p:cNvGrpSpPr/>
          <p:nvPr/>
        </p:nvGrpSpPr>
        <p:grpSpPr bwMode="auto">
          <a:xfrm>
            <a:off x="1403351" y="1700213"/>
            <a:ext cx="5150785" cy="1726474"/>
            <a:chOff x="1247" y="1480"/>
            <a:chExt cx="3533" cy="1179"/>
          </a:xfrm>
        </p:grpSpPr>
        <p:grpSp>
          <p:nvGrpSpPr>
            <p:cNvPr id="3" name="Group 5"/>
            <p:cNvGrpSpPr/>
            <p:nvPr/>
          </p:nvGrpSpPr>
          <p:grpSpPr bwMode="auto">
            <a:xfrm>
              <a:off x="1862" y="1480"/>
              <a:ext cx="2918" cy="1179"/>
              <a:chOff x="1882" y="1480"/>
              <a:chExt cx="2918" cy="1179"/>
            </a:xfrm>
          </p:grpSpPr>
          <p:sp>
            <p:nvSpPr>
              <p:cNvPr id="64562" name="Line 6"/>
              <p:cNvSpPr>
                <a:spLocks noChangeShapeType="1"/>
              </p:cNvSpPr>
              <p:nvPr/>
            </p:nvSpPr>
            <p:spPr bwMode="auto">
              <a:xfrm>
                <a:off x="1882" y="1480"/>
                <a:ext cx="2268"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4563" name="Line 7"/>
              <p:cNvSpPr>
                <a:spLocks noChangeShapeType="1"/>
              </p:cNvSpPr>
              <p:nvPr/>
            </p:nvSpPr>
            <p:spPr bwMode="auto">
              <a:xfrm>
                <a:off x="1882" y="2659"/>
                <a:ext cx="2268"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4564" name="Line 8"/>
              <p:cNvSpPr>
                <a:spLocks noChangeShapeType="1"/>
              </p:cNvSpPr>
              <p:nvPr/>
            </p:nvSpPr>
            <p:spPr bwMode="auto">
              <a:xfrm>
                <a:off x="4150" y="1480"/>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4565" name="Picture 9"/>
              <p:cNvPicPr>
                <a:picLocks noChangeAspect="1" noChangeArrowheads="1"/>
              </p:cNvPicPr>
              <p:nvPr/>
            </p:nvPicPr>
            <p:blipFill>
              <a:blip r:embed="rId3" cstate="print"/>
              <a:srcRect/>
              <a:stretch>
                <a:fillRect/>
              </a:stretch>
            </p:blipFill>
            <p:spPr bwMode="auto">
              <a:xfrm rot="-5400000">
                <a:off x="3969" y="1706"/>
                <a:ext cx="354" cy="126"/>
              </a:xfrm>
              <a:prstGeom prst="rect">
                <a:avLst/>
              </a:prstGeom>
              <a:noFill/>
              <a:ln w="9525" algn="ctr">
                <a:noFill/>
                <a:miter lim="800000"/>
                <a:headEnd/>
                <a:tailEnd/>
              </a:ln>
            </p:spPr>
          </p:pic>
          <p:pic>
            <p:nvPicPr>
              <p:cNvPr id="64566" name="Picture 10"/>
              <p:cNvPicPr>
                <a:picLocks noChangeAspect="1" noChangeArrowheads="1"/>
              </p:cNvPicPr>
              <p:nvPr/>
            </p:nvPicPr>
            <p:blipFill>
              <a:blip r:embed="rId3" cstate="print"/>
              <a:srcRect/>
              <a:stretch>
                <a:fillRect/>
              </a:stretch>
            </p:blipFill>
            <p:spPr bwMode="auto">
              <a:xfrm rot="-5400000">
                <a:off x="3969" y="2296"/>
                <a:ext cx="354" cy="126"/>
              </a:xfrm>
              <a:prstGeom prst="rect">
                <a:avLst/>
              </a:prstGeom>
              <a:noFill/>
              <a:ln w="9525" algn="ctr">
                <a:noFill/>
                <a:miter lim="800000"/>
                <a:headEnd/>
                <a:tailEnd/>
              </a:ln>
            </p:spPr>
          </p:pic>
          <p:sp>
            <p:nvSpPr>
              <p:cNvPr id="64567" name="Text Box 11"/>
              <p:cNvSpPr txBox="1">
                <a:spLocks noChangeArrowheads="1"/>
              </p:cNvSpPr>
              <p:nvPr/>
            </p:nvSpPr>
            <p:spPr bwMode="auto">
              <a:xfrm>
                <a:off x="4162" y="1631"/>
                <a:ext cx="544" cy="231"/>
              </a:xfrm>
              <a:prstGeom prst="rect">
                <a:avLst/>
              </a:prstGeom>
              <a:noFill/>
              <a:ln w="9525" algn="ctr">
                <a:noFill/>
                <a:miter lim="800000"/>
              </a:ln>
            </p:spPr>
            <p:txBody>
              <a:bodyPr>
                <a:spAutoFit/>
              </a:bodyPr>
              <a:lstStyle/>
              <a:p>
                <a:pPr fontAlgn="base">
                  <a:spcBef>
                    <a:spcPct val="50000"/>
                  </a:spcBef>
                  <a:spcAft>
                    <a:spcPct val="0"/>
                  </a:spcAft>
                </a:pPr>
                <a:r>
                  <a:rPr lang="en-US" altLang="zh-CN" dirty="0">
                    <a:solidFill>
                      <a:srgbClr val="000000"/>
                    </a:solidFill>
                  </a:rPr>
                  <a:t>400</a:t>
                </a:r>
                <a:r>
                  <a:rPr lang="el-GR" altLang="zh-CN" dirty="0">
                    <a:solidFill>
                      <a:srgbClr val="000000"/>
                    </a:solidFill>
                    <a:cs typeface="Arial" panose="020B0604020202020204" pitchFamily="34" charset="0"/>
                  </a:rPr>
                  <a:t>Ω</a:t>
                </a:r>
              </a:p>
            </p:txBody>
          </p:sp>
          <p:sp>
            <p:nvSpPr>
              <p:cNvPr id="64568" name="Text Box 12"/>
              <p:cNvSpPr txBox="1">
                <a:spLocks noChangeArrowheads="1"/>
              </p:cNvSpPr>
              <p:nvPr/>
            </p:nvSpPr>
            <p:spPr bwMode="auto">
              <a:xfrm>
                <a:off x="4165" y="2238"/>
                <a:ext cx="635" cy="231"/>
              </a:xfrm>
              <a:prstGeom prst="rect">
                <a:avLst/>
              </a:prstGeom>
              <a:noFill/>
              <a:ln w="9525" algn="ctr">
                <a:noFill/>
                <a:miter lim="800000"/>
              </a:ln>
            </p:spPr>
            <p:txBody>
              <a:bodyPr>
                <a:spAutoFit/>
              </a:bodyPr>
              <a:lstStyle/>
              <a:p>
                <a:pPr fontAlgn="base">
                  <a:spcBef>
                    <a:spcPct val="50000"/>
                  </a:spcBef>
                  <a:spcAft>
                    <a:spcPct val="0"/>
                  </a:spcAft>
                </a:pPr>
                <a:r>
                  <a:rPr lang="en-US" altLang="zh-CN" dirty="0">
                    <a:solidFill>
                      <a:srgbClr val="000000"/>
                    </a:solidFill>
                  </a:rPr>
                  <a:t>600</a:t>
                </a:r>
                <a:r>
                  <a:rPr lang="el-GR" altLang="zh-CN" dirty="0">
                    <a:solidFill>
                      <a:srgbClr val="000000"/>
                    </a:solidFill>
                    <a:cs typeface="Arial" panose="020B0604020202020204" pitchFamily="34" charset="0"/>
                  </a:rPr>
                  <a:t>Ω</a:t>
                </a:r>
              </a:p>
            </p:txBody>
          </p:sp>
          <p:grpSp>
            <p:nvGrpSpPr>
              <p:cNvPr id="4" name="Group 13"/>
              <p:cNvGrpSpPr/>
              <p:nvPr/>
            </p:nvGrpSpPr>
            <p:grpSpPr bwMode="auto">
              <a:xfrm>
                <a:off x="2562" y="1842"/>
                <a:ext cx="1588" cy="273"/>
                <a:chOff x="2562" y="1842"/>
                <a:chExt cx="1588" cy="273"/>
              </a:xfrm>
            </p:grpSpPr>
            <p:grpSp>
              <p:nvGrpSpPr>
                <p:cNvPr id="5" name="Group 14"/>
                <p:cNvGrpSpPr/>
                <p:nvPr/>
              </p:nvGrpSpPr>
              <p:grpSpPr bwMode="auto">
                <a:xfrm>
                  <a:off x="2562" y="1842"/>
                  <a:ext cx="1588" cy="273"/>
                  <a:chOff x="2562" y="1933"/>
                  <a:chExt cx="1588" cy="273"/>
                </a:xfrm>
              </p:grpSpPr>
              <p:sp>
                <p:nvSpPr>
                  <p:cNvPr id="64572" name="Line 15"/>
                  <p:cNvSpPr>
                    <a:spLocks noChangeShapeType="1"/>
                  </p:cNvSpPr>
                  <p:nvPr/>
                </p:nvSpPr>
                <p:spPr bwMode="auto">
                  <a:xfrm>
                    <a:off x="2562" y="2069"/>
                    <a:ext cx="1588"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4573" name="Picture 16"/>
                  <p:cNvPicPr>
                    <a:picLocks noChangeAspect="1" noChangeArrowheads="1"/>
                  </p:cNvPicPr>
                  <p:nvPr/>
                </p:nvPicPr>
                <p:blipFill>
                  <a:blip r:embed="rId3" cstate="print"/>
                  <a:srcRect/>
                  <a:stretch>
                    <a:fillRect/>
                  </a:stretch>
                </p:blipFill>
                <p:spPr bwMode="auto">
                  <a:xfrm>
                    <a:off x="2925" y="2024"/>
                    <a:ext cx="354" cy="126"/>
                  </a:xfrm>
                  <a:prstGeom prst="rect">
                    <a:avLst/>
                  </a:prstGeom>
                  <a:noFill/>
                  <a:ln w="9525" algn="ctr">
                    <a:noFill/>
                    <a:miter lim="800000"/>
                    <a:headEnd/>
                    <a:tailEnd/>
                  </a:ln>
                </p:spPr>
              </p:pic>
              <p:sp>
                <p:nvSpPr>
                  <p:cNvPr id="64574" name="Oval 17"/>
                  <p:cNvSpPr>
                    <a:spLocks noChangeArrowheads="1"/>
                  </p:cNvSpPr>
                  <p:nvPr/>
                </p:nvSpPr>
                <p:spPr bwMode="auto">
                  <a:xfrm>
                    <a:off x="3560" y="1933"/>
                    <a:ext cx="273" cy="273"/>
                  </a:xfrm>
                  <a:prstGeom prst="ellipse">
                    <a:avLst/>
                  </a:prstGeom>
                  <a:solidFill>
                    <a:srgbClr val="008080"/>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64575" name="Oval 18"/>
                  <p:cNvSpPr>
                    <a:spLocks noChangeArrowheads="1"/>
                  </p:cNvSpPr>
                  <p:nvPr/>
                </p:nvSpPr>
                <p:spPr bwMode="auto">
                  <a:xfrm>
                    <a:off x="2699" y="2044"/>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64576" name="Oval 19"/>
                  <p:cNvSpPr>
                    <a:spLocks noChangeArrowheads="1"/>
                  </p:cNvSpPr>
                  <p:nvPr/>
                </p:nvSpPr>
                <p:spPr bwMode="auto">
                  <a:xfrm>
                    <a:off x="3969" y="2057"/>
                    <a:ext cx="45" cy="44"/>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sp>
              <p:nvSpPr>
                <p:cNvPr id="64571" name="Text Box 20"/>
                <p:cNvSpPr txBox="1">
                  <a:spLocks noChangeArrowheads="1"/>
                </p:cNvSpPr>
                <p:nvPr/>
              </p:nvSpPr>
              <p:spPr bwMode="auto">
                <a:xfrm>
                  <a:off x="3572" y="1871"/>
                  <a:ext cx="227"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G</a:t>
                  </a:r>
                </a:p>
              </p:txBody>
            </p:sp>
          </p:grpSp>
        </p:grpSp>
        <p:grpSp>
          <p:nvGrpSpPr>
            <p:cNvPr id="6" name="Group 21"/>
            <p:cNvGrpSpPr/>
            <p:nvPr/>
          </p:nvGrpSpPr>
          <p:grpSpPr bwMode="auto">
            <a:xfrm>
              <a:off x="1247" y="1480"/>
              <a:ext cx="760" cy="1179"/>
              <a:chOff x="1247" y="1480"/>
              <a:chExt cx="760" cy="1179"/>
            </a:xfrm>
          </p:grpSpPr>
          <p:sp>
            <p:nvSpPr>
              <p:cNvPr id="64559" name="Line 22"/>
              <p:cNvSpPr>
                <a:spLocks noChangeShapeType="1"/>
              </p:cNvSpPr>
              <p:nvPr/>
            </p:nvSpPr>
            <p:spPr bwMode="auto">
              <a:xfrm>
                <a:off x="1862" y="1480"/>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4560" name="Picture 23"/>
              <p:cNvPicPr>
                <a:picLocks noChangeAspect="1" noChangeArrowheads="1"/>
              </p:cNvPicPr>
              <p:nvPr/>
            </p:nvPicPr>
            <p:blipFill>
              <a:blip r:embed="rId4" cstate="print"/>
              <a:srcRect/>
              <a:stretch>
                <a:fillRect/>
              </a:stretch>
            </p:blipFill>
            <p:spPr bwMode="auto">
              <a:xfrm>
                <a:off x="1701" y="1933"/>
                <a:ext cx="306" cy="264"/>
              </a:xfrm>
              <a:prstGeom prst="rect">
                <a:avLst/>
              </a:prstGeom>
              <a:noFill/>
              <a:ln w="9525" algn="ctr">
                <a:noFill/>
                <a:miter lim="800000"/>
                <a:headEnd/>
                <a:tailEnd/>
              </a:ln>
            </p:spPr>
          </p:pic>
          <p:sp>
            <p:nvSpPr>
              <p:cNvPr id="64561" name="Text Box 24"/>
              <p:cNvSpPr txBox="1">
                <a:spLocks noChangeArrowheads="1"/>
              </p:cNvSpPr>
              <p:nvPr/>
            </p:nvSpPr>
            <p:spPr bwMode="auto">
              <a:xfrm>
                <a:off x="1247" y="1933"/>
                <a:ext cx="556" cy="252"/>
              </a:xfrm>
              <a:prstGeom prst="rect">
                <a:avLst/>
              </a:prstGeom>
              <a:noFill/>
              <a:ln w="9525" algn="ctr">
                <a:noFill/>
                <a:miter lim="800000"/>
              </a:ln>
            </p:spPr>
            <p:txBody>
              <a:bodyPr wrap="square">
                <a:spAutoFit/>
              </a:bodyPr>
              <a:lstStyle/>
              <a:p>
                <a:pPr fontAlgn="base">
                  <a:spcBef>
                    <a:spcPct val="50000"/>
                  </a:spcBef>
                  <a:spcAft>
                    <a:spcPct val="0"/>
                  </a:spcAft>
                </a:pPr>
                <a:r>
                  <a:rPr lang="en-US" altLang="zh-CN" dirty="0">
                    <a:solidFill>
                      <a:srgbClr val="000000"/>
                    </a:solidFill>
                  </a:rPr>
                  <a:t>220 V</a:t>
                </a:r>
              </a:p>
            </p:txBody>
          </p:sp>
        </p:grpSp>
        <p:sp>
          <p:nvSpPr>
            <p:cNvPr id="64551" name="Text Box 25"/>
            <p:cNvSpPr txBox="1">
              <a:spLocks noChangeArrowheads="1"/>
            </p:cNvSpPr>
            <p:nvPr/>
          </p:nvSpPr>
          <p:spPr bwMode="auto">
            <a:xfrm>
              <a:off x="3844" y="1752"/>
              <a:ext cx="196" cy="231"/>
            </a:xfrm>
            <a:prstGeom prst="rect">
              <a:avLst/>
            </a:prstGeom>
            <a:noFill/>
            <a:ln w="9525" algn="ctr">
              <a:noFill/>
              <a:miter lim="800000"/>
            </a:ln>
          </p:spPr>
          <p:txBody>
            <a:bodyPr wrap="none">
              <a:spAutoFit/>
            </a:bodyPr>
            <a:lstStyle/>
            <a:p>
              <a:pPr fontAlgn="base">
                <a:spcBef>
                  <a:spcPct val="0"/>
                </a:spcBef>
                <a:spcAft>
                  <a:spcPct val="0"/>
                </a:spcAft>
              </a:pPr>
              <a:r>
                <a:rPr lang="en-US" altLang="zh-CN" dirty="0">
                  <a:solidFill>
                    <a:srgbClr val="000000"/>
                  </a:solidFill>
                </a:rPr>
                <a:t>b</a:t>
              </a:r>
            </a:p>
          </p:txBody>
        </p:sp>
        <p:grpSp>
          <p:nvGrpSpPr>
            <p:cNvPr id="7" name="Group 26"/>
            <p:cNvGrpSpPr/>
            <p:nvPr/>
          </p:nvGrpSpPr>
          <p:grpSpPr bwMode="auto">
            <a:xfrm>
              <a:off x="2471" y="1480"/>
              <a:ext cx="953" cy="1179"/>
              <a:chOff x="2471" y="1480"/>
              <a:chExt cx="953" cy="1179"/>
            </a:xfrm>
          </p:grpSpPr>
          <p:sp>
            <p:nvSpPr>
              <p:cNvPr id="64553" name="Line 27"/>
              <p:cNvSpPr>
                <a:spLocks noChangeShapeType="1"/>
              </p:cNvSpPr>
              <p:nvPr/>
            </p:nvSpPr>
            <p:spPr bwMode="auto">
              <a:xfrm>
                <a:off x="2542" y="1480"/>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pic>
            <p:nvPicPr>
              <p:cNvPr id="64554" name="Picture 28"/>
              <p:cNvPicPr>
                <a:picLocks noChangeAspect="1" noChangeArrowheads="1"/>
              </p:cNvPicPr>
              <p:nvPr/>
            </p:nvPicPr>
            <p:blipFill>
              <a:blip r:embed="rId5" cstate="print"/>
              <a:srcRect/>
              <a:stretch>
                <a:fillRect/>
              </a:stretch>
            </p:blipFill>
            <p:spPr bwMode="auto">
              <a:xfrm>
                <a:off x="2471" y="1595"/>
                <a:ext cx="126" cy="354"/>
              </a:xfrm>
              <a:prstGeom prst="rect">
                <a:avLst/>
              </a:prstGeom>
              <a:noFill/>
              <a:ln w="9525" algn="ctr">
                <a:noFill/>
                <a:miter lim="800000"/>
                <a:headEnd/>
                <a:tailEnd/>
              </a:ln>
            </p:spPr>
          </p:pic>
          <p:pic>
            <p:nvPicPr>
              <p:cNvPr id="64555" name="Picture 29"/>
              <p:cNvPicPr>
                <a:picLocks noChangeAspect="1" noChangeArrowheads="1"/>
              </p:cNvPicPr>
              <p:nvPr/>
            </p:nvPicPr>
            <p:blipFill>
              <a:blip r:embed="rId5" cstate="print"/>
              <a:srcRect/>
              <a:stretch>
                <a:fillRect/>
              </a:stretch>
            </p:blipFill>
            <p:spPr bwMode="auto">
              <a:xfrm>
                <a:off x="2471" y="2183"/>
                <a:ext cx="126" cy="354"/>
              </a:xfrm>
              <a:prstGeom prst="rect">
                <a:avLst/>
              </a:prstGeom>
              <a:noFill/>
              <a:ln w="9525" algn="ctr">
                <a:noFill/>
                <a:miter lim="800000"/>
                <a:headEnd/>
                <a:tailEnd/>
              </a:ln>
            </p:spPr>
          </p:pic>
          <p:sp>
            <p:nvSpPr>
              <p:cNvPr id="64556" name="Text Box 30"/>
              <p:cNvSpPr txBox="1">
                <a:spLocks noChangeArrowheads="1"/>
              </p:cNvSpPr>
              <p:nvPr/>
            </p:nvSpPr>
            <p:spPr bwMode="auto">
              <a:xfrm>
                <a:off x="2554" y="1652"/>
                <a:ext cx="635" cy="346"/>
              </a:xfrm>
              <a:prstGeom prst="rect">
                <a:avLst/>
              </a:prstGeom>
              <a:noFill/>
              <a:ln w="9525" algn="ctr">
                <a:noFill/>
                <a:miter lim="800000"/>
              </a:ln>
            </p:spPr>
            <p:txBody>
              <a:bodyPr tIns="36000" bIns="36000">
                <a:spAutoFit/>
              </a:bodyPr>
              <a:lstStyle/>
              <a:p>
                <a:pPr fontAlgn="base">
                  <a:lnSpc>
                    <a:spcPct val="50000"/>
                  </a:lnSpc>
                  <a:spcBef>
                    <a:spcPct val="50000"/>
                  </a:spcBef>
                  <a:spcAft>
                    <a:spcPct val="0"/>
                  </a:spcAft>
                </a:pPr>
                <a:r>
                  <a:rPr lang="en-US" altLang="zh-CN" dirty="0">
                    <a:solidFill>
                      <a:srgbClr val="000000"/>
                    </a:solidFill>
                  </a:rPr>
                  <a:t>3 k</a:t>
                </a:r>
                <a:r>
                  <a:rPr lang="el-GR" altLang="zh-CN" dirty="0">
                    <a:solidFill>
                      <a:srgbClr val="000000"/>
                    </a:solidFill>
                    <a:cs typeface="Arial" panose="020B0604020202020204" pitchFamily="34" charset="0"/>
                  </a:rPr>
                  <a:t>Ω</a:t>
                </a:r>
                <a:endParaRPr lang="en-US" altLang="zh-CN" dirty="0">
                  <a:solidFill>
                    <a:srgbClr val="000000"/>
                  </a:solidFill>
                  <a:cs typeface="Arial" panose="020B0604020202020204" pitchFamily="34" charset="0"/>
                </a:endParaRPr>
              </a:p>
              <a:p>
                <a:pPr fontAlgn="base">
                  <a:lnSpc>
                    <a:spcPct val="50000"/>
                  </a:lnSpc>
                  <a:spcBef>
                    <a:spcPct val="50000"/>
                  </a:spcBef>
                  <a:spcAft>
                    <a:spcPct val="0"/>
                  </a:spcAft>
                </a:pPr>
                <a:r>
                  <a:rPr lang="en-US" altLang="zh-CN" dirty="0">
                    <a:solidFill>
                      <a:srgbClr val="000000"/>
                    </a:solidFill>
                    <a:cs typeface="Arial" panose="020B0604020202020204" pitchFamily="34" charset="0"/>
                  </a:rPr>
                  <a:t>  a</a:t>
                </a:r>
                <a:endParaRPr lang="el-GR" altLang="zh-CN" dirty="0">
                  <a:solidFill>
                    <a:srgbClr val="000000"/>
                  </a:solidFill>
                  <a:cs typeface="Arial" panose="020B0604020202020204" pitchFamily="34" charset="0"/>
                </a:endParaRPr>
              </a:p>
            </p:txBody>
          </p:sp>
          <p:sp>
            <p:nvSpPr>
              <p:cNvPr id="64557" name="Text Box 31"/>
              <p:cNvSpPr txBox="1">
                <a:spLocks noChangeArrowheads="1"/>
              </p:cNvSpPr>
              <p:nvPr/>
            </p:nvSpPr>
            <p:spPr bwMode="auto">
              <a:xfrm>
                <a:off x="2528" y="2249"/>
                <a:ext cx="499" cy="231"/>
              </a:xfrm>
              <a:prstGeom prst="rect">
                <a:avLst/>
              </a:prstGeom>
              <a:noFill/>
              <a:ln w="9525" algn="ctr">
                <a:noFill/>
                <a:miter lim="800000"/>
              </a:ln>
            </p:spPr>
            <p:txBody>
              <a:bodyPr>
                <a:spAutoFit/>
              </a:bodyPr>
              <a:lstStyle/>
              <a:p>
                <a:pPr fontAlgn="base">
                  <a:spcBef>
                    <a:spcPct val="50000"/>
                  </a:spcBef>
                  <a:spcAft>
                    <a:spcPct val="0"/>
                  </a:spcAft>
                </a:pPr>
                <a:r>
                  <a:rPr lang="en-US" altLang="zh-CN" dirty="0">
                    <a:solidFill>
                      <a:srgbClr val="000000"/>
                    </a:solidFill>
                  </a:rPr>
                  <a:t>1 k</a:t>
                </a:r>
                <a:r>
                  <a:rPr lang="el-GR" altLang="zh-CN" dirty="0">
                    <a:solidFill>
                      <a:srgbClr val="000000"/>
                    </a:solidFill>
                    <a:cs typeface="Arial" panose="020B0604020202020204" pitchFamily="34" charset="0"/>
                  </a:rPr>
                  <a:t>Ω</a:t>
                </a:r>
              </a:p>
            </p:txBody>
          </p:sp>
          <p:sp>
            <p:nvSpPr>
              <p:cNvPr id="64558" name="Text Box 32"/>
              <p:cNvSpPr txBox="1">
                <a:spLocks noChangeArrowheads="1"/>
              </p:cNvSpPr>
              <p:nvPr/>
            </p:nvSpPr>
            <p:spPr bwMode="auto">
              <a:xfrm>
                <a:off x="2925" y="1752"/>
                <a:ext cx="499"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40</a:t>
                </a:r>
                <a:r>
                  <a:rPr lang="el-GR" altLang="zh-CN">
                    <a:solidFill>
                      <a:srgbClr val="000000"/>
                    </a:solidFill>
                    <a:cs typeface="Arial" panose="020B0604020202020204" pitchFamily="34" charset="0"/>
                  </a:rPr>
                  <a:t>Ω</a:t>
                </a:r>
              </a:p>
            </p:txBody>
          </p:sp>
        </p:grpSp>
      </p:grpSp>
      <p:sp>
        <p:nvSpPr>
          <p:cNvPr id="64517" name="Text Box 33"/>
          <p:cNvSpPr txBox="1">
            <a:spLocks noChangeArrowheads="1"/>
          </p:cNvSpPr>
          <p:nvPr/>
        </p:nvSpPr>
        <p:spPr bwMode="auto">
          <a:xfrm>
            <a:off x="2843213" y="3727450"/>
            <a:ext cx="2417762" cy="338554"/>
          </a:xfrm>
          <a:prstGeom prst="rect">
            <a:avLst/>
          </a:prstGeom>
          <a:noFill/>
          <a:ln w="9525" algn="ctr">
            <a:noFill/>
            <a:miter lim="800000"/>
          </a:ln>
        </p:spPr>
        <p:txBody>
          <a:bodyPr wrap="square">
            <a:spAutoFit/>
          </a:bodyPr>
          <a:lstStyle/>
          <a:p>
            <a:pPr fontAlgn="base">
              <a:spcBef>
                <a:spcPct val="50000"/>
              </a:spcBef>
              <a:spcAft>
                <a:spcPct val="0"/>
              </a:spcAft>
            </a:pPr>
            <a:r>
              <a:rPr lang="zh-CN" altLang="en-US" sz="1600" dirty="0">
                <a:solidFill>
                  <a:srgbClr val="000000"/>
                </a:solidFill>
              </a:rPr>
              <a:t>图</a:t>
            </a:r>
            <a:r>
              <a:rPr lang="en-US" altLang="zh-CN" sz="1600" dirty="0">
                <a:solidFill>
                  <a:srgbClr val="000000"/>
                </a:solidFill>
              </a:rPr>
              <a:t> 4.64 </a:t>
            </a:r>
            <a:r>
              <a:rPr lang="zh-CN" altLang="en-US" sz="1600" dirty="0">
                <a:solidFill>
                  <a:srgbClr val="000000"/>
                </a:solidFill>
              </a:rPr>
              <a:t>不平衡电桥</a:t>
            </a:r>
            <a:endParaRPr lang="en-US" altLang="zh-CN" sz="1600" dirty="0">
              <a:solidFill>
                <a:srgbClr val="000000"/>
              </a:solidFill>
            </a:endParaRPr>
          </a:p>
        </p:txBody>
      </p:sp>
      <p:sp>
        <p:nvSpPr>
          <p:cNvPr id="64518" name="Text Box 34"/>
          <p:cNvSpPr txBox="1">
            <a:spLocks noChangeArrowheads="1"/>
          </p:cNvSpPr>
          <p:nvPr/>
        </p:nvSpPr>
        <p:spPr bwMode="auto">
          <a:xfrm>
            <a:off x="323850" y="4652963"/>
            <a:ext cx="1295400" cy="400050"/>
          </a:xfrm>
          <a:prstGeom prst="rect">
            <a:avLst/>
          </a:prstGeom>
          <a:noFill/>
          <a:ln w="9525" algn="ctr">
            <a:noFill/>
            <a:miter lim="800000"/>
          </a:ln>
        </p:spPr>
        <p:txBody>
          <a:bodyPr>
            <a:spAutoFit/>
          </a:bodyPr>
          <a:lstStyle/>
          <a:p>
            <a:pPr fontAlgn="base">
              <a:spcBef>
                <a:spcPct val="50000"/>
              </a:spcBef>
              <a:spcAft>
                <a:spcPct val="0"/>
              </a:spcAft>
            </a:pPr>
            <a:r>
              <a:rPr lang="zh-CN" altLang="en-US" sz="2000" b="1" dirty="0">
                <a:solidFill>
                  <a:srgbClr val="0000FF"/>
                </a:solidFill>
                <a:latin typeface="Times New Roman" panose="02020603050405020304" pitchFamily="18" charset="0"/>
              </a:rPr>
              <a:t>解决方案</a:t>
            </a:r>
            <a:r>
              <a:rPr lang="en-US" altLang="zh-CN" sz="2000" b="1" dirty="0">
                <a:solidFill>
                  <a:srgbClr val="0000FF"/>
                </a:solidFill>
                <a:latin typeface="Times New Roman" panose="02020603050405020304" pitchFamily="18" charset="0"/>
              </a:rPr>
              <a:t>:</a:t>
            </a:r>
          </a:p>
        </p:txBody>
      </p:sp>
      <p:sp>
        <p:nvSpPr>
          <p:cNvPr id="64519" name="Text Box 35"/>
          <p:cNvSpPr txBox="1">
            <a:spLocks noChangeArrowheads="1"/>
          </p:cNvSpPr>
          <p:nvPr/>
        </p:nvSpPr>
        <p:spPr bwMode="auto">
          <a:xfrm>
            <a:off x="723749" y="5136634"/>
            <a:ext cx="3744913" cy="369332"/>
          </a:xfrm>
          <a:prstGeom prst="rect">
            <a:avLst/>
          </a:prstGeom>
          <a:noFill/>
          <a:ln w="9525" algn="ctr">
            <a:noFill/>
            <a:miter lim="800000"/>
          </a:ln>
        </p:spPr>
        <p:txBody>
          <a:bodyPr>
            <a:spAutoFit/>
          </a:bodyPr>
          <a:lstStyle/>
          <a:p>
            <a:pPr fontAlgn="base">
              <a:spcBef>
                <a:spcPct val="50000"/>
              </a:spcBef>
              <a:spcAft>
                <a:spcPct val="0"/>
              </a:spcAft>
            </a:pPr>
            <a:r>
              <a:rPr lang="en-US" altLang="zh-CN" b="1" dirty="0">
                <a:solidFill>
                  <a:srgbClr val="000000"/>
                </a:solidFill>
                <a:latin typeface="Times New Roman" panose="02020603050405020304" pitchFamily="18" charset="0"/>
              </a:rPr>
              <a:t>(a) </a:t>
            </a:r>
            <a:r>
              <a:rPr lang="zh-CN" altLang="en-US" b="1" dirty="0">
                <a:solidFill>
                  <a:srgbClr val="000000"/>
                </a:solidFill>
                <a:latin typeface="Times New Roman" panose="02020603050405020304" pitchFamily="18" charset="0"/>
              </a:rPr>
              <a:t>求戴维南电阻</a:t>
            </a:r>
            <a:r>
              <a:rPr lang="en-US" altLang="zh-CN" b="1" dirty="0">
                <a:solidFill>
                  <a:srgbClr val="000000"/>
                </a:solidFill>
                <a:latin typeface="Times New Roman" panose="02020603050405020304" pitchFamily="18" charset="0"/>
              </a:rPr>
              <a:t>:</a:t>
            </a:r>
          </a:p>
        </p:txBody>
      </p:sp>
      <p:sp>
        <p:nvSpPr>
          <p:cNvPr id="64520" name="Rectangle 36"/>
          <p:cNvSpPr>
            <a:spLocks noChangeArrowheads="1"/>
          </p:cNvSpPr>
          <p:nvPr/>
        </p:nvSpPr>
        <p:spPr bwMode="auto">
          <a:xfrm>
            <a:off x="3597275" y="5465763"/>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4521" name="Object 37"/>
          <p:cNvGraphicFramePr>
            <a:graphicFrameLocks noChangeAspect="1"/>
          </p:cNvGraphicFramePr>
          <p:nvPr/>
        </p:nvGraphicFramePr>
        <p:xfrm>
          <a:off x="900113" y="5661025"/>
          <a:ext cx="4935537" cy="1011238"/>
        </p:xfrm>
        <a:graphic>
          <a:graphicData uri="http://schemas.openxmlformats.org/presentationml/2006/ole">
            <mc:AlternateContent xmlns:mc="http://schemas.openxmlformats.org/markup-compatibility/2006">
              <mc:Choice xmlns:v="urn:schemas-microsoft-com:vml" Requires="v">
                <p:oleObj spid="_x0000_s50181" name="公式" r:id="rId6" imgW="71323200" imgH="14630400" progId="">
                  <p:embed/>
                </p:oleObj>
              </mc:Choice>
              <mc:Fallback>
                <p:oleObj name="公式" r:id="rId6" imgW="71323200" imgH="14630400" progId="">
                  <p:embed/>
                  <p:pic>
                    <p:nvPicPr>
                      <p:cNvPr id="0" name="图片 49152"/>
                      <p:cNvPicPr>
                        <a:picLocks noChangeAspect="1"/>
                      </p:cNvPicPr>
                      <p:nvPr/>
                    </p:nvPicPr>
                    <p:blipFill>
                      <a:blip r:embed="rId7"/>
                      <a:stretch>
                        <a:fillRect/>
                      </a:stretch>
                    </p:blipFill>
                    <p:spPr>
                      <a:xfrm>
                        <a:off x="900113" y="5661025"/>
                        <a:ext cx="4935537" cy="1011238"/>
                      </a:xfrm>
                      <a:prstGeom prst="rect">
                        <a:avLst/>
                      </a:prstGeom>
                      <a:noFill/>
                      <a:ln w="9525">
                        <a:noFill/>
                      </a:ln>
                    </p:spPr>
                  </p:pic>
                </p:oleObj>
              </mc:Fallback>
            </mc:AlternateContent>
          </a:graphicData>
        </a:graphic>
      </p:graphicFrame>
      <p:sp>
        <p:nvSpPr>
          <p:cNvPr id="64522" name="Text Box 38"/>
          <p:cNvSpPr txBox="1">
            <a:spLocks noChangeArrowheads="1"/>
          </p:cNvSpPr>
          <p:nvPr/>
        </p:nvSpPr>
        <p:spPr bwMode="auto">
          <a:xfrm>
            <a:off x="468313" y="5589588"/>
            <a:ext cx="720725" cy="366712"/>
          </a:xfrm>
          <a:prstGeom prst="rect">
            <a:avLst/>
          </a:prstGeom>
          <a:noFill/>
          <a:ln w="9525" algn="ctr">
            <a:noFill/>
            <a:miter lim="800000"/>
          </a:ln>
        </p:spPr>
        <p:txBody>
          <a:bodyPr>
            <a:spAutoFit/>
          </a:bodyPr>
          <a:lstStyle/>
          <a:p>
            <a:pPr fontAlgn="base">
              <a:spcBef>
                <a:spcPct val="50000"/>
              </a:spcBef>
              <a:spcAft>
                <a:spcPct val="0"/>
              </a:spcAft>
            </a:pPr>
            <a:r>
              <a:rPr lang="en-US" altLang="zh-CN" b="1" i="1" dirty="0" err="1">
                <a:solidFill>
                  <a:srgbClr val="000000"/>
                </a:solidFill>
                <a:latin typeface="Times New Roman" panose="02020603050405020304" pitchFamily="18" charset="0"/>
                <a:cs typeface="Times New Roman" panose="02020603050405020304" pitchFamily="18" charset="0"/>
              </a:rPr>
              <a:t>R</a:t>
            </a:r>
            <a:r>
              <a:rPr lang="en-US" altLang="zh-CN" baseline="-25000" dirty="0" err="1">
                <a:solidFill>
                  <a:srgbClr val="000000"/>
                </a:solidFill>
                <a:latin typeface="Times New Roman" panose="02020603050405020304" pitchFamily="18" charset="0"/>
                <a:cs typeface="Times New Roman" panose="02020603050405020304" pitchFamily="18" charset="0"/>
              </a:rPr>
              <a:t>Th</a:t>
            </a:r>
            <a:endParaRPr lang="en-US" altLang="zh-CN" dirty="0">
              <a:solidFill>
                <a:srgbClr val="000000"/>
              </a:solidFill>
              <a:latin typeface="Times New Roman" panose="02020603050405020304" pitchFamily="18" charset="0"/>
              <a:cs typeface="Times New Roman" panose="02020603050405020304" pitchFamily="18" charset="0"/>
            </a:endParaRPr>
          </a:p>
        </p:txBody>
      </p:sp>
      <p:grpSp>
        <p:nvGrpSpPr>
          <p:cNvPr id="8" name="Group 39"/>
          <p:cNvGrpSpPr/>
          <p:nvPr/>
        </p:nvGrpSpPr>
        <p:grpSpPr bwMode="auto">
          <a:xfrm>
            <a:off x="5650753" y="4340224"/>
            <a:ext cx="3600445" cy="2265364"/>
            <a:chOff x="158" y="2205"/>
            <a:chExt cx="2585" cy="1547"/>
          </a:xfrm>
        </p:grpSpPr>
        <p:grpSp>
          <p:nvGrpSpPr>
            <p:cNvPr id="9" name="Group 40"/>
            <p:cNvGrpSpPr/>
            <p:nvPr/>
          </p:nvGrpSpPr>
          <p:grpSpPr bwMode="auto">
            <a:xfrm>
              <a:off x="158" y="2205"/>
              <a:ext cx="2585" cy="1180"/>
              <a:chOff x="340" y="1434"/>
              <a:chExt cx="2585" cy="1180"/>
            </a:xfrm>
          </p:grpSpPr>
          <p:sp>
            <p:nvSpPr>
              <p:cNvPr id="64527" name="Text Box 41"/>
              <p:cNvSpPr txBox="1">
                <a:spLocks noChangeArrowheads="1"/>
              </p:cNvSpPr>
              <p:nvPr/>
            </p:nvSpPr>
            <p:spPr bwMode="auto">
              <a:xfrm>
                <a:off x="1247" y="2069"/>
                <a:ext cx="817"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 a        b</a:t>
                </a:r>
              </a:p>
            </p:txBody>
          </p:sp>
          <p:grpSp>
            <p:nvGrpSpPr>
              <p:cNvPr id="10" name="Group 42"/>
              <p:cNvGrpSpPr/>
              <p:nvPr/>
            </p:nvGrpSpPr>
            <p:grpSpPr bwMode="auto">
              <a:xfrm>
                <a:off x="340" y="1434"/>
                <a:ext cx="2585" cy="1180"/>
                <a:chOff x="340" y="2205"/>
                <a:chExt cx="2585" cy="1180"/>
              </a:xfrm>
            </p:grpSpPr>
            <p:sp>
              <p:nvSpPr>
                <p:cNvPr id="64529" name="Line 43"/>
                <p:cNvSpPr>
                  <a:spLocks noChangeShapeType="1"/>
                </p:cNvSpPr>
                <p:nvPr/>
              </p:nvSpPr>
              <p:spPr bwMode="auto">
                <a:xfrm>
                  <a:off x="839" y="2205"/>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1" name="Group 44"/>
                <p:cNvGrpSpPr/>
                <p:nvPr/>
              </p:nvGrpSpPr>
              <p:grpSpPr bwMode="auto">
                <a:xfrm>
                  <a:off x="340" y="2205"/>
                  <a:ext cx="2585" cy="1180"/>
                  <a:chOff x="340" y="2024"/>
                  <a:chExt cx="2585" cy="1180"/>
                </a:xfrm>
              </p:grpSpPr>
              <p:grpSp>
                <p:nvGrpSpPr>
                  <p:cNvPr id="12" name="Group 45"/>
                  <p:cNvGrpSpPr/>
                  <p:nvPr/>
                </p:nvGrpSpPr>
                <p:grpSpPr bwMode="auto">
                  <a:xfrm>
                    <a:off x="340" y="2024"/>
                    <a:ext cx="1964" cy="1180"/>
                    <a:chOff x="340" y="2024"/>
                    <a:chExt cx="1964" cy="1180"/>
                  </a:xfrm>
                </p:grpSpPr>
                <p:sp>
                  <p:nvSpPr>
                    <p:cNvPr id="64537" name="Rectangle 46"/>
                    <p:cNvSpPr>
                      <a:spLocks noChangeArrowheads="1"/>
                    </p:cNvSpPr>
                    <p:nvPr/>
                  </p:nvSpPr>
                  <p:spPr bwMode="auto">
                    <a:xfrm>
                      <a:off x="340" y="2024"/>
                      <a:ext cx="1905" cy="1180"/>
                    </a:xfrm>
                    <a:prstGeom prst="rect">
                      <a:avLst/>
                    </a:prstGeom>
                    <a:solidFill>
                      <a:schemeClr val="accent1">
                        <a:alpha val="0"/>
                      </a:schemeClr>
                    </a:solidFill>
                    <a:ln w="9525" algn="ctr">
                      <a:solidFill>
                        <a:schemeClr val="tx1"/>
                      </a:solidFill>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3" name="Group 47"/>
                    <p:cNvGrpSpPr/>
                    <p:nvPr/>
                  </p:nvGrpSpPr>
                  <p:grpSpPr bwMode="auto">
                    <a:xfrm>
                      <a:off x="771" y="2115"/>
                      <a:ext cx="1533" cy="1011"/>
                      <a:chOff x="771" y="2115"/>
                      <a:chExt cx="1533" cy="1011"/>
                    </a:xfrm>
                  </p:grpSpPr>
                  <p:pic>
                    <p:nvPicPr>
                      <p:cNvPr id="64539" name="Picture 48"/>
                      <p:cNvPicPr>
                        <a:picLocks noChangeAspect="1" noChangeArrowheads="1"/>
                      </p:cNvPicPr>
                      <p:nvPr/>
                    </p:nvPicPr>
                    <p:blipFill>
                      <a:blip r:embed="rId3" cstate="print"/>
                      <a:srcRect/>
                      <a:stretch>
                        <a:fillRect/>
                      </a:stretch>
                    </p:blipFill>
                    <p:spPr bwMode="auto">
                      <a:xfrm rot="-5400000">
                        <a:off x="657" y="2886"/>
                        <a:ext cx="354" cy="126"/>
                      </a:xfrm>
                      <a:prstGeom prst="rect">
                        <a:avLst/>
                      </a:prstGeom>
                      <a:noFill/>
                      <a:ln w="9525" algn="ctr">
                        <a:noFill/>
                        <a:miter lim="800000"/>
                        <a:headEnd/>
                        <a:tailEnd/>
                      </a:ln>
                    </p:spPr>
                  </p:pic>
                  <p:pic>
                    <p:nvPicPr>
                      <p:cNvPr id="64540" name="Picture 49"/>
                      <p:cNvPicPr>
                        <a:picLocks noChangeAspect="1" noChangeArrowheads="1"/>
                      </p:cNvPicPr>
                      <p:nvPr/>
                    </p:nvPicPr>
                    <p:blipFill>
                      <a:blip r:embed="rId3" cstate="print"/>
                      <a:srcRect/>
                      <a:stretch>
                        <a:fillRect/>
                      </a:stretch>
                    </p:blipFill>
                    <p:spPr bwMode="auto">
                      <a:xfrm rot="-5400000">
                        <a:off x="679" y="2229"/>
                        <a:ext cx="354" cy="126"/>
                      </a:xfrm>
                      <a:prstGeom prst="rect">
                        <a:avLst/>
                      </a:prstGeom>
                      <a:noFill/>
                      <a:ln w="9525" algn="ctr">
                        <a:noFill/>
                        <a:miter lim="800000"/>
                        <a:headEnd/>
                        <a:tailEnd/>
                      </a:ln>
                    </p:spPr>
                  </p:pic>
                  <p:grpSp>
                    <p:nvGrpSpPr>
                      <p:cNvPr id="14" name="Group 50"/>
                      <p:cNvGrpSpPr/>
                      <p:nvPr/>
                    </p:nvGrpSpPr>
                    <p:grpSpPr bwMode="auto">
                      <a:xfrm>
                        <a:off x="839" y="2588"/>
                        <a:ext cx="589" cy="45"/>
                        <a:chOff x="839" y="2588"/>
                        <a:chExt cx="589" cy="45"/>
                      </a:xfrm>
                    </p:grpSpPr>
                    <p:sp>
                      <p:nvSpPr>
                        <p:cNvPr id="64547" name="Line 51"/>
                        <p:cNvSpPr>
                          <a:spLocks noChangeShapeType="1"/>
                        </p:cNvSpPr>
                        <p:nvPr/>
                      </p:nvSpPr>
                      <p:spPr bwMode="auto">
                        <a:xfrm>
                          <a:off x="839" y="2614"/>
                          <a:ext cx="54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4548" name="Oval 52"/>
                        <p:cNvSpPr>
                          <a:spLocks noChangeArrowheads="1"/>
                        </p:cNvSpPr>
                        <p:nvPr/>
                      </p:nvSpPr>
                      <p:spPr bwMode="auto">
                        <a:xfrm>
                          <a:off x="1383" y="2588"/>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15" name="Group 53"/>
                      <p:cNvGrpSpPr/>
                      <p:nvPr/>
                    </p:nvGrpSpPr>
                    <p:grpSpPr bwMode="auto">
                      <a:xfrm>
                        <a:off x="1746" y="2568"/>
                        <a:ext cx="499" cy="58"/>
                        <a:chOff x="1746" y="2568"/>
                        <a:chExt cx="601" cy="45"/>
                      </a:xfrm>
                    </p:grpSpPr>
                    <p:sp>
                      <p:nvSpPr>
                        <p:cNvPr id="64545" name="Line 54"/>
                        <p:cNvSpPr>
                          <a:spLocks noChangeShapeType="1"/>
                        </p:cNvSpPr>
                        <p:nvPr/>
                      </p:nvSpPr>
                      <p:spPr bwMode="auto">
                        <a:xfrm>
                          <a:off x="1803" y="2601"/>
                          <a:ext cx="54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4546" name="Oval 55"/>
                        <p:cNvSpPr>
                          <a:spLocks noChangeArrowheads="1"/>
                        </p:cNvSpPr>
                        <p:nvPr/>
                      </p:nvSpPr>
                      <p:spPr bwMode="auto">
                        <a:xfrm>
                          <a:off x="1746" y="2568"/>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pic>
                    <p:nvPicPr>
                      <p:cNvPr id="64543" name="Picture 56"/>
                      <p:cNvPicPr>
                        <a:picLocks noChangeAspect="1" noChangeArrowheads="1"/>
                      </p:cNvPicPr>
                      <p:nvPr/>
                    </p:nvPicPr>
                    <p:blipFill>
                      <a:blip r:embed="rId3" cstate="print"/>
                      <a:srcRect/>
                      <a:stretch>
                        <a:fillRect/>
                      </a:stretch>
                    </p:blipFill>
                    <p:spPr bwMode="auto">
                      <a:xfrm rot="-5400000">
                        <a:off x="2064" y="2840"/>
                        <a:ext cx="354" cy="126"/>
                      </a:xfrm>
                      <a:prstGeom prst="rect">
                        <a:avLst/>
                      </a:prstGeom>
                      <a:noFill/>
                      <a:ln w="9525" algn="ctr">
                        <a:noFill/>
                        <a:miter lim="800000"/>
                        <a:headEnd/>
                        <a:tailEnd/>
                      </a:ln>
                    </p:spPr>
                  </p:pic>
                  <p:pic>
                    <p:nvPicPr>
                      <p:cNvPr id="64544" name="Picture 57"/>
                      <p:cNvPicPr>
                        <a:picLocks noChangeAspect="1" noChangeArrowheads="1"/>
                      </p:cNvPicPr>
                      <p:nvPr/>
                    </p:nvPicPr>
                    <p:blipFill>
                      <a:blip r:embed="rId3" cstate="print"/>
                      <a:srcRect/>
                      <a:stretch>
                        <a:fillRect/>
                      </a:stretch>
                    </p:blipFill>
                    <p:spPr bwMode="auto">
                      <a:xfrm rot="-5400000">
                        <a:off x="2064" y="2251"/>
                        <a:ext cx="354" cy="126"/>
                      </a:xfrm>
                      <a:prstGeom prst="rect">
                        <a:avLst/>
                      </a:prstGeom>
                      <a:noFill/>
                      <a:ln w="9525" algn="ctr">
                        <a:noFill/>
                        <a:miter lim="800000"/>
                        <a:headEnd/>
                        <a:tailEnd/>
                      </a:ln>
                    </p:spPr>
                  </p:pic>
                </p:grpSp>
              </p:grpSp>
              <p:sp>
                <p:nvSpPr>
                  <p:cNvPr id="64532" name="Text Box 58"/>
                  <p:cNvSpPr txBox="1">
                    <a:spLocks noChangeArrowheads="1"/>
                  </p:cNvSpPr>
                  <p:nvPr/>
                </p:nvSpPr>
                <p:spPr bwMode="auto">
                  <a:xfrm>
                    <a:off x="1292" y="2478"/>
                    <a:ext cx="635" cy="231"/>
                  </a:xfrm>
                  <a:prstGeom prst="rect">
                    <a:avLst/>
                  </a:prstGeom>
                  <a:noFill/>
                  <a:ln w="9525" algn="ctr">
                    <a:noFill/>
                    <a:miter lim="800000"/>
                  </a:ln>
                </p:spPr>
                <p:txBody>
                  <a:bodyPr>
                    <a:spAutoFit/>
                  </a:bodyPr>
                  <a:lstStyle/>
                  <a:p>
                    <a:pPr algn="ctr" fontAlgn="base">
                      <a:spcBef>
                        <a:spcPct val="0"/>
                      </a:spcBef>
                      <a:spcAft>
                        <a:spcPct val="0"/>
                      </a:spcAft>
                    </a:pPr>
                    <a:r>
                      <a:rPr lang="en-US" altLang="zh-CN" sz="1600" i="1" dirty="0" err="1">
                        <a:solidFill>
                          <a:srgbClr val="000000"/>
                        </a:solidFill>
                      </a:rPr>
                      <a:t>R</a:t>
                    </a:r>
                    <a:r>
                      <a:rPr lang="en-US" altLang="zh-CN" sz="1600" i="1" baseline="-25000" dirty="0" err="1">
                        <a:solidFill>
                          <a:srgbClr val="000000"/>
                        </a:solidFill>
                      </a:rPr>
                      <a:t>Th</a:t>
                    </a:r>
                    <a:endParaRPr lang="en-US" altLang="zh-CN" sz="1600" dirty="0">
                      <a:solidFill>
                        <a:srgbClr val="000000"/>
                      </a:solidFill>
                    </a:endParaRPr>
                  </a:p>
                </p:txBody>
              </p:sp>
              <p:sp>
                <p:nvSpPr>
                  <p:cNvPr id="64533" name="Text Box 59"/>
                  <p:cNvSpPr txBox="1">
                    <a:spLocks noChangeArrowheads="1"/>
                  </p:cNvSpPr>
                  <p:nvPr/>
                </p:nvSpPr>
                <p:spPr bwMode="auto">
                  <a:xfrm>
                    <a:off x="385" y="2205"/>
                    <a:ext cx="454" cy="231"/>
                  </a:xfrm>
                  <a:prstGeom prst="rect">
                    <a:avLst/>
                  </a:prstGeom>
                  <a:noFill/>
                  <a:ln w="9525" algn="ctr">
                    <a:noFill/>
                    <a:miter lim="800000"/>
                  </a:ln>
                </p:spPr>
                <p:txBody>
                  <a:bodyPr>
                    <a:spAutoFit/>
                  </a:bodyPr>
                  <a:lstStyle/>
                  <a:p>
                    <a:pPr fontAlgn="base">
                      <a:spcBef>
                        <a:spcPct val="50000"/>
                      </a:spcBef>
                      <a:spcAft>
                        <a:spcPct val="0"/>
                      </a:spcAft>
                    </a:pPr>
                    <a:r>
                      <a:rPr lang="en-US" altLang="zh-CN" sz="1600" dirty="0">
                        <a:solidFill>
                          <a:srgbClr val="000000"/>
                        </a:solidFill>
                      </a:rPr>
                      <a:t>3 k</a:t>
                    </a:r>
                    <a:r>
                      <a:rPr lang="el-GR" altLang="zh-CN" sz="1600" dirty="0">
                        <a:solidFill>
                          <a:srgbClr val="000000"/>
                        </a:solidFill>
                        <a:cs typeface="Arial" panose="020B0604020202020204" pitchFamily="34" charset="0"/>
                      </a:rPr>
                      <a:t>Ω</a:t>
                    </a:r>
                  </a:p>
                </p:txBody>
              </p:sp>
              <p:sp>
                <p:nvSpPr>
                  <p:cNvPr id="64534" name="Text Box 60"/>
                  <p:cNvSpPr txBox="1">
                    <a:spLocks noChangeArrowheads="1"/>
                  </p:cNvSpPr>
                  <p:nvPr/>
                </p:nvSpPr>
                <p:spPr bwMode="auto">
                  <a:xfrm>
                    <a:off x="385" y="2795"/>
                    <a:ext cx="635" cy="231"/>
                  </a:xfrm>
                  <a:prstGeom prst="rect">
                    <a:avLst/>
                  </a:prstGeom>
                  <a:noFill/>
                  <a:ln w="9525" algn="ctr">
                    <a:noFill/>
                    <a:miter lim="800000"/>
                  </a:ln>
                </p:spPr>
                <p:txBody>
                  <a:bodyPr>
                    <a:spAutoFit/>
                  </a:bodyPr>
                  <a:lstStyle/>
                  <a:p>
                    <a:pPr fontAlgn="base">
                      <a:spcBef>
                        <a:spcPct val="50000"/>
                      </a:spcBef>
                      <a:spcAft>
                        <a:spcPct val="0"/>
                      </a:spcAft>
                    </a:pPr>
                    <a:r>
                      <a:rPr lang="en-US" altLang="zh-CN" sz="1600" dirty="0">
                        <a:solidFill>
                          <a:srgbClr val="000000"/>
                        </a:solidFill>
                      </a:rPr>
                      <a:t>1 k</a:t>
                    </a:r>
                    <a:r>
                      <a:rPr lang="el-GR" altLang="zh-CN" sz="1600" dirty="0">
                        <a:solidFill>
                          <a:srgbClr val="000000"/>
                        </a:solidFill>
                        <a:cs typeface="Arial" panose="020B0604020202020204" pitchFamily="34" charset="0"/>
                      </a:rPr>
                      <a:t>Ω</a:t>
                    </a:r>
                  </a:p>
                </p:txBody>
              </p:sp>
              <p:sp>
                <p:nvSpPr>
                  <p:cNvPr id="64535" name="Text Box 61"/>
                  <p:cNvSpPr txBox="1">
                    <a:spLocks noChangeArrowheads="1"/>
                  </p:cNvSpPr>
                  <p:nvPr/>
                </p:nvSpPr>
                <p:spPr bwMode="auto">
                  <a:xfrm>
                    <a:off x="2290" y="2251"/>
                    <a:ext cx="589" cy="231"/>
                  </a:xfrm>
                  <a:prstGeom prst="rect">
                    <a:avLst/>
                  </a:prstGeom>
                  <a:noFill/>
                  <a:ln w="9525" algn="ctr">
                    <a:noFill/>
                    <a:miter lim="800000"/>
                  </a:ln>
                </p:spPr>
                <p:txBody>
                  <a:bodyPr>
                    <a:spAutoFit/>
                  </a:bodyPr>
                  <a:lstStyle/>
                  <a:p>
                    <a:pPr fontAlgn="base">
                      <a:spcBef>
                        <a:spcPct val="50000"/>
                      </a:spcBef>
                      <a:spcAft>
                        <a:spcPct val="0"/>
                      </a:spcAft>
                    </a:pPr>
                    <a:r>
                      <a:rPr lang="en-US" altLang="zh-CN" sz="1600" dirty="0">
                        <a:solidFill>
                          <a:srgbClr val="000000"/>
                        </a:solidFill>
                      </a:rPr>
                      <a:t>400</a:t>
                    </a:r>
                    <a:r>
                      <a:rPr lang="el-GR" altLang="zh-CN" sz="1600" dirty="0">
                        <a:solidFill>
                          <a:srgbClr val="000000"/>
                        </a:solidFill>
                        <a:cs typeface="Arial" panose="020B0604020202020204" pitchFamily="34" charset="0"/>
                      </a:rPr>
                      <a:t>Ω</a:t>
                    </a:r>
                  </a:p>
                </p:txBody>
              </p:sp>
              <p:sp>
                <p:nvSpPr>
                  <p:cNvPr id="64536" name="Text Box 62"/>
                  <p:cNvSpPr txBox="1">
                    <a:spLocks noChangeArrowheads="1"/>
                  </p:cNvSpPr>
                  <p:nvPr/>
                </p:nvSpPr>
                <p:spPr bwMode="auto">
                  <a:xfrm>
                    <a:off x="2290" y="2840"/>
                    <a:ext cx="635" cy="231"/>
                  </a:xfrm>
                  <a:prstGeom prst="rect">
                    <a:avLst/>
                  </a:prstGeom>
                  <a:noFill/>
                  <a:ln w="9525" algn="ctr">
                    <a:noFill/>
                    <a:miter lim="800000"/>
                  </a:ln>
                </p:spPr>
                <p:txBody>
                  <a:bodyPr>
                    <a:spAutoFit/>
                  </a:bodyPr>
                  <a:lstStyle/>
                  <a:p>
                    <a:pPr fontAlgn="base">
                      <a:spcBef>
                        <a:spcPct val="50000"/>
                      </a:spcBef>
                      <a:spcAft>
                        <a:spcPct val="0"/>
                      </a:spcAft>
                    </a:pPr>
                    <a:r>
                      <a:rPr lang="en-US" altLang="zh-CN" sz="1600" dirty="0">
                        <a:solidFill>
                          <a:srgbClr val="000000"/>
                        </a:solidFill>
                      </a:rPr>
                      <a:t>600</a:t>
                    </a:r>
                    <a:r>
                      <a:rPr lang="el-GR" altLang="zh-CN" sz="1600" dirty="0">
                        <a:solidFill>
                          <a:srgbClr val="000000"/>
                        </a:solidFill>
                        <a:cs typeface="Arial" panose="020B0604020202020204" pitchFamily="34" charset="0"/>
                      </a:rPr>
                      <a:t>Ω</a:t>
                    </a:r>
                  </a:p>
                </p:txBody>
              </p:sp>
            </p:grpSp>
          </p:grpSp>
        </p:grpSp>
        <p:sp>
          <p:nvSpPr>
            <p:cNvPr id="64526" name="Text Box 63"/>
            <p:cNvSpPr txBox="1">
              <a:spLocks noChangeArrowheads="1"/>
            </p:cNvSpPr>
            <p:nvPr/>
          </p:nvSpPr>
          <p:spPr bwMode="auto">
            <a:xfrm>
              <a:off x="975" y="3521"/>
              <a:ext cx="318"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(a)  </a:t>
              </a:r>
            </a:p>
          </p:txBody>
        </p:sp>
      </p:grpSp>
      <p:sp>
        <p:nvSpPr>
          <p:cNvPr id="64524" name="Text Box 64"/>
          <p:cNvSpPr txBox="1">
            <a:spLocks noChangeArrowheads="1"/>
          </p:cNvSpPr>
          <p:nvPr/>
        </p:nvSpPr>
        <p:spPr bwMode="auto">
          <a:xfrm>
            <a:off x="7000875" y="6234113"/>
            <a:ext cx="850900" cy="400050"/>
          </a:xfrm>
          <a:prstGeom prst="rect">
            <a:avLst/>
          </a:prstGeom>
          <a:noFill/>
          <a:ln w="9525">
            <a:noFill/>
            <a:miter lim="800000"/>
          </a:ln>
        </p:spPr>
        <p:txBody>
          <a:bodyPr wrap="none">
            <a:spAutoFit/>
          </a:bodyPr>
          <a:lstStyle/>
          <a:p>
            <a:pPr fontAlgn="base">
              <a:spcBef>
                <a:spcPct val="0"/>
              </a:spcBef>
              <a:spcAft>
                <a:spcPct val="0"/>
              </a:spcAft>
            </a:pPr>
            <a:r>
              <a:rPr lang="zh-CN" altLang="en-US" sz="2000">
                <a:solidFill>
                  <a:srgbClr val="000000"/>
                </a:solidFill>
                <a:latin typeface="Times New Roman" panose="02020603050405020304" pitchFamily="18" charset="0"/>
              </a:rPr>
              <a:t>求</a:t>
            </a:r>
            <a:r>
              <a:rPr lang="en-US" altLang="zh-CN" sz="2000">
                <a:solidFill>
                  <a:srgbClr val="000000"/>
                </a:solidFill>
                <a:latin typeface="Times New Roman" panose="02020603050405020304" pitchFamily="18" charset="0"/>
              </a:rPr>
              <a:t> R</a:t>
            </a:r>
            <a:r>
              <a:rPr lang="en-US" altLang="zh-CN" sz="2000" baseline="-25000">
                <a:solidFill>
                  <a:srgbClr val="000000"/>
                </a:solidFill>
                <a:latin typeface="Times New Roman" panose="02020603050405020304" pitchFamily="18" charset="0"/>
              </a:rPr>
              <a:t>Th</a:t>
            </a:r>
          </a:p>
        </p:txBody>
      </p:sp>
      <p:sp>
        <p:nvSpPr>
          <p:cNvPr id="16" name="灯片编号占位符 15"/>
          <p:cNvSpPr>
            <a:spLocks noGrp="1"/>
          </p:cNvSpPr>
          <p:nvPr>
            <p:ph type="sldNum" sz="quarter" idx="11"/>
          </p:nvPr>
        </p:nvSpPr>
        <p:spPr/>
        <p:txBody>
          <a:bodyPr/>
          <a:lstStyle/>
          <a:p>
            <a:pPr>
              <a:defRPr/>
            </a:pPr>
            <a:fld id="{939C9064-C0EA-4A07-ACBE-489AD4D1ABAD}" type="slidenum">
              <a:rPr lang="en-US" altLang="zh-CN" smtClean="0">
                <a:solidFill>
                  <a:srgbClr val="000000"/>
                </a:solidFill>
              </a:rPr>
              <a:t>80</a:t>
            </a:fld>
            <a:endParaRPr lang="en-US" altLang="zh-CN">
              <a:solidFill>
                <a:srgbClr val="000000"/>
              </a:solidFill>
            </a:endParaRP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68313" y="404813"/>
            <a:ext cx="7704137" cy="576262"/>
          </a:xfrm>
        </p:spPr>
        <p:txBody>
          <a:bodyPr/>
          <a:lstStyle/>
          <a:p>
            <a:pPr eaLnBrk="1" hangingPunct="1"/>
            <a:r>
              <a:rPr lang="en-US" altLang="zh-CN" sz="2400" b="1" dirty="0">
                <a:latin typeface="Times New Roman" panose="02020603050405020304" pitchFamily="18" charset="0"/>
              </a:rPr>
              <a:t>(b) </a:t>
            </a:r>
            <a:r>
              <a:rPr lang="zh-CN" altLang="en-US" sz="2400" b="1" dirty="0">
                <a:latin typeface="Times New Roman" panose="02020603050405020304" pitchFamily="18" charset="0"/>
              </a:rPr>
              <a:t>求戴维南电压</a:t>
            </a:r>
            <a:r>
              <a:rPr lang="en-US" altLang="zh-CN" sz="2400" b="1" dirty="0">
                <a:latin typeface="Times New Roman" panose="02020603050405020304" pitchFamily="18" charset="0"/>
              </a:rPr>
              <a:t>: </a:t>
            </a:r>
            <a:endParaRPr lang="en-US" altLang="zh-CN" sz="2400" b="1" dirty="0">
              <a:solidFill>
                <a:schemeClr val="folHlink"/>
              </a:solidFill>
              <a:latin typeface="Times New Roman" panose="02020603050405020304" pitchFamily="18" charset="0"/>
            </a:endParaRPr>
          </a:p>
        </p:txBody>
      </p:sp>
      <p:sp>
        <p:nvSpPr>
          <p:cNvPr id="65539" name="Rectangle 3"/>
          <p:cNvSpPr>
            <a:spLocks noChangeArrowheads="1"/>
          </p:cNvSpPr>
          <p:nvPr/>
        </p:nvSpPr>
        <p:spPr bwMode="auto">
          <a:xfrm>
            <a:off x="2941638" y="2465388"/>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5540" name="Object 4"/>
          <p:cNvGraphicFramePr>
            <a:graphicFrameLocks noChangeAspect="1"/>
          </p:cNvGraphicFramePr>
          <p:nvPr/>
        </p:nvGraphicFramePr>
        <p:xfrm>
          <a:off x="900113" y="1052513"/>
          <a:ext cx="6264275" cy="668337"/>
        </p:xfrm>
        <a:graphic>
          <a:graphicData uri="http://schemas.openxmlformats.org/presentationml/2006/ole">
            <mc:AlternateContent xmlns:mc="http://schemas.openxmlformats.org/markup-compatibility/2006">
              <mc:Choice xmlns:v="urn:schemas-microsoft-com:vml" Requires="v">
                <p:oleObj spid="_x0000_s51217" name="公式" r:id="rId3" imgW="87782400" imgH="9448800" progId="">
                  <p:embed/>
                </p:oleObj>
              </mc:Choice>
              <mc:Fallback>
                <p:oleObj name="公式" r:id="rId3" imgW="87782400" imgH="9448800" progId="">
                  <p:embed/>
                  <p:pic>
                    <p:nvPicPr>
                      <p:cNvPr id="0" name="图片 50176"/>
                      <p:cNvPicPr>
                        <a:picLocks noChangeAspect="1"/>
                      </p:cNvPicPr>
                      <p:nvPr/>
                    </p:nvPicPr>
                    <p:blipFill>
                      <a:blip r:embed="rId4"/>
                      <a:stretch>
                        <a:fillRect/>
                      </a:stretch>
                    </p:blipFill>
                    <p:spPr>
                      <a:xfrm>
                        <a:off x="900113" y="1052513"/>
                        <a:ext cx="6264275" cy="668337"/>
                      </a:xfrm>
                      <a:prstGeom prst="rect">
                        <a:avLst/>
                      </a:prstGeom>
                      <a:noFill/>
                      <a:ln w="9525">
                        <a:noFill/>
                      </a:ln>
                    </p:spPr>
                  </p:pic>
                </p:oleObj>
              </mc:Fallback>
            </mc:AlternateContent>
          </a:graphicData>
        </a:graphic>
      </p:graphicFrame>
      <p:sp>
        <p:nvSpPr>
          <p:cNvPr id="65541" name="Rectangle 5"/>
          <p:cNvSpPr>
            <a:spLocks noChangeArrowheads="1"/>
          </p:cNvSpPr>
          <p:nvPr/>
        </p:nvSpPr>
        <p:spPr bwMode="auto">
          <a:xfrm>
            <a:off x="935038" y="2386013"/>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5542" name="Object 6"/>
          <p:cNvGraphicFramePr>
            <a:graphicFrameLocks noChangeAspect="1"/>
          </p:cNvGraphicFramePr>
          <p:nvPr/>
        </p:nvGraphicFramePr>
        <p:xfrm>
          <a:off x="827088" y="1916113"/>
          <a:ext cx="2016125" cy="403225"/>
        </p:xfrm>
        <a:graphic>
          <a:graphicData uri="http://schemas.openxmlformats.org/presentationml/2006/ole">
            <mc:AlternateContent xmlns:mc="http://schemas.openxmlformats.org/markup-compatibility/2006">
              <mc:Choice xmlns:v="urn:schemas-microsoft-com:vml" Requires="v">
                <p:oleObj spid="_x0000_s51218" name="公式" r:id="rId5" imgW="27432000" imgH="5486400" progId="">
                  <p:embed/>
                </p:oleObj>
              </mc:Choice>
              <mc:Fallback>
                <p:oleObj name="公式" r:id="rId5" imgW="27432000" imgH="5486400" progId="">
                  <p:embed/>
                  <p:pic>
                    <p:nvPicPr>
                      <p:cNvPr id="0" name="图片 50248"/>
                      <p:cNvPicPr>
                        <a:picLocks noChangeAspect="1"/>
                      </p:cNvPicPr>
                      <p:nvPr/>
                    </p:nvPicPr>
                    <p:blipFill>
                      <a:blip r:embed="rId6"/>
                      <a:stretch>
                        <a:fillRect/>
                      </a:stretch>
                    </p:blipFill>
                    <p:spPr>
                      <a:xfrm>
                        <a:off x="827088" y="1916113"/>
                        <a:ext cx="2016125" cy="403225"/>
                      </a:xfrm>
                      <a:prstGeom prst="rect">
                        <a:avLst/>
                      </a:prstGeom>
                      <a:noFill/>
                      <a:ln w="9525">
                        <a:noFill/>
                      </a:ln>
                    </p:spPr>
                  </p:pic>
                </p:oleObj>
              </mc:Fallback>
            </mc:AlternateContent>
          </a:graphicData>
        </a:graphic>
      </p:graphicFrame>
      <p:sp>
        <p:nvSpPr>
          <p:cNvPr id="65543" name="Text Box 7"/>
          <p:cNvSpPr txBox="1">
            <a:spLocks noChangeArrowheads="1"/>
          </p:cNvSpPr>
          <p:nvPr/>
        </p:nvSpPr>
        <p:spPr bwMode="auto">
          <a:xfrm>
            <a:off x="2987675" y="1916113"/>
            <a:ext cx="576263" cy="366712"/>
          </a:xfrm>
          <a:prstGeom prst="rect">
            <a:avLst/>
          </a:prstGeom>
          <a:noFill/>
          <a:ln w="9525" algn="ctr">
            <a:noFill/>
            <a:miter lim="800000"/>
          </a:ln>
        </p:spPr>
        <p:txBody>
          <a:bodyPr>
            <a:spAutoFit/>
          </a:bodyPr>
          <a:lstStyle/>
          <a:p>
            <a:pPr fontAlgn="base">
              <a:spcBef>
                <a:spcPct val="50000"/>
              </a:spcBef>
              <a:spcAft>
                <a:spcPct val="0"/>
              </a:spcAft>
            </a:pPr>
            <a:r>
              <a:rPr lang="en-US" altLang="zh-CN" b="1">
                <a:solidFill>
                  <a:srgbClr val="000000"/>
                </a:solidFill>
              </a:rPr>
              <a:t>or</a:t>
            </a:r>
          </a:p>
        </p:txBody>
      </p:sp>
      <p:graphicFrame>
        <p:nvGraphicFramePr>
          <p:cNvPr id="65544" name="Object 8"/>
          <p:cNvGraphicFramePr>
            <a:graphicFrameLocks noChangeAspect="1"/>
          </p:cNvGraphicFramePr>
          <p:nvPr/>
        </p:nvGraphicFramePr>
        <p:xfrm>
          <a:off x="3563938" y="1930400"/>
          <a:ext cx="3457575" cy="400050"/>
        </p:xfrm>
        <a:graphic>
          <a:graphicData uri="http://schemas.openxmlformats.org/presentationml/2006/ole">
            <mc:AlternateContent xmlns:mc="http://schemas.openxmlformats.org/markup-compatibility/2006">
              <mc:Choice xmlns:v="urn:schemas-microsoft-com:vml" Requires="v">
                <p:oleObj spid="_x0000_s51219" name="公式" r:id="rId7" imgW="47244000" imgH="5486400" progId="">
                  <p:embed/>
                </p:oleObj>
              </mc:Choice>
              <mc:Fallback>
                <p:oleObj name="公式" r:id="rId7" imgW="47244000" imgH="5486400" progId="">
                  <p:embed/>
                  <p:pic>
                    <p:nvPicPr>
                      <p:cNvPr id="0" name="图片 50249"/>
                      <p:cNvPicPr>
                        <a:picLocks noChangeAspect="1"/>
                      </p:cNvPicPr>
                      <p:nvPr/>
                    </p:nvPicPr>
                    <p:blipFill>
                      <a:blip r:embed="rId8"/>
                      <a:stretch>
                        <a:fillRect/>
                      </a:stretch>
                    </p:blipFill>
                    <p:spPr>
                      <a:xfrm>
                        <a:off x="3563938" y="1930400"/>
                        <a:ext cx="3457575" cy="400050"/>
                      </a:xfrm>
                      <a:prstGeom prst="rect">
                        <a:avLst/>
                      </a:prstGeom>
                      <a:noFill/>
                      <a:ln w="9525">
                        <a:noFill/>
                      </a:ln>
                    </p:spPr>
                  </p:pic>
                </p:oleObj>
              </mc:Fallback>
            </mc:AlternateContent>
          </a:graphicData>
        </a:graphic>
      </p:graphicFrame>
      <p:graphicFrame>
        <p:nvGraphicFramePr>
          <p:cNvPr id="65545" name="Object 9"/>
          <p:cNvGraphicFramePr>
            <a:graphicFrameLocks noChangeAspect="1"/>
          </p:cNvGraphicFramePr>
          <p:nvPr/>
        </p:nvGraphicFramePr>
        <p:xfrm>
          <a:off x="1856582" y="2465547"/>
          <a:ext cx="3960812" cy="727075"/>
        </p:xfrm>
        <a:graphic>
          <a:graphicData uri="http://schemas.openxmlformats.org/presentationml/2006/ole">
            <mc:AlternateContent xmlns:mc="http://schemas.openxmlformats.org/markup-compatibility/2006">
              <mc:Choice xmlns:v="urn:schemas-microsoft-com:vml" Requires="v">
                <p:oleObj spid="_x0000_s51220" name="公式" r:id="rId9" imgW="58521600" imgH="10668000" progId="">
                  <p:embed/>
                </p:oleObj>
              </mc:Choice>
              <mc:Fallback>
                <p:oleObj name="公式" r:id="rId9" imgW="58521600" imgH="10668000" progId="">
                  <p:embed/>
                  <p:pic>
                    <p:nvPicPr>
                      <p:cNvPr id="0" name="图片 50250"/>
                      <p:cNvPicPr>
                        <a:picLocks noChangeAspect="1"/>
                      </p:cNvPicPr>
                      <p:nvPr/>
                    </p:nvPicPr>
                    <p:blipFill>
                      <a:blip r:embed="rId10"/>
                      <a:stretch>
                        <a:fillRect/>
                      </a:stretch>
                    </p:blipFill>
                    <p:spPr>
                      <a:xfrm>
                        <a:off x="1856582" y="2465547"/>
                        <a:ext cx="3960812" cy="727075"/>
                      </a:xfrm>
                      <a:prstGeom prst="rect">
                        <a:avLst/>
                      </a:prstGeom>
                      <a:noFill/>
                      <a:ln w="9525">
                        <a:noFill/>
                      </a:ln>
                    </p:spPr>
                  </p:pic>
                </p:oleObj>
              </mc:Fallback>
            </mc:AlternateContent>
          </a:graphicData>
        </a:graphic>
      </p:graphicFrame>
      <p:grpSp>
        <p:nvGrpSpPr>
          <p:cNvPr id="2" name="Group 35"/>
          <p:cNvGrpSpPr/>
          <p:nvPr/>
        </p:nvGrpSpPr>
        <p:grpSpPr bwMode="auto">
          <a:xfrm>
            <a:off x="70009" y="3428683"/>
            <a:ext cx="5076825" cy="2527300"/>
            <a:chOff x="2562" y="2205"/>
            <a:chExt cx="3198" cy="1592"/>
          </a:xfrm>
        </p:grpSpPr>
        <p:grpSp>
          <p:nvGrpSpPr>
            <p:cNvPr id="3" name="Group 36"/>
            <p:cNvGrpSpPr/>
            <p:nvPr/>
          </p:nvGrpSpPr>
          <p:grpSpPr bwMode="auto">
            <a:xfrm>
              <a:off x="2562" y="2205"/>
              <a:ext cx="3198" cy="1180"/>
              <a:chOff x="2562" y="2931"/>
              <a:chExt cx="3198" cy="1180"/>
            </a:xfrm>
          </p:grpSpPr>
          <p:pic>
            <p:nvPicPr>
              <p:cNvPr id="65575" name="Picture 37"/>
              <p:cNvPicPr>
                <a:picLocks noChangeAspect="1" noChangeArrowheads="1"/>
              </p:cNvPicPr>
              <p:nvPr/>
            </p:nvPicPr>
            <p:blipFill>
              <a:blip r:embed="rId11" cstate="print"/>
              <a:srcRect/>
              <a:stretch>
                <a:fillRect/>
              </a:stretch>
            </p:blipFill>
            <p:spPr bwMode="auto">
              <a:xfrm>
                <a:off x="4513" y="3339"/>
                <a:ext cx="132" cy="42"/>
              </a:xfrm>
              <a:prstGeom prst="rect">
                <a:avLst/>
              </a:prstGeom>
              <a:noFill/>
              <a:ln w="9525" algn="ctr">
                <a:noFill/>
                <a:miter lim="800000"/>
                <a:headEnd/>
                <a:tailEnd/>
              </a:ln>
            </p:spPr>
          </p:pic>
          <p:grpSp>
            <p:nvGrpSpPr>
              <p:cNvPr id="4" name="Group 38"/>
              <p:cNvGrpSpPr/>
              <p:nvPr/>
            </p:nvGrpSpPr>
            <p:grpSpPr bwMode="auto">
              <a:xfrm>
                <a:off x="2562" y="2931"/>
                <a:ext cx="3198" cy="1180"/>
                <a:chOff x="2562" y="2931"/>
                <a:chExt cx="3198" cy="1180"/>
              </a:xfrm>
            </p:grpSpPr>
            <p:pic>
              <p:nvPicPr>
                <p:cNvPr id="65577" name="Picture 39"/>
                <p:cNvPicPr>
                  <a:picLocks noChangeAspect="1" noChangeArrowheads="1"/>
                </p:cNvPicPr>
                <p:nvPr/>
              </p:nvPicPr>
              <p:blipFill>
                <a:blip r:embed="rId12" cstate="print"/>
                <a:srcRect/>
                <a:stretch>
                  <a:fillRect/>
                </a:stretch>
              </p:blipFill>
              <p:spPr bwMode="auto">
                <a:xfrm>
                  <a:off x="4150" y="3294"/>
                  <a:ext cx="132" cy="126"/>
                </a:xfrm>
                <a:prstGeom prst="rect">
                  <a:avLst/>
                </a:prstGeom>
                <a:noFill/>
                <a:ln w="9525" algn="ctr">
                  <a:noFill/>
                  <a:miter lim="800000"/>
                  <a:headEnd/>
                  <a:tailEnd/>
                </a:ln>
              </p:spPr>
            </p:pic>
            <p:grpSp>
              <p:nvGrpSpPr>
                <p:cNvPr id="5" name="Group 40"/>
                <p:cNvGrpSpPr/>
                <p:nvPr/>
              </p:nvGrpSpPr>
              <p:grpSpPr bwMode="auto">
                <a:xfrm>
                  <a:off x="2562" y="2931"/>
                  <a:ext cx="3198" cy="1180"/>
                  <a:chOff x="2562" y="1344"/>
                  <a:chExt cx="3198" cy="1180"/>
                </a:xfrm>
              </p:grpSpPr>
              <p:sp>
                <p:nvSpPr>
                  <p:cNvPr id="65579" name="Text Box 41"/>
                  <p:cNvSpPr txBox="1">
                    <a:spLocks noChangeArrowheads="1"/>
                  </p:cNvSpPr>
                  <p:nvPr/>
                </p:nvSpPr>
                <p:spPr bwMode="auto">
                  <a:xfrm>
                    <a:off x="2562" y="1842"/>
                    <a:ext cx="544"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220V</a:t>
                    </a:r>
                  </a:p>
                </p:txBody>
              </p:sp>
              <p:grpSp>
                <p:nvGrpSpPr>
                  <p:cNvPr id="6" name="Group 42"/>
                  <p:cNvGrpSpPr/>
                  <p:nvPr/>
                </p:nvGrpSpPr>
                <p:grpSpPr bwMode="auto">
                  <a:xfrm>
                    <a:off x="3175" y="1344"/>
                    <a:ext cx="2585" cy="1180"/>
                    <a:chOff x="3175" y="1344"/>
                    <a:chExt cx="2585" cy="1180"/>
                  </a:xfrm>
                </p:grpSpPr>
                <p:grpSp>
                  <p:nvGrpSpPr>
                    <p:cNvPr id="7" name="Group 43"/>
                    <p:cNvGrpSpPr/>
                    <p:nvPr/>
                  </p:nvGrpSpPr>
                  <p:grpSpPr bwMode="auto">
                    <a:xfrm>
                      <a:off x="3175" y="1344"/>
                      <a:ext cx="2585" cy="1180"/>
                      <a:chOff x="340" y="1434"/>
                      <a:chExt cx="2585" cy="1180"/>
                    </a:xfrm>
                  </p:grpSpPr>
                  <p:sp>
                    <p:nvSpPr>
                      <p:cNvPr id="65589" name="Text Box 44"/>
                      <p:cNvSpPr txBox="1">
                        <a:spLocks noChangeArrowheads="1"/>
                      </p:cNvSpPr>
                      <p:nvPr/>
                    </p:nvSpPr>
                    <p:spPr bwMode="auto">
                      <a:xfrm>
                        <a:off x="1247" y="2069"/>
                        <a:ext cx="817" cy="231"/>
                      </a:xfrm>
                      <a:prstGeom prst="rect">
                        <a:avLst/>
                      </a:prstGeom>
                      <a:noFill/>
                      <a:ln w="9525" algn="ctr">
                        <a:noFill/>
                        <a:miter lim="800000"/>
                      </a:ln>
                    </p:spPr>
                    <p:txBody>
                      <a:bodyPr>
                        <a:spAutoFit/>
                      </a:bodyPr>
                      <a:lstStyle/>
                      <a:p>
                        <a:pPr fontAlgn="base">
                          <a:spcBef>
                            <a:spcPct val="0"/>
                          </a:spcBef>
                          <a:spcAft>
                            <a:spcPct val="0"/>
                          </a:spcAft>
                        </a:pPr>
                        <a:r>
                          <a:rPr lang="en-US" altLang="zh-CN">
                            <a:solidFill>
                              <a:srgbClr val="000000"/>
                            </a:solidFill>
                          </a:rPr>
                          <a:t> a        b</a:t>
                        </a:r>
                      </a:p>
                    </p:txBody>
                  </p:sp>
                  <p:grpSp>
                    <p:nvGrpSpPr>
                      <p:cNvPr id="8" name="Group 45"/>
                      <p:cNvGrpSpPr/>
                      <p:nvPr/>
                    </p:nvGrpSpPr>
                    <p:grpSpPr bwMode="auto">
                      <a:xfrm>
                        <a:off x="340" y="1434"/>
                        <a:ext cx="2585" cy="1180"/>
                        <a:chOff x="340" y="2205"/>
                        <a:chExt cx="2585" cy="1180"/>
                      </a:xfrm>
                    </p:grpSpPr>
                    <p:sp>
                      <p:nvSpPr>
                        <p:cNvPr id="65591" name="Line 46"/>
                        <p:cNvSpPr>
                          <a:spLocks noChangeShapeType="1"/>
                        </p:cNvSpPr>
                        <p:nvPr/>
                      </p:nvSpPr>
                      <p:spPr bwMode="auto">
                        <a:xfrm>
                          <a:off x="839" y="2205"/>
                          <a:ext cx="0" cy="1179"/>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9" name="Group 47"/>
                        <p:cNvGrpSpPr/>
                        <p:nvPr/>
                      </p:nvGrpSpPr>
                      <p:grpSpPr bwMode="auto">
                        <a:xfrm>
                          <a:off x="340" y="2205"/>
                          <a:ext cx="2585" cy="1180"/>
                          <a:chOff x="340" y="2024"/>
                          <a:chExt cx="2585" cy="1180"/>
                        </a:xfrm>
                      </p:grpSpPr>
                      <p:grpSp>
                        <p:nvGrpSpPr>
                          <p:cNvPr id="10" name="Group 48"/>
                          <p:cNvGrpSpPr/>
                          <p:nvPr/>
                        </p:nvGrpSpPr>
                        <p:grpSpPr bwMode="auto">
                          <a:xfrm>
                            <a:off x="340" y="2024"/>
                            <a:ext cx="1964" cy="1180"/>
                            <a:chOff x="340" y="2024"/>
                            <a:chExt cx="1964" cy="1180"/>
                          </a:xfrm>
                        </p:grpSpPr>
                        <p:sp>
                          <p:nvSpPr>
                            <p:cNvPr id="65599" name="Rectangle 49"/>
                            <p:cNvSpPr>
                              <a:spLocks noChangeArrowheads="1"/>
                            </p:cNvSpPr>
                            <p:nvPr/>
                          </p:nvSpPr>
                          <p:spPr bwMode="auto">
                            <a:xfrm>
                              <a:off x="340" y="2024"/>
                              <a:ext cx="1905" cy="1180"/>
                            </a:xfrm>
                            <a:prstGeom prst="rect">
                              <a:avLst/>
                            </a:prstGeom>
                            <a:solidFill>
                              <a:schemeClr val="accent1">
                                <a:alpha val="0"/>
                              </a:schemeClr>
                            </a:solidFill>
                            <a:ln w="9525" algn="ctr">
                              <a:solidFill>
                                <a:schemeClr val="tx1"/>
                              </a:solidFill>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11" name="Group 50"/>
                            <p:cNvGrpSpPr/>
                            <p:nvPr/>
                          </p:nvGrpSpPr>
                          <p:grpSpPr bwMode="auto">
                            <a:xfrm>
                              <a:off x="771" y="2115"/>
                              <a:ext cx="1533" cy="1011"/>
                              <a:chOff x="771" y="2115"/>
                              <a:chExt cx="1533" cy="1011"/>
                            </a:xfrm>
                          </p:grpSpPr>
                          <p:pic>
                            <p:nvPicPr>
                              <p:cNvPr id="65601" name="Picture 51"/>
                              <p:cNvPicPr>
                                <a:picLocks noChangeAspect="1" noChangeArrowheads="1"/>
                              </p:cNvPicPr>
                              <p:nvPr/>
                            </p:nvPicPr>
                            <p:blipFill>
                              <a:blip r:embed="rId13" cstate="print"/>
                              <a:srcRect/>
                              <a:stretch>
                                <a:fillRect/>
                              </a:stretch>
                            </p:blipFill>
                            <p:spPr bwMode="auto">
                              <a:xfrm rot="-5400000">
                                <a:off x="657" y="2886"/>
                                <a:ext cx="354" cy="126"/>
                              </a:xfrm>
                              <a:prstGeom prst="rect">
                                <a:avLst/>
                              </a:prstGeom>
                              <a:noFill/>
                              <a:ln w="9525" algn="ctr">
                                <a:noFill/>
                                <a:miter lim="800000"/>
                                <a:headEnd/>
                                <a:tailEnd/>
                              </a:ln>
                            </p:spPr>
                          </p:pic>
                          <p:pic>
                            <p:nvPicPr>
                              <p:cNvPr id="65602" name="Picture 52"/>
                              <p:cNvPicPr>
                                <a:picLocks noChangeAspect="1" noChangeArrowheads="1"/>
                              </p:cNvPicPr>
                              <p:nvPr/>
                            </p:nvPicPr>
                            <p:blipFill>
                              <a:blip r:embed="rId13" cstate="print"/>
                              <a:srcRect/>
                              <a:stretch>
                                <a:fillRect/>
                              </a:stretch>
                            </p:blipFill>
                            <p:spPr bwMode="auto">
                              <a:xfrm rot="-5400000">
                                <a:off x="679" y="2229"/>
                                <a:ext cx="354" cy="126"/>
                              </a:xfrm>
                              <a:prstGeom prst="rect">
                                <a:avLst/>
                              </a:prstGeom>
                              <a:noFill/>
                              <a:ln w="9525" algn="ctr">
                                <a:noFill/>
                                <a:miter lim="800000"/>
                                <a:headEnd/>
                                <a:tailEnd/>
                              </a:ln>
                            </p:spPr>
                          </p:pic>
                          <p:grpSp>
                            <p:nvGrpSpPr>
                              <p:cNvPr id="12" name="Group 53"/>
                              <p:cNvGrpSpPr/>
                              <p:nvPr/>
                            </p:nvGrpSpPr>
                            <p:grpSpPr bwMode="auto">
                              <a:xfrm>
                                <a:off x="839" y="2588"/>
                                <a:ext cx="589" cy="45"/>
                                <a:chOff x="839" y="2588"/>
                                <a:chExt cx="589" cy="45"/>
                              </a:xfrm>
                            </p:grpSpPr>
                            <p:sp>
                              <p:nvSpPr>
                                <p:cNvPr id="65609" name="Line 54"/>
                                <p:cNvSpPr>
                                  <a:spLocks noChangeShapeType="1"/>
                                </p:cNvSpPr>
                                <p:nvPr/>
                              </p:nvSpPr>
                              <p:spPr bwMode="auto">
                                <a:xfrm>
                                  <a:off x="839" y="2614"/>
                                  <a:ext cx="54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5610" name="Oval 55"/>
                                <p:cNvSpPr>
                                  <a:spLocks noChangeArrowheads="1"/>
                                </p:cNvSpPr>
                                <p:nvPr/>
                              </p:nvSpPr>
                              <p:spPr bwMode="auto">
                                <a:xfrm>
                                  <a:off x="1383" y="2588"/>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13" name="Group 56"/>
                              <p:cNvGrpSpPr/>
                              <p:nvPr/>
                            </p:nvGrpSpPr>
                            <p:grpSpPr bwMode="auto">
                              <a:xfrm>
                                <a:off x="1746" y="2568"/>
                                <a:ext cx="499" cy="58"/>
                                <a:chOff x="1746" y="2568"/>
                                <a:chExt cx="601" cy="45"/>
                              </a:xfrm>
                            </p:grpSpPr>
                            <p:sp>
                              <p:nvSpPr>
                                <p:cNvPr id="65607" name="Line 57"/>
                                <p:cNvSpPr>
                                  <a:spLocks noChangeShapeType="1"/>
                                </p:cNvSpPr>
                                <p:nvPr/>
                              </p:nvSpPr>
                              <p:spPr bwMode="auto">
                                <a:xfrm>
                                  <a:off x="1803" y="2601"/>
                                  <a:ext cx="544" cy="0"/>
                                </a:xfrm>
                                <a:prstGeom prst="line">
                                  <a:avLst/>
                                </a:prstGeom>
                                <a:noFill/>
                                <a:ln w="9525">
                                  <a:solidFill>
                                    <a:schemeClr val="tx1"/>
                                  </a:solidFill>
                                  <a:roun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sp>
                              <p:nvSpPr>
                                <p:cNvPr id="65608" name="Oval 58"/>
                                <p:cNvSpPr>
                                  <a:spLocks noChangeArrowheads="1"/>
                                </p:cNvSpPr>
                                <p:nvPr/>
                              </p:nvSpPr>
                              <p:spPr bwMode="auto">
                                <a:xfrm>
                                  <a:off x="1746" y="2568"/>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pic>
                            <p:nvPicPr>
                              <p:cNvPr id="65605" name="Picture 59"/>
                              <p:cNvPicPr>
                                <a:picLocks noChangeAspect="1" noChangeArrowheads="1"/>
                              </p:cNvPicPr>
                              <p:nvPr/>
                            </p:nvPicPr>
                            <p:blipFill>
                              <a:blip r:embed="rId13" cstate="print"/>
                              <a:srcRect/>
                              <a:stretch>
                                <a:fillRect/>
                              </a:stretch>
                            </p:blipFill>
                            <p:spPr bwMode="auto">
                              <a:xfrm rot="-5400000">
                                <a:off x="2064" y="2840"/>
                                <a:ext cx="354" cy="126"/>
                              </a:xfrm>
                              <a:prstGeom prst="rect">
                                <a:avLst/>
                              </a:prstGeom>
                              <a:noFill/>
                              <a:ln w="9525" algn="ctr">
                                <a:noFill/>
                                <a:miter lim="800000"/>
                                <a:headEnd/>
                                <a:tailEnd/>
                              </a:ln>
                            </p:spPr>
                          </p:pic>
                          <p:pic>
                            <p:nvPicPr>
                              <p:cNvPr id="65606" name="Picture 60"/>
                              <p:cNvPicPr>
                                <a:picLocks noChangeAspect="1" noChangeArrowheads="1"/>
                              </p:cNvPicPr>
                              <p:nvPr/>
                            </p:nvPicPr>
                            <p:blipFill>
                              <a:blip r:embed="rId13" cstate="print"/>
                              <a:srcRect/>
                              <a:stretch>
                                <a:fillRect/>
                              </a:stretch>
                            </p:blipFill>
                            <p:spPr bwMode="auto">
                              <a:xfrm rot="-5400000">
                                <a:off x="2064" y="2251"/>
                                <a:ext cx="354" cy="126"/>
                              </a:xfrm>
                              <a:prstGeom prst="rect">
                                <a:avLst/>
                              </a:prstGeom>
                              <a:noFill/>
                              <a:ln w="9525" algn="ctr">
                                <a:noFill/>
                                <a:miter lim="800000"/>
                                <a:headEnd/>
                                <a:tailEnd/>
                              </a:ln>
                            </p:spPr>
                          </p:pic>
                        </p:grpSp>
                      </p:grpSp>
                      <p:sp>
                        <p:nvSpPr>
                          <p:cNvPr id="65594" name="Text Box 61"/>
                          <p:cNvSpPr txBox="1">
                            <a:spLocks noChangeArrowheads="1"/>
                          </p:cNvSpPr>
                          <p:nvPr/>
                        </p:nvSpPr>
                        <p:spPr bwMode="auto">
                          <a:xfrm>
                            <a:off x="1292" y="2478"/>
                            <a:ext cx="635"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V</a:t>
                            </a:r>
                            <a:r>
                              <a:rPr lang="en-US" altLang="zh-CN" i="1" baseline="-25000">
                                <a:solidFill>
                                  <a:srgbClr val="000000"/>
                                </a:solidFill>
                              </a:rPr>
                              <a:t>Th</a:t>
                            </a:r>
                            <a:endParaRPr lang="en-US" altLang="zh-CN">
                              <a:solidFill>
                                <a:srgbClr val="000000"/>
                              </a:solidFill>
                            </a:endParaRPr>
                          </a:p>
                        </p:txBody>
                      </p:sp>
                      <p:sp>
                        <p:nvSpPr>
                          <p:cNvPr id="65595" name="Text Box 62"/>
                          <p:cNvSpPr txBox="1">
                            <a:spLocks noChangeArrowheads="1"/>
                          </p:cNvSpPr>
                          <p:nvPr/>
                        </p:nvSpPr>
                        <p:spPr bwMode="auto">
                          <a:xfrm>
                            <a:off x="385" y="2205"/>
                            <a:ext cx="454" cy="231"/>
                          </a:xfrm>
                          <a:prstGeom prst="rect">
                            <a:avLst/>
                          </a:prstGeom>
                          <a:noFill/>
                          <a:ln w="9525" algn="ctr">
                            <a:noFill/>
                            <a:miter lim="800000"/>
                          </a:ln>
                        </p:spPr>
                        <p:txBody>
                          <a:bodyPr>
                            <a:spAutoFit/>
                          </a:bodyPr>
                          <a:lstStyle/>
                          <a:p>
                            <a:pPr fontAlgn="base">
                              <a:spcBef>
                                <a:spcPct val="0"/>
                              </a:spcBef>
                              <a:spcAft>
                                <a:spcPct val="0"/>
                              </a:spcAft>
                            </a:pPr>
                            <a:r>
                              <a:rPr lang="en-US" altLang="zh-CN">
                                <a:solidFill>
                                  <a:srgbClr val="000000"/>
                                </a:solidFill>
                              </a:rPr>
                              <a:t>3 k</a:t>
                            </a:r>
                            <a:r>
                              <a:rPr lang="el-GR" altLang="zh-CN">
                                <a:solidFill>
                                  <a:srgbClr val="000000"/>
                                </a:solidFill>
                              </a:rPr>
                              <a:t>Ω</a:t>
                            </a:r>
                            <a:endParaRPr lang="en-US" altLang="zh-CN">
                              <a:solidFill>
                                <a:srgbClr val="000000"/>
                              </a:solidFill>
                            </a:endParaRPr>
                          </a:p>
                        </p:txBody>
                      </p:sp>
                      <p:sp>
                        <p:nvSpPr>
                          <p:cNvPr id="65596" name="Text Box 63"/>
                          <p:cNvSpPr txBox="1">
                            <a:spLocks noChangeArrowheads="1"/>
                          </p:cNvSpPr>
                          <p:nvPr/>
                        </p:nvSpPr>
                        <p:spPr bwMode="auto">
                          <a:xfrm>
                            <a:off x="385" y="2795"/>
                            <a:ext cx="635" cy="231"/>
                          </a:xfrm>
                          <a:prstGeom prst="rect">
                            <a:avLst/>
                          </a:prstGeom>
                          <a:noFill/>
                          <a:ln w="9525" algn="ctr">
                            <a:noFill/>
                            <a:miter lim="800000"/>
                          </a:ln>
                        </p:spPr>
                        <p:txBody>
                          <a:bodyPr>
                            <a:spAutoFit/>
                          </a:bodyPr>
                          <a:lstStyle/>
                          <a:p>
                            <a:pPr fontAlgn="base">
                              <a:spcBef>
                                <a:spcPct val="0"/>
                              </a:spcBef>
                              <a:spcAft>
                                <a:spcPct val="0"/>
                              </a:spcAft>
                            </a:pPr>
                            <a:r>
                              <a:rPr lang="en-US" altLang="zh-CN">
                                <a:solidFill>
                                  <a:srgbClr val="000000"/>
                                </a:solidFill>
                              </a:rPr>
                              <a:t>1 k</a:t>
                            </a:r>
                            <a:r>
                              <a:rPr lang="el-GR" altLang="zh-CN">
                                <a:solidFill>
                                  <a:srgbClr val="000000"/>
                                </a:solidFill>
                              </a:rPr>
                              <a:t>Ω</a:t>
                            </a:r>
                            <a:endParaRPr lang="en-US" altLang="zh-CN">
                              <a:solidFill>
                                <a:srgbClr val="000000"/>
                              </a:solidFill>
                            </a:endParaRPr>
                          </a:p>
                        </p:txBody>
                      </p:sp>
                      <p:sp>
                        <p:nvSpPr>
                          <p:cNvPr id="65597" name="Text Box 64"/>
                          <p:cNvSpPr txBox="1">
                            <a:spLocks noChangeArrowheads="1"/>
                          </p:cNvSpPr>
                          <p:nvPr/>
                        </p:nvSpPr>
                        <p:spPr bwMode="auto">
                          <a:xfrm>
                            <a:off x="2290" y="2251"/>
                            <a:ext cx="589" cy="231"/>
                          </a:xfrm>
                          <a:prstGeom prst="rect">
                            <a:avLst/>
                          </a:prstGeom>
                          <a:noFill/>
                          <a:ln w="9525" algn="ctr">
                            <a:noFill/>
                            <a:miter lim="800000"/>
                          </a:ln>
                        </p:spPr>
                        <p:txBody>
                          <a:bodyPr>
                            <a:spAutoFit/>
                          </a:bodyPr>
                          <a:lstStyle/>
                          <a:p>
                            <a:pPr fontAlgn="base">
                              <a:spcBef>
                                <a:spcPct val="0"/>
                              </a:spcBef>
                              <a:spcAft>
                                <a:spcPct val="0"/>
                              </a:spcAft>
                            </a:pPr>
                            <a:r>
                              <a:rPr lang="en-US" altLang="zh-CN">
                                <a:solidFill>
                                  <a:srgbClr val="000000"/>
                                </a:solidFill>
                              </a:rPr>
                              <a:t>400</a:t>
                            </a:r>
                            <a:r>
                              <a:rPr lang="el-GR" altLang="zh-CN">
                                <a:solidFill>
                                  <a:srgbClr val="000000"/>
                                </a:solidFill>
                              </a:rPr>
                              <a:t>Ω</a:t>
                            </a:r>
                            <a:endParaRPr lang="en-US" altLang="zh-CN">
                              <a:solidFill>
                                <a:srgbClr val="000000"/>
                              </a:solidFill>
                            </a:endParaRPr>
                          </a:p>
                        </p:txBody>
                      </p:sp>
                      <p:sp>
                        <p:nvSpPr>
                          <p:cNvPr id="65598" name="Text Box 65"/>
                          <p:cNvSpPr txBox="1">
                            <a:spLocks noChangeArrowheads="1"/>
                          </p:cNvSpPr>
                          <p:nvPr/>
                        </p:nvSpPr>
                        <p:spPr bwMode="auto">
                          <a:xfrm>
                            <a:off x="2290" y="2840"/>
                            <a:ext cx="635" cy="231"/>
                          </a:xfrm>
                          <a:prstGeom prst="rect">
                            <a:avLst/>
                          </a:prstGeom>
                          <a:noFill/>
                          <a:ln w="9525" algn="ctr">
                            <a:noFill/>
                            <a:miter lim="800000"/>
                          </a:ln>
                        </p:spPr>
                        <p:txBody>
                          <a:bodyPr>
                            <a:spAutoFit/>
                          </a:bodyPr>
                          <a:lstStyle/>
                          <a:p>
                            <a:pPr fontAlgn="base">
                              <a:spcBef>
                                <a:spcPct val="0"/>
                              </a:spcBef>
                              <a:spcAft>
                                <a:spcPct val="0"/>
                              </a:spcAft>
                            </a:pPr>
                            <a:r>
                              <a:rPr lang="en-US" altLang="zh-CN">
                                <a:solidFill>
                                  <a:srgbClr val="000000"/>
                                </a:solidFill>
                              </a:rPr>
                              <a:t>600</a:t>
                            </a:r>
                            <a:r>
                              <a:rPr lang="el-GR" altLang="zh-CN">
                                <a:solidFill>
                                  <a:srgbClr val="000000"/>
                                </a:solidFill>
                              </a:rPr>
                              <a:t>Ω</a:t>
                            </a:r>
                            <a:endParaRPr lang="en-US" altLang="zh-CN">
                              <a:solidFill>
                                <a:srgbClr val="000000"/>
                              </a:solidFill>
                            </a:endParaRPr>
                          </a:p>
                        </p:txBody>
                      </p:sp>
                    </p:grpSp>
                  </p:grpSp>
                </p:grpSp>
                <p:pic>
                  <p:nvPicPr>
                    <p:cNvPr id="65583" name="Picture 66"/>
                    <p:cNvPicPr>
                      <a:picLocks noChangeAspect="1" noChangeArrowheads="1"/>
                    </p:cNvPicPr>
                    <p:nvPr/>
                  </p:nvPicPr>
                  <p:blipFill>
                    <a:blip r:embed="rId12" cstate="print"/>
                    <a:srcRect/>
                    <a:stretch>
                      <a:fillRect/>
                    </a:stretch>
                  </p:blipFill>
                  <p:spPr bwMode="auto">
                    <a:xfrm>
                      <a:off x="3742" y="1979"/>
                      <a:ext cx="132" cy="126"/>
                    </a:xfrm>
                    <a:prstGeom prst="rect">
                      <a:avLst/>
                    </a:prstGeom>
                    <a:noFill/>
                    <a:ln w="9525" algn="ctr">
                      <a:noFill/>
                      <a:miter lim="800000"/>
                      <a:headEnd/>
                      <a:tailEnd/>
                    </a:ln>
                  </p:spPr>
                </p:pic>
                <p:pic>
                  <p:nvPicPr>
                    <p:cNvPr id="65584" name="Picture 67"/>
                    <p:cNvPicPr>
                      <a:picLocks noChangeAspect="1" noChangeArrowheads="1"/>
                    </p:cNvPicPr>
                    <p:nvPr/>
                  </p:nvPicPr>
                  <p:blipFill>
                    <a:blip r:embed="rId11" cstate="print"/>
                    <a:srcRect/>
                    <a:stretch>
                      <a:fillRect/>
                    </a:stretch>
                  </p:blipFill>
                  <p:spPr bwMode="auto">
                    <a:xfrm>
                      <a:off x="3742" y="2432"/>
                      <a:ext cx="132" cy="42"/>
                    </a:xfrm>
                    <a:prstGeom prst="rect">
                      <a:avLst/>
                    </a:prstGeom>
                    <a:noFill/>
                    <a:ln w="9525" algn="ctr">
                      <a:noFill/>
                      <a:miter lim="800000"/>
                      <a:headEnd/>
                      <a:tailEnd/>
                    </a:ln>
                  </p:spPr>
                </p:pic>
                <p:sp>
                  <p:nvSpPr>
                    <p:cNvPr id="65585" name="Text Box 68"/>
                    <p:cNvSpPr txBox="1">
                      <a:spLocks noChangeArrowheads="1"/>
                    </p:cNvSpPr>
                    <p:nvPr/>
                  </p:nvSpPr>
                  <p:spPr bwMode="auto">
                    <a:xfrm>
                      <a:off x="3515" y="2115"/>
                      <a:ext cx="635"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rPr>
                        <a:t>v</a:t>
                      </a:r>
                      <a:r>
                        <a:rPr lang="en-US" altLang="zh-CN" i="1" baseline="-25000">
                          <a:solidFill>
                            <a:srgbClr val="000000"/>
                          </a:solidFill>
                        </a:rPr>
                        <a:t>1</a:t>
                      </a:r>
                      <a:endParaRPr lang="en-US" altLang="zh-CN">
                        <a:solidFill>
                          <a:srgbClr val="000000"/>
                        </a:solidFill>
                      </a:endParaRPr>
                    </a:p>
                  </p:txBody>
                </p:sp>
                <p:pic>
                  <p:nvPicPr>
                    <p:cNvPr id="65586" name="Picture 69"/>
                    <p:cNvPicPr>
                      <a:picLocks noChangeAspect="1" noChangeArrowheads="1"/>
                    </p:cNvPicPr>
                    <p:nvPr/>
                  </p:nvPicPr>
                  <p:blipFill>
                    <a:blip r:embed="rId12" cstate="print"/>
                    <a:srcRect/>
                    <a:stretch>
                      <a:fillRect/>
                    </a:stretch>
                  </p:blipFill>
                  <p:spPr bwMode="auto">
                    <a:xfrm>
                      <a:off x="4857" y="2016"/>
                      <a:ext cx="132" cy="126"/>
                    </a:xfrm>
                    <a:prstGeom prst="rect">
                      <a:avLst/>
                    </a:prstGeom>
                    <a:noFill/>
                    <a:ln w="9525" algn="ctr">
                      <a:noFill/>
                      <a:miter lim="800000"/>
                      <a:headEnd/>
                      <a:tailEnd/>
                    </a:ln>
                  </p:spPr>
                </p:pic>
                <p:pic>
                  <p:nvPicPr>
                    <p:cNvPr id="65587" name="Picture 70"/>
                    <p:cNvPicPr>
                      <a:picLocks noChangeAspect="1" noChangeArrowheads="1"/>
                    </p:cNvPicPr>
                    <p:nvPr/>
                  </p:nvPicPr>
                  <p:blipFill>
                    <a:blip r:embed="rId11" cstate="print"/>
                    <a:srcRect/>
                    <a:stretch>
                      <a:fillRect/>
                    </a:stretch>
                  </p:blipFill>
                  <p:spPr bwMode="auto">
                    <a:xfrm>
                      <a:off x="4867" y="2390"/>
                      <a:ext cx="132" cy="42"/>
                    </a:xfrm>
                    <a:prstGeom prst="rect">
                      <a:avLst/>
                    </a:prstGeom>
                    <a:noFill/>
                    <a:ln w="9525" algn="ctr">
                      <a:noFill/>
                      <a:miter lim="800000"/>
                      <a:headEnd/>
                      <a:tailEnd/>
                    </a:ln>
                  </p:spPr>
                </p:pic>
                <p:sp>
                  <p:nvSpPr>
                    <p:cNvPr id="65588" name="Text Box 71"/>
                    <p:cNvSpPr txBox="1">
                      <a:spLocks noChangeArrowheads="1"/>
                    </p:cNvSpPr>
                    <p:nvPr/>
                  </p:nvSpPr>
                  <p:spPr bwMode="auto">
                    <a:xfrm>
                      <a:off x="4785" y="2115"/>
                      <a:ext cx="363"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v</a:t>
                      </a:r>
                      <a:r>
                        <a:rPr lang="en-US" altLang="zh-CN" baseline="-25000">
                          <a:solidFill>
                            <a:srgbClr val="000000"/>
                          </a:solidFill>
                        </a:rPr>
                        <a:t>2</a:t>
                      </a:r>
                      <a:endParaRPr lang="en-US" altLang="zh-CN">
                        <a:solidFill>
                          <a:srgbClr val="000000"/>
                        </a:solidFill>
                      </a:endParaRPr>
                    </a:p>
                  </p:txBody>
                </p:sp>
              </p:grpSp>
              <p:pic>
                <p:nvPicPr>
                  <p:cNvPr id="65581" name="Picture 72"/>
                  <p:cNvPicPr>
                    <a:picLocks noChangeAspect="1" noChangeArrowheads="1"/>
                  </p:cNvPicPr>
                  <p:nvPr/>
                </p:nvPicPr>
                <p:blipFill>
                  <a:blip r:embed="rId14" cstate="print"/>
                  <a:srcRect/>
                  <a:stretch>
                    <a:fillRect/>
                  </a:stretch>
                </p:blipFill>
                <p:spPr bwMode="auto">
                  <a:xfrm>
                    <a:off x="3016" y="1797"/>
                    <a:ext cx="306" cy="264"/>
                  </a:xfrm>
                  <a:prstGeom prst="rect">
                    <a:avLst/>
                  </a:prstGeom>
                  <a:noFill/>
                  <a:ln w="9525" algn="ctr">
                    <a:noFill/>
                    <a:miter lim="800000"/>
                    <a:headEnd/>
                    <a:tailEnd/>
                  </a:ln>
                </p:spPr>
              </p:pic>
            </p:grpSp>
          </p:grpSp>
        </p:grpSp>
        <p:sp>
          <p:nvSpPr>
            <p:cNvPr id="65574" name="Text Box 73"/>
            <p:cNvSpPr txBox="1">
              <a:spLocks noChangeArrowheads="1"/>
            </p:cNvSpPr>
            <p:nvPr/>
          </p:nvSpPr>
          <p:spPr bwMode="auto">
            <a:xfrm>
              <a:off x="4014" y="3566"/>
              <a:ext cx="454"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(b)</a:t>
              </a:r>
              <a:endParaRPr lang="en-US" altLang="zh-CN" sz="2000">
                <a:solidFill>
                  <a:srgbClr val="000000"/>
                </a:solidFill>
                <a:latin typeface="Times New Roman" panose="02020603050405020304" pitchFamily="18" charset="0"/>
              </a:endParaRPr>
            </a:p>
          </p:txBody>
        </p:sp>
      </p:grpSp>
      <p:sp>
        <p:nvSpPr>
          <p:cNvPr id="65547" name="Text Box 75"/>
          <p:cNvSpPr txBox="1">
            <a:spLocks noChangeArrowheads="1"/>
          </p:cNvSpPr>
          <p:nvPr/>
        </p:nvSpPr>
        <p:spPr bwMode="auto">
          <a:xfrm>
            <a:off x="6587332" y="5911850"/>
            <a:ext cx="184150" cy="396875"/>
          </a:xfrm>
          <a:prstGeom prst="rect">
            <a:avLst/>
          </a:prstGeom>
          <a:noFill/>
          <a:ln w="9525">
            <a:noFill/>
            <a:miter lim="800000"/>
          </a:ln>
        </p:spPr>
        <p:txBody>
          <a:bodyPr wrap="none">
            <a:spAutoFit/>
          </a:bodyPr>
          <a:lstStyle/>
          <a:p>
            <a:pPr fontAlgn="base">
              <a:spcBef>
                <a:spcPct val="0"/>
              </a:spcBef>
              <a:spcAft>
                <a:spcPct val="0"/>
              </a:spcAft>
            </a:pPr>
            <a:endParaRPr lang="zh-CN" altLang="zh-CN" sz="2000">
              <a:solidFill>
                <a:srgbClr val="000000"/>
              </a:solidFill>
              <a:latin typeface="Times New Roman" panose="02020603050405020304" pitchFamily="18" charset="0"/>
            </a:endParaRPr>
          </a:p>
        </p:txBody>
      </p:sp>
      <p:sp>
        <p:nvSpPr>
          <p:cNvPr id="65548" name="Text Box 76"/>
          <p:cNvSpPr txBox="1">
            <a:spLocks noChangeArrowheads="1"/>
          </p:cNvSpPr>
          <p:nvPr/>
        </p:nvSpPr>
        <p:spPr bwMode="auto">
          <a:xfrm>
            <a:off x="2756854" y="5589508"/>
            <a:ext cx="807272" cy="369332"/>
          </a:xfrm>
          <a:prstGeom prst="rect">
            <a:avLst/>
          </a:prstGeom>
          <a:noFill/>
          <a:ln w="9525">
            <a:noFill/>
            <a:miter lim="800000"/>
          </a:ln>
        </p:spPr>
        <p:txBody>
          <a:bodyPr wrap="none">
            <a:spAutoFit/>
          </a:bodyPr>
          <a:lstStyle/>
          <a:p>
            <a:pPr fontAlgn="base">
              <a:spcBef>
                <a:spcPct val="0"/>
              </a:spcBef>
              <a:spcAft>
                <a:spcPct val="0"/>
              </a:spcAft>
            </a:pPr>
            <a:r>
              <a:rPr lang="zh-CN" altLang="en-US" dirty="0">
                <a:solidFill>
                  <a:srgbClr val="000000"/>
                </a:solidFill>
                <a:latin typeface="Times New Roman" panose="02020603050405020304" pitchFamily="18" charset="0"/>
              </a:rPr>
              <a:t>求</a:t>
            </a:r>
            <a:r>
              <a:rPr lang="en-US" altLang="zh-CN" dirty="0">
                <a:solidFill>
                  <a:srgbClr val="000000"/>
                </a:solidFill>
                <a:latin typeface="Times New Roman" panose="02020603050405020304" pitchFamily="18" charset="0"/>
              </a:rPr>
              <a:t> </a:t>
            </a:r>
            <a:r>
              <a:rPr lang="en-US" altLang="zh-CN" dirty="0" err="1">
                <a:solidFill>
                  <a:srgbClr val="000000"/>
                </a:solidFill>
                <a:latin typeface="Times New Roman" panose="02020603050405020304" pitchFamily="18" charset="0"/>
              </a:rPr>
              <a:t>V</a:t>
            </a:r>
            <a:r>
              <a:rPr lang="en-US" altLang="zh-CN" baseline="-25000" dirty="0" err="1">
                <a:solidFill>
                  <a:srgbClr val="000000"/>
                </a:solidFill>
                <a:latin typeface="Times New Roman" panose="02020603050405020304" pitchFamily="18" charset="0"/>
              </a:rPr>
              <a:t>Th</a:t>
            </a:r>
            <a:endParaRPr lang="en-US" altLang="zh-CN" baseline="-25000" dirty="0">
              <a:solidFill>
                <a:srgbClr val="000000"/>
              </a:solidFill>
              <a:latin typeface="Times New Roman" panose="02020603050405020304" pitchFamily="18" charset="0"/>
            </a:endParaRPr>
          </a:p>
        </p:txBody>
      </p:sp>
      <p:sp>
        <p:nvSpPr>
          <p:cNvPr id="65549" name="Rectangle 77"/>
          <p:cNvSpPr>
            <a:spLocks noChangeArrowheads="1"/>
          </p:cNvSpPr>
          <p:nvPr/>
        </p:nvSpPr>
        <p:spPr bwMode="auto">
          <a:xfrm>
            <a:off x="424654" y="2619736"/>
            <a:ext cx="3467100" cy="576262"/>
          </a:xfrm>
          <a:prstGeom prst="rect">
            <a:avLst/>
          </a:prstGeom>
          <a:noFill/>
          <a:ln w="9525">
            <a:noFill/>
            <a:miter lim="800000"/>
          </a:ln>
        </p:spPr>
        <p:txBody>
          <a:bodyPr anchor="ctr"/>
          <a:lstStyle/>
          <a:p>
            <a:pPr fontAlgn="base">
              <a:spcBef>
                <a:spcPct val="0"/>
              </a:spcBef>
              <a:spcAft>
                <a:spcPct val="0"/>
              </a:spcAft>
            </a:pPr>
            <a:r>
              <a:rPr lang="en-US" altLang="zh-CN" sz="2000" b="1" dirty="0">
                <a:solidFill>
                  <a:srgbClr val="000000"/>
                </a:solidFill>
                <a:latin typeface="Times New Roman" panose="02020603050405020304" pitchFamily="18" charset="0"/>
              </a:rPr>
              <a:t>(c) </a:t>
            </a:r>
            <a:r>
              <a:rPr lang="zh-CN" altLang="en-US" sz="2000" b="1" dirty="0">
                <a:solidFill>
                  <a:srgbClr val="000000"/>
                </a:solidFill>
                <a:latin typeface="Times New Roman" panose="02020603050405020304" pitchFamily="18" charset="0"/>
              </a:rPr>
              <a:t>求</a:t>
            </a:r>
            <a:r>
              <a:rPr lang="en-US" altLang="zh-CN" sz="2000" b="1"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G </a:t>
            </a:r>
            <a:r>
              <a:rPr lang="en-US" altLang="zh-CN" sz="2000" b="1" dirty="0">
                <a:solidFill>
                  <a:srgbClr val="000000"/>
                </a:solidFill>
                <a:latin typeface="Times New Roman" panose="02020603050405020304" pitchFamily="18" charset="0"/>
              </a:rPr>
              <a:t>:</a:t>
            </a:r>
          </a:p>
        </p:txBody>
      </p:sp>
      <p:grpSp>
        <p:nvGrpSpPr>
          <p:cNvPr id="14" name="Group 78"/>
          <p:cNvGrpSpPr/>
          <p:nvPr/>
        </p:nvGrpSpPr>
        <p:grpSpPr bwMode="auto">
          <a:xfrm>
            <a:off x="4775042" y="3128963"/>
            <a:ext cx="4284662" cy="2527300"/>
            <a:chOff x="1338" y="436"/>
            <a:chExt cx="2699" cy="1592"/>
          </a:xfrm>
        </p:grpSpPr>
        <p:grpSp>
          <p:nvGrpSpPr>
            <p:cNvPr id="15" name="Group 79"/>
            <p:cNvGrpSpPr/>
            <p:nvPr/>
          </p:nvGrpSpPr>
          <p:grpSpPr bwMode="auto">
            <a:xfrm>
              <a:off x="1338" y="436"/>
              <a:ext cx="2699" cy="1277"/>
              <a:chOff x="3061" y="346"/>
              <a:chExt cx="2699" cy="1277"/>
            </a:xfrm>
          </p:grpSpPr>
          <p:grpSp>
            <p:nvGrpSpPr>
              <p:cNvPr id="16" name="Group 80"/>
              <p:cNvGrpSpPr/>
              <p:nvPr/>
            </p:nvGrpSpPr>
            <p:grpSpPr bwMode="auto">
              <a:xfrm>
                <a:off x="3061" y="346"/>
                <a:ext cx="2699" cy="1277"/>
                <a:chOff x="2880" y="2795"/>
                <a:chExt cx="2699" cy="1277"/>
              </a:xfrm>
            </p:grpSpPr>
            <p:grpSp>
              <p:nvGrpSpPr>
                <p:cNvPr id="17" name="Group 81"/>
                <p:cNvGrpSpPr/>
                <p:nvPr/>
              </p:nvGrpSpPr>
              <p:grpSpPr bwMode="auto">
                <a:xfrm>
                  <a:off x="2880" y="2795"/>
                  <a:ext cx="2699" cy="1277"/>
                  <a:chOff x="2880" y="2795"/>
                  <a:chExt cx="2699" cy="1277"/>
                </a:xfrm>
              </p:grpSpPr>
              <p:grpSp>
                <p:nvGrpSpPr>
                  <p:cNvPr id="18" name="Group 82"/>
                  <p:cNvGrpSpPr/>
                  <p:nvPr/>
                </p:nvGrpSpPr>
                <p:grpSpPr bwMode="auto">
                  <a:xfrm>
                    <a:off x="5103" y="2840"/>
                    <a:ext cx="476" cy="504"/>
                    <a:chOff x="5284" y="2840"/>
                    <a:chExt cx="476" cy="504"/>
                  </a:xfrm>
                </p:grpSpPr>
                <p:sp>
                  <p:nvSpPr>
                    <p:cNvPr id="65570" name="Text Box 83"/>
                    <p:cNvSpPr txBox="1">
                      <a:spLocks noChangeArrowheads="1"/>
                    </p:cNvSpPr>
                    <p:nvPr/>
                  </p:nvSpPr>
                  <p:spPr bwMode="auto">
                    <a:xfrm>
                      <a:off x="5329" y="3113"/>
                      <a:ext cx="431"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40</a:t>
                      </a:r>
                      <a:r>
                        <a:rPr lang="el-GR" altLang="zh-CN">
                          <a:solidFill>
                            <a:srgbClr val="000000"/>
                          </a:solidFill>
                          <a:cs typeface="Arial" panose="020B0604020202020204" pitchFamily="34" charset="0"/>
                        </a:rPr>
                        <a:t>Ω</a:t>
                      </a:r>
                    </a:p>
                  </p:txBody>
                </p:sp>
                <p:sp>
                  <p:nvSpPr>
                    <p:cNvPr id="65571" name="Text Box 84"/>
                    <p:cNvSpPr txBox="1">
                      <a:spLocks noChangeArrowheads="1"/>
                    </p:cNvSpPr>
                    <p:nvPr/>
                  </p:nvSpPr>
                  <p:spPr bwMode="auto">
                    <a:xfrm>
                      <a:off x="5284" y="2840"/>
                      <a:ext cx="317" cy="231"/>
                    </a:xfrm>
                    <a:prstGeom prst="rect">
                      <a:avLst/>
                    </a:prstGeom>
                    <a:noFill/>
                    <a:ln w="9525" algn="ctr">
                      <a:noFill/>
                      <a:miter lim="800000"/>
                    </a:ln>
                  </p:spPr>
                  <p:txBody>
                    <a:bodyPr>
                      <a:spAutoFit/>
                    </a:bodyPr>
                    <a:lstStyle/>
                    <a:p>
                      <a:pPr algn="ctr" fontAlgn="base">
                        <a:spcBef>
                          <a:spcPct val="0"/>
                        </a:spcBef>
                        <a:spcAft>
                          <a:spcPct val="0"/>
                        </a:spcAft>
                      </a:pPr>
                      <a:r>
                        <a:rPr lang="en-US" altLang="zh-CN" i="1">
                          <a:solidFill>
                            <a:srgbClr val="000000"/>
                          </a:solidFill>
                          <a:latin typeface="BatangChe" pitchFamily="49" charset="-127"/>
                          <a:ea typeface="BatangChe" pitchFamily="49" charset="-127"/>
                        </a:rPr>
                        <a:t>I</a:t>
                      </a:r>
                      <a:r>
                        <a:rPr lang="en-US" altLang="zh-CN" i="1" baseline="-25000">
                          <a:solidFill>
                            <a:srgbClr val="000000"/>
                          </a:solidFill>
                        </a:rPr>
                        <a:t>G</a:t>
                      </a:r>
                      <a:endParaRPr lang="en-US" altLang="zh-CN" i="1">
                        <a:solidFill>
                          <a:srgbClr val="000000"/>
                        </a:solidFill>
                      </a:endParaRPr>
                    </a:p>
                  </p:txBody>
                </p:sp>
                <p:sp>
                  <p:nvSpPr>
                    <p:cNvPr id="65572" name="Line 85"/>
                    <p:cNvSpPr>
                      <a:spLocks noChangeShapeType="1"/>
                    </p:cNvSpPr>
                    <p:nvPr/>
                  </p:nvSpPr>
                  <p:spPr bwMode="auto">
                    <a:xfrm>
                      <a:off x="5329" y="2840"/>
                      <a:ext cx="0" cy="317"/>
                    </a:xfrm>
                    <a:prstGeom prst="line">
                      <a:avLst/>
                    </a:prstGeom>
                    <a:noFill/>
                    <a:ln w="9525">
                      <a:solidFill>
                        <a:schemeClr val="tx1"/>
                      </a:solidFill>
                      <a:round/>
                      <a:tailEnd type="triangle" w="med" len="med"/>
                    </a:ln>
                  </p:spPr>
                  <p:txBody>
                    <a:bodyPr wrap="none" anchor="ctr"/>
                    <a:lstStyle/>
                    <a:p>
                      <a:pPr eaLnBrk="0" fontAlgn="base" hangingPunct="0">
                        <a:spcBef>
                          <a:spcPct val="0"/>
                        </a:spcBef>
                        <a:spcAft>
                          <a:spcPct val="0"/>
                        </a:spcAft>
                      </a:pPr>
                      <a:endParaRPr lang="zh-CN" altLang="en-US" sz="2000">
                        <a:solidFill>
                          <a:srgbClr val="000000"/>
                        </a:solidFill>
                        <a:latin typeface="Times New Roman" panose="02020603050405020304" pitchFamily="18" charset="0"/>
                      </a:endParaRPr>
                    </a:p>
                  </p:txBody>
                </p:sp>
              </p:grpSp>
              <p:grpSp>
                <p:nvGrpSpPr>
                  <p:cNvPr id="19" name="Group 86"/>
                  <p:cNvGrpSpPr/>
                  <p:nvPr/>
                </p:nvGrpSpPr>
                <p:grpSpPr bwMode="auto">
                  <a:xfrm>
                    <a:off x="2880" y="2795"/>
                    <a:ext cx="2177" cy="1277"/>
                    <a:chOff x="2880" y="2795"/>
                    <a:chExt cx="2177" cy="1277"/>
                  </a:xfrm>
                </p:grpSpPr>
                <p:grpSp>
                  <p:nvGrpSpPr>
                    <p:cNvPr id="20" name="Group 87"/>
                    <p:cNvGrpSpPr/>
                    <p:nvPr/>
                  </p:nvGrpSpPr>
                  <p:grpSpPr bwMode="auto">
                    <a:xfrm>
                      <a:off x="2880" y="2795"/>
                      <a:ext cx="2049" cy="1277"/>
                      <a:chOff x="3152" y="2775"/>
                      <a:chExt cx="2049" cy="1277"/>
                    </a:xfrm>
                  </p:grpSpPr>
                  <p:sp>
                    <p:nvSpPr>
                      <p:cNvPr id="65564" name="Rectangle 88"/>
                      <p:cNvSpPr>
                        <a:spLocks noChangeArrowheads="1"/>
                      </p:cNvSpPr>
                      <p:nvPr/>
                    </p:nvSpPr>
                    <p:spPr bwMode="auto">
                      <a:xfrm>
                        <a:off x="3296" y="2840"/>
                        <a:ext cx="1905" cy="1180"/>
                      </a:xfrm>
                      <a:prstGeom prst="rect">
                        <a:avLst/>
                      </a:prstGeom>
                      <a:solidFill>
                        <a:schemeClr val="accent1">
                          <a:alpha val="0"/>
                        </a:schemeClr>
                      </a:solidFill>
                      <a:ln w="9525" algn="ctr">
                        <a:solidFill>
                          <a:schemeClr val="tx1"/>
                        </a:solidFill>
                        <a:miter lim="800000"/>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nvGrpSpPr>
                      <p:cNvPr id="21" name="Group 89"/>
                      <p:cNvGrpSpPr/>
                      <p:nvPr/>
                    </p:nvGrpSpPr>
                    <p:grpSpPr bwMode="auto">
                      <a:xfrm>
                        <a:off x="3152" y="2775"/>
                        <a:ext cx="1451" cy="1277"/>
                        <a:chOff x="3152" y="2775"/>
                        <a:chExt cx="1451" cy="1277"/>
                      </a:xfrm>
                    </p:grpSpPr>
                    <p:pic>
                      <p:nvPicPr>
                        <p:cNvPr id="65566" name="Picture 90"/>
                        <p:cNvPicPr>
                          <a:picLocks noChangeAspect="1" noChangeArrowheads="1"/>
                        </p:cNvPicPr>
                        <p:nvPr/>
                      </p:nvPicPr>
                      <p:blipFill>
                        <a:blip r:embed="rId14" cstate="print"/>
                        <a:srcRect/>
                        <a:stretch>
                          <a:fillRect/>
                        </a:stretch>
                      </p:blipFill>
                      <p:spPr bwMode="auto">
                        <a:xfrm>
                          <a:off x="3152" y="3339"/>
                          <a:ext cx="306" cy="264"/>
                        </a:xfrm>
                        <a:prstGeom prst="rect">
                          <a:avLst/>
                        </a:prstGeom>
                        <a:noFill/>
                        <a:ln w="9525" algn="ctr">
                          <a:noFill/>
                          <a:miter lim="800000"/>
                          <a:headEnd/>
                          <a:tailEnd/>
                        </a:ln>
                      </p:spPr>
                    </p:pic>
                    <p:pic>
                      <p:nvPicPr>
                        <p:cNvPr id="65567" name="Picture 91"/>
                        <p:cNvPicPr>
                          <a:picLocks noChangeAspect="1" noChangeArrowheads="1"/>
                        </p:cNvPicPr>
                        <p:nvPr/>
                      </p:nvPicPr>
                      <p:blipFill>
                        <a:blip r:embed="rId13" cstate="print"/>
                        <a:srcRect/>
                        <a:stretch>
                          <a:fillRect/>
                        </a:stretch>
                      </p:blipFill>
                      <p:spPr bwMode="auto">
                        <a:xfrm>
                          <a:off x="3560" y="2775"/>
                          <a:ext cx="354" cy="126"/>
                        </a:xfrm>
                        <a:prstGeom prst="rect">
                          <a:avLst/>
                        </a:prstGeom>
                        <a:noFill/>
                        <a:ln w="9525" algn="ctr">
                          <a:noFill/>
                          <a:miter lim="800000"/>
                          <a:headEnd/>
                          <a:tailEnd/>
                        </a:ln>
                      </p:spPr>
                    </p:pic>
                    <p:sp>
                      <p:nvSpPr>
                        <p:cNvPr id="65568" name="Oval 92"/>
                        <p:cNvSpPr>
                          <a:spLocks noChangeArrowheads="1"/>
                        </p:cNvSpPr>
                        <p:nvPr/>
                      </p:nvSpPr>
                      <p:spPr bwMode="auto">
                        <a:xfrm>
                          <a:off x="4558" y="2815"/>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sp>
                      <p:nvSpPr>
                        <p:cNvPr id="65569" name="Oval 93"/>
                        <p:cNvSpPr>
                          <a:spLocks noChangeArrowheads="1"/>
                        </p:cNvSpPr>
                        <p:nvPr/>
                      </p:nvSpPr>
                      <p:spPr bwMode="auto">
                        <a:xfrm>
                          <a:off x="4546" y="4007"/>
                          <a:ext cx="45" cy="45"/>
                        </a:xfrm>
                        <a:prstGeom prst="ellipse">
                          <a:avLst/>
                        </a:prstGeom>
                        <a:solidFill>
                          <a:schemeClr val="tx1"/>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grpSp>
                <p:pic>
                  <p:nvPicPr>
                    <p:cNvPr id="65562" name="Picture 94"/>
                    <p:cNvPicPr>
                      <a:picLocks noChangeAspect="1" noChangeArrowheads="1"/>
                    </p:cNvPicPr>
                    <p:nvPr/>
                  </p:nvPicPr>
                  <p:blipFill>
                    <a:blip r:embed="rId15" cstate="print"/>
                    <a:srcRect/>
                    <a:stretch>
                      <a:fillRect/>
                    </a:stretch>
                  </p:blipFill>
                  <p:spPr bwMode="auto">
                    <a:xfrm>
                      <a:off x="4876" y="3022"/>
                      <a:ext cx="126" cy="354"/>
                    </a:xfrm>
                    <a:prstGeom prst="rect">
                      <a:avLst/>
                    </a:prstGeom>
                    <a:noFill/>
                    <a:ln w="9525" algn="ctr">
                      <a:noFill/>
                      <a:miter lim="800000"/>
                      <a:headEnd/>
                      <a:tailEnd/>
                    </a:ln>
                  </p:spPr>
                </p:pic>
                <p:sp>
                  <p:nvSpPr>
                    <p:cNvPr id="65563" name="Oval 95"/>
                    <p:cNvSpPr>
                      <a:spLocks noChangeArrowheads="1"/>
                    </p:cNvSpPr>
                    <p:nvPr/>
                  </p:nvSpPr>
                  <p:spPr bwMode="auto">
                    <a:xfrm>
                      <a:off x="4785" y="3521"/>
                      <a:ext cx="272" cy="272"/>
                    </a:xfrm>
                    <a:prstGeom prst="ellipse">
                      <a:avLst/>
                    </a:prstGeom>
                    <a:solidFill>
                      <a:srgbClr val="008080"/>
                    </a:solidFill>
                    <a:ln w="9525" algn="ctr">
                      <a:solidFill>
                        <a:schemeClr val="tx1"/>
                      </a:solidFill>
                      <a:round/>
                    </a:ln>
                  </p:spPr>
                  <p:txBody>
                    <a:bodyPr wrap="none" anchor="ct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pSp>
            </p:grpSp>
            <p:sp>
              <p:nvSpPr>
                <p:cNvPr id="65558" name="Text Box 96"/>
                <p:cNvSpPr txBox="1">
                  <a:spLocks noChangeArrowheads="1"/>
                </p:cNvSpPr>
                <p:nvPr/>
              </p:nvSpPr>
              <p:spPr bwMode="auto">
                <a:xfrm>
                  <a:off x="4740" y="3566"/>
                  <a:ext cx="363" cy="231"/>
                </a:xfrm>
                <a:prstGeom prst="rect">
                  <a:avLst/>
                </a:prstGeom>
                <a:noFill/>
                <a:ln w="9525" algn="ctr">
                  <a:noFill/>
                  <a:miter lim="800000"/>
                </a:ln>
              </p:spPr>
              <p:txBody>
                <a:bodyPr>
                  <a:spAutoFit/>
                </a:bodyPr>
                <a:lstStyle/>
                <a:p>
                  <a:pPr fontAlgn="base">
                    <a:spcBef>
                      <a:spcPct val="50000"/>
                    </a:spcBef>
                    <a:spcAft>
                      <a:spcPct val="0"/>
                    </a:spcAft>
                  </a:pPr>
                  <a:r>
                    <a:rPr lang="en-US" altLang="zh-CN" b="1">
                      <a:solidFill>
                        <a:srgbClr val="000000"/>
                      </a:solidFill>
                    </a:rPr>
                    <a:t>  G</a:t>
                  </a:r>
                </a:p>
              </p:txBody>
            </p:sp>
          </p:grpSp>
          <p:sp>
            <p:nvSpPr>
              <p:cNvPr id="65555" name="Text Box 97"/>
              <p:cNvSpPr txBox="1">
                <a:spLocks noChangeArrowheads="1"/>
              </p:cNvSpPr>
              <p:nvPr/>
            </p:nvSpPr>
            <p:spPr bwMode="auto">
              <a:xfrm>
                <a:off x="4377" y="482"/>
                <a:ext cx="226"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a</a:t>
                </a:r>
              </a:p>
            </p:txBody>
          </p:sp>
          <p:sp>
            <p:nvSpPr>
              <p:cNvPr id="65556" name="Text Box 98"/>
              <p:cNvSpPr txBox="1">
                <a:spLocks noChangeArrowheads="1"/>
              </p:cNvSpPr>
              <p:nvPr/>
            </p:nvSpPr>
            <p:spPr bwMode="auto">
              <a:xfrm>
                <a:off x="4377" y="1344"/>
                <a:ext cx="272"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b</a:t>
                </a:r>
              </a:p>
            </p:txBody>
          </p:sp>
        </p:grpSp>
        <p:sp>
          <p:nvSpPr>
            <p:cNvPr id="65553" name="Text Box 99"/>
            <p:cNvSpPr txBox="1">
              <a:spLocks noChangeArrowheads="1"/>
            </p:cNvSpPr>
            <p:nvPr/>
          </p:nvSpPr>
          <p:spPr bwMode="auto">
            <a:xfrm>
              <a:off x="2336" y="1797"/>
              <a:ext cx="273" cy="231"/>
            </a:xfrm>
            <a:prstGeom prst="rect">
              <a:avLst/>
            </a:prstGeom>
            <a:noFill/>
            <a:ln w="9525" algn="ctr">
              <a:noFill/>
              <a:miter lim="800000"/>
            </a:ln>
          </p:spPr>
          <p:txBody>
            <a:bodyPr>
              <a:spAutoFit/>
            </a:bodyPr>
            <a:lstStyle/>
            <a:p>
              <a:pPr fontAlgn="base">
                <a:spcBef>
                  <a:spcPct val="50000"/>
                </a:spcBef>
                <a:spcAft>
                  <a:spcPct val="0"/>
                </a:spcAft>
              </a:pPr>
              <a:r>
                <a:rPr lang="en-US" altLang="zh-CN">
                  <a:solidFill>
                    <a:srgbClr val="000000"/>
                  </a:solidFill>
                </a:rPr>
                <a:t>(c)</a:t>
              </a:r>
            </a:p>
          </p:txBody>
        </p:sp>
      </p:grpSp>
      <p:sp>
        <p:nvSpPr>
          <p:cNvPr id="65551" name="Text Box 100"/>
          <p:cNvSpPr txBox="1">
            <a:spLocks noChangeArrowheads="1"/>
          </p:cNvSpPr>
          <p:nvPr/>
        </p:nvSpPr>
        <p:spPr bwMode="auto">
          <a:xfrm>
            <a:off x="5508149" y="5617747"/>
            <a:ext cx="2881312" cy="338554"/>
          </a:xfrm>
          <a:prstGeom prst="rect">
            <a:avLst/>
          </a:prstGeom>
          <a:noFill/>
          <a:ln w="9525" algn="ctr">
            <a:noFill/>
            <a:miter lim="800000"/>
          </a:ln>
        </p:spPr>
        <p:txBody>
          <a:bodyPr>
            <a:spAutoFit/>
          </a:bodyPr>
          <a:lstStyle/>
          <a:p>
            <a:pPr fontAlgn="base">
              <a:spcBef>
                <a:spcPct val="50000"/>
              </a:spcBef>
              <a:spcAft>
                <a:spcPct val="0"/>
              </a:spcAft>
            </a:pPr>
            <a:r>
              <a:rPr lang="zh-CN" altLang="en-US" sz="1600" dirty="0">
                <a:solidFill>
                  <a:srgbClr val="000000"/>
                </a:solidFill>
              </a:rPr>
              <a:t>确定通过电流计的电流</a:t>
            </a:r>
            <a:r>
              <a:rPr lang="en-US" altLang="zh-CN" sz="1600" dirty="0">
                <a:solidFill>
                  <a:srgbClr val="000000"/>
                </a:solidFill>
              </a:rPr>
              <a:t>.</a:t>
            </a:r>
          </a:p>
        </p:txBody>
      </p:sp>
      <p:sp>
        <p:nvSpPr>
          <p:cNvPr id="22" name="灯片编号占位符 21"/>
          <p:cNvSpPr>
            <a:spLocks noGrp="1"/>
          </p:cNvSpPr>
          <p:nvPr>
            <p:ph type="sldNum" sz="quarter" idx="11"/>
          </p:nvPr>
        </p:nvSpPr>
        <p:spPr/>
        <p:txBody>
          <a:bodyPr/>
          <a:lstStyle/>
          <a:p>
            <a:pPr>
              <a:defRPr/>
            </a:pPr>
            <a:fld id="{939C9064-C0EA-4A07-ACBE-489AD4D1ABAD}" type="slidenum">
              <a:rPr lang="en-US" altLang="zh-CN" smtClean="0">
                <a:solidFill>
                  <a:srgbClr val="000000"/>
                </a:solidFill>
              </a:rPr>
              <a:t>81</a:t>
            </a:fld>
            <a:endParaRPr lang="en-US" altLang="zh-CN">
              <a:solidFill>
                <a:srgbClr val="000000"/>
              </a:solidFill>
            </a:endParaRPr>
          </a:p>
        </p:txBody>
      </p:sp>
      <p:pic>
        <p:nvPicPr>
          <p:cNvPr id="23" name="图片 22"/>
          <p:cNvPicPr>
            <a:picLocks noChangeAspect="1"/>
          </p:cNvPicPr>
          <p:nvPr/>
        </p:nvPicPr>
        <p:blipFill>
          <a:blip r:embed="rId16"/>
          <a:stretch>
            <a:fillRect/>
          </a:stretch>
        </p:blipFill>
        <p:spPr>
          <a:xfrm>
            <a:off x="790575" y="6021070"/>
            <a:ext cx="6758940" cy="7543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a:solidFill>
                  <a:srgbClr val="000000"/>
                </a:solidFill>
              </a:rPr>
              <a:t>82</a:t>
            </a:fld>
            <a:endParaRPr lang="en-US" altLang="zh-CN">
              <a:solidFill>
                <a:srgbClr val="000000"/>
              </a:solidFill>
            </a:endParaRPr>
          </a:p>
        </p:txBody>
      </p:sp>
      <p:pic>
        <p:nvPicPr>
          <p:cNvPr id="5" name="内容占位符 4"/>
          <p:cNvPicPr>
            <a:picLocks noGrp="1" noChangeAspect="1"/>
          </p:cNvPicPr>
          <p:nvPr>
            <p:ph idx="1"/>
          </p:nvPr>
        </p:nvPicPr>
        <p:blipFill>
          <a:blip r:embed="rId2"/>
          <a:stretch>
            <a:fillRect/>
          </a:stretch>
        </p:blipFill>
        <p:spPr>
          <a:xfrm>
            <a:off x="611505" y="692785"/>
            <a:ext cx="7599680" cy="824865"/>
          </a:xfrm>
          <a:prstGeom prst="rect">
            <a:avLst/>
          </a:prstGeom>
        </p:spPr>
      </p:pic>
      <p:pic>
        <p:nvPicPr>
          <p:cNvPr id="6" name="图片 5"/>
          <p:cNvPicPr>
            <a:picLocks noChangeAspect="1"/>
          </p:cNvPicPr>
          <p:nvPr/>
        </p:nvPicPr>
        <p:blipFill>
          <a:blip r:embed="rId3"/>
          <a:stretch>
            <a:fillRect/>
          </a:stretch>
        </p:blipFill>
        <p:spPr>
          <a:xfrm>
            <a:off x="5220335" y="1772920"/>
            <a:ext cx="3406140" cy="3863340"/>
          </a:xfrm>
          <a:prstGeom prst="rect">
            <a:avLst/>
          </a:prstGeom>
        </p:spPr>
      </p:pic>
      <p:sp>
        <p:nvSpPr>
          <p:cNvPr id="7" name="文本框 6"/>
          <p:cNvSpPr txBox="1"/>
          <p:nvPr/>
        </p:nvSpPr>
        <p:spPr>
          <a:xfrm>
            <a:off x="325755" y="1757045"/>
            <a:ext cx="4966335" cy="4523105"/>
          </a:xfrm>
          <a:prstGeom prst="rect">
            <a:avLst/>
          </a:prstGeom>
          <a:noFill/>
        </p:spPr>
        <p:txBody>
          <a:bodyPr wrap="square" rtlCol="0">
            <a:spAutoFit/>
          </a:bodyPr>
          <a:lstStyle/>
          <a:p>
            <a:r>
              <a:rPr lang="zh-CN" altLang="en-US"/>
              <a:t>解：（</a:t>
            </a:r>
            <a:r>
              <a:rPr lang="en-US" altLang="zh-CN"/>
              <a:t>1</a:t>
            </a:r>
            <a:r>
              <a:rPr lang="zh-CN" altLang="en-US"/>
              <a:t>）求</a:t>
            </a:r>
            <a:r>
              <a:rPr lang="en-US" altLang="zh-CN"/>
              <a:t>Rth</a:t>
            </a:r>
          </a:p>
          <a:p>
            <a:endParaRPr lang="en-US" altLang="zh-CN"/>
          </a:p>
          <a:p>
            <a:r>
              <a:rPr lang="en-US" altLang="zh-CN"/>
              <a:t>Rth=20||30+60||40=12+24=36;</a:t>
            </a:r>
          </a:p>
          <a:p>
            <a:endParaRPr lang="en-US" altLang="zh-CN"/>
          </a:p>
          <a:p>
            <a:r>
              <a:rPr lang="en-US" altLang="zh-CN"/>
              <a:t>(2)</a:t>
            </a:r>
            <a:r>
              <a:rPr lang="zh-CN" altLang="en-US"/>
              <a:t>求</a:t>
            </a:r>
            <a:r>
              <a:rPr lang="en-US" altLang="zh-CN"/>
              <a:t>Vth (</a:t>
            </a:r>
            <a:r>
              <a:rPr lang="zh-CN" altLang="en-US"/>
              <a:t>设上面的点为</a:t>
            </a:r>
            <a:r>
              <a:rPr lang="en-US" altLang="zh-CN"/>
              <a:t>a,</a:t>
            </a:r>
            <a:r>
              <a:rPr lang="zh-CN" altLang="en-US"/>
              <a:t>下面的点为</a:t>
            </a:r>
            <a:r>
              <a:rPr lang="en-US" altLang="zh-CN"/>
              <a:t>b,</a:t>
            </a:r>
            <a:r>
              <a:rPr lang="zh-CN" altLang="en-US"/>
              <a:t>电流由</a:t>
            </a:r>
            <a:r>
              <a:rPr lang="en-US" altLang="zh-CN"/>
              <a:t>a</a:t>
            </a:r>
            <a:r>
              <a:rPr lang="zh-CN" altLang="en-US"/>
              <a:t>流向</a:t>
            </a:r>
            <a:r>
              <a:rPr lang="en-US" altLang="zh-CN"/>
              <a:t>b)</a:t>
            </a:r>
          </a:p>
          <a:p>
            <a:endParaRPr lang="en-US" altLang="zh-CN"/>
          </a:p>
          <a:p>
            <a:r>
              <a:rPr lang="en-US" altLang="zh-CN"/>
              <a:t>Va=(30/50)*16=48/5V</a:t>
            </a:r>
          </a:p>
          <a:p>
            <a:r>
              <a:rPr lang="en-US" altLang="zh-CN"/>
              <a:t>Vb=</a:t>
            </a:r>
            <a:r>
              <a:rPr lang="en-US" altLang="zh-CN">
                <a:sym typeface="+mn-ea"/>
              </a:rPr>
              <a:t>(40/100)*16=32/5V</a:t>
            </a:r>
          </a:p>
          <a:p>
            <a:r>
              <a:rPr lang="en-US" altLang="zh-CN">
                <a:sym typeface="+mn-ea"/>
              </a:rPr>
              <a:t>Vth=Va-Vb=16/5=3.2V</a:t>
            </a:r>
          </a:p>
          <a:p>
            <a:endParaRPr lang="en-US" altLang="zh-CN">
              <a:sym typeface="+mn-ea"/>
            </a:endParaRPr>
          </a:p>
          <a:p>
            <a:r>
              <a:rPr lang="en-US" altLang="zh-CN">
                <a:sym typeface="+mn-ea"/>
              </a:rPr>
              <a:t>(3)</a:t>
            </a:r>
            <a:r>
              <a:rPr lang="zh-CN" altLang="en-US">
                <a:sym typeface="+mn-ea"/>
              </a:rPr>
              <a:t>流经检流计的电流为：</a:t>
            </a:r>
          </a:p>
          <a:p>
            <a:endParaRPr lang="zh-CN" altLang="en-US">
              <a:sym typeface="+mn-ea"/>
            </a:endParaRPr>
          </a:p>
          <a:p>
            <a:r>
              <a:rPr lang="en-US" altLang="zh-CN">
                <a:sym typeface="+mn-ea"/>
              </a:rPr>
              <a:t>I=3.2/(36+14)=3.2/50=0.064A=64mA </a:t>
            </a:r>
            <a:endParaRPr lang="en-US" altLang="zh-CN"/>
          </a:p>
          <a:p>
            <a:endParaRPr lang="en-US" altLang="zh-CN"/>
          </a:p>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xfrm>
            <a:off x="611560" y="620713"/>
            <a:ext cx="7632848" cy="5976937"/>
          </a:xfrm>
        </p:spPr>
        <p:txBody>
          <a:bodyPr/>
          <a:lstStyle/>
          <a:p>
            <a:pPr eaLnBrk="1" hangingPunct="1">
              <a:lnSpc>
                <a:spcPct val="150000"/>
              </a:lnSpc>
              <a:spcBef>
                <a:spcPts val="600"/>
              </a:spcBef>
              <a:spcAft>
                <a:spcPts val="600"/>
              </a:spcAft>
              <a:buFont typeface="Wingdings" panose="05000000000000000000" pitchFamily="2" charset="2"/>
              <a:buNone/>
            </a:pPr>
            <a:r>
              <a:rPr lang="en-US" altLang="zh-CN" sz="4400" dirty="0">
                <a:solidFill>
                  <a:srgbClr val="0000FF"/>
                </a:solidFill>
                <a:latin typeface="Franklin Gothic Medium" panose="020B0603020102020204" pitchFamily="34" charset="0"/>
              </a:rPr>
              <a:t>4.11  </a:t>
            </a:r>
            <a:r>
              <a:rPr lang="zh-CN" altLang="en-US" sz="4400" b="1" dirty="0">
                <a:solidFill>
                  <a:srgbClr val="0000FF"/>
                </a:solidFill>
                <a:latin typeface="Franklin Gothic Medium" panose="020B0603020102020204" pitchFamily="34" charset="0"/>
              </a:rPr>
              <a:t>总结</a:t>
            </a:r>
            <a:endParaRPr lang="en-US" altLang="zh-CN" sz="2400" b="1" dirty="0">
              <a:latin typeface="Times New Roman" panose="02020603050405020304" pitchFamily="18" charset="0"/>
            </a:endParaRPr>
          </a:p>
          <a:p>
            <a:pPr eaLnBrk="1" hangingPunct="1">
              <a:lnSpc>
                <a:spcPct val="150000"/>
              </a:lnSpc>
              <a:spcBef>
                <a:spcPts val="600"/>
              </a:spcBef>
              <a:spcAft>
                <a:spcPts val="600"/>
              </a:spcAft>
            </a:pPr>
            <a:r>
              <a:rPr lang="zh-CN" altLang="en-US" sz="2400" b="1" dirty="0">
                <a:latin typeface="Times New Roman" panose="02020603050405020304" pitchFamily="18" charset="0"/>
              </a:rPr>
              <a:t>利用电路定理可将一个复杂的电路</a:t>
            </a:r>
            <a:r>
              <a:rPr lang="zh-CN" altLang="en-US" sz="2400" b="1" dirty="0">
                <a:solidFill>
                  <a:srgbClr val="FF0000"/>
                </a:solidFill>
                <a:latin typeface="Times New Roman" panose="02020603050405020304" pitchFamily="18" charset="0"/>
              </a:rPr>
              <a:t>简化</a:t>
            </a:r>
            <a:r>
              <a:rPr lang="zh-CN" altLang="en-US" sz="2400" b="1" dirty="0">
                <a:latin typeface="Times New Roman" panose="02020603050405020304" pitchFamily="18" charset="0"/>
              </a:rPr>
              <a:t>为一个简单的电路，从而使电路分析更加简单。</a:t>
            </a:r>
            <a:r>
              <a:rPr lang="en-US" altLang="zh-CN" sz="2400" b="1" dirty="0">
                <a:latin typeface="Times New Roman" panose="02020603050405020304" pitchFamily="18" charset="0"/>
              </a:rPr>
              <a:t> </a:t>
            </a:r>
          </a:p>
          <a:p>
            <a:pPr eaLnBrk="1" hangingPunct="1">
              <a:lnSpc>
                <a:spcPct val="150000"/>
              </a:lnSpc>
              <a:spcBef>
                <a:spcPts val="600"/>
              </a:spcBef>
              <a:spcAft>
                <a:spcPts val="600"/>
              </a:spcAft>
            </a:pPr>
            <a:r>
              <a:rPr lang="zh-CN" altLang="en-US" sz="2400" b="1" dirty="0">
                <a:solidFill>
                  <a:srgbClr val="FF0000"/>
                </a:solidFill>
                <a:latin typeface="Times New Roman" panose="02020603050405020304" pitchFamily="18" charset="0"/>
              </a:rPr>
              <a:t>线性网络</a:t>
            </a:r>
            <a:r>
              <a:rPr lang="zh-CN" altLang="en-US" sz="2400" b="1" dirty="0">
                <a:latin typeface="Times New Roman" panose="02020603050405020304" pitchFamily="18" charset="0"/>
              </a:rPr>
              <a:t>由线性元件、线性受控源和线性独立源组成。</a:t>
            </a:r>
            <a:endParaRPr lang="en-US" altLang="zh-CN" sz="2400" b="1" dirty="0">
              <a:latin typeface="Times New Roman" panose="02020603050405020304" pitchFamily="18" charset="0"/>
            </a:endParaRPr>
          </a:p>
          <a:p>
            <a:pPr eaLnBrk="1" hangingPunct="1">
              <a:lnSpc>
                <a:spcPct val="150000"/>
              </a:lnSpc>
              <a:spcBef>
                <a:spcPts val="600"/>
              </a:spcBef>
              <a:spcAft>
                <a:spcPts val="600"/>
              </a:spcAft>
            </a:pPr>
            <a:r>
              <a:rPr lang="zh-CN" altLang="en-US" sz="2400" b="1" dirty="0">
                <a:solidFill>
                  <a:srgbClr val="FF0000"/>
                </a:solidFill>
                <a:latin typeface="Times New Roman" panose="02020603050405020304" pitchFamily="18" charset="0"/>
              </a:rPr>
              <a:t>叠加定理</a:t>
            </a:r>
            <a:r>
              <a:rPr lang="zh-CN" altLang="en-US" sz="2400" b="1" dirty="0">
                <a:latin typeface="Times New Roman" panose="02020603050405020304" pitchFamily="18" charset="0"/>
              </a:rPr>
              <a:t>指出，对于一个有多个独立源的电路，一个元件上的电压</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或电流</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等于所有单个电压</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或电流</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的代数和。</a:t>
            </a:r>
            <a:endParaRPr lang="en-US" altLang="zh-CN" sz="2400" b="1" dirty="0">
              <a:latin typeface="Times New Roman" panose="02020603050405020304" pitchFamily="18" charset="0"/>
            </a:endParaRP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83</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body" idx="1"/>
          </p:nvPr>
        </p:nvSpPr>
        <p:spPr>
          <a:xfrm>
            <a:off x="468313" y="549275"/>
            <a:ext cx="7920037" cy="5903913"/>
          </a:xfrm>
        </p:spPr>
        <p:txBody>
          <a:bodyPr/>
          <a:lstStyle/>
          <a:p>
            <a:pPr eaLnBrk="1" hangingPunct="1">
              <a:lnSpc>
                <a:spcPct val="150000"/>
              </a:lnSpc>
            </a:pPr>
            <a:r>
              <a:rPr lang="zh-CN" altLang="en-US" sz="2400" b="1" dirty="0">
                <a:solidFill>
                  <a:srgbClr val="FF0000"/>
                </a:solidFill>
                <a:latin typeface="Times New Roman" panose="02020603050405020304" pitchFamily="18" charset="0"/>
              </a:rPr>
              <a:t>电源转换</a:t>
            </a:r>
            <a:r>
              <a:rPr lang="zh-CN" altLang="en-US" sz="2400" b="1" dirty="0">
                <a:latin typeface="Times New Roman" panose="02020603050405020304" pitchFamily="18" charset="0"/>
              </a:rPr>
              <a:t>是将电压源串联电阻转换为电流源并联电阻的过程，反之亦然。</a:t>
            </a:r>
            <a:endParaRPr lang="en-US" altLang="zh-CN" sz="2400" b="1" dirty="0">
              <a:latin typeface="Times New Roman" panose="02020603050405020304" pitchFamily="18" charset="0"/>
            </a:endParaRPr>
          </a:p>
          <a:p>
            <a:pPr algn="just" eaLnBrk="1" hangingPunct="1">
              <a:lnSpc>
                <a:spcPct val="150000"/>
              </a:lnSpc>
            </a:pPr>
            <a:r>
              <a:rPr lang="zh-CN" altLang="en-US" sz="2400" b="1" dirty="0">
                <a:solidFill>
                  <a:srgbClr val="FF0000"/>
                </a:solidFill>
                <a:latin typeface="Times New Roman" panose="02020603050405020304" pitchFamily="18" charset="0"/>
              </a:rPr>
              <a:t>戴维南定理</a:t>
            </a:r>
            <a:r>
              <a:rPr lang="zh-CN" altLang="en-US" sz="2400" b="1" dirty="0">
                <a:latin typeface="Times New Roman" panose="02020603050405020304" pitchFamily="18" charset="0"/>
              </a:rPr>
              <a:t>和</a:t>
            </a:r>
            <a:r>
              <a:rPr lang="zh-CN" altLang="en-US" sz="2400" b="1" dirty="0">
                <a:solidFill>
                  <a:srgbClr val="FF0000"/>
                </a:solidFill>
                <a:latin typeface="Times New Roman" panose="02020603050405020304" pitchFamily="18" charset="0"/>
              </a:rPr>
              <a:t>诺顿定理</a:t>
            </a:r>
            <a:r>
              <a:rPr lang="zh-CN" altLang="en-US" sz="2400" b="1" dirty="0">
                <a:latin typeface="Times New Roman" panose="02020603050405020304" pitchFamily="18" charset="0"/>
              </a:rPr>
              <a:t>允许我们将电路网络中的一部分孤立，而将网络的其余部分用一个等效网络来替代。戴维南等效电路由一个电压源</a:t>
            </a:r>
            <a:r>
              <a:rPr lang="en-US" altLang="zh-CN" sz="2400" b="1" i="1" dirty="0" err="1">
                <a:latin typeface="Times New Roman" panose="02020603050405020304" pitchFamily="18" charset="0"/>
              </a:rPr>
              <a:t>V</a:t>
            </a:r>
            <a:r>
              <a:rPr lang="en-US" altLang="zh-CN" sz="2400" b="1" baseline="-25000" dirty="0" err="1">
                <a:latin typeface="Times New Roman" panose="02020603050405020304" pitchFamily="18" charset="0"/>
              </a:rPr>
              <a:t>Th</a:t>
            </a:r>
            <a:r>
              <a:rPr lang="zh-CN" altLang="en-US" sz="2400" b="1" dirty="0">
                <a:latin typeface="Times New Roman" panose="02020603050405020304" pitchFamily="18" charset="0"/>
              </a:rPr>
              <a:t>串联电阻</a:t>
            </a:r>
            <a:r>
              <a:rPr lang="en-US" altLang="zh-CN" sz="2400" b="1" i="1" dirty="0" err="1">
                <a:latin typeface="Times New Roman" panose="02020603050405020304" pitchFamily="18" charset="0"/>
              </a:rPr>
              <a:t>R</a:t>
            </a:r>
            <a:r>
              <a:rPr lang="en-US" altLang="zh-CN" sz="2400" b="1" baseline="-25000" dirty="0" err="1">
                <a:latin typeface="Times New Roman" panose="02020603050405020304" pitchFamily="18" charset="0"/>
              </a:rPr>
              <a:t>Th</a:t>
            </a:r>
            <a:r>
              <a:rPr lang="zh-CN" altLang="en-US" sz="2400" b="1" dirty="0">
                <a:latin typeface="Times New Roman" panose="02020603050405020304" pitchFamily="18" charset="0"/>
              </a:rPr>
              <a:t>组成，而诺顿等效电路由一个电流源</a:t>
            </a:r>
            <a:r>
              <a:rPr lang="en-US" altLang="zh-CN" sz="2400" b="1" i="1" dirty="0">
                <a:latin typeface="Times New Roman" panose="02020603050405020304" pitchFamily="18" charset="0"/>
              </a:rPr>
              <a:t>I</a:t>
            </a:r>
            <a:r>
              <a:rPr lang="en-US" altLang="zh-CN" sz="2400" b="1" baseline="-25000" dirty="0">
                <a:latin typeface="Times New Roman" panose="02020603050405020304" pitchFamily="18" charset="0"/>
              </a:rPr>
              <a:t>N</a:t>
            </a:r>
            <a:r>
              <a:rPr lang="zh-CN" altLang="en-US" sz="2400" b="1" dirty="0">
                <a:latin typeface="Times New Roman" panose="02020603050405020304" pitchFamily="18" charset="0"/>
              </a:rPr>
              <a:t>并联电阻</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N</a:t>
            </a:r>
            <a:r>
              <a:rPr lang="zh-CN" altLang="en-US" sz="2400" b="1" dirty="0">
                <a:latin typeface="Times New Roman" panose="02020603050405020304" pitchFamily="18" charset="0"/>
              </a:rPr>
              <a:t>组成。这两个定理是由电源变换联系起来的。</a:t>
            </a:r>
            <a:endParaRPr lang="en-US" altLang="zh-CN" sz="2400" b="1" dirty="0">
              <a:latin typeface="Times New Roman" panose="02020603050405020304" pitchFamily="18" charset="0"/>
            </a:endParaRPr>
          </a:p>
          <a:p>
            <a:pPr eaLnBrk="1" hangingPunct="1">
              <a:lnSpc>
                <a:spcPct val="150000"/>
              </a:lnSpc>
            </a:pPr>
            <a:endParaRPr lang="en-US" altLang="zh-CN" sz="2400" b="1" dirty="0">
              <a:latin typeface="Times New Roman" panose="02020603050405020304" pitchFamily="18" charset="0"/>
            </a:endParaRPr>
          </a:p>
          <a:p>
            <a:pPr eaLnBrk="1" hangingPunct="1">
              <a:lnSpc>
                <a:spcPct val="150000"/>
              </a:lnSpc>
            </a:pPr>
            <a:r>
              <a:rPr lang="zh-CN" altLang="en-US" sz="2400" b="1" dirty="0">
                <a:latin typeface="Times New Roman" panose="02020603050405020304" pitchFamily="18" charset="0"/>
              </a:rPr>
              <a:t>对于给定的戴维南等效电路，当</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L</a:t>
            </a:r>
            <a:r>
              <a:rPr lang="en-US" altLang="zh-CN" sz="2400" b="1" dirty="0">
                <a:latin typeface="Times New Roman" panose="02020603050405020304" pitchFamily="18" charset="0"/>
              </a:rPr>
              <a:t>=</a:t>
            </a:r>
            <a:r>
              <a:rPr lang="en-US" altLang="zh-CN" sz="2400" b="1" i="1" dirty="0" err="1">
                <a:latin typeface="Times New Roman" panose="02020603050405020304" pitchFamily="18" charset="0"/>
              </a:rPr>
              <a:t>R</a:t>
            </a:r>
            <a:r>
              <a:rPr lang="en-US" altLang="zh-CN" sz="2400" b="1" baseline="-25000" dirty="0" err="1">
                <a:latin typeface="Times New Roman" panose="02020603050405020304" pitchFamily="18" charset="0"/>
              </a:rPr>
              <a:t>Th</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时，即负载电阻等于戴维南电阻时，可实现负载的</a:t>
            </a:r>
            <a:r>
              <a:rPr lang="zh-CN" altLang="en-US" sz="2400" b="1" dirty="0">
                <a:solidFill>
                  <a:srgbClr val="FF0000"/>
                </a:solidFill>
                <a:latin typeface="Times New Roman" panose="02020603050405020304" pitchFamily="18" charset="0"/>
              </a:rPr>
              <a:t>最大功率传输</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a:p>
            <a:pPr eaLnBrk="1" hangingPunct="1">
              <a:lnSpc>
                <a:spcPct val="80000"/>
              </a:lnSpc>
            </a:pPr>
            <a:endParaRPr lang="en-US" altLang="zh-CN" sz="2400" b="1" dirty="0">
              <a:latin typeface="Times New Roman" panose="02020603050405020304" pitchFamily="18" charset="0"/>
            </a:endParaRPr>
          </a:p>
          <a:p>
            <a:pPr eaLnBrk="1" hangingPunct="1">
              <a:lnSpc>
                <a:spcPct val="80000"/>
              </a:lnSpc>
            </a:pPr>
            <a:endParaRPr lang="en-US" altLang="zh-CN" sz="2400" b="1"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p:txBody>
      </p:sp>
      <p:sp>
        <p:nvSpPr>
          <p:cNvPr id="67587" name="Rectangle 3"/>
          <p:cNvSpPr>
            <a:spLocks noChangeArrowheads="1"/>
          </p:cNvSpPr>
          <p:nvPr/>
        </p:nvSpPr>
        <p:spPr bwMode="auto">
          <a:xfrm>
            <a:off x="2425700" y="3240088"/>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7588" name="Object 4"/>
          <p:cNvGraphicFramePr>
            <a:graphicFrameLocks noChangeAspect="1"/>
          </p:cNvGraphicFramePr>
          <p:nvPr/>
        </p:nvGraphicFramePr>
        <p:xfrm>
          <a:off x="2843808" y="4549910"/>
          <a:ext cx="1295400" cy="500063"/>
        </p:xfrm>
        <a:graphic>
          <a:graphicData uri="http://schemas.openxmlformats.org/presentationml/2006/ole">
            <mc:AlternateContent xmlns:mc="http://schemas.openxmlformats.org/markup-compatibility/2006">
              <mc:Choice xmlns:v="urn:schemas-microsoft-com:vml" Requires="v">
                <p:oleObj spid="_x0000_s52233" name="公式" r:id="rId3" imgW="14935200" imgH="5791200" progId="">
                  <p:embed/>
                </p:oleObj>
              </mc:Choice>
              <mc:Fallback>
                <p:oleObj name="公式" r:id="rId3" imgW="14935200" imgH="5791200" progId="">
                  <p:embed/>
                  <p:pic>
                    <p:nvPicPr>
                      <p:cNvPr id="0" name="图片 51200"/>
                      <p:cNvPicPr>
                        <a:picLocks noChangeAspect="1"/>
                      </p:cNvPicPr>
                      <p:nvPr/>
                    </p:nvPicPr>
                    <p:blipFill>
                      <a:blip r:embed="rId4"/>
                      <a:stretch>
                        <a:fillRect/>
                      </a:stretch>
                    </p:blipFill>
                    <p:spPr>
                      <a:xfrm>
                        <a:off x="2843808" y="4549910"/>
                        <a:ext cx="1295400" cy="500063"/>
                      </a:xfrm>
                      <a:prstGeom prst="rect">
                        <a:avLst/>
                      </a:prstGeom>
                      <a:noFill/>
                      <a:ln w="9525">
                        <a:noFill/>
                      </a:ln>
                    </p:spPr>
                  </p:pic>
                </p:oleObj>
              </mc:Fallback>
            </mc:AlternateContent>
          </a:graphicData>
        </a:graphic>
      </p:graphicFrame>
      <p:sp>
        <p:nvSpPr>
          <p:cNvPr id="67589" name="Rectangle 5"/>
          <p:cNvSpPr>
            <a:spLocks noChangeArrowheads="1"/>
          </p:cNvSpPr>
          <p:nvPr/>
        </p:nvSpPr>
        <p:spPr bwMode="auto">
          <a:xfrm>
            <a:off x="2643188" y="3221038"/>
            <a:ext cx="9144000" cy="0"/>
          </a:xfrm>
          <a:prstGeom prst="rect">
            <a:avLst/>
          </a:prstGeom>
          <a:noFill/>
          <a:ln w="9525" algn="ctr">
            <a:noFill/>
            <a:miter lim="800000"/>
          </a:ln>
        </p:spPr>
        <p:txBody>
          <a:bodyPr wrap="none" anchor="ctr">
            <a:spAutoFit/>
          </a:bodyPr>
          <a:lstStyle/>
          <a:p>
            <a:pPr fontAlgn="base">
              <a:spcBef>
                <a:spcPct val="0"/>
              </a:spcBef>
              <a:spcAft>
                <a:spcPct val="0"/>
              </a:spcAft>
            </a:pPr>
            <a:endParaRPr lang="zh-CN" altLang="en-US" sz="2000">
              <a:solidFill>
                <a:srgbClr val="000000"/>
              </a:solidFill>
              <a:latin typeface="Times New Roman" panose="02020603050405020304" pitchFamily="18" charset="0"/>
            </a:endParaRPr>
          </a:p>
        </p:txBody>
      </p:sp>
      <p:graphicFrame>
        <p:nvGraphicFramePr>
          <p:cNvPr id="67590" name="Object 6"/>
          <p:cNvGraphicFramePr>
            <a:graphicFrameLocks noChangeAspect="1"/>
          </p:cNvGraphicFramePr>
          <p:nvPr/>
        </p:nvGraphicFramePr>
        <p:xfrm>
          <a:off x="4686101" y="4376872"/>
          <a:ext cx="1152525" cy="846137"/>
        </p:xfrm>
        <a:graphic>
          <a:graphicData uri="http://schemas.openxmlformats.org/presentationml/2006/ole">
            <mc:AlternateContent xmlns:mc="http://schemas.openxmlformats.org/markup-compatibility/2006">
              <mc:Choice xmlns:v="urn:schemas-microsoft-com:vml" Requires="v">
                <p:oleObj spid="_x0000_s52234" name="公式" r:id="rId5" imgW="14630400" imgH="10668000" progId="">
                  <p:embed/>
                </p:oleObj>
              </mc:Choice>
              <mc:Fallback>
                <p:oleObj name="公式" r:id="rId5" imgW="14630400" imgH="10668000" progId="">
                  <p:embed/>
                  <p:pic>
                    <p:nvPicPr>
                      <p:cNvPr id="0" name="图片 51238"/>
                      <p:cNvPicPr>
                        <a:picLocks noChangeAspect="1"/>
                      </p:cNvPicPr>
                      <p:nvPr/>
                    </p:nvPicPr>
                    <p:blipFill>
                      <a:blip r:embed="rId6"/>
                      <a:stretch>
                        <a:fillRect/>
                      </a:stretch>
                    </p:blipFill>
                    <p:spPr>
                      <a:xfrm>
                        <a:off x="4686101" y="4376872"/>
                        <a:ext cx="1152525" cy="846137"/>
                      </a:xfrm>
                      <a:prstGeom prst="rect">
                        <a:avLst/>
                      </a:prstGeom>
                      <a:noFill/>
                      <a:ln w="9525">
                        <a:noFill/>
                      </a:ln>
                    </p:spPr>
                  </p:pic>
                </p:oleObj>
              </mc:Fallback>
            </mc:AlternateContent>
          </a:graphicData>
        </a:graphic>
      </p:graphicFrame>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84</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85</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1149751" y="676274"/>
            <a:ext cx="6613124" cy="5705053"/>
          </a:xfrm>
          <a:prstGeom prst="rect">
            <a:avLst/>
          </a:prstGeom>
        </p:spPr>
      </p:pic>
    </p:spTree>
    <p:extLst>
      <p:ext uri="{BB962C8B-B14F-4D97-AF65-F5344CB8AC3E}">
        <p14:creationId xmlns:p14="http://schemas.microsoft.com/office/powerpoint/2010/main" val="207150694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86</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188332" y="332657"/>
            <a:ext cx="5861586" cy="4680520"/>
          </a:xfrm>
          <a:prstGeom prst="rect">
            <a:avLst/>
          </a:prstGeom>
        </p:spPr>
      </p:pic>
      <p:pic>
        <p:nvPicPr>
          <p:cNvPr id="6" name="图片 5"/>
          <p:cNvPicPr>
            <a:picLocks noChangeAspect="1"/>
          </p:cNvPicPr>
          <p:nvPr/>
        </p:nvPicPr>
        <p:blipFill rotWithShape="1">
          <a:blip r:embed="rId3"/>
          <a:srcRect l="5865"/>
          <a:stretch/>
        </p:blipFill>
        <p:spPr>
          <a:xfrm>
            <a:off x="4860032" y="3637619"/>
            <a:ext cx="4473103" cy="2836760"/>
          </a:xfrm>
          <a:prstGeom prst="rect">
            <a:avLst/>
          </a:prstGeom>
        </p:spPr>
      </p:pic>
    </p:spTree>
    <p:extLst>
      <p:ext uri="{BB962C8B-B14F-4D97-AF65-F5344CB8AC3E}">
        <p14:creationId xmlns:p14="http://schemas.microsoft.com/office/powerpoint/2010/main" val="97289416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87</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1423987" y="109537"/>
            <a:ext cx="6296025" cy="6638925"/>
          </a:xfrm>
          <a:prstGeom prst="rect">
            <a:avLst/>
          </a:prstGeom>
        </p:spPr>
      </p:pic>
    </p:spTree>
    <p:extLst>
      <p:ext uri="{BB962C8B-B14F-4D97-AF65-F5344CB8AC3E}">
        <p14:creationId xmlns:p14="http://schemas.microsoft.com/office/powerpoint/2010/main" val="40512631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88</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442762" y="1124744"/>
            <a:ext cx="6943355" cy="2304256"/>
          </a:xfrm>
          <a:prstGeom prst="rect">
            <a:avLst/>
          </a:prstGeom>
        </p:spPr>
      </p:pic>
      <p:pic>
        <p:nvPicPr>
          <p:cNvPr id="6" name="图片 5"/>
          <p:cNvPicPr>
            <a:picLocks noChangeAspect="1"/>
          </p:cNvPicPr>
          <p:nvPr/>
        </p:nvPicPr>
        <p:blipFill>
          <a:blip r:embed="rId3"/>
          <a:stretch>
            <a:fillRect/>
          </a:stretch>
        </p:blipFill>
        <p:spPr>
          <a:xfrm>
            <a:off x="395536" y="3789040"/>
            <a:ext cx="7745532" cy="1512168"/>
          </a:xfrm>
          <a:prstGeom prst="rect">
            <a:avLst/>
          </a:prstGeom>
        </p:spPr>
      </p:pic>
    </p:spTree>
    <p:extLst>
      <p:ext uri="{BB962C8B-B14F-4D97-AF65-F5344CB8AC3E}">
        <p14:creationId xmlns:p14="http://schemas.microsoft.com/office/powerpoint/2010/main" val="114789887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939C9064-C0EA-4A07-ACBE-489AD4D1ABAD}" type="slidenum">
              <a:rPr lang="en-US" altLang="zh-CN" smtClean="0">
                <a:solidFill>
                  <a:srgbClr val="000000"/>
                </a:solidFill>
              </a:rPr>
              <a:t>89</a:t>
            </a:fld>
            <a:endParaRPr lang="en-US" altLang="zh-CN">
              <a:solidFill>
                <a:srgbClr val="000000"/>
              </a:solidFill>
            </a:endParaRPr>
          </a:p>
        </p:txBody>
      </p:sp>
      <p:pic>
        <p:nvPicPr>
          <p:cNvPr id="5" name="图片 4"/>
          <p:cNvPicPr>
            <a:picLocks noChangeAspect="1"/>
          </p:cNvPicPr>
          <p:nvPr/>
        </p:nvPicPr>
        <p:blipFill>
          <a:blip r:embed="rId2"/>
          <a:stretch>
            <a:fillRect/>
          </a:stretch>
        </p:blipFill>
        <p:spPr>
          <a:xfrm>
            <a:off x="467544" y="2276872"/>
            <a:ext cx="7802903" cy="1828403"/>
          </a:xfrm>
          <a:prstGeom prst="rect">
            <a:avLst/>
          </a:prstGeom>
        </p:spPr>
      </p:pic>
    </p:spTree>
    <p:extLst>
      <p:ext uri="{BB962C8B-B14F-4D97-AF65-F5344CB8AC3E}">
        <p14:creationId xmlns:p14="http://schemas.microsoft.com/office/powerpoint/2010/main" val="48071813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195513" y="549275"/>
            <a:ext cx="4330700" cy="1371600"/>
          </a:xfrm>
        </p:spPr>
        <p:txBody>
          <a:bodyPr/>
          <a:lstStyle/>
          <a:p>
            <a:pPr eaLnBrk="1" hangingPunct="1"/>
            <a:r>
              <a:rPr lang="zh-CN" altLang="en-US" b="1">
                <a:solidFill>
                  <a:srgbClr val="0000FF"/>
                </a:solidFill>
              </a:rPr>
              <a:t>本章重点及难点</a:t>
            </a:r>
          </a:p>
        </p:txBody>
      </p:sp>
      <p:sp>
        <p:nvSpPr>
          <p:cNvPr id="68611" name="Rectangle 3"/>
          <p:cNvSpPr>
            <a:spLocks noGrp="1" noChangeArrowheads="1"/>
          </p:cNvSpPr>
          <p:nvPr>
            <p:ph type="body" idx="1"/>
          </p:nvPr>
        </p:nvSpPr>
        <p:spPr/>
        <p:txBody>
          <a:bodyPr/>
          <a:lstStyle/>
          <a:p>
            <a:pPr eaLnBrk="1" hangingPunct="1"/>
            <a:r>
              <a:rPr lang="zh-CN" altLang="en-US" sz="2800" b="1" dirty="0"/>
              <a:t>重点：在现实应用中最常用到的电路定理是戴维南定理和最大功率传递定理，并贯穿整个课程，包括交流电路。</a:t>
            </a:r>
          </a:p>
          <a:p>
            <a:pPr eaLnBrk="1" hangingPunct="1"/>
            <a:endParaRPr lang="zh-CN" altLang="en-US" sz="2800" b="1" dirty="0"/>
          </a:p>
          <a:p>
            <a:pPr eaLnBrk="1" hangingPunct="1"/>
            <a:r>
              <a:rPr lang="zh-CN" altLang="en-US" sz="2800" b="1" dirty="0"/>
              <a:t>其他重点内容包括线性叠加、电源转换、诺顿等效定理。</a:t>
            </a:r>
          </a:p>
          <a:p>
            <a:pPr eaLnBrk="1" hangingPunct="1"/>
            <a:endParaRPr lang="zh-CN" altLang="en-US" sz="2800" b="1" dirty="0"/>
          </a:p>
          <a:p>
            <a:pPr eaLnBrk="1" hangingPunct="1"/>
            <a:r>
              <a:rPr lang="zh-CN" altLang="en-US" sz="2800" b="1" dirty="0"/>
              <a:t>难点：带受控源的戴维南等效电路中</a:t>
            </a:r>
            <a:r>
              <a:rPr lang="en-US" altLang="zh-CN" sz="2800" b="1" i="1" dirty="0" err="1">
                <a:latin typeface="Times New Roman" panose="02020603050405020304" pitchFamily="18" charset="0"/>
              </a:rPr>
              <a:t>R</a:t>
            </a:r>
            <a:r>
              <a:rPr lang="en-US" altLang="zh-CN" sz="2800" b="1" i="1" baseline="-25000" dirty="0" err="1">
                <a:latin typeface="Times New Roman" panose="02020603050405020304" pitchFamily="18" charset="0"/>
              </a:rPr>
              <a:t>Th</a:t>
            </a:r>
            <a:r>
              <a:rPr lang="zh-CN" altLang="en-US" sz="2800" b="1" dirty="0"/>
              <a:t>的求法。</a:t>
            </a:r>
          </a:p>
        </p:txBody>
      </p:sp>
      <p:sp>
        <p:nvSpPr>
          <p:cNvPr id="2" name="灯片编号占位符 1"/>
          <p:cNvSpPr>
            <a:spLocks noGrp="1"/>
          </p:cNvSpPr>
          <p:nvPr>
            <p:ph type="sldNum" sz="quarter" idx="11"/>
          </p:nvPr>
        </p:nvSpPr>
        <p:spPr/>
        <p:txBody>
          <a:bodyPr/>
          <a:lstStyle/>
          <a:p>
            <a:pPr>
              <a:defRPr/>
            </a:pPr>
            <a:fld id="{939C9064-C0EA-4A07-ACBE-489AD4D1ABAD}" type="slidenum">
              <a:rPr lang="en-US" altLang="zh-CN" smtClean="0">
                <a:solidFill>
                  <a:srgbClr val="000000"/>
                </a:solidFill>
              </a:rPr>
              <a:t>90</a:t>
            </a:fld>
            <a:endParaRPr lang="en-US" altLang="zh-CN">
              <a:solidFill>
                <a:srgbClr val="000000"/>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2627784" y="401216"/>
            <a:ext cx="3178175" cy="1371600"/>
          </a:xfrm>
        </p:spPr>
        <p:txBody>
          <a:bodyPr/>
          <a:lstStyle/>
          <a:p>
            <a:pPr eaLnBrk="1" hangingPunct="1"/>
            <a:r>
              <a:rPr lang="zh-CN" altLang="en-US" b="1" dirty="0">
                <a:solidFill>
                  <a:srgbClr val="0000FF"/>
                </a:solidFill>
              </a:rPr>
              <a:t>本章作业</a:t>
            </a:r>
          </a:p>
        </p:txBody>
      </p:sp>
      <p:sp>
        <p:nvSpPr>
          <p:cNvPr id="81923" name="Rectangle 3"/>
          <p:cNvSpPr>
            <a:spLocks noGrp="1" noChangeArrowheads="1"/>
          </p:cNvSpPr>
          <p:nvPr>
            <p:ph type="body" idx="4294967295"/>
          </p:nvPr>
        </p:nvSpPr>
        <p:spPr>
          <a:xfrm>
            <a:off x="1403648" y="1772816"/>
            <a:ext cx="6840538" cy="3886200"/>
          </a:xfrm>
        </p:spPr>
        <p:txBody>
          <a:bodyPr/>
          <a:lstStyle/>
          <a:p>
            <a:pPr eaLnBrk="1" hangingPunct="1"/>
            <a:r>
              <a:rPr lang="zh-CN" altLang="en-US" b="1" dirty="0"/>
              <a:t>画出本章思维导图</a:t>
            </a:r>
          </a:p>
          <a:p>
            <a:pPr eaLnBrk="1" hangingPunct="1"/>
            <a:r>
              <a:rPr lang="en-US" altLang="zh-CN" b="1" dirty="0"/>
              <a:t>4.15</a:t>
            </a:r>
            <a:r>
              <a:rPr lang="zh-CN" altLang="en-US" b="1" dirty="0"/>
              <a:t>（叠加定理）</a:t>
            </a:r>
            <a:endParaRPr lang="en-US" altLang="zh-CN" b="1" dirty="0"/>
          </a:p>
          <a:p>
            <a:pPr eaLnBrk="1" hangingPunct="1"/>
            <a:r>
              <a:rPr lang="en-US" altLang="zh-CN" b="1" dirty="0"/>
              <a:t>4.31</a:t>
            </a:r>
            <a:r>
              <a:rPr lang="zh-CN" altLang="en-US" b="1" dirty="0"/>
              <a:t>（电源转换）</a:t>
            </a:r>
          </a:p>
          <a:p>
            <a:pPr eaLnBrk="1" hangingPunct="1"/>
            <a:r>
              <a:rPr lang="en-US" altLang="zh-CN" b="1" dirty="0"/>
              <a:t>4.36</a:t>
            </a:r>
            <a:r>
              <a:rPr lang="zh-CN" altLang="en-US" b="1" dirty="0"/>
              <a:t>（戴维南定理</a:t>
            </a:r>
            <a:r>
              <a:rPr lang="en-US" altLang="zh-CN" b="1" dirty="0"/>
              <a:t>-</a:t>
            </a:r>
            <a:r>
              <a:rPr lang="zh-CN" altLang="en-US" b="1" dirty="0"/>
              <a:t>不含受控源）</a:t>
            </a:r>
          </a:p>
          <a:p>
            <a:pPr eaLnBrk="1" hangingPunct="1"/>
            <a:r>
              <a:rPr lang="en-US" altLang="zh-CN" b="1" dirty="0"/>
              <a:t>4.57</a:t>
            </a:r>
            <a:r>
              <a:rPr lang="zh-CN" altLang="en-US" b="1" dirty="0"/>
              <a:t>（戴维南</a:t>
            </a:r>
            <a:r>
              <a:rPr lang="en-US" altLang="zh-CN" b="1" dirty="0"/>
              <a:t>/</a:t>
            </a:r>
            <a:r>
              <a:rPr lang="zh-CN" altLang="en-US" b="1" dirty="0"/>
              <a:t>诺顿定理</a:t>
            </a:r>
            <a:r>
              <a:rPr lang="en-US" altLang="zh-CN" b="1" dirty="0"/>
              <a:t>-</a:t>
            </a:r>
            <a:r>
              <a:rPr lang="zh-CN" altLang="en-US" b="1" dirty="0"/>
              <a:t>含受控源）</a:t>
            </a:r>
          </a:p>
          <a:p>
            <a:pPr eaLnBrk="1" hangingPunct="1"/>
            <a:r>
              <a:rPr lang="en-US" altLang="zh-CN" b="1" dirty="0"/>
              <a:t>4.67</a:t>
            </a:r>
            <a:r>
              <a:rPr lang="zh-CN" altLang="en-US" b="1" dirty="0"/>
              <a:t>（最大功率传输定理）</a:t>
            </a:r>
            <a:endParaRPr lang="en-US" altLang="zh-CN" b="1" dirty="0"/>
          </a:p>
          <a:p>
            <a:pPr eaLnBrk="1" hangingPunct="1"/>
            <a:endParaRPr lang="en-US" altLang="zh-CN" sz="2400" b="1" dirty="0">
              <a:solidFill>
                <a:srgbClr val="002060"/>
              </a:solidFill>
            </a:endParaRPr>
          </a:p>
          <a:p>
            <a:pPr eaLnBrk="1" hangingPunct="1"/>
            <a:r>
              <a:rPr lang="zh-CN" altLang="en-US" sz="2400" b="1" dirty="0">
                <a:solidFill>
                  <a:srgbClr val="002060"/>
                </a:solidFill>
              </a:rPr>
              <a:t>拓展题：如何理解负电阻？它的伏安特性和正电阻有何不同？</a:t>
            </a:r>
          </a:p>
        </p:txBody>
      </p:sp>
      <p:sp>
        <p:nvSpPr>
          <p:cNvPr id="2" name="灯片编号占位符 1"/>
          <p:cNvSpPr>
            <a:spLocks noGrp="1"/>
          </p:cNvSpPr>
          <p:nvPr>
            <p:ph type="sldNum" sz="quarter" idx="11"/>
          </p:nvPr>
        </p:nvSpPr>
        <p:spPr/>
        <p:txBody>
          <a:bodyPr/>
          <a:lstStyle/>
          <a:p>
            <a:pPr>
              <a:defRPr/>
            </a:pPr>
            <a:fld id="{D776A882-B7EA-4411-9FBB-12412DA587FB}" type="slidenum">
              <a:rPr lang="en-US" altLang="zh-CN" smtClean="0">
                <a:solidFill>
                  <a:srgbClr val="000000"/>
                </a:solidFill>
              </a:rPr>
              <a:t>91</a:t>
            </a:fld>
            <a:endParaRPr lang="en-US" altLang="zh-CN">
              <a:solidFill>
                <a:srgbClr val="000000"/>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BhM2U2YThkZjQ3NGJlMzFiMDIzMzRlNGI2NzY5MWQifQ=="/>
  <p:tag name="KSO_WPP_MARK_KEY" val="f13467f8-ba10-4f64-b11b-5b80529747ab"/>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188,&quot;width&quot;:8964}"/>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188,&quot;width&quot;:8964}"/>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4490</Words>
  <Application>Microsoft Office PowerPoint</Application>
  <PresentationFormat>全屏显示(4:3)</PresentationFormat>
  <Paragraphs>844</Paragraphs>
  <Slides>91</Slides>
  <Notes>31</Notes>
  <HiddenSlides>5</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91</vt:i4>
      </vt:variant>
    </vt:vector>
  </HeadingPairs>
  <TitlesOfParts>
    <vt:vector size="114" baseType="lpstr">
      <vt:lpstr>BatangChe</vt:lpstr>
      <vt:lpstr>Gulim</vt:lpstr>
      <vt:lpstr>MS Mincho</vt:lpstr>
      <vt:lpstr>方正舒体</vt:lpstr>
      <vt:lpstr>黑体</vt:lpstr>
      <vt:lpstr>楷体_GB2312</vt:lpstr>
      <vt:lpstr>宋体</vt:lpstr>
      <vt:lpstr>Arial</vt:lpstr>
      <vt:lpstr>Arial Black</vt:lpstr>
      <vt:lpstr>Calibri</vt:lpstr>
      <vt:lpstr>Cambria Math</vt:lpstr>
      <vt:lpstr>Century Schoolbook</vt:lpstr>
      <vt:lpstr>Comic Sans MS</vt:lpstr>
      <vt:lpstr>Franklin Gothic Medium</vt:lpstr>
      <vt:lpstr>Monotype Corsiva</vt:lpstr>
      <vt:lpstr>Segoe Print</vt:lpstr>
      <vt:lpstr>Times New Roman</vt:lpstr>
      <vt:lpstr>Verdana</vt:lpstr>
      <vt:lpstr>Wingdings</vt:lpstr>
      <vt:lpstr>Pixel</vt:lpstr>
      <vt:lpstr>Photo Editor 照片</vt:lpstr>
      <vt:lpstr>公式</vt:lpstr>
      <vt:lpstr>Equation</vt:lpstr>
      <vt:lpstr>    第四章                             电路定理</vt:lpstr>
      <vt:lpstr>PowerPoint 演示文稿</vt:lpstr>
      <vt:lpstr>4.1  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如果 I0=1A  则  V1=(3+5)I0=8V  ， I1=V1/4=2A . 应用基尔霍夫电流定律于节点1得：</vt:lpstr>
      <vt:lpstr>PowerPoint 演示文稿</vt:lpstr>
      <vt:lpstr>4.3  叠加定理</vt:lpstr>
      <vt:lpstr>PowerPoint 演示文稿</vt:lpstr>
      <vt:lpstr>PowerPoint 演示文稿</vt:lpstr>
      <vt:lpstr>PowerPoint 演示文稿</vt:lpstr>
      <vt:lpstr>PowerPoint 演示文稿</vt:lpstr>
      <vt:lpstr>考核形式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 电源置换/转换定理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4.5   戴维南定理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4.10   应用 </vt:lpstr>
      <vt:lpstr>PowerPoint 演示文稿</vt:lpstr>
      <vt:lpstr>PowerPoint 演示文稿</vt:lpstr>
      <vt:lpstr>应用（实验）：有时，我们需要知道一个实际电压源的空载电压VS和内阻RS   (1) 如图 (a) 所示，测量开路电压Voc ，</vt:lpstr>
      <vt:lpstr>注意：这种测量方法对电池的损害非常大。因为电流太大了！！！ </vt:lpstr>
      <vt:lpstr>例4-16：</vt:lpstr>
      <vt:lpstr>由题意，VL = 12V ， PL= 2W。因此：</vt:lpstr>
      <vt:lpstr>PowerPoint 演示文稿</vt:lpstr>
      <vt:lpstr>惠斯登电桥电路</vt:lpstr>
      <vt:lpstr>PowerPoint 演示文稿</vt:lpstr>
      <vt:lpstr>4.10.2    电阻测量</vt:lpstr>
      <vt:lpstr>举例 4.17</vt:lpstr>
      <vt:lpstr>PowerPoint 演示文稿</vt:lpstr>
      <vt:lpstr>举例 4.18</vt:lpstr>
      <vt:lpstr>(b) 求戴维南电压: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本章重点及难点</vt:lpstr>
      <vt:lpstr>本章作业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电路定理</dc:title>
  <dc:creator>wu jin</dc:creator>
  <cp:lastModifiedBy>Windows User</cp:lastModifiedBy>
  <cp:revision>138</cp:revision>
  <dcterms:created xsi:type="dcterms:W3CDTF">2019-09-22T10:51:00Z</dcterms:created>
  <dcterms:modified xsi:type="dcterms:W3CDTF">2022-10-19T03:37:06Z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959259C2ED954BA99D56B3E137A20224</vt:lpwstr>
  </property>
  <property fmtid="{D5CDD505-2E9C-101B-9397-08002B2CF9AE}" pid="3" name="KSOProductBuildVer">
    <vt:lpwstr>2052-11.1.0.12598</vt:lpwstr>
  </property>
</Properties>
</file>